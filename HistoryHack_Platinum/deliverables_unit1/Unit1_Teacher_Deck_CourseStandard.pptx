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5-1.jpg" ContentType="image/jpg"/>
  <Override PartName="/ppt/media/image-11-1.jpg" ContentType="image/jpg"/>
  <Override PartName="/ppt/media/image-14-1.jpg" ContentType="image/jpg"/>
  <Override PartName="/ppt/media/image-23-1.jpg" ContentType="image/jpg"/>
  <Override PartName="/ppt/media/image-36-1.jpg" ContentType="image/jpg"/>
  <Override PartName="/ppt/media/image-37-1.jpg" ContentType="image/jpg"/>
  <Override PartName="/ppt/media/image-41-1.jpg" ContentType="image/jpg"/>
  <Override PartName="/ppt/media/image-44-1.jpg" ContentType="image/jpg"/>
  <Override PartName="/ppt/media/image-52-1.jpg" ContentType="image/jpg"/>
  <Override PartName="/ppt/media/image-59-1.jpg" ContentType="image/jpg"/>
  <Override PartName="/ppt/media/image-68-1.jpg" ContentType="image/jpg"/>
  <Override PartName="/ppt/media/image-71-1.jpg" ContentType="image/jpg"/>
  <Override PartName="/ppt/media/image-74-1.jpg" ContentType="image/jpg"/>
  <Override PartName="/ppt/media/image-8-1.jpg" ContentType="image/jpg"/>
  <Override PartName="/ppt/media/image-82-1.jpg" ContentType="image/jpg"/>
  <Override PartName="/ppt/media/image-84-1.jpg" ContentType="image/jpg"/>
  <Override PartName="/ppt/media/image-86-1.jpg" ContentType="image/jpg"/>
  <Override PartName="/ppt/media/image-89-1.jpg" ContentType="image/jpg"/>
  <Override PartName="/ppt/media/image-9-1.jpg" ContentType="image/jpg"/>
  <Override PartName="/ppt/media/image-9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365" r:id="rId11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6" r:id="rId117"/>
    <p:sldId id="364" r:id="rId110"/>
    <p:sldId id="367" r:id="rId118"/>
    <p:sldId id="368" r:id="rId119"/>
  </p:sldIdLst>
  <p:notesMasterIdLst>
    <p:notesMasterId r:id="rId1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7" Type="http://schemas.openxmlformats.org/officeDocument/2006/relationships/slide" Target="slides/slide77.xml"/><Relationship Id="rId78" Type="http://schemas.openxmlformats.org/officeDocument/2006/relationships/slide" Target="slides/slide78.xml"/><Relationship Id="rId79" Type="http://schemas.openxmlformats.org/officeDocument/2006/relationships/slide" Target="slides/slide79.xml"/><Relationship Id="rId80" Type="http://schemas.openxmlformats.org/officeDocument/2006/relationships/slide" Target="slides/slide80.xml"/><Relationship Id="rId81" Type="http://schemas.openxmlformats.org/officeDocument/2006/relationships/slide" Target="slides/slide81.xml"/><Relationship Id="rId82" Type="http://schemas.openxmlformats.org/officeDocument/2006/relationships/slide" Target="slides/slide82.xml"/><Relationship Id="rId83" Type="http://schemas.openxmlformats.org/officeDocument/2006/relationships/slide" Target="slides/slide83.xml"/><Relationship Id="rId84" Type="http://schemas.openxmlformats.org/officeDocument/2006/relationships/slide" Target="slides/slide84.xml"/><Relationship Id="rId85" Type="http://schemas.openxmlformats.org/officeDocument/2006/relationships/slide" Target="slides/slide85.xml"/><Relationship Id="rId86" Type="http://schemas.openxmlformats.org/officeDocument/2006/relationships/slide" Target="slides/slide86.xml"/><Relationship Id="rId87" Type="http://schemas.openxmlformats.org/officeDocument/2006/relationships/slide" Target="slides/slide87.xml"/><Relationship Id="rId88" Type="http://schemas.openxmlformats.org/officeDocument/2006/relationships/slide" Target="slides/slide88.xml"/><Relationship Id="rId89" Type="http://schemas.openxmlformats.org/officeDocument/2006/relationships/slide" Target="slides/slide89.xml"/><Relationship Id="rId90" Type="http://schemas.openxmlformats.org/officeDocument/2006/relationships/slide" Target="slides/slide90.xml"/><Relationship Id="rId91" Type="http://schemas.openxmlformats.org/officeDocument/2006/relationships/slide" Target="slides/slide91.xml"/><Relationship Id="rId92" Type="http://schemas.openxmlformats.org/officeDocument/2006/relationships/slide" Target="slides/slide92.xml"/><Relationship Id="rId93" Type="http://schemas.openxmlformats.org/officeDocument/2006/relationships/slide" Target="slides/slide93.xml"/><Relationship Id="rId94" Type="http://schemas.openxmlformats.org/officeDocument/2006/relationships/slide" Target="slides/slide94.xml"/><Relationship Id="rId95" Type="http://schemas.openxmlformats.org/officeDocument/2006/relationships/slide" Target="slides/slide95.xml"/><Relationship Id="rId96" Type="http://schemas.openxmlformats.org/officeDocument/2006/relationships/slide" Target="slides/slide96.xml"/><Relationship Id="rId97" Type="http://schemas.openxmlformats.org/officeDocument/2006/relationships/slide" Target="slides/slide97.xml"/><Relationship Id="rId98" Type="http://schemas.openxmlformats.org/officeDocument/2006/relationships/slide" Target="slides/slide98.xml"/><Relationship Id="rId99" Type="http://schemas.openxmlformats.org/officeDocument/2006/relationships/slide" Target="slides/slide99.xml"/><Relationship Id="rId100" Type="http://schemas.openxmlformats.org/officeDocument/2006/relationships/slide" Target="slides/slide100.xml"/><Relationship Id="rId101" Type="http://schemas.openxmlformats.org/officeDocument/2006/relationships/slide" Target="slides/slide101.xml"/><Relationship Id="rId102" Type="http://schemas.openxmlformats.org/officeDocument/2006/relationships/slide" Target="slides/slide102.xml"/><Relationship Id="rId103" Type="http://schemas.openxmlformats.org/officeDocument/2006/relationships/slide" Target="slides/slide103.xml"/><Relationship Id="rId104" Type="http://schemas.openxmlformats.org/officeDocument/2006/relationships/slide" Target="slides/slide104.xml"/><Relationship Id="rId105" Type="http://schemas.openxmlformats.org/officeDocument/2006/relationships/slide" Target="slides/slide105.xml"/><Relationship Id="rId106" Type="http://schemas.openxmlformats.org/officeDocument/2006/relationships/slide" Target="slides/slide106.xml"/><Relationship Id="rId107" Type="http://schemas.openxmlformats.org/officeDocument/2006/relationships/slide" Target="slides/slide107.xml"/><Relationship Id="rId108" Type="http://schemas.openxmlformats.org/officeDocument/2006/relationships/slide" Target="slides/slide108.xml"/><Relationship Id="rId109" Type="http://schemas.openxmlformats.org/officeDocument/2006/relationships/slide" Target="slides/slide109.xml"/><Relationship Id="rId110" Type="http://schemas.openxmlformats.org/officeDocument/2006/relationships/slide" Target="slides/slide111.xml"/><Relationship Id="rId111" Type="http://schemas.openxmlformats.org/officeDocument/2006/relationships/notesMaster" Target="notesMasters/notesMaster1.xml"/><Relationship Id="rId112" Type="http://schemas.openxmlformats.org/officeDocument/2006/relationships/presProps" Target="presProps.xml"/><Relationship Id="rId113" Type="http://schemas.openxmlformats.org/officeDocument/2006/relationships/viewProps" Target="viewProps.xml"/><Relationship Id="rId114" Type="http://schemas.openxmlformats.org/officeDocument/2006/relationships/theme" Target="theme/theme1.xml"/><Relationship Id="rId115" Type="http://schemas.openxmlformats.org/officeDocument/2006/relationships/tableStyles" Target="tableStyles.xml"/><Relationship Id="rId116" Type="http://schemas.openxmlformats.org/officeDocument/2006/relationships/slide" Target="slides/slide4.xml"/><Relationship Id="rId117" Type="http://schemas.openxmlformats.org/officeDocument/2006/relationships/slide" Target="slides/slide110.xml"/><Relationship Id="rId118" Type="http://schemas.openxmlformats.org/officeDocument/2006/relationships/slide" Target="slides/slide112.xml"/><Relationship Id="rId119"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Push factors: drought/crop failure, falling crop prices, farm debt/mechanization, lack of land. Pull factors: factory jobs, higher wages, electricity, entertainment, immigrant communities. Collect lists; revisit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(US.01). Cold-call or whiteboards, 3-4 min, low stakes. Answers — 1) Push: drought/debt/falling prices. Pull: factory jobs, higher wages, city amenities.  2) The Civil War; the South was being rebuilt during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(US.01, DOK 1). 60-90 seconds. Have EVERY student commit (thumbs / whiteboard / choral) before revealing — this secures an early win and surfaces who is shaky before new content. Answer: TRUE — 160 acres after five years of living on and improving the claim. Key term to listen for: Homestead Act.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(US.01). Think-aloud as you read: "I keep asking — good for whom, costly for whom?" Cold-call two students to name a winner and a loser of expansion before moving 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(federal statute).) WHEN? (1862, during the Civil War.) WHY does that matter? (A law reveals the government’s intent — ask who benefits and who is left out.) Only then move to the ANALYZE question. Suggested answer: DOK 3: Students must weigh competing perspectives. The Act’s "free" 160-acre grants to settlers came from land that the federal government took from American Indian nations, so the same policy meant opportunity for one group and dispossession for another.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(US.01). Skill modeled: Cause → Effect reasoning. Model the worked example aloud using the THINK ALOUD as your script, then release students to the activity ("Now you complete two more cause→effect chains on your own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US.01. Pair with the printable: Cornell Notes — US.01: Transcontinental Railroad &amp; Industrial Expansion (Teacher Tools › Worksheets › Cornell Notes). Timing: 10–12 min. Deliverable: Completed cause-effect web with at least 6 labeled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(US.01, DOK 3). Have students commit to an answer (whiteboards, hand signal, or turn-and-talk) BEFORE advancing. Correct answer: A. The next slide reveals it. Why: DOK 3: Students must weigh competing perspectives. The Act’s "free" 160-acre grants to settlers came from land that the federal government took from American Indian nations, so the same policy meant opportunity for one group and dispossession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(US.01). Correct: A. DOK 3: Students must weigh competing perspectives. The Act’s "free" 160-acre grants to settlers came from land that the federal government took from American Indian nations, so the same policy meant opportunity for one group and dispossession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(US.01, DOK 2). Prompt: Explain ONE way the Homestead Act or the railroad helped settlers AND ONE way it harmed American Indians.  Model answer: E.g., free 160-acre claims/rail access drew settlers; the same land was taken from American Indian nations, who were pushed onto reservations.  RETEACH TRIGGER — if a student misses this exit ticket: (1) &lt;50% of class miss → spiral it into the next standard’s Quick Review opener (see the US.01 review prompts). (2) Individual/small group → reteach with the "Sequence the expansion of the United States" direct-instruction slide + re-run the SOURCE IT FIRST routine on the US.01 primary source, then assign the paired printable: Cornell Notes — US.01: Transcontinental Railroad &amp; Industrial Expansion (Teacher Tools › Worksheets › Cornell Notes). (3) Re-assess with the US.01 check-for-understanding reveal slide as a do-now the next day. Reteach anchors (this standard’s sections): Sequence the expansion of the United States; Impact on Western Settlement; Impact on American Indians, Immigrants, and Settlers. I Can objective: I can explain how the Homestead Act and the Transcontinental Railroad impacted the settlement of the West, including their effects on American Indians, immigrants, and settlers.  EXTENSION (DOK 3, for early finishers or advanced learners): Argue: was westward expansion mainly “opportunity” or mainly “dispossession”? Defend your claim with TWO specific pieces of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(US.02). Cold-call or whiteboards, 3-4 min, low stakes. Answers — 1) They drew settlers/immigrants west onto land taken from American Indians.  2) The belief the U.S. was destined to expand across the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(US.02, DOK 1). 60-90 seconds. Have EVERY student commit (thumbs / whiteboard / choral) before revealing — this secures an early win and surfaces who is shaky before new content. Answer: A boarding (assimilation) school — e.g., Carlisle. Key term to listen for: assimilation.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(US.02). Model the two-column move out loud (claim vs. result). Pause and have students whisper-read the policy’s stated goal to a partner before you reveal the consequence.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Dawes/General Allotment Act).) WHEN? (1887.) WHY does that matter? (The law’s wording shows the stated goal; compare it to the documented result.) Only then move to the ANALYZE question. Suggested answer: DOK 2: The Act allotted land to individuals and declared the remainder "surplus" for sale, predictably dissolving collective tribal holdings and transferring tens of millions of acres out of Native hands.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(US.02). Skill modeled: Stated goal vs. real consequence. Model the worked example aloud using the THINK ALOUD as your script, then release students to the activity ("You build the same two-column split for the boarding-school policy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US.02. Pair with the printable: Cornell Notes — US.02: Federal Policies Toward American Indians (Teacher Tools › Worksheets › Cornell Notes). Timing: 12–15 min. Deliverable: A claim-evidence-reasoning (CER) paragraph with at least two cited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(US.02, DOK 2). Have students commit to an answer (whiteboards, hand signal, or turn-and-talk) BEFORE advancing. Correct answer: A. The next slide reveals it. Why: DOK 2: The Act allotted land to individuals and declared the remainder "surplus" for sale, predictably dissolving collective tribal holdings and transferring tens of millions of acres out of Native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(US.02). Correct: A. DOK 2: The Act allotted land to individuals and declared the remainder "surplus" for sale, predictably dissolving collective tribal holdings and transferring tens of millions of acres out of Native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(US.02, DOK 3). Prompt: A policy can claim one goal but cause another. Using the Dawes Act, give the stated goal and one real consequence.  Model answer: Stated: “assimilate”/“civilize” Native peoples; consequence: communal land broken into allotments → massive Native land loss.  RETEACH TRIGGER — if a student misses this exit ticket: (1) &lt;50% of class miss → spiral it into the next standard’s Quick Review opener (see the US.02 review prompts). (2) Individual/small group → reteach with the "Movement to Reservations" direct-instruction slide + re-run the SOURCE IT FIRST routine on the US.02 primary source, then assign the paired printable: Cornell Notes — US.02: Federal Policies Toward American Indians (Teacher Tools › Worksheets › Cornell Notes). (3) Re-assess with the US.02 check-for-understanding reveal slide as a do-now the next day. Reteach anchors (this standard’s sections): Movement to Reservations; Assimilation and Boarding Schools; The Dawes Act and Its Impact. I Can objective: I can examine federal policies toward American Indians, including the movement to reservations, assimilation, boarding schools, and the Dawes Act.  EXTENSION (DOK 3, for early finishers or advanced learners): Evaluate: did assimilation policy and the Dawes Act share the same underlying assumption about Native cultures? Support with evidence from both.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(US.03). Cold-call or whiteboards, 3-4 min, low stakes. Answers — 1) It broke up communal land into allotments, causing massive Native land loss.  2) Land set aside by the federal government for American Indian tribes.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(US.03, DOK 1). 60-90 seconds. Have EVERY student commit (thumbs / whiteboard / choral) before revealing — this secures an early win and surfaces who is shaky before new content. Answer: "equal" — Plessy v. Ferguson legalized segregation. Key term to listen for: segregation.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(US.03). Think-aloud: "A right I can’t use isn’t really a right." Cold-call for the NAME of a specific denial tool — push past "racism" to poll tax, literacy test, Plessy.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 U.S. Supreme Court — majority opinion by Justice Henry Billings Brown.) WHEN? (May 18, 1896 (Plessy v. Ferguson, 163 U.S. 537).) WHY does that matter? (The nation's highest court is stating the law of the land — its reasoning shaped segregation for 58 years, until Brown v. Board (1954).) Only then move to the ANALYZE question. Suggested answer: DOK 3: This requires evaluating the Court’s logic. Justice Harlan’s dissent — and later Brown v. Board (1954) — argued that government-mandated separation is inherently unequal because the law itself brands a group as inferior, directly rejecting the "separate but equal" reasoning.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(US.03). Skill modeled: Rights on paper vs. in practice. Model the worked example aloud using the THINK ALOUD as your script, then release students to the activity ("You match two more denial-tools to the right each one defeated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US.03. Pair with the printable: Cornell Notes — US.03: Reconstruction (Amendments, Freedmen's Bureau, End of Reconstruction). Timing: 10–12 min. Deliverable: Annotated cartoon analysis with point-of-view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(US.03, DOK 3). Have students commit to an answer (whiteboards, hand signal, or turn-and-talk) BEFORE advancing. Correct answer: A. The next slide reveals it. Why: 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(US.03). Correct: A. 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(US.03, DOK 3). Prompt: Rights can exist on paper but be denied in practice. Name one tool used to deny Black Americans rights after 1877 and explain how it worked.  Model answer: E.g., poll taxes/literacy tests disenfranchised voters; Jim Crow laws + Plessy legalized segregation despite the 14th/15th Amendments.  RETEACH TRIGGER — if a student misses this exit ticket: (1) &lt;50% of class miss → spiral it into the next standard’s Quick Review opener (see the US.03 review prompts). (2) Individual/small group → reteach with the "The Election of 1876 and End of Reconstruction" direct-instruction slide + re-run the SOURCE IT FIRST routine on the US.03 primary source, then assign the paired printable: Cornell Notes — US.03: Reconstruction (Amendments, Freedmen's Bureau, End of Reconstruction). (3) Re-assess with the US.03 check-for-understanding reveal slide as a do-now the next day. Reteach anchors (this standard’s sections): The Election of 1876 and End of Reconstruction; Jim Crow Laws, Lynching, and Disenfranchisement; Pap Singleton and the Exodusters; Plessy v. Ferguson and "Separate But Equal". I Can objective: I can explain the impact of the Compromise of 1877, including Jim Crow laws, lynching, disenfranchisement methods, the efforts of Benjamin "Pap" Singleton and the Exodusters, and the Plessy v. Ferguson decision.  EXTENSION (DOK 3, for early finishers or advanced learners): Construct an argument: which did MORE to undo Reconstruction — legal tools (Plessy, Jim Crow laws) or extralegal force (violence, intimidation)? Cite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(US.04). Cold-call or whiteboards, 3-4 min, low stakes. Answers — 1) The Compromise of 1877; Jim Crow laws and disenfranchisement replaced those rights.  2) It upheld “separate but equal,” legalizing 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(US.04, DOK 1). 60-90 seconds. Have EVERY student commit (thumbs / whiteboard / choral) before revealing — this secures an early win and surfaces who is shaky before new content. Answer: A political machine (e.g., Tammany Hall under Boss Tweed). Key term to listen for: political machine.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(US.04). Hold the tension out loud: "Both can be true." Have students give a thumbs-up/down on whether they’d take the machine’s help, then defend it to a neighbor.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Pendleton Civil Service Act).) WHEN? (1883.) WHY does that matter? (A reform law tells you what problem lawmakers were trying to fix.) Only then move to the ANALYZE question. Suggested answer: The Act prohibited requiring political contributions from government workers and banned using "official authority or influence to coerce the political action of any person."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(US.04). Skill modeled: Reason + cost analysis. Model the worked example aloud using the THINK ALOUD as your script, then release students to the activity ("You weigh one more machine benefit against its cost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US.04. Pair with the printable: Cornell Notes — US.04: Gilded Age Politics (Machines, Scandals &amp; Civil Service Reform). Timing: 10 min. Deliverable: Give/Take T-chart plus a one-sentence group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(US.04, DOK 2). Have students commit to an answer (whiteboards, hand signal, or turn-and-talk) BEFORE advancing. Correct answer: C. The next slide reveals it. Why: 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 corruption was the problem the Pendleton Act was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(US.04). Correct: C. 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 corruption was the problem the Pendleton Act was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(US.04, DOK 2). Prompt: Why might poor city residents SUPPORT a corrupt political machine? Give one reason and one cost of that support.  Model answer: Reason: machines gave jobs, food, services to immigrants; cost: graft, higher taxes, corrupt government (e.g., Tweed).  RETEACH TRIGGER — if a student misses this exit ticket: (1) &lt;50% of class miss → spiral it into the next standard’s Quick Review opener (see the US.04 review prompts). (2) Individual/small group → reteach with the "Political Machines and Boss Tweed" direct-instruction slide + re-run the SOURCE IT FIRST routine on the US.04 primary source, then assign the paired printable: Cornell Notes — US.04: Gilded Age Politics (Machines, Scandals &amp; Civil Service Reform). (3) Re-assess with the US.04 check-for-understanding reveal slide as a do-now the next day. Reteach anchors (this standard’s sections): Political Machines and Boss Tweed; Major Scandals and the Spoils System; Civil Service Reform; Economic Disparity. I Can objective: I can analyze the causes and consequences of Gilded Age politics and economics, including political machines, major scandals, civil service reform, and economic differences between farmers, wage earners, and industrial capitalists.  EXTENSION (DOK 3, for early finishers or advanced learners): Argue: were political machines a net good or a net harm for new immigrants? Take a position and weigh services against costs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(US.05). Cold-call or whiteboards, 3-4 min, low stakes. Answers — 1) A party organization that traded jobs/services for votes, often through corruption.  2) It ended the spoils system’s forced political contributions; created merit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(US.05, DOK 1). 60-90 seconds. Have EVERY student commit (thumbs / whiteboard / choral) before revealing — this secures an early win and surfaces who is shaky before new content. Answer: Vertical integration (Carnegie in steel). Key term to listen for: vertical integration.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(US.05). Model staking a claim, then say "but the strongest objection is…" Cold-call students to supply the counter-argument before they pick a side.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(Andrew Carnegie — steel magnate and one of the wealthiest men in America.) WHEN? (1889 (Gilded Age).) WHY does that matter? (A titan of industry is defining his own duty to society — read it as self-justification and as a genuine argument about wealth.) Only then move to the ANALYZE question. Suggested answer: DOK 2: Students apply the source to a new case. Carnegie argued the rich should live modestly and administer surplus wealth "as trust funds" for the public good — funding libraries is a textbook example of his Gospel of Wealth.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(US.05). Skill modeled: Claim + evidence (argument). Model the worked example aloud using the THINK ALOUD as your script, then release students to the activity ("You take a position on a second titan and back it with one piece of evidence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US.05. Pair with the printable: Cornell Notes — US.05: Inventions &amp; Innovators of the Industrial Age. Timing: 12 min. Deliverable: A position card with claim + two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(US.05, DOK 2). Have students commit to an answer (whiteboards, hand signal, or turn-and-talk) BEFORE advancing. Correct answer: A. The next slide reveals it. Why: DOK 2: Students apply the source to a new case. Carnegie argued the rich should live modestly and administer surplus wealth "as trust funds" for the public good — funding libraries is a textbook example of his Gospel of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(US.05). Correct: A. DOK 2: Students apply the source to a new case. Carnegie argued the rich should live modestly and administer surplus wealth "as trust funds" for the public good — funding libraries is a textbook example of his Gospel of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(US.05, DOK 3). Prompt: Was a figure like Rockefeller a “robber baron” or a “captain of industry”? Take a position and cite ONE piece of evidence.  Model answer: Either defensible: robber baron (crushed competitors, low wages) OR captain of industry (efficiency, cheaper goods, philanthropy). Must cite evidence.  RETEACH TRIGGER — if a student misses this exit ticket: (1) &lt;50% of class miss → spiral it into the next standard’s Quick Review opener (see the US.05 review prompts). (2) Individual/small group → reteach with the "Technological Innovations" direct-instruction slide + re-run the SOURCE IT FIRST routine on the US.05 primary source, then assign the paired printable: Cornell Notes — US.05: Inventions &amp; Innovators of the Industrial Age. (3) Re-assess with the US.05 check-for-understanding reveal slide as a do-now the next day. Reteach anchors (this standard’s sections): Technological Innovations; Industrial Titans; African American Entrepreneurs. I Can objective: I can describe the changes in American life that resulted from the inventions and innovations of business leaders and entrepreneurs of the period, including Alexander Graham Bell, Andrew Carnegie, Thomas Edison, John D. Rockefeller, Madam C.J. Walker, and George Washington Carver.  EXTENSION (DOK 3, for early finishers or advanced learners): Evaluate the “Gospel of Wealth”: does large-scale philanthropy justify how the fortune was earned? Defend your judgment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(US.06). Cold-call or whiteboards, 3-4 min, low stakes. Answers — 1) Vertical: control all production stages. Horizontal: buy out competitors in the same industry.  2) The idea the rich should live modestly and give surplus wealth to benefit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(US.06, DOK 1). 60-90 seconds. Have EVERY student commit (thumbs / whiteboard / choral) before revealing — this secures an early win and surfaces who is shaky before new content. Answer: Urbanization. Key term to listen for: urbanization.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(US.06). Think-aloud the arrow: "growth caused this problem." Have students turn-and-talk one cause and one problem before you chart them.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(Jacob Riis, reformer-photographer (How the Other Half Lives).) WHEN? (1890.) WHY does that matter? (Riis wanted to shock readers into reform — weigh that purpose against the image.) Only then move to the ANALYZE question. Suggested answer: Riis describes tenements as "hot-beds of the epidemics" and "nurseries of pauperism and crime," presenting them as sources of social problems.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(US.06). Skill modeled: Cause → problem (urbanization). Model the worked example aloud using the THINK ALOUD as your script, then release students to the activity ("You build two more cause→problem links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US.06. Pair with the printable: Cornell Notes — US.06: Industrialization &amp; Urbanization. Timing: 10 min. Deliverable: Map-annotation chart: needs vs.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(US.06, DOK 2). Have students commit to an answer (whiteboards, hand signal, or turn-and-talk) BEFORE advancing. Correct answer: C. The next slide reveals it. Why: The letter contrasts the dream of "streets paved with gold" with the reality of unpaved streets that immigrants themselves "were expected to pave," highlighting difficult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(US.06). Correct: C. The letter contrasts the dream of "streets paved with gold" with the reality of unpaved streets that immigrants themselves "were expected to pave," highlighting difficult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(US.06, DOK 2). Prompt: Explain ONE cause of rapid urbanization AND ONE problem it created in cities.  Model answer: Cause: factory jobs drew rural + immigrant workers; problem: overcrowded tenements, disease, strained sanitation.  RETEACH TRIGGER — if a student misses this exit ticket: (1) &lt;50% of class miss → spiral it into the next standard’s Quick Review opener (see the US.06 review prompts). (2) Individual/small group → reteach with the "Major Industrial Centers" direct-instruction slide + re-run the SOURCE IT FIRST routine on the US.06 primary source, then assign the paired printable: Cornell Notes — US.06: Industrialization &amp; Urbanization. (3) Re-assess with the US.06 check-for-understanding reveal slide as a do-now the next day. Reteach anchors (this standard’s sections): Major Industrial Centers; Rural-to-Urban Migration; Geographic Factors in Industrial Location. I Can objective: I can locate major industrial centers and describe how industrialization influenced the movement of people from rural to urban areas.  EXTENSION (DOK 3, for early finishers or advanced learners): Argue: who bore the greatest cost of rapid urbanization — immigrants, workers, or city governments? Defend with TWO pieces of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(US.07). Cold-call or whiteboards, 3-4 min, low stakes. Answers — 1) Factory jobs drew rural Americans and immigrants into urban centers (urbanization).  2) A crowded, often unsafe urban apartment building housing poor and immigrant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(US.07, DOK 1). 60-90 seconds. Have EVERY student commit (thumbs / whiteboard / choral) before revealing — this secures an early win and surfaces who is shaky before new content. Answer: TRUE — plus Asia; “old” immigrants came earlier from N./W. Europe. Key term to listen for: new immigrants.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(US.07). Voice both perspectives with historical empathy. Cold-call one push factor and one nativist fear, then ask which surprised them.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Chinese Exclusion Act).) WHEN? (1882.) WHY does that matter? (The first U.S. law to bar an entire nationality — ask whose fears it answered.) Only then move to the ANALYZE question. Suggested answer: The Act claims "The coming of Chinese laborers to this country endangers the good order of certain localities," using this as justification for exclusion.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(US.07). Skill modeled: Compare across perspectives. Model the worked example aloud using the THINK ALOUD as your script, then release students to the activity ("You compare one more push factor with one nativist reaction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US.07. Pair with the printable: Cornell Notes — US.07: Immigration &amp; Urbanization. Timing: 12 min. Deliverable: Two perspective sentences + a photographer's-purpose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(US.07, DOK 2). Have students commit to an answer (whiteboards, hand signal, or turn-and-talk) BEFORE advancing. Correct answer: B. The next slide reveals it. Why: Addams states Hull-House operated on "the theory that the dependence of classes on each other is reciprocal," emphasizing mutual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(US.07). Correct: B. Addams states Hull-House operated on "the theory that the dependence of classes on each other is reciprocal," emphasizing mutual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(US.07, DOK 3). Prompt: Compare a PUSH factor for a “new” immigrant with a reason native-born Americans reacted with nativism. Which surprises you more and why?  Model answer: Push: poverty/persecution in S./E. Europe or Asia; nativism: job competition + prejudice (e.g., Chinese Exclusion Act). Reasoning required.  RETEACH TRIGGER — if a student misses this exit ticket: (1) &lt;50% of class miss → spiral it into the next standard’s Quick Review opener (see the US.07 review prompts). (2) Individual/small group → reteach with the "Old and New Immigrants" direct-instruction slide + re-run the SOURCE IT FIRST routine on the US.07 primary source, then assign the paired printable: Cornell Notes — US.07: Immigration &amp; Urbanization. (3) Re-assess with the US.07 check-for-understanding reveal slide as a do-now the next day. Reteach anchors (this standard’s sections): Old and New Immigrants; Entry Points and the Assimilation Process; Push and Pull Factors; Nativism and Restriction. I Can objective: I can describe the differences between "old" and "new" immigrants; explain entry points (Ellis Island and Angel Island), push and pull factors, and the formation of ethnic clusters; and analyze nativism and restrictions such as the Chinese Exclusion Act and the Gentlemen’s Agreement on American society.  EXTENSION (DOK 3, for early finishers or advanced learners): Construct an argument: was the Chinese Exclusion Act an economic policy or a racial one? Use specific evidence to defend your claim.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catalog.archives.gov/id/594940"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www.loc.gov/item/gm71000843/"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loc.gov/pictures/item/2005693378/" TargetMode="External"/><Relationship Id="rId3" Type="http://schemas.openxmlformats.org/officeDocument/2006/relationships/hyperlink" Target="https://www.archives.gov/milestone-documents/homestead-act"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loc.gov/item/gm71000843/"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commons.wikimedia.org/wiki/File:Tom_Torlino_Navajo_before_and_after_circa_1882.jpg"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hyperlink" Target="https://www.archives.gov/milestone-documents/dawes-act"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hyperlink" Target="https://www.loc.gov/pictures/item/92514996/"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hyperlink" Target="https://www.loc.gov/pictures/item/2001696840/"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hyperlink" Target="https://www.loc.gov/pictures/item/97504690/" TargetMode="External"/><Relationship Id="rId3" Type="http://schemas.openxmlformats.org/officeDocument/2006/relationships/hyperlink" Target="https://www.loc.gov/item/usrep163537/" TargetMode="External"/><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hyperlink" Target="https://www.loc.gov/pictures/item/97504690/"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hyperlink" Target="https://www.loc.gov/pictures/item/2002718861/" TargetMode="External"/><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hyperlink" Target="https://www.archives.gov/milestone-documents/pendleton-act" TargetMode="Externa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hyperlink" Target="https://www.loc.gov/pictures/item/2002718861/" TargetMode="External"/><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hyperlink" Target="https://www.loc.gov/pictures/item/90715109/" TargetMode="External"/><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hyperlink" Target="https://www.loc.gov/pictures/item/2001695241/" TargetMode="External"/><Relationship Id="rId3" Type="http://schemas.openxmlformats.org/officeDocument/2006/relationships/hyperlink" Target="https://www.carnegie.org/about/our-history/gospelofwealth/" TargetMode="External"/><Relationship Id="rId4" Type="http://schemas.openxmlformats.org/officeDocument/2006/relationships/slideLayout" Target="../slideLayouts/slideLayout1.xml"/><Relationship Id="rId5"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hyperlink" Target="https://www.loc.gov/pictures/item/90715109/" TargetMode="External"/><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hyperlink" Target="https://www.loc.gov/resource/g3701gm.gct00010/?sp=86" TargetMode="External"/><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hyperlink" Target="https://www.loc.gov/resource/g3701gm.gct00010/?sp=35" TargetMode="External"/><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hyperlink" Target="https://www.loc.gov/pictures/item/2002710259/" TargetMode="External"/><Relationship Id="rId3" Type="http://schemas.openxmlformats.org/officeDocument/2006/relationships/hyperlink" Target="https://www.loc.gov/item/71184754/" TargetMode="External"/><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hyperlink" Target="https://www.loc.gov/resource/g3701gm.gct00010/?sp=86" TargetMode="External"/><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hyperlink" Target="https://www.loc.gov/pictures/item/2016812423/" TargetMode="External"/><Relationship Id="rId3" Type="http://schemas.openxmlformats.org/officeDocument/2006/relationships/slideLayout" Target="../slideLayouts/slideLayout1.xml"/><Relationship Id="rId4"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3.xml.rels><?xml version='1.0' encoding='UTF-8' standalone='yes'?>
<Relationships xmlns="http://schemas.openxmlformats.org/package/2006/relationships"><Relationship Id="rId1" Type="http://schemas.openxmlformats.org/officeDocument/2006/relationships/hyperlink" Target="https://www.archives.gov/milestone-documents/chinese-exclusion-act" TargetMode="External"/><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6.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hyperlink" Target="https://www.loc.gov/pictures/item/2002710259/" TargetMode="External"/><Relationship Id="rId3" Type="http://schemas.openxmlformats.org/officeDocument/2006/relationships/slideLayout" Target="../slideLayouts/slideLayout1.xml"/><Relationship Id="rId4"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4-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12045391" y="0"/>
            <a:ext cx="146304" cy="6858000"/>
          </a:xfrm>
          <a:prstGeom prst="rect">
            <a:avLst/>
          </a:prstGeom>
          <a:solidFill>
            <a:srgbClr val="C62828"/>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1</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Rise of Industrialization</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Westward Expansion · The Gilded Age · Immigration   ·   1877–1900</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US.01 – US.07</a:t>
            </a:r>
            <a:endParaRPr lang="en-US" sz="1800" dirty="0"/>
          </a:p>
        </p:txBody>
      </p:sp>
      <p:sp>
        <p:nvSpPr>
          <p:cNvPr id="9" name="Shape 7"/>
          <p:cNvSpPr/>
          <p:nvPr/>
        </p:nvSpPr>
        <p:spPr>
          <a:xfrm>
            <a:off x="822960"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10" name="Text 8"/>
          <p:cNvSpPr/>
          <p:nvPr/>
        </p:nvSpPr>
        <p:spPr>
          <a:xfrm>
            <a:off x="822960"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US.01</a:t>
            </a:r>
            <a:endParaRPr lang="en-US" sz="1300" dirty="0"/>
          </a:p>
        </p:txBody>
      </p:sp>
      <p:sp>
        <p:nvSpPr>
          <p:cNvPr id="11" name="Shape 9"/>
          <p:cNvSpPr/>
          <p:nvPr/>
        </p:nvSpPr>
        <p:spPr>
          <a:xfrm>
            <a:off x="2039112"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12" name="Text 10"/>
          <p:cNvSpPr/>
          <p:nvPr/>
        </p:nvSpPr>
        <p:spPr>
          <a:xfrm>
            <a:off x="2039112"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US.02</a:t>
            </a:r>
            <a:endParaRPr lang="en-US" sz="1300" dirty="0"/>
          </a:p>
        </p:txBody>
      </p:sp>
      <p:sp>
        <p:nvSpPr>
          <p:cNvPr id="13" name="Shape 11"/>
          <p:cNvSpPr/>
          <p:nvPr/>
        </p:nvSpPr>
        <p:spPr>
          <a:xfrm>
            <a:off x="3255264"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14" name="Text 12"/>
          <p:cNvSpPr/>
          <p:nvPr/>
        </p:nvSpPr>
        <p:spPr>
          <a:xfrm>
            <a:off x="3255264"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US.03</a:t>
            </a:r>
            <a:endParaRPr lang="en-US" sz="1300" dirty="0"/>
          </a:p>
        </p:txBody>
      </p:sp>
      <p:sp>
        <p:nvSpPr>
          <p:cNvPr id="15" name="Shape 13"/>
          <p:cNvSpPr/>
          <p:nvPr/>
        </p:nvSpPr>
        <p:spPr>
          <a:xfrm>
            <a:off x="4471416"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16" name="Text 14"/>
          <p:cNvSpPr/>
          <p:nvPr/>
        </p:nvSpPr>
        <p:spPr>
          <a:xfrm>
            <a:off x="4471416"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US.04</a:t>
            </a:r>
            <a:endParaRPr lang="en-US" sz="1300" dirty="0"/>
          </a:p>
        </p:txBody>
      </p:sp>
      <p:sp>
        <p:nvSpPr>
          <p:cNvPr id="17" name="Shape 15"/>
          <p:cNvSpPr/>
          <p:nvPr/>
        </p:nvSpPr>
        <p:spPr>
          <a:xfrm>
            <a:off x="5687568"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18" name="Text 16"/>
          <p:cNvSpPr/>
          <p:nvPr/>
        </p:nvSpPr>
        <p:spPr>
          <a:xfrm>
            <a:off x="5687568"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US.05</a:t>
            </a:r>
            <a:endParaRPr lang="en-US" sz="1300" dirty="0"/>
          </a:p>
        </p:txBody>
      </p:sp>
      <p:sp>
        <p:nvSpPr>
          <p:cNvPr id="19" name="Shape 17"/>
          <p:cNvSpPr/>
          <p:nvPr/>
        </p:nvSpPr>
        <p:spPr>
          <a:xfrm>
            <a:off x="6903720"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20" name="Text 18"/>
          <p:cNvSpPr/>
          <p:nvPr/>
        </p:nvSpPr>
        <p:spPr>
          <a:xfrm>
            <a:off x="6903720"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US.06</a:t>
            </a:r>
            <a:endParaRPr lang="en-US" sz="1300" dirty="0"/>
          </a:p>
        </p:txBody>
      </p:sp>
      <p:sp>
        <p:nvSpPr>
          <p:cNvPr id="21" name="Shape 19"/>
          <p:cNvSpPr/>
          <p:nvPr/>
        </p:nvSpPr>
        <p:spPr>
          <a:xfrm>
            <a:off x="8119872" y="4480560"/>
            <a:ext cx="1051560" cy="457200"/>
          </a:xfrm>
          <a:prstGeom prst="roundRect">
            <a:avLst>
              <a:gd name="adj" fmla="val 16000"/>
            </a:avLst>
          </a:prstGeom>
          <a:solidFill>
            <a:srgbClr val="243047"/>
          </a:solidFill>
          <a:ln w="12700">
            <a:solidFill>
              <a:srgbClr val="C9A84C"/>
            </a:solidFill>
            <a:prstDash val="solid"/>
          </a:ln>
        </p:spPr>
        <p:txBody>
          <a:bodyPr/>
          <a:p/>
        </p:txBody>
      </p:sp>
      <p:sp>
        <p:nvSpPr>
          <p:cNvPr id="22" name="Text 20"/>
          <p:cNvSpPr/>
          <p:nvPr/>
        </p:nvSpPr>
        <p:spPr>
          <a:xfrm>
            <a:off x="8119872"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US.07</a:t>
            </a:r>
            <a:endParaRPr lang="en-US" sz="1300" dirty="0"/>
          </a:p>
        </p:txBody>
      </p:sp>
      <p:sp>
        <p:nvSpPr>
          <p:cNvPr id="23" name="Text 21"/>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24" name="Text 22"/>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1 · The Rise of Industrialization (1877–1900)  —  Westward Expansion, the Gilded Age &amp; Immigration</a:t>
            </a:r>
            <a:endParaRPr lang="en-US" sz="1300" dirty="0"/>
          </a:p>
        </p:txBody>
      </p:sp>
      <p:sp>
        <p:nvSpPr>
          <p:cNvPr id="6" name="Shape 4"/>
          <p:cNvSpPr/>
          <p:nvPr/>
        </p:nvSpPr>
        <p:spPr>
          <a:xfrm>
            <a:off x="548640" y="1828800"/>
            <a:ext cx="5349240" cy="96012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1828800"/>
            <a:ext cx="1188720" cy="960120"/>
          </a:xfrm>
          <a:prstGeom prst="rect">
            <a:avLst/>
          </a:prstGeom>
          <a:solidFill>
            <a:srgbClr val="1A2332"/>
          </a:solidFill>
          <a:ln/>
        </p:spPr>
        <p:txBody>
          <a:bodyPr/>
          <a:p/>
        </p:txBody>
      </p:sp>
      <p:sp>
        <p:nvSpPr>
          <p:cNvPr id="8" name="Text 6"/>
          <p:cNvSpPr/>
          <p:nvPr/>
        </p:nvSpPr>
        <p:spPr>
          <a:xfrm>
            <a:off x="54864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US.01</a:t>
            </a:r>
            <a:endParaRPr lang="en-US" sz="1900" dirty="0"/>
          </a:p>
        </p:txBody>
      </p:sp>
      <p:sp>
        <p:nvSpPr>
          <p:cNvPr id="9" name="Text 7"/>
          <p:cNvSpPr/>
          <p:nvPr/>
        </p:nvSpPr>
        <p:spPr>
          <a:xfrm>
            <a:off x="1920240" y="1828800"/>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Homestead Act and Transcontinental Railroad</a:t>
            </a:r>
            <a:endParaRPr lang="en-US" sz="1350" dirty="0"/>
          </a:p>
        </p:txBody>
      </p:sp>
      <p:sp>
        <p:nvSpPr>
          <p:cNvPr id="10" name="Shape 8"/>
          <p:cNvSpPr/>
          <p:nvPr/>
        </p:nvSpPr>
        <p:spPr>
          <a:xfrm rot="10800000">
            <a:off x="1042416" y="2802636"/>
            <a:ext cx="201168" cy="155448"/>
          </a:xfrm>
          <a:prstGeom prst="triangle">
            <a:avLst/>
          </a:prstGeom>
          <a:solidFill>
            <a:srgbClr val="C9A84C"/>
          </a:solidFill>
          <a:ln/>
        </p:spPr>
        <p:txBody>
          <a:bodyPr/>
          <a:p/>
        </p:txBody>
      </p:sp>
      <p:sp>
        <p:nvSpPr>
          <p:cNvPr id="11" name="Shape 9"/>
          <p:cNvSpPr/>
          <p:nvPr/>
        </p:nvSpPr>
        <p:spPr>
          <a:xfrm>
            <a:off x="548640" y="2944368"/>
            <a:ext cx="5349240" cy="960120"/>
          </a:xfrm>
          <a:prstGeom prst="rect">
            <a:avLst/>
          </a:prstGeom>
          <a:solidFill>
            <a:srgbClr val="FFFFFF"/>
          </a:solidFill>
          <a:ln w="12700">
            <a:solidFill>
              <a:srgbClr val="DAD3C2"/>
            </a:solidFill>
            <a:prstDash val="solid"/>
          </a:ln>
        </p:spPr>
        <p:txBody>
          <a:bodyPr/>
          <a:p/>
        </p:txBody>
      </p:sp>
      <p:sp>
        <p:nvSpPr>
          <p:cNvPr id="12" name="Shape 10"/>
          <p:cNvSpPr/>
          <p:nvPr/>
        </p:nvSpPr>
        <p:spPr>
          <a:xfrm>
            <a:off x="548640" y="2944368"/>
            <a:ext cx="1188720" cy="960120"/>
          </a:xfrm>
          <a:prstGeom prst="rect">
            <a:avLst/>
          </a:prstGeom>
          <a:solidFill>
            <a:srgbClr val="1A2332"/>
          </a:solidFill>
          <a:ln/>
        </p:spPr>
        <p:txBody>
          <a:bodyPr/>
          <a:p/>
        </p:txBody>
      </p:sp>
      <p:sp>
        <p:nvSpPr>
          <p:cNvPr id="13" name="Text 11"/>
          <p:cNvSpPr/>
          <p:nvPr/>
        </p:nvSpPr>
        <p:spPr>
          <a:xfrm>
            <a:off x="54864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US.02</a:t>
            </a:r>
            <a:endParaRPr lang="en-US" sz="1900" dirty="0"/>
          </a:p>
        </p:txBody>
      </p:sp>
      <p:sp>
        <p:nvSpPr>
          <p:cNvPr id="14" name="Text 12"/>
          <p:cNvSpPr/>
          <p:nvPr/>
        </p:nvSpPr>
        <p:spPr>
          <a:xfrm>
            <a:off x="1920240" y="2944368"/>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Federal Policies Toward American Indians</a:t>
            </a:r>
            <a:endParaRPr lang="en-US" sz="1350" dirty="0"/>
          </a:p>
        </p:txBody>
      </p:sp>
      <p:sp>
        <p:nvSpPr>
          <p:cNvPr id="15" name="Shape 13"/>
          <p:cNvSpPr/>
          <p:nvPr/>
        </p:nvSpPr>
        <p:spPr>
          <a:xfrm rot="10800000">
            <a:off x="1042416" y="3918204"/>
            <a:ext cx="201168" cy="155448"/>
          </a:xfrm>
          <a:prstGeom prst="triangle">
            <a:avLst/>
          </a:prstGeom>
          <a:solidFill>
            <a:srgbClr val="C9A84C"/>
          </a:solidFill>
          <a:ln/>
        </p:spPr>
        <p:txBody>
          <a:bodyPr/>
          <a:p/>
        </p:txBody>
      </p:sp>
      <p:sp>
        <p:nvSpPr>
          <p:cNvPr id="16" name="Shape 14"/>
          <p:cNvSpPr/>
          <p:nvPr/>
        </p:nvSpPr>
        <p:spPr>
          <a:xfrm>
            <a:off x="548640" y="4059936"/>
            <a:ext cx="5349240" cy="960120"/>
          </a:xfrm>
          <a:prstGeom prst="rect">
            <a:avLst/>
          </a:prstGeom>
          <a:solidFill>
            <a:srgbClr val="FFFFFF"/>
          </a:solidFill>
          <a:ln w="12700">
            <a:solidFill>
              <a:srgbClr val="DAD3C2"/>
            </a:solidFill>
            <a:prstDash val="solid"/>
          </a:ln>
        </p:spPr>
        <p:txBody>
          <a:bodyPr/>
          <a:p/>
        </p:txBody>
      </p:sp>
      <p:sp>
        <p:nvSpPr>
          <p:cNvPr id="17" name="Shape 15"/>
          <p:cNvSpPr/>
          <p:nvPr/>
        </p:nvSpPr>
        <p:spPr>
          <a:xfrm>
            <a:off x="548640" y="4059936"/>
            <a:ext cx="1188720" cy="960120"/>
          </a:xfrm>
          <a:prstGeom prst="rect">
            <a:avLst/>
          </a:prstGeom>
          <a:solidFill>
            <a:srgbClr val="1A2332"/>
          </a:solidFill>
          <a:ln/>
        </p:spPr>
        <p:txBody>
          <a:bodyPr/>
          <a:p/>
        </p:txBody>
      </p:sp>
      <p:sp>
        <p:nvSpPr>
          <p:cNvPr id="18" name="Text 16"/>
          <p:cNvSpPr/>
          <p:nvPr/>
        </p:nvSpPr>
        <p:spPr>
          <a:xfrm>
            <a:off x="548640" y="4059936"/>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US.03</a:t>
            </a:r>
            <a:endParaRPr lang="en-US" sz="1900" dirty="0"/>
          </a:p>
        </p:txBody>
      </p:sp>
      <p:sp>
        <p:nvSpPr>
          <p:cNvPr id="19" name="Text 17"/>
          <p:cNvSpPr/>
          <p:nvPr/>
        </p:nvSpPr>
        <p:spPr>
          <a:xfrm>
            <a:off x="1920240" y="4059936"/>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Compromise of 1877, Jim Crow &amp; Plessy v. Ferguson</a:t>
            </a:r>
            <a:endParaRPr lang="en-US" sz="1350" dirty="0"/>
          </a:p>
        </p:txBody>
      </p:sp>
      <p:sp>
        <p:nvSpPr>
          <p:cNvPr id="20" name="Shape 18"/>
          <p:cNvSpPr/>
          <p:nvPr/>
        </p:nvSpPr>
        <p:spPr>
          <a:xfrm rot="10800000">
            <a:off x="1042416" y="5033772"/>
            <a:ext cx="201168" cy="155448"/>
          </a:xfrm>
          <a:prstGeom prst="triangle">
            <a:avLst/>
          </a:prstGeom>
          <a:solidFill>
            <a:srgbClr val="C9A84C"/>
          </a:solidFill>
          <a:ln/>
        </p:spPr>
        <p:txBody>
          <a:bodyPr/>
          <a:p/>
        </p:txBody>
      </p:sp>
      <p:sp>
        <p:nvSpPr>
          <p:cNvPr id="21" name="Shape 19"/>
          <p:cNvSpPr/>
          <p:nvPr/>
        </p:nvSpPr>
        <p:spPr>
          <a:xfrm>
            <a:off x="548640" y="5175504"/>
            <a:ext cx="5349240" cy="960120"/>
          </a:xfrm>
          <a:prstGeom prst="rect">
            <a:avLst/>
          </a:prstGeom>
          <a:solidFill>
            <a:srgbClr val="FFFFFF"/>
          </a:solidFill>
          <a:ln w="12700">
            <a:solidFill>
              <a:srgbClr val="DAD3C2"/>
            </a:solidFill>
            <a:prstDash val="solid"/>
          </a:ln>
        </p:spPr>
        <p:txBody>
          <a:bodyPr/>
          <a:p/>
        </p:txBody>
      </p:sp>
      <p:sp>
        <p:nvSpPr>
          <p:cNvPr id="22" name="Shape 20"/>
          <p:cNvSpPr/>
          <p:nvPr/>
        </p:nvSpPr>
        <p:spPr>
          <a:xfrm>
            <a:off x="548640" y="5175504"/>
            <a:ext cx="1188720" cy="960120"/>
          </a:xfrm>
          <a:prstGeom prst="rect">
            <a:avLst/>
          </a:prstGeom>
          <a:solidFill>
            <a:srgbClr val="1A2332"/>
          </a:solidFill>
          <a:ln/>
        </p:spPr>
        <p:txBody>
          <a:bodyPr/>
          <a:p/>
        </p:txBody>
      </p:sp>
      <p:sp>
        <p:nvSpPr>
          <p:cNvPr id="23" name="Text 21"/>
          <p:cNvSpPr/>
          <p:nvPr/>
        </p:nvSpPr>
        <p:spPr>
          <a:xfrm>
            <a:off x="548640" y="5175504"/>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US.04</a:t>
            </a:r>
            <a:endParaRPr lang="en-US" sz="1900" dirty="0"/>
          </a:p>
        </p:txBody>
      </p:sp>
      <p:sp>
        <p:nvSpPr>
          <p:cNvPr id="24" name="Text 22"/>
          <p:cNvSpPr/>
          <p:nvPr/>
        </p:nvSpPr>
        <p:spPr>
          <a:xfrm>
            <a:off x="1920240" y="5175504"/>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Gilded Age Politics and Economics</a:t>
            </a:r>
            <a:endParaRPr lang="en-US" sz="1350" dirty="0"/>
          </a:p>
        </p:txBody>
      </p:sp>
      <p:sp>
        <p:nvSpPr>
          <p:cNvPr id="25" name="Shape 23"/>
          <p:cNvSpPr/>
          <p:nvPr/>
        </p:nvSpPr>
        <p:spPr>
          <a:xfrm>
            <a:off x="6309360" y="1828800"/>
            <a:ext cx="5349240" cy="960120"/>
          </a:xfrm>
          <a:prstGeom prst="rect">
            <a:avLst/>
          </a:prstGeom>
          <a:solidFill>
            <a:srgbClr val="FFFFFF"/>
          </a:solidFill>
          <a:ln w="12700">
            <a:solidFill>
              <a:srgbClr val="DAD3C2"/>
            </a:solidFill>
            <a:prstDash val="solid"/>
          </a:ln>
        </p:spPr>
        <p:txBody>
          <a:bodyPr/>
          <a:p/>
        </p:txBody>
      </p:sp>
      <p:sp>
        <p:nvSpPr>
          <p:cNvPr id="26" name="Shape 24"/>
          <p:cNvSpPr/>
          <p:nvPr/>
        </p:nvSpPr>
        <p:spPr>
          <a:xfrm>
            <a:off x="6309360" y="1828800"/>
            <a:ext cx="1188720" cy="960120"/>
          </a:xfrm>
          <a:prstGeom prst="rect">
            <a:avLst/>
          </a:prstGeom>
          <a:solidFill>
            <a:srgbClr val="1A2332"/>
          </a:solidFill>
          <a:ln/>
        </p:spPr>
        <p:txBody>
          <a:bodyPr/>
          <a:p/>
        </p:txBody>
      </p:sp>
      <p:sp>
        <p:nvSpPr>
          <p:cNvPr id="27" name="Text 25"/>
          <p:cNvSpPr/>
          <p:nvPr/>
        </p:nvSpPr>
        <p:spPr>
          <a:xfrm>
            <a:off x="630936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US.05</a:t>
            </a:r>
            <a:endParaRPr lang="en-US" sz="1900" dirty="0"/>
          </a:p>
        </p:txBody>
      </p:sp>
      <p:sp>
        <p:nvSpPr>
          <p:cNvPr id="28" name="Text 26"/>
          <p:cNvSpPr/>
          <p:nvPr/>
        </p:nvSpPr>
        <p:spPr>
          <a:xfrm>
            <a:off x="7680960" y="1828800"/>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Inventions &amp; Innovations of Business Leaders &amp; Entrepreneurs</a:t>
            </a:r>
            <a:endParaRPr lang="en-US" sz="1350" dirty="0"/>
          </a:p>
        </p:txBody>
      </p:sp>
      <p:sp>
        <p:nvSpPr>
          <p:cNvPr id="29" name="Shape 27"/>
          <p:cNvSpPr/>
          <p:nvPr/>
        </p:nvSpPr>
        <p:spPr>
          <a:xfrm rot="10800000">
            <a:off x="6803136" y="2802636"/>
            <a:ext cx="201168" cy="155448"/>
          </a:xfrm>
          <a:prstGeom prst="triangle">
            <a:avLst/>
          </a:prstGeom>
          <a:solidFill>
            <a:srgbClr val="C9A84C"/>
          </a:solidFill>
          <a:ln/>
        </p:spPr>
        <p:txBody>
          <a:bodyPr/>
          <a:p/>
        </p:txBody>
      </p:sp>
      <p:sp>
        <p:nvSpPr>
          <p:cNvPr id="30" name="Shape 28"/>
          <p:cNvSpPr/>
          <p:nvPr/>
        </p:nvSpPr>
        <p:spPr>
          <a:xfrm>
            <a:off x="6309360" y="2944368"/>
            <a:ext cx="5349240" cy="960120"/>
          </a:xfrm>
          <a:prstGeom prst="rect">
            <a:avLst/>
          </a:prstGeom>
          <a:solidFill>
            <a:srgbClr val="FFFFFF"/>
          </a:solidFill>
          <a:ln w="12700">
            <a:solidFill>
              <a:srgbClr val="DAD3C2"/>
            </a:solidFill>
            <a:prstDash val="solid"/>
          </a:ln>
        </p:spPr>
        <p:txBody>
          <a:bodyPr/>
          <a:p/>
        </p:txBody>
      </p:sp>
      <p:sp>
        <p:nvSpPr>
          <p:cNvPr id="31" name="Shape 29"/>
          <p:cNvSpPr/>
          <p:nvPr/>
        </p:nvSpPr>
        <p:spPr>
          <a:xfrm>
            <a:off x="6309360" y="2944368"/>
            <a:ext cx="1188720" cy="960120"/>
          </a:xfrm>
          <a:prstGeom prst="rect">
            <a:avLst/>
          </a:prstGeom>
          <a:solidFill>
            <a:srgbClr val="1A2332"/>
          </a:solidFill>
          <a:ln/>
        </p:spPr>
        <p:txBody>
          <a:bodyPr/>
          <a:p/>
        </p:txBody>
      </p:sp>
      <p:sp>
        <p:nvSpPr>
          <p:cNvPr id="32" name="Text 30"/>
          <p:cNvSpPr/>
          <p:nvPr/>
        </p:nvSpPr>
        <p:spPr>
          <a:xfrm>
            <a:off x="630936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US.06</a:t>
            </a:r>
            <a:endParaRPr lang="en-US" sz="1900" dirty="0"/>
          </a:p>
        </p:txBody>
      </p:sp>
      <p:sp>
        <p:nvSpPr>
          <p:cNvPr id="33" name="Text 31"/>
          <p:cNvSpPr/>
          <p:nvPr/>
        </p:nvSpPr>
        <p:spPr>
          <a:xfrm>
            <a:off x="7680960" y="2944368"/>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Industrial Centers and Urbanization</a:t>
            </a:r>
            <a:endParaRPr lang="en-US" sz="1350" dirty="0"/>
          </a:p>
        </p:txBody>
      </p:sp>
      <p:sp>
        <p:nvSpPr>
          <p:cNvPr id="34" name="Shape 32"/>
          <p:cNvSpPr/>
          <p:nvPr/>
        </p:nvSpPr>
        <p:spPr>
          <a:xfrm rot="10800000">
            <a:off x="6803136" y="3918204"/>
            <a:ext cx="201168" cy="155448"/>
          </a:xfrm>
          <a:prstGeom prst="triangle">
            <a:avLst/>
          </a:prstGeom>
          <a:solidFill>
            <a:srgbClr val="C9A84C"/>
          </a:solidFill>
          <a:ln/>
        </p:spPr>
        <p:txBody>
          <a:bodyPr/>
          <a:p/>
        </p:txBody>
      </p:sp>
      <p:sp>
        <p:nvSpPr>
          <p:cNvPr id="35" name="Shape 33"/>
          <p:cNvSpPr/>
          <p:nvPr/>
        </p:nvSpPr>
        <p:spPr>
          <a:xfrm>
            <a:off x="6309360" y="4059936"/>
            <a:ext cx="5349240" cy="960120"/>
          </a:xfrm>
          <a:prstGeom prst="rect">
            <a:avLst/>
          </a:prstGeom>
          <a:solidFill>
            <a:srgbClr val="FFFFFF"/>
          </a:solidFill>
          <a:ln w="12700">
            <a:solidFill>
              <a:srgbClr val="DAD3C2"/>
            </a:solidFill>
            <a:prstDash val="solid"/>
          </a:ln>
        </p:spPr>
        <p:txBody>
          <a:bodyPr/>
          <a:p/>
        </p:txBody>
      </p:sp>
      <p:sp>
        <p:nvSpPr>
          <p:cNvPr id="36" name="Shape 34"/>
          <p:cNvSpPr/>
          <p:nvPr/>
        </p:nvSpPr>
        <p:spPr>
          <a:xfrm>
            <a:off x="6309360" y="4059936"/>
            <a:ext cx="1188720" cy="960120"/>
          </a:xfrm>
          <a:prstGeom prst="rect">
            <a:avLst/>
          </a:prstGeom>
          <a:solidFill>
            <a:srgbClr val="1A2332"/>
          </a:solidFill>
          <a:ln/>
        </p:spPr>
        <p:txBody>
          <a:bodyPr/>
          <a:p/>
        </p:txBody>
      </p:sp>
      <p:sp>
        <p:nvSpPr>
          <p:cNvPr id="37" name="Text 35"/>
          <p:cNvSpPr/>
          <p:nvPr/>
        </p:nvSpPr>
        <p:spPr>
          <a:xfrm>
            <a:off x="6309360" y="4059936"/>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US.07</a:t>
            </a:r>
            <a:endParaRPr lang="en-US" sz="1900" dirty="0"/>
          </a:p>
        </p:txBody>
      </p:sp>
      <p:sp>
        <p:nvSpPr>
          <p:cNvPr id="38" name="Text 36"/>
          <p:cNvSpPr/>
          <p:nvPr/>
        </p:nvSpPr>
        <p:spPr>
          <a:xfrm>
            <a:off x="7680960" y="4059936"/>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Immigration: Old vs. New Immigrants</a:t>
            </a:r>
            <a:endParaRPr lang="en-US" sz="1350" dirty="0"/>
          </a:p>
        </p:txBody>
      </p:sp>
      <p:sp>
        <p:nvSpPr>
          <p:cNvPr id="39" name="Shape 37"/>
          <p:cNvSpPr/>
          <p:nvPr/>
        </p:nvSpPr>
        <p:spPr>
          <a:xfrm>
            <a:off x="5532120" y="2121408"/>
            <a:ext cx="658368" cy="384048"/>
          </a:xfrm>
          <a:prstGeom prst="roundRect">
            <a:avLst>
              <a:gd name="adj" fmla="val 14286"/>
            </a:avLst>
          </a:prstGeom>
          <a:solidFill>
            <a:srgbClr val="1A2332"/>
          </a:solidFill>
          <a:ln/>
        </p:spPr>
        <p:txBody>
          <a:bodyPr/>
          <a:p/>
        </p:txBody>
      </p:sp>
      <p:sp>
        <p:nvSpPr>
          <p:cNvPr id="40" name="Text 38"/>
          <p:cNvSpPr/>
          <p:nvPr/>
        </p:nvSpPr>
        <p:spPr>
          <a:xfrm>
            <a:off x="5532120" y="2121408"/>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41" name="Shape 39"/>
          <p:cNvSpPr/>
          <p:nvPr/>
        </p:nvSpPr>
        <p:spPr>
          <a:xfrm rot="5400000">
            <a:off x="6199632" y="2249424"/>
            <a:ext cx="164592" cy="146304"/>
          </a:xfrm>
          <a:prstGeom prst="triangle">
            <a:avLst/>
          </a:prstGeom>
          <a:solidFill>
            <a:srgbClr val="C9A84C"/>
          </a:solidFill>
          <a:ln/>
        </p:spPr>
        <p:txBody>
          <a:bodyPr/>
          <a:p/>
        </p:txBody>
      </p:sp>
      <p:sp>
        <p:nvSpPr>
          <p:cNvPr id="42" name="Shape 40"/>
          <p:cNvSpPr/>
          <p:nvPr/>
        </p:nvSpPr>
        <p:spPr>
          <a:xfrm>
            <a:off x="6309360" y="5175504"/>
            <a:ext cx="5349240" cy="960120"/>
          </a:xfrm>
          <a:prstGeom prst="roundRect">
            <a:avLst>
              <a:gd name="adj" fmla="val 5714"/>
            </a:avLst>
          </a:prstGeom>
          <a:solidFill>
            <a:srgbClr val="FBEFD0"/>
          </a:solidFill>
          <a:ln w="12700">
            <a:solidFill>
              <a:srgbClr val="C9A84C"/>
            </a:solidFill>
            <a:prstDash val="solid"/>
          </a:ln>
        </p:spPr>
        <p:txBody>
          <a:bodyPr/>
          <a:p/>
        </p:txBody>
      </p:sp>
      <p:sp>
        <p:nvSpPr>
          <p:cNvPr id="43" name="Text 41"/>
          <p:cNvSpPr/>
          <p:nvPr/>
        </p:nvSpPr>
        <p:spPr>
          <a:xfrm>
            <a:off x="6492240" y="5212080"/>
            <a:ext cx="5029200" cy="886968"/>
          </a:xfrm>
          <a:prstGeom prst="rect">
            <a:avLst/>
          </a:prstGeom>
          <a:noFill/>
          <a:ln/>
        </p:spPr>
        <p:txBody>
          <a:bodyPr wrap="square" rtlCol="0" anchor="ctr"/>
          <a:lstStyle/>
          <a:p>
            <a:pPr indent="0" marL="0">
              <a:lnSpc>
                <a:spcPct val="108000"/>
              </a:lnSpc>
              <a:buNone/>
            </a:pPr>
            <a:r>
              <a:rPr lang="en-US" sz="1100" i="1" dirty="0">
                <a:solidFill>
                  <a:srgbClr val="5A4A1E"/>
                </a:solidFill>
                <a:latin typeface="Calibri" pitchFamily="34" charset="0"/>
                <a:ea typeface="Calibri" pitchFamily="34" charset="-122"/>
                <a:cs typeface="Calibri" pitchFamily="34" charset="-120"/>
              </a:rPr>
              <a:t>Standards build in sequence (US.01 → US.07). Each runs as a full lesson: TN standard · “I Can” · direct instruction · verified primary source · vocabulary · guided + independent practice · TCAP-style check with reveal key.</a:t>
            </a:r>
            <a:endParaRPr lang="en-US" sz="1100" dirty="0"/>
          </a:p>
        </p:txBody>
      </p:sp>
      <p:sp>
        <p:nvSpPr>
          <p:cNvPr id="44" name="Text 4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5" name="Text 4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80160"/>
            <a:ext cx="10789920" cy="1645920"/>
          </a:xfrm>
          <a:prstGeom prst="rect">
            <a:avLst/>
          </a:prstGeom>
          <a:noFill/>
          <a:ln/>
        </p:spPr>
        <p:txBody>
          <a:bodyPr wrap="square" rtlCol="0" anchor="ctr"/>
          <a:lstStyle/>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In 1865, most Americans lived on farms.</a:t>
            </a:r>
            <a:endParaRPr lang="en-US" sz="3600" dirty="0"/>
          </a:p>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By 1920, most lived in cities.</a:t>
            </a:r>
            <a:endParaRPr lang="en-US" sz="3600" dirty="0"/>
          </a:p>
        </p:txBody>
      </p:sp>
      <p:sp>
        <p:nvSpPr>
          <p:cNvPr id="5" name="Text 3"/>
          <p:cNvSpPr/>
          <p:nvPr/>
        </p:nvSpPr>
        <p:spPr>
          <a:xfrm>
            <a:off x="640080" y="3200400"/>
            <a:ext cx="10789920" cy="914400"/>
          </a:xfrm>
          <a:prstGeom prst="rect">
            <a:avLst/>
          </a:prstGeom>
          <a:noFill/>
          <a:ln/>
        </p:spPr>
        <p:txBody>
          <a:bodyPr wrap="square" rtlCol="0" anchor="ctr"/>
          <a:lstStyle/>
          <a:p>
            <a:pPr indent="0" marL="0">
              <a:buNone/>
            </a:pPr>
            <a:r>
              <a:rPr lang="en-US" sz="2400" i="1" dirty="0">
                <a:solidFill>
                  <a:srgbClr val="F9A825"/>
                </a:solidFill>
                <a:latin typeface="Georgia" pitchFamily="34" charset="0"/>
                <a:ea typeface="Georgia" pitchFamily="34" charset="-122"/>
                <a:cs typeface="Georgia" pitchFamily="34" charset="-120"/>
              </a:rPr>
              <a:t>What forces could move an entire nation off the land and into the factory in just 55 years?</a:t>
            </a:r>
            <a:endParaRPr lang="en-US" sz="24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txBody>
          <a:bodyPr/>
          <a:p/>
        </p:txBody>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pull people toward cities — and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push them off the farm.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457200" y="411480"/>
            <a:ext cx="11247120" cy="640080"/>
          </a:xfrm>
          <a:prstGeom prst="rect">
            <a:avLst/>
          </a:prstGeom>
          <a:noFill/>
        </p:spPr>
        <p:txBody>
          <a:bodyPr wrap="square" anchor="t" lIns="0" rIns="0" tIns="0" bIns="0">
            <a:spAutoFit/>
          </a:bodyPr>
          <a:lstStyle/>
          <a:p>
            <a:pPr algn="l">
              <a:spcBef>
                <a:spcPts val="0"/>
              </a:spcBef>
              <a:spcAft>
                <a:spcPts val="200"/>
              </a:spcAft>
            </a:pPr>
            <a:r>
              <a:rPr sz="3000" b="1">
                <a:solidFill>
                  <a:srgbClr val="FFFFFF"/>
                </a:solidFill>
                <a:latin typeface="Georgia"/>
              </a:rPr>
              <a:t>How This Deck Works — UDL &amp; MTSS</a:t>
            </a:r>
          </a:p>
        </p:txBody>
      </p:sp>
      <p:sp>
        <p:nvSpPr>
          <p:cNvPr id="3" name="TextBox 2"/>
          <p:cNvSpPr txBox="1"/>
          <p:nvPr/>
        </p:nvSpPr>
        <p:spPr>
          <a:xfrm>
            <a:off x="457200" y="1078992"/>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Universal supports built into every standard. One firm learning goal; flexible ways to reach it.</a:t>
            </a:r>
          </a:p>
        </p:txBody>
      </p:sp>
      <p:sp>
        <p:nvSpPr>
          <p:cNvPr id="4" name="Rectangle 3"/>
          <p:cNvSpPr/>
          <p:nvPr/>
        </p:nvSpPr>
        <p:spPr>
          <a:xfrm>
            <a:off x="457200"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783080"/>
            <a:ext cx="361188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CORE PATH</a:t>
            </a:r>
          </a:p>
        </p:txBody>
      </p:sp>
      <p:sp>
        <p:nvSpPr>
          <p:cNvPr id="7" name="TextBox 6"/>
          <p:cNvSpPr txBox="1"/>
          <p:nvPr/>
        </p:nvSpPr>
        <p:spPr>
          <a:xfrm>
            <a:off x="585216"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essential instruction every student receives.</a:t>
            </a:r>
          </a:p>
        </p:txBody>
      </p:sp>
      <p:sp>
        <p:nvSpPr>
          <p:cNvPr id="8" name="Rectangle 7"/>
          <p:cNvSpPr/>
          <p:nvPr/>
        </p:nvSpPr>
        <p:spPr>
          <a:xfrm>
            <a:off x="4270248"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1783080"/>
            <a:ext cx="3611880" cy="3657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SUPPORT OPTION</a:t>
            </a:r>
          </a:p>
        </p:txBody>
      </p:sp>
      <p:sp>
        <p:nvSpPr>
          <p:cNvPr id="11" name="TextBox 10"/>
          <p:cNvSpPr txBox="1"/>
          <p:nvPr/>
        </p:nvSpPr>
        <p:spPr>
          <a:xfrm>
            <a:off x="4398264"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optional scaffold that keeps the goal, not lowers it.</a:t>
            </a:r>
          </a:p>
        </p:txBody>
      </p:sp>
      <p:sp>
        <p:nvSpPr>
          <p:cNvPr id="12" name="Rectangle 11"/>
          <p:cNvSpPr/>
          <p:nvPr/>
        </p:nvSpPr>
        <p:spPr>
          <a:xfrm>
            <a:off x="8083296"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783080"/>
            <a:ext cx="36118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6"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LANGUAGE SUPPORT</a:t>
            </a:r>
          </a:p>
        </p:txBody>
      </p:sp>
      <p:sp>
        <p:nvSpPr>
          <p:cNvPr id="15" name="TextBox 14"/>
          <p:cNvSpPr txBox="1"/>
          <p:nvPr/>
        </p:nvSpPr>
        <p:spPr>
          <a:xfrm>
            <a:off x="8211312"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Vocabulary, pronunciation, and Spanish cognates for access.</a:t>
            </a:r>
          </a:p>
        </p:txBody>
      </p:sp>
      <p:sp>
        <p:nvSpPr>
          <p:cNvPr id="16" name="Rectangle 15"/>
          <p:cNvSpPr/>
          <p:nvPr/>
        </p:nvSpPr>
        <p:spPr>
          <a:xfrm>
            <a:off x="457200"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90672"/>
            <a:ext cx="3611880" cy="36576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RESPONSE CHOICE</a:t>
            </a:r>
          </a:p>
        </p:txBody>
      </p:sp>
      <p:sp>
        <p:nvSpPr>
          <p:cNvPr id="19" name="TextBox 18"/>
          <p:cNvSpPr txBox="1"/>
          <p:nvPr/>
        </p:nvSpPr>
        <p:spPr>
          <a:xfrm>
            <a:off x="585216"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Show learning by writing, saying/recording, or diagramming.</a:t>
            </a:r>
          </a:p>
        </p:txBody>
      </p:sp>
      <p:sp>
        <p:nvSpPr>
          <p:cNvPr id="20" name="Rectangle 19"/>
          <p:cNvSpPr/>
          <p:nvPr/>
        </p:nvSpPr>
        <p:spPr>
          <a:xfrm>
            <a:off x="4270248"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090672"/>
            <a:ext cx="361188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PROGRESS CHECK</a:t>
            </a:r>
          </a:p>
        </p:txBody>
      </p:sp>
      <p:sp>
        <p:nvSpPr>
          <p:cNvPr id="23" name="TextBox 22"/>
          <p:cNvSpPr txBox="1"/>
          <p:nvPr/>
        </p:nvSpPr>
        <p:spPr>
          <a:xfrm>
            <a:off x="4398264"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quick DOK-2/3 check to guide reteach or extend.</a:t>
            </a:r>
          </a:p>
        </p:txBody>
      </p:sp>
      <p:sp>
        <p:nvSpPr>
          <p:cNvPr id="24" name="Rectangle 23"/>
          <p:cNvSpPr/>
          <p:nvPr/>
        </p:nvSpPr>
        <p:spPr>
          <a:xfrm>
            <a:off x="8083296"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090672"/>
            <a:ext cx="3611880" cy="365760"/>
          </a:xfrm>
          <a:prstGeom prst="rect">
            <a:avLst/>
          </a:prstGeom>
          <a:solidFill>
            <a:srgbClr val="2F6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3296"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EXTENSION</a:t>
            </a:r>
          </a:p>
        </p:txBody>
      </p:sp>
      <p:sp>
        <p:nvSpPr>
          <p:cNvPr id="27" name="TextBox 26"/>
          <p:cNvSpPr txBox="1"/>
          <p:nvPr/>
        </p:nvSpPr>
        <p:spPr>
          <a:xfrm>
            <a:off x="8211312"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deeper challenge once the goal is met.</a:t>
            </a:r>
          </a:p>
        </p:txBody>
      </p:sp>
      <p:sp>
        <p:nvSpPr>
          <p:cNvPr id="28" name="Rectangle 27"/>
          <p:cNvSpPr/>
          <p:nvPr/>
        </p:nvSpPr>
        <p:spPr>
          <a:xfrm>
            <a:off x="457200" y="5440680"/>
            <a:ext cx="11247120" cy="868680"/>
          </a:xfrm>
          <a:prstGeom prst="rect">
            <a:avLst/>
          </a:prstGeom>
          <a:solidFill>
            <a:srgbClr val="232F40"/>
          </a:solid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559552"/>
            <a:ext cx="10881360" cy="731520"/>
          </a:xfrm>
          <a:prstGeom prst="rect">
            <a:avLst/>
          </a:prstGeom>
          <a:noFill/>
        </p:spPr>
        <p:txBody>
          <a:bodyPr wrap="square" anchor="t" lIns="0" rIns="0" tIns="0" bIns="0">
            <a:spAutoFit/>
          </a:bodyPr>
          <a:lstStyle/>
          <a:p>
            <a:pPr algn="l">
              <a:spcBef>
                <a:spcPts val="0"/>
              </a:spcBef>
              <a:spcAft>
                <a:spcPts val="200"/>
              </a:spcAft>
            </a:pPr>
            <a:r>
              <a:rPr sz="1250" b="1">
                <a:solidFill>
                  <a:srgbClr val="FFFFFF"/>
                </a:solidFill>
                <a:latin typeface="Calibri"/>
              </a:rPr>
              <a:t>Options are available by design and support access without lowering the learning goal.  </a:t>
            </a:r>
          </a:p>
          <a:p>
            <a:pPr algn="l">
              <a:spcBef>
                <a:spcPts val="0"/>
              </a:spcBef>
              <a:spcAft>
                <a:spcPts val="200"/>
              </a:spcAft>
            </a:pPr>
            <a:r>
              <a:rPr sz="1250" b="0">
                <a:solidFill>
                  <a:srgbClr val="C7D4E0"/>
                </a:solidFill>
                <a:latin typeface="Calibri"/>
              </a:rPr>
              <a:t>Supports work alongside — never in place of — required IEP or 504 accommodations.</a:t>
            </a:r>
          </a:p>
        </p:txBody>
      </p:sp>
      <p:sp>
        <p:nvSpPr>
          <p:cNvPr id="30" name="TextBox 29"/>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31" name="TextBox 30"/>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Homestead Act and Transcontinental Railroad</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how the Homestead Act and the Transcontinental Railroad impacted the settlement of the West.</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txBody>
          <a:bodyPr/>
          <a:p/>
        </p:txBody>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how the Homestead Act and the Transcontinental Railroad impacted the settlement of the West, including their effects on American Indians, immigrants, and settlers.</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PUSH factor and one PULL factor that moved Americans from farms to cities.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Prior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major war had just ended in 1865, and what region was being rebuilt?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TRUE or FALSE: The Homestead Act offered free public land to settlers who farmed it.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TRUE — 160 acres after five years of living on and improving the claim.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160 acres of land — free — to almost anyone willing to farm it for five years.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government offered you free land out West in 1862, would you go? What would you have to give up — and who already lived there?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Sequence the expansion of the United States</a:t>
            </a:r>
            <a:endParaRPr lang="en-US" sz="3000" dirty="0"/>
          </a:p>
        </p:txBody>
      </p:sp>
      <p:sp>
        <p:nvSpPr>
          <p:cNvPr id="5" name="Shape 3"/>
          <p:cNvSpPr/>
          <p:nvPr/>
        </p:nvSpPr>
        <p:spPr>
          <a:xfrm>
            <a:off x="10765231" y="502920"/>
            <a:ext cx="146304" cy="146304"/>
          </a:xfrm>
          <a:prstGeom prst="ellipse">
            <a:avLst/>
          </a:prstGeom>
          <a:solidFill>
            <a:srgbClr val="C62828"/>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Homestead Act of 1862 offered 160 acres of free land to settlers who would farm it for five years.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Combined with the completion of the Transcontinental Railroad in 1869, these policies accelerated westward expansion as part of Manifest Destiny—the belief that Americans were destined to spread across the continent.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Union Pacific built westward from Omaha while the Central Pacific built eastward from Sacramento, meeting at Promontory Summit, Utah.</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Homestead Act and the railroad ________ western settlement because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5" name="Image 0" descr="Andrew J. Russell, 1869  National Archives and Records Administration">    </p:cNvPr>
          <p:cNvPicPr>
            <a:picLocks noChangeAspect="1"/>
          </p:cNvPicPr>
          <p:nvPr/>
        </p:nvPicPr>
        <p:blipFill>
          <a:blip r:embed="rId1"/>
          <a:srcRect l="0" r="0" t="0" b="0"/>
          <a:stretch/>
        </p:blipFill>
        <p:spPr>
          <a:xfrm>
            <a:off x="7589520" y="1783080"/>
            <a:ext cx="4069080"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Andrew J. Russell, 1869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a:t>
            </a:r>
            <a:endParaRPr lang="en-US" sz="800" dirty="0"/>
          </a:p>
        </p:txBody>
      </p:sp>
      <p:sp>
        <p:nvSpPr>
          <p:cNvPr id="17" name="Shape 14"/>
          <p:cNvSpPr/>
          <p:nvPr/>
        </p:nvSpPr>
        <p:spPr>
          <a:xfrm>
            <a:off x="7589520" y="5440680"/>
            <a:ext cx="4069080" cy="713232"/>
          </a:xfrm>
          <a:prstGeom prst="roundRect">
            <a:avLst>
              <a:gd name="adj" fmla="val 7692"/>
            </a:avLst>
          </a:prstGeom>
          <a:solidFill>
            <a:srgbClr val="1A2332"/>
          </a:solidFill>
          <a:ln/>
        </p:spPr>
        <p:txBody>
          <a:bodyPr/>
          <a:p/>
        </p:txBody>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Impact on Western Settlement</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C62828"/>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Transcontinental Railroad dramatically reduced travel time from months to days, opening the West to settlement, commerce, and resource extraction.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Towns sprang up along rail lines, and agricultural products could now reach eastern markets efficiently.</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this expansion came at tremendous cost to American Indian nations whose lands were taken and whose way of life was destroyed.</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Matthews-Northrup Company, 1890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Matthews-Northrup Company, 1890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Impact on American Indians, Immigrants, and Settlers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C62828"/>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26974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1945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Western expansion devastated American Indian communities through forced relocations, broken treaties, and the near-extinction of buffalo herds they depended upon.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Immigrants, particularly Chinese workers who built much of the Central Pacific, faced discrimination despite their crucial contributions.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"Buffalo Soldiers"—African American cavalry regiments—served on the frontier, including George Jordan of Williamson County, Tennessee, who received the Medal of Honor for his service.</a:t>
            </a:r>
            <a:endParaRPr lang="en-US" sz="1700" dirty="0"/>
          </a:p>
        </p:txBody>
      </p:sp>
      <p:sp>
        <p:nvSpPr>
          <p:cNvPr id="11" name="Shape 9"/>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txBody>
          <a:bodyPr/>
          <a:p/>
        </p:txBody>
      </p:sp>
      <p:sp>
        <p:nvSpPr>
          <p:cNvPr id="12" name="Text 10"/>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3" name="Text 11"/>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Buffalo Soldier George Jordan of Williamson County, Tennessee earned the Medal of Honor for his frontier service — a direct Tennessee link to westward expansion.</a:t>
            </a:r>
            <a:endParaRPr lang="en-US" sz="1300" dirty="0"/>
          </a:p>
        </p:txBody>
      </p:sp>
      <p:sp>
        <p:nvSpPr>
          <p:cNvPr id="14"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US.01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Homestead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May 20, 1862 (12 Stat. 392)</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U.S. Congress  ·  May 20, 1862 (12 Stat. 392)">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Solomon D. Butcher, 1886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84C"/>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"Any person who is the head of a family, or who has arrived at the age of twenty-one years, and is a citizen of the United States, or who shall have filed his declaration of intention to become such... shall be entitled to enter one quarter section [160 acres] of unappropriated public lands."</a:t>
            </a:r>
            <a:endParaRPr lang="en-US" sz="1250" dirty="0"/>
          </a:p>
        </p:txBody>
      </p:sp>
      <p:sp>
        <p:nvSpPr>
          <p:cNvPr id="16" name="Shape 13"/>
          <p:cNvSpPr/>
          <p:nvPr/>
        </p:nvSpPr>
        <p:spPr>
          <a:xfrm>
            <a:off x="7589520" y="1737360"/>
            <a:ext cx="4023360" cy="1463040"/>
          </a:xfrm>
          <a:prstGeom prst="roundRect">
            <a:avLst>
              <a:gd name="adj" fmla="val 5000"/>
            </a:avLst>
          </a:prstGeom>
          <a:solidFill>
            <a:srgbClr val="1A2332"/>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lstStyle/>
          <a:p>
            <a:pPr indent="0" marL="0">
              <a:lnSpc>
                <a:spcPct val="98000"/>
              </a:lnSpc>
              <a:buNone/>
            </a:pPr>
            <a:r>
              <a:rPr lang="en-US" sz="1050" dirty="0">
                <a:solidFill>
                  <a:srgbClr val="FFFFFF"/>
                </a:solidFill>
                <a:latin typeface="Calibri" pitchFamily="34" charset="0"/>
                <a:ea typeface="Calibri" pitchFamily="34" charset="-122"/>
                <a:cs typeface="Calibri" pitchFamily="34" charset="-120"/>
              </a:rPr>
              <a:t>Passed during the Civil War, the Homestead Act offered western land to encourage settlement and strengthen Union-aligned development of the frontier.</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84C"/>
          </a:solidFill>
          <a:ln/>
        </p:spPr>
        <p:txBody>
          <a:bodyPr/>
          <a:p/>
        </p:txBody>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00" b="1" dirty="0">
                <a:solidFill>
                  <a:srgbClr val="1A2332"/>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2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(federal statute).</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1862, during the Civil War.</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law reveals the government’s intent — ask who benefits and who is left out.</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Homestead Act</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HOHM-sted</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Homestead</a:t>
            </a:r>
            <a:endParaRPr lang="en-US" sz="10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1862 law that provided 160 acres of public land to settlers who agreed to live on and improve the land for five years, encouraging westward expansion.</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4" name="Shape 12"/>
          <p:cNvSpPr/>
          <p:nvPr/>
        </p:nvSpPr>
        <p:spPr>
          <a:xfrm>
            <a:off x="6263640" y="1645920"/>
            <a:ext cx="5486400" cy="676656"/>
          </a:xfrm>
          <a:prstGeom prst="rect">
            <a:avLst/>
          </a:prstGeom>
          <a:solidFill>
            <a:srgbClr val="1A2332"/>
          </a:solidFill>
          <a:ln/>
        </p:spPr>
        <p:txBody>
          <a:bodyPr/>
          <a:p/>
        </p:txBody>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Transcontinental Railroad</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tranz-kon-tih-NEN-tul RAYL-rohd</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Ferrocarril Transcontinental</a:t>
            </a:r>
            <a:endParaRPr lang="en-US" sz="10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continuous railroad line completed in 1869 that connected the eastern United States with the Pacific coast, revolutionizing transportation and commerce.</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2" name="Shape 20"/>
          <p:cNvSpPr/>
          <p:nvPr/>
        </p:nvSpPr>
        <p:spPr>
          <a:xfrm>
            <a:off x="548640" y="3072384"/>
            <a:ext cx="5486400" cy="676656"/>
          </a:xfrm>
          <a:prstGeom prst="rect">
            <a:avLst/>
          </a:prstGeom>
          <a:solidFill>
            <a:srgbClr val="1A2332"/>
          </a:solidFill>
          <a:ln/>
        </p:spPr>
        <p:txBody>
          <a:bodyPr/>
          <a:p/>
        </p:txBody>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Westward Expansion</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WEST-werd ek-SPAN-shun</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Expansión hacia el Oeste</a:t>
            </a:r>
            <a:endParaRPr lang="en-US" sz="10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19th-century movement of settlers, railroads, and U.S. authority across the continent toward the Pacific, encouraged by free land and new transportation.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30" name="Shape 28"/>
          <p:cNvSpPr/>
          <p:nvPr/>
        </p:nvSpPr>
        <p:spPr>
          <a:xfrm>
            <a:off x="6263640" y="3072384"/>
            <a:ext cx="5486400" cy="676656"/>
          </a:xfrm>
          <a:prstGeom prst="rect">
            <a:avLst/>
          </a:prstGeom>
          <a:solidFill>
            <a:srgbClr val="1A2332"/>
          </a:solidFill>
          <a:ln/>
        </p:spPr>
        <p:txBody>
          <a:bodyPr/>
          <a:p/>
        </p:txBody>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Manifest Destiny</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MAN-ih-fest DES-tih-nee</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Destino Manifiesto</a:t>
            </a:r>
            <a:endParaRPr lang="en-US" sz="10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widely held 1800s belief that the United States was destined to expand across the entire continent, used to justify the displacement of American Indians.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8" name="Shape 36"/>
          <p:cNvSpPr/>
          <p:nvPr/>
        </p:nvSpPr>
        <p:spPr>
          <a:xfrm>
            <a:off x="548640" y="4498848"/>
            <a:ext cx="5486400" cy="676656"/>
          </a:xfrm>
          <a:prstGeom prst="rect">
            <a:avLst/>
          </a:prstGeom>
          <a:solidFill>
            <a:srgbClr val="1A2332"/>
          </a:solidFill>
          <a:ln/>
        </p:spPr>
        <p:txBody>
          <a:bodyPr/>
          <a:p/>
        </p:txBody>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Land Grant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LAND grant</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Concesión de Tierras</a:t>
            </a:r>
            <a:endParaRPr lang="en-US" sz="10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gift of public land from the government — to railroad companies or settlers — used to fund and accelerate western settlement.</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6" name="Shape 44"/>
          <p:cNvSpPr/>
          <p:nvPr/>
        </p:nvSpPr>
        <p:spPr>
          <a:xfrm>
            <a:off x="6263640" y="4498848"/>
            <a:ext cx="5486400" cy="676656"/>
          </a:xfrm>
          <a:prstGeom prst="rect">
            <a:avLst/>
          </a:prstGeom>
          <a:solidFill>
            <a:srgbClr val="1A2332"/>
          </a:solidFill>
          <a:ln/>
        </p:spPr>
        <p:txBody>
          <a:bodyPr/>
          <a:p/>
        </p:txBody>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Reservation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rez-er-VAY-shun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Reservación</a:t>
            </a:r>
            <a:endParaRPr lang="en-US" sz="10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area of land set aside by the federal government for American Indian tribes, frequently far from their ancestral homelands.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 Effect reasoning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Trace ONE effect of the Transcontinental Railroad on American Indian nations.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CAUSE: The railroad cut directly through Plains hunting grounds (1869).  →  EFFECT: Settlers and hunters poured in and the buffalo herds collapsed.  →  CONSEQUENCE: Plains nations lost the food source their economy depended on and were pushed onto reservations.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how I do it: I start with the policy (the cause), I underline the change it set in motion (the effect), then I push one step further to the human consequence. I do NOT stop at "railroad was built" — I ask "so what happened to people because of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complete two more cause→effect chains on your own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Cause-and-Effect Web: Tying the Nation Together</a:t>
            </a:r>
            <a:endParaRPr lang="en-US" sz="2700" dirty="0"/>
          </a:p>
        </p:txBody>
      </p:sp>
      <p:sp>
        <p:nvSpPr>
          <p:cNvPr id="5" name="Shape 3"/>
          <p:cNvSpPr/>
          <p:nvPr/>
        </p:nvSpPr>
        <p:spPr>
          <a:xfrm>
            <a:off x="548640" y="1481328"/>
            <a:ext cx="694944" cy="365760"/>
          </a:xfrm>
          <a:prstGeom prst="roundRect">
            <a:avLst>
              <a:gd name="adj" fmla="val 20000"/>
            </a:avLst>
          </a:prstGeom>
          <a:solidFill>
            <a:srgbClr val="1A2332"/>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1031443" cy="365760"/>
          </a:xfrm>
          <a:prstGeom prst="roundRect">
            <a:avLst>
              <a:gd name="adj" fmla="val 20000"/>
            </a:avLst>
          </a:prstGeom>
          <a:solidFill>
            <a:srgbClr val="1A2332"/>
          </a:solidFill>
          <a:ln/>
        </p:spPr>
        <p:txBody>
          <a:bodyPr/>
          <a:p/>
        </p:txBody>
      </p:sp>
      <p:sp>
        <p:nvSpPr>
          <p:cNvPr id="8" name="Text 6"/>
          <p:cNvSpPr/>
          <p:nvPr/>
        </p:nvSpPr>
        <p:spPr>
          <a:xfrm>
            <a:off x="1408176"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railroad map and the Golden Spike photo, list THREE effects of the Transcontinental Railroad on (a) settlers, (b) immigrant labor, and (c) American Indian nations. For each effect, mark whether it was a benefit or a cost — and to whom.</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Matthews-Northrup Company, 1890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Matthews-Northrup Company, 1890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Completed cause-effect web with at least 6 labeled effects.</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sentence stems provided. EXTENSION: rank the three groups by net impact and defend the order.</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US.01: Transcontinental Railroad &amp; Industrial Expansion (Teacher Tools › Worksheets › Cornell Notes)</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Homestead Act applied only to settlers and never affected American Indians in any way.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same law that opened “free” land to settlers took that land away from American Indians who already lived on it.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families received 160 acres each under the law, so their views would have matched.</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law was written to benefit American Indians first and settlers second.</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Homestead Act applied only to settlers and never affected American Indians in any way.</a:t>
            </a:r>
            <a:endParaRPr lang="en-US" sz="1300" dirty="0"/>
          </a:p>
        </p:txBody>
      </p:sp>
      <p:sp>
        <p:nvSpPr>
          <p:cNvPr id="13" name="Text 11"/>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C9A84C"/>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A2332"/>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same law that opened “free” land to settlers took that land away from American Indians who already lived on it.</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A2332"/>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families received 160 acres each under the law, so their views would have matched.</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law was written to benefit American Indians first and settlers second.</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3: Students must weigh competing perspectives. The Act’s "free" 160-acre grants to settlers came from land that the federal government took from American Indian nations, so the same policy meant opportunity for one group and dispossession for another.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Sequence the expansion of the United States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Western Settlement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American Indians, Immigrants, and Settlers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was westward expansion mainly “opportunity” or mainly “dispossession”? Defend your claim with TWO specific pieces of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ONE way the Homestead Act or the railroad helped settlers AND ONE way it harmed American Indians.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Federal Policies Toward American Indians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84C"/>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Examine federal policies toward American Indians, including the movement to reservations, assimilation, boarding schools, and the Dawes Act.</a:t>
            </a:r>
            <a:endParaRPr lang="en-US" sz="1300" dirty="0"/>
          </a:p>
        </p:txBody>
      </p:sp>
      <p:sp>
        <p:nvSpPr>
          <p:cNvPr id="26" name="Shape 24"/>
          <p:cNvSpPr/>
          <p:nvPr/>
        </p:nvSpPr>
        <p:spPr>
          <a:xfrm>
            <a:off x="914400" y="5120640"/>
            <a:ext cx="10332720" cy="1188720"/>
          </a:xfrm>
          <a:prstGeom prst="roundRect">
            <a:avLst>
              <a:gd name="adj" fmla="val 6154"/>
            </a:avLst>
          </a:prstGeom>
          <a:solidFill>
            <a:srgbClr val="C9A84C"/>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examine federal policies toward American Indians, including the movement to reservations, assimilation, boarding schools, and the Dawes Act.</a:t>
            </a:r>
            <a:endParaRPr lang="en-US" sz="13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the Homestead Act and the railroads change WHO lived on western land?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Define “Manifest Destiny” in one sentence.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In one word: what kind of school tried to erase Native languages and culture?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 boarding (assimilation) school — e.g., Carlisle.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"Kill the Indian in him, and save the man."</a:t>
            </a:r>
            <a:endParaRPr lang="en-US" sz="2600" dirty="0"/>
          </a:p>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 Capt. Richard H. Pratt, 1892</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What does it mean for a government to try to erase a culture? As you read today, watch for the difference between what these policies claimed to do and what they actually did — and use the evidence to judge for yourself.</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Movement to Reservations</a:t>
            </a:r>
            <a:endParaRPr lang="en-US" sz="3000" dirty="0"/>
          </a:p>
        </p:txBody>
      </p:sp>
      <p:sp>
        <p:nvSpPr>
          <p:cNvPr id="5" name="Shape 3"/>
          <p:cNvSpPr/>
          <p:nvPr/>
        </p:nvSpPr>
        <p:spPr>
          <a:xfrm>
            <a:off x="10765231" y="502920"/>
            <a:ext cx="146304" cy="146304"/>
          </a:xfrm>
          <a:prstGeom prst="ellipse">
            <a:avLst/>
          </a:prstGeom>
          <a:solidFill>
            <a:srgbClr val="C62828"/>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340864"/>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the Civil War, the federal government expanded a policy of confining American Indian nations to reservations—designated territories far smaller than their traditional homelands.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Officials stated two goals: to open western land for white settlement and railroads, and to end armed conflict on the Plains.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Many treaties were signed under military and economic pressure, and tribes surrendered millions of acres.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Resistance continued: at the Battle of the Little Bighorn (1876), Lakota and Cheyenne forces under Sitting Bull and Crazy Horse defeated Lt. Col. George Custer—a Native victory that intensified U.S. efforts to break tribal power.</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Federal Indian policy claimed to ________, but in practice it ________.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Assimilation and Boarding Schools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C62828"/>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Alongside removal, the government pursued a policy of assimilation—using schools and law to replace tribal cultures with Euro-American ones.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At off-reservation boarding schools such as the Carlisle Indian Industrial School (founded 1879), Captain Richard H. Pratt summarized the aim in 1892: “Kill the Indian in him, and save the man.” Children were removed from their families and often forbidden to speak their languages, wear their clothing, or practice their religions.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Historians today describe this systematic effort to erase Native identity as cultural genocide, and document its lasting, multi-generational harm.</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John N. Choate, 1882 and 1885  Beinecke Rare Book and Manuscript Library">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John N. Choate, 1882 and 1885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Beinecke Rare Book and Manuscript Library</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Dawes Act and Its Impact</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C62828"/>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Dawes Severalty Act of 1887 broke up communal tribal lands into individual allotments—160 acres to each head of a family—stating the goal of turning American Indians into independent farmers and U.S. citizens.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actual effect was a massive transfer of land: American Indians held about 150 million acres before the Act, and lost roughly two-thirds of their land base—over 90 million acres—by 1934.</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“Surplus” land was sold to white settlers, and additional allotted land was lost through taxation, fraud, and forced sales.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 dismantled the communal landholding central to many tribal cultures.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US.02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Dawes General Allotment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February 8, 1887 (24 Stat. 388)</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84C"/>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"In all cases where any tribe or band of Indians has been, or shall hereafter be, located upon any reservation created for their use... the President of the United States be authorized... to allot the lands in said reservation in severalty to any Indian located thereon in quantities as follows: To each head of a family, one-quarter of a section [160 acres]."</a:t>
            </a:r>
            <a:endParaRPr lang="en-US" sz="1400" dirty="0"/>
          </a:p>
        </p:txBody>
      </p:sp>
      <p:sp>
        <p:nvSpPr>
          <p:cNvPr id="11" name="Shape 9"/>
          <p:cNvSpPr/>
          <p:nvPr/>
        </p:nvSpPr>
        <p:spPr>
          <a:xfrm>
            <a:off x="7589520" y="1737360"/>
            <a:ext cx="4023360" cy="1463040"/>
          </a:xfrm>
          <a:prstGeom prst="roundRect">
            <a:avLst>
              <a:gd name="adj" fmla="val 5000"/>
            </a:avLst>
          </a:prstGeom>
          <a:solidFill>
            <a:srgbClr val="1A2332"/>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950976"/>
          </a:xfrm>
          <a:prstGeom prst="rect">
            <a:avLst/>
          </a:prstGeom>
          <a:noFill/>
          <a:ln/>
        </p:spPr>
        <p:txBody>
          <a:bodyPr wrap="square" rtlCol="0" anchor="t"/>
          <a:lstStyle/>
          <a:p>
            <a:pPr indent="0" marL="0">
              <a:lnSpc>
                <a:spcPct val="98000"/>
              </a:lnSpc>
              <a:buNone/>
            </a:pPr>
            <a:r>
              <a:rPr lang="en-US" sz="1050" dirty="0">
                <a:solidFill>
                  <a:srgbClr val="FFFFFF"/>
                </a:solidFill>
                <a:latin typeface="Calibri" pitchFamily="34" charset="0"/>
                <a:ea typeface="Calibri" pitchFamily="34" charset="-122"/>
                <a:cs typeface="Calibri" pitchFamily="34" charset="-120"/>
              </a:rPr>
              <a:t>Part of the federal assimilation era. The Dawes Act broke tribal landholdings into individual allotments and opened the remaining “surplus” to non-Native settlement. American Indians lost roughly two-thirds of their land—over 90 million acres—between 1887 and 1934.</a:t>
            </a:r>
            <a:endParaRPr lang="en-US" sz="1050" dirty="0"/>
          </a:p>
        </p:txBody>
      </p:sp>
      <p:sp>
        <p:nvSpPr>
          <p:cNvPr id="14" name="Shape 12"/>
          <p:cNvSpPr/>
          <p:nvPr/>
        </p:nvSpPr>
        <p:spPr>
          <a:xfrm>
            <a:off x="7589520" y="3383280"/>
            <a:ext cx="4023360" cy="1600200"/>
          </a:xfrm>
          <a:prstGeom prst="roundRect">
            <a:avLst>
              <a:gd name="adj" fmla="val 4571"/>
            </a:avLst>
          </a:prstGeom>
          <a:solidFill>
            <a:srgbClr val="C9A84C"/>
          </a:solidFill>
          <a:ln/>
        </p:spPr>
        <p:txBody>
          <a:bodyPr/>
          <a:p/>
        </p:txBody>
      </p:sp>
      <p:sp>
        <p:nvSpPr>
          <p:cNvPr id="15" name="Text 13"/>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Dawes/General Allotment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1887.</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law’s wording shows the stated goal; compare it to the documented result.</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Reservation System</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Reservaciones</a:t>
            </a:r>
            <a:endParaRPr lang="en-US" sz="10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policy that confined Native American tribes to designated areas of land, often far from their ancestral territories, as part of efforts to control indigenous populations and open land for white settlement.</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A2332"/>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Assimilation</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uh-sim-ih-LAY-shun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Asimilación</a:t>
            </a:r>
            <a:endParaRPr lang="en-US" sz="10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policy aimed at forcing Native Americans to abandon their traditional cultures and adopt European-American ways of life, including language, religion, and customs.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A2332"/>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Dawes Act</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DAWZ</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Dawes</a:t>
            </a:r>
            <a:endParaRPr lang="en-US" sz="1000" dirty="0"/>
          </a:p>
        </p:txBody>
      </p:sp>
      <p:sp>
        <p:nvSpPr>
          <p:cNvPr id="27" name="Text 25"/>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1887 law that divided tribal lands into individual allotments for Native American families, aiming to break up reservations and assimilate Native Americans into mainstream American culture. It resulted in…</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9" name="Shape 27"/>
          <p:cNvSpPr/>
          <p:nvPr/>
        </p:nvSpPr>
        <p:spPr>
          <a:xfrm>
            <a:off x="6263640" y="3072384"/>
            <a:ext cx="5486400" cy="676656"/>
          </a:xfrm>
          <a:prstGeom prst="rect">
            <a:avLst/>
          </a:prstGeom>
          <a:solidFill>
            <a:srgbClr val="1A2332"/>
          </a:solidFill>
          <a:ln/>
        </p:spPr>
        <p:txBody>
          <a:bodyPr/>
          <a:p/>
        </p:txBody>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Allotment</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Asignación de Parcelas</a:t>
            </a:r>
            <a:endParaRPr lang="en-US" sz="10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division of communal tribal land into small individual plots under the Dawes Act, which opened "surplus" land to white settlers and caused massive Native land loss.</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6" name="Shape 34"/>
          <p:cNvSpPr/>
          <p:nvPr/>
        </p:nvSpPr>
        <p:spPr>
          <a:xfrm>
            <a:off x="548640" y="4498848"/>
            <a:ext cx="5486400" cy="676656"/>
          </a:xfrm>
          <a:prstGeom prst="rect">
            <a:avLst/>
          </a:prstGeom>
          <a:solidFill>
            <a:srgbClr val="1A2332"/>
          </a:solidFill>
          <a:ln/>
        </p:spPr>
        <p:txBody>
          <a:bodyPr/>
          <a:p/>
        </p:txBody>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Boarding School</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Internado</a:t>
            </a:r>
            <a:endParaRPr lang="en-US" sz="10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Off-reservation schools, such as Carlisle, where Native children were forced to abandon their languages, names, and cultures to be "assimilated" into white society.</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A2332"/>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Sovereignty</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Soberanía</a:t>
            </a:r>
            <a:endParaRPr lang="en-US" sz="1000" dirty="0"/>
          </a:p>
        </p:txBody>
      </p:sp>
      <p:sp>
        <p:nvSpPr>
          <p:cNvPr id="48" name="Text 46"/>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right of a tribe or nation to govern itself; federal Indian policy in this era steadily eroded tribal sovereignty.</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Stated goal vs. real consequence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Separate what the Dawes Act CLAIMED to do from what it actually DID.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STATED GOAL: "Civilize" and assimilate Native peoples by making them individual farmers.  →  REAL CONSEQUENCE: Communal land was split into allotments and ~90 million acres of tribal land was lost.</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my move: I put the policy’s own words in one column and the documented outcome in the other. The gap between those two columns is the historical argument.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build the same two-column split for the boarding-school policy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Claim &amp; Evidence: What Did the Policy Do?</a:t>
            </a:r>
            <a:endParaRPr lang="en-US" sz="2700" dirty="0"/>
          </a:p>
        </p:txBody>
      </p:sp>
      <p:sp>
        <p:nvSpPr>
          <p:cNvPr id="5" name="Shape 3"/>
          <p:cNvSpPr/>
          <p:nvPr/>
        </p:nvSpPr>
        <p:spPr>
          <a:xfrm>
            <a:off x="548640" y="1481328"/>
            <a:ext cx="1872691" cy="365760"/>
          </a:xfrm>
          <a:prstGeom prst="roundRect">
            <a:avLst>
              <a:gd name="adj" fmla="val 20000"/>
            </a:avLst>
          </a:prstGeom>
          <a:solidFill>
            <a:srgbClr val="1A2332"/>
          </a:solidFill>
          <a:ln/>
        </p:spPr>
        <p:txBody>
          <a:bodyPr/>
          <a:p/>
        </p:txBody>
      </p:sp>
      <p:sp>
        <p:nvSpPr>
          <p:cNvPr id="6" name="Text 4"/>
          <p:cNvSpPr/>
          <p:nvPr/>
        </p:nvSpPr>
        <p:spPr>
          <a:xfrm>
            <a:off x="548640" y="1481328"/>
            <a:ext cx="1872691"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 Whole class</a:t>
            </a:r>
            <a:endParaRPr lang="en-US" sz="1050" dirty="0"/>
          </a:p>
        </p:txBody>
      </p:sp>
      <p:sp>
        <p:nvSpPr>
          <p:cNvPr id="7" name="Shape 5"/>
          <p:cNvSpPr/>
          <p:nvPr/>
        </p:nvSpPr>
        <p:spPr>
          <a:xfrm>
            <a:off x="2585923" y="1481328"/>
            <a:ext cx="1031443" cy="365760"/>
          </a:xfrm>
          <a:prstGeom prst="roundRect">
            <a:avLst>
              <a:gd name="adj" fmla="val 20000"/>
            </a:avLst>
          </a:prstGeom>
          <a:solidFill>
            <a:srgbClr val="1A2332"/>
          </a:solidFill>
          <a:ln/>
        </p:spPr>
        <p:txBody>
          <a:bodyPr/>
          <a:p/>
        </p:txBody>
      </p:sp>
      <p:sp>
        <p:nvSpPr>
          <p:cNvPr id="8" name="Text 6"/>
          <p:cNvSpPr/>
          <p:nvPr/>
        </p:nvSpPr>
        <p:spPr>
          <a:xfrm>
            <a:off x="2585923"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Examine the Tom Torlino before/after photographs and the Dawes Act excerpt. In your own words, write what each policy CLAIMED to do and what it ACTUALLY did, citing one piece of evidence for each. Then take a position: was federal assimilation policy primarily about land, about culture, or both? Support your claim with evidence from today's sources.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txBody>
          <a:bodyPr/>
          <a:p/>
        </p:txBody>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claim-evidence-reasoning (CER) paragraph with at least two cited sources.</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17" name="Text 15"/>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T-chart (Claimed | Actually) instead of paragraph. EXTENSION: evaluate the term “cultural genocide” — is it supported by the evidence? Why or why not?</a:t>
            </a:r>
            <a:endParaRPr lang="en-US" sz="12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US.02: Federal Policies Toward American Indians (Teacher Tools › Worksheets › Cornell Notes)</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strengthened tribal governments and expanded reservation territory.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returned ancestral homelands to tribal control.</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had no measurable effect on Native landholding.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broke up communal tribal ownership and led to large-scale Native land loss.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strengthened tribal governments and expanded reservation territory.</a:t>
            </a:r>
            <a:endParaRPr lang="en-US" sz="1300" dirty="0"/>
          </a:p>
        </p:txBody>
      </p:sp>
      <p:sp>
        <p:nvSpPr>
          <p:cNvPr id="13" name="Text 11"/>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A2332"/>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returned ancestral homelands to tribal control.</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A2332"/>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had no measurable effect on Native landholding.</a:t>
            </a:r>
            <a:endParaRPr lang="en-US" sz="1300" dirty="0"/>
          </a:p>
        </p:txBody>
      </p:sp>
      <p:sp>
        <p:nvSpPr>
          <p:cNvPr id="22" name="Shape 20"/>
          <p:cNvSpPr/>
          <p:nvPr/>
        </p:nvSpPr>
        <p:spPr>
          <a:xfrm>
            <a:off x="548640" y="4626864"/>
            <a:ext cx="11064240" cy="566928"/>
          </a:xfrm>
          <a:prstGeom prst="roundRect">
            <a:avLst>
              <a:gd name="adj" fmla="val 9677"/>
            </a:avLst>
          </a:prstGeom>
          <a:solidFill>
            <a:srgbClr val="C9A84C"/>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broke up communal tribal ownership and led to large-scale Native land loss.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2: The Act allotted land to individuals and declared the remainder "surplus" for sale, predictably dissolving collective tribal holdings and transferring tens of millions of acres out of Native hands.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Movement to Reservations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Assimilation and Boarding Schools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Dawes Act and Its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Evaluate: did assimilation policy and the Dawes Act share the same underlying assumption about Native cultures? Support with evidence from both.</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 policy can claim one goal but cause another. Using the Dawes Act, give the stated goal and one real consequence.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200" i="1" dirty="0">
                <a:solidFill>
                  <a:srgbClr val="F9A825"/>
                </a:solidFill>
                <a:latin typeface="Georgia" pitchFamily="34" charset="0"/>
                <a:ea typeface="Georgia" pitchFamily="34" charset="-122"/>
                <a:cs typeface="Georgia" pitchFamily="34" charset="-120"/>
              </a:rPr>
              <a:t>Compromise of 1877, Jim Crow &amp; Plessy v. Ferguson</a:t>
            </a:r>
            <a:endParaRPr lang="en-US" sz="22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84C"/>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impact of the Compromise of 1877, including Jim Crow laws, lynching, disenfranchisement methods, the efforts of Benjamin "Pap" Singleton and the Exodusters, and the Plessy v. Ferguson decision. (TCA)</a:t>
            </a:r>
            <a:endParaRPr lang="en-US" sz="1300" dirty="0"/>
          </a:p>
        </p:txBody>
      </p:sp>
      <p:sp>
        <p:nvSpPr>
          <p:cNvPr id="26" name="Shape 24"/>
          <p:cNvSpPr/>
          <p:nvPr/>
        </p:nvSpPr>
        <p:spPr>
          <a:xfrm>
            <a:off x="914400" y="5120640"/>
            <a:ext cx="10332720" cy="1188720"/>
          </a:xfrm>
          <a:prstGeom prst="roundRect">
            <a:avLst>
              <a:gd name="adj" fmla="val 6154"/>
            </a:avLst>
          </a:prstGeom>
          <a:solidFill>
            <a:srgbClr val="C9A84C"/>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the impact of the Compromise of 1877, including Jim Crow laws, lynching, disenfranchisement methods, the efforts of Benjamin "Pap" Singleton and the Exodusters, and the Plessy v. Ferguson decision.</a:t>
            </a:r>
            <a:endParaRPr lang="en-US" sz="12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main effect of the Dawes Act on tribal land?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does “reservation” mean?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Finish the phrase: the 1896 Supreme Court rule was "separate but _____" (one word).</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"equal" — Plessy v. Ferguson legalized segregation.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1877, the last federal troops left the South. Within 20 years, segregation was the law of the land.</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can rights that were written into the Constitution be taken away in practice? Predict: what tools might a government use to deny rights without changing the Constitution?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Election of 1876 and End of Reconstruction</a:t>
            </a:r>
            <a:endParaRPr lang="en-US" sz="3000" dirty="0"/>
          </a:p>
        </p:txBody>
      </p:sp>
      <p:sp>
        <p:nvSpPr>
          <p:cNvPr id="5" name="Shape 3"/>
          <p:cNvSpPr/>
          <p:nvPr/>
        </p:nvSpPr>
        <p:spPr>
          <a:xfrm>
            <a:off x="10472623" y="502920"/>
            <a:ext cx="146304" cy="146304"/>
          </a:xfrm>
          <a:prstGeom prst="ellipse">
            <a:avLst/>
          </a:prstGeom>
          <a:solidFill>
            <a:srgbClr val="C62828"/>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disputed 1876 presidential election between Republican Rutherford B. Hayes and Democrat Samuel Tilden led to the Compromise of 1877.</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 exchange for the presidency, Hayes agreed to withdraw federal troops from the South, effectively ending Reconstruction.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abandonment left African Americans without federal protection against increasingly hostile state governments.</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After Reconstruction ended, Black Americans lost rights because ________ was used to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The Election of 1876 and End of Reconstruction">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Alfred R. Waud, 1868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Jim Crow Laws, Lynching, and Disenfranchisement</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C62828"/>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With federal protection gone, Southern states implemented Jim Crow laws enforcing racial segregation in all aspects of life.</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African Americans faced systematic disenfranchisement through poll taxes, literacy tests, grandfather clauses, and white primaries.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Those who resisted faced terrorism, including lynching—public murders that went unpunished and were often celebrated by white communities.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3" name="Image 0" descr="Thomas Nast, 1874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Thomas Nast, 1874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Pap Singleton and the Exodusters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C62828"/>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Benjamin "Pap" Singleton, a formerly enslaved man, organized the migration of thousands of African Americans from the South to Kansas in 1879.</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"Exodusters" sought to escape violence and oppression, establishing communities like Nicodemus, Kansas.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conditions in Kansas were often harsh, the Exoduster movement represented African American agency and resistance to Jim Crow terror.</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Plessy v. Ferguson and "Separate But Equal"</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C62828"/>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1896 Supreme Court decision in Plessy v. Ferguson established the "separate but equal" doctrine, ruling that racial segregation was constitutional as long as facilities were supposedly equal.</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practice, facilities for African Americans were grossly inferior.</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decision legitimized Jim Crow segregation for nearly sixty years until Brown v. Board of Education (1954).</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5394960" cy="868680"/>
          </a:xfrm>
          <a:prstGeom prst="rect">
            <a:avLst/>
          </a:prstGeom>
          <a:solidFill>
            <a:srgbClr val="1A2332"/>
          </a:solidFill>
          <a:ln/>
        </p:spPr>
        <p:txBody>
          <a:bodyPr/>
          <a:p/>
        </p:txBody>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Ida B. Wells</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Investigative Journalist · Newspaper Editor</a:t>
            </a:r>
            <a:endParaRPr lang="en-US" sz="1100" dirty="0"/>
          </a:p>
        </p:txBody>
      </p:sp>
      <p:sp>
        <p:nvSpPr>
          <p:cNvPr id="9" name="Text 7"/>
          <p:cNvSpPr/>
          <p:nvPr/>
        </p:nvSpPr>
        <p:spPr>
          <a:xfrm>
            <a:off x="69494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first anti-lynching campaign in American history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NAACP</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Documented over 700 lynchings in "Southern Horrors"</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txBody>
          <a:bodyPr/>
          <a:p/>
        </p:txBody>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Investigative journalism</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txBody>
          <a:bodyPr/>
          <a:p/>
        </p:txBody>
      </p:sp>
      <p:sp>
        <p:nvSpPr>
          <p:cNvPr id="13" name="Shape 11"/>
          <p:cNvSpPr/>
          <p:nvPr/>
        </p:nvSpPr>
        <p:spPr>
          <a:xfrm>
            <a:off x="6217920" y="1627632"/>
            <a:ext cx="5394960" cy="868680"/>
          </a:xfrm>
          <a:prstGeom prst="rect">
            <a:avLst/>
          </a:prstGeom>
          <a:solidFill>
            <a:srgbClr val="1A2332"/>
          </a:solidFill>
          <a:ln/>
        </p:spPr>
        <p:txBody>
          <a:bodyPr/>
          <a:p/>
        </p:txBody>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Booker T. Washington</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Educator · Author</a:t>
            </a:r>
            <a:endParaRPr lang="en-US" sz="1100" dirty="0"/>
          </a:p>
        </p:txBody>
      </p:sp>
      <p:sp>
        <p:nvSpPr>
          <p:cNvPr id="16" name="Text 14"/>
          <p:cNvSpPr/>
          <p:nvPr/>
        </p:nvSpPr>
        <p:spPr>
          <a:xfrm>
            <a:off x="636422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and led Tuskegee Institute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Became the most influential African American leader of his era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Delivered the "Atlanta Compromise" speech</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txBody>
          <a:bodyPr/>
          <a:p/>
        </p:txBody>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Gradual self-help</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US.03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Plessy v. Ferguson Decision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Supreme Court of the United States  ·  May 18, 1896 (163 U.S. 537)</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Supreme Court of the United States  ·  May 18, 1896 (163 U.S. 537)">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Shorey (photographer), 1876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84C"/>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"Laws permitting, and even requiring, their separation in places where they are liable to be brought into contact do not necessarily imply the inferiority of either race to the other... We consider the underlying fallacy of the plaintiff's argument to consist in the assumption that the enforced separation of the two races stamps the colored race with a badge of inferiority."</a:t>
            </a:r>
            <a:endParaRPr lang="en-US" sz="1150" dirty="0"/>
          </a:p>
        </p:txBody>
      </p:sp>
      <p:sp>
        <p:nvSpPr>
          <p:cNvPr id="16" name="Shape 13"/>
          <p:cNvSpPr/>
          <p:nvPr/>
        </p:nvSpPr>
        <p:spPr>
          <a:xfrm>
            <a:off x="7589520" y="1737360"/>
            <a:ext cx="4023360" cy="1783080"/>
          </a:xfrm>
          <a:prstGeom prst="roundRect">
            <a:avLst>
              <a:gd name="adj" fmla="val 4103"/>
            </a:avLst>
          </a:prstGeom>
          <a:solidFill>
            <a:srgbClr val="1A2332"/>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After the Compromise of 1877 ended Reconstruction, Southern states systematically dismantled the civil and political rights that African Americans had gained after the Civil War. By the 1890s, a system of racial segregation laws — known as Jim Crow — had spread across the South, enforced by violence, poll taxes, literacy tests, and legal barriers. The 1896 Supreme Court case Plessy v. Ferguson arose when Homer Plessy, a man of mixed race, deliberately challenged a Louisiana law requiring separate railroad cars. The Court's 7-1 ruling created the 'separate but equal' doctrine, providing legal cover for segregation for the next 58 years until Brown v. Board of Education (1954).</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txBody>
          <a:bodyPr/>
          <a:p/>
        </p:txBody>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00" b="1" dirty="0">
                <a:solidFill>
                  <a:srgbClr val="1A2332"/>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2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U.S. Supreme Court — majority opinion by Justice Henry Billings Brown.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May 18, 1896 (Plessy v. Ferguson, 163 U.S. 537).</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nation's highest court is stating the law of the land — its reasoning shaped segregation for 58 years, until Brown v. Board…</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Compromise of 1877</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Compromiso de 1877</a:t>
            </a:r>
            <a:endParaRPr lang="en-US" sz="10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informal agreement that resolved the disputed 1876 presidential election, resulting in Rutherford B. Hayes becoming president in exchange for removing federal troops from the South, effectively ending…</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A2332"/>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Jim Crow Laws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Leyes de Jim Crow</a:t>
            </a:r>
            <a:endParaRPr lang="en-US" sz="10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State and local laws enacted primarily in the Southern states between 1877 and the 1960s that enforced racial segregation and denied African Americans their constitutional rights.</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A2332"/>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Disenfranchisement</a:t>
            </a:r>
            <a:endParaRPr lang="en-US" sz="1350" dirty="0"/>
          </a:p>
        </p:txBody>
      </p:sp>
      <p:sp>
        <p:nvSpPr>
          <p:cNvPr id="22" name="Text 20"/>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dis-en-FRAN-chyz-ment</a:t>
            </a:r>
            <a:endParaRPr lang="en-US" sz="8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Privación del Derecho al Voto</a:t>
            </a:r>
            <a:endParaRPr lang="en-US" sz="10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systematic denial of voting rights through methods such as poll taxes, literacy tests, grandfather clauses, and violence, primarily targeting African American voters.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A2332"/>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Plessy v. Ferguson</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Plessy contra Ferguson</a:t>
            </a:r>
            <a:endParaRPr lang="en-US" sz="10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1896 Supreme Court decision that upheld racial segregation under the doctrine of "separate but equal," legitimizing Jim Crow laws for nearly 60 years.</a:t>
            </a:r>
            <a:endParaRPr lang="en-US" sz="1100" dirty="0"/>
          </a:p>
        </p:txBody>
      </p:sp>
      <p:sp>
        <p:nvSpPr>
          <p:cNvPr id="34" name="Shape 32"/>
          <p:cNvSpPr/>
          <p:nvPr/>
        </p:nvSpPr>
        <p:spPr>
          <a:xfrm>
            <a:off x="3352648" y="4498848"/>
            <a:ext cx="5486400" cy="1261872"/>
          </a:xfrm>
          <a:prstGeom prst="rect">
            <a:avLst/>
          </a:prstGeom>
          <a:solidFill>
            <a:srgbClr val="FFFFFF"/>
          </a:solidFill>
          <a:ln w="12700">
            <a:solidFill>
              <a:srgbClr val="DAD3C2"/>
            </a:solidFill>
            <a:prstDash val="solid"/>
          </a:ln>
        </p:spPr>
        <p:txBody>
          <a:bodyPr/>
          <a:p/>
        </p:txBody>
      </p:sp>
      <p:sp>
        <p:nvSpPr>
          <p:cNvPr id="35" name="Shape 33"/>
          <p:cNvSpPr/>
          <p:nvPr/>
        </p:nvSpPr>
        <p:spPr>
          <a:xfrm>
            <a:off x="3352648" y="4498848"/>
            <a:ext cx="5486400" cy="676656"/>
          </a:xfrm>
          <a:prstGeom prst="rect">
            <a:avLst/>
          </a:prstGeom>
          <a:solidFill>
            <a:srgbClr val="1A2332"/>
          </a:solidFill>
          <a:ln/>
        </p:spPr>
        <p:txBody>
          <a:bodyPr/>
          <a:p/>
        </p:txBody>
      </p:sp>
      <p:sp>
        <p:nvSpPr>
          <p:cNvPr id="36" name="Text 34"/>
          <p:cNvSpPr/>
          <p:nvPr/>
        </p:nvSpPr>
        <p:spPr>
          <a:xfrm>
            <a:off x="3489808"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Exodusters</a:t>
            </a:r>
            <a:endParaRPr lang="en-US" sz="1350" dirty="0"/>
          </a:p>
        </p:txBody>
      </p:sp>
      <p:sp>
        <p:nvSpPr>
          <p:cNvPr id="37" name="Text 35"/>
          <p:cNvSpPr/>
          <p:nvPr/>
        </p:nvSpPr>
        <p:spPr>
          <a:xfrm>
            <a:off x="6507328"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Exodusters (colonos negros)</a:t>
            </a:r>
            <a:endParaRPr lang="en-US" sz="1000" dirty="0"/>
          </a:p>
        </p:txBody>
      </p:sp>
      <p:sp>
        <p:nvSpPr>
          <p:cNvPr id="40" name="Text 38"/>
          <p:cNvSpPr/>
          <p:nvPr/>
        </p:nvSpPr>
        <p:spPr>
          <a:xfrm>
            <a:off x="4029304"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African Americans who migrated from the South to Kansas and other western states in the late 1870s, seeking to escape racial violence and economic oppression. Led by figures like Benjamin "Pap" Singleton.</a:t>
            </a:r>
            <a:endParaRPr lang="en-US" sz="1100" dirty="0"/>
          </a:p>
        </p:txBody>
      </p:sp>
      <p:sp>
        <p:nvSpPr>
          <p:cNvPr id="41" name="Text 3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42" name="Text 4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3" name="Text 4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Rights on paper vs. in practice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Show how a right in the Constitution could be denied in practice after 1877.</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ON PAPER: The 15th Amendment guaranteed Black men the vote.  →  IN PRACTICE: Poll taxes and literacy tests blocked them, and Plessy v. Ferguson (1896) legalized segregation.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Notice I name the specific tool (poll tax) and the specific court case (Plessy) — vague answers like "racism" do not earn the point. I anchor every claim to a named mechanism.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match two more denial-tools to the right each one defeated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Reading a Political Cartoon as Evidence</a:t>
            </a:r>
            <a:endParaRPr lang="en-US" sz="2700" dirty="0"/>
          </a:p>
        </p:txBody>
      </p:sp>
      <p:sp>
        <p:nvSpPr>
          <p:cNvPr id="5" name="Shape 3"/>
          <p:cNvSpPr/>
          <p:nvPr/>
        </p:nvSpPr>
        <p:spPr>
          <a:xfrm>
            <a:off x="548640" y="1481328"/>
            <a:ext cx="694944" cy="365760"/>
          </a:xfrm>
          <a:prstGeom prst="roundRect">
            <a:avLst>
              <a:gd name="adj" fmla="val 20000"/>
            </a:avLst>
          </a:prstGeom>
          <a:solidFill>
            <a:srgbClr val="1A2332"/>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1031443" cy="365760"/>
          </a:xfrm>
          <a:prstGeom prst="roundRect">
            <a:avLst>
              <a:gd name="adj" fmla="val 20000"/>
            </a:avLst>
          </a:prstGeom>
          <a:solidFill>
            <a:srgbClr val="1A2332"/>
          </a:solidFill>
          <a:ln/>
        </p:spPr>
        <p:txBody>
          <a:bodyPr/>
          <a:p/>
        </p:txBody>
      </p:sp>
      <p:sp>
        <p:nvSpPr>
          <p:cNvPr id="8" name="Text 6"/>
          <p:cNvSpPr/>
          <p:nvPr/>
        </p:nvSpPr>
        <p:spPr>
          <a:xfrm>
            <a:off x="1408176"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Analyze Thomas Nast's “Worse Than Slavery” cartoon and the Freedmen's Bureau image. Identify (1) the artist's point of view, (2) two symbols and their meaning, and (3) what the cartoon argues about why Reconstruction's protections collapsed.</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Shorey (photographer), 1876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Shorey (photographer), 1876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Annotated cartoon analysis with point-of-view statement.</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guided symbol list. EXTENSION: compare Nast's view to the photo of the SC legislature — do the sources corroborate?</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US.03: Reconstruction (Amendments, Freedmen's Bureau, End of Reconstruction)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segregation was acceptable as long as both facilities were physically identical.</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the Constitution explicitly required racial separation.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state-enforced separation itself signals and enforces inequality, regardless of facility quality.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African Americans had freely chosen separate facilities.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That segregation was acceptable as long as both facilities were physically identical.</a:t>
            </a:r>
            <a:endParaRPr lang="en-US" sz="1300" dirty="0"/>
          </a:p>
        </p:txBody>
      </p:sp>
      <p:sp>
        <p:nvSpPr>
          <p:cNvPr id="13" name="Text 11"/>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A2332"/>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the Constitution explicitly required racial separation.</a:t>
            </a:r>
            <a:endParaRPr lang="en-US" sz="1300" dirty="0"/>
          </a:p>
        </p:txBody>
      </p:sp>
      <p:sp>
        <p:nvSpPr>
          <p:cNvPr id="18" name="Shape 16"/>
          <p:cNvSpPr/>
          <p:nvPr/>
        </p:nvSpPr>
        <p:spPr>
          <a:xfrm>
            <a:off x="548640" y="3968496"/>
            <a:ext cx="11064240" cy="566928"/>
          </a:xfrm>
          <a:prstGeom prst="roundRect">
            <a:avLst>
              <a:gd name="adj" fmla="val 9677"/>
            </a:avLst>
          </a:prstGeom>
          <a:solidFill>
            <a:srgbClr val="C9A84C"/>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A2332"/>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state-enforced separation itself signals and enforces inequality, regardless of facility quality.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African Americans had freely chosen separate facilities.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Election of 1876 and End of Reconstruction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Jim Crow Laws, Lynching, and Disenfranchisement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Pap Singleton and the Exodusters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Plessy v. Ferguson and "Separate But Equal"</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Construct an argument: which did MORE to undo Reconstruction — legal tools (Plessy, Jim Crow laws) or extralegal force (violence, intimidation)? Cite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Rights can exist on paper but be denied in practice. Name one tool used to deny Black Americans rights after 1877 and explain how it worked.</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Gilded Age Politics and Economics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84C"/>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Analyze the causes and consequences of Gilded Age politics and economics as well as the significance of the rise of political machines, major scandals, civil service reform, and the economic difference between farmers, wage earners, and industrial capitalists, including: Boss Tweed, Thomas Nast, Credit Mobilier, Spoils system and President James A. Garfield's assassination, Pendleton Act, Interstate Commerce Act.</a:t>
            </a:r>
            <a:endParaRPr lang="en-US" sz="1150" dirty="0"/>
          </a:p>
        </p:txBody>
      </p:sp>
      <p:sp>
        <p:nvSpPr>
          <p:cNvPr id="26" name="Shape 24"/>
          <p:cNvSpPr/>
          <p:nvPr/>
        </p:nvSpPr>
        <p:spPr>
          <a:xfrm>
            <a:off x="914400" y="5120640"/>
            <a:ext cx="10332720" cy="1188720"/>
          </a:xfrm>
          <a:prstGeom prst="roundRect">
            <a:avLst>
              <a:gd name="adj" fmla="val 6154"/>
            </a:avLst>
          </a:prstGeom>
          <a:solidFill>
            <a:srgbClr val="C9A84C"/>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analyze the causes and consequences of Gilded Age politics and economics, including political machines, major scandals, civil service reform, and economic differences between farmers, wage earners, and industrial capitalists.</a:t>
            </a:r>
            <a:endParaRPr lang="en-US" sz="11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ended Reconstruction, and what replaced Black voting rights in the South?</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the Supreme Court decide in Plessy v. Ferguson?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do we call a party organization that traded jobs and favors for votes?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 political machine (e.g., Tammany Hall under Boss Tweed).</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One New York political boss stole an estimated $200 million — and almost no one stopped him.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might city residents support a corrupt political machine? What might they get in return? List two possibilities.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Political Machines and Boss Tweed</a:t>
            </a:r>
            <a:endParaRPr lang="en-US" sz="3000" dirty="0"/>
          </a:p>
        </p:txBody>
      </p:sp>
      <p:sp>
        <p:nvSpPr>
          <p:cNvPr id="5" name="Shape 3"/>
          <p:cNvSpPr/>
          <p:nvPr/>
        </p:nvSpPr>
        <p:spPr>
          <a:xfrm>
            <a:off x="10472623" y="502920"/>
            <a:ext cx="146304" cy="146304"/>
          </a:xfrm>
          <a:prstGeom prst="ellipse">
            <a:avLst/>
          </a:prstGeom>
          <a:solidFill>
            <a:srgbClr val="C62828"/>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Gilded Age (1870s-1900) saw the rise of powerful political machines that controlled city governments through patronage and corruption.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Boss Tweed's Tammany Hall in New York City epitomized this system, funneling millions in public funds to Tweed and his associates.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Political cartoonist Thomas Nast exposed Tweed's corruption through devastating illustrations in Harper's Weekly.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A political machine stayed in power by ________, which helped ________ but harmed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Joseph Keppler, 1889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Joseph Keppler,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Major Scandals and the Spoils System</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C62828"/>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era was marked by corruption at all levels.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Crédit Mobilier scandal revealed that railroad executives and congressmen had profited enormously from fraudulent construction contracts.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spoils system—giving government jobs to political supporters regardless of qualification—reached its peak.</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James Garfield's assassination by a disappointed office-seeker in 1881 finally prompted reform.</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Civil Service Reform</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C62828"/>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Garfield's assassination led to the Pendleton Civil Service Act of 1883, which established merit-based hiring for federal positions through competitive examinations.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began the long process of professionalizing government service, though political influence remained significant in many positions.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Economic Disparity</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C62828"/>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Gilded Age saw extreme wealth concentration among industrial capitalists while farmers struggled with falling crop prices, high railroad shipping rates, and debt.</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Wage earners faced dangerous working conditions, long hours, and low pay.</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Interstate Commerce Act of 1887 attempted to regulate railroad rates, representing early federal intervention in the economy.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US.04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Pendleton Civil Service Reform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January 16, 1883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84C"/>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"No person in the public service is for that reason under any obligations to contribute to any political fund, or to render any political service, and he will not be removed or otherwise prejudiced for refusing to do so... No person in said service has any right to use his official authority or influence to coerce the political action of any person or body."</a:t>
            </a:r>
            <a:endParaRPr lang="en-US" sz="1400" dirty="0"/>
          </a:p>
        </p:txBody>
      </p:sp>
      <p:sp>
        <p:nvSpPr>
          <p:cNvPr id="11" name="Shape 9"/>
          <p:cNvSpPr/>
          <p:nvPr/>
        </p:nvSpPr>
        <p:spPr>
          <a:xfrm>
            <a:off x="7589520" y="1737360"/>
            <a:ext cx="4023360" cy="1783080"/>
          </a:xfrm>
          <a:prstGeom prst="roundRect">
            <a:avLst>
              <a:gd name="adj" fmla="val 4103"/>
            </a:avLst>
          </a:prstGeom>
          <a:solidFill>
            <a:srgbClr val="1A2332"/>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During the Gilded Age, the 'spoils system' — where elected officials rewarded political supporters with government jobs regardless of qualifications — had corrupted American government at every level. Political machines like Tammany Hall in New York City handed out thousands of jobs to loyal party members, and government workers were expected to donate a portion of their salaries to political campaigns. The assassination of President James Garfield in 1881 by a disappointed office-seeker shocked the nation and created overwhelming pressure for reform. The Pendleton Civil Service Reform Act of 1883 created a merit-based civil service system, requiring competitive exams for federal jobs and prohibiting political coercion of government workers.</a:t>
            </a:r>
            <a:endParaRPr lang="en-US" sz="780" dirty="0"/>
          </a:p>
        </p:txBody>
      </p:sp>
      <p:sp>
        <p:nvSpPr>
          <p:cNvPr id="14" name="Shape 12"/>
          <p:cNvSpPr/>
          <p:nvPr/>
        </p:nvSpPr>
        <p:spPr>
          <a:xfrm>
            <a:off x="7589520" y="3703320"/>
            <a:ext cx="4023360" cy="1280160"/>
          </a:xfrm>
          <a:prstGeom prst="roundRect">
            <a:avLst>
              <a:gd name="adj" fmla="val 5714"/>
            </a:avLst>
          </a:prstGeom>
          <a:solidFill>
            <a:srgbClr val="C9A84C"/>
          </a:solidFill>
          <a:ln/>
        </p:spPr>
        <p:txBody>
          <a:bodyPr/>
          <a:p/>
        </p:txBody>
      </p:sp>
      <p:sp>
        <p:nvSpPr>
          <p:cNvPr id="15" name="Text 13"/>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problem was the Pendleton Act designed to address?</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Pendleton Civil Service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1883.</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reform law tells you what problem lawmakers were trying to fix.</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Gilded Age</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Edad Dorada</a:t>
            </a:r>
            <a:endParaRPr lang="en-US" sz="10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period from roughly 1870 to 1900 characterized by rapid economic growth, industrialization, and extreme wealth inequality. Named by Mark Twain to suggest that a thin layer of prosperity covered deep social…</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A2332"/>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Political Machines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Máquinas Políticas</a:t>
            </a:r>
            <a:endParaRPr lang="en-US" sz="10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Corrupt organizations that controlled city politics through patronage, bribery, and vote manipulation, often providing services to immigrants in exchange for political support.</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A2332"/>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Spoils System</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Botín</a:t>
            </a:r>
            <a:endParaRPr lang="en-US" sz="1000" dirty="0"/>
          </a:p>
        </p:txBody>
      </p:sp>
      <p:sp>
        <p:nvSpPr>
          <p:cNvPr id="25" name="Text 23"/>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practice of rewarding political supporters with government jobs regardless of qualifications, based on the principle "to the victor belong the spoils."</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7" name="Shape 25"/>
          <p:cNvSpPr/>
          <p:nvPr/>
        </p:nvSpPr>
        <p:spPr>
          <a:xfrm>
            <a:off x="6263640" y="3072384"/>
            <a:ext cx="5486400" cy="676656"/>
          </a:xfrm>
          <a:prstGeom prst="rect">
            <a:avLst/>
          </a:prstGeom>
          <a:solidFill>
            <a:srgbClr val="1A2332"/>
          </a:solidFill>
          <a:ln/>
        </p:spPr>
        <p:txBody>
          <a:bodyPr/>
          <a:p/>
        </p:txBody>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Boss Tweed</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Jefe Tweed</a:t>
            </a:r>
            <a:endParaRPr lang="en-US" sz="1000" dirty="0"/>
          </a:p>
        </p:txBody>
      </p:sp>
      <p:sp>
        <p:nvSpPr>
          <p:cNvPr id="32" name="Text 30"/>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William M. Tweed, leader of New York City's Tammany Hall political machine, who controlled city politics and stole millions through kickbacks and corruption in the 1860s-1870s.</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4" name="Shape 32"/>
          <p:cNvSpPr/>
          <p:nvPr/>
        </p:nvSpPr>
        <p:spPr>
          <a:xfrm>
            <a:off x="548640" y="4498848"/>
            <a:ext cx="5486400" cy="676656"/>
          </a:xfrm>
          <a:prstGeom prst="rect">
            <a:avLst/>
          </a:prstGeom>
          <a:solidFill>
            <a:srgbClr val="1A2332"/>
          </a:solidFill>
          <a:ln/>
        </p:spPr>
        <p:txBody>
          <a:bodyPr/>
          <a:p/>
        </p:txBody>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Thomas Nast</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Thomas Nast</a:t>
            </a:r>
            <a:endParaRPr lang="en-US" sz="1000" dirty="0"/>
          </a:p>
        </p:txBody>
      </p:sp>
      <p:sp>
        <p:nvSpPr>
          <p:cNvPr id="39" name="Text 37"/>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cartoonist whose illustrations exposed Boss Tweed's corruption and helped bring down the Tammany Hall machine, demonstrating the power of the press.</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1" name="Shape 39"/>
          <p:cNvSpPr/>
          <p:nvPr/>
        </p:nvSpPr>
        <p:spPr>
          <a:xfrm>
            <a:off x="6263640" y="4498848"/>
            <a:ext cx="5486400" cy="676656"/>
          </a:xfrm>
          <a:prstGeom prst="rect">
            <a:avLst/>
          </a:prstGeom>
          <a:solidFill>
            <a:srgbClr val="1A2332"/>
          </a:solidFill>
          <a:ln/>
        </p:spPr>
        <p:txBody>
          <a:bodyPr/>
          <a:p/>
        </p:txBody>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Pendleton Act</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Pendleton</a:t>
            </a:r>
            <a:endParaRPr lang="en-US" sz="1000" dirty="0"/>
          </a:p>
        </p:txBody>
      </p:sp>
      <p:sp>
        <p:nvSpPr>
          <p:cNvPr id="46" name="Text 44"/>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1883 federal law that established the Civil Service Commission and required government jobs to be awarded based on merit through competitive examinations rather than political connections.</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Reason + cost analysis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Explain why a poor immigrant might SUPPORT a corrupt political machine.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REASON: Tweed’s machine gave new arrivals jobs, coal, and food when no one else would.  →  COST: That help was paid for with graft, rigged contracts, and higher taxes — an estimated $200 million stolen.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how I hold two true things at once: the machine genuinely helped people AND it robbed the city. A strong answer refuses to flatten that into "machines were just bad."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weigh one more machine benefit against its cost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Machine Politics: Trade-Off Analysis</a:t>
            </a:r>
            <a:endParaRPr lang="en-US" sz="2700" dirty="0"/>
          </a:p>
        </p:txBody>
      </p:sp>
      <p:sp>
        <p:nvSpPr>
          <p:cNvPr id="5" name="Shape 3"/>
          <p:cNvSpPr/>
          <p:nvPr/>
        </p:nvSpPr>
        <p:spPr>
          <a:xfrm>
            <a:off x="548640" y="1481328"/>
            <a:ext cx="1283818" cy="365760"/>
          </a:xfrm>
          <a:prstGeom prst="roundRect">
            <a:avLst>
              <a:gd name="adj" fmla="val 20000"/>
            </a:avLst>
          </a:prstGeom>
          <a:solidFill>
            <a:srgbClr val="1A2332"/>
          </a:solidFill>
          <a:ln/>
        </p:spPr>
        <p:txBody>
          <a:bodyPr/>
          <a:p/>
        </p:txBody>
      </p:sp>
      <p:sp>
        <p:nvSpPr>
          <p:cNvPr id="6" name="Text 4"/>
          <p:cNvSpPr/>
          <p:nvPr/>
        </p:nvSpPr>
        <p:spPr>
          <a:xfrm>
            <a:off x="548640" y="1481328"/>
            <a:ext cx="1283818"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Small groups</a:t>
            </a:r>
            <a:endParaRPr lang="en-US" sz="1050" dirty="0"/>
          </a:p>
        </p:txBody>
      </p:sp>
      <p:sp>
        <p:nvSpPr>
          <p:cNvPr id="7" name="Shape 5"/>
          <p:cNvSpPr/>
          <p:nvPr/>
        </p:nvSpPr>
        <p:spPr>
          <a:xfrm>
            <a:off x="1997050" y="1481328"/>
            <a:ext cx="779069" cy="365760"/>
          </a:xfrm>
          <a:prstGeom prst="roundRect">
            <a:avLst>
              <a:gd name="adj" fmla="val 20000"/>
            </a:avLst>
          </a:prstGeom>
          <a:solidFill>
            <a:srgbClr val="1A2332"/>
          </a:solidFill>
          <a:ln/>
        </p:spPr>
        <p:txBody>
          <a:bodyPr/>
          <a:p/>
        </p:txBody>
      </p:sp>
      <p:sp>
        <p:nvSpPr>
          <p:cNvPr id="8" name="Text 6"/>
          <p:cNvSpPr/>
          <p:nvPr/>
        </p:nvSpPr>
        <p:spPr>
          <a:xfrm>
            <a:off x="1997050"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Bosses of the Senate” cartoon, list what a city political machine GAVE residents and what it TOOK. Then decide: why would voters keep electing a corrupt machine? Reach a group consensus and be ready to defend it.</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Joseph Keppler, 1889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Joseph Keppler,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Give/Take T-chart plus a one-sentence group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provide 3 give/take examples to sort. EXTENSION: connect to a modern trade-off between services and accountability.</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US.04: Gilded Age Politics (Machines, Scandals &amp; Civil Service Reform)</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Bryce's description of the political 'Boss' help explain why the Pendleton Civil Service Reform Act was needed?</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reveal a spoils system in which offices and contracts were handed out for political loyalty, which reformers tried to end.</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praise the political machines as honest and efficient.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argue that government jobs should be sold to the highest bidder.</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were written after the spoils system ended.</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Bryce's description of the political 'Boss' help explain why the Pendleton Civil Service Reform Act was needed?</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reveal a spoils system in which offices and contracts were handed out for political loyalty, which reformers tried to end.</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4" name="Shape 12"/>
          <p:cNvSpPr/>
          <p:nvPr/>
        </p:nvSpPr>
        <p:spPr>
          <a:xfrm>
            <a:off x="713232" y="3419856"/>
            <a:ext cx="347472" cy="347472"/>
          </a:xfrm>
          <a:prstGeom prst="ellipse">
            <a:avLst/>
          </a:prstGeom>
          <a:solidFill>
            <a:srgbClr val="1A2332"/>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praise the political machines as honest and efficient.</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8" name="Shape 16"/>
          <p:cNvSpPr/>
          <p:nvPr/>
        </p:nvSpPr>
        <p:spPr>
          <a:xfrm>
            <a:off x="713232" y="4078224"/>
            <a:ext cx="347472" cy="347472"/>
          </a:xfrm>
          <a:prstGeom prst="ellipse">
            <a:avLst/>
          </a:prstGeom>
          <a:solidFill>
            <a:srgbClr val="1A2332"/>
          </a:solidFill>
          <a:ln/>
        </p:spPr>
        <p:txBody>
          <a:bodyPr/>
          <a:p/>
        </p:txBody>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Both argue that government jobs should be sold to the highest bidder.</a:t>
            </a:r>
            <a:endParaRPr lang="en-US" sz="1300" dirty="0"/>
          </a:p>
        </p:txBody>
      </p:sp>
      <p:sp>
        <p:nvSpPr>
          <p:cNvPr id="21" name="Text 19"/>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were written after the spoils system ended.</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Political Machines and Boss Tweed</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Scandals and the Spoils System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Service Reform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Disparity</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were political machines a net good or a net harm for new immigrants? Take a position and weigh services against costs with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Why might poor city residents SUPPORT a corrupt political machine? Give one reason and one cost of that support.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200" i="1" dirty="0">
                <a:solidFill>
                  <a:srgbClr val="F9A825"/>
                </a:solidFill>
                <a:latin typeface="Georgia" pitchFamily="34" charset="0"/>
                <a:ea typeface="Georgia" pitchFamily="34" charset="-122"/>
                <a:cs typeface="Georgia" pitchFamily="34" charset="-120"/>
              </a:rPr>
              <a:t>Inventions &amp; Innovations of Business Leaders &amp; Entrepreneurs</a:t>
            </a:r>
            <a:endParaRPr lang="en-US" sz="22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changes in American life that resulted from the inventions and innovations of business leaders and entrepreneurs of the period, including: Alexander Graham Bell, Henry Bessemer, Andrew Carnegie, Thomas Edison, J.P. Morgan, John D. Rockefeller, Nikola Tesla, Cornelius Vanderbilt, Madam C.J. Walker, George Washington Carver.</a:t>
            </a:r>
            <a:endParaRPr lang="en-US" sz="115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p/>
        </p:txBody>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changes in American life that resulted from the inventions and innovations of business leaders and entrepreneurs of the period, including Alexander Graham Bell, Andrew Carnegie, Thomas Edison, John D. Rockefeller, Madam C.J. Walker, and George Washington Carver.</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 political machine, and how did bosses like Tweed stay in power?</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problem did the Pendleton Act fix?</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Owning every step from raw material to finished product is called ____ integration.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Vertical integration (Carnegie in steel).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One man controlled 90% of all the oil refined in the United States.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Is it possible to be both a "robber baron" and a "captain of industry" at the same time? Hold that question as we meet the people who built modern America.</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Technological Innovations</a:t>
            </a:r>
            <a:endParaRPr lang="en-US" sz="3000" dirty="0"/>
          </a:p>
        </p:txBody>
      </p:sp>
      <p:sp>
        <p:nvSpPr>
          <p:cNvPr id="5" name="Shape 3"/>
          <p:cNvSpPr/>
          <p:nvPr/>
        </p:nvSpPr>
        <p:spPr>
          <a:xfrm>
            <a:off x="10765231" y="502920"/>
            <a:ext cx="146304" cy="146304"/>
          </a:xfrm>
          <a:prstGeom prst="ellipse">
            <a:avLst/>
          </a:prstGeom>
          <a:solidFill>
            <a:srgbClr val="C62828"/>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340864"/>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late 19th century saw transformative inventions that reshaped American life.</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Alexander Graham Bell's telephone (1876) revolutionized communication.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Thomas Edison's electrical systems and light bulb brought power to homes and factories.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Nikola Tesla's alternating current system enabled long-distance electrical transmission.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Henry Bessemer's steel process made skyscrapers and modern infrastructure possible.</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________ used ________ integration to dominate the ________ industry.</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Industrial Titans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C62828"/>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26974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1945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Andrew Carnegie built a steel empire through vertical integration, controlling every step from iron mines to finished products.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John D. Rockefeller's Standard Oil pioneered horizontal integration, buying out competitors to dominate the oil industry.</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J.P. Morgan wielded enormous financial power, reorganizing railroads and creating U.S. Steel.</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Cornelius Vanderbilt consolidated railroad networks, enabling national commerce.</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Marceau, New York (photographer), c. 1913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Marceau, New York (photographer), c. 1913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Shape 11"/>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txBody>
          <a:bodyPr/>
          <a:p/>
        </p:txBody>
      </p:sp>
      <p:sp>
        <p:nvSpPr>
          <p:cNvPr id="15" name="Text 12"/>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6" name="Text 13"/>
          <p:cNvSpPr/>
          <p:nvPr/>
        </p:nvSpPr>
        <p:spPr>
          <a:xfrm>
            <a:off x="868680" y="5120640"/>
            <a:ext cx="612648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Cornelius Vanderbilt’s $1 million gift founded Vanderbilt University in Nashville (1873), tying the era’s industrial fortunes directly to Tennessee.</a:t>
            </a:r>
            <a:endParaRPr lang="en-US" sz="13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African American Entrepreneurs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C62828"/>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facing discrimination, African American entrepreneurs made significant contributions.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Madam C.J. Walker became America's first female self-made millionaire through her hair care products, employing thousands of Black women.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George Washington Carver's agricultural research at Tuskegee Institute developed hundreds of products from peanuts and sweet potatoes, helping diversify Southern agriculture.</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199339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3505200" cy="548640"/>
          </a:xfrm>
          <a:prstGeom prst="rect">
            <a:avLst/>
          </a:prstGeom>
          <a:solidFill>
            <a:srgbClr val="1A2332"/>
          </a:solidFill>
          <a:ln/>
        </p:spPr>
        <p:txBody>
          <a:bodyPr/>
          <a:p/>
        </p:txBody>
      </p:sp>
      <p:sp>
        <p:nvSpPr>
          <p:cNvPr id="7" name="Text 5"/>
          <p:cNvSpPr/>
          <p:nvPr/>
        </p:nvSpPr>
        <p:spPr>
          <a:xfrm>
            <a:off x="68580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Andrew Carnegie</a:t>
            </a:r>
            <a:endParaRPr lang="en-US" sz="1600" dirty="0"/>
          </a:p>
        </p:txBody>
      </p:sp>
      <p:sp>
        <p:nvSpPr>
          <p:cNvPr id="8" name="Text 6"/>
          <p:cNvSpPr/>
          <p:nvPr/>
        </p:nvSpPr>
        <p:spPr>
          <a:xfrm>
            <a:off x="272186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Steel Manufacturer</a:t>
            </a:r>
            <a:endParaRPr lang="en-US" sz="1100" dirty="0"/>
          </a:p>
        </p:txBody>
      </p:sp>
      <p:sp>
        <p:nvSpPr>
          <p:cNvPr id="9" name="Text 7"/>
          <p:cNvSpPr/>
          <p:nvPr/>
        </p:nvSpPr>
        <p:spPr>
          <a:xfrm>
            <a:off x="69494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Built Carnegie Steel Company into the largest steel producer in the world</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Pioneered vertical integration in American industry</a:t>
            </a:r>
            <a:endParaRPr lang="en-US" sz="1200" dirty="0"/>
          </a:p>
        </p:txBody>
      </p:sp>
      <p:sp>
        <p:nvSpPr>
          <p:cNvPr id="10" name="Shape 8"/>
          <p:cNvSpPr/>
          <p:nvPr/>
        </p:nvSpPr>
        <p:spPr>
          <a:xfrm>
            <a:off x="667512" y="3026664"/>
            <a:ext cx="3267456" cy="512064"/>
          </a:xfrm>
          <a:prstGeom prst="roundRect">
            <a:avLst>
              <a:gd name="adj" fmla="val 10714"/>
            </a:avLst>
          </a:prstGeom>
          <a:solidFill>
            <a:srgbClr val="FBEFD0"/>
          </a:solidFill>
          <a:ln w="15875">
            <a:solidFill>
              <a:srgbClr val="C9A84C"/>
            </a:solidFill>
            <a:prstDash val="solid"/>
          </a:ln>
        </p:spPr>
        <p:txBody>
          <a:bodyPr/>
          <a:p/>
        </p:txBody>
      </p:sp>
      <p:sp>
        <p:nvSpPr>
          <p:cNvPr id="11" name="Text 9"/>
          <p:cNvSpPr/>
          <p:nvPr/>
        </p:nvSpPr>
        <p:spPr>
          <a:xfrm>
            <a:off x="74980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Vertical integration</a:t>
            </a:r>
            <a:endParaRPr lang="en-US" sz="800" dirty="0"/>
          </a:p>
        </p:txBody>
      </p:sp>
      <p:sp>
        <p:nvSpPr>
          <p:cNvPr id="12" name="Shape 10"/>
          <p:cNvSpPr/>
          <p:nvPr/>
        </p:nvSpPr>
        <p:spPr>
          <a:xfrm>
            <a:off x="4328160" y="1627632"/>
            <a:ext cx="3505200" cy="1993392"/>
          </a:xfrm>
          <a:prstGeom prst="rect">
            <a:avLst/>
          </a:prstGeom>
          <a:solidFill>
            <a:srgbClr val="FFFFFF"/>
          </a:solidFill>
          <a:ln w="12700">
            <a:solidFill>
              <a:srgbClr val="DAD3C2"/>
            </a:solidFill>
            <a:prstDash val="solid"/>
          </a:ln>
        </p:spPr>
        <p:txBody>
          <a:bodyPr/>
          <a:p/>
        </p:txBody>
      </p:sp>
      <p:sp>
        <p:nvSpPr>
          <p:cNvPr id="13" name="Shape 11"/>
          <p:cNvSpPr/>
          <p:nvPr/>
        </p:nvSpPr>
        <p:spPr>
          <a:xfrm>
            <a:off x="4328160" y="1627632"/>
            <a:ext cx="3505200" cy="548640"/>
          </a:xfrm>
          <a:prstGeom prst="rect">
            <a:avLst/>
          </a:prstGeom>
          <a:solidFill>
            <a:srgbClr val="1A2332"/>
          </a:solidFill>
          <a:ln/>
        </p:spPr>
        <p:txBody>
          <a:bodyPr/>
          <a:p/>
        </p:txBody>
      </p:sp>
      <p:sp>
        <p:nvSpPr>
          <p:cNvPr id="14" name="Text 12"/>
          <p:cNvSpPr/>
          <p:nvPr/>
        </p:nvSpPr>
        <p:spPr>
          <a:xfrm>
            <a:off x="446532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John D. Rockefeller</a:t>
            </a:r>
            <a:endParaRPr lang="en-US" sz="1600" dirty="0"/>
          </a:p>
        </p:txBody>
      </p:sp>
      <p:sp>
        <p:nvSpPr>
          <p:cNvPr id="15" name="Text 13"/>
          <p:cNvSpPr/>
          <p:nvPr/>
        </p:nvSpPr>
        <p:spPr>
          <a:xfrm>
            <a:off x="650138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Oil Industry Executive</a:t>
            </a:r>
            <a:endParaRPr lang="en-US" sz="1100" dirty="0"/>
          </a:p>
        </p:txBody>
      </p:sp>
      <p:sp>
        <p:nvSpPr>
          <p:cNvPr id="16" name="Text 14"/>
          <p:cNvSpPr/>
          <p:nvPr/>
        </p:nvSpPr>
        <p:spPr>
          <a:xfrm>
            <a:off x="447446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Founded Standard Oil, controlling 90% of U.S. oil refining</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Pioneered the trust as a form of business organization</a:t>
            </a:r>
            <a:endParaRPr lang="en-US" sz="1200" dirty="0"/>
          </a:p>
        </p:txBody>
      </p:sp>
      <p:sp>
        <p:nvSpPr>
          <p:cNvPr id="17" name="Shape 15"/>
          <p:cNvSpPr/>
          <p:nvPr/>
        </p:nvSpPr>
        <p:spPr>
          <a:xfrm>
            <a:off x="4447032" y="3026664"/>
            <a:ext cx="3267456" cy="512064"/>
          </a:xfrm>
          <a:prstGeom prst="roundRect">
            <a:avLst>
              <a:gd name="adj" fmla="val 10714"/>
            </a:avLst>
          </a:prstGeom>
          <a:solidFill>
            <a:srgbClr val="FBEFD0"/>
          </a:solidFill>
          <a:ln w="15875">
            <a:solidFill>
              <a:srgbClr val="C9A84C"/>
            </a:solidFill>
            <a:prstDash val="solid"/>
          </a:ln>
        </p:spPr>
        <p:txBody>
          <a:bodyPr/>
          <a:p/>
        </p:txBody>
      </p:sp>
      <p:sp>
        <p:nvSpPr>
          <p:cNvPr id="18" name="Text 16"/>
          <p:cNvSpPr/>
          <p:nvPr/>
        </p:nvSpPr>
        <p:spPr>
          <a:xfrm>
            <a:off x="452932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Trust / monopoly</a:t>
            </a:r>
            <a:endParaRPr lang="en-US" sz="800" dirty="0"/>
          </a:p>
        </p:txBody>
      </p:sp>
      <p:sp>
        <p:nvSpPr>
          <p:cNvPr id="19" name="Shape 17"/>
          <p:cNvSpPr/>
          <p:nvPr/>
        </p:nvSpPr>
        <p:spPr>
          <a:xfrm>
            <a:off x="8107680" y="1627632"/>
            <a:ext cx="3505200" cy="1993392"/>
          </a:xfrm>
          <a:prstGeom prst="rect">
            <a:avLst/>
          </a:prstGeom>
          <a:solidFill>
            <a:srgbClr val="FFFFFF"/>
          </a:solidFill>
          <a:ln w="12700">
            <a:solidFill>
              <a:srgbClr val="DAD3C2"/>
            </a:solidFill>
            <a:prstDash val="solid"/>
          </a:ln>
        </p:spPr>
        <p:txBody>
          <a:bodyPr/>
          <a:p/>
        </p:txBody>
      </p:sp>
      <p:sp>
        <p:nvSpPr>
          <p:cNvPr id="20" name="Shape 18"/>
          <p:cNvSpPr/>
          <p:nvPr/>
        </p:nvSpPr>
        <p:spPr>
          <a:xfrm>
            <a:off x="8107680" y="1627632"/>
            <a:ext cx="3505200" cy="548640"/>
          </a:xfrm>
          <a:prstGeom prst="rect">
            <a:avLst/>
          </a:prstGeom>
          <a:solidFill>
            <a:srgbClr val="1A2332"/>
          </a:solidFill>
          <a:ln/>
        </p:spPr>
        <p:txBody>
          <a:bodyPr/>
          <a:p/>
        </p:txBody>
      </p:sp>
      <p:sp>
        <p:nvSpPr>
          <p:cNvPr id="21" name="Text 19"/>
          <p:cNvSpPr/>
          <p:nvPr/>
        </p:nvSpPr>
        <p:spPr>
          <a:xfrm>
            <a:off x="824484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Thomas Edison</a:t>
            </a:r>
            <a:endParaRPr lang="en-US" sz="1600" dirty="0"/>
          </a:p>
        </p:txBody>
      </p:sp>
      <p:sp>
        <p:nvSpPr>
          <p:cNvPr id="22" name="Text 20"/>
          <p:cNvSpPr/>
          <p:nvPr/>
        </p:nvSpPr>
        <p:spPr>
          <a:xfrm>
            <a:off x="1028090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Inventor</a:t>
            </a:r>
            <a:endParaRPr lang="en-US" sz="1100" dirty="0"/>
          </a:p>
        </p:txBody>
      </p:sp>
      <p:sp>
        <p:nvSpPr>
          <p:cNvPr id="23" name="Text 21"/>
          <p:cNvSpPr/>
          <p:nvPr/>
        </p:nvSpPr>
        <p:spPr>
          <a:xfrm>
            <a:off x="825398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Invented the practical incandescent light bulb</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the first industrial research laboratory</a:t>
            </a:r>
            <a:endParaRPr lang="en-US" sz="1200" dirty="0"/>
          </a:p>
        </p:txBody>
      </p:sp>
      <p:sp>
        <p:nvSpPr>
          <p:cNvPr id="24" name="Shape 22"/>
          <p:cNvSpPr/>
          <p:nvPr/>
        </p:nvSpPr>
        <p:spPr>
          <a:xfrm>
            <a:off x="8226552" y="3026664"/>
            <a:ext cx="3267456" cy="512064"/>
          </a:xfrm>
          <a:prstGeom prst="roundRect">
            <a:avLst>
              <a:gd name="adj" fmla="val 10714"/>
            </a:avLst>
          </a:prstGeom>
          <a:solidFill>
            <a:srgbClr val="FBEFD0"/>
          </a:solidFill>
          <a:ln w="15875">
            <a:solidFill>
              <a:srgbClr val="C9A84C"/>
            </a:solidFill>
            <a:prstDash val="solid"/>
          </a:ln>
        </p:spPr>
        <p:txBody>
          <a:bodyPr/>
          <a:p/>
        </p:txBody>
      </p:sp>
      <p:sp>
        <p:nvSpPr>
          <p:cNvPr id="25" name="Text 23"/>
          <p:cNvSpPr/>
          <p:nvPr/>
        </p:nvSpPr>
        <p:spPr>
          <a:xfrm>
            <a:off x="830884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Invention → industry</a:t>
            </a:r>
            <a:endParaRPr lang="en-US" sz="800" dirty="0"/>
          </a:p>
        </p:txBody>
      </p:sp>
      <p:sp>
        <p:nvSpPr>
          <p:cNvPr id="26" name="Shape 24"/>
          <p:cNvSpPr/>
          <p:nvPr/>
        </p:nvSpPr>
        <p:spPr>
          <a:xfrm>
            <a:off x="548640" y="3822192"/>
            <a:ext cx="5394960" cy="1993392"/>
          </a:xfrm>
          <a:prstGeom prst="rect">
            <a:avLst/>
          </a:prstGeom>
          <a:solidFill>
            <a:srgbClr val="FFFFFF"/>
          </a:solidFill>
          <a:ln w="12700">
            <a:solidFill>
              <a:srgbClr val="DAD3C2"/>
            </a:solidFill>
            <a:prstDash val="solid"/>
          </a:ln>
        </p:spPr>
        <p:txBody>
          <a:bodyPr/>
          <a:p/>
        </p:txBody>
      </p:sp>
      <p:sp>
        <p:nvSpPr>
          <p:cNvPr id="27" name="Shape 25"/>
          <p:cNvSpPr/>
          <p:nvPr/>
        </p:nvSpPr>
        <p:spPr>
          <a:xfrm>
            <a:off x="548640" y="3822192"/>
            <a:ext cx="5394960" cy="548640"/>
          </a:xfrm>
          <a:prstGeom prst="rect">
            <a:avLst/>
          </a:prstGeom>
          <a:solidFill>
            <a:srgbClr val="1A2332"/>
          </a:solidFill>
          <a:ln/>
        </p:spPr>
        <p:txBody>
          <a:bodyPr/>
          <a:p/>
        </p:txBody>
      </p:sp>
      <p:sp>
        <p:nvSpPr>
          <p:cNvPr id="28" name="Text 26"/>
          <p:cNvSpPr/>
          <p:nvPr/>
        </p:nvSpPr>
        <p:spPr>
          <a:xfrm>
            <a:off x="685800" y="3849624"/>
            <a:ext cx="3344875"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Cornelius Vanderbilt</a:t>
            </a:r>
            <a:endParaRPr lang="en-US" sz="1600" dirty="0"/>
          </a:p>
        </p:txBody>
      </p:sp>
      <p:sp>
        <p:nvSpPr>
          <p:cNvPr id="29" name="Text 27"/>
          <p:cNvSpPr/>
          <p:nvPr/>
        </p:nvSpPr>
        <p:spPr>
          <a:xfrm>
            <a:off x="389351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Shipping Magnate</a:t>
            </a:r>
            <a:endParaRPr lang="en-US" sz="1100" dirty="0"/>
          </a:p>
        </p:txBody>
      </p:sp>
      <p:sp>
        <p:nvSpPr>
          <p:cNvPr id="30" name="Text 28"/>
          <p:cNvSpPr/>
          <p:nvPr/>
        </p:nvSpPr>
        <p:spPr>
          <a:xfrm>
            <a:off x="694944" y="4443984"/>
            <a:ext cx="510235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Built the largest fortune in American history to that time</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the New York Central Railroad system</a:t>
            </a:r>
            <a:endParaRPr lang="en-US" sz="1200" dirty="0"/>
          </a:p>
        </p:txBody>
      </p:sp>
      <p:sp>
        <p:nvSpPr>
          <p:cNvPr id="31" name="Shape 29"/>
          <p:cNvSpPr/>
          <p:nvPr/>
        </p:nvSpPr>
        <p:spPr>
          <a:xfrm>
            <a:off x="667512" y="5221224"/>
            <a:ext cx="5157216" cy="512064"/>
          </a:xfrm>
          <a:prstGeom prst="roundRect">
            <a:avLst>
              <a:gd name="adj" fmla="val 10714"/>
            </a:avLst>
          </a:prstGeom>
          <a:solidFill>
            <a:srgbClr val="FBEFD0"/>
          </a:solidFill>
          <a:ln w="15875">
            <a:solidFill>
              <a:srgbClr val="C9A84C"/>
            </a:solidFill>
            <a:prstDash val="solid"/>
          </a:ln>
        </p:spPr>
        <p:txBody>
          <a:bodyPr/>
          <a:p/>
        </p:txBody>
      </p:sp>
      <p:sp>
        <p:nvSpPr>
          <p:cNvPr id="32" name="Text 30"/>
          <p:cNvSpPr/>
          <p:nvPr/>
        </p:nvSpPr>
        <p:spPr>
          <a:xfrm>
            <a:off x="749808" y="5248656"/>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Railroad consolidation</a:t>
            </a:r>
            <a:endParaRPr lang="en-US" sz="800" dirty="0"/>
          </a:p>
        </p:txBody>
      </p:sp>
      <p:sp>
        <p:nvSpPr>
          <p:cNvPr id="33" name="Shape 31"/>
          <p:cNvSpPr/>
          <p:nvPr/>
        </p:nvSpPr>
        <p:spPr>
          <a:xfrm>
            <a:off x="6217920" y="3822192"/>
            <a:ext cx="5394960" cy="1993392"/>
          </a:xfrm>
          <a:prstGeom prst="rect">
            <a:avLst/>
          </a:prstGeom>
          <a:solidFill>
            <a:srgbClr val="FFFFFF"/>
          </a:solidFill>
          <a:ln w="12700">
            <a:solidFill>
              <a:srgbClr val="DAD3C2"/>
            </a:solidFill>
            <a:prstDash val="solid"/>
          </a:ln>
        </p:spPr>
        <p:txBody>
          <a:bodyPr/>
          <a:p/>
        </p:txBody>
      </p:sp>
      <p:sp>
        <p:nvSpPr>
          <p:cNvPr id="34" name="Shape 32"/>
          <p:cNvSpPr/>
          <p:nvPr/>
        </p:nvSpPr>
        <p:spPr>
          <a:xfrm>
            <a:off x="6217920" y="3822192"/>
            <a:ext cx="5394960" cy="548640"/>
          </a:xfrm>
          <a:prstGeom prst="rect">
            <a:avLst/>
          </a:prstGeom>
          <a:solidFill>
            <a:srgbClr val="1A2332"/>
          </a:solidFill>
          <a:ln/>
        </p:spPr>
        <p:txBody>
          <a:bodyPr/>
          <a:p/>
        </p:txBody>
      </p:sp>
      <p:sp>
        <p:nvSpPr>
          <p:cNvPr id="35" name="Text 33"/>
          <p:cNvSpPr/>
          <p:nvPr/>
        </p:nvSpPr>
        <p:spPr>
          <a:xfrm>
            <a:off x="6355080" y="3849624"/>
            <a:ext cx="3344875"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J.P. Morgan</a:t>
            </a:r>
            <a:endParaRPr lang="en-US" sz="1600" dirty="0"/>
          </a:p>
        </p:txBody>
      </p:sp>
      <p:sp>
        <p:nvSpPr>
          <p:cNvPr id="36" name="Text 34"/>
          <p:cNvSpPr/>
          <p:nvPr/>
        </p:nvSpPr>
        <p:spPr>
          <a:xfrm>
            <a:off x="956279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Banker</a:t>
            </a:r>
            <a:endParaRPr lang="en-US" sz="1100" dirty="0"/>
          </a:p>
        </p:txBody>
      </p:sp>
      <p:sp>
        <p:nvSpPr>
          <p:cNvPr id="37" name="Text 35"/>
          <p:cNvSpPr/>
          <p:nvPr/>
        </p:nvSpPr>
        <p:spPr>
          <a:xfrm>
            <a:off x="6364224" y="4443984"/>
            <a:ext cx="510235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J.P. Morgan &amp; Co., the most powerful bank in America</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Organized U.S. Steel, the first billion-dollar corporation</a:t>
            </a:r>
            <a:endParaRPr lang="en-US" sz="1200" dirty="0"/>
          </a:p>
        </p:txBody>
      </p:sp>
      <p:sp>
        <p:nvSpPr>
          <p:cNvPr id="38" name="Shape 36"/>
          <p:cNvSpPr/>
          <p:nvPr/>
        </p:nvSpPr>
        <p:spPr>
          <a:xfrm>
            <a:off x="6336792" y="5221224"/>
            <a:ext cx="5157216" cy="512064"/>
          </a:xfrm>
          <a:prstGeom prst="roundRect">
            <a:avLst>
              <a:gd name="adj" fmla="val 10714"/>
            </a:avLst>
          </a:prstGeom>
          <a:solidFill>
            <a:srgbClr val="FBEFD0"/>
          </a:solidFill>
          <a:ln w="15875">
            <a:solidFill>
              <a:srgbClr val="C9A84C"/>
            </a:solidFill>
            <a:prstDash val="solid"/>
          </a:ln>
        </p:spPr>
        <p:txBody>
          <a:bodyPr/>
          <a:p/>
        </p:txBody>
      </p:sp>
      <p:sp>
        <p:nvSpPr>
          <p:cNvPr id="39" name="Text 37"/>
          <p:cNvSpPr/>
          <p:nvPr/>
        </p:nvSpPr>
        <p:spPr>
          <a:xfrm>
            <a:off x="6419088" y="5248656"/>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A2332"/>
                </a:solidFill>
                <a:latin typeface="Calibri" pitchFamily="34" charset="0"/>
                <a:ea typeface="Calibri" pitchFamily="34" charset="-122"/>
                <a:cs typeface="Calibri" pitchFamily="34" charset="-120"/>
              </a:rPr>
              <a:t>Finance capitalism</a:t>
            </a:r>
            <a:endParaRPr lang="en-US" sz="800" dirty="0"/>
          </a:p>
        </p:txBody>
      </p:sp>
      <p:sp>
        <p:nvSpPr>
          <p:cNvPr id="40" name="Text 3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1" name="Text 3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US.05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Gospel of Wealth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Andrew Carnegie  ·  1889</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Andrew Carnegie  ·  1889">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Udo J. Keppler, 1904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84C"/>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"This, then, is held to be the duty of the man of Wealth: First, to set an example of modest, unostentatious living, shunning display or extravagance; to provide moderately for the legitimate wants of those dependent upon him; and after doing so to consider all surplus revenues which come to him simply as trust funds... the man of wealth thus becoming the mere agent and trustee for his poorer brethren."</a:t>
            </a:r>
            <a:endParaRPr lang="en-US" sz="1150" dirty="0"/>
          </a:p>
        </p:txBody>
      </p:sp>
      <p:sp>
        <p:nvSpPr>
          <p:cNvPr id="16" name="Shape 13"/>
          <p:cNvSpPr/>
          <p:nvPr/>
        </p:nvSpPr>
        <p:spPr>
          <a:xfrm>
            <a:off x="7589520" y="1737360"/>
            <a:ext cx="4023360" cy="1508760"/>
          </a:xfrm>
          <a:prstGeom prst="roundRect">
            <a:avLst>
              <a:gd name="adj" fmla="val 4848"/>
            </a:avLst>
          </a:prstGeom>
          <a:solidFill>
            <a:srgbClr val="1A2332"/>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9669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Andrew Carnegie was the most famous example of a 'rags to riches' story in Gilded Age America. An immigrant from Scotland who started as a factory bobbin boy, Carnegie built the largest steel company in the world through relentless efficiency, brutal labor practices, and shrewd business dealings. By the late 1880s, he was worth hundreds of millions of dollars. In 'The Gospel of Wealth' (1889), Carnegie argued that wealthy men had a duty to use their fortunes to benefit society — a philosophy that justified both extreme wealth concentration and a paternalistic approach to charity. Carnegie himself donated over $350 million to libraries, universities, and public institutions before his death.</a:t>
            </a:r>
            <a:endParaRPr lang="en-US" sz="850" dirty="0"/>
          </a:p>
        </p:txBody>
      </p:sp>
      <p:sp>
        <p:nvSpPr>
          <p:cNvPr id="19" name="Shape 16"/>
          <p:cNvSpPr/>
          <p:nvPr/>
        </p:nvSpPr>
        <p:spPr>
          <a:xfrm>
            <a:off x="7589520" y="3429000"/>
            <a:ext cx="4023360" cy="1554480"/>
          </a:xfrm>
          <a:prstGeom prst="roundRect">
            <a:avLst>
              <a:gd name="adj" fmla="val 4706"/>
            </a:avLst>
          </a:prstGeom>
          <a:solidFill>
            <a:srgbClr val="C9A84C"/>
          </a:solidFill>
          <a:ln/>
        </p:spPr>
        <p:txBody>
          <a:bodyPr/>
          <a:p/>
        </p:txBody>
      </p:sp>
      <p:sp>
        <p:nvSpPr>
          <p:cNvPr id="20" name="Text 17"/>
          <p:cNvSpPr/>
          <p:nvPr/>
        </p:nvSpPr>
        <p:spPr>
          <a:xfrm>
            <a:off x="7818120" y="35478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49624"/>
            <a:ext cx="3611880" cy="1024128"/>
          </a:xfrm>
          <a:prstGeom prst="rect">
            <a:avLst/>
          </a:prstGeom>
          <a:noFill/>
          <a:ln/>
        </p:spPr>
        <p:txBody>
          <a:bodyPr wrap="square" rtlCol="0" anchor="t"/>
          <a:lstStyle/>
          <a:p>
            <a:pPr indent="0" marL="0">
              <a:lnSpc>
                <a:spcPct val="103000"/>
              </a:lnSpc>
              <a:buNone/>
            </a:pPr>
            <a:r>
              <a:rPr lang="en-US" sz="1100" b="1" dirty="0">
                <a:solidFill>
                  <a:srgbClr val="1A2332"/>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1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Andrew Carnegie — steel magnate and one of the wealthiest men in America.</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1889 (Gilded Age).</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titan of industry is defining his own duty to society — read it as self-justification and as a genuine argument about wealth.</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Carnegie Corporation of New York</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Robber Barons/Captains of Industry</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Barones Ladrones/Capitanes de Industria</a:t>
            </a:r>
            <a:endParaRPr lang="en-US" sz="10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Wealthy industrialists of the late 1800s who built massive business empires. Critics called them "robber barons" for ruthless practices; supporters called them "captains of industry" for economic growth.</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A2332"/>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Vertical Integration</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VUR-tih-kul in-teh-GRAY-shun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Vertical</a:t>
            </a:r>
            <a:endParaRPr lang="en-US" sz="10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where a company controls all stages of production, from raw materials to finished product, as practiced by Andrew Carnegie in the steel industry.</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A2332"/>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Horizontal Integration</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Horizontal</a:t>
            </a:r>
            <a:endParaRPr lang="en-US" sz="10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where a company buys out competitors in the same industry to reduce competition and control prices, as practiced by John D. Rockefeller in oil.</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A2332"/>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Monopoly</a:t>
            </a:r>
            <a:endParaRPr lang="en-US" sz="1350" dirty="0"/>
          </a:p>
        </p:txBody>
      </p:sp>
      <p:sp>
        <p:nvSpPr>
          <p:cNvPr id="30" name="Text 28"/>
          <p:cNvSpPr/>
          <p:nvPr/>
        </p:nvSpPr>
        <p:spPr>
          <a:xfrm>
            <a:off x="6400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muh-NOP-uh-lee</a:t>
            </a:r>
            <a:endParaRPr lang="en-US" sz="8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Monopolio</a:t>
            </a:r>
            <a:endParaRPr lang="en-US" sz="1000" dirty="0"/>
          </a:p>
        </p:txBody>
      </p:sp>
      <p:sp>
        <p:nvSpPr>
          <p:cNvPr id="34" name="Text 32"/>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Complete control of a product or service by a single company, eliminating competition and allowing the company to set prices.</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6" name="Shape 34"/>
          <p:cNvSpPr/>
          <p:nvPr/>
        </p:nvSpPr>
        <p:spPr>
          <a:xfrm>
            <a:off x="548640" y="4498848"/>
            <a:ext cx="5486400" cy="676656"/>
          </a:xfrm>
          <a:prstGeom prst="rect">
            <a:avLst/>
          </a:prstGeom>
          <a:solidFill>
            <a:srgbClr val="1A2332"/>
          </a:solidFill>
          <a:ln/>
        </p:spPr>
        <p:txBody>
          <a:bodyPr/>
          <a:p/>
        </p:txBody>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Trust</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Trust (Fideicomiso)</a:t>
            </a:r>
            <a:endParaRPr lang="en-US" sz="10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legal arrangement where stockholders in several companies transferred their shares to a single board of trustees, creating a monopoly while appearing to remain separate companies.</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A2332"/>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Bessemer Process</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Proceso Bessemer</a:t>
            </a:r>
            <a:endParaRPr lang="en-US" sz="1000" dirty="0"/>
          </a:p>
        </p:txBody>
      </p:sp>
      <p:sp>
        <p:nvSpPr>
          <p:cNvPr id="48" name="Text 46"/>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efficient method of making steel by blowing air through molten iron, developed by Henry Bessemer, that made mass production of steel possible and revolutionized construction and manufacturing.</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Claim + evidence (argument)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Was Rockefeller a "robber baron" or a "captain of industry"? Stake a claim and cite evidence.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CLAIM: Rockefeller was a captain of industry.  →  EVIDENCE: Standard Oil’s efficiency cut kerosene prices for ordinary families, and he later gave away over $500 million.  →  COUNTER I must answer: he also crushed competitors and squeezed railroads for secret rebates.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See the structure: Claim → Evidence → and I name the strongest counter-argument so I can answer it. An argument that ignores the other side is weak.</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take a position on a second titan and back it with one piece of evidence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Robber Baron or Captain of Industry?</a:t>
            </a:r>
            <a:endParaRPr lang="en-US" sz="2700" dirty="0"/>
          </a:p>
        </p:txBody>
      </p:sp>
      <p:sp>
        <p:nvSpPr>
          <p:cNvPr id="5" name="Shape 3"/>
          <p:cNvSpPr/>
          <p:nvPr/>
        </p:nvSpPr>
        <p:spPr>
          <a:xfrm>
            <a:off x="548640" y="1481328"/>
            <a:ext cx="2461565" cy="365760"/>
          </a:xfrm>
          <a:prstGeom prst="roundRect">
            <a:avLst>
              <a:gd name="adj" fmla="val 20000"/>
            </a:avLst>
          </a:prstGeom>
          <a:solidFill>
            <a:srgbClr val="1A2332"/>
          </a:solidFill>
          <a:ln/>
        </p:spPr>
        <p:txBody>
          <a:bodyPr/>
          <a:p/>
        </p:txBody>
      </p:sp>
      <p:sp>
        <p:nvSpPr>
          <p:cNvPr id="6" name="Text 4"/>
          <p:cNvSpPr/>
          <p:nvPr/>
        </p:nvSpPr>
        <p:spPr>
          <a:xfrm>
            <a:off x="548640" y="1481328"/>
            <a:ext cx="2461565"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(assigned positions)</a:t>
            </a:r>
            <a:endParaRPr lang="en-US" sz="1050" dirty="0"/>
          </a:p>
        </p:txBody>
      </p:sp>
      <p:sp>
        <p:nvSpPr>
          <p:cNvPr id="7" name="Shape 5"/>
          <p:cNvSpPr/>
          <p:nvPr/>
        </p:nvSpPr>
        <p:spPr>
          <a:xfrm>
            <a:off x="3174797" y="1481328"/>
            <a:ext cx="779069" cy="365760"/>
          </a:xfrm>
          <a:prstGeom prst="roundRect">
            <a:avLst>
              <a:gd name="adj" fmla="val 20000"/>
            </a:avLst>
          </a:prstGeom>
          <a:solidFill>
            <a:srgbClr val="1A2332"/>
          </a:solidFill>
          <a:ln/>
        </p:spPr>
        <p:txBody>
          <a:bodyPr/>
          <a:p/>
        </p:txBody>
      </p:sp>
      <p:sp>
        <p:nvSpPr>
          <p:cNvPr id="8" name="Text 6"/>
          <p:cNvSpPr/>
          <p:nvPr/>
        </p:nvSpPr>
        <p:spPr>
          <a:xfrm>
            <a:off x="3174797"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Carnegie portrait and the Standard Oil “Next!” cartoon, build the strongest case for ONE label — “robber baron” OR “captain of industry” — for a Gilded Age titan. Cite at least two specific actions as evidence.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Marceau, New York (photographer), c. 1913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Marceau, New York (photographer), c. 1913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position card with claim + two pieces of evidence.</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evidence bank provided. EXTENSION: argue the opposite label, then decide which case is stronger.</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US.05: Inventions &amp; Innovators of the Industrial Age</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Carnegie’s philosophy, because it displays wealth publicly to impress others.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opposite of Carnegie’s view, because he insisted fortunes pass to children.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opposite of Carnegie’s view, because he opposed all charitable giving.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Carnegie’s “Gospel of Wealth,” because surplus wealth is used as a trust to benefit society.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Carnegie’s philosophy, because it displays wealth publicly to impress others.</a:t>
            </a:r>
            <a:endParaRPr lang="en-US" sz="1300" dirty="0"/>
          </a:p>
        </p:txBody>
      </p:sp>
      <p:sp>
        <p:nvSpPr>
          <p:cNvPr id="13" name="Text 11"/>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A2332"/>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opposite of Carnegie’s view, because he insisted fortunes pass to children.</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A2332"/>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opposite of Carnegie’s view, because he opposed all charitable giving.</a:t>
            </a:r>
            <a:endParaRPr lang="en-US" sz="1300" dirty="0"/>
          </a:p>
        </p:txBody>
      </p:sp>
      <p:sp>
        <p:nvSpPr>
          <p:cNvPr id="22" name="Shape 20"/>
          <p:cNvSpPr/>
          <p:nvPr/>
        </p:nvSpPr>
        <p:spPr>
          <a:xfrm>
            <a:off x="548640" y="4626864"/>
            <a:ext cx="11064240" cy="566928"/>
          </a:xfrm>
          <a:prstGeom prst="roundRect">
            <a:avLst>
              <a:gd name="adj" fmla="val 9677"/>
            </a:avLst>
          </a:prstGeom>
          <a:solidFill>
            <a:srgbClr val="C9A84C"/>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Carnegie’s “Gospel of Wealth,” because surplus wealth is used as a trust to benefit society.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2: Students apply the source to a new case. Carnegie argued the rich should live modestly and administer surplus wealth "as trust funds" for the public good — funding libraries is a textbook example of his Gospel of Wealth.</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Technological Innovations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Industrial Titans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African American Entrepreneurs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Evaluate the “Gospel of Wealth”: does large-scale philanthropy justify how the fortune was earned? Defend your judgment with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Was a figure like Rockefeller a “robber baron” or a “captain of industry”? Take a position and cite ONE piece of evidence.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Industrial Centers and Urbanization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Locate the following major industrial centers, and describe how industrialization influenced the movement of people from rural to urban areas: Boston, Chicago, New York City, Pittsburgh, San Francisco.</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p/>
        </p:txBody>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locate major industrial centers and describe how industrialization influenced the movement of people from rural to urban areas.</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Explain vertical vs. horizontal integration in one sentence each.</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Carnegie’s “Gospel of Wealth”?</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word means the fast growth of cities as people move in?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Urbanization.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Chicago went from 30,000 people to over 1,000,000 in just 40 years.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What does a city need to grow that fast — and what problems would explode along with the population? Brainstorm three of each.</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Major Industrial Centers</a:t>
            </a:r>
            <a:endParaRPr lang="en-US" sz="3000" dirty="0"/>
          </a:p>
        </p:txBody>
      </p:sp>
      <p:sp>
        <p:nvSpPr>
          <p:cNvPr id="5" name="Shape 3"/>
          <p:cNvSpPr/>
          <p:nvPr/>
        </p:nvSpPr>
        <p:spPr>
          <a:xfrm>
            <a:off x="10765231" y="502920"/>
            <a:ext cx="146304" cy="146304"/>
          </a:xfrm>
          <a:prstGeom prst="ellipse">
            <a:avLst/>
          </a:prstGeom>
          <a:solidFill>
            <a:srgbClr val="C62828"/>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Industrialization concentrated in cities with geographic advantages.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Pittsburgh became the steel capital due to access to coal, iron ore, and rivers.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Chicago emerged as a railroad hub and meatpacking center.</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 York City dominated finance and trade through its port.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Boston led in textiles and manufacturing.</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San Francisco served as the gateway to Pacific trade and western resources.</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Cities grew rapidly because ________, which created the problem of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5" name="Image 0" descr="Henry Gannett / U.S. Census Office, 1898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7" name="Shape 14"/>
          <p:cNvSpPr/>
          <p:nvPr/>
        </p:nvSpPr>
        <p:spPr>
          <a:xfrm>
            <a:off x="7589520" y="5440680"/>
            <a:ext cx="4069080" cy="713232"/>
          </a:xfrm>
          <a:prstGeom prst="roundRect">
            <a:avLst>
              <a:gd name="adj" fmla="val 7692"/>
            </a:avLst>
          </a:prstGeom>
          <a:solidFill>
            <a:srgbClr val="1A2332"/>
          </a:solidFill>
          <a:ln/>
        </p:spPr>
        <p:txBody>
          <a:bodyPr/>
          <a:p/>
        </p:txBody>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Rural-to-Urban Migration</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C62828"/>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Industrialization drew millions from farms to cities seeking factory jobs.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promise of wages attracted both native-born Americans and immigrants.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Cities grew explosively—Chicago's population increased from 30,000 in 1850 to over 1 million by 1890.</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rapid growth created overcrowded tenements, inadequate sanitation, and new social challenges.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Geographic Factors in Industrial Location</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C62828"/>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Industries located based on access to raw materials, transportation, markets, and labor.</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Steel mills clustered near coal and iron deposits.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Textile mills used water power and later concentrated near ports for cotton imports.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Meatpacking centered in Chicago due to railroad connections to cattle ranges and eastern markets.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patterns shaped regional development for generations.</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Henry Gannett / U.S. Census Office, 1898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5394960" cy="868680"/>
          </a:xfrm>
          <a:prstGeom prst="rect">
            <a:avLst/>
          </a:prstGeom>
          <a:solidFill>
            <a:srgbClr val="1A2332"/>
          </a:solidFill>
          <a:ln/>
        </p:spPr>
        <p:txBody>
          <a:bodyPr/>
          <a:p/>
        </p:txBody>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Samuel Gompers</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Union Leader · Cigar Maker</a:t>
            </a:r>
            <a:endParaRPr lang="en-US" sz="1100" dirty="0"/>
          </a:p>
        </p:txBody>
      </p:sp>
      <p:sp>
        <p:nvSpPr>
          <p:cNvPr id="9" name="Text 7"/>
          <p:cNvSpPr/>
          <p:nvPr/>
        </p:nvSpPr>
        <p:spPr>
          <a:xfrm>
            <a:off x="69494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American Federation of Labor (AFL)</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Served as AFL President for 37 years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Pioneered "bread and butter" unionism focusing on wages and hours</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txBody>
          <a:bodyPr/>
          <a:p/>
        </p:txBody>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Skilled-craft unionism (AFL)</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txBody>
          <a:bodyPr/>
          <a:p/>
        </p:txBody>
      </p:sp>
      <p:sp>
        <p:nvSpPr>
          <p:cNvPr id="13" name="Shape 11"/>
          <p:cNvSpPr/>
          <p:nvPr/>
        </p:nvSpPr>
        <p:spPr>
          <a:xfrm>
            <a:off x="6217920" y="1627632"/>
            <a:ext cx="5394960" cy="868680"/>
          </a:xfrm>
          <a:prstGeom prst="rect">
            <a:avLst/>
          </a:prstGeom>
          <a:solidFill>
            <a:srgbClr val="1A2332"/>
          </a:solidFill>
          <a:ln/>
        </p:spPr>
        <p:txBody>
          <a:bodyPr/>
          <a:p/>
        </p:txBody>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Eugene V. Debs</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Organizer · Socialist Leader</a:t>
            </a:r>
            <a:endParaRPr lang="en-US" sz="1100" dirty="0"/>
          </a:p>
        </p:txBody>
      </p:sp>
      <p:sp>
        <p:nvSpPr>
          <p:cNvPr id="16" name="Text 14"/>
          <p:cNvSpPr/>
          <p:nvPr/>
        </p:nvSpPr>
        <p:spPr>
          <a:xfrm>
            <a:off x="636422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American Railway Union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Pullman Strike of 1894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Industrial Workers of the World (IWW)</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txBody>
          <a:bodyPr/>
          <a:p/>
        </p:txBody>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Industrial unionism / socialism</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US.06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How the Other Half Lives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Jacob Riis  ·  1890</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Jacob Riis  ·  1890">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Jacob A. Riis,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84C"/>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"In the tenements all the influences make for evil; because they are the hot-beds of the epidemics that carry death to rich and poor alike; the nurseries of pauperism and crime that fill our jails and police courts; that throw off a scum of forty thousand human wrecks to the island asylums and workhouses year by year."</a:t>
            </a:r>
            <a:endParaRPr lang="en-US" sz="1250" dirty="0"/>
          </a:p>
        </p:txBody>
      </p:sp>
      <p:sp>
        <p:nvSpPr>
          <p:cNvPr id="16" name="Shape 13"/>
          <p:cNvSpPr/>
          <p:nvPr/>
        </p:nvSpPr>
        <p:spPr>
          <a:xfrm>
            <a:off x="7589520" y="1737360"/>
            <a:ext cx="4023360" cy="1783080"/>
          </a:xfrm>
          <a:prstGeom prst="roundRect">
            <a:avLst>
              <a:gd name="adj" fmla="val 4103"/>
            </a:avLst>
          </a:prstGeom>
          <a:solidFill>
            <a:srgbClr val="1A2332"/>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By 1890, millions of immigrants — primarily from Southern and Eastern Europe — had poured into American cities to work in factories, mines, and mills. In cities like New York, Chicago, and Pittsburgh, the poor were crowded into tenement buildings: dark, airless apartment buildings with shared toilets, no running water, and extreme overcrowding. Jacob Riis, a Danish immigrant himself who had experienced poverty firsthand, used the new technology of flash photography to document conditions in New York's Lower East Side slums. 'How the Other Half Lives' shocked middle-class readers and helped spark the progressive reform movement.</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84C"/>
          </a:solidFill>
          <a:ln/>
        </p:spPr>
        <p:txBody>
          <a:bodyPr/>
          <a:p/>
        </p:txBody>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Jacob Riis characterize living conditions in tenements?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Jacob Riis, reformer-photographer (How the Other Half Lives).</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1890.</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Riis wanted to shock readers into reform — weigh that purpose against the image.</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Urbanization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ur-bun-ih-ZAY-shun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Urbanización</a:t>
            </a:r>
            <a:endParaRPr lang="en-US" sz="10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 growth of cities due to industrialization and mass migration, transforming America from a predominantly rural to urban society.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4" name="Shape 12"/>
          <p:cNvSpPr/>
          <p:nvPr/>
        </p:nvSpPr>
        <p:spPr>
          <a:xfrm>
            <a:off x="6263640" y="1645920"/>
            <a:ext cx="5486400" cy="676656"/>
          </a:xfrm>
          <a:prstGeom prst="rect">
            <a:avLst/>
          </a:prstGeom>
          <a:solidFill>
            <a:srgbClr val="1A2332"/>
          </a:solidFill>
          <a:ln/>
        </p:spPr>
        <p:txBody>
          <a:bodyPr/>
          <a:p/>
        </p:txBody>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Granger Movement</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Granger</a:t>
            </a:r>
            <a:endParaRPr lang="en-US" sz="1000" dirty="0"/>
          </a:p>
        </p:txBody>
      </p:sp>
      <p:sp>
        <p:nvSpPr>
          <p:cNvPr id="19" name="Text 17"/>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farmers' organization founded in 1867 that advocated for railroad regulation and fought against monopolistic practices that harmed farmers through high shipping rates.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A2332"/>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Populism</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Populismo</a:t>
            </a:r>
            <a:endParaRPr lang="en-US" sz="1000" dirty="0"/>
          </a:p>
        </p:txBody>
      </p:sp>
      <p:sp>
        <p:nvSpPr>
          <p:cNvPr id="26" name="Text 24"/>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movement in the 1890s representing farmers and workers who sought government regulation of railroads, graduated income tax, and the free coinage of silver to combat economic inequality.</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A2332"/>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Commerce Act</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Comercio Interestatal</a:t>
            </a:r>
            <a:endParaRPr lang="en-US" sz="1000" dirty="0"/>
          </a:p>
        </p:txBody>
      </p:sp>
      <p:sp>
        <p:nvSpPr>
          <p:cNvPr id="33" name="Text 31"/>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1887 federal law that created the Interstate Commerce Commission to regulate railroad rates and practices, representing the first federal regulatory agency.</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5" name="Shape 33"/>
          <p:cNvSpPr/>
          <p:nvPr/>
        </p:nvSpPr>
        <p:spPr>
          <a:xfrm>
            <a:off x="548640" y="4498848"/>
            <a:ext cx="5486400" cy="676656"/>
          </a:xfrm>
          <a:prstGeom prst="rect">
            <a:avLst/>
          </a:prstGeom>
          <a:solidFill>
            <a:srgbClr val="1A2332"/>
          </a:solidFill>
          <a:ln/>
        </p:spPr>
        <p:txBody>
          <a:bodyPr/>
          <a:p/>
        </p:txBody>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Tenement</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TEN-uh-ment</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Vivienda de Vecindad</a:t>
            </a:r>
            <a:endParaRPr lang="en-US" sz="1000" dirty="0"/>
          </a:p>
        </p:txBody>
      </p:sp>
      <p:sp>
        <p:nvSpPr>
          <p:cNvPr id="41" name="Text 39"/>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crowded, often unsafe urban apartment building where many poor and immigrant families lived during rapid industrial-era city growth.</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A2332"/>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Industrialization</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Industrialización</a:t>
            </a:r>
            <a:endParaRPr lang="en-US" sz="1000" dirty="0"/>
          </a:p>
        </p:txBody>
      </p:sp>
      <p:sp>
        <p:nvSpPr>
          <p:cNvPr id="48" name="Text 46"/>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shift from an economy based on farming and handcraft to one based on large factories, machines, and mass production.</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 problem (urbanization)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Connect ONE cause of rapid city growth to ONE problem it created.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CAUSE: Factory jobs pulled rural Americans and immigrants into cities like Chicago.  →  PROBLEM: Housing could not keep up, so families crowded into unsafe tenements with no clean water.</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me link, not list: I do not just name "overcrowding" — I show the cause that produced it. The arrow is the thinking.</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build two more cause→problem links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Mapping the Industrial City</a:t>
            </a:r>
            <a:endParaRPr lang="en-US" sz="2700" dirty="0"/>
          </a:p>
        </p:txBody>
      </p:sp>
      <p:sp>
        <p:nvSpPr>
          <p:cNvPr id="5" name="Shape 3"/>
          <p:cNvSpPr/>
          <p:nvPr/>
        </p:nvSpPr>
        <p:spPr>
          <a:xfrm>
            <a:off x="548640" y="1481328"/>
            <a:ext cx="694944" cy="365760"/>
          </a:xfrm>
          <a:prstGeom prst="roundRect">
            <a:avLst>
              <a:gd name="adj" fmla="val 20000"/>
            </a:avLst>
          </a:prstGeom>
          <a:solidFill>
            <a:srgbClr val="1A2332"/>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779069" cy="365760"/>
          </a:xfrm>
          <a:prstGeom prst="roundRect">
            <a:avLst>
              <a:gd name="adj" fmla="val 20000"/>
            </a:avLst>
          </a:prstGeom>
          <a:solidFill>
            <a:srgbClr val="1A2332"/>
          </a:solidFill>
          <a:ln/>
        </p:spPr>
        <p:txBody>
          <a:bodyPr/>
          <a:p/>
        </p:txBody>
      </p:sp>
      <p:sp>
        <p:nvSpPr>
          <p:cNvPr id="8" name="Text 6"/>
          <p:cNvSpPr/>
          <p:nvPr/>
        </p:nvSpPr>
        <p:spPr>
          <a:xfrm>
            <a:off x="1408176"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1890 wage-earners and foreign-born maps, identify the regions where industry and immigration concentrated. Predict THREE problems a city would face when its population multiplies in 40 years, and THREE things it needs to grow.</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Henry Gannett / U.S. Census Office, 1898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Map-annotation chart: needs vs. problems.</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labeled map regions provided. EXTENSION: explain the correlation between manufacturing density and foreign-born population.</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US.06: Industrialization &amp; Urbanization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does this folk saying reveal about the immigrant experience in America?</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Immigrants found immediate wealth and success.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Reality fell far short of expectations, and immigrants faced hard labor.</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American cities were well-developed and welcoming.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Immigrants were given skilled professional jobs.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does this folk saying reveal about the immigrant experience in America?</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Immigrants found immediate wealth and success.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3A475E"/>
            </a:solidFill>
            <a:prstDash val="solid"/>
          </a:ln>
        </p:spPr>
        <p:txBody>
          <a:bodyPr/>
          <a:p/>
        </p:txBody>
      </p:sp>
      <p:sp>
        <p:nvSpPr>
          <p:cNvPr id="14" name="Shape 12"/>
          <p:cNvSpPr/>
          <p:nvPr/>
        </p:nvSpPr>
        <p:spPr>
          <a:xfrm>
            <a:off x="713232" y="3419856"/>
            <a:ext cx="347472" cy="347472"/>
          </a:xfrm>
          <a:prstGeom prst="ellipse">
            <a:avLst/>
          </a:prstGeom>
          <a:solidFill>
            <a:srgbClr val="1A2332"/>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Reality fell far short of expectations, and immigrants faced hard labor.</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8" name="Shape 16"/>
          <p:cNvSpPr/>
          <p:nvPr/>
        </p:nvSpPr>
        <p:spPr>
          <a:xfrm>
            <a:off x="713232" y="4078224"/>
            <a:ext cx="347472" cy="347472"/>
          </a:xfrm>
          <a:prstGeom prst="ellipse">
            <a:avLst/>
          </a:prstGeom>
          <a:solidFill>
            <a:srgbClr val="1A2332"/>
          </a:solidFill>
          <a:ln/>
        </p:spPr>
        <p:txBody>
          <a:bodyPr/>
          <a:p/>
        </p:txBody>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American cities were well-developed and welcoming.</a:t>
            </a:r>
            <a:endParaRPr lang="en-US" sz="1300" dirty="0"/>
          </a:p>
        </p:txBody>
      </p:sp>
      <p:sp>
        <p:nvSpPr>
          <p:cNvPr id="21" name="Text 19"/>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Immigrants were given skilled professional jobs.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letter contrasts the dream of "streets paved with gold" with the reality of unpaved streets that immigrants themselves "were expected to pave," highlighting difficult conditions.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Industrial Centers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Rural-to-Urban Migration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Geographic Factors in Industrial Location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who bore the greatest cost of rapid urbanization — immigrants, workers, or city governments? Defend with TWO pieces of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ONE cause of rapid urbanization AND ONE problem it created in cities.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Immigration: Old vs. New Immigrants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84C"/>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6812280" y="3108960"/>
            <a:ext cx="1078992" cy="292608"/>
          </a:xfrm>
          <a:prstGeom prst="roundRect">
            <a:avLst>
              <a:gd name="adj" fmla="val 18750"/>
            </a:avLst>
          </a:prstGeom>
          <a:solidFill>
            <a:srgbClr val="C9A84C"/>
          </a:solidFill>
          <a:ln/>
        </p:spPr>
        <p:txBody>
          <a:bodyPr/>
          <a:p/>
        </p:txBody>
      </p:sp>
      <p:sp>
        <p:nvSpPr>
          <p:cNvPr id="24" name="Text 22"/>
          <p:cNvSpPr/>
          <p:nvPr/>
        </p:nvSpPr>
        <p:spPr>
          <a:xfrm>
            <a:off x="6812280" y="310896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25" name="Text 23"/>
          <p:cNvSpPr/>
          <p:nvPr/>
        </p:nvSpPr>
        <p:spPr>
          <a:xfrm>
            <a:off x="7973568" y="310896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6" name="Shape 24"/>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7" name="Text 25"/>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8" name="Text 26"/>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differences between "old" and "new" immigrants, analyze the assimilation process for "new" immigrants, and determine the impacts of increased migration on American society, including: Angel Island, Ellis Island, Push and pull factors, Ethnic clusters, Jane Addams, Competition for jobs, Rise of nativism, Jacob Riis, Chinese Exclusion Act and Gentleman's Agreement.</a:t>
            </a:r>
            <a:endParaRPr lang="en-US" sz="1150" dirty="0"/>
          </a:p>
        </p:txBody>
      </p:sp>
      <p:sp>
        <p:nvSpPr>
          <p:cNvPr id="29" name="Shape 27"/>
          <p:cNvSpPr/>
          <p:nvPr/>
        </p:nvSpPr>
        <p:spPr>
          <a:xfrm>
            <a:off x="914400" y="5120640"/>
            <a:ext cx="10332720" cy="1188720"/>
          </a:xfrm>
          <a:prstGeom prst="roundRect">
            <a:avLst>
              <a:gd name="adj" fmla="val 6154"/>
            </a:avLst>
          </a:prstGeom>
          <a:solidFill>
            <a:srgbClr val="C9A84C"/>
          </a:solidFill>
          <a:ln/>
        </p:spPr>
        <p:txBody>
          <a:bodyPr/>
          <a:p/>
        </p:txBody>
      </p:sp>
      <p:sp>
        <p:nvSpPr>
          <p:cNvPr id="30" name="Text 28"/>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31" name="Text 29"/>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differences between "old" and "new" immigrants; explain entry points (Ellis Island and Angel Island), push and pull factors, and the formation of ethnic clusters; and analyze nativism and restrictions such as the Chinese Exclusion Act and the Gentlemen’s Agreement on American society.</a:t>
            </a:r>
            <a:endParaRPr lang="en-US" sz="1150" dirty="0"/>
          </a:p>
        </p:txBody>
      </p:sp>
      <p:sp>
        <p:nvSpPr>
          <p:cNvPr id="32" name="Text 3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A2332"/>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Why did cities grow so fast during industrialization?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A2332"/>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US.06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 tenement?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TRUE or FALSE: “New” immigrants (1880–1920) came mostly from southern &amp; eastern Europe.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TRUE — plus Asia; “old” immigrants came earlier from N./W. Europe.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Between 1880 and 1920, more than 20 million immigrants arrived in the United States.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do people leave everything behind to start over in a new country? And why might native-born Americans react with fear? We will see both sides today.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Old and New Immigrants</a:t>
            </a:r>
            <a:endParaRPr lang="en-US" sz="3000" dirty="0"/>
          </a:p>
        </p:txBody>
      </p:sp>
      <p:sp>
        <p:nvSpPr>
          <p:cNvPr id="5" name="Shape 3"/>
          <p:cNvSpPr/>
          <p:nvPr/>
        </p:nvSpPr>
        <p:spPr>
          <a:xfrm>
            <a:off x="10472623" y="502920"/>
            <a:ext cx="146304" cy="146304"/>
          </a:xfrm>
          <a:prstGeom prst="ellipse">
            <a:avLst/>
          </a:prstGeom>
          <a:solidFill>
            <a:srgbClr val="C62828"/>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"Old" immigrants (pre-1880) came primarily from Northern and Western Europe—Britain, Ireland, Germany, Scandinavia.</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often spoke English or related languages and were predominantly Protestant.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 immigrants (1880-1920) came from Southern and Eastern Europe—Italy, Poland, Russia, Greece—as well as Asia.</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brought different languages, religions (Catholic, Orthodox, Jewish), and customs that many Americans viewed with suspicion.</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“New” immigrants came to the U.S. because ________, but some native-born Americans reacted with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Detroit Publishing Company, c. 1910–1920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Detroit Publishing Company, c. 1910–1920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Entry Points and the Assimilation Process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C62828"/>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Ellis Island in New York Harbor processed millions of European immigrants, while Angel Island in San Francisco served Asian immigrants with far more restrictive procedures.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New immigrants faced difficult assimilation: language barriers, discrimination, and unfamiliar customs.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Jane Addams's Hull House in Chicago pioneered settlement houses that helped immigrants learn English, navigate American systems, and maintain cultural connections.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Push and Pull Factors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C62828"/>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Push factors drove people from their homelands: religious persecution (especially of Jews in Russia), poverty, political upheaval, and lack of opportunity.</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Pull factors attracted them to America: economic opportunity, religious freedom, land availability, and established immigrant communities.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Letters from successful immigrants encouraged others to follow.</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Nativism and Restriction</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C62828"/>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rise of nativism—hostility toward immigrants—led to restrictive legislation.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Chinese Exclusion Act of 1882 banned Chinese immigration for ten years (repeatedly renewed until 1943).</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Gentleman's Agreement of 1907 limited Japanese immigration.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Jacob Riis's photographs and writings, including "How the Other Half Lives," exposed immigrant living conditions, prompting both sympathy and nativist fears.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11064240" cy="868680"/>
          </a:xfrm>
          <a:prstGeom prst="rect">
            <a:avLst/>
          </a:prstGeom>
          <a:solidFill>
            <a:srgbClr val="1A2332"/>
          </a:solidFill>
          <a:ln/>
        </p:spPr>
        <p:txBody>
          <a:bodyPr/>
          <a:p/>
        </p:txBody>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Jane Addams</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Social Worker · Settlement House Founder</a:t>
            </a:r>
            <a:endParaRPr lang="en-US" sz="1100" dirty="0"/>
          </a:p>
        </p:txBody>
      </p:sp>
      <p:sp>
        <p:nvSpPr>
          <p:cNvPr id="9" name="Text 7"/>
          <p:cNvSpPr/>
          <p:nvPr/>
        </p:nvSpPr>
        <p:spPr>
          <a:xfrm>
            <a:off x="694944" y="2606040"/>
            <a:ext cx="1077163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Hull House, the most influential settlement house in America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American woman to win the Nobel Peace Prize (1931)</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Women's International League for Peace and Freedom</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p/>
        </p:txBody>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Settlement-house reform</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US.07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Chinese Exclusion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May 6, 1882 (22 Stat. 58)</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84C"/>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"The coming of Chinese laborers to this country endangers the good order of certain localities within the territory thereof: Therefore... the coming of Chinese laborers to the United States be, and the same is hereby, suspended; and during such suspension it shall not be lawful for any Chinese laborer to come, or having so come after the expiration of said ninety days, to remain within the United States."</a:t>
            </a:r>
            <a:endParaRPr lang="en-US" sz="1300" dirty="0"/>
          </a:p>
        </p:txBody>
      </p:sp>
      <p:sp>
        <p:nvSpPr>
          <p:cNvPr id="11" name="Shape 9"/>
          <p:cNvSpPr/>
          <p:nvPr/>
        </p:nvSpPr>
        <p:spPr>
          <a:xfrm>
            <a:off x="7589520" y="1737360"/>
            <a:ext cx="4023360" cy="1783080"/>
          </a:xfrm>
          <a:prstGeom prst="roundRect">
            <a:avLst>
              <a:gd name="adj" fmla="val 4103"/>
            </a:avLst>
          </a:prstGeom>
          <a:solidFill>
            <a:srgbClr val="1A2332"/>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Chinese immigrants had played an essential role in building the transcontinental railroad and developing the American West, yet they faced intense racial hostility from white workers and politicians. Anti-Chinese riots broke out in cities across the West, and nativist groups pressured Congress to restrict Chinese immigration. The Chinese Exclusion Act of 1882 was the first major federal law to restrict immigration based on race and nationality, banning Chinese laborers from entering the country and barring Chinese immigrants from ever becoming U.S. citizens. It would not be fully repealed until 1943.</a:t>
            </a:r>
            <a:endParaRPr lang="en-US" sz="850" dirty="0"/>
          </a:p>
        </p:txBody>
      </p:sp>
      <p:sp>
        <p:nvSpPr>
          <p:cNvPr id="14" name="Shape 12"/>
          <p:cNvSpPr/>
          <p:nvPr/>
        </p:nvSpPr>
        <p:spPr>
          <a:xfrm>
            <a:off x="7589520" y="3703320"/>
            <a:ext cx="4023360" cy="1280160"/>
          </a:xfrm>
          <a:prstGeom prst="roundRect">
            <a:avLst>
              <a:gd name="adj" fmla="val 5714"/>
            </a:avLst>
          </a:prstGeom>
          <a:solidFill>
            <a:srgbClr val="C9A84C"/>
          </a:solidFill>
          <a:ln/>
        </p:spPr>
        <p:txBody>
          <a:bodyPr/>
          <a:p/>
        </p:txBody>
      </p:sp>
      <p:sp>
        <p:nvSpPr>
          <p:cNvPr id="15" name="Text 13"/>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was the stated justification for the Chinese Exclusion Act?</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Chinese Exclusion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1882.</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first U.S. law to bar an entire nationality — ask whose fears it answered.</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A2332"/>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Old Immigrants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Viejos Inmigrantes</a:t>
            </a:r>
            <a:endParaRPr lang="en-US" sz="1000" dirty="0"/>
          </a:p>
        </p:txBody>
      </p:sp>
      <p:sp>
        <p:nvSpPr>
          <p:cNvPr id="11" name="Text 9"/>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Immigrants who came to the United States primarily from Northern and Western Europe (England, Ireland, Germany, Scandinavia) before 1880, often Protestant and more easily assimilated.</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A2332"/>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Immigrants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Nuevos Inmigrantes</a:t>
            </a:r>
            <a:endParaRPr lang="en-US" sz="1000" dirty="0"/>
          </a:p>
        </p:txBody>
      </p:sp>
      <p:sp>
        <p:nvSpPr>
          <p:cNvPr id="18" name="Text 16"/>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Immigrants who came to the United States primarily from Southern and Eastern Europe (Italy, Poland, Russia) and Asia after 1880, often Catholic, Jewish, or Orthodox Christian, facing greater discrimination.</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A2332"/>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Ellis Island</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Isla Ellis</a:t>
            </a:r>
            <a:endParaRPr lang="en-US" sz="1000" dirty="0"/>
          </a:p>
        </p:txBody>
      </p:sp>
      <p:sp>
        <p:nvSpPr>
          <p:cNvPr id="25" name="Text 23"/>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primary immigration processing station in New York Harbor from 1892 to 1954, where over 12 million immigrants entered the United States, primarily from Europe.</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7" name="Shape 25"/>
          <p:cNvSpPr/>
          <p:nvPr/>
        </p:nvSpPr>
        <p:spPr>
          <a:xfrm>
            <a:off x="6263640" y="3072384"/>
            <a:ext cx="5486400" cy="676656"/>
          </a:xfrm>
          <a:prstGeom prst="rect">
            <a:avLst/>
          </a:prstGeom>
          <a:solidFill>
            <a:srgbClr val="1A2332"/>
          </a:solidFill>
          <a:ln/>
        </p:spPr>
        <p:txBody>
          <a:bodyPr/>
          <a:p/>
        </p:txBody>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Angel Island</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Isla Ángel</a:t>
            </a:r>
            <a:endParaRPr lang="en-US" sz="1000" dirty="0"/>
          </a:p>
        </p:txBody>
      </p:sp>
      <p:sp>
        <p:nvSpPr>
          <p:cNvPr id="32" name="Text 30"/>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immigration station in San Francisco Bay from 1910 to 1940 that primarily processed Asian immigrants, especially Chinese, who faced lengthy detentions and harsh interrogations.</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4" name="Shape 32"/>
          <p:cNvSpPr/>
          <p:nvPr/>
        </p:nvSpPr>
        <p:spPr>
          <a:xfrm>
            <a:off x="548640" y="4498848"/>
            <a:ext cx="5486400" cy="676656"/>
          </a:xfrm>
          <a:prstGeom prst="rect">
            <a:avLst/>
          </a:prstGeom>
          <a:solidFill>
            <a:srgbClr val="1A2332"/>
          </a:solidFill>
          <a:ln/>
        </p:spPr>
        <p:txBody>
          <a:bodyPr/>
          <a:p/>
        </p:txBody>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Push-Pull Factors</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Factores de Empuje y Atracción</a:t>
            </a:r>
            <a:endParaRPr lang="en-US" sz="1000" dirty="0"/>
          </a:p>
        </p:txBody>
      </p:sp>
      <p:sp>
        <p:nvSpPr>
          <p:cNvPr id="39" name="Text 37"/>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Push factors (poverty, persecution, lack of opportunity) drove people to leave their homelands, while pull factors (jobs, freedom, land) attracted them to America.</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1" name="Shape 39"/>
          <p:cNvSpPr/>
          <p:nvPr/>
        </p:nvSpPr>
        <p:spPr>
          <a:xfrm>
            <a:off x="6263640" y="4498848"/>
            <a:ext cx="5486400" cy="676656"/>
          </a:xfrm>
          <a:prstGeom prst="rect">
            <a:avLst/>
          </a:prstGeom>
          <a:solidFill>
            <a:srgbClr val="1A2332"/>
          </a:solidFill>
          <a:ln/>
        </p:spPr>
        <p:txBody>
          <a:bodyPr/>
          <a:p/>
        </p:txBody>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Ethnic Clusters</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Grupos Étnicos</a:t>
            </a:r>
            <a:endParaRPr lang="en-US" sz="1000" dirty="0"/>
          </a:p>
        </p:txBody>
      </p:sp>
      <p:sp>
        <p:nvSpPr>
          <p:cNvPr id="46" name="Text 44"/>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Neighborhoods where immigrants from the same country or region settled together, maintaining their language, culture, and traditions while adapting to American life.</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supports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across perspectives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Compare a "new" immigrant’s reason to come with a native-born reason to fear them.</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A2332"/>
                </a:solidFill>
                <a:latin typeface="Calibri" pitchFamily="34" charset="0"/>
                <a:ea typeface="Calibri" pitchFamily="34" charset="-122"/>
                <a:cs typeface="Calibri" pitchFamily="34" charset="-120"/>
              </a:rPr>
              <a:t>IMMIGRANT PUSH: Persecution and poverty in southern/eastern Europe and Asia drove millions to leave.  →  NATIVIST REACTION: Native-born workers feared job competition and prejudice, producing laws like the Chinese Exclusion Act (1882).</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Notice I give each side its own evidence and treat both as real historical viewpoints — historical empathy means I explain the fear without excusing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compare one more push factor with one nativist reaction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A2332"/>
                </a:solidFill>
                <a:latin typeface="Georgia" pitchFamily="34" charset="0"/>
                <a:ea typeface="Georgia" pitchFamily="34" charset="-122"/>
                <a:cs typeface="Georgia" pitchFamily="34" charset="-120"/>
              </a:rPr>
              <a:t>Two Sides of Immigration</a:t>
            </a:r>
            <a:endParaRPr lang="en-US" sz="2700" dirty="0"/>
          </a:p>
        </p:txBody>
      </p:sp>
      <p:sp>
        <p:nvSpPr>
          <p:cNvPr id="5" name="Shape 3"/>
          <p:cNvSpPr/>
          <p:nvPr/>
        </p:nvSpPr>
        <p:spPr>
          <a:xfrm>
            <a:off x="548640" y="1481328"/>
            <a:ext cx="1872691" cy="365760"/>
          </a:xfrm>
          <a:prstGeom prst="roundRect">
            <a:avLst>
              <a:gd name="adj" fmla="val 20000"/>
            </a:avLst>
          </a:prstGeom>
          <a:solidFill>
            <a:srgbClr val="1A2332"/>
          </a:solidFill>
          <a:ln/>
        </p:spPr>
        <p:txBody>
          <a:bodyPr/>
          <a:p/>
        </p:txBody>
      </p:sp>
      <p:sp>
        <p:nvSpPr>
          <p:cNvPr id="6" name="Text 4"/>
          <p:cNvSpPr/>
          <p:nvPr/>
        </p:nvSpPr>
        <p:spPr>
          <a:xfrm>
            <a:off x="548640" y="1481328"/>
            <a:ext cx="1872691"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 Whole class</a:t>
            </a:r>
            <a:endParaRPr lang="en-US" sz="1050" dirty="0"/>
          </a:p>
        </p:txBody>
      </p:sp>
      <p:sp>
        <p:nvSpPr>
          <p:cNvPr id="7" name="Shape 5"/>
          <p:cNvSpPr/>
          <p:nvPr/>
        </p:nvSpPr>
        <p:spPr>
          <a:xfrm>
            <a:off x="2585923" y="1481328"/>
            <a:ext cx="779069" cy="365760"/>
          </a:xfrm>
          <a:prstGeom prst="roundRect">
            <a:avLst>
              <a:gd name="adj" fmla="val 20000"/>
            </a:avLst>
          </a:prstGeom>
          <a:solidFill>
            <a:srgbClr val="1A2332"/>
          </a:solidFill>
          <a:ln/>
        </p:spPr>
        <p:txBody>
          <a:bodyPr/>
          <a:p/>
        </p:txBody>
      </p:sp>
      <p:sp>
        <p:nvSpPr>
          <p:cNvPr id="8" name="Text 6"/>
          <p:cNvSpPr/>
          <p:nvPr/>
        </p:nvSpPr>
        <p:spPr>
          <a:xfrm>
            <a:off x="2585923"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Examine Jacob Riis's “Five Cents a Spot” photograph and the Ellis Island inspection-room image. Write one sentence from the perspective of a new immigrant and one from a nativist worried about change. Then explain what Riis wanted viewers to FEEL and DO.</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Jacob A. Riis, 1889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Jacob A. Riis,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Two perspective sentences + a photographer's-purpose statement.</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sentence stems for both perspectives. EXTENSION: evaluate whether a staged photo is reliable evidence.</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US.07: Immigration &amp; Urbanization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According to Jane Addams, what was the philosophy behind Hull-House?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A2332"/>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different social classes depend on and can help each other.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A2332"/>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wealthy people should live separately from immigrants.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A2332"/>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immigrants should return to their home countries.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A2332"/>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government should provide all social services.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According to Jane Addams, what was the philosophy behind Hull-House?</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A2332"/>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different social classes depend on and can help each other.</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4" name="Shape 12"/>
          <p:cNvSpPr/>
          <p:nvPr/>
        </p:nvSpPr>
        <p:spPr>
          <a:xfrm>
            <a:off x="713232" y="3419856"/>
            <a:ext cx="347472" cy="347472"/>
          </a:xfrm>
          <a:prstGeom prst="ellipse">
            <a:avLst/>
          </a:prstGeom>
          <a:solidFill>
            <a:srgbClr val="1A2332"/>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That wealthy people should live separately from immigrants.</a:t>
            </a:r>
            <a:endParaRPr lang="en-US" sz="1300" dirty="0"/>
          </a:p>
        </p:txBody>
      </p:sp>
      <p:sp>
        <p:nvSpPr>
          <p:cNvPr id="17" name="Text 15"/>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A2332"/>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immigrants should return to their home countries.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A2332"/>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government should provide all social services.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Addams states Hull-House operated on "the theory that the dependence of classes on each other is reciprocal," emphasizing mutual benefit.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US.07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Old and New Immigrants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Entry Points and the Assimilation Process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Push and Pull Factors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Nativism and Restriction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Construct an argument: was the Chinese Exclusion Act an economic policy or a racial one? Use specific evidence to defend your claim.</a:t>
            </a:r>
            <a:endParaRPr lang="en-US" sz="12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a PUSH factor for a “new” immigrant with a reason native-born Americans reacted with nativism. Which surprises you more and why?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84C"/>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84C"/>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5661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5661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REACHED — AND LEFT OUT</a:t>
            </a:r>
          </a:p>
        </p:txBody>
      </p:sp>
      <p:sp>
        <p:nvSpPr>
          <p:cNvPr id="4" name="TextBox 3"/>
          <p:cNvSpPr txBox="1"/>
          <p:nvPr/>
        </p:nvSpPr>
        <p:spPr>
          <a:xfrm>
            <a:off x="457200" y="822960"/>
            <a:ext cx="11247120" cy="594360"/>
          </a:xfrm>
          <a:prstGeom prst="rect">
            <a:avLst/>
          </a:prstGeom>
          <a:noFill/>
        </p:spPr>
        <p:txBody>
          <a:bodyPr wrap="square" anchor="t" lIns="0" rIns="0" tIns="0" bIns="0">
            <a:spAutoFit/>
          </a:bodyPr>
          <a:lstStyle/>
          <a:p>
            <a:pPr algn="l">
              <a:spcBef>
                <a:spcPts val="0"/>
              </a:spcBef>
              <a:spcAft>
                <a:spcPts val="200"/>
              </a:spcAft>
            </a:pPr>
            <a:r>
              <a:rPr sz="2200" b="1">
                <a:solidFill>
                  <a:srgbClr val="FFFFFF"/>
                </a:solidFill>
                <a:latin typeface="Georgia"/>
              </a:rPr>
              <a:t>Whose story the industrial era told — and who paid its costs</a:t>
            </a:r>
          </a:p>
        </p:txBody>
      </p:sp>
      <p:sp>
        <p:nvSpPr>
          <p:cNvPr id="5" name="TextBox 4"/>
          <p:cNvSpPr txBox="1"/>
          <p:nvPr/>
        </p:nvSpPr>
        <p:spPr>
          <a:xfrm>
            <a:off x="457200" y="1417320"/>
            <a:ext cx="11247120" cy="457200"/>
          </a:xfrm>
          <a:prstGeom prst="rect">
            <a:avLst/>
          </a:prstGeom>
          <a:noFill/>
        </p:spPr>
        <p:txBody>
          <a:bodyPr wrap="square" anchor="t" lIns="0" rIns="0" tIns="0" bIns="0">
            <a:spAutoFit/>
          </a:bodyPr>
          <a:lstStyle/>
          <a:p>
            <a:pPr algn="l">
              <a:spcBef>
                <a:spcPts val="0"/>
              </a:spcBef>
              <a:spcAft>
                <a:spcPts val="200"/>
              </a:spcAft>
            </a:pPr>
            <a:r>
              <a:rPr sz="1300" b="0">
                <a:solidFill>
                  <a:srgbClr val="C7D4E0"/>
                </a:solidFill>
                <a:latin typeface="Georgia"/>
              </a:rPr>
              <a:t>History Hack-authored synthesis grounded in this unit’s sourced record — read across the standards, not around them.</a:t>
            </a:r>
          </a:p>
        </p:txBody>
      </p:sp>
      <p:sp>
        <p:nvSpPr>
          <p:cNvPr id="6" name="Rectangle 5"/>
          <p:cNvSpPr/>
          <p:nvPr/>
        </p:nvSpPr>
        <p:spPr>
          <a:xfrm>
            <a:off x="45720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2606040" cy="64008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American Indian Nations</a:t>
            </a:r>
          </a:p>
        </p:txBody>
      </p:sp>
      <p:sp>
        <p:nvSpPr>
          <p:cNvPr id="9" name="TextBox 8"/>
          <p:cNvSpPr txBox="1"/>
          <p:nvPr/>
        </p:nvSpPr>
        <p:spPr>
          <a:xfrm>
            <a:off x="56692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Westward expansion and the railroad (US.01) crossed treaty lands; reservation, assimilation, boarding-school, and Dawes Act policy (US.02) cut tribal holdings from 138 to 48 million acres by 1934.</a:t>
            </a:r>
          </a:p>
        </p:txBody>
      </p:sp>
      <p:sp>
        <p:nvSpPr>
          <p:cNvPr id="10" name="Rectangle 9"/>
          <p:cNvSpPr/>
          <p:nvPr/>
        </p:nvSpPr>
        <p:spPr>
          <a:xfrm>
            <a:off x="333756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965960"/>
            <a:ext cx="2606040" cy="64008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Chinese Laborers</a:t>
            </a:r>
          </a:p>
        </p:txBody>
      </p:sp>
      <p:sp>
        <p:nvSpPr>
          <p:cNvPr id="13" name="TextBox 12"/>
          <p:cNvSpPr txBox="1"/>
          <p:nvPr/>
        </p:nvSpPr>
        <p:spPr>
          <a:xfrm>
            <a:off x="344728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Chinese workers built the most dangerous stretches of the Central Pacific (US.01) yet faced wage discrimination and, in 1882, the first federal law to bar a nationality — the Chinese Exclusion Act (US.07).</a:t>
            </a:r>
          </a:p>
        </p:txBody>
      </p:sp>
      <p:sp>
        <p:nvSpPr>
          <p:cNvPr id="14" name="Rectangle 13"/>
          <p:cNvSpPr/>
          <p:nvPr/>
        </p:nvSpPr>
        <p:spPr>
          <a:xfrm>
            <a:off x="621792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65960"/>
            <a:ext cx="26060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African Americans</a:t>
            </a:r>
          </a:p>
        </p:txBody>
      </p:sp>
      <p:sp>
        <p:nvSpPr>
          <p:cNvPr id="17" name="TextBox 16"/>
          <p:cNvSpPr txBox="1"/>
          <p:nvPr/>
        </p:nvSpPr>
        <p:spPr>
          <a:xfrm>
            <a:off x="632764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Compromise of 1877 ended Reconstruction’s protections (US.03); the Exodusters fled to Kansas, and Madam C.J. Walker and George Washington Carver (US.05) built enterprise under Jim Crow.</a:t>
            </a:r>
          </a:p>
        </p:txBody>
      </p:sp>
      <p:sp>
        <p:nvSpPr>
          <p:cNvPr id="18" name="Rectangle 17"/>
          <p:cNvSpPr/>
          <p:nvPr/>
        </p:nvSpPr>
        <p:spPr>
          <a:xfrm>
            <a:off x="909828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280" y="1965960"/>
            <a:ext cx="2606040" cy="64008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New Immigrants &amp; Reformers</a:t>
            </a:r>
          </a:p>
        </p:txBody>
      </p:sp>
      <p:sp>
        <p:nvSpPr>
          <p:cNvPr id="21" name="TextBox 20"/>
          <p:cNvSpPr txBox="1"/>
          <p:nvPr/>
        </p:nvSpPr>
        <p:spPr>
          <a:xfrm>
            <a:off x="9208007"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Southern and Eastern European and Asian arrivals (US.07) met nativism and tenement poverty; reformers like Jane Addams at Hull-House organized mutual aid across classes.</a:t>
            </a:r>
          </a:p>
        </p:txBody>
      </p:sp>
      <p:sp>
        <p:nvSpPr>
          <p:cNvPr id="22" name="TextBox 21"/>
          <p:cNvSpPr txBox="1"/>
          <p:nvPr/>
        </p:nvSpPr>
        <p:spPr>
          <a:xfrm>
            <a:off x="457200" y="6053328"/>
            <a:ext cx="11247120" cy="320040"/>
          </a:xfrm>
          <a:prstGeom prst="rect">
            <a:avLst/>
          </a:prstGeom>
          <a:noFill/>
        </p:spPr>
        <p:txBody>
          <a:bodyPr wrap="square" anchor="t" lIns="0" rIns="0" tIns="0" bIns="0">
            <a:spAutoFit/>
          </a:bodyPr>
          <a:lstStyle/>
          <a:p>
            <a:pPr algn="l">
              <a:spcBef>
                <a:spcPts val="0"/>
              </a:spcBef>
              <a:spcAft>
                <a:spcPts val="200"/>
              </a:spcAft>
            </a:pPr>
            <a:r>
              <a:rPr sz="1000" b="0">
                <a:solidFill>
                  <a:srgbClr val="C7D4E0"/>
                </a:solidFill>
                <a:latin typeface="Trebuchet MS"/>
              </a:rPr>
              <a:t>Verified public-domain images and named Key-Figure entries for these histories are a pending content addition.</a:t>
            </a:r>
          </a:p>
        </p:txBody>
      </p:sp>
      <p:sp>
        <p:nvSpPr>
          <p:cNvPr id="23" name="TextBox 22"/>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4" name="TextBox 23"/>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110</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1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Rise of Industrialization (1877–1900) — from the open frontier to the crowded city: westward expansion, the Gilded Age, and a nation remade by immigration.</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What forces moved a nation off the land and into the factory? You can now answer with evidence — from the Homestead Act to the Chinese Exclusion Act.</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2 — Progressivism &amp; American Imperialism</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502920" y="274320"/>
            <a:ext cx="11185855" cy="365760"/>
          </a:xfrm>
          <a:prstGeom prst="rect">
            <a:avLst/>
          </a:prstGeom>
          <a:noFill/>
        </p:spPr>
        <p:txBody>
          <a:bodyPr wrap="square" anchor="t">
            <a:spAutoFit/>
          </a:bodyPr>
          <a:lstStyle/>
          <a:p>
            <a:pPr algn="l"/>
            <a:r>
              <a:rPr sz="1500" b="1" i="0">
                <a:solidFill>
                  <a:srgbClr val="C9A84C"/>
                </a:solidFill>
                <a:latin typeface="Calibri"/>
              </a:rPr>
              <a:t>GEOGRAPHER'S LENS  ·  US.01  —  COLOR MAP FOR PROJECTION</a:t>
            </a:r>
          </a:p>
        </p:txBody>
      </p:sp>
      <p:sp>
        <p:nvSpPr>
          <p:cNvPr id="3" name="TextBox 2"/>
          <p:cNvSpPr txBox="1"/>
          <p:nvPr/>
        </p:nvSpPr>
        <p:spPr>
          <a:xfrm>
            <a:off x="502920" y="603504"/>
            <a:ext cx="11185855" cy="502920"/>
          </a:xfrm>
          <a:prstGeom prst="rect">
            <a:avLst/>
          </a:prstGeom>
          <a:noFill/>
        </p:spPr>
        <p:txBody>
          <a:bodyPr wrap="square" anchor="t">
            <a:spAutoFit/>
          </a:bodyPr>
          <a:lstStyle/>
          <a:p>
            <a:pPr algn="l"/>
            <a:r>
              <a:rPr sz="2000" b="1" i="0">
                <a:solidFill>
                  <a:srgbClr val="FFFFFF"/>
                </a:solidFill>
                <a:latin typeface="Calibri"/>
              </a:rPr>
              <a:t>Matthews, Northrup &amp; Co's Official Railroad Map of the United States, Dominion of Canada and Mexico</a:t>
            </a:r>
          </a:p>
        </p:txBody>
      </p:sp>
      <p:pic>
        <p:nvPicPr>
          <p:cNvPr id="4" name="Picture 3" descr="image.jpg"/>
          <p:cNvPicPr>
            <a:picLocks noChangeAspect="1"/>
          </p:cNvPicPr>
          <p:nvPr/>
        </p:nvPicPr>
        <p:blipFill>
          <a:blip r:embed="rId2"/>
          <a:stretch>
            <a:fillRect/>
          </a:stretch>
        </p:blipFill>
        <p:spPr>
          <a:xfrm>
            <a:off x="2783046" y="1325880"/>
            <a:ext cx="6625603" cy="4425696"/>
          </a:xfrm>
          <a:prstGeom prst="rect">
            <a:avLst/>
          </a:prstGeom>
        </p:spPr>
      </p:pic>
      <p:sp>
        <p:nvSpPr>
          <p:cNvPr id="5" name="TextBox 4"/>
          <p:cNvSpPr txBox="1"/>
          <p:nvPr/>
        </p:nvSpPr>
        <p:spPr>
          <a:xfrm>
            <a:off x="502920" y="5824728"/>
            <a:ext cx="1118585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US.01.  Source: Matthews, Northrup &amp; Co. Matthews, Northrup &amp; Co's Official Railroad Map of the United States, Dominion of Canada and Mexico Perfected to Date from Latest Authentic Sources. Buffalo, 1890. Map. Library of Congress Geography and Map Division, call number G3701.P3 1890 .M3. https://www.loc.gov/item/gm71000843/.  Public Domain — No Known Restrictions on Publication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502920" y="274320"/>
            <a:ext cx="11185855" cy="365760"/>
          </a:xfrm>
          <a:prstGeom prst="rect">
            <a:avLst/>
          </a:prstGeom>
          <a:noFill/>
        </p:spPr>
        <p:txBody>
          <a:bodyPr wrap="square" anchor="t">
            <a:spAutoFit/>
          </a:bodyPr>
          <a:lstStyle/>
          <a:p>
            <a:pPr algn="l"/>
            <a:r>
              <a:rPr sz="1500" b="1" i="0">
                <a:solidFill>
                  <a:srgbClr val="C9A84C"/>
                </a:solidFill>
                <a:latin typeface="Calibri"/>
              </a:rPr>
              <a:t>GEOGRAPHER'S LENS  ·  US.06  —  COLOR MAP FOR PROJECTION</a:t>
            </a:r>
          </a:p>
        </p:txBody>
      </p:sp>
      <p:sp>
        <p:nvSpPr>
          <p:cNvPr id="3" name="TextBox 2"/>
          <p:cNvSpPr txBox="1"/>
          <p:nvPr/>
        </p:nvSpPr>
        <p:spPr>
          <a:xfrm>
            <a:off x="502920" y="603504"/>
            <a:ext cx="11185855" cy="502920"/>
          </a:xfrm>
          <a:prstGeom prst="rect">
            <a:avLst/>
          </a:prstGeom>
          <a:noFill/>
        </p:spPr>
        <p:txBody>
          <a:bodyPr wrap="square" anchor="t">
            <a:spAutoFit/>
          </a:bodyPr>
          <a:lstStyle/>
          <a:p>
            <a:pPr algn="l"/>
            <a:r>
              <a:rPr sz="2000" b="1" i="0">
                <a:solidFill>
                  <a:srgbClr val="FFFFFF"/>
                </a:solidFill>
                <a:latin typeface="Calibri"/>
              </a:rPr>
              <a:t>Foreign Born Population, by States and Territories: 1890</a:t>
            </a:r>
          </a:p>
        </p:txBody>
      </p:sp>
      <p:pic>
        <p:nvPicPr>
          <p:cNvPr id="4" name="Picture 3" descr="image.jpg"/>
          <p:cNvPicPr>
            <a:picLocks noChangeAspect="1"/>
          </p:cNvPicPr>
          <p:nvPr/>
        </p:nvPicPr>
        <p:blipFill>
          <a:blip r:embed="rId2"/>
          <a:stretch>
            <a:fillRect/>
          </a:stretch>
        </p:blipFill>
        <p:spPr>
          <a:xfrm>
            <a:off x="4366110" y="1325880"/>
            <a:ext cx="3459475" cy="4425696"/>
          </a:xfrm>
          <a:prstGeom prst="rect">
            <a:avLst/>
          </a:prstGeom>
        </p:spPr>
      </p:pic>
      <p:sp>
        <p:nvSpPr>
          <p:cNvPr id="5" name="TextBox 4"/>
          <p:cNvSpPr txBox="1"/>
          <p:nvPr/>
        </p:nvSpPr>
        <p:spPr>
          <a:xfrm>
            <a:off x="502920" y="5824728"/>
            <a:ext cx="1118585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US.06.  Source: Gannett, Henry, and U.S. Census Office. "Foreign Born Population, by States and Territories: 1890." In Statistical Atlas of the United States, Based upon the Results of the Eleventh Census. Washington, DC: U.S. Census Office, 1898. Library of Congress Geography and Map Division, call number G1201.G1 U53 1898. https://www.loc.gov/resource/g3701gm.gct00010/?sp=35.  Public Domain — U.S. Government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109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109</vt:i4>
      </vt:variant>
    </vt:vector>
  </HeadingPairs>
  <TitlesOfParts>
    <vt:vector size="1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1 — The Rise of Industrialization, 1877–1900 (US.01–US.07)</dc:subject>
  <dc:creator>TroopToTeacher Technologies LLC</dc:creator>
  <cp:lastModifiedBy>TroopToTeacher Technologies LLC</cp:lastModifiedBy>
  <cp:revision>1</cp:revision>
  <dcterms:created xsi:type="dcterms:W3CDTF">2026-07-01T14:27:53Z</dcterms:created>
  <dcterms:modified xsi:type="dcterms:W3CDTF">2026-07-01T14:27:53Z</dcterms:modified>
</cp:coreProperties>
</file>
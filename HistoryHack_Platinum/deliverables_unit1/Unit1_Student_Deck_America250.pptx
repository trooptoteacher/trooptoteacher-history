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304" r:id="rId54"/>
    <p:sldId id="256" r:id="rId5"/>
    <p:sldId id="305" r:id="rId55"/>
    <p:sldId id="257" r:id="rId6"/>
    <p:sldId id="258" r:id="rId7"/>
    <p:sldId id="259" r:id="rId8"/>
    <p:sldId id="260" r:id="rId9"/>
    <p:sldId id="261" r:id="rId10"/>
    <p:sldId id="262" r:id="rId11"/>
    <p:sldId id="263" r:id="rId12"/>
    <p:sldId id="264" r:id="rId13"/>
    <p:sldId id="312" r:id="rId62"/>
    <p:sldId id="265" r:id="rId14"/>
    <p:sldId id="306" r:id="rId56"/>
    <p:sldId id="266" r:id="rId15"/>
    <p:sldId id="267" r:id="rId16"/>
    <p:sldId id="268" r:id="rId17"/>
    <p:sldId id="269" r:id="rId18"/>
    <p:sldId id="270" r:id="rId19"/>
    <p:sldId id="313" r:id="rId63"/>
    <p:sldId id="271" r:id="rId20"/>
    <p:sldId id="307" r:id="rId57"/>
    <p:sldId id="272" r:id="rId21"/>
    <p:sldId id="273" r:id="rId22"/>
    <p:sldId id="274" r:id="rId23"/>
    <p:sldId id="275" r:id="rId24"/>
    <p:sldId id="276" r:id="rId25"/>
    <p:sldId id="277" r:id="rId26"/>
    <p:sldId id="314" r:id="rId64"/>
    <p:sldId id="278" r:id="rId27"/>
    <p:sldId id="308" r:id="rId58"/>
    <p:sldId id="279" r:id="rId28"/>
    <p:sldId id="280" r:id="rId29"/>
    <p:sldId id="281" r:id="rId30"/>
    <p:sldId id="282" r:id="rId31"/>
    <p:sldId id="283" r:id="rId32"/>
    <p:sldId id="284" r:id="rId33"/>
    <p:sldId id="315" r:id="rId65"/>
    <p:sldId id="285" r:id="rId34"/>
    <p:sldId id="309" r:id="rId59"/>
    <p:sldId id="286" r:id="rId35"/>
    <p:sldId id="287" r:id="rId36"/>
    <p:sldId id="288" r:id="rId37"/>
    <p:sldId id="289" r:id="rId38"/>
    <p:sldId id="290" r:id="rId39"/>
    <p:sldId id="316" r:id="rId66"/>
    <p:sldId id="291" r:id="rId40"/>
    <p:sldId id="310" r:id="rId60"/>
    <p:sldId id="292" r:id="rId41"/>
    <p:sldId id="293" r:id="rId42"/>
    <p:sldId id="294" r:id="rId43"/>
    <p:sldId id="295" r:id="rId44"/>
    <p:sldId id="296" r:id="rId45"/>
    <p:sldId id="317" r:id="rId67"/>
    <p:sldId id="297" r:id="rId46"/>
    <p:sldId id="311" r:id="rId61"/>
    <p:sldId id="298" r:id="rId47"/>
    <p:sldId id="299" r:id="rId48"/>
    <p:sldId id="300" r:id="rId49"/>
    <p:sldId id="301" r:id="rId50"/>
    <p:sldId id="302" r:id="rId51"/>
    <p:sldId id="303" r:id="rId52"/>
    <p:sldId id="318" r:id="rId68"/>
    <p:sldId id="319" r:id="rId69"/>
    <p:sldId id="320" r:id="rId70"/>
    <p:sldId id="321" r:id="rId71"/>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jMYtpfcMmAHXwGaB264KgVIwpM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1.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0.xml"/><Relationship Id="rId28" Type="http://schemas.openxmlformats.org/officeDocument/2006/relationships/slide" Target="slides/slide32.xml"/><Relationship Id="rId29" Type="http://schemas.openxmlformats.org/officeDocument/2006/relationships/slide" Target="slides/slide33.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39.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slide" Target="slides/slide44.xml"/><Relationship Id="rId39" Type="http://schemas.openxmlformats.org/officeDocument/2006/relationships/slide" Target="slides/slide45.xml"/><Relationship Id="rId40" Type="http://schemas.openxmlformats.org/officeDocument/2006/relationships/slide" Target="slides/slide47.xml"/><Relationship Id="rId41" Type="http://schemas.openxmlformats.org/officeDocument/2006/relationships/slide" Target="slides/slide49.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slide" Target="slides/slide55.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customschemas.google.com/relationships/presentationmetadata" Target="metadata"/><Relationship Id="rId54" Type="http://schemas.openxmlformats.org/officeDocument/2006/relationships/slide" Target="slides/slide1.xml"/><Relationship Id="rId55" Type="http://schemas.openxmlformats.org/officeDocument/2006/relationships/slide" Target="slides/slide3.xml"/><Relationship Id="rId56" Type="http://schemas.openxmlformats.org/officeDocument/2006/relationships/slide" Target="slides/slide14.xml"/><Relationship Id="rId57" Type="http://schemas.openxmlformats.org/officeDocument/2006/relationships/slide" Target="slides/slide22.xml"/><Relationship Id="rId58" Type="http://schemas.openxmlformats.org/officeDocument/2006/relationships/slide" Target="slides/slide31.xml"/><Relationship Id="rId59" Type="http://schemas.openxmlformats.org/officeDocument/2006/relationships/slide" Target="slides/slide40.xml"/><Relationship Id="rId60" Type="http://schemas.openxmlformats.org/officeDocument/2006/relationships/slide" Target="slides/slide48.xml"/><Relationship Id="rId61" Type="http://schemas.openxmlformats.org/officeDocument/2006/relationships/slide" Target="slides/slide56.xml"/><Relationship Id="rId62" Type="http://schemas.openxmlformats.org/officeDocument/2006/relationships/slide" Target="slides/slide12.xml"/><Relationship Id="rId63" Type="http://schemas.openxmlformats.org/officeDocument/2006/relationships/slide" Target="slides/slide20.xml"/><Relationship Id="rId64" Type="http://schemas.openxmlformats.org/officeDocument/2006/relationships/slide" Target="slides/slide29.xml"/><Relationship Id="rId65" Type="http://schemas.openxmlformats.org/officeDocument/2006/relationships/slide" Target="slides/slide38.xml"/><Relationship Id="rId66" Type="http://schemas.openxmlformats.org/officeDocument/2006/relationships/slide" Target="slides/slide46.xml"/><Relationship Id="rId67" Type="http://schemas.openxmlformats.org/officeDocument/2006/relationships/slide" Target="slides/slide54.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archives.gov/milestone-documents/homestead-act" TargetMode="External"/><Relationship Id="rId4" Type="http://schemas.openxmlformats.org/officeDocument/2006/relationships/hyperlink" Target="https://www.archives.gov/milestone-documents/homestead-act" TargetMode="External"/><Relationship Id="rId5" Type="http://schemas.openxmlformats.org/officeDocument/2006/relationships/hyperlink" Target="https://www.archives.gov/milestone-documents/pacific-railway-act" TargetMode="External"/><Relationship Id="rId6" Type="http://schemas.openxmlformats.org/officeDocument/2006/relationships/hyperlink" Target="https://www.archives.gov/milestone-documents/pacific-railway-ac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loc.gov/law/help/statutes-at-large/49th-congress/session-2/c49s2ch119.pdf" TargetMode="External"/><Relationship Id="rId4" Type="http://schemas.openxmlformats.org/officeDocument/2006/relationships/hyperlink" Target="https://www.loc.gov/law/help/statutes-at-large/49th-congress/session-2/c49s2ch119.pdf" TargetMode="External"/><Relationship Id="rId5" Type="http://schemas.openxmlformats.org/officeDocument/2006/relationships/hyperlink" Target="https://www.doi.gov/ocl" TargetMode="External"/><Relationship Id="rId6" Type="http://schemas.openxmlformats.org/officeDocument/2006/relationships/hyperlink" Target="https://www.doi.gov/oc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loc.gov/item/usrep163537/" TargetMode="External"/><Relationship Id="rId4" Type="http://schemas.openxmlformats.org/officeDocument/2006/relationships/hyperlink" Target="https://www.loc.gov/item/usrep163537/" TargetMode="External"/><Relationship Id="rId5" Type="http://schemas.openxmlformats.org/officeDocument/2006/relationships/hyperlink" Target="https://www.loc.gov/item/usrep163537/" TargetMode="External"/><Relationship Id="rId6" Type="http://schemas.openxmlformats.org/officeDocument/2006/relationships/hyperlink" Target="https://www.loc.gov/item/usrep16353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atalog.hathitrust.org/Record/001260456" TargetMode="External"/><Relationship Id="rId4" Type="http://schemas.openxmlformats.org/officeDocument/2006/relationships/hyperlink" Target="https://catalog.hathitrust.org/Record/001260456" TargetMode="External"/><Relationship Id="rId5" Type="http://schemas.openxmlformats.org/officeDocument/2006/relationships/hyperlink" Target="https://www.loc.gov/law/help/statutes-at-large/47th-congress/session-2/c47s2ch27.pdf" TargetMode="External"/><Relationship Id="rId6" Type="http://schemas.openxmlformats.org/officeDocument/2006/relationships/hyperlink" Target="https://www.loc.gov/law/help/statutes-at-large/47th-congress/session-2/c47s2ch27.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w.carnegie.org/about/our-history/gospelofwealth/" TargetMode="External"/><Relationship Id="rId4" Type="http://schemas.openxmlformats.org/officeDocument/2006/relationships/hyperlink" Target="https://www.carnegie.org/about/our-history/gospelofwealth/" TargetMode="External"/><Relationship Id="rId5" Type="http://schemas.openxmlformats.org/officeDocument/2006/relationships/hyperlink" Target="https://www.loc.gov/item/mnwp000200/" TargetMode="External"/><Relationship Id="rId6" Type="http://schemas.openxmlformats.org/officeDocument/2006/relationships/hyperlink" Target="https://www.loc.gov/item/mnwp00020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www.loc.gov/resource/g3701gm.gct00010/?sp=86" TargetMode="External"/><Relationship Id="rId4" Type="http://schemas.openxmlformats.org/officeDocument/2006/relationships/hyperlink" Target="https://www.loc.gov/resource/g3701gm.gct00010/?sp=86" TargetMode="External"/><Relationship Id="rId5" Type="http://schemas.openxmlformats.org/officeDocument/2006/relationships/hyperlink" Target="https://www.loc.gov/item/12000787/" TargetMode="External"/><Relationship Id="rId6" Type="http://schemas.openxmlformats.org/officeDocument/2006/relationships/hyperlink" Target="https://www.loc.gov/item/12000787/"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archives.gov/milestone-documents/chinese-exclusion-act" TargetMode="External"/><Relationship Id="rId4" Type="http://schemas.openxmlformats.org/officeDocument/2006/relationships/hyperlink" Target="https://www.archives.gov/milestone-documents/chinese-exclusion-act" TargetMode="External"/><Relationship Id="rId5" Type="http://schemas.openxmlformats.org/officeDocument/2006/relationships/hyperlink" Target="https://www.loc.gov/item/10025680/" TargetMode="External"/><Relationship Id="rId6" Type="http://schemas.openxmlformats.org/officeDocument/2006/relationships/hyperlink" Target="https://www.loc.gov/item/1002568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457200" y="411480"/>
            <a:ext cx="11247120" cy="640080"/>
          </a:xfrm>
          <a:prstGeom prst="rect">
            <a:avLst/>
          </a:prstGeom>
          <a:noFill/>
        </p:spPr>
        <p:txBody>
          <a:bodyPr wrap="square" anchor="t" lIns="0" rIns="0" tIns="0" bIns="0">
            <a:spAutoFit/>
          </a:bodyPr>
          <a:lstStyle/>
          <a:p>
            <a:pPr algn="l">
              <a:spcBef>
                <a:spcPts val="0"/>
              </a:spcBef>
              <a:spcAft>
                <a:spcPts val="200"/>
              </a:spcAft>
            </a:pPr>
            <a:r>
              <a:rPr sz="3000" b="1">
                <a:solidFill>
                  <a:srgbClr val="FFFFFF"/>
                </a:solidFill>
                <a:latin typeface="Georgia"/>
              </a:rPr>
              <a:t>How This Deck Works — UDL &amp; MTSS</a:t>
            </a:r>
          </a:p>
        </p:txBody>
      </p:sp>
      <p:sp>
        <p:nvSpPr>
          <p:cNvPr id="3" name="TextBox 2"/>
          <p:cNvSpPr txBox="1"/>
          <p:nvPr/>
        </p:nvSpPr>
        <p:spPr>
          <a:xfrm>
            <a:off x="457200" y="1078992"/>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Universal supports built into every standard. One firm learning goal; flexible ways to reach it.</a:t>
            </a:r>
          </a:p>
        </p:txBody>
      </p:sp>
      <p:sp>
        <p:nvSpPr>
          <p:cNvPr id="4" name="Rectangle 3"/>
          <p:cNvSpPr/>
          <p:nvPr/>
        </p:nvSpPr>
        <p:spPr>
          <a:xfrm>
            <a:off x="457200"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783080"/>
            <a:ext cx="361188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CORE PATH</a:t>
            </a:r>
          </a:p>
        </p:txBody>
      </p:sp>
      <p:sp>
        <p:nvSpPr>
          <p:cNvPr id="7" name="TextBox 6"/>
          <p:cNvSpPr txBox="1"/>
          <p:nvPr/>
        </p:nvSpPr>
        <p:spPr>
          <a:xfrm>
            <a:off x="585216"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essential instruction every student receives.</a:t>
            </a:r>
          </a:p>
        </p:txBody>
      </p:sp>
      <p:sp>
        <p:nvSpPr>
          <p:cNvPr id="8" name="Rectangle 7"/>
          <p:cNvSpPr/>
          <p:nvPr/>
        </p:nvSpPr>
        <p:spPr>
          <a:xfrm>
            <a:off x="4270248"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1783080"/>
            <a:ext cx="3611880" cy="3657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SUPPORT OPTION</a:t>
            </a:r>
          </a:p>
        </p:txBody>
      </p:sp>
      <p:sp>
        <p:nvSpPr>
          <p:cNvPr id="11" name="TextBox 10"/>
          <p:cNvSpPr txBox="1"/>
          <p:nvPr/>
        </p:nvSpPr>
        <p:spPr>
          <a:xfrm>
            <a:off x="4398264"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optional scaffold that keeps the goal, not lowers it.</a:t>
            </a:r>
          </a:p>
        </p:txBody>
      </p:sp>
      <p:sp>
        <p:nvSpPr>
          <p:cNvPr id="12" name="Rectangle 11"/>
          <p:cNvSpPr/>
          <p:nvPr/>
        </p:nvSpPr>
        <p:spPr>
          <a:xfrm>
            <a:off x="8083296"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783080"/>
            <a:ext cx="36118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6"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LANGUAGE SUPPORT</a:t>
            </a:r>
          </a:p>
        </p:txBody>
      </p:sp>
      <p:sp>
        <p:nvSpPr>
          <p:cNvPr id="15" name="TextBox 14"/>
          <p:cNvSpPr txBox="1"/>
          <p:nvPr/>
        </p:nvSpPr>
        <p:spPr>
          <a:xfrm>
            <a:off x="8211312"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Vocabulary, pronunciation, and Spanish cognates for access.</a:t>
            </a:r>
          </a:p>
        </p:txBody>
      </p:sp>
      <p:sp>
        <p:nvSpPr>
          <p:cNvPr id="16" name="Rectangle 15"/>
          <p:cNvSpPr/>
          <p:nvPr/>
        </p:nvSpPr>
        <p:spPr>
          <a:xfrm>
            <a:off x="457200"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90672"/>
            <a:ext cx="3611880" cy="365760"/>
          </a:xfrm>
          <a:prstGeom prst="rect">
            <a:avLst/>
          </a:prstGeom>
          <a:solidFill>
            <a:srgbClr val="B22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RESPONSE CHOICE</a:t>
            </a:r>
          </a:p>
        </p:txBody>
      </p:sp>
      <p:sp>
        <p:nvSpPr>
          <p:cNvPr id="19" name="TextBox 18"/>
          <p:cNvSpPr txBox="1"/>
          <p:nvPr/>
        </p:nvSpPr>
        <p:spPr>
          <a:xfrm>
            <a:off x="585216"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Show learning by writing, saying/recording, or diagramming.</a:t>
            </a:r>
          </a:p>
        </p:txBody>
      </p:sp>
      <p:sp>
        <p:nvSpPr>
          <p:cNvPr id="20" name="Rectangle 19"/>
          <p:cNvSpPr/>
          <p:nvPr/>
        </p:nvSpPr>
        <p:spPr>
          <a:xfrm>
            <a:off x="4270248"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090672"/>
            <a:ext cx="361188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PROGRESS CHECK</a:t>
            </a:r>
          </a:p>
        </p:txBody>
      </p:sp>
      <p:sp>
        <p:nvSpPr>
          <p:cNvPr id="23" name="TextBox 22"/>
          <p:cNvSpPr txBox="1"/>
          <p:nvPr/>
        </p:nvSpPr>
        <p:spPr>
          <a:xfrm>
            <a:off x="4398264"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quick DOK-2/3 check to guide reteach or extend.</a:t>
            </a:r>
          </a:p>
        </p:txBody>
      </p:sp>
      <p:sp>
        <p:nvSpPr>
          <p:cNvPr id="24" name="Rectangle 23"/>
          <p:cNvSpPr/>
          <p:nvPr/>
        </p:nvSpPr>
        <p:spPr>
          <a:xfrm>
            <a:off x="8083296"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090672"/>
            <a:ext cx="3611880" cy="365760"/>
          </a:xfrm>
          <a:prstGeom prst="rect">
            <a:avLst/>
          </a:prstGeom>
          <a:solidFill>
            <a:srgbClr val="2F6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3296"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EXTENSION</a:t>
            </a:r>
          </a:p>
        </p:txBody>
      </p:sp>
      <p:sp>
        <p:nvSpPr>
          <p:cNvPr id="27" name="TextBox 26"/>
          <p:cNvSpPr txBox="1"/>
          <p:nvPr/>
        </p:nvSpPr>
        <p:spPr>
          <a:xfrm>
            <a:off x="8211312"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deeper challenge once the goal is met.</a:t>
            </a:r>
          </a:p>
        </p:txBody>
      </p:sp>
      <p:sp>
        <p:nvSpPr>
          <p:cNvPr id="28" name="Rectangle 27"/>
          <p:cNvSpPr/>
          <p:nvPr/>
        </p:nvSpPr>
        <p:spPr>
          <a:xfrm>
            <a:off x="457200" y="5440680"/>
            <a:ext cx="11247120" cy="868680"/>
          </a:xfrm>
          <a:prstGeom prst="rect">
            <a:avLst/>
          </a:prstGeom>
          <a:solidFill>
            <a:srgbClr val="232F40"/>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559552"/>
            <a:ext cx="10881360" cy="731520"/>
          </a:xfrm>
          <a:prstGeom prst="rect">
            <a:avLst/>
          </a:prstGeom>
          <a:noFill/>
        </p:spPr>
        <p:txBody>
          <a:bodyPr wrap="square" anchor="t" lIns="0" rIns="0" tIns="0" bIns="0">
            <a:spAutoFit/>
          </a:bodyPr>
          <a:lstStyle/>
          <a:p>
            <a:pPr algn="l">
              <a:spcBef>
                <a:spcPts val="0"/>
              </a:spcBef>
              <a:spcAft>
                <a:spcPts val="200"/>
              </a:spcAft>
            </a:pPr>
            <a:r>
              <a:rPr sz="1250" b="1">
                <a:solidFill>
                  <a:srgbClr val="FFFFFF"/>
                </a:solidFill>
                <a:latin typeface="Calibri"/>
              </a:rPr>
              <a:t>Options are available by design and support access without lowering the learning goal.  </a:t>
            </a:r>
          </a:p>
          <a:p>
            <a:pPr algn="l">
              <a:spcBef>
                <a:spcPts val="0"/>
              </a:spcBef>
              <a:spcAft>
                <a:spcPts val="200"/>
              </a:spcAft>
            </a:pPr>
            <a:r>
              <a:rPr sz="1250" b="0">
                <a:solidFill>
                  <a:srgbClr val="C7D4E0"/>
                </a:solidFill>
                <a:latin typeface="Calibri"/>
              </a:rPr>
              <a:t>Supports work alongside — never in place of — required IEP or 504 accommodations.</a:t>
            </a:r>
          </a:p>
        </p:txBody>
      </p:sp>
      <p:sp>
        <p:nvSpPr>
          <p:cNvPr id="30" name="TextBox 29"/>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31" name="TextBox 30"/>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7" name="Google Shape;17;p1"/>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8" name="Google Shape;18;p1"/>
          <p:cNvSpPr/>
          <p:nvPr/>
        </p:nvSpPr>
        <p:spPr>
          <a:xfrm>
            <a:off x="457200" y="32004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HOOK</a:t>
            </a:r>
            <a:endParaRPr b="0" i="0" sz="1100" u="none" cap="none" strike="noStrike">
              <a:solidFill>
                <a:schemeClr val="dk1"/>
              </a:solidFill>
              <a:latin typeface="Calibri"/>
              <a:ea typeface="Calibri"/>
              <a:cs typeface="Calibri"/>
              <a:sym typeface="Calibri"/>
            </a:endParaRPr>
          </a:p>
        </p:txBody>
      </p:sp>
      <p:sp>
        <p:nvSpPr>
          <p:cNvPr id="19" name="Google Shape;19;p1"/>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How do you settle a continent — and who pays the price when you do?</a:t>
            </a:r>
            <a:endParaRPr b="0" i="0" sz="2300" u="none" cap="none" strike="noStrike">
              <a:solidFill>
                <a:schemeClr val="dk1"/>
              </a:solidFill>
              <a:latin typeface="Calibri"/>
              <a:ea typeface="Calibri"/>
              <a:cs typeface="Calibri"/>
              <a:sym typeface="Calibri"/>
            </a:endParaRPr>
          </a:p>
        </p:txBody>
      </p:sp>
      <p:pic>
        <p:nvPicPr>
          <p:cNvPr descr="Primary-source image — Homestead Act &amp; Transcontinental Railroad." id="21" name="Google Shape;21;p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2" name="Google Shape;22;p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Homestead Act &amp; Transcontinental Railroad</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 name="Google Shape;25;p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US.01</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Homestead Act</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HOHM-sted</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Ley de Homestead</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1862 law that provided 160 acres of public land to settlers who agreed to live on and improve the land for five years, encouraging westward expansion.</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Transcontinental Railroad</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tranz-kon-tih-NEN-tul RAYL-rohd</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Ferrocarril Transcontinental</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continuous railroad line completed in 1869 that connected the eastern United States with the Pacific coast, revolutionizing transportation and commerce.</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Westward Expansion</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WEST-werd ek-SPAN-shun</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Expansión hacia el Oeste</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19th-century movement of settlers, railroads, and U.S. authority across the continent toward the Pacific, encouraged by free land and new transportation.</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0" name="Shape 30"/>
        <p:cNvGrpSpPr/>
        <p:nvPr/>
      </p:nvGrpSpPr>
      <p:grpSpPr>
        <a:xfrm>
          <a:off x="0" y="0"/>
          <a:ext cx="0" cy="0"/>
          <a:chOff x="0" y="0"/>
          <a:chExt cx="0" cy="0"/>
        </a:xfrm>
      </p:grpSpPr>
      <p:sp>
        <p:nvSpPr>
          <p:cNvPr id="31" name="Google Shape;31;p2"/>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2" name="Google Shape;32;p2"/>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3" name="Google Shape;33;p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4" name="Google Shape;34;p2"/>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 1862, Congress offered 160 acres of free land to anyone who would farm it for five years.</a:t>
            </a:r>
            <a:endParaRPr b="0" i="0" sz="2300" u="none" cap="none" strike="noStrike">
              <a:solidFill>
                <a:schemeClr val="dk1"/>
              </a:solidFill>
              <a:latin typeface="Calibri"/>
              <a:ea typeface="Calibri"/>
              <a:cs typeface="Calibri"/>
              <a:sym typeface="Calibri"/>
            </a:endParaRPr>
          </a:p>
        </p:txBody>
      </p:sp>
      <p:pic>
        <p:nvPicPr>
          <p:cNvPr descr="Primary source: US.01 · The Homestead Act (1862)" id="36" name="Google Shape;36;p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7" name="Google Shape;37;p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8" name="Google Shape;38;p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Homestead Act (1862)</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 name="Google Shape;40;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45" name="Shape 45"/>
        <p:cNvGrpSpPr/>
        <p:nvPr/>
      </p:nvGrpSpPr>
      <p:grpSpPr>
        <a:xfrm>
          <a:off x="0" y="0"/>
          <a:ext cx="0" cy="0"/>
          <a:chOff x="0" y="0"/>
          <a:chExt cx="0" cy="0"/>
        </a:xfrm>
      </p:grpSpPr>
      <p:sp>
        <p:nvSpPr>
          <p:cNvPr id="46" name="Google Shape;46;p3"/>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7" name="Google Shape;47;p3"/>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8" name="Google Shape;48;p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 name="Google Shape;49;p3"/>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50" name="Google Shape;50;p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Transcontinental Railroad (1869) cut a cross-country trip from months to days — and opened the West to settlement and extraction.</a:t>
            </a:r>
            <a:endParaRPr b="0" i="0" sz="2300" u="none" cap="none" strike="noStrike">
              <a:solidFill>
                <a:schemeClr val="dk1"/>
              </a:solidFill>
              <a:latin typeface="Calibri"/>
              <a:ea typeface="Calibri"/>
              <a:cs typeface="Calibri"/>
              <a:sym typeface="Calibri"/>
            </a:endParaRPr>
          </a:p>
        </p:txBody>
      </p:sp>
      <p:pic>
        <p:nvPicPr>
          <p:cNvPr descr="Primary source: US.01 · The Transcontinental Railroad (1869)" id="51" name="Google Shape;51;p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2" name="Google Shape;52;p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3" name="Google Shape;53;p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Transcontinental Railroad (1869)</a:t>
            </a:r>
            <a:endParaRPr b="0" i="0" sz="1000" u="none" cap="none" strike="noStrike">
              <a:solidFill>
                <a:schemeClr val="dk1"/>
              </a:solidFill>
              <a:latin typeface="Calibri"/>
              <a:ea typeface="Calibri"/>
              <a:cs typeface="Calibri"/>
              <a:sym typeface="Calibri"/>
            </a:endParaRPr>
          </a:p>
        </p:txBody>
      </p:sp>
      <p:sp>
        <p:nvSpPr>
          <p:cNvPr id="54" name="Google Shape;54;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 name="Google Shape;55;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60" name="Shape 60"/>
        <p:cNvGrpSpPr/>
        <p:nvPr/>
      </p:nvGrpSpPr>
      <p:grpSpPr>
        <a:xfrm>
          <a:off x="0" y="0"/>
          <a:ext cx="0" cy="0"/>
          <a:chOff x="0" y="0"/>
          <a:chExt cx="0" cy="0"/>
        </a:xfrm>
      </p:grpSpPr>
      <p:sp>
        <p:nvSpPr>
          <p:cNvPr id="61" name="Google Shape;61;p4"/>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2" name="Google Shape;62;p4"/>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Chinese laborers built much of the Central Pacific — doing the most dangerous work while facing open discrimination.</a:t>
            </a:r>
            <a:endParaRPr b="0" i="0" sz="2300" u="none" cap="none" strike="noStrike">
              <a:solidFill>
                <a:schemeClr val="dk1"/>
              </a:solidFill>
              <a:latin typeface="Calibri"/>
              <a:ea typeface="Calibri"/>
              <a:cs typeface="Calibri"/>
              <a:sym typeface="Calibri"/>
            </a:endParaRPr>
          </a:p>
        </p:txBody>
      </p:sp>
      <p:pic>
        <p:nvPicPr>
          <p:cNvPr descr="Primary-source image — Who Built It." id="66" name="Google Shape;66;p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7" name="Google Shape;67;p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8" name="Google Shape;68;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Who Built It</a:t>
            </a:r>
            <a:endParaRPr b="0" i="0" sz="1000" u="none" cap="none" strike="noStrike">
              <a:solidFill>
                <a:schemeClr val="dk1"/>
              </a:solidFill>
              <a:latin typeface="Calibri"/>
              <a:ea typeface="Calibri"/>
              <a:cs typeface="Calibri"/>
              <a:sym typeface="Calibri"/>
            </a:endParaRPr>
          </a:p>
        </p:txBody>
      </p:sp>
      <p:sp>
        <p:nvSpPr>
          <p:cNvPr id="69" name="Google Shape;69;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 name="Google Shape;70;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75" name="Shape 75"/>
        <p:cNvGrpSpPr/>
        <p:nvPr/>
      </p:nvGrpSpPr>
      <p:grpSpPr>
        <a:xfrm>
          <a:off x="0" y="0"/>
          <a:ext cx="0" cy="0"/>
          <a:chOff x="0" y="0"/>
          <a:chExt cx="0" cy="0"/>
        </a:xfrm>
      </p:grpSpPr>
      <p:sp>
        <p:nvSpPr>
          <p:cNvPr id="76" name="Google Shape;76;p5"/>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7" name="Google Shape;77;p5"/>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8" name="Google Shape;78;p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9" name="Google Shape;79;p5"/>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80" name="Google Shape;80;p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same expansion forced relocations, broke treaties, and collapsed the buffalo herds Plains nations depended on.</a:t>
            </a:r>
            <a:endParaRPr b="0" i="0" sz="2300" u="none" cap="none" strike="noStrike">
              <a:solidFill>
                <a:schemeClr val="dk1"/>
              </a:solidFill>
              <a:latin typeface="Calibri"/>
              <a:ea typeface="Calibri"/>
              <a:cs typeface="Calibri"/>
              <a:sym typeface="Calibri"/>
            </a:endParaRPr>
          </a:p>
        </p:txBody>
      </p:sp>
      <p:pic>
        <p:nvPicPr>
          <p:cNvPr descr="Primary-source image — The Cost to Native Nations." id="81" name="Google Shape;81;p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2" name="Google Shape;82;p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3" name="Google Shape;83;p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Cost to Native Nations</a:t>
            </a:r>
            <a:endParaRPr b="0" i="0" sz="1000" u="none" cap="none" strike="noStrike">
              <a:solidFill>
                <a:schemeClr val="dk1"/>
              </a:solidFill>
              <a:latin typeface="Calibri"/>
              <a:ea typeface="Calibri"/>
              <a:cs typeface="Calibri"/>
              <a:sym typeface="Calibri"/>
            </a:endParaRPr>
          </a:p>
        </p:txBody>
      </p:sp>
      <p:sp>
        <p:nvSpPr>
          <p:cNvPr id="84" name="Google Shape;8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 name="Google Shape;8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90" name="Shape 90"/>
        <p:cNvGrpSpPr/>
        <p:nvPr/>
      </p:nvGrpSpPr>
      <p:grpSpPr>
        <a:xfrm>
          <a:off x="0" y="0"/>
          <a:ext cx="0" cy="0"/>
          <a:chOff x="0" y="0"/>
          <a:chExt cx="0" cy="0"/>
        </a:xfrm>
      </p:grpSpPr>
      <p:sp>
        <p:nvSpPr>
          <p:cNvPr id="91" name="Google Shape;91;p6"/>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2" name="Google Shape;92;p6"/>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3" name="Google Shape;93;p6"/>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94" name="Google Shape;94;p6"/>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law itself shows the government's intent — read who it includes, and who it leaves out.</a:t>
            </a:r>
            <a:endParaRPr b="0" i="0" sz="2000" u="none" cap="none" strike="noStrike">
              <a:solidFill>
                <a:schemeClr val="dk1"/>
              </a:solidFill>
              <a:latin typeface="Calibri"/>
              <a:ea typeface="Calibri"/>
              <a:cs typeface="Calibri"/>
              <a:sym typeface="Calibri"/>
            </a:endParaRPr>
          </a:p>
        </p:txBody>
      </p:sp>
      <p:sp>
        <p:nvSpPr>
          <p:cNvPr id="96" name="Google Shape;96;p6"/>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1862, during the Civil War.</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law reveals the government’s intent — ask who benefits and who is left out.</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03" name="Google Shape;103;p6"/>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Homestead Act</a:t>
            </a:r>
            <a:endParaRPr b="0" i="0" sz="1400" u="none" cap="none" strike="noStrike">
              <a:solidFill>
                <a:schemeClr val="dk1"/>
              </a:solidFill>
              <a:latin typeface="Calibri"/>
              <a:ea typeface="Calibri"/>
              <a:cs typeface="Calibri"/>
              <a:sym typeface="Calibri"/>
            </a:endParaRPr>
          </a:p>
        </p:txBody>
      </p:sp>
      <p:sp>
        <p:nvSpPr>
          <p:cNvPr id="104" name="Google Shape;104;p6"/>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May 20, 1862 (12 Stat. 392)</a:t>
            </a:r>
            <a:endParaRPr b="0" i="0" sz="900" u="none" cap="none" strike="noStrike">
              <a:solidFill>
                <a:schemeClr val="dk1"/>
              </a:solidFill>
              <a:latin typeface="Calibri"/>
              <a:ea typeface="Calibri"/>
              <a:cs typeface="Calibri"/>
              <a:sym typeface="Calibri"/>
            </a:endParaRPr>
          </a:p>
        </p:txBody>
      </p:sp>
      <p:sp>
        <p:nvSpPr>
          <p:cNvPr id="105" name="Google Shape;105;p6"/>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"Any person who is the head of a family, or who has arrived at the age of twenty-one years, and is a citizen of the United States... shall be entitled to enter one quarter section [160 acres] of unappropriated public lands."</a:t>
            </a:r>
            <a:endParaRPr b="0" i="0" sz="1100" u="none" cap="none" strike="noStrike">
              <a:solidFill>
                <a:schemeClr val="dk1"/>
              </a:solidFill>
              <a:latin typeface="Calibri"/>
              <a:ea typeface="Calibri"/>
              <a:cs typeface="Calibri"/>
              <a:sym typeface="Calibri"/>
            </a:endParaRPr>
          </a:p>
        </p:txBody>
      </p:sp>
      <p:sp>
        <p:nvSpPr>
          <p:cNvPr id="106" name="Google Shape;106;p6">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07" name="Google Shape;107;p6"/>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08" name="Google Shape;108;p6"/>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Pacific Railway Act</a:t>
            </a:r>
            <a:endParaRPr b="0" i="0" sz="1400" u="none" cap="none" strike="noStrike">
              <a:solidFill>
                <a:schemeClr val="dk1"/>
              </a:solidFill>
              <a:latin typeface="Calibri"/>
              <a:ea typeface="Calibri"/>
              <a:cs typeface="Calibri"/>
              <a:sym typeface="Calibri"/>
            </a:endParaRPr>
          </a:p>
        </p:txBody>
      </p:sp>
      <p:sp>
        <p:nvSpPr>
          <p:cNvPr id="109" name="Google Shape;109;p6"/>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July 1, 1862 (12 Stat. 489)</a:t>
            </a:r>
            <a:endParaRPr b="0" i="0" sz="900" u="none" cap="none" strike="noStrike">
              <a:solidFill>
                <a:schemeClr val="dk1"/>
              </a:solidFill>
              <a:latin typeface="Calibri"/>
              <a:ea typeface="Calibri"/>
              <a:cs typeface="Calibri"/>
              <a:sym typeface="Calibri"/>
            </a:endParaRPr>
          </a:p>
        </p:txBody>
      </p:sp>
      <p:sp>
        <p:nvSpPr>
          <p:cNvPr id="110" name="Google Shape;110;p6"/>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United States shall extinguish as rapidly as may be the Indian titles to all lands falling under the operation of this act... There is hereby granted to the said company... every alternate section of public land, designated by odd numbers."</a:t>
            </a:r>
            <a:endParaRPr b="0" i="0" sz="1100" u="none" cap="none" strike="noStrike">
              <a:solidFill>
                <a:schemeClr val="dk1"/>
              </a:solidFill>
              <a:latin typeface="Calibri"/>
              <a:ea typeface="Calibri"/>
              <a:cs typeface="Calibri"/>
              <a:sym typeface="Calibri"/>
            </a:endParaRPr>
          </a:p>
        </p:txBody>
      </p:sp>
      <p:sp>
        <p:nvSpPr>
          <p:cNvPr id="111" name="Google Shape;111;p6">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12" name="Google Shape;112;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 name="Google Shape;113;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118" name="Shape 118"/>
        <p:cNvGrpSpPr/>
        <p:nvPr/>
      </p:nvGrpSpPr>
      <p:grpSpPr>
        <a:xfrm>
          <a:off x="0" y="0"/>
          <a:ext cx="0" cy="0"/>
          <a:chOff x="0" y="0"/>
          <a:chExt cx="0" cy="0"/>
        </a:xfrm>
      </p:grpSpPr>
      <p:sp>
        <p:nvSpPr>
          <p:cNvPr id="119" name="Google Shape;119;p7"/>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20" name="Google Shape;120;p7"/>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121" name="Google Shape;121;p7"/>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At the end of each reading, a historian returns to three questions. Use them to analyze any event, policy, or decision in U.S. history.</a:t>
            </a:r>
            <a:endParaRPr b="0" i="0" sz="1700" u="none" cap="none" strike="noStrike">
              <a:solidFill>
                <a:schemeClr val="dk1"/>
              </a:solidFill>
              <a:latin typeface="Calibri"/>
              <a:ea typeface="Calibri"/>
              <a:cs typeface="Calibri"/>
              <a:sym typeface="Calibri"/>
            </a:endParaRPr>
          </a:p>
        </p:txBody>
      </p:sp>
      <p:sp>
        <p:nvSpPr>
          <p:cNvPr id="122" name="Google Shape;122;p7"/>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23" name="Google Shape;123;p7"/>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24" name="Google Shape;124;p7"/>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25" name="Google Shape;125;p7"/>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 from this event?</a:t>
            </a:r>
            <a:endParaRPr b="0" i="0" sz="1100" u="none" cap="none" strike="noStrike">
              <a:solidFill>
                <a:schemeClr val="dk1"/>
              </a:solidFill>
              <a:latin typeface="Calibri"/>
              <a:ea typeface="Calibri"/>
              <a:cs typeface="Calibri"/>
              <a:sym typeface="Calibri"/>
            </a:endParaRPr>
          </a:p>
        </p:txBody>
      </p:sp>
      <p:sp>
        <p:nvSpPr>
          <p:cNvPr id="126" name="Google Shape;126;p7"/>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27" name="Google Shape;127;p7"/>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Settlers who claimed 160-acre homesteads; railroad companies that received alternate-section land grants; eastern markets and manufacturers reached by the new rail lines.</a:t>
            </a:r>
            <a:endParaRPr b="0" i="0" sz="1200" u="none" cap="none" strike="noStrike">
              <a:solidFill>
                <a:schemeClr val="dk1"/>
              </a:solidFill>
              <a:latin typeface="Calibri"/>
              <a:ea typeface="Calibri"/>
              <a:cs typeface="Calibri"/>
              <a:sym typeface="Calibri"/>
            </a:endParaRPr>
          </a:p>
        </p:txBody>
      </p:sp>
      <p:sp>
        <p:nvSpPr>
          <p:cNvPr id="128" name="Google Shape;128;p7"/>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29" name="Google Shape;129;p7"/>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30" name="Google Shape;130;p7"/>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31" name="Google Shape;131;p7"/>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32" name="Google Shape;132;p7"/>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33" name="Google Shape;133;p7"/>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Plains nations, who lost lands and treaty rights and whose buffalo herds collapsed; Chinese laborers, who did the most dangerous railroad work while facing wage discrimination and exclusion.</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35" name="Google Shape;135;p7"/>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36" name="Google Shape;136;p7"/>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37" name="Google Shape;137;p7"/>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 to make the choice?</a:t>
            </a:r>
            <a:endParaRPr b="0" i="0" sz="1100" u="none" cap="none" strike="noStrike">
              <a:solidFill>
                <a:schemeClr val="dk1"/>
              </a:solidFill>
              <a:latin typeface="Calibri"/>
              <a:ea typeface="Calibri"/>
              <a:cs typeface="Calibri"/>
              <a:sym typeface="Calibri"/>
            </a:endParaRPr>
          </a:p>
        </p:txBody>
      </p:sp>
      <p:sp>
        <p:nvSpPr>
          <p:cNvPr id="138" name="Google Shape;138;p7"/>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39" name="Google Shape;139;p7"/>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and the federal government, acting through the Homestead Act and the Pacific Railway Act of 1862.</a:t>
            </a:r>
            <a:endParaRPr b="0" i="0" sz="1200" u="none" cap="none" strike="noStrike">
              <a:solidFill>
                <a:schemeClr val="dk1"/>
              </a:solidFill>
              <a:latin typeface="Calibri"/>
              <a:ea typeface="Calibri"/>
              <a:cs typeface="Calibri"/>
              <a:sym typeface="Calibri"/>
            </a:endParaRPr>
          </a:p>
        </p:txBody>
      </p:sp>
      <p:sp>
        <p:nvSpPr>
          <p:cNvPr id="140" name="Google Shape;140;p7"/>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Homestead Act &amp; Pacific Railway Act, 1862 (National Archives)</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 name="Google Shape;142;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147" name="Shape 147"/>
        <p:cNvGrpSpPr/>
        <p:nvPr/>
      </p:nvGrpSpPr>
      <p:grpSpPr>
        <a:xfrm>
          <a:off x="0" y="0"/>
          <a:ext cx="0" cy="0"/>
          <a:chOff x="0" y="0"/>
          <a:chExt cx="0" cy="0"/>
        </a:xfrm>
      </p:grpSpPr>
      <p:sp>
        <p:nvSpPr>
          <p:cNvPr id="148" name="Google Shape;148;p8"/>
          <p:cNvSpPr/>
          <p:nvPr/>
        </p:nvSpPr>
        <p:spPr>
          <a:xfrm>
            <a:off x="0" y="0"/>
            <a:ext cx="12191695" cy="146304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49" name="Google Shape;149;p8"/>
          <p:cNvSpPr/>
          <p:nvPr/>
        </p:nvSpPr>
        <p:spPr>
          <a:xfrm>
            <a:off x="0" y="146304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50" name="Google Shape;150;p8"/>
          <p:cNvSpPr/>
          <p:nvPr/>
        </p:nvSpPr>
        <p:spPr>
          <a:xfrm>
            <a:off x="457200" y="274320"/>
            <a:ext cx="3291840" cy="365760"/>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1F3A5F"/>
                </a:solidFill>
                <a:latin typeface="Trebuchet MS"/>
                <a:ea typeface="Trebuchet MS"/>
                <a:cs typeface="Trebuchet MS"/>
                <a:sym typeface="Trebuchet MS"/>
              </a:rPr>
              <a:t>WE DO</a:t>
            </a:r>
            <a:endParaRPr b="0" i="0" sz="1100" u="none" cap="none" strike="noStrike">
              <a:solidFill>
                <a:schemeClr val="dk1"/>
              </a:solidFill>
              <a:latin typeface="Calibri"/>
              <a:ea typeface="Calibri"/>
              <a:cs typeface="Calibri"/>
              <a:sym typeface="Calibri"/>
            </a:endParaRPr>
          </a:p>
        </p:txBody>
      </p:sp>
      <p:sp>
        <p:nvSpPr>
          <p:cNvPr id="151" name="Google Shape;151;p8"/>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152" name="Google Shape;152;p8"/>
          <p:cNvSpPr/>
          <p:nvPr/>
        </p:nvSpPr>
        <p:spPr>
          <a:xfrm>
            <a:off x="457200" y="685800"/>
            <a:ext cx="11247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Trace one effect: the railroad → the buffalo → the people.</a:t>
            </a:r>
            <a:endParaRPr b="0" i="0" sz="2000" u="none" cap="none" strike="noStrike">
              <a:solidFill>
                <a:schemeClr val="dk1"/>
              </a:solidFill>
              <a:latin typeface="Calibri"/>
              <a:ea typeface="Calibri"/>
              <a:cs typeface="Calibri"/>
              <a:sym typeface="Calibri"/>
            </a:endParaRPr>
          </a:p>
        </p:txBody>
      </p:sp>
      <p:pic>
        <p:nvPicPr>
          <p:cNvPr descr="Primary source: CAUSE: The railroad cut directly through Plains hunting grounds (1869).  →  EFFECT: Settlers and hunters poured in and the buffalo herds collapsed.  →  CONSEQUENCE: Plains nations lost the food source their economy depended on and wer" id="153" name="Google Shape;153;p8"/>
          <p:cNvPicPr preferRelativeResize="0"/>
          <p:nvPr/>
        </p:nvPicPr>
        <p:blipFill rotWithShape="1">
          <a:blip r:embed="rId3">
            <a:alphaModFix/>
          </a:blip>
          <a:srcRect b="0" l="0" r="0" t="0"/>
          <a:stretch/>
        </p:blipFill>
        <p:spPr>
          <a:xfrm>
            <a:off x="457200" y="1691640"/>
            <a:ext cx="3931920" cy="4023360"/>
          </a:xfrm>
          <a:prstGeom prst="rect">
            <a:avLst/>
          </a:prstGeom>
          <a:noFill/>
          <a:ln>
            <a:noFill/>
          </a:ln>
        </p:spPr>
      </p:pic>
      <p:sp>
        <p:nvSpPr>
          <p:cNvPr id="154" name="Google Shape;154;p8"/>
          <p:cNvSpPr/>
          <p:nvPr/>
        </p:nvSpPr>
        <p:spPr>
          <a:xfrm>
            <a:off x="457200" y="173736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5" name="Google Shape;155;p8"/>
          <p:cNvSpPr/>
          <p:nvPr/>
        </p:nvSpPr>
        <p:spPr>
          <a:xfrm>
            <a:off x="4663440" y="169164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00"/>
              <a:buFont typeface="Trebuchet MS"/>
              <a:buNone/>
            </a:pPr>
            <a:r>
              <a:rPr b="1" i="0" lang="en-US" sz="1000" u="none" cap="none" strike="noStrike">
                <a:solidFill>
                  <a:srgbClr val="B22234"/>
                </a:solidFill>
                <a:latin typeface="Trebuchet MS"/>
                <a:ea typeface="Trebuchet MS"/>
                <a:cs typeface="Trebuchet MS"/>
                <a:sym typeface="Trebuchet MS"/>
              </a:rPr>
              <a:t>MODELED PROMPT</a:t>
            </a:r>
            <a:endParaRPr b="0" i="0" sz="1000" u="none" cap="none" strike="noStrike">
              <a:solidFill>
                <a:schemeClr val="dk1"/>
              </a:solidFill>
              <a:latin typeface="Calibri"/>
              <a:ea typeface="Calibri"/>
              <a:cs typeface="Calibri"/>
              <a:sym typeface="Calibri"/>
            </a:endParaRPr>
          </a:p>
        </p:txBody>
      </p:sp>
      <p:sp>
        <p:nvSpPr>
          <p:cNvPr id="156" name="Google Shape;156;p8"/>
          <p:cNvSpPr/>
          <p:nvPr/>
        </p:nvSpPr>
        <p:spPr>
          <a:xfrm>
            <a:off x="4663440" y="1965960"/>
            <a:ext cx="6949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300"/>
              <a:buFont typeface="Calibri"/>
              <a:buNone/>
            </a:pPr>
            <a:r>
              <a:rPr b="1" i="0" lang="en-US" sz="1300" u="none" cap="none" strike="noStrike">
                <a:solidFill>
                  <a:srgbClr val="1F2430"/>
                </a:solidFill>
                <a:latin typeface="Calibri"/>
                <a:ea typeface="Calibri"/>
                <a:cs typeface="Calibri"/>
                <a:sym typeface="Calibri"/>
              </a:rPr>
              <a:t>Trace ONE effect of the Transcontinental Railroad on American Indian nations.</a:t>
            </a:r>
            <a:endParaRPr b="0" i="0" sz="1300" u="none" cap="none" strike="noStrike">
              <a:solidFill>
                <a:schemeClr val="dk1"/>
              </a:solidFill>
              <a:latin typeface="Calibri"/>
              <a:ea typeface="Calibri"/>
              <a:cs typeface="Calibri"/>
              <a:sym typeface="Calibri"/>
            </a:endParaRPr>
          </a:p>
        </p:txBody>
      </p:sp>
      <p:sp>
        <p:nvSpPr>
          <p:cNvPr id="157" name="Google Shape;157;p8"/>
          <p:cNvSpPr/>
          <p:nvPr/>
        </p:nvSpPr>
        <p:spPr>
          <a:xfrm>
            <a:off x="4663440" y="251460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000"/>
              <a:buFont typeface="Trebuchet MS"/>
              <a:buNone/>
            </a:pPr>
            <a:r>
              <a:rPr b="1" i="0" lang="en-US" sz="1000" u="none" cap="none" strike="noStrike">
                <a:solidFill>
                  <a:srgbClr val="002858"/>
                </a:solidFill>
                <a:latin typeface="Trebuchet MS"/>
                <a:ea typeface="Trebuchet MS"/>
                <a:cs typeface="Trebuchet MS"/>
                <a:sym typeface="Trebuchet MS"/>
              </a:rPr>
              <a:t>CAUSE → EFFECT → CONSEQUENCE</a:t>
            </a:r>
            <a:endParaRPr b="0" i="0" sz="1000" u="none" cap="none" strike="noStrike">
              <a:solidFill>
                <a:schemeClr val="dk1"/>
              </a:solidFill>
              <a:latin typeface="Calibri"/>
              <a:ea typeface="Calibri"/>
              <a:cs typeface="Calibri"/>
              <a:sym typeface="Calibri"/>
            </a:endParaRPr>
          </a:p>
        </p:txBody>
      </p:sp>
      <p:sp>
        <p:nvSpPr>
          <p:cNvPr id="158" name="Google Shape;158;p8"/>
          <p:cNvSpPr/>
          <p:nvPr/>
        </p:nvSpPr>
        <p:spPr>
          <a:xfrm>
            <a:off x="4663440" y="2788920"/>
            <a:ext cx="69494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CAUSE: The railroad cut directly through Plains hunting grounds (1869).  →  EFFECT: Settlers and hunters poured in and the buffalo herds collapsed.  →  CONSEQUENCE: Plains nations lost the food source their economy depended on and were pushed onto reservations.</a:t>
            </a:r>
            <a:endParaRPr b="0" i="0" sz="1200" u="none" cap="none" strike="noStrike">
              <a:solidFill>
                <a:schemeClr val="dk1"/>
              </a:solidFill>
              <a:latin typeface="Calibri"/>
              <a:ea typeface="Calibri"/>
              <a:cs typeface="Calibri"/>
              <a:sym typeface="Calibri"/>
            </a:endParaRPr>
          </a:p>
        </p:txBody>
      </p:sp>
      <p:sp>
        <p:nvSpPr>
          <p:cNvPr id="159" name="Google Shape;159;p8"/>
          <p:cNvSpPr/>
          <p:nvPr/>
        </p:nvSpPr>
        <p:spPr>
          <a:xfrm>
            <a:off x="4663440" y="425196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000"/>
              <a:buFont typeface="Trebuchet MS"/>
              <a:buNone/>
            </a:pPr>
            <a:r>
              <a:rPr b="1" i="0" lang="en-US" sz="1000" u="none" cap="none" strike="noStrike">
                <a:solidFill>
                  <a:srgbClr val="1B5E20"/>
                </a:solidFill>
                <a:latin typeface="Trebuchet MS"/>
                <a:ea typeface="Trebuchet MS"/>
                <a:cs typeface="Trebuchet MS"/>
                <a:sym typeface="Trebuchet MS"/>
              </a:rPr>
              <a:t>TEACHER THINK-ALOUD</a:t>
            </a:r>
            <a:endParaRPr b="0" i="0" sz="1000" u="none" cap="none" strike="noStrike">
              <a:solidFill>
                <a:schemeClr val="dk1"/>
              </a:solidFill>
              <a:latin typeface="Calibri"/>
              <a:ea typeface="Calibri"/>
              <a:cs typeface="Calibri"/>
              <a:sym typeface="Calibri"/>
            </a:endParaRPr>
          </a:p>
        </p:txBody>
      </p:sp>
      <p:sp>
        <p:nvSpPr>
          <p:cNvPr id="160" name="Google Shape;160;p8"/>
          <p:cNvSpPr/>
          <p:nvPr/>
        </p:nvSpPr>
        <p:spPr>
          <a:xfrm>
            <a:off x="4663440" y="4526280"/>
            <a:ext cx="694944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Watch how I do it: I start with the policy (the cause), I underline the change it set in motion (the effect), then I push one step further to the human consequence. I do NOT stop at "railroad was built" — I ask "so what happened to people because of it?"</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4663440" y="5440680"/>
            <a:ext cx="6949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100"/>
              <a:buFont typeface="Calibri"/>
              <a:buNone/>
            </a:pPr>
            <a:r>
              <a:rPr b="1" i="0" lang="en-US" sz="1100" u="none" cap="none" strike="noStrike">
                <a:solidFill>
                  <a:srgbClr val="1F3A5F"/>
                </a:solidFill>
                <a:latin typeface="Calibri"/>
                <a:ea typeface="Calibri"/>
                <a:cs typeface="Calibri"/>
                <a:sym typeface="Calibri"/>
              </a:rPr>
              <a:t>Then you try:  Now you complete two more cause→effect chains on your own in the activity.</a:t>
            </a:r>
            <a:endParaRPr b="0" i="0" sz="1100" u="none" cap="none" strike="noStrike">
              <a:solidFill>
                <a:schemeClr val="dk1"/>
              </a:solidFill>
              <a:latin typeface="Calibri"/>
              <a:ea typeface="Calibri"/>
              <a:cs typeface="Calibri"/>
              <a:sym typeface="Calibri"/>
            </a:endParaRPr>
          </a:p>
        </p:txBody>
      </p:sp>
      <p:sp>
        <p:nvSpPr>
          <p:cNvPr id="162" name="Google Shape;162;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3" name="Google Shape;163;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168" name="Shape 168"/>
        <p:cNvGrpSpPr/>
        <p:nvPr/>
      </p:nvGrpSpPr>
      <p:grpSpPr>
        <a:xfrm>
          <a:off x="0" y="0"/>
          <a:ext cx="0" cy="0"/>
          <a:chOff x="0" y="0"/>
          <a:chExt cx="0" cy="0"/>
        </a:xfrm>
      </p:grpSpPr>
      <p:sp>
        <p:nvSpPr>
          <p:cNvPr id="169" name="Google Shape;169;p9"/>
          <p:cNvSpPr/>
          <p:nvPr/>
        </p:nvSpPr>
        <p:spPr>
          <a:xfrm>
            <a:off x="0" y="0"/>
            <a:ext cx="12191695" cy="155448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70" name="Google Shape;170;p9"/>
          <p:cNvSpPr/>
          <p:nvPr/>
        </p:nvSpPr>
        <p:spPr>
          <a:xfrm>
            <a:off x="0" y="155448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71" name="Google Shape;171;p9"/>
          <p:cNvSpPr/>
          <p:nvPr/>
        </p:nvSpPr>
        <p:spPr>
          <a:xfrm>
            <a:off x="457200" y="228600"/>
            <a:ext cx="11247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TENNESSEE CONNECTION  ·  WILLIAMSON COUNTY</a:t>
            </a:r>
            <a:endParaRPr b="0" i="0" sz="1300" u="none" cap="none" strike="noStrike">
              <a:solidFill>
                <a:schemeClr val="dk1"/>
              </a:solidFill>
              <a:latin typeface="Calibri"/>
              <a:ea typeface="Calibri"/>
              <a:cs typeface="Calibri"/>
              <a:sym typeface="Calibri"/>
            </a:endParaRPr>
          </a:p>
        </p:txBody>
      </p:sp>
      <p:sp>
        <p:nvSpPr>
          <p:cNvPr id="172" name="Google Shape;172;p9"/>
          <p:cNvSpPr/>
          <p:nvPr/>
        </p:nvSpPr>
        <p:spPr>
          <a:xfrm>
            <a:off x="457200" y="64008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A hometown hero: George Jordan of Triune, Williamson County — the only Medal of Honor recipient from our county.</a:t>
            </a:r>
            <a:endParaRPr b="0" i="0" sz="2200" u="none" cap="none" strike="noStrike">
              <a:solidFill>
                <a:schemeClr val="dk1"/>
              </a:solidFill>
              <a:latin typeface="Calibri"/>
              <a:ea typeface="Calibri"/>
              <a:cs typeface="Calibri"/>
              <a:sym typeface="Calibri"/>
            </a:endParaRPr>
          </a:p>
        </p:txBody>
      </p:sp>
      <p:sp>
        <p:nvSpPr>
          <p:cNvPr id="173" name="Google Shape;173;p9"/>
          <p:cNvSpPr/>
          <p:nvPr/>
        </p:nvSpPr>
        <p:spPr>
          <a:xfrm>
            <a:off x="411480" y="1783080"/>
            <a:ext cx="5669280" cy="4114800"/>
          </a:xfrm>
          <a:prstGeom prst="rect">
            <a:avLst/>
          </a:prstGeom>
          <a:solidFill>
            <a:srgbClr val="FFFFFF"/>
          </a:solidFill>
          <a:ln cap="flat" cmpd="sng" w="254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Primary source: 1878 Williamson County map (Tennessee State Library &amp; Archives) locating Triune, Jordan's home community." id="174" name="Google Shape;174;p9"/>
          <p:cNvPicPr preferRelativeResize="0"/>
          <p:nvPr/>
        </p:nvPicPr>
        <p:blipFill rotWithShape="1">
          <a:blip r:embed="rId3">
            <a:alphaModFix/>
          </a:blip>
          <a:srcRect b="0" l="0" r="0" t="0"/>
          <a:stretch/>
        </p:blipFill>
        <p:spPr>
          <a:xfrm>
            <a:off x="548640" y="1920240"/>
            <a:ext cx="5394960" cy="3566160"/>
          </a:xfrm>
          <a:prstGeom prst="rect">
            <a:avLst/>
          </a:prstGeom>
          <a:noFill/>
          <a:ln>
            <a:noFill/>
          </a:ln>
        </p:spPr>
      </p:pic>
      <p:sp>
        <p:nvSpPr>
          <p:cNvPr id="175" name="Google Shape;175;p9"/>
          <p:cNvSpPr/>
          <p:nvPr/>
        </p:nvSpPr>
        <p:spPr>
          <a:xfrm>
            <a:off x="548640" y="196596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76" name="Google Shape;176;p9"/>
          <p:cNvSpPr/>
          <p:nvPr/>
        </p:nvSpPr>
        <p:spPr>
          <a:xfrm>
            <a:off x="548640" y="5504688"/>
            <a:ext cx="5394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1878 Williamson County map (Tennessee State Library &amp; Archives) locating Triune, Jordan's home community.</a:t>
            </a:r>
            <a:endParaRPr b="0" i="0" sz="900" u="none" cap="none" strike="noStrike">
              <a:solidFill>
                <a:schemeClr val="dk1"/>
              </a:solidFill>
              <a:latin typeface="Calibri"/>
              <a:ea typeface="Calibri"/>
              <a:cs typeface="Calibri"/>
              <a:sym typeface="Calibri"/>
            </a:endParaRPr>
          </a:p>
        </p:txBody>
      </p:sp>
      <p:pic>
        <p:nvPicPr>
          <p:cNvPr descr="Primary source: 9th U.S. Cavalry NCOs, 1889 (Buffalo Soldiers)" id="177" name="Google Shape;177;p9"/>
          <p:cNvPicPr preferRelativeResize="0"/>
          <p:nvPr/>
        </p:nvPicPr>
        <p:blipFill rotWithShape="1">
          <a:blip r:embed="rId4">
            <a:alphaModFix/>
          </a:blip>
          <a:srcRect b="0" l="0" r="0" t="0"/>
          <a:stretch/>
        </p:blipFill>
        <p:spPr>
          <a:xfrm>
            <a:off x="6309360" y="1783080"/>
            <a:ext cx="5486400" cy="1828800"/>
          </a:xfrm>
          <a:prstGeom prst="rect">
            <a:avLst/>
          </a:prstGeom>
          <a:noFill/>
          <a:ln>
            <a:noFill/>
          </a:ln>
        </p:spPr>
      </p:pic>
      <p:sp>
        <p:nvSpPr>
          <p:cNvPr id="178" name="Google Shape;178;p9"/>
          <p:cNvSpPr/>
          <p:nvPr/>
        </p:nvSpPr>
        <p:spPr>
          <a:xfrm>
            <a:off x="6309360" y="182880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79" name="Google Shape;179;p9"/>
          <p:cNvSpPr/>
          <p:nvPr/>
        </p:nvSpPr>
        <p:spPr>
          <a:xfrm>
            <a:off x="6309360" y="3611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900"/>
              <a:buFont typeface="Trebuchet MS"/>
              <a:buNone/>
            </a:pPr>
            <a:r>
              <a:rPr b="0" i="1" lang="en-US" sz="900" u="none" cap="none" strike="noStrike">
                <a:solidFill>
                  <a:srgbClr val="1F3A5F"/>
                </a:solidFill>
                <a:latin typeface="Trebuchet MS"/>
                <a:ea typeface="Trebuchet MS"/>
                <a:cs typeface="Trebuchet MS"/>
                <a:sym typeface="Trebuchet MS"/>
              </a:rPr>
              <a:t>9th U.S. Cavalry NCOs, 1889 (Buffalo Soldiers)</a:t>
            </a:r>
            <a:endParaRPr b="0" i="0" sz="900" u="none" cap="none" strike="noStrike">
              <a:solidFill>
                <a:schemeClr val="dk1"/>
              </a:solidFill>
              <a:latin typeface="Calibri"/>
              <a:ea typeface="Calibri"/>
              <a:cs typeface="Calibri"/>
              <a:sym typeface="Calibri"/>
            </a:endParaRPr>
          </a:p>
        </p:txBody>
      </p:sp>
      <p:sp>
        <p:nvSpPr>
          <p:cNvPr id="180" name="Google Shape;180;p9"/>
          <p:cNvSpPr/>
          <p:nvPr/>
        </p:nvSpPr>
        <p:spPr>
          <a:xfrm>
            <a:off x="6309360" y="3977640"/>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George Jordan was born around 1847 in the Triune area of Williamson County, Tennessee.</a:t>
            </a:r>
            <a:endParaRPr b="0" i="0" sz="1200" u="none" cap="none" strike="noStrike">
              <a:solidFill>
                <a:schemeClr val="dk1"/>
              </a:solidFill>
              <a:latin typeface="Calibri"/>
              <a:ea typeface="Calibri"/>
              <a:cs typeface="Calibri"/>
              <a:sym typeface="Calibri"/>
            </a:endParaRPr>
          </a:p>
        </p:txBody>
      </p:sp>
      <p:sp>
        <p:nvSpPr>
          <p:cNvPr id="181" name="Google Shape;181;p9"/>
          <p:cNvSpPr/>
          <p:nvPr/>
        </p:nvSpPr>
        <p:spPr>
          <a:xfrm>
            <a:off x="6309360" y="4636008"/>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He is the only Medal of Honor recipient from Williamson County.</a:t>
            </a:r>
            <a:endParaRPr b="0" i="0" sz="1200" u="none" cap="none" strike="noStrike">
              <a:solidFill>
                <a:schemeClr val="dk1"/>
              </a:solidFill>
              <a:latin typeface="Calibri"/>
              <a:ea typeface="Calibri"/>
              <a:cs typeface="Calibri"/>
              <a:sym typeface="Calibri"/>
            </a:endParaRPr>
          </a:p>
        </p:txBody>
      </p:sp>
      <p:sp>
        <p:nvSpPr>
          <p:cNvPr id="182" name="Google Shape;182;p9"/>
          <p:cNvSpPr/>
          <p:nvPr/>
        </p:nvSpPr>
        <p:spPr>
          <a:xfrm>
            <a:off x="6309360" y="5294376"/>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He served with the 9th U.S. Cavalry (Buffalo Soldiers), earning the Medal of Honor for Fort Tularosa (1880) and Carrizo Canyon (1881), issued in 1890.</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4" name="Google Shape;184;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3</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US.01</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homesteading family and a Lakota family in 1875 would most likely have described the Homestead Act in very different ways. Which statement best explains why?</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Homestead Act applied only to settlers and never affected American Indians in any way.</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same law that opened “free” land to settlers took that land away from American Indians who already lived on it.</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families received 160 acres each under the law, so their views would have matched.</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law was written to benefit American Indians first and settlers second.</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189" name="Shape 189"/>
        <p:cNvGrpSpPr/>
        <p:nvPr/>
      </p:nvGrpSpPr>
      <p:grpSpPr>
        <a:xfrm>
          <a:off x="0" y="0"/>
          <a:ext cx="0" cy="0"/>
          <a:chOff x="0" y="0"/>
          <a:chExt cx="0" cy="0"/>
        </a:xfrm>
      </p:grpSpPr>
      <p:sp>
        <p:nvSpPr>
          <p:cNvPr id="190" name="Google Shape;190;p10"/>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91" name="Google Shape;191;p10"/>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US.02</a:t>
            </a:r>
            <a:endParaRPr b="0" i="0" sz="6000" u="none" cap="none" strike="noStrike">
              <a:solidFill>
                <a:schemeClr val="dk1"/>
              </a:solidFill>
              <a:latin typeface="Calibri"/>
              <a:ea typeface="Calibri"/>
              <a:cs typeface="Calibri"/>
              <a:sym typeface="Calibri"/>
            </a:endParaRPr>
          </a:p>
        </p:txBody>
      </p:sp>
      <p:sp>
        <p:nvSpPr>
          <p:cNvPr id="192" name="Google Shape;192;p10"/>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Federal Policies Toward American Indians</a:t>
            </a:r>
            <a:endParaRPr b="0" i="0" sz="2600" u="none" cap="none" strike="noStrike">
              <a:solidFill>
                <a:schemeClr val="dk1"/>
              </a:solidFill>
              <a:latin typeface="Calibri"/>
              <a:ea typeface="Calibri"/>
              <a:cs typeface="Calibri"/>
              <a:sym typeface="Calibri"/>
            </a:endParaRPr>
          </a:p>
        </p:txBody>
      </p:sp>
      <p:sp>
        <p:nvSpPr>
          <p:cNvPr id="193" name="Google Shape;193;p10"/>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94" name="Google Shape;194;p10"/>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US.02 – Examine federal policies toward American Indians, including the movement to reservations, assimilation, boarding schools, and the Dawes Act.</a:t>
            </a:r>
            <a:endParaRPr b="0" i="0" sz="1600" u="none" cap="none" strike="noStrike">
              <a:solidFill>
                <a:schemeClr val="dk1"/>
              </a:solidFill>
              <a:latin typeface="Calibri"/>
              <a:ea typeface="Calibri"/>
              <a:cs typeface="Calibri"/>
              <a:sym typeface="Calibri"/>
            </a:endParaRPr>
          </a:p>
        </p:txBody>
      </p:sp>
      <p:sp>
        <p:nvSpPr>
          <p:cNvPr id="195" name="Google Shape;195;p10"/>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96" name="Google Shape;196;p10"/>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97" name="Google Shape;197;p10"/>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examine federal policies toward American Indians, including the movement to reservations, assimilation, boarding schools, and the Dawes Act.</a:t>
            </a:r>
            <a:endParaRPr b="0" i="0" sz="1400" u="none" cap="none" strike="noStrike">
              <a:solidFill>
                <a:schemeClr val="dk1"/>
              </a:solidFill>
              <a:latin typeface="Calibri"/>
              <a:ea typeface="Calibri"/>
              <a:cs typeface="Calibri"/>
              <a:sym typeface="Calibri"/>
            </a:endParaRPr>
          </a:p>
        </p:txBody>
      </p:sp>
      <p:sp>
        <p:nvSpPr>
          <p:cNvPr id="198" name="Google Shape;198;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9" name="Google Shape;199;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US.02</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Reservation System</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rez-er-VAY-shun SIS-tum</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Sistema de Reservaciones</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Federal policy that confined Native American tribes to designated areas of land, often far from their ancestral territories, to control indigenous populations and open land for white settlement.</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Assimilation</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uh-sim-ih-LAY-shun</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Asimilación</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Federal policy aimed at forcing Native Americans to abandon their traditional cultures and adopt European-American ways of life, including language, religion, and customs.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Dawes Act</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DAWZ</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Ley Dawes</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1887 law that divided tribal lands into individual allotments, aiming to break up reservations and assimilate Native Americans; it resulted in massive Native land loss.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204" name="Shape 204"/>
        <p:cNvGrpSpPr/>
        <p:nvPr/>
      </p:nvGrpSpPr>
      <p:grpSpPr>
        <a:xfrm>
          <a:off x="0" y="0"/>
          <a:ext cx="0" cy="0"/>
          <a:chOff x="0" y="0"/>
          <a:chExt cx="0" cy="0"/>
        </a:xfrm>
      </p:grpSpPr>
      <p:sp>
        <p:nvSpPr>
          <p:cNvPr id="205" name="Google Shape;205;p11"/>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6" name="Google Shape;206;p11"/>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7" name="Google Shape;207;p1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08" name="Google Shape;208;p11"/>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09" name="Google Shape;209;p1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After the Civil War, the federal government confined American Indian nations to reservations far smaller than their homelands.</a:t>
            </a:r>
            <a:endParaRPr b="0" i="0" sz="2300" u="none" cap="none" strike="noStrike">
              <a:solidFill>
                <a:schemeClr val="dk1"/>
              </a:solidFill>
              <a:latin typeface="Calibri"/>
              <a:ea typeface="Calibri"/>
              <a:cs typeface="Calibri"/>
              <a:sym typeface="Calibri"/>
            </a:endParaRPr>
          </a:p>
        </p:txBody>
      </p:sp>
      <p:pic>
        <p:nvPicPr>
          <p:cNvPr descr="Primary-source image — Movement to Reservations." id="210" name="Google Shape;210;p1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11" name="Google Shape;211;p1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12" name="Google Shape;212;p1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Movement to Reservations</a:t>
            </a:r>
            <a:endParaRPr b="0" i="0" sz="1000" u="none" cap="none" strike="noStrike">
              <a:solidFill>
                <a:schemeClr val="dk1"/>
              </a:solidFill>
              <a:latin typeface="Calibri"/>
              <a:ea typeface="Calibri"/>
              <a:cs typeface="Calibri"/>
              <a:sym typeface="Calibri"/>
            </a:endParaRPr>
          </a:p>
        </p:txBody>
      </p:sp>
      <p:sp>
        <p:nvSpPr>
          <p:cNvPr id="213" name="Google Shape;213;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4" name="Google Shape;214;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219" name="Shape 219"/>
        <p:cNvGrpSpPr/>
        <p:nvPr/>
      </p:nvGrpSpPr>
      <p:grpSpPr>
        <a:xfrm>
          <a:off x="0" y="0"/>
          <a:ext cx="0" cy="0"/>
          <a:chOff x="0" y="0"/>
          <a:chExt cx="0" cy="0"/>
        </a:xfrm>
      </p:grpSpPr>
      <p:sp>
        <p:nvSpPr>
          <p:cNvPr id="220" name="Google Shape;220;p12"/>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1" name="Google Shape;221;p12"/>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2" name="Google Shape;222;p1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23" name="Google Shape;223;p12"/>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24" name="Google Shape;224;p1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Boarding schools like Carlisle pursued forced assimilation under the motto “Kill the Indian, save the man.”</a:t>
            </a:r>
            <a:endParaRPr b="0" i="0" sz="2300" u="none" cap="none" strike="noStrike">
              <a:solidFill>
                <a:schemeClr val="dk1"/>
              </a:solidFill>
              <a:latin typeface="Calibri"/>
              <a:ea typeface="Calibri"/>
              <a:cs typeface="Calibri"/>
              <a:sym typeface="Calibri"/>
            </a:endParaRPr>
          </a:p>
        </p:txBody>
      </p:sp>
      <p:pic>
        <p:nvPicPr>
          <p:cNvPr descr="Primary-source image — Assimilation &amp; Boarding Schools." id="225" name="Google Shape;225;p1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26" name="Google Shape;226;p1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27" name="Google Shape;227;p1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Assimilation &amp; Boarding Schools</a:t>
            </a:r>
            <a:endParaRPr b="0" i="0" sz="1000" u="none" cap="none" strike="noStrike">
              <a:solidFill>
                <a:schemeClr val="dk1"/>
              </a:solidFill>
              <a:latin typeface="Calibri"/>
              <a:ea typeface="Calibri"/>
              <a:cs typeface="Calibri"/>
              <a:sym typeface="Calibri"/>
            </a:endParaRPr>
          </a:p>
        </p:txBody>
      </p:sp>
      <p:sp>
        <p:nvSpPr>
          <p:cNvPr id="228" name="Google Shape;228;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9" name="Google Shape;229;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234" name="Shape 234"/>
        <p:cNvGrpSpPr/>
        <p:nvPr/>
      </p:nvGrpSpPr>
      <p:grpSpPr>
        <a:xfrm>
          <a:off x="0" y="0"/>
          <a:ext cx="0" cy="0"/>
          <a:chOff x="0" y="0"/>
          <a:chExt cx="0" cy="0"/>
        </a:xfrm>
      </p:grpSpPr>
      <p:sp>
        <p:nvSpPr>
          <p:cNvPr id="235" name="Google Shape;235;p13"/>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36" name="Google Shape;236;p13"/>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37" name="Google Shape;237;p1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38" name="Google Shape;238;p13"/>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39" name="Google Shape;239;p1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Dawes Act (1887) broke up tribal land — holdings fell from 138 million acres to 48 million by 1934.</a:t>
            </a:r>
            <a:endParaRPr b="0" i="0" sz="2300" u="none" cap="none" strike="noStrike">
              <a:solidFill>
                <a:schemeClr val="dk1"/>
              </a:solidFill>
              <a:latin typeface="Calibri"/>
              <a:ea typeface="Calibri"/>
              <a:cs typeface="Calibri"/>
              <a:sym typeface="Calibri"/>
            </a:endParaRPr>
          </a:p>
        </p:txBody>
      </p:sp>
      <p:pic>
        <p:nvPicPr>
          <p:cNvPr descr="Primary-source image — The Dawes Act &amp; Its Impact." id="240" name="Google Shape;240;p1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41" name="Google Shape;241;p1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42" name="Google Shape;242;p1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The Dawes Act &amp; Its Impact</a:t>
            </a:r>
            <a:endParaRPr b="0" i="0" sz="1000" u="none" cap="none" strike="noStrike">
              <a:solidFill>
                <a:schemeClr val="dk1"/>
              </a:solidFill>
              <a:latin typeface="Calibri"/>
              <a:ea typeface="Calibri"/>
              <a:cs typeface="Calibri"/>
              <a:sym typeface="Calibri"/>
            </a:endParaRPr>
          </a:p>
        </p:txBody>
      </p:sp>
      <p:sp>
        <p:nvSpPr>
          <p:cNvPr id="243" name="Google Shape;243;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4" name="Google Shape;244;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249" name="Shape 249"/>
        <p:cNvGrpSpPr/>
        <p:nvPr/>
      </p:nvGrpSpPr>
      <p:grpSpPr>
        <a:xfrm>
          <a:off x="0" y="0"/>
          <a:ext cx="0" cy="0"/>
          <a:chOff x="0" y="0"/>
          <a:chExt cx="0" cy="0"/>
        </a:xfrm>
      </p:grpSpPr>
      <p:sp>
        <p:nvSpPr>
          <p:cNvPr id="250" name="Google Shape;250;p14"/>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51" name="Google Shape;251;p14"/>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52" name="Google Shape;252;p14"/>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253" name="Google Shape;253;p14"/>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54" name="Google Shape;254;p14"/>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Dawes Act itself shows the government’s intent — read what it did to communal land.</a:t>
            </a:r>
            <a:endParaRPr b="0" i="0" sz="2000" u="none" cap="none" strike="noStrike">
              <a:solidFill>
                <a:schemeClr val="dk1"/>
              </a:solidFill>
              <a:latin typeface="Calibri"/>
              <a:ea typeface="Calibri"/>
              <a:cs typeface="Calibri"/>
              <a:sym typeface="Calibri"/>
            </a:endParaRPr>
          </a:p>
        </p:txBody>
      </p:sp>
      <p:sp>
        <p:nvSpPr>
          <p:cNvPr id="255" name="Google Shape;255;p14"/>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256" name="Google Shape;256;p14"/>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257" name="Google Shape;257;p14"/>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258" name="Google Shape;258;p14"/>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8, 1887 (24 Stat. 388).</a:t>
            </a:r>
            <a:endParaRPr b="0" i="0" sz="1200" u="none" cap="none" strike="noStrike">
              <a:solidFill>
                <a:schemeClr val="dk1"/>
              </a:solidFill>
              <a:latin typeface="Calibri"/>
              <a:ea typeface="Calibri"/>
              <a:cs typeface="Calibri"/>
              <a:sym typeface="Calibri"/>
            </a:endParaRPr>
          </a:p>
        </p:txBody>
      </p:sp>
      <p:sp>
        <p:nvSpPr>
          <p:cNvPr id="259" name="Google Shape;259;p14"/>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260" name="Google Shape;260;p14"/>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law reveals intent — ask what it dismantled and who gained the “surplus” land.</a:t>
            </a:r>
            <a:endParaRPr b="0" i="0" sz="1200" u="none" cap="none" strike="noStrike">
              <a:solidFill>
                <a:schemeClr val="dk1"/>
              </a:solidFill>
              <a:latin typeface="Calibri"/>
              <a:ea typeface="Calibri"/>
              <a:cs typeface="Calibri"/>
              <a:sym typeface="Calibri"/>
            </a:endParaRPr>
          </a:p>
        </p:txBody>
      </p:sp>
      <p:sp>
        <p:nvSpPr>
          <p:cNvPr id="261" name="Google Shape;261;p14"/>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62" name="Google Shape;262;p14"/>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Dawes General Allotment Act</a:t>
            </a:r>
            <a:endParaRPr b="0" i="0" sz="1400" u="none" cap="none" strike="noStrike">
              <a:solidFill>
                <a:schemeClr val="dk1"/>
              </a:solidFill>
              <a:latin typeface="Calibri"/>
              <a:ea typeface="Calibri"/>
              <a:cs typeface="Calibri"/>
              <a:sym typeface="Calibri"/>
            </a:endParaRPr>
          </a:p>
        </p:txBody>
      </p:sp>
      <p:sp>
        <p:nvSpPr>
          <p:cNvPr id="263" name="Google Shape;263;p14"/>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Feb 8, 1887 (24 Stat. 388)</a:t>
            </a:r>
            <a:endParaRPr b="0" i="0" sz="900" u="none" cap="none" strike="noStrike">
              <a:solidFill>
                <a:schemeClr val="dk1"/>
              </a:solidFill>
              <a:latin typeface="Calibri"/>
              <a:ea typeface="Calibri"/>
              <a:cs typeface="Calibri"/>
              <a:sym typeface="Calibri"/>
            </a:endParaRPr>
          </a:p>
        </p:txBody>
      </p:sp>
      <p:sp>
        <p:nvSpPr>
          <p:cNvPr id="264" name="Google Shape;264;p14"/>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President of the United States be authorized... to allot the lands in said reservation in severalty to any Indian located thereon in quantities as follows: To each head of a family, one-quarter of a section [160 acres]."</a:t>
            </a:r>
            <a:endParaRPr b="0" i="0" sz="1100" u="none" cap="none" strike="noStrike">
              <a:solidFill>
                <a:schemeClr val="dk1"/>
              </a:solidFill>
              <a:latin typeface="Calibri"/>
              <a:ea typeface="Calibri"/>
              <a:cs typeface="Calibri"/>
              <a:sym typeface="Calibri"/>
            </a:endParaRPr>
          </a:p>
        </p:txBody>
      </p:sp>
      <p:sp>
        <p:nvSpPr>
          <p:cNvPr id="265" name="Google Shape;265;p14">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 Statutes at Large</a:t>
            </a:r>
            <a:endParaRPr b="0" i="0" sz="900" u="none" cap="none" strike="noStrike">
              <a:solidFill>
                <a:schemeClr val="dk1"/>
              </a:solidFill>
              <a:latin typeface="Calibri"/>
              <a:ea typeface="Calibri"/>
              <a:cs typeface="Calibri"/>
              <a:sym typeface="Calibri"/>
            </a:endParaRPr>
          </a:p>
        </p:txBody>
      </p:sp>
      <p:sp>
        <p:nvSpPr>
          <p:cNvPr id="266" name="Google Shape;266;p14"/>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67" name="Google Shape;267;p14"/>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Annual Report of the Commissioner of Indian Affairs</a:t>
            </a:r>
            <a:endParaRPr b="0" i="0" sz="1400" u="none" cap="none" strike="noStrike">
              <a:solidFill>
                <a:schemeClr val="dk1"/>
              </a:solidFill>
              <a:latin typeface="Calibri"/>
              <a:ea typeface="Calibri"/>
              <a:cs typeface="Calibri"/>
              <a:sym typeface="Calibri"/>
            </a:endParaRPr>
          </a:p>
        </p:txBody>
      </p:sp>
      <p:sp>
        <p:nvSpPr>
          <p:cNvPr id="268" name="Google Shape;268;p14"/>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Office of Indian Affairs · 1890</a:t>
            </a:r>
            <a:endParaRPr b="0" i="0" sz="900" u="none" cap="none" strike="noStrike">
              <a:solidFill>
                <a:schemeClr val="dk1"/>
              </a:solidFill>
              <a:latin typeface="Calibri"/>
              <a:ea typeface="Calibri"/>
              <a:cs typeface="Calibri"/>
              <a:sym typeface="Calibri"/>
            </a:endParaRPr>
          </a:p>
        </p:txBody>
      </p:sp>
      <p:sp>
        <p:nvSpPr>
          <p:cNvPr id="269" name="Google Shape;269;p14"/>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great object... is the disintegration of the tribes... and their absorption into the national life as American citizens."</a:t>
            </a:r>
            <a:endParaRPr b="0" i="0" sz="1100" u="none" cap="none" strike="noStrike">
              <a:solidFill>
                <a:schemeClr val="dk1"/>
              </a:solidFill>
              <a:latin typeface="Calibri"/>
              <a:ea typeface="Calibri"/>
              <a:cs typeface="Calibri"/>
              <a:sym typeface="Calibri"/>
            </a:endParaRPr>
          </a:p>
        </p:txBody>
      </p:sp>
      <p:sp>
        <p:nvSpPr>
          <p:cNvPr id="270" name="Google Shape;270;p14">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HathiTrust / U.S. Government</a:t>
            </a:r>
            <a:endParaRPr b="0" i="0" sz="900" u="none" cap="none" strike="noStrike">
              <a:solidFill>
                <a:schemeClr val="dk1"/>
              </a:solidFill>
              <a:latin typeface="Calibri"/>
              <a:ea typeface="Calibri"/>
              <a:cs typeface="Calibri"/>
              <a:sym typeface="Calibri"/>
            </a:endParaRPr>
          </a:p>
        </p:txBody>
      </p:sp>
      <p:sp>
        <p:nvSpPr>
          <p:cNvPr id="271" name="Google Shape;271;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 name="Google Shape;272;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277" name="Shape 277"/>
        <p:cNvGrpSpPr/>
        <p:nvPr/>
      </p:nvGrpSpPr>
      <p:grpSpPr>
        <a:xfrm>
          <a:off x="0" y="0"/>
          <a:ext cx="0" cy="0"/>
          <a:chOff x="0" y="0"/>
          <a:chExt cx="0" cy="0"/>
        </a:xfrm>
      </p:grpSpPr>
      <p:sp>
        <p:nvSpPr>
          <p:cNvPr id="278" name="Google Shape;278;p15"/>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279" name="Google Shape;279;p15"/>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80" name="Google Shape;280;p15"/>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281" name="Google Shape;281;p15"/>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82" name="Google Shape;282;p15"/>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83" name="Google Shape;283;p15"/>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284" name="Google Shape;284;p15"/>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285" name="Google Shape;285;p15"/>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86" name="Google Shape;286;p15"/>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White settlers who purchased “surplus” reservation land; railroads and speculators; the federal government advancing westward settlement.</a:t>
            </a:r>
            <a:endParaRPr b="0" i="0" sz="1200" u="none" cap="none" strike="noStrike">
              <a:solidFill>
                <a:schemeClr val="dk1"/>
              </a:solidFill>
              <a:latin typeface="Calibri"/>
              <a:ea typeface="Calibri"/>
              <a:cs typeface="Calibri"/>
              <a:sym typeface="Calibri"/>
            </a:endParaRPr>
          </a:p>
        </p:txBody>
      </p:sp>
      <p:sp>
        <p:nvSpPr>
          <p:cNvPr id="287" name="Google Shape;287;p15"/>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88" name="Google Shape;288;p15"/>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89" name="Google Shape;289;p15"/>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290" name="Google Shape;290;p15"/>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291" name="Google Shape;291;p15"/>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92" name="Google Shape;292;p15"/>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American Indian nations, who lost 90 million acres, communal landholding, languages, and children taken to boarding schools — a documented cultural genocide.</a:t>
            </a:r>
            <a:endParaRPr b="0" i="0" sz="1200" u="none" cap="none" strike="noStrike">
              <a:solidFill>
                <a:schemeClr val="dk1"/>
              </a:solidFill>
              <a:latin typeface="Calibri"/>
              <a:ea typeface="Calibri"/>
              <a:cs typeface="Calibri"/>
              <a:sym typeface="Calibri"/>
            </a:endParaRPr>
          </a:p>
        </p:txBody>
      </p:sp>
      <p:sp>
        <p:nvSpPr>
          <p:cNvPr id="293" name="Google Shape;293;p15"/>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94" name="Google Shape;294;p15"/>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95" name="Google Shape;295;p15"/>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296" name="Google Shape;296;p15"/>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297" name="Google Shape;297;p15"/>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98" name="Google Shape;298;p15"/>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and the Office of Indian Affairs, acting through the Dawes Act and reservation/assimilation policy.</a:t>
            </a:r>
            <a:endParaRPr b="0" i="0" sz="1200" u="none" cap="none" strike="noStrike">
              <a:solidFill>
                <a:schemeClr val="dk1"/>
              </a:solidFill>
              <a:latin typeface="Calibri"/>
              <a:ea typeface="Calibri"/>
              <a:cs typeface="Calibri"/>
              <a:sym typeface="Calibri"/>
            </a:endParaRPr>
          </a:p>
        </p:txBody>
      </p:sp>
      <p:sp>
        <p:nvSpPr>
          <p:cNvPr id="299" name="Google Shape;299;p15"/>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Dawes General Allotment Act, 1887 (Statutes at Large)</a:t>
            </a:r>
            <a:endParaRPr b="0" i="0" sz="1000" u="none" cap="none" strike="noStrike">
              <a:solidFill>
                <a:schemeClr val="dk1"/>
              </a:solidFill>
              <a:latin typeface="Calibri"/>
              <a:ea typeface="Calibri"/>
              <a:cs typeface="Calibri"/>
              <a:sym typeface="Calibri"/>
            </a:endParaRPr>
          </a:p>
        </p:txBody>
      </p:sp>
      <p:sp>
        <p:nvSpPr>
          <p:cNvPr id="300" name="Google Shape;300;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1" name="Google Shape;301;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2</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US.02</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Based on the excerpt, what was the most likely long-term effect of dividing tribal land “in severalty” under the Dawes Act?</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strengthened tribal governments and expanded reservation territory.</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returned ancestral homelands to tribal control.</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had no measurable effect on Native landholding.</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broke up communal tribal ownership and led to large-scale Native land loss.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20</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306" name="Shape 306"/>
        <p:cNvGrpSpPr/>
        <p:nvPr/>
      </p:nvGrpSpPr>
      <p:grpSpPr>
        <a:xfrm>
          <a:off x="0" y="0"/>
          <a:ext cx="0" cy="0"/>
          <a:chOff x="0" y="0"/>
          <a:chExt cx="0" cy="0"/>
        </a:xfrm>
      </p:grpSpPr>
      <p:sp>
        <p:nvSpPr>
          <p:cNvPr id="307" name="Google Shape;307;p16"/>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08" name="Google Shape;308;p16"/>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US.03</a:t>
            </a:r>
            <a:endParaRPr b="0" i="0" sz="6000" u="none" cap="none" strike="noStrike">
              <a:solidFill>
                <a:schemeClr val="dk1"/>
              </a:solidFill>
              <a:latin typeface="Calibri"/>
              <a:ea typeface="Calibri"/>
              <a:cs typeface="Calibri"/>
              <a:sym typeface="Calibri"/>
            </a:endParaRPr>
          </a:p>
        </p:txBody>
      </p:sp>
      <p:sp>
        <p:nvSpPr>
          <p:cNvPr id="309" name="Google Shape;309;p16"/>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Compromise of 1877, Jim Crow &amp; Plessy v. Ferguson</a:t>
            </a:r>
            <a:endParaRPr b="0" i="0" sz="2600" u="none" cap="none" strike="noStrike">
              <a:solidFill>
                <a:schemeClr val="dk1"/>
              </a:solidFill>
              <a:latin typeface="Calibri"/>
              <a:ea typeface="Calibri"/>
              <a:cs typeface="Calibri"/>
              <a:sym typeface="Calibri"/>
            </a:endParaRPr>
          </a:p>
        </p:txBody>
      </p:sp>
      <p:sp>
        <p:nvSpPr>
          <p:cNvPr id="310" name="Google Shape;310;p16"/>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311" name="Google Shape;311;p16"/>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US.03 – Explain the impact of the Compromise of 1877, including Jim Crow laws, lynching, disenfranchisement methods, the efforts of Benjamin “Pap” Singleton and the Exodusters, and the Plessy v. Ferguson decision.</a:t>
            </a:r>
            <a:endParaRPr b="0" i="0" sz="1600" u="none" cap="none" strike="noStrike">
              <a:solidFill>
                <a:schemeClr val="dk1"/>
              </a:solidFill>
              <a:latin typeface="Calibri"/>
              <a:ea typeface="Calibri"/>
              <a:cs typeface="Calibri"/>
              <a:sym typeface="Calibri"/>
            </a:endParaRPr>
          </a:p>
        </p:txBody>
      </p:sp>
      <p:sp>
        <p:nvSpPr>
          <p:cNvPr id="312" name="Google Shape;312;p16"/>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13" name="Google Shape;313;p16"/>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314" name="Google Shape;314;p16"/>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explain the impact of the Compromise of 1877, including Jim Crow laws, lynching, disenfranchisement, the Exodusters, and Plessy v. Ferguson.</a:t>
            </a:r>
            <a:endParaRPr b="0" i="0" sz="1400" u="none" cap="none" strike="noStrike">
              <a:solidFill>
                <a:schemeClr val="dk1"/>
              </a:solidFill>
              <a:latin typeface="Calibri"/>
              <a:ea typeface="Calibri"/>
              <a:cs typeface="Calibri"/>
              <a:sym typeface="Calibri"/>
            </a:endParaRPr>
          </a:p>
        </p:txBody>
      </p:sp>
      <p:sp>
        <p:nvSpPr>
          <p:cNvPr id="315" name="Google Shape;315;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6" name="Google Shape;316;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US.03</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Compromise of 1877</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KOM-pruh-myz</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Compromiso de 1877</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informal agreement resolving the disputed 1876 election: Rutherford B. Hayes became president in exchange for removing federal troops from the South, effectively ending Reconstruction.</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Jim Crow Laws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jim kroh</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Leyes de Jim Crow</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State and local laws enacted primarily in the South between 1877 and the 1960s that enforced racial segregation and denied African Americans their constitutional rights.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Disenfranchisement</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dis-en-FRAN-chyz-ment</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Privación del Derecho al Voto</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systematic denial of voting rights through poll taxes, literacy tests, grandfather clauses, and violence, primarily targeting African American voters.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22</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21" name="Shape 321"/>
        <p:cNvGrpSpPr/>
        <p:nvPr/>
      </p:nvGrpSpPr>
      <p:grpSpPr>
        <a:xfrm>
          <a:off x="0" y="0"/>
          <a:ext cx="0" cy="0"/>
          <a:chOff x="0" y="0"/>
          <a:chExt cx="0" cy="0"/>
        </a:xfrm>
      </p:grpSpPr>
      <p:sp>
        <p:nvSpPr>
          <p:cNvPr id="322" name="Google Shape;322;p17"/>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23" name="Google Shape;323;p17"/>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24" name="Google Shape;324;p1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25" name="Google Shape;325;p17"/>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26" name="Google Shape;326;p1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Compromise of 1877 withdrew federal troops from the South — ending Reconstruction and its protections.</a:t>
            </a:r>
            <a:endParaRPr b="0" i="0" sz="2300" u="none" cap="none" strike="noStrike">
              <a:solidFill>
                <a:schemeClr val="dk1"/>
              </a:solidFill>
              <a:latin typeface="Calibri"/>
              <a:ea typeface="Calibri"/>
              <a:cs typeface="Calibri"/>
              <a:sym typeface="Calibri"/>
            </a:endParaRPr>
          </a:p>
        </p:txBody>
      </p:sp>
      <p:pic>
        <p:nvPicPr>
          <p:cNvPr descr="Primary source: US.03 · The Election of 1876 &amp; End of Reconstruction" id="327" name="Google Shape;327;p1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28" name="Google Shape;328;p1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29" name="Google Shape;329;p1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The Election of 1876 &amp; End of Reconstruction</a:t>
            </a:r>
            <a:endParaRPr b="0" i="0" sz="1000" u="none" cap="none" strike="noStrike">
              <a:solidFill>
                <a:schemeClr val="dk1"/>
              </a:solidFill>
              <a:latin typeface="Calibri"/>
              <a:ea typeface="Calibri"/>
              <a:cs typeface="Calibri"/>
              <a:sym typeface="Calibri"/>
            </a:endParaRPr>
          </a:p>
        </p:txBody>
      </p:sp>
      <p:sp>
        <p:nvSpPr>
          <p:cNvPr id="330" name="Google Shape;330;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1" name="Google Shape;331;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36" name="Shape 336"/>
        <p:cNvGrpSpPr/>
        <p:nvPr/>
      </p:nvGrpSpPr>
      <p:grpSpPr>
        <a:xfrm>
          <a:off x="0" y="0"/>
          <a:ext cx="0" cy="0"/>
          <a:chOff x="0" y="0"/>
          <a:chExt cx="0" cy="0"/>
        </a:xfrm>
      </p:grpSpPr>
      <p:sp>
        <p:nvSpPr>
          <p:cNvPr id="337" name="Google Shape;337;p18"/>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38" name="Google Shape;338;p18"/>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39" name="Google Shape;339;p1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40" name="Google Shape;340;p18"/>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41" name="Google Shape;341;p1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With protection gone, Southern states built Jim Crow — segregation, poll taxes, literacy tests, and lynching.</a:t>
            </a:r>
            <a:endParaRPr b="0" i="0" sz="2300" u="none" cap="none" strike="noStrike">
              <a:solidFill>
                <a:schemeClr val="dk1"/>
              </a:solidFill>
              <a:latin typeface="Calibri"/>
              <a:ea typeface="Calibri"/>
              <a:cs typeface="Calibri"/>
              <a:sym typeface="Calibri"/>
            </a:endParaRPr>
          </a:p>
        </p:txBody>
      </p:sp>
      <p:pic>
        <p:nvPicPr>
          <p:cNvPr descr="Primary-source image — Jim Crow, Lynching &amp; Disenfranchisement." id="342" name="Google Shape;342;p1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43" name="Google Shape;343;p1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44" name="Google Shape;344;p1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Jim Crow, Lynching &amp; Disenfranchisement</a:t>
            </a:r>
            <a:endParaRPr b="0" i="0" sz="1000" u="none" cap="none" strike="noStrike">
              <a:solidFill>
                <a:schemeClr val="dk1"/>
              </a:solidFill>
              <a:latin typeface="Calibri"/>
              <a:ea typeface="Calibri"/>
              <a:cs typeface="Calibri"/>
              <a:sym typeface="Calibri"/>
            </a:endParaRPr>
          </a:p>
        </p:txBody>
      </p:sp>
      <p:sp>
        <p:nvSpPr>
          <p:cNvPr id="345" name="Google Shape;345;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6" name="Google Shape;346;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51" name="Shape 351"/>
        <p:cNvGrpSpPr/>
        <p:nvPr/>
      </p:nvGrpSpPr>
      <p:grpSpPr>
        <a:xfrm>
          <a:off x="0" y="0"/>
          <a:ext cx="0" cy="0"/>
          <a:chOff x="0" y="0"/>
          <a:chExt cx="0" cy="0"/>
        </a:xfrm>
      </p:grpSpPr>
      <p:sp>
        <p:nvSpPr>
          <p:cNvPr id="352" name="Google Shape;352;p19"/>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53" name="Google Shape;353;p19"/>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54" name="Google Shape;354;p1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55" name="Google Shape;355;p19"/>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56" name="Google Shape;356;p1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Pap Singleton led the Exodusters — thousands of Black Southerners who migrated to Kansas to escape Jim Crow terror.</a:t>
            </a:r>
            <a:endParaRPr b="0" i="0" sz="2300" u="none" cap="none" strike="noStrike">
              <a:solidFill>
                <a:schemeClr val="dk1"/>
              </a:solidFill>
              <a:latin typeface="Calibri"/>
              <a:ea typeface="Calibri"/>
              <a:cs typeface="Calibri"/>
              <a:sym typeface="Calibri"/>
            </a:endParaRPr>
          </a:p>
        </p:txBody>
      </p:sp>
      <p:pic>
        <p:nvPicPr>
          <p:cNvPr descr="Primary-source image — Pap Singleton &amp; the Exodusters." id="357" name="Google Shape;357;p19"/>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58" name="Google Shape;358;p19"/>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59" name="Google Shape;359;p1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Pap Singleton &amp; the Exodusters</a:t>
            </a:r>
            <a:endParaRPr b="0" i="0" sz="1000" u="none" cap="none" strike="noStrike">
              <a:solidFill>
                <a:schemeClr val="dk1"/>
              </a:solidFill>
              <a:latin typeface="Calibri"/>
              <a:ea typeface="Calibri"/>
              <a:cs typeface="Calibri"/>
              <a:sym typeface="Calibri"/>
            </a:endParaRPr>
          </a:p>
        </p:txBody>
      </p:sp>
      <p:sp>
        <p:nvSpPr>
          <p:cNvPr id="360" name="Google Shape;360;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1" name="Google Shape;361;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66" name="Shape 366"/>
        <p:cNvGrpSpPr/>
        <p:nvPr/>
      </p:nvGrpSpPr>
      <p:grpSpPr>
        <a:xfrm>
          <a:off x="0" y="0"/>
          <a:ext cx="0" cy="0"/>
          <a:chOff x="0" y="0"/>
          <a:chExt cx="0" cy="0"/>
        </a:xfrm>
      </p:grpSpPr>
      <p:sp>
        <p:nvSpPr>
          <p:cNvPr id="367" name="Google Shape;367;p20"/>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68" name="Google Shape;368;p20"/>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69" name="Google Shape;369;p2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70" name="Google Shape;370;p20"/>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71" name="Google Shape;371;p2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Plessy v. Ferguson (1896) made “separate but equal” law — legitimizing segregation for nearly sixty years.</a:t>
            </a:r>
            <a:endParaRPr b="0" i="0" sz="2300" u="none" cap="none" strike="noStrike">
              <a:solidFill>
                <a:schemeClr val="dk1"/>
              </a:solidFill>
              <a:latin typeface="Calibri"/>
              <a:ea typeface="Calibri"/>
              <a:cs typeface="Calibri"/>
              <a:sym typeface="Calibri"/>
            </a:endParaRPr>
          </a:p>
        </p:txBody>
      </p:sp>
      <p:pic>
        <p:nvPicPr>
          <p:cNvPr descr="Primary-source image — Plessy v. Ferguson." id="372" name="Google Shape;372;p2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73" name="Google Shape;373;p2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74" name="Google Shape;374;p2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Plessy v. Ferguson</a:t>
            </a:r>
            <a:endParaRPr b="0" i="0" sz="1000" u="none" cap="none" strike="noStrike">
              <a:solidFill>
                <a:schemeClr val="dk1"/>
              </a:solidFill>
              <a:latin typeface="Calibri"/>
              <a:ea typeface="Calibri"/>
              <a:cs typeface="Calibri"/>
              <a:sym typeface="Calibri"/>
            </a:endParaRPr>
          </a:p>
        </p:txBody>
      </p:sp>
      <p:sp>
        <p:nvSpPr>
          <p:cNvPr id="375" name="Google Shape;375;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6" name="Google Shape;376;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381" name="Shape 381"/>
        <p:cNvGrpSpPr/>
        <p:nvPr/>
      </p:nvGrpSpPr>
      <p:grpSpPr>
        <a:xfrm>
          <a:off x="0" y="0"/>
          <a:ext cx="0" cy="0"/>
          <a:chOff x="0" y="0"/>
          <a:chExt cx="0" cy="0"/>
        </a:xfrm>
      </p:grpSpPr>
      <p:sp>
        <p:nvSpPr>
          <p:cNvPr id="382" name="Google Shape;382;p2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83" name="Google Shape;383;p21"/>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84" name="Google Shape;384;p21"/>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385" name="Google Shape;385;p21"/>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86" name="Google Shape;386;p2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Court’s own words show the doctrine — read what “separate but equal” actually authorized.</a:t>
            </a:r>
            <a:endParaRPr b="0" i="0" sz="2000" u="none" cap="none" strike="noStrike">
              <a:solidFill>
                <a:schemeClr val="dk1"/>
              </a:solidFill>
              <a:latin typeface="Calibri"/>
              <a:ea typeface="Calibri"/>
              <a:cs typeface="Calibri"/>
              <a:sym typeface="Calibri"/>
            </a:endParaRPr>
          </a:p>
        </p:txBody>
      </p:sp>
      <p:sp>
        <p:nvSpPr>
          <p:cNvPr id="387" name="Google Shape;387;p21"/>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388" name="Google Shape;388;p2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Supreme Court of the United States (7–1 majority, Justice Brown).</a:t>
            </a:r>
            <a:endParaRPr b="0" i="0" sz="1200" u="none" cap="none" strike="noStrike">
              <a:solidFill>
                <a:schemeClr val="dk1"/>
              </a:solidFill>
              <a:latin typeface="Calibri"/>
              <a:ea typeface="Calibri"/>
              <a:cs typeface="Calibri"/>
              <a:sym typeface="Calibri"/>
            </a:endParaRPr>
          </a:p>
        </p:txBody>
      </p:sp>
      <p:sp>
        <p:nvSpPr>
          <p:cNvPr id="389" name="Google Shape;389;p21"/>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390" name="Google Shape;390;p2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May 18, 1896.</a:t>
            </a:r>
            <a:endParaRPr b="0" i="0" sz="1200" u="none" cap="none" strike="noStrike">
              <a:solidFill>
                <a:schemeClr val="dk1"/>
              </a:solidFill>
              <a:latin typeface="Calibri"/>
              <a:ea typeface="Calibri"/>
              <a:cs typeface="Calibri"/>
              <a:sym typeface="Calibri"/>
            </a:endParaRPr>
          </a:p>
        </p:txBody>
      </p:sp>
      <p:sp>
        <p:nvSpPr>
          <p:cNvPr id="391" name="Google Shape;391;p21"/>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392" name="Google Shape;392;p2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ruling sets the law of the land — ask what it permitted and whom it left unprotected.</a:t>
            </a:r>
            <a:endParaRPr b="0" i="0" sz="1200" u="none" cap="none" strike="noStrike">
              <a:solidFill>
                <a:schemeClr val="dk1"/>
              </a:solidFill>
              <a:latin typeface="Calibri"/>
              <a:ea typeface="Calibri"/>
              <a:cs typeface="Calibri"/>
              <a:sym typeface="Calibri"/>
            </a:endParaRPr>
          </a:p>
        </p:txBody>
      </p:sp>
      <p:sp>
        <p:nvSpPr>
          <p:cNvPr id="393" name="Google Shape;393;p21"/>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94" name="Google Shape;394;p2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Plessy v. Ferguson (majority opinion)</a:t>
            </a:r>
            <a:endParaRPr b="0" i="0" sz="1400" u="none" cap="none" strike="noStrike">
              <a:solidFill>
                <a:schemeClr val="dk1"/>
              </a:solidFill>
              <a:latin typeface="Calibri"/>
              <a:ea typeface="Calibri"/>
              <a:cs typeface="Calibri"/>
              <a:sym typeface="Calibri"/>
            </a:endParaRPr>
          </a:p>
        </p:txBody>
      </p:sp>
      <p:sp>
        <p:nvSpPr>
          <p:cNvPr id="395" name="Google Shape;395;p2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Supreme Court of the United States · May 18, 1896 (163 U.S. 537)</a:t>
            </a:r>
            <a:endParaRPr b="0" i="0" sz="900" u="none" cap="none" strike="noStrike">
              <a:solidFill>
                <a:schemeClr val="dk1"/>
              </a:solidFill>
              <a:latin typeface="Calibri"/>
              <a:ea typeface="Calibri"/>
              <a:cs typeface="Calibri"/>
              <a:sym typeface="Calibri"/>
            </a:endParaRPr>
          </a:p>
        </p:txBody>
      </p:sp>
      <p:sp>
        <p:nvSpPr>
          <p:cNvPr id="396" name="Google Shape;396;p2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"Laws permitting, and even requiring, [the] separation [of the races] in places where they are liable to be brought into contact do not necessarily imply the inferiority of either race..."</a:t>
            </a:r>
            <a:endParaRPr b="0" i="0" sz="1100" u="none" cap="none" strike="noStrike">
              <a:solidFill>
                <a:schemeClr val="dk1"/>
              </a:solidFill>
              <a:latin typeface="Calibri"/>
              <a:ea typeface="Calibri"/>
              <a:cs typeface="Calibri"/>
              <a:sym typeface="Calibri"/>
            </a:endParaRPr>
          </a:p>
        </p:txBody>
      </p:sp>
      <p:sp>
        <p:nvSpPr>
          <p:cNvPr id="397" name="Google Shape;397;p2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 U.S. Reports</a:t>
            </a:r>
            <a:endParaRPr b="0" i="0" sz="900" u="none" cap="none" strike="noStrike">
              <a:solidFill>
                <a:schemeClr val="dk1"/>
              </a:solidFill>
              <a:latin typeface="Calibri"/>
              <a:ea typeface="Calibri"/>
              <a:cs typeface="Calibri"/>
              <a:sym typeface="Calibri"/>
            </a:endParaRPr>
          </a:p>
        </p:txBody>
      </p:sp>
      <p:sp>
        <p:nvSpPr>
          <p:cNvPr id="398" name="Google Shape;398;p21"/>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99" name="Google Shape;399;p21"/>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Harlan dissent, Plessy v. Ferguson</a:t>
            </a:r>
            <a:endParaRPr b="0" i="0" sz="1400" u="none" cap="none" strike="noStrike">
              <a:solidFill>
                <a:schemeClr val="dk1"/>
              </a:solidFill>
              <a:latin typeface="Calibri"/>
              <a:ea typeface="Calibri"/>
              <a:cs typeface="Calibri"/>
              <a:sym typeface="Calibri"/>
            </a:endParaRPr>
          </a:p>
        </p:txBody>
      </p:sp>
      <p:sp>
        <p:nvSpPr>
          <p:cNvPr id="400" name="Google Shape;400;p21"/>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Justice John Marshall Harlan · May 18, 1896</a:t>
            </a:r>
            <a:endParaRPr b="0" i="0" sz="900" u="none" cap="none" strike="noStrike">
              <a:solidFill>
                <a:schemeClr val="dk1"/>
              </a:solidFill>
              <a:latin typeface="Calibri"/>
              <a:ea typeface="Calibri"/>
              <a:cs typeface="Calibri"/>
              <a:sym typeface="Calibri"/>
            </a:endParaRPr>
          </a:p>
        </p:txBody>
      </p:sp>
      <p:sp>
        <p:nvSpPr>
          <p:cNvPr id="401" name="Google Shape;401;p21"/>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"Our Constitution is color-blind, and neither knows nor tolerates classes among citizens."</a:t>
            </a:r>
            <a:endParaRPr b="0" i="0" sz="1100" u="none" cap="none" strike="noStrike">
              <a:solidFill>
                <a:schemeClr val="dk1"/>
              </a:solidFill>
              <a:latin typeface="Calibri"/>
              <a:ea typeface="Calibri"/>
              <a:cs typeface="Calibri"/>
              <a:sym typeface="Calibri"/>
            </a:endParaRPr>
          </a:p>
        </p:txBody>
      </p:sp>
      <p:sp>
        <p:nvSpPr>
          <p:cNvPr id="402" name="Google Shape;402;p21">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Library of Congress / U.S. Reports</a:t>
            </a:r>
            <a:endParaRPr b="0" i="0" sz="900" u="none" cap="none" strike="noStrike">
              <a:solidFill>
                <a:schemeClr val="dk1"/>
              </a:solidFill>
              <a:latin typeface="Calibri"/>
              <a:ea typeface="Calibri"/>
              <a:cs typeface="Calibri"/>
              <a:sym typeface="Calibri"/>
            </a:endParaRPr>
          </a:p>
        </p:txBody>
      </p:sp>
      <p:sp>
        <p:nvSpPr>
          <p:cNvPr id="403" name="Google Shape;403;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4" name="Google Shape;404;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409" name="Shape 409"/>
        <p:cNvGrpSpPr/>
        <p:nvPr/>
      </p:nvGrpSpPr>
      <p:grpSpPr>
        <a:xfrm>
          <a:off x="0" y="0"/>
          <a:ext cx="0" cy="0"/>
          <a:chOff x="0" y="0"/>
          <a:chExt cx="0" cy="0"/>
        </a:xfrm>
      </p:grpSpPr>
      <p:sp>
        <p:nvSpPr>
          <p:cNvPr id="410" name="Google Shape;410;p22"/>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411" name="Google Shape;411;p22"/>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412" name="Google Shape;412;p2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413" name="Google Shape;413;p2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14" name="Google Shape;414;p2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15" name="Google Shape;415;p2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416" name="Google Shape;416;p2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417" name="Google Shape;417;p2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18" name="Google Shape;418;p2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White Democratic “Redeemer” governments in the South, who regained political control; the national parties that traded away Black civil rights for the presidency.</a:t>
            </a:r>
            <a:endParaRPr b="0" i="0" sz="1200" u="none" cap="none" strike="noStrike">
              <a:solidFill>
                <a:schemeClr val="dk1"/>
              </a:solidFill>
              <a:latin typeface="Calibri"/>
              <a:ea typeface="Calibri"/>
              <a:cs typeface="Calibri"/>
              <a:sym typeface="Calibri"/>
            </a:endParaRPr>
          </a:p>
        </p:txBody>
      </p:sp>
      <p:sp>
        <p:nvSpPr>
          <p:cNvPr id="419" name="Google Shape;419;p2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20" name="Google Shape;420;p22"/>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21" name="Google Shape;421;p2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422" name="Google Shape;422;p2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423" name="Google Shape;423;p2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24" name="Google Shape;424;p2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African Americans, who lost federal protection, the vote, and equal access — and faced lynching. Those who resisted, like the Exodusters, were forced to flee.</a:t>
            </a:r>
            <a:endParaRPr b="0" i="0" sz="1200" u="none" cap="none" strike="noStrike">
              <a:solidFill>
                <a:schemeClr val="dk1"/>
              </a:solidFill>
              <a:latin typeface="Calibri"/>
              <a:ea typeface="Calibri"/>
              <a:cs typeface="Calibri"/>
              <a:sym typeface="Calibri"/>
            </a:endParaRPr>
          </a:p>
        </p:txBody>
      </p:sp>
      <p:sp>
        <p:nvSpPr>
          <p:cNvPr id="425" name="Google Shape;425;p2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26" name="Google Shape;426;p2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27" name="Google Shape;427;p2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428" name="Google Shape;428;p2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429" name="Google Shape;429;p2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30" name="Google Shape;430;p2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disputed 1876 electoral commission and party leaders (Compromise of 1877); Southern legislatures (Jim Crow laws); and the U.S. Supreme Court (Plessy).</a:t>
            </a:r>
            <a:endParaRPr b="0" i="0" sz="1200" u="none" cap="none" strike="noStrike">
              <a:solidFill>
                <a:schemeClr val="dk1"/>
              </a:solidFill>
              <a:latin typeface="Calibri"/>
              <a:ea typeface="Calibri"/>
              <a:cs typeface="Calibri"/>
              <a:sym typeface="Calibri"/>
            </a:endParaRPr>
          </a:p>
        </p:txBody>
      </p:sp>
      <p:sp>
        <p:nvSpPr>
          <p:cNvPr id="431" name="Google Shape;431;p2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Plessy v. Ferguson, 1896 (U.S. Reports)</a:t>
            </a:r>
            <a:endParaRPr b="0" i="0" sz="1000" u="none" cap="none" strike="noStrike">
              <a:solidFill>
                <a:schemeClr val="dk1"/>
              </a:solidFill>
              <a:latin typeface="Calibri"/>
              <a:ea typeface="Calibri"/>
              <a:cs typeface="Calibri"/>
              <a:sym typeface="Calibri"/>
            </a:endParaRPr>
          </a:p>
        </p:txBody>
      </p:sp>
      <p:sp>
        <p:nvSpPr>
          <p:cNvPr id="432" name="Google Shape;432;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3" name="Google Shape;433;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3</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US.03</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The Plessy majority reasoned that “separate” facilities did not make one race inferior. Which later argument most directly challenges that reasoning?</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segregation was acceptable as long as both facilities were physically identical.</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the Constitution explicitly required racial separation.</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state-enforced separation itself signals and enforces inequality, regardless of facility quality.</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African Americans had freely chosen separate facilities.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29</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438" name="Shape 438"/>
        <p:cNvGrpSpPr/>
        <p:nvPr/>
      </p:nvGrpSpPr>
      <p:grpSpPr>
        <a:xfrm>
          <a:off x="0" y="0"/>
          <a:ext cx="0" cy="0"/>
          <a:chOff x="0" y="0"/>
          <a:chExt cx="0" cy="0"/>
        </a:xfrm>
      </p:grpSpPr>
      <p:sp>
        <p:nvSpPr>
          <p:cNvPr id="439" name="Google Shape;439;p23"/>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40" name="Google Shape;440;p2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US.04</a:t>
            </a:r>
            <a:endParaRPr b="0" i="0" sz="6000" u="none" cap="none" strike="noStrike">
              <a:solidFill>
                <a:schemeClr val="dk1"/>
              </a:solidFill>
              <a:latin typeface="Calibri"/>
              <a:ea typeface="Calibri"/>
              <a:cs typeface="Calibri"/>
              <a:sym typeface="Calibri"/>
            </a:endParaRPr>
          </a:p>
        </p:txBody>
      </p:sp>
      <p:sp>
        <p:nvSpPr>
          <p:cNvPr id="441" name="Google Shape;441;p2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Gilded Age Politics and Economics</a:t>
            </a:r>
            <a:endParaRPr b="0" i="0" sz="2600" u="none" cap="none" strike="noStrike">
              <a:solidFill>
                <a:schemeClr val="dk1"/>
              </a:solidFill>
              <a:latin typeface="Calibri"/>
              <a:ea typeface="Calibri"/>
              <a:cs typeface="Calibri"/>
              <a:sym typeface="Calibri"/>
            </a:endParaRPr>
          </a:p>
        </p:txBody>
      </p:sp>
      <p:sp>
        <p:nvSpPr>
          <p:cNvPr id="442" name="Google Shape;442;p2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443" name="Google Shape;443;p2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US.04 – Analyze the causes and consequences of Gilded Age politics and economics, including political machines, major scandals, civil service reform, and the economic differences between farmers, wage earners, and industrial capitalists.</a:t>
            </a:r>
            <a:endParaRPr b="0" i="0" sz="1600" u="none" cap="none" strike="noStrike">
              <a:solidFill>
                <a:schemeClr val="dk1"/>
              </a:solidFill>
              <a:latin typeface="Calibri"/>
              <a:ea typeface="Calibri"/>
              <a:cs typeface="Calibri"/>
              <a:sym typeface="Calibri"/>
            </a:endParaRPr>
          </a:p>
        </p:txBody>
      </p:sp>
      <p:sp>
        <p:nvSpPr>
          <p:cNvPr id="444" name="Google Shape;444;p23"/>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45" name="Google Shape;445;p2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446" name="Google Shape;446;p2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analyze the causes and consequences of Gilded Age politics and economics, including political machines, scandals, civil service reform, and economic inequality.</a:t>
            </a:r>
            <a:endParaRPr b="0" i="0" sz="1400" u="none" cap="none" strike="noStrike">
              <a:solidFill>
                <a:schemeClr val="dk1"/>
              </a:solidFill>
              <a:latin typeface="Calibri"/>
              <a:ea typeface="Calibri"/>
              <a:cs typeface="Calibri"/>
              <a:sym typeface="Calibri"/>
            </a:endParaRPr>
          </a:p>
        </p:txBody>
      </p:sp>
      <p:sp>
        <p:nvSpPr>
          <p:cNvPr id="447" name="Google Shape;447;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8" name="Google Shape;448;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US.04</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Gilded Age</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GIL-dud ayj</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Edad Dorada</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period from roughly 1870 to 1900 of rapid growth, industrialization, and extreme wealth inequality — named by Mark Twain to suggest a thin gold layer over deep social problems.</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Political Machines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puh-LIT-ih-kul muh-SHEENZ</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Máquinas Políticas</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Corrupt organizations that controlled city politics through patronage, bribery, and vote manipulation, often trading services to immigrants for political support.</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Spoils System</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spoylz SIS-tum</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Sistema de Botín</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practice of rewarding political supporters with government jobs regardless of qualifications — 'to the victor belong the spoils.'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31</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453" name="Shape 453"/>
        <p:cNvGrpSpPr/>
        <p:nvPr/>
      </p:nvGrpSpPr>
      <p:grpSpPr>
        <a:xfrm>
          <a:off x="0" y="0"/>
          <a:ext cx="0" cy="0"/>
          <a:chOff x="0" y="0"/>
          <a:chExt cx="0" cy="0"/>
        </a:xfrm>
      </p:grpSpPr>
      <p:sp>
        <p:nvSpPr>
          <p:cNvPr id="454" name="Google Shape;454;p24"/>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55" name="Google Shape;455;p24"/>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56" name="Google Shape;456;p2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57" name="Google Shape;457;p24"/>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58" name="Google Shape;458;p2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Political machines like Boss Tweed’s Tammany Hall ran cities through patronage — funneling millions in public funds.</a:t>
            </a:r>
            <a:endParaRPr b="0" i="0" sz="2300" u="none" cap="none" strike="noStrike">
              <a:solidFill>
                <a:schemeClr val="dk1"/>
              </a:solidFill>
              <a:latin typeface="Calibri"/>
              <a:ea typeface="Calibri"/>
              <a:cs typeface="Calibri"/>
              <a:sym typeface="Calibri"/>
            </a:endParaRPr>
          </a:p>
        </p:txBody>
      </p:sp>
      <p:pic>
        <p:nvPicPr>
          <p:cNvPr descr="Primary-source image — Political Machines &amp; Boss Tweed." id="459" name="Google Shape;459;p2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60" name="Google Shape;460;p2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61" name="Google Shape;461;p2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Political Machines &amp; Boss Tweed</a:t>
            </a:r>
            <a:endParaRPr b="0" i="0" sz="1000" u="none" cap="none" strike="noStrike">
              <a:solidFill>
                <a:schemeClr val="dk1"/>
              </a:solidFill>
              <a:latin typeface="Calibri"/>
              <a:ea typeface="Calibri"/>
              <a:cs typeface="Calibri"/>
              <a:sym typeface="Calibri"/>
            </a:endParaRPr>
          </a:p>
        </p:txBody>
      </p:sp>
      <p:sp>
        <p:nvSpPr>
          <p:cNvPr id="462" name="Google Shape;462;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3" name="Google Shape;463;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468" name="Shape 468"/>
        <p:cNvGrpSpPr/>
        <p:nvPr/>
      </p:nvGrpSpPr>
      <p:grpSpPr>
        <a:xfrm>
          <a:off x="0" y="0"/>
          <a:ext cx="0" cy="0"/>
          <a:chOff x="0" y="0"/>
          <a:chExt cx="0" cy="0"/>
        </a:xfrm>
      </p:grpSpPr>
      <p:sp>
        <p:nvSpPr>
          <p:cNvPr id="469" name="Google Shape;469;p25"/>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70" name="Google Shape;470;p25"/>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71" name="Google Shape;471;p2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72" name="Google Shape;472;p25"/>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73" name="Google Shape;473;p2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s" sz="2300" u="none" cap="none" strike="noStrike">
                <a:solidFill>
                  <a:srgbClr val="FFFFFF"/>
                </a:solidFill>
                <a:latin typeface="Georgia"/>
                <a:ea typeface="Georgia"/>
                <a:cs typeface="Georgia"/>
                <a:sym typeface="Georgia"/>
              </a:rPr>
              <a:t>Scandals ran deep: Crédit Mobilier and the spoils system — until Garfield’s 1881 assassination forced reform.</a:t>
            </a:r>
            <a:endParaRPr b="0" i="0" sz="2300" u="none" cap="none" strike="noStrike">
              <a:solidFill>
                <a:schemeClr val="dk1"/>
              </a:solidFill>
              <a:latin typeface="Calibri"/>
              <a:ea typeface="Calibri"/>
              <a:cs typeface="Calibri"/>
              <a:sym typeface="Calibri"/>
            </a:endParaRPr>
          </a:p>
        </p:txBody>
      </p:sp>
      <p:pic>
        <p:nvPicPr>
          <p:cNvPr descr="Primary-source image — Scandals &amp; the Spoils System." id="474" name="Google Shape;474;p2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75" name="Google Shape;475;p2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76" name="Google Shape;476;p2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Scandals &amp; the Spoils System</a:t>
            </a:r>
            <a:endParaRPr b="0" i="0" sz="1000" u="none" cap="none" strike="noStrike">
              <a:solidFill>
                <a:schemeClr val="dk1"/>
              </a:solidFill>
              <a:latin typeface="Calibri"/>
              <a:ea typeface="Calibri"/>
              <a:cs typeface="Calibri"/>
              <a:sym typeface="Calibri"/>
            </a:endParaRPr>
          </a:p>
        </p:txBody>
      </p:sp>
      <p:sp>
        <p:nvSpPr>
          <p:cNvPr id="477" name="Google Shape;477;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8" name="Google Shape;478;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483" name="Shape 483"/>
        <p:cNvGrpSpPr/>
        <p:nvPr/>
      </p:nvGrpSpPr>
      <p:grpSpPr>
        <a:xfrm>
          <a:off x="0" y="0"/>
          <a:ext cx="0" cy="0"/>
          <a:chOff x="0" y="0"/>
          <a:chExt cx="0" cy="0"/>
        </a:xfrm>
      </p:grpSpPr>
      <p:sp>
        <p:nvSpPr>
          <p:cNvPr id="484" name="Google Shape;484;p26"/>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85" name="Google Shape;485;p26"/>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86" name="Google Shape;486;p2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87" name="Google Shape;487;p26"/>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88" name="Google Shape;488;p2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Pendleton Act (1883) began merit-based hiring; the Interstate Commerce Act (1887) began federal economic regulation.</a:t>
            </a:r>
            <a:endParaRPr b="0" i="0" sz="2300" u="none" cap="none" strike="noStrike">
              <a:solidFill>
                <a:schemeClr val="dk1"/>
              </a:solidFill>
              <a:latin typeface="Calibri"/>
              <a:ea typeface="Calibri"/>
              <a:cs typeface="Calibri"/>
              <a:sym typeface="Calibri"/>
            </a:endParaRPr>
          </a:p>
        </p:txBody>
      </p:sp>
      <p:pic>
        <p:nvPicPr>
          <p:cNvPr descr="Primary-source image — Civil Service &amp; Economic Reform." id="489" name="Google Shape;489;p2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90" name="Google Shape;490;p2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91" name="Google Shape;491;p2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Civil Service &amp; Economic Reform</a:t>
            </a:r>
            <a:endParaRPr b="0" i="0" sz="1000" u="none" cap="none" strike="noStrike">
              <a:solidFill>
                <a:schemeClr val="dk1"/>
              </a:solidFill>
              <a:latin typeface="Calibri"/>
              <a:ea typeface="Calibri"/>
              <a:cs typeface="Calibri"/>
              <a:sym typeface="Calibri"/>
            </a:endParaRPr>
          </a:p>
        </p:txBody>
      </p:sp>
      <p:sp>
        <p:nvSpPr>
          <p:cNvPr id="492" name="Google Shape;492;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3" name="Google Shape;493;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498" name="Shape 498"/>
        <p:cNvGrpSpPr/>
        <p:nvPr/>
      </p:nvGrpSpPr>
      <p:grpSpPr>
        <a:xfrm>
          <a:off x="0" y="0"/>
          <a:ext cx="0" cy="0"/>
          <a:chOff x="0" y="0"/>
          <a:chExt cx="0" cy="0"/>
        </a:xfrm>
      </p:grpSpPr>
      <p:sp>
        <p:nvSpPr>
          <p:cNvPr id="499" name="Google Shape;499;p27"/>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00" name="Google Shape;500;p27"/>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01" name="Google Shape;501;p2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02" name="Google Shape;502;p27"/>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03" name="Google Shape;503;p2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Wealth concentrated at the top while farmers and wage earners struggled with debt, low pay, and danger.</a:t>
            </a:r>
            <a:endParaRPr b="0" i="0" sz="2300" u="none" cap="none" strike="noStrike">
              <a:solidFill>
                <a:schemeClr val="dk1"/>
              </a:solidFill>
              <a:latin typeface="Calibri"/>
              <a:ea typeface="Calibri"/>
              <a:cs typeface="Calibri"/>
              <a:sym typeface="Calibri"/>
            </a:endParaRPr>
          </a:p>
        </p:txBody>
      </p:sp>
      <p:pic>
        <p:nvPicPr>
          <p:cNvPr descr="Primary-source image — Economic Disparity." id="504" name="Google Shape;504;p2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05" name="Google Shape;505;p2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06" name="Google Shape;506;p2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Economic Disparity</a:t>
            </a:r>
            <a:endParaRPr b="0" i="0" sz="1000" u="none" cap="none" strike="noStrike">
              <a:solidFill>
                <a:schemeClr val="dk1"/>
              </a:solidFill>
              <a:latin typeface="Calibri"/>
              <a:ea typeface="Calibri"/>
              <a:cs typeface="Calibri"/>
              <a:sym typeface="Calibri"/>
            </a:endParaRPr>
          </a:p>
        </p:txBody>
      </p:sp>
      <p:sp>
        <p:nvSpPr>
          <p:cNvPr id="507" name="Google Shape;507;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8" name="Google Shape;508;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513" name="Shape 513"/>
        <p:cNvGrpSpPr/>
        <p:nvPr/>
      </p:nvGrpSpPr>
      <p:grpSpPr>
        <a:xfrm>
          <a:off x="0" y="0"/>
          <a:ext cx="0" cy="0"/>
          <a:chOff x="0" y="0"/>
          <a:chExt cx="0" cy="0"/>
        </a:xfrm>
      </p:grpSpPr>
      <p:sp>
        <p:nvSpPr>
          <p:cNvPr id="514" name="Google Shape;514;p28"/>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15" name="Google Shape;515;p28"/>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16" name="Google Shape;516;p28"/>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517" name="Google Shape;517;p28"/>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18" name="Google Shape;518;p28"/>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A close observer named the era’s corruption — read how power actually worked in the Gilded Age.</a:t>
            </a:r>
            <a:endParaRPr b="0" i="0" sz="2000" u="none" cap="none" strike="noStrike">
              <a:solidFill>
                <a:schemeClr val="dk1"/>
              </a:solidFill>
              <a:latin typeface="Calibri"/>
              <a:ea typeface="Calibri"/>
              <a:cs typeface="Calibri"/>
              <a:sym typeface="Calibri"/>
            </a:endParaRPr>
          </a:p>
        </p:txBody>
      </p:sp>
      <p:sp>
        <p:nvSpPr>
          <p:cNvPr id="519" name="Google Shape;519;p28"/>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520" name="Google Shape;520;p28"/>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James Bryce, British observer of American government.</a:t>
            </a:r>
            <a:endParaRPr b="0" i="0" sz="1200" u="none" cap="none" strike="noStrike">
              <a:solidFill>
                <a:schemeClr val="dk1"/>
              </a:solidFill>
              <a:latin typeface="Calibri"/>
              <a:ea typeface="Calibri"/>
              <a:cs typeface="Calibri"/>
              <a:sym typeface="Calibri"/>
            </a:endParaRPr>
          </a:p>
        </p:txBody>
      </p:sp>
      <p:sp>
        <p:nvSpPr>
          <p:cNvPr id="521" name="Google Shape;521;p28"/>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522" name="Google Shape;522;p28"/>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1888 (The American Commonwealth).</a:t>
            </a:r>
            <a:endParaRPr b="0" i="0" sz="1200" u="none" cap="none" strike="noStrike">
              <a:solidFill>
                <a:schemeClr val="dk1"/>
              </a:solidFill>
              <a:latin typeface="Calibri"/>
              <a:ea typeface="Calibri"/>
              <a:cs typeface="Calibri"/>
              <a:sym typeface="Calibri"/>
            </a:endParaRPr>
          </a:p>
        </p:txBody>
      </p:sp>
      <p:sp>
        <p:nvSpPr>
          <p:cNvPr id="523" name="Google Shape;523;p28"/>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524" name="Google Shape;524;p28"/>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An outside observer describes what insiders took for granted — ask what he says corrupted city government.</a:t>
            </a:r>
            <a:endParaRPr b="0" i="0" sz="1200" u="none" cap="none" strike="noStrike">
              <a:solidFill>
                <a:schemeClr val="dk1"/>
              </a:solidFill>
              <a:latin typeface="Calibri"/>
              <a:ea typeface="Calibri"/>
              <a:cs typeface="Calibri"/>
              <a:sym typeface="Calibri"/>
            </a:endParaRPr>
          </a:p>
        </p:txBody>
      </p:sp>
      <p:sp>
        <p:nvSpPr>
          <p:cNvPr id="525" name="Google Shape;525;p28"/>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26" name="Google Shape;526;p28"/>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American Commonwealth</a:t>
            </a:r>
            <a:endParaRPr b="0" i="0" sz="1400" u="none" cap="none" strike="noStrike">
              <a:solidFill>
                <a:schemeClr val="dk1"/>
              </a:solidFill>
              <a:latin typeface="Calibri"/>
              <a:ea typeface="Calibri"/>
              <a:cs typeface="Calibri"/>
              <a:sym typeface="Calibri"/>
            </a:endParaRPr>
          </a:p>
        </p:txBody>
      </p:sp>
      <p:sp>
        <p:nvSpPr>
          <p:cNvPr id="527" name="Google Shape;527;p28"/>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James Bryce · 1888</a:t>
            </a:r>
            <a:endParaRPr b="0" i="0" sz="900" u="none" cap="none" strike="noStrike">
              <a:solidFill>
                <a:schemeClr val="dk1"/>
              </a:solidFill>
              <a:latin typeface="Calibri"/>
              <a:ea typeface="Calibri"/>
              <a:cs typeface="Calibri"/>
              <a:sym typeface="Calibri"/>
            </a:endParaRPr>
          </a:p>
        </p:txBody>
      </p:sp>
      <p:sp>
        <p:nvSpPr>
          <p:cNvPr id="528" name="Google Shape;528;p28"/>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Boss... has a fine sense of political values... He dispenses places, rewards the loyal, punishes the mutinous... The machine works because it feeds those who serve it."</a:t>
            </a:r>
            <a:endParaRPr b="0" i="0" sz="1100" u="none" cap="none" strike="noStrike">
              <a:solidFill>
                <a:schemeClr val="dk1"/>
              </a:solidFill>
              <a:latin typeface="Calibri"/>
              <a:ea typeface="Calibri"/>
              <a:cs typeface="Calibri"/>
              <a:sym typeface="Calibri"/>
            </a:endParaRPr>
          </a:p>
        </p:txBody>
      </p:sp>
      <p:sp>
        <p:nvSpPr>
          <p:cNvPr id="529" name="Google Shape;529;p28">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HathiTrust / Public Domain</a:t>
            </a:r>
            <a:endParaRPr b="0" i="0" sz="900" u="none" cap="none" strike="noStrike">
              <a:solidFill>
                <a:schemeClr val="dk1"/>
              </a:solidFill>
              <a:latin typeface="Calibri"/>
              <a:ea typeface="Calibri"/>
              <a:cs typeface="Calibri"/>
              <a:sym typeface="Calibri"/>
            </a:endParaRPr>
          </a:p>
        </p:txBody>
      </p:sp>
      <p:sp>
        <p:nvSpPr>
          <p:cNvPr id="530" name="Google Shape;530;p28"/>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31" name="Google Shape;531;p28"/>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Pendleton Civil Service Reform Act</a:t>
            </a:r>
            <a:endParaRPr b="0" i="0" sz="1400" u="none" cap="none" strike="noStrike">
              <a:solidFill>
                <a:schemeClr val="dk1"/>
              </a:solidFill>
              <a:latin typeface="Calibri"/>
              <a:ea typeface="Calibri"/>
              <a:cs typeface="Calibri"/>
              <a:sym typeface="Calibri"/>
            </a:endParaRPr>
          </a:p>
        </p:txBody>
      </p:sp>
      <p:sp>
        <p:nvSpPr>
          <p:cNvPr id="532" name="Google Shape;532;p28"/>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January 16, 1883 (22 Stat. 403)</a:t>
            </a:r>
            <a:endParaRPr b="0" i="0" sz="900" u="none" cap="none" strike="noStrike">
              <a:solidFill>
                <a:schemeClr val="dk1"/>
              </a:solidFill>
              <a:latin typeface="Calibri"/>
              <a:ea typeface="Calibri"/>
              <a:cs typeface="Calibri"/>
              <a:sym typeface="Calibri"/>
            </a:endParaRPr>
          </a:p>
        </p:txBody>
      </p:sp>
      <p:sp>
        <p:nvSpPr>
          <p:cNvPr id="533" name="Google Shape;533;p28"/>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"...appointments to the [classified] service... shall be made... from among those graded highest as the results of such competitive examinations."</a:t>
            </a:r>
            <a:endParaRPr b="0" i="0" sz="1100" u="none" cap="none" strike="noStrike">
              <a:solidFill>
                <a:schemeClr val="dk1"/>
              </a:solidFill>
              <a:latin typeface="Calibri"/>
              <a:ea typeface="Calibri"/>
              <a:cs typeface="Calibri"/>
              <a:sym typeface="Calibri"/>
            </a:endParaRPr>
          </a:p>
        </p:txBody>
      </p:sp>
      <p:sp>
        <p:nvSpPr>
          <p:cNvPr id="534" name="Google Shape;534;p28">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Library of Congress / Statutes at Large</a:t>
            </a:r>
            <a:endParaRPr b="0" i="0" sz="900" u="none" cap="none" strike="noStrike">
              <a:solidFill>
                <a:schemeClr val="dk1"/>
              </a:solidFill>
              <a:latin typeface="Calibri"/>
              <a:ea typeface="Calibri"/>
              <a:cs typeface="Calibri"/>
              <a:sym typeface="Calibri"/>
            </a:endParaRPr>
          </a:p>
        </p:txBody>
      </p:sp>
      <p:sp>
        <p:nvSpPr>
          <p:cNvPr id="535" name="Google Shape;535;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6" name="Google Shape;536;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541" name="Shape 541"/>
        <p:cNvGrpSpPr/>
        <p:nvPr/>
      </p:nvGrpSpPr>
      <p:grpSpPr>
        <a:xfrm>
          <a:off x="0" y="0"/>
          <a:ext cx="0" cy="0"/>
          <a:chOff x="0" y="0"/>
          <a:chExt cx="0" cy="0"/>
        </a:xfrm>
      </p:grpSpPr>
      <p:sp>
        <p:nvSpPr>
          <p:cNvPr id="542" name="Google Shape;542;p29"/>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543" name="Google Shape;543;p29"/>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44" name="Google Shape;544;p29"/>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545" name="Google Shape;545;p29"/>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46" name="Google Shape;546;p29"/>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47" name="Google Shape;547;p29"/>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548" name="Google Shape;548;p29"/>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549" name="Google Shape;549;p29"/>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50" name="Google Shape;550;p29"/>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Political bosses and their machines; industrial capitalists who concentrated wealth; office-seekers rewarded by the spoils system.</a:t>
            </a:r>
            <a:endParaRPr b="0" i="0" sz="1200" u="none" cap="none" strike="noStrike">
              <a:solidFill>
                <a:schemeClr val="dk1"/>
              </a:solidFill>
              <a:latin typeface="Calibri"/>
              <a:ea typeface="Calibri"/>
              <a:cs typeface="Calibri"/>
              <a:sym typeface="Calibri"/>
            </a:endParaRPr>
          </a:p>
        </p:txBody>
      </p:sp>
      <p:sp>
        <p:nvSpPr>
          <p:cNvPr id="551" name="Google Shape;551;p29"/>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52" name="Google Shape;552;p29"/>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53" name="Google Shape;553;p29"/>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554" name="Google Shape;554;p29"/>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555" name="Google Shape;555;p29"/>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56" name="Google Shape;556;p29"/>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Farmers facing falling prices and high rail rates; wage earners in dangerous, low-paid jobs; taxpayers whose funds were siphoned by machines.</a:t>
            </a:r>
            <a:endParaRPr b="0" i="0" sz="1200" u="none" cap="none" strike="noStrike">
              <a:solidFill>
                <a:schemeClr val="dk1"/>
              </a:solidFill>
              <a:latin typeface="Calibri"/>
              <a:ea typeface="Calibri"/>
              <a:cs typeface="Calibri"/>
              <a:sym typeface="Calibri"/>
            </a:endParaRPr>
          </a:p>
        </p:txBody>
      </p:sp>
      <p:sp>
        <p:nvSpPr>
          <p:cNvPr id="557" name="Google Shape;557;p29"/>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58" name="Google Shape;558;p29"/>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59" name="Google Shape;559;p29"/>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560" name="Google Shape;560;p29"/>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561" name="Google Shape;561;p29"/>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62" name="Google Shape;562;p29"/>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City machines and party bosses; the U.S. Congress, which passed the Pendleton Act (1883) and Interstate Commerce Act (1887).</a:t>
            </a:r>
            <a:endParaRPr b="0" i="0" sz="1200" u="none" cap="none" strike="noStrike">
              <a:solidFill>
                <a:schemeClr val="dk1"/>
              </a:solidFill>
              <a:latin typeface="Calibri"/>
              <a:ea typeface="Calibri"/>
              <a:cs typeface="Calibri"/>
              <a:sym typeface="Calibri"/>
            </a:endParaRPr>
          </a:p>
        </p:txBody>
      </p:sp>
      <p:sp>
        <p:nvSpPr>
          <p:cNvPr id="563" name="Google Shape;563;p29"/>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The American Commonwealth (Bryce, 1888) &amp; Pendleton Act, 1883</a:t>
            </a:r>
            <a:endParaRPr b="0" i="0" sz="1000" u="none" cap="none" strike="noStrike">
              <a:solidFill>
                <a:schemeClr val="dk1"/>
              </a:solidFill>
              <a:latin typeface="Calibri"/>
              <a:ea typeface="Calibri"/>
              <a:cs typeface="Calibri"/>
              <a:sym typeface="Calibri"/>
            </a:endParaRPr>
          </a:p>
        </p:txBody>
      </p:sp>
      <p:sp>
        <p:nvSpPr>
          <p:cNvPr id="564" name="Google Shape;564;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5" name="Google Shape;565;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2</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US.04</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How does Bryce’s description of the political “Boss” help explain why the Pendleton Civil Service Reform Act was needed?</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reveal a spoils system in which offices and contracts were handed out for political loyalty, which reformers tried to end.</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praise the political machines as honest and efficient.</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argue that government jobs should be sold to the highest bidder.</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were written after the spoils system ended.</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38</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570" name="Shape 570"/>
        <p:cNvGrpSpPr/>
        <p:nvPr/>
      </p:nvGrpSpPr>
      <p:grpSpPr>
        <a:xfrm>
          <a:off x="0" y="0"/>
          <a:ext cx="0" cy="0"/>
          <a:chOff x="0" y="0"/>
          <a:chExt cx="0" cy="0"/>
        </a:xfrm>
      </p:grpSpPr>
      <p:sp>
        <p:nvSpPr>
          <p:cNvPr id="571" name="Google Shape;571;p30"/>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72" name="Google Shape;572;p30"/>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US.05</a:t>
            </a:r>
            <a:endParaRPr b="0" i="0" sz="6000" u="none" cap="none" strike="noStrike">
              <a:solidFill>
                <a:schemeClr val="dk1"/>
              </a:solidFill>
              <a:latin typeface="Calibri"/>
              <a:ea typeface="Calibri"/>
              <a:cs typeface="Calibri"/>
              <a:sym typeface="Calibri"/>
            </a:endParaRPr>
          </a:p>
        </p:txBody>
      </p:sp>
      <p:sp>
        <p:nvSpPr>
          <p:cNvPr id="573" name="Google Shape;573;p30"/>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Inventions &amp; Innovations of Business Leaders &amp; Entrepreneurs</a:t>
            </a:r>
            <a:endParaRPr b="0" i="0" sz="2600" u="none" cap="none" strike="noStrike">
              <a:solidFill>
                <a:schemeClr val="dk1"/>
              </a:solidFill>
              <a:latin typeface="Calibri"/>
              <a:ea typeface="Calibri"/>
              <a:cs typeface="Calibri"/>
              <a:sym typeface="Calibri"/>
            </a:endParaRPr>
          </a:p>
        </p:txBody>
      </p:sp>
      <p:sp>
        <p:nvSpPr>
          <p:cNvPr id="574" name="Google Shape;574;p30"/>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575" name="Google Shape;575;p30"/>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US.05 – Describe the changes in American life that resulted from the inventions and innovations of business leaders and entrepreneurs of the period, including Bell, Bessemer, Carnegie, Edison, Morgan, Rockefeller, Tesla, Vanderbilt, Madam C.J. Walker, and George Washington Carver.</a:t>
            </a:r>
            <a:endParaRPr b="0" i="0" sz="1600" u="none" cap="none" strike="noStrike">
              <a:solidFill>
                <a:schemeClr val="dk1"/>
              </a:solidFill>
              <a:latin typeface="Calibri"/>
              <a:ea typeface="Calibri"/>
              <a:cs typeface="Calibri"/>
              <a:sym typeface="Calibri"/>
            </a:endParaRPr>
          </a:p>
        </p:txBody>
      </p:sp>
      <p:sp>
        <p:nvSpPr>
          <p:cNvPr id="576" name="Google Shape;576;p30"/>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77" name="Google Shape;577;p30"/>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578" name="Google Shape;578;p30"/>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describe the changes in American life that resulted from the inventions and innovations of business leaders and entrepreneurs of the period.</a:t>
            </a:r>
            <a:endParaRPr b="0" i="0" sz="1400" u="none" cap="none" strike="noStrike">
              <a:solidFill>
                <a:schemeClr val="dk1"/>
              </a:solidFill>
              <a:latin typeface="Calibri"/>
              <a:ea typeface="Calibri"/>
              <a:cs typeface="Calibri"/>
              <a:sym typeface="Calibri"/>
            </a:endParaRPr>
          </a:p>
        </p:txBody>
      </p:sp>
      <p:sp>
        <p:nvSpPr>
          <p:cNvPr id="579" name="Google Shape;579;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0" name="Google Shape;580;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US.05</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Robber Barons / Captains of Industry</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ROB-er BAIR-unz</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Barones Ladrones / Capitanes de Industria</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Wealthy late-1800s industrialists who built massive business empires; critics called them 'robber barons,' supporters 'captains of industry.'</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Vertical Integration</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VUR-tih-kul in-teh-GRAY-shun</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Integración Vertical</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business strategy where a company controls all stages of production, from raw materials to finished product — practiced by Andrew Carnegie in steel.</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Horizontal Integration</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hor-ih-ZON-tul in-teh-GRAY-shun</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Integración Horizontal</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business strategy where a company buys out competitors in the same industry to reduce competition and control prices — practiced by John D. Rockefeller in oil.</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40</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585" name="Shape 585"/>
        <p:cNvGrpSpPr/>
        <p:nvPr/>
      </p:nvGrpSpPr>
      <p:grpSpPr>
        <a:xfrm>
          <a:off x="0" y="0"/>
          <a:ext cx="0" cy="0"/>
          <a:chOff x="0" y="0"/>
          <a:chExt cx="0" cy="0"/>
        </a:xfrm>
      </p:grpSpPr>
      <p:sp>
        <p:nvSpPr>
          <p:cNvPr id="586" name="Google Shape;586;p31"/>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87" name="Google Shape;587;p31"/>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88" name="Google Shape;588;p3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89" name="Google Shape;589;p31"/>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590" name="Google Shape;590;p3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New inventions reshaped daily life: Bell’s telephone, Edison’s light and power, Tesla’s AC, Bessemer’s steel.</a:t>
            </a:r>
            <a:endParaRPr b="0" i="0" sz="2300" u="none" cap="none" strike="noStrike">
              <a:solidFill>
                <a:schemeClr val="dk1"/>
              </a:solidFill>
              <a:latin typeface="Calibri"/>
              <a:ea typeface="Calibri"/>
              <a:cs typeface="Calibri"/>
              <a:sym typeface="Calibri"/>
            </a:endParaRPr>
          </a:p>
        </p:txBody>
      </p:sp>
      <p:pic>
        <p:nvPicPr>
          <p:cNvPr descr="Primary-source image — Technological Innovations." id="591" name="Google Shape;591;p3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92" name="Google Shape;592;p3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93" name="Google Shape;593;p3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Technological Innovations</a:t>
            </a:r>
            <a:endParaRPr b="0" i="0" sz="1000" u="none" cap="none" strike="noStrike">
              <a:solidFill>
                <a:schemeClr val="dk1"/>
              </a:solidFill>
              <a:latin typeface="Calibri"/>
              <a:ea typeface="Calibri"/>
              <a:cs typeface="Calibri"/>
              <a:sym typeface="Calibri"/>
            </a:endParaRPr>
          </a:p>
        </p:txBody>
      </p:sp>
      <p:sp>
        <p:nvSpPr>
          <p:cNvPr id="594" name="Google Shape;594;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5" name="Google Shape;595;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600" name="Shape 600"/>
        <p:cNvGrpSpPr/>
        <p:nvPr/>
      </p:nvGrpSpPr>
      <p:grpSpPr>
        <a:xfrm>
          <a:off x="0" y="0"/>
          <a:ext cx="0" cy="0"/>
          <a:chOff x="0" y="0"/>
          <a:chExt cx="0" cy="0"/>
        </a:xfrm>
      </p:grpSpPr>
      <p:sp>
        <p:nvSpPr>
          <p:cNvPr id="601" name="Google Shape;601;p32"/>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02" name="Google Shape;602;p32"/>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03" name="Google Shape;603;p3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04" name="Google Shape;604;p32"/>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05" name="Google Shape;605;p3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Industrial titans consolidated power: Carnegie (steel), Rockefeller (oil), Morgan (finance), Vanderbilt (rail).</a:t>
            </a:r>
            <a:endParaRPr b="0" i="0" sz="2300" u="none" cap="none" strike="noStrike">
              <a:solidFill>
                <a:schemeClr val="dk1"/>
              </a:solidFill>
              <a:latin typeface="Calibri"/>
              <a:ea typeface="Calibri"/>
              <a:cs typeface="Calibri"/>
              <a:sym typeface="Calibri"/>
            </a:endParaRPr>
          </a:p>
        </p:txBody>
      </p:sp>
      <p:pic>
        <p:nvPicPr>
          <p:cNvPr descr="Primary-source image — Industrial Titans." id="606" name="Google Shape;606;p3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07" name="Google Shape;607;p3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08" name="Google Shape;608;p3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Industrial Titans</a:t>
            </a:r>
            <a:endParaRPr b="0" i="0" sz="1000" u="none" cap="none" strike="noStrike">
              <a:solidFill>
                <a:schemeClr val="dk1"/>
              </a:solidFill>
              <a:latin typeface="Calibri"/>
              <a:ea typeface="Calibri"/>
              <a:cs typeface="Calibri"/>
              <a:sym typeface="Calibri"/>
            </a:endParaRPr>
          </a:p>
        </p:txBody>
      </p:sp>
      <p:sp>
        <p:nvSpPr>
          <p:cNvPr id="609" name="Google Shape;60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10" name="Google Shape;61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615" name="Shape 615"/>
        <p:cNvGrpSpPr/>
        <p:nvPr/>
      </p:nvGrpSpPr>
      <p:grpSpPr>
        <a:xfrm>
          <a:off x="0" y="0"/>
          <a:ext cx="0" cy="0"/>
          <a:chOff x="0" y="0"/>
          <a:chExt cx="0" cy="0"/>
        </a:xfrm>
      </p:grpSpPr>
      <p:sp>
        <p:nvSpPr>
          <p:cNvPr id="616" name="Google Shape;616;p33"/>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17" name="Google Shape;617;p33"/>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18" name="Google Shape;618;p3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19" name="Google Shape;619;p33"/>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20" name="Google Shape;620;p3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African American entrepreneurs broke through: Madam C.J. Walker built a fortune; Carver transformed Southern farming.</a:t>
            </a:r>
            <a:endParaRPr b="0" i="0" sz="2300" u="none" cap="none" strike="noStrike">
              <a:solidFill>
                <a:schemeClr val="dk1"/>
              </a:solidFill>
              <a:latin typeface="Calibri"/>
              <a:ea typeface="Calibri"/>
              <a:cs typeface="Calibri"/>
              <a:sym typeface="Calibri"/>
            </a:endParaRPr>
          </a:p>
        </p:txBody>
      </p:sp>
      <p:pic>
        <p:nvPicPr>
          <p:cNvPr descr="Primary-source image — African American Entrepreneurs." id="621" name="Google Shape;621;p3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22" name="Google Shape;622;p3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23" name="Google Shape;623;p3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African American Entrepreneurs</a:t>
            </a:r>
            <a:endParaRPr b="0" i="0" sz="1000" u="none" cap="none" strike="noStrike">
              <a:solidFill>
                <a:schemeClr val="dk1"/>
              </a:solidFill>
              <a:latin typeface="Calibri"/>
              <a:ea typeface="Calibri"/>
              <a:cs typeface="Calibri"/>
              <a:sym typeface="Calibri"/>
            </a:endParaRPr>
          </a:p>
        </p:txBody>
      </p:sp>
      <p:sp>
        <p:nvSpPr>
          <p:cNvPr id="624" name="Google Shape;624;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25" name="Google Shape;625;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630" name="Shape 630"/>
        <p:cNvGrpSpPr/>
        <p:nvPr/>
      </p:nvGrpSpPr>
      <p:grpSpPr>
        <a:xfrm>
          <a:off x="0" y="0"/>
          <a:ext cx="0" cy="0"/>
          <a:chOff x="0" y="0"/>
          <a:chExt cx="0" cy="0"/>
        </a:xfrm>
      </p:grpSpPr>
      <p:sp>
        <p:nvSpPr>
          <p:cNvPr id="631" name="Google Shape;631;p34"/>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32" name="Google Shape;632;p34"/>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33" name="Google Shape;633;p34"/>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634" name="Google Shape;634;p34"/>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35" name="Google Shape;635;p34"/>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Carnegie explained how the rich should use their wealth — read his “Gospel of Wealth.”</a:t>
            </a:r>
            <a:endParaRPr b="0" i="0" sz="2000" u="none" cap="none" strike="noStrike">
              <a:solidFill>
                <a:schemeClr val="dk1"/>
              </a:solidFill>
              <a:latin typeface="Calibri"/>
              <a:ea typeface="Calibri"/>
              <a:cs typeface="Calibri"/>
              <a:sym typeface="Calibri"/>
            </a:endParaRPr>
          </a:p>
        </p:txBody>
      </p:sp>
      <p:sp>
        <p:nvSpPr>
          <p:cNvPr id="636" name="Google Shape;636;p34"/>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637" name="Google Shape;637;p34"/>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Andrew Carnegie, steel magnate.</a:t>
            </a:r>
            <a:endParaRPr b="0" i="0" sz="1200" u="none" cap="none" strike="noStrike">
              <a:solidFill>
                <a:schemeClr val="dk1"/>
              </a:solidFill>
              <a:latin typeface="Calibri"/>
              <a:ea typeface="Calibri"/>
              <a:cs typeface="Calibri"/>
              <a:sym typeface="Calibri"/>
            </a:endParaRPr>
          </a:p>
        </p:txBody>
      </p:sp>
      <p:sp>
        <p:nvSpPr>
          <p:cNvPr id="638" name="Google Shape;638;p34"/>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639" name="Google Shape;639;p34"/>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1889 (“Wealth,” North American Review).</a:t>
            </a:r>
            <a:endParaRPr b="0" i="0" sz="1200" u="none" cap="none" strike="noStrike">
              <a:solidFill>
                <a:schemeClr val="dk1"/>
              </a:solidFill>
              <a:latin typeface="Calibri"/>
              <a:ea typeface="Calibri"/>
              <a:cs typeface="Calibri"/>
              <a:sym typeface="Calibri"/>
            </a:endParaRPr>
          </a:p>
        </p:txBody>
      </p:sp>
      <p:sp>
        <p:nvSpPr>
          <p:cNvPr id="640" name="Google Shape;640;p34"/>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641" name="Google Shape;641;p34"/>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titan justifies his own fortune — ask what he claims the wealthy owe society, and what he leaves out about workers.</a:t>
            </a:r>
            <a:endParaRPr b="0" i="0" sz="1200" u="none" cap="none" strike="noStrike">
              <a:solidFill>
                <a:schemeClr val="dk1"/>
              </a:solidFill>
              <a:latin typeface="Calibri"/>
              <a:ea typeface="Calibri"/>
              <a:cs typeface="Calibri"/>
              <a:sym typeface="Calibri"/>
            </a:endParaRPr>
          </a:p>
        </p:txBody>
      </p:sp>
      <p:sp>
        <p:nvSpPr>
          <p:cNvPr id="642" name="Google Shape;642;p34"/>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43" name="Google Shape;643;p34"/>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“Wealth” (The Gospel of Wealth)</a:t>
            </a:r>
            <a:endParaRPr b="0" i="0" sz="1400" u="none" cap="none" strike="noStrike">
              <a:solidFill>
                <a:schemeClr val="dk1"/>
              </a:solidFill>
              <a:latin typeface="Calibri"/>
              <a:ea typeface="Calibri"/>
              <a:cs typeface="Calibri"/>
              <a:sym typeface="Calibri"/>
            </a:endParaRPr>
          </a:p>
        </p:txBody>
      </p:sp>
      <p:sp>
        <p:nvSpPr>
          <p:cNvPr id="644" name="Google Shape;644;p34"/>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Andrew Carnegie · June 1889</a:t>
            </a:r>
            <a:endParaRPr b="0" i="0" sz="900" u="none" cap="none" strike="noStrike">
              <a:solidFill>
                <a:schemeClr val="dk1"/>
              </a:solidFill>
              <a:latin typeface="Calibri"/>
              <a:ea typeface="Calibri"/>
              <a:cs typeface="Calibri"/>
              <a:sym typeface="Calibri"/>
            </a:endParaRPr>
          </a:p>
        </p:txBody>
      </p:sp>
      <p:sp>
        <p:nvSpPr>
          <p:cNvPr id="645" name="Google Shape;645;p34"/>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man who dies thus rich dies disgraced... This, then, is held to be the duty of the man of wealth: to consider all surplus revenues... as trust funds... to produce the most beneficial results for the community."</a:t>
            </a:r>
            <a:endParaRPr b="0" i="0" sz="1100" u="none" cap="none" strike="noStrike">
              <a:solidFill>
                <a:schemeClr val="dk1"/>
              </a:solidFill>
              <a:latin typeface="Calibri"/>
              <a:ea typeface="Calibri"/>
              <a:cs typeface="Calibri"/>
              <a:sym typeface="Calibri"/>
            </a:endParaRPr>
          </a:p>
        </p:txBody>
      </p:sp>
      <p:sp>
        <p:nvSpPr>
          <p:cNvPr id="646" name="Google Shape;646;p34">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Public Domain / North American Review</a:t>
            </a:r>
            <a:endParaRPr b="0" i="0" sz="900" u="none" cap="none" strike="noStrike">
              <a:solidFill>
                <a:schemeClr val="dk1"/>
              </a:solidFill>
              <a:latin typeface="Calibri"/>
              <a:ea typeface="Calibri"/>
              <a:cs typeface="Calibri"/>
              <a:sym typeface="Calibri"/>
            </a:endParaRPr>
          </a:p>
        </p:txBody>
      </p:sp>
      <p:sp>
        <p:nvSpPr>
          <p:cNvPr id="647" name="Google Shape;647;p34"/>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48" name="Google Shape;648;p34"/>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Freeman (on Madam C.J. Walker)</a:t>
            </a:r>
            <a:endParaRPr b="0" i="0" sz="1400" u="none" cap="none" strike="noStrike">
              <a:solidFill>
                <a:schemeClr val="dk1"/>
              </a:solidFill>
              <a:latin typeface="Calibri"/>
              <a:ea typeface="Calibri"/>
              <a:cs typeface="Calibri"/>
              <a:sym typeface="Calibri"/>
            </a:endParaRPr>
          </a:p>
        </p:txBody>
      </p:sp>
      <p:sp>
        <p:nvSpPr>
          <p:cNvPr id="649" name="Google Shape;649;p34"/>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The Freeman (Indianapolis) · c. 1911</a:t>
            </a:r>
            <a:endParaRPr b="0" i="0" sz="900" u="none" cap="none" strike="noStrike">
              <a:solidFill>
                <a:schemeClr val="dk1"/>
              </a:solidFill>
              <a:latin typeface="Calibri"/>
              <a:ea typeface="Calibri"/>
              <a:cs typeface="Calibri"/>
              <a:sym typeface="Calibri"/>
            </a:endParaRPr>
          </a:p>
        </p:txBody>
      </p:sp>
      <p:sp>
        <p:nvSpPr>
          <p:cNvPr id="650" name="Google Shape;650;p34"/>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"Mrs. Walker... has built up a business... giving employment to hundreds of colored women... a monument to Negro thrift and enterprise."</a:t>
            </a:r>
            <a:endParaRPr b="0" i="0" sz="1100" u="none" cap="none" strike="noStrike">
              <a:solidFill>
                <a:schemeClr val="dk1"/>
              </a:solidFill>
              <a:latin typeface="Calibri"/>
              <a:ea typeface="Calibri"/>
              <a:cs typeface="Calibri"/>
              <a:sym typeface="Calibri"/>
            </a:endParaRPr>
          </a:p>
        </p:txBody>
      </p:sp>
      <p:sp>
        <p:nvSpPr>
          <p:cNvPr id="651" name="Google Shape;651;p34">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Indianapolis Freeman</a:t>
            </a:r>
            <a:endParaRPr b="0" i="0" sz="900" u="none" cap="none" strike="noStrike">
              <a:solidFill>
                <a:schemeClr val="dk1"/>
              </a:solidFill>
              <a:latin typeface="Calibri"/>
              <a:ea typeface="Calibri"/>
              <a:cs typeface="Calibri"/>
              <a:sym typeface="Calibri"/>
            </a:endParaRPr>
          </a:p>
        </p:txBody>
      </p:sp>
      <p:sp>
        <p:nvSpPr>
          <p:cNvPr id="652" name="Google Shape;652;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53" name="Google Shape;653;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658" name="Shape 658"/>
        <p:cNvGrpSpPr/>
        <p:nvPr/>
      </p:nvGrpSpPr>
      <p:grpSpPr>
        <a:xfrm>
          <a:off x="0" y="0"/>
          <a:ext cx="0" cy="0"/>
          <a:chOff x="0" y="0"/>
          <a:chExt cx="0" cy="0"/>
        </a:xfrm>
      </p:grpSpPr>
      <p:sp>
        <p:nvSpPr>
          <p:cNvPr id="659" name="Google Shape;659;p35"/>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660" name="Google Shape;660;p35"/>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61" name="Google Shape;661;p35"/>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662" name="Google Shape;662;p35"/>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63" name="Google Shape;663;p35"/>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64" name="Google Shape;664;p35"/>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665" name="Google Shape;665;p35"/>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666" name="Google Shape;666;p35"/>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67" name="Google Shape;667;p35"/>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Industrialists who amassed fortunes; consumers gaining new technologies; entrepreneurs like Walker and Carver who created jobs and products.</a:t>
            </a:r>
            <a:endParaRPr b="0" i="0" sz="1200" u="none" cap="none" strike="noStrike">
              <a:solidFill>
                <a:schemeClr val="dk1"/>
              </a:solidFill>
              <a:latin typeface="Calibri"/>
              <a:ea typeface="Calibri"/>
              <a:cs typeface="Calibri"/>
              <a:sym typeface="Calibri"/>
            </a:endParaRPr>
          </a:p>
        </p:txBody>
      </p:sp>
      <p:sp>
        <p:nvSpPr>
          <p:cNvPr id="668" name="Google Shape;668;p35"/>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69" name="Google Shape;669;p35"/>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70" name="Google Shape;670;p35"/>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671" name="Google Shape;671;p35"/>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672" name="Google Shape;672;p35"/>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73" name="Google Shape;673;p35"/>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Workers who faced dangerous conditions and low wages while owners consolidated monopolies; small competitors bought out or driven under.</a:t>
            </a:r>
            <a:endParaRPr b="0" i="0" sz="1200" u="none" cap="none" strike="noStrike">
              <a:solidFill>
                <a:schemeClr val="dk1"/>
              </a:solidFill>
              <a:latin typeface="Calibri"/>
              <a:ea typeface="Calibri"/>
              <a:cs typeface="Calibri"/>
              <a:sym typeface="Calibri"/>
            </a:endParaRPr>
          </a:p>
        </p:txBody>
      </p:sp>
      <p:sp>
        <p:nvSpPr>
          <p:cNvPr id="674" name="Google Shape;674;p35"/>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75" name="Google Shape;675;p35"/>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76" name="Google Shape;676;p35"/>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677" name="Google Shape;677;p35"/>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678" name="Google Shape;678;p35"/>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79" name="Google Shape;679;p35"/>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Private business leaders — Carnegie, Rockefeller, Morgan, Vanderbilt — and the inventors and entrepreneurs whose choices reshaped the economy.</a:t>
            </a:r>
            <a:endParaRPr b="0" i="0" sz="1200" u="none" cap="none" strike="noStrike">
              <a:solidFill>
                <a:schemeClr val="dk1"/>
              </a:solidFill>
              <a:latin typeface="Calibri"/>
              <a:ea typeface="Calibri"/>
              <a:cs typeface="Calibri"/>
              <a:sym typeface="Calibri"/>
            </a:endParaRPr>
          </a:p>
        </p:txBody>
      </p:sp>
      <p:sp>
        <p:nvSpPr>
          <p:cNvPr id="680" name="Google Shape;680;p35"/>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Carnegie, “Wealth” (Gospel of Wealth), 1889</a:t>
            </a:r>
            <a:endParaRPr b="0" i="0" sz="1000" u="none" cap="none" strike="noStrike">
              <a:solidFill>
                <a:schemeClr val="dk1"/>
              </a:solidFill>
              <a:latin typeface="Calibri"/>
              <a:ea typeface="Calibri"/>
              <a:cs typeface="Calibri"/>
              <a:sym typeface="Calibri"/>
            </a:endParaRPr>
          </a:p>
        </p:txBody>
      </p:sp>
      <p:sp>
        <p:nvSpPr>
          <p:cNvPr id="681" name="Google Shape;681;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82" name="Google Shape;682;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2</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US.05</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wealthy 1890s steel magnate funds free public libraries across the country instead of leaving his entire fortune to his heirs. Whose philosophy does this best reflect, and why?</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Carnegie’s philosophy, because it displays wealth publicly to impress others.</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opposite of Carnegie’s view, because he insisted fortunes pass to children.</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opposite of Carnegie’s view, because he opposed all charitable giving.</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Carnegie’s “Gospel of Wealth,” because surplus wealth is used as a trust to benefit society.</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46</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687" name="Shape 687"/>
        <p:cNvGrpSpPr/>
        <p:nvPr/>
      </p:nvGrpSpPr>
      <p:grpSpPr>
        <a:xfrm>
          <a:off x="0" y="0"/>
          <a:ext cx="0" cy="0"/>
          <a:chOff x="0" y="0"/>
          <a:chExt cx="0" cy="0"/>
        </a:xfrm>
      </p:grpSpPr>
      <p:sp>
        <p:nvSpPr>
          <p:cNvPr id="688" name="Google Shape;688;p36"/>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89" name="Google Shape;689;p36"/>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US.06</a:t>
            </a:r>
            <a:endParaRPr b="0" i="0" sz="6000" u="none" cap="none" strike="noStrike">
              <a:solidFill>
                <a:schemeClr val="dk1"/>
              </a:solidFill>
              <a:latin typeface="Calibri"/>
              <a:ea typeface="Calibri"/>
              <a:cs typeface="Calibri"/>
              <a:sym typeface="Calibri"/>
            </a:endParaRPr>
          </a:p>
        </p:txBody>
      </p:sp>
      <p:sp>
        <p:nvSpPr>
          <p:cNvPr id="690" name="Google Shape;690;p36"/>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Industrial Centers and Urbanization</a:t>
            </a:r>
            <a:endParaRPr b="0" i="0" sz="2600" u="none" cap="none" strike="noStrike">
              <a:solidFill>
                <a:schemeClr val="dk1"/>
              </a:solidFill>
              <a:latin typeface="Calibri"/>
              <a:ea typeface="Calibri"/>
              <a:cs typeface="Calibri"/>
              <a:sym typeface="Calibri"/>
            </a:endParaRPr>
          </a:p>
        </p:txBody>
      </p:sp>
      <p:sp>
        <p:nvSpPr>
          <p:cNvPr id="691" name="Google Shape;691;p36"/>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692" name="Google Shape;692;p36"/>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US.06 – Locate major industrial centers, and describe how industrialization influenced the movement of people from rural to urban areas: Boston, Chicago, New York City, Pittsburgh, San Francisco.</a:t>
            </a:r>
            <a:endParaRPr b="0" i="0" sz="1600" u="none" cap="none" strike="noStrike">
              <a:solidFill>
                <a:schemeClr val="dk1"/>
              </a:solidFill>
              <a:latin typeface="Calibri"/>
              <a:ea typeface="Calibri"/>
              <a:cs typeface="Calibri"/>
              <a:sym typeface="Calibri"/>
            </a:endParaRPr>
          </a:p>
        </p:txBody>
      </p:sp>
      <p:sp>
        <p:nvSpPr>
          <p:cNvPr id="693" name="Google Shape;693;p36"/>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94" name="Google Shape;694;p36"/>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695" name="Google Shape;695;p36"/>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locate major industrial centers and describe how industrialization moved people from rural to urban areas.</a:t>
            </a:r>
            <a:endParaRPr b="0" i="0" sz="1400" u="none" cap="none" strike="noStrike">
              <a:solidFill>
                <a:schemeClr val="dk1"/>
              </a:solidFill>
              <a:latin typeface="Calibri"/>
              <a:ea typeface="Calibri"/>
              <a:cs typeface="Calibri"/>
              <a:sym typeface="Calibri"/>
            </a:endParaRPr>
          </a:p>
        </p:txBody>
      </p:sp>
      <p:sp>
        <p:nvSpPr>
          <p:cNvPr id="696" name="Google Shape;696;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97" name="Google Shape;697;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US.06</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Urbanization</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ur-bun-ih-ZAY-shun</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Urbanización</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rapid growth of cities due to industrialization and mass migration, transforming America from a predominantly rural to an urban society.</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Granger Movement</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GRAYN-jer MOOV-ment</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Movimiento Granger</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farmers' organization founded in 1867 that advocated railroad regulation and fought monopolistic practices that harmed farmers through high shipping rates.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Populism</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POP-yuh-liz-um</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Populismo</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1890s political movement of farmers and workers seeking railroad regulation, a graduated income tax, and free coinage of silver to combat economic inequality.</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48</a:t>
            </a: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702" name="Shape 702"/>
        <p:cNvGrpSpPr/>
        <p:nvPr/>
      </p:nvGrpSpPr>
      <p:grpSpPr>
        <a:xfrm>
          <a:off x="0" y="0"/>
          <a:ext cx="0" cy="0"/>
          <a:chOff x="0" y="0"/>
          <a:chExt cx="0" cy="0"/>
        </a:xfrm>
      </p:grpSpPr>
      <p:sp>
        <p:nvSpPr>
          <p:cNvPr id="703" name="Google Shape;703;p37"/>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04" name="Google Shape;704;p37"/>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05" name="Google Shape;705;p3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06" name="Google Shape;706;p37"/>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07" name="Google Shape;707;p3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Industry clustered by geography: Pittsburgh steel, Chicago rail &amp; meatpacking, NYC finance, Boston textiles, San Francisco Pacific trade.</a:t>
            </a:r>
            <a:endParaRPr b="0" i="0" sz="2300" u="none" cap="none" strike="noStrike">
              <a:solidFill>
                <a:schemeClr val="dk1"/>
              </a:solidFill>
              <a:latin typeface="Calibri"/>
              <a:ea typeface="Calibri"/>
              <a:cs typeface="Calibri"/>
              <a:sym typeface="Calibri"/>
            </a:endParaRPr>
          </a:p>
        </p:txBody>
      </p:sp>
      <p:pic>
        <p:nvPicPr>
          <p:cNvPr descr="Primary-source image — Major Industrial Centers." id="708" name="Google Shape;708;p3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09" name="Google Shape;709;p3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10" name="Google Shape;710;p3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Major Industrial Centers</a:t>
            </a:r>
            <a:endParaRPr b="0" i="0" sz="1000" u="none" cap="none" strike="noStrike">
              <a:solidFill>
                <a:schemeClr val="dk1"/>
              </a:solidFill>
              <a:latin typeface="Calibri"/>
              <a:ea typeface="Calibri"/>
              <a:cs typeface="Calibri"/>
              <a:sym typeface="Calibri"/>
            </a:endParaRPr>
          </a:p>
        </p:txBody>
      </p:sp>
      <p:sp>
        <p:nvSpPr>
          <p:cNvPr id="711" name="Google Shape;711;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12" name="Google Shape;712;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717" name="Shape 717"/>
        <p:cNvGrpSpPr/>
        <p:nvPr/>
      </p:nvGrpSpPr>
      <p:grpSpPr>
        <a:xfrm>
          <a:off x="0" y="0"/>
          <a:ext cx="0" cy="0"/>
          <a:chOff x="0" y="0"/>
          <a:chExt cx="0" cy="0"/>
        </a:xfrm>
      </p:grpSpPr>
      <p:sp>
        <p:nvSpPr>
          <p:cNvPr id="718" name="Google Shape;718;p38"/>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19" name="Google Shape;719;p38"/>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20" name="Google Shape;720;p3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21" name="Google Shape;721;p38"/>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22" name="Google Shape;722;p3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Factory wages pulled millions off farms — Chicago grew from 30,000 in 1850 to over 1 million by 1890.</a:t>
            </a:r>
            <a:endParaRPr b="0" i="0" sz="2300" u="none" cap="none" strike="noStrike">
              <a:solidFill>
                <a:schemeClr val="dk1"/>
              </a:solidFill>
              <a:latin typeface="Calibri"/>
              <a:ea typeface="Calibri"/>
              <a:cs typeface="Calibri"/>
              <a:sym typeface="Calibri"/>
            </a:endParaRPr>
          </a:p>
        </p:txBody>
      </p:sp>
      <p:pic>
        <p:nvPicPr>
          <p:cNvPr descr="Primary-source image — Rural-to-Urban Migration." id="723" name="Google Shape;723;p3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24" name="Google Shape;724;p3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25" name="Google Shape;725;p3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Rural-to-Urban Migration</a:t>
            </a:r>
            <a:endParaRPr b="0" i="0" sz="1000" u="none" cap="none" strike="noStrike">
              <a:solidFill>
                <a:schemeClr val="dk1"/>
              </a:solidFill>
              <a:latin typeface="Calibri"/>
              <a:ea typeface="Calibri"/>
              <a:cs typeface="Calibri"/>
              <a:sym typeface="Calibri"/>
            </a:endParaRPr>
          </a:p>
        </p:txBody>
      </p:sp>
      <p:sp>
        <p:nvSpPr>
          <p:cNvPr id="726" name="Google Shape;726;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7" name="Google Shape;727;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732" name="Shape 732"/>
        <p:cNvGrpSpPr/>
        <p:nvPr/>
      </p:nvGrpSpPr>
      <p:grpSpPr>
        <a:xfrm>
          <a:off x="0" y="0"/>
          <a:ext cx="0" cy="0"/>
          <a:chOff x="0" y="0"/>
          <a:chExt cx="0" cy="0"/>
        </a:xfrm>
      </p:grpSpPr>
      <p:sp>
        <p:nvSpPr>
          <p:cNvPr id="733" name="Google Shape;733;p39"/>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34" name="Google Shape;734;p39"/>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35" name="Google Shape;735;p3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36" name="Google Shape;736;p39"/>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37" name="Google Shape;737;p3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Cities grew faster than they could cope — crowded tenements, poor sanitation, and new social problems.</a:t>
            </a:r>
            <a:endParaRPr b="0" i="0" sz="2300" u="none" cap="none" strike="noStrike">
              <a:solidFill>
                <a:schemeClr val="dk1"/>
              </a:solidFill>
              <a:latin typeface="Calibri"/>
              <a:ea typeface="Calibri"/>
              <a:cs typeface="Calibri"/>
              <a:sym typeface="Calibri"/>
            </a:endParaRPr>
          </a:p>
        </p:txBody>
      </p:sp>
      <p:pic>
        <p:nvPicPr>
          <p:cNvPr descr="Primary-source image — Costs of Rapid Growth." id="738" name="Google Shape;738;p39"/>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39" name="Google Shape;739;p39"/>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40" name="Google Shape;740;p3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Costs of Rapid Growth</a:t>
            </a:r>
            <a:endParaRPr b="0" i="0" sz="1000" u="none" cap="none" strike="noStrike">
              <a:solidFill>
                <a:schemeClr val="dk1"/>
              </a:solidFill>
              <a:latin typeface="Calibri"/>
              <a:ea typeface="Calibri"/>
              <a:cs typeface="Calibri"/>
              <a:sym typeface="Calibri"/>
            </a:endParaRPr>
          </a:p>
        </p:txBody>
      </p:sp>
      <p:sp>
        <p:nvSpPr>
          <p:cNvPr id="741" name="Google Shape;741;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2" name="Google Shape;742;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747" name="Shape 747"/>
        <p:cNvGrpSpPr/>
        <p:nvPr/>
      </p:nvGrpSpPr>
      <p:grpSpPr>
        <a:xfrm>
          <a:off x="0" y="0"/>
          <a:ext cx="0" cy="0"/>
          <a:chOff x="0" y="0"/>
          <a:chExt cx="0" cy="0"/>
        </a:xfrm>
      </p:grpSpPr>
      <p:sp>
        <p:nvSpPr>
          <p:cNvPr id="748" name="Google Shape;748;p40"/>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49" name="Google Shape;749;p40"/>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50" name="Google Shape;750;p40"/>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751" name="Google Shape;751;p40"/>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52" name="Google Shape;752;p40"/>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A map is a primary source too — read where manufacturing wage earners concentrated in 1890.</a:t>
            </a:r>
            <a:endParaRPr b="0" i="0" sz="2000" u="none" cap="none" strike="noStrike">
              <a:solidFill>
                <a:schemeClr val="dk1"/>
              </a:solidFill>
              <a:latin typeface="Calibri"/>
              <a:ea typeface="Calibri"/>
              <a:cs typeface="Calibri"/>
              <a:sym typeface="Calibri"/>
            </a:endParaRPr>
          </a:p>
        </p:txBody>
      </p:sp>
      <p:sp>
        <p:nvSpPr>
          <p:cNvPr id="753" name="Google Shape;753;p40"/>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754" name="Google Shape;754;p40"/>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Henry Gannett / U.S. Census Office.</a:t>
            </a:r>
            <a:endParaRPr b="0" i="0" sz="1200" u="none" cap="none" strike="noStrike">
              <a:solidFill>
                <a:schemeClr val="dk1"/>
              </a:solidFill>
              <a:latin typeface="Calibri"/>
              <a:ea typeface="Calibri"/>
              <a:cs typeface="Calibri"/>
              <a:sym typeface="Calibri"/>
            </a:endParaRPr>
          </a:p>
        </p:txBody>
      </p:sp>
      <p:sp>
        <p:nvSpPr>
          <p:cNvPr id="755" name="Google Shape;755;p40"/>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756" name="Google Shape;756;p40"/>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1898 (from the 1890 Eleventh Census).</a:t>
            </a:r>
            <a:endParaRPr b="0" i="0" sz="1200" u="none" cap="none" strike="noStrike">
              <a:solidFill>
                <a:schemeClr val="dk1"/>
              </a:solidFill>
              <a:latin typeface="Calibri"/>
              <a:ea typeface="Calibri"/>
              <a:cs typeface="Calibri"/>
              <a:sym typeface="Calibri"/>
            </a:endParaRPr>
          </a:p>
        </p:txBody>
      </p:sp>
      <p:sp>
        <p:nvSpPr>
          <p:cNvPr id="757" name="Google Shape;757;p40"/>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758" name="Google Shape;758;p40"/>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statistical map shows where industry pulled people — ask which regions drew workers and which were left behind.</a:t>
            </a:r>
            <a:endParaRPr b="0" i="0" sz="1200" u="none" cap="none" strike="noStrike">
              <a:solidFill>
                <a:schemeClr val="dk1"/>
              </a:solidFill>
              <a:latin typeface="Calibri"/>
              <a:ea typeface="Calibri"/>
              <a:cs typeface="Calibri"/>
              <a:sym typeface="Calibri"/>
            </a:endParaRPr>
          </a:p>
        </p:txBody>
      </p:sp>
      <p:sp>
        <p:nvSpPr>
          <p:cNvPr id="759" name="Google Shape;759;p40"/>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60" name="Google Shape;760;p40"/>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Proportion of Wage Earners in Manufactures, 1890</a:t>
            </a:r>
            <a:endParaRPr b="0" i="0" sz="1400" u="none" cap="none" strike="noStrike">
              <a:solidFill>
                <a:schemeClr val="dk1"/>
              </a:solidFill>
              <a:latin typeface="Calibri"/>
              <a:ea typeface="Calibri"/>
              <a:cs typeface="Calibri"/>
              <a:sym typeface="Calibri"/>
            </a:endParaRPr>
          </a:p>
        </p:txBody>
      </p:sp>
      <p:sp>
        <p:nvSpPr>
          <p:cNvPr id="761" name="Google Shape;761;p40"/>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Henry Gannett / U.S. Census Office · 1898</a:t>
            </a:r>
            <a:endParaRPr b="0" i="0" sz="900" u="none" cap="none" strike="noStrike">
              <a:solidFill>
                <a:schemeClr val="dk1"/>
              </a:solidFill>
              <a:latin typeface="Calibri"/>
              <a:ea typeface="Calibri"/>
              <a:cs typeface="Calibri"/>
              <a:sym typeface="Calibri"/>
            </a:endParaRPr>
          </a:p>
        </p:txBody>
      </p:sp>
      <p:sp>
        <p:nvSpPr>
          <p:cNvPr id="762" name="Google Shape;762;p40"/>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"[Statistical Atlas map] The darkest shading marks the industrial Northeast and Great Lakes — the manufacturing core drawing workers from farms and abroad."</a:t>
            </a:r>
            <a:endParaRPr b="0" i="0" sz="1100" u="none" cap="none" strike="noStrike">
              <a:solidFill>
                <a:schemeClr val="dk1"/>
              </a:solidFill>
              <a:latin typeface="Calibri"/>
              <a:ea typeface="Calibri"/>
              <a:cs typeface="Calibri"/>
              <a:sym typeface="Calibri"/>
            </a:endParaRPr>
          </a:p>
        </p:txBody>
      </p:sp>
      <p:sp>
        <p:nvSpPr>
          <p:cNvPr id="763" name="Google Shape;763;p40">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Geography &amp; Map Division</a:t>
            </a:r>
            <a:endParaRPr b="0" i="0" sz="900" u="none" cap="none" strike="noStrike">
              <a:solidFill>
                <a:schemeClr val="dk1"/>
              </a:solidFill>
              <a:latin typeface="Calibri"/>
              <a:ea typeface="Calibri"/>
              <a:cs typeface="Calibri"/>
              <a:sym typeface="Calibri"/>
            </a:endParaRPr>
          </a:p>
        </p:txBody>
      </p:sp>
      <p:sp>
        <p:nvSpPr>
          <p:cNvPr id="764" name="Google Shape;764;p40"/>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65" name="Google Shape;765;p40"/>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How the Other Half Lives (on tenement crowding)</a:t>
            </a:r>
            <a:endParaRPr b="0" i="0" sz="1400" u="none" cap="none" strike="noStrike">
              <a:solidFill>
                <a:schemeClr val="dk1"/>
              </a:solidFill>
              <a:latin typeface="Calibri"/>
              <a:ea typeface="Calibri"/>
              <a:cs typeface="Calibri"/>
              <a:sym typeface="Calibri"/>
            </a:endParaRPr>
          </a:p>
        </p:txBody>
      </p:sp>
      <p:sp>
        <p:nvSpPr>
          <p:cNvPr id="766" name="Google Shape;766;p40"/>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Jacob Riis · 1890</a:t>
            </a:r>
            <a:endParaRPr b="0" i="0" sz="900" u="none" cap="none" strike="noStrike">
              <a:solidFill>
                <a:schemeClr val="dk1"/>
              </a:solidFill>
              <a:latin typeface="Calibri"/>
              <a:ea typeface="Calibri"/>
              <a:cs typeface="Calibri"/>
              <a:sym typeface="Calibri"/>
            </a:endParaRPr>
          </a:p>
        </p:txBody>
      </p:sp>
      <p:sp>
        <p:nvSpPr>
          <p:cNvPr id="767" name="Google Shape;767;p40"/>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"In the tenements all the influences make for evil... The gap between the classes... is widening day by day."</a:t>
            </a:r>
            <a:endParaRPr b="0" i="0" sz="1100" u="none" cap="none" strike="noStrike">
              <a:solidFill>
                <a:schemeClr val="dk1"/>
              </a:solidFill>
              <a:latin typeface="Calibri"/>
              <a:ea typeface="Calibri"/>
              <a:cs typeface="Calibri"/>
              <a:sym typeface="Calibri"/>
            </a:endParaRPr>
          </a:p>
        </p:txBody>
      </p:sp>
      <p:sp>
        <p:nvSpPr>
          <p:cNvPr id="768" name="Google Shape;768;p40">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Scribner’s</a:t>
            </a:r>
            <a:endParaRPr b="0" i="0" sz="900" u="none" cap="none" strike="noStrike">
              <a:solidFill>
                <a:schemeClr val="dk1"/>
              </a:solidFill>
              <a:latin typeface="Calibri"/>
              <a:ea typeface="Calibri"/>
              <a:cs typeface="Calibri"/>
              <a:sym typeface="Calibri"/>
            </a:endParaRPr>
          </a:p>
        </p:txBody>
      </p:sp>
      <p:sp>
        <p:nvSpPr>
          <p:cNvPr id="769" name="Google Shape;769;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70" name="Google Shape;770;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775" name="Shape 775"/>
        <p:cNvGrpSpPr/>
        <p:nvPr/>
      </p:nvGrpSpPr>
      <p:grpSpPr>
        <a:xfrm>
          <a:off x="0" y="0"/>
          <a:ext cx="0" cy="0"/>
          <a:chOff x="0" y="0"/>
          <a:chExt cx="0" cy="0"/>
        </a:xfrm>
      </p:grpSpPr>
      <p:sp>
        <p:nvSpPr>
          <p:cNvPr id="776" name="Google Shape;776;p41"/>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777" name="Google Shape;777;p41"/>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78" name="Google Shape;778;p41"/>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779" name="Google Shape;779;p41"/>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80" name="Google Shape;780;p41"/>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81" name="Google Shape;781;p41"/>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782" name="Google Shape;782;p41"/>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783" name="Google Shape;783;p41"/>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84" name="Google Shape;784;p41"/>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Factory owners with a concentrated labor supply; cities that grew into commercial powers; workers who found steady wages.</a:t>
            </a:r>
            <a:endParaRPr b="0" i="0" sz="1200" u="none" cap="none" strike="noStrike">
              <a:solidFill>
                <a:schemeClr val="dk1"/>
              </a:solidFill>
              <a:latin typeface="Calibri"/>
              <a:ea typeface="Calibri"/>
              <a:cs typeface="Calibri"/>
              <a:sym typeface="Calibri"/>
            </a:endParaRPr>
          </a:p>
        </p:txBody>
      </p:sp>
      <p:sp>
        <p:nvSpPr>
          <p:cNvPr id="785" name="Google Shape;785;p41"/>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86" name="Google Shape;786;p41"/>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87" name="Google Shape;787;p41"/>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788" name="Google Shape;788;p41"/>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789" name="Google Shape;789;p41"/>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90" name="Google Shape;790;p41"/>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Tenement dwellers in overcrowded, unsanitary housing; rural communities drained of population; workers exposed to industrial hazards.</a:t>
            </a:r>
            <a:endParaRPr b="0" i="0" sz="1200" u="none" cap="none" strike="noStrike">
              <a:solidFill>
                <a:schemeClr val="dk1"/>
              </a:solidFill>
              <a:latin typeface="Calibri"/>
              <a:ea typeface="Calibri"/>
              <a:cs typeface="Calibri"/>
              <a:sym typeface="Calibri"/>
            </a:endParaRPr>
          </a:p>
        </p:txBody>
      </p:sp>
      <p:sp>
        <p:nvSpPr>
          <p:cNvPr id="791" name="Google Shape;791;p41"/>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92" name="Google Shape;792;p41"/>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93" name="Google Shape;793;p41"/>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794" name="Google Shape;794;p41"/>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795" name="Google Shape;795;p41"/>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96" name="Google Shape;796;p41"/>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Industrialists choosing plant locations near coal, rail, and ports; and the market forces of wages and transportation that shaped where people moved.</a:t>
            </a:r>
            <a:endParaRPr b="0" i="0" sz="1200" u="none" cap="none" strike="noStrike">
              <a:solidFill>
                <a:schemeClr val="dk1"/>
              </a:solidFill>
              <a:latin typeface="Calibri"/>
              <a:ea typeface="Calibri"/>
              <a:cs typeface="Calibri"/>
              <a:sym typeface="Calibri"/>
            </a:endParaRPr>
          </a:p>
        </p:txBody>
      </p:sp>
      <p:sp>
        <p:nvSpPr>
          <p:cNvPr id="797" name="Google Shape;797;p41"/>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Wage-Earners Map, 1890 (LOC) &amp; Riis, How the Other Half Lives, 1890</a:t>
            </a:r>
            <a:endParaRPr b="0" i="0" sz="1000" u="none" cap="none" strike="noStrike">
              <a:solidFill>
                <a:schemeClr val="dk1"/>
              </a:solidFill>
              <a:latin typeface="Calibri"/>
              <a:ea typeface="Calibri"/>
              <a:cs typeface="Calibri"/>
              <a:sym typeface="Calibri"/>
            </a:endParaRPr>
          </a:p>
        </p:txBody>
      </p:sp>
      <p:sp>
        <p:nvSpPr>
          <p:cNvPr id="798" name="Google Shape;798;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99" name="Google Shape;799;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2</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US.06</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folk saying held that immigrants came expecting “streets paved with gold,” only to find the streets unpaved — and that they were expected to pave them. What does this reveal about the immigrant experience?</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Immigrants found immediate wealth and success.</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Reality fell far short of expectations, and immigrants faced hard labor.</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American cities were well-developed and welcoming.</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Immigrants were given skilled professional jobs.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54</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804" name="Shape 804"/>
        <p:cNvGrpSpPr/>
        <p:nvPr/>
      </p:nvGrpSpPr>
      <p:grpSpPr>
        <a:xfrm>
          <a:off x="0" y="0"/>
          <a:ext cx="0" cy="0"/>
          <a:chOff x="0" y="0"/>
          <a:chExt cx="0" cy="0"/>
        </a:xfrm>
      </p:grpSpPr>
      <p:sp>
        <p:nvSpPr>
          <p:cNvPr id="805" name="Google Shape;805;p42"/>
          <p:cNvSpPr/>
          <p:nvPr/>
        </p:nvSpPr>
        <p:spPr>
          <a:xfrm>
            <a:off x="0" y="2331720"/>
            <a:ext cx="12191695" cy="73152"/>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06" name="Google Shape;806;p42"/>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6000"/>
              <a:buFont typeface="Georgia"/>
              <a:buNone/>
            </a:pPr>
            <a:r>
              <a:rPr b="1" i="0" lang="en-US" sz="6000" u="none" cap="none" strike="noStrike">
                <a:solidFill>
                  <a:srgbClr val="C9A227"/>
                </a:solidFill>
                <a:latin typeface="Georgia"/>
                <a:ea typeface="Georgia"/>
                <a:cs typeface="Georgia"/>
                <a:sym typeface="Georgia"/>
              </a:rPr>
              <a:t>US.07</a:t>
            </a:r>
            <a:endParaRPr b="0" i="0" sz="6000" u="none" cap="none" strike="noStrike">
              <a:solidFill>
                <a:schemeClr val="dk1"/>
              </a:solidFill>
              <a:latin typeface="Calibri"/>
              <a:ea typeface="Calibri"/>
              <a:cs typeface="Calibri"/>
              <a:sym typeface="Calibri"/>
            </a:endParaRPr>
          </a:p>
        </p:txBody>
      </p:sp>
      <p:sp>
        <p:nvSpPr>
          <p:cNvPr id="807" name="Google Shape;807;p42"/>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Immigration: Old vs. New Immigrants</a:t>
            </a:r>
            <a:endParaRPr b="0" i="0" sz="2600" u="none" cap="none" strike="noStrike">
              <a:solidFill>
                <a:schemeClr val="dk1"/>
              </a:solidFill>
              <a:latin typeface="Calibri"/>
              <a:ea typeface="Calibri"/>
              <a:cs typeface="Calibri"/>
              <a:sym typeface="Calibri"/>
            </a:endParaRPr>
          </a:p>
        </p:txBody>
      </p:sp>
      <p:sp>
        <p:nvSpPr>
          <p:cNvPr id="808" name="Google Shape;808;p42"/>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1200"/>
              <a:buFont typeface="Trebuchet MS"/>
              <a:buNone/>
            </a:pPr>
            <a:r>
              <a:rPr b="1" i="0" lang="en-US" sz="1200" u="none" cap="none" strike="noStrike">
                <a:solidFill>
                  <a:srgbClr val="C9A227"/>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809" name="Google Shape;809;p42"/>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1F3A5F"/>
                </a:solidFill>
                <a:latin typeface="Calibri"/>
                <a:ea typeface="Calibri"/>
                <a:cs typeface="Calibri"/>
                <a:sym typeface="Calibri"/>
              </a:rPr>
              <a:t>US.07 – Describe the differences between “old” and “new” immigrants, analyze the assimilation process, and determine the impacts of increased migration on American society, including Ellis Island, Angel Island, push/pull factors, nativism, the Chinese Exclusion Act, and the Gentlemen’s Agreement.</a:t>
            </a:r>
            <a:endParaRPr b="0" i="0" sz="1600" u="none" cap="none" strike="noStrike">
              <a:solidFill>
                <a:schemeClr val="dk1"/>
              </a:solidFill>
              <a:latin typeface="Calibri"/>
              <a:ea typeface="Calibri"/>
              <a:cs typeface="Calibri"/>
              <a:sym typeface="Calibri"/>
            </a:endParaRPr>
          </a:p>
        </p:txBody>
      </p:sp>
      <p:sp>
        <p:nvSpPr>
          <p:cNvPr id="810" name="Google Shape;810;p42"/>
          <p:cNvSpPr/>
          <p:nvPr/>
        </p:nvSpPr>
        <p:spPr>
          <a:xfrm>
            <a:off x="457200" y="4892040"/>
            <a:ext cx="11247120" cy="123444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11" name="Google Shape;811;p42"/>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812" name="Google Shape;812;p42"/>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A5F"/>
              </a:buClr>
              <a:buSzPts val="1400"/>
              <a:buFont typeface="Calibri"/>
              <a:buNone/>
            </a:pPr>
            <a:r>
              <a:rPr b="1" i="0" lang="en-US" sz="1400" u="none" cap="none" strike="noStrike">
                <a:solidFill>
                  <a:srgbClr val="1F3A5F"/>
                </a:solidFill>
                <a:latin typeface="Calibri"/>
                <a:ea typeface="Calibri"/>
                <a:cs typeface="Calibri"/>
                <a:sym typeface="Calibri"/>
              </a:rPr>
              <a:t>I can describe the differences between “old” and “new” immigrants, analyze assimilation, and determine the impacts of increased migration on American society.</a:t>
            </a:r>
            <a:endParaRPr b="0" i="0" sz="1400" u="none" cap="none" strike="noStrike">
              <a:solidFill>
                <a:schemeClr val="dk1"/>
              </a:solidFill>
              <a:latin typeface="Calibri"/>
              <a:ea typeface="Calibri"/>
              <a:cs typeface="Calibri"/>
              <a:sym typeface="Calibri"/>
            </a:endParaRPr>
          </a:p>
        </p:txBody>
      </p:sp>
      <p:sp>
        <p:nvSpPr>
          <p:cNvPr id="813" name="Google Shape;813;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14" name="Google Shape;814;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US.07</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1F3A5F"/>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Old Immigrants</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ohld IM-ih-grunts</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Viejos Inmigrantes</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Immigrants who came primarily from Northern and Western Europe before 1880, often Protestant and more easily assimilated.</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New Immigrants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noo IM-ih-grunts</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Nuevos Inmigrantes</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Immigrants who came primarily from Southern and Eastern Europe and Asia after 1880, often Catholic, Jewish, or Orthodox, facing greater discrimination.</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Ellis Island</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EL-is EYE-lund</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lang="es">
                <a:solidFill>
                  <a:srgbClr val="8A6D1A"/>
                </a:solidFill>
                <a:latin typeface="Trebuchet MS"/>
              </a:rPr>
              <a:t>ES: Isla Ellis</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primary immigration processing station in New York Harbor from 1892 to 1954, where over 12 million immigrants — primarily Europeans — entered the United States.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56</a:t>
            </a: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819" name="Shape 819"/>
        <p:cNvGrpSpPr/>
        <p:nvPr/>
      </p:nvGrpSpPr>
      <p:grpSpPr>
        <a:xfrm>
          <a:off x="0" y="0"/>
          <a:ext cx="0" cy="0"/>
          <a:chOff x="0" y="0"/>
          <a:chExt cx="0" cy="0"/>
        </a:xfrm>
      </p:grpSpPr>
      <p:sp>
        <p:nvSpPr>
          <p:cNvPr id="820" name="Google Shape;820;p43"/>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21" name="Google Shape;821;p43"/>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22" name="Google Shape;822;p4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23" name="Google Shape;823;p43"/>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24" name="Google Shape;824;p4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“Old” immigrants came from Northern/Western Europe; “new” immigrants (1880–1920) came from Southern/Eastern Europe and Asia.</a:t>
            </a:r>
            <a:endParaRPr b="0" i="0" sz="2300" u="none" cap="none" strike="noStrike">
              <a:solidFill>
                <a:schemeClr val="dk1"/>
              </a:solidFill>
              <a:latin typeface="Calibri"/>
              <a:ea typeface="Calibri"/>
              <a:cs typeface="Calibri"/>
              <a:sym typeface="Calibri"/>
            </a:endParaRPr>
          </a:p>
        </p:txBody>
      </p:sp>
      <p:pic>
        <p:nvPicPr>
          <p:cNvPr descr="Primary-source image — Old vs. New Immigrants." id="825" name="Google Shape;825;p4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26" name="Google Shape;826;p4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27" name="Google Shape;827;p4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Old vs. New Immigrants</a:t>
            </a:r>
            <a:endParaRPr b="0" i="0" sz="1000" u="none" cap="none" strike="noStrike">
              <a:solidFill>
                <a:schemeClr val="dk1"/>
              </a:solidFill>
              <a:latin typeface="Calibri"/>
              <a:ea typeface="Calibri"/>
              <a:cs typeface="Calibri"/>
              <a:sym typeface="Calibri"/>
            </a:endParaRPr>
          </a:p>
        </p:txBody>
      </p:sp>
      <p:sp>
        <p:nvSpPr>
          <p:cNvPr id="828" name="Google Shape;828;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29" name="Google Shape;829;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834" name="Shape 834"/>
        <p:cNvGrpSpPr/>
        <p:nvPr/>
      </p:nvGrpSpPr>
      <p:grpSpPr>
        <a:xfrm>
          <a:off x="0" y="0"/>
          <a:ext cx="0" cy="0"/>
          <a:chOff x="0" y="0"/>
          <a:chExt cx="0" cy="0"/>
        </a:xfrm>
      </p:grpSpPr>
      <p:sp>
        <p:nvSpPr>
          <p:cNvPr id="835" name="Google Shape;835;p44"/>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36" name="Google Shape;836;p44"/>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37" name="Google Shape;837;p4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38" name="Google Shape;838;p44"/>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39" name="Google Shape;839;p4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Ellis Island processed Europeans; Angel Island restricted Asians. Jane Addams’s Hull House aided assimilation.</a:t>
            </a:r>
            <a:endParaRPr b="0" i="0" sz="2300" u="none" cap="none" strike="noStrike">
              <a:solidFill>
                <a:schemeClr val="dk1"/>
              </a:solidFill>
              <a:latin typeface="Calibri"/>
              <a:ea typeface="Calibri"/>
              <a:cs typeface="Calibri"/>
              <a:sym typeface="Calibri"/>
            </a:endParaRPr>
          </a:p>
        </p:txBody>
      </p:sp>
      <p:pic>
        <p:nvPicPr>
          <p:cNvPr descr="Primary-source image — Entry Points &amp; Assimilation." id="840" name="Google Shape;840;p4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41" name="Google Shape;841;p4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42" name="Google Shape;842;p4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Entry Points &amp; Assimilation</a:t>
            </a:r>
            <a:endParaRPr b="0" i="0" sz="1000" u="none" cap="none" strike="noStrike">
              <a:solidFill>
                <a:schemeClr val="dk1"/>
              </a:solidFill>
              <a:latin typeface="Calibri"/>
              <a:ea typeface="Calibri"/>
              <a:cs typeface="Calibri"/>
              <a:sym typeface="Calibri"/>
            </a:endParaRPr>
          </a:p>
        </p:txBody>
      </p:sp>
      <p:sp>
        <p:nvSpPr>
          <p:cNvPr id="843" name="Google Shape;843;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44" name="Google Shape;844;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849" name="Shape 849"/>
        <p:cNvGrpSpPr/>
        <p:nvPr/>
      </p:nvGrpSpPr>
      <p:grpSpPr>
        <a:xfrm>
          <a:off x="0" y="0"/>
          <a:ext cx="0" cy="0"/>
          <a:chOff x="0" y="0"/>
          <a:chExt cx="0" cy="0"/>
        </a:xfrm>
      </p:grpSpPr>
      <p:sp>
        <p:nvSpPr>
          <p:cNvPr id="850" name="Google Shape;850;p45"/>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51" name="Google Shape;851;p45"/>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52" name="Google Shape;852;p4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53" name="Google Shape;853;p45"/>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54" name="Google Shape;854;p4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Push factors (persecution, poverty) and pull factors (opportunity, freedom) drove the largest migration in U.S. history.</a:t>
            </a:r>
            <a:endParaRPr b="0" i="0" sz="2300" u="none" cap="none" strike="noStrike">
              <a:solidFill>
                <a:schemeClr val="dk1"/>
              </a:solidFill>
              <a:latin typeface="Calibri"/>
              <a:ea typeface="Calibri"/>
              <a:cs typeface="Calibri"/>
              <a:sym typeface="Calibri"/>
            </a:endParaRPr>
          </a:p>
        </p:txBody>
      </p:sp>
      <p:pic>
        <p:nvPicPr>
          <p:cNvPr descr="Primary-source image — Push &amp; Pull Factors." id="855" name="Google Shape;855;p4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56" name="Google Shape;856;p4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57" name="Google Shape;857;p4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Push &amp; Pull Factors</a:t>
            </a:r>
            <a:endParaRPr b="0" i="0" sz="1000" u="none" cap="none" strike="noStrike">
              <a:solidFill>
                <a:schemeClr val="dk1"/>
              </a:solidFill>
              <a:latin typeface="Calibri"/>
              <a:ea typeface="Calibri"/>
              <a:cs typeface="Calibri"/>
              <a:sym typeface="Calibri"/>
            </a:endParaRPr>
          </a:p>
        </p:txBody>
      </p:sp>
      <p:sp>
        <p:nvSpPr>
          <p:cNvPr id="858" name="Google Shape;858;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9" name="Google Shape;859;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864" name="Shape 864"/>
        <p:cNvGrpSpPr/>
        <p:nvPr/>
      </p:nvGrpSpPr>
      <p:grpSpPr>
        <a:xfrm>
          <a:off x="0" y="0"/>
          <a:ext cx="0" cy="0"/>
          <a:chOff x="0" y="0"/>
          <a:chExt cx="0" cy="0"/>
        </a:xfrm>
      </p:grpSpPr>
      <p:sp>
        <p:nvSpPr>
          <p:cNvPr id="865" name="Google Shape;865;p46"/>
          <p:cNvSpPr/>
          <p:nvPr/>
        </p:nvSpPr>
        <p:spPr>
          <a:xfrm>
            <a:off x="0" y="0"/>
            <a:ext cx="12191695" cy="173736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66" name="Google Shape;866;p46"/>
          <p:cNvSpPr/>
          <p:nvPr/>
        </p:nvSpPr>
        <p:spPr>
          <a:xfrm>
            <a:off x="0" y="173736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67" name="Google Shape;867;p4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68" name="Google Shape;868;p46"/>
          <p:cNvSpPr/>
          <p:nvPr/>
        </p:nvSpPr>
        <p:spPr>
          <a:xfrm>
            <a:off x="3886200" y="32004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69" name="Google Shape;869;p4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Nativism produced restriction: the Chinese Exclusion Act (1882) and the Gentlemen’s Agreement (1907).</a:t>
            </a:r>
            <a:endParaRPr b="0" i="0" sz="2300" u="none" cap="none" strike="noStrike">
              <a:solidFill>
                <a:schemeClr val="dk1"/>
              </a:solidFill>
              <a:latin typeface="Calibri"/>
              <a:ea typeface="Calibri"/>
              <a:cs typeface="Calibri"/>
              <a:sym typeface="Calibri"/>
            </a:endParaRPr>
          </a:p>
        </p:txBody>
      </p:sp>
      <p:pic>
        <p:nvPicPr>
          <p:cNvPr descr="Primary-source image — Nativism &amp; Restriction." id="870" name="Google Shape;870;p4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71" name="Google Shape;871;p4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900"/>
              <a:buFont typeface="Trebuchet MS"/>
              <a:buNone/>
            </a:pPr>
            <a:r>
              <a:rPr b="1" i="0" lang="en-US" sz="900" u="none" cap="none" strike="noStrike">
                <a:solidFill>
                  <a:srgbClr val="1F3A5F"/>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72" name="Google Shape;872;p4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Nativism &amp; Restriction</a:t>
            </a:r>
            <a:endParaRPr b="0" i="0" sz="1000" u="none" cap="none" strike="noStrike">
              <a:solidFill>
                <a:schemeClr val="dk1"/>
              </a:solidFill>
              <a:latin typeface="Calibri"/>
              <a:ea typeface="Calibri"/>
              <a:cs typeface="Calibri"/>
              <a:sym typeface="Calibri"/>
            </a:endParaRPr>
          </a:p>
        </p:txBody>
      </p:sp>
      <p:sp>
        <p:nvSpPr>
          <p:cNvPr id="873" name="Google Shape;873;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74" name="Google Shape;874;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F"/>
        </a:solidFill>
      </p:bgPr>
    </p:bg>
    <p:spTree>
      <p:nvGrpSpPr>
        <p:cNvPr id="879" name="Shape 879"/>
        <p:cNvGrpSpPr/>
        <p:nvPr/>
      </p:nvGrpSpPr>
      <p:grpSpPr>
        <a:xfrm>
          <a:off x="0" y="0"/>
          <a:ext cx="0" cy="0"/>
          <a:chOff x="0" y="0"/>
          <a:chExt cx="0" cy="0"/>
        </a:xfrm>
      </p:grpSpPr>
      <p:sp>
        <p:nvSpPr>
          <p:cNvPr id="880" name="Google Shape;880;p4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81" name="Google Shape;881;p47"/>
          <p:cNvSpPr/>
          <p:nvPr/>
        </p:nvSpPr>
        <p:spPr>
          <a:xfrm>
            <a:off x="0" y="1554480"/>
            <a:ext cx="12191695" cy="54864"/>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82" name="Google Shape;882;p47"/>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83" name="Google Shape;883;p47"/>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84" name="Google Shape;884;p4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first federal law to bar a nationality — read who the Chinese Exclusion Act shut out.</a:t>
            </a:r>
            <a:endParaRPr b="0" i="0" sz="2000" u="none" cap="none" strike="noStrike">
              <a:solidFill>
                <a:schemeClr val="dk1"/>
              </a:solidFill>
              <a:latin typeface="Calibri"/>
              <a:ea typeface="Calibri"/>
              <a:cs typeface="Calibri"/>
              <a:sym typeface="Calibri"/>
            </a:endParaRPr>
          </a:p>
        </p:txBody>
      </p:sp>
      <p:sp>
        <p:nvSpPr>
          <p:cNvPr id="885" name="Google Shape;885;p47"/>
          <p:cNvSpPr/>
          <p:nvPr/>
        </p:nvSpPr>
        <p:spPr>
          <a:xfrm>
            <a:off x="45720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86" name="Google Shape;886;p4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887" name="Google Shape;887;p47"/>
          <p:cNvSpPr/>
          <p:nvPr/>
        </p:nvSpPr>
        <p:spPr>
          <a:xfrm>
            <a:off x="425196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88" name="Google Shape;888;p4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May 6, 1882 (22 Stat. 58).</a:t>
            </a:r>
            <a:endParaRPr b="0" i="0" sz="1200" u="none" cap="none" strike="noStrike">
              <a:solidFill>
                <a:schemeClr val="dk1"/>
              </a:solidFill>
              <a:latin typeface="Calibri"/>
              <a:ea typeface="Calibri"/>
              <a:cs typeface="Calibri"/>
              <a:sym typeface="Calibri"/>
            </a:endParaRPr>
          </a:p>
        </p:txBody>
      </p:sp>
      <p:sp>
        <p:nvSpPr>
          <p:cNvPr id="889" name="Google Shape;889;p47"/>
          <p:cNvSpPr/>
          <p:nvPr/>
        </p:nvSpPr>
        <p:spPr>
          <a:xfrm>
            <a:off x="8046720" y="1783080"/>
            <a:ext cx="3566160" cy="320040"/>
          </a:xfrm>
          <a:prstGeom prst="rect">
            <a:avLst/>
          </a:prstGeom>
          <a:solidFill>
            <a:srgbClr val="1F3A5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90" name="Google Shape;890;p4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It was the first U.S. law to bar an entire nationality — ask whom it targeted and what precedent it set.</a:t>
            </a:r>
            <a:endParaRPr b="0" i="0" sz="1200" u="none" cap="none" strike="noStrike">
              <a:solidFill>
                <a:schemeClr val="dk1"/>
              </a:solidFill>
              <a:latin typeface="Calibri"/>
              <a:ea typeface="Calibri"/>
              <a:cs typeface="Calibri"/>
              <a:sym typeface="Calibri"/>
            </a:endParaRPr>
          </a:p>
        </p:txBody>
      </p:sp>
      <p:sp>
        <p:nvSpPr>
          <p:cNvPr id="891" name="Google Shape;891;p47"/>
          <p:cNvSpPr/>
          <p:nvPr/>
        </p:nvSpPr>
        <p:spPr>
          <a:xfrm>
            <a:off x="457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92" name="Google Shape;892;p4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Chinese Exclusion Act</a:t>
            </a:r>
            <a:endParaRPr b="0" i="0" sz="1400" u="none" cap="none" strike="noStrike">
              <a:solidFill>
                <a:schemeClr val="dk1"/>
              </a:solidFill>
              <a:latin typeface="Calibri"/>
              <a:ea typeface="Calibri"/>
              <a:cs typeface="Calibri"/>
              <a:sym typeface="Calibri"/>
            </a:endParaRPr>
          </a:p>
        </p:txBody>
      </p:sp>
      <p:sp>
        <p:nvSpPr>
          <p:cNvPr id="893" name="Google Shape;893;p4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May 6, 1882 (22 Stat. 58)</a:t>
            </a:r>
            <a:endParaRPr b="0" i="0" sz="900" u="none" cap="none" strike="noStrike">
              <a:solidFill>
                <a:schemeClr val="dk1"/>
              </a:solidFill>
              <a:latin typeface="Calibri"/>
              <a:ea typeface="Calibri"/>
              <a:cs typeface="Calibri"/>
              <a:sym typeface="Calibri"/>
            </a:endParaRPr>
          </a:p>
        </p:txBody>
      </p:sp>
      <p:sp>
        <p:nvSpPr>
          <p:cNvPr id="894" name="Google Shape;894;p4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coming of Chinese laborers to the United States be, and the same is hereby, suspended... it shall not be lawful for any Chinese laborer to come... to remain within the United States."</a:t>
            </a:r>
            <a:endParaRPr b="0" i="0" sz="1100" u="none" cap="none" strike="noStrike">
              <a:solidFill>
                <a:schemeClr val="dk1"/>
              </a:solidFill>
              <a:latin typeface="Calibri"/>
              <a:ea typeface="Calibri"/>
              <a:cs typeface="Calibri"/>
              <a:sym typeface="Calibri"/>
            </a:endParaRPr>
          </a:p>
        </p:txBody>
      </p:sp>
      <p:sp>
        <p:nvSpPr>
          <p:cNvPr id="895" name="Google Shape;895;p4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896" name="Google Shape;896;p47"/>
          <p:cNvSpPr/>
          <p:nvPr/>
        </p:nvSpPr>
        <p:spPr>
          <a:xfrm>
            <a:off x="6172200" y="3200400"/>
            <a:ext cx="5532120" cy="2651760"/>
          </a:xfrm>
          <a:prstGeom prst="rect">
            <a:avLst/>
          </a:prstGeom>
          <a:solidFill>
            <a:srgbClr val="FFFFFF"/>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97" name="Google Shape;897;p47"/>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Twenty Years at Hull-House</a:t>
            </a:r>
            <a:endParaRPr b="0" i="0" sz="1400" u="none" cap="none" strike="noStrike">
              <a:solidFill>
                <a:schemeClr val="dk1"/>
              </a:solidFill>
              <a:latin typeface="Calibri"/>
              <a:ea typeface="Calibri"/>
              <a:cs typeface="Calibri"/>
              <a:sym typeface="Calibri"/>
            </a:endParaRPr>
          </a:p>
        </p:txBody>
      </p:sp>
      <p:sp>
        <p:nvSpPr>
          <p:cNvPr id="898" name="Google Shape;898;p47"/>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Jane Addams · 1910</a:t>
            </a:r>
            <a:endParaRPr b="0" i="0" sz="900" u="none" cap="none" strike="noStrike">
              <a:solidFill>
                <a:schemeClr val="dk1"/>
              </a:solidFill>
              <a:latin typeface="Calibri"/>
              <a:ea typeface="Calibri"/>
              <a:cs typeface="Calibri"/>
              <a:sym typeface="Calibri"/>
            </a:endParaRPr>
          </a:p>
        </p:txBody>
      </p:sp>
      <p:sp>
        <p:nvSpPr>
          <p:cNvPr id="899" name="Google Shape;899;p47"/>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early found ourselves spending many hours in efforts to secure... justice for immigrants... whom the state had left unprotected."</a:t>
            </a:r>
            <a:endParaRPr b="0" i="0" sz="1100" u="none" cap="none" strike="noStrike">
              <a:solidFill>
                <a:schemeClr val="dk1"/>
              </a:solidFill>
              <a:latin typeface="Calibri"/>
              <a:ea typeface="Calibri"/>
              <a:cs typeface="Calibri"/>
              <a:sym typeface="Calibri"/>
            </a:endParaRPr>
          </a:p>
        </p:txBody>
      </p:sp>
      <p:sp>
        <p:nvSpPr>
          <p:cNvPr id="900" name="Google Shape;900;p47">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Macmillan</a:t>
            </a:r>
            <a:endParaRPr b="0" i="0" sz="900" u="none" cap="none" strike="noStrike">
              <a:solidFill>
                <a:schemeClr val="dk1"/>
              </a:solidFill>
              <a:latin typeface="Calibri"/>
              <a:ea typeface="Calibri"/>
              <a:cs typeface="Calibri"/>
              <a:sym typeface="Calibri"/>
            </a:endParaRPr>
          </a:p>
        </p:txBody>
      </p:sp>
      <p:sp>
        <p:nvSpPr>
          <p:cNvPr id="901" name="Google Shape;901;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02" name="Google Shape;902;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5F"/>
        </a:solidFill>
      </p:bgPr>
    </p:bg>
    <p:spTree>
      <p:nvGrpSpPr>
        <p:cNvPr id="907" name="Shape 907"/>
        <p:cNvGrpSpPr/>
        <p:nvPr/>
      </p:nvGrpSpPr>
      <p:grpSpPr>
        <a:xfrm>
          <a:off x="0" y="0"/>
          <a:ext cx="0" cy="0"/>
          <a:chOff x="0" y="0"/>
          <a:chExt cx="0" cy="0"/>
        </a:xfrm>
      </p:grpSpPr>
      <p:sp>
        <p:nvSpPr>
          <p:cNvPr id="908" name="Google Shape;908;p48"/>
          <p:cNvSpPr/>
          <p:nvPr/>
        </p:nvSpPr>
        <p:spPr>
          <a:xfrm>
            <a:off x="457200" y="274320"/>
            <a:ext cx="3291840" cy="365760"/>
          </a:xfrm>
          <a:prstGeom prst="rect">
            <a:avLst/>
          </a:prstGeom>
          <a:solidFill>
            <a:srgbClr val="B2223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909" name="Google Shape;909;p48"/>
          <p:cNvSpPr/>
          <p:nvPr/>
        </p:nvSpPr>
        <p:spPr>
          <a:xfrm>
            <a:off x="3886200" y="274320"/>
            <a:ext cx="1005840" cy="365760"/>
          </a:xfrm>
          <a:prstGeom prst="rect">
            <a:avLst/>
          </a:prstGeom>
          <a:solidFill>
            <a:srgbClr val="C9A22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A5F"/>
              </a:buClr>
              <a:buSzPts val="1200"/>
              <a:buFont typeface="Trebuchet MS"/>
              <a:buNone/>
            </a:pPr>
            <a:r>
              <a:rPr b="1" i="0" lang="en-US" sz="1200" u="none" cap="none" strike="noStrike">
                <a:solidFill>
                  <a:srgbClr val="1F3A5F"/>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910" name="Google Shape;910;p4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1F3A5F"/>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911" name="Google Shape;911;p4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12" name="Google Shape;912;p4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13" name="Google Shape;913;p4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914" name="Google Shape;914;p4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915" name="Google Shape;915;p4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16" name="Google Shape;916;p4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Employers gaining cheap labor; the growing industrial economy; immigrants who found opportunity and religious freedom.</a:t>
            </a:r>
            <a:endParaRPr b="0" i="0" sz="1200" u="none" cap="none" strike="noStrike">
              <a:solidFill>
                <a:schemeClr val="dk1"/>
              </a:solidFill>
              <a:latin typeface="Calibri"/>
              <a:ea typeface="Calibri"/>
              <a:cs typeface="Calibri"/>
              <a:sym typeface="Calibri"/>
            </a:endParaRPr>
          </a:p>
        </p:txBody>
      </p:sp>
      <p:sp>
        <p:nvSpPr>
          <p:cNvPr id="917" name="Google Shape;917;p4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18" name="Google Shape;918;p48"/>
          <p:cNvSpPr/>
          <p:nvPr/>
        </p:nvSpPr>
        <p:spPr>
          <a:xfrm>
            <a:off x="4251960" y="1783080"/>
            <a:ext cx="3566160" cy="54864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19" name="Google Shape;919;p4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920" name="Google Shape;920;p4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921" name="Google Shape;921;p4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22" name="Google Shape;922;p4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New immigrants facing discrimination, tenement poverty, and hostility; Chinese and Japanese immigrants barred by exclusion laws.</a:t>
            </a:r>
            <a:endParaRPr b="0" i="0" sz="1200" u="none" cap="none" strike="noStrike">
              <a:solidFill>
                <a:schemeClr val="dk1"/>
              </a:solidFill>
              <a:latin typeface="Calibri"/>
              <a:ea typeface="Calibri"/>
              <a:cs typeface="Calibri"/>
              <a:sym typeface="Calibri"/>
            </a:endParaRPr>
          </a:p>
        </p:txBody>
      </p:sp>
      <p:sp>
        <p:nvSpPr>
          <p:cNvPr id="923" name="Google Shape;923;p4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24" name="Google Shape;924;p4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25" name="Google Shape;925;p4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926" name="Google Shape;926;p4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927" name="Google Shape;927;p4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28" name="Google Shape;928;p4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(Chinese Exclusion Act, 1882) and the executive branch (Gentlemen’s Agreement, 1907), driven by rising nativism.</a:t>
            </a:r>
            <a:endParaRPr b="0" i="0" sz="1200" u="none" cap="none" strike="noStrike">
              <a:solidFill>
                <a:schemeClr val="dk1"/>
              </a:solidFill>
              <a:latin typeface="Calibri"/>
              <a:ea typeface="Calibri"/>
              <a:cs typeface="Calibri"/>
              <a:sym typeface="Calibri"/>
            </a:endParaRPr>
          </a:p>
        </p:txBody>
      </p:sp>
      <p:sp>
        <p:nvSpPr>
          <p:cNvPr id="929" name="Google Shape;929;p4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1F3A5F"/>
                </a:solidFill>
                <a:latin typeface="Trebuchet MS"/>
                <a:ea typeface="Trebuchet MS"/>
                <a:cs typeface="Trebuchet MS"/>
                <a:sym typeface="Trebuchet MS"/>
              </a:rPr>
              <a:t>Anchor: Chinese Exclusion Act, 1882 (National Archives) &amp; Addams, Twenty Years at Hull-House</a:t>
            </a:r>
            <a:endParaRPr b="0" i="0" sz="1000" u="none" cap="none" strike="noStrike">
              <a:solidFill>
                <a:schemeClr val="dk1"/>
              </a:solidFill>
              <a:latin typeface="Calibri"/>
              <a:ea typeface="Calibri"/>
              <a:cs typeface="Calibri"/>
              <a:sym typeface="Calibri"/>
            </a:endParaRPr>
          </a:p>
        </p:txBody>
      </p:sp>
      <p:sp>
        <p:nvSpPr>
          <p:cNvPr id="930" name="Google Shape;930;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1F3A5F"/>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31" name="Google Shape;931;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1F3A5F"/>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DOK 2</a:t>
            </a:r>
          </a:p>
        </p:txBody>
      </p:sp>
      <p:sp>
        <p:nvSpPr>
          <p:cNvPr id="6" name="Rectangle 5"/>
          <p:cNvSpPr/>
          <p:nvPr/>
        </p:nvSpPr>
        <p:spPr>
          <a:xfrm>
            <a:off x="10607040" y="320040"/>
            <a:ext cx="10515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US.07</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According to Jane Addams, what was the philosophy behind Hull-House?</a:t>
            </a:r>
          </a:p>
        </p:txBody>
      </p:sp>
      <p:sp>
        <p:nvSpPr>
          <p:cNvPr id="9" name="Rectangle 8"/>
          <p:cNvSpPr/>
          <p:nvPr/>
        </p:nvSpPr>
        <p:spPr>
          <a:xfrm>
            <a:off x="457200" y="2148840"/>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different social classes depend on and can help each other.</a:t>
            </a:r>
          </a:p>
        </p:txBody>
      </p:sp>
      <p:sp>
        <p:nvSpPr>
          <p:cNvPr id="13" name="Rectangle 12"/>
          <p:cNvSpPr/>
          <p:nvPr/>
        </p:nvSpPr>
        <p:spPr>
          <a:xfrm>
            <a:off x="457200" y="3081528"/>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wealthy people should live separately from immigrants.</a:t>
            </a:r>
          </a:p>
        </p:txBody>
      </p:sp>
      <p:sp>
        <p:nvSpPr>
          <p:cNvPr id="17" name="Rectangle 16"/>
          <p:cNvSpPr/>
          <p:nvPr/>
        </p:nvSpPr>
        <p:spPr>
          <a:xfrm>
            <a:off x="457200" y="4014216"/>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immigrants should return to their home countries.</a:t>
            </a:r>
          </a:p>
        </p:txBody>
      </p:sp>
      <p:sp>
        <p:nvSpPr>
          <p:cNvPr id="21" name="Rectangle 20"/>
          <p:cNvSpPr/>
          <p:nvPr/>
        </p:nvSpPr>
        <p:spPr>
          <a:xfrm>
            <a:off x="457200" y="4946904"/>
            <a:ext cx="11247120" cy="841248"/>
          </a:xfrm>
          <a:prstGeom prst="rect">
            <a:avLst/>
          </a:prstGeom>
          <a:solidFill>
            <a:srgbClr val="F8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227"/>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government should provide all social services.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1F3A5F"/>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5661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5661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REACHED — AND LEFT OUT</a:t>
            </a:r>
          </a:p>
        </p:txBody>
      </p:sp>
      <p:sp>
        <p:nvSpPr>
          <p:cNvPr id="4" name="TextBox 3"/>
          <p:cNvSpPr txBox="1"/>
          <p:nvPr/>
        </p:nvSpPr>
        <p:spPr>
          <a:xfrm>
            <a:off x="457200" y="822960"/>
            <a:ext cx="11247120" cy="594360"/>
          </a:xfrm>
          <a:prstGeom prst="rect">
            <a:avLst/>
          </a:prstGeom>
          <a:noFill/>
        </p:spPr>
        <p:txBody>
          <a:bodyPr wrap="square" anchor="t" lIns="0" rIns="0" tIns="0" bIns="0">
            <a:spAutoFit/>
          </a:bodyPr>
          <a:lstStyle/>
          <a:p>
            <a:pPr algn="l">
              <a:spcBef>
                <a:spcPts val="0"/>
              </a:spcBef>
              <a:spcAft>
                <a:spcPts val="200"/>
              </a:spcAft>
            </a:pPr>
            <a:r>
              <a:rPr sz="2200" b="1">
                <a:solidFill>
                  <a:srgbClr val="FFFFFF"/>
                </a:solidFill>
                <a:latin typeface="Georgia"/>
              </a:rPr>
              <a:t>Whose story the industrial era told — and who paid its costs</a:t>
            </a:r>
          </a:p>
        </p:txBody>
      </p:sp>
      <p:sp>
        <p:nvSpPr>
          <p:cNvPr id="5" name="TextBox 4"/>
          <p:cNvSpPr txBox="1"/>
          <p:nvPr/>
        </p:nvSpPr>
        <p:spPr>
          <a:xfrm>
            <a:off x="457200" y="1417320"/>
            <a:ext cx="11247120" cy="457200"/>
          </a:xfrm>
          <a:prstGeom prst="rect">
            <a:avLst/>
          </a:prstGeom>
          <a:noFill/>
        </p:spPr>
        <p:txBody>
          <a:bodyPr wrap="square" anchor="t" lIns="0" rIns="0" tIns="0" bIns="0">
            <a:spAutoFit/>
          </a:bodyPr>
          <a:lstStyle/>
          <a:p>
            <a:pPr algn="l">
              <a:spcBef>
                <a:spcPts val="0"/>
              </a:spcBef>
              <a:spcAft>
                <a:spcPts val="200"/>
              </a:spcAft>
            </a:pPr>
            <a:r>
              <a:rPr sz="1300" b="0">
                <a:solidFill>
                  <a:srgbClr val="1F3A5F"/>
                </a:solidFill>
                <a:latin typeface="Georgia"/>
              </a:rPr>
              <a:t>History Hack-authored synthesis grounded in this unit’s sourced record — read across the standards, not around them.</a:t>
            </a:r>
          </a:p>
        </p:txBody>
      </p:sp>
      <p:sp>
        <p:nvSpPr>
          <p:cNvPr id="6" name="Rectangle 5"/>
          <p:cNvSpPr/>
          <p:nvPr/>
        </p:nvSpPr>
        <p:spPr>
          <a:xfrm>
            <a:off x="45720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2606040" cy="64008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American Indian Nations</a:t>
            </a:r>
          </a:p>
        </p:txBody>
      </p:sp>
      <p:sp>
        <p:nvSpPr>
          <p:cNvPr id="9" name="TextBox 8"/>
          <p:cNvSpPr txBox="1"/>
          <p:nvPr/>
        </p:nvSpPr>
        <p:spPr>
          <a:xfrm>
            <a:off x="56692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Westward expansion and the railroad (US.01) crossed treaty lands; reservation, assimilation, boarding-school, and Dawes Act policy (US.02) cut tribal holdings from 138 to 48 million acres by 1934.</a:t>
            </a:r>
          </a:p>
        </p:txBody>
      </p:sp>
      <p:sp>
        <p:nvSpPr>
          <p:cNvPr id="10" name="Rectangle 9"/>
          <p:cNvSpPr/>
          <p:nvPr/>
        </p:nvSpPr>
        <p:spPr>
          <a:xfrm>
            <a:off x="333756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965960"/>
            <a:ext cx="2606040" cy="64008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Chinese Laborers</a:t>
            </a:r>
          </a:p>
        </p:txBody>
      </p:sp>
      <p:sp>
        <p:nvSpPr>
          <p:cNvPr id="13" name="TextBox 12"/>
          <p:cNvSpPr txBox="1"/>
          <p:nvPr/>
        </p:nvSpPr>
        <p:spPr>
          <a:xfrm>
            <a:off x="344728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Chinese workers built the most dangerous stretches of the Central Pacific (US.01) yet faced wage discrimination and, in 1882, the first federal law to bar a nationality — the Chinese Exclusion Act (US.07).</a:t>
            </a:r>
          </a:p>
        </p:txBody>
      </p:sp>
      <p:sp>
        <p:nvSpPr>
          <p:cNvPr id="14" name="Rectangle 13"/>
          <p:cNvSpPr/>
          <p:nvPr/>
        </p:nvSpPr>
        <p:spPr>
          <a:xfrm>
            <a:off x="621792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65960"/>
            <a:ext cx="2606040" cy="640080"/>
          </a:xfrm>
          <a:prstGeom prst="rect">
            <a:avLst/>
          </a:prstGeom>
          <a:solidFill>
            <a:srgbClr val="B22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African Americans</a:t>
            </a:r>
          </a:p>
        </p:txBody>
      </p:sp>
      <p:sp>
        <p:nvSpPr>
          <p:cNvPr id="17" name="TextBox 16"/>
          <p:cNvSpPr txBox="1"/>
          <p:nvPr/>
        </p:nvSpPr>
        <p:spPr>
          <a:xfrm>
            <a:off x="632764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Compromise of 1877 ended Reconstruction’s protections (US.03); the Exodusters fled to Kansas, and Madam C.J. Walker and George Washington Carver (US.05) built enterprise under Jim Crow.</a:t>
            </a:r>
          </a:p>
        </p:txBody>
      </p:sp>
      <p:sp>
        <p:nvSpPr>
          <p:cNvPr id="18" name="Rectangle 17"/>
          <p:cNvSpPr/>
          <p:nvPr/>
        </p:nvSpPr>
        <p:spPr>
          <a:xfrm>
            <a:off x="909828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280" y="1965960"/>
            <a:ext cx="2606040" cy="64008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New Immigrants &amp; Reformers</a:t>
            </a:r>
          </a:p>
        </p:txBody>
      </p:sp>
      <p:sp>
        <p:nvSpPr>
          <p:cNvPr id="21" name="TextBox 20"/>
          <p:cNvSpPr txBox="1"/>
          <p:nvPr/>
        </p:nvSpPr>
        <p:spPr>
          <a:xfrm>
            <a:off x="9208007"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Southern and Eastern European and Asian arrivals (US.07) met nativism and tenement poverty; reformers like Jane Addams at Hull-House organized mutual aid across classes.</a:t>
            </a:r>
          </a:p>
        </p:txBody>
      </p:sp>
      <p:sp>
        <p:nvSpPr>
          <p:cNvPr id="22" name="TextBox 21"/>
          <p:cNvSpPr txBox="1"/>
          <p:nvPr/>
        </p:nvSpPr>
        <p:spPr>
          <a:xfrm>
            <a:off x="457200" y="6053328"/>
            <a:ext cx="11247120" cy="320040"/>
          </a:xfrm>
          <a:prstGeom prst="rect">
            <a:avLst/>
          </a:prstGeom>
          <a:noFill/>
        </p:spPr>
        <p:txBody>
          <a:bodyPr wrap="square" anchor="t" lIns="0" rIns="0" tIns="0" bIns="0">
            <a:spAutoFit/>
          </a:bodyPr>
          <a:lstStyle/>
          <a:p>
            <a:pPr algn="l">
              <a:spcBef>
                <a:spcPts val="0"/>
              </a:spcBef>
              <a:spcAft>
                <a:spcPts val="200"/>
              </a:spcAft>
            </a:pPr>
            <a:r>
              <a:rPr sz="1000" b="0">
                <a:solidFill>
                  <a:srgbClr val="1F3A5F"/>
                </a:solidFill>
                <a:latin typeface="Trebuchet MS"/>
              </a:rPr>
              <a:t>Verified public-domain images and named Key-Figure entries for these histories are a pending content addition.</a:t>
            </a:r>
          </a:p>
        </p:txBody>
      </p:sp>
      <p:sp>
        <p:nvSpPr>
          <p:cNvPr id="23" name="TextBox 22"/>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1F3A5F"/>
                </a:solidFill>
                <a:latin typeface="Trebuchet MS"/>
              </a:rPr>
              <a:t>U.S. History Hack · TroopToTeacher Technologies LLC · Aligned to TN Academic Standards &amp; TCAP EOC</a:t>
            </a:r>
          </a:p>
        </p:txBody>
      </p:sp>
      <p:sp>
        <p:nvSpPr>
          <p:cNvPr id="24" name="TextBox 23"/>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1F3A5F"/>
                </a:solidFill>
                <a:latin typeface="Trebuchet M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502920" y="274320"/>
            <a:ext cx="11185835" cy="365760"/>
          </a:xfrm>
          <a:prstGeom prst="rect">
            <a:avLst/>
          </a:prstGeom>
          <a:noFill/>
        </p:spPr>
        <p:txBody>
          <a:bodyPr wrap="square" anchor="t">
            <a:spAutoFit/>
          </a:bodyPr>
          <a:lstStyle/>
          <a:p>
            <a:pPr algn="l"/>
            <a:r>
              <a:rPr sz="1500" b="1" i="0">
                <a:solidFill>
                  <a:srgbClr val="C9A227"/>
                </a:solidFill>
                <a:latin typeface="Calibri"/>
              </a:rPr>
              <a:t>GEOGRAPHER'S LENS  ·  US.01  —  COLOR MAP FOR PROJECTION</a:t>
            </a:r>
          </a:p>
        </p:txBody>
      </p:sp>
      <p:sp>
        <p:nvSpPr>
          <p:cNvPr id="3" name="TextBox 2"/>
          <p:cNvSpPr txBox="1"/>
          <p:nvPr/>
        </p:nvSpPr>
        <p:spPr>
          <a:xfrm>
            <a:off x="502920" y="603504"/>
            <a:ext cx="11185835" cy="502920"/>
          </a:xfrm>
          <a:prstGeom prst="rect">
            <a:avLst/>
          </a:prstGeom>
          <a:noFill/>
        </p:spPr>
        <p:txBody>
          <a:bodyPr wrap="square" anchor="t">
            <a:spAutoFit/>
          </a:bodyPr>
          <a:lstStyle/>
          <a:p>
            <a:pPr algn="l"/>
            <a:r>
              <a:rPr sz="2000" b="1" i="0">
                <a:solidFill>
                  <a:srgbClr val="FFFFFF"/>
                </a:solidFill>
                <a:latin typeface="Calibri"/>
              </a:rPr>
              <a:t>Matthews, Northrup &amp; Co's Official Railroad Map of the United States, Dominion of Canada and Mexico</a:t>
            </a:r>
          </a:p>
        </p:txBody>
      </p:sp>
      <p:pic>
        <p:nvPicPr>
          <p:cNvPr id="4" name="Picture 3" descr="Primary source: This is the full-color version of the black-and-white map on the workbook Geographer's Lens page for US.01.  Source: Matthews, Northrup &amp; Co. Matthews, Northrup &amp; Co's Official Railroad Map of the United States, Dominion of Canada and"/>
          <p:cNvPicPr>
            <a:picLocks noChangeAspect="1"/>
          </p:cNvPicPr>
          <p:nvPr/>
        </p:nvPicPr>
        <p:blipFill>
          <a:blip r:embed="rId2"/>
          <a:stretch>
            <a:fillRect/>
          </a:stretch>
        </p:blipFill>
        <p:spPr>
          <a:xfrm>
            <a:off x="2783036" y="1325880"/>
            <a:ext cx="6625603" cy="4425696"/>
          </a:xfrm>
          <a:prstGeom prst="rect">
            <a:avLst/>
          </a:prstGeom>
        </p:spPr>
      </p:pic>
      <p:sp>
        <p:nvSpPr>
          <p:cNvPr id="5" name="TextBox 4"/>
          <p:cNvSpPr txBox="1"/>
          <p:nvPr/>
        </p:nvSpPr>
        <p:spPr>
          <a:xfrm>
            <a:off x="502920" y="5824728"/>
            <a:ext cx="11185835" cy="822960"/>
          </a:xfrm>
          <a:prstGeom prst="rect">
            <a:avLst/>
          </a:prstGeom>
          <a:noFill/>
        </p:spPr>
        <p:txBody>
          <a:bodyPr wrap="square" anchor="t">
            <a:spAutoFit/>
          </a:bodyPr>
          <a:lstStyle/>
          <a:p>
            <a:pPr algn="l"/>
            <a:r>
              <a:rPr sz="1000" b="0" i="1">
                <a:solidFill>
                  <a:srgbClr val="1F3A5F"/>
                </a:solidFill>
                <a:latin typeface="Calibri"/>
              </a:rPr>
              <a:t>This is the full-color version of the black-and-white map on the workbook Geographer's Lens page for US.01.  Source: Matthews, Northrup &amp; Co. Matthews, Northrup &amp; Co's Official Railroad Map of the United States, Dominion of Canada and Mexico Perfected to Date from Latest Authentic Sources. Buffalo, 1890. Map. Library of Congress Geography and Map Division, call number G3701.P3 1890 .M3. https://www.loc.gov/item/gm71000843/.  Public Domain — No Known Restrictions on Publication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502920" y="274320"/>
            <a:ext cx="11185835" cy="365760"/>
          </a:xfrm>
          <a:prstGeom prst="rect">
            <a:avLst/>
          </a:prstGeom>
          <a:noFill/>
        </p:spPr>
        <p:txBody>
          <a:bodyPr wrap="square" anchor="t">
            <a:spAutoFit/>
          </a:bodyPr>
          <a:lstStyle/>
          <a:p>
            <a:pPr algn="l"/>
            <a:r>
              <a:rPr sz="1500" b="1" i="0">
                <a:solidFill>
                  <a:srgbClr val="C9A227"/>
                </a:solidFill>
                <a:latin typeface="Calibri"/>
              </a:rPr>
              <a:t>GEOGRAPHER'S LENS  ·  US.06  —  COLOR MAP FOR PROJECTION</a:t>
            </a:r>
          </a:p>
        </p:txBody>
      </p:sp>
      <p:sp>
        <p:nvSpPr>
          <p:cNvPr id="3" name="TextBox 2"/>
          <p:cNvSpPr txBox="1"/>
          <p:nvPr/>
        </p:nvSpPr>
        <p:spPr>
          <a:xfrm>
            <a:off x="502920" y="603504"/>
            <a:ext cx="11185835" cy="502920"/>
          </a:xfrm>
          <a:prstGeom prst="rect">
            <a:avLst/>
          </a:prstGeom>
          <a:noFill/>
        </p:spPr>
        <p:txBody>
          <a:bodyPr wrap="square" anchor="t">
            <a:spAutoFit/>
          </a:bodyPr>
          <a:lstStyle/>
          <a:p>
            <a:pPr algn="l"/>
            <a:r>
              <a:rPr sz="2000" b="1" i="0">
                <a:solidFill>
                  <a:srgbClr val="FFFFFF"/>
                </a:solidFill>
                <a:latin typeface="Calibri"/>
              </a:rPr>
              <a:t>Foreign Born Population, by States and Territories: 1890</a:t>
            </a:r>
          </a:p>
        </p:txBody>
      </p:sp>
      <p:pic>
        <p:nvPicPr>
          <p:cNvPr id="4" name="Picture 3" descr="Primary source: This is the full-color version of the black-and-white map on the workbook Geographer's Lens page for US.06.  Source: Gannett, Henry, and U.S. Census Office. &quot;Foreign Born Population, by States and Territories: 1890.&quot; In Statistical At"/>
          <p:cNvPicPr>
            <a:picLocks noChangeAspect="1"/>
          </p:cNvPicPr>
          <p:nvPr/>
        </p:nvPicPr>
        <p:blipFill>
          <a:blip r:embed="rId2"/>
          <a:stretch>
            <a:fillRect/>
          </a:stretch>
        </p:blipFill>
        <p:spPr>
          <a:xfrm>
            <a:off x="4366100" y="1325880"/>
            <a:ext cx="3459475" cy="4425696"/>
          </a:xfrm>
          <a:prstGeom prst="rect">
            <a:avLst/>
          </a:prstGeom>
        </p:spPr>
      </p:pic>
      <p:sp>
        <p:nvSpPr>
          <p:cNvPr id="5" name="TextBox 4"/>
          <p:cNvSpPr txBox="1"/>
          <p:nvPr/>
        </p:nvSpPr>
        <p:spPr>
          <a:xfrm>
            <a:off x="502920" y="5824728"/>
            <a:ext cx="11185835" cy="822960"/>
          </a:xfrm>
          <a:prstGeom prst="rect">
            <a:avLst/>
          </a:prstGeom>
          <a:noFill/>
        </p:spPr>
        <p:txBody>
          <a:bodyPr wrap="square" anchor="t">
            <a:spAutoFit/>
          </a:bodyPr>
          <a:lstStyle/>
          <a:p>
            <a:pPr algn="l"/>
            <a:r>
              <a:rPr sz="1000" b="0" i="1">
                <a:solidFill>
                  <a:srgbClr val="1F3A5F"/>
                </a:solidFill>
                <a:latin typeface="Calibri"/>
              </a:rPr>
              <a:t>This is the full-color version of the black-and-white map on the workbook Geographer's Lens page for US.06.  Source: Gannett, Henry, and U.S. Census Office. "Foreign Born Population, by States and Territories: 1890." In Statistical Atlas of the United States, Based upon the Results of the Eleventh Census. Washington, DC: U.S. Census Office, 1898. Library of Congress Geography and Map Division, call number G1201.G1 U53 1898. https://www.loc.gov/resource/g3701gm.gct00010/?sp=35.  Public Domain — U.S. Government Work</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2026-07-01T18:06:37Z</dcterms:created>
  <dc:creator>TroopToTeacher Technologies LLC</dc:creator>
  <dc:title>U.S. History Hack — Unit 1 Student Deck (America 250)</dc:title>
</cp:coreProperties>
</file>
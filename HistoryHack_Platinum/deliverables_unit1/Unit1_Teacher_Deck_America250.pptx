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5-1.jpg" ContentType="image/jpg"/>
  <Override PartName="/ppt/media/image-11-1.jpg" ContentType="image/jpg"/>
  <Override PartName="/ppt/media/image-14-1.jpg" ContentType="image/jpg"/>
  <Override PartName="/ppt/media/image-23-1.jpg" ContentType="image/jpg"/>
  <Override PartName="/ppt/media/image-36-1.jpg" ContentType="image/jpg"/>
  <Override PartName="/ppt/media/image-37-1.jpg" ContentType="image/jpg"/>
  <Override PartName="/ppt/media/image-41-1.jpg" ContentType="image/jpg"/>
  <Override PartName="/ppt/media/image-44-1.jpg" ContentType="image/jpg"/>
  <Override PartName="/ppt/media/image-52-1.jpg" ContentType="image/jpg"/>
  <Override PartName="/ppt/media/image-59-1.jpg" ContentType="image/jpg"/>
  <Override PartName="/ppt/media/image-68-1.jpg" ContentType="image/jpg"/>
  <Override PartName="/ppt/media/image-71-1.jpg" ContentType="image/jpg"/>
  <Override PartName="/ppt/media/image-74-1.jpg" ContentType="image/jpg"/>
  <Override PartName="/ppt/media/image-8-1.jpg" ContentType="image/jpg"/>
  <Override PartName="/ppt/media/image-82-1.jpg" ContentType="image/jpg"/>
  <Override PartName="/ppt/media/image-84-1.jpg" ContentType="image/jpg"/>
  <Override PartName="/ppt/media/image-86-1.jpg" ContentType="image/jpg"/>
  <Override PartName="/ppt/media/image-89-1.jpg" ContentType="image/jpg"/>
  <Override PartName="/ppt/media/image-9-1.jpg" ContentType="image/jpg"/>
  <Override PartName="/ppt/media/image-97-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365" r:id="rId116"/>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6" r:id="rId117"/>
    <p:sldId id="364" r:id="rId110"/>
    <p:sldId id="367" r:id="rId118"/>
    <p:sldId id="368" r:id="rId119"/>
  </p:sldIdLst>
  <p:notesMasterIdLst>
    <p:notesMasterId r:id="rId111"/>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slide" Target="slides/slide20.xml"/><Relationship Id="rId21" Type="http://schemas.openxmlformats.org/officeDocument/2006/relationships/slide" Target="slides/slide21.xml"/><Relationship Id="rId22" Type="http://schemas.openxmlformats.org/officeDocument/2006/relationships/slide" Target="slides/slide22.xml"/><Relationship Id="rId23" Type="http://schemas.openxmlformats.org/officeDocument/2006/relationships/slide" Target="slides/slide23.xml"/><Relationship Id="rId24" Type="http://schemas.openxmlformats.org/officeDocument/2006/relationships/slide" Target="slides/slide24.xml"/><Relationship Id="rId25" Type="http://schemas.openxmlformats.org/officeDocument/2006/relationships/slide" Target="slides/slide25.xml"/><Relationship Id="rId26" Type="http://schemas.openxmlformats.org/officeDocument/2006/relationships/slide" Target="slides/slide26.xml"/><Relationship Id="rId27" Type="http://schemas.openxmlformats.org/officeDocument/2006/relationships/slide" Target="slides/slide27.xml"/><Relationship Id="rId28" Type="http://schemas.openxmlformats.org/officeDocument/2006/relationships/slide" Target="slides/slide28.xml"/><Relationship Id="rId29" Type="http://schemas.openxmlformats.org/officeDocument/2006/relationships/slide" Target="slides/slide29.xml"/><Relationship Id="rId30" Type="http://schemas.openxmlformats.org/officeDocument/2006/relationships/slide" Target="slides/slide30.xml"/><Relationship Id="rId31" Type="http://schemas.openxmlformats.org/officeDocument/2006/relationships/slide" Target="slides/slide31.xml"/><Relationship Id="rId32" Type="http://schemas.openxmlformats.org/officeDocument/2006/relationships/slide" Target="slides/slide32.xml"/><Relationship Id="rId33" Type="http://schemas.openxmlformats.org/officeDocument/2006/relationships/slide" Target="slides/slide33.xml"/><Relationship Id="rId34" Type="http://schemas.openxmlformats.org/officeDocument/2006/relationships/slide" Target="slides/slide34.xml"/><Relationship Id="rId35" Type="http://schemas.openxmlformats.org/officeDocument/2006/relationships/slide" Target="slides/slide35.xml"/><Relationship Id="rId36" Type="http://schemas.openxmlformats.org/officeDocument/2006/relationships/slide" Target="slides/slide36.xml"/><Relationship Id="rId37" Type="http://schemas.openxmlformats.org/officeDocument/2006/relationships/slide" Target="slides/slide37.xml"/><Relationship Id="rId38" Type="http://schemas.openxmlformats.org/officeDocument/2006/relationships/slide" Target="slides/slide38.xml"/><Relationship Id="rId39" Type="http://schemas.openxmlformats.org/officeDocument/2006/relationships/slide" Target="slides/slide39.xml"/><Relationship Id="rId40" Type="http://schemas.openxmlformats.org/officeDocument/2006/relationships/slide" Target="slides/slide40.xml"/><Relationship Id="rId41" Type="http://schemas.openxmlformats.org/officeDocument/2006/relationships/slide" Target="slides/slide41.xml"/><Relationship Id="rId42" Type="http://schemas.openxmlformats.org/officeDocument/2006/relationships/slide" Target="slides/slide42.xml"/><Relationship Id="rId43" Type="http://schemas.openxmlformats.org/officeDocument/2006/relationships/slide" Target="slides/slide43.xml"/><Relationship Id="rId44" Type="http://schemas.openxmlformats.org/officeDocument/2006/relationships/slide" Target="slides/slide44.xml"/><Relationship Id="rId45" Type="http://schemas.openxmlformats.org/officeDocument/2006/relationships/slide" Target="slides/slide45.xml"/><Relationship Id="rId46" Type="http://schemas.openxmlformats.org/officeDocument/2006/relationships/slide" Target="slides/slide46.xml"/><Relationship Id="rId47" Type="http://schemas.openxmlformats.org/officeDocument/2006/relationships/slide" Target="slides/slide47.xml"/><Relationship Id="rId48" Type="http://schemas.openxmlformats.org/officeDocument/2006/relationships/slide" Target="slides/slide48.xml"/><Relationship Id="rId49" Type="http://schemas.openxmlformats.org/officeDocument/2006/relationships/slide" Target="slides/slide49.xml"/><Relationship Id="rId50" Type="http://schemas.openxmlformats.org/officeDocument/2006/relationships/slide" Target="slides/slide50.xml"/><Relationship Id="rId51" Type="http://schemas.openxmlformats.org/officeDocument/2006/relationships/slide" Target="slides/slide51.xml"/><Relationship Id="rId52" Type="http://schemas.openxmlformats.org/officeDocument/2006/relationships/slide" Target="slides/slide52.xml"/><Relationship Id="rId53" Type="http://schemas.openxmlformats.org/officeDocument/2006/relationships/slide" Target="slides/slide53.xml"/><Relationship Id="rId54" Type="http://schemas.openxmlformats.org/officeDocument/2006/relationships/slide" Target="slides/slide54.xml"/><Relationship Id="rId55" Type="http://schemas.openxmlformats.org/officeDocument/2006/relationships/slide" Target="slides/slide55.xml"/><Relationship Id="rId56" Type="http://schemas.openxmlformats.org/officeDocument/2006/relationships/slide" Target="slides/slide56.xml"/><Relationship Id="rId57" Type="http://schemas.openxmlformats.org/officeDocument/2006/relationships/slide" Target="slides/slide57.xml"/><Relationship Id="rId58" Type="http://schemas.openxmlformats.org/officeDocument/2006/relationships/slide" Target="slides/slide58.xml"/><Relationship Id="rId59" Type="http://schemas.openxmlformats.org/officeDocument/2006/relationships/slide" Target="slides/slide59.xml"/><Relationship Id="rId60" Type="http://schemas.openxmlformats.org/officeDocument/2006/relationships/slide" Target="slides/slide60.xml"/><Relationship Id="rId61" Type="http://schemas.openxmlformats.org/officeDocument/2006/relationships/slide" Target="slides/slide61.xml"/><Relationship Id="rId62" Type="http://schemas.openxmlformats.org/officeDocument/2006/relationships/slide" Target="slides/slide62.xml"/><Relationship Id="rId63" Type="http://schemas.openxmlformats.org/officeDocument/2006/relationships/slide" Target="slides/slide63.xml"/><Relationship Id="rId64" Type="http://schemas.openxmlformats.org/officeDocument/2006/relationships/slide" Target="slides/slide64.xml"/><Relationship Id="rId65" Type="http://schemas.openxmlformats.org/officeDocument/2006/relationships/slide" Target="slides/slide65.xml"/><Relationship Id="rId66" Type="http://schemas.openxmlformats.org/officeDocument/2006/relationships/slide" Target="slides/slide66.xml"/><Relationship Id="rId67" Type="http://schemas.openxmlformats.org/officeDocument/2006/relationships/slide" Target="slides/slide67.xml"/><Relationship Id="rId68" Type="http://schemas.openxmlformats.org/officeDocument/2006/relationships/slide" Target="slides/slide68.xml"/><Relationship Id="rId69" Type="http://schemas.openxmlformats.org/officeDocument/2006/relationships/slide" Target="slides/slide69.xml"/><Relationship Id="rId70" Type="http://schemas.openxmlformats.org/officeDocument/2006/relationships/slide" Target="slides/slide70.xml"/><Relationship Id="rId71" Type="http://schemas.openxmlformats.org/officeDocument/2006/relationships/slide" Target="slides/slide71.xml"/><Relationship Id="rId72" Type="http://schemas.openxmlformats.org/officeDocument/2006/relationships/slide" Target="slides/slide72.xml"/><Relationship Id="rId73" Type="http://schemas.openxmlformats.org/officeDocument/2006/relationships/slide" Target="slides/slide73.xml"/><Relationship Id="rId74" Type="http://schemas.openxmlformats.org/officeDocument/2006/relationships/slide" Target="slides/slide74.xml"/><Relationship Id="rId75" Type="http://schemas.openxmlformats.org/officeDocument/2006/relationships/slide" Target="slides/slide75.xml"/><Relationship Id="rId76" Type="http://schemas.openxmlformats.org/officeDocument/2006/relationships/slide" Target="slides/slide76.xml"/><Relationship Id="rId77" Type="http://schemas.openxmlformats.org/officeDocument/2006/relationships/slide" Target="slides/slide77.xml"/><Relationship Id="rId78" Type="http://schemas.openxmlformats.org/officeDocument/2006/relationships/slide" Target="slides/slide78.xml"/><Relationship Id="rId79" Type="http://schemas.openxmlformats.org/officeDocument/2006/relationships/slide" Target="slides/slide79.xml"/><Relationship Id="rId80" Type="http://schemas.openxmlformats.org/officeDocument/2006/relationships/slide" Target="slides/slide80.xml"/><Relationship Id="rId81" Type="http://schemas.openxmlformats.org/officeDocument/2006/relationships/slide" Target="slides/slide81.xml"/><Relationship Id="rId82" Type="http://schemas.openxmlformats.org/officeDocument/2006/relationships/slide" Target="slides/slide82.xml"/><Relationship Id="rId83" Type="http://schemas.openxmlformats.org/officeDocument/2006/relationships/slide" Target="slides/slide83.xml"/><Relationship Id="rId84" Type="http://schemas.openxmlformats.org/officeDocument/2006/relationships/slide" Target="slides/slide84.xml"/><Relationship Id="rId85" Type="http://schemas.openxmlformats.org/officeDocument/2006/relationships/slide" Target="slides/slide85.xml"/><Relationship Id="rId86" Type="http://schemas.openxmlformats.org/officeDocument/2006/relationships/slide" Target="slides/slide86.xml"/><Relationship Id="rId87" Type="http://schemas.openxmlformats.org/officeDocument/2006/relationships/slide" Target="slides/slide87.xml"/><Relationship Id="rId88" Type="http://schemas.openxmlformats.org/officeDocument/2006/relationships/slide" Target="slides/slide88.xml"/><Relationship Id="rId89" Type="http://schemas.openxmlformats.org/officeDocument/2006/relationships/slide" Target="slides/slide89.xml"/><Relationship Id="rId90" Type="http://schemas.openxmlformats.org/officeDocument/2006/relationships/slide" Target="slides/slide90.xml"/><Relationship Id="rId91" Type="http://schemas.openxmlformats.org/officeDocument/2006/relationships/slide" Target="slides/slide91.xml"/><Relationship Id="rId92" Type="http://schemas.openxmlformats.org/officeDocument/2006/relationships/slide" Target="slides/slide92.xml"/><Relationship Id="rId93" Type="http://schemas.openxmlformats.org/officeDocument/2006/relationships/slide" Target="slides/slide93.xml"/><Relationship Id="rId94" Type="http://schemas.openxmlformats.org/officeDocument/2006/relationships/slide" Target="slides/slide94.xml"/><Relationship Id="rId95" Type="http://schemas.openxmlformats.org/officeDocument/2006/relationships/slide" Target="slides/slide95.xml"/><Relationship Id="rId96" Type="http://schemas.openxmlformats.org/officeDocument/2006/relationships/slide" Target="slides/slide96.xml"/><Relationship Id="rId97" Type="http://schemas.openxmlformats.org/officeDocument/2006/relationships/slide" Target="slides/slide97.xml"/><Relationship Id="rId98" Type="http://schemas.openxmlformats.org/officeDocument/2006/relationships/slide" Target="slides/slide98.xml"/><Relationship Id="rId99" Type="http://schemas.openxmlformats.org/officeDocument/2006/relationships/slide" Target="slides/slide99.xml"/><Relationship Id="rId100" Type="http://schemas.openxmlformats.org/officeDocument/2006/relationships/slide" Target="slides/slide100.xml"/><Relationship Id="rId101" Type="http://schemas.openxmlformats.org/officeDocument/2006/relationships/slide" Target="slides/slide101.xml"/><Relationship Id="rId102" Type="http://schemas.openxmlformats.org/officeDocument/2006/relationships/slide" Target="slides/slide102.xml"/><Relationship Id="rId103" Type="http://schemas.openxmlformats.org/officeDocument/2006/relationships/slide" Target="slides/slide103.xml"/><Relationship Id="rId104" Type="http://schemas.openxmlformats.org/officeDocument/2006/relationships/slide" Target="slides/slide104.xml"/><Relationship Id="rId105" Type="http://schemas.openxmlformats.org/officeDocument/2006/relationships/slide" Target="slides/slide105.xml"/><Relationship Id="rId106" Type="http://schemas.openxmlformats.org/officeDocument/2006/relationships/slide" Target="slides/slide106.xml"/><Relationship Id="rId107" Type="http://schemas.openxmlformats.org/officeDocument/2006/relationships/slide" Target="slides/slide107.xml"/><Relationship Id="rId108" Type="http://schemas.openxmlformats.org/officeDocument/2006/relationships/slide" Target="slides/slide108.xml"/><Relationship Id="rId109" Type="http://schemas.openxmlformats.org/officeDocument/2006/relationships/slide" Target="slides/slide109.xml"/><Relationship Id="rId110" Type="http://schemas.openxmlformats.org/officeDocument/2006/relationships/slide" Target="slides/slide111.xml"/><Relationship Id="rId111" Type="http://schemas.openxmlformats.org/officeDocument/2006/relationships/notesMaster" Target="notesMasters/notesMaster1.xml"/><Relationship Id="rId112" Type="http://schemas.openxmlformats.org/officeDocument/2006/relationships/presProps" Target="presProps.xml"/><Relationship Id="rId113" Type="http://schemas.openxmlformats.org/officeDocument/2006/relationships/viewProps" Target="viewProps.xml"/><Relationship Id="rId114" Type="http://schemas.openxmlformats.org/officeDocument/2006/relationships/theme" Target="theme/theme1.xml"/><Relationship Id="rId115" Type="http://schemas.openxmlformats.org/officeDocument/2006/relationships/tableStyles" Target="tableStyles.xml"/><Relationship Id="rId116" Type="http://schemas.openxmlformats.org/officeDocument/2006/relationships/slide" Target="slides/slide4.xml"/><Relationship Id="rId117" Type="http://schemas.openxmlformats.org/officeDocument/2006/relationships/slide" Target="slides/slide110.xml"/><Relationship Id="rId118" Type="http://schemas.openxmlformats.org/officeDocument/2006/relationships/slide" Target="slides/slide112.xml"/><Relationship Id="rId119" Type="http://schemas.openxmlformats.org/officeDocument/2006/relationships/slide" Target="slides/slide1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1 TCAP EOC lecture deck. Each standard runs as a full lesson: divider (standard + I Can), hook, direct instruction with a verified primary-source image, key figures, vocabulary, a student activity (paired to a printable worksheet), a TCAP-style check (question slide, then click to the reveal/answer-key slide), and a wrap-up with a teacher answer key in the speaker notes. All images are public-domain, captioned, and linked to the Library of Congress / National Archives.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Bell ringer (5 min). Push factors: drought/crop failure, falling crop prices, farm debt/mechanization, lack of land. Pull factors: factory jobs, higher wages, electricity, entertainment, immigrant communities. Collect lists; revisit on the closing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SPACED RETRIEVAL (US.01). Cold-call or whiteboards, 3-4 min, low stakes. Answers — 1) Push: drought/debt/falling prices. Pull: factory jobs, higher wages, city amenities.  2) The Civil War; the South was being rebuilt during Reconstruction.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CHECK (US.01, DOK 1). 60-90 seconds. Have EVERY student commit (thumbs / whiteboard / choral) before revealing — this secures an early win and surfaces who is shaky before new content. Answer: TRUE — 160 acres after five years of living on and improving the claim. Key term to listen for: Homestead Act. This is the low-floor entry; the graded Check for Understanding later in the standard rises to DOK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(US.01).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(US.01). Think-aloud as you read: "I keep asking — good for whom, costly for whom?" Cold-call two students to name a winner and a loser of expansion before moving on. Teach in small steps; pause and check for understanding before the next chunk (aim 80%+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Primary-source analysis. SOURCE IT FIRST (SSP.02) — model the sourcing routine aloud before students interpret: WHO made this source? (U.S. Congress (federal statute).) WHEN? (1862, during the Civil War.) WHY does that matter? (A law reveals the government’s intent — ask who benefits and who is left out.) Only then move to the ANALYZE question. Suggested answer: DOK 3: Students must weigh competing perspectives. The Act’s "free" 160-acre grants to settlers came from land that the federal government took from American Indian nations, so the same policy meant opportunity for one group and dispossession for another. Practice skill: Close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 WE DO (US.01). Skill modeled: Cause → Effect reasoning. Model the worked example aloud using the THINK ALOUD as your script, then release students to the activity ("Now you complete two more cause→effect chains on your own in the activity."). This is the I Do → We Do → You Do bridge — do not skip it; aim for 80%+ success before independent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activity for US.01. Pair with the printable: Cornell Notes — US.01: Transcontinental Railroad &amp; Industrial Expansion (Teacher Tools › Worksheets › Cornell Notes). Timing: 10–12 min. Deliverable: Completed cause-effect web with at least 6 labeled effects.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(US.01, DOK 3). Have students commit to an answer (whiteboards, hand signal, or turn-and-talk) BEFORE advancing. Correct answer: A. The next slide reveals it. Why: DOK 3: Students must weigh competing perspectives. The Act’s "free" 160-acre grants to settlers came from land that the federal government took from American Indian nations, so the same policy meant opportunity for one group and dispossession for another.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(US.01). Correct: A. DOK 3: Students must weigh competing perspectives. The Act’s "free" 160-acre grants to settlers came from land that the federal government took from American Indian nations, so the same policy meant opportunity for one group and dispossession for another.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 EXIT-TICKET KEY (US.01, DOK 2). Prompt: Explain ONE way the Homestead Act or the railroad helped settlers AND ONE way it harmed American Indians.  Model answer: E.g., free 160-acre claims/rail access drew settlers; the same land was taken from American Indian nations, who were pushed onto reservations.  RETEACH TRIGGER — if a student misses this exit ticket: (1) &lt;50% of class miss → spiral it into the next standard’s Quick Review opener (see the US.01 review prompts). (2) Individual/small group → reteach with the "Sequence the expansion of the United States" direct-instruction slide + re-run the SOURCE IT FIRST routine on the US.01 primary source, then assign the paired printable: Cornell Notes — US.01: Transcontinental Railroad &amp; Industrial Expansion (Teacher Tools › Worksheets › Cornell Notes). (3) Re-assess with the US.01 check-for-understanding reveal slide as a do-now the next day. Reteach anchors (this standard’s sections): Sequence the expansion of the United States; Impact on Western Settlement; Impact on American Indians, Immigrants, and Settlers. I Can objective: I can explain how the Homestead Act and the Transcontinental Railroad impacted the settlement of the West, including their effects on American Indians, immigrants, and settlers.  EXTENSION (DOK 3, for early finishers or advanced learners): Argue: was westward expansion mainly “opportunity” or mainly “dispossession”? Defend your claim with TWO specific pieces of evidence. — look for a clear claim plus two specific pieces of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SPACED RETRIEVAL (US.02). Cold-call or whiteboards, 3-4 min, low stakes. Answers — 1) They drew settlers/immigrants west onto land taken from American Indians.  2) The belief the U.S. was destined to expand across the continent.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CHECK (US.02, DOK 1). 60-90 seconds. Have EVERY student commit (thumbs / whiteboard / choral) before revealing — this secures an early win and surfaces who is shaky before new content. Answer: A boarding (assimilation) school — e.g., Carlisle. Key term to listen for: assimilation. This is the low-floor entry; the graded Check for Understanding later in the standard rises to DOK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(US.02).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(US.02). Model the two-column move out loud (claim vs. result). Pause and have students whisper-read the policy’s stated goal to a partner before you reveal the consequence. Teach in small steps; pause and check for understanding before the next chunk (aim 80%+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Primary-source analysis. SOURCE IT FIRST (SSP.02) — model the sourcing routine aloud before students interpret: WHO made this source? (U.S. Congress (the Dawes/General Allotment Act).) WHEN? (1887.) WHY does that matter? (The law’s wording shows the stated goal; compare it to the documented result.) Only then move to the ANALYZE question. Suggested answer: DOK 2: The Act allotted land to individuals and declared the remainder "surplus" for sale, predictably dissolving collective tribal holdings and transferring tens of millions of acres out of Native hands. Practice skill: Close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 WE DO (US.02). Skill modeled: Stated goal vs. real consequence. Model the worked example aloud using the THINK ALOUD as your script, then release students to the activity ("You build the same two-column split for the boarding-school policy in the activity."). This is the I Do → We Do → You Do bridge — do not skip it; aim for 80%+ success before independent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activity for US.02. Pair with the printable: Cornell Notes — US.02: Federal Policies Toward American Indians (Teacher Tools › Worksheets › Cornell Notes). Timing: 12–15 min. Deliverable: A claim-evidence-reasoning (CER) paragraph with at least two cited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(US.02, DOK 2). Have students commit to an answer (whiteboards, hand signal, or turn-and-talk) BEFORE advancing. Correct answer: A. The next slide reveals it. Why: DOK 2: The Act allotted land to individuals and declared the remainder "surplus" for sale, predictably dissolving collective tribal holdings and transferring tens of millions of acres out of Native hands.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(US.02). Correct: A. DOK 2: The Act allotted land to individuals and declared the remainder "surplus" for sale, predictably dissolving collective tribal holdings and transferring tens of millions of acres out of Native hands.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 EXIT-TICKET KEY (US.02, DOK 3). Prompt: A policy can claim one goal but cause another. Using the Dawes Act, give the stated goal and one real consequence.  Model answer: Stated: “assimilate”/“civilize” Native peoples; consequence: communal land broken into allotments → massive Native land loss.  RETEACH TRIGGER — if a student misses this exit ticket: (1) &lt;50% of class miss → spiral it into the next standard’s Quick Review opener (see the US.02 review prompts). (2) Individual/small group → reteach with the "Movement to Reservations" direct-instruction slide + re-run the SOURCE IT FIRST routine on the US.02 primary source, then assign the paired printable: Cornell Notes — US.02: Federal Policies Toward American Indians (Teacher Tools › Worksheets › Cornell Notes). (3) Re-assess with the US.02 check-for-understanding reveal slide as a do-now the next day. Reteach anchors (this standard’s sections): Movement to Reservations; Assimilation and Boarding Schools; The Dawes Act and Its Impact. I Can objective: I can examine federal policies toward American Indians, including the movement to reservations, assimilation, boarding schools, and the Dawes Act.  EXTENSION (DOK 3, for early finishers or advanced learners): Evaluate: did assimilation policy and the Dawes Act share the same underlying assumption about Native cultures? Support with evidence from both. — look for a clear claim plus two specific pieces of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SPACED RETRIEVAL (US.03). Cold-call or whiteboards, 3-4 min, low stakes. Answers — 1) It broke up communal land into allotments, causing massive Native land loss.  2) Land set aside by the federal government for American Indian tribes.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CHECK (US.03, DOK 1). 60-90 seconds. Have EVERY student commit (thumbs / whiteboard / choral) before revealing — this secures an early win and surfaces who is shaky before new content. Answer: "equal" — Plessy v. Ferguson legalized segregation. Key term to listen for: segregation. This is the low-floor entry; the graded Check for Understanding later in the standard rises to DOK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(US.03).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(US.03). Think-aloud: "A right I can’t use isn’t really a right." Cold-call for the NAME of a specific denial tool — push past "racism" to poll tax, literacy test, Plessy. Teach in small steps; pause and check for understanding before the next chunk (aim 80%+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Primary-source analysis. SOURCE IT FIRST (SSP.02) — model the sourcing routine aloud before students interpret: WHO made this source? (The U.S. Supreme Court — majority opinion by Justice Henry Billings Brown.) WHEN? (May 18, 1896 (Plessy v. Ferguson, 163 U.S. 537).) WHY does that matter? (The nation's highest court is stating the law of the land — its reasoning shaped segregation for 58 years, until Brown v. Board (1954).) Only then move to the ANALYZE question. Suggested answer: DOK 3: This requires evaluating the Court’s logic. Justice Harlan’s dissent — and later Brown v. Board (1954) — argued that government-mandated separation is inherently unequal because the law itself brands a group as inferior, directly rejecting the "separate but equal" reasoning. Practice skill: Argumentation.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 WE DO (US.03). Skill modeled: Rights on paper vs. in practice. Model the worked example aloud using the THINK ALOUD as your script, then release students to the activity ("You match two more denial-tools to the right each one defeated in the activity."). This is the I Do → We Do → You Do bridge — do not skip it; aim for 80%+ success before independent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activity for US.03. Pair with the printable: Cornell Notes — US.03: Reconstruction (Amendments, Freedmen's Bureau, End of Reconstruction). Timing: 10–12 min. Deliverable: Annotated cartoon analysis with point-of-view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(US.03, DOK 3). Have students commit to an answer (whiteboards, hand signal, or turn-and-talk) BEFORE advancing. Correct answer: A. The next slide reveals it. Why: DOK 3: This requires evaluating the Court’s logic. Justice Harlan’s dissent — and later Brown v. Board (1954) — argued that government-mandated separation is inherently unequal because the law itself brands a group as inferior, directly rejecting the "separate but equal" reasoning.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(US.03). Correct: A. DOK 3: This requires evaluating the Court’s logic. Justice Harlan’s dissent — and later Brown v. Board (1954) — argued that government-mandated separation is inherently unequal because the law itself brands a group as inferior, directly rejecting the "separate but equal" reasoning.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 EXIT-TICKET KEY (US.03, DOK 3). Prompt: Rights can exist on paper but be denied in practice. Name one tool used to deny Black Americans rights after 1877 and explain how it worked.  Model answer: E.g., poll taxes/literacy tests disenfranchised voters; Jim Crow laws + Plessy legalized segregation despite the 14th/15th Amendments.  RETEACH TRIGGER — if a student misses this exit ticket: (1) &lt;50% of class miss → spiral it into the next standard’s Quick Review opener (see the US.03 review prompts). (2) Individual/small group → reteach with the "The Election of 1876 and End of Reconstruction" direct-instruction slide + re-run the SOURCE IT FIRST routine on the US.03 primary source, then assign the paired printable: Cornell Notes — US.03: Reconstruction (Amendments, Freedmen's Bureau, End of Reconstruction). (3) Re-assess with the US.03 check-for-understanding reveal slide as a do-now the next day. Reteach anchors (this standard’s sections): The Election of 1876 and End of Reconstruction; Jim Crow Laws, Lynching, and Disenfranchisement; Pap Singleton and the Exodusters; Plessy v. Ferguson and "Separate But Equal". I Can objective: I can explain the impact of the Compromise of 1877, including Jim Crow laws, lynching, disenfranchisement methods, the efforts of Benjamin "Pap" Singleton and the Exodusters, and the Plessy v. Ferguson decision.  EXTENSION (DOK 3, for early finishers or advanced learners): Construct an argument: which did MORE to undo Reconstruction — legal tools (Plessy, Jim Crow laws) or extralegal force (violence, intimidation)? Cite evidence. — look for a clear claim plus two specific pieces of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SPACED RETRIEVAL (US.04). Cold-call or whiteboards, 3-4 min, low stakes. Answers — 1) The Compromise of 1877; Jim Crow laws and disenfranchisement replaced those rights.  2) It upheld “separate but equal,” legalizing segregation.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CHECK (US.04, DOK 1). 60-90 seconds. Have EVERY student commit (thumbs / whiteboard / choral) before revealing — this secures an early win and surfaces who is shaky before new content. Answer: A political machine (e.g., Tammany Hall under Boss Tweed). Key term to listen for: political machine. This is the low-floor entry; the graded Check for Understanding later in the standard rises to DOK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(US.04).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(US.04). Hold the tension out loud: "Both can be true." Have students give a thumbs-up/down on whether they’d take the machine’s help, then defend it to a neighbor. Teach in small steps; pause and check for understanding before the next chunk (aim 80%+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Primary-source analysis. SOURCE IT FIRST (SSP.02) — model the sourcing routine aloud before students interpret: WHO made this source? (U.S. Congress (the Pendleton Civil Service Act).) WHEN? (1883.) WHY does that matter? (A reform law tells you what problem lawmakers were trying to fix.) Only then move to the ANALYZE question. Suggested answer: The Act prohibited requiring political contributions from government workers and banned using "official authority or influence to coerce the political action of any person." Practice skill: Contextualization.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 WE DO (US.04). Skill modeled: Reason + cost analysis. Model the worked example aloud using the THINK ALOUD as your script, then release students to the activity ("You weigh one more machine benefit against its cost in the activity."). This is the I Do → We Do → You Do bridge — do not skip it; aim for 80%+ success before independent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activity for US.04. Pair with the printable: Cornell Notes — US.04: Gilded Age Politics (Machines, Scandals &amp; Civil Service Reform). Timing: 10 min. Deliverable: Give/Take T-chart plus a one-sentence group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(US.04, DOK 2). Have students commit to an answer (whiteboards, hand signal, or turn-and-talk) BEFORE advancing. Correct answer: C. The next slide reveals it. Why: Bryce's analysis describes the 'spoils system'—bosses using public offices, contracts, and money to reward loyalty. The Pendleton Act attacked exactly this by requiring competitive exams for federal jobs. The outside observer's description and the reform law corroborate each other: machine corruption was the problem the Pendleton Act was designed to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(US.04). Correct: C. Bryce's analysis describes the 'spoils system'—bosses using public offices, contracts, and money to reward loyalty. The Pendleton Act attacked exactly this by requiring competitive exams for federal jobs. The outside observer's description and the reform law corroborate each other: machine corruption was the problem the Pendleton Act was designed to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 EXIT-TICKET KEY (US.04, DOK 2). Prompt: Why might poor city residents SUPPORT a corrupt political machine? Give one reason and one cost of that support.  Model answer: Reason: machines gave jobs, food, services to immigrants; cost: graft, higher taxes, corrupt government (e.g., Tweed).  RETEACH TRIGGER — if a student misses this exit ticket: (1) &lt;50% of class miss → spiral it into the next standard’s Quick Review opener (see the US.04 review prompts). (2) Individual/small group → reteach with the "Political Machines and Boss Tweed" direct-instruction slide + re-run the SOURCE IT FIRST routine on the US.04 primary source, then assign the paired printable: Cornell Notes — US.04: Gilded Age Politics (Machines, Scandals &amp; Civil Service Reform). (3) Re-assess with the US.04 check-for-understanding reveal slide as a do-now the next day. Reteach anchors (this standard’s sections): Political Machines and Boss Tweed; Major Scandals and the Spoils System; Civil Service Reform; Economic Disparity. I Can objective: I can analyze the causes and consequences of Gilded Age politics and economics, including political machines, major scandals, civil service reform, and economic differences between farmers, wage earners, and industrial capitalists.  EXTENSION (DOK 3, for early finishers or advanced learners): Argue: were political machines a net good or a net harm for new immigrants? Take a position and weigh services against costs with evidence. — look for a clear claim plus two specific pieces of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SPACED RETRIEVAL (US.05). Cold-call or whiteboards, 3-4 min, low stakes. Answers — 1) A party organization that traded jobs/services for votes, often through corruption.  2) It ended the spoils system’s forced political contributions; created merit hiring.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CHECK (US.05, DOK 1). 60-90 seconds. Have EVERY student commit (thumbs / whiteboard / choral) before revealing — this secures an early win and surfaces who is shaky before new content. Answer: Vertical integration (Carnegie in steel). Key term to listen for: vertical integration. This is the low-floor entry; the graded Check for Understanding later in the standard rises to DOK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(US.05).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(US.05). Model staking a claim, then say "but the strongest objection is…" Cold-call students to supply the counter-argument before they pick a side. Teach in small steps; pause and check for understanding before the next chunk (aim 80%+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Primary-source analysis. SOURCE IT FIRST (SSP.02) — model the sourcing routine aloud before students interpret: WHO made this source? (Andrew Carnegie — steel magnate and one of the wealthiest men in America.) WHEN? (1889 (Gilded Age).) WHY does that matter? (A titan of industry is defining his own duty to society — read it as self-justification and as a genuine argument about wealth.) Only then move to the ANALYZE question. Suggested answer: DOK 2: Students apply the source to a new case. Carnegie argued the rich should live modestly and administer surplus wealth "as trust funds" for the public good — funding libraries is a textbook example of his Gospel of Wealth. Practice skill: Argumentation.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 WE DO (US.05). Skill modeled: Claim + evidence (argument). Model the worked example aloud using the THINK ALOUD as your script, then release students to the activity ("You take a position on a second titan and back it with one piece of evidence in the activity."). This is the I Do → We Do → You Do bridge — do not skip it; aim for 80%+ success before independent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activity for US.05. Pair with the printable: Cornell Notes — US.05: Inventions &amp; Innovators of the Industrial Age. Timing: 12 min. Deliverable: A position card with claim + two pieces of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(US.05, DOK 2). Have students commit to an answer (whiteboards, hand signal, or turn-and-talk) BEFORE advancing. Correct answer: A. The next slide reveals it. Why: DOK 2: Students apply the source to a new case. Carnegie argued the rich should live modestly and administer surplus wealth "as trust funds" for the public good — funding libraries is a textbook example of his Gospel of Wealth.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(US.05). Correct: A. DOK 2: Students apply the source to a new case. Carnegie argued the rich should live modestly and administer surplus wealth "as trust funds" for the public good — funding libraries is a textbook example of his Gospel of Wealth.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 EXIT-TICKET KEY (US.05, DOK 3). Prompt: Was a figure like Rockefeller a “robber baron” or a “captain of industry”? Take a position and cite ONE piece of evidence.  Model answer: Either defensible: robber baron (crushed competitors, low wages) OR captain of industry (efficiency, cheaper goods, philanthropy). Must cite evidence.  RETEACH TRIGGER — if a student misses this exit ticket: (1) &lt;50% of class miss → spiral it into the next standard’s Quick Review opener (see the US.05 review prompts). (2) Individual/small group → reteach with the "Technological Innovations" direct-instruction slide + re-run the SOURCE IT FIRST routine on the US.05 primary source, then assign the paired printable: Cornell Notes — US.05: Inventions &amp; Innovators of the Industrial Age. (3) Re-assess with the US.05 check-for-understanding reveal slide as a do-now the next day. Reteach anchors (this standard’s sections): Technological Innovations; Industrial Titans; African American Entrepreneurs. I Can objective: I can describe the changes in American life that resulted from the inventions and innovations of business leaders and entrepreneurs of the period, including Alexander Graham Bell, Andrew Carnegie, Thomas Edison, John D. Rockefeller, Madam C.J. Walker, and George Washington Carver.  EXTENSION (DOK 3, for early finishers or advanced learners): Evaluate the “Gospel of Wealth”: does large-scale philanthropy justify how the fortune was earned? Defend your judgment with evidence. — look for a clear claim plus two specific pieces of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SPACED RETRIEVAL (US.06). Cold-call or whiteboards, 3-4 min, low stakes. Answers — 1) Vertical: control all production stages. Horizontal: buy out competitors in the same industry.  2) The idea the rich should live modestly and give surplus wealth to benefit society.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CHECK (US.06, DOK 1). 60-90 seconds. Have EVERY student commit (thumbs / whiteboard / choral) before revealing — this secures an early win and surfaces who is shaky before new content. Answer: Urbanization. Key term to listen for: urbanization. This is the low-floor entry; the graded Check for Understanding later in the standard rises to DOK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(US.06).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(US.06). Think-aloud the arrow: "growth caused this problem." Have students turn-and-talk one cause and one problem before you chart them. Teach in small steps; pause and check for understanding before the next chunk (aim 80%+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Primary-source analysis. SOURCE IT FIRST (SSP.02) — model the sourcing routine aloud before students interpret: WHO made this source? (Jacob Riis, reformer-photographer (How the Other Half Lives).) WHEN? (1890.) WHY does that matter? (Riis wanted to shock readers into reform — weigh that purpose against the image.) Only then move to the ANALYZE question. Suggested answer: Riis describes tenements as "hot-beds of the epidemics" and "nurseries of pauperism and crime," presenting them as sources of social problems. Practice skill: Contextualization.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 WE DO (US.06). Skill modeled: Cause → problem (urbanization). Model the worked example aloud using the THINK ALOUD as your script, then release students to the activity ("You build two more cause→problem links in the activity."). This is the I Do → We Do → You Do bridge — do not skip it; aim for 80%+ success before independent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activity for US.06. Pair with the printable: Cornell Notes — US.06: Industrialization &amp; Urbanization. Timing: 10 min. Deliverable: Map-annotation chart: needs vs.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(US.06, DOK 2). Have students commit to an answer (whiteboards, hand signal, or turn-and-talk) BEFORE advancing. Correct answer: C. The next slide reveals it. Why: The letter contrasts the dream of "streets paved with gold" with the reality of unpaved streets that immigrants themselves "were expected to pave," highlighting difficult conditions.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(US.06). Correct: C. The letter contrasts the dream of "streets paved with gold" with the reality of unpaved streets that immigrants themselves "were expected to pave," highlighting difficult conditions.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 EXIT-TICKET KEY (US.06, DOK 2). Prompt: Explain ONE cause of rapid urbanization AND ONE problem it created in cities.  Model answer: Cause: factory jobs drew rural + immigrant workers; problem: overcrowded tenements, disease, strained sanitation.  RETEACH TRIGGER — if a student misses this exit ticket: (1) &lt;50% of class miss → spiral it into the next standard’s Quick Review opener (see the US.06 review prompts). (2) Individual/small group → reteach with the "Major Industrial Centers" direct-instruction slide + re-run the SOURCE IT FIRST routine on the US.06 primary source, then assign the paired printable: Cornell Notes — US.06: Industrialization &amp; Urbanization. (3) Re-assess with the US.06 check-for-understanding reveal slide as a do-now the next day. Reteach anchors (this standard’s sections): Major Industrial Centers; Rural-to-Urban Migration; Geographic Factors in Industrial Location. I Can objective: I can locate major industrial centers and describe how industrialization influenced the movement of people from rural to urban areas.  EXTENSION (DOK 3, for early finishers or advanced learners): Argue: who bore the greatest cost of rapid urbanization — immigrants, workers, or city governments? Defend with TWO pieces of evidence. — look for a clear claim plus two specific pieces of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SPACED RETRIEVAL (US.07). Cold-call or whiteboards, 3-4 min, low stakes. Answers — 1) Factory jobs drew rural Americans and immigrants into urban centers (urbanization).  2) A crowded, often unsafe urban apartment building housing poor and immigrant families.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CONFIDENCE CHECK (US.07, DOK 1). 60-90 seconds. Have EVERY student commit (thumbs / whiteboard / choral) before revealing — this secures an early win and surfaces who is shaky before new content. Answer: TRUE — plus Asia; “old” immigrants came earlier from N./W. Europe. Key term to listen for: new immigrants. This is the low-floor entry; the graded Check for Understanding later in the standard rises to DOK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(US.07). Run tight: pose the provocation, give a silent 10-second think, then Turn &amp; Talk 60 seconds. Cold-call 2–3 pairs (not volunteers) for a sentence-starter answer — "One force was ___ because ___" — then bridge to the standard. Keep total to ~4 minutes; do not let it sprawl. Return to this question at the unit close for an evidence-based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(US.07). Voice both perspectives with historical empathy. Cold-call one push factor and one nativist fear, then ask which surprised them. Teach in small steps; pause and check for understanding before the next chunk (aim 80%+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Primary-source analysis. SOURCE IT FIRST (SSP.02) — model the sourcing routine aloud before students interpret: WHO made this source? (U.S. Congress (the Chinese Exclusion Act).) WHEN? (1882.) WHY does that matter? (The first U.S. law to bar an entire nationality — ask whose fears it answered.) Only then move to the ANALYZE question. Suggested answer: The Act claims "The coming of Chinese laborers to this country endangers the good order of certain localities," using this as justification for exclusion. Practice skill: Close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 WE DO (US.07). Skill modeled: Compare across perspectives. Model the worked example aloud using the THINK ALOUD as your script, then release students to the activity ("You compare one more push factor with one nativist reaction in the activity."). This is the I Do → We Do → You Do bridge — do not skip it; aim for 80%+ success before independent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activity for US.07. Pair with the printable: Cornell Notes — US.07: Immigration &amp; Urbanization. Timing: 12 min. Deliverable: Two perspective sentences + a photographer's-purpose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(US.07, DOK 2). Have students commit to an answer (whiteboards, hand signal, or turn-and-talk) BEFORE advancing. Correct answer: B. The next slide reveals it. Why: Addams states Hull-House operated on "the theory that the dependence of classes on each other is reciprocal," emphasizing mutual benefit.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(US.07). Correct: B. Addams states Hull-House operated on "the theory that the dependence of classes on each other is reciprocal," emphasizing mutual benefit.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 EXIT-TICKET KEY (US.07, DOK 3). Prompt: Compare a PUSH factor for a “new” immigrant with a reason native-born Americans reacted with nativism. Which surprises you more and why?  Model answer: Push: poverty/persecution in S./E. Europe or Asia; nativism: job competition + prejudice (e.g., Chinese Exclusion Act). Reasoning required.  RETEACH TRIGGER — if a student misses this exit ticket: (1) &lt;50% of class miss → spiral it into the next standard’s Quick Review opener (see the US.07 review prompts). (2) Individual/small group → reteach with the "Old and New Immigrants" direct-instruction slide + re-run the SOURCE IT FIRST routine on the US.07 primary source, then assign the paired printable: Cornell Notes — US.07: Immigration &amp; Urbanization. (3) Re-assess with the US.07 check-for-understanding reveal slide as a do-now the next day. Reteach anchors (this standard’s sections): Old and New Immigrants; Entry Points and the Assimilation Process; Push and Pull Factors; Nativism and Restriction. I Can objective: I can describe the differences between "old" and "new" immigrants; explain entry points (Ellis Island and Angel Island), push and pull factors, and the formation of ethnic clusters; and analyze nativism and restrictions such as the Chinese Exclusion Act and the Gentlemen’s Agreement on American society.  EXTENSION (DOK 3, for early finishers or advanced learners): Construct an argument: was the Chinese Exclusion Act an economic policy or a racial one? Use specific evidence to defend your claim. — look for a clear claim plus two specific pieces of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hyperlink" Target="https://catalog.archives.gov/id/594940" TargetMode="External"/><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hyperlink" Target="https://www.loc.gov/item/gm71000843/" TargetMode="External"/><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hyperlink" Target="https://www.loc.gov/pictures/item/2005693378/" TargetMode="External"/><Relationship Id="rId3" Type="http://schemas.openxmlformats.org/officeDocument/2006/relationships/hyperlink" Target="https://www.archives.gov/milestone-documents/homestead-act" TargetMode="External"/><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hyperlink" Target="https://www.loc.gov/item/gm71000843/" TargetMode="External"/><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hyperlink" Target="https://commons.wikimedia.org/wiki/File:Tom_Torlino_Navajo_before_and_after_circa_1882.jpg" TargetMode="External"/><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hyperlink" Target="https://www.archives.gov/milestone-documents/dawes-act" TargetMode="External"/><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hyperlink" Target="https://www.loc.gov/pictures/item/92514996/" TargetMode="External"/><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hyperlink" Target="https://www.loc.gov/pictures/item/2001696840/" TargetMode="External"/><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2.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hyperlink" Target="https://www.loc.gov/pictures/item/97504690/" TargetMode="External"/><Relationship Id="rId3" Type="http://schemas.openxmlformats.org/officeDocument/2006/relationships/hyperlink" Target="https://www.loc.gov/item/usrep163537/" TargetMode="External"/><Relationship Id="rId4" Type="http://schemas.openxmlformats.org/officeDocument/2006/relationships/slideLayout" Target="../slideLayouts/slideLayout1.xml"/><Relationship Id="rId5" Type="http://schemas.openxmlformats.org/officeDocument/2006/relationships/notesSlide" Target="../notesSlides/notesSlide4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5.xml.rels><?xml version='1.0' encoding='UTF-8' standalone='yes'?>
<Relationships xmlns="http://schemas.openxmlformats.org/package/2006/relationships"><Relationship Id="rId1" Type="http://schemas.openxmlformats.org/officeDocument/2006/relationships/image" Target="../media/image-44-1.jpg"/><Relationship Id="rId2" Type="http://schemas.openxmlformats.org/officeDocument/2006/relationships/hyperlink" Target="https://www.loc.gov/pictures/item/97504690/" TargetMode="External"/><Relationship Id="rId3" Type="http://schemas.openxmlformats.org/officeDocument/2006/relationships/slideLayout" Target="../slideLayouts/slideLayout1.xml"/><Relationship Id="rId4" Type="http://schemas.openxmlformats.org/officeDocument/2006/relationships/notesSlide" Target="../notesSlides/notesSlide4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3.xml.rels><?xml version='1.0' encoding='UTF-8' standalone='yes'?>
<Relationships xmlns="http://schemas.openxmlformats.org/package/2006/relationships"><Relationship Id="rId1" Type="http://schemas.openxmlformats.org/officeDocument/2006/relationships/image" Target="../media/image-52-1.jpg"/><Relationship Id="rId2" Type="http://schemas.openxmlformats.org/officeDocument/2006/relationships/hyperlink" Target="https://www.loc.gov/pictures/item/2002718861/" TargetMode="External"/><Relationship Id="rId3" Type="http://schemas.openxmlformats.org/officeDocument/2006/relationships/slideLayout" Target="../slideLayouts/slideLayout1.xml"/><Relationship Id="rId4" Type="http://schemas.openxmlformats.org/officeDocument/2006/relationships/notesSlide" Target="../notesSlides/notesSlide5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7.xml.rels><?xml version='1.0' encoding='UTF-8' standalone='yes'?>
<Relationships xmlns="http://schemas.openxmlformats.org/package/2006/relationships"><Relationship Id="rId1" Type="http://schemas.openxmlformats.org/officeDocument/2006/relationships/hyperlink" Target="https://www.archives.gov/milestone-documents/pendleton-act" TargetMode="External"/><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60.xml.rels><?xml version='1.0' encoding='UTF-8' standalone='yes'?>
<Relationships xmlns="http://schemas.openxmlformats.org/package/2006/relationships"><Relationship Id="rId1" Type="http://schemas.openxmlformats.org/officeDocument/2006/relationships/image" Target="../media/image-59-1.jpg"/><Relationship Id="rId2" Type="http://schemas.openxmlformats.org/officeDocument/2006/relationships/hyperlink" Target="https://www.loc.gov/pictures/item/2002718861/" TargetMode="External"/><Relationship Id="rId3" Type="http://schemas.openxmlformats.org/officeDocument/2006/relationships/slideLayout" Target="../slideLayouts/slideLayout1.xml"/><Relationship Id="rId4" Type="http://schemas.openxmlformats.org/officeDocument/2006/relationships/notesSlide" Target="../notesSlides/notesSlide5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9.xml.rels><?xml version='1.0' encoding='UTF-8' standalone='yes'?>
<Relationships xmlns="http://schemas.openxmlformats.org/package/2006/relationships"><Relationship Id="rId1" Type="http://schemas.openxmlformats.org/officeDocument/2006/relationships/image" Target="../media/image-68-1.jpg"/><Relationship Id="rId2" Type="http://schemas.openxmlformats.org/officeDocument/2006/relationships/hyperlink" Target="https://www.loc.gov/pictures/item/90715109/" TargetMode="External"/><Relationship Id="rId3" Type="http://schemas.openxmlformats.org/officeDocument/2006/relationships/slideLayout" Target="../slideLayouts/slideLayout1.xml"/><Relationship Id="rId4" Type="http://schemas.openxmlformats.org/officeDocument/2006/relationships/notesSlide" Target="../notesSlides/notesSlide68.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2.xml.rels><?xml version='1.0' encoding='UTF-8' standalone='yes'?>
<Relationships xmlns="http://schemas.openxmlformats.org/package/2006/relationships"><Relationship Id="rId1" Type="http://schemas.openxmlformats.org/officeDocument/2006/relationships/image" Target="../media/image-71-1.jpg"/><Relationship Id="rId2" Type="http://schemas.openxmlformats.org/officeDocument/2006/relationships/hyperlink" Target="https://www.loc.gov/pictures/item/2001695241/" TargetMode="External"/><Relationship Id="rId3" Type="http://schemas.openxmlformats.org/officeDocument/2006/relationships/hyperlink" Target="https://www.carnegie.org/about/our-history/gospelofwealth/" TargetMode="External"/><Relationship Id="rId4" Type="http://schemas.openxmlformats.org/officeDocument/2006/relationships/slideLayout" Target="../slideLayouts/slideLayout1.xml"/><Relationship Id="rId5" Type="http://schemas.openxmlformats.org/officeDocument/2006/relationships/notesSlide" Target="../notesSlides/notesSlide7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5.xml.rels><?xml version='1.0' encoding='UTF-8' standalone='yes'?>
<Relationships xmlns="http://schemas.openxmlformats.org/package/2006/relationships"><Relationship Id="rId1" Type="http://schemas.openxmlformats.org/officeDocument/2006/relationships/image" Target="../media/image-74-1.jpg"/><Relationship Id="rId2" Type="http://schemas.openxmlformats.org/officeDocument/2006/relationships/hyperlink" Target="https://www.loc.gov/pictures/item/90715109/" TargetMode="External"/><Relationship Id="rId3" Type="http://schemas.openxmlformats.org/officeDocument/2006/relationships/slideLayout" Target="../slideLayouts/slideLayout1.xml"/><Relationship Id="rId4" Type="http://schemas.openxmlformats.org/officeDocument/2006/relationships/notesSlide" Target="../notesSlides/notesSlide74.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3.xml.rels><?xml version='1.0' encoding='UTF-8' standalone='yes'?>
<Relationships xmlns="http://schemas.openxmlformats.org/package/2006/relationships"><Relationship Id="rId1" Type="http://schemas.openxmlformats.org/officeDocument/2006/relationships/image" Target="../media/image-82-1.jpg"/><Relationship Id="rId2" Type="http://schemas.openxmlformats.org/officeDocument/2006/relationships/hyperlink" Target="https://www.loc.gov/resource/g3701gm.gct00010/?sp=86" TargetMode="External"/><Relationship Id="rId3" Type="http://schemas.openxmlformats.org/officeDocument/2006/relationships/slideLayout" Target="../slideLayouts/slideLayout1.xml"/><Relationship Id="rId4" Type="http://schemas.openxmlformats.org/officeDocument/2006/relationships/notesSlide" Target="../notesSlides/notesSlide8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5.xml.rels><?xml version='1.0' encoding='UTF-8' standalone='yes'?>
<Relationships xmlns="http://schemas.openxmlformats.org/package/2006/relationships"><Relationship Id="rId1" Type="http://schemas.openxmlformats.org/officeDocument/2006/relationships/image" Target="../media/image-84-1.jpg"/><Relationship Id="rId2" Type="http://schemas.openxmlformats.org/officeDocument/2006/relationships/hyperlink" Target="https://www.loc.gov/resource/g3701gm.gct00010/?sp=35" TargetMode="External"/><Relationship Id="rId3" Type="http://schemas.openxmlformats.org/officeDocument/2006/relationships/slideLayout" Target="../slideLayouts/slideLayout1.xml"/><Relationship Id="rId4" Type="http://schemas.openxmlformats.org/officeDocument/2006/relationships/notesSlide" Target="../notesSlides/notesSlide84.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7.xml.rels><?xml version='1.0' encoding='UTF-8' standalone='yes'?>
<Relationships xmlns="http://schemas.openxmlformats.org/package/2006/relationships"><Relationship Id="rId1" Type="http://schemas.openxmlformats.org/officeDocument/2006/relationships/image" Target="../media/image-86-1.jpg"/><Relationship Id="rId2" Type="http://schemas.openxmlformats.org/officeDocument/2006/relationships/hyperlink" Target="https://www.loc.gov/pictures/item/2002710259/" TargetMode="External"/><Relationship Id="rId3" Type="http://schemas.openxmlformats.org/officeDocument/2006/relationships/hyperlink" Target="https://www.loc.gov/item/71184754/" TargetMode="External"/><Relationship Id="rId4" Type="http://schemas.openxmlformats.org/officeDocument/2006/relationships/slideLayout" Target="../slideLayouts/slideLayout1.xml"/><Relationship Id="rId5" Type="http://schemas.openxmlformats.org/officeDocument/2006/relationships/notesSlide" Target="../notesSlides/notesSlide86.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90.xml.rels><?xml version='1.0' encoding='UTF-8' standalone='yes'?>
<Relationships xmlns="http://schemas.openxmlformats.org/package/2006/relationships"><Relationship Id="rId1" Type="http://schemas.openxmlformats.org/officeDocument/2006/relationships/image" Target="../media/image-89-1.jpg"/><Relationship Id="rId2" Type="http://schemas.openxmlformats.org/officeDocument/2006/relationships/hyperlink" Target="https://www.loc.gov/resource/g3701gm.gct00010/?sp=86" TargetMode="External"/><Relationship Id="rId3" Type="http://schemas.openxmlformats.org/officeDocument/2006/relationships/slideLayout" Target="../slideLayouts/slideLayout1.xml"/><Relationship Id="rId4" Type="http://schemas.openxmlformats.org/officeDocument/2006/relationships/notesSlide" Target="../notesSlides/notesSlide89.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8.xml.rels><?xml version='1.0' encoding='UTF-8' standalone='yes'?>
<Relationships xmlns="http://schemas.openxmlformats.org/package/2006/relationships"><Relationship Id="rId1" Type="http://schemas.openxmlformats.org/officeDocument/2006/relationships/image" Target="../media/image-97-1.jpg"/><Relationship Id="rId2" Type="http://schemas.openxmlformats.org/officeDocument/2006/relationships/hyperlink" Target="https://www.loc.gov/pictures/item/2016812423/" TargetMode="External"/><Relationship Id="rId3" Type="http://schemas.openxmlformats.org/officeDocument/2006/relationships/slideLayout" Target="../slideLayouts/slideLayout1.xml"/><Relationship Id="rId4" Type="http://schemas.openxmlformats.org/officeDocument/2006/relationships/notesSlide" Target="../notesSlides/notesSlide9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3.xml.rels><?xml version='1.0' encoding='UTF-8' standalone='yes'?>
<Relationships xmlns="http://schemas.openxmlformats.org/package/2006/relationships"><Relationship Id="rId1" Type="http://schemas.openxmlformats.org/officeDocument/2006/relationships/hyperlink" Target="https://www.archives.gov/milestone-documents/chinese-exclusion-act" TargetMode="External"/><Relationship Id="rId2" Type="http://schemas.openxmlformats.org/officeDocument/2006/relationships/slideLayout" Target="../slideLayouts/slideLayout1.xml"/><Relationship Id="rId3" Type="http://schemas.openxmlformats.org/officeDocument/2006/relationships/notesSlide" Target="../notesSlides/notesSlide10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6.xml.rels><?xml version='1.0' encoding='UTF-8' standalone='yes'?>
<Relationships xmlns="http://schemas.openxmlformats.org/package/2006/relationships"><Relationship Id="rId1" Type="http://schemas.openxmlformats.org/officeDocument/2006/relationships/image" Target="../media/image-105-1.jpg"/><Relationship Id="rId2" Type="http://schemas.openxmlformats.org/officeDocument/2006/relationships/hyperlink" Target="https://www.loc.gov/pictures/item/2002710259/" TargetMode="External"/><Relationship Id="rId3" Type="http://schemas.openxmlformats.org/officeDocument/2006/relationships/slideLayout" Target="../slideLayouts/slideLayout1.xml"/><Relationship Id="rId4" Type="http://schemas.openxmlformats.org/officeDocument/2006/relationships/notesSlide" Target="../notesSlides/notesSlide105.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1.jp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4-1.jp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A5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227"/>
          </a:solidFill>
          <a:ln/>
        </p:spPr>
        <p:txBody>
          <a:bodyPr/>
          <a:p/>
        </p:txBody>
      </p:sp>
      <p:sp>
        <p:nvSpPr>
          <p:cNvPr id="3" name="Shape 1"/>
          <p:cNvSpPr/>
          <p:nvPr/>
        </p:nvSpPr>
        <p:spPr>
          <a:xfrm>
            <a:off x="12045391" y="0"/>
            <a:ext cx="146304" cy="6858000"/>
          </a:xfrm>
          <a:prstGeom prst="rect">
            <a:avLst/>
          </a:prstGeom>
          <a:solidFill>
            <a:srgbClr val="B22234"/>
          </a:solidFill>
          <a:ln/>
        </p:spPr>
        <p:txBody>
          <a:bodyPr/>
          <a:p/>
        </p:txBody>
      </p:sp>
      <p:sp>
        <p:nvSpPr>
          <p:cNvPr id="4" name="Text 2"/>
          <p:cNvSpPr/>
          <p:nvPr/>
        </p:nvSpPr>
        <p:spPr>
          <a:xfrm>
            <a:off x="822960" y="1371600"/>
            <a:ext cx="10058400" cy="457200"/>
          </a:xfrm>
          <a:prstGeom prst="rect">
            <a:avLst/>
          </a:prstGeom>
          <a:noFill/>
          <a:ln/>
        </p:spPr>
        <p:txBody>
          <a:bodyPr wrap="square" rtlCol="0" anchor="ctr"/>
          <a:lstStyle/>
          <a:p>
            <a:pPr indent="0" marL="0">
              <a:buNone/>
            </a:pPr>
            <a:r>
              <a:rPr lang="en-US" sz="1800" b="1" spc="500" kern="0" dirty="0">
                <a:solidFill>
                  <a:srgbClr val="F9A825"/>
                </a:solidFill>
                <a:latin typeface="Trebuchet MS" pitchFamily="34" charset="0"/>
                <a:ea typeface="Trebuchet MS" pitchFamily="34" charset="-122"/>
                <a:cs typeface="Trebuchet MS" pitchFamily="34" charset="-120"/>
              </a:rPr>
              <a:t>U.S. HISTORY HACK</a:t>
            </a:r>
            <a:endParaRPr lang="en-US" sz="1800" dirty="0"/>
          </a:p>
        </p:txBody>
      </p:sp>
      <p:sp>
        <p:nvSpPr>
          <p:cNvPr id="5" name="Text 3"/>
          <p:cNvSpPr/>
          <p:nvPr/>
        </p:nvSpPr>
        <p:spPr>
          <a:xfrm>
            <a:off x="822960" y="1828800"/>
            <a:ext cx="10058400" cy="822960"/>
          </a:xfrm>
          <a:prstGeom prst="rect">
            <a:avLst/>
          </a:prstGeom>
          <a:noFill/>
          <a:ln/>
        </p:spPr>
        <p:txBody>
          <a:bodyPr wrap="square" rtlCol="0" anchor="ctr"/>
          <a:lstStyle/>
          <a:p>
            <a:pPr indent="0" marL="0">
              <a:buNone/>
            </a:pPr>
            <a:r>
              <a:rPr lang="en-US" sz="6000" b="1" dirty="0">
                <a:solidFill>
                  <a:srgbClr val="FFFFFF"/>
                </a:solidFill>
                <a:latin typeface="Georgia" pitchFamily="34" charset="0"/>
                <a:ea typeface="Georgia" pitchFamily="34" charset="-122"/>
                <a:cs typeface="Georgia" pitchFamily="34" charset="-120"/>
              </a:rPr>
              <a:t>Unit 1</a:t>
            </a:r>
            <a:endParaRPr lang="en-US" sz="6000" dirty="0"/>
          </a:p>
        </p:txBody>
      </p:sp>
      <p:sp>
        <p:nvSpPr>
          <p:cNvPr id="6" name="Text 4"/>
          <p:cNvSpPr/>
          <p:nvPr/>
        </p:nvSpPr>
        <p:spPr>
          <a:xfrm>
            <a:off x="822960" y="2788920"/>
            <a:ext cx="10241280" cy="640080"/>
          </a:xfrm>
          <a:prstGeom prst="rect">
            <a:avLst/>
          </a:prstGeom>
          <a:noFill/>
          <a:ln/>
        </p:spPr>
        <p:txBody>
          <a:bodyPr wrap="square"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The Rise of Industrialization</a:t>
            </a:r>
            <a:endParaRPr lang="en-US" sz="3400" dirty="0"/>
          </a:p>
        </p:txBody>
      </p:sp>
      <p:sp>
        <p:nvSpPr>
          <p:cNvPr id="7" name="Text 5"/>
          <p:cNvSpPr/>
          <p:nvPr/>
        </p:nvSpPr>
        <p:spPr>
          <a:xfrm>
            <a:off x="822960" y="3456432"/>
            <a:ext cx="10424160" cy="457200"/>
          </a:xfrm>
          <a:prstGeom prst="rect">
            <a:avLst/>
          </a:prstGeom>
          <a:noFill/>
          <a:ln/>
        </p:spPr>
        <p:txBody>
          <a:bodyPr wrap="square" rtlCol="0" anchor="ctr"/>
          <a:lstStyle/>
          <a:p>
            <a:pPr indent="0" marL="0">
              <a:buNone/>
            </a:pPr>
            <a:r>
              <a:rPr lang="en-US" sz="1900" i="1" dirty="0">
                <a:solidFill>
                  <a:srgbClr val="C7D4E0"/>
                </a:solidFill>
                <a:latin typeface="Georgia" pitchFamily="34" charset="0"/>
                <a:ea typeface="Georgia" pitchFamily="34" charset="-122"/>
                <a:cs typeface="Georgia" pitchFamily="34" charset="-120"/>
              </a:rPr>
              <a:t>Westward Expansion · The Gilded Age · Immigration   ·   1877–1900</a:t>
            </a:r>
            <a:endParaRPr lang="en-US" sz="1900" dirty="0"/>
          </a:p>
        </p:txBody>
      </p:sp>
      <p:sp>
        <p:nvSpPr>
          <p:cNvPr id="8" name="Text 6"/>
          <p:cNvSpPr/>
          <p:nvPr/>
        </p:nvSpPr>
        <p:spPr>
          <a:xfrm>
            <a:off x="822960" y="3931920"/>
            <a:ext cx="10058400" cy="411480"/>
          </a:xfrm>
          <a:prstGeom prst="rect">
            <a:avLst/>
          </a:prstGeom>
          <a:noFill/>
          <a:ln/>
        </p:spPr>
        <p:txBody>
          <a:bodyPr wrap="square" rtlCol="0" anchor="ctr"/>
          <a:lstStyle/>
          <a:p>
            <a:pPr indent="0" marL="0">
              <a:buNone/>
            </a:pPr>
            <a:r>
              <a:rPr lang="en-US" sz="1800" dirty="0">
                <a:solidFill>
                  <a:srgbClr val="A7BACB"/>
                </a:solidFill>
                <a:latin typeface="Calibri" pitchFamily="34" charset="0"/>
                <a:ea typeface="Calibri" pitchFamily="34" charset="-122"/>
                <a:cs typeface="Calibri" pitchFamily="34" charset="-120"/>
              </a:rPr>
              <a:t>Standards US.01 – US.07</a:t>
            </a:r>
            <a:endParaRPr lang="en-US" sz="1800" dirty="0"/>
          </a:p>
        </p:txBody>
      </p:sp>
      <p:sp>
        <p:nvSpPr>
          <p:cNvPr id="9" name="Shape 7"/>
          <p:cNvSpPr/>
          <p:nvPr/>
        </p:nvSpPr>
        <p:spPr>
          <a:xfrm>
            <a:off x="822960" y="4480560"/>
            <a:ext cx="1051560" cy="457200"/>
          </a:xfrm>
          <a:prstGeom prst="roundRect">
            <a:avLst>
              <a:gd name="adj" fmla="val 16000"/>
            </a:avLst>
          </a:prstGeom>
          <a:solidFill>
            <a:srgbClr val="243047"/>
          </a:solidFill>
          <a:ln w="12700">
            <a:solidFill>
              <a:srgbClr val="C9A227"/>
            </a:solidFill>
            <a:prstDash val="solid"/>
          </a:ln>
        </p:spPr>
        <p:txBody>
          <a:bodyPr/>
          <a:p/>
        </p:txBody>
      </p:sp>
      <p:sp>
        <p:nvSpPr>
          <p:cNvPr id="10" name="Text 8"/>
          <p:cNvSpPr/>
          <p:nvPr/>
        </p:nvSpPr>
        <p:spPr>
          <a:xfrm>
            <a:off x="822960" y="4480560"/>
            <a:ext cx="1051560" cy="457200"/>
          </a:xfrm>
          <a:prstGeom prst="rect">
            <a:avLst/>
          </a:prstGeom>
          <a:noFill/>
          <a:ln/>
        </p:spPr>
        <p:txBody>
          <a:bodyPr wrap="square" rtlCol="0" anchor="ctr"/>
          <a:lstStyle/>
          <a:p>
            <a:pPr algn="ctr" indent="0" marL="0">
              <a:buNone/>
            </a:pPr>
            <a:r>
              <a:rPr lang="en-US" sz="1300" b="1" dirty="0">
                <a:solidFill>
                  <a:srgbClr val="F9A825"/>
                </a:solidFill>
                <a:latin typeface="Trebuchet MS" pitchFamily="34" charset="0"/>
                <a:ea typeface="Trebuchet MS" pitchFamily="34" charset="-122"/>
                <a:cs typeface="Trebuchet MS" pitchFamily="34" charset="-120"/>
              </a:rPr>
              <a:t>US.01</a:t>
            </a:r>
            <a:endParaRPr lang="en-US" sz="1300" dirty="0"/>
          </a:p>
        </p:txBody>
      </p:sp>
      <p:sp>
        <p:nvSpPr>
          <p:cNvPr id="11" name="Shape 9"/>
          <p:cNvSpPr/>
          <p:nvPr/>
        </p:nvSpPr>
        <p:spPr>
          <a:xfrm>
            <a:off x="2039112" y="4480560"/>
            <a:ext cx="1051560" cy="457200"/>
          </a:xfrm>
          <a:prstGeom prst="roundRect">
            <a:avLst>
              <a:gd name="adj" fmla="val 16000"/>
            </a:avLst>
          </a:prstGeom>
          <a:solidFill>
            <a:srgbClr val="243047"/>
          </a:solidFill>
          <a:ln w="12700">
            <a:solidFill>
              <a:srgbClr val="C9A227"/>
            </a:solidFill>
            <a:prstDash val="solid"/>
          </a:ln>
        </p:spPr>
        <p:txBody>
          <a:bodyPr/>
          <a:p/>
        </p:txBody>
      </p:sp>
      <p:sp>
        <p:nvSpPr>
          <p:cNvPr id="12" name="Text 10"/>
          <p:cNvSpPr/>
          <p:nvPr/>
        </p:nvSpPr>
        <p:spPr>
          <a:xfrm>
            <a:off x="2039112" y="4480560"/>
            <a:ext cx="1051560" cy="457200"/>
          </a:xfrm>
          <a:prstGeom prst="rect">
            <a:avLst/>
          </a:prstGeom>
          <a:noFill/>
          <a:ln/>
        </p:spPr>
        <p:txBody>
          <a:bodyPr wrap="square" rtlCol="0" anchor="ctr"/>
          <a:lstStyle/>
          <a:p>
            <a:pPr algn="ctr" indent="0" marL="0">
              <a:buNone/>
            </a:pPr>
            <a:r>
              <a:rPr lang="en-US" sz="1300" b="1" dirty="0">
                <a:solidFill>
                  <a:srgbClr val="F9A825"/>
                </a:solidFill>
                <a:latin typeface="Trebuchet MS" pitchFamily="34" charset="0"/>
                <a:ea typeface="Trebuchet MS" pitchFamily="34" charset="-122"/>
                <a:cs typeface="Trebuchet MS" pitchFamily="34" charset="-120"/>
              </a:rPr>
              <a:t>US.02</a:t>
            </a:r>
            <a:endParaRPr lang="en-US" sz="1300" dirty="0"/>
          </a:p>
        </p:txBody>
      </p:sp>
      <p:sp>
        <p:nvSpPr>
          <p:cNvPr id="13" name="Shape 11"/>
          <p:cNvSpPr/>
          <p:nvPr/>
        </p:nvSpPr>
        <p:spPr>
          <a:xfrm>
            <a:off x="3255264" y="4480560"/>
            <a:ext cx="1051560" cy="457200"/>
          </a:xfrm>
          <a:prstGeom prst="roundRect">
            <a:avLst>
              <a:gd name="adj" fmla="val 16000"/>
            </a:avLst>
          </a:prstGeom>
          <a:solidFill>
            <a:srgbClr val="243047"/>
          </a:solidFill>
          <a:ln w="12700">
            <a:solidFill>
              <a:srgbClr val="C9A227"/>
            </a:solidFill>
            <a:prstDash val="solid"/>
          </a:ln>
        </p:spPr>
        <p:txBody>
          <a:bodyPr/>
          <a:p/>
        </p:txBody>
      </p:sp>
      <p:sp>
        <p:nvSpPr>
          <p:cNvPr id="14" name="Text 12"/>
          <p:cNvSpPr/>
          <p:nvPr/>
        </p:nvSpPr>
        <p:spPr>
          <a:xfrm>
            <a:off x="3255264" y="4480560"/>
            <a:ext cx="1051560" cy="457200"/>
          </a:xfrm>
          <a:prstGeom prst="rect">
            <a:avLst/>
          </a:prstGeom>
          <a:noFill/>
          <a:ln/>
        </p:spPr>
        <p:txBody>
          <a:bodyPr wrap="square" rtlCol="0" anchor="ctr"/>
          <a:lstStyle/>
          <a:p>
            <a:pPr algn="ctr" indent="0" marL="0">
              <a:buNone/>
            </a:pPr>
            <a:r>
              <a:rPr lang="en-US" sz="1300" b="1" dirty="0">
                <a:solidFill>
                  <a:srgbClr val="F9A825"/>
                </a:solidFill>
                <a:latin typeface="Trebuchet MS" pitchFamily="34" charset="0"/>
                <a:ea typeface="Trebuchet MS" pitchFamily="34" charset="-122"/>
                <a:cs typeface="Trebuchet MS" pitchFamily="34" charset="-120"/>
              </a:rPr>
              <a:t>US.03</a:t>
            </a:r>
            <a:endParaRPr lang="en-US" sz="1300" dirty="0"/>
          </a:p>
        </p:txBody>
      </p:sp>
      <p:sp>
        <p:nvSpPr>
          <p:cNvPr id="15" name="Shape 13"/>
          <p:cNvSpPr/>
          <p:nvPr/>
        </p:nvSpPr>
        <p:spPr>
          <a:xfrm>
            <a:off x="4471416" y="4480560"/>
            <a:ext cx="1051560" cy="457200"/>
          </a:xfrm>
          <a:prstGeom prst="roundRect">
            <a:avLst>
              <a:gd name="adj" fmla="val 16000"/>
            </a:avLst>
          </a:prstGeom>
          <a:solidFill>
            <a:srgbClr val="243047"/>
          </a:solidFill>
          <a:ln w="12700">
            <a:solidFill>
              <a:srgbClr val="C9A227"/>
            </a:solidFill>
            <a:prstDash val="solid"/>
          </a:ln>
        </p:spPr>
        <p:txBody>
          <a:bodyPr/>
          <a:p/>
        </p:txBody>
      </p:sp>
      <p:sp>
        <p:nvSpPr>
          <p:cNvPr id="16" name="Text 14"/>
          <p:cNvSpPr/>
          <p:nvPr/>
        </p:nvSpPr>
        <p:spPr>
          <a:xfrm>
            <a:off x="4471416" y="4480560"/>
            <a:ext cx="1051560" cy="457200"/>
          </a:xfrm>
          <a:prstGeom prst="rect">
            <a:avLst/>
          </a:prstGeom>
          <a:noFill/>
          <a:ln/>
        </p:spPr>
        <p:txBody>
          <a:bodyPr wrap="square" rtlCol="0" anchor="ctr"/>
          <a:lstStyle/>
          <a:p>
            <a:pPr algn="ctr" indent="0" marL="0">
              <a:buNone/>
            </a:pPr>
            <a:r>
              <a:rPr lang="en-US" sz="1300" b="1" dirty="0">
                <a:solidFill>
                  <a:srgbClr val="F9A825"/>
                </a:solidFill>
                <a:latin typeface="Trebuchet MS" pitchFamily="34" charset="0"/>
                <a:ea typeface="Trebuchet MS" pitchFamily="34" charset="-122"/>
                <a:cs typeface="Trebuchet MS" pitchFamily="34" charset="-120"/>
              </a:rPr>
              <a:t>US.04</a:t>
            </a:r>
            <a:endParaRPr lang="en-US" sz="1300" dirty="0"/>
          </a:p>
        </p:txBody>
      </p:sp>
      <p:sp>
        <p:nvSpPr>
          <p:cNvPr id="17" name="Shape 15"/>
          <p:cNvSpPr/>
          <p:nvPr/>
        </p:nvSpPr>
        <p:spPr>
          <a:xfrm>
            <a:off x="5687568" y="4480560"/>
            <a:ext cx="1051560" cy="457200"/>
          </a:xfrm>
          <a:prstGeom prst="roundRect">
            <a:avLst>
              <a:gd name="adj" fmla="val 16000"/>
            </a:avLst>
          </a:prstGeom>
          <a:solidFill>
            <a:srgbClr val="243047"/>
          </a:solidFill>
          <a:ln w="12700">
            <a:solidFill>
              <a:srgbClr val="C9A227"/>
            </a:solidFill>
            <a:prstDash val="solid"/>
          </a:ln>
        </p:spPr>
        <p:txBody>
          <a:bodyPr/>
          <a:p/>
        </p:txBody>
      </p:sp>
      <p:sp>
        <p:nvSpPr>
          <p:cNvPr id="18" name="Text 16"/>
          <p:cNvSpPr/>
          <p:nvPr/>
        </p:nvSpPr>
        <p:spPr>
          <a:xfrm>
            <a:off x="5687568" y="4480560"/>
            <a:ext cx="1051560" cy="457200"/>
          </a:xfrm>
          <a:prstGeom prst="rect">
            <a:avLst/>
          </a:prstGeom>
          <a:noFill/>
          <a:ln/>
        </p:spPr>
        <p:txBody>
          <a:bodyPr wrap="square" rtlCol="0" anchor="ctr"/>
          <a:lstStyle/>
          <a:p>
            <a:pPr algn="ctr" indent="0" marL="0">
              <a:buNone/>
            </a:pPr>
            <a:r>
              <a:rPr lang="en-US" sz="1300" b="1" dirty="0">
                <a:solidFill>
                  <a:srgbClr val="F9A825"/>
                </a:solidFill>
                <a:latin typeface="Trebuchet MS" pitchFamily="34" charset="0"/>
                <a:ea typeface="Trebuchet MS" pitchFamily="34" charset="-122"/>
                <a:cs typeface="Trebuchet MS" pitchFamily="34" charset="-120"/>
              </a:rPr>
              <a:t>US.05</a:t>
            </a:r>
            <a:endParaRPr lang="en-US" sz="1300" dirty="0"/>
          </a:p>
        </p:txBody>
      </p:sp>
      <p:sp>
        <p:nvSpPr>
          <p:cNvPr id="19" name="Shape 17"/>
          <p:cNvSpPr/>
          <p:nvPr/>
        </p:nvSpPr>
        <p:spPr>
          <a:xfrm>
            <a:off x="6903720" y="4480560"/>
            <a:ext cx="1051560" cy="457200"/>
          </a:xfrm>
          <a:prstGeom prst="roundRect">
            <a:avLst>
              <a:gd name="adj" fmla="val 16000"/>
            </a:avLst>
          </a:prstGeom>
          <a:solidFill>
            <a:srgbClr val="243047"/>
          </a:solidFill>
          <a:ln w="12700">
            <a:solidFill>
              <a:srgbClr val="C9A227"/>
            </a:solidFill>
            <a:prstDash val="solid"/>
          </a:ln>
        </p:spPr>
        <p:txBody>
          <a:bodyPr/>
          <a:p/>
        </p:txBody>
      </p:sp>
      <p:sp>
        <p:nvSpPr>
          <p:cNvPr id="20" name="Text 18"/>
          <p:cNvSpPr/>
          <p:nvPr/>
        </p:nvSpPr>
        <p:spPr>
          <a:xfrm>
            <a:off x="6903720" y="4480560"/>
            <a:ext cx="1051560" cy="457200"/>
          </a:xfrm>
          <a:prstGeom prst="rect">
            <a:avLst/>
          </a:prstGeom>
          <a:noFill/>
          <a:ln/>
        </p:spPr>
        <p:txBody>
          <a:bodyPr wrap="square" rtlCol="0" anchor="ctr"/>
          <a:lstStyle/>
          <a:p>
            <a:pPr algn="ctr" indent="0" marL="0">
              <a:buNone/>
            </a:pPr>
            <a:r>
              <a:rPr lang="en-US" sz="1300" b="1" dirty="0">
                <a:solidFill>
                  <a:srgbClr val="F9A825"/>
                </a:solidFill>
                <a:latin typeface="Trebuchet MS" pitchFamily="34" charset="0"/>
                <a:ea typeface="Trebuchet MS" pitchFamily="34" charset="-122"/>
                <a:cs typeface="Trebuchet MS" pitchFamily="34" charset="-120"/>
              </a:rPr>
              <a:t>US.06</a:t>
            </a:r>
            <a:endParaRPr lang="en-US" sz="1300" dirty="0"/>
          </a:p>
        </p:txBody>
      </p:sp>
      <p:sp>
        <p:nvSpPr>
          <p:cNvPr id="21" name="Shape 19"/>
          <p:cNvSpPr/>
          <p:nvPr/>
        </p:nvSpPr>
        <p:spPr>
          <a:xfrm>
            <a:off x="8119872" y="4480560"/>
            <a:ext cx="1051560" cy="457200"/>
          </a:xfrm>
          <a:prstGeom prst="roundRect">
            <a:avLst>
              <a:gd name="adj" fmla="val 16000"/>
            </a:avLst>
          </a:prstGeom>
          <a:solidFill>
            <a:srgbClr val="243047"/>
          </a:solidFill>
          <a:ln w="12700">
            <a:solidFill>
              <a:srgbClr val="C9A227"/>
            </a:solidFill>
            <a:prstDash val="solid"/>
          </a:ln>
        </p:spPr>
        <p:txBody>
          <a:bodyPr/>
          <a:p/>
        </p:txBody>
      </p:sp>
      <p:sp>
        <p:nvSpPr>
          <p:cNvPr id="22" name="Text 20"/>
          <p:cNvSpPr/>
          <p:nvPr/>
        </p:nvSpPr>
        <p:spPr>
          <a:xfrm>
            <a:off x="8119872" y="4480560"/>
            <a:ext cx="1051560" cy="457200"/>
          </a:xfrm>
          <a:prstGeom prst="rect">
            <a:avLst/>
          </a:prstGeom>
          <a:noFill/>
          <a:ln/>
        </p:spPr>
        <p:txBody>
          <a:bodyPr wrap="square" rtlCol="0" anchor="ctr"/>
          <a:lstStyle/>
          <a:p>
            <a:pPr algn="ctr" indent="0" marL="0">
              <a:buNone/>
            </a:pPr>
            <a:r>
              <a:rPr lang="en-US" sz="1300" b="1" dirty="0">
                <a:solidFill>
                  <a:srgbClr val="F9A825"/>
                </a:solidFill>
                <a:latin typeface="Trebuchet MS" pitchFamily="34" charset="0"/>
                <a:ea typeface="Trebuchet MS" pitchFamily="34" charset="-122"/>
                <a:cs typeface="Trebuchet MS" pitchFamily="34" charset="-120"/>
              </a:rPr>
              <a:t>US.07</a:t>
            </a:r>
            <a:endParaRPr lang="en-US" sz="1300" dirty="0"/>
          </a:p>
        </p:txBody>
      </p:sp>
      <p:sp>
        <p:nvSpPr>
          <p:cNvPr id="23" name="Text 21"/>
          <p:cNvSpPr/>
          <p:nvPr/>
        </p:nvSpPr>
        <p:spPr>
          <a:xfrm>
            <a:off x="822960" y="5852160"/>
            <a:ext cx="10515600" cy="365760"/>
          </a:xfrm>
          <a:prstGeom prst="rect">
            <a:avLst/>
          </a:prstGeom>
          <a:noFill/>
          <a:ln/>
        </p:spPr>
        <p:txBody>
          <a:bodyPr wrap="square" rtlCol="0" anchor="ctr"/>
          <a:lstStyle/>
          <a:p>
            <a:pPr indent="0" marL="0">
              <a:buNone/>
            </a:pPr>
            <a:r>
              <a:rPr lang="en-US" sz="1200" spc="100" kern="0" dirty="0">
                <a:solidFill>
                  <a:srgbClr val="A7BACB"/>
                </a:solidFill>
                <a:latin typeface="Trebuchet MS" pitchFamily="34" charset="0"/>
                <a:ea typeface="Trebuchet MS" pitchFamily="34" charset="-122"/>
                <a:cs typeface="Trebuchet MS" pitchFamily="34" charset="-120"/>
              </a:rPr>
              <a:t>TCAP EOC LECTURE DECK  ·  Tennessee Academic Standards for U.S. History</a:t>
            </a:r>
            <a:endParaRPr lang="en-US" sz="1200" dirty="0"/>
          </a:p>
        </p:txBody>
      </p:sp>
      <p:sp>
        <p:nvSpPr>
          <p:cNvPr id="24" name="Text 22"/>
          <p:cNvSpPr/>
          <p:nvPr/>
        </p:nvSpPr>
        <p:spPr>
          <a:xfrm>
            <a:off x="822960" y="6263640"/>
            <a:ext cx="10515600" cy="274320"/>
          </a:xfrm>
          <a:prstGeom prst="rect">
            <a:avLst/>
          </a:prstGeom>
          <a:noFill/>
          <a:ln/>
        </p:spPr>
        <p:txBody>
          <a:bodyPr wrap="square" rtlCol="0" anchor="ctr"/>
          <a:lstStyle/>
          <a:p>
            <a:pPr indent="0" marL="0">
              <a:buNone/>
            </a:pPr>
            <a:r>
              <a:rPr lang="en-US" sz="1100" dirty="0">
                <a:solidFill>
                  <a:srgbClr val="A7BACB"/>
                </a:solidFill>
                <a:latin typeface="Calibri" pitchFamily="34" charset="0"/>
                <a:ea typeface="Calibri" pitchFamily="34" charset="-122"/>
                <a:cs typeface="Calibri" pitchFamily="34" charset="-120"/>
              </a:rPr>
              <a:t>TroopToTeacher Technologies LLC</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F3A5F"/>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B22234"/>
                </a:solidFill>
                <a:latin typeface="Trebuchet MS" pitchFamily="34" charset="0"/>
                <a:ea typeface="Trebuchet MS" pitchFamily="34" charset="-122"/>
                <a:cs typeface="Trebuchet MS" pitchFamily="34" charset="-120"/>
              </a:rPr>
              <a:t>UNIT ROADMAP</a:t>
            </a:r>
            <a:endParaRPr lang="en-US" sz="1200" dirty="0"/>
          </a:p>
        </p:txBody>
      </p:sp>
      <p:sp>
        <p:nvSpPr>
          <p:cNvPr id="4" name="Text 2"/>
          <p:cNvSpPr/>
          <p:nvPr/>
        </p:nvSpPr>
        <p:spPr>
          <a:xfrm>
            <a:off x="548640" y="777240"/>
            <a:ext cx="10972800" cy="548640"/>
          </a:xfrm>
          <a:prstGeom prst="rect">
            <a:avLst/>
          </a:prstGeom>
          <a:noFill/>
          <a:ln/>
        </p:spPr>
        <p:txBody>
          <a:bodyPr wrap="square" rtlCol="0" anchor="ctr"/>
          <a:lstStyle/>
          <a:p>
            <a:pPr indent="0" marL="0">
              <a:buNone/>
            </a:pPr>
            <a:r>
              <a:rPr lang="en-US" sz="3400" b="1" dirty="0">
                <a:solidFill>
                  <a:srgbClr val="1F3A5F"/>
                </a:solidFill>
                <a:latin typeface="Georgia" pitchFamily="34" charset="0"/>
                <a:ea typeface="Georgia" pitchFamily="34" charset="-122"/>
                <a:cs typeface="Georgia" pitchFamily="34" charset="-120"/>
              </a:rPr>
              <a:t>Where We Are Headed</a:t>
            </a:r>
            <a:endParaRPr lang="en-US" sz="3400" dirty="0"/>
          </a:p>
        </p:txBody>
      </p:sp>
      <p:sp>
        <p:nvSpPr>
          <p:cNvPr id="5" name="Text 3"/>
          <p:cNvSpPr/>
          <p:nvPr/>
        </p:nvSpPr>
        <p:spPr>
          <a:xfrm>
            <a:off x="548640" y="1353312"/>
            <a:ext cx="11064240" cy="320040"/>
          </a:xfrm>
          <a:prstGeom prst="rect">
            <a:avLst/>
          </a:prstGeom>
          <a:noFill/>
          <a:ln/>
        </p:spPr>
        <p:txBody>
          <a:bodyPr wrap="square" rtlCol="0" anchor="ctr"/>
          <a:lstStyle/>
          <a:p>
            <a:pPr indent="0" marL="0">
              <a:buNone/>
            </a:pPr>
            <a:r>
              <a:rPr lang="en-US" sz="1300" i="1" dirty="0">
                <a:solidFill>
                  <a:srgbClr val="5C6470"/>
                </a:solidFill>
                <a:latin typeface="Calibri" pitchFamily="34" charset="0"/>
                <a:ea typeface="Calibri" pitchFamily="34" charset="-122"/>
                <a:cs typeface="Calibri" pitchFamily="34" charset="-120"/>
              </a:rPr>
              <a:t>Unit 1 · The Rise of Industrialization (1877–1900)  —  Westward Expansion, the Gilded Age &amp; Immigration</a:t>
            </a:r>
            <a:endParaRPr lang="en-US" sz="1300" dirty="0"/>
          </a:p>
        </p:txBody>
      </p:sp>
      <p:sp>
        <p:nvSpPr>
          <p:cNvPr id="6" name="Shape 4"/>
          <p:cNvSpPr/>
          <p:nvPr/>
        </p:nvSpPr>
        <p:spPr>
          <a:xfrm>
            <a:off x="548640" y="1828800"/>
            <a:ext cx="5349240" cy="960120"/>
          </a:xfrm>
          <a:prstGeom prst="rect">
            <a:avLst/>
          </a:prstGeom>
          <a:solidFill>
            <a:srgbClr val="FFFFFF"/>
          </a:solidFill>
          <a:ln w="12700">
            <a:solidFill>
              <a:srgbClr val="DAD3C2"/>
            </a:solidFill>
            <a:prstDash val="solid"/>
          </a:ln>
        </p:spPr>
        <p:txBody>
          <a:bodyPr/>
          <a:p/>
        </p:txBody>
      </p:sp>
      <p:sp>
        <p:nvSpPr>
          <p:cNvPr id="7" name="Shape 5"/>
          <p:cNvSpPr/>
          <p:nvPr/>
        </p:nvSpPr>
        <p:spPr>
          <a:xfrm>
            <a:off x="548640" y="1828800"/>
            <a:ext cx="1188720" cy="960120"/>
          </a:xfrm>
          <a:prstGeom prst="rect">
            <a:avLst/>
          </a:prstGeom>
          <a:solidFill>
            <a:srgbClr val="1F3A5F"/>
          </a:solidFill>
          <a:ln/>
        </p:spPr>
        <p:txBody>
          <a:bodyPr/>
          <a:p/>
        </p:txBody>
      </p:sp>
      <p:sp>
        <p:nvSpPr>
          <p:cNvPr id="8" name="Text 6"/>
          <p:cNvSpPr/>
          <p:nvPr/>
        </p:nvSpPr>
        <p:spPr>
          <a:xfrm>
            <a:off x="548640" y="1828800"/>
            <a:ext cx="1188720" cy="960120"/>
          </a:xfrm>
          <a:prstGeom prst="rect">
            <a:avLst/>
          </a:prstGeom>
          <a:noFill/>
          <a:ln/>
        </p:spPr>
        <p:txBody>
          <a:bodyPr wrap="square" rtlCol="0" anchor="ctr"/>
          <a:lstStyle/>
          <a:p>
            <a:pPr algn="ctr" indent="0" marL="0">
              <a:buNone/>
            </a:pPr>
            <a:r>
              <a:rPr lang="en-US" sz="1900" b="1" dirty="0">
                <a:solidFill>
                  <a:srgbClr val="F9A825"/>
                </a:solidFill>
                <a:latin typeface="Georgia" pitchFamily="34" charset="0"/>
                <a:ea typeface="Georgia" pitchFamily="34" charset="-122"/>
                <a:cs typeface="Georgia" pitchFamily="34" charset="-120"/>
              </a:rPr>
              <a:t>US.01</a:t>
            </a:r>
            <a:endParaRPr lang="en-US" sz="1900" dirty="0"/>
          </a:p>
        </p:txBody>
      </p:sp>
      <p:sp>
        <p:nvSpPr>
          <p:cNvPr id="9" name="Text 7"/>
          <p:cNvSpPr/>
          <p:nvPr/>
        </p:nvSpPr>
        <p:spPr>
          <a:xfrm>
            <a:off x="1920240" y="1828800"/>
            <a:ext cx="3840480" cy="960120"/>
          </a:xfrm>
          <a:prstGeom prst="rect">
            <a:avLst/>
          </a:prstGeom>
          <a:noFill/>
          <a:ln/>
        </p:spPr>
        <p:txBody>
          <a:bodyPr wrap="square" rtlCol="0" anchor="ctr"/>
          <a:lstStyle/>
          <a:p>
            <a:pPr indent="0" marL="0">
              <a:buNone/>
            </a:pPr>
            <a:r>
              <a:rPr lang="en-US" sz="1350" b="1" dirty="0">
                <a:solidFill>
                  <a:srgbClr val="1F2430"/>
                </a:solidFill>
                <a:latin typeface="Calibri" pitchFamily="34" charset="0"/>
                <a:ea typeface="Calibri" pitchFamily="34" charset="-122"/>
                <a:cs typeface="Calibri" pitchFamily="34" charset="-120"/>
              </a:rPr>
              <a:t>Homestead Act and Transcontinental Railroad</a:t>
            </a:r>
            <a:endParaRPr lang="en-US" sz="1350" dirty="0"/>
          </a:p>
        </p:txBody>
      </p:sp>
      <p:sp>
        <p:nvSpPr>
          <p:cNvPr id="10" name="Shape 8"/>
          <p:cNvSpPr/>
          <p:nvPr/>
        </p:nvSpPr>
        <p:spPr>
          <a:xfrm rot="10800000">
            <a:off x="1042416" y="2802636"/>
            <a:ext cx="201168" cy="155448"/>
          </a:xfrm>
          <a:prstGeom prst="triangle">
            <a:avLst/>
          </a:prstGeom>
          <a:solidFill>
            <a:srgbClr val="C9A227"/>
          </a:solidFill>
          <a:ln/>
        </p:spPr>
        <p:txBody>
          <a:bodyPr/>
          <a:p/>
        </p:txBody>
      </p:sp>
      <p:sp>
        <p:nvSpPr>
          <p:cNvPr id="11" name="Shape 9"/>
          <p:cNvSpPr/>
          <p:nvPr/>
        </p:nvSpPr>
        <p:spPr>
          <a:xfrm>
            <a:off x="548640" y="2944368"/>
            <a:ext cx="5349240" cy="960120"/>
          </a:xfrm>
          <a:prstGeom prst="rect">
            <a:avLst/>
          </a:prstGeom>
          <a:solidFill>
            <a:srgbClr val="FFFFFF"/>
          </a:solidFill>
          <a:ln w="12700">
            <a:solidFill>
              <a:srgbClr val="DAD3C2"/>
            </a:solidFill>
            <a:prstDash val="solid"/>
          </a:ln>
        </p:spPr>
        <p:txBody>
          <a:bodyPr/>
          <a:p/>
        </p:txBody>
      </p:sp>
      <p:sp>
        <p:nvSpPr>
          <p:cNvPr id="12" name="Shape 10"/>
          <p:cNvSpPr/>
          <p:nvPr/>
        </p:nvSpPr>
        <p:spPr>
          <a:xfrm>
            <a:off x="548640" y="2944368"/>
            <a:ext cx="1188720" cy="960120"/>
          </a:xfrm>
          <a:prstGeom prst="rect">
            <a:avLst/>
          </a:prstGeom>
          <a:solidFill>
            <a:srgbClr val="1F3A5F"/>
          </a:solidFill>
          <a:ln/>
        </p:spPr>
        <p:txBody>
          <a:bodyPr/>
          <a:p/>
        </p:txBody>
      </p:sp>
      <p:sp>
        <p:nvSpPr>
          <p:cNvPr id="13" name="Text 11"/>
          <p:cNvSpPr/>
          <p:nvPr/>
        </p:nvSpPr>
        <p:spPr>
          <a:xfrm>
            <a:off x="548640" y="2944368"/>
            <a:ext cx="1188720" cy="960120"/>
          </a:xfrm>
          <a:prstGeom prst="rect">
            <a:avLst/>
          </a:prstGeom>
          <a:noFill/>
          <a:ln/>
        </p:spPr>
        <p:txBody>
          <a:bodyPr wrap="square" rtlCol="0" anchor="ctr"/>
          <a:lstStyle/>
          <a:p>
            <a:pPr algn="ctr" indent="0" marL="0">
              <a:buNone/>
            </a:pPr>
            <a:r>
              <a:rPr lang="en-US" sz="1900" b="1" dirty="0">
                <a:solidFill>
                  <a:srgbClr val="F9A825"/>
                </a:solidFill>
                <a:latin typeface="Georgia" pitchFamily="34" charset="0"/>
                <a:ea typeface="Georgia" pitchFamily="34" charset="-122"/>
                <a:cs typeface="Georgia" pitchFamily="34" charset="-120"/>
              </a:rPr>
              <a:t>US.02</a:t>
            </a:r>
            <a:endParaRPr lang="en-US" sz="1900" dirty="0"/>
          </a:p>
        </p:txBody>
      </p:sp>
      <p:sp>
        <p:nvSpPr>
          <p:cNvPr id="14" name="Text 12"/>
          <p:cNvSpPr/>
          <p:nvPr/>
        </p:nvSpPr>
        <p:spPr>
          <a:xfrm>
            <a:off x="1920240" y="2944368"/>
            <a:ext cx="3840480" cy="960120"/>
          </a:xfrm>
          <a:prstGeom prst="rect">
            <a:avLst/>
          </a:prstGeom>
          <a:noFill/>
          <a:ln/>
        </p:spPr>
        <p:txBody>
          <a:bodyPr wrap="square" rtlCol="0" anchor="ctr"/>
          <a:lstStyle/>
          <a:p>
            <a:pPr indent="0" marL="0">
              <a:buNone/>
            </a:pPr>
            <a:r>
              <a:rPr lang="en-US" sz="1350" b="1" dirty="0">
                <a:solidFill>
                  <a:srgbClr val="1F2430"/>
                </a:solidFill>
                <a:latin typeface="Calibri" pitchFamily="34" charset="0"/>
                <a:ea typeface="Calibri" pitchFamily="34" charset="-122"/>
                <a:cs typeface="Calibri" pitchFamily="34" charset="-120"/>
              </a:rPr>
              <a:t>Federal Policies Toward American Indians</a:t>
            </a:r>
            <a:endParaRPr lang="en-US" sz="1350" dirty="0"/>
          </a:p>
        </p:txBody>
      </p:sp>
      <p:sp>
        <p:nvSpPr>
          <p:cNvPr id="15" name="Shape 13"/>
          <p:cNvSpPr/>
          <p:nvPr/>
        </p:nvSpPr>
        <p:spPr>
          <a:xfrm rot="10800000">
            <a:off x="1042416" y="3918204"/>
            <a:ext cx="201168" cy="155448"/>
          </a:xfrm>
          <a:prstGeom prst="triangle">
            <a:avLst/>
          </a:prstGeom>
          <a:solidFill>
            <a:srgbClr val="C9A227"/>
          </a:solidFill>
          <a:ln/>
        </p:spPr>
        <p:txBody>
          <a:bodyPr/>
          <a:p/>
        </p:txBody>
      </p:sp>
      <p:sp>
        <p:nvSpPr>
          <p:cNvPr id="16" name="Shape 14"/>
          <p:cNvSpPr/>
          <p:nvPr/>
        </p:nvSpPr>
        <p:spPr>
          <a:xfrm>
            <a:off x="548640" y="4059936"/>
            <a:ext cx="5349240" cy="960120"/>
          </a:xfrm>
          <a:prstGeom prst="rect">
            <a:avLst/>
          </a:prstGeom>
          <a:solidFill>
            <a:srgbClr val="FFFFFF"/>
          </a:solidFill>
          <a:ln w="12700">
            <a:solidFill>
              <a:srgbClr val="DAD3C2"/>
            </a:solidFill>
            <a:prstDash val="solid"/>
          </a:ln>
        </p:spPr>
        <p:txBody>
          <a:bodyPr/>
          <a:p/>
        </p:txBody>
      </p:sp>
      <p:sp>
        <p:nvSpPr>
          <p:cNvPr id="17" name="Shape 15"/>
          <p:cNvSpPr/>
          <p:nvPr/>
        </p:nvSpPr>
        <p:spPr>
          <a:xfrm>
            <a:off x="548640" y="4059936"/>
            <a:ext cx="1188720" cy="960120"/>
          </a:xfrm>
          <a:prstGeom prst="rect">
            <a:avLst/>
          </a:prstGeom>
          <a:solidFill>
            <a:srgbClr val="1F3A5F"/>
          </a:solidFill>
          <a:ln/>
        </p:spPr>
        <p:txBody>
          <a:bodyPr/>
          <a:p/>
        </p:txBody>
      </p:sp>
      <p:sp>
        <p:nvSpPr>
          <p:cNvPr id="18" name="Text 16"/>
          <p:cNvSpPr/>
          <p:nvPr/>
        </p:nvSpPr>
        <p:spPr>
          <a:xfrm>
            <a:off x="548640" y="4059936"/>
            <a:ext cx="1188720" cy="960120"/>
          </a:xfrm>
          <a:prstGeom prst="rect">
            <a:avLst/>
          </a:prstGeom>
          <a:noFill/>
          <a:ln/>
        </p:spPr>
        <p:txBody>
          <a:bodyPr wrap="square" rtlCol="0" anchor="ctr"/>
          <a:lstStyle/>
          <a:p>
            <a:pPr algn="ctr" indent="0" marL="0">
              <a:buNone/>
            </a:pPr>
            <a:r>
              <a:rPr lang="en-US" sz="1900" b="1" dirty="0">
                <a:solidFill>
                  <a:srgbClr val="F9A825"/>
                </a:solidFill>
                <a:latin typeface="Georgia" pitchFamily="34" charset="0"/>
                <a:ea typeface="Georgia" pitchFamily="34" charset="-122"/>
                <a:cs typeface="Georgia" pitchFamily="34" charset="-120"/>
              </a:rPr>
              <a:t>US.03</a:t>
            </a:r>
            <a:endParaRPr lang="en-US" sz="1900" dirty="0"/>
          </a:p>
        </p:txBody>
      </p:sp>
      <p:sp>
        <p:nvSpPr>
          <p:cNvPr id="19" name="Text 17"/>
          <p:cNvSpPr/>
          <p:nvPr/>
        </p:nvSpPr>
        <p:spPr>
          <a:xfrm>
            <a:off x="1920240" y="4059936"/>
            <a:ext cx="3840480" cy="960120"/>
          </a:xfrm>
          <a:prstGeom prst="rect">
            <a:avLst/>
          </a:prstGeom>
          <a:noFill/>
          <a:ln/>
        </p:spPr>
        <p:txBody>
          <a:bodyPr wrap="square" rtlCol="0" anchor="ctr"/>
          <a:lstStyle/>
          <a:p>
            <a:pPr indent="0" marL="0">
              <a:buNone/>
            </a:pPr>
            <a:r>
              <a:rPr lang="en-US" sz="1350" b="1" dirty="0">
                <a:solidFill>
                  <a:srgbClr val="1F2430"/>
                </a:solidFill>
                <a:latin typeface="Calibri" pitchFamily="34" charset="0"/>
                <a:ea typeface="Calibri" pitchFamily="34" charset="-122"/>
                <a:cs typeface="Calibri" pitchFamily="34" charset="-120"/>
              </a:rPr>
              <a:t>Compromise of 1877, Jim Crow &amp; Plessy v. Ferguson</a:t>
            </a:r>
            <a:endParaRPr lang="en-US" sz="1350" dirty="0"/>
          </a:p>
        </p:txBody>
      </p:sp>
      <p:sp>
        <p:nvSpPr>
          <p:cNvPr id="20" name="Shape 18"/>
          <p:cNvSpPr/>
          <p:nvPr/>
        </p:nvSpPr>
        <p:spPr>
          <a:xfrm rot="10800000">
            <a:off x="1042416" y="5033772"/>
            <a:ext cx="201168" cy="155448"/>
          </a:xfrm>
          <a:prstGeom prst="triangle">
            <a:avLst/>
          </a:prstGeom>
          <a:solidFill>
            <a:srgbClr val="C9A227"/>
          </a:solidFill>
          <a:ln/>
        </p:spPr>
        <p:txBody>
          <a:bodyPr/>
          <a:p/>
        </p:txBody>
      </p:sp>
      <p:sp>
        <p:nvSpPr>
          <p:cNvPr id="21" name="Shape 19"/>
          <p:cNvSpPr/>
          <p:nvPr/>
        </p:nvSpPr>
        <p:spPr>
          <a:xfrm>
            <a:off x="548640" y="5175504"/>
            <a:ext cx="5349240" cy="960120"/>
          </a:xfrm>
          <a:prstGeom prst="rect">
            <a:avLst/>
          </a:prstGeom>
          <a:solidFill>
            <a:srgbClr val="FFFFFF"/>
          </a:solidFill>
          <a:ln w="12700">
            <a:solidFill>
              <a:srgbClr val="DAD3C2"/>
            </a:solidFill>
            <a:prstDash val="solid"/>
          </a:ln>
        </p:spPr>
        <p:txBody>
          <a:bodyPr/>
          <a:p/>
        </p:txBody>
      </p:sp>
      <p:sp>
        <p:nvSpPr>
          <p:cNvPr id="22" name="Shape 20"/>
          <p:cNvSpPr/>
          <p:nvPr/>
        </p:nvSpPr>
        <p:spPr>
          <a:xfrm>
            <a:off x="548640" y="5175504"/>
            <a:ext cx="1188720" cy="960120"/>
          </a:xfrm>
          <a:prstGeom prst="rect">
            <a:avLst/>
          </a:prstGeom>
          <a:solidFill>
            <a:srgbClr val="1F3A5F"/>
          </a:solidFill>
          <a:ln/>
        </p:spPr>
        <p:txBody>
          <a:bodyPr/>
          <a:p/>
        </p:txBody>
      </p:sp>
      <p:sp>
        <p:nvSpPr>
          <p:cNvPr id="23" name="Text 21"/>
          <p:cNvSpPr/>
          <p:nvPr/>
        </p:nvSpPr>
        <p:spPr>
          <a:xfrm>
            <a:off x="548640" y="5175504"/>
            <a:ext cx="1188720" cy="960120"/>
          </a:xfrm>
          <a:prstGeom prst="rect">
            <a:avLst/>
          </a:prstGeom>
          <a:noFill/>
          <a:ln/>
        </p:spPr>
        <p:txBody>
          <a:bodyPr wrap="square" rtlCol="0" anchor="ctr"/>
          <a:lstStyle/>
          <a:p>
            <a:pPr algn="ctr" indent="0" marL="0">
              <a:buNone/>
            </a:pPr>
            <a:r>
              <a:rPr lang="en-US" sz="1900" b="1" dirty="0">
                <a:solidFill>
                  <a:srgbClr val="F9A825"/>
                </a:solidFill>
                <a:latin typeface="Georgia" pitchFamily="34" charset="0"/>
                <a:ea typeface="Georgia" pitchFamily="34" charset="-122"/>
                <a:cs typeface="Georgia" pitchFamily="34" charset="-120"/>
              </a:rPr>
              <a:t>US.04</a:t>
            </a:r>
            <a:endParaRPr lang="en-US" sz="1900" dirty="0"/>
          </a:p>
        </p:txBody>
      </p:sp>
      <p:sp>
        <p:nvSpPr>
          <p:cNvPr id="24" name="Text 22"/>
          <p:cNvSpPr/>
          <p:nvPr/>
        </p:nvSpPr>
        <p:spPr>
          <a:xfrm>
            <a:off x="1920240" y="5175504"/>
            <a:ext cx="3840480" cy="960120"/>
          </a:xfrm>
          <a:prstGeom prst="rect">
            <a:avLst/>
          </a:prstGeom>
          <a:noFill/>
          <a:ln/>
        </p:spPr>
        <p:txBody>
          <a:bodyPr wrap="square" rtlCol="0" anchor="ctr"/>
          <a:lstStyle/>
          <a:p>
            <a:pPr indent="0" marL="0">
              <a:buNone/>
            </a:pPr>
            <a:r>
              <a:rPr lang="en-US" sz="1350" b="1" dirty="0">
                <a:solidFill>
                  <a:srgbClr val="1F2430"/>
                </a:solidFill>
                <a:latin typeface="Calibri" pitchFamily="34" charset="0"/>
                <a:ea typeface="Calibri" pitchFamily="34" charset="-122"/>
                <a:cs typeface="Calibri" pitchFamily="34" charset="-120"/>
              </a:rPr>
              <a:t>Gilded Age Politics and Economics</a:t>
            </a:r>
            <a:endParaRPr lang="en-US" sz="1350" dirty="0"/>
          </a:p>
        </p:txBody>
      </p:sp>
      <p:sp>
        <p:nvSpPr>
          <p:cNvPr id="25" name="Shape 23"/>
          <p:cNvSpPr/>
          <p:nvPr/>
        </p:nvSpPr>
        <p:spPr>
          <a:xfrm>
            <a:off x="6309360" y="1828800"/>
            <a:ext cx="5349240" cy="960120"/>
          </a:xfrm>
          <a:prstGeom prst="rect">
            <a:avLst/>
          </a:prstGeom>
          <a:solidFill>
            <a:srgbClr val="FFFFFF"/>
          </a:solidFill>
          <a:ln w="12700">
            <a:solidFill>
              <a:srgbClr val="DAD3C2"/>
            </a:solidFill>
            <a:prstDash val="solid"/>
          </a:ln>
        </p:spPr>
        <p:txBody>
          <a:bodyPr/>
          <a:p/>
        </p:txBody>
      </p:sp>
      <p:sp>
        <p:nvSpPr>
          <p:cNvPr id="26" name="Shape 24"/>
          <p:cNvSpPr/>
          <p:nvPr/>
        </p:nvSpPr>
        <p:spPr>
          <a:xfrm>
            <a:off x="6309360" y="1828800"/>
            <a:ext cx="1188720" cy="960120"/>
          </a:xfrm>
          <a:prstGeom prst="rect">
            <a:avLst/>
          </a:prstGeom>
          <a:solidFill>
            <a:srgbClr val="1F3A5F"/>
          </a:solidFill>
          <a:ln/>
        </p:spPr>
        <p:txBody>
          <a:bodyPr/>
          <a:p/>
        </p:txBody>
      </p:sp>
      <p:sp>
        <p:nvSpPr>
          <p:cNvPr id="27" name="Text 25"/>
          <p:cNvSpPr/>
          <p:nvPr/>
        </p:nvSpPr>
        <p:spPr>
          <a:xfrm>
            <a:off x="6309360" y="1828800"/>
            <a:ext cx="1188720" cy="960120"/>
          </a:xfrm>
          <a:prstGeom prst="rect">
            <a:avLst/>
          </a:prstGeom>
          <a:noFill/>
          <a:ln/>
        </p:spPr>
        <p:txBody>
          <a:bodyPr wrap="square" rtlCol="0" anchor="ctr"/>
          <a:lstStyle/>
          <a:p>
            <a:pPr algn="ctr" indent="0" marL="0">
              <a:buNone/>
            </a:pPr>
            <a:r>
              <a:rPr lang="en-US" sz="1900" b="1" dirty="0">
                <a:solidFill>
                  <a:srgbClr val="F9A825"/>
                </a:solidFill>
                <a:latin typeface="Georgia" pitchFamily="34" charset="0"/>
                <a:ea typeface="Georgia" pitchFamily="34" charset="-122"/>
                <a:cs typeface="Georgia" pitchFamily="34" charset="-120"/>
              </a:rPr>
              <a:t>US.05</a:t>
            </a:r>
            <a:endParaRPr lang="en-US" sz="1900" dirty="0"/>
          </a:p>
        </p:txBody>
      </p:sp>
      <p:sp>
        <p:nvSpPr>
          <p:cNvPr id="28" name="Text 26"/>
          <p:cNvSpPr/>
          <p:nvPr/>
        </p:nvSpPr>
        <p:spPr>
          <a:xfrm>
            <a:off x="7680960" y="1828800"/>
            <a:ext cx="3840480" cy="960120"/>
          </a:xfrm>
          <a:prstGeom prst="rect">
            <a:avLst/>
          </a:prstGeom>
          <a:noFill/>
          <a:ln/>
        </p:spPr>
        <p:txBody>
          <a:bodyPr wrap="square" rtlCol="0" anchor="ctr"/>
          <a:lstStyle/>
          <a:p>
            <a:pPr indent="0" marL="0">
              <a:buNone/>
            </a:pPr>
            <a:r>
              <a:rPr lang="en-US" sz="1350" b="1" dirty="0">
                <a:solidFill>
                  <a:srgbClr val="1F2430"/>
                </a:solidFill>
                <a:latin typeface="Calibri" pitchFamily="34" charset="0"/>
                <a:ea typeface="Calibri" pitchFamily="34" charset="-122"/>
                <a:cs typeface="Calibri" pitchFamily="34" charset="-120"/>
              </a:rPr>
              <a:t>Inventions &amp; Innovations of Business Leaders &amp; Entrepreneurs</a:t>
            </a:r>
            <a:endParaRPr lang="en-US" sz="1350" dirty="0"/>
          </a:p>
        </p:txBody>
      </p:sp>
      <p:sp>
        <p:nvSpPr>
          <p:cNvPr id="29" name="Shape 27"/>
          <p:cNvSpPr/>
          <p:nvPr/>
        </p:nvSpPr>
        <p:spPr>
          <a:xfrm rot="10800000">
            <a:off x="6803136" y="2802636"/>
            <a:ext cx="201168" cy="155448"/>
          </a:xfrm>
          <a:prstGeom prst="triangle">
            <a:avLst/>
          </a:prstGeom>
          <a:solidFill>
            <a:srgbClr val="C9A227"/>
          </a:solidFill>
          <a:ln/>
        </p:spPr>
        <p:txBody>
          <a:bodyPr/>
          <a:p/>
        </p:txBody>
      </p:sp>
      <p:sp>
        <p:nvSpPr>
          <p:cNvPr id="30" name="Shape 28"/>
          <p:cNvSpPr/>
          <p:nvPr/>
        </p:nvSpPr>
        <p:spPr>
          <a:xfrm>
            <a:off x="6309360" y="2944368"/>
            <a:ext cx="5349240" cy="960120"/>
          </a:xfrm>
          <a:prstGeom prst="rect">
            <a:avLst/>
          </a:prstGeom>
          <a:solidFill>
            <a:srgbClr val="FFFFFF"/>
          </a:solidFill>
          <a:ln w="12700">
            <a:solidFill>
              <a:srgbClr val="DAD3C2"/>
            </a:solidFill>
            <a:prstDash val="solid"/>
          </a:ln>
        </p:spPr>
        <p:txBody>
          <a:bodyPr/>
          <a:p/>
        </p:txBody>
      </p:sp>
      <p:sp>
        <p:nvSpPr>
          <p:cNvPr id="31" name="Shape 29"/>
          <p:cNvSpPr/>
          <p:nvPr/>
        </p:nvSpPr>
        <p:spPr>
          <a:xfrm>
            <a:off x="6309360" y="2944368"/>
            <a:ext cx="1188720" cy="960120"/>
          </a:xfrm>
          <a:prstGeom prst="rect">
            <a:avLst/>
          </a:prstGeom>
          <a:solidFill>
            <a:srgbClr val="1F3A5F"/>
          </a:solidFill>
          <a:ln/>
        </p:spPr>
        <p:txBody>
          <a:bodyPr/>
          <a:p/>
        </p:txBody>
      </p:sp>
      <p:sp>
        <p:nvSpPr>
          <p:cNvPr id="32" name="Text 30"/>
          <p:cNvSpPr/>
          <p:nvPr/>
        </p:nvSpPr>
        <p:spPr>
          <a:xfrm>
            <a:off x="6309360" y="2944368"/>
            <a:ext cx="1188720" cy="960120"/>
          </a:xfrm>
          <a:prstGeom prst="rect">
            <a:avLst/>
          </a:prstGeom>
          <a:noFill/>
          <a:ln/>
        </p:spPr>
        <p:txBody>
          <a:bodyPr wrap="square" rtlCol="0" anchor="ctr"/>
          <a:lstStyle/>
          <a:p>
            <a:pPr algn="ctr" indent="0" marL="0">
              <a:buNone/>
            </a:pPr>
            <a:r>
              <a:rPr lang="en-US" sz="1900" b="1" dirty="0">
                <a:solidFill>
                  <a:srgbClr val="F9A825"/>
                </a:solidFill>
                <a:latin typeface="Georgia" pitchFamily="34" charset="0"/>
                <a:ea typeface="Georgia" pitchFamily="34" charset="-122"/>
                <a:cs typeface="Georgia" pitchFamily="34" charset="-120"/>
              </a:rPr>
              <a:t>US.06</a:t>
            </a:r>
            <a:endParaRPr lang="en-US" sz="1900" dirty="0"/>
          </a:p>
        </p:txBody>
      </p:sp>
      <p:sp>
        <p:nvSpPr>
          <p:cNvPr id="33" name="Text 31"/>
          <p:cNvSpPr/>
          <p:nvPr/>
        </p:nvSpPr>
        <p:spPr>
          <a:xfrm>
            <a:off x="7680960" y="2944368"/>
            <a:ext cx="3840480" cy="960120"/>
          </a:xfrm>
          <a:prstGeom prst="rect">
            <a:avLst/>
          </a:prstGeom>
          <a:noFill/>
          <a:ln/>
        </p:spPr>
        <p:txBody>
          <a:bodyPr wrap="square" rtlCol="0" anchor="ctr"/>
          <a:lstStyle/>
          <a:p>
            <a:pPr indent="0" marL="0">
              <a:buNone/>
            </a:pPr>
            <a:r>
              <a:rPr lang="en-US" sz="1350" b="1" dirty="0">
                <a:solidFill>
                  <a:srgbClr val="1F2430"/>
                </a:solidFill>
                <a:latin typeface="Calibri" pitchFamily="34" charset="0"/>
                <a:ea typeface="Calibri" pitchFamily="34" charset="-122"/>
                <a:cs typeface="Calibri" pitchFamily="34" charset="-120"/>
              </a:rPr>
              <a:t>Industrial Centers and Urbanization</a:t>
            </a:r>
            <a:endParaRPr lang="en-US" sz="1350" dirty="0"/>
          </a:p>
        </p:txBody>
      </p:sp>
      <p:sp>
        <p:nvSpPr>
          <p:cNvPr id="34" name="Shape 32"/>
          <p:cNvSpPr/>
          <p:nvPr/>
        </p:nvSpPr>
        <p:spPr>
          <a:xfrm rot="10800000">
            <a:off x="6803136" y="3918204"/>
            <a:ext cx="201168" cy="155448"/>
          </a:xfrm>
          <a:prstGeom prst="triangle">
            <a:avLst/>
          </a:prstGeom>
          <a:solidFill>
            <a:srgbClr val="C9A227"/>
          </a:solidFill>
          <a:ln/>
        </p:spPr>
        <p:txBody>
          <a:bodyPr/>
          <a:p/>
        </p:txBody>
      </p:sp>
      <p:sp>
        <p:nvSpPr>
          <p:cNvPr id="35" name="Shape 33"/>
          <p:cNvSpPr/>
          <p:nvPr/>
        </p:nvSpPr>
        <p:spPr>
          <a:xfrm>
            <a:off x="6309360" y="4059936"/>
            <a:ext cx="5349240" cy="960120"/>
          </a:xfrm>
          <a:prstGeom prst="rect">
            <a:avLst/>
          </a:prstGeom>
          <a:solidFill>
            <a:srgbClr val="FFFFFF"/>
          </a:solidFill>
          <a:ln w="12700">
            <a:solidFill>
              <a:srgbClr val="DAD3C2"/>
            </a:solidFill>
            <a:prstDash val="solid"/>
          </a:ln>
        </p:spPr>
        <p:txBody>
          <a:bodyPr/>
          <a:p/>
        </p:txBody>
      </p:sp>
      <p:sp>
        <p:nvSpPr>
          <p:cNvPr id="36" name="Shape 34"/>
          <p:cNvSpPr/>
          <p:nvPr/>
        </p:nvSpPr>
        <p:spPr>
          <a:xfrm>
            <a:off x="6309360" y="4059936"/>
            <a:ext cx="1188720" cy="960120"/>
          </a:xfrm>
          <a:prstGeom prst="rect">
            <a:avLst/>
          </a:prstGeom>
          <a:solidFill>
            <a:srgbClr val="1F3A5F"/>
          </a:solidFill>
          <a:ln/>
        </p:spPr>
        <p:txBody>
          <a:bodyPr/>
          <a:p/>
        </p:txBody>
      </p:sp>
      <p:sp>
        <p:nvSpPr>
          <p:cNvPr id="37" name="Text 35"/>
          <p:cNvSpPr/>
          <p:nvPr/>
        </p:nvSpPr>
        <p:spPr>
          <a:xfrm>
            <a:off x="6309360" y="4059936"/>
            <a:ext cx="1188720" cy="960120"/>
          </a:xfrm>
          <a:prstGeom prst="rect">
            <a:avLst/>
          </a:prstGeom>
          <a:noFill/>
          <a:ln/>
        </p:spPr>
        <p:txBody>
          <a:bodyPr wrap="square" rtlCol="0" anchor="ctr"/>
          <a:lstStyle/>
          <a:p>
            <a:pPr algn="ctr" indent="0" marL="0">
              <a:buNone/>
            </a:pPr>
            <a:r>
              <a:rPr lang="en-US" sz="1900" b="1" dirty="0">
                <a:solidFill>
                  <a:srgbClr val="F9A825"/>
                </a:solidFill>
                <a:latin typeface="Georgia" pitchFamily="34" charset="0"/>
                <a:ea typeface="Georgia" pitchFamily="34" charset="-122"/>
                <a:cs typeface="Georgia" pitchFamily="34" charset="-120"/>
              </a:rPr>
              <a:t>US.07</a:t>
            </a:r>
            <a:endParaRPr lang="en-US" sz="1900" dirty="0"/>
          </a:p>
        </p:txBody>
      </p:sp>
      <p:sp>
        <p:nvSpPr>
          <p:cNvPr id="38" name="Text 36"/>
          <p:cNvSpPr/>
          <p:nvPr/>
        </p:nvSpPr>
        <p:spPr>
          <a:xfrm>
            <a:off x="7680960" y="4059936"/>
            <a:ext cx="3840480" cy="960120"/>
          </a:xfrm>
          <a:prstGeom prst="rect">
            <a:avLst/>
          </a:prstGeom>
          <a:noFill/>
          <a:ln/>
        </p:spPr>
        <p:txBody>
          <a:bodyPr wrap="square" rtlCol="0" anchor="ctr"/>
          <a:lstStyle/>
          <a:p>
            <a:pPr indent="0" marL="0">
              <a:buNone/>
            </a:pPr>
            <a:r>
              <a:rPr lang="en-US" sz="1350" b="1" dirty="0">
                <a:solidFill>
                  <a:srgbClr val="1F2430"/>
                </a:solidFill>
                <a:latin typeface="Calibri" pitchFamily="34" charset="0"/>
                <a:ea typeface="Calibri" pitchFamily="34" charset="-122"/>
                <a:cs typeface="Calibri" pitchFamily="34" charset="-120"/>
              </a:rPr>
              <a:t>Immigration: Old vs. New Immigrants</a:t>
            </a:r>
            <a:endParaRPr lang="en-US" sz="1350" dirty="0"/>
          </a:p>
        </p:txBody>
      </p:sp>
      <p:sp>
        <p:nvSpPr>
          <p:cNvPr id="39" name="Shape 37"/>
          <p:cNvSpPr/>
          <p:nvPr/>
        </p:nvSpPr>
        <p:spPr>
          <a:xfrm>
            <a:off x="5532120" y="2121408"/>
            <a:ext cx="658368" cy="384048"/>
          </a:xfrm>
          <a:prstGeom prst="roundRect">
            <a:avLst>
              <a:gd name="adj" fmla="val 14286"/>
            </a:avLst>
          </a:prstGeom>
          <a:solidFill>
            <a:srgbClr val="1F3A5F"/>
          </a:solidFill>
          <a:ln/>
        </p:spPr>
        <p:txBody>
          <a:bodyPr/>
          <a:p/>
        </p:txBody>
      </p:sp>
      <p:sp>
        <p:nvSpPr>
          <p:cNvPr id="40" name="Text 38"/>
          <p:cNvSpPr/>
          <p:nvPr/>
        </p:nvSpPr>
        <p:spPr>
          <a:xfrm>
            <a:off x="5532120" y="2121408"/>
            <a:ext cx="658368" cy="384048"/>
          </a:xfrm>
          <a:prstGeom prst="rect">
            <a:avLst/>
          </a:prstGeom>
          <a:noFill/>
          <a:ln/>
        </p:spPr>
        <p:txBody>
          <a:bodyPr wrap="square" rtlCol="0" anchor="ctr"/>
          <a:lstStyle/>
          <a:p>
            <a:pPr algn="ctr" indent="0" marL="0">
              <a:buNone/>
            </a:pPr>
            <a:r>
              <a:rPr lang="en-US" sz="900" b="1" dirty="0">
                <a:solidFill>
                  <a:srgbClr val="F9A825"/>
                </a:solidFill>
                <a:latin typeface="Trebuchet MS" pitchFamily="34" charset="0"/>
                <a:ea typeface="Trebuchet MS" pitchFamily="34" charset="-122"/>
                <a:cs typeface="Trebuchet MS" pitchFamily="34" charset="-120"/>
              </a:rPr>
              <a:t>then</a:t>
            </a:r>
            <a:endParaRPr lang="en-US" sz="900" dirty="0"/>
          </a:p>
        </p:txBody>
      </p:sp>
      <p:sp>
        <p:nvSpPr>
          <p:cNvPr id="41" name="Shape 39"/>
          <p:cNvSpPr/>
          <p:nvPr/>
        </p:nvSpPr>
        <p:spPr>
          <a:xfrm rot="5400000">
            <a:off x="6199632" y="2249424"/>
            <a:ext cx="164592" cy="146304"/>
          </a:xfrm>
          <a:prstGeom prst="triangle">
            <a:avLst/>
          </a:prstGeom>
          <a:solidFill>
            <a:srgbClr val="C9A227"/>
          </a:solidFill>
          <a:ln/>
        </p:spPr>
        <p:txBody>
          <a:bodyPr/>
          <a:p/>
        </p:txBody>
      </p:sp>
      <p:sp>
        <p:nvSpPr>
          <p:cNvPr id="42" name="Shape 40"/>
          <p:cNvSpPr/>
          <p:nvPr/>
        </p:nvSpPr>
        <p:spPr>
          <a:xfrm>
            <a:off x="6309360" y="5175504"/>
            <a:ext cx="5349240" cy="960120"/>
          </a:xfrm>
          <a:prstGeom prst="roundRect">
            <a:avLst>
              <a:gd name="adj" fmla="val 5714"/>
            </a:avLst>
          </a:prstGeom>
          <a:solidFill>
            <a:srgbClr val="FBEFD0"/>
          </a:solidFill>
          <a:ln w="12700">
            <a:solidFill>
              <a:srgbClr val="C9A227"/>
            </a:solidFill>
            <a:prstDash val="solid"/>
          </a:ln>
        </p:spPr>
        <p:txBody>
          <a:bodyPr/>
          <a:p/>
        </p:txBody>
      </p:sp>
      <p:sp>
        <p:nvSpPr>
          <p:cNvPr id="43" name="Text 41"/>
          <p:cNvSpPr/>
          <p:nvPr/>
        </p:nvSpPr>
        <p:spPr>
          <a:xfrm>
            <a:off x="6492240" y="5212080"/>
            <a:ext cx="5029200" cy="886968"/>
          </a:xfrm>
          <a:prstGeom prst="rect">
            <a:avLst/>
          </a:prstGeom>
          <a:noFill/>
          <a:ln/>
        </p:spPr>
        <p:txBody>
          <a:bodyPr wrap="square" rtlCol="0" anchor="ctr"/>
          <a:lstStyle/>
          <a:p>
            <a:pPr indent="0" marL="0">
              <a:lnSpc>
                <a:spcPct val="108000"/>
              </a:lnSpc>
              <a:buNone/>
            </a:pPr>
            <a:r>
              <a:rPr lang="en-US" sz="1100" i="1" dirty="0">
                <a:solidFill>
                  <a:srgbClr val="5A4A1E"/>
                </a:solidFill>
                <a:latin typeface="Calibri" pitchFamily="34" charset="0"/>
                <a:ea typeface="Calibri" pitchFamily="34" charset="-122"/>
                <a:cs typeface="Calibri" pitchFamily="34" charset="-120"/>
              </a:rPr>
              <a:t>Standards build in sequence (US.01 → US.07). Each runs as a full lesson: TN standard · “I Can” · direct instruction · verified primary source · vocabulary · guided + independent practice · TCAP-style check with reveal key.</a:t>
            </a:r>
            <a:endParaRPr lang="en-US" sz="1100" dirty="0"/>
          </a:p>
        </p:txBody>
      </p:sp>
      <p:sp>
        <p:nvSpPr>
          <p:cNvPr id="44" name="Text 42"/>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45" name="Text 4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2858"/>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227"/>
          </a:solidFill>
          <a:ln/>
        </p:spPr>
        <p:txBody>
          <a:bodyPr/>
          <a:p/>
        </p:txBody>
      </p:sp>
      <p:sp>
        <p:nvSpPr>
          <p:cNvPr id="3" name="Text 1"/>
          <p:cNvSpPr/>
          <p:nvPr/>
        </p:nvSpPr>
        <p:spPr>
          <a:xfrm>
            <a:off x="640080" y="64008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BELL RINGER · HOOK</a:t>
            </a:r>
            <a:endParaRPr lang="en-US" sz="1200" dirty="0"/>
          </a:p>
        </p:txBody>
      </p:sp>
      <p:sp>
        <p:nvSpPr>
          <p:cNvPr id="4" name="Text 2"/>
          <p:cNvSpPr/>
          <p:nvPr/>
        </p:nvSpPr>
        <p:spPr>
          <a:xfrm>
            <a:off x="640080" y="1280160"/>
            <a:ext cx="10789920" cy="1645920"/>
          </a:xfrm>
          <a:prstGeom prst="rect">
            <a:avLst/>
          </a:prstGeom>
          <a:noFill/>
          <a:ln/>
        </p:spPr>
        <p:txBody>
          <a:bodyPr wrap="square" rtlCol="0" anchor="ctr"/>
          <a:lstStyle/>
          <a:p>
            <a:pPr indent="0" marL="0">
              <a:lnSpc>
                <a:spcPct val="105000"/>
              </a:lnSpc>
              <a:buNone/>
            </a:pPr>
            <a:r>
              <a:rPr lang="en-US" sz="3600" b="1" dirty="0">
                <a:solidFill>
                  <a:srgbClr val="FFFFFF"/>
                </a:solidFill>
                <a:latin typeface="Georgia" pitchFamily="34" charset="0"/>
                <a:ea typeface="Georgia" pitchFamily="34" charset="-122"/>
                <a:cs typeface="Georgia" pitchFamily="34" charset="-120"/>
              </a:rPr>
              <a:t>In 1865, most Americans lived on farms.</a:t>
            </a:r>
            <a:endParaRPr lang="en-US" sz="3600" dirty="0"/>
          </a:p>
          <a:p>
            <a:pPr indent="0" marL="0">
              <a:lnSpc>
                <a:spcPct val="105000"/>
              </a:lnSpc>
              <a:buNone/>
            </a:pPr>
            <a:r>
              <a:rPr lang="en-US" sz="3600" b="1" dirty="0">
                <a:solidFill>
                  <a:srgbClr val="FFFFFF"/>
                </a:solidFill>
                <a:latin typeface="Georgia" pitchFamily="34" charset="0"/>
                <a:ea typeface="Georgia" pitchFamily="34" charset="-122"/>
                <a:cs typeface="Georgia" pitchFamily="34" charset="-120"/>
              </a:rPr>
              <a:t>By 1920, most lived in cities.</a:t>
            </a:r>
            <a:endParaRPr lang="en-US" sz="3600" dirty="0"/>
          </a:p>
        </p:txBody>
      </p:sp>
      <p:sp>
        <p:nvSpPr>
          <p:cNvPr id="5" name="Text 3"/>
          <p:cNvSpPr/>
          <p:nvPr/>
        </p:nvSpPr>
        <p:spPr>
          <a:xfrm>
            <a:off x="640080" y="3200400"/>
            <a:ext cx="10789920" cy="914400"/>
          </a:xfrm>
          <a:prstGeom prst="rect">
            <a:avLst/>
          </a:prstGeom>
          <a:noFill/>
          <a:ln/>
        </p:spPr>
        <p:txBody>
          <a:bodyPr wrap="square" rtlCol="0" anchor="ctr"/>
          <a:lstStyle/>
          <a:p>
            <a:pPr indent="0" marL="0">
              <a:buNone/>
            </a:pPr>
            <a:r>
              <a:rPr lang="en-US" sz="2400" i="1" dirty="0">
                <a:solidFill>
                  <a:srgbClr val="F9A825"/>
                </a:solidFill>
                <a:latin typeface="Georgia" pitchFamily="34" charset="0"/>
                <a:ea typeface="Georgia" pitchFamily="34" charset="-122"/>
                <a:cs typeface="Georgia" pitchFamily="34" charset="-120"/>
              </a:rPr>
              <a:t>What forces could move an entire nation off the land and into the factory in just 55 years?</a:t>
            </a:r>
            <a:endParaRPr lang="en-US" sz="2400" dirty="0"/>
          </a:p>
        </p:txBody>
      </p:sp>
      <p:sp>
        <p:nvSpPr>
          <p:cNvPr id="6" name="Shape 4"/>
          <p:cNvSpPr/>
          <p:nvPr/>
        </p:nvSpPr>
        <p:spPr>
          <a:xfrm>
            <a:off x="640080" y="4434840"/>
            <a:ext cx="10881360" cy="1417320"/>
          </a:xfrm>
          <a:prstGeom prst="roundRect">
            <a:avLst>
              <a:gd name="adj" fmla="val 6452"/>
            </a:avLst>
          </a:prstGeom>
          <a:solidFill>
            <a:srgbClr val="243047"/>
          </a:solidFill>
          <a:ln w="12700">
            <a:solidFill>
              <a:srgbClr val="C9A227"/>
            </a:solidFill>
            <a:prstDash val="solid"/>
          </a:ln>
        </p:spPr>
        <p:txBody>
          <a:bodyPr/>
          <a:p/>
        </p:txBody>
      </p:sp>
      <p:sp>
        <p:nvSpPr>
          <p:cNvPr id="7" name="Text 5"/>
          <p:cNvSpPr/>
          <p:nvPr/>
        </p:nvSpPr>
        <p:spPr>
          <a:xfrm>
            <a:off x="914400" y="4617720"/>
            <a:ext cx="2743200" cy="320040"/>
          </a:xfrm>
          <a:prstGeom prst="rect">
            <a:avLst/>
          </a:prstGeom>
          <a:noFill/>
          <a:ln/>
        </p:spPr>
        <p:txBody>
          <a:bodyPr wrap="square" rtlCol="0" anchor="ctr"/>
          <a:lstStyle/>
          <a:p>
            <a:pPr indent="0" marL="0">
              <a:buNone/>
            </a:pPr>
            <a:r>
              <a:rPr lang="en-US" sz="1300" b="1" spc="200" kern="0" dirty="0">
                <a:solidFill>
                  <a:srgbClr val="F9A825"/>
                </a:solidFill>
                <a:latin typeface="Trebuchet MS" pitchFamily="34" charset="0"/>
                <a:ea typeface="Trebuchet MS" pitchFamily="34" charset="-122"/>
                <a:cs typeface="Trebuchet MS" pitchFamily="34" charset="-120"/>
              </a:rPr>
              <a:t>TURN &amp; TALK</a:t>
            </a:r>
            <a:endParaRPr lang="en-US" sz="1300" dirty="0"/>
          </a:p>
        </p:txBody>
      </p:sp>
      <p:sp>
        <p:nvSpPr>
          <p:cNvPr id="8" name="Text 6"/>
          <p:cNvSpPr/>
          <p:nvPr/>
        </p:nvSpPr>
        <p:spPr>
          <a:xfrm>
            <a:off x="914400" y="4937760"/>
            <a:ext cx="10332720" cy="822960"/>
          </a:xfrm>
          <a:prstGeom prst="rect">
            <a:avLst/>
          </a:prstGeom>
          <a:noFill/>
          <a:ln/>
        </p:spPr>
        <p:txBody>
          <a:bodyPr wrap="square" rtlCol="0" anchor="t"/>
          <a:lstStyle/>
          <a:p>
            <a:pPr indent="0" marL="0">
              <a:lnSpc>
                <a:spcPct val="105000"/>
              </a:lnSpc>
              <a:buNone/>
            </a:pPr>
            <a:r>
              <a:rPr lang="en-US" sz="1600" dirty="0">
                <a:solidFill>
                  <a:srgbClr val="FFFFFF"/>
                </a:solidFill>
                <a:latin typeface="Calibri" pitchFamily="34" charset="0"/>
                <a:ea typeface="Calibri" pitchFamily="34" charset="-122"/>
                <a:cs typeface="Calibri" pitchFamily="34" charset="-120"/>
              </a:rPr>
              <a:t>With a partner, list </a:t>
            </a:r>
            <a:pPr indent="0" marL="0">
              <a:lnSpc>
                <a:spcPct val="105000"/>
              </a:lnSpc>
              <a:buNone/>
            </a:pPr>
            <a:r>
              <a:rPr lang="en-US" sz="1600" b="1" dirty="0">
                <a:solidFill>
                  <a:srgbClr val="F9A825"/>
                </a:solidFill>
                <a:latin typeface="Calibri" pitchFamily="34" charset="0"/>
                <a:ea typeface="Calibri" pitchFamily="34" charset="-122"/>
                <a:cs typeface="Calibri" pitchFamily="34" charset="-120"/>
              </a:rPr>
              <a:t>three things</a:t>
            </a:r>
            <a:pPr indent="0" marL="0">
              <a:lnSpc>
                <a:spcPct val="105000"/>
              </a:lnSpc>
              <a:buNone/>
            </a:pPr>
            <a:r>
              <a:rPr lang="en-US" sz="1600" dirty="0">
                <a:solidFill>
                  <a:srgbClr val="FFFFFF"/>
                </a:solidFill>
                <a:latin typeface="Calibri" pitchFamily="34" charset="0"/>
                <a:ea typeface="Calibri" pitchFamily="34" charset="-122"/>
                <a:cs typeface="Calibri" pitchFamily="34" charset="-120"/>
              </a:rPr>
              <a:t> that might pull people toward cities — and </a:t>
            </a:r>
            <a:pPr indent="0" marL="0">
              <a:lnSpc>
                <a:spcPct val="105000"/>
              </a:lnSpc>
              <a:buNone/>
            </a:pPr>
            <a:r>
              <a:rPr lang="en-US" sz="1600" b="1" dirty="0">
                <a:solidFill>
                  <a:srgbClr val="F9A825"/>
                </a:solidFill>
                <a:latin typeface="Calibri" pitchFamily="34" charset="0"/>
                <a:ea typeface="Calibri" pitchFamily="34" charset="-122"/>
                <a:cs typeface="Calibri" pitchFamily="34" charset="-120"/>
              </a:rPr>
              <a:t>three things</a:t>
            </a:r>
            <a:pPr indent="0" marL="0">
              <a:lnSpc>
                <a:spcPct val="105000"/>
              </a:lnSpc>
              <a:buNone/>
            </a:pPr>
            <a:r>
              <a:rPr lang="en-US" sz="1600" dirty="0">
                <a:solidFill>
                  <a:srgbClr val="FFFFFF"/>
                </a:solidFill>
                <a:latin typeface="Calibri" pitchFamily="34" charset="0"/>
                <a:ea typeface="Calibri" pitchFamily="34" charset="-122"/>
                <a:cs typeface="Calibri" pitchFamily="34" charset="-120"/>
              </a:rPr>
              <a:t> that might push them off the farm. Keep your list; we will return to it at the end of the unit.</a:t>
            </a:r>
            <a:endParaRPr lang="en-US" sz="16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3</a:t>
            </a:r>
            <a:endParaRPr lang="en-US" sz="900" dirty="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sp>
        <p:nvSpPr>
          <p:cNvPr id="2" name="TextBox 1"/>
          <p:cNvSpPr txBox="1"/>
          <p:nvPr/>
        </p:nvSpPr>
        <p:spPr>
          <a:xfrm>
            <a:off x="457200" y="411480"/>
            <a:ext cx="11247120" cy="640080"/>
          </a:xfrm>
          <a:prstGeom prst="rect">
            <a:avLst/>
          </a:prstGeom>
          <a:noFill/>
        </p:spPr>
        <p:txBody>
          <a:bodyPr wrap="square" anchor="t" lIns="0" rIns="0" tIns="0" bIns="0">
            <a:spAutoFit/>
          </a:bodyPr>
          <a:lstStyle/>
          <a:p>
            <a:pPr algn="l">
              <a:spcBef>
                <a:spcPts val="0"/>
              </a:spcBef>
              <a:spcAft>
                <a:spcPts val="200"/>
              </a:spcAft>
            </a:pPr>
            <a:r>
              <a:rPr sz="3000" b="1">
                <a:solidFill>
                  <a:srgbClr val="FFFFFF"/>
                </a:solidFill>
                <a:latin typeface="Georgia"/>
              </a:rPr>
              <a:t>How This Deck Works — UDL &amp; MTSS</a:t>
            </a:r>
          </a:p>
        </p:txBody>
      </p:sp>
      <p:sp>
        <p:nvSpPr>
          <p:cNvPr id="3" name="TextBox 2"/>
          <p:cNvSpPr txBox="1"/>
          <p:nvPr/>
        </p:nvSpPr>
        <p:spPr>
          <a:xfrm>
            <a:off x="457200" y="1078992"/>
            <a:ext cx="11247120" cy="457200"/>
          </a:xfrm>
          <a:prstGeom prst="rect">
            <a:avLst/>
          </a:prstGeom>
          <a:noFill/>
        </p:spPr>
        <p:txBody>
          <a:bodyPr wrap="square" anchor="t" lIns="0" rIns="0" tIns="0" bIns="0">
            <a:spAutoFit/>
          </a:bodyPr>
          <a:lstStyle/>
          <a:p>
            <a:pPr algn="l">
              <a:spcBef>
                <a:spcPts val="0"/>
              </a:spcBef>
              <a:spcAft>
                <a:spcPts val="200"/>
              </a:spcAft>
            </a:pPr>
            <a:r>
              <a:rPr sz="1500" b="0">
                <a:solidFill>
                  <a:srgbClr val="C7D4E0"/>
                </a:solidFill>
                <a:latin typeface="Georgia"/>
              </a:rPr>
              <a:t>Universal supports built into every standard. One firm learning goal; flexible ways to reach it.</a:t>
            </a:r>
          </a:p>
        </p:txBody>
      </p:sp>
      <p:sp>
        <p:nvSpPr>
          <p:cNvPr id="4" name="Rectangle 3"/>
          <p:cNvSpPr/>
          <p:nvPr/>
        </p:nvSpPr>
        <p:spPr>
          <a:xfrm>
            <a:off x="457200" y="1783080"/>
            <a:ext cx="3611880" cy="1051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783080"/>
            <a:ext cx="3611880" cy="36576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783080"/>
            <a:ext cx="3611880" cy="365760"/>
          </a:xfrm>
          <a:prstGeom prst="rect">
            <a:avLst/>
          </a:prstGeom>
          <a:noFill/>
        </p:spPr>
        <p:txBody>
          <a:bodyPr wrap="square" anchor="ctr" lIns="0" rIns="0" tIns="0" bIns="0">
            <a:spAutoFit/>
          </a:bodyPr>
          <a:lstStyle/>
          <a:p>
            <a:pPr algn="ctr">
              <a:spcBef>
                <a:spcPts val="0"/>
              </a:spcBef>
              <a:spcAft>
                <a:spcPts val="200"/>
              </a:spcAft>
            </a:pPr>
            <a:r>
              <a:rPr sz="1200" b="1">
                <a:solidFill>
                  <a:srgbClr val="1F3A5F"/>
                </a:solidFill>
                <a:latin typeface="Trebuchet MS"/>
              </a:rPr>
              <a:t>CORE PATH</a:t>
            </a:r>
          </a:p>
        </p:txBody>
      </p:sp>
      <p:sp>
        <p:nvSpPr>
          <p:cNvPr id="7" name="TextBox 6"/>
          <p:cNvSpPr txBox="1"/>
          <p:nvPr/>
        </p:nvSpPr>
        <p:spPr>
          <a:xfrm>
            <a:off x="585216" y="2240280"/>
            <a:ext cx="3355848" cy="548639"/>
          </a:xfrm>
          <a:prstGeom prst="rect">
            <a:avLst/>
          </a:prstGeom>
          <a:noFill/>
        </p:spPr>
        <p:txBody>
          <a:bodyPr wrap="square" anchor="t" lIns="0" rIns="0" tIns="0" bIns="0">
            <a:spAutoFit/>
          </a:bodyPr>
          <a:lstStyle/>
          <a:p>
            <a:pPr algn="l">
              <a:spcBef>
                <a:spcPts val="0"/>
              </a:spcBef>
              <a:spcAft>
                <a:spcPts val="200"/>
              </a:spcAft>
            </a:pPr>
            <a:r>
              <a:rPr sz="1200" b="0">
                <a:solidFill>
                  <a:srgbClr val="1F2430"/>
                </a:solidFill>
                <a:latin typeface="Calibri"/>
              </a:rPr>
              <a:t>The essential instruction every student receives.</a:t>
            </a:r>
          </a:p>
        </p:txBody>
      </p:sp>
      <p:sp>
        <p:nvSpPr>
          <p:cNvPr id="8" name="Rectangle 7"/>
          <p:cNvSpPr/>
          <p:nvPr/>
        </p:nvSpPr>
        <p:spPr>
          <a:xfrm>
            <a:off x="4270248" y="1783080"/>
            <a:ext cx="3611880" cy="1051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270248" y="1783080"/>
            <a:ext cx="3611880" cy="365760"/>
          </a:xfrm>
          <a:prstGeom prst="rect">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70248" y="1783080"/>
            <a:ext cx="3611880" cy="365760"/>
          </a:xfrm>
          <a:prstGeom prst="rect">
            <a:avLst/>
          </a:prstGeom>
          <a:noFill/>
        </p:spPr>
        <p:txBody>
          <a:bodyPr wrap="square" anchor="ctr" lIns="0" rIns="0" tIns="0" bIns="0">
            <a:spAutoFit/>
          </a:bodyPr>
          <a:lstStyle/>
          <a:p>
            <a:pPr algn="ctr">
              <a:spcBef>
                <a:spcPts val="0"/>
              </a:spcBef>
              <a:spcAft>
                <a:spcPts val="200"/>
              </a:spcAft>
            </a:pPr>
            <a:r>
              <a:rPr sz="1200" b="1">
                <a:solidFill>
                  <a:srgbClr val="FFFFFF"/>
                </a:solidFill>
                <a:latin typeface="Trebuchet MS"/>
              </a:rPr>
              <a:t>SUPPORT OPTION</a:t>
            </a:r>
          </a:p>
        </p:txBody>
      </p:sp>
      <p:sp>
        <p:nvSpPr>
          <p:cNvPr id="11" name="TextBox 10"/>
          <p:cNvSpPr txBox="1"/>
          <p:nvPr/>
        </p:nvSpPr>
        <p:spPr>
          <a:xfrm>
            <a:off x="4398264" y="2240280"/>
            <a:ext cx="3355848" cy="548639"/>
          </a:xfrm>
          <a:prstGeom prst="rect">
            <a:avLst/>
          </a:prstGeom>
          <a:noFill/>
        </p:spPr>
        <p:txBody>
          <a:bodyPr wrap="square" anchor="t" lIns="0" rIns="0" tIns="0" bIns="0">
            <a:spAutoFit/>
          </a:bodyPr>
          <a:lstStyle/>
          <a:p>
            <a:pPr algn="l">
              <a:spcBef>
                <a:spcPts val="0"/>
              </a:spcBef>
              <a:spcAft>
                <a:spcPts val="200"/>
              </a:spcAft>
            </a:pPr>
            <a:r>
              <a:rPr sz="1200" b="0">
                <a:solidFill>
                  <a:srgbClr val="1F2430"/>
                </a:solidFill>
                <a:latin typeface="Calibri"/>
              </a:rPr>
              <a:t>An optional scaffold that keeps the goal, not lowers it.</a:t>
            </a:r>
          </a:p>
        </p:txBody>
      </p:sp>
      <p:sp>
        <p:nvSpPr>
          <p:cNvPr id="12" name="Rectangle 11"/>
          <p:cNvSpPr/>
          <p:nvPr/>
        </p:nvSpPr>
        <p:spPr>
          <a:xfrm>
            <a:off x="8083296" y="1783080"/>
            <a:ext cx="3611880" cy="1051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83296" y="1783080"/>
            <a:ext cx="3611880" cy="365760"/>
          </a:xfrm>
          <a:prstGeom prst="rect">
            <a:avLst/>
          </a:prstGeom>
          <a:solidFill>
            <a:srgbClr val="0028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83296" y="1783080"/>
            <a:ext cx="3611880" cy="365760"/>
          </a:xfrm>
          <a:prstGeom prst="rect">
            <a:avLst/>
          </a:prstGeom>
          <a:noFill/>
        </p:spPr>
        <p:txBody>
          <a:bodyPr wrap="square" anchor="ctr" lIns="0" rIns="0" tIns="0" bIns="0">
            <a:spAutoFit/>
          </a:bodyPr>
          <a:lstStyle/>
          <a:p>
            <a:pPr algn="ctr">
              <a:spcBef>
                <a:spcPts val="0"/>
              </a:spcBef>
              <a:spcAft>
                <a:spcPts val="200"/>
              </a:spcAft>
            </a:pPr>
            <a:r>
              <a:rPr sz="1200" b="1">
                <a:solidFill>
                  <a:srgbClr val="FFFFFF"/>
                </a:solidFill>
                <a:latin typeface="Trebuchet MS"/>
              </a:rPr>
              <a:t>LANGUAGE SUPPORT</a:t>
            </a:r>
          </a:p>
        </p:txBody>
      </p:sp>
      <p:sp>
        <p:nvSpPr>
          <p:cNvPr id="15" name="TextBox 14"/>
          <p:cNvSpPr txBox="1"/>
          <p:nvPr/>
        </p:nvSpPr>
        <p:spPr>
          <a:xfrm>
            <a:off x="8211312" y="2240280"/>
            <a:ext cx="3355848" cy="548639"/>
          </a:xfrm>
          <a:prstGeom prst="rect">
            <a:avLst/>
          </a:prstGeom>
          <a:noFill/>
        </p:spPr>
        <p:txBody>
          <a:bodyPr wrap="square" anchor="t" lIns="0" rIns="0" tIns="0" bIns="0">
            <a:spAutoFit/>
          </a:bodyPr>
          <a:lstStyle/>
          <a:p>
            <a:pPr algn="l">
              <a:spcBef>
                <a:spcPts val="0"/>
              </a:spcBef>
              <a:spcAft>
                <a:spcPts val="200"/>
              </a:spcAft>
            </a:pPr>
            <a:r>
              <a:rPr sz="1200" b="0">
                <a:solidFill>
                  <a:srgbClr val="1F2430"/>
                </a:solidFill>
                <a:latin typeface="Calibri"/>
              </a:rPr>
              <a:t>Vocabulary, pronunciation, and Spanish cognates for access.</a:t>
            </a:r>
          </a:p>
        </p:txBody>
      </p:sp>
      <p:sp>
        <p:nvSpPr>
          <p:cNvPr id="16" name="Rectangle 15"/>
          <p:cNvSpPr/>
          <p:nvPr/>
        </p:nvSpPr>
        <p:spPr>
          <a:xfrm>
            <a:off x="457200" y="3090672"/>
            <a:ext cx="3611880" cy="1051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3090672"/>
            <a:ext cx="3611880" cy="365760"/>
          </a:xfrm>
          <a:prstGeom prst="rect">
            <a:avLst/>
          </a:prstGeom>
          <a:solidFill>
            <a:srgbClr val="B222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3090672"/>
            <a:ext cx="3611880" cy="365760"/>
          </a:xfrm>
          <a:prstGeom prst="rect">
            <a:avLst/>
          </a:prstGeom>
          <a:noFill/>
        </p:spPr>
        <p:txBody>
          <a:bodyPr wrap="square" anchor="ctr" lIns="0" rIns="0" tIns="0" bIns="0">
            <a:spAutoFit/>
          </a:bodyPr>
          <a:lstStyle/>
          <a:p>
            <a:pPr algn="ctr">
              <a:spcBef>
                <a:spcPts val="0"/>
              </a:spcBef>
              <a:spcAft>
                <a:spcPts val="200"/>
              </a:spcAft>
            </a:pPr>
            <a:r>
              <a:rPr sz="1200" b="1">
                <a:solidFill>
                  <a:srgbClr val="FFFFFF"/>
                </a:solidFill>
                <a:latin typeface="Trebuchet MS"/>
              </a:rPr>
              <a:t>RESPONSE CHOICE</a:t>
            </a:r>
          </a:p>
        </p:txBody>
      </p:sp>
      <p:sp>
        <p:nvSpPr>
          <p:cNvPr id="19" name="TextBox 18"/>
          <p:cNvSpPr txBox="1"/>
          <p:nvPr/>
        </p:nvSpPr>
        <p:spPr>
          <a:xfrm>
            <a:off x="585216" y="3547872"/>
            <a:ext cx="3355848" cy="548639"/>
          </a:xfrm>
          <a:prstGeom prst="rect">
            <a:avLst/>
          </a:prstGeom>
          <a:noFill/>
        </p:spPr>
        <p:txBody>
          <a:bodyPr wrap="square" anchor="t" lIns="0" rIns="0" tIns="0" bIns="0">
            <a:spAutoFit/>
          </a:bodyPr>
          <a:lstStyle/>
          <a:p>
            <a:pPr algn="l">
              <a:spcBef>
                <a:spcPts val="0"/>
              </a:spcBef>
              <a:spcAft>
                <a:spcPts val="200"/>
              </a:spcAft>
            </a:pPr>
            <a:r>
              <a:rPr sz="1200" b="0">
                <a:solidFill>
                  <a:srgbClr val="1F2430"/>
                </a:solidFill>
                <a:latin typeface="Calibri"/>
              </a:rPr>
              <a:t>Show learning by writing, saying/recording, or diagramming.</a:t>
            </a:r>
          </a:p>
        </p:txBody>
      </p:sp>
      <p:sp>
        <p:nvSpPr>
          <p:cNvPr id="20" name="Rectangle 19"/>
          <p:cNvSpPr/>
          <p:nvPr/>
        </p:nvSpPr>
        <p:spPr>
          <a:xfrm>
            <a:off x="4270248" y="3090672"/>
            <a:ext cx="3611880" cy="1051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270248" y="3090672"/>
            <a:ext cx="3611880" cy="365760"/>
          </a:xfrm>
          <a:prstGeom prst="rect">
            <a:avLst/>
          </a:prstGeom>
          <a:solidFill>
            <a:srgbClr val="6A4E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70248" y="3090672"/>
            <a:ext cx="3611880" cy="365760"/>
          </a:xfrm>
          <a:prstGeom prst="rect">
            <a:avLst/>
          </a:prstGeom>
          <a:noFill/>
        </p:spPr>
        <p:txBody>
          <a:bodyPr wrap="square" anchor="ctr" lIns="0" rIns="0" tIns="0" bIns="0">
            <a:spAutoFit/>
          </a:bodyPr>
          <a:lstStyle/>
          <a:p>
            <a:pPr algn="ctr">
              <a:spcBef>
                <a:spcPts val="0"/>
              </a:spcBef>
              <a:spcAft>
                <a:spcPts val="200"/>
              </a:spcAft>
            </a:pPr>
            <a:r>
              <a:rPr sz="1200" b="1">
                <a:solidFill>
                  <a:srgbClr val="FFFFFF"/>
                </a:solidFill>
                <a:latin typeface="Trebuchet MS"/>
              </a:rPr>
              <a:t>PROGRESS CHECK</a:t>
            </a:r>
          </a:p>
        </p:txBody>
      </p:sp>
      <p:sp>
        <p:nvSpPr>
          <p:cNvPr id="23" name="TextBox 22"/>
          <p:cNvSpPr txBox="1"/>
          <p:nvPr/>
        </p:nvSpPr>
        <p:spPr>
          <a:xfrm>
            <a:off x="4398264" y="3547872"/>
            <a:ext cx="3355848" cy="548639"/>
          </a:xfrm>
          <a:prstGeom prst="rect">
            <a:avLst/>
          </a:prstGeom>
          <a:noFill/>
        </p:spPr>
        <p:txBody>
          <a:bodyPr wrap="square" anchor="t" lIns="0" rIns="0" tIns="0" bIns="0">
            <a:spAutoFit/>
          </a:bodyPr>
          <a:lstStyle/>
          <a:p>
            <a:pPr algn="l">
              <a:spcBef>
                <a:spcPts val="0"/>
              </a:spcBef>
              <a:spcAft>
                <a:spcPts val="200"/>
              </a:spcAft>
            </a:pPr>
            <a:r>
              <a:rPr sz="1200" b="0">
                <a:solidFill>
                  <a:srgbClr val="1F2430"/>
                </a:solidFill>
                <a:latin typeface="Calibri"/>
              </a:rPr>
              <a:t>A quick DOK-2/3 check to guide reteach or extend.</a:t>
            </a:r>
          </a:p>
        </p:txBody>
      </p:sp>
      <p:sp>
        <p:nvSpPr>
          <p:cNvPr id="24" name="Rectangle 23"/>
          <p:cNvSpPr/>
          <p:nvPr/>
        </p:nvSpPr>
        <p:spPr>
          <a:xfrm>
            <a:off x="8083296" y="3090672"/>
            <a:ext cx="3611880" cy="1051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083296" y="3090672"/>
            <a:ext cx="3611880" cy="365760"/>
          </a:xfrm>
          <a:prstGeom prst="rect">
            <a:avLst/>
          </a:prstGeom>
          <a:solidFill>
            <a:srgbClr val="2F6F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83296" y="3090672"/>
            <a:ext cx="3611880" cy="365760"/>
          </a:xfrm>
          <a:prstGeom prst="rect">
            <a:avLst/>
          </a:prstGeom>
          <a:noFill/>
        </p:spPr>
        <p:txBody>
          <a:bodyPr wrap="square" anchor="ctr" lIns="0" rIns="0" tIns="0" bIns="0">
            <a:spAutoFit/>
          </a:bodyPr>
          <a:lstStyle/>
          <a:p>
            <a:pPr algn="ctr">
              <a:spcBef>
                <a:spcPts val="0"/>
              </a:spcBef>
              <a:spcAft>
                <a:spcPts val="200"/>
              </a:spcAft>
            </a:pPr>
            <a:r>
              <a:rPr sz="1200" b="1">
                <a:solidFill>
                  <a:srgbClr val="FFFFFF"/>
                </a:solidFill>
                <a:latin typeface="Trebuchet MS"/>
              </a:rPr>
              <a:t>EXTENSION</a:t>
            </a:r>
          </a:p>
        </p:txBody>
      </p:sp>
      <p:sp>
        <p:nvSpPr>
          <p:cNvPr id="27" name="TextBox 26"/>
          <p:cNvSpPr txBox="1"/>
          <p:nvPr/>
        </p:nvSpPr>
        <p:spPr>
          <a:xfrm>
            <a:off x="8211312" y="3547872"/>
            <a:ext cx="3355848" cy="548639"/>
          </a:xfrm>
          <a:prstGeom prst="rect">
            <a:avLst/>
          </a:prstGeom>
          <a:noFill/>
        </p:spPr>
        <p:txBody>
          <a:bodyPr wrap="square" anchor="t" lIns="0" rIns="0" tIns="0" bIns="0">
            <a:spAutoFit/>
          </a:bodyPr>
          <a:lstStyle/>
          <a:p>
            <a:pPr algn="l">
              <a:spcBef>
                <a:spcPts val="0"/>
              </a:spcBef>
              <a:spcAft>
                <a:spcPts val="200"/>
              </a:spcAft>
            </a:pPr>
            <a:r>
              <a:rPr sz="1200" b="0">
                <a:solidFill>
                  <a:srgbClr val="1F2430"/>
                </a:solidFill>
                <a:latin typeface="Calibri"/>
              </a:rPr>
              <a:t>A deeper challenge once the goal is met.</a:t>
            </a:r>
          </a:p>
        </p:txBody>
      </p:sp>
      <p:sp>
        <p:nvSpPr>
          <p:cNvPr id="28" name="Rectangle 27"/>
          <p:cNvSpPr/>
          <p:nvPr/>
        </p:nvSpPr>
        <p:spPr>
          <a:xfrm>
            <a:off x="457200" y="5440680"/>
            <a:ext cx="11247120" cy="868680"/>
          </a:xfrm>
          <a:prstGeom prst="rect">
            <a:avLst/>
          </a:prstGeom>
          <a:solidFill>
            <a:srgbClr val="232F40"/>
          </a:solidFill>
          <a:ln w="19050">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5559552"/>
            <a:ext cx="10881360" cy="731520"/>
          </a:xfrm>
          <a:prstGeom prst="rect">
            <a:avLst/>
          </a:prstGeom>
          <a:noFill/>
        </p:spPr>
        <p:txBody>
          <a:bodyPr wrap="square" anchor="t" lIns="0" rIns="0" tIns="0" bIns="0">
            <a:spAutoFit/>
          </a:bodyPr>
          <a:lstStyle/>
          <a:p>
            <a:pPr algn="l">
              <a:spcBef>
                <a:spcPts val="0"/>
              </a:spcBef>
              <a:spcAft>
                <a:spcPts val="200"/>
              </a:spcAft>
            </a:pPr>
            <a:r>
              <a:rPr sz="1250" b="1">
                <a:solidFill>
                  <a:srgbClr val="FFFFFF"/>
                </a:solidFill>
                <a:latin typeface="Calibri"/>
              </a:rPr>
              <a:t>Options are available by design and support access without lowering the learning goal.  </a:t>
            </a:r>
          </a:p>
          <a:p>
            <a:pPr algn="l">
              <a:spcBef>
                <a:spcPts val="0"/>
              </a:spcBef>
              <a:spcAft>
                <a:spcPts val="200"/>
              </a:spcAft>
            </a:pPr>
            <a:r>
              <a:rPr sz="1250" b="0">
                <a:solidFill>
                  <a:srgbClr val="C7D4E0"/>
                </a:solidFill>
                <a:latin typeface="Calibri"/>
              </a:rPr>
              <a:t>Supports work alongside — never in place of — required IEP or 504 accommodations.</a:t>
            </a:r>
          </a:p>
        </p:txBody>
      </p:sp>
      <p:sp>
        <p:nvSpPr>
          <p:cNvPr id="30" name="TextBox 29"/>
          <p:cNvSpPr txBox="1"/>
          <p:nvPr/>
        </p:nvSpPr>
        <p:spPr>
          <a:xfrm>
            <a:off x="457200" y="6473952"/>
            <a:ext cx="10058400" cy="274320"/>
          </a:xfrm>
          <a:prstGeom prst="rect">
            <a:avLst/>
          </a:prstGeom>
          <a:noFill/>
        </p:spPr>
        <p:txBody>
          <a:bodyPr wrap="square" anchor="t" lIns="0" rIns="0" tIns="0" bIns="0">
            <a:spAutoFit/>
          </a:bodyPr>
          <a:lstStyle/>
          <a:p>
            <a:pPr algn="l">
              <a:spcBef>
                <a:spcPts val="0"/>
              </a:spcBef>
              <a:spcAft>
                <a:spcPts val="200"/>
              </a:spcAft>
            </a:pPr>
            <a:r>
              <a:rPr sz="900" b="0">
                <a:solidFill>
                  <a:srgbClr val="C7D4E0"/>
                </a:solidFill>
                <a:latin typeface="Trebuchet MS"/>
              </a:rPr>
              <a:t>U.S. History Hack · TroopToTeacher Technologies LLC · Aligned to TN Academic Standards &amp; TCAP EOC</a:t>
            </a:r>
          </a:p>
        </p:txBody>
      </p:sp>
      <p:sp>
        <p:nvSpPr>
          <p:cNvPr id="31" name="TextBox 30"/>
          <p:cNvSpPr txBox="1"/>
          <p:nvPr/>
        </p:nvSpPr>
        <p:spPr>
          <a:xfrm>
            <a:off x="11183112" y="6473952"/>
            <a:ext cx="548640" cy="274320"/>
          </a:xfrm>
          <a:prstGeom prst="rect">
            <a:avLst/>
          </a:prstGeom>
          <a:noFill/>
        </p:spPr>
        <p:txBody>
          <a:bodyPr wrap="square" anchor="t" lIns="0" rIns="0" tIns="0" bIns="0">
            <a:spAutoFit/>
          </a:bodyPr>
          <a:lstStyle/>
          <a:p>
            <a:pPr algn="r">
              <a:spcBef>
                <a:spcPts val="0"/>
              </a:spcBef>
              <a:spcAft>
                <a:spcPts val="200"/>
              </a:spcAft>
            </a:pPr>
            <a:r>
              <a:rPr sz="900" b="0">
                <a:solidFill>
                  <a:srgbClr val="C7D4E0"/>
                </a:solidFill>
                <a:latin typeface="Trebuchet MS"/>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1F3A5F"/>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B22234"/>
          </a:solidFill>
          <a:ln/>
        </p:spPr>
        <p:txBody>
          <a:bodyPr/>
          <a:p/>
        </p:txBody>
      </p:sp>
      <p:sp>
        <p:nvSpPr>
          <p:cNvPr id="3" name="Shape 1"/>
          <p:cNvSpPr/>
          <p:nvPr/>
        </p:nvSpPr>
        <p:spPr>
          <a:xfrm>
            <a:off x="320040" y="0"/>
            <a:ext cx="109728" cy="6858000"/>
          </a:xfrm>
          <a:prstGeom prst="rect">
            <a:avLst/>
          </a:prstGeom>
          <a:solidFill>
            <a:srgbClr val="C9A227"/>
          </a:solidFill>
          <a:ln/>
        </p:spPr>
        <p:txBody>
          <a:bodyPr/>
          <a:p/>
        </p:txBody>
      </p:sp>
      <p:sp>
        <p:nvSpPr>
          <p:cNvPr id="4" name="Text 2"/>
          <p:cNvSpPr/>
          <p:nvPr/>
        </p:nvSpPr>
        <p:spPr>
          <a:xfrm>
            <a:off x="914400" y="1005840"/>
            <a:ext cx="5486400" cy="365760"/>
          </a:xfrm>
          <a:prstGeom prst="rect">
            <a:avLst/>
          </a:prstGeom>
          <a:noFill/>
          <a:ln/>
        </p:spPr>
        <p:txBody>
          <a:bodyPr wrap="square" rtlCol="0" anchor="ctr"/>
          <a:lstStyle/>
          <a:p>
            <a:pPr indent="0" marL="0">
              <a:buNone/>
            </a:pPr>
            <a:r>
              <a:rPr lang="en-US" sz="1500" b="1" spc="400" kern="0" dirty="0">
                <a:solidFill>
                  <a:srgbClr val="F9A825"/>
                </a:solidFill>
                <a:latin typeface="Trebuchet MS" pitchFamily="34" charset="0"/>
                <a:ea typeface="Trebuchet MS" pitchFamily="34" charset="-122"/>
                <a:cs typeface="Trebuchet MS" pitchFamily="34" charset="-120"/>
              </a:rPr>
              <a:t>STANDARD</a:t>
            </a:r>
            <a:endParaRPr lang="en-US" sz="1500" dirty="0"/>
          </a:p>
        </p:txBody>
      </p:sp>
      <p:sp>
        <p:nvSpPr>
          <p:cNvPr id="5" name="Text 3"/>
          <p:cNvSpPr/>
          <p:nvPr/>
        </p:nvSpPr>
        <p:spPr>
          <a:xfrm>
            <a:off x="868680" y="1325880"/>
            <a:ext cx="5486400" cy="1371600"/>
          </a:xfrm>
          <a:prstGeom prst="rect">
            <a:avLst/>
          </a:prstGeom>
          <a:noFill/>
          <a:ln/>
        </p:spPr>
        <p:txBody>
          <a:bodyPr wrap="square" rtlCol="0" anchor="ctr"/>
          <a:lstStyle/>
          <a:p>
            <a:pPr indent="0" marL="0">
              <a:buNone/>
            </a:pPr>
            <a:r>
              <a:rPr lang="en-US" sz="8800" b="1" dirty="0">
                <a:solidFill>
                  <a:srgbClr val="FFFFFF"/>
                </a:solidFill>
                <a:latin typeface="Georgia" pitchFamily="34" charset="0"/>
                <a:ea typeface="Georgia" pitchFamily="34" charset="-122"/>
                <a:cs typeface="Georgia" pitchFamily="34" charset="-120"/>
              </a:rPr>
              <a:t>US.01</a:t>
            </a:r>
            <a:endParaRPr lang="en-US" sz="8800" dirty="0"/>
          </a:p>
        </p:txBody>
      </p:sp>
      <p:sp>
        <p:nvSpPr>
          <p:cNvPr id="6" name="Text 4"/>
          <p:cNvSpPr/>
          <p:nvPr/>
        </p:nvSpPr>
        <p:spPr>
          <a:xfrm>
            <a:off x="914400" y="2670048"/>
            <a:ext cx="5577840" cy="1234440"/>
          </a:xfrm>
          <a:prstGeom prst="rect">
            <a:avLst/>
          </a:prstGeom>
          <a:noFill/>
          <a:ln/>
        </p:spPr>
        <p:txBody>
          <a:bodyPr wrap="square" rtlCol="0" anchor="t"/>
          <a:lstStyle/>
          <a:p>
            <a:pPr indent="0" marL="0">
              <a:lnSpc>
                <a:spcPct val="102000"/>
              </a:lnSpc>
              <a:buNone/>
            </a:pPr>
            <a:r>
              <a:rPr lang="en-US" sz="2400" i="1" dirty="0">
                <a:solidFill>
                  <a:srgbClr val="F9A825"/>
                </a:solidFill>
                <a:latin typeface="Georgia" pitchFamily="34" charset="0"/>
                <a:ea typeface="Georgia" pitchFamily="34" charset="-122"/>
                <a:cs typeface="Georgia" pitchFamily="34" charset="-120"/>
              </a:rPr>
              <a:t>Homestead Act and Transcontinental Railroad</a:t>
            </a:r>
            <a:endParaRPr lang="en-US" sz="2400" dirty="0"/>
          </a:p>
        </p:txBody>
      </p:sp>
      <p:sp>
        <p:nvSpPr>
          <p:cNvPr id="7" name="Text 5"/>
          <p:cNvSpPr/>
          <p:nvPr/>
        </p:nvSpPr>
        <p:spPr>
          <a:xfrm>
            <a:off x="6812280" y="1078992"/>
            <a:ext cx="4480560" cy="274320"/>
          </a:xfrm>
          <a:prstGeom prst="rect">
            <a:avLst/>
          </a:prstGeom>
          <a:noFill/>
          <a:ln/>
        </p:spPr>
        <p:txBody>
          <a:bodyPr wrap="square" rtlCol="0" anchor="ctr"/>
          <a:lstStyle/>
          <a:p>
            <a:pPr algn="l" indent="0" marL="0">
              <a:buNone/>
            </a:pPr>
            <a:r>
              <a:rPr lang="en-US" sz="1100" b="1" spc="200" kern="0" dirty="0">
                <a:solidFill>
                  <a:srgbClr val="A7BACB"/>
                </a:solidFill>
                <a:latin typeface="Trebuchet MS" pitchFamily="34" charset="0"/>
                <a:ea typeface="Trebuchet MS" pitchFamily="34" charset="-122"/>
                <a:cs typeface="Trebuchet MS" pitchFamily="34" charset="-120"/>
              </a:rPr>
              <a:t>SOCIAL STUDIES PRACTICES</a:t>
            </a:r>
            <a:endParaRPr lang="en-US" sz="1100" dirty="0"/>
          </a:p>
        </p:txBody>
      </p:sp>
      <p:sp>
        <p:nvSpPr>
          <p:cNvPr id="8" name="Shape 6"/>
          <p:cNvSpPr/>
          <p:nvPr/>
        </p:nvSpPr>
        <p:spPr>
          <a:xfrm>
            <a:off x="6812280" y="1417320"/>
            <a:ext cx="1078992" cy="292608"/>
          </a:xfrm>
          <a:prstGeom prst="roundRect">
            <a:avLst>
              <a:gd name="adj" fmla="val 18750"/>
            </a:avLst>
          </a:prstGeom>
          <a:solidFill>
            <a:srgbClr val="C9A227"/>
          </a:solidFill>
          <a:ln/>
        </p:spPr>
        <p:txBody>
          <a:bodyPr/>
          <a:p/>
        </p:txBody>
      </p:sp>
      <p:sp>
        <p:nvSpPr>
          <p:cNvPr id="9" name="Text 7"/>
          <p:cNvSpPr/>
          <p:nvPr/>
        </p:nvSpPr>
        <p:spPr>
          <a:xfrm>
            <a:off x="6812280" y="1417320"/>
            <a:ext cx="1078992" cy="292608"/>
          </a:xfrm>
          <a:prstGeom prst="rect">
            <a:avLst/>
          </a:prstGeom>
          <a:noFill/>
          <a:ln/>
        </p:spPr>
        <p:txBody>
          <a:bodyPr wrap="square" rtlCol="0" anchor="ctr"/>
          <a:lstStyle/>
          <a:p>
            <a:pPr algn="ctr" indent="0" marL="0">
              <a:buNone/>
            </a:pPr>
            <a:r>
              <a:rPr lang="en-US" sz="1100" b="1" dirty="0">
                <a:solidFill>
                  <a:srgbClr val="1F3A5F"/>
                </a:solidFill>
                <a:latin typeface="Trebuchet MS" pitchFamily="34" charset="0"/>
                <a:ea typeface="Trebuchet MS" pitchFamily="34" charset="-122"/>
                <a:cs typeface="Trebuchet MS" pitchFamily="34" charset="-120"/>
              </a:rPr>
              <a:t>SSP.01</a:t>
            </a:r>
            <a:endParaRPr lang="en-US" sz="1100" dirty="0"/>
          </a:p>
        </p:txBody>
      </p:sp>
      <p:sp>
        <p:nvSpPr>
          <p:cNvPr id="10" name="Text 8"/>
          <p:cNvSpPr/>
          <p:nvPr/>
        </p:nvSpPr>
        <p:spPr>
          <a:xfrm>
            <a:off x="7973568" y="1417320"/>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Collect sources</a:t>
            </a:r>
            <a:endParaRPr lang="en-US" sz="1150" dirty="0"/>
          </a:p>
        </p:txBody>
      </p:sp>
      <p:sp>
        <p:nvSpPr>
          <p:cNvPr id="11" name="Shape 9"/>
          <p:cNvSpPr/>
          <p:nvPr/>
        </p:nvSpPr>
        <p:spPr>
          <a:xfrm>
            <a:off x="6812280" y="1755648"/>
            <a:ext cx="1078992" cy="292608"/>
          </a:xfrm>
          <a:prstGeom prst="roundRect">
            <a:avLst>
              <a:gd name="adj" fmla="val 18750"/>
            </a:avLst>
          </a:prstGeom>
          <a:solidFill>
            <a:srgbClr val="C9A227"/>
          </a:solidFill>
          <a:ln/>
        </p:spPr>
        <p:txBody>
          <a:bodyPr/>
          <a:p/>
        </p:txBody>
      </p:sp>
      <p:sp>
        <p:nvSpPr>
          <p:cNvPr id="12" name="Text 10"/>
          <p:cNvSpPr/>
          <p:nvPr/>
        </p:nvSpPr>
        <p:spPr>
          <a:xfrm>
            <a:off x="6812280" y="1755648"/>
            <a:ext cx="1078992" cy="292608"/>
          </a:xfrm>
          <a:prstGeom prst="rect">
            <a:avLst/>
          </a:prstGeom>
          <a:noFill/>
          <a:ln/>
        </p:spPr>
        <p:txBody>
          <a:bodyPr wrap="square" rtlCol="0" anchor="ctr"/>
          <a:lstStyle/>
          <a:p>
            <a:pPr algn="ctr" indent="0" marL="0">
              <a:buNone/>
            </a:pPr>
            <a:r>
              <a:rPr lang="en-US" sz="1100" b="1" dirty="0">
                <a:solidFill>
                  <a:srgbClr val="1F3A5F"/>
                </a:solidFill>
                <a:latin typeface="Trebuchet MS" pitchFamily="34" charset="0"/>
                <a:ea typeface="Trebuchet MS" pitchFamily="34" charset="-122"/>
                <a:cs typeface="Trebuchet MS" pitchFamily="34" charset="-120"/>
              </a:rPr>
              <a:t>SSP.02</a:t>
            </a:r>
            <a:endParaRPr lang="en-US" sz="1100" dirty="0"/>
          </a:p>
        </p:txBody>
      </p:sp>
      <p:sp>
        <p:nvSpPr>
          <p:cNvPr id="13" name="Text 11"/>
          <p:cNvSpPr/>
          <p:nvPr/>
        </p:nvSpPr>
        <p:spPr>
          <a:xfrm>
            <a:off x="7973568" y="1755648"/>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Examine a source</a:t>
            </a:r>
            <a:endParaRPr lang="en-US" sz="1150" dirty="0"/>
          </a:p>
        </p:txBody>
      </p:sp>
      <p:sp>
        <p:nvSpPr>
          <p:cNvPr id="14" name="Shape 12"/>
          <p:cNvSpPr/>
          <p:nvPr/>
        </p:nvSpPr>
        <p:spPr>
          <a:xfrm>
            <a:off x="6812280" y="2093976"/>
            <a:ext cx="1078992" cy="292608"/>
          </a:xfrm>
          <a:prstGeom prst="roundRect">
            <a:avLst>
              <a:gd name="adj" fmla="val 18750"/>
            </a:avLst>
          </a:prstGeom>
          <a:solidFill>
            <a:srgbClr val="C9A227"/>
          </a:solidFill>
          <a:ln/>
        </p:spPr>
        <p:txBody>
          <a:bodyPr/>
          <a:p/>
        </p:txBody>
      </p:sp>
      <p:sp>
        <p:nvSpPr>
          <p:cNvPr id="15" name="Text 13"/>
          <p:cNvSpPr/>
          <p:nvPr/>
        </p:nvSpPr>
        <p:spPr>
          <a:xfrm>
            <a:off x="6812280" y="2093976"/>
            <a:ext cx="1078992" cy="292608"/>
          </a:xfrm>
          <a:prstGeom prst="rect">
            <a:avLst/>
          </a:prstGeom>
          <a:noFill/>
          <a:ln/>
        </p:spPr>
        <p:txBody>
          <a:bodyPr wrap="square" rtlCol="0" anchor="ctr"/>
          <a:lstStyle/>
          <a:p>
            <a:pPr algn="ctr" indent="0" marL="0">
              <a:buNone/>
            </a:pPr>
            <a:r>
              <a:rPr lang="en-US" sz="1100" b="1" dirty="0">
                <a:solidFill>
                  <a:srgbClr val="1F3A5F"/>
                </a:solidFill>
                <a:latin typeface="Trebuchet MS" pitchFamily="34" charset="0"/>
                <a:ea typeface="Trebuchet MS" pitchFamily="34" charset="-122"/>
                <a:cs typeface="Trebuchet MS" pitchFamily="34" charset="-120"/>
              </a:rPr>
              <a:t>SSP.05</a:t>
            </a:r>
            <a:endParaRPr lang="en-US" sz="1100" dirty="0"/>
          </a:p>
        </p:txBody>
      </p:sp>
      <p:sp>
        <p:nvSpPr>
          <p:cNvPr id="16" name="Text 14"/>
          <p:cNvSpPr/>
          <p:nvPr/>
        </p:nvSpPr>
        <p:spPr>
          <a:xfrm>
            <a:off x="7973568" y="2093976"/>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Historical awareness</a:t>
            </a:r>
            <a:endParaRPr lang="en-US" sz="1150" dirty="0"/>
          </a:p>
        </p:txBody>
      </p:sp>
      <p:sp>
        <p:nvSpPr>
          <p:cNvPr id="17" name="Shape 15"/>
          <p:cNvSpPr/>
          <p:nvPr/>
        </p:nvSpPr>
        <p:spPr>
          <a:xfrm>
            <a:off x="6812280" y="2432304"/>
            <a:ext cx="1078992" cy="292608"/>
          </a:xfrm>
          <a:prstGeom prst="roundRect">
            <a:avLst>
              <a:gd name="adj" fmla="val 18750"/>
            </a:avLst>
          </a:prstGeom>
          <a:solidFill>
            <a:srgbClr val="C9A227"/>
          </a:solidFill>
          <a:ln/>
        </p:spPr>
        <p:txBody>
          <a:bodyPr/>
          <a:p/>
        </p:txBody>
      </p:sp>
      <p:sp>
        <p:nvSpPr>
          <p:cNvPr id="18" name="Text 16"/>
          <p:cNvSpPr/>
          <p:nvPr/>
        </p:nvSpPr>
        <p:spPr>
          <a:xfrm>
            <a:off x="6812280" y="2432304"/>
            <a:ext cx="1078992" cy="292608"/>
          </a:xfrm>
          <a:prstGeom prst="rect">
            <a:avLst/>
          </a:prstGeom>
          <a:noFill/>
          <a:ln/>
        </p:spPr>
        <p:txBody>
          <a:bodyPr wrap="square" rtlCol="0" anchor="ctr"/>
          <a:lstStyle/>
          <a:p>
            <a:pPr algn="ctr" indent="0" marL="0">
              <a:buNone/>
            </a:pPr>
            <a:r>
              <a:rPr lang="en-US" sz="1100" b="1" dirty="0">
                <a:solidFill>
                  <a:srgbClr val="1F3A5F"/>
                </a:solidFill>
                <a:latin typeface="Trebuchet MS" pitchFamily="34" charset="0"/>
                <a:ea typeface="Trebuchet MS" pitchFamily="34" charset="-122"/>
                <a:cs typeface="Trebuchet MS" pitchFamily="34" charset="-120"/>
              </a:rPr>
              <a:t>SSP.06</a:t>
            </a:r>
            <a:endParaRPr lang="en-US" sz="1100" dirty="0"/>
          </a:p>
        </p:txBody>
      </p:sp>
      <p:sp>
        <p:nvSpPr>
          <p:cNvPr id="19" name="Text 17"/>
          <p:cNvSpPr/>
          <p:nvPr/>
        </p:nvSpPr>
        <p:spPr>
          <a:xfrm>
            <a:off x="7973568" y="2432304"/>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Geographic awareness</a:t>
            </a:r>
            <a:endParaRPr lang="en-US" sz="1150" dirty="0"/>
          </a:p>
        </p:txBody>
      </p:sp>
      <p:sp>
        <p:nvSpPr>
          <p:cNvPr id="20" name="Shape 18"/>
          <p:cNvSpPr/>
          <p:nvPr/>
        </p:nvSpPr>
        <p:spPr>
          <a:xfrm>
            <a:off x="914400" y="3794760"/>
            <a:ext cx="10332720" cy="1207008"/>
          </a:xfrm>
          <a:prstGeom prst="roundRect">
            <a:avLst>
              <a:gd name="adj" fmla="val 6061"/>
            </a:avLst>
          </a:prstGeom>
          <a:solidFill>
            <a:srgbClr val="243047"/>
          </a:solidFill>
          <a:ln w="9525">
            <a:solidFill>
              <a:srgbClr val="A7BACB"/>
            </a:solidFill>
            <a:prstDash val="solid"/>
          </a:ln>
        </p:spPr>
        <p:txBody>
          <a:bodyPr/>
          <a:p/>
        </p:txBody>
      </p:sp>
      <p:sp>
        <p:nvSpPr>
          <p:cNvPr id="21" name="Text 19"/>
          <p:cNvSpPr/>
          <p:nvPr/>
        </p:nvSpPr>
        <p:spPr>
          <a:xfrm>
            <a:off x="1143000" y="3913632"/>
            <a:ext cx="5486400" cy="274320"/>
          </a:xfrm>
          <a:prstGeom prst="rect">
            <a:avLst/>
          </a:prstGeom>
          <a:noFill/>
          <a:ln/>
        </p:spPr>
        <p:txBody>
          <a:bodyPr wrap="square" rtlCol="0" anchor="ctr"/>
          <a:lstStyle/>
          <a:p>
            <a:pPr indent="0" marL="0">
              <a:buNone/>
            </a:pPr>
            <a:r>
              <a:rPr lang="en-US" sz="1100" b="1" spc="200" kern="0" dirty="0">
                <a:solidFill>
                  <a:srgbClr val="A7BACB"/>
                </a:solidFill>
                <a:latin typeface="Trebuchet MS" pitchFamily="34" charset="0"/>
                <a:ea typeface="Trebuchet MS" pitchFamily="34" charset="-122"/>
                <a:cs typeface="Trebuchet MS" pitchFamily="34" charset="-120"/>
              </a:rPr>
              <a:t>TN ACADEMIC STANDARD</a:t>
            </a:r>
            <a:endParaRPr lang="en-US" sz="1100" dirty="0"/>
          </a:p>
        </p:txBody>
      </p:sp>
      <p:sp>
        <p:nvSpPr>
          <p:cNvPr id="22" name="Text 20"/>
          <p:cNvSpPr/>
          <p:nvPr/>
        </p:nvSpPr>
        <p:spPr>
          <a:xfrm>
            <a:off x="1143000" y="4206240"/>
            <a:ext cx="9875520" cy="749808"/>
          </a:xfrm>
          <a:prstGeom prst="rect">
            <a:avLst/>
          </a:prstGeom>
          <a:noFill/>
          <a:ln/>
        </p:spPr>
        <p:txBody>
          <a:bodyPr wrap="square" rtlCol="0" anchor="t"/>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Explain how the Homestead Act and the Transcontinental Railroad impacted the settlement of the West.</a:t>
            </a:r>
            <a:endParaRPr lang="en-US" sz="1300" dirty="0"/>
          </a:p>
        </p:txBody>
      </p:sp>
      <p:sp>
        <p:nvSpPr>
          <p:cNvPr id="23" name="Shape 21"/>
          <p:cNvSpPr/>
          <p:nvPr/>
        </p:nvSpPr>
        <p:spPr>
          <a:xfrm>
            <a:off x="914400" y="5120640"/>
            <a:ext cx="10332720" cy="1188720"/>
          </a:xfrm>
          <a:prstGeom prst="roundRect">
            <a:avLst>
              <a:gd name="adj" fmla="val 6154"/>
            </a:avLst>
          </a:prstGeom>
          <a:solidFill>
            <a:srgbClr val="C9A227"/>
          </a:solidFill>
          <a:ln/>
        </p:spPr>
        <p:txBody>
          <a:bodyPr/>
          <a:p/>
        </p:txBody>
      </p:sp>
      <p:sp>
        <p:nvSpPr>
          <p:cNvPr id="24" name="Text 22"/>
          <p:cNvSpPr/>
          <p:nvPr/>
        </p:nvSpPr>
        <p:spPr>
          <a:xfrm>
            <a:off x="1143000" y="5230368"/>
            <a:ext cx="1828800" cy="292608"/>
          </a:xfrm>
          <a:prstGeom prst="rect">
            <a:avLst/>
          </a:prstGeom>
          <a:noFill/>
          <a:ln/>
        </p:spPr>
        <p:txBody>
          <a:bodyPr wrap="square" rtlCol="0" anchor="ctr"/>
          <a:lstStyle/>
          <a:p>
            <a:pPr indent="0" marL="0">
              <a:buNone/>
            </a:pPr>
            <a:r>
              <a:rPr lang="en-US" sz="1300" b="1" spc="200" kern="0" dirty="0">
                <a:solidFill>
                  <a:srgbClr val="1F3A5F"/>
                </a:solidFill>
                <a:latin typeface="Trebuchet MS" pitchFamily="34" charset="0"/>
                <a:ea typeface="Trebuchet MS" pitchFamily="34" charset="-122"/>
                <a:cs typeface="Trebuchet MS" pitchFamily="34" charset="-120"/>
              </a:rPr>
              <a:t>I CAN</a:t>
            </a:r>
            <a:endParaRPr lang="en-US" sz="1300" dirty="0"/>
          </a:p>
        </p:txBody>
      </p:sp>
      <p:sp>
        <p:nvSpPr>
          <p:cNvPr id="25" name="Text 23"/>
          <p:cNvSpPr/>
          <p:nvPr/>
        </p:nvSpPr>
        <p:spPr>
          <a:xfrm>
            <a:off x="1143000" y="5504688"/>
            <a:ext cx="9875520" cy="749808"/>
          </a:xfrm>
          <a:prstGeom prst="rect">
            <a:avLst/>
          </a:prstGeom>
          <a:noFill/>
          <a:ln/>
        </p:spPr>
        <p:txBody>
          <a:bodyPr wrap="square" rtlCol="0" anchor="t"/>
          <a:lstStyle/>
          <a:p>
            <a:pPr indent="0" marL="0">
              <a:lnSpc>
                <a:spcPct val="100000"/>
              </a:lnSpc>
              <a:buNone/>
            </a:pPr>
            <a:r>
              <a:rPr lang="en-US" sz="1250" b="1" dirty="0">
                <a:solidFill>
                  <a:srgbClr val="1F3A5F"/>
                </a:solidFill>
                <a:latin typeface="Calibri" pitchFamily="34" charset="0"/>
                <a:ea typeface="Calibri" pitchFamily="34" charset="-122"/>
                <a:cs typeface="Calibri" pitchFamily="34" charset="-120"/>
              </a:rPr>
              <a:t>I can explain how the Homestead Act and the Transcontinental Railroad impacted the settlement of the West, including their effects on American Indians, immigrants, and settlers.</a:t>
            </a:r>
            <a:endParaRPr lang="en-US" sz="1250" dirty="0"/>
          </a:p>
        </p:txBody>
      </p:sp>
      <p:sp>
        <p:nvSpPr>
          <p:cNvPr id="26" name="Text 24"/>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7" name="Text 2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227"/>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B22234"/>
                </a:solidFill>
                <a:latin typeface="Trebuchet MS" pitchFamily="34" charset="0"/>
                <a:ea typeface="Trebuchet MS" pitchFamily="34" charset="-122"/>
                <a:cs typeface="Trebuchet MS" pitchFamily="34" charset="-120"/>
              </a:rPr>
              <a:t>US.01 · QUICK REVIEW</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F3A5F"/>
                </a:solidFill>
                <a:latin typeface="Georgia" pitchFamily="34" charset="0"/>
                <a:ea typeface="Georgia" pitchFamily="34" charset="-122"/>
                <a:cs typeface="Georgia" pitchFamily="34" charset="-120"/>
              </a:rPr>
              <a:t>Do You Remember?</a:t>
            </a:r>
            <a:endParaRPr lang="en-US" sz="3000" dirty="0"/>
          </a:p>
        </p:txBody>
      </p:sp>
      <p:sp>
        <p:nvSpPr>
          <p:cNvPr id="5" name="Text 3"/>
          <p:cNvSpPr/>
          <p:nvPr/>
        </p:nvSpPr>
        <p:spPr>
          <a:xfrm>
            <a:off x="548640" y="141732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Before we start, retrieve what we have already learned. Answer from memory first — no notes.</a:t>
            </a:r>
            <a:endParaRPr lang="en-US" sz="1400" dirty="0"/>
          </a:p>
        </p:txBody>
      </p:sp>
      <p:sp>
        <p:nvSpPr>
          <p:cNvPr id="6" name="Shape 4"/>
          <p:cNvSpPr/>
          <p:nvPr/>
        </p:nvSpPr>
        <p:spPr>
          <a:xfrm>
            <a:off x="548640" y="2057400"/>
            <a:ext cx="11064240" cy="1234440"/>
          </a:xfrm>
          <a:prstGeom prst="rect">
            <a:avLst/>
          </a:prstGeom>
          <a:solidFill>
            <a:srgbClr val="FFFFFF"/>
          </a:solidFill>
          <a:ln w="12700">
            <a:solidFill>
              <a:srgbClr val="DAD3C2"/>
            </a:solidFill>
            <a:prstDash val="solid"/>
          </a:ln>
        </p:spPr>
        <p:txBody>
          <a:bodyPr/>
          <a:p/>
        </p:txBody>
      </p:sp>
      <p:sp>
        <p:nvSpPr>
          <p:cNvPr id="7" name="Shape 5"/>
          <p:cNvSpPr/>
          <p:nvPr/>
        </p:nvSpPr>
        <p:spPr>
          <a:xfrm>
            <a:off x="548640" y="2057400"/>
            <a:ext cx="777240" cy="1234440"/>
          </a:xfrm>
          <a:prstGeom prst="rect">
            <a:avLst/>
          </a:prstGeom>
          <a:solidFill>
            <a:srgbClr val="1F3A5F"/>
          </a:solidFill>
          <a:ln/>
        </p:spPr>
        <p:txBody>
          <a:bodyPr/>
          <a:p/>
        </p:txBody>
      </p:sp>
      <p:sp>
        <p:nvSpPr>
          <p:cNvPr id="8" name="Text 6"/>
          <p:cNvSpPr/>
          <p:nvPr/>
        </p:nvSpPr>
        <p:spPr>
          <a:xfrm>
            <a:off x="548640" y="2057400"/>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1</a:t>
            </a:r>
            <a:endParaRPr lang="en-US" sz="2000" dirty="0"/>
          </a:p>
        </p:txBody>
      </p:sp>
      <p:sp>
        <p:nvSpPr>
          <p:cNvPr id="9" name="Text 7"/>
          <p:cNvSpPr/>
          <p:nvPr/>
        </p:nvSpPr>
        <p:spPr>
          <a:xfrm>
            <a:off x="1508760" y="2057400"/>
            <a:ext cx="9966960" cy="1234440"/>
          </a:xfrm>
          <a:prstGeom prst="rect">
            <a:avLst/>
          </a:prstGeom>
          <a:noFill/>
          <a:ln/>
        </p:spPr>
        <p:txBody>
          <a:bodyPr wrap="square" rtlCol="0" anchor="ctr"/>
          <a:lstStyle/>
          <a:p>
            <a:pPr indent="0" marL="0">
              <a:lnSpc>
                <a:spcPct val="104000"/>
              </a:lnSpc>
              <a:buNone/>
            </a:pPr>
            <a:r>
              <a:rPr lang="en-US" sz="1350" b="1" dirty="0">
                <a:solidFill>
                  <a:srgbClr val="B22234"/>
                </a:solidFill>
                <a:latin typeface="Calibri" pitchFamily="34" charset="0"/>
                <a:ea typeface="Calibri" pitchFamily="34" charset="-122"/>
                <a:cs typeface="Calibri" pitchFamily="34" charset="-120"/>
              </a:rPr>
              <a:t>Unit Hook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Name one PUSH factor and one PULL factor that moved Americans from farms to cities.</a:t>
            </a:r>
            <a:endParaRPr lang="en-US" sz="1350" dirty="0"/>
          </a:p>
        </p:txBody>
      </p:sp>
      <p:sp>
        <p:nvSpPr>
          <p:cNvPr id="10" name="Shape 8"/>
          <p:cNvSpPr/>
          <p:nvPr/>
        </p:nvSpPr>
        <p:spPr>
          <a:xfrm>
            <a:off x="548640" y="3456432"/>
            <a:ext cx="11064240" cy="1234440"/>
          </a:xfrm>
          <a:prstGeom prst="rect">
            <a:avLst/>
          </a:prstGeom>
          <a:solidFill>
            <a:srgbClr val="FFFFFF"/>
          </a:solidFill>
          <a:ln w="12700">
            <a:solidFill>
              <a:srgbClr val="DAD3C2"/>
            </a:solidFill>
            <a:prstDash val="solid"/>
          </a:ln>
        </p:spPr>
        <p:txBody>
          <a:bodyPr/>
          <a:p/>
        </p:txBody>
      </p:sp>
      <p:sp>
        <p:nvSpPr>
          <p:cNvPr id="11" name="Shape 9"/>
          <p:cNvSpPr/>
          <p:nvPr/>
        </p:nvSpPr>
        <p:spPr>
          <a:xfrm>
            <a:off x="548640" y="3456432"/>
            <a:ext cx="777240" cy="1234440"/>
          </a:xfrm>
          <a:prstGeom prst="rect">
            <a:avLst/>
          </a:prstGeom>
          <a:solidFill>
            <a:srgbClr val="1F3A5F"/>
          </a:solidFill>
          <a:ln/>
        </p:spPr>
        <p:txBody>
          <a:bodyPr/>
          <a:p/>
        </p:txBody>
      </p:sp>
      <p:sp>
        <p:nvSpPr>
          <p:cNvPr id="12" name="Text 10"/>
          <p:cNvSpPr/>
          <p:nvPr/>
        </p:nvSpPr>
        <p:spPr>
          <a:xfrm>
            <a:off x="548640" y="3456432"/>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2</a:t>
            </a:r>
            <a:endParaRPr lang="en-US" sz="2000" dirty="0"/>
          </a:p>
        </p:txBody>
      </p:sp>
      <p:sp>
        <p:nvSpPr>
          <p:cNvPr id="13" name="Text 11"/>
          <p:cNvSpPr/>
          <p:nvPr/>
        </p:nvSpPr>
        <p:spPr>
          <a:xfrm>
            <a:off x="1508760" y="3456432"/>
            <a:ext cx="9966960" cy="1234440"/>
          </a:xfrm>
          <a:prstGeom prst="rect">
            <a:avLst/>
          </a:prstGeom>
          <a:noFill/>
          <a:ln/>
        </p:spPr>
        <p:txBody>
          <a:bodyPr wrap="square" rtlCol="0" anchor="ctr"/>
          <a:lstStyle/>
          <a:p>
            <a:pPr indent="0" marL="0">
              <a:lnSpc>
                <a:spcPct val="104000"/>
              </a:lnSpc>
              <a:buNone/>
            </a:pPr>
            <a:r>
              <a:rPr lang="en-US" sz="1350" b="1" dirty="0">
                <a:solidFill>
                  <a:srgbClr val="B22234"/>
                </a:solidFill>
                <a:latin typeface="Calibri" pitchFamily="34" charset="0"/>
                <a:ea typeface="Calibri" pitchFamily="34" charset="-122"/>
                <a:cs typeface="Calibri" pitchFamily="34" charset="-120"/>
              </a:rPr>
              <a:t>Prior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What major war had just ended in 1865, and what region was being rebuilt?</a:t>
            </a:r>
            <a:endParaRPr lang="en-US" sz="135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227"/>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B22234"/>
                </a:solidFill>
                <a:latin typeface="Trebuchet MS" pitchFamily="34" charset="0"/>
                <a:ea typeface="Trebuchet MS" pitchFamily="34" charset="-122"/>
                <a:cs typeface="Trebuchet MS" pitchFamily="34" charset="-120"/>
              </a:rPr>
              <a:t>US.01 · CONFIDENCE CHECK</a:t>
            </a:r>
            <a:endParaRPr lang="en-US" sz="1200" dirty="0"/>
          </a:p>
        </p:txBody>
      </p:sp>
      <p:sp>
        <p:nvSpPr>
          <p:cNvPr id="4" name="Text 2"/>
          <p:cNvSpPr/>
          <p:nvPr/>
        </p:nvSpPr>
        <p:spPr>
          <a:xfrm>
            <a:off x="548640" y="731520"/>
            <a:ext cx="7863840" cy="640080"/>
          </a:xfrm>
          <a:prstGeom prst="rect">
            <a:avLst/>
          </a:prstGeom>
          <a:noFill/>
          <a:ln/>
        </p:spPr>
        <p:txBody>
          <a:bodyPr wrap="square" rtlCol="0" anchor="ctr"/>
          <a:lstStyle/>
          <a:p>
            <a:pPr indent="0" marL="0">
              <a:buNone/>
            </a:pPr>
            <a:r>
              <a:rPr lang="en-US" sz="3000" b="1" dirty="0">
                <a:solidFill>
                  <a:srgbClr val="1F3A5F"/>
                </a:solidFill>
                <a:latin typeface="Georgia" pitchFamily="34" charset="0"/>
                <a:ea typeface="Georgia" pitchFamily="34" charset="-122"/>
                <a:cs typeface="Georgia" pitchFamily="34" charset="-120"/>
              </a:rPr>
              <a:t>Warm-Up — Quick Recall</a:t>
            </a:r>
            <a:endParaRPr lang="en-US" sz="3000" dirty="0"/>
          </a:p>
        </p:txBody>
      </p:sp>
      <p:sp>
        <p:nvSpPr>
          <p:cNvPr id="5" name="Shape 3"/>
          <p:cNvSpPr/>
          <p:nvPr/>
        </p:nvSpPr>
        <p:spPr>
          <a:xfrm>
            <a:off x="8686800" y="786384"/>
            <a:ext cx="1143000" cy="457200"/>
          </a:xfrm>
          <a:prstGeom prst="roundRect">
            <a:avLst>
              <a:gd name="adj" fmla="val 20000"/>
            </a:avLst>
          </a:prstGeom>
          <a:solidFill>
            <a:srgbClr val="FBEFD0"/>
          </a:solidFill>
          <a:ln w="15875">
            <a:solidFill>
              <a:srgbClr val="C9A227"/>
            </a:solidFill>
            <a:prstDash val="solid"/>
          </a:ln>
        </p:spPr>
        <p:txBody>
          <a:bodyPr/>
          <a:p/>
        </p:txBody>
      </p:sp>
      <p:sp>
        <p:nvSpPr>
          <p:cNvPr id="6" name="Text 4"/>
          <p:cNvSpPr/>
          <p:nvPr/>
        </p:nvSpPr>
        <p:spPr>
          <a:xfrm>
            <a:off x="8686800" y="786384"/>
            <a:ext cx="1143000" cy="457200"/>
          </a:xfrm>
          <a:prstGeom prst="rect">
            <a:avLst/>
          </a:prstGeom>
          <a:noFill/>
          <a:ln/>
        </p:spPr>
        <p:txBody>
          <a:bodyPr wrap="square" rtlCol="0" anchor="ctr"/>
          <a:lstStyle/>
          <a:p>
            <a:pPr algn="ctr" indent="0" marL="0">
              <a:buNone/>
            </a:pPr>
            <a:r>
              <a:rPr lang="en-US" sz="1200" b="1" dirty="0">
                <a:solidFill>
                  <a:srgbClr val="B22234"/>
                </a:solidFill>
                <a:latin typeface="Trebuchet MS" pitchFamily="34" charset="0"/>
                <a:ea typeface="Trebuchet MS" pitchFamily="34" charset="-122"/>
                <a:cs typeface="Trebuchet MS" pitchFamily="34" charset="-120"/>
              </a:rPr>
              <a:t>DOK 1</a:t>
            </a:r>
            <a:endParaRPr lang="en-US" sz="1200" dirty="0"/>
          </a:p>
        </p:txBody>
      </p:sp>
      <p:sp>
        <p:nvSpPr>
          <p:cNvPr id="7" name="Shape 5"/>
          <p:cNvSpPr/>
          <p:nvPr/>
        </p:nvSpPr>
        <p:spPr>
          <a:xfrm>
            <a:off x="9966960" y="786384"/>
            <a:ext cx="1645920" cy="457200"/>
          </a:xfrm>
          <a:prstGeom prst="roundRect">
            <a:avLst>
              <a:gd name="adj" fmla="val 20000"/>
            </a:avLst>
          </a:prstGeom>
          <a:solidFill>
            <a:srgbClr val="1F3A5F"/>
          </a:solidFill>
          <a:ln/>
        </p:spPr>
        <p:txBody>
          <a:bodyPr/>
          <a:p/>
        </p:txBody>
      </p:sp>
      <p:sp>
        <p:nvSpPr>
          <p:cNvPr id="8" name="Text 6"/>
          <p:cNvSpPr/>
          <p:nvPr/>
        </p:nvSpPr>
        <p:spPr>
          <a:xfrm>
            <a:off x="9966960" y="786384"/>
            <a:ext cx="164592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LOW STAKES</a:t>
            </a:r>
            <a:endParaRPr lang="en-US" sz="1100" dirty="0"/>
          </a:p>
        </p:txBody>
      </p:sp>
      <p:sp>
        <p:nvSpPr>
          <p:cNvPr id="9" name="Text 7"/>
          <p:cNvSpPr/>
          <p:nvPr/>
        </p:nvSpPr>
        <p:spPr>
          <a:xfrm>
            <a:off x="548640" y="137160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Everyone can answer this. Thumbs / whiteboards — no notes.</a:t>
            </a:r>
            <a:endParaRPr lang="en-US" sz="1400" dirty="0"/>
          </a:p>
        </p:txBody>
      </p:sp>
      <p:sp>
        <p:nvSpPr>
          <p:cNvPr id="10" name="Shape 8"/>
          <p:cNvSpPr/>
          <p:nvPr/>
        </p:nvSpPr>
        <p:spPr>
          <a:xfrm>
            <a:off x="548640" y="1965960"/>
            <a:ext cx="11064240" cy="1874520"/>
          </a:xfrm>
          <a:prstGeom prst="roundRect">
            <a:avLst>
              <a:gd name="adj" fmla="val 4878"/>
            </a:avLst>
          </a:prstGeom>
          <a:solidFill>
            <a:srgbClr val="1F3A5F"/>
          </a:solidFill>
          <a:ln/>
        </p:spPr>
        <p:txBody>
          <a:bodyPr/>
          <a:p/>
        </p:txBody>
      </p:sp>
      <p:sp>
        <p:nvSpPr>
          <p:cNvPr id="11" name="Text 9"/>
          <p:cNvSpPr/>
          <p:nvPr/>
        </p:nvSpPr>
        <p:spPr>
          <a:xfrm>
            <a:off x="1005840" y="2194560"/>
            <a:ext cx="10149840" cy="1417320"/>
          </a:xfrm>
          <a:prstGeom prst="rect">
            <a:avLst/>
          </a:prstGeom>
          <a:noFill/>
          <a:ln/>
        </p:spPr>
        <p:txBody>
          <a:bodyPr wrap="square" rtlCol="0" anchor="ctr"/>
          <a:lstStyle/>
          <a:p>
            <a:pPr algn="ctr" indent="0" marL="0">
              <a:lnSpc>
                <a:spcPct val="108000"/>
              </a:lnSpc>
              <a:buNone/>
            </a:pPr>
            <a:r>
              <a:rPr lang="en-US" sz="2400" b="1" dirty="0">
                <a:solidFill>
                  <a:srgbClr val="FFFFFF"/>
                </a:solidFill>
                <a:latin typeface="Georgia" pitchFamily="34" charset="0"/>
                <a:ea typeface="Georgia" pitchFamily="34" charset="-122"/>
                <a:cs typeface="Georgia" pitchFamily="34" charset="-120"/>
              </a:rPr>
              <a:t>TRUE or FALSE: The Homestead Act offered free public land to settlers who farmed it.</a:t>
            </a:r>
            <a:endParaRPr lang="en-US" sz="2400" dirty="0"/>
          </a:p>
        </p:txBody>
      </p:sp>
      <p:sp>
        <p:nvSpPr>
          <p:cNvPr id="12" name="Shape 10"/>
          <p:cNvSpPr/>
          <p:nvPr/>
        </p:nvSpPr>
        <p:spPr>
          <a:xfrm>
            <a:off x="548640" y="4069080"/>
            <a:ext cx="11064240" cy="1371600"/>
          </a:xfrm>
          <a:prstGeom prst="roundRect">
            <a:avLst>
              <a:gd name="adj" fmla="val 6667"/>
            </a:avLst>
          </a:prstGeom>
          <a:solidFill>
            <a:srgbClr val="FBEFD0"/>
          </a:solidFill>
          <a:ln w="19050">
            <a:solidFill>
              <a:srgbClr val="C9A227"/>
            </a:solidFill>
            <a:prstDash val="solid"/>
          </a:ln>
        </p:spPr>
        <p:txBody>
          <a:bodyPr/>
          <a:p/>
        </p:txBody>
      </p:sp>
      <p:sp>
        <p:nvSpPr>
          <p:cNvPr id="13" name="Text 11"/>
          <p:cNvSpPr/>
          <p:nvPr/>
        </p:nvSpPr>
        <p:spPr>
          <a:xfrm>
            <a:off x="914400" y="4224528"/>
            <a:ext cx="2743200" cy="320040"/>
          </a:xfrm>
          <a:prstGeom prst="rect">
            <a:avLst/>
          </a:prstGeom>
          <a:noFill/>
          <a:ln/>
        </p:spPr>
        <p:txBody>
          <a:bodyPr wrap="square" rtlCol="0" anchor="ctr"/>
          <a:lstStyle/>
          <a:p>
            <a:pPr indent="0" marL="0">
              <a:buNone/>
            </a:pPr>
            <a:r>
              <a:rPr lang="en-US" sz="1200" b="1" spc="200" kern="0" dirty="0">
                <a:solidFill>
                  <a:srgbClr val="1B5E20"/>
                </a:solidFill>
                <a:latin typeface="Trebuchet MS" pitchFamily="34" charset="0"/>
                <a:ea typeface="Trebuchet MS" pitchFamily="34" charset="-122"/>
                <a:cs typeface="Trebuchet MS" pitchFamily="34" charset="-120"/>
              </a:rPr>
              <a:t>✓ ANSWER</a:t>
            </a:r>
            <a:endParaRPr lang="en-US" sz="1200" dirty="0"/>
          </a:p>
        </p:txBody>
      </p:sp>
      <p:sp>
        <p:nvSpPr>
          <p:cNvPr id="14" name="Text 12"/>
          <p:cNvSpPr/>
          <p:nvPr/>
        </p:nvSpPr>
        <p:spPr>
          <a:xfrm>
            <a:off x="914400" y="4572000"/>
            <a:ext cx="10332720" cy="777240"/>
          </a:xfrm>
          <a:prstGeom prst="rect">
            <a:avLst/>
          </a:prstGeom>
          <a:noFill/>
          <a:ln/>
        </p:spPr>
        <p:txBody>
          <a:bodyPr wrap="square" rtlCol="0" anchor="t"/>
          <a:lstStyle/>
          <a:p>
            <a:pPr indent="0" marL="0">
              <a:lnSpc>
                <a:spcPct val="108000"/>
              </a:lnSpc>
              <a:buNone/>
            </a:pPr>
            <a:r>
              <a:rPr lang="en-US" sz="1600" dirty="0">
                <a:solidFill>
                  <a:srgbClr val="1F2430"/>
                </a:solidFill>
                <a:latin typeface="Calibri" pitchFamily="34" charset="0"/>
                <a:ea typeface="Calibri" pitchFamily="34" charset="-122"/>
                <a:cs typeface="Calibri" pitchFamily="34" charset="-120"/>
              </a:rPr>
              <a:t>TRUE — 160 acres after five years of living on and improving the claim.</a:t>
            </a:r>
            <a:endParaRPr lang="en-US" sz="1600" dirty="0"/>
          </a:p>
        </p:txBody>
      </p:sp>
      <p:sp>
        <p:nvSpPr>
          <p:cNvPr id="15" name="Shape 13"/>
          <p:cNvSpPr/>
          <p:nvPr/>
        </p:nvSpPr>
        <p:spPr>
          <a:xfrm>
            <a:off x="548640" y="5623560"/>
            <a:ext cx="11064240" cy="457200"/>
          </a:xfrm>
          <a:prstGeom prst="roundRect">
            <a:avLst>
              <a:gd name="adj" fmla="val 16000"/>
            </a:avLst>
          </a:prstGeom>
          <a:solidFill>
            <a:srgbClr val="FFFFFF"/>
          </a:solidFill>
          <a:ln w="12700">
            <a:solidFill>
              <a:srgbClr val="C9A227"/>
            </a:solidFill>
            <a:prstDash val="solid"/>
          </a:ln>
        </p:spPr>
        <p:txBody>
          <a:bodyPr/>
          <a:p/>
        </p:txBody>
      </p:sp>
      <p:sp>
        <p:nvSpPr>
          <p:cNvPr id="16" name="Text 14"/>
          <p:cNvSpPr/>
          <p:nvPr/>
        </p:nvSpPr>
        <p:spPr>
          <a:xfrm>
            <a:off x="822960" y="5623560"/>
            <a:ext cx="10515600" cy="457200"/>
          </a:xfrm>
          <a:prstGeom prst="rect">
            <a:avLst/>
          </a:prstGeom>
          <a:noFill/>
          <a:ln/>
        </p:spPr>
        <p:txBody>
          <a:bodyPr wrap="square" rtlCol="0" anchor="ctr"/>
          <a:lstStyle/>
          <a:p>
            <a:pPr indent="0" marL="0">
              <a:buNone/>
            </a:pPr>
            <a:r>
              <a:rPr lang="en-US" sz="1150" b="1" i="1" spc="100" kern="0" dirty="0">
                <a:solidFill>
                  <a:srgbClr val="B22234"/>
                </a:solidFill>
                <a:latin typeface="Trebuchet MS" pitchFamily="34" charset="0"/>
                <a:ea typeface="Trebuchet MS" pitchFamily="34" charset="-122"/>
                <a:cs typeface="Trebuchet MS" pitchFamily="34" charset="-120"/>
              </a:rPr>
              <a:t>COMMIT FIRST:  </a:t>
            </a:r>
            <a:pPr indent="0" marL="0">
              <a:buNone/>
            </a:pPr>
            <a:r>
              <a:rPr lang="en-US" sz="1150" i="1" dirty="0">
                <a:solidFill>
                  <a:srgbClr val="5C6470"/>
                </a:solidFill>
                <a:latin typeface="Calibri" pitchFamily="34" charset="0"/>
                <a:ea typeface="Calibri" pitchFamily="34" charset="-122"/>
                <a:cs typeface="Calibri" pitchFamily="34" charset="-120"/>
              </a:rPr>
              <a:t>have everyone answer before the reveal — this is the DOK 1 floor; the graded check later in this lesson moves up to DOK 2–3.</a:t>
            </a:r>
            <a:endParaRPr lang="en-US" sz="1150" dirty="0"/>
          </a:p>
        </p:txBody>
      </p:sp>
      <p:sp>
        <p:nvSpPr>
          <p:cNvPr id="18" name="Text 15"/>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6"/>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B22234"/>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B22234"/>
                </a:solidFill>
                <a:latin typeface="Trebuchet MS" pitchFamily="34" charset="0"/>
                <a:ea typeface="Trebuchet MS" pitchFamily="34" charset="-122"/>
                <a:cs typeface="Trebuchet MS" pitchFamily="34" charset="-120"/>
              </a:rPr>
              <a:t>US.01 · HOOK</a:t>
            </a:r>
            <a:endParaRPr lang="en-US" sz="1200" dirty="0"/>
          </a:p>
        </p:txBody>
      </p:sp>
      <p:sp>
        <p:nvSpPr>
          <p:cNvPr id="4" name="Text 2"/>
          <p:cNvSpPr/>
          <p:nvPr/>
        </p:nvSpPr>
        <p:spPr>
          <a:xfrm>
            <a:off x="548640" y="777240"/>
            <a:ext cx="10972800" cy="640080"/>
          </a:xfrm>
          <a:prstGeom prst="rect">
            <a:avLst/>
          </a:prstGeom>
          <a:noFill/>
          <a:ln/>
        </p:spPr>
        <p:txBody>
          <a:bodyPr wrap="square" rtlCol="0" anchor="ctr"/>
          <a:lstStyle/>
          <a:p>
            <a:pPr indent="0" marL="0">
              <a:buNone/>
            </a:pPr>
            <a:r>
              <a:rPr lang="en-US" sz="3000" b="1" dirty="0">
                <a:solidFill>
                  <a:srgbClr val="1F3A5F"/>
                </a:solidFill>
                <a:latin typeface="Georgia" pitchFamily="34" charset="0"/>
                <a:ea typeface="Georgia" pitchFamily="34" charset="-122"/>
                <a:cs typeface="Georgia" pitchFamily="34" charset="-120"/>
              </a:rPr>
              <a:t>Think About It</a:t>
            </a:r>
            <a:endParaRPr lang="en-US" sz="3000" dirty="0"/>
          </a:p>
        </p:txBody>
      </p:sp>
      <p:sp>
        <p:nvSpPr>
          <p:cNvPr id="5" name="Shape 3"/>
          <p:cNvSpPr/>
          <p:nvPr/>
        </p:nvSpPr>
        <p:spPr>
          <a:xfrm>
            <a:off x="548640" y="1691640"/>
            <a:ext cx="11064240" cy="2194560"/>
          </a:xfrm>
          <a:prstGeom prst="roundRect">
            <a:avLst>
              <a:gd name="adj" fmla="val 4167"/>
            </a:avLst>
          </a:prstGeom>
          <a:solidFill>
            <a:srgbClr val="1F3A5F"/>
          </a:solidFill>
          <a:ln/>
        </p:spPr>
        <p:txBody>
          <a:bodyPr/>
          <a:p/>
        </p:txBody>
      </p:sp>
      <p:sp>
        <p:nvSpPr>
          <p:cNvPr id="6" name="Text 4"/>
          <p:cNvSpPr/>
          <p:nvPr/>
        </p:nvSpPr>
        <p:spPr>
          <a:xfrm>
            <a:off x="1005840" y="1965960"/>
            <a:ext cx="10149840" cy="1645920"/>
          </a:xfrm>
          <a:prstGeom prst="rect">
            <a:avLst/>
          </a:prstGeom>
          <a:noFill/>
          <a:ln/>
        </p:spPr>
        <p:txBody>
          <a:bodyPr wrap="square" rtlCol="0" anchor="ctr"/>
          <a:lstStyle/>
          <a:p>
            <a:pPr indent="0" marL="0">
              <a:lnSpc>
                <a:spcPct val="108000"/>
              </a:lnSpc>
              <a:buNone/>
            </a:pPr>
            <a:r>
              <a:rPr lang="en-US" sz="2600" i="1" dirty="0">
                <a:solidFill>
                  <a:srgbClr val="FFFFFF"/>
                </a:solidFill>
                <a:latin typeface="Georgia" pitchFamily="34" charset="0"/>
                <a:ea typeface="Georgia" pitchFamily="34" charset="-122"/>
                <a:cs typeface="Georgia" pitchFamily="34" charset="-120"/>
              </a:rPr>
              <a:t>160 acres of land — free — to almost anyone willing to farm it for five years.</a:t>
            </a:r>
            <a:endParaRPr lang="en-US" sz="2600" dirty="0"/>
          </a:p>
        </p:txBody>
      </p:sp>
      <p:sp>
        <p:nvSpPr>
          <p:cNvPr id="7" name="Shape 5"/>
          <p:cNvSpPr/>
          <p:nvPr/>
        </p:nvSpPr>
        <p:spPr>
          <a:xfrm>
            <a:off x="548640" y="4114800"/>
            <a:ext cx="11064240" cy="1783080"/>
          </a:xfrm>
          <a:prstGeom prst="roundRect">
            <a:avLst>
              <a:gd name="adj" fmla="val 5128"/>
            </a:avLst>
          </a:prstGeom>
          <a:solidFill>
            <a:srgbClr val="FFFFFF"/>
          </a:solidFill>
          <a:ln w="19050">
            <a:solidFill>
              <a:srgbClr val="C9A227"/>
            </a:solidFill>
            <a:prstDash val="solid"/>
          </a:ln>
        </p:spPr>
        <p:txBody>
          <a:bodyPr/>
          <a:p/>
        </p:txBody>
      </p:sp>
      <p:sp>
        <p:nvSpPr>
          <p:cNvPr id="8" name="Text 6"/>
          <p:cNvSpPr/>
          <p:nvPr/>
        </p:nvSpPr>
        <p:spPr>
          <a:xfrm>
            <a:off x="914400" y="4297680"/>
            <a:ext cx="2743200" cy="320040"/>
          </a:xfrm>
          <a:prstGeom prst="rect">
            <a:avLst/>
          </a:prstGeom>
          <a:noFill/>
          <a:ln/>
        </p:spPr>
        <p:txBody>
          <a:bodyPr wrap="square" rtlCol="0" anchor="ctr"/>
          <a:lstStyle/>
          <a:p>
            <a:pPr indent="0" marL="0">
              <a:buNone/>
            </a:pPr>
            <a:r>
              <a:rPr lang="en-US" sz="1300" b="1" spc="200" kern="0" dirty="0">
                <a:solidFill>
                  <a:srgbClr val="B22234"/>
                </a:solidFill>
                <a:latin typeface="Trebuchet MS" pitchFamily="34" charset="0"/>
                <a:ea typeface="Trebuchet MS" pitchFamily="34" charset="-122"/>
                <a:cs typeface="Trebuchet MS" pitchFamily="34" charset="-120"/>
              </a:rPr>
              <a:t>DISCUSS</a:t>
            </a:r>
            <a:endParaRPr lang="en-US" sz="1300" dirty="0"/>
          </a:p>
        </p:txBody>
      </p:sp>
      <p:sp>
        <p:nvSpPr>
          <p:cNvPr id="9" name="Shape 7"/>
          <p:cNvSpPr/>
          <p:nvPr/>
        </p:nvSpPr>
        <p:spPr>
          <a:xfrm>
            <a:off x="7772400" y="4224528"/>
            <a:ext cx="3657600" cy="457200"/>
          </a:xfrm>
          <a:prstGeom prst="roundRect">
            <a:avLst>
              <a:gd name="adj" fmla="val 20000"/>
            </a:avLst>
          </a:prstGeom>
          <a:solidFill>
            <a:srgbClr val="1F3A5F"/>
          </a:solidFill>
          <a:ln/>
        </p:spPr>
        <p:txBody>
          <a:bodyPr/>
          <a:p/>
        </p:txBody>
      </p:sp>
      <p:sp>
        <p:nvSpPr>
          <p:cNvPr id="10" name="Text 8"/>
          <p:cNvSpPr/>
          <p:nvPr/>
        </p:nvSpPr>
        <p:spPr>
          <a:xfrm>
            <a:off x="7772400" y="4224528"/>
            <a:ext cx="3657600" cy="45720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TIMING:  Turn &amp; Talk 60 sec → cold-call 2 pairs</a:t>
            </a:r>
            <a:endParaRPr lang="en-US" sz="1050" dirty="0"/>
          </a:p>
        </p:txBody>
      </p:sp>
      <p:sp>
        <p:nvSpPr>
          <p:cNvPr id="11" name="Text 9"/>
          <p:cNvSpPr/>
          <p:nvPr/>
        </p:nvSpPr>
        <p:spPr>
          <a:xfrm>
            <a:off x="914400" y="4736592"/>
            <a:ext cx="10332720" cy="1097280"/>
          </a:xfrm>
          <a:prstGeom prst="rect">
            <a:avLst/>
          </a:prstGeom>
          <a:noFill/>
          <a:ln/>
        </p:spPr>
        <p:txBody>
          <a:bodyPr wrap="square" rtlCol="0" anchor="t"/>
          <a:lstStyle/>
          <a:p>
            <a:pPr indent="0" marL="0">
              <a:lnSpc>
                <a:spcPct val="110000"/>
              </a:lnSpc>
              <a:buNone/>
            </a:pPr>
            <a:r>
              <a:rPr lang="en-US" sz="1600" dirty="0">
                <a:solidFill>
                  <a:srgbClr val="1F2430"/>
                </a:solidFill>
                <a:latin typeface="Calibri" pitchFamily="34" charset="0"/>
                <a:ea typeface="Calibri" pitchFamily="34" charset="-122"/>
                <a:cs typeface="Calibri" pitchFamily="34" charset="-120"/>
              </a:rPr>
              <a:t>If the government offered you free land out West in 1862, would you go? What would you have to give up — and who already lived there?</a:t>
            </a:r>
            <a:endParaRPr lang="en-US" sz="1600" dirty="0"/>
          </a:p>
        </p:txBody>
      </p:sp>
      <p:sp>
        <p:nvSpPr>
          <p:cNvPr id="13" name="Text 10"/>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F3A5F"/>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B22234"/>
                </a:solidFill>
                <a:latin typeface="Trebuchet MS" pitchFamily="34" charset="0"/>
                <a:ea typeface="Trebuchet MS" pitchFamily="34" charset="-122"/>
                <a:cs typeface="Trebuchet MS" pitchFamily="34" charset="-120"/>
              </a:rPr>
              <a:t>US.01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F3A5F"/>
                </a:solidFill>
                <a:latin typeface="Georgia" pitchFamily="34" charset="0"/>
                <a:ea typeface="Georgia" pitchFamily="34" charset="-122"/>
                <a:cs typeface="Georgia" pitchFamily="34" charset="-120"/>
              </a:rPr>
              <a:t>Sequence the expansion of the United States</a:t>
            </a:r>
            <a:endParaRPr lang="en-US" sz="3000" dirty="0"/>
          </a:p>
        </p:txBody>
      </p:sp>
      <p:sp>
        <p:nvSpPr>
          <p:cNvPr id="5" name="Shape 3"/>
          <p:cNvSpPr/>
          <p:nvPr/>
        </p:nvSpPr>
        <p:spPr>
          <a:xfrm>
            <a:off x="10765231" y="502920"/>
            <a:ext cx="146304" cy="146304"/>
          </a:xfrm>
          <a:prstGeom prst="ellipse">
            <a:avLst/>
          </a:prstGeom>
          <a:solidFill>
            <a:srgbClr val="B22234"/>
          </a:solidFill>
          <a:ln/>
        </p:spPr>
        <p:txBody>
          <a:bodyPr/>
          <a:p/>
        </p:txBody>
      </p:sp>
      <p:sp>
        <p:nvSpPr>
          <p:cNvPr id="6" name="Shape 4"/>
          <p:cNvSpPr/>
          <p:nvPr/>
        </p:nvSpPr>
        <p:spPr>
          <a:xfrm>
            <a:off x="11057839" y="502920"/>
            <a:ext cx="146304" cy="146304"/>
          </a:xfrm>
          <a:prstGeom prst="ellipse">
            <a:avLst/>
          </a:prstGeom>
          <a:solidFill>
            <a:srgbClr val="A7BACB"/>
          </a:solidFill>
          <a:ln/>
        </p:spPr>
        <p:txBody>
          <a:bodyPr/>
          <a:p/>
        </p:txBody>
      </p:sp>
      <p:sp>
        <p:nvSpPr>
          <p:cNvPr id="7" name="Shape 5"/>
          <p:cNvSpPr/>
          <p:nvPr/>
        </p:nvSpPr>
        <p:spPr>
          <a:xfrm>
            <a:off x="11350447" y="502920"/>
            <a:ext cx="146304" cy="146304"/>
          </a:xfrm>
          <a:prstGeom prst="ellipse">
            <a:avLst/>
          </a:prstGeom>
          <a:solidFill>
            <a:srgbClr val="A7BACB"/>
          </a:solidFill>
          <a:ln/>
        </p:spPr>
        <p:txBody>
          <a:bodyPr/>
          <a:p/>
        </p:txBody>
      </p:sp>
      <p:sp>
        <p:nvSpPr>
          <p:cNvPr id="8" name="Text 6"/>
          <p:cNvSpPr/>
          <p:nvPr/>
        </p:nvSpPr>
        <p:spPr>
          <a:xfrm>
            <a:off x="9805111"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1 of 3</a:t>
            </a:r>
            <a:endParaRPr lang="en-US" sz="1000" dirty="0"/>
          </a:p>
        </p:txBody>
      </p:sp>
      <p:sp>
        <p:nvSpPr>
          <p:cNvPr id="9" name="Shape 7"/>
          <p:cNvSpPr/>
          <p:nvPr/>
        </p:nvSpPr>
        <p:spPr>
          <a:xfrm>
            <a:off x="548640" y="1783080"/>
            <a:ext cx="6766560" cy="4069080"/>
          </a:xfrm>
          <a:prstGeom prst="rect">
            <a:avLst/>
          </a:prstGeom>
          <a:solidFill>
            <a:srgbClr val="FFFFFF"/>
          </a:solidFill>
          <a:ln w="12700">
            <a:solidFill>
              <a:srgbClr val="DAD3C2"/>
            </a:solidFill>
            <a:prstDash val="solid"/>
          </a:ln>
        </p:spPr>
        <p:txBody>
          <a:bodyPr/>
          <a:p/>
        </p:txBody>
      </p:sp>
      <p:sp>
        <p:nvSpPr>
          <p:cNvPr id="10" name="Text 8"/>
          <p:cNvSpPr/>
          <p:nvPr/>
        </p:nvSpPr>
        <p:spPr>
          <a:xfrm>
            <a:off x="914400" y="2057400"/>
            <a:ext cx="6126480" cy="2340864"/>
          </a:xfrm>
          <a:prstGeom prst="rect">
            <a:avLst/>
          </a:prstGeom>
          <a:noFill/>
          <a:ln/>
        </p:spPr>
        <p:txBody>
          <a:bodyPr wrap="square" rtlCol="0" anchor="t"/>
          <a:lstStyle/>
          <a:p>
            <a:pPr marL="228600" indent="-228600">
              <a:lnSpc>
                <a:spcPct val="112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The Homestead Act of 1862 offered 160 acres of free land to settlers who would farm it for five years.</a:t>
            </a:r>
            <a:endParaRPr lang="en-US" sz="1550" dirty="0"/>
          </a:p>
          <a:p>
            <a:pPr marL="228600" indent="-228600">
              <a:lnSpc>
                <a:spcPct val="112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Combined with the completion of the Transcontinental Railroad in 1869, these policies accelerated westward expansion as part of Manifest Destiny—the belief that Americans were destined to spread across the continent.</a:t>
            </a:r>
            <a:endParaRPr lang="en-US" sz="1550" dirty="0"/>
          </a:p>
          <a:p>
            <a:pPr marL="228600" indent="-228600">
              <a:lnSpc>
                <a:spcPct val="112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The Union Pacific built westward from Omaha while the Central Pacific built eastward from Sacramento, meeting at Promontory Summit, Utah.</a:t>
            </a:r>
            <a:endParaRPr lang="en-US" sz="1550" dirty="0"/>
          </a:p>
        </p:txBody>
      </p:sp>
      <p:sp>
        <p:nvSpPr>
          <p:cNvPr id="11" name="Shape 9"/>
          <p:cNvSpPr/>
          <p:nvPr/>
        </p:nvSpPr>
        <p:spPr>
          <a:xfrm>
            <a:off x="868680" y="4626864"/>
            <a:ext cx="6126480" cy="1097280"/>
          </a:xfrm>
          <a:prstGeom prst="roundRect">
            <a:avLst>
              <a:gd name="adj" fmla="val 5000"/>
            </a:avLst>
          </a:prstGeom>
          <a:solidFill>
            <a:srgbClr val="EEF3F7"/>
          </a:solidFill>
          <a:ln w="12700">
            <a:solidFill>
              <a:srgbClr val="A7BACB"/>
            </a:solidFill>
            <a:prstDash val="solid"/>
          </a:ln>
        </p:spPr>
        <p:txBody>
          <a:bodyPr/>
          <a:p/>
        </p:txBody>
      </p:sp>
      <p:sp>
        <p:nvSpPr>
          <p:cNvPr id="12" name="Text 10"/>
          <p:cNvSpPr/>
          <p:nvPr/>
        </p:nvSpPr>
        <p:spPr>
          <a:xfrm>
            <a:off x="1024128" y="4681728"/>
            <a:ext cx="5852160" cy="237744"/>
          </a:xfrm>
          <a:prstGeom prst="rect">
            <a:avLst/>
          </a:prstGeom>
          <a:noFill/>
          <a:ln/>
        </p:spPr>
        <p:txBody>
          <a:bodyPr wrap="square" rtlCol="0" anchor="ctr"/>
          <a:lstStyle/>
          <a:p>
            <a:pPr indent="0" marL="0">
              <a:buNone/>
            </a:pPr>
            <a:r>
              <a:rPr lang="en-US" sz="900" b="1" spc="100" kern="0" dirty="0">
                <a:solidFill>
                  <a:srgbClr val="002858"/>
                </a:solidFill>
                <a:latin typeface="Trebuchet MS" pitchFamily="34" charset="0"/>
                <a:ea typeface="Trebuchet MS" pitchFamily="34" charset="-122"/>
                <a:cs typeface="Trebuchet MS" pitchFamily="34" charset="-120"/>
              </a:rPr>
              <a:t>SENTENCE FRAME  </a:t>
            </a:r>
            <a:pPr indent="0" marL="0">
              <a:buNone/>
            </a:pPr>
            <a:r>
              <a:rPr lang="en-US" sz="900" i="1" dirty="0">
                <a:solidFill>
                  <a:srgbClr val="5C6470"/>
                </a:solidFill>
              </a:rPr>
              <a:t>· LANGUAGE SUPPORT  </a:t>
            </a:r>
            <a:endParaRPr lang="en-US" sz="900" dirty="0"/>
          </a:p>
        </p:txBody>
      </p:sp>
      <p:sp>
        <p:nvSpPr>
          <p:cNvPr id="13" name="Text 11"/>
          <p:cNvSpPr/>
          <p:nvPr/>
        </p:nvSpPr>
        <p:spPr>
          <a:xfrm>
            <a:off x="1024128" y="4937760"/>
            <a:ext cx="6309360" cy="658368"/>
          </a:xfrm>
          <a:prstGeom prst="rect">
            <a:avLst/>
          </a:prstGeom>
          <a:noFill/>
          <a:ln/>
        </p:spPr>
        <p:txBody>
          <a:bodyPr wrap="square" rtlCol="0" anchor="t"/>
          <a:lstStyle/>
          <a:p>
            <a:pPr indent="0" marL="0">
              <a:lnSpc>
                <a:spcPct val="104000"/>
              </a:lnSpc>
              <a:buNone/>
            </a:pPr>
            <a:r>
              <a:rPr lang="en-US" sz="1050" i="1" dirty="0">
                <a:solidFill>
                  <a:srgbClr val="1F2430"/>
                </a:solidFill>
                <a:latin typeface="Calibri" pitchFamily="34" charset="0"/>
                <a:ea typeface="Calibri" pitchFamily="34" charset="-122"/>
                <a:cs typeface="Calibri" pitchFamily="34" charset="-120"/>
              </a:rPr>
              <a:t>The Homestead Act and the railroad ________ western settlement because ________.</a:t>
            </a:r>
            <a:endParaRPr lang="en-US" sz="1050" dirty="0"/>
          </a:p>
        </p:txBody>
      </p:sp>
      <p:sp>
        <p:nvSpPr>
          <p:cNvPr id="14" name="Shape 12"/>
          <p:cNvSpPr/>
          <p:nvPr/>
        </p:nvSpPr>
        <p:spPr>
          <a:xfrm>
            <a:off x="7552944" y="1746504"/>
            <a:ext cx="4142232" cy="2935224"/>
          </a:xfrm>
          <a:prstGeom prst="rect">
            <a:avLst/>
          </a:prstGeom>
          <a:solidFill>
            <a:srgbClr val="FFFFFF"/>
          </a:solidFill>
          <a:ln w="12700">
            <a:solidFill>
              <a:srgbClr val="DAD3C2"/>
            </a:solidFill>
            <a:prstDash val="solid"/>
          </a:ln>
        </p:spPr>
        <p:txBody>
          <a:bodyPr/>
          <a:p/>
        </p:txBody>
      </p:sp>
      <p:pic>
        <p:nvPicPr>
          <p:cNvPr id="15" name="Image 0" descr="Andrew J. Russell, 1869  National Archives and Records Administration">    </p:cNvPr>
          <p:cNvPicPr>
            <a:picLocks noChangeAspect="1"/>
          </p:cNvPicPr>
          <p:nvPr/>
        </p:nvPicPr>
        <p:blipFill>
          <a:blip r:embed="rId1"/>
          <a:srcRect l="0" r="0" t="0" b="0"/>
          <a:stretch/>
        </p:blipFill>
        <p:spPr>
          <a:xfrm>
            <a:off x="7589520" y="1783080"/>
            <a:ext cx="4069080" cy="2862072"/>
          </a:xfrm>
          <a:prstGeom prst="rect">
            <a:avLst/>
          </a:prstGeom>
        </p:spPr>
      </p:pic>
      <p:sp>
        <p:nvSpPr>
          <p:cNvPr id="16" name="Text 13"/>
          <p:cNvSpPr/>
          <p:nvPr/>
        </p:nvSpPr>
        <p:spPr>
          <a:xfrm>
            <a:off x="7589520" y="4700016"/>
            <a:ext cx="4069080" cy="512064"/>
          </a:xfrm>
          <a:prstGeom prst="rect">
            <a:avLst/>
          </a:prstGeom>
          <a:noFill/>
          <a:ln/>
        </p:spPr>
        <p:txBody>
          <a:bodyPr wrap="square" rtlCol="0" anchor="t"/>
          <a:lstStyle/>
          <a:p>
            <a:pPr algn="l" indent="0" marL="0">
              <a:lnSpc>
                <a:spcPct val="100000"/>
              </a:lnSpc>
              <a:buNone/>
            </a:pPr>
            <a:pPr algn="l" indent="0" marL="0">
              <a:lnSpc>
                <a:spcPct val="100000"/>
              </a:lnSpc>
              <a:buNone/>
            </a:pPr>
            <a:r>
              <a:rPr lang="en-US" sz="900" i="1" dirty="0">
                <a:solidFill>
                  <a:srgbClr val="5C6470"/>
                </a:solidFill>
                <a:latin typeface="Calibri" pitchFamily="34" charset="0"/>
                <a:ea typeface="Calibri" pitchFamily="34" charset="-122"/>
                <a:cs typeface="Calibri" pitchFamily="34" charset="-120"/>
              </a:rPr>
              <a:t>Andrew J. Russell, 1869  </a:t>
            </a:r>
            <a:pPr algn="l" indent="0" marL="0">
              <a:lnSpc>
                <a:spcPct val="100000"/>
              </a:lnSpc>
              <a:buNone/>
            </a:pPr>
            <a:r>
              <a:rPr lang="en-US" sz="9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National Archives and Records Administration</a:t>
            </a:r>
            <a:endParaRPr lang="en-US" sz="800" dirty="0"/>
          </a:p>
        </p:txBody>
      </p:sp>
      <p:sp>
        <p:nvSpPr>
          <p:cNvPr id="17" name="Shape 14"/>
          <p:cNvSpPr/>
          <p:nvPr/>
        </p:nvSpPr>
        <p:spPr>
          <a:xfrm>
            <a:off x="7589520" y="5440680"/>
            <a:ext cx="4069080" cy="713232"/>
          </a:xfrm>
          <a:prstGeom prst="roundRect">
            <a:avLst>
              <a:gd name="adj" fmla="val 7692"/>
            </a:avLst>
          </a:prstGeom>
          <a:solidFill>
            <a:srgbClr val="1F3A5F"/>
          </a:solidFill>
          <a:ln/>
        </p:spPr>
        <p:txBody>
          <a:bodyPr/>
          <a:p/>
        </p:txBody>
      </p:sp>
      <p:sp>
        <p:nvSpPr>
          <p:cNvPr id="18" name="Text 15"/>
          <p:cNvSpPr/>
          <p:nvPr/>
        </p:nvSpPr>
        <p:spPr>
          <a:xfrm>
            <a:off x="7772400" y="5477256"/>
            <a:ext cx="3703320" cy="640080"/>
          </a:xfrm>
          <a:prstGeom prst="rect">
            <a:avLst/>
          </a:prstGeom>
          <a:noFill/>
          <a:ln/>
        </p:spPr>
        <p:txBody>
          <a:bodyPr wrap="square" rtlCol="0" anchor="ctr"/>
          <a:lstStyle/>
          <a:p>
            <a:pPr indent="0" marL="0">
              <a:lnSpc>
                <a:spcPct val="102000"/>
              </a:lnSpc>
              <a:buNone/>
            </a:pPr>
            <a:r>
              <a:rPr lang="en-US" sz="950" b="1" dirty="0">
                <a:solidFill>
                  <a:srgbClr val="F9A825"/>
                </a:solidFill>
                <a:latin typeface="Trebuchet MS" pitchFamily="34" charset="0"/>
                <a:ea typeface="Trebuchet MS" pitchFamily="34" charset="-122"/>
                <a:cs typeface="Trebuchet MS" pitchFamily="34" charset="-120"/>
              </a:rPr>
              <a:t>TEACHER CUE  </a:t>
            </a:r>
            <a:pPr indent="0" marL="0">
              <a:lnSpc>
                <a:spcPct val="102000"/>
              </a:lnSpc>
              <a:buNone/>
            </a:pPr>
            <a:r>
              <a:rPr lang="en-US" sz="950" dirty="0">
                <a:solidFill>
                  <a:srgbClr val="FFFFFF"/>
                </a:solidFill>
                <a:latin typeface="Calibri" pitchFamily="34" charset="0"/>
                <a:ea typeface="Calibri" pitchFamily="34" charset="-122"/>
                <a:cs typeface="Calibri" pitchFamily="34" charset="-120"/>
              </a:rPr>
              <a:t>Chunk → cold-call → confirm before advancing.</a:t>
            </a:r>
            <a:endParaRPr lang="en-US" sz="950" dirty="0"/>
          </a:p>
        </p:txBody>
      </p:sp>
      <p:sp>
        <p:nvSpPr>
          <p:cNvPr id="20" name="Text 16"/>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F3A5F"/>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B22234"/>
                </a:solidFill>
                <a:latin typeface="Trebuchet MS" pitchFamily="34" charset="0"/>
                <a:ea typeface="Trebuchet MS" pitchFamily="34" charset="-122"/>
                <a:cs typeface="Trebuchet MS" pitchFamily="34" charset="-120"/>
              </a:rPr>
              <a:t>US.01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F3A5F"/>
                </a:solidFill>
                <a:latin typeface="Georgia" pitchFamily="34" charset="0"/>
                <a:ea typeface="Georgia" pitchFamily="34" charset="-122"/>
                <a:cs typeface="Georgia" pitchFamily="34" charset="-120"/>
              </a:rPr>
              <a:t>Impact on Western Settlement</a:t>
            </a:r>
            <a:endParaRPr lang="en-US" sz="3000" dirty="0"/>
          </a:p>
        </p:txBody>
      </p:sp>
      <p:sp>
        <p:nvSpPr>
          <p:cNvPr id="5" name="Shape 3"/>
          <p:cNvSpPr/>
          <p:nvPr/>
        </p:nvSpPr>
        <p:spPr>
          <a:xfrm>
            <a:off x="10765231" y="502920"/>
            <a:ext cx="146304" cy="146304"/>
          </a:xfrm>
          <a:prstGeom prst="ellipse">
            <a:avLst/>
          </a:prstGeom>
          <a:solidFill>
            <a:srgbClr val="A7BACB"/>
          </a:solidFill>
          <a:ln/>
        </p:spPr>
        <p:txBody>
          <a:bodyPr/>
          <a:p/>
        </p:txBody>
      </p:sp>
      <p:sp>
        <p:nvSpPr>
          <p:cNvPr id="6" name="Shape 4"/>
          <p:cNvSpPr/>
          <p:nvPr/>
        </p:nvSpPr>
        <p:spPr>
          <a:xfrm>
            <a:off x="11057839" y="502920"/>
            <a:ext cx="146304" cy="146304"/>
          </a:xfrm>
          <a:prstGeom prst="ellipse">
            <a:avLst/>
          </a:prstGeom>
          <a:solidFill>
            <a:srgbClr val="B22234"/>
          </a:solidFill>
          <a:ln/>
        </p:spPr>
        <p:txBody>
          <a:bodyPr/>
          <a:p/>
        </p:txBody>
      </p:sp>
      <p:sp>
        <p:nvSpPr>
          <p:cNvPr id="7" name="Shape 5"/>
          <p:cNvSpPr/>
          <p:nvPr/>
        </p:nvSpPr>
        <p:spPr>
          <a:xfrm>
            <a:off x="11350447" y="502920"/>
            <a:ext cx="146304" cy="146304"/>
          </a:xfrm>
          <a:prstGeom prst="ellipse">
            <a:avLst/>
          </a:prstGeom>
          <a:solidFill>
            <a:srgbClr val="A7BACB"/>
          </a:solidFill>
          <a:ln/>
        </p:spPr>
        <p:txBody>
          <a:bodyPr/>
          <a:p/>
        </p:txBody>
      </p:sp>
      <p:sp>
        <p:nvSpPr>
          <p:cNvPr id="8" name="Text 6"/>
          <p:cNvSpPr/>
          <p:nvPr/>
        </p:nvSpPr>
        <p:spPr>
          <a:xfrm>
            <a:off x="9805111"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2 of 3</a:t>
            </a:r>
            <a:endParaRPr lang="en-US" sz="1000" dirty="0"/>
          </a:p>
        </p:txBody>
      </p:sp>
      <p:sp>
        <p:nvSpPr>
          <p:cNvPr id="9" name="Shape 7"/>
          <p:cNvSpPr/>
          <p:nvPr/>
        </p:nvSpPr>
        <p:spPr>
          <a:xfrm>
            <a:off x="548640" y="1783080"/>
            <a:ext cx="6766560" cy="4069080"/>
          </a:xfrm>
          <a:prstGeom prst="rect">
            <a:avLst/>
          </a:prstGeom>
          <a:solidFill>
            <a:srgbClr val="FFFFFF"/>
          </a:solidFill>
          <a:ln w="12700">
            <a:solidFill>
              <a:srgbClr val="DAD3C2"/>
            </a:solidFill>
            <a:prstDash val="solid"/>
          </a:ln>
        </p:spPr>
        <p:txBody>
          <a:bodyPr/>
          <a:p/>
        </p:txBody>
      </p:sp>
      <p:sp>
        <p:nvSpPr>
          <p:cNvPr id="10" name="Text 8"/>
          <p:cNvSpPr/>
          <p:nvPr/>
        </p:nvSpPr>
        <p:spPr>
          <a:xfrm>
            <a:off x="914400" y="2057400"/>
            <a:ext cx="6126480" cy="3566160"/>
          </a:xfrm>
          <a:prstGeom prst="rect">
            <a:avLst/>
          </a:prstGeom>
          <a:noFill/>
          <a:ln/>
        </p:spPr>
        <p:txBody>
          <a:bodyPr wrap="square" rtlCol="0" anchor="t"/>
          <a:lstStyle/>
          <a:p>
            <a:pPr marL="228600" indent="-228600">
              <a:lnSpc>
                <a:spcPct val="112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The Transcontinental Railroad dramatically reduced travel time from months to days, opening the West to settlement, commerce, and resource extraction.</a:t>
            </a:r>
            <a:endParaRPr lang="en-US" sz="1550" dirty="0"/>
          </a:p>
          <a:p>
            <a:pPr marL="228600" indent="-228600">
              <a:lnSpc>
                <a:spcPct val="112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Towns sprang up along rail lines, and agricultural products could now reach eastern markets efficiently.</a:t>
            </a:r>
            <a:endParaRPr lang="en-US" sz="1550" dirty="0"/>
          </a:p>
          <a:p>
            <a:pPr marL="228600" indent="-228600">
              <a:lnSpc>
                <a:spcPct val="112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However, this expansion came at tremendous cost to American Indian nations whose lands were taken and whose way of life was destroyed.</a:t>
            </a:r>
            <a:endParaRPr lang="en-US" sz="1550" dirty="0"/>
          </a:p>
        </p:txBody>
      </p:sp>
      <p:sp>
        <p:nvSpPr>
          <p:cNvPr id="11" name="Shape 9"/>
          <p:cNvSpPr/>
          <p:nvPr/>
        </p:nvSpPr>
        <p:spPr>
          <a:xfrm>
            <a:off x="7552944" y="1746504"/>
            <a:ext cx="4142232" cy="3575304"/>
          </a:xfrm>
          <a:prstGeom prst="rect">
            <a:avLst/>
          </a:prstGeom>
          <a:solidFill>
            <a:srgbClr val="FFFFFF"/>
          </a:solidFill>
          <a:ln w="12700">
            <a:solidFill>
              <a:srgbClr val="DAD3C2"/>
            </a:solidFill>
            <a:prstDash val="solid"/>
          </a:ln>
        </p:spPr>
        <p:txBody>
          <a:bodyPr/>
          <a:p/>
        </p:txBody>
      </p:sp>
      <p:pic>
        <p:nvPicPr>
          <p:cNvPr id="12" name="Image 0" descr="Matthews-Northrup Company, 1890  Library of Congress">    </p:cNvPr>
          <p:cNvPicPr>
            <a:picLocks noChangeAspect="1"/>
          </p:cNvPicPr>
          <p:nvPr/>
        </p:nvPicPr>
        <p:blipFill>
          <a:blip r:embed="rId1"/>
          <a:srcRect l="0" r="0" t="0" b="0"/>
          <a:stretch/>
        </p:blipFill>
        <p:spPr>
          <a:xfrm>
            <a:off x="7589520" y="1783080"/>
            <a:ext cx="4069080" cy="3502152"/>
          </a:xfrm>
          <a:prstGeom prst="rect">
            <a:avLst/>
          </a:prstGeom>
        </p:spPr>
      </p:pic>
      <p:sp>
        <p:nvSpPr>
          <p:cNvPr id="13" name="Text 10"/>
          <p:cNvSpPr/>
          <p:nvPr/>
        </p:nvSpPr>
        <p:spPr>
          <a:xfrm>
            <a:off x="7589520" y="5340096"/>
            <a:ext cx="4069080" cy="512064"/>
          </a:xfrm>
          <a:prstGeom prst="rect">
            <a:avLst/>
          </a:prstGeom>
          <a:noFill/>
          <a:ln/>
        </p:spPr>
        <p:txBody>
          <a:bodyPr wrap="square" rtlCol="0" anchor="t"/>
          <a:lstStyle/>
          <a:p>
            <a:pPr algn="l" indent="0" marL="0">
              <a:lnSpc>
                <a:spcPct val="100000"/>
              </a:lnSpc>
              <a:buNone/>
            </a:pPr>
            <a:pPr algn="l" indent="0" marL="0">
              <a:lnSpc>
                <a:spcPct val="100000"/>
              </a:lnSpc>
              <a:buNone/>
            </a:pPr>
            <a:r>
              <a:rPr lang="en-US" sz="900" i="1" dirty="0">
                <a:solidFill>
                  <a:srgbClr val="5C6470"/>
                </a:solidFill>
                <a:latin typeface="Calibri" pitchFamily="34" charset="0"/>
                <a:ea typeface="Calibri" pitchFamily="34" charset="-122"/>
                <a:cs typeface="Calibri" pitchFamily="34" charset="-120"/>
              </a:rPr>
              <a:t>Matthews-Northrup Company, 1890  </a:t>
            </a:r>
            <a:pPr algn="l" indent="0" marL="0">
              <a:lnSpc>
                <a:spcPct val="100000"/>
              </a:lnSpc>
              <a:buNone/>
            </a:pPr>
            <a:r>
              <a:rPr lang="en-US" sz="9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800" dirty="0"/>
          </a:p>
        </p:txBody>
      </p:sp>
      <p:sp>
        <p:nvSpPr>
          <p:cNvPr id="14" name="Text 11"/>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5" name="Text 1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F3A5F"/>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B22234"/>
                </a:solidFill>
                <a:latin typeface="Trebuchet MS" pitchFamily="34" charset="0"/>
                <a:ea typeface="Trebuchet MS" pitchFamily="34" charset="-122"/>
                <a:cs typeface="Trebuchet MS" pitchFamily="34" charset="-120"/>
              </a:rPr>
              <a:t>US.01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F3A5F"/>
                </a:solidFill>
                <a:latin typeface="Georgia" pitchFamily="34" charset="0"/>
                <a:ea typeface="Georgia" pitchFamily="34" charset="-122"/>
                <a:cs typeface="Georgia" pitchFamily="34" charset="-120"/>
              </a:rPr>
              <a:t>Impact on American Indians, Immigrants, and Settlers</a:t>
            </a:r>
            <a:endParaRPr lang="en-US" sz="3000" dirty="0"/>
          </a:p>
        </p:txBody>
      </p:sp>
      <p:sp>
        <p:nvSpPr>
          <p:cNvPr id="5" name="Shape 3"/>
          <p:cNvSpPr/>
          <p:nvPr/>
        </p:nvSpPr>
        <p:spPr>
          <a:xfrm>
            <a:off x="10765231" y="502920"/>
            <a:ext cx="146304" cy="146304"/>
          </a:xfrm>
          <a:prstGeom prst="ellipse">
            <a:avLst/>
          </a:prstGeom>
          <a:solidFill>
            <a:srgbClr val="A7BACB"/>
          </a:solidFill>
          <a:ln/>
        </p:spPr>
        <p:txBody>
          <a:bodyPr/>
          <a:p/>
        </p:txBody>
      </p:sp>
      <p:sp>
        <p:nvSpPr>
          <p:cNvPr id="6" name="Shape 4"/>
          <p:cNvSpPr/>
          <p:nvPr/>
        </p:nvSpPr>
        <p:spPr>
          <a:xfrm>
            <a:off x="11057839" y="502920"/>
            <a:ext cx="146304" cy="146304"/>
          </a:xfrm>
          <a:prstGeom prst="ellipse">
            <a:avLst/>
          </a:prstGeom>
          <a:solidFill>
            <a:srgbClr val="A7BACB"/>
          </a:solidFill>
          <a:ln/>
        </p:spPr>
        <p:txBody>
          <a:bodyPr/>
          <a:p/>
        </p:txBody>
      </p:sp>
      <p:sp>
        <p:nvSpPr>
          <p:cNvPr id="7" name="Shape 5"/>
          <p:cNvSpPr/>
          <p:nvPr/>
        </p:nvSpPr>
        <p:spPr>
          <a:xfrm>
            <a:off x="11350447" y="502920"/>
            <a:ext cx="146304" cy="146304"/>
          </a:xfrm>
          <a:prstGeom prst="ellipse">
            <a:avLst/>
          </a:prstGeom>
          <a:solidFill>
            <a:srgbClr val="B22234"/>
          </a:solidFill>
          <a:ln/>
        </p:spPr>
        <p:txBody>
          <a:bodyPr/>
          <a:p/>
        </p:txBody>
      </p:sp>
      <p:sp>
        <p:nvSpPr>
          <p:cNvPr id="8" name="Text 6"/>
          <p:cNvSpPr/>
          <p:nvPr/>
        </p:nvSpPr>
        <p:spPr>
          <a:xfrm>
            <a:off x="9805111"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3 of 3</a:t>
            </a:r>
            <a:endParaRPr lang="en-US" sz="1000" dirty="0"/>
          </a:p>
        </p:txBody>
      </p:sp>
      <p:sp>
        <p:nvSpPr>
          <p:cNvPr id="9" name="Shape 7"/>
          <p:cNvSpPr/>
          <p:nvPr/>
        </p:nvSpPr>
        <p:spPr>
          <a:xfrm>
            <a:off x="548640" y="1783080"/>
            <a:ext cx="11064240" cy="2697480"/>
          </a:xfrm>
          <a:prstGeom prst="rect">
            <a:avLst/>
          </a:prstGeom>
          <a:solidFill>
            <a:srgbClr val="FFFFFF"/>
          </a:solidFill>
          <a:ln w="12700">
            <a:solidFill>
              <a:srgbClr val="DAD3C2"/>
            </a:solidFill>
            <a:prstDash val="solid"/>
          </a:ln>
        </p:spPr>
        <p:txBody>
          <a:bodyPr/>
          <a:p/>
        </p:txBody>
      </p:sp>
      <p:sp>
        <p:nvSpPr>
          <p:cNvPr id="10" name="Text 8"/>
          <p:cNvSpPr/>
          <p:nvPr/>
        </p:nvSpPr>
        <p:spPr>
          <a:xfrm>
            <a:off x="914400" y="2057400"/>
            <a:ext cx="10424160" cy="2194560"/>
          </a:xfrm>
          <a:prstGeom prst="rect">
            <a:avLst/>
          </a:prstGeom>
          <a:noFill/>
          <a:ln/>
        </p:spPr>
        <p:txBody>
          <a:bodyPr wrap="square" rtlCol="0" anchor="t"/>
          <a:lstStyle/>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Western expansion devastated American Indian communities through forced relocations, broken treaties, and the near-extinction of buffalo herds they depended upon.</a:t>
            </a:r>
            <a:endParaRPr lang="en-US" sz="1700" dirty="0"/>
          </a:p>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Immigrants, particularly Chinese workers who built much of the Central Pacific, faced discrimination despite their crucial contributions.</a:t>
            </a:r>
            <a:endParaRPr lang="en-US" sz="1700" dirty="0"/>
          </a:p>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"Buffalo Soldiers"—African American cavalry regiments—served on the frontier, including George Jordan of Williamson County, Tennessee, who received the Medal of Honor for his service.</a:t>
            </a:r>
            <a:endParaRPr lang="en-US" sz="1700" dirty="0"/>
          </a:p>
        </p:txBody>
      </p:sp>
      <p:sp>
        <p:nvSpPr>
          <p:cNvPr id="11" name="Shape 9"/>
          <p:cNvSpPr/>
          <p:nvPr/>
        </p:nvSpPr>
        <p:spPr>
          <a:xfrm>
            <a:off x="548640" y="4709160"/>
            <a:ext cx="11064240" cy="1143000"/>
          </a:xfrm>
          <a:prstGeom prst="roundRect">
            <a:avLst>
              <a:gd name="adj" fmla="val 6400"/>
            </a:avLst>
          </a:prstGeom>
          <a:solidFill>
            <a:srgbClr val="FBEFD0"/>
          </a:solidFill>
          <a:ln w="19050">
            <a:solidFill>
              <a:srgbClr val="C9A227"/>
            </a:solidFill>
            <a:prstDash val="solid"/>
          </a:ln>
        </p:spPr>
        <p:txBody>
          <a:bodyPr/>
          <a:p/>
        </p:txBody>
      </p:sp>
      <p:sp>
        <p:nvSpPr>
          <p:cNvPr id="12" name="Text 10"/>
          <p:cNvSpPr/>
          <p:nvPr/>
        </p:nvSpPr>
        <p:spPr>
          <a:xfrm>
            <a:off x="868680" y="4846320"/>
            <a:ext cx="5486400" cy="274320"/>
          </a:xfrm>
          <a:prstGeom prst="rect">
            <a:avLst/>
          </a:prstGeom>
          <a:noFill/>
          <a:ln/>
        </p:spPr>
        <p:txBody>
          <a:bodyPr wrap="square" rtlCol="0" anchor="ctr"/>
          <a:lstStyle/>
          <a:p>
            <a:pPr indent="0" marL="0">
              <a:buNone/>
            </a:pPr>
            <a:r>
              <a:rPr lang="en-US" sz="1200" b="1" spc="100" kern="0" dirty="0">
                <a:solidFill>
                  <a:srgbClr val="B22234"/>
                </a:solidFill>
                <a:latin typeface="Trebuchet MS" pitchFamily="34" charset="0"/>
                <a:ea typeface="Trebuchet MS" pitchFamily="34" charset="-122"/>
                <a:cs typeface="Trebuchet MS" pitchFamily="34" charset="-120"/>
              </a:rPr>
              <a:t>★ TENNESSEE CONNECTION</a:t>
            </a:r>
            <a:endParaRPr lang="en-US" sz="1200" dirty="0"/>
          </a:p>
        </p:txBody>
      </p:sp>
      <p:sp>
        <p:nvSpPr>
          <p:cNvPr id="13" name="Text 11"/>
          <p:cNvSpPr/>
          <p:nvPr/>
        </p:nvSpPr>
        <p:spPr>
          <a:xfrm>
            <a:off x="868680" y="5120640"/>
            <a:ext cx="10424160" cy="685800"/>
          </a:xfrm>
          <a:prstGeom prst="rect">
            <a:avLst/>
          </a:prstGeom>
          <a:noFill/>
          <a:ln/>
        </p:spPr>
        <p:txBody>
          <a:bodyPr wrap="square" rtlCol="0" anchor="t"/>
          <a:lstStyle/>
          <a:p>
            <a:pPr indent="0" marL="0">
              <a:lnSpc>
                <a:spcPct val="105000"/>
              </a:lnSpc>
              <a:buNone/>
            </a:pPr>
            <a:r>
              <a:rPr lang="en-US" sz="1300" dirty="0">
                <a:solidFill>
                  <a:srgbClr val="1F2430"/>
                </a:solidFill>
                <a:latin typeface="Calibri" pitchFamily="34" charset="0"/>
                <a:ea typeface="Calibri" pitchFamily="34" charset="-122"/>
                <a:cs typeface="Calibri" pitchFamily="34" charset="-120"/>
              </a:rPr>
              <a:t>Buffalo Soldier George Jordan of Williamson County, Tennessee earned the Medal of Honor for his frontier service — a direct Tennessee link to westward expansion.</a:t>
            </a:r>
            <a:endParaRPr lang="en-US" sz="1300" dirty="0"/>
          </a:p>
        </p:txBody>
      </p:sp>
      <p:sp>
        <p:nvSpPr>
          <p:cNvPr id="14" name="Text 12"/>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5"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285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002858"/>
                </a:solidFill>
                <a:latin typeface="Trebuchet MS" pitchFamily="34" charset="0"/>
                <a:ea typeface="Trebuchet MS" pitchFamily="34" charset="-122"/>
                <a:cs typeface="Trebuchet MS" pitchFamily="34" charset="-120"/>
              </a:rPr>
              <a:t>US.01 · PRIMARY SOURCE ANALYSIS</a:t>
            </a:r>
            <a:endParaRPr lang="en-US" sz="1200" dirty="0"/>
          </a:p>
        </p:txBody>
      </p:sp>
      <p:sp>
        <p:nvSpPr>
          <p:cNvPr id="4" name="Text 2"/>
          <p:cNvSpPr/>
          <p:nvPr/>
        </p:nvSpPr>
        <p:spPr>
          <a:xfrm>
            <a:off x="548640" y="731520"/>
            <a:ext cx="8686800" cy="640080"/>
          </a:xfrm>
          <a:prstGeom prst="rect">
            <a:avLst/>
          </a:prstGeom>
          <a:noFill/>
          <a:ln/>
        </p:spPr>
        <p:txBody>
          <a:bodyPr wrap="square" rtlCol="0" anchor="t"/>
          <a:lstStyle/>
          <a:p>
            <a:pPr indent="0" marL="0">
              <a:buNone/>
            </a:pPr>
            <a:r>
              <a:rPr lang="en-US" sz="2500" b="1" dirty="0">
                <a:solidFill>
                  <a:srgbClr val="1F3A5F"/>
                </a:solidFill>
                <a:latin typeface="Georgia" pitchFamily="34" charset="0"/>
                <a:ea typeface="Georgia" pitchFamily="34" charset="-122"/>
                <a:cs typeface="Georgia" pitchFamily="34" charset="-120"/>
              </a:rPr>
              <a:t>Homestead Act</a:t>
            </a:r>
            <a:endParaRPr lang="en-US" sz="2500" dirty="0"/>
          </a:p>
        </p:txBody>
      </p:sp>
      <p:sp>
        <p:nvSpPr>
          <p:cNvPr id="5" name="Shape 3"/>
          <p:cNvSpPr/>
          <p:nvPr/>
        </p:nvSpPr>
        <p:spPr>
          <a:xfrm>
            <a:off x="9418320" y="777240"/>
            <a:ext cx="2194560" cy="457200"/>
          </a:xfrm>
          <a:prstGeom prst="roundRect">
            <a:avLst>
              <a:gd name="adj" fmla="val 20000"/>
            </a:avLst>
          </a:prstGeom>
          <a:solidFill>
            <a:srgbClr val="002858"/>
          </a:solidFill>
          <a:ln/>
        </p:spPr>
        <p:txBody>
          <a:bodyPr/>
          <a:p/>
        </p:txBody>
      </p:sp>
      <p:sp>
        <p:nvSpPr>
          <p:cNvPr id="6" name="Text 4"/>
          <p:cNvSpPr/>
          <p:nvPr/>
        </p:nvSpPr>
        <p:spPr>
          <a:xfrm>
            <a:off x="9418320" y="777240"/>
            <a:ext cx="219456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Close Reading</a:t>
            </a:r>
            <a:endParaRPr lang="en-US" sz="1200" dirty="0"/>
          </a:p>
        </p:txBody>
      </p:sp>
      <p:sp>
        <p:nvSpPr>
          <p:cNvPr id="7" name="Text 5"/>
          <p:cNvSpPr/>
          <p:nvPr/>
        </p:nvSpPr>
        <p:spPr>
          <a:xfrm>
            <a:off x="548640" y="1335024"/>
            <a:ext cx="10058400" cy="274320"/>
          </a:xfrm>
          <a:prstGeom prst="rect">
            <a:avLst/>
          </a:prstGeom>
          <a:noFill/>
          <a:ln/>
        </p:spPr>
        <p:txBody>
          <a:bodyPr wrap="square" rtlCol="0" anchor="ctr"/>
          <a:lstStyle/>
          <a:p>
            <a:pPr indent="0" marL="0">
              <a:buNone/>
            </a:pPr>
            <a:r>
              <a:rPr lang="en-US" sz="1200" i="1" dirty="0">
                <a:solidFill>
                  <a:srgbClr val="5C6470"/>
                </a:solidFill>
                <a:latin typeface="Calibri" pitchFamily="34" charset="0"/>
                <a:ea typeface="Calibri" pitchFamily="34" charset="-122"/>
                <a:cs typeface="Calibri" pitchFamily="34" charset="-120"/>
              </a:rPr>
              <a:t>U.S. Congress  ·  May 20, 1862 (12 Stat. 392)</a:t>
            </a:r>
            <a:endParaRPr lang="en-US" sz="1200" dirty="0"/>
          </a:p>
        </p:txBody>
      </p:sp>
      <p:sp>
        <p:nvSpPr>
          <p:cNvPr id="8" name="Shape 6"/>
          <p:cNvSpPr/>
          <p:nvPr/>
        </p:nvSpPr>
        <p:spPr>
          <a:xfrm>
            <a:off x="512064" y="1700784"/>
            <a:ext cx="3273552" cy="2660904"/>
          </a:xfrm>
          <a:prstGeom prst="rect">
            <a:avLst/>
          </a:prstGeom>
          <a:solidFill>
            <a:srgbClr val="FFFFFF"/>
          </a:solidFill>
          <a:ln w="12700">
            <a:solidFill>
              <a:srgbClr val="DAD3C2"/>
            </a:solidFill>
            <a:prstDash val="solid"/>
          </a:ln>
        </p:spPr>
        <p:txBody>
          <a:bodyPr/>
          <a:p/>
        </p:txBody>
      </p:sp>
      <p:pic>
        <p:nvPicPr>
          <p:cNvPr id="9" name="Image 0" descr="U.S. Congress  ·  May 20, 1862 (12 Stat. 392)">    </p:cNvPr>
          <p:cNvPicPr>
            <a:picLocks noChangeAspect="1"/>
          </p:cNvPicPr>
          <p:nvPr/>
        </p:nvPicPr>
        <p:blipFill>
          <a:blip r:embed="rId1"/>
          <a:srcRect l="0" r="0" t="0" b="0"/>
          <a:stretch/>
        </p:blipFill>
        <p:spPr>
          <a:xfrm>
            <a:off x="548640" y="1737360"/>
            <a:ext cx="3200400" cy="2587752"/>
          </a:xfrm>
          <a:prstGeom prst="rect">
            <a:avLst/>
          </a:prstGeom>
        </p:spPr>
      </p:pic>
      <p:sp>
        <p:nvSpPr>
          <p:cNvPr id="10" name="Text 7"/>
          <p:cNvSpPr/>
          <p:nvPr/>
        </p:nvSpPr>
        <p:spPr>
          <a:xfrm>
            <a:off x="548640" y="4379976"/>
            <a:ext cx="3200400" cy="603504"/>
          </a:xfrm>
          <a:prstGeom prst="rect">
            <a:avLst/>
          </a:prstGeom>
          <a:noFill/>
          <a:ln/>
        </p:spPr>
        <p:txBody>
          <a:bodyPr wrap="square" rtlCol="0" anchor="t"/>
          <a:lstStyle/>
          <a:p>
            <a:pPr algn="l" indent="0" marL="0">
              <a:lnSpc>
                <a:spcPct val="100000"/>
              </a:lnSpc>
              <a:buNone/>
            </a:pPr>
            <a:pPr algn="l" indent="0" marL="0">
              <a:lnSpc>
                <a:spcPct val="100000"/>
              </a:lnSpc>
              <a:buNone/>
            </a:pPr>
            <a:r>
              <a:rPr lang="en-US" sz="900" i="1" dirty="0">
                <a:solidFill>
                  <a:srgbClr val="5C6470"/>
                </a:solidFill>
                <a:latin typeface="Calibri" pitchFamily="34" charset="0"/>
                <a:ea typeface="Calibri" pitchFamily="34" charset="-122"/>
                <a:cs typeface="Calibri" pitchFamily="34" charset="-120"/>
              </a:rPr>
              <a:t>Solomon D. Butcher, 1886  </a:t>
            </a:r>
            <a:pPr algn="l" indent="0" marL="0">
              <a:lnSpc>
                <a:spcPct val="100000"/>
              </a:lnSpc>
              <a:buNone/>
            </a:pPr>
            <a:r>
              <a:rPr lang="en-US" sz="9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750" dirty="0"/>
          </a:p>
        </p:txBody>
      </p:sp>
      <p:sp>
        <p:nvSpPr>
          <p:cNvPr id="11" name="Shape 8"/>
          <p:cNvSpPr/>
          <p:nvPr/>
        </p:nvSpPr>
        <p:spPr>
          <a:xfrm>
            <a:off x="658368" y="1828800"/>
            <a:ext cx="2980944" cy="512064"/>
          </a:xfrm>
          <a:prstGeom prst="roundRect">
            <a:avLst>
              <a:gd name="adj" fmla="val 10714"/>
            </a:avLst>
          </a:prstGeom>
          <a:solidFill>
            <a:srgbClr val="C9A227"/>
          </a:solidFill>
          <a:ln w="12700">
            <a:solidFill>
              <a:srgbClr val="1F3A5F"/>
            </a:solidFill>
            <a:prstDash val="solid"/>
          </a:ln>
        </p:spPr>
        <p:txBody>
          <a:bodyPr/>
          <a:p/>
        </p:txBody>
      </p:sp>
      <p:sp>
        <p:nvSpPr>
          <p:cNvPr id="12" name="Text 9"/>
          <p:cNvSpPr/>
          <p:nvPr/>
        </p:nvSpPr>
        <p:spPr>
          <a:xfrm>
            <a:off x="768096" y="1865376"/>
            <a:ext cx="2761488" cy="438912"/>
          </a:xfrm>
          <a:prstGeom prst="rect">
            <a:avLst/>
          </a:prstGeom>
          <a:noFill/>
          <a:ln/>
        </p:spPr>
        <p:txBody>
          <a:bodyPr wrap="square" rtlCol="0" anchor="ctr"/>
          <a:lstStyle/>
          <a:p>
            <a:pPr indent="0" marL="0">
              <a:lnSpc>
                <a:spcPct val="95000"/>
              </a:lnSpc>
              <a:buNone/>
            </a:pPr>
            <a:r>
              <a:rPr lang="en-US" sz="950" b="1" spc="150" kern="0" dirty="0">
                <a:solidFill>
                  <a:srgbClr val="1F3A5F"/>
                </a:solidFill>
                <a:latin typeface="Trebuchet MS" pitchFamily="34" charset="0"/>
                <a:ea typeface="Trebuchet MS" pitchFamily="34" charset="-122"/>
                <a:cs typeface="Trebuchet MS" pitchFamily="34" charset="-120"/>
              </a:rPr>
              <a:t>ZOOM IN  </a:t>
            </a:r>
            <a:pPr indent="0" marL="0">
              <a:lnSpc>
                <a:spcPct val="95000"/>
              </a:lnSpc>
              <a:buNone/>
            </a:pPr>
            <a:r>
              <a:rPr lang="en-US" sz="900" i="1" dirty="0">
                <a:solidFill>
                  <a:srgbClr val="1F3A5F"/>
                </a:solidFill>
                <a:latin typeface="Calibri" pitchFamily="34" charset="0"/>
                <a:ea typeface="Calibri" pitchFamily="34" charset="-122"/>
                <a:cs typeface="Calibri" pitchFamily="34" charset="-120"/>
              </a:rPr>
              <a:t>Find ONE detail that surprises you — be ready to name it.</a:t>
            </a:r>
            <a:endParaRPr lang="en-US" sz="950" dirty="0"/>
          </a:p>
        </p:txBody>
      </p:sp>
      <p:sp>
        <p:nvSpPr>
          <p:cNvPr id="13" name="Shape 10"/>
          <p:cNvSpPr/>
          <p:nvPr/>
        </p:nvSpPr>
        <p:spPr>
          <a:xfrm>
            <a:off x="3931920" y="1737360"/>
            <a:ext cx="3520440" cy="3246120"/>
          </a:xfrm>
          <a:prstGeom prst="rect">
            <a:avLst/>
          </a:prstGeom>
          <a:solidFill>
            <a:srgbClr val="FFFFFF"/>
          </a:solidFill>
          <a:ln w="12700">
            <a:solidFill>
              <a:srgbClr val="DAD3C2"/>
            </a:solidFill>
            <a:prstDash val="solid"/>
          </a:ln>
        </p:spPr>
        <p:txBody>
          <a:bodyPr/>
          <a:p/>
        </p:txBody>
      </p:sp>
      <p:sp>
        <p:nvSpPr>
          <p:cNvPr id="14" name="Shape 11"/>
          <p:cNvSpPr/>
          <p:nvPr/>
        </p:nvSpPr>
        <p:spPr>
          <a:xfrm>
            <a:off x="3931920" y="1737360"/>
            <a:ext cx="91440" cy="3246120"/>
          </a:xfrm>
          <a:prstGeom prst="rect">
            <a:avLst/>
          </a:prstGeom>
          <a:solidFill>
            <a:srgbClr val="C9A227"/>
          </a:solidFill>
          <a:ln/>
        </p:spPr>
        <p:txBody>
          <a:bodyPr/>
          <a:p/>
        </p:txBody>
      </p:sp>
      <p:sp>
        <p:nvSpPr>
          <p:cNvPr id="15" name="Text 12"/>
          <p:cNvSpPr/>
          <p:nvPr/>
        </p:nvSpPr>
        <p:spPr>
          <a:xfrm>
            <a:off x="4160520" y="1920240"/>
            <a:ext cx="3200400" cy="2880360"/>
          </a:xfrm>
          <a:prstGeom prst="rect">
            <a:avLst/>
          </a:prstGeom>
          <a:noFill/>
          <a:ln/>
        </p:spPr>
        <p:txBody>
          <a:bodyPr wrap="square" rtlCol="0" anchor="t"/>
          <a:lstStyle/>
          <a:p>
            <a:pPr indent="0" marL="0">
              <a:lnSpc>
                <a:spcPct val="112000"/>
              </a:lnSpc>
              <a:buNone/>
            </a:pPr>
            <a:r>
              <a:rPr lang="en-US" sz="1250" i="1" dirty="0">
                <a:solidFill>
                  <a:srgbClr val="1F2430"/>
                </a:solidFill>
                <a:latin typeface="Georgia" pitchFamily="34" charset="0"/>
                <a:ea typeface="Georgia" pitchFamily="34" charset="-122"/>
                <a:cs typeface="Georgia" pitchFamily="34" charset="-120"/>
              </a:rPr>
              <a:t>"Any person who is the head of a family, or who has arrived at the age of twenty-one years, and is a citizen of the United States, or who shall have filed his declaration of intention to become such... shall be entitled to enter one quarter section [160 acres] of unappropriated public lands."</a:t>
            </a:r>
            <a:endParaRPr lang="en-US" sz="1250" dirty="0"/>
          </a:p>
        </p:txBody>
      </p:sp>
      <p:sp>
        <p:nvSpPr>
          <p:cNvPr id="16" name="Shape 13"/>
          <p:cNvSpPr/>
          <p:nvPr/>
        </p:nvSpPr>
        <p:spPr>
          <a:xfrm>
            <a:off x="7589520" y="1737360"/>
            <a:ext cx="4023360" cy="1463040"/>
          </a:xfrm>
          <a:prstGeom prst="roundRect">
            <a:avLst>
              <a:gd name="adj" fmla="val 5000"/>
            </a:avLst>
          </a:prstGeom>
          <a:solidFill>
            <a:srgbClr val="1F3A5F"/>
          </a:solidFill>
          <a:ln/>
        </p:spPr>
        <p:txBody>
          <a:bodyPr/>
          <a:p/>
        </p:txBody>
      </p:sp>
      <p:sp>
        <p:nvSpPr>
          <p:cNvPr id="17" name="Text 14"/>
          <p:cNvSpPr/>
          <p:nvPr/>
        </p:nvSpPr>
        <p:spPr>
          <a:xfrm>
            <a:off x="7818120" y="1856232"/>
            <a:ext cx="3657600" cy="274320"/>
          </a:xfrm>
          <a:prstGeom prst="rect">
            <a:avLst/>
          </a:prstGeom>
          <a:noFill/>
          <a:ln/>
        </p:spPr>
        <p:txBody>
          <a:bodyPr wrap="square" rtlCol="0" anchor="ctr"/>
          <a:lstStyle/>
          <a:p>
            <a:pPr indent="0" marL="0">
              <a:buNone/>
            </a:pPr>
            <a:r>
              <a:rPr lang="en-US" sz="1100" b="1" spc="200" kern="0" dirty="0">
                <a:solidFill>
                  <a:srgbClr val="F9A825"/>
                </a:solidFill>
                <a:latin typeface="Trebuchet MS" pitchFamily="34" charset="0"/>
                <a:ea typeface="Trebuchet MS" pitchFamily="34" charset="-122"/>
                <a:cs typeface="Trebuchet MS" pitchFamily="34" charset="-120"/>
              </a:rPr>
              <a:t>CONTEXT</a:t>
            </a:r>
            <a:endParaRPr lang="en-US" sz="1100" dirty="0"/>
          </a:p>
        </p:txBody>
      </p:sp>
      <p:sp>
        <p:nvSpPr>
          <p:cNvPr id="18" name="Text 15"/>
          <p:cNvSpPr/>
          <p:nvPr/>
        </p:nvSpPr>
        <p:spPr>
          <a:xfrm>
            <a:off x="7818120" y="2139696"/>
            <a:ext cx="3611880" cy="950976"/>
          </a:xfrm>
          <a:prstGeom prst="rect">
            <a:avLst/>
          </a:prstGeom>
          <a:noFill/>
          <a:ln/>
        </p:spPr>
        <p:txBody>
          <a:bodyPr wrap="square" rtlCol="0" anchor="t"/>
          <a:lstStyle/>
          <a:p>
            <a:pPr indent="0" marL="0">
              <a:lnSpc>
                <a:spcPct val="98000"/>
              </a:lnSpc>
              <a:buNone/>
            </a:pPr>
            <a:r>
              <a:rPr lang="en-US" sz="1050" dirty="0">
                <a:solidFill>
                  <a:srgbClr val="FFFFFF"/>
                </a:solidFill>
                <a:latin typeface="Calibri" pitchFamily="34" charset="0"/>
                <a:ea typeface="Calibri" pitchFamily="34" charset="-122"/>
                <a:cs typeface="Calibri" pitchFamily="34" charset="-120"/>
              </a:rPr>
              <a:t>Passed during the Civil War, the Homestead Act offered western land to encourage settlement and strengthen Union-aligned development of the frontier.</a:t>
            </a:r>
            <a:endParaRPr lang="en-US" sz="1050" dirty="0"/>
          </a:p>
        </p:txBody>
      </p:sp>
      <p:sp>
        <p:nvSpPr>
          <p:cNvPr id="19" name="Shape 16"/>
          <p:cNvSpPr/>
          <p:nvPr/>
        </p:nvSpPr>
        <p:spPr>
          <a:xfrm>
            <a:off x="7589520" y="3383280"/>
            <a:ext cx="4023360" cy="1600200"/>
          </a:xfrm>
          <a:prstGeom prst="roundRect">
            <a:avLst>
              <a:gd name="adj" fmla="val 4571"/>
            </a:avLst>
          </a:prstGeom>
          <a:solidFill>
            <a:srgbClr val="C9A227"/>
          </a:solidFill>
          <a:ln/>
        </p:spPr>
        <p:txBody>
          <a:bodyPr/>
          <a:p/>
        </p:txBody>
      </p:sp>
      <p:sp>
        <p:nvSpPr>
          <p:cNvPr id="20" name="Text 17"/>
          <p:cNvSpPr/>
          <p:nvPr/>
        </p:nvSpPr>
        <p:spPr>
          <a:xfrm>
            <a:off x="7818120" y="3502152"/>
            <a:ext cx="3657600" cy="274320"/>
          </a:xfrm>
          <a:prstGeom prst="rect">
            <a:avLst/>
          </a:prstGeom>
          <a:noFill/>
          <a:ln/>
        </p:spPr>
        <p:txBody>
          <a:bodyPr wrap="square" rtlCol="0" anchor="ctr"/>
          <a:lstStyle/>
          <a:p>
            <a:pPr indent="0" marL="0">
              <a:buNone/>
            </a:pPr>
            <a:r>
              <a:rPr lang="en-US" sz="1100" b="1" spc="200" kern="0" dirty="0">
                <a:solidFill>
                  <a:srgbClr val="1F3A5F"/>
                </a:solidFill>
                <a:latin typeface="Trebuchet MS" pitchFamily="34" charset="0"/>
                <a:ea typeface="Trebuchet MS" pitchFamily="34" charset="-122"/>
                <a:cs typeface="Trebuchet MS" pitchFamily="34" charset="-120"/>
              </a:rPr>
              <a:t>ANALYZE</a:t>
            </a:r>
            <a:endParaRPr lang="en-US" sz="1100" dirty="0"/>
          </a:p>
        </p:txBody>
      </p:sp>
      <p:sp>
        <p:nvSpPr>
          <p:cNvPr id="21" name="Text 18"/>
          <p:cNvSpPr/>
          <p:nvPr/>
        </p:nvSpPr>
        <p:spPr>
          <a:xfrm>
            <a:off x="7818120" y="3803904"/>
            <a:ext cx="3611880" cy="1069848"/>
          </a:xfrm>
          <a:prstGeom prst="rect">
            <a:avLst/>
          </a:prstGeom>
          <a:noFill/>
          <a:ln/>
        </p:spPr>
        <p:txBody>
          <a:bodyPr wrap="square" rtlCol="0" anchor="t"/>
          <a:lstStyle/>
          <a:p>
            <a:pPr indent="0" marL="0">
              <a:lnSpc>
                <a:spcPct val="103000"/>
              </a:lnSpc>
              <a:buNone/>
            </a:pPr>
            <a:r>
              <a:rPr lang="en-US" sz="1200" b="1" dirty="0">
                <a:solidFill>
                  <a:srgbClr val="1F3A5F"/>
                </a:solidFill>
                <a:latin typeface="Calibri" pitchFamily="34" charset="0"/>
                <a:ea typeface="Calibri" pitchFamily="34" charset="-122"/>
                <a:cs typeface="Calibri" pitchFamily="34" charset="-120"/>
              </a:rPr>
              <a:t>A homesteading family and a Lakota family in 1875 would most likely have described the Homestead Act in very different ways. Which statement best explains why?</a:t>
            </a:r>
            <a:endParaRPr lang="en-US" sz="1200" dirty="0"/>
          </a:p>
        </p:txBody>
      </p:sp>
      <p:sp>
        <p:nvSpPr>
          <p:cNvPr id="22" name="Shape 19"/>
          <p:cNvSpPr/>
          <p:nvPr/>
        </p:nvSpPr>
        <p:spPr>
          <a:xfrm>
            <a:off x="548640" y="5120640"/>
            <a:ext cx="11064240" cy="841248"/>
          </a:xfrm>
          <a:prstGeom prst="rect">
            <a:avLst/>
          </a:prstGeom>
          <a:solidFill>
            <a:srgbClr val="FFFFFF"/>
          </a:solidFill>
          <a:ln w="15875">
            <a:solidFill>
              <a:srgbClr val="002858"/>
            </a:solidFill>
            <a:prstDash val="solid"/>
          </a:ln>
        </p:spPr>
        <p:txBody>
          <a:bodyPr/>
          <a:p/>
        </p:txBody>
      </p:sp>
      <p:sp>
        <p:nvSpPr>
          <p:cNvPr id="23" name="Shape 20"/>
          <p:cNvSpPr/>
          <p:nvPr/>
        </p:nvSpPr>
        <p:spPr>
          <a:xfrm>
            <a:off x="548640" y="5120640"/>
            <a:ext cx="2423160" cy="841248"/>
          </a:xfrm>
          <a:prstGeom prst="rect">
            <a:avLst/>
          </a:prstGeom>
          <a:solidFill>
            <a:srgbClr val="002858"/>
          </a:solidFill>
          <a:ln/>
        </p:spPr>
        <p:txBody>
          <a:bodyPr/>
          <a:p/>
        </p:txBody>
      </p:sp>
      <p:sp>
        <p:nvSpPr>
          <p:cNvPr id="24" name="Text 21"/>
          <p:cNvSpPr/>
          <p:nvPr/>
        </p:nvSpPr>
        <p:spPr>
          <a:xfrm>
            <a:off x="658368" y="5239512"/>
            <a:ext cx="2194560" cy="274320"/>
          </a:xfrm>
          <a:prstGeom prst="rect">
            <a:avLst/>
          </a:prstGeom>
          <a:noFill/>
          <a:ln/>
        </p:spPr>
        <p:txBody>
          <a:bodyPr wrap="square" rtlCol="0" anchor="ctr"/>
          <a:lstStyle/>
          <a:p>
            <a:pPr indent="0" marL="0">
              <a:buNone/>
            </a:pPr>
            <a:r>
              <a:rPr lang="en-US" sz="1250" b="1" spc="100" kern="0" dirty="0">
                <a:solidFill>
                  <a:srgbClr val="FFFFFF"/>
                </a:solidFill>
                <a:latin typeface="Trebuchet MS" pitchFamily="34" charset="0"/>
                <a:ea typeface="Trebuchet MS" pitchFamily="34" charset="-122"/>
                <a:cs typeface="Trebuchet MS" pitchFamily="34" charset="-120"/>
              </a:rPr>
              <a:t>SOURCE IT</a:t>
            </a:r>
            <a:endParaRPr lang="en-US" sz="1250" dirty="0"/>
          </a:p>
        </p:txBody>
      </p:sp>
      <p:sp>
        <p:nvSpPr>
          <p:cNvPr id="25" name="Text 22"/>
          <p:cNvSpPr/>
          <p:nvPr/>
        </p:nvSpPr>
        <p:spPr>
          <a:xfrm>
            <a:off x="658368" y="5486400"/>
            <a:ext cx="2194560" cy="274320"/>
          </a:xfrm>
          <a:prstGeom prst="rect">
            <a:avLst/>
          </a:prstGeom>
          <a:noFill/>
          <a:ln/>
        </p:spPr>
        <p:txBody>
          <a:bodyPr wrap="square" rtlCol="0" anchor="ctr"/>
          <a:lstStyle/>
          <a:p>
            <a:pPr indent="0" marL="0">
              <a:buNone/>
            </a:pPr>
            <a:r>
              <a:rPr lang="en-US" sz="1250" b="1" spc="100" kern="0" dirty="0">
                <a:solidFill>
                  <a:srgbClr val="F9A825"/>
                </a:solidFill>
                <a:latin typeface="Trebuchet MS" pitchFamily="34" charset="0"/>
                <a:ea typeface="Trebuchet MS" pitchFamily="34" charset="-122"/>
                <a:cs typeface="Trebuchet MS" pitchFamily="34" charset="-120"/>
              </a:rPr>
              <a:t>FIRST</a:t>
            </a:r>
            <a:endParaRPr lang="en-US" sz="1250" dirty="0"/>
          </a:p>
        </p:txBody>
      </p:sp>
      <p:sp>
        <p:nvSpPr>
          <p:cNvPr id="26" name="Text 23"/>
          <p:cNvSpPr/>
          <p:nvPr/>
        </p:nvSpPr>
        <p:spPr>
          <a:xfrm>
            <a:off x="658368" y="5724144"/>
            <a:ext cx="2240280" cy="201168"/>
          </a:xfrm>
          <a:prstGeom prst="rect">
            <a:avLst/>
          </a:prstGeom>
          <a:noFill/>
          <a:ln/>
        </p:spPr>
        <p:txBody>
          <a:bodyPr wrap="square" rtlCol="0" anchor="ctr"/>
          <a:lstStyle/>
          <a:p>
            <a:pPr indent="0" marL="0">
              <a:buNone/>
            </a:pPr>
            <a:r>
              <a:rPr lang="en-US" sz="900" i="1" dirty="0">
                <a:solidFill>
                  <a:srgbClr val="C7D4E0"/>
                </a:solidFill>
                <a:latin typeface="Calibri" pitchFamily="34" charset="0"/>
                <a:ea typeface="Calibri" pitchFamily="34" charset="-122"/>
                <a:cs typeface="Calibri" pitchFamily="34" charset="-120"/>
              </a:rPr>
              <a:t>SSP.02 · before you interpret</a:t>
            </a:r>
            <a:endParaRPr lang="en-US" sz="750" dirty="0"/>
          </a:p>
        </p:txBody>
      </p:sp>
      <p:sp>
        <p:nvSpPr>
          <p:cNvPr id="27" name="Text 24"/>
          <p:cNvSpPr/>
          <p:nvPr/>
        </p:nvSpPr>
        <p:spPr>
          <a:xfrm>
            <a:off x="315468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WHO made it?</a:t>
            </a:r>
            <a:endParaRPr lang="en-US" sz="900" dirty="0"/>
          </a:p>
        </p:txBody>
      </p:sp>
      <p:sp>
        <p:nvSpPr>
          <p:cNvPr id="28" name="Text 25"/>
          <p:cNvSpPr/>
          <p:nvPr/>
        </p:nvSpPr>
        <p:spPr>
          <a:xfrm>
            <a:off x="3154680" y="5431536"/>
            <a:ext cx="2743200" cy="457200"/>
          </a:xfrm>
          <a:prstGeom prst="rect">
            <a:avLst/>
          </a:prstGeom>
          <a:noFill/>
          <a:ln/>
        </p:spPr>
        <p:txBody>
          <a:bodyPr wrap="square" rtlCol="0" anchor="t"/>
          <a:lstStyle/>
          <a:p>
            <a:pPr indent="0" marL="0">
              <a:lnSpc>
                <a:spcPct val="98000"/>
              </a:lnSpc>
              <a:buNone/>
            </a:pPr>
            <a:r>
              <a:rPr lang="en-US" sz="950" dirty="0">
                <a:solidFill>
                  <a:srgbClr val="1F2430"/>
                </a:solidFill>
                <a:latin typeface="Calibri" pitchFamily="34" charset="0"/>
                <a:ea typeface="Calibri" pitchFamily="34" charset="-122"/>
                <a:cs typeface="Calibri" pitchFamily="34" charset="-120"/>
              </a:rPr>
              <a:t>U.S. Congress (federal statute).</a:t>
            </a:r>
            <a:endParaRPr lang="en-US" sz="950" dirty="0"/>
          </a:p>
        </p:txBody>
      </p:sp>
      <p:sp>
        <p:nvSpPr>
          <p:cNvPr id="29" name="Text 26"/>
          <p:cNvSpPr/>
          <p:nvPr/>
        </p:nvSpPr>
        <p:spPr>
          <a:xfrm>
            <a:off x="594360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WHEN?</a:t>
            </a:r>
            <a:endParaRPr lang="en-US" sz="900" dirty="0"/>
          </a:p>
        </p:txBody>
      </p:sp>
      <p:sp>
        <p:nvSpPr>
          <p:cNvPr id="30" name="Text 27"/>
          <p:cNvSpPr/>
          <p:nvPr/>
        </p:nvSpPr>
        <p:spPr>
          <a:xfrm>
            <a:off x="5943600" y="5431536"/>
            <a:ext cx="2743200" cy="457200"/>
          </a:xfrm>
          <a:prstGeom prst="rect">
            <a:avLst/>
          </a:prstGeom>
          <a:noFill/>
          <a:ln/>
        </p:spPr>
        <p:txBody>
          <a:bodyPr wrap="square" rtlCol="0" anchor="t"/>
          <a:lstStyle/>
          <a:p>
            <a:pPr indent="0" marL="0">
              <a:lnSpc>
                <a:spcPct val="98000"/>
              </a:lnSpc>
              <a:buNone/>
            </a:pPr>
            <a:r>
              <a:rPr lang="en-US" sz="950" dirty="0">
                <a:solidFill>
                  <a:srgbClr val="1F2430"/>
                </a:solidFill>
                <a:latin typeface="Calibri" pitchFamily="34" charset="0"/>
                <a:ea typeface="Calibri" pitchFamily="34" charset="-122"/>
                <a:cs typeface="Calibri" pitchFamily="34" charset="-120"/>
              </a:rPr>
              <a:t>1862, during the Civil War.</a:t>
            </a:r>
            <a:endParaRPr lang="en-US" sz="950" dirty="0"/>
          </a:p>
        </p:txBody>
      </p:sp>
      <p:sp>
        <p:nvSpPr>
          <p:cNvPr id="31" name="Text 28"/>
          <p:cNvSpPr/>
          <p:nvPr/>
        </p:nvSpPr>
        <p:spPr>
          <a:xfrm>
            <a:off x="873252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WHY does it matter?</a:t>
            </a:r>
            <a:endParaRPr lang="en-US" sz="900" dirty="0"/>
          </a:p>
        </p:txBody>
      </p:sp>
      <p:sp>
        <p:nvSpPr>
          <p:cNvPr id="32" name="Text 29"/>
          <p:cNvSpPr/>
          <p:nvPr/>
        </p:nvSpPr>
        <p:spPr>
          <a:xfrm>
            <a:off x="8732520" y="5431536"/>
            <a:ext cx="2743200" cy="457200"/>
          </a:xfrm>
          <a:prstGeom prst="rect">
            <a:avLst/>
          </a:prstGeom>
          <a:noFill/>
          <a:ln/>
        </p:spPr>
        <p:txBody>
          <a:bodyPr wrap="square" rtlCol="0" anchor="t"/>
          <a:lstStyle/>
          <a:p>
            <a:pPr indent="0" marL="0">
              <a:lnSpc>
                <a:spcPct val="98000"/>
              </a:lnSpc>
              <a:buNone/>
            </a:pPr>
            <a:r>
              <a:rPr lang="en-US" sz="950" dirty="0">
                <a:solidFill>
                  <a:srgbClr val="1F2430"/>
                </a:solidFill>
                <a:latin typeface="Calibri" pitchFamily="34" charset="0"/>
                <a:ea typeface="Calibri" pitchFamily="34" charset="-122"/>
                <a:cs typeface="Calibri" pitchFamily="34" charset="-120"/>
              </a:rPr>
              <a:t>A law reveals the government’s intent — ask who benefits and who is left out.</a:t>
            </a:r>
            <a:endParaRPr lang="en-US" sz="950" dirty="0"/>
          </a:p>
        </p:txBody>
      </p:sp>
      <p:sp>
        <p:nvSpPr>
          <p:cNvPr id="33" name="Text 30"/>
          <p:cNvSpPr/>
          <p:nvPr/>
        </p:nvSpPr>
        <p:spPr>
          <a:xfrm>
            <a:off x="548640" y="6053328"/>
            <a:ext cx="6858000" cy="274320"/>
          </a:xfrm>
          <a:prstGeom prst="rect">
            <a:avLst/>
          </a:prstGeom>
          <a:noFill/>
          <a:ln/>
        </p:spPr>
        <p:txBody>
          <a:bodyPr wrap="square" rtlCol="0" anchor="ctr"/>
          <a:lstStyle/>
          <a:p>
            <a:pPr algn="l" indent="0" marL="0">
              <a:buNone/>
            </a:pPr>
            <a:r>
              <a:rPr lang="en-US" sz="900" dirty="0">
                <a:solidFill>
                  <a:srgbClr val="5C6470"/>
                </a:solidFill>
                <a:latin typeface="Calibri" pitchFamily="34" charset="0"/>
                <a:ea typeface="Calibri" pitchFamily="34" charset="-122"/>
                <a:cs typeface="Calibri" pitchFamily="34" charset="-120"/>
              </a:rPr>
              <a:t>Source: </a:t>
            </a:r>
            <a:pPr algn="l" indent="0" marL="0">
              <a:buNone/>
            </a:pPr>
            <a:r>
              <a:rPr lang="en-US" sz="900" i="1" u="sng" dirty="0">
                <a:solidFill>
                  <a:srgbClr val="002858"/>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National Archives</a:t>
            </a:r>
            <a:endParaRPr lang="en-US" sz="900" dirty="0"/>
          </a:p>
        </p:txBody>
      </p:sp>
      <p:sp>
        <p:nvSpPr>
          <p:cNvPr id="35" name="Text 31"/>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6" name="Text 3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F3A5F"/>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B22234"/>
                </a:solidFill>
                <a:latin typeface="Trebuchet MS" pitchFamily="34" charset="0"/>
                <a:ea typeface="Trebuchet MS" pitchFamily="34" charset="-122"/>
                <a:cs typeface="Trebuchet MS" pitchFamily="34" charset="-120"/>
              </a:rPr>
              <a:t>US.01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F3A5F"/>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txBody>
          <a:bodyPr/>
          <a:p/>
        </p:txBody>
      </p:sp>
      <p:sp>
        <p:nvSpPr>
          <p:cNvPr id="6" name="Shape 4"/>
          <p:cNvSpPr/>
          <p:nvPr/>
        </p:nvSpPr>
        <p:spPr>
          <a:xfrm>
            <a:off x="548640" y="1645920"/>
            <a:ext cx="5486400" cy="676656"/>
          </a:xfrm>
          <a:prstGeom prst="rect">
            <a:avLst/>
          </a:prstGeom>
          <a:solidFill>
            <a:srgbClr val="1F3A5F"/>
          </a:solidFill>
          <a:ln/>
        </p:spPr>
        <p:txBody>
          <a:bodyPr/>
          <a:p/>
        </p:txBody>
      </p:sp>
      <p:sp>
        <p:nvSpPr>
          <p:cNvPr id="7" name="Text 5"/>
          <p:cNvSpPr/>
          <p:nvPr/>
        </p:nvSpPr>
        <p:spPr>
          <a:xfrm>
            <a:off x="685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Homestead Act</a:t>
            </a:r>
            <a:endParaRPr lang="en-US" sz="1350" dirty="0"/>
          </a:p>
        </p:txBody>
      </p:sp>
      <p:sp>
        <p:nvSpPr>
          <p:cNvPr id="8" name="Text 6"/>
          <p:cNvSpPr/>
          <p:nvPr/>
        </p:nvSpPr>
        <p:spPr>
          <a:xfrm>
            <a:off x="685800" y="2011680"/>
            <a:ext cx="2880360" cy="256032"/>
          </a:xfrm>
          <a:prstGeom prst="rect">
            <a:avLst/>
          </a:prstGeom>
          <a:noFill/>
          <a:ln/>
        </p:spPr>
        <p:txBody>
          <a:bodyPr wrap="square" rtlCol="0" anchor="ctr">
            <a:normAutofit/>
          </a:bodyPr>
          <a:lstStyle/>
          <a:p>
            <a:pPr indent="0" marL="0">
              <a:buNone/>
            </a:pPr>
            <a:r>
              <a:rPr lang="en-US" sz="90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HOHM-sted</a:t>
            </a:r>
            <a:endParaRPr lang="en-US" sz="850" dirty="0"/>
          </a:p>
        </p:txBody>
      </p:sp>
      <p:sp>
        <p:nvSpPr>
          <p:cNvPr id="9" name="Text 7"/>
          <p:cNvSpPr/>
          <p:nvPr/>
        </p:nvSpPr>
        <p:spPr>
          <a:xfrm>
            <a:off x="3703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Ley de Homestead</a:t>
            </a:r>
            <a:endParaRPr lang="en-US" sz="1000" dirty="0"/>
          </a:p>
        </p:txBody>
      </p:sp>
      <p:sp>
        <p:nvSpPr>
          <p:cNvPr id="12" name="Text 10"/>
          <p:cNvSpPr/>
          <p:nvPr/>
        </p:nvSpPr>
        <p:spPr>
          <a:xfrm>
            <a:off x="667512" y="2395728"/>
            <a:ext cx="5239512"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An 1862 law that provided 160 acres of public land to settlers who agreed to live on and improve the land for five years, encouraging westward expansion.</a:t>
            </a:r>
            <a:endParaRPr lang="en-US" sz="1100" dirty="0"/>
          </a:p>
        </p:txBody>
      </p:sp>
      <p:sp>
        <p:nvSpPr>
          <p:cNvPr id="13" name="Shape 11"/>
          <p:cNvSpPr/>
          <p:nvPr/>
        </p:nvSpPr>
        <p:spPr>
          <a:xfrm>
            <a:off x="6263640" y="1645920"/>
            <a:ext cx="5486400" cy="1261872"/>
          </a:xfrm>
          <a:prstGeom prst="rect">
            <a:avLst/>
          </a:prstGeom>
          <a:solidFill>
            <a:srgbClr val="FFFFFF"/>
          </a:solidFill>
          <a:ln w="12700">
            <a:solidFill>
              <a:srgbClr val="DAD3C2"/>
            </a:solidFill>
            <a:prstDash val="solid"/>
          </a:ln>
        </p:spPr>
        <p:txBody>
          <a:bodyPr/>
          <a:p/>
        </p:txBody>
      </p:sp>
      <p:sp>
        <p:nvSpPr>
          <p:cNvPr id="14" name="Shape 12"/>
          <p:cNvSpPr/>
          <p:nvPr/>
        </p:nvSpPr>
        <p:spPr>
          <a:xfrm>
            <a:off x="6263640" y="1645920"/>
            <a:ext cx="5486400" cy="676656"/>
          </a:xfrm>
          <a:prstGeom prst="rect">
            <a:avLst/>
          </a:prstGeom>
          <a:solidFill>
            <a:srgbClr val="1F3A5F"/>
          </a:solidFill>
          <a:ln/>
        </p:spPr>
        <p:txBody>
          <a:bodyPr/>
          <a:p/>
        </p:txBody>
      </p:sp>
      <p:sp>
        <p:nvSpPr>
          <p:cNvPr id="15" name="Text 13"/>
          <p:cNvSpPr/>
          <p:nvPr/>
        </p:nvSpPr>
        <p:spPr>
          <a:xfrm>
            <a:off x="6400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Transcontinental Railroad</a:t>
            </a:r>
            <a:endParaRPr lang="en-US" sz="1350" dirty="0"/>
          </a:p>
        </p:txBody>
      </p:sp>
      <p:sp>
        <p:nvSpPr>
          <p:cNvPr id="16" name="Text 14"/>
          <p:cNvSpPr/>
          <p:nvPr/>
        </p:nvSpPr>
        <p:spPr>
          <a:xfrm>
            <a:off x="6400800" y="2011680"/>
            <a:ext cx="2880360" cy="256032"/>
          </a:xfrm>
          <a:prstGeom prst="rect">
            <a:avLst/>
          </a:prstGeom>
          <a:noFill/>
          <a:ln/>
        </p:spPr>
        <p:txBody>
          <a:bodyPr wrap="square" rtlCol="0" anchor="ctr">
            <a:normAutofit/>
          </a:bodyPr>
          <a:lstStyle/>
          <a:p>
            <a:pPr indent="0" marL="0">
              <a:buNone/>
            </a:pPr>
            <a:r>
              <a:rPr lang="en-US" sz="90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tranz-kon-tih-NEN-tul RAYL-rohd</a:t>
            </a:r>
            <a:endParaRPr lang="en-US" sz="850" dirty="0"/>
          </a:p>
        </p:txBody>
      </p:sp>
      <p:sp>
        <p:nvSpPr>
          <p:cNvPr id="17" name="Text 15"/>
          <p:cNvSpPr/>
          <p:nvPr/>
        </p:nvSpPr>
        <p:spPr>
          <a:xfrm>
            <a:off x="9418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Ferrocarril Transcontinental</a:t>
            </a:r>
            <a:endParaRPr lang="en-US" sz="1000" dirty="0"/>
          </a:p>
        </p:txBody>
      </p:sp>
      <p:sp>
        <p:nvSpPr>
          <p:cNvPr id="20" name="Text 18"/>
          <p:cNvSpPr/>
          <p:nvPr/>
        </p:nvSpPr>
        <p:spPr>
          <a:xfrm>
            <a:off x="6382512" y="2395728"/>
            <a:ext cx="5239512"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continuous railroad line completed in 1869 that connected the eastern United States with the Pacific coast, revolutionizing transportation and commerce.</a:t>
            </a:r>
            <a:endParaRPr lang="en-US" sz="1100" dirty="0"/>
          </a:p>
        </p:txBody>
      </p:sp>
      <p:sp>
        <p:nvSpPr>
          <p:cNvPr id="21" name="Shape 19"/>
          <p:cNvSpPr/>
          <p:nvPr/>
        </p:nvSpPr>
        <p:spPr>
          <a:xfrm>
            <a:off x="548640" y="3072384"/>
            <a:ext cx="5486400" cy="1261872"/>
          </a:xfrm>
          <a:prstGeom prst="rect">
            <a:avLst/>
          </a:prstGeom>
          <a:solidFill>
            <a:srgbClr val="FFFFFF"/>
          </a:solidFill>
          <a:ln w="12700">
            <a:solidFill>
              <a:srgbClr val="DAD3C2"/>
            </a:solidFill>
            <a:prstDash val="solid"/>
          </a:ln>
        </p:spPr>
        <p:txBody>
          <a:bodyPr/>
          <a:p/>
        </p:txBody>
      </p:sp>
      <p:sp>
        <p:nvSpPr>
          <p:cNvPr id="22" name="Shape 20"/>
          <p:cNvSpPr/>
          <p:nvPr/>
        </p:nvSpPr>
        <p:spPr>
          <a:xfrm>
            <a:off x="548640" y="3072384"/>
            <a:ext cx="5486400" cy="676656"/>
          </a:xfrm>
          <a:prstGeom prst="rect">
            <a:avLst/>
          </a:prstGeom>
          <a:solidFill>
            <a:srgbClr val="1F3A5F"/>
          </a:solidFill>
          <a:ln/>
        </p:spPr>
        <p:txBody>
          <a:bodyPr/>
          <a:p/>
        </p:txBody>
      </p:sp>
      <p:sp>
        <p:nvSpPr>
          <p:cNvPr id="23" name="Text 21"/>
          <p:cNvSpPr/>
          <p:nvPr/>
        </p:nvSpPr>
        <p:spPr>
          <a:xfrm>
            <a:off x="685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Westward Expansion</a:t>
            </a:r>
            <a:endParaRPr lang="en-US" sz="1350" dirty="0"/>
          </a:p>
        </p:txBody>
      </p:sp>
      <p:sp>
        <p:nvSpPr>
          <p:cNvPr id="24" name="Text 22"/>
          <p:cNvSpPr/>
          <p:nvPr/>
        </p:nvSpPr>
        <p:spPr>
          <a:xfrm>
            <a:off x="685800" y="3438144"/>
            <a:ext cx="2880360" cy="256032"/>
          </a:xfrm>
          <a:prstGeom prst="rect">
            <a:avLst/>
          </a:prstGeom>
          <a:noFill/>
          <a:ln/>
        </p:spPr>
        <p:txBody>
          <a:bodyPr wrap="square" rtlCol="0" anchor="ctr">
            <a:normAutofit/>
          </a:bodyPr>
          <a:lstStyle/>
          <a:p>
            <a:pPr indent="0" marL="0">
              <a:buNone/>
            </a:pPr>
            <a:r>
              <a:rPr lang="en-US" sz="90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WEST-werd ek-SPAN-shun</a:t>
            </a:r>
            <a:endParaRPr lang="en-US" sz="850" dirty="0"/>
          </a:p>
        </p:txBody>
      </p:sp>
      <p:sp>
        <p:nvSpPr>
          <p:cNvPr id="25" name="Text 23"/>
          <p:cNvSpPr/>
          <p:nvPr/>
        </p:nvSpPr>
        <p:spPr>
          <a:xfrm>
            <a:off x="3703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Expansión hacia el Oeste</a:t>
            </a:r>
            <a:endParaRPr lang="en-US" sz="1000" dirty="0"/>
          </a:p>
        </p:txBody>
      </p:sp>
      <p:sp>
        <p:nvSpPr>
          <p:cNvPr id="28" name="Text 26"/>
          <p:cNvSpPr/>
          <p:nvPr/>
        </p:nvSpPr>
        <p:spPr>
          <a:xfrm>
            <a:off x="667512" y="3822192"/>
            <a:ext cx="5239512"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19th-century movement of settlers, railroads, and U.S. authority across the continent toward the Pacific, encouraged by free land and new transportation.</a:t>
            </a:r>
            <a:endParaRPr lang="en-US" sz="1100" dirty="0"/>
          </a:p>
        </p:txBody>
      </p:sp>
      <p:sp>
        <p:nvSpPr>
          <p:cNvPr id="29" name="Shape 27"/>
          <p:cNvSpPr/>
          <p:nvPr/>
        </p:nvSpPr>
        <p:spPr>
          <a:xfrm>
            <a:off x="6263640" y="3072384"/>
            <a:ext cx="5486400" cy="1261872"/>
          </a:xfrm>
          <a:prstGeom prst="rect">
            <a:avLst/>
          </a:prstGeom>
          <a:solidFill>
            <a:srgbClr val="FFFFFF"/>
          </a:solidFill>
          <a:ln w="12700">
            <a:solidFill>
              <a:srgbClr val="DAD3C2"/>
            </a:solidFill>
            <a:prstDash val="solid"/>
          </a:ln>
        </p:spPr>
        <p:txBody>
          <a:bodyPr/>
          <a:p/>
        </p:txBody>
      </p:sp>
      <p:sp>
        <p:nvSpPr>
          <p:cNvPr id="30" name="Shape 28"/>
          <p:cNvSpPr/>
          <p:nvPr/>
        </p:nvSpPr>
        <p:spPr>
          <a:xfrm>
            <a:off x="6263640" y="3072384"/>
            <a:ext cx="5486400" cy="676656"/>
          </a:xfrm>
          <a:prstGeom prst="rect">
            <a:avLst/>
          </a:prstGeom>
          <a:solidFill>
            <a:srgbClr val="1F3A5F"/>
          </a:solidFill>
          <a:ln/>
        </p:spPr>
        <p:txBody>
          <a:bodyPr/>
          <a:p/>
        </p:txBody>
      </p:sp>
      <p:sp>
        <p:nvSpPr>
          <p:cNvPr id="31" name="Text 29"/>
          <p:cNvSpPr/>
          <p:nvPr/>
        </p:nvSpPr>
        <p:spPr>
          <a:xfrm>
            <a:off x="6400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Manifest Destiny</a:t>
            </a:r>
            <a:endParaRPr lang="en-US" sz="1350" dirty="0"/>
          </a:p>
        </p:txBody>
      </p:sp>
      <p:sp>
        <p:nvSpPr>
          <p:cNvPr id="32" name="Text 30"/>
          <p:cNvSpPr/>
          <p:nvPr/>
        </p:nvSpPr>
        <p:spPr>
          <a:xfrm>
            <a:off x="6400800" y="3438144"/>
            <a:ext cx="2880360" cy="256032"/>
          </a:xfrm>
          <a:prstGeom prst="rect">
            <a:avLst/>
          </a:prstGeom>
          <a:noFill/>
          <a:ln/>
        </p:spPr>
        <p:txBody>
          <a:bodyPr wrap="square" rtlCol="0" anchor="ctr">
            <a:normAutofit/>
          </a:bodyPr>
          <a:lstStyle/>
          <a:p>
            <a:pPr indent="0" marL="0">
              <a:buNone/>
            </a:pPr>
            <a:r>
              <a:rPr lang="en-US" sz="90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MAN-ih-fest DES-tih-nee</a:t>
            </a:r>
            <a:endParaRPr lang="en-US" sz="850" dirty="0"/>
          </a:p>
        </p:txBody>
      </p:sp>
      <p:sp>
        <p:nvSpPr>
          <p:cNvPr id="33" name="Text 31"/>
          <p:cNvSpPr/>
          <p:nvPr/>
        </p:nvSpPr>
        <p:spPr>
          <a:xfrm>
            <a:off x="9418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Destino Manifiesto</a:t>
            </a:r>
            <a:endParaRPr lang="en-US" sz="1000" dirty="0"/>
          </a:p>
        </p:txBody>
      </p:sp>
      <p:sp>
        <p:nvSpPr>
          <p:cNvPr id="36" name="Text 34"/>
          <p:cNvSpPr/>
          <p:nvPr/>
        </p:nvSpPr>
        <p:spPr>
          <a:xfrm>
            <a:off x="6382512" y="3822192"/>
            <a:ext cx="5239512"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widely held 1800s belief that the United States was destined to expand across the entire continent, used to justify the displacement of American Indians.</a:t>
            </a:r>
            <a:endParaRPr lang="en-US" sz="1100" dirty="0"/>
          </a:p>
        </p:txBody>
      </p:sp>
      <p:sp>
        <p:nvSpPr>
          <p:cNvPr id="37" name="Shape 35"/>
          <p:cNvSpPr/>
          <p:nvPr/>
        </p:nvSpPr>
        <p:spPr>
          <a:xfrm>
            <a:off x="548640" y="4498848"/>
            <a:ext cx="5486400" cy="1261872"/>
          </a:xfrm>
          <a:prstGeom prst="rect">
            <a:avLst/>
          </a:prstGeom>
          <a:solidFill>
            <a:srgbClr val="FFFFFF"/>
          </a:solidFill>
          <a:ln w="12700">
            <a:solidFill>
              <a:srgbClr val="DAD3C2"/>
            </a:solidFill>
            <a:prstDash val="solid"/>
          </a:ln>
        </p:spPr>
        <p:txBody>
          <a:bodyPr/>
          <a:p/>
        </p:txBody>
      </p:sp>
      <p:sp>
        <p:nvSpPr>
          <p:cNvPr id="38" name="Shape 36"/>
          <p:cNvSpPr/>
          <p:nvPr/>
        </p:nvSpPr>
        <p:spPr>
          <a:xfrm>
            <a:off x="548640" y="4498848"/>
            <a:ext cx="5486400" cy="676656"/>
          </a:xfrm>
          <a:prstGeom prst="rect">
            <a:avLst/>
          </a:prstGeom>
          <a:solidFill>
            <a:srgbClr val="1F3A5F"/>
          </a:solidFill>
          <a:ln/>
        </p:spPr>
        <p:txBody>
          <a:bodyPr/>
          <a:p/>
        </p:txBody>
      </p:sp>
      <p:sp>
        <p:nvSpPr>
          <p:cNvPr id="39" name="Text 37"/>
          <p:cNvSpPr/>
          <p:nvPr/>
        </p:nvSpPr>
        <p:spPr>
          <a:xfrm>
            <a:off x="685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Land Grant</a:t>
            </a:r>
            <a:endParaRPr lang="en-US" sz="1350" dirty="0"/>
          </a:p>
        </p:txBody>
      </p:sp>
      <p:sp>
        <p:nvSpPr>
          <p:cNvPr id="40" name="Text 38"/>
          <p:cNvSpPr/>
          <p:nvPr/>
        </p:nvSpPr>
        <p:spPr>
          <a:xfrm>
            <a:off x="685800" y="4864608"/>
            <a:ext cx="2880360" cy="256032"/>
          </a:xfrm>
          <a:prstGeom prst="rect">
            <a:avLst/>
          </a:prstGeom>
          <a:noFill/>
          <a:ln/>
        </p:spPr>
        <p:txBody>
          <a:bodyPr wrap="square" rtlCol="0" anchor="ctr">
            <a:normAutofit/>
          </a:bodyPr>
          <a:lstStyle/>
          <a:p>
            <a:pPr indent="0" marL="0">
              <a:buNone/>
            </a:pPr>
            <a:r>
              <a:rPr lang="en-US" sz="90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LAND grant</a:t>
            </a:r>
            <a:endParaRPr lang="en-US" sz="850" dirty="0"/>
          </a:p>
        </p:txBody>
      </p:sp>
      <p:sp>
        <p:nvSpPr>
          <p:cNvPr id="41" name="Text 39"/>
          <p:cNvSpPr/>
          <p:nvPr/>
        </p:nvSpPr>
        <p:spPr>
          <a:xfrm>
            <a:off x="3703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Concesión de Tierras</a:t>
            </a:r>
            <a:endParaRPr lang="en-US" sz="1000" dirty="0"/>
          </a:p>
        </p:txBody>
      </p:sp>
      <p:sp>
        <p:nvSpPr>
          <p:cNvPr id="44" name="Text 42"/>
          <p:cNvSpPr/>
          <p:nvPr/>
        </p:nvSpPr>
        <p:spPr>
          <a:xfrm>
            <a:off x="667512" y="5248656"/>
            <a:ext cx="5239512"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gift of public land from the government — to railroad companies or settlers — used to fund and accelerate western settlement.</a:t>
            </a:r>
            <a:endParaRPr lang="en-US" sz="1100" dirty="0"/>
          </a:p>
        </p:txBody>
      </p:sp>
      <p:sp>
        <p:nvSpPr>
          <p:cNvPr id="45" name="Shape 43"/>
          <p:cNvSpPr/>
          <p:nvPr/>
        </p:nvSpPr>
        <p:spPr>
          <a:xfrm>
            <a:off x="6263640" y="4498848"/>
            <a:ext cx="5486400" cy="1261872"/>
          </a:xfrm>
          <a:prstGeom prst="rect">
            <a:avLst/>
          </a:prstGeom>
          <a:solidFill>
            <a:srgbClr val="FFFFFF"/>
          </a:solidFill>
          <a:ln w="12700">
            <a:solidFill>
              <a:srgbClr val="DAD3C2"/>
            </a:solidFill>
            <a:prstDash val="solid"/>
          </a:ln>
        </p:spPr>
        <p:txBody>
          <a:bodyPr/>
          <a:p/>
        </p:txBody>
      </p:sp>
      <p:sp>
        <p:nvSpPr>
          <p:cNvPr id="46" name="Shape 44"/>
          <p:cNvSpPr/>
          <p:nvPr/>
        </p:nvSpPr>
        <p:spPr>
          <a:xfrm>
            <a:off x="6263640" y="4498848"/>
            <a:ext cx="5486400" cy="676656"/>
          </a:xfrm>
          <a:prstGeom prst="rect">
            <a:avLst/>
          </a:prstGeom>
          <a:solidFill>
            <a:srgbClr val="1F3A5F"/>
          </a:solidFill>
          <a:ln/>
        </p:spPr>
        <p:txBody>
          <a:bodyPr/>
          <a:p/>
        </p:txBody>
      </p:sp>
      <p:sp>
        <p:nvSpPr>
          <p:cNvPr id="47" name="Text 45"/>
          <p:cNvSpPr/>
          <p:nvPr/>
        </p:nvSpPr>
        <p:spPr>
          <a:xfrm>
            <a:off x="6400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Reservation</a:t>
            </a:r>
            <a:endParaRPr lang="en-US" sz="1350" dirty="0"/>
          </a:p>
        </p:txBody>
      </p:sp>
      <p:sp>
        <p:nvSpPr>
          <p:cNvPr id="48" name="Text 46"/>
          <p:cNvSpPr/>
          <p:nvPr/>
        </p:nvSpPr>
        <p:spPr>
          <a:xfrm>
            <a:off x="6400800" y="4864608"/>
            <a:ext cx="2880360" cy="256032"/>
          </a:xfrm>
          <a:prstGeom prst="rect">
            <a:avLst/>
          </a:prstGeom>
          <a:noFill/>
          <a:ln/>
        </p:spPr>
        <p:txBody>
          <a:bodyPr wrap="square" rtlCol="0" anchor="ctr">
            <a:normAutofit/>
          </a:bodyPr>
          <a:lstStyle/>
          <a:p>
            <a:pPr indent="0" marL="0">
              <a:buNone/>
            </a:pPr>
            <a:r>
              <a:rPr lang="en-US" sz="90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rez-er-VAY-shun</a:t>
            </a:r>
            <a:endParaRPr lang="en-US" sz="850" dirty="0"/>
          </a:p>
        </p:txBody>
      </p:sp>
      <p:sp>
        <p:nvSpPr>
          <p:cNvPr id="49" name="Text 47"/>
          <p:cNvSpPr/>
          <p:nvPr/>
        </p:nvSpPr>
        <p:spPr>
          <a:xfrm>
            <a:off x="9418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Reservación</a:t>
            </a:r>
            <a:endParaRPr lang="en-US" sz="1000" dirty="0"/>
          </a:p>
        </p:txBody>
      </p:sp>
      <p:sp>
        <p:nvSpPr>
          <p:cNvPr id="52" name="Text 50"/>
          <p:cNvSpPr/>
          <p:nvPr/>
        </p:nvSpPr>
        <p:spPr>
          <a:xfrm>
            <a:off x="6382512" y="5248656"/>
            <a:ext cx="5239512"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An area of land set aside by the federal government for American Indian tribes, frequently far from their ancestral homelands.</a:t>
            </a:r>
            <a:endParaRPr lang="en-US" sz="1100" dirty="0"/>
          </a:p>
        </p:txBody>
      </p:sp>
      <p:sp>
        <p:nvSpPr>
          <p:cNvPr id="53" name="Text 51"/>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54" name="Text 52"/>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55" name="Text 5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F3A5F"/>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B22234"/>
                </a:solidFill>
                <a:latin typeface="Trebuchet MS" pitchFamily="34" charset="0"/>
                <a:ea typeface="Trebuchet MS" pitchFamily="34" charset="-122"/>
                <a:cs typeface="Trebuchet MS" pitchFamily="34" charset="-120"/>
              </a:rPr>
              <a:t>US.01 · GUIDED PRACTICE — WE DO IT TOGETHER</a:t>
            </a:r>
            <a:endParaRPr lang="en-US" sz="1200" dirty="0"/>
          </a:p>
        </p:txBody>
      </p:sp>
      <p:sp>
        <p:nvSpPr>
          <p:cNvPr id="4" name="Text 2"/>
          <p:cNvSpPr/>
          <p:nvPr/>
        </p:nvSpPr>
        <p:spPr>
          <a:xfrm>
            <a:off x="548640" y="731520"/>
            <a:ext cx="8595360" cy="640080"/>
          </a:xfrm>
          <a:prstGeom prst="rect">
            <a:avLst/>
          </a:prstGeom>
          <a:noFill/>
          <a:ln/>
        </p:spPr>
        <p:txBody>
          <a:bodyPr wrap="square" rtlCol="0" anchor="t"/>
          <a:lstStyle/>
          <a:p>
            <a:pPr indent="0" marL="0">
              <a:buNone/>
            </a:pPr>
            <a:r>
              <a:rPr lang="en-US" sz="2900" b="1" dirty="0">
                <a:solidFill>
                  <a:srgbClr val="1F3A5F"/>
                </a:solidFill>
                <a:latin typeface="Georgia" pitchFamily="34" charset="0"/>
                <a:ea typeface="Georgia" pitchFamily="34" charset="-122"/>
                <a:cs typeface="Georgia" pitchFamily="34" charset="-120"/>
              </a:rPr>
              <a:t>Let’s Work One Together</a:t>
            </a:r>
            <a:endParaRPr lang="en-US" sz="2900" dirty="0"/>
          </a:p>
        </p:txBody>
      </p:sp>
      <p:sp>
        <p:nvSpPr>
          <p:cNvPr id="5" name="Shape 3"/>
          <p:cNvSpPr/>
          <p:nvPr/>
        </p:nvSpPr>
        <p:spPr>
          <a:xfrm>
            <a:off x="8869680" y="822960"/>
            <a:ext cx="2743200" cy="457200"/>
          </a:xfrm>
          <a:prstGeom prst="roundRect">
            <a:avLst>
              <a:gd name="adj" fmla="val 20000"/>
            </a:avLst>
          </a:prstGeom>
          <a:solidFill>
            <a:srgbClr val="1F3A5F"/>
          </a:solidFill>
          <a:ln/>
        </p:spPr>
        <p:txBody>
          <a:bodyPr/>
          <a:p/>
        </p:txBody>
      </p:sp>
      <p:sp>
        <p:nvSpPr>
          <p:cNvPr id="6" name="Text 4"/>
          <p:cNvSpPr/>
          <p:nvPr/>
        </p:nvSpPr>
        <p:spPr>
          <a:xfrm>
            <a:off x="8869680" y="822960"/>
            <a:ext cx="274320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Cause → Effect reasoning</a:t>
            </a:r>
            <a:endParaRPr lang="en-US" sz="1100" dirty="0"/>
          </a:p>
        </p:txBody>
      </p:sp>
      <p:sp>
        <p:nvSpPr>
          <p:cNvPr id="7" name="Shape 5"/>
          <p:cNvSpPr/>
          <p:nvPr/>
        </p:nvSpPr>
        <p:spPr>
          <a:xfrm>
            <a:off x="548640" y="1554480"/>
            <a:ext cx="11064240" cy="868680"/>
          </a:xfrm>
          <a:prstGeom prst="roundRect">
            <a:avLst>
              <a:gd name="adj" fmla="val 8421"/>
            </a:avLst>
          </a:prstGeom>
          <a:solidFill>
            <a:srgbClr val="243047"/>
          </a:solidFill>
          <a:ln w="6350">
            <a:solidFill>
              <a:srgbClr val="A7BACB"/>
            </a:solidFill>
            <a:prstDash val="solid"/>
          </a:ln>
        </p:spPr>
        <p:txBody>
          <a:bodyPr/>
          <a:p/>
        </p:txBody>
      </p:sp>
      <p:sp>
        <p:nvSpPr>
          <p:cNvPr id="8" name="Text 6"/>
          <p:cNvSpPr/>
          <p:nvPr/>
        </p:nvSpPr>
        <p:spPr>
          <a:xfrm>
            <a:off x="822960" y="1664208"/>
            <a:ext cx="10515600" cy="640080"/>
          </a:xfrm>
          <a:prstGeom prst="rect">
            <a:avLst/>
          </a:prstGeom>
          <a:noFill/>
          <a:ln/>
        </p:spPr>
        <p:txBody>
          <a:bodyPr wrap="square" rtlCol="0" anchor="ctr"/>
          <a:lstStyle/>
          <a:p>
            <a:pPr indent="0" marL="0">
              <a:lnSpc>
                <a:spcPct val="104000"/>
              </a:lnSpc>
              <a:buNone/>
            </a:pPr>
            <a:r>
              <a:rPr lang="en-US" sz="1500" b="1" dirty="0">
                <a:solidFill>
                  <a:srgbClr val="F9A825"/>
                </a:solidFill>
                <a:latin typeface="Calibri" pitchFamily="34" charset="0"/>
                <a:ea typeface="Calibri" pitchFamily="34" charset="-122"/>
                <a:cs typeface="Calibri" pitchFamily="34" charset="-120"/>
              </a:rPr>
              <a:t>MODEL PROMPT:  </a:t>
            </a:r>
            <a:pPr indent="0" marL="0">
              <a:lnSpc>
                <a:spcPct val="104000"/>
              </a:lnSpc>
              <a:buNone/>
            </a:pPr>
            <a:r>
              <a:rPr lang="en-US" sz="1500" dirty="0">
                <a:solidFill>
                  <a:srgbClr val="FFFFFF"/>
                </a:solidFill>
                <a:latin typeface="Calibri" pitchFamily="34" charset="0"/>
                <a:ea typeface="Calibri" pitchFamily="34" charset="-122"/>
                <a:cs typeface="Calibri" pitchFamily="34" charset="-120"/>
              </a:rPr>
              <a:t>Trace ONE effect of the Transcontinental Railroad on American Indian nations.</a:t>
            </a:r>
            <a:endParaRPr lang="en-US" sz="1500" dirty="0"/>
          </a:p>
        </p:txBody>
      </p:sp>
      <p:sp>
        <p:nvSpPr>
          <p:cNvPr id="9" name="Shape 7"/>
          <p:cNvSpPr/>
          <p:nvPr/>
        </p:nvSpPr>
        <p:spPr>
          <a:xfrm>
            <a:off x="548640" y="2606040"/>
            <a:ext cx="11064240" cy="1554480"/>
          </a:xfrm>
          <a:prstGeom prst="roundRect">
            <a:avLst>
              <a:gd name="adj" fmla="val 4706"/>
            </a:avLst>
          </a:prstGeom>
          <a:solidFill>
            <a:srgbClr val="C9A227"/>
          </a:solidFill>
          <a:ln/>
        </p:spPr>
        <p:txBody>
          <a:bodyPr/>
          <a:p/>
        </p:txBody>
      </p:sp>
      <p:sp>
        <p:nvSpPr>
          <p:cNvPr id="10" name="Text 8"/>
          <p:cNvSpPr/>
          <p:nvPr/>
        </p:nvSpPr>
        <p:spPr>
          <a:xfrm>
            <a:off x="822960" y="2724912"/>
            <a:ext cx="10058400" cy="292608"/>
          </a:xfrm>
          <a:prstGeom prst="rect">
            <a:avLst/>
          </a:prstGeom>
          <a:noFill/>
          <a:ln/>
        </p:spPr>
        <p:txBody>
          <a:bodyPr wrap="square" rtlCol="0" anchor="ctr"/>
          <a:lstStyle/>
          <a:p>
            <a:pPr indent="0" marL="0">
              <a:buNone/>
            </a:pPr>
            <a:r>
              <a:rPr lang="en-US" sz="1100" b="1" spc="100" kern="0" dirty="0">
                <a:solidFill>
                  <a:srgbClr val="1F3A5F"/>
                </a:solidFill>
                <a:latin typeface="Trebuchet MS" pitchFamily="34" charset="0"/>
                <a:ea typeface="Trebuchet MS" pitchFamily="34" charset="-122"/>
                <a:cs typeface="Trebuchet MS" pitchFamily="34" charset="-120"/>
              </a:rPr>
              <a:t>WORKED EXAMPLE  (teacher models this aloud)</a:t>
            </a:r>
            <a:endParaRPr lang="en-US" sz="1100" dirty="0"/>
          </a:p>
        </p:txBody>
      </p:sp>
      <p:sp>
        <p:nvSpPr>
          <p:cNvPr id="11" name="Text 9"/>
          <p:cNvSpPr/>
          <p:nvPr/>
        </p:nvSpPr>
        <p:spPr>
          <a:xfrm>
            <a:off x="822960" y="3035808"/>
            <a:ext cx="10515600" cy="1005840"/>
          </a:xfrm>
          <a:prstGeom prst="rect">
            <a:avLst/>
          </a:prstGeom>
          <a:noFill/>
          <a:ln/>
        </p:spPr>
        <p:txBody>
          <a:bodyPr wrap="square" rtlCol="0" anchor="t"/>
          <a:lstStyle/>
          <a:p>
            <a:pPr indent="0" marL="0">
              <a:lnSpc>
                <a:spcPct val="108000"/>
              </a:lnSpc>
              <a:buNone/>
            </a:pPr>
            <a:r>
              <a:rPr lang="en-US" sz="1450" b="1" dirty="0">
                <a:solidFill>
                  <a:srgbClr val="1F3A5F"/>
                </a:solidFill>
                <a:latin typeface="Calibri" pitchFamily="34" charset="0"/>
                <a:ea typeface="Calibri" pitchFamily="34" charset="-122"/>
                <a:cs typeface="Calibri" pitchFamily="34" charset="-120"/>
              </a:rPr>
              <a:t>CAUSE: The railroad cut directly through Plains hunting grounds (1869).  →  EFFECT: Settlers and hunters poured in and the buffalo herds collapsed.  →  CONSEQUENCE: Plains nations lost the food source their economy depended on and were pushed onto reservations.</a:t>
            </a:r>
            <a:endParaRPr lang="en-US" sz="1450" dirty="0"/>
          </a:p>
        </p:txBody>
      </p:sp>
      <p:sp>
        <p:nvSpPr>
          <p:cNvPr id="12" name="Shape 10"/>
          <p:cNvSpPr/>
          <p:nvPr/>
        </p:nvSpPr>
        <p:spPr>
          <a:xfrm>
            <a:off x="548640" y="4297680"/>
            <a:ext cx="11064240" cy="1371600"/>
          </a:xfrm>
          <a:prstGeom prst="rect">
            <a:avLst/>
          </a:prstGeom>
          <a:solidFill>
            <a:srgbClr val="FFFFFF"/>
          </a:solidFill>
          <a:ln w="12700">
            <a:solidFill>
              <a:srgbClr val="DAD3C2"/>
            </a:solidFill>
            <a:prstDash val="solid"/>
          </a:ln>
        </p:spPr>
        <p:txBody>
          <a:bodyPr/>
          <a:p/>
        </p:txBody>
      </p:sp>
      <p:sp>
        <p:nvSpPr>
          <p:cNvPr id="13" name="Text 11"/>
          <p:cNvSpPr/>
          <p:nvPr/>
        </p:nvSpPr>
        <p:spPr>
          <a:xfrm>
            <a:off x="822960" y="4407408"/>
            <a:ext cx="4572000" cy="274320"/>
          </a:xfrm>
          <a:prstGeom prst="rect">
            <a:avLst/>
          </a:prstGeom>
          <a:noFill/>
          <a:ln/>
        </p:spPr>
        <p:txBody>
          <a:bodyPr wrap="square" rtlCol="0" anchor="ctr"/>
          <a:lstStyle/>
          <a:p>
            <a:pPr indent="0" marL="0">
              <a:buNone/>
            </a:pPr>
            <a:r>
              <a:rPr lang="en-US" sz="1100" b="1" spc="200" kern="0" dirty="0">
                <a:solidFill>
                  <a:srgbClr val="B22234"/>
                </a:solidFill>
                <a:latin typeface="Trebuchet MS" pitchFamily="34" charset="0"/>
                <a:ea typeface="Trebuchet MS" pitchFamily="34" charset="-122"/>
                <a:cs typeface="Trebuchet MS" pitchFamily="34" charset="-120"/>
              </a:rPr>
              <a:t>THINK ALOUD</a:t>
            </a:r>
            <a:endParaRPr lang="en-US" sz="1100" dirty="0"/>
          </a:p>
        </p:txBody>
      </p:sp>
      <p:sp>
        <p:nvSpPr>
          <p:cNvPr id="14" name="Text 12"/>
          <p:cNvSpPr/>
          <p:nvPr/>
        </p:nvSpPr>
        <p:spPr>
          <a:xfrm>
            <a:off x="822960" y="4700016"/>
            <a:ext cx="10515600" cy="914400"/>
          </a:xfrm>
          <a:prstGeom prst="rect">
            <a:avLst/>
          </a:prstGeom>
          <a:noFill/>
          <a:ln/>
        </p:spPr>
        <p:txBody>
          <a:bodyPr wrap="square" rtlCol="0" anchor="t"/>
          <a:lstStyle/>
          <a:p>
            <a:pPr indent="0" marL="0">
              <a:lnSpc>
                <a:spcPct val="108000"/>
              </a:lnSpc>
              <a:buNone/>
            </a:pPr>
            <a:r>
              <a:rPr lang="en-US" sz="1300" i="1" dirty="0">
                <a:solidFill>
                  <a:srgbClr val="1F2430"/>
                </a:solidFill>
                <a:latin typeface="Calibri" pitchFamily="34" charset="0"/>
                <a:ea typeface="Calibri" pitchFamily="34" charset="-122"/>
                <a:cs typeface="Calibri" pitchFamily="34" charset="-120"/>
              </a:rPr>
              <a:t>Watch how I do it: I start with the policy (the cause), I underline the change it set in motion (the effect), then I push one step further to the human consequence. I do NOT stop at "railroad was built" — I ask "so what happened to people because of it?"</a:t>
            </a:r>
            <a:endParaRPr lang="en-US" sz="1300" dirty="0"/>
          </a:p>
        </p:txBody>
      </p:sp>
      <p:sp>
        <p:nvSpPr>
          <p:cNvPr id="15" name="Text 13"/>
          <p:cNvSpPr/>
          <p:nvPr/>
        </p:nvSpPr>
        <p:spPr>
          <a:xfrm>
            <a:off x="548640" y="5779008"/>
            <a:ext cx="11064240" cy="365760"/>
          </a:xfrm>
          <a:prstGeom prst="rect">
            <a:avLst/>
          </a:prstGeom>
          <a:noFill/>
          <a:ln/>
        </p:spPr>
        <p:txBody>
          <a:bodyPr wrap="square" rtlCol="0" anchor="ctr"/>
          <a:lstStyle/>
          <a:p>
            <a:pPr indent="0" marL="0">
              <a:buNone/>
            </a:pPr>
            <a:r>
              <a:rPr lang="en-US" sz="1200" b="1" dirty="0">
                <a:solidFill>
                  <a:srgbClr val="1F3A5F"/>
                </a:solidFill>
                <a:latin typeface="Calibri" pitchFamily="34" charset="0"/>
                <a:ea typeface="Calibri" pitchFamily="34" charset="-122"/>
                <a:cs typeface="Calibri" pitchFamily="34" charset="-120"/>
              </a:rPr>
              <a:t>→ Now you try:  </a:t>
            </a:r>
            <a:pPr indent="0" marL="0">
              <a:buNone/>
            </a:pPr>
            <a:r>
              <a:rPr lang="en-US" sz="1200" i="1" dirty="0">
                <a:solidFill>
                  <a:srgbClr val="002858"/>
                </a:solidFill>
                <a:latin typeface="Calibri" pitchFamily="34" charset="0"/>
                <a:ea typeface="Calibri" pitchFamily="34" charset="-122"/>
                <a:cs typeface="Calibri" pitchFamily="34" charset="-120"/>
              </a:rPr>
              <a:t>Now you complete two more cause→effect chains on your own in the activity.</a:t>
            </a:r>
            <a:endParaRPr lang="en-US" sz="1200" dirty="0"/>
          </a:p>
        </p:txBody>
      </p:sp>
      <p:sp>
        <p:nvSpPr>
          <p:cNvPr id="17" name="Text 14"/>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8" name="Text 1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227"/>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B22234"/>
                </a:solidFill>
                <a:latin typeface="Trebuchet MS" pitchFamily="34" charset="0"/>
                <a:ea typeface="Trebuchet MS" pitchFamily="34" charset="-122"/>
                <a:cs typeface="Trebuchet MS" pitchFamily="34" charset="-120"/>
              </a:rPr>
              <a:t>US.01 · STUDENT ACTIVITY</a:t>
            </a:r>
            <a:endParaRPr lang="en-US" sz="1200" dirty="0"/>
          </a:p>
        </p:txBody>
      </p:sp>
      <p:sp>
        <p:nvSpPr>
          <p:cNvPr id="4" name="Text 2"/>
          <p:cNvSpPr/>
          <p:nvPr/>
        </p:nvSpPr>
        <p:spPr>
          <a:xfrm>
            <a:off x="548640" y="731520"/>
            <a:ext cx="11064240" cy="777240"/>
          </a:xfrm>
          <a:prstGeom prst="rect">
            <a:avLst/>
          </a:prstGeom>
          <a:noFill/>
          <a:ln/>
        </p:spPr>
        <p:txBody>
          <a:bodyPr wrap="square" rtlCol="0" anchor="t"/>
          <a:lstStyle/>
          <a:p>
            <a:pPr indent="0" marL="0">
              <a:buNone/>
            </a:pPr>
            <a:r>
              <a:rPr lang="en-US" sz="2700" b="1" dirty="0">
                <a:solidFill>
                  <a:srgbClr val="1F3A5F"/>
                </a:solidFill>
                <a:latin typeface="Georgia" pitchFamily="34" charset="0"/>
                <a:ea typeface="Georgia" pitchFamily="34" charset="-122"/>
                <a:cs typeface="Georgia" pitchFamily="34" charset="-120"/>
              </a:rPr>
              <a:t>Cause-and-Effect Web: Tying the Nation Together</a:t>
            </a:r>
            <a:endParaRPr lang="en-US" sz="2700" dirty="0"/>
          </a:p>
        </p:txBody>
      </p:sp>
      <p:sp>
        <p:nvSpPr>
          <p:cNvPr id="5" name="Shape 3"/>
          <p:cNvSpPr/>
          <p:nvPr/>
        </p:nvSpPr>
        <p:spPr>
          <a:xfrm>
            <a:off x="548640" y="1481328"/>
            <a:ext cx="694944" cy="365760"/>
          </a:xfrm>
          <a:prstGeom prst="roundRect">
            <a:avLst>
              <a:gd name="adj" fmla="val 20000"/>
            </a:avLst>
          </a:prstGeom>
          <a:solidFill>
            <a:srgbClr val="1F3A5F"/>
          </a:solidFill>
          <a:ln/>
        </p:spPr>
        <p:txBody>
          <a:bodyPr/>
          <a:p/>
        </p:txBody>
      </p:sp>
      <p:sp>
        <p:nvSpPr>
          <p:cNvPr id="6" name="Text 4"/>
          <p:cNvSpPr/>
          <p:nvPr/>
        </p:nvSpPr>
        <p:spPr>
          <a:xfrm>
            <a:off x="548640" y="1481328"/>
            <a:ext cx="694944"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Pairs</a:t>
            </a:r>
            <a:endParaRPr lang="en-US" sz="1050" dirty="0"/>
          </a:p>
        </p:txBody>
      </p:sp>
      <p:sp>
        <p:nvSpPr>
          <p:cNvPr id="7" name="Shape 5"/>
          <p:cNvSpPr/>
          <p:nvPr/>
        </p:nvSpPr>
        <p:spPr>
          <a:xfrm>
            <a:off x="1408176" y="1481328"/>
            <a:ext cx="1031443" cy="365760"/>
          </a:xfrm>
          <a:prstGeom prst="roundRect">
            <a:avLst>
              <a:gd name="adj" fmla="val 20000"/>
            </a:avLst>
          </a:prstGeom>
          <a:solidFill>
            <a:srgbClr val="1F3A5F"/>
          </a:solidFill>
          <a:ln/>
        </p:spPr>
        <p:txBody>
          <a:bodyPr/>
          <a:p/>
        </p:txBody>
      </p:sp>
      <p:sp>
        <p:nvSpPr>
          <p:cNvPr id="8" name="Text 6"/>
          <p:cNvSpPr/>
          <p:nvPr/>
        </p:nvSpPr>
        <p:spPr>
          <a:xfrm>
            <a:off x="1408176" y="1481328"/>
            <a:ext cx="1031443"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10–12 min</a:t>
            </a:r>
            <a:endParaRPr lang="en-US" sz="1050" dirty="0"/>
          </a:p>
        </p:txBody>
      </p:sp>
      <p:sp>
        <p:nvSpPr>
          <p:cNvPr id="9" name="Shape 7"/>
          <p:cNvSpPr/>
          <p:nvPr/>
        </p:nvSpPr>
        <p:spPr>
          <a:xfrm>
            <a:off x="548640" y="2057400"/>
            <a:ext cx="6766560" cy="2331720"/>
          </a:xfrm>
          <a:prstGeom prst="rect">
            <a:avLst/>
          </a:prstGeom>
          <a:solidFill>
            <a:srgbClr val="FFFFFF"/>
          </a:solidFill>
          <a:ln w="12700">
            <a:solidFill>
              <a:srgbClr val="DAD3C2"/>
            </a:solidFill>
            <a:prstDash val="solid"/>
          </a:ln>
        </p:spPr>
        <p:txBody>
          <a:bodyPr/>
          <a:p/>
        </p:txBody>
      </p:sp>
      <p:sp>
        <p:nvSpPr>
          <p:cNvPr id="10" name="Text 8"/>
          <p:cNvSpPr/>
          <p:nvPr/>
        </p:nvSpPr>
        <p:spPr>
          <a:xfrm>
            <a:off x="822960" y="2194560"/>
            <a:ext cx="4572000" cy="274320"/>
          </a:xfrm>
          <a:prstGeom prst="rect">
            <a:avLst/>
          </a:prstGeom>
          <a:noFill/>
          <a:ln/>
        </p:spPr>
        <p:txBody>
          <a:bodyPr wrap="square" rtlCol="0" anchor="ctr"/>
          <a:lstStyle/>
          <a:p>
            <a:pPr indent="0" marL="0">
              <a:buNone/>
            </a:pPr>
            <a:r>
              <a:rPr lang="en-US" sz="1100" b="1" spc="200" kern="0" dirty="0">
                <a:solidFill>
                  <a:srgbClr val="B22234"/>
                </a:solidFill>
                <a:latin typeface="Trebuchet MS" pitchFamily="34" charset="0"/>
                <a:ea typeface="Trebuchet MS" pitchFamily="34" charset="-122"/>
                <a:cs typeface="Trebuchet MS" pitchFamily="34" charset="-120"/>
              </a:rPr>
              <a:t>YOUR TASK</a:t>
            </a:r>
            <a:endParaRPr lang="en-US" sz="1100" dirty="0"/>
          </a:p>
        </p:txBody>
      </p:sp>
      <p:sp>
        <p:nvSpPr>
          <p:cNvPr id="11" name="Text 9"/>
          <p:cNvSpPr/>
          <p:nvPr/>
        </p:nvSpPr>
        <p:spPr>
          <a:xfrm>
            <a:off x="822960" y="2487168"/>
            <a:ext cx="6217920" cy="1828800"/>
          </a:xfrm>
          <a:prstGeom prst="rect">
            <a:avLst/>
          </a:prstGeom>
          <a:noFill/>
          <a:ln/>
        </p:spPr>
        <p:txBody>
          <a:bodyPr wrap="square" rtlCol="0" anchor="t"/>
          <a:lstStyle/>
          <a:p>
            <a:pPr indent="0" marL="0">
              <a:lnSpc>
                <a:spcPct val="112000"/>
              </a:lnSpc>
              <a:buNone/>
            </a:pPr>
            <a:r>
              <a:rPr lang="en-US" sz="1350" dirty="0">
                <a:solidFill>
                  <a:srgbClr val="1F2430"/>
                </a:solidFill>
                <a:latin typeface="Calibri" pitchFamily="34" charset="0"/>
                <a:ea typeface="Calibri" pitchFamily="34" charset="-122"/>
                <a:cs typeface="Calibri" pitchFamily="34" charset="-120"/>
              </a:rPr>
              <a:t>Using the railroad map and the Golden Spike photo, list THREE effects of the Transcontinental Railroad on (a) settlers, (b) immigrant labor, and (c) American Indian nations. For each effect, mark whether it was a benefit or a cost — and to whom.</a:t>
            </a:r>
            <a:endParaRPr lang="en-US" sz="1350" dirty="0"/>
          </a:p>
        </p:txBody>
      </p:sp>
      <p:sp>
        <p:nvSpPr>
          <p:cNvPr id="12" name="Shape 10"/>
          <p:cNvSpPr/>
          <p:nvPr/>
        </p:nvSpPr>
        <p:spPr>
          <a:xfrm>
            <a:off x="7552944" y="2020824"/>
            <a:ext cx="4142232" cy="1856232"/>
          </a:xfrm>
          <a:prstGeom prst="rect">
            <a:avLst/>
          </a:prstGeom>
          <a:solidFill>
            <a:srgbClr val="FFFFFF"/>
          </a:solidFill>
          <a:ln w="12700">
            <a:solidFill>
              <a:srgbClr val="DAD3C2"/>
            </a:solidFill>
            <a:prstDash val="solid"/>
          </a:ln>
        </p:spPr>
        <p:txBody>
          <a:bodyPr/>
          <a:p/>
        </p:txBody>
      </p:sp>
      <p:pic>
        <p:nvPicPr>
          <p:cNvPr id="13" name="Image 0" descr="Matthews-Northrup Company, 1890  Library of Congress">    </p:cNvPr>
          <p:cNvPicPr>
            <a:picLocks noChangeAspect="1"/>
          </p:cNvPicPr>
          <p:nvPr/>
        </p:nvPicPr>
        <p:blipFill>
          <a:blip r:embed="rId1"/>
          <a:srcRect l="0" r="0" t="0" b="0"/>
          <a:stretch/>
        </p:blipFill>
        <p:spPr>
          <a:xfrm>
            <a:off x="7589520" y="2057400"/>
            <a:ext cx="4069080" cy="1783080"/>
          </a:xfrm>
          <a:prstGeom prst="rect">
            <a:avLst/>
          </a:prstGeom>
        </p:spPr>
      </p:pic>
      <p:sp>
        <p:nvSpPr>
          <p:cNvPr id="14" name="Text 11"/>
          <p:cNvSpPr/>
          <p:nvPr/>
        </p:nvSpPr>
        <p:spPr>
          <a:xfrm>
            <a:off x="7589520" y="3895344"/>
            <a:ext cx="4069080" cy="493776"/>
          </a:xfrm>
          <a:prstGeom prst="rect">
            <a:avLst/>
          </a:prstGeom>
          <a:noFill/>
          <a:ln/>
        </p:spPr>
        <p:txBody>
          <a:bodyPr wrap="square" rtlCol="0" anchor="t"/>
          <a:lstStyle/>
          <a:p>
            <a:pPr algn="l" indent="0" marL="0">
              <a:lnSpc>
                <a:spcPct val="100000"/>
              </a:lnSpc>
              <a:buNone/>
            </a:pPr>
            <a:pPr algn="l" indent="0" marL="0">
              <a:lnSpc>
                <a:spcPct val="100000"/>
              </a:lnSpc>
              <a:buNone/>
            </a:pPr>
            <a:r>
              <a:rPr lang="en-US" sz="900" i="1" dirty="0">
                <a:solidFill>
                  <a:srgbClr val="5C6470"/>
                </a:solidFill>
                <a:latin typeface="Calibri" pitchFamily="34" charset="0"/>
                <a:ea typeface="Calibri" pitchFamily="34" charset="-122"/>
                <a:cs typeface="Calibri" pitchFamily="34" charset="-120"/>
              </a:rPr>
              <a:t>Matthews-Northrup Company, 1890  </a:t>
            </a:r>
            <a:pPr algn="l" indent="0" marL="0">
              <a:lnSpc>
                <a:spcPct val="100000"/>
              </a:lnSpc>
              <a:buNone/>
            </a:pPr>
            <a:r>
              <a:rPr lang="en-US" sz="9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750" dirty="0"/>
          </a:p>
        </p:txBody>
      </p:sp>
      <p:sp>
        <p:nvSpPr>
          <p:cNvPr id="15" name="Shape 12"/>
          <p:cNvSpPr/>
          <p:nvPr/>
        </p:nvSpPr>
        <p:spPr>
          <a:xfrm>
            <a:off x="548640" y="4526280"/>
            <a:ext cx="5486400" cy="1325880"/>
          </a:xfrm>
          <a:prstGeom prst="roundRect">
            <a:avLst>
              <a:gd name="adj" fmla="val 5517"/>
            </a:avLst>
          </a:prstGeom>
          <a:solidFill>
            <a:srgbClr val="1F3A5F"/>
          </a:solidFill>
          <a:ln/>
        </p:spPr>
        <p:txBody>
          <a:bodyPr/>
          <a:p/>
        </p:txBody>
      </p:sp>
      <p:sp>
        <p:nvSpPr>
          <p:cNvPr id="16" name="Text 13"/>
          <p:cNvSpPr/>
          <p:nvPr/>
        </p:nvSpPr>
        <p:spPr>
          <a:xfrm>
            <a:off x="777240" y="4645152"/>
            <a:ext cx="4572000" cy="274320"/>
          </a:xfrm>
          <a:prstGeom prst="rect">
            <a:avLst/>
          </a:prstGeom>
          <a:noFill/>
          <a:ln/>
        </p:spPr>
        <p:txBody>
          <a:bodyPr wrap="square" rtlCol="0" anchor="ctr"/>
          <a:lstStyle/>
          <a:p>
            <a:pPr indent="0" marL="0">
              <a:buNone/>
            </a:pPr>
            <a:r>
              <a:rPr lang="en-US" sz="1050" b="1" spc="200" kern="0" dirty="0">
                <a:solidFill>
                  <a:srgbClr val="F9A825"/>
                </a:solidFill>
                <a:latin typeface="Trebuchet MS" pitchFamily="34" charset="0"/>
                <a:ea typeface="Trebuchet MS" pitchFamily="34" charset="-122"/>
                <a:cs typeface="Trebuchet MS" pitchFamily="34" charset="-120"/>
              </a:rPr>
              <a:t>DELIVERABLE</a:t>
            </a:r>
            <a:endParaRPr lang="en-US" sz="1050" dirty="0"/>
          </a:p>
        </p:txBody>
      </p:sp>
      <p:sp>
        <p:nvSpPr>
          <p:cNvPr id="17" name="Text 14"/>
          <p:cNvSpPr/>
          <p:nvPr/>
        </p:nvSpPr>
        <p:spPr>
          <a:xfrm>
            <a:off x="777240" y="4919472"/>
            <a:ext cx="5029200" cy="868680"/>
          </a:xfrm>
          <a:prstGeom prst="rect">
            <a:avLst/>
          </a:prstGeom>
          <a:noFill/>
          <a:ln/>
        </p:spPr>
        <p:txBody>
          <a:bodyPr wrap="square"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Completed cause-effect web with at least 6 labeled effects.</a:t>
            </a:r>
            <a:endParaRPr lang="en-US" sz="1250" dirty="0"/>
          </a:p>
        </p:txBody>
      </p:sp>
      <p:sp>
        <p:nvSpPr>
          <p:cNvPr id="18" name="Shape 15"/>
          <p:cNvSpPr/>
          <p:nvPr/>
        </p:nvSpPr>
        <p:spPr>
          <a:xfrm>
            <a:off x="6172200" y="4526280"/>
            <a:ext cx="5440680" cy="1325880"/>
          </a:xfrm>
          <a:prstGeom prst="roundRect">
            <a:avLst>
              <a:gd name="adj" fmla="val 5517"/>
            </a:avLst>
          </a:prstGeom>
          <a:solidFill>
            <a:srgbClr val="FBEFD0"/>
          </a:solidFill>
          <a:ln w="15875">
            <a:solidFill>
              <a:srgbClr val="C9A227"/>
            </a:solidFill>
            <a:prstDash val="solid"/>
          </a:ln>
        </p:spPr>
        <p:txBody>
          <a:bodyPr/>
          <a:p/>
        </p:txBody>
      </p:sp>
      <p:sp>
        <p:nvSpPr>
          <p:cNvPr id="19" name="Text 16"/>
          <p:cNvSpPr/>
          <p:nvPr/>
        </p:nvSpPr>
        <p:spPr>
          <a:xfrm>
            <a:off x="6400800" y="4645152"/>
            <a:ext cx="4572000" cy="274320"/>
          </a:xfrm>
          <a:prstGeom prst="rect">
            <a:avLst/>
          </a:prstGeom>
          <a:noFill/>
          <a:ln/>
        </p:spPr>
        <p:txBody>
          <a:bodyPr wrap="square" rtlCol="0" anchor="ctr"/>
          <a:lstStyle/>
          <a:p>
            <a:pPr indent="0" marL="0">
              <a:buNone/>
            </a:pPr>
            <a:r>
              <a:rPr lang="en-US" sz="1050" b="1" spc="200" kern="0" dirty="0">
                <a:solidFill>
                  <a:srgbClr val="B22234"/>
                </a:solidFill>
                <a:latin typeface="Trebuchet MS" pitchFamily="34" charset="0"/>
                <a:ea typeface="Trebuchet MS" pitchFamily="34" charset="-122"/>
                <a:cs typeface="Trebuchet MS" pitchFamily="34" charset="-120"/>
              </a:rPr>
              <a:t>SUPPORT OPTIONS</a:t>
            </a:r>
            <a:endParaRPr lang="en-US" sz="1050" dirty="0"/>
          </a:p>
        </p:txBody>
      </p:sp>
      <p:sp>
        <p:nvSpPr>
          <p:cNvPr id="20" name="Text 17"/>
          <p:cNvSpPr/>
          <p:nvPr/>
        </p:nvSpPr>
        <p:spPr>
          <a:xfrm>
            <a:off x="6400800" y="4919472"/>
            <a:ext cx="5029200" cy="868680"/>
          </a:xfrm>
          <a:prstGeom prst="rect">
            <a:avLst/>
          </a:prstGeom>
          <a:noFill/>
          <a:ln/>
        </p:spPr>
        <p:txBody>
          <a:bodyPr wrap="square" rtlCol="0" anchor="t"/>
          <a:lstStyle/>
          <a:p>
            <a:pPr indent="0" marL="0">
              <a:lnSpc>
                <a:spcPct val="105000"/>
              </a:lnSpc>
              <a:buNone/>
            </a:pPr>
            <a:r>
              <a:rPr lang="en-US" sz="1200" dirty="0">
                <a:solidFill>
                  <a:srgbClr val="1F2430"/>
                </a:solidFill>
                <a:latin typeface="Calibri" pitchFamily="34" charset="0"/>
                <a:ea typeface="Calibri" pitchFamily="34" charset="-122"/>
                <a:cs typeface="Calibri" pitchFamily="34" charset="-120"/>
              </a:rPr>
              <a:t>SUPPORT OPTION: sentence stems provided. EXTENSION: rank the three groups by net impact and defend the order.</a:t>
            </a:r>
            <a:endParaRPr lang="en-US" sz="1200" dirty="0"/>
          </a:p>
        </p:txBody>
      </p:sp>
      <p:sp>
        <p:nvSpPr>
          <p:cNvPr id="21" name="Text 18"/>
          <p:cNvSpPr/>
          <p:nvPr/>
        </p:nvSpPr>
        <p:spPr>
          <a:xfrm>
            <a:off x="548640" y="5943600"/>
            <a:ext cx="11064240" cy="320040"/>
          </a:xfrm>
          <a:prstGeom prst="rect">
            <a:avLst/>
          </a:prstGeom>
          <a:noFill/>
          <a:ln/>
        </p:spPr>
        <p:txBody>
          <a:bodyPr wrap="square" rtlCol="0" anchor="ctr"/>
          <a:lstStyle/>
          <a:p>
            <a:pPr indent="0" marL="0">
              <a:buNone/>
            </a:pPr>
            <a:r>
              <a:rPr lang="en-US" sz="1050" b="1" dirty="0">
                <a:solidFill>
                  <a:srgbClr val="1F3A5F"/>
                </a:solidFill>
                <a:latin typeface="Calibri" pitchFamily="34" charset="0"/>
                <a:ea typeface="Calibri" pitchFamily="34" charset="-122"/>
                <a:cs typeface="Calibri" pitchFamily="34" charset="-120"/>
              </a:rPr>
              <a:t>Companion printable:  </a:t>
            </a:r>
            <a:pPr indent="0" marL="0">
              <a:buNone/>
            </a:pPr>
            <a:r>
              <a:rPr lang="en-US" sz="1050" i="1" dirty="0">
                <a:solidFill>
                  <a:srgbClr val="002858"/>
                </a:solidFill>
                <a:latin typeface="Calibri" pitchFamily="34" charset="0"/>
                <a:ea typeface="Calibri" pitchFamily="34" charset="-122"/>
                <a:cs typeface="Calibri" pitchFamily="34" charset="-120"/>
              </a:rPr>
              <a:t>Cornell Notes — US.01: Transcontinental Railroad &amp; Industrial Expansion (Teacher Tools › Worksheets › Cornell Notes)</a:t>
            </a:r>
            <a:endParaRPr lang="en-US" sz="1050" dirty="0"/>
          </a:p>
        </p:txBody>
      </p:sp>
      <p:sp>
        <p:nvSpPr>
          <p:cNvPr id="23" name="Text 19"/>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4" name="Text 20"/>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1F3A5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227"/>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US.01 · CHECK FOR UNDERSTANDING</a:t>
            </a:r>
            <a:endParaRPr lang="en-US" sz="1200" dirty="0"/>
          </a:p>
        </p:txBody>
      </p:sp>
      <p:sp>
        <p:nvSpPr>
          <p:cNvPr id="4" name="Text 2"/>
          <p:cNvSpPr/>
          <p:nvPr/>
        </p:nvSpPr>
        <p:spPr>
          <a:xfrm>
            <a:off x="548640" y="777240"/>
            <a:ext cx="676656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7635240" y="822960"/>
            <a:ext cx="1143000" cy="457200"/>
          </a:xfrm>
          <a:prstGeom prst="roundRect">
            <a:avLst>
              <a:gd name="adj" fmla="val 20000"/>
            </a:avLst>
          </a:prstGeom>
          <a:solidFill>
            <a:srgbClr val="243047"/>
          </a:solidFill>
          <a:ln w="12700">
            <a:solidFill>
              <a:srgbClr val="C9A227"/>
            </a:solidFill>
            <a:prstDash val="solid"/>
          </a:ln>
        </p:spPr>
        <p:txBody>
          <a:bodyPr/>
          <a:p/>
        </p:txBody>
      </p:sp>
      <p:sp>
        <p:nvSpPr>
          <p:cNvPr id="6" name="Text 4"/>
          <p:cNvSpPr/>
          <p:nvPr/>
        </p:nvSpPr>
        <p:spPr>
          <a:xfrm>
            <a:off x="7635240" y="822960"/>
            <a:ext cx="1143000" cy="457200"/>
          </a:xfrm>
          <a:prstGeom prst="rect">
            <a:avLst/>
          </a:prstGeom>
          <a:noFill/>
          <a:ln/>
        </p:spPr>
        <p:txBody>
          <a:bodyPr wrap="square" rtlCol="0" anchor="ctr"/>
          <a:lstStyle/>
          <a:p>
            <a:pPr algn="ctr" indent="0" marL="0">
              <a:buNone/>
            </a:pPr>
            <a:r>
              <a:rPr lang="en-US" sz="1200" b="1" dirty="0">
                <a:solidFill>
                  <a:srgbClr val="F9A825"/>
                </a:solidFill>
                <a:latin typeface="Trebuchet MS" pitchFamily="34" charset="0"/>
                <a:ea typeface="Trebuchet MS" pitchFamily="34" charset="-122"/>
                <a:cs typeface="Trebuchet MS" pitchFamily="34" charset="-120"/>
              </a:rPr>
              <a:t>DOK 3</a:t>
            </a:r>
            <a:endParaRPr lang="en-US" sz="1200" dirty="0"/>
          </a:p>
        </p:txBody>
      </p:sp>
      <p:sp>
        <p:nvSpPr>
          <p:cNvPr id="7" name="Shape 5"/>
          <p:cNvSpPr/>
          <p:nvPr/>
        </p:nvSpPr>
        <p:spPr>
          <a:xfrm>
            <a:off x="8869680" y="822960"/>
            <a:ext cx="2743200" cy="457200"/>
          </a:xfrm>
          <a:prstGeom prst="roundRect">
            <a:avLst>
              <a:gd name="adj" fmla="val 20000"/>
            </a:avLst>
          </a:prstGeom>
          <a:solidFill>
            <a:srgbClr val="B22234"/>
          </a:solidFill>
          <a:ln/>
        </p:spPr>
        <p:txBody>
          <a:bodyPr/>
          <a:p/>
        </p:txBody>
      </p:sp>
      <p:sp>
        <p:nvSpPr>
          <p:cNvPr id="8" name="Text 6"/>
          <p:cNvSpPr/>
          <p:nvPr/>
        </p:nvSpPr>
        <p:spPr>
          <a:xfrm>
            <a:off x="8869680" y="822960"/>
            <a:ext cx="274320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EOC PRACTICE</a:t>
            </a:r>
            <a:endParaRPr lang="en-US" sz="1200" dirty="0"/>
          </a:p>
        </p:txBody>
      </p:sp>
      <p:sp>
        <p:nvSpPr>
          <p:cNvPr id="9" name="Shape 7"/>
          <p:cNvSpPr/>
          <p:nvPr/>
        </p:nvSpPr>
        <p:spPr>
          <a:xfrm>
            <a:off x="548640" y="1554480"/>
            <a:ext cx="11064240" cy="1051560"/>
          </a:xfrm>
          <a:prstGeom prst="roundRect">
            <a:avLst>
              <a:gd name="adj" fmla="val 6957"/>
            </a:avLst>
          </a:prstGeom>
          <a:solidFill>
            <a:srgbClr val="243047"/>
          </a:solidFill>
          <a:ln w="6350">
            <a:solidFill>
              <a:srgbClr val="A7BACB"/>
            </a:solidFill>
            <a:prstDash val="solid"/>
          </a:ln>
        </p:spPr>
        <p:txBody>
          <a:bodyPr/>
          <a:p/>
        </p:txBody>
      </p:sp>
      <p:sp>
        <p:nvSpPr>
          <p:cNvPr id="10" name="Text 8"/>
          <p:cNvSpPr/>
          <p:nvPr/>
        </p:nvSpPr>
        <p:spPr>
          <a:xfrm>
            <a:off x="822960" y="1691640"/>
            <a:ext cx="10515600" cy="777240"/>
          </a:xfrm>
          <a:prstGeom prst="rect">
            <a:avLst/>
          </a:prstGeom>
          <a:noFill/>
          <a:ln/>
        </p:spPr>
        <p:txBody>
          <a:bodyPr wrap="square" rtlCol="0" anchor="ctr"/>
          <a:lstStyle/>
          <a:p>
            <a:pPr indent="0" marL="0">
              <a:lnSpc>
                <a:spcPct val="105000"/>
              </a:lnSpc>
              <a:buNone/>
            </a:pPr>
            <a:r>
              <a:rPr lang="en-US" sz="1600" b="1" dirty="0">
                <a:solidFill>
                  <a:srgbClr val="FFFFFF"/>
                </a:solidFill>
                <a:latin typeface="Calibri" pitchFamily="34" charset="0"/>
                <a:ea typeface="Calibri" pitchFamily="34" charset="-122"/>
                <a:cs typeface="Calibri" pitchFamily="34" charset="-120"/>
              </a:rPr>
              <a:t>A homesteading family and a Lakota family in 1875 would most likely have described the Homestead Act in very different ways. Which statement best explains why?</a:t>
            </a:r>
            <a:endParaRPr lang="en-US" sz="1600" dirty="0"/>
          </a:p>
        </p:txBody>
      </p:sp>
      <p:sp>
        <p:nvSpPr>
          <p:cNvPr id="11" name="Shape 9"/>
          <p:cNvSpPr/>
          <p:nvPr/>
        </p:nvSpPr>
        <p:spPr>
          <a:xfrm>
            <a:off x="548640" y="2743200"/>
            <a:ext cx="11064240" cy="658368"/>
          </a:xfrm>
          <a:prstGeom prst="roundRect">
            <a:avLst>
              <a:gd name="adj" fmla="val 8333"/>
            </a:avLst>
          </a:prstGeom>
          <a:solidFill>
            <a:srgbClr val="2C384F"/>
          </a:solidFill>
          <a:ln w="12700">
            <a:solidFill>
              <a:srgbClr val="3A475E"/>
            </a:solidFill>
            <a:prstDash val="solid"/>
          </a:ln>
        </p:spPr>
        <p:txBody>
          <a:bodyPr/>
          <a:p/>
        </p:txBody>
      </p:sp>
      <p:sp>
        <p:nvSpPr>
          <p:cNvPr id="12" name="Shape 10"/>
          <p:cNvSpPr/>
          <p:nvPr/>
        </p:nvSpPr>
        <p:spPr>
          <a:xfrm>
            <a:off x="713232" y="2889504"/>
            <a:ext cx="365760" cy="365760"/>
          </a:xfrm>
          <a:prstGeom prst="ellipse">
            <a:avLst/>
          </a:prstGeom>
          <a:solidFill>
            <a:srgbClr val="1F3A5F"/>
          </a:solidFill>
          <a:ln/>
        </p:spPr>
        <p:txBody>
          <a:bodyPr/>
          <a:p/>
        </p:txBody>
      </p:sp>
      <p:sp>
        <p:nvSpPr>
          <p:cNvPr id="13" name="Text 11"/>
          <p:cNvSpPr/>
          <p:nvPr/>
        </p:nvSpPr>
        <p:spPr>
          <a:xfrm>
            <a:off x="713232" y="2889504"/>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A</a:t>
            </a:r>
            <a:endParaRPr lang="en-US" sz="1400" dirty="0"/>
          </a:p>
        </p:txBody>
      </p:sp>
      <p:sp>
        <p:nvSpPr>
          <p:cNvPr id="14" name="Text 12"/>
          <p:cNvSpPr/>
          <p:nvPr/>
        </p:nvSpPr>
        <p:spPr>
          <a:xfrm>
            <a:off x="1234440" y="2743200"/>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The Homestead Act applied only to settlers and never affected American Indians in any way.</a:t>
            </a:r>
            <a:endParaRPr lang="en-US" sz="1350" dirty="0"/>
          </a:p>
        </p:txBody>
      </p:sp>
      <p:sp>
        <p:nvSpPr>
          <p:cNvPr id="15" name="Shape 13"/>
          <p:cNvSpPr/>
          <p:nvPr/>
        </p:nvSpPr>
        <p:spPr>
          <a:xfrm>
            <a:off x="548640" y="3493008"/>
            <a:ext cx="11064240" cy="658368"/>
          </a:xfrm>
          <a:prstGeom prst="roundRect">
            <a:avLst>
              <a:gd name="adj" fmla="val 8333"/>
            </a:avLst>
          </a:prstGeom>
          <a:solidFill>
            <a:srgbClr val="2C384F"/>
          </a:solidFill>
          <a:ln w="12700">
            <a:solidFill>
              <a:srgbClr val="3A475E"/>
            </a:solidFill>
            <a:prstDash val="solid"/>
          </a:ln>
        </p:spPr>
        <p:txBody>
          <a:bodyPr/>
          <a:p/>
        </p:txBody>
      </p:sp>
      <p:sp>
        <p:nvSpPr>
          <p:cNvPr id="16" name="Shape 14"/>
          <p:cNvSpPr/>
          <p:nvPr/>
        </p:nvSpPr>
        <p:spPr>
          <a:xfrm>
            <a:off x="713232" y="3639312"/>
            <a:ext cx="365760" cy="365760"/>
          </a:xfrm>
          <a:prstGeom prst="ellipse">
            <a:avLst/>
          </a:prstGeom>
          <a:solidFill>
            <a:srgbClr val="1F3A5F"/>
          </a:solidFill>
          <a:ln/>
        </p:spPr>
        <p:txBody>
          <a:bodyPr/>
          <a:p/>
        </p:txBody>
      </p:sp>
      <p:sp>
        <p:nvSpPr>
          <p:cNvPr id="17" name="Text 15"/>
          <p:cNvSpPr/>
          <p:nvPr/>
        </p:nvSpPr>
        <p:spPr>
          <a:xfrm>
            <a:off x="713232" y="3639312"/>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B</a:t>
            </a:r>
            <a:endParaRPr lang="en-US" sz="1400" dirty="0"/>
          </a:p>
        </p:txBody>
      </p:sp>
      <p:sp>
        <p:nvSpPr>
          <p:cNvPr id="18" name="Text 16"/>
          <p:cNvSpPr/>
          <p:nvPr/>
        </p:nvSpPr>
        <p:spPr>
          <a:xfrm>
            <a:off x="1234440" y="3493008"/>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The same law that opened “free” land to settlers took that land away from American Indians who already lived on it.</a:t>
            </a:r>
            <a:endParaRPr lang="en-US" sz="1350" dirty="0"/>
          </a:p>
        </p:txBody>
      </p:sp>
      <p:sp>
        <p:nvSpPr>
          <p:cNvPr id="19" name="Shape 17"/>
          <p:cNvSpPr/>
          <p:nvPr/>
        </p:nvSpPr>
        <p:spPr>
          <a:xfrm>
            <a:off x="548640" y="4242816"/>
            <a:ext cx="11064240" cy="658368"/>
          </a:xfrm>
          <a:prstGeom prst="roundRect">
            <a:avLst>
              <a:gd name="adj" fmla="val 8333"/>
            </a:avLst>
          </a:prstGeom>
          <a:solidFill>
            <a:srgbClr val="2C384F"/>
          </a:solidFill>
          <a:ln w="12700">
            <a:solidFill>
              <a:srgbClr val="3A475E"/>
            </a:solidFill>
            <a:prstDash val="solid"/>
          </a:ln>
        </p:spPr>
        <p:txBody>
          <a:bodyPr/>
          <a:p/>
        </p:txBody>
      </p:sp>
      <p:sp>
        <p:nvSpPr>
          <p:cNvPr id="20" name="Shape 18"/>
          <p:cNvSpPr/>
          <p:nvPr/>
        </p:nvSpPr>
        <p:spPr>
          <a:xfrm>
            <a:off x="713232" y="4389120"/>
            <a:ext cx="365760" cy="365760"/>
          </a:xfrm>
          <a:prstGeom prst="ellipse">
            <a:avLst/>
          </a:prstGeom>
          <a:solidFill>
            <a:srgbClr val="1F3A5F"/>
          </a:solidFill>
          <a:ln/>
        </p:spPr>
        <p:txBody>
          <a:bodyPr/>
          <a:p/>
        </p:txBody>
      </p:sp>
      <p:sp>
        <p:nvSpPr>
          <p:cNvPr id="21" name="Text 19"/>
          <p:cNvSpPr/>
          <p:nvPr/>
        </p:nvSpPr>
        <p:spPr>
          <a:xfrm>
            <a:off x="713232" y="4389120"/>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C</a:t>
            </a:r>
            <a:endParaRPr lang="en-US" sz="1400" dirty="0"/>
          </a:p>
        </p:txBody>
      </p:sp>
      <p:sp>
        <p:nvSpPr>
          <p:cNvPr id="22" name="Text 20"/>
          <p:cNvSpPr/>
          <p:nvPr/>
        </p:nvSpPr>
        <p:spPr>
          <a:xfrm>
            <a:off x="1234440" y="4242816"/>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Both families received 160 acres each under the law, so their views would have matched.</a:t>
            </a:r>
            <a:endParaRPr lang="en-US" sz="1350" dirty="0"/>
          </a:p>
        </p:txBody>
      </p:sp>
      <p:sp>
        <p:nvSpPr>
          <p:cNvPr id="23" name="Shape 21"/>
          <p:cNvSpPr/>
          <p:nvPr/>
        </p:nvSpPr>
        <p:spPr>
          <a:xfrm>
            <a:off x="548640" y="4992624"/>
            <a:ext cx="11064240" cy="658368"/>
          </a:xfrm>
          <a:prstGeom prst="roundRect">
            <a:avLst>
              <a:gd name="adj" fmla="val 8333"/>
            </a:avLst>
          </a:prstGeom>
          <a:solidFill>
            <a:srgbClr val="2C384F"/>
          </a:solidFill>
          <a:ln w="12700">
            <a:solidFill>
              <a:srgbClr val="3A475E"/>
            </a:solidFill>
            <a:prstDash val="solid"/>
          </a:ln>
        </p:spPr>
        <p:txBody>
          <a:bodyPr/>
          <a:p/>
        </p:txBody>
      </p:sp>
      <p:sp>
        <p:nvSpPr>
          <p:cNvPr id="24" name="Shape 22"/>
          <p:cNvSpPr/>
          <p:nvPr/>
        </p:nvSpPr>
        <p:spPr>
          <a:xfrm>
            <a:off x="713232" y="5138928"/>
            <a:ext cx="365760" cy="365760"/>
          </a:xfrm>
          <a:prstGeom prst="ellipse">
            <a:avLst/>
          </a:prstGeom>
          <a:solidFill>
            <a:srgbClr val="1F3A5F"/>
          </a:solidFill>
          <a:ln/>
        </p:spPr>
        <p:txBody>
          <a:bodyPr/>
          <a:p/>
        </p:txBody>
      </p:sp>
      <p:sp>
        <p:nvSpPr>
          <p:cNvPr id="25" name="Text 23"/>
          <p:cNvSpPr/>
          <p:nvPr/>
        </p:nvSpPr>
        <p:spPr>
          <a:xfrm>
            <a:off x="713232" y="5138928"/>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D</a:t>
            </a:r>
            <a:endParaRPr lang="en-US" sz="1400" dirty="0"/>
          </a:p>
        </p:txBody>
      </p:sp>
      <p:sp>
        <p:nvSpPr>
          <p:cNvPr id="26" name="Text 24"/>
          <p:cNvSpPr/>
          <p:nvPr/>
        </p:nvSpPr>
        <p:spPr>
          <a:xfrm>
            <a:off x="1234440" y="4992624"/>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The law was written to benefit American Indians first and settlers second.</a:t>
            </a:r>
            <a:endParaRPr lang="en-US" sz="1350" dirty="0"/>
          </a:p>
        </p:txBody>
      </p:sp>
      <p:sp>
        <p:nvSpPr>
          <p:cNvPr id="27" name="Shape 25"/>
          <p:cNvSpPr/>
          <p:nvPr/>
        </p:nvSpPr>
        <p:spPr>
          <a:xfrm>
            <a:off x="548640" y="5715000"/>
            <a:ext cx="11064240" cy="502920"/>
          </a:xfrm>
          <a:prstGeom prst="roundRect">
            <a:avLst>
              <a:gd name="adj" fmla="val 14545"/>
            </a:avLst>
          </a:prstGeom>
          <a:solidFill>
            <a:srgbClr val="243047"/>
          </a:solidFill>
          <a:ln w="12700">
            <a:solidFill>
              <a:srgbClr val="C9A227"/>
            </a:solidFill>
            <a:prstDash val="solid"/>
          </a:ln>
        </p:spPr>
        <p:txBody>
          <a:bodyPr/>
          <a:p/>
        </p:txBody>
      </p:sp>
      <p:sp>
        <p:nvSpPr>
          <p:cNvPr id="28" name="Text 26"/>
          <p:cNvSpPr/>
          <p:nvPr/>
        </p:nvSpPr>
        <p:spPr>
          <a:xfrm>
            <a:off x="822960" y="5715000"/>
            <a:ext cx="10515600" cy="502920"/>
          </a:xfrm>
          <a:prstGeom prst="rect">
            <a:avLst/>
          </a:prstGeom>
          <a:noFill/>
          <a:ln/>
        </p:spPr>
        <p:txBody>
          <a:bodyPr wrap="square" rtlCol="0" anchor="ctr"/>
          <a:lstStyle/>
          <a:p>
            <a:pPr indent="0" marL="0">
              <a:buNone/>
            </a:pPr>
            <a:r>
              <a:rPr lang="en-US" sz="1200" b="1" i="1" spc="100" kern="0" dirty="0">
                <a:solidFill>
                  <a:srgbClr val="F9A825"/>
                </a:solidFill>
                <a:latin typeface="Trebuchet MS" pitchFamily="34" charset="0"/>
                <a:ea typeface="Trebuchet MS" pitchFamily="34" charset="-122"/>
                <a:cs typeface="Trebuchet MS" pitchFamily="34" charset="-120"/>
              </a:rPr>
              <a:t>ANSWER FIRST:  </a:t>
            </a:r>
            <a:pPr indent="0" marL="0">
              <a:buNone/>
            </a:pPr>
            <a:r>
              <a:rPr lang="en-US" sz="1200" i="1" dirty="0">
                <a:solidFill>
                  <a:srgbClr val="C7D4E0"/>
                </a:solidFill>
                <a:latin typeface="Calibri" pitchFamily="34" charset="0"/>
                <a:ea typeface="Calibri" pitchFamily="34" charset="-122"/>
                <a:cs typeface="Calibri" pitchFamily="34" charset="-120"/>
              </a:rPr>
              <a:t>students commit — then click / advance to reveal the correct answer and explanation.</a:t>
            </a:r>
            <a:endParaRPr lang="en-US" sz="1200" dirty="0"/>
          </a:p>
        </p:txBody>
      </p:sp>
      <p:sp>
        <p:nvSpPr>
          <p:cNvPr id="30" name="Text 27"/>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1" name="Text 2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1F3A5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227"/>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US.01 · ANSWER REVEAL</a:t>
            </a:r>
            <a:endParaRPr lang="en-US" sz="1200" dirty="0"/>
          </a:p>
        </p:txBody>
      </p:sp>
      <p:sp>
        <p:nvSpPr>
          <p:cNvPr id="4" name="Text 2"/>
          <p:cNvSpPr/>
          <p:nvPr/>
        </p:nvSpPr>
        <p:spPr>
          <a:xfrm>
            <a:off x="548640" y="777240"/>
            <a:ext cx="822960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8595360" y="822960"/>
            <a:ext cx="3017520" cy="457200"/>
          </a:xfrm>
          <a:prstGeom prst="roundRect">
            <a:avLst>
              <a:gd name="adj" fmla="val 20000"/>
            </a:avLst>
          </a:prstGeom>
          <a:solidFill>
            <a:srgbClr val="1B5E20"/>
          </a:solidFill>
          <a:ln/>
        </p:spPr>
        <p:txBody>
          <a:bodyPr/>
          <a:p/>
        </p:txBody>
      </p:sp>
      <p:sp>
        <p:nvSpPr>
          <p:cNvPr id="6" name="Text 4"/>
          <p:cNvSpPr/>
          <p:nvPr/>
        </p:nvSpPr>
        <p:spPr>
          <a:xfrm>
            <a:off x="8595360" y="822960"/>
            <a:ext cx="301752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 ANSWER KEY</a:t>
            </a:r>
            <a:endParaRPr lang="en-US" sz="1200" dirty="0"/>
          </a:p>
        </p:txBody>
      </p:sp>
      <p:sp>
        <p:nvSpPr>
          <p:cNvPr id="7" name="Shape 5"/>
          <p:cNvSpPr/>
          <p:nvPr/>
        </p:nvSpPr>
        <p:spPr>
          <a:xfrm>
            <a:off x="548640" y="1554480"/>
            <a:ext cx="11064240" cy="960120"/>
          </a:xfrm>
          <a:prstGeom prst="roundRect">
            <a:avLst>
              <a:gd name="adj" fmla="val 7619"/>
            </a:avLst>
          </a:prstGeom>
          <a:solidFill>
            <a:srgbClr val="243047"/>
          </a:solidFill>
          <a:ln w="6350">
            <a:solidFill>
              <a:srgbClr val="A7BACB"/>
            </a:solidFill>
            <a:prstDash val="solid"/>
          </a:ln>
        </p:spPr>
        <p:txBody>
          <a:bodyPr/>
          <a:p/>
        </p:txBody>
      </p:sp>
      <p:sp>
        <p:nvSpPr>
          <p:cNvPr id="8" name="Text 6"/>
          <p:cNvSpPr/>
          <p:nvPr/>
        </p:nvSpPr>
        <p:spPr>
          <a:xfrm>
            <a:off x="822960" y="1664208"/>
            <a:ext cx="10515600" cy="731520"/>
          </a:xfrm>
          <a:prstGeom prst="rect">
            <a:avLst/>
          </a:prstGeom>
          <a:noFill/>
          <a:ln/>
        </p:spPr>
        <p:txBody>
          <a:bodyPr wrap="square" rtlCol="0" anchor="ctr"/>
          <a:lstStyle/>
          <a:p>
            <a:pPr indent="0" marL="0">
              <a:lnSpc>
                <a:spcPct val="102000"/>
              </a:lnSpc>
              <a:buNone/>
            </a:pPr>
            <a:r>
              <a:rPr lang="en-US" sz="1500" b="1" dirty="0">
                <a:solidFill>
                  <a:srgbClr val="FFFFFF"/>
                </a:solidFill>
                <a:latin typeface="Calibri" pitchFamily="34" charset="0"/>
                <a:ea typeface="Calibri" pitchFamily="34" charset="-122"/>
                <a:cs typeface="Calibri" pitchFamily="34" charset="-120"/>
              </a:rPr>
              <a:t>A homesteading family and a Lakota family in 1875 would most likely have described the Homestead Act in very different ways. Which statement best explains why?</a:t>
            </a:r>
            <a:endParaRPr lang="en-US" sz="1500" dirty="0"/>
          </a:p>
        </p:txBody>
      </p:sp>
      <p:sp>
        <p:nvSpPr>
          <p:cNvPr id="9" name="Shape 7"/>
          <p:cNvSpPr/>
          <p:nvPr/>
        </p:nvSpPr>
        <p:spPr>
          <a:xfrm>
            <a:off x="548640" y="2651760"/>
            <a:ext cx="11064240" cy="566928"/>
          </a:xfrm>
          <a:prstGeom prst="roundRect">
            <a:avLst>
              <a:gd name="adj" fmla="val 9677"/>
            </a:avLst>
          </a:prstGeom>
          <a:solidFill>
            <a:srgbClr val="2C384F"/>
          </a:solidFill>
          <a:ln w="12700">
            <a:solidFill>
              <a:srgbClr val="F9A825"/>
            </a:solidFill>
            <a:prstDash val="solid"/>
          </a:ln>
        </p:spPr>
        <p:txBody>
          <a:bodyPr/>
          <a:p/>
        </p:txBody>
      </p:sp>
      <p:sp>
        <p:nvSpPr>
          <p:cNvPr id="10" name="Shape 8"/>
          <p:cNvSpPr/>
          <p:nvPr/>
        </p:nvSpPr>
        <p:spPr>
          <a:xfrm>
            <a:off x="713232" y="2761488"/>
            <a:ext cx="347472" cy="347472"/>
          </a:xfrm>
          <a:prstGeom prst="ellipse">
            <a:avLst/>
          </a:prstGeom>
          <a:solidFill>
            <a:srgbClr val="1F3A5F"/>
          </a:solidFill>
          <a:ln/>
        </p:spPr>
        <p:txBody>
          <a:bodyPr/>
          <a:p/>
        </p:txBody>
      </p:sp>
      <p:sp>
        <p:nvSpPr>
          <p:cNvPr id="11" name="Text 9"/>
          <p:cNvSpPr/>
          <p:nvPr/>
        </p:nvSpPr>
        <p:spPr>
          <a:xfrm>
            <a:off x="713232" y="2761488"/>
            <a:ext cx="347472" cy="347472"/>
          </a:xfrm>
          <a:prstGeom prst="rect">
            <a:avLst/>
          </a:prstGeom>
          <a:noFill/>
          <a:ln/>
        </p:spPr>
        <p:txBody>
          <a:bodyPr wrap="square" rtlCol="0" anchor="ctr"/>
          <a:lstStyle/>
          <a:p>
            <a:pPr algn="ctr" indent="0" marL="0">
              <a:buNone/>
            </a:pPr>
            <a:r>
              <a:rPr lang="en-US" sz="1300" b="1" dirty="0">
                <a:solidFill>
                  <a:srgbClr val="F9A825"/>
                </a:solidFill>
                <a:latin typeface="Trebuchet MS" pitchFamily="34" charset="0"/>
                <a:ea typeface="Trebuchet MS" pitchFamily="34" charset="-122"/>
                <a:cs typeface="Trebuchet MS" pitchFamily="34" charset="-120"/>
              </a:rPr>
              <a:t>A</a:t>
            </a:r>
            <a:endParaRPr lang="en-US" sz="1300" dirty="0"/>
          </a:p>
        </p:txBody>
      </p:sp>
      <p:sp>
        <p:nvSpPr>
          <p:cNvPr id="12" name="Text 10"/>
          <p:cNvSpPr/>
          <p:nvPr/>
        </p:nvSpPr>
        <p:spPr>
          <a:xfrm>
            <a:off x="1216152" y="2651760"/>
            <a:ext cx="9509760" cy="566928"/>
          </a:xfrm>
          <a:prstGeom prst="rect">
            <a:avLst/>
          </a:prstGeom>
          <a:noFill/>
          <a:ln/>
        </p:spPr>
        <p:txBody>
          <a:bodyPr wrap="square" rtlCol="0" anchor="ctr"/>
          <a:lstStyle/>
          <a:p>
            <a:pPr indent="0" marL="0">
              <a:lnSpc>
                <a:spcPct val="100000"/>
              </a:lnSpc>
              <a:buNone/>
            </a:pPr>
            <a:r>
              <a:rPr lang="en-US" sz="1300" b="1" dirty="0">
                <a:solidFill>
                  <a:srgbClr val="1F3A5F"/>
                </a:solidFill>
                <a:latin typeface="Calibri" pitchFamily="34" charset="0"/>
                <a:ea typeface="Calibri" pitchFamily="34" charset="-122"/>
                <a:cs typeface="Calibri" pitchFamily="34" charset="-120"/>
              </a:rPr>
              <a:t>The Homestead Act applied only to settlers and never affected American Indians in any way.</a:t>
            </a:r>
            <a:endParaRPr lang="en-US" sz="1300" dirty="0"/>
          </a:p>
        </p:txBody>
      </p:sp>
      <p:sp>
        <p:nvSpPr>
          <p:cNvPr id="13" name="Text 11"/>
          <p:cNvSpPr/>
          <p:nvPr/>
        </p:nvSpPr>
        <p:spPr>
          <a:xfrm>
            <a:off x="11018520" y="3310128"/>
            <a:ext cx="457200" cy="566928"/>
          </a:xfrm>
          <a:prstGeom prst="rect">
            <a:avLst/>
          </a:prstGeom>
          <a:noFill/>
          <a:ln/>
        </p:spPr>
        <p:txBody>
          <a:bodyPr wrap="square" rtlCol="0" anchor="ctr"/>
          <a:lstStyle/>
          <a:p>
            <a:pPr algn="ctr" indent="0" marL="0">
              <a:buNone/>
            </a:pPr>
            <a:r>
              <a:rPr lang="en-US" sz="1700" b="1" dirty="0">
                <a:solidFill>
                  <a:srgbClr val="1F3A5F"/>
                </a:solidFill>
                <a:latin typeface="Calibri" pitchFamily="34" charset="0"/>
                <a:ea typeface="Calibri" pitchFamily="34" charset="-122"/>
                <a:cs typeface="Calibri" pitchFamily="34" charset="-120"/>
              </a:rPr>
              <a:t>✓</a:t>
            </a:r>
            <a:endParaRPr lang="en-US" sz="1700" dirty="0"/>
          </a:p>
        </p:txBody>
      </p:sp>
      <p:sp>
        <p:nvSpPr>
          <p:cNvPr id="14" name="Shape 12"/>
          <p:cNvSpPr/>
          <p:nvPr/>
        </p:nvSpPr>
        <p:spPr>
          <a:xfrm>
            <a:off x="548640" y="3310128"/>
            <a:ext cx="11064240" cy="566928"/>
          </a:xfrm>
          <a:prstGeom prst="roundRect">
            <a:avLst>
              <a:gd name="adj" fmla="val 9677"/>
            </a:avLst>
          </a:prstGeom>
          <a:solidFill>
            <a:srgbClr val="C9A227"/>
          </a:solidFill>
          <a:ln w="12700">
            <a:solidFill>
              <a:srgbClr val="3A475E"/>
            </a:solidFill>
            <a:prstDash val="solid"/>
          </a:ln>
        </p:spPr>
        <p:txBody>
          <a:bodyPr/>
          <a:p/>
        </p:txBody>
      </p:sp>
      <p:sp>
        <p:nvSpPr>
          <p:cNvPr id="15" name="Shape 13"/>
          <p:cNvSpPr/>
          <p:nvPr/>
        </p:nvSpPr>
        <p:spPr>
          <a:xfrm>
            <a:off x="713232" y="3419856"/>
            <a:ext cx="347472" cy="347472"/>
          </a:xfrm>
          <a:prstGeom prst="ellipse">
            <a:avLst/>
          </a:prstGeom>
          <a:solidFill>
            <a:srgbClr val="1F3A5F"/>
          </a:solidFill>
          <a:ln/>
        </p:spPr>
        <p:txBody>
          <a:bodyPr/>
          <a:p/>
        </p:txBody>
      </p:sp>
      <p:sp>
        <p:nvSpPr>
          <p:cNvPr id="16" name="Text 14"/>
          <p:cNvSpPr/>
          <p:nvPr/>
        </p:nvSpPr>
        <p:spPr>
          <a:xfrm>
            <a:off x="713232" y="3419856"/>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B</a:t>
            </a:r>
            <a:endParaRPr lang="en-US" sz="1300" dirty="0"/>
          </a:p>
        </p:txBody>
      </p:sp>
      <p:sp>
        <p:nvSpPr>
          <p:cNvPr id="17" name="Text 15"/>
          <p:cNvSpPr/>
          <p:nvPr/>
        </p:nvSpPr>
        <p:spPr>
          <a:xfrm>
            <a:off x="1216152" y="3310128"/>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The same law that opened “free” land to settlers took that land away from American Indians who already lived on it.</a:t>
            </a:r>
            <a:endParaRPr lang="en-US" sz="1300" dirty="0"/>
          </a:p>
        </p:txBody>
      </p:sp>
      <p:sp>
        <p:nvSpPr>
          <p:cNvPr id="18" name="Shape 16"/>
          <p:cNvSpPr/>
          <p:nvPr/>
        </p:nvSpPr>
        <p:spPr>
          <a:xfrm>
            <a:off x="548640" y="3968496"/>
            <a:ext cx="11064240" cy="566928"/>
          </a:xfrm>
          <a:prstGeom prst="roundRect">
            <a:avLst>
              <a:gd name="adj" fmla="val 9677"/>
            </a:avLst>
          </a:prstGeom>
          <a:solidFill>
            <a:srgbClr val="2C384F"/>
          </a:solidFill>
          <a:ln w="12700">
            <a:solidFill>
              <a:srgbClr val="3A475E"/>
            </a:solidFill>
            <a:prstDash val="solid"/>
          </a:ln>
        </p:spPr>
        <p:txBody>
          <a:bodyPr/>
          <a:p/>
        </p:txBody>
      </p:sp>
      <p:sp>
        <p:nvSpPr>
          <p:cNvPr id="19" name="Shape 17"/>
          <p:cNvSpPr/>
          <p:nvPr/>
        </p:nvSpPr>
        <p:spPr>
          <a:xfrm>
            <a:off x="713232" y="4078224"/>
            <a:ext cx="347472" cy="347472"/>
          </a:xfrm>
          <a:prstGeom prst="ellipse">
            <a:avLst/>
          </a:prstGeom>
          <a:solidFill>
            <a:srgbClr val="1F3A5F"/>
          </a:solidFill>
          <a:ln/>
        </p:spPr>
        <p:txBody>
          <a:bodyPr/>
          <a:p/>
        </p:txBody>
      </p:sp>
      <p:sp>
        <p:nvSpPr>
          <p:cNvPr id="20" name="Text 18"/>
          <p:cNvSpPr/>
          <p:nvPr/>
        </p:nvSpPr>
        <p:spPr>
          <a:xfrm>
            <a:off x="713232" y="4078224"/>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C</a:t>
            </a:r>
            <a:endParaRPr lang="en-US" sz="1300" dirty="0"/>
          </a:p>
        </p:txBody>
      </p:sp>
      <p:sp>
        <p:nvSpPr>
          <p:cNvPr id="21" name="Text 19"/>
          <p:cNvSpPr/>
          <p:nvPr/>
        </p:nvSpPr>
        <p:spPr>
          <a:xfrm>
            <a:off x="1216152" y="3968496"/>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Both families received 160 acres each under the law, so their views would have matched.</a:t>
            </a:r>
            <a:endParaRPr lang="en-US" sz="1300" dirty="0"/>
          </a:p>
        </p:txBody>
      </p:sp>
      <p:sp>
        <p:nvSpPr>
          <p:cNvPr id="22" name="Shape 20"/>
          <p:cNvSpPr/>
          <p:nvPr/>
        </p:nvSpPr>
        <p:spPr>
          <a:xfrm>
            <a:off x="548640" y="4626864"/>
            <a:ext cx="11064240" cy="566928"/>
          </a:xfrm>
          <a:prstGeom prst="roundRect">
            <a:avLst>
              <a:gd name="adj" fmla="val 9677"/>
            </a:avLst>
          </a:prstGeom>
          <a:solidFill>
            <a:srgbClr val="2C384F"/>
          </a:solidFill>
          <a:ln w="12700">
            <a:solidFill>
              <a:srgbClr val="3A475E"/>
            </a:solidFill>
            <a:prstDash val="solid"/>
          </a:ln>
        </p:spPr>
        <p:txBody>
          <a:bodyPr/>
          <a:p/>
        </p:txBody>
      </p:sp>
      <p:sp>
        <p:nvSpPr>
          <p:cNvPr id="23" name="Shape 21"/>
          <p:cNvSpPr/>
          <p:nvPr/>
        </p:nvSpPr>
        <p:spPr>
          <a:xfrm>
            <a:off x="713232" y="4736592"/>
            <a:ext cx="347472" cy="347472"/>
          </a:xfrm>
          <a:prstGeom prst="ellipse">
            <a:avLst/>
          </a:prstGeom>
          <a:solidFill>
            <a:srgbClr val="1F3A5F"/>
          </a:solidFill>
          <a:ln/>
        </p:spPr>
        <p:txBody>
          <a:bodyPr/>
          <a:p/>
        </p:txBody>
      </p:sp>
      <p:sp>
        <p:nvSpPr>
          <p:cNvPr id="24" name="Text 22"/>
          <p:cNvSpPr/>
          <p:nvPr/>
        </p:nvSpPr>
        <p:spPr>
          <a:xfrm>
            <a:off x="713232" y="4736592"/>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D</a:t>
            </a:r>
            <a:endParaRPr lang="en-US" sz="1300" dirty="0"/>
          </a:p>
        </p:txBody>
      </p:sp>
      <p:sp>
        <p:nvSpPr>
          <p:cNvPr id="25" name="Text 23"/>
          <p:cNvSpPr/>
          <p:nvPr/>
        </p:nvSpPr>
        <p:spPr>
          <a:xfrm>
            <a:off x="1216152" y="4626864"/>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The law was written to benefit American Indians first and settlers second.</a:t>
            </a:r>
            <a:endParaRPr lang="en-US" sz="1300" dirty="0"/>
          </a:p>
        </p:txBody>
      </p:sp>
      <p:sp>
        <p:nvSpPr>
          <p:cNvPr id="26" name="Shape 24"/>
          <p:cNvSpPr/>
          <p:nvPr/>
        </p:nvSpPr>
        <p:spPr>
          <a:xfrm>
            <a:off x="548640" y="5440680"/>
            <a:ext cx="11064240" cy="868680"/>
          </a:xfrm>
          <a:prstGeom prst="roundRect">
            <a:avLst>
              <a:gd name="adj" fmla="val 8421"/>
            </a:avLst>
          </a:prstGeom>
          <a:solidFill>
            <a:srgbClr val="243047"/>
          </a:solidFill>
          <a:ln w="12700">
            <a:solidFill>
              <a:srgbClr val="F9A825"/>
            </a:solidFill>
            <a:prstDash val="solid"/>
          </a:ln>
        </p:spPr>
        <p:txBody>
          <a:bodyPr/>
          <a:p/>
        </p:txBody>
      </p:sp>
      <p:sp>
        <p:nvSpPr>
          <p:cNvPr id="27" name="Text 25"/>
          <p:cNvSpPr/>
          <p:nvPr/>
        </p:nvSpPr>
        <p:spPr>
          <a:xfrm>
            <a:off x="822960" y="5532120"/>
            <a:ext cx="10515600" cy="713232"/>
          </a:xfrm>
          <a:prstGeom prst="rect">
            <a:avLst/>
          </a:prstGeom>
          <a:noFill/>
          <a:ln/>
        </p:spPr>
        <p:txBody>
          <a:bodyPr wrap="square" rtlCol="0" anchor="ctr"/>
          <a:lstStyle/>
          <a:p>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Correct answer: B.  </a:t>
            </a:r>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Why: </a:t>
            </a:r>
            <a:pPr indent="0" marL="0">
              <a:lnSpc>
                <a:spcPct val="104000"/>
              </a:lnSpc>
              <a:buNone/>
            </a:pPr>
            <a:r>
              <a:rPr lang="en-US" sz="1150" dirty="0">
                <a:solidFill>
                  <a:srgbClr val="C7D4E0"/>
                </a:solidFill>
                <a:latin typeface="Calibri" pitchFamily="34" charset="0"/>
                <a:ea typeface="Calibri" pitchFamily="34" charset="-122"/>
                <a:cs typeface="Calibri" pitchFamily="34" charset="-120"/>
              </a:rPr>
              <a:t>DOK 3: Students must weigh competing perspectives. The Act’s "free" 160-acre grants to settlers came from land that the federal government took from American Indian nations, so the same policy meant opportunity for one group and dispossession for another.</a:t>
            </a:r>
            <a:endParaRPr lang="en-US" sz="1150" dirty="0"/>
          </a:p>
        </p:txBody>
      </p:sp>
      <p:sp>
        <p:nvSpPr>
          <p:cNvPr id="29" name="Text 26"/>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0" name="Text 2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F3A5F"/>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B22234"/>
                </a:solidFill>
                <a:latin typeface="Trebuchet MS" pitchFamily="34" charset="0"/>
                <a:ea typeface="Trebuchet MS" pitchFamily="34" charset="-122"/>
                <a:cs typeface="Trebuchet MS" pitchFamily="34" charset="-120"/>
              </a:rPr>
              <a:t>US.01 · WRAP-UP</a:t>
            </a:r>
            <a:endParaRPr lang="en-US" sz="1200" dirty="0"/>
          </a:p>
        </p:txBody>
      </p:sp>
      <p:sp>
        <p:nvSpPr>
          <p:cNvPr id="4" name="Text 2"/>
          <p:cNvSpPr/>
          <p:nvPr/>
        </p:nvSpPr>
        <p:spPr>
          <a:xfrm>
            <a:off x="548640" y="731520"/>
            <a:ext cx="11064240" cy="640080"/>
          </a:xfrm>
          <a:prstGeom prst="rect">
            <a:avLst/>
          </a:prstGeom>
          <a:noFill/>
          <a:ln/>
        </p:spPr>
        <p:txBody>
          <a:bodyPr wrap="square" rtlCol="0" anchor="ctr"/>
          <a:lstStyle/>
          <a:p>
            <a:pPr indent="0" marL="0">
              <a:buNone/>
            </a:pPr>
            <a:r>
              <a:rPr lang="en-US" sz="2800" b="1" dirty="0">
                <a:solidFill>
                  <a:srgbClr val="1F3A5F"/>
                </a:solidFill>
                <a:latin typeface="Georgia" pitchFamily="34" charset="0"/>
                <a:ea typeface="Georgia" pitchFamily="34" charset="-122"/>
                <a:cs typeface="Georgia" pitchFamily="34" charset="-120"/>
              </a:rPr>
              <a:t>What You Need to Know for TCAP</a:t>
            </a:r>
            <a:endParaRPr lang="en-US" sz="2800" dirty="0"/>
          </a:p>
        </p:txBody>
      </p:sp>
      <p:sp>
        <p:nvSpPr>
          <p:cNvPr id="5" name="Shape 3"/>
          <p:cNvSpPr/>
          <p:nvPr/>
        </p:nvSpPr>
        <p:spPr>
          <a:xfrm>
            <a:off x="548640" y="1691640"/>
            <a:ext cx="7040880" cy="2971800"/>
          </a:xfrm>
          <a:prstGeom prst="rect">
            <a:avLst/>
          </a:prstGeom>
          <a:solidFill>
            <a:srgbClr val="FFFFFF"/>
          </a:solidFill>
          <a:ln w="12700">
            <a:solidFill>
              <a:srgbClr val="DAD3C2"/>
            </a:solidFill>
            <a:prstDash val="solid"/>
          </a:ln>
        </p:spPr>
        <p:txBody>
          <a:bodyPr/>
          <a:p/>
        </p:txBody>
      </p:sp>
      <p:sp>
        <p:nvSpPr>
          <p:cNvPr id="6" name="Text 4"/>
          <p:cNvSpPr/>
          <p:nvPr/>
        </p:nvSpPr>
        <p:spPr>
          <a:xfrm>
            <a:off x="868680" y="1847088"/>
            <a:ext cx="5486400" cy="320040"/>
          </a:xfrm>
          <a:prstGeom prst="rect">
            <a:avLst/>
          </a:prstGeom>
          <a:noFill/>
          <a:ln/>
        </p:spPr>
        <p:txBody>
          <a:bodyPr wrap="square" rtlCol="0" anchor="ctr"/>
          <a:lstStyle/>
          <a:p>
            <a:pPr indent="0" marL="0">
              <a:buNone/>
            </a:pPr>
            <a:r>
              <a:rPr lang="en-US" sz="1200" b="1" spc="200" kern="0" dirty="0">
                <a:solidFill>
                  <a:srgbClr val="B22234"/>
                </a:solidFill>
                <a:latin typeface="Trebuchet MS" pitchFamily="34" charset="0"/>
                <a:ea typeface="Trebuchet MS" pitchFamily="34" charset="-122"/>
                <a:cs typeface="Trebuchet MS" pitchFamily="34" charset="-120"/>
              </a:rPr>
              <a:t>KEY TAKEAWAYS</a:t>
            </a:r>
            <a:endParaRPr lang="en-US" sz="1200" dirty="0"/>
          </a:p>
        </p:txBody>
      </p:sp>
      <p:sp>
        <p:nvSpPr>
          <p:cNvPr id="7" name="Text 5"/>
          <p:cNvSpPr/>
          <p:nvPr/>
        </p:nvSpPr>
        <p:spPr>
          <a:xfrm>
            <a:off x="868680" y="2212848"/>
            <a:ext cx="6492240" cy="2331720"/>
          </a:xfrm>
          <a:prstGeom prst="rect">
            <a:avLst/>
          </a:prstGeom>
          <a:noFill/>
          <a:ln/>
        </p:spPr>
        <p:txBody>
          <a:bodyPr wrap="square" rtlCol="0" anchor="t"/>
          <a:lstStyle/>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Sequence the expansion of the United States</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Impact on Western Settlement</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Impact on American Indians, Immigrants, and Settlers</a:t>
            </a:r>
            <a:endParaRPr lang="en-US" sz="1500" dirty="0"/>
          </a:p>
        </p:txBody>
      </p:sp>
      <p:sp>
        <p:nvSpPr>
          <p:cNvPr id="8" name="Shape 6"/>
          <p:cNvSpPr/>
          <p:nvPr/>
        </p:nvSpPr>
        <p:spPr>
          <a:xfrm>
            <a:off x="548640" y="4800600"/>
            <a:ext cx="7040880" cy="1005840"/>
          </a:xfrm>
          <a:prstGeom prst="roundRect">
            <a:avLst>
              <a:gd name="adj" fmla="val 7273"/>
            </a:avLst>
          </a:prstGeom>
          <a:solidFill>
            <a:srgbClr val="F3EAD0"/>
          </a:solidFill>
          <a:ln w="12700">
            <a:solidFill>
              <a:srgbClr val="C9A227"/>
            </a:solidFill>
            <a:prstDash val="solid"/>
          </a:ln>
        </p:spPr>
        <p:txBody>
          <a:bodyPr/>
          <a:p/>
        </p:txBody>
      </p:sp>
      <p:sp>
        <p:nvSpPr>
          <p:cNvPr id="9" name="Text 7"/>
          <p:cNvSpPr/>
          <p:nvPr/>
        </p:nvSpPr>
        <p:spPr>
          <a:xfrm>
            <a:off x="822960" y="4901184"/>
            <a:ext cx="6492240" cy="274320"/>
          </a:xfrm>
          <a:prstGeom prst="rect">
            <a:avLst/>
          </a:prstGeom>
          <a:noFill/>
          <a:ln/>
        </p:spPr>
        <p:txBody>
          <a:bodyPr wrap="square" rtlCol="0" anchor="ctr"/>
          <a:lstStyle/>
          <a:p>
            <a:pPr indent="0" marL="0">
              <a:buNone/>
            </a:pPr>
            <a:r>
              <a:rPr lang="en-US" sz="1100" b="1" spc="100" kern="0" dirty="0">
                <a:solidFill>
                  <a:srgbClr val="7A5C12"/>
                </a:solidFill>
                <a:latin typeface="Trebuchet MS" pitchFamily="34" charset="0"/>
                <a:ea typeface="Trebuchet MS" pitchFamily="34" charset="-122"/>
                <a:cs typeface="Trebuchet MS" pitchFamily="34" charset="-120"/>
              </a:rPr>
              <a:t>★ EXTENSION  </a:t>
            </a:r>
            <a:pPr indent="0" marL="0">
              <a:buNone/>
            </a:pPr>
            <a:r>
              <a:rPr lang="en-US" sz="950" b="1" dirty="0">
                <a:solidFill>
                  <a:srgbClr val="5C6470"/>
                </a:solidFill>
                <a:latin typeface="Trebuchet MS" pitchFamily="34" charset="0"/>
                <a:ea typeface="Trebuchet MS" pitchFamily="34" charset="-122"/>
                <a:cs typeface="Trebuchet MS" pitchFamily="34" charset="-120"/>
              </a:rPr>
              <a:t>DOK 3 · SSP.04 Argumentation</a:t>
            </a:r>
            <a:endParaRPr lang="en-US" sz="1100" dirty="0"/>
          </a:p>
        </p:txBody>
      </p:sp>
      <p:sp>
        <p:nvSpPr>
          <p:cNvPr id="10" name="Text 8"/>
          <p:cNvSpPr/>
          <p:nvPr/>
        </p:nvSpPr>
        <p:spPr>
          <a:xfrm>
            <a:off x="822960" y="5175504"/>
            <a:ext cx="6492240" cy="566928"/>
          </a:xfrm>
          <a:prstGeom prst="rect">
            <a:avLst/>
          </a:prstGeom>
          <a:noFill/>
          <a:ln/>
        </p:spPr>
        <p:txBody>
          <a:bodyPr wrap="square" rtlCol="0" anchor="t"/>
          <a:lstStyle/>
          <a:p>
            <a:pPr indent="0" marL="0">
              <a:lnSpc>
                <a:spcPct val="100000"/>
              </a:lnSpc>
              <a:buNone/>
            </a:pPr>
            <a:r>
              <a:rPr lang="en-US" sz="1250" i="1" dirty="0">
                <a:solidFill>
                  <a:srgbClr val="1F2430"/>
                </a:solidFill>
                <a:latin typeface="Calibri" pitchFamily="34" charset="0"/>
                <a:ea typeface="Calibri" pitchFamily="34" charset="-122"/>
                <a:cs typeface="Calibri" pitchFamily="34" charset="-120"/>
              </a:rPr>
              <a:t>Argue: was westward expansion mainly “opportunity” or mainly “dispossession”? Defend your claim with TWO specific pieces of evidence.</a:t>
            </a:r>
            <a:endParaRPr lang="en-US" sz="1250" dirty="0"/>
          </a:p>
        </p:txBody>
      </p:sp>
      <p:sp>
        <p:nvSpPr>
          <p:cNvPr id="11" name="Shape 9"/>
          <p:cNvSpPr/>
          <p:nvPr/>
        </p:nvSpPr>
        <p:spPr>
          <a:xfrm>
            <a:off x="7818120" y="1691640"/>
            <a:ext cx="3794760" cy="4114800"/>
          </a:xfrm>
          <a:prstGeom prst="roundRect">
            <a:avLst>
              <a:gd name="adj" fmla="val 2410"/>
            </a:avLst>
          </a:prstGeom>
          <a:solidFill>
            <a:srgbClr val="1F3A5F"/>
          </a:solidFill>
          <a:ln/>
        </p:spPr>
        <p:txBody>
          <a:bodyPr/>
          <a:p/>
        </p:txBody>
      </p:sp>
      <p:sp>
        <p:nvSpPr>
          <p:cNvPr id="12" name="Text 10"/>
          <p:cNvSpPr/>
          <p:nvPr/>
        </p:nvSpPr>
        <p:spPr>
          <a:xfrm>
            <a:off x="8092440" y="1920240"/>
            <a:ext cx="2286000" cy="320040"/>
          </a:xfrm>
          <a:prstGeom prst="rect">
            <a:avLst/>
          </a:prstGeom>
          <a:noFill/>
          <a:ln/>
        </p:spPr>
        <p:txBody>
          <a:bodyPr wrap="square" rtlCol="0" anchor="ctr"/>
          <a:lstStyle/>
          <a:p>
            <a:pPr indent="0" marL="0">
              <a:buNone/>
            </a:pPr>
            <a:r>
              <a:rPr lang="en-US" sz="1200" b="1" spc="200" kern="0" dirty="0">
                <a:solidFill>
                  <a:srgbClr val="F9A825"/>
                </a:solidFill>
                <a:latin typeface="Trebuchet MS" pitchFamily="34" charset="0"/>
                <a:ea typeface="Trebuchet MS" pitchFamily="34" charset="-122"/>
                <a:cs typeface="Trebuchet MS" pitchFamily="34" charset="-120"/>
              </a:rPr>
              <a:t>EXIT TICKET</a:t>
            </a:r>
            <a:endParaRPr lang="en-US" sz="1200" dirty="0"/>
          </a:p>
        </p:txBody>
      </p:sp>
      <p:sp>
        <p:nvSpPr>
          <p:cNvPr id="13" name="Shape 11"/>
          <p:cNvSpPr/>
          <p:nvPr/>
        </p:nvSpPr>
        <p:spPr>
          <a:xfrm>
            <a:off x="10378440" y="1883664"/>
            <a:ext cx="960120" cy="365760"/>
          </a:xfrm>
          <a:prstGeom prst="roundRect">
            <a:avLst>
              <a:gd name="adj" fmla="val 20000"/>
            </a:avLst>
          </a:prstGeom>
          <a:solidFill>
            <a:srgbClr val="243047"/>
          </a:solidFill>
          <a:ln w="9525">
            <a:solidFill>
              <a:srgbClr val="C9A227"/>
            </a:solidFill>
            <a:prstDash val="solid"/>
          </a:ln>
        </p:spPr>
        <p:txBody>
          <a:bodyPr/>
          <a:p/>
        </p:txBody>
      </p:sp>
      <p:sp>
        <p:nvSpPr>
          <p:cNvPr id="14" name="Text 12"/>
          <p:cNvSpPr/>
          <p:nvPr/>
        </p:nvSpPr>
        <p:spPr>
          <a:xfrm>
            <a:off x="10378440" y="1883664"/>
            <a:ext cx="960120" cy="365760"/>
          </a:xfrm>
          <a:prstGeom prst="rect">
            <a:avLst/>
          </a:prstGeom>
          <a:noFill/>
          <a:ln/>
        </p:spPr>
        <p:txBody>
          <a:bodyPr wrap="square" rtlCol="0" anchor="ctr"/>
          <a:lstStyle/>
          <a:p>
            <a:pPr algn="ctr" indent="0" marL="0">
              <a:buNone/>
            </a:pPr>
            <a:r>
              <a:rPr lang="en-US" sz="1000" b="1" dirty="0">
                <a:solidFill>
                  <a:srgbClr val="F9A825"/>
                </a:solidFill>
                <a:latin typeface="Trebuchet MS" pitchFamily="34" charset="0"/>
                <a:ea typeface="Trebuchet MS" pitchFamily="34" charset="-122"/>
                <a:cs typeface="Trebuchet MS" pitchFamily="34" charset="-120"/>
              </a:rPr>
              <a:t>DOK 2</a:t>
            </a:r>
            <a:endParaRPr lang="en-US" sz="1000" dirty="0"/>
          </a:p>
        </p:txBody>
      </p:sp>
      <p:sp>
        <p:nvSpPr>
          <p:cNvPr id="15" name="Text 13"/>
          <p:cNvSpPr/>
          <p:nvPr/>
        </p:nvSpPr>
        <p:spPr>
          <a:xfrm>
            <a:off x="8092440" y="2377440"/>
            <a:ext cx="3246120" cy="1828800"/>
          </a:xfrm>
          <a:prstGeom prst="rect">
            <a:avLst/>
          </a:prstGeom>
          <a:noFill/>
          <a:ln/>
        </p:spPr>
        <p:txBody>
          <a:bodyPr wrap="square" rtlCol="0" anchor="t"/>
          <a:lstStyle/>
          <a:p>
            <a:pPr indent="0" marL="0">
              <a:lnSpc>
                <a:spcPct val="110000"/>
              </a:lnSpc>
              <a:buNone/>
            </a:pPr>
            <a:r>
              <a:rPr lang="en-US" sz="1350" dirty="0">
                <a:solidFill>
                  <a:srgbClr val="FFFFFF"/>
                </a:solidFill>
                <a:latin typeface="Calibri" pitchFamily="34" charset="0"/>
                <a:ea typeface="Calibri" pitchFamily="34" charset="-122"/>
                <a:cs typeface="Calibri" pitchFamily="34" charset="-120"/>
              </a:rPr>
              <a:t>Explain ONE way the Homestead Act or the railroad helped settlers AND ONE way it harmed American Indians.</a:t>
            </a:r>
            <a:endParaRPr lang="en-US" sz="1350" dirty="0"/>
          </a:p>
        </p:txBody>
      </p:sp>
      <p:sp>
        <p:nvSpPr>
          <p:cNvPr id="16" name="Shape 14"/>
          <p:cNvSpPr/>
          <p:nvPr/>
        </p:nvSpPr>
        <p:spPr>
          <a:xfrm>
            <a:off x="8138160" y="4526280"/>
            <a:ext cx="3108960" cy="0"/>
          </a:xfrm>
          <a:prstGeom prst="line">
            <a:avLst/>
          </a:prstGeom>
          <a:noFill/>
          <a:ln w="12700">
            <a:solidFill>
              <a:srgbClr val="A7BACB"/>
            </a:solidFill>
            <a:prstDash val="dash"/>
          </a:ln>
        </p:spPr>
        <p:txBody>
          <a:bodyPr/>
          <a:p/>
        </p:txBody>
      </p:sp>
      <p:sp>
        <p:nvSpPr>
          <p:cNvPr id="17" name="Shape 15"/>
          <p:cNvSpPr/>
          <p:nvPr/>
        </p:nvSpPr>
        <p:spPr>
          <a:xfrm>
            <a:off x="8138160" y="5074920"/>
            <a:ext cx="3108960" cy="0"/>
          </a:xfrm>
          <a:prstGeom prst="line">
            <a:avLst/>
          </a:prstGeom>
          <a:noFill/>
          <a:ln w="12700">
            <a:solidFill>
              <a:srgbClr val="A7BACB"/>
            </a:solidFill>
            <a:prstDash val="dash"/>
          </a:ln>
        </p:spPr>
        <p:txBody>
          <a:bodyPr/>
          <a:p/>
        </p:txBody>
      </p:sp>
      <p:sp>
        <p:nvSpPr>
          <p:cNvPr id="18" name="Shape 16"/>
          <p:cNvSpPr/>
          <p:nvPr/>
        </p:nvSpPr>
        <p:spPr>
          <a:xfrm>
            <a:off x="8138160" y="5623560"/>
            <a:ext cx="3108960" cy="0"/>
          </a:xfrm>
          <a:prstGeom prst="line">
            <a:avLst/>
          </a:prstGeom>
          <a:noFill/>
          <a:ln w="12700">
            <a:solidFill>
              <a:srgbClr val="A7BACB"/>
            </a:solidFill>
            <a:prstDash val="dash"/>
          </a:ln>
        </p:spPr>
        <p:txBody>
          <a:bodyPr/>
          <a:p/>
        </p:txBody>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18</a:t>
            </a:r>
            <a:endParaRPr lang="en-US" sz="900" dirty="0"/>
          </a:p>
        </p:txBody>
      </p:sp>
      <p:sp>
        <p:nvSpPr>
          <p:cNvPr id="22" name="Rectangle 21"/>
          <p:cNvSpPr/>
          <p:nvPr/>
        </p:nvSpPr>
        <p:spPr>
          <a:xfrm>
            <a:off x="457200" y="5870448"/>
            <a:ext cx="11274552" cy="512064"/>
          </a:xfrm>
          <a:prstGeom prst="rect">
            <a:avLst/>
          </a:prstGeom>
          <a:solidFill>
            <a:srgbClr val="232F40"/>
          </a:solidFill>
          <a:ln w="12700">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3504" y="5907024"/>
            <a:ext cx="10972800" cy="457200"/>
          </a:xfrm>
          <a:prstGeom prst="rect">
            <a:avLst/>
          </a:prstGeom>
          <a:noFill/>
        </p:spPr>
        <p:txBody>
          <a:bodyPr wrap="square" anchor="t" lIns="0" rIns="0" tIns="0" bIns="0">
            <a:spAutoFit/>
          </a:bodyPr>
          <a:lstStyle/>
          <a:p>
            <a:pPr algn="l">
              <a:spcBef>
                <a:spcPts val="0"/>
              </a:spcBef>
              <a:spcAft>
                <a:spcPts val="0"/>
              </a:spcAft>
            </a:pPr>
            <a:r>
              <a:rPr sz="1000" b="1">
                <a:solidFill>
                  <a:srgbClr val="C9A227"/>
                </a:solidFill>
                <a:latin typeface="Trebuchet MS"/>
              </a:rPr>
              <a:t>TEACHER DECISION BAND   </a:t>
            </a:r>
            <a:r>
              <a:rPr sz="1000" b="0">
                <a:solidFill>
                  <a:srgbClr val="FFFFFF"/>
                </a:solidFill>
                <a:latin typeface="Calibri"/>
              </a:rPr>
              <a:t>PROGRESS CHECK → identify barrier → select support → reteach → recheck → extend</a:t>
            </a:r>
          </a:p>
          <a:p>
            <a:pPr algn="l">
              <a:spcBef>
                <a:spcPts val="0"/>
              </a:spcBef>
              <a:spcAft>
                <a:spcPts val="0"/>
              </a:spcAft>
            </a:pPr>
            <a:r>
              <a:rPr sz="1000" b="1">
                <a:solidFill>
                  <a:srgbClr val="C9A227"/>
                </a:solidFill>
                <a:latin typeface="Trebuchet MS"/>
              </a:rPr>
              <a:t>SCAFFOLD FADING   </a:t>
            </a:r>
            <a:r>
              <a:rPr sz="1000" b="0">
                <a:solidFill>
                  <a:srgbClr val="C7D4E0"/>
                </a:solidFill>
                <a:latin typeface="Calibri"/>
              </a:rPr>
              <a:t>Guided → Light → independent as evidence grows; required IEP/504 supports do not fade unless the authorized team changes them.</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1F3A5F"/>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B22234"/>
          </a:solidFill>
          <a:ln/>
        </p:spPr>
        <p:txBody>
          <a:bodyPr/>
          <a:p/>
        </p:txBody>
      </p:sp>
      <p:sp>
        <p:nvSpPr>
          <p:cNvPr id="3" name="Shape 1"/>
          <p:cNvSpPr/>
          <p:nvPr/>
        </p:nvSpPr>
        <p:spPr>
          <a:xfrm>
            <a:off x="320040" y="0"/>
            <a:ext cx="109728" cy="6858000"/>
          </a:xfrm>
          <a:prstGeom prst="rect">
            <a:avLst/>
          </a:prstGeom>
          <a:solidFill>
            <a:srgbClr val="C9A227"/>
          </a:solidFill>
          <a:ln/>
        </p:spPr>
        <p:txBody>
          <a:bodyPr/>
          <a:p/>
        </p:txBody>
      </p:sp>
      <p:sp>
        <p:nvSpPr>
          <p:cNvPr id="4" name="Text 2"/>
          <p:cNvSpPr/>
          <p:nvPr/>
        </p:nvSpPr>
        <p:spPr>
          <a:xfrm>
            <a:off x="914400" y="1005840"/>
            <a:ext cx="5486400" cy="365760"/>
          </a:xfrm>
          <a:prstGeom prst="rect">
            <a:avLst/>
          </a:prstGeom>
          <a:noFill/>
          <a:ln/>
        </p:spPr>
        <p:txBody>
          <a:bodyPr wrap="square" rtlCol="0" anchor="ctr"/>
          <a:lstStyle/>
          <a:p>
            <a:pPr indent="0" marL="0">
              <a:buNone/>
            </a:pPr>
            <a:r>
              <a:rPr lang="en-US" sz="1500" b="1" spc="400" kern="0" dirty="0">
                <a:solidFill>
                  <a:srgbClr val="F9A825"/>
                </a:solidFill>
                <a:latin typeface="Trebuchet MS" pitchFamily="34" charset="0"/>
                <a:ea typeface="Trebuchet MS" pitchFamily="34" charset="-122"/>
                <a:cs typeface="Trebuchet MS" pitchFamily="34" charset="-120"/>
              </a:rPr>
              <a:t>STANDARD</a:t>
            </a:r>
            <a:endParaRPr lang="en-US" sz="1500" dirty="0"/>
          </a:p>
        </p:txBody>
      </p:sp>
      <p:sp>
        <p:nvSpPr>
          <p:cNvPr id="5" name="Text 3"/>
          <p:cNvSpPr/>
          <p:nvPr/>
        </p:nvSpPr>
        <p:spPr>
          <a:xfrm>
            <a:off x="868680" y="1325880"/>
            <a:ext cx="5486400" cy="1371600"/>
          </a:xfrm>
          <a:prstGeom prst="rect">
            <a:avLst/>
          </a:prstGeom>
          <a:noFill/>
          <a:ln/>
        </p:spPr>
        <p:txBody>
          <a:bodyPr wrap="square" rtlCol="0" anchor="ctr"/>
          <a:lstStyle/>
          <a:p>
            <a:pPr indent="0" marL="0">
              <a:buNone/>
            </a:pPr>
            <a:r>
              <a:rPr lang="en-US" sz="8800" b="1" dirty="0">
                <a:solidFill>
                  <a:srgbClr val="FFFFFF"/>
                </a:solidFill>
                <a:latin typeface="Georgia" pitchFamily="34" charset="0"/>
                <a:ea typeface="Georgia" pitchFamily="34" charset="-122"/>
                <a:cs typeface="Georgia" pitchFamily="34" charset="-120"/>
              </a:rPr>
              <a:t>US.02</a:t>
            </a:r>
            <a:endParaRPr lang="en-US" sz="8800" dirty="0"/>
          </a:p>
        </p:txBody>
      </p:sp>
      <p:sp>
        <p:nvSpPr>
          <p:cNvPr id="6" name="Text 4"/>
          <p:cNvSpPr/>
          <p:nvPr/>
        </p:nvSpPr>
        <p:spPr>
          <a:xfrm>
            <a:off x="914400" y="2670048"/>
            <a:ext cx="5577840" cy="1234440"/>
          </a:xfrm>
          <a:prstGeom prst="rect">
            <a:avLst/>
          </a:prstGeom>
          <a:noFill/>
          <a:ln/>
        </p:spPr>
        <p:txBody>
          <a:bodyPr wrap="square" rtlCol="0" anchor="t"/>
          <a:lstStyle/>
          <a:p>
            <a:pPr indent="0" marL="0">
              <a:lnSpc>
                <a:spcPct val="102000"/>
              </a:lnSpc>
              <a:buNone/>
            </a:pPr>
            <a:r>
              <a:rPr lang="en-US" sz="2400" i="1" dirty="0">
                <a:solidFill>
                  <a:srgbClr val="F9A825"/>
                </a:solidFill>
                <a:latin typeface="Georgia" pitchFamily="34" charset="0"/>
                <a:ea typeface="Georgia" pitchFamily="34" charset="-122"/>
                <a:cs typeface="Georgia" pitchFamily="34" charset="-120"/>
              </a:rPr>
              <a:t>Federal Policies Toward American Indians</a:t>
            </a:r>
            <a:endParaRPr lang="en-US" sz="2400" dirty="0"/>
          </a:p>
        </p:txBody>
      </p:sp>
      <p:sp>
        <p:nvSpPr>
          <p:cNvPr id="7" name="Text 5"/>
          <p:cNvSpPr/>
          <p:nvPr/>
        </p:nvSpPr>
        <p:spPr>
          <a:xfrm>
            <a:off x="6812280" y="1078992"/>
            <a:ext cx="4480560" cy="274320"/>
          </a:xfrm>
          <a:prstGeom prst="rect">
            <a:avLst/>
          </a:prstGeom>
          <a:noFill/>
          <a:ln/>
        </p:spPr>
        <p:txBody>
          <a:bodyPr wrap="square" rtlCol="0" anchor="ctr"/>
          <a:lstStyle/>
          <a:p>
            <a:pPr algn="l" indent="0" marL="0">
              <a:buNone/>
            </a:pPr>
            <a:r>
              <a:rPr lang="en-US" sz="1100" b="1" spc="200" kern="0" dirty="0">
                <a:solidFill>
                  <a:srgbClr val="A7BACB"/>
                </a:solidFill>
                <a:latin typeface="Trebuchet MS" pitchFamily="34" charset="0"/>
                <a:ea typeface="Trebuchet MS" pitchFamily="34" charset="-122"/>
                <a:cs typeface="Trebuchet MS" pitchFamily="34" charset="-120"/>
              </a:rPr>
              <a:t>SOCIAL STUDIES PRACTICES</a:t>
            </a:r>
            <a:endParaRPr lang="en-US" sz="1100" dirty="0"/>
          </a:p>
        </p:txBody>
      </p:sp>
      <p:sp>
        <p:nvSpPr>
          <p:cNvPr id="8" name="Shape 6"/>
          <p:cNvSpPr/>
          <p:nvPr/>
        </p:nvSpPr>
        <p:spPr>
          <a:xfrm>
            <a:off x="6812280" y="1417320"/>
            <a:ext cx="1078992" cy="292608"/>
          </a:xfrm>
          <a:prstGeom prst="roundRect">
            <a:avLst>
              <a:gd name="adj" fmla="val 18750"/>
            </a:avLst>
          </a:prstGeom>
          <a:solidFill>
            <a:srgbClr val="C9A227"/>
          </a:solidFill>
          <a:ln/>
        </p:spPr>
        <p:txBody>
          <a:bodyPr/>
          <a:p/>
        </p:txBody>
      </p:sp>
      <p:sp>
        <p:nvSpPr>
          <p:cNvPr id="9" name="Text 7"/>
          <p:cNvSpPr/>
          <p:nvPr/>
        </p:nvSpPr>
        <p:spPr>
          <a:xfrm>
            <a:off x="6812280" y="1417320"/>
            <a:ext cx="1078992" cy="292608"/>
          </a:xfrm>
          <a:prstGeom prst="rect">
            <a:avLst/>
          </a:prstGeom>
          <a:noFill/>
          <a:ln/>
        </p:spPr>
        <p:txBody>
          <a:bodyPr wrap="square" rtlCol="0" anchor="ctr"/>
          <a:lstStyle/>
          <a:p>
            <a:pPr algn="ctr" indent="0" marL="0">
              <a:buNone/>
            </a:pPr>
            <a:r>
              <a:rPr lang="en-US" sz="1100" b="1" dirty="0">
                <a:solidFill>
                  <a:srgbClr val="1F3A5F"/>
                </a:solidFill>
                <a:latin typeface="Trebuchet MS" pitchFamily="34" charset="0"/>
                <a:ea typeface="Trebuchet MS" pitchFamily="34" charset="-122"/>
                <a:cs typeface="Trebuchet MS" pitchFamily="34" charset="-120"/>
              </a:rPr>
              <a:t>SSP.01</a:t>
            </a:r>
            <a:endParaRPr lang="en-US" sz="1100" dirty="0"/>
          </a:p>
        </p:txBody>
      </p:sp>
      <p:sp>
        <p:nvSpPr>
          <p:cNvPr id="10" name="Text 8"/>
          <p:cNvSpPr/>
          <p:nvPr/>
        </p:nvSpPr>
        <p:spPr>
          <a:xfrm>
            <a:off x="7973568" y="1417320"/>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Collect sources</a:t>
            </a:r>
            <a:endParaRPr lang="en-US" sz="1150" dirty="0"/>
          </a:p>
        </p:txBody>
      </p:sp>
      <p:sp>
        <p:nvSpPr>
          <p:cNvPr id="11" name="Shape 9"/>
          <p:cNvSpPr/>
          <p:nvPr/>
        </p:nvSpPr>
        <p:spPr>
          <a:xfrm>
            <a:off x="6812280" y="1755648"/>
            <a:ext cx="1078992" cy="292608"/>
          </a:xfrm>
          <a:prstGeom prst="roundRect">
            <a:avLst>
              <a:gd name="adj" fmla="val 18750"/>
            </a:avLst>
          </a:prstGeom>
          <a:solidFill>
            <a:srgbClr val="C9A227"/>
          </a:solidFill>
          <a:ln/>
        </p:spPr>
        <p:txBody>
          <a:bodyPr/>
          <a:p/>
        </p:txBody>
      </p:sp>
      <p:sp>
        <p:nvSpPr>
          <p:cNvPr id="12" name="Text 10"/>
          <p:cNvSpPr/>
          <p:nvPr/>
        </p:nvSpPr>
        <p:spPr>
          <a:xfrm>
            <a:off x="6812280" y="1755648"/>
            <a:ext cx="1078992" cy="292608"/>
          </a:xfrm>
          <a:prstGeom prst="rect">
            <a:avLst/>
          </a:prstGeom>
          <a:noFill/>
          <a:ln/>
        </p:spPr>
        <p:txBody>
          <a:bodyPr wrap="square" rtlCol="0" anchor="ctr"/>
          <a:lstStyle/>
          <a:p>
            <a:pPr algn="ctr" indent="0" marL="0">
              <a:buNone/>
            </a:pPr>
            <a:r>
              <a:rPr lang="en-US" sz="1100" b="1" dirty="0">
                <a:solidFill>
                  <a:srgbClr val="1F3A5F"/>
                </a:solidFill>
                <a:latin typeface="Trebuchet MS" pitchFamily="34" charset="0"/>
                <a:ea typeface="Trebuchet MS" pitchFamily="34" charset="-122"/>
                <a:cs typeface="Trebuchet MS" pitchFamily="34" charset="-120"/>
              </a:rPr>
              <a:t>SSP.02</a:t>
            </a:r>
            <a:endParaRPr lang="en-US" sz="1100" dirty="0"/>
          </a:p>
        </p:txBody>
      </p:sp>
      <p:sp>
        <p:nvSpPr>
          <p:cNvPr id="13" name="Text 11"/>
          <p:cNvSpPr/>
          <p:nvPr/>
        </p:nvSpPr>
        <p:spPr>
          <a:xfrm>
            <a:off x="7973568" y="1755648"/>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Examine a source</a:t>
            </a:r>
            <a:endParaRPr lang="en-US" sz="1150" dirty="0"/>
          </a:p>
        </p:txBody>
      </p:sp>
      <p:sp>
        <p:nvSpPr>
          <p:cNvPr id="14" name="Shape 12"/>
          <p:cNvSpPr/>
          <p:nvPr/>
        </p:nvSpPr>
        <p:spPr>
          <a:xfrm>
            <a:off x="6812280" y="2093976"/>
            <a:ext cx="1078992" cy="292608"/>
          </a:xfrm>
          <a:prstGeom prst="roundRect">
            <a:avLst>
              <a:gd name="adj" fmla="val 18750"/>
            </a:avLst>
          </a:prstGeom>
          <a:solidFill>
            <a:srgbClr val="C9A227"/>
          </a:solidFill>
          <a:ln/>
        </p:spPr>
        <p:txBody>
          <a:bodyPr/>
          <a:p/>
        </p:txBody>
      </p:sp>
      <p:sp>
        <p:nvSpPr>
          <p:cNvPr id="15" name="Text 13"/>
          <p:cNvSpPr/>
          <p:nvPr/>
        </p:nvSpPr>
        <p:spPr>
          <a:xfrm>
            <a:off x="6812280" y="2093976"/>
            <a:ext cx="1078992" cy="292608"/>
          </a:xfrm>
          <a:prstGeom prst="rect">
            <a:avLst/>
          </a:prstGeom>
          <a:noFill/>
          <a:ln/>
        </p:spPr>
        <p:txBody>
          <a:bodyPr wrap="square" rtlCol="0" anchor="ctr"/>
          <a:lstStyle/>
          <a:p>
            <a:pPr algn="ctr" indent="0" marL="0">
              <a:buNone/>
            </a:pPr>
            <a:r>
              <a:rPr lang="en-US" sz="1100" b="1" dirty="0">
                <a:solidFill>
                  <a:srgbClr val="1F3A5F"/>
                </a:solidFill>
                <a:latin typeface="Trebuchet MS" pitchFamily="34" charset="0"/>
                <a:ea typeface="Trebuchet MS" pitchFamily="34" charset="-122"/>
                <a:cs typeface="Trebuchet MS" pitchFamily="34" charset="-120"/>
              </a:rPr>
              <a:t>SSP.03</a:t>
            </a:r>
            <a:endParaRPr lang="en-US" sz="1100" dirty="0"/>
          </a:p>
        </p:txBody>
      </p:sp>
      <p:sp>
        <p:nvSpPr>
          <p:cNvPr id="16" name="Text 14"/>
          <p:cNvSpPr/>
          <p:nvPr/>
        </p:nvSpPr>
        <p:spPr>
          <a:xfrm>
            <a:off x="7973568" y="2093976"/>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Synthesize sources</a:t>
            </a:r>
            <a:endParaRPr lang="en-US" sz="1150" dirty="0"/>
          </a:p>
        </p:txBody>
      </p:sp>
      <p:sp>
        <p:nvSpPr>
          <p:cNvPr id="17" name="Shape 15"/>
          <p:cNvSpPr/>
          <p:nvPr/>
        </p:nvSpPr>
        <p:spPr>
          <a:xfrm>
            <a:off x="6812280" y="2432304"/>
            <a:ext cx="1078992" cy="292608"/>
          </a:xfrm>
          <a:prstGeom prst="roundRect">
            <a:avLst>
              <a:gd name="adj" fmla="val 18750"/>
            </a:avLst>
          </a:prstGeom>
          <a:solidFill>
            <a:srgbClr val="C9A227"/>
          </a:solidFill>
          <a:ln/>
        </p:spPr>
        <p:txBody>
          <a:bodyPr/>
          <a:p/>
        </p:txBody>
      </p:sp>
      <p:sp>
        <p:nvSpPr>
          <p:cNvPr id="18" name="Text 16"/>
          <p:cNvSpPr/>
          <p:nvPr/>
        </p:nvSpPr>
        <p:spPr>
          <a:xfrm>
            <a:off x="6812280" y="2432304"/>
            <a:ext cx="1078992" cy="292608"/>
          </a:xfrm>
          <a:prstGeom prst="rect">
            <a:avLst/>
          </a:prstGeom>
          <a:noFill/>
          <a:ln/>
        </p:spPr>
        <p:txBody>
          <a:bodyPr wrap="square" rtlCol="0" anchor="ctr"/>
          <a:lstStyle/>
          <a:p>
            <a:pPr algn="ctr" indent="0" marL="0">
              <a:buNone/>
            </a:pPr>
            <a:r>
              <a:rPr lang="en-US" sz="1100" b="1" dirty="0">
                <a:solidFill>
                  <a:srgbClr val="1F3A5F"/>
                </a:solidFill>
                <a:latin typeface="Trebuchet MS" pitchFamily="34" charset="0"/>
                <a:ea typeface="Trebuchet MS" pitchFamily="34" charset="-122"/>
                <a:cs typeface="Trebuchet MS" pitchFamily="34" charset="-120"/>
              </a:rPr>
              <a:t>SSP.05</a:t>
            </a:r>
            <a:endParaRPr lang="en-US" sz="1100" dirty="0"/>
          </a:p>
        </p:txBody>
      </p:sp>
      <p:sp>
        <p:nvSpPr>
          <p:cNvPr id="19" name="Text 17"/>
          <p:cNvSpPr/>
          <p:nvPr/>
        </p:nvSpPr>
        <p:spPr>
          <a:xfrm>
            <a:off x="7973568" y="2432304"/>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Historical awareness</a:t>
            </a:r>
            <a:endParaRPr lang="en-US" sz="1150" dirty="0"/>
          </a:p>
        </p:txBody>
      </p:sp>
      <p:sp>
        <p:nvSpPr>
          <p:cNvPr id="20" name="Shape 18"/>
          <p:cNvSpPr/>
          <p:nvPr/>
        </p:nvSpPr>
        <p:spPr>
          <a:xfrm>
            <a:off x="6812280" y="2770632"/>
            <a:ext cx="1078992" cy="292608"/>
          </a:xfrm>
          <a:prstGeom prst="roundRect">
            <a:avLst>
              <a:gd name="adj" fmla="val 18750"/>
            </a:avLst>
          </a:prstGeom>
          <a:solidFill>
            <a:srgbClr val="C9A227"/>
          </a:solidFill>
          <a:ln/>
        </p:spPr>
        <p:txBody>
          <a:bodyPr/>
          <a:p/>
        </p:txBody>
      </p:sp>
      <p:sp>
        <p:nvSpPr>
          <p:cNvPr id="21" name="Text 19"/>
          <p:cNvSpPr/>
          <p:nvPr/>
        </p:nvSpPr>
        <p:spPr>
          <a:xfrm>
            <a:off x="6812280" y="2770632"/>
            <a:ext cx="1078992" cy="292608"/>
          </a:xfrm>
          <a:prstGeom prst="rect">
            <a:avLst/>
          </a:prstGeom>
          <a:noFill/>
          <a:ln/>
        </p:spPr>
        <p:txBody>
          <a:bodyPr wrap="square" rtlCol="0" anchor="ctr"/>
          <a:lstStyle/>
          <a:p>
            <a:pPr algn="ctr" indent="0" marL="0">
              <a:buNone/>
            </a:pPr>
            <a:r>
              <a:rPr lang="en-US" sz="1100" b="1" dirty="0">
                <a:solidFill>
                  <a:srgbClr val="1F3A5F"/>
                </a:solidFill>
                <a:latin typeface="Trebuchet MS" pitchFamily="34" charset="0"/>
                <a:ea typeface="Trebuchet MS" pitchFamily="34" charset="-122"/>
                <a:cs typeface="Trebuchet MS" pitchFamily="34" charset="-120"/>
              </a:rPr>
              <a:t>SSP.06</a:t>
            </a:r>
            <a:endParaRPr lang="en-US" sz="1100" dirty="0"/>
          </a:p>
        </p:txBody>
      </p:sp>
      <p:sp>
        <p:nvSpPr>
          <p:cNvPr id="22" name="Text 20"/>
          <p:cNvSpPr/>
          <p:nvPr/>
        </p:nvSpPr>
        <p:spPr>
          <a:xfrm>
            <a:off x="7973568" y="2770632"/>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Geographic awareness</a:t>
            </a:r>
            <a:endParaRPr lang="en-US" sz="1150" dirty="0"/>
          </a:p>
        </p:txBody>
      </p:sp>
      <p:sp>
        <p:nvSpPr>
          <p:cNvPr id="23" name="Shape 21"/>
          <p:cNvSpPr/>
          <p:nvPr/>
        </p:nvSpPr>
        <p:spPr>
          <a:xfrm>
            <a:off x="914400" y="3794760"/>
            <a:ext cx="10332720" cy="1207008"/>
          </a:xfrm>
          <a:prstGeom prst="roundRect">
            <a:avLst>
              <a:gd name="adj" fmla="val 6061"/>
            </a:avLst>
          </a:prstGeom>
          <a:solidFill>
            <a:srgbClr val="243047"/>
          </a:solidFill>
          <a:ln w="9525">
            <a:solidFill>
              <a:srgbClr val="A7BACB"/>
            </a:solidFill>
            <a:prstDash val="solid"/>
          </a:ln>
        </p:spPr>
        <p:txBody>
          <a:bodyPr/>
          <a:p/>
        </p:txBody>
      </p:sp>
      <p:sp>
        <p:nvSpPr>
          <p:cNvPr id="24" name="Text 22"/>
          <p:cNvSpPr/>
          <p:nvPr/>
        </p:nvSpPr>
        <p:spPr>
          <a:xfrm>
            <a:off x="1143000" y="3913632"/>
            <a:ext cx="5486400" cy="274320"/>
          </a:xfrm>
          <a:prstGeom prst="rect">
            <a:avLst/>
          </a:prstGeom>
          <a:noFill/>
          <a:ln/>
        </p:spPr>
        <p:txBody>
          <a:bodyPr wrap="square" rtlCol="0" anchor="ctr"/>
          <a:lstStyle/>
          <a:p>
            <a:pPr indent="0" marL="0">
              <a:buNone/>
            </a:pPr>
            <a:r>
              <a:rPr lang="en-US" sz="1100" b="1" spc="200" kern="0" dirty="0">
                <a:solidFill>
                  <a:srgbClr val="A7BACB"/>
                </a:solidFill>
                <a:latin typeface="Trebuchet MS" pitchFamily="34" charset="0"/>
                <a:ea typeface="Trebuchet MS" pitchFamily="34" charset="-122"/>
                <a:cs typeface="Trebuchet MS" pitchFamily="34" charset="-120"/>
              </a:rPr>
              <a:t>TN ACADEMIC STANDARD</a:t>
            </a:r>
            <a:endParaRPr lang="en-US" sz="1100" dirty="0"/>
          </a:p>
        </p:txBody>
      </p:sp>
      <p:sp>
        <p:nvSpPr>
          <p:cNvPr id="25" name="Text 23"/>
          <p:cNvSpPr/>
          <p:nvPr/>
        </p:nvSpPr>
        <p:spPr>
          <a:xfrm>
            <a:off x="1143000" y="4206240"/>
            <a:ext cx="9875520" cy="749808"/>
          </a:xfrm>
          <a:prstGeom prst="rect">
            <a:avLst/>
          </a:prstGeom>
          <a:noFill/>
          <a:ln/>
        </p:spPr>
        <p:txBody>
          <a:bodyPr wrap="square" rtlCol="0" anchor="t"/>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Examine federal policies toward American Indians, including the movement to reservations, assimilation, boarding schools, and the Dawes Act.</a:t>
            </a:r>
            <a:endParaRPr lang="en-US" sz="1300" dirty="0"/>
          </a:p>
        </p:txBody>
      </p:sp>
      <p:sp>
        <p:nvSpPr>
          <p:cNvPr id="26" name="Shape 24"/>
          <p:cNvSpPr/>
          <p:nvPr/>
        </p:nvSpPr>
        <p:spPr>
          <a:xfrm>
            <a:off x="914400" y="5120640"/>
            <a:ext cx="10332720" cy="1188720"/>
          </a:xfrm>
          <a:prstGeom prst="roundRect">
            <a:avLst>
              <a:gd name="adj" fmla="val 6154"/>
            </a:avLst>
          </a:prstGeom>
          <a:solidFill>
            <a:srgbClr val="C9A227"/>
          </a:solidFill>
          <a:ln/>
        </p:spPr>
        <p:txBody>
          <a:bodyPr/>
          <a:p/>
        </p:txBody>
      </p:sp>
      <p:sp>
        <p:nvSpPr>
          <p:cNvPr id="27" name="Text 25"/>
          <p:cNvSpPr/>
          <p:nvPr/>
        </p:nvSpPr>
        <p:spPr>
          <a:xfrm>
            <a:off x="1143000" y="5230368"/>
            <a:ext cx="1828800" cy="292608"/>
          </a:xfrm>
          <a:prstGeom prst="rect">
            <a:avLst/>
          </a:prstGeom>
          <a:noFill/>
          <a:ln/>
        </p:spPr>
        <p:txBody>
          <a:bodyPr wrap="square" rtlCol="0" anchor="ctr"/>
          <a:lstStyle/>
          <a:p>
            <a:pPr indent="0" marL="0">
              <a:buNone/>
            </a:pPr>
            <a:r>
              <a:rPr lang="en-US" sz="1300" b="1" spc="200" kern="0" dirty="0">
                <a:solidFill>
                  <a:srgbClr val="1F3A5F"/>
                </a:solidFill>
                <a:latin typeface="Trebuchet MS" pitchFamily="34" charset="0"/>
                <a:ea typeface="Trebuchet MS" pitchFamily="34" charset="-122"/>
                <a:cs typeface="Trebuchet MS" pitchFamily="34" charset="-120"/>
              </a:rPr>
              <a:t>I CAN</a:t>
            </a:r>
            <a:endParaRPr lang="en-US" sz="1300" dirty="0"/>
          </a:p>
        </p:txBody>
      </p:sp>
      <p:sp>
        <p:nvSpPr>
          <p:cNvPr id="28" name="Text 26"/>
          <p:cNvSpPr/>
          <p:nvPr/>
        </p:nvSpPr>
        <p:spPr>
          <a:xfrm>
            <a:off x="1143000" y="5504688"/>
            <a:ext cx="9875520" cy="749808"/>
          </a:xfrm>
          <a:prstGeom prst="rect">
            <a:avLst/>
          </a:prstGeom>
          <a:noFill/>
          <a:ln/>
        </p:spPr>
        <p:txBody>
          <a:bodyPr wrap="square" rtlCol="0" anchor="t"/>
          <a:lstStyle/>
          <a:p>
            <a:pPr indent="0" marL="0">
              <a:lnSpc>
                <a:spcPct val="100000"/>
              </a:lnSpc>
              <a:buNone/>
            </a:pPr>
            <a:r>
              <a:rPr lang="en-US" sz="1350" b="1" dirty="0">
                <a:solidFill>
                  <a:srgbClr val="1F3A5F"/>
                </a:solidFill>
                <a:latin typeface="Calibri" pitchFamily="34" charset="0"/>
                <a:ea typeface="Calibri" pitchFamily="34" charset="-122"/>
                <a:cs typeface="Calibri" pitchFamily="34" charset="-120"/>
              </a:rPr>
              <a:t>I can examine federal policies toward American Indians, including the movement to reservations, assimilation, boarding schools, and the Dawes Act.</a:t>
            </a:r>
            <a:endParaRPr lang="en-US" sz="1350" dirty="0"/>
          </a:p>
        </p:txBody>
      </p:sp>
      <p:sp>
        <p:nvSpPr>
          <p:cNvPr id="29" name="Text 27"/>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0" name="Text 2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227"/>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B22234"/>
                </a:solidFill>
                <a:latin typeface="Trebuchet MS" pitchFamily="34" charset="0"/>
                <a:ea typeface="Trebuchet MS" pitchFamily="34" charset="-122"/>
                <a:cs typeface="Trebuchet MS" pitchFamily="34" charset="-120"/>
              </a:rPr>
              <a:t>US.02 · QUICK REVIEW</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F3A5F"/>
                </a:solidFill>
                <a:latin typeface="Georgia" pitchFamily="34" charset="0"/>
                <a:ea typeface="Georgia" pitchFamily="34" charset="-122"/>
                <a:cs typeface="Georgia" pitchFamily="34" charset="-120"/>
              </a:rPr>
              <a:t>Do You Remember?</a:t>
            </a:r>
            <a:endParaRPr lang="en-US" sz="3000" dirty="0"/>
          </a:p>
        </p:txBody>
      </p:sp>
      <p:sp>
        <p:nvSpPr>
          <p:cNvPr id="5" name="Text 3"/>
          <p:cNvSpPr/>
          <p:nvPr/>
        </p:nvSpPr>
        <p:spPr>
          <a:xfrm>
            <a:off x="548640" y="141732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Before we start, retrieve what we have already learned. Answer from memory first — no notes.</a:t>
            </a:r>
            <a:endParaRPr lang="en-US" sz="1400" dirty="0"/>
          </a:p>
        </p:txBody>
      </p:sp>
      <p:sp>
        <p:nvSpPr>
          <p:cNvPr id="6" name="Shape 4"/>
          <p:cNvSpPr/>
          <p:nvPr/>
        </p:nvSpPr>
        <p:spPr>
          <a:xfrm>
            <a:off x="548640" y="2057400"/>
            <a:ext cx="11064240" cy="1234440"/>
          </a:xfrm>
          <a:prstGeom prst="rect">
            <a:avLst/>
          </a:prstGeom>
          <a:solidFill>
            <a:srgbClr val="FFFFFF"/>
          </a:solidFill>
          <a:ln w="12700">
            <a:solidFill>
              <a:srgbClr val="DAD3C2"/>
            </a:solidFill>
            <a:prstDash val="solid"/>
          </a:ln>
        </p:spPr>
        <p:txBody>
          <a:bodyPr/>
          <a:p/>
        </p:txBody>
      </p:sp>
      <p:sp>
        <p:nvSpPr>
          <p:cNvPr id="7" name="Shape 5"/>
          <p:cNvSpPr/>
          <p:nvPr/>
        </p:nvSpPr>
        <p:spPr>
          <a:xfrm>
            <a:off x="548640" y="2057400"/>
            <a:ext cx="777240" cy="1234440"/>
          </a:xfrm>
          <a:prstGeom prst="rect">
            <a:avLst/>
          </a:prstGeom>
          <a:solidFill>
            <a:srgbClr val="1F3A5F"/>
          </a:solidFill>
          <a:ln/>
        </p:spPr>
        <p:txBody>
          <a:bodyPr/>
          <a:p/>
        </p:txBody>
      </p:sp>
      <p:sp>
        <p:nvSpPr>
          <p:cNvPr id="8" name="Text 6"/>
          <p:cNvSpPr/>
          <p:nvPr/>
        </p:nvSpPr>
        <p:spPr>
          <a:xfrm>
            <a:off x="548640" y="2057400"/>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1</a:t>
            </a:r>
            <a:endParaRPr lang="en-US" sz="2000" dirty="0"/>
          </a:p>
        </p:txBody>
      </p:sp>
      <p:sp>
        <p:nvSpPr>
          <p:cNvPr id="9" name="Text 7"/>
          <p:cNvSpPr/>
          <p:nvPr/>
        </p:nvSpPr>
        <p:spPr>
          <a:xfrm>
            <a:off x="1508760" y="2057400"/>
            <a:ext cx="9966960" cy="1234440"/>
          </a:xfrm>
          <a:prstGeom prst="rect">
            <a:avLst/>
          </a:prstGeom>
          <a:noFill/>
          <a:ln/>
        </p:spPr>
        <p:txBody>
          <a:bodyPr wrap="square" rtlCol="0" anchor="ctr"/>
          <a:lstStyle/>
          <a:p>
            <a:pPr indent="0" marL="0">
              <a:lnSpc>
                <a:spcPct val="104000"/>
              </a:lnSpc>
              <a:buNone/>
            </a:pPr>
            <a:r>
              <a:rPr lang="en-US" sz="1350" b="1" dirty="0">
                <a:solidFill>
                  <a:srgbClr val="B22234"/>
                </a:solidFill>
                <a:latin typeface="Calibri" pitchFamily="34" charset="0"/>
                <a:ea typeface="Calibri" pitchFamily="34" charset="-122"/>
                <a:cs typeface="Calibri" pitchFamily="34" charset="-120"/>
              </a:rPr>
              <a:t>US.01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How did the Homestead Act and the railroads change WHO lived on western land?</a:t>
            </a:r>
            <a:endParaRPr lang="en-US" sz="1350" dirty="0"/>
          </a:p>
        </p:txBody>
      </p:sp>
      <p:sp>
        <p:nvSpPr>
          <p:cNvPr id="10" name="Shape 8"/>
          <p:cNvSpPr/>
          <p:nvPr/>
        </p:nvSpPr>
        <p:spPr>
          <a:xfrm>
            <a:off x="548640" y="3456432"/>
            <a:ext cx="11064240" cy="1234440"/>
          </a:xfrm>
          <a:prstGeom prst="rect">
            <a:avLst/>
          </a:prstGeom>
          <a:solidFill>
            <a:srgbClr val="FFFFFF"/>
          </a:solidFill>
          <a:ln w="12700">
            <a:solidFill>
              <a:srgbClr val="DAD3C2"/>
            </a:solidFill>
            <a:prstDash val="solid"/>
          </a:ln>
        </p:spPr>
        <p:txBody>
          <a:bodyPr/>
          <a:p/>
        </p:txBody>
      </p:sp>
      <p:sp>
        <p:nvSpPr>
          <p:cNvPr id="11" name="Shape 9"/>
          <p:cNvSpPr/>
          <p:nvPr/>
        </p:nvSpPr>
        <p:spPr>
          <a:xfrm>
            <a:off x="548640" y="3456432"/>
            <a:ext cx="777240" cy="1234440"/>
          </a:xfrm>
          <a:prstGeom prst="rect">
            <a:avLst/>
          </a:prstGeom>
          <a:solidFill>
            <a:srgbClr val="1F3A5F"/>
          </a:solidFill>
          <a:ln/>
        </p:spPr>
        <p:txBody>
          <a:bodyPr/>
          <a:p/>
        </p:txBody>
      </p:sp>
      <p:sp>
        <p:nvSpPr>
          <p:cNvPr id="12" name="Text 10"/>
          <p:cNvSpPr/>
          <p:nvPr/>
        </p:nvSpPr>
        <p:spPr>
          <a:xfrm>
            <a:off x="548640" y="3456432"/>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2</a:t>
            </a:r>
            <a:endParaRPr lang="en-US" sz="2000" dirty="0"/>
          </a:p>
        </p:txBody>
      </p:sp>
      <p:sp>
        <p:nvSpPr>
          <p:cNvPr id="13" name="Text 11"/>
          <p:cNvSpPr/>
          <p:nvPr/>
        </p:nvSpPr>
        <p:spPr>
          <a:xfrm>
            <a:off x="1508760" y="3456432"/>
            <a:ext cx="9966960" cy="1234440"/>
          </a:xfrm>
          <a:prstGeom prst="rect">
            <a:avLst/>
          </a:prstGeom>
          <a:noFill/>
          <a:ln/>
        </p:spPr>
        <p:txBody>
          <a:bodyPr wrap="square" rtlCol="0" anchor="ctr"/>
          <a:lstStyle/>
          <a:p>
            <a:pPr indent="0" marL="0">
              <a:lnSpc>
                <a:spcPct val="104000"/>
              </a:lnSpc>
              <a:buNone/>
            </a:pPr>
            <a:r>
              <a:rPr lang="en-US" sz="1350" b="1" dirty="0">
                <a:solidFill>
                  <a:srgbClr val="B22234"/>
                </a:solidFill>
                <a:latin typeface="Calibri" pitchFamily="34" charset="0"/>
                <a:ea typeface="Calibri" pitchFamily="34" charset="-122"/>
                <a:cs typeface="Calibri" pitchFamily="34" charset="-120"/>
              </a:rPr>
              <a:t>US.01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Define “Manifest Destiny” in one sentence.</a:t>
            </a:r>
            <a:endParaRPr lang="en-US" sz="135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227"/>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B22234"/>
                </a:solidFill>
                <a:latin typeface="Trebuchet MS" pitchFamily="34" charset="0"/>
                <a:ea typeface="Trebuchet MS" pitchFamily="34" charset="-122"/>
                <a:cs typeface="Trebuchet MS" pitchFamily="34" charset="-120"/>
              </a:rPr>
              <a:t>US.02 · CONFIDENCE CHECK</a:t>
            </a:r>
            <a:endParaRPr lang="en-US" sz="1200" dirty="0"/>
          </a:p>
        </p:txBody>
      </p:sp>
      <p:sp>
        <p:nvSpPr>
          <p:cNvPr id="4" name="Text 2"/>
          <p:cNvSpPr/>
          <p:nvPr/>
        </p:nvSpPr>
        <p:spPr>
          <a:xfrm>
            <a:off x="548640" y="731520"/>
            <a:ext cx="7863840" cy="640080"/>
          </a:xfrm>
          <a:prstGeom prst="rect">
            <a:avLst/>
          </a:prstGeom>
          <a:noFill/>
          <a:ln/>
        </p:spPr>
        <p:txBody>
          <a:bodyPr wrap="square" rtlCol="0" anchor="ctr"/>
          <a:lstStyle/>
          <a:p>
            <a:pPr indent="0" marL="0">
              <a:buNone/>
            </a:pPr>
            <a:r>
              <a:rPr lang="en-US" sz="3000" b="1" dirty="0">
                <a:solidFill>
                  <a:srgbClr val="1F3A5F"/>
                </a:solidFill>
                <a:latin typeface="Georgia" pitchFamily="34" charset="0"/>
                <a:ea typeface="Georgia" pitchFamily="34" charset="-122"/>
                <a:cs typeface="Georgia" pitchFamily="34" charset="-120"/>
              </a:rPr>
              <a:t>Warm-Up — Quick Recall</a:t>
            </a:r>
            <a:endParaRPr lang="en-US" sz="3000" dirty="0"/>
          </a:p>
        </p:txBody>
      </p:sp>
      <p:sp>
        <p:nvSpPr>
          <p:cNvPr id="5" name="Shape 3"/>
          <p:cNvSpPr/>
          <p:nvPr/>
        </p:nvSpPr>
        <p:spPr>
          <a:xfrm>
            <a:off x="8686800" y="786384"/>
            <a:ext cx="1143000" cy="457200"/>
          </a:xfrm>
          <a:prstGeom prst="roundRect">
            <a:avLst>
              <a:gd name="adj" fmla="val 20000"/>
            </a:avLst>
          </a:prstGeom>
          <a:solidFill>
            <a:srgbClr val="FBEFD0"/>
          </a:solidFill>
          <a:ln w="15875">
            <a:solidFill>
              <a:srgbClr val="C9A227"/>
            </a:solidFill>
            <a:prstDash val="solid"/>
          </a:ln>
        </p:spPr>
        <p:txBody>
          <a:bodyPr/>
          <a:p/>
        </p:txBody>
      </p:sp>
      <p:sp>
        <p:nvSpPr>
          <p:cNvPr id="6" name="Text 4"/>
          <p:cNvSpPr/>
          <p:nvPr/>
        </p:nvSpPr>
        <p:spPr>
          <a:xfrm>
            <a:off x="8686800" y="786384"/>
            <a:ext cx="1143000" cy="457200"/>
          </a:xfrm>
          <a:prstGeom prst="rect">
            <a:avLst/>
          </a:prstGeom>
          <a:noFill/>
          <a:ln/>
        </p:spPr>
        <p:txBody>
          <a:bodyPr wrap="square" rtlCol="0" anchor="ctr"/>
          <a:lstStyle/>
          <a:p>
            <a:pPr algn="ctr" indent="0" marL="0">
              <a:buNone/>
            </a:pPr>
            <a:r>
              <a:rPr lang="en-US" sz="1200" b="1" dirty="0">
                <a:solidFill>
                  <a:srgbClr val="B22234"/>
                </a:solidFill>
                <a:latin typeface="Trebuchet MS" pitchFamily="34" charset="0"/>
                <a:ea typeface="Trebuchet MS" pitchFamily="34" charset="-122"/>
                <a:cs typeface="Trebuchet MS" pitchFamily="34" charset="-120"/>
              </a:rPr>
              <a:t>DOK 1</a:t>
            </a:r>
            <a:endParaRPr lang="en-US" sz="1200" dirty="0"/>
          </a:p>
        </p:txBody>
      </p:sp>
      <p:sp>
        <p:nvSpPr>
          <p:cNvPr id="7" name="Shape 5"/>
          <p:cNvSpPr/>
          <p:nvPr/>
        </p:nvSpPr>
        <p:spPr>
          <a:xfrm>
            <a:off x="9966960" y="786384"/>
            <a:ext cx="1645920" cy="457200"/>
          </a:xfrm>
          <a:prstGeom prst="roundRect">
            <a:avLst>
              <a:gd name="adj" fmla="val 20000"/>
            </a:avLst>
          </a:prstGeom>
          <a:solidFill>
            <a:srgbClr val="1F3A5F"/>
          </a:solidFill>
          <a:ln/>
        </p:spPr>
        <p:txBody>
          <a:bodyPr/>
          <a:p/>
        </p:txBody>
      </p:sp>
      <p:sp>
        <p:nvSpPr>
          <p:cNvPr id="8" name="Text 6"/>
          <p:cNvSpPr/>
          <p:nvPr/>
        </p:nvSpPr>
        <p:spPr>
          <a:xfrm>
            <a:off x="9966960" y="786384"/>
            <a:ext cx="164592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LOW STAKES</a:t>
            </a:r>
            <a:endParaRPr lang="en-US" sz="1100" dirty="0"/>
          </a:p>
        </p:txBody>
      </p:sp>
      <p:sp>
        <p:nvSpPr>
          <p:cNvPr id="9" name="Text 7"/>
          <p:cNvSpPr/>
          <p:nvPr/>
        </p:nvSpPr>
        <p:spPr>
          <a:xfrm>
            <a:off x="548640" y="137160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Everyone can answer this. Thumbs / whiteboards — no notes.</a:t>
            </a:r>
            <a:endParaRPr lang="en-US" sz="1400" dirty="0"/>
          </a:p>
        </p:txBody>
      </p:sp>
      <p:sp>
        <p:nvSpPr>
          <p:cNvPr id="10" name="Shape 8"/>
          <p:cNvSpPr/>
          <p:nvPr/>
        </p:nvSpPr>
        <p:spPr>
          <a:xfrm>
            <a:off x="548640" y="1965960"/>
            <a:ext cx="11064240" cy="1874520"/>
          </a:xfrm>
          <a:prstGeom prst="roundRect">
            <a:avLst>
              <a:gd name="adj" fmla="val 4878"/>
            </a:avLst>
          </a:prstGeom>
          <a:solidFill>
            <a:srgbClr val="1F3A5F"/>
          </a:solidFill>
          <a:ln/>
        </p:spPr>
        <p:txBody>
          <a:bodyPr/>
          <a:p/>
        </p:txBody>
      </p:sp>
      <p:sp>
        <p:nvSpPr>
          <p:cNvPr id="11" name="Text 9"/>
          <p:cNvSpPr/>
          <p:nvPr/>
        </p:nvSpPr>
        <p:spPr>
          <a:xfrm>
            <a:off x="1005840" y="2194560"/>
            <a:ext cx="10149840" cy="1417320"/>
          </a:xfrm>
          <a:prstGeom prst="rect">
            <a:avLst/>
          </a:prstGeom>
          <a:noFill/>
          <a:ln/>
        </p:spPr>
        <p:txBody>
          <a:bodyPr wrap="square" rtlCol="0" anchor="ctr"/>
          <a:lstStyle/>
          <a:p>
            <a:pPr algn="ctr" indent="0" marL="0">
              <a:lnSpc>
                <a:spcPct val="108000"/>
              </a:lnSpc>
              <a:buNone/>
            </a:pPr>
            <a:r>
              <a:rPr lang="en-US" sz="2400" b="1" dirty="0">
                <a:solidFill>
                  <a:srgbClr val="FFFFFF"/>
                </a:solidFill>
                <a:latin typeface="Georgia" pitchFamily="34" charset="0"/>
                <a:ea typeface="Georgia" pitchFamily="34" charset="-122"/>
                <a:cs typeface="Georgia" pitchFamily="34" charset="-120"/>
              </a:rPr>
              <a:t>In one word: what kind of school tried to erase Native languages and culture?</a:t>
            </a:r>
            <a:endParaRPr lang="en-US" sz="2400" dirty="0"/>
          </a:p>
        </p:txBody>
      </p:sp>
      <p:sp>
        <p:nvSpPr>
          <p:cNvPr id="12" name="Shape 10"/>
          <p:cNvSpPr/>
          <p:nvPr/>
        </p:nvSpPr>
        <p:spPr>
          <a:xfrm>
            <a:off x="548640" y="4069080"/>
            <a:ext cx="11064240" cy="1371600"/>
          </a:xfrm>
          <a:prstGeom prst="roundRect">
            <a:avLst>
              <a:gd name="adj" fmla="val 6667"/>
            </a:avLst>
          </a:prstGeom>
          <a:solidFill>
            <a:srgbClr val="FBEFD0"/>
          </a:solidFill>
          <a:ln w="19050">
            <a:solidFill>
              <a:srgbClr val="C9A227"/>
            </a:solidFill>
            <a:prstDash val="solid"/>
          </a:ln>
        </p:spPr>
        <p:txBody>
          <a:bodyPr/>
          <a:p/>
        </p:txBody>
      </p:sp>
      <p:sp>
        <p:nvSpPr>
          <p:cNvPr id="13" name="Text 11"/>
          <p:cNvSpPr/>
          <p:nvPr/>
        </p:nvSpPr>
        <p:spPr>
          <a:xfrm>
            <a:off x="914400" y="4224528"/>
            <a:ext cx="2743200" cy="320040"/>
          </a:xfrm>
          <a:prstGeom prst="rect">
            <a:avLst/>
          </a:prstGeom>
          <a:noFill/>
          <a:ln/>
        </p:spPr>
        <p:txBody>
          <a:bodyPr wrap="square" rtlCol="0" anchor="ctr"/>
          <a:lstStyle/>
          <a:p>
            <a:pPr indent="0" marL="0">
              <a:buNone/>
            </a:pPr>
            <a:r>
              <a:rPr lang="en-US" sz="1200" b="1" spc="200" kern="0" dirty="0">
                <a:solidFill>
                  <a:srgbClr val="1B5E20"/>
                </a:solidFill>
                <a:latin typeface="Trebuchet MS" pitchFamily="34" charset="0"/>
                <a:ea typeface="Trebuchet MS" pitchFamily="34" charset="-122"/>
                <a:cs typeface="Trebuchet MS" pitchFamily="34" charset="-120"/>
              </a:rPr>
              <a:t>✓ ANSWER</a:t>
            </a:r>
            <a:endParaRPr lang="en-US" sz="1200" dirty="0"/>
          </a:p>
        </p:txBody>
      </p:sp>
      <p:sp>
        <p:nvSpPr>
          <p:cNvPr id="14" name="Text 12"/>
          <p:cNvSpPr/>
          <p:nvPr/>
        </p:nvSpPr>
        <p:spPr>
          <a:xfrm>
            <a:off x="914400" y="4572000"/>
            <a:ext cx="10332720" cy="777240"/>
          </a:xfrm>
          <a:prstGeom prst="rect">
            <a:avLst/>
          </a:prstGeom>
          <a:noFill/>
          <a:ln/>
        </p:spPr>
        <p:txBody>
          <a:bodyPr wrap="square" rtlCol="0" anchor="t"/>
          <a:lstStyle/>
          <a:p>
            <a:pPr indent="0" marL="0">
              <a:lnSpc>
                <a:spcPct val="108000"/>
              </a:lnSpc>
              <a:buNone/>
            </a:pPr>
            <a:r>
              <a:rPr lang="en-US" sz="1600" dirty="0">
                <a:solidFill>
                  <a:srgbClr val="1F2430"/>
                </a:solidFill>
                <a:latin typeface="Calibri" pitchFamily="34" charset="0"/>
                <a:ea typeface="Calibri" pitchFamily="34" charset="-122"/>
                <a:cs typeface="Calibri" pitchFamily="34" charset="-120"/>
              </a:rPr>
              <a:t>A boarding (assimilation) school — e.g., Carlisle.</a:t>
            </a:r>
            <a:endParaRPr lang="en-US" sz="1600" dirty="0"/>
          </a:p>
        </p:txBody>
      </p:sp>
      <p:sp>
        <p:nvSpPr>
          <p:cNvPr id="15" name="Shape 13"/>
          <p:cNvSpPr/>
          <p:nvPr/>
        </p:nvSpPr>
        <p:spPr>
          <a:xfrm>
            <a:off x="548640" y="5623560"/>
            <a:ext cx="11064240" cy="457200"/>
          </a:xfrm>
          <a:prstGeom prst="roundRect">
            <a:avLst>
              <a:gd name="adj" fmla="val 16000"/>
            </a:avLst>
          </a:prstGeom>
          <a:solidFill>
            <a:srgbClr val="FFFFFF"/>
          </a:solidFill>
          <a:ln w="12700">
            <a:solidFill>
              <a:srgbClr val="C9A227"/>
            </a:solidFill>
            <a:prstDash val="solid"/>
          </a:ln>
        </p:spPr>
        <p:txBody>
          <a:bodyPr/>
          <a:p/>
        </p:txBody>
      </p:sp>
      <p:sp>
        <p:nvSpPr>
          <p:cNvPr id="16" name="Text 14"/>
          <p:cNvSpPr/>
          <p:nvPr/>
        </p:nvSpPr>
        <p:spPr>
          <a:xfrm>
            <a:off x="822960" y="5623560"/>
            <a:ext cx="10515600" cy="457200"/>
          </a:xfrm>
          <a:prstGeom prst="rect">
            <a:avLst/>
          </a:prstGeom>
          <a:noFill/>
          <a:ln/>
        </p:spPr>
        <p:txBody>
          <a:bodyPr wrap="square" rtlCol="0" anchor="ctr"/>
          <a:lstStyle/>
          <a:p>
            <a:pPr indent="0" marL="0">
              <a:buNone/>
            </a:pPr>
            <a:r>
              <a:rPr lang="en-US" sz="1150" b="1" i="1" spc="100" kern="0" dirty="0">
                <a:solidFill>
                  <a:srgbClr val="B22234"/>
                </a:solidFill>
                <a:latin typeface="Trebuchet MS" pitchFamily="34" charset="0"/>
                <a:ea typeface="Trebuchet MS" pitchFamily="34" charset="-122"/>
                <a:cs typeface="Trebuchet MS" pitchFamily="34" charset="-120"/>
              </a:rPr>
              <a:t>COMMIT FIRST:  </a:t>
            </a:r>
            <a:pPr indent="0" marL="0">
              <a:buNone/>
            </a:pPr>
            <a:r>
              <a:rPr lang="en-US" sz="1150" i="1" dirty="0">
                <a:solidFill>
                  <a:srgbClr val="5C6470"/>
                </a:solidFill>
                <a:latin typeface="Calibri" pitchFamily="34" charset="0"/>
                <a:ea typeface="Calibri" pitchFamily="34" charset="-122"/>
                <a:cs typeface="Calibri" pitchFamily="34" charset="-120"/>
              </a:rPr>
              <a:t>have everyone answer before the reveal — this is the DOK 1 floor; the graded check later in this lesson moves up to DOK 2–3.</a:t>
            </a:r>
            <a:endParaRPr lang="en-US" sz="1150" dirty="0"/>
          </a:p>
        </p:txBody>
      </p:sp>
      <p:sp>
        <p:nvSpPr>
          <p:cNvPr id="18" name="Text 15"/>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6"/>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B22234"/>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B22234"/>
                </a:solidFill>
                <a:latin typeface="Trebuchet MS" pitchFamily="34" charset="0"/>
                <a:ea typeface="Trebuchet MS" pitchFamily="34" charset="-122"/>
                <a:cs typeface="Trebuchet MS" pitchFamily="34" charset="-120"/>
              </a:rPr>
              <a:t>US.02 · HOOK</a:t>
            </a:r>
            <a:endParaRPr lang="en-US" sz="1200" dirty="0"/>
          </a:p>
        </p:txBody>
      </p:sp>
      <p:sp>
        <p:nvSpPr>
          <p:cNvPr id="4" name="Text 2"/>
          <p:cNvSpPr/>
          <p:nvPr/>
        </p:nvSpPr>
        <p:spPr>
          <a:xfrm>
            <a:off x="548640" y="777240"/>
            <a:ext cx="10972800" cy="640080"/>
          </a:xfrm>
          <a:prstGeom prst="rect">
            <a:avLst/>
          </a:prstGeom>
          <a:noFill/>
          <a:ln/>
        </p:spPr>
        <p:txBody>
          <a:bodyPr wrap="square" rtlCol="0" anchor="ctr"/>
          <a:lstStyle/>
          <a:p>
            <a:pPr indent="0" marL="0">
              <a:buNone/>
            </a:pPr>
            <a:r>
              <a:rPr lang="en-US" sz="3000" b="1" dirty="0">
                <a:solidFill>
                  <a:srgbClr val="1F3A5F"/>
                </a:solidFill>
                <a:latin typeface="Georgia" pitchFamily="34" charset="0"/>
                <a:ea typeface="Georgia" pitchFamily="34" charset="-122"/>
                <a:cs typeface="Georgia" pitchFamily="34" charset="-120"/>
              </a:rPr>
              <a:t>Think About It</a:t>
            </a:r>
            <a:endParaRPr lang="en-US" sz="3000" dirty="0"/>
          </a:p>
        </p:txBody>
      </p:sp>
      <p:sp>
        <p:nvSpPr>
          <p:cNvPr id="5" name="Shape 3"/>
          <p:cNvSpPr/>
          <p:nvPr/>
        </p:nvSpPr>
        <p:spPr>
          <a:xfrm>
            <a:off x="548640" y="1691640"/>
            <a:ext cx="11064240" cy="2194560"/>
          </a:xfrm>
          <a:prstGeom prst="roundRect">
            <a:avLst>
              <a:gd name="adj" fmla="val 4167"/>
            </a:avLst>
          </a:prstGeom>
          <a:solidFill>
            <a:srgbClr val="1F3A5F"/>
          </a:solidFill>
          <a:ln/>
        </p:spPr>
        <p:txBody>
          <a:bodyPr/>
          <a:p/>
        </p:txBody>
      </p:sp>
      <p:sp>
        <p:nvSpPr>
          <p:cNvPr id="6" name="Text 4"/>
          <p:cNvSpPr/>
          <p:nvPr/>
        </p:nvSpPr>
        <p:spPr>
          <a:xfrm>
            <a:off x="1005840" y="1965960"/>
            <a:ext cx="10149840" cy="1645920"/>
          </a:xfrm>
          <a:prstGeom prst="rect">
            <a:avLst/>
          </a:prstGeom>
          <a:noFill/>
          <a:ln/>
        </p:spPr>
        <p:txBody>
          <a:bodyPr wrap="square" rtlCol="0" anchor="ctr"/>
          <a:lstStyle/>
          <a:p>
            <a:pPr indent="0" marL="0">
              <a:lnSpc>
                <a:spcPct val="108000"/>
              </a:lnSpc>
              <a:buNone/>
            </a:pPr>
            <a:r>
              <a:rPr lang="en-US" sz="2600" i="1" dirty="0">
                <a:solidFill>
                  <a:srgbClr val="FFFFFF"/>
                </a:solidFill>
                <a:latin typeface="Georgia" pitchFamily="34" charset="0"/>
                <a:ea typeface="Georgia" pitchFamily="34" charset="-122"/>
                <a:cs typeface="Georgia" pitchFamily="34" charset="-120"/>
              </a:rPr>
              <a:t>"Kill the Indian in him, and save the man."</a:t>
            </a:r>
            <a:endParaRPr lang="en-US" sz="2600" dirty="0"/>
          </a:p>
          <a:p>
            <a:pPr indent="0" marL="0">
              <a:lnSpc>
                <a:spcPct val="108000"/>
              </a:lnSpc>
              <a:buNone/>
            </a:pPr>
            <a:r>
              <a:rPr lang="en-US" sz="2600" i="1" dirty="0">
                <a:solidFill>
                  <a:srgbClr val="FFFFFF"/>
                </a:solidFill>
                <a:latin typeface="Georgia" pitchFamily="34" charset="0"/>
                <a:ea typeface="Georgia" pitchFamily="34" charset="-122"/>
                <a:cs typeface="Georgia" pitchFamily="34" charset="-120"/>
              </a:rPr>
              <a:t>— Capt. Richard H. Pratt, 1892</a:t>
            </a:r>
            <a:endParaRPr lang="en-US" sz="2600" dirty="0"/>
          </a:p>
        </p:txBody>
      </p:sp>
      <p:sp>
        <p:nvSpPr>
          <p:cNvPr id="7" name="Shape 5"/>
          <p:cNvSpPr/>
          <p:nvPr/>
        </p:nvSpPr>
        <p:spPr>
          <a:xfrm>
            <a:off x="548640" y="4114800"/>
            <a:ext cx="11064240" cy="1783080"/>
          </a:xfrm>
          <a:prstGeom prst="roundRect">
            <a:avLst>
              <a:gd name="adj" fmla="val 5128"/>
            </a:avLst>
          </a:prstGeom>
          <a:solidFill>
            <a:srgbClr val="FFFFFF"/>
          </a:solidFill>
          <a:ln w="19050">
            <a:solidFill>
              <a:srgbClr val="C9A227"/>
            </a:solidFill>
            <a:prstDash val="solid"/>
          </a:ln>
        </p:spPr>
        <p:txBody>
          <a:bodyPr/>
          <a:p/>
        </p:txBody>
      </p:sp>
      <p:sp>
        <p:nvSpPr>
          <p:cNvPr id="8" name="Text 6"/>
          <p:cNvSpPr/>
          <p:nvPr/>
        </p:nvSpPr>
        <p:spPr>
          <a:xfrm>
            <a:off x="914400" y="4297680"/>
            <a:ext cx="2743200" cy="320040"/>
          </a:xfrm>
          <a:prstGeom prst="rect">
            <a:avLst/>
          </a:prstGeom>
          <a:noFill/>
          <a:ln/>
        </p:spPr>
        <p:txBody>
          <a:bodyPr wrap="square" rtlCol="0" anchor="ctr"/>
          <a:lstStyle/>
          <a:p>
            <a:pPr indent="0" marL="0">
              <a:buNone/>
            </a:pPr>
            <a:r>
              <a:rPr lang="en-US" sz="1300" b="1" spc="200" kern="0" dirty="0">
                <a:solidFill>
                  <a:srgbClr val="B22234"/>
                </a:solidFill>
                <a:latin typeface="Trebuchet MS" pitchFamily="34" charset="0"/>
                <a:ea typeface="Trebuchet MS" pitchFamily="34" charset="-122"/>
                <a:cs typeface="Trebuchet MS" pitchFamily="34" charset="-120"/>
              </a:rPr>
              <a:t>DISCUSS</a:t>
            </a:r>
            <a:endParaRPr lang="en-US" sz="1300" dirty="0"/>
          </a:p>
        </p:txBody>
      </p:sp>
      <p:sp>
        <p:nvSpPr>
          <p:cNvPr id="9" name="Shape 7"/>
          <p:cNvSpPr/>
          <p:nvPr/>
        </p:nvSpPr>
        <p:spPr>
          <a:xfrm>
            <a:off x="7772400" y="4224528"/>
            <a:ext cx="3657600" cy="457200"/>
          </a:xfrm>
          <a:prstGeom prst="roundRect">
            <a:avLst>
              <a:gd name="adj" fmla="val 20000"/>
            </a:avLst>
          </a:prstGeom>
          <a:solidFill>
            <a:srgbClr val="1F3A5F"/>
          </a:solidFill>
          <a:ln/>
        </p:spPr>
        <p:txBody>
          <a:bodyPr/>
          <a:p/>
        </p:txBody>
      </p:sp>
      <p:sp>
        <p:nvSpPr>
          <p:cNvPr id="10" name="Text 8"/>
          <p:cNvSpPr/>
          <p:nvPr/>
        </p:nvSpPr>
        <p:spPr>
          <a:xfrm>
            <a:off x="7772400" y="4224528"/>
            <a:ext cx="3657600" cy="45720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TIMING:  Turn &amp; Talk 60 sec → cold-call 2 pairs</a:t>
            </a:r>
            <a:endParaRPr lang="en-US" sz="1050" dirty="0"/>
          </a:p>
        </p:txBody>
      </p:sp>
      <p:sp>
        <p:nvSpPr>
          <p:cNvPr id="11" name="Text 9"/>
          <p:cNvSpPr/>
          <p:nvPr/>
        </p:nvSpPr>
        <p:spPr>
          <a:xfrm>
            <a:off x="914400" y="4736592"/>
            <a:ext cx="10332720" cy="1097280"/>
          </a:xfrm>
          <a:prstGeom prst="rect">
            <a:avLst/>
          </a:prstGeom>
          <a:noFill/>
          <a:ln/>
        </p:spPr>
        <p:txBody>
          <a:bodyPr wrap="square" rtlCol="0" anchor="t"/>
          <a:lstStyle/>
          <a:p>
            <a:pPr indent="0" marL="0">
              <a:lnSpc>
                <a:spcPct val="110000"/>
              </a:lnSpc>
              <a:buNone/>
            </a:pPr>
            <a:r>
              <a:rPr lang="en-US" sz="1600" dirty="0">
                <a:solidFill>
                  <a:srgbClr val="1F2430"/>
                </a:solidFill>
                <a:latin typeface="Calibri" pitchFamily="34" charset="0"/>
                <a:ea typeface="Calibri" pitchFamily="34" charset="-122"/>
                <a:cs typeface="Calibri" pitchFamily="34" charset="-120"/>
              </a:rPr>
              <a:t>What does it mean for a government to try to erase a culture? As you read today, watch for the difference between what these policies claimed to do and what they actually did — and use the evidence to judge for yourself.</a:t>
            </a:r>
            <a:endParaRPr lang="en-US" sz="1600" dirty="0"/>
          </a:p>
        </p:txBody>
      </p:sp>
      <p:sp>
        <p:nvSpPr>
          <p:cNvPr id="13" name="Text 10"/>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F3A5F"/>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B22234"/>
                </a:solidFill>
                <a:latin typeface="Trebuchet MS" pitchFamily="34" charset="0"/>
                <a:ea typeface="Trebuchet MS" pitchFamily="34" charset="-122"/>
                <a:cs typeface="Trebuchet MS" pitchFamily="34" charset="-120"/>
              </a:rPr>
              <a:t>US.02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F3A5F"/>
                </a:solidFill>
                <a:latin typeface="Georgia" pitchFamily="34" charset="0"/>
                <a:ea typeface="Georgia" pitchFamily="34" charset="-122"/>
                <a:cs typeface="Georgia" pitchFamily="34" charset="-120"/>
              </a:rPr>
              <a:t>Movement to Reservations</a:t>
            </a:r>
            <a:endParaRPr lang="en-US" sz="3000" dirty="0"/>
          </a:p>
        </p:txBody>
      </p:sp>
      <p:sp>
        <p:nvSpPr>
          <p:cNvPr id="5" name="Shape 3"/>
          <p:cNvSpPr/>
          <p:nvPr/>
        </p:nvSpPr>
        <p:spPr>
          <a:xfrm>
            <a:off x="10765231" y="502920"/>
            <a:ext cx="146304" cy="146304"/>
          </a:xfrm>
          <a:prstGeom prst="ellipse">
            <a:avLst/>
          </a:prstGeom>
          <a:solidFill>
            <a:srgbClr val="B22234"/>
          </a:solidFill>
          <a:ln/>
        </p:spPr>
        <p:txBody>
          <a:bodyPr/>
          <a:p/>
        </p:txBody>
      </p:sp>
      <p:sp>
        <p:nvSpPr>
          <p:cNvPr id="6" name="Shape 4"/>
          <p:cNvSpPr/>
          <p:nvPr/>
        </p:nvSpPr>
        <p:spPr>
          <a:xfrm>
            <a:off x="11057839" y="502920"/>
            <a:ext cx="146304" cy="146304"/>
          </a:xfrm>
          <a:prstGeom prst="ellipse">
            <a:avLst/>
          </a:prstGeom>
          <a:solidFill>
            <a:srgbClr val="A7BACB"/>
          </a:solidFill>
          <a:ln/>
        </p:spPr>
        <p:txBody>
          <a:bodyPr/>
          <a:p/>
        </p:txBody>
      </p:sp>
      <p:sp>
        <p:nvSpPr>
          <p:cNvPr id="7" name="Shape 5"/>
          <p:cNvSpPr/>
          <p:nvPr/>
        </p:nvSpPr>
        <p:spPr>
          <a:xfrm>
            <a:off x="11350447" y="502920"/>
            <a:ext cx="146304" cy="146304"/>
          </a:xfrm>
          <a:prstGeom prst="ellipse">
            <a:avLst/>
          </a:prstGeom>
          <a:solidFill>
            <a:srgbClr val="A7BACB"/>
          </a:solidFill>
          <a:ln/>
        </p:spPr>
        <p:txBody>
          <a:bodyPr/>
          <a:p/>
        </p:txBody>
      </p:sp>
      <p:sp>
        <p:nvSpPr>
          <p:cNvPr id="8" name="Text 6"/>
          <p:cNvSpPr/>
          <p:nvPr/>
        </p:nvSpPr>
        <p:spPr>
          <a:xfrm>
            <a:off x="9805111"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1 of 3</a:t>
            </a:r>
            <a:endParaRPr lang="en-US" sz="1000" dirty="0"/>
          </a:p>
        </p:txBody>
      </p:sp>
      <p:sp>
        <p:nvSpPr>
          <p:cNvPr id="9" name="Shape 7"/>
          <p:cNvSpPr/>
          <p:nvPr/>
        </p:nvSpPr>
        <p:spPr>
          <a:xfrm>
            <a:off x="548640" y="1783080"/>
            <a:ext cx="11064240" cy="4069080"/>
          </a:xfrm>
          <a:prstGeom prst="rect">
            <a:avLst/>
          </a:prstGeom>
          <a:solidFill>
            <a:srgbClr val="FFFFFF"/>
          </a:solidFill>
          <a:ln w="12700">
            <a:solidFill>
              <a:srgbClr val="DAD3C2"/>
            </a:solidFill>
            <a:prstDash val="solid"/>
          </a:ln>
        </p:spPr>
        <p:txBody>
          <a:bodyPr/>
          <a:p/>
        </p:txBody>
      </p:sp>
      <p:sp>
        <p:nvSpPr>
          <p:cNvPr id="10" name="Text 8"/>
          <p:cNvSpPr/>
          <p:nvPr/>
        </p:nvSpPr>
        <p:spPr>
          <a:xfrm>
            <a:off x="914400" y="2057400"/>
            <a:ext cx="10424160" cy="2340864"/>
          </a:xfrm>
          <a:prstGeom prst="rect">
            <a:avLst/>
          </a:prstGeom>
          <a:noFill/>
          <a:ln/>
        </p:spPr>
        <p:txBody>
          <a:bodyPr wrap="square" rtlCol="0" anchor="t"/>
          <a:lstStyle/>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After the Civil War, the federal government expanded a policy of confining American Indian nations to reservations—designated territories far smaller than their traditional homelands.</a:t>
            </a:r>
            <a:endParaRPr lang="en-US" sz="1700" dirty="0"/>
          </a:p>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Officials stated two goals: to open western land for white settlement and railroads, and to end armed conflict on the Plains.</a:t>
            </a:r>
            <a:endParaRPr lang="en-US" sz="1700" dirty="0"/>
          </a:p>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Many treaties were signed under military and economic pressure, and tribes surrendered millions of acres.</a:t>
            </a:r>
            <a:endParaRPr lang="en-US" sz="1700" dirty="0"/>
          </a:p>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Resistance continued: at the Battle of the Little Bighorn (1876), Lakota and Cheyenne forces under Sitting Bull and Crazy Horse defeated Lt. Col. George Custer—a Native victory that intensified U.S. efforts to break tribal power.</a:t>
            </a:r>
            <a:endParaRPr lang="en-US" sz="1700" dirty="0"/>
          </a:p>
        </p:txBody>
      </p:sp>
      <p:sp>
        <p:nvSpPr>
          <p:cNvPr id="11" name="Shape 9"/>
          <p:cNvSpPr/>
          <p:nvPr/>
        </p:nvSpPr>
        <p:spPr>
          <a:xfrm>
            <a:off x="868680" y="4626864"/>
            <a:ext cx="10424160" cy="1097280"/>
          </a:xfrm>
          <a:prstGeom prst="roundRect">
            <a:avLst>
              <a:gd name="adj" fmla="val 5000"/>
            </a:avLst>
          </a:prstGeom>
          <a:solidFill>
            <a:srgbClr val="EEF3F7"/>
          </a:solidFill>
          <a:ln w="12700">
            <a:solidFill>
              <a:srgbClr val="A7BACB"/>
            </a:solidFill>
            <a:prstDash val="solid"/>
          </a:ln>
        </p:spPr>
        <p:txBody>
          <a:bodyPr/>
          <a:p/>
        </p:txBody>
      </p:sp>
      <p:sp>
        <p:nvSpPr>
          <p:cNvPr id="12" name="Text 10"/>
          <p:cNvSpPr/>
          <p:nvPr/>
        </p:nvSpPr>
        <p:spPr>
          <a:xfrm>
            <a:off x="1024128" y="4681728"/>
            <a:ext cx="10149840" cy="237744"/>
          </a:xfrm>
          <a:prstGeom prst="rect">
            <a:avLst/>
          </a:prstGeom>
          <a:noFill/>
          <a:ln/>
        </p:spPr>
        <p:txBody>
          <a:bodyPr wrap="square" rtlCol="0" anchor="ctr"/>
          <a:lstStyle/>
          <a:p>
            <a:pPr indent="0" marL="0">
              <a:buNone/>
            </a:pPr>
            <a:r>
              <a:rPr lang="en-US" sz="900" b="1" spc="100" kern="0" dirty="0">
                <a:solidFill>
                  <a:srgbClr val="002858"/>
                </a:solidFill>
                <a:latin typeface="Trebuchet MS" pitchFamily="34" charset="0"/>
                <a:ea typeface="Trebuchet MS" pitchFamily="34" charset="-122"/>
                <a:cs typeface="Trebuchet MS" pitchFamily="34" charset="-120"/>
              </a:rPr>
              <a:t>SENTENCE FRAME  </a:t>
            </a:r>
            <a:pPr indent="0" marL="0">
              <a:buNone/>
            </a:pPr>
            <a:r>
              <a:rPr lang="en-US" sz="900" i="1" dirty="0">
                <a:solidFill>
                  <a:srgbClr val="5C6470"/>
                </a:solidFill>
              </a:rPr>
              <a:t>· LANGUAGE SUPPORT  </a:t>
            </a:r>
            <a:endParaRPr lang="en-US" sz="900" dirty="0"/>
          </a:p>
        </p:txBody>
      </p:sp>
      <p:sp>
        <p:nvSpPr>
          <p:cNvPr id="13" name="Text 11"/>
          <p:cNvSpPr/>
          <p:nvPr/>
        </p:nvSpPr>
        <p:spPr>
          <a:xfrm>
            <a:off x="1024128" y="4937760"/>
            <a:ext cx="10607040" cy="658368"/>
          </a:xfrm>
          <a:prstGeom prst="rect">
            <a:avLst/>
          </a:prstGeom>
          <a:noFill/>
          <a:ln/>
        </p:spPr>
        <p:txBody>
          <a:bodyPr wrap="square" rtlCol="0" anchor="t"/>
          <a:lstStyle/>
          <a:p>
            <a:pPr indent="0" marL="0">
              <a:lnSpc>
                <a:spcPct val="104000"/>
              </a:lnSpc>
              <a:buNone/>
            </a:pPr>
            <a:r>
              <a:rPr lang="en-US" sz="1150" i="1" dirty="0">
                <a:solidFill>
                  <a:srgbClr val="1F2430"/>
                </a:solidFill>
                <a:latin typeface="Calibri" pitchFamily="34" charset="0"/>
                <a:ea typeface="Calibri" pitchFamily="34" charset="-122"/>
                <a:cs typeface="Calibri" pitchFamily="34" charset="-120"/>
              </a:rPr>
              <a:t>Federal Indian policy claimed to ________, but in practice it ________.</a:t>
            </a:r>
            <a:endParaRPr lang="en-US" sz="115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F3A5F"/>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B22234"/>
                </a:solidFill>
                <a:latin typeface="Trebuchet MS" pitchFamily="34" charset="0"/>
                <a:ea typeface="Trebuchet MS" pitchFamily="34" charset="-122"/>
                <a:cs typeface="Trebuchet MS" pitchFamily="34" charset="-120"/>
              </a:rPr>
              <a:t>US.02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F3A5F"/>
                </a:solidFill>
                <a:latin typeface="Georgia" pitchFamily="34" charset="0"/>
                <a:ea typeface="Georgia" pitchFamily="34" charset="-122"/>
                <a:cs typeface="Georgia" pitchFamily="34" charset="-120"/>
              </a:rPr>
              <a:t>Assimilation and Boarding Schools</a:t>
            </a:r>
            <a:endParaRPr lang="en-US" sz="3000" dirty="0"/>
          </a:p>
        </p:txBody>
      </p:sp>
      <p:sp>
        <p:nvSpPr>
          <p:cNvPr id="5" name="Shape 3"/>
          <p:cNvSpPr/>
          <p:nvPr/>
        </p:nvSpPr>
        <p:spPr>
          <a:xfrm>
            <a:off x="10765231" y="502920"/>
            <a:ext cx="146304" cy="146304"/>
          </a:xfrm>
          <a:prstGeom prst="ellipse">
            <a:avLst/>
          </a:prstGeom>
          <a:solidFill>
            <a:srgbClr val="A7BACB"/>
          </a:solidFill>
          <a:ln/>
        </p:spPr>
        <p:txBody>
          <a:bodyPr/>
          <a:p/>
        </p:txBody>
      </p:sp>
      <p:sp>
        <p:nvSpPr>
          <p:cNvPr id="6" name="Shape 4"/>
          <p:cNvSpPr/>
          <p:nvPr/>
        </p:nvSpPr>
        <p:spPr>
          <a:xfrm>
            <a:off x="11057839" y="502920"/>
            <a:ext cx="146304" cy="146304"/>
          </a:xfrm>
          <a:prstGeom prst="ellipse">
            <a:avLst/>
          </a:prstGeom>
          <a:solidFill>
            <a:srgbClr val="B22234"/>
          </a:solidFill>
          <a:ln/>
        </p:spPr>
        <p:txBody>
          <a:bodyPr/>
          <a:p/>
        </p:txBody>
      </p:sp>
      <p:sp>
        <p:nvSpPr>
          <p:cNvPr id="7" name="Shape 5"/>
          <p:cNvSpPr/>
          <p:nvPr/>
        </p:nvSpPr>
        <p:spPr>
          <a:xfrm>
            <a:off x="11350447" y="502920"/>
            <a:ext cx="146304" cy="146304"/>
          </a:xfrm>
          <a:prstGeom prst="ellipse">
            <a:avLst/>
          </a:prstGeom>
          <a:solidFill>
            <a:srgbClr val="A7BACB"/>
          </a:solidFill>
          <a:ln/>
        </p:spPr>
        <p:txBody>
          <a:bodyPr/>
          <a:p/>
        </p:txBody>
      </p:sp>
      <p:sp>
        <p:nvSpPr>
          <p:cNvPr id="8" name="Text 6"/>
          <p:cNvSpPr/>
          <p:nvPr/>
        </p:nvSpPr>
        <p:spPr>
          <a:xfrm>
            <a:off x="9805111"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2 of 3</a:t>
            </a:r>
            <a:endParaRPr lang="en-US" sz="1000" dirty="0"/>
          </a:p>
        </p:txBody>
      </p:sp>
      <p:sp>
        <p:nvSpPr>
          <p:cNvPr id="9" name="Shape 7"/>
          <p:cNvSpPr/>
          <p:nvPr/>
        </p:nvSpPr>
        <p:spPr>
          <a:xfrm>
            <a:off x="548640" y="1783080"/>
            <a:ext cx="6766560" cy="4069080"/>
          </a:xfrm>
          <a:prstGeom prst="rect">
            <a:avLst/>
          </a:prstGeom>
          <a:solidFill>
            <a:srgbClr val="FFFFFF"/>
          </a:solidFill>
          <a:ln w="12700">
            <a:solidFill>
              <a:srgbClr val="DAD3C2"/>
            </a:solidFill>
            <a:prstDash val="solid"/>
          </a:ln>
        </p:spPr>
        <p:txBody>
          <a:bodyPr/>
          <a:p/>
        </p:txBody>
      </p:sp>
      <p:sp>
        <p:nvSpPr>
          <p:cNvPr id="10" name="Text 8"/>
          <p:cNvSpPr/>
          <p:nvPr/>
        </p:nvSpPr>
        <p:spPr>
          <a:xfrm>
            <a:off x="914400" y="2057400"/>
            <a:ext cx="6126480" cy="3566160"/>
          </a:xfrm>
          <a:prstGeom prst="rect">
            <a:avLst/>
          </a:prstGeom>
          <a:noFill/>
          <a:ln/>
        </p:spPr>
        <p:txBody>
          <a:bodyPr wrap="square" rtlCol="0" anchor="t"/>
          <a:lstStyle/>
          <a:p>
            <a:pPr marL="228600" indent="-228600">
              <a:lnSpc>
                <a:spcPct val="112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Alongside removal, the government pursued a policy of assimilation—using schools and law to replace tribal cultures with Euro-American ones.</a:t>
            </a:r>
            <a:endParaRPr lang="en-US" sz="1550" dirty="0"/>
          </a:p>
          <a:p>
            <a:pPr marL="228600" indent="-228600">
              <a:lnSpc>
                <a:spcPct val="112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At off-reservation boarding schools such as the Carlisle Indian Industrial School (founded 1879), Captain Richard H. Pratt summarized the aim in 1892: “Kill the Indian in him, and save the man.” Children were removed from their families and often forbidden to speak their languages, wear their clothing, or practice their religions.</a:t>
            </a:r>
            <a:endParaRPr lang="en-US" sz="1550" dirty="0"/>
          </a:p>
          <a:p>
            <a:pPr marL="228600" indent="-228600">
              <a:lnSpc>
                <a:spcPct val="112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Historians today describe this systematic effort to erase Native identity as cultural genocide, and document its lasting, multi-generational harm.</a:t>
            </a:r>
            <a:endParaRPr lang="en-US" sz="1550" dirty="0"/>
          </a:p>
        </p:txBody>
      </p:sp>
      <p:sp>
        <p:nvSpPr>
          <p:cNvPr id="11" name="Shape 9"/>
          <p:cNvSpPr/>
          <p:nvPr/>
        </p:nvSpPr>
        <p:spPr>
          <a:xfrm>
            <a:off x="7552944" y="1746504"/>
            <a:ext cx="4142232" cy="3575304"/>
          </a:xfrm>
          <a:prstGeom prst="rect">
            <a:avLst/>
          </a:prstGeom>
          <a:solidFill>
            <a:srgbClr val="FFFFFF"/>
          </a:solidFill>
          <a:ln w="12700">
            <a:solidFill>
              <a:srgbClr val="DAD3C2"/>
            </a:solidFill>
            <a:prstDash val="solid"/>
          </a:ln>
        </p:spPr>
        <p:txBody>
          <a:bodyPr/>
          <a:p/>
        </p:txBody>
      </p:sp>
      <p:pic>
        <p:nvPicPr>
          <p:cNvPr id="12" name="Image 0" descr="John N. Choate, 1882 and 1885  Beinecke Rare Book and Manuscript Library">    </p:cNvPr>
          <p:cNvPicPr>
            <a:picLocks noChangeAspect="1"/>
          </p:cNvPicPr>
          <p:nvPr/>
        </p:nvPicPr>
        <p:blipFill>
          <a:blip r:embed="rId1"/>
          <a:srcRect l="0" r="0" t="0" b="0"/>
          <a:stretch/>
        </p:blipFill>
        <p:spPr>
          <a:xfrm>
            <a:off x="7589520" y="1783080"/>
            <a:ext cx="4069080" cy="3502152"/>
          </a:xfrm>
          <a:prstGeom prst="rect">
            <a:avLst/>
          </a:prstGeom>
        </p:spPr>
      </p:pic>
      <p:sp>
        <p:nvSpPr>
          <p:cNvPr id="13" name="Text 10"/>
          <p:cNvSpPr/>
          <p:nvPr/>
        </p:nvSpPr>
        <p:spPr>
          <a:xfrm>
            <a:off x="7589520" y="5340096"/>
            <a:ext cx="4069080" cy="512064"/>
          </a:xfrm>
          <a:prstGeom prst="rect">
            <a:avLst/>
          </a:prstGeom>
          <a:noFill/>
          <a:ln/>
        </p:spPr>
        <p:txBody>
          <a:bodyPr wrap="square" rtlCol="0" anchor="t"/>
          <a:lstStyle/>
          <a:p>
            <a:pPr algn="l" indent="0" marL="0">
              <a:lnSpc>
                <a:spcPct val="100000"/>
              </a:lnSpc>
              <a:buNone/>
            </a:pPr>
            <a:pPr algn="l" indent="0" marL="0">
              <a:lnSpc>
                <a:spcPct val="100000"/>
              </a:lnSpc>
              <a:buNone/>
            </a:pPr>
            <a:r>
              <a:rPr lang="en-US" sz="900" i="1" dirty="0">
                <a:solidFill>
                  <a:srgbClr val="5C6470"/>
                </a:solidFill>
                <a:latin typeface="Calibri" pitchFamily="34" charset="0"/>
                <a:ea typeface="Calibri" pitchFamily="34" charset="-122"/>
                <a:cs typeface="Calibri" pitchFamily="34" charset="-120"/>
              </a:rPr>
              <a:t>John N. Choate, 1882 and 1885  </a:t>
            </a:r>
            <a:pPr algn="l" indent="0" marL="0">
              <a:lnSpc>
                <a:spcPct val="100000"/>
              </a:lnSpc>
              <a:buNone/>
            </a:pPr>
            <a:r>
              <a:rPr lang="en-US" sz="9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Beinecke Rare Book and Manuscript Library</a:t>
            </a:r>
            <a:endParaRPr lang="en-US" sz="800" dirty="0"/>
          </a:p>
        </p:txBody>
      </p:sp>
      <p:sp>
        <p:nvSpPr>
          <p:cNvPr id="14" name="Text 11"/>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5" name="Text 1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F3A5F"/>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B22234"/>
                </a:solidFill>
                <a:latin typeface="Trebuchet MS" pitchFamily="34" charset="0"/>
                <a:ea typeface="Trebuchet MS" pitchFamily="34" charset="-122"/>
                <a:cs typeface="Trebuchet MS" pitchFamily="34" charset="-120"/>
              </a:rPr>
              <a:t>US.02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F3A5F"/>
                </a:solidFill>
                <a:latin typeface="Georgia" pitchFamily="34" charset="0"/>
                <a:ea typeface="Georgia" pitchFamily="34" charset="-122"/>
                <a:cs typeface="Georgia" pitchFamily="34" charset="-120"/>
              </a:rPr>
              <a:t>The Dawes Act and Its Impact</a:t>
            </a:r>
            <a:endParaRPr lang="en-US" sz="3000" dirty="0"/>
          </a:p>
        </p:txBody>
      </p:sp>
      <p:sp>
        <p:nvSpPr>
          <p:cNvPr id="5" name="Shape 3"/>
          <p:cNvSpPr/>
          <p:nvPr/>
        </p:nvSpPr>
        <p:spPr>
          <a:xfrm>
            <a:off x="10765231" y="502920"/>
            <a:ext cx="146304" cy="146304"/>
          </a:xfrm>
          <a:prstGeom prst="ellipse">
            <a:avLst/>
          </a:prstGeom>
          <a:solidFill>
            <a:srgbClr val="A7BACB"/>
          </a:solidFill>
          <a:ln/>
        </p:spPr>
        <p:txBody>
          <a:bodyPr/>
          <a:p/>
        </p:txBody>
      </p:sp>
      <p:sp>
        <p:nvSpPr>
          <p:cNvPr id="6" name="Shape 4"/>
          <p:cNvSpPr/>
          <p:nvPr/>
        </p:nvSpPr>
        <p:spPr>
          <a:xfrm>
            <a:off x="11057839" y="502920"/>
            <a:ext cx="146304" cy="146304"/>
          </a:xfrm>
          <a:prstGeom prst="ellipse">
            <a:avLst/>
          </a:prstGeom>
          <a:solidFill>
            <a:srgbClr val="A7BACB"/>
          </a:solidFill>
          <a:ln/>
        </p:spPr>
        <p:txBody>
          <a:bodyPr/>
          <a:p/>
        </p:txBody>
      </p:sp>
      <p:sp>
        <p:nvSpPr>
          <p:cNvPr id="7" name="Shape 5"/>
          <p:cNvSpPr/>
          <p:nvPr/>
        </p:nvSpPr>
        <p:spPr>
          <a:xfrm>
            <a:off x="11350447" y="502920"/>
            <a:ext cx="146304" cy="146304"/>
          </a:xfrm>
          <a:prstGeom prst="ellipse">
            <a:avLst/>
          </a:prstGeom>
          <a:solidFill>
            <a:srgbClr val="B22234"/>
          </a:solidFill>
          <a:ln/>
        </p:spPr>
        <p:txBody>
          <a:bodyPr/>
          <a:p/>
        </p:txBody>
      </p:sp>
      <p:sp>
        <p:nvSpPr>
          <p:cNvPr id="8" name="Text 6"/>
          <p:cNvSpPr/>
          <p:nvPr/>
        </p:nvSpPr>
        <p:spPr>
          <a:xfrm>
            <a:off x="9805111"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3 of 3</a:t>
            </a:r>
            <a:endParaRPr lang="en-US" sz="1000" dirty="0"/>
          </a:p>
        </p:txBody>
      </p:sp>
      <p:sp>
        <p:nvSpPr>
          <p:cNvPr id="9" name="Shape 7"/>
          <p:cNvSpPr/>
          <p:nvPr/>
        </p:nvSpPr>
        <p:spPr>
          <a:xfrm>
            <a:off x="548640" y="1783080"/>
            <a:ext cx="11064240" cy="4069080"/>
          </a:xfrm>
          <a:prstGeom prst="rect">
            <a:avLst/>
          </a:prstGeom>
          <a:solidFill>
            <a:srgbClr val="FFFFFF"/>
          </a:solidFill>
          <a:ln w="12700">
            <a:solidFill>
              <a:srgbClr val="DAD3C2"/>
            </a:solidFill>
            <a:prstDash val="solid"/>
          </a:ln>
        </p:spPr>
        <p:txBody>
          <a:bodyPr/>
          <a:p/>
        </p:txBody>
      </p:sp>
      <p:sp>
        <p:nvSpPr>
          <p:cNvPr id="10" name="Text 8"/>
          <p:cNvSpPr/>
          <p:nvPr/>
        </p:nvSpPr>
        <p:spPr>
          <a:xfrm>
            <a:off x="914400" y="2057400"/>
            <a:ext cx="10424160" cy="3566160"/>
          </a:xfrm>
          <a:prstGeom prst="rect">
            <a:avLst/>
          </a:prstGeom>
          <a:noFill/>
          <a:ln/>
        </p:spPr>
        <p:txBody>
          <a:bodyPr wrap="square" rtlCol="0" anchor="t"/>
          <a:lstStyle/>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Dawes Severalty Act of 1887 broke up communal tribal lands into individual allotments—160 acres to each head of a family—stating the goal of turning American Indians into independent farmers and U.S. citizens.</a:t>
            </a:r>
            <a:endParaRPr lang="en-US" sz="1700" dirty="0"/>
          </a:p>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actual effect was a massive transfer of land: American Indians held about 150 million acres before the Act, and lost roughly two-thirds of their land base—over 90 million acres—by 1934.</a:t>
            </a:r>
            <a:endParaRPr lang="en-US" sz="1700" dirty="0"/>
          </a:p>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“Surplus” land was sold to white settlers, and additional allotted land was lost through taxation, fraud, and forced sales.</a:t>
            </a:r>
            <a:endParaRPr lang="en-US" sz="1700" dirty="0"/>
          </a:p>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Act dismantled the communal landholding central to many tribal cultures.</a:t>
            </a:r>
            <a:endParaRPr lang="en-US" sz="1700" dirty="0"/>
          </a:p>
        </p:txBody>
      </p:sp>
      <p:sp>
        <p:nvSpPr>
          <p:cNvPr id="11" name="Text 9"/>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2" name="Text 10"/>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285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002858"/>
                </a:solidFill>
                <a:latin typeface="Trebuchet MS" pitchFamily="34" charset="0"/>
                <a:ea typeface="Trebuchet MS" pitchFamily="34" charset="-122"/>
                <a:cs typeface="Trebuchet MS" pitchFamily="34" charset="-120"/>
              </a:rPr>
              <a:t>US.02 · PRIMARY SOURCE ANALYSIS</a:t>
            </a:r>
            <a:endParaRPr lang="en-US" sz="1200" dirty="0"/>
          </a:p>
        </p:txBody>
      </p:sp>
      <p:sp>
        <p:nvSpPr>
          <p:cNvPr id="4" name="Text 2"/>
          <p:cNvSpPr/>
          <p:nvPr/>
        </p:nvSpPr>
        <p:spPr>
          <a:xfrm>
            <a:off x="548640" y="731520"/>
            <a:ext cx="8686800" cy="640080"/>
          </a:xfrm>
          <a:prstGeom prst="rect">
            <a:avLst/>
          </a:prstGeom>
          <a:noFill/>
          <a:ln/>
        </p:spPr>
        <p:txBody>
          <a:bodyPr wrap="square" rtlCol="0" anchor="t"/>
          <a:lstStyle/>
          <a:p>
            <a:pPr indent="0" marL="0">
              <a:buNone/>
            </a:pPr>
            <a:r>
              <a:rPr lang="en-US" sz="2500" b="1" dirty="0">
                <a:solidFill>
                  <a:srgbClr val="1F3A5F"/>
                </a:solidFill>
                <a:latin typeface="Georgia" pitchFamily="34" charset="0"/>
                <a:ea typeface="Georgia" pitchFamily="34" charset="-122"/>
                <a:cs typeface="Georgia" pitchFamily="34" charset="-120"/>
              </a:rPr>
              <a:t>Dawes General Allotment Act</a:t>
            </a:r>
            <a:endParaRPr lang="en-US" sz="2500" dirty="0"/>
          </a:p>
        </p:txBody>
      </p:sp>
      <p:sp>
        <p:nvSpPr>
          <p:cNvPr id="5" name="Shape 3"/>
          <p:cNvSpPr/>
          <p:nvPr/>
        </p:nvSpPr>
        <p:spPr>
          <a:xfrm>
            <a:off x="9418320" y="777240"/>
            <a:ext cx="2194560" cy="457200"/>
          </a:xfrm>
          <a:prstGeom prst="roundRect">
            <a:avLst>
              <a:gd name="adj" fmla="val 20000"/>
            </a:avLst>
          </a:prstGeom>
          <a:solidFill>
            <a:srgbClr val="002858"/>
          </a:solidFill>
          <a:ln/>
        </p:spPr>
        <p:txBody>
          <a:bodyPr/>
          <a:p/>
        </p:txBody>
      </p:sp>
      <p:sp>
        <p:nvSpPr>
          <p:cNvPr id="6" name="Text 4"/>
          <p:cNvSpPr/>
          <p:nvPr/>
        </p:nvSpPr>
        <p:spPr>
          <a:xfrm>
            <a:off x="9418320" y="777240"/>
            <a:ext cx="219456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Close Reading</a:t>
            </a:r>
            <a:endParaRPr lang="en-US" sz="1200" dirty="0"/>
          </a:p>
        </p:txBody>
      </p:sp>
      <p:sp>
        <p:nvSpPr>
          <p:cNvPr id="7" name="Text 5"/>
          <p:cNvSpPr/>
          <p:nvPr/>
        </p:nvSpPr>
        <p:spPr>
          <a:xfrm>
            <a:off x="548640" y="1335024"/>
            <a:ext cx="10058400" cy="274320"/>
          </a:xfrm>
          <a:prstGeom prst="rect">
            <a:avLst/>
          </a:prstGeom>
          <a:noFill/>
          <a:ln/>
        </p:spPr>
        <p:txBody>
          <a:bodyPr wrap="square" rtlCol="0" anchor="ctr"/>
          <a:lstStyle/>
          <a:p>
            <a:pPr indent="0" marL="0">
              <a:buNone/>
            </a:pPr>
            <a:r>
              <a:rPr lang="en-US" sz="1200" i="1" dirty="0">
                <a:solidFill>
                  <a:srgbClr val="5C6470"/>
                </a:solidFill>
                <a:latin typeface="Calibri" pitchFamily="34" charset="0"/>
                <a:ea typeface="Calibri" pitchFamily="34" charset="-122"/>
                <a:cs typeface="Calibri" pitchFamily="34" charset="-120"/>
              </a:rPr>
              <a:t>U.S. Congress  ·  February 8, 1887 (24 Stat. 388)</a:t>
            </a:r>
            <a:endParaRPr lang="en-US" sz="1200" dirty="0"/>
          </a:p>
        </p:txBody>
      </p:sp>
      <p:sp>
        <p:nvSpPr>
          <p:cNvPr id="8" name="Shape 6"/>
          <p:cNvSpPr/>
          <p:nvPr/>
        </p:nvSpPr>
        <p:spPr>
          <a:xfrm>
            <a:off x="548640" y="1737360"/>
            <a:ext cx="6858000" cy="3246120"/>
          </a:xfrm>
          <a:prstGeom prst="rect">
            <a:avLst/>
          </a:prstGeom>
          <a:solidFill>
            <a:srgbClr val="FFFFFF"/>
          </a:solidFill>
          <a:ln w="12700">
            <a:solidFill>
              <a:srgbClr val="DAD3C2"/>
            </a:solidFill>
            <a:prstDash val="solid"/>
          </a:ln>
        </p:spPr>
        <p:txBody>
          <a:bodyPr/>
          <a:p/>
        </p:txBody>
      </p:sp>
      <p:sp>
        <p:nvSpPr>
          <p:cNvPr id="9" name="Shape 7"/>
          <p:cNvSpPr/>
          <p:nvPr/>
        </p:nvSpPr>
        <p:spPr>
          <a:xfrm>
            <a:off x="548640" y="1737360"/>
            <a:ext cx="109728" cy="3246120"/>
          </a:xfrm>
          <a:prstGeom prst="rect">
            <a:avLst/>
          </a:prstGeom>
          <a:solidFill>
            <a:srgbClr val="C9A227"/>
          </a:solidFill>
          <a:ln/>
        </p:spPr>
        <p:txBody>
          <a:bodyPr/>
          <a:p/>
        </p:txBody>
      </p:sp>
      <p:sp>
        <p:nvSpPr>
          <p:cNvPr id="10" name="Text 8"/>
          <p:cNvSpPr/>
          <p:nvPr/>
        </p:nvSpPr>
        <p:spPr>
          <a:xfrm>
            <a:off x="868680" y="1938528"/>
            <a:ext cx="6355080" cy="2862072"/>
          </a:xfrm>
          <a:prstGeom prst="rect">
            <a:avLst/>
          </a:prstGeom>
          <a:noFill/>
          <a:ln/>
        </p:spPr>
        <p:txBody>
          <a:bodyPr wrap="square" rtlCol="0" anchor="t"/>
          <a:lstStyle/>
          <a:p>
            <a:pPr indent="0" marL="0">
              <a:lnSpc>
                <a:spcPct val="114000"/>
              </a:lnSpc>
              <a:buNone/>
            </a:pPr>
            <a:r>
              <a:rPr lang="en-US" sz="1400" i="1" dirty="0">
                <a:solidFill>
                  <a:srgbClr val="1F2430"/>
                </a:solidFill>
                <a:latin typeface="Georgia" pitchFamily="34" charset="0"/>
                <a:ea typeface="Georgia" pitchFamily="34" charset="-122"/>
                <a:cs typeface="Georgia" pitchFamily="34" charset="-120"/>
              </a:rPr>
              <a:t>"In all cases where any tribe or band of Indians has been, or shall hereafter be, located upon any reservation created for their use... the President of the United States be authorized... to allot the lands in said reservation in severalty to any Indian located thereon in quantities as follows: To each head of a family, one-quarter of a section [160 acres]."</a:t>
            </a:r>
            <a:endParaRPr lang="en-US" sz="1400" dirty="0"/>
          </a:p>
        </p:txBody>
      </p:sp>
      <p:sp>
        <p:nvSpPr>
          <p:cNvPr id="11" name="Shape 9"/>
          <p:cNvSpPr/>
          <p:nvPr/>
        </p:nvSpPr>
        <p:spPr>
          <a:xfrm>
            <a:off x="7589520" y="1737360"/>
            <a:ext cx="4023360" cy="1463040"/>
          </a:xfrm>
          <a:prstGeom prst="roundRect">
            <a:avLst>
              <a:gd name="adj" fmla="val 5000"/>
            </a:avLst>
          </a:prstGeom>
          <a:solidFill>
            <a:srgbClr val="1F3A5F"/>
          </a:solidFill>
          <a:ln/>
        </p:spPr>
        <p:txBody>
          <a:bodyPr/>
          <a:p/>
        </p:txBody>
      </p:sp>
      <p:sp>
        <p:nvSpPr>
          <p:cNvPr id="12" name="Text 10"/>
          <p:cNvSpPr/>
          <p:nvPr/>
        </p:nvSpPr>
        <p:spPr>
          <a:xfrm>
            <a:off x="7818120" y="1856232"/>
            <a:ext cx="3657600" cy="274320"/>
          </a:xfrm>
          <a:prstGeom prst="rect">
            <a:avLst/>
          </a:prstGeom>
          <a:noFill/>
          <a:ln/>
        </p:spPr>
        <p:txBody>
          <a:bodyPr wrap="square" rtlCol="0" anchor="ctr"/>
          <a:lstStyle/>
          <a:p>
            <a:pPr indent="0" marL="0">
              <a:buNone/>
            </a:pPr>
            <a:r>
              <a:rPr lang="en-US" sz="1100" b="1" spc="200" kern="0" dirty="0">
                <a:solidFill>
                  <a:srgbClr val="F9A825"/>
                </a:solidFill>
                <a:latin typeface="Trebuchet MS" pitchFamily="34" charset="0"/>
                <a:ea typeface="Trebuchet MS" pitchFamily="34" charset="-122"/>
                <a:cs typeface="Trebuchet MS" pitchFamily="34" charset="-120"/>
              </a:rPr>
              <a:t>CONTEXT</a:t>
            </a:r>
            <a:endParaRPr lang="en-US" sz="1100" dirty="0"/>
          </a:p>
        </p:txBody>
      </p:sp>
      <p:sp>
        <p:nvSpPr>
          <p:cNvPr id="13" name="Text 11"/>
          <p:cNvSpPr/>
          <p:nvPr/>
        </p:nvSpPr>
        <p:spPr>
          <a:xfrm>
            <a:off x="7818120" y="2139696"/>
            <a:ext cx="3611880" cy="950976"/>
          </a:xfrm>
          <a:prstGeom prst="rect">
            <a:avLst/>
          </a:prstGeom>
          <a:noFill/>
          <a:ln/>
        </p:spPr>
        <p:txBody>
          <a:bodyPr wrap="square" rtlCol="0" anchor="t"/>
          <a:lstStyle/>
          <a:p>
            <a:pPr indent="0" marL="0">
              <a:lnSpc>
                <a:spcPct val="98000"/>
              </a:lnSpc>
              <a:buNone/>
            </a:pPr>
            <a:r>
              <a:rPr lang="en-US" sz="1050" dirty="0">
                <a:solidFill>
                  <a:srgbClr val="FFFFFF"/>
                </a:solidFill>
                <a:latin typeface="Calibri" pitchFamily="34" charset="0"/>
                <a:ea typeface="Calibri" pitchFamily="34" charset="-122"/>
                <a:cs typeface="Calibri" pitchFamily="34" charset="-120"/>
              </a:rPr>
              <a:t>Part of the federal assimilation era. The Dawes Act broke tribal landholdings into individual allotments and opened the remaining “surplus” to non-Native settlement. American Indians lost roughly two-thirds of their land—over 90 million acres—between 1887 and 1934.</a:t>
            </a:r>
            <a:endParaRPr lang="en-US" sz="1050" dirty="0"/>
          </a:p>
        </p:txBody>
      </p:sp>
      <p:sp>
        <p:nvSpPr>
          <p:cNvPr id="14" name="Shape 12"/>
          <p:cNvSpPr/>
          <p:nvPr/>
        </p:nvSpPr>
        <p:spPr>
          <a:xfrm>
            <a:off x="7589520" y="3383280"/>
            <a:ext cx="4023360" cy="1600200"/>
          </a:xfrm>
          <a:prstGeom prst="roundRect">
            <a:avLst>
              <a:gd name="adj" fmla="val 4571"/>
            </a:avLst>
          </a:prstGeom>
          <a:solidFill>
            <a:srgbClr val="C9A227"/>
          </a:solidFill>
          <a:ln/>
        </p:spPr>
        <p:txBody>
          <a:bodyPr/>
          <a:p/>
        </p:txBody>
      </p:sp>
      <p:sp>
        <p:nvSpPr>
          <p:cNvPr id="15" name="Text 13"/>
          <p:cNvSpPr/>
          <p:nvPr/>
        </p:nvSpPr>
        <p:spPr>
          <a:xfrm>
            <a:off x="7818120" y="3502152"/>
            <a:ext cx="3657600" cy="274320"/>
          </a:xfrm>
          <a:prstGeom prst="rect">
            <a:avLst/>
          </a:prstGeom>
          <a:noFill/>
          <a:ln/>
        </p:spPr>
        <p:txBody>
          <a:bodyPr wrap="square" rtlCol="0" anchor="ctr"/>
          <a:lstStyle/>
          <a:p>
            <a:pPr indent="0" marL="0">
              <a:buNone/>
            </a:pPr>
            <a:r>
              <a:rPr lang="en-US" sz="1100" b="1" spc="200" kern="0" dirty="0">
                <a:solidFill>
                  <a:srgbClr val="1F3A5F"/>
                </a:solidFill>
                <a:latin typeface="Trebuchet MS" pitchFamily="34" charset="0"/>
                <a:ea typeface="Trebuchet MS" pitchFamily="34" charset="-122"/>
                <a:cs typeface="Trebuchet MS" pitchFamily="34" charset="-120"/>
              </a:rPr>
              <a:t>ANALYZE</a:t>
            </a:r>
            <a:endParaRPr lang="en-US" sz="1100" dirty="0"/>
          </a:p>
        </p:txBody>
      </p:sp>
      <p:sp>
        <p:nvSpPr>
          <p:cNvPr id="16" name="Text 14"/>
          <p:cNvSpPr/>
          <p:nvPr/>
        </p:nvSpPr>
        <p:spPr>
          <a:xfrm>
            <a:off x="7818120" y="3803904"/>
            <a:ext cx="3611880" cy="1069848"/>
          </a:xfrm>
          <a:prstGeom prst="rect">
            <a:avLst/>
          </a:prstGeom>
          <a:noFill/>
          <a:ln/>
        </p:spPr>
        <p:txBody>
          <a:bodyPr wrap="square" rtlCol="0" anchor="t"/>
          <a:lstStyle/>
          <a:p>
            <a:pPr indent="0" marL="0">
              <a:lnSpc>
                <a:spcPct val="103000"/>
              </a:lnSpc>
              <a:buNone/>
            </a:pPr>
            <a:r>
              <a:rPr lang="en-US" sz="1250" b="1" dirty="0">
                <a:solidFill>
                  <a:srgbClr val="1F3A5F"/>
                </a:solidFill>
                <a:latin typeface="Calibri" pitchFamily="34" charset="0"/>
                <a:ea typeface="Calibri" pitchFamily="34" charset="-122"/>
                <a:cs typeface="Calibri" pitchFamily="34" charset="-120"/>
              </a:rPr>
              <a:t>Based on the excerpt, what was the most likely long-term effect of dividing tribal land "in severalty" under the Dawes Act?</a:t>
            </a:r>
            <a:endParaRPr lang="en-US" sz="1250" dirty="0"/>
          </a:p>
        </p:txBody>
      </p:sp>
      <p:sp>
        <p:nvSpPr>
          <p:cNvPr id="17" name="Shape 15"/>
          <p:cNvSpPr/>
          <p:nvPr/>
        </p:nvSpPr>
        <p:spPr>
          <a:xfrm>
            <a:off x="548640" y="5120640"/>
            <a:ext cx="11064240" cy="841248"/>
          </a:xfrm>
          <a:prstGeom prst="rect">
            <a:avLst/>
          </a:prstGeom>
          <a:solidFill>
            <a:srgbClr val="FFFFFF"/>
          </a:solidFill>
          <a:ln w="15875">
            <a:solidFill>
              <a:srgbClr val="002858"/>
            </a:solidFill>
            <a:prstDash val="solid"/>
          </a:ln>
        </p:spPr>
        <p:txBody>
          <a:bodyPr/>
          <a:p/>
        </p:txBody>
      </p:sp>
      <p:sp>
        <p:nvSpPr>
          <p:cNvPr id="18" name="Shape 16"/>
          <p:cNvSpPr/>
          <p:nvPr/>
        </p:nvSpPr>
        <p:spPr>
          <a:xfrm>
            <a:off x="548640" y="5120640"/>
            <a:ext cx="2423160" cy="841248"/>
          </a:xfrm>
          <a:prstGeom prst="rect">
            <a:avLst/>
          </a:prstGeom>
          <a:solidFill>
            <a:srgbClr val="002858"/>
          </a:solidFill>
          <a:ln/>
        </p:spPr>
        <p:txBody>
          <a:bodyPr/>
          <a:p/>
        </p:txBody>
      </p:sp>
      <p:sp>
        <p:nvSpPr>
          <p:cNvPr id="19" name="Text 17"/>
          <p:cNvSpPr/>
          <p:nvPr/>
        </p:nvSpPr>
        <p:spPr>
          <a:xfrm>
            <a:off x="658368" y="5239512"/>
            <a:ext cx="2194560" cy="274320"/>
          </a:xfrm>
          <a:prstGeom prst="rect">
            <a:avLst/>
          </a:prstGeom>
          <a:noFill/>
          <a:ln/>
        </p:spPr>
        <p:txBody>
          <a:bodyPr wrap="square" rtlCol="0" anchor="ctr"/>
          <a:lstStyle/>
          <a:p>
            <a:pPr indent="0" marL="0">
              <a:buNone/>
            </a:pPr>
            <a:r>
              <a:rPr lang="en-US" sz="1250" b="1" spc="100" kern="0" dirty="0">
                <a:solidFill>
                  <a:srgbClr val="FFFFFF"/>
                </a:solidFill>
                <a:latin typeface="Trebuchet MS" pitchFamily="34" charset="0"/>
                <a:ea typeface="Trebuchet MS" pitchFamily="34" charset="-122"/>
                <a:cs typeface="Trebuchet MS" pitchFamily="34" charset="-120"/>
              </a:rPr>
              <a:t>SOURCE IT</a:t>
            </a:r>
            <a:endParaRPr lang="en-US" sz="1250" dirty="0"/>
          </a:p>
        </p:txBody>
      </p:sp>
      <p:sp>
        <p:nvSpPr>
          <p:cNvPr id="20" name="Text 18"/>
          <p:cNvSpPr/>
          <p:nvPr/>
        </p:nvSpPr>
        <p:spPr>
          <a:xfrm>
            <a:off x="658368" y="5486400"/>
            <a:ext cx="2194560" cy="274320"/>
          </a:xfrm>
          <a:prstGeom prst="rect">
            <a:avLst/>
          </a:prstGeom>
          <a:noFill/>
          <a:ln/>
        </p:spPr>
        <p:txBody>
          <a:bodyPr wrap="square" rtlCol="0" anchor="ctr"/>
          <a:lstStyle/>
          <a:p>
            <a:pPr indent="0" marL="0">
              <a:buNone/>
            </a:pPr>
            <a:r>
              <a:rPr lang="en-US" sz="1250" b="1" spc="100" kern="0" dirty="0">
                <a:solidFill>
                  <a:srgbClr val="F9A825"/>
                </a:solidFill>
                <a:latin typeface="Trebuchet MS" pitchFamily="34" charset="0"/>
                <a:ea typeface="Trebuchet MS" pitchFamily="34" charset="-122"/>
                <a:cs typeface="Trebuchet MS" pitchFamily="34" charset="-120"/>
              </a:rPr>
              <a:t>FIRST</a:t>
            </a:r>
            <a:endParaRPr lang="en-US" sz="1250" dirty="0"/>
          </a:p>
        </p:txBody>
      </p:sp>
      <p:sp>
        <p:nvSpPr>
          <p:cNvPr id="21" name="Text 19"/>
          <p:cNvSpPr/>
          <p:nvPr/>
        </p:nvSpPr>
        <p:spPr>
          <a:xfrm>
            <a:off x="658368" y="5724144"/>
            <a:ext cx="2240280" cy="201168"/>
          </a:xfrm>
          <a:prstGeom prst="rect">
            <a:avLst/>
          </a:prstGeom>
          <a:noFill/>
          <a:ln/>
        </p:spPr>
        <p:txBody>
          <a:bodyPr wrap="square" rtlCol="0" anchor="ctr"/>
          <a:lstStyle/>
          <a:p>
            <a:pPr indent="0" marL="0">
              <a:buNone/>
            </a:pPr>
            <a:r>
              <a:rPr lang="en-US" sz="900" i="1" dirty="0">
                <a:solidFill>
                  <a:srgbClr val="C7D4E0"/>
                </a:solidFill>
                <a:latin typeface="Calibri" pitchFamily="34" charset="0"/>
                <a:ea typeface="Calibri" pitchFamily="34" charset="-122"/>
                <a:cs typeface="Calibri" pitchFamily="34" charset="-120"/>
              </a:rPr>
              <a:t>SSP.02 · before you interpret</a:t>
            </a:r>
            <a:endParaRPr lang="en-US" sz="750" dirty="0"/>
          </a:p>
        </p:txBody>
      </p:sp>
      <p:sp>
        <p:nvSpPr>
          <p:cNvPr id="22" name="Text 20"/>
          <p:cNvSpPr/>
          <p:nvPr/>
        </p:nvSpPr>
        <p:spPr>
          <a:xfrm>
            <a:off x="315468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WHO made it?</a:t>
            </a:r>
            <a:endParaRPr lang="en-US" sz="900" dirty="0"/>
          </a:p>
        </p:txBody>
      </p:sp>
      <p:sp>
        <p:nvSpPr>
          <p:cNvPr id="23" name="Text 21"/>
          <p:cNvSpPr/>
          <p:nvPr/>
        </p:nvSpPr>
        <p:spPr>
          <a:xfrm>
            <a:off x="3154680" y="5431536"/>
            <a:ext cx="2743200" cy="457200"/>
          </a:xfrm>
          <a:prstGeom prst="rect">
            <a:avLst/>
          </a:prstGeom>
          <a:noFill/>
          <a:ln/>
        </p:spPr>
        <p:txBody>
          <a:bodyPr wrap="square" rtlCol="0" anchor="t"/>
          <a:lstStyle/>
          <a:p>
            <a:pPr indent="0" marL="0">
              <a:lnSpc>
                <a:spcPct val="98000"/>
              </a:lnSpc>
              <a:buNone/>
            </a:pPr>
            <a:r>
              <a:rPr lang="en-US" sz="950" dirty="0">
                <a:solidFill>
                  <a:srgbClr val="1F2430"/>
                </a:solidFill>
                <a:latin typeface="Calibri" pitchFamily="34" charset="0"/>
                <a:ea typeface="Calibri" pitchFamily="34" charset="-122"/>
                <a:cs typeface="Calibri" pitchFamily="34" charset="-120"/>
              </a:rPr>
              <a:t>U.S. Congress (the Dawes/General Allotment Act).</a:t>
            </a:r>
            <a:endParaRPr lang="en-US" sz="950" dirty="0"/>
          </a:p>
        </p:txBody>
      </p:sp>
      <p:sp>
        <p:nvSpPr>
          <p:cNvPr id="24" name="Text 22"/>
          <p:cNvSpPr/>
          <p:nvPr/>
        </p:nvSpPr>
        <p:spPr>
          <a:xfrm>
            <a:off x="594360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WHEN?</a:t>
            </a:r>
            <a:endParaRPr lang="en-US" sz="900" dirty="0"/>
          </a:p>
        </p:txBody>
      </p:sp>
      <p:sp>
        <p:nvSpPr>
          <p:cNvPr id="25" name="Text 23"/>
          <p:cNvSpPr/>
          <p:nvPr/>
        </p:nvSpPr>
        <p:spPr>
          <a:xfrm>
            <a:off x="5943600" y="5431536"/>
            <a:ext cx="2743200" cy="457200"/>
          </a:xfrm>
          <a:prstGeom prst="rect">
            <a:avLst/>
          </a:prstGeom>
          <a:noFill/>
          <a:ln/>
        </p:spPr>
        <p:txBody>
          <a:bodyPr wrap="square" rtlCol="0" anchor="t"/>
          <a:lstStyle/>
          <a:p>
            <a:pPr indent="0" marL="0">
              <a:lnSpc>
                <a:spcPct val="98000"/>
              </a:lnSpc>
              <a:buNone/>
            </a:pPr>
            <a:r>
              <a:rPr lang="en-US" sz="950" dirty="0">
                <a:solidFill>
                  <a:srgbClr val="1F2430"/>
                </a:solidFill>
                <a:latin typeface="Calibri" pitchFamily="34" charset="0"/>
                <a:ea typeface="Calibri" pitchFamily="34" charset="-122"/>
                <a:cs typeface="Calibri" pitchFamily="34" charset="-120"/>
              </a:rPr>
              <a:t>1887.</a:t>
            </a:r>
            <a:endParaRPr lang="en-US" sz="950" dirty="0"/>
          </a:p>
        </p:txBody>
      </p:sp>
      <p:sp>
        <p:nvSpPr>
          <p:cNvPr id="26" name="Text 24"/>
          <p:cNvSpPr/>
          <p:nvPr/>
        </p:nvSpPr>
        <p:spPr>
          <a:xfrm>
            <a:off x="873252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WHY does it matter?</a:t>
            </a:r>
            <a:endParaRPr lang="en-US" sz="900" dirty="0"/>
          </a:p>
        </p:txBody>
      </p:sp>
      <p:sp>
        <p:nvSpPr>
          <p:cNvPr id="27" name="Text 25"/>
          <p:cNvSpPr/>
          <p:nvPr/>
        </p:nvSpPr>
        <p:spPr>
          <a:xfrm>
            <a:off x="8732520" y="5431536"/>
            <a:ext cx="2743200" cy="457200"/>
          </a:xfrm>
          <a:prstGeom prst="rect">
            <a:avLst/>
          </a:prstGeom>
          <a:noFill/>
          <a:ln/>
        </p:spPr>
        <p:txBody>
          <a:bodyPr wrap="square" rtlCol="0" anchor="t"/>
          <a:lstStyle/>
          <a:p>
            <a:pPr indent="0" marL="0">
              <a:lnSpc>
                <a:spcPct val="98000"/>
              </a:lnSpc>
              <a:buNone/>
            </a:pPr>
            <a:r>
              <a:rPr lang="en-US" sz="950" dirty="0">
                <a:solidFill>
                  <a:srgbClr val="1F2430"/>
                </a:solidFill>
                <a:latin typeface="Calibri" pitchFamily="34" charset="0"/>
                <a:ea typeface="Calibri" pitchFamily="34" charset="-122"/>
                <a:cs typeface="Calibri" pitchFamily="34" charset="-120"/>
              </a:rPr>
              <a:t>The law’s wording shows the stated goal; compare it to the documented result.</a:t>
            </a:r>
            <a:endParaRPr lang="en-US" sz="950" dirty="0"/>
          </a:p>
        </p:txBody>
      </p:sp>
      <p:sp>
        <p:nvSpPr>
          <p:cNvPr id="28" name="Text 26"/>
          <p:cNvSpPr/>
          <p:nvPr/>
        </p:nvSpPr>
        <p:spPr>
          <a:xfrm>
            <a:off x="548640" y="6053328"/>
            <a:ext cx="6858000" cy="274320"/>
          </a:xfrm>
          <a:prstGeom prst="rect">
            <a:avLst/>
          </a:prstGeom>
          <a:noFill/>
          <a:ln/>
        </p:spPr>
        <p:txBody>
          <a:bodyPr wrap="square" rtlCol="0" anchor="ctr"/>
          <a:lstStyle/>
          <a:p>
            <a:pPr algn="l" indent="0" marL="0">
              <a:buNone/>
            </a:pPr>
            <a:r>
              <a:rPr lang="en-US" sz="900" dirty="0">
                <a:solidFill>
                  <a:srgbClr val="5C6470"/>
                </a:solidFill>
                <a:latin typeface="Calibri" pitchFamily="34" charset="0"/>
                <a:ea typeface="Calibri" pitchFamily="34" charset="-122"/>
                <a:cs typeface="Calibri" pitchFamily="34" charset="-120"/>
              </a:rPr>
              <a:t>Source: </a:t>
            </a:r>
            <a:pPr algn="l" indent="0" marL="0">
              <a:buNone/>
            </a:pPr>
            <a:r>
              <a:rPr lang="en-US" sz="900" i="1" u="sng" dirty="0">
                <a:solidFill>
                  <a:srgbClr val="00285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National Archives</a:t>
            </a:r>
            <a:endParaRPr lang="en-US" sz="900" dirty="0"/>
          </a:p>
        </p:txBody>
      </p:sp>
      <p:sp>
        <p:nvSpPr>
          <p:cNvPr id="30" name="Text 27"/>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1" name="Text 2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F3A5F"/>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B22234"/>
                </a:solidFill>
                <a:latin typeface="Trebuchet MS" pitchFamily="34" charset="0"/>
                <a:ea typeface="Trebuchet MS" pitchFamily="34" charset="-122"/>
                <a:cs typeface="Trebuchet MS" pitchFamily="34" charset="-120"/>
              </a:rPr>
              <a:t>US.02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F3A5F"/>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txBody>
          <a:bodyPr/>
          <a:p/>
        </p:txBody>
      </p:sp>
      <p:sp>
        <p:nvSpPr>
          <p:cNvPr id="6" name="Shape 4"/>
          <p:cNvSpPr/>
          <p:nvPr/>
        </p:nvSpPr>
        <p:spPr>
          <a:xfrm>
            <a:off x="548640" y="1645920"/>
            <a:ext cx="5486400" cy="676656"/>
          </a:xfrm>
          <a:prstGeom prst="rect">
            <a:avLst/>
          </a:prstGeom>
          <a:solidFill>
            <a:srgbClr val="1F3A5F"/>
          </a:solidFill>
          <a:ln/>
        </p:spPr>
        <p:txBody>
          <a:bodyPr/>
          <a:p/>
        </p:txBody>
      </p:sp>
      <p:sp>
        <p:nvSpPr>
          <p:cNvPr id="7" name="Text 5"/>
          <p:cNvSpPr/>
          <p:nvPr/>
        </p:nvSpPr>
        <p:spPr>
          <a:xfrm>
            <a:off x="685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Reservation System</a:t>
            </a:r>
            <a:endParaRPr lang="en-US" sz="1350" dirty="0"/>
          </a:p>
        </p:txBody>
      </p:sp>
      <p:sp>
        <p:nvSpPr>
          <p:cNvPr id="8" name="Text 6"/>
          <p:cNvSpPr/>
          <p:nvPr/>
        </p:nvSpPr>
        <p:spPr>
          <a:xfrm>
            <a:off x="3703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Sistema de Reservaciones</a:t>
            </a:r>
            <a:endParaRPr lang="en-US" sz="1000" dirty="0"/>
          </a:p>
        </p:txBody>
      </p:sp>
      <p:sp>
        <p:nvSpPr>
          <p:cNvPr id="11" name="Text 9"/>
          <p:cNvSpPr/>
          <p:nvPr/>
        </p:nvSpPr>
        <p:spPr>
          <a:xfrm>
            <a:off x="667512" y="2395728"/>
            <a:ext cx="5239512"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Federal policy that confined Native American tribes to designated areas of land, often far from their ancestral territories, as part of efforts to control indigenous populations and open land for white settlement.</a:t>
            </a:r>
            <a:endParaRPr lang="en-US" sz="1100" dirty="0"/>
          </a:p>
        </p:txBody>
      </p:sp>
      <p:sp>
        <p:nvSpPr>
          <p:cNvPr id="12" name="Shape 10"/>
          <p:cNvSpPr/>
          <p:nvPr/>
        </p:nvSpPr>
        <p:spPr>
          <a:xfrm>
            <a:off x="6263640" y="1645920"/>
            <a:ext cx="5486400" cy="1261872"/>
          </a:xfrm>
          <a:prstGeom prst="rect">
            <a:avLst/>
          </a:prstGeom>
          <a:solidFill>
            <a:srgbClr val="FFFFFF"/>
          </a:solidFill>
          <a:ln w="12700">
            <a:solidFill>
              <a:srgbClr val="DAD3C2"/>
            </a:solidFill>
            <a:prstDash val="solid"/>
          </a:ln>
        </p:spPr>
        <p:txBody>
          <a:bodyPr/>
          <a:p/>
        </p:txBody>
      </p:sp>
      <p:sp>
        <p:nvSpPr>
          <p:cNvPr id="13" name="Shape 11"/>
          <p:cNvSpPr/>
          <p:nvPr/>
        </p:nvSpPr>
        <p:spPr>
          <a:xfrm>
            <a:off x="6263640" y="1645920"/>
            <a:ext cx="5486400" cy="676656"/>
          </a:xfrm>
          <a:prstGeom prst="rect">
            <a:avLst/>
          </a:prstGeom>
          <a:solidFill>
            <a:srgbClr val="1F3A5F"/>
          </a:solidFill>
          <a:ln/>
        </p:spPr>
        <p:txBody>
          <a:bodyPr/>
          <a:p/>
        </p:txBody>
      </p:sp>
      <p:sp>
        <p:nvSpPr>
          <p:cNvPr id="14" name="Text 12"/>
          <p:cNvSpPr/>
          <p:nvPr/>
        </p:nvSpPr>
        <p:spPr>
          <a:xfrm>
            <a:off x="6400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Assimilation</a:t>
            </a:r>
            <a:endParaRPr lang="en-US" sz="1350" dirty="0"/>
          </a:p>
        </p:txBody>
      </p:sp>
      <p:sp>
        <p:nvSpPr>
          <p:cNvPr id="15" name="Text 13"/>
          <p:cNvSpPr/>
          <p:nvPr/>
        </p:nvSpPr>
        <p:spPr>
          <a:xfrm>
            <a:off x="6400800" y="2011680"/>
            <a:ext cx="2880360" cy="256032"/>
          </a:xfrm>
          <a:prstGeom prst="rect">
            <a:avLst/>
          </a:prstGeom>
          <a:noFill/>
          <a:ln/>
        </p:spPr>
        <p:txBody>
          <a:bodyPr wrap="square" rtlCol="0" anchor="ctr">
            <a:normAutofit/>
          </a:bodyPr>
          <a:lstStyle/>
          <a:p>
            <a:pPr indent="0" marL="0">
              <a:buNone/>
            </a:pPr>
            <a:r>
              <a:rPr lang="en-US" sz="90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uh-sim-ih-LAY-shun</a:t>
            </a:r>
            <a:endParaRPr lang="en-US" sz="850" dirty="0"/>
          </a:p>
        </p:txBody>
      </p:sp>
      <p:sp>
        <p:nvSpPr>
          <p:cNvPr id="16" name="Text 14"/>
          <p:cNvSpPr/>
          <p:nvPr/>
        </p:nvSpPr>
        <p:spPr>
          <a:xfrm>
            <a:off x="9418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Asimilación</a:t>
            </a:r>
            <a:endParaRPr lang="en-US" sz="1000" dirty="0"/>
          </a:p>
        </p:txBody>
      </p:sp>
      <p:sp>
        <p:nvSpPr>
          <p:cNvPr id="19" name="Text 17"/>
          <p:cNvSpPr/>
          <p:nvPr/>
        </p:nvSpPr>
        <p:spPr>
          <a:xfrm>
            <a:off x="6382512" y="2395728"/>
            <a:ext cx="5239512"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Federal policy aimed at forcing Native Americans to abandon their traditional cultures and adopt European-American ways of life, including language, religion, and customs.</a:t>
            </a:r>
            <a:endParaRPr lang="en-US" sz="1100" dirty="0"/>
          </a:p>
        </p:txBody>
      </p:sp>
      <p:sp>
        <p:nvSpPr>
          <p:cNvPr id="20" name="Shape 18"/>
          <p:cNvSpPr/>
          <p:nvPr/>
        </p:nvSpPr>
        <p:spPr>
          <a:xfrm>
            <a:off x="548640" y="3072384"/>
            <a:ext cx="5486400" cy="1261872"/>
          </a:xfrm>
          <a:prstGeom prst="rect">
            <a:avLst/>
          </a:prstGeom>
          <a:solidFill>
            <a:srgbClr val="FFFFFF"/>
          </a:solidFill>
          <a:ln w="12700">
            <a:solidFill>
              <a:srgbClr val="DAD3C2"/>
            </a:solidFill>
            <a:prstDash val="solid"/>
          </a:ln>
        </p:spPr>
        <p:txBody>
          <a:bodyPr/>
          <a:p/>
        </p:txBody>
      </p:sp>
      <p:sp>
        <p:nvSpPr>
          <p:cNvPr id="21" name="Shape 19"/>
          <p:cNvSpPr/>
          <p:nvPr/>
        </p:nvSpPr>
        <p:spPr>
          <a:xfrm>
            <a:off x="548640" y="3072384"/>
            <a:ext cx="5486400" cy="676656"/>
          </a:xfrm>
          <a:prstGeom prst="rect">
            <a:avLst/>
          </a:prstGeom>
          <a:solidFill>
            <a:srgbClr val="1F3A5F"/>
          </a:solidFill>
          <a:ln/>
        </p:spPr>
        <p:txBody>
          <a:bodyPr/>
          <a:p/>
        </p:txBody>
      </p:sp>
      <p:sp>
        <p:nvSpPr>
          <p:cNvPr id="22" name="Text 20"/>
          <p:cNvSpPr/>
          <p:nvPr/>
        </p:nvSpPr>
        <p:spPr>
          <a:xfrm>
            <a:off x="685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Dawes Act</a:t>
            </a:r>
            <a:endParaRPr lang="en-US" sz="1350" dirty="0"/>
          </a:p>
        </p:txBody>
      </p:sp>
      <p:sp>
        <p:nvSpPr>
          <p:cNvPr id="23" name="Text 21"/>
          <p:cNvSpPr/>
          <p:nvPr/>
        </p:nvSpPr>
        <p:spPr>
          <a:xfrm>
            <a:off x="685800" y="3438144"/>
            <a:ext cx="2880360" cy="256032"/>
          </a:xfrm>
          <a:prstGeom prst="rect">
            <a:avLst/>
          </a:prstGeom>
          <a:noFill/>
          <a:ln/>
        </p:spPr>
        <p:txBody>
          <a:bodyPr wrap="square" rtlCol="0" anchor="ctr">
            <a:normAutofit/>
          </a:bodyPr>
          <a:lstStyle/>
          <a:p>
            <a:pPr indent="0" marL="0">
              <a:buNone/>
            </a:pPr>
            <a:r>
              <a:rPr lang="en-US" sz="90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DAWZ</a:t>
            </a:r>
            <a:endParaRPr lang="en-US" sz="850" dirty="0"/>
          </a:p>
        </p:txBody>
      </p:sp>
      <p:sp>
        <p:nvSpPr>
          <p:cNvPr id="24" name="Text 22"/>
          <p:cNvSpPr/>
          <p:nvPr/>
        </p:nvSpPr>
        <p:spPr>
          <a:xfrm>
            <a:off x="3703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Ley Dawes</a:t>
            </a:r>
            <a:endParaRPr lang="en-US" sz="1000" dirty="0"/>
          </a:p>
        </p:txBody>
      </p:sp>
      <p:sp>
        <p:nvSpPr>
          <p:cNvPr id="27" name="Text 25"/>
          <p:cNvSpPr/>
          <p:nvPr/>
        </p:nvSpPr>
        <p:spPr>
          <a:xfrm>
            <a:off x="667512" y="3822192"/>
            <a:ext cx="5239512"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An 1887 law that divided tribal lands into individual allotments for Native American families, aiming to break up reservations and assimilate Native Americans into mainstream American culture. It resulted in…</a:t>
            </a:r>
            <a:endParaRPr lang="en-US" sz="1100" dirty="0"/>
          </a:p>
        </p:txBody>
      </p:sp>
      <p:sp>
        <p:nvSpPr>
          <p:cNvPr id="28" name="Shape 26"/>
          <p:cNvSpPr/>
          <p:nvPr/>
        </p:nvSpPr>
        <p:spPr>
          <a:xfrm>
            <a:off x="6263640" y="3072384"/>
            <a:ext cx="5486400" cy="1261872"/>
          </a:xfrm>
          <a:prstGeom prst="rect">
            <a:avLst/>
          </a:prstGeom>
          <a:solidFill>
            <a:srgbClr val="FFFFFF"/>
          </a:solidFill>
          <a:ln w="12700">
            <a:solidFill>
              <a:srgbClr val="DAD3C2"/>
            </a:solidFill>
            <a:prstDash val="solid"/>
          </a:ln>
        </p:spPr>
        <p:txBody>
          <a:bodyPr/>
          <a:p/>
        </p:txBody>
      </p:sp>
      <p:sp>
        <p:nvSpPr>
          <p:cNvPr id="29" name="Shape 27"/>
          <p:cNvSpPr/>
          <p:nvPr/>
        </p:nvSpPr>
        <p:spPr>
          <a:xfrm>
            <a:off x="6263640" y="3072384"/>
            <a:ext cx="5486400" cy="676656"/>
          </a:xfrm>
          <a:prstGeom prst="rect">
            <a:avLst/>
          </a:prstGeom>
          <a:solidFill>
            <a:srgbClr val="1F3A5F"/>
          </a:solidFill>
          <a:ln/>
        </p:spPr>
        <p:txBody>
          <a:bodyPr/>
          <a:p/>
        </p:txBody>
      </p:sp>
      <p:sp>
        <p:nvSpPr>
          <p:cNvPr id="30" name="Text 28"/>
          <p:cNvSpPr/>
          <p:nvPr/>
        </p:nvSpPr>
        <p:spPr>
          <a:xfrm>
            <a:off x="6400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Allotment</a:t>
            </a:r>
            <a:endParaRPr lang="en-US" sz="1350" dirty="0"/>
          </a:p>
        </p:txBody>
      </p:sp>
      <p:sp>
        <p:nvSpPr>
          <p:cNvPr id="31" name="Text 29"/>
          <p:cNvSpPr/>
          <p:nvPr/>
        </p:nvSpPr>
        <p:spPr>
          <a:xfrm>
            <a:off x="9418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Asignación de Parcelas</a:t>
            </a:r>
            <a:endParaRPr lang="en-US" sz="1000" dirty="0"/>
          </a:p>
        </p:txBody>
      </p:sp>
      <p:sp>
        <p:nvSpPr>
          <p:cNvPr id="34" name="Text 32"/>
          <p:cNvSpPr/>
          <p:nvPr/>
        </p:nvSpPr>
        <p:spPr>
          <a:xfrm>
            <a:off x="6382512" y="3822192"/>
            <a:ext cx="5239512"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division of communal tribal land into small individual plots under the Dawes Act, which opened "surplus" land to white settlers and caused massive Native land loss.</a:t>
            </a:r>
            <a:endParaRPr lang="en-US" sz="1100" dirty="0"/>
          </a:p>
        </p:txBody>
      </p:sp>
      <p:sp>
        <p:nvSpPr>
          <p:cNvPr id="35" name="Shape 33"/>
          <p:cNvSpPr/>
          <p:nvPr/>
        </p:nvSpPr>
        <p:spPr>
          <a:xfrm>
            <a:off x="548640" y="4498848"/>
            <a:ext cx="5486400" cy="1261872"/>
          </a:xfrm>
          <a:prstGeom prst="rect">
            <a:avLst/>
          </a:prstGeom>
          <a:solidFill>
            <a:srgbClr val="FFFFFF"/>
          </a:solidFill>
          <a:ln w="12700">
            <a:solidFill>
              <a:srgbClr val="DAD3C2"/>
            </a:solidFill>
            <a:prstDash val="solid"/>
          </a:ln>
        </p:spPr>
        <p:txBody>
          <a:bodyPr/>
          <a:p/>
        </p:txBody>
      </p:sp>
      <p:sp>
        <p:nvSpPr>
          <p:cNvPr id="36" name="Shape 34"/>
          <p:cNvSpPr/>
          <p:nvPr/>
        </p:nvSpPr>
        <p:spPr>
          <a:xfrm>
            <a:off x="548640" y="4498848"/>
            <a:ext cx="5486400" cy="676656"/>
          </a:xfrm>
          <a:prstGeom prst="rect">
            <a:avLst/>
          </a:prstGeom>
          <a:solidFill>
            <a:srgbClr val="1F3A5F"/>
          </a:solidFill>
          <a:ln/>
        </p:spPr>
        <p:txBody>
          <a:bodyPr/>
          <a:p/>
        </p:txBody>
      </p:sp>
      <p:sp>
        <p:nvSpPr>
          <p:cNvPr id="37" name="Text 35"/>
          <p:cNvSpPr/>
          <p:nvPr/>
        </p:nvSpPr>
        <p:spPr>
          <a:xfrm>
            <a:off x="685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Boarding School</a:t>
            </a:r>
            <a:endParaRPr lang="en-US" sz="1350" dirty="0"/>
          </a:p>
        </p:txBody>
      </p:sp>
      <p:sp>
        <p:nvSpPr>
          <p:cNvPr id="38" name="Text 36"/>
          <p:cNvSpPr/>
          <p:nvPr/>
        </p:nvSpPr>
        <p:spPr>
          <a:xfrm>
            <a:off x="3703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Internado</a:t>
            </a:r>
            <a:endParaRPr lang="en-US" sz="1000" dirty="0"/>
          </a:p>
        </p:txBody>
      </p:sp>
      <p:sp>
        <p:nvSpPr>
          <p:cNvPr id="41" name="Text 39"/>
          <p:cNvSpPr/>
          <p:nvPr/>
        </p:nvSpPr>
        <p:spPr>
          <a:xfrm>
            <a:off x="667512" y="5248656"/>
            <a:ext cx="5239512"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Off-reservation schools, such as Carlisle, where Native children were forced to abandon their languages, names, and cultures to be "assimilated" into white society.</a:t>
            </a:r>
            <a:endParaRPr lang="en-US" sz="1100" dirty="0"/>
          </a:p>
        </p:txBody>
      </p:sp>
      <p:sp>
        <p:nvSpPr>
          <p:cNvPr id="42" name="Shape 40"/>
          <p:cNvSpPr/>
          <p:nvPr/>
        </p:nvSpPr>
        <p:spPr>
          <a:xfrm>
            <a:off x="6263640" y="4498848"/>
            <a:ext cx="5486400" cy="1261872"/>
          </a:xfrm>
          <a:prstGeom prst="rect">
            <a:avLst/>
          </a:prstGeom>
          <a:solidFill>
            <a:srgbClr val="FFFFFF"/>
          </a:solidFill>
          <a:ln w="12700">
            <a:solidFill>
              <a:srgbClr val="DAD3C2"/>
            </a:solidFill>
            <a:prstDash val="solid"/>
          </a:ln>
        </p:spPr>
        <p:txBody>
          <a:bodyPr/>
          <a:p/>
        </p:txBody>
      </p:sp>
      <p:sp>
        <p:nvSpPr>
          <p:cNvPr id="43" name="Shape 41"/>
          <p:cNvSpPr/>
          <p:nvPr/>
        </p:nvSpPr>
        <p:spPr>
          <a:xfrm>
            <a:off x="6263640" y="4498848"/>
            <a:ext cx="5486400" cy="676656"/>
          </a:xfrm>
          <a:prstGeom prst="rect">
            <a:avLst/>
          </a:prstGeom>
          <a:solidFill>
            <a:srgbClr val="1F3A5F"/>
          </a:solidFill>
          <a:ln/>
        </p:spPr>
        <p:txBody>
          <a:bodyPr/>
          <a:p/>
        </p:txBody>
      </p:sp>
      <p:sp>
        <p:nvSpPr>
          <p:cNvPr id="44" name="Text 42"/>
          <p:cNvSpPr/>
          <p:nvPr/>
        </p:nvSpPr>
        <p:spPr>
          <a:xfrm>
            <a:off x="6400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Sovereignty</a:t>
            </a:r>
            <a:endParaRPr lang="en-US" sz="1350" dirty="0"/>
          </a:p>
        </p:txBody>
      </p:sp>
      <p:sp>
        <p:nvSpPr>
          <p:cNvPr id="45" name="Text 43"/>
          <p:cNvSpPr/>
          <p:nvPr/>
        </p:nvSpPr>
        <p:spPr>
          <a:xfrm>
            <a:off x="9418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Soberanía</a:t>
            </a:r>
            <a:endParaRPr lang="en-US" sz="1000" dirty="0"/>
          </a:p>
        </p:txBody>
      </p:sp>
      <p:sp>
        <p:nvSpPr>
          <p:cNvPr id="48" name="Text 46"/>
          <p:cNvSpPr/>
          <p:nvPr/>
        </p:nvSpPr>
        <p:spPr>
          <a:xfrm>
            <a:off x="6382512" y="5248656"/>
            <a:ext cx="5239512"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right of a tribe or nation to govern itself; federal Indian policy in this era steadily eroded tribal sovereignty.</a:t>
            </a:r>
            <a:endParaRPr lang="en-US" sz="1100" dirty="0"/>
          </a:p>
        </p:txBody>
      </p:sp>
      <p:sp>
        <p:nvSpPr>
          <p:cNvPr id="49" name="Text 47"/>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50" name="Text 48"/>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51" name="Text 4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F3A5F"/>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B22234"/>
                </a:solidFill>
                <a:latin typeface="Trebuchet MS" pitchFamily="34" charset="0"/>
                <a:ea typeface="Trebuchet MS" pitchFamily="34" charset="-122"/>
                <a:cs typeface="Trebuchet MS" pitchFamily="34" charset="-120"/>
              </a:rPr>
              <a:t>US.02 · GUIDED PRACTICE — WE DO IT TOGETHER</a:t>
            </a:r>
            <a:endParaRPr lang="en-US" sz="1200" dirty="0"/>
          </a:p>
        </p:txBody>
      </p:sp>
      <p:sp>
        <p:nvSpPr>
          <p:cNvPr id="4" name="Text 2"/>
          <p:cNvSpPr/>
          <p:nvPr/>
        </p:nvSpPr>
        <p:spPr>
          <a:xfrm>
            <a:off x="548640" y="731520"/>
            <a:ext cx="8595360" cy="640080"/>
          </a:xfrm>
          <a:prstGeom prst="rect">
            <a:avLst/>
          </a:prstGeom>
          <a:noFill/>
          <a:ln/>
        </p:spPr>
        <p:txBody>
          <a:bodyPr wrap="square" rtlCol="0" anchor="t"/>
          <a:lstStyle/>
          <a:p>
            <a:pPr indent="0" marL="0">
              <a:buNone/>
            </a:pPr>
            <a:r>
              <a:rPr lang="en-US" sz="2900" b="1" dirty="0">
                <a:solidFill>
                  <a:srgbClr val="1F3A5F"/>
                </a:solidFill>
                <a:latin typeface="Georgia" pitchFamily="34" charset="0"/>
                <a:ea typeface="Georgia" pitchFamily="34" charset="-122"/>
                <a:cs typeface="Georgia" pitchFamily="34" charset="-120"/>
              </a:rPr>
              <a:t>Let’s Work One Together</a:t>
            </a:r>
            <a:endParaRPr lang="en-US" sz="2900" dirty="0"/>
          </a:p>
        </p:txBody>
      </p:sp>
      <p:sp>
        <p:nvSpPr>
          <p:cNvPr id="5" name="Shape 3"/>
          <p:cNvSpPr/>
          <p:nvPr/>
        </p:nvSpPr>
        <p:spPr>
          <a:xfrm>
            <a:off x="8869680" y="822960"/>
            <a:ext cx="2743200" cy="457200"/>
          </a:xfrm>
          <a:prstGeom prst="roundRect">
            <a:avLst>
              <a:gd name="adj" fmla="val 20000"/>
            </a:avLst>
          </a:prstGeom>
          <a:solidFill>
            <a:srgbClr val="1F3A5F"/>
          </a:solidFill>
          <a:ln/>
        </p:spPr>
        <p:txBody>
          <a:bodyPr/>
          <a:p/>
        </p:txBody>
      </p:sp>
      <p:sp>
        <p:nvSpPr>
          <p:cNvPr id="6" name="Text 4"/>
          <p:cNvSpPr/>
          <p:nvPr/>
        </p:nvSpPr>
        <p:spPr>
          <a:xfrm>
            <a:off x="8869680" y="822960"/>
            <a:ext cx="274320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Stated goal vs. real consequence</a:t>
            </a:r>
            <a:endParaRPr lang="en-US" sz="1100" dirty="0"/>
          </a:p>
        </p:txBody>
      </p:sp>
      <p:sp>
        <p:nvSpPr>
          <p:cNvPr id="7" name="Shape 5"/>
          <p:cNvSpPr/>
          <p:nvPr/>
        </p:nvSpPr>
        <p:spPr>
          <a:xfrm>
            <a:off x="548640" y="1554480"/>
            <a:ext cx="11064240" cy="868680"/>
          </a:xfrm>
          <a:prstGeom prst="roundRect">
            <a:avLst>
              <a:gd name="adj" fmla="val 8421"/>
            </a:avLst>
          </a:prstGeom>
          <a:solidFill>
            <a:srgbClr val="243047"/>
          </a:solidFill>
          <a:ln w="6350">
            <a:solidFill>
              <a:srgbClr val="A7BACB"/>
            </a:solidFill>
            <a:prstDash val="solid"/>
          </a:ln>
        </p:spPr>
        <p:txBody>
          <a:bodyPr/>
          <a:p/>
        </p:txBody>
      </p:sp>
      <p:sp>
        <p:nvSpPr>
          <p:cNvPr id="8" name="Text 6"/>
          <p:cNvSpPr/>
          <p:nvPr/>
        </p:nvSpPr>
        <p:spPr>
          <a:xfrm>
            <a:off x="822960" y="1664208"/>
            <a:ext cx="10515600" cy="640080"/>
          </a:xfrm>
          <a:prstGeom prst="rect">
            <a:avLst/>
          </a:prstGeom>
          <a:noFill/>
          <a:ln/>
        </p:spPr>
        <p:txBody>
          <a:bodyPr wrap="square" rtlCol="0" anchor="ctr"/>
          <a:lstStyle/>
          <a:p>
            <a:pPr indent="0" marL="0">
              <a:lnSpc>
                <a:spcPct val="104000"/>
              </a:lnSpc>
              <a:buNone/>
            </a:pPr>
            <a:r>
              <a:rPr lang="en-US" sz="1500" b="1" dirty="0">
                <a:solidFill>
                  <a:srgbClr val="F9A825"/>
                </a:solidFill>
                <a:latin typeface="Calibri" pitchFamily="34" charset="0"/>
                <a:ea typeface="Calibri" pitchFamily="34" charset="-122"/>
                <a:cs typeface="Calibri" pitchFamily="34" charset="-120"/>
              </a:rPr>
              <a:t>MODEL PROMPT:  </a:t>
            </a:r>
            <a:pPr indent="0" marL="0">
              <a:lnSpc>
                <a:spcPct val="104000"/>
              </a:lnSpc>
              <a:buNone/>
            </a:pPr>
            <a:r>
              <a:rPr lang="en-US" sz="1500" dirty="0">
                <a:solidFill>
                  <a:srgbClr val="FFFFFF"/>
                </a:solidFill>
                <a:latin typeface="Calibri" pitchFamily="34" charset="0"/>
                <a:ea typeface="Calibri" pitchFamily="34" charset="-122"/>
                <a:cs typeface="Calibri" pitchFamily="34" charset="-120"/>
              </a:rPr>
              <a:t>Separate what the Dawes Act CLAIMED to do from what it actually DID.</a:t>
            </a:r>
            <a:endParaRPr lang="en-US" sz="1500" dirty="0"/>
          </a:p>
        </p:txBody>
      </p:sp>
      <p:sp>
        <p:nvSpPr>
          <p:cNvPr id="9" name="Shape 7"/>
          <p:cNvSpPr/>
          <p:nvPr/>
        </p:nvSpPr>
        <p:spPr>
          <a:xfrm>
            <a:off x="548640" y="2606040"/>
            <a:ext cx="11064240" cy="1554480"/>
          </a:xfrm>
          <a:prstGeom prst="roundRect">
            <a:avLst>
              <a:gd name="adj" fmla="val 4706"/>
            </a:avLst>
          </a:prstGeom>
          <a:solidFill>
            <a:srgbClr val="C9A227"/>
          </a:solidFill>
          <a:ln/>
        </p:spPr>
        <p:txBody>
          <a:bodyPr/>
          <a:p/>
        </p:txBody>
      </p:sp>
      <p:sp>
        <p:nvSpPr>
          <p:cNvPr id="10" name="Text 8"/>
          <p:cNvSpPr/>
          <p:nvPr/>
        </p:nvSpPr>
        <p:spPr>
          <a:xfrm>
            <a:off x="822960" y="2724912"/>
            <a:ext cx="10058400" cy="292608"/>
          </a:xfrm>
          <a:prstGeom prst="rect">
            <a:avLst/>
          </a:prstGeom>
          <a:noFill/>
          <a:ln/>
        </p:spPr>
        <p:txBody>
          <a:bodyPr wrap="square" rtlCol="0" anchor="ctr"/>
          <a:lstStyle/>
          <a:p>
            <a:pPr indent="0" marL="0">
              <a:buNone/>
            </a:pPr>
            <a:r>
              <a:rPr lang="en-US" sz="1100" b="1" spc="100" kern="0" dirty="0">
                <a:solidFill>
                  <a:srgbClr val="1F3A5F"/>
                </a:solidFill>
                <a:latin typeface="Trebuchet MS" pitchFamily="34" charset="0"/>
                <a:ea typeface="Trebuchet MS" pitchFamily="34" charset="-122"/>
                <a:cs typeface="Trebuchet MS" pitchFamily="34" charset="-120"/>
              </a:rPr>
              <a:t>WORKED EXAMPLE  (teacher models this aloud)</a:t>
            </a:r>
            <a:endParaRPr lang="en-US" sz="1100" dirty="0"/>
          </a:p>
        </p:txBody>
      </p:sp>
      <p:sp>
        <p:nvSpPr>
          <p:cNvPr id="11" name="Text 9"/>
          <p:cNvSpPr/>
          <p:nvPr/>
        </p:nvSpPr>
        <p:spPr>
          <a:xfrm>
            <a:off x="822960" y="3035808"/>
            <a:ext cx="10515600" cy="1005840"/>
          </a:xfrm>
          <a:prstGeom prst="rect">
            <a:avLst/>
          </a:prstGeom>
          <a:noFill/>
          <a:ln/>
        </p:spPr>
        <p:txBody>
          <a:bodyPr wrap="square" rtlCol="0" anchor="t"/>
          <a:lstStyle/>
          <a:p>
            <a:pPr indent="0" marL="0">
              <a:lnSpc>
                <a:spcPct val="108000"/>
              </a:lnSpc>
              <a:buNone/>
            </a:pPr>
            <a:r>
              <a:rPr lang="en-US" sz="1450" b="1" dirty="0">
                <a:solidFill>
                  <a:srgbClr val="1F3A5F"/>
                </a:solidFill>
                <a:latin typeface="Calibri" pitchFamily="34" charset="0"/>
                <a:ea typeface="Calibri" pitchFamily="34" charset="-122"/>
                <a:cs typeface="Calibri" pitchFamily="34" charset="-120"/>
              </a:rPr>
              <a:t>STATED GOAL: "Civilize" and assimilate Native peoples by making them individual farmers.  →  REAL CONSEQUENCE: Communal land was split into allotments and ~90 million acres of tribal land was lost.</a:t>
            </a:r>
            <a:endParaRPr lang="en-US" sz="1450" dirty="0"/>
          </a:p>
        </p:txBody>
      </p:sp>
      <p:sp>
        <p:nvSpPr>
          <p:cNvPr id="12" name="Shape 10"/>
          <p:cNvSpPr/>
          <p:nvPr/>
        </p:nvSpPr>
        <p:spPr>
          <a:xfrm>
            <a:off x="548640" y="4297680"/>
            <a:ext cx="11064240" cy="1371600"/>
          </a:xfrm>
          <a:prstGeom prst="rect">
            <a:avLst/>
          </a:prstGeom>
          <a:solidFill>
            <a:srgbClr val="FFFFFF"/>
          </a:solidFill>
          <a:ln w="12700">
            <a:solidFill>
              <a:srgbClr val="DAD3C2"/>
            </a:solidFill>
            <a:prstDash val="solid"/>
          </a:ln>
        </p:spPr>
        <p:txBody>
          <a:bodyPr/>
          <a:p/>
        </p:txBody>
      </p:sp>
      <p:sp>
        <p:nvSpPr>
          <p:cNvPr id="13" name="Text 11"/>
          <p:cNvSpPr/>
          <p:nvPr/>
        </p:nvSpPr>
        <p:spPr>
          <a:xfrm>
            <a:off x="822960" y="4407408"/>
            <a:ext cx="4572000" cy="274320"/>
          </a:xfrm>
          <a:prstGeom prst="rect">
            <a:avLst/>
          </a:prstGeom>
          <a:noFill/>
          <a:ln/>
        </p:spPr>
        <p:txBody>
          <a:bodyPr wrap="square" rtlCol="0" anchor="ctr"/>
          <a:lstStyle/>
          <a:p>
            <a:pPr indent="0" marL="0">
              <a:buNone/>
            </a:pPr>
            <a:r>
              <a:rPr lang="en-US" sz="1100" b="1" spc="200" kern="0" dirty="0">
                <a:solidFill>
                  <a:srgbClr val="B22234"/>
                </a:solidFill>
                <a:latin typeface="Trebuchet MS" pitchFamily="34" charset="0"/>
                <a:ea typeface="Trebuchet MS" pitchFamily="34" charset="-122"/>
                <a:cs typeface="Trebuchet MS" pitchFamily="34" charset="-120"/>
              </a:rPr>
              <a:t>THINK ALOUD</a:t>
            </a:r>
            <a:endParaRPr lang="en-US" sz="1100" dirty="0"/>
          </a:p>
        </p:txBody>
      </p:sp>
      <p:sp>
        <p:nvSpPr>
          <p:cNvPr id="14" name="Text 12"/>
          <p:cNvSpPr/>
          <p:nvPr/>
        </p:nvSpPr>
        <p:spPr>
          <a:xfrm>
            <a:off x="822960" y="4700016"/>
            <a:ext cx="10515600" cy="914400"/>
          </a:xfrm>
          <a:prstGeom prst="rect">
            <a:avLst/>
          </a:prstGeom>
          <a:noFill/>
          <a:ln/>
        </p:spPr>
        <p:txBody>
          <a:bodyPr wrap="square" rtlCol="0" anchor="t"/>
          <a:lstStyle/>
          <a:p>
            <a:pPr indent="0" marL="0">
              <a:lnSpc>
                <a:spcPct val="108000"/>
              </a:lnSpc>
              <a:buNone/>
            </a:pPr>
            <a:r>
              <a:rPr lang="en-US" sz="1300" i="1" dirty="0">
                <a:solidFill>
                  <a:srgbClr val="1F2430"/>
                </a:solidFill>
                <a:latin typeface="Calibri" pitchFamily="34" charset="0"/>
                <a:ea typeface="Calibri" pitchFamily="34" charset="-122"/>
                <a:cs typeface="Calibri" pitchFamily="34" charset="-120"/>
              </a:rPr>
              <a:t>Watch my move: I put the policy’s own words in one column and the documented outcome in the other. The gap between those two columns is the historical argument.</a:t>
            </a:r>
            <a:endParaRPr lang="en-US" sz="1300" dirty="0"/>
          </a:p>
        </p:txBody>
      </p:sp>
      <p:sp>
        <p:nvSpPr>
          <p:cNvPr id="15" name="Text 13"/>
          <p:cNvSpPr/>
          <p:nvPr/>
        </p:nvSpPr>
        <p:spPr>
          <a:xfrm>
            <a:off x="548640" y="5779008"/>
            <a:ext cx="11064240" cy="365760"/>
          </a:xfrm>
          <a:prstGeom prst="rect">
            <a:avLst/>
          </a:prstGeom>
          <a:noFill/>
          <a:ln/>
        </p:spPr>
        <p:txBody>
          <a:bodyPr wrap="square" rtlCol="0" anchor="ctr"/>
          <a:lstStyle/>
          <a:p>
            <a:pPr indent="0" marL="0">
              <a:buNone/>
            </a:pPr>
            <a:r>
              <a:rPr lang="en-US" sz="1200" b="1" dirty="0">
                <a:solidFill>
                  <a:srgbClr val="1F3A5F"/>
                </a:solidFill>
                <a:latin typeface="Calibri" pitchFamily="34" charset="0"/>
                <a:ea typeface="Calibri" pitchFamily="34" charset="-122"/>
                <a:cs typeface="Calibri" pitchFamily="34" charset="-120"/>
              </a:rPr>
              <a:t>→ Now you try:  </a:t>
            </a:r>
            <a:pPr indent="0" marL="0">
              <a:buNone/>
            </a:pPr>
            <a:r>
              <a:rPr lang="en-US" sz="1200" i="1" dirty="0">
                <a:solidFill>
                  <a:srgbClr val="002858"/>
                </a:solidFill>
                <a:latin typeface="Calibri" pitchFamily="34" charset="0"/>
                <a:ea typeface="Calibri" pitchFamily="34" charset="-122"/>
                <a:cs typeface="Calibri" pitchFamily="34" charset="-120"/>
              </a:rPr>
              <a:t>You build the same two-column split for the boarding-school policy in the activity.</a:t>
            </a:r>
            <a:endParaRPr lang="en-US" sz="1200" dirty="0"/>
          </a:p>
        </p:txBody>
      </p:sp>
      <p:sp>
        <p:nvSpPr>
          <p:cNvPr id="17" name="Text 14"/>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8" name="Text 1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227"/>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B22234"/>
                </a:solidFill>
                <a:latin typeface="Trebuchet MS" pitchFamily="34" charset="0"/>
                <a:ea typeface="Trebuchet MS" pitchFamily="34" charset="-122"/>
                <a:cs typeface="Trebuchet MS" pitchFamily="34" charset="-120"/>
              </a:rPr>
              <a:t>US.02 · STUDENT ACTIVITY</a:t>
            </a:r>
            <a:endParaRPr lang="en-US" sz="1200" dirty="0"/>
          </a:p>
        </p:txBody>
      </p:sp>
      <p:sp>
        <p:nvSpPr>
          <p:cNvPr id="4" name="Text 2"/>
          <p:cNvSpPr/>
          <p:nvPr/>
        </p:nvSpPr>
        <p:spPr>
          <a:xfrm>
            <a:off x="548640" y="731520"/>
            <a:ext cx="11064240" cy="777240"/>
          </a:xfrm>
          <a:prstGeom prst="rect">
            <a:avLst/>
          </a:prstGeom>
          <a:noFill/>
          <a:ln/>
        </p:spPr>
        <p:txBody>
          <a:bodyPr wrap="square" rtlCol="0" anchor="t"/>
          <a:lstStyle/>
          <a:p>
            <a:pPr indent="0" marL="0">
              <a:buNone/>
            </a:pPr>
            <a:r>
              <a:rPr lang="en-US" sz="2700" b="1" dirty="0">
                <a:solidFill>
                  <a:srgbClr val="1F3A5F"/>
                </a:solidFill>
                <a:latin typeface="Georgia" pitchFamily="34" charset="0"/>
                <a:ea typeface="Georgia" pitchFamily="34" charset="-122"/>
                <a:cs typeface="Georgia" pitchFamily="34" charset="-120"/>
              </a:rPr>
              <a:t>Claim &amp; Evidence: What Did the Policy Do?</a:t>
            </a:r>
            <a:endParaRPr lang="en-US" sz="2700" dirty="0"/>
          </a:p>
        </p:txBody>
      </p:sp>
      <p:sp>
        <p:nvSpPr>
          <p:cNvPr id="5" name="Shape 3"/>
          <p:cNvSpPr/>
          <p:nvPr/>
        </p:nvSpPr>
        <p:spPr>
          <a:xfrm>
            <a:off x="548640" y="1481328"/>
            <a:ext cx="1872691" cy="365760"/>
          </a:xfrm>
          <a:prstGeom prst="roundRect">
            <a:avLst>
              <a:gd name="adj" fmla="val 20000"/>
            </a:avLst>
          </a:prstGeom>
          <a:solidFill>
            <a:srgbClr val="1F3A5F"/>
          </a:solidFill>
          <a:ln/>
        </p:spPr>
        <p:txBody>
          <a:bodyPr/>
          <a:p/>
        </p:txBody>
      </p:sp>
      <p:sp>
        <p:nvSpPr>
          <p:cNvPr id="6" name="Text 4"/>
          <p:cNvSpPr/>
          <p:nvPr/>
        </p:nvSpPr>
        <p:spPr>
          <a:xfrm>
            <a:off x="548640" y="1481328"/>
            <a:ext cx="1872691"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Pairs → Whole class</a:t>
            </a:r>
            <a:endParaRPr lang="en-US" sz="1050" dirty="0"/>
          </a:p>
        </p:txBody>
      </p:sp>
      <p:sp>
        <p:nvSpPr>
          <p:cNvPr id="7" name="Shape 5"/>
          <p:cNvSpPr/>
          <p:nvPr/>
        </p:nvSpPr>
        <p:spPr>
          <a:xfrm>
            <a:off x="2585923" y="1481328"/>
            <a:ext cx="1031443" cy="365760"/>
          </a:xfrm>
          <a:prstGeom prst="roundRect">
            <a:avLst>
              <a:gd name="adj" fmla="val 20000"/>
            </a:avLst>
          </a:prstGeom>
          <a:solidFill>
            <a:srgbClr val="1F3A5F"/>
          </a:solidFill>
          <a:ln/>
        </p:spPr>
        <p:txBody>
          <a:bodyPr/>
          <a:p/>
        </p:txBody>
      </p:sp>
      <p:sp>
        <p:nvSpPr>
          <p:cNvPr id="8" name="Text 6"/>
          <p:cNvSpPr/>
          <p:nvPr/>
        </p:nvSpPr>
        <p:spPr>
          <a:xfrm>
            <a:off x="2585923" y="1481328"/>
            <a:ext cx="1031443"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12–15 min</a:t>
            </a:r>
            <a:endParaRPr lang="en-US" sz="1050" dirty="0"/>
          </a:p>
        </p:txBody>
      </p:sp>
      <p:sp>
        <p:nvSpPr>
          <p:cNvPr id="9" name="Shape 7"/>
          <p:cNvSpPr/>
          <p:nvPr/>
        </p:nvSpPr>
        <p:spPr>
          <a:xfrm>
            <a:off x="548640" y="2057400"/>
            <a:ext cx="11064240" cy="2331720"/>
          </a:xfrm>
          <a:prstGeom prst="rect">
            <a:avLst/>
          </a:prstGeom>
          <a:solidFill>
            <a:srgbClr val="FFFFFF"/>
          </a:solidFill>
          <a:ln w="12700">
            <a:solidFill>
              <a:srgbClr val="DAD3C2"/>
            </a:solidFill>
            <a:prstDash val="solid"/>
          </a:ln>
        </p:spPr>
        <p:txBody>
          <a:bodyPr/>
          <a:p/>
        </p:txBody>
      </p:sp>
      <p:sp>
        <p:nvSpPr>
          <p:cNvPr id="10" name="Text 8"/>
          <p:cNvSpPr/>
          <p:nvPr/>
        </p:nvSpPr>
        <p:spPr>
          <a:xfrm>
            <a:off x="822960" y="2194560"/>
            <a:ext cx="4572000" cy="274320"/>
          </a:xfrm>
          <a:prstGeom prst="rect">
            <a:avLst/>
          </a:prstGeom>
          <a:noFill/>
          <a:ln/>
        </p:spPr>
        <p:txBody>
          <a:bodyPr wrap="square" rtlCol="0" anchor="ctr"/>
          <a:lstStyle/>
          <a:p>
            <a:pPr indent="0" marL="0">
              <a:buNone/>
            </a:pPr>
            <a:r>
              <a:rPr lang="en-US" sz="1100" b="1" spc="200" kern="0" dirty="0">
                <a:solidFill>
                  <a:srgbClr val="B22234"/>
                </a:solidFill>
                <a:latin typeface="Trebuchet MS" pitchFamily="34" charset="0"/>
                <a:ea typeface="Trebuchet MS" pitchFamily="34" charset="-122"/>
                <a:cs typeface="Trebuchet MS" pitchFamily="34" charset="-120"/>
              </a:rPr>
              <a:t>YOUR TASK</a:t>
            </a:r>
            <a:endParaRPr lang="en-US" sz="1100" dirty="0"/>
          </a:p>
        </p:txBody>
      </p:sp>
      <p:sp>
        <p:nvSpPr>
          <p:cNvPr id="11" name="Text 9"/>
          <p:cNvSpPr/>
          <p:nvPr/>
        </p:nvSpPr>
        <p:spPr>
          <a:xfrm>
            <a:off x="822960" y="2487168"/>
            <a:ext cx="10515600" cy="1828800"/>
          </a:xfrm>
          <a:prstGeom prst="rect">
            <a:avLst/>
          </a:prstGeom>
          <a:noFill/>
          <a:ln/>
        </p:spPr>
        <p:txBody>
          <a:bodyPr wrap="square" rtlCol="0" anchor="t"/>
          <a:lstStyle/>
          <a:p>
            <a:pPr indent="0" marL="0">
              <a:lnSpc>
                <a:spcPct val="112000"/>
              </a:lnSpc>
              <a:buNone/>
            </a:pPr>
            <a:r>
              <a:rPr lang="en-US" sz="1350" dirty="0">
                <a:solidFill>
                  <a:srgbClr val="1F2430"/>
                </a:solidFill>
                <a:latin typeface="Calibri" pitchFamily="34" charset="0"/>
                <a:ea typeface="Calibri" pitchFamily="34" charset="-122"/>
                <a:cs typeface="Calibri" pitchFamily="34" charset="-120"/>
              </a:rPr>
              <a:t>Examine the Tom Torlino before/after photographs and the Dawes Act excerpt. In your own words, write what each policy CLAIMED to do and what it ACTUALLY did, citing one piece of evidence for each. Then take a position: was federal assimilation policy primarily about land, about culture, or both? Support your claim with evidence from today's sources.</a:t>
            </a:r>
            <a:endParaRPr lang="en-US" sz="1350" dirty="0"/>
          </a:p>
        </p:txBody>
      </p:sp>
      <p:sp>
        <p:nvSpPr>
          <p:cNvPr id="12" name="Shape 10"/>
          <p:cNvSpPr/>
          <p:nvPr/>
        </p:nvSpPr>
        <p:spPr>
          <a:xfrm>
            <a:off x="548640" y="4526280"/>
            <a:ext cx="5486400" cy="1325880"/>
          </a:xfrm>
          <a:prstGeom prst="roundRect">
            <a:avLst>
              <a:gd name="adj" fmla="val 5517"/>
            </a:avLst>
          </a:prstGeom>
          <a:solidFill>
            <a:srgbClr val="1F3A5F"/>
          </a:solidFill>
          <a:ln/>
        </p:spPr>
        <p:txBody>
          <a:bodyPr/>
          <a:p/>
        </p:txBody>
      </p:sp>
      <p:sp>
        <p:nvSpPr>
          <p:cNvPr id="13" name="Text 11"/>
          <p:cNvSpPr/>
          <p:nvPr/>
        </p:nvSpPr>
        <p:spPr>
          <a:xfrm>
            <a:off x="777240" y="4645152"/>
            <a:ext cx="4572000" cy="274320"/>
          </a:xfrm>
          <a:prstGeom prst="rect">
            <a:avLst/>
          </a:prstGeom>
          <a:noFill/>
          <a:ln/>
        </p:spPr>
        <p:txBody>
          <a:bodyPr wrap="square" rtlCol="0" anchor="ctr"/>
          <a:lstStyle/>
          <a:p>
            <a:pPr indent="0" marL="0">
              <a:buNone/>
            </a:pPr>
            <a:r>
              <a:rPr lang="en-US" sz="1050" b="1" spc="200" kern="0" dirty="0">
                <a:solidFill>
                  <a:srgbClr val="F9A825"/>
                </a:solidFill>
                <a:latin typeface="Trebuchet MS" pitchFamily="34" charset="0"/>
                <a:ea typeface="Trebuchet MS" pitchFamily="34" charset="-122"/>
                <a:cs typeface="Trebuchet MS" pitchFamily="34" charset="-120"/>
              </a:rPr>
              <a:t>DELIVERABLE</a:t>
            </a:r>
            <a:endParaRPr lang="en-US" sz="1050" dirty="0"/>
          </a:p>
        </p:txBody>
      </p:sp>
      <p:sp>
        <p:nvSpPr>
          <p:cNvPr id="14" name="Text 12"/>
          <p:cNvSpPr/>
          <p:nvPr/>
        </p:nvSpPr>
        <p:spPr>
          <a:xfrm>
            <a:off x="777240" y="4919472"/>
            <a:ext cx="5029200" cy="868680"/>
          </a:xfrm>
          <a:prstGeom prst="rect">
            <a:avLst/>
          </a:prstGeom>
          <a:noFill/>
          <a:ln/>
        </p:spPr>
        <p:txBody>
          <a:bodyPr wrap="square"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A claim-evidence-reasoning (CER) paragraph with at least two cited sources.</a:t>
            </a:r>
            <a:endParaRPr lang="en-US" sz="1250" dirty="0"/>
          </a:p>
        </p:txBody>
      </p:sp>
      <p:sp>
        <p:nvSpPr>
          <p:cNvPr id="15" name="Shape 13"/>
          <p:cNvSpPr/>
          <p:nvPr/>
        </p:nvSpPr>
        <p:spPr>
          <a:xfrm>
            <a:off x="6172200" y="4526280"/>
            <a:ext cx="5440680" cy="1325880"/>
          </a:xfrm>
          <a:prstGeom prst="roundRect">
            <a:avLst>
              <a:gd name="adj" fmla="val 5517"/>
            </a:avLst>
          </a:prstGeom>
          <a:solidFill>
            <a:srgbClr val="FBEFD0"/>
          </a:solidFill>
          <a:ln w="15875">
            <a:solidFill>
              <a:srgbClr val="C9A227"/>
            </a:solidFill>
            <a:prstDash val="solid"/>
          </a:ln>
        </p:spPr>
        <p:txBody>
          <a:bodyPr/>
          <a:p/>
        </p:txBody>
      </p:sp>
      <p:sp>
        <p:nvSpPr>
          <p:cNvPr id="16" name="Text 14"/>
          <p:cNvSpPr/>
          <p:nvPr/>
        </p:nvSpPr>
        <p:spPr>
          <a:xfrm>
            <a:off x="6400800" y="4645152"/>
            <a:ext cx="4572000" cy="274320"/>
          </a:xfrm>
          <a:prstGeom prst="rect">
            <a:avLst/>
          </a:prstGeom>
          <a:noFill/>
          <a:ln/>
        </p:spPr>
        <p:txBody>
          <a:bodyPr wrap="square" rtlCol="0" anchor="ctr"/>
          <a:lstStyle/>
          <a:p>
            <a:pPr indent="0" marL="0">
              <a:buNone/>
            </a:pPr>
            <a:r>
              <a:rPr lang="en-US" sz="1050" b="1" spc="200" kern="0" dirty="0">
                <a:solidFill>
                  <a:srgbClr val="B22234"/>
                </a:solidFill>
                <a:latin typeface="Trebuchet MS" pitchFamily="34" charset="0"/>
                <a:ea typeface="Trebuchet MS" pitchFamily="34" charset="-122"/>
                <a:cs typeface="Trebuchet MS" pitchFamily="34" charset="-120"/>
              </a:rPr>
              <a:t>SUPPORT OPTIONS</a:t>
            </a:r>
            <a:endParaRPr lang="en-US" sz="1050" dirty="0"/>
          </a:p>
        </p:txBody>
      </p:sp>
      <p:sp>
        <p:nvSpPr>
          <p:cNvPr id="17" name="Text 15"/>
          <p:cNvSpPr/>
          <p:nvPr/>
        </p:nvSpPr>
        <p:spPr>
          <a:xfrm>
            <a:off x="6400800" y="4919472"/>
            <a:ext cx="5029200" cy="868680"/>
          </a:xfrm>
          <a:prstGeom prst="rect">
            <a:avLst/>
          </a:prstGeom>
          <a:noFill/>
          <a:ln/>
        </p:spPr>
        <p:txBody>
          <a:bodyPr wrap="square" rtlCol="0" anchor="t"/>
          <a:lstStyle/>
          <a:p>
            <a:pPr indent="0" marL="0">
              <a:lnSpc>
                <a:spcPct val="105000"/>
              </a:lnSpc>
              <a:buNone/>
            </a:pPr>
            <a:r>
              <a:rPr lang="en-US" sz="1200" dirty="0">
                <a:solidFill>
                  <a:srgbClr val="1F2430"/>
                </a:solidFill>
                <a:latin typeface="Calibri" pitchFamily="34" charset="0"/>
                <a:ea typeface="Calibri" pitchFamily="34" charset="-122"/>
                <a:cs typeface="Calibri" pitchFamily="34" charset="-120"/>
              </a:rPr>
              <a:t>SUPPORT OPTION: T-chart (Claimed | Actually) instead of paragraph. EXTENSION: evaluate the term “cultural genocide” — is it supported by the evidence? Why or why not?</a:t>
            </a:r>
            <a:endParaRPr lang="en-US" sz="1200" dirty="0"/>
          </a:p>
        </p:txBody>
      </p:sp>
      <p:sp>
        <p:nvSpPr>
          <p:cNvPr id="18" name="Text 16"/>
          <p:cNvSpPr/>
          <p:nvPr/>
        </p:nvSpPr>
        <p:spPr>
          <a:xfrm>
            <a:off x="548640" y="5943600"/>
            <a:ext cx="11064240" cy="320040"/>
          </a:xfrm>
          <a:prstGeom prst="rect">
            <a:avLst/>
          </a:prstGeom>
          <a:noFill/>
          <a:ln/>
        </p:spPr>
        <p:txBody>
          <a:bodyPr wrap="square" rtlCol="0" anchor="ctr"/>
          <a:lstStyle/>
          <a:p>
            <a:pPr indent="0" marL="0">
              <a:buNone/>
            </a:pPr>
            <a:r>
              <a:rPr lang="en-US" sz="1050" b="1" dirty="0">
                <a:solidFill>
                  <a:srgbClr val="1F3A5F"/>
                </a:solidFill>
                <a:latin typeface="Calibri" pitchFamily="34" charset="0"/>
                <a:ea typeface="Calibri" pitchFamily="34" charset="-122"/>
                <a:cs typeface="Calibri" pitchFamily="34" charset="-120"/>
              </a:rPr>
              <a:t>Companion printable:  </a:t>
            </a:r>
            <a:pPr indent="0" marL="0">
              <a:buNone/>
            </a:pPr>
            <a:r>
              <a:rPr lang="en-US" sz="1050" i="1" dirty="0">
                <a:solidFill>
                  <a:srgbClr val="002858"/>
                </a:solidFill>
                <a:latin typeface="Calibri" pitchFamily="34" charset="0"/>
                <a:ea typeface="Calibri" pitchFamily="34" charset="-122"/>
                <a:cs typeface="Calibri" pitchFamily="34" charset="-120"/>
              </a:rPr>
              <a:t>Cornell Notes — US.02: Federal Policies Toward American Indians (Teacher Tools › Worksheets › Cornell Notes)</a:t>
            </a:r>
            <a:endParaRPr lang="en-US" sz="1050" dirty="0"/>
          </a:p>
        </p:txBody>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bg>
      <p:bgPr>
        <a:solidFill>
          <a:srgbClr val="1F3A5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227"/>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US.02 · CHECK FOR UNDERSTANDING</a:t>
            </a:r>
            <a:endParaRPr lang="en-US" sz="1200" dirty="0"/>
          </a:p>
        </p:txBody>
      </p:sp>
      <p:sp>
        <p:nvSpPr>
          <p:cNvPr id="4" name="Text 2"/>
          <p:cNvSpPr/>
          <p:nvPr/>
        </p:nvSpPr>
        <p:spPr>
          <a:xfrm>
            <a:off x="548640" y="777240"/>
            <a:ext cx="676656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7635240" y="822960"/>
            <a:ext cx="1143000" cy="457200"/>
          </a:xfrm>
          <a:prstGeom prst="roundRect">
            <a:avLst>
              <a:gd name="adj" fmla="val 20000"/>
            </a:avLst>
          </a:prstGeom>
          <a:solidFill>
            <a:srgbClr val="243047"/>
          </a:solidFill>
          <a:ln w="12700">
            <a:solidFill>
              <a:srgbClr val="C9A227"/>
            </a:solidFill>
            <a:prstDash val="solid"/>
          </a:ln>
        </p:spPr>
        <p:txBody>
          <a:bodyPr/>
          <a:p/>
        </p:txBody>
      </p:sp>
      <p:sp>
        <p:nvSpPr>
          <p:cNvPr id="6" name="Text 4"/>
          <p:cNvSpPr/>
          <p:nvPr/>
        </p:nvSpPr>
        <p:spPr>
          <a:xfrm>
            <a:off x="7635240" y="822960"/>
            <a:ext cx="1143000" cy="457200"/>
          </a:xfrm>
          <a:prstGeom prst="rect">
            <a:avLst/>
          </a:prstGeom>
          <a:noFill/>
          <a:ln/>
        </p:spPr>
        <p:txBody>
          <a:bodyPr wrap="square" rtlCol="0" anchor="ctr"/>
          <a:lstStyle/>
          <a:p>
            <a:pPr algn="ctr" indent="0" marL="0">
              <a:buNone/>
            </a:pPr>
            <a:r>
              <a:rPr lang="en-US" sz="1200" b="1" dirty="0">
                <a:solidFill>
                  <a:srgbClr val="F9A825"/>
                </a:solidFill>
                <a:latin typeface="Trebuchet MS" pitchFamily="34" charset="0"/>
                <a:ea typeface="Trebuchet MS" pitchFamily="34" charset="-122"/>
                <a:cs typeface="Trebuchet MS" pitchFamily="34" charset="-120"/>
              </a:rPr>
              <a:t>DOK 2</a:t>
            </a:r>
            <a:endParaRPr lang="en-US" sz="1200" dirty="0"/>
          </a:p>
        </p:txBody>
      </p:sp>
      <p:sp>
        <p:nvSpPr>
          <p:cNvPr id="7" name="Shape 5"/>
          <p:cNvSpPr/>
          <p:nvPr/>
        </p:nvSpPr>
        <p:spPr>
          <a:xfrm>
            <a:off x="8869680" y="822960"/>
            <a:ext cx="2743200" cy="457200"/>
          </a:xfrm>
          <a:prstGeom prst="roundRect">
            <a:avLst>
              <a:gd name="adj" fmla="val 20000"/>
            </a:avLst>
          </a:prstGeom>
          <a:solidFill>
            <a:srgbClr val="B22234"/>
          </a:solidFill>
          <a:ln/>
        </p:spPr>
        <p:txBody>
          <a:bodyPr/>
          <a:p/>
        </p:txBody>
      </p:sp>
      <p:sp>
        <p:nvSpPr>
          <p:cNvPr id="8" name="Text 6"/>
          <p:cNvSpPr/>
          <p:nvPr/>
        </p:nvSpPr>
        <p:spPr>
          <a:xfrm>
            <a:off x="8869680" y="822960"/>
            <a:ext cx="274320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EOC PRACTICE</a:t>
            </a:r>
            <a:endParaRPr lang="en-US" sz="1200" dirty="0"/>
          </a:p>
        </p:txBody>
      </p:sp>
      <p:sp>
        <p:nvSpPr>
          <p:cNvPr id="9" name="Shape 7"/>
          <p:cNvSpPr/>
          <p:nvPr/>
        </p:nvSpPr>
        <p:spPr>
          <a:xfrm>
            <a:off x="548640" y="1554480"/>
            <a:ext cx="11064240" cy="1051560"/>
          </a:xfrm>
          <a:prstGeom prst="roundRect">
            <a:avLst>
              <a:gd name="adj" fmla="val 6957"/>
            </a:avLst>
          </a:prstGeom>
          <a:solidFill>
            <a:srgbClr val="243047"/>
          </a:solidFill>
          <a:ln w="6350">
            <a:solidFill>
              <a:srgbClr val="A7BACB"/>
            </a:solidFill>
            <a:prstDash val="solid"/>
          </a:ln>
        </p:spPr>
        <p:txBody>
          <a:bodyPr/>
          <a:p/>
        </p:txBody>
      </p:sp>
      <p:sp>
        <p:nvSpPr>
          <p:cNvPr id="10" name="Text 8"/>
          <p:cNvSpPr/>
          <p:nvPr/>
        </p:nvSpPr>
        <p:spPr>
          <a:xfrm>
            <a:off x="822960" y="1691640"/>
            <a:ext cx="10515600" cy="777240"/>
          </a:xfrm>
          <a:prstGeom prst="rect">
            <a:avLst/>
          </a:prstGeom>
          <a:noFill/>
          <a:ln/>
        </p:spPr>
        <p:txBody>
          <a:bodyPr wrap="square" rtlCol="0" anchor="ctr"/>
          <a:lstStyle/>
          <a:p>
            <a:pPr indent="0" marL="0">
              <a:lnSpc>
                <a:spcPct val="105000"/>
              </a:lnSpc>
              <a:buNone/>
            </a:pPr>
            <a:r>
              <a:rPr lang="en-US" sz="1600" b="1" dirty="0">
                <a:solidFill>
                  <a:srgbClr val="FFFFFF"/>
                </a:solidFill>
                <a:latin typeface="Calibri" pitchFamily="34" charset="0"/>
                <a:ea typeface="Calibri" pitchFamily="34" charset="-122"/>
                <a:cs typeface="Calibri" pitchFamily="34" charset="-120"/>
              </a:rPr>
              <a:t>Based on the excerpt, what was the most likely long-term effect of dividing tribal land "in severalty" under the Dawes Act?</a:t>
            </a:r>
            <a:endParaRPr lang="en-US" sz="1600" dirty="0"/>
          </a:p>
        </p:txBody>
      </p:sp>
      <p:sp>
        <p:nvSpPr>
          <p:cNvPr id="11" name="Shape 9"/>
          <p:cNvSpPr/>
          <p:nvPr/>
        </p:nvSpPr>
        <p:spPr>
          <a:xfrm>
            <a:off x="548640" y="2743200"/>
            <a:ext cx="11064240" cy="658368"/>
          </a:xfrm>
          <a:prstGeom prst="roundRect">
            <a:avLst>
              <a:gd name="adj" fmla="val 8333"/>
            </a:avLst>
          </a:prstGeom>
          <a:solidFill>
            <a:srgbClr val="2C384F"/>
          </a:solidFill>
          <a:ln w="12700">
            <a:solidFill>
              <a:srgbClr val="3A475E"/>
            </a:solidFill>
            <a:prstDash val="solid"/>
          </a:ln>
        </p:spPr>
        <p:txBody>
          <a:bodyPr/>
          <a:p/>
        </p:txBody>
      </p:sp>
      <p:sp>
        <p:nvSpPr>
          <p:cNvPr id="12" name="Shape 10"/>
          <p:cNvSpPr/>
          <p:nvPr/>
        </p:nvSpPr>
        <p:spPr>
          <a:xfrm>
            <a:off x="713232" y="2889504"/>
            <a:ext cx="365760" cy="365760"/>
          </a:xfrm>
          <a:prstGeom prst="ellipse">
            <a:avLst/>
          </a:prstGeom>
          <a:solidFill>
            <a:srgbClr val="1F3A5F"/>
          </a:solidFill>
          <a:ln/>
        </p:spPr>
        <p:txBody>
          <a:bodyPr/>
          <a:p/>
        </p:txBody>
      </p:sp>
      <p:sp>
        <p:nvSpPr>
          <p:cNvPr id="13" name="Text 11"/>
          <p:cNvSpPr/>
          <p:nvPr/>
        </p:nvSpPr>
        <p:spPr>
          <a:xfrm>
            <a:off x="713232" y="2889504"/>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A</a:t>
            </a:r>
            <a:endParaRPr lang="en-US" sz="1400" dirty="0"/>
          </a:p>
        </p:txBody>
      </p:sp>
      <p:sp>
        <p:nvSpPr>
          <p:cNvPr id="14" name="Text 12"/>
          <p:cNvSpPr/>
          <p:nvPr/>
        </p:nvSpPr>
        <p:spPr>
          <a:xfrm>
            <a:off x="1234440" y="2743200"/>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It strengthened tribal governments and expanded reservation territory.</a:t>
            </a:r>
            <a:endParaRPr lang="en-US" sz="1350" dirty="0"/>
          </a:p>
        </p:txBody>
      </p:sp>
      <p:sp>
        <p:nvSpPr>
          <p:cNvPr id="15" name="Shape 13"/>
          <p:cNvSpPr/>
          <p:nvPr/>
        </p:nvSpPr>
        <p:spPr>
          <a:xfrm>
            <a:off x="548640" y="3493008"/>
            <a:ext cx="11064240" cy="658368"/>
          </a:xfrm>
          <a:prstGeom prst="roundRect">
            <a:avLst>
              <a:gd name="adj" fmla="val 8333"/>
            </a:avLst>
          </a:prstGeom>
          <a:solidFill>
            <a:srgbClr val="2C384F"/>
          </a:solidFill>
          <a:ln w="12700">
            <a:solidFill>
              <a:srgbClr val="3A475E"/>
            </a:solidFill>
            <a:prstDash val="solid"/>
          </a:ln>
        </p:spPr>
        <p:txBody>
          <a:bodyPr/>
          <a:p/>
        </p:txBody>
      </p:sp>
      <p:sp>
        <p:nvSpPr>
          <p:cNvPr id="16" name="Shape 14"/>
          <p:cNvSpPr/>
          <p:nvPr/>
        </p:nvSpPr>
        <p:spPr>
          <a:xfrm>
            <a:off x="713232" y="3639312"/>
            <a:ext cx="365760" cy="365760"/>
          </a:xfrm>
          <a:prstGeom prst="ellipse">
            <a:avLst/>
          </a:prstGeom>
          <a:solidFill>
            <a:srgbClr val="1F3A5F"/>
          </a:solidFill>
          <a:ln/>
        </p:spPr>
        <p:txBody>
          <a:bodyPr/>
          <a:p/>
        </p:txBody>
      </p:sp>
      <p:sp>
        <p:nvSpPr>
          <p:cNvPr id="17" name="Text 15"/>
          <p:cNvSpPr/>
          <p:nvPr/>
        </p:nvSpPr>
        <p:spPr>
          <a:xfrm>
            <a:off x="713232" y="3639312"/>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B</a:t>
            </a:r>
            <a:endParaRPr lang="en-US" sz="1400" dirty="0"/>
          </a:p>
        </p:txBody>
      </p:sp>
      <p:sp>
        <p:nvSpPr>
          <p:cNvPr id="18" name="Text 16"/>
          <p:cNvSpPr/>
          <p:nvPr/>
        </p:nvSpPr>
        <p:spPr>
          <a:xfrm>
            <a:off x="1234440" y="3493008"/>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It returned ancestral homelands to tribal control.</a:t>
            </a:r>
            <a:endParaRPr lang="en-US" sz="1350" dirty="0"/>
          </a:p>
        </p:txBody>
      </p:sp>
      <p:sp>
        <p:nvSpPr>
          <p:cNvPr id="19" name="Shape 17"/>
          <p:cNvSpPr/>
          <p:nvPr/>
        </p:nvSpPr>
        <p:spPr>
          <a:xfrm>
            <a:off x="548640" y="4242816"/>
            <a:ext cx="11064240" cy="658368"/>
          </a:xfrm>
          <a:prstGeom prst="roundRect">
            <a:avLst>
              <a:gd name="adj" fmla="val 8333"/>
            </a:avLst>
          </a:prstGeom>
          <a:solidFill>
            <a:srgbClr val="2C384F"/>
          </a:solidFill>
          <a:ln w="12700">
            <a:solidFill>
              <a:srgbClr val="3A475E"/>
            </a:solidFill>
            <a:prstDash val="solid"/>
          </a:ln>
        </p:spPr>
        <p:txBody>
          <a:bodyPr/>
          <a:p/>
        </p:txBody>
      </p:sp>
      <p:sp>
        <p:nvSpPr>
          <p:cNvPr id="20" name="Shape 18"/>
          <p:cNvSpPr/>
          <p:nvPr/>
        </p:nvSpPr>
        <p:spPr>
          <a:xfrm>
            <a:off x="713232" y="4389120"/>
            <a:ext cx="365760" cy="365760"/>
          </a:xfrm>
          <a:prstGeom prst="ellipse">
            <a:avLst/>
          </a:prstGeom>
          <a:solidFill>
            <a:srgbClr val="1F3A5F"/>
          </a:solidFill>
          <a:ln/>
        </p:spPr>
        <p:txBody>
          <a:bodyPr/>
          <a:p/>
        </p:txBody>
      </p:sp>
      <p:sp>
        <p:nvSpPr>
          <p:cNvPr id="21" name="Text 19"/>
          <p:cNvSpPr/>
          <p:nvPr/>
        </p:nvSpPr>
        <p:spPr>
          <a:xfrm>
            <a:off x="713232" y="4389120"/>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C</a:t>
            </a:r>
            <a:endParaRPr lang="en-US" sz="1400" dirty="0"/>
          </a:p>
        </p:txBody>
      </p:sp>
      <p:sp>
        <p:nvSpPr>
          <p:cNvPr id="22" name="Text 20"/>
          <p:cNvSpPr/>
          <p:nvPr/>
        </p:nvSpPr>
        <p:spPr>
          <a:xfrm>
            <a:off x="1234440" y="4242816"/>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It had no measurable effect on Native landholding.</a:t>
            </a:r>
            <a:endParaRPr lang="en-US" sz="1350" dirty="0"/>
          </a:p>
        </p:txBody>
      </p:sp>
      <p:sp>
        <p:nvSpPr>
          <p:cNvPr id="23" name="Shape 21"/>
          <p:cNvSpPr/>
          <p:nvPr/>
        </p:nvSpPr>
        <p:spPr>
          <a:xfrm>
            <a:off x="548640" y="4992624"/>
            <a:ext cx="11064240" cy="658368"/>
          </a:xfrm>
          <a:prstGeom prst="roundRect">
            <a:avLst>
              <a:gd name="adj" fmla="val 8333"/>
            </a:avLst>
          </a:prstGeom>
          <a:solidFill>
            <a:srgbClr val="2C384F"/>
          </a:solidFill>
          <a:ln w="12700">
            <a:solidFill>
              <a:srgbClr val="3A475E"/>
            </a:solidFill>
            <a:prstDash val="solid"/>
          </a:ln>
        </p:spPr>
        <p:txBody>
          <a:bodyPr/>
          <a:p/>
        </p:txBody>
      </p:sp>
      <p:sp>
        <p:nvSpPr>
          <p:cNvPr id="24" name="Shape 22"/>
          <p:cNvSpPr/>
          <p:nvPr/>
        </p:nvSpPr>
        <p:spPr>
          <a:xfrm>
            <a:off x="713232" y="5138928"/>
            <a:ext cx="365760" cy="365760"/>
          </a:xfrm>
          <a:prstGeom prst="ellipse">
            <a:avLst/>
          </a:prstGeom>
          <a:solidFill>
            <a:srgbClr val="1F3A5F"/>
          </a:solidFill>
          <a:ln/>
        </p:spPr>
        <p:txBody>
          <a:bodyPr/>
          <a:p/>
        </p:txBody>
      </p:sp>
      <p:sp>
        <p:nvSpPr>
          <p:cNvPr id="25" name="Text 23"/>
          <p:cNvSpPr/>
          <p:nvPr/>
        </p:nvSpPr>
        <p:spPr>
          <a:xfrm>
            <a:off x="713232" y="5138928"/>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D</a:t>
            </a:r>
            <a:endParaRPr lang="en-US" sz="1400" dirty="0"/>
          </a:p>
        </p:txBody>
      </p:sp>
      <p:sp>
        <p:nvSpPr>
          <p:cNvPr id="26" name="Text 24"/>
          <p:cNvSpPr/>
          <p:nvPr/>
        </p:nvSpPr>
        <p:spPr>
          <a:xfrm>
            <a:off x="1234440" y="4992624"/>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It broke up communal tribal ownership and led to large-scale Native land loss.</a:t>
            </a:r>
            <a:endParaRPr lang="en-US" sz="1350" dirty="0"/>
          </a:p>
        </p:txBody>
      </p:sp>
      <p:sp>
        <p:nvSpPr>
          <p:cNvPr id="27" name="Shape 25"/>
          <p:cNvSpPr/>
          <p:nvPr/>
        </p:nvSpPr>
        <p:spPr>
          <a:xfrm>
            <a:off x="548640" y="5715000"/>
            <a:ext cx="11064240" cy="502920"/>
          </a:xfrm>
          <a:prstGeom prst="roundRect">
            <a:avLst>
              <a:gd name="adj" fmla="val 14545"/>
            </a:avLst>
          </a:prstGeom>
          <a:solidFill>
            <a:srgbClr val="243047"/>
          </a:solidFill>
          <a:ln w="12700">
            <a:solidFill>
              <a:srgbClr val="C9A227"/>
            </a:solidFill>
            <a:prstDash val="solid"/>
          </a:ln>
        </p:spPr>
        <p:txBody>
          <a:bodyPr/>
          <a:p/>
        </p:txBody>
      </p:sp>
      <p:sp>
        <p:nvSpPr>
          <p:cNvPr id="28" name="Text 26"/>
          <p:cNvSpPr/>
          <p:nvPr/>
        </p:nvSpPr>
        <p:spPr>
          <a:xfrm>
            <a:off x="822960" y="5715000"/>
            <a:ext cx="10515600" cy="502920"/>
          </a:xfrm>
          <a:prstGeom prst="rect">
            <a:avLst/>
          </a:prstGeom>
          <a:noFill/>
          <a:ln/>
        </p:spPr>
        <p:txBody>
          <a:bodyPr wrap="square" rtlCol="0" anchor="ctr"/>
          <a:lstStyle/>
          <a:p>
            <a:pPr indent="0" marL="0">
              <a:buNone/>
            </a:pPr>
            <a:r>
              <a:rPr lang="en-US" sz="1200" b="1" i="1" spc="100" kern="0" dirty="0">
                <a:solidFill>
                  <a:srgbClr val="F9A825"/>
                </a:solidFill>
                <a:latin typeface="Trebuchet MS" pitchFamily="34" charset="0"/>
                <a:ea typeface="Trebuchet MS" pitchFamily="34" charset="-122"/>
                <a:cs typeface="Trebuchet MS" pitchFamily="34" charset="-120"/>
              </a:rPr>
              <a:t>ANSWER FIRST:  </a:t>
            </a:r>
            <a:pPr indent="0" marL="0">
              <a:buNone/>
            </a:pPr>
            <a:r>
              <a:rPr lang="en-US" sz="1200" i="1" dirty="0">
                <a:solidFill>
                  <a:srgbClr val="C7D4E0"/>
                </a:solidFill>
                <a:latin typeface="Calibri" pitchFamily="34" charset="0"/>
                <a:ea typeface="Calibri" pitchFamily="34" charset="-122"/>
                <a:cs typeface="Calibri" pitchFamily="34" charset="-120"/>
              </a:rPr>
              <a:t>students commit — then click / advance to reveal the correct answer and explanation.</a:t>
            </a:r>
            <a:endParaRPr lang="en-US" sz="1200" dirty="0"/>
          </a:p>
        </p:txBody>
      </p:sp>
      <p:sp>
        <p:nvSpPr>
          <p:cNvPr id="30" name="Text 27"/>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1" name="Text 2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0">
    <p:bg>
      <p:bgPr>
        <a:solidFill>
          <a:srgbClr val="1F3A5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227"/>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US.02 · ANSWER REVEAL</a:t>
            </a:r>
            <a:endParaRPr lang="en-US" sz="1200" dirty="0"/>
          </a:p>
        </p:txBody>
      </p:sp>
      <p:sp>
        <p:nvSpPr>
          <p:cNvPr id="4" name="Text 2"/>
          <p:cNvSpPr/>
          <p:nvPr/>
        </p:nvSpPr>
        <p:spPr>
          <a:xfrm>
            <a:off x="548640" y="777240"/>
            <a:ext cx="822960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8595360" y="822960"/>
            <a:ext cx="3017520" cy="457200"/>
          </a:xfrm>
          <a:prstGeom prst="roundRect">
            <a:avLst>
              <a:gd name="adj" fmla="val 20000"/>
            </a:avLst>
          </a:prstGeom>
          <a:solidFill>
            <a:srgbClr val="1B5E20"/>
          </a:solidFill>
          <a:ln/>
        </p:spPr>
        <p:txBody>
          <a:bodyPr/>
          <a:p/>
        </p:txBody>
      </p:sp>
      <p:sp>
        <p:nvSpPr>
          <p:cNvPr id="6" name="Text 4"/>
          <p:cNvSpPr/>
          <p:nvPr/>
        </p:nvSpPr>
        <p:spPr>
          <a:xfrm>
            <a:off x="8595360" y="822960"/>
            <a:ext cx="301752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 ANSWER KEY</a:t>
            </a:r>
            <a:endParaRPr lang="en-US" sz="1200" dirty="0"/>
          </a:p>
        </p:txBody>
      </p:sp>
      <p:sp>
        <p:nvSpPr>
          <p:cNvPr id="7" name="Shape 5"/>
          <p:cNvSpPr/>
          <p:nvPr/>
        </p:nvSpPr>
        <p:spPr>
          <a:xfrm>
            <a:off x="548640" y="1554480"/>
            <a:ext cx="11064240" cy="960120"/>
          </a:xfrm>
          <a:prstGeom prst="roundRect">
            <a:avLst>
              <a:gd name="adj" fmla="val 7619"/>
            </a:avLst>
          </a:prstGeom>
          <a:solidFill>
            <a:srgbClr val="243047"/>
          </a:solidFill>
          <a:ln w="6350">
            <a:solidFill>
              <a:srgbClr val="A7BACB"/>
            </a:solidFill>
            <a:prstDash val="solid"/>
          </a:ln>
        </p:spPr>
        <p:txBody>
          <a:bodyPr/>
          <a:p/>
        </p:txBody>
      </p:sp>
      <p:sp>
        <p:nvSpPr>
          <p:cNvPr id="8" name="Text 6"/>
          <p:cNvSpPr/>
          <p:nvPr/>
        </p:nvSpPr>
        <p:spPr>
          <a:xfrm>
            <a:off x="822960" y="1664208"/>
            <a:ext cx="10515600" cy="731520"/>
          </a:xfrm>
          <a:prstGeom prst="rect">
            <a:avLst/>
          </a:prstGeom>
          <a:noFill/>
          <a:ln/>
        </p:spPr>
        <p:txBody>
          <a:bodyPr wrap="square" rtlCol="0" anchor="ctr"/>
          <a:lstStyle/>
          <a:p>
            <a:pPr indent="0" marL="0">
              <a:lnSpc>
                <a:spcPct val="102000"/>
              </a:lnSpc>
              <a:buNone/>
            </a:pPr>
            <a:r>
              <a:rPr lang="en-US" sz="1500" b="1" dirty="0">
                <a:solidFill>
                  <a:srgbClr val="FFFFFF"/>
                </a:solidFill>
                <a:latin typeface="Calibri" pitchFamily="34" charset="0"/>
                <a:ea typeface="Calibri" pitchFamily="34" charset="-122"/>
                <a:cs typeface="Calibri" pitchFamily="34" charset="-120"/>
              </a:rPr>
              <a:t>Based on the excerpt, what was the most likely long-term effect of dividing tribal land "in severalty" under the Dawes Act?</a:t>
            </a:r>
            <a:endParaRPr lang="en-US" sz="1500" dirty="0"/>
          </a:p>
        </p:txBody>
      </p:sp>
      <p:sp>
        <p:nvSpPr>
          <p:cNvPr id="9" name="Shape 7"/>
          <p:cNvSpPr/>
          <p:nvPr/>
        </p:nvSpPr>
        <p:spPr>
          <a:xfrm>
            <a:off x="548640" y="2651760"/>
            <a:ext cx="11064240" cy="566928"/>
          </a:xfrm>
          <a:prstGeom prst="roundRect">
            <a:avLst>
              <a:gd name="adj" fmla="val 9677"/>
            </a:avLst>
          </a:prstGeom>
          <a:solidFill>
            <a:srgbClr val="2C384F"/>
          </a:solidFill>
          <a:ln w="12700">
            <a:solidFill>
              <a:srgbClr val="F9A825"/>
            </a:solidFill>
            <a:prstDash val="solid"/>
          </a:ln>
        </p:spPr>
        <p:txBody>
          <a:bodyPr/>
          <a:p/>
        </p:txBody>
      </p:sp>
      <p:sp>
        <p:nvSpPr>
          <p:cNvPr id="10" name="Shape 8"/>
          <p:cNvSpPr/>
          <p:nvPr/>
        </p:nvSpPr>
        <p:spPr>
          <a:xfrm>
            <a:off x="713232" y="2761488"/>
            <a:ext cx="347472" cy="347472"/>
          </a:xfrm>
          <a:prstGeom prst="ellipse">
            <a:avLst/>
          </a:prstGeom>
          <a:solidFill>
            <a:srgbClr val="1F3A5F"/>
          </a:solidFill>
          <a:ln/>
        </p:spPr>
        <p:txBody>
          <a:bodyPr/>
          <a:p/>
        </p:txBody>
      </p:sp>
      <p:sp>
        <p:nvSpPr>
          <p:cNvPr id="11" name="Text 9"/>
          <p:cNvSpPr/>
          <p:nvPr/>
        </p:nvSpPr>
        <p:spPr>
          <a:xfrm>
            <a:off x="713232" y="2761488"/>
            <a:ext cx="347472" cy="347472"/>
          </a:xfrm>
          <a:prstGeom prst="rect">
            <a:avLst/>
          </a:prstGeom>
          <a:noFill/>
          <a:ln/>
        </p:spPr>
        <p:txBody>
          <a:bodyPr wrap="square" rtlCol="0" anchor="ctr"/>
          <a:lstStyle/>
          <a:p>
            <a:pPr algn="ctr" indent="0" marL="0">
              <a:buNone/>
            </a:pPr>
            <a:r>
              <a:rPr lang="en-US" sz="1300" b="1" dirty="0">
                <a:solidFill>
                  <a:srgbClr val="F9A825"/>
                </a:solidFill>
                <a:latin typeface="Trebuchet MS" pitchFamily="34" charset="0"/>
                <a:ea typeface="Trebuchet MS" pitchFamily="34" charset="-122"/>
                <a:cs typeface="Trebuchet MS" pitchFamily="34" charset="-120"/>
              </a:rPr>
              <a:t>A</a:t>
            </a:r>
            <a:endParaRPr lang="en-US" sz="1300" dirty="0"/>
          </a:p>
        </p:txBody>
      </p:sp>
      <p:sp>
        <p:nvSpPr>
          <p:cNvPr id="12" name="Text 10"/>
          <p:cNvSpPr/>
          <p:nvPr/>
        </p:nvSpPr>
        <p:spPr>
          <a:xfrm>
            <a:off x="1216152" y="2651760"/>
            <a:ext cx="9509760" cy="566928"/>
          </a:xfrm>
          <a:prstGeom prst="rect">
            <a:avLst/>
          </a:prstGeom>
          <a:noFill/>
          <a:ln/>
        </p:spPr>
        <p:txBody>
          <a:bodyPr wrap="square" rtlCol="0" anchor="ctr"/>
          <a:lstStyle/>
          <a:p>
            <a:pPr indent="0" marL="0">
              <a:lnSpc>
                <a:spcPct val="100000"/>
              </a:lnSpc>
              <a:buNone/>
            </a:pPr>
            <a:r>
              <a:rPr lang="en-US" sz="1300" b="1" dirty="0">
                <a:solidFill>
                  <a:srgbClr val="1F3A5F"/>
                </a:solidFill>
                <a:latin typeface="Calibri" pitchFamily="34" charset="0"/>
                <a:ea typeface="Calibri" pitchFamily="34" charset="-122"/>
                <a:cs typeface="Calibri" pitchFamily="34" charset="-120"/>
              </a:rPr>
              <a:t>It strengthened tribal governments and expanded reservation territory.</a:t>
            </a:r>
            <a:endParaRPr lang="en-US" sz="1300" dirty="0"/>
          </a:p>
        </p:txBody>
      </p:sp>
      <p:sp>
        <p:nvSpPr>
          <p:cNvPr id="13" name="Text 11"/>
          <p:cNvSpPr/>
          <p:nvPr/>
        </p:nvSpPr>
        <p:spPr>
          <a:xfrm>
            <a:off x="11018520" y="4626864"/>
            <a:ext cx="457200" cy="566928"/>
          </a:xfrm>
          <a:prstGeom prst="rect">
            <a:avLst/>
          </a:prstGeom>
          <a:noFill/>
          <a:ln/>
        </p:spPr>
        <p:txBody>
          <a:bodyPr wrap="square" rtlCol="0" anchor="ctr"/>
          <a:lstStyle/>
          <a:p>
            <a:pPr algn="ctr" indent="0" marL="0">
              <a:buNone/>
            </a:pPr>
            <a:r>
              <a:rPr lang="en-US" sz="1700" b="1" dirty="0">
                <a:solidFill>
                  <a:srgbClr val="1F3A5F"/>
                </a:solidFill>
                <a:latin typeface="Calibri" pitchFamily="34" charset="0"/>
                <a:ea typeface="Calibri" pitchFamily="34" charset="-122"/>
                <a:cs typeface="Calibri" pitchFamily="34" charset="-120"/>
              </a:rPr>
              <a:t>✓</a:t>
            </a:r>
            <a:endParaRPr lang="en-US" sz="1700" dirty="0"/>
          </a:p>
        </p:txBody>
      </p:sp>
      <p:sp>
        <p:nvSpPr>
          <p:cNvPr id="14" name="Shape 12"/>
          <p:cNvSpPr/>
          <p:nvPr/>
        </p:nvSpPr>
        <p:spPr>
          <a:xfrm>
            <a:off x="548640" y="3310128"/>
            <a:ext cx="11064240" cy="566928"/>
          </a:xfrm>
          <a:prstGeom prst="roundRect">
            <a:avLst>
              <a:gd name="adj" fmla="val 9677"/>
            </a:avLst>
          </a:prstGeom>
          <a:solidFill>
            <a:srgbClr val="2C384F"/>
          </a:solidFill>
          <a:ln w="12700">
            <a:solidFill>
              <a:srgbClr val="3A475E"/>
            </a:solidFill>
            <a:prstDash val="solid"/>
          </a:ln>
        </p:spPr>
        <p:txBody>
          <a:bodyPr/>
          <a:p/>
        </p:txBody>
      </p:sp>
      <p:sp>
        <p:nvSpPr>
          <p:cNvPr id="15" name="Shape 13"/>
          <p:cNvSpPr/>
          <p:nvPr/>
        </p:nvSpPr>
        <p:spPr>
          <a:xfrm>
            <a:off x="713232" y="3419856"/>
            <a:ext cx="347472" cy="347472"/>
          </a:xfrm>
          <a:prstGeom prst="ellipse">
            <a:avLst/>
          </a:prstGeom>
          <a:solidFill>
            <a:srgbClr val="1F3A5F"/>
          </a:solidFill>
          <a:ln/>
        </p:spPr>
        <p:txBody>
          <a:bodyPr/>
          <a:p/>
        </p:txBody>
      </p:sp>
      <p:sp>
        <p:nvSpPr>
          <p:cNvPr id="16" name="Text 14"/>
          <p:cNvSpPr/>
          <p:nvPr/>
        </p:nvSpPr>
        <p:spPr>
          <a:xfrm>
            <a:off x="713232" y="3419856"/>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B</a:t>
            </a:r>
            <a:endParaRPr lang="en-US" sz="1300" dirty="0"/>
          </a:p>
        </p:txBody>
      </p:sp>
      <p:sp>
        <p:nvSpPr>
          <p:cNvPr id="17" name="Text 15"/>
          <p:cNvSpPr/>
          <p:nvPr/>
        </p:nvSpPr>
        <p:spPr>
          <a:xfrm>
            <a:off x="1216152" y="3310128"/>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It returned ancestral homelands to tribal control.</a:t>
            </a:r>
            <a:endParaRPr lang="en-US" sz="1300" dirty="0"/>
          </a:p>
        </p:txBody>
      </p:sp>
      <p:sp>
        <p:nvSpPr>
          <p:cNvPr id="18" name="Shape 16"/>
          <p:cNvSpPr/>
          <p:nvPr/>
        </p:nvSpPr>
        <p:spPr>
          <a:xfrm>
            <a:off x="548640" y="3968496"/>
            <a:ext cx="11064240" cy="566928"/>
          </a:xfrm>
          <a:prstGeom prst="roundRect">
            <a:avLst>
              <a:gd name="adj" fmla="val 9677"/>
            </a:avLst>
          </a:prstGeom>
          <a:solidFill>
            <a:srgbClr val="2C384F"/>
          </a:solidFill>
          <a:ln w="12700">
            <a:solidFill>
              <a:srgbClr val="3A475E"/>
            </a:solidFill>
            <a:prstDash val="solid"/>
          </a:ln>
        </p:spPr>
        <p:txBody>
          <a:bodyPr/>
          <a:p/>
        </p:txBody>
      </p:sp>
      <p:sp>
        <p:nvSpPr>
          <p:cNvPr id="19" name="Shape 17"/>
          <p:cNvSpPr/>
          <p:nvPr/>
        </p:nvSpPr>
        <p:spPr>
          <a:xfrm>
            <a:off x="713232" y="4078224"/>
            <a:ext cx="347472" cy="347472"/>
          </a:xfrm>
          <a:prstGeom prst="ellipse">
            <a:avLst/>
          </a:prstGeom>
          <a:solidFill>
            <a:srgbClr val="1F3A5F"/>
          </a:solidFill>
          <a:ln/>
        </p:spPr>
        <p:txBody>
          <a:bodyPr/>
          <a:p/>
        </p:txBody>
      </p:sp>
      <p:sp>
        <p:nvSpPr>
          <p:cNvPr id="20" name="Text 18"/>
          <p:cNvSpPr/>
          <p:nvPr/>
        </p:nvSpPr>
        <p:spPr>
          <a:xfrm>
            <a:off x="713232" y="4078224"/>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C</a:t>
            </a:r>
            <a:endParaRPr lang="en-US" sz="1300" dirty="0"/>
          </a:p>
        </p:txBody>
      </p:sp>
      <p:sp>
        <p:nvSpPr>
          <p:cNvPr id="21" name="Text 19"/>
          <p:cNvSpPr/>
          <p:nvPr/>
        </p:nvSpPr>
        <p:spPr>
          <a:xfrm>
            <a:off x="1216152" y="3968496"/>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It had no measurable effect on Native landholding.</a:t>
            </a:r>
            <a:endParaRPr lang="en-US" sz="1300" dirty="0"/>
          </a:p>
        </p:txBody>
      </p:sp>
      <p:sp>
        <p:nvSpPr>
          <p:cNvPr id="22" name="Shape 20"/>
          <p:cNvSpPr/>
          <p:nvPr/>
        </p:nvSpPr>
        <p:spPr>
          <a:xfrm>
            <a:off x="548640" y="4626864"/>
            <a:ext cx="11064240" cy="566928"/>
          </a:xfrm>
          <a:prstGeom prst="roundRect">
            <a:avLst>
              <a:gd name="adj" fmla="val 9677"/>
            </a:avLst>
          </a:prstGeom>
          <a:solidFill>
            <a:srgbClr val="C9A227"/>
          </a:solidFill>
          <a:ln w="12700">
            <a:solidFill>
              <a:srgbClr val="3A475E"/>
            </a:solidFill>
            <a:prstDash val="solid"/>
          </a:ln>
        </p:spPr>
        <p:txBody>
          <a:bodyPr/>
          <a:p/>
        </p:txBody>
      </p:sp>
      <p:sp>
        <p:nvSpPr>
          <p:cNvPr id="23" name="Shape 21"/>
          <p:cNvSpPr/>
          <p:nvPr/>
        </p:nvSpPr>
        <p:spPr>
          <a:xfrm>
            <a:off x="713232" y="4736592"/>
            <a:ext cx="347472" cy="347472"/>
          </a:xfrm>
          <a:prstGeom prst="ellipse">
            <a:avLst/>
          </a:prstGeom>
          <a:solidFill>
            <a:srgbClr val="1F3A5F"/>
          </a:solidFill>
          <a:ln/>
        </p:spPr>
        <p:txBody>
          <a:bodyPr/>
          <a:p/>
        </p:txBody>
      </p:sp>
      <p:sp>
        <p:nvSpPr>
          <p:cNvPr id="24" name="Text 22"/>
          <p:cNvSpPr/>
          <p:nvPr/>
        </p:nvSpPr>
        <p:spPr>
          <a:xfrm>
            <a:off x="713232" y="4736592"/>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D</a:t>
            </a:r>
            <a:endParaRPr lang="en-US" sz="1300" dirty="0"/>
          </a:p>
        </p:txBody>
      </p:sp>
      <p:sp>
        <p:nvSpPr>
          <p:cNvPr id="25" name="Text 23"/>
          <p:cNvSpPr/>
          <p:nvPr/>
        </p:nvSpPr>
        <p:spPr>
          <a:xfrm>
            <a:off x="1216152" y="4626864"/>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It broke up communal tribal ownership and led to large-scale Native land loss.</a:t>
            </a:r>
            <a:endParaRPr lang="en-US" sz="1300" dirty="0"/>
          </a:p>
        </p:txBody>
      </p:sp>
      <p:sp>
        <p:nvSpPr>
          <p:cNvPr id="26" name="Shape 24"/>
          <p:cNvSpPr/>
          <p:nvPr/>
        </p:nvSpPr>
        <p:spPr>
          <a:xfrm>
            <a:off x="548640" y="5440680"/>
            <a:ext cx="11064240" cy="868680"/>
          </a:xfrm>
          <a:prstGeom prst="roundRect">
            <a:avLst>
              <a:gd name="adj" fmla="val 8421"/>
            </a:avLst>
          </a:prstGeom>
          <a:solidFill>
            <a:srgbClr val="243047"/>
          </a:solidFill>
          <a:ln w="12700">
            <a:solidFill>
              <a:srgbClr val="F9A825"/>
            </a:solidFill>
            <a:prstDash val="solid"/>
          </a:ln>
        </p:spPr>
        <p:txBody>
          <a:bodyPr/>
          <a:p/>
        </p:txBody>
      </p:sp>
      <p:sp>
        <p:nvSpPr>
          <p:cNvPr id="27" name="Text 25"/>
          <p:cNvSpPr/>
          <p:nvPr/>
        </p:nvSpPr>
        <p:spPr>
          <a:xfrm>
            <a:off x="822960" y="5532120"/>
            <a:ext cx="10515600" cy="713232"/>
          </a:xfrm>
          <a:prstGeom prst="rect">
            <a:avLst/>
          </a:prstGeom>
          <a:noFill/>
          <a:ln/>
        </p:spPr>
        <p:txBody>
          <a:bodyPr wrap="square" rtlCol="0" anchor="ctr"/>
          <a:lstStyle/>
          <a:p>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Correct answer: D.  </a:t>
            </a:r>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Why: </a:t>
            </a:r>
            <a:pPr indent="0" marL="0">
              <a:lnSpc>
                <a:spcPct val="104000"/>
              </a:lnSpc>
              <a:buNone/>
            </a:pPr>
            <a:r>
              <a:rPr lang="en-US" sz="1150" dirty="0">
                <a:solidFill>
                  <a:srgbClr val="C7D4E0"/>
                </a:solidFill>
                <a:latin typeface="Calibri" pitchFamily="34" charset="0"/>
                <a:ea typeface="Calibri" pitchFamily="34" charset="-122"/>
                <a:cs typeface="Calibri" pitchFamily="34" charset="-120"/>
              </a:rPr>
              <a:t>DOK 2: The Act allotted land to individuals and declared the remainder "surplus" for sale, predictably dissolving collective tribal holdings and transferring tens of millions of acres out of Native hands.</a:t>
            </a:r>
            <a:endParaRPr lang="en-US" sz="1150" dirty="0"/>
          </a:p>
        </p:txBody>
      </p:sp>
      <p:sp>
        <p:nvSpPr>
          <p:cNvPr id="29" name="Text 26"/>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0" name="Text 2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1">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F3A5F"/>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B22234"/>
                </a:solidFill>
                <a:latin typeface="Trebuchet MS" pitchFamily="34" charset="0"/>
                <a:ea typeface="Trebuchet MS" pitchFamily="34" charset="-122"/>
                <a:cs typeface="Trebuchet MS" pitchFamily="34" charset="-120"/>
              </a:rPr>
              <a:t>US.02 · WRAP-UP</a:t>
            </a:r>
            <a:endParaRPr lang="en-US" sz="1200" dirty="0"/>
          </a:p>
        </p:txBody>
      </p:sp>
      <p:sp>
        <p:nvSpPr>
          <p:cNvPr id="4" name="Text 2"/>
          <p:cNvSpPr/>
          <p:nvPr/>
        </p:nvSpPr>
        <p:spPr>
          <a:xfrm>
            <a:off x="548640" y="731520"/>
            <a:ext cx="11064240" cy="640080"/>
          </a:xfrm>
          <a:prstGeom prst="rect">
            <a:avLst/>
          </a:prstGeom>
          <a:noFill/>
          <a:ln/>
        </p:spPr>
        <p:txBody>
          <a:bodyPr wrap="square" rtlCol="0" anchor="ctr"/>
          <a:lstStyle/>
          <a:p>
            <a:pPr indent="0" marL="0">
              <a:buNone/>
            </a:pPr>
            <a:r>
              <a:rPr lang="en-US" sz="2800" b="1" dirty="0">
                <a:solidFill>
                  <a:srgbClr val="1F3A5F"/>
                </a:solidFill>
                <a:latin typeface="Georgia" pitchFamily="34" charset="0"/>
                <a:ea typeface="Georgia" pitchFamily="34" charset="-122"/>
                <a:cs typeface="Georgia" pitchFamily="34" charset="-120"/>
              </a:rPr>
              <a:t>What You Need to Know for TCAP</a:t>
            </a:r>
            <a:endParaRPr lang="en-US" sz="2800" dirty="0"/>
          </a:p>
        </p:txBody>
      </p:sp>
      <p:sp>
        <p:nvSpPr>
          <p:cNvPr id="5" name="Shape 3"/>
          <p:cNvSpPr/>
          <p:nvPr/>
        </p:nvSpPr>
        <p:spPr>
          <a:xfrm>
            <a:off x="548640" y="1691640"/>
            <a:ext cx="7040880" cy="2971800"/>
          </a:xfrm>
          <a:prstGeom prst="rect">
            <a:avLst/>
          </a:prstGeom>
          <a:solidFill>
            <a:srgbClr val="FFFFFF"/>
          </a:solidFill>
          <a:ln w="12700">
            <a:solidFill>
              <a:srgbClr val="DAD3C2"/>
            </a:solidFill>
            <a:prstDash val="solid"/>
          </a:ln>
        </p:spPr>
        <p:txBody>
          <a:bodyPr/>
          <a:p/>
        </p:txBody>
      </p:sp>
      <p:sp>
        <p:nvSpPr>
          <p:cNvPr id="6" name="Text 4"/>
          <p:cNvSpPr/>
          <p:nvPr/>
        </p:nvSpPr>
        <p:spPr>
          <a:xfrm>
            <a:off x="868680" y="1847088"/>
            <a:ext cx="5486400" cy="320040"/>
          </a:xfrm>
          <a:prstGeom prst="rect">
            <a:avLst/>
          </a:prstGeom>
          <a:noFill/>
          <a:ln/>
        </p:spPr>
        <p:txBody>
          <a:bodyPr wrap="square" rtlCol="0" anchor="ctr"/>
          <a:lstStyle/>
          <a:p>
            <a:pPr indent="0" marL="0">
              <a:buNone/>
            </a:pPr>
            <a:r>
              <a:rPr lang="en-US" sz="1200" b="1" spc="200" kern="0" dirty="0">
                <a:solidFill>
                  <a:srgbClr val="B22234"/>
                </a:solidFill>
                <a:latin typeface="Trebuchet MS" pitchFamily="34" charset="0"/>
                <a:ea typeface="Trebuchet MS" pitchFamily="34" charset="-122"/>
                <a:cs typeface="Trebuchet MS" pitchFamily="34" charset="-120"/>
              </a:rPr>
              <a:t>KEY TAKEAWAYS</a:t>
            </a:r>
            <a:endParaRPr lang="en-US" sz="1200" dirty="0"/>
          </a:p>
        </p:txBody>
      </p:sp>
      <p:sp>
        <p:nvSpPr>
          <p:cNvPr id="7" name="Text 5"/>
          <p:cNvSpPr/>
          <p:nvPr/>
        </p:nvSpPr>
        <p:spPr>
          <a:xfrm>
            <a:off x="868680" y="2212848"/>
            <a:ext cx="6492240" cy="2331720"/>
          </a:xfrm>
          <a:prstGeom prst="rect">
            <a:avLst/>
          </a:prstGeom>
          <a:noFill/>
          <a:ln/>
        </p:spPr>
        <p:txBody>
          <a:bodyPr wrap="square" rtlCol="0" anchor="t"/>
          <a:lstStyle/>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Movement to Reservations</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Assimilation and Boarding Schools</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The Dawes Act and Its Impact</a:t>
            </a:r>
            <a:endParaRPr lang="en-US" sz="1500" dirty="0"/>
          </a:p>
        </p:txBody>
      </p:sp>
      <p:sp>
        <p:nvSpPr>
          <p:cNvPr id="8" name="Shape 6"/>
          <p:cNvSpPr/>
          <p:nvPr/>
        </p:nvSpPr>
        <p:spPr>
          <a:xfrm>
            <a:off x="548640" y="4800600"/>
            <a:ext cx="7040880" cy="1005840"/>
          </a:xfrm>
          <a:prstGeom prst="roundRect">
            <a:avLst>
              <a:gd name="adj" fmla="val 7273"/>
            </a:avLst>
          </a:prstGeom>
          <a:solidFill>
            <a:srgbClr val="F3EAD0"/>
          </a:solidFill>
          <a:ln w="12700">
            <a:solidFill>
              <a:srgbClr val="C9A227"/>
            </a:solidFill>
            <a:prstDash val="solid"/>
          </a:ln>
        </p:spPr>
        <p:txBody>
          <a:bodyPr/>
          <a:p/>
        </p:txBody>
      </p:sp>
      <p:sp>
        <p:nvSpPr>
          <p:cNvPr id="9" name="Text 7"/>
          <p:cNvSpPr/>
          <p:nvPr/>
        </p:nvSpPr>
        <p:spPr>
          <a:xfrm>
            <a:off x="822960" y="4901184"/>
            <a:ext cx="6492240" cy="274320"/>
          </a:xfrm>
          <a:prstGeom prst="rect">
            <a:avLst/>
          </a:prstGeom>
          <a:noFill/>
          <a:ln/>
        </p:spPr>
        <p:txBody>
          <a:bodyPr wrap="square" rtlCol="0" anchor="ctr"/>
          <a:lstStyle/>
          <a:p>
            <a:pPr indent="0" marL="0">
              <a:buNone/>
            </a:pPr>
            <a:r>
              <a:rPr lang="en-US" sz="1100" b="1" spc="100" kern="0" dirty="0">
                <a:solidFill>
                  <a:srgbClr val="7A5C12"/>
                </a:solidFill>
                <a:latin typeface="Trebuchet MS" pitchFamily="34" charset="0"/>
                <a:ea typeface="Trebuchet MS" pitchFamily="34" charset="-122"/>
                <a:cs typeface="Trebuchet MS" pitchFamily="34" charset="-120"/>
              </a:rPr>
              <a:t>★ EXTENSION  </a:t>
            </a:r>
            <a:pPr indent="0" marL="0">
              <a:buNone/>
            </a:pPr>
            <a:r>
              <a:rPr lang="en-US" sz="950" b="1" dirty="0">
                <a:solidFill>
                  <a:srgbClr val="5C6470"/>
                </a:solidFill>
                <a:latin typeface="Trebuchet MS" pitchFamily="34" charset="0"/>
                <a:ea typeface="Trebuchet MS" pitchFamily="34" charset="-122"/>
                <a:cs typeface="Trebuchet MS" pitchFamily="34" charset="-120"/>
              </a:rPr>
              <a:t>DOK 3 · SSP.04 Argumentation</a:t>
            </a:r>
            <a:endParaRPr lang="en-US" sz="1100" dirty="0"/>
          </a:p>
        </p:txBody>
      </p:sp>
      <p:sp>
        <p:nvSpPr>
          <p:cNvPr id="10" name="Text 8"/>
          <p:cNvSpPr/>
          <p:nvPr/>
        </p:nvSpPr>
        <p:spPr>
          <a:xfrm>
            <a:off x="822960" y="5175504"/>
            <a:ext cx="6492240" cy="566928"/>
          </a:xfrm>
          <a:prstGeom prst="rect">
            <a:avLst/>
          </a:prstGeom>
          <a:noFill/>
          <a:ln/>
        </p:spPr>
        <p:txBody>
          <a:bodyPr wrap="square" rtlCol="0" anchor="t"/>
          <a:lstStyle/>
          <a:p>
            <a:pPr indent="0" marL="0">
              <a:lnSpc>
                <a:spcPct val="100000"/>
              </a:lnSpc>
              <a:buNone/>
            </a:pPr>
            <a:r>
              <a:rPr lang="en-US" sz="1250" i="1" dirty="0">
                <a:solidFill>
                  <a:srgbClr val="1F2430"/>
                </a:solidFill>
                <a:latin typeface="Calibri" pitchFamily="34" charset="0"/>
                <a:ea typeface="Calibri" pitchFamily="34" charset="-122"/>
                <a:cs typeface="Calibri" pitchFamily="34" charset="-120"/>
              </a:rPr>
              <a:t>Evaluate: did assimilation policy and the Dawes Act share the same underlying assumption about Native cultures? Support with evidence from both.</a:t>
            </a:r>
            <a:endParaRPr lang="en-US" sz="1250" dirty="0"/>
          </a:p>
        </p:txBody>
      </p:sp>
      <p:sp>
        <p:nvSpPr>
          <p:cNvPr id="11" name="Shape 9"/>
          <p:cNvSpPr/>
          <p:nvPr/>
        </p:nvSpPr>
        <p:spPr>
          <a:xfrm>
            <a:off x="7818120" y="1691640"/>
            <a:ext cx="3794760" cy="4114800"/>
          </a:xfrm>
          <a:prstGeom prst="roundRect">
            <a:avLst>
              <a:gd name="adj" fmla="val 2410"/>
            </a:avLst>
          </a:prstGeom>
          <a:solidFill>
            <a:srgbClr val="1F3A5F"/>
          </a:solidFill>
          <a:ln/>
        </p:spPr>
        <p:txBody>
          <a:bodyPr/>
          <a:p/>
        </p:txBody>
      </p:sp>
      <p:sp>
        <p:nvSpPr>
          <p:cNvPr id="12" name="Text 10"/>
          <p:cNvSpPr/>
          <p:nvPr/>
        </p:nvSpPr>
        <p:spPr>
          <a:xfrm>
            <a:off x="8092440" y="1920240"/>
            <a:ext cx="2286000" cy="320040"/>
          </a:xfrm>
          <a:prstGeom prst="rect">
            <a:avLst/>
          </a:prstGeom>
          <a:noFill/>
          <a:ln/>
        </p:spPr>
        <p:txBody>
          <a:bodyPr wrap="square" rtlCol="0" anchor="ctr"/>
          <a:lstStyle/>
          <a:p>
            <a:pPr indent="0" marL="0">
              <a:buNone/>
            </a:pPr>
            <a:r>
              <a:rPr lang="en-US" sz="1200" b="1" spc="200" kern="0" dirty="0">
                <a:solidFill>
                  <a:srgbClr val="F9A825"/>
                </a:solidFill>
                <a:latin typeface="Trebuchet MS" pitchFamily="34" charset="0"/>
                <a:ea typeface="Trebuchet MS" pitchFamily="34" charset="-122"/>
                <a:cs typeface="Trebuchet MS" pitchFamily="34" charset="-120"/>
              </a:rPr>
              <a:t>EXIT TICKET</a:t>
            </a:r>
            <a:endParaRPr lang="en-US" sz="1200" dirty="0"/>
          </a:p>
        </p:txBody>
      </p:sp>
      <p:sp>
        <p:nvSpPr>
          <p:cNvPr id="13" name="Shape 11"/>
          <p:cNvSpPr/>
          <p:nvPr/>
        </p:nvSpPr>
        <p:spPr>
          <a:xfrm>
            <a:off x="10378440" y="1883664"/>
            <a:ext cx="960120" cy="365760"/>
          </a:xfrm>
          <a:prstGeom prst="roundRect">
            <a:avLst>
              <a:gd name="adj" fmla="val 20000"/>
            </a:avLst>
          </a:prstGeom>
          <a:solidFill>
            <a:srgbClr val="243047"/>
          </a:solidFill>
          <a:ln w="9525">
            <a:solidFill>
              <a:srgbClr val="C9A227"/>
            </a:solidFill>
            <a:prstDash val="solid"/>
          </a:ln>
        </p:spPr>
        <p:txBody>
          <a:bodyPr/>
          <a:p/>
        </p:txBody>
      </p:sp>
      <p:sp>
        <p:nvSpPr>
          <p:cNvPr id="14" name="Text 12"/>
          <p:cNvSpPr/>
          <p:nvPr/>
        </p:nvSpPr>
        <p:spPr>
          <a:xfrm>
            <a:off x="10378440" y="1883664"/>
            <a:ext cx="960120" cy="365760"/>
          </a:xfrm>
          <a:prstGeom prst="rect">
            <a:avLst/>
          </a:prstGeom>
          <a:noFill/>
          <a:ln/>
        </p:spPr>
        <p:txBody>
          <a:bodyPr wrap="square" rtlCol="0" anchor="ctr"/>
          <a:lstStyle/>
          <a:p>
            <a:pPr algn="ctr" indent="0" marL="0">
              <a:buNone/>
            </a:pPr>
            <a:r>
              <a:rPr lang="en-US" sz="1000" b="1" dirty="0">
                <a:solidFill>
                  <a:srgbClr val="F9A825"/>
                </a:solidFill>
                <a:latin typeface="Trebuchet MS" pitchFamily="34" charset="0"/>
                <a:ea typeface="Trebuchet MS" pitchFamily="34" charset="-122"/>
                <a:cs typeface="Trebuchet MS" pitchFamily="34" charset="-120"/>
              </a:rPr>
              <a:t>DOK 3</a:t>
            </a:r>
            <a:endParaRPr lang="en-US" sz="1000" dirty="0"/>
          </a:p>
        </p:txBody>
      </p:sp>
      <p:sp>
        <p:nvSpPr>
          <p:cNvPr id="15" name="Text 13"/>
          <p:cNvSpPr/>
          <p:nvPr/>
        </p:nvSpPr>
        <p:spPr>
          <a:xfrm>
            <a:off x="8092440" y="2377440"/>
            <a:ext cx="3246120" cy="1828800"/>
          </a:xfrm>
          <a:prstGeom prst="rect">
            <a:avLst/>
          </a:prstGeom>
          <a:noFill/>
          <a:ln/>
        </p:spPr>
        <p:txBody>
          <a:bodyPr wrap="square" rtlCol="0" anchor="t"/>
          <a:lstStyle/>
          <a:p>
            <a:pPr indent="0" marL="0">
              <a:lnSpc>
                <a:spcPct val="110000"/>
              </a:lnSpc>
              <a:buNone/>
            </a:pPr>
            <a:r>
              <a:rPr lang="en-US" sz="1350" dirty="0">
                <a:solidFill>
                  <a:srgbClr val="FFFFFF"/>
                </a:solidFill>
                <a:latin typeface="Calibri" pitchFamily="34" charset="0"/>
                <a:ea typeface="Calibri" pitchFamily="34" charset="-122"/>
                <a:cs typeface="Calibri" pitchFamily="34" charset="-120"/>
              </a:rPr>
              <a:t>A policy can claim one goal but cause another. Using the Dawes Act, give the stated goal and one real consequence.</a:t>
            </a:r>
            <a:endParaRPr lang="en-US" sz="1350" dirty="0"/>
          </a:p>
        </p:txBody>
      </p:sp>
      <p:sp>
        <p:nvSpPr>
          <p:cNvPr id="16" name="Shape 14"/>
          <p:cNvSpPr/>
          <p:nvPr/>
        </p:nvSpPr>
        <p:spPr>
          <a:xfrm>
            <a:off x="8138160" y="4526280"/>
            <a:ext cx="3108960" cy="0"/>
          </a:xfrm>
          <a:prstGeom prst="line">
            <a:avLst/>
          </a:prstGeom>
          <a:noFill/>
          <a:ln w="12700">
            <a:solidFill>
              <a:srgbClr val="A7BACB"/>
            </a:solidFill>
            <a:prstDash val="dash"/>
          </a:ln>
        </p:spPr>
        <p:txBody>
          <a:bodyPr/>
          <a:p/>
        </p:txBody>
      </p:sp>
      <p:sp>
        <p:nvSpPr>
          <p:cNvPr id="17" name="Shape 15"/>
          <p:cNvSpPr/>
          <p:nvPr/>
        </p:nvSpPr>
        <p:spPr>
          <a:xfrm>
            <a:off x="8138160" y="5074920"/>
            <a:ext cx="3108960" cy="0"/>
          </a:xfrm>
          <a:prstGeom prst="line">
            <a:avLst/>
          </a:prstGeom>
          <a:noFill/>
          <a:ln w="12700">
            <a:solidFill>
              <a:srgbClr val="A7BACB"/>
            </a:solidFill>
            <a:prstDash val="dash"/>
          </a:ln>
        </p:spPr>
        <p:txBody>
          <a:bodyPr/>
          <a:p/>
        </p:txBody>
      </p:sp>
      <p:sp>
        <p:nvSpPr>
          <p:cNvPr id="18" name="Shape 16"/>
          <p:cNvSpPr/>
          <p:nvPr/>
        </p:nvSpPr>
        <p:spPr>
          <a:xfrm>
            <a:off x="8138160" y="5623560"/>
            <a:ext cx="3108960" cy="0"/>
          </a:xfrm>
          <a:prstGeom prst="line">
            <a:avLst/>
          </a:prstGeom>
          <a:noFill/>
          <a:ln w="12700">
            <a:solidFill>
              <a:srgbClr val="A7BACB"/>
            </a:solidFill>
            <a:prstDash val="dash"/>
          </a:ln>
        </p:spPr>
        <p:txBody>
          <a:bodyPr/>
          <a:p/>
        </p:txBody>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32</a:t>
            </a:r>
            <a:endParaRPr lang="en-US" sz="900" dirty="0"/>
          </a:p>
        </p:txBody>
      </p:sp>
      <p:sp>
        <p:nvSpPr>
          <p:cNvPr id="22" name="Rectangle 21"/>
          <p:cNvSpPr/>
          <p:nvPr/>
        </p:nvSpPr>
        <p:spPr>
          <a:xfrm>
            <a:off x="457200" y="5870448"/>
            <a:ext cx="11274552" cy="512064"/>
          </a:xfrm>
          <a:prstGeom prst="rect">
            <a:avLst/>
          </a:prstGeom>
          <a:solidFill>
            <a:srgbClr val="232F40"/>
          </a:solidFill>
          <a:ln w="12700">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3504" y="5907024"/>
            <a:ext cx="10972800" cy="457200"/>
          </a:xfrm>
          <a:prstGeom prst="rect">
            <a:avLst/>
          </a:prstGeom>
          <a:noFill/>
        </p:spPr>
        <p:txBody>
          <a:bodyPr wrap="square" anchor="t" lIns="0" rIns="0" tIns="0" bIns="0">
            <a:spAutoFit/>
          </a:bodyPr>
          <a:lstStyle/>
          <a:p>
            <a:pPr algn="l">
              <a:spcBef>
                <a:spcPts val="0"/>
              </a:spcBef>
              <a:spcAft>
                <a:spcPts val="0"/>
              </a:spcAft>
            </a:pPr>
            <a:r>
              <a:rPr sz="1000" b="1">
                <a:solidFill>
                  <a:srgbClr val="C9A227"/>
                </a:solidFill>
                <a:latin typeface="Trebuchet MS"/>
              </a:rPr>
              <a:t>TEACHER DECISION BAND   </a:t>
            </a:r>
            <a:r>
              <a:rPr sz="1000" b="0">
                <a:solidFill>
                  <a:srgbClr val="FFFFFF"/>
                </a:solidFill>
                <a:latin typeface="Calibri"/>
              </a:rPr>
              <a:t>PROGRESS CHECK → identify barrier → select support → reteach → recheck → extend</a:t>
            </a:r>
          </a:p>
          <a:p>
            <a:pPr algn="l">
              <a:spcBef>
                <a:spcPts val="0"/>
              </a:spcBef>
              <a:spcAft>
                <a:spcPts val="0"/>
              </a:spcAft>
            </a:pPr>
            <a:r>
              <a:rPr sz="1000" b="1">
                <a:solidFill>
                  <a:srgbClr val="C9A227"/>
                </a:solidFill>
                <a:latin typeface="Trebuchet MS"/>
              </a:rPr>
              <a:t>SCAFFOLD FADING   </a:t>
            </a:r>
            <a:r>
              <a:rPr sz="1000" b="0">
                <a:solidFill>
                  <a:srgbClr val="C7D4E0"/>
                </a:solidFill>
                <a:latin typeface="Calibri"/>
              </a:rPr>
              <a:t>Guided → Light → independent as evidence grows; required IEP/504 supports do not fade unless the authorized team changes them.</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2">
    <p:bg>
      <p:bgPr>
        <a:solidFill>
          <a:srgbClr val="1F3A5F"/>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B22234"/>
          </a:solidFill>
          <a:ln/>
        </p:spPr>
        <p:txBody>
          <a:bodyPr/>
          <a:p/>
        </p:txBody>
      </p:sp>
      <p:sp>
        <p:nvSpPr>
          <p:cNvPr id="3" name="Shape 1"/>
          <p:cNvSpPr/>
          <p:nvPr/>
        </p:nvSpPr>
        <p:spPr>
          <a:xfrm>
            <a:off x="320040" y="0"/>
            <a:ext cx="109728" cy="6858000"/>
          </a:xfrm>
          <a:prstGeom prst="rect">
            <a:avLst/>
          </a:prstGeom>
          <a:solidFill>
            <a:srgbClr val="C9A227"/>
          </a:solidFill>
          <a:ln/>
        </p:spPr>
        <p:txBody>
          <a:bodyPr/>
          <a:p/>
        </p:txBody>
      </p:sp>
      <p:sp>
        <p:nvSpPr>
          <p:cNvPr id="4" name="Text 2"/>
          <p:cNvSpPr/>
          <p:nvPr/>
        </p:nvSpPr>
        <p:spPr>
          <a:xfrm>
            <a:off x="914400" y="1005840"/>
            <a:ext cx="5486400" cy="365760"/>
          </a:xfrm>
          <a:prstGeom prst="rect">
            <a:avLst/>
          </a:prstGeom>
          <a:noFill/>
          <a:ln/>
        </p:spPr>
        <p:txBody>
          <a:bodyPr wrap="square" rtlCol="0" anchor="ctr"/>
          <a:lstStyle/>
          <a:p>
            <a:pPr indent="0" marL="0">
              <a:buNone/>
            </a:pPr>
            <a:r>
              <a:rPr lang="en-US" sz="1500" b="1" spc="400" kern="0" dirty="0">
                <a:solidFill>
                  <a:srgbClr val="F9A825"/>
                </a:solidFill>
                <a:latin typeface="Trebuchet MS" pitchFamily="34" charset="0"/>
                <a:ea typeface="Trebuchet MS" pitchFamily="34" charset="-122"/>
                <a:cs typeface="Trebuchet MS" pitchFamily="34" charset="-120"/>
              </a:rPr>
              <a:t>STANDARD</a:t>
            </a:r>
            <a:endParaRPr lang="en-US" sz="1500" dirty="0"/>
          </a:p>
        </p:txBody>
      </p:sp>
      <p:sp>
        <p:nvSpPr>
          <p:cNvPr id="5" name="Text 3"/>
          <p:cNvSpPr/>
          <p:nvPr/>
        </p:nvSpPr>
        <p:spPr>
          <a:xfrm>
            <a:off x="868680" y="1325880"/>
            <a:ext cx="5486400" cy="1371600"/>
          </a:xfrm>
          <a:prstGeom prst="rect">
            <a:avLst/>
          </a:prstGeom>
          <a:noFill/>
          <a:ln/>
        </p:spPr>
        <p:txBody>
          <a:bodyPr wrap="square" rtlCol="0" anchor="ctr"/>
          <a:lstStyle/>
          <a:p>
            <a:pPr indent="0" marL="0">
              <a:buNone/>
            </a:pPr>
            <a:r>
              <a:rPr lang="en-US" sz="8800" b="1" dirty="0">
                <a:solidFill>
                  <a:srgbClr val="FFFFFF"/>
                </a:solidFill>
                <a:latin typeface="Georgia" pitchFamily="34" charset="0"/>
                <a:ea typeface="Georgia" pitchFamily="34" charset="-122"/>
                <a:cs typeface="Georgia" pitchFamily="34" charset="-120"/>
              </a:rPr>
              <a:t>US.03</a:t>
            </a:r>
            <a:endParaRPr lang="en-US" sz="8800" dirty="0"/>
          </a:p>
        </p:txBody>
      </p:sp>
      <p:sp>
        <p:nvSpPr>
          <p:cNvPr id="6" name="Text 4"/>
          <p:cNvSpPr/>
          <p:nvPr/>
        </p:nvSpPr>
        <p:spPr>
          <a:xfrm>
            <a:off x="914400" y="2670048"/>
            <a:ext cx="5577840" cy="1234440"/>
          </a:xfrm>
          <a:prstGeom prst="rect">
            <a:avLst/>
          </a:prstGeom>
          <a:noFill/>
          <a:ln/>
        </p:spPr>
        <p:txBody>
          <a:bodyPr wrap="square" rtlCol="0" anchor="t"/>
          <a:lstStyle/>
          <a:p>
            <a:pPr indent="0" marL="0">
              <a:lnSpc>
                <a:spcPct val="102000"/>
              </a:lnSpc>
              <a:buNone/>
            </a:pPr>
            <a:r>
              <a:rPr lang="en-US" sz="2200" i="1" dirty="0">
                <a:solidFill>
                  <a:srgbClr val="F9A825"/>
                </a:solidFill>
                <a:latin typeface="Georgia" pitchFamily="34" charset="0"/>
                <a:ea typeface="Georgia" pitchFamily="34" charset="-122"/>
                <a:cs typeface="Georgia" pitchFamily="34" charset="-120"/>
              </a:rPr>
              <a:t>Compromise of 1877, Jim Crow &amp; Plessy v. Ferguson</a:t>
            </a:r>
            <a:endParaRPr lang="en-US" sz="2200" dirty="0"/>
          </a:p>
        </p:txBody>
      </p:sp>
      <p:sp>
        <p:nvSpPr>
          <p:cNvPr id="7" name="Text 5"/>
          <p:cNvSpPr/>
          <p:nvPr/>
        </p:nvSpPr>
        <p:spPr>
          <a:xfrm>
            <a:off x="6812280" y="1078992"/>
            <a:ext cx="4480560" cy="274320"/>
          </a:xfrm>
          <a:prstGeom prst="rect">
            <a:avLst/>
          </a:prstGeom>
          <a:noFill/>
          <a:ln/>
        </p:spPr>
        <p:txBody>
          <a:bodyPr wrap="square" rtlCol="0" anchor="ctr"/>
          <a:lstStyle/>
          <a:p>
            <a:pPr algn="l" indent="0" marL="0">
              <a:buNone/>
            </a:pPr>
            <a:r>
              <a:rPr lang="en-US" sz="1100" b="1" spc="200" kern="0" dirty="0">
                <a:solidFill>
                  <a:srgbClr val="A7BACB"/>
                </a:solidFill>
                <a:latin typeface="Trebuchet MS" pitchFamily="34" charset="0"/>
                <a:ea typeface="Trebuchet MS" pitchFamily="34" charset="-122"/>
                <a:cs typeface="Trebuchet MS" pitchFamily="34" charset="-120"/>
              </a:rPr>
              <a:t>SOCIAL STUDIES PRACTICES</a:t>
            </a:r>
            <a:endParaRPr lang="en-US" sz="1100" dirty="0"/>
          </a:p>
        </p:txBody>
      </p:sp>
      <p:sp>
        <p:nvSpPr>
          <p:cNvPr id="8" name="Shape 6"/>
          <p:cNvSpPr/>
          <p:nvPr/>
        </p:nvSpPr>
        <p:spPr>
          <a:xfrm>
            <a:off x="6812280" y="1417320"/>
            <a:ext cx="1078992" cy="292608"/>
          </a:xfrm>
          <a:prstGeom prst="roundRect">
            <a:avLst>
              <a:gd name="adj" fmla="val 18750"/>
            </a:avLst>
          </a:prstGeom>
          <a:solidFill>
            <a:srgbClr val="C9A227"/>
          </a:solidFill>
          <a:ln/>
        </p:spPr>
        <p:txBody>
          <a:bodyPr/>
          <a:p/>
        </p:txBody>
      </p:sp>
      <p:sp>
        <p:nvSpPr>
          <p:cNvPr id="9" name="Text 7"/>
          <p:cNvSpPr/>
          <p:nvPr/>
        </p:nvSpPr>
        <p:spPr>
          <a:xfrm>
            <a:off x="6812280" y="1417320"/>
            <a:ext cx="1078992" cy="292608"/>
          </a:xfrm>
          <a:prstGeom prst="rect">
            <a:avLst/>
          </a:prstGeom>
          <a:noFill/>
          <a:ln/>
        </p:spPr>
        <p:txBody>
          <a:bodyPr wrap="square" rtlCol="0" anchor="ctr"/>
          <a:lstStyle/>
          <a:p>
            <a:pPr algn="ctr" indent="0" marL="0">
              <a:buNone/>
            </a:pPr>
            <a:r>
              <a:rPr lang="en-US" sz="1100" b="1" dirty="0">
                <a:solidFill>
                  <a:srgbClr val="1F3A5F"/>
                </a:solidFill>
                <a:latin typeface="Trebuchet MS" pitchFamily="34" charset="0"/>
                <a:ea typeface="Trebuchet MS" pitchFamily="34" charset="-122"/>
                <a:cs typeface="Trebuchet MS" pitchFamily="34" charset="-120"/>
              </a:rPr>
              <a:t>SSP.01</a:t>
            </a:r>
            <a:endParaRPr lang="en-US" sz="1100" dirty="0"/>
          </a:p>
        </p:txBody>
      </p:sp>
      <p:sp>
        <p:nvSpPr>
          <p:cNvPr id="10" name="Text 8"/>
          <p:cNvSpPr/>
          <p:nvPr/>
        </p:nvSpPr>
        <p:spPr>
          <a:xfrm>
            <a:off x="7973568" y="1417320"/>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Collect sources</a:t>
            </a:r>
            <a:endParaRPr lang="en-US" sz="1150" dirty="0"/>
          </a:p>
        </p:txBody>
      </p:sp>
      <p:sp>
        <p:nvSpPr>
          <p:cNvPr id="11" name="Shape 9"/>
          <p:cNvSpPr/>
          <p:nvPr/>
        </p:nvSpPr>
        <p:spPr>
          <a:xfrm>
            <a:off x="6812280" y="1755648"/>
            <a:ext cx="1078992" cy="292608"/>
          </a:xfrm>
          <a:prstGeom prst="roundRect">
            <a:avLst>
              <a:gd name="adj" fmla="val 18750"/>
            </a:avLst>
          </a:prstGeom>
          <a:solidFill>
            <a:srgbClr val="C9A227"/>
          </a:solidFill>
          <a:ln/>
        </p:spPr>
        <p:txBody>
          <a:bodyPr/>
          <a:p/>
        </p:txBody>
      </p:sp>
      <p:sp>
        <p:nvSpPr>
          <p:cNvPr id="12" name="Text 10"/>
          <p:cNvSpPr/>
          <p:nvPr/>
        </p:nvSpPr>
        <p:spPr>
          <a:xfrm>
            <a:off x="6812280" y="1755648"/>
            <a:ext cx="1078992" cy="292608"/>
          </a:xfrm>
          <a:prstGeom prst="rect">
            <a:avLst/>
          </a:prstGeom>
          <a:noFill/>
          <a:ln/>
        </p:spPr>
        <p:txBody>
          <a:bodyPr wrap="square" rtlCol="0" anchor="ctr"/>
          <a:lstStyle/>
          <a:p>
            <a:pPr algn="ctr" indent="0" marL="0">
              <a:buNone/>
            </a:pPr>
            <a:r>
              <a:rPr lang="en-US" sz="1100" b="1" dirty="0">
                <a:solidFill>
                  <a:srgbClr val="1F3A5F"/>
                </a:solidFill>
                <a:latin typeface="Trebuchet MS" pitchFamily="34" charset="0"/>
                <a:ea typeface="Trebuchet MS" pitchFamily="34" charset="-122"/>
                <a:cs typeface="Trebuchet MS" pitchFamily="34" charset="-120"/>
              </a:rPr>
              <a:t>SSP.02</a:t>
            </a:r>
            <a:endParaRPr lang="en-US" sz="1100" dirty="0"/>
          </a:p>
        </p:txBody>
      </p:sp>
      <p:sp>
        <p:nvSpPr>
          <p:cNvPr id="13" name="Text 11"/>
          <p:cNvSpPr/>
          <p:nvPr/>
        </p:nvSpPr>
        <p:spPr>
          <a:xfrm>
            <a:off x="7973568" y="1755648"/>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Examine a source</a:t>
            </a:r>
            <a:endParaRPr lang="en-US" sz="1150" dirty="0"/>
          </a:p>
        </p:txBody>
      </p:sp>
      <p:sp>
        <p:nvSpPr>
          <p:cNvPr id="14" name="Shape 12"/>
          <p:cNvSpPr/>
          <p:nvPr/>
        </p:nvSpPr>
        <p:spPr>
          <a:xfrm>
            <a:off x="6812280" y="2093976"/>
            <a:ext cx="1078992" cy="292608"/>
          </a:xfrm>
          <a:prstGeom prst="roundRect">
            <a:avLst>
              <a:gd name="adj" fmla="val 18750"/>
            </a:avLst>
          </a:prstGeom>
          <a:solidFill>
            <a:srgbClr val="C9A227"/>
          </a:solidFill>
          <a:ln/>
        </p:spPr>
        <p:txBody>
          <a:bodyPr/>
          <a:p/>
        </p:txBody>
      </p:sp>
      <p:sp>
        <p:nvSpPr>
          <p:cNvPr id="15" name="Text 13"/>
          <p:cNvSpPr/>
          <p:nvPr/>
        </p:nvSpPr>
        <p:spPr>
          <a:xfrm>
            <a:off x="6812280" y="2093976"/>
            <a:ext cx="1078992" cy="292608"/>
          </a:xfrm>
          <a:prstGeom prst="rect">
            <a:avLst/>
          </a:prstGeom>
          <a:noFill/>
          <a:ln/>
        </p:spPr>
        <p:txBody>
          <a:bodyPr wrap="square" rtlCol="0" anchor="ctr"/>
          <a:lstStyle/>
          <a:p>
            <a:pPr algn="ctr" indent="0" marL="0">
              <a:buNone/>
            </a:pPr>
            <a:r>
              <a:rPr lang="en-US" sz="1100" b="1" dirty="0">
                <a:solidFill>
                  <a:srgbClr val="1F3A5F"/>
                </a:solidFill>
                <a:latin typeface="Trebuchet MS" pitchFamily="34" charset="0"/>
                <a:ea typeface="Trebuchet MS" pitchFamily="34" charset="-122"/>
                <a:cs typeface="Trebuchet MS" pitchFamily="34" charset="-120"/>
              </a:rPr>
              <a:t>SSP.03</a:t>
            </a:r>
            <a:endParaRPr lang="en-US" sz="1100" dirty="0"/>
          </a:p>
        </p:txBody>
      </p:sp>
      <p:sp>
        <p:nvSpPr>
          <p:cNvPr id="16" name="Text 14"/>
          <p:cNvSpPr/>
          <p:nvPr/>
        </p:nvSpPr>
        <p:spPr>
          <a:xfrm>
            <a:off x="7973568" y="2093976"/>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Synthesize sources</a:t>
            </a:r>
            <a:endParaRPr lang="en-US" sz="1150" dirty="0"/>
          </a:p>
        </p:txBody>
      </p:sp>
      <p:sp>
        <p:nvSpPr>
          <p:cNvPr id="17" name="Shape 15"/>
          <p:cNvSpPr/>
          <p:nvPr/>
        </p:nvSpPr>
        <p:spPr>
          <a:xfrm>
            <a:off x="6812280" y="2432304"/>
            <a:ext cx="1078992" cy="292608"/>
          </a:xfrm>
          <a:prstGeom prst="roundRect">
            <a:avLst>
              <a:gd name="adj" fmla="val 18750"/>
            </a:avLst>
          </a:prstGeom>
          <a:solidFill>
            <a:srgbClr val="C9A227"/>
          </a:solidFill>
          <a:ln/>
        </p:spPr>
        <p:txBody>
          <a:bodyPr/>
          <a:p/>
        </p:txBody>
      </p:sp>
      <p:sp>
        <p:nvSpPr>
          <p:cNvPr id="18" name="Text 16"/>
          <p:cNvSpPr/>
          <p:nvPr/>
        </p:nvSpPr>
        <p:spPr>
          <a:xfrm>
            <a:off x="6812280" y="2432304"/>
            <a:ext cx="1078992" cy="292608"/>
          </a:xfrm>
          <a:prstGeom prst="rect">
            <a:avLst/>
          </a:prstGeom>
          <a:noFill/>
          <a:ln/>
        </p:spPr>
        <p:txBody>
          <a:bodyPr wrap="square" rtlCol="0" anchor="ctr"/>
          <a:lstStyle/>
          <a:p>
            <a:pPr algn="ctr" indent="0" marL="0">
              <a:buNone/>
            </a:pPr>
            <a:r>
              <a:rPr lang="en-US" sz="1100" b="1" dirty="0">
                <a:solidFill>
                  <a:srgbClr val="1F3A5F"/>
                </a:solidFill>
                <a:latin typeface="Trebuchet MS" pitchFamily="34" charset="0"/>
                <a:ea typeface="Trebuchet MS" pitchFamily="34" charset="-122"/>
                <a:cs typeface="Trebuchet MS" pitchFamily="34" charset="-120"/>
              </a:rPr>
              <a:t>SSP.04</a:t>
            </a:r>
            <a:endParaRPr lang="en-US" sz="1100" dirty="0"/>
          </a:p>
        </p:txBody>
      </p:sp>
      <p:sp>
        <p:nvSpPr>
          <p:cNvPr id="19" name="Text 17"/>
          <p:cNvSpPr/>
          <p:nvPr/>
        </p:nvSpPr>
        <p:spPr>
          <a:xfrm>
            <a:off x="7973568" y="2432304"/>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Build an argument</a:t>
            </a:r>
            <a:endParaRPr lang="en-US" sz="1150" dirty="0"/>
          </a:p>
        </p:txBody>
      </p:sp>
      <p:sp>
        <p:nvSpPr>
          <p:cNvPr id="20" name="Shape 18"/>
          <p:cNvSpPr/>
          <p:nvPr/>
        </p:nvSpPr>
        <p:spPr>
          <a:xfrm>
            <a:off x="6812280" y="2770632"/>
            <a:ext cx="1078992" cy="292608"/>
          </a:xfrm>
          <a:prstGeom prst="roundRect">
            <a:avLst>
              <a:gd name="adj" fmla="val 18750"/>
            </a:avLst>
          </a:prstGeom>
          <a:solidFill>
            <a:srgbClr val="C9A227"/>
          </a:solidFill>
          <a:ln/>
        </p:spPr>
        <p:txBody>
          <a:bodyPr/>
          <a:p/>
        </p:txBody>
      </p:sp>
      <p:sp>
        <p:nvSpPr>
          <p:cNvPr id="21" name="Text 19"/>
          <p:cNvSpPr/>
          <p:nvPr/>
        </p:nvSpPr>
        <p:spPr>
          <a:xfrm>
            <a:off x="6812280" y="2770632"/>
            <a:ext cx="1078992" cy="292608"/>
          </a:xfrm>
          <a:prstGeom prst="rect">
            <a:avLst/>
          </a:prstGeom>
          <a:noFill/>
          <a:ln/>
        </p:spPr>
        <p:txBody>
          <a:bodyPr wrap="square" rtlCol="0" anchor="ctr"/>
          <a:lstStyle/>
          <a:p>
            <a:pPr algn="ctr" indent="0" marL="0">
              <a:buNone/>
            </a:pPr>
            <a:r>
              <a:rPr lang="en-US" sz="1100" b="1" dirty="0">
                <a:solidFill>
                  <a:srgbClr val="1F3A5F"/>
                </a:solidFill>
                <a:latin typeface="Trebuchet MS" pitchFamily="34" charset="0"/>
                <a:ea typeface="Trebuchet MS" pitchFamily="34" charset="-122"/>
                <a:cs typeface="Trebuchet MS" pitchFamily="34" charset="-120"/>
              </a:rPr>
              <a:t>SSP.05</a:t>
            </a:r>
            <a:endParaRPr lang="en-US" sz="1100" dirty="0"/>
          </a:p>
        </p:txBody>
      </p:sp>
      <p:sp>
        <p:nvSpPr>
          <p:cNvPr id="22" name="Text 20"/>
          <p:cNvSpPr/>
          <p:nvPr/>
        </p:nvSpPr>
        <p:spPr>
          <a:xfrm>
            <a:off x="7973568" y="2770632"/>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Historical awareness</a:t>
            </a:r>
            <a:endParaRPr lang="en-US" sz="1150" dirty="0"/>
          </a:p>
        </p:txBody>
      </p:sp>
      <p:sp>
        <p:nvSpPr>
          <p:cNvPr id="23" name="Shape 21"/>
          <p:cNvSpPr/>
          <p:nvPr/>
        </p:nvSpPr>
        <p:spPr>
          <a:xfrm>
            <a:off x="914400" y="3794760"/>
            <a:ext cx="10332720" cy="1207008"/>
          </a:xfrm>
          <a:prstGeom prst="roundRect">
            <a:avLst>
              <a:gd name="adj" fmla="val 6061"/>
            </a:avLst>
          </a:prstGeom>
          <a:solidFill>
            <a:srgbClr val="243047"/>
          </a:solidFill>
          <a:ln w="9525">
            <a:solidFill>
              <a:srgbClr val="A7BACB"/>
            </a:solidFill>
            <a:prstDash val="solid"/>
          </a:ln>
        </p:spPr>
        <p:txBody>
          <a:bodyPr/>
          <a:p/>
        </p:txBody>
      </p:sp>
      <p:sp>
        <p:nvSpPr>
          <p:cNvPr id="24" name="Text 22"/>
          <p:cNvSpPr/>
          <p:nvPr/>
        </p:nvSpPr>
        <p:spPr>
          <a:xfrm>
            <a:off x="1143000" y="3913632"/>
            <a:ext cx="5486400" cy="274320"/>
          </a:xfrm>
          <a:prstGeom prst="rect">
            <a:avLst/>
          </a:prstGeom>
          <a:noFill/>
          <a:ln/>
        </p:spPr>
        <p:txBody>
          <a:bodyPr wrap="square" rtlCol="0" anchor="ctr"/>
          <a:lstStyle/>
          <a:p>
            <a:pPr indent="0" marL="0">
              <a:buNone/>
            </a:pPr>
            <a:r>
              <a:rPr lang="en-US" sz="1100" b="1" spc="200" kern="0" dirty="0">
                <a:solidFill>
                  <a:srgbClr val="A7BACB"/>
                </a:solidFill>
                <a:latin typeface="Trebuchet MS" pitchFamily="34" charset="0"/>
                <a:ea typeface="Trebuchet MS" pitchFamily="34" charset="-122"/>
                <a:cs typeface="Trebuchet MS" pitchFamily="34" charset="-120"/>
              </a:rPr>
              <a:t>TN ACADEMIC STANDARD</a:t>
            </a:r>
            <a:endParaRPr lang="en-US" sz="1100" dirty="0"/>
          </a:p>
        </p:txBody>
      </p:sp>
      <p:sp>
        <p:nvSpPr>
          <p:cNvPr id="25" name="Text 23"/>
          <p:cNvSpPr/>
          <p:nvPr/>
        </p:nvSpPr>
        <p:spPr>
          <a:xfrm>
            <a:off x="1143000" y="4206240"/>
            <a:ext cx="9875520" cy="749808"/>
          </a:xfrm>
          <a:prstGeom prst="rect">
            <a:avLst/>
          </a:prstGeom>
          <a:noFill/>
          <a:ln/>
        </p:spPr>
        <p:txBody>
          <a:bodyPr wrap="square" rtlCol="0" anchor="t"/>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Explain the impact of the Compromise of 1877, including Jim Crow laws, lynching, disenfranchisement methods, the efforts of Benjamin "Pap" Singleton and the Exodusters, and the Plessy v. Ferguson decision. (TCA)</a:t>
            </a:r>
            <a:endParaRPr lang="en-US" sz="1300" dirty="0"/>
          </a:p>
        </p:txBody>
      </p:sp>
      <p:sp>
        <p:nvSpPr>
          <p:cNvPr id="26" name="Shape 24"/>
          <p:cNvSpPr/>
          <p:nvPr/>
        </p:nvSpPr>
        <p:spPr>
          <a:xfrm>
            <a:off x="914400" y="5120640"/>
            <a:ext cx="10332720" cy="1188720"/>
          </a:xfrm>
          <a:prstGeom prst="roundRect">
            <a:avLst>
              <a:gd name="adj" fmla="val 6154"/>
            </a:avLst>
          </a:prstGeom>
          <a:solidFill>
            <a:srgbClr val="C9A227"/>
          </a:solidFill>
          <a:ln/>
        </p:spPr>
        <p:txBody>
          <a:bodyPr/>
          <a:p/>
        </p:txBody>
      </p:sp>
      <p:sp>
        <p:nvSpPr>
          <p:cNvPr id="27" name="Text 25"/>
          <p:cNvSpPr/>
          <p:nvPr/>
        </p:nvSpPr>
        <p:spPr>
          <a:xfrm>
            <a:off x="1143000" y="5230368"/>
            <a:ext cx="1828800" cy="292608"/>
          </a:xfrm>
          <a:prstGeom prst="rect">
            <a:avLst/>
          </a:prstGeom>
          <a:noFill/>
          <a:ln/>
        </p:spPr>
        <p:txBody>
          <a:bodyPr wrap="square" rtlCol="0" anchor="ctr"/>
          <a:lstStyle/>
          <a:p>
            <a:pPr indent="0" marL="0">
              <a:buNone/>
            </a:pPr>
            <a:r>
              <a:rPr lang="en-US" sz="1300" b="1" spc="200" kern="0" dirty="0">
                <a:solidFill>
                  <a:srgbClr val="1F3A5F"/>
                </a:solidFill>
                <a:latin typeface="Trebuchet MS" pitchFamily="34" charset="0"/>
                <a:ea typeface="Trebuchet MS" pitchFamily="34" charset="-122"/>
                <a:cs typeface="Trebuchet MS" pitchFamily="34" charset="-120"/>
              </a:rPr>
              <a:t>I CAN</a:t>
            </a:r>
            <a:endParaRPr lang="en-US" sz="1300" dirty="0"/>
          </a:p>
        </p:txBody>
      </p:sp>
      <p:sp>
        <p:nvSpPr>
          <p:cNvPr id="28" name="Text 26"/>
          <p:cNvSpPr/>
          <p:nvPr/>
        </p:nvSpPr>
        <p:spPr>
          <a:xfrm>
            <a:off x="1143000" y="5504688"/>
            <a:ext cx="9875520" cy="749808"/>
          </a:xfrm>
          <a:prstGeom prst="rect">
            <a:avLst/>
          </a:prstGeom>
          <a:noFill/>
          <a:ln/>
        </p:spPr>
        <p:txBody>
          <a:bodyPr wrap="square" rtlCol="0" anchor="t"/>
          <a:lstStyle/>
          <a:p>
            <a:pPr indent="0" marL="0">
              <a:lnSpc>
                <a:spcPct val="100000"/>
              </a:lnSpc>
              <a:buNone/>
            </a:pPr>
            <a:r>
              <a:rPr lang="en-US" sz="1250" b="1" dirty="0">
                <a:solidFill>
                  <a:srgbClr val="1F3A5F"/>
                </a:solidFill>
                <a:latin typeface="Calibri" pitchFamily="34" charset="0"/>
                <a:ea typeface="Calibri" pitchFamily="34" charset="-122"/>
                <a:cs typeface="Calibri" pitchFamily="34" charset="-120"/>
              </a:rPr>
              <a:t>I can explain the impact of the Compromise of 1877, including Jim Crow laws, lynching, disenfranchisement methods, the efforts of Benjamin "Pap" Singleton and the Exodusters, and the Plessy v. Ferguson decision.</a:t>
            </a:r>
            <a:endParaRPr lang="en-US" sz="1250" dirty="0"/>
          </a:p>
        </p:txBody>
      </p:sp>
      <p:sp>
        <p:nvSpPr>
          <p:cNvPr id="29" name="Text 27"/>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0" name="Text 2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3">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227"/>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B22234"/>
                </a:solidFill>
                <a:latin typeface="Trebuchet MS" pitchFamily="34" charset="0"/>
                <a:ea typeface="Trebuchet MS" pitchFamily="34" charset="-122"/>
                <a:cs typeface="Trebuchet MS" pitchFamily="34" charset="-120"/>
              </a:rPr>
              <a:t>US.03 · QUICK REVIEW</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F3A5F"/>
                </a:solidFill>
                <a:latin typeface="Georgia" pitchFamily="34" charset="0"/>
                <a:ea typeface="Georgia" pitchFamily="34" charset="-122"/>
                <a:cs typeface="Georgia" pitchFamily="34" charset="-120"/>
              </a:rPr>
              <a:t>Do You Remember?</a:t>
            </a:r>
            <a:endParaRPr lang="en-US" sz="3000" dirty="0"/>
          </a:p>
        </p:txBody>
      </p:sp>
      <p:sp>
        <p:nvSpPr>
          <p:cNvPr id="5" name="Text 3"/>
          <p:cNvSpPr/>
          <p:nvPr/>
        </p:nvSpPr>
        <p:spPr>
          <a:xfrm>
            <a:off x="548640" y="141732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Before we start, retrieve what we have already learned. Answer from memory first — no notes.</a:t>
            </a:r>
            <a:endParaRPr lang="en-US" sz="1400" dirty="0"/>
          </a:p>
        </p:txBody>
      </p:sp>
      <p:sp>
        <p:nvSpPr>
          <p:cNvPr id="6" name="Shape 4"/>
          <p:cNvSpPr/>
          <p:nvPr/>
        </p:nvSpPr>
        <p:spPr>
          <a:xfrm>
            <a:off x="548640" y="2057400"/>
            <a:ext cx="11064240" cy="1234440"/>
          </a:xfrm>
          <a:prstGeom prst="rect">
            <a:avLst/>
          </a:prstGeom>
          <a:solidFill>
            <a:srgbClr val="FFFFFF"/>
          </a:solidFill>
          <a:ln w="12700">
            <a:solidFill>
              <a:srgbClr val="DAD3C2"/>
            </a:solidFill>
            <a:prstDash val="solid"/>
          </a:ln>
        </p:spPr>
        <p:txBody>
          <a:bodyPr/>
          <a:p/>
        </p:txBody>
      </p:sp>
      <p:sp>
        <p:nvSpPr>
          <p:cNvPr id="7" name="Shape 5"/>
          <p:cNvSpPr/>
          <p:nvPr/>
        </p:nvSpPr>
        <p:spPr>
          <a:xfrm>
            <a:off x="548640" y="2057400"/>
            <a:ext cx="777240" cy="1234440"/>
          </a:xfrm>
          <a:prstGeom prst="rect">
            <a:avLst/>
          </a:prstGeom>
          <a:solidFill>
            <a:srgbClr val="1F3A5F"/>
          </a:solidFill>
          <a:ln/>
        </p:spPr>
        <p:txBody>
          <a:bodyPr/>
          <a:p/>
        </p:txBody>
      </p:sp>
      <p:sp>
        <p:nvSpPr>
          <p:cNvPr id="8" name="Text 6"/>
          <p:cNvSpPr/>
          <p:nvPr/>
        </p:nvSpPr>
        <p:spPr>
          <a:xfrm>
            <a:off x="548640" y="2057400"/>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1</a:t>
            </a:r>
            <a:endParaRPr lang="en-US" sz="2000" dirty="0"/>
          </a:p>
        </p:txBody>
      </p:sp>
      <p:sp>
        <p:nvSpPr>
          <p:cNvPr id="9" name="Text 7"/>
          <p:cNvSpPr/>
          <p:nvPr/>
        </p:nvSpPr>
        <p:spPr>
          <a:xfrm>
            <a:off x="1508760" y="2057400"/>
            <a:ext cx="9966960" cy="1234440"/>
          </a:xfrm>
          <a:prstGeom prst="rect">
            <a:avLst/>
          </a:prstGeom>
          <a:noFill/>
          <a:ln/>
        </p:spPr>
        <p:txBody>
          <a:bodyPr wrap="square" rtlCol="0" anchor="ctr"/>
          <a:lstStyle/>
          <a:p>
            <a:pPr indent="0" marL="0">
              <a:lnSpc>
                <a:spcPct val="104000"/>
              </a:lnSpc>
              <a:buNone/>
            </a:pPr>
            <a:r>
              <a:rPr lang="en-US" sz="1350" b="1" dirty="0">
                <a:solidFill>
                  <a:srgbClr val="B22234"/>
                </a:solidFill>
                <a:latin typeface="Calibri" pitchFamily="34" charset="0"/>
                <a:ea typeface="Calibri" pitchFamily="34" charset="-122"/>
                <a:cs typeface="Calibri" pitchFamily="34" charset="-120"/>
              </a:rPr>
              <a:t>US.02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What was the main effect of the Dawes Act on tribal land?</a:t>
            </a:r>
            <a:endParaRPr lang="en-US" sz="1350" dirty="0"/>
          </a:p>
        </p:txBody>
      </p:sp>
      <p:sp>
        <p:nvSpPr>
          <p:cNvPr id="10" name="Shape 8"/>
          <p:cNvSpPr/>
          <p:nvPr/>
        </p:nvSpPr>
        <p:spPr>
          <a:xfrm>
            <a:off x="548640" y="3456432"/>
            <a:ext cx="11064240" cy="1234440"/>
          </a:xfrm>
          <a:prstGeom prst="rect">
            <a:avLst/>
          </a:prstGeom>
          <a:solidFill>
            <a:srgbClr val="FFFFFF"/>
          </a:solidFill>
          <a:ln w="12700">
            <a:solidFill>
              <a:srgbClr val="DAD3C2"/>
            </a:solidFill>
            <a:prstDash val="solid"/>
          </a:ln>
        </p:spPr>
        <p:txBody>
          <a:bodyPr/>
          <a:p/>
        </p:txBody>
      </p:sp>
      <p:sp>
        <p:nvSpPr>
          <p:cNvPr id="11" name="Shape 9"/>
          <p:cNvSpPr/>
          <p:nvPr/>
        </p:nvSpPr>
        <p:spPr>
          <a:xfrm>
            <a:off x="548640" y="3456432"/>
            <a:ext cx="777240" cy="1234440"/>
          </a:xfrm>
          <a:prstGeom prst="rect">
            <a:avLst/>
          </a:prstGeom>
          <a:solidFill>
            <a:srgbClr val="1F3A5F"/>
          </a:solidFill>
          <a:ln/>
        </p:spPr>
        <p:txBody>
          <a:bodyPr/>
          <a:p/>
        </p:txBody>
      </p:sp>
      <p:sp>
        <p:nvSpPr>
          <p:cNvPr id="12" name="Text 10"/>
          <p:cNvSpPr/>
          <p:nvPr/>
        </p:nvSpPr>
        <p:spPr>
          <a:xfrm>
            <a:off x="548640" y="3456432"/>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2</a:t>
            </a:r>
            <a:endParaRPr lang="en-US" sz="2000" dirty="0"/>
          </a:p>
        </p:txBody>
      </p:sp>
      <p:sp>
        <p:nvSpPr>
          <p:cNvPr id="13" name="Text 11"/>
          <p:cNvSpPr/>
          <p:nvPr/>
        </p:nvSpPr>
        <p:spPr>
          <a:xfrm>
            <a:off x="1508760" y="3456432"/>
            <a:ext cx="9966960" cy="1234440"/>
          </a:xfrm>
          <a:prstGeom prst="rect">
            <a:avLst/>
          </a:prstGeom>
          <a:noFill/>
          <a:ln/>
        </p:spPr>
        <p:txBody>
          <a:bodyPr wrap="square" rtlCol="0" anchor="ctr"/>
          <a:lstStyle/>
          <a:p>
            <a:pPr indent="0" marL="0">
              <a:lnSpc>
                <a:spcPct val="104000"/>
              </a:lnSpc>
              <a:buNone/>
            </a:pPr>
            <a:r>
              <a:rPr lang="en-US" sz="1350" b="1" dirty="0">
                <a:solidFill>
                  <a:srgbClr val="B22234"/>
                </a:solidFill>
                <a:latin typeface="Calibri" pitchFamily="34" charset="0"/>
                <a:ea typeface="Calibri" pitchFamily="34" charset="-122"/>
                <a:cs typeface="Calibri" pitchFamily="34" charset="-120"/>
              </a:rPr>
              <a:t>US.01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What does “reservation” mean?</a:t>
            </a:r>
            <a:endParaRPr lang="en-US" sz="135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4">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227"/>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B22234"/>
                </a:solidFill>
                <a:latin typeface="Trebuchet MS" pitchFamily="34" charset="0"/>
                <a:ea typeface="Trebuchet MS" pitchFamily="34" charset="-122"/>
                <a:cs typeface="Trebuchet MS" pitchFamily="34" charset="-120"/>
              </a:rPr>
              <a:t>US.03 · CONFIDENCE CHECK</a:t>
            </a:r>
            <a:endParaRPr lang="en-US" sz="1200" dirty="0"/>
          </a:p>
        </p:txBody>
      </p:sp>
      <p:sp>
        <p:nvSpPr>
          <p:cNvPr id="4" name="Text 2"/>
          <p:cNvSpPr/>
          <p:nvPr/>
        </p:nvSpPr>
        <p:spPr>
          <a:xfrm>
            <a:off x="548640" y="731520"/>
            <a:ext cx="7863840" cy="640080"/>
          </a:xfrm>
          <a:prstGeom prst="rect">
            <a:avLst/>
          </a:prstGeom>
          <a:noFill/>
          <a:ln/>
        </p:spPr>
        <p:txBody>
          <a:bodyPr wrap="square" rtlCol="0" anchor="ctr"/>
          <a:lstStyle/>
          <a:p>
            <a:pPr indent="0" marL="0">
              <a:buNone/>
            </a:pPr>
            <a:r>
              <a:rPr lang="en-US" sz="3000" b="1" dirty="0">
                <a:solidFill>
                  <a:srgbClr val="1F3A5F"/>
                </a:solidFill>
                <a:latin typeface="Georgia" pitchFamily="34" charset="0"/>
                <a:ea typeface="Georgia" pitchFamily="34" charset="-122"/>
                <a:cs typeface="Georgia" pitchFamily="34" charset="-120"/>
              </a:rPr>
              <a:t>Warm-Up — Quick Recall</a:t>
            </a:r>
            <a:endParaRPr lang="en-US" sz="3000" dirty="0"/>
          </a:p>
        </p:txBody>
      </p:sp>
      <p:sp>
        <p:nvSpPr>
          <p:cNvPr id="5" name="Shape 3"/>
          <p:cNvSpPr/>
          <p:nvPr/>
        </p:nvSpPr>
        <p:spPr>
          <a:xfrm>
            <a:off x="8686800" y="786384"/>
            <a:ext cx="1143000" cy="457200"/>
          </a:xfrm>
          <a:prstGeom prst="roundRect">
            <a:avLst>
              <a:gd name="adj" fmla="val 20000"/>
            </a:avLst>
          </a:prstGeom>
          <a:solidFill>
            <a:srgbClr val="FBEFD0"/>
          </a:solidFill>
          <a:ln w="15875">
            <a:solidFill>
              <a:srgbClr val="C9A227"/>
            </a:solidFill>
            <a:prstDash val="solid"/>
          </a:ln>
        </p:spPr>
        <p:txBody>
          <a:bodyPr/>
          <a:p/>
        </p:txBody>
      </p:sp>
      <p:sp>
        <p:nvSpPr>
          <p:cNvPr id="6" name="Text 4"/>
          <p:cNvSpPr/>
          <p:nvPr/>
        </p:nvSpPr>
        <p:spPr>
          <a:xfrm>
            <a:off x="8686800" y="786384"/>
            <a:ext cx="1143000" cy="457200"/>
          </a:xfrm>
          <a:prstGeom prst="rect">
            <a:avLst/>
          </a:prstGeom>
          <a:noFill/>
          <a:ln/>
        </p:spPr>
        <p:txBody>
          <a:bodyPr wrap="square" rtlCol="0" anchor="ctr"/>
          <a:lstStyle/>
          <a:p>
            <a:pPr algn="ctr" indent="0" marL="0">
              <a:buNone/>
            </a:pPr>
            <a:r>
              <a:rPr lang="en-US" sz="1200" b="1" dirty="0">
                <a:solidFill>
                  <a:srgbClr val="B22234"/>
                </a:solidFill>
                <a:latin typeface="Trebuchet MS" pitchFamily="34" charset="0"/>
                <a:ea typeface="Trebuchet MS" pitchFamily="34" charset="-122"/>
                <a:cs typeface="Trebuchet MS" pitchFamily="34" charset="-120"/>
              </a:rPr>
              <a:t>DOK 1</a:t>
            </a:r>
            <a:endParaRPr lang="en-US" sz="1200" dirty="0"/>
          </a:p>
        </p:txBody>
      </p:sp>
      <p:sp>
        <p:nvSpPr>
          <p:cNvPr id="7" name="Shape 5"/>
          <p:cNvSpPr/>
          <p:nvPr/>
        </p:nvSpPr>
        <p:spPr>
          <a:xfrm>
            <a:off x="9966960" y="786384"/>
            <a:ext cx="1645920" cy="457200"/>
          </a:xfrm>
          <a:prstGeom prst="roundRect">
            <a:avLst>
              <a:gd name="adj" fmla="val 20000"/>
            </a:avLst>
          </a:prstGeom>
          <a:solidFill>
            <a:srgbClr val="1F3A5F"/>
          </a:solidFill>
          <a:ln/>
        </p:spPr>
        <p:txBody>
          <a:bodyPr/>
          <a:p/>
        </p:txBody>
      </p:sp>
      <p:sp>
        <p:nvSpPr>
          <p:cNvPr id="8" name="Text 6"/>
          <p:cNvSpPr/>
          <p:nvPr/>
        </p:nvSpPr>
        <p:spPr>
          <a:xfrm>
            <a:off x="9966960" y="786384"/>
            <a:ext cx="164592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LOW STAKES</a:t>
            </a:r>
            <a:endParaRPr lang="en-US" sz="1100" dirty="0"/>
          </a:p>
        </p:txBody>
      </p:sp>
      <p:sp>
        <p:nvSpPr>
          <p:cNvPr id="9" name="Text 7"/>
          <p:cNvSpPr/>
          <p:nvPr/>
        </p:nvSpPr>
        <p:spPr>
          <a:xfrm>
            <a:off x="548640" y="137160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Everyone can answer this. Thumbs / whiteboards — no notes.</a:t>
            </a:r>
            <a:endParaRPr lang="en-US" sz="1400" dirty="0"/>
          </a:p>
        </p:txBody>
      </p:sp>
      <p:sp>
        <p:nvSpPr>
          <p:cNvPr id="10" name="Shape 8"/>
          <p:cNvSpPr/>
          <p:nvPr/>
        </p:nvSpPr>
        <p:spPr>
          <a:xfrm>
            <a:off x="548640" y="1965960"/>
            <a:ext cx="11064240" cy="1874520"/>
          </a:xfrm>
          <a:prstGeom prst="roundRect">
            <a:avLst>
              <a:gd name="adj" fmla="val 4878"/>
            </a:avLst>
          </a:prstGeom>
          <a:solidFill>
            <a:srgbClr val="1F3A5F"/>
          </a:solidFill>
          <a:ln/>
        </p:spPr>
        <p:txBody>
          <a:bodyPr/>
          <a:p/>
        </p:txBody>
      </p:sp>
      <p:sp>
        <p:nvSpPr>
          <p:cNvPr id="11" name="Text 9"/>
          <p:cNvSpPr/>
          <p:nvPr/>
        </p:nvSpPr>
        <p:spPr>
          <a:xfrm>
            <a:off x="1005840" y="2194560"/>
            <a:ext cx="10149840" cy="1417320"/>
          </a:xfrm>
          <a:prstGeom prst="rect">
            <a:avLst/>
          </a:prstGeom>
          <a:noFill/>
          <a:ln/>
        </p:spPr>
        <p:txBody>
          <a:bodyPr wrap="square" rtlCol="0" anchor="ctr"/>
          <a:lstStyle/>
          <a:p>
            <a:pPr algn="ctr" indent="0" marL="0">
              <a:lnSpc>
                <a:spcPct val="108000"/>
              </a:lnSpc>
              <a:buNone/>
            </a:pPr>
            <a:r>
              <a:rPr lang="en-US" sz="2400" b="1" dirty="0">
                <a:solidFill>
                  <a:srgbClr val="FFFFFF"/>
                </a:solidFill>
                <a:latin typeface="Georgia" pitchFamily="34" charset="0"/>
                <a:ea typeface="Georgia" pitchFamily="34" charset="-122"/>
                <a:cs typeface="Georgia" pitchFamily="34" charset="-120"/>
              </a:rPr>
              <a:t>Finish the phrase: the 1896 Supreme Court rule was "separate but _____" (one word).</a:t>
            </a:r>
            <a:endParaRPr lang="en-US" sz="2400" dirty="0"/>
          </a:p>
        </p:txBody>
      </p:sp>
      <p:sp>
        <p:nvSpPr>
          <p:cNvPr id="12" name="Shape 10"/>
          <p:cNvSpPr/>
          <p:nvPr/>
        </p:nvSpPr>
        <p:spPr>
          <a:xfrm>
            <a:off x="548640" y="4069080"/>
            <a:ext cx="11064240" cy="1371600"/>
          </a:xfrm>
          <a:prstGeom prst="roundRect">
            <a:avLst>
              <a:gd name="adj" fmla="val 6667"/>
            </a:avLst>
          </a:prstGeom>
          <a:solidFill>
            <a:srgbClr val="FBEFD0"/>
          </a:solidFill>
          <a:ln w="19050">
            <a:solidFill>
              <a:srgbClr val="C9A227"/>
            </a:solidFill>
            <a:prstDash val="solid"/>
          </a:ln>
        </p:spPr>
        <p:txBody>
          <a:bodyPr/>
          <a:p/>
        </p:txBody>
      </p:sp>
      <p:sp>
        <p:nvSpPr>
          <p:cNvPr id="13" name="Text 11"/>
          <p:cNvSpPr/>
          <p:nvPr/>
        </p:nvSpPr>
        <p:spPr>
          <a:xfrm>
            <a:off x="914400" y="4224528"/>
            <a:ext cx="2743200" cy="320040"/>
          </a:xfrm>
          <a:prstGeom prst="rect">
            <a:avLst/>
          </a:prstGeom>
          <a:noFill/>
          <a:ln/>
        </p:spPr>
        <p:txBody>
          <a:bodyPr wrap="square" rtlCol="0" anchor="ctr"/>
          <a:lstStyle/>
          <a:p>
            <a:pPr indent="0" marL="0">
              <a:buNone/>
            </a:pPr>
            <a:r>
              <a:rPr lang="en-US" sz="1200" b="1" spc="200" kern="0" dirty="0">
                <a:solidFill>
                  <a:srgbClr val="1B5E20"/>
                </a:solidFill>
                <a:latin typeface="Trebuchet MS" pitchFamily="34" charset="0"/>
                <a:ea typeface="Trebuchet MS" pitchFamily="34" charset="-122"/>
                <a:cs typeface="Trebuchet MS" pitchFamily="34" charset="-120"/>
              </a:rPr>
              <a:t>✓ ANSWER</a:t>
            </a:r>
            <a:endParaRPr lang="en-US" sz="1200" dirty="0"/>
          </a:p>
        </p:txBody>
      </p:sp>
      <p:sp>
        <p:nvSpPr>
          <p:cNvPr id="14" name="Text 12"/>
          <p:cNvSpPr/>
          <p:nvPr/>
        </p:nvSpPr>
        <p:spPr>
          <a:xfrm>
            <a:off x="914400" y="4572000"/>
            <a:ext cx="10332720" cy="777240"/>
          </a:xfrm>
          <a:prstGeom prst="rect">
            <a:avLst/>
          </a:prstGeom>
          <a:noFill/>
          <a:ln/>
        </p:spPr>
        <p:txBody>
          <a:bodyPr wrap="square" rtlCol="0" anchor="t"/>
          <a:lstStyle/>
          <a:p>
            <a:pPr indent="0" marL="0">
              <a:lnSpc>
                <a:spcPct val="108000"/>
              </a:lnSpc>
              <a:buNone/>
            </a:pPr>
            <a:r>
              <a:rPr lang="en-US" sz="1600" dirty="0">
                <a:solidFill>
                  <a:srgbClr val="1F2430"/>
                </a:solidFill>
                <a:latin typeface="Calibri" pitchFamily="34" charset="0"/>
                <a:ea typeface="Calibri" pitchFamily="34" charset="-122"/>
                <a:cs typeface="Calibri" pitchFamily="34" charset="-120"/>
              </a:rPr>
              <a:t>"equal" — Plessy v. Ferguson legalized segregation.</a:t>
            </a:r>
            <a:endParaRPr lang="en-US" sz="1600" dirty="0"/>
          </a:p>
        </p:txBody>
      </p:sp>
      <p:sp>
        <p:nvSpPr>
          <p:cNvPr id="15" name="Shape 13"/>
          <p:cNvSpPr/>
          <p:nvPr/>
        </p:nvSpPr>
        <p:spPr>
          <a:xfrm>
            <a:off x="548640" y="5623560"/>
            <a:ext cx="11064240" cy="457200"/>
          </a:xfrm>
          <a:prstGeom prst="roundRect">
            <a:avLst>
              <a:gd name="adj" fmla="val 16000"/>
            </a:avLst>
          </a:prstGeom>
          <a:solidFill>
            <a:srgbClr val="FFFFFF"/>
          </a:solidFill>
          <a:ln w="12700">
            <a:solidFill>
              <a:srgbClr val="C9A227"/>
            </a:solidFill>
            <a:prstDash val="solid"/>
          </a:ln>
        </p:spPr>
        <p:txBody>
          <a:bodyPr/>
          <a:p/>
        </p:txBody>
      </p:sp>
      <p:sp>
        <p:nvSpPr>
          <p:cNvPr id="16" name="Text 14"/>
          <p:cNvSpPr/>
          <p:nvPr/>
        </p:nvSpPr>
        <p:spPr>
          <a:xfrm>
            <a:off x="822960" y="5623560"/>
            <a:ext cx="10515600" cy="457200"/>
          </a:xfrm>
          <a:prstGeom prst="rect">
            <a:avLst/>
          </a:prstGeom>
          <a:noFill/>
          <a:ln/>
        </p:spPr>
        <p:txBody>
          <a:bodyPr wrap="square" rtlCol="0" anchor="ctr"/>
          <a:lstStyle/>
          <a:p>
            <a:pPr indent="0" marL="0">
              <a:buNone/>
            </a:pPr>
            <a:r>
              <a:rPr lang="en-US" sz="1150" b="1" i="1" spc="100" kern="0" dirty="0">
                <a:solidFill>
                  <a:srgbClr val="B22234"/>
                </a:solidFill>
                <a:latin typeface="Trebuchet MS" pitchFamily="34" charset="0"/>
                <a:ea typeface="Trebuchet MS" pitchFamily="34" charset="-122"/>
                <a:cs typeface="Trebuchet MS" pitchFamily="34" charset="-120"/>
              </a:rPr>
              <a:t>COMMIT FIRST:  </a:t>
            </a:r>
            <a:pPr indent="0" marL="0">
              <a:buNone/>
            </a:pPr>
            <a:r>
              <a:rPr lang="en-US" sz="1150" i="1" dirty="0">
                <a:solidFill>
                  <a:srgbClr val="5C6470"/>
                </a:solidFill>
                <a:latin typeface="Calibri" pitchFamily="34" charset="0"/>
                <a:ea typeface="Calibri" pitchFamily="34" charset="-122"/>
                <a:cs typeface="Calibri" pitchFamily="34" charset="-120"/>
              </a:rPr>
              <a:t>have everyone answer before the reveal — this is the DOK 1 floor; the graded check later in this lesson moves up to DOK 2–3.</a:t>
            </a:r>
            <a:endParaRPr lang="en-US" sz="1150" dirty="0"/>
          </a:p>
        </p:txBody>
      </p:sp>
      <p:sp>
        <p:nvSpPr>
          <p:cNvPr id="18" name="Text 15"/>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6"/>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5">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B22234"/>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B22234"/>
                </a:solidFill>
                <a:latin typeface="Trebuchet MS" pitchFamily="34" charset="0"/>
                <a:ea typeface="Trebuchet MS" pitchFamily="34" charset="-122"/>
                <a:cs typeface="Trebuchet MS" pitchFamily="34" charset="-120"/>
              </a:rPr>
              <a:t>US.03 · HOOK</a:t>
            </a:r>
            <a:endParaRPr lang="en-US" sz="1200" dirty="0"/>
          </a:p>
        </p:txBody>
      </p:sp>
      <p:sp>
        <p:nvSpPr>
          <p:cNvPr id="4" name="Text 2"/>
          <p:cNvSpPr/>
          <p:nvPr/>
        </p:nvSpPr>
        <p:spPr>
          <a:xfrm>
            <a:off x="548640" y="777240"/>
            <a:ext cx="10972800" cy="640080"/>
          </a:xfrm>
          <a:prstGeom prst="rect">
            <a:avLst/>
          </a:prstGeom>
          <a:noFill/>
          <a:ln/>
        </p:spPr>
        <p:txBody>
          <a:bodyPr wrap="square" rtlCol="0" anchor="ctr"/>
          <a:lstStyle/>
          <a:p>
            <a:pPr indent="0" marL="0">
              <a:buNone/>
            </a:pPr>
            <a:r>
              <a:rPr lang="en-US" sz="3000" b="1" dirty="0">
                <a:solidFill>
                  <a:srgbClr val="1F3A5F"/>
                </a:solidFill>
                <a:latin typeface="Georgia" pitchFamily="34" charset="0"/>
                <a:ea typeface="Georgia" pitchFamily="34" charset="-122"/>
                <a:cs typeface="Georgia" pitchFamily="34" charset="-120"/>
              </a:rPr>
              <a:t>Think About It</a:t>
            </a:r>
            <a:endParaRPr lang="en-US" sz="3000" dirty="0"/>
          </a:p>
        </p:txBody>
      </p:sp>
      <p:sp>
        <p:nvSpPr>
          <p:cNvPr id="5" name="Shape 3"/>
          <p:cNvSpPr/>
          <p:nvPr/>
        </p:nvSpPr>
        <p:spPr>
          <a:xfrm>
            <a:off x="548640" y="1691640"/>
            <a:ext cx="11064240" cy="2194560"/>
          </a:xfrm>
          <a:prstGeom prst="roundRect">
            <a:avLst>
              <a:gd name="adj" fmla="val 4167"/>
            </a:avLst>
          </a:prstGeom>
          <a:solidFill>
            <a:srgbClr val="1F3A5F"/>
          </a:solidFill>
          <a:ln/>
        </p:spPr>
        <p:txBody>
          <a:bodyPr/>
          <a:p/>
        </p:txBody>
      </p:sp>
      <p:sp>
        <p:nvSpPr>
          <p:cNvPr id="6" name="Text 4"/>
          <p:cNvSpPr/>
          <p:nvPr/>
        </p:nvSpPr>
        <p:spPr>
          <a:xfrm>
            <a:off x="1005840" y="1965960"/>
            <a:ext cx="10149840" cy="1645920"/>
          </a:xfrm>
          <a:prstGeom prst="rect">
            <a:avLst/>
          </a:prstGeom>
          <a:noFill/>
          <a:ln/>
        </p:spPr>
        <p:txBody>
          <a:bodyPr wrap="square" rtlCol="0" anchor="ctr"/>
          <a:lstStyle/>
          <a:p>
            <a:pPr indent="0" marL="0">
              <a:lnSpc>
                <a:spcPct val="108000"/>
              </a:lnSpc>
              <a:buNone/>
            </a:pPr>
            <a:r>
              <a:rPr lang="en-US" sz="2600" i="1" dirty="0">
                <a:solidFill>
                  <a:srgbClr val="FFFFFF"/>
                </a:solidFill>
                <a:latin typeface="Georgia" pitchFamily="34" charset="0"/>
                <a:ea typeface="Georgia" pitchFamily="34" charset="-122"/>
                <a:cs typeface="Georgia" pitchFamily="34" charset="-120"/>
              </a:rPr>
              <a:t>In 1877, the last federal troops left the South. Within 20 years, segregation was the law of the land.</a:t>
            </a:r>
            <a:endParaRPr lang="en-US" sz="2600" dirty="0"/>
          </a:p>
        </p:txBody>
      </p:sp>
      <p:sp>
        <p:nvSpPr>
          <p:cNvPr id="7" name="Shape 5"/>
          <p:cNvSpPr/>
          <p:nvPr/>
        </p:nvSpPr>
        <p:spPr>
          <a:xfrm>
            <a:off x="548640" y="4114800"/>
            <a:ext cx="11064240" cy="1783080"/>
          </a:xfrm>
          <a:prstGeom prst="roundRect">
            <a:avLst>
              <a:gd name="adj" fmla="val 5128"/>
            </a:avLst>
          </a:prstGeom>
          <a:solidFill>
            <a:srgbClr val="FFFFFF"/>
          </a:solidFill>
          <a:ln w="19050">
            <a:solidFill>
              <a:srgbClr val="C9A227"/>
            </a:solidFill>
            <a:prstDash val="solid"/>
          </a:ln>
        </p:spPr>
        <p:txBody>
          <a:bodyPr/>
          <a:p/>
        </p:txBody>
      </p:sp>
      <p:sp>
        <p:nvSpPr>
          <p:cNvPr id="8" name="Text 6"/>
          <p:cNvSpPr/>
          <p:nvPr/>
        </p:nvSpPr>
        <p:spPr>
          <a:xfrm>
            <a:off x="914400" y="4297680"/>
            <a:ext cx="2743200" cy="320040"/>
          </a:xfrm>
          <a:prstGeom prst="rect">
            <a:avLst/>
          </a:prstGeom>
          <a:noFill/>
          <a:ln/>
        </p:spPr>
        <p:txBody>
          <a:bodyPr wrap="square" rtlCol="0" anchor="ctr"/>
          <a:lstStyle/>
          <a:p>
            <a:pPr indent="0" marL="0">
              <a:buNone/>
            </a:pPr>
            <a:r>
              <a:rPr lang="en-US" sz="1300" b="1" spc="200" kern="0" dirty="0">
                <a:solidFill>
                  <a:srgbClr val="B22234"/>
                </a:solidFill>
                <a:latin typeface="Trebuchet MS" pitchFamily="34" charset="0"/>
                <a:ea typeface="Trebuchet MS" pitchFamily="34" charset="-122"/>
                <a:cs typeface="Trebuchet MS" pitchFamily="34" charset="-120"/>
              </a:rPr>
              <a:t>DISCUSS</a:t>
            </a:r>
            <a:endParaRPr lang="en-US" sz="1300" dirty="0"/>
          </a:p>
        </p:txBody>
      </p:sp>
      <p:sp>
        <p:nvSpPr>
          <p:cNvPr id="9" name="Shape 7"/>
          <p:cNvSpPr/>
          <p:nvPr/>
        </p:nvSpPr>
        <p:spPr>
          <a:xfrm>
            <a:off x="7772400" y="4224528"/>
            <a:ext cx="3657600" cy="457200"/>
          </a:xfrm>
          <a:prstGeom prst="roundRect">
            <a:avLst>
              <a:gd name="adj" fmla="val 20000"/>
            </a:avLst>
          </a:prstGeom>
          <a:solidFill>
            <a:srgbClr val="1F3A5F"/>
          </a:solidFill>
          <a:ln/>
        </p:spPr>
        <p:txBody>
          <a:bodyPr/>
          <a:p/>
        </p:txBody>
      </p:sp>
      <p:sp>
        <p:nvSpPr>
          <p:cNvPr id="10" name="Text 8"/>
          <p:cNvSpPr/>
          <p:nvPr/>
        </p:nvSpPr>
        <p:spPr>
          <a:xfrm>
            <a:off x="7772400" y="4224528"/>
            <a:ext cx="3657600" cy="45720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TIMING:  Turn &amp; Talk 60 sec → cold-call 2 pairs</a:t>
            </a:r>
            <a:endParaRPr lang="en-US" sz="1050" dirty="0"/>
          </a:p>
        </p:txBody>
      </p:sp>
      <p:sp>
        <p:nvSpPr>
          <p:cNvPr id="11" name="Text 9"/>
          <p:cNvSpPr/>
          <p:nvPr/>
        </p:nvSpPr>
        <p:spPr>
          <a:xfrm>
            <a:off x="914400" y="4736592"/>
            <a:ext cx="10332720" cy="1097280"/>
          </a:xfrm>
          <a:prstGeom prst="rect">
            <a:avLst/>
          </a:prstGeom>
          <a:noFill/>
          <a:ln/>
        </p:spPr>
        <p:txBody>
          <a:bodyPr wrap="square" rtlCol="0" anchor="t"/>
          <a:lstStyle/>
          <a:p>
            <a:pPr indent="0" marL="0">
              <a:lnSpc>
                <a:spcPct val="110000"/>
              </a:lnSpc>
              <a:buNone/>
            </a:pPr>
            <a:r>
              <a:rPr lang="en-US" sz="1600" dirty="0">
                <a:solidFill>
                  <a:srgbClr val="1F2430"/>
                </a:solidFill>
                <a:latin typeface="Calibri" pitchFamily="34" charset="0"/>
                <a:ea typeface="Calibri" pitchFamily="34" charset="-122"/>
                <a:cs typeface="Calibri" pitchFamily="34" charset="-120"/>
              </a:rPr>
              <a:t>How can rights that were written into the Constitution be taken away in practice? Predict: what tools might a government use to deny rights without changing the Constitution?</a:t>
            </a:r>
            <a:endParaRPr lang="en-US" sz="1600" dirty="0"/>
          </a:p>
        </p:txBody>
      </p:sp>
      <p:sp>
        <p:nvSpPr>
          <p:cNvPr id="13" name="Text 10"/>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6">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F3A5F"/>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B22234"/>
                </a:solidFill>
                <a:latin typeface="Trebuchet MS" pitchFamily="34" charset="0"/>
                <a:ea typeface="Trebuchet MS" pitchFamily="34" charset="-122"/>
                <a:cs typeface="Trebuchet MS" pitchFamily="34" charset="-120"/>
              </a:rPr>
              <a:t>US.03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F3A5F"/>
                </a:solidFill>
                <a:latin typeface="Georgia" pitchFamily="34" charset="0"/>
                <a:ea typeface="Georgia" pitchFamily="34" charset="-122"/>
                <a:cs typeface="Georgia" pitchFamily="34" charset="-120"/>
              </a:rPr>
              <a:t>The Election of 1876 and End of Reconstruction</a:t>
            </a:r>
            <a:endParaRPr lang="en-US" sz="3000" dirty="0"/>
          </a:p>
        </p:txBody>
      </p:sp>
      <p:sp>
        <p:nvSpPr>
          <p:cNvPr id="5" name="Shape 3"/>
          <p:cNvSpPr/>
          <p:nvPr/>
        </p:nvSpPr>
        <p:spPr>
          <a:xfrm>
            <a:off x="10472623" y="502920"/>
            <a:ext cx="146304" cy="146304"/>
          </a:xfrm>
          <a:prstGeom prst="ellipse">
            <a:avLst/>
          </a:prstGeom>
          <a:solidFill>
            <a:srgbClr val="B22234"/>
          </a:solidFill>
          <a:ln/>
        </p:spPr>
        <p:txBody>
          <a:bodyPr/>
          <a:p/>
        </p:txBody>
      </p:sp>
      <p:sp>
        <p:nvSpPr>
          <p:cNvPr id="6" name="Shape 4"/>
          <p:cNvSpPr/>
          <p:nvPr/>
        </p:nvSpPr>
        <p:spPr>
          <a:xfrm>
            <a:off x="10765231" y="502920"/>
            <a:ext cx="146304" cy="146304"/>
          </a:xfrm>
          <a:prstGeom prst="ellipse">
            <a:avLst/>
          </a:prstGeom>
          <a:solidFill>
            <a:srgbClr val="A7BACB"/>
          </a:solidFill>
          <a:ln/>
        </p:spPr>
        <p:txBody>
          <a:bodyPr/>
          <a:p/>
        </p:txBody>
      </p:sp>
      <p:sp>
        <p:nvSpPr>
          <p:cNvPr id="7" name="Shape 5"/>
          <p:cNvSpPr/>
          <p:nvPr/>
        </p:nvSpPr>
        <p:spPr>
          <a:xfrm>
            <a:off x="11057839" y="502920"/>
            <a:ext cx="146304" cy="146304"/>
          </a:xfrm>
          <a:prstGeom prst="ellipse">
            <a:avLst/>
          </a:prstGeom>
          <a:solidFill>
            <a:srgbClr val="A7BACB"/>
          </a:solidFill>
          <a:ln/>
        </p:spPr>
        <p:txBody>
          <a:bodyPr/>
          <a:p/>
        </p:txBody>
      </p:sp>
      <p:sp>
        <p:nvSpPr>
          <p:cNvPr id="8" name="Shape 6"/>
          <p:cNvSpPr/>
          <p:nvPr/>
        </p:nvSpPr>
        <p:spPr>
          <a:xfrm>
            <a:off x="11350447" y="502920"/>
            <a:ext cx="146304" cy="146304"/>
          </a:xfrm>
          <a:prstGeom prst="ellipse">
            <a:avLst/>
          </a:prstGeom>
          <a:solidFill>
            <a:srgbClr val="A7BACB"/>
          </a:solidFill>
          <a:ln/>
        </p:spPr>
        <p:txBody>
          <a:bodyPr/>
          <a:p/>
        </p:txBody>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1 of 4</a:t>
            </a:r>
            <a:endParaRPr lang="en-US" sz="1000" dirty="0"/>
          </a:p>
        </p:txBody>
      </p:sp>
      <p:sp>
        <p:nvSpPr>
          <p:cNvPr id="10" name="Shape 8"/>
          <p:cNvSpPr/>
          <p:nvPr/>
        </p:nvSpPr>
        <p:spPr>
          <a:xfrm>
            <a:off x="548640" y="1783080"/>
            <a:ext cx="6766560" cy="4069080"/>
          </a:xfrm>
          <a:prstGeom prst="rect">
            <a:avLst/>
          </a:prstGeom>
          <a:solidFill>
            <a:srgbClr val="FFFFFF"/>
          </a:solidFill>
          <a:ln w="12700">
            <a:solidFill>
              <a:srgbClr val="DAD3C2"/>
            </a:solidFill>
            <a:prstDash val="solid"/>
          </a:ln>
        </p:spPr>
        <p:txBody>
          <a:bodyPr/>
          <a:p/>
        </p:txBody>
      </p:sp>
      <p:sp>
        <p:nvSpPr>
          <p:cNvPr id="11" name="Text 9"/>
          <p:cNvSpPr/>
          <p:nvPr/>
        </p:nvSpPr>
        <p:spPr>
          <a:xfrm>
            <a:off x="914400" y="2057400"/>
            <a:ext cx="6126480" cy="2340864"/>
          </a:xfrm>
          <a:prstGeom prst="rect">
            <a:avLst/>
          </a:prstGeom>
          <a:noFill/>
          <a:ln/>
        </p:spPr>
        <p:txBody>
          <a:bodyPr wrap="square" rtlCol="0" anchor="t"/>
          <a:lstStyle/>
          <a:p>
            <a:pPr marL="228600" indent="-228600">
              <a:lnSpc>
                <a:spcPct val="112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The disputed 1876 presidential election between Republican Rutherford B. Hayes and Democrat Samuel Tilden led to the Compromise of 1877.</a:t>
            </a:r>
            <a:endParaRPr lang="en-US" sz="1550" dirty="0"/>
          </a:p>
          <a:p>
            <a:pPr marL="228600" indent="-228600">
              <a:lnSpc>
                <a:spcPct val="112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In exchange for the presidency, Hayes agreed to withdraw federal troops from the South, effectively ending Reconstruction.</a:t>
            </a:r>
            <a:endParaRPr lang="en-US" sz="1550" dirty="0"/>
          </a:p>
          <a:p>
            <a:pPr marL="228600" indent="-228600">
              <a:lnSpc>
                <a:spcPct val="112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This abandonment left African Americans without federal protection against increasingly hostile state governments.</a:t>
            </a:r>
            <a:endParaRPr lang="en-US" sz="1550" dirty="0"/>
          </a:p>
        </p:txBody>
      </p:sp>
      <p:sp>
        <p:nvSpPr>
          <p:cNvPr id="12" name="Shape 10"/>
          <p:cNvSpPr/>
          <p:nvPr/>
        </p:nvSpPr>
        <p:spPr>
          <a:xfrm>
            <a:off x="868680" y="4626864"/>
            <a:ext cx="6126480" cy="1097280"/>
          </a:xfrm>
          <a:prstGeom prst="roundRect">
            <a:avLst>
              <a:gd name="adj" fmla="val 5000"/>
            </a:avLst>
          </a:prstGeom>
          <a:solidFill>
            <a:srgbClr val="EEF3F7"/>
          </a:solidFill>
          <a:ln w="12700">
            <a:solidFill>
              <a:srgbClr val="A7BACB"/>
            </a:solidFill>
            <a:prstDash val="solid"/>
          </a:ln>
        </p:spPr>
        <p:txBody>
          <a:bodyPr/>
          <a:p/>
        </p:txBody>
      </p:sp>
      <p:sp>
        <p:nvSpPr>
          <p:cNvPr id="13" name="Text 11"/>
          <p:cNvSpPr/>
          <p:nvPr/>
        </p:nvSpPr>
        <p:spPr>
          <a:xfrm>
            <a:off x="1024128" y="4681728"/>
            <a:ext cx="5852160" cy="237744"/>
          </a:xfrm>
          <a:prstGeom prst="rect">
            <a:avLst/>
          </a:prstGeom>
          <a:noFill/>
          <a:ln/>
        </p:spPr>
        <p:txBody>
          <a:bodyPr wrap="square" rtlCol="0" anchor="ctr"/>
          <a:lstStyle/>
          <a:p>
            <a:pPr indent="0" marL="0">
              <a:buNone/>
            </a:pPr>
            <a:r>
              <a:rPr lang="en-US" sz="900" b="1" spc="100" kern="0" dirty="0">
                <a:solidFill>
                  <a:srgbClr val="002858"/>
                </a:solidFill>
                <a:latin typeface="Trebuchet MS" pitchFamily="34" charset="0"/>
                <a:ea typeface="Trebuchet MS" pitchFamily="34" charset="-122"/>
                <a:cs typeface="Trebuchet MS" pitchFamily="34" charset="-120"/>
              </a:rPr>
              <a:t>SENTENCE FRAME  </a:t>
            </a:r>
            <a:pPr indent="0" marL="0">
              <a:buNone/>
            </a:pPr>
            <a:r>
              <a:rPr lang="en-US" sz="900" i="1" dirty="0">
                <a:solidFill>
                  <a:srgbClr val="5C6470"/>
                </a:solidFill>
              </a:rPr>
              <a:t>· LANGUAGE SUPPORT  </a:t>
            </a:r>
            <a:endParaRPr lang="en-US" sz="900" dirty="0"/>
          </a:p>
        </p:txBody>
      </p:sp>
      <p:sp>
        <p:nvSpPr>
          <p:cNvPr id="14" name="Text 12"/>
          <p:cNvSpPr/>
          <p:nvPr/>
        </p:nvSpPr>
        <p:spPr>
          <a:xfrm>
            <a:off x="1024128" y="4937760"/>
            <a:ext cx="6309360" cy="658368"/>
          </a:xfrm>
          <a:prstGeom prst="rect">
            <a:avLst/>
          </a:prstGeom>
          <a:noFill/>
          <a:ln/>
        </p:spPr>
        <p:txBody>
          <a:bodyPr wrap="square" rtlCol="0" anchor="t"/>
          <a:lstStyle/>
          <a:p>
            <a:pPr indent="0" marL="0">
              <a:lnSpc>
                <a:spcPct val="104000"/>
              </a:lnSpc>
              <a:buNone/>
            </a:pPr>
            <a:r>
              <a:rPr lang="en-US" sz="1050" i="1" dirty="0">
                <a:solidFill>
                  <a:srgbClr val="1F2430"/>
                </a:solidFill>
                <a:latin typeface="Calibri" pitchFamily="34" charset="0"/>
                <a:ea typeface="Calibri" pitchFamily="34" charset="-122"/>
                <a:cs typeface="Calibri" pitchFamily="34" charset="-120"/>
              </a:rPr>
              <a:t>After Reconstruction ended, Black Americans lost rights because ________ was used to ________.</a:t>
            </a:r>
            <a:endParaRPr lang="en-US" sz="1050" dirty="0"/>
          </a:p>
        </p:txBody>
      </p:sp>
      <p:sp>
        <p:nvSpPr>
          <p:cNvPr id="15" name="Shape 13"/>
          <p:cNvSpPr/>
          <p:nvPr/>
        </p:nvSpPr>
        <p:spPr>
          <a:xfrm>
            <a:off x="7552944" y="1746504"/>
            <a:ext cx="4142232" cy="2935224"/>
          </a:xfrm>
          <a:prstGeom prst="rect">
            <a:avLst/>
          </a:prstGeom>
          <a:solidFill>
            <a:srgbClr val="FFFFFF"/>
          </a:solidFill>
          <a:ln w="12700">
            <a:solidFill>
              <a:srgbClr val="DAD3C2"/>
            </a:solidFill>
            <a:prstDash val="solid"/>
          </a:ln>
        </p:spPr>
        <p:txBody>
          <a:bodyPr/>
          <a:p/>
        </p:txBody>
      </p:sp>
      <p:pic>
        <p:nvPicPr>
          <p:cNvPr id="16" name="Image 0" descr="The Election of 1876 and End of Reconstruction">    </p:cNvPr>
          <p:cNvPicPr>
            <a:picLocks noChangeAspect="1"/>
          </p:cNvPicPr>
          <p:nvPr/>
        </p:nvPicPr>
        <p:blipFill>
          <a:blip r:embed="rId1"/>
          <a:srcRect l="0" r="0" t="0" b="0"/>
          <a:stretch/>
        </p:blipFill>
        <p:spPr>
          <a:xfrm>
            <a:off x="7589520" y="1783080"/>
            <a:ext cx="4069080" cy="2862072"/>
          </a:xfrm>
          <a:prstGeom prst="rect">
            <a:avLst/>
          </a:prstGeom>
        </p:spPr>
      </p:pic>
      <p:sp>
        <p:nvSpPr>
          <p:cNvPr id="17" name="Text 14"/>
          <p:cNvSpPr/>
          <p:nvPr/>
        </p:nvSpPr>
        <p:spPr>
          <a:xfrm>
            <a:off x="7589520" y="4700016"/>
            <a:ext cx="4069080" cy="512064"/>
          </a:xfrm>
          <a:prstGeom prst="rect">
            <a:avLst/>
          </a:prstGeom>
          <a:noFill/>
          <a:ln/>
        </p:spPr>
        <p:txBody>
          <a:bodyPr wrap="square" rtlCol="0" anchor="t"/>
          <a:lstStyle/>
          <a:p>
            <a:pPr algn="l" indent="0" marL="0">
              <a:lnSpc>
                <a:spcPct val="100000"/>
              </a:lnSpc>
              <a:buNone/>
            </a:pPr>
            <a:pPr algn="l" indent="0" marL="0">
              <a:lnSpc>
                <a:spcPct val="100000"/>
              </a:lnSpc>
              <a:buNone/>
            </a:pPr>
            <a:r>
              <a:rPr lang="en-US" sz="900" i="1" dirty="0">
                <a:solidFill>
                  <a:srgbClr val="5C6470"/>
                </a:solidFill>
                <a:latin typeface="Calibri" pitchFamily="34" charset="0"/>
                <a:ea typeface="Calibri" pitchFamily="34" charset="-122"/>
                <a:cs typeface="Calibri" pitchFamily="34" charset="-120"/>
              </a:rPr>
              <a:t>Alfred R. Waud, 1868  </a:t>
            </a:r>
            <a:pPr algn="l" indent="0" marL="0">
              <a:lnSpc>
                <a:spcPct val="100000"/>
              </a:lnSpc>
              <a:buNone/>
            </a:pPr>
            <a:r>
              <a:rPr lang="en-US" sz="9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800" dirty="0"/>
          </a:p>
        </p:txBody>
      </p:sp>
      <p:sp>
        <p:nvSpPr>
          <p:cNvPr id="18" name="Shape 15"/>
          <p:cNvSpPr/>
          <p:nvPr/>
        </p:nvSpPr>
        <p:spPr>
          <a:xfrm>
            <a:off x="7589520" y="5440680"/>
            <a:ext cx="4069080" cy="713232"/>
          </a:xfrm>
          <a:prstGeom prst="roundRect">
            <a:avLst>
              <a:gd name="adj" fmla="val 7692"/>
            </a:avLst>
          </a:prstGeom>
          <a:solidFill>
            <a:srgbClr val="1F3A5F"/>
          </a:solidFill>
          <a:ln/>
        </p:spPr>
        <p:txBody>
          <a:bodyPr/>
          <a:p/>
        </p:txBody>
      </p:sp>
      <p:sp>
        <p:nvSpPr>
          <p:cNvPr id="19" name="Text 16"/>
          <p:cNvSpPr/>
          <p:nvPr/>
        </p:nvSpPr>
        <p:spPr>
          <a:xfrm>
            <a:off x="7772400" y="5477256"/>
            <a:ext cx="3703320" cy="640080"/>
          </a:xfrm>
          <a:prstGeom prst="rect">
            <a:avLst/>
          </a:prstGeom>
          <a:noFill/>
          <a:ln/>
        </p:spPr>
        <p:txBody>
          <a:bodyPr wrap="square" rtlCol="0" anchor="ctr"/>
          <a:lstStyle/>
          <a:p>
            <a:pPr indent="0" marL="0">
              <a:lnSpc>
                <a:spcPct val="102000"/>
              </a:lnSpc>
              <a:buNone/>
            </a:pPr>
            <a:r>
              <a:rPr lang="en-US" sz="950" b="1" dirty="0">
                <a:solidFill>
                  <a:srgbClr val="F9A825"/>
                </a:solidFill>
                <a:latin typeface="Trebuchet MS" pitchFamily="34" charset="0"/>
                <a:ea typeface="Trebuchet MS" pitchFamily="34" charset="-122"/>
                <a:cs typeface="Trebuchet MS" pitchFamily="34" charset="-120"/>
              </a:rPr>
              <a:t>TEACHER CUE  </a:t>
            </a:r>
            <a:pPr indent="0" marL="0">
              <a:lnSpc>
                <a:spcPct val="102000"/>
              </a:lnSpc>
              <a:buNone/>
            </a:pPr>
            <a:r>
              <a:rPr lang="en-US" sz="950" dirty="0">
                <a:solidFill>
                  <a:srgbClr val="FFFFFF"/>
                </a:solidFill>
                <a:latin typeface="Calibri" pitchFamily="34" charset="0"/>
                <a:ea typeface="Calibri" pitchFamily="34" charset="-122"/>
                <a:cs typeface="Calibri" pitchFamily="34" charset="-120"/>
              </a:rPr>
              <a:t>Chunk → cold-call → confirm before advancing.</a:t>
            </a:r>
            <a:endParaRPr lang="en-US" sz="950" dirty="0"/>
          </a:p>
        </p:txBody>
      </p:sp>
      <p:sp>
        <p:nvSpPr>
          <p:cNvPr id="21" name="Text 17"/>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2"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7">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F3A5F"/>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B22234"/>
                </a:solidFill>
                <a:latin typeface="Trebuchet MS" pitchFamily="34" charset="0"/>
                <a:ea typeface="Trebuchet MS" pitchFamily="34" charset="-122"/>
                <a:cs typeface="Trebuchet MS" pitchFamily="34" charset="-120"/>
              </a:rPr>
              <a:t>US.03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F3A5F"/>
                </a:solidFill>
                <a:latin typeface="Georgia" pitchFamily="34" charset="0"/>
                <a:ea typeface="Georgia" pitchFamily="34" charset="-122"/>
                <a:cs typeface="Georgia" pitchFamily="34" charset="-120"/>
              </a:rPr>
              <a:t>Jim Crow Laws, Lynching, and Disenfranchisement</a:t>
            </a:r>
            <a:endParaRPr lang="en-US" sz="3000" dirty="0"/>
          </a:p>
        </p:txBody>
      </p:sp>
      <p:sp>
        <p:nvSpPr>
          <p:cNvPr id="5" name="Shape 3"/>
          <p:cNvSpPr/>
          <p:nvPr/>
        </p:nvSpPr>
        <p:spPr>
          <a:xfrm>
            <a:off x="10472623" y="502920"/>
            <a:ext cx="146304" cy="146304"/>
          </a:xfrm>
          <a:prstGeom prst="ellipse">
            <a:avLst/>
          </a:prstGeom>
          <a:solidFill>
            <a:srgbClr val="A7BACB"/>
          </a:solidFill>
          <a:ln/>
        </p:spPr>
        <p:txBody>
          <a:bodyPr/>
          <a:p/>
        </p:txBody>
      </p:sp>
      <p:sp>
        <p:nvSpPr>
          <p:cNvPr id="6" name="Shape 4"/>
          <p:cNvSpPr/>
          <p:nvPr/>
        </p:nvSpPr>
        <p:spPr>
          <a:xfrm>
            <a:off x="10765231" y="502920"/>
            <a:ext cx="146304" cy="146304"/>
          </a:xfrm>
          <a:prstGeom prst="ellipse">
            <a:avLst/>
          </a:prstGeom>
          <a:solidFill>
            <a:srgbClr val="B22234"/>
          </a:solidFill>
          <a:ln/>
        </p:spPr>
        <p:txBody>
          <a:bodyPr/>
          <a:p/>
        </p:txBody>
      </p:sp>
      <p:sp>
        <p:nvSpPr>
          <p:cNvPr id="7" name="Shape 5"/>
          <p:cNvSpPr/>
          <p:nvPr/>
        </p:nvSpPr>
        <p:spPr>
          <a:xfrm>
            <a:off x="11057839" y="502920"/>
            <a:ext cx="146304" cy="146304"/>
          </a:xfrm>
          <a:prstGeom prst="ellipse">
            <a:avLst/>
          </a:prstGeom>
          <a:solidFill>
            <a:srgbClr val="A7BACB"/>
          </a:solidFill>
          <a:ln/>
        </p:spPr>
        <p:txBody>
          <a:bodyPr/>
          <a:p/>
        </p:txBody>
      </p:sp>
      <p:sp>
        <p:nvSpPr>
          <p:cNvPr id="8" name="Shape 6"/>
          <p:cNvSpPr/>
          <p:nvPr/>
        </p:nvSpPr>
        <p:spPr>
          <a:xfrm>
            <a:off x="11350447" y="502920"/>
            <a:ext cx="146304" cy="146304"/>
          </a:xfrm>
          <a:prstGeom prst="ellipse">
            <a:avLst/>
          </a:prstGeom>
          <a:solidFill>
            <a:srgbClr val="A7BACB"/>
          </a:solidFill>
          <a:ln/>
        </p:spPr>
        <p:txBody>
          <a:bodyPr/>
          <a:p/>
        </p:txBody>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2 of 4</a:t>
            </a:r>
            <a:endParaRPr lang="en-US" sz="1000" dirty="0"/>
          </a:p>
        </p:txBody>
      </p:sp>
      <p:sp>
        <p:nvSpPr>
          <p:cNvPr id="10" name="Shape 8"/>
          <p:cNvSpPr/>
          <p:nvPr/>
        </p:nvSpPr>
        <p:spPr>
          <a:xfrm>
            <a:off x="548640" y="1783080"/>
            <a:ext cx="6766560" cy="4069080"/>
          </a:xfrm>
          <a:prstGeom prst="rect">
            <a:avLst/>
          </a:prstGeom>
          <a:solidFill>
            <a:srgbClr val="FFFFFF"/>
          </a:solidFill>
          <a:ln w="12700">
            <a:solidFill>
              <a:srgbClr val="DAD3C2"/>
            </a:solidFill>
            <a:prstDash val="solid"/>
          </a:ln>
        </p:spPr>
        <p:txBody>
          <a:bodyPr/>
          <a:p/>
        </p:txBody>
      </p:sp>
      <p:sp>
        <p:nvSpPr>
          <p:cNvPr id="11" name="Text 9"/>
          <p:cNvSpPr/>
          <p:nvPr/>
        </p:nvSpPr>
        <p:spPr>
          <a:xfrm>
            <a:off x="914400" y="2057400"/>
            <a:ext cx="6126480" cy="3566160"/>
          </a:xfrm>
          <a:prstGeom prst="rect">
            <a:avLst/>
          </a:prstGeom>
          <a:noFill/>
          <a:ln/>
        </p:spPr>
        <p:txBody>
          <a:bodyPr wrap="square" rtlCol="0" anchor="t"/>
          <a:lstStyle/>
          <a:p>
            <a:pPr marL="228600" indent="-228600">
              <a:lnSpc>
                <a:spcPct val="112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With federal protection gone, Southern states implemented Jim Crow laws enforcing racial segregation in all aspects of life.</a:t>
            </a:r>
            <a:endParaRPr lang="en-US" sz="1550" dirty="0"/>
          </a:p>
          <a:p>
            <a:pPr marL="228600" indent="-228600">
              <a:lnSpc>
                <a:spcPct val="112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African Americans faced systematic disenfranchisement through poll taxes, literacy tests, grandfather clauses, and white primaries.</a:t>
            </a:r>
            <a:endParaRPr lang="en-US" sz="1550" dirty="0"/>
          </a:p>
          <a:p>
            <a:pPr marL="228600" indent="-228600">
              <a:lnSpc>
                <a:spcPct val="112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Those who resisted faced terrorism, including lynching—public murders that went unpunished and were often celebrated by white communities.</a:t>
            </a:r>
            <a:endParaRPr lang="en-US" sz="1550" dirty="0"/>
          </a:p>
        </p:txBody>
      </p:sp>
      <p:sp>
        <p:nvSpPr>
          <p:cNvPr id="12" name="Shape 10"/>
          <p:cNvSpPr/>
          <p:nvPr/>
        </p:nvSpPr>
        <p:spPr>
          <a:xfrm>
            <a:off x="7552944" y="1746504"/>
            <a:ext cx="4142232" cy="3575304"/>
          </a:xfrm>
          <a:prstGeom prst="rect">
            <a:avLst/>
          </a:prstGeom>
          <a:solidFill>
            <a:srgbClr val="FFFFFF"/>
          </a:solidFill>
          <a:ln w="12700">
            <a:solidFill>
              <a:srgbClr val="DAD3C2"/>
            </a:solidFill>
            <a:prstDash val="solid"/>
          </a:ln>
        </p:spPr>
        <p:txBody>
          <a:bodyPr/>
          <a:p/>
        </p:txBody>
      </p:sp>
      <p:pic>
        <p:nvPicPr>
          <p:cNvPr id="13" name="Image 0" descr="Thomas Nast, 1874  Library of Congress">    </p:cNvPr>
          <p:cNvPicPr>
            <a:picLocks noChangeAspect="1"/>
          </p:cNvPicPr>
          <p:nvPr/>
        </p:nvPicPr>
        <p:blipFill>
          <a:blip r:embed="rId1"/>
          <a:srcRect l="0" r="0" t="0" b="0"/>
          <a:stretch/>
        </p:blipFill>
        <p:spPr>
          <a:xfrm>
            <a:off x="7589520" y="1783080"/>
            <a:ext cx="4069080" cy="3502152"/>
          </a:xfrm>
          <a:prstGeom prst="rect">
            <a:avLst/>
          </a:prstGeom>
        </p:spPr>
      </p:pic>
      <p:sp>
        <p:nvSpPr>
          <p:cNvPr id="14" name="Text 11"/>
          <p:cNvSpPr/>
          <p:nvPr/>
        </p:nvSpPr>
        <p:spPr>
          <a:xfrm>
            <a:off x="7589520" y="5340096"/>
            <a:ext cx="4069080" cy="512064"/>
          </a:xfrm>
          <a:prstGeom prst="rect">
            <a:avLst/>
          </a:prstGeom>
          <a:noFill/>
          <a:ln/>
        </p:spPr>
        <p:txBody>
          <a:bodyPr wrap="square" rtlCol="0" anchor="t"/>
          <a:lstStyle/>
          <a:p>
            <a:pPr algn="l" indent="0" marL="0">
              <a:lnSpc>
                <a:spcPct val="100000"/>
              </a:lnSpc>
              <a:buNone/>
            </a:pPr>
            <a:pPr algn="l" indent="0" marL="0">
              <a:lnSpc>
                <a:spcPct val="100000"/>
              </a:lnSpc>
              <a:buNone/>
            </a:pPr>
            <a:r>
              <a:rPr lang="en-US" sz="900" i="1" dirty="0">
                <a:solidFill>
                  <a:srgbClr val="5C6470"/>
                </a:solidFill>
                <a:latin typeface="Calibri" pitchFamily="34" charset="0"/>
                <a:ea typeface="Calibri" pitchFamily="34" charset="-122"/>
                <a:cs typeface="Calibri" pitchFamily="34" charset="-120"/>
              </a:rPr>
              <a:t>Thomas Nast, 1874  </a:t>
            </a:r>
            <a:pPr algn="l" indent="0" marL="0">
              <a:lnSpc>
                <a:spcPct val="100000"/>
              </a:lnSpc>
              <a:buNone/>
            </a:pPr>
            <a:r>
              <a:rPr lang="en-US" sz="9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80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8">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F3A5F"/>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B22234"/>
                </a:solidFill>
                <a:latin typeface="Trebuchet MS" pitchFamily="34" charset="0"/>
                <a:ea typeface="Trebuchet MS" pitchFamily="34" charset="-122"/>
                <a:cs typeface="Trebuchet MS" pitchFamily="34" charset="-120"/>
              </a:rPr>
              <a:t>US.03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F3A5F"/>
                </a:solidFill>
                <a:latin typeface="Georgia" pitchFamily="34" charset="0"/>
                <a:ea typeface="Georgia" pitchFamily="34" charset="-122"/>
                <a:cs typeface="Georgia" pitchFamily="34" charset="-120"/>
              </a:rPr>
              <a:t>Pap Singleton and the Exodusters</a:t>
            </a:r>
            <a:endParaRPr lang="en-US" sz="3000" dirty="0"/>
          </a:p>
        </p:txBody>
      </p:sp>
      <p:sp>
        <p:nvSpPr>
          <p:cNvPr id="5" name="Shape 3"/>
          <p:cNvSpPr/>
          <p:nvPr/>
        </p:nvSpPr>
        <p:spPr>
          <a:xfrm>
            <a:off x="10472623" y="502920"/>
            <a:ext cx="146304" cy="146304"/>
          </a:xfrm>
          <a:prstGeom prst="ellipse">
            <a:avLst/>
          </a:prstGeom>
          <a:solidFill>
            <a:srgbClr val="A7BACB"/>
          </a:solidFill>
          <a:ln/>
        </p:spPr>
        <p:txBody>
          <a:bodyPr/>
          <a:p/>
        </p:txBody>
      </p:sp>
      <p:sp>
        <p:nvSpPr>
          <p:cNvPr id="6" name="Shape 4"/>
          <p:cNvSpPr/>
          <p:nvPr/>
        </p:nvSpPr>
        <p:spPr>
          <a:xfrm>
            <a:off x="10765231" y="502920"/>
            <a:ext cx="146304" cy="146304"/>
          </a:xfrm>
          <a:prstGeom prst="ellipse">
            <a:avLst/>
          </a:prstGeom>
          <a:solidFill>
            <a:srgbClr val="A7BACB"/>
          </a:solidFill>
          <a:ln/>
        </p:spPr>
        <p:txBody>
          <a:bodyPr/>
          <a:p/>
        </p:txBody>
      </p:sp>
      <p:sp>
        <p:nvSpPr>
          <p:cNvPr id="7" name="Shape 5"/>
          <p:cNvSpPr/>
          <p:nvPr/>
        </p:nvSpPr>
        <p:spPr>
          <a:xfrm>
            <a:off x="11057839" y="502920"/>
            <a:ext cx="146304" cy="146304"/>
          </a:xfrm>
          <a:prstGeom prst="ellipse">
            <a:avLst/>
          </a:prstGeom>
          <a:solidFill>
            <a:srgbClr val="B22234"/>
          </a:solidFill>
          <a:ln/>
        </p:spPr>
        <p:txBody>
          <a:bodyPr/>
          <a:p/>
        </p:txBody>
      </p:sp>
      <p:sp>
        <p:nvSpPr>
          <p:cNvPr id="8" name="Shape 6"/>
          <p:cNvSpPr/>
          <p:nvPr/>
        </p:nvSpPr>
        <p:spPr>
          <a:xfrm>
            <a:off x="11350447" y="502920"/>
            <a:ext cx="146304" cy="146304"/>
          </a:xfrm>
          <a:prstGeom prst="ellipse">
            <a:avLst/>
          </a:prstGeom>
          <a:solidFill>
            <a:srgbClr val="A7BACB"/>
          </a:solidFill>
          <a:ln/>
        </p:spPr>
        <p:txBody>
          <a:bodyPr/>
          <a:p/>
        </p:txBody>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3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txBody>
          <a:bodyPr/>
          <a:p/>
        </p:txBody>
      </p:sp>
      <p:sp>
        <p:nvSpPr>
          <p:cNvPr id="11" name="Text 9"/>
          <p:cNvSpPr/>
          <p:nvPr/>
        </p:nvSpPr>
        <p:spPr>
          <a:xfrm>
            <a:off x="914400" y="2057400"/>
            <a:ext cx="10424160" cy="3566160"/>
          </a:xfrm>
          <a:prstGeom prst="rect">
            <a:avLst/>
          </a:prstGeom>
          <a:noFill/>
          <a:ln/>
        </p:spPr>
        <p:txBody>
          <a:bodyPr wrap="square" rtlCol="0" anchor="t"/>
          <a:lstStyle/>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Benjamin "Pap" Singleton, a formerly enslaved man, organized the migration of thousands of African Americans from the South to Kansas in 1879.</a:t>
            </a:r>
            <a:endParaRPr lang="en-US" sz="1700" dirty="0"/>
          </a:p>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These "Exodusters" sought to escape violence and oppression, establishing communities like Nicodemus, Kansas.</a:t>
            </a:r>
            <a:endParaRPr lang="en-US" sz="1700" dirty="0"/>
          </a:p>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While conditions in Kansas were often harsh, the Exoduster movement represented African American agency and resistance to Jim Crow terror.</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9">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F3A5F"/>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B22234"/>
                </a:solidFill>
                <a:latin typeface="Trebuchet MS" pitchFamily="34" charset="0"/>
                <a:ea typeface="Trebuchet MS" pitchFamily="34" charset="-122"/>
                <a:cs typeface="Trebuchet MS" pitchFamily="34" charset="-120"/>
              </a:rPr>
              <a:t>US.03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F3A5F"/>
                </a:solidFill>
                <a:latin typeface="Georgia" pitchFamily="34" charset="0"/>
                <a:ea typeface="Georgia" pitchFamily="34" charset="-122"/>
                <a:cs typeface="Georgia" pitchFamily="34" charset="-120"/>
              </a:rPr>
              <a:t>Plessy v. Ferguson and "Separate But Equal"</a:t>
            </a:r>
            <a:endParaRPr lang="en-US" sz="3000" dirty="0"/>
          </a:p>
        </p:txBody>
      </p:sp>
      <p:sp>
        <p:nvSpPr>
          <p:cNvPr id="5" name="Shape 3"/>
          <p:cNvSpPr/>
          <p:nvPr/>
        </p:nvSpPr>
        <p:spPr>
          <a:xfrm>
            <a:off x="10472623" y="502920"/>
            <a:ext cx="146304" cy="146304"/>
          </a:xfrm>
          <a:prstGeom prst="ellipse">
            <a:avLst/>
          </a:prstGeom>
          <a:solidFill>
            <a:srgbClr val="A7BACB"/>
          </a:solidFill>
          <a:ln/>
        </p:spPr>
        <p:txBody>
          <a:bodyPr/>
          <a:p/>
        </p:txBody>
      </p:sp>
      <p:sp>
        <p:nvSpPr>
          <p:cNvPr id="6" name="Shape 4"/>
          <p:cNvSpPr/>
          <p:nvPr/>
        </p:nvSpPr>
        <p:spPr>
          <a:xfrm>
            <a:off x="10765231" y="502920"/>
            <a:ext cx="146304" cy="146304"/>
          </a:xfrm>
          <a:prstGeom prst="ellipse">
            <a:avLst/>
          </a:prstGeom>
          <a:solidFill>
            <a:srgbClr val="A7BACB"/>
          </a:solidFill>
          <a:ln/>
        </p:spPr>
        <p:txBody>
          <a:bodyPr/>
          <a:p/>
        </p:txBody>
      </p:sp>
      <p:sp>
        <p:nvSpPr>
          <p:cNvPr id="7" name="Shape 5"/>
          <p:cNvSpPr/>
          <p:nvPr/>
        </p:nvSpPr>
        <p:spPr>
          <a:xfrm>
            <a:off x="11057839" y="502920"/>
            <a:ext cx="146304" cy="146304"/>
          </a:xfrm>
          <a:prstGeom prst="ellipse">
            <a:avLst/>
          </a:prstGeom>
          <a:solidFill>
            <a:srgbClr val="A7BACB"/>
          </a:solidFill>
          <a:ln/>
        </p:spPr>
        <p:txBody>
          <a:bodyPr/>
          <a:p/>
        </p:txBody>
      </p:sp>
      <p:sp>
        <p:nvSpPr>
          <p:cNvPr id="8" name="Shape 6"/>
          <p:cNvSpPr/>
          <p:nvPr/>
        </p:nvSpPr>
        <p:spPr>
          <a:xfrm>
            <a:off x="11350447" y="502920"/>
            <a:ext cx="146304" cy="146304"/>
          </a:xfrm>
          <a:prstGeom prst="ellipse">
            <a:avLst/>
          </a:prstGeom>
          <a:solidFill>
            <a:srgbClr val="B22234"/>
          </a:solidFill>
          <a:ln/>
        </p:spPr>
        <p:txBody>
          <a:bodyPr/>
          <a:p/>
        </p:txBody>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4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txBody>
          <a:bodyPr/>
          <a:p/>
        </p:txBody>
      </p:sp>
      <p:sp>
        <p:nvSpPr>
          <p:cNvPr id="11" name="Text 9"/>
          <p:cNvSpPr/>
          <p:nvPr/>
        </p:nvSpPr>
        <p:spPr>
          <a:xfrm>
            <a:off x="914400" y="2057400"/>
            <a:ext cx="10424160" cy="3566160"/>
          </a:xfrm>
          <a:prstGeom prst="rect">
            <a:avLst/>
          </a:prstGeom>
          <a:noFill/>
          <a:ln/>
        </p:spPr>
        <p:txBody>
          <a:bodyPr wrap="square" rtlCol="0" anchor="t"/>
          <a:lstStyle/>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1896 Supreme Court decision in Plessy v. Ferguson established the "separate but equal" doctrine, ruling that racial segregation was constitutional as long as facilities were supposedly equal.</a:t>
            </a:r>
            <a:endParaRPr lang="en-US" sz="1700" dirty="0"/>
          </a:p>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In practice, facilities for African Americans were grossly inferior.</a:t>
            </a:r>
            <a:endParaRPr lang="en-US" sz="1700" dirty="0"/>
          </a:p>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This decision legitimized Jim Crow segregation for nearly sixty years until Brown v. Board of Education (1954).</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0">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B22234"/>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B22234"/>
                </a:solidFill>
                <a:latin typeface="Trebuchet MS" pitchFamily="34" charset="0"/>
                <a:ea typeface="Trebuchet MS" pitchFamily="34" charset="-122"/>
                <a:cs typeface="Trebuchet MS" pitchFamily="34" charset="-120"/>
              </a:rPr>
              <a:t>US.03 · PEOPLE WHO SHAPED THE ERA</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F3A5F"/>
                </a:solidFill>
                <a:latin typeface="Georgia" pitchFamily="34" charset="0"/>
                <a:ea typeface="Georgia" pitchFamily="34" charset="-122"/>
                <a:cs typeface="Georgia" pitchFamily="34" charset="-120"/>
              </a:rPr>
              <a:t>Key Figures</a:t>
            </a:r>
            <a:endParaRPr lang="en-US" sz="3000" dirty="0"/>
          </a:p>
        </p:txBody>
      </p:sp>
      <p:sp>
        <p:nvSpPr>
          <p:cNvPr id="5" name="Shape 3"/>
          <p:cNvSpPr/>
          <p:nvPr/>
        </p:nvSpPr>
        <p:spPr>
          <a:xfrm>
            <a:off x="548640" y="1627632"/>
            <a:ext cx="5394960" cy="4114800"/>
          </a:xfrm>
          <a:prstGeom prst="rect">
            <a:avLst/>
          </a:prstGeom>
          <a:solidFill>
            <a:srgbClr val="FFFFFF"/>
          </a:solidFill>
          <a:ln w="12700">
            <a:solidFill>
              <a:srgbClr val="DAD3C2"/>
            </a:solidFill>
            <a:prstDash val="solid"/>
          </a:ln>
        </p:spPr>
        <p:txBody>
          <a:bodyPr/>
          <a:p/>
        </p:txBody>
      </p:sp>
      <p:sp>
        <p:nvSpPr>
          <p:cNvPr id="6" name="Shape 4"/>
          <p:cNvSpPr/>
          <p:nvPr/>
        </p:nvSpPr>
        <p:spPr>
          <a:xfrm>
            <a:off x="548640" y="1627632"/>
            <a:ext cx="5394960" cy="868680"/>
          </a:xfrm>
          <a:prstGeom prst="rect">
            <a:avLst/>
          </a:prstGeom>
          <a:solidFill>
            <a:srgbClr val="1F3A5F"/>
          </a:solidFill>
          <a:ln/>
        </p:spPr>
        <p:txBody>
          <a:bodyPr/>
          <a:p/>
        </p:txBody>
      </p:sp>
      <p:sp>
        <p:nvSpPr>
          <p:cNvPr id="7" name="Text 5"/>
          <p:cNvSpPr/>
          <p:nvPr/>
        </p:nvSpPr>
        <p:spPr>
          <a:xfrm>
            <a:off x="667512" y="1627632"/>
            <a:ext cx="5157216" cy="630936"/>
          </a:xfrm>
          <a:prstGeom prst="rect">
            <a:avLst/>
          </a:prstGeom>
          <a:noFill/>
          <a:ln/>
        </p:spPr>
        <p:txBody>
          <a:bodyPr wrap="square" rtlCol="0" anchor="ctr">
            <a:normAutofit/>
          </a:bodyPr>
          <a:lstStyle/>
          <a:p>
            <a:pPr indent="0" marL="0">
              <a:lnSpc>
                <a:spcPct val="95000"/>
              </a:lnSpc>
              <a:buNone/>
            </a:pPr>
            <a:r>
              <a:rPr lang="en-US" sz="1800" b="1" dirty="0">
                <a:solidFill>
                  <a:srgbClr val="FFFFFF"/>
                </a:solidFill>
                <a:latin typeface="Georgia" pitchFamily="34" charset="0"/>
                <a:ea typeface="Georgia" pitchFamily="34" charset="-122"/>
                <a:cs typeface="Georgia" pitchFamily="34" charset="-120"/>
              </a:rPr>
              <a:t>Ida B. Wells</a:t>
            </a:r>
            <a:endParaRPr lang="en-US" sz="1800" dirty="0"/>
          </a:p>
        </p:txBody>
      </p:sp>
      <p:sp>
        <p:nvSpPr>
          <p:cNvPr id="8" name="Text 6"/>
          <p:cNvSpPr/>
          <p:nvPr/>
        </p:nvSpPr>
        <p:spPr>
          <a:xfrm>
            <a:off x="667512" y="2221992"/>
            <a:ext cx="5157216" cy="274320"/>
          </a:xfrm>
          <a:prstGeom prst="rect">
            <a:avLst/>
          </a:prstGeom>
          <a:noFill/>
          <a:ln/>
        </p:spPr>
        <p:txBody>
          <a:bodyPr wrap="square" rtlCol="0" anchor="ctr">
            <a:normAutofit/>
          </a:bodyPr>
          <a:lstStyle/>
          <a:p>
            <a:pPr indent="0" marL="0">
              <a:buNone/>
            </a:pPr>
            <a:r>
              <a:rPr lang="en-US" sz="1100" dirty="0">
                <a:solidFill>
                  <a:srgbClr val="F9A825"/>
                </a:solidFill>
                <a:latin typeface="Trebuchet MS" pitchFamily="34" charset="0"/>
                <a:ea typeface="Trebuchet MS" pitchFamily="34" charset="-122"/>
                <a:cs typeface="Trebuchet MS" pitchFamily="34" charset="-120"/>
              </a:rPr>
              <a:t>Investigative Journalist · Newspaper Editor</a:t>
            </a:r>
            <a:endParaRPr lang="en-US" sz="1100" dirty="0"/>
          </a:p>
        </p:txBody>
      </p:sp>
      <p:sp>
        <p:nvSpPr>
          <p:cNvPr id="9" name="Text 7"/>
          <p:cNvSpPr/>
          <p:nvPr/>
        </p:nvSpPr>
        <p:spPr>
          <a:xfrm>
            <a:off x="694944" y="2606040"/>
            <a:ext cx="5102352" cy="2542032"/>
          </a:xfrm>
          <a:prstGeom prst="rect">
            <a:avLst/>
          </a:prstGeom>
          <a:noFill/>
          <a:ln/>
        </p:spPr>
        <p:txBody>
          <a:bodyPr wrap="square" rtlCol="0" anchor="ctr"/>
          <a:lstStyle/>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Led the first anti-lynching campaign in American history</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Co-founded the NAACP</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Documented over 700 lynchings in "Southern Horrors"</a:t>
            </a:r>
            <a:endParaRPr lang="en-US" sz="1300" dirty="0"/>
          </a:p>
        </p:txBody>
      </p:sp>
      <p:sp>
        <p:nvSpPr>
          <p:cNvPr id="10" name="Shape 8"/>
          <p:cNvSpPr/>
          <p:nvPr/>
        </p:nvSpPr>
        <p:spPr>
          <a:xfrm>
            <a:off x="667512" y="5148072"/>
            <a:ext cx="5157216" cy="512064"/>
          </a:xfrm>
          <a:prstGeom prst="roundRect">
            <a:avLst>
              <a:gd name="adj" fmla="val 10714"/>
            </a:avLst>
          </a:prstGeom>
          <a:solidFill>
            <a:srgbClr val="FBEFD0"/>
          </a:solidFill>
          <a:ln w="15875">
            <a:solidFill>
              <a:srgbClr val="C9A227"/>
            </a:solidFill>
            <a:prstDash val="solid"/>
          </a:ln>
        </p:spPr>
        <p:txBody>
          <a:bodyPr/>
          <a:p/>
        </p:txBody>
      </p:sp>
      <p:sp>
        <p:nvSpPr>
          <p:cNvPr id="11" name="Text 9"/>
          <p:cNvSpPr/>
          <p:nvPr/>
        </p:nvSpPr>
        <p:spPr>
          <a:xfrm>
            <a:off x="749808" y="5175504"/>
            <a:ext cx="5010912" cy="457200"/>
          </a:xfrm>
          <a:prstGeom prst="rect">
            <a:avLst/>
          </a:prstGeom>
          <a:noFill/>
          <a:ln/>
        </p:spPr>
        <p:txBody>
          <a:bodyPr wrap="square" rtlCol="0" anchor="ctr">
            <a:normAutofit/>
          </a:bodyPr>
          <a:lstStyle/>
          <a:p>
            <a:pPr indent="0" marL="0">
              <a:lnSpc>
                <a:spcPct val="92000"/>
              </a:lnSpc>
              <a:buNone/>
            </a:pPr>
            <a:r>
              <a:rPr lang="en-US" sz="900" b="1" spc="100" kern="0" dirty="0">
                <a:solidFill>
                  <a:srgbClr val="B22234"/>
                </a:solidFill>
                <a:latin typeface="Trebuchet MS" pitchFamily="34" charset="0"/>
                <a:ea typeface="Trebuchet MS" pitchFamily="34" charset="-122"/>
                <a:cs typeface="Trebuchet MS" pitchFamily="34" charset="-120"/>
              </a:rPr>
              <a:t>STRATEGY  </a:t>
            </a:r>
            <a:pPr indent="0" marL="0">
              <a:lnSpc>
                <a:spcPct val="92000"/>
              </a:lnSpc>
              <a:buNone/>
            </a:pPr>
            <a:r>
              <a:rPr lang="en-US" sz="1100" b="1" dirty="0">
                <a:solidFill>
                  <a:srgbClr val="1F3A5F"/>
                </a:solidFill>
                <a:latin typeface="Calibri" pitchFamily="34" charset="0"/>
                <a:ea typeface="Calibri" pitchFamily="34" charset="-122"/>
                <a:cs typeface="Calibri" pitchFamily="34" charset="-120"/>
              </a:rPr>
              <a:t>Investigative journalism</a:t>
            </a:r>
            <a:endParaRPr lang="en-US" sz="800" dirty="0"/>
          </a:p>
        </p:txBody>
      </p:sp>
      <p:sp>
        <p:nvSpPr>
          <p:cNvPr id="12" name="Shape 10"/>
          <p:cNvSpPr/>
          <p:nvPr/>
        </p:nvSpPr>
        <p:spPr>
          <a:xfrm>
            <a:off x="6217920" y="1627632"/>
            <a:ext cx="5394960" cy="4114800"/>
          </a:xfrm>
          <a:prstGeom prst="rect">
            <a:avLst/>
          </a:prstGeom>
          <a:solidFill>
            <a:srgbClr val="FFFFFF"/>
          </a:solidFill>
          <a:ln w="12700">
            <a:solidFill>
              <a:srgbClr val="DAD3C2"/>
            </a:solidFill>
            <a:prstDash val="solid"/>
          </a:ln>
        </p:spPr>
        <p:txBody>
          <a:bodyPr/>
          <a:p/>
        </p:txBody>
      </p:sp>
      <p:sp>
        <p:nvSpPr>
          <p:cNvPr id="13" name="Shape 11"/>
          <p:cNvSpPr/>
          <p:nvPr/>
        </p:nvSpPr>
        <p:spPr>
          <a:xfrm>
            <a:off x="6217920" y="1627632"/>
            <a:ext cx="5394960" cy="868680"/>
          </a:xfrm>
          <a:prstGeom prst="rect">
            <a:avLst/>
          </a:prstGeom>
          <a:solidFill>
            <a:srgbClr val="1F3A5F"/>
          </a:solidFill>
          <a:ln/>
        </p:spPr>
        <p:txBody>
          <a:bodyPr/>
          <a:p/>
        </p:txBody>
      </p:sp>
      <p:sp>
        <p:nvSpPr>
          <p:cNvPr id="14" name="Text 12"/>
          <p:cNvSpPr/>
          <p:nvPr/>
        </p:nvSpPr>
        <p:spPr>
          <a:xfrm>
            <a:off x="6336792" y="1627632"/>
            <a:ext cx="5157216" cy="630936"/>
          </a:xfrm>
          <a:prstGeom prst="rect">
            <a:avLst/>
          </a:prstGeom>
          <a:noFill/>
          <a:ln/>
        </p:spPr>
        <p:txBody>
          <a:bodyPr wrap="square" rtlCol="0" anchor="ctr">
            <a:normAutofit/>
          </a:bodyPr>
          <a:lstStyle/>
          <a:p>
            <a:pPr indent="0" marL="0">
              <a:lnSpc>
                <a:spcPct val="95000"/>
              </a:lnSpc>
              <a:buNone/>
            </a:pPr>
            <a:r>
              <a:rPr lang="en-US" sz="1800" b="1" dirty="0">
                <a:solidFill>
                  <a:srgbClr val="FFFFFF"/>
                </a:solidFill>
                <a:latin typeface="Georgia" pitchFamily="34" charset="0"/>
                <a:ea typeface="Georgia" pitchFamily="34" charset="-122"/>
                <a:cs typeface="Georgia" pitchFamily="34" charset="-120"/>
              </a:rPr>
              <a:t>Booker T. Washington</a:t>
            </a:r>
            <a:endParaRPr lang="en-US" sz="1800" dirty="0"/>
          </a:p>
        </p:txBody>
      </p:sp>
      <p:sp>
        <p:nvSpPr>
          <p:cNvPr id="15" name="Text 13"/>
          <p:cNvSpPr/>
          <p:nvPr/>
        </p:nvSpPr>
        <p:spPr>
          <a:xfrm>
            <a:off x="6336792" y="2221992"/>
            <a:ext cx="5157216" cy="274320"/>
          </a:xfrm>
          <a:prstGeom prst="rect">
            <a:avLst/>
          </a:prstGeom>
          <a:noFill/>
          <a:ln/>
        </p:spPr>
        <p:txBody>
          <a:bodyPr wrap="square" rtlCol="0" anchor="ctr">
            <a:normAutofit/>
          </a:bodyPr>
          <a:lstStyle/>
          <a:p>
            <a:pPr indent="0" marL="0">
              <a:buNone/>
            </a:pPr>
            <a:r>
              <a:rPr lang="en-US" sz="1100" dirty="0">
                <a:solidFill>
                  <a:srgbClr val="F9A825"/>
                </a:solidFill>
                <a:latin typeface="Trebuchet MS" pitchFamily="34" charset="0"/>
                <a:ea typeface="Trebuchet MS" pitchFamily="34" charset="-122"/>
                <a:cs typeface="Trebuchet MS" pitchFamily="34" charset="-120"/>
              </a:rPr>
              <a:t>Educator · Author</a:t>
            </a:r>
            <a:endParaRPr lang="en-US" sz="1100" dirty="0"/>
          </a:p>
        </p:txBody>
      </p:sp>
      <p:sp>
        <p:nvSpPr>
          <p:cNvPr id="16" name="Text 14"/>
          <p:cNvSpPr/>
          <p:nvPr/>
        </p:nvSpPr>
        <p:spPr>
          <a:xfrm>
            <a:off x="6364224" y="2606040"/>
            <a:ext cx="5102352" cy="2542032"/>
          </a:xfrm>
          <a:prstGeom prst="rect">
            <a:avLst/>
          </a:prstGeom>
          <a:noFill/>
          <a:ln/>
        </p:spPr>
        <p:txBody>
          <a:bodyPr wrap="square" rtlCol="0" anchor="ctr"/>
          <a:lstStyle/>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Founded and led Tuskegee Institute</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Became the most influential African American leader of his era</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Delivered the "Atlanta Compromise" speech</a:t>
            </a:r>
            <a:endParaRPr lang="en-US" sz="1300" dirty="0"/>
          </a:p>
        </p:txBody>
      </p:sp>
      <p:sp>
        <p:nvSpPr>
          <p:cNvPr id="17" name="Shape 15"/>
          <p:cNvSpPr/>
          <p:nvPr/>
        </p:nvSpPr>
        <p:spPr>
          <a:xfrm>
            <a:off x="6336792" y="5148072"/>
            <a:ext cx="5157216" cy="512064"/>
          </a:xfrm>
          <a:prstGeom prst="roundRect">
            <a:avLst>
              <a:gd name="adj" fmla="val 10714"/>
            </a:avLst>
          </a:prstGeom>
          <a:solidFill>
            <a:srgbClr val="FBEFD0"/>
          </a:solidFill>
          <a:ln w="15875">
            <a:solidFill>
              <a:srgbClr val="C9A227"/>
            </a:solidFill>
            <a:prstDash val="solid"/>
          </a:ln>
        </p:spPr>
        <p:txBody>
          <a:bodyPr/>
          <a:p/>
        </p:txBody>
      </p:sp>
      <p:sp>
        <p:nvSpPr>
          <p:cNvPr id="18" name="Text 16"/>
          <p:cNvSpPr/>
          <p:nvPr/>
        </p:nvSpPr>
        <p:spPr>
          <a:xfrm>
            <a:off x="6419088" y="5175504"/>
            <a:ext cx="5010912" cy="457200"/>
          </a:xfrm>
          <a:prstGeom prst="rect">
            <a:avLst/>
          </a:prstGeom>
          <a:noFill/>
          <a:ln/>
        </p:spPr>
        <p:txBody>
          <a:bodyPr wrap="square" rtlCol="0" anchor="ctr">
            <a:normAutofit/>
          </a:bodyPr>
          <a:lstStyle/>
          <a:p>
            <a:pPr indent="0" marL="0">
              <a:lnSpc>
                <a:spcPct val="92000"/>
              </a:lnSpc>
              <a:buNone/>
            </a:pPr>
            <a:r>
              <a:rPr lang="en-US" sz="900" b="1" spc="100" kern="0" dirty="0">
                <a:solidFill>
                  <a:srgbClr val="B22234"/>
                </a:solidFill>
                <a:latin typeface="Trebuchet MS" pitchFamily="34" charset="0"/>
                <a:ea typeface="Trebuchet MS" pitchFamily="34" charset="-122"/>
                <a:cs typeface="Trebuchet MS" pitchFamily="34" charset="-120"/>
              </a:rPr>
              <a:t>STRATEGY  </a:t>
            </a:r>
            <a:pPr indent="0" marL="0">
              <a:lnSpc>
                <a:spcPct val="92000"/>
              </a:lnSpc>
              <a:buNone/>
            </a:pPr>
            <a:r>
              <a:rPr lang="en-US" sz="1100" b="1" dirty="0">
                <a:solidFill>
                  <a:srgbClr val="1F3A5F"/>
                </a:solidFill>
                <a:latin typeface="Calibri" pitchFamily="34" charset="0"/>
                <a:ea typeface="Calibri" pitchFamily="34" charset="-122"/>
                <a:cs typeface="Calibri" pitchFamily="34" charset="-120"/>
              </a:rPr>
              <a:t>Gradual self-help</a:t>
            </a:r>
            <a:endParaRPr lang="en-US" sz="800" dirty="0"/>
          </a:p>
        </p:txBody>
      </p:sp>
      <p:sp>
        <p:nvSpPr>
          <p:cNvPr id="19" name="Text 17"/>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0"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1">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285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002858"/>
                </a:solidFill>
                <a:latin typeface="Trebuchet MS" pitchFamily="34" charset="0"/>
                <a:ea typeface="Trebuchet MS" pitchFamily="34" charset="-122"/>
                <a:cs typeface="Trebuchet MS" pitchFamily="34" charset="-120"/>
              </a:rPr>
              <a:t>US.03 · PRIMARY SOURCE ANALYSIS</a:t>
            </a:r>
            <a:endParaRPr lang="en-US" sz="1200" dirty="0"/>
          </a:p>
        </p:txBody>
      </p:sp>
      <p:sp>
        <p:nvSpPr>
          <p:cNvPr id="4" name="Text 2"/>
          <p:cNvSpPr/>
          <p:nvPr/>
        </p:nvSpPr>
        <p:spPr>
          <a:xfrm>
            <a:off x="548640" y="731520"/>
            <a:ext cx="8686800" cy="640080"/>
          </a:xfrm>
          <a:prstGeom prst="rect">
            <a:avLst/>
          </a:prstGeom>
          <a:noFill/>
          <a:ln/>
        </p:spPr>
        <p:txBody>
          <a:bodyPr wrap="square" rtlCol="0" anchor="t"/>
          <a:lstStyle/>
          <a:p>
            <a:pPr indent="0" marL="0">
              <a:buNone/>
            </a:pPr>
            <a:r>
              <a:rPr lang="en-US" sz="2500" b="1" dirty="0">
                <a:solidFill>
                  <a:srgbClr val="1F3A5F"/>
                </a:solidFill>
                <a:latin typeface="Georgia" pitchFamily="34" charset="0"/>
                <a:ea typeface="Georgia" pitchFamily="34" charset="-122"/>
                <a:cs typeface="Georgia" pitchFamily="34" charset="-120"/>
              </a:rPr>
              <a:t>Plessy v. Ferguson Decision</a:t>
            </a:r>
            <a:endParaRPr lang="en-US" sz="2500" dirty="0"/>
          </a:p>
        </p:txBody>
      </p:sp>
      <p:sp>
        <p:nvSpPr>
          <p:cNvPr id="5" name="Shape 3"/>
          <p:cNvSpPr/>
          <p:nvPr/>
        </p:nvSpPr>
        <p:spPr>
          <a:xfrm>
            <a:off x="9418320" y="777240"/>
            <a:ext cx="2194560" cy="457200"/>
          </a:xfrm>
          <a:prstGeom prst="roundRect">
            <a:avLst>
              <a:gd name="adj" fmla="val 20000"/>
            </a:avLst>
          </a:prstGeom>
          <a:solidFill>
            <a:srgbClr val="002858"/>
          </a:solidFill>
          <a:ln/>
        </p:spPr>
        <p:txBody>
          <a:bodyPr/>
          <a:p/>
        </p:txBody>
      </p:sp>
      <p:sp>
        <p:nvSpPr>
          <p:cNvPr id="6" name="Text 4"/>
          <p:cNvSpPr/>
          <p:nvPr/>
        </p:nvSpPr>
        <p:spPr>
          <a:xfrm>
            <a:off x="9418320" y="777240"/>
            <a:ext cx="219456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Argumentation</a:t>
            </a:r>
            <a:endParaRPr lang="en-US" sz="1200" dirty="0"/>
          </a:p>
        </p:txBody>
      </p:sp>
      <p:sp>
        <p:nvSpPr>
          <p:cNvPr id="7" name="Text 5"/>
          <p:cNvSpPr/>
          <p:nvPr/>
        </p:nvSpPr>
        <p:spPr>
          <a:xfrm>
            <a:off x="548640" y="1335024"/>
            <a:ext cx="10058400" cy="274320"/>
          </a:xfrm>
          <a:prstGeom prst="rect">
            <a:avLst/>
          </a:prstGeom>
          <a:noFill/>
          <a:ln/>
        </p:spPr>
        <p:txBody>
          <a:bodyPr wrap="square" rtlCol="0" anchor="ctr"/>
          <a:lstStyle/>
          <a:p>
            <a:pPr indent="0" marL="0">
              <a:buNone/>
            </a:pPr>
            <a:r>
              <a:rPr lang="en-US" sz="1200" i="1" dirty="0">
                <a:solidFill>
                  <a:srgbClr val="5C6470"/>
                </a:solidFill>
                <a:latin typeface="Calibri" pitchFamily="34" charset="0"/>
                <a:ea typeface="Calibri" pitchFamily="34" charset="-122"/>
                <a:cs typeface="Calibri" pitchFamily="34" charset="-120"/>
              </a:rPr>
              <a:t>Supreme Court of the United States  ·  May 18, 1896 (163 U.S. 537)</a:t>
            </a:r>
            <a:endParaRPr lang="en-US" sz="1200" dirty="0"/>
          </a:p>
        </p:txBody>
      </p:sp>
      <p:sp>
        <p:nvSpPr>
          <p:cNvPr id="8" name="Shape 6"/>
          <p:cNvSpPr/>
          <p:nvPr/>
        </p:nvSpPr>
        <p:spPr>
          <a:xfrm>
            <a:off x="512064" y="1700784"/>
            <a:ext cx="3273552" cy="2660904"/>
          </a:xfrm>
          <a:prstGeom prst="rect">
            <a:avLst/>
          </a:prstGeom>
          <a:solidFill>
            <a:srgbClr val="FFFFFF"/>
          </a:solidFill>
          <a:ln w="12700">
            <a:solidFill>
              <a:srgbClr val="DAD3C2"/>
            </a:solidFill>
            <a:prstDash val="solid"/>
          </a:ln>
        </p:spPr>
        <p:txBody>
          <a:bodyPr/>
          <a:p/>
        </p:txBody>
      </p:sp>
      <p:pic>
        <p:nvPicPr>
          <p:cNvPr id="9" name="Image 0" descr="Supreme Court of the United States  ·  May 18, 1896 (163 U.S. 537)">    </p:cNvPr>
          <p:cNvPicPr>
            <a:picLocks noChangeAspect="1"/>
          </p:cNvPicPr>
          <p:nvPr/>
        </p:nvPicPr>
        <p:blipFill>
          <a:blip r:embed="rId1"/>
          <a:srcRect l="0" r="0" t="0" b="0"/>
          <a:stretch/>
        </p:blipFill>
        <p:spPr>
          <a:xfrm>
            <a:off x="548640" y="1737360"/>
            <a:ext cx="3200400" cy="2587752"/>
          </a:xfrm>
          <a:prstGeom prst="rect">
            <a:avLst/>
          </a:prstGeom>
        </p:spPr>
      </p:pic>
      <p:sp>
        <p:nvSpPr>
          <p:cNvPr id="10" name="Text 7"/>
          <p:cNvSpPr/>
          <p:nvPr/>
        </p:nvSpPr>
        <p:spPr>
          <a:xfrm>
            <a:off x="548640" y="4379976"/>
            <a:ext cx="3200400" cy="603504"/>
          </a:xfrm>
          <a:prstGeom prst="rect">
            <a:avLst/>
          </a:prstGeom>
          <a:noFill/>
          <a:ln/>
        </p:spPr>
        <p:txBody>
          <a:bodyPr wrap="square" rtlCol="0" anchor="t"/>
          <a:lstStyle/>
          <a:p>
            <a:pPr algn="l" indent="0" marL="0">
              <a:lnSpc>
                <a:spcPct val="100000"/>
              </a:lnSpc>
              <a:buNone/>
            </a:pPr>
            <a:pPr algn="l" indent="0" marL="0">
              <a:lnSpc>
                <a:spcPct val="100000"/>
              </a:lnSpc>
              <a:buNone/>
            </a:pPr>
            <a:r>
              <a:rPr lang="en-US" sz="900" i="1" dirty="0">
                <a:solidFill>
                  <a:srgbClr val="5C6470"/>
                </a:solidFill>
                <a:latin typeface="Calibri" pitchFamily="34" charset="0"/>
                <a:ea typeface="Calibri" pitchFamily="34" charset="-122"/>
                <a:cs typeface="Calibri" pitchFamily="34" charset="-120"/>
              </a:rPr>
              <a:t>Shorey (photographer), 1876  </a:t>
            </a:r>
            <a:pPr algn="l" indent="0" marL="0">
              <a:lnSpc>
                <a:spcPct val="100000"/>
              </a:lnSpc>
              <a:buNone/>
            </a:pPr>
            <a:r>
              <a:rPr lang="en-US" sz="9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750" dirty="0"/>
          </a:p>
        </p:txBody>
      </p:sp>
      <p:sp>
        <p:nvSpPr>
          <p:cNvPr id="11" name="Shape 8"/>
          <p:cNvSpPr/>
          <p:nvPr/>
        </p:nvSpPr>
        <p:spPr>
          <a:xfrm>
            <a:off x="658368" y="1828800"/>
            <a:ext cx="2980944" cy="512064"/>
          </a:xfrm>
          <a:prstGeom prst="roundRect">
            <a:avLst>
              <a:gd name="adj" fmla="val 10714"/>
            </a:avLst>
          </a:prstGeom>
          <a:solidFill>
            <a:srgbClr val="C9A227"/>
          </a:solidFill>
          <a:ln w="12700">
            <a:solidFill>
              <a:srgbClr val="1F3A5F"/>
            </a:solidFill>
            <a:prstDash val="solid"/>
          </a:ln>
        </p:spPr>
        <p:txBody>
          <a:bodyPr/>
          <a:p/>
        </p:txBody>
      </p:sp>
      <p:sp>
        <p:nvSpPr>
          <p:cNvPr id="12" name="Text 9"/>
          <p:cNvSpPr/>
          <p:nvPr/>
        </p:nvSpPr>
        <p:spPr>
          <a:xfrm>
            <a:off x="768096" y="1865376"/>
            <a:ext cx="2761488" cy="438912"/>
          </a:xfrm>
          <a:prstGeom prst="rect">
            <a:avLst/>
          </a:prstGeom>
          <a:noFill/>
          <a:ln/>
        </p:spPr>
        <p:txBody>
          <a:bodyPr wrap="square" rtlCol="0" anchor="ctr"/>
          <a:lstStyle/>
          <a:p>
            <a:pPr indent="0" marL="0">
              <a:lnSpc>
                <a:spcPct val="95000"/>
              </a:lnSpc>
              <a:buNone/>
            </a:pPr>
            <a:r>
              <a:rPr lang="en-US" sz="950" b="1" spc="150" kern="0" dirty="0">
                <a:solidFill>
                  <a:srgbClr val="1F3A5F"/>
                </a:solidFill>
                <a:latin typeface="Trebuchet MS" pitchFamily="34" charset="0"/>
                <a:ea typeface="Trebuchet MS" pitchFamily="34" charset="-122"/>
                <a:cs typeface="Trebuchet MS" pitchFamily="34" charset="-120"/>
              </a:rPr>
              <a:t>ZOOM IN  </a:t>
            </a:r>
            <a:pPr indent="0" marL="0">
              <a:lnSpc>
                <a:spcPct val="95000"/>
              </a:lnSpc>
              <a:buNone/>
            </a:pPr>
            <a:r>
              <a:rPr lang="en-US" sz="900" i="1" dirty="0">
                <a:solidFill>
                  <a:srgbClr val="1F3A5F"/>
                </a:solidFill>
                <a:latin typeface="Calibri" pitchFamily="34" charset="0"/>
                <a:ea typeface="Calibri" pitchFamily="34" charset="-122"/>
                <a:cs typeface="Calibri" pitchFamily="34" charset="-120"/>
              </a:rPr>
              <a:t>Find ONE detail that surprises you — be ready to name it.</a:t>
            </a:r>
            <a:endParaRPr lang="en-US" sz="950" dirty="0"/>
          </a:p>
        </p:txBody>
      </p:sp>
      <p:sp>
        <p:nvSpPr>
          <p:cNvPr id="13" name="Shape 10"/>
          <p:cNvSpPr/>
          <p:nvPr/>
        </p:nvSpPr>
        <p:spPr>
          <a:xfrm>
            <a:off x="3931920" y="1737360"/>
            <a:ext cx="3520440" cy="3246120"/>
          </a:xfrm>
          <a:prstGeom prst="rect">
            <a:avLst/>
          </a:prstGeom>
          <a:solidFill>
            <a:srgbClr val="FFFFFF"/>
          </a:solidFill>
          <a:ln w="12700">
            <a:solidFill>
              <a:srgbClr val="DAD3C2"/>
            </a:solidFill>
            <a:prstDash val="solid"/>
          </a:ln>
        </p:spPr>
        <p:txBody>
          <a:bodyPr/>
          <a:p/>
        </p:txBody>
      </p:sp>
      <p:sp>
        <p:nvSpPr>
          <p:cNvPr id="14" name="Shape 11"/>
          <p:cNvSpPr/>
          <p:nvPr/>
        </p:nvSpPr>
        <p:spPr>
          <a:xfrm>
            <a:off x="3931920" y="1737360"/>
            <a:ext cx="91440" cy="3246120"/>
          </a:xfrm>
          <a:prstGeom prst="rect">
            <a:avLst/>
          </a:prstGeom>
          <a:solidFill>
            <a:srgbClr val="C9A227"/>
          </a:solidFill>
          <a:ln/>
        </p:spPr>
        <p:txBody>
          <a:bodyPr/>
          <a:p/>
        </p:txBody>
      </p:sp>
      <p:sp>
        <p:nvSpPr>
          <p:cNvPr id="15" name="Text 12"/>
          <p:cNvSpPr/>
          <p:nvPr/>
        </p:nvSpPr>
        <p:spPr>
          <a:xfrm>
            <a:off x="4160520" y="1920240"/>
            <a:ext cx="3200400" cy="2880360"/>
          </a:xfrm>
          <a:prstGeom prst="rect">
            <a:avLst/>
          </a:prstGeom>
          <a:noFill/>
          <a:ln/>
        </p:spPr>
        <p:txBody>
          <a:bodyPr wrap="square" rtlCol="0" anchor="t"/>
          <a:lstStyle/>
          <a:p>
            <a:pPr indent="0" marL="0">
              <a:lnSpc>
                <a:spcPct val="112000"/>
              </a:lnSpc>
              <a:buNone/>
            </a:pPr>
            <a:r>
              <a:rPr lang="en-US" sz="1150" i="1" dirty="0">
                <a:solidFill>
                  <a:srgbClr val="1F2430"/>
                </a:solidFill>
                <a:latin typeface="Georgia" pitchFamily="34" charset="0"/>
                <a:ea typeface="Georgia" pitchFamily="34" charset="-122"/>
                <a:cs typeface="Georgia" pitchFamily="34" charset="-120"/>
              </a:rPr>
              <a:t>"Laws permitting, and even requiring, their separation in places where they are liable to be brought into contact do not necessarily imply the inferiority of either race to the other... We consider the underlying fallacy of the plaintiff's argument to consist in the assumption that the enforced separation of the two races stamps the colored race with a badge of inferiority."</a:t>
            </a:r>
            <a:endParaRPr lang="en-US" sz="1150" dirty="0"/>
          </a:p>
        </p:txBody>
      </p:sp>
      <p:sp>
        <p:nvSpPr>
          <p:cNvPr id="16" name="Shape 13"/>
          <p:cNvSpPr/>
          <p:nvPr/>
        </p:nvSpPr>
        <p:spPr>
          <a:xfrm>
            <a:off x="7589520" y="1737360"/>
            <a:ext cx="4023360" cy="1783080"/>
          </a:xfrm>
          <a:prstGeom prst="roundRect">
            <a:avLst>
              <a:gd name="adj" fmla="val 4103"/>
            </a:avLst>
          </a:prstGeom>
          <a:solidFill>
            <a:srgbClr val="1F3A5F"/>
          </a:solidFill>
          <a:ln/>
        </p:spPr>
        <p:txBody>
          <a:bodyPr/>
          <a:p/>
        </p:txBody>
      </p:sp>
      <p:sp>
        <p:nvSpPr>
          <p:cNvPr id="17" name="Text 14"/>
          <p:cNvSpPr/>
          <p:nvPr/>
        </p:nvSpPr>
        <p:spPr>
          <a:xfrm>
            <a:off x="7818120" y="1856232"/>
            <a:ext cx="3657600" cy="274320"/>
          </a:xfrm>
          <a:prstGeom prst="rect">
            <a:avLst/>
          </a:prstGeom>
          <a:noFill/>
          <a:ln/>
        </p:spPr>
        <p:txBody>
          <a:bodyPr wrap="square" rtlCol="0" anchor="ctr"/>
          <a:lstStyle/>
          <a:p>
            <a:pPr indent="0" marL="0">
              <a:buNone/>
            </a:pPr>
            <a:r>
              <a:rPr lang="en-US" sz="1100" b="1" spc="200" kern="0" dirty="0">
                <a:solidFill>
                  <a:srgbClr val="F9A825"/>
                </a:solidFill>
                <a:latin typeface="Trebuchet MS" pitchFamily="34" charset="0"/>
                <a:ea typeface="Trebuchet MS" pitchFamily="34" charset="-122"/>
                <a:cs typeface="Trebuchet MS" pitchFamily="34" charset="-120"/>
              </a:rPr>
              <a:t>CONTEXT</a:t>
            </a:r>
            <a:endParaRPr lang="en-US" sz="1100" dirty="0"/>
          </a:p>
        </p:txBody>
      </p:sp>
      <p:sp>
        <p:nvSpPr>
          <p:cNvPr id="18" name="Text 15"/>
          <p:cNvSpPr/>
          <p:nvPr/>
        </p:nvSpPr>
        <p:spPr>
          <a:xfrm>
            <a:off x="7818120" y="2139696"/>
            <a:ext cx="3611880" cy="1271016"/>
          </a:xfrm>
          <a:prstGeom prst="rect">
            <a:avLst/>
          </a:prstGeom>
          <a:noFill/>
          <a:ln/>
        </p:spPr>
        <p:txBody>
          <a:bodyPr wrap="square" rtlCol="0" anchor="t"/>
          <a:lstStyle/>
          <a:p>
            <a:pPr indent="0" marL="0">
              <a:lnSpc>
                <a:spcPct val="98000"/>
              </a:lnSpc>
              <a:buNone/>
            </a:pPr>
            <a:r>
              <a:rPr lang="en-US" sz="900" dirty="0">
                <a:solidFill>
                  <a:srgbClr val="FFFFFF"/>
                </a:solidFill>
                <a:latin typeface="Calibri" pitchFamily="34" charset="0"/>
                <a:ea typeface="Calibri" pitchFamily="34" charset="-122"/>
                <a:cs typeface="Calibri" pitchFamily="34" charset="-120"/>
              </a:rPr>
              <a:t>After the Compromise of 1877 ended Reconstruction, Southern states systematically dismantled the civil and political rights that African Americans had gained after the Civil War. By the 1890s, a system of racial segregation laws — known as Jim Crow — had spread across the South, enforced by violence, poll taxes, literacy tests, and legal barriers. The 1896 Supreme Court case Plessy v. Ferguson arose when Homer Plessy, a man of mixed race, deliberately challenged a Louisiana law requiring separate railroad cars. The Court's 7-1 ruling created the 'separate but equal' doctrine, providing legal cover for segregation for the next 58 years until Brown v. Board of Education (1954).</a:t>
            </a:r>
            <a:endParaRPr lang="en-US" sz="850" dirty="0"/>
          </a:p>
        </p:txBody>
      </p:sp>
      <p:sp>
        <p:nvSpPr>
          <p:cNvPr id="19" name="Shape 16"/>
          <p:cNvSpPr/>
          <p:nvPr/>
        </p:nvSpPr>
        <p:spPr>
          <a:xfrm>
            <a:off x="7589520" y="3703320"/>
            <a:ext cx="4023360" cy="1280160"/>
          </a:xfrm>
          <a:prstGeom prst="roundRect">
            <a:avLst>
              <a:gd name="adj" fmla="val 5714"/>
            </a:avLst>
          </a:prstGeom>
          <a:solidFill>
            <a:srgbClr val="C9A227"/>
          </a:solidFill>
          <a:ln/>
        </p:spPr>
        <p:txBody>
          <a:bodyPr/>
          <a:p/>
        </p:txBody>
      </p:sp>
      <p:sp>
        <p:nvSpPr>
          <p:cNvPr id="20" name="Text 17"/>
          <p:cNvSpPr/>
          <p:nvPr/>
        </p:nvSpPr>
        <p:spPr>
          <a:xfrm>
            <a:off x="7818120" y="3822192"/>
            <a:ext cx="3657600" cy="274320"/>
          </a:xfrm>
          <a:prstGeom prst="rect">
            <a:avLst/>
          </a:prstGeom>
          <a:noFill/>
          <a:ln/>
        </p:spPr>
        <p:txBody>
          <a:bodyPr wrap="square" rtlCol="0" anchor="ctr"/>
          <a:lstStyle/>
          <a:p>
            <a:pPr indent="0" marL="0">
              <a:buNone/>
            </a:pPr>
            <a:r>
              <a:rPr lang="en-US" sz="1100" b="1" spc="200" kern="0" dirty="0">
                <a:solidFill>
                  <a:srgbClr val="1F3A5F"/>
                </a:solidFill>
                <a:latin typeface="Trebuchet MS" pitchFamily="34" charset="0"/>
                <a:ea typeface="Trebuchet MS" pitchFamily="34" charset="-122"/>
                <a:cs typeface="Trebuchet MS" pitchFamily="34" charset="-120"/>
              </a:rPr>
              <a:t>ANALYZE</a:t>
            </a:r>
            <a:endParaRPr lang="en-US" sz="1100" dirty="0"/>
          </a:p>
        </p:txBody>
      </p:sp>
      <p:sp>
        <p:nvSpPr>
          <p:cNvPr id="21" name="Text 18"/>
          <p:cNvSpPr/>
          <p:nvPr/>
        </p:nvSpPr>
        <p:spPr>
          <a:xfrm>
            <a:off x="7818120" y="4123944"/>
            <a:ext cx="3611880" cy="749808"/>
          </a:xfrm>
          <a:prstGeom prst="rect">
            <a:avLst/>
          </a:prstGeom>
          <a:noFill/>
          <a:ln/>
        </p:spPr>
        <p:txBody>
          <a:bodyPr wrap="square" rtlCol="0" anchor="t"/>
          <a:lstStyle/>
          <a:p>
            <a:pPr indent="0" marL="0">
              <a:lnSpc>
                <a:spcPct val="103000"/>
              </a:lnSpc>
              <a:buNone/>
            </a:pPr>
            <a:r>
              <a:rPr lang="en-US" sz="1200" b="1" dirty="0">
                <a:solidFill>
                  <a:srgbClr val="1F3A5F"/>
                </a:solidFill>
                <a:latin typeface="Calibri" pitchFamily="34" charset="0"/>
                <a:ea typeface="Calibri" pitchFamily="34" charset="-122"/>
                <a:cs typeface="Calibri" pitchFamily="34" charset="-120"/>
              </a:rPr>
              <a:t>The Plessy majority reasoned that "separate" facilities did not make one race inferior. Which later argument most directly challenges that reasoning?</a:t>
            </a:r>
            <a:endParaRPr lang="en-US" sz="1200" dirty="0"/>
          </a:p>
        </p:txBody>
      </p:sp>
      <p:sp>
        <p:nvSpPr>
          <p:cNvPr id="22" name="Shape 19"/>
          <p:cNvSpPr/>
          <p:nvPr/>
        </p:nvSpPr>
        <p:spPr>
          <a:xfrm>
            <a:off x="548640" y="5120640"/>
            <a:ext cx="11064240" cy="841248"/>
          </a:xfrm>
          <a:prstGeom prst="rect">
            <a:avLst/>
          </a:prstGeom>
          <a:solidFill>
            <a:srgbClr val="FFFFFF"/>
          </a:solidFill>
          <a:ln w="15875">
            <a:solidFill>
              <a:srgbClr val="002858"/>
            </a:solidFill>
            <a:prstDash val="solid"/>
          </a:ln>
        </p:spPr>
        <p:txBody>
          <a:bodyPr/>
          <a:p/>
        </p:txBody>
      </p:sp>
      <p:sp>
        <p:nvSpPr>
          <p:cNvPr id="23" name="Shape 20"/>
          <p:cNvSpPr/>
          <p:nvPr/>
        </p:nvSpPr>
        <p:spPr>
          <a:xfrm>
            <a:off x="548640" y="5120640"/>
            <a:ext cx="2423160" cy="841248"/>
          </a:xfrm>
          <a:prstGeom prst="rect">
            <a:avLst/>
          </a:prstGeom>
          <a:solidFill>
            <a:srgbClr val="002858"/>
          </a:solidFill>
          <a:ln/>
        </p:spPr>
        <p:txBody>
          <a:bodyPr/>
          <a:p/>
        </p:txBody>
      </p:sp>
      <p:sp>
        <p:nvSpPr>
          <p:cNvPr id="24" name="Text 21"/>
          <p:cNvSpPr/>
          <p:nvPr/>
        </p:nvSpPr>
        <p:spPr>
          <a:xfrm>
            <a:off x="658368" y="5239512"/>
            <a:ext cx="2194560" cy="274320"/>
          </a:xfrm>
          <a:prstGeom prst="rect">
            <a:avLst/>
          </a:prstGeom>
          <a:noFill/>
          <a:ln/>
        </p:spPr>
        <p:txBody>
          <a:bodyPr wrap="square" rtlCol="0" anchor="ctr"/>
          <a:lstStyle/>
          <a:p>
            <a:pPr indent="0" marL="0">
              <a:buNone/>
            </a:pPr>
            <a:r>
              <a:rPr lang="en-US" sz="1250" b="1" spc="100" kern="0" dirty="0">
                <a:solidFill>
                  <a:srgbClr val="FFFFFF"/>
                </a:solidFill>
                <a:latin typeface="Trebuchet MS" pitchFamily="34" charset="0"/>
                <a:ea typeface="Trebuchet MS" pitchFamily="34" charset="-122"/>
                <a:cs typeface="Trebuchet MS" pitchFamily="34" charset="-120"/>
              </a:rPr>
              <a:t>SOURCE IT</a:t>
            </a:r>
            <a:endParaRPr lang="en-US" sz="1250" dirty="0"/>
          </a:p>
        </p:txBody>
      </p:sp>
      <p:sp>
        <p:nvSpPr>
          <p:cNvPr id="25" name="Text 22"/>
          <p:cNvSpPr/>
          <p:nvPr/>
        </p:nvSpPr>
        <p:spPr>
          <a:xfrm>
            <a:off x="658368" y="5486400"/>
            <a:ext cx="2194560" cy="274320"/>
          </a:xfrm>
          <a:prstGeom prst="rect">
            <a:avLst/>
          </a:prstGeom>
          <a:noFill/>
          <a:ln/>
        </p:spPr>
        <p:txBody>
          <a:bodyPr wrap="square" rtlCol="0" anchor="ctr"/>
          <a:lstStyle/>
          <a:p>
            <a:pPr indent="0" marL="0">
              <a:buNone/>
            </a:pPr>
            <a:r>
              <a:rPr lang="en-US" sz="1250" b="1" spc="100" kern="0" dirty="0">
                <a:solidFill>
                  <a:srgbClr val="F9A825"/>
                </a:solidFill>
                <a:latin typeface="Trebuchet MS" pitchFamily="34" charset="0"/>
                <a:ea typeface="Trebuchet MS" pitchFamily="34" charset="-122"/>
                <a:cs typeface="Trebuchet MS" pitchFamily="34" charset="-120"/>
              </a:rPr>
              <a:t>FIRST</a:t>
            </a:r>
            <a:endParaRPr lang="en-US" sz="1250" dirty="0"/>
          </a:p>
        </p:txBody>
      </p:sp>
      <p:sp>
        <p:nvSpPr>
          <p:cNvPr id="26" name="Text 23"/>
          <p:cNvSpPr/>
          <p:nvPr/>
        </p:nvSpPr>
        <p:spPr>
          <a:xfrm>
            <a:off x="658368" y="5724144"/>
            <a:ext cx="2240280" cy="201168"/>
          </a:xfrm>
          <a:prstGeom prst="rect">
            <a:avLst/>
          </a:prstGeom>
          <a:noFill/>
          <a:ln/>
        </p:spPr>
        <p:txBody>
          <a:bodyPr wrap="square" rtlCol="0" anchor="ctr"/>
          <a:lstStyle/>
          <a:p>
            <a:pPr indent="0" marL="0">
              <a:buNone/>
            </a:pPr>
            <a:r>
              <a:rPr lang="en-US" sz="900" i="1" dirty="0">
                <a:solidFill>
                  <a:srgbClr val="C7D4E0"/>
                </a:solidFill>
                <a:latin typeface="Calibri" pitchFamily="34" charset="0"/>
                <a:ea typeface="Calibri" pitchFamily="34" charset="-122"/>
                <a:cs typeface="Calibri" pitchFamily="34" charset="-120"/>
              </a:rPr>
              <a:t>SSP.02 · before you interpret</a:t>
            </a:r>
            <a:endParaRPr lang="en-US" sz="750" dirty="0"/>
          </a:p>
        </p:txBody>
      </p:sp>
      <p:sp>
        <p:nvSpPr>
          <p:cNvPr id="27" name="Text 24"/>
          <p:cNvSpPr/>
          <p:nvPr/>
        </p:nvSpPr>
        <p:spPr>
          <a:xfrm>
            <a:off x="315468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WHO made it?</a:t>
            </a:r>
            <a:endParaRPr lang="en-US" sz="900" dirty="0"/>
          </a:p>
        </p:txBody>
      </p:sp>
      <p:sp>
        <p:nvSpPr>
          <p:cNvPr id="28" name="Text 25"/>
          <p:cNvSpPr/>
          <p:nvPr/>
        </p:nvSpPr>
        <p:spPr>
          <a:xfrm>
            <a:off x="3154680" y="5431536"/>
            <a:ext cx="2743200" cy="457200"/>
          </a:xfrm>
          <a:prstGeom prst="rect">
            <a:avLst/>
          </a:prstGeom>
          <a:noFill/>
          <a:ln/>
        </p:spPr>
        <p:txBody>
          <a:bodyPr wrap="square" rtlCol="0" anchor="t"/>
          <a:lstStyle/>
          <a:p>
            <a:pPr indent="0" marL="0">
              <a:lnSpc>
                <a:spcPct val="98000"/>
              </a:lnSpc>
              <a:buNone/>
            </a:pPr>
            <a:r>
              <a:rPr lang="en-US" sz="950" dirty="0">
                <a:solidFill>
                  <a:srgbClr val="1F2430"/>
                </a:solidFill>
                <a:latin typeface="Calibri" pitchFamily="34" charset="0"/>
                <a:ea typeface="Calibri" pitchFamily="34" charset="-122"/>
                <a:cs typeface="Calibri" pitchFamily="34" charset="-120"/>
              </a:rPr>
              <a:t>The U.S. Supreme Court — majority opinion by Justice Henry Billings Brown.</a:t>
            </a:r>
            <a:endParaRPr lang="en-US" sz="950" dirty="0"/>
          </a:p>
        </p:txBody>
      </p:sp>
      <p:sp>
        <p:nvSpPr>
          <p:cNvPr id="29" name="Text 26"/>
          <p:cNvSpPr/>
          <p:nvPr/>
        </p:nvSpPr>
        <p:spPr>
          <a:xfrm>
            <a:off x="594360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WHEN?</a:t>
            </a:r>
            <a:endParaRPr lang="en-US" sz="900" dirty="0"/>
          </a:p>
        </p:txBody>
      </p:sp>
      <p:sp>
        <p:nvSpPr>
          <p:cNvPr id="30" name="Text 27"/>
          <p:cNvSpPr/>
          <p:nvPr/>
        </p:nvSpPr>
        <p:spPr>
          <a:xfrm>
            <a:off x="5943600" y="5431536"/>
            <a:ext cx="2743200" cy="457200"/>
          </a:xfrm>
          <a:prstGeom prst="rect">
            <a:avLst/>
          </a:prstGeom>
          <a:noFill/>
          <a:ln/>
        </p:spPr>
        <p:txBody>
          <a:bodyPr wrap="square" rtlCol="0" anchor="t"/>
          <a:lstStyle/>
          <a:p>
            <a:pPr indent="0" marL="0">
              <a:lnSpc>
                <a:spcPct val="98000"/>
              </a:lnSpc>
              <a:buNone/>
            </a:pPr>
            <a:r>
              <a:rPr lang="en-US" sz="950" dirty="0">
                <a:solidFill>
                  <a:srgbClr val="1F2430"/>
                </a:solidFill>
                <a:latin typeface="Calibri" pitchFamily="34" charset="0"/>
                <a:ea typeface="Calibri" pitchFamily="34" charset="-122"/>
                <a:cs typeface="Calibri" pitchFamily="34" charset="-120"/>
              </a:rPr>
              <a:t>May 18, 1896 (Plessy v. Ferguson, 163 U.S. 537).</a:t>
            </a:r>
            <a:endParaRPr lang="en-US" sz="950" dirty="0"/>
          </a:p>
        </p:txBody>
      </p:sp>
      <p:sp>
        <p:nvSpPr>
          <p:cNvPr id="31" name="Text 28"/>
          <p:cNvSpPr/>
          <p:nvPr/>
        </p:nvSpPr>
        <p:spPr>
          <a:xfrm>
            <a:off x="873252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WHY does it matter?</a:t>
            </a:r>
            <a:endParaRPr lang="en-US" sz="900" dirty="0"/>
          </a:p>
        </p:txBody>
      </p:sp>
      <p:sp>
        <p:nvSpPr>
          <p:cNvPr id="32" name="Text 29"/>
          <p:cNvSpPr/>
          <p:nvPr/>
        </p:nvSpPr>
        <p:spPr>
          <a:xfrm>
            <a:off x="8732520" y="5431536"/>
            <a:ext cx="2743200" cy="457200"/>
          </a:xfrm>
          <a:prstGeom prst="rect">
            <a:avLst/>
          </a:prstGeom>
          <a:noFill/>
          <a:ln/>
        </p:spPr>
        <p:txBody>
          <a:bodyPr wrap="square" rtlCol="0" anchor="t"/>
          <a:lstStyle/>
          <a:p>
            <a:pPr indent="0" marL="0">
              <a:lnSpc>
                <a:spcPct val="98000"/>
              </a:lnSpc>
              <a:buNone/>
            </a:pPr>
            <a:r>
              <a:rPr lang="en-US" sz="950" dirty="0">
                <a:solidFill>
                  <a:srgbClr val="1F2430"/>
                </a:solidFill>
                <a:latin typeface="Calibri" pitchFamily="34" charset="0"/>
                <a:ea typeface="Calibri" pitchFamily="34" charset="-122"/>
                <a:cs typeface="Calibri" pitchFamily="34" charset="-120"/>
              </a:rPr>
              <a:t>The nation's highest court is stating the law of the land — its reasoning shaped segregation for 58 years, until Brown v. Board…</a:t>
            </a:r>
            <a:endParaRPr lang="en-US" sz="950" dirty="0"/>
          </a:p>
        </p:txBody>
      </p:sp>
      <p:sp>
        <p:nvSpPr>
          <p:cNvPr id="33" name="Text 30"/>
          <p:cNvSpPr/>
          <p:nvPr/>
        </p:nvSpPr>
        <p:spPr>
          <a:xfrm>
            <a:off x="548640" y="6053328"/>
            <a:ext cx="6858000" cy="274320"/>
          </a:xfrm>
          <a:prstGeom prst="rect">
            <a:avLst/>
          </a:prstGeom>
          <a:noFill/>
          <a:ln/>
        </p:spPr>
        <p:txBody>
          <a:bodyPr wrap="square" rtlCol="0" anchor="ctr"/>
          <a:lstStyle/>
          <a:p>
            <a:pPr algn="l" indent="0" marL="0">
              <a:buNone/>
            </a:pPr>
            <a:r>
              <a:rPr lang="en-US" sz="900" dirty="0">
                <a:solidFill>
                  <a:srgbClr val="5C6470"/>
                </a:solidFill>
                <a:latin typeface="Calibri" pitchFamily="34" charset="0"/>
                <a:ea typeface="Calibri" pitchFamily="34" charset="-122"/>
                <a:cs typeface="Calibri" pitchFamily="34" charset="-120"/>
              </a:rPr>
              <a:t>Source: </a:t>
            </a:r>
            <a:pPr algn="l" indent="0" marL="0">
              <a:buNone/>
            </a:pPr>
            <a:r>
              <a:rPr lang="en-US" sz="900" i="1" u="sng" dirty="0">
                <a:solidFill>
                  <a:srgbClr val="002858"/>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900" dirty="0"/>
          </a:p>
        </p:txBody>
      </p:sp>
      <p:sp>
        <p:nvSpPr>
          <p:cNvPr id="35" name="Text 31"/>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6" name="Text 3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2">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F3A5F"/>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B22234"/>
                </a:solidFill>
                <a:latin typeface="Trebuchet MS" pitchFamily="34" charset="0"/>
                <a:ea typeface="Trebuchet MS" pitchFamily="34" charset="-122"/>
                <a:cs typeface="Trebuchet MS" pitchFamily="34" charset="-120"/>
              </a:rPr>
              <a:t>US.03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F3A5F"/>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txBody>
          <a:bodyPr/>
          <a:p/>
        </p:txBody>
      </p:sp>
      <p:sp>
        <p:nvSpPr>
          <p:cNvPr id="6" name="Shape 4"/>
          <p:cNvSpPr/>
          <p:nvPr/>
        </p:nvSpPr>
        <p:spPr>
          <a:xfrm>
            <a:off x="548640" y="1645920"/>
            <a:ext cx="5486400" cy="676656"/>
          </a:xfrm>
          <a:prstGeom prst="rect">
            <a:avLst/>
          </a:prstGeom>
          <a:solidFill>
            <a:srgbClr val="1F3A5F"/>
          </a:solidFill>
          <a:ln/>
        </p:spPr>
        <p:txBody>
          <a:bodyPr/>
          <a:p/>
        </p:txBody>
      </p:sp>
      <p:sp>
        <p:nvSpPr>
          <p:cNvPr id="7" name="Text 5"/>
          <p:cNvSpPr/>
          <p:nvPr/>
        </p:nvSpPr>
        <p:spPr>
          <a:xfrm>
            <a:off x="685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Compromise of 1877</a:t>
            </a:r>
            <a:endParaRPr lang="en-US" sz="1350" dirty="0"/>
          </a:p>
        </p:txBody>
      </p:sp>
      <p:sp>
        <p:nvSpPr>
          <p:cNvPr id="8" name="Text 6"/>
          <p:cNvSpPr/>
          <p:nvPr/>
        </p:nvSpPr>
        <p:spPr>
          <a:xfrm>
            <a:off x="3703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Compromiso de 1877</a:t>
            </a:r>
            <a:endParaRPr lang="en-US" sz="1000" dirty="0"/>
          </a:p>
        </p:txBody>
      </p:sp>
      <p:sp>
        <p:nvSpPr>
          <p:cNvPr id="11" name="Text 9"/>
          <p:cNvSpPr/>
          <p:nvPr/>
        </p:nvSpPr>
        <p:spPr>
          <a:xfrm>
            <a:off x="667512" y="2395728"/>
            <a:ext cx="5239512"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An informal agreement that resolved the disputed 1876 presidential election, resulting in Rutherford B. Hayes becoming president in exchange for removing federal troops from the South, effectively ending…</a:t>
            </a:r>
            <a:endParaRPr lang="en-US" sz="1100" dirty="0"/>
          </a:p>
        </p:txBody>
      </p:sp>
      <p:sp>
        <p:nvSpPr>
          <p:cNvPr id="12" name="Shape 10"/>
          <p:cNvSpPr/>
          <p:nvPr/>
        </p:nvSpPr>
        <p:spPr>
          <a:xfrm>
            <a:off x="6263640" y="1645920"/>
            <a:ext cx="5486400" cy="1261872"/>
          </a:xfrm>
          <a:prstGeom prst="rect">
            <a:avLst/>
          </a:prstGeom>
          <a:solidFill>
            <a:srgbClr val="FFFFFF"/>
          </a:solidFill>
          <a:ln w="12700">
            <a:solidFill>
              <a:srgbClr val="DAD3C2"/>
            </a:solidFill>
            <a:prstDash val="solid"/>
          </a:ln>
        </p:spPr>
        <p:txBody>
          <a:bodyPr/>
          <a:p/>
        </p:txBody>
      </p:sp>
      <p:sp>
        <p:nvSpPr>
          <p:cNvPr id="13" name="Shape 11"/>
          <p:cNvSpPr/>
          <p:nvPr/>
        </p:nvSpPr>
        <p:spPr>
          <a:xfrm>
            <a:off x="6263640" y="1645920"/>
            <a:ext cx="5486400" cy="676656"/>
          </a:xfrm>
          <a:prstGeom prst="rect">
            <a:avLst/>
          </a:prstGeom>
          <a:solidFill>
            <a:srgbClr val="1F3A5F"/>
          </a:solidFill>
          <a:ln/>
        </p:spPr>
        <p:txBody>
          <a:bodyPr/>
          <a:p/>
        </p:txBody>
      </p:sp>
      <p:sp>
        <p:nvSpPr>
          <p:cNvPr id="14" name="Text 12"/>
          <p:cNvSpPr/>
          <p:nvPr/>
        </p:nvSpPr>
        <p:spPr>
          <a:xfrm>
            <a:off x="6400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Jim Crow Laws</a:t>
            </a:r>
            <a:endParaRPr lang="en-US" sz="1350" dirty="0"/>
          </a:p>
        </p:txBody>
      </p:sp>
      <p:sp>
        <p:nvSpPr>
          <p:cNvPr id="15" name="Text 13"/>
          <p:cNvSpPr/>
          <p:nvPr/>
        </p:nvSpPr>
        <p:spPr>
          <a:xfrm>
            <a:off x="9418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Leyes de Jim Crow</a:t>
            </a:r>
            <a:endParaRPr lang="en-US" sz="1000" dirty="0"/>
          </a:p>
        </p:txBody>
      </p:sp>
      <p:sp>
        <p:nvSpPr>
          <p:cNvPr id="18" name="Text 16"/>
          <p:cNvSpPr/>
          <p:nvPr/>
        </p:nvSpPr>
        <p:spPr>
          <a:xfrm>
            <a:off x="6382512" y="2395728"/>
            <a:ext cx="5239512"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State and local laws enacted primarily in the Southern states between 1877 and the 1960s that enforced racial segregation and denied African Americans their constitutional rights.</a:t>
            </a:r>
            <a:endParaRPr lang="en-US" sz="1100" dirty="0"/>
          </a:p>
        </p:txBody>
      </p:sp>
      <p:sp>
        <p:nvSpPr>
          <p:cNvPr id="19" name="Shape 17"/>
          <p:cNvSpPr/>
          <p:nvPr/>
        </p:nvSpPr>
        <p:spPr>
          <a:xfrm>
            <a:off x="548640" y="3072384"/>
            <a:ext cx="5486400" cy="1261872"/>
          </a:xfrm>
          <a:prstGeom prst="rect">
            <a:avLst/>
          </a:prstGeom>
          <a:solidFill>
            <a:srgbClr val="FFFFFF"/>
          </a:solidFill>
          <a:ln w="12700">
            <a:solidFill>
              <a:srgbClr val="DAD3C2"/>
            </a:solidFill>
            <a:prstDash val="solid"/>
          </a:ln>
        </p:spPr>
        <p:txBody>
          <a:bodyPr/>
          <a:p/>
        </p:txBody>
      </p:sp>
      <p:sp>
        <p:nvSpPr>
          <p:cNvPr id="20" name="Shape 18"/>
          <p:cNvSpPr/>
          <p:nvPr/>
        </p:nvSpPr>
        <p:spPr>
          <a:xfrm>
            <a:off x="548640" y="3072384"/>
            <a:ext cx="5486400" cy="676656"/>
          </a:xfrm>
          <a:prstGeom prst="rect">
            <a:avLst/>
          </a:prstGeom>
          <a:solidFill>
            <a:srgbClr val="1F3A5F"/>
          </a:solidFill>
          <a:ln/>
        </p:spPr>
        <p:txBody>
          <a:bodyPr/>
          <a:p/>
        </p:txBody>
      </p:sp>
      <p:sp>
        <p:nvSpPr>
          <p:cNvPr id="21" name="Text 19"/>
          <p:cNvSpPr/>
          <p:nvPr/>
        </p:nvSpPr>
        <p:spPr>
          <a:xfrm>
            <a:off x="685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Disenfranchisement</a:t>
            </a:r>
            <a:endParaRPr lang="en-US" sz="1350" dirty="0"/>
          </a:p>
        </p:txBody>
      </p:sp>
      <p:sp>
        <p:nvSpPr>
          <p:cNvPr id="22" name="Text 20"/>
          <p:cNvSpPr/>
          <p:nvPr/>
        </p:nvSpPr>
        <p:spPr>
          <a:xfrm>
            <a:off x="685800" y="3438144"/>
            <a:ext cx="2880360" cy="256032"/>
          </a:xfrm>
          <a:prstGeom prst="rect">
            <a:avLst/>
          </a:prstGeom>
          <a:noFill/>
          <a:ln/>
        </p:spPr>
        <p:txBody>
          <a:bodyPr wrap="square" rtlCol="0" anchor="ctr">
            <a:normAutofit/>
          </a:bodyPr>
          <a:lstStyle/>
          <a:p>
            <a:pPr indent="0" marL="0">
              <a:buNone/>
            </a:pPr>
            <a:r>
              <a:rPr lang="en-US" sz="90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dis-en-FRAN-chyz-ment</a:t>
            </a:r>
            <a:endParaRPr lang="en-US" sz="850" dirty="0"/>
          </a:p>
        </p:txBody>
      </p:sp>
      <p:sp>
        <p:nvSpPr>
          <p:cNvPr id="23" name="Text 21"/>
          <p:cNvSpPr/>
          <p:nvPr/>
        </p:nvSpPr>
        <p:spPr>
          <a:xfrm>
            <a:off x="3703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Privación del Derecho al Voto</a:t>
            </a:r>
            <a:endParaRPr lang="en-US" sz="1000" dirty="0"/>
          </a:p>
        </p:txBody>
      </p:sp>
      <p:sp>
        <p:nvSpPr>
          <p:cNvPr id="26" name="Text 24"/>
          <p:cNvSpPr/>
          <p:nvPr/>
        </p:nvSpPr>
        <p:spPr>
          <a:xfrm>
            <a:off x="667512" y="3822192"/>
            <a:ext cx="5239512"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systematic denial of voting rights through methods such as poll taxes, literacy tests, grandfather clauses, and violence, primarily targeting African American voters.</a:t>
            </a:r>
            <a:endParaRPr lang="en-US" sz="1100" dirty="0"/>
          </a:p>
        </p:txBody>
      </p:sp>
      <p:sp>
        <p:nvSpPr>
          <p:cNvPr id="27" name="Shape 25"/>
          <p:cNvSpPr/>
          <p:nvPr/>
        </p:nvSpPr>
        <p:spPr>
          <a:xfrm>
            <a:off x="6263640" y="3072384"/>
            <a:ext cx="5486400" cy="1261872"/>
          </a:xfrm>
          <a:prstGeom prst="rect">
            <a:avLst/>
          </a:prstGeom>
          <a:solidFill>
            <a:srgbClr val="FFFFFF"/>
          </a:solidFill>
          <a:ln w="12700">
            <a:solidFill>
              <a:srgbClr val="DAD3C2"/>
            </a:solidFill>
            <a:prstDash val="solid"/>
          </a:ln>
        </p:spPr>
        <p:txBody>
          <a:bodyPr/>
          <a:p/>
        </p:txBody>
      </p:sp>
      <p:sp>
        <p:nvSpPr>
          <p:cNvPr id="28" name="Shape 26"/>
          <p:cNvSpPr/>
          <p:nvPr/>
        </p:nvSpPr>
        <p:spPr>
          <a:xfrm>
            <a:off x="6263640" y="3072384"/>
            <a:ext cx="5486400" cy="676656"/>
          </a:xfrm>
          <a:prstGeom prst="rect">
            <a:avLst/>
          </a:prstGeom>
          <a:solidFill>
            <a:srgbClr val="1F3A5F"/>
          </a:solidFill>
          <a:ln/>
        </p:spPr>
        <p:txBody>
          <a:bodyPr/>
          <a:p/>
        </p:txBody>
      </p:sp>
      <p:sp>
        <p:nvSpPr>
          <p:cNvPr id="29" name="Text 27"/>
          <p:cNvSpPr/>
          <p:nvPr/>
        </p:nvSpPr>
        <p:spPr>
          <a:xfrm>
            <a:off x="6400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Plessy v. Ferguson</a:t>
            </a:r>
            <a:endParaRPr lang="en-US" sz="1350" dirty="0"/>
          </a:p>
        </p:txBody>
      </p:sp>
      <p:sp>
        <p:nvSpPr>
          <p:cNvPr id="30" name="Text 28"/>
          <p:cNvSpPr/>
          <p:nvPr/>
        </p:nvSpPr>
        <p:spPr>
          <a:xfrm>
            <a:off x="9418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Plessy contra Ferguson</a:t>
            </a:r>
            <a:endParaRPr lang="en-US" sz="1000" dirty="0"/>
          </a:p>
        </p:txBody>
      </p:sp>
      <p:sp>
        <p:nvSpPr>
          <p:cNvPr id="33" name="Text 31"/>
          <p:cNvSpPr/>
          <p:nvPr/>
        </p:nvSpPr>
        <p:spPr>
          <a:xfrm>
            <a:off x="6382512" y="3822192"/>
            <a:ext cx="5239512"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An 1896 Supreme Court decision that upheld racial segregation under the doctrine of "separate but equal," legitimizing Jim Crow laws for nearly 60 years.</a:t>
            </a:r>
            <a:endParaRPr lang="en-US" sz="1100" dirty="0"/>
          </a:p>
        </p:txBody>
      </p:sp>
      <p:sp>
        <p:nvSpPr>
          <p:cNvPr id="34" name="Shape 32"/>
          <p:cNvSpPr/>
          <p:nvPr/>
        </p:nvSpPr>
        <p:spPr>
          <a:xfrm>
            <a:off x="3352648" y="4498848"/>
            <a:ext cx="5486400" cy="1261872"/>
          </a:xfrm>
          <a:prstGeom prst="rect">
            <a:avLst/>
          </a:prstGeom>
          <a:solidFill>
            <a:srgbClr val="FFFFFF"/>
          </a:solidFill>
          <a:ln w="12700">
            <a:solidFill>
              <a:srgbClr val="DAD3C2"/>
            </a:solidFill>
            <a:prstDash val="solid"/>
          </a:ln>
        </p:spPr>
        <p:txBody>
          <a:bodyPr/>
          <a:p/>
        </p:txBody>
      </p:sp>
      <p:sp>
        <p:nvSpPr>
          <p:cNvPr id="35" name="Shape 33"/>
          <p:cNvSpPr/>
          <p:nvPr/>
        </p:nvSpPr>
        <p:spPr>
          <a:xfrm>
            <a:off x="3352648" y="4498848"/>
            <a:ext cx="5486400" cy="676656"/>
          </a:xfrm>
          <a:prstGeom prst="rect">
            <a:avLst/>
          </a:prstGeom>
          <a:solidFill>
            <a:srgbClr val="1F3A5F"/>
          </a:solidFill>
          <a:ln/>
        </p:spPr>
        <p:txBody>
          <a:bodyPr/>
          <a:p/>
        </p:txBody>
      </p:sp>
      <p:sp>
        <p:nvSpPr>
          <p:cNvPr id="36" name="Text 34"/>
          <p:cNvSpPr/>
          <p:nvPr/>
        </p:nvSpPr>
        <p:spPr>
          <a:xfrm>
            <a:off x="3489808"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Exodusters</a:t>
            </a:r>
            <a:endParaRPr lang="en-US" sz="1350" dirty="0"/>
          </a:p>
        </p:txBody>
      </p:sp>
      <p:sp>
        <p:nvSpPr>
          <p:cNvPr id="37" name="Text 35"/>
          <p:cNvSpPr/>
          <p:nvPr/>
        </p:nvSpPr>
        <p:spPr>
          <a:xfrm>
            <a:off x="6507328"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Exodusters (colonos negros)</a:t>
            </a:r>
            <a:endParaRPr lang="en-US" sz="1000" dirty="0"/>
          </a:p>
        </p:txBody>
      </p:sp>
      <p:sp>
        <p:nvSpPr>
          <p:cNvPr id="40" name="Text 38"/>
          <p:cNvSpPr/>
          <p:nvPr/>
        </p:nvSpPr>
        <p:spPr>
          <a:xfrm>
            <a:off x="3471520" y="5248656"/>
            <a:ext cx="5239512"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African Americans who migrated from the South to Kansas and other western states in the late 1870s, seeking to escape racial violence and economic oppression. Led by figures like Benjamin "Pap" Singleton.</a:t>
            </a:r>
            <a:endParaRPr lang="en-US" sz="1100" dirty="0"/>
          </a:p>
        </p:txBody>
      </p:sp>
      <p:sp>
        <p:nvSpPr>
          <p:cNvPr id="41" name="Text 39"/>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42" name="Text 40"/>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43" name="Text 4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43</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3">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F3A5F"/>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B22234"/>
                </a:solidFill>
                <a:latin typeface="Trebuchet MS" pitchFamily="34" charset="0"/>
                <a:ea typeface="Trebuchet MS" pitchFamily="34" charset="-122"/>
                <a:cs typeface="Trebuchet MS" pitchFamily="34" charset="-120"/>
              </a:rPr>
              <a:t>US.03 · GUIDED PRACTICE — WE DO IT TOGETHER</a:t>
            </a:r>
            <a:endParaRPr lang="en-US" sz="1200" dirty="0"/>
          </a:p>
        </p:txBody>
      </p:sp>
      <p:sp>
        <p:nvSpPr>
          <p:cNvPr id="4" name="Text 2"/>
          <p:cNvSpPr/>
          <p:nvPr/>
        </p:nvSpPr>
        <p:spPr>
          <a:xfrm>
            <a:off x="548640" y="731520"/>
            <a:ext cx="8595360" cy="640080"/>
          </a:xfrm>
          <a:prstGeom prst="rect">
            <a:avLst/>
          </a:prstGeom>
          <a:noFill/>
          <a:ln/>
        </p:spPr>
        <p:txBody>
          <a:bodyPr wrap="square" rtlCol="0" anchor="t"/>
          <a:lstStyle/>
          <a:p>
            <a:pPr indent="0" marL="0">
              <a:buNone/>
            </a:pPr>
            <a:r>
              <a:rPr lang="en-US" sz="2900" b="1" dirty="0">
                <a:solidFill>
                  <a:srgbClr val="1F3A5F"/>
                </a:solidFill>
                <a:latin typeface="Georgia" pitchFamily="34" charset="0"/>
                <a:ea typeface="Georgia" pitchFamily="34" charset="-122"/>
                <a:cs typeface="Georgia" pitchFamily="34" charset="-120"/>
              </a:rPr>
              <a:t>Let’s Work One Together</a:t>
            </a:r>
            <a:endParaRPr lang="en-US" sz="2900" dirty="0"/>
          </a:p>
        </p:txBody>
      </p:sp>
      <p:sp>
        <p:nvSpPr>
          <p:cNvPr id="5" name="Shape 3"/>
          <p:cNvSpPr/>
          <p:nvPr/>
        </p:nvSpPr>
        <p:spPr>
          <a:xfrm>
            <a:off x="8869680" y="822960"/>
            <a:ext cx="2743200" cy="457200"/>
          </a:xfrm>
          <a:prstGeom prst="roundRect">
            <a:avLst>
              <a:gd name="adj" fmla="val 20000"/>
            </a:avLst>
          </a:prstGeom>
          <a:solidFill>
            <a:srgbClr val="1F3A5F"/>
          </a:solidFill>
          <a:ln/>
        </p:spPr>
        <p:txBody>
          <a:bodyPr/>
          <a:p/>
        </p:txBody>
      </p:sp>
      <p:sp>
        <p:nvSpPr>
          <p:cNvPr id="6" name="Text 4"/>
          <p:cNvSpPr/>
          <p:nvPr/>
        </p:nvSpPr>
        <p:spPr>
          <a:xfrm>
            <a:off x="8869680" y="822960"/>
            <a:ext cx="274320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Rights on paper vs. in practice</a:t>
            </a:r>
            <a:endParaRPr lang="en-US" sz="1100" dirty="0"/>
          </a:p>
        </p:txBody>
      </p:sp>
      <p:sp>
        <p:nvSpPr>
          <p:cNvPr id="7" name="Shape 5"/>
          <p:cNvSpPr/>
          <p:nvPr/>
        </p:nvSpPr>
        <p:spPr>
          <a:xfrm>
            <a:off x="548640" y="1554480"/>
            <a:ext cx="11064240" cy="868680"/>
          </a:xfrm>
          <a:prstGeom prst="roundRect">
            <a:avLst>
              <a:gd name="adj" fmla="val 8421"/>
            </a:avLst>
          </a:prstGeom>
          <a:solidFill>
            <a:srgbClr val="243047"/>
          </a:solidFill>
          <a:ln w="6350">
            <a:solidFill>
              <a:srgbClr val="A7BACB"/>
            </a:solidFill>
            <a:prstDash val="solid"/>
          </a:ln>
        </p:spPr>
        <p:txBody>
          <a:bodyPr/>
          <a:p/>
        </p:txBody>
      </p:sp>
      <p:sp>
        <p:nvSpPr>
          <p:cNvPr id="8" name="Text 6"/>
          <p:cNvSpPr/>
          <p:nvPr/>
        </p:nvSpPr>
        <p:spPr>
          <a:xfrm>
            <a:off x="822960" y="1664208"/>
            <a:ext cx="10515600" cy="640080"/>
          </a:xfrm>
          <a:prstGeom prst="rect">
            <a:avLst/>
          </a:prstGeom>
          <a:noFill/>
          <a:ln/>
        </p:spPr>
        <p:txBody>
          <a:bodyPr wrap="square" rtlCol="0" anchor="ctr"/>
          <a:lstStyle/>
          <a:p>
            <a:pPr indent="0" marL="0">
              <a:lnSpc>
                <a:spcPct val="104000"/>
              </a:lnSpc>
              <a:buNone/>
            </a:pPr>
            <a:r>
              <a:rPr lang="en-US" sz="1500" b="1" dirty="0">
                <a:solidFill>
                  <a:srgbClr val="F9A825"/>
                </a:solidFill>
                <a:latin typeface="Calibri" pitchFamily="34" charset="0"/>
                <a:ea typeface="Calibri" pitchFamily="34" charset="-122"/>
                <a:cs typeface="Calibri" pitchFamily="34" charset="-120"/>
              </a:rPr>
              <a:t>MODEL PROMPT:  </a:t>
            </a:r>
            <a:pPr indent="0" marL="0">
              <a:lnSpc>
                <a:spcPct val="104000"/>
              </a:lnSpc>
              <a:buNone/>
            </a:pPr>
            <a:r>
              <a:rPr lang="en-US" sz="1500" dirty="0">
                <a:solidFill>
                  <a:srgbClr val="FFFFFF"/>
                </a:solidFill>
                <a:latin typeface="Calibri" pitchFamily="34" charset="0"/>
                <a:ea typeface="Calibri" pitchFamily="34" charset="-122"/>
                <a:cs typeface="Calibri" pitchFamily="34" charset="-120"/>
              </a:rPr>
              <a:t>Show how a right in the Constitution could be denied in practice after 1877.</a:t>
            </a:r>
            <a:endParaRPr lang="en-US" sz="1500" dirty="0"/>
          </a:p>
        </p:txBody>
      </p:sp>
      <p:sp>
        <p:nvSpPr>
          <p:cNvPr id="9" name="Shape 7"/>
          <p:cNvSpPr/>
          <p:nvPr/>
        </p:nvSpPr>
        <p:spPr>
          <a:xfrm>
            <a:off x="548640" y="2606040"/>
            <a:ext cx="11064240" cy="1554480"/>
          </a:xfrm>
          <a:prstGeom prst="roundRect">
            <a:avLst>
              <a:gd name="adj" fmla="val 4706"/>
            </a:avLst>
          </a:prstGeom>
          <a:solidFill>
            <a:srgbClr val="C9A227"/>
          </a:solidFill>
          <a:ln/>
        </p:spPr>
        <p:txBody>
          <a:bodyPr/>
          <a:p/>
        </p:txBody>
      </p:sp>
      <p:sp>
        <p:nvSpPr>
          <p:cNvPr id="10" name="Text 8"/>
          <p:cNvSpPr/>
          <p:nvPr/>
        </p:nvSpPr>
        <p:spPr>
          <a:xfrm>
            <a:off x="822960" y="2724912"/>
            <a:ext cx="10058400" cy="292608"/>
          </a:xfrm>
          <a:prstGeom prst="rect">
            <a:avLst/>
          </a:prstGeom>
          <a:noFill/>
          <a:ln/>
        </p:spPr>
        <p:txBody>
          <a:bodyPr wrap="square" rtlCol="0" anchor="ctr"/>
          <a:lstStyle/>
          <a:p>
            <a:pPr indent="0" marL="0">
              <a:buNone/>
            </a:pPr>
            <a:r>
              <a:rPr lang="en-US" sz="1100" b="1" spc="100" kern="0" dirty="0">
                <a:solidFill>
                  <a:srgbClr val="1F3A5F"/>
                </a:solidFill>
                <a:latin typeface="Trebuchet MS" pitchFamily="34" charset="0"/>
                <a:ea typeface="Trebuchet MS" pitchFamily="34" charset="-122"/>
                <a:cs typeface="Trebuchet MS" pitchFamily="34" charset="-120"/>
              </a:rPr>
              <a:t>WORKED EXAMPLE  (teacher models this aloud)</a:t>
            </a:r>
            <a:endParaRPr lang="en-US" sz="1100" dirty="0"/>
          </a:p>
        </p:txBody>
      </p:sp>
      <p:sp>
        <p:nvSpPr>
          <p:cNvPr id="11" name="Text 9"/>
          <p:cNvSpPr/>
          <p:nvPr/>
        </p:nvSpPr>
        <p:spPr>
          <a:xfrm>
            <a:off x="822960" y="3035808"/>
            <a:ext cx="10515600" cy="1005840"/>
          </a:xfrm>
          <a:prstGeom prst="rect">
            <a:avLst/>
          </a:prstGeom>
          <a:noFill/>
          <a:ln/>
        </p:spPr>
        <p:txBody>
          <a:bodyPr wrap="square" rtlCol="0" anchor="t"/>
          <a:lstStyle/>
          <a:p>
            <a:pPr indent="0" marL="0">
              <a:lnSpc>
                <a:spcPct val="108000"/>
              </a:lnSpc>
              <a:buNone/>
            </a:pPr>
            <a:r>
              <a:rPr lang="en-US" sz="1450" b="1" dirty="0">
                <a:solidFill>
                  <a:srgbClr val="1F3A5F"/>
                </a:solidFill>
                <a:latin typeface="Calibri" pitchFamily="34" charset="0"/>
                <a:ea typeface="Calibri" pitchFamily="34" charset="-122"/>
                <a:cs typeface="Calibri" pitchFamily="34" charset="-120"/>
              </a:rPr>
              <a:t>ON PAPER: The 15th Amendment guaranteed Black men the vote.  →  IN PRACTICE: Poll taxes and literacy tests blocked them, and Plessy v. Ferguson (1896) legalized segregation.</a:t>
            </a:r>
            <a:endParaRPr lang="en-US" sz="1450" dirty="0"/>
          </a:p>
        </p:txBody>
      </p:sp>
      <p:sp>
        <p:nvSpPr>
          <p:cNvPr id="12" name="Shape 10"/>
          <p:cNvSpPr/>
          <p:nvPr/>
        </p:nvSpPr>
        <p:spPr>
          <a:xfrm>
            <a:off x="548640" y="4297680"/>
            <a:ext cx="11064240" cy="1371600"/>
          </a:xfrm>
          <a:prstGeom prst="rect">
            <a:avLst/>
          </a:prstGeom>
          <a:solidFill>
            <a:srgbClr val="FFFFFF"/>
          </a:solidFill>
          <a:ln w="12700">
            <a:solidFill>
              <a:srgbClr val="DAD3C2"/>
            </a:solidFill>
            <a:prstDash val="solid"/>
          </a:ln>
        </p:spPr>
        <p:txBody>
          <a:bodyPr/>
          <a:p/>
        </p:txBody>
      </p:sp>
      <p:sp>
        <p:nvSpPr>
          <p:cNvPr id="13" name="Text 11"/>
          <p:cNvSpPr/>
          <p:nvPr/>
        </p:nvSpPr>
        <p:spPr>
          <a:xfrm>
            <a:off x="822960" y="4407408"/>
            <a:ext cx="4572000" cy="274320"/>
          </a:xfrm>
          <a:prstGeom prst="rect">
            <a:avLst/>
          </a:prstGeom>
          <a:noFill/>
          <a:ln/>
        </p:spPr>
        <p:txBody>
          <a:bodyPr wrap="square" rtlCol="0" anchor="ctr"/>
          <a:lstStyle/>
          <a:p>
            <a:pPr indent="0" marL="0">
              <a:buNone/>
            </a:pPr>
            <a:r>
              <a:rPr lang="en-US" sz="1100" b="1" spc="200" kern="0" dirty="0">
                <a:solidFill>
                  <a:srgbClr val="B22234"/>
                </a:solidFill>
                <a:latin typeface="Trebuchet MS" pitchFamily="34" charset="0"/>
                <a:ea typeface="Trebuchet MS" pitchFamily="34" charset="-122"/>
                <a:cs typeface="Trebuchet MS" pitchFamily="34" charset="-120"/>
              </a:rPr>
              <a:t>THINK ALOUD</a:t>
            </a:r>
            <a:endParaRPr lang="en-US" sz="1100" dirty="0"/>
          </a:p>
        </p:txBody>
      </p:sp>
      <p:sp>
        <p:nvSpPr>
          <p:cNvPr id="14" name="Text 12"/>
          <p:cNvSpPr/>
          <p:nvPr/>
        </p:nvSpPr>
        <p:spPr>
          <a:xfrm>
            <a:off x="822960" y="4700016"/>
            <a:ext cx="10515600" cy="914400"/>
          </a:xfrm>
          <a:prstGeom prst="rect">
            <a:avLst/>
          </a:prstGeom>
          <a:noFill/>
          <a:ln/>
        </p:spPr>
        <p:txBody>
          <a:bodyPr wrap="square" rtlCol="0" anchor="t"/>
          <a:lstStyle/>
          <a:p>
            <a:pPr indent="0" marL="0">
              <a:lnSpc>
                <a:spcPct val="108000"/>
              </a:lnSpc>
              <a:buNone/>
            </a:pPr>
            <a:r>
              <a:rPr lang="en-US" sz="1300" i="1" dirty="0">
                <a:solidFill>
                  <a:srgbClr val="1F2430"/>
                </a:solidFill>
                <a:latin typeface="Calibri" pitchFamily="34" charset="0"/>
                <a:ea typeface="Calibri" pitchFamily="34" charset="-122"/>
                <a:cs typeface="Calibri" pitchFamily="34" charset="-120"/>
              </a:rPr>
              <a:t>Notice I name the specific tool (poll tax) and the specific court case (Plessy) — vague answers like "racism" do not earn the point. I anchor every claim to a named mechanism.</a:t>
            </a:r>
            <a:endParaRPr lang="en-US" sz="1300" dirty="0"/>
          </a:p>
        </p:txBody>
      </p:sp>
      <p:sp>
        <p:nvSpPr>
          <p:cNvPr id="15" name="Text 13"/>
          <p:cNvSpPr/>
          <p:nvPr/>
        </p:nvSpPr>
        <p:spPr>
          <a:xfrm>
            <a:off x="548640" y="5779008"/>
            <a:ext cx="11064240" cy="365760"/>
          </a:xfrm>
          <a:prstGeom prst="rect">
            <a:avLst/>
          </a:prstGeom>
          <a:noFill/>
          <a:ln/>
        </p:spPr>
        <p:txBody>
          <a:bodyPr wrap="square" rtlCol="0" anchor="ctr"/>
          <a:lstStyle/>
          <a:p>
            <a:pPr indent="0" marL="0">
              <a:buNone/>
            </a:pPr>
            <a:r>
              <a:rPr lang="en-US" sz="1200" b="1" dirty="0">
                <a:solidFill>
                  <a:srgbClr val="1F3A5F"/>
                </a:solidFill>
                <a:latin typeface="Calibri" pitchFamily="34" charset="0"/>
                <a:ea typeface="Calibri" pitchFamily="34" charset="-122"/>
                <a:cs typeface="Calibri" pitchFamily="34" charset="-120"/>
              </a:rPr>
              <a:t>→ Now you try:  </a:t>
            </a:r>
            <a:pPr indent="0" marL="0">
              <a:buNone/>
            </a:pPr>
            <a:r>
              <a:rPr lang="en-US" sz="1200" i="1" dirty="0">
                <a:solidFill>
                  <a:srgbClr val="002858"/>
                </a:solidFill>
                <a:latin typeface="Calibri" pitchFamily="34" charset="0"/>
                <a:ea typeface="Calibri" pitchFamily="34" charset="-122"/>
                <a:cs typeface="Calibri" pitchFamily="34" charset="-120"/>
              </a:rPr>
              <a:t>You match two more denial-tools to the right each one defeated in the activity.</a:t>
            </a:r>
            <a:endParaRPr lang="en-US" sz="1200" dirty="0"/>
          </a:p>
        </p:txBody>
      </p:sp>
      <p:sp>
        <p:nvSpPr>
          <p:cNvPr id="17" name="Text 14"/>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8" name="Text 1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44</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4">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227"/>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B22234"/>
                </a:solidFill>
                <a:latin typeface="Trebuchet MS" pitchFamily="34" charset="0"/>
                <a:ea typeface="Trebuchet MS" pitchFamily="34" charset="-122"/>
                <a:cs typeface="Trebuchet MS" pitchFamily="34" charset="-120"/>
              </a:rPr>
              <a:t>US.03 · STUDENT ACTIVITY</a:t>
            </a:r>
            <a:endParaRPr lang="en-US" sz="1200" dirty="0"/>
          </a:p>
        </p:txBody>
      </p:sp>
      <p:sp>
        <p:nvSpPr>
          <p:cNvPr id="4" name="Text 2"/>
          <p:cNvSpPr/>
          <p:nvPr/>
        </p:nvSpPr>
        <p:spPr>
          <a:xfrm>
            <a:off x="548640" y="731520"/>
            <a:ext cx="11064240" cy="777240"/>
          </a:xfrm>
          <a:prstGeom prst="rect">
            <a:avLst/>
          </a:prstGeom>
          <a:noFill/>
          <a:ln/>
        </p:spPr>
        <p:txBody>
          <a:bodyPr wrap="square" rtlCol="0" anchor="t"/>
          <a:lstStyle/>
          <a:p>
            <a:pPr indent="0" marL="0">
              <a:buNone/>
            </a:pPr>
            <a:r>
              <a:rPr lang="en-US" sz="2700" b="1" dirty="0">
                <a:solidFill>
                  <a:srgbClr val="1F3A5F"/>
                </a:solidFill>
                <a:latin typeface="Georgia" pitchFamily="34" charset="0"/>
                <a:ea typeface="Georgia" pitchFamily="34" charset="-122"/>
                <a:cs typeface="Georgia" pitchFamily="34" charset="-120"/>
              </a:rPr>
              <a:t>Reading a Political Cartoon as Evidence</a:t>
            </a:r>
            <a:endParaRPr lang="en-US" sz="2700" dirty="0"/>
          </a:p>
        </p:txBody>
      </p:sp>
      <p:sp>
        <p:nvSpPr>
          <p:cNvPr id="5" name="Shape 3"/>
          <p:cNvSpPr/>
          <p:nvPr/>
        </p:nvSpPr>
        <p:spPr>
          <a:xfrm>
            <a:off x="548640" y="1481328"/>
            <a:ext cx="694944" cy="365760"/>
          </a:xfrm>
          <a:prstGeom prst="roundRect">
            <a:avLst>
              <a:gd name="adj" fmla="val 20000"/>
            </a:avLst>
          </a:prstGeom>
          <a:solidFill>
            <a:srgbClr val="1F3A5F"/>
          </a:solidFill>
          <a:ln/>
        </p:spPr>
        <p:txBody>
          <a:bodyPr/>
          <a:p/>
        </p:txBody>
      </p:sp>
      <p:sp>
        <p:nvSpPr>
          <p:cNvPr id="6" name="Text 4"/>
          <p:cNvSpPr/>
          <p:nvPr/>
        </p:nvSpPr>
        <p:spPr>
          <a:xfrm>
            <a:off x="548640" y="1481328"/>
            <a:ext cx="694944"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Pairs</a:t>
            </a:r>
            <a:endParaRPr lang="en-US" sz="1050" dirty="0"/>
          </a:p>
        </p:txBody>
      </p:sp>
      <p:sp>
        <p:nvSpPr>
          <p:cNvPr id="7" name="Shape 5"/>
          <p:cNvSpPr/>
          <p:nvPr/>
        </p:nvSpPr>
        <p:spPr>
          <a:xfrm>
            <a:off x="1408176" y="1481328"/>
            <a:ext cx="1031443" cy="365760"/>
          </a:xfrm>
          <a:prstGeom prst="roundRect">
            <a:avLst>
              <a:gd name="adj" fmla="val 20000"/>
            </a:avLst>
          </a:prstGeom>
          <a:solidFill>
            <a:srgbClr val="1F3A5F"/>
          </a:solidFill>
          <a:ln/>
        </p:spPr>
        <p:txBody>
          <a:bodyPr/>
          <a:p/>
        </p:txBody>
      </p:sp>
      <p:sp>
        <p:nvSpPr>
          <p:cNvPr id="8" name="Text 6"/>
          <p:cNvSpPr/>
          <p:nvPr/>
        </p:nvSpPr>
        <p:spPr>
          <a:xfrm>
            <a:off x="1408176" y="1481328"/>
            <a:ext cx="1031443"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10–12 min</a:t>
            </a:r>
            <a:endParaRPr lang="en-US" sz="1050" dirty="0"/>
          </a:p>
        </p:txBody>
      </p:sp>
      <p:sp>
        <p:nvSpPr>
          <p:cNvPr id="9" name="Shape 7"/>
          <p:cNvSpPr/>
          <p:nvPr/>
        </p:nvSpPr>
        <p:spPr>
          <a:xfrm>
            <a:off x="548640" y="2057400"/>
            <a:ext cx="6766560" cy="2331720"/>
          </a:xfrm>
          <a:prstGeom prst="rect">
            <a:avLst/>
          </a:prstGeom>
          <a:solidFill>
            <a:srgbClr val="FFFFFF"/>
          </a:solidFill>
          <a:ln w="12700">
            <a:solidFill>
              <a:srgbClr val="DAD3C2"/>
            </a:solidFill>
            <a:prstDash val="solid"/>
          </a:ln>
        </p:spPr>
        <p:txBody>
          <a:bodyPr/>
          <a:p/>
        </p:txBody>
      </p:sp>
      <p:sp>
        <p:nvSpPr>
          <p:cNvPr id="10" name="Text 8"/>
          <p:cNvSpPr/>
          <p:nvPr/>
        </p:nvSpPr>
        <p:spPr>
          <a:xfrm>
            <a:off x="822960" y="2194560"/>
            <a:ext cx="4572000" cy="274320"/>
          </a:xfrm>
          <a:prstGeom prst="rect">
            <a:avLst/>
          </a:prstGeom>
          <a:noFill/>
          <a:ln/>
        </p:spPr>
        <p:txBody>
          <a:bodyPr wrap="square" rtlCol="0" anchor="ctr"/>
          <a:lstStyle/>
          <a:p>
            <a:pPr indent="0" marL="0">
              <a:buNone/>
            </a:pPr>
            <a:r>
              <a:rPr lang="en-US" sz="1100" b="1" spc="200" kern="0" dirty="0">
                <a:solidFill>
                  <a:srgbClr val="B22234"/>
                </a:solidFill>
                <a:latin typeface="Trebuchet MS" pitchFamily="34" charset="0"/>
                <a:ea typeface="Trebuchet MS" pitchFamily="34" charset="-122"/>
                <a:cs typeface="Trebuchet MS" pitchFamily="34" charset="-120"/>
              </a:rPr>
              <a:t>YOUR TASK</a:t>
            </a:r>
            <a:endParaRPr lang="en-US" sz="1100" dirty="0"/>
          </a:p>
        </p:txBody>
      </p:sp>
      <p:sp>
        <p:nvSpPr>
          <p:cNvPr id="11" name="Text 9"/>
          <p:cNvSpPr/>
          <p:nvPr/>
        </p:nvSpPr>
        <p:spPr>
          <a:xfrm>
            <a:off x="822960" y="2487168"/>
            <a:ext cx="6217920" cy="1828800"/>
          </a:xfrm>
          <a:prstGeom prst="rect">
            <a:avLst/>
          </a:prstGeom>
          <a:noFill/>
          <a:ln/>
        </p:spPr>
        <p:txBody>
          <a:bodyPr wrap="square" rtlCol="0" anchor="t"/>
          <a:lstStyle/>
          <a:p>
            <a:pPr indent="0" marL="0">
              <a:lnSpc>
                <a:spcPct val="112000"/>
              </a:lnSpc>
              <a:buNone/>
            </a:pPr>
            <a:r>
              <a:rPr lang="en-US" sz="1350" dirty="0">
                <a:solidFill>
                  <a:srgbClr val="1F2430"/>
                </a:solidFill>
                <a:latin typeface="Calibri" pitchFamily="34" charset="0"/>
                <a:ea typeface="Calibri" pitchFamily="34" charset="-122"/>
                <a:cs typeface="Calibri" pitchFamily="34" charset="-120"/>
              </a:rPr>
              <a:t>Analyze Thomas Nast's “Worse Than Slavery” cartoon and the Freedmen's Bureau image. Identify (1) the artist's point of view, (2) two symbols and their meaning, and (3) what the cartoon argues about why Reconstruction's protections collapsed.</a:t>
            </a:r>
            <a:endParaRPr lang="en-US" sz="1350" dirty="0"/>
          </a:p>
        </p:txBody>
      </p:sp>
      <p:sp>
        <p:nvSpPr>
          <p:cNvPr id="12" name="Shape 10"/>
          <p:cNvSpPr/>
          <p:nvPr/>
        </p:nvSpPr>
        <p:spPr>
          <a:xfrm>
            <a:off x="7552944" y="2020824"/>
            <a:ext cx="4142232" cy="1856232"/>
          </a:xfrm>
          <a:prstGeom prst="rect">
            <a:avLst/>
          </a:prstGeom>
          <a:solidFill>
            <a:srgbClr val="FFFFFF"/>
          </a:solidFill>
          <a:ln w="12700">
            <a:solidFill>
              <a:srgbClr val="DAD3C2"/>
            </a:solidFill>
            <a:prstDash val="solid"/>
          </a:ln>
        </p:spPr>
        <p:txBody>
          <a:bodyPr/>
          <a:p/>
        </p:txBody>
      </p:sp>
      <p:pic>
        <p:nvPicPr>
          <p:cNvPr id="13" name="Image 0" descr="Shorey (photographer), 1876  Library of Congress">    </p:cNvPr>
          <p:cNvPicPr>
            <a:picLocks noChangeAspect="1"/>
          </p:cNvPicPr>
          <p:nvPr/>
        </p:nvPicPr>
        <p:blipFill>
          <a:blip r:embed="rId1"/>
          <a:srcRect l="0" r="0" t="0" b="0"/>
          <a:stretch/>
        </p:blipFill>
        <p:spPr>
          <a:xfrm>
            <a:off x="7589520" y="2057400"/>
            <a:ext cx="4069080" cy="1783080"/>
          </a:xfrm>
          <a:prstGeom prst="rect">
            <a:avLst/>
          </a:prstGeom>
        </p:spPr>
      </p:pic>
      <p:sp>
        <p:nvSpPr>
          <p:cNvPr id="14" name="Text 11"/>
          <p:cNvSpPr/>
          <p:nvPr/>
        </p:nvSpPr>
        <p:spPr>
          <a:xfrm>
            <a:off x="7589520" y="3895344"/>
            <a:ext cx="4069080" cy="493776"/>
          </a:xfrm>
          <a:prstGeom prst="rect">
            <a:avLst/>
          </a:prstGeom>
          <a:noFill/>
          <a:ln/>
        </p:spPr>
        <p:txBody>
          <a:bodyPr wrap="square" rtlCol="0" anchor="t"/>
          <a:lstStyle/>
          <a:p>
            <a:pPr algn="l" indent="0" marL="0">
              <a:lnSpc>
                <a:spcPct val="100000"/>
              </a:lnSpc>
              <a:buNone/>
            </a:pPr>
            <a:pPr algn="l" indent="0" marL="0">
              <a:lnSpc>
                <a:spcPct val="100000"/>
              </a:lnSpc>
              <a:buNone/>
            </a:pPr>
            <a:r>
              <a:rPr lang="en-US" sz="900" i="1" dirty="0">
                <a:solidFill>
                  <a:srgbClr val="5C6470"/>
                </a:solidFill>
                <a:latin typeface="Calibri" pitchFamily="34" charset="0"/>
                <a:ea typeface="Calibri" pitchFamily="34" charset="-122"/>
                <a:cs typeface="Calibri" pitchFamily="34" charset="-120"/>
              </a:rPr>
              <a:t>Shorey (photographer), 1876  </a:t>
            </a:r>
            <a:pPr algn="l" indent="0" marL="0">
              <a:lnSpc>
                <a:spcPct val="100000"/>
              </a:lnSpc>
              <a:buNone/>
            </a:pPr>
            <a:r>
              <a:rPr lang="en-US" sz="9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750" dirty="0"/>
          </a:p>
        </p:txBody>
      </p:sp>
      <p:sp>
        <p:nvSpPr>
          <p:cNvPr id="15" name="Shape 12"/>
          <p:cNvSpPr/>
          <p:nvPr/>
        </p:nvSpPr>
        <p:spPr>
          <a:xfrm>
            <a:off x="548640" y="4526280"/>
            <a:ext cx="5486400" cy="1325880"/>
          </a:xfrm>
          <a:prstGeom prst="roundRect">
            <a:avLst>
              <a:gd name="adj" fmla="val 5517"/>
            </a:avLst>
          </a:prstGeom>
          <a:solidFill>
            <a:srgbClr val="1F3A5F"/>
          </a:solidFill>
          <a:ln/>
        </p:spPr>
        <p:txBody>
          <a:bodyPr/>
          <a:p/>
        </p:txBody>
      </p:sp>
      <p:sp>
        <p:nvSpPr>
          <p:cNvPr id="16" name="Text 13"/>
          <p:cNvSpPr/>
          <p:nvPr/>
        </p:nvSpPr>
        <p:spPr>
          <a:xfrm>
            <a:off x="777240" y="4645152"/>
            <a:ext cx="4572000" cy="274320"/>
          </a:xfrm>
          <a:prstGeom prst="rect">
            <a:avLst/>
          </a:prstGeom>
          <a:noFill/>
          <a:ln/>
        </p:spPr>
        <p:txBody>
          <a:bodyPr wrap="square" rtlCol="0" anchor="ctr"/>
          <a:lstStyle/>
          <a:p>
            <a:pPr indent="0" marL="0">
              <a:buNone/>
            </a:pPr>
            <a:r>
              <a:rPr lang="en-US" sz="1050" b="1" spc="200" kern="0" dirty="0">
                <a:solidFill>
                  <a:srgbClr val="F9A825"/>
                </a:solidFill>
                <a:latin typeface="Trebuchet MS" pitchFamily="34" charset="0"/>
                <a:ea typeface="Trebuchet MS" pitchFamily="34" charset="-122"/>
                <a:cs typeface="Trebuchet MS" pitchFamily="34" charset="-120"/>
              </a:rPr>
              <a:t>DELIVERABLE</a:t>
            </a:r>
            <a:endParaRPr lang="en-US" sz="1050" dirty="0"/>
          </a:p>
        </p:txBody>
      </p:sp>
      <p:sp>
        <p:nvSpPr>
          <p:cNvPr id="17" name="Text 14"/>
          <p:cNvSpPr/>
          <p:nvPr/>
        </p:nvSpPr>
        <p:spPr>
          <a:xfrm>
            <a:off x="777240" y="4919472"/>
            <a:ext cx="5029200" cy="868680"/>
          </a:xfrm>
          <a:prstGeom prst="rect">
            <a:avLst/>
          </a:prstGeom>
          <a:noFill/>
          <a:ln/>
        </p:spPr>
        <p:txBody>
          <a:bodyPr wrap="square"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Annotated cartoon analysis with point-of-view statement.</a:t>
            </a:r>
            <a:endParaRPr lang="en-US" sz="1250" dirty="0"/>
          </a:p>
        </p:txBody>
      </p:sp>
      <p:sp>
        <p:nvSpPr>
          <p:cNvPr id="18" name="Shape 15"/>
          <p:cNvSpPr/>
          <p:nvPr/>
        </p:nvSpPr>
        <p:spPr>
          <a:xfrm>
            <a:off x="6172200" y="4526280"/>
            <a:ext cx="5440680" cy="1325880"/>
          </a:xfrm>
          <a:prstGeom prst="roundRect">
            <a:avLst>
              <a:gd name="adj" fmla="val 5517"/>
            </a:avLst>
          </a:prstGeom>
          <a:solidFill>
            <a:srgbClr val="FBEFD0"/>
          </a:solidFill>
          <a:ln w="15875">
            <a:solidFill>
              <a:srgbClr val="C9A227"/>
            </a:solidFill>
            <a:prstDash val="solid"/>
          </a:ln>
        </p:spPr>
        <p:txBody>
          <a:bodyPr/>
          <a:p/>
        </p:txBody>
      </p:sp>
      <p:sp>
        <p:nvSpPr>
          <p:cNvPr id="19" name="Text 16"/>
          <p:cNvSpPr/>
          <p:nvPr/>
        </p:nvSpPr>
        <p:spPr>
          <a:xfrm>
            <a:off x="6400800" y="4645152"/>
            <a:ext cx="4572000" cy="274320"/>
          </a:xfrm>
          <a:prstGeom prst="rect">
            <a:avLst/>
          </a:prstGeom>
          <a:noFill/>
          <a:ln/>
        </p:spPr>
        <p:txBody>
          <a:bodyPr wrap="square" rtlCol="0" anchor="ctr"/>
          <a:lstStyle/>
          <a:p>
            <a:pPr indent="0" marL="0">
              <a:buNone/>
            </a:pPr>
            <a:r>
              <a:rPr lang="en-US" sz="1050" b="1" spc="200" kern="0" dirty="0">
                <a:solidFill>
                  <a:srgbClr val="B22234"/>
                </a:solidFill>
                <a:latin typeface="Trebuchet MS" pitchFamily="34" charset="0"/>
                <a:ea typeface="Trebuchet MS" pitchFamily="34" charset="-122"/>
                <a:cs typeface="Trebuchet MS" pitchFamily="34" charset="-120"/>
              </a:rPr>
              <a:t>SUPPORT OPTIONS</a:t>
            </a:r>
            <a:endParaRPr lang="en-US" sz="1050" dirty="0"/>
          </a:p>
        </p:txBody>
      </p:sp>
      <p:sp>
        <p:nvSpPr>
          <p:cNvPr id="20" name="Text 17"/>
          <p:cNvSpPr/>
          <p:nvPr/>
        </p:nvSpPr>
        <p:spPr>
          <a:xfrm>
            <a:off x="6400800" y="4919472"/>
            <a:ext cx="5029200" cy="868680"/>
          </a:xfrm>
          <a:prstGeom prst="rect">
            <a:avLst/>
          </a:prstGeom>
          <a:noFill/>
          <a:ln/>
        </p:spPr>
        <p:txBody>
          <a:bodyPr wrap="square" rtlCol="0" anchor="t"/>
          <a:lstStyle/>
          <a:p>
            <a:pPr indent="0" marL="0">
              <a:lnSpc>
                <a:spcPct val="105000"/>
              </a:lnSpc>
              <a:buNone/>
            </a:pPr>
            <a:r>
              <a:rPr lang="en-US" sz="1200" dirty="0">
                <a:solidFill>
                  <a:srgbClr val="1F2430"/>
                </a:solidFill>
                <a:latin typeface="Calibri" pitchFamily="34" charset="0"/>
                <a:ea typeface="Calibri" pitchFamily="34" charset="-122"/>
                <a:cs typeface="Calibri" pitchFamily="34" charset="-120"/>
              </a:rPr>
              <a:t>SUPPORT OPTION: guided symbol list. EXTENSION: compare Nast's view to the photo of the SC legislature — do the sources corroborate?</a:t>
            </a:r>
            <a:endParaRPr lang="en-US" sz="1200" dirty="0"/>
          </a:p>
        </p:txBody>
      </p:sp>
      <p:sp>
        <p:nvSpPr>
          <p:cNvPr id="21" name="Text 18"/>
          <p:cNvSpPr/>
          <p:nvPr/>
        </p:nvSpPr>
        <p:spPr>
          <a:xfrm>
            <a:off x="548640" y="5943600"/>
            <a:ext cx="11064240" cy="320040"/>
          </a:xfrm>
          <a:prstGeom prst="rect">
            <a:avLst/>
          </a:prstGeom>
          <a:noFill/>
          <a:ln/>
        </p:spPr>
        <p:txBody>
          <a:bodyPr wrap="square" rtlCol="0" anchor="ctr"/>
          <a:lstStyle/>
          <a:p>
            <a:pPr indent="0" marL="0">
              <a:buNone/>
            </a:pPr>
            <a:r>
              <a:rPr lang="en-US" sz="1050" b="1" dirty="0">
                <a:solidFill>
                  <a:srgbClr val="1F3A5F"/>
                </a:solidFill>
                <a:latin typeface="Calibri" pitchFamily="34" charset="0"/>
                <a:ea typeface="Calibri" pitchFamily="34" charset="-122"/>
                <a:cs typeface="Calibri" pitchFamily="34" charset="-120"/>
              </a:rPr>
              <a:t>Companion printable:  </a:t>
            </a:r>
            <a:pPr indent="0" marL="0">
              <a:buNone/>
            </a:pPr>
            <a:r>
              <a:rPr lang="en-US" sz="1050" i="1" dirty="0">
                <a:solidFill>
                  <a:srgbClr val="002858"/>
                </a:solidFill>
                <a:latin typeface="Calibri" pitchFamily="34" charset="0"/>
                <a:ea typeface="Calibri" pitchFamily="34" charset="-122"/>
                <a:cs typeface="Calibri" pitchFamily="34" charset="-120"/>
              </a:rPr>
              <a:t>Cornell Notes — US.03: Reconstruction (Amendments, Freedmen's Bureau, End of Reconstruction)</a:t>
            </a:r>
            <a:endParaRPr lang="en-US" sz="1050" dirty="0"/>
          </a:p>
        </p:txBody>
      </p:sp>
      <p:sp>
        <p:nvSpPr>
          <p:cNvPr id="23" name="Text 19"/>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4" name="Text 20"/>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45</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5">
    <p:bg>
      <p:bgPr>
        <a:solidFill>
          <a:srgbClr val="1F3A5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227"/>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US.03 · CHECK FOR UNDERSTANDING</a:t>
            </a:r>
            <a:endParaRPr lang="en-US" sz="1200" dirty="0"/>
          </a:p>
        </p:txBody>
      </p:sp>
      <p:sp>
        <p:nvSpPr>
          <p:cNvPr id="4" name="Text 2"/>
          <p:cNvSpPr/>
          <p:nvPr/>
        </p:nvSpPr>
        <p:spPr>
          <a:xfrm>
            <a:off x="548640" y="777240"/>
            <a:ext cx="676656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7635240" y="822960"/>
            <a:ext cx="1143000" cy="457200"/>
          </a:xfrm>
          <a:prstGeom prst="roundRect">
            <a:avLst>
              <a:gd name="adj" fmla="val 20000"/>
            </a:avLst>
          </a:prstGeom>
          <a:solidFill>
            <a:srgbClr val="243047"/>
          </a:solidFill>
          <a:ln w="12700">
            <a:solidFill>
              <a:srgbClr val="C9A227"/>
            </a:solidFill>
            <a:prstDash val="solid"/>
          </a:ln>
        </p:spPr>
        <p:txBody>
          <a:bodyPr/>
          <a:p/>
        </p:txBody>
      </p:sp>
      <p:sp>
        <p:nvSpPr>
          <p:cNvPr id="6" name="Text 4"/>
          <p:cNvSpPr/>
          <p:nvPr/>
        </p:nvSpPr>
        <p:spPr>
          <a:xfrm>
            <a:off x="7635240" y="822960"/>
            <a:ext cx="1143000" cy="457200"/>
          </a:xfrm>
          <a:prstGeom prst="rect">
            <a:avLst/>
          </a:prstGeom>
          <a:noFill/>
          <a:ln/>
        </p:spPr>
        <p:txBody>
          <a:bodyPr wrap="square" rtlCol="0" anchor="ctr"/>
          <a:lstStyle/>
          <a:p>
            <a:pPr algn="ctr" indent="0" marL="0">
              <a:buNone/>
            </a:pPr>
            <a:r>
              <a:rPr lang="en-US" sz="1200" b="1" dirty="0">
                <a:solidFill>
                  <a:srgbClr val="F9A825"/>
                </a:solidFill>
                <a:latin typeface="Trebuchet MS" pitchFamily="34" charset="0"/>
                <a:ea typeface="Trebuchet MS" pitchFamily="34" charset="-122"/>
                <a:cs typeface="Trebuchet MS" pitchFamily="34" charset="-120"/>
              </a:rPr>
              <a:t>DOK 3</a:t>
            </a:r>
            <a:endParaRPr lang="en-US" sz="1200" dirty="0"/>
          </a:p>
        </p:txBody>
      </p:sp>
      <p:sp>
        <p:nvSpPr>
          <p:cNvPr id="7" name="Shape 5"/>
          <p:cNvSpPr/>
          <p:nvPr/>
        </p:nvSpPr>
        <p:spPr>
          <a:xfrm>
            <a:off x="8869680" y="822960"/>
            <a:ext cx="2743200" cy="457200"/>
          </a:xfrm>
          <a:prstGeom prst="roundRect">
            <a:avLst>
              <a:gd name="adj" fmla="val 20000"/>
            </a:avLst>
          </a:prstGeom>
          <a:solidFill>
            <a:srgbClr val="B22234"/>
          </a:solidFill>
          <a:ln/>
        </p:spPr>
        <p:txBody>
          <a:bodyPr/>
          <a:p/>
        </p:txBody>
      </p:sp>
      <p:sp>
        <p:nvSpPr>
          <p:cNvPr id="8" name="Text 6"/>
          <p:cNvSpPr/>
          <p:nvPr/>
        </p:nvSpPr>
        <p:spPr>
          <a:xfrm>
            <a:off x="8869680" y="822960"/>
            <a:ext cx="274320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EOC PRACTICE</a:t>
            </a:r>
            <a:endParaRPr lang="en-US" sz="1200" dirty="0"/>
          </a:p>
        </p:txBody>
      </p:sp>
      <p:sp>
        <p:nvSpPr>
          <p:cNvPr id="9" name="Shape 7"/>
          <p:cNvSpPr/>
          <p:nvPr/>
        </p:nvSpPr>
        <p:spPr>
          <a:xfrm>
            <a:off x="548640" y="1554480"/>
            <a:ext cx="11064240" cy="1051560"/>
          </a:xfrm>
          <a:prstGeom prst="roundRect">
            <a:avLst>
              <a:gd name="adj" fmla="val 6957"/>
            </a:avLst>
          </a:prstGeom>
          <a:solidFill>
            <a:srgbClr val="243047"/>
          </a:solidFill>
          <a:ln w="6350">
            <a:solidFill>
              <a:srgbClr val="A7BACB"/>
            </a:solidFill>
            <a:prstDash val="solid"/>
          </a:ln>
        </p:spPr>
        <p:txBody>
          <a:bodyPr/>
          <a:p/>
        </p:txBody>
      </p:sp>
      <p:sp>
        <p:nvSpPr>
          <p:cNvPr id="10" name="Text 8"/>
          <p:cNvSpPr/>
          <p:nvPr/>
        </p:nvSpPr>
        <p:spPr>
          <a:xfrm>
            <a:off x="822960" y="1691640"/>
            <a:ext cx="10515600" cy="777240"/>
          </a:xfrm>
          <a:prstGeom prst="rect">
            <a:avLst/>
          </a:prstGeom>
          <a:noFill/>
          <a:ln/>
        </p:spPr>
        <p:txBody>
          <a:bodyPr wrap="square" rtlCol="0" anchor="ctr"/>
          <a:lstStyle/>
          <a:p>
            <a:pPr indent="0" marL="0">
              <a:lnSpc>
                <a:spcPct val="105000"/>
              </a:lnSpc>
              <a:buNone/>
            </a:pPr>
            <a:r>
              <a:rPr lang="en-US" sz="1600" b="1" dirty="0">
                <a:solidFill>
                  <a:srgbClr val="FFFFFF"/>
                </a:solidFill>
                <a:latin typeface="Calibri" pitchFamily="34" charset="0"/>
                <a:ea typeface="Calibri" pitchFamily="34" charset="-122"/>
                <a:cs typeface="Calibri" pitchFamily="34" charset="-120"/>
              </a:rPr>
              <a:t>The Plessy majority reasoned that "separate" facilities did not make one race inferior. Which later argument most directly challenges that reasoning?</a:t>
            </a:r>
            <a:endParaRPr lang="en-US" sz="1600" dirty="0"/>
          </a:p>
        </p:txBody>
      </p:sp>
      <p:sp>
        <p:nvSpPr>
          <p:cNvPr id="11" name="Shape 9"/>
          <p:cNvSpPr/>
          <p:nvPr/>
        </p:nvSpPr>
        <p:spPr>
          <a:xfrm>
            <a:off x="548640" y="2743200"/>
            <a:ext cx="11064240" cy="658368"/>
          </a:xfrm>
          <a:prstGeom prst="roundRect">
            <a:avLst>
              <a:gd name="adj" fmla="val 8333"/>
            </a:avLst>
          </a:prstGeom>
          <a:solidFill>
            <a:srgbClr val="2C384F"/>
          </a:solidFill>
          <a:ln w="12700">
            <a:solidFill>
              <a:srgbClr val="3A475E"/>
            </a:solidFill>
            <a:prstDash val="solid"/>
          </a:ln>
        </p:spPr>
        <p:txBody>
          <a:bodyPr/>
          <a:p/>
        </p:txBody>
      </p:sp>
      <p:sp>
        <p:nvSpPr>
          <p:cNvPr id="12" name="Shape 10"/>
          <p:cNvSpPr/>
          <p:nvPr/>
        </p:nvSpPr>
        <p:spPr>
          <a:xfrm>
            <a:off x="713232" y="2889504"/>
            <a:ext cx="365760" cy="365760"/>
          </a:xfrm>
          <a:prstGeom prst="ellipse">
            <a:avLst/>
          </a:prstGeom>
          <a:solidFill>
            <a:srgbClr val="1F3A5F"/>
          </a:solidFill>
          <a:ln/>
        </p:spPr>
        <p:txBody>
          <a:bodyPr/>
          <a:p/>
        </p:txBody>
      </p:sp>
      <p:sp>
        <p:nvSpPr>
          <p:cNvPr id="13" name="Text 11"/>
          <p:cNvSpPr/>
          <p:nvPr/>
        </p:nvSpPr>
        <p:spPr>
          <a:xfrm>
            <a:off x="713232" y="2889504"/>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A</a:t>
            </a:r>
            <a:endParaRPr lang="en-US" sz="1400" dirty="0"/>
          </a:p>
        </p:txBody>
      </p:sp>
      <p:sp>
        <p:nvSpPr>
          <p:cNvPr id="14" name="Text 12"/>
          <p:cNvSpPr/>
          <p:nvPr/>
        </p:nvSpPr>
        <p:spPr>
          <a:xfrm>
            <a:off x="1234440" y="2743200"/>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That segregation was acceptable as long as both facilities were physically identical.</a:t>
            </a:r>
            <a:endParaRPr lang="en-US" sz="1350" dirty="0"/>
          </a:p>
        </p:txBody>
      </p:sp>
      <p:sp>
        <p:nvSpPr>
          <p:cNvPr id="15" name="Shape 13"/>
          <p:cNvSpPr/>
          <p:nvPr/>
        </p:nvSpPr>
        <p:spPr>
          <a:xfrm>
            <a:off x="548640" y="3493008"/>
            <a:ext cx="11064240" cy="658368"/>
          </a:xfrm>
          <a:prstGeom prst="roundRect">
            <a:avLst>
              <a:gd name="adj" fmla="val 8333"/>
            </a:avLst>
          </a:prstGeom>
          <a:solidFill>
            <a:srgbClr val="2C384F"/>
          </a:solidFill>
          <a:ln w="12700">
            <a:solidFill>
              <a:srgbClr val="3A475E"/>
            </a:solidFill>
            <a:prstDash val="solid"/>
          </a:ln>
        </p:spPr>
        <p:txBody>
          <a:bodyPr/>
          <a:p/>
        </p:txBody>
      </p:sp>
      <p:sp>
        <p:nvSpPr>
          <p:cNvPr id="16" name="Shape 14"/>
          <p:cNvSpPr/>
          <p:nvPr/>
        </p:nvSpPr>
        <p:spPr>
          <a:xfrm>
            <a:off x="713232" y="3639312"/>
            <a:ext cx="365760" cy="365760"/>
          </a:xfrm>
          <a:prstGeom prst="ellipse">
            <a:avLst/>
          </a:prstGeom>
          <a:solidFill>
            <a:srgbClr val="1F3A5F"/>
          </a:solidFill>
          <a:ln/>
        </p:spPr>
        <p:txBody>
          <a:bodyPr/>
          <a:p/>
        </p:txBody>
      </p:sp>
      <p:sp>
        <p:nvSpPr>
          <p:cNvPr id="17" name="Text 15"/>
          <p:cNvSpPr/>
          <p:nvPr/>
        </p:nvSpPr>
        <p:spPr>
          <a:xfrm>
            <a:off x="713232" y="3639312"/>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B</a:t>
            </a:r>
            <a:endParaRPr lang="en-US" sz="1400" dirty="0"/>
          </a:p>
        </p:txBody>
      </p:sp>
      <p:sp>
        <p:nvSpPr>
          <p:cNvPr id="18" name="Text 16"/>
          <p:cNvSpPr/>
          <p:nvPr/>
        </p:nvSpPr>
        <p:spPr>
          <a:xfrm>
            <a:off x="1234440" y="3493008"/>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That the Constitution explicitly required racial separation.</a:t>
            </a:r>
            <a:endParaRPr lang="en-US" sz="1350" dirty="0"/>
          </a:p>
        </p:txBody>
      </p:sp>
      <p:sp>
        <p:nvSpPr>
          <p:cNvPr id="19" name="Shape 17"/>
          <p:cNvSpPr/>
          <p:nvPr/>
        </p:nvSpPr>
        <p:spPr>
          <a:xfrm>
            <a:off x="548640" y="4242816"/>
            <a:ext cx="11064240" cy="658368"/>
          </a:xfrm>
          <a:prstGeom prst="roundRect">
            <a:avLst>
              <a:gd name="adj" fmla="val 8333"/>
            </a:avLst>
          </a:prstGeom>
          <a:solidFill>
            <a:srgbClr val="2C384F"/>
          </a:solidFill>
          <a:ln w="12700">
            <a:solidFill>
              <a:srgbClr val="3A475E"/>
            </a:solidFill>
            <a:prstDash val="solid"/>
          </a:ln>
        </p:spPr>
        <p:txBody>
          <a:bodyPr/>
          <a:p/>
        </p:txBody>
      </p:sp>
      <p:sp>
        <p:nvSpPr>
          <p:cNvPr id="20" name="Shape 18"/>
          <p:cNvSpPr/>
          <p:nvPr/>
        </p:nvSpPr>
        <p:spPr>
          <a:xfrm>
            <a:off x="713232" y="4389120"/>
            <a:ext cx="365760" cy="365760"/>
          </a:xfrm>
          <a:prstGeom prst="ellipse">
            <a:avLst/>
          </a:prstGeom>
          <a:solidFill>
            <a:srgbClr val="1F3A5F"/>
          </a:solidFill>
          <a:ln/>
        </p:spPr>
        <p:txBody>
          <a:bodyPr/>
          <a:p/>
        </p:txBody>
      </p:sp>
      <p:sp>
        <p:nvSpPr>
          <p:cNvPr id="21" name="Text 19"/>
          <p:cNvSpPr/>
          <p:nvPr/>
        </p:nvSpPr>
        <p:spPr>
          <a:xfrm>
            <a:off x="713232" y="4389120"/>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C</a:t>
            </a:r>
            <a:endParaRPr lang="en-US" sz="1400" dirty="0"/>
          </a:p>
        </p:txBody>
      </p:sp>
      <p:sp>
        <p:nvSpPr>
          <p:cNvPr id="22" name="Text 20"/>
          <p:cNvSpPr/>
          <p:nvPr/>
        </p:nvSpPr>
        <p:spPr>
          <a:xfrm>
            <a:off x="1234440" y="4242816"/>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That state-enforced separation itself signals and enforces inequality, regardless of facility quality.</a:t>
            </a:r>
            <a:endParaRPr lang="en-US" sz="1350" dirty="0"/>
          </a:p>
        </p:txBody>
      </p:sp>
      <p:sp>
        <p:nvSpPr>
          <p:cNvPr id="23" name="Shape 21"/>
          <p:cNvSpPr/>
          <p:nvPr/>
        </p:nvSpPr>
        <p:spPr>
          <a:xfrm>
            <a:off x="548640" y="4992624"/>
            <a:ext cx="11064240" cy="658368"/>
          </a:xfrm>
          <a:prstGeom prst="roundRect">
            <a:avLst>
              <a:gd name="adj" fmla="val 8333"/>
            </a:avLst>
          </a:prstGeom>
          <a:solidFill>
            <a:srgbClr val="2C384F"/>
          </a:solidFill>
          <a:ln w="12700">
            <a:solidFill>
              <a:srgbClr val="3A475E"/>
            </a:solidFill>
            <a:prstDash val="solid"/>
          </a:ln>
        </p:spPr>
        <p:txBody>
          <a:bodyPr/>
          <a:p/>
        </p:txBody>
      </p:sp>
      <p:sp>
        <p:nvSpPr>
          <p:cNvPr id="24" name="Shape 22"/>
          <p:cNvSpPr/>
          <p:nvPr/>
        </p:nvSpPr>
        <p:spPr>
          <a:xfrm>
            <a:off x="713232" y="5138928"/>
            <a:ext cx="365760" cy="365760"/>
          </a:xfrm>
          <a:prstGeom prst="ellipse">
            <a:avLst/>
          </a:prstGeom>
          <a:solidFill>
            <a:srgbClr val="1F3A5F"/>
          </a:solidFill>
          <a:ln/>
        </p:spPr>
        <p:txBody>
          <a:bodyPr/>
          <a:p/>
        </p:txBody>
      </p:sp>
      <p:sp>
        <p:nvSpPr>
          <p:cNvPr id="25" name="Text 23"/>
          <p:cNvSpPr/>
          <p:nvPr/>
        </p:nvSpPr>
        <p:spPr>
          <a:xfrm>
            <a:off x="713232" y="5138928"/>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D</a:t>
            </a:r>
            <a:endParaRPr lang="en-US" sz="1400" dirty="0"/>
          </a:p>
        </p:txBody>
      </p:sp>
      <p:sp>
        <p:nvSpPr>
          <p:cNvPr id="26" name="Text 24"/>
          <p:cNvSpPr/>
          <p:nvPr/>
        </p:nvSpPr>
        <p:spPr>
          <a:xfrm>
            <a:off x="1234440" y="4992624"/>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That African Americans had freely chosen separate facilities.</a:t>
            </a:r>
            <a:endParaRPr lang="en-US" sz="1350" dirty="0"/>
          </a:p>
        </p:txBody>
      </p:sp>
      <p:sp>
        <p:nvSpPr>
          <p:cNvPr id="27" name="Shape 25"/>
          <p:cNvSpPr/>
          <p:nvPr/>
        </p:nvSpPr>
        <p:spPr>
          <a:xfrm>
            <a:off x="548640" y="5715000"/>
            <a:ext cx="11064240" cy="502920"/>
          </a:xfrm>
          <a:prstGeom prst="roundRect">
            <a:avLst>
              <a:gd name="adj" fmla="val 14545"/>
            </a:avLst>
          </a:prstGeom>
          <a:solidFill>
            <a:srgbClr val="243047"/>
          </a:solidFill>
          <a:ln w="12700">
            <a:solidFill>
              <a:srgbClr val="C9A227"/>
            </a:solidFill>
            <a:prstDash val="solid"/>
          </a:ln>
        </p:spPr>
        <p:txBody>
          <a:bodyPr/>
          <a:p/>
        </p:txBody>
      </p:sp>
      <p:sp>
        <p:nvSpPr>
          <p:cNvPr id="28" name="Text 26"/>
          <p:cNvSpPr/>
          <p:nvPr/>
        </p:nvSpPr>
        <p:spPr>
          <a:xfrm>
            <a:off x="822960" y="5715000"/>
            <a:ext cx="10515600" cy="502920"/>
          </a:xfrm>
          <a:prstGeom prst="rect">
            <a:avLst/>
          </a:prstGeom>
          <a:noFill/>
          <a:ln/>
        </p:spPr>
        <p:txBody>
          <a:bodyPr wrap="square" rtlCol="0" anchor="ctr"/>
          <a:lstStyle/>
          <a:p>
            <a:pPr indent="0" marL="0">
              <a:buNone/>
            </a:pPr>
            <a:r>
              <a:rPr lang="en-US" sz="1200" b="1" i="1" spc="100" kern="0" dirty="0">
                <a:solidFill>
                  <a:srgbClr val="F9A825"/>
                </a:solidFill>
                <a:latin typeface="Trebuchet MS" pitchFamily="34" charset="0"/>
                <a:ea typeface="Trebuchet MS" pitchFamily="34" charset="-122"/>
                <a:cs typeface="Trebuchet MS" pitchFamily="34" charset="-120"/>
              </a:rPr>
              <a:t>ANSWER FIRST:  </a:t>
            </a:r>
            <a:pPr indent="0" marL="0">
              <a:buNone/>
            </a:pPr>
            <a:r>
              <a:rPr lang="en-US" sz="1200" i="1" dirty="0">
                <a:solidFill>
                  <a:srgbClr val="C7D4E0"/>
                </a:solidFill>
                <a:latin typeface="Calibri" pitchFamily="34" charset="0"/>
                <a:ea typeface="Calibri" pitchFamily="34" charset="-122"/>
                <a:cs typeface="Calibri" pitchFamily="34" charset="-120"/>
              </a:rPr>
              <a:t>students commit — then click / advance to reveal the correct answer and explanation.</a:t>
            </a:r>
            <a:endParaRPr lang="en-US" sz="1200" dirty="0"/>
          </a:p>
        </p:txBody>
      </p:sp>
      <p:sp>
        <p:nvSpPr>
          <p:cNvPr id="30" name="Text 27"/>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1" name="Text 2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46</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6">
    <p:bg>
      <p:bgPr>
        <a:solidFill>
          <a:srgbClr val="1F3A5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227"/>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US.03 · ANSWER REVEAL</a:t>
            </a:r>
            <a:endParaRPr lang="en-US" sz="1200" dirty="0"/>
          </a:p>
        </p:txBody>
      </p:sp>
      <p:sp>
        <p:nvSpPr>
          <p:cNvPr id="4" name="Text 2"/>
          <p:cNvSpPr/>
          <p:nvPr/>
        </p:nvSpPr>
        <p:spPr>
          <a:xfrm>
            <a:off x="548640" y="777240"/>
            <a:ext cx="822960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8595360" y="822960"/>
            <a:ext cx="3017520" cy="457200"/>
          </a:xfrm>
          <a:prstGeom prst="roundRect">
            <a:avLst>
              <a:gd name="adj" fmla="val 20000"/>
            </a:avLst>
          </a:prstGeom>
          <a:solidFill>
            <a:srgbClr val="1B5E20"/>
          </a:solidFill>
          <a:ln/>
        </p:spPr>
        <p:txBody>
          <a:bodyPr/>
          <a:p/>
        </p:txBody>
      </p:sp>
      <p:sp>
        <p:nvSpPr>
          <p:cNvPr id="6" name="Text 4"/>
          <p:cNvSpPr/>
          <p:nvPr/>
        </p:nvSpPr>
        <p:spPr>
          <a:xfrm>
            <a:off x="8595360" y="822960"/>
            <a:ext cx="301752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 ANSWER KEY</a:t>
            </a:r>
            <a:endParaRPr lang="en-US" sz="1200" dirty="0"/>
          </a:p>
        </p:txBody>
      </p:sp>
      <p:sp>
        <p:nvSpPr>
          <p:cNvPr id="7" name="Shape 5"/>
          <p:cNvSpPr/>
          <p:nvPr/>
        </p:nvSpPr>
        <p:spPr>
          <a:xfrm>
            <a:off x="548640" y="1554480"/>
            <a:ext cx="11064240" cy="960120"/>
          </a:xfrm>
          <a:prstGeom prst="roundRect">
            <a:avLst>
              <a:gd name="adj" fmla="val 7619"/>
            </a:avLst>
          </a:prstGeom>
          <a:solidFill>
            <a:srgbClr val="243047"/>
          </a:solidFill>
          <a:ln w="6350">
            <a:solidFill>
              <a:srgbClr val="A7BACB"/>
            </a:solidFill>
            <a:prstDash val="solid"/>
          </a:ln>
        </p:spPr>
        <p:txBody>
          <a:bodyPr/>
          <a:p/>
        </p:txBody>
      </p:sp>
      <p:sp>
        <p:nvSpPr>
          <p:cNvPr id="8" name="Text 6"/>
          <p:cNvSpPr/>
          <p:nvPr/>
        </p:nvSpPr>
        <p:spPr>
          <a:xfrm>
            <a:off x="822960" y="1664208"/>
            <a:ext cx="10515600" cy="731520"/>
          </a:xfrm>
          <a:prstGeom prst="rect">
            <a:avLst/>
          </a:prstGeom>
          <a:noFill/>
          <a:ln/>
        </p:spPr>
        <p:txBody>
          <a:bodyPr wrap="square" rtlCol="0" anchor="ctr"/>
          <a:lstStyle/>
          <a:p>
            <a:pPr indent="0" marL="0">
              <a:lnSpc>
                <a:spcPct val="102000"/>
              </a:lnSpc>
              <a:buNone/>
            </a:pPr>
            <a:r>
              <a:rPr lang="en-US" sz="1500" b="1" dirty="0">
                <a:solidFill>
                  <a:srgbClr val="FFFFFF"/>
                </a:solidFill>
                <a:latin typeface="Calibri" pitchFamily="34" charset="0"/>
                <a:ea typeface="Calibri" pitchFamily="34" charset="-122"/>
                <a:cs typeface="Calibri" pitchFamily="34" charset="-120"/>
              </a:rPr>
              <a:t>The Plessy majority reasoned that "separate" facilities did not make one race inferior. Which later argument most directly challenges that reasoning?</a:t>
            </a:r>
            <a:endParaRPr lang="en-US" sz="1500" dirty="0"/>
          </a:p>
        </p:txBody>
      </p:sp>
      <p:sp>
        <p:nvSpPr>
          <p:cNvPr id="9" name="Shape 7"/>
          <p:cNvSpPr/>
          <p:nvPr/>
        </p:nvSpPr>
        <p:spPr>
          <a:xfrm>
            <a:off x="548640" y="2651760"/>
            <a:ext cx="11064240" cy="566928"/>
          </a:xfrm>
          <a:prstGeom prst="roundRect">
            <a:avLst>
              <a:gd name="adj" fmla="val 9677"/>
            </a:avLst>
          </a:prstGeom>
          <a:solidFill>
            <a:srgbClr val="2C384F"/>
          </a:solidFill>
          <a:ln w="12700">
            <a:solidFill>
              <a:srgbClr val="F9A825"/>
            </a:solidFill>
            <a:prstDash val="solid"/>
          </a:ln>
        </p:spPr>
        <p:txBody>
          <a:bodyPr/>
          <a:p/>
        </p:txBody>
      </p:sp>
      <p:sp>
        <p:nvSpPr>
          <p:cNvPr id="10" name="Shape 8"/>
          <p:cNvSpPr/>
          <p:nvPr/>
        </p:nvSpPr>
        <p:spPr>
          <a:xfrm>
            <a:off x="713232" y="2761488"/>
            <a:ext cx="347472" cy="347472"/>
          </a:xfrm>
          <a:prstGeom prst="ellipse">
            <a:avLst/>
          </a:prstGeom>
          <a:solidFill>
            <a:srgbClr val="1F3A5F"/>
          </a:solidFill>
          <a:ln/>
        </p:spPr>
        <p:txBody>
          <a:bodyPr/>
          <a:p/>
        </p:txBody>
      </p:sp>
      <p:sp>
        <p:nvSpPr>
          <p:cNvPr id="11" name="Text 9"/>
          <p:cNvSpPr/>
          <p:nvPr/>
        </p:nvSpPr>
        <p:spPr>
          <a:xfrm>
            <a:off x="713232" y="2761488"/>
            <a:ext cx="347472" cy="347472"/>
          </a:xfrm>
          <a:prstGeom prst="rect">
            <a:avLst/>
          </a:prstGeom>
          <a:noFill/>
          <a:ln/>
        </p:spPr>
        <p:txBody>
          <a:bodyPr wrap="square" rtlCol="0" anchor="ctr"/>
          <a:lstStyle/>
          <a:p>
            <a:pPr algn="ctr" indent="0" marL="0">
              <a:buNone/>
            </a:pPr>
            <a:r>
              <a:rPr lang="en-US" sz="1300" b="1" dirty="0">
                <a:solidFill>
                  <a:srgbClr val="F9A825"/>
                </a:solidFill>
                <a:latin typeface="Trebuchet MS" pitchFamily="34" charset="0"/>
                <a:ea typeface="Trebuchet MS" pitchFamily="34" charset="-122"/>
                <a:cs typeface="Trebuchet MS" pitchFamily="34" charset="-120"/>
              </a:rPr>
              <a:t>A</a:t>
            </a:r>
            <a:endParaRPr lang="en-US" sz="1300" dirty="0"/>
          </a:p>
        </p:txBody>
      </p:sp>
      <p:sp>
        <p:nvSpPr>
          <p:cNvPr id="12" name="Text 10"/>
          <p:cNvSpPr/>
          <p:nvPr/>
        </p:nvSpPr>
        <p:spPr>
          <a:xfrm>
            <a:off x="1216152" y="2651760"/>
            <a:ext cx="9509760" cy="566928"/>
          </a:xfrm>
          <a:prstGeom prst="rect">
            <a:avLst/>
          </a:prstGeom>
          <a:noFill/>
          <a:ln/>
        </p:spPr>
        <p:txBody>
          <a:bodyPr wrap="square" rtlCol="0" anchor="ctr"/>
          <a:lstStyle/>
          <a:p>
            <a:pPr indent="0" marL="0">
              <a:lnSpc>
                <a:spcPct val="100000"/>
              </a:lnSpc>
              <a:buNone/>
            </a:pPr>
            <a:r>
              <a:rPr lang="en-US" sz="1300" b="1" dirty="0">
                <a:solidFill>
                  <a:srgbClr val="1F3A5F"/>
                </a:solidFill>
                <a:latin typeface="Calibri" pitchFamily="34" charset="0"/>
                <a:ea typeface="Calibri" pitchFamily="34" charset="-122"/>
                <a:cs typeface="Calibri" pitchFamily="34" charset="-120"/>
              </a:rPr>
              <a:t>That segregation was acceptable as long as both facilities were physically identical.</a:t>
            </a:r>
            <a:endParaRPr lang="en-US" sz="1300" dirty="0"/>
          </a:p>
        </p:txBody>
      </p:sp>
      <p:sp>
        <p:nvSpPr>
          <p:cNvPr id="13" name="Text 11"/>
          <p:cNvSpPr/>
          <p:nvPr/>
        </p:nvSpPr>
        <p:spPr>
          <a:xfrm>
            <a:off x="11018520" y="3968496"/>
            <a:ext cx="457200" cy="566928"/>
          </a:xfrm>
          <a:prstGeom prst="rect">
            <a:avLst/>
          </a:prstGeom>
          <a:noFill/>
          <a:ln/>
        </p:spPr>
        <p:txBody>
          <a:bodyPr wrap="square" rtlCol="0" anchor="ctr"/>
          <a:lstStyle/>
          <a:p>
            <a:pPr algn="ctr" indent="0" marL="0">
              <a:buNone/>
            </a:pPr>
            <a:r>
              <a:rPr lang="en-US" sz="1700" b="1" dirty="0">
                <a:solidFill>
                  <a:srgbClr val="1F3A5F"/>
                </a:solidFill>
                <a:latin typeface="Calibri" pitchFamily="34" charset="0"/>
                <a:ea typeface="Calibri" pitchFamily="34" charset="-122"/>
                <a:cs typeface="Calibri" pitchFamily="34" charset="-120"/>
              </a:rPr>
              <a:t>✓</a:t>
            </a:r>
            <a:endParaRPr lang="en-US" sz="1700" dirty="0"/>
          </a:p>
        </p:txBody>
      </p:sp>
      <p:sp>
        <p:nvSpPr>
          <p:cNvPr id="14" name="Shape 12"/>
          <p:cNvSpPr/>
          <p:nvPr/>
        </p:nvSpPr>
        <p:spPr>
          <a:xfrm>
            <a:off x="548640" y="3310128"/>
            <a:ext cx="11064240" cy="566928"/>
          </a:xfrm>
          <a:prstGeom prst="roundRect">
            <a:avLst>
              <a:gd name="adj" fmla="val 9677"/>
            </a:avLst>
          </a:prstGeom>
          <a:solidFill>
            <a:srgbClr val="2C384F"/>
          </a:solidFill>
          <a:ln w="12700">
            <a:solidFill>
              <a:srgbClr val="3A475E"/>
            </a:solidFill>
            <a:prstDash val="solid"/>
          </a:ln>
        </p:spPr>
        <p:txBody>
          <a:bodyPr/>
          <a:p/>
        </p:txBody>
      </p:sp>
      <p:sp>
        <p:nvSpPr>
          <p:cNvPr id="15" name="Shape 13"/>
          <p:cNvSpPr/>
          <p:nvPr/>
        </p:nvSpPr>
        <p:spPr>
          <a:xfrm>
            <a:off x="713232" y="3419856"/>
            <a:ext cx="347472" cy="347472"/>
          </a:xfrm>
          <a:prstGeom prst="ellipse">
            <a:avLst/>
          </a:prstGeom>
          <a:solidFill>
            <a:srgbClr val="1F3A5F"/>
          </a:solidFill>
          <a:ln/>
        </p:spPr>
        <p:txBody>
          <a:bodyPr/>
          <a:p/>
        </p:txBody>
      </p:sp>
      <p:sp>
        <p:nvSpPr>
          <p:cNvPr id="16" name="Text 14"/>
          <p:cNvSpPr/>
          <p:nvPr/>
        </p:nvSpPr>
        <p:spPr>
          <a:xfrm>
            <a:off x="713232" y="3419856"/>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B</a:t>
            </a:r>
            <a:endParaRPr lang="en-US" sz="1300" dirty="0"/>
          </a:p>
        </p:txBody>
      </p:sp>
      <p:sp>
        <p:nvSpPr>
          <p:cNvPr id="17" name="Text 15"/>
          <p:cNvSpPr/>
          <p:nvPr/>
        </p:nvSpPr>
        <p:spPr>
          <a:xfrm>
            <a:off x="1216152" y="3310128"/>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That the Constitution explicitly required racial separation.</a:t>
            </a:r>
            <a:endParaRPr lang="en-US" sz="1300" dirty="0"/>
          </a:p>
        </p:txBody>
      </p:sp>
      <p:sp>
        <p:nvSpPr>
          <p:cNvPr id="18" name="Shape 16"/>
          <p:cNvSpPr/>
          <p:nvPr/>
        </p:nvSpPr>
        <p:spPr>
          <a:xfrm>
            <a:off x="548640" y="3968496"/>
            <a:ext cx="11064240" cy="566928"/>
          </a:xfrm>
          <a:prstGeom prst="roundRect">
            <a:avLst>
              <a:gd name="adj" fmla="val 9677"/>
            </a:avLst>
          </a:prstGeom>
          <a:solidFill>
            <a:srgbClr val="C9A227"/>
          </a:solidFill>
          <a:ln w="12700">
            <a:solidFill>
              <a:srgbClr val="3A475E"/>
            </a:solidFill>
            <a:prstDash val="solid"/>
          </a:ln>
        </p:spPr>
        <p:txBody>
          <a:bodyPr/>
          <a:p/>
        </p:txBody>
      </p:sp>
      <p:sp>
        <p:nvSpPr>
          <p:cNvPr id="19" name="Shape 17"/>
          <p:cNvSpPr/>
          <p:nvPr/>
        </p:nvSpPr>
        <p:spPr>
          <a:xfrm>
            <a:off x="713232" y="4078224"/>
            <a:ext cx="347472" cy="347472"/>
          </a:xfrm>
          <a:prstGeom prst="ellipse">
            <a:avLst/>
          </a:prstGeom>
          <a:solidFill>
            <a:srgbClr val="1F3A5F"/>
          </a:solidFill>
          <a:ln/>
        </p:spPr>
        <p:txBody>
          <a:bodyPr/>
          <a:p/>
        </p:txBody>
      </p:sp>
      <p:sp>
        <p:nvSpPr>
          <p:cNvPr id="20" name="Text 18"/>
          <p:cNvSpPr/>
          <p:nvPr/>
        </p:nvSpPr>
        <p:spPr>
          <a:xfrm>
            <a:off x="713232" y="4078224"/>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C</a:t>
            </a:r>
            <a:endParaRPr lang="en-US" sz="1300" dirty="0"/>
          </a:p>
        </p:txBody>
      </p:sp>
      <p:sp>
        <p:nvSpPr>
          <p:cNvPr id="21" name="Text 19"/>
          <p:cNvSpPr/>
          <p:nvPr/>
        </p:nvSpPr>
        <p:spPr>
          <a:xfrm>
            <a:off x="1216152" y="3968496"/>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That state-enforced separation itself signals and enforces inequality, regardless of facility quality.</a:t>
            </a:r>
            <a:endParaRPr lang="en-US" sz="1300" dirty="0"/>
          </a:p>
        </p:txBody>
      </p:sp>
      <p:sp>
        <p:nvSpPr>
          <p:cNvPr id="22" name="Shape 20"/>
          <p:cNvSpPr/>
          <p:nvPr/>
        </p:nvSpPr>
        <p:spPr>
          <a:xfrm>
            <a:off x="548640" y="4626864"/>
            <a:ext cx="11064240" cy="566928"/>
          </a:xfrm>
          <a:prstGeom prst="roundRect">
            <a:avLst>
              <a:gd name="adj" fmla="val 9677"/>
            </a:avLst>
          </a:prstGeom>
          <a:solidFill>
            <a:srgbClr val="2C384F"/>
          </a:solidFill>
          <a:ln w="12700">
            <a:solidFill>
              <a:srgbClr val="3A475E"/>
            </a:solidFill>
            <a:prstDash val="solid"/>
          </a:ln>
        </p:spPr>
        <p:txBody>
          <a:bodyPr/>
          <a:p/>
        </p:txBody>
      </p:sp>
      <p:sp>
        <p:nvSpPr>
          <p:cNvPr id="23" name="Shape 21"/>
          <p:cNvSpPr/>
          <p:nvPr/>
        </p:nvSpPr>
        <p:spPr>
          <a:xfrm>
            <a:off x="713232" y="4736592"/>
            <a:ext cx="347472" cy="347472"/>
          </a:xfrm>
          <a:prstGeom prst="ellipse">
            <a:avLst/>
          </a:prstGeom>
          <a:solidFill>
            <a:srgbClr val="1F3A5F"/>
          </a:solidFill>
          <a:ln/>
        </p:spPr>
        <p:txBody>
          <a:bodyPr/>
          <a:p/>
        </p:txBody>
      </p:sp>
      <p:sp>
        <p:nvSpPr>
          <p:cNvPr id="24" name="Text 22"/>
          <p:cNvSpPr/>
          <p:nvPr/>
        </p:nvSpPr>
        <p:spPr>
          <a:xfrm>
            <a:off x="713232" y="4736592"/>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D</a:t>
            </a:r>
            <a:endParaRPr lang="en-US" sz="1300" dirty="0"/>
          </a:p>
        </p:txBody>
      </p:sp>
      <p:sp>
        <p:nvSpPr>
          <p:cNvPr id="25" name="Text 23"/>
          <p:cNvSpPr/>
          <p:nvPr/>
        </p:nvSpPr>
        <p:spPr>
          <a:xfrm>
            <a:off x="1216152" y="4626864"/>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That African Americans had freely chosen separate facilities.</a:t>
            </a:r>
            <a:endParaRPr lang="en-US" sz="1300" dirty="0"/>
          </a:p>
        </p:txBody>
      </p:sp>
      <p:sp>
        <p:nvSpPr>
          <p:cNvPr id="26" name="Shape 24"/>
          <p:cNvSpPr/>
          <p:nvPr/>
        </p:nvSpPr>
        <p:spPr>
          <a:xfrm>
            <a:off x="548640" y="5440680"/>
            <a:ext cx="11064240" cy="868680"/>
          </a:xfrm>
          <a:prstGeom prst="roundRect">
            <a:avLst>
              <a:gd name="adj" fmla="val 8421"/>
            </a:avLst>
          </a:prstGeom>
          <a:solidFill>
            <a:srgbClr val="243047"/>
          </a:solidFill>
          <a:ln w="12700">
            <a:solidFill>
              <a:srgbClr val="F9A825"/>
            </a:solidFill>
            <a:prstDash val="solid"/>
          </a:ln>
        </p:spPr>
        <p:txBody>
          <a:bodyPr/>
          <a:p/>
        </p:txBody>
      </p:sp>
      <p:sp>
        <p:nvSpPr>
          <p:cNvPr id="27" name="Text 25"/>
          <p:cNvSpPr/>
          <p:nvPr/>
        </p:nvSpPr>
        <p:spPr>
          <a:xfrm>
            <a:off x="822960" y="5532120"/>
            <a:ext cx="10515600" cy="713232"/>
          </a:xfrm>
          <a:prstGeom prst="rect">
            <a:avLst/>
          </a:prstGeom>
          <a:noFill/>
          <a:ln/>
        </p:spPr>
        <p:txBody>
          <a:bodyPr wrap="square" rtlCol="0" anchor="ctr"/>
          <a:lstStyle/>
          <a:p>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Correct answer: C.  </a:t>
            </a:r>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Why: </a:t>
            </a:r>
            <a:pPr indent="0" marL="0">
              <a:lnSpc>
                <a:spcPct val="104000"/>
              </a:lnSpc>
              <a:buNone/>
            </a:pPr>
            <a:r>
              <a:rPr lang="en-US" sz="1150" dirty="0">
                <a:solidFill>
                  <a:srgbClr val="C7D4E0"/>
                </a:solidFill>
                <a:latin typeface="Calibri" pitchFamily="34" charset="0"/>
                <a:ea typeface="Calibri" pitchFamily="34" charset="-122"/>
                <a:cs typeface="Calibri" pitchFamily="34" charset="-120"/>
              </a:rPr>
              <a:t>DOK 3: This requires evaluating the Court’s logic. Justice Harlan’s dissent — and later Brown v. Board (1954) — argued that government-mandated separation is inherently unequal because the law itself brands a group as inferior, directly rejecting the "separate but equal" reasoning.</a:t>
            </a:r>
            <a:endParaRPr lang="en-US" sz="1150" dirty="0"/>
          </a:p>
        </p:txBody>
      </p:sp>
      <p:sp>
        <p:nvSpPr>
          <p:cNvPr id="29" name="Text 26"/>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0" name="Text 2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47</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7">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F3A5F"/>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B22234"/>
                </a:solidFill>
                <a:latin typeface="Trebuchet MS" pitchFamily="34" charset="0"/>
                <a:ea typeface="Trebuchet MS" pitchFamily="34" charset="-122"/>
                <a:cs typeface="Trebuchet MS" pitchFamily="34" charset="-120"/>
              </a:rPr>
              <a:t>US.03 · WRAP-UP</a:t>
            </a:r>
            <a:endParaRPr lang="en-US" sz="1200" dirty="0"/>
          </a:p>
        </p:txBody>
      </p:sp>
      <p:sp>
        <p:nvSpPr>
          <p:cNvPr id="4" name="Text 2"/>
          <p:cNvSpPr/>
          <p:nvPr/>
        </p:nvSpPr>
        <p:spPr>
          <a:xfrm>
            <a:off x="548640" y="731520"/>
            <a:ext cx="11064240" cy="640080"/>
          </a:xfrm>
          <a:prstGeom prst="rect">
            <a:avLst/>
          </a:prstGeom>
          <a:noFill/>
          <a:ln/>
        </p:spPr>
        <p:txBody>
          <a:bodyPr wrap="square" rtlCol="0" anchor="ctr"/>
          <a:lstStyle/>
          <a:p>
            <a:pPr indent="0" marL="0">
              <a:buNone/>
            </a:pPr>
            <a:r>
              <a:rPr lang="en-US" sz="2800" b="1" dirty="0">
                <a:solidFill>
                  <a:srgbClr val="1F3A5F"/>
                </a:solidFill>
                <a:latin typeface="Georgia" pitchFamily="34" charset="0"/>
                <a:ea typeface="Georgia" pitchFamily="34" charset="-122"/>
                <a:cs typeface="Georgia" pitchFamily="34" charset="-120"/>
              </a:rPr>
              <a:t>What You Need to Know for TCAP</a:t>
            </a:r>
            <a:endParaRPr lang="en-US" sz="2800" dirty="0"/>
          </a:p>
        </p:txBody>
      </p:sp>
      <p:sp>
        <p:nvSpPr>
          <p:cNvPr id="5" name="Shape 3"/>
          <p:cNvSpPr/>
          <p:nvPr/>
        </p:nvSpPr>
        <p:spPr>
          <a:xfrm>
            <a:off x="548640" y="1691640"/>
            <a:ext cx="7040880" cy="2971800"/>
          </a:xfrm>
          <a:prstGeom prst="rect">
            <a:avLst/>
          </a:prstGeom>
          <a:solidFill>
            <a:srgbClr val="FFFFFF"/>
          </a:solidFill>
          <a:ln w="12700">
            <a:solidFill>
              <a:srgbClr val="DAD3C2"/>
            </a:solidFill>
            <a:prstDash val="solid"/>
          </a:ln>
        </p:spPr>
        <p:txBody>
          <a:bodyPr/>
          <a:p/>
        </p:txBody>
      </p:sp>
      <p:sp>
        <p:nvSpPr>
          <p:cNvPr id="6" name="Text 4"/>
          <p:cNvSpPr/>
          <p:nvPr/>
        </p:nvSpPr>
        <p:spPr>
          <a:xfrm>
            <a:off x="868680" y="1847088"/>
            <a:ext cx="5486400" cy="320040"/>
          </a:xfrm>
          <a:prstGeom prst="rect">
            <a:avLst/>
          </a:prstGeom>
          <a:noFill/>
          <a:ln/>
        </p:spPr>
        <p:txBody>
          <a:bodyPr wrap="square" rtlCol="0" anchor="ctr"/>
          <a:lstStyle/>
          <a:p>
            <a:pPr indent="0" marL="0">
              <a:buNone/>
            </a:pPr>
            <a:r>
              <a:rPr lang="en-US" sz="1200" b="1" spc="200" kern="0" dirty="0">
                <a:solidFill>
                  <a:srgbClr val="B22234"/>
                </a:solidFill>
                <a:latin typeface="Trebuchet MS" pitchFamily="34" charset="0"/>
                <a:ea typeface="Trebuchet MS" pitchFamily="34" charset="-122"/>
                <a:cs typeface="Trebuchet MS" pitchFamily="34" charset="-120"/>
              </a:rPr>
              <a:t>KEY TAKEAWAYS</a:t>
            </a:r>
            <a:endParaRPr lang="en-US" sz="1200" dirty="0"/>
          </a:p>
        </p:txBody>
      </p:sp>
      <p:sp>
        <p:nvSpPr>
          <p:cNvPr id="7" name="Text 5"/>
          <p:cNvSpPr/>
          <p:nvPr/>
        </p:nvSpPr>
        <p:spPr>
          <a:xfrm>
            <a:off x="868680" y="2212848"/>
            <a:ext cx="6492240" cy="2331720"/>
          </a:xfrm>
          <a:prstGeom prst="rect">
            <a:avLst/>
          </a:prstGeom>
          <a:noFill/>
          <a:ln/>
        </p:spPr>
        <p:txBody>
          <a:bodyPr wrap="square" rtlCol="0" anchor="t"/>
          <a:lstStyle/>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The Election of 1876 and End of Reconstruction</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Jim Crow Laws, Lynching, and Disenfranchisement</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Pap Singleton and the Exodusters</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Plessy v. Ferguson and "Separate But Equal"</a:t>
            </a:r>
            <a:endParaRPr lang="en-US" sz="1500" dirty="0"/>
          </a:p>
        </p:txBody>
      </p:sp>
      <p:sp>
        <p:nvSpPr>
          <p:cNvPr id="8" name="Shape 6"/>
          <p:cNvSpPr/>
          <p:nvPr/>
        </p:nvSpPr>
        <p:spPr>
          <a:xfrm>
            <a:off x="548640" y="4800600"/>
            <a:ext cx="7040880" cy="1005840"/>
          </a:xfrm>
          <a:prstGeom prst="roundRect">
            <a:avLst>
              <a:gd name="adj" fmla="val 7273"/>
            </a:avLst>
          </a:prstGeom>
          <a:solidFill>
            <a:srgbClr val="F3EAD0"/>
          </a:solidFill>
          <a:ln w="12700">
            <a:solidFill>
              <a:srgbClr val="C9A227"/>
            </a:solidFill>
            <a:prstDash val="solid"/>
          </a:ln>
        </p:spPr>
        <p:txBody>
          <a:bodyPr/>
          <a:p/>
        </p:txBody>
      </p:sp>
      <p:sp>
        <p:nvSpPr>
          <p:cNvPr id="9" name="Text 7"/>
          <p:cNvSpPr/>
          <p:nvPr/>
        </p:nvSpPr>
        <p:spPr>
          <a:xfrm>
            <a:off x="822960" y="4901184"/>
            <a:ext cx="6492240" cy="274320"/>
          </a:xfrm>
          <a:prstGeom prst="rect">
            <a:avLst/>
          </a:prstGeom>
          <a:noFill/>
          <a:ln/>
        </p:spPr>
        <p:txBody>
          <a:bodyPr wrap="square" rtlCol="0" anchor="ctr"/>
          <a:lstStyle/>
          <a:p>
            <a:pPr indent="0" marL="0">
              <a:buNone/>
            </a:pPr>
            <a:r>
              <a:rPr lang="en-US" sz="1100" b="1" spc="100" kern="0" dirty="0">
                <a:solidFill>
                  <a:srgbClr val="7A5C12"/>
                </a:solidFill>
                <a:latin typeface="Trebuchet MS" pitchFamily="34" charset="0"/>
                <a:ea typeface="Trebuchet MS" pitchFamily="34" charset="-122"/>
                <a:cs typeface="Trebuchet MS" pitchFamily="34" charset="-120"/>
              </a:rPr>
              <a:t>★ EXTENSION  </a:t>
            </a:r>
            <a:pPr indent="0" marL="0">
              <a:buNone/>
            </a:pPr>
            <a:r>
              <a:rPr lang="en-US" sz="950" b="1" dirty="0">
                <a:solidFill>
                  <a:srgbClr val="5C6470"/>
                </a:solidFill>
                <a:latin typeface="Trebuchet MS" pitchFamily="34" charset="0"/>
                <a:ea typeface="Trebuchet MS" pitchFamily="34" charset="-122"/>
                <a:cs typeface="Trebuchet MS" pitchFamily="34" charset="-120"/>
              </a:rPr>
              <a:t>DOK 3 · SSP.04 Argumentation</a:t>
            </a:r>
            <a:endParaRPr lang="en-US" sz="1100" dirty="0"/>
          </a:p>
        </p:txBody>
      </p:sp>
      <p:sp>
        <p:nvSpPr>
          <p:cNvPr id="10" name="Text 8"/>
          <p:cNvSpPr/>
          <p:nvPr/>
        </p:nvSpPr>
        <p:spPr>
          <a:xfrm>
            <a:off x="822960" y="5175504"/>
            <a:ext cx="6492240" cy="566928"/>
          </a:xfrm>
          <a:prstGeom prst="rect">
            <a:avLst/>
          </a:prstGeom>
          <a:noFill/>
          <a:ln/>
        </p:spPr>
        <p:txBody>
          <a:bodyPr wrap="square" rtlCol="0" anchor="t"/>
          <a:lstStyle/>
          <a:p>
            <a:pPr indent="0" marL="0">
              <a:lnSpc>
                <a:spcPct val="100000"/>
              </a:lnSpc>
              <a:buNone/>
            </a:pPr>
            <a:r>
              <a:rPr lang="en-US" sz="1250" i="1" dirty="0">
                <a:solidFill>
                  <a:srgbClr val="1F2430"/>
                </a:solidFill>
                <a:latin typeface="Calibri" pitchFamily="34" charset="0"/>
                <a:ea typeface="Calibri" pitchFamily="34" charset="-122"/>
                <a:cs typeface="Calibri" pitchFamily="34" charset="-120"/>
              </a:rPr>
              <a:t>Construct an argument: which did MORE to undo Reconstruction — legal tools (Plessy, Jim Crow laws) or extralegal force (violence, intimidation)? Cite evidence.</a:t>
            </a:r>
            <a:endParaRPr lang="en-US" sz="1250" dirty="0"/>
          </a:p>
        </p:txBody>
      </p:sp>
      <p:sp>
        <p:nvSpPr>
          <p:cNvPr id="11" name="Shape 9"/>
          <p:cNvSpPr/>
          <p:nvPr/>
        </p:nvSpPr>
        <p:spPr>
          <a:xfrm>
            <a:off x="7818120" y="1691640"/>
            <a:ext cx="3794760" cy="4114800"/>
          </a:xfrm>
          <a:prstGeom prst="roundRect">
            <a:avLst>
              <a:gd name="adj" fmla="val 2410"/>
            </a:avLst>
          </a:prstGeom>
          <a:solidFill>
            <a:srgbClr val="1F3A5F"/>
          </a:solidFill>
          <a:ln/>
        </p:spPr>
        <p:txBody>
          <a:bodyPr/>
          <a:p/>
        </p:txBody>
      </p:sp>
      <p:sp>
        <p:nvSpPr>
          <p:cNvPr id="12" name="Text 10"/>
          <p:cNvSpPr/>
          <p:nvPr/>
        </p:nvSpPr>
        <p:spPr>
          <a:xfrm>
            <a:off x="8092440" y="1920240"/>
            <a:ext cx="2286000" cy="320040"/>
          </a:xfrm>
          <a:prstGeom prst="rect">
            <a:avLst/>
          </a:prstGeom>
          <a:noFill/>
          <a:ln/>
        </p:spPr>
        <p:txBody>
          <a:bodyPr wrap="square" rtlCol="0" anchor="ctr"/>
          <a:lstStyle/>
          <a:p>
            <a:pPr indent="0" marL="0">
              <a:buNone/>
            </a:pPr>
            <a:r>
              <a:rPr lang="en-US" sz="1200" b="1" spc="200" kern="0" dirty="0">
                <a:solidFill>
                  <a:srgbClr val="F9A825"/>
                </a:solidFill>
                <a:latin typeface="Trebuchet MS" pitchFamily="34" charset="0"/>
                <a:ea typeface="Trebuchet MS" pitchFamily="34" charset="-122"/>
                <a:cs typeface="Trebuchet MS" pitchFamily="34" charset="-120"/>
              </a:rPr>
              <a:t>EXIT TICKET</a:t>
            </a:r>
            <a:endParaRPr lang="en-US" sz="1200" dirty="0"/>
          </a:p>
        </p:txBody>
      </p:sp>
      <p:sp>
        <p:nvSpPr>
          <p:cNvPr id="13" name="Shape 11"/>
          <p:cNvSpPr/>
          <p:nvPr/>
        </p:nvSpPr>
        <p:spPr>
          <a:xfrm>
            <a:off x="10378440" y="1883664"/>
            <a:ext cx="960120" cy="365760"/>
          </a:xfrm>
          <a:prstGeom prst="roundRect">
            <a:avLst>
              <a:gd name="adj" fmla="val 20000"/>
            </a:avLst>
          </a:prstGeom>
          <a:solidFill>
            <a:srgbClr val="243047"/>
          </a:solidFill>
          <a:ln w="9525">
            <a:solidFill>
              <a:srgbClr val="C9A227"/>
            </a:solidFill>
            <a:prstDash val="solid"/>
          </a:ln>
        </p:spPr>
        <p:txBody>
          <a:bodyPr/>
          <a:p/>
        </p:txBody>
      </p:sp>
      <p:sp>
        <p:nvSpPr>
          <p:cNvPr id="14" name="Text 12"/>
          <p:cNvSpPr/>
          <p:nvPr/>
        </p:nvSpPr>
        <p:spPr>
          <a:xfrm>
            <a:off x="10378440" y="1883664"/>
            <a:ext cx="960120" cy="365760"/>
          </a:xfrm>
          <a:prstGeom prst="rect">
            <a:avLst/>
          </a:prstGeom>
          <a:noFill/>
          <a:ln/>
        </p:spPr>
        <p:txBody>
          <a:bodyPr wrap="square" rtlCol="0" anchor="ctr"/>
          <a:lstStyle/>
          <a:p>
            <a:pPr algn="ctr" indent="0" marL="0">
              <a:buNone/>
            </a:pPr>
            <a:r>
              <a:rPr lang="en-US" sz="1000" b="1" dirty="0">
                <a:solidFill>
                  <a:srgbClr val="F9A825"/>
                </a:solidFill>
                <a:latin typeface="Trebuchet MS" pitchFamily="34" charset="0"/>
                <a:ea typeface="Trebuchet MS" pitchFamily="34" charset="-122"/>
                <a:cs typeface="Trebuchet MS" pitchFamily="34" charset="-120"/>
              </a:rPr>
              <a:t>DOK 3</a:t>
            </a:r>
            <a:endParaRPr lang="en-US" sz="1000" dirty="0"/>
          </a:p>
        </p:txBody>
      </p:sp>
      <p:sp>
        <p:nvSpPr>
          <p:cNvPr id="15" name="Text 13"/>
          <p:cNvSpPr/>
          <p:nvPr/>
        </p:nvSpPr>
        <p:spPr>
          <a:xfrm>
            <a:off x="8092440" y="2377440"/>
            <a:ext cx="3246120" cy="1828800"/>
          </a:xfrm>
          <a:prstGeom prst="rect">
            <a:avLst/>
          </a:prstGeom>
          <a:noFill/>
          <a:ln/>
        </p:spPr>
        <p:txBody>
          <a:bodyPr wrap="square" rtlCol="0" anchor="t"/>
          <a:lstStyle/>
          <a:p>
            <a:pPr indent="0" marL="0">
              <a:lnSpc>
                <a:spcPct val="110000"/>
              </a:lnSpc>
              <a:buNone/>
            </a:pPr>
            <a:r>
              <a:rPr lang="en-US" sz="1350" dirty="0">
                <a:solidFill>
                  <a:srgbClr val="FFFFFF"/>
                </a:solidFill>
                <a:latin typeface="Calibri" pitchFamily="34" charset="0"/>
                <a:ea typeface="Calibri" pitchFamily="34" charset="-122"/>
                <a:cs typeface="Calibri" pitchFamily="34" charset="-120"/>
              </a:rPr>
              <a:t>Rights can exist on paper but be denied in practice. Name one tool used to deny Black Americans rights after 1877 and explain how it worked.</a:t>
            </a:r>
            <a:endParaRPr lang="en-US" sz="1350" dirty="0"/>
          </a:p>
        </p:txBody>
      </p:sp>
      <p:sp>
        <p:nvSpPr>
          <p:cNvPr id="16" name="Shape 14"/>
          <p:cNvSpPr/>
          <p:nvPr/>
        </p:nvSpPr>
        <p:spPr>
          <a:xfrm>
            <a:off x="8138160" y="4526280"/>
            <a:ext cx="3108960" cy="0"/>
          </a:xfrm>
          <a:prstGeom prst="line">
            <a:avLst/>
          </a:prstGeom>
          <a:noFill/>
          <a:ln w="12700">
            <a:solidFill>
              <a:srgbClr val="A7BACB"/>
            </a:solidFill>
            <a:prstDash val="dash"/>
          </a:ln>
        </p:spPr>
        <p:txBody>
          <a:bodyPr/>
          <a:p/>
        </p:txBody>
      </p:sp>
      <p:sp>
        <p:nvSpPr>
          <p:cNvPr id="17" name="Shape 15"/>
          <p:cNvSpPr/>
          <p:nvPr/>
        </p:nvSpPr>
        <p:spPr>
          <a:xfrm>
            <a:off x="8138160" y="5074920"/>
            <a:ext cx="3108960" cy="0"/>
          </a:xfrm>
          <a:prstGeom prst="line">
            <a:avLst/>
          </a:prstGeom>
          <a:noFill/>
          <a:ln w="12700">
            <a:solidFill>
              <a:srgbClr val="A7BACB"/>
            </a:solidFill>
            <a:prstDash val="dash"/>
          </a:ln>
        </p:spPr>
        <p:txBody>
          <a:bodyPr/>
          <a:p/>
        </p:txBody>
      </p:sp>
      <p:sp>
        <p:nvSpPr>
          <p:cNvPr id="18" name="Shape 16"/>
          <p:cNvSpPr/>
          <p:nvPr/>
        </p:nvSpPr>
        <p:spPr>
          <a:xfrm>
            <a:off x="8138160" y="5623560"/>
            <a:ext cx="3108960" cy="0"/>
          </a:xfrm>
          <a:prstGeom prst="line">
            <a:avLst/>
          </a:prstGeom>
          <a:noFill/>
          <a:ln w="12700">
            <a:solidFill>
              <a:srgbClr val="A7BACB"/>
            </a:solidFill>
            <a:prstDash val="dash"/>
          </a:ln>
        </p:spPr>
        <p:txBody>
          <a:bodyPr/>
          <a:p/>
        </p:txBody>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48</a:t>
            </a:r>
            <a:endParaRPr lang="en-US" sz="900" dirty="0"/>
          </a:p>
        </p:txBody>
      </p:sp>
      <p:sp>
        <p:nvSpPr>
          <p:cNvPr id="22" name="Rectangle 21"/>
          <p:cNvSpPr/>
          <p:nvPr/>
        </p:nvSpPr>
        <p:spPr>
          <a:xfrm>
            <a:off x="457200" y="5870448"/>
            <a:ext cx="11274552" cy="512064"/>
          </a:xfrm>
          <a:prstGeom prst="rect">
            <a:avLst/>
          </a:prstGeom>
          <a:solidFill>
            <a:srgbClr val="232F40"/>
          </a:solidFill>
          <a:ln w="12700">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3504" y="5907024"/>
            <a:ext cx="10972800" cy="457200"/>
          </a:xfrm>
          <a:prstGeom prst="rect">
            <a:avLst/>
          </a:prstGeom>
          <a:noFill/>
        </p:spPr>
        <p:txBody>
          <a:bodyPr wrap="square" anchor="t" lIns="0" rIns="0" tIns="0" bIns="0">
            <a:spAutoFit/>
          </a:bodyPr>
          <a:lstStyle/>
          <a:p>
            <a:pPr algn="l">
              <a:spcBef>
                <a:spcPts val="0"/>
              </a:spcBef>
              <a:spcAft>
                <a:spcPts val="0"/>
              </a:spcAft>
            </a:pPr>
            <a:r>
              <a:rPr sz="1000" b="1">
                <a:solidFill>
                  <a:srgbClr val="C9A227"/>
                </a:solidFill>
                <a:latin typeface="Trebuchet MS"/>
              </a:rPr>
              <a:t>TEACHER DECISION BAND   </a:t>
            </a:r>
            <a:r>
              <a:rPr sz="1000" b="0">
                <a:solidFill>
                  <a:srgbClr val="FFFFFF"/>
                </a:solidFill>
                <a:latin typeface="Calibri"/>
              </a:rPr>
              <a:t>PROGRESS CHECK → identify barrier → select support → reteach → recheck → extend</a:t>
            </a:r>
          </a:p>
          <a:p>
            <a:pPr algn="l">
              <a:spcBef>
                <a:spcPts val="0"/>
              </a:spcBef>
              <a:spcAft>
                <a:spcPts val="0"/>
              </a:spcAft>
            </a:pPr>
            <a:r>
              <a:rPr sz="1000" b="1">
                <a:solidFill>
                  <a:srgbClr val="C9A227"/>
                </a:solidFill>
                <a:latin typeface="Trebuchet MS"/>
              </a:rPr>
              <a:t>SCAFFOLD FADING   </a:t>
            </a:r>
            <a:r>
              <a:rPr sz="1000" b="0">
                <a:solidFill>
                  <a:srgbClr val="C7D4E0"/>
                </a:solidFill>
                <a:latin typeface="Calibri"/>
              </a:rPr>
              <a:t>Guided → Light → independent as evidence grows; required IEP/504 supports do not fade unless the authorized team changes them.</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8">
    <p:bg>
      <p:bgPr>
        <a:solidFill>
          <a:srgbClr val="1F3A5F"/>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B22234"/>
          </a:solidFill>
          <a:ln/>
        </p:spPr>
        <p:txBody>
          <a:bodyPr/>
          <a:p/>
        </p:txBody>
      </p:sp>
      <p:sp>
        <p:nvSpPr>
          <p:cNvPr id="3" name="Shape 1"/>
          <p:cNvSpPr/>
          <p:nvPr/>
        </p:nvSpPr>
        <p:spPr>
          <a:xfrm>
            <a:off x="320040" y="0"/>
            <a:ext cx="109728" cy="6858000"/>
          </a:xfrm>
          <a:prstGeom prst="rect">
            <a:avLst/>
          </a:prstGeom>
          <a:solidFill>
            <a:srgbClr val="C9A227"/>
          </a:solidFill>
          <a:ln/>
        </p:spPr>
        <p:txBody>
          <a:bodyPr/>
          <a:p/>
        </p:txBody>
      </p:sp>
      <p:sp>
        <p:nvSpPr>
          <p:cNvPr id="4" name="Text 2"/>
          <p:cNvSpPr/>
          <p:nvPr/>
        </p:nvSpPr>
        <p:spPr>
          <a:xfrm>
            <a:off x="914400" y="1005840"/>
            <a:ext cx="5486400" cy="365760"/>
          </a:xfrm>
          <a:prstGeom prst="rect">
            <a:avLst/>
          </a:prstGeom>
          <a:noFill/>
          <a:ln/>
        </p:spPr>
        <p:txBody>
          <a:bodyPr wrap="square" rtlCol="0" anchor="ctr"/>
          <a:lstStyle/>
          <a:p>
            <a:pPr indent="0" marL="0">
              <a:buNone/>
            </a:pPr>
            <a:r>
              <a:rPr lang="en-US" sz="1500" b="1" spc="400" kern="0" dirty="0">
                <a:solidFill>
                  <a:srgbClr val="F9A825"/>
                </a:solidFill>
                <a:latin typeface="Trebuchet MS" pitchFamily="34" charset="0"/>
                <a:ea typeface="Trebuchet MS" pitchFamily="34" charset="-122"/>
                <a:cs typeface="Trebuchet MS" pitchFamily="34" charset="-120"/>
              </a:rPr>
              <a:t>STANDARD</a:t>
            </a:r>
            <a:endParaRPr lang="en-US" sz="1500" dirty="0"/>
          </a:p>
        </p:txBody>
      </p:sp>
      <p:sp>
        <p:nvSpPr>
          <p:cNvPr id="5" name="Text 3"/>
          <p:cNvSpPr/>
          <p:nvPr/>
        </p:nvSpPr>
        <p:spPr>
          <a:xfrm>
            <a:off x="868680" y="1325880"/>
            <a:ext cx="5486400" cy="1371600"/>
          </a:xfrm>
          <a:prstGeom prst="rect">
            <a:avLst/>
          </a:prstGeom>
          <a:noFill/>
          <a:ln/>
        </p:spPr>
        <p:txBody>
          <a:bodyPr wrap="square" rtlCol="0" anchor="ctr"/>
          <a:lstStyle/>
          <a:p>
            <a:pPr indent="0" marL="0">
              <a:buNone/>
            </a:pPr>
            <a:r>
              <a:rPr lang="en-US" sz="8800" b="1" dirty="0">
                <a:solidFill>
                  <a:srgbClr val="FFFFFF"/>
                </a:solidFill>
                <a:latin typeface="Georgia" pitchFamily="34" charset="0"/>
                <a:ea typeface="Georgia" pitchFamily="34" charset="-122"/>
                <a:cs typeface="Georgia" pitchFamily="34" charset="-120"/>
              </a:rPr>
              <a:t>US.04</a:t>
            </a:r>
            <a:endParaRPr lang="en-US" sz="8800" dirty="0"/>
          </a:p>
        </p:txBody>
      </p:sp>
      <p:sp>
        <p:nvSpPr>
          <p:cNvPr id="6" name="Text 4"/>
          <p:cNvSpPr/>
          <p:nvPr/>
        </p:nvSpPr>
        <p:spPr>
          <a:xfrm>
            <a:off x="914400" y="2670048"/>
            <a:ext cx="5577840" cy="1234440"/>
          </a:xfrm>
          <a:prstGeom prst="rect">
            <a:avLst/>
          </a:prstGeom>
          <a:noFill/>
          <a:ln/>
        </p:spPr>
        <p:txBody>
          <a:bodyPr wrap="square" rtlCol="0" anchor="t"/>
          <a:lstStyle/>
          <a:p>
            <a:pPr indent="0" marL="0">
              <a:lnSpc>
                <a:spcPct val="102000"/>
              </a:lnSpc>
              <a:buNone/>
            </a:pPr>
            <a:r>
              <a:rPr lang="en-US" sz="2400" i="1" dirty="0">
                <a:solidFill>
                  <a:srgbClr val="F9A825"/>
                </a:solidFill>
                <a:latin typeface="Georgia" pitchFamily="34" charset="0"/>
                <a:ea typeface="Georgia" pitchFamily="34" charset="-122"/>
                <a:cs typeface="Georgia" pitchFamily="34" charset="-120"/>
              </a:rPr>
              <a:t>Gilded Age Politics and Economics</a:t>
            </a:r>
            <a:endParaRPr lang="en-US" sz="2400" dirty="0"/>
          </a:p>
        </p:txBody>
      </p:sp>
      <p:sp>
        <p:nvSpPr>
          <p:cNvPr id="7" name="Text 5"/>
          <p:cNvSpPr/>
          <p:nvPr/>
        </p:nvSpPr>
        <p:spPr>
          <a:xfrm>
            <a:off x="6812280" y="1078992"/>
            <a:ext cx="4480560" cy="274320"/>
          </a:xfrm>
          <a:prstGeom prst="rect">
            <a:avLst/>
          </a:prstGeom>
          <a:noFill/>
          <a:ln/>
        </p:spPr>
        <p:txBody>
          <a:bodyPr wrap="square" rtlCol="0" anchor="ctr"/>
          <a:lstStyle/>
          <a:p>
            <a:pPr algn="l" indent="0" marL="0">
              <a:buNone/>
            </a:pPr>
            <a:r>
              <a:rPr lang="en-US" sz="1100" b="1" spc="200" kern="0" dirty="0">
                <a:solidFill>
                  <a:srgbClr val="A7BACB"/>
                </a:solidFill>
                <a:latin typeface="Trebuchet MS" pitchFamily="34" charset="0"/>
                <a:ea typeface="Trebuchet MS" pitchFamily="34" charset="-122"/>
                <a:cs typeface="Trebuchet MS" pitchFamily="34" charset="-120"/>
              </a:rPr>
              <a:t>SOCIAL STUDIES PRACTICES</a:t>
            </a:r>
            <a:endParaRPr lang="en-US" sz="1100" dirty="0"/>
          </a:p>
        </p:txBody>
      </p:sp>
      <p:sp>
        <p:nvSpPr>
          <p:cNvPr id="8" name="Shape 6"/>
          <p:cNvSpPr/>
          <p:nvPr/>
        </p:nvSpPr>
        <p:spPr>
          <a:xfrm>
            <a:off x="6812280" y="1417320"/>
            <a:ext cx="1078992" cy="292608"/>
          </a:xfrm>
          <a:prstGeom prst="roundRect">
            <a:avLst>
              <a:gd name="adj" fmla="val 18750"/>
            </a:avLst>
          </a:prstGeom>
          <a:solidFill>
            <a:srgbClr val="C9A227"/>
          </a:solidFill>
          <a:ln/>
        </p:spPr>
        <p:txBody>
          <a:bodyPr/>
          <a:p/>
        </p:txBody>
      </p:sp>
      <p:sp>
        <p:nvSpPr>
          <p:cNvPr id="9" name="Text 7"/>
          <p:cNvSpPr/>
          <p:nvPr/>
        </p:nvSpPr>
        <p:spPr>
          <a:xfrm>
            <a:off x="6812280" y="1417320"/>
            <a:ext cx="1078992" cy="292608"/>
          </a:xfrm>
          <a:prstGeom prst="rect">
            <a:avLst/>
          </a:prstGeom>
          <a:noFill/>
          <a:ln/>
        </p:spPr>
        <p:txBody>
          <a:bodyPr wrap="square" rtlCol="0" anchor="ctr"/>
          <a:lstStyle/>
          <a:p>
            <a:pPr algn="ctr" indent="0" marL="0">
              <a:buNone/>
            </a:pPr>
            <a:r>
              <a:rPr lang="en-US" sz="1100" b="1" dirty="0">
                <a:solidFill>
                  <a:srgbClr val="1F3A5F"/>
                </a:solidFill>
                <a:latin typeface="Trebuchet MS" pitchFamily="34" charset="0"/>
                <a:ea typeface="Trebuchet MS" pitchFamily="34" charset="-122"/>
                <a:cs typeface="Trebuchet MS" pitchFamily="34" charset="-120"/>
              </a:rPr>
              <a:t>SSP.01</a:t>
            </a:r>
            <a:endParaRPr lang="en-US" sz="1100" dirty="0"/>
          </a:p>
        </p:txBody>
      </p:sp>
      <p:sp>
        <p:nvSpPr>
          <p:cNvPr id="10" name="Text 8"/>
          <p:cNvSpPr/>
          <p:nvPr/>
        </p:nvSpPr>
        <p:spPr>
          <a:xfrm>
            <a:off x="7973568" y="1417320"/>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Collect sources</a:t>
            </a:r>
            <a:endParaRPr lang="en-US" sz="1150" dirty="0"/>
          </a:p>
        </p:txBody>
      </p:sp>
      <p:sp>
        <p:nvSpPr>
          <p:cNvPr id="11" name="Shape 9"/>
          <p:cNvSpPr/>
          <p:nvPr/>
        </p:nvSpPr>
        <p:spPr>
          <a:xfrm>
            <a:off x="6812280" y="1755648"/>
            <a:ext cx="1078992" cy="292608"/>
          </a:xfrm>
          <a:prstGeom prst="roundRect">
            <a:avLst>
              <a:gd name="adj" fmla="val 18750"/>
            </a:avLst>
          </a:prstGeom>
          <a:solidFill>
            <a:srgbClr val="C9A227"/>
          </a:solidFill>
          <a:ln/>
        </p:spPr>
        <p:txBody>
          <a:bodyPr/>
          <a:p/>
        </p:txBody>
      </p:sp>
      <p:sp>
        <p:nvSpPr>
          <p:cNvPr id="12" name="Text 10"/>
          <p:cNvSpPr/>
          <p:nvPr/>
        </p:nvSpPr>
        <p:spPr>
          <a:xfrm>
            <a:off x="6812280" y="1755648"/>
            <a:ext cx="1078992" cy="292608"/>
          </a:xfrm>
          <a:prstGeom prst="rect">
            <a:avLst/>
          </a:prstGeom>
          <a:noFill/>
          <a:ln/>
        </p:spPr>
        <p:txBody>
          <a:bodyPr wrap="square" rtlCol="0" anchor="ctr"/>
          <a:lstStyle/>
          <a:p>
            <a:pPr algn="ctr" indent="0" marL="0">
              <a:buNone/>
            </a:pPr>
            <a:r>
              <a:rPr lang="en-US" sz="1100" b="1" dirty="0">
                <a:solidFill>
                  <a:srgbClr val="1F3A5F"/>
                </a:solidFill>
                <a:latin typeface="Trebuchet MS" pitchFamily="34" charset="0"/>
                <a:ea typeface="Trebuchet MS" pitchFamily="34" charset="-122"/>
                <a:cs typeface="Trebuchet MS" pitchFamily="34" charset="-120"/>
              </a:rPr>
              <a:t>SSP.02</a:t>
            </a:r>
            <a:endParaRPr lang="en-US" sz="1100" dirty="0"/>
          </a:p>
        </p:txBody>
      </p:sp>
      <p:sp>
        <p:nvSpPr>
          <p:cNvPr id="13" name="Text 11"/>
          <p:cNvSpPr/>
          <p:nvPr/>
        </p:nvSpPr>
        <p:spPr>
          <a:xfrm>
            <a:off x="7973568" y="1755648"/>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Examine a source</a:t>
            </a:r>
            <a:endParaRPr lang="en-US" sz="1150" dirty="0"/>
          </a:p>
        </p:txBody>
      </p:sp>
      <p:sp>
        <p:nvSpPr>
          <p:cNvPr id="14" name="Shape 12"/>
          <p:cNvSpPr/>
          <p:nvPr/>
        </p:nvSpPr>
        <p:spPr>
          <a:xfrm>
            <a:off x="6812280" y="2093976"/>
            <a:ext cx="1078992" cy="292608"/>
          </a:xfrm>
          <a:prstGeom prst="roundRect">
            <a:avLst>
              <a:gd name="adj" fmla="val 18750"/>
            </a:avLst>
          </a:prstGeom>
          <a:solidFill>
            <a:srgbClr val="C9A227"/>
          </a:solidFill>
          <a:ln/>
        </p:spPr>
        <p:txBody>
          <a:bodyPr/>
          <a:p/>
        </p:txBody>
      </p:sp>
      <p:sp>
        <p:nvSpPr>
          <p:cNvPr id="15" name="Text 13"/>
          <p:cNvSpPr/>
          <p:nvPr/>
        </p:nvSpPr>
        <p:spPr>
          <a:xfrm>
            <a:off x="6812280" y="2093976"/>
            <a:ext cx="1078992" cy="292608"/>
          </a:xfrm>
          <a:prstGeom prst="rect">
            <a:avLst/>
          </a:prstGeom>
          <a:noFill/>
          <a:ln/>
        </p:spPr>
        <p:txBody>
          <a:bodyPr wrap="square" rtlCol="0" anchor="ctr"/>
          <a:lstStyle/>
          <a:p>
            <a:pPr algn="ctr" indent="0" marL="0">
              <a:buNone/>
            </a:pPr>
            <a:r>
              <a:rPr lang="en-US" sz="1100" b="1" dirty="0">
                <a:solidFill>
                  <a:srgbClr val="1F3A5F"/>
                </a:solidFill>
                <a:latin typeface="Trebuchet MS" pitchFamily="34" charset="0"/>
                <a:ea typeface="Trebuchet MS" pitchFamily="34" charset="-122"/>
                <a:cs typeface="Trebuchet MS" pitchFamily="34" charset="-120"/>
              </a:rPr>
              <a:t>SSP.03</a:t>
            </a:r>
            <a:endParaRPr lang="en-US" sz="1100" dirty="0"/>
          </a:p>
        </p:txBody>
      </p:sp>
      <p:sp>
        <p:nvSpPr>
          <p:cNvPr id="16" name="Text 14"/>
          <p:cNvSpPr/>
          <p:nvPr/>
        </p:nvSpPr>
        <p:spPr>
          <a:xfrm>
            <a:off x="7973568" y="2093976"/>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Synthesize sources</a:t>
            </a:r>
            <a:endParaRPr lang="en-US" sz="1150" dirty="0"/>
          </a:p>
        </p:txBody>
      </p:sp>
      <p:sp>
        <p:nvSpPr>
          <p:cNvPr id="17" name="Shape 15"/>
          <p:cNvSpPr/>
          <p:nvPr/>
        </p:nvSpPr>
        <p:spPr>
          <a:xfrm>
            <a:off x="6812280" y="2432304"/>
            <a:ext cx="1078992" cy="292608"/>
          </a:xfrm>
          <a:prstGeom prst="roundRect">
            <a:avLst>
              <a:gd name="adj" fmla="val 18750"/>
            </a:avLst>
          </a:prstGeom>
          <a:solidFill>
            <a:srgbClr val="C9A227"/>
          </a:solidFill>
          <a:ln/>
        </p:spPr>
        <p:txBody>
          <a:bodyPr/>
          <a:p/>
        </p:txBody>
      </p:sp>
      <p:sp>
        <p:nvSpPr>
          <p:cNvPr id="18" name="Text 16"/>
          <p:cNvSpPr/>
          <p:nvPr/>
        </p:nvSpPr>
        <p:spPr>
          <a:xfrm>
            <a:off x="6812280" y="2432304"/>
            <a:ext cx="1078992" cy="292608"/>
          </a:xfrm>
          <a:prstGeom prst="rect">
            <a:avLst/>
          </a:prstGeom>
          <a:noFill/>
          <a:ln/>
        </p:spPr>
        <p:txBody>
          <a:bodyPr wrap="square" rtlCol="0" anchor="ctr"/>
          <a:lstStyle/>
          <a:p>
            <a:pPr algn="ctr" indent="0" marL="0">
              <a:buNone/>
            </a:pPr>
            <a:r>
              <a:rPr lang="en-US" sz="1100" b="1" dirty="0">
                <a:solidFill>
                  <a:srgbClr val="1F3A5F"/>
                </a:solidFill>
                <a:latin typeface="Trebuchet MS" pitchFamily="34" charset="0"/>
                <a:ea typeface="Trebuchet MS" pitchFamily="34" charset="-122"/>
                <a:cs typeface="Trebuchet MS" pitchFamily="34" charset="-120"/>
              </a:rPr>
              <a:t>SSP.04</a:t>
            </a:r>
            <a:endParaRPr lang="en-US" sz="1100" dirty="0"/>
          </a:p>
        </p:txBody>
      </p:sp>
      <p:sp>
        <p:nvSpPr>
          <p:cNvPr id="19" name="Text 17"/>
          <p:cNvSpPr/>
          <p:nvPr/>
        </p:nvSpPr>
        <p:spPr>
          <a:xfrm>
            <a:off x="7973568" y="2432304"/>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Build an argument</a:t>
            </a:r>
            <a:endParaRPr lang="en-US" sz="1150" dirty="0"/>
          </a:p>
        </p:txBody>
      </p:sp>
      <p:sp>
        <p:nvSpPr>
          <p:cNvPr id="20" name="Shape 18"/>
          <p:cNvSpPr/>
          <p:nvPr/>
        </p:nvSpPr>
        <p:spPr>
          <a:xfrm>
            <a:off x="6812280" y="2770632"/>
            <a:ext cx="1078992" cy="292608"/>
          </a:xfrm>
          <a:prstGeom prst="roundRect">
            <a:avLst>
              <a:gd name="adj" fmla="val 18750"/>
            </a:avLst>
          </a:prstGeom>
          <a:solidFill>
            <a:srgbClr val="C9A227"/>
          </a:solidFill>
          <a:ln/>
        </p:spPr>
        <p:txBody>
          <a:bodyPr/>
          <a:p/>
        </p:txBody>
      </p:sp>
      <p:sp>
        <p:nvSpPr>
          <p:cNvPr id="21" name="Text 19"/>
          <p:cNvSpPr/>
          <p:nvPr/>
        </p:nvSpPr>
        <p:spPr>
          <a:xfrm>
            <a:off x="6812280" y="2770632"/>
            <a:ext cx="1078992" cy="292608"/>
          </a:xfrm>
          <a:prstGeom prst="rect">
            <a:avLst/>
          </a:prstGeom>
          <a:noFill/>
          <a:ln/>
        </p:spPr>
        <p:txBody>
          <a:bodyPr wrap="square" rtlCol="0" anchor="ctr"/>
          <a:lstStyle/>
          <a:p>
            <a:pPr algn="ctr" indent="0" marL="0">
              <a:buNone/>
            </a:pPr>
            <a:r>
              <a:rPr lang="en-US" sz="1100" b="1" dirty="0">
                <a:solidFill>
                  <a:srgbClr val="1F3A5F"/>
                </a:solidFill>
                <a:latin typeface="Trebuchet MS" pitchFamily="34" charset="0"/>
                <a:ea typeface="Trebuchet MS" pitchFamily="34" charset="-122"/>
                <a:cs typeface="Trebuchet MS" pitchFamily="34" charset="-120"/>
              </a:rPr>
              <a:t>SSP.05</a:t>
            </a:r>
            <a:endParaRPr lang="en-US" sz="1100" dirty="0"/>
          </a:p>
        </p:txBody>
      </p:sp>
      <p:sp>
        <p:nvSpPr>
          <p:cNvPr id="22" name="Text 20"/>
          <p:cNvSpPr/>
          <p:nvPr/>
        </p:nvSpPr>
        <p:spPr>
          <a:xfrm>
            <a:off x="7973568" y="2770632"/>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Historical awareness</a:t>
            </a:r>
            <a:endParaRPr lang="en-US" sz="1150" dirty="0"/>
          </a:p>
        </p:txBody>
      </p:sp>
      <p:sp>
        <p:nvSpPr>
          <p:cNvPr id="23" name="Shape 21"/>
          <p:cNvSpPr/>
          <p:nvPr/>
        </p:nvSpPr>
        <p:spPr>
          <a:xfrm>
            <a:off x="914400" y="3794760"/>
            <a:ext cx="10332720" cy="1207008"/>
          </a:xfrm>
          <a:prstGeom prst="roundRect">
            <a:avLst>
              <a:gd name="adj" fmla="val 6061"/>
            </a:avLst>
          </a:prstGeom>
          <a:solidFill>
            <a:srgbClr val="243047"/>
          </a:solidFill>
          <a:ln w="9525">
            <a:solidFill>
              <a:srgbClr val="A7BACB"/>
            </a:solidFill>
            <a:prstDash val="solid"/>
          </a:ln>
        </p:spPr>
        <p:txBody>
          <a:bodyPr/>
          <a:p/>
        </p:txBody>
      </p:sp>
      <p:sp>
        <p:nvSpPr>
          <p:cNvPr id="24" name="Text 22"/>
          <p:cNvSpPr/>
          <p:nvPr/>
        </p:nvSpPr>
        <p:spPr>
          <a:xfrm>
            <a:off x="1143000" y="3913632"/>
            <a:ext cx="5486400" cy="274320"/>
          </a:xfrm>
          <a:prstGeom prst="rect">
            <a:avLst/>
          </a:prstGeom>
          <a:noFill/>
          <a:ln/>
        </p:spPr>
        <p:txBody>
          <a:bodyPr wrap="square" rtlCol="0" anchor="ctr"/>
          <a:lstStyle/>
          <a:p>
            <a:pPr indent="0" marL="0">
              <a:buNone/>
            </a:pPr>
            <a:r>
              <a:rPr lang="en-US" sz="1100" b="1" spc="200" kern="0" dirty="0">
                <a:solidFill>
                  <a:srgbClr val="A7BACB"/>
                </a:solidFill>
                <a:latin typeface="Trebuchet MS" pitchFamily="34" charset="0"/>
                <a:ea typeface="Trebuchet MS" pitchFamily="34" charset="-122"/>
                <a:cs typeface="Trebuchet MS" pitchFamily="34" charset="-120"/>
              </a:rPr>
              <a:t>TN ACADEMIC STANDARD</a:t>
            </a:r>
            <a:endParaRPr lang="en-US" sz="1100" dirty="0"/>
          </a:p>
        </p:txBody>
      </p:sp>
      <p:sp>
        <p:nvSpPr>
          <p:cNvPr id="25" name="Text 23"/>
          <p:cNvSpPr/>
          <p:nvPr/>
        </p:nvSpPr>
        <p:spPr>
          <a:xfrm>
            <a:off x="1143000" y="4206240"/>
            <a:ext cx="9875520" cy="749808"/>
          </a:xfrm>
          <a:prstGeom prst="rect">
            <a:avLst/>
          </a:prstGeom>
          <a:noFill/>
          <a:ln/>
        </p:spPr>
        <p:txBody>
          <a:bodyPr wrap="square" rtlCol="0" anchor="t"/>
          <a:lstStyle/>
          <a:p>
            <a:pPr indent="0" marL="0">
              <a:lnSpc>
                <a:spcPct val="100000"/>
              </a:lnSpc>
              <a:buNone/>
            </a:pPr>
            <a:r>
              <a:rPr lang="en-US" sz="1150" dirty="0">
                <a:solidFill>
                  <a:srgbClr val="FFFFFF"/>
                </a:solidFill>
                <a:latin typeface="Calibri" pitchFamily="34" charset="0"/>
                <a:ea typeface="Calibri" pitchFamily="34" charset="-122"/>
                <a:cs typeface="Calibri" pitchFamily="34" charset="-120"/>
              </a:rPr>
              <a:t>Analyze the causes and consequences of Gilded Age politics and economics as well as the significance of the rise of political machines, major scandals, civil service reform, and the economic difference between farmers, wage earners, and industrial capitalists, including: Boss Tweed, Thomas Nast, Credit Mobilier, Spoils system and President James A. Garfield's assassination, Pendleton Act, Interstate Commerce Act.</a:t>
            </a:r>
            <a:endParaRPr lang="en-US" sz="1150" dirty="0"/>
          </a:p>
        </p:txBody>
      </p:sp>
      <p:sp>
        <p:nvSpPr>
          <p:cNvPr id="26" name="Shape 24"/>
          <p:cNvSpPr/>
          <p:nvPr/>
        </p:nvSpPr>
        <p:spPr>
          <a:xfrm>
            <a:off x="914400" y="5120640"/>
            <a:ext cx="10332720" cy="1188720"/>
          </a:xfrm>
          <a:prstGeom prst="roundRect">
            <a:avLst>
              <a:gd name="adj" fmla="val 6154"/>
            </a:avLst>
          </a:prstGeom>
          <a:solidFill>
            <a:srgbClr val="C9A227"/>
          </a:solidFill>
          <a:ln/>
        </p:spPr>
        <p:txBody>
          <a:bodyPr/>
          <a:p/>
        </p:txBody>
      </p:sp>
      <p:sp>
        <p:nvSpPr>
          <p:cNvPr id="27" name="Text 25"/>
          <p:cNvSpPr/>
          <p:nvPr/>
        </p:nvSpPr>
        <p:spPr>
          <a:xfrm>
            <a:off x="1143000" y="5230368"/>
            <a:ext cx="1828800" cy="292608"/>
          </a:xfrm>
          <a:prstGeom prst="rect">
            <a:avLst/>
          </a:prstGeom>
          <a:noFill/>
          <a:ln/>
        </p:spPr>
        <p:txBody>
          <a:bodyPr wrap="square" rtlCol="0" anchor="ctr"/>
          <a:lstStyle/>
          <a:p>
            <a:pPr indent="0" marL="0">
              <a:buNone/>
            </a:pPr>
            <a:r>
              <a:rPr lang="en-US" sz="1300" b="1" spc="200" kern="0" dirty="0">
                <a:solidFill>
                  <a:srgbClr val="1F3A5F"/>
                </a:solidFill>
                <a:latin typeface="Trebuchet MS" pitchFamily="34" charset="0"/>
                <a:ea typeface="Trebuchet MS" pitchFamily="34" charset="-122"/>
                <a:cs typeface="Trebuchet MS" pitchFamily="34" charset="-120"/>
              </a:rPr>
              <a:t>I CAN</a:t>
            </a:r>
            <a:endParaRPr lang="en-US" sz="1300" dirty="0"/>
          </a:p>
        </p:txBody>
      </p:sp>
      <p:sp>
        <p:nvSpPr>
          <p:cNvPr id="28" name="Text 26"/>
          <p:cNvSpPr/>
          <p:nvPr/>
        </p:nvSpPr>
        <p:spPr>
          <a:xfrm>
            <a:off x="1143000" y="5504688"/>
            <a:ext cx="9875520" cy="749808"/>
          </a:xfrm>
          <a:prstGeom prst="rect">
            <a:avLst/>
          </a:prstGeom>
          <a:noFill/>
          <a:ln/>
        </p:spPr>
        <p:txBody>
          <a:bodyPr wrap="square" rtlCol="0" anchor="t"/>
          <a:lstStyle/>
          <a:p>
            <a:pPr indent="0" marL="0">
              <a:lnSpc>
                <a:spcPct val="100000"/>
              </a:lnSpc>
              <a:buNone/>
            </a:pPr>
            <a:r>
              <a:rPr lang="en-US" sz="1150" b="1" dirty="0">
                <a:solidFill>
                  <a:srgbClr val="1F3A5F"/>
                </a:solidFill>
                <a:latin typeface="Calibri" pitchFamily="34" charset="0"/>
                <a:ea typeface="Calibri" pitchFamily="34" charset="-122"/>
                <a:cs typeface="Calibri" pitchFamily="34" charset="-120"/>
              </a:rPr>
              <a:t>I can analyze the causes and consequences of Gilded Age politics and economics, including political machines, major scandals, civil service reform, and economic differences between farmers, wage earners, and industrial capitalists.</a:t>
            </a:r>
            <a:endParaRPr lang="en-US" sz="1150" dirty="0"/>
          </a:p>
        </p:txBody>
      </p:sp>
      <p:sp>
        <p:nvSpPr>
          <p:cNvPr id="29" name="Text 27"/>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0" name="Text 2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49</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49">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227"/>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B22234"/>
                </a:solidFill>
                <a:latin typeface="Trebuchet MS" pitchFamily="34" charset="0"/>
                <a:ea typeface="Trebuchet MS" pitchFamily="34" charset="-122"/>
                <a:cs typeface="Trebuchet MS" pitchFamily="34" charset="-120"/>
              </a:rPr>
              <a:t>US.04 · QUICK REVIEW</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F3A5F"/>
                </a:solidFill>
                <a:latin typeface="Georgia" pitchFamily="34" charset="0"/>
                <a:ea typeface="Georgia" pitchFamily="34" charset="-122"/>
                <a:cs typeface="Georgia" pitchFamily="34" charset="-120"/>
              </a:rPr>
              <a:t>Do You Remember?</a:t>
            </a:r>
            <a:endParaRPr lang="en-US" sz="3000" dirty="0"/>
          </a:p>
        </p:txBody>
      </p:sp>
      <p:sp>
        <p:nvSpPr>
          <p:cNvPr id="5" name="Text 3"/>
          <p:cNvSpPr/>
          <p:nvPr/>
        </p:nvSpPr>
        <p:spPr>
          <a:xfrm>
            <a:off x="548640" y="141732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Before we start, retrieve what we have already learned. Answer from memory first — no notes.</a:t>
            </a:r>
            <a:endParaRPr lang="en-US" sz="1400" dirty="0"/>
          </a:p>
        </p:txBody>
      </p:sp>
      <p:sp>
        <p:nvSpPr>
          <p:cNvPr id="6" name="Shape 4"/>
          <p:cNvSpPr/>
          <p:nvPr/>
        </p:nvSpPr>
        <p:spPr>
          <a:xfrm>
            <a:off x="548640" y="2057400"/>
            <a:ext cx="11064240" cy="1234440"/>
          </a:xfrm>
          <a:prstGeom prst="rect">
            <a:avLst/>
          </a:prstGeom>
          <a:solidFill>
            <a:srgbClr val="FFFFFF"/>
          </a:solidFill>
          <a:ln w="12700">
            <a:solidFill>
              <a:srgbClr val="DAD3C2"/>
            </a:solidFill>
            <a:prstDash val="solid"/>
          </a:ln>
        </p:spPr>
        <p:txBody>
          <a:bodyPr/>
          <a:p/>
        </p:txBody>
      </p:sp>
      <p:sp>
        <p:nvSpPr>
          <p:cNvPr id="7" name="Shape 5"/>
          <p:cNvSpPr/>
          <p:nvPr/>
        </p:nvSpPr>
        <p:spPr>
          <a:xfrm>
            <a:off x="548640" y="2057400"/>
            <a:ext cx="777240" cy="1234440"/>
          </a:xfrm>
          <a:prstGeom prst="rect">
            <a:avLst/>
          </a:prstGeom>
          <a:solidFill>
            <a:srgbClr val="1F3A5F"/>
          </a:solidFill>
          <a:ln/>
        </p:spPr>
        <p:txBody>
          <a:bodyPr/>
          <a:p/>
        </p:txBody>
      </p:sp>
      <p:sp>
        <p:nvSpPr>
          <p:cNvPr id="8" name="Text 6"/>
          <p:cNvSpPr/>
          <p:nvPr/>
        </p:nvSpPr>
        <p:spPr>
          <a:xfrm>
            <a:off x="548640" y="2057400"/>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1</a:t>
            </a:r>
            <a:endParaRPr lang="en-US" sz="2000" dirty="0"/>
          </a:p>
        </p:txBody>
      </p:sp>
      <p:sp>
        <p:nvSpPr>
          <p:cNvPr id="9" name="Text 7"/>
          <p:cNvSpPr/>
          <p:nvPr/>
        </p:nvSpPr>
        <p:spPr>
          <a:xfrm>
            <a:off x="1508760" y="2057400"/>
            <a:ext cx="9966960" cy="1234440"/>
          </a:xfrm>
          <a:prstGeom prst="rect">
            <a:avLst/>
          </a:prstGeom>
          <a:noFill/>
          <a:ln/>
        </p:spPr>
        <p:txBody>
          <a:bodyPr wrap="square" rtlCol="0" anchor="ctr"/>
          <a:lstStyle/>
          <a:p>
            <a:pPr indent="0" marL="0">
              <a:lnSpc>
                <a:spcPct val="104000"/>
              </a:lnSpc>
              <a:buNone/>
            </a:pPr>
            <a:r>
              <a:rPr lang="en-US" sz="1350" b="1" dirty="0">
                <a:solidFill>
                  <a:srgbClr val="B22234"/>
                </a:solidFill>
                <a:latin typeface="Calibri" pitchFamily="34" charset="0"/>
                <a:ea typeface="Calibri" pitchFamily="34" charset="-122"/>
                <a:cs typeface="Calibri" pitchFamily="34" charset="-120"/>
              </a:rPr>
              <a:t>US.03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What ended Reconstruction, and what replaced Black voting rights in the South?</a:t>
            </a:r>
            <a:endParaRPr lang="en-US" sz="1350" dirty="0"/>
          </a:p>
        </p:txBody>
      </p:sp>
      <p:sp>
        <p:nvSpPr>
          <p:cNvPr id="10" name="Shape 8"/>
          <p:cNvSpPr/>
          <p:nvPr/>
        </p:nvSpPr>
        <p:spPr>
          <a:xfrm>
            <a:off x="548640" y="3456432"/>
            <a:ext cx="11064240" cy="1234440"/>
          </a:xfrm>
          <a:prstGeom prst="rect">
            <a:avLst/>
          </a:prstGeom>
          <a:solidFill>
            <a:srgbClr val="FFFFFF"/>
          </a:solidFill>
          <a:ln w="12700">
            <a:solidFill>
              <a:srgbClr val="DAD3C2"/>
            </a:solidFill>
            <a:prstDash val="solid"/>
          </a:ln>
        </p:spPr>
        <p:txBody>
          <a:bodyPr/>
          <a:p/>
        </p:txBody>
      </p:sp>
      <p:sp>
        <p:nvSpPr>
          <p:cNvPr id="11" name="Shape 9"/>
          <p:cNvSpPr/>
          <p:nvPr/>
        </p:nvSpPr>
        <p:spPr>
          <a:xfrm>
            <a:off x="548640" y="3456432"/>
            <a:ext cx="777240" cy="1234440"/>
          </a:xfrm>
          <a:prstGeom prst="rect">
            <a:avLst/>
          </a:prstGeom>
          <a:solidFill>
            <a:srgbClr val="1F3A5F"/>
          </a:solidFill>
          <a:ln/>
        </p:spPr>
        <p:txBody>
          <a:bodyPr/>
          <a:p/>
        </p:txBody>
      </p:sp>
      <p:sp>
        <p:nvSpPr>
          <p:cNvPr id="12" name="Text 10"/>
          <p:cNvSpPr/>
          <p:nvPr/>
        </p:nvSpPr>
        <p:spPr>
          <a:xfrm>
            <a:off x="548640" y="3456432"/>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2</a:t>
            </a:r>
            <a:endParaRPr lang="en-US" sz="2000" dirty="0"/>
          </a:p>
        </p:txBody>
      </p:sp>
      <p:sp>
        <p:nvSpPr>
          <p:cNvPr id="13" name="Text 11"/>
          <p:cNvSpPr/>
          <p:nvPr/>
        </p:nvSpPr>
        <p:spPr>
          <a:xfrm>
            <a:off x="1508760" y="3456432"/>
            <a:ext cx="9966960" cy="1234440"/>
          </a:xfrm>
          <a:prstGeom prst="rect">
            <a:avLst/>
          </a:prstGeom>
          <a:noFill/>
          <a:ln/>
        </p:spPr>
        <p:txBody>
          <a:bodyPr wrap="square" rtlCol="0" anchor="ctr"/>
          <a:lstStyle/>
          <a:p>
            <a:pPr indent="0" marL="0">
              <a:lnSpc>
                <a:spcPct val="104000"/>
              </a:lnSpc>
              <a:buNone/>
            </a:pPr>
            <a:r>
              <a:rPr lang="en-US" sz="1350" b="1" dirty="0">
                <a:solidFill>
                  <a:srgbClr val="B22234"/>
                </a:solidFill>
                <a:latin typeface="Calibri" pitchFamily="34" charset="0"/>
                <a:ea typeface="Calibri" pitchFamily="34" charset="-122"/>
                <a:cs typeface="Calibri" pitchFamily="34" charset="-120"/>
              </a:rPr>
              <a:t>US.03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What did the Supreme Court decide in Plessy v. Ferguson?</a:t>
            </a:r>
            <a:endParaRPr lang="en-US" sz="135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50</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0">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227"/>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B22234"/>
                </a:solidFill>
                <a:latin typeface="Trebuchet MS" pitchFamily="34" charset="0"/>
                <a:ea typeface="Trebuchet MS" pitchFamily="34" charset="-122"/>
                <a:cs typeface="Trebuchet MS" pitchFamily="34" charset="-120"/>
              </a:rPr>
              <a:t>US.04 · CONFIDENCE CHECK</a:t>
            </a:r>
            <a:endParaRPr lang="en-US" sz="1200" dirty="0"/>
          </a:p>
        </p:txBody>
      </p:sp>
      <p:sp>
        <p:nvSpPr>
          <p:cNvPr id="4" name="Text 2"/>
          <p:cNvSpPr/>
          <p:nvPr/>
        </p:nvSpPr>
        <p:spPr>
          <a:xfrm>
            <a:off x="548640" y="731520"/>
            <a:ext cx="7863840" cy="640080"/>
          </a:xfrm>
          <a:prstGeom prst="rect">
            <a:avLst/>
          </a:prstGeom>
          <a:noFill/>
          <a:ln/>
        </p:spPr>
        <p:txBody>
          <a:bodyPr wrap="square" rtlCol="0" anchor="ctr"/>
          <a:lstStyle/>
          <a:p>
            <a:pPr indent="0" marL="0">
              <a:buNone/>
            </a:pPr>
            <a:r>
              <a:rPr lang="en-US" sz="3000" b="1" dirty="0">
                <a:solidFill>
                  <a:srgbClr val="1F3A5F"/>
                </a:solidFill>
                <a:latin typeface="Georgia" pitchFamily="34" charset="0"/>
                <a:ea typeface="Georgia" pitchFamily="34" charset="-122"/>
                <a:cs typeface="Georgia" pitchFamily="34" charset="-120"/>
              </a:rPr>
              <a:t>Warm-Up — Quick Recall</a:t>
            </a:r>
            <a:endParaRPr lang="en-US" sz="3000" dirty="0"/>
          </a:p>
        </p:txBody>
      </p:sp>
      <p:sp>
        <p:nvSpPr>
          <p:cNvPr id="5" name="Shape 3"/>
          <p:cNvSpPr/>
          <p:nvPr/>
        </p:nvSpPr>
        <p:spPr>
          <a:xfrm>
            <a:off x="8686800" y="786384"/>
            <a:ext cx="1143000" cy="457200"/>
          </a:xfrm>
          <a:prstGeom prst="roundRect">
            <a:avLst>
              <a:gd name="adj" fmla="val 20000"/>
            </a:avLst>
          </a:prstGeom>
          <a:solidFill>
            <a:srgbClr val="FBEFD0"/>
          </a:solidFill>
          <a:ln w="15875">
            <a:solidFill>
              <a:srgbClr val="C9A227"/>
            </a:solidFill>
            <a:prstDash val="solid"/>
          </a:ln>
        </p:spPr>
        <p:txBody>
          <a:bodyPr/>
          <a:p/>
        </p:txBody>
      </p:sp>
      <p:sp>
        <p:nvSpPr>
          <p:cNvPr id="6" name="Text 4"/>
          <p:cNvSpPr/>
          <p:nvPr/>
        </p:nvSpPr>
        <p:spPr>
          <a:xfrm>
            <a:off x="8686800" y="786384"/>
            <a:ext cx="1143000" cy="457200"/>
          </a:xfrm>
          <a:prstGeom prst="rect">
            <a:avLst/>
          </a:prstGeom>
          <a:noFill/>
          <a:ln/>
        </p:spPr>
        <p:txBody>
          <a:bodyPr wrap="square" rtlCol="0" anchor="ctr"/>
          <a:lstStyle/>
          <a:p>
            <a:pPr algn="ctr" indent="0" marL="0">
              <a:buNone/>
            </a:pPr>
            <a:r>
              <a:rPr lang="en-US" sz="1200" b="1" dirty="0">
                <a:solidFill>
                  <a:srgbClr val="B22234"/>
                </a:solidFill>
                <a:latin typeface="Trebuchet MS" pitchFamily="34" charset="0"/>
                <a:ea typeface="Trebuchet MS" pitchFamily="34" charset="-122"/>
                <a:cs typeface="Trebuchet MS" pitchFamily="34" charset="-120"/>
              </a:rPr>
              <a:t>DOK 1</a:t>
            </a:r>
            <a:endParaRPr lang="en-US" sz="1200" dirty="0"/>
          </a:p>
        </p:txBody>
      </p:sp>
      <p:sp>
        <p:nvSpPr>
          <p:cNvPr id="7" name="Shape 5"/>
          <p:cNvSpPr/>
          <p:nvPr/>
        </p:nvSpPr>
        <p:spPr>
          <a:xfrm>
            <a:off x="9966960" y="786384"/>
            <a:ext cx="1645920" cy="457200"/>
          </a:xfrm>
          <a:prstGeom prst="roundRect">
            <a:avLst>
              <a:gd name="adj" fmla="val 20000"/>
            </a:avLst>
          </a:prstGeom>
          <a:solidFill>
            <a:srgbClr val="1F3A5F"/>
          </a:solidFill>
          <a:ln/>
        </p:spPr>
        <p:txBody>
          <a:bodyPr/>
          <a:p/>
        </p:txBody>
      </p:sp>
      <p:sp>
        <p:nvSpPr>
          <p:cNvPr id="8" name="Text 6"/>
          <p:cNvSpPr/>
          <p:nvPr/>
        </p:nvSpPr>
        <p:spPr>
          <a:xfrm>
            <a:off x="9966960" y="786384"/>
            <a:ext cx="164592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LOW STAKES</a:t>
            </a:r>
            <a:endParaRPr lang="en-US" sz="1100" dirty="0"/>
          </a:p>
        </p:txBody>
      </p:sp>
      <p:sp>
        <p:nvSpPr>
          <p:cNvPr id="9" name="Text 7"/>
          <p:cNvSpPr/>
          <p:nvPr/>
        </p:nvSpPr>
        <p:spPr>
          <a:xfrm>
            <a:off x="548640" y="137160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Everyone can answer this. Thumbs / whiteboards — no notes.</a:t>
            </a:r>
            <a:endParaRPr lang="en-US" sz="1400" dirty="0"/>
          </a:p>
        </p:txBody>
      </p:sp>
      <p:sp>
        <p:nvSpPr>
          <p:cNvPr id="10" name="Shape 8"/>
          <p:cNvSpPr/>
          <p:nvPr/>
        </p:nvSpPr>
        <p:spPr>
          <a:xfrm>
            <a:off x="548640" y="1965960"/>
            <a:ext cx="11064240" cy="1874520"/>
          </a:xfrm>
          <a:prstGeom prst="roundRect">
            <a:avLst>
              <a:gd name="adj" fmla="val 4878"/>
            </a:avLst>
          </a:prstGeom>
          <a:solidFill>
            <a:srgbClr val="1F3A5F"/>
          </a:solidFill>
          <a:ln/>
        </p:spPr>
        <p:txBody>
          <a:bodyPr/>
          <a:p/>
        </p:txBody>
      </p:sp>
      <p:sp>
        <p:nvSpPr>
          <p:cNvPr id="11" name="Text 9"/>
          <p:cNvSpPr/>
          <p:nvPr/>
        </p:nvSpPr>
        <p:spPr>
          <a:xfrm>
            <a:off x="1005840" y="2194560"/>
            <a:ext cx="10149840" cy="1417320"/>
          </a:xfrm>
          <a:prstGeom prst="rect">
            <a:avLst/>
          </a:prstGeom>
          <a:noFill/>
          <a:ln/>
        </p:spPr>
        <p:txBody>
          <a:bodyPr wrap="square" rtlCol="0" anchor="ctr"/>
          <a:lstStyle/>
          <a:p>
            <a:pPr algn="ctr" indent="0" marL="0">
              <a:lnSpc>
                <a:spcPct val="108000"/>
              </a:lnSpc>
              <a:buNone/>
            </a:pPr>
            <a:r>
              <a:rPr lang="en-US" sz="2400" b="1" dirty="0">
                <a:solidFill>
                  <a:srgbClr val="FFFFFF"/>
                </a:solidFill>
                <a:latin typeface="Georgia" pitchFamily="34" charset="0"/>
                <a:ea typeface="Georgia" pitchFamily="34" charset="-122"/>
                <a:cs typeface="Georgia" pitchFamily="34" charset="-120"/>
              </a:rPr>
              <a:t>What do we call a party organization that traded jobs and favors for votes?</a:t>
            </a:r>
            <a:endParaRPr lang="en-US" sz="2400" dirty="0"/>
          </a:p>
        </p:txBody>
      </p:sp>
      <p:sp>
        <p:nvSpPr>
          <p:cNvPr id="12" name="Shape 10"/>
          <p:cNvSpPr/>
          <p:nvPr/>
        </p:nvSpPr>
        <p:spPr>
          <a:xfrm>
            <a:off x="548640" y="4069080"/>
            <a:ext cx="11064240" cy="1371600"/>
          </a:xfrm>
          <a:prstGeom prst="roundRect">
            <a:avLst>
              <a:gd name="adj" fmla="val 6667"/>
            </a:avLst>
          </a:prstGeom>
          <a:solidFill>
            <a:srgbClr val="FBEFD0"/>
          </a:solidFill>
          <a:ln w="19050">
            <a:solidFill>
              <a:srgbClr val="C9A227"/>
            </a:solidFill>
            <a:prstDash val="solid"/>
          </a:ln>
        </p:spPr>
        <p:txBody>
          <a:bodyPr/>
          <a:p/>
        </p:txBody>
      </p:sp>
      <p:sp>
        <p:nvSpPr>
          <p:cNvPr id="13" name="Text 11"/>
          <p:cNvSpPr/>
          <p:nvPr/>
        </p:nvSpPr>
        <p:spPr>
          <a:xfrm>
            <a:off x="914400" y="4224528"/>
            <a:ext cx="2743200" cy="320040"/>
          </a:xfrm>
          <a:prstGeom prst="rect">
            <a:avLst/>
          </a:prstGeom>
          <a:noFill/>
          <a:ln/>
        </p:spPr>
        <p:txBody>
          <a:bodyPr wrap="square" rtlCol="0" anchor="ctr"/>
          <a:lstStyle/>
          <a:p>
            <a:pPr indent="0" marL="0">
              <a:buNone/>
            </a:pPr>
            <a:r>
              <a:rPr lang="en-US" sz="1200" b="1" spc="200" kern="0" dirty="0">
                <a:solidFill>
                  <a:srgbClr val="1B5E20"/>
                </a:solidFill>
                <a:latin typeface="Trebuchet MS" pitchFamily="34" charset="0"/>
                <a:ea typeface="Trebuchet MS" pitchFamily="34" charset="-122"/>
                <a:cs typeface="Trebuchet MS" pitchFamily="34" charset="-120"/>
              </a:rPr>
              <a:t>✓ ANSWER</a:t>
            </a:r>
            <a:endParaRPr lang="en-US" sz="1200" dirty="0"/>
          </a:p>
        </p:txBody>
      </p:sp>
      <p:sp>
        <p:nvSpPr>
          <p:cNvPr id="14" name="Text 12"/>
          <p:cNvSpPr/>
          <p:nvPr/>
        </p:nvSpPr>
        <p:spPr>
          <a:xfrm>
            <a:off x="914400" y="4572000"/>
            <a:ext cx="10332720" cy="777240"/>
          </a:xfrm>
          <a:prstGeom prst="rect">
            <a:avLst/>
          </a:prstGeom>
          <a:noFill/>
          <a:ln/>
        </p:spPr>
        <p:txBody>
          <a:bodyPr wrap="square" rtlCol="0" anchor="t"/>
          <a:lstStyle/>
          <a:p>
            <a:pPr indent="0" marL="0">
              <a:lnSpc>
                <a:spcPct val="108000"/>
              </a:lnSpc>
              <a:buNone/>
            </a:pPr>
            <a:r>
              <a:rPr lang="en-US" sz="1600" dirty="0">
                <a:solidFill>
                  <a:srgbClr val="1F2430"/>
                </a:solidFill>
                <a:latin typeface="Calibri" pitchFamily="34" charset="0"/>
                <a:ea typeface="Calibri" pitchFamily="34" charset="-122"/>
                <a:cs typeface="Calibri" pitchFamily="34" charset="-120"/>
              </a:rPr>
              <a:t>A political machine (e.g., Tammany Hall under Boss Tweed).</a:t>
            </a:r>
            <a:endParaRPr lang="en-US" sz="1600" dirty="0"/>
          </a:p>
        </p:txBody>
      </p:sp>
      <p:sp>
        <p:nvSpPr>
          <p:cNvPr id="15" name="Shape 13"/>
          <p:cNvSpPr/>
          <p:nvPr/>
        </p:nvSpPr>
        <p:spPr>
          <a:xfrm>
            <a:off x="548640" y="5623560"/>
            <a:ext cx="11064240" cy="457200"/>
          </a:xfrm>
          <a:prstGeom prst="roundRect">
            <a:avLst>
              <a:gd name="adj" fmla="val 16000"/>
            </a:avLst>
          </a:prstGeom>
          <a:solidFill>
            <a:srgbClr val="FFFFFF"/>
          </a:solidFill>
          <a:ln w="12700">
            <a:solidFill>
              <a:srgbClr val="C9A227"/>
            </a:solidFill>
            <a:prstDash val="solid"/>
          </a:ln>
        </p:spPr>
        <p:txBody>
          <a:bodyPr/>
          <a:p/>
        </p:txBody>
      </p:sp>
      <p:sp>
        <p:nvSpPr>
          <p:cNvPr id="16" name="Text 14"/>
          <p:cNvSpPr/>
          <p:nvPr/>
        </p:nvSpPr>
        <p:spPr>
          <a:xfrm>
            <a:off x="822960" y="5623560"/>
            <a:ext cx="10515600" cy="457200"/>
          </a:xfrm>
          <a:prstGeom prst="rect">
            <a:avLst/>
          </a:prstGeom>
          <a:noFill/>
          <a:ln/>
        </p:spPr>
        <p:txBody>
          <a:bodyPr wrap="square" rtlCol="0" anchor="ctr"/>
          <a:lstStyle/>
          <a:p>
            <a:pPr indent="0" marL="0">
              <a:buNone/>
            </a:pPr>
            <a:r>
              <a:rPr lang="en-US" sz="1150" b="1" i="1" spc="100" kern="0" dirty="0">
                <a:solidFill>
                  <a:srgbClr val="B22234"/>
                </a:solidFill>
                <a:latin typeface="Trebuchet MS" pitchFamily="34" charset="0"/>
                <a:ea typeface="Trebuchet MS" pitchFamily="34" charset="-122"/>
                <a:cs typeface="Trebuchet MS" pitchFamily="34" charset="-120"/>
              </a:rPr>
              <a:t>COMMIT FIRST:  </a:t>
            </a:r>
            <a:pPr indent="0" marL="0">
              <a:buNone/>
            </a:pPr>
            <a:r>
              <a:rPr lang="en-US" sz="1150" i="1" dirty="0">
                <a:solidFill>
                  <a:srgbClr val="5C6470"/>
                </a:solidFill>
                <a:latin typeface="Calibri" pitchFamily="34" charset="0"/>
                <a:ea typeface="Calibri" pitchFamily="34" charset="-122"/>
                <a:cs typeface="Calibri" pitchFamily="34" charset="-120"/>
              </a:rPr>
              <a:t>have everyone answer before the reveal — this is the DOK 1 floor; the graded check later in this lesson moves up to DOK 2–3.</a:t>
            </a:r>
            <a:endParaRPr lang="en-US" sz="1150" dirty="0"/>
          </a:p>
        </p:txBody>
      </p:sp>
      <p:sp>
        <p:nvSpPr>
          <p:cNvPr id="18" name="Text 15"/>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6"/>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51</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1">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B22234"/>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B22234"/>
                </a:solidFill>
                <a:latin typeface="Trebuchet MS" pitchFamily="34" charset="0"/>
                <a:ea typeface="Trebuchet MS" pitchFamily="34" charset="-122"/>
                <a:cs typeface="Trebuchet MS" pitchFamily="34" charset="-120"/>
              </a:rPr>
              <a:t>US.04 · HOOK</a:t>
            </a:r>
            <a:endParaRPr lang="en-US" sz="1200" dirty="0"/>
          </a:p>
        </p:txBody>
      </p:sp>
      <p:sp>
        <p:nvSpPr>
          <p:cNvPr id="4" name="Text 2"/>
          <p:cNvSpPr/>
          <p:nvPr/>
        </p:nvSpPr>
        <p:spPr>
          <a:xfrm>
            <a:off x="548640" y="777240"/>
            <a:ext cx="10972800" cy="640080"/>
          </a:xfrm>
          <a:prstGeom prst="rect">
            <a:avLst/>
          </a:prstGeom>
          <a:noFill/>
          <a:ln/>
        </p:spPr>
        <p:txBody>
          <a:bodyPr wrap="square" rtlCol="0" anchor="ctr"/>
          <a:lstStyle/>
          <a:p>
            <a:pPr indent="0" marL="0">
              <a:buNone/>
            </a:pPr>
            <a:r>
              <a:rPr lang="en-US" sz="3000" b="1" dirty="0">
                <a:solidFill>
                  <a:srgbClr val="1F3A5F"/>
                </a:solidFill>
                <a:latin typeface="Georgia" pitchFamily="34" charset="0"/>
                <a:ea typeface="Georgia" pitchFamily="34" charset="-122"/>
                <a:cs typeface="Georgia" pitchFamily="34" charset="-120"/>
              </a:rPr>
              <a:t>Think About It</a:t>
            </a:r>
            <a:endParaRPr lang="en-US" sz="3000" dirty="0"/>
          </a:p>
        </p:txBody>
      </p:sp>
      <p:sp>
        <p:nvSpPr>
          <p:cNvPr id="5" name="Shape 3"/>
          <p:cNvSpPr/>
          <p:nvPr/>
        </p:nvSpPr>
        <p:spPr>
          <a:xfrm>
            <a:off x="548640" y="1691640"/>
            <a:ext cx="11064240" cy="2194560"/>
          </a:xfrm>
          <a:prstGeom prst="roundRect">
            <a:avLst>
              <a:gd name="adj" fmla="val 4167"/>
            </a:avLst>
          </a:prstGeom>
          <a:solidFill>
            <a:srgbClr val="1F3A5F"/>
          </a:solidFill>
          <a:ln/>
        </p:spPr>
        <p:txBody>
          <a:bodyPr/>
          <a:p/>
        </p:txBody>
      </p:sp>
      <p:sp>
        <p:nvSpPr>
          <p:cNvPr id="6" name="Text 4"/>
          <p:cNvSpPr/>
          <p:nvPr/>
        </p:nvSpPr>
        <p:spPr>
          <a:xfrm>
            <a:off x="1005840" y="1965960"/>
            <a:ext cx="10149840" cy="1645920"/>
          </a:xfrm>
          <a:prstGeom prst="rect">
            <a:avLst/>
          </a:prstGeom>
          <a:noFill/>
          <a:ln/>
        </p:spPr>
        <p:txBody>
          <a:bodyPr wrap="square" rtlCol="0" anchor="ctr"/>
          <a:lstStyle/>
          <a:p>
            <a:pPr indent="0" marL="0">
              <a:lnSpc>
                <a:spcPct val="108000"/>
              </a:lnSpc>
              <a:buNone/>
            </a:pPr>
            <a:r>
              <a:rPr lang="en-US" sz="2600" i="1" dirty="0">
                <a:solidFill>
                  <a:srgbClr val="FFFFFF"/>
                </a:solidFill>
                <a:latin typeface="Georgia" pitchFamily="34" charset="0"/>
                <a:ea typeface="Georgia" pitchFamily="34" charset="-122"/>
                <a:cs typeface="Georgia" pitchFamily="34" charset="-120"/>
              </a:rPr>
              <a:t>One New York political boss stole an estimated $200 million — and almost no one stopped him.</a:t>
            </a:r>
            <a:endParaRPr lang="en-US" sz="2600" dirty="0"/>
          </a:p>
        </p:txBody>
      </p:sp>
      <p:sp>
        <p:nvSpPr>
          <p:cNvPr id="7" name="Shape 5"/>
          <p:cNvSpPr/>
          <p:nvPr/>
        </p:nvSpPr>
        <p:spPr>
          <a:xfrm>
            <a:off x="548640" y="4114800"/>
            <a:ext cx="11064240" cy="1783080"/>
          </a:xfrm>
          <a:prstGeom prst="roundRect">
            <a:avLst>
              <a:gd name="adj" fmla="val 5128"/>
            </a:avLst>
          </a:prstGeom>
          <a:solidFill>
            <a:srgbClr val="FFFFFF"/>
          </a:solidFill>
          <a:ln w="19050">
            <a:solidFill>
              <a:srgbClr val="C9A227"/>
            </a:solidFill>
            <a:prstDash val="solid"/>
          </a:ln>
        </p:spPr>
        <p:txBody>
          <a:bodyPr/>
          <a:p/>
        </p:txBody>
      </p:sp>
      <p:sp>
        <p:nvSpPr>
          <p:cNvPr id="8" name="Text 6"/>
          <p:cNvSpPr/>
          <p:nvPr/>
        </p:nvSpPr>
        <p:spPr>
          <a:xfrm>
            <a:off x="914400" y="4297680"/>
            <a:ext cx="2743200" cy="320040"/>
          </a:xfrm>
          <a:prstGeom prst="rect">
            <a:avLst/>
          </a:prstGeom>
          <a:noFill/>
          <a:ln/>
        </p:spPr>
        <p:txBody>
          <a:bodyPr wrap="square" rtlCol="0" anchor="ctr"/>
          <a:lstStyle/>
          <a:p>
            <a:pPr indent="0" marL="0">
              <a:buNone/>
            </a:pPr>
            <a:r>
              <a:rPr lang="en-US" sz="1300" b="1" spc="200" kern="0" dirty="0">
                <a:solidFill>
                  <a:srgbClr val="B22234"/>
                </a:solidFill>
                <a:latin typeface="Trebuchet MS" pitchFamily="34" charset="0"/>
                <a:ea typeface="Trebuchet MS" pitchFamily="34" charset="-122"/>
                <a:cs typeface="Trebuchet MS" pitchFamily="34" charset="-120"/>
              </a:rPr>
              <a:t>DISCUSS</a:t>
            </a:r>
            <a:endParaRPr lang="en-US" sz="1300" dirty="0"/>
          </a:p>
        </p:txBody>
      </p:sp>
      <p:sp>
        <p:nvSpPr>
          <p:cNvPr id="9" name="Shape 7"/>
          <p:cNvSpPr/>
          <p:nvPr/>
        </p:nvSpPr>
        <p:spPr>
          <a:xfrm>
            <a:off x="7772400" y="4224528"/>
            <a:ext cx="3657600" cy="457200"/>
          </a:xfrm>
          <a:prstGeom prst="roundRect">
            <a:avLst>
              <a:gd name="adj" fmla="val 20000"/>
            </a:avLst>
          </a:prstGeom>
          <a:solidFill>
            <a:srgbClr val="1F3A5F"/>
          </a:solidFill>
          <a:ln/>
        </p:spPr>
        <p:txBody>
          <a:bodyPr/>
          <a:p/>
        </p:txBody>
      </p:sp>
      <p:sp>
        <p:nvSpPr>
          <p:cNvPr id="10" name="Text 8"/>
          <p:cNvSpPr/>
          <p:nvPr/>
        </p:nvSpPr>
        <p:spPr>
          <a:xfrm>
            <a:off x="7772400" y="4224528"/>
            <a:ext cx="3657600" cy="45720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TIMING:  Turn &amp; Talk 60 sec → cold-call 2 pairs</a:t>
            </a:r>
            <a:endParaRPr lang="en-US" sz="1050" dirty="0"/>
          </a:p>
        </p:txBody>
      </p:sp>
      <p:sp>
        <p:nvSpPr>
          <p:cNvPr id="11" name="Text 9"/>
          <p:cNvSpPr/>
          <p:nvPr/>
        </p:nvSpPr>
        <p:spPr>
          <a:xfrm>
            <a:off x="914400" y="4736592"/>
            <a:ext cx="10332720" cy="1097280"/>
          </a:xfrm>
          <a:prstGeom prst="rect">
            <a:avLst/>
          </a:prstGeom>
          <a:noFill/>
          <a:ln/>
        </p:spPr>
        <p:txBody>
          <a:bodyPr wrap="square" rtlCol="0" anchor="t"/>
          <a:lstStyle/>
          <a:p>
            <a:pPr indent="0" marL="0">
              <a:lnSpc>
                <a:spcPct val="110000"/>
              </a:lnSpc>
              <a:buNone/>
            </a:pPr>
            <a:r>
              <a:rPr lang="en-US" sz="1600" dirty="0">
                <a:solidFill>
                  <a:srgbClr val="1F2430"/>
                </a:solidFill>
                <a:latin typeface="Calibri" pitchFamily="34" charset="0"/>
                <a:ea typeface="Calibri" pitchFamily="34" charset="-122"/>
                <a:cs typeface="Calibri" pitchFamily="34" charset="-120"/>
              </a:rPr>
              <a:t>Why might city residents support a corrupt political machine? What might they get in return? List two possibilities.</a:t>
            </a:r>
            <a:endParaRPr lang="en-US" sz="1600" dirty="0"/>
          </a:p>
        </p:txBody>
      </p:sp>
      <p:sp>
        <p:nvSpPr>
          <p:cNvPr id="13" name="Text 10"/>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52</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2">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F3A5F"/>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B22234"/>
                </a:solidFill>
                <a:latin typeface="Trebuchet MS" pitchFamily="34" charset="0"/>
                <a:ea typeface="Trebuchet MS" pitchFamily="34" charset="-122"/>
                <a:cs typeface="Trebuchet MS" pitchFamily="34" charset="-120"/>
              </a:rPr>
              <a:t>US.04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F3A5F"/>
                </a:solidFill>
                <a:latin typeface="Georgia" pitchFamily="34" charset="0"/>
                <a:ea typeface="Georgia" pitchFamily="34" charset="-122"/>
                <a:cs typeface="Georgia" pitchFamily="34" charset="-120"/>
              </a:rPr>
              <a:t>Political Machines and Boss Tweed</a:t>
            </a:r>
            <a:endParaRPr lang="en-US" sz="3000" dirty="0"/>
          </a:p>
        </p:txBody>
      </p:sp>
      <p:sp>
        <p:nvSpPr>
          <p:cNvPr id="5" name="Shape 3"/>
          <p:cNvSpPr/>
          <p:nvPr/>
        </p:nvSpPr>
        <p:spPr>
          <a:xfrm>
            <a:off x="10472623" y="502920"/>
            <a:ext cx="146304" cy="146304"/>
          </a:xfrm>
          <a:prstGeom prst="ellipse">
            <a:avLst/>
          </a:prstGeom>
          <a:solidFill>
            <a:srgbClr val="B22234"/>
          </a:solidFill>
          <a:ln/>
        </p:spPr>
        <p:txBody>
          <a:bodyPr/>
          <a:p/>
        </p:txBody>
      </p:sp>
      <p:sp>
        <p:nvSpPr>
          <p:cNvPr id="6" name="Shape 4"/>
          <p:cNvSpPr/>
          <p:nvPr/>
        </p:nvSpPr>
        <p:spPr>
          <a:xfrm>
            <a:off x="10765231" y="502920"/>
            <a:ext cx="146304" cy="146304"/>
          </a:xfrm>
          <a:prstGeom prst="ellipse">
            <a:avLst/>
          </a:prstGeom>
          <a:solidFill>
            <a:srgbClr val="A7BACB"/>
          </a:solidFill>
          <a:ln/>
        </p:spPr>
        <p:txBody>
          <a:bodyPr/>
          <a:p/>
        </p:txBody>
      </p:sp>
      <p:sp>
        <p:nvSpPr>
          <p:cNvPr id="7" name="Shape 5"/>
          <p:cNvSpPr/>
          <p:nvPr/>
        </p:nvSpPr>
        <p:spPr>
          <a:xfrm>
            <a:off x="11057839" y="502920"/>
            <a:ext cx="146304" cy="146304"/>
          </a:xfrm>
          <a:prstGeom prst="ellipse">
            <a:avLst/>
          </a:prstGeom>
          <a:solidFill>
            <a:srgbClr val="A7BACB"/>
          </a:solidFill>
          <a:ln/>
        </p:spPr>
        <p:txBody>
          <a:bodyPr/>
          <a:p/>
        </p:txBody>
      </p:sp>
      <p:sp>
        <p:nvSpPr>
          <p:cNvPr id="8" name="Shape 6"/>
          <p:cNvSpPr/>
          <p:nvPr/>
        </p:nvSpPr>
        <p:spPr>
          <a:xfrm>
            <a:off x="11350447" y="502920"/>
            <a:ext cx="146304" cy="146304"/>
          </a:xfrm>
          <a:prstGeom prst="ellipse">
            <a:avLst/>
          </a:prstGeom>
          <a:solidFill>
            <a:srgbClr val="A7BACB"/>
          </a:solidFill>
          <a:ln/>
        </p:spPr>
        <p:txBody>
          <a:bodyPr/>
          <a:p/>
        </p:txBody>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1 of 4</a:t>
            </a:r>
            <a:endParaRPr lang="en-US" sz="1000" dirty="0"/>
          </a:p>
        </p:txBody>
      </p:sp>
      <p:sp>
        <p:nvSpPr>
          <p:cNvPr id="10" name="Shape 8"/>
          <p:cNvSpPr/>
          <p:nvPr/>
        </p:nvSpPr>
        <p:spPr>
          <a:xfrm>
            <a:off x="548640" y="1783080"/>
            <a:ext cx="6766560" cy="4069080"/>
          </a:xfrm>
          <a:prstGeom prst="rect">
            <a:avLst/>
          </a:prstGeom>
          <a:solidFill>
            <a:srgbClr val="FFFFFF"/>
          </a:solidFill>
          <a:ln w="12700">
            <a:solidFill>
              <a:srgbClr val="DAD3C2"/>
            </a:solidFill>
            <a:prstDash val="solid"/>
          </a:ln>
        </p:spPr>
        <p:txBody>
          <a:bodyPr/>
          <a:p/>
        </p:txBody>
      </p:sp>
      <p:sp>
        <p:nvSpPr>
          <p:cNvPr id="11" name="Text 9"/>
          <p:cNvSpPr/>
          <p:nvPr/>
        </p:nvSpPr>
        <p:spPr>
          <a:xfrm>
            <a:off x="914400" y="2057400"/>
            <a:ext cx="6126480" cy="2340864"/>
          </a:xfrm>
          <a:prstGeom prst="rect">
            <a:avLst/>
          </a:prstGeom>
          <a:noFill/>
          <a:ln/>
        </p:spPr>
        <p:txBody>
          <a:bodyPr wrap="square" rtlCol="0" anchor="t"/>
          <a:lstStyle/>
          <a:p>
            <a:pPr marL="228600" indent="-228600">
              <a:lnSpc>
                <a:spcPct val="112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The Gilded Age (1870s-1900) saw the rise of powerful political machines that controlled city governments through patronage and corruption.</a:t>
            </a:r>
            <a:endParaRPr lang="en-US" sz="1550" dirty="0"/>
          </a:p>
          <a:p>
            <a:pPr marL="228600" indent="-228600">
              <a:lnSpc>
                <a:spcPct val="112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Boss Tweed's Tammany Hall in New York City epitomized this system, funneling millions in public funds to Tweed and his associates.</a:t>
            </a:r>
            <a:endParaRPr lang="en-US" sz="1550" dirty="0"/>
          </a:p>
          <a:p>
            <a:pPr marL="228600" indent="-228600">
              <a:lnSpc>
                <a:spcPct val="112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Political cartoonist Thomas Nast exposed Tweed's corruption through devastating illustrations in Harper's Weekly.</a:t>
            </a:r>
            <a:endParaRPr lang="en-US" sz="1550" dirty="0"/>
          </a:p>
        </p:txBody>
      </p:sp>
      <p:sp>
        <p:nvSpPr>
          <p:cNvPr id="12" name="Shape 10"/>
          <p:cNvSpPr/>
          <p:nvPr/>
        </p:nvSpPr>
        <p:spPr>
          <a:xfrm>
            <a:off x="868680" y="4626864"/>
            <a:ext cx="6126480" cy="1097280"/>
          </a:xfrm>
          <a:prstGeom prst="roundRect">
            <a:avLst>
              <a:gd name="adj" fmla="val 5000"/>
            </a:avLst>
          </a:prstGeom>
          <a:solidFill>
            <a:srgbClr val="EEF3F7"/>
          </a:solidFill>
          <a:ln w="12700">
            <a:solidFill>
              <a:srgbClr val="A7BACB"/>
            </a:solidFill>
            <a:prstDash val="solid"/>
          </a:ln>
        </p:spPr>
        <p:txBody>
          <a:bodyPr/>
          <a:p/>
        </p:txBody>
      </p:sp>
      <p:sp>
        <p:nvSpPr>
          <p:cNvPr id="13" name="Text 11"/>
          <p:cNvSpPr/>
          <p:nvPr/>
        </p:nvSpPr>
        <p:spPr>
          <a:xfrm>
            <a:off x="1024128" y="4681728"/>
            <a:ext cx="5852160" cy="237744"/>
          </a:xfrm>
          <a:prstGeom prst="rect">
            <a:avLst/>
          </a:prstGeom>
          <a:noFill/>
          <a:ln/>
        </p:spPr>
        <p:txBody>
          <a:bodyPr wrap="square" rtlCol="0" anchor="ctr"/>
          <a:lstStyle/>
          <a:p>
            <a:pPr indent="0" marL="0">
              <a:buNone/>
            </a:pPr>
            <a:r>
              <a:rPr lang="en-US" sz="900" b="1" spc="100" kern="0" dirty="0">
                <a:solidFill>
                  <a:srgbClr val="002858"/>
                </a:solidFill>
                <a:latin typeface="Trebuchet MS" pitchFamily="34" charset="0"/>
                <a:ea typeface="Trebuchet MS" pitchFamily="34" charset="-122"/>
                <a:cs typeface="Trebuchet MS" pitchFamily="34" charset="-120"/>
              </a:rPr>
              <a:t>SENTENCE FRAME  </a:t>
            </a:r>
            <a:pPr indent="0" marL="0">
              <a:buNone/>
            </a:pPr>
            <a:r>
              <a:rPr lang="en-US" sz="900" i="1" dirty="0">
                <a:solidFill>
                  <a:srgbClr val="5C6470"/>
                </a:solidFill>
              </a:rPr>
              <a:t>· LANGUAGE SUPPORT  </a:t>
            </a:r>
            <a:endParaRPr lang="en-US" sz="900" dirty="0"/>
          </a:p>
        </p:txBody>
      </p:sp>
      <p:sp>
        <p:nvSpPr>
          <p:cNvPr id="14" name="Text 12"/>
          <p:cNvSpPr/>
          <p:nvPr/>
        </p:nvSpPr>
        <p:spPr>
          <a:xfrm>
            <a:off x="1024128" y="4937760"/>
            <a:ext cx="6309360" cy="658368"/>
          </a:xfrm>
          <a:prstGeom prst="rect">
            <a:avLst/>
          </a:prstGeom>
          <a:noFill/>
          <a:ln/>
        </p:spPr>
        <p:txBody>
          <a:bodyPr wrap="square" rtlCol="0" anchor="t"/>
          <a:lstStyle/>
          <a:p>
            <a:pPr indent="0" marL="0">
              <a:lnSpc>
                <a:spcPct val="104000"/>
              </a:lnSpc>
              <a:buNone/>
            </a:pPr>
            <a:r>
              <a:rPr lang="en-US" sz="1050" i="1" dirty="0">
                <a:solidFill>
                  <a:srgbClr val="1F2430"/>
                </a:solidFill>
                <a:latin typeface="Calibri" pitchFamily="34" charset="0"/>
                <a:ea typeface="Calibri" pitchFamily="34" charset="-122"/>
                <a:cs typeface="Calibri" pitchFamily="34" charset="-120"/>
              </a:rPr>
              <a:t>A political machine stayed in power by ________, which helped ________ but harmed ________.</a:t>
            </a:r>
            <a:endParaRPr lang="en-US" sz="1050" dirty="0"/>
          </a:p>
        </p:txBody>
      </p:sp>
      <p:sp>
        <p:nvSpPr>
          <p:cNvPr id="15" name="Shape 13"/>
          <p:cNvSpPr/>
          <p:nvPr/>
        </p:nvSpPr>
        <p:spPr>
          <a:xfrm>
            <a:off x="7552944" y="1746504"/>
            <a:ext cx="4142232" cy="2935224"/>
          </a:xfrm>
          <a:prstGeom prst="rect">
            <a:avLst/>
          </a:prstGeom>
          <a:solidFill>
            <a:srgbClr val="FFFFFF"/>
          </a:solidFill>
          <a:ln w="12700">
            <a:solidFill>
              <a:srgbClr val="DAD3C2"/>
            </a:solidFill>
            <a:prstDash val="solid"/>
          </a:ln>
        </p:spPr>
        <p:txBody>
          <a:bodyPr/>
          <a:p/>
        </p:txBody>
      </p:sp>
      <p:pic>
        <p:nvPicPr>
          <p:cNvPr id="16" name="Image 0" descr="Joseph Keppler, 1889  Library of Congress">    </p:cNvPr>
          <p:cNvPicPr>
            <a:picLocks noChangeAspect="1"/>
          </p:cNvPicPr>
          <p:nvPr/>
        </p:nvPicPr>
        <p:blipFill>
          <a:blip r:embed="rId1"/>
          <a:srcRect l="0" r="0" t="0" b="0"/>
          <a:stretch/>
        </p:blipFill>
        <p:spPr>
          <a:xfrm>
            <a:off x="7589520" y="1783080"/>
            <a:ext cx="4069080" cy="2862072"/>
          </a:xfrm>
          <a:prstGeom prst="rect">
            <a:avLst/>
          </a:prstGeom>
        </p:spPr>
      </p:pic>
      <p:sp>
        <p:nvSpPr>
          <p:cNvPr id="17" name="Text 14"/>
          <p:cNvSpPr/>
          <p:nvPr/>
        </p:nvSpPr>
        <p:spPr>
          <a:xfrm>
            <a:off x="7589520" y="4700016"/>
            <a:ext cx="4069080" cy="512064"/>
          </a:xfrm>
          <a:prstGeom prst="rect">
            <a:avLst/>
          </a:prstGeom>
          <a:noFill/>
          <a:ln/>
        </p:spPr>
        <p:txBody>
          <a:bodyPr wrap="square" rtlCol="0" anchor="t"/>
          <a:lstStyle/>
          <a:p>
            <a:pPr algn="l" indent="0" marL="0">
              <a:lnSpc>
                <a:spcPct val="100000"/>
              </a:lnSpc>
              <a:buNone/>
            </a:pPr>
            <a:pPr algn="l" indent="0" marL="0">
              <a:lnSpc>
                <a:spcPct val="100000"/>
              </a:lnSpc>
              <a:buNone/>
            </a:pPr>
            <a:r>
              <a:rPr lang="en-US" sz="900" i="1" dirty="0">
                <a:solidFill>
                  <a:srgbClr val="5C6470"/>
                </a:solidFill>
                <a:latin typeface="Calibri" pitchFamily="34" charset="0"/>
                <a:ea typeface="Calibri" pitchFamily="34" charset="-122"/>
                <a:cs typeface="Calibri" pitchFamily="34" charset="-120"/>
              </a:rPr>
              <a:t>Joseph Keppler, 1889  </a:t>
            </a:r>
            <a:pPr algn="l" indent="0" marL="0">
              <a:lnSpc>
                <a:spcPct val="100000"/>
              </a:lnSpc>
              <a:buNone/>
            </a:pPr>
            <a:r>
              <a:rPr lang="en-US" sz="9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800" dirty="0"/>
          </a:p>
        </p:txBody>
      </p:sp>
      <p:sp>
        <p:nvSpPr>
          <p:cNvPr id="18" name="Shape 15"/>
          <p:cNvSpPr/>
          <p:nvPr/>
        </p:nvSpPr>
        <p:spPr>
          <a:xfrm>
            <a:off x="7589520" y="5440680"/>
            <a:ext cx="4069080" cy="713232"/>
          </a:xfrm>
          <a:prstGeom prst="roundRect">
            <a:avLst>
              <a:gd name="adj" fmla="val 7692"/>
            </a:avLst>
          </a:prstGeom>
          <a:solidFill>
            <a:srgbClr val="1F3A5F"/>
          </a:solidFill>
          <a:ln/>
        </p:spPr>
        <p:txBody>
          <a:bodyPr/>
          <a:p/>
        </p:txBody>
      </p:sp>
      <p:sp>
        <p:nvSpPr>
          <p:cNvPr id="19" name="Text 16"/>
          <p:cNvSpPr/>
          <p:nvPr/>
        </p:nvSpPr>
        <p:spPr>
          <a:xfrm>
            <a:off x="7772400" y="5477256"/>
            <a:ext cx="3703320" cy="640080"/>
          </a:xfrm>
          <a:prstGeom prst="rect">
            <a:avLst/>
          </a:prstGeom>
          <a:noFill/>
          <a:ln/>
        </p:spPr>
        <p:txBody>
          <a:bodyPr wrap="square" rtlCol="0" anchor="ctr"/>
          <a:lstStyle/>
          <a:p>
            <a:pPr indent="0" marL="0">
              <a:lnSpc>
                <a:spcPct val="102000"/>
              </a:lnSpc>
              <a:buNone/>
            </a:pPr>
            <a:r>
              <a:rPr lang="en-US" sz="950" b="1" dirty="0">
                <a:solidFill>
                  <a:srgbClr val="F9A825"/>
                </a:solidFill>
                <a:latin typeface="Trebuchet MS" pitchFamily="34" charset="0"/>
                <a:ea typeface="Trebuchet MS" pitchFamily="34" charset="-122"/>
                <a:cs typeface="Trebuchet MS" pitchFamily="34" charset="-120"/>
              </a:rPr>
              <a:t>TEACHER CUE  </a:t>
            </a:r>
            <a:pPr indent="0" marL="0">
              <a:lnSpc>
                <a:spcPct val="102000"/>
              </a:lnSpc>
              <a:buNone/>
            </a:pPr>
            <a:r>
              <a:rPr lang="en-US" sz="950" dirty="0">
                <a:solidFill>
                  <a:srgbClr val="FFFFFF"/>
                </a:solidFill>
                <a:latin typeface="Calibri" pitchFamily="34" charset="0"/>
                <a:ea typeface="Calibri" pitchFamily="34" charset="-122"/>
                <a:cs typeface="Calibri" pitchFamily="34" charset="-120"/>
              </a:rPr>
              <a:t>Chunk → cold-call → confirm before advancing.</a:t>
            </a:r>
            <a:endParaRPr lang="en-US" sz="950" dirty="0"/>
          </a:p>
        </p:txBody>
      </p:sp>
      <p:sp>
        <p:nvSpPr>
          <p:cNvPr id="21" name="Text 17"/>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2"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53</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3">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F3A5F"/>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B22234"/>
                </a:solidFill>
                <a:latin typeface="Trebuchet MS" pitchFamily="34" charset="0"/>
                <a:ea typeface="Trebuchet MS" pitchFamily="34" charset="-122"/>
                <a:cs typeface="Trebuchet MS" pitchFamily="34" charset="-120"/>
              </a:rPr>
              <a:t>US.04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F3A5F"/>
                </a:solidFill>
                <a:latin typeface="Georgia" pitchFamily="34" charset="0"/>
                <a:ea typeface="Georgia" pitchFamily="34" charset="-122"/>
                <a:cs typeface="Georgia" pitchFamily="34" charset="-120"/>
              </a:rPr>
              <a:t>Major Scandals and the Spoils System</a:t>
            </a:r>
            <a:endParaRPr lang="en-US" sz="3000" dirty="0"/>
          </a:p>
        </p:txBody>
      </p:sp>
      <p:sp>
        <p:nvSpPr>
          <p:cNvPr id="5" name="Shape 3"/>
          <p:cNvSpPr/>
          <p:nvPr/>
        </p:nvSpPr>
        <p:spPr>
          <a:xfrm>
            <a:off x="10472623" y="502920"/>
            <a:ext cx="146304" cy="146304"/>
          </a:xfrm>
          <a:prstGeom prst="ellipse">
            <a:avLst/>
          </a:prstGeom>
          <a:solidFill>
            <a:srgbClr val="A7BACB"/>
          </a:solidFill>
          <a:ln/>
        </p:spPr>
        <p:txBody>
          <a:bodyPr/>
          <a:p/>
        </p:txBody>
      </p:sp>
      <p:sp>
        <p:nvSpPr>
          <p:cNvPr id="6" name="Shape 4"/>
          <p:cNvSpPr/>
          <p:nvPr/>
        </p:nvSpPr>
        <p:spPr>
          <a:xfrm>
            <a:off x="10765231" y="502920"/>
            <a:ext cx="146304" cy="146304"/>
          </a:xfrm>
          <a:prstGeom prst="ellipse">
            <a:avLst/>
          </a:prstGeom>
          <a:solidFill>
            <a:srgbClr val="B22234"/>
          </a:solidFill>
          <a:ln/>
        </p:spPr>
        <p:txBody>
          <a:bodyPr/>
          <a:p/>
        </p:txBody>
      </p:sp>
      <p:sp>
        <p:nvSpPr>
          <p:cNvPr id="7" name="Shape 5"/>
          <p:cNvSpPr/>
          <p:nvPr/>
        </p:nvSpPr>
        <p:spPr>
          <a:xfrm>
            <a:off x="11057839" y="502920"/>
            <a:ext cx="146304" cy="146304"/>
          </a:xfrm>
          <a:prstGeom prst="ellipse">
            <a:avLst/>
          </a:prstGeom>
          <a:solidFill>
            <a:srgbClr val="A7BACB"/>
          </a:solidFill>
          <a:ln/>
        </p:spPr>
        <p:txBody>
          <a:bodyPr/>
          <a:p/>
        </p:txBody>
      </p:sp>
      <p:sp>
        <p:nvSpPr>
          <p:cNvPr id="8" name="Shape 6"/>
          <p:cNvSpPr/>
          <p:nvPr/>
        </p:nvSpPr>
        <p:spPr>
          <a:xfrm>
            <a:off x="11350447" y="502920"/>
            <a:ext cx="146304" cy="146304"/>
          </a:xfrm>
          <a:prstGeom prst="ellipse">
            <a:avLst/>
          </a:prstGeom>
          <a:solidFill>
            <a:srgbClr val="A7BACB"/>
          </a:solidFill>
          <a:ln/>
        </p:spPr>
        <p:txBody>
          <a:bodyPr/>
          <a:p/>
        </p:txBody>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2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txBody>
          <a:bodyPr/>
          <a:p/>
        </p:txBody>
      </p:sp>
      <p:sp>
        <p:nvSpPr>
          <p:cNvPr id="11" name="Text 9"/>
          <p:cNvSpPr/>
          <p:nvPr/>
        </p:nvSpPr>
        <p:spPr>
          <a:xfrm>
            <a:off x="914400" y="2057400"/>
            <a:ext cx="10424160" cy="3566160"/>
          </a:xfrm>
          <a:prstGeom prst="rect">
            <a:avLst/>
          </a:prstGeom>
          <a:noFill/>
          <a:ln/>
        </p:spPr>
        <p:txBody>
          <a:bodyPr wrap="square" rtlCol="0" anchor="t"/>
          <a:lstStyle/>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era was marked by corruption at all levels.</a:t>
            </a:r>
            <a:endParaRPr lang="en-US" sz="1700" dirty="0"/>
          </a:p>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Crédit Mobilier scandal revealed that railroad executives and congressmen had profited enormously from fraudulent construction contracts.</a:t>
            </a:r>
            <a:endParaRPr lang="en-US" sz="1700" dirty="0"/>
          </a:p>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spoils system—giving government jobs to political supporters regardless of qualification—reached its peak.</a:t>
            </a:r>
            <a:endParaRPr lang="en-US" sz="1700" dirty="0"/>
          </a:p>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President James Garfield's assassination by a disappointed office-seeker in 1881 finally prompted reform.</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54</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4">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F3A5F"/>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B22234"/>
                </a:solidFill>
                <a:latin typeface="Trebuchet MS" pitchFamily="34" charset="0"/>
                <a:ea typeface="Trebuchet MS" pitchFamily="34" charset="-122"/>
                <a:cs typeface="Trebuchet MS" pitchFamily="34" charset="-120"/>
              </a:rPr>
              <a:t>US.04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F3A5F"/>
                </a:solidFill>
                <a:latin typeface="Georgia" pitchFamily="34" charset="0"/>
                <a:ea typeface="Georgia" pitchFamily="34" charset="-122"/>
                <a:cs typeface="Georgia" pitchFamily="34" charset="-120"/>
              </a:rPr>
              <a:t>Civil Service Reform</a:t>
            </a:r>
            <a:endParaRPr lang="en-US" sz="3000" dirty="0"/>
          </a:p>
        </p:txBody>
      </p:sp>
      <p:sp>
        <p:nvSpPr>
          <p:cNvPr id="5" name="Shape 3"/>
          <p:cNvSpPr/>
          <p:nvPr/>
        </p:nvSpPr>
        <p:spPr>
          <a:xfrm>
            <a:off x="10472623" y="502920"/>
            <a:ext cx="146304" cy="146304"/>
          </a:xfrm>
          <a:prstGeom prst="ellipse">
            <a:avLst/>
          </a:prstGeom>
          <a:solidFill>
            <a:srgbClr val="A7BACB"/>
          </a:solidFill>
          <a:ln/>
        </p:spPr>
        <p:txBody>
          <a:bodyPr/>
          <a:p/>
        </p:txBody>
      </p:sp>
      <p:sp>
        <p:nvSpPr>
          <p:cNvPr id="6" name="Shape 4"/>
          <p:cNvSpPr/>
          <p:nvPr/>
        </p:nvSpPr>
        <p:spPr>
          <a:xfrm>
            <a:off x="10765231" y="502920"/>
            <a:ext cx="146304" cy="146304"/>
          </a:xfrm>
          <a:prstGeom prst="ellipse">
            <a:avLst/>
          </a:prstGeom>
          <a:solidFill>
            <a:srgbClr val="A7BACB"/>
          </a:solidFill>
          <a:ln/>
        </p:spPr>
        <p:txBody>
          <a:bodyPr/>
          <a:p/>
        </p:txBody>
      </p:sp>
      <p:sp>
        <p:nvSpPr>
          <p:cNvPr id="7" name="Shape 5"/>
          <p:cNvSpPr/>
          <p:nvPr/>
        </p:nvSpPr>
        <p:spPr>
          <a:xfrm>
            <a:off x="11057839" y="502920"/>
            <a:ext cx="146304" cy="146304"/>
          </a:xfrm>
          <a:prstGeom prst="ellipse">
            <a:avLst/>
          </a:prstGeom>
          <a:solidFill>
            <a:srgbClr val="B22234"/>
          </a:solidFill>
          <a:ln/>
        </p:spPr>
        <p:txBody>
          <a:bodyPr/>
          <a:p/>
        </p:txBody>
      </p:sp>
      <p:sp>
        <p:nvSpPr>
          <p:cNvPr id="8" name="Shape 6"/>
          <p:cNvSpPr/>
          <p:nvPr/>
        </p:nvSpPr>
        <p:spPr>
          <a:xfrm>
            <a:off x="11350447" y="502920"/>
            <a:ext cx="146304" cy="146304"/>
          </a:xfrm>
          <a:prstGeom prst="ellipse">
            <a:avLst/>
          </a:prstGeom>
          <a:solidFill>
            <a:srgbClr val="A7BACB"/>
          </a:solidFill>
          <a:ln/>
        </p:spPr>
        <p:txBody>
          <a:bodyPr/>
          <a:p/>
        </p:txBody>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3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txBody>
          <a:bodyPr/>
          <a:p/>
        </p:txBody>
      </p:sp>
      <p:sp>
        <p:nvSpPr>
          <p:cNvPr id="11" name="Text 9"/>
          <p:cNvSpPr/>
          <p:nvPr/>
        </p:nvSpPr>
        <p:spPr>
          <a:xfrm>
            <a:off x="914400" y="2057400"/>
            <a:ext cx="10424160" cy="3566160"/>
          </a:xfrm>
          <a:prstGeom prst="rect">
            <a:avLst/>
          </a:prstGeom>
          <a:noFill/>
          <a:ln/>
        </p:spPr>
        <p:txBody>
          <a:bodyPr wrap="square" rtlCol="0" anchor="t"/>
          <a:lstStyle/>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Garfield's assassination led to the Pendleton Civil Service Act of 1883, which established merit-based hiring for federal positions through competitive examinations.</a:t>
            </a:r>
            <a:endParaRPr lang="en-US" sz="1700" dirty="0"/>
          </a:p>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This began the long process of professionalizing government service, though political influence remained significant in many positions.</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55</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5">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F3A5F"/>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B22234"/>
                </a:solidFill>
                <a:latin typeface="Trebuchet MS" pitchFamily="34" charset="0"/>
                <a:ea typeface="Trebuchet MS" pitchFamily="34" charset="-122"/>
                <a:cs typeface="Trebuchet MS" pitchFamily="34" charset="-120"/>
              </a:rPr>
              <a:t>US.04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F3A5F"/>
                </a:solidFill>
                <a:latin typeface="Georgia" pitchFamily="34" charset="0"/>
                <a:ea typeface="Georgia" pitchFamily="34" charset="-122"/>
                <a:cs typeface="Georgia" pitchFamily="34" charset="-120"/>
              </a:rPr>
              <a:t>Economic Disparity</a:t>
            </a:r>
            <a:endParaRPr lang="en-US" sz="3000" dirty="0"/>
          </a:p>
        </p:txBody>
      </p:sp>
      <p:sp>
        <p:nvSpPr>
          <p:cNvPr id="5" name="Shape 3"/>
          <p:cNvSpPr/>
          <p:nvPr/>
        </p:nvSpPr>
        <p:spPr>
          <a:xfrm>
            <a:off x="10472623" y="502920"/>
            <a:ext cx="146304" cy="146304"/>
          </a:xfrm>
          <a:prstGeom prst="ellipse">
            <a:avLst/>
          </a:prstGeom>
          <a:solidFill>
            <a:srgbClr val="A7BACB"/>
          </a:solidFill>
          <a:ln/>
        </p:spPr>
        <p:txBody>
          <a:bodyPr/>
          <a:p/>
        </p:txBody>
      </p:sp>
      <p:sp>
        <p:nvSpPr>
          <p:cNvPr id="6" name="Shape 4"/>
          <p:cNvSpPr/>
          <p:nvPr/>
        </p:nvSpPr>
        <p:spPr>
          <a:xfrm>
            <a:off x="10765231" y="502920"/>
            <a:ext cx="146304" cy="146304"/>
          </a:xfrm>
          <a:prstGeom prst="ellipse">
            <a:avLst/>
          </a:prstGeom>
          <a:solidFill>
            <a:srgbClr val="A7BACB"/>
          </a:solidFill>
          <a:ln/>
        </p:spPr>
        <p:txBody>
          <a:bodyPr/>
          <a:p/>
        </p:txBody>
      </p:sp>
      <p:sp>
        <p:nvSpPr>
          <p:cNvPr id="7" name="Shape 5"/>
          <p:cNvSpPr/>
          <p:nvPr/>
        </p:nvSpPr>
        <p:spPr>
          <a:xfrm>
            <a:off x="11057839" y="502920"/>
            <a:ext cx="146304" cy="146304"/>
          </a:xfrm>
          <a:prstGeom prst="ellipse">
            <a:avLst/>
          </a:prstGeom>
          <a:solidFill>
            <a:srgbClr val="A7BACB"/>
          </a:solidFill>
          <a:ln/>
        </p:spPr>
        <p:txBody>
          <a:bodyPr/>
          <a:p/>
        </p:txBody>
      </p:sp>
      <p:sp>
        <p:nvSpPr>
          <p:cNvPr id="8" name="Shape 6"/>
          <p:cNvSpPr/>
          <p:nvPr/>
        </p:nvSpPr>
        <p:spPr>
          <a:xfrm>
            <a:off x="11350447" y="502920"/>
            <a:ext cx="146304" cy="146304"/>
          </a:xfrm>
          <a:prstGeom prst="ellipse">
            <a:avLst/>
          </a:prstGeom>
          <a:solidFill>
            <a:srgbClr val="B22234"/>
          </a:solidFill>
          <a:ln/>
        </p:spPr>
        <p:txBody>
          <a:bodyPr/>
          <a:p/>
        </p:txBody>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4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txBody>
          <a:bodyPr/>
          <a:p/>
        </p:txBody>
      </p:sp>
      <p:sp>
        <p:nvSpPr>
          <p:cNvPr id="11" name="Text 9"/>
          <p:cNvSpPr/>
          <p:nvPr/>
        </p:nvSpPr>
        <p:spPr>
          <a:xfrm>
            <a:off x="914400" y="2057400"/>
            <a:ext cx="10424160" cy="3566160"/>
          </a:xfrm>
          <a:prstGeom prst="rect">
            <a:avLst/>
          </a:prstGeom>
          <a:noFill/>
          <a:ln/>
        </p:spPr>
        <p:txBody>
          <a:bodyPr wrap="square" rtlCol="0" anchor="t"/>
          <a:lstStyle/>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Gilded Age saw extreme wealth concentration among industrial capitalists while farmers struggled with falling crop prices, high railroad shipping rates, and debt.</a:t>
            </a:r>
            <a:endParaRPr lang="en-US" sz="1700" dirty="0"/>
          </a:p>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Wage earners faced dangerous working conditions, long hours, and low pay.</a:t>
            </a:r>
            <a:endParaRPr lang="en-US" sz="1700" dirty="0"/>
          </a:p>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Interstate Commerce Act of 1887 attempted to regulate railroad rates, representing early federal intervention in the economy.</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56</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6">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285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002858"/>
                </a:solidFill>
                <a:latin typeface="Trebuchet MS" pitchFamily="34" charset="0"/>
                <a:ea typeface="Trebuchet MS" pitchFamily="34" charset="-122"/>
                <a:cs typeface="Trebuchet MS" pitchFamily="34" charset="-120"/>
              </a:rPr>
              <a:t>US.04 · PRIMARY SOURCE ANALYSIS</a:t>
            </a:r>
            <a:endParaRPr lang="en-US" sz="1200" dirty="0"/>
          </a:p>
        </p:txBody>
      </p:sp>
      <p:sp>
        <p:nvSpPr>
          <p:cNvPr id="4" name="Text 2"/>
          <p:cNvSpPr/>
          <p:nvPr/>
        </p:nvSpPr>
        <p:spPr>
          <a:xfrm>
            <a:off x="548640" y="731520"/>
            <a:ext cx="8686800" cy="640080"/>
          </a:xfrm>
          <a:prstGeom prst="rect">
            <a:avLst/>
          </a:prstGeom>
          <a:noFill/>
          <a:ln/>
        </p:spPr>
        <p:txBody>
          <a:bodyPr wrap="square" rtlCol="0" anchor="t"/>
          <a:lstStyle/>
          <a:p>
            <a:pPr indent="0" marL="0">
              <a:buNone/>
            </a:pPr>
            <a:r>
              <a:rPr lang="en-US" sz="2500" b="1" dirty="0">
                <a:solidFill>
                  <a:srgbClr val="1F3A5F"/>
                </a:solidFill>
                <a:latin typeface="Georgia" pitchFamily="34" charset="0"/>
                <a:ea typeface="Georgia" pitchFamily="34" charset="-122"/>
                <a:cs typeface="Georgia" pitchFamily="34" charset="-120"/>
              </a:rPr>
              <a:t>Pendleton Civil Service Reform Act</a:t>
            </a:r>
            <a:endParaRPr lang="en-US" sz="2500" dirty="0"/>
          </a:p>
        </p:txBody>
      </p:sp>
      <p:sp>
        <p:nvSpPr>
          <p:cNvPr id="5" name="Shape 3"/>
          <p:cNvSpPr/>
          <p:nvPr/>
        </p:nvSpPr>
        <p:spPr>
          <a:xfrm>
            <a:off x="9418320" y="777240"/>
            <a:ext cx="2194560" cy="457200"/>
          </a:xfrm>
          <a:prstGeom prst="roundRect">
            <a:avLst>
              <a:gd name="adj" fmla="val 20000"/>
            </a:avLst>
          </a:prstGeom>
          <a:solidFill>
            <a:srgbClr val="002858"/>
          </a:solidFill>
          <a:ln/>
        </p:spPr>
        <p:txBody>
          <a:bodyPr/>
          <a:p/>
        </p:txBody>
      </p:sp>
      <p:sp>
        <p:nvSpPr>
          <p:cNvPr id="6" name="Text 4"/>
          <p:cNvSpPr/>
          <p:nvPr/>
        </p:nvSpPr>
        <p:spPr>
          <a:xfrm>
            <a:off x="9418320" y="777240"/>
            <a:ext cx="219456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Contextualization</a:t>
            </a:r>
            <a:endParaRPr lang="en-US" sz="1200" dirty="0"/>
          </a:p>
        </p:txBody>
      </p:sp>
      <p:sp>
        <p:nvSpPr>
          <p:cNvPr id="7" name="Text 5"/>
          <p:cNvSpPr/>
          <p:nvPr/>
        </p:nvSpPr>
        <p:spPr>
          <a:xfrm>
            <a:off x="548640" y="1335024"/>
            <a:ext cx="10058400" cy="274320"/>
          </a:xfrm>
          <a:prstGeom prst="rect">
            <a:avLst/>
          </a:prstGeom>
          <a:noFill/>
          <a:ln/>
        </p:spPr>
        <p:txBody>
          <a:bodyPr wrap="square" rtlCol="0" anchor="ctr"/>
          <a:lstStyle/>
          <a:p>
            <a:pPr indent="0" marL="0">
              <a:buNone/>
            </a:pPr>
            <a:r>
              <a:rPr lang="en-US" sz="1200" i="1" dirty="0">
                <a:solidFill>
                  <a:srgbClr val="5C6470"/>
                </a:solidFill>
                <a:latin typeface="Calibri" pitchFamily="34" charset="0"/>
                <a:ea typeface="Calibri" pitchFamily="34" charset="-122"/>
                <a:cs typeface="Calibri" pitchFamily="34" charset="-120"/>
              </a:rPr>
              <a:t>U.S. Congress  ·  January 16, 1883</a:t>
            </a:r>
            <a:endParaRPr lang="en-US" sz="1200" dirty="0"/>
          </a:p>
        </p:txBody>
      </p:sp>
      <p:sp>
        <p:nvSpPr>
          <p:cNvPr id="8" name="Shape 6"/>
          <p:cNvSpPr/>
          <p:nvPr/>
        </p:nvSpPr>
        <p:spPr>
          <a:xfrm>
            <a:off x="548640" y="1737360"/>
            <a:ext cx="6858000" cy="3246120"/>
          </a:xfrm>
          <a:prstGeom prst="rect">
            <a:avLst/>
          </a:prstGeom>
          <a:solidFill>
            <a:srgbClr val="FFFFFF"/>
          </a:solidFill>
          <a:ln w="12700">
            <a:solidFill>
              <a:srgbClr val="DAD3C2"/>
            </a:solidFill>
            <a:prstDash val="solid"/>
          </a:ln>
        </p:spPr>
        <p:txBody>
          <a:bodyPr/>
          <a:p/>
        </p:txBody>
      </p:sp>
      <p:sp>
        <p:nvSpPr>
          <p:cNvPr id="9" name="Shape 7"/>
          <p:cNvSpPr/>
          <p:nvPr/>
        </p:nvSpPr>
        <p:spPr>
          <a:xfrm>
            <a:off x="548640" y="1737360"/>
            <a:ext cx="109728" cy="3246120"/>
          </a:xfrm>
          <a:prstGeom prst="rect">
            <a:avLst/>
          </a:prstGeom>
          <a:solidFill>
            <a:srgbClr val="C9A227"/>
          </a:solidFill>
          <a:ln/>
        </p:spPr>
        <p:txBody>
          <a:bodyPr/>
          <a:p/>
        </p:txBody>
      </p:sp>
      <p:sp>
        <p:nvSpPr>
          <p:cNvPr id="10" name="Text 8"/>
          <p:cNvSpPr/>
          <p:nvPr/>
        </p:nvSpPr>
        <p:spPr>
          <a:xfrm>
            <a:off x="868680" y="1938528"/>
            <a:ext cx="6355080" cy="2862072"/>
          </a:xfrm>
          <a:prstGeom prst="rect">
            <a:avLst/>
          </a:prstGeom>
          <a:noFill/>
          <a:ln/>
        </p:spPr>
        <p:txBody>
          <a:bodyPr wrap="square" rtlCol="0" anchor="t"/>
          <a:lstStyle/>
          <a:p>
            <a:pPr indent="0" marL="0">
              <a:lnSpc>
                <a:spcPct val="114000"/>
              </a:lnSpc>
              <a:buNone/>
            </a:pPr>
            <a:r>
              <a:rPr lang="en-US" sz="1400" i="1" dirty="0">
                <a:solidFill>
                  <a:srgbClr val="1F2430"/>
                </a:solidFill>
                <a:latin typeface="Georgia" pitchFamily="34" charset="0"/>
                <a:ea typeface="Georgia" pitchFamily="34" charset="-122"/>
                <a:cs typeface="Georgia" pitchFamily="34" charset="-120"/>
              </a:rPr>
              <a:t>"No person in the public service is for that reason under any obligations to contribute to any political fund, or to render any political service, and he will not be removed or otherwise prejudiced for refusing to do so... No person in said service has any right to use his official authority or influence to coerce the political action of any person or body."</a:t>
            </a:r>
            <a:endParaRPr lang="en-US" sz="1400" dirty="0"/>
          </a:p>
        </p:txBody>
      </p:sp>
      <p:sp>
        <p:nvSpPr>
          <p:cNvPr id="11" name="Shape 9"/>
          <p:cNvSpPr/>
          <p:nvPr/>
        </p:nvSpPr>
        <p:spPr>
          <a:xfrm>
            <a:off x="7589520" y="1737360"/>
            <a:ext cx="4023360" cy="1783080"/>
          </a:xfrm>
          <a:prstGeom prst="roundRect">
            <a:avLst>
              <a:gd name="adj" fmla="val 4103"/>
            </a:avLst>
          </a:prstGeom>
          <a:solidFill>
            <a:srgbClr val="1F3A5F"/>
          </a:solidFill>
          <a:ln/>
        </p:spPr>
        <p:txBody>
          <a:bodyPr/>
          <a:p/>
        </p:txBody>
      </p:sp>
      <p:sp>
        <p:nvSpPr>
          <p:cNvPr id="12" name="Text 10"/>
          <p:cNvSpPr/>
          <p:nvPr/>
        </p:nvSpPr>
        <p:spPr>
          <a:xfrm>
            <a:off x="7818120" y="1856232"/>
            <a:ext cx="3657600" cy="274320"/>
          </a:xfrm>
          <a:prstGeom prst="rect">
            <a:avLst/>
          </a:prstGeom>
          <a:noFill/>
          <a:ln/>
        </p:spPr>
        <p:txBody>
          <a:bodyPr wrap="square" rtlCol="0" anchor="ctr"/>
          <a:lstStyle/>
          <a:p>
            <a:pPr indent="0" marL="0">
              <a:buNone/>
            </a:pPr>
            <a:r>
              <a:rPr lang="en-US" sz="1100" b="1" spc="200" kern="0" dirty="0">
                <a:solidFill>
                  <a:srgbClr val="F9A825"/>
                </a:solidFill>
                <a:latin typeface="Trebuchet MS" pitchFamily="34" charset="0"/>
                <a:ea typeface="Trebuchet MS" pitchFamily="34" charset="-122"/>
                <a:cs typeface="Trebuchet MS" pitchFamily="34" charset="-120"/>
              </a:rPr>
              <a:t>CONTEXT</a:t>
            </a:r>
            <a:endParaRPr lang="en-US" sz="1100" dirty="0"/>
          </a:p>
        </p:txBody>
      </p:sp>
      <p:sp>
        <p:nvSpPr>
          <p:cNvPr id="13" name="Text 11"/>
          <p:cNvSpPr/>
          <p:nvPr/>
        </p:nvSpPr>
        <p:spPr>
          <a:xfrm>
            <a:off x="7818120" y="2139696"/>
            <a:ext cx="3611880" cy="1271016"/>
          </a:xfrm>
          <a:prstGeom prst="rect">
            <a:avLst/>
          </a:prstGeom>
          <a:noFill/>
          <a:ln/>
        </p:spPr>
        <p:txBody>
          <a:bodyPr wrap="square" rtlCol="0" anchor="t"/>
          <a:lstStyle/>
          <a:p>
            <a:pPr indent="0" marL="0">
              <a:lnSpc>
                <a:spcPct val="98000"/>
              </a:lnSpc>
              <a:buNone/>
            </a:pPr>
            <a:r>
              <a:rPr lang="en-US" sz="900" dirty="0">
                <a:solidFill>
                  <a:srgbClr val="FFFFFF"/>
                </a:solidFill>
                <a:latin typeface="Calibri" pitchFamily="34" charset="0"/>
                <a:ea typeface="Calibri" pitchFamily="34" charset="-122"/>
                <a:cs typeface="Calibri" pitchFamily="34" charset="-120"/>
              </a:rPr>
              <a:t>During the Gilded Age, the 'spoils system' — where elected officials rewarded political supporters with government jobs regardless of qualifications — had corrupted American government at every level. Political machines like Tammany Hall in New York City handed out thousands of jobs to loyal party members, and government workers were expected to donate a portion of their salaries to political campaigns. The assassination of President James Garfield in 1881 by a disappointed office-seeker shocked the nation and created overwhelming pressure for reform. The Pendleton Civil Service Reform Act of 1883 created a merit-based civil service system, requiring competitive exams for federal jobs and prohibiting political coercion of government workers.</a:t>
            </a:r>
            <a:endParaRPr lang="en-US" sz="780" dirty="0"/>
          </a:p>
        </p:txBody>
      </p:sp>
      <p:sp>
        <p:nvSpPr>
          <p:cNvPr id="14" name="Shape 12"/>
          <p:cNvSpPr/>
          <p:nvPr/>
        </p:nvSpPr>
        <p:spPr>
          <a:xfrm>
            <a:off x="7589520" y="3703320"/>
            <a:ext cx="4023360" cy="1280160"/>
          </a:xfrm>
          <a:prstGeom prst="roundRect">
            <a:avLst>
              <a:gd name="adj" fmla="val 5714"/>
            </a:avLst>
          </a:prstGeom>
          <a:solidFill>
            <a:srgbClr val="C9A227"/>
          </a:solidFill>
          <a:ln/>
        </p:spPr>
        <p:txBody>
          <a:bodyPr/>
          <a:p/>
        </p:txBody>
      </p:sp>
      <p:sp>
        <p:nvSpPr>
          <p:cNvPr id="15" name="Text 13"/>
          <p:cNvSpPr/>
          <p:nvPr/>
        </p:nvSpPr>
        <p:spPr>
          <a:xfrm>
            <a:off x="7818120" y="3822192"/>
            <a:ext cx="3657600" cy="274320"/>
          </a:xfrm>
          <a:prstGeom prst="rect">
            <a:avLst/>
          </a:prstGeom>
          <a:noFill/>
          <a:ln/>
        </p:spPr>
        <p:txBody>
          <a:bodyPr wrap="square" rtlCol="0" anchor="ctr"/>
          <a:lstStyle/>
          <a:p>
            <a:pPr indent="0" marL="0">
              <a:buNone/>
            </a:pPr>
            <a:r>
              <a:rPr lang="en-US" sz="1100" b="1" spc="200" kern="0" dirty="0">
                <a:solidFill>
                  <a:srgbClr val="1F3A5F"/>
                </a:solidFill>
                <a:latin typeface="Trebuchet MS" pitchFamily="34" charset="0"/>
                <a:ea typeface="Trebuchet MS" pitchFamily="34" charset="-122"/>
                <a:cs typeface="Trebuchet MS" pitchFamily="34" charset="-120"/>
              </a:rPr>
              <a:t>ANALYZE</a:t>
            </a:r>
            <a:endParaRPr lang="en-US" sz="1100" dirty="0"/>
          </a:p>
        </p:txBody>
      </p:sp>
      <p:sp>
        <p:nvSpPr>
          <p:cNvPr id="16" name="Text 14"/>
          <p:cNvSpPr/>
          <p:nvPr/>
        </p:nvSpPr>
        <p:spPr>
          <a:xfrm>
            <a:off x="7818120" y="4123944"/>
            <a:ext cx="3611880" cy="749808"/>
          </a:xfrm>
          <a:prstGeom prst="rect">
            <a:avLst/>
          </a:prstGeom>
          <a:noFill/>
          <a:ln/>
        </p:spPr>
        <p:txBody>
          <a:bodyPr wrap="square" rtlCol="0" anchor="t"/>
          <a:lstStyle/>
          <a:p>
            <a:pPr indent="0" marL="0">
              <a:lnSpc>
                <a:spcPct val="103000"/>
              </a:lnSpc>
              <a:buNone/>
            </a:pPr>
            <a:r>
              <a:rPr lang="en-US" sz="1250" b="1" dirty="0">
                <a:solidFill>
                  <a:srgbClr val="1F3A5F"/>
                </a:solidFill>
                <a:latin typeface="Calibri" pitchFamily="34" charset="0"/>
                <a:ea typeface="Calibri" pitchFamily="34" charset="-122"/>
                <a:cs typeface="Calibri" pitchFamily="34" charset="-120"/>
              </a:rPr>
              <a:t>What problem was the Pendleton Act designed to address?</a:t>
            </a:r>
            <a:endParaRPr lang="en-US" sz="1250" dirty="0"/>
          </a:p>
        </p:txBody>
      </p:sp>
      <p:sp>
        <p:nvSpPr>
          <p:cNvPr id="17" name="Shape 15"/>
          <p:cNvSpPr/>
          <p:nvPr/>
        </p:nvSpPr>
        <p:spPr>
          <a:xfrm>
            <a:off x="548640" y="5120640"/>
            <a:ext cx="11064240" cy="841248"/>
          </a:xfrm>
          <a:prstGeom prst="rect">
            <a:avLst/>
          </a:prstGeom>
          <a:solidFill>
            <a:srgbClr val="FFFFFF"/>
          </a:solidFill>
          <a:ln w="15875">
            <a:solidFill>
              <a:srgbClr val="002858"/>
            </a:solidFill>
            <a:prstDash val="solid"/>
          </a:ln>
        </p:spPr>
        <p:txBody>
          <a:bodyPr/>
          <a:p/>
        </p:txBody>
      </p:sp>
      <p:sp>
        <p:nvSpPr>
          <p:cNvPr id="18" name="Shape 16"/>
          <p:cNvSpPr/>
          <p:nvPr/>
        </p:nvSpPr>
        <p:spPr>
          <a:xfrm>
            <a:off x="548640" y="5120640"/>
            <a:ext cx="2423160" cy="841248"/>
          </a:xfrm>
          <a:prstGeom prst="rect">
            <a:avLst/>
          </a:prstGeom>
          <a:solidFill>
            <a:srgbClr val="002858"/>
          </a:solidFill>
          <a:ln/>
        </p:spPr>
        <p:txBody>
          <a:bodyPr/>
          <a:p/>
        </p:txBody>
      </p:sp>
      <p:sp>
        <p:nvSpPr>
          <p:cNvPr id="19" name="Text 17"/>
          <p:cNvSpPr/>
          <p:nvPr/>
        </p:nvSpPr>
        <p:spPr>
          <a:xfrm>
            <a:off x="658368" y="5239512"/>
            <a:ext cx="2194560" cy="274320"/>
          </a:xfrm>
          <a:prstGeom prst="rect">
            <a:avLst/>
          </a:prstGeom>
          <a:noFill/>
          <a:ln/>
        </p:spPr>
        <p:txBody>
          <a:bodyPr wrap="square" rtlCol="0" anchor="ctr"/>
          <a:lstStyle/>
          <a:p>
            <a:pPr indent="0" marL="0">
              <a:buNone/>
            </a:pPr>
            <a:r>
              <a:rPr lang="en-US" sz="1250" b="1" spc="100" kern="0" dirty="0">
                <a:solidFill>
                  <a:srgbClr val="FFFFFF"/>
                </a:solidFill>
                <a:latin typeface="Trebuchet MS" pitchFamily="34" charset="0"/>
                <a:ea typeface="Trebuchet MS" pitchFamily="34" charset="-122"/>
                <a:cs typeface="Trebuchet MS" pitchFamily="34" charset="-120"/>
              </a:rPr>
              <a:t>SOURCE IT</a:t>
            </a:r>
            <a:endParaRPr lang="en-US" sz="1250" dirty="0"/>
          </a:p>
        </p:txBody>
      </p:sp>
      <p:sp>
        <p:nvSpPr>
          <p:cNvPr id="20" name="Text 18"/>
          <p:cNvSpPr/>
          <p:nvPr/>
        </p:nvSpPr>
        <p:spPr>
          <a:xfrm>
            <a:off x="658368" y="5486400"/>
            <a:ext cx="2194560" cy="274320"/>
          </a:xfrm>
          <a:prstGeom prst="rect">
            <a:avLst/>
          </a:prstGeom>
          <a:noFill/>
          <a:ln/>
        </p:spPr>
        <p:txBody>
          <a:bodyPr wrap="square" rtlCol="0" anchor="ctr"/>
          <a:lstStyle/>
          <a:p>
            <a:pPr indent="0" marL="0">
              <a:buNone/>
            </a:pPr>
            <a:r>
              <a:rPr lang="en-US" sz="1250" b="1" spc="100" kern="0" dirty="0">
                <a:solidFill>
                  <a:srgbClr val="F9A825"/>
                </a:solidFill>
                <a:latin typeface="Trebuchet MS" pitchFamily="34" charset="0"/>
                <a:ea typeface="Trebuchet MS" pitchFamily="34" charset="-122"/>
                <a:cs typeface="Trebuchet MS" pitchFamily="34" charset="-120"/>
              </a:rPr>
              <a:t>FIRST</a:t>
            </a:r>
            <a:endParaRPr lang="en-US" sz="1250" dirty="0"/>
          </a:p>
        </p:txBody>
      </p:sp>
      <p:sp>
        <p:nvSpPr>
          <p:cNvPr id="21" name="Text 19"/>
          <p:cNvSpPr/>
          <p:nvPr/>
        </p:nvSpPr>
        <p:spPr>
          <a:xfrm>
            <a:off x="658368" y="5724144"/>
            <a:ext cx="2240280" cy="201168"/>
          </a:xfrm>
          <a:prstGeom prst="rect">
            <a:avLst/>
          </a:prstGeom>
          <a:noFill/>
          <a:ln/>
        </p:spPr>
        <p:txBody>
          <a:bodyPr wrap="square" rtlCol="0" anchor="ctr"/>
          <a:lstStyle/>
          <a:p>
            <a:pPr indent="0" marL="0">
              <a:buNone/>
            </a:pPr>
            <a:r>
              <a:rPr lang="en-US" sz="900" i="1" dirty="0">
                <a:solidFill>
                  <a:srgbClr val="C7D4E0"/>
                </a:solidFill>
                <a:latin typeface="Calibri" pitchFamily="34" charset="0"/>
                <a:ea typeface="Calibri" pitchFamily="34" charset="-122"/>
                <a:cs typeface="Calibri" pitchFamily="34" charset="-120"/>
              </a:rPr>
              <a:t>SSP.02 · before you interpret</a:t>
            </a:r>
            <a:endParaRPr lang="en-US" sz="750" dirty="0"/>
          </a:p>
        </p:txBody>
      </p:sp>
      <p:sp>
        <p:nvSpPr>
          <p:cNvPr id="22" name="Text 20"/>
          <p:cNvSpPr/>
          <p:nvPr/>
        </p:nvSpPr>
        <p:spPr>
          <a:xfrm>
            <a:off x="315468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WHO made it?</a:t>
            </a:r>
            <a:endParaRPr lang="en-US" sz="900" dirty="0"/>
          </a:p>
        </p:txBody>
      </p:sp>
      <p:sp>
        <p:nvSpPr>
          <p:cNvPr id="23" name="Text 21"/>
          <p:cNvSpPr/>
          <p:nvPr/>
        </p:nvSpPr>
        <p:spPr>
          <a:xfrm>
            <a:off x="3154680" y="5431536"/>
            <a:ext cx="2743200" cy="457200"/>
          </a:xfrm>
          <a:prstGeom prst="rect">
            <a:avLst/>
          </a:prstGeom>
          <a:noFill/>
          <a:ln/>
        </p:spPr>
        <p:txBody>
          <a:bodyPr wrap="square" rtlCol="0" anchor="t"/>
          <a:lstStyle/>
          <a:p>
            <a:pPr indent="0" marL="0">
              <a:lnSpc>
                <a:spcPct val="98000"/>
              </a:lnSpc>
              <a:buNone/>
            </a:pPr>
            <a:r>
              <a:rPr lang="en-US" sz="950" dirty="0">
                <a:solidFill>
                  <a:srgbClr val="1F2430"/>
                </a:solidFill>
                <a:latin typeface="Calibri" pitchFamily="34" charset="0"/>
                <a:ea typeface="Calibri" pitchFamily="34" charset="-122"/>
                <a:cs typeface="Calibri" pitchFamily="34" charset="-120"/>
              </a:rPr>
              <a:t>U.S. Congress (the Pendleton Civil Service Act).</a:t>
            </a:r>
            <a:endParaRPr lang="en-US" sz="950" dirty="0"/>
          </a:p>
        </p:txBody>
      </p:sp>
      <p:sp>
        <p:nvSpPr>
          <p:cNvPr id="24" name="Text 22"/>
          <p:cNvSpPr/>
          <p:nvPr/>
        </p:nvSpPr>
        <p:spPr>
          <a:xfrm>
            <a:off x="594360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WHEN?</a:t>
            </a:r>
            <a:endParaRPr lang="en-US" sz="900" dirty="0"/>
          </a:p>
        </p:txBody>
      </p:sp>
      <p:sp>
        <p:nvSpPr>
          <p:cNvPr id="25" name="Text 23"/>
          <p:cNvSpPr/>
          <p:nvPr/>
        </p:nvSpPr>
        <p:spPr>
          <a:xfrm>
            <a:off x="5943600" y="5431536"/>
            <a:ext cx="2743200" cy="457200"/>
          </a:xfrm>
          <a:prstGeom prst="rect">
            <a:avLst/>
          </a:prstGeom>
          <a:noFill/>
          <a:ln/>
        </p:spPr>
        <p:txBody>
          <a:bodyPr wrap="square" rtlCol="0" anchor="t"/>
          <a:lstStyle/>
          <a:p>
            <a:pPr indent="0" marL="0">
              <a:lnSpc>
                <a:spcPct val="98000"/>
              </a:lnSpc>
              <a:buNone/>
            </a:pPr>
            <a:r>
              <a:rPr lang="en-US" sz="950" dirty="0">
                <a:solidFill>
                  <a:srgbClr val="1F2430"/>
                </a:solidFill>
                <a:latin typeface="Calibri" pitchFamily="34" charset="0"/>
                <a:ea typeface="Calibri" pitchFamily="34" charset="-122"/>
                <a:cs typeface="Calibri" pitchFamily="34" charset="-120"/>
              </a:rPr>
              <a:t>1883.</a:t>
            </a:r>
            <a:endParaRPr lang="en-US" sz="950" dirty="0"/>
          </a:p>
        </p:txBody>
      </p:sp>
      <p:sp>
        <p:nvSpPr>
          <p:cNvPr id="26" name="Text 24"/>
          <p:cNvSpPr/>
          <p:nvPr/>
        </p:nvSpPr>
        <p:spPr>
          <a:xfrm>
            <a:off x="873252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WHY does it matter?</a:t>
            </a:r>
            <a:endParaRPr lang="en-US" sz="900" dirty="0"/>
          </a:p>
        </p:txBody>
      </p:sp>
      <p:sp>
        <p:nvSpPr>
          <p:cNvPr id="27" name="Text 25"/>
          <p:cNvSpPr/>
          <p:nvPr/>
        </p:nvSpPr>
        <p:spPr>
          <a:xfrm>
            <a:off x="8732520" y="5431536"/>
            <a:ext cx="2743200" cy="457200"/>
          </a:xfrm>
          <a:prstGeom prst="rect">
            <a:avLst/>
          </a:prstGeom>
          <a:noFill/>
          <a:ln/>
        </p:spPr>
        <p:txBody>
          <a:bodyPr wrap="square" rtlCol="0" anchor="t"/>
          <a:lstStyle/>
          <a:p>
            <a:pPr indent="0" marL="0">
              <a:lnSpc>
                <a:spcPct val="98000"/>
              </a:lnSpc>
              <a:buNone/>
            </a:pPr>
            <a:r>
              <a:rPr lang="en-US" sz="950" dirty="0">
                <a:solidFill>
                  <a:srgbClr val="1F2430"/>
                </a:solidFill>
                <a:latin typeface="Calibri" pitchFamily="34" charset="0"/>
                <a:ea typeface="Calibri" pitchFamily="34" charset="-122"/>
                <a:cs typeface="Calibri" pitchFamily="34" charset="-120"/>
              </a:rPr>
              <a:t>A reform law tells you what problem lawmakers were trying to fix.</a:t>
            </a:r>
            <a:endParaRPr lang="en-US" sz="950" dirty="0"/>
          </a:p>
        </p:txBody>
      </p:sp>
      <p:sp>
        <p:nvSpPr>
          <p:cNvPr id="28" name="Text 26"/>
          <p:cNvSpPr/>
          <p:nvPr/>
        </p:nvSpPr>
        <p:spPr>
          <a:xfrm>
            <a:off x="548640" y="6053328"/>
            <a:ext cx="6858000" cy="274320"/>
          </a:xfrm>
          <a:prstGeom prst="rect">
            <a:avLst/>
          </a:prstGeom>
          <a:noFill/>
          <a:ln/>
        </p:spPr>
        <p:txBody>
          <a:bodyPr wrap="square" rtlCol="0" anchor="ctr"/>
          <a:lstStyle/>
          <a:p>
            <a:pPr algn="l" indent="0" marL="0">
              <a:buNone/>
            </a:pPr>
            <a:r>
              <a:rPr lang="en-US" sz="900" dirty="0">
                <a:solidFill>
                  <a:srgbClr val="5C6470"/>
                </a:solidFill>
                <a:latin typeface="Calibri" pitchFamily="34" charset="0"/>
                <a:ea typeface="Calibri" pitchFamily="34" charset="-122"/>
                <a:cs typeface="Calibri" pitchFamily="34" charset="-120"/>
              </a:rPr>
              <a:t>Source: </a:t>
            </a:r>
            <a:pPr algn="l" indent="0" marL="0">
              <a:buNone/>
            </a:pPr>
            <a:r>
              <a:rPr lang="en-US" sz="900" i="1" u="sng" dirty="0">
                <a:solidFill>
                  <a:srgbClr val="00285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National Archives</a:t>
            </a:r>
            <a:endParaRPr lang="en-US" sz="900" dirty="0"/>
          </a:p>
        </p:txBody>
      </p:sp>
      <p:sp>
        <p:nvSpPr>
          <p:cNvPr id="30" name="Text 27"/>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1" name="Text 2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57</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7">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F3A5F"/>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B22234"/>
                </a:solidFill>
                <a:latin typeface="Trebuchet MS" pitchFamily="34" charset="0"/>
                <a:ea typeface="Trebuchet MS" pitchFamily="34" charset="-122"/>
                <a:cs typeface="Trebuchet MS" pitchFamily="34" charset="-120"/>
              </a:rPr>
              <a:t>US.04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F3A5F"/>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txBody>
          <a:bodyPr/>
          <a:p/>
        </p:txBody>
      </p:sp>
      <p:sp>
        <p:nvSpPr>
          <p:cNvPr id="6" name="Shape 4"/>
          <p:cNvSpPr/>
          <p:nvPr/>
        </p:nvSpPr>
        <p:spPr>
          <a:xfrm>
            <a:off x="548640" y="1645920"/>
            <a:ext cx="5486400" cy="676656"/>
          </a:xfrm>
          <a:prstGeom prst="rect">
            <a:avLst/>
          </a:prstGeom>
          <a:solidFill>
            <a:srgbClr val="1F3A5F"/>
          </a:solidFill>
          <a:ln/>
        </p:spPr>
        <p:txBody>
          <a:bodyPr/>
          <a:p/>
        </p:txBody>
      </p:sp>
      <p:sp>
        <p:nvSpPr>
          <p:cNvPr id="7" name="Text 5"/>
          <p:cNvSpPr/>
          <p:nvPr/>
        </p:nvSpPr>
        <p:spPr>
          <a:xfrm>
            <a:off x="685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Gilded Age</a:t>
            </a:r>
            <a:endParaRPr lang="en-US" sz="1350" dirty="0"/>
          </a:p>
        </p:txBody>
      </p:sp>
      <p:sp>
        <p:nvSpPr>
          <p:cNvPr id="8" name="Text 6"/>
          <p:cNvSpPr/>
          <p:nvPr/>
        </p:nvSpPr>
        <p:spPr>
          <a:xfrm>
            <a:off x="3703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Edad Dorada</a:t>
            </a:r>
            <a:endParaRPr lang="en-US" sz="1000" dirty="0"/>
          </a:p>
        </p:txBody>
      </p:sp>
      <p:sp>
        <p:nvSpPr>
          <p:cNvPr id="11" name="Text 9"/>
          <p:cNvSpPr/>
          <p:nvPr/>
        </p:nvSpPr>
        <p:spPr>
          <a:xfrm>
            <a:off x="667512" y="2395728"/>
            <a:ext cx="5239512"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period from roughly 1870 to 1900 characterized by rapid economic growth, industrialization, and extreme wealth inequality. Named by Mark Twain to suggest that a thin layer of prosperity covered deep social…</a:t>
            </a:r>
            <a:endParaRPr lang="en-US" sz="1100" dirty="0"/>
          </a:p>
        </p:txBody>
      </p:sp>
      <p:sp>
        <p:nvSpPr>
          <p:cNvPr id="12" name="Shape 10"/>
          <p:cNvSpPr/>
          <p:nvPr/>
        </p:nvSpPr>
        <p:spPr>
          <a:xfrm>
            <a:off x="6263640" y="1645920"/>
            <a:ext cx="5486400" cy="1261872"/>
          </a:xfrm>
          <a:prstGeom prst="rect">
            <a:avLst/>
          </a:prstGeom>
          <a:solidFill>
            <a:srgbClr val="FFFFFF"/>
          </a:solidFill>
          <a:ln w="12700">
            <a:solidFill>
              <a:srgbClr val="DAD3C2"/>
            </a:solidFill>
            <a:prstDash val="solid"/>
          </a:ln>
        </p:spPr>
        <p:txBody>
          <a:bodyPr/>
          <a:p/>
        </p:txBody>
      </p:sp>
      <p:sp>
        <p:nvSpPr>
          <p:cNvPr id="13" name="Shape 11"/>
          <p:cNvSpPr/>
          <p:nvPr/>
        </p:nvSpPr>
        <p:spPr>
          <a:xfrm>
            <a:off x="6263640" y="1645920"/>
            <a:ext cx="5486400" cy="676656"/>
          </a:xfrm>
          <a:prstGeom prst="rect">
            <a:avLst/>
          </a:prstGeom>
          <a:solidFill>
            <a:srgbClr val="1F3A5F"/>
          </a:solidFill>
          <a:ln/>
        </p:spPr>
        <p:txBody>
          <a:bodyPr/>
          <a:p/>
        </p:txBody>
      </p:sp>
      <p:sp>
        <p:nvSpPr>
          <p:cNvPr id="14" name="Text 12"/>
          <p:cNvSpPr/>
          <p:nvPr/>
        </p:nvSpPr>
        <p:spPr>
          <a:xfrm>
            <a:off x="6400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Political Machines</a:t>
            </a:r>
            <a:endParaRPr lang="en-US" sz="1350" dirty="0"/>
          </a:p>
        </p:txBody>
      </p:sp>
      <p:sp>
        <p:nvSpPr>
          <p:cNvPr id="15" name="Text 13"/>
          <p:cNvSpPr/>
          <p:nvPr/>
        </p:nvSpPr>
        <p:spPr>
          <a:xfrm>
            <a:off x="9418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Máquinas Políticas</a:t>
            </a:r>
            <a:endParaRPr lang="en-US" sz="1000" dirty="0"/>
          </a:p>
        </p:txBody>
      </p:sp>
      <p:sp>
        <p:nvSpPr>
          <p:cNvPr id="18" name="Text 16"/>
          <p:cNvSpPr/>
          <p:nvPr/>
        </p:nvSpPr>
        <p:spPr>
          <a:xfrm>
            <a:off x="6382512" y="2395728"/>
            <a:ext cx="5239512"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Corrupt organizations that controlled city politics through patronage, bribery, and vote manipulation, often providing services to immigrants in exchange for political support.</a:t>
            </a:r>
            <a:endParaRPr lang="en-US" sz="1100" dirty="0"/>
          </a:p>
        </p:txBody>
      </p:sp>
      <p:sp>
        <p:nvSpPr>
          <p:cNvPr id="19" name="Shape 17"/>
          <p:cNvSpPr/>
          <p:nvPr/>
        </p:nvSpPr>
        <p:spPr>
          <a:xfrm>
            <a:off x="548640" y="3072384"/>
            <a:ext cx="5486400" cy="1261872"/>
          </a:xfrm>
          <a:prstGeom prst="rect">
            <a:avLst/>
          </a:prstGeom>
          <a:solidFill>
            <a:srgbClr val="FFFFFF"/>
          </a:solidFill>
          <a:ln w="12700">
            <a:solidFill>
              <a:srgbClr val="DAD3C2"/>
            </a:solidFill>
            <a:prstDash val="solid"/>
          </a:ln>
        </p:spPr>
        <p:txBody>
          <a:bodyPr/>
          <a:p/>
        </p:txBody>
      </p:sp>
      <p:sp>
        <p:nvSpPr>
          <p:cNvPr id="20" name="Shape 18"/>
          <p:cNvSpPr/>
          <p:nvPr/>
        </p:nvSpPr>
        <p:spPr>
          <a:xfrm>
            <a:off x="548640" y="3072384"/>
            <a:ext cx="5486400" cy="676656"/>
          </a:xfrm>
          <a:prstGeom prst="rect">
            <a:avLst/>
          </a:prstGeom>
          <a:solidFill>
            <a:srgbClr val="1F3A5F"/>
          </a:solidFill>
          <a:ln/>
        </p:spPr>
        <p:txBody>
          <a:bodyPr/>
          <a:p/>
        </p:txBody>
      </p:sp>
      <p:sp>
        <p:nvSpPr>
          <p:cNvPr id="21" name="Text 19"/>
          <p:cNvSpPr/>
          <p:nvPr/>
        </p:nvSpPr>
        <p:spPr>
          <a:xfrm>
            <a:off x="685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Spoils System</a:t>
            </a:r>
            <a:endParaRPr lang="en-US" sz="1350" dirty="0"/>
          </a:p>
        </p:txBody>
      </p:sp>
      <p:sp>
        <p:nvSpPr>
          <p:cNvPr id="22" name="Text 20"/>
          <p:cNvSpPr/>
          <p:nvPr/>
        </p:nvSpPr>
        <p:spPr>
          <a:xfrm>
            <a:off x="3703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Sistema de Botín</a:t>
            </a:r>
            <a:endParaRPr lang="en-US" sz="1000" dirty="0"/>
          </a:p>
        </p:txBody>
      </p:sp>
      <p:sp>
        <p:nvSpPr>
          <p:cNvPr id="25" name="Text 23"/>
          <p:cNvSpPr/>
          <p:nvPr/>
        </p:nvSpPr>
        <p:spPr>
          <a:xfrm>
            <a:off x="667512" y="3822192"/>
            <a:ext cx="5239512"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practice of rewarding political supporters with government jobs regardless of qualifications, based on the principle "to the victor belong the spoils."</a:t>
            </a:r>
            <a:endParaRPr lang="en-US" sz="1100" dirty="0"/>
          </a:p>
        </p:txBody>
      </p:sp>
      <p:sp>
        <p:nvSpPr>
          <p:cNvPr id="26" name="Shape 24"/>
          <p:cNvSpPr/>
          <p:nvPr/>
        </p:nvSpPr>
        <p:spPr>
          <a:xfrm>
            <a:off x="6263640" y="3072384"/>
            <a:ext cx="5486400" cy="1261872"/>
          </a:xfrm>
          <a:prstGeom prst="rect">
            <a:avLst/>
          </a:prstGeom>
          <a:solidFill>
            <a:srgbClr val="FFFFFF"/>
          </a:solidFill>
          <a:ln w="12700">
            <a:solidFill>
              <a:srgbClr val="DAD3C2"/>
            </a:solidFill>
            <a:prstDash val="solid"/>
          </a:ln>
        </p:spPr>
        <p:txBody>
          <a:bodyPr/>
          <a:p/>
        </p:txBody>
      </p:sp>
      <p:sp>
        <p:nvSpPr>
          <p:cNvPr id="27" name="Shape 25"/>
          <p:cNvSpPr/>
          <p:nvPr/>
        </p:nvSpPr>
        <p:spPr>
          <a:xfrm>
            <a:off x="6263640" y="3072384"/>
            <a:ext cx="5486400" cy="676656"/>
          </a:xfrm>
          <a:prstGeom prst="rect">
            <a:avLst/>
          </a:prstGeom>
          <a:solidFill>
            <a:srgbClr val="1F3A5F"/>
          </a:solidFill>
          <a:ln/>
        </p:spPr>
        <p:txBody>
          <a:bodyPr/>
          <a:p/>
        </p:txBody>
      </p:sp>
      <p:sp>
        <p:nvSpPr>
          <p:cNvPr id="28" name="Text 26"/>
          <p:cNvSpPr/>
          <p:nvPr/>
        </p:nvSpPr>
        <p:spPr>
          <a:xfrm>
            <a:off x="6400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Boss Tweed</a:t>
            </a:r>
            <a:endParaRPr lang="en-US" sz="1350" dirty="0"/>
          </a:p>
        </p:txBody>
      </p:sp>
      <p:sp>
        <p:nvSpPr>
          <p:cNvPr id="29" name="Text 27"/>
          <p:cNvSpPr/>
          <p:nvPr/>
        </p:nvSpPr>
        <p:spPr>
          <a:xfrm>
            <a:off x="9418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Jefe Tweed</a:t>
            </a:r>
            <a:endParaRPr lang="en-US" sz="1000" dirty="0"/>
          </a:p>
        </p:txBody>
      </p:sp>
      <p:sp>
        <p:nvSpPr>
          <p:cNvPr id="32" name="Text 30"/>
          <p:cNvSpPr/>
          <p:nvPr/>
        </p:nvSpPr>
        <p:spPr>
          <a:xfrm>
            <a:off x="6382512" y="3822192"/>
            <a:ext cx="5239512"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William M. Tweed, leader of New York City's Tammany Hall political machine, who controlled city politics and stole millions through kickbacks and corruption in the 1860s-1870s.</a:t>
            </a:r>
            <a:endParaRPr lang="en-US" sz="1100" dirty="0"/>
          </a:p>
        </p:txBody>
      </p:sp>
      <p:sp>
        <p:nvSpPr>
          <p:cNvPr id="33" name="Shape 31"/>
          <p:cNvSpPr/>
          <p:nvPr/>
        </p:nvSpPr>
        <p:spPr>
          <a:xfrm>
            <a:off x="548640" y="4498848"/>
            <a:ext cx="5486400" cy="1261872"/>
          </a:xfrm>
          <a:prstGeom prst="rect">
            <a:avLst/>
          </a:prstGeom>
          <a:solidFill>
            <a:srgbClr val="FFFFFF"/>
          </a:solidFill>
          <a:ln w="12700">
            <a:solidFill>
              <a:srgbClr val="DAD3C2"/>
            </a:solidFill>
            <a:prstDash val="solid"/>
          </a:ln>
        </p:spPr>
        <p:txBody>
          <a:bodyPr/>
          <a:p/>
        </p:txBody>
      </p:sp>
      <p:sp>
        <p:nvSpPr>
          <p:cNvPr id="34" name="Shape 32"/>
          <p:cNvSpPr/>
          <p:nvPr/>
        </p:nvSpPr>
        <p:spPr>
          <a:xfrm>
            <a:off x="548640" y="4498848"/>
            <a:ext cx="5486400" cy="676656"/>
          </a:xfrm>
          <a:prstGeom prst="rect">
            <a:avLst/>
          </a:prstGeom>
          <a:solidFill>
            <a:srgbClr val="1F3A5F"/>
          </a:solidFill>
          <a:ln/>
        </p:spPr>
        <p:txBody>
          <a:bodyPr/>
          <a:p/>
        </p:txBody>
      </p:sp>
      <p:sp>
        <p:nvSpPr>
          <p:cNvPr id="35" name="Text 33"/>
          <p:cNvSpPr/>
          <p:nvPr/>
        </p:nvSpPr>
        <p:spPr>
          <a:xfrm>
            <a:off x="685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Thomas Nast</a:t>
            </a:r>
            <a:endParaRPr lang="en-US" sz="1350" dirty="0"/>
          </a:p>
        </p:txBody>
      </p:sp>
      <p:sp>
        <p:nvSpPr>
          <p:cNvPr id="36" name="Text 34"/>
          <p:cNvSpPr/>
          <p:nvPr/>
        </p:nvSpPr>
        <p:spPr>
          <a:xfrm>
            <a:off x="3703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Thomas Nast</a:t>
            </a:r>
            <a:endParaRPr lang="en-US" sz="1000" dirty="0"/>
          </a:p>
        </p:txBody>
      </p:sp>
      <p:sp>
        <p:nvSpPr>
          <p:cNvPr id="39" name="Text 37"/>
          <p:cNvSpPr/>
          <p:nvPr/>
        </p:nvSpPr>
        <p:spPr>
          <a:xfrm>
            <a:off x="667512" y="5248656"/>
            <a:ext cx="5239512"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political cartoonist whose illustrations exposed Boss Tweed's corruption and helped bring down the Tammany Hall machine, demonstrating the power of the press.</a:t>
            </a:r>
            <a:endParaRPr lang="en-US" sz="1100" dirty="0"/>
          </a:p>
        </p:txBody>
      </p:sp>
      <p:sp>
        <p:nvSpPr>
          <p:cNvPr id="40" name="Shape 38"/>
          <p:cNvSpPr/>
          <p:nvPr/>
        </p:nvSpPr>
        <p:spPr>
          <a:xfrm>
            <a:off x="6263640" y="4498848"/>
            <a:ext cx="5486400" cy="1261872"/>
          </a:xfrm>
          <a:prstGeom prst="rect">
            <a:avLst/>
          </a:prstGeom>
          <a:solidFill>
            <a:srgbClr val="FFFFFF"/>
          </a:solidFill>
          <a:ln w="12700">
            <a:solidFill>
              <a:srgbClr val="DAD3C2"/>
            </a:solidFill>
            <a:prstDash val="solid"/>
          </a:ln>
        </p:spPr>
        <p:txBody>
          <a:bodyPr/>
          <a:p/>
        </p:txBody>
      </p:sp>
      <p:sp>
        <p:nvSpPr>
          <p:cNvPr id="41" name="Shape 39"/>
          <p:cNvSpPr/>
          <p:nvPr/>
        </p:nvSpPr>
        <p:spPr>
          <a:xfrm>
            <a:off x="6263640" y="4498848"/>
            <a:ext cx="5486400" cy="676656"/>
          </a:xfrm>
          <a:prstGeom prst="rect">
            <a:avLst/>
          </a:prstGeom>
          <a:solidFill>
            <a:srgbClr val="1F3A5F"/>
          </a:solidFill>
          <a:ln/>
        </p:spPr>
        <p:txBody>
          <a:bodyPr/>
          <a:p/>
        </p:txBody>
      </p:sp>
      <p:sp>
        <p:nvSpPr>
          <p:cNvPr id="42" name="Text 40"/>
          <p:cNvSpPr/>
          <p:nvPr/>
        </p:nvSpPr>
        <p:spPr>
          <a:xfrm>
            <a:off x="6400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Pendleton Act</a:t>
            </a:r>
            <a:endParaRPr lang="en-US" sz="1350" dirty="0"/>
          </a:p>
        </p:txBody>
      </p:sp>
      <p:sp>
        <p:nvSpPr>
          <p:cNvPr id="43" name="Text 41"/>
          <p:cNvSpPr/>
          <p:nvPr/>
        </p:nvSpPr>
        <p:spPr>
          <a:xfrm>
            <a:off x="9418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Ley Pendleton</a:t>
            </a:r>
            <a:endParaRPr lang="en-US" sz="1000" dirty="0"/>
          </a:p>
        </p:txBody>
      </p:sp>
      <p:sp>
        <p:nvSpPr>
          <p:cNvPr id="46" name="Text 44"/>
          <p:cNvSpPr/>
          <p:nvPr/>
        </p:nvSpPr>
        <p:spPr>
          <a:xfrm>
            <a:off x="6382512" y="5248656"/>
            <a:ext cx="5239512"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An 1883 federal law that established the Civil Service Commission and required government jobs to be awarded based on merit through competitive examinations rather than political connections.</a:t>
            </a:r>
            <a:endParaRPr lang="en-US" sz="1100" dirty="0"/>
          </a:p>
        </p:txBody>
      </p:sp>
      <p:sp>
        <p:nvSpPr>
          <p:cNvPr id="47" name="Text 45"/>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48" name="Text 46"/>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49" name="Text 4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58</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8">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F3A5F"/>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B22234"/>
                </a:solidFill>
                <a:latin typeface="Trebuchet MS" pitchFamily="34" charset="0"/>
                <a:ea typeface="Trebuchet MS" pitchFamily="34" charset="-122"/>
                <a:cs typeface="Trebuchet MS" pitchFamily="34" charset="-120"/>
              </a:rPr>
              <a:t>US.04 · GUIDED PRACTICE — WE DO IT TOGETHER</a:t>
            </a:r>
            <a:endParaRPr lang="en-US" sz="1200" dirty="0"/>
          </a:p>
        </p:txBody>
      </p:sp>
      <p:sp>
        <p:nvSpPr>
          <p:cNvPr id="4" name="Text 2"/>
          <p:cNvSpPr/>
          <p:nvPr/>
        </p:nvSpPr>
        <p:spPr>
          <a:xfrm>
            <a:off x="548640" y="731520"/>
            <a:ext cx="8595360" cy="640080"/>
          </a:xfrm>
          <a:prstGeom prst="rect">
            <a:avLst/>
          </a:prstGeom>
          <a:noFill/>
          <a:ln/>
        </p:spPr>
        <p:txBody>
          <a:bodyPr wrap="square" rtlCol="0" anchor="t"/>
          <a:lstStyle/>
          <a:p>
            <a:pPr indent="0" marL="0">
              <a:buNone/>
            </a:pPr>
            <a:r>
              <a:rPr lang="en-US" sz="2900" b="1" dirty="0">
                <a:solidFill>
                  <a:srgbClr val="1F3A5F"/>
                </a:solidFill>
                <a:latin typeface="Georgia" pitchFamily="34" charset="0"/>
                <a:ea typeface="Georgia" pitchFamily="34" charset="-122"/>
                <a:cs typeface="Georgia" pitchFamily="34" charset="-120"/>
              </a:rPr>
              <a:t>Let’s Work One Together</a:t>
            </a:r>
            <a:endParaRPr lang="en-US" sz="2900" dirty="0"/>
          </a:p>
        </p:txBody>
      </p:sp>
      <p:sp>
        <p:nvSpPr>
          <p:cNvPr id="5" name="Shape 3"/>
          <p:cNvSpPr/>
          <p:nvPr/>
        </p:nvSpPr>
        <p:spPr>
          <a:xfrm>
            <a:off x="8869680" y="822960"/>
            <a:ext cx="2743200" cy="457200"/>
          </a:xfrm>
          <a:prstGeom prst="roundRect">
            <a:avLst>
              <a:gd name="adj" fmla="val 20000"/>
            </a:avLst>
          </a:prstGeom>
          <a:solidFill>
            <a:srgbClr val="1F3A5F"/>
          </a:solidFill>
          <a:ln/>
        </p:spPr>
        <p:txBody>
          <a:bodyPr/>
          <a:p/>
        </p:txBody>
      </p:sp>
      <p:sp>
        <p:nvSpPr>
          <p:cNvPr id="6" name="Text 4"/>
          <p:cNvSpPr/>
          <p:nvPr/>
        </p:nvSpPr>
        <p:spPr>
          <a:xfrm>
            <a:off x="8869680" y="822960"/>
            <a:ext cx="274320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Reason + cost analysis</a:t>
            </a:r>
            <a:endParaRPr lang="en-US" sz="1100" dirty="0"/>
          </a:p>
        </p:txBody>
      </p:sp>
      <p:sp>
        <p:nvSpPr>
          <p:cNvPr id="7" name="Shape 5"/>
          <p:cNvSpPr/>
          <p:nvPr/>
        </p:nvSpPr>
        <p:spPr>
          <a:xfrm>
            <a:off x="548640" y="1554480"/>
            <a:ext cx="11064240" cy="868680"/>
          </a:xfrm>
          <a:prstGeom prst="roundRect">
            <a:avLst>
              <a:gd name="adj" fmla="val 8421"/>
            </a:avLst>
          </a:prstGeom>
          <a:solidFill>
            <a:srgbClr val="243047"/>
          </a:solidFill>
          <a:ln w="6350">
            <a:solidFill>
              <a:srgbClr val="A7BACB"/>
            </a:solidFill>
            <a:prstDash val="solid"/>
          </a:ln>
        </p:spPr>
        <p:txBody>
          <a:bodyPr/>
          <a:p/>
        </p:txBody>
      </p:sp>
      <p:sp>
        <p:nvSpPr>
          <p:cNvPr id="8" name="Text 6"/>
          <p:cNvSpPr/>
          <p:nvPr/>
        </p:nvSpPr>
        <p:spPr>
          <a:xfrm>
            <a:off x="822960" y="1664208"/>
            <a:ext cx="10515600" cy="640080"/>
          </a:xfrm>
          <a:prstGeom prst="rect">
            <a:avLst/>
          </a:prstGeom>
          <a:noFill/>
          <a:ln/>
        </p:spPr>
        <p:txBody>
          <a:bodyPr wrap="square" rtlCol="0" anchor="ctr"/>
          <a:lstStyle/>
          <a:p>
            <a:pPr indent="0" marL="0">
              <a:lnSpc>
                <a:spcPct val="104000"/>
              </a:lnSpc>
              <a:buNone/>
            </a:pPr>
            <a:r>
              <a:rPr lang="en-US" sz="1500" b="1" dirty="0">
                <a:solidFill>
                  <a:srgbClr val="F9A825"/>
                </a:solidFill>
                <a:latin typeface="Calibri" pitchFamily="34" charset="0"/>
                <a:ea typeface="Calibri" pitchFamily="34" charset="-122"/>
                <a:cs typeface="Calibri" pitchFamily="34" charset="-120"/>
              </a:rPr>
              <a:t>MODEL PROMPT:  </a:t>
            </a:r>
            <a:pPr indent="0" marL="0">
              <a:lnSpc>
                <a:spcPct val="104000"/>
              </a:lnSpc>
              <a:buNone/>
            </a:pPr>
            <a:r>
              <a:rPr lang="en-US" sz="1500" dirty="0">
                <a:solidFill>
                  <a:srgbClr val="FFFFFF"/>
                </a:solidFill>
                <a:latin typeface="Calibri" pitchFamily="34" charset="0"/>
                <a:ea typeface="Calibri" pitchFamily="34" charset="-122"/>
                <a:cs typeface="Calibri" pitchFamily="34" charset="-120"/>
              </a:rPr>
              <a:t>Explain why a poor immigrant might SUPPORT a corrupt political machine.</a:t>
            </a:r>
            <a:endParaRPr lang="en-US" sz="1500" dirty="0"/>
          </a:p>
        </p:txBody>
      </p:sp>
      <p:sp>
        <p:nvSpPr>
          <p:cNvPr id="9" name="Shape 7"/>
          <p:cNvSpPr/>
          <p:nvPr/>
        </p:nvSpPr>
        <p:spPr>
          <a:xfrm>
            <a:off x="548640" y="2606040"/>
            <a:ext cx="11064240" cy="1554480"/>
          </a:xfrm>
          <a:prstGeom prst="roundRect">
            <a:avLst>
              <a:gd name="adj" fmla="val 4706"/>
            </a:avLst>
          </a:prstGeom>
          <a:solidFill>
            <a:srgbClr val="C9A227"/>
          </a:solidFill>
          <a:ln/>
        </p:spPr>
        <p:txBody>
          <a:bodyPr/>
          <a:p/>
        </p:txBody>
      </p:sp>
      <p:sp>
        <p:nvSpPr>
          <p:cNvPr id="10" name="Text 8"/>
          <p:cNvSpPr/>
          <p:nvPr/>
        </p:nvSpPr>
        <p:spPr>
          <a:xfrm>
            <a:off x="822960" y="2724912"/>
            <a:ext cx="10058400" cy="292608"/>
          </a:xfrm>
          <a:prstGeom prst="rect">
            <a:avLst/>
          </a:prstGeom>
          <a:noFill/>
          <a:ln/>
        </p:spPr>
        <p:txBody>
          <a:bodyPr wrap="square" rtlCol="0" anchor="ctr"/>
          <a:lstStyle/>
          <a:p>
            <a:pPr indent="0" marL="0">
              <a:buNone/>
            </a:pPr>
            <a:r>
              <a:rPr lang="en-US" sz="1100" b="1" spc="100" kern="0" dirty="0">
                <a:solidFill>
                  <a:srgbClr val="1F3A5F"/>
                </a:solidFill>
                <a:latin typeface="Trebuchet MS" pitchFamily="34" charset="0"/>
                <a:ea typeface="Trebuchet MS" pitchFamily="34" charset="-122"/>
                <a:cs typeface="Trebuchet MS" pitchFamily="34" charset="-120"/>
              </a:rPr>
              <a:t>WORKED EXAMPLE  (teacher models this aloud)</a:t>
            </a:r>
            <a:endParaRPr lang="en-US" sz="1100" dirty="0"/>
          </a:p>
        </p:txBody>
      </p:sp>
      <p:sp>
        <p:nvSpPr>
          <p:cNvPr id="11" name="Text 9"/>
          <p:cNvSpPr/>
          <p:nvPr/>
        </p:nvSpPr>
        <p:spPr>
          <a:xfrm>
            <a:off x="822960" y="3035808"/>
            <a:ext cx="10515600" cy="1005840"/>
          </a:xfrm>
          <a:prstGeom prst="rect">
            <a:avLst/>
          </a:prstGeom>
          <a:noFill/>
          <a:ln/>
        </p:spPr>
        <p:txBody>
          <a:bodyPr wrap="square" rtlCol="0" anchor="t"/>
          <a:lstStyle/>
          <a:p>
            <a:pPr indent="0" marL="0">
              <a:lnSpc>
                <a:spcPct val="108000"/>
              </a:lnSpc>
              <a:buNone/>
            </a:pPr>
            <a:r>
              <a:rPr lang="en-US" sz="1450" b="1" dirty="0">
                <a:solidFill>
                  <a:srgbClr val="1F3A5F"/>
                </a:solidFill>
                <a:latin typeface="Calibri" pitchFamily="34" charset="0"/>
                <a:ea typeface="Calibri" pitchFamily="34" charset="-122"/>
                <a:cs typeface="Calibri" pitchFamily="34" charset="-120"/>
              </a:rPr>
              <a:t>REASON: Tweed’s machine gave new arrivals jobs, coal, and food when no one else would.  →  COST: That help was paid for with graft, rigged contracts, and higher taxes — an estimated $200 million stolen.</a:t>
            </a:r>
            <a:endParaRPr lang="en-US" sz="1450" dirty="0"/>
          </a:p>
        </p:txBody>
      </p:sp>
      <p:sp>
        <p:nvSpPr>
          <p:cNvPr id="12" name="Shape 10"/>
          <p:cNvSpPr/>
          <p:nvPr/>
        </p:nvSpPr>
        <p:spPr>
          <a:xfrm>
            <a:off x="548640" y="4297680"/>
            <a:ext cx="11064240" cy="1371600"/>
          </a:xfrm>
          <a:prstGeom prst="rect">
            <a:avLst/>
          </a:prstGeom>
          <a:solidFill>
            <a:srgbClr val="FFFFFF"/>
          </a:solidFill>
          <a:ln w="12700">
            <a:solidFill>
              <a:srgbClr val="DAD3C2"/>
            </a:solidFill>
            <a:prstDash val="solid"/>
          </a:ln>
        </p:spPr>
        <p:txBody>
          <a:bodyPr/>
          <a:p/>
        </p:txBody>
      </p:sp>
      <p:sp>
        <p:nvSpPr>
          <p:cNvPr id="13" name="Text 11"/>
          <p:cNvSpPr/>
          <p:nvPr/>
        </p:nvSpPr>
        <p:spPr>
          <a:xfrm>
            <a:off x="822960" y="4407408"/>
            <a:ext cx="4572000" cy="274320"/>
          </a:xfrm>
          <a:prstGeom prst="rect">
            <a:avLst/>
          </a:prstGeom>
          <a:noFill/>
          <a:ln/>
        </p:spPr>
        <p:txBody>
          <a:bodyPr wrap="square" rtlCol="0" anchor="ctr"/>
          <a:lstStyle/>
          <a:p>
            <a:pPr indent="0" marL="0">
              <a:buNone/>
            </a:pPr>
            <a:r>
              <a:rPr lang="en-US" sz="1100" b="1" spc="200" kern="0" dirty="0">
                <a:solidFill>
                  <a:srgbClr val="B22234"/>
                </a:solidFill>
                <a:latin typeface="Trebuchet MS" pitchFamily="34" charset="0"/>
                <a:ea typeface="Trebuchet MS" pitchFamily="34" charset="-122"/>
                <a:cs typeface="Trebuchet MS" pitchFamily="34" charset="-120"/>
              </a:rPr>
              <a:t>THINK ALOUD</a:t>
            </a:r>
            <a:endParaRPr lang="en-US" sz="1100" dirty="0"/>
          </a:p>
        </p:txBody>
      </p:sp>
      <p:sp>
        <p:nvSpPr>
          <p:cNvPr id="14" name="Text 12"/>
          <p:cNvSpPr/>
          <p:nvPr/>
        </p:nvSpPr>
        <p:spPr>
          <a:xfrm>
            <a:off x="822960" y="4700016"/>
            <a:ext cx="10515600" cy="914400"/>
          </a:xfrm>
          <a:prstGeom prst="rect">
            <a:avLst/>
          </a:prstGeom>
          <a:noFill/>
          <a:ln/>
        </p:spPr>
        <p:txBody>
          <a:bodyPr wrap="square" rtlCol="0" anchor="t"/>
          <a:lstStyle/>
          <a:p>
            <a:pPr indent="0" marL="0">
              <a:lnSpc>
                <a:spcPct val="108000"/>
              </a:lnSpc>
              <a:buNone/>
            </a:pPr>
            <a:r>
              <a:rPr lang="en-US" sz="1300" i="1" dirty="0">
                <a:solidFill>
                  <a:srgbClr val="1F2430"/>
                </a:solidFill>
                <a:latin typeface="Calibri" pitchFamily="34" charset="0"/>
                <a:ea typeface="Calibri" pitchFamily="34" charset="-122"/>
                <a:cs typeface="Calibri" pitchFamily="34" charset="-120"/>
              </a:rPr>
              <a:t>Watch how I hold two true things at once: the machine genuinely helped people AND it robbed the city. A strong answer refuses to flatten that into "machines were just bad."</a:t>
            </a:r>
            <a:endParaRPr lang="en-US" sz="1300" dirty="0"/>
          </a:p>
        </p:txBody>
      </p:sp>
      <p:sp>
        <p:nvSpPr>
          <p:cNvPr id="15" name="Text 13"/>
          <p:cNvSpPr/>
          <p:nvPr/>
        </p:nvSpPr>
        <p:spPr>
          <a:xfrm>
            <a:off x="548640" y="5779008"/>
            <a:ext cx="11064240" cy="365760"/>
          </a:xfrm>
          <a:prstGeom prst="rect">
            <a:avLst/>
          </a:prstGeom>
          <a:noFill/>
          <a:ln/>
        </p:spPr>
        <p:txBody>
          <a:bodyPr wrap="square" rtlCol="0" anchor="ctr"/>
          <a:lstStyle/>
          <a:p>
            <a:pPr indent="0" marL="0">
              <a:buNone/>
            </a:pPr>
            <a:r>
              <a:rPr lang="en-US" sz="1200" b="1" dirty="0">
                <a:solidFill>
                  <a:srgbClr val="1F3A5F"/>
                </a:solidFill>
                <a:latin typeface="Calibri" pitchFamily="34" charset="0"/>
                <a:ea typeface="Calibri" pitchFamily="34" charset="-122"/>
                <a:cs typeface="Calibri" pitchFamily="34" charset="-120"/>
              </a:rPr>
              <a:t>→ Now you try:  </a:t>
            </a:r>
            <a:pPr indent="0" marL="0">
              <a:buNone/>
            </a:pPr>
            <a:r>
              <a:rPr lang="en-US" sz="1200" i="1" dirty="0">
                <a:solidFill>
                  <a:srgbClr val="002858"/>
                </a:solidFill>
                <a:latin typeface="Calibri" pitchFamily="34" charset="0"/>
                <a:ea typeface="Calibri" pitchFamily="34" charset="-122"/>
                <a:cs typeface="Calibri" pitchFamily="34" charset="-120"/>
              </a:rPr>
              <a:t>You weigh one more machine benefit against its cost in the activity.</a:t>
            </a:r>
            <a:endParaRPr lang="en-US" sz="1200" dirty="0"/>
          </a:p>
        </p:txBody>
      </p:sp>
      <p:sp>
        <p:nvSpPr>
          <p:cNvPr id="17" name="Text 14"/>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8" name="Text 1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59</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59">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227"/>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B22234"/>
                </a:solidFill>
                <a:latin typeface="Trebuchet MS" pitchFamily="34" charset="0"/>
                <a:ea typeface="Trebuchet MS" pitchFamily="34" charset="-122"/>
                <a:cs typeface="Trebuchet MS" pitchFamily="34" charset="-120"/>
              </a:rPr>
              <a:t>US.04 · STUDENT ACTIVITY</a:t>
            </a:r>
            <a:endParaRPr lang="en-US" sz="1200" dirty="0"/>
          </a:p>
        </p:txBody>
      </p:sp>
      <p:sp>
        <p:nvSpPr>
          <p:cNvPr id="4" name="Text 2"/>
          <p:cNvSpPr/>
          <p:nvPr/>
        </p:nvSpPr>
        <p:spPr>
          <a:xfrm>
            <a:off x="548640" y="731520"/>
            <a:ext cx="11064240" cy="777240"/>
          </a:xfrm>
          <a:prstGeom prst="rect">
            <a:avLst/>
          </a:prstGeom>
          <a:noFill/>
          <a:ln/>
        </p:spPr>
        <p:txBody>
          <a:bodyPr wrap="square" rtlCol="0" anchor="t"/>
          <a:lstStyle/>
          <a:p>
            <a:pPr indent="0" marL="0">
              <a:buNone/>
            </a:pPr>
            <a:r>
              <a:rPr lang="en-US" sz="2700" b="1" dirty="0">
                <a:solidFill>
                  <a:srgbClr val="1F3A5F"/>
                </a:solidFill>
                <a:latin typeface="Georgia" pitchFamily="34" charset="0"/>
                <a:ea typeface="Georgia" pitchFamily="34" charset="-122"/>
                <a:cs typeface="Georgia" pitchFamily="34" charset="-120"/>
              </a:rPr>
              <a:t>Machine Politics: Trade-Off Analysis</a:t>
            </a:r>
            <a:endParaRPr lang="en-US" sz="2700" dirty="0"/>
          </a:p>
        </p:txBody>
      </p:sp>
      <p:sp>
        <p:nvSpPr>
          <p:cNvPr id="5" name="Shape 3"/>
          <p:cNvSpPr/>
          <p:nvPr/>
        </p:nvSpPr>
        <p:spPr>
          <a:xfrm>
            <a:off x="548640" y="1481328"/>
            <a:ext cx="1283818" cy="365760"/>
          </a:xfrm>
          <a:prstGeom prst="roundRect">
            <a:avLst>
              <a:gd name="adj" fmla="val 20000"/>
            </a:avLst>
          </a:prstGeom>
          <a:solidFill>
            <a:srgbClr val="1F3A5F"/>
          </a:solidFill>
          <a:ln/>
        </p:spPr>
        <p:txBody>
          <a:bodyPr/>
          <a:p/>
        </p:txBody>
      </p:sp>
      <p:sp>
        <p:nvSpPr>
          <p:cNvPr id="6" name="Text 4"/>
          <p:cNvSpPr/>
          <p:nvPr/>
        </p:nvSpPr>
        <p:spPr>
          <a:xfrm>
            <a:off x="548640" y="1481328"/>
            <a:ext cx="1283818"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Small groups</a:t>
            </a:r>
            <a:endParaRPr lang="en-US" sz="1050" dirty="0"/>
          </a:p>
        </p:txBody>
      </p:sp>
      <p:sp>
        <p:nvSpPr>
          <p:cNvPr id="7" name="Shape 5"/>
          <p:cNvSpPr/>
          <p:nvPr/>
        </p:nvSpPr>
        <p:spPr>
          <a:xfrm>
            <a:off x="1997050" y="1481328"/>
            <a:ext cx="779069" cy="365760"/>
          </a:xfrm>
          <a:prstGeom prst="roundRect">
            <a:avLst>
              <a:gd name="adj" fmla="val 20000"/>
            </a:avLst>
          </a:prstGeom>
          <a:solidFill>
            <a:srgbClr val="1F3A5F"/>
          </a:solidFill>
          <a:ln/>
        </p:spPr>
        <p:txBody>
          <a:bodyPr/>
          <a:p/>
        </p:txBody>
      </p:sp>
      <p:sp>
        <p:nvSpPr>
          <p:cNvPr id="8" name="Text 6"/>
          <p:cNvSpPr/>
          <p:nvPr/>
        </p:nvSpPr>
        <p:spPr>
          <a:xfrm>
            <a:off x="1997050" y="1481328"/>
            <a:ext cx="779069"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10 min</a:t>
            </a:r>
            <a:endParaRPr lang="en-US" sz="1050" dirty="0"/>
          </a:p>
        </p:txBody>
      </p:sp>
      <p:sp>
        <p:nvSpPr>
          <p:cNvPr id="9" name="Shape 7"/>
          <p:cNvSpPr/>
          <p:nvPr/>
        </p:nvSpPr>
        <p:spPr>
          <a:xfrm>
            <a:off x="548640" y="2057400"/>
            <a:ext cx="6766560" cy="2331720"/>
          </a:xfrm>
          <a:prstGeom prst="rect">
            <a:avLst/>
          </a:prstGeom>
          <a:solidFill>
            <a:srgbClr val="FFFFFF"/>
          </a:solidFill>
          <a:ln w="12700">
            <a:solidFill>
              <a:srgbClr val="DAD3C2"/>
            </a:solidFill>
            <a:prstDash val="solid"/>
          </a:ln>
        </p:spPr>
        <p:txBody>
          <a:bodyPr/>
          <a:p/>
        </p:txBody>
      </p:sp>
      <p:sp>
        <p:nvSpPr>
          <p:cNvPr id="10" name="Text 8"/>
          <p:cNvSpPr/>
          <p:nvPr/>
        </p:nvSpPr>
        <p:spPr>
          <a:xfrm>
            <a:off x="822960" y="2194560"/>
            <a:ext cx="4572000" cy="274320"/>
          </a:xfrm>
          <a:prstGeom prst="rect">
            <a:avLst/>
          </a:prstGeom>
          <a:noFill/>
          <a:ln/>
        </p:spPr>
        <p:txBody>
          <a:bodyPr wrap="square" rtlCol="0" anchor="ctr"/>
          <a:lstStyle/>
          <a:p>
            <a:pPr indent="0" marL="0">
              <a:buNone/>
            </a:pPr>
            <a:r>
              <a:rPr lang="en-US" sz="1100" b="1" spc="200" kern="0" dirty="0">
                <a:solidFill>
                  <a:srgbClr val="B22234"/>
                </a:solidFill>
                <a:latin typeface="Trebuchet MS" pitchFamily="34" charset="0"/>
                <a:ea typeface="Trebuchet MS" pitchFamily="34" charset="-122"/>
                <a:cs typeface="Trebuchet MS" pitchFamily="34" charset="-120"/>
              </a:rPr>
              <a:t>YOUR TASK</a:t>
            </a:r>
            <a:endParaRPr lang="en-US" sz="1100" dirty="0"/>
          </a:p>
        </p:txBody>
      </p:sp>
      <p:sp>
        <p:nvSpPr>
          <p:cNvPr id="11" name="Text 9"/>
          <p:cNvSpPr/>
          <p:nvPr/>
        </p:nvSpPr>
        <p:spPr>
          <a:xfrm>
            <a:off x="822960" y="2487168"/>
            <a:ext cx="6217920" cy="1828800"/>
          </a:xfrm>
          <a:prstGeom prst="rect">
            <a:avLst/>
          </a:prstGeom>
          <a:noFill/>
          <a:ln/>
        </p:spPr>
        <p:txBody>
          <a:bodyPr wrap="square" rtlCol="0" anchor="t"/>
          <a:lstStyle/>
          <a:p>
            <a:pPr indent="0" marL="0">
              <a:lnSpc>
                <a:spcPct val="112000"/>
              </a:lnSpc>
              <a:buNone/>
            </a:pPr>
            <a:r>
              <a:rPr lang="en-US" sz="1350" dirty="0">
                <a:solidFill>
                  <a:srgbClr val="1F2430"/>
                </a:solidFill>
                <a:latin typeface="Calibri" pitchFamily="34" charset="0"/>
                <a:ea typeface="Calibri" pitchFamily="34" charset="-122"/>
                <a:cs typeface="Calibri" pitchFamily="34" charset="-120"/>
              </a:rPr>
              <a:t>Using “The Bosses of the Senate” cartoon, list what a city political machine GAVE residents and what it TOOK. Then decide: why would voters keep electing a corrupt machine? Reach a group consensus and be ready to defend it.</a:t>
            </a:r>
            <a:endParaRPr lang="en-US" sz="1350" dirty="0"/>
          </a:p>
        </p:txBody>
      </p:sp>
      <p:sp>
        <p:nvSpPr>
          <p:cNvPr id="12" name="Shape 10"/>
          <p:cNvSpPr/>
          <p:nvPr/>
        </p:nvSpPr>
        <p:spPr>
          <a:xfrm>
            <a:off x="7552944" y="2020824"/>
            <a:ext cx="4142232" cy="1856232"/>
          </a:xfrm>
          <a:prstGeom prst="rect">
            <a:avLst/>
          </a:prstGeom>
          <a:solidFill>
            <a:srgbClr val="FFFFFF"/>
          </a:solidFill>
          <a:ln w="12700">
            <a:solidFill>
              <a:srgbClr val="DAD3C2"/>
            </a:solidFill>
            <a:prstDash val="solid"/>
          </a:ln>
        </p:spPr>
        <p:txBody>
          <a:bodyPr/>
          <a:p/>
        </p:txBody>
      </p:sp>
      <p:pic>
        <p:nvPicPr>
          <p:cNvPr id="13" name="Image 0" descr="Joseph Keppler, 1889  Library of Congress">    </p:cNvPr>
          <p:cNvPicPr>
            <a:picLocks noChangeAspect="1"/>
          </p:cNvPicPr>
          <p:nvPr/>
        </p:nvPicPr>
        <p:blipFill>
          <a:blip r:embed="rId1"/>
          <a:srcRect l="0" r="0" t="0" b="0"/>
          <a:stretch/>
        </p:blipFill>
        <p:spPr>
          <a:xfrm>
            <a:off x="7589520" y="2057400"/>
            <a:ext cx="4069080" cy="1783080"/>
          </a:xfrm>
          <a:prstGeom prst="rect">
            <a:avLst/>
          </a:prstGeom>
        </p:spPr>
      </p:pic>
      <p:sp>
        <p:nvSpPr>
          <p:cNvPr id="14" name="Text 11"/>
          <p:cNvSpPr/>
          <p:nvPr/>
        </p:nvSpPr>
        <p:spPr>
          <a:xfrm>
            <a:off x="7589520" y="3895344"/>
            <a:ext cx="4069080" cy="493776"/>
          </a:xfrm>
          <a:prstGeom prst="rect">
            <a:avLst/>
          </a:prstGeom>
          <a:noFill/>
          <a:ln/>
        </p:spPr>
        <p:txBody>
          <a:bodyPr wrap="square" rtlCol="0" anchor="t"/>
          <a:lstStyle/>
          <a:p>
            <a:pPr algn="l" indent="0" marL="0">
              <a:lnSpc>
                <a:spcPct val="100000"/>
              </a:lnSpc>
              <a:buNone/>
            </a:pPr>
            <a:pPr algn="l" indent="0" marL="0">
              <a:lnSpc>
                <a:spcPct val="100000"/>
              </a:lnSpc>
              <a:buNone/>
            </a:pPr>
            <a:r>
              <a:rPr lang="en-US" sz="900" i="1" dirty="0">
                <a:solidFill>
                  <a:srgbClr val="5C6470"/>
                </a:solidFill>
                <a:latin typeface="Calibri" pitchFamily="34" charset="0"/>
                <a:ea typeface="Calibri" pitchFamily="34" charset="-122"/>
                <a:cs typeface="Calibri" pitchFamily="34" charset="-120"/>
              </a:rPr>
              <a:t>Joseph Keppler, 1889  </a:t>
            </a:r>
            <a:pPr algn="l" indent="0" marL="0">
              <a:lnSpc>
                <a:spcPct val="100000"/>
              </a:lnSpc>
              <a:buNone/>
            </a:pPr>
            <a:r>
              <a:rPr lang="en-US" sz="9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750" dirty="0"/>
          </a:p>
        </p:txBody>
      </p:sp>
      <p:sp>
        <p:nvSpPr>
          <p:cNvPr id="15" name="Shape 12"/>
          <p:cNvSpPr/>
          <p:nvPr/>
        </p:nvSpPr>
        <p:spPr>
          <a:xfrm>
            <a:off x="548640" y="4526280"/>
            <a:ext cx="5486400" cy="1325880"/>
          </a:xfrm>
          <a:prstGeom prst="roundRect">
            <a:avLst>
              <a:gd name="adj" fmla="val 5517"/>
            </a:avLst>
          </a:prstGeom>
          <a:solidFill>
            <a:srgbClr val="1F3A5F"/>
          </a:solidFill>
          <a:ln/>
        </p:spPr>
        <p:txBody>
          <a:bodyPr/>
          <a:p/>
        </p:txBody>
      </p:sp>
      <p:sp>
        <p:nvSpPr>
          <p:cNvPr id="16" name="Text 13"/>
          <p:cNvSpPr/>
          <p:nvPr/>
        </p:nvSpPr>
        <p:spPr>
          <a:xfrm>
            <a:off x="777240" y="4645152"/>
            <a:ext cx="4572000" cy="274320"/>
          </a:xfrm>
          <a:prstGeom prst="rect">
            <a:avLst/>
          </a:prstGeom>
          <a:noFill/>
          <a:ln/>
        </p:spPr>
        <p:txBody>
          <a:bodyPr wrap="square" rtlCol="0" anchor="ctr"/>
          <a:lstStyle/>
          <a:p>
            <a:pPr indent="0" marL="0">
              <a:buNone/>
            </a:pPr>
            <a:r>
              <a:rPr lang="en-US" sz="1050" b="1" spc="200" kern="0" dirty="0">
                <a:solidFill>
                  <a:srgbClr val="F9A825"/>
                </a:solidFill>
                <a:latin typeface="Trebuchet MS" pitchFamily="34" charset="0"/>
                <a:ea typeface="Trebuchet MS" pitchFamily="34" charset="-122"/>
                <a:cs typeface="Trebuchet MS" pitchFamily="34" charset="-120"/>
              </a:rPr>
              <a:t>DELIVERABLE</a:t>
            </a:r>
            <a:endParaRPr lang="en-US" sz="1050" dirty="0"/>
          </a:p>
        </p:txBody>
      </p:sp>
      <p:sp>
        <p:nvSpPr>
          <p:cNvPr id="17" name="Text 14"/>
          <p:cNvSpPr/>
          <p:nvPr/>
        </p:nvSpPr>
        <p:spPr>
          <a:xfrm>
            <a:off x="777240" y="4919472"/>
            <a:ext cx="5029200" cy="868680"/>
          </a:xfrm>
          <a:prstGeom prst="rect">
            <a:avLst/>
          </a:prstGeom>
          <a:noFill/>
          <a:ln/>
        </p:spPr>
        <p:txBody>
          <a:bodyPr wrap="square"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Give/Take T-chart plus a one-sentence group claim.</a:t>
            </a:r>
            <a:endParaRPr lang="en-US" sz="1250" dirty="0"/>
          </a:p>
        </p:txBody>
      </p:sp>
      <p:sp>
        <p:nvSpPr>
          <p:cNvPr id="18" name="Shape 15"/>
          <p:cNvSpPr/>
          <p:nvPr/>
        </p:nvSpPr>
        <p:spPr>
          <a:xfrm>
            <a:off x="6172200" y="4526280"/>
            <a:ext cx="5440680" cy="1325880"/>
          </a:xfrm>
          <a:prstGeom prst="roundRect">
            <a:avLst>
              <a:gd name="adj" fmla="val 5517"/>
            </a:avLst>
          </a:prstGeom>
          <a:solidFill>
            <a:srgbClr val="FBEFD0"/>
          </a:solidFill>
          <a:ln w="15875">
            <a:solidFill>
              <a:srgbClr val="C9A227"/>
            </a:solidFill>
            <a:prstDash val="solid"/>
          </a:ln>
        </p:spPr>
        <p:txBody>
          <a:bodyPr/>
          <a:p/>
        </p:txBody>
      </p:sp>
      <p:sp>
        <p:nvSpPr>
          <p:cNvPr id="19" name="Text 16"/>
          <p:cNvSpPr/>
          <p:nvPr/>
        </p:nvSpPr>
        <p:spPr>
          <a:xfrm>
            <a:off x="6400800" y="4645152"/>
            <a:ext cx="4572000" cy="274320"/>
          </a:xfrm>
          <a:prstGeom prst="rect">
            <a:avLst/>
          </a:prstGeom>
          <a:noFill/>
          <a:ln/>
        </p:spPr>
        <p:txBody>
          <a:bodyPr wrap="square" rtlCol="0" anchor="ctr"/>
          <a:lstStyle/>
          <a:p>
            <a:pPr indent="0" marL="0">
              <a:buNone/>
            </a:pPr>
            <a:r>
              <a:rPr lang="en-US" sz="1050" b="1" spc="200" kern="0" dirty="0">
                <a:solidFill>
                  <a:srgbClr val="B22234"/>
                </a:solidFill>
                <a:latin typeface="Trebuchet MS" pitchFamily="34" charset="0"/>
                <a:ea typeface="Trebuchet MS" pitchFamily="34" charset="-122"/>
                <a:cs typeface="Trebuchet MS" pitchFamily="34" charset="-120"/>
              </a:rPr>
              <a:t>SUPPORT OPTIONS</a:t>
            </a:r>
            <a:endParaRPr lang="en-US" sz="1050" dirty="0"/>
          </a:p>
        </p:txBody>
      </p:sp>
      <p:sp>
        <p:nvSpPr>
          <p:cNvPr id="20" name="Text 17"/>
          <p:cNvSpPr/>
          <p:nvPr/>
        </p:nvSpPr>
        <p:spPr>
          <a:xfrm>
            <a:off x="6400800" y="4919472"/>
            <a:ext cx="5029200" cy="868680"/>
          </a:xfrm>
          <a:prstGeom prst="rect">
            <a:avLst/>
          </a:prstGeom>
          <a:noFill/>
          <a:ln/>
        </p:spPr>
        <p:txBody>
          <a:bodyPr wrap="square" rtlCol="0" anchor="t"/>
          <a:lstStyle/>
          <a:p>
            <a:pPr indent="0" marL="0">
              <a:lnSpc>
                <a:spcPct val="105000"/>
              </a:lnSpc>
              <a:buNone/>
            </a:pPr>
            <a:r>
              <a:rPr lang="en-US" sz="1200" dirty="0">
                <a:solidFill>
                  <a:srgbClr val="1F2430"/>
                </a:solidFill>
                <a:latin typeface="Calibri" pitchFamily="34" charset="0"/>
                <a:ea typeface="Calibri" pitchFamily="34" charset="-122"/>
                <a:cs typeface="Calibri" pitchFamily="34" charset="-120"/>
              </a:rPr>
              <a:t>SUPPORT OPTION: provide 3 give/take examples to sort. EXTENSION: connect to a modern trade-off between services and accountability.</a:t>
            </a:r>
            <a:endParaRPr lang="en-US" sz="1200" dirty="0"/>
          </a:p>
        </p:txBody>
      </p:sp>
      <p:sp>
        <p:nvSpPr>
          <p:cNvPr id="21" name="Text 18"/>
          <p:cNvSpPr/>
          <p:nvPr/>
        </p:nvSpPr>
        <p:spPr>
          <a:xfrm>
            <a:off x="548640" y="5943600"/>
            <a:ext cx="11064240" cy="320040"/>
          </a:xfrm>
          <a:prstGeom prst="rect">
            <a:avLst/>
          </a:prstGeom>
          <a:noFill/>
          <a:ln/>
        </p:spPr>
        <p:txBody>
          <a:bodyPr wrap="square" rtlCol="0" anchor="ctr"/>
          <a:lstStyle/>
          <a:p>
            <a:pPr indent="0" marL="0">
              <a:buNone/>
            </a:pPr>
            <a:r>
              <a:rPr lang="en-US" sz="1050" b="1" dirty="0">
                <a:solidFill>
                  <a:srgbClr val="1F3A5F"/>
                </a:solidFill>
                <a:latin typeface="Calibri" pitchFamily="34" charset="0"/>
                <a:ea typeface="Calibri" pitchFamily="34" charset="-122"/>
                <a:cs typeface="Calibri" pitchFamily="34" charset="-120"/>
              </a:rPr>
              <a:t>Companion printable:  </a:t>
            </a:r>
            <a:pPr indent="0" marL="0">
              <a:buNone/>
            </a:pPr>
            <a:r>
              <a:rPr lang="en-US" sz="1050" i="1" dirty="0">
                <a:solidFill>
                  <a:srgbClr val="002858"/>
                </a:solidFill>
                <a:latin typeface="Calibri" pitchFamily="34" charset="0"/>
                <a:ea typeface="Calibri" pitchFamily="34" charset="-122"/>
                <a:cs typeface="Calibri" pitchFamily="34" charset="-120"/>
              </a:rPr>
              <a:t>Cornell Notes — US.04: Gilded Age Politics (Machines, Scandals &amp; Civil Service Reform)</a:t>
            </a:r>
            <a:endParaRPr lang="en-US" sz="1050" dirty="0"/>
          </a:p>
        </p:txBody>
      </p:sp>
      <p:sp>
        <p:nvSpPr>
          <p:cNvPr id="23" name="Text 19"/>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4" name="Text 20"/>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60</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0">
    <p:bg>
      <p:bgPr>
        <a:solidFill>
          <a:srgbClr val="1F3A5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227"/>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US.04 · CHECK FOR UNDERSTANDING</a:t>
            </a:r>
            <a:endParaRPr lang="en-US" sz="1200" dirty="0"/>
          </a:p>
        </p:txBody>
      </p:sp>
      <p:sp>
        <p:nvSpPr>
          <p:cNvPr id="4" name="Text 2"/>
          <p:cNvSpPr/>
          <p:nvPr/>
        </p:nvSpPr>
        <p:spPr>
          <a:xfrm>
            <a:off x="548640" y="777240"/>
            <a:ext cx="676656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7635240" y="822960"/>
            <a:ext cx="1143000" cy="457200"/>
          </a:xfrm>
          <a:prstGeom prst="roundRect">
            <a:avLst>
              <a:gd name="adj" fmla="val 20000"/>
            </a:avLst>
          </a:prstGeom>
          <a:solidFill>
            <a:srgbClr val="243047"/>
          </a:solidFill>
          <a:ln w="12700">
            <a:solidFill>
              <a:srgbClr val="C9A227"/>
            </a:solidFill>
            <a:prstDash val="solid"/>
          </a:ln>
        </p:spPr>
        <p:txBody>
          <a:bodyPr/>
          <a:p/>
        </p:txBody>
      </p:sp>
      <p:sp>
        <p:nvSpPr>
          <p:cNvPr id="6" name="Text 4"/>
          <p:cNvSpPr/>
          <p:nvPr/>
        </p:nvSpPr>
        <p:spPr>
          <a:xfrm>
            <a:off x="7635240" y="822960"/>
            <a:ext cx="1143000" cy="457200"/>
          </a:xfrm>
          <a:prstGeom prst="rect">
            <a:avLst/>
          </a:prstGeom>
          <a:noFill/>
          <a:ln/>
        </p:spPr>
        <p:txBody>
          <a:bodyPr wrap="square" rtlCol="0" anchor="ctr"/>
          <a:lstStyle/>
          <a:p>
            <a:pPr algn="ctr" indent="0" marL="0">
              <a:buNone/>
            </a:pPr>
            <a:r>
              <a:rPr lang="en-US" sz="1200" b="1" dirty="0">
                <a:solidFill>
                  <a:srgbClr val="F9A825"/>
                </a:solidFill>
                <a:latin typeface="Trebuchet MS" pitchFamily="34" charset="0"/>
                <a:ea typeface="Trebuchet MS" pitchFamily="34" charset="-122"/>
                <a:cs typeface="Trebuchet MS" pitchFamily="34" charset="-120"/>
              </a:rPr>
              <a:t>DOK 2</a:t>
            </a:r>
            <a:endParaRPr lang="en-US" sz="1200" dirty="0"/>
          </a:p>
        </p:txBody>
      </p:sp>
      <p:sp>
        <p:nvSpPr>
          <p:cNvPr id="7" name="Shape 5"/>
          <p:cNvSpPr/>
          <p:nvPr/>
        </p:nvSpPr>
        <p:spPr>
          <a:xfrm>
            <a:off x="8869680" y="822960"/>
            <a:ext cx="2743200" cy="457200"/>
          </a:xfrm>
          <a:prstGeom prst="roundRect">
            <a:avLst>
              <a:gd name="adj" fmla="val 20000"/>
            </a:avLst>
          </a:prstGeom>
          <a:solidFill>
            <a:srgbClr val="B22234"/>
          </a:solidFill>
          <a:ln/>
        </p:spPr>
        <p:txBody>
          <a:bodyPr/>
          <a:p/>
        </p:txBody>
      </p:sp>
      <p:sp>
        <p:nvSpPr>
          <p:cNvPr id="8" name="Text 6"/>
          <p:cNvSpPr/>
          <p:nvPr/>
        </p:nvSpPr>
        <p:spPr>
          <a:xfrm>
            <a:off x="8869680" y="822960"/>
            <a:ext cx="274320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EOC PRACTICE</a:t>
            </a:r>
            <a:endParaRPr lang="en-US" sz="1200" dirty="0"/>
          </a:p>
        </p:txBody>
      </p:sp>
      <p:sp>
        <p:nvSpPr>
          <p:cNvPr id="9" name="Shape 7"/>
          <p:cNvSpPr/>
          <p:nvPr/>
        </p:nvSpPr>
        <p:spPr>
          <a:xfrm>
            <a:off x="548640" y="1554480"/>
            <a:ext cx="11064240" cy="1051560"/>
          </a:xfrm>
          <a:prstGeom prst="roundRect">
            <a:avLst>
              <a:gd name="adj" fmla="val 6957"/>
            </a:avLst>
          </a:prstGeom>
          <a:solidFill>
            <a:srgbClr val="243047"/>
          </a:solidFill>
          <a:ln w="6350">
            <a:solidFill>
              <a:srgbClr val="A7BACB"/>
            </a:solidFill>
            <a:prstDash val="solid"/>
          </a:ln>
        </p:spPr>
        <p:txBody>
          <a:bodyPr/>
          <a:p/>
        </p:txBody>
      </p:sp>
      <p:sp>
        <p:nvSpPr>
          <p:cNvPr id="10" name="Text 8"/>
          <p:cNvSpPr/>
          <p:nvPr/>
        </p:nvSpPr>
        <p:spPr>
          <a:xfrm>
            <a:off x="822960" y="1691640"/>
            <a:ext cx="10515600" cy="777240"/>
          </a:xfrm>
          <a:prstGeom prst="rect">
            <a:avLst/>
          </a:prstGeom>
          <a:noFill/>
          <a:ln/>
        </p:spPr>
        <p:txBody>
          <a:bodyPr wrap="square" rtlCol="0" anchor="ctr"/>
          <a:lstStyle/>
          <a:p>
            <a:pPr indent="0" marL="0">
              <a:lnSpc>
                <a:spcPct val="105000"/>
              </a:lnSpc>
              <a:buNone/>
            </a:pPr>
            <a:r>
              <a:rPr lang="en-US" sz="1600" b="1" dirty="0">
                <a:solidFill>
                  <a:srgbClr val="FFFFFF"/>
                </a:solidFill>
                <a:latin typeface="Calibri" pitchFamily="34" charset="0"/>
                <a:ea typeface="Calibri" pitchFamily="34" charset="-122"/>
                <a:cs typeface="Calibri" pitchFamily="34" charset="-120"/>
              </a:rPr>
              <a:t>How does Bryce's description of the political 'Boss' help explain why the Pendleton Civil Service Reform Act was needed?</a:t>
            </a:r>
            <a:endParaRPr lang="en-US" sz="1600" dirty="0"/>
          </a:p>
        </p:txBody>
      </p:sp>
      <p:sp>
        <p:nvSpPr>
          <p:cNvPr id="11" name="Shape 9"/>
          <p:cNvSpPr/>
          <p:nvPr/>
        </p:nvSpPr>
        <p:spPr>
          <a:xfrm>
            <a:off x="548640" y="2743200"/>
            <a:ext cx="11064240" cy="658368"/>
          </a:xfrm>
          <a:prstGeom prst="roundRect">
            <a:avLst>
              <a:gd name="adj" fmla="val 8333"/>
            </a:avLst>
          </a:prstGeom>
          <a:solidFill>
            <a:srgbClr val="2C384F"/>
          </a:solidFill>
          <a:ln w="12700">
            <a:solidFill>
              <a:srgbClr val="3A475E"/>
            </a:solidFill>
            <a:prstDash val="solid"/>
          </a:ln>
        </p:spPr>
        <p:txBody>
          <a:bodyPr/>
          <a:p/>
        </p:txBody>
      </p:sp>
      <p:sp>
        <p:nvSpPr>
          <p:cNvPr id="12" name="Shape 10"/>
          <p:cNvSpPr/>
          <p:nvPr/>
        </p:nvSpPr>
        <p:spPr>
          <a:xfrm>
            <a:off x="713232" y="2889504"/>
            <a:ext cx="365760" cy="365760"/>
          </a:xfrm>
          <a:prstGeom prst="ellipse">
            <a:avLst/>
          </a:prstGeom>
          <a:solidFill>
            <a:srgbClr val="1F3A5F"/>
          </a:solidFill>
          <a:ln/>
        </p:spPr>
        <p:txBody>
          <a:bodyPr/>
          <a:p/>
        </p:txBody>
      </p:sp>
      <p:sp>
        <p:nvSpPr>
          <p:cNvPr id="13" name="Text 11"/>
          <p:cNvSpPr/>
          <p:nvPr/>
        </p:nvSpPr>
        <p:spPr>
          <a:xfrm>
            <a:off x="713232" y="2889504"/>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A</a:t>
            </a:r>
            <a:endParaRPr lang="en-US" sz="1400" dirty="0"/>
          </a:p>
        </p:txBody>
      </p:sp>
      <p:sp>
        <p:nvSpPr>
          <p:cNvPr id="14" name="Text 12"/>
          <p:cNvSpPr/>
          <p:nvPr/>
        </p:nvSpPr>
        <p:spPr>
          <a:xfrm>
            <a:off x="1234440" y="2743200"/>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Both reveal a spoils system in which offices and contracts were handed out for political loyalty, which reformers tried to end.</a:t>
            </a:r>
            <a:endParaRPr lang="en-US" sz="1350" dirty="0"/>
          </a:p>
        </p:txBody>
      </p:sp>
      <p:sp>
        <p:nvSpPr>
          <p:cNvPr id="15" name="Shape 13"/>
          <p:cNvSpPr/>
          <p:nvPr/>
        </p:nvSpPr>
        <p:spPr>
          <a:xfrm>
            <a:off x="548640" y="3493008"/>
            <a:ext cx="11064240" cy="658368"/>
          </a:xfrm>
          <a:prstGeom prst="roundRect">
            <a:avLst>
              <a:gd name="adj" fmla="val 8333"/>
            </a:avLst>
          </a:prstGeom>
          <a:solidFill>
            <a:srgbClr val="2C384F"/>
          </a:solidFill>
          <a:ln w="12700">
            <a:solidFill>
              <a:srgbClr val="3A475E"/>
            </a:solidFill>
            <a:prstDash val="solid"/>
          </a:ln>
        </p:spPr>
        <p:txBody>
          <a:bodyPr/>
          <a:p/>
        </p:txBody>
      </p:sp>
      <p:sp>
        <p:nvSpPr>
          <p:cNvPr id="16" name="Shape 14"/>
          <p:cNvSpPr/>
          <p:nvPr/>
        </p:nvSpPr>
        <p:spPr>
          <a:xfrm>
            <a:off x="713232" y="3639312"/>
            <a:ext cx="365760" cy="365760"/>
          </a:xfrm>
          <a:prstGeom prst="ellipse">
            <a:avLst/>
          </a:prstGeom>
          <a:solidFill>
            <a:srgbClr val="1F3A5F"/>
          </a:solidFill>
          <a:ln/>
        </p:spPr>
        <p:txBody>
          <a:bodyPr/>
          <a:p/>
        </p:txBody>
      </p:sp>
      <p:sp>
        <p:nvSpPr>
          <p:cNvPr id="17" name="Text 15"/>
          <p:cNvSpPr/>
          <p:nvPr/>
        </p:nvSpPr>
        <p:spPr>
          <a:xfrm>
            <a:off x="713232" y="3639312"/>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B</a:t>
            </a:r>
            <a:endParaRPr lang="en-US" sz="1400" dirty="0"/>
          </a:p>
        </p:txBody>
      </p:sp>
      <p:sp>
        <p:nvSpPr>
          <p:cNvPr id="18" name="Text 16"/>
          <p:cNvSpPr/>
          <p:nvPr/>
        </p:nvSpPr>
        <p:spPr>
          <a:xfrm>
            <a:off x="1234440" y="3493008"/>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Both praise the political machines as honest and efficient.</a:t>
            </a:r>
            <a:endParaRPr lang="en-US" sz="1350" dirty="0"/>
          </a:p>
        </p:txBody>
      </p:sp>
      <p:sp>
        <p:nvSpPr>
          <p:cNvPr id="19" name="Shape 17"/>
          <p:cNvSpPr/>
          <p:nvPr/>
        </p:nvSpPr>
        <p:spPr>
          <a:xfrm>
            <a:off x="548640" y="4242816"/>
            <a:ext cx="11064240" cy="658368"/>
          </a:xfrm>
          <a:prstGeom prst="roundRect">
            <a:avLst>
              <a:gd name="adj" fmla="val 8333"/>
            </a:avLst>
          </a:prstGeom>
          <a:solidFill>
            <a:srgbClr val="2C384F"/>
          </a:solidFill>
          <a:ln w="12700">
            <a:solidFill>
              <a:srgbClr val="3A475E"/>
            </a:solidFill>
            <a:prstDash val="solid"/>
          </a:ln>
        </p:spPr>
        <p:txBody>
          <a:bodyPr/>
          <a:p/>
        </p:txBody>
      </p:sp>
      <p:sp>
        <p:nvSpPr>
          <p:cNvPr id="20" name="Shape 18"/>
          <p:cNvSpPr/>
          <p:nvPr/>
        </p:nvSpPr>
        <p:spPr>
          <a:xfrm>
            <a:off x="713232" y="4389120"/>
            <a:ext cx="365760" cy="365760"/>
          </a:xfrm>
          <a:prstGeom prst="ellipse">
            <a:avLst/>
          </a:prstGeom>
          <a:solidFill>
            <a:srgbClr val="1F3A5F"/>
          </a:solidFill>
          <a:ln/>
        </p:spPr>
        <p:txBody>
          <a:bodyPr/>
          <a:p/>
        </p:txBody>
      </p:sp>
      <p:sp>
        <p:nvSpPr>
          <p:cNvPr id="21" name="Text 19"/>
          <p:cNvSpPr/>
          <p:nvPr/>
        </p:nvSpPr>
        <p:spPr>
          <a:xfrm>
            <a:off x="713232" y="4389120"/>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C</a:t>
            </a:r>
            <a:endParaRPr lang="en-US" sz="1400" dirty="0"/>
          </a:p>
        </p:txBody>
      </p:sp>
      <p:sp>
        <p:nvSpPr>
          <p:cNvPr id="22" name="Text 20"/>
          <p:cNvSpPr/>
          <p:nvPr/>
        </p:nvSpPr>
        <p:spPr>
          <a:xfrm>
            <a:off x="1234440" y="4242816"/>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Both argue that government jobs should be sold to the highest bidder.</a:t>
            </a:r>
            <a:endParaRPr lang="en-US" sz="1350" dirty="0"/>
          </a:p>
        </p:txBody>
      </p:sp>
      <p:sp>
        <p:nvSpPr>
          <p:cNvPr id="23" name="Shape 21"/>
          <p:cNvSpPr/>
          <p:nvPr/>
        </p:nvSpPr>
        <p:spPr>
          <a:xfrm>
            <a:off x="548640" y="4992624"/>
            <a:ext cx="11064240" cy="658368"/>
          </a:xfrm>
          <a:prstGeom prst="roundRect">
            <a:avLst>
              <a:gd name="adj" fmla="val 8333"/>
            </a:avLst>
          </a:prstGeom>
          <a:solidFill>
            <a:srgbClr val="2C384F"/>
          </a:solidFill>
          <a:ln w="12700">
            <a:solidFill>
              <a:srgbClr val="3A475E"/>
            </a:solidFill>
            <a:prstDash val="solid"/>
          </a:ln>
        </p:spPr>
        <p:txBody>
          <a:bodyPr/>
          <a:p/>
        </p:txBody>
      </p:sp>
      <p:sp>
        <p:nvSpPr>
          <p:cNvPr id="24" name="Shape 22"/>
          <p:cNvSpPr/>
          <p:nvPr/>
        </p:nvSpPr>
        <p:spPr>
          <a:xfrm>
            <a:off x="713232" y="5138928"/>
            <a:ext cx="365760" cy="365760"/>
          </a:xfrm>
          <a:prstGeom prst="ellipse">
            <a:avLst/>
          </a:prstGeom>
          <a:solidFill>
            <a:srgbClr val="1F3A5F"/>
          </a:solidFill>
          <a:ln/>
        </p:spPr>
        <p:txBody>
          <a:bodyPr/>
          <a:p/>
        </p:txBody>
      </p:sp>
      <p:sp>
        <p:nvSpPr>
          <p:cNvPr id="25" name="Text 23"/>
          <p:cNvSpPr/>
          <p:nvPr/>
        </p:nvSpPr>
        <p:spPr>
          <a:xfrm>
            <a:off x="713232" y="5138928"/>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D</a:t>
            </a:r>
            <a:endParaRPr lang="en-US" sz="1400" dirty="0"/>
          </a:p>
        </p:txBody>
      </p:sp>
      <p:sp>
        <p:nvSpPr>
          <p:cNvPr id="26" name="Text 24"/>
          <p:cNvSpPr/>
          <p:nvPr/>
        </p:nvSpPr>
        <p:spPr>
          <a:xfrm>
            <a:off x="1234440" y="4992624"/>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Both were written after the spoils system ended.</a:t>
            </a:r>
            <a:endParaRPr lang="en-US" sz="1350" dirty="0"/>
          </a:p>
        </p:txBody>
      </p:sp>
      <p:sp>
        <p:nvSpPr>
          <p:cNvPr id="27" name="Shape 25"/>
          <p:cNvSpPr/>
          <p:nvPr/>
        </p:nvSpPr>
        <p:spPr>
          <a:xfrm>
            <a:off x="548640" y="5715000"/>
            <a:ext cx="11064240" cy="502920"/>
          </a:xfrm>
          <a:prstGeom prst="roundRect">
            <a:avLst>
              <a:gd name="adj" fmla="val 14545"/>
            </a:avLst>
          </a:prstGeom>
          <a:solidFill>
            <a:srgbClr val="243047"/>
          </a:solidFill>
          <a:ln w="12700">
            <a:solidFill>
              <a:srgbClr val="C9A227"/>
            </a:solidFill>
            <a:prstDash val="solid"/>
          </a:ln>
        </p:spPr>
        <p:txBody>
          <a:bodyPr/>
          <a:p/>
        </p:txBody>
      </p:sp>
      <p:sp>
        <p:nvSpPr>
          <p:cNvPr id="28" name="Text 26"/>
          <p:cNvSpPr/>
          <p:nvPr/>
        </p:nvSpPr>
        <p:spPr>
          <a:xfrm>
            <a:off x="822960" y="5715000"/>
            <a:ext cx="10515600" cy="502920"/>
          </a:xfrm>
          <a:prstGeom prst="rect">
            <a:avLst/>
          </a:prstGeom>
          <a:noFill/>
          <a:ln/>
        </p:spPr>
        <p:txBody>
          <a:bodyPr wrap="square" rtlCol="0" anchor="ctr"/>
          <a:lstStyle/>
          <a:p>
            <a:pPr indent="0" marL="0">
              <a:buNone/>
            </a:pPr>
            <a:r>
              <a:rPr lang="en-US" sz="1200" b="1" i="1" spc="100" kern="0" dirty="0">
                <a:solidFill>
                  <a:srgbClr val="F9A825"/>
                </a:solidFill>
                <a:latin typeface="Trebuchet MS" pitchFamily="34" charset="0"/>
                <a:ea typeface="Trebuchet MS" pitchFamily="34" charset="-122"/>
                <a:cs typeface="Trebuchet MS" pitchFamily="34" charset="-120"/>
              </a:rPr>
              <a:t>ANSWER FIRST:  </a:t>
            </a:r>
            <a:pPr indent="0" marL="0">
              <a:buNone/>
            </a:pPr>
            <a:r>
              <a:rPr lang="en-US" sz="1200" i="1" dirty="0">
                <a:solidFill>
                  <a:srgbClr val="C7D4E0"/>
                </a:solidFill>
                <a:latin typeface="Calibri" pitchFamily="34" charset="0"/>
                <a:ea typeface="Calibri" pitchFamily="34" charset="-122"/>
                <a:cs typeface="Calibri" pitchFamily="34" charset="-120"/>
              </a:rPr>
              <a:t>students commit — then click / advance to reveal the correct answer and explanation.</a:t>
            </a:r>
            <a:endParaRPr lang="en-US" sz="1200" dirty="0"/>
          </a:p>
        </p:txBody>
      </p:sp>
      <p:sp>
        <p:nvSpPr>
          <p:cNvPr id="30" name="Text 27"/>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1" name="Text 2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61</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1">
    <p:bg>
      <p:bgPr>
        <a:solidFill>
          <a:srgbClr val="1F3A5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227"/>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US.04 · ANSWER REVEAL</a:t>
            </a:r>
            <a:endParaRPr lang="en-US" sz="1200" dirty="0"/>
          </a:p>
        </p:txBody>
      </p:sp>
      <p:sp>
        <p:nvSpPr>
          <p:cNvPr id="4" name="Text 2"/>
          <p:cNvSpPr/>
          <p:nvPr/>
        </p:nvSpPr>
        <p:spPr>
          <a:xfrm>
            <a:off x="548640" y="777240"/>
            <a:ext cx="822960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8595360" y="822960"/>
            <a:ext cx="3017520" cy="457200"/>
          </a:xfrm>
          <a:prstGeom prst="roundRect">
            <a:avLst>
              <a:gd name="adj" fmla="val 20000"/>
            </a:avLst>
          </a:prstGeom>
          <a:solidFill>
            <a:srgbClr val="1B5E20"/>
          </a:solidFill>
          <a:ln/>
        </p:spPr>
        <p:txBody>
          <a:bodyPr/>
          <a:p/>
        </p:txBody>
      </p:sp>
      <p:sp>
        <p:nvSpPr>
          <p:cNvPr id="6" name="Text 4"/>
          <p:cNvSpPr/>
          <p:nvPr/>
        </p:nvSpPr>
        <p:spPr>
          <a:xfrm>
            <a:off x="8595360" y="822960"/>
            <a:ext cx="301752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 ANSWER KEY</a:t>
            </a:r>
            <a:endParaRPr lang="en-US" sz="1200" dirty="0"/>
          </a:p>
        </p:txBody>
      </p:sp>
      <p:sp>
        <p:nvSpPr>
          <p:cNvPr id="7" name="Shape 5"/>
          <p:cNvSpPr/>
          <p:nvPr/>
        </p:nvSpPr>
        <p:spPr>
          <a:xfrm>
            <a:off x="548640" y="1554480"/>
            <a:ext cx="11064240" cy="960120"/>
          </a:xfrm>
          <a:prstGeom prst="roundRect">
            <a:avLst>
              <a:gd name="adj" fmla="val 7619"/>
            </a:avLst>
          </a:prstGeom>
          <a:solidFill>
            <a:srgbClr val="243047"/>
          </a:solidFill>
          <a:ln w="6350">
            <a:solidFill>
              <a:srgbClr val="A7BACB"/>
            </a:solidFill>
            <a:prstDash val="solid"/>
          </a:ln>
        </p:spPr>
        <p:txBody>
          <a:bodyPr/>
          <a:p/>
        </p:txBody>
      </p:sp>
      <p:sp>
        <p:nvSpPr>
          <p:cNvPr id="8" name="Text 6"/>
          <p:cNvSpPr/>
          <p:nvPr/>
        </p:nvSpPr>
        <p:spPr>
          <a:xfrm>
            <a:off x="822960" y="1664208"/>
            <a:ext cx="10515600" cy="731520"/>
          </a:xfrm>
          <a:prstGeom prst="rect">
            <a:avLst/>
          </a:prstGeom>
          <a:noFill/>
          <a:ln/>
        </p:spPr>
        <p:txBody>
          <a:bodyPr wrap="square" rtlCol="0" anchor="ctr"/>
          <a:lstStyle/>
          <a:p>
            <a:pPr indent="0" marL="0">
              <a:lnSpc>
                <a:spcPct val="102000"/>
              </a:lnSpc>
              <a:buNone/>
            </a:pPr>
            <a:r>
              <a:rPr lang="en-US" sz="1500" b="1" dirty="0">
                <a:solidFill>
                  <a:srgbClr val="FFFFFF"/>
                </a:solidFill>
                <a:latin typeface="Calibri" pitchFamily="34" charset="0"/>
                <a:ea typeface="Calibri" pitchFamily="34" charset="-122"/>
                <a:cs typeface="Calibri" pitchFamily="34" charset="-120"/>
              </a:rPr>
              <a:t>How does Bryce's description of the political 'Boss' help explain why the Pendleton Civil Service Reform Act was needed?</a:t>
            </a:r>
            <a:endParaRPr lang="en-US" sz="1500" dirty="0"/>
          </a:p>
        </p:txBody>
      </p:sp>
      <p:sp>
        <p:nvSpPr>
          <p:cNvPr id="9" name="Shape 7"/>
          <p:cNvSpPr/>
          <p:nvPr/>
        </p:nvSpPr>
        <p:spPr>
          <a:xfrm>
            <a:off x="548640" y="2651760"/>
            <a:ext cx="11064240" cy="566928"/>
          </a:xfrm>
          <a:prstGeom prst="roundRect">
            <a:avLst>
              <a:gd name="adj" fmla="val 9677"/>
            </a:avLst>
          </a:prstGeom>
          <a:solidFill>
            <a:srgbClr val="C9A227"/>
          </a:solidFill>
          <a:ln w="12700">
            <a:solidFill>
              <a:srgbClr val="3A475E"/>
            </a:solidFill>
            <a:prstDash val="solid"/>
          </a:ln>
        </p:spPr>
        <p:txBody>
          <a:bodyPr/>
          <a:p/>
        </p:txBody>
      </p:sp>
      <p:sp>
        <p:nvSpPr>
          <p:cNvPr id="10" name="Shape 8"/>
          <p:cNvSpPr/>
          <p:nvPr/>
        </p:nvSpPr>
        <p:spPr>
          <a:xfrm>
            <a:off x="713232" y="2761488"/>
            <a:ext cx="347472" cy="347472"/>
          </a:xfrm>
          <a:prstGeom prst="ellipse">
            <a:avLst/>
          </a:prstGeom>
          <a:solidFill>
            <a:srgbClr val="1F3A5F"/>
          </a:solidFill>
          <a:ln/>
        </p:spPr>
        <p:txBody>
          <a:bodyPr/>
          <a:p/>
        </p:txBody>
      </p:sp>
      <p:sp>
        <p:nvSpPr>
          <p:cNvPr id="11" name="Text 9"/>
          <p:cNvSpPr/>
          <p:nvPr/>
        </p:nvSpPr>
        <p:spPr>
          <a:xfrm>
            <a:off x="713232" y="2761488"/>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A</a:t>
            </a:r>
            <a:endParaRPr lang="en-US" sz="1300" dirty="0"/>
          </a:p>
        </p:txBody>
      </p:sp>
      <p:sp>
        <p:nvSpPr>
          <p:cNvPr id="12" name="Text 10"/>
          <p:cNvSpPr/>
          <p:nvPr/>
        </p:nvSpPr>
        <p:spPr>
          <a:xfrm>
            <a:off x="1216152" y="2651760"/>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Both reveal a spoils system in which offices and contracts were handed out for political loyalty, which reformers tried to end.</a:t>
            </a:r>
            <a:endParaRPr lang="en-US" sz="1300" dirty="0"/>
          </a:p>
        </p:txBody>
      </p:sp>
      <p:sp>
        <p:nvSpPr>
          <p:cNvPr id="13" name="Shape 11"/>
          <p:cNvSpPr/>
          <p:nvPr/>
        </p:nvSpPr>
        <p:spPr>
          <a:xfrm>
            <a:off x="548640" y="3310128"/>
            <a:ext cx="11064240" cy="566928"/>
          </a:xfrm>
          <a:prstGeom prst="roundRect">
            <a:avLst>
              <a:gd name="adj" fmla="val 9677"/>
            </a:avLst>
          </a:prstGeom>
          <a:solidFill>
            <a:srgbClr val="2C384F"/>
          </a:solidFill>
          <a:ln w="12700">
            <a:solidFill>
              <a:srgbClr val="3A475E"/>
            </a:solidFill>
            <a:prstDash val="solid"/>
          </a:ln>
        </p:spPr>
        <p:txBody>
          <a:bodyPr/>
          <a:p/>
        </p:txBody>
      </p:sp>
      <p:sp>
        <p:nvSpPr>
          <p:cNvPr id="14" name="Shape 12"/>
          <p:cNvSpPr/>
          <p:nvPr/>
        </p:nvSpPr>
        <p:spPr>
          <a:xfrm>
            <a:off x="713232" y="3419856"/>
            <a:ext cx="347472" cy="347472"/>
          </a:xfrm>
          <a:prstGeom prst="ellipse">
            <a:avLst/>
          </a:prstGeom>
          <a:solidFill>
            <a:srgbClr val="1F3A5F"/>
          </a:solidFill>
          <a:ln/>
        </p:spPr>
        <p:txBody>
          <a:bodyPr/>
          <a:p/>
        </p:txBody>
      </p:sp>
      <p:sp>
        <p:nvSpPr>
          <p:cNvPr id="15" name="Text 13"/>
          <p:cNvSpPr/>
          <p:nvPr/>
        </p:nvSpPr>
        <p:spPr>
          <a:xfrm>
            <a:off x="713232" y="3419856"/>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B</a:t>
            </a:r>
            <a:endParaRPr lang="en-US" sz="1300" dirty="0"/>
          </a:p>
        </p:txBody>
      </p:sp>
      <p:sp>
        <p:nvSpPr>
          <p:cNvPr id="16" name="Text 14"/>
          <p:cNvSpPr/>
          <p:nvPr/>
        </p:nvSpPr>
        <p:spPr>
          <a:xfrm>
            <a:off x="1216152" y="3310128"/>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Both praise the political machines as honest and efficient.</a:t>
            </a:r>
            <a:endParaRPr lang="en-US" sz="1300" dirty="0"/>
          </a:p>
        </p:txBody>
      </p:sp>
      <p:sp>
        <p:nvSpPr>
          <p:cNvPr id="17" name="Shape 15"/>
          <p:cNvSpPr/>
          <p:nvPr/>
        </p:nvSpPr>
        <p:spPr>
          <a:xfrm>
            <a:off x="548640" y="3968496"/>
            <a:ext cx="11064240" cy="566928"/>
          </a:xfrm>
          <a:prstGeom prst="roundRect">
            <a:avLst>
              <a:gd name="adj" fmla="val 9677"/>
            </a:avLst>
          </a:prstGeom>
          <a:solidFill>
            <a:srgbClr val="2C384F"/>
          </a:solidFill>
          <a:ln w="12700">
            <a:solidFill>
              <a:srgbClr val="F9A825"/>
            </a:solidFill>
            <a:prstDash val="solid"/>
          </a:ln>
        </p:spPr>
        <p:txBody>
          <a:bodyPr/>
          <a:p/>
        </p:txBody>
      </p:sp>
      <p:sp>
        <p:nvSpPr>
          <p:cNvPr id="18" name="Shape 16"/>
          <p:cNvSpPr/>
          <p:nvPr/>
        </p:nvSpPr>
        <p:spPr>
          <a:xfrm>
            <a:off x="713232" y="4078224"/>
            <a:ext cx="347472" cy="347472"/>
          </a:xfrm>
          <a:prstGeom prst="ellipse">
            <a:avLst/>
          </a:prstGeom>
          <a:solidFill>
            <a:srgbClr val="1F3A5F"/>
          </a:solidFill>
          <a:ln/>
        </p:spPr>
        <p:txBody>
          <a:bodyPr/>
          <a:p/>
        </p:txBody>
      </p:sp>
      <p:sp>
        <p:nvSpPr>
          <p:cNvPr id="19" name="Text 17"/>
          <p:cNvSpPr/>
          <p:nvPr/>
        </p:nvSpPr>
        <p:spPr>
          <a:xfrm>
            <a:off x="713232" y="4078224"/>
            <a:ext cx="347472" cy="347472"/>
          </a:xfrm>
          <a:prstGeom prst="rect">
            <a:avLst/>
          </a:prstGeom>
          <a:noFill/>
          <a:ln/>
        </p:spPr>
        <p:txBody>
          <a:bodyPr wrap="square" rtlCol="0" anchor="ctr"/>
          <a:lstStyle/>
          <a:p>
            <a:pPr algn="ctr" indent="0" marL="0">
              <a:buNone/>
            </a:pPr>
            <a:r>
              <a:rPr lang="en-US" sz="1300" b="1" dirty="0">
                <a:solidFill>
                  <a:srgbClr val="F9A825"/>
                </a:solidFill>
                <a:latin typeface="Trebuchet MS" pitchFamily="34" charset="0"/>
                <a:ea typeface="Trebuchet MS" pitchFamily="34" charset="-122"/>
                <a:cs typeface="Trebuchet MS" pitchFamily="34" charset="-120"/>
              </a:rPr>
              <a:t>C</a:t>
            </a:r>
            <a:endParaRPr lang="en-US" sz="1300" dirty="0"/>
          </a:p>
        </p:txBody>
      </p:sp>
      <p:sp>
        <p:nvSpPr>
          <p:cNvPr id="20" name="Text 18"/>
          <p:cNvSpPr/>
          <p:nvPr/>
        </p:nvSpPr>
        <p:spPr>
          <a:xfrm>
            <a:off x="1216152" y="3968496"/>
            <a:ext cx="9509760" cy="566928"/>
          </a:xfrm>
          <a:prstGeom prst="rect">
            <a:avLst/>
          </a:prstGeom>
          <a:noFill/>
          <a:ln/>
        </p:spPr>
        <p:txBody>
          <a:bodyPr wrap="square" rtlCol="0" anchor="ctr"/>
          <a:lstStyle/>
          <a:p>
            <a:pPr indent="0" marL="0">
              <a:lnSpc>
                <a:spcPct val="100000"/>
              </a:lnSpc>
              <a:buNone/>
            </a:pPr>
            <a:r>
              <a:rPr lang="en-US" sz="1300" b="1" dirty="0">
                <a:solidFill>
                  <a:srgbClr val="1F3A5F"/>
                </a:solidFill>
                <a:latin typeface="Calibri" pitchFamily="34" charset="0"/>
                <a:ea typeface="Calibri" pitchFamily="34" charset="-122"/>
                <a:cs typeface="Calibri" pitchFamily="34" charset="-120"/>
              </a:rPr>
              <a:t>Both argue that government jobs should be sold to the highest bidder.</a:t>
            </a:r>
            <a:endParaRPr lang="en-US" sz="1300" dirty="0"/>
          </a:p>
        </p:txBody>
      </p:sp>
      <p:sp>
        <p:nvSpPr>
          <p:cNvPr id="21" name="Text 19"/>
          <p:cNvSpPr/>
          <p:nvPr/>
        </p:nvSpPr>
        <p:spPr>
          <a:xfrm>
            <a:off x="11018520" y="2651760"/>
            <a:ext cx="457200" cy="566928"/>
          </a:xfrm>
          <a:prstGeom prst="rect">
            <a:avLst/>
          </a:prstGeom>
          <a:noFill/>
          <a:ln/>
        </p:spPr>
        <p:txBody>
          <a:bodyPr wrap="square" rtlCol="0" anchor="ctr"/>
          <a:lstStyle/>
          <a:p>
            <a:pPr algn="ctr" indent="0" marL="0">
              <a:buNone/>
            </a:pPr>
            <a:r>
              <a:rPr lang="en-US" sz="1700" b="1" dirty="0">
                <a:solidFill>
                  <a:srgbClr val="1F3A5F"/>
                </a:solidFill>
                <a:latin typeface="Calibri" pitchFamily="34" charset="0"/>
                <a:ea typeface="Calibri" pitchFamily="34" charset="-122"/>
                <a:cs typeface="Calibri" pitchFamily="34" charset="-120"/>
              </a:rPr>
              <a:t>✓</a:t>
            </a:r>
            <a:endParaRPr lang="en-US" sz="1700" dirty="0"/>
          </a:p>
        </p:txBody>
      </p:sp>
      <p:sp>
        <p:nvSpPr>
          <p:cNvPr id="22" name="Shape 20"/>
          <p:cNvSpPr/>
          <p:nvPr/>
        </p:nvSpPr>
        <p:spPr>
          <a:xfrm>
            <a:off x="548640" y="4626864"/>
            <a:ext cx="11064240" cy="566928"/>
          </a:xfrm>
          <a:prstGeom prst="roundRect">
            <a:avLst>
              <a:gd name="adj" fmla="val 9677"/>
            </a:avLst>
          </a:prstGeom>
          <a:solidFill>
            <a:srgbClr val="2C384F"/>
          </a:solidFill>
          <a:ln w="12700">
            <a:solidFill>
              <a:srgbClr val="3A475E"/>
            </a:solidFill>
            <a:prstDash val="solid"/>
          </a:ln>
        </p:spPr>
        <p:txBody>
          <a:bodyPr/>
          <a:p/>
        </p:txBody>
      </p:sp>
      <p:sp>
        <p:nvSpPr>
          <p:cNvPr id="23" name="Shape 21"/>
          <p:cNvSpPr/>
          <p:nvPr/>
        </p:nvSpPr>
        <p:spPr>
          <a:xfrm>
            <a:off x="713232" y="4736592"/>
            <a:ext cx="347472" cy="347472"/>
          </a:xfrm>
          <a:prstGeom prst="ellipse">
            <a:avLst/>
          </a:prstGeom>
          <a:solidFill>
            <a:srgbClr val="1F3A5F"/>
          </a:solidFill>
          <a:ln/>
        </p:spPr>
        <p:txBody>
          <a:bodyPr/>
          <a:p/>
        </p:txBody>
      </p:sp>
      <p:sp>
        <p:nvSpPr>
          <p:cNvPr id="24" name="Text 22"/>
          <p:cNvSpPr/>
          <p:nvPr/>
        </p:nvSpPr>
        <p:spPr>
          <a:xfrm>
            <a:off x="713232" y="4736592"/>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D</a:t>
            </a:r>
            <a:endParaRPr lang="en-US" sz="1300" dirty="0"/>
          </a:p>
        </p:txBody>
      </p:sp>
      <p:sp>
        <p:nvSpPr>
          <p:cNvPr id="25" name="Text 23"/>
          <p:cNvSpPr/>
          <p:nvPr/>
        </p:nvSpPr>
        <p:spPr>
          <a:xfrm>
            <a:off x="1216152" y="4626864"/>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Both were written after the spoils system ended.</a:t>
            </a:r>
            <a:endParaRPr lang="en-US" sz="1300" dirty="0"/>
          </a:p>
        </p:txBody>
      </p:sp>
      <p:sp>
        <p:nvSpPr>
          <p:cNvPr id="26" name="Shape 24"/>
          <p:cNvSpPr/>
          <p:nvPr/>
        </p:nvSpPr>
        <p:spPr>
          <a:xfrm>
            <a:off x="548640" y="5440680"/>
            <a:ext cx="11064240" cy="868680"/>
          </a:xfrm>
          <a:prstGeom prst="roundRect">
            <a:avLst>
              <a:gd name="adj" fmla="val 8421"/>
            </a:avLst>
          </a:prstGeom>
          <a:solidFill>
            <a:srgbClr val="243047"/>
          </a:solidFill>
          <a:ln w="12700">
            <a:solidFill>
              <a:srgbClr val="F9A825"/>
            </a:solidFill>
            <a:prstDash val="solid"/>
          </a:ln>
        </p:spPr>
        <p:txBody>
          <a:bodyPr/>
          <a:p/>
        </p:txBody>
      </p:sp>
      <p:sp>
        <p:nvSpPr>
          <p:cNvPr id="27" name="Text 25"/>
          <p:cNvSpPr/>
          <p:nvPr/>
        </p:nvSpPr>
        <p:spPr>
          <a:xfrm>
            <a:off x="822960" y="5532120"/>
            <a:ext cx="10515600" cy="713232"/>
          </a:xfrm>
          <a:prstGeom prst="rect">
            <a:avLst/>
          </a:prstGeom>
          <a:noFill/>
          <a:ln/>
        </p:spPr>
        <p:txBody>
          <a:bodyPr wrap="square" rtlCol="0" anchor="ctr"/>
          <a:lstStyle/>
          <a:p>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Correct answer: A.  </a:t>
            </a:r>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Why: </a:t>
            </a:r>
            <a:pPr indent="0" marL="0">
              <a:lnSpc>
                <a:spcPct val="104000"/>
              </a:lnSpc>
              <a:buNone/>
            </a:pPr>
            <a:r>
              <a:rPr lang="en-US" sz="1150" dirty="0">
                <a:solidFill>
                  <a:srgbClr val="C7D4E0"/>
                </a:solidFill>
                <a:latin typeface="Calibri" pitchFamily="34" charset="0"/>
                <a:ea typeface="Calibri" pitchFamily="34" charset="-122"/>
                <a:cs typeface="Calibri" pitchFamily="34" charset="-120"/>
              </a:rPr>
              <a:t>Bryce's analysis describes the 'spoils system'—bosses using public offices, contracts, and money to reward loyalty. The Pendleton Act attacked exactly this by requiring competitive exams for federal jobs. The outside observer's description and the reform law corroborate each other: machine…</a:t>
            </a:r>
            <a:endParaRPr lang="en-US" sz="1150" dirty="0"/>
          </a:p>
        </p:txBody>
      </p:sp>
      <p:sp>
        <p:nvSpPr>
          <p:cNvPr id="29" name="Text 26"/>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0" name="Text 2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62</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2">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F3A5F"/>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B22234"/>
                </a:solidFill>
                <a:latin typeface="Trebuchet MS" pitchFamily="34" charset="0"/>
                <a:ea typeface="Trebuchet MS" pitchFamily="34" charset="-122"/>
                <a:cs typeface="Trebuchet MS" pitchFamily="34" charset="-120"/>
              </a:rPr>
              <a:t>US.04 · WRAP-UP</a:t>
            </a:r>
            <a:endParaRPr lang="en-US" sz="1200" dirty="0"/>
          </a:p>
        </p:txBody>
      </p:sp>
      <p:sp>
        <p:nvSpPr>
          <p:cNvPr id="4" name="Text 2"/>
          <p:cNvSpPr/>
          <p:nvPr/>
        </p:nvSpPr>
        <p:spPr>
          <a:xfrm>
            <a:off x="548640" y="731520"/>
            <a:ext cx="11064240" cy="640080"/>
          </a:xfrm>
          <a:prstGeom prst="rect">
            <a:avLst/>
          </a:prstGeom>
          <a:noFill/>
          <a:ln/>
        </p:spPr>
        <p:txBody>
          <a:bodyPr wrap="square" rtlCol="0" anchor="ctr"/>
          <a:lstStyle/>
          <a:p>
            <a:pPr indent="0" marL="0">
              <a:buNone/>
            </a:pPr>
            <a:r>
              <a:rPr lang="en-US" sz="2800" b="1" dirty="0">
                <a:solidFill>
                  <a:srgbClr val="1F3A5F"/>
                </a:solidFill>
                <a:latin typeface="Georgia" pitchFamily="34" charset="0"/>
                <a:ea typeface="Georgia" pitchFamily="34" charset="-122"/>
                <a:cs typeface="Georgia" pitchFamily="34" charset="-120"/>
              </a:rPr>
              <a:t>What You Need to Know for TCAP</a:t>
            </a:r>
            <a:endParaRPr lang="en-US" sz="2800" dirty="0"/>
          </a:p>
        </p:txBody>
      </p:sp>
      <p:sp>
        <p:nvSpPr>
          <p:cNvPr id="5" name="Shape 3"/>
          <p:cNvSpPr/>
          <p:nvPr/>
        </p:nvSpPr>
        <p:spPr>
          <a:xfrm>
            <a:off x="548640" y="1691640"/>
            <a:ext cx="7040880" cy="2971800"/>
          </a:xfrm>
          <a:prstGeom prst="rect">
            <a:avLst/>
          </a:prstGeom>
          <a:solidFill>
            <a:srgbClr val="FFFFFF"/>
          </a:solidFill>
          <a:ln w="12700">
            <a:solidFill>
              <a:srgbClr val="DAD3C2"/>
            </a:solidFill>
            <a:prstDash val="solid"/>
          </a:ln>
        </p:spPr>
        <p:txBody>
          <a:bodyPr/>
          <a:p/>
        </p:txBody>
      </p:sp>
      <p:sp>
        <p:nvSpPr>
          <p:cNvPr id="6" name="Text 4"/>
          <p:cNvSpPr/>
          <p:nvPr/>
        </p:nvSpPr>
        <p:spPr>
          <a:xfrm>
            <a:off x="868680" y="1847088"/>
            <a:ext cx="5486400" cy="320040"/>
          </a:xfrm>
          <a:prstGeom prst="rect">
            <a:avLst/>
          </a:prstGeom>
          <a:noFill/>
          <a:ln/>
        </p:spPr>
        <p:txBody>
          <a:bodyPr wrap="square" rtlCol="0" anchor="ctr"/>
          <a:lstStyle/>
          <a:p>
            <a:pPr indent="0" marL="0">
              <a:buNone/>
            </a:pPr>
            <a:r>
              <a:rPr lang="en-US" sz="1200" b="1" spc="200" kern="0" dirty="0">
                <a:solidFill>
                  <a:srgbClr val="B22234"/>
                </a:solidFill>
                <a:latin typeface="Trebuchet MS" pitchFamily="34" charset="0"/>
                <a:ea typeface="Trebuchet MS" pitchFamily="34" charset="-122"/>
                <a:cs typeface="Trebuchet MS" pitchFamily="34" charset="-120"/>
              </a:rPr>
              <a:t>KEY TAKEAWAYS</a:t>
            </a:r>
            <a:endParaRPr lang="en-US" sz="1200" dirty="0"/>
          </a:p>
        </p:txBody>
      </p:sp>
      <p:sp>
        <p:nvSpPr>
          <p:cNvPr id="7" name="Text 5"/>
          <p:cNvSpPr/>
          <p:nvPr/>
        </p:nvSpPr>
        <p:spPr>
          <a:xfrm>
            <a:off x="868680" y="2212848"/>
            <a:ext cx="6492240" cy="2331720"/>
          </a:xfrm>
          <a:prstGeom prst="rect">
            <a:avLst/>
          </a:prstGeom>
          <a:noFill/>
          <a:ln/>
        </p:spPr>
        <p:txBody>
          <a:bodyPr wrap="square" rtlCol="0" anchor="t"/>
          <a:lstStyle/>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Political Machines and Boss Tweed</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Major Scandals and the Spoils System</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Civil Service Reform</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Economic Disparity</a:t>
            </a:r>
            <a:endParaRPr lang="en-US" sz="1500" dirty="0"/>
          </a:p>
        </p:txBody>
      </p:sp>
      <p:sp>
        <p:nvSpPr>
          <p:cNvPr id="8" name="Shape 6"/>
          <p:cNvSpPr/>
          <p:nvPr/>
        </p:nvSpPr>
        <p:spPr>
          <a:xfrm>
            <a:off x="548640" y="4800600"/>
            <a:ext cx="7040880" cy="1005840"/>
          </a:xfrm>
          <a:prstGeom prst="roundRect">
            <a:avLst>
              <a:gd name="adj" fmla="val 7273"/>
            </a:avLst>
          </a:prstGeom>
          <a:solidFill>
            <a:srgbClr val="F3EAD0"/>
          </a:solidFill>
          <a:ln w="12700">
            <a:solidFill>
              <a:srgbClr val="C9A227"/>
            </a:solidFill>
            <a:prstDash val="solid"/>
          </a:ln>
        </p:spPr>
        <p:txBody>
          <a:bodyPr/>
          <a:p/>
        </p:txBody>
      </p:sp>
      <p:sp>
        <p:nvSpPr>
          <p:cNvPr id="9" name="Text 7"/>
          <p:cNvSpPr/>
          <p:nvPr/>
        </p:nvSpPr>
        <p:spPr>
          <a:xfrm>
            <a:off x="822960" y="4901184"/>
            <a:ext cx="6492240" cy="274320"/>
          </a:xfrm>
          <a:prstGeom prst="rect">
            <a:avLst/>
          </a:prstGeom>
          <a:noFill/>
          <a:ln/>
        </p:spPr>
        <p:txBody>
          <a:bodyPr wrap="square" rtlCol="0" anchor="ctr"/>
          <a:lstStyle/>
          <a:p>
            <a:pPr indent="0" marL="0">
              <a:buNone/>
            </a:pPr>
            <a:r>
              <a:rPr lang="en-US" sz="1100" b="1" spc="100" kern="0" dirty="0">
                <a:solidFill>
                  <a:srgbClr val="7A5C12"/>
                </a:solidFill>
                <a:latin typeface="Trebuchet MS" pitchFamily="34" charset="0"/>
                <a:ea typeface="Trebuchet MS" pitchFamily="34" charset="-122"/>
                <a:cs typeface="Trebuchet MS" pitchFamily="34" charset="-120"/>
              </a:rPr>
              <a:t>★ EXTENSION  </a:t>
            </a:r>
            <a:pPr indent="0" marL="0">
              <a:buNone/>
            </a:pPr>
            <a:r>
              <a:rPr lang="en-US" sz="950" b="1" dirty="0">
                <a:solidFill>
                  <a:srgbClr val="5C6470"/>
                </a:solidFill>
                <a:latin typeface="Trebuchet MS" pitchFamily="34" charset="0"/>
                <a:ea typeface="Trebuchet MS" pitchFamily="34" charset="-122"/>
                <a:cs typeface="Trebuchet MS" pitchFamily="34" charset="-120"/>
              </a:rPr>
              <a:t>DOK 3 · SSP.04 Argumentation</a:t>
            </a:r>
            <a:endParaRPr lang="en-US" sz="1100" dirty="0"/>
          </a:p>
        </p:txBody>
      </p:sp>
      <p:sp>
        <p:nvSpPr>
          <p:cNvPr id="10" name="Text 8"/>
          <p:cNvSpPr/>
          <p:nvPr/>
        </p:nvSpPr>
        <p:spPr>
          <a:xfrm>
            <a:off x="822960" y="5175504"/>
            <a:ext cx="6492240" cy="566928"/>
          </a:xfrm>
          <a:prstGeom prst="rect">
            <a:avLst/>
          </a:prstGeom>
          <a:noFill/>
          <a:ln/>
        </p:spPr>
        <p:txBody>
          <a:bodyPr wrap="square" rtlCol="0" anchor="t"/>
          <a:lstStyle/>
          <a:p>
            <a:pPr indent="0" marL="0">
              <a:lnSpc>
                <a:spcPct val="100000"/>
              </a:lnSpc>
              <a:buNone/>
            </a:pPr>
            <a:r>
              <a:rPr lang="en-US" sz="1250" i="1" dirty="0">
                <a:solidFill>
                  <a:srgbClr val="1F2430"/>
                </a:solidFill>
                <a:latin typeface="Calibri" pitchFamily="34" charset="0"/>
                <a:ea typeface="Calibri" pitchFamily="34" charset="-122"/>
                <a:cs typeface="Calibri" pitchFamily="34" charset="-120"/>
              </a:rPr>
              <a:t>Argue: were political machines a net good or a net harm for new immigrants? Take a position and weigh services against costs with evidence.</a:t>
            </a:r>
            <a:endParaRPr lang="en-US" sz="1250" dirty="0"/>
          </a:p>
        </p:txBody>
      </p:sp>
      <p:sp>
        <p:nvSpPr>
          <p:cNvPr id="11" name="Shape 9"/>
          <p:cNvSpPr/>
          <p:nvPr/>
        </p:nvSpPr>
        <p:spPr>
          <a:xfrm>
            <a:off x="7818120" y="1691640"/>
            <a:ext cx="3794760" cy="4114800"/>
          </a:xfrm>
          <a:prstGeom prst="roundRect">
            <a:avLst>
              <a:gd name="adj" fmla="val 2410"/>
            </a:avLst>
          </a:prstGeom>
          <a:solidFill>
            <a:srgbClr val="1F3A5F"/>
          </a:solidFill>
          <a:ln/>
        </p:spPr>
        <p:txBody>
          <a:bodyPr/>
          <a:p/>
        </p:txBody>
      </p:sp>
      <p:sp>
        <p:nvSpPr>
          <p:cNvPr id="12" name="Text 10"/>
          <p:cNvSpPr/>
          <p:nvPr/>
        </p:nvSpPr>
        <p:spPr>
          <a:xfrm>
            <a:off x="8092440" y="1920240"/>
            <a:ext cx="2286000" cy="320040"/>
          </a:xfrm>
          <a:prstGeom prst="rect">
            <a:avLst/>
          </a:prstGeom>
          <a:noFill/>
          <a:ln/>
        </p:spPr>
        <p:txBody>
          <a:bodyPr wrap="square" rtlCol="0" anchor="ctr"/>
          <a:lstStyle/>
          <a:p>
            <a:pPr indent="0" marL="0">
              <a:buNone/>
            </a:pPr>
            <a:r>
              <a:rPr lang="en-US" sz="1200" b="1" spc="200" kern="0" dirty="0">
                <a:solidFill>
                  <a:srgbClr val="F9A825"/>
                </a:solidFill>
                <a:latin typeface="Trebuchet MS" pitchFamily="34" charset="0"/>
                <a:ea typeface="Trebuchet MS" pitchFamily="34" charset="-122"/>
                <a:cs typeface="Trebuchet MS" pitchFamily="34" charset="-120"/>
              </a:rPr>
              <a:t>EXIT TICKET</a:t>
            </a:r>
            <a:endParaRPr lang="en-US" sz="1200" dirty="0"/>
          </a:p>
        </p:txBody>
      </p:sp>
      <p:sp>
        <p:nvSpPr>
          <p:cNvPr id="13" name="Shape 11"/>
          <p:cNvSpPr/>
          <p:nvPr/>
        </p:nvSpPr>
        <p:spPr>
          <a:xfrm>
            <a:off x="10378440" y="1883664"/>
            <a:ext cx="960120" cy="365760"/>
          </a:xfrm>
          <a:prstGeom prst="roundRect">
            <a:avLst>
              <a:gd name="adj" fmla="val 20000"/>
            </a:avLst>
          </a:prstGeom>
          <a:solidFill>
            <a:srgbClr val="243047"/>
          </a:solidFill>
          <a:ln w="9525">
            <a:solidFill>
              <a:srgbClr val="C9A227"/>
            </a:solidFill>
            <a:prstDash val="solid"/>
          </a:ln>
        </p:spPr>
        <p:txBody>
          <a:bodyPr/>
          <a:p/>
        </p:txBody>
      </p:sp>
      <p:sp>
        <p:nvSpPr>
          <p:cNvPr id="14" name="Text 12"/>
          <p:cNvSpPr/>
          <p:nvPr/>
        </p:nvSpPr>
        <p:spPr>
          <a:xfrm>
            <a:off x="10378440" y="1883664"/>
            <a:ext cx="960120" cy="365760"/>
          </a:xfrm>
          <a:prstGeom prst="rect">
            <a:avLst/>
          </a:prstGeom>
          <a:noFill/>
          <a:ln/>
        </p:spPr>
        <p:txBody>
          <a:bodyPr wrap="square" rtlCol="0" anchor="ctr"/>
          <a:lstStyle/>
          <a:p>
            <a:pPr algn="ctr" indent="0" marL="0">
              <a:buNone/>
            </a:pPr>
            <a:r>
              <a:rPr lang="en-US" sz="1000" b="1" dirty="0">
                <a:solidFill>
                  <a:srgbClr val="F9A825"/>
                </a:solidFill>
                <a:latin typeface="Trebuchet MS" pitchFamily="34" charset="0"/>
                <a:ea typeface="Trebuchet MS" pitchFamily="34" charset="-122"/>
                <a:cs typeface="Trebuchet MS" pitchFamily="34" charset="-120"/>
              </a:rPr>
              <a:t>DOK 2</a:t>
            </a:r>
            <a:endParaRPr lang="en-US" sz="1000" dirty="0"/>
          </a:p>
        </p:txBody>
      </p:sp>
      <p:sp>
        <p:nvSpPr>
          <p:cNvPr id="15" name="Text 13"/>
          <p:cNvSpPr/>
          <p:nvPr/>
        </p:nvSpPr>
        <p:spPr>
          <a:xfrm>
            <a:off x="8092440" y="2377440"/>
            <a:ext cx="3246120" cy="1828800"/>
          </a:xfrm>
          <a:prstGeom prst="rect">
            <a:avLst/>
          </a:prstGeom>
          <a:noFill/>
          <a:ln/>
        </p:spPr>
        <p:txBody>
          <a:bodyPr wrap="square" rtlCol="0" anchor="t"/>
          <a:lstStyle/>
          <a:p>
            <a:pPr indent="0" marL="0">
              <a:lnSpc>
                <a:spcPct val="110000"/>
              </a:lnSpc>
              <a:buNone/>
            </a:pPr>
            <a:r>
              <a:rPr lang="en-US" sz="1350" dirty="0">
                <a:solidFill>
                  <a:srgbClr val="FFFFFF"/>
                </a:solidFill>
                <a:latin typeface="Calibri" pitchFamily="34" charset="0"/>
                <a:ea typeface="Calibri" pitchFamily="34" charset="-122"/>
                <a:cs typeface="Calibri" pitchFamily="34" charset="-120"/>
              </a:rPr>
              <a:t>Why might poor city residents SUPPORT a corrupt political machine? Give one reason and one cost of that support.</a:t>
            </a:r>
            <a:endParaRPr lang="en-US" sz="1350" dirty="0"/>
          </a:p>
        </p:txBody>
      </p:sp>
      <p:sp>
        <p:nvSpPr>
          <p:cNvPr id="16" name="Shape 14"/>
          <p:cNvSpPr/>
          <p:nvPr/>
        </p:nvSpPr>
        <p:spPr>
          <a:xfrm>
            <a:off x="8138160" y="4526280"/>
            <a:ext cx="3108960" cy="0"/>
          </a:xfrm>
          <a:prstGeom prst="line">
            <a:avLst/>
          </a:prstGeom>
          <a:noFill/>
          <a:ln w="12700">
            <a:solidFill>
              <a:srgbClr val="A7BACB"/>
            </a:solidFill>
            <a:prstDash val="dash"/>
          </a:ln>
        </p:spPr>
        <p:txBody>
          <a:bodyPr/>
          <a:p/>
        </p:txBody>
      </p:sp>
      <p:sp>
        <p:nvSpPr>
          <p:cNvPr id="17" name="Shape 15"/>
          <p:cNvSpPr/>
          <p:nvPr/>
        </p:nvSpPr>
        <p:spPr>
          <a:xfrm>
            <a:off x="8138160" y="5074920"/>
            <a:ext cx="3108960" cy="0"/>
          </a:xfrm>
          <a:prstGeom prst="line">
            <a:avLst/>
          </a:prstGeom>
          <a:noFill/>
          <a:ln w="12700">
            <a:solidFill>
              <a:srgbClr val="A7BACB"/>
            </a:solidFill>
            <a:prstDash val="dash"/>
          </a:ln>
        </p:spPr>
        <p:txBody>
          <a:bodyPr/>
          <a:p/>
        </p:txBody>
      </p:sp>
      <p:sp>
        <p:nvSpPr>
          <p:cNvPr id="18" name="Shape 16"/>
          <p:cNvSpPr/>
          <p:nvPr/>
        </p:nvSpPr>
        <p:spPr>
          <a:xfrm>
            <a:off x="8138160" y="5623560"/>
            <a:ext cx="3108960" cy="0"/>
          </a:xfrm>
          <a:prstGeom prst="line">
            <a:avLst/>
          </a:prstGeom>
          <a:noFill/>
          <a:ln w="12700">
            <a:solidFill>
              <a:srgbClr val="A7BACB"/>
            </a:solidFill>
            <a:prstDash val="dash"/>
          </a:ln>
        </p:spPr>
        <p:txBody>
          <a:bodyPr/>
          <a:p/>
        </p:txBody>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63</a:t>
            </a:r>
            <a:endParaRPr lang="en-US" sz="900" dirty="0"/>
          </a:p>
        </p:txBody>
      </p:sp>
      <p:sp>
        <p:nvSpPr>
          <p:cNvPr id="22" name="Rectangle 21"/>
          <p:cNvSpPr/>
          <p:nvPr/>
        </p:nvSpPr>
        <p:spPr>
          <a:xfrm>
            <a:off x="457200" y="5870448"/>
            <a:ext cx="11274552" cy="512064"/>
          </a:xfrm>
          <a:prstGeom prst="rect">
            <a:avLst/>
          </a:prstGeom>
          <a:solidFill>
            <a:srgbClr val="232F40"/>
          </a:solidFill>
          <a:ln w="12700">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3504" y="5907024"/>
            <a:ext cx="10972800" cy="457200"/>
          </a:xfrm>
          <a:prstGeom prst="rect">
            <a:avLst/>
          </a:prstGeom>
          <a:noFill/>
        </p:spPr>
        <p:txBody>
          <a:bodyPr wrap="square" anchor="t" lIns="0" rIns="0" tIns="0" bIns="0">
            <a:spAutoFit/>
          </a:bodyPr>
          <a:lstStyle/>
          <a:p>
            <a:pPr algn="l">
              <a:spcBef>
                <a:spcPts val="0"/>
              </a:spcBef>
              <a:spcAft>
                <a:spcPts val="0"/>
              </a:spcAft>
            </a:pPr>
            <a:r>
              <a:rPr sz="1000" b="1">
                <a:solidFill>
                  <a:srgbClr val="C9A227"/>
                </a:solidFill>
                <a:latin typeface="Trebuchet MS"/>
              </a:rPr>
              <a:t>TEACHER DECISION BAND   </a:t>
            </a:r>
            <a:r>
              <a:rPr sz="1000" b="0">
                <a:solidFill>
                  <a:srgbClr val="FFFFFF"/>
                </a:solidFill>
                <a:latin typeface="Calibri"/>
              </a:rPr>
              <a:t>PROGRESS CHECK → identify barrier → select support → reteach → recheck → extend</a:t>
            </a:r>
          </a:p>
          <a:p>
            <a:pPr algn="l">
              <a:spcBef>
                <a:spcPts val="0"/>
              </a:spcBef>
              <a:spcAft>
                <a:spcPts val="0"/>
              </a:spcAft>
            </a:pPr>
            <a:r>
              <a:rPr sz="1000" b="1">
                <a:solidFill>
                  <a:srgbClr val="C9A227"/>
                </a:solidFill>
                <a:latin typeface="Trebuchet MS"/>
              </a:rPr>
              <a:t>SCAFFOLD FADING   </a:t>
            </a:r>
            <a:r>
              <a:rPr sz="1000" b="0">
                <a:solidFill>
                  <a:srgbClr val="C7D4E0"/>
                </a:solidFill>
                <a:latin typeface="Calibri"/>
              </a:rPr>
              <a:t>Guided → Light → independent as evidence grows; required IEP/504 supports do not fade unless the authorized team changes them.</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3">
    <p:bg>
      <p:bgPr>
        <a:solidFill>
          <a:srgbClr val="1F3A5F"/>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B22234"/>
          </a:solidFill>
          <a:ln/>
        </p:spPr>
        <p:txBody>
          <a:bodyPr/>
          <a:p/>
        </p:txBody>
      </p:sp>
      <p:sp>
        <p:nvSpPr>
          <p:cNvPr id="3" name="Shape 1"/>
          <p:cNvSpPr/>
          <p:nvPr/>
        </p:nvSpPr>
        <p:spPr>
          <a:xfrm>
            <a:off x="320040" y="0"/>
            <a:ext cx="109728" cy="6858000"/>
          </a:xfrm>
          <a:prstGeom prst="rect">
            <a:avLst/>
          </a:prstGeom>
          <a:solidFill>
            <a:srgbClr val="C9A227"/>
          </a:solidFill>
          <a:ln/>
        </p:spPr>
        <p:txBody>
          <a:bodyPr/>
          <a:p/>
        </p:txBody>
      </p:sp>
      <p:sp>
        <p:nvSpPr>
          <p:cNvPr id="4" name="Text 2"/>
          <p:cNvSpPr/>
          <p:nvPr/>
        </p:nvSpPr>
        <p:spPr>
          <a:xfrm>
            <a:off x="914400" y="1005840"/>
            <a:ext cx="5486400" cy="365760"/>
          </a:xfrm>
          <a:prstGeom prst="rect">
            <a:avLst/>
          </a:prstGeom>
          <a:noFill/>
          <a:ln/>
        </p:spPr>
        <p:txBody>
          <a:bodyPr wrap="square" rtlCol="0" anchor="ctr"/>
          <a:lstStyle/>
          <a:p>
            <a:pPr indent="0" marL="0">
              <a:buNone/>
            </a:pPr>
            <a:r>
              <a:rPr lang="en-US" sz="1500" b="1" spc="400" kern="0" dirty="0">
                <a:solidFill>
                  <a:srgbClr val="F9A825"/>
                </a:solidFill>
                <a:latin typeface="Trebuchet MS" pitchFamily="34" charset="0"/>
                <a:ea typeface="Trebuchet MS" pitchFamily="34" charset="-122"/>
                <a:cs typeface="Trebuchet MS" pitchFamily="34" charset="-120"/>
              </a:rPr>
              <a:t>STANDARD</a:t>
            </a:r>
            <a:endParaRPr lang="en-US" sz="1500" dirty="0"/>
          </a:p>
        </p:txBody>
      </p:sp>
      <p:sp>
        <p:nvSpPr>
          <p:cNvPr id="5" name="Text 3"/>
          <p:cNvSpPr/>
          <p:nvPr/>
        </p:nvSpPr>
        <p:spPr>
          <a:xfrm>
            <a:off x="868680" y="1325880"/>
            <a:ext cx="5486400" cy="1371600"/>
          </a:xfrm>
          <a:prstGeom prst="rect">
            <a:avLst/>
          </a:prstGeom>
          <a:noFill/>
          <a:ln/>
        </p:spPr>
        <p:txBody>
          <a:bodyPr wrap="square" rtlCol="0" anchor="ctr"/>
          <a:lstStyle/>
          <a:p>
            <a:pPr indent="0" marL="0">
              <a:buNone/>
            </a:pPr>
            <a:r>
              <a:rPr lang="en-US" sz="8800" b="1" dirty="0">
                <a:solidFill>
                  <a:srgbClr val="FFFFFF"/>
                </a:solidFill>
                <a:latin typeface="Georgia" pitchFamily="34" charset="0"/>
                <a:ea typeface="Georgia" pitchFamily="34" charset="-122"/>
                <a:cs typeface="Georgia" pitchFamily="34" charset="-120"/>
              </a:rPr>
              <a:t>US.05</a:t>
            </a:r>
            <a:endParaRPr lang="en-US" sz="8800" dirty="0"/>
          </a:p>
        </p:txBody>
      </p:sp>
      <p:sp>
        <p:nvSpPr>
          <p:cNvPr id="6" name="Text 4"/>
          <p:cNvSpPr/>
          <p:nvPr/>
        </p:nvSpPr>
        <p:spPr>
          <a:xfrm>
            <a:off x="914400" y="2670048"/>
            <a:ext cx="5577840" cy="1234440"/>
          </a:xfrm>
          <a:prstGeom prst="rect">
            <a:avLst/>
          </a:prstGeom>
          <a:noFill/>
          <a:ln/>
        </p:spPr>
        <p:txBody>
          <a:bodyPr wrap="square" rtlCol="0" anchor="t"/>
          <a:lstStyle/>
          <a:p>
            <a:pPr indent="0" marL="0">
              <a:lnSpc>
                <a:spcPct val="102000"/>
              </a:lnSpc>
              <a:buNone/>
            </a:pPr>
            <a:r>
              <a:rPr lang="en-US" sz="2200" i="1" dirty="0">
                <a:solidFill>
                  <a:srgbClr val="F9A825"/>
                </a:solidFill>
                <a:latin typeface="Georgia" pitchFamily="34" charset="0"/>
                <a:ea typeface="Georgia" pitchFamily="34" charset="-122"/>
                <a:cs typeface="Georgia" pitchFamily="34" charset="-120"/>
              </a:rPr>
              <a:t>Inventions &amp; Innovations of Business Leaders &amp; Entrepreneurs</a:t>
            </a:r>
            <a:endParaRPr lang="en-US" sz="2200" dirty="0"/>
          </a:p>
        </p:txBody>
      </p:sp>
      <p:sp>
        <p:nvSpPr>
          <p:cNvPr id="7" name="Text 5"/>
          <p:cNvSpPr/>
          <p:nvPr/>
        </p:nvSpPr>
        <p:spPr>
          <a:xfrm>
            <a:off x="6812280" y="1078992"/>
            <a:ext cx="4480560" cy="274320"/>
          </a:xfrm>
          <a:prstGeom prst="rect">
            <a:avLst/>
          </a:prstGeom>
          <a:noFill/>
          <a:ln/>
        </p:spPr>
        <p:txBody>
          <a:bodyPr wrap="square" rtlCol="0" anchor="ctr"/>
          <a:lstStyle/>
          <a:p>
            <a:pPr algn="l" indent="0" marL="0">
              <a:buNone/>
            </a:pPr>
            <a:r>
              <a:rPr lang="en-US" sz="1100" b="1" spc="200" kern="0" dirty="0">
                <a:solidFill>
                  <a:srgbClr val="A7BACB"/>
                </a:solidFill>
                <a:latin typeface="Trebuchet MS" pitchFamily="34" charset="0"/>
                <a:ea typeface="Trebuchet MS" pitchFamily="34" charset="-122"/>
                <a:cs typeface="Trebuchet MS" pitchFamily="34" charset="-120"/>
              </a:rPr>
              <a:t>SOCIAL STUDIES PRACTICES</a:t>
            </a:r>
            <a:endParaRPr lang="en-US" sz="1100" dirty="0"/>
          </a:p>
        </p:txBody>
      </p:sp>
      <p:sp>
        <p:nvSpPr>
          <p:cNvPr id="8" name="Shape 6"/>
          <p:cNvSpPr/>
          <p:nvPr/>
        </p:nvSpPr>
        <p:spPr>
          <a:xfrm>
            <a:off x="6812280" y="1417320"/>
            <a:ext cx="1078992" cy="292608"/>
          </a:xfrm>
          <a:prstGeom prst="roundRect">
            <a:avLst>
              <a:gd name="adj" fmla="val 18750"/>
            </a:avLst>
          </a:prstGeom>
          <a:solidFill>
            <a:srgbClr val="C9A227"/>
          </a:solidFill>
          <a:ln/>
        </p:spPr>
        <p:txBody>
          <a:bodyPr/>
          <a:p/>
        </p:txBody>
      </p:sp>
      <p:sp>
        <p:nvSpPr>
          <p:cNvPr id="9" name="Text 7"/>
          <p:cNvSpPr/>
          <p:nvPr/>
        </p:nvSpPr>
        <p:spPr>
          <a:xfrm>
            <a:off x="6812280" y="1417320"/>
            <a:ext cx="1078992" cy="292608"/>
          </a:xfrm>
          <a:prstGeom prst="rect">
            <a:avLst/>
          </a:prstGeom>
          <a:noFill/>
          <a:ln/>
        </p:spPr>
        <p:txBody>
          <a:bodyPr wrap="square" rtlCol="0" anchor="ctr"/>
          <a:lstStyle/>
          <a:p>
            <a:pPr algn="ctr" indent="0" marL="0">
              <a:buNone/>
            </a:pPr>
            <a:r>
              <a:rPr lang="en-US" sz="1100" b="1" dirty="0">
                <a:solidFill>
                  <a:srgbClr val="1F3A5F"/>
                </a:solidFill>
                <a:latin typeface="Trebuchet MS" pitchFamily="34" charset="0"/>
                <a:ea typeface="Trebuchet MS" pitchFamily="34" charset="-122"/>
                <a:cs typeface="Trebuchet MS" pitchFamily="34" charset="-120"/>
              </a:rPr>
              <a:t>SSP.01</a:t>
            </a:r>
            <a:endParaRPr lang="en-US" sz="1100" dirty="0"/>
          </a:p>
        </p:txBody>
      </p:sp>
      <p:sp>
        <p:nvSpPr>
          <p:cNvPr id="10" name="Text 8"/>
          <p:cNvSpPr/>
          <p:nvPr/>
        </p:nvSpPr>
        <p:spPr>
          <a:xfrm>
            <a:off x="7973568" y="1417320"/>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Collect sources</a:t>
            </a:r>
            <a:endParaRPr lang="en-US" sz="1150" dirty="0"/>
          </a:p>
        </p:txBody>
      </p:sp>
      <p:sp>
        <p:nvSpPr>
          <p:cNvPr id="11" name="Shape 9"/>
          <p:cNvSpPr/>
          <p:nvPr/>
        </p:nvSpPr>
        <p:spPr>
          <a:xfrm>
            <a:off x="6812280" y="1755648"/>
            <a:ext cx="1078992" cy="292608"/>
          </a:xfrm>
          <a:prstGeom prst="roundRect">
            <a:avLst>
              <a:gd name="adj" fmla="val 18750"/>
            </a:avLst>
          </a:prstGeom>
          <a:solidFill>
            <a:srgbClr val="C9A227"/>
          </a:solidFill>
          <a:ln/>
        </p:spPr>
        <p:txBody>
          <a:bodyPr/>
          <a:p/>
        </p:txBody>
      </p:sp>
      <p:sp>
        <p:nvSpPr>
          <p:cNvPr id="12" name="Text 10"/>
          <p:cNvSpPr/>
          <p:nvPr/>
        </p:nvSpPr>
        <p:spPr>
          <a:xfrm>
            <a:off x="6812280" y="1755648"/>
            <a:ext cx="1078992" cy="292608"/>
          </a:xfrm>
          <a:prstGeom prst="rect">
            <a:avLst/>
          </a:prstGeom>
          <a:noFill/>
          <a:ln/>
        </p:spPr>
        <p:txBody>
          <a:bodyPr wrap="square" rtlCol="0" anchor="ctr"/>
          <a:lstStyle/>
          <a:p>
            <a:pPr algn="ctr" indent="0" marL="0">
              <a:buNone/>
            </a:pPr>
            <a:r>
              <a:rPr lang="en-US" sz="1100" b="1" dirty="0">
                <a:solidFill>
                  <a:srgbClr val="1F3A5F"/>
                </a:solidFill>
                <a:latin typeface="Trebuchet MS" pitchFamily="34" charset="0"/>
                <a:ea typeface="Trebuchet MS" pitchFamily="34" charset="-122"/>
                <a:cs typeface="Trebuchet MS" pitchFamily="34" charset="-120"/>
              </a:rPr>
              <a:t>SSP.02</a:t>
            </a:r>
            <a:endParaRPr lang="en-US" sz="1100" dirty="0"/>
          </a:p>
        </p:txBody>
      </p:sp>
      <p:sp>
        <p:nvSpPr>
          <p:cNvPr id="13" name="Text 11"/>
          <p:cNvSpPr/>
          <p:nvPr/>
        </p:nvSpPr>
        <p:spPr>
          <a:xfrm>
            <a:off x="7973568" y="1755648"/>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Examine a source</a:t>
            </a:r>
            <a:endParaRPr lang="en-US" sz="1150" dirty="0"/>
          </a:p>
        </p:txBody>
      </p:sp>
      <p:sp>
        <p:nvSpPr>
          <p:cNvPr id="14" name="Shape 12"/>
          <p:cNvSpPr/>
          <p:nvPr/>
        </p:nvSpPr>
        <p:spPr>
          <a:xfrm>
            <a:off x="6812280" y="2093976"/>
            <a:ext cx="1078992" cy="292608"/>
          </a:xfrm>
          <a:prstGeom prst="roundRect">
            <a:avLst>
              <a:gd name="adj" fmla="val 18750"/>
            </a:avLst>
          </a:prstGeom>
          <a:solidFill>
            <a:srgbClr val="C9A227"/>
          </a:solidFill>
          <a:ln/>
        </p:spPr>
        <p:txBody>
          <a:bodyPr/>
          <a:p/>
        </p:txBody>
      </p:sp>
      <p:sp>
        <p:nvSpPr>
          <p:cNvPr id="15" name="Text 13"/>
          <p:cNvSpPr/>
          <p:nvPr/>
        </p:nvSpPr>
        <p:spPr>
          <a:xfrm>
            <a:off x="6812280" y="2093976"/>
            <a:ext cx="1078992" cy="292608"/>
          </a:xfrm>
          <a:prstGeom prst="rect">
            <a:avLst/>
          </a:prstGeom>
          <a:noFill/>
          <a:ln/>
        </p:spPr>
        <p:txBody>
          <a:bodyPr wrap="square" rtlCol="0" anchor="ctr"/>
          <a:lstStyle/>
          <a:p>
            <a:pPr algn="ctr" indent="0" marL="0">
              <a:buNone/>
            </a:pPr>
            <a:r>
              <a:rPr lang="en-US" sz="1100" b="1" dirty="0">
                <a:solidFill>
                  <a:srgbClr val="1F3A5F"/>
                </a:solidFill>
                <a:latin typeface="Trebuchet MS" pitchFamily="34" charset="0"/>
                <a:ea typeface="Trebuchet MS" pitchFamily="34" charset="-122"/>
                <a:cs typeface="Trebuchet MS" pitchFamily="34" charset="-120"/>
              </a:rPr>
              <a:t>SSP.05</a:t>
            </a:r>
            <a:endParaRPr lang="en-US" sz="1100" dirty="0"/>
          </a:p>
        </p:txBody>
      </p:sp>
      <p:sp>
        <p:nvSpPr>
          <p:cNvPr id="16" name="Text 14"/>
          <p:cNvSpPr/>
          <p:nvPr/>
        </p:nvSpPr>
        <p:spPr>
          <a:xfrm>
            <a:off x="7973568" y="2093976"/>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Historical awareness</a:t>
            </a:r>
            <a:endParaRPr lang="en-US" sz="1150" dirty="0"/>
          </a:p>
        </p:txBody>
      </p:sp>
      <p:sp>
        <p:nvSpPr>
          <p:cNvPr id="17" name="Shape 15"/>
          <p:cNvSpPr/>
          <p:nvPr/>
        </p:nvSpPr>
        <p:spPr>
          <a:xfrm>
            <a:off x="914400" y="3794760"/>
            <a:ext cx="10332720" cy="1207008"/>
          </a:xfrm>
          <a:prstGeom prst="roundRect">
            <a:avLst>
              <a:gd name="adj" fmla="val 6061"/>
            </a:avLst>
          </a:prstGeom>
          <a:solidFill>
            <a:srgbClr val="243047"/>
          </a:solidFill>
          <a:ln w="9525">
            <a:solidFill>
              <a:srgbClr val="A7BACB"/>
            </a:solidFill>
            <a:prstDash val="solid"/>
          </a:ln>
        </p:spPr>
        <p:txBody>
          <a:bodyPr/>
          <a:p/>
        </p:txBody>
      </p:sp>
      <p:sp>
        <p:nvSpPr>
          <p:cNvPr id="18" name="Text 16"/>
          <p:cNvSpPr/>
          <p:nvPr/>
        </p:nvSpPr>
        <p:spPr>
          <a:xfrm>
            <a:off x="1143000" y="3913632"/>
            <a:ext cx="5486400" cy="274320"/>
          </a:xfrm>
          <a:prstGeom prst="rect">
            <a:avLst/>
          </a:prstGeom>
          <a:noFill/>
          <a:ln/>
        </p:spPr>
        <p:txBody>
          <a:bodyPr wrap="square" rtlCol="0" anchor="ctr"/>
          <a:lstStyle/>
          <a:p>
            <a:pPr indent="0" marL="0">
              <a:buNone/>
            </a:pPr>
            <a:r>
              <a:rPr lang="en-US" sz="1100" b="1" spc="200" kern="0" dirty="0">
                <a:solidFill>
                  <a:srgbClr val="A7BACB"/>
                </a:solidFill>
                <a:latin typeface="Trebuchet MS" pitchFamily="34" charset="0"/>
                <a:ea typeface="Trebuchet MS" pitchFamily="34" charset="-122"/>
                <a:cs typeface="Trebuchet MS" pitchFamily="34" charset="-120"/>
              </a:rPr>
              <a:t>TN ACADEMIC STANDARD</a:t>
            </a:r>
            <a:endParaRPr lang="en-US" sz="1100" dirty="0"/>
          </a:p>
        </p:txBody>
      </p:sp>
      <p:sp>
        <p:nvSpPr>
          <p:cNvPr id="19" name="Text 17"/>
          <p:cNvSpPr/>
          <p:nvPr/>
        </p:nvSpPr>
        <p:spPr>
          <a:xfrm>
            <a:off x="1143000" y="4206240"/>
            <a:ext cx="9875520" cy="749808"/>
          </a:xfrm>
          <a:prstGeom prst="rect">
            <a:avLst/>
          </a:prstGeom>
          <a:noFill/>
          <a:ln/>
        </p:spPr>
        <p:txBody>
          <a:bodyPr wrap="square" rtlCol="0" anchor="t"/>
          <a:lstStyle/>
          <a:p>
            <a:pPr indent="0" marL="0">
              <a:lnSpc>
                <a:spcPct val="100000"/>
              </a:lnSpc>
              <a:buNone/>
            </a:pPr>
            <a:r>
              <a:rPr lang="en-US" sz="1150" dirty="0">
                <a:solidFill>
                  <a:srgbClr val="FFFFFF"/>
                </a:solidFill>
                <a:latin typeface="Calibri" pitchFamily="34" charset="0"/>
                <a:ea typeface="Calibri" pitchFamily="34" charset="-122"/>
                <a:cs typeface="Calibri" pitchFamily="34" charset="-120"/>
              </a:rPr>
              <a:t>Describe the changes in American life that resulted from the inventions and innovations of business leaders and entrepreneurs of the period, including: Alexander Graham Bell, Henry Bessemer, Andrew Carnegie, Thomas Edison, J.P. Morgan, John D. Rockefeller, Nikola Tesla, Cornelius Vanderbilt, Madam C.J. Walker, George Washington Carver.</a:t>
            </a:r>
            <a:endParaRPr lang="en-US" sz="1150" dirty="0"/>
          </a:p>
        </p:txBody>
      </p:sp>
      <p:sp>
        <p:nvSpPr>
          <p:cNvPr id="20" name="Shape 18"/>
          <p:cNvSpPr/>
          <p:nvPr/>
        </p:nvSpPr>
        <p:spPr>
          <a:xfrm>
            <a:off x="914400" y="5120640"/>
            <a:ext cx="10332720" cy="1188720"/>
          </a:xfrm>
          <a:prstGeom prst="roundRect">
            <a:avLst>
              <a:gd name="adj" fmla="val 6154"/>
            </a:avLst>
          </a:prstGeom>
          <a:solidFill>
            <a:srgbClr val="C9A227"/>
          </a:solidFill>
          <a:ln/>
        </p:spPr>
        <p:txBody>
          <a:bodyPr/>
          <a:p/>
        </p:txBody>
      </p:sp>
      <p:sp>
        <p:nvSpPr>
          <p:cNvPr id="21" name="Text 19"/>
          <p:cNvSpPr/>
          <p:nvPr/>
        </p:nvSpPr>
        <p:spPr>
          <a:xfrm>
            <a:off x="1143000" y="5230368"/>
            <a:ext cx="1828800" cy="292608"/>
          </a:xfrm>
          <a:prstGeom prst="rect">
            <a:avLst/>
          </a:prstGeom>
          <a:noFill/>
          <a:ln/>
        </p:spPr>
        <p:txBody>
          <a:bodyPr wrap="square" rtlCol="0" anchor="ctr"/>
          <a:lstStyle/>
          <a:p>
            <a:pPr indent="0" marL="0">
              <a:buNone/>
            </a:pPr>
            <a:r>
              <a:rPr lang="en-US" sz="1300" b="1" spc="200" kern="0" dirty="0">
                <a:solidFill>
                  <a:srgbClr val="1F3A5F"/>
                </a:solidFill>
                <a:latin typeface="Trebuchet MS" pitchFamily="34" charset="0"/>
                <a:ea typeface="Trebuchet MS" pitchFamily="34" charset="-122"/>
                <a:cs typeface="Trebuchet MS" pitchFamily="34" charset="-120"/>
              </a:rPr>
              <a:t>I CAN</a:t>
            </a:r>
            <a:endParaRPr lang="en-US" sz="1300" dirty="0"/>
          </a:p>
        </p:txBody>
      </p:sp>
      <p:sp>
        <p:nvSpPr>
          <p:cNvPr id="22" name="Text 20"/>
          <p:cNvSpPr/>
          <p:nvPr/>
        </p:nvSpPr>
        <p:spPr>
          <a:xfrm>
            <a:off x="1143000" y="5504688"/>
            <a:ext cx="9875520" cy="749808"/>
          </a:xfrm>
          <a:prstGeom prst="rect">
            <a:avLst/>
          </a:prstGeom>
          <a:noFill/>
          <a:ln/>
        </p:spPr>
        <p:txBody>
          <a:bodyPr wrap="square" rtlCol="0" anchor="t"/>
          <a:lstStyle/>
          <a:p>
            <a:pPr indent="0" marL="0">
              <a:lnSpc>
                <a:spcPct val="100000"/>
              </a:lnSpc>
              <a:buNone/>
            </a:pPr>
            <a:r>
              <a:rPr lang="en-US" sz="1150" b="1" dirty="0">
                <a:solidFill>
                  <a:srgbClr val="1F3A5F"/>
                </a:solidFill>
                <a:latin typeface="Calibri" pitchFamily="34" charset="0"/>
                <a:ea typeface="Calibri" pitchFamily="34" charset="-122"/>
                <a:cs typeface="Calibri" pitchFamily="34" charset="-120"/>
              </a:rPr>
              <a:t>I can describe the changes in American life that resulted from the inventions and innovations of business leaders and entrepreneurs of the period, including Alexander Graham Bell, Andrew Carnegie, Thomas Edison, John D. Rockefeller, Madam C.J. Walker, and George Washington Carver.</a:t>
            </a:r>
            <a:endParaRPr lang="en-US" sz="1150" dirty="0"/>
          </a:p>
        </p:txBody>
      </p:sp>
      <p:sp>
        <p:nvSpPr>
          <p:cNvPr id="23" name="Text 21"/>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4" name="Text 2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64</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4">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227"/>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B22234"/>
                </a:solidFill>
                <a:latin typeface="Trebuchet MS" pitchFamily="34" charset="0"/>
                <a:ea typeface="Trebuchet MS" pitchFamily="34" charset="-122"/>
                <a:cs typeface="Trebuchet MS" pitchFamily="34" charset="-120"/>
              </a:rPr>
              <a:t>US.05 · QUICK REVIEW</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F3A5F"/>
                </a:solidFill>
                <a:latin typeface="Georgia" pitchFamily="34" charset="0"/>
                <a:ea typeface="Georgia" pitchFamily="34" charset="-122"/>
                <a:cs typeface="Georgia" pitchFamily="34" charset="-120"/>
              </a:rPr>
              <a:t>Do You Remember?</a:t>
            </a:r>
            <a:endParaRPr lang="en-US" sz="3000" dirty="0"/>
          </a:p>
        </p:txBody>
      </p:sp>
      <p:sp>
        <p:nvSpPr>
          <p:cNvPr id="5" name="Text 3"/>
          <p:cNvSpPr/>
          <p:nvPr/>
        </p:nvSpPr>
        <p:spPr>
          <a:xfrm>
            <a:off x="548640" y="141732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Before we start, retrieve what we have already learned. Answer from memory first — no notes.</a:t>
            </a:r>
            <a:endParaRPr lang="en-US" sz="1400" dirty="0"/>
          </a:p>
        </p:txBody>
      </p:sp>
      <p:sp>
        <p:nvSpPr>
          <p:cNvPr id="6" name="Shape 4"/>
          <p:cNvSpPr/>
          <p:nvPr/>
        </p:nvSpPr>
        <p:spPr>
          <a:xfrm>
            <a:off x="548640" y="2057400"/>
            <a:ext cx="11064240" cy="1234440"/>
          </a:xfrm>
          <a:prstGeom prst="rect">
            <a:avLst/>
          </a:prstGeom>
          <a:solidFill>
            <a:srgbClr val="FFFFFF"/>
          </a:solidFill>
          <a:ln w="12700">
            <a:solidFill>
              <a:srgbClr val="DAD3C2"/>
            </a:solidFill>
            <a:prstDash val="solid"/>
          </a:ln>
        </p:spPr>
        <p:txBody>
          <a:bodyPr/>
          <a:p/>
        </p:txBody>
      </p:sp>
      <p:sp>
        <p:nvSpPr>
          <p:cNvPr id="7" name="Shape 5"/>
          <p:cNvSpPr/>
          <p:nvPr/>
        </p:nvSpPr>
        <p:spPr>
          <a:xfrm>
            <a:off x="548640" y="2057400"/>
            <a:ext cx="777240" cy="1234440"/>
          </a:xfrm>
          <a:prstGeom prst="rect">
            <a:avLst/>
          </a:prstGeom>
          <a:solidFill>
            <a:srgbClr val="1F3A5F"/>
          </a:solidFill>
          <a:ln/>
        </p:spPr>
        <p:txBody>
          <a:bodyPr/>
          <a:p/>
        </p:txBody>
      </p:sp>
      <p:sp>
        <p:nvSpPr>
          <p:cNvPr id="8" name="Text 6"/>
          <p:cNvSpPr/>
          <p:nvPr/>
        </p:nvSpPr>
        <p:spPr>
          <a:xfrm>
            <a:off x="548640" y="2057400"/>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1</a:t>
            </a:r>
            <a:endParaRPr lang="en-US" sz="2000" dirty="0"/>
          </a:p>
        </p:txBody>
      </p:sp>
      <p:sp>
        <p:nvSpPr>
          <p:cNvPr id="9" name="Text 7"/>
          <p:cNvSpPr/>
          <p:nvPr/>
        </p:nvSpPr>
        <p:spPr>
          <a:xfrm>
            <a:off x="1508760" y="2057400"/>
            <a:ext cx="9966960" cy="1234440"/>
          </a:xfrm>
          <a:prstGeom prst="rect">
            <a:avLst/>
          </a:prstGeom>
          <a:noFill/>
          <a:ln/>
        </p:spPr>
        <p:txBody>
          <a:bodyPr wrap="square" rtlCol="0" anchor="ctr"/>
          <a:lstStyle/>
          <a:p>
            <a:pPr indent="0" marL="0">
              <a:lnSpc>
                <a:spcPct val="104000"/>
              </a:lnSpc>
              <a:buNone/>
            </a:pPr>
            <a:r>
              <a:rPr lang="en-US" sz="1350" b="1" dirty="0">
                <a:solidFill>
                  <a:srgbClr val="B22234"/>
                </a:solidFill>
                <a:latin typeface="Calibri" pitchFamily="34" charset="0"/>
                <a:ea typeface="Calibri" pitchFamily="34" charset="-122"/>
                <a:cs typeface="Calibri" pitchFamily="34" charset="-120"/>
              </a:rPr>
              <a:t>US.04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What was a political machine, and how did bosses like Tweed stay in power?</a:t>
            </a:r>
            <a:endParaRPr lang="en-US" sz="1350" dirty="0"/>
          </a:p>
        </p:txBody>
      </p:sp>
      <p:sp>
        <p:nvSpPr>
          <p:cNvPr id="10" name="Shape 8"/>
          <p:cNvSpPr/>
          <p:nvPr/>
        </p:nvSpPr>
        <p:spPr>
          <a:xfrm>
            <a:off x="548640" y="3456432"/>
            <a:ext cx="11064240" cy="1234440"/>
          </a:xfrm>
          <a:prstGeom prst="rect">
            <a:avLst/>
          </a:prstGeom>
          <a:solidFill>
            <a:srgbClr val="FFFFFF"/>
          </a:solidFill>
          <a:ln w="12700">
            <a:solidFill>
              <a:srgbClr val="DAD3C2"/>
            </a:solidFill>
            <a:prstDash val="solid"/>
          </a:ln>
        </p:spPr>
        <p:txBody>
          <a:bodyPr/>
          <a:p/>
        </p:txBody>
      </p:sp>
      <p:sp>
        <p:nvSpPr>
          <p:cNvPr id="11" name="Shape 9"/>
          <p:cNvSpPr/>
          <p:nvPr/>
        </p:nvSpPr>
        <p:spPr>
          <a:xfrm>
            <a:off x="548640" y="3456432"/>
            <a:ext cx="777240" cy="1234440"/>
          </a:xfrm>
          <a:prstGeom prst="rect">
            <a:avLst/>
          </a:prstGeom>
          <a:solidFill>
            <a:srgbClr val="1F3A5F"/>
          </a:solidFill>
          <a:ln/>
        </p:spPr>
        <p:txBody>
          <a:bodyPr/>
          <a:p/>
        </p:txBody>
      </p:sp>
      <p:sp>
        <p:nvSpPr>
          <p:cNvPr id="12" name="Text 10"/>
          <p:cNvSpPr/>
          <p:nvPr/>
        </p:nvSpPr>
        <p:spPr>
          <a:xfrm>
            <a:off x="548640" y="3456432"/>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2</a:t>
            </a:r>
            <a:endParaRPr lang="en-US" sz="2000" dirty="0"/>
          </a:p>
        </p:txBody>
      </p:sp>
      <p:sp>
        <p:nvSpPr>
          <p:cNvPr id="13" name="Text 11"/>
          <p:cNvSpPr/>
          <p:nvPr/>
        </p:nvSpPr>
        <p:spPr>
          <a:xfrm>
            <a:off x="1508760" y="3456432"/>
            <a:ext cx="9966960" cy="1234440"/>
          </a:xfrm>
          <a:prstGeom prst="rect">
            <a:avLst/>
          </a:prstGeom>
          <a:noFill/>
          <a:ln/>
        </p:spPr>
        <p:txBody>
          <a:bodyPr wrap="square" rtlCol="0" anchor="ctr"/>
          <a:lstStyle/>
          <a:p>
            <a:pPr indent="0" marL="0">
              <a:lnSpc>
                <a:spcPct val="104000"/>
              </a:lnSpc>
              <a:buNone/>
            </a:pPr>
            <a:r>
              <a:rPr lang="en-US" sz="1350" b="1" dirty="0">
                <a:solidFill>
                  <a:srgbClr val="B22234"/>
                </a:solidFill>
                <a:latin typeface="Calibri" pitchFamily="34" charset="0"/>
                <a:ea typeface="Calibri" pitchFamily="34" charset="-122"/>
                <a:cs typeface="Calibri" pitchFamily="34" charset="-120"/>
              </a:rPr>
              <a:t>US.04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What problem did the Pendleton Act fix?</a:t>
            </a:r>
            <a:endParaRPr lang="en-US" sz="135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65</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5">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227"/>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B22234"/>
                </a:solidFill>
                <a:latin typeface="Trebuchet MS" pitchFamily="34" charset="0"/>
                <a:ea typeface="Trebuchet MS" pitchFamily="34" charset="-122"/>
                <a:cs typeface="Trebuchet MS" pitchFamily="34" charset="-120"/>
              </a:rPr>
              <a:t>US.05 · CONFIDENCE CHECK</a:t>
            </a:r>
            <a:endParaRPr lang="en-US" sz="1200" dirty="0"/>
          </a:p>
        </p:txBody>
      </p:sp>
      <p:sp>
        <p:nvSpPr>
          <p:cNvPr id="4" name="Text 2"/>
          <p:cNvSpPr/>
          <p:nvPr/>
        </p:nvSpPr>
        <p:spPr>
          <a:xfrm>
            <a:off x="548640" y="731520"/>
            <a:ext cx="7863840" cy="640080"/>
          </a:xfrm>
          <a:prstGeom prst="rect">
            <a:avLst/>
          </a:prstGeom>
          <a:noFill/>
          <a:ln/>
        </p:spPr>
        <p:txBody>
          <a:bodyPr wrap="square" rtlCol="0" anchor="ctr"/>
          <a:lstStyle/>
          <a:p>
            <a:pPr indent="0" marL="0">
              <a:buNone/>
            </a:pPr>
            <a:r>
              <a:rPr lang="en-US" sz="3000" b="1" dirty="0">
                <a:solidFill>
                  <a:srgbClr val="1F3A5F"/>
                </a:solidFill>
                <a:latin typeface="Georgia" pitchFamily="34" charset="0"/>
                <a:ea typeface="Georgia" pitchFamily="34" charset="-122"/>
                <a:cs typeface="Georgia" pitchFamily="34" charset="-120"/>
              </a:rPr>
              <a:t>Warm-Up — Quick Recall</a:t>
            </a:r>
            <a:endParaRPr lang="en-US" sz="3000" dirty="0"/>
          </a:p>
        </p:txBody>
      </p:sp>
      <p:sp>
        <p:nvSpPr>
          <p:cNvPr id="5" name="Shape 3"/>
          <p:cNvSpPr/>
          <p:nvPr/>
        </p:nvSpPr>
        <p:spPr>
          <a:xfrm>
            <a:off x="8686800" y="786384"/>
            <a:ext cx="1143000" cy="457200"/>
          </a:xfrm>
          <a:prstGeom prst="roundRect">
            <a:avLst>
              <a:gd name="adj" fmla="val 20000"/>
            </a:avLst>
          </a:prstGeom>
          <a:solidFill>
            <a:srgbClr val="FBEFD0"/>
          </a:solidFill>
          <a:ln w="15875">
            <a:solidFill>
              <a:srgbClr val="C9A227"/>
            </a:solidFill>
            <a:prstDash val="solid"/>
          </a:ln>
        </p:spPr>
        <p:txBody>
          <a:bodyPr/>
          <a:p/>
        </p:txBody>
      </p:sp>
      <p:sp>
        <p:nvSpPr>
          <p:cNvPr id="6" name="Text 4"/>
          <p:cNvSpPr/>
          <p:nvPr/>
        </p:nvSpPr>
        <p:spPr>
          <a:xfrm>
            <a:off x="8686800" y="786384"/>
            <a:ext cx="1143000" cy="457200"/>
          </a:xfrm>
          <a:prstGeom prst="rect">
            <a:avLst/>
          </a:prstGeom>
          <a:noFill/>
          <a:ln/>
        </p:spPr>
        <p:txBody>
          <a:bodyPr wrap="square" rtlCol="0" anchor="ctr"/>
          <a:lstStyle/>
          <a:p>
            <a:pPr algn="ctr" indent="0" marL="0">
              <a:buNone/>
            </a:pPr>
            <a:r>
              <a:rPr lang="en-US" sz="1200" b="1" dirty="0">
                <a:solidFill>
                  <a:srgbClr val="B22234"/>
                </a:solidFill>
                <a:latin typeface="Trebuchet MS" pitchFamily="34" charset="0"/>
                <a:ea typeface="Trebuchet MS" pitchFamily="34" charset="-122"/>
                <a:cs typeface="Trebuchet MS" pitchFamily="34" charset="-120"/>
              </a:rPr>
              <a:t>DOK 1</a:t>
            </a:r>
            <a:endParaRPr lang="en-US" sz="1200" dirty="0"/>
          </a:p>
        </p:txBody>
      </p:sp>
      <p:sp>
        <p:nvSpPr>
          <p:cNvPr id="7" name="Shape 5"/>
          <p:cNvSpPr/>
          <p:nvPr/>
        </p:nvSpPr>
        <p:spPr>
          <a:xfrm>
            <a:off x="9966960" y="786384"/>
            <a:ext cx="1645920" cy="457200"/>
          </a:xfrm>
          <a:prstGeom prst="roundRect">
            <a:avLst>
              <a:gd name="adj" fmla="val 20000"/>
            </a:avLst>
          </a:prstGeom>
          <a:solidFill>
            <a:srgbClr val="1F3A5F"/>
          </a:solidFill>
          <a:ln/>
        </p:spPr>
        <p:txBody>
          <a:bodyPr/>
          <a:p/>
        </p:txBody>
      </p:sp>
      <p:sp>
        <p:nvSpPr>
          <p:cNvPr id="8" name="Text 6"/>
          <p:cNvSpPr/>
          <p:nvPr/>
        </p:nvSpPr>
        <p:spPr>
          <a:xfrm>
            <a:off x="9966960" y="786384"/>
            <a:ext cx="164592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LOW STAKES</a:t>
            </a:r>
            <a:endParaRPr lang="en-US" sz="1100" dirty="0"/>
          </a:p>
        </p:txBody>
      </p:sp>
      <p:sp>
        <p:nvSpPr>
          <p:cNvPr id="9" name="Text 7"/>
          <p:cNvSpPr/>
          <p:nvPr/>
        </p:nvSpPr>
        <p:spPr>
          <a:xfrm>
            <a:off x="548640" y="137160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Everyone can answer this. Thumbs / whiteboards — no notes.</a:t>
            </a:r>
            <a:endParaRPr lang="en-US" sz="1400" dirty="0"/>
          </a:p>
        </p:txBody>
      </p:sp>
      <p:sp>
        <p:nvSpPr>
          <p:cNvPr id="10" name="Shape 8"/>
          <p:cNvSpPr/>
          <p:nvPr/>
        </p:nvSpPr>
        <p:spPr>
          <a:xfrm>
            <a:off x="548640" y="1965960"/>
            <a:ext cx="11064240" cy="1874520"/>
          </a:xfrm>
          <a:prstGeom prst="roundRect">
            <a:avLst>
              <a:gd name="adj" fmla="val 4878"/>
            </a:avLst>
          </a:prstGeom>
          <a:solidFill>
            <a:srgbClr val="1F3A5F"/>
          </a:solidFill>
          <a:ln/>
        </p:spPr>
        <p:txBody>
          <a:bodyPr/>
          <a:p/>
        </p:txBody>
      </p:sp>
      <p:sp>
        <p:nvSpPr>
          <p:cNvPr id="11" name="Text 9"/>
          <p:cNvSpPr/>
          <p:nvPr/>
        </p:nvSpPr>
        <p:spPr>
          <a:xfrm>
            <a:off x="1005840" y="2194560"/>
            <a:ext cx="10149840" cy="1417320"/>
          </a:xfrm>
          <a:prstGeom prst="rect">
            <a:avLst/>
          </a:prstGeom>
          <a:noFill/>
          <a:ln/>
        </p:spPr>
        <p:txBody>
          <a:bodyPr wrap="square" rtlCol="0" anchor="ctr"/>
          <a:lstStyle/>
          <a:p>
            <a:pPr algn="ctr" indent="0" marL="0">
              <a:lnSpc>
                <a:spcPct val="108000"/>
              </a:lnSpc>
              <a:buNone/>
            </a:pPr>
            <a:r>
              <a:rPr lang="en-US" sz="2400" b="1" dirty="0">
                <a:solidFill>
                  <a:srgbClr val="FFFFFF"/>
                </a:solidFill>
                <a:latin typeface="Georgia" pitchFamily="34" charset="0"/>
                <a:ea typeface="Georgia" pitchFamily="34" charset="-122"/>
                <a:cs typeface="Georgia" pitchFamily="34" charset="-120"/>
              </a:rPr>
              <a:t>Owning every step from raw material to finished product is called ____ integration.</a:t>
            </a:r>
            <a:endParaRPr lang="en-US" sz="2400" dirty="0"/>
          </a:p>
        </p:txBody>
      </p:sp>
      <p:sp>
        <p:nvSpPr>
          <p:cNvPr id="12" name="Shape 10"/>
          <p:cNvSpPr/>
          <p:nvPr/>
        </p:nvSpPr>
        <p:spPr>
          <a:xfrm>
            <a:off x="548640" y="4069080"/>
            <a:ext cx="11064240" cy="1371600"/>
          </a:xfrm>
          <a:prstGeom prst="roundRect">
            <a:avLst>
              <a:gd name="adj" fmla="val 6667"/>
            </a:avLst>
          </a:prstGeom>
          <a:solidFill>
            <a:srgbClr val="FBEFD0"/>
          </a:solidFill>
          <a:ln w="19050">
            <a:solidFill>
              <a:srgbClr val="C9A227"/>
            </a:solidFill>
            <a:prstDash val="solid"/>
          </a:ln>
        </p:spPr>
        <p:txBody>
          <a:bodyPr/>
          <a:p/>
        </p:txBody>
      </p:sp>
      <p:sp>
        <p:nvSpPr>
          <p:cNvPr id="13" name="Text 11"/>
          <p:cNvSpPr/>
          <p:nvPr/>
        </p:nvSpPr>
        <p:spPr>
          <a:xfrm>
            <a:off x="914400" y="4224528"/>
            <a:ext cx="2743200" cy="320040"/>
          </a:xfrm>
          <a:prstGeom prst="rect">
            <a:avLst/>
          </a:prstGeom>
          <a:noFill/>
          <a:ln/>
        </p:spPr>
        <p:txBody>
          <a:bodyPr wrap="square" rtlCol="0" anchor="ctr"/>
          <a:lstStyle/>
          <a:p>
            <a:pPr indent="0" marL="0">
              <a:buNone/>
            </a:pPr>
            <a:r>
              <a:rPr lang="en-US" sz="1200" b="1" spc="200" kern="0" dirty="0">
                <a:solidFill>
                  <a:srgbClr val="1B5E20"/>
                </a:solidFill>
                <a:latin typeface="Trebuchet MS" pitchFamily="34" charset="0"/>
                <a:ea typeface="Trebuchet MS" pitchFamily="34" charset="-122"/>
                <a:cs typeface="Trebuchet MS" pitchFamily="34" charset="-120"/>
              </a:rPr>
              <a:t>✓ ANSWER</a:t>
            </a:r>
            <a:endParaRPr lang="en-US" sz="1200" dirty="0"/>
          </a:p>
        </p:txBody>
      </p:sp>
      <p:sp>
        <p:nvSpPr>
          <p:cNvPr id="14" name="Text 12"/>
          <p:cNvSpPr/>
          <p:nvPr/>
        </p:nvSpPr>
        <p:spPr>
          <a:xfrm>
            <a:off x="914400" y="4572000"/>
            <a:ext cx="10332720" cy="777240"/>
          </a:xfrm>
          <a:prstGeom prst="rect">
            <a:avLst/>
          </a:prstGeom>
          <a:noFill/>
          <a:ln/>
        </p:spPr>
        <p:txBody>
          <a:bodyPr wrap="square" rtlCol="0" anchor="t"/>
          <a:lstStyle/>
          <a:p>
            <a:pPr indent="0" marL="0">
              <a:lnSpc>
                <a:spcPct val="108000"/>
              </a:lnSpc>
              <a:buNone/>
            </a:pPr>
            <a:r>
              <a:rPr lang="en-US" sz="1600" dirty="0">
                <a:solidFill>
                  <a:srgbClr val="1F2430"/>
                </a:solidFill>
                <a:latin typeface="Calibri" pitchFamily="34" charset="0"/>
                <a:ea typeface="Calibri" pitchFamily="34" charset="-122"/>
                <a:cs typeface="Calibri" pitchFamily="34" charset="-120"/>
              </a:rPr>
              <a:t>Vertical integration (Carnegie in steel).</a:t>
            </a:r>
            <a:endParaRPr lang="en-US" sz="1600" dirty="0"/>
          </a:p>
        </p:txBody>
      </p:sp>
      <p:sp>
        <p:nvSpPr>
          <p:cNvPr id="15" name="Shape 13"/>
          <p:cNvSpPr/>
          <p:nvPr/>
        </p:nvSpPr>
        <p:spPr>
          <a:xfrm>
            <a:off x="548640" y="5623560"/>
            <a:ext cx="11064240" cy="457200"/>
          </a:xfrm>
          <a:prstGeom prst="roundRect">
            <a:avLst>
              <a:gd name="adj" fmla="val 16000"/>
            </a:avLst>
          </a:prstGeom>
          <a:solidFill>
            <a:srgbClr val="FFFFFF"/>
          </a:solidFill>
          <a:ln w="12700">
            <a:solidFill>
              <a:srgbClr val="C9A227"/>
            </a:solidFill>
            <a:prstDash val="solid"/>
          </a:ln>
        </p:spPr>
        <p:txBody>
          <a:bodyPr/>
          <a:p/>
        </p:txBody>
      </p:sp>
      <p:sp>
        <p:nvSpPr>
          <p:cNvPr id="16" name="Text 14"/>
          <p:cNvSpPr/>
          <p:nvPr/>
        </p:nvSpPr>
        <p:spPr>
          <a:xfrm>
            <a:off x="822960" y="5623560"/>
            <a:ext cx="10515600" cy="457200"/>
          </a:xfrm>
          <a:prstGeom prst="rect">
            <a:avLst/>
          </a:prstGeom>
          <a:noFill/>
          <a:ln/>
        </p:spPr>
        <p:txBody>
          <a:bodyPr wrap="square" rtlCol="0" anchor="ctr"/>
          <a:lstStyle/>
          <a:p>
            <a:pPr indent="0" marL="0">
              <a:buNone/>
            </a:pPr>
            <a:r>
              <a:rPr lang="en-US" sz="1150" b="1" i="1" spc="100" kern="0" dirty="0">
                <a:solidFill>
                  <a:srgbClr val="B22234"/>
                </a:solidFill>
                <a:latin typeface="Trebuchet MS" pitchFamily="34" charset="0"/>
                <a:ea typeface="Trebuchet MS" pitchFamily="34" charset="-122"/>
                <a:cs typeface="Trebuchet MS" pitchFamily="34" charset="-120"/>
              </a:rPr>
              <a:t>COMMIT FIRST:  </a:t>
            </a:r>
            <a:pPr indent="0" marL="0">
              <a:buNone/>
            </a:pPr>
            <a:r>
              <a:rPr lang="en-US" sz="1150" i="1" dirty="0">
                <a:solidFill>
                  <a:srgbClr val="5C6470"/>
                </a:solidFill>
                <a:latin typeface="Calibri" pitchFamily="34" charset="0"/>
                <a:ea typeface="Calibri" pitchFamily="34" charset="-122"/>
                <a:cs typeface="Calibri" pitchFamily="34" charset="-120"/>
              </a:rPr>
              <a:t>have everyone answer before the reveal — this is the DOK 1 floor; the graded check later in this lesson moves up to DOK 2–3.</a:t>
            </a:r>
            <a:endParaRPr lang="en-US" sz="1150" dirty="0"/>
          </a:p>
        </p:txBody>
      </p:sp>
      <p:sp>
        <p:nvSpPr>
          <p:cNvPr id="18" name="Text 15"/>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6"/>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66</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6">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B22234"/>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B22234"/>
                </a:solidFill>
                <a:latin typeface="Trebuchet MS" pitchFamily="34" charset="0"/>
                <a:ea typeface="Trebuchet MS" pitchFamily="34" charset="-122"/>
                <a:cs typeface="Trebuchet MS" pitchFamily="34" charset="-120"/>
              </a:rPr>
              <a:t>US.05 · HOOK</a:t>
            </a:r>
            <a:endParaRPr lang="en-US" sz="1200" dirty="0"/>
          </a:p>
        </p:txBody>
      </p:sp>
      <p:sp>
        <p:nvSpPr>
          <p:cNvPr id="4" name="Text 2"/>
          <p:cNvSpPr/>
          <p:nvPr/>
        </p:nvSpPr>
        <p:spPr>
          <a:xfrm>
            <a:off x="548640" y="777240"/>
            <a:ext cx="10972800" cy="640080"/>
          </a:xfrm>
          <a:prstGeom prst="rect">
            <a:avLst/>
          </a:prstGeom>
          <a:noFill/>
          <a:ln/>
        </p:spPr>
        <p:txBody>
          <a:bodyPr wrap="square" rtlCol="0" anchor="ctr"/>
          <a:lstStyle/>
          <a:p>
            <a:pPr indent="0" marL="0">
              <a:buNone/>
            </a:pPr>
            <a:r>
              <a:rPr lang="en-US" sz="3000" b="1" dirty="0">
                <a:solidFill>
                  <a:srgbClr val="1F3A5F"/>
                </a:solidFill>
                <a:latin typeface="Georgia" pitchFamily="34" charset="0"/>
                <a:ea typeface="Georgia" pitchFamily="34" charset="-122"/>
                <a:cs typeface="Georgia" pitchFamily="34" charset="-120"/>
              </a:rPr>
              <a:t>Think About It</a:t>
            </a:r>
            <a:endParaRPr lang="en-US" sz="3000" dirty="0"/>
          </a:p>
        </p:txBody>
      </p:sp>
      <p:sp>
        <p:nvSpPr>
          <p:cNvPr id="5" name="Shape 3"/>
          <p:cNvSpPr/>
          <p:nvPr/>
        </p:nvSpPr>
        <p:spPr>
          <a:xfrm>
            <a:off x="548640" y="1691640"/>
            <a:ext cx="11064240" cy="2194560"/>
          </a:xfrm>
          <a:prstGeom prst="roundRect">
            <a:avLst>
              <a:gd name="adj" fmla="val 4167"/>
            </a:avLst>
          </a:prstGeom>
          <a:solidFill>
            <a:srgbClr val="1F3A5F"/>
          </a:solidFill>
          <a:ln/>
        </p:spPr>
        <p:txBody>
          <a:bodyPr/>
          <a:p/>
        </p:txBody>
      </p:sp>
      <p:sp>
        <p:nvSpPr>
          <p:cNvPr id="6" name="Text 4"/>
          <p:cNvSpPr/>
          <p:nvPr/>
        </p:nvSpPr>
        <p:spPr>
          <a:xfrm>
            <a:off x="1005840" y="1965960"/>
            <a:ext cx="10149840" cy="1645920"/>
          </a:xfrm>
          <a:prstGeom prst="rect">
            <a:avLst/>
          </a:prstGeom>
          <a:noFill/>
          <a:ln/>
        </p:spPr>
        <p:txBody>
          <a:bodyPr wrap="square" rtlCol="0" anchor="ctr"/>
          <a:lstStyle/>
          <a:p>
            <a:pPr indent="0" marL="0">
              <a:lnSpc>
                <a:spcPct val="108000"/>
              </a:lnSpc>
              <a:buNone/>
            </a:pPr>
            <a:r>
              <a:rPr lang="en-US" sz="2600" i="1" dirty="0">
                <a:solidFill>
                  <a:srgbClr val="FFFFFF"/>
                </a:solidFill>
                <a:latin typeface="Georgia" pitchFamily="34" charset="0"/>
                <a:ea typeface="Georgia" pitchFamily="34" charset="-122"/>
                <a:cs typeface="Georgia" pitchFamily="34" charset="-120"/>
              </a:rPr>
              <a:t>One man controlled 90% of all the oil refined in the United States.</a:t>
            </a:r>
            <a:endParaRPr lang="en-US" sz="2600" dirty="0"/>
          </a:p>
        </p:txBody>
      </p:sp>
      <p:sp>
        <p:nvSpPr>
          <p:cNvPr id="7" name="Shape 5"/>
          <p:cNvSpPr/>
          <p:nvPr/>
        </p:nvSpPr>
        <p:spPr>
          <a:xfrm>
            <a:off x="548640" y="4114800"/>
            <a:ext cx="11064240" cy="1783080"/>
          </a:xfrm>
          <a:prstGeom prst="roundRect">
            <a:avLst>
              <a:gd name="adj" fmla="val 5128"/>
            </a:avLst>
          </a:prstGeom>
          <a:solidFill>
            <a:srgbClr val="FFFFFF"/>
          </a:solidFill>
          <a:ln w="19050">
            <a:solidFill>
              <a:srgbClr val="C9A227"/>
            </a:solidFill>
            <a:prstDash val="solid"/>
          </a:ln>
        </p:spPr>
        <p:txBody>
          <a:bodyPr/>
          <a:p/>
        </p:txBody>
      </p:sp>
      <p:sp>
        <p:nvSpPr>
          <p:cNvPr id="8" name="Text 6"/>
          <p:cNvSpPr/>
          <p:nvPr/>
        </p:nvSpPr>
        <p:spPr>
          <a:xfrm>
            <a:off x="914400" y="4297680"/>
            <a:ext cx="2743200" cy="320040"/>
          </a:xfrm>
          <a:prstGeom prst="rect">
            <a:avLst/>
          </a:prstGeom>
          <a:noFill/>
          <a:ln/>
        </p:spPr>
        <p:txBody>
          <a:bodyPr wrap="square" rtlCol="0" anchor="ctr"/>
          <a:lstStyle/>
          <a:p>
            <a:pPr indent="0" marL="0">
              <a:buNone/>
            </a:pPr>
            <a:r>
              <a:rPr lang="en-US" sz="1300" b="1" spc="200" kern="0" dirty="0">
                <a:solidFill>
                  <a:srgbClr val="B22234"/>
                </a:solidFill>
                <a:latin typeface="Trebuchet MS" pitchFamily="34" charset="0"/>
                <a:ea typeface="Trebuchet MS" pitchFamily="34" charset="-122"/>
                <a:cs typeface="Trebuchet MS" pitchFamily="34" charset="-120"/>
              </a:rPr>
              <a:t>DISCUSS</a:t>
            </a:r>
            <a:endParaRPr lang="en-US" sz="1300" dirty="0"/>
          </a:p>
        </p:txBody>
      </p:sp>
      <p:sp>
        <p:nvSpPr>
          <p:cNvPr id="9" name="Shape 7"/>
          <p:cNvSpPr/>
          <p:nvPr/>
        </p:nvSpPr>
        <p:spPr>
          <a:xfrm>
            <a:off x="7772400" y="4224528"/>
            <a:ext cx="3657600" cy="457200"/>
          </a:xfrm>
          <a:prstGeom prst="roundRect">
            <a:avLst>
              <a:gd name="adj" fmla="val 20000"/>
            </a:avLst>
          </a:prstGeom>
          <a:solidFill>
            <a:srgbClr val="1F3A5F"/>
          </a:solidFill>
          <a:ln/>
        </p:spPr>
        <p:txBody>
          <a:bodyPr/>
          <a:p/>
        </p:txBody>
      </p:sp>
      <p:sp>
        <p:nvSpPr>
          <p:cNvPr id="10" name="Text 8"/>
          <p:cNvSpPr/>
          <p:nvPr/>
        </p:nvSpPr>
        <p:spPr>
          <a:xfrm>
            <a:off x="7772400" y="4224528"/>
            <a:ext cx="3657600" cy="45720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TIMING:  Turn &amp; Talk 60 sec → cold-call 2 pairs</a:t>
            </a:r>
            <a:endParaRPr lang="en-US" sz="1050" dirty="0"/>
          </a:p>
        </p:txBody>
      </p:sp>
      <p:sp>
        <p:nvSpPr>
          <p:cNvPr id="11" name="Text 9"/>
          <p:cNvSpPr/>
          <p:nvPr/>
        </p:nvSpPr>
        <p:spPr>
          <a:xfrm>
            <a:off x="914400" y="4736592"/>
            <a:ext cx="10332720" cy="1097280"/>
          </a:xfrm>
          <a:prstGeom prst="rect">
            <a:avLst/>
          </a:prstGeom>
          <a:noFill/>
          <a:ln/>
        </p:spPr>
        <p:txBody>
          <a:bodyPr wrap="square" rtlCol="0" anchor="t"/>
          <a:lstStyle/>
          <a:p>
            <a:pPr indent="0" marL="0">
              <a:lnSpc>
                <a:spcPct val="110000"/>
              </a:lnSpc>
              <a:buNone/>
            </a:pPr>
            <a:r>
              <a:rPr lang="en-US" sz="1600" dirty="0">
                <a:solidFill>
                  <a:srgbClr val="1F2430"/>
                </a:solidFill>
                <a:latin typeface="Calibri" pitchFamily="34" charset="0"/>
                <a:ea typeface="Calibri" pitchFamily="34" charset="-122"/>
                <a:cs typeface="Calibri" pitchFamily="34" charset="-120"/>
              </a:rPr>
              <a:t>Is it possible to be both a "robber baron" and a "captain of industry" at the same time? Hold that question as we meet the people who built modern America.</a:t>
            </a:r>
            <a:endParaRPr lang="en-US" sz="1600" dirty="0"/>
          </a:p>
        </p:txBody>
      </p:sp>
      <p:sp>
        <p:nvSpPr>
          <p:cNvPr id="13" name="Text 10"/>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67</a:t>
            </a:r>
            <a:endParaRPr lang="en-US" sz="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7">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F3A5F"/>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B22234"/>
                </a:solidFill>
                <a:latin typeface="Trebuchet MS" pitchFamily="34" charset="0"/>
                <a:ea typeface="Trebuchet MS" pitchFamily="34" charset="-122"/>
                <a:cs typeface="Trebuchet MS" pitchFamily="34" charset="-120"/>
              </a:rPr>
              <a:t>US.05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F3A5F"/>
                </a:solidFill>
                <a:latin typeface="Georgia" pitchFamily="34" charset="0"/>
                <a:ea typeface="Georgia" pitchFamily="34" charset="-122"/>
                <a:cs typeface="Georgia" pitchFamily="34" charset="-120"/>
              </a:rPr>
              <a:t>Technological Innovations</a:t>
            </a:r>
            <a:endParaRPr lang="en-US" sz="3000" dirty="0"/>
          </a:p>
        </p:txBody>
      </p:sp>
      <p:sp>
        <p:nvSpPr>
          <p:cNvPr id="5" name="Shape 3"/>
          <p:cNvSpPr/>
          <p:nvPr/>
        </p:nvSpPr>
        <p:spPr>
          <a:xfrm>
            <a:off x="10765231" y="502920"/>
            <a:ext cx="146304" cy="146304"/>
          </a:xfrm>
          <a:prstGeom prst="ellipse">
            <a:avLst/>
          </a:prstGeom>
          <a:solidFill>
            <a:srgbClr val="B22234"/>
          </a:solidFill>
          <a:ln/>
        </p:spPr>
        <p:txBody>
          <a:bodyPr/>
          <a:p/>
        </p:txBody>
      </p:sp>
      <p:sp>
        <p:nvSpPr>
          <p:cNvPr id="6" name="Shape 4"/>
          <p:cNvSpPr/>
          <p:nvPr/>
        </p:nvSpPr>
        <p:spPr>
          <a:xfrm>
            <a:off x="11057839" y="502920"/>
            <a:ext cx="146304" cy="146304"/>
          </a:xfrm>
          <a:prstGeom prst="ellipse">
            <a:avLst/>
          </a:prstGeom>
          <a:solidFill>
            <a:srgbClr val="A7BACB"/>
          </a:solidFill>
          <a:ln/>
        </p:spPr>
        <p:txBody>
          <a:bodyPr/>
          <a:p/>
        </p:txBody>
      </p:sp>
      <p:sp>
        <p:nvSpPr>
          <p:cNvPr id="7" name="Shape 5"/>
          <p:cNvSpPr/>
          <p:nvPr/>
        </p:nvSpPr>
        <p:spPr>
          <a:xfrm>
            <a:off x="11350447" y="502920"/>
            <a:ext cx="146304" cy="146304"/>
          </a:xfrm>
          <a:prstGeom prst="ellipse">
            <a:avLst/>
          </a:prstGeom>
          <a:solidFill>
            <a:srgbClr val="A7BACB"/>
          </a:solidFill>
          <a:ln/>
        </p:spPr>
        <p:txBody>
          <a:bodyPr/>
          <a:p/>
        </p:txBody>
      </p:sp>
      <p:sp>
        <p:nvSpPr>
          <p:cNvPr id="8" name="Text 6"/>
          <p:cNvSpPr/>
          <p:nvPr/>
        </p:nvSpPr>
        <p:spPr>
          <a:xfrm>
            <a:off x="9805111"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1 of 3</a:t>
            </a:r>
            <a:endParaRPr lang="en-US" sz="1000" dirty="0"/>
          </a:p>
        </p:txBody>
      </p:sp>
      <p:sp>
        <p:nvSpPr>
          <p:cNvPr id="9" name="Shape 7"/>
          <p:cNvSpPr/>
          <p:nvPr/>
        </p:nvSpPr>
        <p:spPr>
          <a:xfrm>
            <a:off x="548640" y="1783080"/>
            <a:ext cx="11064240" cy="4069080"/>
          </a:xfrm>
          <a:prstGeom prst="rect">
            <a:avLst/>
          </a:prstGeom>
          <a:solidFill>
            <a:srgbClr val="FFFFFF"/>
          </a:solidFill>
          <a:ln w="12700">
            <a:solidFill>
              <a:srgbClr val="DAD3C2"/>
            </a:solidFill>
            <a:prstDash val="solid"/>
          </a:ln>
        </p:spPr>
        <p:txBody>
          <a:bodyPr/>
          <a:p/>
        </p:txBody>
      </p:sp>
      <p:sp>
        <p:nvSpPr>
          <p:cNvPr id="10" name="Text 8"/>
          <p:cNvSpPr/>
          <p:nvPr/>
        </p:nvSpPr>
        <p:spPr>
          <a:xfrm>
            <a:off x="914400" y="2057400"/>
            <a:ext cx="10424160" cy="2340864"/>
          </a:xfrm>
          <a:prstGeom prst="rect">
            <a:avLst/>
          </a:prstGeom>
          <a:noFill/>
          <a:ln/>
        </p:spPr>
        <p:txBody>
          <a:bodyPr wrap="square" rtlCol="0" anchor="t"/>
          <a:lstStyle/>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late 19th century saw transformative inventions that reshaped American life.</a:t>
            </a:r>
            <a:endParaRPr lang="en-US" sz="1700" dirty="0"/>
          </a:p>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Alexander Graham Bell's telephone (1876) revolutionized communication.</a:t>
            </a:r>
            <a:endParaRPr lang="en-US" sz="1700" dirty="0"/>
          </a:p>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Thomas Edison's electrical systems and light bulb brought power to homes and factories.</a:t>
            </a:r>
            <a:endParaRPr lang="en-US" sz="1700" dirty="0"/>
          </a:p>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Nikola Tesla's alternating current system enabled long-distance electrical transmission.</a:t>
            </a:r>
            <a:endParaRPr lang="en-US" sz="1700" dirty="0"/>
          </a:p>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Henry Bessemer's steel process made skyscrapers and modern infrastructure possible.</a:t>
            </a:r>
            <a:endParaRPr lang="en-US" sz="1700" dirty="0"/>
          </a:p>
        </p:txBody>
      </p:sp>
      <p:sp>
        <p:nvSpPr>
          <p:cNvPr id="11" name="Shape 9"/>
          <p:cNvSpPr/>
          <p:nvPr/>
        </p:nvSpPr>
        <p:spPr>
          <a:xfrm>
            <a:off x="868680" y="4626864"/>
            <a:ext cx="10424160" cy="1097280"/>
          </a:xfrm>
          <a:prstGeom prst="roundRect">
            <a:avLst>
              <a:gd name="adj" fmla="val 5000"/>
            </a:avLst>
          </a:prstGeom>
          <a:solidFill>
            <a:srgbClr val="EEF3F7"/>
          </a:solidFill>
          <a:ln w="12700">
            <a:solidFill>
              <a:srgbClr val="A7BACB"/>
            </a:solidFill>
            <a:prstDash val="solid"/>
          </a:ln>
        </p:spPr>
        <p:txBody>
          <a:bodyPr/>
          <a:p/>
        </p:txBody>
      </p:sp>
      <p:sp>
        <p:nvSpPr>
          <p:cNvPr id="12" name="Text 10"/>
          <p:cNvSpPr/>
          <p:nvPr/>
        </p:nvSpPr>
        <p:spPr>
          <a:xfrm>
            <a:off x="1024128" y="4681728"/>
            <a:ext cx="10149840" cy="237744"/>
          </a:xfrm>
          <a:prstGeom prst="rect">
            <a:avLst/>
          </a:prstGeom>
          <a:noFill/>
          <a:ln/>
        </p:spPr>
        <p:txBody>
          <a:bodyPr wrap="square" rtlCol="0" anchor="ctr"/>
          <a:lstStyle/>
          <a:p>
            <a:pPr indent="0" marL="0">
              <a:buNone/>
            </a:pPr>
            <a:r>
              <a:rPr lang="en-US" sz="900" b="1" spc="100" kern="0" dirty="0">
                <a:solidFill>
                  <a:srgbClr val="002858"/>
                </a:solidFill>
                <a:latin typeface="Trebuchet MS" pitchFamily="34" charset="0"/>
                <a:ea typeface="Trebuchet MS" pitchFamily="34" charset="-122"/>
                <a:cs typeface="Trebuchet MS" pitchFamily="34" charset="-120"/>
              </a:rPr>
              <a:t>SENTENCE FRAME  </a:t>
            </a:r>
            <a:pPr indent="0" marL="0">
              <a:buNone/>
            </a:pPr>
            <a:r>
              <a:rPr lang="en-US" sz="900" i="1" dirty="0">
                <a:solidFill>
                  <a:srgbClr val="5C6470"/>
                </a:solidFill>
              </a:rPr>
              <a:t>· LANGUAGE SUPPORT  </a:t>
            </a:r>
            <a:endParaRPr lang="en-US" sz="900" dirty="0"/>
          </a:p>
        </p:txBody>
      </p:sp>
      <p:sp>
        <p:nvSpPr>
          <p:cNvPr id="13" name="Text 11"/>
          <p:cNvSpPr/>
          <p:nvPr/>
        </p:nvSpPr>
        <p:spPr>
          <a:xfrm>
            <a:off x="1024128" y="4937760"/>
            <a:ext cx="10607040" cy="658368"/>
          </a:xfrm>
          <a:prstGeom prst="rect">
            <a:avLst/>
          </a:prstGeom>
          <a:noFill/>
          <a:ln/>
        </p:spPr>
        <p:txBody>
          <a:bodyPr wrap="square" rtlCol="0" anchor="t"/>
          <a:lstStyle/>
          <a:p>
            <a:pPr indent="0" marL="0">
              <a:lnSpc>
                <a:spcPct val="104000"/>
              </a:lnSpc>
              <a:buNone/>
            </a:pPr>
            <a:r>
              <a:rPr lang="en-US" sz="1150" i="1" dirty="0">
                <a:solidFill>
                  <a:srgbClr val="1F2430"/>
                </a:solidFill>
                <a:latin typeface="Calibri" pitchFamily="34" charset="0"/>
                <a:ea typeface="Calibri" pitchFamily="34" charset="-122"/>
                <a:cs typeface="Calibri" pitchFamily="34" charset="-120"/>
              </a:rPr>
              <a:t>________ used ________ integration to dominate the ________ industry.</a:t>
            </a:r>
            <a:endParaRPr lang="en-US" sz="115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68</a:t>
            </a:r>
            <a:endParaRPr lang="en-US" sz="9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8">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F3A5F"/>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B22234"/>
                </a:solidFill>
                <a:latin typeface="Trebuchet MS" pitchFamily="34" charset="0"/>
                <a:ea typeface="Trebuchet MS" pitchFamily="34" charset="-122"/>
                <a:cs typeface="Trebuchet MS" pitchFamily="34" charset="-120"/>
              </a:rPr>
              <a:t>US.05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F3A5F"/>
                </a:solidFill>
                <a:latin typeface="Georgia" pitchFamily="34" charset="0"/>
                <a:ea typeface="Georgia" pitchFamily="34" charset="-122"/>
                <a:cs typeface="Georgia" pitchFamily="34" charset="-120"/>
              </a:rPr>
              <a:t>Industrial Titans</a:t>
            </a:r>
            <a:endParaRPr lang="en-US" sz="3000" dirty="0"/>
          </a:p>
        </p:txBody>
      </p:sp>
      <p:sp>
        <p:nvSpPr>
          <p:cNvPr id="5" name="Shape 3"/>
          <p:cNvSpPr/>
          <p:nvPr/>
        </p:nvSpPr>
        <p:spPr>
          <a:xfrm>
            <a:off x="10765231" y="502920"/>
            <a:ext cx="146304" cy="146304"/>
          </a:xfrm>
          <a:prstGeom prst="ellipse">
            <a:avLst/>
          </a:prstGeom>
          <a:solidFill>
            <a:srgbClr val="A7BACB"/>
          </a:solidFill>
          <a:ln/>
        </p:spPr>
        <p:txBody>
          <a:bodyPr/>
          <a:p/>
        </p:txBody>
      </p:sp>
      <p:sp>
        <p:nvSpPr>
          <p:cNvPr id="6" name="Shape 4"/>
          <p:cNvSpPr/>
          <p:nvPr/>
        </p:nvSpPr>
        <p:spPr>
          <a:xfrm>
            <a:off x="11057839" y="502920"/>
            <a:ext cx="146304" cy="146304"/>
          </a:xfrm>
          <a:prstGeom prst="ellipse">
            <a:avLst/>
          </a:prstGeom>
          <a:solidFill>
            <a:srgbClr val="B22234"/>
          </a:solidFill>
          <a:ln/>
        </p:spPr>
        <p:txBody>
          <a:bodyPr/>
          <a:p/>
        </p:txBody>
      </p:sp>
      <p:sp>
        <p:nvSpPr>
          <p:cNvPr id="7" name="Shape 5"/>
          <p:cNvSpPr/>
          <p:nvPr/>
        </p:nvSpPr>
        <p:spPr>
          <a:xfrm>
            <a:off x="11350447" y="502920"/>
            <a:ext cx="146304" cy="146304"/>
          </a:xfrm>
          <a:prstGeom prst="ellipse">
            <a:avLst/>
          </a:prstGeom>
          <a:solidFill>
            <a:srgbClr val="A7BACB"/>
          </a:solidFill>
          <a:ln/>
        </p:spPr>
        <p:txBody>
          <a:bodyPr/>
          <a:p/>
        </p:txBody>
      </p:sp>
      <p:sp>
        <p:nvSpPr>
          <p:cNvPr id="8" name="Text 6"/>
          <p:cNvSpPr/>
          <p:nvPr/>
        </p:nvSpPr>
        <p:spPr>
          <a:xfrm>
            <a:off x="9805111"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2 of 3</a:t>
            </a:r>
            <a:endParaRPr lang="en-US" sz="1000" dirty="0"/>
          </a:p>
        </p:txBody>
      </p:sp>
      <p:sp>
        <p:nvSpPr>
          <p:cNvPr id="9" name="Shape 7"/>
          <p:cNvSpPr/>
          <p:nvPr/>
        </p:nvSpPr>
        <p:spPr>
          <a:xfrm>
            <a:off x="548640" y="1783080"/>
            <a:ext cx="6766560" cy="2697480"/>
          </a:xfrm>
          <a:prstGeom prst="rect">
            <a:avLst/>
          </a:prstGeom>
          <a:solidFill>
            <a:srgbClr val="FFFFFF"/>
          </a:solidFill>
          <a:ln w="12700">
            <a:solidFill>
              <a:srgbClr val="DAD3C2"/>
            </a:solidFill>
            <a:prstDash val="solid"/>
          </a:ln>
        </p:spPr>
        <p:txBody>
          <a:bodyPr/>
          <a:p/>
        </p:txBody>
      </p:sp>
      <p:sp>
        <p:nvSpPr>
          <p:cNvPr id="10" name="Text 8"/>
          <p:cNvSpPr/>
          <p:nvPr/>
        </p:nvSpPr>
        <p:spPr>
          <a:xfrm>
            <a:off x="914400" y="2057400"/>
            <a:ext cx="6126480" cy="2194560"/>
          </a:xfrm>
          <a:prstGeom prst="rect">
            <a:avLst/>
          </a:prstGeom>
          <a:noFill/>
          <a:ln/>
        </p:spPr>
        <p:txBody>
          <a:bodyPr wrap="square" rtlCol="0" anchor="t"/>
          <a:lstStyle/>
          <a:p>
            <a:pPr marL="228600" indent="-228600">
              <a:lnSpc>
                <a:spcPct val="112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Andrew Carnegie built a steel empire through vertical integration, controlling every step from iron mines to finished products.</a:t>
            </a:r>
            <a:endParaRPr lang="en-US" sz="1550" dirty="0"/>
          </a:p>
          <a:p>
            <a:pPr marL="228600" indent="-228600">
              <a:lnSpc>
                <a:spcPct val="112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John D. Rockefeller's Standard Oil pioneered horizontal integration, buying out competitors to dominate the oil industry.</a:t>
            </a:r>
            <a:endParaRPr lang="en-US" sz="1550" dirty="0"/>
          </a:p>
          <a:p>
            <a:pPr marL="228600" indent="-228600">
              <a:lnSpc>
                <a:spcPct val="112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J.P. Morgan wielded enormous financial power, reorganizing railroads and creating U.S. Steel.</a:t>
            </a:r>
            <a:endParaRPr lang="en-US" sz="1550" dirty="0"/>
          </a:p>
          <a:p>
            <a:pPr marL="228600" indent="-228600">
              <a:lnSpc>
                <a:spcPct val="112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Cornelius Vanderbilt consolidated railroad networks, enabling national commerce.</a:t>
            </a:r>
            <a:endParaRPr lang="en-US" sz="1550" dirty="0"/>
          </a:p>
        </p:txBody>
      </p:sp>
      <p:sp>
        <p:nvSpPr>
          <p:cNvPr id="11" name="Shape 9"/>
          <p:cNvSpPr/>
          <p:nvPr/>
        </p:nvSpPr>
        <p:spPr>
          <a:xfrm>
            <a:off x="7552944" y="1746504"/>
            <a:ext cx="4142232" cy="3575304"/>
          </a:xfrm>
          <a:prstGeom prst="rect">
            <a:avLst/>
          </a:prstGeom>
          <a:solidFill>
            <a:srgbClr val="FFFFFF"/>
          </a:solidFill>
          <a:ln w="12700">
            <a:solidFill>
              <a:srgbClr val="DAD3C2"/>
            </a:solidFill>
            <a:prstDash val="solid"/>
          </a:ln>
        </p:spPr>
        <p:txBody>
          <a:bodyPr/>
          <a:p/>
        </p:txBody>
      </p:sp>
      <p:pic>
        <p:nvPicPr>
          <p:cNvPr id="12" name="Image 0" descr="Marceau, New York (photographer), c. 1913  Library of Congress">    </p:cNvPr>
          <p:cNvPicPr>
            <a:picLocks noChangeAspect="1"/>
          </p:cNvPicPr>
          <p:nvPr/>
        </p:nvPicPr>
        <p:blipFill>
          <a:blip r:embed="rId1"/>
          <a:srcRect l="0" r="0" t="0" b="0"/>
          <a:stretch/>
        </p:blipFill>
        <p:spPr>
          <a:xfrm>
            <a:off x="7589520" y="1783080"/>
            <a:ext cx="4069080" cy="3502152"/>
          </a:xfrm>
          <a:prstGeom prst="rect">
            <a:avLst/>
          </a:prstGeom>
        </p:spPr>
      </p:pic>
      <p:sp>
        <p:nvSpPr>
          <p:cNvPr id="13" name="Text 10"/>
          <p:cNvSpPr/>
          <p:nvPr/>
        </p:nvSpPr>
        <p:spPr>
          <a:xfrm>
            <a:off x="7589520" y="5340096"/>
            <a:ext cx="4069080" cy="512064"/>
          </a:xfrm>
          <a:prstGeom prst="rect">
            <a:avLst/>
          </a:prstGeom>
          <a:noFill/>
          <a:ln/>
        </p:spPr>
        <p:txBody>
          <a:bodyPr wrap="square" rtlCol="0" anchor="t"/>
          <a:lstStyle/>
          <a:p>
            <a:pPr algn="l" indent="0" marL="0">
              <a:lnSpc>
                <a:spcPct val="100000"/>
              </a:lnSpc>
              <a:buNone/>
            </a:pPr>
            <a:pPr algn="l" indent="0" marL="0">
              <a:lnSpc>
                <a:spcPct val="100000"/>
              </a:lnSpc>
              <a:buNone/>
            </a:pPr>
            <a:r>
              <a:rPr lang="en-US" sz="900" i="1" dirty="0">
                <a:solidFill>
                  <a:srgbClr val="5C6470"/>
                </a:solidFill>
                <a:latin typeface="Calibri" pitchFamily="34" charset="0"/>
                <a:ea typeface="Calibri" pitchFamily="34" charset="-122"/>
                <a:cs typeface="Calibri" pitchFamily="34" charset="-120"/>
              </a:rPr>
              <a:t>Marceau, New York (photographer), c. 1913  </a:t>
            </a:r>
            <a:pPr algn="l" indent="0" marL="0">
              <a:lnSpc>
                <a:spcPct val="100000"/>
              </a:lnSpc>
              <a:buNone/>
            </a:pPr>
            <a:r>
              <a:rPr lang="en-US" sz="9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800" dirty="0"/>
          </a:p>
        </p:txBody>
      </p:sp>
      <p:sp>
        <p:nvSpPr>
          <p:cNvPr id="14" name="Shape 11"/>
          <p:cNvSpPr/>
          <p:nvPr/>
        </p:nvSpPr>
        <p:spPr>
          <a:xfrm>
            <a:off x="548640" y="4709160"/>
            <a:ext cx="6766560" cy="1143000"/>
          </a:xfrm>
          <a:prstGeom prst="roundRect">
            <a:avLst>
              <a:gd name="adj" fmla="val 6400"/>
            </a:avLst>
          </a:prstGeom>
          <a:solidFill>
            <a:srgbClr val="FBEFD0"/>
          </a:solidFill>
          <a:ln w="19050">
            <a:solidFill>
              <a:srgbClr val="C9A227"/>
            </a:solidFill>
            <a:prstDash val="solid"/>
          </a:ln>
        </p:spPr>
        <p:txBody>
          <a:bodyPr/>
          <a:p/>
        </p:txBody>
      </p:sp>
      <p:sp>
        <p:nvSpPr>
          <p:cNvPr id="15" name="Text 12"/>
          <p:cNvSpPr/>
          <p:nvPr/>
        </p:nvSpPr>
        <p:spPr>
          <a:xfrm>
            <a:off x="868680" y="4846320"/>
            <a:ext cx="5486400" cy="274320"/>
          </a:xfrm>
          <a:prstGeom prst="rect">
            <a:avLst/>
          </a:prstGeom>
          <a:noFill/>
          <a:ln/>
        </p:spPr>
        <p:txBody>
          <a:bodyPr wrap="square" rtlCol="0" anchor="ctr"/>
          <a:lstStyle/>
          <a:p>
            <a:pPr indent="0" marL="0">
              <a:buNone/>
            </a:pPr>
            <a:r>
              <a:rPr lang="en-US" sz="1200" b="1" spc="100" kern="0" dirty="0">
                <a:solidFill>
                  <a:srgbClr val="B22234"/>
                </a:solidFill>
                <a:latin typeface="Trebuchet MS" pitchFamily="34" charset="0"/>
                <a:ea typeface="Trebuchet MS" pitchFamily="34" charset="-122"/>
                <a:cs typeface="Trebuchet MS" pitchFamily="34" charset="-120"/>
              </a:rPr>
              <a:t>★ TENNESSEE CONNECTION</a:t>
            </a:r>
            <a:endParaRPr lang="en-US" sz="1200" dirty="0"/>
          </a:p>
        </p:txBody>
      </p:sp>
      <p:sp>
        <p:nvSpPr>
          <p:cNvPr id="16" name="Text 13"/>
          <p:cNvSpPr/>
          <p:nvPr/>
        </p:nvSpPr>
        <p:spPr>
          <a:xfrm>
            <a:off x="868680" y="5120640"/>
            <a:ext cx="6126480" cy="685800"/>
          </a:xfrm>
          <a:prstGeom prst="rect">
            <a:avLst/>
          </a:prstGeom>
          <a:noFill/>
          <a:ln/>
        </p:spPr>
        <p:txBody>
          <a:bodyPr wrap="square" rtlCol="0" anchor="t"/>
          <a:lstStyle/>
          <a:p>
            <a:pPr indent="0" marL="0">
              <a:lnSpc>
                <a:spcPct val="105000"/>
              </a:lnSpc>
              <a:buNone/>
            </a:pPr>
            <a:r>
              <a:rPr lang="en-US" sz="1300" dirty="0">
                <a:solidFill>
                  <a:srgbClr val="1F2430"/>
                </a:solidFill>
                <a:latin typeface="Calibri" pitchFamily="34" charset="0"/>
                <a:ea typeface="Calibri" pitchFamily="34" charset="-122"/>
                <a:cs typeface="Calibri" pitchFamily="34" charset="-120"/>
              </a:rPr>
              <a:t>Cornelius Vanderbilt’s $1 million gift founded Vanderbilt University in Nashville (1873), tying the era’s industrial fortunes directly to Tennessee.</a:t>
            </a:r>
            <a:endParaRPr lang="en-US" sz="1300" dirty="0"/>
          </a:p>
        </p:txBody>
      </p:sp>
      <p:sp>
        <p:nvSpPr>
          <p:cNvPr id="17" name="Text 14"/>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8" name="Text 1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69</a:t>
            </a:r>
            <a:endParaRPr lang="en-US" sz="9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69">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F3A5F"/>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B22234"/>
                </a:solidFill>
                <a:latin typeface="Trebuchet MS" pitchFamily="34" charset="0"/>
                <a:ea typeface="Trebuchet MS" pitchFamily="34" charset="-122"/>
                <a:cs typeface="Trebuchet MS" pitchFamily="34" charset="-120"/>
              </a:rPr>
              <a:t>US.05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F3A5F"/>
                </a:solidFill>
                <a:latin typeface="Georgia" pitchFamily="34" charset="0"/>
                <a:ea typeface="Georgia" pitchFamily="34" charset="-122"/>
                <a:cs typeface="Georgia" pitchFamily="34" charset="-120"/>
              </a:rPr>
              <a:t>African American Entrepreneurs</a:t>
            </a:r>
            <a:endParaRPr lang="en-US" sz="3000" dirty="0"/>
          </a:p>
        </p:txBody>
      </p:sp>
      <p:sp>
        <p:nvSpPr>
          <p:cNvPr id="5" name="Shape 3"/>
          <p:cNvSpPr/>
          <p:nvPr/>
        </p:nvSpPr>
        <p:spPr>
          <a:xfrm>
            <a:off x="10765231" y="502920"/>
            <a:ext cx="146304" cy="146304"/>
          </a:xfrm>
          <a:prstGeom prst="ellipse">
            <a:avLst/>
          </a:prstGeom>
          <a:solidFill>
            <a:srgbClr val="A7BACB"/>
          </a:solidFill>
          <a:ln/>
        </p:spPr>
        <p:txBody>
          <a:bodyPr/>
          <a:p/>
        </p:txBody>
      </p:sp>
      <p:sp>
        <p:nvSpPr>
          <p:cNvPr id="6" name="Shape 4"/>
          <p:cNvSpPr/>
          <p:nvPr/>
        </p:nvSpPr>
        <p:spPr>
          <a:xfrm>
            <a:off x="11057839" y="502920"/>
            <a:ext cx="146304" cy="146304"/>
          </a:xfrm>
          <a:prstGeom prst="ellipse">
            <a:avLst/>
          </a:prstGeom>
          <a:solidFill>
            <a:srgbClr val="A7BACB"/>
          </a:solidFill>
          <a:ln/>
        </p:spPr>
        <p:txBody>
          <a:bodyPr/>
          <a:p/>
        </p:txBody>
      </p:sp>
      <p:sp>
        <p:nvSpPr>
          <p:cNvPr id="7" name="Shape 5"/>
          <p:cNvSpPr/>
          <p:nvPr/>
        </p:nvSpPr>
        <p:spPr>
          <a:xfrm>
            <a:off x="11350447" y="502920"/>
            <a:ext cx="146304" cy="146304"/>
          </a:xfrm>
          <a:prstGeom prst="ellipse">
            <a:avLst/>
          </a:prstGeom>
          <a:solidFill>
            <a:srgbClr val="B22234"/>
          </a:solidFill>
          <a:ln/>
        </p:spPr>
        <p:txBody>
          <a:bodyPr/>
          <a:p/>
        </p:txBody>
      </p:sp>
      <p:sp>
        <p:nvSpPr>
          <p:cNvPr id="8" name="Text 6"/>
          <p:cNvSpPr/>
          <p:nvPr/>
        </p:nvSpPr>
        <p:spPr>
          <a:xfrm>
            <a:off x="9805111"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3 of 3</a:t>
            </a:r>
            <a:endParaRPr lang="en-US" sz="1000" dirty="0"/>
          </a:p>
        </p:txBody>
      </p:sp>
      <p:sp>
        <p:nvSpPr>
          <p:cNvPr id="9" name="Shape 7"/>
          <p:cNvSpPr/>
          <p:nvPr/>
        </p:nvSpPr>
        <p:spPr>
          <a:xfrm>
            <a:off x="548640" y="1783080"/>
            <a:ext cx="11064240" cy="4069080"/>
          </a:xfrm>
          <a:prstGeom prst="rect">
            <a:avLst/>
          </a:prstGeom>
          <a:solidFill>
            <a:srgbClr val="FFFFFF"/>
          </a:solidFill>
          <a:ln w="12700">
            <a:solidFill>
              <a:srgbClr val="DAD3C2"/>
            </a:solidFill>
            <a:prstDash val="solid"/>
          </a:ln>
        </p:spPr>
        <p:txBody>
          <a:bodyPr/>
          <a:p/>
        </p:txBody>
      </p:sp>
      <p:sp>
        <p:nvSpPr>
          <p:cNvPr id="10" name="Text 8"/>
          <p:cNvSpPr/>
          <p:nvPr/>
        </p:nvSpPr>
        <p:spPr>
          <a:xfrm>
            <a:off x="914400" y="2057400"/>
            <a:ext cx="10424160" cy="3566160"/>
          </a:xfrm>
          <a:prstGeom prst="rect">
            <a:avLst/>
          </a:prstGeom>
          <a:noFill/>
          <a:ln/>
        </p:spPr>
        <p:txBody>
          <a:bodyPr wrap="square" rtlCol="0" anchor="t"/>
          <a:lstStyle/>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Despite facing discrimination, African American entrepreneurs made significant contributions.</a:t>
            </a:r>
            <a:endParaRPr lang="en-US" sz="1700" dirty="0"/>
          </a:p>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Madam C.J. Walker became America's first female self-made millionaire through her hair care products, employing thousands of Black women.</a:t>
            </a:r>
            <a:endParaRPr lang="en-US" sz="1700" dirty="0"/>
          </a:p>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George Washington Carver's agricultural research at Tuskegee Institute developed hundreds of products from peanuts and sweet potatoes, helping diversify Southern agriculture.</a:t>
            </a:r>
            <a:endParaRPr lang="en-US" sz="1700" dirty="0"/>
          </a:p>
        </p:txBody>
      </p:sp>
      <p:sp>
        <p:nvSpPr>
          <p:cNvPr id="11" name="Text 9"/>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2" name="Text 10"/>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70</a:t>
            </a:r>
            <a:endParaRPr lang="en-US" sz="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0">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B22234"/>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B22234"/>
                </a:solidFill>
                <a:latin typeface="Trebuchet MS" pitchFamily="34" charset="0"/>
                <a:ea typeface="Trebuchet MS" pitchFamily="34" charset="-122"/>
                <a:cs typeface="Trebuchet MS" pitchFamily="34" charset="-120"/>
              </a:rPr>
              <a:t>US.05 · PEOPLE WHO SHAPED THE ERA</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F3A5F"/>
                </a:solidFill>
                <a:latin typeface="Georgia" pitchFamily="34" charset="0"/>
                <a:ea typeface="Georgia" pitchFamily="34" charset="-122"/>
                <a:cs typeface="Georgia" pitchFamily="34" charset="-120"/>
              </a:rPr>
              <a:t>Key Figures</a:t>
            </a:r>
            <a:endParaRPr lang="en-US" sz="3000" dirty="0"/>
          </a:p>
        </p:txBody>
      </p:sp>
      <p:sp>
        <p:nvSpPr>
          <p:cNvPr id="5" name="Shape 3"/>
          <p:cNvSpPr/>
          <p:nvPr/>
        </p:nvSpPr>
        <p:spPr>
          <a:xfrm>
            <a:off x="548640" y="1627632"/>
            <a:ext cx="3505200" cy="1993392"/>
          </a:xfrm>
          <a:prstGeom prst="rect">
            <a:avLst/>
          </a:prstGeom>
          <a:solidFill>
            <a:srgbClr val="FFFFFF"/>
          </a:solidFill>
          <a:ln w="12700">
            <a:solidFill>
              <a:srgbClr val="DAD3C2"/>
            </a:solidFill>
            <a:prstDash val="solid"/>
          </a:ln>
        </p:spPr>
        <p:txBody>
          <a:bodyPr/>
          <a:p/>
        </p:txBody>
      </p:sp>
      <p:sp>
        <p:nvSpPr>
          <p:cNvPr id="6" name="Shape 4"/>
          <p:cNvSpPr/>
          <p:nvPr/>
        </p:nvSpPr>
        <p:spPr>
          <a:xfrm>
            <a:off x="548640" y="1627632"/>
            <a:ext cx="3505200" cy="548640"/>
          </a:xfrm>
          <a:prstGeom prst="rect">
            <a:avLst/>
          </a:prstGeom>
          <a:solidFill>
            <a:srgbClr val="1F3A5F"/>
          </a:solidFill>
          <a:ln/>
        </p:spPr>
        <p:txBody>
          <a:bodyPr/>
          <a:p/>
        </p:txBody>
      </p:sp>
      <p:sp>
        <p:nvSpPr>
          <p:cNvPr id="7" name="Text 5"/>
          <p:cNvSpPr/>
          <p:nvPr/>
        </p:nvSpPr>
        <p:spPr>
          <a:xfrm>
            <a:off x="685800" y="1655064"/>
            <a:ext cx="2173224" cy="493776"/>
          </a:xfrm>
          <a:prstGeom prst="rect">
            <a:avLst/>
          </a:prstGeom>
          <a:noFill/>
          <a:ln/>
        </p:spPr>
        <p:txBody>
          <a:bodyPr wrap="square" rtlCol="0" anchor="ctr">
            <a:normAutofit/>
          </a:bodyPr>
          <a:lstStyle/>
          <a:p>
            <a:pPr indent="0" marL="0">
              <a:lnSpc>
                <a:spcPct val="95000"/>
              </a:lnSpc>
              <a:buNone/>
            </a:pPr>
            <a:r>
              <a:rPr lang="en-US" sz="1600" b="1" dirty="0">
                <a:solidFill>
                  <a:srgbClr val="FFFFFF"/>
                </a:solidFill>
                <a:latin typeface="Georgia" pitchFamily="34" charset="0"/>
                <a:ea typeface="Georgia" pitchFamily="34" charset="-122"/>
                <a:cs typeface="Georgia" pitchFamily="34" charset="-120"/>
              </a:rPr>
              <a:t>Andrew Carnegie</a:t>
            </a:r>
            <a:endParaRPr lang="en-US" sz="1600" dirty="0"/>
          </a:p>
        </p:txBody>
      </p:sp>
      <p:sp>
        <p:nvSpPr>
          <p:cNvPr id="8" name="Text 6"/>
          <p:cNvSpPr/>
          <p:nvPr/>
        </p:nvSpPr>
        <p:spPr>
          <a:xfrm>
            <a:off x="2721864" y="1655064"/>
            <a:ext cx="1194816" cy="493776"/>
          </a:xfrm>
          <a:prstGeom prst="rect">
            <a:avLst/>
          </a:prstGeom>
          <a:noFill/>
          <a:ln/>
        </p:spPr>
        <p:txBody>
          <a:bodyPr wrap="square" rtlCol="0" anchor="ctr">
            <a:normAutofit/>
          </a:bodyPr>
          <a:lstStyle/>
          <a:p>
            <a:pPr algn="r" indent="0" marL="0">
              <a:buNone/>
            </a:pPr>
            <a:r>
              <a:rPr lang="en-US" sz="1100" dirty="0">
                <a:solidFill>
                  <a:srgbClr val="F9A825"/>
                </a:solidFill>
                <a:latin typeface="Trebuchet MS" pitchFamily="34" charset="0"/>
                <a:ea typeface="Trebuchet MS" pitchFamily="34" charset="-122"/>
                <a:cs typeface="Trebuchet MS" pitchFamily="34" charset="-120"/>
              </a:rPr>
              <a:t>Steel Manufacturer</a:t>
            </a:r>
            <a:endParaRPr lang="en-US" sz="1100" dirty="0"/>
          </a:p>
        </p:txBody>
      </p:sp>
      <p:sp>
        <p:nvSpPr>
          <p:cNvPr id="9" name="Text 7"/>
          <p:cNvSpPr/>
          <p:nvPr/>
        </p:nvSpPr>
        <p:spPr>
          <a:xfrm>
            <a:off x="694944" y="2249424"/>
            <a:ext cx="3212592" cy="777240"/>
          </a:xfrm>
          <a:prstGeom prst="rect">
            <a:avLst/>
          </a:prstGeom>
          <a:noFill/>
          <a:ln/>
        </p:spPr>
        <p:txBody>
          <a:bodyPr wrap="square" rtlCol="0" anchor="ctr"/>
          <a:lstStyle/>
          <a:p>
            <a:pPr marL="152400" indent="-152400">
              <a:lnSpc>
                <a:spcPct val="105000"/>
              </a:lnSpc>
              <a:spcAft>
                <a:spcPts val="300"/>
              </a:spcAft>
              <a:buSzPct val="100000"/>
              <a:buChar char="•"/>
            </a:pPr>
            <a:r>
              <a:rPr lang="en-US" sz="1200" dirty="0">
                <a:solidFill>
                  <a:srgbClr val="1F2430"/>
                </a:solidFill>
                <a:latin typeface="Calibri" pitchFamily="34" charset="0"/>
                <a:ea typeface="Calibri" pitchFamily="34" charset="-122"/>
                <a:cs typeface="Calibri" pitchFamily="34" charset="-120"/>
              </a:rPr>
              <a:t>Built Carnegie Steel Company into the largest steel producer in the world</a:t>
            </a:r>
            <a:endParaRPr lang="en-US" sz="1200" dirty="0"/>
          </a:p>
          <a:p>
            <a:pPr marL="152400" indent="-152400">
              <a:lnSpc>
                <a:spcPct val="105000"/>
              </a:lnSpc>
              <a:spcAft>
                <a:spcPts val="300"/>
              </a:spcAft>
              <a:buSzPct val="100000"/>
              <a:buChar char="•"/>
            </a:pPr>
            <a:r>
              <a:rPr lang="en-US" sz="1200" dirty="0">
                <a:solidFill>
                  <a:srgbClr val="1F2430"/>
                </a:solidFill>
                <a:latin typeface="Calibri" pitchFamily="34" charset="0"/>
                <a:ea typeface="Calibri" pitchFamily="34" charset="-122"/>
                <a:cs typeface="Calibri" pitchFamily="34" charset="-120"/>
              </a:rPr>
              <a:t>Pioneered vertical integration in American industry</a:t>
            </a:r>
            <a:endParaRPr lang="en-US" sz="1200" dirty="0"/>
          </a:p>
        </p:txBody>
      </p:sp>
      <p:sp>
        <p:nvSpPr>
          <p:cNvPr id="10" name="Shape 8"/>
          <p:cNvSpPr/>
          <p:nvPr/>
        </p:nvSpPr>
        <p:spPr>
          <a:xfrm>
            <a:off x="667512" y="3026664"/>
            <a:ext cx="3267456" cy="512064"/>
          </a:xfrm>
          <a:prstGeom prst="roundRect">
            <a:avLst>
              <a:gd name="adj" fmla="val 10714"/>
            </a:avLst>
          </a:prstGeom>
          <a:solidFill>
            <a:srgbClr val="FBEFD0"/>
          </a:solidFill>
          <a:ln w="15875">
            <a:solidFill>
              <a:srgbClr val="C9A227"/>
            </a:solidFill>
            <a:prstDash val="solid"/>
          </a:ln>
        </p:spPr>
        <p:txBody>
          <a:bodyPr/>
          <a:p/>
        </p:txBody>
      </p:sp>
      <p:sp>
        <p:nvSpPr>
          <p:cNvPr id="11" name="Text 9"/>
          <p:cNvSpPr/>
          <p:nvPr/>
        </p:nvSpPr>
        <p:spPr>
          <a:xfrm>
            <a:off x="749808" y="3054096"/>
            <a:ext cx="3121152" cy="457200"/>
          </a:xfrm>
          <a:prstGeom prst="rect">
            <a:avLst/>
          </a:prstGeom>
          <a:noFill/>
          <a:ln/>
        </p:spPr>
        <p:txBody>
          <a:bodyPr wrap="square" rtlCol="0" anchor="ctr">
            <a:normAutofit/>
          </a:bodyPr>
          <a:lstStyle/>
          <a:p>
            <a:pPr indent="0" marL="0">
              <a:lnSpc>
                <a:spcPct val="92000"/>
              </a:lnSpc>
              <a:buNone/>
            </a:pPr>
            <a:r>
              <a:rPr lang="en-US" sz="900" b="1" spc="100" kern="0" dirty="0">
                <a:solidFill>
                  <a:srgbClr val="B22234"/>
                </a:solidFill>
                <a:latin typeface="Trebuchet MS" pitchFamily="34" charset="0"/>
                <a:ea typeface="Trebuchet MS" pitchFamily="34" charset="-122"/>
                <a:cs typeface="Trebuchet MS" pitchFamily="34" charset="-120"/>
              </a:rPr>
              <a:t>STRATEGY  </a:t>
            </a:r>
            <a:pPr indent="0" marL="0">
              <a:lnSpc>
                <a:spcPct val="92000"/>
              </a:lnSpc>
              <a:buNone/>
            </a:pPr>
            <a:r>
              <a:rPr lang="en-US" sz="1050" b="1" dirty="0">
                <a:solidFill>
                  <a:srgbClr val="1F3A5F"/>
                </a:solidFill>
                <a:latin typeface="Calibri" pitchFamily="34" charset="0"/>
                <a:ea typeface="Calibri" pitchFamily="34" charset="-122"/>
                <a:cs typeface="Calibri" pitchFamily="34" charset="-120"/>
              </a:rPr>
              <a:t>Vertical integration</a:t>
            </a:r>
            <a:endParaRPr lang="en-US" sz="800" dirty="0"/>
          </a:p>
        </p:txBody>
      </p:sp>
      <p:sp>
        <p:nvSpPr>
          <p:cNvPr id="12" name="Shape 10"/>
          <p:cNvSpPr/>
          <p:nvPr/>
        </p:nvSpPr>
        <p:spPr>
          <a:xfrm>
            <a:off x="4328160" y="1627632"/>
            <a:ext cx="3505200" cy="1993392"/>
          </a:xfrm>
          <a:prstGeom prst="rect">
            <a:avLst/>
          </a:prstGeom>
          <a:solidFill>
            <a:srgbClr val="FFFFFF"/>
          </a:solidFill>
          <a:ln w="12700">
            <a:solidFill>
              <a:srgbClr val="DAD3C2"/>
            </a:solidFill>
            <a:prstDash val="solid"/>
          </a:ln>
        </p:spPr>
        <p:txBody>
          <a:bodyPr/>
          <a:p/>
        </p:txBody>
      </p:sp>
      <p:sp>
        <p:nvSpPr>
          <p:cNvPr id="13" name="Shape 11"/>
          <p:cNvSpPr/>
          <p:nvPr/>
        </p:nvSpPr>
        <p:spPr>
          <a:xfrm>
            <a:off x="4328160" y="1627632"/>
            <a:ext cx="3505200" cy="548640"/>
          </a:xfrm>
          <a:prstGeom prst="rect">
            <a:avLst/>
          </a:prstGeom>
          <a:solidFill>
            <a:srgbClr val="1F3A5F"/>
          </a:solidFill>
          <a:ln/>
        </p:spPr>
        <p:txBody>
          <a:bodyPr/>
          <a:p/>
        </p:txBody>
      </p:sp>
      <p:sp>
        <p:nvSpPr>
          <p:cNvPr id="14" name="Text 12"/>
          <p:cNvSpPr/>
          <p:nvPr/>
        </p:nvSpPr>
        <p:spPr>
          <a:xfrm>
            <a:off x="4465320" y="1655064"/>
            <a:ext cx="2173224" cy="493776"/>
          </a:xfrm>
          <a:prstGeom prst="rect">
            <a:avLst/>
          </a:prstGeom>
          <a:noFill/>
          <a:ln/>
        </p:spPr>
        <p:txBody>
          <a:bodyPr wrap="square" rtlCol="0" anchor="ctr">
            <a:normAutofit/>
          </a:bodyPr>
          <a:lstStyle/>
          <a:p>
            <a:pPr indent="0" marL="0">
              <a:lnSpc>
                <a:spcPct val="95000"/>
              </a:lnSpc>
              <a:buNone/>
            </a:pPr>
            <a:r>
              <a:rPr lang="en-US" sz="1600" b="1" dirty="0">
                <a:solidFill>
                  <a:srgbClr val="FFFFFF"/>
                </a:solidFill>
                <a:latin typeface="Georgia" pitchFamily="34" charset="0"/>
                <a:ea typeface="Georgia" pitchFamily="34" charset="-122"/>
                <a:cs typeface="Georgia" pitchFamily="34" charset="-120"/>
              </a:rPr>
              <a:t>John D. Rockefeller</a:t>
            </a:r>
            <a:endParaRPr lang="en-US" sz="1600" dirty="0"/>
          </a:p>
        </p:txBody>
      </p:sp>
      <p:sp>
        <p:nvSpPr>
          <p:cNvPr id="15" name="Text 13"/>
          <p:cNvSpPr/>
          <p:nvPr/>
        </p:nvSpPr>
        <p:spPr>
          <a:xfrm>
            <a:off x="6501384" y="1655064"/>
            <a:ext cx="1194816" cy="493776"/>
          </a:xfrm>
          <a:prstGeom prst="rect">
            <a:avLst/>
          </a:prstGeom>
          <a:noFill/>
          <a:ln/>
        </p:spPr>
        <p:txBody>
          <a:bodyPr wrap="square" rtlCol="0" anchor="ctr">
            <a:normAutofit/>
          </a:bodyPr>
          <a:lstStyle/>
          <a:p>
            <a:pPr algn="r" indent="0" marL="0">
              <a:buNone/>
            </a:pPr>
            <a:r>
              <a:rPr lang="en-US" sz="1100" dirty="0">
                <a:solidFill>
                  <a:srgbClr val="F9A825"/>
                </a:solidFill>
                <a:latin typeface="Trebuchet MS" pitchFamily="34" charset="0"/>
                <a:ea typeface="Trebuchet MS" pitchFamily="34" charset="-122"/>
                <a:cs typeface="Trebuchet MS" pitchFamily="34" charset="-120"/>
              </a:rPr>
              <a:t>Oil Industry Executive</a:t>
            </a:r>
            <a:endParaRPr lang="en-US" sz="1100" dirty="0"/>
          </a:p>
        </p:txBody>
      </p:sp>
      <p:sp>
        <p:nvSpPr>
          <p:cNvPr id="16" name="Text 14"/>
          <p:cNvSpPr/>
          <p:nvPr/>
        </p:nvSpPr>
        <p:spPr>
          <a:xfrm>
            <a:off x="4474464" y="2249424"/>
            <a:ext cx="3212592" cy="777240"/>
          </a:xfrm>
          <a:prstGeom prst="rect">
            <a:avLst/>
          </a:prstGeom>
          <a:noFill/>
          <a:ln/>
        </p:spPr>
        <p:txBody>
          <a:bodyPr wrap="square" rtlCol="0" anchor="ctr"/>
          <a:lstStyle/>
          <a:p>
            <a:pPr marL="152400" indent="-152400">
              <a:lnSpc>
                <a:spcPct val="105000"/>
              </a:lnSpc>
              <a:spcAft>
                <a:spcPts val="300"/>
              </a:spcAft>
              <a:buSzPct val="100000"/>
              <a:buChar char="•"/>
            </a:pPr>
            <a:r>
              <a:rPr lang="en-US" sz="1200" dirty="0">
                <a:solidFill>
                  <a:srgbClr val="1F2430"/>
                </a:solidFill>
                <a:latin typeface="Calibri" pitchFamily="34" charset="0"/>
                <a:ea typeface="Calibri" pitchFamily="34" charset="-122"/>
                <a:cs typeface="Calibri" pitchFamily="34" charset="-120"/>
              </a:rPr>
              <a:t>Founded Standard Oil, controlling 90% of U.S. oil refining</a:t>
            </a:r>
            <a:endParaRPr lang="en-US" sz="1200" dirty="0"/>
          </a:p>
          <a:p>
            <a:pPr marL="152400" indent="-152400">
              <a:lnSpc>
                <a:spcPct val="105000"/>
              </a:lnSpc>
              <a:spcAft>
                <a:spcPts val="300"/>
              </a:spcAft>
              <a:buSzPct val="100000"/>
              <a:buChar char="•"/>
            </a:pPr>
            <a:r>
              <a:rPr lang="en-US" sz="1200" dirty="0">
                <a:solidFill>
                  <a:srgbClr val="1F2430"/>
                </a:solidFill>
                <a:latin typeface="Calibri" pitchFamily="34" charset="0"/>
                <a:ea typeface="Calibri" pitchFamily="34" charset="-122"/>
                <a:cs typeface="Calibri" pitchFamily="34" charset="-120"/>
              </a:rPr>
              <a:t>Pioneered the trust as a form of business organization</a:t>
            </a:r>
            <a:endParaRPr lang="en-US" sz="1200" dirty="0"/>
          </a:p>
        </p:txBody>
      </p:sp>
      <p:sp>
        <p:nvSpPr>
          <p:cNvPr id="17" name="Shape 15"/>
          <p:cNvSpPr/>
          <p:nvPr/>
        </p:nvSpPr>
        <p:spPr>
          <a:xfrm>
            <a:off x="4447032" y="3026664"/>
            <a:ext cx="3267456" cy="512064"/>
          </a:xfrm>
          <a:prstGeom prst="roundRect">
            <a:avLst>
              <a:gd name="adj" fmla="val 10714"/>
            </a:avLst>
          </a:prstGeom>
          <a:solidFill>
            <a:srgbClr val="FBEFD0"/>
          </a:solidFill>
          <a:ln w="15875">
            <a:solidFill>
              <a:srgbClr val="C9A227"/>
            </a:solidFill>
            <a:prstDash val="solid"/>
          </a:ln>
        </p:spPr>
        <p:txBody>
          <a:bodyPr/>
          <a:p/>
        </p:txBody>
      </p:sp>
      <p:sp>
        <p:nvSpPr>
          <p:cNvPr id="18" name="Text 16"/>
          <p:cNvSpPr/>
          <p:nvPr/>
        </p:nvSpPr>
        <p:spPr>
          <a:xfrm>
            <a:off x="4529328" y="3054096"/>
            <a:ext cx="3121152" cy="457200"/>
          </a:xfrm>
          <a:prstGeom prst="rect">
            <a:avLst/>
          </a:prstGeom>
          <a:noFill/>
          <a:ln/>
        </p:spPr>
        <p:txBody>
          <a:bodyPr wrap="square" rtlCol="0" anchor="ctr">
            <a:normAutofit/>
          </a:bodyPr>
          <a:lstStyle/>
          <a:p>
            <a:pPr indent="0" marL="0">
              <a:lnSpc>
                <a:spcPct val="92000"/>
              </a:lnSpc>
              <a:buNone/>
            </a:pPr>
            <a:r>
              <a:rPr lang="en-US" sz="900" b="1" spc="100" kern="0" dirty="0">
                <a:solidFill>
                  <a:srgbClr val="B22234"/>
                </a:solidFill>
                <a:latin typeface="Trebuchet MS" pitchFamily="34" charset="0"/>
                <a:ea typeface="Trebuchet MS" pitchFamily="34" charset="-122"/>
                <a:cs typeface="Trebuchet MS" pitchFamily="34" charset="-120"/>
              </a:rPr>
              <a:t>STRATEGY  </a:t>
            </a:r>
            <a:pPr indent="0" marL="0">
              <a:lnSpc>
                <a:spcPct val="92000"/>
              </a:lnSpc>
              <a:buNone/>
            </a:pPr>
            <a:r>
              <a:rPr lang="en-US" sz="1050" b="1" dirty="0">
                <a:solidFill>
                  <a:srgbClr val="1F3A5F"/>
                </a:solidFill>
                <a:latin typeface="Calibri" pitchFamily="34" charset="0"/>
                <a:ea typeface="Calibri" pitchFamily="34" charset="-122"/>
                <a:cs typeface="Calibri" pitchFamily="34" charset="-120"/>
              </a:rPr>
              <a:t>Trust / monopoly</a:t>
            </a:r>
            <a:endParaRPr lang="en-US" sz="800" dirty="0"/>
          </a:p>
        </p:txBody>
      </p:sp>
      <p:sp>
        <p:nvSpPr>
          <p:cNvPr id="19" name="Shape 17"/>
          <p:cNvSpPr/>
          <p:nvPr/>
        </p:nvSpPr>
        <p:spPr>
          <a:xfrm>
            <a:off x="8107680" y="1627632"/>
            <a:ext cx="3505200" cy="1993392"/>
          </a:xfrm>
          <a:prstGeom prst="rect">
            <a:avLst/>
          </a:prstGeom>
          <a:solidFill>
            <a:srgbClr val="FFFFFF"/>
          </a:solidFill>
          <a:ln w="12700">
            <a:solidFill>
              <a:srgbClr val="DAD3C2"/>
            </a:solidFill>
            <a:prstDash val="solid"/>
          </a:ln>
        </p:spPr>
        <p:txBody>
          <a:bodyPr/>
          <a:p/>
        </p:txBody>
      </p:sp>
      <p:sp>
        <p:nvSpPr>
          <p:cNvPr id="20" name="Shape 18"/>
          <p:cNvSpPr/>
          <p:nvPr/>
        </p:nvSpPr>
        <p:spPr>
          <a:xfrm>
            <a:off x="8107680" y="1627632"/>
            <a:ext cx="3505200" cy="548640"/>
          </a:xfrm>
          <a:prstGeom prst="rect">
            <a:avLst/>
          </a:prstGeom>
          <a:solidFill>
            <a:srgbClr val="1F3A5F"/>
          </a:solidFill>
          <a:ln/>
        </p:spPr>
        <p:txBody>
          <a:bodyPr/>
          <a:p/>
        </p:txBody>
      </p:sp>
      <p:sp>
        <p:nvSpPr>
          <p:cNvPr id="21" name="Text 19"/>
          <p:cNvSpPr/>
          <p:nvPr/>
        </p:nvSpPr>
        <p:spPr>
          <a:xfrm>
            <a:off x="8244840" y="1655064"/>
            <a:ext cx="2173224" cy="493776"/>
          </a:xfrm>
          <a:prstGeom prst="rect">
            <a:avLst/>
          </a:prstGeom>
          <a:noFill/>
          <a:ln/>
        </p:spPr>
        <p:txBody>
          <a:bodyPr wrap="square" rtlCol="0" anchor="ctr">
            <a:normAutofit/>
          </a:bodyPr>
          <a:lstStyle/>
          <a:p>
            <a:pPr indent="0" marL="0">
              <a:lnSpc>
                <a:spcPct val="95000"/>
              </a:lnSpc>
              <a:buNone/>
            </a:pPr>
            <a:r>
              <a:rPr lang="en-US" sz="1600" b="1" dirty="0">
                <a:solidFill>
                  <a:srgbClr val="FFFFFF"/>
                </a:solidFill>
                <a:latin typeface="Georgia" pitchFamily="34" charset="0"/>
                <a:ea typeface="Georgia" pitchFamily="34" charset="-122"/>
                <a:cs typeface="Georgia" pitchFamily="34" charset="-120"/>
              </a:rPr>
              <a:t>Thomas Edison</a:t>
            </a:r>
            <a:endParaRPr lang="en-US" sz="1600" dirty="0"/>
          </a:p>
        </p:txBody>
      </p:sp>
      <p:sp>
        <p:nvSpPr>
          <p:cNvPr id="22" name="Text 20"/>
          <p:cNvSpPr/>
          <p:nvPr/>
        </p:nvSpPr>
        <p:spPr>
          <a:xfrm>
            <a:off x="10280904" y="1655064"/>
            <a:ext cx="1194816" cy="493776"/>
          </a:xfrm>
          <a:prstGeom prst="rect">
            <a:avLst/>
          </a:prstGeom>
          <a:noFill/>
          <a:ln/>
        </p:spPr>
        <p:txBody>
          <a:bodyPr wrap="square" rtlCol="0" anchor="ctr">
            <a:normAutofit/>
          </a:bodyPr>
          <a:lstStyle/>
          <a:p>
            <a:pPr algn="r" indent="0" marL="0">
              <a:buNone/>
            </a:pPr>
            <a:r>
              <a:rPr lang="en-US" sz="1100" dirty="0">
                <a:solidFill>
                  <a:srgbClr val="F9A825"/>
                </a:solidFill>
                <a:latin typeface="Trebuchet MS" pitchFamily="34" charset="0"/>
                <a:ea typeface="Trebuchet MS" pitchFamily="34" charset="-122"/>
                <a:cs typeface="Trebuchet MS" pitchFamily="34" charset="-120"/>
              </a:rPr>
              <a:t>Inventor</a:t>
            </a:r>
            <a:endParaRPr lang="en-US" sz="1100" dirty="0"/>
          </a:p>
        </p:txBody>
      </p:sp>
      <p:sp>
        <p:nvSpPr>
          <p:cNvPr id="23" name="Text 21"/>
          <p:cNvSpPr/>
          <p:nvPr/>
        </p:nvSpPr>
        <p:spPr>
          <a:xfrm>
            <a:off x="8253984" y="2249424"/>
            <a:ext cx="3212592" cy="777240"/>
          </a:xfrm>
          <a:prstGeom prst="rect">
            <a:avLst/>
          </a:prstGeom>
          <a:noFill/>
          <a:ln/>
        </p:spPr>
        <p:txBody>
          <a:bodyPr wrap="square" rtlCol="0" anchor="ctr"/>
          <a:lstStyle/>
          <a:p>
            <a:pPr marL="152400" indent="-152400">
              <a:lnSpc>
                <a:spcPct val="105000"/>
              </a:lnSpc>
              <a:spcAft>
                <a:spcPts val="300"/>
              </a:spcAft>
              <a:buSzPct val="100000"/>
              <a:buChar char="•"/>
            </a:pPr>
            <a:r>
              <a:rPr lang="en-US" sz="1200" dirty="0">
                <a:solidFill>
                  <a:srgbClr val="1F2430"/>
                </a:solidFill>
                <a:latin typeface="Calibri" pitchFamily="34" charset="0"/>
                <a:ea typeface="Calibri" pitchFamily="34" charset="-122"/>
                <a:cs typeface="Calibri" pitchFamily="34" charset="-120"/>
              </a:rPr>
              <a:t>Invented the practical incandescent light bulb</a:t>
            </a:r>
            <a:endParaRPr lang="en-US" sz="1200" dirty="0"/>
          </a:p>
          <a:p>
            <a:pPr marL="152400" indent="-152400">
              <a:lnSpc>
                <a:spcPct val="105000"/>
              </a:lnSpc>
              <a:spcAft>
                <a:spcPts val="300"/>
              </a:spcAft>
              <a:buSzPct val="100000"/>
              <a:buChar char="•"/>
            </a:pPr>
            <a:r>
              <a:rPr lang="en-US" sz="1200" dirty="0">
                <a:solidFill>
                  <a:srgbClr val="1F2430"/>
                </a:solidFill>
                <a:latin typeface="Calibri" pitchFamily="34" charset="0"/>
                <a:ea typeface="Calibri" pitchFamily="34" charset="-122"/>
                <a:cs typeface="Calibri" pitchFamily="34" charset="-120"/>
              </a:rPr>
              <a:t>Created the first industrial research laboratory</a:t>
            </a:r>
            <a:endParaRPr lang="en-US" sz="1200" dirty="0"/>
          </a:p>
        </p:txBody>
      </p:sp>
      <p:sp>
        <p:nvSpPr>
          <p:cNvPr id="24" name="Shape 22"/>
          <p:cNvSpPr/>
          <p:nvPr/>
        </p:nvSpPr>
        <p:spPr>
          <a:xfrm>
            <a:off x="8226552" y="3026664"/>
            <a:ext cx="3267456" cy="512064"/>
          </a:xfrm>
          <a:prstGeom prst="roundRect">
            <a:avLst>
              <a:gd name="adj" fmla="val 10714"/>
            </a:avLst>
          </a:prstGeom>
          <a:solidFill>
            <a:srgbClr val="FBEFD0"/>
          </a:solidFill>
          <a:ln w="15875">
            <a:solidFill>
              <a:srgbClr val="C9A227"/>
            </a:solidFill>
            <a:prstDash val="solid"/>
          </a:ln>
        </p:spPr>
        <p:txBody>
          <a:bodyPr/>
          <a:p/>
        </p:txBody>
      </p:sp>
      <p:sp>
        <p:nvSpPr>
          <p:cNvPr id="25" name="Text 23"/>
          <p:cNvSpPr/>
          <p:nvPr/>
        </p:nvSpPr>
        <p:spPr>
          <a:xfrm>
            <a:off x="8308848" y="3054096"/>
            <a:ext cx="3121152" cy="457200"/>
          </a:xfrm>
          <a:prstGeom prst="rect">
            <a:avLst/>
          </a:prstGeom>
          <a:noFill/>
          <a:ln/>
        </p:spPr>
        <p:txBody>
          <a:bodyPr wrap="square" rtlCol="0" anchor="ctr">
            <a:normAutofit/>
          </a:bodyPr>
          <a:lstStyle/>
          <a:p>
            <a:pPr indent="0" marL="0">
              <a:lnSpc>
                <a:spcPct val="92000"/>
              </a:lnSpc>
              <a:buNone/>
            </a:pPr>
            <a:r>
              <a:rPr lang="en-US" sz="900" b="1" spc="100" kern="0" dirty="0">
                <a:solidFill>
                  <a:srgbClr val="B22234"/>
                </a:solidFill>
                <a:latin typeface="Trebuchet MS" pitchFamily="34" charset="0"/>
                <a:ea typeface="Trebuchet MS" pitchFamily="34" charset="-122"/>
                <a:cs typeface="Trebuchet MS" pitchFamily="34" charset="-120"/>
              </a:rPr>
              <a:t>STRATEGY  </a:t>
            </a:r>
            <a:pPr indent="0" marL="0">
              <a:lnSpc>
                <a:spcPct val="92000"/>
              </a:lnSpc>
              <a:buNone/>
            </a:pPr>
            <a:r>
              <a:rPr lang="en-US" sz="1050" b="1" dirty="0">
                <a:solidFill>
                  <a:srgbClr val="1F3A5F"/>
                </a:solidFill>
                <a:latin typeface="Calibri" pitchFamily="34" charset="0"/>
                <a:ea typeface="Calibri" pitchFamily="34" charset="-122"/>
                <a:cs typeface="Calibri" pitchFamily="34" charset="-120"/>
              </a:rPr>
              <a:t>Invention → industry</a:t>
            </a:r>
            <a:endParaRPr lang="en-US" sz="800" dirty="0"/>
          </a:p>
        </p:txBody>
      </p:sp>
      <p:sp>
        <p:nvSpPr>
          <p:cNvPr id="26" name="Shape 24"/>
          <p:cNvSpPr/>
          <p:nvPr/>
        </p:nvSpPr>
        <p:spPr>
          <a:xfrm>
            <a:off x="548640" y="3822192"/>
            <a:ext cx="5394960" cy="1993392"/>
          </a:xfrm>
          <a:prstGeom prst="rect">
            <a:avLst/>
          </a:prstGeom>
          <a:solidFill>
            <a:srgbClr val="FFFFFF"/>
          </a:solidFill>
          <a:ln w="12700">
            <a:solidFill>
              <a:srgbClr val="DAD3C2"/>
            </a:solidFill>
            <a:prstDash val="solid"/>
          </a:ln>
        </p:spPr>
        <p:txBody>
          <a:bodyPr/>
          <a:p/>
        </p:txBody>
      </p:sp>
      <p:sp>
        <p:nvSpPr>
          <p:cNvPr id="27" name="Shape 25"/>
          <p:cNvSpPr/>
          <p:nvPr/>
        </p:nvSpPr>
        <p:spPr>
          <a:xfrm>
            <a:off x="548640" y="3822192"/>
            <a:ext cx="5394960" cy="548640"/>
          </a:xfrm>
          <a:prstGeom prst="rect">
            <a:avLst/>
          </a:prstGeom>
          <a:solidFill>
            <a:srgbClr val="1F3A5F"/>
          </a:solidFill>
          <a:ln/>
        </p:spPr>
        <p:txBody>
          <a:bodyPr/>
          <a:p/>
        </p:txBody>
      </p:sp>
      <p:sp>
        <p:nvSpPr>
          <p:cNvPr id="28" name="Text 26"/>
          <p:cNvSpPr/>
          <p:nvPr/>
        </p:nvSpPr>
        <p:spPr>
          <a:xfrm>
            <a:off x="685800" y="3849624"/>
            <a:ext cx="3344875" cy="493776"/>
          </a:xfrm>
          <a:prstGeom prst="rect">
            <a:avLst/>
          </a:prstGeom>
          <a:noFill/>
          <a:ln/>
        </p:spPr>
        <p:txBody>
          <a:bodyPr wrap="square" rtlCol="0" anchor="ctr">
            <a:normAutofit/>
          </a:bodyPr>
          <a:lstStyle/>
          <a:p>
            <a:pPr indent="0" marL="0">
              <a:lnSpc>
                <a:spcPct val="95000"/>
              </a:lnSpc>
              <a:buNone/>
            </a:pPr>
            <a:r>
              <a:rPr lang="en-US" sz="1600" b="1" dirty="0">
                <a:solidFill>
                  <a:srgbClr val="FFFFFF"/>
                </a:solidFill>
                <a:latin typeface="Georgia" pitchFamily="34" charset="0"/>
                <a:ea typeface="Georgia" pitchFamily="34" charset="-122"/>
                <a:cs typeface="Georgia" pitchFamily="34" charset="-120"/>
              </a:rPr>
              <a:t>Cornelius Vanderbilt</a:t>
            </a:r>
            <a:endParaRPr lang="en-US" sz="1600" dirty="0"/>
          </a:p>
        </p:txBody>
      </p:sp>
      <p:sp>
        <p:nvSpPr>
          <p:cNvPr id="29" name="Text 27"/>
          <p:cNvSpPr/>
          <p:nvPr/>
        </p:nvSpPr>
        <p:spPr>
          <a:xfrm>
            <a:off x="3893515" y="3849624"/>
            <a:ext cx="1912925" cy="493776"/>
          </a:xfrm>
          <a:prstGeom prst="rect">
            <a:avLst/>
          </a:prstGeom>
          <a:noFill/>
          <a:ln/>
        </p:spPr>
        <p:txBody>
          <a:bodyPr wrap="square" rtlCol="0" anchor="ctr">
            <a:normAutofit/>
          </a:bodyPr>
          <a:lstStyle/>
          <a:p>
            <a:pPr algn="r" indent="0" marL="0">
              <a:buNone/>
            </a:pPr>
            <a:r>
              <a:rPr lang="en-US" sz="1100" dirty="0">
                <a:solidFill>
                  <a:srgbClr val="F9A825"/>
                </a:solidFill>
                <a:latin typeface="Trebuchet MS" pitchFamily="34" charset="0"/>
                <a:ea typeface="Trebuchet MS" pitchFamily="34" charset="-122"/>
                <a:cs typeface="Trebuchet MS" pitchFamily="34" charset="-120"/>
              </a:rPr>
              <a:t>Shipping Magnate</a:t>
            </a:r>
            <a:endParaRPr lang="en-US" sz="1100" dirty="0"/>
          </a:p>
        </p:txBody>
      </p:sp>
      <p:sp>
        <p:nvSpPr>
          <p:cNvPr id="30" name="Text 28"/>
          <p:cNvSpPr/>
          <p:nvPr/>
        </p:nvSpPr>
        <p:spPr>
          <a:xfrm>
            <a:off x="694944" y="4443984"/>
            <a:ext cx="5102352" cy="777240"/>
          </a:xfrm>
          <a:prstGeom prst="rect">
            <a:avLst/>
          </a:prstGeom>
          <a:noFill/>
          <a:ln/>
        </p:spPr>
        <p:txBody>
          <a:bodyPr wrap="square" rtlCol="0" anchor="ctr"/>
          <a:lstStyle/>
          <a:p>
            <a:pPr marL="152400" indent="-152400">
              <a:lnSpc>
                <a:spcPct val="105000"/>
              </a:lnSpc>
              <a:spcAft>
                <a:spcPts val="300"/>
              </a:spcAft>
              <a:buSzPct val="100000"/>
              <a:buChar char="•"/>
            </a:pPr>
            <a:r>
              <a:rPr lang="en-US" sz="1200" dirty="0">
                <a:solidFill>
                  <a:srgbClr val="1F2430"/>
                </a:solidFill>
                <a:latin typeface="Calibri" pitchFamily="34" charset="0"/>
                <a:ea typeface="Calibri" pitchFamily="34" charset="-122"/>
                <a:cs typeface="Calibri" pitchFamily="34" charset="-120"/>
              </a:rPr>
              <a:t>Built the largest fortune in American history to that time</a:t>
            </a:r>
            <a:endParaRPr lang="en-US" sz="1200" dirty="0"/>
          </a:p>
          <a:p>
            <a:pPr marL="152400" indent="-152400">
              <a:lnSpc>
                <a:spcPct val="105000"/>
              </a:lnSpc>
              <a:spcAft>
                <a:spcPts val="300"/>
              </a:spcAft>
              <a:buSzPct val="100000"/>
              <a:buChar char="•"/>
            </a:pPr>
            <a:r>
              <a:rPr lang="en-US" sz="1200" dirty="0">
                <a:solidFill>
                  <a:srgbClr val="1F2430"/>
                </a:solidFill>
                <a:latin typeface="Calibri" pitchFamily="34" charset="0"/>
                <a:ea typeface="Calibri" pitchFamily="34" charset="-122"/>
                <a:cs typeface="Calibri" pitchFamily="34" charset="-120"/>
              </a:rPr>
              <a:t>Created the New York Central Railroad system</a:t>
            </a:r>
            <a:endParaRPr lang="en-US" sz="1200" dirty="0"/>
          </a:p>
        </p:txBody>
      </p:sp>
      <p:sp>
        <p:nvSpPr>
          <p:cNvPr id="31" name="Shape 29"/>
          <p:cNvSpPr/>
          <p:nvPr/>
        </p:nvSpPr>
        <p:spPr>
          <a:xfrm>
            <a:off x="667512" y="5221224"/>
            <a:ext cx="5157216" cy="512064"/>
          </a:xfrm>
          <a:prstGeom prst="roundRect">
            <a:avLst>
              <a:gd name="adj" fmla="val 10714"/>
            </a:avLst>
          </a:prstGeom>
          <a:solidFill>
            <a:srgbClr val="FBEFD0"/>
          </a:solidFill>
          <a:ln w="15875">
            <a:solidFill>
              <a:srgbClr val="C9A227"/>
            </a:solidFill>
            <a:prstDash val="solid"/>
          </a:ln>
        </p:spPr>
        <p:txBody>
          <a:bodyPr/>
          <a:p/>
        </p:txBody>
      </p:sp>
      <p:sp>
        <p:nvSpPr>
          <p:cNvPr id="32" name="Text 30"/>
          <p:cNvSpPr/>
          <p:nvPr/>
        </p:nvSpPr>
        <p:spPr>
          <a:xfrm>
            <a:off x="749808" y="5248656"/>
            <a:ext cx="5010912" cy="457200"/>
          </a:xfrm>
          <a:prstGeom prst="rect">
            <a:avLst/>
          </a:prstGeom>
          <a:noFill/>
          <a:ln/>
        </p:spPr>
        <p:txBody>
          <a:bodyPr wrap="square" rtlCol="0" anchor="ctr">
            <a:normAutofit/>
          </a:bodyPr>
          <a:lstStyle/>
          <a:p>
            <a:pPr indent="0" marL="0">
              <a:lnSpc>
                <a:spcPct val="92000"/>
              </a:lnSpc>
              <a:buNone/>
            </a:pPr>
            <a:r>
              <a:rPr lang="en-US" sz="900" b="1" spc="100" kern="0" dirty="0">
                <a:solidFill>
                  <a:srgbClr val="B22234"/>
                </a:solidFill>
                <a:latin typeface="Trebuchet MS" pitchFamily="34" charset="0"/>
                <a:ea typeface="Trebuchet MS" pitchFamily="34" charset="-122"/>
                <a:cs typeface="Trebuchet MS" pitchFamily="34" charset="-120"/>
              </a:rPr>
              <a:t>STRATEGY  </a:t>
            </a:r>
            <a:pPr indent="0" marL="0">
              <a:lnSpc>
                <a:spcPct val="92000"/>
              </a:lnSpc>
              <a:buNone/>
            </a:pPr>
            <a:r>
              <a:rPr lang="en-US" sz="1050" b="1" dirty="0">
                <a:solidFill>
                  <a:srgbClr val="1F3A5F"/>
                </a:solidFill>
                <a:latin typeface="Calibri" pitchFamily="34" charset="0"/>
                <a:ea typeface="Calibri" pitchFamily="34" charset="-122"/>
                <a:cs typeface="Calibri" pitchFamily="34" charset="-120"/>
              </a:rPr>
              <a:t>Railroad consolidation</a:t>
            </a:r>
            <a:endParaRPr lang="en-US" sz="800" dirty="0"/>
          </a:p>
        </p:txBody>
      </p:sp>
      <p:sp>
        <p:nvSpPr>
          <p:cNvPr id="33" name="Shape 31"/>
          <p:cNvSpPr/>
          <p:nvPr/>
        </p:nvSpPr>
        <p:spPr>
          <a:xfrm>
            <a:off x="6217920" y="3822192"/>
            <a:ext cx="5394960" cy="1993392"/>
          </a:xfrm>
          <a:prstGeom prst="rect">
            <a:avLst/>
          </a:prstGeom>
          <a:solidFill>
            <a:srgbClr val="FFFFFF"/>
          </a:solidFill>
          <a:ln w="12700">
            <a:solidFill>
              <a:srgbClr val="DAD3C2"/>
            </a:solidFill>
            <a:prstDash val="solid"/>
          </a:ln>
        </p:spPr>
        <p:txBody>
          <a:bodyPr/>
          <a:p/>
        </p:txBody>
      </p:sp>
      <p:sp>
        <p:nvSpPr>
          <p:cNvPr id="34" name="Shape 32"/>
          <p:cNvSpPr/>
          <p:nvPr/>
        </p:nvSpPr>
        <p:spPr>
          <a:xfrm>
            <a:off x="6217920" y="3822192"/>
            <a:ext cx="5394960" cy="548640"/>
          </a:xfrm>
          <a:prstGeom prst="rect">
            <a:avLst/>
          </a:prstGeom>
          <a:solidFill>
            <a:srgbClr val="1F3A5F"/>
          </a:solidFill>
          <a:ln/>
        </p:spPr>
        <p:txBody>
          <a:bodyPr/>
          <a:p/>
        </p:txBody>
      </p:sp>
      <p:sp>
        <p:nvSpPr>
          <p:cNvPr id="35" name="Text 33"/>
          <p:cNvSpPr/>
          <p:nvPr/>
        </p:nvSpPr>
        <p:spPr>
          <a:xfrm>
            <a:off x="6355080" y="3849624"/>
            <a:ext cx="3344875" cy="493776"/>
          </a:xfrm>
          <a:prstGeom prst="rect">
            <a:avLst/>
          </a:prstGeom>
          <a:noFill/>
          <a:ln/>
        </p:spPr>
        <p:txBody>
          <a:bodyPr wrap="square" rtlCol="0" anchor="ctr">
            <a:normAutofit/>
          </a:bodyPr>
          <a:lstStyle/>
          <a:p>
            <a:pPr indent="0" marL="0">
              <a:lnSpc>
                <a:spcPct val="95000"/>
              </a:lnSpc>
              <a:buNone/>
            </a:pPr>
            <a:r>
              <a:rPr lang="en-US" sz="1600" b="1" dirty="0">
                <a:solidFill>
                  <a:srgbClr val="FFFFFF"/>
                </a:solidFill>
                <a:latin typeface="Georgia" pitchFamily="34" charset="0"/>
                <a:ea typeface="Georgia" pitchFamily="34" charset="-122"/>
                <a:cs typeface="Georgia" pitchFamily="34" charset="-120"/>
              </a:rPr>
              <a:t>J.P. Morgan</a:t>
            </a:r>
            <a:endParaRPr lang="en-US" sz="1600" dirty="0"/>
          </a:p>
        </p:txBody>
      </p:sp>
      <p:sp>
        <p:nvSpPr>
          <p:cNvPr id="36" name="Text 34"/>
          <p:cNvSpPr/>
          <p:nvPr/>
        </p:nvSpPr>
        <p:spPr>
          <a:xfrm>
            <a:off x="9562795" y="3849624"/>
            <a:ext cx="1912925" cy="493776"/>
          </a:xfrm>
          <a:prstGeom prst="rect">
            <a:avLst/>
          </a:prstGeom>
          <a:noFill/>
          <a:ln/>
        </p:spPr>
        <p:txBody>
          <a:bodyPr wrap="square" rtlCol="0" anchor="ctr">
            <a:normAutofit/>
          </a:bodyPr>
          <a:lstStyle/>
          <a:p>
            <a:pPr algn="r" indent="0" marL="0">
              <a:buNone/>
            </a:pPr>
            <a:r>
              <a:rPr lang="en-US" sz="1100" dirty="0">
                <a:solidFill>
                  <a:srgbClr val="F9A825"/>
                </a:solidFill>
                <a:latin typeface="Trebuchet MS" pitchFamily="34" charset="0"/>
                <a:ea typeface="Trebuchet MS" pitchFamily="34" charset="-122"/>
                <a:cs typeface="Trebuchet MS" pitchFamily="34" charset="-120"/>
              </a:rPr>
              <a:t>Banker</a:t>
            </a:r>
            <a:endParaRPr lang="en-US" sz="1100" dirty="0"/>
          </a:p>
        </p:txBody>
      </p:sp>
      <p:sp>
        <p:nvSpPr>
          <p:cNvPr id="37" name="Text 35"/>
          <p:cNvSpPr/>
          <p:nvPr/>
        </p:nvSpPr>
        <p:spPr>
          <a:xfrm>
            <a:off x="6364224" y="4443984"/>
            <a:ext cx="5102352" cy="777240"/>
          </a:xfrm>
          <a:prstGeom prst="rect">
            <a:avLst/>
          </a:prstGeom>
          <a:noFill/>
          <a:ln/>
        </p:spPr>
        <p:txBody>
          <a:bodyPr wrap="square" rtlCol="0" anchor="ctr"/>
          <a:lstStyle/>
          <a:p>
            <a:pPr marL="152400" indent="-152400">
              <a:lnSpc>
                <a:spcPct val="105000"/>
              </a:lnSpc>
              <a:spcAft>
                <a:spcPts val="300"/>
              </a:spcAft>
              <a:buSzPct val="100000"/>
              <a:buChar char="•"/>
            </a:pPr>
            <a:r>
              <a:rPr lang="en-US" sz="1200" dirty="0">
                <a:solidFill>
                  <a:srgbClr val="1F2430"/>
                </a:solidFill>
                <a:latin typeface="Calibri" pitchFamily="34" charset="0"/>
                <a:ea typeface="Calibri" pitchFamily="34" charset="-122"/>
                <a:cs typeface="Calibri" pitchFamily="34" charset="-120"/>
              </a:rPr>
              <a:t>Created J.P. Morgan &amp; Co., the most powerful bank in America</a:t>
            </a:r>
            <a:endParaRPr lang="en-US" sz="1200" dirty="0"/>
          </a:p>
          <a:p>
            <a:pPr marL="152400" indent="-152400">
              <a:lnSpc>
                <a:spcPct val="105000"/>
              </a:lnSpc>
              <a:spcAft>
                <a:spcPts val="300"/>
              </a:spcAft>
              <a:buSzPct val="100000"/>
              <a:buChar char="•"/>
            </a:pPr>
            <a:r>
              <a:rPr lang="en-US" sz="1200" dirty="0">
                <a:solidFill>
                  <a:srgbClr val="1F2430"/>
                </a:solidFill>
                <a:latin typeface="Calibri" pitchFamily="34" charset="0"/>
                <a:ea typeface="Calibri" pitchFamily="34" charset="-122"/>
                <a:cs typeface="Calibri" pitchFamily="34" charset="-120"/>
              </a:rPr>
              <a:t>Organized U.S. Steel, the first billion-dollar corporation</a:t>
            </a:r>
            <a:endParaRPr lang="en-US" sz="1200" dirty="0"/>
          </a:p>
        </p:txBody>
      </p:sp>
      <p:sp>
        <p:nvSpPr>
          <p:cNvPr id="38" name="Shape 36"/>
          <p:cNvSpPr/>
          <p:nvPr/>
        </p:nvSpPr>
        <p:spPr>
          <a:xfrm>
            <a:off x="6336792" y="5221224"/>
            <a:ext cx="5157216" cy="512064"/>
          </a:xfrm>
          <a:prstGeom prst="roundRect">
            <a:avLst>
              <a:gd name="adj" fmla="val 10714"/>
            </a:avLst>
          </a:prstGeom>
          <a:solidFill>
            <a:srgbClr val="FBEFD0"/>
          </a:solidFill>
          <a:ln w="15875">
            <a:solidFill>
              <a:srgbClr val="C9A227"/>
            </a:solidFill>
            <a:prstDash val="solid"/>
          </a:ln>
        </p:spPr>
        <p:txBody>
          <a:bodyPr/>
          <a:p/>
        </p:txBody>
      </p:sp>
      <p:sp>
        <p:nvSpPr>
          <p:cNvPr id="39" name="Text 37"/>
          <p:cNvSpPr/>
          <p:nvPr/>
        </p:nvSpPr>
        <p:spPr>
          <a:xfrm>
            <a:off x="6419088" y="5248656"/>
            <a:ext cx="5010912" cy="457200"/>
          </a:xfrm>
          <a:prstGeom prst="rect">
            <a:avLst/>
          </a:prstGeom>
          <a:noFill/>
          <a:ln/>
        </p:spPr>
        <p:txBody>
          <a:bodyPr wrap="square" rtlCol="0" anchor="ctr">
            <a:normAutofit/>
          </a:bodyPr>
          <a:lstStyle/>
          <a:p>
            <a:pPr indent="0" marL="0">
              <a:lnSpc>
                <a:spcPct val="92000"/>
              </a:lnSpc>
              <a:buNone/>
            </a:pPr>
            <a:r>
              <a:rPr lang="en-US" sz="900" b="1" spc="100" kern="0" dirty="0">
                <a:solidFill>
                  <a:srgbClr val="B22234"/>
                </a:solidFill>
                <a:latin typeface="Trebuchet MS" pitchFamily="34" charset="0"/>
                <a:ea typeface="Trebuchet MS" pitchFamily="34" charset="-122"/>
                <a:cs typeface="Trebuchet MS" pitchFamily="34" charset="-120"/>
              </a:rPr>
              <a:t>STRATEGY  </a:t>
            </a:r>
            <a:pPr indent="0" marL="0">
              <a:lnSpc>
                <a:spcPct val="92000"/>
              </a:lnSpc>
              <a:buNone/>
            </a:pPr>
            <a:r>
              <a:rPr lang="en-US" sz="1050" b="1" dirty="0">
                <a:solidFill>
                  <a:srgbClr val="1F3A5F"/>
                </a:solidFill>
                <a:latin typeface="Calibri" pitchFamily="34" charset="0"/>
                <a:ea typeface="Calibri" pitchFamily="34" charset="-122"/>
                <a:cs typeface="Calibri" pitchFamily="34" charset="-120"/>
              </a:rPr>
              <a:t>Finance capitalism</a:t>
            </a:r>
            <a:endParaRPr lang="en-US" sz="800" dirty="0"/>
          </a:p>
        </p:txBody>
      </p:sp>
      <p:sp>
        <p:nvSpPr>
          <p:cNvPr id="40" name="Text 38"/>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41" name="Text 3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71</a:t>
            </a:r>
            <a:endParaRPr lang="en-US" sz="9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1">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285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002858"/>
                </a:solidFill>
                <a:latin typeface="Trebuchet MS" pitchFamily="34" charset="0"/>
                <a:ea typeface="Trebuchet MS" pitchFamily="34" charset="-122"/>
                <a:cs typeface="Trebuchet MS" pitchFamily="34" charset="-120"/>
              </a:rPr>
              <a:t>US.05 · PRIMARY SOURCE ANALYSIS</a:t>
            </a:r>
            <a:endParaRPr lang="en-US" sz="1200" dirty="0"/>
          </a:p>
        </p:txBody>
      </p:sp>
      <p:sp>
        <p:nvSpPr>
          <p:cNvPr id="4" name="Text 2"/>
          <p:cNvSpPr/>
          <p:nvPr/>
        </p:nvSpPr>
        <p:spPr>
          <a:xfrm>
            <a:off x="548640" y="731520"/>
            <a:ext cx="8686800" cy="640080"/>
          </a:xfrm>
          <a:prstGeom prst="rect">
            <a:avLst/>
          </a:prstGeom>
          <a:noFill/>
          <a:ln/>
        </p:spPr>
        <p:txBody>
          <a:bodyPr wrap="square" rtlCol="0" anchor="t"/>
          <a:lstStyle/>
          <a:p>
            <a:pPr indent="0" marL="0">
              <a:buNone/>
            </a:pPr>
            <a:r>
              <a:rPr lang="en-US" sz="2500" b="1" dirty="0">
                <a:solidFill>
                  <a:srgbClr val="1F3A5F"/>
                </a:solidFill>
                <a:latin typeface="Georgia" pitchFamily="34" charset="0"/>
                <a:ea typeface="Georgia" pitchFamily="34" charset="-122"/>
                <a:cs typeface="Georgia" pitchFamily="34" charset="-120"/>
              </a:rPr>
              <a:t>The Gospel of Wealth</a:t>
            </a:r>
            <a:endParaRPr lang="en-US" sz="2500" dirty="0"/>
          </a:p>
        </p:txBody>
      </p:sp>
      <p:sp>
        <p:nvSpPr>
          <p:cNvPr id="5" name="Shape 3"/>
          <p:cNvSpPr/>
          <p:nvPr/>
        </p:nvSpPr>
        <p:spPr>
          <a:xfrm>
            <a:off x="9418320" y="777240"/>
            <a:ext cx="2194560" cy="457200"/>
          </a:xfrm>
          <a:prstGeom prst="roundRect">
            <a:avLst>
              <a:gd name="adj" fmla="val 20000"/>
            </a:avLst>
          </a:prstGeom>
          <a:solidFill>
            <a:srgbClr val="002858"/>
          </a:solidFill>
          <a:ln/>
        </p:spPr>
        <p:txBody>
          <a:bodyPr/>
          <a:p/>
        </p:txBody>
      </p:sp>
      <p:sp>
        <p:nvSpPr>
          <p:cNvPr id="6" name="Text 4"/>
          <p:cNvSpPr/>
          <p:nvPr/>
        </p:nvSpPr>
        <p:spPr>
          <a:xfrm>
            <a:off x="9418320" y="777240"/>
            <a:ext cx="219456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Argumentation</a:t>
            </a:r>
            <a:endParaRPr lang="en-US" sz="1200" dirty="0"/>
          </a:p>
        </p:txBody>
      </p:sp>
      <p:sp>
        <p:nvSpPr>
          <p:cNvPr id="7" name="Text 5"/>
          <p:cNvSpPr/>
          <p:nvPr/>
        </p:nvSpPr>
        <p:spPr>
          <a:xfrm>
            <a:off x="548640" y="1335024"/>
            <a:ext cx="10058400" cy="274320"/>
          </a:xfrm>
          <a:prstGeom prst="rect">
            <a:avLst/>
          </a:prstGeom>
          <a:noFill/>
          <a:ln/>
        </p:spPr>
        <p:txBody>
          <a:bodyPr wrap="square" rtlCol="0" anchor="ctr"/>
          <a:lstStyle/>
          <a:p>
            <a:pPr indent="0" marL="0">
              <a:buNone/>
            </a:pPr>
            <a:r>
              <a:rPr lang="en-US" sz="1200" i="1" dirty="0">
                <a:solidFill>
                  <a:srgbClr val="5C6470"/>
                </a:solidFill>
                <a:latin typeface="Calibri" pitchFamily="34" charset="0"/>
                <a:ea typeface="Calibri" pitchFamily="34" charset="-122"/>
                <a:cs typeface="Calibri" pitchFamily="34" charset="-120"/>
              </a:rPr>
              <a:t>Andrew Carnegie  ·  1889</a:t>
            </a:r>
            <a:endParaRPr lang="en-US" sz="1200" dirty="0"/>
          </a:p>
        </p:txBody>
      </p:sp>
      <p:sp>
        <p:nvSpPr>
          <p:cNvPr id="8" name="Shape 6"/>
          <p:cNvSpPr/>
          <p:nvPr/>
        </p:nvSpPr>
        <p:spPr>
          <a:xfrm>
            <a:off x="512064" y="1700784"/>
            <a:ext cx="3273552" cy="2660904"/>
          </a:xfrm>
          <a:prstGeom prst="rect">
            <a:avLst/>
          </a:prstGeom>
          <a:solidFill>
            <a:srgbClr val="FFFFFF"/>
          </a:solidFill>
          <a:ln w="12700">
            <a:solidFill>
              <a:srgbClr val="DAD3C2"/>
            </a:solidFill>
            <a:prstDash val="solid"/>
          </a:ln>
        </p:spPr>
        <p:txBody>
          <a:bodyPr/>
          <a:p/>
        </p:txBody>
      </p:sp>
      <p:pic>
        <p:nvPicPr>
          <p:cNvPr id="9" name="Image 0" descr="Andrew Carnegie  ·  1889">    </p:cNvPr>
          <p:cNvPicPr>
            <a:picLocks noChangeAspect="1"/>
          </p:cNvPicPr>
          <p:nvPr/>
        </p:nvPicPr>
        <p:blipFill>
          <a:blip r:embed="rId1"/>
          <a:srcRect l="0" r="0" t="0" b="0"/>
          <a:stretch/>
        </p:blipFill>
        <p:spPr>
          <a:xfrm>
            <a:off x="548640" y="1737360"/>
            <a:ext cx="3200400" cy="2587752"/>
          </a:xfrm>
          <a:prstGeom prst="rect">
            <a:avLst/>
          </a:prstGeom>
        </p:spPr>
      </p:pic>
      <p:sp>
        <p:nvSpPr>
          <p:cNvPr id="10" name="Text 7"/>
          <p:cNvSpPr/>
          <p:nvPr/>
        </p:nvSpPr>
        <p:spPr>
          <a:xfrm>
            <a:off x="548640" y="4379976"/>
            <a:ext cx="3200400" cy="603504"/>
          </a:xfrm>
          <a:prstGeom prst="rect">
            <a:avLst/>
          </a:prstGeom>
          <a:noFill/>
          <a:ln/>
        </p:spPr>
        <p:txBody>
          <a:bodyPr wrap="square" rtlCol="0" anchor="t"/>
          <a:lstStyle/>
          <a:p>
            <a:pPr algn="l" indent="0" marL="0">
              <a:lnSpc>
                <a:spcPct val="100000"/>
              </a:lnSpc>
              <a:buNone/>
            </a:pPr>
            <a:pPr algn="l" indent="0" marL="0">
              <a:lnSpc>
                <a:spcPct val="100000"/>
              </a:lnSpc>
              <a:buNone/>
            </a:pPr>
            <a:r>
              <a:rPr lang="en-US" sz="900" i="1" dirty="0">
                <a:solidFill>
                  <a:srgbClr val="5C6470"/>
                </a:solidFill>
                <a:latin typeface="Calibri" pitchFamily="34" charset="0"/>
                <a:ea typeface="Calibri" pitchFamily="34" charset="-122"/>
                <a:cs typeface="Calibri" pitchFamily="34" charset="-120"/>
              </a:rPr>
              <a:t>Udo J. Keppler, 1904  </a:t>
            </a:r>
            <a:pPr algn="l" indent="0" marL="0">
              <a:lnSpc>
                <a:spcPct val="100000"/>
              </a:lnSpc>
              <a:buNone/>
            </a:pPr>
            <a:r>
              <a:rPr lang="en-US" sz="9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750" dirty="0"/>
          </a:p>
        </p:txBody>
      </p:sp>
      <p:sp>
        <p:nvSpPr>
          <p:cNvPr id="11" name="Shape 8"/>
          <p:cNvSpPr/>
          <p:nvPr/>
        </p:nvSpPr>
        <p:spPr>
          <a:xfrm>
            <a:off x="658368" y="1828800"/>
            <a:ext cx="2980944" cy="512064"/>
          </a:xfrm>
          <a:prstGeom prst="roundRect">
            <a:avLst>
              <a:gd name="adj" fmla="val 10714"/>
            </a:avLst>
          </a:prstGeom>
          <a:solidFill>
            <a:srgbClr val="C9A227"/>
          </a:solidFill>
          <a:ln w="12700">
            <a:solidFill>
              <a:srgbClr val="1F3A5F"/>
            </a:solidFill>
            <a:prstDash val="solid"/>
          </a:ln>
        </p:spPr>
        <p:txBody>
          <a:bodyPr/>
          <a:p/>
        </p:txBody>
      </p:sp>
      <p:sp>
        <p:nvSpPr>
          <p:cNvPr id="12" name="Text 9"/>
          <p:cNvSpPr/>
          <p:nvPr/>
        </p:nvSpPr>
        <p:spPr>
          <a:xfrm>
            <a:off x="768096" y="1865376"/>
            <a:ext cx="2761488" cy="438912"/>
          </a:xfrm>
          <a:prstGeom prst="rect">
            <a:avLst/>
          </a:prstGeom>
          <a:noFill/>
          <a:ln/>
        </p:spPr>
        <p:txBody>
          <a:bodyPr wrap="square" rtlCol="0" anchor="ctr"/>
          <a:lstStyle/>
          <a:p>
            <a:pPr indent="0" marL="0">
              <a:lnSpc>
                <a:spcPct val="95000"/>
              </a:lnSpc>
              <a:buNone/>
            </a:pPr>
            <a:r>
              <a:rPr lang="en-US" sz="950" b="1" spc="150" kern="0" dirty="0">
                <a:solidFill>
                  <a:srgbClr val="1F3A5F"/>
                </a:solidFill>
                <a:latin typeface="Trebuchet MS" pitchFamily="34" charset="0"/>
                <a:ea typeface="Trebuchet MS" pitchFamily="34" charset="-122"/>
                <a:cs typeface="Trebuchet MS" pitchFamily="34" charset="-120"/>
              </a:rPr>
              <a:t>ZOOM IN  </a:t>
            </a:r>
            <a:pPr indent="0" marL="0">
              <a:lnSpc>
                <a:spcPct val="95000"/>
              </a:lnSpc>
              <a:buNone/>
            </a:pPr>
            <a:r>
              <a:rPr lang="en-US" sz="900" i="1" dirty="0">
                <a:solidFill>
                  <a:srgbClr val="1F3A5F"/>
                </a:solidFill>
                <a:latin typeface="Calibri" pitchFamily="34" charset="0"/>
                <a:ea typeface="Calibri" pitchFamily="34" charset="-122"/>
                <a:cs typeface="Calibri" pitchFamily="34" charset="-120"/>
              </a:rPr>
              <a:t>Find ONE detail that surprises you — be ready to name it.</a:t>
            </a:r>
            <a:endParaRPr lang="en-US" sz="950" dirty="0"/>
          </a:p>
        </p:txBody>
      </p:sp>
      <p:sp>
        <p:nvSpPr>
          <p:cNvPr id="13" name="Shape 10"/>
          <p:cNvSpPr/>
          <p:nvPr/>
        </p:nvSpPr>
        <p:spPr>
          <a:xfrm>
            <a:off x="3931920" y="1737360"/>
            <a:ext cx="3520440" cy="3246120"/>
          </a:xfrm>
          <a:prstGeom prst="rect">
            <a:avLst/>
          </a:prstGeom>
          <a:solidFill>
            <a:srgbClr val="FFFFFF"/>
          </a:solidFill>
          <a:ln w="12700">
            <a:solidFill>
              <a:srgbClr val="DAD3C2"/>
            </a:solidFill>
            <a:prstDash val="solid"/>
          </a:ln>
        </p:spPr>
        <p:txBody>
          <a:bodyPr/>
          <a:p/>
        </p:txBody>
      </p:sp>
      <p:sp>
        <p:nvSpPr>
          <p:cNvPr id="14" name="Shape 11"/>
          <p:cNvSpPr/>
          <p:nvPr/>
        </p:nvSpPr>
        <p:spPr>
          <a:xfrm>
            <a:off x="3931920" y="1737360"/>
            <a:ext cx="91440" cy="3246120"/>
          </a:xfrm>
          <a:prstGeom prst="rect">
            <a:avLst/>
          </a:prstGeom>
          <a:solidFill>
            <a:srgbClr val="C9A227"/>
          </a:solidFill>
          <a:ln/>
        </p:spPr>
        <p:txBody>
          <a:bodyPr/>
          <a:p/>
        </p:txBody>
      </p:sp>
      <p:sp>
        <p:nvSpPr>
          <p:cNvPr id="15" name="Text 12"/>
          <p:cNvSpPr/>
          <p:nvPr/>
        </p:nvSpPr>
        <p:spPr>
          <a:xfrm>
            <a:off x="4160520" y="1920240"/>
            <a:ext cx="3200400" cy="2880360"/>
          </a:xfrm>
          <a:prstGeom prst="rect">
            <a:avLst/>
          </a:prstGeom>
          <a:noFill/>
          <a:ln/>
        </p:spPr>
        <p:txBody>
          <a:bodyPr wrap="square" rtlCol="0" anchor="t"/>
          <a:lstStyle/>
          <a:p>
            <a:pPr indent="0" marL="0">
              <a:lnSpc>
                <a:spcPct val="112000"/>
              </a:lnSpc>
              <a:buNone/>
            </a:pPr>
            <a:r>
              <a:rPr lang="en-US" sz="1150" i="1" dirty="0">
                <a:solidFill>
                  <a:srgbClr val="1F2430"/>
                </a:solidFill>
                <a:latin typeface="Georgia" pitchFamily="34" charset="0"/>
                <a:ea typeface="Georgia" pitchFamily="34" charset="-122"/>
                <a:cs typeface="Georgia" pitchFamily="34" charset="-120"/>
              </a:rPr>
              <a:t>"This, then, is held to be the duty of the man of Wealth: First, to set an example of modest, unostentatious living, shunning display or extravagance; to provide moderately for the legitimate wants of those dependent upon him; and after doing so to consider all surplus revenues which come to him simply as trust funds... the man of wealth thus becoming the mere agent and trustee for his poorer brethren."</a:t>
            </a:r>
            <a:endParaRPr lang="en-US" sz="1150" dirty="0"/>
          </a:p>
        </p:txBody>
      </p:sp>
      <p:sp>
        <p:nvSpPr>
          <p:cNvPr id="16" name="Shape 13"/>
          <p:cNvSpPr/>
          <p:nvPr/>
        </p:nvSpPr>
        <p:spPr>
          <a:xfrm>
            <a:off x="7589520" y="1737360"/>
            <a:ext cx="4023360" cy="1508760"/>
          </a:xfrm>
          <a:prstGeom prst="roundRect">
            <a:avLst>
              <a:gd name="adj" fmla="val 4848"/>
            </a:avLst>
          </a:prstGeom>
          <a:solidFill>
            <a:srgbClr val="1F3A5F"/>
          </a:solidFill>
          <a:ln/>
        </p:spPr>
        <p:txBody>
          <a:bodyPr/>
          <a:p/>
        </p:txBody>
      </p:sp>
      <p:sp>
        <p:nvSpPr>
          <p:cNvPr id="17" name="Text 14"/>
          <p:cNvSpPr/>
          <p:nvPr/>
        </p:nvSpPr>
        <p:spPr>
          <a:xfrm>
            <a:off x="7818120" y="1856232"/>
            <a:ext cx="3657600" cy="274320"/>
          </a:xfrm>
          <a:prstGeom prst="rect">
            <a:avLst/>
          </a:prstGeom>
          <a:noFill/>
          <a:ln/>
        </p:spPr>
        <p:txBody>
          <a:bodyPr wrap="square" rtlCol="0" anchor="ctr"/>
          <a:lstStyle/>
          <a:p>
            <a:pPr indent="0" marL="0">
              <a:buNone/>
            </a:pPr>
            <a:r>
              <a:rPr lang="en-US" sz="1100" b="1" spc="200" kern="0" dirty="0">
                <a:solidFill>
                  <a:srgbClr val="F9A825"/>
                </a:solidFill>
                <a:latin typeface="Trebuchet MS" pitchFamily="34" charset="0"/>
                <a:ea typeface="Trebuchet MS" pitchFamily="34" charset="-122"/>
                <a:cs typeface="Trebuchet MS" pitchFamily="34" charset="-120"/>
              </a:rPr>
              <a:t>CONTEXT</a:t>
            </a:r>
            <a:endParaRPr lang="en-US" sz="1100" dirty="0"/>
          </a:p>
        </p:txBody>
      </p:sp>
      <p:sp>
        <p:nvSpPr>
          <p:cNvPr id="18" name="Text 15"/>
          <p:cNvSpPr/>
          <p:nvPr/>
        </p:nvSpPr>
        <p:spPr>
          <a:xfrm>
            <a:off x="7818120" y="2139696"/>
            <a:ext cx="3611880" cy="996696"/>
          </a:xfrm>
          <a:prstGeom prst="rect">
            <a:avLst/>
          </a:prstGeom>
          <a:noFill/>
          <a:ln/>
        </p:spPr>
        <p:txBody>
          <a:bodyPr wrap="square" rtlCol="0" anchor="t"/>
          <a:lstStyle/>
          <a:p>
            <a:pPr indent="0" marL="0">
              <a:lnSpc>
                <a:spcPct val="98000"/>
              </a:lnSpc>
              <a:buNone/>
            </a:pPr>
            <a:r>
              <a:rPr lang="en-US" sz="900" dirty="0">
                <a:solidFill>
                  <a:srgbClr val="FFFFFF"/>
                </a:solidFill>
                <a:latin typeface="Calibri" pitchFamily="34" charset="0"/>
                <a:ea typeface="Calibri" pitchFamily="34" charset="-122"/>
                <a:cs typeface="Calibri" pitchFamily="34" charset="-120"/>
              </a:rPr>
              <a:t>Andrew Carnegie was the most famous example of a 'rags to riches' story in Gilded Age America. An immigrant from Scotland who started as a factory bobbin boy, Carnegie built the largest steel company in the world through relentless efficiency, brutal labor practices, and shrewd business dealings. By the late 1880s, he was worth hundreds of millions of dollars. In 'The Gospel of Wealth' (1889), Carnegie argued that wealthy men had a duty to use their fortunes to benefit society — a philosophy that justified both extreme wealth concentration and a paternalistic approach to charity. Carnegie himself donated over $350 million to libraries, universities, and public institutions before his death.</a:t>
            </a:r>
            <a:endParaRPr lang="en-US" sz="850" dirty="0"/>
          </a:p>
        </p:txBody>
      </p:sp>
      <p:sp>
        <p:nvSpPr>
          <p:cNvPr id="19" name="Shape 16"/>
          <p:cNvSpPr/>
          <p:nvPr/>
        </p:nvSpPr>
        <p:spPr>
          <a:xfrm>
            <a:off x="7589520" y="3429000"/>
            <a:ext cx="4023360" cy="1554480"/>
          </a:xfrm>
          <a:prstGeom prst="roundRect">
            <a:avLst>
              <a:gd name="adj" fmla="val 4706"/>
            </a:avLst>
          </a:prstGeom>
          <a:solidFill>
            <a:srgbClr val="C9A227"/>
          </a:solidFill>
          <a:ln/>
        </p:spPr>
        <p:txBody>
          <a:bodyPr/>
          <a:p/>
        </p:txBody>
      </p:sp>
      <p:sp>
        <p:nvSpPr>
          <p:cNvPr id="20" name="Text 17"/>
          <p:cNvSpPr/>
          <p:nvPr/>
        </p:nvSpPr>
        <p:spPr>
          <a:xfrm>
            <a:off x="7818120" y="3547872"/>
            <a:ext cx="3657600" cy="274320"/>
          </a:xfrm>
          <a:prstGeom prst="rect">
            <a:avLst/>
          </a:prstGeom>
          <a:noFill/>
          <a:ln/>
        </p:spPr>
        <p:txBody>
          <a:bodyPr wrap="square" rtlCol="0" anchor="ctr"/>
          <a:lstStyle/>
          <a:p>
            <a:pPr indent="0" marL="0">
              <a:buNone/>
            </a:pPr>
            <a:r>
              <a:rPr lang="en-US" sz="1100" b="1" spc="200" kern="0" dirty="0">
                <a:solidFill>
                  <a:srgbClr val="1F3A5F"/>
                </a:solidFill>
                <a:latin typeface="Trebuchet MS" pitchFamily="34" charset="0"/>
                <a:ea typeface="Trebuchet MS" pitchFamily="34" charset="-122"/>
                <a:cs typeface="Trebuchet MS" pitchFamily="34" charset="-120"/>
              </a:rPr>
              <a:t>ANALYZE</a:t>
            </a:r>
            <a:endParaRPr lang="en-US" sz="1100" dirty="0"/>
          </a:p>
        </p:txBody>
      </p:sp>
      <p:sp>
        <p:nvSpPr>
          <p:cNvPr id="21" name="Text 18"/>
          <p:cNvSpPr/>
          <p:nvPr/>
        </p:nvSpPr>
        <p:spPr>
          <a:xfrm>
            <a:off x="7818120" y="3849624"/>
            <a:ext cx="3611880" cy="1024128"/>
          </a:xfrm>
          <a:prstGeom prst="rect">
            <a:avLst/>
          </a:prstGeom>
          <a:noFill/>
          <a:ln/>
        </p:spPr>
        <p:txBody>
          <a:bodyPr wrap="square" rtlCol="0" anchor="t"/>
          <a:lstStyle/>
          <a:p>
            <a:pPr indent="0" marL="0">
              <a:lnSpc>
                <a:spcPct val="103000"/>
              </a:lnSpc>
              <a:buNone/>
            </a:pPr>
            <a:r>
              <a:rPr lang="en-US" sz="1100" b="1" dirty="0">
                <a:solidFill>
                  <a:srgbClr val="1F3A5F"/>
                </a:solidFill>
                <a:latin typeface="Calibri" pitchFamily="34" charset="0"/>
                <a:ea typeface="Calibri" pitchFamily="34" charset="-122"/>
                <a:cs typeface="Calibri" pitchFamily="34" charset="-120"/>
              </a:rPr>
              <a:t>A wealthy 1890s steel magnate funds free public libraries across the country instead of leaving his entire fortune to his heirs. Whose philosophy does this best reflect, and why?</a:t>
            </a:r>
            <a:endParaRPr lang="en-US" sz="1100" dirty="0"/>
          </a:p>
        </p:txBody>
      </p:sp>
      <p:sp>
        <p:nvSpPr>
          <p:cNvPr id="22" name="Shape 19"/>
          <p:cNvSpPr/>
          <p:nvPr/>
        </p:nvSpPr>
        <p:spPr>
          <a:xfrm>
            <a:off x="548640" y="5120640"/>
            <a:ext cx="11064240" cy="841248"/>
          </a:xfrm>
          <a:prstGeom prst="rect">
            <a:avLst/>
          </a:prstGeom>
          <a:solidFill>
            <a:srgbClr val="FFFFFF"/>
          </a:solidFill>
          <a:ln w="15875">
            <a:solidFill>
              <a:srgbClr val="002858"/>
            </a:solidFill>
            <a:prstDash val="solid"/>
          </a:ln>
        </p:spPr>
        <p:txBody>
          <a:bodyPr/>
          <a:p/>
        </p:txBody>
      </p:sp>
      <p:sp>
        <p:nvSpPr>
          <p:cNvPr id="23" name="Shape 20"/>
          <p:cNvSpPr/>
          <p:nvPr/>
        </p:nvSpPr>
        <p:spPr>
          <a:xfrm>
            <a:off x="548640" y="5120640"/>
            <a:ext cx="2423160" cy="841248"/>
          </a:xfrm>
          <a:prstGeom prst="rect">
            <a:avLst/>
          </a:prstGeom>
          <a:solidFill>
            <a:srgbClr val="002858"/>
          </a:solidFill>
          <a:ln/>
        </p:spPr>
        <p:txBody>
          <a:bodyPr/>
          <a:p/>
        </p:txBody>
      </p:sp>
      <p:sp>
        <p:nvSpPr>
          <p:cNvPr id="24" name="Text 21"/>
          <p:cNvSpPr/>
          <p:nvPr/>
        </p:nvSpPr>
        <p:spPr>
          <a:xfrm>
            <a:off x="658368" y="5239512"/>
            <a:ext cx="2194560" cy="274320"/>
          </a:xfrm>
          <a:prstGeom prst="rect">
            <a:avLst/>
          </a:prstGeom>
          <a:noFill/>
          <a:ln/>
        </p:spPr>
        <p:txBody>
          <a:bodyPr wrap="square" rtlCol="0" anchor="ctr"/>
          <a:lstStyle/>
          <a:p>
            <a:pPr indent="0" marL="0">
              <a:buNone/>
            </a:pPr>
            <a:r>
              <a:rPr lang="en-US" sz="1250" b="1" spc="100" kern="0" dirty="0">
                <a:solidFill>
                  <a:srgbClr val="FFFFFF"/>
                </a:solidFill>
                <a:latin typeface="Trebuchet MS" pitchFamily="34" charset="0"/>
                <a:ea typeface="Trebuchet MS" pitchFamily="34" charset="-122"/>
                <a:cs typeface="Trebuchet MS" pitchFamily="34" charset="-120"/>
              </a:rPr>
              <a:t>SOURCE IT</a:t>
            </a:r>
            <a:endParaRPr lang="en-US" sz="1250" dirty="0"/>
          </a:p>
        </p:txBody>
      </p:sp>
      <p:sp>
        <p:nvSpPr>
          <p:cNvPr id="25" name="Text 22"/>
          <p:cNvSpPr/>
          <p:nvPr/>
        </p:nvSpPr>
        <p:spPr>
          <a:xfrm>
            <a:off x="658368" y="5486400"/>
            <a:ext cx="2194560" cy="274320"/>
          </a:xfrm>
          <a:prstGeom prst="rect">
            <a:avLst/>
          </a:prstGeom>
          <a:noFill/>
          <a:ln/>
        </p:spPr>
        <p:txBody>
          <a:bodyPr wrap="square" rtlCol="0" anchor="ctr"/>
          <a:lstStyle/>
          <a:p>
            <a:pPr indent="0" marL="0">
              <a:buNone/>
            </a:pPr>
            <a:r>
              <a:rPr lang="en-US" sz="1250" b="1" spc="100" kern="0" dirty="0">
                <a:solidFill>
                  <a:srgbClr val="F9A825"/>
                </a:solidFill>
                <a:latin typeface="Trebuchet MS" pitchFamily="34" charset="0"/>
                <a:ea typeface="Trebuchet MS" pitchFamily="34" charset="-122"/>
                <a:cs typeface="Trebuchet MS" pitchFamily="34" charset="-120"/>
              </a:rPr>
              <a:t>FIRST</a:t>
            </a:r>
            <a:endParaRPr lang="en-US" sz="1250" dirty="0"/>
          </a:p>
        </p:txBody>
      </p:sp>
      <p:sp>
        <p:nvSpPr>
          <p:cNvPr id="26" name="Text 23"/>
          <p:cNvSpPr/>
          <p:nvPr/>
        </p:nvSpPr>
        <p:spPr>
          <a:xfrm>
            <a:off x="658368" y="5724144"/>
            <a:ext cx="2240280" cy="201168"/>
          </a:xfrm>
          <a:prstGeom prst="rect">
            <a:avLst/>
          </a:prstGeom>
          <a:noFill/>
          <a:ln/>
        </p:spPr>
        <p:txBody>
          <a:bodyPr wrap="square" rtlCol="0" anchor="ctr"/>
          <a:lstStyle/>
          <a:p>
            <a:pPr indent="0" marL="0">
              <a:buNone/>
            </a:pPr>
            <a:r>
              <a:rPr lang="en-US" sz="900" i="1" dirty="0">
                <a:solidFill>
                  <a:srgbClr val="C7D4E0"/>
                </a:solidFill>
                <a:latin typeface="Calibri" pitchFamily="34" charset="0"/>
                <a:ea typeface="Calibri" pitchFamily="34" charset="-122"/>
                <a:cs typeface="Calibri" pitchFamily="34" charset="-120"/>
              </a:rPr>
              <a:t>SSP.02 · before you interpret</a:t>
            </a:r>
            <a:endParaRPr lang="en-US" sz="750" dirty="0"/>
          </a:p>
        </p:txBody>
      </p:sp>
      <p:sp>
        <p:nvSpPr>
          <p:cNvPr id="27" name="Text 24"/>
          <p:cNvSpPr/>
          <p:nvPr/>
        </p:nvSpPr>
        <p:spPr>
          <a:xfrm>
            <a:off x="315468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WHO made it?</a:t>
            </a:r>
            <a:endParaRPr lang="en-US" sz="900" dirty="0"/>
          </a:p>
        </p:txBody>
      </p:sp>
      <p:sp>
        <p:nvSpPr>
          <p:cNvPr id="28" name="Text 25"/>
          <p:cNvSpPr/>
          <p:nvPr/>
        </p:nvSpPr>
        <p:spPr>
          <a:xfrm>
            <a:off x="3154680" y="5431536"/>
            <a:ext cx="2743200" cy="457200"/>
          </a:xfrm>
          <a:prstGeom prst="rect">
            <a:avLst/>
          </a:prstGeom>
          <a:noFill/>
          <a:ln/>
        </p:spPr>
        <p:txBody>
          <a:bodyPr wrap="square" rtlCol="0" anchor="t"/>
          <a:lstStyle/>
          <a:p>
            <a:pPr indent="0" marL="0">
              <a:lnSpc>
                <a:spcPct val="98000"/>
              </a:lnSpc>
              <a:buNone/>
            </a:pPr>
            <a:r>
              <a:rPr lang="en-US" sz="950" dirty="0">
                <a:solidFill>
                  <a:srgbClr val="1F2430"/>
                </a:solidFill>
                <a:latin typeface="Calibri" pitchFamily="34" charset="0"/>
                <a:ea typeface="Calibri" pitchFamily="34" charset="-122"/>
                <a:cs typeface="Calibri" pitchFamily="34" charset="-120"/>
              </a:rPr>
              <a:t>Andrew Carnegie — steel magnate and one of the wealthiest men in America.</a:t>
            </a:r>
            <a:endParaRPr lang="en-US" sz="950" dirty="0"/>
          </a:p>
        </p:txBody>
      </p:sp>
      <p:sp>
        <p:nvSpPr>
          <p:cNvPr id="29" name="Text 26"/>
          <p:cNvSpPr/>
          <p:nvPr/>
        </p:nvSpPr>
        <p:spPr>
          <a:xfrm>
            <a:off x="594360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WHEN?</a:t>
            </a:r>
            <a:endParaRPr lang="en-US" sz="900" dirty="0"/>
          </a:p>
        </p:txBody>
      </p:sp>
      <p:sp>
        <p:nvSpPr>
          <p:cNvPr id="30" name="Text 27"/>
          <p:cNvSpPr/>
          <p:nvPr/>
        </p:nvSpPr>
        <p:spPr>
          <a:xfrm>
            <a:off x="5943600" y="5431536"/>
            <a:ext cx="2743200" cy="457200"/>
          </a:xfrm>
          <a:prstGeom prst="rect">
            <a:avLst/>
          </a:prstGeom>
          <a:noFill/>
          <a:ln/>
        </p:spPr>
        <p:txBody>
          <a:bodyPr wrap="square" rtlCol="0" anchor="t"/>
          <a:lstStyle/>
          <a:p>
            <a:pPr indent="0" marL="0">
              <a:lnSpc>
                <a:spcPct val="98000"/>
              </a:lnSpc>
              <a:buNone/>
            </a:pPr>
            <a:r>
              <a:rPr lang="en-US" sz="950" dirty="0">
                <a:solidFill>
                  <a:srgbClr val="1F2430"/>
                </a:solidFill>
                <a:latin typeface="Calibri" pitchFamily="34" charset="0"/>
                <a:ea typeface="Calibri" pitchFamily="34" charset="-122"/>
                <a:cs typeface="Calibri" pitchFamily="34" charset="-120"/>
              </a:rPr>
              <a:t>1889 (Gilded Age).</a:t>
            </a:r>
            <a:endParaRPr lang="en-US" sz="950" dirty="0"/>
          </a:p>
        </p:txBody>
      </p:sp>
      <p:sp>
        <p:nvSpPr>
          <p:cNvPr id="31" name="Text 28"/>
          <p:cNvSpPr/>
          <p:nvPr/>
        </p:nvSpPr>
        <p:spPr>
          <a:xfrm>
            <a:off x="873252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WHY does it matter?</a:t>
            </a:r>
            <a:endParaRPr lang="en-US" sz="900" dirty="0"/>
          </a:p>
        </p:txBody>
      </p:sp>
      <p:sp>
        <p:nvSpPr>
          <p:cNvPr id="32" name="Text 29"/>
          <p:cNvSpPr/>
          <p:nvPr/>
        </p:nvSpPr>
        <p:spPr>
          <a:xfrm>
            <a:off x="8732520" y="5431536"/>
            <a:ext cx="2743200" cy="457200"/>
          </a:xfrm>
          <a:prstGeom prst="rect">
            <a:avLst/>
          </a:prstGeom>
          <a:noFill/>
          <a:ln/>
        </p:spPr>
        <p:txBody>
          <a:bodyPr wrap="square" rtlCol="0" anchor="t"/>
          <a:lstStyle/>
          <a:p>
            <a:pPr indent="0" marL="0">
              <a:lnSpc>
                <a:spcPct val="98000"/>
              </a:lnSpc>
              <a:buNone/>
            </a:pPr>
            <a:r>
              <a:rPr lang="en-US" sz="950" dirty="0">
                <a:solidFill>
                  <a:srgbClr val="1F2430"/>
                </a:solidFill>
                <a:latin typeface="Calibri" pitchFamily="34" charset="0"/>
                <a:ea typeface="Calibri" pitchFamily="34" charset="-122"/>
                <a:cs typeface="Calibri" pitchFamily="34" charset="-120"/>
              </a:rPr>
              <a:t>A titan of industry is defining his own duty to society — read it as self-justification and as a genuine argument about wealth.</a:t>
            </a:r>
            <a:endParaRPr lang="en-US" sz="950" dirty="0"/>
          </a:p>
        </p:txBody>
      </p:sp>
      <p:sp>
        <p:nvSpPr>
          <p:cNvPr id="33" name="Text 30"/>
          <p:cNvSpPr/>
          <p:nvPr/>
        </p:nvSpPr>
        <p:spPr>
          <a:xfrm>
            <a:off x="548640" y="6053328"/>
            <a:ext cx="6858000" cy="274320"/>
          </a:xfrm>
          <a:prstGeom prst="rect">
            <a:avLst/>
          </a:prstGeom>
          <a:noFill/>
          <a:ln/>
        </p:spPr>
        <p:txBody>
          <a:bodyPr wrap="square" rtlCol="0" anchor="ctr"/>
          <a:lstStyle/>
          <a:p>
            <a:pPr algn="l" indent="0" marL="0">
              <a:buNone/>
            </a:pPr>
            <a:r>
              <a:rPr lang="en-US" sz="900" dirty="0">
                <a:solidFill>
                  <a:srgbClr val="5C6470"/>
                </a:solidFill>
                <a:latin typeface="Calibri" pitchFamily="34" charset="0"/>
                <a:ea typeface="Calibri" pitchFamily="34" charset="-122"/>
                <a:cs typeface="Calibri" pitchFamily="34" charset="-120"/>
              </a:rPr>
              <a:t>Source: </a:t>
            </a:r>
            <a:pPr algn="l" indent="0" marL="0">
              <a:buNone/>
            </a:pPr>
            <a:r>
              <a:rPr lang="en-US" sz="900" i="1" u="sng" dirty="0">
                <a:solidFill>
                  <a:srgbClr val="002858"/>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Carnegie Corporation of New York</a:t>
            </a:r>
            <a:endParaRPr lang="en-US" sz="900" dirty="0"/>
          </a:p>
        </p:txBody>
      </p:sp>
      <p:sp>
        <p:nvSpPr>
          <p:cNvPr id="35" name="Text 31"/>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6" name="Text 3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72</a:t>
            </a:r>
            <a:endParaRPr lang="en-US" sz="9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2">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F3A5F"/>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B22234"/>
                </a:solidFill>
                <a:latin typeface="Trebuchet MS" pitchFamily="34" charset="0"/>
                <a:ea typeface="Trebuchet MS" pitchFamily="34" charset="-122"/>
                <a:cs typeface="Trebuchet MS" pitchFamily="34" charset="-120"/>
              </a:rPr>
              <a:t>US.05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F3A5F"/>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txBody>
          <a:bodyPr/>
          <a:p/>
        </p:txBody>
      </p:sp>
      <p:sp>
        <p:nvSpPr>
          <p:cNvPr id="6" name="Shape 4"/>
          <p:cNvSpPr/>
          <p:nvPr/>
        </p:nvSpPr>
        <p:spPr>
          <a:xfrm>
            <a:off x="548640" y="1645920"/>
            <a:ext cx="5486400" cy="676656"/>
          </a:xfrm>
          <a:prstGeom prst="rect">
            <a:avLst/>
          </a:prstGeom>
          <a:solidFill>
            <a:srgbClr val="1F3A5F"/>
          </a:solidFill>
          <a:ln/>
        </p:spPr>
        <p:txBody>
          <a:bodyPr/>
          <a:p/>
        </p:txBody>
      </p:sp>
      <p:sp>
        <p:nvSpPr>
          <p:cNvPr id="7" name="Text 5"/>
          <p:cNvSpPr/>
          <p:nvPr/>
        </p:nvSpPr>
        <p:spPr>
          <a:xfrm>
            <a:off x="685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Robber Barons/Captains of Industry</a:t>
            </a:r>
            <a:endParaRPr lang="en-US" sz="1350" dirty="0"/>
          </a:p>
        </p:txBody>
      </p:sp>
      <p:sp>
        <p:nvSpPr>
          <p:cNvPr id="8" name="Text 6"/>
          <p:cNvSpPr/>
          <p:nvPr/>
        </p:nvSpPr>
        <p:spPr>
          <a:xfrm>
            <a:off x="3703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Barones Ladrones/Capitanes de Industria</a:t>
            </a:r>
            <a:endParaRPr lang="en-US" sz="1000" dirty="0"/>
          </a:p>
        </p:txBody>
      </p:sp>
      <p:sp>
        <p:nvSpPr>
          <p:cNvPr id="11" name="Text 9"/>
          <p:cNvSpPr/>
          <p:nvPr/>
        </p:nvSpPr>
        <p:spPr>
          <a:xfrm>
            <a:off x="667512" y="2395728"/>
            <a:ext cx="5239512"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Wealthy industrialists of the late 1800s who built massive business empires. Critics called them "robber barons" for ruthless practices; supporters called them "captains of industry" for economic growth.</a:t>
            </a:r>
            <a:endParaRPr lang="en-US" sz="1100" dirty="0"/>
          </a:p>
        </p:txBody>
      </p:sp>
      <p:sp>
        <p:nvSpPr>
          <p:cNvPr id="12" name="Shape 10"/>
          <p:cNvSpPr/>
          <p:nvPr/>
        </p:nvSpPr>
        <p:spPr>
          <a:xfrm>
            <a:off x="6263640" y="1645920"/>
            <a:ext cx="5486400" cy="1261872"/>
          </a:xfrm>
          <a:prstGeom prst="rect">
            <a:avLst/>
          </a:prstGeom>
          <a:solidFill>
            <a:srgbClr val="FFFFFF"/>
          </a:solidFill>
          <a:ln w="12700">
            <a:solidFill>
              <a:srgbClr val="DAD3C2"/>
            </a:solidFill>
            <a:prstDash val="solid"/>
          </a:ln>
        </p:spPr>
        <p:txBody>
          <a:bodyPr/>
          <a:p/>
        </p:txBody>
      </p:sp>
      <p:sp>
        <p:nvSpPr>
          <p:cNvPr id="13" name="Shape 11"/>
          <p:cNvSpPr/>
          <p:nvPr/>
        </p:nvSpPr>
        <p:spPr>
          <a:xfrm>
            <a:off x="6263640" y="1645920"/>
            <a:ext cx="5486400" cy="676656"/>
          </a:xfrm>
          <a:prstGeom prst="rect">
            <a:avLst/>
          </a:prstGeom>
          <a:solidFill>
            <a:srgbClr val="1F3A5F"/>
          </a:solidFill>
          <a:ln/>
        </p:spPr>
        <p:txBody>
          <a:bodyPr/>
          <a:p/>
        </p:txBody>
      </p:sp>
      <p:sp>
        <p:nvSpPr>
          <p:cNvPr id="14" name="Text 12"/>
          <p:cNvSpPr/>
          <p:nvPr/>
        </p:nvSpPr>
        <p:spPr>
          <a:xfrm>
            <a:off x="6400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Vertical Integration</a:t>
            </a:r>
            <a:endParaRPr lang="en-US" sz="1350" dirty="0"/>
          </a:p>
        </p:txBody>
      </p:sp>
      <p:sp>
        <p:nvSpPr>
          <p:cNvPr id="15" name="Text 13"/>
          <p:cNvSpPr/>
          <p:nvPr/>
        </p:nvSpPr>
        <p:spPr>
          <a:xfrm>
            <a:off x="6400800" y="2011680"/>
            <a:ext cx="2880360" cy="256032"/>
          </a:xfrm>
          <a:prstGeom prst="rect">
            <a:avLst/>
          </a:prstGeom>
          <a:noFill/>
          <a:ln/>
        </p:spPr>
        <p:txBody>
          <a:bodyPr wrap="square" rtlCol="0" anchor="ctr">
            <a:normAutofit/>
          </a:bodyPr>
          <a:lstStyle/>
          <a:p>
            <a:pPr indent="0" marL="0">
              <a:buNone/>
            </a:pPr>
            <a:r>
              <a:rPr lang="en-US" sz="90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VUR-tih-kul in-teh-GRAY-shun</a:t>
            </a:r>
            <a:endParaRPr lang="en-US" sz="850" dirty="0"/>
          </a:p>
        </p:txBody>
      </p:sp>
      <p:sp>
        <p:nvSpPr>
          <p:cNvPr id="16" name="Text 14"/>
          <p:cNvSpPr/>
          <p:nvPr/>
        </p:nvSpPr>
        <p:spPr>
          <a:xfrm>
            <a:off x="9418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Integración Vertical</a:t>
            </a:r>
            <a:endParaRPr lang="en-US" sz="1000" dirty="0"/>
          </a:p>
        </p:txBody>
      </p:sp>
      <p:sp>
        <p:nvSpPr>
          <p:cNvPr id="19" name="Text 17"/>
          <p:cNvSpPr/>
          <p:nvPr/>
        </p:nvSpPr>
        <p:spPr>
          <a:xfrm>
            <a:off x="6382512" y="2395728"/>
            <a:ext cx="5239512"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business strategy where a company controls all stages of production, from raw materials to finished product, as practiced by Andrew Carnegie in the steel industry.</a:t>
            </a:r>
            <a:endParaRPr lang="en-US" sz="1100" dirty="0"/>
          </a:p>
        </p:txBody>
      </p:sp>
      <p:sp>
        <p:nvSpPr>
          <p:cNvPr id="20" name="Shape 18"/>
          <p:cNvSpPr/>
          <p:nvPr/>
        </p:nvSpPr>
        <p:spPr>
          <a:xfrm>
            <a:off x="548640" y="3072384"/>
            <a:ext cx="5486400" cy="1261872"/>
          </a:xfrm>
          <a:prstGeom prst="rect">
            <a:avLst/>
          </a:prstGeom>
          <a:solidFill>
            <a:srgbClr val="FFFFFF"/>
          </a:solidFill>
          <a:ln w="12700">
            <a:solidFill>
              <a:srgbClr val="DAD3C2"/>
            </a:solidFill>
            <a:prstDash val="solid"/>
          </a:ln>
        </p:spPr>
        <p:txBody>
          <a:bodyPr/>
          <a:p/>
        </p:txBody>
      </p:sp>
      <p:sp>
        <p:nvSpPr>
          <p:cNvPr id="21" name="Shape 19"/>
          <p:cNvSpPr/>
          <p:nvPr/>
        </p:nvSpPr>
        <p:spPr>
          <a:xfrm>
            <a:off x="548640" y="3072384"/>
            <a:ext cx="5486400" cy="676656"/>
          </a:xfrm>
          <a:prstGeom prst="rect">
            <a:avLst/>
          </a:prstGeom>
          <a:solidFill>
            <a:srgbClr val="1F3A5F"/>
          </a:solidFill>
          <a:ln/>
        </p:spPr>
        <p:txBody>
          <a:bodyPr/>
          <a:p/>
        </p:txBody>
      </p:sp>
      <p:sp>
        <p:nvSpPr>
          <p:cNvPr id="22" name="Text 20"/>
          <p:cNvSpPr/>
          <p:nvPr/>
        </p:nvSpPr>
        <p:spPr>
          <a:xfrm>
            <a:off x="685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Horizontal Integration</a:t>
            </a:r>
            <a:endParaRPr lang="en-US" sz="1350" dirty="0"/>
          </a:p>
        </p:txBody>
      </p:sp>
      <p:sp>
        <p:nvSpPr>
          <p:cNvPr id="23" name="Text 21"/>
          <p:cNvSpPr/>
          <p:nvPr/>
        </p:nvSpPr>
        <p:spPr>
          <a:xfrm>
            <a:off x="3703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Integración Horizontal</a:t>
            </a:r>
            <a:endParaRPr lang="en-US" sz="1000" dirty="0"/>
          </a:p>
        </p:txBody>
      </p:sp>
      <p:sp>
        <p:nvSpPr>
          <p:cNvPr id="26" name="Text 24"/>
          <p:cNvSpPr/>
          <p:nvPr/>
        </p:nvSpPr>
        <p:spPr>
          <a:xfrm>
            <a:off x="667512" y="3822192"/>
            <a:ext cx="5239512"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business strategy where a company buys out competitors in the same industry to reduce competition and control prices, as practiced by John D. Rockefeller in oil.</a:t>
            </a:r>
            <a:endParaRPr lang="en-US" sz="1100" dirty="0"/>
          </a:p>
        </p:txBody>
      </p:sp>
      <p:sp>
        <p:nvSpPr>
          <p:cNvPr id="27" name="Shape 25"/>
          <p:cNvSpPr/>
          <p:nvPr/>
        </p:nvSpPr>
        <p:spPr>
          <a:xfrm>
            <a:off x="6263640" y="3072384"/>
            <a:ext cx="5486400" cy="1261872"/>
          </a:xfrm>
          <a:prstGeom prst="rect">
            <a:avLst/>
          </a:prstGeom>
          <a:solidFill>
            <a:srgbClr val="FFFFFF"/>
          </a:solidFill>
          <a:ln w="12700">
            <a:solidFill>
              <a:srgbClr val="DAD3C2"/>
            </a:solidFill>
            <a:prstDash val="solid"/>
          </a:ln>
        </p:spPr>
        <p:txBody>
          <a:bodyPr/>
          <a:p/>
        </p:txBody>
      </p:sp>
      <p:sp>
        <p:nvSpPr>
          <p:cNvPr id="28" name="Shape 26"/>
          <p:cNvSpPr/>
          <p:nvPr/>
        </p:nvSpPr>
        <p:spPr>
          <a:xfrm>
            <a:off x="6263640" y="3072384"/>
            <a:ext cx="5486400" cy="676656"/>
          </a:xfrm>
          <a:prstGeom prst="rect">
            <a:avLst/>
          </a:prstGeom>
          <a:solidFill>
            <a:srgbClr val="1F3A5F"/>
          </a:solidFill>
          <a:ln/>
        </p:spPr>
        <p:txBody>
          <a:bodyPr/>
          <a:p/>
        </p:txBody>
      </p:sp>
      <p:sp>
        <p:nvSpPr>
          <p:cNvPr id="29" name="Text 27"/>
          <p:cNvSpPr/>
          <p:nvPr/>
        </p:nvSpPr>
        <p:spPr>
          <a:xfrm>
            <a:off x="6400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Monopoly</a:t>
            </a:r>
            <a:endParaRPr lang="en-US" sz="1350" dirty="0"/>
          </a:p>
        </p:txBody>
      </p:sp>
      <p:sp>
        <p:nvSpPr>
          <p:cNvPr id="30" name="Text 28"/>
          <p:cNvSpPr/>
          <p:nvPr/>
        </p:nvSpPr>
        <p:spPr>
          <a:xfrm>
            <a:off x="6400800" y="3438144"/>
            <a:ext cx="2880360" cy="256032"/>
          </a:xfrm>
          <a:prstGeom prst="rect">
            <a:avLst/>
          </a:prstGeom>
          <a:noFill/>
          <a:ln/>
        </p:spPr>
        <p:txBody>
          <a:bodyPr wrap="square" rtlCol="0" anchor="ctr">
            <a:normAutofit/>
          </a:bodyPr>
          <a:lstStyle/>
          <a:p>
            <a:pPr indent="0" marL="0">
              <a:buNone/>
            </a:pPr>
            <a:r>
              <a:rPr lang="en-US" sz="90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muh-NOP-uh-lee</a:t>
            </a:r>
            <a:endParaRPr lang="en-US" sz="850" dirty="0"/>
          </a:p>
        </p:txBody>
      </p:sp>
      <p:sp>
        <p:nvSpPr>
          <p:cNvPr id="31" name="Text 29"/>
          <p:cNvSpPr/>
          <p:nvPr/>
        </p:nvSpPr>
        <p:spPr>
          <a:xfrm>
            <a:off x="9418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Monopolio</a:t>
            </a:r>
            <a:endParaRPr lang="en-US" sz="1000" dirty="0"/>
          </a:p>
        </p:txBody>
      </p:sp>
      <p:sp>
        <p:nvSpPr>
          <p:cNvPr id="34" name="Text 32"/>
          <p:cNvSpPr/>
          <p:nvPr/>
        </p:nvSpPr>
        <p:spPr>
          <a:xfrm>
            <a:off x="6382512" y="3822192"/>
            <a:ext cx="5239512"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Complete control of a product or service by a single company, eliminating competition and allowing the company to set prices.</a:t>
            </a:r>
            <a:endParaRPr lang="en-US" sz="1100" dirty="0"/>
          </a:p>
        </p:txBody>
      </p:sp>
      <p:sp>
        <p:nvSpPr>
          <p:cNvPr id="35" name="Shape 33"/>
          <p:cNvSpPr/>
          <p:nvPr/>
        </p:nvSpPr>
        <p:spPr>
          <a:xfrm>
            <a:off x="548640" y="4498848"/>
            <a:ext cx="5486400" cy="1261872"/>
          </a:xfrm>
          <a:prstGeom prst="rect">
            <a:avLst/>
          </a:prstGeom>
          <a:solidFill>
            <a:srgbClr val="FFFFFF"/>
          </a:solidFill>
          <a:ln w="12700">
            <a:solidFill>
              <a:srgbClr val="DAD3C2"/>
            </a:solidFill>
            <a:prstDash val="solid"/>
          </a:ln>
        </p:spPr>
        <p:txBody>
          <a:bodyPr/>
          <a:p/>
        </p:txBody>
      </p:sp>
      <p:sp>
        <p:nvSpPr>
          <p:cNvPr id="36" name="Shape 34"/>
          <p:cNvSpPr/>
          <p:nvPr/>
        </p:nvSpPr>
        <p:spPr>
          <a:xfrm>
            <a:off x="548640" y="4498848"/>
            <a:ext cx="5486400" cy="676656"/>
          </a:xfrm>
          <a:prstGeom prst="rect">
            <a:avLst/>
          </a:prstGeom>
          <a:solidFill>
            <a:srgbClr val="1F3A5F"/>
          </a:solidFill>
          <a:ln/>
        </p:spPr>
        <p:txBody>
          <a:bodyPr/>
          <a:p/>
        </p:txBody>
      </p:sp>
      <p:sp>
        <p:nvSpPr>
          <p:cNvPr id="37" name="Text 35"/>
          <p:cNvSpPr/>
          <p:nvPr/>
        </p:nvSpPr>
        <p:spPr>
          <a:xfrm>
            <a:off x="685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Trust</a:t>
            </a:r>
            <a:endParaRPr lang="en-US" sz="1350" dirty="0"/>
          </a:p>
        </p:txBody>
      </p:sp>
      <p:sp>
        <p:nvSpPr>
          <p:cNvPr id="38" name="Text 36"/>
          <p:cNvSpPr/>
          <p:nvPr/>
        </p:nvSpPr>
        <p:spPr>
          <a:xfrm>
            <a:off x="3703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Trust (Fideicomiso)</a:t>
            </a:r>
            <a:endParaRPr lang="en-US" sz="1000" dirty="0"/>
          </a:p>
        </p:txBody>
      </p:sp>
      <p:sp>
        <p:nvSpPr>
          <p:cNvPr id="41" name="Text 39"/>
          <p:cNvSpPr/>
          <p:nvPr/>
        </p:nvSpPr>
        <p:spPr>
          <a:xfrm>
            <a:off x="667512" y="5248656"/>
            <a:ext cx="5239512"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legal arrangement where stockholders in several companies transferred their shares to a single board of trustees, creating a monopoly while appearing to remain separate companies.</a:t>
            </a:r>
            <a:endParaRPr lang="en-US" sz="1100" dirty="0"/>
          </a:p>
        </p:txBody>
      </p:sp>
      <p:sp>
        <p:nvSpPr>
          <p:cNvPr id="42" name="Shape 40"/>
          <p:cNvSpPr/>
          <p:nvPr/>
        </p:nvSpPr>
        <p:spPr>
          <a:xfrm>
            <a:off x="6263640" y="4498848"/>
            <a:ext cx="5486400" cy="1261872"/>
          </a:xfrm>
          <a:prstGeom prst="rect">
            <a:avLst/>
          </a:prstGeom>
          <a:solidFill>
            <a:srgbClr val="FFFFFF"/>
          </a:solidFill>
          <a:ln w="12700">
            <a:solidFill>
              <a:srgbClr val="DAD3C2"/>
            </a:solidFill>
            <a:prstDash val="solid"/>
          </a:ln>
        </p:spPr>
        <p:txBody>
          <a:bodyPr/>
          <a:p/>
        </p:txBody>
      </p:sp>
      <p:sp>
        <p:nvSpPr>
          <p:cNvPr id="43" name="Shape 41"/>
          <p:cNvSpPr/>
          <p:nvPr/>
        </p:nvSpPr>
        <p:spPr>
          <a:xfrm>
            <a:off x="6263640" y="4498848"/>
            <a:ext cx="5486400" cy="676656"/>
          </a:xfrm>
          <a:prstGeom prst="rect">
            <a:avLst/>
          </a:prstGeom>
          <a:solidFill>
            <a:srgbClr val="1F3A5F"/>
          </a:solidFill>
          <a:ln/>
        </p:spPr>
        <p:txBody>
          <a:bodyPr/>
          <a:p/>
        </p:txBody>
      </p:sp>
      <p:sp>
        <p:nvSpPr>
          <p:cNvPr id="44" name="Text 42"/>
          <p:cNvSpPr/>
          <p:nvPr/>
        </p:nvSpPr>
        <p:spPr>
          <a:xfrm>
            <a:off x="6400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Bessemer Process</a:t>
            </a:r>
            <a:endParaRPr lang="en-US" sz="1350" dirty="0"/>
          </a:p>
        </p:txBody>
      </p:sp>
      <p:sp>
        <p:nvSpPr>
          <p:cNvPr id="45" name="Text 43"/>
          <p:cNvSpPr/>
          <p:nvPr/>
        </p:nvSpPr>
        <p:spPr>
          <a:xfrm>
            <a:off x="9418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Proceso Bessemer</a:t>
            </a:r>
            <a:endParaRPr lang="en-US" sz="1000" dirty="0"/>
          </a:p>
        </p:txBody>
      </p:sp>
      <p:sp>
        <p:nvSpPr>
          <p:cNvPr id="48" name="Text 46"/>
          <p:cNvSpPr/>
          <p:nvPr/>
        </p:nvSpPr>
        <p:spPr>
          <a:xfrm>
            <a:off x="6382512" y="5248656"/>
            <a:ext cx="5239512"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An efficient method of making steel by blowing air through molten iron, developed by Henry Bessemer, that made mass production of steel possible and revolutionized construction and manufacturing.</a:t>
            </a:r>
            <a:endParaRPr lang="en-US" sz="1100" dirty="0"/>
          </a:p>
        </p:txBody>
      </p:sp>
      <p:sp>
        <p:nvSpPr>
          <p:cNvPr id="49" name="Text 47"/>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50" name="Text 48"/>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51" name="Text 4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73</a:t>
            </a:r>
            <a:endParaRPr lang="en-US" sz="9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3">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F3A5F"/>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B22234"/>
                </a:solidFill>
                <a:latin typeface="Trebuchet MS" pitchFamily="34" charset="0"/>
                <a:ea typeface="Trebuchet MS" pitchFamily="34" charset="-122"/>
                <a:cs typeface="Trebuchet MS" pitchFamily="34" charset="-120"/>
              </a:rPr>
              <a:t>US.05 · GUIDED PRACTICE — WE DO IT TOGETHER</a:t>
            </a:r>
            <a:endParaRPr lang="en-US" sz="1200" dirty="0"/>
          </a:p>
        </p:txBody>
      </p:sp>
      <p:sp>
        <p:nvSpPr>
          <p:cNvPr id="4" name="Text 2"/>
          <p:cNvSpPr/>
          <p:nvPr/>
        </p:nvSpPr>
        <p:spPr>
          <a:xfrm>
            <a:off x="548640" y="731520"/>
            <a:ext cx="8595360" cy="640080"/>
          </a:xfrm>
          <a:prstGeom prst="rect">
            <a:avLst/>
          </a:prstGeom>
          <a:noFill/>
          <a:ln/>
        </p:spPr>
        <p:txBody>
          <a:bodyPr wrap="square" rtlCol="0" anchor="t"/>
          <a:lstStyle/>
          <a:p>
            <a:pPr indent="0" marL="0">
              <a:buNone/>
            </a:pPr>
            <a:r>
              <a:rPr lang="en-US" sz="2900" b="1" dirty="0">
                <a:solidFill>
                  <a:srgbClr val="1F3A5F"/>
                </a:solidFill>
                <a:latin typeface="Georgia" pitchFamily="34" charset="0"/>
                <a:ea typeface="Georgia" pitchFamily="34" charset="-122"/>
                <a:cs typeface="Georgia" pitchFamily="34" charset="-120"/>
              </a:rPr>
              <a:t>Let’s Work One Together</a:t>
            </a:r>
            <a:endParaRPr lang="en-US" sz="2900" dirty="0"/>
          </a:p>
        </p:txBody>
      </p:sp>
      <p:sp>
        <p:nvSpPr>
          <p:cNvPr id="5" name="Shape 3"/>
          <p:cNvSpPr/>
          <p:nvPr/>
        </p:nvSpPr>
        <p:spPr>
          <a:xfrm>
            <a:off x="8869680" y="822960"/>
            <a:ext cx="2743200" cy="457200"/>
          </a:xfrm>
          <a:prstGeom prst="roundRect">
            <a:avLst>
              <a:gd name="adj" fmla="val 20000"/>
            </a:avLst>
          </a:prstGeom>
          <a:solidFill>
            <a:srgbClr val="1F3A5F"/>
          </a:solidFill>
          <a:ln/>
        </p:spPr>
        <p:txBody>
          <a:bodyPr/>
          <a:p/>
        </p:txBody>
      </p:sp>
      <p:sp>
        <p:nvSpPr>
          <p:cNvPr id="6" name="Text 4"/>
          <p:cNvSpPr/>
          <p:nvPr/>
        </p:nvSpPr>
        <p:spPr>
          <a:xfrm>
            <a:off x="8869680" y="822960"/>
            <a:ext cx="274320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Claim + evidence (argument)</a:t>
            </a:r>
            <a:endParaRPr lang="en-US" sz="1100" dirty="0"/>
          </a:p>
        </p:txBody>
      </p:sp>
      <p:sp>
        <p:nvSpPr>
          <p:cNvPr id="7" name="Shape 5"/>
          <p:cNvSpPr/>
          <p:nvPr/>
        </p:nvSpPr>
        <p:spPr>
          <a:xfrm>
            <a:off x="548640" y="1554480"/>
            <a:ext cx="11064240" cy="868680"/>
          </a:xfrm>
          <a:prstGeom prst="roundRect">
            <a:avLst>
              <a:gd name="adj" fmla="val 8421"/>
            </a:avLst>
          </a:prstGeom>
          <a:solidFill>
            <a:srgbClr val="243047"/>
          </a:solidFill>
          <a:ln w="6350">
            <a:solidFill>
              <a:srgbClr val="A7BACB"/>
            </a:solidFill>
            <a:prstDash val="solid"/>
          </a:ln>
        </p:spPr>
        <p:txBody>
          <a:bodyPr/>
          <a:p/>
        </p:txBody>
      </p:sp>
      <p:sp>
        <p:nvSpPr>
          <p:cNvPr id="8" name="Text 6"/>
          <p:cNvSpPr/>
          <p:nvPr/>
        </p:nvSpPr>
        <p:spPr>
          <a:xfrm>
            <a:off x="822960" y="1664208"/>
            <a:ext cx="10515600" cy="640080"/>
          </a:xfrm>
          <a:prstGeom prst="rect">
            <a:avLst/>
          </a:prstGeom>
          <a:noFill/>
          <a:ln/>
        </p:spPr>
        <p:txBody>
          <a:bodyPr wrap="square" rtlCol="0" anchor="ctr"/>
          <a:lstStyle/>
          <a:p>
            <a:pPr indent="0" marL="0">
              <a:lnSpc>
                <a:spcPct val="104000"/>
              </a:lnSpc>
              <a:buNone/>
            </a:pPr>
            <a:r>
              <a:rPr lang="en-US" sz="1500" b="1" dirty="0">
                <a:solidFill>
                  <a:srgbClr val="F9A825"/>
                </a:solidFill>
                <a:latin typeface="Calibri" pitchFamily="34" charset="0"/>
                <a:ea typeface="Calibri" pitchFamily="34" charset="-122"/>
                <a:cs typeface="Calibri" pitchFamily="34" charset="-120"/>
              </a:rPr>
              <a:t>MODEL PROMPT:  </a:t>
            </a:r>
            <a:pPr indent="0" marL="0">
              <a:lnSpc>
                <a:spcPct val="104000"/>
              </a:lnSpc>
              <a:buNone/>
            </a:pPr>
            <a:r>
              <a:rPr lang="en-US" sz="1500" dirty="0">
                <a:solidFill>
                  <a:srgbClr val="FFFFFF"/>
                </a:solidFill>
                <a:latin typeface="Calibri" pitchFamily="34" charset="0"/>
                <a:ea typeface="Calibri" pitchFamily="34" charset="-122"/>
                <a:cs typeface="Calibri" pitchFamily="34" charset="-120"/>
              </a:rPr>
              <a:t>Was Rockefeller a "robber baron" or a "captain of industry"? Stake a claim and cite evidence.</a:t>
            </a:r>
            <a:endParaRPr lang="en-US" sz="1500" dirty="0"/>
          </a:p>
        </p:txBody>
      </p:sp>
      <p:sp>
        <p:nvSpPr>
          <p:cNvPr id="9" name="Shape 7"/>
          <p:cNvSpPr/>
          <p:nvPr/>
        </p:nvSpPr>
        <p:spPr>
          <a:xfrm>
            <a:off x="548640" y="2606040"/>
            <a:ext cx="11064240" cy="1554480"/>
          </a:xfrm>
          <a:prstGeom prst="roundRect">
            <a:avLst>
              <a:gd name="adj" fmla="val 4706"/>
            </a:avLst>
          </a:prstGeom>
          <a:solidFill>
            <a:srgbClr val="C9A227"/>
          </a:solidFill>
          <a:ln/>
        </p:spPr>
        <p:txBody>
          <a:bodyPr/>
          <a:p/>
        </p:txBody>
      </p:sp>
      <p:sp>
        <p:nvSpPr>
          <p:cNvPr id="10" name="Text 8"/>
          <p:cNvSpPr/>
          <p:nvPr/>
        </p:nvSpPr>
        <p:spPr>
          <a:xfrm>
            <a:off x="822960" y="2724912"/>
            <a:ext cx="10058400" cy="292608"/>
          </a:xfrm>
          <a:prstGeom prst="rect">
            <a:avLst/>
          </a:prstGeom>
          <a:noFill/>
          <a:ln/>
        </p:spPr>
        <p:txBody>
          <a:bodyPr wrap="square" rtlCol="0" anchor="ctr"/>
          <a:lstStyle/>
          <a:p>
            <a:pPr indent="0" marL="0">
              <a:buNone/>
            </a:pPr>
            <a:r>
              <a:rPr lang="en-US" sz="1100" b="1" spc="100" kern="0" dirty="0">
                <a:solidFill>
                  <a:srgbClr val="1F3A5F"/>
                </a:solidFill>
                <a:latin typeface="Trebuchet MS" pitchFamily="34" charset="0"/>
                <a:ea typeface="Trebuchet MS" pitchFamily="34" charset="-122"/>
                <a:cs typeface="Trebuchet MS" pitchFamily="34" charset="-120"/>
              </a:rPr>
              <a:t>WORKED EXAMPLE  (teacher models this aloud)</a:t>
            </a:r>
            <a:endParaRPr lang="en-US" sz="1100" dirty="0"/>
          </a:p>
        </p:txBody>
      </p:sp>
      <p:sp>
        <p:nvSpPr>
          <p:cNvPr id="11" name="Text 9"/>
          <p:cNvSpPr/>
          <p:nvPr/>
        </p:nvSpPr>
        <p:spPr>
          <a:xfrm>
            <a:off x="822960" y="3035808"/>
            <a:ext cx="10515600" cy="1005840"/>
          </a:xfrm>
          <a:prstGeom prst="rect">
            <a:avLst/>
          </a:prstGeom>
          <a:noFill/>
          <a:ln/>
        </p:spPr>
        <p:txBody>
          <a:bodyPr wrap="square" rtlCol="0" anchor="t"/>
          <a:lstStyle/>
          <a:p>
            <a:pPr indent="0" marL="0">
              <a:lnSpc>
                <a:spcPct val="108000"/>
              </a:lnSpc>
              <a:buNone/>
            </a:pPr>
            <a:r>
              <a:rPr lang="en-US" sz="1450" b="1" dirty="0">
                <a:solidFill>
                  <a:srgbClr val="1F3A5F"/>
                </a:solidFill>
                <a:latin typeface="Calibri" pitchFamily="34" charset="0"/>
                <a:ea typeface="Calibri" pitchFamily="34" charset="-122"/>
                <a:cs typeface="Calibri" pitchFamily="34" charset="-120"/>
              </a:rPr>
              <a:t>CLAIM: Rockefeller was a captain of industry.  →  EVIDENCE: Standard Oil’s efficiency cut kerosene prices for ordinary families, and he later gave away over $500 million.  →  COUNTER I must answer: he also crushed competitors and squeezed railroads for secret rebates.</a:t>
            </a:r>
            <a:endParaRPr lang="en-US" sz="1450" dirty="0"/>
          </a:p>
        </p:txBody>
      </p:sp>
      <p:sp>
        <p:nvSpPr>
          <p:cNvPr id="12" name="Shape 10"/>
          <p:cNvSpPr/>
          <p:nvPr/>
        </p:nvSpPr>
        <p:spPr>
          <a:xfrm>
            <a:off x="548640" y="4297680"/>
            <a:ext cx="11064240" cy="1371600"/>
          </a:xfrm>
          <a:prstGeom prst="rect">
            <a:avLst/>
          </a:prstGeom>
          <a:solidFill>
            <a:srgbClr val="FFFFFF"/>
          </a:solidFill>
          <a:ln w="12700">
            <a:solidFill>
              <a:srgbClr val="DAD3C2"/>
            </a:solidFill>
            <a:prstDash val="solid"/>
          </a:ln>
        </p:spPr>
        <p:txBody>
          <a:bodyPr/>
          <a:p/>
        </p:txBody>
      </p:sp>
      <p:sp>
        <p:nvSpPr>
          <p:cNvPr id="13" name="Text 11"/>
          <p:cNvSpPr/>
          <p:nvPr/>
        </p:nvSpPr>
        <p:spPr>
          <a:xfrm>
            <a:off x="822960" y="4407408"/>
            <a:ext cx="4572000" cy="274320"/>
          </a:xfrm>
          <a:prstGeom prst="rect">
            <a:avLst/>
          </a:prstGeom>
          <a:noFill/>
          <a:ln/>
        </p:spPr>
        <p:txBody>
          <a:bodyPr wrap="square" rtlCol="0" anchor="ctr"/>
          <a:lstStyle/>
          <a:p>
            <a:pPr indent="0" marL="0">
              <a:buNone/>
            </a:pPr>
            <a:r>
              <a:rPr lang="en-US" sz="1100" b="1" spc="200" kern="0" dirty="0">
                <a:solidFill>
                  <a:srgbClr val="B22234"/>
                </a:solidFill>
                <a:latin typeface="Trebuchet MS" pitchFamily="34" charset="0"/>
                <a:ea typeface="Trebuchet MS" pitchFamily="34" charset="-122"/>
                <a:cs typeface="Trebuchet MS" pitchFamily="34" charset="-120"/>
              </a:rPr>
              <a:t>THINK ALOUD</a:t>
            </a:r>
            <a:endParaRPr lang="en-US" sz="1100" dirty="0"/>
          </a:p>
        </p:txBody>
      </p:sp>
      <p:sp>
        <p:nvSpPr>
          <p:cNvPr id="14" name="Text 12"/>
          <p:cNvSpPr/>
          <p:nvPr/>
        </p:nvSpPr>
        <p:spPr>
          <a:xfrm>
            <a:off x="822960" y="4700016"/>
            <a:ext cx="10515600" cy="914400"/>
          </a:xfrm>
          <a:prstGeom prst="rect">
            <a:avLst/>
          </a:prstGeom>
          <a:noFill/>
          <a:ln/>
        </p:spPr>
        <p:txBody>
          <a:bodyPr wrap="square" rtlCol="0" anchor="t"/>
          <a:lstStyle/>
          <a:p>
            <a:pPr indent="0" marL="0">
              <a:lnSpc>
                <a:spcPct val="108000"/>
              </a:lnSpc>
              <a:buNone/>
            </a:pPr>
            <a:r>
              <a:rPr lang="en-US" sz="1300" i="1" dirty="0">
                <a:solidFill>
                  <a:srgbClr val="1F2430"/>
                </a:solidFill>
                <a:latin typeface="Calibri" pitchFamily="34" charset="0"/>
                <a:ea typeface="Calibri" pitchFamily="34" charset="-122"/>
                <a:cs typeface="Calibri" pitchFamily="34" charset="-120"/>
              </a:rPr>
              <a:t>See the structure: Claim → Evidence → and I name the strongest counter-argument so I can answer it. An argument that ignores the other side is weak.</a:t>
            </a:r>
            <a:endParaRPr lang="en-US" sz="1300" dirty="0"/>
          </a:p>
        </p:txBody>
      </p:sp>
      <p:sp>
        <p:nvSpPr>
          <p:cNvPr id="15" name="Text 13"/>
          <p:cNvSpPr/>
          <p:nvPr/>
        </p:nvSpPr>
        <p:spPr>
          <a:xfrm>
            <a:off x="548640" y="5779008"/>
            <a:ext cx="11064240" cy="365760"/>
          </a:xfrm>
          <a:prstGeom prst="rect">
            <a:avLst/>
          </a:prstGeom>
          <a:noFill/>
          <a:ln/>
        </p:spPr>
        <p:txBody>
          <a:bodyPr wrap="square" rtlCol="0" anchor="ctr"/>
          <a:lstStyle/>
          <a:p>
            <a:pPr indent="0" marL="0">
              <a:buNone/>
            </a:pPr>
            <a:r>
              <a:rPr lang="en-US" sz="1200" b="1" dirty="0">
                <a:solidFill>
                  <a:srgbClr val="1F3A5F"/>
                </a:solidFill>
                <a:latin typeface="Calibri" pitchFamily="34" charset="0"/>
                <a:ea typeface="Calibri" pitchFamily="34" charset="-122"/>
                <a:cs typeface="Calibri" pitchFamily="34" charset="-120"/>
              </a:rPr>
              <a:t>→ Now you try:  </a:t>
            </a:r>
            <a:pPr indent="0" marL="0">
              <a:buNone/>
            </a:pPr>
            <a:r>
              <a:rPr lang="en-US" sz="1200" i="1" dirty="0">
                <a:solidFill>
                  <a:srgbClr val="002858"/>
                </a:solidFill>
                <a:latin typeface="Calibri" pitchFamily="34" charset="0"/>
                <a:ea typeface="Calibri" pitchFamily="34" charset="-122"/>
                <a:cs typeface="Calibri" pitchFamily="34" charset="-120"/>
              </a:rPr>
              <a:t>You take a position on a second titan and back it with one piece of evidence in the activity.</a:t>
            </a:r>
            <a:endParaRPr lang="en-US" sz="1200" dirty="0"/>
          </a:p>
        </p:txBody>
      </p:sp>
      <p:sp>
        <p:nvSpPr>
          <p:cNvPr id="17" name="Text 14"/>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8" name="Text 1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74</a:t>
            </a:r>
            <a:endParaRPr lang="en-US" sz="9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4">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227"/>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B22234"/>
                </a:solidFill>
                <a:latin typeface="Trebuchet MS" pitchFamily="34" charset="0"/>
                <a:ea typeface="Trebuchet MS" pitchFamily="34" charset="-122"/>
                <a:cs typeface="Trebuchet MS" pitchFamily="34" charset="-120"/>
              </a:rPr>
              <a:t>US.05 · STUDENT ACTIVITY</a:t>
            </a:r>
            <a:endParaRPr lang="en-US" sz="1200" dirty="0"/>
          </a:p>
        </p:txBody>
      </p:sp>
      <p:sp>
        <p:nvSpPr>
          <p:cNvPr id="4" name="Text 2"/>
          <p:cNvSpPr/>
          <p:nvPr/>
        </p:nvSpPr>
        <p:spPr>
          <a:xfrm>
            <a:off x="548640" y="731520"/>
            <a:ext cx="11064240" cy="777240"/>
          </a:xfrm>
          <a:prstGeom prst="rect">
            <a:avLst/>
          </a:prstGeom>
          <a:noFill/>
          <a:ln/>
        </p:spPr>
        <p:txBody>
          <a:bodyPr wrap="square" rtlCol="0" anchor="t"/>
          <a:lstStyle/>
          <a:p>
            <a:pPr indent="0" marL="0">
              <a:buNone/>
            </a:pPr>
            <a:r>
              <a:rPr lang="en-US" sz="2700" b="1" dirty="0">
                <a:solidFill>
                  <a:srgbClr val="1F3A5F"/>
                </a:solidFill>
                <a:latin typeface="Georgia" pitchFamily="34" charset="0"/>
                <a:ea typeface="Georgia" pitchFamily="34" charset="-122"/>
                <a:cs typeface="Georgia" pitchFamily="34" charset="-120"/>
              </a:rPr>
              <a:t>Robber Baron or Captain of Industry?</a:t>
            </a:r>
            <a:endParaRPr lang="en-US" sz="2700" dirty="0"/>
          </a:p>
        </p:txBody>
      </p:sp>
      <p:sp>
        <p:nvSpPr>
          <p:cNvPr id="5" name="Shape 3"/>
          <p:cNvSpPr/>
          <p:nvPr/>
        </p:nvSpPr>
        <p:spPr>
          <a:xfrm>
            <a:off x="548640" y="1481328"/>
            <a:ext cx="2461565" cy="365760"/>
          </a:xfrm>
          <a:prstGeom prst="roundRect">
            <a:avLst>
              <a:gd name="adj" fmla="val 20000"/>
            </a:avLst>
          </a:prstGeom>
          <a:solidFill>
            <a:srgbClr val="1F3A5F"/>
          </a:solidFill>
          <a:ln/>
        </p:spPr>
        <p:txBody>
          <a:bodyPr/>
          <a:p/>
        </p:txBody>
      </p:sp>
      <p:sp>
        <p:nvSpPr>
          <p:cNvPr id="6" name="Text 4"/>
          <p:cNvSpPr/>
          <p:nvPr/>
        </p:nvSpPr>
        <p:spPr>
          <a:xfrm>
            <a:off x="548640" y="1481328"/>
            <a:ext cx="2461565"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Pairs (assigned positions)</a:t>
            </a:r>
            <a:endParaRPr lang="en-US" sz="1050" dirty="0"/>
          </a:p>
        </p:txBody>
      </p:sp>
      <p:sp>
        <p:nvSpPr>
          <p:cNvPr id="7" name="Shape 5"/>
          <p:cNvSpPr/>
          <p:nvPr/>
        </p:nvSpPr>
        <p:spPr>
          <a:xfrm>
            <a:off x="3174797" y="1481328"/>
            <a:ext cx="779069" cy="365760"/>
          </a:xfrm>
          <a:prstGeom prst="roundRect">
            <a:avLst>
              <a:gd name="adj" fmla="val 20000"/>
            </a:avLst>
          </a:prstGeom>
          <a:solidFill>
            <a:srgbClr val="1F3A5F"/>
          </a:solidFill>
          <a:ln/>
        </p:spPr>
        <p:txBody>
          <a:bodyPr/>
          <a:p/>
        </p:txBody>
      </p:sp>
      <p:sp>
        <p:nvSpPr>
          <p:cNvPr id="8" name="Text 6"/>
          <p:cNvSpPr/>
          <p:nvPr/>
        </p:nvSpPr>
        <p:spPr>
          <a:xfrm>
            <a:off x="3174797" y="1481328"/>
            <a:ext cx="779069"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12 min</a:t>
            </a:r>
            <a:endParaRPr lang="en-US" sz="1050" dirty="0"/>
          </a:p>
        </p:txBody>
      </p:sp>
      <p:sp>
        <p:nvSpPr>
          <p:cNvPr id="9" name="Shape 7"/>
          <p:cNvSpPr/>
          <p:nvPr/>
        </p:nvSpPr>
        <p:spPr>
          <a:xfrm>
            <a:off x="548640" y="2057400"/>
            <a:ext cx="6766560" cy="2331720"/>
          </a:xfrm>
          <a:prstGeom prst="rect">
            <a:avLst/>
          </a:prstGeom>
          <a:solidFill>
            <a:srgbClr val="FFFFFF"/>
          </a:solidFill>
          <a:ln w="12700">
            <a:solidFill>
              <a:srgbClr val="DAD3C2"/>
            </a:solidFill>
            <a:prstDash val="solid"/>
          </a:ln>
        </p:spPr>
        <p:txBody>
          <a:bodyPr/>
          <a:p/>
        </p:txBody>
      </p:sp>
      <p:sp>
        <p:nvSpPr>
          <p:cNvPr id="10" name="Text 8"/>
          <p:cNvSpPr/>
          <p:nvPr/>
        </p:nvSpPr>
        <p:spPr>
          <a:xfrm>
            <a:off x="822960" y="2194560"/>
            <a:ext cx="4572000" cy="274320"/>
          </a:xfrm>
          <a:prstGeom prst="rect">
            <a:avLst/>
          </a:prstGeom>
          <a:noFill/>
          <a:ln/>
        </p:spPr>
        <p:txBody>
          <a:bodyPr wrap="square" rtlCol="0" anchor="ctr"/>
          <a:lstStyle/>
          <a:p>
            <a:pPr indent="0" marL="0">
              <a:buNone/>
            </a:pPr>
            <a:r>
              <a:rPr lang="en-US" sz="1100" b="1" spc="200" kern="0" dirty="0">
                <a:solidFill>
                  <a:srgbClr val="B22234"/>
                </a:solidFill>
                <a:latin typeface="Trebuchet MS" pitchFamily="34" charset="0"/>
                <a:ea typeface="Trebuchet MS" pitchFamily="34" charset="-122"/>
                <a:cs typeface="Trebuchet MS" pitchFamily="34" charset="-120"/>
              </a:rPr>
              <a:t>YOUR TASK</a:t>
            </a:r>
            <a:endParaRPr lang="en-US" sz="1100" dirty="0"/>
          </a:p>
        </p:txBody>
      </p:sp>
      <p:sp>
        <p:nvSpPr>
          <p:cNvPr id="11" name="Text 9"/>
          <p:cNvSpPr/>
          <p:nvPr/>
        </p:nvSpPr>
        <p:spPr>
          <a:xfrm>
            <a:off x="822960" y="2487168"/>
            <a:ext cx="6217920" cy="1828800"/>
          </a:xfrm>
          <a:prstGeom prst="rect">
            <a:avLst/>
          </a:prstGeom>
          <a:noFill/>
          <a:ln/>
        </p:spPr>
        <p:txBody>
          <a:bodyPr wrap="square" rtlCol="0" anchor="t"/>
          <a:lstStyle/>
          <a:p>
            <a:pPr indent="0" marL="0">
              <a:lnSpc>
                <a:spcPct val="112000"/>
              </a:lnSpc>
              <a:buNone/>
            </a:pPr>
            <a:r>
              <a:rPr lang="en-US" sz="1350" dirty="0">
                <a:solidFill>
                  <a:srgbClr val="1F2430"/>
                </a:solidFill>
                <a:latin typeface="Calibri" pitchFamily="34" charset="0"/>
                <a:ea typeface="Calibri" pitchFamily="34" charset="-122"/>
                <a:cs typeface="Calibri" pitchFamily="34" charset="-120"/>
              </a:rPr>
              <a:t>Using the Carnegie portrait and the Standard Oil “Next!” cartoon, build the strongest case for ONE label — “robber baron” OR “captain of industry” — for a Gilded Age titan. Cite at least two specific actions as evidence.</a:t>
            </a:r>
            <a:endParaRPr lang="en-US" sz="1350" dirty="0"/>
          </a:p>
        </p:txBody>
      </p:sp>
      <p:sp>
        <p:nvSpPr>
          <p:cNvPr id="12" name="Shape 10"/>
          <p:cNvSpPr/>
          <p:nvPr/>
        </p:nvSpPr>
        <p:spPr>
          <a:xfrm>
            <a:off x="7552944" y="2020824"/>
            <a:ext cx="4142232" cy="1856232"/>
          </a:xfrm>
          <a:prstGeom prst="rect">
            <a:avLst/>
          </a:prstGeom>
          <a:solidFill>
            <a:srgbClr val="FFFFFF"/>
          </a:solidFill>
          <a:ln w="12700">
            <a:solidFill>
              <a:srgbClr val="DAD3C2"/>
            </a:solidFill>
            <a:prstDash val="solid"/>
          </a:ln>
        </p:spPr>
        <p:txBody>
          <a:bodyPr/>
          <a:p/>
        </p:txBody>
      </p:sp>
      <p:pic>
        <p:nvPicPr>
          <p:cNvPr id="13" name="Image 0" descr="Marceau, New York (photographer), c. 1913  Library of Congress">    </p:cNvPr>
          <p:cNvPicPr>
            <a:picLocks noChangeAspect="1"/>
          </p:cNvPicPr>
          <p:nvPr/>
        </p:nvPicPr>
        <p:blipFill>
          <a:blip r:embed="rId1"/>
          <a:srcRect l="0" r="0" t="0" b="0"/>
          <a:stretch/>
        </p:blipFill>
        <p:spPr>
          <a:xfrm>
            <a:off x="7589520" y="2057400"/>
            <a:ext cx="4069080" cy="1783080"/>
          </a:xfrm>
          <a:prstGeom prst="rect">
            <a:avLst/>
          </a:prstGeom>
        </p:spPr>
      </p:pic>
      <p:sp>
        <p:nvSpPr>
          <p:cNvPr id="14" name="Text 11"/>
          <p:cNvSpPr/>
          <p:nvPr/>
        </p:nvSpPr>
        <p:spPr>
          <a:xfrm>
            <a:off x="7589520" y="3895344"/>
            <a:ext cx="4069080" cy="493776"/>
          </a:xfrm>
          <a:prstGeom prst="rect">
            <a:avLst/>
          </a:prstGeom>
          <a:noFill/>
          <a:ln/>
        </p:spPr>
        <p:txBody>
          <a:bodyPr wrap="square" rtlCol="0" anchor="t"/>
          <a:lstStyle/>
          <a:p>
            <a:pPr algn="l" indent="0" marL="0">
              <a:lnSpc>
                <a:spcPct val="100000"/>
              </a:lnSpc>
              <a:buNone/>
            </a:pPr>
            <a:pPr algn="l" indent="0" marL="0">
              <a:lnSpc>
                <a:spcPct val="100000"/>
              </a:lnSpc>
              <a:buNone/>
            </a:pPr>
            <a:r>
              <a:rPr lang="en-US" sz="900" i="1" dirty="0">
                <a:solidFill>
                  <a:srgbClr val="5C6470"/>
                </a:solidFill>
                <a:latin typeface="Calibri" pitchFamily="34" charset="0"/>
                <a:ea typeface="Calibri" pitchFamily="34" charset="-122"/>
                <a:cs typeface="Calibri" pitchFamily="34" charset="-120"/>
              </a:rPr>
              <a:t>Marceau, New York (photographer), c. 1913  </a:t>
            </a:r>
            <a:pPr algn="l" indent="0" marL="0">
              <a:lnSpc>
                <a:spcPct val="100000"/>
              </a:lnSpc>
              <a:buNone/>
            </a:pPr>
            <a:r>
              <a:rPr lang="en-US" sz="9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750" dirty="0"/>
          </a:p>
        </p:txBody>
      </p:sp>
      <p:sp>
        <p:nvSpPr>
          <p:cNvPr id="15" name="Shape 12"/>
          <p:cNvSpPr/>
          <p:nvPr/>
        </p:nvSpPr>
        <p:spPr>
          <a:xfrm>
            <a:off x="548640" y="4526280"/>
            <a:ext cx="5486400" cy="1325880"/>
          </a:xfrm>
          <a:prstGeom prst="roundRect">
            <a:avLst>
              <a:gd name="adj" fmla="val 5517"/>
            </a:avLst>
          </a:prstGeom>
          <a:solidFill>
            <a:srgbClr val="1F3A5F"/>
          </a:solidFill>
          <a:ln/>
        </p:spPr>
        <p:txBody>
          <a:bodyPr/>
          <a:p/>
        </p:txBody>
      </p:sp>
      <p:sp>
        <p:nvSpPr>
          <p:cNvPr id="16" name="Text 13"/>
          <p:cNvSpPr/>
          <p:nvPr/>
        </p:nvSpPr>
        <p:spPr>
          <a:xfrm>
            <a:off x="777240" y="4645152"/>
            <a:ext cx="4572000" cy="274320"/>
          </a:xfrm>
          <a:prstGeom prst="rect">
            <a:avLst/>
          </a:prstGeom>
          <a:noFill/>
          <a:ln/>
        </p:spPr>
        <p:txBody>
          <a:bodyPr wrap="square" rtlCol="0" anchor="ctr"/>
          <a:lstStyle/>
          <a:p>
            <a:pPr indent="0" marL="0">
              <a:buNone/>
            </a:pPr>
            <a:r>
              <a:rPr lang="en-US" sz="1050" b="1" spc="200" kern="0" dirty="0">
                <a:solidFill>
                  <a:srgbClr val="F9A825"/>
                </a:solidFill>
                <a:latin typeface="Trebuchet MS" pitchFamily="34" charset="0"/>
                <a:ea typeface="Trebuchet MS" pitchFamily="34" charset="-122"/>
                <a:cs typeface="Trebuchet MS" pitchFamily="34" charset="-120"/>
              </a:rPr>
              <a:t>DELIVERABLE</a:t>
            </a:r>
            <a:endParaRPr lang="en-US" sz="1050" dirty="0"/>
          </a:p>
        </p:txBody>
      </p:sp>
      <p:sp>
        <p:nvSpPr>
          <p:cNvPr id="17" name="Text 14"/>
          <p:cNvSpPr/>
          <p:nvPr/>
        </p:nvSpPr>
        <p:spPr>
          <a:xfrm>
            <a:off x="777240" y="4919472"/>
            <a:ext cx="5029200" cy="868680"/>
          </a:xfrm>
          <a:prstGeom prst="rect">
            <a:avLst/>
          </a:prstGeom>
          <a:noFill/>
          <a:ln/>
        </p:spPr>
        <p:txBody>
          <a:bodyPr wrap="square"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A position card with claim + two pieces of evidence.</a:t>
            </a:r>
            <a:endParaRPr lang="en-US" sz="1250" dirty="0"/>
          </a:p>
        </p:txBody>
      </p:sp>
      <p:sp>
        <p:nvSpPr>
          <p:cNvPr id="18" name="Shape 15"/>
          <p:cNvSpPr/>
          <p:nvPr/>
        </p:nvSpPr>
        <p:spPr>
          <a:xfrm>
            <a:off x="6172200" y="4526280"/>
            <a:ext cx="5440680" cy="1325880"/>
          </a:xfrm>
          <a:prstGeom prst="roundRect">
            <a:avLst>
              <a:gd name="adj" fmla="val 5517"/>
            </a:avLst>
          </a:prstGeom>
          <a:solidFill>
            <a:srgbClr val="FBEFD0"/>
          </a:solidFill>
          <a:ln w="15875">
            <a:solidFill>
              <a:srgbClr val="C9A227"/>
            </a:solidFill>
            <a:prstDash val="solid"/>
          </a:ln>
        </p:spPr>
        <p:txBody>
          <a:bodyPr/>
          <a:p/>
        </p:txBody>
      </p:sp>
      <p:sp>
        <p:nvSpPr>
          <p:cNvPr id="19" name="Text 16"/>
          <p:cNvSpPr/>
          <p:nvPr/>
        </p:nvSpPr>
        <p:spPr>
          <a:xfrm>
            <a:off x="6400800" y="4645152"/>
            <a:ext cx="4572000" cy="274320"/>
          </a:xfrm>
          <a:prstGeom prst="rect">
            <a:avLst/>
          </a:prstGeom>
          <a:noFill/>
          <a:ln/>
        </p:spPr>
        <p:txBody>
          <a:bodyPr wrap="square" rtlCol="0" anchor="ctr"/>
          <a:lstStyle/>
          <a:p>
            <a:pPr indent="0" marL="0">
              <a:buNone/>
            </a:pPr>
            <a:r>
              <a:rPr lang="en-US" sz="1050" b="1" spc="200" kern="0" dirty="0">
                <a:solidFill>
                  <a:srgbClr val="B22234"/>
                </a:solidFill>
                <a:latin typeface="Trebuchet MS" pitchFamily="34" charset="0"/>
                <a:ea typeface="Trebuchet MS" pitchFamily="34" charset="-122"/>
                <a:cs typeface="Trebuchet MS" pitchFamily="34" charset="-120"/>
              </a:rPr>
              <a:t>SUPPORT OPTIONS</a:t>
            </a:r>
            <a:endParaRPr lang="en-US" sz="1050" dirty="0"/>
          </a:p>
        </p:txBody>
      </p:sp>
      <p:sp>
        <p:nvSpPr>
          <p:cNvPr id="20" name="Text 17"/>
          <p:cNvSpPr/>
          <p:nvPr/>
        </p:nvSpPr>
        <p:spPr>
          <a:xfrm>
            <a:off x="6400800" y="4919472"/>
            <a:ext cx="5029200" cy="868680"/>
          </a:xfrm>
          <a:prstGeom prst="rect">
            <a:avLst/>
          </a:prstGeom>
          <a:noFill/>
          <a:ln/>
        </p:spPr>
        <p:txBody>
          <a:bodyPr wrap="square" rtlCol="0" anchor="t"/>
          <a:lstStyle/>
          <a:p>
            <a:pPr indent="0" marL="0">
              <a:lnSpc>
                <a:spcPct val="105000"/>
              </a:lnSpc>
              <a:buNone/>
            </a:pPr>
            <a:r>
              <a:rPr lang="en-US" sz="1200" dirty="0">
                <a:solidFill>
                  <a:srgbClr val="1F2430"/>
                </a:solidFill>
                <a:latin typeface="Calibri" pitchFamily="34" charset="0"/>
                <a:ea typeface="Calibri" pitchFamily="34" charset="-122"/>
                <a:cs typeface="Calibri" pitchFamily="34" charset="-120"/>
              </a:rPr>
              <a:t>SUPPORT OPTION: evidence bank provided. EXTENSION: argue the opposite label, then decide which case is stronger.</a:t>
            </a:r>
            <a:endParaRPr lang="en-US" sz="1200" dirty="0"/>
          </a:p>
        </p:txBody>
      </p:sp>
      <p:sp>
        <p:nvSpPr>
          <p:cNvPr id="21" name="Text 18"/>
          <p:cNvSpPr/>
          <p:nvPr/>
        </p:nvSpPr>
        <p:spPr>
          <a:xfrm>
            <a:off x="548640" y="5943600"/>
            <a:ext cx="11064240" cy="320040"/>
          </a:xfrm>
          <a:prstGeom prst="rect">
            <a:avLst/>
          </a:prstGeom>
          <a:noFill/>
          <a:ln/>
        </p:spPr>
        <p:txBody>
          <a:bodyPr wrap="square" rtlCol="0" anchor="ctr"/>
          <a:lstStyle/>
          <a:p>
            <a:pPr indent="0" marL="0">
              <a:buNone/>
            </a:pPr>
            <a:r>
              <a:rPr lang="en-US" sz="1050" b="1" dirty="0">
                <a:solidFill>
                  <a:srgbClr val="1F3A5F"/>
                </a:solidFill>
                <a:latin typeface="Calibri" pitchFamily="34" charset="0"/>
                <a:ea typeface="Calibri" pitchFamily="34" charset="-122"/>
                <a:cs typeface="Calibri" pitchFamily="34" charset="-120"/>
              </a:rPr>
              <a:t>Companion printable:  </a:t>
            </a:r>
            <a:pPr indent="0" marL="0">
              <a:buNone/>
            </a:pPr>
            <a:r>
              <a:rPr lang="en-US" sz="1050" i="1" dirty="0">
                <a:solidFill>
                  <a:srgbClr val="002858"/>
                </a:solidFill>
                <a:latin typeface="Calibri" pitchFamily="34" charset="0"/>
                <a:ea typeface="Calibri" pitchFamily="34" charset="-122"/>
                <a:cs typeface="Calibri" pitchFamily="34" charset="-120"/>
              </a:rPr>
              <a:t>Cornell Notes — US.05: Inventions &amp; Innovators of the Industrial Age</a:t>
            </a:r>
            <a:endParaRPr lang="en-US" sz="1050" dirty="0"/>
          </a:p>
        </p:txBody>
      </p:sp>
      <p:sp>
        <p:nvSpPr>
          <p:cNvPr id="23" name="Text 19"/>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4" name="Text 20"/>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75</a:t>
            </a:r>
            <a:endParaRPr lang="en-US" sz="9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5">
    <p:bg>
      <p:bgPr>
        <a:solidFill>
          <a:srgbClr val="1F3A5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227"/>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US.05 · CHECK FOR UNDERSTANDING</a:t>
            </a:r>
            <a:endParaRPr lang="en-US" sz="1200" dirty="0"/>
          </a:p>
        </p:txBody>
      </p:sp>
      <p:sp>
        <p:nvSpPr>
          <p:cNvPr id="4" name="Text 2"/>
          <p:cNvSpPr/>
          <p:nvPr/>
        </p:nvSpPr>
        <p:spPr>
          <a:xfrm>
            <a:off x="548640" y="777240"/>
            <a:ext cx="676656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7635240" y="822960"/>
            <a:ext cx="1143000" cy="457200"/>
          </a:xfrm>
          <a:prstGeom prst="roundRect">
            <a:avLst>
              <a:gd name="adj" fmla="val 20000"/>
            </a:avLst>
          </a:prstGeom>
          <a:solidFill>
            <a:srgbClr val="243047"/>
          </a:solidFill>
          <a:ln w="12700">
            <a:solidFill>
              <a:srgbClr val="C9A227"/>
            </a:solidFill>
            <a:prstDash val="solid"/>
          </a:ln>
        </p:spPr>
        <p:txBody>
          <a:bodyPr/>
          <a:p/>
        </p:txBody>
      </p:sp>
      <p:sp>
        <p:nvSpPr>
          <p:cNvPr id="6" name="Text 4"/>
          <p:cNvSpPr/>
          <p:nvPr/>
        </p:nvSpPr>
        <p:spPr>
          <a:xfrm>
            <a:off x="7635240" y="822960"/>
            <a:ext cx="1143000" cy="457200"/>
          </a:xfrm>
          <a:prstGeom prst="rect">
            <a:avLst/>
          </a:prstGeom>
          <a:noFill/>
          <a:ln/>
        </p:spPr>
        <p:txBody>
          <a:bodyPr wrap="square" rtlCol="0" anchor="ctr"/>
          <a:lstStyle/>
          <a:p>
            <a:pPr algn="ctr" indent="0" marL="0">
              <a:buNone/>
            </a:pPr>
            <a:r>
              <a:rPr lang="en-US" sz="1200" b="1" dirty="0">
                <a:solidFill>
                  <a:srgbClr val="F9A825"/>
                </a:solidFill>
                <a:latin typeface="Trebuchet MS" pitchFamily="34" charset="0"/>
                <a:ea typeface="Trebuchet MS" pitchFamily="34" charset="-122"/>
                <a:cs typeface="Trebuchet MS" pitchFamily="34" charset="-120"/>
              </a:rPr>
              <a:t>DOK 2</a:t>
            </a:r>
            <a:endParaRPr lang="en-US" sz="1200" dirty="0"/>
          </a:p>
        </p:txBody>
      </p:sp>
      <p:sp>
        <p:nvSpPr>
          <p:cNvPr id="7" name="Shape 5"/>
          <p:cNvSpPr/>
          <p:nvPr/>
        </p:nvSpPr>
        <p:spPr>
          <a:xfrm>
            <a:off x="8869680" y="822960"/>
            <a:ext cx="2743200" cy="457200"/>
          </a:xfrm>
          <a:prstGeom prst="roundRect">
            <a:avLst>
              <a:gd name="adj" fmla="val 20000"/>
            </a:avLst>
          </a:prstGeom>
          <a:solidFill>
            <a:srgbClr val="B22234"/>
          </a:solidFill>
          <a:ln/>
        </p:spPr>
        <p:txBody>
          <a:bodyPr/>
          <a:p/>
        </p:txBody>
      </p:sp>
      <p:sp>
        <p:nvSpPr>
          <p:cNvPr id="8" name="Text 6"/>
          <p:cNvSpPr/>
          <p:nvPr/>
        </p:nvSpPr>
        <p:spPr>
          <a:xfrm>
            <a:off x="8869680" y="822960"/>
            <a:ext cx="274320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EOC PRACTICE</a:t>
            </a:r>
            <a:endParaRPr lang="en-US" sz="1200" dirty="0"/>
          </a:p>
        </p:txBody>
      </p:sp>
      <p:sp>
        <p:nvSpPr>
          <p:cNvPr id="9" name="Shape 7"/>
          <p:cNvSpPr/>
          <p:nvPr/>
        </p:nvSpPr>
        <p:spPr>
          <a:xfrm>
            <a:off x="548640" y="1554480"/>
            <a:ext cx="11064240" cy="1051560"/>
          </a:xfrm>
          <a:prstGeom prst="roundRect">
            <a:avLst>
              <a:gd name="adj" fmla="val 6957"/>
            </a:avLst>
          </a:prstGeom>
          <a:solidFill>
            <a:srgbClr val="243047"/>
          </a:solidFill>
          <a:ln w="6350">
            <a:solidFill>
              <a:srgbClr val="A7BACB"/>
            </a:solidFill>
            <a:prstDash val="solid"/>
          </a:ln>
        </p:spPr>
        <p:txBody>
          <a:bodyPr/>
          <a:p/>
        </p:txBody>
      </p:sp>
      <p:sp>
        <p:nvSpPr>
          <p:cNvPr id="10" name="Text 8"/>
          <p:cNvSpPr/>
          <p:nvPr/>
        </p:nvSpPr>
        <p:spPr>
          <a:xfrm>
            <a:off x="822960" y="1691640"/>
            <a:ext cx="10515600" cy="777240"/>
          </a:xfrm>
          <a:prstGeom prst="rect">
            <a:avLst/>
          </a:prstGeom>
          <a:noFill/>
          <a:ln/>
        </p:spPr>
        <p:txBody>
          <a:bodyPr wrap="square" rtlCol="0" anchor="ctr"/>
          <a:lstStyle/>
          <a:p>
            <a:pPr indent="0" marL="0">
              <a:lnSpc>
                <a:spcPct val="105000"/>
              </a:lnSpc>
              <a:buNone/>
            </a:pPr>
            <a:r>
              <a:rPr lang="en-US" sz="1600" b="1" dirty="0">
                <a:solidFill>
                  <a:srgbClr val="FFFFFF"/>
                </a:solidFill>
                <a:latin typeface="Calibri" pitchFamily="34" charset="0"/>
                <a:ea typeface="Calibri" pitchFamily="34" charset="-122"/>
                <a:cs typeface="Calibri" pitchFamily="34" charset="-120"/>
              </a:rPr>
              <a:t>A wealthy 1890s steel magnate funds free public libraries across the country instead of leaving his entire fortune to his heirs. Whose philosophy does this best reflect, and why?</a:t>
            </a:r>
            <a:endParaRPr lang="en-US" sz="1600" dirty="0"/>
          </a:p>
        </p:txBody>
      </p:sp>
      <p:sp>
        <p:nvSpPr>
          <p:cNvPr id="11" name="Shape 9"/>
          <p:cNvSpPr/>
          <p:nvPr/>
        </p:nvSpPr>
        <p:spPr>
          <a:xfrm>
            <a:off x="548640" y="2743200"/>
            <a:ext cx="11064240" cy="658368"/>
          </a:xfrm>
          <a:prstGeom prst="roundRect">
            <a:avLst>
              <a:gd name="adj" fmla="val 8333"/>
            </a:avLst>
          </a:prstGeom>
          <a:solidFill>
            <a:srgbClr val="2C384F"/>
          </a:solidFill>
          <a:ln w="12700">
            <a:solidFill>
              <a:srgbClr val="3A475E"/>
            </a:solidFill>
            <a:prstDash val="solid"/>
          </a:ln>
        </p:spPr>
        <p:txBody>
          <a:bodyPr/>
          <a:p/>
        </p:txBody>
      </p:sp>
      <p:sp>
        <p:nvSpPr>
          <p:cNvPr id="12" name="Shape 10"/>
          <p:cNvSpPr/>
          <p:nvPr/>
        </p:nvSpPr>
        <p:spPr>
          <a:xfrm>
            <a:off x="713232" y="2889504"/>
            <a:ext cx="365760" cy="365760"/>
          </a:xfrm>
          <a:prstGeom prst="ellipse">
            <a:avLst/>
          </a:prstGeom>
          <a:solidFill>
            <a:srgbClr val="1F3A5F"/>
          </a:solidFill>
          <a:ln/>
        </p:spPr>
        <p:txBody>
          <a:bodyPr/>
          <a:p/>
        </p:txBody>
      </p:sp>
      <p:sp>
        <p:nvSpPr>
          <p:cNvPr id="13" name="Text 11"/>
          <p:cNvSpPr/>
          <p:nvPr/>
        </p:nvSpPr>
        <p:spPr>
          <a:xfrm>
            <a:off x="713232" y="2889504"/>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A</a:t>
            </a:r>
            <a:endParaRPr lang="en-US" sz="1400" dirty="0"/>
          </a:p>
        </p:txBody>
      </p:sp>
      <p:sp>
        <p:nvSpPr>
          <p:cNvPr id="14" name="Text 12"/>
          <p:cNvSpPr/>
          <p:nvPr/>
        </p:nvSpPr>
        <p:spPr>
          <a:xfrm>
            <a:off x="1234440" y="2743200"/>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Carnegie’s philosophy, because it displays wealth publicly to impress others.</a:t>
            </a:r>
            <a:endParaRPr lang="en-US" sz="1350" dirty="0"/>
          </a:p>
        </p:txBody>
      </p:sp>
      <p:sp>
        <p:nvSpPr>
          <p:cNvPr id="15" name="Shape 13"/>
          <p:cNvSpPr/>
          <p:nvPr/>
        </p:nvSpPr>
        <p:spPr>
          <a:xfrm>
            <a:off x="548640" y="3493008"/>
            <a:ext cx="11064240" cy="658368"/>
          </a:xfrm>
          <a:prstGeom prst="roundRect">
            <a:avLst>
              <a:gd name="adj" fmla="val 8333"/>
            </a:avLst>
          </a:prstGeom>
          <a:solidFill>
            <a:srgbClr val="2C384F"/>
          </a:solidFill>
          <a:ln w="12700">
            <a:solidFill>
              <a:srgbClr val="3A475E"/>
            </a:solidFill>
            <a:prstDash val="solid"/>
          </a:ln>
        </p:spPr>
        <p:txBody>
          <a:bodyPr/>
          <a:p/>
        </p:txBody>
      </p:sp>
      <p:sp>
        <p:nvSpPr>
          <p:cNvPr id="16" name="Shape 14"/>
          <p:cNvSpPr/>
          <p:nvPr/>
        </p:nvSpPr>
        <p:spPr>
          <a:xfrm>
            <a:off x="713232" y="3639312"/>
            <a:ext cx="365760" cy="365760"/>
          </a:xfrm>
          <a:prstGeom prst="ellipse">
            <a:avLst/>
          </a:prstGeom>
          <a:solidFill>
            <a:srgbClr val="1F3A5F"/>
          </a:solidFill>
          <a:ln/>
        </p:spPr>
        <p:txBody>
          <a:bodyPr/>
          <a:p/>
        </p:txBody>
      </p:sp>
      <p:sp>
        <p:nvSpPr>
          <p:cNvPr id="17" name="Text 15"/>
          <p:cNvSpPr/>
          <p:nvPr/>
        </p:nvSpPr>
        <p:spPr>
          <a:xfrm>
            <a:off x="713232" y="3639312"/>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B</a:t>
            </a:r>
            <a:endParaRPr lang="en-US" sz="1400" dirty="0"/>
          </a:p>
        </p:txBody>
      </p:sp>
      <p:sp>
        <p:nvSpPr>
          <p:cNvPr id="18" name="Text 16"/>
          <p:cNvSpPr/>
          <p:nvPr/>
        </p:nvSpPr>
        <p:spPr>
          <a:xfrm>
            <a:off x="1234440" y="3493008"/>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The opposite of Carnegie’s view, because he insisted fortunes pass to children.</a:t>
            </a:r>
            <a:endParaRPr lang="en-US" sz="1350" dirty="0"/>
          </a:p>
        </p:txBody>
      </p:sp>
      <p:sp>
        <p:nvSpPr>
          <p:cNvPr id="19" name="Shape 17"/>
          <p:cNvSpPr/>
          <p:nvPr/>
        </p:nvSpPr>
        <p:spPr>
          <a:xfrm>
            <a:off x="548640" y="4242816"/>
            <a:ext cx="11064240" cy="658368"/>
          </a:xfrm>
          <a:prstGeom prst="roundRect">
            <a:avLst>
              <a:gd name="adj" fmla="val 8333"/>
            </a:avLst>
          </a:prstGeom>
          <a:solidFill>
            <a:srgbClr val="2C384F"/>
          </a:solidFill>
          <a:ln w="12700">
            <a:solidFill>
              <a:srgbClr val="3A475E"/>
            </a:solidFill>
            <a:prstDash val="solid"/>
          </a:ln>
        </p:spPr>
        <p:txBody>
          <a:bodyPr/>
          <a:p/>
        </p:txBody>
      </p:sp>
      <p:sp>
        <p:nvSpPr>
          <p:cNvPr id="20" name="Shape 18"/>
          <p:cNvSpPr/>
          <p:nvPr/>
        </p:nvSpPr>
        <p:spPr>
          <a:xfrm>
            <a:off x="713232" y="4389120"/>
            <a:ext cx="365760" cy="365760"/>
          </a:xfrm>
          <a:prstGeom prst="ellipse">
            <a:avLst/>
          </a:prstGeom>
          <a:solidFill>
            <a:srgbClr val="1F3A5F"/>
          </a:solidFill>
          <a:ln/>
        </p:spPr>
        <p:txBody>
          <a:bodyPr/>
          <a:p/>
        </p:txBody>
      </p:sp>
      <p:sp>
        <p:nvSpPr>
          <p:cNvPr id="21" name="Text 19"/>
          <p:cNvSpPr/>
          <p:nvPr/>
        </p:nvSpPr>
        <p:spPr>
          <a:xfrm>
            <a:off x="713232" y="4389120"/>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C</a:t>
            </a:r>
            <a:endParaRPr lang="en-US" sz="1400" dirty="0"/>
          </a:p>
        </p:txBody>
      </p:sp>
      <p:sp>
        <p:nvSpPr>
          <p:cNvPr id="22" name="Text 20"/>
          <p:cNvSpPr/>
          <p:nvPr/>
        </p:nvSpPr>
        <p:spPr>
          <a:xfrm>
            <a:off x="1234440" y="4242816"/>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The opposite of Carnegie’s view, because he opposed all charitable giving.</a:t>
            </a:r>
            <a:endParaRPr lang="en-US" sz="1350" dirty="0"/>
          </a:p>
        </p:txBody>
      </p:sp>
      <p:sp>
        <p:nvSpPr>
          <p:cNvPr id="23" name="Shape 21"/>
          <p:cNvSpPr/>
          <p:nvPr/>
        </p:nvSpPr>
        <p:spPr>
          <a:xfrm>
            <a:off x="548640" y="4992624"/>
            <a:ext cx="11064240" cy="658368"/>
          </a:xfrm>
          <a:prstGeom prst="roundRect">
            <a:avLst>
              <a:gd name="adj" fmla="val 8333"/>
            </a:avLst>
          </a:prstGeom>
          <a:solidFill>
            <a:srgbClr val="2C384F"/>
          </a:solidFill>
          <a:ln w="12700">
            <a:solidFill>
              <a:srgbClr val="3A475E"/>
            </a:solidFill>
            <a:prstDash val="solid"/>
          </a:ln>
        </p:spPr>
        <p:txBody>
          <a:bodyPr/>
          <a:p/>
        </p:txBody>
      </p:sp>
      <p:sp>
        <p:nvSpPr>
          <p:cNvPr id="24" name="Shape 22"/>
          <p:cNvSpPr/>
          <p:nvPr/>
        </p:nvSpPr>
        <p:spPr>
          <a:xfrm>
            <a:off x="713232" y="5138928"/>
            <a:ext cx="365760" cy="365760"/>
          </a:xfrm>
          <a:prstGeom prst="ellipse">
            <a:avLst/>
          </a:prstGeom>
          <a:solidFill>
            <a:srgbClr val="1F3A5F"/>
          </a:solidFill>
          <a:ln/>
        </p:spPr>
        <p:txBody>
          <a:bodyPr/>
          <a:p/>
        </p:txBody>
      </p:sp>
      <p:sp>
        <p:nvSpPr>
          <p:cNvPr id="25" name="Text 23"/>
          <p:cNvSpPr/>
          <p:nvPr/>
        </p:nvSpPr>
        <p:spPr>
          <a:xfrm>
            <a:off x="713232" y="5138928"/>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D</a:t>
            </a:r>
            <a:endParaRPr lang="en-US" sz="1400" dirty="0"/>
          </a:p>
        </p:txBody>
      </p:sp>
      <p:sp>
        <p:nvSpPr>
          <p:cNvPr id="26" name="Text 24"/>
          <p:cNvSpPr/>
          <p:nvPr/>
        </p:nvSpPr>
        <p:spPr>
          <a:xfrm>
            <a:off x="1234440" y="4992624"/>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Carnegie’s “Gospel of Wealth,” because surplus wealth is used as a trust to benefit society.</a:t>
            </a:r>
            <a:endParaRPr lang="en-US" sz="1350" dirty="0"/>
          </a:p>
        </p:txBody>
      </p:sp>
      <p:sp>
        <p:nvSpPr>
          <p:cNvPr id="27" name="Shape 25"/>
          <p:cNvSpPr/>
          <p:nvPr/>
        </p:nvSpPr>
        <p:spPr>
          <a:xfrm>
            <a:off x="548640" y="5715000"/>
            <a:ext cx="11064240" cy="502920"/>
          </a:xfrm>
          <a:prstGeom prst="roundRect">
            <a:avLst>
              <a:gd name="adj" fmla="val 14545"/>
            </a:avLst>
          </a:prstGeom>
          <a:solidFill>
            <a:srgbClr val="243047"/>
          </a:solidFill>
          <a:ln w="12700">
            <a:solidFill>
              <a:srgbClr val="C9A227"/>
            </a:solidFill>
            <a:prstDash val="solid"/>
          </a:ln>
        </p:spPr>
        <p:txBody>
          <a:bodyPr/>
          <a:p/>
        </p:txBody>
      </p:sp>
      <p:sp>
        <p:nvSpPr>
          <p:cNvPr id="28" name="Text 26"/>
          <p:cNvSpPr/>
          <p:nvPr/>
        </p:nvSpPr>
        <p:spPr>
          <a:xfrm>
            <a:off x="822960" y="5715000"/>
            <a:ext cx="10515600" cy="502920"/>
          </a:xfrm>
          <a:prstGeom prst="rect">
            <a:avLst/>
          </a:prstGeom>
          <a:noFill/>
          <a:ln/>
        </p:spPr>
        <p:txBody>
          <a:bodyPr wrap="square" rtlCol="0" anchor="ctr"/>
          <a:lstStyle/>
          <a:p>
            <a:pPr indent="0" marL="0">
              <a:buNone/>
            </a:pPr>
            <a:r>
              <a:rPr lang="en-US" sz="1200" b="1" i="1" spc="100" kern="0" dirty="0">
                <a:solidFill>
                  <a:srgbClr val="F9A825"/>
                </a:solidFill>
                <a:latin typeface="Trebuchet MS" pitchFamily="34" charset="0"/>
                <a:ea typeface="Trebuchet MS" pitchFamily="34" charset="-122"/>
                <a:cs typeface="Trebuchet MS" pitchFamily="34" charset="-120"/>
              </a:rPr>
              <a:t>ANSWER FIRST:  </a:t>
            </a:r>
            <a:pPr indent="0" marL="0">
              <a:buNone/>
            </a:pPr>
            <a:r>
              <a:rPr lang="en-US" sz="1200" i="1" dirty="0">
                <a:solidFill>
                  <a:srgbClr val="C7D4E0"/>
                </a:solidFill>
                <a:latin typeface="Calibri" pitchFamily="34" charset="0"/>
                <a:ea typeface="Calibri" pitchFamily="34" charset="-122"/>
                <a:cs typeface="Calibri" pitchFamily="34" charset="-120"/>
              </a:rPr>
              <a:t>students commit — then click / advance to reveal the correct answer and explanation.</a:t>
            </a:r>
            <a:endParaRPr lang="en-US" sz="1200" dirty="0"/>
          </a:p>
        </p:txBody>
      </p:sp>
      <p:sp>
        <p:nvSpPr>
          <p:cNvPr id="30" name="Text 27"/>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1" name="Text 2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76</a:t>
            </a:r>
            <a:endParaRPr lang="en-US" sz="9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6">
    <p:bg>
      <p:bgPr>
        <a:solidFill>
          <a:srgbClr val="1F3A5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227"/>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US.05 · ANSWER REVEAL</a:t>
            </a:r>
            <a:endParaRPr lang="en-US" sz="1200" dirty="0"/>
          </a:p>
        </p:txBody>
      </p:sp>
      <p:sp>
        <p:nvSpPr>
          <p:cNvPr id="4" name="Text 2"/>
          <p:cNvSpPr/>
          <p:nvPr/>
        </p:nvSpPr>
        <p:spPr>
          <a:xfrm>
            <a:off x="548640" y="777240"/>
            <a:ext cx="822960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8595360" y="822960"/>
            <a:ext cx="3017520" cy="457200"/>
          </a:xfrm>
          <a:prstGeom prst="roundRect">
            <a:avLst>
              <a:gd name="adj" fmla="val 20000"/>
            </a:avLst>
          </a:prstGeom>
          <a:solidFill>
            <a:srgbClr val="1B5E20"/>
          </a:solidFill>
          <a:ln/>
        </p:spPr>
        <p:txBody>
          <a:bodyPr/>
          <a:p/>
        </p:txBody>
      </p:sp>
      <p:sp>
        <p:nvSpPr>
          <p:cNvPr id="6" name="Text 4"/>
          <p:cNvSpPr/>
          <p:nvPr/>
        </p:nvSpPr>
        <p:spPr>
          <a:xfrm>
            <a:off x="8595360" y="822960"/>
            <a:ext cx="301752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 ANSWER KEY</a:t>
            </a:r>
            <a:endParaRPr lang="en-US" sz="1200" dirty="0"/>
          </a:p>
        </p:txBody>
      </p:sp>
      <p:sp>
        <p:nvSpPr>
          <p:cNvPr id="7" name="Shape 5"/>
          <p:cNvSpPr/>
          <p:nvPr/>
        </p:nvSpPr>
        <p:spPr>
          <a:xfrm>
            <a:off x="548640" y="1554480"/>
            <a:ext cx="11064240" cy="960120"/>
          </a:xfrm>
          <a:prstGeom prst="roundRect">
            <a:avLst>
              <a:gd name="adj" fmla="val 7619"/>
            </a:avLst>
          </a:prstGeom>
          <a:solidFill>
            <a:srgbClr val="243047"/>
          </a:solidFill>
          <a:ln w="6350">
            <a:solidFill>
              <a:srgbClr val="A7BACB"/>
            </a:solidFill>
            <a:prstDash val="solid"/>
          </a:ln>
        </p:spPr>
        <p:txBody>
          <a:bodyPr/>
          <a:p/>
        </p:txBody>
      </p:sp>
      <p:sp>
        <p:nvSpPr>
          <p:cNvPr id="8" name="Text 6"/>
          <p:cNvSpPr/>
          <p:nvPr/>
        </p:nvSpPr>
        <p:spPr>
          <a:xfrm>
            <a:off x="822960" y="1664208"/>
            <a:ext cx="10515600" cy="731520"/>
          </a:xfrm>
          <a:prstGeom prst="rect">
            <a:avLst/>
          </a:prstGeom>
          <a:noFill/>
          <a:ln/>
        </p:spPr>
        <p:txBody>
          <a:bodyPr wrap="square" rtlCol="0" anchor="ctr"/>
          <a:lstStyle/>
          <a:p>
            <a:pPr indent="0" marL="0">
              <a:lnSpc>
                <a:spcPct val="102000"/>
              </a:lnSpc>
              <a:buNone/>
            </a:pPr>
            <a:r>
              <a:rPr lang="en-US" sz="1500" b="1" dirty="0">
                <a:solidFill>
                  <a:srgbClr val="FFFFFF"/>
                </a:solidFill>
                <a:latin typeface="Calibri" pitchFamily="34" charset="0"/>
                <a:ea typeface="Calibri" pitchFamily="34" charset="-122"/>
                <a:cs typeface="Calibri" pitchFamily="34" charset="-120"/>
              </a:rPr>
              <a:t>A wealthy 1890s steel magnate funds free public libraries across the country instead of leaving his entire fortune to his heirs. Whose philosophy does this best reflect, and why?</a:t>
            </a:r>
            <a:endParaRPr lang="en-US" sz="1500" dirty="0"/>
          </a:p>
        </p:txBody>
      </p:sp>
      <p:sp>
        <p:nvSpPr>
          <p:cNvPr id="9" name="Shape 7"/>
          <p:cNvSpPr/>
          <p:nvPr/>
        </p:nvSpPr>
        <p:spPr>
          <a:xfrm>
            <a:off x="548640" y="2651760"/>
            <a:ext cx="11064240" cy="566928"/>
          </a:xfrm>
          <a:prstGeom prst="roundRect">
            <a:avLst>
              <a:gd name="adj" fmla="val 9677"/>
            </a:avLst>
          </a:prstGeom>
          <a:solidFill>
            <a:srgbClr val="2C384F"/>
          </a:solidFill>
          <a:ln w="12700">
            <a:solidFill>
              <a:srgbClr val="F9A825"/>
            </a:solidFill>
            <a:prstDash val="solid"/>
          </a:ln>
        </p:spPr>
        <p:txBody>
          <a:bodyPr/>
          <a:p/>
        </p:txBody>
      </p:sp>
      <p:sp>
        <p:nvSpPr>
          <p:cNvPr id="10" name="Shape 8"/>
          <p:cNvSpPr/>
          <p:nvPr/>
        </p:nvSpPr>
        <p:spPr>
          <a:xfrm>
            <a:off x="713232" y="2761488"/>
            <a:ext cx="347472" cy="347472"/>
          </a:xfrm>
          <a:prstGeom prst="ellipse">
            <a:avLst/>
          </a:prstGeom>
          <a:solidFill>
            <a:srgbClr val="1F3A5F"/>
          </a:solidFill>
          <a:ln/>
        </p:spPr>
        <p:txBody>
          <a:bodyPr/>
          <a:p/>
        </p:txBody>
      </p:sp>
      <p:sp>
        <p:nvSpPr>
          <p:cNvPr id="11" name="Text 9"/>
          <p:cNvSpPr/>
          <p:nvPr/>
        </p:nvSpPr>
        <p:spPr>
          <a:xfrm>
            <a:off x="713232" y="2761488"/>
            <a:ext cx="347472" cy="347472"/>
          </a:xfrm>
          <a:prstGeom prst="rect">
            <a:avLst/>
          </a:prstGeom>
          <a:noFill/>
          <a:ln/>
        </p:spPr>
        <p:txBody>
          <a:bodyPr wrap="square" rtlCol="0" anchor="ctr"/>
          <a:lstStyle/>
          <a:p>
            <a:pPr algn="ctr" indent="0" marL="0">
              <a:buNone/>
            </a:pPr>
            <a:r>
              <a:rPr lang="en-US" sz="1300" b="1" dirty="0">
                <a:solidFill>
                  <a:srgbClr val="F9A825"/>
                </a:solidFill>
                <a:latin typeface="Trebuchet MS" pitchFamily="34" charset="0"/>
                <a:ea typeface="Trebuchet MS" pitchFamily="34" charset="-122"/>
                <a:cs typeface="Trebuchet MS" pitchFamily="34" charset="-120"/>
              </a:rPr>
              <a:t>A</a:t>
            </a:r>
            <a:endParaRPr lang="en-US" sz="1300" dirty="0"/>
          </a:p>
        </p:txBody>
      </p:sp>
      <p:sp>
        <p:nvSpPr>
          <p:cNvPr id="12" name="Text 10"/>
          <p:cNvSpPr/>
          <p:nvPr/>
        </p:nvSpPr>
        <p:spPr>
          <a:xfrm>
            <a:off x="1216152" y="2651760"/>
            <a:ext cx="9509760" cy="566928"/>
          </a:xfrm>
          <a:prstGeom prst="rect">
            <a:avLst/>
          </a:prstGeom>
          <a:noFill/>
          <a:ln/>
        </p:spPr>
        <p:txBody>
          <a:bodyPr wrap="square" rtlCol="0" anchor="ctr"/>
          <a:lstStyle/>
          <a:p>
            <a:pPr indent="0" marL="0">
              <a:lnSpc>
                <a:spcPct val="100000"/>
              </a:lnSpc>
              <a:buNone/>
            </a:pPr>
            <a:r>
              <a:rPr lang="en-US" sz="1300" b="1" dirty="0">
                <a:solidFill>
                  <a:srgbClr val="1F3A5F"/>
                </a:solidFill>
                <a:latin typeface="Calibri" pitchFamily="34" charset="0"/>
                <a:ea typeface="Calibri" pitchFamily="34" charset="-122"/>
                <a:cs typeface="Calibri" pitchFamily="34" charset="-120"/>
              </a:rPr>
              <a:t>Carnegie’s philosophy, because it displays wealth publicly to impress others.</a:t>
            </a:r>
            <a:endParaRPr lang="en-US" sz="1300" dirty="0"/>
          </a:p>
        </p:txBody>
      </p:sp>
      <p:sp>
        <p:nvSpPr>
          <p:cNvPr id="13" name="Text 11"/>
          <p:cNvSpPr/>
          <p:nvPr/>
        </p:nvSpPr>
        <p:spPr>
          <a:xfrm>
            <a:off x="11018520" y="4626864"/>
            <a:ext cx="457200" cy="566928"/>
          </a:xfrm>
          <a:prstGeom prst="rect">
            <a:avLst/>
          </a:prstGeom>
          <a:noFill/>
          <a:ln/>
        </p:spPr>
        <p:txBody>
          <a:bodyPr wrap="square" rtlCol="0" anchor="ctr"/>
          <a:lstStyle/>
          <a:p>
            <a:pPr algn="ctr" indent="0" marL="0">
              <a:buNone/>
            </a:pPr>
            <a:r>
              <a:rPr lang="en-US" sz="1700" b="1" dirty="0">
                <a:solidFill>
                  <a:srgbClr val="1F3A5F"/>
                </a:solidFill>
                <a:latin typeface="Calibri" pitchFamily="34" charset="0"/>
                <a:ea typeface="Calibri" pitchFamily="34" charset="-122"/>
                <a:cs typeface="Calibri" pitchFamily="34" charset="-120"/>
              </a:rPr>
              <a:t>✓</a:t>
            </a:r>
            <a:endParaRPr lang="en-US" sz="1700" dirty="0"/>
          </a:p>
        </p:txBody>
      </p:sp>
      <p:sp>
        <p:nvSpPr>
          <p:cNvPr id="14" name="Shape 12"/>
          <p:cNvSpPr/>
          <p:nvPr/>
        </p:nvSpPr>
        <p:spPr>
          <a:xfrm>
            <a:off x="548640" y="3310128"/>
            <a:ext cx="11064240" cy="566928"/>
          </a:xfrm>
          <a:prstGeom prst="roundRect">
            <a:avLst>
              <a:gd name="adj" fmla="val 9677"/>
            </a:avLst>
          </a:prstGeom>
          <a:solidFill>
            <a:srgbClr val="2C384F"/>
          </a:solidFill>
          <a:ln w="12700">
            <a:solidFill>
              <a:srgbClr val="3A475E"/>
            </a:solidFill>
            <a:prstDash val="solid"/>
          </a:ln>
        </p:spPr>
        <p:txBody>
          <a:bodyPr/>
          <a:p/>
        </p:txBody>
      </p:sp>
      <p:sp>
        <p:nvSpPr>
          <p:cNvPr id="15" name="Shape 13"/>
          <p:cNvSpPr/>
          <p:nvPr/>
        </p:nvSpPr>
        <p:spPr>
          <a:xfrm>
            <a:off x="713232" y="3419856"/>
            <a:ext cx="347472" cy="347472"/>
          </a:xfrm>
          <a:prstGeom prst="ellipse">
            <a:avLst/>
          </a:prstGeom>
          <a:solidFill>
            <a:srgbClr val="1F3A5F"/>
          </a:solidFill>
          <a:ln/>
        </p:spPr>
        <p:txBody>
          <a:bodyPr/>
          <a:p/>
        </p:txBody>
      </p:sp>
      <p:sp>
        <p:nvSpPr>
          <p:cNvPr id="16" name="Text 14"/>
          <p:cNvSpPr/>
          <p:nvPr/>
        </p:nvSpPr>
        <p:spPr>
          <a:xfrm>
            <a:off x="713232" y="3419856"/>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B</a:t>
            </a:r>
            <a:endParaRPr lang="en-US" sz="1300" dirty="0"/>
          </a:p>
        </p:txBody>
      </p:sp>
      <p:sp>
        <p:nvSpPr>
          <p:cNvPr id="17" name="Text 15"/>
          <p:cNvSpPr/>
          <p:nvPr/>
        </p:nvSpPr>
        <p:spPr>
          <a:xfrm>
            <a:off x="1216152" y="3310128"/>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The opposite of Carnegie’s view, because he insisted fortunes pass to children.</a:t>
            </a:r>
            <a:endParaRPr lang="en-US" sz="1300" dirty="0"/>
          </a:p>
        </p:txBody>
      </p:sp>
      <p:sp>
        <p:nvSpPr>
          <p:cNvPr id="18" name="Shape 16"/>
          <p:cNvSpPr/>
          <p:nvPr/>
        </p:nvSpPr>
        <p:spPr>
          <a:xfrm>
            <a:off x="548640" y="3968496"/>
            <a:ext cx="11064240" cy="566928"/>
          </a:xfrm>
          <a:prstGeom prst="roundRect">
            <a:avLst>
              <a:gd name="adj" fmla="val 9677"/>
            </a:avLst>
          </a:prstGeom>
          <a:solidFill>
            <a:srgbClr val="2C384F"/>
          </a:solidFill>
          <a:ln w="12700">
            <a:solidFill>
              <a:srgbClr val="3A475E"/>
            </a:solidFill>
            <a:prstDash val="solid"/>
          </a:ln>
        </p:spPr>
        <p:txBody>
          <a:bodyPr/>
          <a:p/>
        </p:txBody>
      </p:sp>
      <p:sp>
        <p:nvSpPr>
          <p:cNvPr id="19" name="Shape 17"/>
          <p:cNvSpPr/>
          <p:nvPr/>
        </p:nvSpPr>
        <p:spPr>
          <a:xfrm>
            <a:off x="713232" y="4078224"/>
            <a:ext cx="347472" cy="347472"/>
          </a:xfrm>
          <a:prstGeom prst="ellipse">
            <a:avLst/>
          </a:prstGeom>
          <a:solidFill>
            <a:srgbClr val="1F3A5F"/>
          </a:solidFill>
          <a:ln/>
        </p:spPr>
        <p:txBody>
          <a:bodyPr/>
          <a:p/>
        </p:txBody>
      </p:sp>
      <p:sp>
        <p:nvSpPr>
          <p:cNvPr id="20" name="Text 18"/>
          <p:cNvSpPr/>
          <p:nvPr/>
        </p:nvSpPr>
        <p:spPr>
          <a:xfrm>
            <a:off x="713232" y="4078224"/>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C</a:t>
            </a:r>
            <a:endParaRPr lang="en-US" sz="1300" dirty="0"/>
          </a:p>
        </p:txBody>
      </p:sp>
      <p:sp>
        <p:nvSpPr>
          <p:cNvPr id="21" name="Text 19"/>
          <p:cNvSpPr/>
          <p:nvPr/>
        </p:nvSpPr>
        <p:spPr>
          <a:xfrm>
            <a:off x="1216152" y="3968496"/>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The opposite of Carnegie’s view, because he opposed all charitable giving.</a:t>
            </a:r>
            <a:endParaRPr lang="en-US" sz="1300" dirty="0"/>
          </a:p>
        </p:txBody>
      </p:sp>
      <p:sp>
        <p:nvSpPr>
          <p:cNvPr id="22" name="Shape 20"/>
          <p:cNvSpPr/>
          <p:nvPr/>
        </p:nvSpPr>
        <p:spPr>
          <a:xfrm>
            <a:off x="548640" y="4626864"/>
            <a:ext cx="11064240" cy="566928"/>
          </a:xfrm>
          <a:prstGeom prst="roundRect">
            <a:avLst>
              <a:gd name="adj" fmla="val 9677"/>
            </a:avLst>
          </a:prstGeom>
          <a:solidFill>
            <a:srgbClr val="C9A227"/>
          </a:solidFill>
          <a:ln w="12700">
            <a:solidFill>
              <a:srgbClr val="3A475E"/>
            </a:solidFill>
            <a:prstDash val="solid"/>
          </a:ln>
        </p:spPr>
        <p:txBody>
          <a:bodyPr/>
          <a:p/>
        </p:txBody>
      </p:sp>
      <p:sp>
        <p:nvSpPr>
          <p:cNvPr id="23" name="Shape 21"/>
          <p:cNvSpPr/>
          <p:nvPr/>
        </p:nvSpPr>
        <p:spPr>
          <a:xfrm>
            <a:off x="713232" y="4736592"/>
            <a:ext cx="347472" cy="347472"/>
          </a:xfrm>
          <a:prstGeom prst="ellipse">
            <a:avLst/>
          </a:prstGeom>
          <a:solidFill>
            <a:srgbClr val="1F3A5F"/>
          </a:solidFill>
          <a:ln/>
        </p:spPr>
        <p:txBody>
          <a:bodyPr/>
          <a:p/>
        </p:txBody>
      </p:sp>
      <p:sp>
        <p:nvSpPr>
          <p:cNvPr id="24" name="Text 22"/>
          <p:cNvSpPr/>
          <p:nvPr/>
        </p:nvSpPr>
        <p:spPr>
          <a:xfrm>
            <a:off x="713232" y="4736592"/>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D</a:t>
            </a:r>
            <a:endParaRPr lang="en-US" sz="1300" dirty="0"/>
          </a:p>
        </p:txBody>
      </p:sp>
      <p:sp>
        <p:nvSpPr>
          <p:cNvPr id="25" name="Text 23"/>
          <p:cNvSpPr/>
          <p:nvPr/>
        </p:nvSpPr>
        <p:spPr>
          <a:xfrm>
            <a:off x="1216152" y="4626864"/>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Carnegie’s “Gospel of Wealth,” because surplus wealth is used as a trust to benefit society.</a:t>
            </a:r>
            <a:endParaRPr lang="en-US" sz="1300" dirty="0"/>
          </a:p>
        </p:txBody>
      </p:sp>
      <p:sp>
        <p:nvSpPr>
          <p:cNvPr id="26" name="Shape 24"/>
          <p:cNvSpPr/>
          <p:nvPr/>
        </p:nvSpPr>
        <p:spPr>
          <a:xfrm>
            <a:off x="548640" y="5440680"/>
            <a:ext cx="11064240" cy="868680"/>
          </a:xfrm>
          <a:prstGeom prst="roundRect">
            <a:avLst>
              <a:gd name="adj" fmla="val 8421"/>
            </a:avLst>
          </a:prstGeom>
          <a:solidFill>
            <a:srgbClr val="243047"/>
          </a:solidFill>
          <a:ln w="12700">
            <a:solidFill>
              <a:srgbClr val="F9A825"/>
            </a:solidFill>
            <a:prstDash val="solid"/>
          </a:ln>
        </p:spPr>
        <p:txBody>
          <a:bodyPr/>
          <a:p/>
        </p:txBody>
      </p:sp>
      <p:sp>
        <p:nvSpPr>
          <p:cNvPr id="27" name="Text 25"/>
          <p:cNvSpPr/>
          <p:nvPr/>
        </p:nvSpPr>
        <p:spPr>
          <a:xfrm>
            <a:off x="822960" y="5532120"/>
            <a:ext cx="10515600" cy="713232"/>
          </a:xfrm>
          <a:prstGeom prst="rect">
            <a:avLst/>
          </a:prstGeom>
          <a:noFill/>
          <a:ln/>
        </p:spPr>
        <p:txBody>
          <a:bodyPr wrap="square" rtlCol="0" anchor="ctr"/>
          <a:lstStyle/>
          <a:p>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Correct answer: D.  </a:t>
            </a:r>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Why: </a:t>
            </a:r>
            <a:pPr indent="0" marL="0">
              <a:lnSpc>
                <a:spcPct val="104000"/>
              </a:lnSpc>
              <a:buNone/>
            </a:pPr>
            <a:r>
              <a:rPr lang="en-US" sz="1150" dirty="0">
                <a:solidFill>
                  <a:srgbClr val="C7D4E0"/>
                </a:solidFill>
                <a:latin typeface="Calibri" pitchFamily="34" charset="0"/>
                <a:ea typeface="Calibri" pitchFamily="34" charset="-122"/>
                <a:cs typeface="Calibri" pitchFamily="34" charset="-120"/>
              </a:rPr>
              <a:t>DOK 2: Students apply the source to a new case. Carnegie argued the rich should live modestly and administer surplus wealth "as trust funds" for the public good — funding libraries is a textbook example of his Gospel of Wealth.</a:t>
            </a:r>
            <a:endParaRPr lang="en-US" sz="1150" dirty="0"/>
          </a:p>
        </p:txBody>
      </p:sp>
      <p:sp>
        <p:nvSpPr>
          <p:cNvPr id="29" name="Text 26"/>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0" name="Text 2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77</a:t>
            </a:r>
            <a:endParaRPr lang="en-US" sz="9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7">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F3A5F"/>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B22234"/>
                </a:solidFill>
                <a:latin typeface="Trebuchet MS" pitchFamily="34" charset="0"/>
                <a:ea typeface="Trebuchet MS" pitchFamily="34" charset="-122"/>
                <a:cs typeface="Trebuchet MS" pitchFamily="34" charset="-120"/>
              </a:rPr>
              <a:t>US.05 · WRAP-UP</a:t>
            </a:r>
            <a:endParaRPr lang="en-US" sz="1200" dirty="0"/>
          </a:p>
        </p:txBody>
      </p:sp>
      <p:sp>
        <p:nvSpPr>
          <p:cNvPr id="4" name="Text 2"/>
          <p:cNvSpPr/>
          <p:nvPr/>
        </p:nvSpPr>
        <p:spPr>
          <a:xfrm>
            <a:off x="548640" y="731520"/>
            <a:ext cx="11064240" cy="640080"/>
          </a:xfrm>
          <a:prstGeom prst="rect">
            <a:avLst/>
          </a:prstGeom>
          <a:noFill/>
          <a:ln/>
        </p:spPr>
        <p:txBody>
          <a:bodyPr wrap="square" rtlCol="0" anchor="ctr"/>
          <a:lstStyle/>
          <a:p>
            <a:pPr indent="0" marL="0">
              <a:buNone/>
            </a:pPr>
            <a:r>
              <a:rPr lang="en-US" sz="2800" b="1" dirty="0">
                <a:solidFill>
                  <a:srgbClr val="1F3A5F"/>
                </a:solidFill>
                <a:latin typeface="Georgia" pitchFamily="34" charset="0"/>
                <a:ea typeface="Georgia" pitchFamily="34" charset="-122"/>
                <a:cs typeface="Georgia" pitchFamily="34" charset="-120"/>
              </a:rPr>
              <a:t>What You Need to Know for TCAP</a:t>
            </a:r>
            <a:endParaRPr lang="en-US" sz="2800" dirty="0"/>
          </a:p>
        </p:txBody>
      </p:sp>
      <p:sp>
        <p:nvSpPr>
          <p:cNvPr id="5" name="Shape 3"/>
          <p:cNvSpPr/>
          <p:nvPr/>
        </p:nvSpPr>
        <p:spPr>
          <a:xfrm>
            <a:off x="548640" y="1691640"/>
            <a:ext cx="7040880" cy="2971800"/>
          </a:xfrm>
          <a:prstGeom prst="rect">
            <a:avLst/>
          </a:prstGeom>
          <a:solidFill>
            <a:srgbClr val="FFFFFF"/>
          </a:solidFill>
          <a:ln w="12700">
            <a:solidFill>
              <a:srgbClr val="DAD3C2"/>
            </a:solidFill>
            <a:prstDash val="solid"/>
          </a:ln>
        </p:spPr>
        <p:txBody>
          <a:bodyPr/>
          <a:p/>
        </p:txBody>
      </p:sp>
      <p:sp>
        <p:nvSpPr>
          <p:cNvPr id="6" name="Text 4"/>
          <p:cNvSpPr/>
          <p:nvPr/>
        </p:nvSpPr>
        <p:spPr>
          <a:xfrm>
            <a:off x="868680" y="1847088"/>
            <a:ext cx="5486400" cy="320040"/>
          </a:xfrm>
          <a:prstGeom prst="rect">
            <a:avLst/>
          </a:prstGeom>
          <a:noFill/>
          <a:ln/>
        </p:spPr>
        <p:txBody>
          <a:bodyPr wrap="square" rtlCol="0" anchor="ctr"/>
          <a:lstStyle/>
          <a:p>
            <a:pPr indent="0" marL="0">
              <a:buNone/>
            </a:pPr>
            <a:r>
              <a:rPr lang="en-US" sz="1200" b="1" spc="200" kern="0" dirty="0">
                <a:solidFill>
                  <a:srgbClr val="B22234"/>
                </a:solidFill>
                <a:latin typeface="Trebuchet MS" pitchFamily="34" charset="0"/>
                <a:ea typeface="Trebuchet MS" pitchFamily="34" charset="-122"/>
                <a:cs typeface="Trebuchet MS" pitchFamily="34" charset="-120"/>
              </a:rPr>
              <a:t>KEY TAKEAWAYS</a:t>
            </a:r>
            <a:endParaRPr lang="en-US" sz="1200" dirty="0"/>
          </a:p>
        </p:txBody>
      </p:sp>
      <p:sp>
        <p:nvSpPr>
          <p:cNvPr id="7" name="Text 5"/>
          <p:cNvSpPr/>
          <p:nvPr/>
        </p:nvSpPr>
        <p:spPr>
          <a:xfrm>
            <a:off x="868680" y="2212848"/>
            <a:ext cx="6492240" cy="2331720"/>
          </a:xfrm>
          <a:prstGeom prst="rect">
            <a:avLst/>
          </a:prstGeom>
          <a:noFill/>
          <a:ln/>
        </p:spPr>
        <p:txBody>
          <a:bodyPr wrap="square" rtlCol="0" anchor="t"/>
          <a:lstStyle/>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Technological Innovations</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Industrial Titans</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African American Entrepreneurs</a:t>
            </a:r>
            <a:endParaRPr lang="en-US" sz="1500" dirty="0"/>
          </a:p>
        </p:txBody>
      </p:sp>
      <p:sp>
        <p:nvSpPr>
          <p:cNvPr id="8" name="Shape 6"/>
          <p:cNvSpPr/>
          <p:nvPr/>
        </p:nvSpPr>
        <p:spPr>
          <a:xfrm>
            <a:off x="548640" y="4800600"/>
            <a:ext cx="7040880" cy="1005840"/>
          </a:xfrm>
          <a:prstGeom prst="roundRect">
            <a:avLst>
              <a:gd name="adj" fmla="val 7273"/>
            </a:avLst>
          </a:prstGeom>
          <a:solidFill>
            <a:srgbClr val="F3EAD0"/>
          </a:solidFill>
          <a:ln w="12700">
            <a:solidFill>
              <a:srgbClr val="C9A227"/>
            </a:solidFill>
            <a:prstDash val="solid"/>
          </a:ln>
        </p:spPr>
        <p:txBody>
          <a:bodyPr/>
          <a:p/>
        </p:txBody>
      </p:sp>
      <p:sp>
        <p:nvSpPr>
          <p:cNvPr id="9" name="Text 7"/>
          <p:cNvSpPr/>
          <p:nvPr/>
        </p:nvSpPr>
        <p:spPr>
          <a:xfrm>
            <a:off x="822960" y="4901184"/>
            <a:ext cx="6492240" cy="274320"/>
          </a:xfrm>
          <a:prstGeom prst="rect">
            <a:avLst/>
          </a:prstGeom>
          <a:noFill/>
          <a:ln/>
        </p:spPr>
        <p:txBody>
          <a:bodyPr wrap="square" rtlCol="0" anchor="ctr"/>
          <a:lstStyle/>
          <a:p>
            <a:pPr indent="0" marL="0">
              <a:buNone/>
            </a:pPr>
            <a:r>
              <a:rPr lang="en-US" sz="1100" b="1" spc="100" kern="0" dirty="0">
                <a:solidFill>
                  <a:srgbClr val="7A5C12"/>
                </a:solidFill>
                <a:latin typeface="Trebuchet MS" pitchFamily="34" charset="0"/>
                <a:ea typeface="Trebuchet MS" pitchFamily="34" charset="-122"/>
                <a:cs typeface="Trebuchet MS" pitchFamily="34" charset="-120"/>
              </a:rPr>
              <a:t>★ EXTENSION  </a:t>
            </a:r>
            <a:pPr indent="0" marL="0">
              <a:buNone/>
            </a:pPr>
            <a:r>
              <a:rPr lang="en-US" sz="950" b="1" dirty="0">
                <a:solidFill>
                  <a:srgbClr val="5C6470"/>
                </a:solidFill>
                <a:latin typeface="Trebuchet MS" pitchFamily="34" charset="0"/>
                <a:ea typeface="Trebuchet MS" pitchFamily="34" charset="-122"/>
                <a:cs typeface="Trebuchet MS" pitchFamily="34" charset="-120"/>
              </a:rPr>
              <a:t>DOK 3 · SSP.04 Argumentation</a:t>
            </a:r>
            <a:endParaRPr lang="en-US" sz="1100" dirty="0"/>
          </a:p>
        </p:txBody>
      </p:sp>
      <p:sp>
        <p:nvSpPr>
          <p:cNvPr id="10" name="Text 8"/>
          <p:cNvSpPr/>
          <p:nvPr/>
        </p:nvSpPr>
        <p:spPr>
          <a:xfrm>
            <a:off x="822960" y="5175504"/>
            <a:ext cx="6492240" cy="566928"/>
          </a:xfrm>
          <a:prstGeom prst="rect">
            <a:avLst/>
          </a:prstGeom>
          <a:noFill/>
          <a:ln/>
        </p:spPr>
        <p:txBody>
          <a:bodyPr wrap="square" rtlCol="0" anchor="t"/>
          <a:lstStyle/>
          <a:p>
            <a:pPr indent="0" marL="0">
              <a:lnSpc>
                <a:spcPct val="100000"/>
              </a:lnSpc>
              <a:buNone/>
            </a:pPr>
            <a:r>
              <a:rPr lang="en-US" sz="1250" i="1" dirty="0">
                <a:solidFill>
                  <a:srgbClr val="1F2430"/>
                </a:solidFill>
                <a:latin typeface="Calibri" pitchFamily="34" charset="0"/>
                <a:ea typeface="Calibri" pitchFamily="34" charset="-122"/>
                <a:cs typeface="Calibri" pitchFamily="34" charset="-120"/>
              </a:rPr>
              <a:t>Evaluate the “Gospel of Wealth”: does large-scale philanthropy justify how the fortune was earned? Defend your judgment with evidence.</a:t>
            </a:r>
            <a:endParaRPr lang="en-US" sz="1250" dirty="0"/>
          </a:p>
        </p:txBody>
      </p:sp>
      <p:sp>
        <p:nvSpPr>
          <p:cNvPr id="11" name="Shape 9"/>
          <p:cNvSpPr/>
          <p:nvPr/>
        </p:nvSpPr>
        <p:spPr>
          <a:xfrm>
            <a:off x="7818120" y="1691640"/>
            <a:ext cx="3794760" cy="4114800"/>
          </a:xfrm>
          <a:prstGeom prst="roundRect">
            <a:avLst>
              <a:gd name="adj" fmla="val 2410"/>
            </a:avLst>
          </a:prstGeom>
          <a:solidFill>
            <a:srgbClr val="1F3A5F"/>
          </a:solidFill>
          <a:ln/>
        </p:spPr>
        <p:txBody>
          <a:bodyPr/>
          <a:p/>
        </p:txBody>
      </p:sp>
      <p:sp>
        <p:nvSpPr>
          <p:cNvPr id="12" name="Text 10"/>
          <p:cNvSpPr/>
          <p:nvPr/>
        </p:nvSpPr>
        <p:spPr>
          <a:xfrm>
            <a:off x="8092440" y="1920240"/>
            <a:ext cx="2286000" cy="320040"/>
          </a:xfrm>
          <a:prstGeom prst="rect">
            <a:avLst/>
          </a:prstGeom>
          <a:noFill/>
          <a:ln/>
        </p:spPr>
        <p:txBody>
          <a:bodyPr wrap="square" rtlCol="0" anchor="ctr"/>
          <a:lstStyle/>
          <a:p>
            <a:pPr indent="0" marL="0">
              <a:buNone/>
            </a:pPr>
            <a:r>
              <a:rPr lang="en-US" sz="1200" b="1" spc="200" kern="0" dirty="0">
                <a:solidFill>
                  <a:srgbClr val="F9A825"/>
                </a:solidFill>
                <a:latin typeface="Trebuchet MS" pitchFamily="34" charset="0"/>
                <a:ea typeface="Trebuchet MS" pitchFamily="34" charset="-122"/>
                <a:cs typeface="Trebuchet MS" pitchFamily="34" charset="-120"/>
              </a:rPr>
              <a:t>EXIT TICKET</a:t>
            </a:r>
            <a:endParaRPr lang="en-US" sz="1200" dirty="0"/>
          </a:p>
        </p:txBody>
      </p:sp>
      <p:sp>
        <p:nvSpPr>
          <p:cNvPr id="13" name="Shape 11"/>
          <p:cNvSpPr/>
          <p:nvPr/>
        </p:nvSpPr>
        <p:spPr>
          <a:xfrm>
            <a:off x="10378440" y="1883664"/>
            <a:ext cx="960120" cy="365760"/>
          </a:xfrm>
          <a:prstGeom prst="roundRect">
            <a:avLst>
              <a:gd name="adj" fmla="val 20000"/>
            </a:avLst>
          </a:prstGeom>
          <a:solidFill>
            <a:srgbClr val="243047"/>
          </a:solidFill>
          <a:ln w="9525">
            <a:solidFill>
              <a:srgbClr val="C9A227"/>
            </a:solidFill>
            <a:prstDash val="solid"/>
          </a:ln>
        </p:spPr>
        <p:txBody>
          <a:bodyPr/>
          <a:p/>
        </p:txBody>
      </p:sp>
      <p:sp>
        <p:nvSpPr>
          <p:cNvPr id="14" name="Text 12"/>
          <p:cNvSpPr/>
          <p:nvPr/>
        </p:nvSpPr>
        <p:spPr>
          <a:xfrm>
            <a:off x="10378440" y="1883664"/>
            <a:ext cx="960120" cy="365760"/>
          </a:xfrm>
          <a:prstGeom prst="rect">
            <a:avLst/>
          </a:prstGeom>
          <a:noFill/>
          <a:ln/>
        </p:spPr>
        <p:txBody>
          <a:bodyPr wrap="square" rtlCol="0" anchor="ctr"/>
          <a:lstStyle/>
          <a:p>
            <a:pPr algn="ctr" indent="0" marL="0">
              <a:buNone/>
            </a:pPr>
            <a:r>
              <a:rPr lang="en-US" sz="1000" b="1" dirty="0">
                <a:solidFill>
                  <a:srgbClr val="F9A825"/>
                </a:solidFill>
                <a:latin typeface="Trebuchet MS" pitchFamily="34" charset="0"/>
                <a:ea typeface="Trebuchet MS" pitchFamily="34" charset="-122"/>
                <a:cs typeface="Trebuchet MS" pitchFamily="34" charset="-120"/>
              </a:rPr>
              <a:t>DOK 3</a:t>
            </a:r>
            <a:endParaRPr lang="en-US" sz="1000" dirty="0"/>
          </a:p>
        </p:txBody>
      </p:sp>
      <p:sp>
        <p:nvSpPr>
          <p:cNvPr id="15" name="Text 13"/>
          <p:cNvSpPr/>
          <p:nvPr/>
        </p:nvSpPr>
        <p:spPr>
          <a:xfrm>
            <a:off x="8092440" y="2377440"/>
            <a:ext cx="3246120" cy="1828800"/>
          </a:xfrm>
          <a:prstGeom prst="rect">
            <a:avLst/>
          </a:prstGeom>
          <a:noFill/>
          <a:ln/>
        </p:spPr>
        <p:txBody>
          <a:bodyPr wrap="square" rtlCol="0" anchor="t"/>
          <a:lstStyle/>
          <a:p>
            <a:pPr indent="0" marL="0">
              <a:lnSpc>
                <a:spcPct val="110000"/>
              </a:lnSpc>
              <a:buNone/>
            </a:pPr>
            <a:r>
              <a:rPr lang="en-US" sz="1350" dirty="0">
                <a:solidFill>
                  <a:srgbClr val="FFFFFF"/>
                </a:solidFill>
                <a:latin typeface="Calibri" pitchFamily="34" charset="0"/>
                <a:ea typeface="Calibri" pitchFamily="34" charset="-122"/>
                <a:cs typeface="Calibri" pitchFamily="34" charset="-120"/>
              </a:rPr>
              <a:t>Was a figure like Rockefeller a “robber baron” or a “captain of industry”? Take a position and cite ONE piece of evidence.</a:t>
            </a:r>
            <a:endParaRPr lang="en-US" sz="1350" dirty="0"/>
          </a:p>
        </p:txBody>
      </p:sp>
      <p:sp>
        <p:nvSpPr>
          <p:cNvPr id="16" name="Shape 14"/>
          <p:cNvSpPr/>
          <p:nvPr/>
        </p:nvSpPr>
        <p:spPr>
          <a:xfrm>
            <a:off x="8138160" y="4526280"/>
            <a:ext cx="3108960" cy="0"/>
          </a:xfrm>
          <a:prstGeom prst="line">
            <a:avLst/>
          </a:prstGeom>
          <a:noFill/>
          <a:ln w="12700">
            <a:solidFill>
              <a:srgbClr val="A7BACB"/>
            </a:solidFill>
            <a:prstDash val="dash"/>
          </a:ln>
        </p:spPr>
        <p:txBody>
          <a:bodyPr/>
          <a:p/>
        </p:txBody>
      </p:sp>
      <p:sp>
        <p:nvSpPr>
          <p:cNvPr id="17" name="Shape 15"/>
          <p:cNvSpPr/>
          <p:nvPr/>
        </p:nvSpPr>
        <p:spPr>
          <a:xfrm>
            <a:off x="8138160" y="5074920"/>
            <a:ext cx="3108960" cy="0"/>
          </a:xfrm>
          <a:prstGeom prst="line">
            <a:avLst/>
          </a:prstGeom>
          <a:noFill/>
          <a:ln w="12700">
            <a:solidFill>
              <a:srgbClr val="A7BACB"/>
            </a:solidFill>
            <a:prstDash val="dash"/>
          </a:ln>
        </p:spPr>
        <p:txBody>
          <a:bodyPr/>
          <a:p/>
        </p:txBody>
      </p:sp>
      <p:sp>
        <p:nvSpPr>
          <p:cNvPr id="18" name="Shape 16"/>
          <p:cNvSpPr/>
          <p:nvPr/>
        </p:nvSpPr>
        <p:spPr>
          <a:xfrm>
            <a:off x="8138160" y="5623560"/>
            <a:ext cx="3108960" cy="0"/>
          </a:xfrm>
          <a:prstGeom prst="line">
            <a:avLst/>
          </a:prstGeom>
          <a:noFill/>
          <a:ln w="12700">
            <a:solidFill>
              <a:srgbClr val="A7BACB"/>
            </a:solidFill>
            <a:prstDash val="dash"/>
          </a:ln>
        </p:spPr>
        <p:txBody>
          <a:bodyPr/>
          <a:p/>
        </p:txBody>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78</a:t>
            </a:r>
            <a:endParaRPr lang="en-US" sz="900" dirty="0"/>
          </a:p>
        </p:txBody>
      </p:sp>
      <p:sp>
        <p:nvSpPr>
          <p:cNvPr id="22" name="Rectangle 21"/>
          <p:cNvSpPr/>
          <p:nvPr/>
        </p:nvSpPr>
        <p:spPr>
          <a:xfrm>
            <a:off x="457200" y="5870448"/>
            <a:ext cx="11274552" cy="512064"/>
          </a:xfrm>
          <a:prstGeom prst="rect">
            <a:avLst/>
          </a:prstGeom>
          <a:solidFill>
            <a:srgbClr val="232F40"/>
          </a:solidFill>
          <a:ln w="12700">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3504" y="5907024"/>
            <a:ext cx="10972800" cy="457200"/>
          </a:xfrm>
          <a:prstGeom prst="rect">
            <a:avLst/>
          </a:prstGeom>
          <a:noFill/>
        </p:spPr>
        <p:txBody>
          <a:bodyPr wrap="square" anchor="t" lIns="0" rIns="0" tIns="0" bIns="0">
            <a:spAutoFit/>
          </a:bodyPr>
          <a:lstStyle/>
          <a:p>
            <a:pPr algn="l">
              <a:spcBef>
                <a:spcPts val="0"/>
              </a:spcBef>
              <a:spcAft>
                <a:spcPts val="0"/>
              </a:spcAft>
            </a:pPr>
            <a:r>
              <a:rPr sz="1000" b="1">
                <a:solidFill>
                  <a:srgbClr val="C9A227"/>
                </a:solidFill>
                <a:latin typeface="Trebuchet MS"/>
              </a:rPr>
              <a:t>TEACHER DECISION BAND   </a:t>
            </a:r>
            <a:r>
              <a:rPr sz="1000" b="0">
                <a:solidFill>
                  <a:srgbClr val="FFFFFF"/>
                </a:solidFill>
                <a:latin typeface="Calibri"/>
              </a:rPr>
              <a:t>PROGRESS CHECK → identify barrier → select support → reteach → recheck → extend</a:t>
            </a:r>
          </a:p>
          <a:p>
            <a:pPr algn="l">
              <a:spcBef>
                <a:spcPts val="0"/>
              </a:spcBef>
              <a:spcAft>
                <a:spcPts val="0"/>
              </a:spcAft>
            </a:pPr>
            <a:r>
              <a:rPr sz="1000" b="1">
                <a:solidFill>
                  <a:srgbClr val="C9A227"/>
                </a:solidFill>
                <a:latin typeface="Trebuchet MS"/>
              </a:rPr>
              <a:t>SCAFFOLD FADING   </a:t>
            </a:r>
            <a:r>
              <a:rPr sz="1000" b="0">
                <a:solidFill>
                  <a:srgbClr val="C7D4E0"/>
                </a:solidFill>
                <a:latin typeface="Calibri"/>
              </a:rPr>
              <a:t>Guided → Light → independent as evidence grows; required IEP/504 supports do not fade unless the authorized team changes them.</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8">
    <p:bg>
      <p:bgPr>
        <a:solidFill>
          <a:srgbClr val="1F3A5F"/>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B22234"/>
          </a:solidFill>
          <a:ln/>
        </p:spPr>
        <p:txBody>
          <a:bodyPr/>
          <a:p/>
        </p:txBody>
      </p:sp>
      <p:sp>
        <p:nvSpPr>
          <p:cNvPr id="3" name="Shape 1"/>
          <p:cNvSpPr/>
          <p:nvPr/>
        </p:nvSpPr>
        <p:spPr>
          <a:xfrm>
            <a:off x="320040" y="0"/>
            <a:ext cx="109728" cy="6858000"/>
          </a:xfrm>
          <a:prstGeom prst="rect">
            <a:avLst/>
          </a:prstGeom>
          <a:solidFill>
            <a:srgbClr val="C9A227"/>
          </a:solidFill>
          <a:ln/>
        </p:spPr>
        <p:txBody>
          <a:bodyPr/>
          <a:p/>
        </p:txBody>
      </p:sp>
      <p:sp>
        <p:nvSpPr>
          <p:cNvPr id="4" name="Text 2"/>
          <p:cNvSpPr/>
          <p:nvPr/>
        </p:nvSpPr>
        <p:spPr>
          <a:xfrm>
            <a:off x="914400" y="1005840"/>
            <a:ext cx="5486400" cy="365760"/>
          </a:xfrm>
          <a:prstGeom prst="rect">
            <a:avLst/>
          </a:prstGeom>
          <a:noFill/>
          <a:ln/>
        </p:spPr>
        <p:txBody>
          <a:bodyPr wrap="square" rtlCol="0" anchor="ctr"/>
          <a:lstStyle/>
          <a:p>
            <a:pPr indent="0" marL="0">
              <a:buNone/>
            </a:pPr>
            <a:r>
              <a:rPr lang="en-US" sz="1500" b="1" spc="400" kern="0" dirty="0">
                <a:solidFill>
                  <a:srgbClr val="F9A825"/>
                </a:solidFill>
                <a:latin typeface="Trebuchet MS" pitchFamily="34" charset="0"/>
                <a:ea typeface="Trebuchet MS" pitchFamily="34" charset="-122"/>
                <a:cs typeface="Trebuchet MS" pitchFamily="34" charset="-120"/>
              </a:rPr>
              <a:t>STANDARD</a:t>
            </a:r>
            <a:endParaRPr lang="en-US" sz="1500" dirty="0"/>
          </a:p>
        </p:txBody>
      </p:sp>
      <p:sp>
        <p:nvSpPr>
          <p:cNvPr id="5" name="Text 3"/>
          <p:cNvSpPr/>
          <p:nvPr/>
        </p:nvSpPr>
        <p:spPr>
          <a:xfrm>
            <a:off x="868680" y="1325880"/>
            <a:ext cx="5486400" cy="1371600"/>
          </a:xfrm>
          <a:prstGeom prst="rect">
            <a:avLst/>
          </a:prstGeom>
          <a:noFill/>
          <a:ln/>
        </p:spPr>
        <p:txBody>
          <a:bodyPr wrap="square" rtlCol="0" anchor="ctr"/>
          <a:lstStyle/>
          <a:p>
            <a:pPr indent="0" marL="0">
              <a:buNone/>
            </a:pPr>
            <a:r>
              <a:rPr lang="en-US" sz="8800" b="1" dirty="0">
                <a:solidFill>
                  <a:srgbClr val="FFFFFF"/>
                </a:solidFill>
                <a:latin typeface="Georgia" pitchFamily="34" charset="0"/>
                <a:ea typeface="Georgia" pitchFamily="34" charset="-122"/>
                <a:cs typeface="Georgia" pitchFamily="34" charset="-120"/>
              </a:rPr>
              <a:t>US.06</a:t>
            </a:r>
            <a:endParaRPr lang="en-US" sz="8800" dirty="0"/>
          </a:p>
        </p:txBody>
      </p:sp>
      <p:sp>
        <p:nvSpPr>
          <p:cNvPr id="6" name="Text 4"/>
          <p:cNvSpPr/>
          <p:nvPr/>
        </p:nvSpPr>
        <p:spPr>
          <a:xfrm>
            <a:off x="914400" y="2670048"/>
            <a:ext cx="5577840" cy="1234440"/>
          </a:xfrm>
          <a:prstGeom prst="rect">
            <a:avLst/>
          </a:prstGeom>
          <a:noFill/>
          <a:ln/>
        </p:spPr>
        <p:txBody>
          <a:bodyPr wrap="square" rtlCol="0" anchor="t"/>
          <a:lstStyle/>
          <a:p>
            <a:pPr indent="0" marL="0">
              <a:lnSpc>
                <a:spcPct val="102000"/>
              </a:lnSpc>
              <a:buNone/>
            </a:pPr>
            <a:r>
              <a:rPr lang="en-US" sz="2400" i="1" dirty="0">
                <a:solidFill>
                  <a:srgbClr val="F9A825"/>
                </a:solidFill>
                <a:latin typeface="Georgia" pitchFamily="34" charset="0"/>
                <a:ea typeface="Georgia" pitchFamily="34" charset="-122"/>
                <a:cs typeface="Georgia" pitchFamily="34" charset="-120"/>
              </a:rPr>
              <a:t>Industrial Centers and Urbanization</a:t>
            </a:r>
            <a:endParaRPr lang="en-US" sz="2400" dirty="0"/>
          </a:p>
        </p:txBody>
      </p:sp>
      <p:sp>
        <p:nvSpPr>
          <p:cNvPr id="7" name="Text 5"/>
          <p:cNvSpPr/>
          <p:nvPr/>
        </p:nvSpPr>
        <p:spPr>
          <a:xfrm>
            <a:off x="6812280" y="1078992"/>
            <a:ext cx="4480560" cy="274320"/>
          </a:xfrm>
          <a:prstGeom prst="rect">
            <a:avLst/>
          </a:prstGeom>
          <a:noFill/>
          <a:ln/>
        </p:spPr>
        <p:txBody>
          <a:bodyPr wrap="square" rtlCol="0" anchor="ctr"/>
          <a:lstStyle/>
          <a:p>
            <a:pPr algn="l" indent="0" marL="0">
              <a:buNone/>
            </a:pPr>
            <a:r>
              <a:rPr lang="en-US" sz="1100" b="1" spc="200" kern="0" dirty="0">
                <a:solidFill>
                  <a:srgbClr val="A7BACB"/>
                </a:solidFill>
                <a:latin typeface="Trebuchet MS" pitchFamily="34" charset="0"/>
                <a:ea typeface="Trebuchet MS" pitchFamily="34" charset="-122"/>
                <a:cs typeface="Trebuchet MS" pitchFamily="34" charset="-120"/>
              </a:rPr>
              <a:t>SOCIAL STUDIES PRACTICES</a:t>
            </a:r>
            <a:endParaRPr lang="en-US" sz="1100" dirty="0"/>
          </a:p>
        </p:txBody>
      </p:sp>
      <p:sp>
        <p:nvSpPr>
          <p:cNvPr id="8" name="Shape 6"/>
          <p:cNvSpPr/>
          <p:nvPr/>
        </p:nvSpPr>
        <p:spPr>
          <a:xfrm>
            <a:off x="6812280" y="1417320"/>
            <a:ext cx="1078992" cy="292608"/>
          </a:xfrm>
          <a:prstGeom prst="roundRect">
            <a:avLst>
              <a:gd name="adj" fmla="val 18750"/>
            </a:avLst>
          </a:prstGeom>
          <a:solidFill>
            <a:srgbClr val="C9A227"/>
          </a:solidFill>
          <a:ln/>
        </p:spPr>
        <p:txBody>
          <a:bodyPr/>
          <a:p/>
        </p:txBody>
      </p:sp>
      <p:sp>
        <p:nvSpPr>
          <p:cNvPr id="9" name="Text 7"/>
          <p:cNvSpPr/>
          <p:nvPr/>
        </p:nvSpPr>
        <p:spPr>
          <a:xfrm>
            <a:off x="6812280" y="1417320"/>
            <a:ext cx="1078992" cy="292608"/>
          </a:xfrm>
          <a:prstGeom prst="rect">
            <a:avLst/>
          </a:prstGeom>
          <a:noFill/>
          <a:ln/>
        </p:spPr>
        <p:txBody>
          <a:bodyPr wrap="square" rtlCol="0" anchor="ctr"/>
          <a:lstStyle/>
          <a:p>
            <a:pPr algn="ctr" indent="0" marL="0">
              <a:buNone/>
            </a:pPr>
            <a:r>
              <a:rPr lang="en-US" sz="1100" b="1" dirty="0">
                <a:solidFill>
                  <a:srgbClr val="1F3A5F"/>
                </a:solidFill>
                <a:latin typeface="Trebuchet MS" pitchFamily="34" charset="0"/>
                <a:ea typeface="Trebuchet MS" pitchFamily="34" charset="-122"/>
                <a:cs typeface="Trebuchet MS" pitchFamily="34" charset="-120"/>
              </a:rPr>
              <a:t>SSP.01</a:t>
            </a:r>
            <a:endParaRPr lang="en-US" sz="1100" dirty="0"/>
          </a:p>
        </p:txBody>
      </p:sp>
      <p:sp>
        <p:nvSpPr>
          <p:cNvPr id="10" name="Text 8"/>
          <p:cNvSpPr/>
          <p:nvPr/>
        </p:nvSpPr>
        <p:spPr>
          <a:xfrm>
            <a:off x="7973568" y="1417320"/>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Collect sources</a:t>
            </a:r>
            <a:endParaRPr lang="en-US" sz="1150" dirty="0"/>
          </a:p>
        </p:txBody>
      </p:sp>
      <p:sp>
        <p:nvSpPr>
          <p:cNvPr id="11" name="Shape 9"/>
          <p:cNvSpPr/>
          <p:nvPr/>
        </p:nvSpPr>
        <p:spPr>
          <a:xfrm>
            <a:off x="6812280" y="1755648"/>
            <a:ext cx="1078992" cy="292608"/>
          </a:xfrm>
          <a:prstGeom prst="roundRect">
            <a:avLst>
              <a:gd name="adj" fmla="val 18750"/>
            </a:avLst>
          </a:prstGeom>
          <a:solidFill>
            <a:srgbClr val="C9A227"/>
          </a:solidFill>
          <a:ln/>
        </p:spPr>
        <p:txBody>
          <a:bodyPr/>
          <a:p/>
        </p:txBody>
      </p:sp>
      <p:sp>
        <p:nvSpPr>
          <p:cNvPr id="12" name="Text 10"/>
          <p:cNvSpPr/>
          <p:nvPr/>
        </p:nvSpPr>
        <p:spPr>
          <a:xfrm>
            <a:off x="6812280" y="1755648"/>
            <a:ext cx="1078992" cy="292608"/>
          </a:xfrm>
          <a:prstGeom prst="rect">
            <a:avLst/>
          </a:prstGeom>
          <a:noFill/>
          <a:ln/>
        </p:spPr>
        <p:txBody>
          <a:bodyPr wrap="square" rtlCol="0" anchor="ctr"/>
          <a:lstStyle/>
          <a:p>
            <a:pPr algn="ctr" indent="0" marL="0">
              <a:buNone/>
            </a:pPr>
            <a:r>
              <a:rPr lang="en-US" sz="1100" b="1" dirty="0">
                <a:solidFill>
                  <a:srgbClr val="1F3A5F"/>
                </a:solidFill>
                <a:latin typeface="Trebuchet MS" pitchFamily="34" charset="0"/>
                <a:ea typeface="Trebuchet MS" pitchFamily="34" charset="-122"/>
                <a:cs typeface="Trebuchet MS" pitchFamily="34" charset="-120"/>
              </a:rPr>
              <a:t>SSP.05</a:t>
            </a:r>
            <a:endParaRPr lang="en-US" sz="1100" dirty="0"/>
          </a:p>
        </p:txBody>
      </p:sp>
      <p:sp>
        <p:nvSpPr>
          <p:cNvPr id="13" name="Text 11"/>
          <p:cNvSpPr/>
          <p:nvPr/>
        </p:nvSpPr>
        <p:spPr>
          <a:xfrm>
            <a:off x="7973568" y="1755648"/>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Historical awareness</a:t>
            </a:r>
            <a:endParaRPr lang="en-US" sz="1150" dirty="0"/>
          </a:p>
        </p:txBody>
      </p:sp>
      <p:sp>
        <p:nvSpPr>
          <p:cNvPr id="14" name="Shape 12"/>
          <p:cNvSpPr/>
          <p:nvPr/>
        </p:nvSpPr>
        <p:spPr>
          <a:xfrm>
            <a:off x="6812280" y="2093976"/>
            <a:ext cx="1078992" cy="292608"/>
          </a:xfrm>
          <a:prstGeom prst="roundRect">
            <a:avLst>
              <a:gd name="adj" fmla="val 18750"/>
            </a:avLst>
          </a:prstGeom>
          <a:solidFill>
            <a:srgbClr val="C9A227"/>
          </a:solidFill>
          <a:ln/>
        </p:spPr>
        <p:txBody>
          <a:bodyPr/>
          <a:p/>
        </p:txBody>
      </p:sp>
      <p:sp>
        <p:nvSpPr>
          <p:cNvPr id="15" name="Text 13"/>
          <p:cNvSpPr/>
          <p:nvPr/>
        </p:nvSpPr>
        <p:spPr>
          <a:xfrm>
            <a:off x="6812280" y="2093976"/>
            <a:ext cx="1078992" cy="292608"/>
          </a:xfrm>
          <a:prstGeom prst="rect">
            <a:avLst/>
          </a:prstGeom>
          <a:noFill/>
          <a:ln/>
        </p:spPr>
        <p:txBody>
          <a:bodyPr wrap="square" rtlCol="0" anchor="ctr"/>
          <a:lstStyle/>
          <a:p>
            <a:pPr algn="ctr" indent="0" marL="0">
              <a:buNone/>
            </a:pPr>
            <a:r>
              <a:rPr lang="en-US" sz="1100" b="1" dirty="0">
                <a:solidFill>
                  <a:srgbClr val="1F3A5F"/>
                </a:solidFill>
                <a:latin typeface="Trebuchet MS" pitchFamily="34" charset="0"/>
                <a:ea typeface="Trebuchet MS" pitchFamily="34" charset="-122"/>
                <a:cs typeface="Trebuchet MS" pitchFamily="34" charset="-120"/>
              </a:rPr>
              <a:t>SSP.06</a:t>
            </a:r>
            <a:endParaRPr lang="en-US" sz="1100" dirty="0"/>
          </a:p>
        </p:txBody>
      </p:sp>
      <p:sp>
        <p:nvSpPr>
          <p:cNvPr id="16" name="Text 14"/>
          <p:cNvSpPr/>
          <p:nvPr/>
        </p:nvSpPr>
        <p:spPr>
          <a:xfrm>
            <a:off x="7973568" y="2093976"/>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Geographic awareness</a:t>
            </a:r>
            <a:endParaRPr lang="en-US" sz="1150" dirty="0"/>
          </a:p>
        </p:txBody>
      </p:sp>
      <p:sp>
        <p:nvSpPr>
          <p:cNvPr id="17" name="Shape 15"/>
          <p:cNvSpPr/>
          <p:nvPr/>
        </p:nvSpPr>
        <p:spPr>
          <a:xfrm>
            <a:off x="914400" y="3794760"/>
            <a:ext cx="10332720" cy="1207008"/>
          </a:xfrm>
          <a:prstGeom prst="roundRect">
            <a:avLst>
              <a:gd name="adj" fmla="val 6061"/>
            </a:avLst>
          </a:prstGeom>
          <a:solidFill>
            <a:srgbClr val="243047"/>
          </a:solidFill>
          <a:ln w="9525">
            <a:solidFill>
              <a:srgbClr val="A7BACB"/>
            </a:solidFill>
            <a:prstDash val="solid"/>
          </a:ln>
        </p:spPr>
        <p:txBody>
          <a:bodyPr/>
          <a:p/>
        </p:txBody>
      </p:sp>
      <p:sp>
        <p:nvSpPr>
          <p:cNvPr id="18" name="Text 16"/>
          <p:cNvSpPr/>
          <p:nvPr/>
        </p:nvSpPr>
        <p:spPr>
          <a:xfrm>
            <a:off x="1143000" y="3913632"/>
            <a:ext cx="5486400" cy="274320"/>
          </a:xfrm>
          <a:prstGeom prst="rect">
            <a:avLst/>
          </a:prstGeom>
          <a:noFill/>
          <a:ln/>
        </p:spPr>
        <p:txBody>
          <a:bodyPr wrap="square" rtlCol="0" anchor="ctr"/>
          <a:lstStyle/>
          <a:p>
            <a:pPr indent="0" marL="0">
              <a:buNone/>
            </a:pPr>
            <a:r>
              <a:rPr lang="en-US" sz="1100" b="1" spc="200" kern="0" dirty="0">
                <a:solidFill>
                  <a:srgbClr val="A7BACB"/>
                </a:solidFill>
                <a:latin typeface="Trebuchet MS" pitchFamily="34" charset="0"/>
                <a:ea typeface="Trebuchet MS" pitchFamily="34" charset="-122"/>
                <a:cs typeface="Trebuchet MS" pitchFamily="34" charset="-120"/>
              </a:rPr>
              <a:t>TN ACADEMIC STANDARD</a:t>
            </a:r>
            <a:endParaRPr lang="en-US" sz="1100" dirty="0"/>
          </a:p>
        </p:txBody>
      </p:sp>
      <p:sp>
        <p:nvSpPr>
          <p:cNvPr id="19" name="Text 17"/>
          <p:cNvSpPr/>
          <p:nvPr/>
        </p:nvSpPr>
        <p:spPr>
          <a:xfrm>
            <a:off x="1143000" y="4206240"/>
            <a:ext cx="9875520" cy="749808"/>
          </a:xfrm>
          <a:prstGeom prst="rect">
            <a:avLst/>
          </a:prstGeom>
          <a:noFill/>
          <a:ln/>
        </p:spPr>
        <p:txBody>
          <a:bodyPr wrap="square" rtlCol="0" anchor="t"/>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Locate the following major industrial centers, and describe how industrialization influenced the movement of people from rural to urban areas: Boston, Chicago, New York City, Pittsburgh, San Francisco.</a:t>
            </a:r>
            <a:endParaRPr lang="en-US" sz="1300" dirty="0"/>
          </a:p>
        </p:txBody>
      </p:sp>
      <p:sp>
        <p:nvSpPr>
          <p:cNvPr id="20" name="Shape 18"/>
          <p:cNvSpPr/>
          <p:nvPr/>
        </p:nvSpPr>
        <p:spPr>
          <a:xfrm>
            <a:off x="914400" y="5120640"/>
            <a:ext cx="10332720" cy="1188720"/>
          </a:xfrm>
          <a:prstGeom prst="roundRect">
            <a:avLst>
              <a:gd name="adj" fmla="val 6154"/>
            </a:avLst>
          </a:prstGeom>
          <a:solidFill>
            <a:srgbClr val="C9A227"/>
          </a:solidFill>
          <a:ln/>
        </p:spPr>
        <p:txBody>
          <a:bodyPr/>
          <a:p/>
        </p:txBody>
      </p:sp>
      <p:sp>
        <p:nvSpPr>
          <p:cNvPr id="21" name="Text 19"/>
          <p:cNvSpPr/>
          <p:nvPr/>
        </p:nvSpPr>
        <p:spPr>
          <a:xfrm>
            <a:off x="1143000" y="5230368"/>
            <a:ext cx="1828800" cy="292608"/>
          </a:xfrm>
          <a:prstGeom prst="rect">
            <a:avLst/>
          </a:prstGeom>
          <a:noFill/>
          <a:ln/>
        </p:spPr>
        <p:txBody>
          <a:bodyPr wrap="square" rtlCol="0" anchor="ctr"/>
          <a:lstStyle/>
          <a:p>
            <a:pPr indent="0" marL="0">
              <a:buNone/>
            </a:pPr>
            <a:r>
              <a:rPr lang="en-US" sz="1300" b="1" spc="200" kern="0" dirty="0">
                <a:solidFill>
                  <a:srgbClr val="1F3A5F"/>
                </a:solidFill>
                <a:latin typeface="Trebuchet MS" pitchFamily="34" charset="0"/>
                <a:ea typeface="Trebuchet MS" pitchFamily="34" charset="-122"/>
                <a:cs typeface="Trebuchet MS" pitchFamily="34" charset="-120"/>
              </a:rPr>
              <a:t>I CAN</a:t>
            </a:r>
            <a:endParaRPr lang="en-US" sz="1300" dirty="0"/>
          </a:p>
        </p:txBody>
      </p:sp>
      <p:sp>
        <p:nvSpPr>
          <p:cNvPr id="22" name="Text 20"/>
          <p:cNvSpPr/>
          <p:nvPr/>
        </p:nvSpPr>
        <p:spPr>
          <a:xfrm>
            <a:off x="1143000" y="5504688"/>
            <a:ext cx="9875520" cy="749808"/>
          </a:xfrm>
          <a:prstGeom prst="rect">
            <a:avLst/>
          </a:prstGeom>
          <a:noFill/>
          <a:ln/>
        </p:spPr>
        <p:txBody>
          <a:bodyPr wrap="square" rtlCol="0" anchor="t"/>
          <a:lstStyle/>
          <a:p>
            <a:pPr indent="0" marL="0">
              <a:lnSpc>
                <a:spcPct val="100000"/>
              </a:lnSpc>
              <a:buNone/>
            </a:pPr>
            <a:r>
              <a:rPr lang="en-US" sz="1350" b="1" dirty="0">
                <a:solidFill>
                  <a:srgbClr val="1F3A5F"/>
                </a:solidFill>
                <a:latin typeface="Calibri" pitchFamily="34" charset="0"/>
                <a:ea typeface="Calibri" pitchFamily="34" charset="-122"/>
                <a:cs typeface="Calibri" pitchFamily="34" charset="-120"/>
              </a:rPr>
              <a:t>I can locate major industrial centers and describe how industrialization influenced the movement of people from rural to urban areas.</a:t>
            </a:r>
            <a:endParaRPr lang="en-US" sz="1350" dirty="0"/>
          </a:p>
        </p:txBody>
      </p:sp>
      <p:sp>
        <p:nvSpPr>
          <p:cNvPr id="23" name="Text 21"/>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4" name="Text 2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79</a:t>
            </a:r>
            <a:endParaRPr lang="en-US" sz="9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79">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227"/>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B22234"/>
                </a:solidFill>
                <a:latin typeface="Trebuchet MS" pitchFamily="34" charset="0"/>
                <a:ea typeface="Trebuchet MS" pitchFamily="34" charset="-122"/>
                <a:cs typeface="Trebuchet MS" pitchFamily="34" charset="-120"/>
              </a:rPr>
              <a:t>US.06 · QUICK REVIEW</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F3A5F"/>
                </a:solidFill>
                <a:latin typeface="Georgia" pitchFamily="34" charset="0"/>
                <a:ea typeface="Georgia" pitchFamily="34" charset="-122"/>
                <a:cs typeface="Georgia" pitchFamily="34" charset="-120"/>
              </a:rPr>
              <a:t>Do You Remember?</a:t>
            </a:r>
            <a:endParaRPr lang="en-US" sz="3000" dirty="0"/>
          </a:p>
        </p:txBody>
      </p:sp>
      <p:sp>
        <p:nvSpPr>
          <p:cNvPr id="5" name="Text 3"/>
          <p:cNvSpPr/>
          <p:nvPr/>
        </p:nvSpPr>
        <p:spPr>
          <a:xfrm>
            <a:off x="548640" y="141732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Before we start, retrieve what we have already learned. Answer from memory first — no notes.</a:t>
            </a:r>
            <a:endParaRPr lang="en-US" sz="1400" dirty="0"/>
          </a:p>
        </p:txBody>
      </p:sp>
      <p:sp>
        <p:nvSpPr>
          <p:cNvPr id="6" name="Shape 4"/>
          <p:cNvSpPr/>
          <p:nvPr/>
        </p:nvSpPr>
        <p:spPr>
          <a:xfrm>
            <a:off x="548640" y="2057400"/>
            <a:ext cx="11064240" cy="1234440"/>
          </a:xfrm>
          <a:prstGeom prst="rect">
            <a:avLst/>
          </a:prstGeom>
          <a:solidFill>
            <a:srgbClr val="FFFFFF"/>
          </a:solidFill>
          <a:ln w="12700">
            <a:solidFill>
              <a:srgbClr val="DAD3C2"/>
            </a:solidFill>
            <a:prstDash val="solid"/>
          </a:ln>
        </p:spPr>
        <p:txBody>
          <a:bodyPr/>
          <a:p/>
        </p:txBody>
      </p:sp>
      <p:sp>
        <p:nvSpPr>
          <p:cNvPr id="7" name="Shape 5"/>
          <p:cNvSpPr/>
          <p:nvPr/>
        </p:nvSpPr>
        <p:spPr>
          <a:xfrm>
            <a:off x="548640" y="2057400"/>
            <a:ext cx="777240" cy="1234440"/>
          </a:xfrm>
          <a:prstGeom prst="rect">
            <a:avLst/>
          </a:prstGeom>
          <a:solidFill>
            <a:srgbClr val="1F3A5F"/>
          </a:solidFill>
          <a:ln/>
        </p:spPr>
        <p:txBody>
          <a:bodyPr/>
          <a:p/>
        </p:txBody>
      </p:sp>
      <p:sp>
        <p:nvSpPr>
          <p:cNvPr id="8" name="Text 6"/>
          <p:cNvSpPr/>
          <p:nvPr/>
        </p:nvSpPr>
        <p:spPr>
          <a:xfrm>
            <a:off x="548640" y="2057400"/>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1</a:t>
            </a:r>
            <a:endParaRPr lang="en-US" sz="2000" dirty="0"/>
          </a:p>
        </p:txBody>
      </p:sp>
      <p:sp>
        <p:nvSpPr>
          <p:cNvPr id="9" name="Text 7"/>
          <p:cNvSpPr/>
          <p:nvPr/>
        </p:nvSpPr>
        <p:spPr>
          <a:xfrm>
            <a:off x="1508760" y="2057400"/>
            <a:ext cx="9966960" cy="1234440"/>
          </a:xfrm>
          <a:prstGeom prst="rect">
            <a:avLst/>
          </a:prstGeom>
          <a:noFill/>
          <a:ln/>
        </p:spPr>
        <p:txBody>
          <a:bodyPr wrap="square" rtlCol="0" anchor="ctr"/>
          <a:lstStyle/>
          <a:p>
            <a:pPr indent="0" marL="0">
              <a:lnSpc>
                <a:spcPct val="104000"/>
              </a:lnSpc>
              <a:buNone/>
            </a:pPr>
            <a:r>
              <a:rPr lang="en-US" sz="1350" b="1" dirty="0">
                <a:solidFill>
                  <a:srgbClr val="B22234"/>
                </a:solidFill>
                <a:latin typeface="Calibri" pitchFamily="34" charset="0"/>
                <a:ea typeface="Calibri" pitchFamily="34" charset="-122"/>
                <a:cs typeface="Calibri" pitchFamily="34" charset="-120"/>
              </a:rPr>
              <a:t>US.05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Explain vertical vs. horizontal integration in one sentence each.</a:t>
            </a:r>
            <a:endParaRPr lang="en-US" sz="1350" dirty="0"/>
          </a:p>
        </p:txBody>
      </p:sp>
      <p:sp>
        <p:nvSpPr>
          <p:cNvPr id="10" name="Shape 8"/>
          <p:cNvSpPr/>
          <p:nvPr/>
        </p:nvSpPr>
        <p:spPr>
          <a:xfrm>
            <a:off x="548640" y="3456432"/>
            <a:ext cx="11064240" cy="1234440"/>
          </a:xfrm>
          <a:prstGeom prst="rect">
            <a:avLst/>
          </a:prstGeom>
          <a:solidFill>
            <a:srgbClr val="FFFFFF"/>
          </a:solidFill>
          <a:ln w="12700">
            <a:solidFill>
              <a:srgbClr val="DAD3C2"/>
            </a:solidFill>
            <a:prstDash val="solid"/>
          </a:ln>
        </p:spPr>
        <p:txBody>
          <a:bodyPr/>
          <a:p/>
        </p:txBody>
      </p:sp>
      <p:sp>
        <p:nvSpPr>
          <p:cNvPr id="11" name="Shape 9"/>
          <p:cNvSpPr/>
          <p:nvPr/>
        </p:nvSpPr>
        <p:spPr>
          <a:xfrm>
            <a:off x="548640" y="3456432"/>
            <a:ext cx="777240" cy="1234440"/>
          </a:xfrm>
          <a:prstGeom prst="rect">
            <a:avLst/>
          </a:prstGeom>
          <a:solidFill>
            <a:srgbClr val="1F3A5F"/>
          </a:solidFill>
          <a:ln/>
        </p:spPr>
        <p:txBody>
          <a:bodyPr/>
          <a:p/>
        </p:txBody>
      </p:sp>
      <p:sp>
        <p:nvSpPr>
          <p:cNvPr id="12" name="Text 10"/>
          <p:cNvSpPr/>
          <p:nvPr/>
        </p:nvSpPr>
        <p:spPr>
          <a:xfrm>
            <a:off x="548640" y="3456432"/>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2</a:t>
            </a:r>
            <a:endParaRPr lang="en-US" sz="2000" dirty="0"/>
          </a:p>
        </p:txBody>
      </p:sp>
      <p:sp>
        <p:nvSpPr>
          <p:cNvPr id="13" name="Text 11"/>
          <p:cNvSpPr/>
          <p:nvPr/>
        </p:nvSpPr>
        <p:spPr>
          <a:xfrm>
            <a:off x="1508760" y="3456432"/>
            <a:ext cx="9966960" cy="1234440"/>
          </a:xfrm>
          <a:prstGeom prst="rect">
            <a:avLst/>
          </a:prstGeom>
          <a:noFill/>
          <a:ln/>
        </p:spPr>
        <p:txBody>
          <a:bodyPr wrap="square" rtlCol="0" anchor="ctr"/>
          <a:lstStyle/>
          <a:p>
            <a:pPr indent="0" marL="0">
              <a:lnSpc>
                <a:spcPct val="104000"/>
              </a:lnSpc>
              <a:buNone/>
            </a:pPr>
            <a:r>
              <a:rPr lang="en-US" sz="1350" b="1" dirty="0">
                <a:solidFill>
                  <a:srgbClr val="B22234"/>
                </a:solidFill>
                <a:latin typeface="Calibri" pitchFamily="34" charset="0"/>
                <a:ea typeface="Calibri" pitchFamily="34" charset="-122"/>
                <a:cs typeface="Calibri" pitchFamily="34" charset="-120"/>
              </a:rPr>
              <a:t>US.05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What was Carnegie’s “Gospel of Wealth”?</a:t>
            </a:r>
            <a:endParaRPr lang="en-US" sz="135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80</a:t>
            </a:r>
            <a:endParaRPr lang="en-US" sz="9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0">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227"/>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B22234"/>
                </a:solidFill>
                <a:latin typeface="Trebuchet MS" pitchFamily="34" charset="0"/>
                <a:ea typeface="Trebuchet MS" pitchFamily="34" charset="-122"/>
                <a:cs typeface="Trebuchet MS" pitchFamily="34" charset="-120"/>
              </a:rPr>
              <a:t>US.06 · CONFIDENCE CHECK</a:t>
            </a:r>
            <a:endParaRPr lang="en-US" sz="1200" dirty="0"/>
          </a:p>
        </p:txBody>
      </p:sp>
      <p:sp>
        <p:nvSpPr>
          <p:cNvPr id="4" name="Text 2"/>
          <p:cNvSpPr/>
          <p:nvPr/>
        </p:nvSpPr>
        <p:spPr>
          <a:xfrm>
            <a:off x="548640" y="731520"/>
            <a:ext cx="7863840" cy="640080"/>
          </a:xfrm>
          <a:prstGeom prst="rect">
            <a:avLst/>
          </a:prstGeom>
          <a:noFill/>
          <a:ln/>
        </p:spPr>
        <p:txBody>
          <a:bodyPr wrap="square" rtlCol="0" anchor="ctr"/>
          <a:lstStyle/>
          <a:p>
            <a:pPr indent="0" marL="0">
              <a:buNone/>
            </a:pPr>
            <a:r>
              <a:rPr lang="en-US" sz="3000" b="1" dirty="0">
                <a:solidFill>
                  <a:srgbClr val="1F3A5F"/>
                </a:solidFill>
                <a:latin typeface="Georgia" pitchFamily="34" charset="0"/>
                <a:ea typeface="Georgia" pitchFamily="34" charset="-122"/>
                <a:cs typeface="Georgia" pitchFamily="34" charset="-120"/>
              </a:rPr>
              <a:t>Warm-Up — Quick Recall</a:t>
            </a:r>
            <a:endParaRPr lang="en-US" sz="3000" dirty="0"/>
          </a:p>
        </p:txBody>
      </p:sp>
      <p:sp>
        <p:nvSpPr>
          <p:cNvPr id="5" name="Shape 3"/>
          <p:cNvSpPr/>
          <p:nvPr/>
        </p:nvSpPr>
        <p:spPr>
          <a:xfrm>
            <a:off x="8686800" y="786384"/>
            <a:ext cx="1143000" cy="457200"/>
          </a:xfrm>
          <a:prstGeom prst="roundRect">
            <a:avLst>
              <a:gd name="adj" fmla="val 20000"/>
            </a:avLst>
          </a:prstGeom>
          <a:solidFill>
            <a:srgbClr val="FBEFD0"/>
          </a:solidFill>
          <a:ln w="15875">
            <a:solidFill>
              <a:srgbClr val="C9A227"/>
            </a:solidFill>
            <a:prstDash val="solid"/>
          </a:ln>
        </p:spPr>
        <p:txBody>
          <a:bodyPr/>
          <a:p/>
        </p:txBody>
      </p:sp>
      <p:sp>
        <p:nvSpPr>
          <p:cNvPr id="6" name="Text 4"/>
          <p:cNvSpPr/>
          <p:nvPr/>
        </p:nvSpPr>
        <p:spPr>
          <a:xfrm>
            <a:off x="8686800" y="786384"/>
            <a:ext cx="1143000" cy="457200"/>
          </a:xfrm>
          <a:prstGeom prst="rect">
            <a:avLst/>
          </a:prstGeom>
          <a:noFill/>
          <a:ln/>
        </p:spPr>
        <p:txBody>
          <a:bodyPr wrap="square" rtlCol="0" anchor="ctr"/>
          <a:lstStyle/>
          <a:p>
            <a:pPr algn="ctr" indent="0" marL="0">
              <a:buNone/>
            </a:pPr>
            <a:r>
              <a:rPr lang="en-US" sz="1200" b="1" dirty="0">
                <a:solidFill>
                  <a:srgbClr val="B22234"/>
                </a:solidFill>
                <a:latin typeface="Trebuchet MS" pitchFamily="34" charset="0"/>
                <a:ea typeface="Trebuchet MS" pitchFamily="34" charset="-122"/>
                <a:cs typeface="Trebuchet MS" pitchFamily="34" charset="-120"/>
              </a:rPr>
              <a:t>DOK 1</a:t>
            </a:r>
            <a:endParaRPr lang="en-US" sz="1200" dirty="0"/>
          </a:p>
        </p:txBody>
      </p:sp>
      <p:sp>
        <p:nvSpPr>
          <p:cNvPr id="7" name="Shape 5"/>
          <p:cNvSpPr/>
          <p:nvPr/>
        </p:nvSpPr>
        <p:spPr>
          <a:xfrm>
            <a:off x="9966960" y="786384"/>
            <a:ext cx="1645920" cy="457200"/>
          </a:xfrm>
          <a:prstGeom prst="roundRect">
            <a:avLst>
              <a:gd name="adj" fmla="val 20000"/>
            </a:avLst>
          </a:prstGeom>
          <a:solidFill>
            <a:srgbClr val="1F3A5F"/>
          </a:solidFill>
          <a:ln/>
        </p:spPr>
        <p:txBody>
          <a:bodyPr/>
          <a:p/>
        </p:txBody>
      </p:sp>
      <p:sp>
        <p:nvSpPr>
          <p:cNvPr id="8" name="Text 6"/>
          <p:cNvSpPr/>
          <p:nvPr/>
        </p:nvSpPr>
        <p:spPr>
          <a:xfrm>
            <a:off x="9966960" y="786384"/>
            <a:ext cx="164592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LOW STAKES</a:t>
            </a:r>
            <a:endParaRPr lang="en-US" sz="1100" dirty="0"/>
          </a:p>
        </p:txBody>
      </p:sp>
      <p:sp>
        <p:nvSpPr>
          <p:cNvPr id="9" name="Text 7"/>
          <p:cNvSpPr/>
          <p:nvPr/>
        </p:nvSpPr>
        <p:spPr>
          <a:xfrm>
            <a:off x="548640" y="137160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Everyone can answer this. Thumbs / whiteboards — no notes.</a:t>
            </a:r>
            <a:endParaRPr lang="en-US" sz="1400" dirty="0"/>
          </a:p>
        </p:txBody>
      </p:sp>
      <p:sp>
        <p:nvSpPr>
          <p:cNvPr id="10" name="Shape 8"/>
          <p:cNvSpPr/>
          <p:nvPr/>
        </p:nvSpPr>
        <p:spPr>
          <a:xfrm>
            <a:off x="548640" y="1965960"/>
            <a:ext cx="11064240" cy="1874520"/>
          </a:xfrm>
          <a:prstGeom prst="roundRect">
            <a:avLst>
              <a:gd name="adj" fmla="val 4878"/>
            </a:avLst>
          </a:prstGeom>
          <a:solidFill>
            <a:srgbClr val="1F3A5F"/>
          </a:solidFill>
          <a:ln/>
        </p:spPr>
        <p:txBody>
          <a:bodyPr/>
          <a:p/>
        </p:txBody>
      </p:sp>
      <p:sp>
        <p:nvSpPr>
          <p:cNvPr id="11" name="Text 9"/>
          <p:cNvSpPr/>
          <p:nvPr/>
        </p:nvSpPr>
        <p:spPr>
          <a:xfrm>
            <a:off x="1005840" y="2194560"/>
            <a:ext cx="10149840" cy="1417320"/>
          </a:xfrm>
          <a:prstGeom prst="rect">
            <a:avLst/>
          </a:prstGeom>
          <a:noFill/>
          <a:ln/>
        </p:spPr>
        <p:txBody>
          <a:bodyPr wrap="square" rtlCol="0" anchor="ctr"/>
          <a:lstStyle/>
          <a:p>
            <a:pPr algn="ctr" indent="0" marL="0">
              <a:lnSpc>
                <a:spcPct val="108000"/>
              </a:lnSpc>
              <a:buNone/>
            </a:pPr>
            <a:r>
              <a:rPr lang="en-US" sz="2400" b="1" dirty="0">
                <a:solidFill>
                  <a:srgbClr val="FFFFFF"/>
                </a:solidFill>
                <a:latin typeface="Georgia" pitchFamily="34" charset="0"/>
                <a:ea typeface="Georgia" pitchFamily="34" charset="-122"/>
                <a:cs typeface="Georgia" pitchFamily="34" charset="-120"/>
              </a:rPr>
              <a:t>What word means the fast growth of cities as people move in?</a:t>
            </a:r>
            <a:endParaRPr lang="en-US" sz="2400" dirty="0"/>
          </a:p>
        </p:txBody>
      </p:sp>
      <p:sp>
        <p:nvSpPr>
          <p:cNvPr id="12" name="Shape 10"/>
          <p:cNvSpPr/>
          <p:nvPr/>
        </p:nvSpPr>
        <p:spPr>
          <a:xfrm>
            <a:off x="548640" y="4069080"/>
            <a:ext cx="11064240" cy="1371600"/>
          </a:xfrm>
          <a:prstGeom prst="roundRect">
            <a:avLst>
              <a:gd name="adj" fmla="val 6667"/>
            </a:avLst>
          </a:prstGeom>
          <a:solidFill>
            <a:srgbClr val="FBEFD0"/>
          </a:solidFill>
          <a:ln w="19050">
            <a:solidFill>
              <a:srgbClr val="C9A227"/>
            </a:solidFill>
            <a:prstDash val="solid"/>
          </a:ln>
        </p:spPr>
        <p:txBody>
          <a:bodyPr/>
          <a:p/>
        </p:txBody>
      </p:sp>
      <p:sp>
        <p:nvSpPr>
          <p:cNvPr id="13" name="Text 11"/>
          <p:cNvSpPr/>
          <p:nvPr/>
        </p:nvSpPr>
        <p:spPr>
          <a:xfrm>
            <a:off x="914400" y="4224528"/>
            <a:ext cx="2743200" cy="320040"/>
          </a:xfrm>
          <a:prstGeom prst="rect">
            <a:avLst/>
          </a:prstGeom>
          <a:noFill/>
          <a:ln/>
        </p:spPr>
        <p:txBody>
          <a:bodyPr wrap="square" rtlCol="0" anchor="ctr"/>
          <a:lstStyle/>
          <a:p>
            <a:pPr indent="0" marL="0">
              <a:buNone/>
            </a:pPr>
            <a:r>
              <a:rPr lang="en-US" sz="1200" b="1" spc="200" kern="0" dirty="0">
                <a:solidFill>
                  <a:srgbClr val="1B5E20"/>
                </a:solidFill>
                <a:latin typeface="Trebuchet MS" pitchFamily="34" charset="0"/>
                <a:ea typeface="Trebuchet MS" pitchFamily="34" charset="-122"/>
                <a:cs typeface="Trebuchet MS" pitchFamily="34" charset="-120"/>
              </a:rPr>
              <a:t>✓ ANSWER</a:t>
            </a:r>
            <a:endParaRPr lang="en-US" sz="1200" dirty="0"/>
          </a:p>
        </p:txBody>
      </p:sp>
      <p:sp>
        <p:nvSpPr>
          <p:cNvPr id="14" name="Text 12"/>
          <p:cNvSpPr/>
          <p:nvPr/>
        </p:nvSpPr>
        <p:spPr>
          <a:xfrm>
            <a:off x="914400" y="4572000"/>
            <a:ext cx="10332720" cy="777240"/>
          </a:xfrm>
          <a:prstGeom prst="rect">
            <a:avLst/>
          </a:prstGeom>
          <a:noFill/>
          <a:ln/>
        </p:spPr>
        <p:txBody>
          <a:bodyPr wrap="square" rtlCol="0" anchor="t"/>
          <a:lstStyle/>
          <a:p>
            <a:pPr indent="0" marL="0">
              <a:lnSpc>
                <a:spcPct val="108000"/>
              </a:lnSpc>
              <a:buNone/>
            </a:pPr>
            <a:r>
              <a:rPr lang="en-US" sz="1600" dirty="0">
                <a:solidFill>
                  <a:srgbClr val="1F2430"/>
                </a:solidFill>
                <a:latin typeface="Calibri" pitchFamily="34" charset="0"/>
                <a:ea typeface="Calibri" pitchFamily="34" charset="-122"/>
                <a:cs typeface="Calibri" pitchFamily="34" charset="-120"/>
              </a:rPr>
              <a:t>Urbanization.</a:t>
            </a:r>
            <a:endParaRPr lang="en-US" sz="1600" dirty="0"/>
          </a:p>
        </p:txBody>
      </p:sp>
      <p:sp>
        <p:nvSpPr>
          <p:cNvPr id="15" name="Shape 13"/>
          <p:cNvSpPr/>
          <p:nvPr/>
        </p:nvSpPr>
        <p:spPr>
          <a:xfrm>
            <a:off x="548640" y="5623560"/>
            <a:ext cx="11064240" cy="457200"/>
          </a:xfrm>
          <a:prstGeom prst="roundRect">
            <a:avLst>
              <a:gd name="adj" fmla="val 16000"/>
            </a:avLst>
          </a:prstGeom>
          <a:solidFill>
            <a:srgbClr val="FFFFFF"/>
          </a:solidFill>
          <a:ln w="12700">
            <a:solidFill>
              <a:srgbClr val="C9A227"/>
            </a:solidFill>
            <a:prstDash val="solid"/>
          </a:ln>
        </p:spPr>
        <p:txBody>
          <a:bodyPr/>
          <a:p/>
        </p:txBody>
      </p:sp>
      <p:sp>
        <p:nvSpPr>
          <p:cNvPr id="16" name="Text 14"/>
          <p:cNvSpPr/>
          <p:nvPr/>
        </p:nvSpPr>
        <p:spPr>
          <a:xfrm>
            <a:off x="822960" y="5623560"/>
            <a:ext cx="10515600" cy="457200"/>
          </a:xfrm>
          <a:prstGeom prst="rect">
            <a:avLst/>
          </a:prstGeom>
          <a:noFill/>
          <a:ln/>
        </p:spPr>
        <p:txBody>
          <a:bodyPr wrap="square" rtlCol="0" anchor="ctr"/>
          <a:lstStyle/>
          <a:p>
            <a:pPr indent="0" marL="0">
              <a:buNone/>
            </a:pPr>
            <a:r>
              <a:rPr lang="en-US" sz="1150" b="1" i="1" spc="100" kern="0" dirty="0">
                <a:solidFill>
                  <a:srgbClr val="B22234"/>
                </a:solidFill>
                <a:latin typeface="Trebuchet MS" pitchFamily="34" charset="0"/>
                <a:ea typeface="Trebuchet MS" pitchFamily="34" charset="-122"/>
                <a:cs typeface="Trebuchet MS" pitchFamily="34" charset="-120"/>
              </a:rPr>
              <a:t>COMMIT FIRST:  </a:t>
            </a:r>
            <a:pPr indent="0" marL="0">
              <a:buNone/>
            </a:pPr>
            <a:r>
              <a:rPr lang="en-US" sz="1150" i="1" dirty="0">
                <a:solidFill>
                  <a:srgbClr val="5C6470"/>
                </a:solidFill>
                <a:latin typeface="Calibri" pitchFamily="34" charset="0"/>
                <a:ea typeface="Calibri" pitchFamily="34" charset="-122"/>
                <a:cs typeface="Calibri" pitchFamily="34" charset="-120"/>
              </a:rPr>
              <a:t>have everyone answer before the reveal — this is the DOK 1 floor; the graded check later in this lesson moves up to DOK 2–3.</a:t>
            </a:r>
            <a:endParaRPr lang="en-US" sz="1150" dirty="0"/>
          </a:p>
        </p:txBody>
      </p:sp>
      <p:sp>
        <p:nvSpPr>
          <p:cNvPr id="18" name="Text 15"/>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6"/>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81</a:t>
            </a:r>
            <a:endParaRPr lang="en-US" sz="9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1">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B22234"/>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B22234"/>
                </a:solidFill>
                <a:latin typeface="Trebuchet MS" pitchFamily="34" charset="0"/>
                <a:ea typeface="Trebuchet MS" pitchFamily="34" charset="-122"/>
                <a:cs typeface="Trebuchet MS" pitchFamily="34" charset="-120"/>
              </a:rPr>
              <a:t>US.06 · HOOK</a:t>
            </a:r>
            <a:endParaRPr lang="en-US" sz="1200" dirty="0"/>
          </a:p>
        </p:txBody>
      </p:sp>
      <p:sp>
        <p:nvSpPr>
          <p:cNvPr id="4" name="Text 2"/>
          <p:cNvSpPr/>
          <p:nvPr/>
        </p:nvSpPr>
        <p:spPr>
          <a:xfrm>
            <a:off x="548640" y="777240"/>
            <a:ext cx="10972800" cy="640080"/>
          </a:xfrm>
          <a:prstGeom prst="rect">
            <a:avLst/>
          </a:prstGeom>
          <a:noFill/>
          <a:ln/>
        </p:spPr>
        <p:txBody>
          <a:bodyPr wrap="square" rtlCol="0" anchor="ctr"/>
          <a:lstStyle/>
          <a:p>
            <a:pPr indent="0" marL="0">
              <a:buNone/>
            </a:pPr>
            <a:r>
              <a:rPr lang="en-US" sz="3000" b="1" dirty="0">
                <a:solidFill>
                  <a:srgbClr val="1F3A5F"/>
                </a:solidFill>
                <a:latin typeface="Georgia" pitchFamily="34" charset="0"/>
                <a:ea typeface="Georgia" pitchFamily="34" charset="-122"/>
                <a:cs typeface="Georgia" pitchFamily="34" charset="-120"/>
              </a:rPr>
              <a:t>Think About It</a:t>
            </a:r>
            <a:endParaRPr lang="en-US" sz="3000" dirty="0"/>
          </a:p>
        </p:txBody>
      </p:sp>
      <p:sp>
        <p:nvSpPr>
          <p:cNvPr id="5" name="Shape 3"/>
          <p:cNvSpPr/>
          <p:nvPr/>
        </p:nvSpPr>
        <p:spPr>
          <a:xfrm>
            <a:off x="548640" y="1691640"/>
            <a:ext cx="11064240" cy="2194560"/>
          </a:xfrm>
          <a:prstGeom prst="roundRect">
            <a:avLst>
              <a:gd name="adj" fmla="val 4167"/>
            </a:avLst>
          </a:prstGeom>
          <a:solidFill>
            <a:srgbClr val="1F3A5F"/>
          </a:solidFill>
          <a:ln/>
        </p:spPr>
        <p:txBody>
          <a:bodyPr/>
          <a:p/>
        </p:txBody>
      </p:sp>
      <p:sp>
        <p:nvSpPr>
          <p:cNvPr id="6" name="Text 4"/>
          <p:cNvSpPr/>
          <p:nvPr/>
        </p:nvSpPr>
        <p:spPr>
          <a:xfrm>
            <a:off x="1005840" y="1965960"/>
            <a:ext cx="10149840" cy="1645920"/>
          </a:xfrm>
          <a:prstGeom prst="rect">
            <a:avLst/>
          </a:prstGeom>
          <a:noFill/>
          <a:ln/>
        </p:spPr>
        <p:txBody>
          <a:bodyPr wrap="square" rtlCol="0" anchor="ctr"/>
          <a:lstStyle/>
          <a:p>
            <a:pPr indent="0" marL="0">
              <a:lnSpc>
                <a:spcPct val="108000"/>
              </a:lnSpc>
              <a:buNone/>
            </a:pPr>
            <a:r>
              <a:rPr lang="en-US" sz="2600" i="1" dirty="0">
                <a:solidFill>
                  <a:srgbClr val="FFFFFF"/>
                </a:solidFill>
                <a:latin typeface="Georgia" pitchFamily="34" charset="0"/>
                <a:ea typeface="Georgia" pitchFamily="34" charset="-122"/>
                <a:cs typeface="Georgia" pitchFamily="34" charset="-120"/>
              </a:rPr>
              <a:t>Chicago went from 30,000 people to over 1,000,000 in just 40 years.</a:t>
            </a:r>
            <a:endParaRPr lang="en-US" sz="2600" dirty="0"/>
          </a:p>
        </p:txBody>
      </p:sp>
      <p:sp>
        <p:nvSpPr>
          <p:cNvPr id="7" name="Shape 5"/>
          <p:cNvSpPr/>
          <p:nvPr/>
        </p:nvSpPr>
        <p:spPr>
          <a:xfrm>
            <a:off x="548640" y="4114800"/>
            <a:ext cx="11064240" cy="1783080"/>
          </a:xfrm>
          <a:prstGeom prst="roundRect">
            <a:avLst>
              <a:gd name="adj" fmla="val 5128"/>
            </a:avLst>
          </a:prstGeom>
          <a:solidFill>
            <a:srgbClr val="FFFFFF"/>
          </a:solidFill>
          <a:ln w="19050">
            <a:solidFill>
              <a:srgbClr val="C9A227"/>
            </a:solidFill>
            <a:prstDash val="solid"/>
          </a:ln>
        </p:spPr>
        <p:txBody>
          <a:bodyPr/>
          <a:p/>
        </p:txBody>
      </p:sp>
      <p:sp>
        <p:nvSpPr>
          <p:cNvPr id="8" name="Text 6"/>
          <p:cNvSpPr/>
          <p:nvPr/>
        </p:nvSpPr>
        <p:spPr>
          <a:xfrm>
            <a:off x="914400" y="4297680"/>
            <a:ext cx="2743200" cy="320040"/>
          </a:xfrm>
          <a:prstGeom prst="rect">
            <a:avLst/>
          </a:prstGeom>
          <a:noFill/>
          <a:ln/>
        </p:spPr>
        <p:txBody>
          <a:bodyPr wrap="square" rtlCol="0" anchor="ctr"/>
          <a:lstStyle/>
          <a:p>
            <a:pPr indent="0" marL="0">
              <a:buNone/>
            </a:pPr>
            <a:r>
              <a:rPr lang="en-US" sz="1300" b="1" spc="200" kern="0" dirty="0">
                <a:solidFill>
                  <a:srgbClr val="B22234"/>
                </a:solidFill>
                <a:latin typeface="Trebuchet MS" pitchFamily="34" charset="0"/>
                <a:ea typeface="Trebuchet MS" pitchFamily="34" charset="-122"/>
                <a:cs typeface="Trebuchet MS" pitchFamily="34" charset="-120"/>
              </a:rPr>
              <a:t>DISCUSS</a:t>
            </a:r>
            <a:endParaRPr lang="en-US" sz="1300" dirty="0"/>
          </a:p>
        </p:txBody>
      </p:sp>
      <p:sp>
        <p:nvSpPr>
          <p:cNvPr id="9" name="Shape 7"/>
          <p:cNvSpPr/>
          <p:nvPr/>
        </p:nvSpPr>
        <p:spPr>
          <a:xfrm>
            <a:off x="7772400" y="4224528"/>
            <a:ext cx="3657600" cy="457200"/>
          </a:xfrm>
          <a:prstGeom prst="roundRect">
            <a:avLst>
              <a:gd name="adj" fmla="val 20000"/>
            </a:avLst>
          </a:prstGeom>
          <a:solidFill>
            <a:srgbClr val="1F3A5F"/>
          </a:solidFill>
          <a:ln/>
        </p:spPr>
        <p:txBody>
          <a:bodyPr/>
          <a:p/>
        </p:txBody>
      </p:sp>
      <p:sp>
        <p:nvSpPr>
          <p:cNvPr id="10" name="Text 8"/>
          <p:cNvSpPr/>
          <p:nvPr/>
        </p:nvSpPr>
        <p:spPr>
          <a:xfrm>
            <a:off x="7772400" y="4224528"/>
            <a:ext cx="3657600" cy="45720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TIMING:  Turn &amp; Talk 60 sec → cold-call 2 pairs</a:t>
            </a:r>
            <a:endParaRPr lang="en-US" sz="1050" dirty="0"/>
          </a:p>
        </p:txBody>
      </p:sp>
      <p:sp>
        <p:nvSpPr>
          <p:cNvPr id="11" name="Text 9"/>
          <p:cNvSpPr/>
          <p:nvPr/>
        </p:nvSpPr>
        <p:spPr>
          <a:xfrm>
            <a:off x="914400" y="4736592"/>
            <a:ext cx="10332720" cy="1097280"/>
          </a:xfrm>
          <a:prstGeom prst="rect">
            <a:avLst/>
          </a:prstGeom>
          <a:noFill/>
          <a:ln/>
        </p:spPr>
        <p:txBody>
          <a:bodyPr wrap="square" rtlCol="0" anchor="t"/>
          <a:lstStyle/>
          <a:p>
            <a:pPr indent="0" marL="0">
              <a:lnSpc>
                <a:spcPct val="110000"/>
              </a:lnSpc>
              <a:buNone/>
            </a:pPr>
            <a:r>
              <a:rPr lang="en-US" sz="1600" dirty="0">
                <a:solidFill>
                  <a:srgbClr val="1F2430"/>
                </a:solidFill>
                <a:latin typeface="Calibri" pitchFamily="34" charset="0"/>
                <a:ea typeface="Calibri" pitchFamily="34" charset="-122"/>
                <a:cs typeface="Calibri" pitchFamily="34" charset="-120"/>
              </a:rPr>
              <a:t>What does a city need to grow that fast — and what problems would explode along with the population? Brainstorm three of each.</a:t>
            </a:r>
            <a:endParaRPr lang="en-US" sz="1600" dirty="0"/>
          </a:p>
        </p:txBody>
      </p:sp>
      <p:sp>
        <p:nvSpPr>
          <p:cNvPr id="13" name="Text 10"/>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82</a:t>
            </a:r>
            <a:endParaRPr lang="en-US" sz="9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2">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F3A5F"/>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B22234"/>
                </a:solidFill>
                <a:latin typeface="Trebuchet MS" pitchFamily="34" charset="0"/>
                <a:ea typeface="Trebuchet MS" pitchFamily="34" charset="-122"/>
                <a:cs typeface="Trebuchet MS" pitchFamily="34" charset="-120"/>
              </a:rPr>
              <a:t>US.06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F3A5F"/>
                </a:solidFill>
                <a:latin typeface="Georgia" pitchFamily="34" charset="0"/>
                <a:ea typeface="Georgia" pitchFamily="34" charset="-122"/>
                <a:cs typeface="Georgia" pitchFamily="34" charset="-120"/>
              </a:rPr>
              <a:t>Major Industrial Centers</a:t>
            </a:r>
            <a:endParaRPr lang="en-US" sz="3000" dirty="0"/>
          </a:p>
        </p:txBody>
      </p:sp>
      <p:sp>
        <p:nvSpPr>
          <p:cNvPr id="5" name="Shape 3"/>
          <p:cNvSpPr/>
          <p:nvPr/>
        </p:nvSpPr>
        <p:spPr>
          <a:xfrm>
            <a:off x="10765231" y="502920"/>
            <a:ext cx="146304" cy="146304"/>
          </a:xfrm>
          <a:prstGeom prst="ellipse">
            <a:avLst/>
          </a:prstGeom>
          <a:solidFill>
            <a:srgbClr val="B22234"/>
          </a:solidFill>
          <a:ln/>
        </p:spPr>
        <p:txBody>
          <a:bodyPr/>
          <a:p/>
        </p:txBody>
      </p:sp>
      <p:sp>
        <p:nvSpPr>
          <p:cNvPr id="6" name="Shape 4"/>
          <p:cNvSpPr/>
          <p:nvPr/>
        </p:nvSpPr>
        <p:spPr>
          <a:xfrm>
            <a:off x="11057839" y="502920"/>
            <a:ext cx="146304" cy="146304"/>
          </a:xfrm>
          <a:prstGeom prst="ellipse">
            <a:avLst/>
          </a:prstGeom>
          <a:solidFill>
            <a:srgbClr val="A7BACB"/>
          </a:solidFill>
          <a:ln/>
        </p:spPr>
        <p:txBody>
          <a:bodyPr/>
          <a:p/>
        </p:txBody>
      </p:sp>
      <p:sp>
        <p:nvSpPr>
          <p:cNvPr id="7" name="Shape 5"/>
          <p:cNvSpPr/>
          <p:nvPr/>
        </p:nvSpPr>
        <p:spPr>
          <a:xfrm>
            <a:off x="11350447" y="502920"/>
            <a:ext cx="146304" cy="146304"/>
          </a:xfrm>
          <a:prstGeom prst="ellipse">
            <a:avLst/>
          </a:prstGeom>
          <a:solidFill>
            <a:srgbClr val="A7BACB"/>
          </a:solidFill>
          <a:ln/>
        </p:spPr>
        <p:txBody>
          <a:bodyPr/>
          <a:p/>
        </p:txBody>
      </p:sp>
      <p:sp>
        <p:nvSpPr>
          <p:cNvPr id="8" name="Text 6"/>
          <p:cNvSpPr/>
          <p:nvPr/>
        </p:nvSpPr>
        <p:spPr>
          <a:xfrm>
            <a:off x="9805111"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1 of 3</a:t>
            </a:r>
            <a:endParaRPr lang="en-US" sz="1000" dirty="0"/>
          </a:p>
        </p:txBody>
      </p:sp>
      <p:sp>
        <p:nvSpPr>
          <p:cNvPr id="9" name="Shape 7"/>
          <p:cNvSpPr/>
          <p:nvPr/>
        </p:nvSpPr>
        <p:spPr>
          <a:xfrm>
            <a:off x="548640" y="1783080"/>
            <a:ext cx="6766560" cy="4069080"/>
          </a:xfrm>
          <a:prstGeom prst="rect">
            <a:avLst/>
          </a:prstGeom>
          <a:solidFill>
            <a:srgbClr val="FFFFFF"/>
          </a:solidFill>
          <a:ln w="12700">
            <a:solidFill>
              <a:srgbClr val="DAD3C2"/>
            </a:solidFill>
            <a:prstDash val="solid"/>
          </a:ln>
        </p:spPr>
        <p:txBody>
          <a:bodyPr/>
          <a:p/>
        </p:txBody>
      </p:sp>
      <p:sp>
        <p:nvSpPr>
          <p:cNvPr id="10" name="Text 8"/>
          <p:cNvSpPr/>
          <p:nvPr/>
        </p:nvSpPr>
        <p:spPr>
          <a:xfrm>
            <a:off x="914400" y="2057400"/>
            <a:ext cx="6126480" cy="2340864"/>
          </a:xfrm>
          <a:prstGeom prst="rect">
            <a:avLst/>
          </a:prstGeom>
          <a:noFill/>
          <a:ln/>
        </p:spPr>
        <p:txBody>
          <a:bodyPr wrap="square" rtlCol="0" anchor="t"/>
          <a:lstStyle/>
          <a:p>
            <a:pPr marL="228600" indent="-228600">
              <a:lnSpc>
                <a:spcPct val="112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Industrialization concentrated in cities with geographic advantages.</a:t>
            </a:r>
            <a:endParaRPr lang="en-US" sz="1550" dirty="0"/>
          </a:p>
          <a:p>
            <a:pPr marL="228600" indent="-228600">
              <a:lnSpc>
                <a:spcPct val="112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Pittsburgh became the steel capital due to access to coal, iron ore, and rivers.</a:t>
            </a:r>
            <a:endParaRPr lang="en-US" sz="1550" dirty="0"/>
          </a:p>
          <a:p>
            <a:pPr marL="228600" indent="-228600">
              <a:lnSpc>
                <a:spcPct val="112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Chicago emerged as a railroad hub and meatpacking center.</a:t>
            </a:r>
            <a:endParaRPr lang="en-US" sz="1550" dirty="0"/>
          </a:p>
          <a:p>
            <a:pPr marL="228600" indent="-228600">
              <a:lnSpc>
                <a:spcPct val="112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New York City dominated finance and trade through its port.</a:t>
            </a:r>
            <a:endParaRPr lang="en-US" sz="1550" dirty="0"/>
          </a:p>
          <a:p>
            <a:pPr marL="228600" indent="-228600">
              <a:lnSpc>
                <a:spcPct val="112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Boston led in textiles and manufacturing.</a:t>
            </a:r>
            <a:endParaRPr lang="en-US" sz="1550" dirty="0"/>
          </a:p>
          <a:p>
            <a:pPr marL="228600" indent="-228600">
              <a:lnSpc>
                <a:spcPct val="112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San Francisco served as the gateway to Pacific trade and western resources.</a:t>
            </a:r>
            <a:endParaRPr lang="en-US" sz="1550" dirty="0"/>
          </a:p>
        </p:txBody>
      </p:sp>
      <p:sp>
        <p:nvSpPr>
          <p:cNvPr id="11" name="Shape 9"/>
          <p:cNvSpPr/>
          <p:nvPr/>
        </p:nvSpPr>
        <p:spPr>
          <a:xfrm>
            <a:off x="868680" y="4626864"/>
            <a:ext cx="6126480" cy="1097280"/>
          </a:xfrm>
          <a:prstGeom prst="roundRect">
            <a:avLst>
              <a:gd name="adj" fmla="val 5000"/>
            </a:avLst>
          </a:prstGeom>
          <a:solidFill>
            <a:srgbClr val="EEF3F7"/>
          </a:solidFill>
          <a:ln w="12700">
            <a:solidFill>
              <a:srgbClr val="A7BACB"/>
            </a:solidFill>
            <a:prstDash val="solid"/>
          </a:ln>
        </p:spPr>
        <p:txBody>
          <a:bodyPr/>
          <a:p/>
        </p:txBody>
      </p:sp>
      <p:sp>
        <p:nvSpPr>
          <p:cNvPr id="12" name="Text 10"/>
          <p:cNvSpPr/>
          <p:nvPr/>
        </p:nvSpPr>
        <p:spPr>
          <a:xfrm>
            <a:off x="1024128" y="4681728"/>
            <a:ext cx="5852160" cy="237744"/>
          </a:xfrm>
          <a:prstGeom prst="rect">
            <a:avLst/>
          </a:prstGeom>
          <a:noFill/>
          <a:ln/>
        </p:spPr>
        <p:txBody>
          <a:bodyPr wrap="square" rtlCol="0" anchor="ctr"/>
          <a:lstStyle/>
          <a:p>
            <a:pPr indent="0" marL="0">
              <a:buNone/>
            </a:pPr>
            <a:r>
              <a:rPr lang="en-US" sz="900" b="1" spc="100" kern="0" dirty="0">
                <a:solidFill>
                  <a:srgbClr val="002858"/>
                </a:solidFill>
                <a:latin typeface="Trebuchet MS" pitchFamily="34" charset="0"/>
                <a:ea typeface="Trebuchet MS" pitchFamily="34" charset="-122"/>
                <a:cs typeface="Trebuchet MS" pitchFamily="34" charset="-120"/>
              </a:rPr>
              <a:t>SENTENCE FRAME  </a:t>
            </a:r>
            <a:pPr indent="0" marL="0">
              <a:buNone/>
            </a:pPr>
            <a:r>
              <a:rPr lang="en-US" sz="900" i="1" dirty="0">
                <a:solidFill>
                  <a:srgbClr val="5C6470"/>
                </a:solidFill>
              </a:rPr>
              <a:t>· LANGUAGE SUPPORT  </a:t>
            </a:r>
            <a:endParaRPr lang="en-US" sz="900" dirty="0"/>
          </a:p>
        </p:txBody>
      </p:sp>
      <p:sp>
        <p:nvSpPr>
          <p:cNvPr id="13" name="Text 11"/>
          <p:cNvSpPr/>
          <p:nvPr/>
        </p:nvSpPr>
        <p:spPr>
          <a:xfrm>
            <a:off x="1024128" y="4937760"/>
            <a:ext cx="6309360" cy="658368"/>
          </a:xfrm>
          <a:prstGeom prst="rect">
            <a:avLst/>
          </a:prstGeom>
          <a:noFill/>
          <a:ln/>
        </p:spPr>
        <p:txBody>
          <a:bodyPr wrap="square" rtlCol="0" anchor="t"/>
          <a:lstStyle/>
          <a:p>
            <a:pPr indent="0" marL="0">
              <a:lnSpc>
                <a:spcPct val="104000"/>
              </a:lnSpc>
              <a:buNone/>
            </a:pPr>
            <a:r>
              <a:rPr lang="en-US" sz="1050" i="1" dirty="0">
                <a:solidFill>
                  <a:srgbClr val="1F2430"/>
                </a:solidFill>
                <a:latin typeface="Calibri" pitchFamily="34" charset="0"/>
                <a:ea typeface="Calibri" pitchFamily="34" charset="-122"/>
                <a:cs typeface="Calibri" pitchFamily="34" charset="-120"/>
              </a:rPr>
              <a:t>Cities grew rapidly because ________, which created the problem of ________.</a:t>
            </a:r>
            <a:endParaRPr lang="en-US" sz="1050" dirty="0"/>
          </a:p>
        </p:txBody>
      </p:sp>
      <p:sp>
        <p:nvSpPr>
          <p:cNvPr id="14" name="Shape 12"/>
          <p:cNvSpPr/>
          <p:nvPr/>
        </p:nvSpPr>
        <p:spPr>
          <a:xfrm>
            <a:off x="7552944" y="1746504"/>
            <a:ext cx="4142232" cy="2935224"/>
          </a:xfrm>
          <a:prstGeom prst="rect">
            <a:avLst/>
          </a:prstGeom>
          <a:solidFill>
            <a:srgbClr val="FFFFFF"/>
          </a:solidFill>
          <a:ln w="12700">
            <a:solidFill>
              <a:srgbClr val="DAD3C2"/>
            </a:solidFill>
            <a:prstDash val="solid"/>
          </a:ln>
        </p:spPr>
        <p:txBody>
          <a:bodyPr/>
          <a:p/>
        </p:txBody>
      </p:sp>
      <p:pic>
        <p:nvPicPr>
          <p:cNvPr id="15" name="Image 0" descr="Henry Gannett / U.S. Census Office, 1898  Library of Congress">    </p:cNvPr>
          <p:cNvPicPr>
            <a:picLocks noChangeAspect="1"/>
          </p:cNvPicPr>
          <p:nvPr/>
        </p:nvPicPr>
        <p:blipFill>
          <a:blip r:embed="rId1"/>
          <a:srcRect l="0" r="0" t="0" b="0"/>
          <a:stretch/>
        </p:blipFill>
        <p:spPr>
          <a:xfrm>
            <a:off x="7589520" y="1783080"/>
            <a:ext cx="4069080" cy="2862072"/>
          </a:xfrm>
          <a:prstGeom prst="rect">
            <a:avLst/>
          </a:prstGeom>
        </p:spPr>
      </p:pic>
      <p:sp>
        <p:nvSpPr>
          <p:cNvPr id="16" name="Text 13"/>
          <p:cNvSpPr/>
          <p:nvPr/>
        </p:nvSpPr>
        <p:spPr>
          <a:xfrm>
            <a:off x="7589520" y="4700016"/>
            <a:ext cx="4069080" cy="512064"/>
          </a:xfrm>
          <a:prstGeom prst="rect">
            <a:avLst/>
          </a:prstGeom>
          <a:noFill/>
          <a:ln/>
        </p:spPr>
        <p:txBody>
          <a:bodyPr wrap="square" rtlCol="0" anchor="t"/>
          <a:lstStyle/>
          <a:p>
            <a:pPr algn="l" indent="0" marL="0">
              <a:lnSpc>
                <a:spcPct val="100000"/>
              </a:lnSpc>
              <a:buNone/>
            </a:pPr>
            <a:pPr algn="l" indent="0" marL="0">
              <a:lnSpc>
                <a:spcPct val="100000"/>
              </a:lnSpc>
              <a:buNone/>
            </a:pPr>
            <a:r>
              <a:rPr lang="en-US" sz="900" i="1" dirty="0">
                <a:solidFill>
                  <a:srgbClr val="5C6470"/>
                </a:solidFill>
                <a:latin typeface="Calibri" pitchFamily="34" charset="0"/>
                <a:ea typeface="Calibri" pitchFamily="34" charset="-122"/>
                <a:cs typeface="Calibri" pitchFamily="34" charset="-120"/>
              </a:rPr>
              <a:t>Henry Gannett / U.S. Census Office, 1898  </a:t>
            </a:r>
            <a:pPr algn="l" indent="0" marL="0">
              <a:lnSpc>
                <a:spcPct val="100000"/>
              </a:lnSpc>
              <a:buNone/>
            </a:pPr>
            <a:r>
              <a:rPr lang="en-US" sz="9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800" dirty="0"/>
          </a:p>
        </p:txBody>
      </p:sp>
      <p:sp>
        <p:nvSpPr>
          <p:cNvPr id="17" name="Shape 14"/>
          <p:cNvSpPr/>
          <p:nvPr/>
        </p:nvSpPr>
        <p:spPr>
          <a:xfrm>
            <a:off x="7589520" y="5440680"/>
            <a:ext cx="4069080" cy="713232"/>
          </a:xfrm>
          <a:prstGeom prst="roundRect">
            <a:avLst>
              <a:gd name="adj" fmla="val 7692"/>
            </a:avLst>
          </a:prstGeom>
          <a:solidFill>
            <a:srgbClr val="1F3A5F"/>
          </a:solidFill>
          <a:ln/>
        </p:spPr>
        <p:txBody>
          <a:bodyPr/>
          <a:p/>
        </p:txBody>
      </p:sp>
      <p:sp>
        <p:nvSpPr>
          <p:cNvPr id="18" name="Text 15"/>
          <p:cNvSpPr/>
          <p:nvPr/>
        </p:nvSpPr>
        <p:spPr>
          <a:xfrm>
            <a:off x="7772400" y="5477256"/>
            <a:ext cx="3703320" cy="640080"/>
          </a:xfrm>
          <a:prstGeom prst="rect">
            <a:avLst/>
          </a:prstGeom>
          <a:noFill/>
          <a:ln/>
        </p:spPr>
        <p:txBody>
          <a:bodyPr wrap="square" rtlCol="0" anchor="ctr"/>
          <a:lstStyle/>
          <a:p>
            <a:pPr indent="0" marL="0">
              <a:lnSpc>
                <a:spcPct val="102000"/>
              </a:lnSpc>
              <a:buNone/>
            </a:pPr>
            <a:r>
              <a:rPr lang="en-US" sz="950" b="1" dirty="0">
                <a:solidFill>
                  <a:srgbClr val="F9A825"/>
                </a:solidFill>
                <a:latin typeface="Trebuchet MS" pitchFamily="34" charset="0"/>
                <a:ea typeface="Trebuchet MS" pitchFamily="34" charset="-122"/>
                <a:cs typeface="Trebuchet MS" pitchFamily="34" charset="-120"/>
              </a:rPr>
              <a:t>TEACHER CUE  </a:t>
            </a:r>
            <a:pPr indent="0" marL="0">
              <a:lnSpc>
                <a:spcPct val="102000"/>
              </a:lnSpc>
              <a:buNone/>
            </a:pPr>
            <a:r>
              <a:rPr lang="en-US" sz="950" dirty="0">
                <a:solidFill>
                  <a:srgbClr val="FFFFFF"/>
                </a:solidFill>
                <a:latin typeface="Calibri" pitchFamily="34" charset="0"/>
                <a:ea typeface="Calibri" pitchFamily="34" charset="-122"/>
                <a:cs typeface="Calibri" pitchFamily="34" charset="-120"/>
              </a:rPr>
              <a:t>Chunk → cold-call → confirm before advancing.</a:t>
            </a:r>
            <a:endParaRPr lang="en-US" sz="950" dirty="0"/>
          </a:p>
        </p:txBody>
      </p:sp>
      <p:sp>
        <p:nvSpPr>
          <p:cNvPr id="20" name="Text 16"/>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83</a:t>
            </a:r>
            <a:endParaRPr lang="en-US" sz="9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3">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F3A5F"/>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B22234"/>
                </a:solidFill>
                <a:latin typeface="Trebuchet MS" pitchFamily="34" charset="0"/>
                <a:ea typeface="Trebuchet MS" pitchFamily="34" charset="-122"/>
                <a:cs typeface="Trebuchet MS" pitchFamily="34" charset="-120"/>
              </a:rPr>
              <a:t>US.06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F3A5F"/>
                </a:solidFill>
                <a:latin typeface="Georgia" pitchFamily="34" charset="0"/>
                <a:ea typeface="Georgia" pitchFamily="34" charset="-122"/>
                <a:cs typeface="Georgia" pitchFamily="34" charset="-120"/>
              </a:rPr>
              <a:t>Rural-to-Urban Migration</a:t>
            </a:r>
            <a:endParaRPr lang="en-US" sz="3000" dirty="0"/>
          </a:p>
        </p:txBody>
      </p:sp>
      <p:sp>
        <p:nvSpPr>
          <p:cNvPr id="5" name="Shape 3"/>
          <p:cNvSpPr/>
          <p:nvPr/>
        </p:nvSpPr>
        <p:spPr>
          <a:xfrm>
            <a:off x="10765231" y="502920"/>
            <a:ext cx="146304" cy="146304"/>
          </a:xfrm>
          <a:prstGeom prst="ellipse">
            <a:avLst/>
          </a:prstGeom>
          <a:solidFill>
            <a:srgbClr val="A7BACB"/>
          </a:solidFill>
          <a:ln/>
        </p:spPr>
        <p:txBody>
          <a:bodyPr/>
          <a:p/>
        </p:txBody>
      </p:sp>
      <p:sp>
        <p:nvSpPr>
          <p:cNvPr id="6" name="Shape 4"/>
          <p:cNvSpPr/>
          <p:nvPr/>
        </p:nvSpPr>
        <p:spPr>
          <a:xfrm>
            <a:off x="11057839" y="502920"/>
            <a:ext cx="146304" cy="146304"/>
          </a:xfrm>
          <a:prstGeom prst="ellipse">
            <a:avLst/>
          </a:prstGeom>
          <a:solidFill>
            <a:srgbClr val="B22234"/>
          </a:solidFill>
          <a:ln/>
        </p:spPr>
        <p:txBody>
          <a:bodyPr/>
          <a:p/>
        </p:txBody>
      </p:sp>
      <p:sp>
        <p:nvSpPr>
          <p:cNvPr id="7" name="Shape 5"/>
          <p:cNvSpPr/>
          <p:nvPr/>
        </p:nvSpPr>
        <p:spPr>
          <a:xfrm>
            <a:off x="11350447" y="502920"/>
            <a:ext cx="146304" cy="146304"/>
          </a:xfrm>
          <a:prstGeom prst="ellipse">
            <a:avLst/>
          </a:prstGeom>
          <a:solidFill>
            <a:srgbClr val="A7BACB"/>
          </a:solidFill>
          <a:ln/>
        </p:spPr>
        <p:txBody>
          <a:bodyPr/>
          <a:p/>
        </p:txBody>
      </p:sp>
      <p:sp>
        <p:nvSpPr>
          <p:cNvPr id="8" name="Text 6"/>
          <p:cNvSpPr/>
          <p:nvPr/>
        </p:nvSpPr>
        <p:spPr>
          <a:xfrm>
            <a:off x="9805111"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2 of 3</a:t>
            </a:r>
            <a:endParaRPr lang="en-US" sz="1000" dirty="0"/>
          </a:p>
        </p:txBody>
      </p:sp>
      <p:sp>
        <p:nvSpPr>
          <p:cNvPr id="9" name="Shape 7"/>
          <p:cNvSpPr/>
          <p:nvPr/>
        </p:nvSpPr>
        <p:spPr>
          <a:xfrm>
            <a:off x="548640" y="1783080"/>
            <a:ext cx="11064240" cy="4069080"/>
          </a:xfrm>
          <a:prstGeom prst="rect">
            <a:avLst/>
          </a:prstGeom>
          <a:solidFill>
            <a:srgbClr val="FFFFFF"/>
          </a:solidFill>
          <a:ln w="12700">
            <a:solidFill>
              <a:srgbClr val="DAD3C2"/>
            </a:solidFill>
            <a:prstDash val="solid"/>
          </a:ln>
        </p:spPr>
        <p:txBody>
          <a:bodyPr/>
          <a:p/>
        </p:txBody>
      </p:sp>
      <p:sp>
        <p:nvSpPr>
          <p:cNvPr id="10" name="Text 8"/>
          <p:cNvSpPr/>
          <p:nvPr/>
        </p:nvSpPr>
        <p:spPr>
          <a:xfrm>
            <a:off x="914400" y="2057400"/>
            <a:ext cx="10424160" cy="3566160"/>
          </a:xfrm>
          <a:prstGeom prst="rect">
            <a:avLst/>
          </a:prstGeom>
          <a:noFill/>
          <a:ln/>
        </p:spPr>
        <p:txBody>
          <a:bodyPr wrap="square" rtlCol="0" anchor="t"/>
          <a:lstStyle/>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Industrialization drew millions from farms to cities seeking factory jobs.</a:t>
            </a:r>
            <a:endParaRPr lang="en-US" sz="1700" dirty="0"/>
          </a:p>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promise of wages attracted both native-born Americans and immigrants.</a:t>
            </a:r>
            <a:endParaRPr lang="en-US" sz="1700" dirty="0"/>
          </a:p>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Cities grew explosively—Chicago's population increased from 30,000 in 1850 to over 1 million by 1890.</a:t>
            </a:r>
            <a:endParaRPr lang="en-US" sz="1700" dirty="0"/>
          </a:p>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This rapid growth created overcrowded tenements, inadequate sanitation, and new social challenges.</a:t>
            </a:r>
            <a:endParaRPr lang="en-US" sz="1700" dirty="0"/>
          </a:p>
        </p:txBody>
      </p:sp>
      <p:sp>
        <p:nvSpPr>
          <p:cNvPr id="11" name="Text 9"/>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2" name="Text 10"/>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84</a:t>
            </a:r>
            <a:endParaRPr lang="en-US" sz="9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4">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F3A5F"/>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B22234"/>
                </a:solidFill>
                <a:latin typeface="Trebuchet MS" pitchFamily="34" charset="0"/>
                <a:ea typeface="Trebuchet MS" pitchFamily="34" charset="-122"/>
                <a:cs typeface="Trebuchet MS" pitchFamily="34" charset="-120"/>
              </a:rPr>
              <a:t>US.06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F3A5F"/>
                </a:solidFill>
                <a:latin typeface="Georgia" pitchFamily="34" charset="0"/>
                <a:ea typeface="Georgia" pitchFamily="34" charset="-122"/>
                <a:cs typeface="Georgia" pitchFamily="34" charset="-120"/>
              </a:rPr>
              <a:t>Geographic Factors in Industrial Location</a:t>
            </a:r>
            <a:endParaRPr lang="en-US" sz="3000" dirty="0"/>
          </a:p>
        </p:txBody>
      </p:sp>
      <p:sp>
        <p:nvSpPr>
          <p:cNvPr id="5" name="Shape 3"/>
          <p:cNvSpPr/>
          <p:nvPr/>
        </p:nvSpPr>
        <p:spPr>
          <a:xfrm>
            <a:off x="10765231" y="502920"/>
            <a:ext cx="146304" cy="146304"/>
          </a:xfrm>
          <a:prstGeom prst="ellipse">
            <a:avLst/>
          </a:prstGeom>
          <a:solidFill>
            <a:srgbClr val="A7BACB"/>
          </a:solidFill>
          <a:ln/>
        </p:spPr>
        <p:txBody>
          <a:bodyPr/>
          <a:p/>
        </p:txBody>
      </p:sp>
      <p:sp>
        <p:nvSpPr>
          <p:cNvPr id="6" name="Shape 4"/>
          <p:cNvSpPr/>
          <p:nvPr/>
        </p:nvSpPr>
        <p:spPr>
          <a:xfrm>
            <a:off x="11057839" y="502920"/>
            <a:ext cx="146304" cy="146304"/>
          </a:xfrm>
          <a:prstGeom prst="ellipse">
            <a:avLst/>
          </a:prstGeom>
          <a:solidFill>
            <a:srgbClr val="A7BACB"/>
          </a:solidFill>
          <a:ln/>
        </p:spPr>
        <p:txBody>
          <a:bodyPr/>
          <a:p/>
        </p:txBody>
      </p:sp>
      <p:sp>
        <p:nvSpPr>
          <p:cNvPr id="7" name="Shape 5"/>
          <p:cNvSpPr/>
          <p:nvPr/>
        </p:nvSpPr>
        <p:spPr>
          <a:xfrm>
            <a:off x="11350447" y="502920"/>
            <a:ext cx="146304" cy="146304"/>
          </a:xfrm>
          <a:prstGeom prst="ellipse">
            <a:avLst/>
          </a:prstGeom>
          <a:solidFill>
            <a:srgbClr val="B22234"/>
          </a:solidFill>
          <a:ln/>
        </p:spPr>
        <p:txBody>
          <a:bodyPr/>
          <a:p/>
        </p:txBody>
      </p:sp>
      <p:sp>
        <p:nvSpPr>
          <p:cNvPr id="8" name="Text 6"/>
          <p:cNvSpPr/>
          <p:nvPr/>
        </p:nvSpPr>
        <p:spPr>
          <a:xfrm>
            <a:off x="9805111"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3 of 3</a:t>
            </a:r>
            <a:endParaRPr lang="en-US" sz="1000" dirty="0"/>
          </a:p>
        </p:txBody>
      </p:sp>
      <p:sp>
        <p:nvSpPr>
          <p:cNvPr id="9" name="Shape 7"/>
          <p:cNvSpPr/>
          <p:nvPr/>
        </p:nvSpPr>
        <p:spPr>
          <a:xfrm>
            <a:off x="548640" y="1783080"/>
            <a:ext cx="6766560" cy="4069080"/>
          </a:xfrm>
          <a:prstGeom prst="rect">
            <a:avLst/>
          </a:prstGeom>
          <a:solidFill>
            <a:srgbClr val="FFFFFF"/>
          </a:solidFill>
          <a:ln w="12700">
            <a:solidFill>
              <a:srgbClr val="DAD3C2"/>
            </a:solidFill>
            <a:prstDash val="solid"/>
          </a:ln>
        </p:spPr>
        <p:txBody>
          <a:bodyPr/>
          <a:p/>
        </p:txBody>
      </p:sp>
      <p:sp>
        <p:nvSpPr>
          <p:cNvPr id="10" name="Text 8"/>
          <p:cNvSpPr/>
          <p:nvPr/>
        </p:nvSpPr>
        <p:spPr>
          <a:xfrm>
            <a:off x="914400" y="2057400"/>
            <a:ext cx="6126480" cy="3566160"/>
          </a:xfrm>
          <a:prstGeom prst="rect">
            <a:avLst/>
          </a:prstGeom>
          <a:noFill/>
          <a:ln/>
        </p:spPr>
        <p:txBody>
          <a:bodyPr wrap="square" rtlCol="0" anchor="t"/>
          <a:lstStyle/>
          <a:p>
            <a:pPr marL="228600" indent="-228600">
              <a:lnSpc>
                <a:spcPct val="112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Industries located based on access to raw materials, transportation, markets, and labor.</a:t>
            </a:r>
            <a:endParaRPr lang="en-US" sz="1550" dirty="0"/>
          </a:p>
          <a:p>
            <a:pPr marL="228600" indent="-228600">
              <a:lnSpc>
                <a:spcPct val="112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Steel mills clustered near coal and iron deposits.</a:t>
            </a:r>
            <a:endParaRPr lang="en-US" sz="1550" dirty="0"/>
          </a:p>
          <a:p>
            <a:pPr marL="228600" indent="-228600">
              <a:lnSpc>
                <a:spcPct val="112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Textile mills used water power and later concentrated near ports for cotton imports.</a:t>
            </a:r>
            <a:endParaRPr lang="en-US" sz="1550" dirty="0"/>
          </a:p>
          <a:p>
            <a:pPr marL="228600" indent="-228600">
              <a:lnSpc>
                <a:spcPct val="112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Meatpacking centered in Chicago due to railroad connections to cattle ranges and eastern markets.</a:t>
            </a:r>
            <a:endParaRPr lang="en-US" sz="1550" dirty="0"/>
          </a:p>
          <a:p>
            <a:pPr marL="228600" indent="-228600">
              <a:lnSpc>
                <a:spcPct val="112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These patterns shaped regional development for generations.</a:t>
            </a:r>
            <a:endParaRPr lang="en-US" sz="1550" dirty="0"/>
          </a:p>
        </p:txBody>
      </p:sp>
      <p:sp>
        <p:nvSpPr>
          <p:cNvPr id="11" name="Shape 9"/>
          <p:cNvSpPr/>
          <p:nvPr/>
        </p:nvSpPr>
        <p:spPr>
          <a:xfrm>
            <a:off x="7552944" y="1746504"/>
            <a:ext cx="4142232" cy="3575304"/>
          </a:xfrm>
          <a:prstGeom prst="rect">
            <a:avLst/>
          </a:prstGeom>
          <a:solidFill>
            <a:srgbClr val="FFFFFF"/>
          </a:solidFill>
          <a:ln w="12700">
            <a:solidFill>
              <a:srgbClr val="DAD3C2"/>
            </a:solidFill>
            <a:prstDash val="solid"/>
          </a:ln>
        </p:spPr>
        <p:txBody>
          <a:bodyPr/>
          <a:p/>
        </p:txBody>
      </p:sp>
      <p:pic>
        <p:nvPicPr>
          <p:cNvPr id="12" name="Image 0" descr="Henry Gannett / U.S. Census Office, 1898  Library of Congress">    </p:cNvPr>
          <p:cNvPicPr>
            <a:picLocks noChangeAspect="1"/>
          </p:cNvPicPr>
          <p:nvPr/>
        </p:nvPicPr>
        <p:blipFill>
          <a:blip r:embed="rId1"/>
          <a:srcRect l="0" r="0" t="0" b="0"/>
          <a:stretch/>
        </p:blipFill>
        <p:spPr>
          <a:xfrm>
            <a:off x="7589520" y="1783080"/>
            <a:ext cx="4069080" cy="3502152"/>
          </a:xfrm>
          <a:prstGeom prst="rect">
            <a:avLst/>
          </a:prstGeom>
        </p:spPr>
      </p:pic>
      <p:sp>
        <p:nvSpPr>
          <p:cNvPr id="13" name="Text 10"/>
          <p:cNvSpPr/>
          <p:nvPr/>
        </p:nvSpPr>
        <p:spPr>
          <a:xfrm>
            <a:off x="7589520" y="5340096"/>
            <a:ext cx="4069080" cy="512064"/>
          </a:xfrm>
          <a:prstGeom prst="rect">
            <a:avLst/>
          </a:prstGeom>
          <a:noFill/>
          <a:ln/>
        </p:spPr>
        <p:txBody>
          <a:bodyPr wrap="square" rtlCol="0" anchor="t"/>
          <a:lstStyle/>
          <a:p>
            <a:pPr algn="l" indent="0" marL="0">
              <a:lnSpc>
                <a:spcPct val="100000"/>
              </a:lnSpc>
              <a:buNone/>
            </a:pPr>
            <a:pPr algn="l" indent="0" marL="0">
              <a:lnSpc>
                <a:spcPct val="100000"/>
              </a:lnSpc>
              <a:buNone/>
            </a:pPr>
            <a:r>
              <a:rPr lang="en-US" sz="900" i="1" dirty="0">
                <a:solidFill>
                  <a:srgbClr val="5C6470"/>
                </a:solidFill>
                <a:latin typeface="Calibri" pitchFamily="34" charset="0"/>
                <a:ea typeface="Calibri" pitchFamily="34" charset="-122"/>
                <a:cs typeface="Calibri" pitchFamily="34" charset="-120"/>
              </a:rPr>
              <a:t>Henry Gannett / U.S. Census Office, 1898  </a:t>
            </a:r>
            <a:pPr algn="l" indent="0" marL="0">
              <a:lnSpc>
                <a:spcPct val="100000"/>
              </a:lnSpc>
              <a:buNone/>
            </a:pPr>
            <a:r>
              <a:rPr lang="en-US" sz="9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800" dirty="0"/>
          </a:p>
        </p:txBody>
      </p:sp>
      <p:sp>
        <p:nvSpPr>
          <p:cNvPr id="14" name="Text 11"/>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5" name="Text 1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85</a:t>
            </a:r>
            <a:endParaRPr lang="en-US" sz="9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5">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B22234"/>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B22234"/>
                </a:solidFill>
                <a:latin typeface="Trebuchet MS" pitchFamily="34" charset="0"/>
                <a:ea typeface="Trebuchet MS" pitchFamily="34" charset="-122"/>
                <a:cs typeface="Trebuchet MS" pitchFamily="34" charset="-120"/>
              </a:rPr>
              <a:t>US.06 · PEOPLE WHO SHAPED THE ERA</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F3A5F"/>
                </a:solidFill>
                <a:latin typeface="Georgia" pitchFamily="34" charset="0"/>
                <a:ea typeface="Georgia" pitchFamily="34" charset="-122"/>
                <a:cs typeface="Georgia" pitchFamily="34" charset="-120"/>
              </a:rPr>
              <a:t>Key Figures</a:t>
            </a:r>
            <a:endParaRPr lang="en-US" sz="3000" dirty="0"/>
          </a:p>
        </p:txBody>
      </p:sp>
      <p:sp>
        <p:nvSpPr>
          <p:cNvPr id="5" name="Shape 3"/>
          <p:cNvSpPr/>
          <p:nvPr/>
        </p:nvSpPr>
        <p:spPr>
          <a:xfrm>
            <a:off x="548640" y="1627632"/>
            <a:ext cx="5394960" cy="4114800"/>
          </a:xfrm>
          <a:prstGeom prst="rect">
            <a:avLst/>
          </a:prstGeom>
          <a:solidFill>
            <a:srgbClr val="FFFFFF"/>
          </a:solidFill>
          <a:ln w="12700">
            <a:solidFill>
              <a:srgbClr val="DAD3C2"/>
            </a:solidFill>
            <a:prstDash val="solid"/>
          </a:ln>
        </p:spPr>
        <p:txBody>
          <a:bodyPr/>
          <a:p/>
        </p:txBody>
      </p:sp>
      <p:sp>
        <p:nvSpPr>
          <p:cNvPr id="6" name="Shape 4"/>
          <p:cNvSpPr/>
          <p:nvPr/>
        </p:nvSpPr>
        <p:spPr>
          <a:xfrm>
            <a:off x="548640" y="1627632"/>
            <a:ext cx="5394960" cy="868680"/>
          </a:xfrm>
          <a:prstGeom prst="rect">
            <a:avLst/>
          </a:prstGeom>
          <a:solidFill>
            <a:srgbClr val="1F3A5F"/>
          </a:solidFill>
          <a:ln/>
        </p:spPr>
        <p:txBody>
          <a:bodyPr/>
          <a:p/>
        </p:txBody>
      </p:sp>
      <p:sp>
        <p:nvSpPr>
          <p:cNvPr id="7" name="Text 5"/>
          <p:cNvSpPr/>
          <p:nvPr/>
        </p:nvSpPr>
        <p:spPr>
          <a:xfrm>
            <a:off x="667512" y="1627632"/>
            <a:ext cx="5157216" cy="630936"/>
          </a:xfrm>
          <a:prstGeom prst="rect">
            <a:avLst/>
          </a:prstGeom>
          <a:noFill/>
          <a:ln/>
        </p:spPr>
        <p:txBody>
          <a:bodyPr wrap="square" rtlCol="0" anchor="ctr">
            <a:normAutofit/>
          </a:bodyPr>
          <a:lstStyle/>
          <a:p>
            <a:pPr indent="0" marL="0">
              <a:lnSpc>
                <a:spcPct val="95000"/>
              </a:lnSpc>
              <a:buNone/>
            </a:pPr>
            <a:r>
              <a:rPr lang="en-US" sz="1800" b="1" dirty="0">
                <a:solidFill>
                  <a:srgbClr val="FFFFFF"/>
                </a:solidFill>
                <a:latin typeface="Georgia" pitchFamily="34" charset="0"/>
                <a:ea typeface="Georgia" pitchFamily="34" charset="-122"/>
                <a:cs typeface="Georgia" pitchFamily="34" charset="-120"/>
              </a:rPr>
              <a:t>Samuel Gompers</a:t>
            </a:r>
            <a:endParaRPr lang="en-US" sz="1800" dirty="0"/>
          </a:p>
        </p:txBody>
      </p:sp>
      <p:sp>
        <p:nvSpPr>
          <p:cNvPr id="8" name="Text 6"/>
          <p:cNvSpPr/>
          <p:nvPr/>
        </p:nvSpPr>
        <p:spPr>
          <a:xfrm>
            <a:off x="667512" y="2221992"/>
            <a:ext cx="5157216" cy="274320"/>
          </a:xfrm>
          <a:prstGeom prst="rect">
            <a:avLst/>
          </a:prstGeom>
          <a:noFill/>
          <a:ln/>
        </p:spPr>
        <p:txBody>
          <a:bodyPr wrap="square" rtlCol="0" anchor="ctr">
            <a:normAutofit/>
          </a:bodyPr>
          <a:lstStyle/>
          <a:p>
            <a:pPr indent="0" marL="0">
              <a:buNone/>
            </a:pPr>
            <a:r>
              <a:rPr lang="en-US" sz="1100" dirty="0">
                <a:solidFill>
                  <a:srgbClr val="F9A825"/>
                </a:solidFill>
                <a:latin typeface="Trebuchet MS" pitchFamily="34" charset="0"/>
                <a:ea typeface="Trebuchet MS" pitchFamily="34" charset="-122"/>
                <a:cs typeface="Trebuchet MS" pitchFamily="34" charset="-120"/>
              </a:rPr>
              <a:t>Labor Union Leader · Cigar Maker</a:t>
            </a:r>
            <a:endParaRPr lang="en-US" sz="1100" dirty="0"/>
          </a:p>
        </p:txBody>
      </p:sp>
      <p:sp>
        <p:nvSpPr>
          <p:cNvPr id="9" name="Text 7"/>
          <p:cNvSpPr/>
          <p:nvPr/>
        </p:nvSpPr>
        <p:spPr>
          <a:xfrm>
            <a:off x="694944" y="2606040"/>
            <a:ext cx="5102352" cy="2542032"/>
          </a:xfrm>
          <a:prstGeom prst="rect">
            <a:avLst/>
          </a:prstGeom>
          <a:noFill/>
          <a:ln/>
        </p:spPr>
        <p:txBody>
          <a:bodyPr wrap="square" rtlCol="0" anchor="ctr"/>
          <a:lstStyle/>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Founded the American Federation of Labor (AFL)</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Served as AFL President for 37 years</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Pioneered "bread and butter" unionism focusing on wages and hours</a:t>
            </a:r>
            <a:endParaRPr lang="en-US" sz="1300" dirty="0"/>
          </a:p>
        </p:txBody>
      </p:sp>
      <p:sp>
        <p:nvSpPr>
          <p:cNvPr id="10" name="Shape 8"/>
          <p:cNvSpPr/>
          <p:nvPr/>
        </p:nvSpPr>
        <p:spPr>
          <a:xfrm>
            <a:off x="667512" y="5148072"/>
            <a:ext cx="5157216" cy="512064"/>
          </a:xfrm>
          <a:prstGeom prst="roundRect">
            <a:avLst>
              <a:gd name="adj" fmla="val 10714"/>
            </a:avLst>
          </a:prstGeom>
          <a:solidFill>
            <a:srgbClr val="FBEFD0"/>
          </a:solidFill>
          <a:ln w="15875">
            <a:solidFill>
              <a:srgbClr val="C9A227"/>
            </a:solidFill>
            <a:prstDash val="solid"/>
          </a:ln>
        </p:spPr>
        <p:txBody>
          <a:bodyPr/>
          <a:p/>
        </p:txBody>
      </p:sp>
      <p:sp>
        <p:nvSpPr>
          <p:cNvPr id="11" name="Text 9"/>
          <p:cNvSpPr/>
          <p:nvPr/>
        </p:nvSpPr>
        <p:spPr>
          <a:xfrm>
            <a:off x="749808" y="5175504"/>
            <a:ext cx="5010912" cy="457200"/>
          </a:xfrm>
          <a:prstGeom prst="rect">
            <a:avLst/>
          </a:prstGeom>
          <a:noFill/>
          <a:ln/>
        </p:spPr>
        <p:txBody>
          <a:bodyPr wrap="square" rtlCol="0" anchor="ctr">
            <a:normAutofit/>
          </a:bodyPr>
          <a:lstStyle/>
          <a:p>
            <a:pPr indent="0" marL="0">
              <a:lnSpc>
                <a:spcPct val="92000"/>
              </a:lnSpc>
              <a:buNone/>
            </a:pPr>
            <a:r>
              <a:rPr lang="en-US" sz="900" b="1" spc="100" kern="0" dirty="0">
                <a:solidFill>
                  <a:srgbClr val="B22234"/>
                </a:solidFill>
                <a:latin typeface="Trebuchet MS" pitchFamily="34" charset="0"/>
                <a:ea typeface="Trebuchet MS" pitchFamily="34" charset="-122"/>
                <a:cs typeface="Trebuchet MS" pitchFamily="34" charset="-120"/>
              </a:rPr>
              <a:t>STRATEGY  </a:t>
            </a:r>
            <a:pPr indent="0" marL="0">
              <a:lnSpc>
                <a:spcPct val="92000"/>
              </a:lnSpc>
              <a:buNone/>
            </a:pPr>
            <a:r>
              <a:rPr lang="en-US" sz="1100" b="1" dirty="0">
                <a:solidFill>
                  <a:srgbClr val="1F3A5F"/>
                </a:solidFill>
                <a:latin typeface="Calibri" pitchFamily="34" charset="0"/>
                <a:ea typeface="Calibri" pitchFamily="34" charset="-122"/>
                <a:cs typeface="Calibri" pitchFamily="34" charset="-120"/>
              </a:rPr>
              <a:t>Skilled-craft unionism (AFL)</a:t>
            </a:r>
            <a:endParaRPr lang="en-US" sz="800" dirty="0"/>
          </a:p>
        </p:txBody>
      </p:sp>
      <p:sp>
        <p:nvSpPr>
          <p:cNvPr id="12" name="Shape 10"/>
          <p:cNvSpPr/>
          <p:nvPr/>
        </p:nvSpPr>
        <p:spPr>
          <a:xfrm>
            <a:off x="6217920" y="1627632"/>
            <a:ext cx="5394960" cy="4114800"/>
          </a:xfrm>
          <a:prstGeom prst="rect">
            <a:avLst/>
          </a:prstGeom>
          <a:solidFill>
            <a:srgbClr val="FFFFFF"/>
          </a:solidFill>
          <a:ln w="12700">
            <a:solidFill>
              <a:srgbClr val="DAD3C2"/>
            </a:solidFill>
            <a:prstDash val="solid"/>
          </a:ln>
        </p:spPr>
        <p:txBody>
          <a:bodyPr/>
          <a:p/>
        </p:txBody>
      </p:sp>
      <p:sp>
        <p:nvSpPr>
          <p:cNvPr id="13" name="Shape 11"/>
          <p:cNvSpPr/>
          <p:nvPr/>
        </p:nvSpPr>
        <p:spPr>
          <a:xfrm>
            <a:off x="6217920" y="1627632"/>
            <a:ext cx="5394960" cy="868680"/>
          </a:xfrm>
          <a:prstGeom prst="rect">
            <a:avLst/>
          </a:prstGeom>
          <a:solidFill>
            <a:srgbClr val="1F3A5F"/>
          </a:solidFill>
          <a:ln/>
        </p:spPr>
        <p:txBody>
          <a:bodyPr/>
          <a:p/>
        </p:txBody>
      </p:sp>
      <p:sp>
        <p:nvSpPr>
          <p:cNvPr id="14" name="Text 12"/>
          <p:cNvSpPr/>
          <p:nvPr/>
        </p:nvSpPr>
        <p:spPr>
          <a:xfrm>
            <a:off x="6336792" y="1627632"/>
            <a:ext cx="5157216" cy="630936"/>
          </a:xfrm>
          <a:prstGeom prst="rect">
            <a:avLst/>
          </a:prstGeom>
          <a:noFill/>
          <a:ln/>
        </p:spPr>
        <p:txBody>
          <a:bodyPr wrap="square" rtlCol="0" anchor="ctr">
            <a:normAutofit/>
          </a:bodyPr>
          <a:lstStyle/>
          <a:p>
            <a:pPr indent="0" marL="0">
              <a:lnSpc>
                <a:spcPct val="95000"/>
              </a:lnSpc>
              <a:buNone/>
            </a:pPr>
            <a:r>
              <a:rPr lang="en-US" sz="1800" b="1" dirty="0">
                <a:solidFill>
                  <a:srgbClr val="FFFFFF"/>
                </a:solidFill>
                <a:latin typeface="Georgia" pitchFamily="34" charset="0"/>
                <a:ea typeface="Georgia" pitchFamily="34" charset="-122"/>
                <a:cs typeface="Georgia" pitchFamily="34" charset="-120"/>
              </a:rPr>
              <a:t>Eugene V. Debs</a:t>
            </a:r>
            <a:endParaRPr lang="en-US" sz="1800" dirty="0"/>
          </a:p>
        </p:txBody>
      </p:sp>
      <p:sp>
        <p:nvSpPr>
          <p:cNvPr id="15" name="Text 13"/>
          <p:cNvSpPr/>
          <p:nvPr/>
        </p:nvSpPr>
        <p:spPr>
          <a:xfrm>
            <a:off x="6336792" y="2221992"/>
            <a:ext cx="5157216" cy="274320"/>
          </a:xfrm>
          <a:prstGeom prst="rect">
            <a:avLst/>
          </a:prstGeom>
          <a:noFill/>
          <a:ln/>
        </p:spPr>
        <p:txBody>
          <a:bodyPr wrap="square" rtlCol="0" anchor="ctr">
            <a:normAutofit/>
          </a:bodyPr>
          <a:lstStyle/>
          <a:p>
            <a:pPr indent="0" marL="0">
              <a:buNone/>
            </a:pPr>
            <a:r>
              <a:rPr lang="en-US" sz="1100" dirty="0">
                <a:solidFill>
                  <a:srgbClr val="F9A825"/>
                </a:solidFill>
                <a:latin typeface="Trebuchet MS" pitchFamily="34" charset="0"/>
                <a:ea typeface="Trebuchet MS" pitchFamily="34" charset="-122"/>
                <a:cs typeface="Trebuchet MS" pitchFamily="34" charset="-120"/>
              </a:rPr>
              <a:t>Labor Organizer · Socialist Leader</a:t>
            </a:r>
            <a:endParaRPr lang="en-US" sz="1100" dirty="0"/>
          </a:p>
        </p:txBody>
      </p:sp>
      <p:sp>
        <p:nvSpPr>
          <p:cNvPr id="16" name="Text 14"/>
          <p:cNvSpPr/>
          <p:nvPr/>
        </p:nvSpPr>
        <p:spPr>
          <a:xfrm>
            <a:off x="6364224" y="2606040"/>
            <a:ext cx="5102352" cy="2542032"/>
          </a:xfrm>
          <a:prstGeom prst="rect">
            <a:avLst/>
          </a:prstGeom>
          <a:noFill/>
          <a:ln/>
        </p:spPr>
        <p:txBody>
          <a:bodyPr wrap="square" rtlCol="0" anchor="ctr"/>
          <a:lstStyle/>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Founded the American Railway Union</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Led the Pullman Strike of 1894</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Co-founded the Industrial Workers of the World (IWW)</a:t>
            </a:r>
            <a:endParaRPr lang="en-US" sz="1300" dirty="0"/>
          </a:p>
        </p:txBody>
      </p:sp>
      <p:sp>
        <p:nvSpPr>
          <p:cNvPr id="17" name="Shape 15"/>
          <p:cNvSpPr/>
          <p:nvPr/>
        </p:nvSpPr>
        <p:spPr>
          <a:xfrm>
            <a:off x="6336792" y="5148072"/>
            <a:ext cx="5157216" cy="512064"/>
          </a:xfrm>
          <a:prstGeom prst="roundRect">
            <a:avLst>
              <a:gd name="adj" fmla="val 10714"/>
            </a:avLst>
          </a:prstGeom>
          <a:solidFill>
            <a:srgbClr val="FBEFD0"/>
          </a:solidFill>
          <a:ln w="15875">
            <a:solidFill>
              <a:srgbClr val="C9A227"/>
            </a:solidFill>
            <a:prstDash val="solid"/>
          </a:ln>
        </p:spPr>
        <p:txBody>
          <a:bodyPr/>
          <a:p/>
        </p:txBody>
      </p:sp>
      <p:sp>
        <p:nvSpPr>
          <p:cNvPr id="18" name="Text 16"/>
          <p:cNvSpPr/>
          <p:nvPr/>
        </p:nvSpPr>
        <p:spPr>
          <a:xfrm>
            <a:off x="6419088" y="5175504"/>
            <a:ext cx="5010912" cy="457200"/>
          </a:xfrm>
          <a:prstGeom prst="rect">
            <a:avLst/>
          </a:prstGeom>
          <a:noFill/>
          <a:ln/>
        </p:spPr>
        <p:txBody>
          <a:bodyPr wrap="square" rtlCol="0" anchor="ctr">
            <a:normAutofit/>
          </a:bodyPr>
          <a:lstStyle/>
          <a:p>
            <a:pPr indent="0" marL="0">
              <a:lnSpc>
                <a:spcPct val="92000"/>
              </a:lnSpc>
              <a:buNone/>
            </a:pPr>
            <a:r>
              <a:rPr lang="en-US" sz="900" b="1" spc="100" kern="0" dirty="0">
                <a:solidFill>
                  <a:srgbClr val="B22234"/>
                </a:solidFill>
                <a:latin typeface="Trebuchet MS" pitchFamily="34" charset="0"/>
                <a:ea typeface="Trebuchet MS" pitchFamily="34" charset="-122"/>
                <a:cs typeface="Trebuchet MS" pitchFamily="34" charset="-120"/>
              </a:rPr>
              <a:t>STRATEGY  </a:t>
            </a:r>
            <a:pPr indent="0" marL="0">
              <a:lnSpc>
                <a:spcPct val="92000"/>
              </a:lnSpc>
              <a:buNone/>
            </a:pPr>
            <a:r>
              <a:rPr lang="en-US" sz="1100" b="1" dirty="0">
                <a:solidFill>
                  <a:srgbClr val="1F3A5F"/>
                </a:solidFill>
                <a:latin typeface="Calibri" pitchFamily="34" charset="0"/>
                <a:ea typeface="Calibri" pitchFamily="34" charset="-122"/>
                <a:cs typeface="Calibri" pitchFamily="34" charset="-120"/>
              </a:rPr>
              <a:t>Industrial unionism / socialism</a:t>
            </a:r>
            <a:endParaRPr lang="en-US" sz="800" dirty="0"/>
          </a:p>
        </p:txBody>
      </p:sp>
      <p:sp>
        <p:nvSpPr>
          <p:cNvPr id="19" name="Text 17"/>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0"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86</a:t>
            </a:r>
            <a:endParaRPr lang="en-US" sz="9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6">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285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002858"/>
                </a:solidFill>
                <a:latin typeface="Trebuchet MS" pitchFamily="34" charset="0"/>
                <a:ea typeface="Trebuchet MS" pitchFamily="34" charset="-122"/>
                <a:cs typeface="Trebuchet MS" pitchFamily="34" charset="-120"/>
              </a:rPr>
              <a:t>US.06 · PRIMARY SOURCE ANALYSIS</a:t>
            </a:r>
            <a:endParaRPr lang="en-US" sz="1200" dirty="0"/>
          </a:p>
        </p:txBody>
      </p:sp>
      <p:sp>
        <p:nvSpPr>
          <p:cNvPr id="4" name="Text 2"/>
          <p:cNvSpPr/>
          <p:nvPr/>
        </p:nvSpPr>
        <p:spPr>
          <a:xfrm>
            <a:off x="548640" y="731520"/>
            <a:ext cx="8686800" cy="640080"/>
          </a:xfrm>
          <a:prstGeom prst="rect">
            <a:avLst/>
          </a:prstGeom>
          <a:noFill/>
          <a:ln/>
        </p:spPr>
        <p:txBody>
          <a:bodyPr wrap="square" rtlCol="0" anchor="t"/>
          <a:lstStyle/>
          <a:p>
            <a:pPr indent="0" marL="0">
              <a:buNone/>
            </a:pPr>
            <a:r>
              <a:rPr lang="en-US" sz="2500" b="1" dirty="0">
                <a:solidFill>
                  <a:srgbClr val="1F3A5F"/>
                </a:solidFill>
                <a:latin typeface="Georgia" pitchFamily="34" charset="0"/>
                <a:ea typeface="Georgia" pitchFamily="34" charset="-122"/>
                <a:cs typeface="Georgia" pitchFamily="34" charset="-120"/>
              </a:rPr>
              <a:t>How the Other Half Lives</a:t>
            </a:r>
            <a:endParaRPr lang="en-US" sz="2500" dirty="0"/>
          </a:p>
        </p:txBody>
      </p:sp>
      <p:sp>
        <p:nvSpPr>
          <p:cNvPr id="5" name="Shape 3"/>
          <p:cNvSpPr/>
          <p:nvPr/>
        </p:nvSpPr>
        <p:spPr>
          <a:xfrm>
            <a:off x="9418320" y="777240"/>
            <a:ext cx="2194560" cy="457200"/>
          </a:xfrm>
          <a:prstGeom prst="roundRect">
            <a:avLst>
              <a:gd name="adj" fmla="val 20000"/>
            </a:avLst>
          </a:prstGeom>
          <a:solidFill>
            <a:srgbClr val="002858"/>
          </a:solidFill>
          <a:ln/>
        </p:spPr>
        <p:txBody>
          <a:bodyPr/>
          <a:p/>
        </p:txBody>
      </p:sp>
      <p:sp>
        <p:nvSpPr>
          <p:cNvPr id="6" name="Text 4"/>
          <p:cNvSpPr/>
          <p:nvPr/>
        </p:nvSpPr>
        <p:spPr>
          <a:xfrm>
            <a:off x="9418320" y="777240"/>
            <a:ext cx="219456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Contextualization</a:t>
            </a:r>
            <a:endParaRPr lang="en-US" sz="1200" dirty="0"/>
          </a:p>
        </p:txBody>
      </p:sp>
      <p:sp>
        <p:nvSpPr>
          <p:cNvPr id="7" name="Text 5"/>
          <p:cNvSpPr/>
          <p:nvPr/>
        </p:nvSpPr>
        <p:spPr>
          <a:xfrm>
            <a:off x="548640" y="1335024"/>
            <a:ext cx="10058400" cy="274320"/>
          </a:xfrm>
          <a:prstGeom prst="rect">
            <a:avLst/>
          </a:prstGeom>
          <a:noFill/>
          <a:ln/>
        </p:spPr>
        <p:txBody>
          <a:bodyPr wrap="square" rtlCol="0" anchor="ctr"/>
          <a:lstStyle/>
          <a:p>
            <a:pPr indent="0" marL="0">
              <a:buNone/>
            </a:pPr>
            <a:r>
              <a:rPr lang="en-US" sz="1200" i="1" dirty="0">
                <a:solidFill>
                  <a:srgbClr val="5C6470"/>
                </a:solidFill>
                <a:latin typeface="Calibri" pitchFamily="34" charset="0"/>
                <a:ea typeface="Calibri" pitchFamily="34" charset="-122"/>
                <a:cs typeface="Calibri" pitchFamily="34" charset="-120"/>
              </a:rPr>
              <a:t>Jacob Riis  ·  1890</a:t>
            </a:r>
            <a:endParaRPr lang="en-US" sz="1200" dirty="0"/>
          </a:p>
        </p:txBody>
      </p:sp>
      <p:sp>
        <p:nvSpPr>
          <p:cNvPr id="8" name="Shape 6"/>
          <p:cNvSpPr/>
          <p:nvPr/>
        </p:nvSpPr>
        <p:spPr>
          <a:xfrm>
            <a:off x="512064" y="1700784"/>
            <a:ext cx="3273552" cy="2660904"/>
          </a:xfrm>
          <a:prstGeom prst="rect">
            <a:avLst/>
          </a:prstGeom>
          <a:solidFill>
            <a:srgbClr val="FFFFFF"/>
          </a:solidFill>
          <a:ln w="12700">
            <a:solidFill>
              <a:srgbClr val="DAD3C2"/>
            </a:solidFill>
            <a:prstDash val="solid"/>
          </a:ln>
        </p:spPr>
        <p:txBody>
          <a:bodyPr/>
          <a:p/>
        </p:txBody>
      </p:sp>
      <p:pic>
        <p:nvPicPr>
          <p:cNvPr id="9" name="Image 0" descr="Jacob Riis  ·  1890">    </p:cNvPr>
          <p:cNvPicPr>
            <a:picLocks noChangeAspect="1"/>
          </p:cNvPicPr>
          <p:nvPr/>
        </p:nvPicPr>
        <p:blipFill>
          <a:blip r:embed="rId1"/>
          <a:srcRect l="0" r="0" t="0" b="0"/>
          <a:stretch/>
        </p:blipFill>
        <p:spPr>
          <a:xfrm>
            <a:off x="548640" y="1737360"/>
            <a:ext cx="3200400" cy="2587752"/>
          </a:xfrm>
          <a:prstGeom prst="rect">
            <a:avLst/>
          </a:prstGeom>
        </p:spPr>
      </p:pic>
      <p:sp>
        <p:nvSpPr>
          <p:cNvPr id="10" name="Text 7"/>
          <p:cNvSpPr/>
          <p:nvPr/>
        </p:nvSpPr>
        <p:spPr>
          <a:xfrm>
            <a:off x="548640" y="4379976"/>
            <a:ext cx="3200400" cy="603504"/>
          </a:xfrm>
          <a:prstGeom prst="rect">
            <a:avLst/>
          </a:prstGeom>
          <a:noFill/>
          <a:ln/>
        </p:spPr>
        <p:txBody>
          <a:bodyPr wrap="square" rtlCol="0" anchor="t"/>
          <a:lstStyle/>
          <a:p>
            <a:pPr algn="l" indent="0" marL="0">
              <a:lnSpc>
                <a:spcPct val="100000"/>
              </a:lnSpc>
              <a:buNone/>
            </a:pPr>
            <a:pPr algn="l" indent="0" marL="0">
              <a:lnSpc>
                <a:spcPct val="100000"/>
              </a:lnSpc>
              <a:buNone/>
            </a:pPr>
            <a:r>
              <a:rPr lang="en-US" sz="900" i="1" dirty="0">
                <a:solidFill>
                  <a:srgbClr val="5C6470"/>
                </a:solidFill>
                <a:latin typeface="Calibri" pitchFamily="34" charset="0"/>
                <a:ea typeface="Calibri" pitchFamily="34" charset="-122"/>
                <a:cs typeface="Calibri" pitchFamily="34" charset="-120"/>
              </a:rPr>
              <a:t>Jacob A. Riis, 1889  </a:t>
            </a:r>
            <a:pPr algn="l" indent="0" marL="0">
              <a:lnSpc>
                <a:spcPct val="100000"/>
              </a:lnSpc>
              <a:buNone/>
            </a:pPr>
            <a:r>
              <a:rPr lang="en-US" sz="9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750" dirty="0"/>
          </a:p>
        </p:txBody>
      </p:sp>
      <p:sp>
        <p:nvSpPr>
          <p:cNvPr id="11" name="Shape 8"/>
          <p:cNvSpPr/>
          <p:nvPr/>
        </p:nvSpPr>
        <p:spPr>
          <a:xfrm>
            <a:off x="658368" y="1828800"/>
            <a:ext cx="2980944" cy="512064"/>
          </a:xfrm>
          <a:prstGeom prst="roundRect">
            <a:avLst>
              <a:gd name="adj" fmla="val 10714"/>
            </a:avLst>
          </a:prstGeom>
          <a:solidFill>
            <a:srgbClr val="C9A227"/>
          </a:solidFill>
          <a:ln w="12700">
            <a:solidFill>
              <a:srgbClr val="1F3A5F"/>
            </a:solidFill>
            <a:prstDash val="solid"/>
          </a:ln>
        </p:spPr>
        <p:txBody>
          <a:bodyPr/>
          <a:p/>
        </p:txBody>
      </p:sp>
      <p:sp>
        <p:nvSpPr>
          <p:cNvPr id="12" name="Text 9"/>
          <p:cNvSpPr/>
          <p:nvPr/>
        </p:nvSpPr>
        <p:spPr>
          <a:xfrm>
            <a:off x="768096" y="1865376"/>
            <a:ext cx="2761488" cy="438912"/>
          </a:xfrm>
          <a:prstGeom prst="rect">
            <a:avLst/>
          </a:prstGeom>
          <a:noFill/>
          <a:ln/>
        </p:spPr>
        <p:txBody>
          <a:bodyPr wrap="square" rtlCol="0" anchor="ctr"/>
          <a:lstStyle/>
          <a:p>
            <a:pPr indent="0" marL="0">
              <a:lnSpc>
                <a:spcPct val="95000"/>
              </a:lnSpc>
              <a:buNone/>
            </a:pPr>
            <a:r>
              <a:rPr lang="en-US" sz="950" b="1" spc="150" kern="0" dirty="0">
                <a:solidFill>
                  <a:srgbClr val="1F3A5F"/>
                </a:solidFill>
                <a:latin typeface="Trebuchet MS" pitchFamily="34" charset="0"/>
                <a:ea typeface="Trebuchet MS" pitchFamily="34" charset="-122"/>
                <a:cs typeface="Trebuchet MS" pitchFamily="34" charset="-120"/>
              </a:rPr>
              <a:t>ZOOM IN  </a:t>
            </a:r>
            <a:pPr indent="0" marL="0">
              <a:lnSpc>
                <a:spcPct val="95000"/>
              </a:lnSpc>
              <a:buNone/>
            </a:pPr>
            <a:r>
              <a:rPr lang="en-US" sz="900" i="1" dirty="0">
                <a:solidFill>
                  <a:srgbClr val="1F3A5F"/>
                </a:solidFill>
                <a:latin typeface="Calibri" pitchFamily="34" charset="0"/>
                <a:ea typeface="Calibri" pitchFamily="34" charset="-122"/>
                <a:cs typeface="Calibri" pitchFamily="34" charset="-120"/>
              </a:rPr>
              <a:t>Find ONE detail that surprises you — be ready to name it.</a:t>
            </a:r>
            <a:endParaRPr lang="en-US" sz="950" dirty="0"/>
          </a:p>
        </p:txBody>
      </p:sp>
      <p:sp>
        <p:nvSpPr>
          <p:cNvPr id="13" name="Shape 10"/>
          <p:cNvSpPr/>
          <p:nvPr/>
        </p:nvSpPr>
        <p:spPr>
          <a:xfrm>
            <a:off x="3931920" y="1737360"/>
            <a:ext cx="3520440" cy="3246120"/>
          </a:xfrm>
          <a:prstGeom prst="rect">
            <a:avLst/>
          </a:prstGeom>
          <a:solidFill>
            <a:srgbClr val="FFFFFF"/>
          </a:solidFill>
          <a:ln w="12700">
            <a:solidFill>
              <a:srgbClr val="DAD3C2"/>
            </a:solidFill>
            <a:prstDash val="solid"/>
          </a:ln>
        </p:spPr>
        <p:txBody>
          <a:bodyPr/>
          <a:p/>
        </p:txBody>
      </p:sp>
      <p:sp>
        <p:nvSpPr>
          <p:cNvPr id="14" name="Shape 11"/>
          <p:cNvSpPr/>
          <p:nvPr/>
        </p:nvSpPr>
        <p:spPr>
          <a:xfrm>
            <a:off x="3931920" y="1737360"/>
            <a:ext cx="91440" cy="3246120"/>
          </a:xfrm>
          <a:prstGeom prst="rect">
            <a:avLst/>
          </a:prstGeom>
          <a:solidFill>
            <a:srgbClr val="C9A227"/>
          </a:solidFill>
          <a:ln/>
        </p:spPr>
        <p:txBody>
          <a:bodyPr/>
          <a:p/>
        </p:txBody>
      </p:sp>
      <p:sp>
        <p:nvSpPr>
          <p:cNvPr id="15" name="Text 12"/>
          <p:cNvSpPr/>
          <p:nvPr/>
        </p:nvSpPr>
        <p:spPr>
          <a:xfrm>
            <a:off x="4160520" y="1920240"/>
            <a:ext cx="3200400" cy="2880360"/>
          </a:xfrm>
          <a:prstGeom prst="rect">
            <a:avLst/>
          </a:prstGeom>
          <a:noFill/>
          <a:ln/>
        </p:spPr>
        <p:txBody>
          <a:bodyPr wrap="square" rtlCol="0" anchor="t"/>
          <a:lstStyle/>
          <a:p>
            <a:pPr indent="0" marL="0">
              <a:lnSpc>
                <a:spcPct val="112000"/>
              </a:lnSpc>
              <a:buNone/>
            </a:pPr>
            <a:r>
              <a:rPr lang="en-US" sz="1250" i="1" dirty="0">
                <a:solidFill>
                  <a:srgbClr val="1F2430"/>
                </a:solidFill>
                <a:latin typeface="Georgia" pitchFamily="34" charset="0"/>
                <a:ea typeface="Georgia" pitchFamily="34" charset="-122"/>
                <a:cs typeface="Georgia" pitchFamily="34" charset="-120"/>
              </a:rPr>
              <a:t>"In the tenements all the influences make for evil; because they are the hot-beds of the epidemics that carry death to rich and poor alike; the nurseries of pauperism and crime that fill our jails and police courts; that throw off a scum of forty thousand human wrecks to the island asylums and workhouses year by year."</a:t>
            </a:r>
            <a:endParaRPr lang="en-US" sz="1250" dirty="0"/>
          </a:p>
        </p:txBody>
      </p:sp>
      <p:sp>
        <p:nvSpPr>
          <p:cNvPr id="16" name="Shape 13"/>
          <p:cNvSpPr/>
          <p:nvPr/>
        </p:nvSpPr>
        <p:spPr>
          <a:xfrm>
            <a:off x="7589520" y="1737360"/>
            <a:ext cx="4023360" cy="1783080"/>
          </a:xfrm>
          <a:prstGeom prst="roundRect">
            <a:avLst>
              <a:gd name="adj" fmla="val 4103"/>
            </a:avLst>
          </a:prstGeom>
          <a:solidFill>
            <a:srgbClr val="1F3A5F"/>
          </a:solidFill>
          <a:ln/>
        </p:spPr>
        <p:txBody>
          <a:bodyPr/>
          <a:p/>
        </p:txBody>
      </p:sp>
      <p:sp>
        <p:nvSpPr>
          <p:cNvPr id="17" name="Text 14"/>
          <p:cNvSpPr/>
          <p:nvPr/>
        </p:nvSpPr>
        <p:spPr>
          <a:xfrm>
            <a:off x="7818120" y="1856232"/>
            <a:ext cx="3657600" cy="274320"/>
          </a:xfrm>
          <a:prstGeom prst="rect">
            <a:avLst/>
          </a:prstGeom>
          <a:noFill/>
          <a:ln/>
        </p:spPr>
        <p:txBody>
          <a:bodyPr wrap="square" rtlCol="0" anchor="ctr"/>
          <a:lstStyle/>
          <a:p>
            <a:pPr indent="0" marL="0">
              <a:buNone/>
            </a:pPr>
            <a:r>
              <a:rPr lang="en-US" sz="1100" b="1" spc="200" kern="0" dirty="0">
                <a:solidFill>
                  <a:srgbClr val="F9A825"/>
                </a:solidFill>
                <a:latin typeface="Trebuchet MS" pitchFamily="34" charset="0"/>
                <a:ea typeface="Trebuchet MS" pitchFamily="34" charset="-122"/>
                <a:cs typeface="Trebuchet MS" pitchFamily="34" charset="-120"/>
              </a:rPr>
              <a:t>CONTEXT</a:t>
            </a:r>
            <a:endParaRPr lang="en-US" sz="1100" dirty="0"/>
          </a:p>
        </p:txBody>
      </p:sp>
      <p:sp>
        <p:nvSpPr>
          <p:cNvPr id="18" name="Text 15"/>
          <p:cNvSpPr/>
          <p:nvPr/>
        </p:nvSpPr>
        <p:spPr>
          <a:xfrm>
            <a:off x="7818120" y="2139696"/>
            <a:ext cx="3611880" cy="1271016"/>
          </a:xfrm>
          <a:prstGeom prst="rect">
            <a:avLst/>
          </a:prstGeom>
          <a:noFill/>
          <a:ln/>
        </p:spPr>
        <p:txBody>
          <a:bodyPr wrap="square" rtlCol="0" anchor="t"/>
          <a:lstStyle/>
          <a:p>
            <a:pPr indent="0" marL="0">
              <a:lnSpc>
                <a:spcPct val="98000"/>
              </a:lnSpc>
              <a:buNone/>
            </a:pPr>
            <a:r>
              <a:rPr lang="en-US" sz="900" dirty="0">
                <a:solidFill>
                  <a:srgbClr val="FFFFFF"/>
                </a:solidFill>
                <a:latin typeface="Calibri" pitchFamily="34" charset="0"/>
                <a:ea typeface="Calibri" pitchFamily="34" charset="-122"/>
                <a:cs typeface="Calibri" pitchFamily="34" charset="-120"/>
              </a:rPr>
              <a:t>By 1890, millions of immigrants — primarily from Southern and Eastern Europe — had poured into American cities to work in factories, mines, and mills. In cities like New York, Chicago, and Pittsburgh, the poor were crowded into tenement buildings: dark, airless apartment buildings with shared toilets, no running water, and extreme overcrowding. Jacob Riis, a Danish immigrant himself who had experienced poverty firsthand, used the new technology of flash photography to document conditions in New York's Lower East Side slums. 'How the Other Half Lives' shocked middle-class readers and helped spark the progressive reform movement.</a:t>
            </a:r>
            <a:endParaRPr lang="en-US" sz="850" dirty="0"/>
          </a:p>
        </p:txBody>
      </p:sp>
      <p:sp>
        <p:nvSpPr>
          <p:cNvPr id="19" name="Shape 16"/>
          <p:cNvSpPr/>
          <p:nvPr/>
        </p:nvSpPr>
        <p:spPr>
          <a:xfrm>
            <a:off x="7589520" y="3703320"/>
            <a:ext cx="4023360" cy="1280160"/>
          </a:xfrm>
          <a:prstGeom prst="roundRect">
            <a:avLst>
              <a:gd name="adj" fmla="val 5714"/>
            </a:avLst>
          </a:prstGeom>
          <a:solidFill>
            <a:srgbClr val="C9A227"/>
          </a:solidFill>
          <a:ln/>
        </p:spPr>
        <p:txBody>
          <a:bodyPr/>
          <a:p/>
        </p:txBody>
      </p:sp>
      <p:sp>
        <p:nvSpPr>
          <p:cNvPr id="20" name="Text 17"/>
          <p:cNvSpPr/>
          <p:nvPr/>
        </p:nvSpPr>
        <p:spPr>
          <a:xfrm>
            <a:off x="7818120" y="3822192"/>
            <a:ext cx="3657600" cy="274320"/>
          </a:xfrm>
          <a:prstGeom prst="rect">
            <a:avLst/>
          </a:prstGeom>
          <a:noFill/>
          <a:ln/>
        </p:spPr>
        <p:txBody>
          <a:bodyPr wrap="square" rtlCol="0" anchor="ctr"/>
          <a:lstStyle/>
          <a:p>
            <a:pPr indent="0" marL="0">
              <a:buNone/>
            </a:pPr>
            <a:r>
              <a:rPr lang="en-US" sz="1100" b="1" spc="200" kern="0" dirty="0">
                <a:solidFill>
                  <a:srgbClr val="1F3A5F"/>
                </a:solidFill>
                <a:latin typeface="Trebuchet MS" pitchFamily="34" charset="0"/>
                <a:ea typeface="Trebuchet MS" pitchFamily="34" charset="-122"/>
                <a:cs typeface="Trebuchet MS" pitchFamily="34" charset="-120"/>
              </a:rPr>
              <a:t>ANALYZE</a:t>
            </a:r>
            <a:endParaRPr lang="en-US" sz="1100" dirty="0"/>
          </a:p>
        </p:txBody>
      </p:sp>
      <p:sp>
        <p:nvSpPr>
          <p:cNvPr id="21" name="Text 18"/>
          <p:cNvSpPr/>
          <p:nvPr/>
        </p:nvSpPr>
        <p:spPr>
          <a:xfrm>
            <a:off x="7818120" y="4123944"/>
            <a:ext cx="3611880" cy="749808"/>
          </a:xfrm>
          <a:prstGeom prst="rect">
            <a:avLst/>
          </a:prstGeom>
          <a:noFill/>
          <a:ln/>
        </p:spPr>
        <p:txBody>
          <a:bodyPr wrap="square" rtlCol="0" anchor="t"/>
          <a:lstStyle/>
          <a:p>
            <a:pPr indent="0" marL="0">
              <a:lnSpc>
                <a:spcPct val="103000"/>
              </a:lnSpc>
              <a:buNone/>
            </a:pPr>
            <a:r>
              <a:rPr lang="en-US" sz="1250" b="1" dirty="0">
                <a:solidFill>
                  <a:srgbClr val="1F3A5F"/>
                </a:solidFill>
                <a:latin typeface="Calibri" pitchFamily="34" charset="0"/>
                <a:ea typeface="Calibri" pitchFamily="34" charset="-122"/>
                <a:cs typeface="Calibri" pitchFamily="34" charset="-120"/>
              </a:rPr>
              <a:t>How does Jacob Riis characterize living conditions in tenements?</a:t>
            </a:r>
            <a:endParaRPr lang="en-US" sz="1250" dirty="0"/>
          </a:p>
        </p:txBody>
      </p:sp>
      <p:sp>
        <p:nvSpPr>
          <p:cNvPr id="22" name="Shape 19"/>
          <p:cNvSpPr/>
          <p:nvPr/>
        </p:nvSpPr>
        <p:spPr>
          <a:xfrm>
            <a:off x="548640" y="5120640"/>
            <a:ext cx="11064240" cy="841248"/>
          </a:xfrm>
          <a:prstGeom prst="rect">
            <a:avLst/>
          </a:prstGeom>
          <a:solidFill>
            <a:srgbClr val="FFFFFF"/>
          </a:solidFill>
          <a:ln w="15875">
            <a:solidFill>
              <a:srgbClr val="002858"/>
            </a:solidFill>
            <a:prstDash val="solid"/>
          </a:ln>
        </p:spPr>
        <p:txBody>
          <a:bodyPr/>
          <a:p/>
        </p:txBody>
      </p:sp>
      <p:sp>
        <p:nvSpPr>
          <p:cNvPr id="23" name="Shape 20"/>
          <p:cNvSpPr/>
          <p:nvPr/>
        </p:nvSpPr>
        <p:spPr>
          <a:xfrm>
            <a:off x="548640" y="5120640"/>
            <a:ext cx="2423160" cy="841248"/>
          </a:xfrm>
          <a:prstGeom prst="rect">
            <a:avLst/>
          </a:prstGeom>
          <a:solidFill>
            <a:srgbClr val="002858"/>
          </a:solidFill>
          <a:ln/>
        </p:spPr>
        <p:txBody>
          <a:bodyPr/>
          <a:p/>
        </p:txBody>
      </p:sp>
      <p:sp>
        <p:nvSpPr>
          <p:cNvPr id="24" name="Text 21"/>
          <p:cNvSpPr/>
          <p:nvPr/>
        </p:nvSpPr>
        <p:spPr>
          <a:xfrm>
            <a:off x="658368" y="5239512"/>
            <a:ext cx="2194560" cy="274320"/>
          </a:xfrm>
          <a:prstGeom prst="rect">
            <a:avLst/>
          </a:prstGeom>
          <a:noFill/>
          <a:ln/>
        </p:spPr>
        <p:txBody>
          <a:bodyPr wrap="square" rtlCol="0" anchor="ctr"/>
          <a:lstStyle/>
          <a:p>
            <a:pPr indent="0" marL="0">
              <a:buNone/>
            </a:pPr>
            <a:r>
              <a:rPr lang="en-US" sz="1250" b="1" spc="100" kern="0" dirty="0">
                <a:solidFill>
                  <a:srgbClr val="FFFFFF"/>
                </a:solidFill>
                <a:latin typeface="Trebuchet MS" pitchFamily="34" charset="0"/>
                <a:ea typeface="Trebuchet MS" pitchFamily="34" charset="-122"/>
                <a:cs typeface="Trebuchet MS" pitchFamily="34" charset="-120"/>
              </a:rPr>
              <a:t>SOURCE IT</a:t>
            </a:r>
            <a:endParaRPr lang="en-US" sz="1250" dirty="0"/>
          </a:p>
        </p:txBody>
      </p:sp>
      <p:sp>
        <p:nvSpPr>
          <p:cNvPr id="25" name="Text 22"/>
          <p:cNvSpPr/>
          <p:nvPr/>
        </p:nvSpPr>
        <p:spPr>
          <a:xfrm>
            <a:off x="658368" y="5486400"/>
            <a:ext cx="2194560" cy="274320"/>
          </a:xfrm>
          <a:prstGeom prst="rect">
            <a:avLst/>
          </a:prstGeom>
          <a:noFill/>
          <a:ln/>
        </p:spPr>
        <p:txBody>
          <a:bodyPr wrap="square" rtlCol="0" anchor="ctr"/>
          <a:lstStyle/>
          <a:p>
            <a:pPr indent="0" marL="0">
              <a:buNone/>
            </a:pPr>
            <a:r>
              <a:rPr lang="en-US" sz="1250" b="1" spc="100" kern="0" dirty="0">
                <a:solidFill>
                  <a:srgbClr val="F9A825"/>
                </a:solidFill>
                <a:latin typeface="Trebuchet MS" pitchFamily="34" charset="0"/>
                <a:ea typeface="Trebuchet MS" pitchFamily="34" charset="-122"/>
                <a:cs typeface="Trebuchet MS" pitchFamily="34" charset="-120"/>
              </a:rPr>
              <a:t>FIRST</a:t>
            </a:r>
            <a:endParaRPr lang="en-US" sz="1250" dirty="0"/>
          </a:p>
        </p:txBody>
      </p:sp>
      <p:sp>
        <p:nvSpPr>
          <p:cNvPr id="26" name="Text 23"/>
          <p:cNvSpPr/>
          <p:nvPr/>
        </p:nvSpPr>
        <p:spPr>
          <a:xfrm>
            <a:off x="658368" y="5724144"/>
            <a:ext cx="2240280" cy="201168"/>
          </a:xfrm>
          <a:prstGeom prst="rect">
            <a:avLst/>
          </a:prstGeom>
          <a:noFill/>
          <a:ln/>
        </p:spPr>
        <p:txBody>
          <a:bodyPr wrap="square" rtlCol="0" anchor="ctr"/>
          <a:lstStyle/>
          <a:p>
            <a:pPr indent="0" marL="0">
              <a:buNone/>
            </a:pPr>
            <a:r>
              <a:rPr lang="en-US" sz="900" i="1" dirty="0">
                <a:solidFill>
                  <a:srgbClr val="C7D4E0"/>
                </a:solidFill>
                <a:latin typeface="Calibri" pitchFamily="34" charset="0"/>
                <a:ea typeface="Calibri" pitchFamily="34" charset="-122"/>
                <a:cs typeface="Calibri" pitchFamily="34" charset="-120"/>
              </a:rPr>
              <a:t>SSP.02 · before you interpret</a:t>
            </a:r>
            <a:endParaRPr lang="en-US" sz="750" dirty="0"/>
          </a:p>
        </p:txBody>
      </p:sp>
      <p:sp>
        <p:nvSpPr>
          <p:cNvPr id="27" name="Text 24"/>
          <p:cNvSpPr/>
          <p:nvPr/>
        </p:nvSpPr>
        <p:spPr>
          <a:xfrm>
            <a:off x="315468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WHO made it?</a:t>
            </a:r>
            <a:endParaRPr lang="en-US" sz="900" dirty="0"/>
          </a:p>
        </p:txBody>
      </p:sp>
      <p:sp>
        <p:nvSpPr>
          <p:cNvPr id="28" name="Text 25"/>
          <p:cNvSpPr/>
          <p:nvPr/>
        </p:nvSpPr>
        <p:spPr>
          <a:xfrm>
            <a:off x="3154680" y="5431536"/>
            <a:ext cx="2743200" cy="457200"/>
          </a:xfrm>
          <a:prstGeom prst="rect">
            <a:avLst/>
          </a:prstGeom>
          <a:noFill/>
          <a:ln/>
        </p:spPr>
        <p:txBody>
          <a:bodyPr wrap="square" rtlCol="0" anchor="t"/>
          <a:lstStyle/>
          <a:p>
            <a:pPr indent="0" marL="0">
              <a:lnSpc>
                <a:spcPct val="98000"/>
              </a:lnSpc>
              <a:buNone/>
            </a:pPr>
            <a:r>
              <a:rPr lang="en-US" sz="950" dirty="0">
                <a:solidFill>
                  <a:srgbClr val="1F2430"/>
                </a:solidFill>
                <a:latin typeface="Calibri" pitchFamily="34" charset="0"/>
                <a:ea typeface="Calibri" pitchFamily="34" charset="-122"/>
                <a:cs typeface="Calibri" pitchFamily="34" charset="-120"/>
              </a:rPr>
              <a:t>Jacob Riis, reformer-photographer (How the Other Half Lives).</a:t>
            </a:r>
            <a:endParaRPr lang="en-US" sz="950" dirty="0"/>
          </a:p>
        </p:txBody>
      </p:sp>
      <p:sp>
        <p:nvSpPr>
          <p:cNvPr id="29" name="Text 26"/>
          <p:cNvSpPr/>
          <p:nvPr/>
        </p:nvSpPr>
        <p:spPr>
          <a:xfrm>
            <a:off x="594360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WHEN?</a:t>
            </a:r>
            <a:endParaRPr lang="en-US" sz="900" dirty="0"/>
          </a:p>
        </p:txBody>
      </p:sp>
      <p:sp>
        <p:nvSpPr>
          <p:cNvPr id="30" name="Text 27"/>
          <p:cNvSpPr/>
          <p:nvPr/>
        </p:nvSpPr>
        <p:spPr>
          <a:xfrm>
            <a:off x="5943600" y="5431536"/>
            <a:ext cx="2743200" cy="457200"/>
          </a:xfrm>
          <a:prstGeom prst="rect">
            <a:avLst/>
          </a:prstGeom>
          <a:noFill/>
          <a:ln/>
        </p:spPr>
        <p:txBody>
          <a:bodyPr wrap="square" rtlCol="0" anchor="t"/>
          <a:lstStyle/>
          <a:p>
            <a:pPr indent="0" marL="0">
              <a:lnSpc>
                <a:spcPct val="98000"/>
              </a:lnSpc>
              <a:buNone/>
            </a:pPr>
            <a:r>
              <a:rPr lang="en-US" sz="950" dirty="0">
                <a:solidFill>
                  <a:srgbClr val="1F2430"/>
                </a:solidFill>
                <a:latin typeface="Calibri" pitchFamily="34" charset="0"/>
                <a:ea typeface="Calibri" pitchFamily="34" charset="-122"/>
                <a:cs typeface="Calibri" pitchFamily="34" charset="-120"/>
              </a:rPr>
              <a:t>1890.</a:t>
            </a:r>
            <a:endParaRPr lang="en-US" sz="950" dirty="0"/>
          </a:p>
        </p:txBody>
      </p:sp>
      <p:sp>
        <p:nvSpPr>
          <p:cNvPr id="31" name="Text 28"/>
          <p:cNvSpPr/>
          <p:nvPr/>
        </p:nvSpPr>
        <p:spPr>
          <a:xfrm>
            <a:off x="873252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WHY does it matter?</a:t>
            </a:r>
            <a:endParaRPr lang="en-US" sz="900" dirty="0"/>
          </a:p>
        </p:txBody>
      </p:sp>
      <p:sp>
        <p:nvSpPr>
          <p:cNvPr id="32" name="Text 29"/>
          <p:cNvSpPr/>
          <p:nvPr/>
        </p:nvSpPr>
        <p:spPr>
          <a:xfrm>
            <a:off x="8732520" y="5431536"/>
            <a:ext cx="2743200" cy="457200"/>
          </a:xfrm>
          <a:prstGeom prst="rect">
            <a:avLst/>
          </a:prstGeom>
          <a:noFill/>
          <a:ln/>
        </p:spPr>
        <p:txBody>
          <a:bodyPr wrap="square" rtlCol="0" anchor="t"/>
          <a:lstStyle/>
          <a:p>
            <a:pPr indent="0" marL="0">
              <a:lnSpc>
                <a:spcPct val="98000"/>
              </a:lnSpc>
              <a:buNone/>
            </a:pPr>
            <a:r>
              <a:rPr lang="en-US" sz="950" dirty="0">
                <a:solidFill>
                  <a:srgbClr val="1F2430"/>
                </a:solidFill>
                <a:latin typeface="Calibri" pitchFamily="34" charset="0"/>
                <a:ea typeface="Calibri" pitchFamily="34" charset="-122"/>
                <a:cs typeface="Calibri" pitchFamily="34" charset="-120"/>
              </a:rPr>
              <a:t>Riis wanted to shock readers into reform — weigh that purpose against the image.</a:t>
            </a:r>
            <a:endParaRPr lang="en-US" sz="950" dirty="0"/>
          </a:p>
        </p:txBody>
      </p:sp>
      <p:sp>
        <p:nvSpPr>
          <p:cNvPr id="33" name="Text 30"/>
          <p:cNvSpPr/>
          <p:nvPr/>
        </p:nvSpPr>
        <p:spPr>
          <a:xfrm>
            <a:off x="548640" y="6053328"/>
            <a:ext cx="6858000" cy="274320"/>
          </a:xfrm>
          <a:prstGeom prst="rect">
            <a:avLst/>
          </a:prstGeom>
          <a:noFill/>
          <a:ln/>
        </p:spPr>
        <p:txBody>
          <a:bodyPr wrap="square" rtlCol="0" anchor="ctr"/>
          <a:lstStyle/>
          <a:p>
            <a:pPr algn="l" indent="0" marL="0">
              <a:buNone/>
            </a:pPr>
            <a:r>
              <a:rPr lang="en-US" sz="900" dirty="0">
                <a:solidFill>
                  <a:srgbClr val="5C6470"/>
                </a:solidFill>
                <a:latin typeface="Calibri" pitchFamily="34" charset="0"/>
                <a:ea typeface="Calibri" pitchFamily="34" charset="-122"/>
                <a:cs typeface="Calibri" pitchFamily="34" charset="-120"/>
              </a:rPr>
              <a:t>Source: </a:t>
            </a:r>
            <a:pPr algn="l" indent="0" marL="0">
              <a:buNone/>
            </a:pPr>
            <a:r>
              <a:rPr lang="en-US" sz="900" i="1" u="sng" dirty="0">
                <a:solidFill>
                  <a:srgbClr val="002858"/>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900" dirty="0"/>
          </a:p>
        </p:txBody>
      </p:sp>
      <p:sp>
        <p:nvSpPr>
          <p:cNvPr id="35" name="Text 31"/>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6" name="Text 32"/>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87</a:t>
            </a:r>
            <a:endParaRPr lang="en-US" sz="9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7">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F3A5F"/>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B22234"/>
                </a:solidFill>
                <a:latin typeface="Trebuchet MS" pitchFamily="34" charset="0"/>
                <a:ea typeface="Trebuchet MS" pitchFamily="34" charset="-122"/>
                <a:cs typeface="Trebuchet MS" pitchFamily="34" charset="-120"/>
              </a:rPr>
              <a:t>US.06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F3A5F"/>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txBody>
          <a:bodyPr/>
          <a:p/>
        </p:txBody>
      </p:sp>
      <p:sp>
        <p:nvSpPr>
          <p:cNvPr id="6" name="Shape 4"/>
          <p:cNvSpPr/>
          <p:nvPr/>
        </p:nvSpPr>
        <p:spPr>
          <a:xfrm>
            <a:off x="548640" y="1645920"/>
            <a:ext cx="5486400" cy="676656"/>
          </a:xfrm>
          <a:prstGeom prst="rect">
            <a:avLst/>
          </a:prstGeom>
          <a:solidFill>
            <a:srgbClr val="1F3A5F"/>
          </a:solidFill>
          <a:ln/>
        </p:spPr>
        <p:txBody>
          <a:bodyPr/>
          <a:p/>
        </p:txBody>
      </p:sp>
      <p:sp>
        <p:nvSpPr>
          <p:cNvPr id="7" name="Text 5"/>
          <p:cNvSpPr/>
          <p:nvPr/>
        </p:nvSpPr>
        <p:spPr>
          <a:xfrm>
            <a:off x="685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Urbanization</a:t>
            </a:r>
            <a:endParaRPr lang="en-US" sz="1350" dirty="0"/>
          </a:p>
        </p:txBody>
      </p:sp>
      <p:sp>
        <p:nvSpPr>
          <p:cNvPr id="8" name="Text 6"/>
          <p:cNvSpPr/>
          <p:nvPr/>
        </p:nvSpPr>
        <p:spPr>
          <a:xfrm>
            <a:off x="685800" y="2011680"/>
            <a:ext cx="2880360" cy="256032"/>
          </a:xfrm>
          <a:prstGeom prst="rect">
            <a:avLst/>
          </a:prstGeom>
          <a:noFill/>
          <a:ln/>
        </p:spPr>
        <p:txBody>
          <a:bodyPr wrap="square" rtlCol="0" anchor="ctr">
            <a:normAutofit/>
          </a:bodyPr>
          <a:lstStyle/>
          <a:p>
            <a:pPr indent="0" marL="0">
              <a:buNone/>
            </a:pPr>
            <a:r>
              <a:rPr lang="en-US" sz="90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ur-bun-ih-ZAY-shun</a:t>
            </a:r>
            <a:endParaRPr lang="en-US" sz="850" dirty="0"/>
          </a:p>
        </p:txBody>
      </p:sp>
      <p:sp>
        <p:nvSpPr>
          <p:cNvPr id="9" name="Text 7"/>
          <p:cNvSpPr/>
          <p:nvPr/>
        </p:nvSpPr>
        <p:spPr>
          <a:xfrm>
            <a:off x="3703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Urbanización</a:t>
            </a:r>
            <a:endParaRPr lang="en-US" sz="1000" dirty="0"/>
          </a:p>
        </p:txBody>
      </p:sp>
      <p:sp>
        <p:nvSpPr>
          <p:cNvPr id="12" name="Text 10"/>
          <p:cNvSpPr/>
          <p:nvPr/>
        </p:nvSpPr>
        <p:spPr>
          <a:xfrm>
            <a:off x="667512" y="2395728"/>
            <a:ext cx="5239512"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rapid growth of cities due to industrialization and mass migration, transforming America from a predominantly rural to urban society.</a:t>
            </a:r>
            <a:endParaRPr lang="en-US" sz="1100" dirty="0"/>
          </a:p>
        </p:txBody>
      </p:sp>
      <p:sp>
        <p:nvSpPr>
          <p:cNvPr id="13" name="Shape 11"/>
          <p:cNvSpPr/>
          <p:nvPr/>
        </p:nvSpPr>
        <p:spPr>
          <a:xfrm>
            <a:off x="6263640" y="1645920"/>
            <a:ext cx="5486400" cy="1261872"/>
          </a:xfrm>
          <a:prstGeom prst="rect">
            <a:avLst/>
          </a:prstGeom>
          <a:solidFill>
            <a:srgbClr val="FFFFFF"/>
          </a:solidFill>
          <a:ln w="12700">
            <a:solidFill>
              <a:srgbClr val="DAD3C2"/>
            </a:solidFill>
            <a:prstDash val="solid"/>
          </a:ln>
        </p:spPr>
        <p:txBody>
          <a:bodyPr/>
          <a:p/>
        </p:txBody>
      </p:sp>
      <p:sp>
        <p:nvSpPr>
          <p:cNvPr id="14" name="Shape 12"/>
          <p:cNvSpPr/>
          <p:nvPr/>
        </p:nvSpPr>
        <p:spPr>
          <a:xfrm>
            <a:off x="6263640" y="1645920"/>
            <a:ext cx="5486400" cy="676656"/>
          </a:xfrm>
          <a:prstGeom prst="rect">
            <a:avLst/>
          </a:prstGeom>
          <a:solidFill>
            <a:srgbClr val="1F3A5F"/>
          </a:solidFill>
          <a:ln/>
        </p:spPr>
        <p:txBody>
          <a:bodyPr/>
          <a:p/>
        </p:txBody>
      </p:sp>
      <p:sp>
        <p:nvSpPr>
          <p:cNvPr id="15" name="Text 13"/>
          <p:cNvSpPr/>
          <p:nvPr/>
        </p:nvSpPr>
        <p:spPr>
          <a:xfrm>
            <a:off x="6400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Granger Movement</a:t>
            </a:r>
            <a:endParaRPr lang="en-US" sz="1350" dirty="0"/>
          </a:p>
        </p:txBody>
      </p:sp>
      <p:sp>
        <p:nvSpPr>
          <p:cNvPr id="16" name="Text 14"/>
          <p:cNvSpPr/>
          <p:nvPr/>
        </p:nvSpPr>
        <p:spPr>
          <a:xfrm>
            <a:off x="9418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Movimiento Granger</a:t>
            </a:r>
            <a:endParaRPr lang="en-US" sz="1000" dirty="0"/>
          </a:p>
        </p:txBody>
      </p:sp>
      <p:sp>
        <p:nvSpPr>
          <p:cNvPr id="19" name="Text 17"/>
          <p:cNvSpPr/>
          <p:nvPr/>
        </p:nvSpPr>
        <p:spPr>
          <a:xfrm>
            <a:off x="6382512" y="2395728"/>
            <a:ext cx="5239512"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farmers' organization founded in 1867 that advocated for railroad regulation and fought against monopolistic practices that harmed farmers through high shipping rates.</a:t>
            </a:r>
            <a:endParaRPr lang="en-US" sz="1100" dirty="0"/>
          </a:p>
        </p:txBody>
      </p:sp>
      <p:sp>
        <p:nvSpPr>
          <p:cNvPr id="20" name="Shape 18"/>
          <p:cNvSpPr/>
          <p:nvPr/>
        </p:nvSpPr>
        <p:spPr>
          <a:xfrm>
            <a:off x="548640" y="3072384"/>
            <a:ext cx="5486400" cy="1261872"/>
          </a:xfrm>
          <a:prstGeom prst="rect">
            <a:avLst/>
          </a:prstGeom>
          <a:solidFill>
            <a:srgbClr val="FFFFFF"/>
          </a:solidFill>
          <a:ln w="12700">
            <a:solidFill>
              <a:srgbClr val="DAD3C2"/>
            </a:solidFill>
            <a:prstDash val="solid"/>
          </a:ln>
        </p:spPr>
        <p:txBody>
          <a:bodyPr/>
          <a:p/>
        </p:txBody>
      </p:sp>
      <p:sp>
        <p:nvSpPr>
          <p:cNvPr id="21" name="Shape 19"/>
          <p:cNvSpPr/>
          <p:nvPr/>
        </p:nvSpPr>
        <p:spPr>
          <a:xfrm>
            <a:off x="548640" y="3072384"/>
            <a:ext cx="5486400" cy="676656"/>
          </a:xfrm>
          <a:prstGeom prst="rect">
            <a:avLst/>
          </a:prstGeom>
          <a:solidFill>
            <a:srgbClr val="1F3A5F"/>
          </a:solidFill>
          <a:ln/>
        </p:spPr>
        <p:txBody>
          <a:bodyPr/>
          <a:p/>
        </p:txBody>
      </p:sp>
      <p:sp>
        <p:nvSpPr>
          <p:cNvPr id="22" name="Text 20"/>
          <p:cNvSpPr/>
          <p:nvPr/>
        </p:nvSpPr>
        <p:spPr>
          <a:xfrm>
            <a:off x="685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Populism</a:t>
            </a:r>
            <a:endParaRPr lang="en-US" sz="1350" dirty="0"/>
          </a:p>
        </p:txBody>
      </p:sp>
      <p:sp>
        <p:nvSpPr>
          <p:cNvPr id="23" name="Text 21"/>
          <p:cNvSpPr/>
          <p:nvPr/>
        </p:nvSpPr>
        <p:spPr>
          <a:xfrm>
            <a:off x="3703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Populismo</a:t>
            </a:r>
            <a:endParaRPr lang="en-US" sz="1000" dirty="0"/>
          </a:p>
        </p:txBody>
      </p:sp>
      <p:sp>
        <p:nvSpPr>
          <p:cNvPr id="26" name="Text 24"/>
          <p:cNvSpPr/>
          <p:nvPr/>
        </p:nvSpPr>
        <p:spPr>
          <a:xfrm>
            <a:off x="667512" y="3822192"/>
            <a:ext cx="5239512"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political movement in the 1890s representing farmers and workers who sought government regulation of railroads, graduated income tax, and the free coinage of silver to combat economic inequality.</a:t>
            </a:r>
            <a:endParaRPr lang="en-US" sz="1100" dirty="0"/>
          </a:p>
        </p:txBody>
      </p:sp>
      <p:sp>
        <p:nvSpPr>
          <p:cNvPr id="27" name="Shape 25"/>
          <p:cNvSpPr/>
          <p:nvPr/>
        </p:nvSpPr>
        <p:spPr>
          <a:xfrm>
            <a:off x="6263640" y="3072384"/>
            <a:ext cx="5486400" cy="1261872"/>
          </a:xfrm>
          <a:prstGeom prst="rect">
            <a:avLst/>
          </a:prstGeom>
          <a:solidFill>
            <a:srgbClr val="FFFFFF"/>
          </a:solidFill>
          <a:ln w="12700">
            <a:solidFill>
              <a:srgbClr val="DAD3C2"/>
            </a:solidFill>
            <a:prstDash val="solid"/>
          </a:ln>
        </p:spPr>
        <p:txBody>
          <a:bodyPr/>
          <a:p/>
        </p:txBody>
      </p:sp>
      <p:sp>
        <p:nvSpPr>
          <p:cNvPr id="28" name="Shape 26"/>
          <p:cNvSpPr/>
          <p:nvPr/>
        </p:nvSpPr>
        <p:spPr>
          <a:xfrm>
            <a:off x="6263640" y="3072384"/>
            <a:ext cx="5486400" cy="676656"/>
          </a:xfrm>
          <a:prstGeom prst="rect">
            <a:avLst/>
          </a:prstGeom>
          <a:solidFill>
            <a:srgbClr val="1F3A5F"/>
          </a:solidFill>
          <a:ln/>
        </p:spPr>
        <p:txBody>
          <a:bodyPr/>
          <a:p/>
        </p:txBody>
      </p:sp>
      <p:sp>
        <p:nvSpPr>
          <p:cNvPr id="29" name="Text 27"/>
          <p:cNvSpPr/>
          <p:nvPr/>
        </p:nvSpPr>
        <p:spPr>
          <a:xfrm>
            <a:off x="6400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Interstate Commerce Act</a:t>
            </a:r>
            <a:endParaRPr lang="en-US" sz="1350" dirty="0"/>
          </a:p>
        </p:txBody>
      </p:sp>
      <p:sp>
        <p:nvSpPr>
          <p:cNvPr id="30" name="Text 28"/>
          <p:cNvSpPr/>
          <p:nvPr/>
        </p:nvSpPr>
        <p:spPr>
          <a:xfrm>
            <a:off x="9418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Ley de Comercio Interestatal</a:t>
            </a:r>
            <a:endParaRPr lang="en-US" sz="1000" dirty="0"/>
          </a:p>
        </p:txBody>
      </p:sp>
      <p:sp>
        <p:nvSpPr>
          <p:cNvPr id="33" name="Text 31"/>
          <p:cNvSpPr/>
          <p:nvPr/>
        </p:nvSpPr>
        <p:spPr>
          <a:xfrm>
            <a:off x="6382512" y="3822192"/>
            <a:ext cx="5239512"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An 1887 federal law that created the Interstate Commerce Commission to regulate railroad rates and practices, representing the first federal regulatory agency.</a:t>
            </a:r>
            <a:endParaRPr lang="en-US" sz="1100" dirty="0"/>
          </a:p>
        </p:txBody>
      </p:sp>
      <p:sp>
        <p:nvSpPr>
          <p:cNvPr id="34" name="Shape 32"/>
          <p:cNvSpPr/>
          <p:nvPr/>
        </p:nvSpPr>
        <p:spPr>
          <a:xfrm>
            <a:off x="548640" y="4498848"/>
            <a:ext cx="5486400" cy="1261872"/>
          </a:xfrm>
          <a:prstGeom prst="rect">
            <a:avLst/>
          </a:prstGeom>
          <a:solidFill>
            <a:srgbClr val="FFFFFF"/>
          </a:solidFill>
          <a:ln w="12700">
            <a:solidFill>
              <a:srgbClr val="DAD3C2"/>
            </a:solidFill>
            <a:prstDash val="solid"/>
          </a:ln>
        </p:spPr>
        <p:txBody>
          <a:bodyPr/>
          <a:p/>
        </p:txBody>
      </p:sp>
      <p:sp>
        <p:nvSpPr>
          <p:cNvPr id="35" name="Shape 33"/>
          <p:cNvSpPr/>
          <p:nvPr/>
        </p:nvSpPr>
        <p:spPr>
          <a:xfrm>
            <a:off x="548640" y="4498848"/>
            <a:ext cx="5486400" cy="676656"/>
          </a:xfrm>
          <a:prstGeom prst="rect">
            <a:avLst/>
          </a:prstGeom>
          <a:solidFill>
            <a:srgbClr val="1F3A5F"/>
          </a:solidFill>
          <a:ln/>
        </p:spPr>
        <p:txBody>
          <a:bodyPr/>
          <a:p/>
        </p:txBody>
      </p:sp>
      <p:sp>
        <p:nvSpPr>
          <p:cNvPr id="36" name="Text 34"/>
          <p:cNvSpPr/>
          <p:nvPr/>
        </p:nvSpPr>
        <p:spPr>
          <a:xfrm>
            <a:off x="685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Tenement</a:t>
            </a:r>
            <a:endParaRPr lang="en-US" sz="1350" dirty="0"/>
          </a:p>
        </p:txBody>
      </p:sp>
      <p:sp>
        <p:nvSpPr>
          <p:cNvPr id="37" name="Text 35"/>
          <p:cNvSpPr/>
          <p:nvPr/>
        </p:nvSpPr>
        <p:spPr>
          <a:xfrm>
            <a:off x="685800" y="4864608"/>
            <a:ext cx="2880360" cy="256032"/>
          </a:xfrm>
          <a:prstGeom prst="rect">
            <a:avLst/>
          </a:prstGeom>
          <a:noFill/>
          <a:ln/>
        </p:spPr>
        <p:txBody>
          <a:bodyPr wrap="square" rtlCol="0" anchor="ctr">
            <a:normAutofit/>
          </a:bodyPr>
          <a:lstStyle/>
          <a:p>
            <a:pPr indent="0" marL="0">
              <a:buNone/>
            </a:pPr>
            <a:r>
              <a:rPr lang="en-US" sz="900" b="1" dirty="0">
                <a:solidFill>
                  <a:srgbClr val="C7D4E0"/>
                </a:solidFill>
                <a:latin typeface="Trebuchet MS" pitchFamily="34" charset="0"/>
                <a:ea typeface="Trebuchet MS" pitchFamily="34" charset="-122"/>
                <a:cs typeface="Trebuchet MS" pitchFamily="34" charset="-120"/>
              </a:rPr>
              <a:t>say:  </a:t>
            </a:r>
            <a:pPr indent="0" marL="0">
              <a:buNone/>
            </a:pPr>
            <a:r>
              <a:rPr lang="en-US" sz="950" i="1" dirty="0">
                <a:solidFill>
                  <a:srgbClr val="C7D4E0"/>
                </a:solidFill>
                <a:latin typeface="Calibri" pitchFamily="34" charset="0"/>
                <a:ea typeface="Calibri" pitchFamily="34" charset="-122"/>
                <a:cs typeface="Calibri" pitchFamily="34" charset="-120"/>
              </a:rPr>
              <a:t>TEN-uh-ment</a:t>
            </a:r>
            <a:endParaRPr lang="en-US" sz="850" dirty="0"/>
          </a:p>
        </p:txBody>
      </p:sp>
      <p:sp>
        <p:nvSpPr>
          <p:cNvPr id="38" name="Text 36"/>
          <p:cNvSpPr/>
          <p:nvPr/>
        </p:nvSpPr>
        <p:spPr>
          <a:xfrm>
            <a:off x="3703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Vivienda de Vecindad</a:t>
            </a:r>
            <a:endParaRPr lang="en-US" sz="1000" dirty="0"/>
          </a:p>
        </p:txBody>
      </p:sp>
      <p:sp>
        <p:nvSpPr>
          <p:cNvPr id="41" name="Text 39"/>
          <p:cNvSpPr/>
          <p:nvPr/>
        </p:nvSpPr>
        <p:spPr>
          <a:xfrm>
            <a:off x="667512" y="5248656"/>
            <a:ext cx="5239512"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A crowded, often unsafe urban apartment building where many poor and immigrant families lived during rapid industrial-era city growth.</a:t>
            </a:r>
            <a:endParaRPr lang="en-US" sz="1100" dirty="0"/>
          </a:p>
        </p:txBody>
      </p:sp>
      <p:sp>
        <p:nvSpPr>
          <p:cNvPr id="42" name="Shape 40"/>
          <p:cNvSpPr/>
          <p:nvPr/>
        </p:nvSpPr>
        <p:spPr>
          <a:xfrm>
            <a:off x="6263640" y="4498848"/>
            <a:ext cx="5486400" cy="1261872"/>
          </a:xfrm>
          <a:prstGeom prst="rect">
            <a:avLst/>
          </a:prstGeom>
          <a:solidFill>
            <a:srgbClr val="FFFFFF"/>
          </a:solidFill>
          <a:ln w="12700">
            <a:solidFill>
              <a:srgbClr val="DAD3C2"/>
            </a:solidFill>
            <a:prstDash val="solid"/>
          </a:ln>
        </p:spPr>
        <p:txBody>
          <a:bodyPr/>
          <a:p/>
        </p:txBody>
      </p:sp>
      <p:sp>
        <p:nvSpPr>
          <p:cNvPr id="43" name="Shape 41"/>
          <p:cNvSpPr/>
          <p:nvPr/>
        </p:nvSpPr>
        <p:spPr>
          <a:xfrm>
            <a:off x="6263640" y="4498848"/>
            <a:ext cx="5486400" cy="676656"/>
          </a:xfrm>
          <a:prstGeom prst="rect">
            <a:avLst/>
          </a:prstGeom>
          <a:solidFill>
            <a:srgbClr val="1F3A5F"/>
          </a:solidFill>
          <a:ln/>
        </p:spPr>
        <p:txBody>
          <a:bodyPr/>
          <a:p/>
        </p:txBody>
      </p:sp>
      <p:sp>
        <p:nvSpPr>
          <p:cNvPr id="44" name="Text 42"/>
          <p:cNvSpPr/>
          <p:nvPr/>
        </p:nvSpPr>
        <p:spPr>
          <a:xfrm>
            <a:off x="6400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Industrialization</a:t>
            </a:r>
            <a:endParaRPr lang="en-US" sz="1350" dirty="0"/>
          </a:p>
        </p:txBody>
      </p:sp>
      <p:sp>
        <p:nvSpPr>
          <p:cNvPr id="45" name="Text 43"/>
          <p:cNvSpPr/>
          <p:nvPr/>
        </p:nvSpPr>
        <p:spPr>
          <a:xfrm>
            <a:off x="9418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Industrialización</a:t>
            </a:r>
            <a:endParaRPr lang="en-US" sz="1000" dirty="0"/>
          </a:p>
        </p:txBody>
      </p:sp>
      <p:sp>
        <p:nvSpPr>
          <p:cNvPr id="48" name="Text 46"/>
          <p:cNvSpPr/>
          <p:nvPr/>
        </p:nvSpPr>
        <p:spPr>
          <a:xfrm>
            <a:off x="6382512" y="5248656"/>
            <a:ext cx="5239512"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shift from an economy based on farming and handcraft to one based on large factories, machines, and mass production.</a:t>
            </a:r>
            <a:endParaRPr lang="en-US" sz="1100" dirty="0"/>
          </a:p>
        </p:txBody>
      </p:sp>
      <p:sp>
        <p:nvSpPr>
          <p:cNvPr id="49" name="Text 47"/>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50" name="Text 48"/>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51" name="Text 4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88</a:t>
            </a:r>
            <a:endParaRPr lang="en-US" sz="9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8">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F3A5F"/>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B22234"/>
                </a:solidFill>
                <a:latin typeface="Trebuchet MS" pitchFamily="34" charset="0"/>
                <a:ea typeface="Trebuchet MS" pitchFamily="34" charset="-122"/>
                <a:cs typeface="Trebuchet MS" pitchFamily="34" charset="-120"/>
              </a:rPr>
              <a:t>US.06 · GUIDED PRACTICE — WE DO IT TOGETHER</a:t>
            </a:r>
            <a:endParaRPr lang="en-US" sz="1200" dirty="0"/>
          </a:p>
        </p:txBody>
      </p:sp>
      <p:sp>
        <p:nvSpPr>
          <p:cNvPr id="4" name="Text 2"/>
          <p:cNvSpPr/>
          <p:nvPr/>
        </p:nvSpPr>
        <p:spPr>
          <a:xfrm>
            <a:off x="548640" y="731520"/>
            <a:ext cx="8595360" cy="640080"/>
          </a:xfrm>
          <a:prstGeom prst="rect">
            <a:avLst/>
          </a:prstGeom>
          <a:noFill/>
          <a:ln/>
        </p:spPr>
        <p:txBody>
          <a:bodyPr wrap="square" rtlCol="0" anchor="t"/>
          <a:lstStyle/>
          <a:p>
            <a:pPr indent="0" marL="0">
              <a:buNone/>
            </a:pPr>
            <a:r>
              <a:rPr lang="en-US" sz="2900" b="1" dirty="0">
                <a:solidFill>
                  <a:srgbClr val="1F3A5F"/>
                </a:solidFill>
                <a:latin typeface="Georgia" pitchFamily="34" charset="0"/>
                <a:ea typeface="Georgia" pitchFamily="34" charset="-122"/>
                <a:cs typeface="Georgia" pitchFamily="34" charset="-120"/>
              </a:rPr>
              <a:t>Let’s Work One Together</a:t>
            </a:r>
            <a:endParaRPr lang="en-US" sz="2900" dirty="0"/>
          </a:p>
        </p:txBody>
      </p:sp>
      <p:sp>
        <p:nvSpPr>
          <p:cNvPr id="5" name="Shape 3"/>
          <p:cNvSpPr/>
          <p:nvPr/>
        </p:nvSpPr>
        <p:spPr>
          <a:xfrm>
            <a:off x="8869680" y="822960"/>
            <a:ext cx="2743200" cy="457200"/>
          </a:xfrm>
          <a:prstGeom prst="roundRect">
            <a:avLst>
              <a:gd name="adj" fmla="val 20000"/>
            </a:avLst>
          </a:prstGeom>
          <a:solidFill>
            <a:srgbClr val="1F3A5F"/>
          </a:solidFill>
          <a:ln/>
        </p:spPr>
        <p:txBody>
          <a:bodyPr/>
          <a:p/>
        </p:txBody>
      </p:sp>
      <p:sp>
        <p:nvSpPr>
          <p:cNvPr id="6" name="Text 4"/>
          <p:cNvSpPr/>
          <p:nvPr/>
        </p:nvSpPr>
        <p:spPr>
          <a:xfrm>
            <a:off x="8869680" y="822960"/>
            <a:ext cx="274320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Cause → problem (urbanization)</a:t>
            </a:r>
            <a:endParaRPr lang="en-US" sz="1100" dirty="0"/>
          </a:p>
        </p:txBody>
      </p:sp>
      <p:sp>
        <p:nvSpPr>
          <p:cNvPr id="7" name="Shape 5"/>
          <p:cNvSpPr/>
          <p:nvPr/>
        </p:nvSpPr>
        <p:spPr>
          <a:xfrm>
            <a:off x="548640" y="1554480"/>
            <a:ext cx="11064240" cy="868680"/>
          </a:xfrm>
          <a:prstGeom prst="roundRect">
            <a:avLst>
              <a:gd name="adj" fmla="val 8421"/>
            </a:avLst>
          </a:prstGeom>
          <a:solidFill>
            <a:srgbClr val="243047"/>
          </a:solidFill>
          <a:ln w="6350">
            <a:solidFill>
              <a:srgbClr val="A7BACB"/>
            </a:solidFill>
            <a:prstDash val="solid"/>
          </a:ln>
        </p:spPr>
        <p:txBody>
          <a:bodyPr/>
          <a:p/>
        </p:txBody>
      </p:sp>
      <p:sp>
        <p:nvSpPr>
          <p:cNvPr id="8" name="Text 6"/>
          <p:cNvSpPr/>
          <p:nvPr/>
        </p:nvSpPr>
        <p:spPr>
          <a:xfrm>
            <a:off x="822960" y="1664208"/>
            <a:ext cx="10515600" cy="640080"/>
          </a:xfrm>
          <a:prstGeom prst="rect">
            <a:avLst/>
          </a:prstGeom>
          <a:noFill/>
          <a:ln/>
        </p:spPr>
        <p:txBody>
          <a:bodyPr wrap="square" rtlCol="0" anchor="ctr"/>
          <a:lstStyle/>
          <a:p>
            <a:pPr indent="0" marL="0">
              <a:lnSpc>
                <a:spcPct val="104000"/>
              </a:lnSpc>
              <a:buNone/>
            </a:pPr>
            <a:r>
              <a:rPr lang="en-US" sz="1500" b="1" dirty="0">
                <a:solidFill>
                  <a:srgbClr val="F9A825"/>
                </a:solidFill>
                <a:latin typeface="Calibri" pitchFamily="34" charset="0"/>
                <a:ea typeface="Calibri" pitchFamily="34" charset="-122"/>
                <a:cs typeface="Calibri" pitchFamily="34" charset="-120"/>
              </a:rPr>
              <a:t>MODEL PROMPT:  </a:t>
            </a:r>
            <a:pPr indent="0" marL="0">
              <a:lnSpc>
                <a:spcPct val="104000"/>
              </a:lnSpc>
              <a:buNone/>
            </a:pPr>
            <a:r>
              <a:rPr lang="en-US" sz="1500" dirty="0">
                <a:solidFill>
                  <a:srgbClr val="FFFFFF"/>
                </a:solidFill>
                <a:latin typeface="Calibri" pitchFamily="34" charset="0"/>
                <a:ea typeface="Calibri" pitchFamily="34" charset="-122"/>
                <a:cs typeface="Calibri" pitchFamily="34" charset="-120"/>
              </a:rPr>
              <a:t>Connect ONE cause of rapid city growth to ONE problem it created.</a:t>
            </a:r>
            <a:endParaRPr lang="en-US" sz="1500" dirty="0"/>
          </a:p>
        </p:txBody>
      </p:sp>
      <p:sp>
        <p:nvSpPr>
          <p:cNvPr id="9" name="Shape 7"/>
          <p:cNvSpPr/>
          <p:nvPr/>
        </p:nvSpPr>
        <p:spPr>
          <a:xfrm>
            <a:off x="548640" y="2606040"/>
            <a:ext cx="11064240" cy="1554480"/>
          </a:xfrm>
          <a:prstGeom prst="roundRect">
            <a:avLst>
              <a:gd name="adj" fmla="val 4706"/>
            </a:avLst>
          </a:prstGeom>
          <a:solidFill>
            <a:srgbClr val="C9A227"/>
          </a:solidFill>
          <a:ln/>
        </p:spPr>
        <p:txBody>
          <a:bodyPr/>
          <a:p/>
        </p:txBody>
      </p:sp>
      <p:sp>
        <p:nvSpPr>
          <p:cNvPr id="10" name="Text 8"/>
          <p:cNvSpPr/>
          <p:nvPr/>
        </p:nvSpPr>
        <p:spPr>
          <a:xfrm>
            <a:off x="822960" y="2724912"/>
            <a:ext cx="10058400" cy="292608"/>
          </a:xfrm>
          <a:prstGeom prst="rect">
            <a:avLst/>
          </a:prstGeom>
          <a:noFill/>
          <a:ln/>
        </p:spPr>
        <p:txBody>
          <a:bodyPr wrap="square" rtlCol="0" anchor="ctr"/>
          <a:lstStyle/>
          <a:p>
            <a:pPr indent="0" marL="0">
              <a:buNone/>
            </a:pPr>
            <a:r>
              <a:rPr lang="en-US" sz="1100" b="1" spc="100" kern="0" dirty="0">
                <a:solidFill>
                  <a:srgbClr val="1F3A5F"/>
                </a:solidFill>
                <a:latin typeface="Trebuchet MS" pitchFamily="34" charset="0"/>
                <a:ea typeface="Trebuchet MS" pitchFamily="34" charset="-122"/>
                <a:cs typeface="Trebuchet MS" pitchFamily="34" charset="-120"/>
              </a:rPr>
              <a:t>WORKED EXAMPLE  (teacher models this aloud)</a:t>
            </a:r>
            <a:endParaRPr lang="en-US" sz="1100" dirty="0"/>
          </a:p>
        </p:txBody>
      </p:sp>
      <p:sp>
        <p:nvSpPr>
          <p:cNvPr id="11" name="Text 9"/>
          <p:cNvSpPr/>
          <p:nvPr/>
        </p:nvSpPr>
        <p:spPr>
          <a:xfrm>
            <a:off x="822960" y="3035808"/>
            <a:ext cx="10515600" cy="1005840"/>
          </a:xfrm>
          <a:prstGeom prst="rect">
            <a:avLst/>
          </a:prstGeom>
          <a:noFill/>
          <a:ln/>
        </p:spPr>
        <p:txBody>
          <a:bodyPr wrap="square" rtlCol="0" anchor="t"/>
          <a:lstStyle/>
          <a:p>
            <a:pPr indent="0" marL="0">
              <a:lnSpc>
                <a:spcPct val="108000"/>
              </a:lnSpc>
              <a:buNone/>
            </a:pPr>
            <a:r>
              <a:rPr lang="en-US" sz="1450" b="1" dirty="0">
                <a:solidFill>
                  <a:srgbClr val="1F3A5F"/>
                </a:solidFill>
                <a:latin typeface="Calibri" pitchFamily="34" charset="0"/>
                <a:ea typeface="Calibri" pitchFamily="34" charset="-122"/>
                <a:cs typeface="Calibri" pitchFamily="34" charset="-120"/>
              </a:rPr>
              <a:t>CAUSE: Factory jobs pulled rural Americans and immigrants into cities like Chicago.  →  PROBLEM: Housing could not keep up, so families crowded into unsafe tenements with no clean water.</a:t>
            </a:r>
            <a:endParaRPr lang="en-US" sz="1450" dirty="0"/>
          </a:p>
        </p:txBody>
      </p:sp>
      <p:sp>
        <p:nvSpPr>
          <p:cNvPr id="12" name="Shape 10"/>
          <p:cNvSpPr/>
          <p:nvPr/>
        </p:nvSpPr>
        <p:spPr>
          <a:xfrm>
            <a:off x="548640" y="4297680"/>
            <a:ext cx="11064240" cy="1371600"/>
          </a:xfrm>
          <a:prstGeom prst="rect">
            <a:avLst/>
          </a:prstGeom>
          <a:solidFill>
            <a:srgbClr val="FFFFFF"/>
          </a:solidFill>
          <a:ln w="12700">
            <a:solidFill>
              <a:srgbClr val="DAD3C2"/>
            </a:solidFill>
            <a:prstDash val="solid"/>
          </a:ln>
        </p:spPr>
        <p:txBody>
          <a:bodyPr/>
          <a:p/>
        </p:txBody>
      </p:sp>
      <p:sp>
        <p:nvSpPr>
          <p:cNvPr id="13" name="Text 11"/>
          <p:cNvSpPr/>
          <p:nvPr/>
        </p:nvSpPr>
        <p:spPr>
          <a:xfrm>
            <a:off x="822960" y="4407408"/>
            <a:ext cx="4572000" cy="274320"/>
          </a:xfrm>
          <a:prstGeom prst="rect">
            <a:avLst/>
          </a:prstGeom>
          <a:noFill/>
          <a:ln/>
        </p:spPr>
        <p:txBody>
          <a:bodyPr wrap="square" rtlCol="0" anchor="ctr"/>
          <a:lstStyle/>
          <a:p>
            <a:pPr indent="0" marL="0">
              <a:buNone/>
            </a:pPr>
            <a:r>
              <a:rPr lang="en-US" sz="1100" b="1" spc="200" kern="0" dirty="0">
                <a:solidFill>
                  <a:srgbClr val="B22234"/>
                </a:solidFill>
                <a:latin typeface="Trebuchet MS" pitchFamily="34" charset="0"/>
                <a:ea typeface="Trebuchet MS" pitchFamily="34" charset="-122"/>
                <a:cs typeface="Trebuchet MS" pitchFamily="34" charset="-120"/>
              </a:rPr>
              <a:t>THINK ALOUD</a:t>
            </a:r>
            <a:endParaRPr lang="en-US" sz="1100" dirty="0"/>
          </a:p>
        </p:txBody>
      </p:sp>
      <p:sp>
        <p:nvSpPr>
          <p:cNvPr id="14" name="Text 12"/>
          <p:cNvSpPr/>
          <p:nvPr/>
        </p:nvSpPr>
        <p:spPr>
          <a:xfrm>
            <a:off x="822960" y="4700016"/>
            <a:ext cx="10515600" cy="914400"/>
          </a:xfrm>
          <a:prstGeom prst="rect">
            <a:avLst/>
          </a:prstGeom>
          <a:noFill/>
          <a:ln/>
        </p:spPr>
        <p:txBody>
          <a:bodyPr wrap="square" rtlCol="0" anchor="t"/>
          <a:lstStyle/>
          <a:p>
            <a:pPr indent="0" marL="0">
              <a:lnSpc>
                <a:spcPct val="108000"/>
              </a:lnSpc>
              <a:buNone/>
            </a:pPr>
            <a:r>
              <a:rPr lang="en-US" sz="1300" i="1" dirty="0">
                <a:solidFill>
                  <a:srgbClr val="1F2430"/>
                </a:solidFill>
                <a:latin typeface="Calibri" pitchFamily="34" charset="0"/>
                <a:ea typeface="Calibri" pitchFamily="34" charset="-122"/>
                <a:cs typeface="Calibri" pitchFamily="34" charset="-120"/>
              </a:rPr>
              <a:t>Watch me link, not list: I do not just name "overcrowding" — I show the cause that produced it. The arrow is the thinking.</a:t>
            </a:r>
            <a:endParaRPr lang="en-US" sz="1300" dirty="0"/>
          </a:p>
        </p:txBody>
      </p:sp>
      <p:sp>
        <p:nvSpPr>
          <p:cNvPr id="15" name="Text 13"/>
          <p:cNvSpPr/>
          <p:nvPr/>
        </p:nvSpPr>
        <p:spPr>
          <a:xfrm>
            <a:off x="548640" y="5779008"/>
            <a:ext cx="11064240" cy="365760"/>
          </a:xfrm>
          <a:prstGeom prst="rect">
            <a:avLst/>
          </a:prstGeom>
          <a:noFill/>
          <a:ln/>
        </p:spPr>
        <p:txBody>
          <a:bodyPr wrap="square" rtlCol="0" anchor="ctr"/>
          <a:lstStyle/>
          <a:p>
            <a:pPr indent="0" marL="0">
              <a:buNone/>
            </a:pPr>
            <a:r>
              <a:rPr lang="en-US" sz="1200" b="1" dirty="0">
                <a:solidFill>
                  <a:srgbClr val="1F3A5F"/>
                </a:solidFill>
                <a:latin typeface="Calibri" pitchFamily="34" charset="0"/>
                <a:ea typeface="Calibri" pitchFamily="34" charset="-122"/>
                <a:cs typeface="Calibri" pitchFamily="34" charset="-120"/>
              </a:rPr>
              <a:t>→ Now you try:  </a:t>
            </a:r>
            <a:pPr indent="0" marL="0">
              <a:buNone/>
            </a:pPr>
            <a:r>
              <a:rPr lang="en-US" sz="1200" i="1" dirty="0">
                <a:solidFill>
                  <a:srgbClr val="002858"/>
                </a:solidFill>
                <a:latin typeface="Calibri" pitchFamily="34" charset="0"/>
                <a:ea typeface="Calibri" pitchFamily="34" charset="-122"/>
                <a:cs typeface="Calibri" pitchFamily="34" charset="-120"/>
              </a:rPr>
              <a:t>You build two more cause→problem links in the activity.</a:t>
            </a:r>
            <a:endParaRPr lang="en-US" sz="1200" dirty="0"/>
          </a:p>
        </p:txBody>
      </p:sp>
      <p:sp>
        <p:nvSpPr>
          <p:cNvPr id="17" name="Text 14"/>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8" name="Text 1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89</a:t>
            </a:r>
            <a:endParaRPr lang="en-US" sz="9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89">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227"/>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B22234"/>
                </a:solidFill>
                <a:latin typeface="Trebuchet MS" pitchFamily="34" charset="0"/>
                <a:ea typeface="Trebuchet MS" pitchFamily="34" charset="-122"/>
                <a:cs typeface="Trebuchet MS" pitchFamily="34" charset="-120"/>
              </a:rPr>
              <a:t>US.06 · STUDENT ACTIVITY</a:t>
            </a:r>
            <a:endParaRPr lang="en-US" sz="1200" dirty="0"/>
          </a:p>
        </p:txBody>
      </p:sp>
      <p:sp>
        <p:nvSpPr>
          <p:cNvPr id="4" name="Text 2"/>
          <p:cNvSpPr/>
          <p:nvPr/>
        </p:nvSpPr>
        <p:spPr>
          <a:xfrm>
            <a:off x="548640" y="731520"/>
            <a:ext cx="11064240" cy="777240"/>
          </a:xfrm>
          <a:prstGeom prst="rect">
            <a:avLst/>
          </a:prstGeom>
          <a:noFill/>
          <a:ln/>
        </p:spPr>
        <p:txBody>
          <a:bodyPr wrap="square" rtlCol="0" anchor="t"/>
          <a:lstStyle/>
          <a:p>
            <a:pPr indent="0" marL="0">
              <a:buNone/>
            </a:pPr>
            <a:r>
              <a:rPr lang="en-US" sz="2700" b="1" dirty="0">
                <a:solidFill>
                  <a:srgbClr val="1F3A5F"/>
                </a:solidFill>
                <a:latin typeface="Georgia" pitchFamily="34" charset="0"/>
                <a:ea typeface="Georgia" pitchFamily="34" charset="-122"/>
                <a:cs typeface="Georgia" pitchFamily="34" charset="-120"/>
              </a:rPr>
              <a:t>Mapping the Industrial City</a:t>
            </a:r>
            <a:endParaRPr lang="en-US" sz="2700" dirty="0"/>
          </a:p>
        </p:txBody>
      </p:sp>
      <p:sp>
        <p:nvSpPr>
          <p:cNvPr id="5" name="Shape 3"/>
          <p:cNvSpPr/>
          <p:nvPr/>
        </p:nvSpPr>
        <p:spPr>
          <a:xfrm>
            <a:off x="548640" y="1481328"/>
            <a:ext cx="694944" cy="365760"/>
          </a:xfrm>
          <a:prstGeom prst="roundRect">
            <a:avLst>
              <a:gd name="adj" fmla="val 20000"/>
            </a:avLst>
          </a:prstGeom>
          <a:solidFill>
            <a:srgbClr val="1F3A5F"/>
          </a:solidFill>
          <a:ln/>
        </p:spPr>
        <p:txBody>
          <a:bodyPr/>
          <a:p/>
        </p:txBody>
      </p:sp>
      <p:sp>
        <p:nvSpPr>
          <p:cNvPr id="6" name="Text 4"/>
          <p:cNvSpPr/>
          <p:nvPr/>
        </p:nvSpPr>
        <p:spPr>
          <a:xfrm>
            <a:off x="548640" y="1481328"/>
            <a:ext cx="694944"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Pairs</a:t>
            </a:r>
            <a:endParaRPr lang="en-US" sz="1050" dirty="0"/>
          </a:p>
        </p:txBody>
      </p:sp>
      <p:sp>
        <p:nvSpPr>
          <p:cNvPr id="7" name="Shape 5"/>
          <p:cNvSpPr/>
          <p:nvPr/>
        </p:nvSpPr>
        <p:spPr>
          <a:xfrm>
            <a:off x="1408176" y="1481328"/>
            <a:ext cx="779069" cy="365760"/>
          </a:xfrm>
          <a:prstGeom prst="roundRect">
            <a:avLst>
              <a:gd name="adj" fmla="val 20000"/>
            </a:avLst>
          </a:prstGeom>
          <a:solidFill>
            <a:srgbClr val="1F3A5F"/>
          </a:solidFill>
          <a:ln/>
        </p:spPr>
        <p:txBody>
          <a:bodyPr/>
          <a:p/>
        </p:txBody>
      </p:sp>
      <p:sp>
        <p:nvSpPr>
          <p:cNvPr id="8" name="Text 6"/>
          <p:cNvSpPr/>
          <p:nvPr/>
        </p:nvSpPr>
        <p:spPr>
          <a:xfrm>
            <a:off x="1408176" y="1481328"/>
            <a:ext cx="779069"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10 min</a:t>
            </a:r>
            <a:endParaRPr lang="en-US" sz="1050" dirty="0"/>
          </a:p>
        </p:txBody>
      </p:sp>
      <p:sp>
        <p:nvSpPr>
          <p:cNvPr id="9" name="Shape 7"/>
          <p:cNvSpPr/>
          <p:nvPr/>
        </p:nvSpPr>
        <p:spPr>
          <a:xfrm>
            <a:off x="548640" y="2057400"/>
            <a:ext cx="6766560" cy="2331720"/>
          </a:xfrm>
          <a:prstGeom prst="rect">
            <a:avLst/>
          </a:prstGeom>
          <a:solidFill>
            <a:srgbClr val="FFFFFF"/>
          </a:solidFill>
          <a:ln w="12700">
            <a:solidFill>
              <a:srgbClr val="DAD3C2"/>
            </a:solidFill>
            <a:prstDash val="solid"/>
          </a:ln>
        </p:spPr>
        <p:txBody>
          <a:bodyPr/>
          <a:p/>
        </p:txBody>
      </p:sp>
      <p:sp>
        <p:nvSpPr>
          <p:cNvPr id="10" name="Text 8"/>
          <p:cNvSpPr/>
          <p:nvPr/>
        </p:nvSpPr>
        <p:spPr>
          <a:xfrm>
            <a:off x="822960" y="2194560"/>
            <a:ext cx="4572000" cy="274320"/>
          </a:xfrm>
          <a:prstGeom prst="rect">
            <a:avLst/>
          </a:prstGeom>
          <a:noFill/>
          <a:ln/>
        </p:spPr>
        <p:txBody>
          <a:bodyPr wrap="square" rtlCol="0" anchor="ctr"/>
          <a:lstStyle/>
          <a:p>
            <a:pPr indent="0" marL="0">
              <a:buNone/>
            </a:pPr>
            <a:r>
              <a:rPr lang="en-US" sz="1100" b="1" spc="200" kern="0" dirty="0">
                <a:solidFill>
                  <a:srgbClr val="B22234"/>
                </a:solidFill>
                <a:latin typeface="Trebuchet MS" pitchFamily="34" charset="0"/>
                <a:ea typeface="Trebuchet MS" pitchFamily="34" charset="-122"/>
                <a:cs typeface="Trebuchet MS" pitchFamily="34" charset="-120"/>
              </a:rPr>
              <a:t>YOUR TASK</a:t>
            </a:r>
            <a:endParaRPr lang="en-US" sz="1100" dirty="0"/>
          </a:p>
        </p:txBody>
      </p:sp>
      <p:sp>
        <p:nvSpPr>
          <p:cNvPr id="11" name="Text 9"/>
          <p:cNvSpPr/>
          <p:nvPr/>
        </p:nvSpPr>
        <p:spPr>
          <a:xfrm>
            <a:off x="822960" y="2487168"/>
            <a:ext cx="6217920" cy="1828800"/>
          </a:xfrm>
          <a:prstGeom prst="rect">
            <a:avLst/>
          </a:prstGeom>
          <a:noFill/>
          <a:ln/>
        </p:spPr>
        <p:txBody>
          <a:bodyPr wrap="square" rtlCol="0" anchor="t"/>
          <a:lstStyle/>
          <a:p>
            <a:pPr indent="0" marL="0">
              <a:lnSpc>
                <a:spcPct val="112000"/>
              </a:lnSpc>
              <a:buNone/>
            </a:pPr>
            <a:r>
              <a:rPr lang="en-US" sz="1350" dirty="0">
                <a:solidFill>
                  <a:srgbClr val="1F2430"/>
                </a:solidFill>
                <a:latin typeface="Calibri" pitchFamily="34" charset="0"/>
                <a:ea typeface="Calibri" pitchFamily="34" charset="-122"/>
                <a:cs typeface="Calibri" pitchFamily="34" charset="-120"/>
              </a:rPr>
              <a:t>Using the 1890 wage-earners and foreign-born maps, identify the regions where industry and immigration concentrated. Predict THREE problems a city would face when its population multiplies in 40 years, and THREE things it needs to grow.</a:t>
            </a:r>
            <a:endParaRPr lang="en-US" sz="1350" dirty="0"/>
          </a:p>
        </p:txBody>
      </p:sp>
      <p:sp>
        <p:nvSpPr>
          <p:cNvPr id="12" name="Shape 10"/>
          <p:cNvSpPr/>
          <p:nvPr/>
        </p:nvSpPr>
        <p:spPr>
          <a:xfrm>
            <a:off x="7552944" y="2020824"/>
            <a:ext cx="4142232" cy="1856232"/>
          </a:xfrm>
          <a:prstGeom prst="rect">
            <a:avLst/>
          </a:prstGeom>
          <a:solidFill>
            <a:srgbClr val="FFFFFF"/>
          </a:solidFill>
          <a:ln w="12700">
            <a:solidFill>
              <a:srgbClr val="DAD3C2"/>
            </a:solidFill>
            <a:prstDash val="solid"/>
          </a:ln>
        </p:spPr>
        <p:txBody>
          <a:bodyPr/>
          <a:p/>
        </p:txBody>
      </p:sp>
      <p:pic>
        <p:nvPicPr>
          <p:cNvPr id="13" name="Image 0" descr="Henry Gannett / U.S. Census Office, 1898  Library of Congress">    </p:cNvPr>
          <p:cNvPicPr>
            <a:picLocks noChangeAspect="1"/>
          </p:cNvPicPr>
          <p:nvPr/>
        </p:nvPicPr>
        <p:blipFill>
          <a:blip r:embed="rId1"/>
          <a:srcRect l="0" r="0" t="0" b="0"/>
          <a:stretch/>
        </p:blipFill>
        <p:spPr>
          <a:xfrm>
            <a:off x="7589520" y="2057400"/>
            <a:ext cx="4069080" cy="1783080"/>
          </a:xfrm>
          <a:prstGeom prst="rect">
            <a:avLst/>
          </a:prstGeom>
        </p:spPr>
      </p:pic>
      <p:sp>
        <p:nvSpPr>
          <p:cNvPr id="14" name="Text 11"/>
          <p:cNvSpPr/>
          <p:nvPr/>
        </p:nvSpPr>
        <p:spPr>
          <a:xfrm>
            <a:off x="7589520" y="3895344"/>
            <a:ext cx="4069080" cy="493776"/>
          </a:xfrm>
          <a:prstGeom prst="rect">
            <a:avLst/>
          </a:prstGeom>
          <a:noFill/>
          <a:ln/>
        </p:spPr>
        <p:txBody>
          <a:bodyPr wrap="square" rtlCol="0" anchor="t"/>
          <a:lstStyle/>
          <a:p>
            <a:pPr algn="l" indent="0" marL="0">
              <a:lnSpc>
                <a:spcPct val="100000"/>
              </a:lnSpc>
              <a:buNone/>
            </a:pPr>
            <a:pPr algn="l" indent="0" marL="0">
              <a:lnSpc>
                <a:spcPct val="100000"/>
              </a:lnSpc>
              <a:buNone/>
            </a:pPr>
            <a:r>
              <a:rPr lang="en-US" sz="900" i="1" dirty="0">
                <a:solidFill>
                  <a:srgbClr val="5C6470"/>
                </a:solidFill>
                <a:latin typeface="Calibri" pitchFamily="34" charset="0"/>
                <a:ea typeface="Calibri" pitchFamily="34" charset="-122"/>
                <a:cs typeface="Calibri" pitchFamily="34" charset="-120"/>
              </a:rPr>
              <a:t>Henry Gannett / U.S. Census Office, 1898  </a:t>
            </a:r>
            <a:pPr algn="l" indent="0" marL="0">
              <a:lnSpc>
                <a:spcPct val="100000"/>
              </a:lnSpc>
              <a:buNone/>
            </a:pPr>
            <a:r>
              <a:rPr lang="en-US" sz="9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750" dirty="0"/>
          </a:p>
        </p:txBody>
      </p:sp>
      <p:sp>
        <p:nvSpPr>
          <p:cNvPr id="15" name="Shape 12"/>
          <p:cNvSpPr/>
          <p:nvPr/>
        </p:nvSpPr>
        <p:spPr>
          <a:xfrm>
            <a:off x="548640" y="4526280"/>
            <a:ext cx="5486400" cy="1325880"/>
          </a:xfrm>
          <a:prstGeom prst="roundRect">
            <a:avLst>
              <a:gd name="adj" fmla="val 5517"/>
            </a:avLst>
          </a:prstGeom>
          <a:solidFill>
            <a:srgbClr val="1F3A5F"/>
          </a:solidFill>
          <a:ln/>
        </p:spPr>
        <p:txBody>
          <a:bodyPr/>
          <a:p/>
        </p:txBody>
      </p:sp>
      <p:sp>
        <p:nvSpPr>
          <p:cNvPr id="16" name="Text 13"/>
          <p:cNvSpPr/>
          <p:nvPr/>
        </p:nvSpPr>
        <p:spPr>
          <a:xfrm>
            <a:off x="777240" y="4645152"/>
            <a:ext cx="4572000" cy="274320"/>
          </a:xfrm>
          <a:prstGeom prst="rect">
            <a:avLst/>
          </a:prstGeom>
          <a:noFill/>
          <a:ln/>
        </p:spPr>
        <p:txBody>
          <a:bodyPr wrap="square" rtlCol="0" anchor="ctr"/>
          <a:lstStyle/>
          <a:p>
            <a:pPr indent="0" marL="0">
              <a:buNone/>
            </a:pPr>
            <a:r>
              <a:rPr lang="en-US" sz="1050" b="1" spc="200" kern="0" dirty="0">
                <a:solidFill>
                  <a:srgbClr val="F9A825"/>
                </a:solidFill>
                <a:latin typeface="Trebuchet MS" pitchFamily="34" charset="0"/>
                <a:ea typeface="Trebuchet MS" pitchFamily="34" charset="-122"/>
                <a:cs typeface="Trebuchet MS" pitchFamily="34" charset="-120"/>
              </a:rPr>
              <a:t>DELIVERABLE</a:t>
            </a:r>
            <a:endParaRPr lang="en-US" sz="1050" dirty="0"/>
          </a:p>
        </p:txBody>
      </p:sp>
      <p:sp>
        <p:nvSpPr>
          <p:cNvPr id="17" name="Text 14"/>
          <p:cNvSpPr/>
          <p:nvPr/>
        </p:nvSpPr>
        <p:spPr>
          <a:xfrm>
            <a:off x="777240" y="4919472"/>
            <a:ext cx="5029200" cy="868680"/>
          </a:xfrm>
          <a:prstGeom prst="rect">
            <a:avLst/>
          </a:prstGeom>
          <a:noFill/>
          <a:ln/>
        </p:spPr>
        <p:txBody>
          <a:bodyPr wrap="square"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Map-annotation chart: needs vs. problems.</a:t>
            </a:r>
            <a:endParaRPr lang="en-US" sz="1250" dirty="0"/>
          </a:p>
        </p:txBody>
      </p:sp>
      <p:sp>
        <p:nvSpPr>
          <p:cNvPr id="18" name="Shape 15"/>
          <p:cNvSpPr/>
          <p:nvPr/>
        </p:nvSpPr>
        <p:spPr>
          <a:xfrm>
            <a:off x="6172200" y="4526280"/>
            <a:ext cx="5440680" cy="1325880"/>
          </a:xfrm>
          <a:prstGeom prst="roundRect">
            <a:avLst>
              <a:gd name="adj" fmla="val 5517"/>
            </a:avLst>
          </a:prstGeom>
          <a:solidFill>
            <a:srgbClr val="FBEFD0"/>
          </a:solidFill>
          <a:ln w="15875">
            <a:solidFill>
              <a:srgbClr val="C9A227"/>
            </a:solidFill>
            <a:prstDash val="solid"/>
          </a:ln>
        </p:spPr>
        <p:txBody>
          <a:bodyPr/>
          <a:p/>
        </p:txBody>
      </p:sp>
      <p:sp>
        <p:nvSpPr>
          <p:cNvPr id="19" name="Text 16"/>
          <p:cNvSpPr/>
          <p:nvPr/>
        </p:nvSpPr>
        <p:spPr>
          <a:xfrm>
            <a:off x="6400800" y="4645152"/>
            <a:ext cx="4572000" cy="274320"/>
          </a:xfrm>
          <a:prstGeom prst="rect">
            <a:avLst/>
          </a:prstGeom>
          <a:noFill/>
          <a:ln/>
        </p:spPr>
        <p:txBody>
          <a:bodyPr wrap="square" rtlCol="0" anchor="ctr"/>
          <a:lstStyle/>
          <a:p>
            <a:pPr indent="0" marL="0">
              <a:buNone/>
            </a:pPr>
            <a:r>
              <a:rPr lang="en-US" sz="1050" b="1" spc="200" kern="0" dirty="0">
                <a:solidFill>
                  <a:srgbClr val="B22234"/>
                </a:solidFill>
                <a:latin typeface="Trebuchet MS" pitchFamily="34" charset="0"/>
                <a:ea typeface="Trebuchet MS" pitchFamily="34" charset="-122"/>
                <a:cs typeface="Trebuchet MS" pitchFamily="34" charset="-120"/>
              </a:rPr>
              <a:t>SUPPORT OPTIONS</a:t>
            </a:r>
            <a:endParaRPr lang="en-US" sz="1050" dirty="0"/>
          </a:p>
        </p:txBody>
      </p:sp>
      <p:sp>
        <p:nvSpPr>
          <p:cNvPr id="20" name="Text 17"/>
          <p:cNvSpPr/>
          <p:nvPr/>
        </p:nvSpPr>
        <p:spPr>
          <a:xfrm>
            <a:off x="6400800" y="4919472"/>
            <a:ext cx="5029200" cy="868680"/>
          </a:xfrm>
          <a:prstGeom prst="rect">
            <a:avLst/>
          </a:prstGeom>
          <a:noFill/>
          <a:ln/>
        </p:spPr>
        <p:txBody>
          <a:bodyPr wrap="square" rtlCol="0" anchor="t"/>
          <a:lstStyle/>
          <a:p>
            <a:pPr indent="0" marL="0">
              <a:lnSpc>
                <a:spcPct val="105000"/>
              </a:lnSpc>
              <a:buNone/>
            </a:pPr>
            <a:r>
              <a:rPr lang="en-US" sz="1200" dirty="0">
                <a:solidFill>
                  <a:srgbClr val="1F2430"/>
                </a:solidFill>
                <a:latin typeface="Calibri" pitchFamily="34" charset="0"/>
                <a:ea typeface="Calibri" pitchFamily="34" charset="-122"/>
                <a:cs typeface="Calibri" pitchFamily="34" charset="-120"/>
              </a:rPr>
              <a:t>SUPPORT OPTION: labeled map regions provided. EXTENSION: explain the correlation between manufacturing density and foreign-born population.</a:t>
            </a:r>
            <a:endParaRPr lang="en-US" sz="1200" dirty="0"/>
          </a:p>
        </p:txBody>
      </p:sp>
      <p:sp>
        <p:nvSpPr>
          <p:cNvPr id="21" name="Text 18"/>
          <p:cNvSpPr/>
          <p:nvPr/>
        </p:nvSpPr>
        <p:spPr>
          <a:xfrm>
            <a:off x="548640" y="5943600"/>
            <a:ext cx="11064240" cy="320040"/>
          </a:xfrm>
          <a:prstGeom prst="rect">
            <a:avLst/>
          </a:prstGeom>
          <a:noFill/>
          <a:ln/>
        </p:spPr>
        <p:txBody>
          <a:bodyPr wrap="square" rtlCol="0" anchor="ctr"/>
          <a:lstStyle/>
          <a:p>
            <a:pPr indent="0" marL="0">
              <a:buNone/>
            </a:pPr>
            <a:r>
              <a:rPr lang="en-US" sz="1050" b="1" dirty="0">
                <a:solidFill>
                  <a:srgbClr val="1F3A5F"/>
                </a:solidFill>
                <a:latin typeface="Calibri" pitchFamily="34" charset="0"/>
                <a:ea typeface="Calibri" pitchFamily="34" charset="-122"/>
                <a:cs typeface="Calibri" pitchFamily="34" charset="-120"/>
              </a:rPr>
              <a:t>Companion printable:  </a:t>
            </a:r>
            <a:pPr indent="0" marL="0">
              <a:buNone/>
            </a:pPr>
            <a:r>
              <a:rPr lang="en-US" sz="1050" i="1" dirty="0">
                <a:solidFill>
                  <a:srgbClr val="002858"/>
                </a:solidFill>
                <a:latin typeface="Calibri" pitchFamily="34" charset="0"/>
                <a:ea typeface="Calibri" pitchFamily="34" charset="-122"/>
                <a:cs typeface="Calibri" pitchFamily="34" charset="-120"/>
              </a:rPr>
              <a:t>Cornell Notes — US.06: Industrialization &amp; Urbanization</a:t>
            </a:r>
            <a:endParaRPr lang="en-US" sz="1050" dirty="0"/>
          </a:p>
        </p:txBody>
      </p:sp>
      <p:sp>
        <p:nvSpPr>
          <p:cNvPr id="23" name="Text 19"/>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4" name="Text 20"/>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90</a:t>
            </a:r>
            <a:endParaRPr lang="en-US" sz="9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0">
    <p:bg>
      <p:bgPr>
        <a:solidFill>
          <a:srgbClr val="1F3A5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227"/>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US.06 · CHECK FOR UNDERSTANDING</a:t>
            </a:r>
            <a:endParaRPr lang="en-US" sz="1200" dirty="0"/>
          </a:p>
        </p:txBody>
      </p:sp>
      <p:sp>
        <p:nvSpPr>
          <p:cNvPr id="4" name="Text 2"/>
          <p:cNvSpPr/>
          <p:nvPr/>
        </p:nvSpPr>
        <p:spPr>
          <a:xfrm>
            <a:off x="548640" y="777240"/>
            <a:ext cx="676656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7635240" y="822960"/>
            <a:ext cx="1143000" cy="457200"/>
          </a:xfrm>
          <a:prstGeom prst="roundRect">
            <a:avLst>
              <a:gd name="adj" fmla="val 20000"/>
            </a:avLst>
          </a:prstGeom>
          <a:solidFill>
            <a:srgbClr val="243047"/>
          </a:solidFill>
          <a:ln w="12700">
            <a:solidFill>
              <a:srgbClr val="C9A227"/>
            </a:solidFill>
            <a:prstDash val="solid"/>
          </a:ln>
        </p:spPr>
        <p:txBody>
          <a:bodyPr/>
          <a:p/>
        </p:txBody>
      </p:sp>
      <p:sp>
        <p:nvSpPr>
          <p:cNvPr id="6" name="Text 4"/>
          <p:cNvSpPr/>
          <p:nvPr/>
        </p:nvSpPr>
        <p:spPr>
          <a:xfrm>
            <a:off x="7635240" y="822960"/>
            <a:ext cx="1143000" cy="457200"/>
          </a:xfrm>
          <a:prstGeom prst="rect">
            <a:avLst/>
          </a:prstGeom>
          <a:noFill/>
          <a:ln/>
        </p:spPr>
        <p:txBody>
          <a:bodyPr wrap="square" rtlCol="0" anchor="ctr"/>
          <a:lstStyle/>
          <a:p>
            <a:pPr algn="ctr" indent="0" marL="0">
              <a:buNone/>
            </a:pPr>
            <a:r>
              <a:rPr lang="en-US" sz="1200" b="1" dirty="0">
                <a:solidFill>
                  <a:srgbClr val="F9A825"/>
                </a:solidFill>
                <a:latin typeface="Trebuchet MS" pitchFamily="34" charset="0"/>
                <a:ea typeface="Trebuchet MS" pitchFamily="34" charset="-122"/>
                <a:cs typeface="Trebuchet MS" pitchFamily="34" charset="-120"/>
              </a:rPr>
              <a:t>DOK 2</a:t>
            </a:r>
            <a:endParaRPr lang="en-US" sz="1200" dirty="0"/>
          </a:p>
        </p:txBody>
      </p:sp>
      <p:sp>
        <p:nvSpPr>
          <p:cNvPr id="7" name="Shape 5"/>
          <p:cNvSpPr/>
          <p:nvPr/>
        </p:nvSpPr>
        <p:spPr>
          <a:xfrm>
            <a:off x="8869680" y="822960"/>
            <a:ext cx="2743200" cy="457200"/>
          </a:xfrm>
          <a:prstGeom prst="roundRect">
            <a:avLst>
              <a:gd name="adj" fmla="val 20000"/>
            </a:avLst>
          </a:prstGeom>
          <a:solidFill>
            <a:srgbClr val="B22234"/>
          </a:solidFill>
          <a:ln/>
        </p:spPr>
        <p:txBody>
          <a:bodyPr/>
          <a:p/>
        </p:txBody>
      </p:sp>
      <p:sp>
        <p:nvSpPr>
          <p:cNvPr id="8" name="Text 6"/>
          <p:cNvSpPr/>
          <p:nvPr/>
        </p:nvSpPr>
        <p:spPr>
          <a:xfrm>
            <a:off x="8869680" y="822960"/>
            <a:ext cx="274320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EOC PRACTICE</a:t>
            </a:r>
            <a:endParaRPr lang="en-US" sz="1200" dirty="0"/>
          </a:p>
        </p:txBody>
      </p:sp>
      <p:sp>
        <p:nvSpPr>
          <p:cNvPr id="9" name="Shape 7"/>
          <p:cNvSpPr/>
          <p:nvPr/>
        </p:nvSpPr>
        <p:spPr>
          <a:xfrm>
            <a:off x="548640" y="1554480"/>
            <a:ext cx="11064240" cy="1051560"/>
          </a:xfrm>
          <a:prstGeom prst="roundRect">
            <a:avLst>
              <a:gd name="adj" fmla="val 6957"/>
            </a:avLst>
          </a:prstGeom>
          <a:solidFill>
            <a:srgbClr val="243047"/>
          </a:solidFill>
          <a:ln w="6350">
            <a:solidFill>
              <a:srgbClr val="A7BACB"/>
            </a:solidFill>
            <a:prstDash val="solid"/>
          </a:ln>
        </p:spPr>
        <p:txBody>
          <a:bodyPr/>
          <a:p/>
        </p:txBody>
      </p:sp>
      <p:sp>
        <p:nvSpPr>
          <p:cNvPr id="10" name="Text 8"/>
          <p:cNvSpPr/>
          <p:nvPr/>
        </p:nvSpPr>
        <p:spPr>
          <a:xfrm>
            <a:off x="822960" y="1691640"/>
            <a:ext cx="10515600" cy="777240"/>
          </a:xfrm>
          <a:prstGeom prst="rect">
            <a:avLst/>
          </a:prstGeom>
          <a:noFill/>
          <a:ln/>
        </p:spPr>
        <p:txBody>
          <a:bodyPr wrap="square" rtlCol="0" anchor="ctr"/>
          <a:lstStyle/>
          <a:p>
            <a:pPr indent="0" marL="0">
              <a:lnSpc>
                <a:spcPct val="105000"/>
              </a:lnSpc>
              <a:buNone/>
            </a:pPr>
            <a:r>
              <a:rPr lang="en-US" sz="1600" b="1" dirty="0">
                <a:solidFill>
                  <a:srgbClr val="FFFFFF"/>
                </a:solidFill>
                <a:latin typeface="Calibri" pitchFamily="34" charset="0"/>
                <a:ea typeface="Calibri" pitchFamily="34" charset="-122"/>
                <a:cs typeface="Calibri" pitchFamily="34" charset="-120"/>
              </a:rPr>
              <a:t>What does this folk saying reveal about the immigrant experience in America?</a:t>
            </a:r>
            <a:endParaRPr lang="en-US" sz="1600" dirty="0"/>
          </a:p>
        </p:txBody>
      </p:sp>
      <p:sp>
        <p:nvSpPr>
          <p:cNvPr id="11" name="Shape 9"/>
          <p:cNvSpPr/>
          <p:nvPr/>
        </p:nvSpPr>
        <p:spPr>
          <a:xfrm>
            <a:off x="548640" y="2743200"/>
            <a:ext cx="11064240" cy="658368"/>
          </a:xfrm>
          <a:prstGeom prst="roundRect">
            <a:avLst>
              <a:gd name="adj" fmla="val 8333"/>
            </a:avLst>
          </a:prstGeom>
          <a:solidFill>
            <a:srgbClr val="2C384F"/>
          </a:solidFill>
          <a:ln w="12700">
            <a:solidFill>
              <a:srgbClr val="3A475E"/>
            </a:solidFill>
            <a:prstDash val="solid"/>
          </a:ln>
        </p:spPr>
        <p:txBody>
          <a:bodyPr/>
          <a:p/>
        </p:txBody>
      </p:sp>
      <p:sp>
        <p:nvSpPr>
          <p:cNvPr id="12" name="Shape 10"/>
          <p:cNvSpPr/>
          <p:nvPr/>
        </p:nvSpPr>
        <p:spPr>
          <a:xfrm>
            <a:off x="713232" y="2889504"/>
            <a:ext cx="365760" cy="365760"/>
          </a:xfrm>
          <a:prstGeom prst="ellipse">
            <a:avLst/>
          </a:prstGeom>
          <a:solidFill>
            <a:srgbClr val="1F3A5F"/>
          </a:solidFill>
          <a:ln/>
        </p:spPr>
        <p:txBody>
          <a:bodyPr/>
          <a:p/>
        </p:txBody>
      </p:sp>
      <p:sp>
        <p:nvSpPr>
          <p:cNvPr id="13" name="Text 11"/>
          <p:cNvSpPr/>
          <p:nvPr/>
        </p:nvSpPr>
        <p:spPr>
          <a:xfrm>
            <a:off x="713232" y="2889504"/>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A</a:t>
            </a:r>
            <a:endParaRPr lang="en-US" sz="1400" dirty="0"/>
          </a:p>
        </p:txBody>
      </p:sp>
      <p:sp>
        <p:nvSpPr>
          <p:cNvPr id="14" name="Text 12"/>
          <p:cNvSpPr/>
          <p:nvPr/>
        </p:nvSpPr>
        <p:spPr>
          <a:xfrm>
            <a:off x="1234440" y="2743200"/>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Immigrants found immediate wealth and success.</a:t>
            </a:r>
            <a:endParaRPr lang="en-US" sz="1350" dirty="0"/>
          </a:p>
        </p:txBody>
      </p:sp>
      <p:sp>
        <p:nvSpPr>
          <p:cNvPr id="15" name="Shape 13"/>
          <p:cNvSpPr/>
          <p:nvPr/>
        </p:nvSpPr>
        <p:spPr>
          <a:xfrm>
            <a:off x="548640" y="3493008"/>
            <a:ext cx="11064240" cy="658368"/>
          </a:xfrm>
          <a:prstGeom prst="roundRect">
            <a:avLst>
              <a:gd name="adj" fmla="val 8333"/>
            </a:avLst>
          </a:prstGeom>
          <a:solidFill>
            <a:srgbClr val="2C384F"/>
          </a:solidFill>
          <a:ln w="12700">
            <a:solidFill>
              <a:srgbClr val="3A475E"/>
            </a:solidFill>
            <a:prstDash val="solid"/>
          </a:ln>
        </p:spPr>
        <p:txBody>
          <a:bodyPr/>
          <a:p/>
        </p:txBody>
      </p:sp>
      <p:sp>
        <p:nvSpPr>
          <p:cNvPr id="16" name="Shape 14"/>
          <p:cNvSpPr/>
          <p:nvPr/>
        </p:nvSpPr>
        <p:spPr>
          <a:xfrm>
            <a:off x="713232" y="3639312"/>
            <a:ext cx="365760" cy="365760"/>
          </a:xfrm>
          <a:prstGeom prst="ellipse">
            <a:avLst/>
          </a:prstGeom>
          <a:solidFill>
            <a:srgbClr val="1F3A5F"/>
          </a:solidFill>
          <a:ln/>
        </p:spPr>
        <p:txBody>
          <a:bodyPr/>
          <a:p/>
        </p:txBody>
      </p:sp>
      <p:sp>
        <p:nvSpPr>
          <p:cNvPr id="17" name="Text 15"/>
          <p:cNvSpPr/>
          <p:nvPr/>
        </p:nvSpPr>
        <p:spPr>
          <a:xfrm>
            <a:off x="713232" y="3639312"/>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B</a:t>
            </a:r>
            <a:endParaRPr lang="en-US" sz="1400" dirty="0"/>
          </a:p>
        </p:txBody>
      </p:sp>
      <p:sp>
        <p:nvSpPr>
          <p:cNvPr id="18" name="Text 16"/>
          <p:cNvSpPr/>
          <p:nvPr/>
        </p:nvSpPr>
        <p:spPr>
          <a:xfrm>
            <a:off x="1234440" y="3493008"/>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Reality fell far short of expectations, and immigrants faced hard labor.</a:t>
            </a:r>
            <a:endParaRPr lang="en-US" sz="1350" dirty="0"/>
          </a:p>
        </p:txBody>
      </p:sp>
      <p:sp>
        <p:nvSpPr>
          <p:cNvPr id="19" name="Shape 17"/>
          <p:cNvSpPr/>
          <p:nvPr/>
        </p:nvSpPr>
        <p:spPr>
          <a:xfrm>
            <a:off x="548640" y="4242816"/>
            <a:ext cx="11064240" cy="658368"/>
          </a:xfrm>
          <a:prstGeom prst="roundRect">
            <a:avLst>
              <a:gd name="adj" fmla="val 8333"/>
            </a:avLst>
          </a:prstGeom>
          <a:solidFill>
            <a:srgbClr val="2C384F"/>
          </a:solidFill>
          <a:ln w="12700">
            <a:solidFill>
              <a:srgbClr val="3A475E"/>
            </a:solidFill>
            <a:prstDash val="solid"/>
          </a:ln>
        </p:spPr>
        <p:txBody>
          <a:bodyPr/>
          <a:p/>
        </p:txBody>
      </p:sp>
      <p:sp>
        <p:nvSpPr>
          <p:cNvPr id="20" name="Shape 18"/>
          <p:cNvSpPr/>
          <p:nvPr/>
        </p:nvSpPr>
        <p:spPr>
          <a:xfrm>
            <a:off x="713232" y="4389120"/>
            <a:ext cx="365760" cy="365760"/>
          </a:xfrm>
          <a:prstGeom prst="ellipse">
            <a:avLst/>
          </a:prstGeom>
          <a:solidFill>
            <a:srgbClr val="1F3A5F"/>
          </a:solidFill>
          <a:ln/>
        </p:spPr>
        <p:txBody>
          <a:bodyPr/>
          <a:p/>
        </p:txBody>
      </p:sp>
      <p:sp>
        <p:nvSpPr>
          <p:cNvPr id="21" name="Text 19"/>
          <p:cNvSpPr/>
          <p:nvPr/>
        </p:nvSpPr>
        <p:spPr>
          <a:xfrm>
            <a:off x="713232" y="4389120"/>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C</a:t>
            </a:r>
            <a:endParaRPr lang="en-US" sz="1400" dirty="0"/>
          </a:p>
        </p:txBody>
      </p:sp>
      <p:sp>
        <p:nvSpPr>
          <p:cNvPr id="22" name="Text 20"/>
          <p:cNvSpPr/>
          <p:nvPr/>
        </p:nvSpPr>
        <p:spPr>
          <a:xfrm>
            <a:off x="1234440" y="4242816"/>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American cities were well-developed and welcoming.</a:t>
            </a:r>
            <a:endParaRPr lang="en-US" sz="1350" dirty="0"/>
          </a:p>
        </p:txBody>
      </p:sp>
      <p:sp>
        <p:nvSpPr>
          <p:cNvPr id="23" name="Shape 21"/>
          <p:cNvSpPr/>
          <p:nvPr/>
        </p:nvSpPr>
        <p:spPr>
          <a:xfrm>
            <a:off x="548640" y="4992624"/>
            <a:ext cx="11064240" cy="658368"/>
          </a:xfrm>
          <a:prstGeom prst="roundRect">
            <a:avLst>
              <a:gd name="adj" fmla="val 8333"/>
            </a:avLst>
          </a:prstGeom>
          <a:solidFill>
            <a:srgbClr val="2C384F"/>
          </a:solidFill>
          <a:ln w="12700">
            <a:solidFill>
              <a:srgbClr val="3A475E"/>
            </a:solidFill>
            <a:prstDash val="solid"/>
          </a:ln>
        </p:spPr>
        <p:txBody>
          <a:bodyPr/>
          <a:p/>
        </p:txBody>
      </p:sp>
      <p:sp>
        <p:nvSpPr>
          <p:cNvPr id="24" name="Shape 22"/>
          <p:cNvSpPr/>
          <p:nvPr/>
        </p:nvSpPr>
        <p:spPr>
          <a:xfrm>
            <a:off x="713232" y="5138928"/>
            <a:ext cx="365760" cy="365760"/>
          </a:xfrm>
          <a:prstGeom prst="ellipse">
            <a:avLst/>
          </a:prstGeom>
          <a:solidFill>
            <a:srgbClr val="1F3A5F"/>
          </a:solidFill>
          <a:ln/>
        </p:spPr>
        <p:txBody>
          <a:bodyPr/>
          <a:p/>
        </p:txBody>
      </p:sp>
      <p:sp>
        <p:nvSpPr>
          <p:cNvPr id="25" name="Text 23"/>
          <p:cNvSpPr/>
          <p:nvPr/>
        </p:nvSpPr>
        <p:spPr>
          <a:xfrm>
            <a:off x="713232" y="5138928"/>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D</a:t>
            </a:r>
            <a:endParaRPr lang="en-US" sz="1400" dirty="0"/>
          </a:p>
        </p:txBody>
      </p:sp>
      <p:sp>
        <p:nvSpPr>
          <p:cNvPr id="26" name="Text 24"/>
          <p:cNvSpPr/>
          <p:nvPr/>
        </p:nvSpPr>
        <p:spPr>
          <a:xfrm>
            <a:off x="1234440" y="4992624"/>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Immigrants were given skilled professional jobs.</a:t>
            </a:r>
            <a:endParaRPr lang="en-US" sz="1350" dirty="0"/>
          </a:p>
        </p:txBody>
      </p:sp>
      <p:sp>
        <p:nvSpPr>
          <p:cNvPr id="27" name="Shape 25"/>
          <p:cNvSpPr/>
          <p:nvPr/>
        </p:nvSpPr>
        <p:spPr>
          <a:xfrm>
            <a:off x="548640" y="5715000"/>
            <a:ext cx="11064240" cy="502920"/>
          </a:xfrm>
          <a:prstGeom prst="roundRect">
            <a:avLst>
              <a:gd name="adj" fmla="val 14545"/>
            </a:avLst>
          </a:prstGeom>
          <a:solidFill>
            <a:srgbClr val="243047"/>
          </a:solidFill>
          <a:ln w="12700">
            <a:solidFill>
              <a:srgbClr val="C9A227"/>
            </a:solidFill>
            <a:prstDash val="solid"/>
          </a:ln>
        </p:spPr>
        <p:txBody>
          <a:bodyPr/>
          <a:p/>
        </p:txBody>
      </p:sp>
      <p:sp>
        <p:nvSpPr>
          <p:cNvPr id="28" name="Text 26"/>
          <p:cNvSpPr/>
          <p:nvPr/>
        </p:nvSpPr>
        <p:spPr>
          <a:xfrm>
            <a:off x="822960" y="5715000"/>
            <a:ext cx="10515600" cy="502920"/>
          </a:xfrm>
          <a:prstGeom prst="rect">
            <a:avLst/>
          </a:prstGeom>
          <a:noFill/>
          <a:ln/>
        </p:spPr>
        <p:txBody>
          <a:bodyPr wrap="square" rtlCol="0" anchor="ctr"/>
          <a:lstStyle/>
          <a:p>
            <a:pPr indent="0" marL="0">
              <a:buNone/>
            </a:pPr>
            <a:r>
              <a:rPr lang="en-US" sz="1200" b="1" i="1" spc="100" kern="0" dirty="0">
                <a:solidFill>
                  <a:srgbClr val="F9A825"/>
                </a:solidFill>
                <a:latin typeface="Trebuchet MS" pitchFamily="34" charset="0"/>
                <a:ea typeface="Trebuchet MS" pitchFamily="34" charset="-122"/>
                <a:cs typeface="Trebuchet MS" pitchFamily="34" charset="-120"/>
              </a:rPr>
              <a:t>ANSWER FIRST:  </a:t>
            </a:r>
            <a:pPr indent="0" marL="0">
              <a:buNone/>
            </a:pPr>
            <a:r>
              <a:rPr lang="en-US" sz="1200" i="1" dirty="0">
                <a:solidFill>
                  <a:srgbClr val="C7D4E0"/>
                </a:solidFill>
                <a:latin typeface="Calibri" pitchFamily="34" charset="0"/>
                <a:ea typeface="Calibri" pitchFamily="34" charset="-122"/>
                <a:cs typeface="Calibri" pitchFamily="34" charset="-120"/>
              </a:rPr>
              <a:t>students commit — then click / advance to reveal the correct answer and explanation.</a:t>
            </a:r>
            <a:endParaRPr lang="en-US" sz="1200" dirty="0"/>
          </a:p>
        </p:txBody>
      </p:sp>
      <p:sp>
        <p:nvSpPr>
          <p:cNvPr id="30" name="Text 27"/>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1" name="Text 2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91</a:t>
            </a:r>
            <a:endParaRPr lang="en-US" sz="9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1">
    <p:bg>
      <p:bgPr>
        <a:solidFill>
          <a:srgbClr val="1F3A5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227"/>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US.06 · ANSWER REVEAL</a:t>
            </a:r>
            <a:endParaRPr lang="en-US" sz="1200" dirty="0"/>
          </a:p>
        </p:txBody>
      </p:sp>
      <p:sp>
        <p:nvSpPr>
          <p:cNvPr id="4" name="Text 2"/>
          <p:cNvSpPr/>
          <p:nvPr/>
        </p:nvSpPr>
        <p:spPr>
          <a:xfrm>
            <a:off x="548640" y="777240"/>
            <a:ext cx="822960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8595360" y="822960"/>
            <a:ext cx="3017520" cy="457200"/>
          </a:xfrm>
          <a:prstGeom prst="roundRect">
            <a:avLst>
              <a:gd name="adj" fmla="val 20000"/>
            </a:avLst>
          </a:prstGeom>
          <a:solidFill>
            <a:srgbClr val="1B5E20"/>
          </a:solidFill>
          <a:ln/>
        </p:spPr>
        <p:txBody>
          <a:bodyPr/>
          <a:p/>
        </p:txBody>
      </p:sp>
      <p:sp>
        <p:nvSpPr>
          <p:cNvPr id="6" name="Text 4"/>
          <p:cNvSpPr/>
          <p:nvPr/>
        </p:nvSpPr>
        <p:spPr>
          <a:xfrm>
            <a:off x="8595360" y="822960"/>
            <a:ext cx="301752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 ANSWER KEY</a:t>
            </a:r>
            <a:endParaRPr lang="en-US" sz="1200" dirty="0"/>
          </a:p>
        </p:txBody>
      </p:sp>
      <p:sp>
        <p:nvSpPr>
          <p:cNvPr id="7" name="Shape 5"/>
          <p:cNvSpPr/>
          <p:nvPr/>
        </p:nvSpPr>
        <p:spPr>
          <a:xfrm>
            <a:off x="548640" y="1554480"/>
            <a:ext cx="11064240" cy="960120"/>
          </a:xfrm>
          <a:prstGeom prst="roundRect">
            <a:avLst>
              <a:gd name="adj" fmla="val 7619"/>
            </a:avLst>
          </a:prstGeom>
          <a:solidFill>
            <a:srgbClr val="243047"/>
          </a:solidFill>
          <a:ln w="6350">
            <a:solidFill>
              <a:srgbClr val="A7BACB"/>
            </a:solidFill>
            <a:prstDash val="solid"/>
          </a:ln>
        </p:spPr>
        <p:txBody>
          <a:bodyPr/>
          <a:p/>
        </p:txBody>
      </p:sp>
      <p:sp>
        <p:nvSpPr>
          <p:cNvPr id="8" name="Text 6"/>
          <p:cNvSpPr/>
          <p:nvPr/>
        </p:nvSpPr>
        <p:spPr>
          <a:xfrm>
            <a:off x="822960" y="1664208"/>
            <a:ext cx="10515600" cy="731520"/>
          </a:xfrm>
          <a:prstGeom prst="rect">
            <a:avLst/>
          </a:prstGeom>
          <a:noFill/>
          <a:ln/>
        </p:spPr>
        <p:txBody>
          <a:bodyPr wrap="square" rtlCol="0" anchor="ctr"/>
          <a:lstStyle/>
          <a:p>
            <a:pPr indent="0" marL="0">
              <a:lnSpc>
                <a:spcPct val="102000"/>
              </a:lnSpc>
              <a:buNone/>
            </a:pPr>
            <a:r>
              <a:rPr lang="en-US" sz="1500" b="1" dirty="0">
                <a:solidFill>
                  <a:srgbClr val="FFFFFF"/>
                </a:solidFill>
                <a:latin typeface="Calibri" pitchFamily="34" charset="0"/>
                <a:ea typeface="Calibri" pitchFamily="34" charset="-122"/>
                <a:cs typeface="Calibri" pitchFamily="34" charset="-120"/>
              </a:rPr>
              <a:t>What does this folk saying reveal about the immigrant experience in America?</a:t>
            </a:r>
            <a:endParaRPr lang="en-US" sz="1500" dirty="0"/>
          </a:p>
        </p:txBody>
      </p:sp>
      <p:sp>
        <p:nvSpPr>
          <p:cNvPr id="9" name="Shape 7"/>
          <p:cNvSpPr/>
          <p:nvPr/>
        </p:nvSpPr>
        <p:spPr>
          <a:xfrm>
            <a:off x="548640" y="2651760"/>
            <a:ext cx="11064240" cy="566928"/>
          </a:xfrm>
          <a:prstGeom prst="roundRect">
            <a:avLst>
              <a:gd name="adj" fmla="val 9677"/>
            </a:avLst>
          </a:prstGeom>
          <a:solidFill>
            <a:srgbClr val="2C384F"/>
          </a:solidFill>
          <a:ln w="12700">
            <a:solidFill>
              <a:srgbClr val="3A475E"/>
            </a:solidFill>
            <a:prstDash val="solid"/>
          </a:ln>
        </p:spPr>
        <p:txBody>
          <a:bodyPr/>
          <a:p/>
        </p:txBody>
      </p:sp>
      <p:sp>
        <p:nvSpPr>
          <p:cNvPr id="10" name="Shape 8"/>
          <p:cNvSpPr/>
          <p:nvPr/>
        </p:nvSpPr>
        <p:spPr>
          <a:xfrm>
            <a:off x="713232" y="2761488"/>
            <a:ext cx="347472" cy="347472"/>
          </a:xfrm>
          <a:prstGeom prst="ellipse">
            <a:avLst/>
          </a:prstGeom>
          <a:solidFill>
            <a:srgbClr val="1F3A5F"/>
          </a:solidFill>
          <a:ln/>
        </p:spPr>
        <p:txBody>
          <a:bodyPr/>
          <a:p/>
        </p:txBody>
      </p:sp>
      <p:sp>
        <p:nvSpPr>
          <p:cNvPr id="11" name="Text 9"/>
          <p:cNvSpPr/>
          <p:nvPr/>
        </p:nvSpPr>
        <p:spPr>
          <a:xfrm>
            <a:off x="713232" y="2761488"/>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A</a:t>
            </a:r>
            <a:endParaRPr lang="en-US" sz="1300" dirty="0"/>
          </a:p>
        </p:txBody>
      </p:sp>
      <p:sp>
        <p:nvSpPr>
          <p:cNvPr id="12" name="Text 10"/>
          <p:cNvSpPr/>
          <p:nvPr/>
        </p:nvSpPr>
        <p:spPr>
          <a:xfrm>
            <a:off x="1216152" y="2651760"/>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Immigrants found immediate wealth and success.</a:t>
            </a:r>
            <a:endParaRPr lang="en-US" sz="1300" dirty="0"/>
          </a:p>
        </p:txBody>
      </p:sp>
      <p:sp>
        <p:nvSpPr>
          <p:cNvPr id="13" name="Shape 11"/>
          <p:cNvSpPr/>
          <p:nvPr/>
        </p:nvSpPr>
        <p:spPr>
          <a:xfrm>
            <a:off x="548640" y="3310128"/>
            <a:ext cx="11064240" cy="566928"/>
          </a:xfrm>
          <a:prstGeom prst="roundRect">
            <a:avLst>
              <a:gd name="adj" fmla="val 9677"/>
            </a:avLst>
          </a:prstGeom>
          <a:solidFill>
            <a:srgbClr val="C9A227"/>
          </a:solidFill>
          <a:ln w="12700">
            <a:solidFill>
              <a:srgbClr val="3A475E"/>
            </a:solidFill>
            <a:prstDash val="solid"/>
          </a:ln>
        </p:spPr>
        <p:txBody>
          <a:bodyPr/>
          <a:p/>
        </p:txBody>
      </p:sp>
      <p:sp>
        <p:nvSpPr>
          <p:cNvPr id="14" name="Shape 12"/>
          <p:cNvSpPr/>
          <p:nvPr/>
        </p:nvSpPr>
        <p:spPr>
          <a:xfrm>
            <a:off x="713232" y="3419856"/>
            <a:ext cx="347472" cy="347472"/>
          </a:xfrm>
          <a:prstGeom prst="ellipse">
            <a:avLst/>
          </a:prstGeom>
          <a:solidFill>
            <a:srgbClr val="1F3A5F"/>
          </a:solidFill>
          <a:ln/>
        </p:spPr>
        <p:txBody>
          <a:bodyPr/>
          <a:p/>
        </p:txBody>
      </p:sp>
      <p:sp>
        <p:nvSpPr>
          <p:cNvPr id="15" name="Text 13"/>
          <p:cNvSpPr/>
          <p:nvPr/>
        </p:nvSpPr>
        <p:spPr>
          <a:xfrm>
            <a:off x="713232" y="3419856"/>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B</a:t>
            </a:r>
            <a:endParaRPr lang="en-US" sz="1300" dirty="0"/>
          </a:p>
        </p:txBody>
      </p:sp>
      <p:sp>
        <p:nvSpPr>
          <p:cNvPr id="16" name="Text 14"/>
          <p:cNvSpPr/>
          <p:nvPr/>
        </p:nvSpPr>
        <p:spPr>
          <a:xfrm>
            <a:off x="1216152" y="3310128"/>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Reality fell far short of expectations, and immigrants faced hard labor.</a:t>
            </a:r>
            <a:endParaRPr lang="en-US" sz="1300" dirty="0"/>
          </a:p>
        </p:txBody>
      </p:sp>
      <p:sp>
        <p:nvSpPr>
          <p:cNvPr id="17" name="Shape 15"/>
          <p:cNvSpPr/>
          <p:nvPr/>
        </p:nvSpPr>
        <p:spPr>
          <a:xfrm>
            <a:off x="548640" y="3968496"/>
            <a:ext cx="11064240" cy="566928"/>
          </a:xfrm>
          <a:prstGeom prst="roundRect">
            <a:avLst>
              <a:gd name="adj" fmla="val 9677"/>
            </a:avLst>
          </a:prstGeom>
          <a:solidFill>
            <a:srgbClr val="2C384F"/>
          </a:solidFill>
          <a:ln w="12700">
            <a:solidFill>
              <a:srgbClr val="F9A825"/>
            </a:solidFill>
            <a:prstDash val="solid"/>
          </a:ln>
        </p:spPr>
        <p:txBody>
          <a:bodyPr/>
          <a:p/>
        </p:txBody>
      </p:sp>
      <p:sp>
        <p:nvSpPr>
          <p:cNvPr id="18" name="Shape 16"/>
          <p:cNvSpPr/>
          <p:nvPr/>
        </p:nvSpPr>
        <p:spPr>
          <a:xfrm>
            <a:off x="713232" y="4078224"/>
            <a:ext cx="347472" cy="347472"/>
          </a:xfrm>
          <a:prstGeom prst="ellipse">
            <a:avLst/>
          </a:prstGeom>
          <a:solidFill>
            <a:srgbClr val="1F3A5F"/>
          </a:solidFill>
          <a:ln/>
        </p:spPr>
        <p:txBody>
          <a:bodyPr/>
          <a:p/>
        </p:txBody>
      </p:sp>
      <p:sp>
        <p:nvSpPr>
          <p:cNvPr id="19" name="Text 17"/>
          <p:cNvSpPr/>
          <p:nvPr/>
        </p:nvSpPr>
        <p:spPr>
          <a:xfrm>
            <a:off x="713232" y="4078224"/>
            <a:ext cx="347472" cy="347472"/>
          </a:xfrm>
          <a:prstGeom prst="rect">
            <a:avLst/>
          </a:prstGeom>
          <a:noFill/>
          <a:ln/>
        </p:spPr>
        <p:txBody>
          <a:bodyPr wrap="square" rtlCol="0" anchor="ctr"/>
          <a:lstStyle/>
          <a:p>
            <a:pPr algn="ctr" indent="0" marL="0">
              <a:buNone/>
            </a:pPr>
            <a:r>
              <a:rPr lang="en-US" sz="1300" b="1" dirty="0">
                <a:solidFill>
                  <a:srgbClr val="F9A825"/>
                </a:solidFill>
                <a:latin typeface="Trebuchet MS" pitchFamily="34" charset="0"/>
                <a:ea typeface="Trebuchet MS" pitchFamily="34" charset="-122"/>
                <a:cs typeface="Trebuchet MS" pitchFamily="34" charset="-120"/>
              </a:rPr>
              <a:t>C</a:t>
            </a:r>
            <a:endParaRPr lang="en-US" sz="1300" dirty="0"/>
          </a:p>
        </p:txBody>
      </p:sp>
      <p:sp>
        <p:nvSpPr>
          <p:cNvPr id="20" name="Text 18"/>
          <p:cNvSpPr/>
          <p:nvPr/>
        </p:nvSpPr>
        <p:spPr>
          <a:xfrm>
            <a:off x="1216152" y="3968496"/>
            <a:ext cx="9509760" cy="566928"/>
          </a:xfrm>
          <a:prstGeom prst="rect">
            <a:avLst/>
          </a:prstGeom>
          <a:noFill/>
          <a:ln/>
        </p:spPr>
        <p:txBody>
          <a:bodyPr wrap="square" rtlCol="0" anchor="ctr"/>
          <a:lstStyle/>
          <a:p>
            <a:pPr indent="0" marL="0">
              <a:lnSpc>
                <a:spcPct val="100000"/>
              </a:lnSpc>
              <a:buNone/>
            </a:pPr>
            <a:r>
              <a:rPr lang="en-US" sz="1300" b="1" dirty="0">
                <a:solidFill>
                  <a:srgbClr val="1F3A5F"/>
                </a:solidFill>
                <a:latin typeface="Calibri" pitchFamily="34" charset="0"/>
                <a:ea typeface="Calibri" pitchFamily="34" charset="-122"/>
                <a:cs typeface="Calibri" pitchFamily="34" charset="-120"/>
              </a:rPr>
              <a:t>American cities were well-developed and welcoming.</a:t>
            </a:r>
            <a:endParaRPr lang="en-US" sz="1300" dirty="0"/>
          </a:p>
        </p:txBody>
      </p:sp>
      <p:sp>
        <p:nvSpPr>
          <p:cNvPr id="21" name="Text 19"/>
          <p:cNvSpPr/>
          <p:nvPr/>
        </p:nvSpPr>
        <p:spPr>
          <a:xfrm>
            <a:off x="11018520" y="3310128"/>
            <a:ext cx="457200" cy="566928"/>
          </a:xfrm>
          <a:prstGeom prst="rect">
            <a:avLst/>
          </a:prstGeom>
          <a:noFill/>
          <a:ln/>
        </p:spPr>
        <p:txBody>
          <a:bodyPr wrap="square" rtlCol="0" anchor="ctr"/>
          <a:lstStyle/>
          <a:p>
            <a:pPr algn="ctr" indent="0" marL="0">
              <a:buNone/>
            </a:pPr>
            <a:r>
              <a:rPr lang="en-US" sz="1700" b="1" dirty="0">
                <a:solidFill>
                  <a:srgbClr val="1F3A5F"/>
                </a:solidFill>
                <a:latin typeface="Calibri" pitchFamily="34" charset="0"/>
                <a:ea typeface="Calibri" pitchFamily="34" charset="-122"/>
                <a:cs typeface="Calibri" pitchFamily="34" charset="-120"/>
              </a:rPr>
              <a:t>✓</a:t>
            </a:r>
            <a:endParaRPr lang="en-US" sz="1700" dirty="0"/>
          </a:p>
        </p:txBody>
      </p:sp>
      <p:sp>
        <p:nvSpPr>
          <p:cNvPr id="22" name="Shape 20"/>
          <p:cNvSpPr/>
          <p:nvPr/>
        </p:nvSpPr>
        <p:spPr>
          <a:xfrm>
            <a:off x="548640" y="4626864"/>
            <a:ext cx="11064240" cy="566928"/>
          </a:xfrm>
          <a:prstGeom prst="roundRect">
            <a:avLst>
              <a:gd name="adj" fmla="val 9677"/>
            </a:avLst>
          </a:prstGeom>
          <a:solidFill>
            <a:srgbClr val="2C384F"/>
          </a:solidFill>
          <a:ln w="12700">
            <a:solidFill>
              <a:srgbClr val="3A475E"/>
            </a:solidFill>
            <a:prstDash val="solid"/>
          </a:ln>
        </p:spPr>
        <p:txBody>
          <a:bodyPr/>
          <a:p/>
        </p:txBody>
      </p:sp>
      <p:sp>
        <p:nvSpPr>
          <p:cNvPr id="23" name="Shape 21"/>
          <p:cNvSpPr/>
          <p:nvPr/>
        </p:nvSpPr>
        <p:spPr>
          <a:xfrm>
            <a:off x="713232" y="4736592"/>
            <a:ext cx="347472" cy="347472"/>
          </a:xfrm>
          <a:prstGeom prst="ellipse">
            <a:avLst/>
          </a:prstGeom>
          <a:solidFill>
            <a:srgbClr val="1F3A5F"/>
          </a:solidFill>
          <a:ln/>
        </p:spPr>
        <p:txBody>
          <a:bodyPr/>
          <a:p/>
        </p:txBody>
      </p:sp>
      <p:sp>
        <p:nvSpPr>
          <p:cNvPr id="24" name="Text 22"/>
          <p:cNvSpPr/>
          <p:nvPr/>
        </p:nvSpPr>
        <p:spPr>
          <a:xfrm>
            <a:off x="713232" y="4736592"/>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D</a:t>
            </a:r>
            <a:endParaRPr lang="en-US" sz="1300" dirty="0"/>
          </a:p>
        </p:txBody>
      </p:sp>
      <p:sp>
        <p:nvSpPr>
          <p:cNvPr id="25" name="Text 23"/>
          <p:cNvSpPr/>
          <p:nvPr/>
        </p:nvSpPr>
        <p:spPr>
          <a:xfrm>
            <a:off x="1216152" y="4626864"/>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Immigrants were given skilled professional jobs.</a:t>
            </a:r>
            <a:endParaRPr lang="en-US" sz="1300" dirty="0"/>
          </a:p>
        </p:txBody>
      </p:sp>
      <p:sp>
        <p:nvSpPr>
          <p:cNvPr id="26" name="Shape 24"/>
          <p:cNvSpPr/>
          <p:nvPr/>
        </p:nvSpPr>
        <p:spPr>
          <a:xfrm>
            <a:off x="548640" y="5440680"/>
            <a:ext cx="11064240" cy="868680"/>
          </a:xfrm>
          <a:prstGeom prst="roundRect">
            <a:avLst>
              <a:gd name="adj" fmla="val 8421"/>
            </a:avLst>
          </a:prstGeom>
          <a:solidFill>
            <a:srgbClr val="243047"/>
          </a:solidFill>
          <a:ln w="12700">
            <a:solidFill>
              <a:srgbClr val="F9A825"/>
            </a:solidFill>
            <a:prstDash val="solid"/>
          </a:ln>
        </p:spPr>
        <p:txBody>
          <a:bodyPr/>
          <a:p/>
        </p:txBody>
      </p:sp>
      <p:sp>
        <p:nvSpPr>
          <p:cNvPr id="27" name="Text 25"/>
          <p:cNvSpPr/>
          <p:nvPr/>
        </p:nvSpPr>
        <p:spPr>
          <a:xfrm>
            <a:off x="822960" y="5532120"/>
            <a:ext cx="10515600" cy="713232"/>
          </a:xfrm>
          <a:prstGeom prst="rect">
            <a:avLst/>
          </a:prstGeom>
          <a:noFill/>
          <a:ln/>
        </p:spPr>
        <p:txBody>
          <a:bodyPr wrap="square" rtlCol="0" anchor="ctr"/>
          <a:lstStyle/>
          <a:p>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Correct answer: B.  </a:t>
            </a:r>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Why: </a:t>
            </a:r>
            <a:pPr indent="0" marL="0">
              <a:lnSpc>
                <a:spcPct val="104000"/>
              </a:lnSpc>
              <a:buNone/>
            </a:pPr>
            <a:r>
              <a:rPr lang="en-US" sz="1150" dirty="0">
                <a:solidFill>
                  <a:srgbClr val="C7D4E0"/>
                </a:solidFill>
                <a:latin typeface="Calibri" pitchFamily="34" charset="0"/>
                <a:ea typeface="Calibri" pitchFamily="34" charset="-122"/>
                <a:cs typeface="Calibri" pitchFamily="34" charset="-120"/>
              </a:rPr>
              <a:t>The letter contrasts the dream of "streets paved with gold" with the reality of unpaved streets that immigrants themselves "were expected to pave," highlighting difficult conditions.</a:t>
            </a:r>
            <a:endParaRPr lang="en-US" sz="1150" dirty="0"/>
          </a:p>
        </p:txBody>
      </p:sp>
      <p:sp>
        <p:nvSpPr>
          <p:cNvPr id="29" name="Text 26"/>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0" name="Text 2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92</a:t>
            </a:r>
            <a:endParaRPr lang="en-US" sz="9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2">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F3A5F"/>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B22234"/>
                </a:solidFill>
                <a:latin typeface="Trebuchet MS" pitchFamily="34" charset="0"/>
                <a:ea typeface="Trebuchet MS" pitchFamily="34" charset="-122"/>
                <a:cs typeface="Trebuchet MS" pitchFamily="34" charset="-120"/>
              </a:rPr>
              <a:t>US.06 · WRAP-UP</a:t>
            </a:r>
            <a:endParaRPr lang="en-US" sz="1200" dirty="0"/>
          </a:p>
        </p:txBody>
      </p:sp>
      <p:sp>
        <p:nvSpPr>
          <p:cNvPr id="4" name="Text 2"/>
          <p:cNvSpPr/>
          <p:nvPr/>
        </p:nvSpPr>
        <p:spPr>
          <a:xfrm>
            <a:off x="548640" y="731520"/>
            <a:ext cx="11064240" cy="640080"/>
          </a:xfrm>
          <a:prstGeom prst="rect">
            <a:avLst/>
          </a:prstGeom>
          <a:noFill/>
          <a:ln/>
        </p:spPr>
        <p:txBody>
          <a:bodyPr wrap="square" rtlCol="0" anchor="ctr"/>
          <a:lstStyle/>
          <a:p>
            <a:pPr indent="0" marL="0">
              <a:buNone/>
            </a:pPr>
            <a:r>
              <a:rPr lang="en-US" sz="2800" b="1" dirty="0">
                <a:solidFill>
                  <a:srgbClr val="1F3A5F"/>
                </a:solidFill>
                <a:latin typeface="Georgia" pitchFamily="34" charset="0"/>
                <a:ea typeface="Georgia" pitchFamily="34" charset="-122"/>
                <a:cs typeface="Georgia" pitchFamily="34" charset="-120"/>
              </a:rPr>
              <a:t>What You Need to Know for TCAP</a:t>
            </a:r>
            <a:endParaRPr lang="en-US" sz="2800" dirty="0"/>
          </a:p>
        </p:txBody>
      </p:sp>
      <p:sp>
        <p:nvSpPr>
          <p:cNvPr id="5" name="Shape 3"/>
          <p:cNvSpPr/>
          <p:nvPr/>
        </p:nvSpPr>
        <p:spPr>
          <a:xfrm>
            <a:off x="548640" y="1691640"/>
            <a:ext cx="7040880" cy="2971800"/>
          </a:xfrm>
          <a:prstGeom prst="rect">
            <a:avLst/>
          </a:prstGeom>
          <a:solidFill>
            <a:srgbClr val="FFFFFF"/>
          </a:solidFill>
          <a:ln w="12700">
            <a:solidFill>
              <a:srgbClr val="DAD3C2"/>
            </a:solidFill>
            <a:prstDash val="solid"/>
          </a:ln>
        </p:spPr>
        <p:txBody>
          <a:bodyPr/>
          <a:p/>
        </p:txBody>
      </p:sp>
      <p:sp>
        <p:nvSpPr>
          <p:cNvPr id="6" name="Text 4"/>
          <p:cNvSpPr/>
          <p:nvPr/>
        </p:nvSpPr>
        <p:spPr>
          <a:xfrm>
            <a:off x="868680" y="1847088"/>
            <a:ext cx="5486400" cy="320040"/>
          </a:xfrm>
          <a:prstGeom prst="rect">
            <a:avLst/>
          </a:prstGeom>
          <a:noFill/>
          <a:ln/>
        </p:spPr>
        <p:txBody>
          <a:bodyPr wrap="square" rtlCol="0" anchor="ctr"/>
          <a:lstStyle/>
          <a:p>
            <a:pPr indent="0" marL="0">
              <a:buNone/>
            </a:pPr>
            <a:r>
              <a:rPr lang="en-US" sz="1200" b="1" spc="200" kern="0" dirty="0">
                <a:solidFill>
                  <a:srgbClr val="B22234"/>
                </a:solidFill>
                <a:latin typeface="Trebuchet MS" pitchFamily="34" charset="0"/>
                <a:ea typeface="Trebuchet MS" pitchFamily="34" charset="-122"/>
                <a:cs typeface="Trebuchet MS" pitchFamily="34" charset="-120"/>
              </a:rPr>
              <a:t>KEY TAKEAWAYS</a:t>
            </a:r>
            <a:endParaRPr lang="en-US" sz="1200" dirty="0"/>
          </a:p>
        </p:txBody>
      </p:sp>
      <p:sp>
        <p:nvSpPr>
          <p:cNvPr id="7" name="Text 5"/>
          <p:cNvSpPr/>
          <p:nvPr/>
        </p:nvSpPr>
        <p:spPr>
          <a:xfrm>
            <a:off x="868680" y="2212848"/>
            <a:ext cx="6492240" cy="2331720"/>
          </a:xfrm>
          <a:prstGeom prst="rect">
            <a:avLst/>
          </a:prstGeom>
          <a:noFill/>
          <a:ln/>
        </p:spPr>
        <p:txBody>
          <a:bodyPr wrap="square" rtlCol="0" anchor="t"/>
          <a:lstStyle/>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Major Industrial Centers</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Rural-to-Urban Migration</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Geographic Factors in Industrial Location</a:t>
            </a:r>
            <a:endParaRPr lang="en-US" sz="1500" dirty="0"/>
          </a:p>
        </p:txBody>
      </p:sp>
      <p:sp>
        <p:nvSpPr>
          <p:cNvPr id="8" name="Shape 6"/>
          <p:cNvSpPr/>
          <p:nvPr/>
        </p:nvSpPr>
        <p:spPr>
          <a:xfrm>
            <a:off x="548640" y="4800600"/>
            <a:ext cx="7040880" cy="1005840"/>
          </a:xfrm>
          <a:prstGeom prst="roundRect">
            <a:avLst>
              <a:gd name="adj" fmla="val 7273"/>
            </a:avLst>
          </a:prstGeom>
          <a:solidFill>
            <a:srgbClr val="F3EAD0"/>
          </a:solidFill>
          <a:ln w="12700">
            <a:solidFill>
              <a:srgbClr val="C9A227"/>
            </a:solidFill>
            <a:prstDash val="solid"/>
          </a:ln>
        </p:spPr>
        <p:txBody>
          <a:bodyPr/>
          <a:p/>
        </p:txBody>
      </p:sp>
      <p:sp>
        <p:nvSpPr>
          <p:cNvPr id="9" name="Text 7"/>
          <p:cNvSpPr/>
          <p:nvPr/>
        </p:nvSpPr>
        <p:spPr>
          <a:xfrm>
            <a:off x="822960" y="4901184"/>
            <a:ext cx="6492240" cy="274320"/>
          </a:xfrm>
          <a:prstGeom prst="rect">
            <a:avLst/>
          </a:prstGeom>
          <a:noFill/>
          <a:ln/>
        </p:spPr>
        <p:txBody>
          <a:bodyPr wrap="square" rtlCol="0" anchor="ctr"/>
          <a:lstStyle/>
          <a:p>
            <a:pPr indent="0" marL="0">
              <a:buNone/>
            </a:pPr>
            <a:r>
              <a:rPr lang="en-US" sz="1100" b="1" spc="100" kern="0" dirty="0">
                <a:solidFill>
                  <a:srgbClr val="7A5C12"/>
                </a:solidFill>
                <a:latin typeface="Trebuchet MS" pitchFamily="34" charset="0"/>
                <a:ea typeface="Trebuchet MS" pitchFamily="34" charset="-122"/>
                <a:cs typeface="Trebuchet MS" pitchFamily="34" charset="-120"/>
              </a:rPr>
              <a:t>★ EXTENSION  </a:t>
            </a:r>
            <a:pPr indent="0" marL="0">
              <a:buNone/>
            </a:pPr>
            <a:r>
              <a:rPr lang="en-US" sz="950" b="1" dirty="0">
                <a:solidFill>
                  <a:srgbClr val="5C6470"/>
                </a:solidFill>
                <a:latin typeface="Trebuchet MS" pitchFamily="34" charset="0"/>
                <a:ea typeface="Trebuchet MS" pitchFamily="34" charset="-122"/>
                <a:cs typeface="Trebuchet MS" pitchFamily="34" charset="-120"/>
              </a:rPr>
              <a:t>DOK 3 · SSP.04 Argumentation</a:t>
            </a:r>
            <a:endParaRPr lang="en-US" sz="1100" dirty="0"/>
          </a:p>
        </p:txBody>
      </p:sp>
      <p:sp>
        <p:nvSpPr>
          <p:cNvPr id="10" name="Text 8"/>
          <p:cNvSpPr/>
          <p:nvPr/>
        </p:nvSpPr>
        <p:spPr>
          <a:xfrm>
            <a:off x="822960" y="5175504"/>
            <a:ext cx="6492240" cy="566928"/>
          </a:xfrm>
          <a:prstGeom prst="rect">
            <a:avLst/>
          </a:prstGeom>
          <a:noFill/>
          <a:ln/>
        </p:spPr>
        <p:txBody>
          <a:bodyPr wrap="square" rtlCol="0" anchor="t"/>
          <a:lstStyle/>
          <a:p>
            <a:pPr indent="0" marL="0">
              <a:lnSpc>
                <a:spcPct val="100000"/>
              </a:lnSpc>
              <a:buNone/>
            </a:pPr>
            <a:r>
              <a:rPr lang="en-US" sz="1250" i="1" dirty="0">
                <a:solidFill>
                  <a:srgbClr val="1F2430"/>
                </a:solidFill>
                <a:latin typeface="Calibri" pitchFamily="34" charset="0"/>
                <a:ea typeface="Calibri" pitchFamily="34" charset="-122"/>
                <a:cs typeface="Calibri" pitchFamily="34" charset="-120"/>
              </a:rPr>
              <a:t>Argue: who bore the greatest cost of rapid urbanization — immigrants, workers, or city governments? Defend with TWO pieces of evidence.</a:t>
            </a:r>
            <a:endParaRPr lang="en-US" sz="1250" dirty="0"/>
          </a:p>
        </p:txBody>
      </p:sp>
      <p:sp>
        <p:nvSpPr>
          <p:cNvPr id="11" name="Shape 9"/>
          <p:cNvSpPr/>
          <p:nvPr/>
        </p:nvSpPr>
        <p:spPr>
          <a:xfrm>
            <a:off x="7818120" y="1691640"/>
            <a:ext cx="3794760" cy="4114800"/>
          </a:xfrm>
          <a:prstGeom prst="roundRect">
            <a:avLst>
              <a:gd name="adj" fmla="val 2410"/>
            </a:avLst>
          </a:prstGeom>
          <a:solidFill>
            <a:srgbClr val="1F3A5F"/>
          </a:solidFill>
          <a:ln/>
        </p:spPr>
        <p:txBody>
          <a:bodyPr/>
          <a:p/>
        </p:txBody>
      </p:sp>
      <p:sp>
        <p:nvSpPr>
          <p:cNvPr id="12" name="Text 10"/>
          <p:cNvSpPr/>
          <p:nvPr/>
        </p:nvSpPr>
        <p:spPr>
          <a:xfrm>
            <a:off x="8092440" y="1920240"/>
            <a:ext cx="2286000" cy="320040"/>
          </a:xfrm>
          <a:prstGeom prst="rect">
            <a:avLst/>
          </a:prstGeom>
          <a:noFill/>
          <a:ln/>
        </p:spPr>
        <p:txBody>
          <a:bodyPr wrap="square" rtlCol="0" anchor="ctr"/>
          <a:lstStyle/>
          <a:p>
            <a:pPr indent="0" marL="0">
              <a:buNone/>
            </a:pPr>
            <a:r>
              <a:rPr lang="en-US" sz="1200" b="1" spc="200" kern="0" dirty="0">
                <a:solidFill>
                  <a:srgbClr val="F9A825"/>
                </a:solidFill>
                <a:latin typeface="Trebuchet MS" pitchFamily="34" charset="0"/>
                <a:ea typeface="Trebuchet MS" pitchFamily="34" charset="-122"/>
                <a:cs typeface="Trebuchet MS" pitchFamily="34" charset="-120"/>
              </a:rPr>
              <a:t>EXIT TICKET</a:t>
            </a:r>
            <a:endParaRPr lang="en-US" sz="1200" dirty="0"/>
          </a:p>
        </p:txBody>
      </p:sp>
      <p:sp>
        <p:nvSpPr>
          <p:cNvPr id="13" name="Shape 11"/>
          <p:cNvSpPr/>
          <p:nvPr/>
        </p:nvSpPr>
        <p:spPr>
          <a:xfrm>
            <a:off x="10378440" y="1883664"/>
            <a:ext cx="960120" cy="365760"/>
          </a:xfrm>
          <a:prstGeom prst="roundRect">
            <a:avLst>
              <a:gd name="adj" fmla="val 20000"/>
            </a:avLst>
          </a:prstGeom>
          <a:solidFill>
            <a:srgbClr val="243047"/>
          </a:solidFill>
          <a:ln w="9525">
            <a:solidFill>
              <a:srgbClr val="C9A227"/>
            </a:solidFill>
            <a:prstDash val="solid"/>
          </a:ln>
        </p:spPr>
        <p:txBody>
          <a:bodyPr/>
          <a:p/>
        </p:txBody>
      </p:sp>
      <p:sp>
        <p:nvSpPr>
          <p:cNvPr id="14" name="Text 12"/>
          <p:cNvSpPr/>
          <p:nvPr/>
        </p:nvSpPr>
        <p:spPr>
          <a:xfrm>
            <a:off x="10378440" y="1883664"/>
            <a:ext cx="960120" cy="365760"/>
          </a:xfrm>
          <a:prstGeom prst="rect">
            <a:avLst/>
          </a:prstGeom>
          <a:noFill/>
          <a:ln/>
        </p:spPr>
        <p:txBody>
          <a:bodyPr wrap="square" rtlCol="0" anchor="ctr"/>
          <a:lstStyle/>
          <a:p>
            <a:pPr algn="ctr" indent="0" marL="0">
              <a:buNone/>
            </a:pPr>
            <a:r>
              <a:rPr lang="en-US" sz="1000" b="1" dirty="0">
                <a:solidFill>
                  <a:srgbClr val="F9A825"/>
                </a:solidFill>
                <a:latin typeface="Trebuchet MS" pitchFamily="34" charset="0"/>
                <a:ea typeface="Trebuchet MS" pitchFamily="34" charset="-122"/>
                <a:cs typeface="Trebuchet MS" pitchFamily="34" charset="-120"/>
              </a:rPr>
              <a:t>DOK 2</a:t>
            </a:r>
            <a:endParaRPr lang="en-US" sz="1000" dirty="0"/>
          </a:p>
        </p:txBody>
      </p:sp>
      <p:sp>
        <p:nvSpPr>
          <p:cNvPr id="15" name="Text 13"/>
          <p:cNvSpPr/>
          <p:nvPr/>
        </p:nvSpPr>
        <p:spPr>
          <a:xfrm>
            <a:off x="8092440" y="2377440"/>
            <a:ext cx="3246120" cy="1828800"/>
          </a:xfrm>
          <a:prstGeom prst="rect">
            <a:avLst/>
          </a:prstGeom>
          <a:noFill/>
          <a:ln/>
        </p:spPr>
        <p:txBody>
          <a:bodyPr wrap="square" rtlCol="0" anchor="t"/>
          <a:lstStyle/>
          <a:p>
            <a:pPr indent="0" marL="0">
              <a:lnSpc>
                <a:spcPct val="110000"/>
              </a:lnSpc>
              <a:buNone/>
            </a:pPr>
            <a:r>
              <a:rPr lang="en-US" sz="1350" dirty="0">
                <a:solidFill>
                  <a:srgbClr val="FFFFFF"/>
                </a:solidFill>
                <a:latin typeface="Calibri" pitchFamily="34" charset="0"/>
                <a:ea typeface="Calibri" pitchFamily="34" charset="-122"/>
                <a:cs typeface="Calibri" pitchFamily="34" charset="-120"/>
              </a:rPr>
              <a:t>Explain ONE cause of rapid urbanization AND ONE problem it created in cities.</a:t>
            </a:r>
            <a:endParaRPr lang="en-US" sz="1350" dirty="0"/>
          </a:p>
        </p:txBody>
      </p:sp>
      <p:sp>
        <p:nvSpPr>
          <p:cNvPr id="16" name="Shape 14"/>
          <p:cNvSpPr/>
          <p:nvPr/>
        </p:nvSpPr>
        <p:spPr>
          <a:xfrm>
            <a:off x="8138160" y="4526280"/>
            <a:ext cx="3108960" cy="0"/>
          </a:xfrm>
          <a:prstGeom prst="line">
            <a:avLst/>
          </a:prstGeom>
          <a:noFill/>
          <a:ln w="12700">
            <a:solidFill>
              <a:srgbClr val="A7BACB"/>
            </a:solidFill>
            <a:prstDash val="dash"/>
          </a:ln>
        </p:spPr>
        <p:txBody>
          <a:bodyPr/>
          <a:p/>
        </p:txBody>
      </p:sp>
      <p:sp>
        <p:nvSpPr>
          <p:cNvPr id="17" name="Shape 15"/>
          <p:cNvSpPr/>
          <p:nvPr/>
        </p:nvSpPr>
        <p:spPr>
          <a:xfrm>
            <a:off x="8138160" y="5074920"/>
            <a:ext cx="3108960" cy="0"/>
          </a:xfrm>
          <a:prstGeom prst="line">
            <a:avLst/>
          </a:prstGeom>
          <a:noFill/>
          <a:ln w="12700">
            <a:solidFill>
              <a:srgbClr val="A7BACB"/>
            </a:solidFill>
            <a:prstDash val="dash"/>
          </a:ln>
        </p:spPr>
        <p:txBody>
          <a:bodyPr/>
          <a:p/>
        </p:txBody>
      </p:sp>
      <p:sp>
        <p:nvSpPr>
          <p:cNvPr id="18" name="Shape 16"/>
          <p:cNvSpPr/>
          <p:nvPr/>
        </p:nvSpPr>
        <p:spPr>
          <a:xfrm>
            <a:off x="8138160" y="5623560"/>
            <a:ext cx="3108960" cy="0"/>
          </a:xfrm>
          <a:prstGeom prst="line">
            <a:avLst/>
          </a:prstGeom>
          <a:noFill/>
          <a:ln w="12700">
            <a:solidFill>
              <a:srgbClr val="A7BACB"/>
            </a:solidFill>
            <a:prstDash val="dash"/>
          </a:ln>
        </p:spPr>
        <p:txBody>
          <a:bodyPr/>
          <a:p/>
        </p:txBody>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93</a:t>
            </a:r>
            <a:endParaRPr lang="en-US" sz="900" dirty="0"/>
          </a:p>
        </p:txBody>
      </p:sp>
      <p:sp>
        <p:nvSpPr>
          <p:cNvPr id="22" name="Rectangle 21"/>
          <p:cNvSpPr/>
          <p:nvPr/>
        </p:nvSpPr>
        <p:spPr>
          <a:xfrm>
            <a:off x="457200" y="5870448"/>
            <a:ext cx="11274552" cy="512064"/>
          </a:xfrm>
          <a:prstGeom prst="rect">
            <a:avLst/>
          </a:prstGeom>
          <a:solidFill>
            <a:srgbClr val="232F40"/>
          </a:solidFill>
          <a:ln w="12700">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3504" y="5907024"/>
            <a:ext cx="10972800" cy="457200"/>
          </a:xfrm>
          <a:prstGeom prst="rect">
            <a:avLst/>
          </a:prstGeom>
          <a:noFill/>
        </p:spPr>
        <p:txBody>
          <a:bodyPr wrap="square" anchor="t" lIns="0" rIns="0" tIns="0" bIns="0">
            <a:spAutoFit/>
          </a:bodyPr>
          <a:lstStyle/>
          <a:p>
            <a:pPr algn="l">
              <a:spcBef>
                <a:spcPts val="0"/>
              </a:spcBef>
              <a:spcAft>
                <a:spcPts val="0"/>
              </a:spcAft>
            </a:pPr>
            <a:r>
              <a:rPr sz="1000" b="1">
                <a:solidFill>
                  <a:srgbClr val="C9A227"/>
                </a:solidFill>
                <a:latin typeface="Trebuchet MS"/>
              </a:rPr>
              <a:t>TEACHER DECISION BAND   </a:t>
            </a:r>
            <a:r>
              <a:rPr sz="1000" b="0">
                <a:solidFill>
                  <a:srgbClr val="FFFFFF"/>
                </a:solidFill>
                <a:latin typeface="Calibri"/>
              </a:rPr>
              <a:t>PROGRESS CHECK → identify barrier → select support → reteach → recheck → extend</a:t>
            </a:r>
          </a:p>
          <a:p>
            <a:pPr algn="l">
              <a:spcBef>
                <a:spcPts val="0"/>
              </a:spcBef>
              <a:spcAft>
                <a:spcPts val="0"/>
              </a:spcAft>
            </a:pPr>
            <a:r>
              <a:rPr sz="1000" b="1">
                <a:solidFill>
                  <a:srgbClr val="C9A227"/>
                </a:solidFill>
                <a:latin typeface="Trebuchet MS"/>
              </a:rPr>
              <a:t>SCAFFOLD FADING   </a:t>
            </a:r>
            <a:r>
              <a:rPr sz="1000" b="0">
                <a:solidFill>
                  <a:srgbClr val="C7D4E0"/>
                </a:solidFill>
                <a:latin typeface="Calibri"/>
              </a:rPr>
              <a:t>Guided → Light → independent as evidence grows; required IEP/504 supports do not fade unless the authorized team changes them.</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3">
    <p:bg>
      <p:bgPr>
        <a:solidFill>
          <a:srgbClr val="1F3A5F"/>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B22234"/>
          </a:solidFill>
          <a:ln/>
        </p:spPr>
        <p:txBody>
          <a:bodyPr/>
          <a:p/>
        </p:txBody>
      </p:sp>
      <p:sp>
        <p:nvSpPr>
          <p:cNvPr id="3" name="Shape 1"/>
          <p:cNvSpPr/>
          <p:nvPr/>
        </p:nvSpPr>
        <p:spPr>
          <a:xfrm>
            <a:off x="320040" y="0"/>
            <a:ext cx="109728" cy="6858000"/>
          </a:xfrm>
          <a:prstGeom prst="rect">
            <a:avLst/>
          </a:prstGeom>
          <a:solidFill>
            <a:srgbClr val="C9A227"/>
          </a:solidFill>
          <a:ln/>
        </p:spPr>
        <p:txBody>
          <a:bodyPr/>
          <a:p/>
        </p:txBody>
      </p:sp>
      <p:sp>
        <p:nvSpPr>
          <p:cNvPr id="4" name="Text 2"/>
          <p:cNvSpPr/>
          <p:nvPr/>
        </p:nvSpPr>
        <p:spPr>
          <a:xfrm>
            <a:off x="914400" y="1005840"/>
            <a:ext cx="5486400" cy="365760"/>
          </a:xfrm>
          <a:prstGeom prst="rect">
            <a:avLst/>
          </a:prstGeom>
          <a:noFill/>
          <a:ln/>
        </p:spPr>
        <p:txBody>
          <a:bodyPr wrap="square" rtlCol="0" anchor="ctr"/>
          <a:lstStyle/>
          <a:p>
            <a:pPr indent="0" marL="0">
              <a:buNone/>
            </a:pPr>
            <a:r>
              <a:rPr lang="en-US" sz="1500" b="1" spc="400" kern="0" dirty="0">
                <a:solidFill>
                  <a:srgbClr val="F9A825"/>
                </a:solidFill>
                <a:latin typeface="Trebuchet MS" pitchFamily="34" charset="0"/>
                <a:ea typeface="Trebuchet MS" pitchFamily="34" charset="-122"/>
                <a:cs typeface="Trebuchet MS" pitchFamily="34" charset="-120"/>
              </a:rPr>
              <a:t>STANDARD</a:t>
            </a:r>
            <a:endParaRPr lang="en-US" sz="1500" dirty="0"/>
          </a:p>
        </p:txBody>
      </p:sp>
      <p:sp>
        <p:nvSpPr>
          <p:cNvPr id="5" name="Text 3"/>
          <p:cNvSpPr/>
          <p:nvPr/>
        </p:nvSpPr>
        <p:spPr>
          <a:xfrm>
            <a:off x="868680" y="1325880"/>
            <a:ext cx="5486400" cy="1371600"/>
          </a:xfrm>
          <a:prstGeom prst="rect">
            <a:avLst/>
          </a:prstGeom>
          <a:noFill/>
          <a:ln/>
        </p:spPr>
        <p:txBody>
          <a:bodyPr wrap="square" rtlCol="0" anchor="ctr"/>
          <a:lstStyle/>
          <a:p>
            <a:pPr indent="0" marL="0">
              <a:buNone/>
            </a:pPr>
            <a:r>
              <a:rPr lang="en-US" sz="8800" b="1" dirty="0">
                <a:solidFill>
                  <a:srgbClr val="FFFFFF"/>
                </a:solidFill>
                <a:latin typeface="Georgia" pitchFamily="34" charset="0"/>
                <a:ea typeface="Georgia" pitchFamily="34" charset="-122"/>
                <a:cs typeface="Georgia" pitchFamily="34" charset="-120"/>
              </a:rPr>
              <a:t>US.07</a:t>
            </a:r>
            <a:endParaRPr lang="en-US" sz="8800" dirty="0"/>
          </a:p>
        </p:txBody>
      </p:sp>
      <p:sp>
        <p:nvSpPr>
          <p:cNvPr id="6" name="Text 4"/>
          <p:cNvSpPr/>
          <p:nvPr/>
        </p:nvSpPr>
        <p:spPr>
          <a:xfrm>
            <a:off x="914400" y="2670048"/>
            <a:ext cx="5577840" cy="1234440"/>
          </a:xfrm>
          <a:prstGeom prst="rect">
            <a:avLst/>
          </a:prstGeom>
          <a:noFill/>
          <a:ln/>
        </p:spPr>
        <p:txBody>
          <a:bodyPr wrap="square" rtlCol="0" anchor="t"/>
          <a:lstStyle/>
          <a:p>
            <a:pPr indent="0" marL="0">
              <a:lnSpc>
                <a:spcPct val="102000"/>
              </a:lnSpc>
              <a:buNone/>
            </a:pPr>
            <a:r>
              <a:rPr lang="en-US" sz="2400" i="1" dirty="0">
                <a:solidFill>
                  <a:srgbClr val="F9A825"/>
                </a:solidFill>
                <a:latin typeface="Georgia" pitchFamily="34" charset="0"/>
                <a:ea typeface="Georgia" pitchFamily="34" charset="-122"/>
                <a:cs typeface="Georgia" pitchFamily="34" charset="-120"/>
              </a:rPr>
              <a:t>Immigration: Old vs. New Immigrants</a:t>
            </a:r>
            <a:endParaRPr lang="en-US" sz="2400" dirty="0"/>
          </a:p>
        </p:txBody>
      </p:sp>
      <p:sp>
        <p:nvSpPr>
          <p:cNvPr id="7" name="Text 5"/>
          <p:cNvSpPr/>
          <p:nvPr/>
        </p:nvSpPr>
        <p:spPr>
          <a:xfrm>
            <a:off x="6812280" y="1078992"/>
            <a:ext cx="4480560" cy="274320"/>
          </a:xfrm>
          <a:prstGeom prst="rect">
            <a:avLst/>
          </a:prstGeom>
          <a:noFill/>
          <a:ln/>
        </p:spPr>
        <p:txBody>
          <a:bodyPr wrap="square" rtlCol="0" anchor="ctr"/>
          <a:lstStyle/>
          <a:p>
            <a:pPr algn="l" indent="0" marL="0">
              <a:buNone/>
            </a:pPr>
            <a:r>
              <a:rPr lang="en-US" sz="1100" b="1" spc="200" kern="0" dirty="0">
                <a:solidFill>
                  <a:srgbClr val="A7BACB"/>
                </a:solidFill>
                <a:latin typeface="Trebuchet MS" pitchFamily="34" charset="0"/>
                <a:ea typeface="Trebuchet MS" pitchFamily="34" charset="-122"/>
                <a:cs typeface="Trebuchet MS" pitchFamily="34" charset="-120"/>
              </a:rPr>
              <a:t>SOCIAL STUDIES PRACTICES</a:t>
            </a:r>
            <a:endParaRPr lang="en-US" sz="1100" dirty="0"/>
          </a:p>
        </p:txBody>
      </p:sp>
      <p:sp>
        <p:nvSpPr>
          <p:cNvPr id="8" name="Shape 6"/>
          <p:cNvSpPr/>
          <p:nvPr/>
        </p:nvSpPr>
        <p:spPr>
          <a:xfrm>
            <a:off x="6812280" y="1417320"/>
            <a:ext cx="1078992" cy="292608"/>
          </a:xfrm>
          <a:prstGeom prst="roundRect">
            <a:avLst>
              <a:gd name="adj" fmla="val 18750"/>
            </a:avLst>
          </a:prstGeom>
          <a:solidFill>
            <a:srgbClr val="C9A227"/>
          </a:solidFill>
          <a:ln/>
        </p:spPr>
        <p:txBody>
          <a:bodyPr/>
          <a:p/>
        </p:txBody>
      </p:sp>
      <p:sp>
        <p:nvSpPr>
          <p:cNvPr id="9" name="Text 7"/>
          <p:cNvSpPr/>
          <p:nvPr/>
        </p:nvSpPr>
        <p:spPr>
          <a:xfrm>
            <a:off x="6812280" y="1417320"/>
            <a:ext cx="1078992" cy="292608"/>
          </a:xfrm>
          <a:prstGeom prst="rect">
            <a:avLst/>
          </a:prstGeom>
          <a:noFill/>
          <a:ln/>
        </p:spPr>
        <p:txBody>
          <a:bodyPr wrap="square" rtlCol="0" anchor="ctr"/>
          <a:lstStyle/>
          <a:p>
            <a:pPr algn="ctr" indent="0" marL="0">
              <a:buNone/>
            </a:pPr>
            <a:r>
              <a:rPr lang="en-US" sz="1100" b="1" dirty="0">
                <a:solidFill>
                  <a:srgbClr val="1F3A5F"/>
                </a:solidFill>
                <a:latin typeface="Trebuchet MS" pitchFamily="34" charset="0"/>
                <a:ea typeface="Trebuchet MS" pitchFamily="34" charset="-122"/>
                <a:cs typeface="Trebuchet MS" pitchFamily="34" charset="-120"/>
              </a:rPr>
              <a:t>SSP.01</a:t>
            </a:r>
            <a:endParaRPr lang="en-US" sz="1100" dirty="0"/>
          </a:p>
        </p:txBody>
      </p:sp>
      <p:sp>
        <p:nvSpPr>
          <p:cNvPr id="10" name="Text 8"/>
          <p:cNvSpPr/>
          <p:nvPr/>
        </p:nvSpPr>
        <p:spPr>
          <a:xfrm>
            <a:off x="7973568" y="1417320"/>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Collect sources</a:t>
            </a:r>
            <a:endParaRPr lang="en-US" sz="1150" dirty="0"/>
          </a:p>
        </p:txBody>
      </p:sp>
      <p:sp>
        <p:nvSpPr>
          <p:cNvPr id="11" name="Shape 9"/>
          <p:cNvSpPr/>
          <p:nvPr/>
        </p:nvSpPr>
        <p:spPr>
          <a:xfrm>
            <a:off x="6812280" y="1755648"/>
            <a:ext cx="1078992" cy="292608"/>
          </a:xfrm>
          <a:prstGeom prst="roundRect">
            <a:avLst>
              <a:gd name="adj" fmla="val 18750"/>
            </a:avLst>
          </a:prstGeom>
          <a:solidFill>
            <a:srgbClr val="C9A227"/>
          </a:solidFill>
          <a:ln/>
        </p:spPr>
        <p:txBody>
          <a:bodyPr/>
          <a:p/>
        </p:txBody>
      </p:sp>
      <p:sp>
        <p:nvSpPr>
          <p:cNvPr id="12" name="Text 10"/>
          <p:cNvSpPr/>
          <p:nvPr/>
        </p:nvSpPr>
        <p:spPr>
          <a:xfrm>
            <a:off x="6812280" y="1755648"/>
            <a:ext cx="1078992" cy="292608"/>
          </a:xfrm>
          <a:prstGeom prst="rect">
            <a:avLst/>
          </a:prstGeom>
          <a:noFill/>
          <a:ln/>
        </p:spPr>
        <p:txBody>
          <a:bodyPr wrap="square" rtlCol="0" anchor="ctr"/>
          <a:lstStyle/>
          <a:p>
            <a:pPr algn="ctr" indent="0" marL="0">
              <a:buNone/>
            </a:pPr>
            <a:r>
              <a:rPr lang="en-US" sz="1100" b="1" dirty="0">
                <a:solidFill>
                  <a:srgbClr val="1F3A5F"/>
                </a:solidFill>
                <a:latin typeface="Trebuchet MS" pitchFamily="34" charset="0"/>
                <a:ea typeface="Trebuchet MS" pitchFamily="34" charset="-122"/>
                <a:cs typeface="Trebuchet MS" pitchFamily="34" charset="-120"/>
              </a:rPr>
              <a:t>SSP.02</a:t>
            </a:r>
            <a:endParaRPr lang="en-US" sz="1100" dirty="0"/>
          </a:p>
        </p:txBody>
      </p:sp>
      <p:sp>
        <p:nvSpPr>
          <p:cNvPr id="13" name="Text 11"/>
          <p:cNvSpPr/>
          <p:nvPr/>
        </p:nvSpPr>
        <p:spPr>
          <a:xfrm>
            <a:off x="7973568" y="1755648"/>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Examine a source</a:t>
            </a:r>
            <a:endParaRPr lang="en-US" sz="1150" dirty="0"/>
          </a:p>
        </p:txBody>
      </p:sp>
      <p:sp>
        <p:nvSpPr>
          <p:cNvPr id="14" name="Shape 12"/>
          <p:cNvSpPr/>
          <p:nvPr/>
        </p:nvSpPr>
        <p:spPr>
          <a:xfrm>
            <a:off x="6812280" y="2093976"/>
            <a:ext cx="1078992" cy="292608"/>
          </a:xfrm>
          <a:prstGeom prst="roundRect">
            <a:avLst>
              <a:gd name="adj" fmla="val 18750"/>
            </a:avLst>
          </a:prstGeom>
          <a:solidFill>
            <a:srgbClr val="C9A227"/>
          </a:solidFill>
          <a:ln/>
        </p:spPr>
        <p:txBody>
          <a:bodyPr/>
          <a:p/>
        </p:txBody>
      </p:sp>
      <p:sp>
        <p:nvSpPr>
          <p:cNvPr id="15" name="Text 13"/>
          <p:cNvSpPr/>
          <p:nvPr/>
        </p:nvSpPr>
        <p:spPr>
          <a:xfrm>
            <a:off x="6812280" y="2093976"/>
            <a:ext cx="1078992" cy="292608"/>
          </a:xfrm>
          <a:prstGeom prst="rect">
            <a:avLst/>
          </a:prstGeom>
          <a:noFill/>
          <a:ln/>
        </p:spPr>
        <p:txBody>
          <a:bodyPr wrap="square" rtlCol="0" anchor="ctr"/>
          <a:lstStyle/>
          <a:p>
            <a:pPr algn="ctr" indent="0" marL="0">
              <a:buNone/>
            </a:pPr>
            <a:r>
              <a:rPr lang="en-US" sz="1100" b="1" dirty="0">
                <a:solidFill>
                  <a:srgbClr val="1F3A5F"/>
                </a:solidFill>
                <a:latin typeface="Trebuchet MS" pitchFamily="34" charset="0"/>
                <a:ea typeface="Trebuchet MS" pitchFamily="34" charset="-122"/>
                <a:cs typeface="Trebuchet MS" pitchFamily="34" charset="-120"/>
              </a:rPr>
              <a:t>SSP.03</a:t>
            </a:r>
            <a:endParaRPr lang="en-US" sz="1100" dirty="0"/>
          </a:p>
        </p:txBody>
      </p:sp>
      <p:sp>
        <p:nvSpPr>
          <p:cNvPr id="16" name="Text 14"/>
          <p:cNvSpPr/>
          <p:nvPr/>
        </p:nvSpPr>
        <p:spPr>
          <a:xfrm>
            <a:off x="7973568" y="2093976"/>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Synthesize sources</a:t>
            </a:r>
            <a:endParaRPr lang="en-US" sz="1150" dirty="0"/>
          </a:p>
        </p:txBody>
      </p:sp>
      <p:sp>
        <p:nvSpPr>
          <p:cNvPr id="17" name="Shape 15"/>
          <p:cNvSpPr/>
          <p:nvPr/>
        </p:nvSpPr>
        <p:spPr>
          <a:xfrm>
            <a:off x="6812280" y="2432304"/>
            <a:ext cx="1078992" cy="292608"/>
          </a:xfrm>
          <a:prstGeom prst="roundRect">
            <a:avLst>
              <a:gd name="adj" fmla="val 18750"/>
            </a:avLst>
          </a:prstGeom>
          <a:solidFill>
            <a:srgbClr val="C9A227"/>
          </a:solidFill>
          <a:ln/>
        </p:spPr>
        <p:txBody>
          <a:bodyPr/>
          <a:p/>
        </p:txBody>
      </p:sp>
      <p:sp>
        <p:nvSpPr>
          <p:cNvPr id="18" name="Text 16"/>
          <p:cNvSpPr/>
          <p:nvPr/>
        </p:nvSpPr>
        <p:spPr>
          <a:xfrm>
            <a:off x="6812280" y="2432304"/>
            <a:ext cx="1078992" cy="292608"/>
          </a:xfrm>
          <a:prstGeom prst="rect">
            <a:avLst/>
          </a:prstGeom>
          <a:noFill/>
          <a:ln/>
        </p:spPr>
        <p:txBody>
          <a:bodyPr wrap="square" rtlCol="0" anchor="ctr"/>
          <a:lstStyle/>
          <a:p>
            <a:pPr algn="ctr" indent="0" marL="0">
              <a:buNone/>
            </a:pPr>
            <a:r>
              <a:rPr lang="en-US" sz="1100" b="1" dirty="0">
                <a:solidFill>
                  <a:srgbClr val="1F3A5F"/>
                </a:solidFill>
                <a:latin typeface="Trebuchet MS" pitchFamily="34" charset="0"/>
                <a:ea typeface="Trebuchet MS" pitchFamily="34" charset="-122"/>
                <a:cs typeface="Trebuchet MS" pitchFamily="34" charset="-120"/>
              </a:rPr>
              <a:t>SSP.04</a:t>
            </a:r>
            <a:endParaRPr lang="en-US" sz="1100" dirty="0"/>
          </a:p>
        </p:txBody>
      </p:sp>
      <p:sp>
        <p:nvSpPr>
          <p:cNvPr id="19" name="Text 17"/>
          <p:cNvSpPr/>
          <p:nvPr/>
        </p:nvSpPr>
        <p:spPr>
          <a:xfrm>
            <a:off x="7973568" y="2432304"/>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Build an argument</a:t>
            </a:r>
            <a:endParaRPr lang="en-US" sz="1150" dirty="0"/>
          </a:p>
        </p:txBody>
      </p:sp>
      <p:sp>
        <p:nvSpPr>
          <p:cNvPr id="20" name="Shape 18"/>
          <p:cNvSpPr/>
          <p:nvPr/>
        </p:nvSpPr>
        <p:spPr>
          <a:xfrm>
            <a:off x="6812280" y="2770632"/>
            <a:ext cx="1078992" cy="292608"/>
          </a:xfrm>
          <a:prstGeom prst="roundRect">
            <a:avLst>
              <a:gd name="adj" fmla="val 18750"/>
            </a:avLst>
          </a:prstGeom>
          <a:solidFill>
            <a:srgbClr val="C9A227"/>
          </a:solidFill>
          <a:ln/>
        </p:spPr>
        <p:txBody>
          <a:bodyPr/>
          <a:p/>
        </p:txBody>
      </p:sp>
      <p:sp>
        <p:nvSpPr>
          <p:cNvPr id="21" name="Text 19"/>
          <p:cNvSpPr/>
          <p:nvPr/>
        </p:nvSpPr>
        <p:spPr>
          <a:xfrm>
            <a:off x="6812280" y="2770632"/>
            <a:ext cx="1078992" cy="292608"/>
          </a:xfrm>
          <a:prstGeom prst="rect">
            <a:avLst/>
          </a:prstGeom>
          <a:noFill/>
          <a:ln/>
        </p:spPr>
        <p:txBody>
          <a:bodyPr wrap="square" rtlCol="0" anchor="ctr"/>
          <a:lstStyle/>
          <a:p>
            <a:pPr algn="ctr" indent="0" marL="0">
              <a:buNone/>
            </a:pPr>
            <a:r>
              <a:rPr lang="en-US" sz="1100" b="1" dirty="0">
                <a:solidFill>
                  <a:srgbClr val="1F3A5F"/>
                </a:solidFill>
                <a:latin typeface="Trebuchet MS" pitchFamily="34" charset="0"/>
                <a:ea typeface="Trebuchet MS" pitchFamily="34" charset="-122"/>
                <a:cs typeface="Trebuchet MS" pitchFamily="34" charset="-120"/>
              </a:rPr>
              <a:t>SSP.05</a:t>
            </a:r>
            <a:endParaRPr lang="en-US" sz="1100" dirty="0"/>
          </a:p>
        </p:txBody>
      </p:sp>
      <p:sp>
        <p:nvSpPr>
          <p:cNvPr id="22" name="Text 20"/>
          <p:cNvSpPr/>
          <p:nvPr/>
        </p:nvSpPr>
        <p:spPr>
          <a:xfrm>
            <a:off x="7973568" y="2770632"/>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Historical awareness</a:t>
            </a:r>
            <a:endParaRPr lang="en-US" sz="1150" dirty="0"/>
          </a:p>
        </p:txBody>
      </p:sp>
      <p:sp>
        <p:nvSpPr>
          <p:cNvPr id="23" name="Shape 21"/>
          <p:cNvSpPr/>
          <p:nvPr/>
        </p:nvSpPr>
        <p:spPr>
          <a:xfrm>
            <a:off x="6812280" y="3108960"/>
            <a:ext cx="1078992" cy="292608"/>
          </a:xfrm>
          <a:prstGeom prst="roundRect">
            <a:avLst>
              <a:gd name="adj" fmla="val 18750"/>
            </a:avLst>
          </a:prstGeom>
          <a:solidFill>
            <a:srgbClr val="C9A227"/>
          </a:solidFill>
          <a:ln/>
        </p:spPr>
        <p:txBody>
          <a:bodyPr/>
          <a:p/>
        </p:txBody>
      </p:sp>
      <p:sp>
        <p:nvSpPr>
          <p:cNvPr id="24" name="Text 22"/>
          <p:cNvSpPr/>
          <p:nvPr/>
        </p:nvSpPr>
        <p:spPr>
          <a:xfrm>
            <a:off x="6812280" y="3108960"/>
            <a:ext cx="1078992" cy="292608"/>
          </a:xfrm>
          <a:prstGeom prst="rect">
            <a:avLst/>
          </a:prstGeom>
          <a:noFill/>
          <a:ln/>
        </p:spPr>
        <p:txBody>
          <a:bodyPr wrap="square" rtlCol="0" anchor="ctr"/>
          <a:lstStyle/>
          <a:p>
            <a:pPr algn="ctr" indent="0" marL="0">
              <a:buNone/>
            </a:pPr>
            <a:r>
              <a:rPr lang="en-US" sz="1100" b="1" dirty="0">
                <a:solidFill>
                  <a:srgbClr val="1F3A5F"/>
                </a:solidFill>
                <a:latin typeface="Trebuchet MS" pitchFamily="34" charset="0"/>
                <a:ea typeface="Trebuchet MS" pitchFamily="34" charset="-122"/>
                <a:cs typeface="Trebuchet MS" pitchFamily="34" charset="-120"/>
              </a:rPr>
              <a:t>SSP.06</a:t>
            </a:r>
            <a:endParaRPr lang="en-US" sz="1100" dirty="0"/>
          </a:p>
        </p:txBody>
      </p:sp>
      <p:sp>
        <p:nvSpPr>
          <p:cNvPr id="25" name="Text 23"/>
          <p:cNvSpPr/>
          <p:nvPr/>
        </p:nvSpPr>
        <p:spPr>
          <a:xfrm>
            <a:off x="7973568" y="3108960"/>
            <a:ext cx="3291840" cy="292608"/>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Geographic awareness</a:t>
            </a:r>
            <a:endParaRPr lang="en-US" sz="1150" dirty="0"/>
          </a:p>
        </p:txBody>
      </p:sp>
      <p:sp>
        <p:nvSpPr>
          <p:cNvPr id="26" name="Shape 24"/>
          <p:cNvSpPr/>
          <p:nvPr/>
        </p:nvSpPr>
        <p:spPr>
          <a:xfrm>
            <a:off x="914400" y="3794760"/>
            <a:ext cx="10332720" cy="1207008"/>
          </a:xfrm>
          <a:prstGeom prst="roundRect">
            <a:avLst>
              <a:gd name="adj" fmla="val 6061"/>
            </a:avLst>
          </a:prstGeom>
          <a:solidFill>
            <a:srgbClr val="243047"/>
          </a:solidFill>
          <a:ln w="9525">
            <a:solidFill>
              <a:srgbClr val="A7BACB"/>
            </a:solidFill>
            <a:prstDash val="solid"/>
          </a:ln>
        </p:spPr>
        <p:txBody>
          <a:bodyPr/>
          <a:p/>
        </p:txBody>
      </p:sp>
      <p:sp>
        <p:nvSpPr>
          <p:cNvPr id="27" name="Text 25"/>
          <p:cNvSpPr/>
          <p:nvPr/>
        </p:nvSpPr>
        <p:spPr>
          <a:xfrm>
            <a:off x="1143000" y="3913632"/>
            <a:ext cx="5486400" cy="274320"/>
          </a:xfrm>
          <a:prstGeom prst="rect">
            <a:avLst/>
          </a:prstGeom>
          <a:noFill/>
          <a:ln/>
        </p:spPr>
        <p:txBody>
          <a:bodyPr wrap="square" rtlCol="0" anchor="ctr"/>
          <a:lstStyle/>
          <a:p>
            <a:pPr indent="0" marL="0">
              <a:buNone/>
            </a:pPr>
            <a:r>
              <a:rPr lang="en-US" sz="1100" b="1" spc="200" kern="0" dirty="0">
                <a:solidFill>
                  <a:srgbClr val="A7BACB"/>
                </a:solidFill>
                <a:latin typeface="Trebuchet MS" pitchFamily="34" charset="0"/>
                <a:ea typeface="Trebuchet MS" pitchFamily="34" charset="-122"/>
                <a:cs typeface="Trebuchet MS" pitchFamily="34" charset="-120"/>
              </a:rPr>
              <a:t>TN ACADEMIC STANDARD</a:t>
            </a:r>
            <a:endParaRPr lang="en-US" sz="1100" dirty="0"/>
          </a:p>
        </p:txBody>
      </p:sp>
      <p:sp>
        <p:nvSpPr>
          <p:cNvPr id="28" name="Text 26"/>
          <p:cNvSpPr/>
          <p:nvPr/>
        </p:nvSpPr>
        <p:spPr>
          <a:xfrm>
            <a:off x="1143000" y="4206240"/>
            <a:ext cx="9875520" cy="749808"/>
          </a:xfrm>
          <a:prstGeom prst="rect">
            <a:avLst/>
          </a:prstGeom>
          <a:noFill/>
          <a:ln/>
        </p:spPr>
        <p:txBody>
          <a:bodyPr wrap="square" rtlCol="0" anchor="t"/>
          <a:lstStyle/>
          <a:p>
            <a:pPr indent="0" marL="0">
              <a:lnSpc>
                <a:spcPct val="100000"/>
              </a:lnSpc>
              <a:buNone/>
            </a:pPr>
            <a:r>
              <a:rPr lang="en-US" sz="1150" dirty="0">
                <a:solidFill>
                  <a:srgbClr val="FFFFFF"/>
                </a:solidFill>
                <a:latin typeface="Calibri" pitchFamily="34" charset="0"/>
                <a:ea typeface="Calibri" pitchFamily="34" charset="-122"/>
                <a:cs typeface="Calibri" pitchFamily="34" charset="-120"/>
              </a:rPr>
              <a:t>Describe the differences between "old" and "new" immigrants, analyze the assimilation process for "new" immigrants, and determine the impacts of increased migration on American society, including: Angel Island, Ellis Island, Push and pull factors, Ethnic clusters, Jane Addams, Competition for jobs, Rise of nativism, Jacob Riis, Chinese Exclusion Act and Gentleman's Agreement.</a:t>
            </a:r>
            <a:endParaRPr lang="en-US" sz="1150" dirty="0"/>
          </a:p>
        </p:txBody>
      </p:sp>
      <p:sp>
        <p:nvSpPr>
          <p:cNvPr id="29" name="Shape 27"/>
          <p:cNvSpPr/>
          <p:nvPr/>
        </p:nvSpPr>
        <p:spPr>
          <a:xfrm>
            <a:off x="914400" y="5120640"/>
            <a:ext cx="10332720" cy="1188720"/>
          </a:xfrm>
          <a:prstGeom prst="roundRect">
            <a:avLst>
              <a:gd name="adj" fmla="val 6154"/>
            </a:avLst>
          </a:prstGeom>
          <a:solidFill>
            <a:srgbClr val="C9A227"/>
          </a:solidFill>
          <a:ln/>
        </p:spPr>
        <p:txBody>
          <a:bodyPr/>
          <a:p/>
        </p:txBody>
      </p:sp>
      <p:sp>
        <p:nvSpPr>
          <p:cNvPr id="30" name="Text 28"/>
          <p:cNvSpPr/>
          <p:nvPr/>
        </p:nvSpPr>
        <p:spPr>
          <a:xfrm>
            <a:off x="1143000" y="5230368"/>
            <a:ext cx="1828800" cy="292608"/>
          </a:xfrm>
          <a:prstGeom prst="rect">
            <a:avLst/>
          </a:prstGeom>
          <a:noFill/>
          <a:ln/>
        </p:spPr>
        <p:txBody>
          <a:bodyPr wrap="square" rtlCol="0" anchor="ctr"/>
          <a:lstStyle/>
          <a:p>
            <a:pPr indent="0" marL="0">
              <a:buNone/>
            </a:pPr>
            <a:r>
              <a:rPr lang="en-US" sz="1300" b="1" spc="200" kern="0" dirty="0">
                <a:solidFill>
                  <a:srgbClr val="1F3A5F"/>
                </a:solidFill>
                <a:latin typeface="Trebuchet MS" pitchFamily="34" charset="0"/>
                <a:ea typeface="Trebuchet MS" pitchFamily="34" charset="-122"/>
                <a:cs typeface="Trebuchet MS" pitchFamily="34" charset="-120"/>
              </a:rPr>
              <a:t>I CAN</a:t>
            </a:r>
            <a:endParaRPr lang="en-US" sz="1300" dirty="0"/>
          </a:p>
        </p:txBody>
      </p:sp>
      <p:sp>
        <p:nvSpPr>
          <p:cNvPr id="31" name="Text 29"/>
          <p:cNvSpPr/>
          <p:nvPr/>
        </p:nvSpPr>
        <p:spPr>
          <a:xfrm>
            <a:off x="1143000" y="5504688"/>
            <a:ext cx="9875520" cy="749808"/>
          </a:xfrm>
          <a:prstGeom prst="rect">
            <a:avLst/>
          </a:prstGeom>
          <a:noFill/>
          <a:ln/>
        </p:spPr>
        <p:txBody>
          <a:bodyPr wrap="square" rtlCol="0" anchor="t"/>
          <a:lstStyle/>
          <a:p>
            <a:pPr indent="0" marL="0">
              <a:lnSpc>
                <a:spcPct val="100000"/>
              </a:lnSpc>
              <a:buNone/>
            </a:pPr>
            <a:r>
              <a:rPr lang="en-US" sz="1150" b="1" dirty="0">
                <a:solidFill>
                  <a:srgbClr val="1F3A5F"/>
                </a:solidFill>
                <a:latin typeface="Calibri" pitchFamily="34" charset="0"/>
                <a:ea typeface="Calibri" pitchFamily="34" charset="-122"/>
                <a:cs typeface="Calibri" pitchFamily="34" charset="-120"/>
              </a:rPr>
              <a:t>I can describe the differences between "old" and "new" immigrants; explain entry points (Ellis Island and Angel Island), push and pull factors, and the formation of ethnic clusters; and analyze nativism and restrictions such as the Chinese Exclusion Act and the Gentlemen’s Agreement on American society.</a:t>
            </a:r>
            <a:endParaRPr lang="en-US" sz="1150" dirty="0"/>
          </a:p>
        </p:txBody>
      </p:sp>
      <p:sp>
        <p:nvSpPr>
          <p:cNvPr id="32" name="Text 30"/>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3" name="Text 3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94</a:t>
            </a:r>
            <a:endParaRPr lang="en-US" sz="9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4">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227"/>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B22234"/>
                </a:solidFill>
                <a:latin typeface="Trebuchet MS" pitchFamily="34" charset="0"/>
                <a:ea typeface="Trebuchet MS" pitchFamily="34" charset="-122"/>
                <a:cs typeface="Trebuchet MS" pitchFamily="34" charset="-120"/>
              </a:rPr>
              <a:t>US.07 · QUICK REVIEW</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F3A5F"/>
                </a:solidFill>
                <a:latin typeface="Georgia" pitchFamily="34" charset="0"/>
                <a:ea typeface="Georgia" pitchFamily="34" charset="-122"/>
                <a:cs typeface="Georgia" pitchFamily="34" charset="-120"/>
              </a:rPr>
              <a:t>Do You Remember?</a:t>
            </a:r>
            <a:endParaRPr lang="en-US" sz="3000" dirty="0"/>
          </a:p>
        </p:txBody>
      </p:sp>
      <p:sp>
        <p:nvSpPr>
          <p:cNvPr id="5" name="Text 3"/>
          <p:cNvSpPr/>
          <p:nvPr/>
        </p:nvSpPr>
        <p:spPr>
          <a:xfrm>
            <a:off x="548640" y="141732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Before we start, retrieve what we have already learned. Answer from memory first — no notes.</a:t>
            </a:r>
            <a:endParaRPr lang="en-US" sz="1400" dirty="0"/>
          </a:p>
        </p:txBody>
      </p:sp>
      <p:sp>
        <p:nvSpPr>
          <p:cNvPr id="6" name="Shape 4"/>
          <p:cNvSpPr/>
          <p:nvPr/>
        </p:nvSpPr>
        <p:spPr>
          <a:xfrm>
            <a:off x="548640" y="2057400"/>
            <a:ext cx="11064240" cy="1234440"/>
          </a:xfrm>
          <a:prstGeom prst="rect">
            <a:avLst/>
          </a:prstGeom>
          <a:solidFill>
            <a:srgbClr val="FFFFFF"/>
          </a:solidFill>
          <a:ln w="12700">
            <a:solidFill>
              <a:srgbClr val="DAD3C2"/>
            </a:solidFill>
            <a:prstDash val="solid"/>
          </a:ln>
        </p:spPr>
        <p:txBody>
          <a:bodyPr/>
          <a:p/>
        </p:txBody>
      </p:sp>
      <p:sp>
        <p:nvSpPr>
          <p:cNvPr id="7" name="Shape 5"/>
          <p:cNvSpPr/>
          <p:nvPr/>
        </p:nvSpPr>
        <p:spPr>
          <a:xfrm>
            <a:off x="548640" y="2057400"/>
            <a:ext cx="777240" cy="1234440"/>
          </a:xfrm>
          <a:prstGeom prst="rect">
            <a:avLst/>
          </a:prstGeom>
          <a:solidFill>
            <a:srgbClr val="1F3A5F"/>
          </a:solidFill>
          <a:ln/>
        </p:spPr>
        <p:txBody>
          <a:bodyPr/>
          <a:p/>
        </p:txBody>
      </p:sp>
      <p:sp>
        <p:nvSpPr>
          <p:cNvPr id="8" name="Text 6"/>
          <p:cNvSpPr/>
          <p:nvPr/>
        </p:nvSpPr>
        <p:spPr>
          <a:xfrm>
            <a:off x="548640" y="2057400"/>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1</a:t>
            </a:r>
            <a:endParaRPr lang="en-US" sz="2000" dirty="0"/>
          </a:p>
        </p:txBody>
      </p:sp>
      <p:sp>
        <p:nvSpPr>
          <p:cNvPr id="9" name="Text 7"/>
          <p:cNvSpPr/>
          <p:nvPr/>
        </p:nvSpPr>
        <p:spPr>
          <a:xfrm>
            <a:off x="1508760" y="2057400"/>
            <a:ext cx="9966960" cy="1234440"/>
          </a:xfrm>
          <a:prstGeom prst="rect">
            <a:avLst/>
          </a:prstGeom>
          <a:noFill/>
          <a:ln/>
        </p:spPr>
        <p:txBody>
          <a:bodyPr wrap="square" rtlCol="0" anchor="ctr"/>
          <a:lstStyle/>
          <a:p>
            <a:pPr indent="0" marL="0">
              <a:lnSpc>
                <a:spcPct val="104000"/>
              </a:lnSpc>
              <a:buNone/>
            </a:pPr>
            <a:r>
              <a:rPr lang="en-US" sz="1350" b="1" dirty="0">
                <a:solidFill>
                  <a:srgbClr val="B22234"/>
                </a:solidFill>
                <a:latin typeface="Calibri" pitchFamily="34" charset="0"/>
                <a:ea typeface="Calibri" pitchFamily="34" charset="-122"/>
                <a:cs typeface="Calibri" pitchFamily="34" charset="-120"/>
              </a:rPr>
              <a:t>US.06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Why did cities grow so fast during industrialization?</a:t>
            </a:r>
            <a:endParaRPr lang="en-US" sz="1350" dirty="0"/>
          </a:p>
        </p:txBody>
      </p:sp>
      <p:sp>
        <p:nvSpPr>
          <p:cNvPr id="10" name="Shape 8"/>
          <p:cNvSpPr/>
          <p:nvPr/>
        </p:nvSpPr>
        <p:spPr>
          <a:xfrm>
            <a:off x="548640" y="3456432"/>
            <a:ext cx="11064240" cy="1234440"/>
          </a:xfrm>
          <a:prstGeom prst="rect">
            <a:avLst/>
          </a:prstGeom>
          <a:solidFill>
            <a:srgbClr val="FFFFFF"/>
          </a:solidFill>
          <a:ln w="12700">
            <a:solidFill>
              <a:srgbClr val="DAD3C2"/>
            </a:solidFill>
            <a:prstDash val="solid"/>
          </a:ln>
        </p:spPr>
        <p:txBody>
          <a:bodyPr/>
          <a:p/>
        </p:txBody>
      </p:sp>
      <p:sp>
        <p:nvSpPr>
          <p:cNvPr id="11" name="Shape 9"/>
          <p:cNvSpPr/>
          <p:nvPr/>
        </p:nvSpPr>
        <p:spPr>
          <a:xfrm>
            <a:off x="548640" y="3456432"/>
            <a:ext cx="777240" cy="1234440"/>
          </a:xfrm>
          <a:prstGeom prst="rect">
            <a:avLst/>
          </a:prstGeom>
          <a:solidFill>
            <a:srgbClr val="1F3A5F"/>
          </a:solidFill>
          <a:ln/>
        </p:spPr>
        <p:txBody>
          <a:bodyPr/>
          <a:p/>
        </p:txBody>
      </p:sp>
      <p:sp>
        <p:nvSpPr>
          <p:cNvPr id="12" name="Text 10"/>
          <p:cNvSpPr/>
          <p:nvPr/>
        </p:nvSpPr>
        <p:spPr>
          <a:xfrm>
            <a:off x="548640" y="3456432"/>
            <a:ext cx="777240" cy="1234440"/>
          </a:xfrm>
          <a:prstGeom prst="rect">
            <a:avLst/>
          </a:prstGeom>
          <a:noFill/>
          <a:ln/>
        </p:spPr>
        <p:txBody>
          <a:bodyPr wrap="square" rtlCol="0" anchor="ctr"/>
          <a:lstStyle/>
          <a:p>
            <a:pPr algn="ctr" indent="0" marL="0">
              <a:buNone/>
            </a:pPr>
            <a:r>
              <a:rPr lang="en-US" sz="2000" b="1" dirty="0">
                <a:solidFill>
                  <a:srgbClr val="F9A825"/>
                </a:solidFill>
                <a:latin typeface="Georgia" pitchFamily="34" charset="0"/>
                <a:ea typeface="Georgia" pitchFamily="34" charset="-122"/>
                <a:cs typeface="Georgia" pitchFamily="34" charset="-120"/>
              </a:rPr>
              <a:t>2</a:t>
            </a:r>
            <a:endParaRPr lang="en-US" sz="2000" dirty="0"/>
          </a:p>
        </p:txBody>
      </p:sp>
      <p:sp>
        <p:nvSpPr>
          <p:cNvPr id="13" name="Text 11"/>
          <p:cNvSpPr/>
          <p:nvPr/>
        </p:nvSpPr>
        <p:spPr>
          <a:xfrm>
            <a:off x="1508760" y="3456432"/>
            <a:ext cx="9966960" cy="1234440"/>
          </a:xfrm>
          <a:prstGeom prst="rect">
            <a:avLst/>
          </a:prstGeom>
          <a:noFill/>
          <a:ln/>
        </p:spPr>
        <p:txBody>
          <a:bodyPr wrap="square" rtlCol="0" anchor="ctr"/>
          <a:lstStyle/>
          <a:p>
            <a:pPr indent="0" marL="0">
              <a:lnSpc>
                <a:spcPct val="104000"/>
              </a:lnSpc>
              <a:buNone/>
            </a:pPr>
            <a:r>
              <a:rPr lang="en-US" sz="1350" b="1" dirty="0">
                <a:solidFill>
                  <a:srgbClr val="B22234"/>
                </a:solidFill>
                <a:latin typeface="Calibri" pitchFamily="34" charset="0"/>
                <a:ea typeface="Calibri" pitchFamily="34" charset="-122"/>
                <a:cs typeface="Calibri" pitchFamily="34" charset="-120"/>
              </a:rPr>
              <a:t>US.06  </a:t>
            </a:r>
            <a:pPr indent="0" marL="0">
              <a:lnSpc>
                <a:spcPct val="104000"/>
              </a:lnSpc>
              <a:buNone/>
            </a:pPr>
            <a:r>
              <a:rPr lang="en-US" sz="1350" dirty="0">
                <a:solidFill>
                  <a:srgbClr val="1F2430"/>
                </a:solidFill>
                <a:latin typeface="Calibri" pitchFamily="34" charset="0"/>
                <a:ea typeface="Calibri" pitchFamily="34" charset="-122"/>
                <a:cs typeface="Calibri" pitchFamily="34" charset="-120"/>
              </a:rPr>
              <a:t>What was a tenement?</a:t>
            </a:r>
            <a:endParaRPr lang="en-US" sz="1350" dirty="0"/>
          </a:p>
        </p:txBody>
      </p:sp>
      <p:sp>
        <p:nvSpPr>
          <p:cNvPr id="15" name="Text 12"/>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6" name="Text 1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95</a:t>
            </a:r>
            <a:endParaRPr lang="en-US" sz="9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5">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227"/>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B22234"/>
                </a:solidFill>
                <a:latin typeface="Trebuchet MS" pitchFamily="34" charset="0"/>
                <a:ea typeface="Trebuchet MS" pitchFamily="34" charset="-122"/>
                <a:cs typeface="Trebuchet MS" pitchFamily="34" charset="-120"/>
              </a:rPr>
              <a:t>US.07 · CONFIDENCE CHECK</a:t>
            </a:r>
            <a:endParaRPr lang="en-US" sz="1200" dirty="0"/>
          </a:p>
        </p:txBody>
      </p:sp>
      <p:sp>
        <p:nvSpPr>
          <p:cNvPr id="4" name="Text 2"/>
          <p:cNvSpPr/>
          <p:nvPr/>
        </p:nvSpPr>
        <p:spPr>
          <a:xfrm>
            <a:off x="548640" y="731520"/>
            <a:ext cx="7863840" cy="640080"/>
          </a:xfrm>
          <a:prstGeom prst="rect">
            <a:avLst/>
          </a:prstGeom>
          <a:noFill/>
          <a:ln/>
        </p:spPr>
        <p:txBody>
          <a:bodyPr wrap="square" rtlCol="0" anchor="ctr"/>
          <a:lstStyle/>
          <a:p>
            <a:pPr indent="0" marL="0">
              <a:buNone/>
            </a:pPr>
            <a:r>
              <a:rPr lang="en-US" sz="3000" b="1" dirty="0">
                <a:solidFill>
                  <a:srgbClr val="1F3A5F"/>
                </a:solidFill>
                <a:latin typeface="Georgia" pitchFamily="34" charset="0"/>
                <a:ea typeface="Georgia" pitchFamily="34" charset="-122"/>
                <a:cs typeface="Georgia" pitchFamily="34" charset="-120"/>
              </a:rPr>
              <a:t>Warm-Up — Quick Recall</a:t>
            </a:r>
            <a:endParaRPr lang="en-US" sz="3000" dirty="0"/>
          </a:p>
        </p:txBody>
      </p:sp>
      <p:sp>
        <p:nvSpPr>
          <p:cNvPr id="5" name="Shape 3"/>
          <p:cNvSpPr/>
          <p:nvPr/>
        </p:nvSpPr>
        <p:spPr>
          <a:xfrm>
            <a:off x="8686800" y="786384"/>
            <a:ext cx="1143000" cy="457200"/>
          </a:xfrm>
          <a:prstGeom prst="roundRect">
            <a:avLst>
              <a:gd name="adj" fmla="val 20000"/>
            </a:avLst>
          </a:prstGeom>
          <a:solidFill>
            <a:srgbClr val="FBEFD0"/>
          </a:solidFill>
          <a:ln w="15875">
            <a:solidFill>
              <a:srgbClr val="C9A227"/>
            </a:solidFill>
            <a:prstDash val="solid"/>
          </a:ln>
        </p:spPr>
        <p:txBody>
          <a:bodyPr/>
          <a:p/>
        </p:txBody>
      </p:sp>
      <p:sp>
        <p:nvSpPr>
          <p:cNvPr id="6" name="Text 4"/>
          <p:cNvSpPr/>
          <p:nvPr/>
        </p:nvSpPr>
        <p:spPr>
          <a:xfrm>
            <a:off x="8686800" y="786384"/>
            <a:ext cx="1143000" cy="457200"/>
          </a:xfrm>
          <a:prstGeom prst="rect">
            <a:avLst/>
          </a:prstGeom>
          <a:noFill/>
          <a:ln/>
        </p:spPr>
        <p:txBody>
          <a:bodyPr wrap="square" rtlCol="0" anchor="ctr"/>
          <a:lstStyle/>
          <a:p>
            <a:pPr algn="ctr" indent="0" marL="0">
              <a:buNone/>
            </a:pPr>
            <a:r>
              <a:rPr lang="en-US" sz="1200" b="1" dirty="0">
                <a:solidFill>
                  <a:srgbClr val="B22234"/>
                </a:solidFill>
                <a:latin typeface="Trebuchet MS" pitchFamily="34" charset="0"/>
                <a:ea typeface="Trebuchet MS" pitchFamily="34" charset="-122"/>
                <a:cs typeface="Trebuchet MS" pitchFamily="34" charset="-120"/>
              </a:rPr>
              <a:t>DOK 1</a:t>
            </a:r>
            <a:endParaRPr lang="en-US" sz="1200" dirty="0"/>
          </a:p>
        </p:txBody>
      </p:sp>
      <p:sp>
        <p:nvSpPr>
          <p:cNvPr id="7" name="Shape 5"/>
          <p:cNvSpPr/>
          <p:nvPr/>
        </p:nvSpPr>
        <p:spPr>
          <a:xfrm>
            <a:off x="9966960" y="786384"/>
            <a:ext cx="1645920" cy="457200"/>
          </a:xfrm>
          <a:prstGeom prst="roundRect">
            <a:avLst>
              <a:gd name="adj" fmla="val 20000"/>
            </a:avLst>
          </a:prstGeom>
          <a:solidFill>
            <a:srgbClr val="1F3A5F"/>
          </a:solidFill>
          <a:ln/>
        </p:spPr>
        <p:txBody>
          <a:bodyPr/>
          <a:p/>
        </p:txBody>
      </p:sp>
      <p:sp>
        <p:nvSpPr>
          <p:cNvPr id="8" name="Text 6"/>
          <p:cNvSpPr/>
          <p:nvPr/>
        </p:nvSpPr>
        <p:spPr>
          <a:xfrm>
            <a:off x="9966960" y="786384"/>
            <a:ext cx="164592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LOW STAKES</a:t>
            </a:r>
            <a:endParaRPr lang="en-US" sz="1100" dirty="0"/>
          </a:p>
        </p:txBody>
      </p:sp>
      <p:sp>
        <p:nvSpPr>
          <p:cNvPr id="9" name="Text 7"/>
          <p:cNvSpPr/>
          <p:nvPr/>
        </p:nvSpPr>
        <p:spPr>
          <a:xfrm>
            <a:off x="548640" y="1371600"/>
            <a:ext cx="11064240" cy="365760"/>
          </a:xfrm>
          <a:prstGeom prst="rect">
            <a:avLst/>
          </a:prstGeom>
          <a:noFill/>
          <a:ln/>
        </p:spPr>
        <p:txBody>
          <a:bodyPr wrap="square" rtlCol="0" anchor="ctr"/>
          <a:lstStyle/>
          <a:p>
            <a:pPr indent="0" marL="0">
              <a:buNone/>
            </a:pPr>
            <a:r>
              <a:rPr lang="en-US" sz="1400" i="1" dirty="0">
                <a:solidFill>
                  <a:srgbClr val="5C6470"/>
                </a:solidFill>
                <a:latin typeface="Calibri" pitchFamily="34" charset="0"/>
                <a:ea typeface="Calibri" pitchFamily="34" charset="-122"/>
                <a:cs typeface="Calibri" pitchFamily="34" charset="-120"/>
              </a:rPr>
              <a:t>Everyone can answer this. Thumbs / whiteboards — no notes.</a:t>
            </a:r>
            <a:endParaRPr lang="en-US" sz="1400" dirty="0"/>
          </a:p>
        </p:txBody>
      </p:sp>
      <p:sp>
        <p:nvSpPr>
          <p:cNvPr id="10" name="Shape 8"/>
          <p:cNvSpPr/>
          <p:nvPr/>
        </p:nvSpPr>
        <p:spPr>
          <a:xfrm>
            <a:off x="548640" y="1965960"/>
            <a:ext cx="11064240" cy="1874520"/>
          </a:xfrm>
          <a:prstGeom prst="roundRect">
            <a:avLst>
              <a:gd name="adj" fmla="val 4878"/>
            </a:avLst>
          </a:prstGeom>
          <a:solidFill>
            <a:srgbClr val="1F3A5F"/>
          </a:solidFill>
          <a:ln/>
        </p:spPr>
        <p:txBody>
          <a:bodyPr/>
          <a:p/>
        </p:txBody>
      </p:sp>
      <p:sp>
        <p:nvSpPr>
          <p:cNvPr id="11" name="Text 9"/>
          <p:cNvSpPr/>
          <p:nvPr/>
        </p:nvSpPr>
        <p:spPr>
          <a:xfrm>
            <a:off x="1005840" y="2194560"/>
            <a:ext cx="10149840" cy="1417320"/>
          </a:xfrm>
          <a:prstGeom prst="rect">
            <a:avLst/>
          </a:prstGeom>
          <a:noFill/>
          <a:ln/>
        </p:spPr>
        <p:txBody>
          <a:bodyPr wrap="square" rtlCol="0" anchor="ctr"/>
          <a:lstStyle/>
          <a:p>
            <a:pPr algn="ctr" indent="0" marL="0">
              <a:lnSpc>
                <a:spcPct val="108000"/>
              </a:lnSpc>
              <a:buNone/>
            </a:pPr>
            <a:r>
              <a:rPr lang="en-US" sz="2400" b="1" dirty="0">
                <a:solidFill>
                  <a:srgbClr val="FFFFFF"/>
                </a:solidFill>
                <a:latin typeface="Georgia" pitchFamily="34" charset="0"/>
                <a:ea typeface="Georgia" pitchFamily="34" charset="-122"/>
                <a:cs typeface="Georgia" pitchFamily="34" charset="-120"/>
              </a:rPr>
              <a:t>TRUE or FALSE: “New” immigrants (1880–1920) came mostly from southern &amp; eastern Europe.</a:t>
            </a:r>
            <a:endParaRPr lang="en-US" sz="2400" dirty="0"/>
          </a:p>
        </p:txBody>
      </p:sp>
      <p:sp>
        <p:nvSpPr>
          <p:cNvPr id="12" name="Shape 10"/>
          <p:cNvSpPr/>
          <p:nvPr/>
        </p:nvSpPr>
        <p:spPr>
          <a:xfrm>
            <a:off x="548640" y="4069080"/>
            <a:ext cx="11064240" cy="1371600"/>
          </a:xfrm>
          <a:prstGeom prst="roundRect">
            <a:avLst>
              <a:gd name="adj" fmla="val 6667"/>
            </a:avLst>
          </a:prstGeom>
          <a:solidFill>
            <a:srgbClr val="FBEFD0"/>
          </a:solidFill>
          <a:ln w="19050">
            <a:solidFill>
              <a:srgbClr val="C9A227"/>
            </a:solidFill>
            <a:prstDash val="solid"/>
          </a:ln>
        </p:spPr>
        <p:txBody>
          <a:bodyPr/>
          <a:p/>
        </p:txBody>
      </p:sp>
      <p:sp>
        <p:nvSpPr>
          <p:cNvPr id="13" name="Text 11"/>
          <p:cNvSpPr/>
          <p:nvPr/>
        </p:nvSpPr>
        <p:spPr>
          <a:xfrm>
            <a:off x="914400" y="4224528"/>
            <a:ext cx="2743200" cy="320040"/>
          </a:xfrm>
          <a:prstGeom prst="rect">
            <a:avLst/>
          </a:prstGeom>
          <a:noFill/>
          <a:ln/>
        </p:spPr>
        <p:txBody>
          <a:bodyPr wrap="square" rtlCol="0" anchor="ctr"/>
          <a:lstStyle/>
          <a:p>
            <a:pPr indent="0" marL="0">
              <a:buNone/>
            </a:pPr>
            <a:r>
              <a:rPr lang="en-US" sz="1200" b="1" spc="200" kern="0" dirty="0">
                <a:solidFill>
                  <a:srgbClr val="1B5E20"/>
                </a:solidFill>
                <a:latin typeface="Trebuchet MS" pitchFamily="34" charset="0"/>
                <a:ea typeface="Trebuchet MS" pitchFamily="34" charset="-122"/>
                <a:cs typeface="Trebuchet MS" pitchFamily="34" charset="-120"/>
              </a:rPr>
              <a:t>✓ ANSWER</a:t>
            </a:r>
            <a:endParaRPr lang="en-US" sz="1200" dirty="0"/>
          </a:p>
        </p:txBody>
      </p:sp>
      <p:sp>
        <p:nvSpPr>
          <p:cNvPr id="14" name="Text 12"/>
          <p:cNvSpPr/>
          <p:nvPr/>
        </p:nvSpPr>
        <p:spPr>
          <a:xfrm>
            <a:off x="914400" y="4572000"/>
            <a:ext cx="10332720" cy="777240"/>
          </a:xfrm>
          <a:prstGeom prst="rect">
            <a:avLst/>
          </a:prstGeom>
          <a:noFill/>
          <a:ln/>
        </p:spPr>
        <p:txBody>
          <a:bodyPr wrap="square" rtlCol="0" anchor="t"/>
          <a:lstStyle/>
          <a:p>
            <a:pPr indent="0" marL="0">
              <a:lnSpc>
                <a:spcPct val="108000"/>
              </a:lnSpc>
              <a:buNone/>
            </a:pPr>
            <a:r>
              <a:rPr lang="en-US" sz="1600" dirty="0">
                <a:solidFill>
                  <a:srgbClr val="1F2430"/>
                </a:solidFill>
                <a:latin typeface="Calibri" pitchFamily="34" charset="0"/>
                <a:ea typeface="Calibri" pitchFamily="34" charset="-122"/>
                <a:cs typeface="Calibri" pitchFamily="34" charset="-120"/>
              </a:rPr>
              <a:t>TRUE — plus Asia; “old” immigrants came earlier from N./W. Europe.</a:t>
            </a:r>
            <a:endParaRPr lang="en-US" sz="1600" dirty="0"/>
          </a:p>
        </p:txBody>
      </p:sp>
      <p:sp>
        <p:nvSpPr>
          <p:cNvPr id="15" name="Shape 13"/>
          <p:cNvSpPr/>
          <p:nvPr/>
        </p:nvSpPr>
        <p:spPr>
          <a:xfrm>
            <a:off x="548640" y="5623560"/>
            <a:ext cx="11064240" cy="457200"/>
          </a:xfrm>
          <a:prstGeom prst="roundRect">
            <a:avLst>
              <a:gd name="adj" fmla="val 16000"/>
            </a:avLst>
          </a:prstGeom>
          <a:solidFill>
            <a:srgbClr val="FFFFFF"/>
          </a:solidFill>
          <a:ln w="12700">
            <a:solidFill>
              <a:srgbClr val="C9A227"/>
            </a:solidFill>
            <a:prstDash val="solid"/>
          </a:ln>
        </p:spPr>
        <p:txBody>
          <a:bodyPr/>
          <a:p/>
        </p:txBody>
      </p:sp>
      <p:sp>
        <p:nvSpPr>
          <p:cNvPr id="16" name="Text 14"/>
          <p:cNvSpPr/>
          <p:nvPr/>
        </p:nvSpPr>
        <p:spPr>
          <a:xfrm>
            <a:off x="822960" y="5623560"/>
            <a:ext cx="10515600" cy="457200"/>
          </a:xfrm>
          <a:prstGeom prst="rect">
            <a:avLst/>
          </a:prstGeom>
          <a:noFill/>
          <a:ln/>
        </p:spPr>
        <p:txBody>
          <a:bodyPr wrap="square" rtlCol="0" anchor="ctr"/>
          <a:lstStyle/>
          <a:p>
            <a:pPr indent="0" marL="0">
              <a:buNone/>
            </a:pPr>
            <a:r>
              <a:rPr lang="en-US" sz="1150" b="1" i="1" spc="100" kern="0" dirty="0">
                <a:solidFill>
                  <a:srgbClr val="B22234"/>
                </a:solidFill>
                <a:latin typeface="Trebuchet MS" pitchFamily="34" charset="0"/>
                <a:ea typeface="Trebuchet MS" pitchFamily="34" charset="-122"/>
                <a:cs typeface="Trebuchet MS" pitchFamily="34" charset="-120"/>
              </a:rPr>
              <a:t>COMMIT FIRST:  </a:t>
            </a:r>
            <a:pPr indent="0" marL="0">
              <a:buNone/>
            </a:pPr>
            <a:r>
              <a:rPr lang="en-US" sz="1150" i="1" dirty="0">
                <a:solidFill>
                  <a:srgbClr val="5C6470"/>
                </a:solidFill>
                <a:latin typeface="Calibri" pitchFamily="34" charset="0"/>
                <a:ea typeface="Calibri" pitchFamily="34" charset="-122"/>
                <a:cs typeface="Calibri" pitchFamily="34" charset="-120"/>
              </a:rPr>
              <a:t>have everyone answer before the reveal — this is the DOK 1 floor; the graded check later in this lesson moves up to DOK 2–3.</a:t>
            </a:r>
            <a:endParaRPr lang="en-US" sz="1150" dirty="0"/>
          </a:p>
        </p:txBody>
      </p:sp>
      <p:sp>
        <p:nvSpPr>
          <p:cNvPr id="18" name="Text 15"/>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6"/>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96</a:t>
            </a:r>
            <a:endParaRPr lang="en-US" sz="9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6">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B22234"/>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B22234"/>
                </a:solidFill>
                <a:latin typeface="Trebuchet MS" pitchFamily="34" charset="0"/>
                <a:ea typeface="Trebuchet MS" pitchFamily="34" charset="-122"/>
                <a:cs typeface="Trebuchet MS" pitchFamily="34" charset="-120"/>
              </a:rPr>
              <a:t>US.07 · HOOK</a:t>
            </a:r>
            <a:endParaRPr lang="en-US" sz="1200" dirty="0"/>
          </a:p>
        </p:txBody>
      </p:sp>
      <p:sp>
        <p:nvSpPr>
          <p:cNvPr id="4" name="Text 2"/>
          <p:cNvSpPr/>
          <p:nvPr/>
        </p:nvSpPr>
        <p:spPr>
          <a:xfrm>
            <a:off x="548640" y="777240"/>
            <a:ext cx="10972800" cy="640080"/>
          </a:xfrm>
          <a:prstGeom prst="rect">
            <a:avLst/>
          </a:prstGeom>
          <a:noFill/>
          <a:ln/>
        </p:spPr>
        <p:txBody>
          <a:bodyPr wrap="square" rtlCol="0" anchor="ctr"/>
          <a:lstStyle/>
          <a:p>
            <a:pPr indent="0" marL="0">
              <a:buNone/>
            </a:pPr>
            <a:r>
              <a:rPr lang="en-US" sz="3000" b="1" dirty="0">
                <a:solidFill>
                  <a:srgbClr val="1F3A5F"/>
                </a:solidFill>
                <a:latin typeface="Georgia" pitchFamily="34" charset="0"/>
                <a:ea typeface="Georgia" pitchFamily="34" charset="-122"/>
                <a:cs typeface="Georgia" pitchFamily="34" charset="-120"/>
              </a:rPr>
              <a:t>Think About It</a:t>
            </a:r>
            <a:endParaRPr lang="en-US" sz="3000" dirty="0"/>
          </a:p>
        </p:txBody>
      </p:sp>
      <p:sp>
        <p:nvSpPr>
          <p:cNvPr id="5" name="Shape 3"/>
          <p:cNvSpPr/>
          <p:nvPr/>
        </p:nvSpPr>
        <p:spPr>
          <a:xfrm>
            <a:off x="548640" y="1691640"/>
            <a:ext cx="11064240" cy="2194560"/>
          </a:xfrm>
          <a:prstGeom prst="roundRect">
            <a:avLst>
              <a:gd name="adj" fmla="val 4167"/>
            </a:avLst>
          </a:prstGeom>
          <a:solidFill>
            <a:srgbClr val="1F3A5F"/>
          </a:solidFill>
          <a:ln/>
        </p:spPr>
        <p:txBody>
          <a:bodyPr/>
          <a:p/>
        </p:txBody>
      </p:sp>
      <p:sp>
        <p:nvSpPr>
          <p:cNvPr id="6" name="Text 4"/>
          <p:cNvSpPr/>
          <p:nvPr/>
        </p:nvSpPr>
        <p:spPr>
          <a:xfrm>
            <a:off x="1005840" y="1965960"/>
            <a:ext cx="10149840" cy="1645920"/>
          </a:xfrm>
          <a:prstGeom prst="rect">
            <a:avLst/>
          </a:prstGeom>
          <a:noFill/>
          <a:ln/>
        </p:spPr>
        <p:txBody>
          <a:bodyPr wrap="square" rtlCol="0" anchor="ctr"/>
          <a:lstStyle/>
          <a:p>
            <a:pPr indent="0" marL="0">
              <a:lnSpc>
                <a:spcPct val="108000"/>
              </a:lnSpc>
              <a:buNone/>
            </a:pPr>
            <a:r>
              <a:rPr lang="en-US" sz="2600" i="1" dirty="0">
                <a:solidFill>
                  <a:srgbClr val="FFFFFF"/>
                </a:solidFill>
                <a:latin typeface="Georgia" pitchFamily="34" charset="0"/>
                <a:ea typeface="Georgia" pitchFamily="34" charset="-122"/>
                <a:cs typeface="Georgia" pitchFamily="34" charset="-120"/>
              </a:rPr>
              <a:t>Between 1880 and 1920, more than 20 million immigrants arrived in the United States.</a:t>
            </a:r>
            <a:endParaRPr lang="en-US" sz="2600" dirty="0"/>
          </a:p>
        </p:txBody>
      </p:sp>
      <p:sp>
        <p:nvSpPr>
          <p:cNvPr id="7" name="Shape 5"/>
          <p:cNvSpPr/>
          <p:nvPr/>
        </p:nvSpPr>
        <p:spPr>
          <a:xfrm>
            <a:off x="548640" y="4114800"/>
            <a:ext cx="11064240" cy="1783080"/>
          </a:xfrm>
          <a:prstGeom prst="roundRect">
            <a:avLst>
              <a:gd name="adj" fmla="val 5128"/>
            </a:avLst>
          </a:prstGeom>
          <a:solidFill>
            <a:srgbClr val="FFFFFF"/>
          </a:solidFill>
          <a:ln w="19050">
            <a:solidFill>
              <a:srgbClr val="C9A227"/>
            </a:solidFill>
            <a:prstDash val="solid"/>
          </a:ln>
        </p:spPr>
        <p:txBody>
          <a:bodyPr/>
          <a:p/>
        </p:txBody>
      </p:sp>
      <p:sp>
        <p:nvSpPr>
          <p:cNvPr id="8" name="Text 6"/>
          <p:cNvSpPr/>
          <p:nvPr/>
        </p:nvSpPr>
        <p:spPr>
          <a:xfrm>
            <a:off x="914400" y="4297680"/>
            <a:ext cx="2743200" cy="320040"/>
          </a:xfrm>
          <a:prstGeom prst="rect">
            <a:avLst/>
          </a:prstGeom>
          <a:noFill/>
          <a:ln/>
        </p:spPr>
        <p:txBody>
          <a:bodyPr wrap="square" rtlCol="0" anchor="ctr"/>
          <a:lstStyle/>
          <a:p>
            <a:pPr indent="0" marL="0">
              <a:buNone/>
            </a:pPr>
            <a:r>
              <a:rPr lang="en-US" sz="1300" b="1" spc="200" kern="0" dirty="0">
                <a:solidFill>
                  <a:srgbClr val="B22234"/>
                </a:solidFill>
                <a:latin typeface="Trebuchet MS" pitchFamily="34" charset="0"/>
                <a:ea typeface="Trebuchet MS" pitchFamily="34" charset="-122"/>
                <a:cs typeface="Trebuchet MS" pitchFamily="34" charset="-120"/>
              </a:rPr>
              <a:t>DISCUSS</a:t>
            </a:r>
            <a:endParaRPr lang="en-US" sz="1300" dirty="0"/>
          </a:p>
        </p:txBody>
      </p:sp>
      <p:sp>
        <p:nvSpPr>
          <p:cNvPr id="9" name="Shape 7"/>
          <p:cNvSpPr/>
          <p:nvPr/>
        </p:nvSpPr>
        <p:spPr>
          <a:xfrm>
            <a:off x="7772400" y="4224528"/>
            <a:ext cx="3657600" cy="457200"/>
          </a:xfrm>
          <a:prstGeom prst="roundRect">
            <a:avLst>
              <a:gd name="adj" fmla="val 20000"/>
            </a:avLst>
          </a:prstGeom>
          <a:solidFill>
            <a:srgbClr val="1F3A5F"/>
          </a:solidFill>
          <a:ln/>
        </p:spPr>
        <p:txBody>
          <a:bodyPr/>
          <a:p/>
        </p:txBody>
      </p:sp>
      <p:sp>
        <p:nvSpPr>
          <p:cNvPr id="10" name="Text 8"/>
          <p:cNvSpPr/>
          <p:nvPr/>
        </p:nvSpPr>
        <p:spPr>
          <a:xfrm>
            <a:off x="7772400" y="4224528"/>
            <a:ext cx="3657600" cy="45720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TIMING:  Turn &amp; Talk 60 sec → cold-call 2 pairs</a:t>
            </a:r>
            <a:endParaRPr lang="en-US" sz="1050" dirty="0"/>
          </a:p>
        </p:txBody>
      </p:sp>
      <p:sp>
        <p:nvSpPr>
          <p:cNvPr id="11" name="Text 9"/>
          <p:cNvSpPr/>
          <p:nvPr/>
        </p:nvSpPr>
        <p:spPr>
          <a:xfrm>
            <a:off x="914400" y="4736592"/>
            <a:ext cx="10332720" cy="1097280"/>
          </a:xfrm>
          <a:prstGeom prst="rect">
            <a:avLst/>
          </a:prstGeom>
          <a:noFill/>
          <a:ln/>
        </p:spPr>
        <p:txBody>
          <a:bodyPr wrap="square" rtlCol="0" anchor="t"/>
          <a:lstStyle/>
          <a:p>
            <a:pPr indent="0" marL="0">
              <a:lnSpc>
                <a:spcPct val="110000"/>
              </a:lnSpc>
              <a:buNone/>
            </a:pPr>
            <a:r>
              <a:rPr lang="en-US" sz="1600" dirty="0">
                <a:solidFill>
                  <a:srgbClr val="1F2430"/>
                </a:solidFill>
                <a:latin typeface="Calibri" pitchFamily="34" charset="0"/>
                <a:ea typeface="Calibri" pitchFamily="34" charset="-122"/>
                <a:cs typeface="Calibri" pitchFamily="34" charset="-120"/>
              </a:rPr>
              <a:t>Why do people leave everything behind to start over in a new country? And why might native-born Americans react with fear? We will see both sides today.</a:t>
            </a:r>
            <a:endParaRPr lang="en-US" sz="1600" dirty="0"/>
          </a:p>
        </p:txBody>
      </p:sp>
      <p:sp>
        <p:nvSpPr>
          <p:cNvPr id="13" name="Text 10"/>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4"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97</a:t>
            </a:r>
            <a:endParaRPr lang="en-US" sz="9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7">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F3A5F"/>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B22234"/>
                </a:solidFill>
                <a:latin typeface="Trebuchet MS" pitchFamily="34" charset="0"/>
                <a:ea typeface="Trebuchet MS" pitchFamily="34" charset="-122"/>
                <a:cs typeface="Trebuchet MS" pitchFamily="34" charset="-120"/>
              </a:rPr>
              <a:t>US.07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F3A5F"/>
                </a:solidFill>
                <a:latin typeface="Georgia" pitchFamily="34" charset="0"/>
                <a:ea typeface="Georgia" pitchFamily="34" charset="-122"/>
                <a:cs typeface="Georgia" pitchFamily="34" charset="-120"/>
              </a:rPr>
              <a:t>Old and New Immigrants</a:t>
            </a:r>
            <a:endParaRPr lang="en-US" sz="3000" dirty="0"/>
          </a:p>
        </p:txBody>
      </p:sp>
      <p:sp>
        <p:nvSpPr>
          <p:cNvPr id="5" name="Shape 3"/>
          <p:cNvSpPr/>
          <p:nvPr/>
        </p:nvSpPr>
        <p:spPr>
          <a:xfrm>
            <a:off x="10472623" y="502920"/>
            <a:ext cx="146304" cy="146304"/>
          </a:xfrm>
          <a:prstGeom prst="ellipse">
            <a:avLst/>
          </a:prstGeom>
          <a:solidFill>
            <a:srgbClr val="B22234"/>
          </a:solidFill>
          <a:ln/>
        </p:spPr>
        <p:txBody>
          <a:bodyPr/>
          <a:p/>
        </p:txBody>
      </p:sp>
      <p:sp>
        <p:nvSpPr>
          <p:cNvPr id="6" name="Shape 4"/>
          <p:cNvSpPr/>
          <p:nvPr/>
        </p:nvSpPr>
        <p:spPr>
          <a:xfrm>
            <a:off x="10765231" y="502920"/>
            <a:ext cx="146304" cy="146304"/>
          </a:xfrm>
          <a:prstGeom prst="ellipse">
            <a:avLst/>
          </a:prstGeom>
          <a:solidFill>
            <a:srgbClr val="A7BACB"/>
          </a:solidFill>
          <a:ln/>
        </p:spPr>
        <p:txBody>
          <a:bodyPr/>
          <a:p/>
        </p:txBody>
      </p:sp>
      <p:sp>
        <p:nvSpPr>
          <p:cNvPr id="7" name="Shape 5"/>
          <p:cNvSpPr/>
          <p:nvPr/>
        </p:nvSpPr>
        <p:spPr>
          <a:xfrm>
            <a:off x="11057839" y="502920"/>
            <a:ext cx="146304" cy="146304"/>
          </a:xfrm>
          <a:prstGeom prst="ellipse">
            <a:avLst/>
          </a:prstGeom>
          <a:solidFill>
            <a:srgbClr val="A7BACB"/>
          </a:solidFill>
          <a:ln/>
        </p:spPr>
        <p:txBody>
          <a:bodyPr/>
          <a:p/>
        </p:txBody>
      </p:sp>
      <p:sp>
        <p:nvSpPr>
          <p:cNvPr id="8" name="Shape 6"/>
          <p:cNvSpPr/>
          <p:nvPr/>
        </p:nvSpPr>
        <p:spPr>
          <a:xfrm>
            <a:off x="11350447" y="502920"/>
            <a:ext cx="146304" cy="146304"/>
          </a:xfrm>
          <a:prstGeom prst="ellipse">
            <a:avLst/>
          </a:prstGeom>
          <a:solidFill>
            <a:srgbClr val="A7BACB"/>
          </a:solidFill>
          <a:ln/>
        </p:spPr>
        <p:txBody>
          <a:bodyPr/>
          <a:p/>
        </p:txBody>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1 of 4</a:t>
            </a:r>
            <a:endParaRPr lang="en-US" sz="1000" dirty="0"/>
          </a:p>
        </p:txBody>
      </p:sp>
      <p:sp>
        <p:nvSpPr>
          <p:cNvPr id="10" name="Shape 8"/>
          <p:cNvSpPr/>
          <p:nvPr/>
        </p:nvSpPr>
        <p:spPr>
          <a:xfrm>
            <a:off x="548640" y="1783080"/>
            <a:ext cx="6766560" cy="4069080"/>
          </a:xfrm>
          <a:prstGeom prst="rect">
            <a:avLst/>
          </a:prstGeom>
          <a:solidFill>
            <a:srgbClr val="FFFFFF"/>
          </a:solidFill>
          <a:ln w="12700">
            <a:solidFill>
              <a:srgbClr val="DAD3C2"/>
            </a:solidFill>
            <a:prstDash val="solid"/>
          </a:ln>
        </p:spPr>
        <p:txBody>
          <a:bodyPr/>
          <a:p/>
        </p:txBody>
      </p:sp>
      <p:sp>
        <p:nvSpPr>
          <p:cNvPr id="11" name="Text 9"/>
          <p:cNvSpPr/>
          <p:nvPr/>
        </p:nvSpPr>
        <p:spPr>
          <a:xfrm>
            <a:off x="914400" y="2057400"/>
            <a:ext cx="6126480" cy="2340864"/>
          </a:xfrm>
          <a:prstGeom prst="rect">
            <a:avLst/>
          </a:prstGeom>
          <a:noFill/>
          <a:ln/>
        </p:spPr>
        <p:txBody>
          <a:bodyPr wrap="square" rtlCol="0" anchor="t"/>
          <a:lstStyle/>
          <a:p>
            <a:pPr marL="228600" indent="-228600">
              <a:lnSpc>
                <a:spcPct val="112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"Old" immigrants (pre-1880) came primarily from Northern and Western Europe—Britain, Ireland, Germany, Scandinavia.</a:t>
            </a:r>
            <a:endParaRPr lang="en-US" sz="1550" dirty="0"/>
          </a:p>
          <a:p>
            <a:pPr marL="228600" indent="-228600">
              <a:lnSpc>
                <a:spcPct val="112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They often spoke English or related languages and were predominantly Protestant.</a:t>
            </a:r>
            <a:endParaRPr lang="en-US" sz="1550" dirty="0"/>
          </a:p>
          <a:p>
            <a:pPr marL="228600" indent="-228600">
              <a:lnSpc>
                <a:spcPct val="112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"New" immigrants (1880-1920) came from Southern and Eastern Europe—Italy, Poland, Russia, Greece—as well as Asia.</a:t>
            </a:r>
            <a:endParaRPr lang="en-US" sz="1550" dirty="0"/>
          </a:p>
          <a:p>
            <a:pPr marL="228600" indent="-228600">
              <a:lnSpc>
                <a:spcPct val="112000"/>
              </a:lnSpc>
              <a:spcAft>
                <a:spcPts val="900"/>
              </a:spcAft>
              <a:buSzPct val="100000"/>
              <a:buChar char="•"/>
            </a:pPr>
            <a:r>
              <a:rPr lang="en-US" sz="1550" dirty="0">
                <a:solidFill>
                  <a:srgbClr val="1F2430"/>
                </a:solidFill>
                <a:latin typeface="Calibri" pitchFamily="34" charset="0"/>
                <a:ea typeface="Calibri" pitchFamily="34" charset="-122"/>
                <a:cs typeface="Calibri" pitchFamily="34" charset="-120"/>
              </a:rPr>
              <a:t>They brought different languages, religions (Catholic, Orthodox, Jewish), and customs that many Americans viewed with suspicion.</a:t>
            </a:r>
            <a:endParaRPr lang="en-US" sz="1550" dirty="0"/>
          </a:p>
        </p:txBody>
      </p:sp>
      <p:sp>
        <p:nvSpPr>
          <p:cNvPr id="12" name="Shape 10"/>
          <p:cNvSpPr/>
          <p:nvPr/>
        </p:nvSpPr>
        <p:spPr>
          <a:xfrm>
            <a:off x="868680" y="4626864"/>
            <a:ext cx="6126480" cy="1097280"/>
          </a:xfrm>
          <a:prstGeom prst="roundRect">
            <a:avLst>
              <a:gd name="adj" fmla="val 5000"/>
            </a:avLst>
          </a:prstGeom>
          <a:solidFill>
            <a:srgbClr val="EEF3F7"/>
          </a:solidFill>
          <a:ln w="12700">
            <a:solidFill>
              <a:srgbClr val="A7BACB"/>
            </a:solidFill>
            <a:prstDash val="solid"/>
          </a:ln>
        </p:spPr>
        <p:txBody>
          <a:bodyPr/>
          <a:p/>
        </p:txBody>
      </p:sp>
      <p:sp>
        <p:nvSpPr>
          <p:cNvPr id="13" name="Text 11"/>
          <p:cNvSpPr/>
          <p:nvPr/>
        </p:nvSpPr>
        <p:spPr>
          <a:xfrm>
            <a:off x="1024128" y="4681728"/>
            <a:ext cx="5852160" cy="237744"/>
          </a:xfrm>
          <a:prstGeom prst="rect">
            <a:avLst/>
          </a:prstGeom>
          <a:noFill/>
          <a:ln/>
        </p:spPr>
        <p:txBody>
          <a:bodyPr wrap="square" rtlCol="0" anchor="ctr"/>
          <a:lstStyle/>
          <a:p>
            <a:pPr indent="0" marL="0">
              <a:buNone/>
            </a:pPr>
            <a:r>
              <a:rPr lang="en-US" sz="900" b="1" spc="100" kern="0" dirty="0">
                <a:solidFill>
                  <a:srgbClr val="002858"/>
                </a:solidFill>
                <a:latin typeface="Trebuchet MS" pitchFamily="34" charset="0"/>
                <a:ea typeface="Trebuchet MS" pitchFamily="34" charset="-122"/>
                <a:cs typeface="Trebuchet MS" pitchFamily="34" charset="-120"/>
              </a:rPr>
              <a:t>SENTENCE FRAME  </a:t>
            </a:r>
            <a:pPr indent="0" marL="0">
              <a:buNone/>
            </a:pPr>
            <a:r>
              <a:rPr lang="en-US" sz="900" i="1" dirty="0">
                <a:solidFill>
                  <a:srgbClr val="5C6470"/>
                </a:solidFill>
              </a:rPr>
              <a:t>· LANGUAGE SUPPORT  </a:t>
            </a:r>
            <a:endParaRPr lang="en-US" sz="900" dirty="0"/>
          </a:p>
        </p:txBody>
      </p:sp>
      <p:sp>
        <p:nvSpPr>
          <p:cNvPr id="14" name="Text 12"/>
          <p:cNvSpPr/>
          <p:nvPr/>
        </p:nvSpPr>
        <p:spPr>
          <a:xfrm>
            <a:off x="1024128" y="4937760"/>
            <a:ext cx="6309360" cy="658368"/>
          </a:xfrm>
          <a:prstGeom prst="rect">
            <a:avLst/>
          </a:prstGeom>
          <a:noFill/>
          <a:ln/>
        </p:spPr>
        <p:txBody>
          <a:bodyPr wrap="square" rtlCol="0" anchor="t"/>
          <a:lstStyle/>
          <a:p>
            <a:pPr indent="0" marL="0">
              <a:lnSpc>
                <a:spcPct val="104000"/>
              </a:lnSpc>
              <a:buNone/>
            </a:pPr>
            <a:r>
              <a:rPr lang="en-US" sz="1050" i="1" dirty="0">
                <a:solidFill>
                  <a:srgbClr val="1F2430"/>
                </a:solidFill>
                <a:latin typeface="Calibri" pitchFamily="34" charset="0"/>
                <a:ea typeface="Calibri" pitchFamily="34" charset="-122"/>
                <a:cs typeface="Calibri" pitchFamily="34" charset="-120"/>
              </a:rPr>
              <a:t>“New” immigrants came to the U.S. because ________, but some native-born Americans reacted with ________.</a:t>
            </a:r>
            <a:endParaRPr lang="en-US" sz="1050" dirty="0"/>
          </a:p>
        </p:txBody>
      </p:sp>
      <p:sp>
        <p:nvSpPr>
          <p:cNvPr id="15" name="Shape 13"/>
          <p:cNvSpPr/>
          <p:nvPr/>
        </p:nvSpPr>
        <p:spPr>
          <a:xfrm>
            <a:off x="7552944" y="1746504"/>
            <a:ext cx="4142232" cy="2935224"/>
          </a:xfrm>
          <a:prstGeom prst="rect">
            <a:avLst/>
          </a:prstGeom>
          <a:solidFill>
            <a:srgbClr val="FFFFFF"/>
          </a:solidFill>
          <a:ln w="12700">
            <a:solidFill>
              <a:srgbClr val="DAD3C2"/>
            </a:solidFill>
            <a:prstDash val="solid"/>
          </a:ln>
        </p:spPr>
        <p:txBody>
          <a:bodyPr/>
          <a:p/>
        </p:txBody>
      </p:sp>
      <p:pic>
        <p:nvPicPr>
          <p:cNvPr id="16" name="Image 0" descr="Detroit Publishing Company, c. 1910–1920  Library of Congress">    </p:cNvPr>
          <p:cNvPicPr>
            <a:picLocks noChangeAspect="1"/>
          </p:cNvPicPr>
          <p:nvPr/>
        </p:nvPicPr>
        <p:blipFill>
          <a:blip r:embed="rId1"/>
          <a:srcRect l="0" r="0" t="0" b="0"/>
          <a:stretch/>
        </p:blipFill>
        <p:spPr>
          <a:xfrm>
            <a:off x="7589520" y="1783080"/>
            <a:ext cx="4069080" cy="2862072"/>
          </a:xfrm>
          <a:prstGeom prst="rect">
            <a:avLst/>
          </a:prstGeom>
        </p:spPr>
      </p:pic>
      <p:sp>
        <p:nvSpPr>
          <p:cNvPr id="17" name="Text 14"/>
          <p:cNvSpPr/>
          <p:nvPr/>
        </p:nvSpPr>
        <p:spPr>
          <a:xfrm>
            <a:off x="7589520" y="4700016"/>
            <a:ext cx="4069080" cy="512064"/>
          </a:xfrm>
          <a:prstGeom prst="rect">
            <a:avLst/>
          </a:prstGeom>
          <a:noFill/>
          <a:ln/>
        </p:spPr>
        <p:txBody>
          <a:bodyPr wrap="square" rtlCol="0" anchor="t"/>
          <a:lstStyle/>
          <a:p>
            <a:pPr algn="l" indent="0" marL="0">
              <a:lnSpc>
                <a:spcPct val="100000"/>
              </a:lnSpc>
              <a:buNone/>
            </a:pPr>
            <a:pPr algn="l" indent="0" marL="0">
              <a:lnSpc>
                <a:spcPct val="100000"/>
              </a:lnSpc>
              <a:buNone/>
            </a:pPr>
            <a:r>
              <a:rPr lang="en-US" sz="900" i="1" dirty="0">
                <a:solidFill>
                  <a:srgbClr val="5C6470"/>
                </a:solidFill>
                <a:latin typeface="Calibri" pitchFamily="34" charset="0"/>
                <a:ea typeface="Calibri" pitchFamily="34" charset="-122"/>
                <a:cs typeface="Calibri" pitchFamily="34" charset="-120"/>
              </a:rPr>
              <a:t>Detroit Publishing Company, c. 1910–1920  </a:t>
            </a:r>
            <a:pPr algn="l" indent="0" marL="0">
              <a:lnSpc>
                <a:spcPct val="100000"/>
              </a:lnSpc>
              <a:buNone/>
            </a:pPr>
            <a:r>
              <a:rPr lang="en-US" sz="9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800" dirty="0"/>
          </a:p>
        </p:txBody>
      </p:sp>
      <p:sp>
        <p:nvSpPr>
          <p:cNvPr id="18" name="Shape 15"/>
          <p:cNvSpPr/>
          <p:nvPr/>
        </p:nvSpPr>
        <p:spPr>
          <a:xfrm>
            <a:off x="7589520" y="5440680"/>
            <a:ext cx="4069080" cy="713232"/>
          </a:xfrm>
          <a:prstGeom prst="roundRect">
            <a:avLst>
              <a:gd name="adj" fmla="val 7692"/>
            </a:avLst>
          </a:prstGeom>
          <a:solidFill>
            <a:srgbClr val="1F3A5F"/>
          </a:solidFill>
          <a:ln/>
        </p:spPr>
        <p:txBody>
          <a:bodyPr/>
          <a:p/>
        </p:txBody>
      </p:sp>
      <p:sp>
        <p:nvSpPr>
          <p:cNvPr id="19" name="Text 16"/>
          <p:cNvSpPr/>
          <p:nvPr/>
        </p:nvSpPr>
        <p:spPr>
          <a:xfrm>
            <a:off x="7772400" y="5477256"/>
            <a:ext cx="3703320" cy="640080"/>
          </a:xfrm>
          <a:prstGeom prst="rect">
            <a:avLst/>
          </a:prstGeom>
          <a:noFill/>
          <a:ln/>
        </p:spPr>
        <p:txBody>
          <a:bodyPr wrap="square" rtlCol="0" anchor="ctr"/>
          <a:lstStyle/>
          <a:p>
            <a:pPr indent="0" marL="0">
              <a:lnSpc>
                <a:spcPct val="102000"/>
              </a:lnSpc>
              <a:buNone/>
            </a:pPr>
            <a:r>
              <a:rPr lang="en-US" sz="950" b="1" dirty="0">
                <a:solidFill>
                  <a:srgbClr val="F9A825"/>
                </a:solidFill>
                <a:latin typeface="Trebuchet MS" pitchFamily="34" charset="0"/>
                <a:ea typeface="Trebuchet MS" pitchFamily="34" charset="-122"/>
                <a:cs typeface="Trebuchet MS" pitchFamily="34" charset="-120"/>
              </a:rPr>
              <a:t>TEACHER CUE  </a:t>
            </a:r>
            <a:pPr indent="0" marL="0">
              <a:lnSpc>
                <a:spcPct val="102000"/>
              </a:lnSpc>
              <a:buNone/>
            </a:pPr>
            <a:r>
              <a:rPr lang="en-US" sz="950" dirty="0">
                <a:solidFill>
                  <a:srgbClr val="FFFFFF"/>
                </a:solidFill>
                <a:latin typeface="Calibri" pitchFamily="34" charset="0"/>
                <a:ea typeface="Calibri" pitchFamily="34" charset="-122"/>
                <a:cs typeface="Calibri" pitchFamily="34" charset="-120"/>
              </a:rPr>
              <a:t>Chunk → cold-call → confirm before advancing.</a:t>
            </a:r>
            <a:endParaRPr lang="en-US" sz="950" dirty="0"/>
          </a:p>
        </p:txBody>
      </p:sp>
      <p:sp>
        <p:nvSpPr>
          <p:cNvPr id="21" name="Text 17"/>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2"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98</a:t>
            </a:r>
            <a:endParaRPr lang="en-US" sz="9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8">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F3A5F"/>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B22234"/>
                </a:solidFill>
                <a:latin typeface="Trebuchet MS" pitchFamily="34" charset="0"/>
                <a:ea typeface="Trebuchet MS" pitchFamily="34" charset="-122"/>
                <a:cs typeface="Trebuchet MS" pitchFamily="34" charset="-120"/>
              </a:rPr>
              <a:t>US.07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F3A5F"/>
                </a:solidFill>
                <a:latin typeface="Georgia" pitchFamily="34" charset="0"/>
                <a:ea typeface="Georgia" pitchFamily="34" charset="-122"/>
                <a:cs typeface="Georgia" pitchFamily="34" charset="-120"/>
              </a:rPr>
              <a:t>Entry Points and the Assimilation Process</a:t>
            </a:r>
            <a:endParaRPr lang="en-US" sz="3000" dirty="0"/>
          </a:p>
        </p:txBody>
      </p:sp>
      <p:sp>
        <p:nvSpPr>
          <p:cNvPr id="5" name="Shape 3"/>
          <p:cNvSpPr/>
          <p:nvPr/>
        </p:nvSpPr>
        <p:spPr>
          <a:xfrm>
            <a:off x="10472623" y="502920"/>
            <a:ext cx="146304" cy="146304"/>
          </a:xfrm>
          <a:prstGeom prst="ellipse">
            <a:avLst/>
          </a:prstGeom>
          <a:solidFill>
            <a:srgbClr val="A7BACB"/>
          </a:solidFill>
          <a:ln/>
        </p:spPr>
        <p:txBody>
          <a:bodyPr/>
          <a:p/>
        </p:txBody>
      </p:sp>
      <p:sp>
        <p:nvSpPr>
          <p:cNvPr id="6" name="Shape 4"/>
          <p:cNvSpPr/>
          <p:nvPr/>
        </p:nvSpPr>
        <p:spPr>
          <a:xfrm>
            <a:off x="10765231" y="502920"/>
            <a:ext cx="146304" cy="146304"/>
          </a:xfrm>
          <a:prstGeom prst="ellipse">
            <a:avLst/>
          </a:prstGeom>
          <a:solidFill>
            <a:srgbClr val="B22234"/>
          </a:solidFill>
          <a:ln/>
        </p:spPr>
        <p:txBody>
          <a:bodyPr/>
          <a:p/>
        </p:txBody>
      </p:sp>
      <p:sp>
        <p:nvSpPr>
          <p:cNvPr id="7" name="Shape 5"/>
          <p:cNvSpPr/>
          <p:nvPr/>
        </p:nvSpPr>
        <p:spPr>
          <a:xfrm>
            <a:off x="11057839" y="502920"/>
            <a:ext cx="146304" cy="146304"/>
          </a:xfrm>
          <a:prstGeom prst="ellipse">
            <a:avLst/>
          </a:prstGeom>
          <a:solidFill>
            <a:srgbClr val="A7BACB"/>
          </a:solidFill>
          <a:ln/>
        </p:spPr>
        <p:txBody>
          <a:bodyPr/>
          <a:p/>
        </p:txBody>
      </p:sp>
      <p:sp>
        <p:nvSpPr>
          <p:cNvPr id="8" name="Shape 6"/>
          <p:cNvSpPr/>
          <p:nvPr/>
        </p:nvSpPr>
        <p:spPr>
          <a:xfrm>
            <a:off x="11350447" y="502920"/>
            <a:ext cx="146304" cy="146304"/>
          </a:xfrm>
          <a:prstGeom prst="ellipse">
            <a:avLst/>
          </a:prstGeom>
          <a:solidFill>
            <a:srgbClr val="A7BACB"/>
          </a:solidFill>
          <a:ln/>
        </p:spPr>
        <p:txBody>
          <a:bodyPr/>
          <a:p/>
        </p:txBody>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2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txBody>
          <a:bodyPr/>
          <a:p/>
        </p:txBody>
      </p:sp>
      <p:sp>
        <p:nvSpPr>
          <p:cNvPr id="11" name="Text 9"/>
          <p:cNvSpPr/>
          <p:nvPr/>
        </p:nvSpPr>
        <p:spPr>
          <a:xfrm>
            <a:off x="914400" y="2057400"/>
            <a:ext cx="10424160" cy="3566160"/>
          </a:xfrm>
          <a:prstGeom prst="rect">
            <a:avLst/>
          </a:prstGeom>
          <a:noFill/>
          <a:ln/>
        </p:spPr>
        <p:txBody>
          <a:bodyPr wrap="square" rtlCol="0" anchor="t"/>
          <a:lstStyle/>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Ellis Island in New York Harbor processed millions of European immigrants, while Angel Island in San Francisco served Asian immigrants with far more restrictive procedures.</a:t>
            </a:r>
            <a:endParaRPr lang="en-US" sz="1700" dirty="0"/>
          </a:p>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New immigrants faced difficult assimilation: language barriers, discrimination, and unfamiliar customs.</a:t>
            </a:r>
            <a:endParaRPr lang="en-US" sz="1700" dirty="0"/>
          </a:p>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Jane Addams's Hull House in Chicago pioneered settlement houses that helped immigrants learn English, navigate American systems, and maintain cultural connections.</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99</a:t>
            </a:r>
            <a:endParaRPr lang="en-US" sz="9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99">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F3A5F"/>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B22234"/>
                </a:solidFill>
                <a:latin typeface="Trebuchet MS" pitchFamily="34" charset="0"/>
                <a:ea typeface="Trebuchet MS" pitchFamily="34" charset="-122"/>
                <a:cs typeface="Trebuchet MS" pitchFamily="34" charset="-120"/>
              </a:rPr>
              <a:t>US.07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F3A5F"/>
                </a:solidFill>
                <a:latin typeface="Georgia" pitchFamily="34" charset="0"/>
                <a:ea typeface="Georgia" pitchFamily="34" charset="-122"/>
                <a:cs typeface="Georgia" pitchFamily="34" charset="-120"/>
              </a:rPr>
              <a:t>Push and Pull Factors</a:t>
            </a:r>
            <a:endParaRPr lang="en-US" sz="3000" dirty="0"/>
          </a:p>
        </p:txBody>
      </p:sp>
      <p:sp>
        <p:nvSpPr>
          <p:cNvPr id="5" name="Shape 3"/>
          <p:cNvSpPr/>
          <p:nvPr/>
        </p:nvSpPr>
        <p:spPr>
          <a:xfrm>
            <a:off x="10472623" y="502920"/>
            <a:ext cx="146304" cy="146304"/>
          </a:xfrm>
          <a:prstGeom prst="ellipse">
            <a:avLst/>
          </a:prstGeom>
          <a:solidFill>
            <a:srgbClr val="A7BACB"/>
          </a:solidFill>
          <a:ln/>
        </p:spPr>
        <p:txBody>
          <a:bodyPr/>
          <a:p/>
        </p:txBody>
      </p:sp>
      <p:sp>
        <p:nvSpPr>
          <p:cNvPr id="6" name="Shape 4"/>
          <p:cNvSpPr/>
          <p:nvPr/>
        </p:nvSpPr>
        <p:spPr>
          <a:xfrm>
            <a:off x="10765231" y="502920"/>
            <a:ext cx="146304" cy="146304"/>
          </a:xfrm>
          <a:prstGeom prst="ellipse">
            <a:avLst/>
          </a:prstGeom>
          <a:solidFill>
            <a:srgbClr val="A7BACB"/>
          </a:solidFill>
          <a:ln/>
        </p:spPr>
        <p:txBody>
          <a:bodyPr/>
          <a:p/>
        </p:txBody>
      </p:sp>
      <p:sp>
        <p:nvSpPr>
          <p:cNvPr id="7" name="Shape 5"/>
          <p:cNvSpPr/>
          <p:nvPr/>
        </p:nvSpPr>
        <p:spPr>
          <a:xfrm>
            <a:off x="11057839" y="502920"/>
            <a:ext cx="146304" cy="146304"/>
          </a:xfrm>
          <a:prstGeom prst="ellipse">
            <a:avLst/>
          </a:prstGeom>
          <a:solidFill>
            <a:srgbClr val="B22234"/>
          </a:solidFill>
          <a:ln/>
        </p:spPr>
        <p:txBody>
          <a:bodyPr/>
          <a:p/>
        </p:txBody>
      </p:sp>
      <p:sp>
        <p:nvSpPr>
          <p:cNvPr id="8" name="Shape 6"/>
          <p:cNvSpPr/>
          <p:nvPr/>
        </p:nvSpPr>
        <p:spPr>
          <a:xfrm>
            <a:off x="11350447" y="502920"/>
            <a:ext cx="146304" cy="146304"/>
          </a:xfrm>
          <a:prstGeom prst="ellipse">
            <a:avLst/>
          </a:prstGeom>
          <a:solidFill>
            <a:srgbClr val="A7BACB"/>
          </a:solidFill>
          <a:ln/>
        </p:spPr>
        <p:txBody>
          <a:bodyPr/>
          <a:p/>
        </p:txBody>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3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txBody>
          <a:bodyPr/>
          <a:p/>
        </p:txBody>
      </p:sp>
      <p:sp>
        <p:nvSpPr>
          <p:cNvPr id="11" name="Text 9"/>
          <p:cNvSpPr/>
          <p:nvPr/>
        </p:nvSpPr>
        <p:spPr>
          <a:xfrm>
            <a:off x="914400" y="2057400"/>
            <a:ext cx="10424160" cy="3566160"/>
          </a:xfrm>
          <a:prstGeom prst="rect">
            <a:avLst/>
          </a:prstGeom>
          <a:noFill/>
          <a:ln/>
        </p:spPr>
        <p:txBody>
          <a:bodyPr wrap="square" rtlCol="0" anchor="t"/>
          <a:lstStyle/>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Push factors drove people from their homelands: religious persecution (especially of Jews in Russia), poverty, political upheaval, and lack of opportunity.</a:t>
            </a:r>
            <a:endParaRPr lang="en-US" sz="1700" dirty="0"/>
          </a:p>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Pull factors attracted them to America: economic opportunity, religious freedom, land availability, and established immigrant communities.</a:t>
            </a:r>
            <a:endParaRPr lang="en-US" sz="1700" dirty="0"/>
          </a:p>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Letters from successful immigrants encouraged others to follow.</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100</a:t>
            </a:r>
            <a:endParaRPr lang="en-US" sz="9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0">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F3A5F"/>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B22234"/>
                </a:solidFill>
                <a:latin typeface="Trebuchet MS" pitchFamily="34" charset="0"/>
                <a:ea typeface="Trebuchet MS" pitchFamily="34" charset="-122"/>
                <a:cs typeface="Trebuchet MS" pitchFamily="34" charset="-120"/>
              </a:rPr>
              <a:t>US.07 · DIRECT INSTRUCTION</a:t>
            </a:r>
            <a:endParaRPr lang="en-US" sz="1200" dirty="0"/>
          </a:p>
        </p:txBody>
      </p:sp>
      <p:sp>
        <p:nvSpPr>
          <p:cNvPr id="4" name="Text 2"/>
          <p:cNvSpPr/>
          <p:nvPr/>
        </p:nvSpPr>
        <p:spPr>
          <a:xfrm>
            <a:off x="548640" y="731520"/>
            <a:ext cx="11064240" cy="868680"/>
          </a:xfrm>
          <a:prstGeom prst="rect">
            <a:avLst/>
          </a:prstGeom>
          <a:noFill/>
          <a:ln/>
        </p:spPr>
        <p:txBody>
          <a:bodyPr wrap="square" rtlCol="0" anchor="t"/>
          <a:lstStyle/>
          <a:p>
            <a:pPr indent="0" marL="0">
              <a:buNone/>
            </a:pPr>
            <a:r>
              <a:rPr lang="en-US" sz="3000" b="1" dirty="0">
                <a:solidFill>
                  <a:srgbClr val="1F3A5F"/>
                </a:solidFill>
                <a:latin typeface="Georgia" pitchFamily="34" charset="0"/>
                <a:ea typeface="Georgia" pitchFamily="34" charset="-122"/>
                <a:cs typeface="Georgia" pitchFamily="34" charset="-120"/>
              </a:rPr>
              <a:t>Nativism and Restriction</a:t>
            </a:r>
            <a:endParaRPr lang="en-US" sz="3000" dirty="0"/>
          </a:p>
        </p:txBody>
      </p:sp>
      <p:sp>
        <p:nvSpPr>
          <p:cNvPr id="5" name="Shape 3"/>
          <p:cNvSpPr/>
          <p:nvPr/>
        </p:nvSpPr>
        <p:spPr>
          <a:xfrm>
            <a:off x="10472623" y="502920"/>
            <a:ext cx="146304" cy="146304"/>
          </a:xfrm>
          <a:prstGeom prst="ellipse">
            <a:avLst/>
          </a:prstGeom>
          <a:solidFill>
            <a:srgbClr val="A7BACB"/>
          </a:solidFill>
          <a:ln/>
        </p:spPr>
        <p:txBody>
          <a:bodyPr/>
          <a:p/>
        </p:txBody>
      </p:sp>
      <p:sp>
        <p:nvSpPr>
          <p:cNvPr id="6" name="Shape 4"/>
          <p:cNvSpPr/>
          <p:nvPr/>
        </p:nvSpPr>
        <p:spPr>
          <a:xfrm>
            <a:off x="10765231" y="502920"/>
            <a:ext cx="146304" cy="146304"/>
          </a:xfrm>
          <a:prstGeom prst="ellipse">
            <a:avLst/>
          </a:prstGeom>
          <a:solidFill>
            <a:srgbClr val="A7BACB"/>
          </a:solidFill>
          <a:ln/>
        </p:spPr>
        <p:txBody>
          <a:bodyPr/>
          <a:p/>
        </p:txBody>
      </p:sp>
      <p:sp>
        <p:nvSpPr>
          <p:cNvPr id="7" name="Shape 5"/>
          <p:cNvSpPr/>
          <p:nvPr/>
        </p:nvSpPr>
        <p:spPr>
          <a:xfrm>
            <a:off x="11057839" y="502920"/>
            <a:ext cx="146304" cy="146304"/>
          </a:xfrm>
          <a:prstGeom prst="ellipse">
            <a:avLst/>
          </a:prstGeom>
          <a:solidFill>
            <a:srgbClr val="A7BACB"/>
          </a:solidFill>
          <a:ln/>
        </p:spPr>
        <p:txBody>
          <a:bodyPr/>
          <a:p/>
        </p:txBody>
      </p:sp>
      <p:sp>
        <p:nvSpPr>
          <p:cNvPr id="8" name="Shape 6"/>
          <p:cNvSpPr/>
          <p:nvPr/>
        </p:nvSpPr>
        <p:spPr>
          <a:xfrm>
            <a:off x="11350447" y="502920"/>
            <a:ext cx="146304" cy="146304"/>
          </a:xfrm>
          <a:prstGeom prst="ellipse">
            <a:avLst/>
          </a:prstGeom>
          <a:solidFill>
            <a:srgbClr val="B22234"/>
          </a:solidFill>
          <a:ln/>
        </p:spPr>
        <p:txBody>
          <a:bodyPr/>
          <a:p/>
        </p:txBody>
      </p:sp>
      <p:sp>
        <p:nvSpPr>
          <p:cNvPr id="9" name="Text 7"/>
          <p:cNvSpPr/>
          <p:nvPr/>
        </p:nvSpPr>
        <p:spPr>
          <a:xfrm>
            <a:off x="9512503" y="411480"/>
            <a:ext cx="914400" cy="329184"/>
          </a:xfrm>
          <a:prstGeom prst="rect">
            <a:avLst/>
          </a:prstGeom>
          <a:noFill/>
          <a:ln/>
        </p:spPr>
        <p:txBody>
          <a:bodyPr wrap="square" rtlCol="0" anchor="ctr"/>
          <a:lstStyle/>
          <a:p>
            <a:pPr algn="r" indent="0" marL="0">
              <a:buNone/>
            </a:pPr>
            <a:r>
              <a:rPr lang="en-US" sz="1000" b="1" dirty="0">
                <a:solidFill>
                  <a:srgbClr val="5C6470"/>
                </a:solidFill>
                <a:latin typeface="Trebuchet MS" pitchFamily="34" charset="0"/>
                <a:ea typeface="Trebuchet MS" pitchFamily="34" charset="-122"/>
                <a:cs typeface="Trebuchet MS" pitchFamily="34" charset="-120"/>
              </a:rPr>
              <a:t>4 of 4</a:t>
            </a:r>
            <a:endParaRPr lang="en-US" sz="1000" dirty="0"/>
          </a:p>
        </p:txBody>
      </p:sp>
      <p:sp>
        <p:nvSpPr>
          <p:cNvPr id="10" name="Shape 8"/>
          <p:cNvSpPr/>
          <p:nvPr/>
        </p:nvSpPr>
        <p:spPr>
          <a:xfrm>
            <a:off x="548640" y="1783080"/>
            <a:ext cx="11064240" cy="4069080"/>
          </a:xfrm>
          <a:prstGeom prst="rect">
            <a:avLst/>
          </a:prstGeom>
          <a:solidFill>
            <a:srgbClr val="FFFFFF"/>
          </a:solidFill>
          <a:ln w="12700">
            <a:solidFill>
              <a:srgbClr val="DAD3C2"/>
            </a:solidFill>
            <a:prstDash val="solid"/>
          </a:ln>
        </p:spPr>
        <p:txBody>
          <a:bodyPr/>
          <a:p/>
        </p:txBody>
      </p:sp>
      <p:sp>
        <p:nvSpPr>
          <p:cNvPr id="11" name="Text 9"/>
          <p:cNvSpPr/>
          <p:nvPr/>
        </p:nvSpPr>
        <p:spPr>
          <a:xfrm>
            <a:off x="914400" y="2057400"/>
            <a:ext cx="10424160" cy="3566160"/>
          </a:xfrm>
          <a:prstGeom prst="rect">
            <a:avLst/>
          </a:prstGeom>
          <a:noFill/>
          <a:ln/>
        </p:spPr>
        <p:txBody>
          <a:bodyPr wrap="square" rtlCol="0" anchor="t"/>
          <a:lstStyle/>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rise of nativism—hostility toward immigrants—led to restrictive legislation.</a:t>
            </a:r>
            <a:endParaRPr lang="en-US" sz="1700" dirty="0"/>
          </a:p>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Chinese Exclusion Act of 1882 banned Chinese immigration for ten years (repeatedly renewed until 1943).</a:t>
            </a:r>
            <a:endParaRPr lang="en-US" sz="1700" dirty="0"/>
          </a:p>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The Gentleman's Agreement of 1907 limited Japanese immigration.</a:t>
            </a:r>
            <a:endParaRPr lang="en-US" sz="1700" dirty="0"/>
          </a:p>
          <a:p>
            <a:pPr marL="228600" indent="-228600">
              <a:lnSpc>
                <a:spcPct val="112000"/>
              </a:lnSpc>
              <a:spcAft>
                <a:spcPts val="900"/>
              </a:spcAft>
              <a:buSzPct val="100000"/>
              <a:buChar char="•"/>
            </a:pPr>
            <a:r>
              <a:rPr lang="en-US" sz="1700" dirty="0">
                <a:solidFill>
                  <a:srgbClr val="1F2430"/>
                </a:solidFill>
                <a:latin typeface="Calibri" pitchFamily="34" charset="0"/>
                <a:ea typeface="Calibri" pitchFamily="34" charset="-122"/>
                <a:cs typeface="Calibri" pitchFamily="34" charset="-120"/>
              </a:rPr>
              <a:t>Jacob Riis's photographs and writings, including "How the Other Half Lives," exposed immigrant living conditions, prompting both sympathy and nativist fears.</a:t>
            </a:r>
            <a:endParaRPr lang="en-US" sz="17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101</a:t>
            </a:r>
            <a:endParaRPr lang="en-US" sz="9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1">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B22234"/>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B22234"/>
                </a:solidFill>
                <a:latin typeface="Trebuchet MS" pitchFamily="34" charset="0"/>
                <a:ea typeface="Trebuchet MS" pitchFamily="34" charset="-122"/>
                <a:cs typeface="Trebuchet MS" pitchFamily="34" charset="-120"/>
              </a:rPr>
              <a:t>US.07 · PEOPLE WHO SHAPED THE ERA</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F3A5F"/>
                </a:solidFill>
                <a:latin typeface="Georgia" pitchFamily="34" charset="0"/>
                <a:ea typeface="Georgia" pitchFamily="34" charset="-122"/>
                <a:cs typeface="Georgia" pitchFamily="34" charset="-120"/>
              </a:rPr>
              <a:t>Key Figure</a:t>
            </a:r>
            <a:endParaRPr lang="en-US" sz="3000" dirty="0"/>
          </a:p>
        </p:txBody>
      </p:sp>
      <p:sp>
        <p:nvSpPr>
          <p:cNvPr id="5" name="Shape 3"/>
          <p:cNvSpPr/>
          <p:nvPr/>
        </p:nvSpPr>
        <p:spPr>
          <a:xfrm>
            <a:off x="548640" y="1627632"/>
            <a:ext cx="11064240" cy="4114800"/>
          </a:xfrm>
          <a:prstGeom prst="rect">
            <a:avLst/>
          </a:prstGeom>
          <a:solidFill>
            <a:srgbClr val="FFFFFF"/>
          </a:solidFill>
          <a:ln w="12700">
            <a:solidFill>
              <a:srgbClr val="DAD3C2"/>
            </a:solidFill>
            <a:prstDash val="solid"/>
          </a:ln>
        </p:spPr>
        <p:txBody>
          <a:bodyPr/>
          <a:p/>
        </p:txBody>
      </p:sp>
      <p:sp>
        <p:nvSpPr>
          <p:cNvPr id="6" name="Shape 4"/>
          <p:cNvSpPr/>
          <p:nvPr/>
        </p:nvSpPr>
        <p:spPr>
          <a:xfrm>
            <a:off x="548640" y="1627632"/>
            <a:ext cx="11064240" cy="868680"/>
          </a:xfrm>
          <a:prstGeom prst="rect">
            <a:avLst/>
          </a:prstGeom>
          <a:solidFill>
            <a:srgbClr val="1F3A5F"/>
          </a:solidFill>
          <a:ln/>
        </p:spPr>
        <p:txBody>
          <a:bodyPr/>
          <a:p/>
        </p:txBody>
      </p:sp>
      <p:sp>
        <p:nvSpPr>
          <p:cNvPr id="7" name="Text 5"/>
          <p:cNvSpPr/>
          <p:nvPr/>
        </p:nvSpPr>
        <p:spPr>
          <a:xfrm>
            <a:off x="667512" y="1627632"/>
            <a:ext cx="10826496" cy="630936"/>
          </a:xfrm>
          <a:prstGeom prst="rect">
            <a:avLst/>
          </a:prstGeom>
          <a:noFill/>
          <a:ln/>
        </p:spPr>
        <p:txBody>
          <a:bodyPr wrap="square" rtlCol="0" anchor="ctr">
            <a:normAutofit/>
          </a:bodyPr>
          <a:lstStyle/>
          <a:p>
            <a:pPr indent="0" marL="0">
              <a:lnSpc>
                <a:spcPct val="95000"/>
              </a:lnSpc>
              <a:buNone/>
            </a:pPr>
            <a:r>
              <a:rPr lang="en-US" sz="1800" b="1" dirty="0">
                <a:solidFill>
                  <a:srgbClr val="FFFFFF"/>
                </a:solidFill>
                <a:latin typeface="Georgia" pitchFamily="34" charset="0"/>
                <a:ea typeface="Georgia" pitchFamily="34" charset="-122"/>
                <a:cs typeface="Georgia" pitchFamily="34" charset="-120"/>
              </a:rPr>
              <a:t>Jane Addams</a:t>
            </a:r>
            <a:endParaRPr lang="en-US" sz="1800" dirty="0"/>
          </a:p>
        </p:txBody>
      </p:sp>
      <p:sp>
        <p:nvSpPr>
          <p:cNvPr id="8" name="Text 6"/>
          <p:cNvSpPr/>
          <p:nvPr/>
        </p:nvSpPr>
        <p:spPr>
          <a:xfrm>
            <a:off x="667512" y="2221992"/>
            <a:ext cx="10826496" cy="274320"/>
          </a:xfrm>
          <a:prstGeom prst="rect">
            <a:avLst/>
          </a:prstGeom>
          <a:noFill/>
          <a:ln/>
        </p:spPr>
        <p:txBody>
          <a:bodyPr wrap="square" rtlCol="0" anchor="ctr">
            <a:normAutofit/>
          </a:bodyPr>
          <a:lstStyle/>
          <a:p>
            <a:pPr indent="0" marL="0">
              <a:buNone/>
            </a:pPr>
            <a:r>
              <a:rPr lang="en-US" sz="1100" dirty="0">
                <a:solidFill>
                  <a:srgbClr val="F9A825"/>
                </a:solidFill>
                <a:latin typeface="Trebuchet MS" pitchFamily="34" charset="0"/>
                <a:ea typeface="Trebuchet MS" pitchFamily="34" charset="-122"/>
                <a:cs typeface="Trebuchet MS" pitchFamily="34" charset="-120"/>
              </a:rPr>
              <a:t>Social Worker · Settlement House Founder</a:t>
            </a:r>
            <a:endParaRPr lang="en-US" sz="1100" dirty="0"/>
          </a:p>
        </p:txBody>
      </p:sp>
      <p:sp>
        <p:nvSpPr>
          <p:cNvPr id="9" name="Text 7"/>
          <p:cNvSpPr/>
          <p:nvPr/>
        </p:nvSpPr>
        <p:spPr>
          <a:xfrm>
            <a:off x="694944" y="2606040"/>
            <a:ext cx="10771632" cy="2542032"/>
          </a:xfrm>
          <a:prstGeom prst="rect">
            <a:avLst/>
          </a:prstGeom>
          <a:noFill/>
          <a:ln/>
        </p:spPr>
        <p:txBody>
          <a:bodyPr wrap="square" rtlCol="0" anchor="ctr"/>
          <a:lstStyle/>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Co-founded Hull House, the most influential settlement house in America</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First American woman to win the Nobel Peace Prize (1931)</a:t>
            </a:r>
            <a:endParaRPr lang="en-US" sz="1300" dirty="0"/>
          </a:p>
          <a:p>
            <a:pPr marL="152400" indent="-152400">
              <a:lnSpc>
                <a:spcPct val="105000"/>
              </a:lnSpc>
              <a:spcAft>
                <a:spcPts val="600"/>
              </a:spcAft>
              <a:buSzPct val="100000"/>
              <a:buChar char="•"/>
            </a:pPr>
            <a:r>
              <a:rPr lang="en-US" sz="1300" dirty="0">
                <a:solidFill>
                  <a:srgbClr val="1F2430"/>
                </a:solidFill>
                <a:latin typeface="Calibri" pitchFamily="34" charset="0"/>
                <a:ea typeface="Calibri" pitchFamily="34" charset="-122"/>
                <a:cs typeface="Calibri" pitchFamily="34" charset="-120"/>
              </a:rPr>
              <a:t>Founded the Women's International League for Peace and Freedom</a:t>
            </a:r>
            <a:endParaRPr lang="en-US" sz="1300" dirty="0"/>
          </a:p>
        </p:txBody>
      </p:sp>
      <p:sp>
        <p:nvSpPr>
          <p:cNvPr id="10" name="Shape 8"/>
          <p:cNvSpPr/>
          <p:nvPr/>
        </p:nvSpPr>
        <p:spPr>
          <a:xfrm>
            <a:off x="667512" y="5148072"/>
            <a:ext cx="10826496" cy="512064"/>
          </a:xfrm>
          <a:prstGeom prst="roundRect">
            <a:avLst>
              <a:gd name="adj" fmla="val 10714"/>
            </a:avLst>
          </a:prstGeom>
          <a:solidFill>
            <a:srgbClr val="FBEFD0"/>
          </a:solidFill>
          <a:ln w="15875">
            <a:solidFill>
              <a:srgbClr val="C9A227"/>
            </a:solidFill>
            <a:prstDash val="solid"/>
          </a:ln>
        </p:spPr>
        <p:txBody>
          <a:bodyPr/>
          <a:p/>
        </p:txBody>
      </p:sp>
      <p:sp>
        <p:nvSpPr>
          <p:cNvPr id="11" name="Text 9"/>
          <p:cNvSpPr/>
          <p:nvPr/>
        </p:nvSpPr>
        <p:spPr>
          <a:xfrm>
            <a:off x="749808" y="5175504"/>
            <a:ext cx="10680192" cy="457200"/>
          </a:xfrm>
          <a:prstGeom prst="rect">
            <a:avLst/>
          </a:prstGeom>
          <a:noFill/>
          <a:ln/>
        </p:spPr>
        <p:txBody>
          <a:bodyPr wrap="square" rtlCol="0" anchor="ctr">
            <a:normAutofit/>
          </a:bodyPr>
          <a:lstStyle/>
          <a:p>
            <a:pPr indent="0" marL="0">
              <a:lnSpc>
                <a:spcPct val="92000"/>
              </a:lnSpc>
              <a:buNone/>
            </a:pPr>
            <a:r>
              <a:rPr lang="en-US" sz="900" b="1" spc="100" kern="0" dirty="0">
                <a:solidFill>
                  <a:srgbClr val="B22234"/>
                </a:solidFill>
                <a:latin typeface="Trebuchet MS" pitchFamily="34" charset="0"/>
                <a:ea typeface="Trebuchet MS" pitchFamily="34" charset="-122"/>
                <a:cs typeface="Trebuchet MS" pitchFamily="34" charset="-120"/>
              </a:rPr>
              <a:t>STRATEGY  </a:t>
            </a:r>
            <a:pPr indent="0" marL="0">
              <a:lnSpc>
                <a:spcPct val="92000"/>
              </a:lnSpc>
              <a:buNone/>
            </a:pPr>
            <a:r>
              <a:rPr lang="en-US" sz="1100" b="1" dirty="0">
                <a:solidFill>
                  <a:srgbClr val="1F3A5F"/>
                </a:solidFill>
                <a:latin typeface="Calibri" pitchFamily="34" charset="0"/>
                <a:ea typeface="Calibri" pitchFamily="34" charset="-122"/>
                <a:cs typeface="Calibri" pitchFamily="34" charset="-120"/>
              </a:rPr>
              <a:t>Settlement-house reform</a:t>
            </a:r>
            <a:endParaRPr lang="en-US" sz="8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102</a:t>
            </a:r>
            <a:endParaRPr lang="en-US" sz="9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2">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002858"/>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002858"/>
                </a:solidFill>
                <a:latin typeface="Trebuchet MS" pitchFamily="34" charset="0"/>
                <a:ea typeface="Trebuchet MS" pitchFamily="34" charset="-122"/>
                <a:cs typeface="Trebuchet MS" pitchFamily="34" charset="-120"/>
              </a:rPr>
              <a:t>US.07 · PRIMARY SOURCE ANALYSIS</a:t>
            </a:r>
            <a:endParaRPr lang="en-US" sz="1200" dirty="0"/>
          </a:p>
        </p:txBody>
      </p:sp>
      <p:sp>
        <p:nvSpPr>
          <p:cNvPr id="4" name="Text 2"/>
          <p:cNvSpPr/>
          <p:nvPr/>
        </p:nvSpPr>
        <p:spPr>
          <a:xfrm>
            <a:off x="548640" y="731520"/>
            <a:ext cx="8686800" cy="640080"/>
          </a:xfrm>
          <a:prstGeom prst="rect">
            <a:avLst/>
          </a:prstGeom>
          <a:noFill/>
          <a:ln/>
        </p:spPr>
        <p:txBody>
          <a:bodyPr wrap="square" rtlCol="0" anchor="t"/>
          <a:lstStyle/>
          <a:p>
            <a:pPr indent="0" marL="0">
              <a:buNone/>
            </a:pPr>
            <a:r>
              <a:rPr lang="en-US" sz="2500" b="1" dirty="0">
                <a:solidFill>
                  <a:srgbClr val="1F3A5F"/>
                </a:solidFill>
                <a:latin typeface="Georgia" pitchFamily="34" charset="0"/>
                <a:ea typeface="Georgia" pitchFamily="34" charset="-122"/>
                <a:cs typeface="Georgia" pitchFamily="34" charset="-120"/>
              </a:rPr>
              <a:t>Chinese Exclusion Act</a:t>
            </a:r>
            <a:endParaRPr lang="en-US" sz="2500" dirty="0"/>
          </a:p>
        </p:txBody>
      </p:sp>
      <p:sp>
        <p:nvSpPr>
          <p:cNvPr id="5" name="Shape 3"/>
          <p:cNvSpPr/>
          <p:nvPr/>
        </p:nvSpPr>
        <p:spPr>
          <a:xfrm>
            <a:off x="9418320" y="777240"/>
            <a:ext cx="2194560" cy="457200"/>
          </a:xfrm>
          <a:prstGeom prst="roundRect">
            <a:avLst>
              <a:gd name="adj" fmla="val 20000"/>
            </a:avLst>
          </a:prstGeom>
          <a:solidFill>
            <a:srgbClr val="002858"/>
          </a:solidFill>
          <a:ln/>
        </p:spPr>
        <p:txBody>
          <a:bodyPr/>
          <a:p/>
        </p:txBody>
      </p:sp>
      <p:sp>
        <p:nvSpPr>
          <p:cNvPr id="6" name="Text 4"/>
          <p:cNvSpPr/>
          <p:nvPr/>
        </p:nvSpPr>
        <p:spPr>
          <a:xfrm>
            <a:off x="9418320" y="777240"/>
            <a:ext cx="219456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Close Reading</a:t>
            </a:r>
            <a:endParaRPr lang="en-US" sz="1200" dirty="0"/>
          </a:p>
        </p:txBody>
      </p:sp>
      <p:sp>
        <p:nvSpPr>
          <p:cNvPr id="7" name="Text 5"/>
          <p:cNvSpPr/>
          <p:nvPr/>
        </p:nvSpPr>
        <p:spPr>
          <a:xfrm>
            <a:off x="548640" y="1335024"/>
            <a:ext cx="10058400" cy="274320"/>
          </a:xfrm>
          <a:prstGeom prst="rect">
            <a:avLst/>
          </a:prstGeom>
          <a:noFill/>
          <a:ln/>
        </p:spPr>
        <p:txBody>
          <a:bodyPr wrap="square" rtlCol="0" anchor="ctr"/>
          <a:lstStyle/>
          <a:p>
            <a:pPr indent="0" marL="0">
              <a:buNone/>
            </a:pPr>
            <a:r>
              <a:rPr lang="en-US" sz="1200" i="1" dirty="0">
                <a:solidFill>
                  <a:srgbClr val="5C6470"/>
                </a:solidFill>
                <a:latin typeface="Calibri" pitchFamily="34" charset="0"/>
                <a:ea typeface="Calibri" pitchFamily="34" charset="-122"/>
                <a:cs typeface="Calibri" pitchFamily="34" charset="-120"/>
              </a:rPr>
              <a:t>U.S. Congress  ·  May 6, 1882 (22 Stat. 58)</a:t>
            </a:r>
            <a:endParaRPr lang="en-US" sz="1200" dirty="0"/>
          </a:p>
        </p:txBody>
      </p:sp>
      <p:sp>
        <p:nvSpPr>
          <p:cNvPr id="8" name="Shape 6"/>
          <p:cNvSpPr/>
          <p:nvPr/>
        </p:nvSpPr>
        <p:spPr>
          <a:xfrm>
            <a:off x="548640" y="1737360"/>
            <a:ext cx="6858000" cy="3246120"/>
          </a:xfrm>
          <a:prstGeom prst="rect">
            <a:avLst/>
          </a:prstGeom>
          <a:solidFill>
            <a:srgbClr val="FFFFFF"/>
          </a:solidFill>
          <a:ln w="12700">
            <a:solidFill>
              <a:srgbClr val="DAD3C2"/>
            </a:solidFill>
            <a:prstDash val="solid"/>
          </a:ln>
        </p:spPr>
        <p:txBody>
          <a:bodyPr/>
          <a:p/>
        </p:txBody>
      </p:sp>
      <p:sp>
        <p:nvSpPr>
          <p:cNvPr id="9" name="Shape 7"/>
          <p:cNvSpPr/>
          <p:nvPr/>
        </p:nvSpPr>
        <p:spPr>
          <a:xfrm>
            <a:off x="548640" y="1737360"/>
            <a:ext cx="109728" cy="3246120"/>
          </a:xfrm>
          <a:prstGeom prst="rect">
            <a:avLst/>
          </a:prstGeom>
          <a:solidFill>
            <a:srgbClr val="C9A227"/>
          </a:solidFill>
          <a:ln/>
        </p:spPr>
        <p:txBody>
          <a:bodyPr/>
          <a:p/>
        </p:txBody>
      </p:sp>
      <p:sp>
        <p:nvSpPr>
          <p:cNvPr id="10" name="Text 8"/>
          <p:cNvSpPr/>
          <p:nvPr/>
        </p:nvSpPr>
        <p:spPr>
          <a:xfrm>
            <a:off x="868680" y="1938528"/>
            <a:ext cx="6355080" cy="2862072"/>
          </a:xfrm>
          <a:prstGeom prst="rect">
            <a:avLst/>
          </a:prstGeom>
          <a:noFill/>
          <a:ln/>
        </p:spPr>
        <p:txBody>
          <a:bodyPr wrap="square" rtlCol="0" anchor="t"/>
          <a:lstStyle/>
          <a:p>
            <a:pPr indent="0" marL="0">
              <a:lnSpc>
                <a:spcPct val="114000"/>
              </a:lnSpc>
              <a:buNone/>
            </a:pPr>
            <a:r>
              <a:rPr lang="en-US" sz="1300" i="1" dirty="0">
                <a:solidFill>
                  <a:srgbClr val="1F2430"/>
                </a:solidFill>
                <a:latin typeface="Georgia" pitchFamily="34" charset="0"/>
                <a:ea typeface="Georgia" pitchFamily="34" charset="-122"/>
                <a:cs typeface="Georgia" pitchFamily="34" charset="-120"/>
              </a:rPr>
              <a:t>"The coming of Chinese laborers to this country endangers the good order of certain localities within the territory thereof: Therefore... the coming of Chinese laborers to the United States be, and the same is hereby, suspended; and during such suspension it shall not be lawful for any Chinese laborer to come, or having so come after the expiration of said ninety days, to remain within the United States."</a:t>
            </a:r>
            <a:endParaRPr lang="en-US" sz="1300" dirty="0"/>
          </a:p>
        </p:txBody>
      </p:sp>
      <p:sp>
        <p:nvSpPr>
          <p:cNvPr id="11" name="Shape 9"/>
          <p:cNvSpPr/>
          <p:nvPr/>
        </p:nvSpPr>
        <p:spPr>
          <a:xfrm>
            <a:off x="7589520" y="1737360"/>
            <a:ext cx="4023360" cy="1783080"/>
          </a:xfrm>
          <a:prstGeom prst="roundRect">
            <a:avLst>
              <a:gd name="adj" fmla="val 4103"/>
            </a:avLst>
          </a:prstGeom>
          <a:solidFill>
            <a:srgbClr val="1F3A5F"/>
          </a:solidFill>
          <a:ln/>
        </p:spPr>
        <p:txBody>
          <a:bodyPr/>
          <a:p/>
        </p:txBody>
      </p:sp>
      <p:sp>
        <p:nvSpPr>
          <p:cNvPr id="12" name="Text 10"/>
          <p:cNvSpPr/>
          <p:nvPr/>
        </p:nvSpPr>
        <p:spPr>
          <a:xfrm>
            <a:off x="7818120" y="1856232"/>
            <a:ext cx="3657600" cy="274320"/>
          </a:xfrm>
          <a:prstGeom prst="rect">
            <a:avLst/>
          </a:prstGeom>
          <a:noFill/>
          <a:ln/>
        </p:spPr>
        <p:txBody>
          <a:bodyPr wrap="square" rtlCol="0" anchor="ctr"/>
          <a:lstStyle/>
          <a:p>
            <a:pPr indent="0" marL="0">
              <a:buNone/>
            </a:pPr>
            <a:r>
              <a:rPr lang="en-US" sz="1100" b="1" spc="200" kern="0" dirty="0">
                <a:solidFill>
                  <a:srgbClr val="F9A825"/>
                </a:solidFill>
                <a:latin typeface="Trebuchet MS" pitchFamily="34" charset="0"/>
                <a:ea typeface="Trebuchet MS" pitchFamily="34" charset="-122"/>
                <a:cs typeface="Trebuchet MS" pitchFamily="34" charset="-120"/>
              </a:rPr>
              <a:t>CONTEXT</a:t>
            </a:r>
            <a:endParaRPr lang="en-US" sz="1100" dirty="0"/>
          </a:p>
        </p:txBody>
      </p:sp>
      <p:sp>
        <p:nvSpPr>
          <p:cNvPr id="13" name="Text 11"/>
          <p:cNvSpPr/>
          <p:nvPr/>
        </p:nvSpPr>
        <p:spPr>
          <a:xfrm>
            <a:off x="7818120" y="2139696"/>
            <a:ext cx="3611880" cy="1271016"/>
          </a:xfrm>
          <a:prstGeom prst="rect">
            <a:avLst/>
          </a:prstGeom>
          <a:noFill/>
          <a:ln/>
        </p:spPr>
        <p:txBody>
          <a:bodyPr wrap="square" rtlCol="0" anchor="t"/>
          <a:lstStyle/>
          <a:p>
            <a:pPr indent="0" marL="0">
              <a:lnSpc>
                <a:spcPct val="98000"/>
              </a:lnSpc>
              <a:buNone/>
            </a:pPr>
            <a:r>
              <a:rPr lang="en-US" sz="900" dirty="0">
                <a:solidFill>
                  <a:srgbClr val="FFFFFF"/>
                </a:solidFill>
                <a:latin typeface="Calibri" pitchFamily="34" charset="0"/>
                <a:ea typeface="Calibri" pitchFamily="34" charset="-122"/>
                <a:cs typeface="Calibri" pitchFamily="34" charset="-120"/>
              </a:rPr>
              <a:t>Chinese immigrants had played an essential role in building the transcontinental railroad and developing the American West, yet they faced intense racial hostility from white workers and politicians. Anti-Chinese riots broke out in cities across the West, and nativist groups pressured Congress to restrict Chinese immigration. The Chinese Exclusion Act of 1882 was the first major federal law to restrict immigration based on race and nationality, banning Chinese laborers from entering the country and barring Chinese immigrants from ever becoming U.S. citizens. It would not be fully repealed until 1943.</a:t>
            </a:r>
            <a:endParaRPr lang="en-US" sz="850" dirty="0"/>
          </a:p>
        </p:txBody>
      </p:sp>
      <p:sp>
        <p:nvSpPr>
          <p:cNvPr id="14" name="Shape 12"/>
          <p:cNvSpPr/>
          <p:nvPr/>
        </p:nvSpPr>
        <p:spPr>
          <a:xfrm>
            <a:off x="7589520" y="3703320"/>
            <a:ext cx="4023360" cy="1280160"/>
          </a:xfrm>
          <a:prstGeom prst="roundRect">
            <a:avLst>
              <a:gd name="adj" fmla="val 5714"/>
            </a:avLst>
          </a:prstGeom>
          <a:solidFill>
            <a:srgbClr val="C9A227"/>
          </a:solidFill>
          <a:ln/>
        </p:spPr>
        <p:txBody>
          <a:bodyPr/>
          <a:p/>
        </p:txBody>
      </p:sp>
      <p:sp>
        <p:nvSpPr>
          <p:cNvPr id="15" name="Text 13"/>
          <p:cNvSpPr/>
          <p:nvPr/>
        </p:nvSpPr>
        <p:spPr>
          <a:xfrm>
            <a:off x="7818120" y="3822192"/>
            <a:ext cx="3657600" cy="274320"/>
          </a:xfrm>
          <a:prstGeom prst="rect">
            <a:avLst/>
          </a:prstGeom>
          <a:noFill/>
          <a:ln/>
        </p:spPr>
        <p:txBody>
          <a:bodyPr wrap="square" rtlCol="0" anchor="ctr"/>
          <a:lstStyle/>
          <a:p>
            <a:pPr indent="0" marL="0">
              <a:buNone/>
            </a:pPr>
            <a:r>
              <a:rPr lang="en-US" sz="1100" b="1" spc="200" kern="0" dirty="0">
                <a:solidFill>
                  <a:srgbClr val="1F3A5F"/>
                </a:solidFill>
                <a:latin typeface="Trebuchet MS" pitchFamily="34" charset="0"/>
                <a:ea typeface="Trebuchet MS" pitchFamily="34" charset="-122"/>
                <a:cs typeface="Trebuchet MS" pitchFamily="34" charset="-120"/>
              </a:rPr>
              <a:t>ANALYZE</a:t>
            </a:r>
            <a:endParaRPr lang="en-US" sz="1100" dirty="0"/>
          </a:p>
        </p:txBody>
      </p:sp>
      <p:sp>
        <p:nvSpPr>
          <p:cNvPr id="16" name="Text 14"/>
          <p:cNvSpPr/>
          <p:nvPr/>
        </p:nvSpPr>
        <p:spPr>
          <a:xfrm>
            <a:off x="7818120" y="4123944"/>
            <a:ext cx="3611880" cy="749808"/>
          </a:xfrm>
          <a:prstGeom prst="rect">
            <a:avLst/>
          </a:prstGeom>
          <a:noFill/>
          <a:ln/>
        </p:spPr>
        <p:txBody>
          <a:bodyPr wrap="square" rtlCol="0" anchor="t"/>
          <a:lstStyle/>
          <a:p>
            <a:pPr indent="0" marL="0">
              <a:lnSpc>
                <a:spcPct val="103000"/>
              </a:lnSpc>
              <a:buNone/>
            </a:pPr>
            <a:r>
              <a:rPr lang="en-US" sz="1250" b="1" dirty="0">
                <a:solidFill>
                  <a:srgbClr val="1F3A5F"/>
                </a:solidFill>
                <a:latin typeface="Calibri" pitchFamily="34" charset="0"/>
                <a:ea typeface="Calibri" pitchFamily="34" charset="-122"/>
                <a:cs typeface="Calibri" pitchFamily="34" charset="-120"/>
              </a:rPr>
              <a:t>What was the stated justification for the Chinese Exclusion Act?</a:t>
            </a:r>
            <a:endParaRPr lang="en-US" sz="1250" dirty="0"/>
          </a:p>
        </p:txBody>
      </p:sp>
      <p:sp>
        <p:nvSpPr>
          <p:cNvPr id="17" name="Shape 15"/>
          <p:cNvSpPr/>
          <p:nvPr/>
        </p:nvSpPr>
        <p:spPr>
          <a:xfrm>
            <a:off x="548640" y="5120640"/>
            <a:ext cx="11064240" cy="841248"/>
          </a:xfrm>
          <a:prstGeom prst="rect">
            <a:avLst/>
          </a:prstGeom>
          <a:solidFill>
            <a:srgbClr val="FFFFFF"/>
          </a:solidFill>
          <a:ln w="15875">
            <a:solidFill>
              <a:srgbClr val="002858"/>
            </a:solidFill>
            <a:prstDash val="solid"/>
          </a:ln>
        </p:spPr>
        <p:txBody>
          <a:bodyPr/>
          <a:p/>
        </p:txBody>
      </p:sp>
      <p:sp>
        <p:nvSpPr>
          <p:cNvPr id="18" name="Shape 16"/>
          <p:cNvSpPr/>
          <p:nvPr/>
        </p:nvSpPr>
        <p:spPr>
          <a:xfrm>
            <a:off x="548640" y="5120640"/>
            <a:ext cx="2423160" cy="841248"/>
          </a:xfrm>
          <a:prstGeom prst="rect">
            <a:avLst/>
          </a:prstGeom>
          <a:solidFill>
            <a:srgbClr val="002858"/>
          </a:solidFill>
          <a:ln/>
        </p:spPr>
        <p:txBody>
          <a:bodyPr/>
          <a:p/>
        </p:txBody>
      </p:sp>
      <p:sp>
        <p:nvSpPr>
          <p:cNvPr id="19" name="Text 17"/>
          <p:cNvSpPr/>
          <p:nvPr/>
        </p:nvSpPr>
        <p:spPr>
          <a:xfrm>
            <a:off x="658368" y="5239512"/>
            <a:ext cx="2194560" cy="274320"/>
          </a:xfrm>
          <a:prstGeom prst="rect">
            <a:avLst/>
          </a:prstGeom>
          <a:noFill/>
          <a:ln/>
        </p:spPr>
        <p:txBody>
          <a:bodyPr wrap="square" rtlCol="0" anchor="ctr"/>
          <a:lstStyle/>
          <a:p>
            <a:pPr indent="0" marL="0">
              <a:buNone/>
            </a:pPr>
            <a:r>
              <a:rPr lang="en-US" sz="1250" b="1" spc="100" kern="0" dirty="0">
                <a:solidFill>
                  <a:srgbClr val="FFFFFF"/>
                </a:solidFill>
                <a:latin typeface="Trebuchet MS" pitchFamily="34" charset="0"/>
                <a:ea typeface="Trebuchet MS" pitchFamily="34" charset="-122"/>
                <a:cs typeface="Trebuchet MS" pitchFamily="34" charset="-120"/>
              </a:rPr>
              <a:t>SOURCE IT</a:t>
            </a:r>
            <a:endParaRPr lang="en-US" sz="1250" dirty="0"/>
          </a:p>
        </p:txBody>
      </p:sp>
      <p:sp>
        <p:nvSpPr>
          <p:cNvPr id="20" name="Text 18"/>
          <p:cNvSpPr/>
          <p:nvPr/>
        </p:nvSpPr>
        <p:spPr>
          <a:xfrm>
            <a:off x="658368" y="5486400"/>
            <a:ext cx="2194560" cy="274320"/>
          </a:xfrm>
          <a:prstGeom prst="rect">
            <a:avLst/>
          </a:prstGeom>
          <a:noFill/>
          <a:ln/>
        </p:spPr>
        <p:txBody>
          <a:bodyPr wrap="square" rtlCol="0" anchor="ctr"/>
          <a:lstStyle/>
          <a:p>
            <a:pPr indent="0" marL="0">
              <a:buNone/>
            </a:pPr>
            <a:r>
              <a:rPr lang="en-US" sz="1250" b="1" spc="100" kern="0" dirty="0">
                <a:solidFill>
                  <a:srgbClr val="F9A825"/>
                </a:solidFill>
                <a:latin typeface="Trebuchet MS" pitchFamily="34" charset="0"/>
                <a:ea typeface="Trebuchet MS" pitchFamily="34" charset="-122"/>
                <a:cs typeface="Trebuchet MS" pitchFamily="34" charset="-120"/>
              </a:rPr>
              <a:t>FIRST</a:t>
            </a:r>
            <a:endParaRPr lang="en-US" sz="1250" dirty="0"/>
          </a:p>
        </p:txBody>
      </p:sp>
      <p:sp>
        <p:nvSpPr>
          <p:cNvPr id="21" name="Text 19"/>
          <p:cNvSpPr/>
          <p:nvPr/>
        </p:nvSpPr>
        <p:spPr>
          <a:xfrm>
            <a:off x="658368" y="5724144"/>
            <a:ext cx="2240280" cy="201168"/>
          </a:xfrm>
          <a:prstGeom prst="rect">
            <a:avLst/>
          </a:prstGeom>
          <a:noFill/>
          <a:ln/>
        </p:spPr>
        <p:txBody>
          <a:bodyPr wrap="square" rtlCol="0" anchor="ctr"/>
          <a:lstStyle/>
          <a:p>
            <a:pPr indent="0" marL="0">
              <a:buNone/>
            </a:pPr>
            <a:r>
              <a:rPr lang="en-US" sz="900" i="1" dirty="0">
                <a:solidFill>
                  <a:srgbClr val="C7D4E0"/>
                </a:solidFill>
                <a:latin typeface="Calibri" pitchFamily="34" charset="0"/>
                <a:ea typeface="Calibri" pitchFamily="34" charset="-122"/>
                <a:cs typeface="Calibri" pitchFamily="34" charset="-120"/>
              </a:rPr>
              <a:t>SSP.02 · before you interpret</a:t>
            </a:r>
            <a:endParaRPr lang="en-US" sz="750" dirty="0"/>
          </a:p>
        </p:txBody>
      </p:sp>
      <p:sp>
        <p:nvSpPr>
          <p:cNvPr id="22" name="Text 20"/>
          <p:cNvSpPr/>
          <p:nvPr/>
        </p:nvSpPr>
        <p:spPr>
          <a:xfrm>
            <a:off x="315468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WHO made it?</a:t>
            </a:r>
            <a:endParaRPr lang="en-US" sz="900" dirty="0"/>
          </a:p>
        </p:txBody>
      </p:sp>
      <p:sp>
        <p:nvSpPr>
          <p:cNvPr id="23" name="Text 21"/>
          <p:cNvSpPr/>
          <p:nvPr/>
        </p:nvSpPr>
        <p:spPr>
          <a:xfrm>
            <a:off x="3154680" y="5431536"/>
            <a:ext cx="2743200" cy="457200"/>
          </a:xfrm>
          <a:prstGeom prst="rect">
            <a:avLst/>
          </a:prstGeom>
          <a:noFill/>
          <a:ln/>
        </p:spPr>
        <p:txBody>
          <a:bodyPr wrap="square" rtlCol="0" anchor="t"/>
          <a:lstStyle/>
          <a:p>
            <a:pPr indent="0" marL="0">
              <a:lnSpc>
                <a:spcPct val="98000"/>
              </a:lnSpc>
              <a:buNone/>
            </a:pPr>
            <a:r>
              <a:rPr lang="en-US" sz="950" dirty="0">
                <a:solidFill>
                  <a:srgbClr val="1F2430"/>
                </a:solidFill>
                <a:latin typeface="Calibri" pitchFamily="34" charset="0"/>
                <a:ea typeface="Calibri" pitchFamily="34" charset="-122"/>
                <a:cs typeface="Calibri" pitchFamily="34" charset="-120"/>
              </a:rPr>
              <a:t>U.S. Congress (the Chinese Exclusion Act).</a:t>
            </a:r>
            <a:endParaRPr lang="en-US" sz="950" dirty="0"/>
          </a:p>
        </p:txBody>
      </p:sp>
      <p:sp>
        <p:nvSpPr>
          <p:cNvPr id="24" name="Text 22"/>
          <p:cNvSpPr/>
          <p:nvPr/>
        </p:nvSpPr>
        <p:spPr>
          <a:xfrm>
            <a:off x="594360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WHEN?</a:t>
            </a:r>
            <a:endParaRPr lang="en-US" sz="900" dirty="0"/>
          </a:p>
        </p:txBody>
      </p:sp>
      <p:sp>
        <p:nvSpPr>
          <p:cNvPr id="25" name="Text 23"/>
          <p:cNvSpPr/>
          <p:nvPr/>
        </p:nvSpPr>
        <p:spPr>
          <a:xfrm>
            <a:off x="5943600" y="5431536"/>
            <a:ext cx="2743200" cy="457200"/>
          </a:xfrm>
          <a:prstGeom prst="rect">
            <a:avLst/>
          </a:prstGeom>
          <a:noFill/>
          <a:ln/>
        </p:spPr>
        <p:txBody>
          <a:bodyPr wrap="square" rtlCol="0" anchor="t"/>
          <a:lstStyle/>
          <a:p>
            <a:pPr indent="0" marL="0">
              <a:lnSpc>
                <a:spcPct val="98000"/>
              </a:lnSpc>
              <a:buNone/>
            </a:pPr>
            <a:r>
              <a:rPr lang="en-US" sz="950" dirty="0">
                <a:solidFill>
                  <a:srgbClr val="1F2430"/>
                </a:solidFill>
                <a:latin typeface="Calibri" pitchFamily="34" charset="0"/>
                <a:ea typeface="Calibri" pitchFamily="34" charset="-122"/>
                <a:cs typeface="Calibri" pitchFamily="34" charset="-120"/>
              </a:rPr>
              <a:t>1882.</a:t>
            </a:r>
            <a:endParaRPr lang="en-US" sz="950" dirty="0"/>
          </a:p>
        </p:txBody>
      </p:sp>
      <p:sp>
        <p:nvSpPr>
          <p:cNvPr id="26" name="Text 24"/>
          <p:cNvSpPr/>
          <p:nvPr/>
        </p:nvSpPr>
        <p:spPr>
          <a:xfrm>
            <a:off x="8732520" y="5212080"/>
            <a:ext cx="2743200" cy="219456"/>
          </a:xfrm>
          <a:prstGeom prst="rect">
            <a:avLst/>
          </a:prstGeom>
          <a:noFill/>
          <a:ln/>
        </p:spPr>
        <p:txBody>
          <a:bodyPr wrap="square" rtlCol="0" anchor="ctr"/>
          <a:lstStyle/>
          <a:p>
            <a:pPr indent="0" marL="0">
              <a:buNone/>
            </a:pPr>
            <a:r>
              <a:rPr lang="en-US" sz="900" b="1" dirty="0">
                <a:solidFill>
                  <a:srgbClr val="002858"/>
                </a:solidFill>
                <a:latin typeface="Trebuchet MS" pitchFamily="34" charset="0"/>
                <a:ea typeface="Trebuchet MS" pitchFamily="34" charset="-122"/>
                <a:cs typeface="Trebuchet MS" pitchFamily="34" charset="-120"/>
              </a:rPr>
              <a:t>WHY does it matter?</a:t>
            </a:r>
            <a:endParaRPr lang="en-US" sz="900" dirty="0"/>
          </a:p>
        </p:txBody>
      </p:sp>
      <p:sp>
        <p:nvSpPr>
          <p:cNvPr id="27" name="Text 25"/>
          <p:cNvSpPr/>
          <p:nvPr/>
        </p:nvSpPr>
        <p:spPr>
          <a:xfrm>
            <a:off x="8732520" y="5431536"/>
            <a:ext cx="2743200" cy="457200"/>
          </a:xfrm>
          <a:prstGeom prst="rect">
            <a:avLst/>
          </a:prstGeom>
          <a:noFill/>
          <a:ln/>
        </p:spPr>
        <p:txBody>
          <a:bodyPr wrap="square" rtlCol="0" anchor="t"/>
          <a:lstStyle/>
          <a:p>
            <a:pPr indent="0" marL="0">
              <a:lnSpc>
                <a:spcPct val="98000"/>
              </a:lnSpc>
              <a:buNone/>
            </a:pPr>
            <a:r>
              <a:rPr lang="en-US" sz="950" dirty="0">
                <a:solidFill>
                  <a:srgbClr val="1F2430"/>
                </a:solidFill>
                <a:latin typeface="Calibri" pitchFamily="34" charset="0"/>
                <a:ea typeface="Calibri" pitchFamily="34" charset="-122"/>
                <a:cs typeface="Calibri" pitchFamily="34" charset="-120"/>
              </a:rPr>
              <a:t>The first U.S. law to bar an entire nationality — ask whose fears it answered.</a:t>
            </a:r>
            <a:endParaRPr lang="en-US" sz="950" dirty="0"/>
          </a:p>
        </p:txBody>
      </p:sp>
      <p:sp>
        <p:nvSpPr>
          <p:cNvPr id="28" name="Text 26"/>
          <p:cNvSpPr/>
          <p:nvPr/>
        </p:nvSpPr>
        <p:spPr>
          <a:xfrm>
            <a:off x="548640" y="6053328"/>
            <a:ext cx="6858000" cy="274320"/>
          </a:xfrm>
          <a:prstGeom prst="rect">
            <a:avLst/>
          </a:prstGeom>
          <a:noFill/>
          <a:ln/>
        </p:spPr>
        <p:txBody>
          <a:bodyPr wrap="square" rtlCol="0" anchor="ctr"/>
          <a:lstStyle/>
          <a:p>
            <a:pPr algn="l" indent="0" marL="0">
              <a:buNone/>
            </a:pPr>
            <a:r>
              <a:rPr lang="en-US" sz="900" dirty="0">
                <a:solidFill>
                  <a:srgbClr val="5C6470"/>
                </a:solidFill>
                <a:latin typeface="Calibri" pitchFamily="34" charset="0"/>
                <a:ea typeface="Calibri" pitchFamily="34" charset="-122"/>
                <a:cs typeface="Calibri" pitchFamily="34" charset="-120"/>
              </a:rPr>
              <a:t>Source: </a:t>
            </a:r>
            <a:pPr algn="l" indent="0" marL="0">
              <a:buNone/>
            </a:pPr>
            <a:r>
              <a:rPr lang="en-US" sz="900" i="1" u="sng" dirty="0">
                <a:solidFill>
                  <a:srgbClr val="00285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National Archives</a:t>
            </a:r>
            <a:endParaRPr lang="en-US" sz="900" dirty="0"/>
          </a:p>
        </p:txBody>
      </p:sp>
      <p:sp>
        <p:nvSpPr>
          <p:cNvPr id="30" name="Text 27"/>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1" name="Text 2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103</a:t>
            </a:r>
            <a:endParaRPr lang="en-US" sz="9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3">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F3A5F"/>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B22234"/>
                </a:solidFill>
                <a:latin typeface="Trebuchet MS" pitchFamily="34" charset="0"/>
                <a:ea typeface="Trebuchet MS" pitchFamily="34" charset="-122"/>
                <a:cs typeface="Trebuchet MS" pitchFamily="34" charset="-120"/>
              </a:rPr>
              <a:t>US.07 · KEY VOCABULARY</a:t>
            </a:r>
            <a:endParaRPr lang="en-US" sz="1200" dirty="0"/>
          </a:p>
        </p:txBody>
      </p:sp>
      <p:sp>
        <p:nvSpPr>
          <p:cNvPr id="4" name="Text 2"/>
          <p:cNvSpPr/>
          <p:nvPr/>
        </p:nvSpPr>
        <p:spPr>
          <a:xfrm>
            <a:off x="548640" y="731520"/>
            <a:ext cx="10972800" cy="640080"/>
          </a:xfrm>
          <a:prstGeom prst="rect">
            <a:avLst/>
          </a:prstGeom>
          <a:noFill/>
          <a:ln/>
        </p:spPr>
        <p:txBody>
          <a:bodyPr wrap="square" rtlCol="0" anchor="ctr"/>
          <a:lstStyle/>
          <a:p>
            <a:pPr indent="0" marL="0">
              <a:buNone/>
            </a:pPr>
            <a:r>
              <a:rPr lang="en-US" sz="3000" b="1" dirty="0">
                <a:solidFill>
                  <a:srgbClr val="1F3A5F"/>
                </a:solidFill>
                <a:latin typeface="Georgia" pitchFamily="34" charset="0"/>
                <a:ea typeface="Georgia" pitchFamily="34" charset="-122"/>
                <a:cs typeface="Georgia" pitchFamily="34" charset="-120"/>
              </a:rPr>
              <a:t>Word Wall</a:t>
            </a:r>
            <a:endParaRPr lang="en-US" sz="3000" dirty="0"/>
          </a:p>
        </p:txBody>
      </p:sp>
      <p:sp>
        <p:nvSpPr>
          <p:cNvPr id="5" name="Shape 3"/>
          <p:cNvSpPr/>
          <p:nvPr/>
        </p:nvSpPr>
        <p:spPr>
          <a:xfrm>
            <a:off x="548640" y="1645920"/>
            <a:ext cx="5486400" cy="1261872"/>
          </a:xfrm>
          <a:prstGeom prst="rect">
            <a:avLst/>
          </a:prstGeom>
          <a:solidFill>
            <a:srgbClr val="FFFFFF"/>
          </a:solidFill>
          <a:ln w="12700">
            <a:solidFill>
              <a:srgbClr val="DAD3C2"/>
            </a:solidFill>
            <a:prstDash val="solid"/>
          </a:ln>
        </p:spPr>
        <p:txBody>
          <a:bodyPr/>
          <a:p/>
        </p:txBody>
      </p:sp>
      <p:sp>
        <p:nvSpPr>
          <p:cNvPr id="6" name="Shape 4"/>
          <p:cNvSpPr/>
          <p:nvPr/>
        </p:nvSpPr>
        <p:spPr>
          <a:xfrm>
            <a:off x="548640" y="1645920"/>
            <a:ext cx="5486400" cy="676656"/>
          </a:xfrm>
          <a:prstGeom prst="rect">
            <a:avLst/>
          </a:prstGeom>
          <a:solidFill>
            <a:srgbClr val="1F3A5F"/>
          </a:solidFill>
          <a:ln/>
        </p:spPr>
        <p:txBody>
          <a:bodyPr/>
          <a:p/>
        </p:txBody>
      </p:sp>
      <p:sp>
        <p:nvSpPr>
          <p:cNvPr id="7" name="Text 5"/>
          <p:cNvSpPr/>
          <p:nvPr/>
        </p:nvSpPr>
        <p:spPr>
          <a:xfrm>
            <a:off x="685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Old Immigrants</a:t>
            </a:r>
            <a:endParaRPr lang="en-US" sz="1350" dirty="0"/>
          </a:p>
        </p:txBody>
      </p:sp>
      <p:sp>
        <p:nvSpPr>
          <p:cNvPr id="8" name="Text 6"/>
          <p:cNvSpPr/>
          <p:nvPr/>
        </p:nvSpPr>
        <p:spPr>
          <a:xfrm>
            <a:off x="3703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Viejos Inmigrantes</a:t>
            </a:r>
            <a:endParaRPr lang="en-US" sz="1000" dirty="0"/>
          </a:p>
        </p:txBody>
      </p:sp>
      <p:sp>
        <p:nvSpPr>
          <p:cNvPr id="11" name="Text 9"/>
          <p:cNvSpPr/>
          <p:nvPr/>
        </p:nvSpPr>
        <p:spPr>
          <a:xfrm>
            <a:off x="667512" y="2395728"/>
            <a:ext cx="5239512"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Immigrants who came to the United States primarily from Northern and Western Europe (England, Ireland, Germany, Scandinavia) before 1880, often Protestant and more easily assimilated.</a:t>
            </a:r>
            <a:endParaRPr lang="en-US" sz="1100" dirty="0"/>
          </a:p>
        </p:txBody>
      </p:sp>
      <p:sp>
        <p:nvSpPr>
          <p:cNvPr id="12" name="Shape 10"/>
          <p:cNvSpPr/>
          <p:nvPr/>
        </p:nvSpPr>
        <p:spPr>
          <a:xfrm>
            <a:off x="6263640" y="1645920"/>
            <a:ext cx="5486400" cy="1261872"/>
          </a:xfrm>
          <a:prstGeom prst="rect">
            <a:avLst/>
          </a:prstGeom>
          <a:solidFill>
            <a:srgbClr val="FFFFFF"/>
          </a:solidFill>
          <a:ln w="12700">
            <a:solidFill>
              <a:srgbClr val="DAD3C2"/>
            </a:solidFill>
            <a:prstDash val="solid"/>
          </a:ln>
        </p:spPr>
        <p:txBody>
          <a:bodyPr/>
          <a:p/>
        </p:txBody>
      </p:sp>
      <p:sp>
        <p:nvSpPr>
          <p:cNvPr id="13" name="Shape 11"/>
          <p:cNvSpPr/>
          <p:nvPr/>
        </p:nvSpPr>
        <p:spPr>
          <a:xfrm>
            <a:off x="6263640" y="1645920"/>
            <a:ext cx="5486400" cy="676656"/>
          </a:xfrm>
          <a:prstGeom prst="rect">
            <a:avLst/>
          </a:prstGeom>
          <a:solidFill>
            <a:srgbClr val="1F3A5F"/>
          </a:solidFill>
          <a:ln/>
        </p:spPr>
        <p:txBody>
          <a:bodyPr/>
          <a:p/>
        </p:txBody>
      </p:sp>
      <p:sp>
        <p:nvSpPr>
          <p:cNvPr id="14" name="Text 12"/>
          <p:cNvSpPr/>
          <p:nvPr/>
        </p:nvSpPr>
        <p:spPr>
          <a:xfrm>
            <a:off x="6400800" y="1700784"/>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New Immigrants</a:t>
            </a:r>
            <a:endParaRPr lang="en-US" sz="1350" dirty="0"/>
          </a:p>
        </p:txBody>
      </p:sp>
      <p:sp>
        <p:nvSpPr>
          <p:cNvPr id="15" name="Text 13"/>
          <p:cNvSpPr/>
          <p:nvPr/>
        </p:nvSpPr>
        <p:spPr>
          <a:xfrm>
            <a:off x="9418320" y="1645920"/>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Nuevos Inmigrantes</a:t>
            </a:r>
            <a:endParaRPr lang="en-US" sz="1000" dirty="0"/>
          </a:p>
        </p:txBody>
      </p:sp>
      <p:sp>
        <p:nvSpPr>
          <p:cNvPr id="18" name="Text 16"/>
          <p:cNvSpPr/>
          <p:nvPr/>
        </p:nvSpPr>
        <p:spPr>
          <a:xfrm>
            <a:off x="6382512" y="2395728"/>
            <a:ext cx="5239512"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Immigrants who came to the United States primarily from Southern and Eastern Europe (Italy, Poland, Russia) and Asia after 1880, often Catholic, Jewish, or Orthodox Christian, facing greater discrimination.</a:t>
            </a:r>
            <a:endParaRPr lang="en-US" sz="1100" dirty="0"/>
          </a:p>
        </p:txBody>
      </p:sp>
      <p:sp>
        <p:nvSpPr>
          <p:cNvPr id="19" name="Shape 17"/>
          <p:cNvSpPr/>
          <p:nvPr/>
        </p:nvSpPr>
        <p:spPr>
          <a:xfrm>
            <a:off x="548640" y="3072384"/>
            <a:ext cx="5486400" cy="1261872"/>
          </a:xfrm>
          <a:prstGeom prst="rect">
            <a:avLst/>
          </a:prstGeom>
          <a:solidFill>
            <a:srgbClr val="FFFFFF"/>
          </a:solidFill>
          <a:ln w="12700">
            <a:solidFill>
              <a:srgbClr val="DAD3C2"/>
            </a:solidFill>
            <a:prstDash val="solid"/>
          </a:ln>
        </p:spPr>
        <p:txBody>
          <a:bodyPr/>
          <a:p/>
        </p:txBody>
      </p:sp>
      <p:sp>
        <p:nvSpPr>
          <p:cNvPr id="20" name="Shape 18"/>
          <p:cNvSpPr/>
          <p:nvPr/>
        </p:nvSpPr>
        <p:spPr>
          <a:xfrm>
            <a:off x="548640" y="3072384"/>
            <a:ext cx="5486400" cy="676656"/>
          </a:xfrm>
          <a:prstGeom prst="rect">
            <a:avLst/>
          </a:prstGeom>
          <a:solidFill>
            <a:srgbClr val="1F3A5F"/>
          </a:solidFill>
          <a:ln/>
        </p:spPr>
        <p:txBody>
          <a:bodyPr/>
          <a:p/>
        </p:txBody>
      </p:sp>
      <p:sp>
        <p:nvSpPr>
          <p:cNvPr id="21" name="Text 19"/>
          <p:cNvSpPr/>
          <p:nvPr/>
        </p:nvSpPr>
        <p:spPr>
          <a:xfrm>
            <a:off x="685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Ellis Island</a:t>
            </a:r>
            <a:endParaRPr lang="en-US" sz="1350" dirty="0"/>
          </a:p>
        </p:txBody>
      </p:sp>
      <p:sp>
        <p:nvSpPr>
          <p:cNvPr id="22" name="Text 20"/>
          <p:cNvSpPr/>
          <p:nvPr/>
        </p:nvSpPr>
        <p:spPr>
          <a:xfrm>
            <a:off x="3703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Isla Ellis</a:t>
            </a:r>
            <a:endParaRPr lang="en-US" sz="1000" dirty="0"/>
          </a:p>
        </p:txBody>
      </p:sp>
      <p:sp>
        <p:nvSpPr>
          <p:cNvPr id="25" name="Text 23"/>
          <p:cNvSpPr/>
          <p:nvPr/>
        </p:nvSpPr>
        <p:spPr>
          <a:xfrm>
            <a:off x="667512" y="3822192"/>
            <a:ext cx="5239512"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primary immigration processing station in New York Harbor from 1892 to 1954, where over 12 million immigrants entered the United States, primarily from Europe.</a:t>
            </a:r>
            <a:endParaRPr lang="en-US" sz="1100" dirty="0"/>
          </a:p>
        </p:txBody>
      </p:sp>
      <p:sp>
        <p:nvSpPr>
          <p:cNvPr id="26" name="Shape 24"/>
          <p:cNvSpPr/>
          <p:nvPr/>
        </p:nvSpPr>
        <p:spPr>
          <a:xfrm>
            <a:off x="6263640" y="3072384"/>
            <a:ext cx="5486400" cy="1261872"/>
          </a:xfrm>
          <a:prstGeom prst="rect">
            <a:avLst/>
          </a:prstGeom>
          <a:solidFill>
            <a:srgbClr val="FFFFFF"/>
          </a:solidFill>
          <a:ln w="12700">
            <a:solidFill>
              <a:srgbClr val="DAD3C2"/>
            </a:solidFill>
            <a:prstDash val="solid"/>
          </a:ln>
        </p:spPr>
        <p:txBody>
          <a:bodyPr/>
          <a:p/>
        </p:txBody>
      </p:sp>
      <p:sp>
        <p:nvSpPr>
          <p:cNvPr id="27" name="Shape 25"/>
          <p:cNvSpPr/>
          <p:nvPr/>
        </p:nvSpPr>
        <p:spPr>
          <a:xfrm>
            <a:off x="6263640" y="3072384"/>
            <a:ext cx="5486400" cy="676656"/>
          </a:xfrm>
          <a:prstGeom prst="rect">
            <a:avLst/>
          </a:prstGeom>
          <a:solidFill>
            <a:srgbClr val="1F3A5F"/>
          </a:solidFill>
          <a:ln/>
        </p:spPr>
        <p:txBody>
          <a:bodyPr/>
          <a:p/>
        </p:txBody>
      </p:sp>
      <p:sp>
        <p:nvSpPr>
          <p:cNvPr id="28" name="Text 26"/>
          <p:cNvSpPr/>
          <p:nvPr/>
        </p:nvSpPr>
        <p:spPr>
          <a:xfrm>
            <a:off x="6400800" y="3127248"/>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Angel Island</a:t>
            </a:r>
            <a:endParaRPr lang="en-US" sz="1350" dirty="0"/>
          </a:p>
        </p:txBody>
      </p:sp>
      <p:sp>
        <p:nvSpPr>
          <p:cNvPr id="29" name="Text 27"/>
          <p:cNvSpPr/>
          <p:nvPr/>
        </p:nvSpPr>
        <p:spPr>
          <a:xfrm>
            <a:off x="9418320" y="3072384"/>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Isla Ángel</a:t>
            </a:r>
            <a:endParaRPr lang="en-US" sz="1000" dirty="0"/>
          </a:p>
        </p:txBody>
      </p:sp>
      <p:sp>
        <p:nvSpPr>
          <p:cNvPr id="32" name="Text 30"/>
          <p:cNvSpPr/>
          <p:nvPr/>
        </p:nvSpPr>
        <p:spPr>
          <a:xfrm>
            <a:off x="6382512" y="3822192"/>
            <a:ext cx="5239512"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The immigration station in San Francisco Bay from 1910 to 1940 that primarily processed Asian immigrants, especially Chinese, who faced lengthy detentions and harsh interrogations.</a:t>
            </a:r>
            <a:endParaRPr lang="en-US" sz="1100" dirty="0"/>
          </a:p>
        </p:txBody>
      </p:sp>
      <p:sp>
        <p:nvSpPr>
          <p:cNvPr id="33" name="Shape 31"/>
          <p:cNvSpPr/>
          <p:nvPr/>
        </p:nvSpPr>
        <p:spPr>
          <a:xfrm>
            <a:off x="548640" y="4498848"/>
            <a:ext cx="5486400" cy="1261872"/>
          </a:xfrm>
          <a:prstGeom prst="rect">
            <a:avLst/>
          </a:prstGeom>
          <a:solidFill>
            <a:srgbClr val="FFFFFF"/>
          </a:solidFill>
          <a:ln w="12700">
            <a:solidFill>
              <a:srgbClr val="DAD3C2"/>
            </a:solidFill>
            <a:prstDash val="solid"/>
          </a:ln>
        </p:spPr>
        <p:txBody>
          <a:bodyPr/>
          <a:p/>
        </p:txBody>
      </p:sp>
      <p:sp>
        <p:nvSpPr>
          <p:cNvPr id="34" name="Shape 32"/>
          <p:cNvSpPr/>
          <p:nvPr/>
        </p:nvSpPr>
        <p:spPr>
          <a:xfrm>
            <a:off x="548640" y="4498848"/>
            <a:ext cx="5486400" cy="676656"/>
          </a:xfrm>
          <a:prstGeom prst="rect">
            <a:avLst/>
          </a:prstGeom>
          <a:solidFill>
            <a:srgbClr val="1F3A5F"/>
          </a:solidFill>
          <a:ln/>
        </p:spPr>
        <p:txBody>
          <a:bodyPr/>
          <a:p/>
        </p:txBody>
      </p:sp>
      <p:sp>
        <p:nvSpPr>
          <p:cNvPr id="35" name="Text 33"/>
          <p:cNvSpPr/>
          <p:nvPr/>
        </p:nvSpPr>
        <p:spPr>
          <a:xfrm>
            <a:off x="685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Push-Pull Factors</a:t>
            </a:r>
            <a:endParaRPr lang="en-US" sz="1350" dirty="0"/>
          </a:p>
        </p:txBody>
      </p:sp>
      <p:sp>
        <p:nvSpPr>
          <p:cNvPr id="36" name="Text 34"/>
          <p:cNvSpPr/>
          <p:nvPr/>
        </p:nvSpPr>
        <p:spPr>
          <a:xfrm>
            <a:off x="3703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Factores de Empuje y Atracción</a:t>
            </a:r>
            <a:endParaRPr lang="en-US" sz="1000" dirty="0"/>
          </a:p>
        </p:txBody>
      </p:sp>
      <p:sp>
        <p:nvSpPr>
          <p:cNvPr id="39" name="Text 37"/>
          <p:cNvSpPr/>
          <p:nvPr/>
        </p:nvSpPr>
        <p:spPr>
          <a:xfrm>
            <a:off x="667512" y="5248656"/>
            <a:ext cx="5239512"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Push factors (poverty, persecution, lack of opportunity) drove people to leave their homelands, while pull factors (jobs, freedom, land) attracted them to America.</a:t>
            </a:r>
            <a:endParaRPr lang="en-US" sz="1100" dirty="0"/>
          </a:p>
        </p:txBody>
      </p:sp>
      <p:sp>
        <p:nvSpPr>
          <p:cNvPr id="40" name="Shape 38"/>
          <p:cNvSpPr/>
          <p:nvPr/>
        </p:nvSpPr>
        <p:spPr>
          <a:xfrm>
            <a:off x="6263640" y="4498848"/>
            <a:ext cx="5486400" cy="1261872"/>
          </a:xfrm>
          <a:prstGeom prst="rect">
            <a:avLst/>
          </a:prstGeom>
          <a:solidFill>
            <a:srgbClr val="FFFFFF"/>
          </a:solidFill>
          <a:ln w="12700">
            <a:solidFill>
              <a:srgbClr val="DAD3C2"/>
            </a:solidFill>
            <a:prstDash val="solid"/>
          </a:ln>
        </p:spPr>
        <p:txBody>
          <a:bodyPr/>
          <a:p/>
        </p:txBody>
      </p:sp>
      <p:sp>
        <p:nvSpPr>
          <p:cNvPr id="41" name="Shape 39"/>
          <p:cNvSpPr/>
          <p:nvPr/>
        </p:nvSpPr>
        <p:spPr>
          <a:xfrm>
            <a:off x="6263640" y="4498848"/>
            <a:ext cx="5486400" cy="676656"/>
          </a:xfrm>
          <a:prstGeom prst="rect">
            <a:avLst/>
          </a:prstGeom>
          <a:solidFill>
            <a:srgbClr val="1F3A5F"/>
          </a:solidFill>
          <a:ln/>
        </p:spPr>
        <p:txBody>
          <a:bodyPr/>
          <a:p/>
        </p:txBody>
      </p:sp>
      <p:sp>
        <p:nvSpPr>
          <p:cNvPr id="42" name="Text 40"/>
          <p:cNvSpPr/>
          <p:nvPr/>
        </p:nvSpPr>
        <p:spPr>
          <a:xfrm>
            <a:off x="6400800" y="4553712"/>
            <a:ext cx="2880360" cy="310896"/>
          </a:xfrm>
          <a:prstGeom prst="rect">
            <a:avLst/>
          </a:prstGeom>
          <a:noFill/>
          <a:ln/>
        </p:spPr>
        <p:txBody>
          <a:bodyPr wrap="square" rtlCol="0" anchor="ctr">
            <a:normAutofit/>
          </a:bodyPr>
          <a:lstStyle/>
          <a:p>
            <a:pPr indent="0" marL="0">
              <a:buNone/>
            </a:pPr>
            <a:r>
              <a:rPr lang="en-US" sz="1350" b="1" dirty="0">
                <a:solidFill>
                  <a:srgbClr val="FFFFFF"/>
                </a:solidFill>
                <a:latin typeface="Calibri" pitchFamily="34" charset="0"/>
                <a:ea typeface="Calibri" pitchFamily="34" charset="-122"/>
                <a:cs typeface="Calibri" pitchFamily="34" charset="-120"/>
              </a:rPr>
              <a:t>Ethnic Clusters</a:t>
            </a:r>
            <a:endParaRPr lang="en-US" sz="1350" dirty="0"/>
          </a:p>
        </p:txBody>
      </p:sp>
      <p:sp>
        <p:nvSpPr>
          <p:cNvPr id="43" name="Text 41"/>
          <p:cNvSpPr/>
          <p:nvPr/>
        </p:nvSpPr>
        <p:spPr>
          <a:xfrm>
            <a:off x="9418320" y="4498848"/>
            <a:ext cx="2194560" cy="676656"/>
          </a:xfrm>
          <a:prstGeom prst="rect">
            <a:avLst/>
          </a:prstGeom>
          <a:noFill/>
          <a:ln/>
        </p:spPr>
        <p:txBody>
          <a:bodyPr wrap="square" rtlCol="0" anchor="ctr">
            <a:normAutofit/>
          </a:bodyPr>
          <a:lstStyle/>
          <a:p>
            <a:pPr algn="r" indent="0" marL="0">
              <a:buNone/>
            </a:pPr>
            <a:r>
              <a:rPr lang="en-US" sz="1000" i="1" dirty="0">
                <a:solidFill>
                  <a:srgbClr val="F9A825"/>
                </a:solidFill>
                <a:latin typeface="Calibri" pitchFamily="34" charset="0"/>
                <a:ea typeface="Calibri" pitchFamily="34" charset="-122"/>
                <a:cs typeface="Calibri" pitchFamily="34" charset="-120"/>
              </a:rPr>
              <a:t>Grupos Étnicos</a:t>
            </a:r>
            <a:endParaRPr lang="en-US" sz="1000" dirty="0"/>
          </a:p>
        </p:txBody>
      </p:sp>
      <p:sp>
        <p:nvSpPr>
          <p:cNvPr id="46" name="Text 44"/>
          <p:cNvSpPr/>
          <p:nvPr/>
        </p:nvSpPr>
        <p:spPr>
          <a:xfrm>
            <a:off x="6382512" y="5248656"/>
            <a:ext cx="5239512" cy="420624"/>
          </a:xfrm>
          <a:prstGeom prst="rect">
            <a:avLst/>
          </a:prstGeom>
          <a:noFill/>
          <a:ln/>
        </p:spPr>
        <p:txBody>
          <a:bodyPr wrap="square" rtlCol="0" anchor="t"/>
          <a:lstStyle/>
          <a:p>
            <a:pPr indent="0" marL="0">
              <a:lnSpc>
                <a:spcPct val="104000"/>
              </a:lnSpc>
              <a:buNone/>
            </a:pPr>
            <a:r>
              <a:rPr lang="en-US" sz="1100" dirty="0">
                <a:solidFill>
                  <a:srgbClr val="1F2430"/>
                </a:solidFill>
                <a:latin typeface="Calibri" pitchFamily="34" charset="0"/>
                <a:ea typeface="Calibri" pitchFamily="34" charset="-122"/>
                <a:cs typeface="Calibri" pitchFamily="34" charset="-120"/>
              </a:rPr>
              <a:t>Neighborhoods where immigrants from the same country or region settled together, maintaining their language, culture, and traditions while adapting to American life.</a:t>
            </a:r>
            <a:endParaRPr lang="en-US" sz="1100" dirty="0"/>
          </a:p>
        </p:txBody>
      </p:sp>
      <p:sp>
        <p:nvSpPr>
          <p:cNvPr id="47" name="Text 45"/>
          <p:cNvSpPr/>
          <p:nvPr/>
        </p:nvSpPr>
        <p:spPr>
          <a:xfrm>
            <a:off x="548640" y="5897880"/>
            <a:ext cx="11064240" cy="320040"/>
          </a:xfrm>
          <a:prstGeom prst="rect">
            <a:avLst/>
          </a:prstGeom>
          <a:noFill/>
          <a:ln/>
        </p:spPr>
        <p:txBody>
          <a:bodyPr wrap="square" rtlCol="0" anchor="ctr"/>
          <a:lstStyle/>
          <a:p>
            <a:pPr indent="0" marL="0">
              <a:buNone/>
            </a:pPr>
            <a:r>
              <a:rPr lang="en-US" sz="1000" i="1" dirty="0">
                <a:solidFill>
                  <a:srgbClr val="5C6470"/>
                </a:solidFill>
                <a:latin typeface="Calibri" pitchFamily="34" charset="0"/>
                <a:ea typeface="Calibri" pitchFamily="34" charset="-122"/>
                <a:cs typeface="Calibri" pitchFamily="34" charset="-120"/>
              </a:rPr>
              <a:t>"say:" pronunciation guide (stressed syllable in CAPS) and a per-term visual anchor support newcomer English learners. Spanish term + full bilingual Frayer models are in the unit vocabulary set.</a:t>
            </a:r>
            <a:endParaRPr lang="en-US" sz="1000" dirty="0"/>
          </a:p>
        </p:txBody>
      </p:sp>
      <p:sp>
        <p:nvSpPr>
          <p:cNvPr id="48" name="Text 46"/>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49" name="Text 4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104</a:t>
            </a:r>
            <a:endParaRPr lang="en-US" sz="9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4">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F3A5F"/>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B22234"/>
                </a:solidFill>
                <a:latin typeface="Trebuchet MS" pitchFamily="34" charset="0"/>
                <a:ea typeface="Trebuchet MS" pitchFamily="34" charset="-122"/>
                <a:cs typeface="Trebuchet MS" pitchFamily="34" charset="-120"/>
              </a:rPr>
              <a:t>US.07 · GUIDED PRACTICE — WE DO IT TOGETHER</a:t>
            </a:r>
            <a:endParaRPr lang="en-US" sz="1200" dirty="0"/>
          </a:p>
        </p:txBody>
      </p:sp>
      <p:sp>
        <p:nvSpPr>
          <p:cNvPr id="4" name="Text 2"/>
          <p:cNvSpPr/>
          <p:nvPr/>
        </p:nvSpPr>
        <p:spPr>
          <a:xfrm>
            <a:off x="548640" y="731520"/>
            <a:ext cx="8595360" cy="640080"/>
          </a:xfrm>
          <a:prstGeom prst="rect">
            <a:avLst/>
          </a:prstGeom>
          <a:noFill/>
          <a:ln/>
        </p:spPr>
        <p:txBody>
          <a:bodyPr wrap="square" rtlCol="0" anchor="t"/>
          <a:lstStyle/>
          <a:p>
            <a:pPr indent="0" marL="0">
              <a:buNone/>
            </a:pPr>
            <a:r>
              <a:rPr lang="en-US" sz="2900" b="1" dirty="0">
                <a:solidFill>
                  <a:srgbClr val="1F3A5F"/>
                </a:solidFill>
                <a:latin typeface="Georgia" pitchFamily="34" charset="0"/>
                <a:ea typeface="Georgia" pitchFamily="34" charset="-122"/>
                <a:cs typeface="Georgia" pitchFamily="34" charset="-120"/>
              </a:rPr>
              <a:t>Let’s Work One Together</a:t>
            </a:r>
            <a:endParaRPr lang="en-US" sz="2900" dirty="0"/>
          </a:p>
        </p:txBody>
      </p:sp>
      <p:sp>
        <p:nvSpPr>
          <p:cNvPr id="5" name="Shape 3"/>
          <p:cNvSpPr/>
          <p:nvPr/>
        </p:nvSpPr>
        <p:spPr>
          <a:xfrm>
            <a:off x="8869680" y="822960"/>
            <a:ext cx="2743200" cy="457200"/>
          </a:xfrm>
          <a:prstGeom prst="roundRect">
            <a:avLst>
              <a:gd name="adj" fmla="val 20000"/>
            </a:avLst>
          </a:prstGeom>
          <a:solidFill>
            <a:srgbClr val="1F3A5F"/>
          </a:solidFill>
          <a:ln/>
        </p:spPr>
        <p:txBody>
          <a:bodyPr/>
          <a:p/>
        </p:txBody>
      </p:sp>
      <p:sp>
        <p:nvSpPr>
          <p:cNvPr id="6" name="Text 4"/>
          <p:cNvSpPr/>
          <p:nvPr/>
        </p:nvSpPr>
        <p:spPr>
          <a:xfrm>
            <a:off x="8869680" y="822960"/>
            <a:ext cx="2743200" cy="457200"/>
          </a:xfrm>
          <a:prstGeom prst="rect">
            <a:avLst/>
          </a:prstGeom>
          <a:noFill/>
          <a:ln/>
        </p:spPr>
        <p:txBody>
          <a:bodyPr wrap="square" rtlCol="0" anchor="ctr"/>
          <a:lstStyle/>
          <a:p>
            <a:pPr algn="ctr" indent="0" marL="0">
              <a:buNone/>
            </a:pPr>
            <a:r>
              <a:rPr lang="en-US" sz="1100" b="1" dirty="0">
                <a:solidFill>
                  <a:srgbClr val="F9A825"/>
                </a:solidFill>
                <a:latin typeface="Trebuchet MS" pitchFamily="34" charset="0"/>
                <a:ea typeface="Trebuchet MS" pitchFamily="34" charset="-122"/>
                <a:cs typeface="Trebuchet MS" pitchFamily="34" charset="-120"/>
              </a:rPr>
              <a:t>Compare across perspectives</a:t>
            </a:r>
            <a:endParaRPr lang="en-US" sz="1100" dirty="0"/>
          </a:p>
        </p:txBody>
      </p:sp>
      <p:sp>
        <p:nvSpPr>
          <p:cNvPr id="7" name="Shape 5"/>
          <p:cNvSpPr/>
          <p:nvPr/>
        </p:nvSpPr>
        <p:spPr>
          <a:xfrm>
            <a:off x="548640" y="1554480"/>
            <a:ext cx="11064240" cy="868680"/>
          </a:xfrm>
          <a:prstGeom prst="roundRect">
            <a:avLst>
              <a:gd name="adj" fmla="val 8421"/>
            </a:avLst>
          </a:prstGeom>
          <a:solidFill>
            <a:srgbClr val="243047"/>
          </a:solidFill>
          <a:ln w="6350">
            <a:solidFill>
              <a:srgbClr val="A7BACB"/>
            </a:solidFill>
            <a:prstDash val="solid"/>
          </a:ln>
        </p:spPr>
        <p:txBody>
          <a:bodyPr/>
          <a:p/>
        </p:txBody>
      </p:sp>
      <p:sp>
        <p:nvSpPr>
          <p:cNvPr id="8" name="Text 6"/>
          <p:cNvSpPr/>
          <p:nvPr/>
        </p:nvSpPr>
        <p:spPr>
          <a:xfrm>
            <a:off x="822960" y="1664208"/>
            <a:ext cx="10515600" cy="640080"/>
          </a:xfrm>
          <a:prstGeom prst="rect">
            <a:avLst/>
          </a:prstGeom>
          <a:noFill/>
          <a:ln/>
        </p:spPr>
        <p:txBody>
          <a:bodyPr wrap="square" rtlCol="0" anchor="ctr"/>
          <a:lstStyle/>
          <a:p>
            <a:pPr indent="0" marL="0">
              <a:lnSpc>
                <a:spcPct val="104000"/>
              </a:lnSpc>
              <a:buNone/>
            </a:pPr>
            <a:r>
              <a:rPr lang="en-US" sz="1500" b="1" dirty="0">
                <a:solidFill>
                  <a:srgbClr val="F9A825"/>
                </a:solidFill>
                <a:latin typeface="Calibri" pitchFamily="34" charset="0"/>
                <a:ea typeface="Calibri" pitchFamily="34" charset="-122"/>
                <a:cs typeface="Calibri" pitchFamily="34" charset="-120"/>
              </a:rPr>
              <a:t>MODEL PROMPT:  </a:t>
            </a:r>
            <a:pPr indent="0" marL="0">
              <a:lnSpc>
                <a:spcPct val="104000"/>
              </a:lnSpc>
              <a:buNone/>
            </a:pPr>
            <a:r>
              <a:rPr lang="en-US" sz="1500" dirty="0">
                <a:solidFill>
                  <a:srgbClr val="FFFFFF"/>
                </a:solidFill>
                <a:latin typeface="Calibri" pitchFamily="34" charset="0"/>
                <a:ea typeface="Calibri" pitchFamily="34" charset="-122"/>
                <a:cs typeface="Calibri" pitchFamily="34" charset="-120"/>
              </a:rPr>
              <a:t>Compare a "new" immigrant’s reason to come with a native-born reason to fear them.</a:t>
            </a:r>
            <a:endParaRPr lang="en-US" sz="1500" dirty="0"/>
          </a:p>
        </p:txBody>
      </p:sp>
      <p:sp>
        <p:nvSpPr>
          <p:cNvPr id="9" name="Shape 7"/>
          <p:cNvSpPr/>
          <p:nvPr/>
        </p:nvSpPr>
        <p:spPr>
          <a:xfrm>
            <a:off x="548640" y="2606040"/>
            <a:ext cx="11064240" cy="1554480"/>
          </a:xfrm>
          <a:prstGeom prst="roundRect">
            <a:avLst>
              <a:gd name="adj" fmla="val 4706"/>
            </a:avLst>
          </a:prstGeom>
          <a:solidFill>
            <a:srgbClr val="C9A227"/>
          </a:solidFill>
          <a:ln/>
        </p:spPr>
        <p:txBody>
          <a:bodyPr/>
          <a:p/>
        </p:txBody>
      </p:sp>
      <p:sp>
        <p:nvSpPr>
          <p:cNvPr id="10" name="Text 8"/>
          <p:cNvSpPr/>
          <p:nvPr/>
        </p:nvSpPr>
        <p:spPr>
          <a:xfrm>
            <a:off x="822960" y="2724912"/>
            <a:ext cx="10058400" cy="292608"/>
          </a:xfrm>
          <a:prstGeom prst="rect">
            <a:avLst/>
          </a:prstGeom>
          <a:noFill/>
          <a:ln/>
        </p:spPr>
        <p:txBody>
          <a:bodyPr wrap="square" rtlCol="0" anchor="ctr"/>
          <a:lstStyle/>
          <a:p>
            <a:pPr indent="0" marL="0">
              <a:buNone/>
            </a:pPr>
            <a:r>
              <a:rPr lang="en-US" sz="1100" b="1" spc="100" kern="0" dirty="0">
                <a:solidFill>
                  <a:srgbClr val="1F3A5F"/>
                </a:solidFill>
                <a:latin typeface="Trebuchet MS" pitchFamily="34" charset="0"/>
                <a:ea typeface="Trebuchet MS" pitchFamily="34" charset="-122"/>
                <a:cs typeface="Trebuchet MS" pitchFamily="34" charset="-120"/>
              </a:rPr>
              <a:t>WORKED EXAMPLE  (teacher models this aloud)</a:t>
            </a:r>
            <a:endParaRPr lang="en-US" sz="1100" dirty="0"/>
          </a:p>
        </p:txBody>
      </p:sp>
      <p:sp>
        <p:nvSpPr>
          <p:cNvPr id="11" name="Text 9"/>
          <p:cNvSpPr/>
          <p:nvPr/>
        </p:nvSpPr>
        <p:spPr>
          <a:xfrm>
            <a:off x="822960" y="3035808"/>
            <a:ext cx="10515600" cy="1005840"/>
          </a:xfrm>
          <a:prstGeom prst="rect">
            <a:avLst/>
          </a:prstGeom>
          <a:noFill/>
          <a:ln/>
        </p:spPr>
        <p:txBody>
          <a:bodyPr wrap="square" rtlCol="0" anchor="t"/>
          <a:lstStyle/>
          <a:p>
            <a:pPr indent="0" marL="0">
              <a:lnSpc>
                <a:spcPct val="108000"/>
              </a:lnSpc>
              <a:buNone/>
            </a:pPr>
            <a:r>
              <a:rPr lang="en-US" sz="1450" b="1" dirty="0">
                <a:solidFill>
                  <a:srgbClr val="1F3A5F"/>
                </a:solidFill>
                <a:latin typeface="Calibri" pitchFamily="34" charset="0"/>
                <a:ea typeface="Calibri" pitchFamily="34" charset="-122"/>
                <a:cs typeface="Calibri" pitchFamily="34" charset="-120"/>
              </a:rPr>
              <a:t>IMMIGRANT PUSH: Persecution and poverty in southern/eastern Europe and Asia drove millions to leave.  →  NATIVIST REACTION: Native-born workers feared job competition and prejudice, producing laws like the Chinese Exclusion Act (1882).</a:t>
            </a:r>
            <a:endParaRPr lang="en-US" sz="1450" dirty="0"/>
          </a:p>
        </p:txBody>
      </p:sp>
      <p:sp>
        <p:nvSpPr>
          <p:cNvPr id="12" name="Shape 10"/>
          <p:cNvSpPr/>
          <p:nvPr/>
        </p:nvSpPr>
        <p:spPr>
          <a:xfrm>
            <a:off x="548640" y="4297680"/>
            <a:ext cx="11064240" cy="1371600"/>
          </a:xfrm>
          <a:prstGeom prst="rect">
            <a:avLst/>
          </a:prstGeom>
          <a:solidFill>
            <a:srgbClr val="FFFFFF"/>
          </a:solidFill>
          <a:ln w="12700">
            <a:solidFill>
              <a:srgbClr val="DAD3C2"/>
            </a:solidFill>
            <a:prstDash val="solid"/>
          </a:ln>
        </p:spPr>
        <p:txBody>
          <a:bodyPr/>
          <a:p/>
        </p:txBody>
      </p:sp>
      <p:sp>
        <p:nvSpPr>
          <p:cNvPr id="13" name="Text 11"/>
          <p:cNvSpPr/>
          <p:nvPr/>
        </p:nvSpPr>
        <p:spPr>
          <a:xfrm>
            <a:off x="822960" y="4407408"/>
            <a:ext cx="4572000" cy="274320"/>
          </a:xfrm>
          <a:prstGeom prst="rect">
            <a:avLst/>
          </a:prstGeom>
          <a:noFill/>
          <a:ln/>
        </p:spPr>
        <p:txBody>
          <a:bodyPr wrap="square" rtlCol="0" anchor="ctr"/>
          <a:lstStyle/>
          <a:p>
            <a:pPr indent="0" marL="0">
              <a:buNone/>
            </a:pPr>
            <a:r>
              <a:rPr lang="en-US" sz="1100" b="1" spc="200" kern="0" dirty="0">
                <a:solidFill>
                  <a:srgbClr val="B22234"/>
                </a:solidFill>
                <a:latin typeface="Trebuchet MS" pitchFamily="34" charset="0"/>
                <a:ea typeface="Trebuchet MS" pitchFamily="34" charset="-122"/>
                <a:cs typeface="Trebuchet MS" pitchFamily="34" charset="-120"/>
              </a:rPr>
              <a:t>THINK ALOUD</a:t>
            </a:r>
            <a:endParaRPr lang="en-US" sz="1100" dirty="0"/>
          </a:p>
        </p:txBody>
      </p:sp>
      <p:sp>
        <p:nvSpPr>
          <p:cNvPr id="14" name="Text 12"/>
          <p:cNvSpPr/>
          <p:nvPr/>
        </p:nvSpPr>
        <p:spPr>
          <a:xfrm>
            <a:off x="822960" y="4700016"/>
            <a:ext cx="10515600" cy="914400"/>
          </a:xfrm>
          <a:prstGeom prst="rect">
            <a:avLst/>
          </a:prstGeom>
          <a:noFill/>
          <a:ln/>
        </p:spPr>
        <p:txBody>
          <a:bodyPr wrap="square" rtlCol="0" anchor="t"/>
          <a:lstStyle/>
          <a:p>
            <a:pPr indent="0" marL="0">
              <a:lnSpc>
                <a:spcPct val="108000"/>
              </a:lnSpc>
              <a:buNone/>
            </a:pPr>
            <a:r>
              <a:rPr lang="en-US" sz="1300" i="1" dirty="0">
                <a:solidFill>
                  <a:srgbClr val="1F2430"/>
                </a:solidFill>
                <a:latin typeface="Calibri" pitchFamily="34" charset="0"/>
                <a:ea typeface="Calibri" pitchFamily="34" charset="-122"/>
                <a:cs typeface="Calibri" pitchFamily="34" charset="-120"/>
              </a:rPr>
              <a:t>Notice I give each side its own evidence and treat both as real historical viewpoints — historical empathy means I explain the fear without excusing it.</a:t>
            </a:r>
            <a:endParaRPr lang="en-US" sz="1300" dirty="0"/>
          </a:p>
        </p:txBody>
      </p:sp>
      <p:sp>
        <p:nvSpPr>
          <p:cNvPr id="15" name="Text 13"/>
          <p:cNvSpPr/>
          <p:nvPr/>
        </p:nvSpPr>
        <p:spPr>
          <a:xfrm>
            <a:off x="548640" y="5779008"/>
            <a:ext cx="11064240" cy="365760"/>
          </a:xfrm>
          <a:prstGeom prst="rect">
            <a:avLst/>
          </a:prstGeom>
          <a:noFill/>
          <a:ln/>
        </p:spPr>
        <p:txBody>
          <a:bodyPr wrap="square" rtlCol="0" anchor="ctr"/>
          <a:lstStyle/>
          <a:p>
            <a:pPr indent="0" marL="0">
              <a:buNone/>
            </a:pPr>
            <a:r>
              <a:rPr lang="en-US" sz="1200" b="1" dirty="0">
                <a:solidFill>
                  <a:srgbClr val="1F3A5F"/>
                </a:solidFill>
                <a:latin typeface="Calibri" pitchFamily="34" charset="0"/>
                <a:ea typeface="Calibri" pitchFamily="34" charset="-122"/>
                <a:cs typeface="Calibri" pitchFamily="34" charset="-120"/>
              </a:rPr>
              <a:t>→ Now you try:  </a:t>
            </a:r>
            <a:pPr indent="0" marL="0">
              <a:buNone/>
            </a:pPr>
            <a:r>
              <a:rPr lang="en-US" sz="1200" i="1" dirty="0">
                <a:solidFill>
                  <a:srgbClr val="002858"/>
                </a:solidFill>
                <a:latin typeface="Calibri" pitchFamily="34" charset="0"/>
                <a:ea typeface="Calibri" pitchFamily="34" charset="-122"/>
                <a:cs typeface="Calibri" pitchFamily="34" charset="-120"/>
              </a:rPr>
              <a:t>You compare one more push factor with one nativist reaction in the activity.</a:t>
            </a:r>
            <a:endParaRPr lang="en-US" sz="1200" dirty="0"/>
          </a:p>
        </p:txBody>
      </p:sp>
      <p:sp>
        <p:nvSpPr>
          <p:cNvPr id="17" name="Text 14"/>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8" name="Text 15"/>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105</a:t>
            </a:r>
            <a:endParaRPr lang="en-US" sz="9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5">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227"/>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B22234"/>
                </a:solidFill>
                <a:latin typeface="Trebuchet MS" pitchFamily="34" charset="0"/>
                <a:ea typeface="Trebuchet MS" pitchFamily="34" charset="-122"/>
                <a:cs typeface="Trebuchet MS" pitchFamily="34" charset="-120"/>
              </a:rPr>
              <a:t>US.07 · STUDENT ACTIVITY</a:t>
            </a:r>
            <a:endParaRPr lang="en-US" sz="1200" dirty="0"/>
          </a:p>
        </p:txBody>
      </p:sp>
      <p:sp>
        <p:nvSpPr>
          <p:cNvPr id="4" name="Text 2"/>
          <p:cNvSpPr/>
          <p:nvPr/>
        </p:nvSpPr>
        <p:spPr>
          <a:xfrm>
            <a:off x="548640" y="731520"/>
            <a:ext cx="11064240" cy="777240"/>
          </a:xfrm>
          <a:prstGeom prst="rect">
            <a:avLst/>
          </a:prstGeom>
          <a:noFill/>
          <a:ln/>
        </p:spPr>
        <p:txBody>
          <a:bodyPr wrap="square" rtlCol="0" anchor="t"/>
          <a:lstStyle/>
          <a:p>
            <a:pPr indent="0" marL="0">
              <a:buNone/>
            </a:pPr>
            <a:r>
              <a:rPr lang="en-US" sz="2700" b="1" dirty="0">
                <a:solidFill>
                  <a:srgbClr val="1F3A5F"/>
                </a:solidFill>
                <a:latin typeface="Georgia" pitchFamily="34" charset="0"/>
                <a:ea typeface="Georgia" pitchFamily="34" charset="-122"/>
                <a:cs typeface="Georgia" pitchFamily="34" charset="-120"/>
              </a:rPr>
              <a:t>Two Sides of Immigration</a:t>
            </a:r>
            <a:endParaRPr lang="en-US" sz="2700" dirty="0"/>
          </a:p>
        </p:txBody>
      </p:sp>
      <p:sp>
        <p:nvSpPr>
          <p:cNvPr id="5" name="Shape 3"/>
          <p:cNvSpPr/>
          <p:nvPr/>
        </p:nvSpPr>
        <p:spPr>
          <a:xfrm>
            <a:off x="548640" y="1481328"/>
            <a:ext cx="1872691" cy="365760"/>
          </a:xfrm>
          <a:prstGeom prst="roundRect">
            <a:avLst>
              <a:gd name="adj" fmla="val 20000"/>
            </a:avLst>
          </a:prstGeom>
          <a:solidFill>
            <a:srgbClr val="1F3A5F"/>
          </a:solidFill>
          <a:ln/>
        </p:spPr>
        <p:txBody>
          <a:bodyPr/>
          <a:p/>
        </p:txBody>
      </p:sp>
      <p:sp>
        <p:nvSpPr>
          <p:cNvPr id="6" name="Text 4"/>
          <p:cNvSpPr/>
          <p:nvPr/>
        </p:nvSpPr>
        <p:spPr>
          <a:xfrm>
            <a:off x="548640" y="1481328"/>
            <a:ext cx="1872691"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Pairs → Whole class</a:t>
            </a:r>
            <a:endParaRPr lang="en-US" sz="1050" dirty="0"/>
          </a:p>
        </p:txBody>
      </p:sp>
      <p:sp>
        <p:nvSpPr>
          <p:cNvPr id="7" name="Shape 5"/>
          <p:cNvSpPr/>
          <p:nvPr/>
        </p:nvSpPr>
        <p:spPr>
          <a:xfrm>
            <a:off x="2585923" y="1481328"/>
            <a:ext cx="779069" cy="365760"/>
          </a:xfrm>
          <a:prstGeom prst="roundRect">
            <a:avLst>
              <a:gd name="adj" fmla="val 20000"/>
            </a:avLst>
          </a:prstGeom>
          <a:solidFill>
            <a:srgbClr val="1F3A5F"/>
          </a:solidFill>
          <a:ln/>
        </p:spPr>
        <p:txBody>
          <a:bodyPr/>
          <a:p/>
        </p:txBody>
      </p:sp>
      <p:sp>
        <p:nvSpPr>
          <p:cNvPr id="8" name="Text 6"/>
          <p:cNvSpPr/>
          <p:nvPr/>
        </p:nvSpPr>
        <p:spPr>
          <a:xfrm>
            <a:off x="2585923" y="1481328"/>
            <a:ext cx="779069" cy="365760"/>
          </a:xfrm>
          <a:prstGeom prst="rect">
            <a:avLst/>
          </a:prstGeom>
          <a:noFill/>
          <a:ln/>
        </p:spPr>
        <p:txBody>
          <a:bodyPr wrap="square" rtlCol="0" anchor="ctr"/>
          <a:lstStyle/>
          <a:p>
            <a:pPr algn="ctr" indent="0" marL="0">
              <a:buNone/>
            </a:pPr>
            <a:r>
              <a:rPr lang="en-US" sz="1050" b="1" dirty="0">
                <a:solidFill>
                  <a:srgbClr val="F9A825"/>
                </a:solidFill>
                <a:latin typeface="Trebuchet MS" pitchFamily="34" charset="0"/>
                <a:ea typeface="Trebuchet MS" pitchFamily="34" charset="-122"/>
                <a:cs typeface="Trebuchet MS" pitchFamily="34" charset="-120"/>
              </a:rPr>
              <a:t>12 min</a:t>
            </a:r>
            <a:endParaRPr lang="en-US" sz="1050" dirty="0"/>
          </a:p>
        </p:txBody>
      </p:sp>
      <p:sp>
        <p:nvSpPr>
          <p:cNvPr id="9" name="Shape 7"/>
          <p:cNvSpPr/>
          <p:nvPr/>
        </p:nvSpPr>
        <p:spPr>
          <a:xfrm>
            <a:off x="548640" y="2057400"/>
            <a:ext cx="6766560" cy="2331720"/>
          </a:xfrm>
          <a:prstGeom prst="rect">
            <a:avLst/>
          </a:prstGeom>
          <a:solidFill>
            <a:srgbClr val="FFFFFF"/>
          </a:solidFill>
          <a:ln w="12700">
            <a:solidFill>
              <a:srgbClr val="DAD3C2"/>
            </a:solidFill>
            <a:prstDash val="solid"/>
          </a:ln>
        </p:spPr>
        <p:txBody>
          <a:bodyPr/>
          <a:p/>
        </p:txBody>
      </p:sp>
      <p:sp>
        <p:nvSpPr>
          <p:cNvPr id="10" name="Text 8"/>
          <p:cNvSpPr/>
          <p:nvPr/>
        </p:nvSpPr>
        <p:spPr>
          <a:xfrm>
            <a:off x="822960" y="2194560"/>
            <a:ext cx="4572000" cy="274320"/>
          </a:xfrm>
          <a:prstGeom prst="rect">
            <a:avLst/>
          </a:prstGeom>
          <a:noFill/>
          <a:ln/>
        </p:spPr>
        <p:txBody>
          <a:bodyPr wrap="square" rtlCol="0" anchor="ctr"/>
          <a:lstStyle/>
          <a:p>
            <a:pPr indent="0" marL="0">
              <a:buNone/>
            </a:pPr>
            <a:r>
              <a:rPr lang="en-US" sz="1100" b="1" spc="200" kern="0" dirty="0">
                <a:solidFill>
                  <a:srgbClr val="B22234"/>
                </a:solidFill>
                <a:latin typeface="Trebuchet MS" pitchFamily="34" charset="0"/>
                <a:ea typeface="Trebuchet MS" pitchFamily="34" charset="-122"/>
                <a:cs typeface="Trebuchet MS" pitchFamily="34" charset="-120"/>
              </a:rPr>
              <a:t>YOUR TASK</a:t>
            </a:r>
            <a:endParaRPr lang="en-US" sz="1100" dirty="0"/>
          </a:p>
        </p:txBody>
      </p:sp>
      <p:sp>
        <p:nvSpPr>
          <p:cNvPr id="11" name="Text 9"/>
          <p:cNvSpPr/>
          <p:nvPr/>
        </p:nvSpPr>
        <p:spPr>
          <a:xfrm>
            <a:off x="822960" y="2487168"/>
            <a:ext cx="6217920" cy="1828800"/>
          </a:xfrm>
          <a:prstGeom prst="rect">
            <a:avLst/>
          </a:prstGeom>
          <a:noFill/>
          <a:ln/>
        </p:spPr>
        <p:txBody>
          <a:bodyPr wrap="square" rtlCol="0" anchor="t"/>
          <a:lstStyle/>
          <a:p>
            <a:pPr indent="0" marL="0">
              <a:lnSpc>
                <a:spcPct val="112000"/>
              </a:lnSpc>
              <a:buNone/>
            </a:pPr>
            <a:r>
              <a:rPr lang="en-US" sz="1350" dirty="0">
                <a:solidFill>
                  <a:srgbClr val="1F2430"/>
                </a:solidFill>
                <a:latin typeface="Calibri" pitchFamily="34" charset="0"/>
                <a:ea typeface="Calibri" pitchFamily="34" charset="-122"/>
                <a:cs typeface="Calibri" pitchFamily="34" charset="-120"/>
              </a:rPr>
              <a:t>Examine Jacob Riis's “Five Cents a Spot” photograph and the Ellis Island inspection-room image. Write one sentence from the perspective of a new immigrant and one from a nativist worried about change. Then explain what Riis wanted viewers to FEEL and DO.</a:t>
            </a:r>
            <a:endParaRPr lang="en-US" sz="1350" dirty="0"/>
          </a:p>
        </p:txBody>
      </p:sp>
      <p:sp>
        <p:nvSpPr>
          <p:cNvPr id="12" name="Shape 10"/>
          <p:cNvSpPr/>
          <p:nvPr/>
        </p:nvSpPr>
        <p:spPr>
          <a:xfrm>
            <a:off x="7552944" y="2020824"/>
            <a:ext cx="4142232" cy="1856232"/>
          </a:xfrm>
          <a:prstGeom prst="rect">
            <a:avLst/>
          </a:prstGeom>
          <a:solidFill>
            <a:srgbClr val="FFFFFF"/>
          </a:solidFill>
          <a:ln w="12700">
            <a:solidFill>
              <a:srgbClr val="DAD3C2"/>
            </a:solidFill>
            <a:prstDash val="solid"/>
          </a:ln>
        </p:spPr>
        <p:txBody>
          <a:bodyPr/>
          <a:p/>
        </p:txBody>
      </p:sp>
      <p:pic>
        <p:nvPicPr>
          <p:cNvPr id="13" name="Image 0" descr="Jacob A. Riis, 1889  Library of Congress">    </p:cNvPr>
          <p:cNvPicPr>
            <a:picLocks noChangeAspect="1"/>
          </p:cNvPicPr>
          <p:nvPr/>
        </p:nvPicPr>
        <p:blipFill>
          <a:blip r:embed="rId1"/>
          <a:srcRect l="0" r="0" t="0" b="0"/>
          <a:stretch/>
        </p:blipFill>
        <p:spPr>
          <a:xfrm>
            <a:off x="7589520" y="2057400"/>
            <a:ext cx="4069080" cy="1783080"/>
          </a:xfrm>
          <a:prstGeom prst="rect">
            <a:avLst/>
          </a:prstGeom>
        </p:spPr>
      </p:pic>
      <p:sp>
        <p:nvSpPr>
          <p:cNvPr id="14" name="Text 11"/>
          <p:cNvSpPr/>
          <p:nvPr/>
        </p:nvSpPr>
        <p:spPr>
          <a:xfrm>
            <a:off x="7589520" y="3895344"/>
            <a:ext cx="4069080" cy="493776"/>
          </a:xfrm>
          <a:prstGeom prst="rect">
            <a:avLst/>
          </a:prstGeom>
          <a:noFill/>
          <a:ln/>
        </p:spPr>
        <p:txBody>
          <a:bodyPr wrap="square" rtlCol="0" anchor="t"/>
          <a:lstStyle/>
          <a:p>
            <a:pPr algn="l" indent="0" marL="0">
              <a:lnSpc>
                <a:spcPct val="100000"/>
              </a:lnSpc>
              <a:buNone/>
            </a:pPr>
            <a:pPr algn="l" indent="0" marL="0">
              <a:lnSpc>
                <a:spcPct val="100000"/>
              </a:lnSpc>
              <a:buNone/>
            </a:pPr>
            <a:r>
              <a:rPr lang="en-US" sz="900" i="1" dirty="0">
                <a:solidFill>
                  <a:srgbClr val="5C6470"/>
                </a:solidFill>
                <a:latin typeface="Calibri" pitchFamily="34" charset="0"/>
                <a:ea typeface="Calibri" pitchFamily="34" charset="-122"/>
                <a:cs typeface="Calibri" pitchFamily="34" charset="-120"/>
              </a:rPr>
              <a:t>Jacob A. Riis, 1889  </a:t>
            </a:r>
            <a:pPr algn="l" indent="0" marL="0">
              <a:lnSpc>
                <a:spcPct val="100000"/>
              </a:lnSpc>
              <a:buNone/>
            </a:pPr>
            <a:r>
              <a:rPr lang="en-US" sz="900" i="1" u="sng" dirty="0">
                <a:solidFill>
                  <a:srgbClr val="00285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750" dirty="0"/>
          </a:p>
        </p:txBody>
      </p:sp>
      <p:sp>
        <p:nvSpPr>
          <p:cNvPr id="15" name="Shape 12"/>
          <p:cNvSpPr/>
          <p:nvPr/>
        </p:nvSpPr>
        <p:spPr>
          <a:xfrm>
            <a:off x="548640" y="4526280"/>
            <a:ext cx="5486400" cy="1325880"/>
          </a:xfrm>
          <a:prstGeom prst="roundRect">
            <a:avLst>
              <a:gd name="adj" fmla="val 5517"/>
            </a:avLst>
          </a:prstGeom>
          <a:solidFill>
            <a:srgbClr val="1F3A5F"/>
          </a:solidFill>
          <a:ln/>
        </p:spPr>
        <p:txBody>
          <a:bodyPr/>
          <a:p/>
        </p:txBody>
      </p:sp>
      <p:sp>
        <p:nvSpPr>
          <p:cNvPr id="16" name="Text 13"/>
          <p:cNvSpPr/>
          <p:nvPr/>
        </p:nvSpPr>
        <p:spPr>
          <a:xfrm>
            <a:off x="777240" y="4645152"/>
            <a:ext cx="4572000" cy="274320"/>
          </a:xfrm>
          <a:prstGeom prst="rect">
            <a:avLst/>
          </a:prstGeom>
          <a:noFill/>
          <a:ln/>
        </p:spPr>
        <p:txBody>
          <a:bodyPr wrap="square" rtlCol="0" anchor="ctr"/>
          <a:lstStyle/>
          <a:p>
            <a:pPr indent="0" marL="0">
              <a:buNone/>
            </a:pPr>
            <a:r>
              <a:rPr lang="en-US" sz="1050" b="1" spc="200" kern="0" dirty="0">
                <a:solidFill>
                  <a:srgbClr val="F9A825"/>
                </a:solidFill>
                <a:latin typeface="Trebuchet MS" pitchFamily="34" charset="0"/>
                <a:ea typeface="Trebuchet MS" pitchFamily="34" charset="-122"/>
                <a:cs typeface="Trebuchet MS" pitchFamily="34" charset="-120"/>
              </a:rPr>
              <a:t>DELIVERABLE</a:t>
            </a:r>
            <a:endParaRPr lang="en-US" sz="1050" dirty="0"/>
          </a:p>
        </p:txBody>
      </p:sp>
      <p:sp>
        <p:nvSpPr>
          <p:cNvPr id="17" name="Text 14"/>
          <p:cNvSpPr/>
          <p:nvPr/>
        </p:nvSpPr>
        <p:spPr>
          <a:xfrm>
            <a:off x="777240" y="4919472"/>
            <a:ext cx="5029200" cy="868680"/>
          </a:xfrm>
          <a:prstGeom prst="rect">
            <a:avLst/>
          </a:prstGeom>
          <a:noFill/>
          <a:ln/>
        </p:spPr>
        <p:txBody>
          <a:bodyPr wrap="square" rtlCol="0" anchor="t"/>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Two perspective sentences + a photographer's-purpose statement.</a:t>
            </a:r>
            <a:endParaRPr lang="en-US" sz="1250" dirty="0"/>
          </a:p>
        </p:txBody>
      </p:sp>
      <p:sp>
        <p:nvSpPr>
          <p:cNvPr id="18" name="Shape 15"/>
          <p:cNvSpPr/>
          <p:nvPr/>
        </p:nvSpPr>
        <p:spPr>
          <a:xfrm>
            <a:off x="6172200" y="4526280"/>
            <a:ext cx="5440680" cy="1325880"/>
          </a:xfrm>
          <a:prstGeom prst="roundRect">
            <a:avLst>
              <a:gd name="adj" fmla="val 5517"/>
            </a:avLst>
          </a:prstGeom>
          <a:solidFill>
            <a:srgbClr val="FBEFD0"/>
          </a:solidFill>
          <a:ln w="15875">
            <a:solidFill>
              <a:srgbClr val="C9A227"/>
            </a:solidFill>
            <a:prstDash val="solid"/>
          </a:ln>
        </p:spPr>
        <p:txBody>
          <a:bodyPr/>
          <a:p/>
        </p:txBody>
      </p:sp>
      <p:sp>
        <p:nvSpPr>
          <p:cNvPr id="19" name="Text 16"/>
          <p:cNvSpPr/>
          <p:nvPr/>
        </p:nvSpPr>
        <p:spPr>
          <a:xfrm>
            <a:off x="6400800" y="4645152"/>
            <a:ext cx="4572000" cy="274320"/>
          </a:xfrm>
          <a:prstGeom prst="rect">
            <a:avLst/>
          </a:prstGeom>
          <a:noFill/>
          <a:ln/>
        </p:spPr>
        <p:txBody>
          <a:bodyPr wrap="square" rtlCol="0" anchor="ctr"/>
          <a:lstStyle/>
          <a:p>
            <a:pPr indent="0" marL="0">
              <a:buNone/>
            </a:pPr>
            <a:r>
              <a:rPr lang="en-US" sz="1050" b="1" spc="200" kern="0" dirty="0">
                <a:solidFill>
                  <a:srgbClr val="B22234"/>
                </a:solidFill>
                <a:latin typeface="Trebuchet MS" pitchFamily="34" charset="0"/>
                <a:ea typeface="Trebuchet MS" pitchFamily="34" charset="-122"/>
                <a:cs typeface="Trebuchet MS" pitchFamily="34" charset="-120"/>
              </a:rPr>
              <a:t>SUPPORT OPTIONS</a:t>
            </a:r>
            <a:endParaRPr lang="en-US" sz="1050" dirty="0"/>
          </a:p>
        </p:txBody>
      </p:sp>
      <p:sp>
        <p:nvSpPr>
          <p:cNvPr id="20" name="Text 17"/>
          <p:cNvSpPr/>
          <p:nvPr/>
        </p:nvSpPr>
        <p:spPr>
          <a:xfrm>
            <a:off x="6400800" y="4919472"/>
            <a:ext cx="5029200" cy="868680"/>
          </a:xfrm>
          <a:prstGeom prst="rect">
            <a:avLst/>
          </a:prstGeom>
          <a:noFill/>
          <a:ln/>
        </p:spPr>
        <p:txBody>
          <a:bodyPr wrap="square" rtlCol="0" anchor="t"/>
          <a:lstStyle/>
          <a:p>
            <a:pPr indent="0" marL="0">
              <a:lnSpc>
                <a:spcPct val="105000"/>
              </a:lnSpc>
              <a:buNone/>
            </a:pPr>
            <a:r>
              <a:rPr lang="en-US" sz="1200" dirty="0">
                <a:solidFill>
                  <a:srgbClr val="1F2430"/>
                </a:solidFill>
                <a:latin typeface="Calibri" pitchFamily="34" charset="0"/>
                <a:ea typeface="Calibri" pitchFamily="34" charset="-122"/>
                <a:cs typeface="Calibri" pitchFamily="34" charset="-120"/>
              </a:rPr>
              <a:t>SUPPORT OPTION: sentence stems for both perspectives. EXTENSION: evaluate whether a staged photo is reliable evidence.</a:t>
            </a:r>
            <a:endParaRPr lang="en-US" sz="1200" dirty="0"/>
          </a:p>
        </p:txBody>
      </p:sp>
      <p:sp>
        <p:nvSpPr>
          <p:cNvPr id="21" name="Text 18"/>
          <p:cNvSpPr/>
          <p:nvPr/>
        </p:nvSpPr>
        <p:spPr>
          <a:xfrm>
            <a:off x="548640" y="5943600"/>
            <a:ext cx="11064240" cy="320040"/>
          </a:xfrm>
          <a:prstGeom prst="rect">
            <a:avLst/>
          </a:prstGeom>
          <a:noFill/>
          <a:ln/>
        </p:spPr>
        <p:txBody>
          <a:bodyPr wrap="square" rtlCol="0" anchor="ctr"/>
          <a:lstStyle/>
          <a:p>
            <a:pPr indent="0" marL="0">
              <a:buNone/>
            </a:pPr>
            <a:r>
              <a:rPr lang="en-US" sz="1050" b="1" dirty="0">
                <a:solidFill>
                  <a:srgbClr val="1F3A5F"/>
                </a:solidFill>
                <a:latin typeface="Calibri" pitchFamily="34" charset="0"/>
                <a:ea typeface="Calibri" pitchFamily="34" charset="-122"/>
                <a:cs typeface="Calibri" pitchFamily="34" charset="-120"/>
              </a:rPr>
              <a:t>Companion printable:  </a:t>
            </a:r>
            <a:pPr indent="0" marL="0">
              <a:buNone/>
            </a:pPr>
            <a:r>
              <a:rPr lang="en-US" sz="1050" i="1" dirty="0">
                <a:solidFill>
                  <a:srgbClr val="002858"/>
                </a:solidFill>
                <a:latin typeface="Calibri" pitchFamily="34" charset="0"/>
                <a:ea typeface="Calibri" pitchFamily="34" charset="-122"/>
                <a:cs typeface="Calibri" pitchFamily="34" charset="-120"/>
              </a:rPr>
              <a:t>Cornell Notes — US.07: Immigration &amp; Urbanization</a:t>
            </a:r>
            <a:endParaRPr lang="en-US" sz="1050" dirty="0"/>
          </a:p>
        </p:txBody>
      </p:sp>
      <p:sp>
        <p:nvSpPr>
          <p:cNvPr id="23" name="Text 19"/>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4" name="Text 20"/>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106</a:t>
            </a:r>
            <a:endParaRPr lang="en-US" sz="9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6">
    <p:bg>
      <p:bgPr>
        <a:solidFill>
          <a:srgbClr val="1F3A5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227"/>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US.07 · CHECK FOR UNDERSTANDING</a:t>
            </a:r>
            <a:endParaRPr lang="en-US" sz="1200" dirty="0"/>
          </a:p>
        </p:txBody>
      </p:sp>
      <p:sp>
        <p:nvSpPr>
          <p:cNvPr id="4" name="Text 2"/>
          <p:cNvSpPr/>
          <p:nvPr/>
        </p:nvSpPr>
        <p:spPr>
          <a:xfrm>
            <a:off x="548640" y="777240"/>
            <a:ext cx="676656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7635240" y="822960"/>
            <a:ext cx="1143000" cy="457200"/>
          </a:xfrm>
          <a:prstGeom prst="roundRect">
            <a:avLst>
              <a:gd name="adj" fmla="val 20000"/>
            </a:avLst>
          </a:prstGeom>
          <a:solidFill>
            <a:srgbClr val="243047"/>
          </a:solidFill>
          <a:ln w="12700">
            <a:solidFill>
              <a:srgbClr val="C9A227"/>
            </a:solidFill>
            <a:prstDash val="solid"/>
          </a:ln>
        </p:spPr>
        <p:txBody>
          <a:bodyPr/>
          <a:p/>
        </p:txBody>
      </p:sp>
      <p:sp>
        <p:nvSpPr>
          <p:cNvPr id="6" name="Text 4"/>
          <p:cNvSpPr/>
          <p:nvPr/>
        </p:nvSpPr>
        <p:spPr>
          <a:xfrm>
            <a:off x="7635240" y="822960"/>
            <a:ext cx="1143000" cy="457200"/>
          </a:xfrm>
          <a:prstGeom prst="rect">
            <a:avLst/>
          </a:prstGeom>
          <a:noFill/>
          <a:ln/>
        </p:spPr>
        <p:txBody>
          <a:bodyPr wrap="square" rtlCol="0" anchor="ctr"/>
          <a:lstStyle/>
          <a:p>
            <a:pPr algn="ctr" indent="0" marL="0">
              <a:buNone/>
            </a:pPr>
            <a:r>
              <a:rPr lang="en-US" sz="1200" b="1" dirty="0">
                <a:solidFill>
                  <a:srgbClr val="F9A825"/>
                </a:solidFill>
                <a:latin typeface="Trebuchet MS" pitchFamily="34" charset="0"/>
                <a:ea typeface="Trebuchet MS" pitchFamily="34" charset="-122"/>
                <a:cs typeface="Trebuchet MS" pitchFamily="34" charset="-120"/>
              </a:rPr>
              <a:t>DOK 2</a:t>
            </a:r>
            <a:endParaRPr lang="en-US" sz="1200" dirty="0"/>
          </a:p>
        </p:txBody>
      </p:sp>
      <p:sp>
        <p:nvSpPr>
          <p:cNvPr id="7" name="Shape 5"/>
          <p:cNvSpPr/>
          <p:nvPr/>
        </p:nvSpPr>
        <p:spPr>
          <a:xfrm>
            <a:off x="8869680" y="822960"/>
            <a:ext cx="2743200" cy="457200"/>
          </a:xfrm>
          <a:prstGeom prst="roundRect">
            <a:avLst>
              <a:gd name="adj" fmla="val 20000"/>
            </a:avLst>
          </a:prstGeom>
          <a:solidFill>
            <a:srgbClr val="B22234"/>
          </a:solidFill>
          <a:ln/>
        </p:spPr>
        <p:txBody>
          <a:bodyPr/>
          <a:p/>
        </p:txBody>
      </p:sp>
      <p:sp>
        <p:nvSpPr>
          <p:cNvPr id="8" name="Text 6"/>
          <p:cNvSpPr/>
          <p:nvPr/>
        </p:nvSpPr>
        <p:spPr>
          <a:xfrm>
            <a:off x="8869680" y="822960"/>
            <a:ext cx="274320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EOC PRACTICE</a:t>
            </a:r>
            <a:endParaRPr lang="en-US" sz="1200" dirty="0"/>
          </a:p>
        </p:txBody>
      </p:sp>
      <p:sp>
        <p:nvSpPr>
          <p:cNvPr id="9" name="Shape 7"/>
          <p:cNvSpPr/>
          <p:nvPr/>
        </p:nvSpPr>
        <p:spPr>
          <a:xfrm>
            <a:off x="548640" y="1554480"/>
            <a:ext cx="11064240" cy="1051560"/>
          </a:xfrm>
          <a:prstGeom prst="roundRect">
            <a:avLst>
              <a:gd name="adj" fmla="val 6957"/>
            </a:avLst>
          </a:prstGeom>
          <a:solidFill>
            <a:srgbClr val="243047"/>
          </a:solidFill>
          <a:ln w="6350">
            <a:solidFill>
              <a:srgbClr val="A7BACB"/>
            </a:solidFill>
            <a:prstDash val="solid"/>
          </a:ln>
        </p:spPr>
        <p:txBody>
          <a:bodyPr/>
          <a:p/>
        </p:txBody>
      </p:sp>
      <p:sp>
        <p:nvSpPr>
          <p:cNvPr id="10" name="Text 8"/>
          <p:cNvSpPr/>
          <p:nvPr/>
        </p:nvSpPr>
        <p:spPr>
          <a:xfrm>
            <a:off x="822960" y="1691640"/>
            <a:ext cx="10515600" cy="777240"/>
          </a:xfrm>
          <a:prstGeom prst="rect">
            <a:avLst/>
          </a:prstGeom>
          <a:noFill/>
          <a:ln/>
        </p:spPr>
        <p:txBody>
          <a:bodyPr wrap="square" rtlCol="0" anchor="ctr"/>
          <a:lstStyle/>
          <a:p>
            <a:pPr indent="0" marL="0">
              <a:lnSpc>
                <a:spcPct val="105000"/>
              </a:lnSpc>
              <a:buNone/>
            </a:pPr>
            <a:r>
              <a:rPr lang="en-US" sz="1600" b="1" dirty="0">
                <a:solidFill>
                  <a:srgbClr val="FFFFFF"/>
                </a:solidFill>
                <a:latin typeface="Calibri" pitchFamily="34" charset="0"/>
                <a:ea typeface="Calibri" pitchFamily="34" charset="-122"/>
                <a:cs typeface="Calibri" pitchFamily="34" charset="-120"/>
              </a:rPr>
              <a:t>According to Jane Addams, what was the philosophy behind Hull-House?</a:t>
            </a:r>
            <a:endParaRPr lang="en-US" sz="1600" dirty="0"/>
          </a:p>
        </p:txBody>
      </p:sp>
      <p:sp>
        <p:nvSpPr>
          <p:cNvPr id="11" name="Shape 9"/>
          <p:cNvSpPr/>
          <p:nvPr/>
        </p:nvSpPr>
        <p:spPr>
          <a:xfrm>
            <a:off x="548640" y="2743200"/>
            <a:ext cx="11064240" cy="658368"/>
          </a:xfrm>
          <a:prstGeom prst="roundRect">
            <a:avLst>
              <a:gd name="adj" fmla="val 8333"/>
            </a:avLst>
          </a:prstGeom>
          <a:solidFill>
            <a:srgbClr val="2C384F"/>
          </a:solidFill>
          <a:ln w="12700">
            <a:solidFill>
              <a:srgbClr val="3A475E"/>
            </a:solidFill>
            <a:prstDash val="solid"/>
          </a:ln>
        </p:spPr>
        <p:txBody>
          <a:bodyPr/>
          <a:p/>
        </p:txBody>
      </p:sp>
      <p:sp>
        <p:nvSpPr>
          <p:cNvPr id="12" name="Shape 10"/>
          <p:cNvSpPr/>
          <p:nvPr/>
        </p:nvSpPr>
        <p:spPr>
          <a:xfrm>
            <a:off x="713232" y="2889504"/>
            <a:ext cx="365760" cy="365760"/>
          </a:xfrm>
          <a:prstGeom prst="ellipse">
            <a:avLst/>
          </a:prstGeom>
          <a:solidFill>
            <a:srgbClr val="1F3A5F"/>
          </a:solidFill>
          <a:ln/>
        </p:spPr>
        <p:txBody>
          <a:bodyPr/>
          <a:p/>
        </p:txBody>
      </p:sp>
      <p:sp>
        <p:nvSpPr>
          <p:cNvPr id="13" name="Text 11"/>
          <p:cNvSpPr/>
          <p:nvPr/>
        </p:nvSpPr>
        <p:spPr>
          <a:xfrm>
            <a:off x="713232" y="2889504"/>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A</a:t>
            </a:r>
            <a:endParaRPr lang="en-US" sz="1400" dirty="0"/>
          </a:p>
        </p:txBody>
      </p:sp>
      <p:sp>
        <p:nvSpPr>
          <p:cNvPr id="14" name="Text 12"/>
          <p:cNvSpPr/>
          <p:nvPr/>
        </p:nvSpPr>
        <p:spPr>
          <a:xfrm>
            <a:off x="1234440" y="2743200"/>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That different social classes depend on and can help each other.</a:t>
            </a:r>
            <a:endParaRPr lang="en-US" sz="1350" dirty="0"/>
          </a:p>
        </p:txBody>
      </p:sp>
      <p:sp>
        <p:nvSpPr>
          <p:cNvPr id="15" name="Shape 13"/>
          <p:cNvSpPr/>
          <p:nvPr/>
        </p:nvSpPr>
        <p:spPr>
          <a:xfrm>
            <a:off x="548640" y="3493008"/>
            <a:ext cx="11064240" cy="658368"/>
          </a:xfrm>
          <a:prstGeom prst="roundRect">
            <a:avLst>
              <a:gd name="adj" fmla="val 8333"/>
            </a:avLst>
          </a:prstGeom>
          <a:solidFill>
            <a:srgbClr val="2C384F"/>
          </a:solidFill>
          <a:ln w="12700">
            <a:solidFill>
              <a:srgbClr val="3A475E"/>
            </a:solidFill>
            <a:prstDash val="solid"/>
          </a:ln>
        </p:spPr>
        <p:txBody>
          <a:bodyPr/>
          <a:p/>
        </p:txBody>
      </p:sp>
      <p:sp>
        <p:nvSpPr>
          <p:cNvPr id="16" name="Shape 14"/>
          <p:cNvSpPr/>
          <p:nvPr/>
        </p:nvSpPr>
        <p:spPr>
          <a:xfrm>
            <a:off x="713232" y="3639312"/>
            <a:ext cx="365760" cy="365760"/>
          </a:xfrm>
          <a:prstGeom prst="ellipse">
            <a:avLst/>
          </a:prstGeom>
          <a:solidFill>
            <a:srgbClr val="1F3A5F"/>
          </a:solidFill>
          <a:ln/>
        </p:spPr>
        <p:txBody>
          <a:bodyPr/>
          <a:p/>
        </p:txBody>
      </p:sp>
      <p:sp>
        <p:nvSpPr>
          <p:cNvPr id="17" name="Text 15"/>
          <p:cNvSpPr/>
          <p:nvPr/>
        </p:nvSpPr>
        <p:spPr>
          <a:xfrm>
            <a:off x="713232" y="3639312"/>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B</a:t>
            </a:r>
            <a:endParaRPr lang="en-US" sz="1400" dirty="0"/>
          </a:p>
        </p:txBody>
      </p:sp>
      <p:sp>
        <p:nvSpPr>
          <p:cNvPr id="18" name="Text 16"/>
          <p:cNvSpPr/>
          <p:nvPr/>
        </p:nvSpPr>
        <p:spPr>
          <a:xfrm>
            <a:off x="1234440" y="3493008"/>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That wealthy people should live separately from immigrants.</a:t>
            </a:r>
            <a:endParaRPr lang="en-US" sz="1350" dirty="0"/>
          </a:p>
        </p:txBody>
      </p:sp>
      <p:sp>
        <p:nvSpPr>
          <p:cNvPr id="19" name="Shape 17"/>
          <p:cNvSpPr/>
          <p:nvPr/>
        </p:nvSpPr>
        <p:spPr>
          <a:xfrm>
            <a:off x="548640" y="4242816"/>
            <a:ext cx="11064240" cy="658368"/>
          </a:xfrm>
          <a:prstGeom prst="roundRect">
            <a:avLst>
              <a:gd name="adj" fmla="val 8333"/>
            </a:avLst>
          </a:prstGeom>
          <a:solidFill>
            <a:srgbClr val="2C384F"/>
          </a:solidFill>
          <a:ln w="12700">
            <a:solidFill>
              <a:srgbClr val="3A475E"/>
            </a:solidFill>
            <a:prstDash val="solid"/>
          </a:ln>
        </p:spPr>
        <p:txBody>
          <a:bodyPr/>
          <a:p/>
        </p:txBody>
      </p:sp>
      <p:sp>
        <p:nvSpPr>
          <p:cNvPr id="20" name="Shape 18"/>
          <p:cNvSpPr/>
          <p:nvPr/>
        </p:nvSpPr>
        <p:spPr>
          <a:xfrm>
            <a:off x="713232" y="4389120"/>
            <a:ext cx="365760" cy="365760"/>
          </a:xfrm>
          <a:prstGeom prst="ellipse">
            <a:avLst/>
          </a:prstGeom>
          <a:solidFill>
            <a:srgbClr val="1F3A5F"/>
          </a:solidFill>
          <a:ln/>
        </p:spPr>
        <p:txBody>
          <a:bodyPr/>
          <a:p/>
        </p:txBody>
      </p:sp>
      <p:sp>
        <p:nvSpPr>
          <p:cNvPr id="21" name="Text 19"/>
          <p:cNvSpPr/>
          <p:nvPr/>
        </p:nvSpPr>
        <p:spPr>
          <a:xfrm>
            <a:off x="713232" y="4389120"/>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C</a:t>
            </a:r>
            <a:endParaRPr lang="en-US" sz="1400" dirty="0"/>
          </a:p>
        </p:txBody>
      </p:sp>
      <p:sp>
        <p:nvSpPr>
          <p:cNvPr id="22" name="Text 20"/>
          <p:cNvSpPr/>
          <p:nvPr/>
        </p:nvSpPr>
        <p:spPr>
          <a:xfrm>
            <a:off x="1234440" y="4242816"/>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That immigrants should return to their home countries.</a:t>
            </a:r>
            <a:endParaRPr lang="en-US" sz="1350" dirty="0"/>
          </a:p>
        </p:txBody>
      </p:sp>
      <p:sp>
        <p:nvSpPr>
          <p:cNvPr id="23" name="Shape 21"/>
          <p:cNvSpPr/>
          <p:nvPr/>
        </p:nvSpPr>
        <p:spPr>
          <a:xfrm>
            <a:off x="548640" y="4992624"/>
            <a:ext cx="11064240" cy="658368"/>
          </a:xfrm>
          <a:prstGeom prst="roundRect">
            <a:avLst>
              <a:gd name="adj" fmla="val 8333"/>
            </a:avLst>
          </a:prstGeom>
          <a:solidFill>
            <a:srgbClr val="2C384F"/>
          </a:solidFill>
          <a:ln w="12700">
            <a:solidFill>
              <a:srgbClr val="3A475E"/>
            </a:solidFill>
            <a:prstDash val="solid"/>
          </a:ln>
        </p:spPr>
        <p:txBody>
          <a:bodyPr/>
          <a:p/>
        </p:txBody>
      </p:sp>
      <p:sp>
        <p:nvSpPr>
          <p:cNvPr id="24" name="Shape 22"/>
          <p:cNvSpPr/>
          <p:nvPr/>
        </p:nvSpPr>
        <p:spPr>
          <a:xfrm>
            <a:off x="713232" y="5138928"/>
            <a:ext cx="365760" cy="365760"/>
          </a:xfrm>
          <a:prstGeom prst="ellipse">
            <a:avLst/>
          </a:prstGeom>
          <a:solidFill>
            <a:srgbClr val="1F3A5F"/>
          </a:solidFill>
          <a:ln/>
        </p:spPr>
        <p:txBody>
          <a:bodyPr/>
          <a:p/>
        </p:txBody>
      </p:sp>
      <p:sp>
        <p:nvSpPr>
          <p:cNvPr id="25" name="Text 23"/>
          <p:cNvSpPr/>
          <p:nvPr/>
        </p:nvSpPr>
        <p:spPr>
          <a:xfrm>
            <a:off x="713232" y="5138928"/>
            <a:ext cx="365760" cy="365760"/>
          </a:xfrm>
          <a:prstGeom prst="rect">
            <a:avLst/>
          </a:prstGeom>
          <a:noFill/>
          <a:ln/>
        </p:spPr>
        <p:txBody>
          <a:bodyPr wrap="square" rtlCol="0" anchor="ctr"/>
          <a:lstStyle/>
          <a:p>
            <a:pPr algn="ctr" indent="0" marL="0">
              <a:buNone/>
            </a:pPr>
            <a:r>
              <a:rPr lang="en-US" sz="1400" b="1" dirty="0">
                <a:solidFill>
                  <a:srgbClr val="A7BACB"/>
                </a:solidFill>
                <a:latin typeface="Trebuchet MS" pitchFamily="34" charset="0"/>
                <a:ea typeface="Trebuchet MS" pitchFamily="34" charset="-122"/>
                <a:cs typeface="Trebuchet MS" pitchFamily="34" charset="-120"/>
              </a:rPr>
              <a:t>D</a:t>
            </a:r>
            <a:endParaRPr lang="en-US" sz="1400" dirty="0"/>
          </a:p>
        </p:txBody>
      </p:sp>
      <p:sp>
        <p:nvSpPr>
          <p:cNvPr id="26" name="Text 24"/>
          <p:cNvSpPr/>
          <p:nvPr/>
        </p:nvSpPr>
        <p:spPr>
          <a:xfrm>
            <a:off x="1234440" y="4992624"/>
            <a:ext cx="9692640" cy="658368"/>
          </a:xfrm>
          <a:prstGeom prst="rect">
            <a:avLst/>
          </a:prstGeom>
          <a:noFill/>
          <a:ln/>
        </p:spPr>
        <p:txBody>
          <a:bodyPr wrap="square" rtlCol="0" anchor="ctr"/>
          <a:lstStyle/>
          <a:p>
            <a:pPr indent="0" marL="0">
              <a:lnSpc>
                <a:spcPct val="100000"/>
              </a:lnSpc>
              <a:buNone/>
            </a:pPr>
            <a:r>
              <a:rPr lang="en-US" sz="1350" dirty="0">
                <a:solidFill>
                  <a:srgbClr val="FFFFFF"/>
                </a:solidFill>
                <a:latin typeface="Calibri" pitchFamily="34" charset="0"/>
                <a:ea typeface="Calibri" pitchFamily="34" charset="-122"/>
                <a:cs typeface="Calibri" pitchFamily="34" charset="-120"/>
              </a:rPr>
              <a:t>That government should provide all social services.</a:t>
            </a:r>
            <a:endParaRPr lang="en-US" sz="1350" dirty="0"/>
          </a:p>
        </p:txBody>
      </p:sp>
      <p:sp>
        <p:nvSpPr>
          <p:cNvPr id="27" name="Shape 25"/>
          <p:cNvSpPr/>
          <p:nvPr/>
        </p:nvSpPr>
        <p:spPr>
          <a:xfrm>
            <a:off x="548640" y="5715000"/>
            <a:ext cx="11064240" cy="502920"/>
          </a:xfrm>
          <a:prstGeom prst="roundRect">
            <a:avLst>
              <a:gd name="adj" fmla="val 14545"/>
            </a:avLst>
          </a:prstGeom>
          <a:solidFill>
            <a:srgbClr val="243047"/>
          </a:solidFill>
          <a:ln w="12700">
            <a:solidFill>
              <a:srgbClr val="C9A227"/>
            </a:solidFill>
            <a:prstDash val="solid"/>
          </a:ln>
        </p:spPr>
        <p:txBody>
          <a:bodyPr/>
          <a:p/>
        </p:txBody>
      </p:sp>
      <p:sp>
        <p:nvSpPr>
          <p:cNvPr id="28" name="Text 26"/>
          <p:cNvSpPr/>
          <p:nvPr/>
        </p:nvSpPr>
        <p:spPr>
          <a:xfrm>
            <a:off x="822960" y="5715000"/>
            <a:ext cx="10515600" cy="502920"/>
          </a:xfrm>
          <a:prstGeom prst="rect">
            <a:avLst/>
          </a:prstGeom>
          <a:noFill/>
          <a:ln/>
        </p:spPr>
        <p:txBody>
          <a:bodyPr wrap="square" rtlCol="0" anchor="ctr"/>
          <a:lstStyle/>
          <a:p>
            <a:pPr indent="0" marL="0">
              <a:buNone/>
            </a:pPr>
            <a:r>
              <a:rPr lang="en-US" sz="1200" b="1" i="1" spc="100" kern="0" dirty="0">
                <a:solidFill>
                  <a:srgbClr val="F9A825"/>
                </a:solidFill>
                <a:latin typeface="Trebuchet MS" pitchFamily="34" charset="0"/>
                <a:ea typeface="Trebuchet MS" pitchFamily="34" charset="-122"/>
                <a:cs typeface="Trebuchet MS" pitchFamily="34" charset="-120"/>
              </a:rPr>
              <a:t>ANSWER FIRST:  </a:t>
            </a:r>
            <a:pPr indent="0" marL="0">
              <a:buNone/>
            </a:pPr>
            <a:r>
              <a:rPr lang="en-US" sz="1200" i="1" dirty="0">
                <a:solidFill>
                  <a:srgbClr val="C7D4E0"/>
                </a:solidFill>
                <a:latin typeface="Calibri" pitchFamily="34" charset="0"/>
                <a:ea typeface="Calibri" pitchFamily="34" charset="-122"/>
                <a:cs typeface="Calibri" pitchFamily="34" charset="-120"/>
              </a:rPr>
              <a:t>students commit — then click / advance to reveal the correct answer and explanation.</a:t>
            </a:r>
            <a:endParaRPr lang="en-US" sz="1200" dirty="0"/>
          </a:p>
        </p:txBody>
      </p:sp>
      <p:sp>
        <p:nvSpPr>
          <p:cNvPr id="30" name="Text 27"/>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1" name="Text 2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107</a:t>
            </a:r>
            <a:endParaRPr lang="en-US" sz="9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7">
    <p:bg>
      <p:bgPr>
        <a:solidFill>
          <a:srgbClr val="1F3A5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227"/>
          </a:solidFill>
          <a:ln/>
        </p:spPr>
        <p:txBody>
          <a:bodyPr/>
          <a:p/>
        </p:txBody>
      </p:sp>
      <p:sp>
        <p:nvSpPr>
          <p:cNvPr id="3" name="Text 1"/>
          <p:cNvSpPr/>
          <p:nvPr/>
        </p:nvSpPr>
        <p:spPr>
          <a:xfrm>
            <a:off x="548640" y="457200"/>
            <a:ext cx="7315200" cy="274320"/>
          </a:xfrm>
          <a:prstGeom prst="rect">
            <a:avLst/>
          </a:prstGeom>
          <a:noFill/>
          <a:ln/>
        </p:spPr>
        <p:txBody>
          <a:bodyPr wrap="square" rtlCol="0" anchor="ctr"/>
          <a:lstStyle/>
          <a:p>
            <a:pPr algn="l" indent="0" marL="0">
              <a:buNone/>
            </a:pPr>
            <a:r>
              <a:rPr lang="en-US" sz="1200" b="1" spc="200" kern="0" dirty="0">
                <a:solidFill>
                  <a:srgbClr val="F9A825"/>
                </a:solidFill>
                <a:latin typeface="Trebuchet MS" pitchFamily="34" charset="0"/>
                <a:ea typeface="Trebuchet MS" pitchFamily="34" charset="-122"/>
                <a:cs typeface="Trebuchet MS" pitchFamily="34" charset="-120"/>
              </a:rPr>
              <a:t>US.07 · ANSWER REVEAL</a:t>
            </a:r>
            <a:endParaRPr lang="en-US" sz="1200" dirty="0"/>
          </a:p>
        </p:txBody>
      </p:sp>
      <p:sp>
        <p:nvSpPr>
          <p:cNvPr id="4" name="Text 2"/>
          <p:cNvSpPr/>
          <p:nvPr/>
        </p:nvSpPr>
        <p:spPr>
          <a:xfrm>
            <a:off x="548640" y="777240"/>
            <a:ext cx="822960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TCAP-Style Question</a:t>
            </a:r>
            <a:endParaRPr lang="en-US" sz="2800" dirty="0"/>
          </a:p>
        </p:txBody>
      </p:sp>
      <p:sp>
        <p:nvSpPr>
          <p:cNvPr id="5" name="Shape 3"/>
          <p:cNvSpPr/>
          <p:nvPr/>
        </p:nvSpPr>
        <p:spPr>
          <a:xfrm>
            <a:off x="8595360" y="822960"/>
            <a:ext cx="3017520" cy="457200"/>
          </a:xfrm>
          <a:prstGeom prst="roundRect">
            <a:avLst>
              <a:gd name="adj" fmla="val 20000"/>
            </a:avLst>
          </a:prstGeom>
          <a:solidFill>
            <a:srgbClr val="1B5E20"/>
          </a:solidFill>
          <a:ln/>
        </p:spPr>
        <p:txBody>
          <a:bodyPr/>
          <a:p/>
        </p:txBody>
      </p:sp>
      <p:sp>
        <p:nvSpPr>
          <p:cNvPr id="6" name="Text 4"/>
          <p:cNvSpPr/>
          <p:nvPr/>
        </p:nvSpPr>
        <p:spPr>
          <a:xfrm>
            <a:off x="8595360" y="822960"/>
            <a:ext cx="3017520" cy="457200"/>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 ANSWER KEY</a:t>
            </a:r>
            <a:endParaRPr lang="en-US" sz="1200" dirty="0"/>
          </a:p>
        </p:txBody>
      </p:sp>
      <p:sp>
        <p:nvSpPr>
          <p:cNvPr id="7" name="Shape 5"/>
          <p:cNvSpPr/>
          <p:nvPr/>
        </p:nvSpPr>
        <p:spPr>
          <a:xfrm>
            <a:off x="548640" y="1554480"/>
            <a:ext cx="11064240" cy="960120"/>
          </a:xfrm>
          <a:prstGeom prst="roundRect">
            <a:avLst>
              <a:gd name="adj" fmla="val 7619"/>
            </a:avLst>
          </a:prstGeom>
          <a:solidFill>
            <a:srgbClr val="243047"/>
          </a:solidFill>
          <a:ln w="6350">
            <a:solidFill>
              <a:srgbClr val="A7BACB"/>
            </a:solidFill>
            <a:prstDash val="solid"/>
          </a:ln>
        </p:spPr>
        <p:txBody>
          <a:bodyPr/>
          <a:p/>
        </p:txBody>
      </p:sp>
      <p:sp>
        <p:nvSpPr>
          <p:cNvPr id="8" name="Text 6"/>
          <p:cNvSpPr/>
          <p:nvPr/>
        </p:nvSpPr>
        <p:spPr>
          <a:xfrm>
            <a:off x="822960" y="1664208"/>
            <a:ext cx="10515600" cy="731520"/>
          </a:xfrm>
          <a:prstGeom prst="rect">
            <a:avLst/>
          </a:prstGeom>
          <a:noFill/>
          <a:ln/>
        </p:spPr>
        <p:txBody>
          <a:bodyPr wrap="square" rtlCol="0" anchor="ctr"/>
          <a:lstStyle/>
          <a:p>
            <a:pPr indent="0" marL="0">
              <a:lnSpc>
                <a:spcPct val="102000"/>
              </a:lnSpc>
              <a:buNone/>
            </a:pPr>
            <a:r>
              <a:rPr lang="en-US" sz="1500" b="1" dirty="0">
                <a:solidFill>
                  <a:srgbClr val="FFFFFF"/>
                </a:solidFill>
                <a:latin typeface="Calibri" pitchFamily="34" charset="0"/>
                <a:ea typeface="Calibri" pitchFamily="34" charset="-122"/>
                <a:cs typeface="Calibri" pitchFamily="34" charset="-120"/>
              </a:rPr>
              <a:t>According to Jane Addams, what was the philosophy behind Hull-House?</a:t>
            </a:r>
            <a:endParaRPr lang="en-US" sz="1500" dirty="0"/>
          </a:p>
        </p:txBody>
      </p:sp>
      <p:sp>
        <p:nvSpPr>
          <p:cNvPr id="9" name="Shape 7"/>
          <p:cNvSpPr/>
          <p:nvPr/>
        </p:nvSpPr>
        <p:spPr>
          <a:xfrm>
            <a:off x="548640" y="2651760"/>
            <a:ext cx="11064240" cy="566928"/>
          </a:xfrm>
          <a:prstGeom prst="roundRect">
            <a:avLst>
              <a:gd name="adj" fmla="val 9677"/>
            </a:avLst>
          </a:prstGeom>
          <a:solidFill>
            <a:srgbClr val="C9A227"/>
          </a:solidFill>
          <a:ln w="12700">
            <a:solidFill>
              <a:srgbClr val="3A475E"/>
            </a:solidFill>
            <a:prstDash val="solid"/>
          </a:ln>
        </p:spPr>
        <p:txBody>
          <a:bodyPr/>
          <a:p/>
        </p:txBody>
      </p:sp>
      <p:sp>
        <p:nvSpPr>
          <p:cNvPr id="10" name="Shape 8"/>
          <p:cNvSpPr/>
          <p:nvPr/>
        </p:nvSpPr>
        <p:spPr>
          <a:xfrm>
            <a:off x="713232" y="2761488"/>
            <a:ext cx="347472" cy="347472"/>
          </a:xfrm>
          <a:prstGeom prst="ellipse">
            <a:avLst/>
          </a:prstGeom>
          <a:solidFill>
            <a:srgbClr val="1F3A5F"/>
          </a:solidFill>
          <a:ln/>
        </p:spPr>
        <p:txBody>
          <a:bodyPr/>
          <a:p/>
        </p:txBody>
      </p:sp>
      <p:sp>
        <p:nvSpPr>
          <p:cNvPr id="11" name="Text 9"/>
          <p:cNvSpPr/>
          <p:nvPr/>
        </p:nvSpPr>
        <p:spPr>
          <a:xfrm>
            <a:off x="713232" y="2761488"/>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A</a:t>
            </a:r>
            <a:endParaRPr lang="en-US" sz="1300" dirty="0"/>
          </a:p>
        </p:txBody>
      </p:sp>
      <p:sp>
        <p:nvSpPr>
          <p:cNvPr id="12" name="Text 10"/>
          <p:cNvSpPr/>
          <p:nvPr/>
        </p:nvSpPr>
        <p:spPr>
          <a:xfrm>
            <a:off x="1216152" y="2651760"/>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That different social classes depend on and can help each other.</a:t>
            </a:r>
            <a:endParaRPr lang="en-US" sz="1300" dirty="0"/>
          </a:p>
        </p:txBody>
      </p:sp>
      <p:sp>
        <p:nvSpPr>
          <p:cNvPr id="13" name="Shape 11"/>
          <p:cNvSpPr/>
          <p:nvPr/>
        </p:nvSpPr>
        <p:spPr>
          <a:xfrm>
            <a:off x="548640" y="3310128"/>
            <a:ext cx="11064240" cy="566928"/>
          </a:xfrm>
          <a:prstGeom prst="roundRect">
            <a:avLst>
              <a:gd name="adj" fmla="val 9677"/>
            </a:avLst>
          </a:prstGeom>
          <a:solidFill>
            <a:srgbClr val="2C384F"/>
          </a:solidFill>
          <a:ln w="12700">
            <a:solidFill>
              <a:srgbClr val="F9A825"/>
            </a:solidFill>
            <a:prstDash val="solid"/>
          </a:ln>
        </p:spPr>
        <p:txBody>
          <a:bodyPr/>
          <a:p/>
        </p:txBody>
      </p:sp>
      <p:sp>
        <p:nvSpPr>
          <p:cNvPr id="14" name="Shape 12"/>
          <p:cNvSpPr/>
          <p:nvPr/>
        </p:nvSpPr>
        <p:spPr>
          <a:xfrm>
            <a:off x="713232" y="3419856"/>
            <a:ext cx="347472" cy="347472"/>
          </a:xfrm>
          <a:prstGeom prst="ellipse">
            <a:avLst/>
          </a:prstGeom>
          <a:solidFill>
            <a:srgbClr val="1F3A5F"/>
          </a:solidFill>
          <a:ln/>
        </p:spPr>
        <p:txBody>
          <a:bodyPr/>
          <a:p/>
        </p:txBody>
      </p:sp>
      <p:sp>
        <p:nvSpPr>
          <p:cNvPr id="15" name="Text 13"/>
          <p:cNvSpPr/>
          <p:nvPr/>
        </p:nvSpPr>
        <p:spPr>
          <a:xfrm>
            <a:off x="713232" y="3419856"/>
            <a:ext cx="347472" cy="347472"/>
          </a:xfrm>
          <a:prstGeom prst="rect">
            <a:avLst/>
          </a:prstGeom>
          <a:noFill/>
          <a:ln/>
        </p:spPr>
        <p:txBody>
          <a:bodyPr wrap="square" rtlCol="0" anchor="ctr"/>
          <a:lstStyle/>
          <a:p>
            <a:pPr algn="ctr" indent="0" marL="0">
              <a:buNone/>
            </a:pPr>
            <a:r>
              <a:rPr lang="en-US" sz="1300" b="1" dirty="0">
                <a:solidFill>
                  <a:srgbClr val="F9A825"/>
                </a:solidFill>
                <a:latin typeface="Trebuchet MS" pitchFamily="34" charset="0"/>
                <a:ea typeface="Trebuchet MS" pitchFamily="34" charset="-122"/>
                <a:cs typeface="Trebuchet MS" pitchFamily="34" charset="-120"/>
              </a:rPr>
              <a:t>B</a:t>
            </a:r>
            <a:endParaRPr lang="en-US" sz="1300" dirty="0"/>
          </a:p>
        </p:txBody>
      </p:sp>
      <p:sp>
        <p:nvSpPr>
          <p:cNvPr id="16" name="Text 14"/>
          <p:cNvSpPr/>
          <p:nvPr/>
        </p:nvSpPr>
        <p:spPr>
          <a:xfrm>
            <a:off x="1216152" y="3310128"/>
            <a:ext cx="9509760" cy="566928"/>
          </a:xfrm>
          <a:prstGeom prst="rect">
            <a:avLst/>
          </a:prstGeom>
          <a:noFill/>
          <a:ln/>
        </p:spPr>
        <p:txBody>
          <a:bodyPr wrap="square" rtlCol="0" anchor="ctr"/>
          <a:lstStyle/>
          <a:p>
            <a:pPr indent="0" marL="0">
              <a:lnSpc>
                <a:spcPct val="100000"/>
              </a:lnSpc>
              <a:buNone/>
            </a:pPr>
            <a:r>
              <a:rPr lang="en-US" sz="1300" b="1" dirty="0">
                <a:solidFill>
                  <a:srgbClr val="1F3A5F"/>
                </a:solidFill>
                <a:latin typeface="Calibri" pitchFamily="34" charset="0"/>
                <a:ea typeface="Calibri" pitchFamily="34" charset="-122"/>
                <a:cs typeface="Calibri" pitchFamily="34" charset="-120"/>
              </a:rPr>
              <a:t>That wealthy people should live separately from immigrants.</a:t>
            </a:r>
            <a:endParaRPr lang="en-US" sz="1300" dirty="0"/>
          </a:p>
        </p:txBody>
      </p:sp>
      <p:sp>
        <p:nvSpPr>
          <p:cNvPr id="17" name="Text 15"/>
          <p:cNvSpPr/>
          <p:nvPr/>
        </p:nvSpPr>
        <p:spPr>
          <a:xfrm>
            <a:off x="11018520" y="2651760"/>
            <a:ext cx="457200" cy="566928"/>
          </a:xfrm>
          <a:prstGeom prst="rect">
            <a:avLst/>
          </a:prstGeom>
          <a:noFill/>
          <a:ln/>
        </p:spPr>
        <p:txBody>
          <a:bodyPr wrap="square" rtlCol="0" anchor="ctr"/>
          <a:lstStyle/>
          <a:p>
            <a:pPr algn="ctr" indent="0" marL="0">
              <a:buNone/>
            </a:pPr>
            <a:r>
              <a:rPr lang="en-US" sz="1700" b="1" dirty="0">
                <a:solidFill>
                  <a:srgbClr val="1F3A5F"/>
                </a:solidFill>
                <a:latin typeface="Calibri" pitchFamily="34" charset="0"/>
                <a:ea typeface="Calibri" pitchFamily="34" charset="-122"/>
                <a:cs typeface="Calibri" pitchFamily="34" charset="-120"/>
              </a:rPr>
              <a:t>✓</a:t>
            </a:r>
            <a:endParaRPr lang="en-US" sz="1700" dirty="0"/>
          </a:p>
        </p:txBody>
      </p:sp>
      <p:sp>
        <p:nvSpPr>
          <p:cNvPr id="18" name="Shape 16"/>
          <p:cNvSpPr/>
          <p:nvPr/>
        </p:nvSpPr>
        <p:spPr>
          <a:xfrm>
            <a:off x="548640" y="3968496"/>
            <a:ext cx="11064240" cy="566928"/>
          </a:xfrm>
          <a:prstGeom prst="roundRect">
            <a:avLst>
              <a:gd name="adj" fmla="val 9677"/>
            </a:avLst>
          </a:prstGeom>
          <a:solidFill>
            <a:srgbClr val="2C384F"/>
          </a:solidFill>
          <a:ln w="12700">
            <a:solidFill>
              <a:srgbClr val="3A475E"/>
            </a:solidFill>
            <a:prstDash val="solid"/>
          </a:ln>
        </p:spPr>
        <p:txBody>
          <a:bodyPr/>
          <a:p/>
        </p:txBody>
      </p:sp>
      <p:sp>
        <p:nvSpPr>
          <p:cNvPr id="19" name="Shape 17"/>
          <p:cNvSpPr/>
          <p:nvPr/>
        </p:nvSpPr>
        <p:spPr>
          <a:xfrm>
            <a:off x="713232" y="4078224"/>
            <a:ext cx="347472" cy="347472"/>
          </a:xfrm>
          <a:prstGeom prst="ellipse">
            <a:avLst/>
          </a:prstGeom>
          <a:solidFill>
            <a:srgbClr val="1F3A5F"/>
          </a:solidFill>
          <a:ln/>
        </p:spPr>
        <p:txBody>
          <a:bodyPr/>
          <a:p/>
        </p:txBody>
      </p:sp>
      <p:sp>
        <p:nvSpPr>
          <p:cNvPr id="20" name="Text 18"/>
          <p:cNvSpPr/>
          <p:nvPr/>
        </p:nvSpPr>
        <p:spPr>
          <a:xfrm>
            <a:off x="713232" y="4078224"/>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C</a:t>
            </a:r>
            <a:endParaRPr lang="en-US" sz="1300" dirty="0"/>
          </a:p>
        </p:txBody>
      </p:sp>
      <p:sp>
        <p:nvSpPr>
          <p:cNvPr id="21" name="Text 19"/>
          <p:cNvSpPr/>
          <p:nvPr/>
        </p:nvSpPr>
        <p:spPr>
          <a:xfrm>
            <a:off x="1216152" y="3968496"/>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That immigrants should return to their home countries.</a:t>
            </a:r>
            <a:endParaRPr lang="en-US" sz="1300" dirty="0"/>
          </a:p>
        </p:txBody>
      </p:sp>
      <p:sp>
        <p:nvSpPr>
          <p:cNvPr id="22" name="Shape 20"/>
          <p:cNvSpPr/>
          <p:nvPr/>
        </p:nvSpPr>
        <p:spPr>
          <a:xfrm>
            <a:off x="548640" y="4626864"/>
            <a:ext cx="11064240" cy="566928"/>
          </a:xfrm>
          <a:prstGeom prst="roundRect">
            <a:avLst>
              <a:gd name="adj" fmla="val 9677"/>
            </a:avLst>
          </a:prstGeom>
          <a:solidFill>
            <a:srgbClr val="2C384F"/>
          </a:solidFill>
          <a:ln w="12700">
            <a:solidFill>
              <a:srgbClr val="3A475E"/>
            </a:solidFill>
            <a:prstDash val="solid"/>
          </a:ln>
        </p:spPr>
        <p:txBody>
          <a:bodyPr/>
          <a:p/>
        </p:txBody>
      </p:sp>
      <p:sp>
        <p:nvSpPr>
          <p:cNvPr id="23" name="Shape 21"/>
          <p:cNvSpPr/>
          <p:nvPr/>
        </p:nvSpPr>
        <p:spPr>
          <a:xfrm>
            <a:off x="713232" y="4736592"/>
            <a:ext cx="347472" cy="347472"/>
          </a:xfrm>
          <a:prstGeom prst="ellipse">
            <a:avLst/>
          </a:prstGeom>
          <a:solidFill>
            <a:srgbClr val="1F3A5F"/>
          </a:solidFill>
          <a:ln/>
        </p:spPr>
        <p:txBody>
          <a:bodyPr/>
          <a:p/>
        </p:txBody>
      </p:sp>
      <p:sp>
        <p:nvSpPr>
          <p:cNvPr id="24" name="Text 22"/>
          <p:cNvSpPr/>
          <p:nvPr/>
        </p:nvSpPr>
        <p:spPr>
          <a:xfrm>
            <a:off x="713232" y="4736592"/>
            <a:ext cx="347472" cy="347472"/>
          </a:xfrm>
          <a:prstGeom prst="rect">
            <a:avLst/>
          </a:prstGeom>
          <a:noFill/>
          <a:ln/>
        </p:spPr>
        <p:txBody>
          <a:bodyPr wrap="square" rtlCol="0" anchor="ctr"/>
          <a:lstStyle/>
          <a:p>
            <a:pPr algn="ctr" indent="0" marL="0">
              <a:buNone/>
            </a:pPr>
            <a:r>
              <a:rPr lang="en-US" sz="1300" b="1" dirty="0">
                <a:solidFill>
                  <a:srgbClr val="A7BACB"/>
                </a:solidFill>
                <a:latin typeface="Trebuchet MS" pitchFamily="34" charset="0"/>
                <a:ea typeface="Trebuchet MS" pitchFamily="34" charset="-122"/>
                <a:cs typeface="Trebuchet MS" pitchFamily="34" charset="-120"/>
              </a:rPr>
              <a:t>D</a:t>
            </a:r>
            <a:endParaRPr lang="en-US" sz="1300" dirty="0"/>
          </a:p>
        </p:txBody>
      </p:sp>
      <p:sp>
        <p:nvSpPr>
          <p:cNvPr id="25" name="Text 23"/>
          <p:cNvSpPr/>
          <p:nvPr/>
        </p:nvSpPr>
        <p:spPr>
          <a:xfrm>
            <a:off x="1216152" y="4626864"/>
            <a:ext cx="9509760" cy="566928"/>
          </a:xfrm>
          <a:prstGeom prst="rect">
            <a:avLst/>
          </a:prstGeom>
          <a:noFill/>
          <a:ln/>
        </p:spPr>
        <p:txBody>
          <a:bodyPr wrap="square" rtlCol="0" anchor="ctr"/>
          <a:lstStyle/>
          <a:p>
            <a:pPr indent="0" marL="0">
              <a:lnSpc>
                <a:spcPct val="100000"/>
              </a:lnSpc>
              <a:buNone/>
            </a:pPr>
            <a:r>
              <a:rPr lang="en-US" sz="1300" dirty="0">
                <a:solidFill>
                  <a:srgbClr val="FFFFFF"/>
                </a:solidFill>
                <a:latin typeface="Calibri" pitchFamily="34" charset="0"/>
                <a:ea typeface="Calibri" pitchFamily="34" charset="-122"/>
                <a:cs typeface="Calibri" pitchFamily="34" charset="-120"/>
              </a:rPr>
              <a:t>That government should provide all social services.</a:t>
            </a:r>
            <a:endParaRPr lang="en-US" sz="1300" dirty="0"/>
          </a:p>
        </p:txBody>
      </p:sp>
      <p:sp>
        <p:nvSpPr>
          <p:cNvPr id="26" name="Shape 24"/>
          <p:cNvSpPr/>
          <p:nvPr/>
        </p:nvSpPr>
        <p:spPr>
          <a:xfrm>
            <a:off x="548640" y="5440680"/>
            <a:ext cx="11064240" cy="868680"/>
          </a:xfrm>
          <a:prstGeom prst="roundRect">
            <a:avLst>
              <a:gd name="adj" fmla="val 8421"/>
            </a:avLst>
          </a:prstGeom>
          <a:solidFill>
            <a:srgbClr val="243047"/>
          </a:solidFill>
          <a:ln w="12700">
            <a:solidFill>
              <a:srgbClr val="F9A825"/>
            </a:solidFill>
            <a:prstDash val="solid"/>
          </a:ln>
        </p:spPr>
        <p:txBody>
          <a:bodyPr/>
          <a:p/>
        </p:txBody>
      </p:sp>
      <p:sp>
        <p:nvSpPr>
          <p:cNvPr id="27" name="Text 25"/>
          <p:cNvSpPr/>
          <p:nvPr/>
        </p:nvSpPr>
        <p:spPr>
          <a:xfrm>
            <a:off x="822960" y="5532120"/>
            <a:ext cx="10515600" cy="713232"/>
          </a:xfrm>
          <a:prstGeom prst="rect">
            <a:avLst/>
          </a:prstGeom>
          <a:noFill/>
          <a:ln/>
        </p:spPr>
        <p:txBody>
          <a:bodyPr wrap="square" rtlCol="0" anchor="ctr"/>
          <a:lstStyle/>
          <a:p>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Correct answer: A.  </a:t>
            </a:r>
            <a:pPr indent="0" marL="0">
              <a:lnSpc>
                <a:spcPct val="104000"/>
              </a:lnSpc>
              <a:buNone/>
            </a:pPr>
            <a:r>
              <a:rPr lang="en-US" sz="1150" b="1" dirty="0">
                <a:solidFill>
                  <a:srgbClr val="F9A825"/>
                </a:solidFill>
                <a:latin typeface="Calibri" pitchFamily="34" charset="0"/>
                <a:ea typeface="Calibri" pitchFamily="34" charset="-122"/>
                <a:cs typeface="Calibri" pitchFamily="34" charset="-120"/>
              </a:rPr>
              <a:t>Why: </a:t>
            </a:r>
            <a:pPr indent="0" marL="0">
              <a:lnSpc>
                <a:spcPct val="104000"/>
              </a:lnSpc>
              <a:buNone/>
            </a:pPr>
            <a:r>
              <a:rPr lang="en-US" sz="1150" dirty="0">
                <a:solidFill>
                  <a:srgbClr val="C7D4E0"/>
                </a:solidFill>
                <a:latin typeface="Calibri" pitchFamily="34" charset="0"/>
                <a:ea typeface="Calibri" pitchFamily="34" charset="-122"/>
                <a:cs typeface="Calibri" pitchFamily="34" charset="-120"/>
              </a:rPr>
              <a:t>Addams states Hull-House operated on "the theory that the dependence of classes on each other is reciprocal," emphasizing mutual benefit.</a:t>
            </a:r>
            <a:endParaRPr lang="en-US" sz="1150" dirty="0"/>
          </a:p>
        </p:txBody>
      </p:sp>
      <p:sp>
        <p:nvSpPr>
          <p:cNvPr id="29" name="Text 26"/>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30" name="Text 2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108</a:t>
            </a:r>
            <a:endParaRPr lang="en-US" sz="9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8">
    <p:bg>
      <p:bgPr>
        <a:solidFill>
          <a:srgbClr val="F8F5E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F3A5F"/>
          </a:solidFill>
          <a:ln/>
        </p:spPr>
        <p:txBody>
          <a:bodyPr/>
          <a:p/>
        </p:txBody>
      </p:sp>
      <p:sp>
        <p:nvSpPr>
          <p:cNvPr id="3" name="Text 1"/>
          <p:cNvSpPr/>
          <p:nvPr/>
        </p:nvSpPr>
        <p:spPr>
          <a:xfrm>
            <a:off x="548640" y="411480"/>
            <a:ext cx="7315200" cy="274320"/>
          </a:xfrm>
          <a:prstGeom prst="rect">
            <a:avLst/>
          </a:prstGeom>
          <a:noFill/>
          <a:ln/>
        </p:spPr>
        <p:txBody>
          <a:bodyPr wrap="square" rtlCol="0" anchor="ctr"/>
          <a:lstStyle/>
          <a:p>
            <a:pPr algn="l" indent="0" marL="0">
              <a:buNone/>
            </a:pPr>
            <a:r>
              <a:rPr lang="en-US" sz="1200" b="1" spc="200" kern="0" dirty="0">
                <a:solidFill>
                  <a:srgbClr val="B22234"/>
                </a:solidFill>
                <a:latin typeface="Trebuchet MS" pitchFamily="34" charset="0"/>
                <a:ea typeface="Trebuchet MS" pitchFamily="34" charset="-122"/>
                <a:cs typeface="Trebuchet MS" pitchFamily="34" charset="-120"/>
              </a:rPr>
              <a:t>US.07 · WRAP-UP</a:t>
            </a:r>
            <a:endParaRPr lang="en-US" sz="1200" dirty="0"/>
          </a:p>
        </p:txBody>
      </p:sp>
      <p:sp>
        <p:nvSpPr>
          <p:cNvPr id="4" name="Text 2"/>
          <p:cNvSpPr/>
          <p:nvPr/>
        </p:nvSpPr>
        <p:spPr>
          <a:xfrm>
            <a:off x="548640" y="731520"/>
            <a:ext cx="11064240" cy="640080"/>
          </a:xfrm>
          <a:prstGeom prst="rect">
            <a:avLst/>
          </a:prstGeom>
          <a:noFill/>
          <a:ln/>
        </p:spPr>
        <p:txBody>
          <a:bodyPr wrap="square" rtlCol="0" anchor="ctr"/>
          <a:lstStyle/>
          <a:p>
            <a:pPr indent="0" marL="0">
              <a:buNone/>
            </a:pPr>
            <a:r>
              <a:rPr lang="en-US" sz="2800" b="1" dirty="0">
                <a:solidFill>
                  <a:srgbClr val="1F3A5F"/>
                </a:solidFill>
                <a:latin typeface="Georgia" pitchFamily="34" charset="0"/>
                <a:ea typeface="Georgia" pitchFamily="34" charset="-122"/>
                <a:cs typeface="Georgia" pitchFamily="34" charset="-120"/>
              </a:rPr>
              <a:t>What You Need to Know for TCAP</a:t>
            </a:r>
            <a:endParaRPr lang="en-US" sz="2800" dirty="0"/>
          </a:p>
        </p:txBody>
      </p:sp>
      <p:sp>
        <p:nvSpPr>
          <p:cNvPr id="5" name="Shape 3"/>
          <p:cNvSpPr/>
          <p:nvPr/>
        </p:nvSpPr>
        <p:spPr>
          <a:xfrm>
            <a:off x="548640" y="1691640"/>
            <a:ext cx="7040880" cy="2971800"/>
          </a:xfrm>
          <a:prstGeom prst="rect">
            <a:avLst/>
          </a:prstGeom>
          <a:solidFill>
            <a:srgbClr val="FFFFFF"/>
          </a:solidFill>
          <a:ln w="12700">
            <a:solidFill>
              <a:srgbClr val="DAD3C2"/>
            </a:solidFill>
            <a:prstDash val="solid"/>
          </a:ln>
        </p:spPr>
        <p:txBody>
          <a:bodyPr/>
          <a:p/>
        </p:txBody>
      </p:sp>
      <p:sp>
        <p:nvSpPr>
          <p:cNvPr id="6" name="Text 4"/>
          <p:cNvSpPr/>
          <p:nvPr/>
        </p:nvSpPr>
        <p:spPr>
          <a:xfrm>
            <a:off x="868680" y="1847088"/>
            <a:ext cx="5486400" cy="320040"/>
          </a:xfrm>
          <a:prstGeom prst="rect">
            <a:avLst/>
          </a:prstGeom>
          <a:noFill/>
          <a:ln/>
        </p:spPr>
        <p:txBody>
          <a:bodyPr wrap="square" rtlCol="0" anchor="ctr"/>
          <a:lstStyle/>
          <a:p>
            <a:pPr indent="0" marL="0">
              <a:buNone/>
            </a:pPr>
            <a:r>
              <a:rPr lang="en-US" sz="1200" b="1" spc="200" kern="0" dirty="0">
                <a:solidFill>
                  <a:srgbClr val="B22234"/>
                </a:solidFill>
                <a:latin typeface="Trebuchet MS" pitchFamily="34" charset="0"/>
                <a:ea typeface="Trebuchet MS" pitchFamily="34" charset="-122"/>
                <a:cs typeface="Trebuchet MS" pitchFamily="34" charset="-120"/>
              </a:rPr>
              <a:t>KEY TAKEAWAYS</a:t>
            </a:r>
            <a:endParaRPr lang="en-US" sz="1200" dirty="0"/>
          </a:p>
        </p:txBody>
      </p:sp>
      <p:sp>
        <p:nvSpPr>
          <p:cNvPr id="7" name="Text 5"/>
          <p:cNvSpPr/>
          <p:nvPr/>
        </p:nvSpPr>
        <p:spPr>
          <a:xfrm>
            <a:off x="868680" y="2212848"/>
            <a:ext cx="6492240" cy="2331720"/>
          </a:xfrm>
          <a:prstGeom prst="rect">
            <a:avLst/>
          </a:prstGeom>
          <a:noFill/>
          <a:ln/>
        </p:spPr>
        <p:txBody>
          <a:bodyPr wrap="square" rtlCol="0" anchor="t"/>
          <a:lstStyle/>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Old and New Immigrants</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Entry Points and the Assimilation Process</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Push and Pull Factors</a:t>
            </a:r>
            <a:endParaRPr lang="en-US" sz="1500" dirty="0"/>
          </a:p>
          <a:p>
            <a:pPr marL="203200" indent="-203200">
              <a:lnSpc>
                <a:spcPct val="105000"/>
              </a:lnSpc>
              <a:spcAft>
                <a:spcPts val="800"/>
              </a:spcAft>
              <a:buSzPct val="100000"/>
              <a:buChar char="•"/>
            </a:pPr>
            <a:r>
              <a:rPr lang="en-US" sz="1500" dirty="0">
                <a:solidFill>
                  <a:srgbClr val="1F2430"/>
                </a:solidFill>
                <a:latin typeface="Calibri" pitchFamily="34" charset="0"/>
                <a:ea typeface="Calibri" pitchFamily="34" charset="-122"/>
                <a:cs typeface="Calibri" pitchFamily="34" charset="-120"/>
              </a:rPr>
              <a:t>Nativism and Restriction</a:t>
            </a:r>
            <a:endParaRPr lang="en-US" sz="1500" dirty="0"/>
          </a:p>
        </p:txBody>
      </p:sp>
      <p:sp>
        <p:nvSpPr>
          <p:cNvPr id="8" name="Shape 6"/>
          <p:cNvSpPr/>
          <p:nvPr/>
        </p:nvSpPr>
        <p:spPr>
          <a:xfrm>
            <a:off x="548640" y="4800600"/>
            <a:ext cx="7040880" cy="1005840"/>
          </a:xfrm>
          <a:prstGeom prst="roundRect">
            <a:avLst>
              <a:gd name="adj" fmla="val 7273"/>
            </a:avLst>
          </a:prstGeom>
          <a:solidFill>
            <a:srgbClr val="F3EAD0"/>
          </a:solidFill>
          <a:ln w="12700">
            <a:solidFill>
              <a:srgbClr val="C9A227"/>
            </a:solidFill>
            <a:prstDash val="solid"/>
          </a:ln>
        </p:spPr>
        <p:txBody>
          <a:bodyPr/>
          <a:p/>
        </p:txBody>
      </p:sp>
      <p:sp>
        <p:nvSpPr>
          <p:cNvPr id="9" name="Text 7"/>
          <p:cNvSpPr/>
          <p:nvPr/>
        </p:nvSpPr>
        <p:spPr>
          <a:xfrm>
            <a:off x="822960" y="4901184"/>
            <a:ext cx="6492240" cy="274320"/>
          </a:xfrm>
          <a:prstGeom prst="rect">
            <a:avLst/>
          </a:prstGeom>
          <a:noFill/>
          <a:ln/>
        </p:spPr>
        <p:txBody>
          <a:bodyPr wrap="square" rtlCol="0" anchor="ctr"/>
          <a:lstStyle/>
          <a:p>
            <a:pPr indent="0" marL="0">
              <a:buNone/>
            </a:pPr>
            <a:r>
              <a:rPr lang="en-US" sz="1100" b="1" spc="100" kern="0" dirty="0">
                <a:solidFill>
                  <a:srgbClr val="7A5C12"/>
                </a:solidFill>
                <a:latin typeface="Trebuchet MS" pitchFamily="34" charset="0"/>
                <a:ea typeface="Trebuchet MS" pitchFamily="34" charset="-122"/>
                <a:cs typeface="Trebuchet MS" pitchFamily="34" charset="-120"/>
              </a:rPr>
              <a:t>★ EXTENSION  </a:t>
            </a:r>
            <a:pPr indent="0" marL="0">
              <a:buNone/>
            </a:pPr>
            <a:r>
              <a:rPr lang="en-US" sz="950" b="1" dirty="0">
                <a:solidFill>
                  <a:srgbClr val="5C6470"/>
                </a:solidFill>
                <a:latin typeface="Trebuchet MS" pitchFamily="34" charset="0"/>
                <a:ea typeface="Trebuchet MS" pitchFamily="34" charset="-122"/>
                <a:cs typeface="Trebuchet MS" pitchFamily="34" charset="-120"/>
              </a:rPr>
              <a:t>DOK 3 · SSP.04 Argumentation</a:t>
            </a:r>
            <a:endParaRPr lang="en-US" sz="1100" dirty="0"/>
          </a:p>
        </p:txBody>
      </p:sp>
      <p:sp>
        <p:nvSpPr>
          <p:cNvPr id="10" name="Text 8"/>
          <p:cNvSpPr/>
          <p:nvPr/>
        </p:nvSpPr>
        <p:spPr>
          <a:xfrm>
            <a:off x="822960" y="5175504"/>
            <a:ext cx="6492240" cy="566928"/>
          </a:xfrm>
          <a:prstGeom prst="rect">
            <a:avLst/>
          </a:prstGeom>
          <a:noFill/>
          <a:ln/>
        </p:spPr>
        <p:txBody>
          <a:bodyPr wrap="square" rtlCol="0" anchor="t"/>
          <a:lstStyle/>
          <a:p>
            <a:pPr indent="0" marL="0">
              <a:lnSpc>
                <a:spcPct val="100000"/>
              </a:lnSpc>
              <a:buNone/>
            </a:pPr>
            <a:r>
              <a:rPr lang="en-US" sz="1250" i="1" dirty="0">
                <a:solidFill>
                  <a:srgbClr val="1F2430"/>
                </a:solidFill>
                <a:latin typeface="Calibri" pitchFamily="34" charset="0"/>
                <a:ea typeface="Calibri" pitchFamily="34" charset="-122"/>
                <a:cs typeface="Calibri" pitchFamily="34" charset="-120"/>
              </a:rPr>
              <a:t>Construct an argument: was the Chinese Exclusion Act an economic policy or a racial one? Use specific evidence to defend your claim.</a:t>
            </a:r>
            <a:endParaRPr lang="en-US" sz="1250" dirty="0"/>
          </a:p>
        </p:txBody>
      </p:sp>
      <p:sp>
        <p:nvSpPr>
          <p:cNvPr id="11" name="Shape 9"/>
          <p:cNvSpPr/>
          <p:nvPr/>
        </p:nvSpPr>
        <p:spPr>
          <a:xfrm>
            <a:off x="7818120" y="1691640"/>
            <a:ext cx="3794760" cy="4114800"/>
          </a:xfrm>
          <a:prstGeom prst="roundRect">
            <a:avLst>
              <a:gd name="adj" fmla="val 2410"/>
            </a:avLst>
          </a:prstGeom>
          <a:solidFill>
            <a:srgbClr val="1F3A5F"/>
          </a:solidFill>
          <a:ln/>
        </p:spPr>
        <p:txBody>
          <a:bodyPr/>
          <a:p/>
        </p:txBody>
      </p:sp>
      <p:sp>
        <p:nvSpPr>
          <p:cNvPr id="12" name="Text 10"/>
          <p:cNvSpPr/>
          <p:nvPr/>
        </p:nvSpPr>
        <p:spPr>
          <a:xfrm>
            <a:off x="8092440" y="1920240"/>
            <a:ext cx="2286000" cy="320040"/>
          </a:xfrm>
          <a:prstGeom prst="rect">
            <a:avLst/>
          </a:prstGeom>
          <a:noFill/>
          <a:ln/>
        </p:spPr>
        <p:txBody>
          <a:bodyPr wrap="square" rtlCol="0" anchor="ctr"/>
          <a:lstStyle/>
          <a:p>
            <a:pPr indent="0" marL="0">
              <a:buNone/>
            </a:pPr>
            <a:r>
              <a:rPr lang="en-US" sz="1200" b="1" spc="200" kern="0" dirty="0">
                <a:solidFill>
                  <a:srgbClr val="F9A825"/>
                </a:solidFill>
                <a:latin typeface="Trebuchet MS" pitchFamily="34" charset="0"/>
                <a:ea typeface="Trebuchet MS" pitchFamily="34" charset="-122"/>
                <a:cs typeface="Trebuchet MS" pitchFamily="34" charset="-120"/>
              </a:rPr>
              <a:t>EXIT TICKET</a:t>
            </a:r>
            <a:endParaRPr lang="en-US" sz="1200" dirty="0"/>
          </a:p>
        </p:txBody>
      </p:sp>
      <p:sp>
        <p:nvSpPr>
          <p:cNvPr id="13" name="Shape 11"/>
          <p:cNvSpPr/>
          <p:nvPr/>
        </p:nvSpPr>
        <p:spPr>
          <a:xfrm>
            <a:off x="10378440" y="1883664"/>
            <a:ext cx="960120" cy="365760"/>
          </a:xfrm>
          <a:prstGeom prst="roundRect">
            <a:avLst>
              <a:gd name="adj" fmla="val 20000"/>
            </a:avLst>
          </a:prstGeom>
          <a:solidFill>
            <a:srgbClr val="243047"/>
          </a:solidFill>
          <a:ln w="9525">
            <a:solidFill>
              <a:srgbClr val="C9A227"/>
            </a:solidFill>
            <a:prstDash val="solid"/>
          </a:ln>
        </p:spPr>
        <p:txBody>
          <a:bodyPr/>
          <a:p/>
        </p:txBody>
      </p:sp>
      <p:sp>
        <p:nvSpPr>
          <p:cNvPr id="14" name="Text 12"/>
          <p:cNvSpPr/>
          <p:nvPr/>
        </p:nvSpPr>
        <p:spPr>
          <a:xfrm>
            <a:off x="10378440" y="1883664"/>
            <a:ext cx="960120" cy="365760"/>
          </a:xfrm>
          <a:prstGeom prst="rect">
            <a:avLst/>
          </a:prstGeom>
          <a:noFill/>
          <a:ln/>
        </p:spPr>
        <p:txBody>
          <a:bodyPr wrap="square" rtlCol="0" anchor="ctr"/>
          <a:lstStyle/>
          <a:p>
            <a:pPr algn="ctr" indent="0" marL="0">
              <a:buNone/>
            </a:pPr>
            <a:r>
              <a:rPr lang="en-US" sz="1000" b="1" dirty="0">
                <a:solidFill>
                  <a:srgbClr val="F9A825"/>
                </a:solidFill>
                <a:latin typeface="Trebuchet MS" pitchFamily="34" charset="0"/>
                <a:ea typeface="Trebuchet MS" pitchFamily="34" charset="-122"/>
                <a:cs typeface="Trebuchet MS" pitchFamily="34" charset="-120"/>
              </a:rPr>
              <a:t>DOK 3</a:t>
            </a:r>
            <a:endParaRPr lang="en-US" sz="1000" dirty="0"/>
          </a:p>
        </p:txBody>
      </p:sp>
      <p:sp>
        <p:nvSpPr>
          <p:cNvPr id="15" name="Text 13"/>
          <p:cNvSpPr/>
          <p:nvPr/>
        </p:nvSpPr>
        <p:spPr>
          <a:xfrm>
            <a:off x="8092440" y="2377440"/>
            <a:ext cx="3246120" cy="1828800"/>
          </a:xfrm>
          <a:prstGeom prst="rect">
            <a:avLst/>
          </a:prstGeom>
          <a:noFill/>
          <a:ln/>
        </p:spPr>
        <p:txBody>
          <a:bodyPr wrap="square" rtlCol="0" anchor="t"/>
          <a:lstStyle/>
          <a:p>
            <a:pPr indent="0" marL="0">
              <a:lnSpc>
                <a:spcPct val="110000"/>
              </a:lnSpc>
              <a:buNone/>
            </a:pPr>
            <a:r>
              <a:rPr lang="en-US" sz="1350" dirty="0">
                <a:solidFill>
                  <a:srgbClr val="FFFFFF"/>
                </a:solidFill>
                <a:latin typeface="Calibri" pitchFamily="34" charset="0"/>
                <a:ea typeface="Calibri" pitchFamily="34" charset="-122"/>
                <a:cs typeface="Calibri" pitchFamily="34" charset="-120"/>
              </a:rPr>
              <a:t>Compare a PUSH factor for a “new” immigrant with a reason native-born Americans reacted with nativism. Which surprises you more and why?</a:t>
            </a:r>
            <a:endParaRPr lang="en-US" sz="1350" dirty="0"/>
          </a:p>
        </p:txBody>
      </p:sp>
      <p:sp>
        <p:nvSpPr>
          <p:cNvPr id="16" name="Shape 14"/>
          <p:cNvSpPr/>
          <p:nvPr/>
        </p:nvSpPr>
        <p:spPr>
          <a:xfrm>
            <a:off x="8138160" y="4526280"/>
            <a:ext cx="3108960" cy="0"/>
          </a:xfrm>
          <a:prstGeom prst="line">
            <a:avLst/>
          </a:prstGeom>
          <a:noFill/>
          <a:ln w="12700">
            <a:solidFill>
              <a:srgbClr val="A7BACB"/>
            </a:solidFill>
            <a:prstDash val="dash"/>
          </a:ln>
        </p:spPr>
        <p:txBody>
          <a:bodyPr/>
          <a:p/>
        </p:txBody>
      </p:sp>
      <p:sp>
        <p:nvSpPr>
          <p:cNvPr id="17" name="Shape 15"/>
          <p:cNvSpPr/>
          <p:nvPr/>
        </p:nvSpPr>
        <p:spPr>
          <a:xfrm>
            <a:off x="8138160" y="5074920"/>
            <a:ext cx="3108960" cy="0"/>
          </a:xfrm>
          <a:prstGeom prst="line">
            <a:avLst/>
          </a:prstGeom>
          <a:noFill/>
          <a:ln w="12700">
            <a:solidFill>
              <a:srgbClr val="A7BACB"/>
            </a:solidFill>
            <a:prstDash val="dash"/>
          </a:ln>
        </p:spPr>
        <p:txBody>
          <a:bodyPr/>
          <a:p/>
        </p:txBody>
      </p:sp>
      <p:sp>
        <p:nvSpPr>
          <p:cNvPr id="18" name="Shape 16"/>
          <p:cNvSpPr/>
          <p:nvPr/>
        </p:nvSpPr>
        <p:spPr>
          <a:xfrm>
            <a:off x="8138160" y="5623560"/>
            <a:ext cx="3108960" cy="0"/>
          </a:xfrm>
          <a:prstGeom prst="line">
            <a:avLst/>
          </a:prstGeom>
          <a:noFill/>
          <a:ln w="12700">
            <a:solidFill>
              <a:srgbClr val="A7BACB"/>
            </a:solidFill>
            <a:prstDash val="dash"/>
          </a:ln>
        </p:spPr>
        <p:txBody>
          <a:bodyPr/>
          <a:p/>
        </p:txBody>
      </p:sp>
      <p:sp>
        <p:nvSpPr>
          <p:cNvPr id="20" name="Text 17"/>
          <p:cNvSpPr/>
          <p:nvPr/>
        </p:nvSpPr>
        <p:spPr>
          <a:xfrm>
            <a:off x="457200" y="6473952"/>
            <a:ext cx="10058400" cy="274320"/>
          </a:xfrm>
          <a:prstGeom prst="rect">
            <a:avLst/>
          </a:prstGeom>
          <a:noFill/>
          <a:ln/>
        </p:spPr>
        <p:txBody>
          <a:bodyPr wrap="square" rtlCol="0" anchor="ctr"/>
          <a:lstStyle/>
          <a:p>
            <a:pPr algn="l" indent="0" marL="0">
              <a:buNone/>
            </a:pPr>
            <a:r>
              <a:rPr lang="en-US" sz="9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1" name="Text 1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109</a:t>
            </a:r>
            <a:endParaRPr lang="en-US" sz="900" dirty="0"/>
          </a:p>
        </p:txBody>
      </p:sp>
      <p:sp>
        <p:nvSpPr>
          <p:cNvPr id="22" name="Rectangle 21"/>
          <p:cNvSpPr/>
          <p:nvPr/>
        </p:nvSpPr>
        <p:spPr>
          <a:xfrm>
            <a:off x="457200" y="5870448"/>
            <a:ext cx="11274552" cy="512064"/>
          </a:xfrm>
          <a:prstGeom prst="rect">
            <a:avLst/>
          </a:prstGeom>
          <a:solidFill>
            <a:srgbClr val="232F40"/>
          </a:solidFill>
          <a:ln w="12700">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3504" y="5907024"/>
            <a:ext cx="10972800" cy="457200"/>
          </a:xfrm>
          <a:prstGeom prst="rect">
            <a:avLst/>
          </a:prstGeom>
          <a:noFill/>
        </p:spPr>
        <p:txBody>
          <a:bodyPr wrap="square" anchor="t" lIns="0" rIns="0" tIns="0" bIns="0">
            <a:spAutoFit/>
          </a:bodyPr>
          <a:lstStyle/>
          <a:p>
            <a:pPr algn="l">
              <a:spcBef>
                <a:spcPts val="0"/>
              </a:spcBef>
              <a:spcAft>
                <a:spcPts val="0"/>
              </a:spcAft>
            </a:pPr>
            <a:r>
              <a:rPr sz="1000" b="1">
                <a:solidFill>
                  <a:srgbClr val="C9A227"/>
                </a:solidFill>
                <a:latin typeface="Trebuchet MS"/>
              </a:rPr>
              <a:t>TEACHER DECISION BAND   </a:t>
            </a:r>
            <a:r>
              <a:rPr sz="1000" b="0">
                <a:solidFill>
                  <a:srgbClr val="FFFFFF"/>
                </a:solidFill>
                <a:latin typeface="Calibri"/>
              </a:rPr>
              <a:t>PROGRESS CHECK → identify barrier → select support → reteach → recheck → extend</a:t>
            </a:r>
          </a:p>
          <a:p>
            <a:pPr algn="l">
              <a:spcBef>
                <a:spcPts val="0"/>
              </a:spcBef>
              <a:spcAft>
                <a:spcPts val="0"/>
              </a:spcAft>
            </a:pPr>
            <a:r>
              <a:rPr sz="1000" b="1">
                <a:solidFill>
                  <a:srgbClr val="C9A227"/>
                </a:solidFill>
                <a:latin typeface="Trebuchet MS"/>
              </a:rPr>
              <a:t>SCAFFOLD FADING   </a:t>
            </a:r>
            <a:r>
              <a:rPr sz="1000" b="0">
                <a:solidFill>
                  <a:srgbClr val="C7D4E0"/>
                </a:solidFill>
                <a:latin typeface="Calibri"/>
              </a:rPr>
              <a:t>Guided → Light → independent as evidence grows; required IEP/504 supports do not fade unless the authorized team changes them.</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sp>
        <p:nvSpPr>
          <p:cNvPr id="2" name="Rectangle 1"/>
          <p:cNvSpPr/>
          <p:nvPr/>
        </p:nvSpPr>
        <p:spPr>
          <a:xfrm>
            <a:off x="457200" y="274320"/>
            <a:ext cx="3566160" cy="36576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3566160" cy="365760"/>
          </a:xfrm>
          <a:prstGeom prst="rect">
            <a:avLst/>
          </a:prstGeom>
          <a:noFill/>
        </p:spPr>
        <p:txBody>
          <a:bodyPr wrap="square" anchor="ctr" lIns="0" rIns="0" tIns="0" bIns="0">
            <a:spAutoFit/>
          </a:bodyPr>
          <a:lstStyle/>
          <a:p>
            <a:pPr algn="ctr">
              <a:spcBef>
                <a:spcPts val="0"/>
              </a:spcBef>
              <a:spcAft>
                <a:spcPts val="200"/>
              </a:spcAft>
            </a:pPr>
            <a:r>
              <a:rPr sz="1100" b="1">
                <a:solidFill>
                  <a:srgbClr val="1F3A5F"/>
                </a:solidFill>
                <a:latin typeface="Trebuchet MS"/>
              </a:rPr>
              <a:t>REACHED — AND LEFT OUT</a:t>
            </a:r>
          </a:p>
        </p:txBody>
      </p:sp>
      <p:sp>
        <p:nvSpPr>
          <p:cNvPr id="4" name="TextBox 3"/>
          <p:cNvSpPr txBox="1"/>
          <p:nvPr/>
        </p:nvSpPr>
        <p:spPr>
          <a:xfrm>
            <a:off x="457200" y="822960"/>
            <a:ext cx="11247120" cy="594360"/>
          </a:xfrm>
          <a:prstGeom prst="rect">
            <a:avLst/>
          </a:prstGeom>
          <a:noFill/>
        </p:spPr>
        <p:txBody>
          <a:bodyPr wrap="square" anchor="t" lIns="0" rIns="0" tIns="0" bIns="0">
            <a:spAutoFit/>
          </a:bodyPr>
          <a:lstStyle/>
          <a:p>
            <a:pPr algn="l">
              <a:spcBef>
                <a:spcPts val="0"/>
              </a:spcBef>
              <a:spcAft>
                <a:spcPts val="200"/>
              </a:spcAft>
            </a:pPr>
            <a:r>
              <a:rPr sz="2200" b="1">
                <a:solidFill>
                  <a:srgbClr val="FFFFFF"/>
                </a:solidFill>
                <a:latin typeface="Georgia"/>
              </a:rPr>
              <a:t>Whose story the industrial era told — and who paid its costs</a:t>
            </a:r>
          </a:p>
        </p:txBody>
      </p:sp>
      <p:sp>
        <p:nvSpPr>
          <p:cNvPr id="5" name="TextBox 4"/>
          <p:cNvSpPr txBox="1"/>
          <p:nvPr/>
        </p:nvSpPr>
        <p:spPr>
          <a:xfrm>
            <a:off x="457200" y="1417320"/>
            <a:ext cx="11247120" cy="457200"/>
          </a:xfrm>
          <a:prstGeom prst="rect">
            <a:avLst/>
          </a:prstGeom>
          <a:noFill/>
        </p:spPr>
        <p:txBody>
          <a:bodyPr wrap="square" anchor="t" lIns="0" rIns="0" tIns="0" bIns="0">
            <a:spAutoFit/>
          </a:bodyPr>
          <a:lstStyle/>
          <a:p>
            <a:pPr algn="l">
              <a:spcBef>
                <a:spcPts val="0"/>
              </a:spcBef>
              <a:spcAft>
                <a:spcPts val="200"/>
              </a:spcAft>
            </a:pPr>
            <a:r>
              <a:rPr sz="1300" b="0">
                <a:solidFill>
                  <a:srgbClr val="C7D4E0"/>
                </a:solidFill>
                <a:latin typeface="Georgia"/>
              </a:rPr>
              <a:t>History Hack-authored synthesis grounded in this unit’s sourced record — read across the standards, not around them.</a:t>
            </a:r>
          </a:p>
        </p:txBody>
      </p:sp>
      <p:sp>
        <p:nvSpPr>
          <p:cNvPr id="6" name="Rectangle 5"/>
          <p:cNvSpPr/>
          <p:nvPr/>
        </p:nvSpPr>
        <p:spPr>
          <a:xfrm>
            <a:off x="457200" y="1965960"/>
            <a:ext cx="2606040" cy="397763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965960"/>
            <a:ext cx="2606040" cy="640080"/>
          </a:xfrm>
          <a:prstGeom prst="rect">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2011680"/>
            <a:ext cx="2386584" cy="548640"/>
          </a:xfrm>
          <a:prstGeom prst="rect">
            <a:avLst/>
          </a:prstGeom>
          <a:noFill/>
        </p:spPr>
        <p:txBody>
          <a:bodyPr wrap="square" anchor="ctr" lIns="0" rIns="0" tIns="0" bIns="0">
            <a:spAutoFit/>
          </a:bodyPr>
          <a:lstStyle/>
          <a:p>
            <a:pPr algn="l">
              <a:spcBef>
                <a:spcPts val="0"/>
              </a:spcBef>
              <a:spcAft>
                <a:spcPts val="200"/>
              </a:spcAft>
            </a:pPr>
            <a:r>
              <a:rPr sz="1400" b="1">
                <a:solidFill>
                  <a:srgbClr val="FFFFFF"/>
                </a:solidFill>
                <a:latin typeface="Georgia"/>
              </a:rPr>
              <a:t>American Indian Nations</a:t>
            </a:r>
          </a:p>
        </p:txBody>
      </p:sp>
      <p:sp>
        <p:nvSpPr>
          <p:cNvPr id="9" name="TextBox 8"/>
          <p:cNvSpPr txBox="1"/>
          <p:nvPr/>
        </p:nvSpPr>
        <p:spPr>
          <a:xfrm>
            <a:off x="566928" y="2743200"/>
            <a:ext cx="2386584" cy="3108960"/>
          </a:xfrm>
          <a:prstGeom prst="rect">
            <a:avLst/>
          </a:prstGeom>
          <a:noFill/>
        </p:spPr>
        <p:txBody>
          <a:bodyPr wrap="square" anchor="t" lIns="0" rIns="0" tIns="0" bIns="0">
            <a:spAutoFit/>
          </a:bodyPr>
          <a:lstStyle/>
          <a:p>
            <a:pPr algn="l">
              <a:spcBef>
                <a:spcPts val="0"/>
              </a:spcBef>
              <a:spcAft>
                <a:spcPts val="200"/>
              </a:spcAft>
            </a:pPr>
            <a:r>
              <a:rPr sz="1200" b="0">
                <a:solidFill>
                  <a:srgbClr val="1F2430"/>
                </a:solidFill>
                <a:latin typeface="Calibri"/>
              </a:rPr>
              <a:t>Westward expansion and the railroad (US.01) crossed treaty lands; reservation, assimilation, boarding-school, and Dawes Act policy (US.02) cut tribal holdings from 138 to 48 million acres by 1934.</a:t>
            </a:r>
          </a:p>
        </p:txBody>
      </p:sp>
      <p:sp>
        <p:nvSpPr>
          <p:cNvPr id="10" name="Rectangle 9"/>
          <p:cNvSpPr/>
          <p:nvPr/>
        </p:nvSpPr>
        <p:spPr>
          <a:xfrm>
            <a:off x="3337560" y="1965960"/>
            <a:ext cx="2606040" cy="397763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337560" y="1965960"/>
            <a:ext cx="2606040" cy="640080"/>
          </a:xfrm>
          <a:prstGeom prst="rect">
            <a:avLst/>
          </a:prstGeom>
          <a:solidFill>
            <a:srgbClr val="0028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47288" y="2011680"/>
            <a:ext cx="2386584" cy="548640"/>
          </a:xfrm>
          <a:prstGeom prst="rect">
            <a:avLst/>
          </a:prstGeom>
          <a:noFill/>
        </p:spPr>
        <p:txBody>
          <a:bodyPr wrap="square" anchor="ctr" lIns="0" rIns="0" tIns="0" bIns="0">
            <a:spAutoFit/>
          </a:bodyPr>
          <a:lstStyle/>
          <a:p>
            <a:pPr algn="l">
              <a:spcBef>
                <a:spcPts val="0"/>
              </a:spcBef>
              <a:spcAft>
                <a:spcPts val="200"/>
              </a:spcAft>
            </a:pPr>
            <a:r>
              <a:rPr sz="1400" b="1">
                <a:solidFill>
                  <a:srgbClr val="FFFFFF"/>
                </a:solidFill>
                <a:latin typeface="Georgia"/>
              </a:rPr>
              <a:t>Chinese Laborers</a:t>
            </a:r>
          </a:p>
        </p:txBody>
      </p:sp>
      <p:sp>
        <p:nvSpPr>
          <p:cNvPr id="13" name="TextBox 12"/>
          <p:cNvSpPr txBox="1"/>
          <p:nvPr/>
        </p:nvSpPr>
        <p:spPr>
          <a:xfrm>
            <a:off x="3447288" y="2743200"/>
            <a:ext cx="2386584" cy="3108960"/>
          </a:xfrm>
          <a:prstGeom prst="rect">
            <a:avLst/>
          </a:prstGeom>
          <a:noFill/>
        </p:spPr>
        <p:txBody>
          <a:bodyPr wrap="square" anchor="t" lIns="0" rIns="0" tIns="0" bIns="0">
            <a:spAutoFit/>
          </a:bodyPr>
          <a:lstStyle/>
          <a:p>
            <a:pPr algn="l">
              <a:spcBef>
                <a:spcPts val="0"/>
              </a:spcBef>
              <a:spcAft>
                <a:spcPts val="200"/>
              </a:spcAft>
            </a:pPr>
            <a:r>
              <a:rPr sz="1200" b="0">
                <a:solidFill>
                  <a:srgbClr val="1F2430"/>
                </a:solidFill>
                <a:latin typeface="Calibri"/>
              </a:rPr>
              <a:t>Chinese workers built the most dangerous stretches of the Central Pacific (US.01) yet faced wage discrimination and, in 1882, the first federal law to bar a nationality — the Chinese Exclusion Act (US.07).</a:t>
            </a:r>
          </a:p>
        </p:txBody>
      </p:sp>
      <p:sp>
        <p:nvSpPr>
          <p:cNvPr id="14" name="Rectangle 13"/>
          <p:cNvSpPr/>
          <p:nvPr/>
        </p:nvSpPr>
        <p:spPr>
          <a:xfrm>
            <a:off x="6217920" y="1965960"/>
            <a:ext cx="2606040" cy="397763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1965960"/>
            <a:ext cx="2606040" cy="640080"/>
          </a:xfrm>
          <a:prstGeom prst="rect">
            <a:avLst/>
          </a:prstGeom>
          <a:solidFill>
            <a:srgbClr val="B222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27648" y="2011680"/>
            <a:ext cx="2386584" cy="548640"/>
          </a:xfrm>
          <a:prstGeom prst="rect">
            <a:avLst/>
          </a:prstGeom>
          <a:noFill/>
        </p:spPr>
        <p:txBody>
          <a:bodyPr wrap="square" anchor="ctr" lIns="0" rIns="0" tIns="0" bIns="0">
            <a:spAutoFit/>
          </a:bodyPr>
          <a:lstStyle/>
          <a:p>
            <a:pPr algn="l">
              <a:spcBef>
                <a:spcPts val="0"/>
              </a:spcBef>
              <a:spcAft>
                <a:spcPts val="200"/>
              </a:spcAft>
            </a:pPr>
            <a:r>
              <a:rPr sz="1400" b="1">
                <a:solidFill>
                  <a:srgbClr val="FFFFFF"/>
                </a:solidFill>
                <a:latin typeface="Georgia"/>
              </a:rPr>
              <a:t>African Americans</a:t>
            </a:r>
          </a:p>
        </p:txBody>
      </p:sp>
      <p:sp>
        <p:nvSpPr>
          <p:cNvPr id="17" name="TextBox 16"/>
          <p:cNvSpPr txBox="1"/>
          <p:nvPr/>
        </p:nvSpPr>
        <p:spPr>
          <a:xfrm>
            <a:off x="6327648" y="2743200"/>
            <a:ext cx="2386584" cy="3108960"/>
          </a:xfrm>
          <a:prstGeom prst="rect">
            <a:avLst/>
          </a:prstGeom>
          <a:noFill/>
        </p:spPr>
        <p:txBody>
          <a:bodyPr wrap="square" anchor="t" lIns="0" rIns="0" tIns="0" bIns="0">
            <a:spAutoFit/>
          </a:bodyPr>
          <a:lstStyle/>
          <a:p>
            <a:pPr algn="l">
              <a:spcBef>
                <a:spcPts val="0"/>
              </a:spcBef>
              <a:spcAft>
                <a:spcPts val="200"/>
              </a:spcAft>
            </a:pPr>
            <a:r>
              <a:rPr sz="1200" b="0">
                <a:solidFill>
                  <a:srgbClr val="1F2430"/>
                </a:solidFill>
                <a:latin typeface="Calibri"/>
              </a:rPr>
              <a:t>The Compromise of 1877 ended Reconstruction’s protections (US.03); the Exodusters fled to Kansas, and Madam C.J. Walker and George Washington Carver (US.05) built enterprise under Jim Crow.</a:t>
            </a:r>
          </a:p>
        </p:txBody>
      </p:sp>
      <p:sp>
        <p:nvSpPr>
          <p:cNvPr id="18" name="Rectangle 17"/>
          <p:cNvSpPr/>
          <p:nvPr/>
        </p:nvSpPr>
        <p:spPr>
          <a:xfrm>
            <a:off x="9098280" y="1965960"/>
            <a:ext cx="2606040" cy="397763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098280" y="1965960"/>
            <a:ext cx="2606040" cy="640080"/>
          </a:xfrm>
          <a:prstGeom prst="rect">
            <a:avLst/>
          </a:prstGeom>
          <a:solidFill>
            <a:srgbClr val="6A4E9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08007" y="2011680"/>
            <a:ext cx="2386584" cy="548640"/>
          </a:xfrm>
          <a:prstGeom prst="rect">
            <a:avLst/>
          </a:prstGeom>
          <a:noFill/>
        </p:spPr>
        <p:txBody>
          <a:bodyPr wrap="square" anchor="ctr" lIns="0" rIns="0" tIns="0" bIns="0">
            <a:spAutoFit/>
          </a:bodyPr>
          <a:lstStyle/>
          <a:p>
            <a:pPr algn="l">
              <a:spcBef>
                <a:spcPts val="0"/>
              </a:spcBef>
              <a:spcAft>
                <a:spcPts val="200"/>
              </a:spcAft>
            </a:pPr>
            <a:r>
              <a:rPr sz="1400" b="1">
                <a:solidFill>
                  <a:srgbClr val="FFFFFF"/>
                </a:solidFill>
                <a:latin typeface="Georgia"/>
              </a:rPr>
              <a:t>New Immigrants &amp; Reformers</a:t>
            </a:r>
          </a:p>
        </p:txBody>
      </p:sp>
      <p:sp>
        <p:nvSpPr>
          <p:cNvPr id="21" name="TextBox 20"/>
          <p:cNvSpPr txBox="1"/>
          <p:nvPr/>
        </p:nvSpPr>
        <p:spPr>
          <a:xfrm>
            <a:off x="9208007" y="2743200"/>
            <a:ext cx="2386584" cy="3108960"/>
          </a:xfrm>
          <a:prstGeom prst="rect">
            <a:avLst/>
          </a:prstGeom>
          <a:noFill/>
        </p:spPr>
        <p:txBody>
          <a:bodyPr wrap="square" anchor="t" lIns="0" rIns="0" tIns="0" bIns="0">
            <a:spAutoFit/>
          </a:bodyPr>
          <a:lstStyle/>
          <a:p>
            <a:pPr algn="l">
              <a:spcBef>
                <a:spcPts val="0"/>
              </a:spcBef>
              <a:spcAft>
                <a:spcPts val="200"/>
              </a:spcAft>
            </a:pPr>
            <a:r>
              <a:rPr sz="1200" b="0">
                <a:solidFill>
                  <a:srgbClr val="1F2430"/>
                </a:solidFill>
                <a:latin typeface="Calibri"/>
              </a:rPr>
              <a:t>Southern and Eastern European and Asian arrivals (US.07) met nativism and tenement poverty; reformers like Jane Addams at Hull-House organized mutual aid across classes.</a:t>
            </a:r>
          </a:p>
        </p:txBody>
      </p:sp>
      <p:sp>
        <p:nvSpPr>
          <p:cNvPr id="22" name="TextBox 21"/>
          <p:cNvSpPr txBox="1"/>
          <p:nvPr/>
        </p:nvSpPr>
        <p:spPr>
          <a:xfrm>
            <a:off x="457200" y="6053328"/>
            <a:ext cx="11247120" cy="320040"/>
          </a:xfrm>
          <a:prstGeom prst="rect">
            <a:avLst/>
          </a:prstGeom>
          <a:noFill/>
        </p:spPr>
        <p:txBody>
          <a:bodyPr wrap="square" anchor="t" lIns="0" rIns="0" tIns="0" bIns="0">
            <a:spAutoFit/>
          </a:bodyPr>
          <a:lstStyle/>
          <a:p>
            <a:pPr algn="l">
              <a:spcBef>
                <a:spcPts val="0"/>
              </a:spcBef>
              <a:spcAft>
                <a:spcPts val="200"/>
              </a:spcAft>
            </a:pPr>
            <a:r>
              <a:rPr sz="1000" b="0">
                <a:solidFill>
                  <a:srgbClr val="C7D4E0"/>
                </a:solidFill>
                <a:latin typeface="Trebuchet MS"/>
              </a:rPr>
              <a:t>Verified public-domain images and named Key-Figure entries for these histories are a pending content addition.</a:t>
            </a:r>
          </a:p>
        </p:txBody>
      </p:sp>
      <p:sp>
        <p:nvSpPr>
          <p:cNvPr id="23" name="TextBox 22"/>
          <p:cNvSpPr txBox="1"/>
          <p:nvPr/>
        </p:nvSpPr>
        <p:spPr>
          <a:xfrm>
            <a:off x="457200" y="6473952"/>
            <a:ext cx="10058400" cy="274320"/>
          </a:xfrm>
          <a:prstGeom prst="rect">
            <a:avLst/>
          </a:prstGeom>
          <a:noFill/>
        </p:spPr>
        <p:txBody>
          <a:bodyPr wrap="square" anchor="t" lIns="0" rIns="0" tIns="0" bIns="0">
            <a:spAutoFit/>
          </a:bodyPr>
          <a:lstStyle/>
          <a:p>
            <a:pPr algn="l">
              <a:spcBef>
                <a:spcPts val="0"/>
              </a:spcBef>
              <a:spcAft>
                <a:spcPts val="200"/>
              </a:spcAft>
            </a:pPr>
            <a:r>
              <a:rPr sz="900" b="0">
                <a:solidFill>
                  <a:srgbClr val="C7D4E0"/>
                </a:solidFill>
                <a:latin typeface="Trebuchet MS"/>
              </a:rPr>
              <a:t>U.S. History Hack · TroopToTeacher Technologies LLC · Aligned to TN Academic Standards &amp; TCAP EOC</a:t>
            </a:r>
          </a:p>
        </p:txBody>
      </p:sp>
      <p:sp>
        <p:nvSpPr>
          <p:cNvPr id="24" name="TextBox 23"/>
          <p:cNvSpPr txBox="1"/>
          <p:nvPr/>
        </p:nvSpPr>
        <p:spPr>
          <a:xfrm>
            <a:off x="11183112" y="6473952"/>
            <a:ext cx="548640" cy="274320"/>
          </a:xfrm>
          <a:prstGeom prst="rect">
            <a:avLst/>
          </a:prstGeom>
          <a:noFill/>
        </p:spPr>
        <p:txBody>
          <a:bodyPr wrap="square" anchor="t" lIns="0" rIns="0" tIns="0" bIns="0">
            <a:spAutoFit/>
          </a:bodyPr>
          <a:lstStyle/>
          <a:p>
            <a:pPr algn="r">
              <a:spcBef>
                <a:spcPts val="0"/>
              </a:spcBef>
              <a:spcAft>
                <a:spcPts val="200"/>
              </a:spcAft>
            </a:pPr>
            <a:r>
              <a:rPr sz="900" b="0">
                <a:solidFill>
                  <a:srgbClr val="C7D4E0"/>
                </a:solidFill>
                <a:latin typeface="Trebuchet MS"/>
              </a:rPr>
              <a:t>110</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09">
    <p:bg>
      <p:bgPr>
        <a:solidFill>
          <a:srgbClr val="1F3A5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C9A227"/>
          </a:solidFill>
          <a:ln/>
        </p:spPr>
        <p:txBody>
          <a:bodyPr/>
          <a:p/>
        </p:txBody>
      </p:sp>
      <p:sp>
        <p:nvSpPr>
          <p:cNvPr id="3" name="Shape 1"/>
          <p:cNvSpPr/>
          <p:nvPr/>
        </p:nvSpPr>
        <p:spPr>
          <a:xfrm>
            <a:off x="0" y="6711696"/>
            <a:ext cx="12191695" cy="146304"/>
          </a:xfrm>
          <a:prstGeom prst="rect">
            <a:avLst/>
          </a:prstGeom>
          <a:solidFill>
            <a:srgbClr val="B22234"/>
          </a:solidFill>
          <a:ln/>
        </p:spPr>
        <p:txBody>
          <a:bodyPr/>
          <a:p/>
        </p:txBody>
      </p:sp>
      <p:sp>
        <p:nvSpPr>
          <p:cNvPr id="4" name="Text 2"/>
          <p:cNvSpPr/>
          <p:nvPr/>
        </p:nvSpPr>
        <p:spPr>
          <a:xfrm>
            <a:off x="822960" y="1463040"/>
            <a:ext cx="10515600" cy="914400"/>
          </a:xfrm>
          <a:prstGeom prst="rect">
            <a:avLst/>
          </a:prstGeom>
          <a:noFill/>
          <a:ln/>
        </p:spPr>
        <p:txBody>
          <a:bodyPr wrap="square" rtlCol="0" anchor="ctr"/>
          <a:lstStyle/>
          <a:p>
            <a:pPr indent="0" marL="0">
              <a:buNone/>
            </a:pPr>
            <a:r>
              <a:rPr lang="en-US" sz="4800" b="1" dirty="0">
                <a:solidFill>
                  <a:srgbClr val="FFFFFF"/>
                </a:solidFill>
                <a:latin typeface="Georgia" pitchFamily="34" charset="0"/>
                <a:ea typeface="Georgia" pitchFamily="34" charset="-122"/>
                <a:cs typeface="Georgia" pitchFamily="34" charset="-120"/>
              </a:rPr>
              <a:t>Unit 1 Complete</a:t>
            </a:r>
            <a:endParaRPr lang="en-US" sz="4800" dirty="0"/>
          </a:p>
        </p:txBody>
      </p:sp>
      <p:sp>
        <p:nvSpPr>
          <p:cNvPr id="5" name="Text 3"/>
          <p:cNvSpPr/>
          <p:nvPr/>
        </p:nvSpPr>
        <p:spPr>
          <a:xfrm>
            <a:off x="822960" y="2560320"/>
            <a:ext cx="10515600" cy="1005840"/>
          </a:xfrm>
          <a:prstGeom prst="rect">
            <a:avLst/>
          </a:prstGeom>
          <a:noFill/>
          <a:ln/>
        </p:spPr>
        <p:txBody>
          <a:bodyPr wrap="square" rtlCol="0" anchor="ctr"/>
          <a:lstStyle/>
          <a:p>
            <a:pPr indent="0" marL="0">
              <a:lnSpc>
                <a:spcPct val="110000"/>
              </a:lnSpc>
              <a:buNone/>
            </a:pPr>
            <a:r>
              <a:rPr lang="en-US" sz="2100" i="1" dirty="0">
                <a:solidFill>
                  <a:srgbClr val="F9A825"/>
                </a:solidFill>
                <a:latin typeface="Georgia" pitchFamily="34" charset="0"/>
                <a:ea typeface="Georgia" pitchFamily="34" charset="-122"/>
                <a:cs typeface="Georgia" pitchFamily="34" charset="-120"/>
              </a:rPr>
              <a:t>The Rise of Industrialization (1877–1900) — from the open frontier to the crowded city: westward expansion, the Gilded Age, and a nation remade by immigration.</a:t>
            </a:r>
            <a:endParaRPr lang="en-US" sz="2100" dirty="0"/>
          </a:p>
        </p:txBody>
      </p:sp>
      <p:sp>
        <p:nvSpPr>
          <p:cNvPr id="6" name="Text 4"/>
          <p:cNvSpPr/>
          <p:nvPr/>
        </p:nvSpPr>
        <p:spPr>
          <a:xfrm>
            <a:off x="822960" y="3566160"/>
            <a:ext cx="10515600" cy="1097280"/>
          </a:xfrm>
          <a:prstGeom prst="rect">
            <a:avLst/>
          </a:prstGeom>
          <a:noFill/>
          <a:ln/>
        </p:spPr>
        <p:txBody>
          <a:bodyPr wrap="square" rtlCol="0" anchor="t"/>
          <a:lstStyle/>
          <a:p>
            <a:pPr indent="0" marL="0">
              <a:lnSpc>
                <a:spcPct val="115000"/>
              </a:lnSpc>
              <a:buNone/>
            </a:pPr>
            <a:r>
              <a:rPr lang="en-US" sz="1600" b="1" dirty="0">
                <a:solidFill>
                  <a:srgbClr val="FFFFFF"/>
                </a:solidFill>
                <a:latin typeface="Calibri" pitchFamily="34" charset="0"/>
                <a:ea typeface="Calibri" pitchFamily="34" charset="-122"/>
                <a:cs typeface="Calibri" pitchFamily="34" charset="-120"/>
              </a:rPr>
              <a:t>Revisit your unit hook: </a:t>
            </a:r>
            <a:pPr indent="0" marL="0">
              <a:lnSpc>
                <a:spcPct val="115000"/>
              </a:lnSpc>
              <a:buNone/>
            </a:pPr>
            <a:r>
              <a:rPr lang="en-US" sz="1600" dirty="0">
                <a:solidFill>
                  <a:srgbClr val="C7D4E0"/>
                </a:solidFill>
                <a:latin typeface="Calibri" pitchFamily="34" charset="0"/>
                <a:ea typeface="Calibri" pitchFamily="34" charset="-122"/>
                <a:cs typeface="Calibri" pitchFamily="34" charset="-120"/>
              </a:rPr>
              <a:t>What forces moved a nation off the land and into the factory? You can now answer with evidence — from the Homestead Act to the Chinese Exclusion Act.</a:t>
            </a:r>
            <a:endParaRPr lang="en-US" sz="1600" dirty="0"/>
          </a:p>
        </p:txBody>
      </p:sp>
      <p:sp>
        <p:nvSpPr>
          <p:cNvPr id="7" name="Text 5"/>
          <p:cNvSpPr/>
          <p:nvPr/>
        </p:nvSpPr>
        <p:spPr>
          <a:xfrm>
            <a:off x="822960" y="4937760"/>
            <a:ext cx="10515600" cy="457200"/>
          </a:xfrm>
          <a:prstGeom prst="rect">
            <a:avLst/>
          </a:prstGeom>
          <a:noFill/>
          <a:ln/>
        </p:spPr>
        <p:txBody>
          <a:bodyPr wrap="square" rtlCol="0" anchor="ctr"/>
          <a:lstStyle/>
          <a:p>
            <a:pPr indent="0" marL="0">
              <a:buNone/>
            </a:pPr>
            <a:r>
              <a:rPr lang="en-US" sz="1400" b="1" spc="100" kern="0" dirty="0">
                <a:solidFill>
                  <a:srgbClr val="F9A825"/>
                </a:solidFill>
                <a:latin typeface="Trebuchet MS" pitchFamily="34" charset="0"/>
                <a:ea typeface="Trebuchet MS" pitchFamily="34" charset="-122"/>
                <a:cs typeface="Trebuchet MS" pitchFamily="34" charset="-120"/>
              </a:rPr>
              <a:t>Next: Unit 2 — Progressivism &amp; American Imperialism</a:t>
            </a:r>
            <a:endParaRPr lang="en-US" sz="1400" dirty="0"/>
          </a:p>
        </p:txBody>
      </p:sp>
      <p:sp>
        <p:nvSpPr>
          <p:cNvPr id="8" name="Text 6"/>
          <p:cNvSpPr/>
          <p:nvPr/>
        </p:nvSpPr>
        <p:spPr>
          <a:xfrm>
            <a:off x="822960" y="5943600"/>
            <a:ext cx="10607040" cy="457200"/>
          </a:xfrm>
          <a:prstGeom prst="rect">
            <a:avLst/>
          </a:prstGeom>
          <a:noFill/>
          <a:ln/>
        </p:spPr>
        <p:txBody>
          <a:bodyPr wrap="square" rtlCol="0" anchor="ctr"/>
          <a:lstStyle/>
          <a:p>
            <a:pPr indent="0" marL="0">
              <a:buNone/>
            </a:pPr>
            <a:r>
              <a:rPr lang="en-US" sz="1000" dirty="0">
                <a:solidFill>
                  <a:srgbClr val="5C6470"/>
                </a:solidFill>
                <a:latin typeface="Calibri" pitchFamily="34" charset="0"/>
                <a:ea typeface="Calibri" pitchFamily="34" charset="-122"/>
                <a:cs typeface="Calibri" pitchFamily="34" charset="-120"/>
              </a:rPr>
              <a:t>U.S. History Hack  ·  TroopToTeacher Technologies LLC  ·  All primary sources verified against National Archives, Library of Congress, and U.S. Senate records. All images public domain.</a:t>
            </a:r>
            <a:endParaRPr lang="en-US" sz="1000" dirty="0"/>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sp>
        <p:nvSpPr>
          <p:cNvPr id="2" name="TextBox 1"/>
          <p:cNvSpPr txBox="1"/>
          <p:nvPr/>
        </p:nvSpPr>
        <p:spPr>
          <a:xfrm>
            <a:off x="502920" y="274320"/>
            <a:ext cx="11185855" cy="365760"/>
          </a:xfrm>
          <a:prstGeom prst="rect">
            <a:avLst/>
          </a:prstGeom>
          <a:noFill/>
        </p:spPr>
        <p:txBody>
          <a:bodyPr wrap="square" anchor="t">
            <a:spAutoFit/>
          </a:bodyPr>
          <a:lstStyle/>
          <a:p>
            <a:pPr algn="l"/>
            <a:r>
              <a:rPr sz="1500" b="1" i="0">
                <a:solidFill>
                  <a:srgbClr val="C9A227"/>
                </a:solidFill>
                <a:latin typeface="Calibri"/>
              </a:rPr>
              <a:t>GEOGRAPHER'S LENS  ·  US.01  —  COLOR MAP FOR PROJECTION</a:t>
            </a:r>
          </a:p>
        </p:txBody>
      </p:sp>
      <p:sp>
        <p:nvSpPr>
          <p:cNvPr id="3" name="TextBox 2"/>
          <p:cNvSpPr txBox="1"/>
          <p:nvPr/>
        </p:nvSpPr>
        <p:spPr>
          <a:xfrm>
            <a:off x="502920" y="603504"/>
            <a:ext cx="11185855" cy="502920"/>
          </a:xfrm>
          <a:prstGeom prst="rect">
            <a:avLst/>
          </a:prstGeom>
          <a:noFill/>
        </p:spPr>
        <p:txBody>
          <a:bodyPr wrap="square" anchor="t">
            <a:spAutoFit/>
          </a:bodyPr>
          <a:lstStyle/>
          <a:p>
            <a:pPr algn="l"/>
            <a:r>
              <a:rPr sz="2000" b="1" i="0">
                <a:solidFill>
                  <a:srgbClr val="FFFFFF"/>
                </a:solidFill>
                <a:latin typeface="Calibri"/>
              </a:rPr>
              <a:t>Matthews, Northrup &amp; Co's Official Railroad Map of the United States, Dominion of Canada and Mexico</a:t>
            </a:r>
          </a:p>
        </p:txBody>
      </p:sp>
      <p:pic>
        <p:nvPicPr>
          <p:cNvPr id="4" name="Picture 3" descr="image.jpg"/>
          <p:cNvPicPr>
            <a:picLocks noChangeAspect="1"/>
          </p:cNvPicPr>
          <p:nvPr/>
        </p:nvPicPr>
        <p:blipFill>
          <a:blip r:embed="rId2"/>
          <a:stretch>
            <a:fillRect/>
          </a:stretch>
        </p:blipFill>
        <p:spPr>
          <a:xfrm>
            <a:off x="2783046" y="1325880"/>
            <a:ext cx="6625603" cy="4425696"/>
          </a:xfrm>
          <a:prstGeom prst="rect">
            <a:avLst/>
          </a:prstGeom>
        </p:spPr>
      </p:pic>
      <p:sp>
        <p:nvSpPr>
          <p:cNvPr id="5" name="TextBox 4"/>
          <p:cNvSpPr txBox="1"/>
          <p:nvPr/>
        </p:nvSpPr>
        <p:spPr>
          <a:xfrm>
            <a:off x="502920" y="5824728"/>
            <a:ext cx="11185855" cy="822960"/>
          </a:xfrm>
          <a:prstGeom prst="rect">
            <a:avLst/>
          </a:prstGeom>
          <a:noFill/>
        </p:spPr>
        <p:txBody>
          <a:bodyPr wrap="square" anchor="t">
            <a:spAutoFit/>
          </a:bodyPr>
          <a:lstStyle/>
          <a:p>
            <a:pPr algn="l"/>
            <a:r>
              <a:rPr sz="1000" b="0" i="1">
                <a:solidFill>
                  <a:srgbClr val="C7D4E0"/>
                </a:solidFill>
                <a:latin typeface="Calibri"/>
              </a:rPr>
              <a:t>This is the full-color version of the black-and-white map on the workbook Geographer's Lens page for US.01.  Source: Matthews, Northrup &amp; Co. Matthews, Northrup &amp; Co's Official Railroad Map of the United States, Dominion of Canada and Mexico Perfected to Date from Latest Authentic Sources. Buffalo, 1890. Map. Library of Congress Geography and Map Division, call number G3701.P3 1890 .M3. https://www.loc.gov/item/gm71000843/.  Public Domain — No Known Restrictions on Publication</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1F3A5F"/>
        </a:solidFill>
        <a:effectLst/>
      </p:bgPr>
    </p:bg>
    <p:spTree>
      <p:nvGrpSpPr>
        <p:cNvPr id="1" name=""/>
        <p:cNvGrpSpPr/>
        <p:nvPr/>
      </p:nvGrpSpPr>
      <p:grpSpPr/>
      <p:sp>
        <p:nvSpPr>
          <p:cNvPr id="2" name="TextBox 1"/>
          <p:cNvSpPr txBox="1"/>
          <p:nvPr/>
        </p:nvSpPr>
        <p:spPr>
          <a:xfrm>
            <a:off x="502920" y="274320"/>
            <a:ext cx="11185855" cy="365760"/>
          </a:xfrm>
          <a:prstGeom prst="rect">
            <a:avLst/>
          </a:prstGeom>
          <a:noFill/>
        </p:spPr>
        <p:txBody>
          <a:bodyPr wrap="square" anchor="t">
            <a:spAutoFit/>
          </a:bodyPr>
          <a:lstStyle/>
          <a:p>
            <a:pPr algn="l"/>
            <a:r>
              <a:rPr sz="1500" b="1" i="0">
                <a:solidFill>
                  <a:srgbClr val="C9A227"/>
                </a:solidFill>
                <a:latin typeface="Calibri"/>
              </a:rPr>
              <a:t>GEOGRAPHER'S LENS  ·  US.06  —  COLOR MAP FOR PROJECTION</a:t>
            </a:r>
          </a:p>
        </p:txBody>
      </p:sp>
      <p:sp>
        <p:nvSpPr>
          <p:cNvPr id="3" name="TextBox 2"/>
          <p:cNvSpPr txBox="1"/>
          <p:nvPr/>
        </p:nvSpPr>
        <p:spPr>
          <a:xfrm>
            <a:off x="502920" y="603504"/>
            <a:ext cx="11185855" cy="502920"/>
          </a:xfrm>
          <a:prstGeom prst="rect">
            <a:avLst/>
          </a:prstGeom>
          <a:noFill/>
        </p:spPr>
        <p:txBody>
          <a:bodyPr wrap="square" anchor="t">
            <a:spAutoFit/>
          </a:bodyPr>
          <a:lstStyle/>
          <a:p>
            <a:pPr algn="l"/>
            <a:r>
              <a:rPr sz="2000" b="1" i="0">
                <a:solidFill>
                  <a:srgbClr val="FFFFFF"/>
                </a:solidFill>
                <a:latin typeface="Calibri"/>
              </a:rPr>
              <a:t>Foreign Born Population, by States and Territories: 1890</a:t>
            </a:r>
          </a:p>
        </p:txBody>
      </p:sp>
      <p:pic>
        <p:nvPicPr>
          <p:cNvPr id="4" name="Picture 3" descr="image.jpg"/>
          <p:cNvPicPr>
            <a:picLocks noChangeAspect="1"/>
          </p:cNvPicPr>
          <p:nvPr/>
        </p:nvPicPr>
        <p:blipFill>
          <a:blip r:embed="rId2"/>
          <a:stretch>
            <a:fillRect/>
          </a:stretch>
        </p:blipFill>
        <p:spPr>
          <a:xfrm>
            <a:off x="4366110" y="1325880"/>
            <a:ext cx="3459475" cy="4425696"/>
          </a:xfrm>
          <a:prstGeom prst="rect">
            <a:avLst/>
          </a:prstGeom>
        </p:spPr>
      </p:pic>
      <p:sp>
        <p:nvSpPr>
          <p:cNvPr id="5" name="TextBox 4"/>
          <p:cNvSpPr txBox="1"/>
          <p:nvPr/>
        </p:nvSpPr>
        <p:spPr>
          <a:xfrm>
            <a:off x="502920" y="5824728"/>
            <a:ext cx="11185855" cy="822960"/>
          </a:xfrm>
          <a:prstGeom prst="rect">
            <a:avLst/>
          </a:prstGeom>
          <a:noFill/>
        </p:spPr>
        <p:txBody>
          <a:bodyPr wrap="square" anchor="t">
            <a:spAutoFit/>
          </a:bodyPr>
          <a:lstStyle/>
          <a:p>
            <a:pPr algn="l"/>
            <a:r>
              <a:rPr sz="1000" b="0" i="1">
                <a:solidFill>
                  <a:srgbClr val="C7D4E0"/>
                </a:solidFill>
                <a:latin typeface="Calibri"/>
              </a:rPr>
              <a:t>This is the full-color version of the black-and-white map on the workbook Geographer's Lens page for US.06.  Source: Gannett, Henry, and U.S. Census Office. "Foreign Born Population, by States and Territories: 1890." In Statistical Atlas of the United States, Based upon the Results of the Eleventh Census. Washington, DC: U.S. Census Office, 1898. Library of Congress Geography and Map Division, call number G1201.G1 U53 1898. https://www.loc.gov/resource/g3701gm.gct00010/?sp=35.  Public Domain — U.S. Government Work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111</Slides>
  <Notes>109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109</vt:i4>
      </vt:variant>
    </vt:vector>
  </HeadingPairs>
  <TitlesOfParts>
    <vt:vector size="1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vector>
  </TitlesOfParts>
  <Company>U.S. History Hack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Unit 1 — The Rise of Industrialization, 1877–1900 (US.01–US.07)</dc:subject>
  <dc:creator>TroopToTeacher Technologies LLC</dc:creator>
  <cp:lastModifiedBy>TroopToTeacher Technologies LLC</cp:lastModifiedBy>
  <cp:revision>1</cp:revision>
  <dcterms:created xsi:type="dcterms:W3CDTF">2026-07-01T14:27:53Z</dcterms:created>
  <dcterms:modified xsi:type="dcterms:W3CDTF">2026-07-01T14:27:53Z</dcterms:modified>
</cp:coreProperties>
</file>
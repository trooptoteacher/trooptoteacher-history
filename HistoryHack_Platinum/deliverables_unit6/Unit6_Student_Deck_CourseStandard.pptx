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340" r:id="rId90"/>
    <p:sldId id="256" r:id="rId5"/>
    <p:sldId id="257" r:id="rId6"/>
    <p:sldId id="341" r:id="rId91"/>
    <p:sldId id="258" r:id="rId7"/>
    <p:sldId id="259" r:id="rId8"/>
    <p:sldId id="260" r:id="rId9"/>
    <p:sldId id="261" r:id="rId10"/>
    <p:sldId id="355" r:id="rId105"/>
    <p:sldId id="262" r:id="rId11"/>
    <p:sldId id="342" r:id="rId92"/>
    <p:sldId id="263" r:id="rId12"/>
    <p:sldId id="264" r:id="rId13"/>
    <p:sldId id="265" r:id="rId14"/>
    <p:sldId id="266" r:id="rId15"/>
    <p:sldId id="267" r:id="rId16"/>
    <p:sldId id="356" r:id="rId106"/>
    <p:sldId id="268" r:id="rId17"/>
    <p:sldId id="343" r:id="rId93"/>
    <p:sldId id="269" r:id="rId18"/>
    <p:sldId id="270" r:id="rId19"/>
    <p:sldId id="271" r:id="rId20"/>
    <p:sldId id="272" r:id="rId21"/>
    <p:sldId id="273" r:id="rId22"/>
    <p:sldId id="357" r:id="rId107"/>
    <p:sldId id="274" r:id="rId23"/>
    <p:sldId id="344" r:id="rId94"/>
    <p:sldId id="275" r:id="rId24"/>
    <p:sldId id="276" r:id="rId25"/>
    <p:sldId id="277" r:id="rId26"/>
    <p:sldId id="278" r:id="rId27"/>
    <p:sldId id="279" r:id="rId28"/>
    <p:sldId id="358" r:id="rId108"/>
    <p:sldId id="280" r:id="rId29"/>
    <p:sldId id="345" r:id="rId95"/>
    <p:sldId id="281" r:id="rId30"/>
    <p:sldId id="282" r:id="rId31"/>
    <p:sldId id="283" r:id="rId32"/>
    <p:sldId id="284" r:id="rId33"/>
    <p:sldId id="285" r:id="rId34"/>
    <p:sldId id="359" r:id="rId109"/>
    <p:sldId id="286" r:id="rId35"/>
    <p:sldId id="346" r:id="rId96"/>
    <p:sldId id="287" r:id="rId36"/>
    <p:sldId id="288" r:id="rId37"/>
    <p:sldId id="289" r:id="rId38"/>
    <p:sldId id="290" r:id="rId39"/>
    <p:sldId id="291" r:id="rId40"/>
    <p:sldId id="360" r:id="rId110"/>
    <p:sldId id="292" r:id="rId41"/>
    <p:sldId id="347" r:id="rId97"/>
    <p:sldId id="293" r:id="rId42"/>
    <p:sldId id="294" r:id="rId43"/>
    <p:sldId id="295" r:id="rId44"/>
    <p:sldId id="296" r:id="rId45"/>
    <p:sldId id="297" r:id="rId46"/>
    <p:sldId id="361" r:id="rId111"/>
    <p:sldId id="298" r:id="rId47"/>
    <p:sldId id="348" r:id="rId98"/>
    <p:sldId id="299" r:id="rId48"/>
    <p:sldId id="300" r:id="rId49"/>
    <p:sldId id="301" r:id="rId50"/>
    <p:sldId id="302" r:id="rId51"/>
    <p:sldId id="303" r:id="rId52"/>
    <p:sldId id="362" r:id="rId112"/>
    <p:sldId id="304" r:id="rId53"/>
    <p:sldId id="349" r:id="rId99"/>
    <p:sldId id="305" r:id="rId54"/>
    <p:sldId id="306" r:id="rId55"/>
    <p:sldId id="307" r:id="rId56"/>
    <p:sldId id="308" r:id="rId57"/>
    <p:sldId id="309" r:id="rId58"/>
    <p:sldId id="363" r:id="rId113"/>
    <p:sldId id="310" r:id="rId59"/>
    <p:sldId id="350" r:id="rId100"/>
    <p:sldId id="311" r:id="rId60"/>
    <p:sldId id="312" r:id="rId61"/>
    <p:sldId id="313" r:id="rId62"/>
    <p:sldId id="314" r:id="rId63"/>
    <p:sldId id="315" r:id="rId64"/>
    <p:sldId id="364" r:id="rId114"/>
    <p:sldId id="316" r:id="rId65"/>
    <p:sldId id="351" r:id="rId101"/>
    <p:sldId id="317" r:id="rId66"/>
    <p:sldId id="318" r:id="rId67"/>
    <p:sldId id="319" r:id="rId68"/>
    <p:sldId id="320" r:id="rId69"/>
    <p:sldId id="321" r:id="rId70"/>
    <p:sldId id="365" r:id="rId115"/>
    <p:sldId id="322" r:id="rId71"/>
    <p:sldId id="352" r:id="rId102"/>
    <p:sldId id="323" r:id="rId72"/>
    <p:sldId id="324" r:id="rId73"/>
    <p:sldId id="325" r:id="rId74"/>
    <p:sldId id="326" r:id="rId75"/>
    <p:sldId id="327" r:id="rId76"/>
    <p:sldId id="366" r:id="rId116"/>
    <p:sldId id="328" r:id="rId77"/>
    <p:sldId id="353" r:id="rId103"/>
    <p:sldId id="329" r:id="rId78"/>
    <p:sldId id="330" r:id="rId79"/>
    <p:sldId id="331" r:id="rId80"/>
    <p:sldId id="332" r:id="rId81"/>
    <p:sldId id="333" r:id="rId82"/>
    <p:sldId id="367" r:id="rId117"/>
    <p:sldId id="334" r:id="rId83"/>
    <p:sldId id="354" r:id="rId104"/>
    <p:sldId id="335" r:id="rId84"/>
    <p:sldId id="336" r:id="rId85"/>
    <p:sldId id="337" r:id="rId86"/>
    <p:sldId id="338" r:id="rId87"/>
    <p:sldId id="339" r:id="rId88"/>
    <p:sldId id="368" r:id="rId118"/>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9" roundtripDataSignature="AMtx7mhq6xuQsAld53z1LCShz4YH34b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6.xml"/><Relationship Id="rId24" Type="http://schemas.openxmlformats.org/officeDocument/2006/relationships/slide" Target="slides/slide27.xml"/><Relationship Id="rId25" Type="http://schemas.openxmlformats.org/officeDocument/2006/relationships/slide" Target="slides/slide28.xml"/><Relationship Id="rId26" Type="http://schemas.openxmlformats.org/officeDocument/2006/relationships/slide" Target="slides/slide29.xml"/><Relationship Id="rId27" Type="http://schemas.openxmlformats.org/officeDocument/2006/relationships/slide" Target="slides/slide30.xml"/><Relationship Id="rId28" Type="http://schemas.openxmlformats.org/officeDocument/2006/relationships/slide" Target="slides/slide31.xml"/><Relationship Id="rId29" Type="http://schemas.openxmlformats.org/officeDocument/2006/relationships/slide" Target="slides/slide34.xml"/><Relationship Id="rId30" Type="http://schemas.openxmlformats.org/officeDocument/2006/relationships/slide" Target="slides/slide35.xml"/><Relationship Id="rId31" Type="http://schemas.openxmlformats.org/officeDocument/2006/relationships/slide" Target="slides/slide36.xml"/><Relationship Id="rId32" Type="http://schemas.openxmlformats.org/officeDocument/2006/relationships/slide" Target="slides/slide37.xml"/><Relationship Id="rId33" Type="http://schemas.openxmlformats.org/officeDocument/2006/relationships/slide" Target="slides/slide38.xml"/><Relationship Id="rId34" Type="http://schemas.openxmlformats.org/officeDocument/2006/relationships/slide" Target="slides/slide39.xml"/><Relationship Id="rId35" Type="http://schemas.openxmlformats.org/officeDocument/2006/relationships/slide" Target="slides/slide42.xml"/><Relationship Id="rId36" Type="http://schemas.openxmlformats.org/officeDocument/2006/relationships/slide" Target="slides/slide43.xml"/><Relationship Id="rId37" Type="http://schemas.openxmlformats.org/officeDocument/2006/relationships/slide" Target="slides/slide44.xml"/><Relationship Id="rId38" Type="http://schemas.openxmlformats.org/officeDocument/2006/relationships/slide" Target="slides/slide45.xml"/><Relationship Id="rId39" Type="http://schemas.openxmlformats.org/officeDocument/2006/relationships/slide" Target="slides/slide46.xml"/><Relationship Id="rId40" Type="http://schemas.openxmlformats.org/officeDocument/2006/relationships/slide" Target="slides/slide47.xml"/><Relationship Id="rId41" Type="http://schemas.openxmlformats.org/officeDocument/2006/relationships/slide" Target="slides/slide50.xml"/><Relationship Id="rId42" Type="http://schemas.openxmlformats.org/officeDocument/2006/relationships/slide" Target="slides/slide51.xml"/><Relationship Id="rId43" Type="http://schemas.openxmlformats.org/officeDocument/2006/relationships/slide" Target="slides/slide52.xml"/><Relationship Id="rId44" Type="http://schemas.openxmlformats.org/officeDocument/2006/relationships/slide" Target="slides/slide53.xml"/><Relationship Id="rId45" Type="http://schemas.openxmlformats.org/officeDocument/2006/relationships/slide" Target="slides/slide54.xml"/><Relationship Id="rId46" Type="http://schemas.openxmlformats.org/officeDocument/2006/relationships/slide" Target="slides/slide55.xml"/><Relationship Id="rId47" Type="http://schemas.openxmlformats.org/officeDocument/2006/relationships/slide" Target="slides/slide58.xml"/><Relationship Id="rId48" Type="http://schemas.openxmlformats.org/officeDocument/2006/relationships/slide" Target="slides/slide59.xml"/><Relationship Id="rId49" Type="http://schemas.openxmlformats.org/officeDocument/2006/relationships/slide" Target="slides/slide60.xml"/><Relationship Id="rId50" Type="http://schemas.openxmlformats.org/officeDocument/2006/relationships/slide" Target="slides/slide61.xml"/><Relationship Id="rId51" Type="http://schemas.openxmlformats.org/officeDocument/2006/relationships/slide" Target="slides/slide62.xml"/><Relationship Id="rId52" Type="http://schemas.openxmlformats.org/officeDocument/2006/relationships/slide" Target="slides/slide63.xml"/><Relationship Id="rId53" Type="http://schemas.openxmlformats.org/officeDocument/2006/relationships/slide" Target="slides/slide66.xml"/><Relationship Id="rId54" Type="http://schemas.openxmlformats.org/officeDocument/2006/relationships/slide" Target="slides/slide67.xml"/><Relationship Id="rId55" Type="http://schemas.openxmlformats.org/officeDocument/2006/relationships/slide" Target="slides/slide68.xml"/><Relationship Id="rId56" Type="http://schemas.openxmlformats.org/officeDocument/2006/relationships/slide" Target="slides/slide69.xml"/><Relationship Id="rId57" Type="http://schemas.openxmlformats.org/officeDocument/2006/relationships/slide" Target="slides/slide70.xml"/><Relationship Id="rId58" Type="http://schemas.openxmlformats.org/officeDocument/2006/relationships/slide" Target="slides/slide71.xml"/><Relationship Id="rId59" Type="http://schemas.openxmlformats.org/officeDocument/2006/relationships/slide" Target="slides/slide74.xml"/><Relationship Id="rId60" Type="http://schemas.openxmlformats.org/officeDocument/2006/relationships/slide" Target="slides/slide75.xml"/><Relationship Id="rId61" Type="http://schemas.openxmlformats.org/officeDocument/2006/relationships/slide" Target="slides/slide76.xml"/><Relationship Id="rId62" Type="http://schemas.openxmlformats.org/officeDocument/2006/relationships/slide" Target="slides/slide77.xml"/><Relationship Id="rId63" Type="http://schemas.openxmlformats.org/officeDocument/2006/relationships/slide" Target="slides/slide78.xml"/><Relationship Id="rId64" Type="http://schemas.openxmlformats.org/officeDocument/2006/relationships/slide" Target="slides/slide79.xml"/><Relationship Id="rId65" Type="http://schemas.openxmlformats.org/officeDocument/2006/relationships/slide" Target="slides/slide82.xml"/><Relationship Id="rId66" Type="http://schemas.openxmlformats.org/officeDocument/2006/relationships/slide" Target="slides/slide83.xml"/><Relationship Id="rId67" Type="http://schemas.openxmlformats.org/officeDocument/2006/relationships/slide" Target="slides/slide84.xml"/><Relationship Id="rId68" Type="http://schemas.openxmlformats.org/officeDocument/2006/relationships/slide" Target="slides/slide85.xml"/><Relationship Id="rId69" Type="http://schemas.openxmlformats.org/officeDocument/2006/relationships/slide" Target="slides/slide86.xml"/><Relationship Id="rId70" Type="http://schemas.openxmlformats.org/officeDocument/2006/relationships/slide" Target="slides/slide87.xml"/><Relationship Id="rId71" Type="http://schemas.openxmlformats.org/officeDocument/2006/relationships/slide" Target="slides/slide90.xml"/><Relationship Id="rId72" Type="http://schemas.openxmlformats.org/officeDocument/2006/relationships/slide" Target="slides/slide91.xml"/><Relationship Id="rId73" Type="http://schemas.openxmlformats.org/officeDocument/2006/relationships/slide" Target="slides/slide92.xml"/><Relationship Id="rId74" Type="http://schemas.openxmlformats.org/officeDocument/2006/relationships/slide" Target="slides/slide93.xml"/><Relationship Id="rId75" Type="http://schemas.openxmlformats.org/officeDocument/2006/relationships/slide" Target="slides/slide94.xml"/><Relationship Id="rId76" Type="http://schemas.openxmlformats.org/officeDocument/2006/relationships/slide" Target="slides/slide95.xml"/><Relationship Id="rId77" Type="http://schemas.openxmlformats.org/officeDocument/2006/relationships/slide" Target="slides/slide98.xml"/><Relationship Id="rId78" Type="http://schemas.openxmlformats.org/officeDocument/2006/relationships/slide" Target="slides/slide99.xml"/><Relationship Id="rId79" Type="http://schemas.openxmlformats.org/officeDocument/2006/relationships/slide" Target="slides/slide100.xml"/><Relationship Id="rId80" Type="http://schemas.openxmlformats.org/officeDocument/2006/relationships/slide" Target="slides/slide101.xml"/><Relationship Id="rId81" Type="http://schemas.openxmlformats.org/officeDocument/2006/relationships/slide" Target="slides/slide102.xml"/><Relationship Id="rId82" Type="http://schemas.openxmlformats.org/officeDocument/2006/relationships/slide" Target="slides/slide103.xml"/><Relationship Id="rId83" Type="http://schemas.openxmlformats.org/officeDocument/2006/relationships/slide" Target="slides/slide106.xml"/><Relationship Id="rId84" Type="http://schemas.openxmlformats.org/officeDocument/2006/relationships/slide" Target="slides/slide107.xml"/><Relationship Id="rId85" Type="http://schemas.openxmlformats.org/officeDocument/2006/relationships/slide" Target="slides/slide108.xml"/><Relationship Id="rId86" Type="http://schemas.openxmlformats.org/officeDocument/2006/relationships/slide" Target="slides/slide109.xml"/><Relationship Id="rId87" Type="http://schemas.openxmlformats.org/officeDocument/2006/relationships/slide" Target="slides/slide110.xml"/><Relationship Id="rId88" Type="http://schemas.openxmlformats.org/officeDocument/2006/relationships/slide" Target="slides/slide111.xml"/><Relationship Id="rId89" Type="http://customschemas.google.com/relationships/presentationmetadata" Target="metadata"/><Relationship Id="rId90" Type="http://schemas.openxmlformats.org/officeDocument/2006/relationships/slide" Target="slides/slide1.xml"/><Relationship Id="rId91" Type="http://schemas.openxmlformats.org/officeDocument/2006/relationships/slide" Target="slides/slide8.xml"/><Relationship Id="rId92" Type="http://schemas.openxmlformats.org/officeDocument/2006/relationships/slide" Target="slides/slide16.xml"/><Relationship Id="rId93" Type="http://schemas.openxmlformats.org/officeDocument/2006/relationships/slide" Target="slides/slide24.xml"/><Relationship Id="rId94" Type="http://schemas.openxmlformats.org/officeDocument/2006/relationships/slide" Target="slides/slide32.xml"/><Relationship Id="rId95" Type="http://schemas.openxmlformats.org/officeDocument/2006/relationships/slide" Target="slides/slide40.xml"/><Relationship Id="rId96" Type="http://schemas.openxmlformats.org/officeDocument/2006/relationships/slide" Target="slides/slide48.xml"/><Relationship Id="rId97" Type="http://schemas.openxmlformats.org/officeDocument/2006/relationships/slide" Target="slides/slide56.xml"/><Relationship Id="rId98" Type="http://schemas.openxmlformats.org/officeDocument/2006/relationships/slide" Target="slides/slide64.xml"/><Relationship Id="rId99" Type="http://schemas.openxmlformats.org/officeDocument/2006/relationships/slide" Target="slides/slide72.xml"/><Relationship Id="rId100" Type="http://schemas.openxmlformats.org/officeDocument/2006/relationships/slide" Target="slides/slide80.xml"/><Relationship Id="rId101" Type="http://schemas.openxmlformats.org/officeDocument/2006/relationships/slide" Target="slides/slide88.xml"/><Relationship Id="rId102" Type="http://schemas.openxmlformats.org/officeDocument/2006/relationships/slide" Target="slides/slide96.xml"/><Relationship Id="rId103" Type="http://schemas.openxmlformats.org/officeDocument/2006/relationships/slide" Target="slides/slide104.xml"/><Relationship Id="rId104" Type="http://schemas.openxmlformats.org/officeDocument/2006/relationships/slide" Target="slides/slide112.xml"/><Relationship Id="rId105" Type="http://schemas.openxmlformats.org/officeDocument/2006/relationships/slide" Target="slides/slide9.xml"/><Relationship Id="rId106" Type="http://schemas.openxmlformats.org/officeDocument/2006/relationships/slide" Target="slides/slide17.xml"/><Relationship Id="rId107" Type="http://schemas.openxmlformats.org/officeDocument/2006/relationships/slide" Target="slides/slide25.xml"/><Relationship Id="rId108" Type="http://schemas.openxmlformats.org/officeDocument/2006/relationships/slide" Target="slides/slide33.xml"/><Relationship Id="rId109" Type="http://schemas.openxmlformats.org/officeDocument/2006/relationships/slide" Target="slides/slide41.xml"/><Relationship Id="rId110" Type="http://schemas.openxmlformats.org/officeDocument/2006/relationships/slide" Target="slides/slide49.xml"/><Relationship Id="rId111" Type="http://schemas.openxmlformats.org/officeDocument/2006/relationships/slide" Target="slides/slide57.xml"/><Relationship Id="rId112" Type="http://schemas.openxmlformats.org/officeDocument/2006/relationships/slide" Target="slides/slide65.xml"/><Relationship Id="rId113" Type="http://schemas.openxmlformats.org/officeDocument/2006/relationships/slide" Target="slides/slide73.xml"/><Relationship Id="rId114" Type="http://schemas.openxmlformats.org/officeDocument/2006/relationships/slide" Target="slides/slide81.xml"/><Relationship Id="rId115" Type="http://schemas.openxmlformats.org/officeDocument/2006/relationships/slide" Target="slides/slide89.xml"/><Relationship Id="rId116" Type="http://schemas.openxmlformats.org/officeDocument/2006/relationships/slide" Target="slides/slide97.xml"/><Relationship Id="rId117" Type="http://schemas.openxmlformats.org/officeDocument/2006/relationships/slide" Target="slides/slide105.xml"/><Relationship Id="rId118" Type="http://schemas.openxmlformats.org/officeDocument/2006/relationships/slide" Target="slides/slide1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9" name="Google Shape;539;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3" name="Google Shape;563;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 name="Google Shape;592;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 name="Google Shape;60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7" name="Google Shape;607;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3" name="Google Shape;62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8" name="Google Shape;638;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 name="Google Shape;639;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3" name="Google Shape;653;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4" name="Google Shape;654;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 name="Google Shape;676;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7" name="Google Shape;677;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5" name="Google Shape;705;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6" name="Google Shape;706;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1" name="Google Shape;721;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5" name="Google Shape;735;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6" name="Google Shape;736;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2" name="Google Shape;752;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3" name="Google Shape;753;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9" name="Google Shape;76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0" name="Google Shape;770;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2" name="Google Shape;792;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3" name="Google Shape;793;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1" name="Google Shape;821;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2" name="Google Shape;822;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6" name="Google Shape;836;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7" name="Google Shape;837;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1" name="Google Shape;851;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2" name="Google Shape;852;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8" name="Google Shape;868;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9" name="Google Shape;869;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5" name="Google Shape;885;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6" name="Google Shape;886;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8" name="Google Shape;908;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9" name="Google Shape;909;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7" name="Google Shape;937;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8" name="Google Shape;938;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2" name="Google Shape;952;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3" name="Google Shape;953;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7" name="Google Shape;967;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8" name="Google Shape;968;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4" name="Google Shape;984;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5" name="Google Shape;985;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1" name="Google Shape;1001;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2" name="Google Shape;1002;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4" name="Google Shape;1024;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5" name="Google Shape;1025;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3" name="Google Shape;1053;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4" name="Google Shape;1054;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8" name="Google Shape;1068;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9" name="Google Shape;1069;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3" name="Google Shape;1083;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4" name="Google Shape;1084;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0" name="Google Shape;1100;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1" name="Google Shape;1101;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7" name="Google Shape;1117;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8" name="Google Shape;1118;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0" name="Google Shape;1140;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1" name="Google Shape;1141;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9" name="Google Shape;1169;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0" name="Google Shape;1170;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4" name="Google Shape;1184;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5" name="Google Shape;1185;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9" name="Google Shape;1199;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0" name="Google Shape;1200;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6" name="Google Shape;1216;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7" name="Google Shape;1217;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1" name="Shape 1231"/>
        <p:cNvGrpSpPr/>
        <p:nvPr/>
      </p:nvGrpSpPr>
      <p:grpSpPr>
        <a:xfrm>
          <a:off x="0" y="0"/>
          <a:ext cx="0" cy="0"/>
          <a:chOff x="0" y="0"/>
          <a:chExt cx="0" cy="0"/>
        </a:xfrm>
      </p:grpSpPr>
      <p:sp>
        <p:nvSpPr>
          <p:cNvPr id="1232" name="Google Shape;1232;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3" name="Google Shape;1233;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4" name="Google Shape;1234;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6" name="Google Shape;1256;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7" name="Google Shape;1257;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5" name="Google Shape;1285;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6" name="Google Shape;1286;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0" name="Google Shape;1300;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1" name="Google Shape;1301;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7" name="Google Shape;1317;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8" name="Google Shape;1318;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4" name="Google Shape;1334;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5" name="Google Shape;1335;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9" name="Google Shape;1349;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0" name="Google Shape;1350;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2" name="Google Shape;1372;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3" name="Google Shape;1373;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1" name="Google Shape;1401;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2" name="Google Shape;1402;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4" name="Shape 1414"/>
        <p:cNvGrpSpPr/>
        <p:nvPr/>
      </p:nvGrpSpPr>
      <p:grpSpPr>
        <a:xfrm>
          <a:off x="0" y="0"/>
          <a:ext cx="0" cy="0"/>
          <a:chOff x="0" y="0"/>
          <a:chExt cx="0" cy="0"/>
        </a:xfrm>
      </p:grpSpPr>
      <p:sp>
        <p:nvSpPr>
          <p:cNvPr id="1415" name="Google Shape;1415;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6" name="Google Shape;1416;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7" name="Google Shape;1417;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1" name="Google Shape;1431;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2" name="Google Shape;1432;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8" name="Google Shape;1448;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9" name="Google Shape;1449;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5" name="Google Shape;1465;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6" name="Google Shape;1466;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8" name="Google Shape;1488;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9" name="Google Shape;1489;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7" name="Google Shape;1517;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8" name="Google Shape;1518;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2" name="Google Shape;1532;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3" name="Google Shape;1533;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7" name="Shape 1547"/>
        <p:cNvGrpSpPr/>
        <p:nvPr/>
      </p:nvGrpSpPr>
      <p:grpSpPr>
        <a:xfrm>
          <a:off x="0" y="0"/>
          <a:ext cx="0" cy="0"/>
          <a:chOff x="0" y="0"/>
          <a:chExt cx="0" cy="0"/>
        </a:xfrm>
      </p:grpSpPr>
      <p:sp>
        <p:nvSpPr>
          <p:cNvPr id="1548" name="Google Shape;1548;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9" name="Google Shape;1549;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0" name="Google Shape;1550;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4" name="Shape 1564"/>
        <p:cNvGrpSpPr/>
        <p:nvPr/>
      </p:nvGrpSpPr>
      <p:grpSpPr>
        <a:xfrm>
          <a:off x="0" y="0"/>
          <a:ext cx="0" cy="0"/>
          <a:chOff x="0" y="0"/>
          <a:chExt cx="0" cy="0"/>
        </a:xfrm>
      </p:grpSpPr>
      <p:sp>
        <p:nvSpPr>
          <p:cNvPr id="1565" name="Google Shape;1565;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6" name="Google Shape;1566;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7" name="Google Shape;1567;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9" name="Shape 1579"/>
        <p:cNvGrpSpPr/>
        <p:nvPr/>
      </p:nvGrpSpPr>
      <p:grpSpPr>
        <a:xfrm>
          <a:off x="0" y="0"/>
          <a:ext cx="0" cy="0"/>
          <a:chOff x="0" y="0"/>
          <a:chExt cx="0" cy="0"/>
        </a:xfrm>
      </p:grpSpPr>
      <p:sp>
        <p:nvSpPr>
          <p:cNvPr id="1580" name="Google Shape;1580;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1" name="Google Shape;1581;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2" name="Google Shape;1582;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2" name="Shape 1602"/>
        <p:cNvGrpSpPr/>
        <p:nvPr/>
      </p:nvGrpSpPr>
      <p:grpSpPr>
        <a:xfrm>
          <a:off x="0" y="0"/>
          <a:ext cx="0" cy="0"/>
          <a:chOff x="0" y="0"/>
          <a:chExt cx="0" cy="0"/>
        </a:xfrm>
      </p:grpSpPr>
      <p:sp>
        <p:nvSpPr>
          <p:cNvPr id="1603" name="Google Shape;1603;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4" name="Google Shape;1604;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5" name="Google Shape;1605;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archive.org/details/doctrineoffascis00muss" TargetMode="External"/><Relationship Id="rId4" Type="http://schemas.openxmlformats.org/officeDocument/2006/relationships/hyperlink" Target="https://archive.org/details/doctrineoffascis00mus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www.archives.gov/milestone-documents/president-franklin-roosevelts-annual-message-to-congress" TargetMode="External"/><Relationship Id="rId4" Type="http://schemas.openxmlformats.org/officeDocument/2006/relationships/hyperlink" Target="https://www.archives.gov/milestone-documents/president-franklin-roosevelts-annual-message-to-congres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www.ushmm.org/collections/bibliography/elie-wiesel" TargetMode="External"/><Relationship Id="rId4" Type="http://schemas.openxmlformats.org/officeDocument/2006/relationships/hyperlink" Target="https://www.ushmm.org/collections/bibliography/elie-wiese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www.archives.gov/legislative/features/day-of-infamy" TargetMode="External"/><Relationship Id="rId4" Type="http://schemas.openxmlformats.org/officeDocument/2006/relationships/hyperlink" Target="https://www.archives.gov/legislative/features/day-of-infamy"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winstonchurchill.org/resources/speeches/1940-the-finest-hour/we-shall-fight-on-the-beaches/" TargetMode="External"/><Relationship Id="rId4" Type="http://schemas.openxmlformats.org/officeDocument/2006/relationships/hyperlink" Target="https://winstonchurchill.org/resources/speeches/1940-the-finest-hour/we-shall-fight-on-the-beaches/"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hyperlink" Target="https://www.archives.gov/historical-docs/todays-doc/?dod-date=606" TargetMode="External"/><Relationship Id="rId4" Type="http://schemas.openxmlformats.org/officeDocument/2006/relationships/hyperlink" Target="https://www.archives.gov/historical-docs/todays-doc/?dod-date=606"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9.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hyperlink" Target="https://www.archives.gov/research/military/ww2/tuskegee-airmen" TargetMode="External"/><Relationship Id="rId4" Type="http://schemas.openxmlformats.org/officeDocument/2006/relationships/hyperlink" Target="https://www.archives.gov/research/military/ww2/tuskegee-airmen"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8.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hyperlink" Target="https://www.loc.gov/collections/world-war-ii-posters/" TargetMode="External"/><Relationship Id="rId4" Type="http://schemas.openxmlformats.org/officeDocument/2006/relationships/hyperlink" Target="https://www.loc.gov/collections/world-war-ii-posters/"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1.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hyperlink" Target="https://www.archives.gov/milestone-documents/executive-order-8802" TargetMode="External"/><Relationship Id="rId4" Type="http://schemas.openxmlformats.org/officeDocument/2006/relationships/hyperlink" Target="https://www.archives.gov/milestone-documents/executive-order-8802"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0.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hyperlink" Target="https://www.archives.gov/milestone-documents/executive-order-9066" TargetMode="External"/><Relationship Id="rId4" Type="http://schemas.openxmlformats.org/officeDocument/2006/relationships/hyperlink" Target="https://www.archives.gov/milestone-documents/executive-order-9066"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3.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hyperlink" Target="https://www.archives.gov/education/lessons/wwii-rationing" TargetMode="External"/><Relationship Id="rId4" Type="http://schemas.openxmlformats.org/officeDocument/2006/relationships/hyperlink" Target="https://www.archives.gov/education/lessons/wwii-rationing"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15.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hyperlink" Target="https://www.trumanlibrary.gov/library/public-papers/93/statement-president-announcing-use-bomb-hiroshima" TargetMode="External"/><Relationship Id="rId4" Type="http://schemas.openxmlformats.org/officeDocument/2006/relationships/hyperlink" Target="https://www.trumanlibrary.gov/library/public-papers/93/statement-president-announcing-use-bomb-hiroshima" TargetMode="Externa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12.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hyperlink" Target="https://avalon.law.yale.edu/wwii/yalta.asp" TargetMode="External"/><Relationship Id="rId4" Type="http://schemas.openxmlformats.org/officeDocument/2006/relationships/hyperlink" Target="https://avalon.law.yale.edu/wwii/yalta.asp"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14.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hyperlink" Target="https://www.un.org/en/about-us/un-charter/preamble" TargetMode="External"/><Relationship Id="rId4" Type="http://schemas.openxmlformats.org/officeDocument/2006/relationships/hyperlink" Target="https://www.un.org/en/about-us/un-charter/preamble"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548640" y="640080"/>
            <a:ext cx="1097280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How This Deck Works</a:t>
            </a:r>
            <a:endParaRPr lang="en-US" sz="3800" dirty="0"/>
          </a:p>
        </p:txBody>
      </p:sp>
      <p:sp>
        <p:nvSpPr>
          <p:cNvPr id="3" name="Text 1"/>
          <p:cNvSpPr/>
          <p:nvPr/>
        </p:nvSpPr>
        <p:spPr>
          <a:xfrm>
            <a:off x="566928" y="1371600"/>
            <a:ext cx="10972800" cy="365760"/>
          </a:xfrm>
          <a:prstGeom prst="rect">
            <a:avLst/>
          </a:prstGeom>
          <a:noFill/>
          <a:ln/>
        </p:spPr>
        <p:txBody>
          <a:bodyPr wrap="square" lIns="0" tIns="0" rIns="0" bIns="0" rtlCol="0" anchor="ctr"/>
          <a:lstStyle/>
          <a:p>
            <a:pPr indent="0" marL="0">
              <a:buNone/>
            </a:pPr>
            <a:r>
              <a:rPr lang="en-US" sz="1600" i="1" dirty="0">
                <a:solidFill>
                  <a:srgbClr val="C89B3C"/>
                </a:solidFill>
                <a:latin typeface="Arial" pitchFamily="34" charset="0"/>
                <a:ea typeface="Arial" pitchFamily="34" charset="-122"/>
                <a:cs typeface="Arial" pitchFamily="34" charset="-120"/>
              </a:rPr>
              <a:t>Universal Design for Learning · Multi-Tiered System of Supports</a:t>
            </a:r>
            <a:endParaRPr lang="en-US" sz="1600" dirty="0"/>
          </a:p>
        </p:txBody>
      </p:sp>
      <p:sp>
        <p:nvSpPr>
          <p:cNvPr id="4" name="Text 2"/>
          <p:cNvSpPr/>
          <p:nvPr/>
        </p:nvSpPr>
        <p:spPr>
          <a:xfrm>
            <a:off x="548640" y="1847088"/>
            <a:ext cx="3657600" cy="292608"/>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EVERY LEARNER  ·  SAME FIRM GOAL</a:t>
            </a:r>
            <a:endParaRPr lang="en-US" sz="1100" dirty="0"/>
          </a:p>
        </p:txBody>
      </p:sp>
      <p:sp>
        <p:nvSpPr>
          <p:cNvPr id="5" name="Shape 3"/>
          <p:cNvSpPr/>
          <p:nvPr/>
        </p:nvSpPr>
        <p:spPr>
          <a:xfrm>
            <a:off x="548640" y="2148840"/>
            <a:ext cx="3566160" cy="2926080"/>
          </a:xfrm>
          <a:prstGeom prst="rect">
            <a:avLst/>
          </a:prstGeom>
          <a:solidFill>
            <a:srgbClr val="1E2C4C"/>
          </a:solidFill>
          <a:ln w="12700">
            <a:solidFill>
              <a:srgbClr val="C89B3C"/>
            </a:solidFill>
            <a:prstDash val="solid"/>
          </a:ln>
        </p:spPr>
        <p:txBody>
          <a:bodyPr/>
          <a:p/>
        </p:txBody>
      </p:sp>
      <p:sp>
        <p:nvSpPr>
          <p:cNvPr id="6" name="Text 4"/>
          <p:cNvSpPr/>
          <p:nvPr/>
        </p:nvSpPr>
        <p:spPr>
          <a:xfrm>
            <a:off x="777240"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in</a:t>
            </a:r>
            <a:endParaRPr lang="en-US" sz="1900" dirty="0"/>
          </a:p>
        </p:txBody>
      </p:sp>
      <p:sp>
        <p:nvSpPr>
          <p:cNvPr id="7" name="Text 5"/>
          <p:cNvSpPr/>
          <p:nvPr/>
        </p:nvSpPr>
        <p:spPr>
          <a:xfrm>
            <a:off x="777240"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Every lesson opens with a real question and a clear “I can” goal, so you know why it matters and where you’re headed.</a:t>
            </a:r>
            <a:endParaRPr lang="en-US" sz="1350" dirty="0"/>
          </a:p>
        </p:txBody>
      </p:sp>
      <p:sp>
        <p:nvSpPr>
          <p:cNvPr id="8" name="Shape 6"/>
          <p:cNvSpPr/>
          <p:nvPr/>
        </p:nvSpPr>
        <p:spPr>
          <a:xfrm>
            <a:off x="4315968" y="2148840"/>
            <a:ext cx="3566160" cy="2926080"/>
          </a:xfrm>
          <a:prstGeom prst="rect">
            <a:avLst/>
          </a:prstGeom>
          <a:solidFill>
            <a:srgbClr val="1E2C4C"/>
          </a:solidFill>
          <a:ln w="12700">
            <a:solidFill>
              <a:srgbClr val="C89B3C"/>
            </a:solidFill>
            <a:prstDash val="solid"/>
          </a:ln>
        </p:spPr>
        <p:txBody>
          <a:bodyPr/>
          <a:p/>
        </p:txBody>
      </p:sp>
      <p:sp>
        <p:nvSpPr>
          <p:cNvPr id="9" name="Text 7"/>
          <p:cNvSpPr/>
          <p:nvPr/>
        </p:nvSpPr>
        <p:spPr>
          <a:xfrm>
            <a:off x="4544568"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to see it</a:t>
            </a:r>
            <a:endParaRPr lang="en-US" sz="1900" dirty="0"/>
          </a:p>
        </p:txBody>
      </p:sp>
      <p:sp>
        <p:nvSpPr>
          <p:cNvPr id="10" name="Text 8"/>
          <p:cNvSpPr/>
          <p:nvPr/>
        </p:nvSpPr>
        <p:spPr>
          <a:xfrm>
            <a:off x="4544568"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Direct instruction, primary sources, maps, and bilingual key vocabulary — the same ideas shown more than one way.</a:t>
            </a:r>
            <a:endParaRPr lang="en-US" sz="1350" dirty="0"/>
          </a:p>
        </p:txBody>
      </p:sp>
      <p:sp>
        <p:nvSpPr>
          <p:cNvPr id="11" name="Shape 9"/>
          <p:cNvSpPr/>
          <p:nvPr/>
        </p:nvSpPr>
        <p:spPr>
          <a:xfrm>
            <a:off x="8083296" y="2148840"/>
            <a:ext cx="3566160" cy="2926080"/>
          </a:xfrm>
          <a:prstGeom prst="rect">
            <a:avLst/>
          </a:prstGeom>
          <a:solidFill>
            <a:srgbClr val="1E2C4C"/>
          </a:solidFill>
          <a:ln w="12700">
            <a:solidFill>
              <a:srgbClr val="C89B3C"/>
            </a:solidFill>
            <a:prstDash val="solid"/>
          </a:ln>
        </p:spPr>
        <p:txBody>
          <a:bodyPr/>
          <a:p/>
        </p:txBody>
      </p:sp>
      <p:sp>
        <p:nvSpPr>
          <p:cNvPr id="12" name="Text 10"/>
          <p:cNvSpPr/>
          <p:nvPr/>
        </p:nvSpPr>
        <p:spPr>
          <a:xfrm>
            <a:off x="8311896"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to show it</a:t>
            </a:r>
            <a:endParaRPr lang="en-US" sz="1900" dirty="0"/>
          </a:p>
        </p:txBody>
      </p:sp>
      <p:sp>
        <p:nvSpPr>
          <p:cNvPr id="13" name="Text 11"/>
          <p:cNvSpPr/>
          <p:nvPr/>
        </p:nvSpPr>
        <p:spPr>
          <a:xfrm>
            <a:off x="8311896"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Model-with-me, sentence frames, and choices in how you respond — you reach the same goal by the route that works for you.</a:t>
            </a:r>
            <a:endParaRPr lang="en-US" sz="1350" dirty="0"/>
          </a:p>
        </p:txBody>
      </p:sp>
      <p:sp>
        <p:nvSpPr>
          <p:cNvPr id="14" name="Text 12"/>
          <p:cNvSpPr/>
          <p:nvPr/>
        </p:nvSpPr>
        <p:spPr>
          <a:xfrm>
            <a:off x="548640" y="5394960"/>
            <a:ext cx="11064240" cy="640080"/>
          </a:xfrm>
          <a:prstGeom prst="rect">
            <a:avLst/>
          </a:prstGeom>
          <a:solidFill>
            <a:srgbClr val="1E2C4C"/>
          </a:solidFill>
          <a:ln/>
        </p:spPr>
        <p:txBody>
          <a:bodyPr wrap="square" lIns="76200" tIns="76200" rIns="76200" bIns="76200" rtlCol="0" anchor="ctr"/>
          <a:lstStyle/>
          <a:p>
            <a:pPr algn="ctr" indent="0" marL="0">
              <a:buNone/>
            </a:pPr>
            <a:r>
              <a:rPr lang="en-US" sz="1400" i="1" dirty="0">
                <a:solidFill>
                  <a:srgbClr val="FFFFFF"/>
                </a:solidFill>
                <a:latin typeface="Arial" pitchFamily="34" charset="0"/>
                <a:ea typeface="Arial" pitchFamily="34" charset="-122"/>
                <a:cs typeface="Arial" pitchFamily="34" charset="-120"/>
              </a:rPr>
              <a:t>Your teacher checks your progress along the way and gives you another path if you need one — </a:t>
            </a:r>
            <a:pPr algn="ctr" indent="0" marL="0">
              <a:buNone/>
            </a:pPr>
            <a:r>
              <a:rPr lang="en-US" sz="1400" b="1" i="1" dirty="0">
                <a:solidFill>
                  <a:srgbClr val="FF6B7A"/>
                </a:solidFill>
                <a:latin typeface="Arial" pitchFamily="34" charset="0"/>
                <a:ea typeface="Arial" pitchFamily="34" charset="-122"/>
                <a:cs typeface="Arial" pitchFamily="34" charset="-120"/>
              </a:rPr>
              <a:t>the goal never lowers.</a:t>
            </a:r>
            <a:endParaRPr lang="en-US" sz="1400" dirty="0"/>
          </a:p>
        </p:txBody>
      </p:sp>
      <p:sp>
        <p:nvSpPr>
          <p:cNvPr id="15" name="Text 13"/>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16" name="Text 14"/>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5" name="Shape 15"/>
        <p:cNvGrpSpPr/>
        <p:nvPr/>
      </p:nvGrpSpPr>
      <p:grpSpPr>
        <a:xfrm>
          <a:off x="0" y="0"/>
          <a:ext cx="0" cy="0"/>
          <a:chOff x="0" y="0"/>
          <a:chExt cx="0" cy="0"/>
        </a:xfrm>
      </p:grpSpPr>
      <p:sp>
        <p:nvSpPr>
          <p:cNvPr id="16" name="Google Shape;16;p1"/>
          <p:cNvSpPr/>
          <p:nvPr/>
        </p:nvSpPr>
        <p:spPr>
          <a:xfrm>
            <a:off x="0" y="233172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6000"/>
              <a:buFont typeface="Georgia"/>
              <a:buNone/>
            </a:pPr>
            <a:r>
              <a:rPr b="1" i="0" lang="en-US" sz="6000" u="none" cap="none" strike="noStrike">
                <a:solidFill>
                  <a:srgbClr val="C9A84C"/>
                </a:solidFill>
                <a:latin typeface="Georgia"/>
                <a:ea typeface="Georgia"/>
                <a:cs typeface="Georgia"/>
                <a:sym typeface="Georgia"/>
              </a:rPr>
              <a:t>US.45</a:t>
            </a:r>
            <a:endParaRPr b="0" i="0" sz="6000" u="none" cap="none" strike="noStrike">
              <a:solidFill>
                <a:schemeClr val="dk1"/>
              </a:solidFill>
              <a:latin typeface="Calibri"/>
              <a:ea typeface="Calibri"/>
              <a:cs typeface="Calibri"/>
              <a:sym typeface="Calibri"/>
            </a:endParaRPr>
          </a:p>
        </p:txBody>
      </p:sp>
      <p:sp>
        <p:nvSpPr>
          <p:cNvPr id="18" name="Google Shape;18;p1"/>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Rise and Spread of Fascism, Communism, and Totalitarianism</a:t>
            </a:r>
            <a:endParaRPr b="0" i="0" sz="2600" u="none" cap="none" strike="noStrike">
              <a:solidFill>
                <a:schemeClr val="dk1"/>
              </a:solidFill>
              <a:latin typeface="Calibri"/>
              <a:ea typeface="Calibri"/>
              <a:cs typeface="Calibri"/>
              <a:sym typeface="Calibri"/>
            </a:endParaRPr>
          </a:p>
        </p:txBody>
      </p:sp>
      <p:sp>
        <p:nvSpPr>
          <p:cNvPr id="19" name="Google Shape;19;p1"/>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200"/>
              <a:buFont typeface="Trebuchet MS"/>
              <a:buNone/>
            </a:pPr>
            <a:r>
              <a:rPr b="1" i="0" lang="en-US" sz="1200" u="none" cap="none" strike="noStrike">
                <a:solidFill>
                  <a:srgbClr val="C9A84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20" name="Google Shape;20;p1"/>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US.45 – Explain the rise and spread of fascism, communism, and totalitarianism internationally.</a:t>
            </a:r>
            <a:endParaRPr b="0" i="0" sz="1600" u="none" cap="none" strike="noStrike">
              <a:solidFill>
                <a:schemeClr val="dk1"/>
              </a:solidFill>
              <a:latin typeface="Calibri"/>
              <a:ea typeface="Calibri"/>
              <a:cs typeface="Calibri"/>
              <a:sym typeface="Calibri"/>
            </a:endParaRPr>
          </a:p>
        </p:txBody>
      </p:sp>
      <p:sp>
        <p:nvSpPr>
          <p:cNvPr id="21" name="Google Shape;21;p1"/>
          <p:cNvSpPr/>
          <p:nvPr/>
        </p:nvSpPr>
        <p:spPr>
          <a:xfrm>
            <a:off x="457200" y="4892040"/>
            <a:ext cx="11247120" cy="123444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23" name="Google Shape;23;p1"/>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I can explain the rise and spread of fascism, communism, and totalitarianism internationally, including the key characteristics and leaders of each system.</a:t>
            </a:r>
            <a:endParaRPr b="0" i="0" sz="1400" u="none" cap="none" strike="noStrike">
              <a:solidFill>
                <a:schemeClr val="dk1"/>
              </a:solidFill>
              <a:latin typeface="Calibri"/>
              <a:ea typeface="Calibri"/>
              <a:cs typeface="Calibri"/>
              <a:sym typeface="Calibri"/>
            </a:endParaRPr>
          </a:p>
        </p:txBody>
      </p:sp>
      <p:sp>
        <p:nvSpPr>
          <p:cNvPr id="24" name="Google Shape;24;p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5" name="Google Shape;25;p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0" name="Shape 30"/>
        <p:cNvGrpSpPr/>
        <p:nvPr/>
      </p:nvGrpSpPr>
      <p:grpSpPr>
        <a:xfrm>
          <a:off x="0" y="0"/>
          <a:ext cx="0" cy="0"/>
          <a:chOff x="0" y="0"/>
          <a:chExt cx="0" cy="0"/>
        </a:xfrm>
      </p:grpSpPr>
      <p:sp>
        <p:nvSpPr>
          <p:cNvPr id="31" name="Google Shape;31;p2"/>
          <p:cNvSpPr/>
          <p:nvPr/>
        </p:nvSpPr>
        <p:spPr>
          <a:xfrm>
            <a:off x="28725" y="247900"/>
            <a:ext cx="12191700" cy="173730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149100" y="247900"/>
            <a:ext cx="12042600" cy="1485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Fascism and communism rose as rival extremes — fascism preached ultranationalism, dictatorship, and militarism, while communism preached class struggle, proletarian revolution, and state ownership of the means of production.</a:t>
            </a:r>
            <a:endParaRPr b="0" i="0" sz="2300" u="none" cap="none" strike="noStrike">
              <a:solidFill>
                <a:schemeClr val="dk1"/>
              </a:solidFill>
              <a:latin typeface="Calibri"/>
              <a:ea typeface="Calibri"/>
              <a:cs typeface="Calibri"/>
              <a:sym typeface="Calibri"/>
            </a:endParaRPr>
          </a:p>
        </p:txBody>
      </p:sp>
      <p:sp>
        <p:nvSpPr>
          <p:cNvPr id="34" name="Google Shape;34;p2"/>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37" name="Google Shape;37;p2"/>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Fascism and communism rose as rival extremes — fascism preached ultranationalism, dictatorship, and militarism, while communism preached class struggle, proletarian revolution, and state ownership of the means of production.</a:t>
            </a:r>
            <a:endParaRPr b="0" i="0" sz="2200" u="none" cap="none" strike="noStrike">
              <a:solidFill>
                <a:schemeClr val="dk1"/>
              </a:solidFill>
              <a:latin typeface="Calibri"/>
              <a:ea typeface="Calibri"/>
              <a:cs typeface="Calibri"/>
              <a:sym typeface="Calibri"/>
            </a:endParaRPr>
          </a:p>
        </p:txBody>
      </p:sp>
      <p:sp>
        <p:nvSpPr>
          <p:cNvPr id="38" name="Google Shape;38;p2"/>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US.45 · Fascism vs. Communism</a:t>
            </a:r>
            <a:endParaRPr b="0" i="0" sz="1000" u="none" cap="none" strike="noStrike">
              <a:solidFill>
                <a:schemeClr val="dk1"/>
              </a:solidFill>
              <a:latin typeface="Calibri"/>
              <a:ea typeface="Calibri"/>
              <a:cs typeface="Calibri"/>
              <a:sym typeface="Calibri"/>
            </a:endParaRPr>
          </a:p>
        </p:txBody>
      </p:sp>
      <p:sp>
        <p:nvSpPr>
          <p:cNvPr id="39" name="Google Shape;39;p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0" name="Google Shape;40;p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5" name="Shape 45"/>
        <p:cNvGrpSpPr/>
        <p:nvPr/>
      </p:nvGrpSpPr>
      <p:grpSpPr>
        <a:xfrm>
          <a:off x="0" y="0"/>
          <a:ext cx="0" cy="0"/>
          <a:chOff x="0" y="0"/>
          <a:chExt cx="0" cy="0"/>
        </a:xfrm>
      </p:grpSpPr>
      <p:sp>
        <p:nvSpPr>
          <p:cNvPr id="46" name="Google Shape;46;p3"/>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49" name="Google Shape;49;p3"/>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US.45</a:t>
            </a:r>
            <a:endParaRPr b="0" i="0" sz="1200" u="none" cap="none" strike="noStrike">
              <a:solidFill>
                <a:schemeClr val="dk1"/>
              </a:solidFill>
              <a:latin typeface="Calibri"/>
              <a:ea typeface="Calibri"/>
              <a:cs typeface="Calibri"/>
              <a:sym typeface="Calibri"/>
            </a:endParaRPr>
          </a:p>
        </p:txBody>
      </p:sp>
      <p:sp>
        <p:nvSpPr>
          <p:cNvPr id="50" name="Google Shape;50;p3"/>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Totalitarian states seized total control — in Italy, Germany, and the Soviet Union, one-party regimes under Mussolini, Hitler, and Stalin used propaganda, secret police, and terror to dominate all public and private life.</a:t>
            </a:r>
            <a:endParaRPr b="0" i="0" sz="2300" u="none" cap="none" strike="noStrike">
              <a:solidFill>
                <a:schemeClr val="dk1"/>
              </a:solidFill>
              <a:latin typeface="Calibri"/>
              <a:ea typeface="Calibri"/>
              <a:cs typeface="Calibri"/>
              <a:sym typeface="Calibri"/>
            </a:endParaRPr>
          </a:p>
        </p:txBody>
      </p:sp>
      <p:pic>
        <p:nvPicPr>
          <p:cNvPr descr="hh-web/public/images/textbook/unit-6/nuremberg-nazi-rally-1935.jpg" id="51" name="Google Shape;51;p3"/>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52" name="Google Shape;52;p3"/>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53" name="Google Shape;53;p3"/>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US.45 · Totalitarianism in Italy, Germany &amp; USSR</a:t>
            </a:r>
            <a:endParaRPr b="0" i="0" sz="1000" u="none" cap="none" strike="noStrike">
              <a:solidFill>
                <a:schemeClr val="dk1"/>
              </a:solidFill>
              <a:latin typeface="Calibri"/>
              <a:ea typeface="Calibri"/>
              <a:cs typeface="Calibri"/>
              <a:sym typeface="Calibri"/>
            </a:endParaRPr>
          </a:p>
        </p:txBody>
      </p:sp>
      <p:sp>
        <p:nvSpPr>
          <p:cNvPr id="54" name="Google Shape;54;p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5" name="Google Shape;55;p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0" name="Shape 60"/>
        <p:cNvGrpSpPr/>
        <p:nvPr/>
      </p:nvGrpSpPr>
      <p:grpSpPr>
        <a:xfrm>
          <a:off x="0" y="0"/>
          <a:ext cx="0" cy="0"/>
          <a:chOff x="0" y="0"/>
          <a:chExt cx="0" cy="0"/>
        </a:xfrm>
      </p:grpSpPr>
      <p:sp>
        <p:nvSpPr>
          <p:cNvPr id="61" name="Google Shape;61;p4"/>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64" name="Google Shape;64;p4"/>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US.45</a:t>
            </a:r>
            <a:endParaRPr b="0" i="0" sz="1200" u="none" cap="none" strike="noStrike">
              <a:solidFill>
                <a:schemeClr val="dk1"/>
              </a:solidFill>
              <a:latin typeface="Calibri"/>
              <a:ea typeface="Calibri"/>
              <a:cs typeface="Calibri"/>
              <a:sym typeface="Calibri"/>
            </a:endParaRPr>
          </a:p>
        </p:txBody>
      </p:sp>
      <p:sp>
        <p:nvSpPr>
          <p:cNvPr id="65" name="Google Shape;65;p4"/>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The Great Depression opened the door — economic collapse, resentment over the Treaty of Versailles, weak democracies, and fear of communism pushed desperate populations toward radical, authoritarian solutions.</a:t>
            </a:r>
            <a:endParaRPr b="0" i="0" sz="2300" u="none" cap="none" strike="noStrike">
              <a:solidFill>
                <a:schemeClr val="dk1"/>
              </a:solidFill>
              <a:latin typeface="Calibri"/>
              <a:ea typeface="Calibri"/>
              <a:cs typeface="Calibri"/>
              <a:sym typeface="Calibri"/>
            </a:endParaRPr>
          </a:p>
        </p:txBody>
      </p:sp>
      <p:sp>
        <p:nvSpPr>
          <p:cNvPr id="66" name="Google Shape;66;p4"/>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69" name="Google Shape;69;p4"/>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The Great Depression opened the door — economic collapse, resentment over the Treaty of Versailles, weak democracies, and fear of communism pushed desperate populations toward radical, authoritarian solutions.</a:t>
            </a:r>
            <a:endParaRPr b="0" i="0" sz="2200" u="none" cap="none" strike="noStrike">
              <a:solidFill>
                <a:schemeClr val="dk1"/>
              </a:solidFill>
              <a:latin typeface="Calibri"/>
              <a:ea typeface="Calibri"/>
              <a:cs typeface="Calibri"/>
              <a:sym typeface="Calibri"/>
            </a:endParaRPr>
          </a:p>
        </p:txBody>
      </p:sp>
      <p:sp>
        <p:nvSpPr>
          <p:cNvPr id="70" name="Google Shape;70;p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US.45 · Factors Behind the International Spread</a:t>
            </a:r>
            <a:endParaRPr b="0" i="0" sz="1000" u="none" cap="none" strike="noStrike">
              <a:solidFill>
                <a:schemeClr val="dk1"/>
              </a:solidFill>
              <a:latin typeface="Calibri"/>
              <a:ea typeface="Calibri"/>
              <a:cs typeface="Calibri"/>
              <a:sym typeface="Calibri"/>
            </a:endParaRPr>
          </a:p>
        </p:txBody>
      </p:sp>
      <p:sp>
        <p:nvSpPr>
          <p:cNvPr id="71" name="Google Shape;71;p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2" name="Google Shape;72;p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7" name="Shape 77"/>
        <p:cNvGrpSpPr/>
        <p:nvPr/>
      </p:nvGrpSpPr>
      <p:grpSpPr>
        <a:xfrm>
          <a:off x="0" y="0"/>
          <a:ext cx="0" cy="0"/>
          <a:chOff x="0" y="0"/>
          <a:chExt cx="0" cy="0"/>
        </a:xfrm>
      </p:grpSpPr>
      <p:sp>
        <p:nvSpPr>
          <p:cNvPr id="78" name="Google Shape;78;p5"/>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81" name="Google Shape;81;p5"/>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US.45</a:t>
            </a:r>
            <a:endParaRPr b="0" i="0" sz="1200" u="none" cap="none" strike="noStrike">
              <a:solidFill>
                <a:schemeClr val="dk1"/>
              </a:solidFill>
              <a:latin typeface="Calibri"/>
              <a:ea typeface="Calibri"/>
              <a:cs typeface="Calibri"/>
              <a:sym typeface="Calibri"/>
            </a:endParaRPr>
          </a:p>
        </p:txBody>
      </p:sp>
      <p:sp>
        <p:nvSpPr>
          <p:cNvPr id="82" name="Google Shape;82;p5"/>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Mussolini’s “The Doctrine of Fascism” — weigh who wrote it and why before you read the words.</a:t>
            </a:r>
            <a:endParaRPr b="0" i="0" sz="2000" u="none" cap="none" strike="noStrike">
              <a:solidFill>
                <a:schemeClr val="dk1"/>
              </a:solidFill>
              <a:latin typeface="Calibri"/>
              <a:ea typeface="Calibri"/>
              <a:cs typeface="Calibri"/>
              <a:sym typeface="Calibri"/>
            </a:endParaRPr>
          </a:p>
        </p:txBody>
      </p:sp>
      <p:sp>
        <p:nvSpPr>
          <p:cNvPr id="83" name="Google Shape;83;p5"/>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84" name="Google Shape;84;p5"/>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Benito Mussolini</a:t>
            </a:r>
            <a:endParaRPr b="0" i="0" sz="1200" u="none" cap="none" strike="noStrike">
              <a:solidFill>
                <a:schemeClr val="dk1"/>
              </a:solidFill>
              <a:latin typeface="Calibri"/>
              <a:ea typeface="Calibri"/>
              <a:cs typeface="Calibri"/>
              <a:sym typeface="Calibri"/>
            </a:endParaRPr>
          </a:p>
        </p:txBody>
      </p:sp>
      <p:sp>
        <p:nvSpPr>
          <p:cNvPr id="85" name="Google Shape;85;p5"/>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86" name="Google Shape;86;p5"/>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1932</a:t>
            </a:r>
            <a:endParaRPr b="0" i="0" sz="1200" u="none" cap="none" strike="noStrike">
              <a:solidFill>
                <a:schemeClr val="dk1"/>
              </a:solidFill>
              <a:latin typeface="Calibri"/>
              <a:ea typeface="Calibri"/>
              <a:cs typeface="Calibri"/>
              <a:sym typeface="Calibri"/>
            </a:endParaRPr>
          </a:p>
        </p:txBody>
      </p:sp>
      <p:sp>
        <p:nvSpPr>
          <p:cNvPr id="87" name="Google Shape;87;p5"/>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88" name="Google Shape;88;p5"/>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89" name="Google Shape;89;p5"/>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The Doctrine of Fascism</a:t>
            </a:r>
            <a:endParaRPr b="0" i="0" sz="1400" u="none" cap="none" strike="noStrike">
              <a:solidFill>
                <a:schemeClr val="dk1"/>
              </a:solidFill>
              <a:latin typeface="Calibri"/>
              <a:ea typeface="Calibri"/>
              <a:cs typeface="Calibri"/>
              <a:sym typeface="Calibri"/>
            </a:endParaRPr>
          </a:p>
        </p:txBody>
      </p:sp>
      <p:sp>
        <p:nvSpPr>
          <p:cNvPr id="91" name="Google Shape;91;p5"/>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Benito Mussolini · 1932</a:t>
            </a:r>
            <a:endParaRPr b="0" i="0" sz="900" u="none" cap="none" strike="noStrike">
              <a:solidFill>
                <a:schemeClr val="dk1"/>
              </a:solidFill>
              <a:latin typeface="Calibri"/>
              <a:ea typeface="Calibri"/>
              <a:cs typeface="Calibri"/>
              <a:sym typeface="Calibri"/>
            </a:endParaRPr>
          </a:p>
        </p:txBody>
      </p:sp>
      <p:sp>
        <p:nvSpPr>
          <p:cNvPr id="92" name="Google Shape;92;p5"/>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Fascist State organizes the nation, but leaves a sufficient margin of liberty to the individual; the latter is deprived of all useless and possibly harmful freedom, but retains what is essential; the deciding power in this question cannot be the individual, but the State alone... The Fascist conception of the State is all-embracing; outside of it no human or spiritual values can exist, much less have value."</a:t>
            </a:r>
            <a:endParaRPr b="0" i="0" sz="1100" u="none" cap="none" strike="noStrike">
              <a:solidFill>
                <a:schemeClr val="dk1"/>
              </a:solidFill>
              <a:latin typeface="Calibri"/>
              <a:ea typeface="Calibri"/>
              <a:cs typeface="Calibri"/>
              <a:sym typeface="Calibri"/>
            </a:endParaRPr>
          </a:p>
        </p:txBody>
      </p:sp>
      <p:sp>
        <p:nvSpPr>
          <p:cNvPr id="93" name="Google Shape;93;p5">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Internet Archive</a:t>
            </a:r>
            <a:endParaRPr b="0" i="0" sz="900" u="none" cap="none" strike="noStrike">
              <a:solidFill>
                <a:schemeClr val="dk1"/>
              </a:solidFill>
              <a:latin typeface="Calibri"/>
              <a:ea typeface="Calibri"/>
              <a:cs typeface="Calibri"/>
              <a:sym typeface="Calibri"/>
            </a:endParaRPr>
          </a:p>
        </p:txBody>
      </p:sp>
      <p:sp>
        <p:nvSpPr>
          <p:cNvPr id="94" name="Google Shape;94;p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5" name="Google Shape;95;p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00" name="Shape 100"/>
        <p:cNvGrpSpPr/>
        <p:nvPr/>
      </p:nvGrpSpPr>
      <p:grpSpPr>
        <a:xfrm>
          <a:off x="0" y="0"/>
          <a:ext cx="0" cy="0"/>
          <a:chOff x="0" y="0"/>
          <a:chExt cx="0" cy="0"/>
        </a:xfrm>
      </p:grpSpPr>
      <p:sp>
        <p:nvSpPr>
          <p:cNvPr id="101" name="Google Shape;101;p6"/>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102" name="Google Shape;102;p6"/>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US.45</a:t>
            </a:r>
            <a:endParaRPr b="0" i="0" sz="1200" u="none" cap="none" strike="noStrike">
              <a:solidFill>
                <a:schemeClr val="dk1"/>
              </a:solidFill>
              <a:latin typeface="Calibri"/>
              <a:ea typeface="Calibri"/>
              <a:cs typeface="Calibri"/>
              <a:sym typeface="Calibri"/>
            </a:endParaRPr>
          </a:p>
        </p:txBody>
      </p:sp>
      <p:sp>
        <p:nvSpPr>
          <p:cNvPr id="103" name="Google Shape;103;p6"/>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104" name="Google Shape;104;p6"/>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107" name="Google Shape;107;p6"/>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108" name="Google Shape;108;p6"/>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US.45:</a:t>
            </a:r>
            <a:endParaRPr b="0" i="0" sz="1000" u="none" cap="none" strike="noStrike">
              <a:solidFill>
                <a:schemeClr val="dk1"/>
              </a:solidFill>
              <a:latin typeface="Calibri"/>
              <a:ea typeface="Calibri"/>
              <a:cs typeface="Calibri"/>
              <a:sym typeface="Calibri"/>
            </a:endParaRPr>
          </a:p>
        </p:txBody>
      </p:sp>
      <p:sp>
        <p:nvSpPr>
          <p:cNvPr id="109" name="Google Shape;109;p6"/>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Dictators and their parties who seized total power, and industrialists and elites who backed strongmen to crush labor movements and communism.</a:t>
            </a:r>
            <a:endParaRPr b="0" i="0" sz="1200" u="none" cap="none" strike="noStrike">
              <a:solidFill>
                <a:schemeClr val="dk1"/>
              </a:solidFill>
              <a:latin typeface="Calibri"/>
              <a:ea typeface="Calibri"/>
              <a:cs typeface="Calibri"/>
              <a:sym typeface="Calibri"/>
            </a:endParaRPr>
          </a:p>
        </p:txBody>
      </p:sp>
      <p:sp>
        <p:nvSpPr>
          <p:cNvPr id="110" name="Google Shape;110;p6"/>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113" name="Google Shape;113;p6"/>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114" name="Google Shape;114;p6"/>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US.45:</a:t>
            </a:r>
            <a:endParaRPr b="0" i="0" sz="1000" u="none" cap="none" strike="noStrike">
              <a:solidFill>
                <a:schemeClr val="dk1"/>
              </a:solidFill>
              <a:latin typeface="Calibri"/>
              <a:ea typeface="Calibri"/>
              <a:cs typeface="Calibri"/>
              <a:sym typeface="Calibri"/>
            </a:endParaRPr>
          </a:p>
        </p:txBody>
      </p:sp>
      <p:sp>
        <p:nvSpPr>
          <p:cNvPr id="115" name="Google Shape;115;p6"/>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Political dissidents, ethnic and religious minorities, and ordinary citizens who lost civil liberties, free press, and eventually their lives under state terror.</a:t>
            </a:r>
            <a:endParaRPr b="0" i="0" sz="1200" u="none" cap="none" strike="noStrike">
              <a:solidFill>
                <a:schemeClr val="dk1"/>
              </a:solidFill>
              <a:latin typeface="Calibri"/>
              <a:ea typeface="Calibri"/>
              <a:cs typeface="Calibri"/>
              <a:sym typeface="Calibri"/>
            </a:endParaRPr>
          </a:p>
        </p:txBody>
      </p:sp>
      <p:sp>
        <p:nvSpPr>
          <p:cNvPr id="116" name="Google Shape;116;p6"/>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119" name="Google Shape;119;p6"/>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120" name="Google Shape;120;p6"/>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US.45:</a:t>
            </a:r>
            <a:endParaRPr b="0" i="0" sz="1000" u="none" cap="none" strike="noStrike">
              <a:solidFill>
                <a:schemeClr val="dk1"/>
              </a:solidFill>
              <a:latin typeface="Calibri"/>
              <a:ea typeface="Calibri"/>
              <a:cs typeface="Calibri"/>
              <a:sym typeface="Calibri"/>
            </a:endParaRPr>
          </a:p>
        </p:txBody>
      </p:sp>
      <p:sp>
        <p:nvSpPr>
          <p:cNvPr id="121" name="Google Shape;121;p6"/>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Single-party dictatorships that abolished checks on power — Mussolini, Hitler, and Stalin ruling through propaganda, secret police, and force.</a:t>
            </a:r>
            <a:endParaRPr b="0" i="0" sz="1200" u="none" cap="none" strike="noStrike">
              <a:solidFill>
                <a:schemeClr val="dk1"/>
              </a:solidFill>
              <a:latin typeface="Calibri"/>
              <a:ea typeface="Calibri"/>
              <a:cs typeface="Calibri"/>
              <a:sym typeface="Calibri"/>
            </a:endParaRPr>
          </a:p>
        </p:txBody>
      </p:sp>
      <p:sp>
        <p:nvSpPr>
          <p:cNvPr id="122" name="Google Shape;122;p6"/>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The Doctrine of Fascism, Benito Mussolini, 1932 (Internet Archive)</a:t>
            </a:r>
            <a:endParaRPr b="0" i="0" sz="1000" u="none" cap="none" strike="noStrike">
              <a:solidFill>
                <a:schemeClr val="dk1"/>
              </a:solidFill>
              <a:latin typeface="Calibri"/>
              <a:ea typeface="Calibri"/>
              <a:cs typeface="Calibri"/>
              <a:sym typeface="Calibri"/>
            </a:endParaRPr>
          </a:p>
        </p:txBody>
      </p:sp>
      <p:sp>
        <p:nvSpPr>
          <p:cNvPr id="123" name="Google Shape;123;p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24" name="Google Shape;124;p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Fascism</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Fascismo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An authoritarian political ideology that emphasizes extreme nationalism, militarism, totalitarian control, and a dictatorial leader. Suppresses opposition and glorifies the state above individual rights.</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Totalitarianism</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Totalitarismo</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system of government where the state controls every aspect of public and private life, using propaganda, secret police, and terror to eliminate opposition.</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Communism</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Comunismo</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political and economic system in which the state owns property and the means of production in the name of the working class; in the 20th century it took the form of one-party dictatorship under leaders like Vladimir Lenin and Joseph Stalin in the Soviet Union.</a:t>
            </a:r>
            <a:endParaRPr lang="en-US" sz="13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economic crisis and political instability enable the rise of totalitarian regimes in Italy, Germany, and the Soviet Union?</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Great Depression, post-WWI disappointment, and political chaos created conditions where people accepted radical solutions and strong leaders promising stability</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Economic prosperity led people to seek stronger government control, although this view has been largely discredited by scholars, which does not align with the documented historical record</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Totalitarian regimes rose during periods of peace and prosperity, despite the fact that multiple sources contradict this view, which does not align with the documented historical record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Democratic governments actively promoted totalitarianism, which does not align with the documented historical record, but the historical evidence paints a more nuanced picture</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29" name="Shape 129"/>
        <p:cNvGrpSpPr/>
        <p:nvPr/>
      </p:nvGrpSpPr>
      <p:grpSpPr>
        <a:xfrm>
          <a:off x="0" y="0"/>
          <a:ext cx="0" cy="0"/>
          <a:chOff x="0" y="0"/>
          <a:chExt cx="0" cy="0"/>
        </a:xfrm>
      </p:grpSpPr>
      <p:sp>
        <p:nvSpPr>
          <p:cNvPr id="130" name="Google Shape;130;p7"/>
          <p:cNvSpPr/>
          <p:nvPr/>
        </p:nvSpPr>
        <p:spPr>
          <a:xfrm>
            <a:off x="0" y="233172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6000"/>
              <a:buFont typeface="Georgia"/>
              <a:buNone/>
            </a:pPr>
            <a:r>
              <a:rPr b="1" i="0" lang="en-US" sz="6000" u="none" cap="none" strike="noStrike">
                <a:solidFill>
                  <a:srgbClr val="C9A84C"/>
                </a:solidFill>
                <a:latin typeface="Georgia"/>
                <a:ea typeface="Georgia"/>
                <a:cs typeface="Georgia"/>
                <a:sym typeface="Georgia"/>
              </a:rPr>
              <a:t>US.46</a:t>
            </a:r>
            <a:endParaRPr b="0" i="0" sz="6000" u="none" cap="none" strike="noStrike">
              <a:solidFill>
                <a:schemeClr val="dk1"/>
              </a:solidFill>
              <a:latin typeface="Calibri"/>
              <a:ea typeface="Calibri"/>
              <a:cs typeface="Calibri"/>
              <a:sym typeface="Calibri"/>
            </a:endParaRPr>
          </a:p>
        </p:txBody>
      </p:sp>
      <p:sp>
        <p:nvSpPr>
          <p:cNvPr id="132" name="Google Shape;132;p7"/>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FDR's Response to World Crises</a:t>
            </a:r>
            <a:endParaRPr b="0" i="0" sz="2600" u="none" cap="none" strike="noStrike">
              <a:solidFill>
                <a:schemeClr val="dk1"/>
              </a:solidFill>
              <a:latin typeface="Calibri"/>
              <a:ea typeface="Calibri"/>
              <a:cs typeface="Calibri"/>
              <a:sym typeface="Calibri"/>
            </a:endParaRPr>
          </a:p>
        </p:txBody>
      </p:sp>
      <p:sp>
        <p:nvSpPr>
          <p:cNvPr id="133" name="Google Shape;133;p7"/>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200"/>
              <a:buFont typeface="Trebuchet MS"/>
              <a:buNone/>
            </a:pPr>
            <a:r>
              <a:rPr b="1" i="0" lang="en-US" sz="1200" u="none" cap="none" strike="noStrike">
                <a:solidFill>
                  <a:srgbClr val="C9A84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134" name="Google Shape;134;p7"/>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US.46 – Explain President Franklin D. Roosevelt's response to world crises, including: The Quarantine Speech, the Four Freedoms speech, the Atlantic Charter, and the Lend-Lease Act.</a:t>
            </a:r>
            <a:endParaRPr b="0" i="0" sz="1600" u="none" cap="none" strike="noStrike">
              <a:solidFill>
                <a:schemeClr val="dk1"/>
              </a:solidFill>
              <a:latin typeface="Calibri"/>
              <a:ea typeface="Calibri"/>
              <a:cs typeface="Calibri"/>
              <a:sym typeface="Calibri"/>
            </a:endParaRPr>
          </a:p>
        </p:txBody>
      </p:sp>
      <p:sp>
        <p:nvSpPr>
          <p:cNvPr id="135" name="Google Shape;135;p7"/>
          <p:cNvSpPr/>
          <p:nvPr/>
        </p:nvSpPr>
        <p:spPr>
          <a:xfrm>
            <a:off x="457200" y="4892040"/>
            <a:ext cx="11247120" cy="123444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137" name="Google Shape;137;p7"/>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I can explain President Franklin D. Roosevelt's response to world crises, including the Quarantine Speech, the Four Freedoms speech, the Atlantic Charter, and the Lend-Lease Act.</a:t>
            </a:r>
            <a:endParaRPr b="0" i="0" sz="1400" u="none" cap="none" strike="noStrike">
              <a:solidFill>
                <a:schemeClr val="dk1"/>
              </a:solidFill>
              <a:latin typeface="Calibri"/>
              <a:ea typeface="Calibri"/>
              <a:cs typeface="Calibri"/>
              <a:sym typeface="Calibri"/>
            </a:endParaRPr>
          </a:p>
        </p:txBody>
      </p:sp>
      <p:sp>
        <p:nvSpPr>
          <p:cNvPr id="138" name="Google Shape;138;p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9" name="Google Shape;139;p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4" name="Shape 144"/>
        <p:cNvGrpSpPr/>
        <p:nvPr/>
      </p:nvGrpSpPr>
      <p:grpSpPr>
        <a:xfrm>
          <a:off x="0" y="0"/>
          <a:ext cx="0" cy="0"/>
          <a:chOff x="0" y="0"/>
          <a:chExt cx="0" cy="0"/>
        </a:xfrm>
      </p:grpSpPr>
      <p:sp>
        <p:nvSpPr>
          <p:cNvPr id="145" name="Google Shape;145;p8"/>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48" name="Google Shape;148;p8"/>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US.46</a:t>
            </a:r>
            <a:endParaRPr b="0" i="0" sz="1200" u="none" cap="none" strike="noStrike">
              <a:solidFill>
                <a:schemeClr val="dk1"/>
              </a:solidFill>
              <a:latin typeface="Calibri"/>
              <a:ea typeface="Calibri"/>
              <a:cs typeface="Calibri"/>
              <a:sym typeface="Calibri"/>
            </a:endParaRPr>
          </a:p>
        </p:txBody>
      </p:sp>
      <p:sp>
        <p:nvSpPr>
          <p:cNvPr id="149" name="Google Shape;149;p8"/>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FDR warned against aggression, then defined the stakes — the 1937 Quarantine Speech urged isolating aggressor nations, and the 1941 Four Freedoms Speech framed the coming struggle around freedom of speech, worship, from want, and from fear.</a:t>
            </a:r>
            <a:endParaRPr b="0" i="0" sz="2300" u="none" cap="none" strike="noStrike">
              <a:solidFill>
                <a:schemeClr val="dk1"/>
              </a:solidFill>
              <a:latin typeface="Calibri"/>
              <a:ea typeface="Calibri"/>
              <a:cs typeface="Calibri"/>
              <a:sym typeface="Calibri"/>
            </a:endParaRPr>
          </a:p>
        </p:txBody>
      </p:sp>
      <p:pic>
        <p:nvPicPr>
          <p:cNvPr descr="hh-web/public/images/textbook/unit-6/fdr-fireside-chat-1941.jpg" id="150" name="Google Shape;150;p8"/>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151" name="Google Shape;151;p8"/>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152" name="Google Shape;152;p8"/>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US.46 · Quarantine Speech &amp; Four Freedoms</a:t>
            </a:r>
            <a:endParaRPr b="0" i="0" sz="1000" u="none" cap="none" strike="noStrike">
              <a:solidFill>
                <a:schemeClr val="dk1"/>
              </a:solidFill>
              <a:latin typeface="Calibri"/>
              <a:ea typeface="Calibri"/>
              <a:cs typeface="Calibri"/>
              <a:sym typeface="Calibri"/>
            </a:endParaRPr>
          </a:p>
        </p:txBody>
      </p:sp>
      <p:sp>
        <p:nvSpPr>
          <p:cNvPr id="153" name="Google Shape;153;p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4" name="Google Shape;154;p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9" name="Shape 159"/>
        <p:cNvGrpSpPr/>
        <p:nvPr/>
      </p:nvGrpSpPr>
      <p:grpSpPr>
        <a:xfrm>
          <a:off x="0" y="0"/>
          <a:ext cx="0" cy="0"/>
          <a:chOff x="0" y="0"/>
          <a:chExt cx="0" cy="0"/>
        </a:xfrm>
      </p:grpSpPr>
      <p:sp>
        <p:nvSpPr>
          <p:cNvPr id="160" name="Google Shape;160;p9"/>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63" name="Google Shape;163;p9"/>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US.46</a:t>
            </a:r>
            <a:endParaRPr b="0" i="0" sz="1200" u="none" cap="none" strike="noStrike">
              <a:solidFill>
                <a:schemeClr val="dk1"/>
              </a:solidFill>
              <a:latin typeface="Calibri"/>
              <a:ea typeface="Calibri"/>
              <a:cs typeface="Calibri"/>
              <a:sym typeface="Calibri"/>
            </a:endParaRPr>
          </a:p>
        </p:txBody>
      </p:sp>
      <p:sp>
        <p:nvSpPr>
          <p:cNvPr id="164" name="Google Shape;164;p9"/>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The Atlantic Charter set Allied war aims — meeting Churchill secretly off Newfoundland in August 1941, FDR set postwar principles of self-determination and collective security before the U.S. had even entered the war.</a:t>
            </a:r>
            <a:endParaRPr b="0" i="0" sz="2300" u="none" cap="none" strike="noStrike">
              <a:solidFill>
                <a:schemeClr val="dk1"/>
              </a:solidFill>
              <a:latin typeface="Calibri"/>
              <a:ea typeface="Calibri"/>
              <a:cs typeface="Calibri"/>
              <a:sym typeface="Calibri"/>
            </a:endParaRPr>
          </a:p>
        </p:txBody>
      </p:sp>
      <p:sp>
        <p:nvSpPr>
          <p:cNvPr id="165" name="Google Shape;165;p9"/>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68" name="Google Shape;168;p9"/>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The Atlantic Charter set Allied war aims — meeting Churchill secretly off Newfoundland in August 1941, FDR set postwar principles of self-determination and collective security before the U.S. had even entered the war.</a:t>
            </a:r>
            <a:endParaRPr b="0" i="0" sz="2200" u="none" cap="none" strike="noStrike">
              <a:solidFill>
                <a:schemeClr val="dk1"/>
              </a:solidFill>
              <a:latin typeface="Calibri"/>
              <a:ea typeface="Calibri"/>
              <a:cs typeface="Calibri"/>
              <a:sym typeface="Calibri"/>
            </a:endParaRPr>
          </a:p>
        </p:txBody>
      </p:sp>
      <p:sp>
        <p:nvSpPr>
          <p:cNvPr id="169" name="Google Shape;169;p9"/>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US.46 · Atlantic Charter</a:t>
            </a:r>
            <a:endParaRPr b="0" i="0" sz="1000" u="none" cap="none" strike="noStrike">
              <a:solidFill>
                <a:schemeClr val="dk1"/>
              </a:solidFill>
              <a:latin typeface="Calibri"/>
              <a:ea typeface="Calibri"/>
              <a:cs typeface="Calibri"/>
              <a:sym typeface="Calibri"/>
            </a:endParaRPr>
          </a:p>
        </p:txBody>
      </p:sp>
      <p:sp>
        <p:nvSpPr>
          <p:cNvPr id="170" name="Google Shape;170;p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71" name="Google Shape;171;p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76" name="Shape 176"/>
        <p:cNvGrpSpPr/>
        <p:nvPr/>
      </p:nvGrpSpPr>
      <p:grpSpPr>
        <a:xfrm>
          <a:off x="0" y="0"/>
          <a:ext cx="0" cy="0"/>
          <a:chOff x="0" y="0"/>
          <a:chExt cx="0" cy="0"/>
        </a:xfrm>
      </p:grpSpPr>
      <p:sp>
        <p:nvSpPr>
          <p:cNvPr id="177" name="Google Shape;177;p10"/>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0"/>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0"/>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80" name="Google Shape;180;p10"/>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US.46</a:t>
            </a:r>
            <a:endParaRPr b="0" i="0" sz="1200" u="none" cap="none" strike="noStrike">
              <a:solidFill>
                <a:schemeClr val="dk1"/>
              </a:solidFill>
              <a:latin typeface="Calibri"/>
              <a:ea typeface="Calibri"/>
              <a:cs typeface="Calibri"/>
              <a:sym typeface="Calibri"/>
            </a:endParaRPr>
          </a:p>
        </p:txBody>
      </p:sp>
      <p:sp>
        <p:nvSpPr>
          <p:cNvPr id="181" name="Google Shape;181;p10"/>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Lend-Lease made America the “arsenal of democracy” — the March 1941 Lend-Lease Act let the U.S. supply Britain and the Allies with military equipment without immediate payment, ending strict neutrality short of war.</a:t>
            </a:r>
            <a:endParaRPr b="0" i="0" sz="2300" u="none" cap="none" strike="noStrike">
              <a:solidFill>
                <a:schemeClr val="dk1"/>
              </a:solidFill>
              <a:latin typeface="Calibri"/>
              <a:ea typeface="Calibri"/>
              <a:cs typeface="Calibri"/>
              <a:sym typeface="Calibri"/>
            </a:endParaRPr>
          </a:p>
        </p:txBody>
      </p:sp>
      <p:sp>
        <p:nvSpPr>
          <p:cNvPr id="182" name="Google Shape;182;p10"/>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0"/>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85" name="Google Shape;185;p10"/>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Lend-Lease made America the “arsenal of democracy” — the March 1941 Lend-Lease Act let the U.S. supply Britain and the Allies with military equipment without immediate payment, ending strict neutrality short of war.</a:t>
            </a:r>
            <a:endParaRPr b="0" i="0" sz="2200" u="none" cap="none" strike="noStrike">
              <a:solidFill>
                <a:schemeClr val="dk1"/>
              </a:solidFill>
              <a:latin typeface="Calibri"/>
              <a:ea typeface="Calibri"/>
              <a:cs typeface="Calibri"/>
              <a:sym typeface="Calibri"/>
            </a:endParaRPr>
          </a:p>
        </p:txBody>
      </p:sp>
      <p:sp>
        <p:nvSpPr>
          <p:cNvPr id="186" name="Google Shape;186;p10"/>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US.46 · Lend-Lease Act</a:t>
            </a:r>
            <a:endParaRPr b="0" i="0" sz="1000" u="none" cap="none" strike="noStrike">
              <a:solidFill>
                <a:schemeClr val="dk1"/>
              </a:solidFill>
              <a:latin typeface="Calibri"/>
              <a:ea typeface="Calibri"/>
              <a:cs typeface="Calibri"/>
              <a:sym typeface="Calibri"/>
            </a:endParaRPr>
          </a:p>
        </p:txBody>
      </p:sp>
      <p:sp>
        <p:nvSpPr>
          <p:cNvPr id="187" name="Google Shape;187;p1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88" name="Google Shape;188;p1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93" name="Shape 193"/>
        <p:cNvGrpSpPr/>
        <p:nvPr/>
      </p:nvGrpSpPr>
      <p:grpSpPr>
        <a:xfrm>
          <a:off x="0" y="0"/>
          <a:ext cx="0" cy="0"/>
          <a:chOff x="0" y="0"/>
          <a:chExt cx="0" cy="0"/>
        </a:xfrm>
      </p:grpSpPr>
      <p:sp>
        <p:nvSpPr>
          <p:cNvPr id="194" name="Google Shape;194;p11"/>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1"/>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197" name="Google Shape;197;p11"/>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US.46</a:t>
            </a:r>
            <a:endParaRPr b="0" i="0" sz="1200" u="none" cap="none" strike="noStrike">
              <a:solidFill>
                <a:schemeClr val="dk1"/>
              </a:solidFill>
              <a:latin typeface="Calibri"/>
              <a:ea typeface="Calibri"/>
              <a:cs typeface="Calibri"/>
              <a:sym typeface="Calibri"/>
            </a:endParaRPr>
          </a:p>
        </p:txBody>
      </p:sp>
      <p:sp>
        <p:nvSpPr>
          <p:cNvPr id="198" name="Google Shape;198;p11"/>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FDR’s Four Freedoms Speech — identify the speaker, date, and purpose before you weigh his words.</a:t>
            </a:r>
            <a:endParaRPr b="0" i="0" sz="2000" u="none" cap="none" strike="noStrike">
              <a:solidFill>
                <a:schemeClr val="dk1"/>
              </a:solidFill>
              <a:latin typeface="Calibri"/>
              <a:ea typeface="Calibri"/>
              <a:cs typeface="Calibri"/>
              <a:sym typeface="Calibri"/>
            </a:endParaRPr>
          </a:p>
        </p:txBody>
      </p:sp>
      <p:sp>
        <p:nvSpPr>
          <p:cNvPr id="199" name="Google Shape;199;p11"/>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200" name="Google Shape;200;p11"/>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President Franklin D. Roosevelt</a:t>
            </a:r>
            <a:endParaRPr b="0" i="0" sz="1200" u="none" cap="none" strike="noStrike">
              <a:solidFill>
                <a:schemeClr val="dk1"/>
              </a:solidFill>
              <a:latin typeface="Calibri"/>
              <a:ea typeface="Calibri"/>
              <a:cs typeface="Calibri"/>
              <a:sym typeface="Calibri"/>
            </a:endParaRPr>
          </a:p>
        </p:txBody>
      </p:sp>
      <p:sp>
        <p:nvSpPr>
          <p:cNvPr id="201" name="Google Shape;201;p11"/>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202" name="Google Shape;202;p11"/>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January 6, 1941</a:t>
            </a:r>
            <a:endParaRPr b="0" i="0" sz="1200" u="none" cap="none" strike="noStrike">
              <a:solidFill>
                <a:schemeClr val="dk1"/>
              </a:solidFill>
              <a:latin typeface="Calibri"/>
              <a:ea typeface="Calibri"/>
              <a:cs typeface="Calibri"/>
              <a:sym typeface="Calibri"/>
            </a:endParaRPr>
          </a:p>
        </p:txBody>
      </p:sp>
      <p:sp>
        <p:nvSpPr>
          <p:cNvPr id="203" name="Google Shape;203;p11"/>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204" name="Google Shape;204;p11"/>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205" name="Google Shape;205;p11"/>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The Four Freedoms Speech</a:t>
            </a:r>
            <a:endParaRPr b="0" i="0" sz="1400" u="none" cap="none" strike="noStrike">
              <a:solidFill>
                <a:schemeClr val="dk1"/>
              </a:solidFill>
              <a:latin typeface="Calibri"/>
              <a:ea typeface="Calibri"/>
              <a:cs typeface="Calibri"/>
              <a:sym typeface="Calibri"/>
            </a:endParaRPr>
          </a:p>
        </p:txBody>
      </p:sp>
      <p:sp>
        <p:nvSpPr>
          <p:cNvPr id="207" name="Google Shape;207;p11"/>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President Franklin D. Roosevelt · January 6, 1941</a:t>
            </a:r>
            <a:endParaRPr b="0" i="0" sz="900" u="none" cap="none" strike="noStrike">
              <a:solidFill>
                <a:schemeClr val="dk1"/>
              </a:solidFill>
              <a:latin typeface="Calibri"/>
              <a:ea typeface="Calibri"/>
              <a:cs typeface="Calibri"/>
              <a:sym typeface="Calibri"/>
            </a:endParaRPr>
          </a:p>
        </p:txBody>
      </p:sp>
      <p:sp>
        <p:nvSpPr>
          <p:cNvPr id="208" name="Google Shape;208;p11"/>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"In the future days, which we seek to make secure, we look forward to a world founded upon four essential human freedoms. The first is freedom of speech and expression—everywhere in the world. The second is freedom of every person to worship God in his own way—everywhere in the world. The third is freedom from want... The fourth is freedom from fear."</a:t>
            </a:r>
            <a:endParaRPr b="0" i="0" sz="1100" u="none" cap="none" strike="noStrike">
              <a:solidFill>
                <a:schemeClr val="dk1"/>
              </a:solidFill>
              <a:latin typeface="Calibri"/>
              <a:ea typeface="Calibri"/>
              <a:cs typeface="Calibri"/>
              <a:sym typeface="Calibri"/>
            </a:endParaRPr>
          </a:p>
        </p:txBody>
      </p:sp>
      <p:sp>
        <p:nvSpPr>
          <p:cNvPr id="209" name="Google Shape;209;p11">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210" name="Google Shape;210;p1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11" name="Google Shape;211;p1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216" name="Shape 216"/>
        <p:cNvGrpSpPr/>
        <p:nvPr/>
      </p:nvGrpSpPr>
      <p:grpSpPr>
        <a:xfrm>
          <a:off x="0" y="0"/>
          <a:ext cx="0" cy="0"/>
          <a:chOff x="0" y="0"/>
          <a:chExt cx="0" cy="0"/>
        </a:xfrm>
      </p:grpSpPr>
      <p:sp>
        <p:nvSpPr>
          <p:cNvPr id="217" name="Google Shape;217;p12"/>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218" name="Google Shape;218;p12"/>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US.46</a:t>
            </a:r>
            <a:endParaRPr b="0" i="0" sz="1200" u="none" cap="none" strike="noStrike">
              <a:solidFill>
                <a:schemeClr val="dk1"/>
              </a:solidFill>
              <a:latin typeface="Calibri"/>
              <a:ea typeface="Calibri"/>
              <a:cs typeface="Calibri"/>
              <a:sym typeface="Calibri"/>
            </a:endParaRPr>
          </a:p>
        </p:txBody>
      </p:sp>
      <p:sp>
        <p:nvSpPr>
          <p:cNvPr id="219" name="Google Shape;219;p12"/>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220" name="Google Shape;220;p12"/>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2"/>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2"/>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223" name="Google Shape;223;p12"/>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224" name="Google Shape;224;p12"/>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US.46:</a:t>
            </a:r>
            <a:endParaRPr b="0" i="0" sz="1000" u="none" cap="none" strike="noStrike">
              <a:solidFill>
                <a:schemeClr val="dk1"/>
              </a:solidFill>
              <a:latin typeface="Calibri"/>
              <a:ea typeface="Calibri"/>
              <a:cs typeface="Calibri"/>
              <a:sym typeface="Calibri"/>
            </a:endParaRPr>
          </a:p>
        </p:txBody>
      </p:sp>
      <p:sp>
        <p:nvSpPr>
          <p:cNvPr id="225" name="Google Shape;225;p12"/>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Britain and the Allies, kept in the war by American supplies, and U.S. defense industries that expanded under Lend-Lease production.</a:t>
            </a:r>
            <a:endParaRPr b="0" i="0" sz="1200" u="none" cap="none" strike="noStrike">
              <a:solidFill>
                <a:schemeClr val="dk1"/>
              </a:solidFill>
              <a:latin typeface="Calibri"/>
              <a:ea typeface="Calibri"/>
              <a:cs typeface="Calibri"/>
              <a:sym typeface="Calibri"/>
            </a:endParaRPr>
          </a:p>
        </p:txBody>
      </p:sp>
      <p:sp>
        <p:nvSpPr>
          <p:cNvPr id="226" name="Google Shape;226;p12"/>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2"/>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2"/>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229" name="Google Shape;229;p12"/>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230" name="Google Shape;230;p12"/>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US.46:</a:t>
            </a:r>
            <a:endParaRPr b="0" i="0" sz="1000" u="none" cap="none" strike="noStrike">
              <a:solidFill>
                <a:schemeClr val="dk1"/>
              </a:solidFill>
              <a:latin typeface="Calibri"/>
              <a:ea typeface="Calibri"/>
              <a:cs typeface="Calibri"/>
              <a:sym typeface="Calibri"/>
            </a:endParaRPr>
          </a:p>
        </p:txBody>
      </p:sp>
      <p:sp>
        <p:nvSpPr>
          <p:cNvPr id="231" name="Google Shape;231;p12"/>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Isolationists whose influence FDR steadily eroded, and Axis powers whose enemies were now backed by American industrial might.</a:t>
            </a:r>
            <a:endParaRPr b="0" i="0" sz="1200" u="none" cap="none" strike="noStrike">
              <a:solidFill>
                <a:schemeClr val="dk1"/>
              </a:solidFill>
              <a:latin typeface="Calibri"/>
              <a:ea typeface="Calibri"/>
              <a:cs typeface="Calibri"/>
              <a:sym typeface="Calibri"/>
            </a:endParaRPr>
          </a:p>
        </p:txBody>
      </p:sp>
      <p:sp>
        <p:nvSpPr>
          <p:cNvPr id="232" name="Google Shape;232;p12"/>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2"/>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2"/>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235" name="Google Shape;235;p12"/>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236" name="Google Shape;236;p12"/>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US.46:</a:t>
            </a:r>
            <a:endParaRPr b="0" i="0" sz="1000" u="none" cap="none" strike="noStrike">
              <a:solidFill>
                <a:schemeClr val="dk1"/>
              </a:solidFill>
              <a:latin typeface="Calibri"/>
              <a:ea typeface="Calibri"/>
              <a:cs typeface="Calibri"/>
              <a:sym typeface="Calibri"/>
            </a:endParaRPr>
          </a:p>
        </p:txBody>
      </p:sp>
      <p:sp>
        <p:nvSpPr>
          <p:cNvPr id="237" name="Google Shape;237;p12"/>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President Roosevelt, who steered a neutral nation toward the Allies, and Congress, which passed Lend-Lease over isolationist objection.</a:t>
            </a:r>
            <a:endParaRPr b="0" i="0" sz="1200" u="none" cap="none" strike="noStrike">
              <a:solidFill>
                <a:schemeClr val="dk1"/>
              </a:solidFill>
              <a:latin typeface="Calibri"/>
              <a:ea typeface="Calibri"/>
              <a:cs typeface="Calibri"/>
              <a:sym typeface="Calibri"/>
            </a:endParaRPr>
          </a:p>
        </p:txBody>
      </p:sp>
      <p:sp>
        <p:nvSpPr>
          <p:cNvPr id="238" name="Google Shape;238;p12"/>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The Four Freedoms Speech, President Franklin D. Roosevelt, January 6, 1941 (National Archives)</a:t>
            </a:r>
            <a:endParaRPr b="0" i="0" sz="1000" u="none" cap="none" strike="noStrike">
              <a:solidFill>
                <a:schemeClr val="dk1"/>
              </a:solidFill>
              <a:latin typeface="Calibri"/>
              <a:ea typeface="Calibri"/>
              <a:cs typeface="Calibri"/>
              <a:sym typeface="Calibri"/>
            </a:endParaRPr>
          </a:p>
        </p:txBody>
      </p:sp>
      <p:sp>
        <p:nvSpPr>
          <p:cNvPr id="239" name="Google Shape;239;p1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40" name="Google Shape;240;p1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Quarantine Speech</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Discurso de la Cuarentena</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FDR's 1937 address proposing that peace-loving nations 'quarantine' aggressor states to halt the spread of international lawlessness.</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Four Freedoms Speech</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Discurso de las Cuatro Libertades</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FDR's 1941 speech defining American war aims: freedom of speech, freedom of worship, freedom from want, and freedom from fear.</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Lend-Lease Act (1941)</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 de Préstamo y Arriendo (1941)</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U.S. program allowing the President to lend or lease war supplies to any nation deemed vital to American defense, primarily Britain and the Soviet Union.</a:t>
            </a:r>
            <a:endParaRPr lang="en-US" sz="13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5</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the Atlantic Charter establish principles for the post-war international order?</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focused only on immediate military strategy, yet the available evidence points to a different conclusion, which contradicts the primary source evidence from this era</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established principles including self-determination, free trade, collective security, and disarmament that became the foundation for the United Nations and post-war international law</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divided the world into American and British spheres of influence, despite the fact that multiple sources contradict this view, but closer analysis reveals a more complicated historical reality</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had no lasting impact on international relations, though this interpretation lacks supporting historical evidence, although historical sources do not support this conclusion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245" name="Shape 245"/>
        <p:cNvGrpSpPr/>
        <p:nvPr/>
      </p:nvGrpSpPr>
      <p:grpSpPr>
        <a:xfrm>
          <a:off x="0" y="0"/>
          <a:ext cx="0" cy="0"/>
          <a:chOff x="0" y="0"/>
          <a:chExt cx="0" cy="0"/>
        </a:xfrm>
      </p:grpSpPr>
      <p:sp>
        <p:nvSpPr>
          <p:cNvPr id="246" name="Google Shape;246;p13"/>
          <p:cNvSpPr/>
          <p:nvPr/>
        </p:nvSpPr>
        <p:spPr>
          <a:xfrm>
            <a:off x="0" y="233172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3"/>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6000"/>
              <a:buFont typeface="Georgia"/>
              <a:buNone/>
            </a:pPr>
            <a:r>
              <a:rPr b="1" i="0" lang="en-US" sz="6000" u="none" cap="none" strike="noStrike">
                <a:solidFill>
                  <a:srgbClr val="C9A84C"/>
                </a:solidFill>
                <a:latin typeface="Georgia"/>
                <a:ea typeface="Georgia"/>
                <a:cs typeface="Georgia"/>
                <a:sym typeface="Georgia"/>
              </a:rPr>
              <a:t>US.47</a:t>
            </a:r>
            <a:endParaRPr b="0" i="0" sz="6000" u="none" cap="none" strike="noStrike">
              <a:solidFill>
                <a:schemeClr val="dk1"/>
              </a:solidFill>
              <a:latin typeface="Calibri"/>
              <a:ea typeface="Calibri"/>
              <a:cs typeface="Calibri"/>
              <a:sym typeface="Calibri"/>
            </a:endParaRPr>
          </a:p>
        </p:txBody>
      </p:sp>
      <p:sp>
        <p:nvSpPr>
          <p:cNvPr id="248" name="Google Shape;248;p13"/>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U.S. Response to the Holocaust</a:t>
            </a:r>
            <a:endParaRPr b="0" i="0" sz="2600" u="none" cap="none" strike="noStrike">
              <a:solidFill>
                <a:schemeClr val="dk1"/>
              </a:solidFill>
              <a:latin typeface="Calibri"/>
              <a:ea typeface="Calibri"/>
              <a:cs typeface="Calibri"/>
              <a:sym typeface="Calibri"/>
            </a:endParaRPr>
          </a:p>
        </p:txBody>
      </p:sp>
      <p:sp>
        <p:nvSpPr>
          <p:cNvPr id="249" name="Google Shape;249;p13"/>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200"/>
              <a:buFont typeface="Trebuchet MS"/>
              <a:buNone/>
            </a:pPr>
            <a:r>
              <a:rPr b="1" i="0" lang="en-US" sz="1200" u="none" cap="none" strike="noStrike">
                <a:solidFill>
                  <a:srgbClr val="C9A84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250" name="Google Shape;250;p13"/>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US.47 – Analyze the response of the U.S. to the plight of European Jews before the start of the war, the U.S. liberation of concentration camps during the war, and the immigration of Holocaust survivors after the war.</a:t>
            </a:r>
            <a:endParaRPr b="0" i="0" sz="1600" u="none" cap="none" strike="noStrike">
              <a:solidFill>
                <a:schemeClr val="dk1"/>
              </a:solidFill>
              <a:latin typeface="Calibri"/>
              <a:ea typeface="Calibri"/>
              <a:cs typeface="Calibri"/>
              <a:sym typeface="Calibri"/>
            </a:endParaRPr>
          </a:p>
        </p:txBody>
      </p:sp>
      <p:sp>
        <p:nvSpPr>
          <p:cNvPr id="251" name="Google Shape;251;p13"/>
          <p:cNvSpPr/>
          <p:nvPr/>
        </p:nvSpPr>
        <p:spPr>
          <a:xfrm>
            <a:off x="457200" y="4892040"/>
            <a:ext cx="11247120" cy="123444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3"/>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253" name="Google Shape;253;p13"/>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I can analyze the response of the U.S. to the plight of European Jews before the war, the liberation of concentration camps during the war, and the immigration of Holocaust survivors after the war.</a:t>
            </a:r>
            <a:endParaRPr b="0" i="0" sz="1400" u="none" cap="none" strike="noStrike">
              <a:solidFill>
                <a:schemeClr val="dk1"/>
              </a:solidFill>
              <a:latin typeface="Calibri"/>
              <a:ea typeface="Calibri"/>
              <a:cs typeface="Calibri"/>
              <a:sym typeface="Calibri"/>
            </a:endParaRPr>
          </a:p>
        </p:txBody>
      </p:sp>
      <p:sp>
        <p:nvSpPr>
          <p:cNvPr id="254" name="Google Shape;254;p1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55" name="Google Shape;255;p1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60" name="Shape 260"/>
        <p:cNvGrpSpPr/>
        <p:nvPr/>
      </p:nvGrpSpPr>
      <p:grpSpPr>
        <a:xfrm>
          <a:off x="0" y="0"/>
          <a:ext cx="0" cy="0"/>
          <a:chOff x="0" y="0"/>
          <a:chExt cx="0" cy="0"/>
        </a:xfrm>
      </p:grpSpPr>
      <p:sp>
        <p:nvSpPr>
          <p:cNvPr id="261" name="Google Shape;261;p14"/>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4"/>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264" name="Google Shape;264;p14"/>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US.47</a:t>
            </a:r>
            <a:endParaRPr b="0" i="0" sz="1200" u="none" cap="none" strike="noStrike">
              <a:solidFill>
                <a:schemeClr val="dk1"/>
              </a:solidFill>
              <a:latin typeface="Calibri"/>
              <a:ea typeface="Calibri"/>
              <a:cs typeface="Calibri"/>
              <a:sym typeface="Calibri"/>
            </a:endParaRPr>
          </a:p>
        </p:txBody>
      </p:sp>
      <p:sp>
        <p:nvSpPr>
          <p:cNvPr id="265" name="Google Shape;265;p14"/>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Restrictive immigration limited America’s prewar response — the 1924 National Origins Act capped immigration from the regions where most European Jews lived, and quotas were rarely filled even as Nazi persecution intensified.</a:t>
            </a:r>
            <a:endParaRPr b="0" i="0" sz="2300" u="none" cap="none" strike="noStrike">
              <a:solidFill>
                <a:schemeClr val="dk1"/>
              </a:solidFill>
              <a:latin typeface="Calibri"/>
              <a:ea typeface="Calibri"/>
              <a:cs typeface="Calibri"/>
              <a:sym typeface="Calibri"/>
            </a:endParaRPr>
          </a:p>
        </p:txBody>
      </p:sp>
      <p:sp>
        <p:nvSpPr>
          <p:cNvPr id="266" name="Google Shape;266;p14"/>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4"/>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4"/>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269" name="Google Shape;269;p14"/>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Restrictive immigration limited America’s prewar response — the 1924 National Origins Act capped immigration from the regions where most European Jews lived, and quotas were rarely filled even as Nazi persecution intensified.</a:t>
            </a:r>
            <a:endParaRPr b="0" i="0" sz="2200" u="none" cap="none" strike="noStrike">
              <a:solidFill>
                <a:schemeClr val="dk1"/>
              </a:solidFill>
              <a:latin typeface="Calibri"/>
              <a:ea typeface="Calibri"/>
              <a:cs typeface="Calibri"/>
              <a:sym typeface="Calibri"/>
            </a:endParaRPr>
          </a:p>
        </p:txBody>
      </p:sp>
      <p:sp>
        <p:nvSpPr>
          <p:cNvPr id="270" name="Google Shape;270;p1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US.47 · U.S. Response Before the War</a:t>
            </a:r>
            <a:endParaRPr b="0" i="0" sz="1000" u="none" cap="none" strike="noStrike">
              <a:solidFill>
                <a:schemeClr val="dk1"/>
              </a:solidFill>
              <a:latin typeface="Calibri"/>
              <a:ea typeface="Calibri"/>
              <a:cs typeface="Calibri"/>
              <a:sym typeface="Calibri"/>
            </a:endParaRPr>
          </a:p>
        </p:txBody>
      </p:sp>
      <p:sp>
        <p:nvSpPr>
          <p:cNvPr id="271" name="Google Shape;271;p1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72" name="Google Shape;272;p1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77" name="Shape 277"/>
        <p:cNvGrpSpPr/>
        <p:nvPr/>
      </p:nvGrpSpPr>
      <p:grpSpPr>
        <a:xfrm>
          <a:off x="0" y="0"/>
          <a:ext cx="0" cy="0"/>
          <a:chOff x="0" y="0"/>
          <a:chExt cx="0" cy="0"/>
        </a:xfrm>
      </p:grpSpPr>
      <p:sp>
        <p:nvSpPr>
          <p:cNvPr id="278" name="Google Shape;278;p15"/>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5"/>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5"/>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281" name="Google Shape;281;p15"/>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US.47</a:t>
            </a:r>
            <a:endParaRPr b="0" i="0" sz="1200" u="none" cap="none" strike="noStrike">
              <a:solidFill>
                <a:schemeClr val="dk1"/>
              </a:solidFill>
              <a:latin typeface="Calibri"/>
              <a:ea typeface="Calibri"/>
              <a:cs typeface="Calibri"/>
              <a:sym typeface="Calibri"/>
            </a:endParaRPr>
          </a:p>
        </p:txBody>
      </p:sp>
      <p:sp>
        <p:nvSpPr>
          <p:cNvPr id="282" name="Google Shape;282;p15"/>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Allied forces liberated the concentration camps — as the war ended, Soviet forces freed Majdanek and Auschwitz, and U.S. forces freed Buchenwald and Dachau, exposing the full horror of the Holocaust to the world.</a:t>
            </a:r>
            <a:endParaRPr b="0" i="0" sz="2300" u="none" cap="none" strike="noStrike">
              <a:solidFill>
                <a:schemeClr val="dk1"/>
              </a:solidFill>
              <a:latin typeface="Calibri"/>
              <a:ea typeface="Calibri"/>
              <a:cs typeface="Calibri"/>
              <a:sym typeface="Calibri"/>
            </a:endParaRPr>
          </a:p>
        </p:txBody>
      </p:sp>
      <p:pic>
        <p:nvPicPr>
          <p:cNvPr descr="hh-web/public/images/textbook/unit-6/buchenwald-liberation-1945.jpg" id="283" name="Google Shape;283;p15"/>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284" name="Google Shape;284;p15"/>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285" name="Google Shape;285;p15"/>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US.47 · Liberation of the Camps</a:t>
            </a:r>
            <a:endParaRPr b="0" i="0" sz="1000" u="none" cap="none" strike="noStrike">
              <a:solidFill>
                <a:schemeClr val="dk1"/>
              </a:solidFill>
              <a:latin typeface="Calibri"/>
              <a:ea typeface="Calibri"/>
              <a:cs typeface="Calibri"/>
              <a:sym typeface="Calibri"/>
            </a:endParaRPr>
          </a:p>
        </p:txBody>
      </p:sp>
      <p:sp>
        <p:nvSpPr>
          <p:cNvPr id="286" name="Google Shape;286;p1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87" name="Google Shape;287;p1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92" name="Shape 292"/>
        <p:cNvGrpSpPr/>
        <p:nvPr/>
      </p:nvGrpSpPr>
      <p:grpSpPr>
        <a:xfrm>
          <a:off x="0" y="0"/>
          <a:ext cx="0" cy="0"/>
          <a:chOff x="0" y="0"/>
          <a:chExt cx="0" cy="0"/>
        </a:xfrm>
      </p:grpSpPr>
      <p:sp>
        <p:nvSpPr>
          <p:cNvPr id="293" name="Google Shape;293;p16"/>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6"/>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6"/>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296" name="Google Shape;296;p16"/>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US.47</a:t>
            </a:r>
            <a:endParaRPr b="0" i="0" sz="1200" u="none" cap="none" strike="noStrike">
              <a:solidFill>
                <a:schemeClr val="dk1"/>
              </a:solidFill>
              <a:latin typeface="Calibri"/>
              <a:ea typeface="Calibri"/>
              <a:cs typeface="Calibri"/>
              <a:sym typeface="Calibri"/>
            </a:endParaRPr>
          </a:p>
        </p:txBody>
      </p:sp>
      <p:sp>
        <p:nvSpPr>
          <p:cNvPr id="297" name="Google Shape;297;p16"/>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Postwar policy slowly opened the door to survivors — the 1948 Displaced Persons Act admitted survivors, and Kristallnacht and the Holocaust reshaped debates over refugees, human rights, and America’s moral responsibility.</a:t>
            </a:r>
            <a:endParaRPr b="0" i="0" sz="2300" u="none" cap="none" strike="noStrike">
              <a:solidFill>
                <a:schemeClr val="dk1"/>
              </a:solidFill>
              <a:latin typeface="Calibri"/>
              <a:ea typeface="Calibri"/>
              <a:cs typeface="Calibri"/>
              <a:sym typeface="Calibri"/>
            </a:endParaRPr>
          </a:p>
        </p:txBody>
      </p:sp>
      <p:sp>
        <p:nvSpPr>
          <p:cNvPr id="298" name="Google Shape;298;p16"/>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6"/>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6"/>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301" name="Google Shape;301;p16"/>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Postwar policy slowly opened the door to survivors — the 1948 Displaced Persons Act admitted survivors, and Kristallnacht and the Holocaust reshaped debates over refugees, human rights, and America’s moral responsibility.</a:t>
            </a:r>
            <a:endParaRPr b="0" i="0" sz="2200" u="none" cap="none" strike="noStrike">
              <a:solidFill>
                <a:schemeClr val="dk1"/>
              </a:solidFill>
              <a:latin typeface="Calibri"/>
              <a:ea typeface="Calibri"/>
              <a:cs typeface="Calibri"/>
              <a:sym typeface="Calibri"/>
            </a:endParaRPr>
          </a:p>
        </p:txBody>
      </p:sp>
      <p:sp>
        <p:nvSpPr>
          <p:cNvPr id="302" name="Google Shape;302;p16"/>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US.47 · Postwar Immigration &amp; Moral Reckoning</a:t>
            </a:r>
            <a:endParaRPr b="0" i="0" sz="1000" u="none" cap="none" strike="noStrike">
              <a:solidFill>
                <a:schemeClr val="dk1"/>
              </a:solidFill>
              <a:latin typeface="Calibri"/>
              <a:ea typeface="Calibri"/>
              <a:cs typeface="Calibri"/>
              <a:sym typeface="Calibri"/>
            </a:endParaRPr>
          </a:p>
        </p:txBody>
      </p:sp>
      <p:sp>
        <p:nvSpPr>
          <p:cNvPr id="303" name="Google Shape;303;p1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04" name="Google Shape;304;p1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09" name="Shape 309"/>
        <p:cNvGrpSpPr/>
        <p:nvPr/>
      </p:nvGrpSpPr>
      <p:grpSpPr>
        <a:xfrm>
          <a:off x="0" y="0"/>
          <a:ext cx="0" cy="0"/>
          <a:chOff x="0" y="0"/>
          <a:chExt cx="0" cy="0"/>
        </a:xfrm>
      </p:grpSpPr>
      <p:sp>
        <p:nvSpPr>
          <p:cNvPr id="310" name="Google Shape;310;p17"/>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7"/>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7"/>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313" name="Google Shape;313;p17"/>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US.47</a:t>
            </a:r>
            <a:endParaRPr b="0" i="0" sz="1200" u="none" cap="none" strike="noStrike">
              <a:solidFill>
                <a:schemeClr val="dk1"/>
              </a:solidFill>
              <a:latin typeface="Calibri"/>
              <a:ea typeface="Calibri"/>
              <a:cs typeface="Calibri"/>
              <a:sym typeface="Calibri"/>
            </a:endParaRPr>
          </a:p>
        </p:txBody>
      </p:sp>
      <p:sp>
        <p:nvSpPr>
          <p:cNvPr id="314" name="Google Shape;314;p17"/>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Elie Wiesel’s testimony of liberation — consider the witness, the moment, and the purpose before you read the account.</a:t>
            </a:r>
            <a:endParaRPr b="0" i="0" sz="2000" u="none" cap="none" strike="noStrike">
              <a:solidFill>
                <a:schemeClr val="dk1"/>
              </a:solidFill>
              <a:latin typeface="Calibri"/>
              <a:ea typeface="Calibri"/>
              <a:cs typeface="Calibri"/>
              <a:sym typeface="Calibri"/>
            </a:endParaRPr>
          </a:p>
        </p:txBody>
      </p:sp>
      <p:sp>
        <p:nvSpPr>
          <p:cNvPr id="315" name="Google Shape;315;p17"/>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316" name="Google Shape;316;p17"/>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Elie Wiesel</a:t>
            </a:r>
            <a:endParaRPr b="0" i="0" sz="1200" u="none" cap="none" strike="noStrike">
              <a:solidFill>
                <a:schemeClr val="dk1"/>
              </a:solidFill>
              <a:latin typeface="Calibri"/>
              <a:ea typeface="Calibri"/>
              <a:cs typeface="Calibri"/>
              <a:sym typeface="Calibri"/>
            </a:endParaRPr>
          </a:p>
        </p:txBody>
      </p:sp>
      <p:sp>
        <p:nvSpPr>
          <p:cNvPr id="317" name="Google Shape;317;p17"/>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318" name="Google Shape;318;p17"/>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1945 (describing liberation)</a:t>
            </a:r>
            <a:endParaRPr b="0" i="0" sz="1200" u="none" cap="none" strike="noStrike">
              <a:solidFill>
                <a:schemeClr val="dk1"/>
              </a:solidFill>
              <a:latin typeface="Calibri"/>
              <a:ea typeface="Calibri"/>
              <a:cs typeface="Calibri"/>
              <a:sym typeface="Calibri"/>
            </a:endParaRPr>
          </a:p>
        </p:txBody>
      </p:sp>
      <p:sp>
        <p:nvSpPr>
          <p:cNvPr id="319" name="Google Shape;319;p17"/>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320" name="Google Shape;320;p17"/>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321" name="Google Shape;321;p17"/>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7"/>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Testimony of Holocaust Survivor</a:t>
            </a:r>
            <a:endParaRPr b="0" i="0" sz="1400" u="none" cap="none" strike="noStrike">
              <a:solidFill>
                <a:schemeClr val="dk1"/>
              </a:solidFill>
              <a:latin typeface="Calibri"/>
              <a:ea typeface="Calibri"/>
              <a:cs typeface="Calibri"/>
              <a:sym typeface="Calibri"/>
            </a:endParaRPr>
          </a:p>
        </p:txBody>
      </p:sp>
      <p:sp>
        <p:nvSpPr>
          <p:cNvPr id="323" name="Google Shape;323;p17"/>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Elie Wiesel · 1945 (describing liberation)</a:t>
            </a:r>
            <a:endParaRPr b="0" i="0" sz="900" u="none" cap="none" strike="noStrike">
              <a:solidFill>
                <a:schemeClr val="dk1"/>
              </a:solidFill>
              <a:latin typeface="Calibri"/>
              <a:ea typeface="Calibri"/>
              <a:cs typeface="Calibri"/>
              <a:sym typeface="Calibri"/>
            </a:endParaRPr>
          </a:p>
        </p:txBody>
      </p:sp>
      <p:sp>
        <p:nvSpPr>
          <p:cNvPr id="324" name="Google Shape;324;p17"/>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"On April 10, there were still some 20,000 prisoners in the camp, including several hundred children. It was decided to evacuate all of us at once... On April 11, at about six o'clock in the evening, the first American tanks stood at the gates of Buchenwald. Our first act as free men was to throw ourselves onto the provisions. That's all we thought about. Nothing else mattered."</a:t>
            </a:r>
            <a:endParaRPr b="0" i="0" sz="1100" u="none" cap="none" strike="noStrike">
              <a:solidFill>
                <a:schemeClr val="dk1"/>
              </a:solidFill>
              <a:latin typeface="Calibri"/>
              <a:ea typeface="Calibri"/>
              <a:cs typeface="Calibri"/>
              <a:sym typeface="Calibri"/>
            </a:endParaRPr>
          </a:p>
        </p:txBody>
      </p:sp>
      <p:sp>
        <p:nvSpPr>
          <p:cNvPr id="325" name="Google Shape;325;p17">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United States Holocaust Memorial Museum</a:t>
            </a:r>
            <a:endParaRPr b="0" i="0" sz="900" u="none" cap="none" strike="noStrike">
              <a:solidFill>
                <a:schemeClr val="dk1"/>
              </a:solidFill>
              <a:latin typeface="Calibri"/>
              <a:ea typeface="Calibri"/>
              <a:cs typeface="Calibri"/>
              <a:sym typeface="Calibri"/>
            </a:endParaRPr>
          </a:p>
        </p:txBody>
      </p:sp>
      <p:sp>
        <p:nvSpPr>
          <p:cNvPr id="326" name="Google Shape;326;p1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27" name="Google Shape;327;p1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332" name="Shape 332"/>
        <p:cNvGrpSpPr/>
        <p:nvPr/>
      </p:nvGrpSpPr>
      <p:grpSpPr>
        <a:xfrm>
          <a:off x="0" y="0"/>
          <a:ext cx="0" cy="0"/>
          <a:chOff x="0" y="0"/>
          <a:chExt cx="0" cy="0"/>
        </a:xfrm>
      </p:grpSpPr>
      <p:sp>
        <p:nvSpPr>
          <p:cNvPr id="333" name="Google Shape;333;p18"/>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334" name="Google Shape;334;p18"/>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US.47</a:t>
            </a:r>
            <a:endParaRPr b="0" i="0" sz="1200" u="none" cap="none" strike="noStrike">
              <a:solidFill>
                <a:schemeClr val="dk1"/>
              </a:solidFill>
              <a:latin typeface="Calibri"/>
              <a:ea typeface="Calibri"/>
              <a:cs typeface="Calibri"/>
              <a:sym typeface="Calibri"/>
            </a:endParaRPr>
          </a:p>
        </p:txBody>
      </p:sp>
      <p:sp>
        <p:nvSpPr>
          <p:cNvPr id="335" name="Google Shape;335;p18"/>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336" name="Google Shape;336;p18"/>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8"/>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8"/>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339" name="Google Shape;339;p18"/>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340" name="Google Shape;340;p18"/>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US.47:</a:t>
            </a:r>
            <a:endParaRPr b="0" i="0" sz="1000" u="none" cap="none" strike="noStrike">
              <a:solidFill>
                <a:schemeClr val="dk1"/>
              </a:solidFill>
              <a:latin typeface="Calibri"/>
              <a:ea typeface="Calibri"/>
              <a:cs typeface="Calibri"/>
              <a:sym typeface="Calibri"/>
            </a:endParaRPr>
          </a:p>
        </p:txBody>
      </p:sp>
      <p:sp>
        <p:nvSpPr>
          <p:cNvPr id="341" name="Google Shape;341;p18"/>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Survivors eventually admitted after the war, and postwar human-rights and refugee efforts that grew from the world’s reckoning with the Holocaust.</a:t>
            </a:r>
            <a:endParaRPr b="0" i="0" sz="1200" u="none" cap="none" strike="noStrike">
              <a:solidFill>
                <a:schemeClr val="dk1"/>
              </a:solidFill>
              <a:latin typeface="Calibri"/>
              <a:ea typeface="Calibri"/>
              <a:cs typeface="Calibri"/>
              <a:sym typeface="Calibri"/>
            </a:endParaRPr>
          </a:p>
        </p:txBody>
      </p:sp>
      <p:sp>
        <p:nvSpPr>
          <p:cNvPr id="342" name="Google Shape;342;p18"/>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8"/>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8"/>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345" name="Google Shape;345;p18"/>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346" name="Google Shape;346;p18"/>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US.47:</a:t>
            </a:r>
            <a:endParaRPr b="0" i="0" sz="1000" u="none" cap="none" strike="noStrike">
              <a:solidFill>
                <a:schemeClr val="dk1"/>
              </a:solidFill>
              <a:latin typeface="Calibri"/>
              <a:ea typeface="Calibri"/>
              <a:cs typeface="Calibri"/>
              <a:sym typeface="Calibri"/>
            </a:endParaRPr>
          </a:p>
        </p:txBody>
      </p:sp>
      <p:sp>
        <p:nvSpPr>
          <p:cNvPr id="347" name="Google Shape;347;p18"/>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Six million murdered European Jews and millions of other victims, and refugees turned away by restrictive prewar immigration quotas.</a:t>
            </a:r>
            <a:endParaRPr b="0" i="0" sz="1200" u="none" cap="none" strike="noStrike">
              <a:solidFill>
                <a:schemeClr val="dk1"/>
              </a:solidFill>
              <a:latin typeface="Calibri"/>
              <a:ea typeface="Calibri"/>
              <a:cs typeface="Calibri"/>
              <a:sym typeface="Calibri"/>
            </a:endParaRPr>
          </a:p>
        </p:txBody>
      </p:sp>
      <p:sp>
        <p:nvSpPr>
          <p:cNvPr id="348" name="Google Shape;348;p18"/>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8"/>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8"/>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351" name="Google Shape;351;p18"/>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352" name="Google Shape;352;p18"/>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US.47:</a:t>
            </a:r>
            <a:endParaRPr b="0" i="0" sz="1000" u="none" cap="none" strike="noStrike">
              <a:solidFill>
                <a:schemeClr val="dk1"/>
              </a:solidFill>
              <a:latin typeface="Calibri"/>
              <a:ea typeface="Calibri"/>
              <a:cs typeface="Calibri"/>
              <a:sym typeface="Calibri"/>
            </a:endParaRPr>
          </a:p>
        </p:txBody>
      </p:sp>
      <p:sp>
        <p:nvSpPr>
          <p:cNvPr id="353" name="Google Shape;353;p18"/>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Nazi Germany, which carried out genocide; and the U.S. government, whose immigration quotas and wartime priorities shaped a limited response.</a:t>
            </a:r>
            <a:endParaRPr b="0" i="0" sz="1200" u="none" cap="none" strike="noStrike">
              <a:solidFill>
                <a:schemeClr val="dk1"/>
              </a:solidFill>
              <a:latin typeface="Calibri"/>
              <a:ea typeface="Calibri"/>
              <a:cs typeface="Calibri"/>
              <a:sym typeface="Calibri"/>
            </a:endParaRPr>
          </a:p>
        </p:txBody>
      </p:sp>
      <p:sp>
        <p:nvSpPr>
          <p:cNvPr id="354" name="Google Shape;354;p18"/>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Testimony of Holocaust Survivor, Elie Wiesel, 1945 (describing liberation) (United States Holocaust Memorial Museum)</a:t>
            </a:r>
            <a:endParaRPr b="0" i="0" sz="1000" u="none" cap="none" strike="noStrike">
              <a:solidFill>
                <a:schemeClr val="dk1"/>
              </a:solidFill>
              <a:latin typeface="Calibri"/>
              <a:ea typeface="Calibri"/>
              <a:cs typeface="Calibri"/>
              <a:sym typeface="Calibri"/>
            </a:endParaRPr>
          </a:p>
        </p:txBody>
      </p:sp>
      <p:sp>
        <p:nvSpPr>
          <p:cNvPr id="355" name="Google Shape;355;p1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56" name="Google Shape;356;p1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6</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Holocaust</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Holocausto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Nazi Germany's systematic genocide of 6 million Jews and millions of others (Roma, disabled, homosexuals, political opponents) during World War II.</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Nuremberg Laws (1935)</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Leyes de Nuremberg (1935)</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Nazi racial laws that stripped Jews of German citizenship, banned intermarriage between Jews and non-Jews, and defined "Jewishness" by ancestry. They institutionalized anti-Semitic persecution.</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Adolf Hitler</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Adolf Hitler</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Nazi dictator of Germany (1933-1945) who led Germany into World War II and orchestrated the Holocaust, resulting in the deaths of 6 million Jews and millions of others.</a:t>
            </a:r>
            <a:endParaRPr lang="en-US" sz="13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7</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U.S. immigration restrictions and public attitudes limit American response to Jewish refugees before WWII?</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U.S. welcomed all Jewish refugees without restriction, which ignores key developments that shaped the outcome, but closer analysis reveals a more complicated historical reality</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economic factors affected refugee policy, which does not reflect the consensus among historians and fails to account for key developments in the broader context</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National Origins Act quotas, consular obstruction, anti-Semitism, isolationism, and economic fears during the Depression combined to severely limit Jewish immigration</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U.S. had no immigration restrictions in the 1930s, but this oversimplifies the complex factors at work, although historical sources do not support this conclusion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361" name="Shape 361"/>
        <p:cNvGrpSpPr/>
        <p:nvPr/>
      </p:nvGrpSpPr>
      <p:grpSpPr>
        <a:xfrm>
          <a:off x="0" y="0"/>
          <a:ext cx="0" cy="0"/>
          <a:chOff x="0" y="0"/>
          <a:chExt cx="0" cy="0"/>
        </a:xfrm>
      </p:grpSpPr>
      <p:sp>
        <p:nvSpPr>
          <p:cNvPr id="362" name="Google Shape;362;p19"/>
          <p:cNvSpPr/>
          <p:nvPr/>
        </p:nvSpPr>
        <p:spPr>
          <a:xfrm>
            <a:off x="0" y="233172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9"/>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6000"/>
              <a:buFont typeface="Georgia"/>
              <a:buNone/>
            </a:pPr>
            <a:r>
              <a:rPr b="1" i="0" lang="en-US" sz="6000" u="none" cap="none" strike="noStrike">
                <a:solidFill>
                  <a:srgbClr val="C9A84C"/>
                </a:solidFill>
                <a:latin typeface="Georgia"/>
                <a:ea typeface="Georgia"/>
                <a:cs typeface="Georgia"/>
                <a:sym typeface="Georgia"/>
              </a:rPr>
              <a:t>US.48</a:t>
            </a:r>
            <a:endParaRPr b="0" i="0" sz="6000" u="none" cap="none" strike="noStrike">
              <a:solidFill>
                <a:schemeClr val="dk1"/>
              </a:solidFill>
              <a:latin typeface="Calibri"/>
              <a:ea typeface="Calibri"/>
              <a:cs typeface="Calibri"/>
              <a:sym typeface="Calibri"/>
            </a:endParaRPr>
          </a:p>
        </p:txBody>
      </p:sp>
      <p:sp>
        <p:nvSpPr>
          <p:cNvPr id="364" name="Google Shape;364;p19"/>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American Entry into World War II</a:t>
            </a:r>
            <a:endParaRPr b="0" i="0" sz="2600" u="none" cap="none" strike="noStrike">
              <a:solidFill>
                <a:schemeClr val="dk1"/>
              </a:solidFill>
              <a:latin typeface="Calibri"/>
              <a:ea typeface="Calibri"/>
              <a:cs typeface="Calibri"/>
              <a:sym typeface="Calibri"/>
            </a:endParaRPr>
          </a:p>
        </p:txBody>
      </p:sp>
      <p:sp>
        <p:nvSpPr>
          <p:cNvPr id="365" name="Google Shape;365;p19"/>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200"/>
              <a:buFont typeface="Trebuchet MS"/>
              <a:buNone/>
            </a:pPr>
            <a:r>
              <a:rPr b="1" i="0" lang="en-US" sz="1200" u="none" cap="none" strike="noStrike">
                <a:solidFill>
                  <a:srgbClr val="C9A84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366" name="Google Shape;366;p19"/>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US.48 – Explain the reasons for American entry into World War II, including the attack on Pearl Harbor.</a:t>
            </a:r>
            <a:endParaRPr b="0" i="0" sz="1600" u="none" cap="none" strike="noStrike">
              <a:solidFill>
                <a:schemeClr val="dk1"/>
              </a:solidFill>
              <a:latin typeface="Calibri"/>
              <a:ea typeface="Calibri"/>
              <a:cs typeface="Calibri"/>
              <a:sym typeface="Calibri"/>
            </a:endParaRPr>
          </a:p>
        </p:txBody>
      </p:sp>
      <p:sp>
        <p:nvSpPr>
          <p:cNvPr id="367" name="Google Shape;367;p19"/>
          <p:cNvSpPr/>
          <p:nvPr/>
        </p:nvSpPr>
        <p:spPr>
          <a:xfrm>
            <a:off x="457200" y="4892040"/>
            <a:ext cx="11247120" cy="123444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9"/>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369" name="Google Shape;369;p19"/>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I can explain the reasons for American entry into World War II, including the attack on Pearl Harbor.</a:t>
            </a:r>
            <a:endParaRPr b="0" i="0" sz="1400" u="none" cap="none" strike="noStrike">
              <a:solidFill>
                <a:schemeClr val="dk1"/>
              </a:solidFill>
              <a:latin typeface="Calibri"/>
              <a:ea typeface="Calibri"/>
              <a:cs typeface="Calibri"/>
              <a:sym typeface="Calibri"/>
            </a:endParaRPr>
          </a:p>
        </p:txBody>
      </p:sp>
      <p:sp>
        <p:nvSpPr>
          <p:cNvPr id="370" name="Google Shape;370;p1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71" name="Google Shape;371;p1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76" name="Shape 376"/>
        <p:cNvGrpSpPr/>
        <p:nvPr/>
      </p:nvGrpSpPr>
      <p:grpSpPr>
        <a:xfrm>
          <a:off x="0" y="0"/>
          <a:ext cx="0" cy="0"/>
          <a:chOff x="0" y="0"/>
          <a:chExt cx="0" cy="0"/>
        </a:xfrm>
      </p:grpSpPr>
      <p:sp>
        <p:nvSpPr>
          <p:cNvPr id="377" name="Google Shape;377;p20"/>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0"/>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0"/>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380" name="Google Shape;380;p20"/>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US.48</a:t>
            </a:r>
            <a:endParaRPr b="0" i="0" sz="1200" u="none" cap="none" strike="noStrike">
              <a:solidFill>
                <a:schemeClr val="dk1"/>
              </a:solidFill>
              <a:latin typeface="Calibri"/>
              <a:ea typeface="Calibri"/>
              <a:cs typeface="Calibri"/>
              <a:sym typeface="Calibri"/>
            </a:endParaRPr>
          </a:p>
        </p:txBody>
      </p:sp>
      <p:sp>
        <p:nvSpPr>
          <p:cNvPr id="381" name="Google Shape;381;p20"/>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An undeclared naval war pulled the U.S. toward Europe — German U-boats attacked American ships carrying Lend-Lease supplies, drawing the United States into an escalating undeclared war in the Atlantic.</a:t>
            </a:r>
            <a:endParaRPr b="0" i="0" sz="2300" u="none" cap="none" strike="noStrike">
              <a:solidFill>
                <a:schemeClr val="dk1"/>
              </a:solidFill>
              <a:latin typeface="Calibri"/>
              <a:ea typeface="Calibri"/>
              <a:cs typeface="Calibri"/>
              <a:sym typeface="Calibri"/>
            </a:endParaRPr>
          </a:p>
        </p:txBody>
      </p:sp>
      <p:sp>
        <p:nvSpPr>
          <p:cNvPr id="382" name="Google Shape;382;p20"/>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0"/>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0"/>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385" name="Google Shape;385;p20"/>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An undeclared naval war pulled the U.S. toward Europe — German U-boats attacked American ships carrying Lend-Lease supplies, drawing the United States into an escalating undeclared war in the Atlantic.</a:t>
            </a:r>
            <a:endParaRPr b="0" i="0" sz="2200" u="none" cap="none" strike="noStrike">
              <a:solidFill>
                <a:schemeClr val="dk1"/>
              </a:solidFill>
              <a:latin typeface="Calibri"/>
              <a:ea typeface="Calibri"/>
              <a:cs typeface="Calibri"/>
              <a:sym typeface="Calibri"/>
            </a:endParaRPr>
          </a:p>
        </p:txBody>
      </p:sp>
      <p:sp>
        <p:nvSpPr>
          <p:cNvPr id="386" name="Google Shape;386;p20"/>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US.48 · Factors in the European Theater</a:t>
            </a:r>
            <a:endParaRPr b="0" i="0" sz="1000" u="none" cap="none" strike="noStrike">
              <a:solidFill>
                <a:schemeClr val="dk1"/>
              </a:solidFill>
              <a:latin typeface="Calibri"/>
              <a:ea typeface="Calibri"/>
              <a:cs typeface="Calibri"/>
              <a:sym typeface="Calibri"/>
            </a:endParaRPr>
          </a:p>
        </p:txBody>
      </p:sp>
      <p:sp>
        <p:nvSpPr>
          <p:cNvPr id="387" name="Google Shape;387;p2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88" name="Google Shape;388;p2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93" name="Shape 393"/>
        <p:cNvGrpSpPr/>
        <p:nvPr/>
      </p:nvGrpSpPr>
      <p:grpSpPr>
        <a:xfrm>
          <a:off x="0" y="0"/>
          <a:ext cx="0" cy="0"/>
          <a:chOff x="0" y="0"/>
          <a:chExt cx="0" cy="0"/>
        </a:xfrm>
      </p:grpSpPr>
      <p:sp>
        <p:nvSpPr>
          <p:cNvPr id="394" name="Google Shape;394;p21"/>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1"/>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1"/>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397" name="Google Shape;397;p21"/>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US.48</a:t>
            </a:r>
            <a:endParaRPr b="0" i="0" sz="1200" u="none" cap="none" strike="noStrike">
              <a:solidFill>
                <a:schemeClr val="dk1"/>
              </a:solidFill>
              <a:latin typeface="Calibri"/>
              <a:ea typeface="Calibri"/>
              <a:cs typeface="Calibri"/>
              <a:sym typeface="Calibri"/>
            </a:endParaRPr>
          </a:p>
        </p:txBody>
      </p:sp>
      <p:sp>
        <p:nvSpPr>
          <p:cNvPr id="398" name="Google Shape;398;p21"/>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Pacific tensions escalated toward war — Japanese expansion across China and Southeast Asia threatened U.S. interests, and an American oil and steel embargo pushed Japan to plan a surprise strike.</a:t>
            </a:r>
            <a:endParaRPr b="0" i="0" sz="2300" u="none" cap="none" strike="noStrike">
              <a:solidFill>
                <a:schemeClr val="dk1"/>
              </a:solidFill>
              <a:latin typeface="Calibri"/>
              <a:ea typeface="Calibri"/>
              <a:cs typeface="Calibri"/>
              <a:sym typeface="Calibri"/>
            </a:endParaRPr>
          </a:p>
        </p:txBody>
      </p:sp>
      <p:sp>
        <p:nvSpPr>
          <p:cNvPr id="399" name="Google Shape;399;p21"/>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1"/>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1"/>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402" name="Google Shape;402;p21"/>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Pacific tensions escalated toward war — Japanese expansion across China and Southeast Asia threatened U.S. interests, and an American oil and steel embargo pushed Japan to plan a surprise strike.</a:t>
            </a:r>
            <a:endParaRPr b="0" i="0" sz="2200" u="none" cap="none" strike="noStrike">
              <a:solidFill>
                <a:schemeClr val="dk1"/>
              </a:solidFill>
              <a:latin typeface="Calibri"/>
              <a:ea typeface="Calibri"/>
              <a:cs typeface="Calibri"/>
              <a:sym typeface="Calibri"/>
            </a:endParaRPr>
          </a:p>
        </p:txBody>
      </p:sp>
      <p:sp>
        <p:nvSpPr>
          <p:cNvPr id="403" name="Google Shape;403;p21"/>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US.48 · Factors in the Pacific Theater</a:t>
            </a:r>
            <a:endParaRPr b="0" i="0" sz="1000" u="none" cap="none" strike="noStrike">
              <a:solidFill>
                <a:schemeClr val="dk1"/>
              </a:solidFill>
              <a:latin typeface="Calibri"/>
              <a:ea typeface="Calibri"/>
              <a:cs typeface="Calibri"/>
              <a:sym typeface="Calibri"/>
            </a:endParaRPr>
          </a:p>
        </p:txBody>
      </p:sp>
      <p:sp>
        <p:nvSpPr>
          <p:cNvPr id="404" name="Google Shape;404;p2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05" name="Google Shape;405;p2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10" name="Shape 410"/>
        <p:cNvGrpSpPr/>
        <p:nvPr/>
      </p:nvGrpSpPr>
      <p:grpSpPr>
        <a:xfrm>
          <a:off x="0" y="0"/>
          <a:ext cx="0" cy="0"/>
          <a:chOff x="0" y="0"/>
          <a:chExt cx="0" cy="0"/>
        </a:xfrm>
      </p:grpSpPr>
      <p:sp>
        <p:nvSpPr>
          <p:cNvPr id="411" name="Google Shape;411;p22"/>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2"/>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2"/>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414" name="Google Shape;414;p22"/>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US.48</a:t>
            </a:r>
            <a:endParaRPr b="0" i="0" sz="1200" u="none" cap="none" strike="noStrike">
              <a:solidFill>
                <a:schemeClr val="dk1"/>
              </a:solidFill>
              <a:latin typeface="Calibri"/>
              <a:ea typeface="Calibri"/>
              <a:cs typeface="Calibri"/>
              <a:sym typeface="Calibri"/>
            </a:endParaRPr>
          </a:p>
        </p:txBody>
      </p:sp>
      <p:sp>
        <p:nvSpPr>
          <p:cNvPr id="415" name="Google Shape;415;p22"/>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Pearl Harbor ended American neutrality — the December 7, 1941 surprise attack on the U.S. Pacific Fleet destroyed isolationist opposition, unified public opinion, and brought the United States fully into World War II.</a:t>
            </a:r>
            <a:endParaRPr b="0" i="0" sz="2300" u="none" cap="none" strike="noStrike">
              <a:solidFill>
                <a:schemeClr val="dk1"/>
              </a:solidFill>
              <a:latin typeface="Calibri"/>
              <a:ea typeface="Calibri"/>
              <a:cs typeface="Calibri"/>
              <a:sym typeface="Calibri"/>
            </a:endParaRPr>
          </a:p>
        </p:txBody>
      </p:sp>
      <p:pic>
        <p:nvPicPr>
          <p:cNvPr descr="hh-web/public/images/textbook/unit-6/pearl-harbor-uss-shaw-1941.jpg" id="416" name="Google Shape;416;p22"/>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417" name="Google Shape;417;p22"/>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418" name="Google Shape;418;p22"/>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US.48 · Attack on Pearl Harbor &amp; Its Consequences</a:t>
            </a:r>
            <a:endParaRPr b="0" i="0" sz="1000" u="none" cap="none" strike="noStrike">
              <a:solidFill>
                <a:schemeClr val="dk1"/>
              </a:solidFill>
              <a:latin typeface="Calibri"/>
              <a:ea typeface="Calibri"/>
              <a:cs typeface="Calibri"/>
              <a:sym typeface="Calibri"/>
            </a:endParaRPr>
          </a:p>
        </p:txBody>
      </p:sp>
      <p:sp>
        <p:nvSpPr>
          <p:cNvPr id="419" name="Google Shape;419;p2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20" name="Google Shape;420;p2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25" name="Shape 425"/>
        <p:cNvGrpSpPr/>
        <p:nvPr/>
      </p:nvGrpSpPr>
      <p:grpSpPr>
        <a:xfrm>
          <a:off x="0" y="0"/>
          <a:ext cx="0" cy="0"/>
          <a:chOff x="0" y="0"/>
          <a:chExt cx="0" cy="0"/>
        </a:xfrm>
      </p:grpSpPr>
      <p:sp>
        <p:nvSpPr>
          <p:cNvPr id="426" name="Google Shape;426;p23"/>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3"/>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3"/>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429" name="Google Shape;429;p23"/>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US.48</a:t>
            </a:r>
            <a:endParaRPr b="0" i="0" sz="1200" u="none" cap="none" strike="noStrike">
              <a:solidFill>
                <a:schemeClr val="dk1"/>
              </a:solidFill>
              <a:latin typeface="Calibri"/>
              <a:ea typeface="Calibri"/>
              <a:cs typeface="Calibri"/>
              <a:sym typeface="Calibri"/>
            </a:endParaRPr>
          </a:p>
        </p:txBody>
      </p:sp>
      <p:sp>
        <p:nvSpPr>
          <p:cNvPr id="430" name="Google Shape;430;p23"/>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FDR’s “Day of Infamy” Speech — note the speaker, date, and purpose before you read his words.</a:t>
            </a:r>
            <a:endParaRPr b="0" i="0" sz="2000" u="none" cap="none" strike="noStrike">
              <a:solidFill>
                <a:schemeClr val="dk1"/>
              </a:solidFill>
              <a:latin typeface="Calibri"/>
              <a:ea typeface="Calibri"/>
              <a:cs typeface="Calibri"/>
              <a:sym typeface="Calibri"/>
            </a:endParaRPr>
          </a:p>
        </p:txBody>
      </p:sp>
      <p:sp>
        <p:nvSpPr>
          <p:cNvPr id="431" name="Google Shape;431;p23"/>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432" name="Google Shape;432;p23"/>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President Franklin D. Roosevelt</a:t>
            </a:r>
            <a:endParaRPr b="0" i="0" sz="1200" u="none" cap="none" strike="noStrike">
              <a:solidFill>
                <a:schemeClr val="dk1"/>
              </a:solidFill>
              <a:latin typeface="Calibri"/>
              <a:ea typeface="Calibri"/>
              <a:cs typeface="Calibri"/>
              <a:sym typeface="Calibri"/>
            </a:endParaRPr>
          </a:p>
        </p:txBody>
      </p:sp>
      <p:sp>
        <p:nvSpPr>
          <p:cNvPr id="433" name="Google Shape;433;p23"/>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434" name="Google Shape;434;p23"/>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December 8, 1941</a:t>
            </a:r>
            <a:endParaRPr b="0" i="0" sz="1200" u="none" cap="none" strike="noStrike">
              <a:solidFill>
                <a:schemeClr val="dk1"/>
              </a:solidFill>
              <a:latin typeface="Calibri"/>
              <a:ea typeface="Calibri"/>
              <a:cs typeface="Calibri"/>
              <a:sym typeface="Calibri"/>
            </a:endParaRPr>
          </a:p>
        </p:txBody>
      </p:sp>
      <p:sp>
        <p:nvSpPr>
          <p:cNvPr id="435" name="Google Shape;435;p23"/>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436" name="Google Shape;436;p23"/>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437" name="Google Shape;437;p23"/>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3"/>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Day of Infamy Speech</a:t>
            </a:r>
            <a:endParaRPr b="0" i="0" sz="1400" u="none" cap="none" strike="noStrike">
              <a:solidFill>
                <a:schemeClr val="dk1"/>
              </a:solidFill>
              <a:latin typeface="Calibri"/>
              <a:ea typeface="Calibri"/>
              <a:cs typeface="Calibri"/>
              <a:sym typeface="Calibri"/>
            </a:endParaRPr>
          </a:p>
        </p:txBody>
      </p:sp>
      <p:sp>
        <p:nvSpPr>
          <p:cNvPr id="439" name="Google Shape;439;p23"/>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President Franklin D. Roosevelt · December 8, 1941</a:t>
            </a:r>
            <a:endParaRPr b="0" i="0" sz="900" u="none" cap="none" strike="noStrike">
              <a:solidFill>
                <a:schemeClr val="dk1"/>
              </a:solidFill>
              <a:latin typeface="Calibri"/>
              <a:ea typeface="Calibri"/>
              <a:cs typeface="Calibri"/>
              <a:sym typeface="Calibri"/>
            </a:endParaRPr>
          </a:p>
        </p:txBody>
      </p:sp>
      <p:sp>
        <p:nvSpPr>
          <p:cNvPr id="440" name="Google Shape;440;p23"/>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"Yesterday, December 7th, 1941—a date which will live in infamy—the United States of America was suddenly and deliberately attacked by naval and air forces of the Empire of Japan. The United States was at peace with that nation and, at the solicitation of Japan, was still in conversation with its government and its Emperor looking toward the maintenance of peace in the Pacific."</a:t>
            </a:r>
            <a:endParaRPr b="0" i="0" sz="1100" u="none" cap="none" strike="noStrike">
              <a:solidFill>
                <a:schemeClr val="dk1"/>
              </a:solidFill>
              <a:latin typeface="Calibri"/>
              <a:ea typeface="Calibri"/>
              <a:cs typeface="Calibri"/>
              <a:sym typeface="Calibri"/>
            </a:endParaRPr>
          </a:p>
        </p:txBody>
      </p:sp>
      <p:sp>
        <p:nvSpPr>
          <p:cNvPr id="441" name="Google Shape;441;p23">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442" name="Google Shape;442;p2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43" name="Google Shape;443;p2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448" name="Shape 448"/>
        <p:cNvGrpSpPr/>
        <p:nvPr/>
      </p:nvGrpSpPr>
      <p:grpSpPr>
        <a:xfrm>
          <a:off x="0" y="0"/>
          <a:ext cx="0" cy="0"/>
          <a:chOff x="0" y="0"/>
          <a:chExt cx="0" cy="0"/>
        </a:xfrm>
      </p:grpSpPr>
      <p:sp>
        <p:nvSpPr>
          <p:cNvPr id="449" name="Google Shape;449;p24"/>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450" name="Google Shape;450;p24"/>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US.48</a:t>
            </a:r>
            <a:endParaRPr b="0" i="0" sz="1200" u="none" cap="none" strike="noStrike">
              <a:solidFill>
                <a:schemeClr val="dk1"/>
              </a:solidFill>
              <a:latin typeface="Calibri"/>
              <a:ea typeface="Calibri"/>
              <a:cs typeface="Calibri"/>
              <a:sym typeface="Calibri"/>
            </a:endParaRPr>
          </a:p>
        </p:txBody>
      </p:sp>
      <p:sp>
        <p:nvSpPr>
          <p:cNvPr id="451" name="Google Shape;451;p24"/>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452" name="Google Shape;452;p24"/>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4"/>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4"/>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455" name="Google Shape;455;p24"/>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456" name="Google Shape;456;p24"/>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US.48:</a:t>
            </a:r>
            <a:endParaRPr b="0" i="0" sz="1000" u="none" cap="none" strike="noStrike">
              <a:solidFill>
                <a:schemeClr val="dk1"/>
              </a:solidFill>
              <a:latin typeface="Calibri"/>
              <a:ea typeface="Calibri"/>
              <a:cs typeface="Calibri"/>
              <a:sym typeface="Calibri"/>
            </a:endParaRPr>
          </a:p>
        </p:txBody>
      </p:sp>
      <p:sp>
        <p:nvSpPr>
          <p:cNvPr id="457" name="Google Shape;457;p24"/>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Allied cause, joined by America’s full industrial and military power, and interventionists whose warnings were vindicated by the attack.</a:t>
            </a:r>
            <a:endParaRPr b="0" i="0" sz="1200" u="none" cap="none" strike="noStrike">
              <a:solidFill>
                <a:schemeClr val="dk1"/>
              </a:solidFill>
              <a:latin typeface="Calibri"/>
              <a:ea typeface="Calibri"/>
              <a:cs typeface="Calibri"/>
              <a:sym typeface="Calibri"/>
            </a:endParaRPr>
          </a:p>
        </p:txBody>
      </p:sp>
      <p:sp>
        <p:nvSpPr>
          <p:cNvPr id="458" name="Google Shape;458;p24"/>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4"/>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4"/>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461" name="Google Shape;461;p24"/>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462" name="Google Shape;462;p24"/>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US.48:</a:t>
            </a:r>
            <a:endParaRPr b="0" i="0" sz="1000" u="none" cap="none" strike="noStrike">
              <a:solidFill>
                <a:schemeClr val="dk1"/>
              </a:solidFill>
              <a:latin typeface="Calibri"/>
              <a:ea typeface="Calibri"/>
              <a:cs typeface="Calibri"/>
              <a:sym typeface="Calibri"/>
            </a:endParaRPr>
          </a:p>
        </p:txBody>
      </p:sp>
      <p:sp>
        <p:nvSpPr>
          <p:cNvPr id="463" name="Google Shape;463;p24"/>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2,400 killed at Pearl Harbor, the sailors and civilians of the Pacific Fleet, and the millions of Americans soon sent to war.</a:t>
            </a:r>
            <a:endParaRPr b="0" i="0" sz="1200" u="none" cap="none" strike="noStrike">
              <a:solidFill>
                <a:schemeClr val="dk1"/>
              </a:solidFill>
              <a:latin typeface="Calibri"/>
              <a:ea typeface="Calibri"/>
              <a:cs typeface="Calibri"/>
              <a:sym typeface="Calibri"/>
            </a:endParaRPr>
          </a:p>
        </p:txBody>
      </p:sp>
      <p:sp>
        <p:nvSpPr>
          <p:cNvPr id="464" name="Google Shape;464;p24"/>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4"/>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4"/>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467" name="Google Shape;467;p24"/>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468" name="Google Shape;468;p24"/>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US.48:</a:t>
            </a:r>
            <a:endParaRPr b="0" i="0" sz="1000" u="none" cap="none" strike="noStrike">
              <a:solidFill>
                <a:schemeClr val="dk1"/>
              </a:solidFill>
              <a:latin typeface="Calibri"/>
              <a:ea typeface="Calibri"/>
              <a:cs typeface="Calibri"/>
              <a:sym typeface="Calibri"/>
            </a:endParaRPr>
          </a:p>
        </p:txBody>
      </p:sp>
      <p:sp>
        <p:nvSpPr>
          <p:cNvPr id="469" name="Google Shape;469;p24"/>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Japan’s military leaders, who ordered the attack; and President Roosevelt and Congress, who declared war the next day.</a:t>
            </a:r>
            <a:endParaRPr b="0" i="0" sz="1200" u="none" cap="none" strike="noStrike">
              <a:solidFill>
                <a:schemeClr val="dk1"/>
              </a:solidFill>
              <a:latin typeface="Calibri"/>
              <a:ea typeface="Calibri"/>
              <a:cs typeface="Calibri"/>
              <a:sym typeface="Calibri"/>
            </a:endParaRPr>
          </a:p>
        </p:txBody>
      </p:sp>
      <p:sp>
        <p:nvSpPr>
          <p:cNvPr id="470" name="Google Shape;470;p24"/>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Day of Infamy Speech, President Franklin D. Roosevelt, December 8, 1941 (National Archives)</a:t>
            </a:r>
            <a:endParaRPr b="0" i="0" sz="1000" u="none" cap="none" strike="noStrike">
              <a:solidFill>
                <a:schemeClr val="dk1"/>
              </a:solidFill>
              <a:latin typeface="Calibri"/>
              <a:ea typeface="Calibri"/>
              <a:cs typeface="Calibri"/>
              <a:sym typeface="Calibri"/>
            </a:endParaRPr>
          </a:p>
        </p:txBody>
      </p:sp>
      <p:sp>
        <p:nvSpPr>
          <p:cNvPr id="471" name="Google Shape;471;p2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72" name="Google Shape;472;p2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8</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Pearl Harbor</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Pearl Harbor</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Japan's surprise attack on the U.S. naval base in Hawaii on December 7, 1941, killing over 2,400 Americans and bringing the United States into World War II.</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Hideki Tojo</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Hideki Tojo</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Japanese military leader and Prime Minister (1941-1944) who led Japan into World War II and authorized the attack on Pearl Harbor.</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Axis Powers</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Potencias del Eje</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Military alliance of Germany, Italy, and Japan during World War II. United by shared goals of territorial expansion, militarism, and opposition to democratic nations.</a:t>
            </a:r>
            <a:endParaRPr lang="en-US" sz="130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9</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the Pearl Harbor attack unite American public opinion and end isolationism?</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Public opinion remained divided after Pearl Harbor, which contradicts the primary source evidence from this era, but the historical evidence paints a more nuanced picture</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Isolationism continued throughout the war, but the historical record tells a more complex story and oversimplifies the complex factors at work during this period</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Pearl Harbor had no effect on public opinion, but the historical record tells a more complex story and oversimplifies the complex factors at work during this period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surprise attack shocked Americans, Roosevelt's "Date of Infamy" speech galvanized the nation, and Congress declared war with only one dissenting vote, destroying isolationist opposition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477" name="Shape 477"/>
        <p:cNvGrpSpPr/>
        <p:nvPr/>
      </p:nvGrpSpPr>
      <p:grpSpPr>
        <a:xfrm>
          <a:off x="0" y="0"/>
          <a:ext cx="0" cy="0"/>
          <a:chOff x="0" y="0"/>
          <a:chExt cx="0" cy="0"/>
        </a:xfrm>
      </p:grpSpPr>
      <p:sp>
        <p:nvSpPr>
          <p:cNvPr id="478" name="Google Shape;478;p25"/>
          <p:cNvSpPr/>
          <p:nvPr/>
        </p:nvSpPr>
        <p:spPr>
          <a:xfrm>
            <a:off x="0" y="233172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5"/>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6000"/>
              <a:buFont typeface="Georgia"/>
              <a:buNone/>
            </a:pPr>
            <a:r>
              <a:rPr b="1" i="0" lang="en-US" sz="6000" u="none" cap="none" strike="noStrike">
                <a:solidFill>
                  <a:srgbClr val="C9A84C"/>
                </a:solidFill>
                <a:latin typeface="Georgia"/>
                <a:ea typeface="Georgia"/>
                <a:cs typeface="Georgia"/>
                <a:sym typeface="Georgia"/>
              </a:rPr>
              <a:t>US.49</a:t>
            </a:r>
            <a:endParaRPr b="0" i="0" sz="6000" u="none" cap="none" strike="noStrike">
              <a:solidFill>
                <a:schemeClr val="dk1"/>
              </a:solidFill>
              <a:latin typeface="Calibri"/>
              <a:ea typeface="Calibri"/>
              <a:cs typeface="Calibri"/>
              <a:sym typeface="Calibri"/>
            </a:endParaRPr>
          </a:p>
        </p:txBody>
      </p:sp>
      <p:sp>
        <p:nvSpPr>
          <p:cNvPr id="480" name="Google Shape;480;p25"/>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WWII Leaders &amp; Key Figures</a:t>
            </a:r>
            <a:endParaRPr b="0" i="0" sz="2600" u="none" cap="none" strike="noStrike">
              <a:solidFill>
                <a:schemeClr val="dk1"/>
              </a:solidFill>
              <a:latin typeface="Calibri"/>
              <a:ea typeface="Calibri"/>
              <a:cs typeface="Calibri"/>
              <a:sym typeface="Calibri"/>
            </a:endParaRPr>
          </a:p>
        </p:txBody>
      </p:sp>
      <p:sp>
        <p:nvSpPr>
          <p:cNvPr id="481" name="Google Shape;481;p25"/>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200"/>
              <a:buFont typeface="Trebuchet MS"/>
              <a:buNone/>
            </a:pPr>
            <a:r>
              <a:rPr b="1" i="0" lang="en-US" sz="1200" u="none" cap="none" strike="noStrike">
                <a:solidFill>
                  <a:srgbClr val="C9A84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482" name="Google Shape;482;p25"/>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US.49 – Identify the roles and the significant actions of the following individuals in World War II: Winston Churchill, Dwight D. Eisenhower, Adolf Hitler, Douglas MacArthur, George C. Marshall, Benito Mussolini, President Franklin D. Roosevelt, Joseph Stalin, Hideki Tojo, President Harry S. Truman.</a:t>
            </a:r>
            <a:endParaRPr b="0" i="0" sz="1600" u="none" cap="none" strike="noStrike">
              <a:solidFill>
                <a:schemeClr val="dk1"/>
              </a:solidFill>
              <a:latin typeface="Calibri"/>
              <a:ea typeface="Calibri"/>
              <a:cs typeface="Calibri"/>
              <a:sym typeface="Calibri"/>
            </a:endParaRPr>
          </a:p>
        </p:txBody>
      </p:sp>
      <p:sp>
        <p:nvSpPr>
          <p:cNvPr id="483" name="Google Shape;483;p25"/>
          <p:cNvSpPr/>
          <p:nvPr/>
        </p:nvSpPr>
        <p:spPr>
          <a:xfrm>
            <a:off x="457200" y="4892040"/>
            <a:ext cx="11247120" cy="123444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5"/>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485" name="Google Shape;485;p25"/>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I can identify the roles and the significant actions of key individuals in World War II, including Churchill, Eisenhower, Hitler, MacArthur, Marshall, Mussolini, FDR, Stalin, Tojo, and Truman.</a:t>
            </a:r>
            <a:endParaRPr b="0" i="0" sz="1400" u="none" cap="none" strike="noStrike">
              <a:solidFill>
                <a:schemeClr val="dk1"/>
              </a:solidFill>
              <a:latin typeface="Calibri"/>
              <a:ea typeface="Calibri"/>
              <a:cs typeface="Calibri"/>
              <a:sym typeface="Calibri"/>
            </a:endParaRPr>
          </a:p>
        </p:txBody>
      </p:sp>
      <p:sp>
        <p:nvSpPr>
          <p:cNvPr id="486" name="Google Shape;486;p2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87" name="Google Shape;487;p2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92" name="Shape 492"/>
        <p:cNvGrpSpPr/>
        <p:nvPr/>
      </p:nvGrpSpPr>
      <p:grpSpPr>
        <a:xfrm>
          <a:off x="0" y="0"/>
          <a:ext cx="0" cy="0"/>
          <a:chOff x="0" y="0"/>
          <a:chExt cx="0" cy="0"/>
        </a:xfrm>
      </p:grpSpPr>
      <p:sp>
        <p:nvSpPr>
          <p:cNvPr id="493" name="Google Shape;493;p26"/>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6"/>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6"/>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496" name="Google Shape;496;p26"/>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US.49</a:t>
            </a:r>
            <a:endParaRPr b="0" i="0" sz="1200" u="none" cap="none" strike="noStrike">
              <a:solidFill>
                <a:schemeClr val="dk1"/>
              </a:solidFill>
              <a:latin typeface="Calibri"/>
              <a:ea typeface="Calibri"/>
              <a:cs typeface="Calibri"/>
              <a:sym typeface="Calibri"/>
            </a:endParaRPr>
          </a:p>
        </p:txBody>
      </p:sp>
      <p:sp>
        <p:nvSpPr>
          <p:cNvPr id="497" name="Google Shape;497;p26"/>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Allied leaders rallied nations and coalitions — Churchill inspired British resistance, FDR marshaled American production, and Stalin drove the Soviet war effort on the Eastern Front against Nazi Germany.</a:t>
            </a:r>
            <a:endParaRPr b="0" i="0" sz="2300" u="none" cap="none" strike="noStrike">
              <a:solidFill>
                <a:schemeClr val="dk1"/>
              </a:solidFill>
              <a:latin typeface="Calibri"/>
              <a:ea typeface="Calibri"/>
              <a:cs typeface="Calibri"/>
              <a:sym typeface="Calibri"/>
            </a:endParaRPr>
          </a:p>
        </p:txBody>
      </p:sp>
      <p:sp>
        <p:nvSpPr>
          <p:cNvPr id="498" name="Google Shape;498;p26"/>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6"/>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6"/>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501" name="Google Shape;501;p26"/>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Allied leaders rallied nations and coalitions — Churchill inspired British resistance, FDR marshaled American production, and Stalin drove the Soviet war effort on the Eastern Front against Nazi Germany.</a:t>
            </a:r>
            <a:endParaRPr b="0" i="0" sz="2200" u="none" cap="none" strike="noStrike">
              <a:solidFill>
                <a:schemeClr val="dk1"/>
              </a:solidFill>
              <a:latin typeface="Calibri"/>
              <a:ea typeface="Calibri"/>
              <a:cs typeface="Calibri"/>
              <a:sym typeface="Calibri"/>
            </a:endParaRPr>
          </a:p>
        </p:txBody>
      </p:sp>
      <p:sp>
        <p:nvSpPr>
          <p:cNvPr id="502" name="Google Shape;502;p26"/>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US.49 · Allied Political Leaders</a:t>
            </a:r>
            <a:endParaRPr b="0" i="0" sz="1000" u="none" cap="none" strike="noStrike">
              <a:solidFill>
                <a:schemeClr val="dk1"/>
              </a:solidFill>
              <a:latin typeface="Calibri"/>
              <a:ea typeface="Calibri"/>
              <a:cs typeface="Calibri"/>
              <a:sym typeface="Calibri"/>
            </a:endParaRPr>
          </a:p>
        </p:txBody>
      </p:sp>
      <p:sp>
        <p:nvSpPr>
          <p:cNvPr id="503" name="Google Shape;503;p2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04" name="Google Shape;504;p2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09" name="Shape 509"/>
        <p:cNvGrpSpPr/>
        <p:nvPr/>
      </p:nvGrpSpPr>
      <p:grpSpPr>
        <a:xfrm>
          <a:off x="0" y="0"/>
          <a:ext cx="0" cy="0"/>
          <a:chOff x="0" y="0"/>
          <a:chExt cx="0" cy="0"/>
        </a:xfrm>
      </p:grpSpPr>
      <p:sp>
        <p:nvSpPr>
          <p:cNvPr id="510" name="Google Shape;510;p27"/>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7"/>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7"/>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513" name="Google Shape;513;p27"/>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US.49</a:t>
            </a:r>
            <a:endParaRPr b="0" i="0" sz="1200" u="none" cap="none" strike="noStrike">
              <a:solidFill>
                <a:schemeClr val="dk1"/>
              </a:solidFill>
              <a:latin typeface="Calibri"/>
              <a:ea typeface="Calibri"/>
              <a:cs typeface="Calibri"/>
              <a:sym typeface="Calibri"/>
            </a:endParaRPr>
          </a:p>
        </p:txBody>
      </p:sp>
      <p:sp>
        <p:nvSpPr>
          <p:cNvPr id="514" name="Google Shape;514;p27"/>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Allied commanders planned victory in two theaters — Eisenhower directed D-Day and the war in Europe, while MacArthur and Nimitz led the island-hopping campaign that carried the fight across the Pacific to Japan.</a:t>
            </a:r>
            <a:endParaRPr b="0" i="0" sz="2300" u="none" cap="none" strike="noStrike">
              <a:solidFill>
                <a:schemeClr val="dk1"/>
              </a:solidFill>
              <a:latin typeface="Calibri"/>
              <a:ea typeface="Calibri"/>
              <a:cs typeface="Calibri"/>
              <a:sym typeface="Calibri"/>
            </a:endParaRPr>
          </a:p>
        </p:txBody>
      </p:sp>
      <p:pic>
        <p:nvPicPr>
          <p:cNvPr descr="hh-web/public/images/textbook/unit-6/iwo-jima-flag-raising-1945.jpg" id="515" name="Google Shape;515;p27"/>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516" name="Google Shape;516;p27"/>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517" name="Google Shape;517;p27"/>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US.49 · Allied Military Leaders</a:t>
            </a:r>
            <a:endParaRPr b="0" i="0" sz="1000" u="none" cap="none" strike="noStrike">
              <a:solidFill>
                <a:schemeClr val="dk1"/>
              </a:solidFill>
              <a:latin typeface="Calibri"/>
              <a:ea typeface="Calibri"/>
              <a:cs typeface="Calibri"/>
              <a:sym typeface="Calibri"/>
            </a:endParaRPr>
          </a:p>
        </p:txBody>
      </p:sp>
      <p:sp>
        <p:nvSpPr>
          <p:cNvPr id="518" name="Google Shape;518;p2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19" name="Google Shape;519;p2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24" name="Shape 524"/>
        <p:cNvGrpSpPr/>
        <p:nvPr/>
      </p:nvGrpSpPr>
      <p:grpSpPr>
        <a:xfrm>
          <a:off x="0" y="0"/>
          <a:ext cx="0" cy="0"/>
          <a:chOff x="0" y="0"/>
          <a:chExt cx="0" cy="0"/>
        </a:xfrm>
      </p:grpSpPr>
      <p:sp>
        <p:nvSpPr>
          <p:cNvPr id="525" name="Google Shape;525;p28"/>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8"/>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8"/>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528" name="Google Shape;528;p28"/>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US.49</a:t>
            </a:r>
            <a:endParaRPr b="0" i="0" sz="1200" u="none" cap="none" strike="noStrike">
              <a:solidFill>
                <a:schemeClr val="dk1"/>
              </a:solidFill>
              <a:latin typeface="Calibri"/>
              <a:ea typeface="Calibri"/>
              <a:cs typeface="Calibri"/>
              <a:sym typeface="Calibri"/>
            </a:endParaRPr>
          </a:p>
        </p:txBody>
      </p:sp>
      <p:sp>
        <p:nvSpPr>
          <p:cNvPr id="529" name="Google Shape;529;p28"/>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Axis leaders drove aggression and defeat — Hitler’s blitzkrieg and invasion of the USSR, Mussolini’s fascist Italy, and Japan’s militarist expansion set the course of the war and ended in the collapse of all three regimes.</a:t>
            </a:r>
            <a:endParaRPr b="0" i="0" sz="2300" u="none" cap="none" strike="noStrike">
              <a:solidFill>
                <a:schemeClr val="dk1"/>
              </a:solidFill>
              <a:latin typeface="Calibri"/>
              <a:ea typeface="Calibri"/>
              <a:cs typeface="Calibri"/>
              <a:sym typeface="Calibri"/>
            </a:endParaRPr>
          </a:p>
        </p:txBody>
      </p:sp>
      <p:sp>
        <p:nvSpPr>
          <p:cNvPr id="530" name="Google Shape;530;p28"/>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8"/>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8"/>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533" name="Google Shape;533;p28"/>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Axis leaders drove aggression and defeat — Hitler’s blitzkrieg and invasion of the USSR, Mussolini’s fascist Italy, and Japan’s militarist expansion set the course of the war and ended in the collapse of all three regimes.</a:t>
            </a:r>
            <a:endParaRPr b="0" i="0" sz="2200" u="none" cap="none" strike="noStrike">
              <a:solidFill>
                <a:schemeClr val="dk1"/>
              </a:solidFill>
              <a:latin typeface="Calibri"/>
              <a:ea typeface="Calibri"/>
              <a:cs typeface="Calibri"/>
              <a:sym typeface="Calibri"/>
            </a:endParaRPr>
          </a:p>
        </p:txBody>
      </p:sp>
      <p:sp>
        <p:nvSpPr>
          <p:cNvPr id="534" name="Google Shape;534;p28"/>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US.49 · Axis Leaders &amp; Comparing Leadership</a:t>
            </a:r>
            <a:endParaRPr b="0" i="0" sz="1000" u="none" cap="none" strike="noStrike">
              <a:solidFill>
                <a:schemeClr val="dk1"/>
              </a:solidFill>
              <a:latin typeface="Calibri"/>
              <a:ea typeface="Calibri"/>
              <a:cs typeface="Calibri"/>
              <a:sym typeface="Calibri"/>
            </a:endParaRPr>
          </a:p>
        </p:txBody>
      </p:sp>
      <p:sp>
        <p:nvSpPr>
          <p:cNvPr id="535" name="Google Shape;535;p2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36" name="Google Shape;536;p2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41" name="Shape 541"/>
        <p:cNvGrpSpPr/>
        <p:nvPr/>
      </p:nvGrpSpPr>
      <p:grpSpPr>
        <a:xfrm>
          <a:off x="0" y="0"/>
          <a:ext cx="0" cy="0"/>
          <a:chOff x="0" y="0"/>
          <a:chExt cx="0" cy="0"/>
        </a:xfrm>
      </p:grpSpPr>
      <p:sp>
        <p:nvSpPr>
          <p:cNvPr id="542" name="Google Shape;542;p29"/>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9"/>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9"/>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545" name="Google Shape;545;p29"/>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US.49</a:t>
            </a:r>
            <a:endParaRPr b="0" i="0" sz="1200" u="none" cap="none" strike="noStrike">
              <a:solidFill>
                <a:schemeClr val="dk1"/>
              </a:solidFill>
              <a:latin typeface="Calibri"/>
              <a:ea typeface="Calibri"/>
              <a:cs typeface="Calibri"/>
              <a:sym typeface="Calibri"/>
            </a:endParaRPr>
          </a:p>
        </p:txBody>
      </p:sp>
      <p:sp>
        <p:nvSpPr>
          <p:cNvPr id="546" name="Google Shape;546;p29"/>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Churchill’s “We Shall Fight on the Beaches” Speech — weigh the speaker, moment, and audience before you read the words.</a:t>
            </a:r>
            <a:endParaRPr b="0" i="0" sz="2000" u="none" cap="none" strike="noStrike">
              <a:solidFill>
                <a:schemeClr val="dk1"/>
              </a:solidFill>
              <a:latin typeface="Calibri"/>
              <a:ea typeface="Calibri"/>
              <a:cs typeface="Calibri"/>
              <a:sym typeface="Calibri"/>
            </a:endParaRPr>
          </a:p>
        </p:txBody>
      </p:sp>
      <p:sp>
        <p:nvSpPr>
          <p:cNvPr id="547" name="Google Shape;547;p29"/>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548" name="Google Shape;548;p29"/>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Winston Churchill</a:t>
            </a:r>
            <a:endParaRPr b="0" i="0" sz="1200" u="none" cap="none" strike="noStrike">
              <a:solidFill>
                <a:schemeClr val="dk1"/>
              </a:solidFill>
              <a:latin typeface="Calibri"/>
              <a:ea typeface="Calibri"/>
              <a:cs typeface="Calibri"/>
              <a:sym typeface="Calibri"/>
            </a:endParaRPr>
          </a:p>
        </p:txBody>
      </p:sp>
      <p:sp>
        <p:nvSpPr>
          <p:cNvPr id="549" name="Google Shape;549;p29"/>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550" name="Google Shape;550;p29"/>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June 4, 1940</a:t>
            </a:r>
            <a:endParaRPr b="0" i="0" sz="1200" u="none" cap="none" strike="noStrike">
              <a:solidFill>
                <a:schemeClr val="dk1"/>
              </a:solidFill>
              <a:latin typeface="Calibri"/>
              <a:ea typeface="Calibri"/>
              <a:cs typeface="Calibri"/>
              <a:sym typeface="Calibri"/>
            </a:endParaRPr>
          </a:p>
        </p:txBody>
      </p:sp>
      <p:sp>
        <p:nvSpPr>
          <p:cNvPr id="551" name="Google Shape;551;p29"/>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552" name="Google Shape;552;p29"/>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553" name="Google Shape;553;p29"/>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9"/>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We Shall Fight on the Beaches Speech</a:t>
            </a:r>
            <a:endParaRPr b="0" i="0" sz="1400" u="none" cap="none" strike="noStrike">
              <a:solidFill>
                <a:schemeClr val="dk1"/>
              </a:solidFill>
              <a:latin typeface="Calibri"/>
              <a:ea typeface="Calibri"/>
              <a:cs typeface="Calibri"/>
              <a:sym typeface="Calibri"/>
            </a:endParaRPr>
          </a:p>
        </p:txBody>
      </p:sp>
      <p:sp>
        <p:nvSpPr>
          <p:cNvPr id="555" name="Google Shape;555;p29"/>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Winston Churchill · June 4, 1940</a:t>
            </a:r>
            <a:endParaRPr b="0" i="0" sz="900" u="none" cap="none" strike="noStrike">
              <a:solidFill>
                <a:schemeClr val="dk1"/>
              </a:solidFill>
              <a:latin typeface="Calibri"/>
              <a:ea typeface="Calibri"/>
              <a:cs typeface="Calibri"/>
              <a:sym typeface="Calibri"/>
            </a:endParaRPr>
          </a:p>
        </p:txBody>
      </p:sp>
      <p:sp>
        <p:nvSpPr>
          <p:cNvPr id="556" name="Google Shape;556;p29"/>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"We shall fight on the beaches, we shall fight on the landing grounds, we shall fight in the fields and in the streets, we shall fight in the hills; we shall never surrender, and even if, which I do not for a moment believe, this Island or a large part of it were subjugated and starving, then our Empire beyond the seas... would carry on the struggle."</a:t>
            </a:r>
            <a:endParaRPr b="0" i="0" sz="1100" u="none" cap="none" strike="noStrike">
              <a:solidFill>
                <a:schemeClr val="dk1"/>
              </a:solidFill>
              <a:latin typeface="Calibri"/>
              <a:ea typeface="Calibri"/>
              <a:cs typeface="Calibri"/>
              <a:sym typeface="Calibri"/>
            </a:endParaRPr>
          </a:p>
        </p:txBody>
      </p:sp>
      <p:sp>
        <p:nvSpPr>
          <p:cNvPr id="557" name="Google Shape;557;p29">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International Churchill Society</a:t>
            </a:r>
            <a:endParaRPr b="0" i="0" sz="900" u="none" cap="none" strike="noStrike">
              <a:solidFill>
                <a:schemeClr val="dk1"/>
              </a:solidFill>
              <a:latin typeface="Calibri"/>
              <a:ea typeface="Calibri"/>
              <a:cs typeface="Calibri"/>
              <a:sym typeface="Calibri"/>
            </a:endParaRPr>
          </a:p>
        </p:txBody>
      </p:sp>
      <p:sp>
        <p:nvSpPr>
          <p:cNvPr id="558" name="Google Shape;558;p2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59" name="Google Shape;559;p2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564" name="Shape 564"/>
        <p:cNvGrpSpPr/>
        <p:nvPr/>
      </p:nvGrpSpPr>
      <p:grpSpPr>
        <a:xfrm>
          <a:off x="0" y="0"/>
          <a:ext cx="0" cy="0"/>
          <a:chOff x="0" y="0"/>
          <a:chExt cx="0" cy="0"/>
        </a:xfrm>
      </p:grpSpPr>
      <p:sp>
        <p:nvSpPr>
          <p:cNvPr id="565" name="Google Shape;565;p30"/>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566" name="Google Shape;566;p30"/>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US.49</a:t>
            </a:r>
            <a:endParaRPr b="0" i="0" sz="1200" u="none" cap="none" strike="noStrike">
              <a:solidFill>
                <a:schemeClr val="dk1"/>
              </a:solidFill>
              <a:latin typeface="Calibri"/>
              <a:ea typeface="Calibri"/>
              <a:cs typeface="Calibri"/>
              <a:sym typeface="Calibri"/>
            </a:endParaRPr>
          </a:p>
        </p:txBody>
      </p:sp>
      <p:sp>
        <p:nvSpPr>
          <p:cNvPr id="567" name="Google Shape;567;p30"/>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568" name="Google Shape;568;p30"/>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0"/>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0"/>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571" name="Google Shape;571;p30"/>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572" name="Google Shape;572;p30"/>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US.49:</a:t>
            </a:r>
            <a:endParaRPr b="0" i="0" sz="1000" u="none" cap="none" strike="noStrike">
              <a:solidFill>
                <a:schemeClr val="dk1"/>
              </a:solidFill>
              <a:latin typeface="Calibri"/>
              <a:ea typeface="Calibri"/>
              <a:cs typeface="Calibri"/>
              <a:sym typeface="Calibri"/>
            </a:endParaRPr>
          </a:p>
        </p:txBody>
      </p:sp>
      <p:sp>
        <p:nvSpPr>
          <p:cNvPr id="573" name="Google Shape;573;p30"/>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Allied nations and their peoples, freed from Axis conquest, and leaders like Churchill and Eisenhower whose reputations were cemented by victory.</a:t>
            </a:r>
            <a:endParaRPr b="0" i="0" sz="1200" u="none" cap="none" strike="noStrike">
              <a:solidFill>
                <a:schemeClr val="dk1"/>
              </a:solidFill>
              <a:latin typeface="Calibri"/>
              <a:ea typeface="Calibri"/>
              <a:cs typeface="Calibri"/>
              <a:sym typeface="Calibri"/>
            </a:endParaRPr>
          </a:p>
        </p:txBody>
      </p:sp>
      <p:sp>
        <p:nvSpPr>
          <p:cNvPr id="574" name="Google Shape;574;p30"/>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0"/>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0"/>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577" name="Google Shape;577;p30"/>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578" name="Google Shape;578;p30"/>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US.49:</a:t>
            </a:r>
            <a:endParaRPr b="0" i="0" sz="1000" u="none" cap="none" strike="noStrike">
              <a:solidFill>
                <a:schemeClr val="dk1"/>
              </a:solidFill>
              <a:latin typeface="Calibri"/>
              <a:ea typeface="Calibri"/>
              <a:cs typeface="Calibri"/>
              <a:sym typeface="Calibri"/>
            </a:endParaRPr>
          </a:p>
        </p:txBody>
      </p:sp>
      <p:sp>
        <p:nvSpPr>
          <p:cNvPr id="579" name="Google Shape;579;p30"/>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tens of millions of soldiers and civilians killed worldwide, and the populations subjected to Axis occupation and total war.</a:t>
            </a:r>
            <a:endParaRPr b="0" i="0" sz="1200" u="none" cap="none" strike="noStrike">
              <a:solidFill>
                <a:schemeClr val="dk1"/>
              </a:solidFill>
              <a:latin typeface="Calibri"/>
              <a:ea typeface="Calibri"/>
              <a:cs typeface="Calibri"/>
              <a:sym typeface="Calibri"/>
            </a:endParaRPr>
          </a:p>
        </p:txBody>
      </p:sp>
      <p:sp>
        <p:nvSpPr>
          <p:cNvPr id="580" name="Google Shape;580;p30"/>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0"/>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0"/>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583" name="Google Shape;583;p30"/>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584" name="Google Shape;584;p30"/>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US.49:</a:t>
            </a:r>
            <a:endParaRPr b="0" i="0" sz="1000" u="none" cap="none" strike="noStrike">
              <a:solidFill>
                <a:schemeClr val="dk1"/>
              </a:solidFill>
              <a:latin typeface="Calibri"/>
              <a:ea typeface="Calibri"/>
              <a:cs typeface="Calibri"/>
              <a:sym typeface="Calibri"/>
            </a:endParaRPr>
          </a:p>
        </p:txBody>
      </p:sp>
      <p:sp>
        <p:nvSpPr>
          <p:cNvPr id="585" name="Google Shape;585;p30"/>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Allied and Axis heads of state and their top commanders, whose strategic decisions directed the movements of entire armies.</a:t>
            </a:r>
            <a:endParaRPr b="0" i="0" sz="1200" u="none" cap="none" strike="noStrike">
              <a:solidFill>
                <a:schemeClr val="dk1"/>
              </a:solidFill>
              <a:latin typeface="Calibri"/>
              <a:ea typeface="Calibri"/>
              <a:cs typeface="Calibri"/>
              <a:sym typeface="Calibri"/>
            </a:endParaRPr>
          </a:p>
        </p:txBody>
      </p:sp>
      <p:sp>
        <p:nvSpPr>
          <p:cNvPr id="586" name="Google Shape;586;p30"/>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We Shall Fight on the Beaches Speech, Winston Churchill, June 4, 1940 (International Churchill Society)</a:t>
            </a:r>
            <a:endParaRPr b="0" i="0" sz="1000" u="none" cap="none" strike="noStrike">
              <a:solidFill>
                <a:schemeClr val="dk1"/>
              </a:solidFill>
              <a:latin typeface="Calibri"/>
              <a:ea typeface="Calibri"/>
              <a:cs typeface="Calibri"/>
              <a:sym typeface="Calibri"/>
            </a:endParaRPr>
          </a:p>
        </p:txBody>
      </p:sp>
      <p:sp>
        <p:nvSpPr>
          <p:cNvPr id="587" name="Google Shape;587;p3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88" name="Google Shape;588;p3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30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10</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Dwight D. Eisenhower</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Dwight D. Eisenhower</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Supreme Commander of Allied Forces in Europe who planned and led the D-Day invasion and coordinated Allied victory in Europe. Later became 34th President.</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Adolf Hitler</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Adolf Hitler</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Nazi dictator of Germany (1933-1945) who led Germany into World War II and orchestrated the Holocaust, resulting in the deaths of 6 million Jews and millions of others.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Joseph Stalin</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Joseph Stalin</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Communist dictator of the Soviet Union (1924-1953) who ruled through terror, forced collectivization, and purges, resulting in millions of deaths.</a:t>
            </a:r>
            <a:endParaRPr lang="en-US" sz="130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11</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Allied leaders like Roosevelt, Churchill, and Stalin coordinate their war efforts despite different goals?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Through conferences at Tehran and Yalta, the "Europe First" strategy, and division of responsibilities, they maintained cooperation despite tensions over post-war Europe and different ideological systems</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They never coordinated their efforts, which does not align with the documented historical record and oversimplifies the complex factors at work during this period despite the fact that multiple contemporary sources contradict this</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Stalin made all decisions for the alliance, though this interpretation lacks supporting historical evidence, although this overlooks critical economic and social factors involved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They fought completely separate wars, although historical sources do not support this conclusion and oversimplifies the complex factors at work during this period when examined alongside the available primary and secondary sources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593" name="Shape 593"/>
        <p:cNvGrpSpPr/>
        <p:nvPr/>
      </p:nvGrpSpPr>
      <p:grpSpPr>
        <a:xfrm>
          <a:off x="0" y="0"/>
          <a:ext cx="0" cy="0"/>
          <a:chOff x="0" y="0"/>
          <a:chExt cx="0" cy="0"/>
        </a:xfrm>
      </p:grpSpPr>
      <p:sp>
        <p:nvSpPr>
          <p:cNvPr id="594" name="Google Shape;594;p31"/>
          <p:cNvSpPr/>
          <p:nvPr/>
        </p:nvSpPr>
        <p:spPr>
          <a:xfrm>
            <a:off x="0" y="233172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1"/>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6000"/>
              <a:buFont typeface="Georgia"/>
              <a:buNone/>
            </a:pPr>
            <a:r>
              <a:rPr b="1" i="0" lang="en-US" sz="6000" u="none" cap="none" strike="noStrike">
                <a:solidFill>
                  <a:srgbClr val="C9A84C"/>
                </a:solidFill>
                <a:latin typeface="Georgia"/>
                <a:ea typeface="Georgia"/>
                <a:cs typeface="Georgia"/>
                <a:sym typeface="Georgia"/>
              </a:rPr>
              <a:t>US.50</a:t>
            </a:r>
            <a:endParaRPr b="0" i="0" sz="6000" u="none" cap="none" strike="noStrike">
              <a:solidFill>
                <a:schemeClr val="dk1"/>
              </a:solidFill>
              <a:latin typeface="Calibri"/>
              <a:ea typeface="Calibri"/>
              <a:cs typeface="Calibri"/>
              <a:sym typeface="Calibri"/>
            </a:endParaRPr>
          </a:p>
        </p:txBody>
      </p:sp>
      <p:sp>
        <p:nvSpPr>
          <p:cNvPr id="596" name="Google Shape;596;p31"/>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Major WWII Battles: Midway, Iwo Jima, Okinawa &amp; D-Day</a:t>
            </a:r>
            <a:endParaRPr b="0" i="0" sz="2600" u="none" cap="none" strike="noStrike">
              <a:solidFill>
                <a:schemeClr val="dk1"/>
              </a:solidFill>
              <a:latin typeface="Calibri"/>
              <a:ea typeface="Calibri"/>
              <a:cs typeface="Calibri"/>
              <a:sym typeface="Calibri"/>
            </a:endParaRPr>
          </a:p>
        </p:txBody>
      </p:sp>
      <p:sp>
        <p:nvSpPr>
          <p:cNvPr id="597" name="Google Shape;597;p31"/>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200"/>
              <a:buFont typeface="Trebuchet MS"/>
              <a:buNone/>
            </a:pPr>
            <a:r>
              <a:rPr b="1" i="0" lang="en-US" sz="1200" u="none" cap="none" strike="noStrike">
                <a:solidFill>
                  <a:srgbClr val="C9A84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598" name="Google Shape;598;p31"/>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US.50 – Explain the role of geographic and military factors on the outcomes of battles in the Pacific and European theaters of war, including the Battles of Midway, Iwo Jima, Okinawa, and D-Day.</a:t>
            </a:r>
            <a:endParaRPr b="0" i="0" sz="1600" u="none" cap="none" strike="noStrike">
              <a:solidFill>
                <a:schemeClr val="dk1"/>
              </a:solidFill>
              <a:latin typeface="Calibri"/>
              <a:ea typeface="Calibri"/>
              <a:cs typeface="Calibri"/>
              <a:sym typeface="Calibri"/>
            </a:endParaRPr>
          </a:p>
        </p:txBody>
      </p:sp>
      <p:sp>
        <p:nvSpPr>
          <p:cNvPr id="599" name="Google Shape;599;p31"/>
          <p:cNvSpPr/>
          <p:nvPr/>
        </p:nvSpPr>
        <p:spPr>
          <a:xfrm>
            <a:off x="457200" y="4892040"/>
            <a:ext cx="11247120" cy="123444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1"/>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601" name="Google Shape;601;p31"/>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I can explain the role of geographic and military factors on the outcomes of battles in the Pacific and European theaters, including Midway, Iwo Jima, Okinawa, and D-Day.</a:t>
            </a:r>
            <a:endParaRPr b="0" i="0" sz="1400" u="none" cap="none" strike="noStrike">
              <a:solidFill>
                <a:schemeClr val="dk1"/>
              </a:solidFill>
              <a:latin typeface="Calibri"/>
              <a:ea typeface="Calibri"/>
              <a:cs typeface="Calibri"/>
              <a:sym typeface="Calibri"/>
            </a:endParaRPr>
          </a:p>
        </p:txBody>
      </p:sp>
      <p:sp>
        <p:nvSpPr>
          <p:cNvPr id="602" name="Google Shape;602;p3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03" name="Google Shape;603;p3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08" name="Shape 608"/>
        <p:cNvGrpSpPr/>
        <p:nvPr/>
      </p:nvGrpSpPr>
      <p:grpSpPr>
        <a:xfrm>
          <a:off x="0" y="0"/>
          <a:ext cx="0" cy="0"/>
          <a:chOff x="0" y="0"/>
          <a:chExt cx="0" cy="0"/>
        </a:xfrm>
      </p:grpSpPr>
      <p:sp>
        <p:nvSpPr>
          <p:cNvPr id="609" name="Google Shape;609;p32"/>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32"/>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32"/>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612" name="Google Shape;612;p32"/>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US.50</a:t>
            </a:r>
            <a:endParaRPr b="0" i="0" sz="1200" u="none" cap="none" strike="noStrike">
              <a:solidFill>
                <a:schemeClr val="dk1"/>
              </a:solidFill>
              <a:latin typeface="Calibri"/>
              <a:ea typeface="Calibri"/>
              <a:cs typeface="Calibri"/>
              <a:sym typeface="Calibri"/>
            </a:endParaRPr>
          </a:p>
        </p:txBody>
      </p:sp>
      <p:sp>
        <p:nvSpPr>
          <p:cNvPr id="613" name="Google Shape;613;p32"/>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Midway turned the tide in the Pacific — in June 1942 American codebreaking and carrier air power sank four Japanese carriers at Midway Atoll, halting Japanese expansion and shifting the initiative to the United States.</a:t>
            </a:r>
            <a:endParaRPr b="0" i="0" sz="2300" u="none" cap="none" strike="noStrike">
              <a:solidFill>
                <a:schemeClr val="dk1"/>
              </a:solidFill>
              <a:latin typeface="Calibri"/>
              <a:ea typeface="Calibri"/>
              <a:cs typeface="Calibri"/>
              <a:sym typeface="Calibri"/>
            </a:endParaRPr>
          </a:p>
        </p:txBody>
      </p:sp>
      <p:sp>
        <p:nvSpPr>
          <p:cNvPr id="614" name="Google Shape;614;p32"/>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2"/>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2"/>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617" name="Google Shape;617;p32"/>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Midway turned the tide in the Pacific — in June 1942 American codebreaking and carrier air power sank four Japanese carriers at Midway Atoll, halting Japanese expansion and shifting the initiative to the United States.</a:t>
            </a:r>
            <a:endParaRPr b="0" i="0" sz="2200" u="none" cap="none" strike="noStrike">
              <a:solidFill>
                <a:schemeClr val="dk1"/>
              </a:solidFill>
              <a:latin typeface="Calibri"/>
              <a:ea typeface="Calibri"/>
              <a:cs typeface="Calibri"/>
              <a:sym typeface="Calibri"/>
            </a:endParaRPr>
          </a:p>
        </p:txBody>
      </p:sp>
      <p:sp>
        <p:nvSpPr>
          <p:cNvPr id="618" name="Google Shape;618;p32"/>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US.50 · Battle of Midway (June 1942)</a:t>
            </a:r>
            <a:endParaRPr b="0" i="0" sz="1000" u="none" cap="none" strike="noStrike">
              <a:solidFill>
                <a:schemeClr val="dk1"/>
              </a:solidFill>
              <a:latin typeface="Calibri"/>
              <a:ea typeface="Calibri"/>
              <a:cs typeface="Calibri"/>
              <a:sym typeface="Calibri"/>
            </a:endParaRPr>
          </a:p>
        </p:txBody>
      </p:sp>
      <p:sp>
        <p:nvSpPr>
          <p:cNvPr id="619" name="Google Shape;619;p3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20" name="Google Shape;620;p3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25" name="Shape 625"/>
        <p:cNvGrpSpPr/>
        <p:nvPr/>
      </p:nvGrpSpPr>
      <p:grpSpPr>
        <a:xfrm>
          <a:off x="0" y="0"/>
          <a:ext cx="0" cy="0"/>
          <a:chOff x="0" y="0"/>
          <a:chExt cx="0" cy="0"/>
        </a:xfrm>
      </p:grpSpPr>
      <p:sp>
        <p:nvSpPr>
          <p:cNvPr id="626" name="Google Shape;626;p33"/>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3"/>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3"/>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629" name="Google Shape;629;p33"/>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US.50</a:t>
            </a:r>
            <a:endParaRPr b="0" i="0" sz="1200" u="none" cap="none" strike="noStrike">
              <a:solidFill>
                <a:schemeClr val="dk1"/>
              </a:solidFill>
              <a:latin typeface="Calibri"/>
              <a:ea typeface="Calibri"/>
              <a:cs typeface="Calibri"/>
              <a:sym typeface="Calibri"/>
            </a:endParaRPr>
          </a:p>
        </p:txBody>
      </p:sp>
      <p:sp>
        <p:nvSpPr>
          <p:cNvPr id="630" name="Google Shape;630;p33"/>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Iwo Jima and Okinawa showed the cost of nearing Japan — volcanic terrain and dug-in defenders made these 1945 battles among the war’s bloodiest, and the staggering casualties shaped the decision to use the atomic bomb.</a:t>
            </a:r>
            <a:endParaRPr b="0" i="0" sz="2300" u="none" cap="none" strike="noStrike">
              <a:solidFill>
                <a:schemeClr val="dk1"/>
              </a:solidFill>
              <a:latin typeface="Calibri"/>
              <a:ea typeface="Calibri"/>
              <a:cs typeface="Calibri"/>
              <a:sym typeface="Calibri"/>
            </a:endParaRPr>
          </a:p>
        </p:txBody>
      </p:sp>
      <p:pic>
        <p:nvPicPr>
          <p:cNvPr descr="hh-web/public/images/textbook/unit-6/iwo-jima-flag-raising-1945.jpg" id="631" name="Google Shape;631;p33"/>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632" name="Google Shape;632;p33"/>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633" name="Google Shape;633;p33"/>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US.50 · Iwo Jima &amp; Okinawa (1945)</a:t>
            </a:r>
            <a:endParaRPr b="0" i="0" sz="1000" u="none" cap="none" strike="noStrike">
              <a:solidFill>
                <a:schemeClr val="dk1"/>
              </a:solidFill>
              <a:latin typeface="Calibri"/>
              <a:ea typeface="Calibri"/>
              <a:cs typeface="Calibri"/>
              <a:sym typeface="Calibri"/>
            </a:endParaRPr>
          </a:p>
        </p:txBody>
      </p:sp>
      <p:sp>
        <p:nvSpPr>
          <p:cNvPr id="634" name="Google Shape;634;p3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35" name="Google Shape;635;p3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40" name="Shape 640"/>
        <p:cNvGrpSpPr/>
        <p:nvPr/>
      </p:nvGrpSpPr>
      <p:grpSpPr>
        <a:xfrm>
          <a:off x="0" y="0"/>
          <a:ext cx="0" cy="0"/>
          <a:chOff x="0" y="0"/>
          <a:chExt cx="0" cy="0"/>
        </a:xfrm>
      </p:grpSpPr>
      <p:sp>
        <p:nvSpPr>
          <p:cNvPr id="641" name="Google Shape;641;p34"/>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4"/>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644" name="Google Shape;644;p34"/>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US.50</a:t>
            </a:r>
            <a:endParaRPr b="0" i="0" sz="1200" u="none" cap="none" strike="noStrike">
              <a:solidFill>
                <a:schemeClr val="dk1"/>
              </a:solidFill>
              <a:latin typeface="Calibri"/>
              <a:ea typeface="Calibri"/>
              <a:cs typeface="Calibri"/>
              <a:sym typeface="Calibri"/>
            </a:endParaRPr>
          </a:p>
        </p:txBody>
      </p:sp>
      <p:sp>
        <p:nvSpPr>
          <p:cNvPr id="645" name="Google Shape;645;p34"/>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D-Day opened the Western Front — on June 6, 1944, the largest amphibious invasion in history landed Allied forces on the beaches of Normandy, beginning the liberation of Western Europe from Nazi control.</a:t>
            </a:r>
            <a:endParaRPr b="0" i="0" sz="2300" u="none" cap="none" strike="noStrike">
              <a:solidFill>
                <a:schemeClr val="dk1"/>
              </a:solidFill>
              <a:latin typeface="Calibri"/>
              <a:ea typeface="Calibri"/>
              <a:cs typeface="Calibri"/>
              <a:sym typeface="Calibri"/>
            </a:endParaRPr>
          </a:p>
        </p:txBody>
      </p:sp>
      <p:pic>
        <p:nvPicPr>
          <p:cNvPr descr="hh-web/public/images/textbook/unit-6/dday-omaha-beach-1944.jpg" id="646" name="Google Shape;646;p34"/>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647" name="Google Shape;647;p34"/>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648" name="Google Shape;648;p3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US.50 · D-Day: Normandy Invasion (June 6, 1944)</a:t>
            </a:r>
            <a:endParaRPr b="0" i="0" sz="1000" u="none" cap="none" strike="noStrike">
              <a:solidFill>
                <a:schemeClr val="dk1"/>
              </a:solidFill>
              <a:latin typeface="Calibri"/>
              <a:ea typeface="Calibri"/>
              <a:cs typeface="Calibri"/>
              <a:sym typeface="Calibri"/>
            </a:endParaRPr>
          </a:p>
        </p:txBody>
      </p:sp>
      <p:sp>
        <p:nvSpPr>
          <p:cNvPr id="649" name="Google Shape;649;p3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50" name="Google Shape;650;p3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55" name="Shape 655"/>
        <p:cNvGrpSpPr/>
        <p:nvPr/>
      </p:nvGrpSpPr>
      <p:grpSpPr>
        <a:xfrm>
          <a:off x="0" y="0"/>
          <a:ext cx="0" cy="0"/>
          <a:chOff x="0" y="0"/>
          <a:chExt cx="0" cy="0"/>
        </a:xfrm>
      </p:grpSpPr>
      <p:sp>
        <p:nvSpPr>
          <p:cNvPr id="656" name="Google Shape;656;p35"/>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5"/>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5"/>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659" name="Google Shape;659;p35"/>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US.50</a:t>
            </a:r>
            <a:endParaRPr b="0" i="0" sz="1200" u="none" cap="none" strike="noStrike">
              <a:solidFill>
                <a:schemeClr val="dk1"/>
              </a:solidFill>
              <a:latin typeface="Calibri"/>
              <a:ea typeface="Calibri"/>
              <a:cs typeface="Calibri"/>
              <a:sym typeface="Calibri"/>
            </a:endParaRPr>
          </a:p>
        </p:txBody>
      </p:sp>
      <p:sp>
        <p:nvSpPr>
          <p:cNvPr id="660" name="Google Shape;660;p35"/>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Eisenhower’s D-Day Order of the Day — identify the author, date, and purpose before you analyze the source.</a:t>
            </a:r>
            <a:endParaRPr b="0" i="0" sz="2000" u="none" cap="none" strike="noStrike">
              <a:solidFill>
                <a:schemeClr val="dk1"/>
              </a:solidFill>
              <a:latin typeface="Calibri"/>
              <a:ea typeface="Calibri"/>
              <a:cs typeface="Calibri"/>
              <a:sym typeface="Calibri"/>
            </a:endParaRPr>
          </a:p>
        </p:txBody>
      </p:sp>
      <p:sp>
        <p:nvSpPr>
          <p:cNvPr id="661" name="Google Shape;661;p35"/>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662" name="Google Shape;662;p35"/>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General Dwight D. Eisenhower</a:t>
            </a:r>
            <a:endParaRPr b="0" i="0" sz="1200" u="none" cap="none" strike="noStrike">
              <a:solidFill>
                <a:schemeClr val="dk1"/>
              </a:solidFill>
              <a:latin typeface="Calibri"/>
              <a:ea typeface="Calibri"/>
              <a:cs typeface="Calibri"/>
              <a:sym typeface="Calibri"/>
            </a:endParaRPr>
          </a:p>
        </p:txBody>
      </p:sp>
      <p:sp>
        <p:nvSpPr>
          <p:cNvPr id="663" name="Google Shape;663;p35"/>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664" name="Google Shape;664;p35"/>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June 6, 1944</a:t>
            </a:r>
            <a:endParaRPr b="0" i="0" sz="1200" u="none" cap="none" strike="noStrike">
              <a:solidFill>
                <a:schemeClr val="dk1"/>
              </a:solidFill>
              <a:latin typeface="Calibri"/>
              <a:ea typeface="Calibri"/>
              <a:cs typeface="Calibri"/>
              <a:sym typeface="Calibri"/>
            </a:endParaRPr>
          </a:p>
        </p:txBody>
      </p:sp>
      <p:sp>
        <p:nvSpPr>
          <p:cNvPr id="665" name="Google Shape;665;p35"/>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666" name="Google Shape;666;p35"/>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667" name="Google Shape;667;p35"/>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5"/>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Order of the Day - D-Day</a:t>
            </a:r>
            <a:endParaRPr b="0" i="0" sz="1400" u="none" cap="none" strike="noStrike">
              <a:solidFill>
                <a:schemeClr val="dk1"/>
              </a:solidFill>
              <a:latin typeface="Calibri"/>
              <a:ea typeface="Calibri"/>
              <a:cs typeface="Calibri"/>
              <a:sym typeface="Calibri"/>
            </a:endParaRPr>
          </a:p>
        </p:txBody>
      </p:sp>
      <p:sp>
        <p:nvSpPr>
          <p:cNvPr id="669" name="Google Shape;669;p35"/>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General Dwight D. Eisenhower · June 6, 1944</a:t>
            </a:r>
            <a:endParaRPr b="0" i="0" sz="900" u="none" cap="none" strike="noStrike">
              <a:solidFill>
                <a:schemeClr val="dk1"/>
              </a:solidFill>
              <a:latin typeface="Calibri"/>
              <a:ea typeface="Calibri"/>
              <a:cs typeface="Calibri"/>
              <a:sym typeface="Calibri"/>
            </a:endParaRPr>
          </a:p>
        </p:txBody>
      </p:sp>
      <p:sp>
        <p:nvSpPr>
          <p:cNvPr id="670" name="Google Shape;670;p35"/>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"Soldiers, Sailors, and Airmen of the Allied Expeditionary Force! You are about to embark upon the Great Crusade, toward which we have striven these many months. The eyes of the world are upon you. The hope and prayers of liberty-loving people everywhere march with you... The tide has turned! The free men of the world are marching together to Victory!"</a:t>
            </a:r>
            <a:endParaRPr b="0" i="0" sz="1100" u="none" cap="none" strike="noStrike">
              <a:solidFill>
                <a:schemeClr val="dk1"/>
              </a:solidFill>
              <a:latin typeface="Calibri"/>
              <a:ea typeface="Calibri"/>
              <a:cs typeface="Calibri"/>
              <a:sym typeface="Calibri"/>
            </a:endParaRPr>
          </a:p>
        </p:txBody>
      </p:sp>
      <p:sp>
        <p:nvSpPr>
          <p:cNvPr id="671" name="Google Shape;671;p35">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672" name="Google Shape;672;p3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73" name="Google Shape;673;p3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678" name="Shape 678"/>
        <p:cNvGrpSpPr/>
        <p:nvPr/>
      </p:nvGrpSpPr>
      <p:grpSpPr>
        <a:xfrm>
          <a:off x="0" y="0"/>
          <a:ext cx="0" cy="0"/>
          <a:chOff x="0" y="0"/>
          <a:chExt cx="0" cy="0"/>
        </a:xfrm>
      </p:grpSpPr>
      <p:sp>
        <p:nvSpPr>
          <p:cNvPr id="679" name="Google Shape;679;p36"/>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680" name="Google Shape;680;p36"/>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US.50</a:t>
            </a:r>
            <a:endParaRPr b="0" i="0" sz="1200" u="none" cap="none" strike="noStrike">
              <a:solidFill>
                <a:schemeClr val="dk1"/>
              </a:solidFill>
              <a:latin typeface="Calibri"/>
              <a:ea typeface="Calibri"/>
              <a:cs typeface="Calibri"/>
              <a:sym typeface="Calibri"/>
            </a:endParaRPr>
          </a:p>
        </p:txBody>
      </p:sp>
      <p:sp>
        <p:nvSpPr>
          <p:cNvPr id="681" name="Google Shape;681;p36"/>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682" name="Google Shape;682;p36"/>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6"/>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6"/>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685" name="Google Shape;685;p36"/>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686" name="Google Shape;686;p36"/>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US.50:</a:t>
            </a:r>
            <a:endParaRPr b="0" i="0" sz="1000" u="none" cap="none" strike="noStrike">
              <a:solidFill>
                <a:schemeClr val="dk1"/>
              </a:solidFill>
              <a:latin typeface="Calibri"/>
              <a:ea typeface="Calibri"/>
              <a:cs typeface="Calibri"/>
              <a:sym typeface="Calibri"/>
            </a:endParaRPr>
          </a:p>
        </p:txBody>
      </p:sp>
      <p:sp>
        <p:nvSpPr>
          <p:cNvPr id="687" name="Google Shape;687;p36"/>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Allied cause and liberated peoples of Europe and the Pacific, as each victory brought the defeat of the Axis closer.</a:t>
            </a:r>
            <a:endParaRPr b="0" i="0" sz="1200" u="none" cap="none" strike="noStrike">
              <a:solidFill>
                <a:schemeClr val="dk1"/>
              </a:solidFill>
              <a:latin typeface="Calibri"/>
              <a:ea typeface="Calibri"/>
              <a:cs typeface="Calibri"/>
              <a:sym typeface="Calibri"/>
            </a:endParaRPr>
          </a:p>
        </p:txBody>
      </p:sp>
      <p:sp>
        <p:nvSpPr>
          <p:cNvPr id="688" name="Google Shape;688;p36"/>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6"/>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36"/>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691" name="Google Shape;691;p36"/>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692" name="Google Shape;692;p36"/>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US.50:</a:t>
            </a:r>
            <a:endParaRPr b="0" i="0" sz="1000" u="none" cap="none" strike="noStrike">
              <a:solidFill>
                <a:schemeClr val="dk1"/>
              </a:solidFill>
              <a:latin typeface="Calibri"/>
              <a:ea typeface="Calibri"/>
              <a:cs typeface="Calibri"/>
              <a:sym typeface="Calibri"/>
            </a:endParaRPr>
          </a:p>
        </p:txBody>
      </p:sp>
      <p:sp>
        <p:nvSpPr>
          <p:cNvPr id="693" name="Google Shape;693;p36"/>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soldiers killed and wounded storming beaches and islands, and civilians caught in some of the deadliest battles of the war.</a:t>
            </a:r>
            <a:endParaRPr b="0" i="0" sz="1200" u="none" cap="none" strike="noStrike">
              <a:solidFill>
                <a:schemeClr val="dk1"/>
              </a:solidFill>
              <a:latin typeface="Calibri"/>
              <a:ea typeface="Calibri"/>
              <a:cs typeface="Calibri"/>
              <a:sym typeface="Calibri"/>
            </a:endParaRPr>
          </a:p>
        </p:txBody>
      </p:sp>
      <p:sp>
        <p:nvSpPr>
          <p:cNvPr id="694" name="Google Shape;694;p36"/>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6"/>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6"/>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697" name="Google Shape;697;p36"/>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698" name="Google Shape;698;p36"/>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US.50:</a:t>
            </a:r>
            <a:endParaRPr b="0" i="0" sz="1000" u="none" cap="none" strike="noStrike">
              <a:solidFill>
                <a:schemeClr val="dk1"/>
              </a:solidFill>
              <a:latin typeface="Calibri"/>
              <a:ea typeface="Calibri"/>
              <a:cs typeface="Calibri"/>
              <a:sym typeface="Calibri"/>
            </a:endParaRPr>
          </a:p>
        </p:txBody>
      </p:sp>
      <p:sp>
        <p:nvSpPr>
          <p:cNvPr id="699" name="Google Shape;699;p36"/>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Allied commanders like Eisenhower and Nimitz, who chose where and when to strike based on geographic and strategic advantage.</a:t>
            </a:r>
            <a:endParaRPr b="0" i="0" sz="1200" u="none" cap="none" strike="noStrike">
              <a:solidFill>
                <a:schemeClr val="dk1"/>
              </a:solidFill>
              <a:latin typeface="Calibri"/>
              <a:ea typeface="Calibri"/>
              <a:cs typeface="Calibri"/>
              <a:sym typeface="Calibri"/>
            </a:endParaRPr>
          </a:p>
        </p:txBody>
      </p:sp>
      <p:sp>
        <p:nvSpPr>
          <p:cNvPr id="700" name="Google Shape;700;p36"/>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Order of the Day - D-Day, General Dwight D. Eisenhower, June 6, 1944 (National Archives)</a:t>
            </a:r>
            <a:endParaRPr b="0" i="0" sz="1000" u="none" cap="none" strike="noStrike">
              <a:solidFill>
                <a:schemeClr val="dk1"/>
              </a:solidFill>
              <a:latin typeface="Calibri"/>
              <a:ea typeface="Calibri"/>
              <a:cs typeface="Calibri"/>
              <a:sym typeface="Calibri"/>
            </a:endParaRPr>
          </a:p>
        </p:txBody>
      </p:sp>
      <p:sp>
        <p:nvSpPr>
          <p:cNvPr id="701" name="Google Shape;701;p3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02" name="Google Shape;702;p3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36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D-Day (Normandy Invasion)</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Día D (Invasión de Normandía)</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June 6, 1944 Allied invasion of Nazi-occupied France across the beaches of Normandy, the largest amphibious assault in history, turning point of the war in Europe.</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Battle of Midway</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Batalla de Midway</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June 1942 decisive U.S. naval victory that stopped Japanese expansion in the Pacific and marked the turning point of the Pacific War.</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Battle of Iwo Jima</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Batalla de Iwo Jima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February-March 1945 brutal battle for a strategic Pacific island, famous for the iconic flag-raising photograph on Mount Suribachi.</a:t>
            </a:r>
            <a:endParaRPr lang="en-US" sz="1300" dirty="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geographic features of the Pacific islands affect American military strategy in battles like Midway and Iwo Jima?</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Geography had no effect on Pacific strategy, though this interpretation lacks supporting historical evidence, although historical sources do not support this conclusion</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Midway's central location made it strategically vital, while Iwo Jima's volcanic terrain created natural fortifications requiring costly direct assault to secure airfields needed for bombing Japan</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All Pacific islands were geographically identical, which does not reflect the consensus among historians, but the historical evidence paints a more nuanced picture and does not reflect the scholarly consensus on this topic</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American forces avoided geographic challenges entirely, which does not align with the documented historical record, and this view has been largely revised by modern historical research</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707" name="Shape 707"/>
        <p:cNvGrpSpPr/>
        <p:nvPr/>
      </p:nvGrpSpPr>
      <p:grpSpPr>
        <a:xfrm>
          <a:off x="0" y="0"/>
          <a:ext cx="0" cy="0"/>
          <a:chOff x="0" y="0"/>
          <a:chExt cx="0" cy="0"/>
        </a:xfrm>
      </p:grpSpPr>
      <p:sp>
        <p:nvSpPr>
          <p:cNvPr id="708" name="Google Shape;708;p37"/>
          <p:cNvSpPr/>
          <p:nvPr/>
        </p:nvSpPr>
        <p:spPr>
          <a:xfrm>
            <a:off x="0" y="233172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7"/>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6000"/>
              <a:buFont typeface="Georgia"/>
              <a:buNone/>
            </a:pPr>
            <a:r>
              <a:rPr b="1" i="0" lang="en-US" sz="6000" u="none" cap="none" strike="noStrike">
                <a:solidFill>
                  <a:srgbClr val="C9A84C"/>
                </a:solidFill>
                <a:latin typeface="Georgia"/>
                <a:ea typeface="Georgia"/>
                <a:cs typeface="Georgia"/>
                <a:sym typeface="Georgia"/>
              </a:rPr>
              <a:t>US.51</a:t>
            </a:r>
            <a:endParaRPr b="0" i="0" sz="6000" u="none" cap="none" strike="noStrike">
              <a:solidFill>
                <a:schemeClr val="dk1"/>
              </a:solidFill>
              <a:latin typeface="Calibri"/>
              <a:ea typeface="Calibri"/>
              <a:cs typeface="Calibri"/>
              <a:sym typeface="Calibri"/>
            </a:endParaRPr>
          </a:p>
        </p:txBody>
      </p:sp>
      <p:sp>
        <p:nvSpPr>
          <p:cNvPr id="710" name="Google Shape;710;p37"/>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Special Fighting Forces in WWII</a:t>
            </a:r>
            <a:endParaRPr b="0" i="0" sz="2600" u="none" cap="none" strike="noStrike">
              <a:solidFill>
                <a:schemeClr val="dk1"/>
              </a:solidFill>
              <a:latin typeface="Calibri"/>
              <a:ea typeface="Calibri"/>
              <a:cs typeface="Calibri"/>
              <a:sym typeface="Calibri"/>
            </a:endParaRPr>
          </a:p>
        </p:txBody>
      </p:sp>
      <p:sp>
        <p:nvSpPr>
          <p:cNvPr id="711" name="Google Shape;711;p37"/>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200"/>
              <a:buFont typeface="Trebuchet MS"/>
              <a:buNone/>
            </a:pPr>
            <a:r>
              <a:rPr b="1" i="0" lang="en-US" sz="1200" u="none" cap="none" strike="noStrike">
                <a:solidFill>
                  <a:srgbClr val="C9A84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712" name="Google Shape;712;p37"/>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US.51 – Identify the roles and sacrifices of individual American soldiers, as well as the unique contributions of special fighting forces such as the Tuskegee Airmen, the 442nd Regimental Combat team, the 101st Airborne, and the Navajo Code Talkers.</a:t>
            </a:r>
            <a:endParaRPr b="0" i="0" sz="1600" u="none" cap="none" strike="noStrike">
              <a:solidFill>
                <a:schemeClr val="dk1"/>
              </a:solidFill>
              <a:latin typeface="Calibri"/>
              <a:ea typeface="Calibri"/>
              <a:cs typeface="Calibri"/>
              <a:sym typeface="Calibri"/>
            </a:endParaRPr>
          </a:p>
        </p:txBody>
      </p:sp>
      <p:sp>
        <p:nvSpPr>
          <p:cNvPr id="713" name="Google Shape;713;p37"/>
          <p:cNvSpPr/>
          <p:nvPr/>
        </p:nvSpPr>
        <p:spPr>
          <a:xfrm>
            <a:off x="457200" y="4892040"/>
            <a:ext cx="11247120" cy="123444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7"/>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715" name="Google Shape;715;p37"/>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I can identify the roles and sacrifices of individual American soldiers and the unique contributions of special fighting forces such as the Tuskegee Airmen, the 442nd Regimental Combat Team, the 101st Airborne, and the Navajo Code Talkers.</a:t>
            </a:r>
            <a:endParaRPr b="0" i="0" sz="1400" u="none" cap="none" strike="noStrike">
              <a:solidFill>
                <a:schemeClr val="dk1"/>
              </a:solidFill>
              <a:latin typeface="Calibri"/>
              <a:ea typeface="Calibri"/>
              <a:cs typeface="Calibri"/>
              <a:sym typeface="Calibri"/>
            </a:endParaRPr>
          </a:p>
        </p:txBody>
      </p:sp>
      <p:sp>
        <p:nvSpPr>
          <p:cNvPr id="716" name="Google Shape;716;p3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17" name="Google Shape;717;p3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37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22" name="Shape 722"/>
        <p:cNvGrpSpPr/>
        <p:nvPr/>
      </p:nvGrpSpPr>
      <p:grpSpPr>
        <a:xfrm>
          <a:off x="0" y="0"/>
          <a:ext cx="0" cy="0"/>
          <a:chOff x="0" y="0"/>
          <a:chExt cx="0" cy="0"/>
        </a:xfrm>
      </p:grpSpPr>
      <p:sp>
        <p:nvSpPr>
          <p:cNvPr id="723" name="Google Shape;723;p38"/>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8"/>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8"/>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726" name="Google Shape;726;p38"/>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US.51</a:t>
            </a:r>
            <a:endParaRPr b="0" i="0" sz="1200" u="none" cap="none" strike="noStrike">
              <a:solidFill>
                <a:schemeClr val="dk1"/>
              </a:solidFill>
              <a:latin typeface="Calibri"/>
              <a:ea typeface="Calibri"/>
              <a:cs typeface="Calibri"/>
              <a:sym typeface="Calibri"/>
            </a:endParaRPr>
          </a:p>
        </p:txBody>
      </p:sp>
      <p:sp>
        <p:nvSpPr>
          <p:cNvPr id="727" name="Google Shape;727;p38"/>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Segregated units proved themselves in combat — the Tuskegee Airmen, the first African American military aviators, escorted bombers with distinction, and the Japanese American 442nd became the most decorated unit of its size in U.S. history.</a:t>
            </a:r>
            <a:endParaRPr b="0" i="0" sz="2300" u="none" cap="none" strike="noStrike">
              <a:solidFill>
                <a:schemeClr val="dk1"/>
              </a:solidFill>
              <a:latin typeface="Calibri"/>
              <a:ea typeface="Calibri"/>
              <a:cs typeface="Calibri"/>
              <a:sym typeface="Calibri"/>
            </a:endParaRPr>
          </a:p>
        </p:txBody>
      </p:sp>
      <p:pic>
        <p:nvPicPr>
          <p:cNvPr descr="hh-web/public/images/textbook/unit-6/tuskegee-airmen-1945.jpg" id="728" name="Google Shape;728;p38"/>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729" name="Google Shape;729;p38"/>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730" name="Google Shape;730;p38"/>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US.51 · Tuskegee Airmen &amp; the 442nd</a:t>
            </a:r>
            <a:endParaRPr b="0" i="0" sz="1000" u="none" cap="none" strike="noStrike">
              <a:solidFill>
                <a:schemeClr val="dk1"/>
              </a:solidFill>
              <a:latin typeface="Calibri"/>
              <a:ea typeface="Calibri"/>
              <a:cs typeface="Calibri"/>
              <a:sym typeface="Calibri"/>
            </a:endParaRPr>
          </a:p>
        </p:txBody>
      </p:sp>
      <p:sp>
        <p:nvSpPr>
          <p:cNvPr id="731" name="Google Shape;731;p3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32" name="Google Shape;732;p3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37" name="Shape 737"/>
        <p:cNvGrpSpPr/>
        <p:nvPr/>
      </p:nvGrpSpPr>
      <p:grpSpPr>
        <a:xfrm>
          <a:off x="0" y="0"/>
          <a:ext cx="0" cy="0"/>
          <a:chOff x="0" y="0"/>
          <a:chExt cx="0" cy="0"/>
        </a:xfrm>
      </p:grpSpPr>
      <p:sp>
        <p:nvSpPr>
          <p:cNvPr id="738" name="Google Shape;738;p39"/>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9"/>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9"/>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741" name="Google Shape;741;p39"/>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US.51</a:t>
            </a:r>
            <a:endParaRPr b="0" i="0" sz="1200" u="none" cap="none" strike="noStrike">
              <a:solidFill>
                <a:schemeClr val="dk1"/>
              </a:solidFill>
              <a:latin typeface="Calibri"/>
              <a:ea typeface="Calibri"/>
              <a:cs typeface="Calibri"/>
              <a:sym typeface="Calibri"/>
            </a:endParaRPr>
          </a:p>
        </p:txBody>
      </p:sp>
      <p:sp>
        <p:nvSpPr>
          <p:cNvPr id="742" name="Google Shape;742;p39"/>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Specialized forces carried out decisive missions — the 101st Airborne “Screaming Eagles” parachuted into Normandy on D-Day, securing key objectives behind enemy lines to protect the invasion — a division with deep Tennessee ties at Fort Campbell.</a:t>
            </a:r>
            <a:endParaRPr b="0" i="0" sz="2300" u="none" cap="none" strike="noStrike">
              <a:solidFill>
                <a:schemeClr val="dk1"/>
              </a:solidFill>
              <a:latin typeface="Calibri"/>
              <a:ea typeface="Calibri"/>
              <a:cs typeface="Calibri"/>
              <a:sym typeface="Calibri"/>
            </a:endParaRPr>
          </a:p>
        </p:txBody>
      </p:sp>
      <p:sp>
        <p:nvSpPr>
          <p:cNvPr id="743" name="Google Shape;743;p39"/>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39"/>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39"/>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746" name="Google Shape;746;p39"/>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Specialized forces carried out decisive missions — the 101st Airborne “Screaming Eagles” parachuted into Normandy on D-Day, securing key objectives behind enemy lines to protect the invasion — a division with deep Tennessee ties at Fort Campbell.</a:t>
            </a:r>
            <a:endParaRPr b="0" i="0" sz="2200" u="none" cap="none" strike="noStrike">
              <a:solidFill>
                <a:schemeClr val="dk1"/>
              </a:solidFill>
              <a:latin typeface="Calibri"/>
              <a:ea typeface="Calibri"/>
              <a:cs typeface="Calibri"/>
              <a:sym typeface="Calibri"/>
            </a:endParaRPr>
          </a:p>
        </p:txBody>
      </p:sp>
      <p:sp>
        <p:nvSpPr>
          <p:cNvPr id="747" name="Google Shape;747;p39"/>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US.51 · 101st Airborne Division (TN)</a:t>
            </a:r>
            <a:endParaRPr b="0" i="0" sz="1000" u="none" cap="none" strike="noStrike">
              <a:solidFill>
                <a:schemeClr val="dk1"/>
              </a:solidFill>
              <a:latin typeface="Calibri"/>
              <a:ea typeface="Calibri"/>
              <a:cs typeface="Calibri"/>
              <a:sym typeface="Calibri"/>
            </a:endParaRPr>
          </a:p>
        </p:txBody>
      </p:sp>
      <p:sp>
        <p:nvSpPr>
          <p:cNvPr id="748" name="Google Shape;748;p3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49" name="Google Shape;749;p3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54" name="Shape 754"/>
        <p:cNvGrpSpPr/>
        <p:nvPr/>
      </p:nvGrpSpPr>
      <p:grpSpPr>
        <a:xfrm>
          <a:off x="0" y="0"/>
          <a:ext cx="0" cy="0"/>
          <a:chOff x="0" y="0"/>
          <a:chExt cx="0" cy="0"/>
        </a:xfrm>
      </p:grpSpPr>
      <p:sp>
        <p:nvSpPr>
          <p:cNvPr id="755" name="Google Shape;755;p40"/>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40"/>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40"/>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758" name="Google Shape;758;p40"/>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US.51</a:t>
            </a:r>
            <a:endParaRPr b="0" i="0" sz="1200" u="none" cap="none" strike="noStrike">
              <a:solidFill>
                <a:schemeClr val="dk1"/>
              </a:solidFill>
              <a:latin typeface="Calibri"/>
              <a:ea typeface="Calibri"/>
              <a:cs typeface="Calibri"/>
              <a:sym typeface="Calibri"/>
            </a:endParaRPr>
          </a:p>
        </p:txBody>
      </p:sp>
      <p:sp>
        <p:nvSpPr>
          <p:cNvPr id="759" name="Google Shape;759;p40"/>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Navajo Code Talkers created an unbreakable code — Navajo Marines used their native language to transmit secret messages the Japanese never broke, saving lives while these forces often fought two wars — one abroad and one against prejudice at home.</a:t>
            </a:r>
            <a:endParaRPr b="0" i="0" sz="2300" u="none" cap="none" strike="noStrike">
              <a:solidFill>
                <a:schemeClr val="dk1"/>
              </a:solidFill>
              <a:latin typeface="Calibri"/>
              <a:ea typeface="Calibri"/>
              <a:cs typeface="Calibri"/>
              <a:sym typeface="Calibri"/>
            </a:endParaRPr>
          </a:p>
        </p:txBody>
      </p:sp>
      <p:sp>
        <p:nvSpPr>
          <p:cNvPr id="760" name="Google Shape;760;p40"/>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40"/>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40"/>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763" name="Google Shape;763;p40"/>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Navajo Code Talkers created an unbreakable code — Navajo Marines used their native language to transmit secret messages the Japanese never broke, saving lives while these forces often fought two wars — one abroad and one against prejudice at home.</a:t>
            </a:r>
            <a:endParaRPr b="0" i="0" sz="2200" u="none" cap="none" strike="noStrike">
              <a:solidFill>
                <a:schemeClr val="dk1"/>
              </a:solidFill>
              <a:latin typeface="Calibri"/>
              <a:ea typeface="Calibri"/>
              <a:cs typeface="Calibri"/>
              <a:sym typeface="Calibri"/>
            </a:endParaRPr>
          </a:p>
        </p:txBody>
      </p:sp>
      <p:sp>
        <p:nvSpPr>
          <p:cNvPr id="764" name="Google Shape;764;p40"/>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US.51 · Navajo Code Talkers &amp; Individual Sacrifice</a:t>
            </a:r>
            <a:endParaRPr b="0" i="0" sz="1000" u="none" cap="none" strike="noStrike">
              <a:solidFill>
                <a:schemeClr val="dk1"/>
              </a:solidFill>
              <a:latin typeface="Calibri"/>
              <a:ea typeface="Calibri"/>
              <a:cs typeface="Calibri"/>
              <a:sym typeface="Calibri"/>
            </a:endParaRPr>
          </a:p>
        </p:txBody>
      </p:sp>
      <p:sp>
        <p:nvSpPr>
          <p:cNvPr id="765" name="Google Shape;765;p4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66" name="Google Shape;766;p4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71" name="Shape 771"/>
        <p:cNvGrpSpPr/>
        <p:nvPr/>
      </p:nvGrpSpPr>
      <p:grpSpPr>
        <a:xfrm>
          <a:off x="0" y="0"/>
          <a:ext cx="0" cy="0"/>
          <a:chOff x="0" y="0"/>
          <a:chExt cx="0" cy="0"/>
        </a:xfrm>
      </p:grpSpPr>
      <p:sp>
        <p:nvSpPr>
          <p:cNvPr id="772" name="Google Shape;772;p41"/>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41"/>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41"/>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775" name="Google Shape;775;p41"/>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US.51</a:t>
            </a:r>
            <a:endParaRPr b="0" i="0" sz="1200" u="none" cap="none" strike="noStrike">
              <a:solidFill>
                <a:schemeClr val="dk1"/>
              </a:solidFill>
              <a:latin typeface="Calibri"/>
              <a:ea typeface="Calibri"/>
              <a:cs typeface="Calibri"/>
              <a:sym typeface="Calibri"/>
            </a:endParaRPr>
          </a:p>
        </p:txBody>
      </p:sp>
      <p:sp>
        <p:nvSpPr>
          <p:cNvPr id="776" name="Google Shape;776;p41"/>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the Tuskegee Airmen Commendation — consider who issued it and why before you weigh its words.</a:t>
            </a:r>
            <a:endParaRPr b="0" i="0" sz="2000" u="none" cap="none" strike="noStrike">
              <a:solidFill>
                <a:schemeClr val="dk1"/>
              </a:solidFill>
              <a:latin typeface="Calibri"/>
              <a:ea typeface="Calibri"/>
              <a:cs typeface="Calibri"/>
              <a:sym typeface="Calibri"/>
            </a:endParaRPr>
          </a:p>
        </p:txBody>
      </p:sp>
      <p:sp>
        <p:nvSpPr>
          <p:cNvPr id="777" name="Google Shape;777;p41"/>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778" name="Google Shape;778;p41"/>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U.S. Army Air Forces</a:t>
            </a:r>
            <a:endParaRPr b="0" i="0" sz="1200" u="none" cap="none" strike="noStrike">
              <a:solidFill>
                <a:schemeClr val="dk1"/>
              </a:solidFill>
              <a:latin typeface="Calibri"/>
              <a:ea typeface="Calibri"/>
              <a:cs typeface="Calibri"/>
              <a:sym typeface="Calibri"/>
            </a:endParaRPr>
          </a:p>
        </p:txBody>
      </p:sp>
      <p:sp>
        <p:nvSpPr>
          <p:cNvPr id="779" name="Google Shape;779;p41"/>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780" name="Google Shape;780;p41"/>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1945</a:t>
            </a:r>
            <a:endParaRPr b="0" i="0" sz="1200" u="none" cap="none" strike="noStrike">
              <a:solidFill>
                <a:schemeClr val="dk1"/>
              </a:solidFill>
              <a:latin typeface="Calibri"/>
              <a:ea typeface="Calibri"/>
              <a:cs typeface="Calibri"/>
              <a:sym typeface="Calibri"/>
            </a:endParaRPr>
          </a:p>
        </p:txBody>
      </p:sp>
      <p:sp>
        <p:nvSpPr>
          <p:cNvPr id="781" name="Google Shape;781;p41"/>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782" name="Google Shape;782;p41"/>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783" name="Google Shape;783;p41"/>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41"/>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Tuskegee Airmen Commendation</a:t>
            </a:r>
            <a:endParaRPr b="0" i="0" sz="1400" u="none" cap="none" strike="noStrike">
              <a:solidFill>
                <a:schemeClr val="dk1"/>
              </a:solidFill>
              <a:latin typeface="Calibri"/>
              <a:ea typeface="Calibri"/>
              <a:cs typeface="Calibri"/>
              <a:sym typeface="Calibri"/>
            </a:endParaRPr>
          </a:p>
        </p:txBody>
      </p:sp>
      <p:sp>
        <p:nvSpPr>
          <p:cNvPr id="785" name="Google Shape;785;p41"/>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U.S. Army Air Forces · 1945</a:t>
            </a:r>
            <a:endParaRPr b="0" i="0" sz="900" u="none" cap="none" strike="noStrike">
              <a:solidFill>
                <a:schemeClr val="dk1"/>
              </a:solidFill>
              <a:latin typeface="Calibri"/>
              <a:ea typeface="Calibri"/>
              <a:cs typeface="Calibri"/>
              <a:sym typeface="Calibri"/>
            </a:endParaRPr>
          </a:p>
        </p:txBody>
      </p:sp>
      <p:sp>
        <p:nvSpPr>
          <p:cNvPr id="786" name="Google Shape;786;p41"/>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332nd Fighter Group has established an outstanding record by continuously outstanding performance of duty... Your formation has not lost a single bomber to enemy fighters. The determination, technique, and courage shown by your group in engaging enemy aircraft has been outstanding."</a:t>
            </a:r>
            <a:endParaRPr b="0" i="0" sz="1100" u="none" cap="none" strike="noStrike">
              <a:solidFill>
                <a:schemeClr val="dk1"/>
              </a:solidFill>
              <a:latin typeface="Calibri"/>
              <a:ea typeface="Calibri"/>
              <a:cs typeface="Calibri"/>
              <a:sym typeface="Calibri"/>
            </a:endParaRPr>
          </a:p>
        </p:txBody>
      </p:sp>
      <p:sp>
        <p:nvSpPr>
          <p:cNvPr id="787" name="Google Shape;787;p41">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788" name="Google Shape;788;p4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89" name="Google Shape;789;p4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794" name="Shape 794"/>
        <p:cNvGrpSpPr/>
        <p:nvPr/>
      </p:nvGrpSpPr>
      <p:grpSpPr>
        <a:xfrm>
          <a:off x="0" y="0"/>
          <a:ext cx="0" cy="0"/>
          <a:chOff x="0" y="0"/>
          <a:chExt cx="0" cy="0"/>
        </a:xfrm>
      </p:grpSpPr>
      <p:sp>
        <p:nvSpPr>
          <p:cNvPr id="795" name="Google Shape;795;p42"/>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796" name="Google Shape;796;p42"/>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US.51</a:t>
            </a:r>
            <a:endParaRPr b="0" i="0" sz="1200" u="none" cap="none" strike="noStrike">
              <a:solidFill>
                <a:schemeClr val="dk1"/>
              </a:solidFill>
              <a:latin typeface="Calibri"/>
              <a:ea typeface="Calibri"/>
              <a:cs typeface="Calibri"/>
              <a:sym typeface="Calibri"/>
            </a:endParaRPr>
          </a:p>
        </p:txBody>
      </p:sp>
      <p:sp>
        <p:nvSpPr>
          <p:cNvPr id="797" name="Google Shape;797;p42"/>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798" name="Google Shape;798;p42"/>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42"/>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42"/>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801" name="Google Shape;801;p42"/>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802" name="Google Shape;802;p42"/>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US.51:</a:t>
            </a:r>
            <a:endParaRPr b="0" i="0" sz="1000" u="none" cap="none" strike="noStrike">
              <a:solidFill>
                <a:schemeClr val="dk1"/>
              </a:solidFill>
              <a:latin typeface="Calibri"/>
              <a:ea typeface="Calibri"/>
              <a:cs typeface="Calibri"/>
              <a:sym typeface="Calibri"/>
            </a:endParaRPr>
          </a:p>
        </p:txBody>
      </p:sp>
      <p:sp>
        <p:nvSpPr>
          <p:cNvPr id="803" name="Google Shape;803;p42"/>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Allied war effort, strengthened by these forces’ skill, and the later civil-rights cause, which drew on their proven service and sacrifice.</a:t>
            </a:r>
            <a:endParaRPr b="0" i="0" sz="1200" u="none" cap="none" strike="noStrike">
              <a:solidFill>
                <a:schemeClr val="dk1"/>
              </a:solidFill>
              <a:latin typeface="Calibri"/>
              <a:ea typeface="Calibri"/>
              <a:cs typeface="Calibri"/>
              <a:sym typeface="Calibri"/>
            </a:endParaRPr>
          </a:p>
        </p:txBody>
      </p:sp>
      <p:sp>
        <p:nvSpPr>
          <p:cNvPr id="804" name="Google Shape;804;p42"/>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42"/>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42"/>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807" name="Google Shape;807;p42"/>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808" name="Google Shape;808;p42"/>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US.51:</a:t>
            </a:r>
            <a:endParaRPr b="0" i="0" sz="1000" u="none" cap="none" strike="noStrike">
              <a:solidFill>
                <a:schemeClr val="dk1"/>
              </a:solidFill>
              <a:latin typeface="Calibri"/>
              <a:ea typeface="Calibri"/>
              <a:cs typeface="Calibri"/>
              <a:sym typeface="Calibri"/>
            </a:endParaRPr>
          </a:p>
        </p:txBody>
      </p:sp>
      <p:sp>
        <p:nvSpPr>
          <p:cNvPr id="809" name="Google Shape;809;p42"/>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Soldiers of color who fought and died while facing discrimination, and Japanese American troops whose families were interned at home.</a:t>
            </a:r>
            <a:endParaRPr b="0" i="0" sz="1200" u="none" cap="none" strike="noStrike">
              <a:solidFill>
                <a:schemeClr val="dk1"/>
              </a:solidFill>
              <a:latin typeface="Calibri"/>
              <a:ea typeface="Calibri"/>
              <a:cs typeface="Calibri"/>
              <a:sym typeface="Calibri"/>
            </a:endParaRPr>
          </a:p>
        </p:txBody>
      </p:sp>
      <p:sp>
        <p:nvSpPr>
          <p:cNvPr id="810" name="Google Shape;810;p42"/>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42"/>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42"/>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813" name="Google Shape;813;p42"/>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814" name="Google Shape;814;p42"/>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US.51:</a:t>
            </a:r>
            <a:endParaRPr b="0" i="0" sz="1000" u="none" cap="none" strike="noStrike">
              <a:solidFill>
                <a:schemeClr val="dk1"/>
              </a:solidFill>
              <a:latin typeface="Calibri"/>
              <a:ea typeface="Calibri"/>
              <a:cs typeface="Calibri"/>
              <a:sym typeface="Calibri"/>
            </a:endParaRPr>
          </a:p>
        </p:txBody>
      </p:sp>
      <p:sp>
        <p:nvSpPr>
          <p:cNvPr id="815" name="Google Shape;815;p42"/>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War Department and military commanders who deployed these units, and the soldiers themselves who volunteered despite injustice.</a:t>
            </a:r>
            <a:endParaRPr b="0" i="0" sz="1200" u="none" cap="none" strike="noStrike">
              <a:solidFill>
                <a:schemeClr val="dk1"/>
              </a:solidFill>
              <a:latin typeface="Calibri"/>
              <a:ea typeface="Calibri"/>
              <a:cs typeface="Calibri"/>
              <a:sym typeface="Calibri"/>
            </a:endParaRPr>
          </a:p>
        </p:txBody>
      </p:sp>
      <p:sp>
        <p:nvSpPr>
          <p:cNvPr id="816" name="Google Shape;816;p42"/>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Tuskegee Airmen Commendation, U.S. Army Air Forces, 1945 (National Archives)</a:t>
            </a:r>
            <a:endParaRPr b="0" i="0" sz="1000" u="none" cap="none" strike="noStrike">
              <a:solidFill>
                <a:schemeClr val="dk1"/>
              </a:solidFill>
              <a:latin typeface="Calibri"/>
              <a:ea typeface="Calibri"/>
              <a:cs typeface="Calibri"/>
              <a:sym typeface="Calibri"/>
            </a:endParaRPr>
          </a:p>
        </p:txBody>
      </p:sp>
      <p:sp>
        <p:nvSpPr>
          <p:cNvPr id="817" name="Google Shape;817;p4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18" name="Google Shape;818;p4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42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Tuskegee Airmen</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Aviadores de Tuskegee</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First African American military pilots who fought in World War II, proving their skill despite facing racial discrimination and segregation.</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442nd Regimental Combat Team</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442º Equipo de Combate Regimental</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All Japanese-American unit that became the most decorated unit in U.S. military history, fighting in Europe while their families were interned at home.</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Navajo Code Talkers</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Descifradores de Código Navajo</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Navajo Marines who used their native language to create an unbreakable code for military communications in the Pacific theater.</a:t>
            </a:r>
            <a:endParaRPr lang="en-US" sz="1300" dirty="0"/>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15</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Why is the service of the 442nd Regimental Combat Team particularly significant given the internment of Japanese Americans?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Their service had no connection to internment policies, but the historical record tells a more complex story, and this view has been largely revised by modern historical research</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442nd was composed of non-Japanese American soldiers, but this fails to account for the broader historical context, but the historical evidence paints a more nuanced picture</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Japanese American soldiers volunteered to fight for a country that imprisoned their families, becoming the most decorated unit of their size while proving their loyalty despite profound injustice</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They served only in the Pacific theater, but this fails to account for the broader historical context and does not reflect the scholarly consensus on this topic, which contradicts the primary source evidence from this era</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823" name="Shape 823"/>
        <p:cNvGrpSpPr/>
        <p:nvPr/>
      </p:nvGrpSpPr>
      <p:grpSpPr>
        <a:xfrm>
          <a:off x="0" y="0"/>
          <a:ext cx="0" cy="0"/>
          <a:chOff x="0" y="0"/>
          <a:chExt cx="0" cy="0"/>
        </a:xfrm>
      </p:grpSpPr>
      <p:sp>
        <p:nvSpPr>
          <p:cNvPr id="824" name="Google Shape;824;p43"/>
          <p:cNvSpPr/>
          <p:nvPr/>
        </p:nvSpPr>
        <p:spPr>
          <a:xfrm>
            <a:off x="0" y="233172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43"/>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6000"/>
              <a:buFont typeface="Georgia"/>
              <a:buNone/>
            </a:pPr>
            <a:r>
              <a:rPr b="1" i="0" lang="en-US" sz="6000" u="none" cap="none" strike="noStrike">
                <a:solidFill>
                  <a:srgbClr val="C9A84C"/>
                </a:solidFill>
                <a:latin typeface="Georgia"/>
                <a:ea typeface="Georgia"/>
                <a:cs typeface="Georgia"/>
                <a:sym typeface="Georgia"/>
              </a:rPr>
              <a:t>US.52</a:t>
            </a:r>
            <a:endParaRPr b="0" i="0" sz="6000" u="none" cap="none" strike="noStrike">
              <a:solidFill>
                <a:schemeClr val="dk1"/>
              </a:solidFill>
              <a:latin typeface="Calibri"/>
              <a:ea typeface="Calibri"/>
              <a:cs typeface="Calibri"/>
              <a:sym typeface="Calibri"/>
            </a:endParaRPr>
          </a:p>
        </p:txBody>
      </p:sp>
      <p:sp>
        <p:nvSpPr>
          <p:cNvPr id="826" name="Google Shape;826;p43"/>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Women in World War II</a:t>
            </a:r>
            <a:endParaRPr b="0" i="0" sz="2600" u="none" cap="none" strike="noStrike">
              <a:solidFill>
                <a:schemeClr val="dk1"/>
              </a:solidFill>
              <a:latin typeface="Calibri"/>
              <a:ea typeface="Calibri"/>
              <a:cs typeface="Calibri"/>
              <a:sym typeface="Calibri"/>
            </a:endParaRPr>
          </a:p>
        </p:txBody>
      </p:sp>
      <p:sp>
        <p:nvSpPr>
          <p:cNvPr id="827" name="Google Shape;827;p43"/>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200"/>
              <a:buFont typeface="Trebuchet MS"/>
              <a:buNone/>
            </a:pPr>
            <a:r>
              <a:rPr b="1" i="0" lang="en-US" sz="1200" u="none" cap="none" strike="noStrike">
                <a:solidFill>
                  <a:srgbClr val="C9A84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828" name="Google Shape;828;p43"/>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US.52 – Examine and explain the entry of large numbers of women into the workforce and armed forces during World War II and the subsequent impact on American society.</a:t>
            </a:r>
            <a:endParaRPr b="0" i="0" sz="1600" u="none" cap="none" strike="noStrike">
              <a:solidFill>
                <a:schemeClr val="dk1"/>
              </a:solidFill>
              <a:latin typeface="Calibri"/>
              <a:ea typeface="Calibri"/>
              <a:cs typeface="Calibri"/>
              <a:sym typeface="Calibri"/>
            </a:endParaRPr>
          </a:p>
        </p:txBody>
      </p:sp>
      <p:sp>
        <p:nvSpPr>
          <p:cNvPr id="829" name="Google Shape;829;p43"/>
          <p:cNvSpPr/>
          <p:nvPr/>
        </p:nvSpPr>
        <p:spPr>
          <a:xfrm>
            <a:off x="457200" y="4892040"/>
            <a:ext cx="11247120" cy="123444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43"/>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831" name="Google Shape;831;p43"/>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I can examine and explain the entry of large numbers of women into the workforce and armed forces during World War II and the subsequent impact on American society.</a:t>
            </a:r>
            <a:endParaRPr b="0" i="0" sz="1400" u="none" cap="none" strike="noStrike">
              <a:solidFill>
                <a:schemeClr val="dk1"/>
              </a:solidFill>
              <a:latin typeface="Calibri"/>
              <a:ea typeface="Calibri"/>
              <a:cs typeface="Calibri"/>
              <a:sym typeface="Calibri"/>
            </a:endParaRPr>
          </a:p>
        </p:txBody>
      </p:sp>
      <p:sp>
        <p:nvSpPr>
          <p:cNvPr id="832" name="Google Shape;832;p4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33" name="Google Shape;833;p4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43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838" name="Shape 838"/>
        <p:cNvGrpSpPr/>
        <p:nvPr/>
      </p:nvGrpSpPr>
      <p:grpSpPr>
        <a:xfrm>
          <a:off x="0" y="0"/>
          <a:ext cx="0" cy="0"/>
          <a:chOff x="0" y="0"/>
          <a:chExt cx="0" cy="0"/>
        </a:xfrm>
      </p:grpSpPr>
      <p:sp>
        <p:nvSpPr>
          <p:cNvPr id="839" name="Google Shape;839;p44"/>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44"/>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4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842" name="Google Shape;842;p44"/>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US.52</a:t>
            </a:r>
            <a:endParaRPr b="0" i="0" sz="1200" u="none" cap="none" strike="noStrike">
              <a:solidFill>
                <a:schemeClr val="dk1"/>
              </a:solidFill>
              <a:latin typeface="Calibri"/>
              <a:ea typeface="Calibri"/>
              <a:cs typeface="Calibri"/>
              <a:sym typeface="Calibri"/>
            </a:endParaRPr>
          </a:p>
        </p:txBody>
      </p:sp>
      <p:sp>
        <p:nvSpPr>
          <p:cNvPr id="843" name="Google Shape;843;p44"/>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Labor shortages drew women into war work — with 16 million men in uniform, a massive labor shortage opened defense-industry and armed-forces roles to women, embodied by the “Rosie the Riveter” image.</a:t>
            </a:r>
            <a:endParaRPr b="0" i="0" sz="2300" u="none" cap="none" strike="noStrike">
              <a:solidFill>
                <a:schemeClr val="dk1"/>
              </a:solidFill>
              <a:latin typeface="Calibri"/>
              <a:ea typeface="Calibri"/>
              <a:cs typeface="Calibri"/>
              <a:sym typeface="Calibri"/>
            </a:endParaRPr>
          </a:p>
        </p:txBody>
      </p:sp>
      <p:pic>
        <p:nvPicPr>
          <p:cNvPr descr="hh-web/public/images/textbook/unit-6/rosie-riveter-vultee-nashville-1943.jpg" id="844" name="Google Shape;844;p44"/>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845" name="Google Shape;845;p44"/>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846" name="Google Shape;846;p4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US.52 · Factors Leading to Women’s Participation</a:t>
            </a:r>
            <a:endParaRPr b="0" i="0" sz="1000" u="none" cap="none" strike="noStrike">
              <a:solidFill>
                <a:schemeClr val="dk1"/>
              </a:solidFill>
              <a:latin typeface="Calibri"/>
              <a:ea typeface="Calibri"/>
              <a:cs typeface="Calibri"/>
              <a:sym typeface="Calibri"/>
            </a:endParaRPr>
          </a:p>
        </p:txBody>
      </p:sp>
      <p:sp>
        <p:nvSpPr>
          <p:cNvPr id="847" name="Google Shape;847;p4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48" name="Google Shape;848;p4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853" name="Shape 853"/>
        <p:cNvGrpSpPr/>
        <p:nvPr/>
      </p:nvGrpSpPr>
      <p:grpSpPr>
        <a:xfrm>
          <a:off x="0" y="0"/>
          <a:ext cx="0" cy="0"/>
          <a:chOff x="0" y="0"/>
          <a:chExt cx="0" cy="0"/>
        </a:xfrm>
      </p:grpSpPr>
      <p:sp>
        <p:nvSpPr>
          <p:cNvPr id="854" name="Google Shape;854;p45"/>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45"/>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45"/>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857" name="Google Shape;857;p45"/>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US.52</a:t>
            </a:r>
            <a:endParaRPr b="0" i="0" sz="1200" u="none" cap="none" strike="noStrike">
              <a:solidFill>
                <a:schemeClr val="dk1"/>
              </a:solidFill>
              <a:latin typeface="Calibri"/>
              <a:ea typeface="Calibri"/>
              <a:cs typeface="Calibri"/>
              <a:sym typeface="Calibri"/>
            </a:endParaRPr>
          </a:p>
        </p:txBody>
      </p:sp>
      <p:sp>
        <p:nvSpPr>
          <p:cNvPr id="858" name="Google Shape;858;p45"/>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Women faced discrimination even as they built the war machine — they earned about 65% of men’s wages in dangerous conditions, yet built bombers, ships, and munitions that were essential to Allied production.</a:t>
            </a:r>
            <a:endParaRPr b="0" i="0" sz="2300" u="none" cap="none" strike="noStrike">
              <a:solidFill>
                <a:schemeClr val="dk1"/>
              </a:solidFill>
              <a:latin typeface="Calibri"/>
              <a:ea typeface="Calibri"/>
              <a:cs typeface="Calibri"/>
              <a:sym typeface="Calibri"/>
            </a:endParaRPr>
          </a:p>
        </p:txBody>
      </p:sp>
      <p:sp>
        <p:nvSpPr>
          <p:cNvPr id="859" name="Google Shape;859;p45"/>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45"/>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45"/>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862" name="Google Shape;862;p45"/>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Women faced discrimination even as they built the war machine — they earned about 65% of men’s wages in dangerous conditions, yet built bombers, ships, and munitions that were essential to Allied production.</a:t>
            </a:r>
            <a:endParaRPr b="0" i="0" sz="2200" u="none" cap="none" strike="noStrike">
              <a:solidFill>
                <a:schemeClr val="dk1"/>
              </a:solidFill>
              <a:latin typeface="Calibri"/>
              <a:ea typeface="Calibri"/>
              <a:cs typeface="Calibri"/>
              <a:sym typeface="Calibri"/>
            </a:endParaRPr>
          </a:p>
        </p:txBody>
      </p:sp>
      <p:sp>
        <p:nvSpPr>
          <p:cNvPr id="863" name="Google Shape;863;p45"/>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US.52 · Challenges, Opportunities &amp; Production</a:t>
            </a:r>
            <a:endParaRPr b="0" i="0" sz="1000" u="none" cap="none" strike="noStrike">
              <a:solidFill>
                <a:schemeClr val="dk1"/>
              </a:solidFill>
              <a:latin typeface="Calibri"/>
              <a:ea typeface="Calibri"/>
              <a:cs typeface="Calibri"/>
              <a:sym typeface="Calibri"/>
            </a:endParaRPr>
          </a:p>
        </p:txBody>
      </p:sp>
      <p:sp>
        <p:nvSpPr>
          <p:cNvPr id="864" name="Google Shape;864;p4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65" name="Google Shape;865;p4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870" name="Shape 870"/>
        <p:cNvGrpSpPr/>
        <p:nvPr/>
      </p:nvGrpSpPr>
      <p:grpSpPr>
        <a:xfrm>
          <a:off x="0" y="0"/>
          <a:ext cx="0" cy="0"/>
          <a:chOff x="0" y="0"/>
          <a:chExt cx="0" cy="0"/>
        </a:xfrm>
      </p:grpSpPr>
      <p:sp>
        <p:nvSpPr>
          <p:cNvPr id="871" name="Google Shape;871;p46"/>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46"/>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46"/>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874" name="Google Shape;874;p46"/>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US.52</a:t>
            </a:r>
            <a:endParaRPr b="0" i="0" sz="1200" u="none" cap="none" strike="noStrike">
              <a:solidFill>
                <a:schemeClr val="dk1"/>
              </a:solidFill>
              <a:latin typeface="Calibri"/>
              <a:ea typeface="Calibri"/>
              <a:cs typeface="Calibri"/>
              <a:sym typeface="Calibri"/>
            </a:endParaRPr>
          </a:p>
        </p:txBody>
      </p:sp>
      <p:sp>
        <p:nvSpPr>
          <p:cNvPr id="875" name="Google Shape;875;p46"/>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The war reshaped women’s long-term role — many were laid off for returning veterans and pushed back toward the home, but wartime work permanently changed expectations and helped lay groundwork for later movements.</a:t>
            </a:r>
            <a:endParaRPr b="0" i="0" sz="2300" u="none" cap="none" strike="noStrike">
              <a:solidFill>
                <a:schemeClr val="dk1"/>
              </a:solidFill>
              <a:latin typeface="Calibri"/>
              <a:ea typeface="Calibri"/>
              <a:cs typeface="Calibri"/>
              <a:sym typeface="Calibri"/>
            </a:endParaRPr>
          </a:p>
        </p:txBody>
      </p:sp>
      <p:sp>
        <p:nvSpPr>
          <p:cNvPr id="876" name="Google Shape;876;p46"/>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46"/>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46"/>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879" name="Google Shape;879;p46"/>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The war reshaped women’s long-term role — many were laid off for returning veterans and pushed back toward the home, but wartime work permanently changed expectations and helped lay groundwork for later movements.</a:t>
            </a:r>
            <a:endParaRPr b="0" i="0" sz="2200" u="none" cap="none" strike="noStrike">
              <a:solidFill>
                <a:schemeClr val="dk1"/>
              </a:solidFill>
              <a:latin typeface="Calibri"/>
              <a:ea typeface="Calibri"/>
              <a:cs typeface="Calibri"/>
              <a:sym typeface="Calibri"/>
            </a:endParaRPr>
          </a:p>
        </p:txBody>
      </p:sp>
      <p:sp>
        <p:nvSpPr>
          <p:cNvPr id="880" name="Google Shape;880;p46"/>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US.52 · Long-term Effects on Society</a:t>
            </a:r>
            <a:endParaRPr b="0" i="0" sz="1000" u="none" cap="none" strike="noStrike">
              <a:solidFill>
                <a:schemeClr val="dk1"/>
              </a:solidFill>
              <a:latin typeface="Calibri"/>
              <a:ea typeface="Calibri"/>
              <a:cs typeface="Calibri"/>
              <a:sym typeface="Calibri"/>
            </a:endParaRPr>
          </a:p>
        </p:txBody>
      </p:sp>
      <p:sp>
        <p:nvSpPr>
          <p:cNvPr id="881" name="Google Shape;881;p4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82" name="Google Shape;882;p4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887" name="Shape 887"/>
        <p:cNvGrpSpPr/>
        <p:nvPr/>
      </p:nvGrpSpPr>
      <p:grpSpPr>
        <a:xfrm>
          <a:off x="0" y="0"/>
          <a:ext cx="0" cy="0"/>
          <a:chOff x="0" y="0"/>
          <a:chExt cx="0" cy="0"/>
        </a:xfrm>
      </p:grpSpPr>
      <p:sp>
        <p:nvSpPr>
          <p:cNvPr id="888" name="Google Shape;888;p47"/>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47"/>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47"/>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891" name="Google Shape;891;p47"/>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US.52</a:t>
            </a:r>
            <a:endParaRPr b="0" i="0" sz="1200" u="none" cap="none" strike="noStrike">
              <a:solidFill>
                <a:schemeClr val="dk1"/>
              </a:solidFill>
              <a:latin typeface="Calibri"/>
              <a:ea typeface="Calibri"/>
              <a:cs typeface="Calibri"/>
              <a:sym typeface="Calibri"/>
            </a:endParaRPr>
          </a:p>
        </p:txBody>
      </p:sp>
      <p:sp>
        <p:nvSpPr>
          <p:cNvPr id="892" name="Google Shape;892;p47"/>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the War Production Board poster text — weigh who produced it and why before you read the message.</a:t>
            </a:r>
            <a:endParaRPr b="0" i="0" sz="2000" u="none" cap="none" strike="noStrike">
              <a:solidFill>
                <a:schemeClr val="dk1"/>
              </a:solidFill>
              <a:latin typeface="Calibri"/>
              <a:ea typeface="Calibri"/>
              <a:cs typeface="Calibri"/>
              <a:sym typeface="Calibri"/>
            </a:endParaRPr>
          </a:p>
        </p:txBody>
      </p:sp>
      <p:sp>
        <p:nvSpPr>
          <p:cNvPr id="893" name="Google Shape;893;p47"/>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894" name="Google Shape;894;p47"/>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U.S. War Production Board</a:t>
            </a:r>
            <a:endParaRPr b="0" i="0" sz="1200" u="none" cap="none" strike="noStrike">
              <a:solidFill>
                <a:schemeClr val="dk1"/>
              </a:solidFill>
              <a:latin typeface="Calibri"/>
              <a:ea typeface="Calibri"/>
              <a:cs typeface="Calibri"/>
              <a:sym typeface="Calibri"/>
            </a:endParaRPr>
          </a:p>
        </p:txBody>
      </p:sp>
      <p:sp>
        <p:nvSpPr>
          <p:cNvPr id="895" name="Google Shape;895;p47"/>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896" name="Google Shape;896;p47"/>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1943</a:t>
            </a:r>
            <a:endParaRPr b="0" i="0" sz="1200" u="none" cap="none" strike="noStrike">
              <a:solidFill>
                <a:schemeClr val="dk1"/>
              </a:solidFill>
              <a:latin typeface="Calibri"/>
              <a:ea typeface="Calibri"/>
              <a:cs typeface="Calibri"/>
              <a:sym typeface="Calibri"/>
            </a:endParaRPr>
          </a:p>
        </p:txBody>
      </p:sp>
      <p:sp>
        <p:nvSpPr>
          <p:cNvPr id="897" name="Google Shape;897;p47"/>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898" name="Google Shape;898;p47"/>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899" name="Google Shape;899;p47"/>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47"/>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War Production Board Poster Text</a:t>
            </a:r>
            <a:endParaRPr b="0" i="0" sz="1400" u="none" cap="none" strike="noStrike">
              <a:solidFill>
                <a:schemeClr val="dk1"/>
              </a:solidFill>
              <a:latin typeface="Calibri"/>
              <a:ea typeface="Calibri"/>
              <a:cs typeface="Calibri"/>
              <a:sym typeface="Calibri"/>
            </a:endParaRPr>
          </a:p>
        </p:txBody>
      </p:sp>
      <p:sp>
        <p:nvSpPr>
          <p:cNvPr id="901" name="Google Shape;901;p47"/>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U.S. War Production Board · 1943</a:t>
            </a:r>
            <a:endParaRPr b="0" i="0" sz="900" u="none" cap="none" strike="noStrike">
              <a:solidFill>
                <a:schemeClr val="dk1"/>
              </a:solidFill>
              <a:latin typeface="Calibri"/>
              <a:ea typeface="Calibri"/>
              <a:cs typeface="Calibri"/>
              <a:sym typeface="Calibri"/>
            </a:endParaRPr>
          </a:p>
        </p:txBody>
      </p:sp>
      <p:sp>
        <p:nvSpPr>
          <p:cNvPr id="902" name="Google Shape;902;p47"/>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"Do the job HE left behind. Women workers are needed in aircraft plants, shipyards, and munitions factories. Apply at your nearest U.S. Employment Service office. Every woman who takes a war job brings Victory closer. The more women at work—the sooner we win!"</a:t>
            </a:r>
            <a:endParaRPr b="0" i="0" sz="1100" u="none" cap="none" strike="noStrike">
              <a:solidFill>
                <a:schemeClr val="dk1"/>
              </a:solidFill>
              <a:latin typeface="Calibri"/>
              <a:ea typeface="Calibri"/>
              <a:cs typeface="Calibri"/>
              <a:sym typeface="Calibri"/>
            </a:endParaRPr>
          </a:p>
        </p:txBody>
      </p:sp>
      <p:sp>
        <p:nvSpPr>
          <p:cNvPr id="903" name="Google Shape;903;p47">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Library of Congress</a:t>
            </a:r>
            <a:endParaRPr b="0" i="0" sz="900" u="none" cap="none" strike="noStrike">
              <a:solidFill>
                <a:schemeClr val="dk1"/>
              </a:solidFill>
              <a:latin typeface="Calibri"/>
              <a:ea typeface="Calibri"/>
              <a:cs typeface="Calibri"/>
              <a:sym typeface="Calibri"/>
            </a:endParaRPr>
          </a:p>
        </p:txBody>
      </p:sp>
      <p:sp>
        <p:nvSpPr>
          <p:cNvPr id="904" name="Google Shape;904;p4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05" name="Google Shape;905;p4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910" name="Shape 910"/>
        <p:cNvGrpSpPr/>
        <p:nvPr/>
      </p:nvGrpSpPr>
      <p:grpSpPr>
        <a:xfrm>
          <a:off x="0" y="0"/>
          <a:ext cx="0" cy="0"/>
          <a:chOff x="0" y="0"/>
          <a:chExt cx="0" cy="0"/>
        </a:xfrm>
      </p:grpSpPr>
      <p:sp>
        <p:nvSpPr>
          <p:cNvPr id="911" name="Google Shape;911;p48"/>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912" name="Google Shape;912;p48"/>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US.52</a:t>
            </a:r>
            <a:endParaRPr b="0" i="0" sz="1200" u="none" cap="none" strike="noStrike">
              <a:solidFill>
                <a:schemeClr val="dk1"/>
              </a:solidFill>
              <a:latin typeface="Calibri"/>
              <a:ea typeface="Calibri"/>
              <a:cs typeface="Calibri"/>
              <a:sym typeface="Calibri"/>
            </a:endParaRPr>
          </a:p>
        </p:txBody>
      </p:sp>
      <p:sp>
        <p:nvSpPr>
          <p:cNvPr id="913" name="Google Shape;913;p48"/>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914" name="Google Shape;914;p48"/>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48"/>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48"/>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917" name="Google Shape;917;p48"/>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918" name="Google Shape;918;p48"/>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US.52:</a:t>
            </a:r>
            <a:endParaRPr b="0" i="0" sz="1000" u="none" cap="none" strike="noStrike">
              <a:solidFill>
                <a:schemeClr val="dk1"/>
              </a:solidFill>
              <a:latin typeface="Calibri"/>
              <a:ea typeface="Calibri"/>
              <a:cs typeface="Calibri"/>
              <a:sym typeface="Calibri"/>
            </a:endParaRPr>
          </a:p>
        </p:txBody>
      </p:sp>
      <p:sp>
        <p:nvSpPr>
          <p:cNvPr id="919" name="Google Shape;919;p48"/>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war economy, powered by women’s labor, and women who gained new skills, wages, and a lasting sense of capability.</a:t>
            </a:r>
            <a:endParaRPr b="0" i="0" sz="1200" u="none" cap="none" strike="noStrike">
              <a:solidFill>
                <a:schemeClr val="dk1"/>
              </a:solidFill>
              <a:latin typeface="Calibri"/>
              <a:ea typeface="Calibri"/>
              <a:cs typeface="Calibri"/>
              <a:sym typeface="Calibri"/>
            </a:endParaRPr>
          </a:p>
        </p:txBody>
      </p:sp>
      <p:sp>
        <p:nvSpPr>
          <p:cNvPr id="920" name="Google Shape;920;p48"/>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48"/>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48"/>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923" name="Google Shape;923;p48"/>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924" name="Google Shape;924;p48"/>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US.52:</a:t>
            </a:r>
            <a:endParaRPr b="0" i="0" sz="1000" u="none" cap="none" strike="noStrike">
              <a:solidFill>
                <a:schemeClr val="dk1"/>
              </a:solidFill>
              <a:latin typeface="Calibri"/>
              <a:ea typeface="Calibri"/>
              <a:cs typeface="Calibri"/>
              <a:sym typeface="Calibri"/>
            </a:endParaRPr>
          </a:p>
        </p:txBody>
      </p:sp>
      <p:sp>
        <p:nvSpPr>
          <p:cNvPr id="925" name="Google Shape;925;p48"/>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Women paid less than men in hazardous jobs, then laid off after the war, and those pressured to abandon the workforce for returning veterans.</a:t>
            </a:r>
            <a:endParaRPr b="0" i="0" sz="1200" u="none" cap="none" strike="noStrike">
              <a:solidFill>
                <a:schemeClr val="dk1"/>
              </a:solidFill>
              <a:latin typeface="Calibri"/>
              <a:ea typeface="Calibri"/>
              <a:cs typeface="Calibri"/>
              <a:sym typeface="Calibri"/>
            </a:endParaRPr>
          </a:p>
        </p:txBody>
      </p:sp>
      <p:sp>
        <p:nvSpPr>
          <p:cNvPr id="926" name="Google Shape;926;p48"/>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48"/>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48"/>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929" name="Google Shape;929;p48"/>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930" name="Google Shape;930;p48"/>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US.52:</a:t>
            </a:r>
            <a:endParaRPr b="0" i="0" sz="1000" u="none" cap="none" strike="noStrike">
              <a:solidFill>
                <a:schemeClr val="dk1"/>
              </a:solidFill>
              <a:latin typeface="Calibri"/>
              <a:ea typeface="Calibri"/>
              <a:cs typeface="Calibri"/>
              <a:sym typeface="Calibri"/>
            </a:endParaRPr>
          </a:p>
        </p:txBody>
      </p:sp>
      <p:sp>
        <p:nvSpPr>
          <p:cNvPr id="931" name="Google Shape;931;p48"/>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Government and industry that recruited women for the duration, then employers and social pressure that pushed them out at war’s end.</a:t>
            </a:r>
            <a:endParaRPr b="0" i="0" sz="1200" u="none" cap="none" strike="noStrike">
              <a:solidFill>
                <a:schemeClr val="dk1"/>
              </a:solidFill>
              <a:latin typeface="Calibri"/>
              <a:ea typeface="Calibri"/>
              <a:cs typeface="Calibri"/>
              <a:sym typeface="Calibri"/>
            </a:endParaRPr>
          </a:p>
        </p:txBody>
      </p:sp>
      <p:sp>
        <p:nvSpPr>
          <p:cNvPr id="932" name="Google Shape;932;p48"/>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War Production Board Poster Text, U.S. War Production Board, 1943 (Library of Congress)</a:t>
            </a:r>
            <a:endParaRPr b="0" i="0" sz="1000" u="none" cap="none" strike="noStrike">
              <a:solidFill>
                <a:schemeClr val="dk1"/>
              </a:solidFill>
              <a:latin typeface="Calibri"/>
              <a:ea typeface="Calibri"/>
              <a:cs typeface="Calibri"/>
              <a:sym typeface="Calibri"/>
            </a:endParaRPr>
          </a:p>
        </p:txBody>
      </p:sp>
      <p:sp>
        <p:nvSpPr>
          <p:cNvPr id="933" name="Google Shape;933;p4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34" name="Google Shape;934;p4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48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16</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Rosie the Riveter</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Rosie la Remachadora</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Cultural icon representing millions of American women who worked in factories and shipyards during World War II, filling jobs left by men who went to war.</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Tuskegee Airmen</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Aviadores de Tuskegee</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First African American military pilots who fought in World War II, proving their skill despite facing racial discrimination and segregation.</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Rationing</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Racionamiento</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Government-controlled limits on consumer goods during WWII to ensure adequate supplies for the military, requiring ration books and coupons.</a:t>
            </a:r>
            <a:endParaRPr lang="en-US" sz="1300" dirty="0"/>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17</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"Rosie the Riveter" symbolize both opportunities and challenges facing working women?</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Rosie only represented challenges women faced, despite limited evidence supporting this interpretation, which does not align with the documented historical record</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Rosie represented only wealthy women, which does not reflect the consensus among historians despite the fact that multiple contemporary sources contradict this and does not reflect the scholarly consensus on this topic</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symbol had no cultural significance, which contradicts the primary source evidence from this era, but closer analysis reveals a more complicated historical reality</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Rosie symbolized women's capability and patriotic duty while obscuring challenges like lower pay, discrimination, inadequate childcare, and expectations to maintain domestic responsibilities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939" name="Shape 939"/>
        <p:cNvGrpSpPr/>
        <p:nvPr/>
      </p:nvGrpSpPr>
      <p:grpSpPr>
        <a:xfrm>
          <a:off x="0" y="0"/>
          <a:ext cx="0" cy="0"/>
          <a:chOff x="0" y="0"/>
          <a:chExt cx="0" cy="0"/>
        </a:xfrm>
      </p:grpSpPr>
      <p:sp>
        <p:nvSpPr>
          <p:cNvPr id="940" name="Google Shape;940;p49"/>
          <p:cNvSpPr/>
          <p:nvPr/>
        </p:nvSpPr>
        <p:spPr>
          <a:xfrm>
            <a:off x="0" y="233172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49"/>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6000"/>
              <a:buFont typeface="Georgia"/>
              <a:buNone/>
            </a:pPr>
            <a:r>
              <a:rPr b="1" i="0" lang="en-US" sz="6000" u="none" cap="none" strike="noStrike">
                <a:solidFill>
                  <a:srgbClr val="C9A84C"/>
                </a:solidFill>
                <a:latin typeface="Georgia"/>
                <a:ea typeface="Georgia"/>
                <a:cs typeface="Georgia"/>
                <a:sym typeface="Georgia"/>
              </a:rPr>
              <a:t>US.53</a:t>
            </a:r>
            <a:endParaRPr b="0" i="0" sz="6000" u="none" cap="none" strike="noStrike">
              <a:solidFill>
                <a:schemeClr val="dk1"/>
              </a:solidFill>
              <a:latin typeface="Calibri"/>
              <a:ea typeface="Calibri"/>
              <a:cs typeface="Calibri"/>
              <a:sym typeface="Calibri"/>
            </a:endParaRPr>
          </a:p>
        </p:txBody>
      </p:sp>
      <p:sp>
        <p:nvSpPr>
          <p:cNvPr id="942" name="Google Shape;942;p49"/>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African Americans in WWII</a:t>
            </a:r>
            <a:endParaRPr b="0" i="0" sz="2600" u="none" cap="none" strike="noStrike">
              <a:solidFill>
                <a:schemeClr val="dk1"/>
              </a:solidFill>
              <a:latin typeface="Calibri"/>
              <a:ea typeface="Calibri"/>
              <a:cs typeface="Calibri"/>
              <a:sym typeface="Calibri"/>
            </a:endParaRPr>
          </a:p>
        </p:txBody>
      </p:sp>
      <p:sp>
        <p:nvSpPr>
          <p:cNvPr id="943" name="Google Shape;943;p49"/>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200"/>
              <a:buFont typeface="Trebuchet MS"/>
              <a:buNone/>
            </a:pPr>
            <a:r>
              <a:rPr b="1" i="0" lang="en-US" sz="1200" u="none" cap="none" strike="noStrike">
                <a:solidFill>
                  <a:srgbClr val="C9A84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944" name="Google Shape;944;p49"/>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US.53 – Examine the impact of World War II on economic and social conditions for African Americans, including the Fair Employment Practices Committee and the eventual integration of the armed forces by President Harry S. Truman. (TCA)</a:t>
            </a:r>
            <a:endParaRPr b="0" i="0" sz="1600" u="none" cap="none" strike="noStrike">
              <a:solidFill>
                <a:schemeClr val="dk1"/>
              </a:solidFill>
              <a:latin typeface="Calibri"/>
              <a:ea typeface="Calibri"/>
              <a:cs typeface="Calibri"/>
              <a:sym typeface="Calibri"/>
            </a:endParaRPr>
          </a:p>
        </p:txBody>
      </p:sp>
      <p:sp>
        <p:nvSpPr>
          <p:cNvPr id="945" name="Google Shape;945;p49"/>
          <p:cNvSpPr/>
          <p:nvPr/>
        </p:nvSpPr>
        <p:spPr>
          <a:xfrm>
            <a:off x="457200" y="4892040"/>
            <a:ext cx="11247120" cy="123444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49"/>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947" name="Google Shape;947;p49"/>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I can examine the impact of World War II on economic and social conditions for African Americans, including the Fair Employment Practices Committee and the eventual integration of the armed forces by President Truman.</a:t>
            </a:r>
            <a:endParaRPr b="0" i="0" sz="1400" u="none" cap="none" strike="noStrike">
              <a:solidFill>
                <a:schemeClr val="dk1"/>
              </a:solidFill>
              <a:latin typeface="Calibri"/>
              <a:ea typeface="Calibri"/>
              <a:cs typeface="Calibri"/>
              <a:sym typeface="Calibri"/>
            </a:endParaRPr>
          </a:p>
        </p:txBody>
      </p:sp>
      <p:sp>
        <p:nvSpPr>
          <p:cNvPr id="948" name="Google Shape;948;p4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49" name="Google Shape;949;p4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49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954" name="Shape 954"/>
        <p:cNvGrpSpPr/>
        <p:nvPr/>
      </p:nvGrpSpPr>
      <p:grpSpPr>
        <a:xfrm>
          <a:off x="0" y="0"/>
          <a:ext cx="0" cy="0"/>
          <a:chOff x="0" y="0"/>
          <a:chExt cx="0" cy="0"/>
        </a:xfrm>
      </p:grpSpPr>
      <p:sp>
        <p:nvSpPr>
          <p:cNvPr id="955" name="Google Shape;955;p50"/>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50"/>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50"/>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958" name="Google Shape;958;p50"/>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US.53</a:t>
            </a:r>
            <a:endParaRPr b="0" i="0" sz="1200" u="none" cap="none" strike="noStrike">
              <a:solidFill>
                <a:schemeClr val="dk1"/>
              </a:solidFill>
              <a:latin typeface="Calibri"/>
              <a:ea typeface="Calibri"/>
              <a:cs typeface="Calibri"/>
              <a:sym typeface="Calibri"/>
            </a:endParaRPr>
          </a:p>
        </p:txBody>
      </p:sp>
      <p:sp>
        <p:nvSpPr>
          <p:cNvPr id="959" name="Google Shape;959;p50"/>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The Second Great Migration reshaped Black America — 1.5 million African Americans moved North and West in the 1940s for defense-industry jobs, transforming cities like Detroit, Chicago, and Los Angeles.</a:t>
            </a:r>
            <a:endParaRPr b="0" i="0" sz="2300" u="none" cap="none" strike="noStrike">
              <a:solidFill>
                <a:schemeClr val="dk1"/>
              </a:solidFill>
              <a:latin typeface="Calibri"/>
              <a:ea typeface="Calibri"/>
              <a:cs typeface="Calibri"/>
              <a:sym typeface="Calibri"/>
            </a:endParaRPr>
          </a:p>
        </p:txBody>
      </p:sp>
      <p:pic>
        <p:nvPicPr>
          <p:cNvPr descr="hh-web/public/images/textbook/unit-6/north-american-aviation-integrated-workers-1942.jpg" id="960" name="Google Shape;960;p50"/>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961" name="Google Shape;961;p50"/>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962" name="Google Shape;962;p50"/>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US.53 · Second Great Migration &amp; Opportunity</a:t>
            </a:r>
            <a:endParaRPr b="0" i="0" sz="1000" u="none" cap="none" strike="noStrike">
              <a:solidFill>
                <a:schemeClr val="dk1"/>
              </a:solidFill>
              <a:latin typeface="Calibri"/>
              <a:ea typeface="Calibri"/>
              <a:cs typeface="Calibri"/>
              <a:sym typeface="Calibri"/>
            </a:endParaRPr>
          </a:p>
        </p:txBody>
      </p:sp>
      <p:sp>
        <p:nvSpPr>
          <p:cNvPr id="963" name="Google Shape;963;p5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64" name="Google Shape;964;p5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969" name="Shape 969"/>
        <p:cNvGrpSpPr/>
        <p:nvPr/>
      </p:nvGrpSpPr>
      <p:grpSpPr>
        <a:xfrm>
          <a:off x="0" y="0"/>
          <a:ext cx="0" cy="0"/>
          <a:chOff x="0" y="0"/>
          <a:chExt cx="0" cy="0"/>
        </a:xfrm>
      </p:grpSpPr>
      <p:sp>
        <p:nvSpPr>
          <p:cNvPr id="970" name="Google Shape;970;p51"/>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51"/>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51"/>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973" name="Google Shape;973;p51"/>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US.53</a:t>
            </a:r>
            <a:endParaRPr b="0" i="0" sz="1200" u="none" cap="none" strike="noStrike">
              <a:solidFill>
                <a:schemeClr val="dk1"/>
              </a:solidFill>
              <a:latin typeface="Calibri"/>
              <a:ea typeface="Calibri"/>
              <a:cs typeface="Calibri"/>
              <a:sym typeface="Calibri"/>
            </a:endParaRPr>
          </a:p>
        </p:txBody>
      </p:sp>
      <p:sp>
        <p:nvSpPr>
          <p:cNvPr id="974" name="Google Shape;974;p51"/>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The Double V campaign linked the war to civil rights — the Pittsburgh Courier’s “Double V” demanded victory against fascism abroad and racism at home, framing wartime service as a claim on full citizenship.</a:t>
            </a:r>
            <a:endParaRPr b="0" i="0" sz="2300" u="none" cap="none" strike="noStrike">
              <a:solidFill>
                <a:schemeClr val="dk1"/>
              </a:solidFill>
              <a:latin typeface="Calibri"/>
              <a:ea typeface="Calibri"/>
              <a:cs typeface="Calibri"/>
              <a:sym typeface="Calibri"/>
            </a:endParaRPr>
          </a:p>
        </p:txBody>
      </p:sp>
      <p:sp>
        <p:nvSpPr>
          <p:cNvPr id="975" name="Google Shape;975;p51"/>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51"/>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51"/>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978" name="Google Shape;978;p51"/>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The Double V campaign linked the war to civil rights — the Pittsburgh Courier’s “Double V” demanded victory against fascism abroad and racism at home, framing wartime service as a claim on full citizenship.</a:t>
            </a:r>
            <a:endParaRPr b="0" i="0" sz="2200" u="none" cap="none" strike="noStrike">
              <a:solidFill>
                <a:schemeClr val="dk1"/>
              </a:solidFill>
              <a:latin typeface="Calibri"/>
              <a:ea typeface="Calibri"/>
              <a:cs typeface="Calibri"/>
              <a:sym typeface="Calibri"/>
            </a:endParaRPr>
          </a:p>
        </p:txBody>
      </p:sp>
      <p:sp>
        <p:nvSpPr>
          <p:cNvPr id="979" name="Google Shape;979;p51"/>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US.53 · Double V Campaign</a:t>
            </a:r>
            <a:endParaRPr b="0" i="0" sz="1000" u="none" cap="none" strike="noStrike">
              <a:solidFill>
                <a:schemeClr val="dk1"/>
              </a:solidFill>
              <a:latin typeface="Calibri"/>
              <a:ea typeface="Calibri"/>
              <a:cs typeface="Calibri"/>
              <a:sym typeface="Calibri"/>
            </a:endParaRPr>
          </a:p>
        </p:txBody>
      </p:sp>
      <p:sp>
        <p:nvSpPr>
          <p:cNvPr id="980" name="Google Shape;980;p5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81" name="Google Shape;981;p5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986" name="Shape 986"/>
        <p:cNvGrpSpPr/>
        <p:nvPr/>
      </p:nvGrpSpPr>
      <p:grpSpPr>
        <a:xfrm>
          <a:off x="0" y="0"/>
          <a:ext cx="0" cy="0"/>
          <a:chOff x="0" y="0"/>
          <a:chExt cx="0" cy="0"/>
        </a:xfrm>
      </p:grpSpPr>
      <p:sp>
        <p:nvSpPr>
          <p:cNvPr id="987" name="Google Shape;987;p52"/>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52"/>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52"/>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990" name="Google Shape;990;p52"/>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US.53</a:t>
            </a:r>
            <a:endParaRPr b="0" i="0" sz="1200" u="none" cap="none" strike="noStrike">
              <a:solidFill>
                <a:schemeClr val="dk1"/>
              </a:solidFill>
              <a:latin typeface="Calibri"/>
              <a:ea typeface="Calibri"/>
              <a:cs typeface="Calibri"/>
              <a:sym typeface="Calibri"/>
            </a:endParaRPr>
          </a:p>
        </p:txBody>
      </p:sp>
      <p:sp>
        <p:nvSpPr>
          <p:cNvPr id="991" name="Google Shape;991;p52"/>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Federal pressure opened jobs, then the military — A. Philip Randolph’s threatened march won Executive Order 8802 and the FEPC banning defense-industry discrimination, and Executive Order 9981 later desegregated the armed forces.</a:t>
            </a:r>
            <a:endParaRPr b="0" i="0" sz="2300" u="none" cap="none" strike="noStrike">
              <a:solidFill>
                <a:schemeClr val="dk1"/>
              </a:solidFill>
              <a:latin typeface="Calibri"/>
              <a:ea typeface="Calibri"/>
              <a:cs typeface="Calibri"/>
              <a:sym typeface="Calibri"/>
            </a:endParaRPr>
          </a:p>
        </p:txBody>
      </p:sp>
      <p:sp>
        <p:nvSpPr>
          <p:cNvPr id="992" name="Google Shape;992;p52"/>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52"/>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52"/>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995" name="Google Shape;995;p52"/>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Federal pressure opened jobs, then the military — A. Philip Randolph’s threatened march won Executive Order 8802 and the FEPC banning defense-industry discrimination, and Executive Order 9981 later desegregated the armed forces.</a:t>
            </a:r>
            <a:endParaRPr b="0" i="0" sz="2200" u="none" cap="none" strike="noStrike">
              <a:solidFill>
                <a:schemeClr val="dk1"/>
              </a:solidFill>
              <a:latin typeface="Calibri"/>
              <a:ea typeface="Calibri"/>
              <a:cs typeface="Calibri"/>
              <a:sym typeface="Calibri"/>
            </a:endParaRPr>
          </a:p>
        </p:txBody>
      </p:sp>
      <p:sp>
        <p:nvSpPr>
          <p:cNvPr id="996" name="Google Shape;996;p52"/>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US.53 · FEPC &amp; Integration of the Armed Forces</a:t>
            </a:r>
            <a:endParaRPr b="0" i="0" sz="1000" u="none" cap="none" strike="noStrike">
              <a:solidFill>
                <a:schemeClr val="dk1"/>
              </a:solidFill>
              <a:latin typeface="Calibri"/>
              <a:ea typeface="Calibri"/>
              <a:cs typeface="Calibri"/>
              <a:sym typeface="Calibri"/>
            </a:endParaRPr>
          </a:p>
        </p:txBody>
      </p:sp>
      <p:sp>
        <p:nvSpPr>
          <p:cNvPr id="997" name="Google Shape;997;p5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98" name="Google Shape;998;p5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003" name="Shape 1003"/>
        <p:cNvGrpSpPr/>
        <p:nvPr/>
      </p:nvGrpSpPr>
      <p:grpSpPr>
        <a:xfrm>
          <a:off x="0" y="0"/>
          <a:ext cx="0" cy="0"/>
          <a:chOff x="0" y="0"/>
          <a:chExt cx="0" cy="0"/>
        </a:xfrm>
      </p:grpSpPr>
      <p:sp>
        <p:nvSpPr>
          <p:cNvPr id="1004" name="Google Shape;1004;p53"/>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53"/>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53"/>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1007" name="Google Shape;1007;p53"/>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US.53</a:t>
            </a:r>
            <a:endParaRPr b="0" i="0" sz="1200" u="none" cap="none" strike="noStrike">
              <a:solidFill>
                <a:schemeClr val="dk1"/>
              </a:solidFill>
              <a:latin typeface="Calibri"/>
              <a:ea typeface="Calibri"/>
              <a:cs typeface="Calibri"/>
              <a:sym typeface="Calibri"/>
            </a:endParaRPr>
          </a:p>
        </p:txBody>
      </p:sp>
      <p:sp>
        <p:nvSpPr>
          <p:cNvPr id="1008" name="Google Shape;1008;p53"/>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Executive Order 8802 — identify who issued it, when, and why before you analyze the source.</a:t>
            </a:r>
            <a:endParaRPr b="0" i="0" sz="2000" u="none" cap="none" strike="noStrike">
              <a:solidFill>
                <a:schemeClr val="dk1"/>
              </a:solidFill>
              <a:latin typeface="Calibri"/>
              <a:ea typeface="Calibri"/>
              <a:cs typeface="Calibri"/>
              <a:sym typeface="Calibri"/>
            </a:endParaRPr>
          </a:p>
        </p:txBody>
      </p:sp>
      <p:sp>
        <p:nvSpPr>
          <p:cNvPr id="1009" name="Google Shape;1009;p53"/>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1010" name="Google Shape;1010;p53"/>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President Franklin D. Roosevelt</a:t>
            </a:r>
            <a:endParaRPr b="0" i="0" sz="1200" u="none" cap="none" strike="noStrike">
              <a:solidFill>
                <a:schemeClr val="dk1"/>
              </a:solidFill>
              <a:latin typeface="Calibri"/>
              <a:ea typeface="Calibri"/>
              <a:cs typeface="Calibri"/>
              <a:sym typeface="Calibri"/>
            </a:endParaRPr>
          </a:p>
        </p:txBody>
      </p:sp>
      <p:sp>
        <p:nvSpPr>
          <p:cNvPr id="1011" name="Google Shape;1011;p53"/>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1012" name="Google Shape;1012;p53"/>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June 25, 1941</a:t>
            </a:r>
            <a:endParaRPr b="0" i="0" sz="1200" u="none" cap="none" strike="noStrike">
              <a:solidFill>
                <a:schemeClr val="dk1"/>
              </a:solidFill>
              <a:latin typeface="Calibri"/>
              <a:ea typeface="Calibri"/>
              <a:cs typeface="Calibri"/>
              <a:sym typeface="Calibri"/>
            </a:endParaRPr>
          </a:p>
        </p:txBody>
      </p:sp>
      <p:sp>
        <p:nvSpPr>
          <p:cNvPr id="1013" name="Google Shape;1013;p53"/>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1014" name="Google Shape;1014;p53"/>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1015" name="Google Shape;1015;p53"/>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53"/>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Executive Order 8802</a:t>
            </a:r>
            <a:endParaRPr b="0" i="0" sz="1400" u="none" cap="none" strike="noStrike">
              <a:solidFill>
                <a:schemeClr val="dk1"/>
              </a:solidFill>
              <a:latin typeface="Calibri"/>
              <a:ea typeface="Calibri"/>
              <a:cs typeface="Calibri"/>
              <a:sym typeface="Calibri"/>
            </a:endParaRPr>
          </a:p>
        </p:txBody>
      </p:sp>
      <p:sp>
        <p:nvSpPr>
          <p:cNvPr id="1017" name="Google Shape;1017;p53"/>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President Franklin D. Roosevelt · June 25, 1941</a:t>
            </a:r>
            <a:endParaRPr b="0" i="0" sz="900" u="none" cap="none" strike="noStrike">
              <a:solidFill>
                <a:schemeClr val="dk1"/>
              </a:solidFill>
              <a:latin typeface="Calibri"/>
              <a:ea typeface="Calibri"/>
              <a:cs typeface="Calibri"/>
              <a:sym typeface="Calibri"/>
            </a:endParaRPr>
          </a:p>
        </p:txBody>
      </p:sp>
      <p:sp>
        <p:nvSpPr>
          <p:cNvPr id="1018" name="Google Shape;1018;p53"/>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"There shall be no discrimination in the employment of workers in defense industries or Government because of race, creed, color, or national origin... It is the duty of employers and of labor organizations... to provide for the full and equitable participation of all workers in defense industries."</a:t>
            </a:r>
            <a:endParaRPr b="0" i="0" sz="1100" u="none" cap="none" strike="noStrike">
              <a:solidFill>
                <a:schemeClr val="dk1"/>
              </a:solidFill>
              <a:latin typeface="Calibri"/>
              <a:ea typeface="Calibri"/>
              <a:cs typeface="Calibri"/>
              <a:sym typeface="Calibri"/>
            </a:endParaRPr>
          </a:p>
        </p:txBody>
      </p:sp>
      <p:sp>
        <p:nvSpPr>
          <p:cNvPr id="1019" name="Google Shape;1019;p53">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1020" name="Google Shape;1020;p5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021" name="Google Shape;1021;p5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026" name="Shape 1026"/>
        <p:cNvGrpSpPr/>
        <p:nvPr/>
      </p:nvGrpSpPr>
      <p:grpSpPr>
        <a:xfrm>
          <a:off x="0" y="0"/>
          <a:ext cx="0" cy="0"/>
          <a:chOff x="0" y="0"/>
          <a:chExt cx="0" cy="0"/>
        </a:xfrm>
      </p:grpSpPr>
      <p:sp>
        <p:nvSpPr>
          <p:cNvPr id="1027" name="Google Shape;1027;p54"/>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1028" name="Google Shape;1028;p54"/>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US.53</a:t>
            </a:r>
            <a:endParaRPr b="0" i="0" sz="1200" u="none" cap="none" strike="noStrike">
              <a:solidFill>
                <a:schemeClr val="dk1"/>
              </a:solidFill>
              <a:latin typeface="Calibri"/>
              <a:ea typeface="Calibri"/>
              <a:cs typeface="Calibri"/>
              <a:sym typeface="Calibri"/>
            </a:endParaRPr>
          </a:p>
        </p:txBody>
      </p:sp>
      <p:sp>
        <p:nvSpPr>
          <p:cNvPr id="1029" name="Google Shape;1029;p54"/>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1030" name="Google Shape;1030;p54"/>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54"/>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54"/>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1033" name="Google Shape;1033;p54"/>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1034" name="Google Shape;1034;p54"/>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US.53:</a:t>
            </a:r>
            <a:endParaRPr b="0" i="0" sz="1000" u="none" cap="none" strike="noStrike">
              <a:solidFill>
                <a:schemeClr val="dk1"/>
              </a:solidFill>
              <a:latin typeface="Calibri"/>
              <a:ea typeface="Calibri"/>
              <a:cs typeface="Calibri"/>
              <a:sym typeface="Calibri"/>
            </a:endParaRPr>
          </a:p>
        </p:txBody>
      </p:sp>
      <p:sp>
        <p:nvSpPr>
          <p:cNvPr id="1035" name="Google Shape;1035;p54"/>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African American workers who gained defense jobs, and the emerging civil-rights movement, energized by wartime demands for equality.</a:t>
            </a:r>
            <a:endParaRPr b="0" i="0" sz="1200" u="none" cap="none" strike="noStrike">
              <a:solidFill>
                <a:schemeClr val="dk1"/>
              </a:solidFill>
              <a:latin typeface="Calibri"/>
              <a:ea typeface="Calibri"/>
              <a:cs typeface="Calibri"/>
              <a:sym typeface="Calibri"/>
            </a:endParaRPr>
          </a:p>
        </p:txBody>
      </p:sp>
      <p:sp>
        <p:nvSpPr>
          <p:cNvPr id="1036" name="Google Shape;1036;p54"/>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54"/>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54"/>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1039" name="Google Shape;1039;p54"/>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1040" name="Google Shape;1040;p54"/>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US.53:</a:t>
            </a:r>
            <a:endParaRPr b="0" i="0" sz="1000" u="none" cap="none" strike="noStrike">
              <a:solidFill>
                <a:schemeClr val="dk1"/>
              </a:solidFill>
              <a:latin typeface="Calibri"/>
              <a:ea typeface="Calibri"/>
              <a:cs typeface="Calibri"/>
              <a:sym typeface="Calibri"/>
            </a:endParaRPr>
          </a:p>
        </p:txBody>
      </p:sp>
      <p:sp>
        <p:nvSpPr>
          <p:cNvPr id="1041" name="Google Shape;1041;p54"/>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Black Americans who still faced segregation, violence, and discrimination even in war industries and a still-segregated military.</a:t>
            </a:r>
            <a:endParaRPr b="0" i="0" sz="1200" u="none" cap="none" strike="noStrike">
              <a:solidFill>
                <a:schemeClr val="dk1"/>
              </a:solidFill>
              <a:latin typeface="Calibri"/>
              <a:ea typeface="Calibri"/>
              <a:cs typeface="Calibri"/>
              <a:sym typeface="Calibri"/>
            </a:endParaRPr>
          </a:p>
        </p:txBody>
      </p:sp>
      <p:sp>
        <p:nvSpPr>
          <p:cNvPr id="1042" name="Google Shape;1042;p54"/>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54"/>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54"/>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1045" name="Google Shape;1045;p54"/>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1046" name="Google Shape;1046;p54"/>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US.53:</a:t>
            </a:r>
            <a:endParaRPr b="0" i="0" sz="1000" u="none" cap="none" strike="noStrike">
              <a:solidFill>
                <a:schemeClr val="dk1"/>
              </a:solidFill>
              <a:latin typeface="Calibri"/>
              <a:ea typeface="Calibri"/>
              <a:cs typeface="Calibri"/>
              <a:sym typeface="Calibri"/>
            </a:endParaRPr>
          </a:p>
        </p:txBody>
      </p:sp>
      <p:sp>
        <p:nvSpPr>
          <p:cNvPr id="1047" name="Google Shape;1047;p54"/>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President Roosevelt, pressured by A. Philip Randolph, who issued EO 8802; and President Truman, who ordered military desegregation.</a:t>
            </a:r>
            <a:endParaRPr b="0" i="0" sz="1200" u="none" cap="none" strike="noStrike">
              <a:solidFill>
                <a:schemeClr val="dk1"/>
              </a:solidFill>
              <a:latin typeface="Calibri"/>
              <a:ea typeface="Calibri"/>
              <a:cs typeface="Calibri"/>
              <a:sym typeface="Calibri"/>
            </a:endParaRPr>
          </a:p>
        </p:txBody>
      </p:sp>
      <p:sp>
        <p:nvSpPr>
          <p:cNvPr id="1048" name="Google Shape;1048;p54"/>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Executive Order 8802, President Franklin D. Roosevelt, June 25, 1941 (National Archives)</a:t>
            </a:r>
            <a:endParaRPr b="0" i="0" sz="1000" u="none" cap="none" strike="noStrike">
              <a:solidFill>
                <a:schemeClr val="dk1"/>
              </a:solidFill>
              <a:latin typeface="Calibri"/>
              <a:ea typeface="Calibri"/>
              <a:cs typeface="Calibri"/>
              <a:sym typeface="Calibri"/>
            </a:endParaRPr>
          </a:p>
        </p:txBody>
      </p:sp>
      <p:sp>
        <p:nvSpPr>
          <p:cNvPr id="1049" name="Google Shape;1049;p5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050" name="Google Shape;1050;p5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54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18</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Executive Order 8802</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Orden Ejecutiva 8802</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June 1941 order signed by President Roosevelt banning racial discrimination in the defense industry and creating the Fair Employment Practices Committee.</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Double V Campaign</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Campaña de la Doble V</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World War II campaign led by the Black press calling for a 'Double Victory' - over fascism abroad and racial discrimination at home.</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Tuskegee Airmen</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Aviadores de Tuskegee</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First African American military pilots who fought in World War II, proving their skill despite facing racial discrimination and segregation.</a:t>
            </a:r>
            <a:endParaRPr lang="en-US" sz="1300" dirty="0"/>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19</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was the "Double V" campaign, and how did it connect the fight against fascism abroad with civil rights at home?</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Pittsburgh Courier's campaign demanded victory over fascism abroad and over racism at home, arguing that fighting for democracy overseas exposed the contradiction of denying democracy to Black Americans</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focused only on military victory, although this view has been largely discredited by scholars, which does not align with the documented historical record, which represents a common misconception about this historical period</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supported segregation, though this interpretation lacks supporting historical evidence, though this interpretation lacks supporting historical evidence, but closer analysis reveals a more complicated historical reality</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had no connection to civil rights, which ignores key developments that shaped the outcome, which represents a common misconception about this historical period, although historical sources do not support this conclusion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055" name="Shape 1055"/>
        <p:cNvGrpSpPr/>
        <p:nvPr/>
      </p:nvGrpSpPr>
      <p:grpSpPr>
        <a:xfrm>
          <a:off x="0" y="0"/>
          <a:ext cx="0" cy="0"/>
          <a:chOff x="0" y="0"/>
          <a:chExt cx="0" cy="0"/>
        </a:xfrm>
      </p:grpSpPr>
      <p:sp>
        <p:nvSpPr>
          <p:cNvPr id="1056" name="Google Shape;1056;p55"/>
          <p:cNvSpPr/>
          <p:nvPr/>
        </p:nvSpPr>
        <p:spPr>
          <a:xfrm>
            <a:off x="0" y="233172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55"/>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6000"/>
              <a:buFont typeface="Georgia"/>
              <a:buNone/>
            </a:pPr>
            <a:r>
              <a:rPr b="1" i="0" lang="en-US" sz="6000" u="none" cap="none" strike="noStrike">
                <a:solidFill>
                  <a:srgbClr val="C9A84C"/>
                </a:solidFill>
                <a:latin typeface="Georgia"/>
                <a:ea typeface="Georgia"/>
                <a:cs typeface="Georgia"/>
                <a:sym typeface="Georgia"/>
              </a:rPr>
              <a:t>US.54</a:t>
            </a:r>
            <a:endParaRPr b="0" i="0" sz="6000" u="none" cap="none" strike="noStrike">
              <a:solidFill>
                <a:schemeClr val="dk1"/>
              </a:solidFill>
              <a:latin typeface="Calibri"/>
              <a:ea typeface="Calibri"/>
              <a:cs typeface="Calibri"/>
              <a:sym typeface="Calibri"/>
            </a:endParaRPr>
          </a:p>
        </p:txBody>
      </p:sp>
      <p:sp>
        <p:nvSpPr>
          <p:cNvPr id="1058" name="Google Shape;1058;p55"/>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Japanese American Internment &amp; Korematsu</a:t>
            </a:r>
            <a:endParaRPr b="0" i="0" sz="2600" u="none" cap="none" strike="noStrike">
              <a:solidFill>
                <a:schemeClr val="dk1"/>
              </a:solidFill>
              <a:latin typeface="Calibri"/>
              <a:ea typeface="Calibri"/>
              <a:cs typeface="Calibri"/>
              <a:sym typeface="Calibri"/>
            </a:endParaRPr>
          </a:p>
        </p:txBody>
      </p:sp>
      <p:sp>
        <p:nvSpPr>
          <p:cNvPr id="1059" name="Google Shape;1059;p55"/>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200"/>
              <a:buFont typeface="Trebuchet MS"/>
              <a:buNone/>
            </a:pPr>
            <a:r>
              <a:rPr b="1" i="0" lang="en-US" sz="1200" u="none" cap="none" strike="noStrike">
                <a:solidFill>
                  <a:srgbClr val="C9A84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1060" name="Google Shape;1060;p55"/>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US.54 – Describe the constitutional issues and impact of the internment of Japanese Americans on the U.S., including the Fred Korematsu v. United States of America decision.</a:t>
            </a:r>
            <a:endParaRPr b="0" i="0" sz="1600" u="none" cap="none" strike="noStrike">
              <a:solidFill>
                <a:schemeClr val="dk1"/>
              </a:solidFill>
              <a:latin typeface="Calibri"/>
              <a:ea typeface="Calibri"/>
              <a:cs typeface="Calibri"/>
              <a:sym typeface="Calibri"/>
            </a:endParaRPr>
          </a:p>
        </p:txBody>
      </p:sp>
      <p:sp>
        <p:nvSpPr>
          <p:cNvPr id="1061" name="Google Shape;1061;p55"/>
          <p:cNvSpPr/>
          <p:nvPr/>
        </p:nvSpPr>
        <p:spPr>
          <a:xfrm>
            <a:off x="457200" y="4892040"/>
            <a:ext cx="11247120" cy="123444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55"/>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1063" name="Google Shape;1063;p55"/>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I can describe the constitutional issues and impact of the internment of Japanese Americans on the U.S., including the Fred Korematsu v. United States of America decision.</a:t>
            </a:r>
            <a:endParaRPr b="0" i="0" sz="1400" u="none" cap="none" strike="noStrike">
              <a:solidFill>
                <a:schemeClr val="dk1"/>
              </a:solidFill>
              <a:latin typeface="Calibri"/>
              <a:ea typeface="Calibri"/>
              <a:cs typeface="Calibri"/>
              <a:sym typeface="Calibri"/>
            </a:endParaRPr>
          </a:p>
        </p:txBody>
      </p:sp>
      <p:sp>
        <p:nvSpPr>
          <p:cNvPr id="1064" name="Google Shape;1064;p5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065" name="Google Shape;1065;p5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55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070" name="Shape 1070"/>
        <p:cNvGrpSpPr/>
        <p:nvPr/>
      </p:nvGrpSpPr>
      <p:grpSpPr>
        <a:xfrm>
          <a:off x="0" y="0"/>
          <a:ext cx="0" cy="0"/>
          <a:chOff x="0" y="0"/>
          <a:chExt cx="0" cy="0"/>
        </a:xfrm>
      </p:grpSpPr>
      <p:sp>
        <p:nvSpPr>
          <p:cNvPr id="1071" name="Google Shape;1071;p56"/>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56"/>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56"/>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074" name="Google Shape;1074;p56"/>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US.54</a:t>
            </a:r>
            <a:endParaRPr b="0" i="0" sz="1200" u="none" cap="none" strike="noStrike">
              <a:solidFill>
                <a:schemeClr val="dk1"/>
              </a:solidFill>
              <a:latin typeface="Calibri"/>
              <a:ea typeface="Calibri"/>
              <a:cs typeface="Calibri"/>
              <a:sym typeface="Calibri"/>
            </a:endParaRPr>
          </a:p>
        </p:txBody>
      </p:sp>
      <p:sp>
        <p:nvSpPr>
          <p:cNvPr id="1075" name="Google Shape;1075;p56"/>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Executive Order 9066 authorized mass internment — after Pearl Harbor, the February 1942 order forced roughly 120,000 Japanese Americans — most of them U.S. citizens — from their homes into remote camps.</a:t>
            </a:r>
            <a:endParaRPr b="0" i="0" sz="2300" u="none" cap="none" strike="noStrike">
              <a:solidFill>
                <a:schemeClr val="dk1"/>
              </a:solidFill>
              <a:latin typeface="Calibri"/>
              <a:ea typeface="Calibri"/>
              <a:cs typeface="Calibri"/>
              <a:sym typeface="Calibri"/>
            </a:endParaRPr>
          </a:p>
        </p:txBody>
      </p:sp>
      <p:pic>
        <p:nvPicPr>
          <p:cNvPr descr="hh-web/public/images/textbook/unit-6/japanese-internment-mochida-family-1942.jpg" id="1076" name="Google Shape;1076;p56"/>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1077" name="Google Shape;1077;p56"/>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1078" name="Google Shape;1078;p56"/>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US.54 · Executive Order 9066 &amp; Internment</a:t>
            </a:r>
            <a:endParaRPr b="0" i="0" sz="1000" u="none" cap="none" strike="noStrike">
              <a:solidFill>
                <a:schemeClr val="dk1"/>
              </a:solidFill>
              <a:latin typeface="Calibri"/>
              <a:ea typeface="Calibri"/>
              <a:cs typeface="Calibri"/>
              <a:sym typeface="Calibri"/>
            </a:endParaRPr>
          </a:p>
        </p:txBody>
      </p:sp>
      <p:sp>
        <p:nvSpPr>
          <p:cNvPr id="1079" name="Google Shape;1079;p5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080" name="Google Shape;1080;p5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085" name="Shape 1085"/>
        <p:cNvGrpSpPr/>
        <p:nvPr/>
      </p:nvGrpSpPr>
      <p:grpSpPr>
        <a:xfrm>
          <a:off x="0" y="0"/>
          <a:ext cx="0" cy="0"/>
          <a:chOff x="0" y="0"/>
          <a:chExt cx="0" cy="0"/>
        </a:xfrm>
      </p:grpSpPr>
      <p:sp>
        <p:nvSpPr>
          <p:cNvPr id="1086" name="Google Shape;1086;p57"/>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57"/>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57"/>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089" name="Google Shape;1089;p57"/>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US.54</a:t>
            </a:r>
            <a:endParaRPr b="0" i="0" sz="1200" u="none" cap="none" strike="noStrike">
              <a:solidFill>
                <a:schemeClr val="dk1"/>
              </a:solidFill>
              <a:latin typeface="Calibri"/>
              <a:ea typeface="Calibri"/>
              <a:cs typeface="Calibri"/>
              <a:sym typeface="Calibri"/>
            </a:endParaRPr>
          </a:p>
        </p:txBody>
      </p:sp>
      <p:sp>
        <p:nvSpPr>
          <p:cNvPr id="1090" name="Google Shape;1090;p57"/>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Internment violated core constitutional rights — people were removed without individual hearings, evidence of disloyalty, or due process, and were confined based solely on ancestry.</a:t>
            </a:r>
            <a:endParaRPr b="0" i="0" sz="2300" u="none" cap="none" strike="noStrike">
              <a:solidFill>
                <a:schemeClr val="dk1"/>
              </a:solidFill>
              <a:latin typeface="Calibri"/>
              <a:ea typeface="Calibri"/>
              <a:cs typeface="Calibri"/>
              <a:sym typeface="Calibri"/>
            </a:endParaRPr>
          </a:p>
        </p:txBody>
      </p:sp>
      <p:sp>
        <p:nvSpPr>
          <p:cNvPr id="1091" name="Google Shape;1091;p57"/>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57"/>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57"/>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094" name="Google Shape;1094;p57"/>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Internment violated core constitutional rights — people were removed without individual hearings, evidence of disloyalty, or due process, and were confined based solely on ancestry.</a:t>
            </a:r>
            <a:endParaRPr b="0" i="0" sz="2200" u="none" cap="none" strike="noStrike">
              <a:solidFill>
                <a:schemeClr val="dk1"/>
              </a:solidFill>
              <a:latin typeface="Calibri"/>
              <a:ea typeface="Calibri"/>
              <a:cs typeface="Calibri"/>
              <a:sym typeface="Calibri"/>
            </a:endParaRPr>
          </a:p>
        </p:txBody>
      </p:sp>
      <p:sp>
        <p:nvSpPr>
          <p:cNvPr id="1095" name="Google Shape;1095;p57"/>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US.54 · Constitutional Issues</a:t>
            </a:r>
            <a:endParaRPr b="0" i="0" sz="1000" u="none" cap="none" strike="noStrike">
              <a:solidFill>
                <a:schemeClr val="dk1"/>
              </a:solidFill>
              <a:latin typeface="Calibri"/>
              <a:ea typeface="Calibri"/>
              <a:cs typeface="Calibri"/>
              <a:sym typeface="Calibri"/>
            </a:endParaRPr>
          </a:p>
        </p:txBody>
      </p:sp>
      <p:sp>
        <p:nvSpPr>
          <p:cNvPr id="1096" name="Google Shape;1096;p5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097" name="Google Shape;1097;p5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102" name="Shape 1102"/>
        <p:cNvGrpSpPr/>
        <p:nvPr/>
      </p:nvGrpSpPr>
      <p:grpSpPr>
        <a:xfrm>
          <a:off x="0" y="0"/>
          <a:ext cx="0" cy="0"/>
          <a:chOff x="0" y="0"/>
          <a:chExt cx="0" cy="0"/>
        </a:xfrm>
      </p:grpSpPr>
      <p:sp>
        <p:nvSpPr>
          <p:cNvPr id="1103" name="Google Shape;1103;p58"/>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58"/>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58"/>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106" name="Google Shape;1106;p58"/>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US.54</a:t>
            </a:r>
            <a:endParaRPr b="0" i="0" sz="1200" u="none" cap="none" strike="noStrike">
              <a:solidFill>
                <a:schemeClr val="dk1"/>
              </a:solidFill>
              <a:latin typeface="Calibri"/>
              <a:ea typeface="Calibri"/>
              <a:cs typeface="Calibri"/>
              <a:sym typeface="Calibri"/>
            </a:endParaRPr>
          </a:p>
        </p:txBody>
      </p:sp>
      <p:sp>
        <p:nvSpPr>
          <p:cNvPr id="1107" name="Google Shape;1107;p58"/>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Korematsu upheld internment, then history reversed it — in 1944 the Supreme Court upheld the exclusion order in Korematsu v. United States, but decades later the Civil Liberties Act of 1988 apologized and paid reparations.</a:t>
            </a:r>
            <a:endParaRPr b="0" i="0" sz="2300" u="none" cap="none" strike="noStrike">
              <a:solidFill>
                <a:schemeClr val="dk1"/>
              </a:solidFill>
              <a:latin typeface="Calibri"/>
              <a:ea typeface="Calibri"/>
              <a:cs typeface="Calibri"/>
              <a:sym typeface="Calibri"/>
            </a:endParaRPr>
          </a:p>
        </p:txBody>
      </p:sp>
      <p:sp>
        <p:nvSpPr>
          <p:cNvPr id="1108" name="Google Shape;1108;p58"/>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58"/>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58"/>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111" name="Google Shape;1111;p58"/>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Korematsu upheld internment, then history reversed it — in 1944 the Supreme Court upheld the exclusion order in Korematsu v. United States, but decades later the Civil Liberties Act of 1988 apologized and paid reparations.</a:t>
            </a:r>
            <a:endParaRPr b="0" i="0" sz="2200" u="none" cap="none" strike="noStrike">
              <a:solidFill>
                <a:schemeClr val="dk1"/>
              </a:solidFill>
              <a:latin typeface="Calibri"/>
              <a:ea typeface="Calibri"/>
              <a:cs typeface="Calibri"/>
              <a:sym typeface="Calibri"/>
            </a:endParaRPr>
          </a:p>
        </p:txBody>
      </p:sp>
      <p:sp>
        <p:nvSpPr>
          <p:cNvPr id="1112" name="Google Shape;1112;p58"/>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US.54 · Korematsu v. U.S. &amp; Historical Lessons</a:t>
            </a:r>
            <a:endParaRPr b="0" i="0" sz="1000" u="none" cap="none" strike="noStrike">
              <a:solidFill>
                <a:schemeClr val="dk1"/>
              </a:solidFill>
              <a:latin typeface="Calibri"/>
              <a:ea typeface="Calibri"/>
              <a:cs typeface="Calibri"/>
              <a:sym typeface="Calibri"/>
            </a:endParaRPr>
          </a:p>
        </p:txBody>
      </p:sp>
      <p:sp>
        <p:nvSpPr>
          <p:cNvPr id="1113" name="Google Shape;1113;p5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14" name="Google Shape;1114;p5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119" name="Shape 1119"/>
        <p:cNvGrpSpPr/>
        <p:nvPr/>
      </p:nvGrpSpPr>
      <p:grpSpPr>
        <a:xfrm>
          <a:off x="0" y="0"/>
          <a:ext cx="0" cy="0"/>
          <a:chOff x="0" y="0"/>
          <a:chExt cx="0" cy="0"/>
        </a:xfrm>
      </p:grpSpPr>
      <p:sp>
        <p:nvSpPr>
          <p:cNvPr id="1120" name="Google Shape;1120;p59"/>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59"/>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59"/>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1123" name="Google Shape;1123;p59"/>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US.54</a:t>
            </a:r>
            <a:endParaRPr b="0" i="0" sz="1200" u="none" cap="none" strike="noStrike">
              <a:solidFill>
                <a:schemeClr val="dk1"/>
              </a:solidFill>
              <a:latin typeface="Calibri"/>
              <a:ea typeface="Calibri"/>
              <a:cs typeface="Calibri"/>
              <a:sym typeface="Calibri"/>
            </a:endParaRPr>
          </a:p>
        </p:txBody>
      </p:sp>
      <p:sp>
        <p:nvSpPr>
          <p:cNvPr id="1124" name="Google Shape;1124;p59"/>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Executive Order 9066 — note who issued it, when, and why before you weigh its words.</a:t>
            </a:r>
            <a:endParaRPr b="0" i="0" sz="2000" u="none" cap="none" strike="noStrike">
              <a:solidFill>
                <a:schemeClr val="dk1"/>
              </a:solidFill>
              <a:latin typeface="Calibri"/>
              <a:ea typeface="Calibri"/>
              <a:cs typeface="Calibri"/>
              <a:sym typeface="Calibri"/>
            </a:endParaRPr>
          </a:p>
        </p:txBody>
      </p:sp>
      <p:sp>
        <p:nvSpPr>
          <p:cNvPr id="1125" name="Google Shape;1125;p59"/>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1126" name="Google Shape;1126;p59"/>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President Franklin D. Roosevelt</a:t>
            </a:r>
            <a:endParaRPr b="0" i="0" sz="1200" u="none" cap="none" strike="noStrike">
              <a:solidFill>
                <a:schemeClr val="dk1"/>
              </a:solidFill>
              <a:latin typeface="Calibri"/>
              <a:ea typeface="Calibri"/>
              <a:cs typeface="Calibri"/>
              <a:sym typeface="Calibri"/>
            </a:endParaRPr>
          </a:p>
        </p:txBody>
      </p:sp>
      <p:sp>
        <p:nvSpPr>
          <p:cNvPr id="1127" name="Google Shape;1127;p59"/>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1128" name="Google Shape;1128;p59"/>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February 19, 1942</a:t>
            </a:r>
            <a:endParaRPr b="0" i="0" sz="1200" u="none" cap="none" strike="noStrike">
              <a:solidFill>
                <a:schemeClr val="dk1"/>
              </a:solidFill>
              <a:latin typeface="Calibri"/>
              <a:ea typeface="Calibri"/>
              <a:cs typeface="Calibri"/>
              <a:sym typeface="Calibri"/>
            </a:endParaRPr>
          </a:p>
        </p:txBody>
      </p:sp>
      <p:sp>
        <p:nvSpPr>
          <p:cNvPr id="1129" name="Google Shape;1129;p59"/>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1130" name="Google Shape;1130;p59"/>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1131" name="Google Shape;1131;p59"/>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59"/>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Executive Order 9066</a:t>
            </a:r>
            <a:endParaRPr b="0" i="0" sz="1400" u="none" cap="none" strike="noStrike">
              <a:solidFill>
                <a:schemeClr val="dk1"/>
              </a:solidFill>
              <a:latin typeface="Calibri"/>
              <a:ea typeface="Calibri"/>
              <a:cs typeface="Calibri"/>
              <a:sym typeface="Calibri"/>
            </a:endParaRPr>
          </a:p>
        </p:txBody>
      </p:sp>
      <p:sp>
        <p:nvSpPr>
          <p:cNvPr id="1133" name="Google Shape;1133;p59"/>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President Franklin D. Roosevelt · February 19, 1942</a:t>
            </a:r>
            <a:endParaRPr b="0" i="0" sz="900" u="none" cap="none" strike="noStrike">
              <a:solidFill>
                <a:schemeClr val="dk1"/>
              </a:solidFill>
              <a:latin typeface="Calibri"/>
              <a:ea typeface="Calibri"/>
              <a:cs typeface="Calibri"/>
              <a:sym typeface="Calibri"/>
            </a:endParaRPr>
          </a:p>
        </p:txBody>
      </p:sp>
      <p:sp>
        <p:nvSpPr>
          <p:cNvPr id="1134" name="Google Shape;1134;p59"/>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"I hereby authorize and direct the Secretary of War, and the Military Commanders whom he may from time to time designate... to prescribe military areas in such places and of such extent as he or the appropriate Military Commander may determine, from which any or all persons may be excluded."</a:t>
            </a:r>
            <a:endParaRPr b="0" i="0" sz="1100" u="none" cap="none" strike="noStrike">
              <a:solidFill>
                <a:schemeClr val="dk1"/>
              </a:solidFill>
              <a:latin typeface="Calibri"/>
              <a:ea typeface="Calibri"/>
              <a:cs typeface="Calibri"/>
              <a:sym typeface="Calibri"/>
            </a:endParaRPr>
          </a:p>
        </p:txBody>
      </p:sp>
      <p:sp>
        <p:nvSpPr>
          <p:cNvPr id="1135" name="Google Shape;1135;p59">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1136" name="Google Shape;1136;p5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37" name="Google Shape;1137;p5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142" name="Shape 1142"/>
        <p:cNvGrpSpPr/>
        <p:nvPr/>
      </p:nvGrpSpPr>
      <p:grpSpPr>
        <a:xfrm>
          <a:off x="0" y="0"/>
          <a:ext cx="0" cy="0"/>
          <a:chOff x="0" y="0"/>
          <a:chExt cx="0" cy="0"/>
        </a:xfrm>
      </p:grpSpPr>
      <p:sp>
        <p:nvSpPr>
          <p:cNvPr id="1143" name="Google Shape;1143;p60"/>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1144" name="Google Shape;1144;p60"/>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US.54</a:t>
            </a:r>
            <a:endParaRPr b="0" i="0" sz="1200" u="none" cap="none" strike="noStrike">
              <a:solidFill>
                <a:schemeClr val="dk1"/>
              </a:solidFill>
              <a:latin typeface="Calibri"/>
              <a:ea typeface="Calibri"/>
              <a:cs typeface="Calibri"/>
              <a:sym typeface="Calibri"/>
            </a:endParaRPr>
          </a:p>
        </p:txBody>
      </p:sp>
      <p:sp>
        <p:nvSpPr>
          <p:cNvPr id="1145" name="Google Shape;1145;p60"/>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1146" name="Google Shape;1146;p60"/>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60"/>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60"/>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1149" name="Google Shape;1149;p60"/>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1150" name="Google Shape;1150;p60"/>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US.54:</a:t>
            </a:r>
            <a:endParaRPr b="0" i="0" sz="1000" u="none" cap="none" strike="noStrike">
              <a:solidFill>
                <a:schemeClr val="dk1"/>
              </a:solidFill>
              <a:latin typeface="Calibri"/>
              <a:ea typeface="Calibri"/>
              <a:cs typeface="Calibri"/>
              <a:sym typeface="Calibri"/>
            </a:endParaRPr>
          </a:p>
        </p:txBody>
      </p:sp>
      <p:sp>
        <p:nvSpPr>
          <p:cNvPr id="1151" name="Google Shape;1151;p60"/>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Wartime officials who claimed security justification, and some who acquired the property Japanese Americans were forced to abandon.</a:t>
            </a:r>
            <a:endParaRPr b="0" i="0" sz="1200" u="none" cap="none" strike="noStrike">
              <a:solidFill>
                <a:schemeClr val="dk1"/>
              </a:solidFill>
              <a:latin typeface="Calibri"/>
              <a:ea typeface="Calibri"/>
              <a:cs typeface="Calibri"/>
              <a:sym typeface="Calibri"/>
            </a:endParaRPr>
          </a:p>
        </p:txBody>
      </p:sp>
      <p:sp>
        <p:nvSpPr>
          <p:cNvPr id="1152" name="Google Shape;1152;p60"/>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60"/>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60"/>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1155" name="Google Shape;1155;p60"/>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1156" name="Google Shape;1156;p60"/>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US.54:</a:t>
            </a:r>
            <a:endParaRPr b="0" i="0" sz="1000" u="none" cap="none" strike="noStrike">
              <a:solidFill>
                <a:schemeClr val="dk1"/>
              </a:solidFill>
              <a:latin typeface="Calibri"/>
              <a:ea typeface="Calibri"/>
              <a:cs typeface="Calibri"/>
              <a:sym typeface="Calibri"/>
            </a:endParaRPr>
          </a:p>
        </p:txBody>
      </p:sp>
      <p:sp>
        <p:nvSpPr>
          <p:cNvPr id="1157" name="Google Shape;1157;p60"/>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120,000 interned Japanese Americans who lost homes, businesses, and freedom — an estimated $400 million in property and lasting trauma.</a:t>
            </a:r>
            <a:endParaRPr b="0" i="0" sz="1200" u="none" cap="none" strike="noStrike">
              <a:solidFill>
                <a:schemeClr val="dk1"/>
              </a:solidFill>
              <a:latin typeface="Calibri"/>
              <a:ea typeface="Calibri"/>
              <a:cs typeface="Calibri"/>
              <a:sym typeface="Calibri"/>
            </a:endParaRPr>
          </a:p>
        </p:txBody>
      </p:sp>
      <p:sp>
        <p:nvSpPr>
          <p:cNvPr id="1158" name="Google Shape;1158;p60"/>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60"/>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60"/>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1161" name="Google Shape;1161;p60"/>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1162" name="Google Shape;1162;p60"/>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US.54:</a:t>
            </a:r>
            <a:endParaRPr b="0" i="0" sz="1000" u="none" cap="none" strike="noStrike">
              <a:solidFill>
                <a:schemeClr val="dk1"/>
              </a:solidFill>
              <a:latin typeface="Calibri"/>
              <a:ea typeface="Calibri"/>
              <a:cs typeface="Calibri"/>
              <a:sym typeface="Calibri"/>
            </a:endParaRPr>
          </a:p>
        </p:txBody>
      </p:sp>
      <p:sp>
        <p:nvSpPr>
          <p:cNvPr id="1163" name="Google Shape;1163;p60"/>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President Roosevelt, who signed EO 9066; the military, which carried out removal; and the Supreme Court, which upheld it in Korematsu.</a:t>
            </a:r>
            <a:endParaRPr b="0" i="0" sz="1200" u="none" cap="none" strike="noStrike">
              <a:solidFill>
                <a:schemeClr val="dk1"/>
              </a:solidFill>
              <a:latin typeface="Calibri"/>
              <a:ea typeface="Calibri"/>
              <a:cs typeface="Calibri"/>
              <a:sym typeface="Calibri"/>
            </a:endParaRPr>
          </a:p>
        </p:txBody>
      </p:sp>
      <p:sp>
        <p:nvSpPr>
          <p:cNvPr id="1164" name="Google Shape;1164;p60"/>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Executive Order 9066, President Franklin D. Roosevelt, February 19, 1942 (National Archives)</a:t>
            </a:r>
            <a:endParaRPr b="0" i="0" sz="1000" u="none" cap="none" strike="noStrike">
              <a:solidFill>
                <a:schemeClr val="dk1"/>
              </a:solidFill>
              <a:latin typeface="Calibri"/>
              <a:ea typeface="Calibri"/>
              <a:cs typeface="Calibri"/>
              <a:sym typeface="Calibri"/>
            </a:endParaRPr>
          </a:p>
        </p:txBody>
      </p:sp>
      <p:sp>
        <p:nvSpPr>
          <p:cNvPr id="1165" name="Google Shape;1165;p6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66" name="Google Shape;1166;p6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60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20</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Japanese Internment</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Internamiento Japonés</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forced relocation and incarceration of 120,000 Japanese Americans (two-thirds U.S. citizens) in concentration camps during WWII, based on racial prejudice, not evidence of disloyalty.</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Korematsu v. United States</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Korematsu contra Estados Unidos</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1944 Supreme Court decision upholding Japanese internment as a wartime necessity, later widely condemned as one of the Court's worst decisions.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Executive Order 9066</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Orden Ejecutiva 9066</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February 1942 order signed by President Roosevelt authorizing the military to exclude and relocate Japanese Americans from the West Coast.</a:t>
            </a:r>
            <a:endParaRPr lang="en-US" sz="1300" dirty="0"/>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21</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Executive Order 9066 violate constitutional principles of due process and equal protection?</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followed all constitutional procedures, although historical sources do not support this conclusion, though this interpretation lacks supporting historical evidence, but the historical evidence paints a more nuanced picture</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denied due process by detaining people without individual hearings or evidence, and violated equal protection by targeting Japanese Americans while not similarly treating German or Italian Americans</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only affected non-citizens, but the historical record tells a more complex story, but closer analysis reveals a more complicated historical reality, although historical sources do not support this conclusion</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Constitution does not protect against internment, which does not align with the documented historical record, which ignores significant political and cultural developments of the era</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171" name="Shape 1171"/>
        <p:cNvGrpSpPr/>
        <p:nvPr/>
      </p:nvGrpSpPr>
      <p:grpSpPr>
        <a:xfrm>
          <a:off x="0" y="0"/>
          <a:ext cx="0" cy="0"/>
          <a:chOff x="0" y="0"/>
          <a:chExt cx="0" cy="0"/>
        </a:xfrm>
      </p:grpSpPr>
      <p:sp>
        <p:nvSpPr>
          <p:cNvPr id="1172" name="Google Shape;1172;p61"/>
          <p:cNvSpPr/>
          <p:nvPr/>
        </p:nvSpPr>
        <p:spPr>
          <a:xfrm>
            <a:off x="0" y="233172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61"/>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6000"/>
              <a:buFont typeface="Georgia"/>
              <a:buNone/>
            </a:pPr>
            <a:r>
              <a:rPr b="1" i="0" lang="en-US" sz="6000" u="none" cap="none" strike="noStrike">
                <a:solidFill>
                  <a:srgbClr val="C9A84C"/>
                </a:solidFill>
                <a:latin typeface="Georgia"/>
                <a:ea typeface="Georgia"/>
                <a:cs typeface="Georgia"/>
                <a:sym typeface="Georgia"/>
              </a:rPr>
              <a:t>US.55</a:t>
            </a:r>
            <a:endParaRPr b="0" i="0" sz="6000" u="none" cap="none" strike="noStrike">
              <a:solidFill>
                <a:schemeClr val="dk1"/>
              </a:solidFill>
              <a:latin typeface="Calibri"/>
              <a:ea typeface="Calibri"/>
              <a:cs typeface="Calibri"/>
              <a:sym typeface="Calibri"/>
            </a:endParaRPr>
          </a:p>
        </p:txBody>
      </p:sp>
      <p:sp>
        <p:nvSpPr>
          <p:cNvPr id="1174" name="Google Shape;1174;p61"/>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Home Front Mobilization</a:t>
            </a:r>
            <a:endParaRPr b="0" i="0" sz="2600" u="none" cap="none" strike="noStrike">
              <a:solidFill>
                <a:schemeClr val="dk1"/>
              </a:solidFill>
              <a:latin typeface="Calibri"/>
              <a:ea typeface="Calibri"/>
              <a:cs typeface="Calibri"/>
              <a:sym typeface="Calibri"/>
            </a:endParaRPr>
          </a:p>
        </p:txBody>
      </p:sp>
      <p:sp>
        <p:nvSpPr>
          <p:cNvPr id="1175" name="Google Shape;1175;p61"/>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200"/>
              <a:buFont typeface="Trebuchet MS"/>
              <a:buNone/>
            </a:pPr>
            <a:r>
              <a:rPr b="1" i="0" lang="en-US" sz="1200" u="none" cap="none" strike="noStrike">
                <a:solidFill>
                  <a:srgbClr val="C9A84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1176" name="Google Shape;1176;p61"/>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US.55 – Describe the war's impact on the home front, including: rationing, bond drives, propaganda, movement to cities and industrial centers, Bracero program, conversion of factories for wartime production, location of prisoner of war camps in Tennessee.</a:t>
            </a:r>
            <a:endParaRPr b="0" i="0" sz="1600" u="none" cap="none" strike="noStrike">
              <a:solidFill>
                <a:schemeClr val="dk1"/>
              </a:solidFill>
              <a:latin typeface="Calibri"/>
              <a:ea typeface="Calibri"/>
              <a:cs typeface="Calibri"/>
              <a:sym typeface="Calibri"/>
            </a:endParaRPr>
          </a:p>
        </p:txBody>
      </p:sp>
      <p:sp>
        <p:nvSpPr>
          <p:cNvPr id="1177" name="Google Shape;1177;p61"/>
          <p:cNvSpPr/>
          <p:nvPr/>
        </p:nvSpPr>
        <p:spPr>
          <a:xfrm>
            <a:off x="457200" y="4892040"/>
            <a:ext cx="11247120" cy="123444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61"/>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1179" name="Google Shape;1179;p61"/>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I can describe the war's impact on the home front, including rationing, bond drives, propaganda, movement to cities, the Bracero program, conversion of factories, and prisoner of war camps in Tennessee.</a:t>
            </a:r>
            <a:endParaRPr b="0" i="0" sz="1400" u="none" cap="none" strike="noStrike">
              <a:solidFill>
                <a:schemeClr val="dk1"/>
              </a:solidFill>
              <a:latin typeface="Calibri"/>
              <a:ea typeface="Calibri"/>
              <a:cs typeface="Calibri"/>
              <a:sym typeface="Calibri"/>
            </a:endParaRPr>
          </a:p>
        </p:txBody>
      </p:sp>
      <p:sp>
        <p:nvSpPr>
          <p:cNvPr id="1180" name="Google Shape;1180;p6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81" name="Google Shape;1181;p6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61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186" name="Shape 1186"/>
        <p:cNvGrpSpPr/>
        <p:nvPr/>
      </p:nvGrpSpPr>
      <p:grpSpPr>
        <a:xfrm>
          <a:off x="0" y="0"/>
          <a:ext cx="0" cy="0"/>
          <a:chOff x="0" y="0"/>
          <a:chExt cx="0" cy="0"/>
        </a:xfrm>
      </p:grpSpPr>
      <p:sp>
        <p:nvSpPr>
          <p:cNvPr id="1187" name="Google Shape;1187;p62"/>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62"/>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62"/>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190" name="Google Shape;1190;p62"/>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US.55</a:t>
            </a:r>
            <a:endParaRPr b="0" i="0" sz="1200" u="none" cap="none" strike="noStrike">
              <a:solidFill>
                <a:schemeClr val="dk1"/>
              </a:solidFill>
              <a:latin typeface="Calibri"/>
              <a:ea typeface="Calibri"/>
              <a:cs typeface="Calibri"/>
              <a:sym typeface="Calibri"/>
            </a:endParaRPr>
          </a:p>
        </p:txBody>
      </p:sp>
      <p:sp>
        <p:nvSpPr>
          <p:cNvPr id="1191" name="Google Shape;1191;p62"/>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Rationing and conservation reshaped daily life — ration books controlled civilian access to gasoline, tires, sugar, meat, and coffee, and victory gardens and scrap drives turned home-front sacrifice into war production.</a:t>
            </a:r>
            <a:endParaRPr b="0" i="0" sz="2300" u="none" cap="none" strike="noStrike">
              <a:solidFill>
                <a:schemeClr val="dk1"/>
              </a:solidFill>
              <a:latin typeface="Calibri"/>
              <a:ea typeface="Calibri"/>
              <a:cs typeface="Calibri"/>
              <a:sym typeface="Calibri"/>
            </a:endParaRPr>
          </a:p>
        </p:txBody>
      </p:sp>
      <p:pic>
        <p:nvPicPr>
          <p:cNvPr descr="hh-web/public/images/textbook/unit-6/victory-garden-home-front-1943.jpg" id="1192" name="Google Shape;1192;p62"/>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1193" name="Google Shape;1193;p62"/>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1194" name="Google Shape;1194;p62"/>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US.55 · Rationing &amp; Conservation</a:t>
            </a:r>
            <a:endParaRPr b="0" i="0" sz="1000" u="none" cap="none" strike="noStrike">
              <a:solidFill>
                <a:schemeClr val="dk1"/>
              </a:solidFill>
              <a:latin typeface="Calibri"/>
              <a:ea typeface="Calibri"/>
              <a:cs typeface="Calibri"/>
              <a:sym typeface="Calibri"/>
            </a:endParaRPr>
          </a:p>
        </p:txBody>
      </p:sp>
      <p:sp>
        <p:nvSpPr>
          <p:cNvPr id="1195" name="Google Shape;1195;p6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96" name="Google Shape;1196;p6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201" name="Shape 1201"/>
        <p:cNvGrpSpPr/>
        <p:nvPr/>
      </p:nvGrpSpPr>
      <p:grpSpPr>
        <a:xfrm>
          <a:off x="0" y="0"/>
          <a:ext cx="0" cy="0"/>
          <a:chOff x="0" y="0"/>
          <a:chExt cx="0" cy="0"/>
        </a:xfrm>
      </p:grpSpPr>
      <p:sp>
        <p:nvSpPr>
          <p:cNvPr id="1202" name="Google Shape;1202;p63"/>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63"/>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63"/>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205" name="Google Shape;1205;p63"/>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US.55</a:t>
            </a:r>
            <a:endParaRPr b="0" i="0" sz="1200" u="none" cap="none" strike="noStrike">
              <a:solidFill>
                <a:schemeClr val="dk1"/>
              </a:solidFill>
              <a:latin typeface="Calibri"/>
              <a:ea typeface="Calibri"/>
              <a:cs typeface="Calibri"/>
              <a:sym typeface="Calibri"/>
            </a:endParaRPr>
          </a:p>
        </p:txBody>
      </p:sp>
      <p:sp>
        <p:nvSpPr>
          <p:cNvPr id="1206" name="Google Shape;1206;p63"/>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Bonds and propaganda financed and unified the war — Liberty and Victory bond drives funded the war and gave civilians a direct stake, while government propaganda sustained morale and mobilized the public.</a:t>
            </a:r>
            <a:endParaRPr b="0" i="0" sz="2300" u="none" cap="none" strike="noStrike">
              <a:solidFill>
                <a:schemeClr val="dk1"/>
              </a:solidFill>
              <a:latin typeface="Calibri"/>
              <a:ea typeface="Calibri"/>
              <a:cs typeface="Calibri"/>
              <a:sym typeface="Calibri"/>
            </a:endParaRPr>
          </a:p>
        </p:txBody>
      </p:sp>
      <p:sp>
        <p:nvSpPr>
          <p:cNvPr id="1207" name="Google Shape;1207;p63"/>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63"/>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63"/>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210" name="Google Shape;1210;p63"/>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Bonds and propaganda financed and unified the war — Liberty and Victory bond drives funded the war and gave civilians a direct stake, while government propaganda sustained morale and mobilized the public.</a:t>
            </a:r>
            <a:endParaRPr b="0" i="0" sz="2200" u="none" cap="none" strike="noStrike">
              <a:solidFill>
                <a:schemeClr val="dk1"/>
              </a:solidFill>
              <a:latin typeface="Calibri"/>
              <a:ea typeface="Calibri"/>
              <a:cs typeface="Calibri"/>
              <a:sym typeface="Calibri"/>
            </a:endParaRPr>
          </a:p>
        </p:txBody>
      </p:sp>
      <p:sp>
        <p:nvSpPr>
          <p:cNvPr id="1211" name="Google Shape;1211;p63"/>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US.55 · War Bonds &amp; Propaganda</a:t>
            </a:r>
            <a:endParaRPr b="0" i="0" sz="1000" u="none" cap="none" strike="noStrike">
              <a:solidFill>
                <a:schemeClr val="dk1"/>
              </a:solidFill>
              <a:latin typeface="Calibri"/>
              <a:ea typeface="Calibri"/>
              <a:cs typeface="Calibri"/>
              <a:sym typeface="Calibri"/>
            </a:endParaRPr>
          </a:p>
        </p:txBody>
      </p:sp>
      <p:sp>
        <p:nvSpPr>
          <p:cNvPr id="1212" name="Google Shape;1212;p6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213" name="Google Shape;1213;p6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218" name="Shape 1218"/>
        <p:cNvGrpSpPr/>
        <p:nvPr/>
      </p:nvGrpSpPr>
      <p:grpSpPr>
        <a:xfrm>
          <a:off x="0" y="0"/>
          <a:ext cx="0" cy="0"/>
          <a:chOff x="0" y="0"/>
          <a:chExt cx="0" cy="0"/>
        </a:xfrm>
      </p:grpSpPr>
      <p:sp>
        <p:nvSpPr>
          <p:cNvPr id="1219" name="Google Shape;1219;p64"/>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64"/>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6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222" name="Google Shape;1222;p64"/>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US.55</a:t>
            </a:r>
            <a:endParaRPr b="0" i="0" sz="1200" u="none" cap="none" strike="noStrike">
              <a:solidFill>
                <a:schemeClr val="dk1"/>
              </a:solidFill>
              <a:latin typeface="Calibri"/>
              <a:ea typeface="Calibri"/>
              <a:cs typeface="Calibri"/>
              <a:sym typeface="Calibri"/>
            </a:endParaRPr>
          </a:p>
        </p:txBody>
      </p:sp>
      <p:sp>
        <p:nvSpPr>
          <p:cNvPr id="1223" name="Google Shape;1223;p64"/>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Wartime migration and Tennessee’s role transformed communities — millions moved to defense centers, straining housing, while Tennessee hosted training installations, POW camps, and defense industries central to the war effort.</a:t>
            </a:r>
            <a:endParaRPr b="0" i="0" sz="2300" u="none" cap="none" strike="noStrike">
              <a:solidFill>
                <a:schemeClr val="dk1"/>
              </a:solidFill>
              <a:latin typeface="Calibri"/>
              <a:ea typeface="Calibri"/>
              <a:cs typeface="Calibri"/>
              <a:sym typeface="Calibri"/>
            </a:endParaRPr>
          </a:p>
        </p:txBody>
      </p:sp>
      <p:sp>
        <p:nvSpPr>
          <p:cNvPr id="1224" name="Google Shape;1224;p64"/>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64"/>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64"/>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227" name="Google Shape;1227;p64"/>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Wartime migration and Tennessee’s role transformed communities — millions moved to defense centers, straining housing, while Tennessee hosted training installations, POW camps, and defense industries central to the war effort.</a:t>
            </a:r>
            <a:endParaRPr b="0" i="0" sz="2200" u="none" cap="none" strike="noStrike">
              <a:solidFill>
                <a:schemeClr val="dk1"/>
              </a:solidFill>
              <a:latin typeface="Calibri"/>
              <a:ea typeface="Calibri"/>
              <a:cs typeface="Calibri"/>
              <a:sym typeface="Calibri"/>
            </a:endParaRPr>
          </a:p>
        </p:txBody>
      </p:sp>
      <p:sp>
        <p:nvSpPr>
          <p:cNvPr id="1228" name="Google Shape;1228;p6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US.55 · Migration &amp; Tennessee’s Wartime Role (TN)</a:t>
            </a:r>
            <a:endParaRPr b="0" i="0" sz="1000" u="none" cap="none" strike="noStrike">
              <a:solidFill>
                <a:schemeClr val="dk1"/>
              </a:solidFill>
              <a:latin typeface="Calibri"/>
              <a:ea typeface="Calibri"/>
              <a:cs typeface="Calibri"/>
              <a:sym typeface="Calibri"/>
            </a:endParaRPr>
          </a:p>
        </p:txBody>
      </p:sp>
      <p:sp>
        <p:nvSpPr>
          <p:cNvPr id="1229" name="Google Shape;1229;p6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230" name="Google Shape;1230;p6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235" name="Shape 1235"/>
        <p:cNvGrpSpPr/>
        <p:nvPr/>
      </p:nvGrpSpPr>
      <p:grpSpPr>
        <a:xfrm>
          <a:off x="0" y="0"/>
          <a:ext cx="0" cy="0"/>
          <a:chOff x="0" y="0"/>
          <a:chExt cx="0" cy="0"/>
        </a:xfrm>
      </p:grpSpPr>
      <p:sp>
        <p:nvSpPr>
          <p:cNvPr id="1236" name="Google Shape;1236;p65"/>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65"/>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65"/>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1239" name="Google Shape;1239;p65"/>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US.55</a:t>
            </a:r>
            <a:endParaRPr b="0" i="0" sz="1200" u="none" cap="none" strike="noStrike">
              <a:solidFill>
                <a:schemeClr val="dk1"/>
              </a:solidFill>
              <a:latin typeface="Calibri"/>
              <a:ea typeface="Calibri"/>
              <a:cs typeface="Calibri"/>
              <a:sym typeface="Calibri"/>
            </a:endParaRPr>
          </a:p>
        </p:txBody>
      </p:sp>
      <p:sp>
        <p:nvSpPr>
          <p:cNvPr id="1240" name="Google Shape;1240;p65"/>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the War Ration Book instructions — identify the issuing office and its purpose before you read the text.</a:t>
            </a:r>
            <a:endParaRPr b="0" i="0" sz="2000" u="none" cap="none" strike="noStrike">
              <a:solidFill>
                <a:schemeClr val="dk1"/>
              </a:solidFill>
              <a:latin typeface="Calibri"/>
              <a:ea typeface="Calibri"/>
              <a:cs typeface="Calibri"/>
              <a:sym typeface="Calibri"/>
            </a:endParaRPr>
          </a:p>
        </p:txBody>
      </p:sp>
      <p:sp>
        <p:nvSpPr>
          <p:cNvPr id="1241" name="Google Shape;1241;p65"/>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1242" name="Google Shape;1242;p65"/>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Office of Price Administration</a:t>
            </a:r>
            <a:endParaRPr b="0" i="0" sz="1200" u="none" cap="none" strike="noStrike">
              <a:solidFill>
                <a:schemeClr val="dk1"/>
              </a:solidFill>
              <a:latin typeface="Calibri"/>
              <a:ea typeface="Calibri"/>
              <a:cs typeface="Calibri"/>
              <a:sym typeface="Calibri"/>
            </a:endParaRPr>
          </a:p>
        </p:txBody>
      </p:sp>
      <p:sp>
        <p:nvSpPr>
          <p:cNvPr id="1243" name="Google Shape;1243;p65"/>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1244" name="Google Shape;1244;p65"/>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1943</a:t>
            </a:r>
            <a:endParaRPr b="0" i="0" sz="1200" u="none" cap="none" strike="noStrike">
              <a:solidFill>
                <a:schemeClr val="dk1"/>
              </a:solidFill>
              <a:latin typeface="Calibri"/>
              <a:ea typeface="Calibri"/>
              <a:cs typeface="Calibri"/>
              <a:sym typeface="Calibri"/>
            </a:endParaRPr>
          </a:p>
        </p:txBody>
      </p:sp>
      <p:sp>
        <p:nvSpPr>
          <p:cNvPr id="1245" name="Google Shape;1245;p65"/>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1246" name="Google Shape;1246;p65"/>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1247" name="Google Shape;1247;p65"/>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65"/>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War Ration Book Instructions</a:t>
            </a:r>
            <a:endParaRPr b="0" i="0" sz="1400" u="none" cap="none" strike="noStrike">
              <a:solidFill>
                <a:schemeClr val="dk1"/>
              </a:solidFill>
              <a:latin typeface="Calibri"/>
              <a:ea typeface="Calibri"/>
              <a:cs typeface="Calibri"/>
              <a:sym typeface="Calibri"/>
            </a:endParaRPr>
          </a:p>
        </p:txBody>
      </p:sp>
      <p:sp>
        <p:nvSpPr>
          <p:cNvPr id="1249" name="Google Shape;1249;p65"/>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Office of Price Administration · 1943</a:t>
            </a:r>
            <a:endParaRPr b="0" i="0" sz="900" u="none" cap="none" strike="noStrike">
              <a:solidFill>
                <a:schemeClr val="dk1"/>
              </a:solidFill>
              <a:latin typeface="Calibri"/>
              <a:ea typeface="Calibri"/>
              <a:cs typeface="Calibri"/>
              <a:sym typeface="Calibri"/>
            </a:endParaRPr>
          </a:p>
        </p:txBody>
      </p:sp>
      <p:sp>
        <p:nvSpPr>
          <p:cNvPr id="1250" name="Google Shape;1250;p65"/>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"This book is your Government's guarantee of your fair share of goods made scarce by war. Price ceilings and rationing are the most fair way to distribute scarce goods. Misuse of rationing stamps is a crime punishable by fine or imprisonment. Your Government needs your compliance."</a:t>
            </a:r>
            <a:endParaRPr b="0" i="0" sz="1100" u="none" cap="none" strike="noStrike">
              <a:solidFill>
                <a:schemeClr val="dk1"/>
              </a:solidFill>
              <a:latin typeface="Calibri"/>
              <a:ea typeface="Calibri"/>
              <a:cs typeface="Calibri"/>
              <a:sym typeface="Calibri"/>
            </a:endParaRPr>
          </a:p>
        </p:txBody>
      </p:sp>
      <p:sp>
        <p:nvSpPr>
          <p:cNvPr id="1251" name="Google Shape;1251;p65">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1252" name="Google Shape;1252;p6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253" name="Google Shape;1253;p6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258" name="Shape 1258"/>
        <p:cNvGrpSpPr/>
        <p:nvPr/>
      </p:nvGrpSpPr>
      <p:grpSpPr>
        <a:xfrm>
          <a:off x="0" y="0"/>
          <a:ext cx="0" cy="0"/>
          <a:chOff x="0" y="0"/>
          <a:chExt cx="0" cy="0"/>
        </a:xfrm>
      </p:grpSpPr>
      <p:sp>
        <p:nvSpPr>
          <p:cNvPr id="1259" name="Google Shape;1259;p66"/>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1260" name="Google Shape;1260;p66"/>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US.55</a:t>
            </a:r>
            <a:endParaRPr b="0" i="0" sz="1200" u="none" cap="none" strike="noStrike">
              <a:solidFill>
                <a:schemeClr val="dk1"/>
              </a:solidFill>
              <a:latin typeface="Calibri"/>
              <a:ea typeface="Calibri"/>
              <a:cs typeface="Calibri"/>
              <a:sym typeface="Calibri"/>
            </a:endParaRPr>
          </a:p>
        </p:txBody>
      </p:sp>
      <p:sp>
        <p:nvSpPr>
          <p:cNvPr id="1261" name="Google Shape;1261;p66"/>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1262" name="Google Shape;1262;p66"/>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66"/>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66"/>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1265" name="Google Shape;1265;p66"/>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1266" name="Google Shape;1266;p66"/>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US.55:</a:t>
            </a:r>
            <a:endParaRPr b="0" i="0" sz="1000" u="none" cap="none" strike="noStrike">
              <a:solidFill>
                <a:schemeClr val="dk1"/>
              </a:solidFill>
              <a:latin typeface="Calibri"/>
              <a:ea typeface="Calibri"/>
              <a:cs typeface="Calibri"/>
              <a:sym typeface="Calibri"/>
            </a:endParaRPr>
          </a:p>
        </p:txBody>
      </p:sp>
      <p:sp>
        <p:nvSpPr>
          <p:cNvPr id="1267" name="Google Shape;1267;p66"/>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war effort, financed and supplied by home-front sacrifice, and regions like Tennessee that gained industry, bases, and jobs.</a:t>
            </a:r>
            <a:endParaRPr b="0" i="0" sz="1200" u="none" cap="none" strike="noStrike">
              <a:solidFill>
                <a:schemeClr val="dk1"/>
              </a:solidFill>
              <a:latin typeface="Calibri"/>
              <a:ea typeface="Calibri"/>
              <a:cs typeface="Calibri"/>
              <a:sym typeface="Calibri"/>
            </a:endParaRPr>
          </a:p>
        </p:txBody>
      </p:sp>
      <p:sp>
        <p:nvSpPr>
          <p:cNvPr id="1268" name="Google Shape;1268;p66"/>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66"/>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66"/>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1271" name="Google Shape;1271;p66"/>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1272" name="Google Shape;1272;p66"/>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US.55:</a:t>
            </a:r>
            <a:endParaRPr b="0" i="0" sz="1000" u="none" cap="none" strike="noStrike">
              <a:solidFill>
                <a:schemeClr val="dk1"/>
              </a:solidFill>
              <a:latin typeface="Calibri"/>
              <a:ea typeface="Calibri"/>
              <a:cs typeface="Calibri"/>
              <a:sym typeface="Calibri"/>
            </a:endParaRPr>
          </a:p>
        </p:txBody>
      </p:sp>
      <p:sp>
        <p:nvSpPr>
          <p:cNvPr id="1273" name="Google Shape;1273;p66"/>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Civilians who gave up goods to rationing, families separated by wartime migration, and communities strained by rapid, crowded growth.</a:t>
            </a:r>
            <a:endParaRPr b="0" i="0" sz="1200" u="none" cap="none" strike="noStrike">
              <a:solidFill>
                <a:schemeClr val="dk1"/>
              </a:solidFill>
              <a:latin typeface="Calibri"/>
              <a:ea typeface="Calibri"/>
              <a:cs typeface="Calibri"/>
              <a:sym typeface="Calibri"/>
            </a:endParaRPr>
          </a:p>
        </p:txBody>
      </p:sp>
      <p:sp>
        <p:nvSpPr>
          <p:cNvPr id="1274" name="Google Shape;1274;p66"/>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66"/>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66"/>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1277" name="Google Shape;1277;p66"/>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1278" name="Google Shape;1278;p66"/>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US.55:</a:t>
            </a:r>
            <a:endParaRPr b="0" i="0" sz="1000" u="none" cap="none" strike="noStrike">
              <a:solidFill>
                <a:schemeClr val="dk1"/>
              </a:solidFill>
              <a:latin typeface="Calibri"/>
              <a:ea typeface="Calibri"/>
              <a:cs typeface="Calibri"/>
              <a:sym typeface="Calibri"/>
            </a:endParaRPr>
          </a:p>
        </p:txBody>
      </p:sp>
      <p:sp>
        <p:nvSpPr>
          <p:cNvPr id="1279" name="Google Shape;1279;p66"/>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Federal agencies like the Office of Price Administration and War Production Board that set rationing, bond, and production policy.</a:t>
            </a:r>
            <a:endParaRPr b="0" i="0" sz="1200" u="none" cap="none" strike="noStrike">
              <a:solidFill>
                <a:schemeClr val="dk1"/>
              </a:solidFill>
              <a:latin typeface="Calibri"/>
              <a:ea typeface="Calibri"/>
              <a:cs typeface="Calibri"/>
              <a:sym typeface="Calibri"/>
            </a:endParaRPr>
          </a:p>
        </p:txBody>
      </p:sp>
      <p:sp>
        <p:nvSpPr>
          <p:cNvPr id="1280" name="Google Shape;1280;p66"/>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War Ration Book Instructions, Office of Price Administration, 1943 (National Archives)</a:t>
            </a:r>
            <a:endParaRPr b="0" i="0" sz="1000" u="none" cap="none" strike="noStrike">
              <a:solidFill>
                <a:schemeClr val="dk1"/>
              </a:solidFill>
              <a:latin typeface="Calibri"/>
              <a:ea typeface="Calibri"/>
              <a:cs typeface="Calibri"/>
              <a:sym typeface="Calibri"/>
            </a:endParaRPr>
          </a:p>
        </p:txBody>
      </p:sp>
      <p:sp>
        <p:nvSpPr>
          <p:cNvPr id="1281" name="Google Shape;1281;p6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282" name="Google Shape;1282;p6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66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Rationing</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Racionamiento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Government-controlled limits on consumer goods during WWII to ensure adequate supplies for the military, requiring ration books and coupons.</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War Bonds</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Bonos de Guerra</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Government bonds sold to citizens to finance the war effort, promoted through massive publicity campaigns featuring celebrities and patriotic appeals.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Rosie the Riveter</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Rosie la Remachadora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Cultural icon representing millions of American women who worked in factories and shipyards during World War II, filling jobs left by men who went to war.</a:t>
            </a:r>
            <a:endParaRPr lang="en-US" sz="1300" dirty="0"/>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role did propaganda play in maintaining civilian morale and support for the war effort?</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Propaganda was not used during WWII, but this fails to account for the broader historical context, but contemporary accounts and primary sources suggest otherwise</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Propaganda only targeted military personnel, yet the available evidence points to a different conclusion, but the historical evidence paints a more nuanced picture</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Office of War Information used films, posters, and radio to demonize enemies, celebrate American values, recruit workers, and build national unity through shared purpose and sacrifice</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Propaganda undermined the war effort, but this fails to account for the broader historical context, but contemporary accounts and primary sources suggest otherwise</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287" name="Shape 1287"/>
        <p:cNvGrpSpPr/>
        <p:nvPr/>
      </p:nvGrpSpPr>
      <p:grpSpPr>
        <a:xfrm>
          <a:off x="0" y="0"/>
          <a:ext cx="0" cy="0"/>
          <a:chOff x="0" y="0"/>
          <a:chExt cx="0" cy="0"/>
        </a:xfrm>
      </p:grpSpPr>
      <p:sp>
        <p:nvSpPr>
          <p:cNvPr id="1288" name="Google Shape;1288;p67"/>
          <p:cNvSpPr/>
          <p:nvPr/>
        </p:nvSpPr>
        <p:spPr>
          <a:xfrm>
            <a:off x="0" y="233172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67"/>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6000"/>
              <a:buFont typeface="Georgia"/>
              <a:buNone/>
            </a:pPr>
            <a:r>
              <a:rPr b="1" i="0" lang="en-US" sz="6000" u="none" cap="none" strike="noStrike">
                <a:solidFill>
                  <a:srgbClr val="C9A84C"/>
                </a:solidFill>
                <a:latin typeface="Georgia"/>
                <a:ea typeface="Georgia"/>
                <a:cs typeface="Georgia"/>
                <a:sym typeface="Georgia"/>
              </a:rPr>
              <a:t>US.56</a:t>
            </a:r>
            <a:endParaRPr b="0" i="0" sz="6000" u="none" cap="none" strike="noStrike">
              <a:solidFill>
                <a:schemeClr val="dk1"/>
              </a:solidFill>
              <a:latin typeface="Calibri"/>
              <a:ea typeface="Calibri"/>
              <a:cs typeface="Calibri"/>
              <a:sym typeface="Calibri"/>
            </a:endParaRPr>
          </a:p>
        </p:txBody>
      </p:sp>
      <p:sp>
        <p:nvSpPr>
          <p:cNvPr id="1290" name="Google Shape;1290;p67"/>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Manhattan Project &amp; Atomic Bomb</a:t>
            </a:r>
            <a:endParaRPr b="0" i="0" sz="2600" u="none" cap="none" strike="noStrike">
              <a:solidFill>
                <a:schemeClr val="dk1"/>
              </a:solidFill>
              <a:latin typeface="Calibri"/>
              <a:ea typeface="Calibri"/>
              <a:cs typeface="Calibri"/>
              <a:sym typeface="Calibri"/>
            </a:endParaRPr>
          </a:p>
        </p:txBody>
      </p:sp>
      <p:sp>
        <p:nvSpPr>
          <p:cNvPr id="1291" name="Google Shape;1291;p67"/>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200"/>
              <a:buFont typeface="Trebuchet MS"/>
              <a:buNone/>
            </a:pPr>
            <a:r>
              <a:rPr b="1" i="0" lang="en-US" sz="1200" u="none" cap="none" strike="noStrike">
                <a:solidFill>
                  <a:srgbClr val="C9A84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1292" name="Google Shape;1292;p67"/>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US.56 – Describe the Manhattan Project and explain the rationale for using the atomic bomb to end the war.</a:t>
            </a:r>
            <a:endParaRPr b="0" i="0" sz="1600" u="none" cap="none" strike="noStrike">
              <a:solidFill>
                <a:schemeClr val="dk1"/>
              </a:solidFill>
              <a:latin typeface="Calibri"/>
              <a:ea typeface="Calibri"/>
              <a:cs typeface="Calibri"/>
              <a:sym typeface="Calibri"/>
            </a:endParaRPr>
          </a:p>
        </p:txBody>
      </p:sp>
      <p:sp>
        <p:nvSpPr>
          <p:cNvPr id="1293" name="Google Shape;1293;p67"/>
          <p:cNvSpPr/>
          <p:nvPr/>
        </p:nvSpPr>
        <p:spPr>
          <a:xfrm>
            <a:off x="457200" y="4892040"/>
            <a:ext cx="11247120" cy="123444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67"/>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1295" name="Google Shape;1295;p67"/>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I can describe the Manhattan Project and explain the rationale for using the atomic bomb to end the war.</a:t>
            </a:r>
            <a:endParaRPr b="0" i="0" sz="1400" u="none" cap="none" strike="noStrike">
              <a:solidFill>
                <a:schemeClr val="dk1"/>
              </a:solidFill>
              <a:latin typeface="Calibri"/>
              <a:ea typeface="Calibri"/>
              <a:cs typeface="Calibri"/>
              <a:sym typeface="Calibri"/>
            </a:endParaRPr>
          </a:p>
        </p:txBody>
      </p:sp>
      <p:sp>
        <p:nvSpPr>
          <p:cNvPr id="1296" name="Google Shape;1296;p6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297" name="Google Shape;1297;p6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67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302" name="Shape 1302"/>
        <p:cNvGrpSpPr/>
        <p:nvPr/>
      </p:nvGrpSpPr>
      <p:grpSpPr>
        <a:xfrm>
          <a:off x="0" y="0"/>
          <a:ext cx="0" cy="0"/>
          <a:chOff x="0" y="0"/>
          <a:chExt cx="0" cy="0"/>
        </a:xfrm>
      </p:grpSpPr>
      <p:sp>
        <p:nvSpPr>
          <p:cNvPr id="1303" name="Google Shape;1303;p68"/>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68"/>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68"/>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306" name="Google Shape;1306;p68"/>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US.56</a:t>
            </a:r>
            <a:endParaRPr b="0" i="0" sz="1200" u="none" cap="none" strike="noStrike">
              <a:solidFill>
                <a:schemeClr val="dk1"/>
              </a:solidFill>
              <a:latin typeface="Calibri"/>
              <a:ea typeface="Calibri"/>
              <a:cs typeface="Calibri"/>
              <a:sym typeface="Calibri"/>
            </a:endParaRPr>
          </a:p>
        </p:txBody>
      </p:sp>
      <p:sp>
        <p:nvSpPr>
          <p:cNvPr id="1307" name="Google Shape;1307;p68"/>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Oak Ridge, Tennessee anchored the Manhattan Project — the secret “Secret City” was chosen for uranium enrichment for its remote, secure location, abundant TVA power, and rail access, growing overnight to tens of thousands of workers.</a:t>
            </a:r>
            <a:endParaRPr b="0" i="0" sz="2300" u="none" cap="none" strike="noStrike">
              <a:solidFill>
                <a:schemeClr val="dk1"/>
              </a:solidFill>
              <a:latin typeface="Calibri"/>
              <a:ea typeface="Calibri"/>
              <a:cs typeface="Calibri"/>
              <a:sym typeface="Calibri"/>
            </a:endParaRPr>
          </a:p>
        </p:txBody>
      </p:sp>
      <p:sp>
        <p:nvSpPr>
          <p:cNvPr id="1308" name="Google Shape;1308;p68"/>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68"/>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68"/>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311" name="Google Shape;1311;p68"/>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Oak Ridge, Tennessee anchored the Manhattan Project — the secret “Secret City” was chosen for uranium enrichment for its remote, secure location, abundant TVA power, and rail access, growing overnight to tens of thousands of workers.</a:t>
            </a:r>
            <a:endParaRPr b="0" i="0" sz="2200" u="none" cap="none" strike="noStrike">
              <a:solidFill>
                <a:schemeClr val="dk1"/>
              </a:solidFill>
              <a:latin typeface="Calibri"/>
              <a:ea typeface="Calibri"/>
              <a:cs typeface="Calibri"/>
              <a:sym typeface="Calibri"/>
            </a:endParaRPr>
          </a:p>
        </p:txBody>
      </p:sp>
      <p:sp>
        <p:nvSpPr>
          <p:cNvPr id="1312" name="Google Shape;1312;p68"/>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US.56 · Oak Ridge, Tennessee (TN)</a:t>
            </a:r>
            <a:endParaRPr b="0" i="0" sz="1000" u="none" cap="none" strike="noStrike">
              <a:solidFill>
                <a:schemeClr val="dk1"/>
              </a:solidFill>
              <a:latin typeface="Calibri"/>
              <a:ea typeface="Calibri"/>
              <a:cs typeface="Calibri"/>
              <a:sym typeface="Calibri"/>
            </a:endParaRPr>
          </a:p>
        </p:txBody>
      </p:sp>
      <p:sp>
        <p:nvSpPr>
          <p:cNvPr id="1313" name="Google Shape;1313;p6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14" name="Google Shape;1314;p6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319" name="Shape 1319"/>
        <p:cNvGrpSpPr/>
        <p:nvPr/>
      </p:nvGrpSpPr>
      <p:grpSpPr>
        <a:xfrm>
          <a:off x="0" y="0"/>
          <a:ext cx="0" cy="0"/>
          <a:chOff x="0" y="0"/>
          <a:chExt cx="0" cy="0"/>
        </a:xfrm>
      </p:grpSpPr>
      <p:sp>
        <p:nvSpPr>
          <p:cNvPr id="1320" name="Google Shape;1320;p69"/>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69"/>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69"/>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323" name="Google Shape;1323;p69"/>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US.56</a:t>
            </a:r>
            <a:endParaRPr b="0" i="0" sz="1200" u="none" cap="none" strike="noStrike">
              <a:solidFill>
                <a:schemeClr val="dk1"/>
              </a:solidFill>
              <a:latin typeface="Calibri"/>
              <a:ea typeface="Calibri"/>
              <a:cs typeface="Calibri"/>
              <a:sym typeface="Calibri"/>
            </a:endParaRPr>
          </a:p>
        </p:txBody>
      </p:sp>
      <p:sp>
        <p:nvSpPr>
          <p:cNvPr id="1324" name="Google Shape;1324;p69"/>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A vast secret program built the atomic bomb — Los Alamos, Oak Ridge, and Hanford employed over 125,000 people under General Groves and Oppenheimer, and the July 1945 Trinity test proved the weapon worked.</a:t>
            </a:r>
            <a:endParaRPr b="0" i="0" sz="2300" u="none" cap="none" strike="noStrike">
              <a:solidFill>
                <a:schemeClr val="dk1"/>
              </a:solidFill>
              <a:latin typeface="Calibri"/>
              <a:ea typeface="Calibri"/>
              <a:cs typeface="Calibri"/>
              <a:sym typeface="Calibri"/>
            </a:endParaRPr>
          </a:p>
        </p:txBody>
      </p:sp>
      <p:sp>
        <p:nvSpPr>
          <p:cNvPr id="1325" name="Google Shape;1325;p69"/>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69"/>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69"/>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328" name="Google Shape;1328;p69"/>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A vast secret program built the atomic bomb — Los Alamos, Oak Ridge, and Hanford employed over 125,000 people under General Groves and Oppenheimer, and the July 1945 Trinity test proved the weapon worked.</a:t>
            </a:r>
            <a:endParaRPr b="0" i="0" sz="2200" u="none" cap="none" strike="noStrike">
              <a:solidFill>
                <a:schemeClr val="dk1"/>
              </a:solidFill>
              <a:latin typeface="Calibri"/>
              <a:ea typeface="Calibri"/>
              <a:cs typeface="Calibri"/>
              <a:sym typeface="Calibri"/>
            </a:endParaRPr>
          </a:p>
        </p:txBody>
      </p:sp>
      <p:sp>
        <p:nvSpPr>
          <p:cNvPr id="1329" name="Google Shape;1329;p69"/>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US.56 · Manhattan Project Overview</a:t>
            </a:r>
            <a:endParaRPr b="0" i="0" sz="1000" u="none" cap="none" strike="noStrike">
              <a:solidFill>
                <a:schemeClr val="dk1"/>
              </a:solidFill>
              <a:latin typeface="Calibri"/>
              <a:ea typeface="Calibri"/>
              <a:cs typeface="Calibri"/>
              <a:sym typeface="Calibri"/>
            </a:endParaRPr>
          </a:p>
        </p:txBody>
      </p:sp>
      <p:sp>
        <p:nvSpPr>
          <p:cNvPr id="1330" name="Google Shape;1330;p6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31" name="Google Shape;1331;p6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336" name="Shape 1336"/>
        <p:cNvGrpSpPr/>
        <p:nvPr/>
      </p:nvGrpSpPr>
      <p:grpSpPr>
        <a:xfrm>
          <a:off x="0" y="0"/>
          <a:ext cx="0" cy="0"/>
          <a:chOff x="0" y="0"/>
          <a:chExt cx="0" cy="0"/>
        </a:xfrm>
      </p:grpSpPr>
      <p:sp>
        <p:nvSpPr>
          <p:cNvPr id="1337" name="Google Shape;1337;p70"/>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70"/>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70"/>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340" name="Google Shape;1340;p70"/>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US.56</a:t>
            </a:r>
            <a:endParaRPr b="0" i="0" sz="1200" u="none" cap="none" strike="noStrike">
              <a:solidFill>
                <a:schemeClr val="dk1"/>
              </a:solidFill>
              <a:latin typeface="Calibri"/>
              <a:ea typeface="Calibri"/>
              <a:cs typeface="Calibri"/>
              <a:sym typeface="Calibri"/>
            </a:endParaRPr>
          </a:p>
        </p:txBody>
      </p:sp>
      <p:sp>
        <p:nvSpPr>
          <p:cNvPr id="1341" name="Google Shape;1341;p70"/>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Truman chose the bomb to end the war — facing projected casualties from a Japanese invasion, Truman authorized atomic strikes on Hiroshima and Nagasaki — a decision still debated for its human cost and long-term consequences.</a:t>
            </a:r>
            <a:endParaRPr b="0" i="0" sz="2300" u="none" cap="none" strike="noStrike">
              <a:solidFill>
                <a:schemeClr val="dk1"/>
              </a:solidFill>
              <a:latin typeface="Calibri"/>
              <a:ea typeface="Calibri"/>
              <a:cs typeface="Calibri"/>
              <a:sym typeface="Calibri"/>
            </a:endParaRPr>
          </a:p>
        </p:txBody>
      </p:sp>
      <p:pic>
        <p:nvPicPr>
          <p:cNvPr descr="hh-web/public/images/textbook/unit-6/nagasaki-atomic-bomb-1945.jpg" id="1342" name="Google Shape;1342;p70"/>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1343" name="Google Shape;1343;p70"/>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1344" name="Google Shape;1344;p70"/>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US.56 · Rationale &amp; Ethical Debate</a:t>
            </a:r>
            <a:endParaRPr b="0" i="0" sz="1000" u="none" cap="none" strike="noStrike">
              <a:solidFill>
                <a:schemeClr val="dk1"/>
              </a:solidFill>
              <a:latin typeface="Calibri"/>
              <a:ea typeface="Calibri"/>
              <a:cs typeface="Calibri"/>
              <a:sym typeface="Calibri"/>
            </a:endParaRPr>
          </a:p>
        </p:txBody>
      </p:sp>
      <p:sp>
        <p:nvSpPr>
          <p:cNvPr id="1345" name="Google Shape;1345;p7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46" name="Google Shape;1346;p7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351" name="Shape 1351"/>
        <p:cNvGrpSpPr/>
        <p:nvPr/>
      </p:nvGrpSpPr>
      <p:grpSpPr>
        <a:xfrm>
          <a:off x="0" y="0"/>
          <a:ext cx="0" cy="0"/>
          <a:chOff x="0" y="0"/>
          <a:chExt cx="0" cy="0"/>
        </a:xfrm>
      </p:grpSpPr>
      <p:sp>
        <p:nvSpPr>
          <p:cNvPr id="1352" name="Google Shape;1352;p71"/>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71"/>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71"/>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1355" name="Google Shape;1355;p71"/>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US.56</a:t>
            </a:r>
            <a:endParaRPr b="0" i="0" sz="1200" u="none" cap="none" strike="noStrike">
              <a:solidFill>
                <a:schemeClr val="dk1"/>
              </a:solidFill>
              <a:latin typeface="Calibri"/>
              <a:ea typeface="Calibri"/>
              <a:cs typeface="Calibri"/>
              <a:sym typeface="Calibri"/>
            </a:endParaRPr>
          </a:p>
        </p:txBody>
      </p:sp>
      <p:sp>
        <p:nvSpPr>
          <p:cNvPr id="1356" name="Google Shape;1356;p71"/>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Truman’s Statement on the Atomic Bomb — note the speaker, date, and purpose before you read his words.</a:t>
            </a:r>
            <a:endParaRPr b="0" i="0" sz="2000" u="none" cap="none" strike="noStrike">
              <a:solidFill>
                <a:schemeClr val="dk1"/>
              </a:solidFill>
              <a:latin typeface="Calibri"/>
              <a:ea typeface="Calibri"/>
              <a:cs typeface="Calibri"/>
              <a:sym typeface="Calibri"/>
            </a:endParaRPr>
          </a:p>
        </p:txBody>
      </p:sp>
      <p:sp>
        <p:nvSpPr>
          <p:cNvPr id="1357" name="Google Shape;1357;p71"/>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1358" name="Google Shape;1358;p71"/>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President Harry S. Truman</a:t>
            </a:r>
            <a:endParaRPr b="0" i="0" sz="1200" u="none" cap="none" strike="noStrike">
              <a:solidFill>
                <a:schemeClr val="dk1"/>
              </a:solidFill>
              <a:latin typeface="Calibri"/>
              <a:ea typeface="Calibri"/>
              <a:cs typeface="Calibri"/>
              <a:sym typeface="Calibri"/>
            </a:endParaRPr>
          </a:p>
        </p:txBody>
      </p:sp>
      <p:sp>
        <p:nvSpPr>
          <p:cNvPr id="1359" name="Google Shape;1359;p71"/>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1360" name="Google Shape;1360;p71"/>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August 6, 1945</a:t>
            </a:r>
            <a:endParaRPr b="0" i="0" sz="1200" u="none" cap="none" strike="noStrike">
              <a:solidFill>
                <a:schemeClr val="dk1"/>
              </a:solidFill>
              <a:latin typeface="Calibri"/>
              <a:ea typeface="Calibri"/>
              <a:cs typeface="Calibri"/>
              <a:sym typeface="Calibri"/>
            </a:endParaRPr>
          </a:p>
        </p:txBody>
      </p:sp>
      <p:sp>
        <p:nvSpPr>
          <p:cNvPr id="1361" name="Google Shape;1361;p71"/>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1362" name="Google Shape;1362;p71"/>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1363" name="Google Shape;1363;p71"/>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71"/>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Statement on the Atomic Bomb</a:t>
            </a:r>
            <a:endParaRPr b="0" i="0" sz="1400" u="none" cap="none" strike="noStrike">
              <a:solidFill>
                <a:schemeClr val="dk1"/>
              </a:solidFill>
              <a:latin typeface="Calibri"/>
              <a:ea typeface="Calibri"/>
              <a:cs typeface="Calibri"/>
              <a:sym typeface="Calibri"/>
            </a:endParaRPr>
          </a:p>
        </p:txBody>
      </p:sp>
      <p:sp>
        <p:nvSpPr>
          <p:cNvPr id="1365" name="Google Shape;1365;p71"/>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President Harry S. Truman · August 6, 1945</a:t>
            </a:r>
            <a:endParaRPr b="0" i="0" sz="900" u="none" cap="none" strike="noStrike">
              <a:solidFill>
                <a:schemeClr val="dk1"/>
              </a:solidFill>
              <a:latin typeface="Calibri"/>
              <a:ea typeface="Calibri"/>
              <a:cs typeface="Calibri"/>
              <a:sym typeface="Calibri"/>
            </a:endParaRPr>
          </a:p>
        </p:txBody>
      </p:sp>
      <p:sp>
        <p:nvSpPr>
          <p:cNvPr id="1366" name="Google Shape;1366;p71"/>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"Sixteen hours ago an American airplane dropped one bomb on Hiroshima, an important Japanese Army base. That bomb had more power than 20,000 tons of T.N.T... We are now prepared to obliterate more rapidly and completely every productive enterprise the Japanese have above ground in any city... If they do not now accept our terms they may expect a rain of ruin from the air."</a:t>
            </a:r>
            <a:endParaRPr b="0" i="0" sz="1100" u="none" cap="none" strike="noStrike">
              <a:solidFill>
                <a:schemeClr val="dk1"/>
              </a:solidFill>
              <a:latin typeface="Calibri"/>
              <a:ea typeface="Calibri"/>
              <a:cs typeface="Calibri"/>
              <a:sym typeface="Calibri"/>
            </a:endParaRPr>
          </a:p>
        </p:txBody>
      </p:sp>
      <p:sp>
        <p:nvSpPr>
          <p:cNvPr id="1367" name="Google Shape;1367;p71">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Harry S. Truman Presidential Library</a:t>
            </a:r>
            <a:endParaRPr b="0" i="0" sz="900" u="none" cap="none" strike="noStrike">
              <a:solidFill>
                <a:schemeClr val="dk1"/>
              </a:solidFill>
              <a:latin typeface="Calibri"/>
              <a:ea typeface="Calibri"/>
              <a:cs typeface="Calibri"/>
              <a:sym typeface="Calibri"/>
            </a:endParaRPr>
          </a:p>
        </p:txBody>
      </p:sp>
      <p:sp>
        <p:nvSpPr>
          <p:cNvPr id="1368" name="Google Shape;1368;p7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69" name="Google Shape;1369;p7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374" name="Shape 1374"/>
        <p:cNvGrpSpPr/>
        <p:nvPr/>
      </p:nvGrpSpPr>
      <p:grpSpPr>
        <a:xfrm>
          <a:off x="0" y="0"/>
          <a:ext cx="0" cy="0"/>
          <a:chOff x="0" y="0"/>
          <a:chExt cx="0" cy="0"/>
        </a:xfrm>
      </p:grpSpPr>
      <p:sp>
        <p:nvSpPr>
          <p:cNvPr id="1375" name="Google Shape;1375;p72"/>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1376" name="Google Shape;1376;p72"/>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US.56</a:t>
            </a:r>
            <a:endParaRPr b="0" i="0" sz="1200" u="none" cap="none" strike="noStrike">
              <a:solidFill>
                <a:schemeClr val="dk1"/>
              </a:solidFill>
              <a:latin typeface="Calibri"/>
              <a:ea typeface="Calibri"/>
              <a:cs typeface="Calibri"/>
              <a:sym typeface="Calibri"/>
            </a:endParaRPr>
          </a:p>
        </p:txBody>
      </p:sp>
      <p:sp>
        <p:nvSpPr>
          <p:cNvPr id="1377" name="Google Shape;1377;p72"/>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1378" name="Google Shape;1378;p72"/>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72"/>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72"/>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1381" name="Google Shape;1381;p72"/>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1382" name="Google Shape;1382;p72"/>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US.56:</a:t>
            </a:r>
            <a:endParaRPr b="0" i="0" sz="1000" u="none" cap="none" strike="noStrike">
              <a:solidFill>
                <a:schemeClr val="dk1"/>
              </a:solidFill>
              <a:latin typeface="Calibri"/>
              <a:ea typeface="Calibri"/>
              <a:cs typeface="Calibri"/>
              <a:sym typeface="Calibri"/>
            </a:endParaRPr>
          </a:p>
        </p:txBody>
      </p:sp>
      <p:sp>
        <p:nvSpPr>
          <p:cNvPr id="1383" name="Google Shape;1383;p72"/>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United States, which ended the war and emerged as a nuclear superpower, and Oak Ridge, Tennessee, transformed by the project.</a:t>
            </a:r>
            <a:endParaRPr b="0" i="0" sz="1200" u="none" cap="none" strike="noStrike">
              <a:solidFill>
                <a:schemeClr val="dk1"/>
              </a:solidFill>
              <a:latin typeface="Calibri"/>
              <a:ea typeface="Calibri"/>
              <a:cs typeface="Calibri"/>
              <a:sym typeface="Calibri"/>
            </a:endParaRPr>
          </a:p>
        </p:txBody>
      </p:sp>
      <p:sp>
        <p:nvSpPr>
          <p:cNvPr id="1384" name="Google Shape;1384;p72"/>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72"/>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72"/>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1387" name="Google Shape;1387;p72"/>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1388" name="Google Shape;1388;p72"/>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US.56:</a:t>
            </a:r>
            <a:endParaRPr b="0" i="0" sz="1000" u="none" cap="none" strike="noStrike">
              <a:solidFill>
                <a:schemeClr val="dk1"/>
              </a:solidFill>
              <a:latin typeface="Calibri"/>
              <a:ea typeface="Calibri"/>
              <a:cs typeface="Calibri"/>
              <a:sym typeface="Calibri"/>
            </a:endParaRPr>
          </a:p>
        </p:txBody>
      </p:sp>
      <p:sp>
        <p:nvSpPr>
          <p:cNvPr id="1389" name="Google Shape;1389;p72"/>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tens of thousands of Japanese civilians killed and injured at Hiroshima and Nagasaki, and survivors who suffered lasting effects.</a:t>
            </a:r>
            <a:endParaRPr b="0" i="0" sz="1200" u="none" cap="none" strike="noStrike">
              <a:solidFill>
                <a:schemeClr val="dk1"/>
              </a:solidFill>
              <a:latin typeface="Calibri"/>
              <a:ea typeface="Calibri"/>
              <a:cs typeface="Calibri"/>
              <a:sym typeface="Calibri"/>
            </a:endParaRPr>
          </a:p>
        </p:txBody>
      </p:sp>
      <p:sp>
        <p:nvSpPr>
          <p:cNvPr id="1390" name="Google Shape;1390;p72"/>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72"/>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72"/>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1393" name="Google Shape;1393;p72"/>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1394" name="Google Shape;1394;p72"/>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US.56:</a:t>
            </a:r>
            <a:endParaRPr b="0" i="0" sz="1000" u="none" cap="none" strike="noStrike">
              <a:solidFill>
                <a:schemeClr val="dk1"/>
              </a:solidFill>
              <a:latin typeface="Calibri"/>
              <a:ea typeface="Calibri"/>
              <a:cs typeface="Calibri"/>
              <a:sym typeface="Calibri"/>
            </a:endParaRPr>
          </a:p>
        </p:txBody>
      </p:sp>
      <p:sp>
        <p:nvSpPr>
          <p:cNvPr id="1395" name="Google Shape;1395;p72"/>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President Truman, who authorized the bombings, and the scientists and military leaders of the Manhattan Project who built the weapon.</a:t>
            </a:r>
            <a:endParaRPr b="0" i="0" sz="1200" u="none" cap="none" strike="noStrike">
              <a:solidFill>
                <a:schemeClr val="dk1"/>
              </a:solidFill>
              <a:latin typeface="Calibri"/>
              <a:ea typeface="Calibri"/>
              <a:cs typeface="Calibri"/>
              <a:sym typeface="Calibri"/>
            </a:endParaRPr>
          </a:p>
        </p:txBody>
      </p:sp>
      <p:sp>
        <p:nvSpPr>
          <p:cNvPr id="1396" name="Google Shape;1396;p72"/>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Statement on the Atomic Bomb, President Harry S. Truman, August 6, 1945 (Harry S. Truman Presidential Library)</a:t>
            </a:r>
            <a:endParaRPr b="0" i="0" sz="1000" u="none" cap="none" strike="noStrike">
              <a:solidFill>
                <a:schemeClr val="dk1"/>
              </a:solidFill>
              <a:latin typeface="Calibri"/>
              <a:ea typeface="Calibri"/>
              <a:cs typeface="Calibri"/>
              <a:sym typeface="Calibri"/>
            </a:endParaRPr>
          </a:p>
        </p:txBody>
      </p:sp>
      <p:sp>
        <p:nvSpPr>
          <p:cNvPr id="1397" name="Google Shape;1397;p7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98" name="Google Shape;1398;p7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72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Manhattan Project</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Proyecto Manhattan</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Top-secret U.S. program to develop the atomic bomb, involving sites at Oak Ridge (Tennessee), Los Alamos (New Mexico), and Hanford (Washington).</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Atomic Bomb</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Bomba Atómica</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Nuclear weapons dropped on Hiroshima (August 6) and Nagasaki (August 9, 1945), killing over 200,000 people and forcing Japan's surrender, ending World War II.</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Battle of Iwo Jima</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Batalla de Iwo Jima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February-March 1945 brutal battle for a strategic Pacific island, famous for the iconic flag-raising photograph on Mount Suribachi.</a:t>
            </a:r>
            <a:endParaRPr lang="en-US" sz="1300" dirty="0"/>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25</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factors influenced President Truman's decision to use atomic weapons against Japan?</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Truman made the decision without considering alternatives, which does not align with the documented historical record, although historical sources do not support this conclusion</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military factors were considered, but this fails to account for the broader historical context, which represents a common misconception about this historical period</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Truman opposed using the bombs, but this fails to account for the broader historical context, which does not align with the documented historical record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Projected invasion casualties based on Okinawa, desire to end the war quickly, demonstrating power to the Soviet Union, and Japanese refusal to surrender all influenced the decision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403" name="Shape 1403"/>
        <p:cNvGrpSpPr/>
        <p:nvPr/>
      </p:nvGrpSpPr>
      <p:grpSpPr>
        <a:xfrm>
          <a:off x="0" y="0"/>
          <a:ext cx="0" cy="0"/>
          <a:chOff x="0" y="0"/>
          <a:chExt cx="0" cy="0"/>
        </a:xfrm>
      </p:grpSpPr>
      <p:sp>
        <p:nvSpPr>
          <p:cNvPr id="1404" name="Google Shape;1404;p73"/>
          <p:cNvSpPr/>
          <p:nvPr/>
        </p:nvSpPr>
        <p:spPr>
          <a:xfrm>
            <a:off x="0" y="233172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73"/>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6000"/>
              <a:buFont typeface="Georgia"/>
              <a:buNone/>
            </a:pPr>
            <a:r>
              <a:rPr b="1" i="0" lang="en-US" sz="6000" u="none" cap="none" strike="noStrike">
                <a:solidFill>
                  <a:srgbClr val="C9A84C"/>
                </a:solidFill>
                <a:latin typeface="Georgia"/>
                <a:ea typeface="Georgia"/>
                <a:cs typeface="Georgia"/>
                <a:sym typeface="Georgia"/>
              </a:rPr>
              <a:t>US.57</a:t>
            </a:r>
            <a:endParaRPr b="0" i="0" sz="6000" u="none" cap="none" strike="noStrike">
              <a:solidFill>
                <a:schemeClr val="dk1"/>
              </a:solidFill>
              <a:latin typeface="Calibri"/>
              <a:ea typeface="Calibri"/>
              <a:cs typeface="Calibri"/>
              <a:sym typeface="Calibri"/>
            </a:endParaRPr>
          </a:p>
        </p:txBody>
      </p:sp>
      <p:sp>
        <p:nvSpPr>
          <p:cNvPr id="1406" name="Google Shape;1406;p73"/>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Yalta and Potsdam Conferences</a:t>
            </a:r>
            <a:endParaRPr b="0" i="0" sz="2600" u="none" cap="none" strike="noStrike">
              <a:solidFill>
                <a:schemeClr val="dk1"/>
              </a:solidFill>
              <a:latin typeface="Calibri"/>
              <a:ea typeface="Calibri"/>
              <a:cs typeface="Calibri"/>
              <a:sym typeface="Calibri"/>
            </a:endParaRPr>
          </a:p>
        </p:txBody>
      </p:sp>
      <p:sp>
        <p:nvSpPr>
          <p:cNvPr id="1407" name="Google Shape;1407;p73"/>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200"/>
              <a:buFont typeface="Trebuchet MS"/>
              <a:buNone/>
            </a:pPr>
            <a:r>
              <a:rPr b="1" i="0" lang="en-US" sz="1200" u="none" cap="none" strike="noStrike">
                <a:solidFill>
                  <a:srgbClr val="C9A84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1408" name="Google Shape;1408;p73"/>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US.57 – Explain the major outcomes of the Yalta and Potsdam Conferences.</a:t>
            </a:r>
            <a:endParaRPr b="0" i="0" sz="1600" u="none" cap="none" strike="noStrike">
              <a:solidFill>
                <a:schemeClr val="dk1"/>
              </a:solidFill>
              <a:latin typeface="Calibri"/>
              <a:ea typeface="Calibri"/>
              <a:cs typeface="Calibri"/>
              <a:sym typeface="Calibri"/>
            </a:endParaRPr>
          </a:p>
        </p:txBody>
      </p:sp>
      <p:sp>
        <p:nvSpPr>
          <p:cNvPr id="1409" name="Google Shape;1409;p73"/>
          <p:cNvSpPr/>
          <p:nvPr/>
        </p:nvSpPr>
        <p:spPr>
          <a:xfrm>
            <a:off x="457200" y="4892040"/>
            <a:ext cx="11247120" cy="123444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73"/>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1411" name="Google Shape;1411;p73"/>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I can explain the major outcomes of the Yalta and Potsdam Conferences.</a:t>
            </a:r>
            <a:endParaRPr b="0" i="0" sz="1400" u="none" cap="none" strike="noStrike">
              <a:solidFill>
                <a:schemeClr val="dk1"/>
              </a:solidFill>
              <a:latin typeface="Calibri"/>
              <a:ea typeface="Calibri"/>
              <a:cs typeface="Calibri"/>
              <a:sym typeface="Calibri"/>
            </a:endParaRPr>
          </a:p>
        </p:txBody>
      </p:sp>
      <p:sp>
        <p:nvSpPr>
          <p:cNvPr id="1412" name="Google Shape;1412;p7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13" name="Google Shape;1413;p7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73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18" name="Shape 1418"/>
        <p:cNvGrpSpPr/>
        <p:nvPr/>
      </p:nvGrpSpPr>
      <p:grpSpPr>
        <a:xfrm>
          <a:off x="0" y="0"/>
          <a:ext cx="0" cy="0"/>
          <a:chOff x="0" y="0"/>
          <a:chExt cx="0" cy="0"/>
        </a:xfrm>
      </p:grpSpPr>
      <p:sp>
        <p:nvSpPr>
          <p:cNvPr id="1419" name="Google Shape;1419;p74"/>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74"/>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7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422" name="Google Shape;1422;p74"/>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US.57</a:t>
            </a:r>
            <a:endParaRPr b="0" i="0" sz="1200" u="none" cap="none" strike="noStrike">
              <a:solidFill>
                <a:schemeClr val="dk1"/>
              </a:solidFill>
              <a:latin typeface="Calibri"/>
              <a:ea typeface="Calibri"/>
              <a:cs typeface="Calibri"/>
              <a:sym typeface="Calibri"/>
            </a:endParaRPr>
          </a:p>
        </p:txBody>
      </p:sp>
      <p:sp>
        <p:nvSpPr>
          <p:cNvPr id="1423" name="Google Shape;1423;p74"/>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Yalta shaped the postwar world — in February 1945 Roosevelt, Churchill, and Stalin agreed to found the United Nations, divide occupied Germany, and hold “free elections” in liberated Europe as Allied victory neared.</a:t>
            </a:r>
            <a:endParaRPr b="0" i="0" sz="2300" u="none" cap="none" strike="noStrike">
              <a:solidFill>
                <a:schemeClr val="dk1"/>
              </a:solidFill>
              <a:latin typeface="Calibri"/>
              <a:ea typeface="Calibri"/>
              <a:cs typeface="Calibri"/>
              <a:sym typeface="Calibri"/>
            </a:endParaRPr>
          </a:p>
        </p:txBody>
      </p:sp>
      <p:pic>
        <p:nvPicPr>
          <p:cNvPr descr="hh-web/public/images/textbook/unit-6/yalta-conference-big-three-1945.jpg" id="1424" name="Google Shape;1424;p74"/>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1425" name="Google Shape;1425;p74"/>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1426" name="Google Shape;1426;p7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US.57 · Yalta Conference (February 1945)</a:t>
            </a:r>
            <a:endParaRPr b="0" i="0" sz="1000" u="none" cap="none" strike="noStrike">
              <a:solidFill>
                <a:schemeClr val="dk1"/>
              </a:solidFill>
              <a:latin typeface="Calibri"/>
              <a:ea typeface="Calibri"/>
              <a:cs typeface="Calibri"/>
              <a:sym typeface="Calibri"/>
            </a:endParaRPr>
          </a:p>
        </p:txBody>
      </p:sp>
      <p:sp>
        <p:nvSpPr>
          <p:cNvPr id="1427" name="Google Shape;1427;p7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28" name="Google Shape;1428;p7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33" name="Shape 1433"/>
        <p:cNvGrpSpPr/>
        <p:nvPr/>
      </p:nvGrpSpPr>
      <p:grpSpPr>
        <a:xfrm>
          <a:off x="0" y="0"/>
          <a:ext cx="0" cy="0"/>
          <a:chOff x="0" y="0"/>
          <a:chExt cx="0" cy="0"/>
        </a:xfrm>
      </p:grpSpPr>
      <p:sp>
        <p:nvSpPr>
          <p:cNvPr id="1434" name="Google Shape;1434;p75"/>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75"/>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75"/>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437" name="Google Shape;1437;p75"/>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US.57</a:t>
            </a:r>
            <a:endParaRPr b="0" i="0" sz="1200" u="none" cap="none" strike="noStrike">
              <a:solidFill>
                <a:schemeClr val="dk1"/>
              </a:solidFill>
              <a:latin typeface="Calibri"/>
              <a:ea typeface="Calibri"/>
              <a:cs typeface="Calibri"/>
              <a:sym typeface="Calibri"/>
            </a:endParaRPr>
          </a:p>
        </p:txBody>
      </p:sp>
      <p:sp>
        <p:nvSpPr>
          <p:cNvPr id="1438" name="Google Shape;1438;p75"/>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Potsdam exposed the widening Allied split — in mid-1945 Truman, Stalin, and Churchill (then Attlee) met after Germany’s surrender, but disputes over Eastern Europe and reparations revealed deepening distrust.</a:t>
            </a:r>
            <a:endParaRPr b="0" i="0" sz="2300" u="none" cap="none" strike="noStrike">
              <a:solidFill>
                <a:schemeClr val="dk1"/>
              </a:solidFill>
              <a:latin typeface="Calibri"/>
              <a:ea typeface="Calibri"/>
              <a:cs typeface="Calibri"/>
              <a:sym typeface="Calibri"/>
            </a:endParaRPr>
          </a:p>
        </p:txBody>
      </p:sp>
      <p:sp>
        <p:nvSpPr>
          <p:cNvPr id="1439" name="Google Shape;1439;p75"/>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75"/>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75"/>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442" name="Google Shape;1442;p75"/>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Potsdam exposed the widening Allied split — in mid-1945 Truman, Stalin, and Churchill (then Attlee) met after Germany’s surrender, but disputes over Eastern Europe and reparations revealed deepening distrust.</a:t>
            </a:r>
            <a:endParaRPr b="0" i="0" sz="2200" u="none" cap="none" strike="noStrike">
              <a:solidFill>
                <a:schemeClr val="dk1"/>
              </a:solidFill>
              <a:latin typeface="Calibri"/>
              <a:ea typeface="Calibri"/>
              <a:cs typeface="Calibri"/>
              <a:sym typeface="Calibri"/>
            </a:endParaRPr>
          </a:p>
        </p:txBody>
      </p:sp>
      <p:sp>
        <p:nvSpPr>
          <p:cNvPr id="1443" name="Google Shape;1443;p75"/>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US.57 · Potsdam Conference (July-August 1945)</a:t>
            </a:r>
            <a:endParaRPr b="0" i="0" sz="1000" u="none" cap="none" strike="noStrike">
              <a:solidFill>
                <a:schemeClr val="dk1"/>
              </a:solidFill>
              <a:latin typeface="Calibri"/>
              <a:ea typeface="Calibri"/>
              <a:cs typeface="Calibri"/>
              <a:sym typeface="Calibri"/>
            </a:endParaRPr>
          </a:p>
        </p:txBody>
      </p:sp>
      <p:sp>
        <p:nvSpPr>
          <p:cNvPr id="1444" name="Google Shape;1444;p7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45" name="Google Shape;1445;p7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50" name="Shape 1450"/>
        <p:cNvGrpSpPr/>
        <p:nvPr/>
      </p:nvGrpSpPr>
      <p:grpSpPr>
        <a:xfrm>
          <a:off x="0" y="0"/>
          <a:ext cx="0" cy="0"/>
          <a:chOff x="0" y="0"/>
          <a:chExt cx="0" cy="0"/>
        </a:xfrm>
      </p:grpSpPr>
      <p:sp>
        <p:nvSpPr>
          <p:cNvPr id="1451" name="Google Shape;1451;p76"/>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76"/>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76"/>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454" name="Google Shape;1454;p76"/>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US.57</a:t>
            </a:r>
            <a:endParaRPr b="0" i="0" sz="1200" u="none" cap="none" strike="noStrike">
              <a:solidFill>
                <a:schemeClr val="dk1"/>
              </a:solidFill>
              <a:latin typeface="Calibri"/>
              <a:ea typeface="Calibri"/>
              <a:cs typeface="Calibri"/>
              <a:sym typeface="Calibri"/>
            </a:endParaRPr>
          </a:p>
        </p:txBody>
      </p:sp>
      <p:sp>
        <p:nvSpPr>
          <p:cNvPr id="1455" name="Google Shape;1455;p76"/>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The conferences seeded the Cold War — Stalin’s version of “free elections” meant communist control, and irreconcilable disagreements over Eastern Europe turned wartime allies into postwar rivals.</a:t>
            </a:r>
            <a:endParaRPr b="0" i="0" sz="2300" u="none" cap="none" strike="noStrike">
              <a:solidFill>
                <a:schemeClr val="dk1"/>
              </a:solidFill>
              <a:latin typeface="Calibri"/>
              <a:ea typeface="Calibri"/>
              <a:cs typeface="Calibri"/>
              <a:sym typeface="Calibri"/>
            </a:endParaRPr>
          </a:p>
        </p:txBody>
      </p:sp>
      <p:sp>
        <p:nvSpPr>
          <p:cNvPr id="1456" name="Google Shape;1456;p76"/>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76"/>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76"/>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459" name="Google Shape;1459;p76"/>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The conferences seeded the Cold War — Stalin’s version of “free elections” meant communist control, and irreconcilable disagreements over Eastern Europe turned wartime allies into postwar rivals.</a:t>
            </a:r>
            <a:endParaRPr b="0" i="0" sz="2200" u="none" cap="none" strike="noStrike">
              <a:solidFill>
                <a:schemeClr val="dk1"/>
              </a:solidFill>
              <a:latin typeface="Calibri"/>
              <a:ea typeface="Calibri"/>
              <a:cs typeface="Calibri"/>
              <a:sym typeface="Calibri"/>
            </a:endParaRPr>
          </a:p>
        </p:txBody>
      </p:sp>
      <p:sp>
        <p:nvSpPr>
          <p:cNvPr id="1460" name="Google Shape;1460;p76"/>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US.57 · Cold War Origins &amp; Allied Diplomacy</a:t>
            </a:r>
            <a:endParaRPr b="0" i="0" sz="1000" u="none" cap="none" strike="noStrike">
              <a:solidFill>
                <a:schemeClr val="dk1"/>
              </a:solidFill>
              <a:latin typeface="Calibri"/>
              <a:ea typeface="Calibri"/>
              <a:cs typeface="Calibri"/>
              <a:sym typeface="Calibri"/>
            </a:endParaRPr>
          </a:p>
        </p:txBody>
      </p:sp>
      <p:sp>
        <p:nvSpPr>
          <p:cNvPr id="1461" name="Google Shape;1461;p7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62" name="Google Shape;1462;p7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67" name="Shape 1467"/>
        <p:cNvGrpSpPr/>
        <p:nvPr/>
      </p:nvGrpSpPr>
      <p:grpSpPr>
        <a:xfrm>
          <a:off x="0" y="0"/>
          <a:ext cx="0" cy="0"/>
          <a:chOff x="0" y="0"/>
          <a:chExt cx="0" cy="0"/>
        </a:xfrm>
      </p:grpSpPr>
      <p:sp>
        <p:nvSpPr>
          <p:cNvPr id="1468" name="Google Shape;1468;p77"/>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77"/>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77"/>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1471" name="Google Shape;1471;p77"/>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US.57</a:t>
            </a:r>
            <a:endParaRPr b="0" i="0" sz="1200" u="none" cap="none" strike="noStrike">
              <a:solidFill>
                <a:schemeClr val="dk1"/>
              </a:solidFill>
              <a:latin typeface="Calibri"/>
              <a:ea typeface="Calibri"/>
              <a:cs typeface="Calibri"/>
              <a:sym typeface="Calibri"/>
            </a:endParaRPr>
          </a:p>
        </p:txBody>
      </p:sp>
      <p:sp>
        <p:nvSpPr>
          <p:cNvPr id="1472" name="Google Shape;1472;p77"/>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the Yalta Conference Communiqué — weigh who issued it and why before you read the agreements.</a:t>
            </a:r>
            <a:endParaRPr b="0" i="0" sz="2000" u="none" cap="none" strike="noStrike">
              <a:solidFill>
                <a:schemeClr val="dk1"/>
              </a:solidFill>
              <a:latin typeface="Calibri"/>
              <a:ea typeface="Calibri"/>
              <a:cs typeface="Calibri"/>
              <a:sym typeface="Calibri"/>
            </a:endParaRPr>
          </a:p>
        </p:txBody>
      </p:sp>
      <p:sp>
        <p:nvSpPr>
          <p:cNvPr id="1473" name="Google Shape;1473;p77"/>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1474" name="Google Shape;1474;p77"/>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Roosevelt, Churchill, and Stalin</a:t>
            </a:r>
            <a:endParaRPr b="0" i="0" sz="1200" u="none" cap="none" strike="noStrike">
              <a:solidFill>
                <a:schemeClr val="dk1"/>
              </a:solidFill>
              <a:latin typeface="Calibri"/>
              <a:ea typeface="Calibri"/>
              <a:cs typeface="Calibri"/>
              <a:sym typeface="Calibri"/>
            </a:endParaRPr>
          </a:p>
        </p:txBody>
      </p:sp>
      <p:sp>
        <p:nvSpPr>
          <p:cNvPr id="1475" name="Google Shape;1475;p77"/>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1476" name="Google Shape;1476;p77"/>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February 1945</a:t>
            </a:r>
            <a:endParaRPr b="0" i="0" sz="1200" u="none" cap="none" strike="noStrike">
              <a:solidFill>
                <a:schemeClr val="dk1"/>
              </a:solidFill>
              <a:latin typeface="Calibri"/>
              <a:ea typeface="Calibri"/>
              <a:cs typeface="Calibri"/>
              <a:sym typeface="Calibri"/>
            </a:endParaRPr>
          </a:p>
        </p:txBody>
      </p:sp>
      <p:sp>
        <p:nvSpPr>
          <p:cNvPr id="1477" name="Google Shape;1477;p77"/>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1478" name="Google Shape;1478;p77"/>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1479" name="Google Shape;1479;p77"/>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77"/>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Yalta Conference Communiqué</a:t>
            </a:r>
            <a:endParaRPr b="0" i="0" sz="1400" u="none" cap="none" strike="noStrike">
              <a:solidFill>
                <a:schemeClr val="dk1"/>
              </a:solidFill>
              <a:latin typeface="Calibri"/>
              <a:ea typeface="Calibri"/>
              <a:cs typeface="Calibri"/>
              <a:sym typeface="Calibri"/>
            </a:endParaRPr>
          </a:p>
        </p:txBody>
      </p:sp>
      <p:sp>
        <p:nvSpPr>
          <p:cNvPr id="1481" name="Google Shape;1481;p77"/>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Roosevelt, Churchill, and Stalin · February 1945</a:t>
            </a:r>
            <a:endParaRPr b="0" i="0" sz="900" u="none" cap="none" strike="noStrike">
              <a:solidFill>
                <a:schemeClr val="dk1"/>
              </a:solidFill>
              <a:latin typeface="Calibri"/>
              <a:ea typeface="Calibri"/>
              <a:cs typeface="Calibri"/>
              <a:sym typeface="Calibri"/>
            </a:endParaRPr>
          </a:p>
        </p:txBody>
      </p:sp>
      <p:sp>
        <p:nvSpPr>
          <p:cNvPr id="1482" name="Google Shape;1482;p77"/>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"We have agreed on common policies and plans for enforcing the unconditional surrender terms which we shall impose together on Nazi Germany... It is our inflexible purpose to destroy German militarism and Nazism and to ensure that Germany will never again be able to disturb the peace of the world."</a:t>
            </a:r>
            <a:endParaRPr b="0" i="0" sz="1100" u="none" cap="none" strike="noStrike">
              <a:solidFill>
                <a:schemeClr val="dk1"/>
              </a:solidFill>
              <a:latin typeface="Calibri"/>
              <a:ea typeface="Calibri"/>
              <a:cs typeface="Calibri"/>
              <a:sym typeface="Calibri"/>
            </a:endParaRPr>
          </a:p>
        </p:txBody>
      </p:sp>
      <p:sp>
        <p:nvSpPr>
          <p:cNvPr id="1483" name="Google Shape;1483;p77">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Avalon Project, Yale Law School</a:t>
            </a:r>
            <a:endParaRPr b="0" i="0" sz="900" u="none" cap="none" strike="noStrike">
              <a:solidFill>
                <a:schemeClr val="dk1"/>
              </a:solidFill>
              <a:latin typeface="Calibri"/>
              <a:ea typeface="Calibri"/>
              <a:cs typeface="Calibri"/>
              <a:sym typeface="Calibri"/>
            </a:endParaRPr>
          </a:p>
        </p:txBody>
      </p:sp>
      <p:sp>
        <p:nvSpPr>
          <p:cNvPr id="1484" name="Google Shape;1484;p7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85" name="Google Shape;1485;p7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490" name="Shape 1490"/>
        <p:cNvGrpSpPr/>
        <p:nvPr/>
      </p:nvGrpSpPr>
      <p:grpSpPr>
        <a:xfrm>
          <a:off x="0" y="0"/>
          <a:ext cx="0" cy="0"/>
          <a:chOff x="0" y="0"/>
          <a:chExt cx="0" cy="0"/>
        </a:xfrm>
      </p:grpSpPr>
      <p:sp>
        <p:nvSpPr>
          <p:cNvPr id="1491" name="Google Shape;1491;p78"/>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1492" name="Google Shape;1492;p78"/>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US.57</a:t>
            </a:r>
            <a:endParaRPr b="0" i="0" sz="1200" u="none" cap="none" strike="noStrike">
              <a:solidFill>
                <a:schemeClr val="dk1"/>
              </a:solidFill>
              <a:latin typeface="Calibri"/>
              <a:ea typeface="Calibri"/>
              <a:cs typeface="Calibri"/>
              <a:sym typeface="Calibri"/>
            </a:endParaRPr>
          </a:p>
        </p:txBody>
      </p:sp>
      <p:sp>
        <p:nvSpPr>
          <p:cNvPr id="1493" name="Google Shape;1493;p78"/>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1494" name="Google Shape;1494;p78"/>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78"/>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78"/>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1497" name="Google Shape;1497;p78"/>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1498" name="Google Shape;1498;p78"/>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US.57:</a:t>
            </a:r>
            <a:endParaRPr b="0" i="0" sz="1000" u="none" cap="none" strike="noStrike">
              <a:solidFill>
                <a:schemeClr val="dk1"/>
              </a:solidFill>
              <a:latin typeface="Calibri"/>
              <a:ea typeface="Calibri"/>
              <a:cs typeface="Calibri"/>
              <a:sym typeface="Calibri"/>
            </a:endParaRPr>
          </a:p>
        </p:txBody>
      </p:sp>
      <p:sp>
        <p:nvSpPr>
          <p:cNvPr id="1499" name="Google Shape;1499;p78"/>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Soviet Union, which secured influence over Eastern Europe, and the Allies who set up the UN and postwar occupation zones.</a:t>
            </a:r>
            <a:endParaRPr b="0" i="0" sz="1200" u="none" cap="none" strike="noStrike">
              <a:solidFill>
                <a:schemeClr val="dk1"/>
              </a:solidFill>
              <a:latin typeface="Calibri"/>
              <a:ea typeface="Calibri"/>
              <a:cs typeface="Calibri"/>
              <a:sym typeface="Calibri"/>
            </a:endParaRPr>
          </a:p>
        </p:txBody>
      </p:sp>
      <p:sp>
        <p:nvSpPr>
          <p:cNvPr id="1500" name="Google Shape;1500;p78"/>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78"/>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78"/>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1503" name="Google Shape;1503;p78"/>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1504" name="Google Shape;1504;p78"/>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US.57:</a:t>
            </a:r>
            <a:endParaRPr b="0" i="0" sz="1000" u="none" cap="none" strike="noStrike">
              <a:solidFill>
                <a:schemeClr val="dk1"/>
              </a:solidFill>
              <a:latin typeface="Calibri"/>
              <a:ea typeface="Calibri"/>
              <a:cs typeface="Calibri"/>
              <a:sym typeface="Calibri"/>
            </a:endParaRPr>
          </a:p>
        </p:txBody>
      </p:sp>
      <p:sp>
        <p:nvSpPr>
          <p:cNvPr id="1505" name="Google Shape;1505;p78"/>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nations of Eastern Europe subjected to Soviet-backed communist governments despite promises of free elections.</a:t>
            </a:r>
            <a:endParaRPr b="0" i="0" sz="1200" u="none" cap="none" strike="noStrike">
              <a:solidFill>
                <a:schemeClr val="dk1"/>
              </a:solidFill>
              <a:latin typeface="Calibri"/>
              <a:ea typeface="Calibri"/>
              <a:cs typeface="Calibri"/>
              <a:sym typeface="Calibri"/>
            </a:endParaRPr>
          </a:p>
        </p:txBody>
      </p:sp>
      <p:sp>
        <p:nvSpPr>
          <p:cNvPr id="1506" name="Google Shape;1506;p78"/>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78"/>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78"/>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1509" name="Google Shape;1509;p78"/>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1510" name="Google Shape;1510;p78"/>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US.57:</a:t>
            </a:r>
            <a:endParaRPr b="0" i="0" sz="1000" u="none" cap="none" strike="noStrike">
              <a:solidFill>
                <a:schemeClr val="dk1"/>
              </a:solidFill>
              <a:latin typeface="Calibri"/>
              <a:ea typeface="Calibri"/>
              <a:cs typeface="Calibri"/>
              <a:sym typeface="Calibri"/>
            </a:endParaRPr>
          </a:p>
        </p:txBody>
      </p:sp>
      <p:sp>
        <p:nvSpPr>
          <p:cNvPr id="1511" name="Google Shape;1511;p78"/>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“Big Three” — Roosevelt (later Truman), Churchill (later Attlee), and Stalin — who negotiated the postwar settlement.</a:t>
            </a:r>
            <a:endParaRPr b="0" i="0" sz="1200" u="none" cap="none" strike="noStrike">
              <a:solidFill>
                <a:schemeClr val="dk1"/>
              </a:solidFill>
              <a:latin typeface="Calibri"/>
              <a:ea typeface="Calibri"/>
              <a:cs typeface="Calibri"/>
              <a:sym typeface="Calibri"/>
            </a:endParaRPr>
          </a:p>
        </p:txBody>
      </p:sp>
      <p:sp>
        <p:nvSpPr>
          <p:cNvPr id="1512" name="Google Shape;1512;p78"/>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Yalta Conference Communiqué, Roosevelt, Churchill, and Stalin, February 1945 (Avalon Project, Yale Law School)</a:t>
            </a:r>
            <a:endParaRPr b="0" i="0" sz="1000" u="none" cap="none" strike="noStrike">
              <a:solidFill>
                <a:schemeClr val="dk1"/>
              </a:solidFill>
              <a:latin typeface="Calibri"/>
              <a:ea typeface="Calibri"/>
              <a:cs typeface="Calibri"/>
              <a:sym typeface="Calibri"/>
            </a:endParaRPr>
          </a:p>
        </p:txBody>
      </p:sp>
      <p:sp>
        <p:nvSpPr>
          <p:cNvPr id="1513" name="Google Shape;1513;p7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14" name="Google Shape;1514;p7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78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26</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Yalta Conference</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Conferencia de Yalta</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February 1945 meeting of Roosevelt, Churchill, and Stalin to plan post-war Europe, dividing Germany and establishing spheres of influence.</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Potsdam Conference</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Conferencia de Potsdam</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July-August 1945 meeting of Truman, Churchill/Attlee, and Stalin finalizing plans for occupied Germany and issuing surrender terms to Japan.</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Joseph Stalin</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Joseph Stalin</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Communist dictator of the Soviet Union (1924-1953) who ruled through terror, forced collectivization, and purges, resulting in millions of deaths.</a:t>
            </a:r>
            <a:endParaRPr lang="en-US" sz="1300" dirty="0"/>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27</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the Potsdam Conference reveal growing tensions between the United States and Soviet Union?</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Disputes over Eastern European governments, German reparations, and differing visions for post-war Europe revealed fundamental disagreements that would define the Cold War</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Potsdam showed complete Allied unity, though this interpretation lacks supporting historical evidence, which ignores significant political and cultural developments of the era</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minor disagreements emerged, despite the fact that multiple sources contradict this view, which represents a common misconception about this historical period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Soviet Union was excluded from Potsdam, though this interpretation lacks supporting historical evidence, though this interpretation lacks supporting historical evidence</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519" name="Shape 1519"/>
        <p:cNvGrpSpPr/>
        <p:nvPr/>
      </p:nvGrpSpPr>
      <p:grpSpPr>
        <a:xfrm>
          <a:off x="0" y="0"/>
          <a:ext cx="0" cy="0"/>
          <a:chOff x="0" y="0"/>
          <a:chExt cx="0" cy="0"/>
        </a:xfrm>
      </p:grpSpPr>
      <p:sp>
        <p:nvSpPr>
          <p:cNvPr id="1520" name="Google Shape;1520;p79"/>
          <p:cNvSpPr/>
          <p:nvPr/>
        </p:nvSpPr>
        <p:spPr>
          <a:xfrm>
            <a:off x="0" y="233172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79"/>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6000"/>
              <a:buFont typeface="Georgia"/>
              <a:buNone/>
            </a:pPr>
            <a:r>
              <a:rPr b="1" i="0" lang="en-US" sz="6000" u="none" cap="none" strike="noStrike">
                <a:solidFill>
                  <a:srgbClr val="C9A84C"/>
                </a:solidFill>
                <a:latin typeface="Georgia"/>
                <a:ea typeface="Georgia"/>
                <a:cs typeface="Georgia"/>
                <a:sym typeface="Georgia"/>
              </a:rPr>
              <a:t>US.58</a:t>
            </a:r>
            <a:endParaRPr b="0" i="0" sz="6000" u="none" cap="none" strike="noStrike">
              <a:solidFill>
                <a:schemeClr val="dk1"/>
              </a:solidFill>
              <a:latin typeface="Calibri"/>
              <a:ea typeface="Calibri"/>
              <a:cs typeface="Calibri"/>
              <a:sym typeface="Calibri"/>
            </a:endParaRPr>
          </a:p>
        </p:txBody>
      </p:sp>
      <p:sp>
        <p:nvSpPr>
          <p:cNvPr id="1522" name="Google Shape;1522;p79"/>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Founding of the United Nations &amp; Cordell Hull</a:t>
            </a:r>
            <a:endParaRPr b="0" i="0" sz="2600" u="none" cap="none" strike="noStrike">
              <a:solidFill>
                <a:schemeClr val="dk1"/>
              </a:solidFill>
              <a:latin typeface="Calibri"/>
              <a:ea typeface="Calibri"/>
              <a:cs typeface="Calibri"/>
              <a:sym typeface="Calibri"/>
            </a:endParaRPr>
          </a:p>
        </p:txBody>
      </p:sp>
      <p:sp>
        <p:nvSpPr>
          <p:cNvPr id="1523" name="Google Shape;1523;p79"/>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200"/>
              <a:buFont typeface="Trebuchet MS"/>
              <a:buNone/>
            </a:pPr>
            <a:r>
              <a:rPr b="1" i="0" lang="en-US" sz="1200" u="none" cap="none" strike="noStrike">
                <a:solidFill>
                  <a:srgbClr val="C9A84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1524" name="Google Shape;1524;p79"/>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US.58 – Identify and explain the reasons for the founding of the United Nations, including the role of Cordell Hull.</a:t>
            </a:r>
            <a:endParaRPr b="0" i="0" sz="1600" u="none" cap="none" strike="noStrike">
              <a:solidFill>
                <a:schemeClr val="dk1"/>
              </a:solidFill>
              <a:latin typeface="Calibri"/>
              <a:ea typeface="Calibri"/>
              <a:cs typeface="Calibri"/>
              <a:sym typeface="Calibri"/>
            </a:endParaRPr>
          </a:p>
        </p:txBody>
      </p:sp>
      <p:sp>
        <p:nvSpPr>
          <p:cNvPr id="1525" name="Google Shape;1525;p79"/>
          <p:cNvSpPr/>
          <p:nvPr/>
        </p:nvSpPr>
        <p:spPr>
          <a:xfrm>
            <a:off x="457200" y="4892040"/>
            <a:ext cx="11247120" cy="123444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79"/>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1527" name="Google Shape;1527;p79"/>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I can identify and explain the reasons for the founding of the United Nations, including the role of Cordell Hull.</a:t>
            </a:r>
            <a:endParaRPr b="0" i="0" sz="1400" u="none" cap="none" strike="noStrike">
              <a:solidFill>
                <a:schemeClr val="dk1"/>
              </a:solidFill>
              <a:latin typeface="Calibri"/>
              <a:ea typeface="Calibri"/>
              <a:cs typeface="Calibri"/>
              <a:sym typeface="Calibri"/>
            </a:endParaRPr>
          </a:p>
        </p:txBody>
      </p:sp>
      <p:sp>
        <p:nvSpPr>
          <p:cNvPr id="1528" name="Google Shape;1528;p7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29" name="Google Shape;1529;p7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79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34" name="Shape 1534"/>
        <p:cNvGrpSpPr/>
        <p:nvPr/>
      </p:nvGrpSpPr>
      <p:grpSpPr>
        <a:xfrm>
          <a:off x="0" y="0"/>
          <a:ext cx="0" cy="0"/>
          <a:chOff x="0" y="0"/>
          <a:chExt cx="0" cy="0"/>
        </a:xfrm>
      </p:grpSpPr>
      <p:sp>
        <p:nvSpPr>
          <p:cNvPr id="1535" name="Google Shape;1535;p80"/>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80"/>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80"/>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538" name="Google Shape;1538;p80"/>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US.58</a:t>
            </a:r>
            <a:endParaRPr b="0" i="0" sz="1200" u="none" cap="none" strike="noStrike">
              <a:solidFill>
                <a:schemeClr val="dk1"/>
              </a:solidFill>
              <a:latin typeface="Calibri"/>
              <a:ea typeface="Calibri"/>
              <a:cs typeface="Calibri"/>
              <a:sym typeface="Calibri"/>
            </a:endParaRPr>
          </a:p>
        </p:txBody>
      </p:sp>
      <p:sp>
        <p:nvSpPr>
          <p:cNvPr id="1539" name="Google Shape;1539;p80"/>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The League’s failure taught hard lessons — the League of Nations collapsed because the U.S. never joined, it lacked enforcement power, and major powers ignored aggression — failures the UN was designed to avoid.</a:t>
            </a:r>
            <a:endParaRPr b="0" i="0" sz="2300" u="none" cap="none" strike="noStrike">
              <a:solidFill>
                <a:schemeClr val="dk1"/>
              </a:solidFill>
              <a:latin typeface="Calibri"/>
              <a:ea typeface="Calibri"/>
              <a:cs typeface="Calibri"/>
              <a:sym typeface="Calibri"/>
            </a:endParaRPr>
          </a:p>
        </p:txBody>
      </p:sp>
      <p:sp>
        <p:nvSpPr>
          <p:cNvPr id="1540" name="Google Shape;1540;p80"/>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80"/>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80"/>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543" name="Google Shape;1543;p80"/>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The League’s failure taught hard lessons — the League of Nations collapsed because the U.S. never joined, it lacked enforcement power, and major powers ignored aggression — failures the UN was designed to avoid.</a:t>
            </a:r>
            <a:endParaRPr b="0" i="0" sz="2200" u="none" cap="none" strike="noStrike">
              <a:solidFill>
                <a:schemeClr val="dk1"/>
              </a:solidFill>
              <a:latin typeface="Calibri"/>
              <a:ea typeface="Calibri"/>
              <a:cs typeface="Calibri"/>
              <a:sym typeface="Calibri"/>
            </a:endParaRPr>
          </a:p>
        </p:txBody>
      </p:sp>
      <p:sp>
        <p:nvSpPr>
          <p:cNvPr id="1544" name="Google Shape;1544;p80"/>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US.58 · Lessons from the League of Nations</a:t>
            </a:r>
            <a:endParaRPr b="0" i="0" sz="1000" u="none" cap="none" strike="noStrike">
              <a:solidFill>
                <a:schemeClr val="dk1"/>
              </a:solidFill>
              <a:latin typeface="Calibri"/>
              <a:ea typeface="Calibri"/>
              <a:cs typeface="Calibri"/>
              <a:sym typeface="Calibri"/>
            </a:endParaRPr>
          </a:p>
        </p:txBody>
      </p:sp>
      <p:sp>
        <p:nvSpPr>
          <p:cNvPr id="1545" name="Google Shape;1545;p8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46" name="Google Shape;1546;p8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51" name="Shape 1551"/>
        <p:cNvGrpSpPr/>
        <p:nvPr/>
      </p:nvGrpSpPr>
      <p:grpSpPr>
        <a:xfrm>
          <a:off x="0" y="0"/>
          <a:ext cx="0" cy="0"/>
          <a:chOff x="0" y="0"/>
          <a:chExt cx="0" cy="0"/>
        </a:xfrm>
      </p:grpSpPr>
      <p:sp>
        <p:nvSpPr>
          <p:cNvPr id="1552" name="Google Shape;1552;p81"/>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81"/>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81"/>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555" name="Google Shape;1555;p81"/>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US.58</a:t>
            </a:r>
            <a:endParaRPr b="0" i="0" sz="1200" u="none" cap="none" strike="noStrike">
              <a:solidFill>
                <a:schemeClr val="dk1"/>
              </a:solidFill>
              <a:latin typeface="Calibri"/>
              <a:ea typeface="Calibri"/>
              <a:cs typeface="Calibri"/>
              <a:sym typeface="Calibri"/>
            </a:endParaRPr>
          </a:p>
        </p:txBody>
      </p:sp>
      <p:sp>
        <p:nvSpPr>
          <p:cNvPr id="1556" name="Google Shape;1556;p81"/>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Cordell Hull, a Tennessean, was “Father of the UN” — FDR’s long-serving Secretary of State was so central to planning the postwar peace organization that he won the 1945 Nobel Peace Prize for the effort.</a:t>
            </a:r>
            <a:endParaRPr b="0" i="0" sz="2300" u="none" cap="none" strike="noStrike">
              <a:solidFill>
                <a:schemeClr val="dk1"/>
              </a:solidFill>
              <a:latin typeface="Calibri"/>
              <a:ea typeface="Calibri"/>
              <a:cs typeface="Calibri"/>
              <a:sym typeface="Calibri"/>
            </a:endParaRPr>
          </a:p>
        </p:txBody>
      </p:sp>
      <p:sp>
        <p:nvSpPr>
          <p:cNvPr id="1557" name="Google Shape;1557;p81"/>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81"/>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81"/>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560" name="Google Shape;1560;p81"/>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Cordell Hull, a Tennessean, was “Father of the UN” — FDR’s long-serving Secretary of State was so central to planning the postwar peace organization that he won the 1945 Nobel Peace Prize for the effort.</a:t>
            </a:r>
            <a:endParaRPr b="0" i="0" sz="2200" u="none" cap="none" strike="noStrike">
              <a:solidFill>
                <a:schemeClr val="dk1"/>
              </a:solidFill>
              <a:latin typeface="Calibri"/>
              <a:ea typeface="Calibri"/>
              <a:cs typeface="Calibri"/>
              <a:sym typeface="Calibri"/>
            </a:endParaRPr>
          </a:p>
        </p:txBody>
      </p:sp>
      <p:sp>
        <p:nvSpPr>
          <p:cNvPr id="1561" name="Google Shape;1561;p81"/>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US.58 · Cordell Hull’s Role (TN)</a:t>
            </a:r>
            <a:endParaRPr b="0" i="0" sz="1000" u="none" cap="none" strike="noStrike">
              <a:solidFill>
                <a:schemeClr val="dk1"/>
              </a:solidFill>
              <a:latin typeface="Calibri"/>
              <a:ea typeface="Calibri"/>
              <a:cs typeface="Calibri"/>
              <a:sym typeface="Calibri"/>
            </a:endParaRPr>
          </a:p>
        </p:txBody>
      </p:sp>
      <p:sp>
        <p:nvSpPr>
          <p:cNvPr id="1562" name="Google Shape;1562;p8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63" name="Google Shape;1563;p8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68" name="Shape 1568"/>
        <p:cNvGrpSpPr/>
        <p:nvPr/>
      </p:nvGrpSpPr>
      <p:grpSpPr>
        <a:xfrm>
          <a:off x="0" y="0"/>
          <a:ext cx="0" cy="0"/>
          <a:chOff x="0" y="0"/>
          <a:chExt cx="0" cy="0"/>
        </a:xfrm>
      </p:grpSpPr>
      <p:sp>
        <p:nvSpPr>
          <p:cNvPr id="1569" name="Google Shape;1569;p82"/>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82"/>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82"/>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572" name="Google Shape;1572;p82"/>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US.58</a:t>
            </a:r>
            <a:endParaRPr b="0" i="0" sz="1200" u="none" cap="none" strike="noStrike">
              <a:solidFill>
                <a:schemeClr val="dk1"/>
              </a:solidFill>
              <a:latin typeface="Calibri"/>
              <a:ea typeface="Calibri"/>
              <a:cs typeface="Calibri"/>
              <a:sym typeface="Calibri"/>
            </a:endParaRPr>
          </a:p>
        </p:txBody>
      </p:sp>
      <p:sp>
        <p:nvSpPr>
          <p:cNvPr id="1573" name="Google Shape;1573;p82"/>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The UN secured what the League could not — founded in 1945 to maintain peace through collective security, the UN gained U.S. membership and has endured, though its power is limited by great-power vetoes.</a:t>
            </a:r>
            <a:endParaRPr b="0" i="0" sz="2300" u="none" cap="none" strike="noStrike">
              <a:solidFill>
                <a:schemeClr val="dk1"/>
              </a:solidFill>
              <a:latin typeface="Calibri"/>
              <a:ea typeface="Calibri"/>
              <a:cs typeface="Calibri"/>
              <a:sym typeface="Calibri"/>
            </a:endParaRPr>
          </a:p>
        </p:txBody>
      </p:sp>
      <p:pic>
        <p:nvPicPr>
          <p:cNvPr descr="hh-web/public/images/textbook/unit-6/declaration-by-united-nations-1942.jpg" id="1574" name="Google Shape;1574;p82"/>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1575" name="Google Shape;1575;p82"/>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1576" name="Google Shape;1576;p82"/>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US.58 · UN Goals, Structure &amp; Legacy</a:t>
            </a:r>
            <a:endParaRPr b="0" i="0" sz="1000" u="none" cap="none" strike="noStrike">
              <a:solidFill>
                <a:schemeClr val="dk1"/>
              </a:solidFill>
              <a:latin typeface="Calibri"/>
              <a:ea typeface="Calibri"/>
              <a:cs typeface="Calibri"/>
              <a:sym typeface="Calibri"/>
            </a:endParaRPr>
          </a:p>
        </p:txBody>
      </p:sp>
      <p:sp>
        <p:nvSpPr>
          <p:cNvPr id="1577" name="Google Shape;1577;p8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78" name="Google Shape;1578;p8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83" name="Shape 1583"/>
        <p:cNvGrpSpPr/>
        <p:nvPr/>
      </p:nvGrpSpPr>
      <p:grpSpPr>
        <a:xfrm>
          <a:off x="0" y="0"/>
          <a:ext cx="0" cy="0"/>
          <a:chOff x="0" y="0"/>
          <a:chExt cx="0" cy="0"/>
        </a:xfrm>
      </p:grpSpPr>
      <p:sp>
        <p:nvSpPr>
          <p:cNvPr id="1584" name="Google Shape;1584;p83"/>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83"/>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83"/>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1587" name="Google Shape;1587;p83"/>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US.58</a:t>
            </a:r>
            <a:endParaRPr b="0" i="0" sz="1200" u="none" cap="none" strike="noStrike">
              <a:solidFill>
                <a:schemeClr val="dk1"/>
              </a:solidFill>
              <a:latin typeface="Calibri"/>
              <a:ea typeface="Calibri"/>
              <a:cs typeface="Calibri"/>
              <a:sym typeface="Calibri"/>
            </a:endParaRPr>
          </a:p>
        </p:txBody>
      </p:sp>
      <p:sp>
        <p:nvSpPr>
          <p:cNvPr id="1588" name="Google Shape;1588;p83"/>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the United Nations Charter Preamble — identify who wrote it and why before you analyze its aims.</a:t>
            </a:r>
            <a:endParaRPr b="0" i="0" sz="2000" u="none" cap="none" strike="noStrike">
              <a:solidFill>
                <a:schemeClr val="dk1"/>
              </a:solidFill>
              <a:latin typeface="Calibri"/>
              <a:ea typeface="Calibri"/>
              <a:cs typeface="Calibri"/>
              <a:sym typeface="Calibri"/>
            </a:endParaRPr>
          </a:p>
        </p:txBody>
      </p:sp>
      <p:sp>
        <p:nvSpPr>
          <p:cNvPr id="1589" name="Google Shape;1589;p83"/>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1590" name="Google Shape;1590;p83"/>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United Nations</a:t>
            </a:r>
            <a:endParaRPr b="0" i="0" sz="1200" u="none" cap="none" strike="noStrike">
              <a:solidFill>
                <a:schemeClr val="dk1"/>
              </a:solidFill>
              <a:latin typeface="Calibri"/>
              <a:ea typeface="Calibri"/>
              <a:cs typeface="Calibri"/>
              <a:sym typeface="Calibri"/>
            </a:endParaRPr>
          </a:p>
        </p:txBody>
      </p:sp>
      <p:sp>
        <p:nvSpPr>
          <p:cNvPr id="1591" name="Google Shape;1591;p83"/>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1592" name="Google Shape;1592;p83"/>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June 26, 1945</a:t>
            </a:r>
            <a:endParaRPr b="0" i="0" sz="1200" u="none" cap="none" strike="noStrike">
              <a:solidFill>
                <a:schemeClr val="dk1"/>
              </a:solidFill>
              <a:latin typeface="Calibri"/>
              <a:ea typeface="Calibri"/>
              <a:cs typeface="Calibri"/>
              <a:sym typeface="Calibri"/>
            </a:endParaRPr>
          </a:p>
        </p:txBody>
      </p:sp>
      <p:sp>
        <p:nvSpPr>
          <p:cNvPr id="1593" name="Google Shape;1593;p83"/>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1594" name="Google Shape;1594;p83"/>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1595" name="Google Shape;1595;p83"/>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83"/>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United Nations Charter Preamble</a:t>
            </a:r>
            <a:endParaRPr b="0" i="0" sz="1400" u="none" cap="none" strike="noStrike">
              <a:solidFill>
                <a:schemeClr val="dk1"/>
              </a:solidFill>
              <a:latin typeface="Calibri"/>
              <a:ea typeface="Calibri"/>
              <a:cs typeface="Calibri"/>
              <a:sym typeface="Calibri"/>
            </a:endParaRPr>
          </a:p>
        </p:txBody>
      </p:sp>
      <p:sp>
        <p:nvSpPr>
          <p:cNvPr id="1597" name="Google Shape;1597;p83"/>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United Nations · June 26, 1945</a:t>
            </a:r>
            <a:endParaRPr b="0" i="0" sz="900" u="none" cap="none" strike="noStrike">
              <a:solidFill>
                <a:schemeClr val="dk1"/>
              </a:solidFill>
              <a:latin typeface="Calibri"/>
              <a:ea typeface="Calibri"/>
              <a:cs typeface="Calibri"/>
              <a:sym typeface="Calibri"/>
            </a:endParaRPr>
          </a:p>
        </p:txBody>
      </p:sp>
      <p:sp>
        <p:nvSpPr>
          <p:cNvPr id="1598" name="Google Shape;1598;p83"/>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"We the peoples of the United Nations determined to save succeeding generations from the scourge of war, which twice in our lifetime has brought untold sorrow to mankind, and to reaffirm faith in fundamental human rights, in the dignity and worth of the human person, in the equal rights of men and women and of nations large and small."</a:t>
            </a:r>
            <a:endParaRPr b="0" i="0" sz="1100" u="none" cap="none" strike="noStrike">
              <a:solidFill>
                <a:schemeClr val="dk1"/>
              </a:solidFill>
              <a:latin typeface="Calibri"/>
              <a:ea typeface="Calibri"/>
              <a:cs typeface="Calibri"/>
              <a:sym typeface="Calibri"/>
            </a:endParaRPr>
          </a:p>
        </p:txBody>
      </p:sp>
      <p:sp>
        <p:nvSpPr>
          <p:cNvPr id="1599" name="Google Shape;1599;p83">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United Nations</a:t>
            </a:r>
            <a:endParaRPr b="0" i="0" sz="900" u="none" cap="none" strike="noStrike">
              <a:solidFill>
                <a:schemeClr val="dk1"/>
              </a:solidFill>
              <a:latin typeface="Calibri"/>
              <a:ea typeface="Calibri"/>
              <a:cs typeface="Calibri"/>
              <a:sym typeface="Calibri"/>
            </a:endParaRPr>
          </a:p>
        </p:txBody>
      </p:sp>
      <p:sp>
        <p:nvSpPr>
          <p:cNvPr id="1600" name="Google Shape;1600;p8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601" name="Google Shape;1601;p8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606" name="Shape 1606"/>
        <p:cNvGrpSpPr/>
        <p:nvPr/>
      </p:nvGrpSpPr>
      <p:grpSpPr>
        <a:xfrm>
          <a:off x="0" y="0"/>
          <a:ext cx="0" cy="0"/>
          <a:chOff x="0" y="0"/>
          <a:chExt cx="0" cy="0"/>
        </a:xfrm>
      </p:grpSpPr>
      <p:sp>
        <p:nvSpPr>
          <p:cNvPr id="1607" name="Google Shape;1607;p84"/>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1608" name="Google Shape;1608;p84"/>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US.58</a:t>
            </a:r>
            <a:endParaRPr b="0" i="0" sz="1200" u="none" cap="none" strike="noStrike">
              <a:solidFill>
                <a:schemeClr val="dk1"/>
              </a:solidFill>
              <a:latin typeface="Calibri"/>
              <a:ea typeface="Calibri"/>
              <a:cs typeface="Calibri"/>
              <a:sym typeface="Calibri"/>
            </a:endParaRPr>
          </a:p>
        </p:txBody>
      </p:sp>
      <p:sp>
        <p:nvSpPr>
          <p:cNvPr id="1609" name="Google Shape;1609;p84"/>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1610" name="Google Shape;1610;p84"/>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84"/>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84"/>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1613" name="Google Shape;1613;p84"/>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1614" name="Google Shape;1614;p84"/>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US.58:</a:t>
            </a:r>
            <a:endParaRPr b="0" i="0" sz="1000" u="none" cap="none" strike="noStrike">
              <a:solidFill>
                <a:schemeClr val="dk1"/>
              </a:solidFill>
              <a:latin typeface="Calibri"/>
              <a:ea typeface="Calibri"/>
              <a:cs typeface="Calibri"/>
              <a:sym typeface="Calibri"/>
            </a:endParaRPr>
          </a:p>
        </p:txBody>
      </p:sp>
      <p:sp>
        <p:nvSpPr>
          <p:cNvPr id="1615" name="Google Shape;1615;p84"/>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postwar world order and the U.S., now a leading member of a permanent peace organization, and Cordell Hull, honored with the Nobel Peace Prize.</a:t>
            </a:r>
            <a:endParaRPr b="0" i="0" sz="1200" u="none" cap="none" strike="noStrike">
              <a:solidFill>
                <a:schemeClr val="dk1"/>
              </a:solidFill>
              <a:latin typeface="Calibri"/>
              <a:ea typeface="Calibri"/>
              <a:cs typeface="Calibri"/>
              <a:sym typeface="Calibri"/>
            </a:endParaRPr>
          </a:p>
        </p:txBody>
      </p:sp>
      <p:sp>
        <p:nvSpPr>
          <p:cNvPr id="1616" name="Google Shape;1616;p84"/>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84"/>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84"/>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1619" name="Google Shape;1619;p84"/>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1620" name="Google Shape;1620;p84"/>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US.58:</a:t>
            </a:r>
            <a:endParaRPr b="0" i="0" sz="1000" u="none" cap="none" strike="noStrike">
              <a:solidFill>
                <a:schemeClr val="dk1"/>
              </a:solidFill>
              <a:latin typeface="Calibri"/>
              <a:ea typeface="Calibri"/>
              <a:cs typeface="Calibri"/>
              <a:sym typeface="Calibri"/>
            </a:endParaRPr>
          </a:p>
        </p:txBody>
      </p:sp>
      <p:sp>
        <p:nvSpPr>
          <p:cNvPr id="1621" name="Google Shape;1621;p84"/>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Smaller nations whose interests could be overridden by great-power vetoes in the Security Council.</a:t>
            </a:r>
            <a:endParaRPr b="0" i="0" sz="1200" u="none" cap="none" strike="noStrike">
              <a:solidFill>
                <a:schemeClr val="dk1"/>
              </a:solidFill>
              <a:latin typeface="Calibri"/>
              <a:ea typeface="Calibri"/>
              <a:cs typeface="Calibri"/>
              <a:sym typeface="Calibri"/>
            </a:endParaRPr>
          </a:p>
        </p:txBody>
      </p:sp>
      <p:sp>
        <p:nvSpPr>
          <p:cNvPr id="1622" name="Google Shape;1622;p84"/>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84"/>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84"/>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1625" name="Google Shape;1625;p84"/>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1626" name="Google Shape;1626;p84"/>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US.58:</a:t>
            </a:r>
            <a:endParaRPr b="0" i="0" sz="1000" u="none" cap="none" strike="noStrike">
              <a:solidFill>
                <a:schemeClr val="dk1"/>
              </a:solidFill>
              <a:latin typeface="Calibri"/>
              <a:ea typeface="Calibri"/>
              <a:cs typeface="Calibri"/>
              <a:sym typeface="Calibri"/>
            </a:endParaRPr>
          </a:p>
        </p:txBody>
      </p:sp>
      <p:sp>
        <p:nvSpPr>
          <p:cNvPr id="1627" name="Google Shape;1627;p84"/>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founding Allied powers and diplomats like Cordell Hull who designed the UN, and the U.S. Senate, which this time approved membership.</a:t>
            </a:r>
            <a:endParaRPr b="0" i="0" sz="1200" u="none" cap="none" strike="noStrike">
              <a:solidFill>
                <a:schemeClr val="dk1"/>
              </a:solidFill>
              <a:latin typeface="Calibri"/>
              <a:ea typeface="Calibri"/>
              <a:cs typeface="Calibri"/>
              <a:sym typeface="Calibri"/>
            </a:endParaRPr>
          </a:p>
        </p:txBody>
      </p:sp>
      <p:sp>
        <p:nvSpPr>
          <p:cNvPr id="1628" name="Google Shape;1628;p84"/>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United Nations Charter Preamble, United Nations, June 26, 1945 (United Nations)</a:t>
            </a:r>
            <a:endParaRPr b="0" i="0" sz="1000" u="none" cap="none" strike="noStrike">
              <a:solidFill>
                <a:schemeClr val="dk1"/>
              </a:solidFill>
              <a:latin typeface="Calibri"/>
              <a:ea typeface="Calibri"/>
              <a:cs typeface="Calibri"/>
              <a:sym typeface="Calibri"/>
            </a:endParaRPr>
          </a:p>
        </p:txBody>
      </p:sp>
      <p:sp>
        <p:nvSpPr>
          <p:cNvPr id="1629" name="Google Shape;1629;p8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630" name="Google Shape;1630;p8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84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28</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United Nations</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United Nations</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An international organization founded in 1945 by 50 nations to maintain global peace, security, and cooperation and to prevent another world war through collective diplomacy.</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Cordell Hull</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Cordell Hull</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U.S. Secretary of State under Franklin D. Roosevelt (1933-1944), awarded the 1945 Nobel Peace Prize for his role in creating the United Nations.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Yalta Conference</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Conferencia de Yalta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February 1945 meeting of Roosevelt, Churchill, and Stalin to plan post-war Europe, dividing Germany and establishing spheres of influence.</a:t>
            </a:r>
            <a:endParaRPr lang="en-US" sz="1300" dirty="0"/>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29</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were the main goals of the United Nations, and how did they reflect wartime experiences?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UN had no connection to WWII experiences, although this view has been largely discredited by scholars, but closer analysis reveals a more complicated historical reality, but the historical evidence paints a more nuanced picture</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Goals of maintaining peace, promoting human rights, enabling self-determination, and fostering cooperation directly addressed the failures that led to WWII—aggression, human rights violations, and economic nationalism</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UN focused only on trade issues, although this view has been largely discredited by scholars and does not reflect the scholarly consensus on this topic, which ignores significant political and cultural developments of the era</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Wartime experiences were irrelevant to UN design, but this fails to account for the broader historical context, which represents a common misconception about this historical period, which contradicts the primary source evidence from this era</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2026-07-02T17:08:33Z</dcterms:created>
  <dc:creator>TroopToTeacher Technologies LLC</dc:creator>
</cp:coreProperties>
</file>
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0-1.jpg" ContentType="image/jpg"/>
  <Override PartName="/ppt/media/image-14-1.jpg" ContentType="image/jpg"/>
  <Override PartName="/ppt/media/image-15-1.jpg" ContentType="image/jpg"/>
  <Override PartName="/ppt/media/image-16-1.jpg" ContentType="image/jpg"/>
  <Override PartName="/ppt/media/image-2-1.jpg" ContentType="image/jpg"/>
  <Override PartName="/ppt/media/image-20-1.jpg" ContentType="image/jpg"/>
  <Override PartName="/ppt/media/image-21-1.jpg" ContentType="image/jpg"/>
  <Override PartName="/ppt/media/image-22-1.jpg" ContentType="image/jpg"/>
  <Override PartName="/ppt/media/image-23-1.jpg" ContentType="image/jpg"/>
  <Override PartName="/ppt/media/image-27-1.jpg" ContentType="image/jpg"/>
  <Override PartName="/ppt/media/image-28-1.jpg" ContentType="image/jpg"/>
  <Override PartName="/ppt/media/image-29-1.jpg" ContentType="image/jpg"/>
  <Override PartName="/ppt/media/image-3-1.jpg" ContentType="image/jpg"/>
  <Override PartName="/ppt/media/image-33-1.jpg" ContentType="image/jpg"/>
  <Override PartName="/ppt/media/image-35-1.jpg" ContentType="image/jpg"/>
  <Override PartName="/ppt/media/image-36-1.jpg" ContentType="image/jpg"/>
  <Override PartName="/ppt/media/image-4-1.jpg" ContentType="image/jpg"/>
  <Override PartName="/ppt/media/image-40-1.jpg" ContentType="image/jpg"/>
  <Override PartName="/ppt/media/image-41-1.jpg" ContentType="image/jpg"/>
  <Override PartName="/ppt/media/image-42-1.jpg" ContentType="image/jpg"/>
  <Override PartName="/ppt/media/image-43-1.jpg" ContentType="image/jpg"/>
  <Override PartName="/ppt/media/image-47-1.jpg" ContentType="image/jpg"/>
  <Override PartName="/ppt/media/image-48-1.jpg" ContentType="image/jpg"/>
  <Override PartName="/ppt/media/image-49-1.jpg" ContentType="image/jpg"/>
  <Override PartName="/ppt/media/image-54-1.jpg" ContentType="image/jpg"/>
  <Override PartName="/ppt/media/image-55-1.jpg" ContentType="image/jpg"/>
  <Override PartName="/ppt/media/image-56-1.jpg" ContentType="image/jpg"/>
  <Override PartName="/ppt/media/image-57-1.jpg" ContentType="image/jpg"/>
  <Override PartName="/ppt/media/image-61-1.jpg" ContentType="image/jpg"/>
  <Override PartName="/ppt/media/image-62-1.jpg" ContentType="image/jpg"/>
  <Override PartName="/ppt/media/image-63-1.jpg" ContentType="image/jpg"/>
  <Override PartName="/ppt/media/image-67-1.jpg" ContentType="image/jpg"/>
  <Override PartName="/ppt/media/image-68-1.jpg" ContentType="image/jpg"/>
  <Override PartName="/ppt/media/image-69-1.jpg" ContentType="image/jpg"/>
  <Override PartName="/ppt/media/image-70-1.jpg" ContentType="image/jpg"/>
  <Override PartName="/ppt/media/image-8-1.jpg" ContentType="image/jpg"/>
  <Override PartName="/ppt/media/image-9-1.jpg" ContentType="image/jpg"/>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328" r:id="rId79"/>
    <p:sldId id="256" r:id="rId2"/>
    <p:sldId id="257" r:id="rId3"/>
    <p:sldId id="258" r:id="rId4"/>
    <p:sldId id="259" r:id="rId5"/>
    <p:sldId id="260" r:id="rId6"/>
    <p:sldId id="261" r:id="rId7"/>
    <p:sldId id="329" r:id="rId80"/>
    <p:sldId id="340" r:id="rId91"/>
    <p:sldId id="262" r:id="rId8"/>
    <p:sldId id="263" r:id="rId9"/>
    <p:sldId id="264" r:id="rId10"/>
    <p:sldId id="265" r:id="rId11"/>
    <p:sldId id="266" r:id="rId12"/>
    <p:sldId id="267" r:id="rId13"/>
    <p:sldId id="330" r:id="rId81"/>
    <p:sldId id="341" r:id="rId92"/>
    <p:sldId id="268" r:id="rId14"/>
    <p:sldId id="269" r:id="rId15"/>
    <p:sldId id="270" r:id="rId16"/>
    <p:sldId id="271" r:id="rId17"/>
    <p:sldId id="272" r:id="rId18"/>
    <p:sldId id="273" r:id="rId19"/>
    <p:sldId id="331" r:id="rId82"/>
    <p:sldId id="342" r:id="rId93"/>
    <p:sldId id="274" r:id="rId20"/>
    <p:sldId id="275" r:id="rId21"/>
    <p:sldId id="276" r:id="rId22"/>
    <p:sldId id="277" r:id="rId23"/>
    <p:sldId id="278" r:id="rId24"/>
    <p:sldId id="279" r:id="rId25"/>
    <p:sldId id="280" r:id="rId26"/>
    <p:sldId id="332" r:id="rId83"/>
    <p:sldId id="343" r:id="rId94"/>
    <p:sldId id="281" r:id="rId27"/>
    <p:sldId id="282" r:id="rId28"/>
    <p:sldId id="283" r:id="rId29"/>
    <p:sldId id="284" r:id="rId30"/>
    <p:sldId id="285" r:id="rId31"/>
    <p:sldId id="286" r:id="rId32"/>
    <p:sldId id="333" r:id="rId84"/>
    <p:sldId id="344" r:id="rId95"/>
    <p:sldId id="287" r:id="rId33"/>
    <p:sldId id="288" r:id="rId34"/>
    <p:sldId id="289" r:id="rId35"/>
    <p:sldId id="290" r:id="rId36"/>
    <p:sldId id="291" r:id="rId37"/>
    <p:sldId id="292" r:id="rId38"/>
    <p:sldId id="293" r:id="rId39"/>
    <p:sldId id="334" r:id="rId85"/>
    <p:sldId id="345" r:id="rId96"/>
    <p:sldId id="294" r:id="rId40"/>
    <p:sldId id="295" r:id="rId41"/>
    <p:sldId id="296" r:id="rId42"/>
    <p:sldId id="297" r:id="rId43"/>
    <p:sldId id="298" r:id="rId44"/>
    <p:sldId id="299" r:id="rId45"/>
    <p:sldId id="300" r:id="rId46"/>
    <p:sldId id="335" r:id="rId86"/>
    <p:sldId id="346" r:id="rId97"/>
    <p:sldId id="301" r:id="rId47"/>
    <p:sldId id="302" r:id="rId48"/>
    <p:sldId id="303" r:id="rId49"/>
    <p:sldId id="304" r:id="rId50"/>
    <p:sldId id="305" r:id="rId51"/>
    <p:sldId id="306" r:id="rId52"/>
    <p:sldId id="307" r:id="rId53"/>
    <p:sldId id="336" r:id="rId87"/>
    <p:sldId id="347" r:id="rId98"/>
    <p:sldId id="308" r:id="rId54"/>
    <p:sldId id="309" r:id="rId55"/>
    <p:sldId id="310" r:id="rId56"/>
    <p:sldId id="311" r:id="rId57"/>
    <p:sldId id="312" r:id="rId58"/>
    <p:sldId id="313" r:id="rId59"/>
    <p:sldId id="314" r:id="rId60"/>
    <p:sldId id="337" r:id="rId88"/>
    <p:sldId id="348" r:id="rId99"/>
    <p:sldId id="315" r:id="rId61"/>
    <p:sldId id="316" r:id="rId62"/>
    <p:sldId id="317" r:id="rId63"/>
    <p:sldId id="318" r:id="rId64"/>
    <p:sldId id="319" r:id="rId65"/>
    <p:sldId id="320" r:id="rId66"/>
    <p:sldId id="338" r:id="rId89"/>
    <p:sldId id="349" r:id="rId100"/>
    <p:sldId id="321" r:id="rId67"/>
    <p:sldId id="322" r:id="rId68"/>
    <p:sldId id="323" r:id="rId69"/>
    <p:sldId id="324" r:id="rId70"/>
    <p:sldId id="325" r:id="rId71"/>
    <p:sldId id="326" r:id="rId72"/>
    <p:sldId id="327" r:id="rId73"/>
    <p:sldId id="339" r:id="rId90"/>
    <p:sldId id="350" r:id="rId101"/>
  </p:sldIdLst>
  <p:notesMasterIdLst>
    <p:notesMasterId r:id="rId74"/>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notesMaster" Target="notesMasters/notesMaster1.xml"/><Relationship Id="rId75" Type="http://schemas.openxmlformats.org/officeDocument/2006/relationships/presProps" Target="presProps.xml"/><Relationship Id="rId76" Type="http://schemas.openxmlformats.org/officeDocument/2006/relationships/viewProps" Target="viewProps.xml"/><Relationship Id="rId77" Type="http://schemas.openxmlformats.org/officeDocument/2006/relationships/theme" Target="theme/theme1.xml"/><Relationship Id="rId78" Type="http://schemas.openxmlformats.org/officeDocument/2006/relationships/tableStyles" Target="tableStyles.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hyperlink" Target="https://www.carnegie.org/about/our-history/gospelofwealth/" TargetMode="Externa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hyperlink" Target="https://historymatters.gmu.edu/d/39/" TargetMode="Externa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hyperlink" Target="https://www.loc.gov/item/90898110/" TargetMode="External"/><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jp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jp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hyperlink" Target="https://www.loc.gov/collections/samuel-gompers-papers/" TargetMode="External"/><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jp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hyperlink" Target="https://www.archives.gov/milestone-documents/sherman-anti-trust-act" TargetMode="External"/><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jp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jp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jp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hyperlink" Target="https://trianglefire.ilr.cornell.edu/" TargetMode="External"/><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jp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jpg"/><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jpg"/><Relationship Id="rId2" Type="http://schemas.openxmlformats.org/officeDocument/2006/relationships/slideLayout" Target="../slideLayouts/slideLayout1.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jp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hyperlink" Target="https://www.loc.gov/item/04018073/" TargetMode="External"/><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jpg"/><Relationship Id="rId2" Type="http://schemas.openxmlformats.org/officeDocument/2006/relationships/slideLayout" Target="../slideLayouts/slideLayout1.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jpg"/><Relationship Id="rId2" Type="http://schemas.openxmlformats.org/officeDocument/2006/relationships/slideLayout" Target="../slideLayouts/slideLayout1.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jpg"/><Relationship Id="rId2" Type="http://schemas.openxmlformats.org/officeDocument/2006/relationships/slideLayout" Target="../slideLayouts/slideLayout1.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hyperlink" Target="https://constitution.congress.gov/browse/amendment-16/" TargetMode="External"/><Relationship Id="rId2" Type="http://schemas.openxmlformats.org/officeDocument/2006/relationships/slideLayout" Target="../slideLayouts/slideLayout1.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jpg"/><Relationship Id="rId2" Type="http://schemas.openxmlformats.org/officeDocument/2006/relationships/slideLayout" Target="../slideLayouts/slideLayout1.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jpg"/><Relationship Id="rId2" Type="http://schemas.openxmlformats.org/officeDocument/2006/relationships/slideLayout" Target="../slideLayouts/slideLayout1.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jpg"/><Relationship Id="rId2" Type="http://schemas.openxmlformats.org/officeDocument/2006/relationships/slideLayout" Target="../slideLayouts/slideLayout1.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jpg"/><Relationship Id="rId2" Type="http://schemas.openxmlformats.org/officeDocument/2006/relationships/slideLayout" Target="../slideLayouts/slideLayout1.xml"/><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hyperlink" Target="https://www.loc.gov/collections/theodore-roosevelt-papers/" TargetMode="External"/><Relationship Id="rId2" Type="http://schemas.openxmlformats.org/officeDocument/2006/relationships/slideLayout" Target="../slideLayouts/slideLayout1.xml"/><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image-61-1.jpg"/><Relationship Id="rId2" Type="http://schemas.openxmlformats.org/officeDocument/2006/relationships/slideLayout" Target="../slideLayouts/slideLayout1.xml"/><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image" Target="../media/image-62-1.jpg"/><Relationship Id="rId2" Type="http://schemas.openxmlformats.org/officeDocument/2006/relationships/slideLayout" Target="../slideLayouts/slideLayout1.xml"/><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image" Target="../media/image-63-1.jpg"/><Relationship Id="rId2" Type="http://schemas.openxmlformats.org/officeDocument/2006/relationships/slideLayout" Target="../slideLayouts/slideLayout1.xml"/><Relationship Id="rId3"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hyperlink" Target="https://www.loc.gov/law/help/statutes-at-large/63rd-congress/session-1/c63s1ch6.pdf" TargetMode="External"/><Relationship Id="rId2" Type="http://schemas.openxmlformats.org/officeDocument/2006/relationships/slideLayout" Target="../slideLayouts/slideLayout1.xml"/><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image" Target="../media/image-67-1.jpg"/><Relationship Id="rId2" Type="http://schemas.openxmlformats.org/officeDocument/2006/relationships/slideLayout" Target="../slideLayouts/slideLayout1.xml"/><Relationship Id="rId3"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image" Target="../media/image-68-1.jpg"/><Relationship Id="rId2" Type="http://schemas.openxmlformats.org/officeDocument/2006/relationships/slideLayout" Target="../slideLayouts/slideLayout1.xml"/><Relationship Id="rId3"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image" Target="../media/image-69-1.jpg"/><Relationship Id="rId2" Type="http://schemas.openxmlformats.org/officeDocument/2006/relationships/slideLayout" Target="../slideLayouts/slideLayout1.xml"/><Relationship Id="rId3"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image" Target="../media/image-70-1.jpg"/><Relationship Id="rId2" Type="http://schemas.openxmlformats.org/officeDocument/2006/relationships/slideLayout" Target="../slideLayouts/slideLayout1.xml"/><Relationship Id="rId3"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hyperlink" Target="https://www.archives.gov/milestone-documents/19th-amendment" TargetMode="External"/><Relationship Id="rId2" Type="http://schemas.openxmlformats.org/officeDocument/2006/relationships/slideLayout" Target="../slideLayouts/slideLayout1.xml"/><Relationship Id="rId3"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2332"/>
        </a:solidFill>
      </p:bgPr>
    </p:bg>
    <p:spTree>
      <p:nvGrpSpPr>
        <p:cNvPr id="1" name=""/>
        <p:cNvGrpSpPr/>
        <p:nvPr/>
      </p:nvGrpSpPr>
      <p:grpSpPr>
        <a:xfrm>
          <a:off x="0" y="0"/>
          <a:ext cx="0" cy="0"/>
          <a:chOff x="0" y="0"/>
          <a:chExt cx="0" cy="0"/>
        </a:xfrm>
      </p:grpSpPr>
      <p:sp>
        <p:nvSpPr>
          <p:cNvPr id="2" name="Shape 0"/>
          <p:cNvSpPr/>
          <p:nvPr/>
        </p:nvSpPr>
        <p:spPr>
          <a:xfrm>
            <a:off x="0" y="2331720"/>
            <a:ext cx="12191695" cy="73152"/>
          </a:xfrm>
          <a:prstGeom prst="rect">
            <a:avLst/>
          </a:prstGeom>
          <a:solidFill>
            <a:srgbClr val="C9A84C"/>
          </a:solidFill>
          <a:ln/>
        </p:spPr>
        <p:txBody>
          <a:bodyPr/>
          <a:p/>
        </p:txBody>
      </p:sp>
      <p:sp>
        <p:nvSpPr>
          <p:cNvPr id="3" name="Text 1"/>
          <p:cNvSpPr/>
          <p:nvPr/>
        </p:nvSpPr>
        <p:spPr>
          <a:xfrm>
            <a:off x="457200" y="548640"/>
            <a:ext cx="2926080" cy="1188720"/>
          </a:xfrm>
          <a:prstGeom prst="rect">
            <a:avLst/>
          </a:prstGeom>
          <a:noFill/>
          <a:ln/>
        </p:spPr>
        <p:txBody>
          <a:bodyPr wrap="square" rtlCol="0" anchor="ctr"/>
          <a:lstStyle/>
          <a:p>
            <a:pPr indent="0" marL="0">
              <a:buNone/>
            </a:pPr>
            <a:r>
              <a:rPr lang="en-US" sz="6000" b="1" dirty="0">
                <a:solidFill>
                  <a:srgbClr val="C9A84C"/>
                </a:solidFill>
                <a:latin typeface="Georgia" pitchFamily="34" charset="0"/>
                <a:ea typeface="Georgia" pitchFamily="34" charset="-122"/>
                <a:cs typeface="Georgia" pitchFamily="34" charset="-120"/>
              </a:rPr>
              <a:t>US.08</a:t>
            </a:r>
            <a:endParaRPr lang="en-US" sz="6000" dirty="0"/>
          </a:p>
        </p:txBody>
      </p:sp>
      <p:sp>
        <p:nvSpPr>
          <p:cNvPr id="4" name="Text 2"/>
          <p:cNvSpPr/>
          <p:nvPr/>
        </p:nvSpPr>
        <p:spPr>
          <a:xfrm>
            <a:off x="3474720" y="548640"/>
            <a:ext cx="8229600" cy="1188720"/>
          </a:xfrm>
          <a:prstGeom prst="rect">
            <a:avLst/>
          </a:prstGeom>
          <a:noFill/>
          <a:ln/>
        </p:spPr>
        <p:txBody>
          <a:bodyPr wrap="square" rtlCol="0" anchor="ctr"/>
          <a:lstStyle/>
          <a:p>
            <a:pPr indent="0" marL="0">
              <a:buNone/>
            </a:pPr>
            <a:r>
              <a:rPr lang="en-US" sz="2600" b="1" dirty="0">
                <a:solidFill>
                  <a:srgbClr val="FFFFFF"/>
                </a:solidFill>
                <a:latin typeface="Georgia" pitchFamily="34" charset="0"/>
                <a:ea typeface="Georgia" pitchFamily="34" charset="-122"/>
                <a:cs typeface="Georgia" pitchFamily="34" charset="-120"/>
              </a:rPr>
              <a:t>Social Darwinism &amp; Social Gospel</a:t>
            </a:r>
            <a:endParaRPr lang="en-US" sz="2600" dirty="0"/>
          </a:p>
        </p:txBody>
      </p:sp>
      <p:sp>
        <p:nvSpPr>
          <p:cNvPr id="5" name="Text 3"/>
          <p:cNvSpPr/>
          <p:nvPr/>
        </p:nvSpPr>
        <p:spPr>
          <a:xfrm>
            <a:off x="457200" y="2651760"/>
            <a:ext cx="11247120" cy="274320"/>
          </a:xfrm>
          <a:prstGeom prst="rect">
            <a:avLst/>
          </a:prstGeom>
          <a:noFill/>
          <a:ln/>
        </p:spPr>
        <p:txBody>
          <a:bodyPr wrap="square" rtlCol="0" anchor="ctr"/>
          <a:lstStyle/>
          <a:p>
            <a:pPr indent="0" marL="0">
              <a:buNone/>
            </a:pPr>
            <a:r>
              <a:rPr lang="en-US" sz="1200" b="1" spc="200" kern="0" dirty="0">
                <a:solidFill>
                  <a:srgbClr val="C9A84C"/>
                </a:solidFill>
                <a:latin typeface="Trebuchet MS" pitchFamily="34" charset="0"/>
                <a:ea typeface="Trebuchet MS" pitchFamily="34" charset="-122"/>
                <a:cs typeface="Trebuchet MS" pitchFamily="34" charset="-120"/>
              </a:rPr>
              <a:t>TN STANDARD</a:t>
            </a:r>
            <a:endParaRPr lang="en-US" sz="1200" dirty="0"/>
          </a:p>
        </p:txBody>
      </p:sp>
      <p:sp>
        <p:nvSpPr>
          <p:cNvPr id="6" name="Text 4"/>
          <p:cNvSpPr/>
          <p:nvPr/>
        </p:nvSpPr>
        <p:spPr>
          <a:xfrm>
            <a:off x="457200" y="2999232"/>
            <a:ext cx="11247120" cy="1691640"/>
          </a:xfrm>
          <a:prstGeom prst="rect">
            <a:avLst/>
          </a:prstGeom>
          <a:noFill/>
          <a:ln/>
        </p:spPr>
        <p:txBody>
          <a:bodyPr wrap="square" rtlCol="0" anchor="t"/>
          <a:lstStyle/>
          <a:p>
            <a:pPr indent="0" marL="0">
              <a:lnSpc>
                <a:spcPct val="105000"/>
              </a:lnSpc>
              <a:buNone/>
            </a:pPr>
            <a:r>
              <a:rPr lang="en-US" sz="1600" dirty="0">
                <a:solidFill>
                  <a:srgbClr val="C7D4E0"/>
                </a:solidFill>
                <a:latin typeface="Calibri" pitchFamily="34" charset="0"/>
                <a:ea typeface="Calibri" pitchFamily="34" charset="-122"/>
                <a:cs typeface="Calibri" pitchFamily="34" charset="-120"/>
              </a:rPr>
              <a:t>US.08 – Explain the concepts of Social Darwinism and the Social Gospel.</a:t>
            </a:r>
            <a:endParaRPr lang="en-US" sz="1600" dirty="0"/>
          </a:p>
        </p:txBody>
      </p:sp>
      <p:sp>
        <p:nvSpPr>
          <p:cNvPr id="7" name="Shape 5"/>
          <p:cNvSpPr/>
          <p:nvPr/>
        </p:nvSpPr>
        <p:spPr>
          <a:xfrm>
            <a:off x="457200" y="4892040"/>
            <a:ext cx="11247120" cy="1234440"/>
          </a:xfrm>
          <a:prstGeom prst="rect">
            <a:avLst/>
          </a:prstGeom>
          <a:solidFill>
            <a:srgbClr val="C9A84C"/>
          </a:solidFill>
          <a:ln/>
        </p:spPr>
      </p:sp>
      <p:sp>
        <p:nvSpPr>
          <p:cNvPr id="8" name="Text 6"/>
          <p:cNvSpPr/>
          <p:nvPr/>
        </p:nvSpPr>
        <p:spPr>
          <a:xfrm>
            <a:off x="640080" y="5029200"/>
            <a:ext cx="10972800" cy="274320"/>
          </a:xfrm>
          <a:prstGeom prst="rect">
            <a:avLst/>
          </a:prstGeom>
          <a:noFill/>
          <a:ln/>
        </p:spPr>
        <p:txBody>
          <a:bodyPr wrap="square" rtlCol="0" anchor="ctr"/>
          <a:lstStyle/>
          <a:p>
            <a:pPr indent="0" marL="0">
              <a:buNone/>
            </a:pPr>
            <a:r>
              <a:rPr lang="en-US" sz="1200" b="1" spc="200" kern="0" dirty="0">
                <a:solidFill>
                  <a:srgbClr val="1A2332"/>
                </a:solidFill>
                <a:latin typeface="Trebuchet MS" pitchFamily="34" charset="0"/>
                <a:ea typeface="Trebuchet MS" pitchFamily="34" charset="-122"/>
                <a:cs typeface="Trebuchet MS" pitchFamily="34" charset="-120"/>
              </a:rPr>
              <a:t>I CAN</a:t>
            </a:r>
            <a:endParaRPr lang="en-US" sz="1200" dirty="0"/>
          </a:p>
        </p:txBody>
      </p:sp>
      <p:sp>
        <p:nvSpPr>
          <p:cNvPr id="9" name="Text 7"/>
          <p:cNvSpPr/>
          <p:nvPr/>
        </p:nvSpPr>
        <p:spPr>
          <a:xfrm>
            <a:off x="640080" y="5303520"/>
            <a:ext cx="10881360" cy="749808"/>
          </a:xfrm>
          <a:prstGeom prst="rect">
            <a:avLst/>
          </a:prstGeom>
          <a:noFill/>
          <a:ln/>
        </p:spPr>
        <p:txBody>
          <a:bodyPr wrap="square" rtlCol="0" anchor="t"/>
          <a:lstStyle/>
          <a:p>
            <a:pPr indent="0" marL="0">
              <a:buNone/>
            </a:pPr>
            <a:r>
              <a:rPr lang="en-US" sz="1400" b="1" dirty="0">
                <a:solidFill>
                  <a:srgbClr val="1A2332"/>
                </a:solidFill>
                <a:latin typeface="Calibri" pitchFamily="34" charset="0"/>
                <a:ea typeface="Calibri" pitchFamily="34" charset="-122"/>
                <a:cs typeface="Calibri" pitchFamily="34" charset="-120"/>
              </a:rPr>
              <a:t>I can explain the concepts of Social Darwinism and the Social Gospel and how they shaped debates over government's role in addressing social problems.</a:t>
            </a:r>
            <a:endParaRPr lang="en-US" sz="1400" dirty="0"/>
          </a:p>
        </p:txBody>
      </p:sp>
      <p:sp>
        <p:nvSpPr>
          <p:cNvPr id="10" name="Text 8"/>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1" name="Text 9"/>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737360"/>
          </a:xfrm>
          <a:prstGeom prst="rect">
            <a:avLst/>
          </a:prstGeom>
          <a:solidFill>
            <a:srgbClr val="1A2332"/>
          </a:solidFill>
          <a:ln/>
        </p:spPr>
        <p:txBody>
          <a:bodyPr/>
          <a:p/>
        </p:txBody>
      </p:sp>
      <p:sp>
        <p:nvSpPr>
          <p:cNvPr id="3" name="Shape 1"/>
          <p:cNvSpPr/>
          <p:nvPr/>
        </p:nvSpPr>
        <p:spPr>
          <a:xfrm>
            <a:off x="0" y="1737360"/>
            <a:ext cx="12191695" cy="54864"/>
          </a:xfrm>
          <a:prstGeom prst="rect">
            <a:avLst/>
          </a:prstGeom>
          <a:solidFill>
            <a:srgbClr val="C9A84C"/>
          </a:solidFill>
          <a:ln/>
        </p:spPr>
        <p:txBody>
          <a:bodyPr/>
          <a:p/>
        </p:txBody>
      </p:sp>
      <p:sp>
        <p:nvSpPr>
          <p:cNvPr id="4" name="Text 2"/>
          <p:cNvSpPr/>
          <p:nvPr/>
        </p:nvSpPr>
        <p:spPr>
          <a:xfrm>
            <a:off x="457200" y="320040"/>
            <a:ext cx="3291840" cy="365760"/>
          </a:xfrm>
          <a:prstGeom prst="rect">
            <a:avLst/>
          </a:prstGeom>
          <a:solidFill>
            <a:srgbClr val="00285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DIRECT INSTRUCTION</a:t>
            </a:r>
            <a:endParaRPr lang="en-US" sz="1100" dirty="0"/>
          </a:p>
        </p:txBody>
      </p:sp>
      <p:sp>
        <p:nvSpPr>
          <p:cNvPr id="5" name="Text 3"/>
          <p:cNvSpPr/>
          <p:nvPr/>
        </p:nvSpPr>
        <p:spPr>
          <a:xfrm>
            <a:off x="3886200" y="32004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US.08</a:t>
            </a:r>
            <a:endParaRPr lang="en-US" sz="1200" dirty="0"/>
          </a:p>
        </p:txBody>
      </p:sp>
      <p:sp>
        <p:nvSpPr>
          <p:cNvPr id="6" name="Text 4"/>
          <p:cNvSpPr/>
          <p:nvPr/>
        </p:nvSpPr>
        <p:spPr>
          <a:xfrm>
            <a:off x="457200" y="777240"/>
            <a:ext cx="11247120" cy="868680"/>
          </a:xfrm>
          <a:prstGeom prst="rect">
            <a:avLst/>
          </a:prstGeom>
          <a:noFill/>
          <a:ln/>
        </p:spPr>
        <p:txBody>
          <a:bodyPr wrap="square" rtlCol="0" anchor="ctr"/>
          <a:lstStyle/>
          <a:p>
            <a:pPr algn="l" indent="0" marL="0">
              <a:buNone/>
            </a:pPr>
            <a:r>
              <a:rPr lang="en-US" sz="2300" b="1" dirty="0">
                <a:solidFill>
                  <a:srgbClr val="FFFFFF"/>
                </a:solidFill>
                <a:latin typeface="Georgia" pitchFamily="34" charset="0"/>
                <a:ea typeface="Georgia" pitchFamily="34" charset="-122"/>
                <a:cs typeface="Georgia" pitchFamily="34" charset="-120"/>
              </a:rPr>
              <a:t>Social Darwinism applied “survival of the fittest” to society — Spencer and Sumner used it to defend industrial wealth and oppose helping the poor.</a:t>
            </a:r>
            <a:endParaRPr lang="en-US" sz="2300" dirty="0"/>
          </a:p>
        </p:txBody>
      </p:sp>
      <p:pic>
        <p:nvPicPr>
          <p:cNvPr id="7" name="Image 0" descr="hh-web/public/images/textbook/unit-2/carnegie-steel-homestead-1892.jpg">    </p:cNvPr>
          <p:cNvPicPr>
            <a:picLocks noChangeAspect="1"/>
          </p:cNvPicPr>
          <p:nvPr/>
        </p:nvPicPr>
        <p:blipFill>
          <a:blip r:embed="rId1"/>
          <a:srcRect l="0" r="0" t="0" b="0"/>
          <a:stretch/>
        </p:blipFill>
        <p:spPr>
          <a:xfrm>
            <a:off x="2743200" y="2057400"/>
            <a:ext cx="6702552" cy="4160520"/>
          </a:xfrm>
          <a:prstGeom prst="rect">
            <a:avLst/>
          </a:prstGeom>
        </p:spPr>
      </p:pic>
      <p:sp>
        <p:nvSpPr>
          <p:cNvPr id="8" name="Text 5"/>
          <p:cNvSpPr/>
          <p:nvPr/>
        </p:nvSpPr>
        <p:spPr>
          <a:xfrm>
            <a:off x="2743200" y="2103120"/>
            <a:ext cx="1188720" cy="292608"/>
          </a:xfrm>
          <a:prstGeom prst="rect">
            <a:avLst/>
          </a:prstGeom>
          <a:solidFill>
            <a:srgbClr val="F9A825"/>
          </a:solidFill>
          <a:ln/>
        </p:spPr>
        <p:txBody>
          <a:bodyPr wrap="square" rtlCol="0" anchor="ctr"/>
          <a:lstStyle/>
          <a:p>
            <a:pPr algn="ctr" indent="0" marL="0">
              <a:buNone/>
            </a:pPr>
            <a:r>
              <a:rPr lang="en-US" sz="900" b="1" spc="100" kern="0" dirty="0">
                <a:solidFill>
                  <a:srgbClr val="1A2332"/>
                </a:solidFill>
                <a:latin typeface="Trebuchet MS" pitchFamily="34" charset="0"/>
                <a:ea typeface="Trebuchet MS" pitchFamily="34" charset="-122"/>
                <a:cs typeface="Trebuchet MS" pitchFamily="34" charset="-120"/>
              </a:rPr>
              <a:t>ZOOM IN</a:t>
            </a:r>
            <a:endParaRPr lang="en-US" sz="900" dirty="0"/>
          </a:p>
        </p:txBody>
      </p:sp>
      <p:sp>
        <p:nvSpPr>
          <p:cNvPr id="9" name="Text 6"/>
          <p:cNvSpPr/>
          <p:nvPr/>
        </p:nvSpPr>
        <p:spPr>
          <a:xfrm>
            <a:off x="457200" y="6263640"/>
            <a:ext cx="8229600" cy="274320"/>
          </a:xfrm>
          <a:prstGeom prst="rect">
            <a:avLst/>
          </a:prstGeom>
          <a:noFill/>
          <a:ln/>
        </p:spPr>
        <p:txBody>
          <a:bodyPr wrap="square" rtlCol="0" anchor="ctr"/>
          <a:lstStyle/>
          <a:p>
            <a:pPr indent="0" marL="0">
              <a:buNone/>
            </a:pPr>
            <a:r>
              <a:rPr lang="en-US" sz="1000" i="1" dirty="0">
                <a:solidFill>
                  <a:srgbClr val="5C6470"/>
                </a:solidFill>
                <a:latin typeface="Trebuchet MS" pitchFamily="34" charset="0"/>
                <a:ea typeface="Trebuchet MS" pitchFamily="34" charset="-122"/>
                <a:cs typeface="Trebuchet MS" pitchFamily="34" charset="-120"/>
              </a:rPr>
              <a:t>US.08 · Social Darwinism Explained</a:t>
            </a:r>
            <a:endParaRPr lang="en-US" sz="1000" dirty="0"/>
          </a:p>
        </p:txBody>
      </p:sp>
      <p:sp>
        <p:nvSpPr>
          <p:cNvPr id="10" name="Text 7"/>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1" name="Text 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737360"/>
          </a:xfrm>
          <a:prstGeom prst="rect">
            <a:avLst/>
          </a:prstGeom>
          <a:solidFill>
            <a:srgbClr val="1A2332"/>
          </a:solidFill>
          <a:ln/>
        </p:spPr>
        <p:txBody>
          <a:bodyPr/>
          <a:p/>
        </p:txBody>
      </p:sp>
      <p:sp>
        <p:nvSpPr>
          <p:cNvPr id="3" name="Shape 1"/>
          <p:cNvSpPr/>
          <p:nvPr/>
        </p:nvSpPr>
        <p:spPr>
          <a:xfrm>
            <a:off x="0" y="1737360"/>
            <a:ext cx="12191695" cy="54864"/>
          </a:xfrm>
          <a:prstGeom prst="rect">
            <a:avLst/>
          </a:prstGeom>
          <a:solidFill>
            <a:srgbClr val="C9A84C"/>
          </a:solidFill>
          <a:ln/>
        </p:spPr>
        <p:txBody>
          <a:bodyPr/>
          <a:p/>
        </p:txBody>
      </p:sp>
      <p:sp>
        <p:nvSpPr>
          <p:cNvPr id="4" name="Text 2"/>
          <p:cNvSpPr/>
          <p:nvPr/>
        </p:nvSpPr>
        <p:spPr>
          <a:xfrm>
            <a:off x="457200" y="320040"/>
            <a:ext cx="3291840" cy="365760"/>
          </a:xfrm>
          <a:prstGeom prst="rect">
            <a:avLst/>
          </a:prstGeom>
          <a:solidFill>
            <a:srgbClr val="00285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DIRECT INSTRUCTION</a:t>
            </a:r>
            <a:endParaRPr lang="en-US" sz="1100" dirty="0"/>
          </a:p>
        </p:txBody>
      </p:sp>
      <p:sp>
        <p:nvSpPr>
          <p:cNvPr id="5" name="Text 3"/>
          <p:cNvSpPr/>
          <p:nvPr/>
        </p:nvSpPr>
        <p:spPr>
          <a:xfrm>
            <a:off x="3886200" y="32004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US.08</a:t>
            </a:r>
            <a:endParaRPr lang="en-US" sz="1200" dirty="0"/>
          </a:p>
        </p:txBody>
      </p:sp>
      <p:sp>
        <p:nvSpPr>
          <p:cNvPr id="6" name="Text 4"/>
          <p:cNvSpPr/>
          <p:nvPr/>
        </p:nvSpPr>
        <p:spPr>
          <a:xfrm>
            <a:off x="457200" y="777240"/>
            <a:ext cx="11247120" cy="868680"/>
          </a:xfrm>
          <a:prstGeom prst="rect">
            <a:avLst/>
          </a:prstGeom>
          <a:noFill/>
          <a:ln/>
        </p:spPr>
        <p:txBody>
          <a:bodyPr wrap="square" rtlCol="0" anchor="ctr"/>
          <a:lstStyle/>
          <a:p>
            <a:pPr algn="l" indent="0" marL="0">
              <a:buNone/>
            </a:pPr>
            <a:r>
              <a:rPr lang="en-US" sz="2300" b="1" dirty="0">
                <a:solidFill>
                  <a:srgbClr val="FFFFFF"/>
                </a:solidFill>
                <a:latin typeface="Georgia" pitchFamily="34" charset="0"/>
                <a:ea typeface="Georgia" pitchFamily="34" charset="-122"/>
                <a:cs typeface="Georgia" pitchFamily="34" charset="-120"/>
              </a:rPr>
              <a:t>The Social Gospel answered back — reformers like Rauschenbusch argued Christian ethics demanded fighting poverty and improving working conditions.</a:t>
            </a:r>
            <a:endParaRPr lang="en-US" sz="2300" dirty="0"/>
          </a:p>
        </p:txBody>
      </p:sp>
      <p:pic>
        <p:nvPicPr>
          <p:cNvPr id="7" name="Image 0" descr="hh-web/public/images/textbook/unit-2/jane-addams-hull-house.jpg">    </p:cNvPr>
          <p:cNvPicPr>
            <a:picLocks noChangeAspect="1"/>
          </p:cNvPicPr>
          <p:nvPr/>
        </p:nvPicPr>
        <p:blipFill>
          <a:blip r:embed="rId1"/>
          <a:srcRect l="0" r="0" t="0" b="0"/>
          <a:stretch/>
        </p:blipFill>
        <p:spPr>
          <a:xfrm>
            <a:off x="2743200" y="2057400"/>
            <a:ext cx="6702552" cy="4160520"/>
          </a:xfrm>
          <a:prstGeom prst="rect">
            <a:avLst/>
          </a:prstGeom>
        </p:spPr>
      </p:pic>
      <p:sp>
        <p:nvSpPr>
          <p:cNvPr id="8" name="Text 5"/>
          <p:cNvSpPr/>
          <p:nvPr/>
        </p:nvSpPr>
        <p:spPr>
          <a:xfrm>
            <a:off x="2743200" y="2103120"/>
            <a:ext cx="1188720" cy="292608"/>
          </a:xfrm>
          <a:prstGeom prst="rect">
            <a:avLst/>
          </a:prstGeom>
          <a:solidFill>
            <a:srgbClr val="F9A825"/>
          </a:solidFill>
          <a:ln/>
        </p:spPr>
        <p:txBody>
          <a:bodyPr wrap="square" rtlCol="0" anchor="ctr"/>
          <a:lstStyle/>
          <a:p>
            <a:pPr algn="ctr" indent="0" marL="0">
              <a:buNone/>
            </a:pPr>
            <a:r>
              <a:rPr lang="en-US" sz="900" b="1" spc="100" kern="0" dirty="0">
                <a:solidFill>
                  <a:srgbClr val="1A2332"/>
                </a:solidFill>
                <a:latin typeface="Trebuchet MS" pitchFamily="34" charset="0"/>
                <a:ea typeface="Trebuchet MS" pitchFamily="34" charset="-122"/>
                <a:cs typeface="Trebuchet MS" pitchFamily="34" charset="-120"/>
              </a:rPr>
              <a:t>ZOOM IN</a:t>
            </a:r>
            <a:endParaRPr lang="en-US" sz="900" dirty="0"/>
          </a:p>
        </p:txBody>
      </p:sp>
      <p:sp>
        <p:nvSpPr>
          <p:cNvPr id="9" name="Text 6"/>
          <p:cNvSpPr/>
          <p:nvPr/>
        </p:nvSpPr>
        <p:spPr>
          <a:xfrm>
            <a:off x="457200" y="6263640"/>
            <a:ext cx="8229600" cy="274320"/>
          </a:xfrm>
          <a:prstGeom prst="rect">
            <a:avLst/>
          </a:prstGeom>
          <a:noFill/>
          <a:ln/>
        </p:spPr>
        <p:txBody>
          <a:bodyPr wrap="square" rtlCol="0" anchor="ctr"/>
          <a:lstStyle/>
          <a:p>
            <a:pPr indent="0" marL="0">
              <a:buNone/>
            </a:pPr>
            <a:r>
              <a:rPr lang="en-US" sz="1000" i="1" dirty="0">
                <a:solidFill>
                  <a:srgbClr val="5C6470"/>
                </a:solidFill>
                <a:latin typeface="Trebuchet MS" pitchFamily="34" charset="0"/>
                <a:ea typeface="Trebuchet MS" pitchFamily="34" charset="-122"/>
                <a:cs typeface="Trebuchet MS" pitchFamily="34" charset="-120"/>
              </a:rPr>
              <a:t>US.08 · The Social Gospel Movement</a:t>
            </a:r>
            <a:endParaRPr lang="en-US" sz="1000" dirty="0"/>
          </a:p>
        </p:txBody>
      </p:sp>
      <p:sp>
        <p:nvSpPr>
          <p:cNvPr id="10" name="Text 7"/>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1" name="Text 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737360"/>
          </a:xfrm>
          <a:prstGeom prst="rect">
            <a:avLst/>
          </a:prstGeom>
          <a:solidFill>
            <a:srgbClr val="1A2332"/>
          </a:solidFill>
          <a:ln/>
        </p:spPr>
        <p:txBody>
          <a:bodyPr/>
          <a:p/>
        </p:txBody>
      </p:sp>
      <p:sp>
        <p:nvSpPr>
          <p:cNvPr id="3" name="Shape 1"/>
          <p:cNvSpPr/>
          <p:nvPr/>
        </p:nvSpPr>
        <p:spPr>
          <a:xfrm>
            <a:off x="0" y="1737360"/>
            <a:ext cx="12191695" cy="54864"/>
          </a:xfrm>
          <a:prstGeom prst="rect">
            <a:avLst/>
          </a:prstGeom>
          <a:solidFill>
            <a:srgbClr val="C9A84C"/>
          </a:solidFill>
          <a:ln/>
        </p:spPr>
        <p:txBody>
          <a:bodyPr/>
          <a:p/>
        </p:txBody>
      </p:sp>
      <p:sp>
        <p:nvSpPr>
          <p:cNvPr id="4" name="Text 2"/>
          <p:cNvSpPr/>
          <p:nvPr/>
        </p:nvSpPr>
        <p:spPr>
          <a:xfrm>
            <a:off x="457200" y="320040"/>
            <a:ext cx="3291840" cy="365760"/>
          </a:xfrm>
          <a:prstGeom prst="rect">
            <a:avLst/>
          </a:prstGeom>
          <a:solidFill>
            <a:srgbClr val="00285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DIRECT INSTRUCTION</a:t>
            </a:r>
            <a:endParaRPr lang="en-US" sz="1100" dirty="0"/>
          </a:p>
        </p:txBody>
      </p:sp>
      <p:sp>
        <p:nvSpPr>
          <p:cNvPr id="5" name="Text 3"/>
          <p:cNvSpPr/>
          <p:nvPr/>
        </p:nvSpPr>
        <p:spPr>
          <a:xfrm>
            <a:off x="3886200" y="32004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US.08</a:t>
            </a:r>
            <a:endParaRPr lang="en-US" sz="1200" dirty="0"/>
          </a:p>
        </p:txBody>
      </p:sp>
      <p:sp>
        <p:nvSpPr>
          <p:cNvPr id="6" name="Text 4"/>
          <p:cNvSpPr/>
          <p:nvPr/>
        </p:nvSpPr>
        <p:spPr>
          <a:xfrm>
            <a:off x="457200" y="777240"/>
            <a:ext cx="11247120" cy="868680"/>
          </a:xfrm>
          <a:prstGeom prst="rect">
            <a:avLst/>
          </a:prstGeom>
          <a:noFill/>
          <a:ln/>
        </p:spPr>
        <p:txBody>
          <a:bodyPr wrap="square" rtlCol="0" anchor="ctr"/>
          <a:lstStyle/>
          <a:p>
            <a:pPr algn="l" indent="0" marL="0">
              <a:buNone/>
            </a:pPr>
            <a:r>
              <a:rPr lang="en-US" sz="2300" b="1" dirty="0">
                <a:solidFill>
                  <a:srgbClr val="FFFFFF"/>
                </a:solidFill>
                <a:latin typeface="Georgia" pitchFamily="34" charset="0"/>
                <a:ea typeface="Georgia" pitchFamily="34" charset="-122"/>
                <a:cs typeface="Georgia" pitchFamily="34" charset="-120"/>
              </a:rPr>
              <a:t>These rival philosophies framed the era’s central debate: should government stay out of social problems, or act to reduce inequality?</a:t>
            </a:r>
            <a:endParaRPr lang="en-US" sz="2300" dirty="0"/>
          </a:p>
        </p:txBody>
      </p:sp>
      <p:pic>
        <p:nvPicPr>
          <p:cNvPr id="7" name="Image 0" descr="hh-web/public/images/textbook/unit-2/gompers-samuel-portrait.jpg">    </p:cNvPr>
          <p:cNvPicPr>
            <a:picLocks noChangeAspect="1"/>
          </p:cNvPicPr>
          <p:nvPr/>
        </p:nvPicPr>
        <p:blipFill>
          <a:blip r:embed="rId1"/>
          <a:srcRect l="0" r="0" t="0" b="0"/>
          <a:stretch/>
        </p:blipFill>
        <p:spPr>
          <a:xfrm>
            <a:off x="2743200" y="2057400"/>
            <a:ext cx="6702552" cy="4160520"/>
          </a:xfrm>
          <a:prstGeom prst="rect">
            <a:avLst/>
          </a:prstGeom>
        </p:spPr>
      </p:pic>
      <p:sp>
        <p:nvSpPr>
          <p:cNvPr id="8" name="Text 5"/>
          <p:cNvSpPr/>
          <p:nvPr/>
        </p:nvSpPr>
        <p:spPr>
          <a:xfrm>
            <a:off x="2743200" y="2103120"/>
            <a:ext cx="1188720" cy="292608"/>
          </a:xfrm>
          <a:prstGeom prst="rect">
            <a:avLst/>
          </a:prstGeom>
          <a:solidFill>
            <a:srgbClr val="F9A825"/>
          </a:solidFill>
          <a:ln/>
        </p:spPr>
        <p:txBody>
          <a:bodyPr wrap="square" rtlCol="0" anchor="ctr"/>
          <a:lstStyle/>
          <a:p>
            <a:pPr algn="ctr" indent="0" marL="0">
              <a:buNone/>
            </a:pPr>
            <a:r>
              <a:rPr lang="en-US" sz="900" b="1" spc="100" kern="0" dirty="0">
                <a:solidFill>
                  <a:srgbClr val="1A2332"/>
                </a:solidFill>
                <a:latin typeface="Trebuchet MS" pitchFamily="34" charset="0"/>
                <a:ea typeface="Trebuchet MS" pitchFamily="34" charset="-122"/>
                <a:cs typeface="Trebuchet MS" pitchFamily="34" charset="-120"/>
              </a:rPr>
              <a:t>ZOOM IN</a:t>
            </a:r>
            <a:endParaRPr lang="en-US" sz="900" dirty="0"/>
          </a:p>
        </p:txBody>
      </p:sp>
      <p:sp>
        <p:nvSpPr>
          <p:cNvPr id="9" name="Text 6"/>
          <p:cNvSpPr/>
          <p:nvPr/>
        </p:nvSpPr>
        <p:spPr>
          <a:xfrm>
            <a:off x="457200" y="6263640"/>
            <a:ext cx="8229600" cy="274320"/>
          </a:xfrm>
          <a:prstGeom prst="rect">
            <a:avLst/>
          </a:prstGeom>
          <a:noFill/>
          <a:ln/>
        </p:spPr>
        <p:txBody>
          <a:bodyPr wrap="square" rtlCol="0" anchor="ctr"/>
          <a:lstStyle/>
          <a:p>
            <a:pPr indent="0" marL="0">
              <a:buNone/>
            </a:pPr>
            <a:r>
              <a:rPr lang="en-US" sz="1000" i="1" dirty="0">
                <a:solidFill>
                  <a:srgbClr val="5C6470"/>
                </a:solidFill>
                <a:latin typeface="Trebuchet MS" pitchFamily="34" charset="0"/>
                <a:ea typeface="Trebuchet MS" pitchFamily="34" charset="-122"/>
                <a:cs typeface="Trebuchet MS" pitchFamily="34" charset="-120"/>
              </a:rPr>
              <a:t>US.08 · Cultural &amp; Economic Impact</a:t>
            </a:r>
            <a:endParaRPr lang="en-US" sz="1000" dirty="0"/>
          </a:p>
        </p:txBody>
      </p:sp>
      <p:sp>
        <p:nvSpPr>
          <p:cNvPr id="10" name="Text 7"/>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1" name="Text 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554480"/>
          </a:xfrm>
          <a:prstGeom prst="rect">
            <a:avLst/>
          </a:prstGeom>
          <a:solidFill>
            <a:srgbClr val="002858"/>
          </a:solidFill>
          <a:ln/>
        </p:spPr>
        <p:txBody>
          <a:bodyPr/>
          <a:p/>
        </p:txBody>
      </p:sp>
      <p:sp>
        <p:nvSpPr>
          <p:cNvPr id="3" name="Shape 1"/>
          <p:cNvSpPr/>
          <p:nvPr/>
        </p:nvSpPr>
        <p:spPr>
          <a:xfrm>
            <a:off x="0" y="1554480"/>
            <a:ext cx="12191695" cy="54864"/>
          </a:xfrm>
          <a:prstGeom prst="rect">
            <a:avLst/>
          </a:prstGeom>
          <a:solidFill>
            <a:srgbClr val="C9A84C"/>
          </a:solidFill>
          <a:ln/>
        </p:spPr>
        <p:txBody>
          <a:bodyPr/>
          <a:p/>
        </p:txBody>
      </p:sp>
      <p:sp>
        <p:nvSpPr>
          <p:cNvPr id="4" name="Text 2"/>
          <p:cNvSpPr/>
          <p:nvPr/>
        </p:nvSpPr>
        <p:spPr>
          <a:xfrm>
            <a:off x="457200" y="274320"/>
            <a:ext cx="3291840" cy="365760"/>
          </a:xfrm>
          <a:prstGeom prst="rect">
            <a:avLst/>
          </a:prstGeom>
          <a:solidFill>
            <a:srgbClr val="C6282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SOURCE IT FIRST</a:t>
            </a:r>
            <a:endParaRPr lang="en-US" sz="1100" dirty="0"/>
          </a:p>
        </p:txBody>
      </p:sp>
      <p:sp>
        <p:nvSpPr>
          <p:cNvPr id="5" name="Text 3"/>
          <p:cNvSpPr/>
          <p:nvPr/>
        </p:nvSpPr>
        <p:spPr>
          <a:xfrm>
            <a:off x="3886200" y="27432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US.08</a:t>
            </a:r>
            <a:endParaRPr lang="en-US" sz="1200" dirty="0"/>
          </a:p>
        </p:txBody>
      </p:sp>
      <p:sp>
        <p:nvSpPr>
          <p:cNvPr id="6" name="Text 4"/>
          <p:cNvSpPr/>
          <p:nvPr/>
        </p:nvSpPr>
        <p:spPr>
          <a:xfrm>
            <a:off x="457200" y="713232"/>
            <a:ext cx="11247120" cy="777240"/>
          </a:xfrm>
          <a:prstGeom prst="rect">
            <a:avLst/>
          </a:prstGeom>
          <a:noFill/>
          <a:ln/>
        </p:spPr>
        <p:txBody>
          <a:bodyPr wrap="square" rtlCol="0" anchor="ctr"/>
          <a:lstStyle/>
          <a:p>
            <a:pPr indent="0" marL="0">
              <a:buNone/>
            </a:pPr>
            <a:r>
              <a:rPr lang="en-US" sz="2000" b="1" dirty="0">
                <a:solidFill>
                  <a:srgbClr val="FFFFFF"/>
                </a:solidFill>
                <a:latin typeface="Georgia" pitchFamily="34" charset="0"/>
                <a:ea typeface="Georgia" pitchFamily="34" charset="-122"/>
                <a:cs typeface="Georgia" pitchFamily="34" charset="-120"/>
              </a:rPr>
              <a:t>Carnegie explained how the rich should use their fortunes — read “The Gospel of Wealth” and weigh who he thinks deserves help.</a:t>
            </a:r>
            <a:endParaRPr lang="en-US" sz="2000" dirty="0"/>
          </a:p>
        </p:txBody>
      </p:sp>
      <p:sp>
        <p:nvSpPr>
          <p:cNvPr id="7" name="Text 5"/>
          <p:cNvSpPr/>
          <p:nvPr/>
        </p:nvSpPr>
        <p:spPr>
          <a:xfrm>
            <a:off x="457200" y="1783080"/>
            <a:ext cx="3566160" cy="320040"/>
          </a:xfrm>
          <a:prstGeom prst="rect">
            <a:avLst/>
          </a:prstGeom>
          <a:solidFill>
            <a:srgbClr val="1A2332"/>
          </a:solid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WHO</a:t>
            </a:r>
            <a:endParaRPr lang="en-US" sz="1200" dirty="0"/>
          </a:p>
        </p:txBody>
      </p:sp>
      <p:sp>
        <p:nvSpPr>
          <p:cNvPr id="8" name="Text 6"/>
          <p:cNvSpPr/>
          <p:nvPr/>
        </p:nvSpPr>
        <p:spPr>
          <a:xfrm>
            <a:off x="457200" y="2103120"/>
            <a:ext cx="3566160" cy="914400"/>
          </a:xfrm>
          <a:prstGeom prst="rect">
            <a:avLst/>
          </a:prstGeom>
          <a:solidFill>
            <a:srgbClr val="FFFFFF"/>
          </a:solidFill>
          <a:ln w="12700">
            <a:solidFill>
              <a:srgbClr val="DAD3C2"/>
            </a:solidFill>
          </a:ln>
        </p:spPr>
        <p:txBody>
          <a:bodyPr wrap="square" lIns="76200" tIns="76200" rIns="76200" bIns="76200" rtlCol="0" anchor="t"/>
          <a:lstStyle/>
          <a:p>
            <a:pPr algn="l" indent="0" marL="0">
              <a:buNone/>
            </a:pPr>
            <a:r>
              <a:rPr lang="en-US" sz="1200" dirty="0">
                <a:solidFill>
                  <a:srgbClr val="1F2430"/>
                </a:solidFill>
                <a:latin typeface="Calibri" pitchFamily="34" charset="0"/>
                <a:ea typeface="Calibri" pitchFamily="34" charset="-122"/>
                <a:cs typeface="Calibri" pitchFamily="34" charset="-120"/>
              </a:rPr>
              <a:t>Andrew Carnegie, America's wealthiest steel manufacturer.</a:t>
            </a:r>
            <a:endParaRPr lang="en-US" sz="1200" dirty="0"/>
          </a:p>
        </p:txBody>
      </p:sp>
      <p:sp>
        <p:nvSpPr>
          <p:cNvPr id="9" name="Text 7"/>
          <p:cNvSpPr/>
          <p:nvPr/>
        </p:nvSpPr>
        <p:spPr>
          <a:xfrm>
            <a:off x="4251960" y="1783080"/>
            <a:ext cx="3566160" cy="320040"/>
          </a:xfrm>
          <a:prstGeom prst="rect">
            <a:avLst/>
          </a:prstGeom>
          <a:solidFill>
            <a:srgbClr val="1A2332"/>
          </a:solid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WHEN</a:t>
            </a:r>
            <a:endParaRPr lang="en-US" sz="1200" dirty="0"/>
          </a:p>
        </p:txBody>
      </p:sp>
      <p:sp>
        <p:nvSpPr>
          <p:cNvPr id="10" name="Text 8"/>
          <p:cNvSpPr/>
          <p:nvPr/>
        </p:nvSpPr>
        <p:spPr>
          <a:xfrm>
            <a:off x="4251960" y="2103120"/>
            <a:ext cx="3566160" cy="914400"/>
          </a:xfrm>
          <a:prstGeom prst="rect">
            <a:avLst/>
          </a:prstGeom>
          <a:solidFill>
            <a:srgbClr val="FFFFFF"/>
          </a:solidFill>
          <a:ln w="12700">
            <a:solidFill>
              <a:srgbClr val="DAD3C2"/>
            </a:solidFill>
          </a:ln>
        </p:spPr>
        <p:txBody>
          <a:bodyPr wrap="square" lIns="76200" tIns="76200" rIns="76200" bIns="76200" rtlCol="0" anchor="t"/>
          <a:lstStyle/>
          <a:p>
            <a:pPr algn="l" indent="0" marL="0">
              <a:buNone/>
            </a:pPr>
            <a:r>
              <a:rPr lang="en-US" sz="1200" dirty="0">
                <a:solidFill>
                  <a:srgbClr val="1F2430"/>
                </a:solidFill>
                <a:latin typeface="Calibri" pitchFamily="34" charset="0"/>
                <a:ea typeface="Calibri" pitchFamily="34" charset="-122"/>
                <a:cs typeface="Calibri" pitchFamily="34" charset="-120"/>
              </a:rPr>
              <a:t>1889, at the height of the Gilded Age and rising labor unrest.</a:t>
            </a:r>
            <a:endParaRPr lang="en-US" sz="1200" dirty="0"/>
          </a:p>
        </p:txBody>
      </p:sp>
      <p:sp>
        <p:nvSpPr>
          <p:cNvPr id="11" name="Text 9"/>
          <p:cNvSpPr/>
          <p:nvPr/>
        </p:nvSpPr>
        <p:spPr>
          <a:xfrm>
            <a:off x="8046720" y="1783080"/>
            <a:ext cx="3566160" cy="320040"/>
          </a:xfrm>
          <a:prstGeom prst="rect">
            <a:avLst/>
          </a:prstGeom>
          <a:solidFill>
            <a:srgbClr val="1A2332"/>
          </a:solid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WHY</a:t>
            </a:r>
            <a:endParaRPr lang="en-US" sz="1200" dirty="0"/>
          </a:p>
        </p:txBody>
      </p:sp>
      <p:sp>
        <p:nvSpPr>
          <p:cNvPr id="12" name="Text 10"/>
          <p:cNvSpPr/>
          <p:nvPr/>
        </p:nvSpPr>
        <p:spPr>
          <a:xfrm>
            <a:off x="8046720" y="2103120"/>
            <a:ext cx="3566160" cy="914400"/>
          </a:xfrm>
          <a:prstGeom prst="rect">
            <a:avLst/>
          </a:prstGeom>
          <a:solidFill>
            <a:srgbClr val="FFFFFF"/>
          </a:solidFill>
          <a:ln w="12700">
            <a:solidFill>
              <a:srgbClr val="DAD3C2"/>
            </a:solidFill>
          </a:ln>
        </p:spPr>
        <p:txBody>
          <a:bodyPr wrap="square" lIns="76200" tIns="76200" rIns="76200" bIns="76200" rtlCol="0" anchor="t"/>
          <a:lstStyle/>
          <a:p>
            <a:pPr algn="l" indent="0" marL="0">
              <a:buNone/>
            </a:pPr>
            <a:r>
              <a:rPr lang="en-US" sz="1200" dirty="0">
                <a:solidFill>
                  <a:srgbClr val="1F2430"/>
                </a:solidFill>
                <a:latin typeface="Calibri" pitchFamily="34" charset="0"/>
                <a:ea typeface="Calibri" pitchFamily="34" charset="-122"/>
                <a:cs typeface="Calibri" pitchFamily="34" charset="-120"/>
              </a:rPr>
              <a:t>A wealthy author writing about wealth reveals assumptions about who deserves help — and who does not.</a:t>
            </a:r>
            <a:endParaRPr lang="en-US" sz="1200" dirty="0"/>
          </a:p>
        </p:txBody>
      </p:sp>
      <p:sp>
        <p:nvSpPr>
          <p:cNvPr id="13" name="Shape 11"/>
          <p:cNvSpPr/>
          <p:nvPr/>
        </p:nvSpPr>
        <p:spPr>
          <a:xfrm>
            <a:off x="457200" y="3200400"/>
            <a:ext cx="5532120" cy="2651760"/>
          </a:xfrm>
          <a:prstGeom prst="rect">
            <a:avLst/>
          </a:prstGeom>
          <a:solidFill>
            <a:srgbClr val="FFFFFF"/>
          </a:solidFill>
          <a:ln w="19050">
            <a:solidFill>
              <a:srgbClr val="C9A84C"/>
            </a:solidFill>
            <a:prstDash val="solid"/>
          </a:ln>
        </p:spPr>
      </p:sp>
      <p:sp>
        <p:nvSpPr>
          <p:cNvPr id="14" name="Text 12"/>
          <p:cNvSpPr/>
          <p:nvPr/>
        </p:nvSpPr>
        <p:spPr>
          <a:xfrm>
            <a:off x="594360" y="3291840"/>
            <a:ext cx="5257800" cy="320040"/>
          </a:xfrm>
          <a:prstGeom prst="rect">
            <a:avLst/>
          </a:prstGeom>
          <a:noFill/>
          <a:ln/>
        </p:spPr>
        <p:txBody>
          <a:bodyPr wrap="square" rtlCol="0" anchor="ctr"/>
          <a:lstStyle/>
          <a:p>
            <a:pPr indent="0" marL="0">
              <a:buNone/>
            </a:pPr>
            <a:r>
              <a:rPr lang="en-US" sz="1400" b="1" dirty="0">
                <a:solidFill>
                  <a:srgbClr val="002858"/>
                </a:solidFill>
                <a:latin typeface="Georgia" pitchFamily="34" charset="0"/>
                <a:ea typeface="Georgia" pitchFamily="34" charset="-122"/>
                <a:cs typeface="Georgia" pitchFamily="34" charset="-120"/>
              </a:rPr>
              <a:t>The Gospel of Wealth</a:t>
            </a:r>
            <a:endParaRPr lang="en-US" sz="1400" dirty="0"/>
          </a:p>
        </p:txBody>
      </p:sp>
      <p:sp>
        <p:nvSpPr>
          <p:cNvPr id="15" name="Text 13"/>
          <p:cNvSpPr/>
          <p:nvPr/>
        </p:nvSpPr>
        <p:spPr>
          <a:xfrm>
            <a:off x="594360" y="3611880"/>
            <a:ext cx="5257800" cy="274320"/>
          </a:xfrm>
          <a:prstGeom prst="rect">
            <a:avLst/>
          </a:prstGeom>
          <a:noFill/>
          <a:ln/>
        </p:spPr>
        <p:txBody>
          <a:bodyPr wrap="square" rtlCol="0" anchor="ctr"/>
          <a:lstStyle/>
          <a:p>
            <a:pPr indent="0" marL="0">
              <a:buNone/>
            </a:pPr>
            <a:r>
              <a:rPr lang="en-US" sz="900" i="1" dirty="0">
                <a:solidFill>
                  <a:srgbClr val="5C6470"/>
                </a:solidFill>
                <a:latin typeface="Trebuchet MS" pitchFamily="34" charset="0"/>
                <a:ea typeface="Trebuchet MS" pitchFamily="34" charset="-122"/>
                <a:cs typeface="Trebuchet MS" pitchFamily="34" charset="-120"/>
              </a:rPr>
              <a:t>Andrew Carnegie · 1889</a:t>
            </a:r>
            <a:endParaRPr lang="en-US" sz="900" dirty="0"/>
          </a:p>
        </p:txBody>
      </p:sp>
      <p:sp>
        <p:nvSpPr>
          <p:cNvPr id="16" name="Text 14"/>
          <p:cNvSpPr/>
          <p:nvPr/>
        </p:nvSpPr>
        <p:spPr>
          <a:xfrm>
            <a:off x="594360" y="3931920"/>
            <a:ext cx="5257800" cy="1600200"/>
          </a:xfrm>
          <a:prstGeom prst="rect">
            <a:avLst/>
          </a:prstGeom>
          <a:noFill/>
          <a:ln/>
        </p:spPr>
        <p:txBody>
          <a:bodyPr wrap="square" rtlCol="0" anchor="t"/>
          <a:lstStyle/>
          <a:p>
            <a:pPr indent="0" marL="0">
              <a:buNone/>
            </a:pPr>
            <a:r>
              <a:rPr lang="en-US" sz="1100" dirty="0">
                <a:solidFill>
                  <a:srgbClr val="1F2430"/>
                </a:solidFill>
                <a:latin typeface="Calibri" pitchFamily="34" charset="0"/>
                <a:ea typeface="Calibri" pitchFamily="34" charset="-122"/>
                <a:cs typeface="Calibri" pitchFamily="34" charset="-120"/>
              </a:rPr>
              <a:t>"The problem of our age is the proper administration of wealth, so that the ties of brotherhood may still bind together the rich and poor in harmonious relationship. The conditions of human life have not only been changed, but revolutionized, within the past few hundred years... The contrast between the palace of the millionaire and the cottage of the laborer... measures the change which has come with civilization."</a:t>
            </a:r>
            <a:endParaRPr lang="en-US" sz="1100" dirty="0"/>
          </a:p>
        </p:txBody>
      </p:sp>
      <p:sp>
        <p:nvSpPr>
          <p:cNvPr id="17" name="Text 15">
            <a:hlinkClick r:id="rId1" tooltip=""/>
          </p:cNvPr>
          <p:cNvSpPr/>
          <p:nvPr/>
        </p:nvSpPr>
        <p:spPr>
          <a:xfrm>
            <a:off x="594360" y="5532120"/>
            <a:ext cx="5257800" cy="256032"/>
          </a:xfrm>
          <a:prstGeom prst="rect">
            <a:avLst/>
          </a:prstGeom>
          <a:noFill/>
          <a:ln/>
        </p:spPr>
        <p:txBody>
          <a:bodyPr wrap="square" rtlCol="0" anchor="ctr"/>
          <a:lstStyle/>
          <a:p>
            <a:pPr indent="0" marL="0">
              <a:buNone/>
            </a:pPr>
            <a:r>
              <a:rPr lang="en-US" sz="900" u="sng" dirty="0">
                <a:solidFill>
                  <a:srgbClr val="002858"/>
                </a:solidFill>
                <a:latin typeface="Trebuchet MS" pitchFamily="34" charset="0"/>
                <a:ea typeface="Trebuchet MS" pitchFamily="34" charset="-122"/>
                <a:cs typeface="Trebuchet MS" pitchFamily="34" charset="-120"/>
                <a:hlinkClick r:id="rId1" invalidUrl="" action="" tgtFrame="" tooltip="" history="1" highlightClick="0" endSnd="0">
                  <a:extLst>
                    <a:ext uri="{A12FA001-AC4F-418D-AE19-62706E023703}">
                      <ahyp:hlinkClr xmlns:ahyp="http://schemas.microsoft.com/office/drawing/2018/hyperlinkcolor" val="tx"/>
                    </a:ext>
                  </a:extLst>
                </a:hlinkClick>
              </a:rPr>
              <a:t>Carnegie Corporation of New York</a:t>
            </a:r>
            <a:endParaRPr lang="en-US" sz="900" dirty="0"/>
          </a:p>
        </p:txBody>
      </p:sp>
      <p:sp>
        <p:nvSpPr>
          <p:cNvPr id="18" name="Text 16"/>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9" name="Text 17"/>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A2332"/>
        </a:solidFill>
      </p:bgPr>
    </p:bg>
    <p:spTree>
      <p:nvGrpSpPr>
        <p:cNvPr id="1" name=""/>
        <p:cNvGrpSpPr/>
        <p:nvPr/>
      </p:nvGrpSpPr>
      <p:grpSpPr>
        <a:xfrm>
          <a:off x="0" y="0"/>
          <a:ext cx="0" cy="0"/>
          <a:chOff x="0" y="0"/>
          <a:chExt cx="0" cy="0"/>
        </a:xfrm>
      </p:grpSpPr>
      <p:sp>
        <p:nvSpPr>
          <p:cNvPr id="2" name="Text 0"/>
          <p:cNvSpPr/>
          <p:nvPr/>
        </p:nvSpPr>
        <p:spPr>
          <a:xfrm>
            <a:off x="457200" y="274320"/>
            <a:ext cx="3291840" cy="365760"/>
          </a:xfrm>
          <a:prstGeom prst="rect">
            <a:avLst/>
          </a:prstGeom>
          <a:solidFill>
            <a:srgbClr val="C6282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THREE PERSPECTIVES</a:t>
            </a:r>
            <a:endParaRPr lang="en-US" sz="1100" dirty="0"/>
          </a:p>
        </p:txBody>
      </p:sp>
      <p:sp>
        <p:nvSpPr>
          <p:cNvPr id="3" name="Text 1"/>
          <p:cNvSpPr/>
          <p:nvPr/>
        </p:nvSpPr>
        <p:spPr>
          <a:xfrm>
            <a:off x="3886200" y="27432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US.08</a:t>
            </a:r>
            <a:endParaRPr lang="en-US" sz="1200" dirty="0"/>
          </a:p>
        </p:txBody>
      </p:sp>
      <p:sp>
        <p:nvSpPr>
          <p:cNvPr id="4" name="Text 2"/>
          <p:cNvSpPr/>
          <p:nvPr/>
        </p:nvSpPr>
        <p:spPr>
          <a:xfrm>
            <a:off x="457200" y="777240"/>
            <a:ext cx="11247120" cy="822960"/>
          </a:xfrm>
          <a:prstGeom prst="rect">
            <a:avLst/>
          </a:prstGeom>
          <a:noFill/>
          <a:ln/>
        </p:spPr>
        <p:txBody>
          <a:bodyPr wrap="square" rtlCol="0" anchor="ctr"/>
          <a:lstStyle/>
          <a:p>
            <a:pPr indent="0" marL="0">
              <a:buNone/>
            </a:pPr>
            <a:r>
              <a:rPr lang="en-US" sz="1700" i="1" dirty="0">
                <a:solidFill>
                  <a:srgbClr val="C7D4E0"/>
                </a:solidFill>
                <a:latin typeface="Georgia" pitchFamily="34" charset="0"/>
                <a:ea typeface="Georgia" pitchFamily="34" charset="-122"/>
                <a:cs typeface="Georgia" pitchFamily="34" charset="-120"/>
              </a:rPr>
              <a:t>A historian returns to three questions at the end of every reading. Use them to analyze this standard.</a:t>
            </a:r>
            <a:endParaRPr lang="en-US" sz="1700" dirty="0"/>
          </a:p>
        </p:txBody>
      </p:sp>
      <p:sp>
        <p:nvSpPr>
          <p:cNvPr id="5" name="Shape 3"/>
          <p:cNvSpPr/>
          <p:nvPr/>
        </p:nvSpPr>
        <p:spPr>
          <a:xfrm>
            <a:off x="457200" y="1783080"/>
            <a:ext cx="3566160" cy="4206240"/>
          </a:xfrm>
          <a:prstGeom prst="rect">
            <a:avLst/>
          </a:prstGeom>
          <a:solidFill>
            <a:srgbClr val="FFFFFF"/>
          </a:solidFill>
          <a:ln/>
        </p:spPr>
      </p:sp>
      <p:sp>
        <p:nvSpPr>
          <p:cNvPr id="6" name="Shape 4"/>
          <p:cNvSpPr/>
          <p:nvPr/>
        </p:nvSpPr>
        <p:spPr>
          <a:xfrm>
            <a:off x="457200" y="1783080"/>
            <a:ext cx="3566160" cy="548640"/>
          </a:xfrm>
          <a:prstGeom prst="rect">
            <a:avLst/>
          </a:prstGeom>
          <a:solidFill>
            <a:srgbClr val="1B5E20"/>
          </a:solidFill>
          <a:ln/>
        </p:spPr>
      </p:sp>
      <p:sp>
        <p:nvSpPr>
          <p:cNvPr id="7" name="Text 5"/>
          <p:cNvSpPr/>
          <p:nvPr/>
        </p:nvSpPr>
        <p:spPr>
          <a:xfrm>
            <a:off x="457200" y="1783080"/>
            <a:ext cx="3566160" cy="548640"/>
          </a:xfrm>
          <a:prstGeom prst="rect">
            <a:avLst/>
          </a:prstGeom>
          <a:noFill/>
          <a:ln/>
        </p:spPr>
        <p:txBody>
          <a:bodyPr wrap="square"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Who benefited?</a:t>
            </a:r>
            <a:endParaRPr lang="en-US" sz="1600" dirty="0"/>
          </a:p>
        </p:txBody>
      </p:sp>
      <p:sp>
        <p:nvSpPr>
          <p:cNvPr id="8" name="Text 6"/>
          <p:cNvSpPr/>
          <p:nvPr/>
        </p:nvSpPr>
        <p:spPr>
          <a:xfrm>
            <a:off x="594360" y="2423160"/>
            <a:ext cx="3291840" cy="868680"/>
          </a:xfrm>
          <a:prstGeom prst="rect">
            <a:avLst/>
          </a:prstGeom>
          <a:noFill/>
          <a:ln/>
        </p:spPr>
        <p:txBody>
          <a:bodyPr wrap="square" rtlCol="0" anchor="t"/>
          <a:lstStyle/>
          <a:p>
            <a:pPr indent="0" marL="0">
              <a:buNone/>
            </a:pPr>
            <a:r>
              <a:rPr lang="en-US" sz="1100" i="1" dirty="0">
                <a:solidFill>
                  <a:srgbClr val="5C6470"/>
                </a:solidFill>
                <a:latin typeface="Calibri" pitchFamily="34" charset="0"/>
                <a:ea typeface="Calibri" pitchFamily="34" charset="-122"/>
                <a:cs typeface="Calibri" pitchFamily="34" charset="-120"/>
              </a:rPr>
              <a:t>Who gained land, wealth, power, or protection?</a:t>
            </a:r>
            <a:endParaRPr lang="en-US" sz="1100" dirty="0"/>
          </a:p>
        </p:txBody>
      </p:sp>
      <p:sp>
        <p:nvSpPr>
          <p:cNvPr id="9" name="Text 7"/>
          <p:cNvSpPr/>
          <p:nvPr/>
        </p:nvSpPr>
        <p:spPr>
          <a:xfrm>
            <a:off x="594360" y="3291840"/>
            <a:ext cx="3291840" cy="274320"/>
          </a:xfrm>
          <a:prstGeom prst="rect">
            <a:avLst/>
          </a:prstGeom>
          <a:noFill/>
          <a:ln/>
        </p:spPr>
        <p:txBody>
          <a:bodyPr wrap="square" rtlCol="0" anchor="ctr"/>
          <a:lstStyle/>
          <a:p>
            <a:pPr indent="0" marL="0">
              <a:buNone/>
            </a:pPr>
            <a:r>
              <a:rPr lang="en-US" sz="1000" b="1" dirty="0">
                <a:solidFill>
                  <a:srgbClr val="8A6D1A"/>
                </a:solidFill>
                <a:latin typeface="Trebuchet MS" pitchFamily="34" charset="0"/>
                <a:ea typeface="Trebuchet MS" pitchFamily="34" charset="-122"/>
                <a:cs typeface="Trebuchet MS" pitchFamily="34" charset="-120"/>
              </a:rPr>
              <a:t>US.08:</a:t>
            </a:r>
            <a:endParaRPr lang="en-US" sz="1000" dirty="0"/>
          </a:p>
        </p:txBody>
      </p:sp>
      <p:sp>
        <p:nvSpPr>
          <p:cNvPr id="10" name="Text 8"/>
          <p:cNvSpPr/>
          <p:nvPr/>
        </p:nvSpPr>
        <p:spPr>
          <a:xfrm>
            <a:off x="594360" y="3566160"/>
            <a:ext cx="3291840" cy="2286000"/>
          </a:xfrm>
          <a:prstGeom prst="rect">
            <a:avLst/>
          </a:prstGeom>
          <a:noFill/>
          <a:ln/>
        </p:spPr>
        <p:txBody>
          <a:bodyPr wrap="square" rtlCol="0" anchor="t"/>
          <a:lstStyle/>
          <a:p>
            <a:pPr indent="0" marL="0">
              <a:buNone/>
            </a:pPr>
            <a:r>
              <a:rPr lang="en-US" sz="1200" dirty="0">
                <a:solidFill>
                  <a:srgbClr val="1F2430"/>
                </a:solidFill>
                <a:latin typeface="Calibri" pitchFamily="34" charset="0"/>
                <a:ea typeface="Calibri" pitchFamily="34" charset="-122"/>
                <a:cs typeface="Calibri" pitchFamily="34" charset="-120"/>
              </a:rPr>
              <a:t>Industrialists and defenders of laissez-faire, who used Social Darwinism to justify vast fortunes and resist regulation or relief.</a:t>
            </a:r>
            <a:endParaRPr lang="en-US" sz="1200" dirty="0"/>
          </a:p>
        </p:txBody>
      </p:sp>
      <p:sp>
        <p:nvSpPr>
          <p:cNvPr id="11" name="Shape 9"/>
          <p:cNvSpPr/>
          <p:nvPr/>
        </p:nvSpPr>
        <p:spPr>
          <a:xfrm>
            <a:off x="4251960" y="1783080"/>
            <a:ext cx="3566160" cy="4206240"/>
          </a:xfrm>
          <a:prstGeom prst="rect">
            <a:avLst/>
          </a:prstGeom>
          <a:solidFill>
            <a:srgbClr val="FFFFFF"/>
          </a:solidFill>
          <a:ln/>
        </p:spPr>
      </p:sp>
      <p:sp>
        <p:nvSpPr>
          <p:cNvPr id="12" name="Shape 10"/>
          <p:cNvSpPr/>
          <p:nvPr/>
        </p:nvSpPr>
        <p:spPr>
          <a:xfrm>
            <a:off x="4251960" y="1783080"/>
            <a:ext cx="3566160" cy="548640"/>
          </a:xfrm>
          <a:prstGeom prst="rect">
            <a:avLst/>
          </a:prstGeom>
          <a:solidFill>
            <a:srgbClr val="C62828"/>
          </a:solidFill>
          <a:ln/>
        </p:spPr>
      </p:sp>
      <p:sp>
        <p:nvSpPr>
          <p:cNvPr id="13" name="Text 11"/>
          <p:cNvSpPr/>
          <p:nvPr/>
        </p:nvSpPr>
        <p:spPr>
          <a:xfrm>
            <a:off x="4251960" y="1783080"/>
            <a:ext cx="3566160" cy="548640"/>
          </a:xfrm>
          <a:prstGeom prst="rect">
            <a:avLst/>
          </a:prstGeom>
          <a:noFill/>
          <a:ln/>
        </p:spPr>
        <p:txBody>
          <a:bodyPr wrap="square"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Who bore the costs?</a:t>
            </a:r>
            <a:endParaRPr lang="en-US" sz="1600" dirty="0"/>
          </a:p>
        </p:txBody>
      </p:sp>
      <p:sp>
        <p:nvSpPr>
          <p:cNvPr id="14" name="Text 12"/>
          <p:cNvSpPr/>
          <p:nvPr/>
        </p:nvSpPr>
        <p:spPr>
          <a:xfrm>
            <a:off x="4389120" y="2423160"/>
            <a:ext cx="3291840" cy="868680"/>
          </a:xfrm>
          <a:prstGeom prst="rect">
            <a:avLst/>
          </a:prstGeom>
          <a:noFill/>
          <a:ln/>
        </p:spPr>
        <p:txBody>
          <a:bodyPr wrap="square" rtlCol="0" anchor="t"/>
          <a:lstStyle/>
          <a:p>
            <a:pPr indent="0" marL="0">
              <a:buNone/>
            </a:pPr>
            <a:r>
              <a:rPr lang="en-US" sz="1100" i="1" dirty="0">
                <a:solidFill>
                  <a:srgbClr val="5C6470"/>
                </a:solidFill>
                <a:latin typeface="Calibri" pitchFamily="34" charset="0"/>
                <a:ea typeface="Calibri" pitchFamily="34" charset="-122"/>
                <a:cs typeface="Calibri" pitchFamily="34" charset="-120"/>
              </a:rPr>
              <a:t>Who lost land, labor, freedom, or life — and who was silenced?</a:t>
            </a:r>
            <a:endParaRPr lang="en-US" sz="1100" dirty="0"/>
          </a:p>
        </p:txBody>
      </p:sp>
      <p:sp>
        <p:nvSpPr>
          <p:cNvPr id="15" name="Text 13"/>
          <p:cNvSpPr/>
          <p:nvPr/>
        </p:nvSpPr>
        <p:spPr>
          <a:xfrm>
            <a:off x="4389120" y="3291840"/>
            <a:ext cx="3291840" cy="274320"/>
          </a:xfrm>
          <a:prstGeom prst="rect">
            <a:avLst/>
          </a:prstGeom>
          <a:noFill/>
          <a:ln/>
        </p:spPr>
        <p:txBody>
          <a:bodyPr wrap="square" rtlCol="0" anchor="ctr"/>
          <a:lstStyle/>
          <a:p>
            <a:pPr indent="0" marL="0">
              <a:buNone/>
            </a:pPr>
            <a:r>
              <a:rPr lang="en-US" sz="1000" b="1" dirty="0">
                <a:solidFill>
                  <a:srgbClr val="8A6D1A"/>
                </a:solidFill>
                <a:latin typeface="Trebuchet MS" pitchFamily="34" charset="0"/>
                <a:ea typeface="Trebuchet MS" pitchFamily="34" charset="-122"/>
                <a:cs typeface="Trebuchet MS" pitchFamily="34" charset="-120"/>
              </a:rPr>
              <a:t>US.08:</a:t>
            </a:r>
            <a:endParaRPr lang="en-US" sz="1000" dirty="0"/>
          </a:p>
        </p:txBody>
      </p:sp>
      <p:sp>
        <p:nvSpPr>
          <p:cNvPr id="16" name="Text 14"/>
          <p:cNvSpPr/>
          <p:nvPr/>
        </p:nvSpPr>
        <p:spPr>
          <a:xfrm>
            <a:off x="4389120" y="3566160"/>
            <a:ext cx="3291840" cy="2286000"/>
          </a:xfrm>
          <a:prstGeom prst="rect">
            <a:avLst/>
          </a:prstGeom>
          <a:noFill/>
          <a:ln/>
        </p:spPr>
        <p:txBody>
          <a:bodyPr wrap="square" rtlCol="0" anchor="t"/>
          <a:lstStyle/>
          <a:p>
            <a:pPr indent="0" marL="0">
              <a:buNone/>
            </a:pPr>
            <a:r>
              <a:rPr lang="en-US" sz="1200" dirty="0">
                <a:solidFill>
                  <a:srgbClr val="1F2430"/>
                </a:solidFill>
                <a:latin typeface="Calibri" pitchFamily="34" charset="0"/>
                <a:ea typeface="Calibri" pitchFamily="34" charset="-122"/>
                <a:cs typeface="Calibri" pitchFamily="34" charset="-120"/>
              </a:rPr>
              <a:t>The urban poor and working class, dismissed as “unfit” by Social Darwinists — the very people the Social Gospel and settlement houses tried to aid.</a:t>
            </a:r>
            <a:endParaRPr lang="en-US" sz="1200" dirty="0"/>
          </a:p>
        </p:txBody>
      </p:sp>
      <p:sp>
        <p:nvSpPr>
          <p:cNvPr id="17" name="Shape 15"/>
          <p:cNvSpPr/>
          <p:nvPr/>
        </p:nvSpPr>
        <p:spPr>
          <a:xfrm>
            <a:off x="8046720" y="1783080"/>
            <a:ext cx="3566160" cy="4206240"/>
          </a:xfrm>
          <a:prstGeom prst="rect">
            <a:avLst/>
          </a:prstGeom>
          <a:solidFill>
            <a:srgbClr val="FFFFFF"/>
          </a:solidFill>
          <a:ln/>
        </p:spPr>
      </p:sp>
      <p:sp>
        <p:nvSpPr>
          <p:cNvPr id="18" name="Shape 16"/>
          <p:cNvSpPr/>
          <p:nvPr/>
        </p:nvSpPr>
        <p:spPr>
          <a:xfrm>
            <a:off x="8046720" y="1783080"/>
            <a:ext cx="3566160" cy="548640"/>
          </a:xfrm>
          <a:prstGeom prst="rect">
            <a:avLst/>
          </a:prstGeom>
          <a:solidFill>
            <a:srgbClr val="002858"/>
          </a:solidFill>
          <a:ln/>
        </p:spPr>
      </p:sp>
      <p:sp>
        <p:nvSpPr>
          <p:cNvPr id="19" name="Text 17"/>
          <p:cNvSpPr/>
          <p:nvPr/>
        </p:nvSpPr>
        <p:spPr>
          <a:xfrm>
            <a:off x="8046720" y="1783080"/>
            <a:ext cx="3566160" cy="548640"/>
          </a:xfrm>
          <a:prstGeom prst="rect">
            <a:avLst/>
          </a:prstGeom>
          <a:noFill/>
          <a:ln/>
        </p:spPr>
        <p:txBody>
          <a:bodyPr wrap="square"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Who decided?</a:t>
            </a:r>
            <a:endParaRPr lang="en-US" sz="1600" dirty="0"/>
          </a:p>
        </p:txBody>
      </p:sp>
      <p:sp>
        <p:nvSpPr>
          <p:cNvPr id="20" name="Text 18"/>
          <p:cNvSpPr/>
          <p:nvPr/>
        </p:nvSpPr>
        <p:spPr>
          <a:xfrm>
            <a:off x="8183880" y="2423160"/>
            <a:ext cx="3291840" cy="868680"/>
          </a:xfrm>
          <a:prstGeom prst="rect">
            <a:avLst/>
          </a:prstGeom>
          <a:noFill/>
          <a:ln/>
        </p:spPr>
        <p:txBody>
          <a:bodyPr wrap="square" rtlCol="0" anchor="t"/>
          <a:lstStyle/>
          <a:p>
            <a:pPr indent="0" marL="0">
              <a:buNone/>
            </a:pPr>
            <a:r>
              <a:rPr lang="en-US" sz="1100" i="1" dirty="0">
                <a:solidFill>
                  <a:srgbClr val="5C6470"/>
                </a:solidFill>
                <a:latin typeface="Calibri" pitchFamily="34" charset="0"/>
                <a:ea typeface="Calibri" pitchFamily="34" charset="-122"/>
                <a:cs typeface="Calibri" pitchFamily="34" charset="-120"/>
              </a:rPr>
              <a:t>Which people, offices, or courts held the authority?</a:t>
            </a:r>
            <a:endParaRPr lang="en-US" sz="1100" dirty="0"/>
          </a:p>
        </p:txBody>
      </p:sp>
      <p:sp>
        <p:nvSpPr>
          <p:cNvPr id="21" name="Text 19"/>
          <p:cNvSpPr/>
          <p:nvPr/>
        </p:nvSpPr>
        <p:spPr>
          <a:xfrm>
            <a:off x="8183880" y="3291840"/>
            <a:ext cx="3291840" cy="274320"/>
          </a:xfrm>
          <a:prstGeom prst="rect">
            <a:avLst/>
          </a:prstGeom>
          <a:noFill/>
          <a:ln/>
        </p:spPr>
        <p:txBody>
          <a:bodyPr wrap="square" rtlCol="0" anchor="ctr"/>
          <a:lstStyle/>
          <a:p>
            <a:pPr indent="0" marL="0">
              <a:buNone/>
            </a:pPr>
            <a:r>
              <a:rPr lang="en-US" sz="1000" b="1" dirty="0">
                <a:solidFill>
                  <a:srgbClr val="8A6D1A"/>
                </a:solidFill>
                <a:latin typeface="Trebuchet MS" pitchFamily="34" charset="0"/>
                <a:ea typeface="Trebuchet MS" pitchFamily="34" charset="-122"/>
                <a:cs typeface="Trebuchet MS" pitchFamily="34" charset="-120"/>
              </a:rPr>
              <a:t>US.08:</a:t>
            </a:r>
            <a:endParaRPr lang="en-US" sz="1000" dirty="0"/>
          </a:p>
        </p:txBody>
      </p:sp>
      <p:sp>
        <p:nvSpPr>
          <p:cNvPr id="22" name="Text 20"/>
          <p:cNvSpPr/>
          <p:nvPr/>
        </p:nvSpPr>
        <p:spPr>
          <a:xfrm>
            <a:off x="8183880" y="3566160"/>
            <a:ext cx="3291840" cy="2286000"/>
          </a:xfrm>
          <a:prstGeom prst="rect">
            <a:avLst/>
          </a:prstGeom>
          <a:noFill/>
          <a:ln/>
        </p:spPr>
        <p:txBody>
          <a:bodyPr wrap="square" rtlCol="0" anchor="t"/>
          <a:lstStyle/>
          <a:p>
            <a:pPr indent="0" marL="0">
              <a:buNone/>
            </a:pPr>
            <a:r>
              <a:rPr lang="en-US" sz="1200" dirty="0">
                <a:solidFill>
                  <a:srgbClr val="1F2430"/>
                </a:solidFill>
                <a:latin typeface="Calibri" pitchFamily="34" charset="0"/>
                <a:ea typeface="Calibri" pitchFamily="34" charset="-122"/>
                <a:cs typeface="Calibri" pitchFamily="34" charset="-120"/>
              </a:rPr>
              <a:t>Private thinkers and philanthropists (Spencer, Sumner, Carnegie, Rauschenbusch) shaping public opinion — government had not yet claimed a role in social welfare.</a:t>
            </a:r>
            <a:endParaRPr lang="en-US" sz="1200" dirty="0"/>
          </a:p>
        </p:txBody>
      </p:sp>
      <p:sp>
        <p:nvSpPr>
          <p:cNvPr id="23" name="Text 21"/>
          <p:cNvSpPr/>
          <p:nvPr/>
        </p:nvSpPr>
        <p:spPr>
          <a:xfrm>
            <a:off x="457200" y="6126480"/>
            <a:ext cx="10972800" cy="274320"/>
          </a:xfrm>
          <a:prstGeom prst="rect">
            <a:avLst/>
          </a:prstGeom>
          <a:noFill/>
          <a:ln/>
        </p:spPr>
        <p:txBody>
          <a:bodyPr wrap="square" rtlCol="0" anchor="ctr"/>
          <a:lstStyle/>
          <a:p>
            <a:pPr indent="0" marL="0">
              <a:buNone/>
            </a:pPr>
            <a:r>
              <a:rPr lang="en-US" sz="1000" i="1" dirty="0">
                <a:solidFill>
                  <a:srgbClr val="C7D4E0"/>
                </a:solidFill>
                <a:latin typeface="Trebuchet MS" pitchFamily="34" charset="0"/>
                <a:ea typeface="Trebuchet MS" pitchFamily="34" charset="-122"/>
                <a:cs typeface="Trebuchet MS" pitchFamily="34" charset="-120"/>
              </a:rPr>
              <a:t>Anchor: Carnegie, “The Gospel of Wealth,” 1889 (Carnegie Corporation of New York)</a:t>
            </a:r>
            <a:endParaRPr lang="en-US" sz="1000" dirty="0"/>
          </a:p>
        </p:txBody>
      </p:sp>
      <p:sp>
        <p:nvSpPr>
          <p:cNvPr id="24" name="Text 22"/>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5" name="Text 23"/>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A2332"/>
        </a:solidFill>
      </p:bgPr>
    </p:bg>
    <p:spTree>
      <p:nvGrpSpPr>
        <p:cNvPr id="1" name=""/>
        <p:cNvGrpSpPr/>
        <p:nvPr/>
      </p:nvGrpSpPr>
      <p:grpSpPr>
        <a:xfrm>
          <a:off x="0" y="0"/>
          <a:ext cx="0" cy="0"/>
          <a:chOff x="0" y="0"/>
          <a:chExt cx="0" cy="0"/>
        </a:xfrm>
      </p:grpSpPr>
      <p:sp>
        <p:nvSpPr>
          <p:cNvPr id="2" name="Shape 0"/>
          <p:cNvSpPr/>
          <p:nvPr/>
        </p:nvSpPr>
        <p:spPr>
          <a:xfrm>
            <a:off x="0" y="2331720"/>
            <a:ext cx="12191695" cy="73152"/>
          </a:xfrm>
          <a:prstGeom prst="rect">
            <a:avLst/>
          </a:prstGeom>
          <a:solidFill>
            <a:srgbClr val="C9A84C"/>
          </a:solidFill>
          <a:ln/>
        </p:spPr>
        <p:txBody>
          <a:bodyPr/>
          <a:p/>
        </p:txBody>
      </p:sp>
      <p:sp>
        <p:nvSpPr>
          <p:cNvPr id="3" name="Text 1"/>
          <p:cNvSpPr/>
          <p:nvPr/>
        </p:nvSpPr>
        <p:spPr>
          <a:xfrm>
            <a:off x="457200" y="548640"/>
            <a:ext cx="2926080" cy="1188720"/>
          </a:xfrm>
          <a:prstGeom prst="rect">
            <a:avLst/>
          </a:prstGeom>
          <a:noFill/>
          <a:ln/>
        </p:spPr>
        <p:txBody>
          <a:bodyPr wrap="square" rtlCol="0" anchor="ctr"/>
          <a:lstStyle/>
          <a:p>
            <a:pPr indent="0" marL="0">
              <a:buNone/>
            </a:pPr>
            <a:r>
              <a:rPr lang="en-US" sz="6000" b="1" dirty="0">
                <a:solidFill>
                  <a:srgbClr val="C9A84C"/>
                </a:solidFill>
                <a:latin typeface="Georgia" pitchFamily="34" charset="0"/>
                <a:ea typeface="Georgia" pitchFamily="34" charset="-122"/>
                <a:cs typeface="Georgia" pitchFamily="34" charset="-120"/>
              </a:rPr>
              <a:t>US.09</a:t>
            </a:r>
            <a:endParaRPr lang="en-US" sz="6000" dirty="0"/>
          </a:p>
        </p:txBody>
      </p:sp>
      <p:sp>
        <p:nvSpPr>
          <p:cNvPr id="4" name="Text 2"/>
          <p:cNvSpPr/>
          <p:nvPr/>
        </p:nvSpPr>
        <p:spPr>
          <a:xfrm>
            <a:off x="3474720" y="548640"/>
            <a:ext cx="8229600" cy="1188720"/>
          </a:xfrm>
          <a:prstGeom prst="rect">
            <a:avLst/>
          </a:prstGeom>
          <a:noFill/>
          <a:ln/>
        </p:spPr>
        <p:txBody>
          <a:bodyPr wrap="square" rtlCol="0" anchor="ctr"/>
          <a:lstStyle/>
          <a:p>
            <a:pPr indent="0" marL="0">
              <a:buNone/>
            </a:pPr>
            <a:r>
              <a:rPr lang="en-US" sz="2600" b="1" dirty="0">
                <a:solidFill>
                  <a:srgbClr val="FFFFFF"/>
                </a:solidFill>
                <a:latin typeface="Georgia" pitchFamily="34" charset="0"/>
                <a:ea typeface="Georgia" pitchFamily="34" charset="-122"/>
                <a:cs typeface="Georgia" pitchFamily="34" charset="-120"/>
              </a:rPr>
              <a:t>Booker T. Washington vs W.E.B. Du Bois</a:t>
            </a:r>
            <a:endParaRPr lang="en-US" sz="2600" dirty="0"/>
          </a:p>
        </p:txBody>
      </p:sp>
      <p:sp>
        <p:nvSpPr>
          <p:cNvPr id="5" name="Text 3"/>
          <p:cNvSpPr/>
          <p:nvPr/>
        </p:nvSpPr>
        <p:spPr>
          <a:xfrm>
            <a:off x="457200" y="2651760"/>
            <a:ext cx="11247120" cy="274320"/>
          </a:xfrm>
          <a:prstGeom prst="rect">
            <a:avLst/>
          </a:prstGeom>
          <a:noFill/>
          <a:ln/>
        </p:spPr>
        <p:txBody>
          <a:bodyPr wrap="square" rtlCol="0" anchor="ctr"/>
          <a:lstStyle/>
          <a:p>
            <a:pPr indent="0" marL="0">
              <a:buNone/>
            </a:pPr>
            <a:r>
              <a:rPr lang="en-US" sz="1200" b="1" spc="200" kern="0" dirty="0">
                <a:solidFill>
                  <a:srgbClr val="C9A84C"/>
                </a:solidFill>
                <a:latin typeface="Trebuchet MS" pitchFamily="34" charset="0"/>
                <a:ea typeface="Trebuchet MS" pitchFamily="34" charset="-122"/>
                <a:cs typeface="Trebuchet MS" pitchFamily="34" charset="-120"/>
              </a:rPr>
              <a:t>TN STANDARD</a:t>
            </a:r>
            <a:endParaRPr lang="en-US" sz="1200" dirty="0"/>
          </a:p>
        </p:txBody>
      </p:sp>
      <p:sp>
        <p:nvSpPr>
          <p:cNvPr id="6" name="Text 4"/>
          <p:cNvSpPr/>
          <p:nvPr/>
        </p:nvSpPr>
        <p:spPr>
          <a:xfrm>
            <a:off x="457200" y="2999232"/>
            <a:ext cx="11247120" cy="1691640"/>
          </a:xfrm>
          <a:prstGeom prst="rect">
            <a:avLst/>
          </a:prstGeom>
          <a:noFill/>
          <a:ln/>
        </p:spPr>
        <p:txBody>
          <a:bodyPr wrap="square" rtlCol="0" anchor="t"/>
          <a:lstStyle/>
          <a:p>
            <a:pPr indent="0" marL="0">
              <a:lnSpc>
                <a:spcPct val="105000"/>
              </a:lnSpc>
              <a:buNone/>
            </a:pPr>
            <a:r>
              <a:rPr lang="en-US" sz="1600" dirty="0">
                <a:solidFill>
                  <a:srgbClr val="C7D4E0"/>
                </a:solidFill>
                <a:latin typeface="Calibri" pitchFamily="34" charset="0"/>
                <a:ea typeface="Calibri" pitchFamily="34" charset="-122"/>
                <a:cs typeface="Calibri" pitchFamily="34" charset="-120"/>
              </a:rPr>
              <a:t>US.09 – Compare and contrast the ideas and philosophies of Booker T. Washington and W.E.B. Du Bois. (TCA)</a:t>
            </a:r>
            <a:endParaRPr lang="en-US" sz="1600" dirty="0"/>
          </a:p>
        </p:txBody>
      </p:sp>
      <p:sp>
        <p:nvSpPr>
          <p:cNvPr id="7" name="Shape 5"/>
          <p:cNvSpPr/>
          <p:nvPr/>
        </p:nvSpPr>
        <p:spPr>
          <a:xfrm>
            <a:off x="457200" y="4892040"/>
            <a:ext cx="11247120" cy="1234440"/>
          </a:xfrm>
          <a:prstGeom prst="rect">
            <a:avLst/>
          </a:prstGeom>
          <a:solidFill>
            <a:srgbClr val="C9A84C"/>
          </a:solidFill>
          <a:ln/>
        </p:spPr>
      </p:sp>
      <p:sp>
        <p:nvSpPr>
          <p:cNvPr id="8" name="Text 6"/>
          <p:cNvSpPr/>
          <p:nvPr/>
        </p:nvSpPr>
        <p:spPr>
          <a:xfrm>
            <a:off x="640080" y="5029200"/>
            <a:ext cx="10972800" cy="274320"/>
          </a:xfrm>
          <a:prstGeom prst="rect">
            <a:avLst/>
          </a:prstGeom>
          <a:noFill/>
          <a:ln/>
        </p:spPr>
        <p:txBody>
          <a:bodyPr wrap="square" rtlCol="0" anchor="ctr"/>
          <a:lstStyle/>
          <a:p>
            <a:pPr indent="0" marL="0">
              <a:buNone/>
            </a:pPr>
            <a:r>
              <a:rPr lang="en-US" sz="1200" b="1" spc="200" kern="0" dirty="0">
                <a:solidFill>
                  <a:srgbClr val="1A2332"/>
                </a:solidFill>
                <a:latin typeface="Trebuchet MS" pitchFamily="34" charset="0"/>
                <a:ea typeface="Trebuchet MS" pitchFamily="34" charset="-122"/>
                <a:cs typeface="Trebuchet MS" pitchFamily="34" charset="-120"/>
              </a:rPr>
              <a:t>I CAN</a:t>
            </a:r>
            <a:endParaRPr lang="en-US" sz="1200" dirty="0"/>
          </a:p>
        </p:txBody>
      </p:sp>
      <p:sp>
        <p:nvSpPr>
          <p:cNvPr id="9" name="Text 7"/>
          <p:cNvSpPr/>
          <p:nvPr/>
        </p:nvSpPr>
        <p:spPr>
          <a:xfrm>
            <a:off x="640080" y="5303520"/>
            <a:ext cx="10881360" cy="749808"/>
          </a:xfrm>
          <a:prstGeom prst="rect">
            <a:avLst/>
          </a:prstGeom>
          <a:noFill/>
          <a:ln/>
        </p:spPr>
        <p:txBody>
          <a:bodyPr wrap="square" rtlCol="0" anchor="t"/>
          <a:lstStyle/>
          <a:p>
            <a:pPr indent="0" marL="0">
              <a:buNone/>
            </a:pPr>
            <a:r>
              <a:rPr lang="en-US" sz="1400" b="1" dirty="0">
                <a:solidFill>
                  <a:srgbClr val="1A2332"/>
                </a:solidFill>
                <a:latin typeface="Calibri" pitchFamily="34" charset="0"/>
                <a:ea typeface="Calibri" pitchFamily="34" charset="-122"/>
                <a:cs typeface="Calibri" pitchFamily="34" charset="-120"/>
              </a:rPr>
              <a:t>I can compare and contrast the ideas and philosophies of Booker T. Washington and W.E.B. Du Bois regarding education, civil rights, and strategies for African American advancement.</a:t>
            </a:r>
            <a:endParaRPr lang="en-US" sz="1400" dirty="0"/>
          </a:p>
        </p:txBody>
      </p:sp>
      <p:sp>
        <p:nvSpPr>
          <p:cNvPr id="10" name="Text 8"/>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1" name="Text 9"/>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737360"/>
          </a:xfrm>
          <a:prstGeom prst="rect">
            <a:avLst/>
          </a:prstGeom>
          <a:solidFill>
            <a:srgbClr val="1A2332"/>
          </a:solidFill>
          <a:ln/>
        </p:spPr>
        <p:txBody>
          <a:bodyPr/>
          <a:p/>
        </p:txBody>
      </p:sp>
      <p:sp>
        <p:nvSpPr>
          <p:cNvPr id="3" name="Shape 1"/>
          <p:cNvSpPr/>
          <p:nvPr/>
        </p:nvSpPr>
        <p:spPr>
          <a:xfrm>
            <a:off x="0" y="1737360"/>
            <a:ext cx="12191695" cy="54864"/>
          </a:xfrm>
          <a:prstGeom prst="rect">
            <a:avLst/>
          </a:prstGeom>
          <a:solidFill>
            <a:srgbClr val="C9A84C"/>
          </a:solidFill>
          <a:ln/>
        </p:spPr>
        <p:txBody>
          <a:bodyPr/>
          <a:p/>
        </p:txBody>
      </p:sp>
      <p:sp>
        <p:nvSpPr>
          <p:cNvPr id="4" name="Text 2"/>
          <p:cNvSpPr/>
          <p:nvPr/>
        </p:nvSpPr>
        <p:spPr>
          <a:xfrm>
            <a:off x="457200" y="320040"/>
            <a:ext cx="3291840" cy="365760"/>
          </a:xfrm>
          <a:prstGeom prst="rect">
            <a:avLst/>
          </a:prstGeom>
          <a:solidFill>
            <a:srgbClr val="00285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DIRECT INSTRUCTION</a:t>
            </a:r>
            <a:endParaRPr lang="en-US" sz="1100" dirty="0"/>
          </a:p>
        </p:txBody>
      </p:sp>
      <p:sp>
        <p:nvSpPr>
          <p:cNvPr id="5" name="Text 3"/>
          <p:cNvSpPr/>
          <p:nvPr/>
        </p:nvSpPr>
        <p:spPr>
          <a:xfrm>
            <a:off x="3886200" y="32004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US.09</a:t>
            </a:r>
            <a:endParaRPr lang="en-US" sz="1200" dirty="0"/>
          </a:p>
        </p:txBody>
      </p:sp>
      <p:sp>
        <p:nvSpPr>
          <p:cNvPr id="6" name="Text 4"/>
          <p:cNvSpPr/>
          <p:nvPr/>
        </p:nvSpPr>
        <p:spPr>
          <a:xfrm>
            <a:off x="457200" y="777240"/>
            <a:ext cx="11247120" cy="868680"/>
          </a:xfrm>
          <a:prstGeom prst="rect">
            <a:avLst/>
          </a:prstGeom>
          <a:noFill/>
          <a:ln/>
        </p:spPr>
        <p:txBody>
          <a:bodyPr wrap="square" rtlCol="0" anchor="ctr"/>
          <a:lstStyle/>
          <a:p>
            <a:pPr algn="l" indent="0" marL="0">
              <a:buNone/>
            </a:pPr>
            <a:r>
              <a:rPr lang="en-US" sz="2300" b="1" dirty="0">
                <a:solidFill>
                  <a:srgbClr val="FFFFFF"/>
                </a:solidFill>
                <a:latin typeface="Georgia" pitchFamily="34" charset="0"/>
                <a:ea typeface="Georgia" pitchFamily="34" charset="-122"/>
                <a:cs typeface="Georgia" pitchFamily="34" charset="-120"/>
              </a:rPr>
              <a:t>Booker T. Washington — born enslaved, founder of Tuskegee — became the most prominent Black leader after his 1895 Atlanta Compromise speech.</a:t>
            </a:r>
            <a:endParaRPr lang="en-US" sz="2300" dirty="0"/>
          </a:p>
        </p:txBody>
      </p:sp>
      <p:pic>
        <p:nvPicPr>
          <p:cNvPr id="7" name="Image 0" descr="hh-web/public/images/textbook/unit-2/washington-booker-t-portrait-1917.jpg">    </p:cNvPr>
          <p:cNvPicPr>
            <a:picLocks noChangeAspect="1"/>
          </p:cNvPicPr>
          <p:nvPr/>
        </p:nvPicPr>
        <p:blipFill>
          <a:blip r:embed="rId1"/>
          <a:srcRect l="0" r="0" t="0" b="0"/>
          <a:stretch/>
        </p:blipFill>
        <p:spPr>
          <a:xfrm>
            <a:off x="2743200" y="2057400"/>
            <a:ext cx="6702552" cy="4160520"/>
          </a:xfrm>
          <a:prstGeom prst="rect">
            <a:avLst/>
          </a:prstGeom>
        </p:spPr>
      </p:pic>
      <p:sp>
        <p:nvSpPr>
          <p:cNvPr id="8" name="Text 5"/>
          <p:cNvSpPr/>
          <p:nvPr/>
        </p:nvSpPr>
        <p:spPr>
          <a:xfrm>
            <a:off x="2743200" y="2103120"/>
            <a:ext cx="1188720" cy="292608"/>
          </a:xfrm>
          <a:prstGeom prst="rect">
            <a:avLst/>
          </a:prstGeom>
          <a:solidFill>
            <a:srgbClr val="F9A825"/>
          </a:solidFill>
          <a:ln/>
        </p:spPr>
        <p:txBody>
          <a:bodyPr wrap="square" rtlCol="0" anchor="ctr"/>
          <a:lstStyle/>
          <a:p>
            <a:pPr algn="ctr" indent="0" marL="0">
              <a:buNone/>
            </a:pPr>
            <a:r>
              <a:rPr lang="en-US" sz="900" b="1" spc="100" kern="0" dirty="0">
                <a:solidFill>
                  <a:srgbClr val="1A2332"/>
                </a:solidFill>
                <a:latin typeface="Trebuchet MS" pitchFamily="34" charset="0"/>
                <a:ea typeface="Trebuchet MS" pitchFamily="34" charset="-122"/>
                <a:cs typeface="Trebuchet MS" pitchFamily="34" charset="-120"/>
              </a:rPr>
              <a:t>ZOOM IN</a:t>
            </a:r>
            <a:endParaRPr lang="en-US" sz="900" dirty="0"/>
          </a:p>
        </p:txBody>
      </p:sp>
      <p:sp>
        <p:nvSpPr>
          <p:cNvPr id="9" name="Text 6"/>
          <p:cNvSpPr/>
          <p:nvPr/>
        </p:nvSpPr>
        <p:spPr>
          <a:xfrm>
            <a:off x="457200" y="6263640"/>
            <a:ext cx="8229600" cy="274320"/>
          </a:xfrm>
          <a:prstGeom prst="rect">
            <a:avLst/>
          </a:prstGeom>
          <a:noFill/>
          <a:ln/>
        </p:spPr>
        <p:txBody>
          <a:bodyPr wrap="square" rtlCol="0" anchor="ctr"/>
          <a:lstStyle/>
          <a:p>
            <a:pPr indent="0" marL="0">
              <a:buNone/>
            </a:pPr>
            <a:r>
              <a:rPr lang="en-US" sz="1000" i="1" dirty="0">
                <a:solidFill>
                  <a:srgbClr val="5C6470"/>
                </a:solidFill>
                <a:latin typeface="Trebuchet MS" pitchFamily="34" charset="0"/>
                <a:ea typeface="Trebuchet MS" pitchFamily="34" charset="-122"/>
                <a:cs typeface="Trebuchet MS" pitchFamily="34" charset="-120"/>
              </a:rPr>
              <a:t>US.09 · Background &amp; Origins</a:t>
            </a:r>
            <a:endParaRPr lang="en-US" sz="1000" dirty="0"/>
          </a:p>
        </p:txBody>
      </p:sp>
      <p:sp>
        <p:nvSpPr>
          <p:cNvPr id="10" name="Text 7"/>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1" name="Text 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737360"/>
          </a:xfrm>
          <a:prstGeom prst="rect">
            <a:avLst/>
          </a:prstGeom>
          <a:solidFill>
            <a:srgbClr val="1A2332"/>
          </a:solidFill>
          <a:ln/>
        </p:spPr>
        <p:txBody>
          <a:bodyPr/>
          <a:p/>
        </p:txBody>
      </p:sp>
      <p:sp>
        <p:nvSpPr>
          <p:cNvPr id="3" name="Shape 1"/>
          <p:cNvSpPr/>
          <p:nvPr/>
        </p:nvSpPr>
        <p:spPr>
          <a:xfrm>
            <a:off x="0" y="1737360"/>
            <a:ext cx="12191695" cy="54864"/>
          </a:xfrm>
          <a:prstGeom prst="rect">
            <a:avLst/>
          </a:prstGeom>
          <a:solidFill>
            <a:srgbClr val="C9A84C"/>
          </a:solidFill>
          <a:ln/>
        </p:spPr>
        <p:txBody>
          <a:bodyPr/>
          <a:p/>
        </p:txBody>
      </p:sp>
      <p:sp>
        <p:nvSpPr>
          <p:cNvPr id="4" name="Text 2"/>
          <p:cNvSpPr/>
          <p:nvPr/>
        </p:nvSpPr>
        <p:spPr>
          <a:xfrm>
            <a:off x="457200" y="320040"/>
            <a:ext cx="3291840" cy="365760"/>
          </a:xfrm>
          <a:prstGeom prst="rect">
            <a:avLst/>
          </a:prstGeom>
          <a:solidFill>
            <a:srgbClr val="00285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DIRECT INSTRUCTION</a:t>
            </a:r>
            <a:endParaRPr lang="en-US" sz="1100" dirty="0"/>
          </a:p>
        </p:txBody>
      </p:sp>
      <p:sp>
        <p:nvSpPr>
          <p:cNvPr id="5" name="Text 3"/>
          <p:cNvSpPr/>
          <p:nvPr/>
        </p:nvSpPr>
        <p:spPr>
          <a:xfrm>
            <a:off x="3886200" y="32004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US.09</a:t>
            </a:r>
            <a:endParaRPr lang="en-US" sz="1200" dirty="0"/>
          </a:p>
        </p:txBody>
      </p:sp>
      <p:sp>
        <p:nvSpPr>
          <p:cNvPr id="6" name="Text 4"/>
          <p:cNvSpPr/>
          <p:nvPr/>
        </p:nvSpPr>
        <p:spPr>
          <a:xfrm>
            <a:off x="457200" y="777240"/>
            <a:ext cx="11247120" cy="868680"/>
          </a:xfrm>
          <a:prstGeom prst="rect">
            <a:avLst/>
          </a:prstGeom>
          <a:noFill/>
          <a:ln/>
        </p:spPr>
        <p:txBody>
          <a:bodyPr wrap="square" rtlCol="0" anchor="ctr"/>
          <a:lstStyle/>
          <a:p>
            <a:pPr algn="l" indent="0" marL="0">
              <a:buNone/>
            </a:pPr>
            <a:r>
              <a:rPr lang="en-US" sz="2300" b="1" dirty="0">
                <a:solidFill>
                  <a:srgbClr val="FFFFFF"/>
                </a:solidFill>
                <a:latin typeface="Georgia" pitchFamily="34" charset="0"/>
                <a:ea typeface="Georgia" pitchFamily="34" charset="-122"/>
                <a:cs typeface="Georgia" pitchFamily="34" charset="-120"/>
              </a:rPr>
              <a:t>Washington emphasized vocational training and economic self-sufficiency; Du Bois demanded a liberal-arts education for a “Talented Tenth” of leaders.</a:t>
            </a:r>
            <a:endParaRPr lang="en-US" sz="2300" dirty="0"/>
          </a:p>
        </p:txBody>
      </p:sp>
      <p:pic>
        <p:nvPicPr>
          <p:cNvPr id="7" name="Image 0" descr="hh-web/public/images/textbook/unit-2/tuskegee-students-workshop-1902.jpg">    </p:cNvPr>
          <p:cNvPicPr>
            <a:picLocks noChangeAspect="1"/>
          </p:cNvPicPr>
          <p:nvPr/>
        </p:nvPicPr>
        <p:blipFill>
          <a:blip r:embed="rId1"/>
          <a:srcRect l="0" r="0" t="0" b="0"/>
          <a:stretch/>
        </p:blipFill>
        <p:spPr>
          <a:xfrm>
            <a:off x="2743200" y="2057400"/>
            <a:ext cx="6702552" cy="4160520"/>
          </a:xfrm>
          <a:prstGeom prst="rect">
            <a:avLst/>
          </a:prstGeom>
        </p:spPr>
      </p:pic>
      <p:sp>
        <p:nvSpPr>
          <p:cNvPr id="8" name="Text 5"/>
          <p:cNvSpPr/>
          <p:nvPr/>
        </p:nvSpPr>
        <p:spPr>
          <a:xfrm>
            <a:off x="2743200" y="2103120"/>
            <a:ext cx="1188720" cy="292608"/>
          </a:xfrm>
          <a:prstGeom prst="rect">
            <a:avLst/>
          </a:prstGeom>
          <a:solidFill>
            <a:srgbClr val="F9A825"/>
          </a:solidFill>
          <a:ln/>
        </p:spPr>
        <p:txBody>
          <a:bodyPr wrap="square" rtlCol="0" anchor="ctr"/>
          <a:lstStyle/>
          <a:p>
            <a:pPr algn="ctr" indent="0" marL="0">
              <a:buNone/>
            </a:pPr>
            <a:r>
              <a:rPr lang="en-US" sz="900" b="1" spc="100" kern="0" dirty="0">
                <a:solidFill>
                  <a:srgbClr val="1A2332"/>
                </a:solidFill>
                <a:latin typeface="Trebuchet MS" pitchFamily="34" charset="0"/>
                <a:ea typeface="Trebuchet MS" pitchFamily="34" charset="-122"/>
                <a:cs typeface="Trebuchet MS" pitchFamily="34" charset="-120"/>
              </a:rPr>
              <a:t>ZOOM IN</a:t>
            </a:r>
            <a:endParaRPr lang="en-US" sz="900" dirty="0"/>
          </a:p>
        </p:txBody>
      </p:sp>
      <p:sp>
        <p:nvSpPr>
          <p:cNvPr id="9" name="Text 6"/>
          <p:cNvSpPr/>
          <p:nvPr/>
        </p:nvSpPr>
        <p:spPr>
          <a:xfrm>
            <a:off x="457200" y="6263640"/>
            <a:ext cx="8229600" cy="274320"/>
          </a:xfrm>
          <a:prstGeom prst="rect">
            <a:avLst/>
          </a:prstGeom>
          <a:noFill/>
          <a:ln/>
        </p:spPr>
        <p:txBody>
          <a:bodyPr wrap="square" rtlCol="0" anchor="ctr"/>
          <a:lstStyle/>
          <a:p>
            <a:pPr indent="0" marL="0">
              <a:buNone/>
            </a:pPr>
            <a:r>
              <a:rPr lang="en-US" sz="1000" i="1" dirty="0">
                <a:solidFill>
                  <a:srgbClr val="5C6470"/>
                </a:solidFill>
                <a:latin typeface="Trebuchet MS" pitchFamily="34" charset="0"/>
                <a:ea typeface="Trebuchet MS" pitchFamily="34" charset="-122"/>
                <a:cs typeface="Trebuchet MS" pitchFamily="34" charset="-120"/>
              </a:rPr>
              <a:t>US.09 · Educational Philosophy</a:t>
            </a:r>
            <a:endParaRPr lang="en-US" sz="1000" dirty="0"/>
          </a:p>
        </p:txBody>
      </p:sp>
      <p:sp>
        <p:nvSpPr>
          <p:cNvPr id="10" name="Text 7"/>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1" name="Text 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737360"/>
          </a:xfrm>
          <a:prstGeom prst="rect">
            <a:avLst/>
          </a:prstGeom>
          <a:solidFill>
            <a:srgbClr val="1A2332"/>
          </a:solidFill>
          <a:ln/>
        </p:spPr>
        <p:txBody>
          <a:bodyPr/>
          <a:p/>
        </p:txBody>
      </p:sp>
      <p:sp>
        <p:nvSpPr>
          <p:cNvPr id="3" name="Shape 1"/>
          <p:cNvSpPr/>
          <p:nvPr/>
        </p:nvSpPr>
        <p:spPr>
          <a:xfrm>
            <a:off x="0" y="1737360"/>
            <a:ext cx="12191695" cy="54864"/>
          </a:xfrm>
          <a:prstGeom prst="rect">
            <a:avLst/>
          </a:prstGeom>
          <a:solidFill>
            <a:srgbClr val="C9A84C"/>
          </a:solidFill>
          <a:ln/>
        </p:spPr>
        <p:txBody>
          <a:bodyPr/>
          <a:p/>
        </p:txBody>
      </p:sp>
      <p:sp>
        <p:nvSpPr>
          <p:cNvPr id="4" name="Text 2"/>
          <p:cNvSpPr/>
          <p:nvPr/>
        </p:nvSpPr>
        <p:spPr>
          <a:xfrm>
            <a:off x="457200" y="320040"/>
            <a:ext cx="3291840" cy="365760"/>
          </a:xfrm>
          <a:prstGeom prst="rect">
            <a:avLst/>
          </a:prstGeom>
          <a:solidFill>
            <a:srgbClr val="00285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DIRECT INSTRUCTION</a:t>
            </a:r>
            <a:endParaRPr lang="en-US" sz="1100" dirty="0"/>
          </a:p>
        </p:txBody>
      </p:sp>
      <p:sp>
        <p:nvSpPr>
          <p:cNvPr id="5" name="Text 3"/>
          <p:cNvSpPr/>
          <p:nvPr/>
        </p:nvSpPr>
        <p:spPr>
          <a:xfrm>
            <a:off x="3886200" y="32004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US.09</a:t>
            </a:r>
            <a:endParaRPr lang="en-US" sz="1200" dirty="0"/>
          </a:p>
        </p:txBody>
      </p:sp>
      <p:sp>
        <p:nvSpPr>
          <p:cNvPr id="6" name="Text 4"/>
          <p:cNvSpPr/>
          <p:nvPr/>
        </p:nvSpPr>
        <p:spPr>
          <a:xfrm>
            <a:off x="457200" y="777240"/>
            <a:ext cx="11247120" cy="868680"/>
          </a:xfrm>
          <a:prstGeom prst="rect">
            <a:avLst/>
          </a:prstGeom>
          <a:noFill/>
          <a:ln/>
        </p:spPr>
        <p:txBody>
          <a:bodyPr wrap="square" rtlCol="0" anchor="ctr"/>
          <a:lstStyle/>
          <a:p>
            <a:pPr algn="l" indent="0" marL="0">
              <a:buNone/>
            </a:pPr>
            <a:r>
              <a:rPr lang="en-US" sz="2300" b="1" dirty="0">
                <a:solidFill>
                  <a:srgbClr val="FFFFFF"/>
                </a:solidFill>
                <a:latin typeface="Georgia" pitchFamily="34" charset="0"/>
                <a:ea typeface="Georgia" pitchFamily="34" charset="-122"/>
                <a:cs typeface="Georgia" pitchFamily="34" charset="-120"/>
              </a:rPr>
              <a:t>Washington favored accommodation and gradualism; Du Bois rejected it, co-founding the NAACP to demand full civil and political rights now.</a:t>
            </a:r>
            <a:endParaRPr lang="en-US" sz="2300" dirty="0"/>
          </a:p>
        </p:txBody>
      </p:sp>
      <p:pic>
        <p:nvPicPr>
          <p:cNvPr id="7" name="Image 0" descr="hh-web/public/images/textbook/unit-2/du-bois-w-e-b-portrait-1919.jpg">    </p:cNvPr>
          <p:cNvPicPr>
            <a:picLocks noChangeAspect="1"/>
          </p:cNvPicPr>
          <p:nvPr/>
        </p:nvPicPr>
        <p:blipFill>
          <a:blip r:embed="rId1"/>
          <a:srcRect l="0" r="0" t="0" b="0"/>
          <a:stretch/>
        </p:blipFill>
        <p:spPr>
          <a:xfrm>
            <a:off x="2743200" y="2057400"/>
            <a:ext cx="6702552" cy="4160520"/>
          </a:xfrm>
          <a:prstGeom prst="rect">
            <a:avLst/>
          </a:prstGeom>
        </p:spPr>
      </p:pic>
      <p:sp>
        <p:nvSpPr>
          <p:cNvPr id="8" name="Text 5"/>
          <p:cNvSpPr/>
          <p:nvPr/>
        </p:nvSpPr>
        <p:spPr>
          <a:xfrm>
            <a:off x="2743200" y="2103120"/>
            <a:ext cx="1188720" cy="292608"/>
          </a:xfrm>
          <a:prstGeom prst="rect">
            <a:avLst/>
          </a:prstGeom>
          <a:solidFill>
            <a:srgbClr val="F9A825"/>
          </a:solidFill>
          <a:ln/>
        </p:spPr>
        <p:txBody>
          <a:bodyPr wrap="square" rtlCol="0" anchor="ctr"/>
          <a:lstStyle/>
          <a:p>
            <a:pPr algn="ctr" indent="0" marL="0">
              <a:buNone/>
            </a:pPr>
            <a:r>
              <a:rPr lang="en-US" sz="900" b="1" spc="100" kern="0" dirty="0">
                <a:solidFill>
                  <a:srgbClr val="1A2332"/>
                </a:solidFill>
                <a:latin typeface="Trebuchet MS" pitchFamily="34" charset="0"/>
                <a:ea typeface="Trebuchet MS" pitchFamily="34" charset="-122"/>
                <a:cs typeface="Trebuchet MS" pitchFamily="34" charset="-120"/>
              </a:rPr>
              <a:t>ZOOM IN</a:t>
            </a:r>
            <a:endParaRPr lang="en-US" sz="900" dirty="0"/>
          </a:p>
        </p:txBody>
      </p:sp>
      <p:sp>
        <p:nvSpPr>
          <p:cNvPr id="9" name="Text 6"/>
          <p:cNvSpPr/>
          <p:nvPr/>
        </p:nvSpPr>
        <p:spPr>
          <a:xfrm>
            <a:off x="457200" y="6263640"/>
            <a:ext cx="8229600" cy="274320"/>
          </a:xfrm>
          <a:prstGeom prst="rect">
            <a:avLst/>
          </a:prstGeom>
          <a:noFill/>
          <a:ln/>
        </p:spPr>
        <p:txBody>
          <a:bodyPr wrap="square" rtlCol="0" anchor="ctr"/>
          <a:lstStyle/>
          <a:p>
            <a:pPr indent="0" marL="0">
              <a:buNone/>
            </a:pPr>
            <a:r>
              <a:rPr lang="en-US" sz="1000" i="1" dirty="0">
                <a:solidFill>
                  <a:srgbClr val="5C6470"/>
                </a:solidFill>
                <a:latin typeface="Trebuchet MS" pitchFamily="34" charset="0"/>
                <a:ea typeface="Trebuchet MS" pitchFamily="34" charset="-122"/>
                <a:cs typeface="Trebuchet MS" pitchFamily="34" charset="-120"/>
              </a:rPr>
              <a:t>US.09 · Rights, Equality &amp; Strategy</a:t>
            </a:r>
            <a:endParaRPr lang="en-US" sz="1000" dirty="0"/>
          </a:p>
        </p:txBody>
      </p:sp>
      <p:sp>
        <p:nvSpPr>
          <p:cNvPr id="10" name="Text 7"/>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1" name="Text 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554480"/>
          </a:xfrm>
          <a:prstGeom prst="rect">
            <a:avLst/>
          </a:prstGeom>
          <a:solidFill>
            <a:srgbClr val="002858"/>
          </a:solidFill>
          <a:ln/>
        </p:spPr>
        <p:txBody>
          <a:bodyPr/>
          <a:p/>
        </p:txBody>
      </p:sp>
      <p:sp>
        <p:nvSpPr>
          <p:cNvPr id="3" name="Shape 1"/>
          <p:cNvSpPr/>
          <p:nvPr/>
        </p:nvSpPr>
        <p:spPr>
          <a:xfrm>
            <a:off x="0" y="1554480"/>
            <a:ext cx="12191695" cy="54864"/>
          </a:xfrm>
          <a:prstGeom prst="rect">
            <a:avLst/>
          </a:prstGeom>
          <a:solidFill>
            <a:srgbClr val="C9A84C"/>
          </a:solidFill>
          <a:ln/>
        </p:spPr>
        <p:txBody>
          <a:bodyPr/>
          <a:p/>
        </p:txBody>
      </p:sp>
      <p:sp>
        <p:nvSpPr>
          <p:cNvPr id="4" name="Text 2"/>
          <p:cNvSpPr/>
          <p:nvPr/>
        </p:nvSpPr>
        <p:spPr>
          <a:xfrm>
            <a:off x="457200" y="274320"/>
            <a:ext cx="3291840" cy="365760"/>
          </a:xfrm>
          <a:prstGeom prst="rect">
            <a:avLst/>
          </a:prstGeom>
          <a:solidFill>
            <a:srgbClr val="C6282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SOURCE IT FIRST</a:t>
            </a:r>
            <a:endParaRPr lang="en-US" sz="1100" dirty="0"/>
          </a:p>
        </p:txBody>
      </p:sp>
      <p:sp>
        <p:nvSpPr>
          <p:cNvPr id="5" name="Text 3"/>
          <p:cNvSpPr/>
          <p:nvPr/>
        </p:nvSpPr>
        <p:spPr>
          <a:xfrm>
            <a:off x="3886200" y="27432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US.09</a:t>
            </a:r>
            <a:endParaRPr lang="en-US" sz="1200" dirty="0"/>
          </a:p>
        </p:txBody>
      </p:sp>
      <p:sp>
        <p:nvSpPr>
          <p:cNvPr id="6" name="Text 4"/>
          <p:cNvSpPr/>
          <p:nvPr/>
        </p:nvSpPr>
        <p:spPr>
          <a:xfrm>
            <a:off x="457200" y="713232"/>
            <a:ext cx="11247120" cy="777240"/>
          </a:xfrm>
          <a:prstGeom prst="rect">
            <a:avLst/>
          </a:prstGeom>
          <a:noFill/>
          <a:ln/>
        </p:spPr>
        <p:txBody>
          <a:bodyPr wrap="square" rtlCol="0" anchor="ctr"/>
          <a:lstStyle/>
          <a:p>
            <a:pPr indent="0" marL="0">
              <a:buNone/>
            </a:pPr>
            <a:r>
              <a:rPr lang="en-US" sz="2000" b="1" dirty="0">
                <a:solidFill>
                  <a:srgbClr val="FFFFFF"/>
                </a:solidFill>
                <a:latin typeface="Georgia" pitchFamily="34" charset="0"/>
                <a:ea typeface="Georgia" pitchFamily="34" charset="-122"/>
                <a:cs typeface="Georgia" pitchFamily="34" charset="-120"/>
              </a:rPr>
              <a:t>Read Washington’s own words at Atlanta — then ask what he accepted, and why his audience mattered.</a:t>
            </a:r>
            <a:endParaRPr lang="en-US" sz="2000" dirty="0"/>
          </a:p>
        </p:txBody>
      </p:sp>
      <p:sp>
        <p:nvSpPr>
          <p:cNvPr id="7" name="Text 5"/>
          <p:cNvSpPr/>
          <p:nvPr/>
        </p:nvSpPr>
        <p:spPr>
          <a:xfrm>
            <a:off x="457200" y="1783080"/>
            <a:ext cx="3566160" cy="320040"/>
          </a:xfrm>
          <a:prstGeom prst="rect">
            <a:avLst/>
          </a:prstGeom>
          <a:solidFill>
            <a:srgbClr val="1A2332"/>
          </a:solid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WHO</a:t>
            </a:r>
            <a:endParaRPr lang="en-US" sz="1200" dirty="0"/>
          </a:p>
        </p:txBody>
      </p:sp>
      <p:sp>
        <p:nvSpPr>
          <p:cNvPr id="8" name="Text 6"/>
          <p:cNvSpPr/>
          <p:nvPr/>
        </p:nvSpPr>
        <p:spPr>
          <a:xfrm>
            <a:off x="457200" y="2103120"/>
            <a:ext cx="3566160" cy="914400"/>
          </a:xfrm>
          <a:prstGeom prst="rect">
            <a:avLst/>
          </a:prstGeom>
          <a:solidFill>
            <a:srgbClr val="FFFFFF"/>
          </a:solidFill>
          <a:ln w="12700">
            <a:solidFill>
              <a:srgbClr val="DAD3C2"/>
            </a:solidFill>
          </a:ln>
        </p:spPr>
        <p:txBody>
          <a:bodyPr wrap="square" lIns="76200" tIns="76200" rIns="76200" bIns="76200" rtlCol="0" anchor="t"/>
          <a:lstStyle/>
          <a:p>
            <a:pPr algn="l" indent="0" marL="0">
              <a:buNone/>
            </a:pPr>
            <a:r>
              <a:rPr lang="en-US" sz="1200" dirty="0">
                <a:solidFill>
                  <a:srgbClr val="1F2430"/>
                </a:solidFill>
                <a:latin typeface="Calibri" pitchFamily="34" charset="0"/>
                <a:ea typeface="Calibri" pitchFamily="34" charset="-122"/>
                <a:cs typeface="Calibri" pitchFamily="34" charset="-120"/>
              </a:rPr>
              <a:t>Booker T. Washington — formerly enslaved educator, founder of Tuskegee Institute.</a:t>
            </a:r>
            <a:endParaRPr lang="en-US" sz="1200" dirty="0"/>
          </a:p>
        </p:txBody>
      </p:sp>
      <p:sp>
        <p:nvSpPr>
          <p:cNvPr id="9" name="Text 7"/>
          <p:cNvSpPr/>
          <p:nvPr/>
        </p:nvSpPr>
        <p:spPr>
          <a:xfrm>
            <a:off x="4251960" y="1783080"/>
            <a:ext cx="3566160" cy="320040"/>
          </a:xfrm>
          <a:prstGeom prst="rect">
            <a:avLst/>
          </a:prstGeom>
          <a:solidFill>
            <a:srgbClr val="1A2332"/>
          </a:solid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WHEN</a:t>
            </a:r>
            <a:endParaRPr lang="en-US" sz="1200" dirty="0"/>
          </a:p>
        </p:txBody>
      </p:sp>
      <p:sp>
        <p:nvSpPr>
          <p:cNvPr id="10" name="Text 8"/>
          <p:cNvSpPr/>
          <p:nvPr/>
        </p:nvSpPr>
        <p:spPr>
          <a:xfrm>
            <a:off x="4251960" y="2103120"/>
            <a:ext cx="3566160" cy="914400"/>
          </a:xfrm>
          <a:prstGeom prst="rect">
            <a:avLst/>
          </a:prstGeom>
          <a:solidFill>
            <a:srgbClr val="FFFFFF"/>
          </a:solidFill>
          <a:ln w="12700">
            <a:solidFill>
              <a:srgbClr val="DAD3C2"/>
            </a:solidFill>
          </a:ln>
        </p:spPr>
        <p:txBody>
          <a:bodyPr wrap="square" lIns="76200" tIns="76200" rIns="76200" bIns="76200" rtlCol="0" anchor="t"/>
          <a:lstStyle/>
          <a:p>
            <a:pPr algn="l" indent="0" marL="0">
              <a:buNone/>
            </a:pPr>
            <a:r>
              <a:rPr lang="en-US" sz="1200" dirty="0">
                <a:solidFill>
                  <a:srgbClr val="1F2430"/>
                </a:solidFill>
                <a:latin typeface="Calibri" pitchFamily="34" charset="0"/>
                <a:ea typeface="Calibri" pitchFamily="34" charset="-122"/>
                <a:cs typeface="Calibri" pitchFamily="34" charset="-120"/>
              </a:rPr>
              <a:t>1895, thirty years after the Civil War, in the era of Jim Crow laws and rising racial violence.</a:t>
            </a:r>
            <a:endParaRPr lang="en-US" sz="1200" dirty="0"/>
          </a:p>
        </p:txBody>
      </p:sp>
      <p:sp>
        <p:nvSpPr>
          <p:cNvPr id="11" name="Text 9"/>
          <p:cNvSpPr/>
          <p:nvPr/>
        </p:nvSpPr>
        <p:spPr>
          <a:xfrm>
            <a:off x="8046720" y="1783080"/>
            <a:ext cx="3566160" cy="320040"/>
          </a:xfrm>
          <a:prstGeom prst="rect">
            <a:avLst/>
          </a:prstGeom>
          <a:solidFill>
            <a:srgbClr val="1A2332"/>
          </a:solid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WHY</a:t>
            </a:r>
            <a:endParaRPr lang="en-US" sz="1200" dirty="0"/>
          </a:p>
        </p:txBody>
      </p:sp>
      <p:sp>
        <p:nvSpPr>
          <p:cNvPr id="12" name="Text 10"/>
          <p:cNvSpPr/>
          <p:nvPr/>
        </p:nvSpPr>
        <p:spPr>
          <a:xfrm>
            <a:off x="8046720" y="2103120"/>
            <a:ext cx="3566160" cy="914400"/>
          </a:xfrm>
          <a:prstGeom prst="rect">
            <a:avLst/>
          </a:prstGeom>
          <a:solidFill>
            <a:srgbClr val="FFFFFF"/>
          </a:solidFill>
          <a:ln w="12700">
            <a:solidFill>
              <a:srgbClr val="DAD3C2"/>
            </a:solidFill>
          </a:ln>
        </p:spPr>
        <p:txBody>
          <a:bodyPr wrap="square" lIns="76200" tIns="76200" rIns="76200" bIns="76200" rtlCol="0" anchor="t"/>
          <a:lstStyle/>
          <a:p>
            <a:pPr algn="l" indent="0" marL="0">
              <a:buNone/>
            </a:pPr>
            <a:r>
              <a:rPr lang="en-US" sz="1200" dirty="0">
                <a:solidFill>
                  <a:srgbClr val="1F2430"/>
                </a:solidFill>
                <a:latin typeface="Calibri" pitchFamily="34" charset="0"/>
                <a:ea typeface="Calibri" pitchFamily="34" charset="-122"/>
                <a:cs typeface="Calibri" pitchFamily="34" charset="-120"/>
              </a:rPr>
              <a:t>Context matters — his audience included Southern white leaders who controlled access to Black economic opportunity.</a:t>
            </a:r>
            <a:endParaRPr lang="en-US" sz="1200" dirty="0"/>
          </a:p>
        </p:txBody>
      </p:sp>
      <p:sp>
        <p:nvSpPr>
          <p:cNvPr id="13" name="Shape 11"/>
          <p:cNvSpPr/>
          <p:nvPr/>
        </p:nvSpPr>
        <p:spPr>
          <a:xfrm>
            <a:off x="457200" y="3200400"/>
            <a:ext cx="5532120" cy="2651760"/>
          </a:xfrm>
          <a:prstGeom prst="rect">
            <a:avLst/>
          </a:prstGeom>
          <a:solidFill>
            <a:srgbClr val="FFFFFF"/>
          </a:solidFill>
          <a:ln w="19050">
            <a:solidFill>
              <a:srgbClr val="C9A84C"/>
            </a:solidFill>
            <a:prstDash val="solid"/>
          </a:ln>
        </p:spPr>
      </p:sp>
      <p:sp>
        <p:nvSpPr>
          <p:cNvPr id="14" name="Text 12"/>
          <p:cNvSpPr/>
          <p:nvPr/>
        </p:nvSpPr>
        <p:spPr>
          <a:xfrm>
            <a:off x="594360" y="3291840"/>
            <a:ext cx="5257800" cy="320040"/>
          </a:xfrm>
          <a:prstGeom prst="rect">
            <a:avLst/>
          </a:prstGeom>
          <a:noFill/>
          <a:ln/>
        </p:spPr>
        <p:txBody>
          <a:bodyPr wrap="square" rtlCol="0" anchor="ctr"/>
          <a:lstStyle/>
          <a:p>
            <a:pPr indent="0" marL="0">
              <a:buNone/>
            </a:pPr>
            <a:r>
              <a:rPr lang="en-US" sz="1400" b="1" dirty="0">
                <a:solidFill>
                  <a:srgbClr val="002858"/>
                </a:solidFill>
                <a:latin typeface="Georgia" pitchFamily="34" charset="0"/>
                <a:ea typeface="Georgia" pitchFamily="34" charset="-122"/>
                <a:cs typeface="Georgia" pitchFamily="34" charset="-120"/>
              </a:rPr>
              <a:t>Atlanta Compromise Speech</a:t>
            </a:r>
            <a:endParaRPr lang="en-US" sz="1400" dirty="0"/>
          </a:p>
        </p:txBody>
      </p:sp>
      <p:sp>
        <p:nvSpPr>
          <p:cNvPr id="15" name="Text 13"/>
          <p:cNvSpPr/>
          <p:nvPr/>
        </p:nvSpPr>
        <p:spPr>
          <a:xfrm>
            <a:off x="594360" y="3611880"/>
            <a:ext cx="5257800" cy="274320"/>
          </a:xfrm>
          <a:prstGeom prst="rect">
            <a:avLst/>
          </a:prstGeom>
          <a:noFill/>
          <a:ln/>
        </p:spPr>
        <p:txBody>
          <a:bodyPr wrap="square" rtlCol="0" anchor="ctr"/>
          <a:lstStyle/>
          <a:p>
            <a:pPr indent="0" marL="0">
              <a:buNone/>
            </a:pPr>
            <a:r>
              <a:rPr lang="en-US" sz="900" i="1" dirty="0">
                <a:solidFill>
                  <a:srgbClr val="5C6470"/>
                </a:solidFill>
                <a:latin typeface="Trebuchet MS" pitchFamily="34" charset="0"/>
                <a:ea typeface="Trebuchet MS" pitchFamily="34" charset="-122"/>
                <a:cs typeface="Trebuchet MS" pitchFamily="34" charset="-120"/>
              </a:rPr>
              <a:t>Booker T. Washington · 1895</a:t>
            </a:r>
            <a:endParaRPr lang="en-US" sz="900" dirty="0"/>
          </a:p>
        </p:txBody>
      </p:sp>
      <p:sp>
        <p:nvSpPr>
          <p:cNvPr id="16" name="Text 14"/>
          <p:cNvSpPr/>
          <p:nvPr/>
        </p:nvSpPr>
        <p:spPr>
          <a:xfrm>
            <a:off x="594360" y="3931920"/>
            <a:ext cx="5257800" cy="1600200"/>
          </a:xfrm>
          <a:prstGeom prst="rect">
            <a:avLst/>
          </a:prstGeom>
          <a:noFill/>
          <a:ln/>
        </p:spPr>
        <p:txBody>
          <a:bodyPr wrap="square" rtlCol="0" anchor="t"/>
          <a:lstStyle/>
          <a:p>
            <a:pPr indent="0" marL="0">
              <a:buNone/>
            </a:pPr>
            <a:r>
              <a:rPr lang="en-US" sz="1100" dirty="0">
                <a:solidFill>
                  <a:srgbClr val="1F2430"/>
                </a:solidFill>
                <a:latin typeface="Calibri" pitchFamily="34" charset="0"/>
                <a:ea typeface="Calibri" pitchFamily="34" charset="-122"/>
                <a:cs typeface="Calibri" pitchFamily="34" charset="-120"/>
              </a:rPr>
              <a:t>"In all things that are purely social we can be as separate as the fingers, yet one as the hand in all things essential to mutual progress. There is no defense or security for any of us except in the highest intelligence and development of all... The wisest among my race understand that the agitation of questions of social equality is the extremest folly."</a:t>
            </a:r>
            <a:endParaRPr lang="en-US" sz="1100" dirty="0"/>
          </a:p>
        </p:txBody>
      </p:sp>
      <p:sp>
        <p:nvSpPr>
          <p:cNvPr id="17" name="Text 15">
            <a:hlinkClick r:id="rId1" tooltip=""/>
          </p:cNvPr>
          <p:cNvSpPr/>
          <p:nvPr/>
        </p:nvSpPr>
        <p:spPr>
          <a:xfrm>
            <a:off x="594360" y="5532120"/>
            <a:ext cx="5257800" cy="256032"/>
          </a:xfrm>
          <a:prstGeom prst="rect">
            <a:avLst/>
          </a:prstGeom>
          <a:noFill/>
          <a:ln/>
        </p:spPr>
        <p:txBody>
          <a:bodyPr wrap="square" rtlCol="0" anchor="ctr"/>
          <a:lstStyle/>
          <a:p>
            <a:pPr indent="0" marL="0">
              <a:buNone/>
            </a:pPr>
            <a:r>
              <a:rPr lang="en-US" sz="900" u="sng" dirty="0">
                <a:solidFill>
                  <a:srgbClr val="002858"/>
                </a:solidFill>
                <a:latin typeface="Trebuchet MS" pitchFamily="34" charset="0"/>
                <a:ea typeface="Trebuchet MS" pitchFamily="34" charset="-122"/>
                <a:cs typeface="Trebuchet MS" pitchFamily="34" charset="-120"/>
                <a:hlinkClick r:id="rId1" invalidUrl="" action="" tgtFrame="" tooltip="" history="1" highlightClick="0" endSnd="0">
                  <a:extLst>
                    <a:ext uri="{A12FA001-AC4F-418D-AE19-62706E023703}">
                      <ahyp:hlinkClr xmlns:ahyp="http://schemas.microsoft.com/office/drawing/2018/hyperlinkcolor" val="tx"/>
                    </a:ext>
                  </a:extLst>
                </a:hlinkClick>
              </a:rPr>
              <a:t>History Matters, George Mason University</a:t>
            </a:r>
            <a:endParaRPr lang="en-US" sz="900" dirty="0"/>
          </a:p>
        </p:txBody>
      </p:sp>
      <p:sp>
        <p:nvSpPr>
          <p:cNvPr id="18" name="Text 16"/>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9" name="Text 17"/>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A2332"/>
        </a:solidFill>
      </p:bgPr>
    </p:bg>
    <p:spTree>
      <p:nvGrpSpPr>
        <p:cNvPr id="1" name=""/>
        <p:cNvGrpSpPr/>
        <p:nvPr/>
      </p:nvGrpSpPr>
      <p:grpSpPr>
        <a:xfrm>
          <a:off x="0" y="0"/>
          <a:ext cx="0" cy="0"/>
          <a:chOff x="0" y="0"/>
          <a:chExt cx="0" cy="0"/>
        </a:xfrm>
      </p:grpSpPr>
      <p:sp>
        <p:nvSpPr>
          <p:cNvPr id="2" name="Text 0"/>
          <p:cNvSpPr/>
          <p:nvPr/>
        </p:nvSpPr>
        <p:spPr>
          <a:xfrm>
            <a:off x="457200" y="274320"/>
            <a:ext cx="3291840" cy="365760"/>
          </a:xfrm>
          <a:prstGeom prst="rect">
            <a:avLst/>
          </a:prstGeom>
          <a:solidFill>
            <a:srgbClr val="C6282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THREE PERSPECTIVES</a:t>
            </a:r>
            <a:endParaRPr lang="en-US" sz="1100" dirty="0"/>
          </a:p>
        </p:txBody>
      </p:sp>
      <p:sp>
        <p:nvSpPr>
          <p:cNvPr id="3" name="Text 1"/>
          <p:cNvSpPr/>
          <p:nvPr/>
        </p:nvSpPr>
        <p:spPr>
          <a:xfrm>
            <a:off x="3886200" y="27432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US.09</a:t>
            </a:r>
            <a:endParaRPr lang="en-US" sz="1200" dirty="0"/>
          </a:p>
        </p:txBody>
      </p:sp>
      <p:sp>
        <p:nvSpPr>
          <p:cNvPr id="4" name="Text 2"/>
          <p:cNvSpPr/>
          <p:nvPr/>
        </p:nvSpPr>
        <p:spPr>
          <a:xfrm>
            <a:off x="457200" y="777240"/>
            <a:ext cx="11247120" cy="822960"/>
          </a:xfrm>
          <a:prstGeom prst="rect">
            <a:avLst/>
          </a:prstGeom>
          <a:noFill/>
          <a:ln/>
        </p:spPr>
        <p:txBody>
          <a:bodyPr wrap="square" rtlCol="0" anchor="ctr"/>
          <a:lstStyle/>
          <a:p>
            <a:pPr indent="0" marL="0">
              <a:buNone/>
            </a:pPr>
            <a:r>
              <a:rPr lang="en-US" sz="1700" i="1" dirty="0">
                <a:solidFill>
                  <a:srgbClr val="C7D4E0"/>
                </a:solidFill>
                <a:latin typeface="Georgia" pitchFamily="34" charset="0"/>
                <a:ea typeface="Georgia" pitchFamily="34" charset="-122"/>
                <a:cs typeface="Georgia" pitchFamily="34" charset="-120"/>
              </a:rPr>
              <a:t>A historian returns to three questions at the end of every reading. Use them to analyze this standard.</a:t>
            </a:r>
            <a:endParaRPr lang="en-US" sz="1700" dirty="0"/>
          </a:p>
        </p:txBody>
      </p:sp>
      <p:sp>
        <p:nvSpPr>
          <p:cNvPr id="5" name="Shape 3"/>
          <p:cNvSpPr/>
          <p:nvPr/>
        </p:nvSpPr>
        <p:spPr>
          <a:xfrm>
            <a:off x="457200" y="1783080"/>
            <a:ext cx="3566160" cy="4206240"/>
          </a:xfrm>
          <a:prstGeom prst="rect">
            <a:avLst/>
          </a:prstGeom>
          <a:solidFill>
            <a:srgbClr val="FFFFFF"/>
          </a:solidFill>
          <a:ln/>
        </p:spPr>
      </p:sp>
      <p:sp>
        <p:nvSpPr>
          <p:cNvPr id="6" name="Shape 4"/>
          <p:cNvSpPr/>
          <p:nvPr/>
        </p:nvSpPr>
        <p:spPr>
          <a:xfrm>
            <a:off x="457200" y="1783080"/>
            <a:ext cx="3566160" cy="548640"/>
          </a:xfrm>
          <a:prstGeom prst="rect">
            <a:avLst/>
          </a:prstGeom>
          <a:solidFill>
            <a:srgbClr val="1B5E20"/>
          </a:solidFill>
          <a:ln/>
        </p:spPr>
      </p:sp>
      <p:sp>
        <p:nvSpPr>
          <p:cNvPr id="7" name="Text 5"/>
          <p:cNvSpPr/>
          <p:nvPr/>
        </p:nvSpPr>
        <p:spPr>
          <a:xfrm>
            <a:off x="457200" y="1783080"/>
            <a:ext cx="3566160" cy="548640"/>
          </a:xfrm>
          <a:prstGeom prst="rect">
            <a:avLst/>
          </a:prstGeom>
          <a:noFill/>
          <a:ln/>
        </p:spPr>
        <p:txBody>
          <a:bodyPr wrap="square"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Who benefited?</a:t>
            </a:r>
            <a:endParaRPr lang="en-US" sz="1600" dirty="0"/>
          </a:p>
        </p:txBody>
      </p:sp>
      <p:sp>
        <p:nvSpPr>
          <p:cNvPr id="8" name="Text 6"/>
          <p:cNvSpPr/>
          <p:nvPr/>
        </p:nvSpPr>
        <p:spPr>
          <a:xfrm>
            <a:off x="594360" y="2423160"/>
            <a:ext cx="3291840" cy="868680"/>
          </a:xfrm>
          <a:prstGeom prst="rect">
            <a:avLst/>
          </a:prstGeom>
          <a:noFill/>
          <a:ln/>
        </p:spPr>
        <p:txBody>
          <a:bodyPr wrap="square" rtlCol="0" anchor="t"/>
          <a:lstStyle/>
          <a:p>
            <a:pPr indent="0" marL="0">
              <a:buNone/>
            </a:pPr>
            <a:r>
              <a:rPr lang="en-US" sz="1100" i="1" dirty="0">
                <a:solidFill>
                  <a:srgbClr val="5C6470"/>
                </a:solidFill>
                <a:latin typeface="Calibri" pitchFamily="34" charset="0"/>
                <a:ea typeface="Calibri" pitchFamily="34" charset="-122"/>
                <a:cs typeface="Calibri" pitchFamily="34" charset="-120"/>
              </a:rPr>
              <a:t>Who gained land, wealth, power, or protection?</a:t>
            </a:r>
            <a:endParaRPr lang="en-US" sz="1100" dirty="0"/>
          </a:p>
        </p:txBody>
      </p:sp>
      <p:sp>
        <p:nvSpPr>
          <p:cNvPr id="9" name="Text 7"/>
          <p:cNvSpPr/>
          <p:nvPr/>
        </p:nvSpPr>
        <p:spPr>
          <a:xfrm>
            <a:off x="594360" y="3291840"/>
            <a:ext cx="3291840" cy="274320"/>
          </a:xfrm>
          <a:prstGeom prst="rect">
            <a:avLst/>
          </a:prstGeom>
          <a:noFill/>
          <a:ln/>
        </p:spPr>
        <p:txBody>
          <a:bodyPr wrap="square" rtlCol="0" anchor="ctr"/>
          <a:lstStyle/>
          <a:p>
            <a:pPr indent="0" marL="0">
              <a:buNone/>
            </a:pPr>
            <a:r>
              <a:rPr lang="en-US" sz="1000" b="1" dirty="0">
                <a:solidFill>
                  <a:srgbClr val="8A6D1A"/>
                </a:solidFill>
                <a:latin typeface="Trebuchet MS" pitchFamily="34" charset="0"/>
                <a:ea typeface="Trebuchet MS" pitchFamily="34" charset="-122"/>
                <a:cs typeface="Trebuchet MS" pitchFamily="34" charset="-120"/>
              </a:rPr>
              <a:t>US.09:</a:t>
            </a:r>
            <a:endParaRPr lang="en-US" sz="1000" dirty="0"/>
          </a:p>
        </p:txBody>
      </p:sp>
      <p:sp>
        <p:nvSpPr>
          <p:cNvPr id="10" name="Text 8"/>
          <p:cNvSpPr/>
          <p:nvPr/>
        </p:nvSpPr>
        <p:spPr>
          <a:xfrm>
            <a:off x="594360" y="3566160"/>
            <a:ext cx="3291840" cy="2286000"/>
          </a:xfrm>
          <a:prstGeom prst="rect">
            <a:avLst/>
          </a:prstGeom>
          <a:noFill/>
          <a:ln/>
        </p:spPr>
        <p:txBody>
          <a:bodyPr wrap="square" rtlCol="0" anchor="t"/>
          <a:lstStyle/>
          <a:p>
            <a:pPr indent="0" marL="0">
              <a:buNone/>
            </a:pPr>
            <a:r>
              <a:rPr lang="en-US" sz="1200" dirty="0">
                <a:solidFill>
                  <a:srgbClr val="1F2430"/>
                </a:solidFill>
                <a:latin typeface="Calibri" pitchFamily="34" charset="0"/>
                <a:ea typeface="Calibri" pitchFamily="34" charset="-122"/>
                <a:cs typeface="Calibri" pitchFamily="34" charset="-120"/>
              </a:rPr>
              <a:t>Southern white leaders reassured by Washington’s accommodation; and Black communities who gained trade skills and institutions like Tuskegee.</a:t>
            </a:r>
            <a:endParaRPr lang="en-US" sz="1200" dirty="0"/>
          </a:p>
        </p:txBody>
      </p:sp>
      <p:sp>
        <p:nvSpPr>
          <p:cNvPr id="11" name="Shape 9"/>
          <p:cNvSpPr/>
          <p:nvPr/>
        </p:nvSpPr>
        <p:spPr>
          <a:xfrm>
            <a:off x="4251960" y="1783080"/>
            <a:ext cx="3566160" cy="4206240"/>
          </a:xfrm>
          <a:prstGeom prst="rect">
            <a:avLst/>
          </a:prstGeom>
          <a:solidFill>
            <a:srgbClr val="FFFFFF"/>
          </a:solidFill>
          <a:ln/>
        </p:spPr>
      </p:sp>
      <p:sp>
        <p:nvSpPr>
          <p:cNvPr id="12" name="Shape 10"/>
          <p:cNvSpPr/>
          <p:nvPr/>
        </p:nvSpPr>
        <p:spPr>
          <a:xfrm>
            <a:off x="4251960" y="1783080"/>
            <a:ext cx="3566160" cy="548640"/>
          </a:xfrm>
          <a:prstGeom prst="rect">
            <a:avLst/>
          </a:prstGeom>
          <a:solidFill>
            <a:srgbClr val="C62828"/>
          </a:solidFill>
          <a:ln/>
        </p:spPr>
      </p:sp>
      <p:sp>
        <p:nvSpPr>
          <p:cNvPr id="13" name="Text 11"/>
          <p:cNvSpPr/>
          <p:nvPr/>
        </p:nvSpPr>
        <p:spPr>
          <a:xfrm>
            <a:off x="4251960" y="1783080"/>
            <a:ext cx="3566160" cy="548640"/>
          </a:xfrm>
          <a:prstGeom prst="rect">
            <a:avLst/>
          </a:prstGeom>
          <a:noFill/>
          <a:ln/>
        </p:spPr>
        <p:txBody>
          <a:bodyPr wrap="square"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Who bore the costs?</a:t>
            </a:r>
            <a:endParaRPr lang="en-US" sz="1600" dirty="0"/>
          </a:p>
        </p:txBody>
      </p:sp>
      <p:sp>
        <p:nvSpPr>
          <p:cNvPr id="14" name="Text 12"/>
          <p:cNvSpPr/>
          <p:nvPr/>
        </p:nvSpPr>
        <p:spPr>
          <a:xfrm>
            <a:off x="4389120" y="2423160"/>
            <a:ext cx="3291840" cy="868680"/>
          </a:xfrm>
          <a:prstGeom prst="rect">
            <a:avLst/>
          </a:prstGeom>
          <a:noFill/>
          <a:ln/>
        </p:spPr>
        <p:txBody>
          <a:bodyPr wrap="square" rtlCol="0" anchor="t"/>
          <a:lstStyle/>
          <a:p>
            <a:pPr indent="0" marL="0">
              <a:buNone/>
            </a:pPr>
            <a:r>
              <a:rPr lang="en-US" sz="1100" i="1" dirty="0">
                <a:solidFill>
                  <a:srgbClr val="5C6470"/>
                </a:solidFill>
                <a:latin typeface="Calibri" pitchFamily="34" charset="0"/>
                <a:ea typeface="Calibri" pitchFamily="34" charset="-122"/>
                <a:cs typeface="Calibri" pitchFamily="34" charset="-120"/>
              </a:rPr>
              <a:t>Who lost land, labor, freedom, or life — and who was silenced?</a:t>
            </a:r>
            <a:endParaRPr lang="en-US" sz="1100" dirty="0"/>
          </a:p>
        </p:txBody>
      </p:sp>
      <p:sp>
        <p:nvSpPr>
          <p:cNvPr id="15" name="Text 13"/>
          <p:cNvSpPr/>
          <p:nvPr/>
        </p:nvSpPr>
        <p:spPr>
          <a:xfrm>
            <a:off x="4389120" y="3291840"/>
            <a:ext cx="3291840" cy="274320"/>
          </a:xfrm>
          <a:prstGeom prst="rect">
            <a:avLst/>
          </a:prstGeom>
          <a:noFill/>
          <a:ln/>
        </p:spPr>
        <p:txBody>
          <a:bodyPr wrap="square" rtlCol="0" anchor="ctr"/>
          <a:lstStyle/>
          <a:p>
            <a:pPr indent="0" marL="0">
              <a:buNone/>
            </a:pPr>
            <a:r>
              <a:rPr lang="en-US" sz="1000" b="1" dirty="0">
                <a:solidFill>
                  <a:srgbClr val="8A6D1A"/>
                </a:solidFill>
                <a:latin typeface="Trebuchet MS" pitchFamily="34" charset="0"/>
                <a:ea typeface="Trebuchet MS" pitchFamily="34" charset="-122"/>
                <a:cs typeface="Trebuchet MS" pitchFamily="34" charset="-120"/>
              </a:rPr>
              <a:t>US.09:</a:t>
            </a:r>
            <a:endParaRPr lang="en-US" sz="1000" dirty="0"/>
          </a:p>
        </p:txBody>
      </p:sp>
      <p:sp>
        <p:nvSpPr>
          <p:cNvPr id="16" name="Text 14"/>
          <p:cNvSpPr/>
          <p:nvPr/>
        </p:nvSpPr>
        <p:spPr>
          <a:xfrm>
            <a:off x="4389120" y="3566160"/>
            <a:ext cx="3291840" cy="2286000"/>
          </a:xfrm>
          <a:prstGeom prst="rect">
            <a:avLst/>
          </a:prstGeom>
          <a:noFill/>
          <a:ln/>
        </p:spPr>
        <p:txBody>
          <a:bodyPr wrap="square" rtlCol="0" anchor="t"/>
          <a:lstStyle/>
          <a:p>
            <a:pPr indent="0" marL="0">
              <a:buNone/>
            </a:pPr>
            <a:r>
              <a:rPr lang="en-US" sz="1200" dirty="0">
                <a:solidFill>
                  <a:srgbClr val="1F2430"/>
                </a:solidFill>
                <a:latin typeface="Calibri" pitchFamily="34" charset="0"/>
                <a:ea typeface="Calibri" pitchFamily="34" charset="-122"/>
                <a:cs typeface="Calibri" pitchFamily="34" charset="-120"/>
              </a:rPr>
              <a:t>African Americans denied full political and civil rights under Jim Crow — the delay Du Bois warned accommodation would prolong.</a:t>
            </a:r>
            <a:endParaRPr lang="en-US" sz="1200" dirty="0"/>
          </a:p>
        </p:txBody>
      </p:sp>
      <p:sp>
        <p:nvSpPr>
          <p:cNvPr id="17" name="Shape 15"/>
          <p:cNvSpPr/>
          <p:nvPr/>
        </p:nvSpPr>
        <p:spPr>
          <a:xfrm>
            <a:off x="8046720" y="1783080"/>
            <a:ext cx="3566160" cy="4206240"/>
          </a:xfrm>
          <a:prstGeom prst="rect">
            <a:avLst/>
          </a:prstGeom>
          <a:solidFill>
            <a:srgbClr val="FFFFFF"/>
          </a:solidFill>
          <a:ln/>
        </p:spPr>
      </p:sp>
      <p:sp>
        <p:nvSpPr>
          <p:cNvPr id="18" name="Shape 16"/>
          <p:cNvSpPr/>
          <p:nvPr/>
        </p:nvSpPr>
        <p:spPr>
          <a:xfrm>
            <a:off x="8046720" y="1783080"/>
            <a:ext cx="3566160" cy="548640"/>
          </a:xfrm>
          <a:prstGeom prst="rect">
            <a:avLst/>
          </a:prstGeom>
          <a:solidFill>
            <a:srgbClr val="002858"/>
          </a:solidFill>
          <a:ln/>
        </p:spPr>
      </p:sp>
      <p:sp>
        <p:nvSpPr>
          <p:cNvPr id="19" name="Text 17"/>
          <p:cNvSpPr/>
          <p:nvPr/>
        </p:nvSpPr>
        <p:spPr>
          <a:xfrm>
            <a:off x="8046720" y="1783080"/>
            <a:ext cx="3566160" cy="548640"/>
          </a:xfrm>
          <a:prstGeom prst="rect">
            <a:avLst/>
          </a:prstGeom>
          <a:noFill/>
          <a:ln/>
        </p:spPr>
        <p:txBody>
          <a:bodyPr wrap="square"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Who decided?</a:t>
            </a:r>
            <a:endParaRPr lang="en-US" sz="1600" dirty="0"/>
          </a:p>
        </p:txBody>
      </p:sp>
      <p:sp>
        <p:nvSpPr>
          <p:cNvPr id="20" name="Text 18"/>
          <p:cNvSpPr/>
          <p:nvPr/>
        </p:nvSpPr>
        <p:spPr>
          <a:xfrm>
            <a:off x="8183880" y="2423160"/>
            <a:ext cx="3291840" cy="868680"/>
          </a:xfrm>
          <a:prstGeom prst="rect">
            <a:avLst/>
          </a:prstGeom>
          <a:noFill/>
          <a:ln/>
        </p:spPr>
        <p:txBody>
          <a:bodyPr wrap="square" rtlCol="0" anchor="t"/>
          <a:lstStyle/>
          <a:p>
            <a:pPr indent="0" marL="0">
              <a:buNone/>
            </a:pPr>
            <a:r>
              <a:rPr lang="en-US" sz="1100" i="1" dirty="0">
                <a:solidFill>
                  <a:srgbClr val="5C6470"/>
                </a:solidFill>
                <a:latin typeface="Calibri" pitchFamily="34" charset="0"/>
                <a:ea typeface="Calibri" pitchFamily="34" charset="-122"/>
                <a:cs typeface="Calibri" pitchFamily="34" charset="-120"/>
              </a:rPr>
              <a:t>Which people, offices, or courts held the authority?</a:t>
            </a:r>
            <a:endParaRPr lang="en-US" sz="1100" dirty="0"/>
          </a:p>
        </p:txBody>
      </p:sp>
      <p:sp>
        <p:nvSpPr>
          <p:cNvPr id="21" name="Text 19"/>
          <p:cNvSpPr/>
          <p:nvPr/>
        </p:nvSpPr>
        <p:spPr>
          <a:xfrm>
            <a:off x="8183880" y="3291840"/>
            <a:ext cx="3291840" cy="274320"/>
          </a:xfrm>
          <a:prstGeom prst="rect">
            <a:avLst/>
          </a:prstGeom>
          <a:noFill/>
          <a:ln/>
        </p:spPr>
        <p:txBody>
          <a:bodyPr wrap="square" rtlCol="0" anchor="ctr"/>
          <a:lstStyle/>
          <a:p>
            <a:pPr indent="0" marL="0">
              <a:buNone/>
            </a:pPr>
            <a:r>
              <a:rPr lang="en-US" sz="1000" b="1" dirty="0">
                <a:solidFill>
                  <a:srgbClr val="8A6D1A"/>
                </a:solidFill>
                <a:latin typeface="Trebuchet MS" pitchFamily="34" charset="0"/>
                <a:ea typeface="Trebuchet MS" pitchFamily="34" charset="-122"/>
                <a:cs typeface="Trebuchet MS" pitchFamily="34" charset="-120"/>
              </a:rPr>
              <a:t>US.09:</a:t>
            </a:r>
            <a:endParaRPr lang="en-US" sz="1000" dirty="0"/>
          </a:p>
        </p:txBody>
      </p:sp>
      <p:sp>
        <p:nvSpPr>
          <p:cNvPr id="22" name="Text 20"/>
          <p:cNvSpPr/>
          <p:nvPr/>
        </p:nvSpPr>
        <p:spPr>
          <a:xfrm>
            <a:off x="8183880" y="3566160"/>
            <a:ext cx="3291840" cy="2286000"/>
          </a:xfrm>
          <a:prstGeom prst="rect">
            <a:avLst/>
          </a:prstGeom>
          <a:noFill/>
          <a:ln/>
        </p:spPr>
        <p:txBody>
          <a:bodyPr wrap="square" rtlCol="0" anchor="t"/>
          <a:lstStyle/>
          <a:p>
            <a:pPr indent="0" marL="0">
              <a:buNone/>
            </a:pPr>
            <a:r>
              <a:rPr lang="en-US" sz="1200" dirty="0">
                <a:solidFill>
                  <a:srgbClr val="1F2430"/>
                </a:solidFill>
                <a:latin typeface="Calibri" pitchFamily="34" charset="0"/>
                <a:ea typeface="Calibri" pitchFamily="34" charset="-122"/>
                <a:cs typeface="Calibri" pitchFamily="34" charset="-120"/>
              </a:rPr>
              <a:t>Two Black leaders defining rival strategies — Washington through Tuskegee and public accommodation, Du Bois through the NAACP and protest.</a:t>
            </a:r>
            <a:endParaRPr lang="en-US" sz="1200" dirty="0"/>
          </a:p>
        </p:txBody>
      </p:sp>
      <p:sp>
        <p:nvSpPr>
          <p:cNvPr id="23" name="Text 21"/>
          <p:cNvSpPr/>
          <p:nvPr/>
        </p:nvSpPr>
        <p:spPr>
          <a:xfrm>
            <a:off x="457200" y="6126480"/>
            <a:ext cx="10972800" cy="274320"/>
          </a:xfrm>
          <a:prstGeom prst="rect">
            <a:avLst/>
          </a:prstGeom>
          <a:noFill/>
          <a:ln/>
        </p:spPr>
        <p:txBody>
          <a:bodyPr wrap="square" rtlCol="0" anchor="ctr"/>
          <a:lstStyle/>
          <a:p>
            <a:pPr indent="0" marL="0">
              <a:buNone/>
            </a:pPr>
            <a:r>
              <a:rPr lang="en-US" sz="1000" i="1" dirty="0">
                <a:solidFill>
                  <a:srgbClr val="C7D4E0"/>
                </a:solidFill>
                <a:latin typeface="Trebuchet MS" pitchFamily="34" charset="0"/>
                <a:ea typeface="Trebuchet MS" pitchFamily="34" charset="-122"/>
                <a:cs typeface="Trebuchet MS" pitchFamily="34" charset="-120"/>
              </a:rPr>
              <a:t>Anchor: Washington, Atlanta Compromise Speech, 1895 (History Matters, GMU)</a:t>
            </a:r>
            <a:endParaRPr lang="en-US" sz="1000" dirty="0"/>
          </a:p>
        </p:txBody>
      </p:sp>
      <p:sp>
        <p:nvSpPr>
          <p:cNvPr id="24" name="Text 22"/>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5" name="Text 23"/>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A2332"/>
        </a:solidFill>
      </p:bgPr>
    </p:bg>
    <p:spTree>
      <p:nvGrpSpPr>
        <p:cNvPr id="1" name=""/>
        <p:cNvGrpSpPr/>
        <p:nvPr/>
      </p:nvGrpSpPr>
      <p:grpSpPr>
        <a:xfrm>
          <a:off x="0" y="0"/>
          <a:ext cx="0" cy="0"/>
          <a:chOff x="0" y="0"/>
          <a:chExt cx="0" cy="0"/>
        </a:xfrm>
      </p:grpSpPr>
      <p:sp>
        <p:nvSpPr>
          <p:cNvPr id="2" name="Shape 0"/>
          <p:cNvSpPr/>
          <p:nvPr/>
        </p:nvSpPr>
        <p:spPr>
          <a:xfrm>
            <a:off x="0" y="2331720"/>
            <a:ext cx="12191695" cy="73152"/>
          </a:xfrm>
          <a:prstGeom prst="rect">
            <a:avLst/>
          </a:prstGeom>
          <a:solidFill>
            <a:srgbClr val="C9A84C"/>
          </a:solidFill>
          <a:ln/>
        </p:spPr>
        <p:txBody>
          <a:bodyPr/>
          <a:p/>
        </p:txBody>
      </p:sp>
      <p:sp>
        <p:nvSpPr>
          <p:cNvPr id="3" name="Text 1"/>
          <p:cNvSpPr/>
          <p:nvPr/>
        </p:nvSpPr>
        <p:spPr>
          <a:xfrm>
            <a:off x="457200" y="548640"/>
            <a:ext cx="2926080" cy="1188720"/>
          </a:xfrm>
          <a:prstGeom prst="rect">
            <a:avLst/>
          </a:prstGeom>
          <a:noFill/>
          <a:ln/>
        </p:spPr>
        <p:txBody>
          <a:bodyPr wrap="square" rtlCol="0" anchor="ctr"/>
          <a:lstStyle/>
          <a:p>
            <a:pPr indent="0" marL="0">
              <a:buNone/>
            </a:pPr>
            <a:r>
              <a:rPr lang="en-US" sz="6000" b="1" dirty="0">
                <a:solidFill>
                  <a:srgbClr val="C9A84C"/>
                </a:solidFill>
                <a:latin typeface="Georgia" pitchFamily="34" charset="0"/>
                <a:ea typeface="Georgia" pitchFamily="34" charset="-122"/>
                <a:cs typeface="Georgia" pitchFamily="34" charset="-120"/>
              </a:rPr>
              <a:t>US.10</a:t>
            </a:r>
            <a:endParaRPr lang="en-US" sz="6000" dirty="0"/>
          </a:p>
        </p:txBody>
      </p:sp>
      <p:sp>
        <p:nvSpPr>
          <p:cNvPr id="4" name="Text 2"/>
          <p:cNvSpPr/>
          <p:nvPr/>
        </p:nvSpPr>
        <p:spPr>
          <a:xfrm>
            <a:off x="3474720" y="548640"/>
            <a:ext cx="8229600" cy="1188720"/>
          </a:xfrm>
          <a:prstGeom prst="rect">
            <a:avLst/>
          </a:prstGeom>
          <a:noFill/>
          <a:ln/>
        </p:spPr>
        <p:txBody>
          <a:bodyPr wrap="square" rtlCol="0" anchor="ctr"/>
          <a:lstStyle/>
          <a:p>
            <a:pPr indent="0" marL="0">
              <a:buNone/>
            </a:pPr>
            <a:r>
              <a:rPr lang="en-US" sz="2600" b="1" dirty="0">
                <a:solidFill>
                  <a:srgbClr val="FFFFFF"/>
                </a:solidFill>
                <a:latin typeface="Georgia" pitchFamily="34" charset="0"/>
                <a:ea typeface="Georgia" pitchFamily="34" charset="-122"/>
                <a:cs typeface="Georgia" pitchFamily="34" charset="-120"/>
              </a:rPr>
              <a:t>Populism &amp; Granger Movement</a:t>
            </a:r>
            <a:endParaRPr lang="en-US" sz="2600" dirty="0"/>
          </a:p>
        </p:txBody>
      </p:sp>
      <p:sp>
        <p:nvSpPr>
          <p:cNvPr id="5" name="Text 3"/>
          <p:cNvSpPr/>
          <p:nvPr/>
        </p:nvSpPr>
        <p:spPr>
          <a:xfrm>
            <a:off x="457200" y="2651760"/>
            <a:ext cx="11247120" cy="274320"/>
          </a:xfrm>
          <a:prstGeom prst="rect">
            <a:avLst/>
          </a:prstGeom>
          <a:noFill/>
          <a:ln/>
        </p:spPr>
        <p:txBody>
          <a:bodyPr wrap="square" rtlCol="0" anchor="ctr"/>
          <a:lstStyle/>
          <a:p>
            <a:pPr indent="0" marL="0">
              <a:buNone/>
            </a:pPr>
            <a:r>
              <a:rPr lang="en-US" sz="1200" b="1" spc="200" kern="0" dirty="0">
                <a:solidFill>
                  <a:srgbClr val="C9A84C"/>
                </a:solidFill>
                <a:latin typeface="Trebuchet MS" pitchFamily="34" charset="0"/>
                <a:ea typeface="Trebuchet MS" pitchFamily="34" charset="-122"/>
                <a:cs typeface="Trebuchet MS" pitchFamily="34" charset="-120"/>
              </a:rPr>
              <a:t>TN STANDARD</a:t>
            </a:r>
            <a:endParaRPr lang="en-US" sz="1200" dirty="0"/>
          </a:p>
        </p:txBody>
      </p:sp>
      <p:sp>
        <p:nvSpPr>
          <p:cNvPr id="6" name="Text 4"/>
          <p:cNvSpPr/>
          <p:nvPr/>
        </p:nvSpPr>
        <p:spPr>
          <a:xfrm>
            <a:off x="457200" y="2999232"/>
            <a:ext cx="11247120" cy="1691640"/>
          </a:xfrm>
          <a:prstGeom prst="rect">
            <a:avLst/>
          </a:prstGeom>
          <a:noFill/>
          <a:ln/>
        </p:spPr>
        <p:txBody>
          <a:bodyPr wrap="square" rtlCol="0" anchor="t"/>
          <a:lstStyle/>
          <a:p>
            <a:pPr indent="0" marL="0">
              <a:lnSpc>
                <a:spcPct val="105000"/>
              </a:lnSpc>
              <a:buNone/>
            </a:pPr>
            <a:r>
              <a:rPr lang="en-US" sz="1600" dirty="0">
                <a:solidFill>
                  <a:srgbClr val="C7D4E0"/>
                </a:solidFill>
                <a:latin typeface="Calibri" pitchFamily="34" charset="0"/>
                <a:ea typeface="Calibri" pitchFamily="34" charset="-122"/>
                <a:cs typeface="Calibri" pitchFamily="34" charset="-120"/>
              </a:rPr>
              <a:t>US.10 – Explain the characteristics and impact of the Granger movement and populism, emphasizing the conflicts between farmers and the railroads.</a:t>
            </a:r>
            <a:endParaRPr lang="en-US" sz="1600" dirty="0"/>
          </a:p>
        </p:txBody>
      </p:sp>
      <p:sp>
        <p:nvSpPr>
          <p:cNvPr id="7" name="Shape 5"/>
          <p:cNvSpPr/>
          <p:nvPr/>
        </p:nvSpPr>
        <p:spPr>
          <a:xfrm>
            <a:off x="457200" y="4892040"/>
            <a:ext cx="11247120" cy="1234440"/>
          </a:xfrm>
          <a:prstGeom prst="rect">
            <a:avLst/>
          </a:prstGeom>
          <a:solidFill>
            <a:srgbClr val="C9A84C"/>
          </a:solidFill>
          <a:ln/>
        </p:spPr>
      </p:sp>
      <p:sp>
        <p:nvSpPr>
          <p:cNvPr id="8" name="Text 6"/>
          <p:cNvSpPr/>
          <p:nvPr/>
        </p:nvSpPr>
        <p:spPr>
          <a:xfrm>
            <a:off x="640080" y="5029200"/>
            <a:ext cx="10972800" cy="274320"/>
          </a:xfrm>
          <a:prstGeom prst="rect">
            <a:avLst/>
          </a:prstGeom>
          <a:noFill/>
          <a:ln/>
        </p:spPr>
        <p:txBody>
          <a:bodyPr wrap="square" rtlCol="0" anchor="ctr"/>
          <a:lstStyle/>
          <a:p>
            <a:pPr indent="0" marL="0">
              <a:buNone/>
            </a:pPr>
            <a:r>
              <a:rPr lang="en-US" sz="1200" b="1" spc="200" kern="0" dirty="0">
                <a:solidFill>
                  <a:srgbClr val="1A2332"/>
                </a:solidFill>
                <a:latin typeface="Trebuchet MS" pitchFamily="34" charset="0"/>
                <a:ea typeface="Trebuchet MS" pitchFamily="34" charset="-122"/>
                <a:cs typeface="Trebuchet MS" pitchFamily="34" charset="-120"/>
              </a:rPr>
              <a:t>I CAN</a:t>
            </a:r>
            <a:endParaRPr lang="en-US" sz="1200" dirty="0"/>
          </a:p>
        </p:txBody>
      </p:sp>
      <p:sp>
        <p:nvSpPr>
          <p:cNvPr id="9" name="Text 7"/>
          <p:cNvSpPr/>
          <p:nvPr/>
        </p:nvSpPr>
        <p:spPr>
          <a:xfrm>
            <a:off x="640080" y="5303520"/>
            <a:ext cx="10881360" cy="749808"/>
          </a:xfrm>
          <a:prstGeom prst="rect">
            <a:avLst/>
          </a:prstGeom>
          <a:noFill/>
          <a:ln/>
        </p:spPr>
        <p:txBody>
          <a:bodyPr wrap="square" rtlCol="0" anchor="t"/>
          <a:lstStyle/>
          <a:p>
            <a:pPr indent="0" marL="0">
              <a:buNone/>
            </a:pPr>
            <a:r>
              <a:rPr lang="en-US" sz="1400" b="1" dirty="0">
                <a:solidFill>
                  <a:srgbClr val="1A2332"/>
                </a:solidFill>
                <a:latin typeface="Calibri" pitchFamily="34" charset="0"/>
                <a:ea typeface="Calibri" pitchFamily="34" charset="-122"/>
                <a:cs typeface="Calibri" pitchFamily="34" charset="-120"/>
              </a:rPr>
              <a:t>I can explain the characteristics and impact of the Granger movement and populism, emphasizing the conflicts between farmers and the railroads.</a:t>
            </a:r>
            <a:endParaRPr lang="en-US" sz="1400" dirty="0"/>
          </a:p>
        </p:txBody>
      </p:sp>
      <p:sp>
        <p:nvSpPr>
          <p:cNvPr id="10" name="Text 8"/>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1" name="Text 9"/>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737360"/>
          </a:xfrm>
          <a:prstGeom prst="rect">
            <a:avLst/>
          </a:prstGeom>
          <a:solidFill>
            <a:srgbClr val="1A2332"/>
          </a:solidFill>
          <a:ln/>
        </p:spPr>
        <p:txBody>
          <a:bodyPr/>
          <a:p/>
        </p:txBody>
      </p:sp>
      <p:sp>
        <p:nvSpPr>
          <p:cNvPr id="3" name="Shape 1"/>
          <p:cNvSpPr/>
          <p:nvPr/>
        </p:nvSpPr>
        <p:spPr>
          <a:xfrm>
            <a:off x="0" y="1737360"/>
            <a:ext cx="12191695" cy="54864"/>
          </a:xfrm>
          <a:prstGeom prst="rect">
            <a:avLst/>
          </a:prstGeom>
          <a:solidFill>
            <a:srgbClr val="C9A84C"/>
          </a:solidFill>
          <a:ln/>
        </p:spPr>
        <p:txBody>
          <a:bodyPr/>
          <a:p/>
        </p:txBody>
      </p:sp>
      <p:sp>
        <p:nvSpPr>
          <p:cNvPr id="4" name="Text 2"/>
          <p:cNvSpPr/>
          <p:nvPr/>
        </p:nvSpPr>
        <p:spPr>
          <a:xfrm>
            <a:off x="457200" y="320040"/>
            <a:ext cx="3291840" cy="365760"/>
          </a:xfrm>
          <a:prstGeom prst="rect">
            <a:avLst/>
          </a:prstGeom>
          <a:solidFill>
            <a:srgbClr val="00285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DIRECT INSTRUCTION</a:t>
            </a:r>
            <a:endParaRPr lang="en-US" sz="1100" dirty="0"/>
          </a:p>
        </p:txBody>
      </p:sp>
      <p:sp>
        <p:nvSpPr>
          <p:cNvPr id="5" name="Text 3"/>
          <p:cNvSpPr/>
          <p:nvPr/>
        </p:nvSpPr>
        <p:spPr>
          <a:xfrm>
            <a:off x="3886200" y="32004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US.10</a:t>
            </a:r>
            <a:endParaRPr lang="en-US" sz="1200" dirty="0"/>
          </a:p>
        </p:txBody>
      </p:sp>
      <p:sp>
        <p:nvSpPr>
          <p:cNvPr id="6" name="Text 4"/>
          <p:cNvSpPr/>
          <p:nvPr/>
        </p:nvSpPr>
        <p:spPr>
          <a:xfrm>
            <a:off x="457200" y="777240"/>
            <a:ext cx="11247120" cy="868680"/>
          </a:xfrm>
          <a:prstGeom prst="rect">
            <a:avLst/>
          </a:prstGeom>
          <a:noFill/>
          <a:ln/>
        </p:spPr>
        <p:txBody>
          <a:bodyPr wrap="square" rtlCol="0" anchor="ctr"/>
          <a:lstStyle/>
          <a:p>
            <a:pPr algn="l" indent="0" marL="0">
              <a:buNone/>
            </a:pPr>
            <a:r>
              <a:rPr lang="en-US" sz="2300" b="1" dirty="0">
                <a:solidFill>
                  <a:srgbClr val="FFFFFF"/>
                </a:solidFill>
                <a:latin typeface="Georgia" pitchFamily="34" charset="0"/>
                <a:ea typeface="Georgia" pitchFamily="34" charset="-122"/>
                <a:cs typeface="Georgia" pitchFamily="34" charset="-120"/>
              </a:rPr>
              <a:t>Populism gave farmers and rural workers a political voice against banks, railroads, and eastern financial power.</a:t>
            </a:r>
            <a:endParaRPr lang="en-US" sz="2300" dirty="0"/>
          </a:p>
        </p:txBody>
      </p:sp>
      <p:pic>
        <p:nvPicPr>
          <p:cNvPr id="7" name="Image 0" descr="hh-web/public/images/textbook/unit-2/bryan-speaking-1896.jpg">    </p:cNvPr>
          <p:cNvPicPr>
            <a:picLocks noChangeAspect="1"/>
          </p:cNvPicPr>
          <p:nvPr/>
        </p:nvPicPr>
        <p:blipFill>
          <a:blip r:embed="rId1"/>
          <a:srcRect l="0" r="0" t="0" b="0"/>
          <a:stretch/>
        </p:blipFill>
        <p:spPr>
          <a:xfrm>
            <a:off x="2743200" y="2057400"/>
            <a:ext cx="6702552" cy="4160520"/>
          </a:xfrm>
          <a:prstGeom prst="rect">
            <a:avLst/>
          </a:prstGeom>
        </p:spPr>
      </p:pic>
      <p:sp>
        <p:nvSpPr>
          <p:cNvPr id="8" name="Text 5"/>
          <p:cNvSpPr/>
          <p:nvPr/>
        </p:nvSpPr>
        <p:spPr>
          <a:xfrm>
            <a:off x="2743200" y="2103120"/>
            <a:ext cx="1188720" cy="292608"/>
          </a:xfrm>
          <a:prstGeom prst="rect">
            <a:avLst/>
          </a:prstGeom>
          <a:solidFill>
            <a:srgbClr val="F9A825"/>
          </a:solidFill>
          <a:ln/>
        </p:spPr>
        <p:txBody>
          <a:bodyPr wrap="square" rtlCol="0" anchor="ctr"/>
          <a:lstStyle/>
          <a:p>
            <a:pPr algn="ctr" indent="0" marL="0">
              <a:buNone/>
            </a:pPr>
            <a:r>
              <a:rPr lang="en-US" sz="900" b="1" spc="100" kern="0" dirty="0">
                <a:solidFill>
                  <a:srgbClr val="1A2332"/>
                </a:solidFill>
                <a:latin typeface="Trebuchet MS" pitchFamily="34" charset="0"/>
                <a:ea typeface="Trebuchet MS" pitchFamily="34" charset="-122"/>
                <a:cs typeface="Trebuchet MS" pitchFamily="34" charset="-120"/>
              </a:rPr>
              <a:t>ZOOM IN</a:t>
            </a:r>
            <a:endParaRPr lang="en-US" sz="900" dirty="0"/>
          </a:p>
        </p:txBody>
      </p:sp>
      <p:sp>
        <p:nvSpPr>
          <p:cNvPr id="9" name="Text 6"/>
          <p:cNvSpPr/>
          <p:nvPr/>
        </p:nvSpPr>
        <p:spPr>
          <a:xfrm>
            <a:off x="457200" y="6263640"/>
            <a:ext cx="8229600" cy="274320"/>
          </a:xfrm>
          <a:prstGeom prst="rect">
            <a:avLst/>
          </a:prstGeom>
          <a:noFill/>
          <a:ln/>
        </p:spPr>
        <p:txBody>
          <a:bodyPr wrap="square" rtlCol="0" anchor="ctr"/>
          <a:lstStyle/>
          <a:p>
            <a:pPr indent="0" marL="0">
              <a:buNone/>
            </a:pPr>
            <a:r>
              <a:rPr lang="en-US" sz="1000" i="1" dirty="0">
                <a:solidFill>
                  <a:srgbClr val="5C6470"/>
                </a:solidFill>
                <a:latin typeface="Trebuchet MS" pitchFamily="34" charset="0"/>
                <a:ea typeface="Trebuchet MS" pitchFamily="34" charset="-122"/>
                <a:cs typeface="Trebuchet MS" pitchFamily="34" charset="-120"/>
              </a:rPr>
              <a:t>US.10 · Understanding Populism</a:t>
            </a:r>
            <a:endParaRPr lang="en-US" sz="1000" dirty="0"/>
          </a:p>
        </p:txBody>
      </p:sp>
      <p:sp>
        <p:nvSpPr>
          <p:cNvPr id="10" name="Text 7"/>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1" name="Text 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737360"/>
          </a:xfrm>
          <a:prstGeom prst="rect">
            <a:avLst/>
          </a:prstGeom>
          <a:solidFill>
            <a:srgbClr val="1A2332"/>
          </a:solidFill>
          <a:ln/>
        </p:spPr>
        <p:txBody>
          <a:bodyPr/>
          <a:p/>
        </p:txBody>
      </p:sp>
      <p:sp>
        <p:nvSpPr>
          <p:cNvPr id="3" name="Shape 1"/>
          <p:cNvSpPr/>
          <p:nvPr/>
        </p:nvSpPr>
        <p:spPr>
          <a:xfrm>
            <a:off x="0" y="1737360"/>
            <a:ext cx="12191695" cy="54864"/>
          </a:xfrm>
          <a:prstGeom prst="rect">
            <a:avLst/>
          </a:prstGeom>
          <a:solidFill>
            <a:srgbClr val="C9A84C"/>
          </a:solidFill>
          <a:ln/>
        </p:spPr>
        <p:txBody>
          <a:bodyPr/>
          <a:p/>
        </p:txBody>
      </p:sp>
      <p:sp>
        <p:nvSpPr>
          <p:cNvPr id="4" name="Text 2"/>
          <p:cNvSpPr/>
          <p:nvPr/>
        </p:nvSpPr>
        <p:spPr>
          <a:xfrm>
            <a:off x="457200" y="320040"/>
            <a:ext cx="3291840" cy="365760"/>
          </a:xfrm>
          <a:prstGeom prst="rect">
            <a:avLst/>
          </a:prstGeom>
          <a:solidFill>
            <a:srgbClr val="00285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DIRECT INSTRUCTION</a:t>
            </a:r>
            <a:endParaRPr lang="en-US" sz="1100" dirty="0"/>
          </a:p>
        </p:txBody>
      </p:sp>
      <p:sp>
        <p:nvSpPr>
          <p:cNvPr id="5" name="Text 3"/>
          <p:cNvSpPr/>
          <p:nvPr/>
        </p:nvSpPr>
        <p:spPr>
          <a:xfrm>
            <a:off x="3886200" y="32004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US.10</a:t>
            </a:r>
            <a:endParaRPr lang="en-US" sz="1200" dirty="0"/>
          </a:p>
        </p:txBody>
      </p:sp>
      <p:sp>
        <p:nvSpPr>
          <p:cNvPr id="6" name="Text 4"/>
          <p:cNvSpPr/>
          <p:nvPr/>
        </p:nvSpPr>
        <p:spPr>
          <a:xfrm>
            <a:off x="457200" y="777240"/>
            <a:ext cx="11247120" cy="868680"/>
          </a:xfrm>
          <a:prstGeom prst="rect">
            <a:avLst/>
          </a:prstGeom>
          <a:noFill/>
          <a:ln/>
        </p:spPr>
        <p:txBody>
          <a:bodyPr wrap="square" rtlCol="0" anchor="ctr"/>
          <a:lstStyle/>
          <a:p>
            <a:pPr algn="l" indent="0" marL="0">
              <a:buNone/>
            </a:pPr>
            <a:r>
              <a:rPr lang="en-US" sz="2300" b="1" dirty="0">
                <a:solidFill>
                  <a:srgbClr val="FFFFFF"/>
                </a:solidFill>
                <a:latin typeface="Georgia" pitchFamily="34" charset="0"/>
                <a:ea typeface="Georgia" pitchFamily="34" charset="-122"/>
                <a:cs typeface="Georgia" pitchFamily="34" charset="-120"/>
              </a:rPr>
              <a:t>The Grange (1867) and the Farmers’ Alliance organized farmers socially and politically — lobbying for railroad regulation.</a:t>
            </a:r>
            <a:endParaRPr lang="en-US" sz="2300" dirty="0"/>
          </a:p>
        </p:txBody>
      </p:sp>
      <p:pic>
        <p:nvPicPr>
          <p:cNvPr id="7" name="Image 0" descr="hh-web/public/images/textbook/unit-2/gift-for-grangers-1873.jpg">    </p:cNvPr>
          <p:cNvPicPr>
            <a:picLocks noChangeAspect="1"/>
          </p:cNvPicPr>
          <p:nvPr/>
        </p:nvPicPr>
        <p:blipFill>
          <a:blip r:embed="rId1"/>
          <a:srcRect l="0" r="0" t="0" b="0"/>
          <a:stretch/>
        </p:blipFill>
        <p:spPr>
          <a:xfrm>
            <a:off x="2743200" y="2057400"/>
            <a:ext cx="6702552" cy="4160520"/>
          </a:xfrm>
          <a:prstGeom prst="rect">
            <a:avLst/>
          </a:prstGeom>
        </p:spPr>
      </p:pic>
      <p:sp>
        <p:nvSpPr>
          <p:cNvPr id="8" name="Text 5"/>
          <p:cNvSpPr/>
          <p:nvPr/>
        </p:nvSpPr>
        <p:spPr>
          <a:xfrm>
            <a:off x="2743200" y="2103120"/>
            <a:ext cx="1188720" cy="292608"/>
          </a:xfrm>
          <a:prstGeom prst="rect">
            <a:avLst/>
          </a:prstGeom>
          <a:solidFill>
            <a:srgbClr val="F9A825"/>
          </a:solidFill>
          <a:ln/>
        </p:spPr>
        <p:txBody>
          <a:bodyPr wrap="square" rtlCol="0" anchor="ctr"/>
          <a:lstStyle/>
          <a:p>
            <a:pPr algn="ctr" indent="0" marL="0">
              <a:buNone/>
            </a:pPr>
            <a:r>
              <a:rPr lang="en-US" sz="900" b="1" spc="100" kern="0" dirty="0">
                <a:solidFill>
                  <a:srgbClr val="1A2332"/>
                </a:solidFill>
                <a:latin typeface="Trebuchet MS" pitchFamily="34" charset="0"/>
                <a:ea typeface="Trebuchet MS" pitchFamily="34" charset="-122"/>
                <a:cs typeface="Trebuchet MS" pitchFamily="34" charset="-120"/>
              </a:rPr>
              <a:t>ZOOM IN</a:t>
            </a:r>
            <a:endParaRPr lang="en-US" sz="900" dirty="0"/>
          </a:p>
        </p:txBody>
      </p:sp>
      <p:sp>
        <p:nvSpPr>
          <p:cNvPr id="9" name="Text 6"/>
          <p:cNvSpPr/>
          <p:nvPr/>
        </p:nvSpPr>
        <p:spPr>
          <a:xfrm>
            <a:off x="457200" y="6263640"/>
            <a:ext cx="8229600" cy="274320"/>
          </a:xfrm>
          <a:prstGeom prst="rect">
            <a:avLst/>
          </a:prstGeom>
          <a:noFill/>
          <a:ln/>
        </p:spPr>
        <p:txBody>
          <a:bodyPr wrap="square" rtlCol="0" anchor="ctr"/>
          <a:lstStyle/>
          <a:p>
            <a:pPr indent="0" marL="0">
              <a:buNone/>
            </a:pPr>
            <a:r>
              <a:rPr lang="en-US" sz="1000" i="1" dirty="0">
                <a:solidFill>
                  <a:srgbClr val="5C6470"/>
                </a:solidFill>
                <a:latin typeface="Trebuchet MS" pitchFamily="34" charset="0"/>
                <a:ea typeface="Trebuchet MS" pitchFamily="34" charset="-122"/>
                <a:cs typeface="Trebuchet MS" pitchFamily="34" charset="-120"/>
              </a:rPr>
              <a:t>US.10 · Granger Movement &amp; Farmers’ Alliance</a:t>
            </a:r>
            <a:endParaRPr lang="en-US" sz="1000" dirty="0"/>
          </a:p>
        </p:txBody>
      </p:sp>
      <p:sp>
        <p:nvSpPr>
          <p:cNvPr id="10" name="Text 7"/>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1" name="Text 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737360"/>
          </a:xfrm>
          <a:prstGeom prst="rect">
            <a:avLst/>
          </a:prstGeom>
          <a:solidFill>
            <a:srgbClr val="1A2332"/>
          </a:solidFill>
          <a:ln/>
        </p:spPr>
        <p:txBody>
          <a:bodyPr/>
          <a:p/>
        </p:txBody>
      </p:sp>
      <p:sp>
        <p:nvSpPr>
          <p:cNvPr id="3" name="Shape 1"/>
          <p:cNvSpPr/>
          <p:nvPr/>
        </p:nvSpPr>
        <p:spPr>
          <a:xfrm>
            <a:off x="0" y="1737360"/>
            <a:ext cx="12191695" cy="54864"/>
          </a:xfrm>
          <a:prstGeom prst="rect">
            <a:avLst/>
          </a:prstGeom>
          <a:solidFill>
            <a:srgbClr val="C9A84C"/>
          </a:solidFill>
          <a:ln/>
        </p:spPr>
        <p:txBody>
          <a:bodyPr/>
          <a:p/>
        </p:txBody>
      </p:sp>
      <p:sp>
        <p:nvSpPr>
          <p:cNvPr id="4" name="Text 2"/>
          <p:cNvSpPr/>
          <p:nvPr/>
        </p:nvSpPr>
        <p:spPr>
          <a:xfrm>
            <a:off x="457200" y="320040"/>
            <a:ext cx="3291840" cy="365760"/>
          </a:xfrm>
          <a:prstGeom prst="rect">
            <a:avLst/>
          </a:prstGeom>
          <a:solidFill>
            <a:srgbClr val="00285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DIRECT INSTRUCTION</a:t>
            </a:r>
            <a:endParaRPr lang="en-US" sz="1100" dirty="0"/>
          </a:p>
        </p:txBody>
      </p:sp>
      <p:sp>
        <p:nvSpPr>
          <p:cNvPr id="5" name="Text 3"/>
          <p:cNvSpPr/>
          <p:nvPr/>
        </p:nvSpPr>
        <p:spPr>
          <a:xfrm>
            <a:off x="3886200" y="32004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US.10</a:t>
            </a:r>
            <a:endParaRPr lang="en-US" sz="1200" dirty="0"/>
          </a:p>
        </p:txBody>
      </p:sp>
      <p:sp>
        <p:nvSpPr>
          <p:cNvPr id="6" name="Text 4"/>
          <p:cNvSpPr/>
          <p:nvPr/>
        </p:nvSpPr>
        <p:spPr>
          <a:xfrm>
            <a:off x="457200" y="777240"/>
            <a:ext cx="11247120" cy="868680"/>
          </a:xfrm>
          <a:prstGeom prst="rect">
            <a:avLst/>
          </a:prstGeom>
          <a:noFill/>
          <a:ln/>
        </p:spPr>
        <p:txBody>
          <a:bodyPr wrap="square" rtlCol="0" anchor="ctr"/>
          <a:lstStyle/>
          <a:p>
            <a:pPr algn="l" indent="0" marL="0">
              <a:buNone/>
            </a:pPr>
            <a:r>
              <a:rPr lang="en-US" sz="2300" b="1" dirty="0">
                <a:solidFill>
                  <a:srgbClr val="FFFFFF"/>
                </a:solidFill>
                <a:latin typeface="Georgia" pitchFamily="34" charset="0"/>
                <a:ea typeface="Georgia" pitchFamily="34" charset="-122"/>
                <a:cs typeface="Georgia" pitchFamily="34" charset="-120"/>
              </a:rPr>
              <a:t>Railroads squeezed farmers with high, discriminatory freight rates, rebates to big shippers, and control of grain elevators.</a:t>
            </a:r>
            <a:endParaRPr lang="en-US" sz="2300" dirty="0"/>
          </a:p>
        </p:txBody>
      </p:sp>
      <p:pic>
        <p:nvPicPr>
          <p:cNvPr id="7" name="Image 0" descr="hh-web/public/images/textbook/unit-2/curse-of-california-railroad-octopus-1882.jpg">    </p:cNvPr>
          <p:cNvPicPr>
            <a:picLocks noChangeAspect="1"/>
          </p:cNvPicPr>
          <p:nvPr/>
        </p:nvPicPr>
        <p:blipFill>
          <a:blip r:embed="rId1"/>
          <a:srcRect l="0" r="0" t="0" b="0"/>
          <a:stretch/>
        </p:blipFill>
        <p:spPr>
          <a:xfrm>
            <a:off x="2743200" y="2057400"/>
            <a:ext cx="6702552" cy="4160520"/>
          </a:xfrm>
          <a:prstGeom prst="rect">
            <a:avLst/>
          </a:prstGeom>
        </p:spPr>
      </p:pic>
      <p:sp>
        <p:nvSpPr>
          <p:cNvPr id="8" name="Text 5"/>
          <p:cNvSpPr/>
          <p:nvPr/>
        </p:nvSpPr>
        <p:spPr>
          <a:xfrm>
            <a:off x="2743200" y="2103120"/>
            <a:ext cx="1188720" cy="292608"/>
          </a:xfrm>
          <a:prstGeom prst="rect">
            <a:avLst/>
          </a:prstGeom>
          <a:solidFill>
            <a:srgbClr val="F9A825"/>
          </a:solidFill>
          <a:ln/>
        </p:spPr>
        <p:txBody>
          <a:bodyPr wrap="square" rtlCol="0" anchor="ctr"/>
          <a:lstStyle/>
          <a:p>
            <a:pPr algn="ctr" indent="0" marL="0">
              <a:buNone/>
            </a:pPr>
            <a:r>
              <a:rPr lang="en-US" sz="900" b="1" spc="100" kern="0" dirty="0">
                <a:solidFill>
                  <a:srgbClr val="1A2332"/>
                </a:solidFill>
                <a:latin typeface="Trebuchet MS" pitchFamily="34" charset="0"/>
                <a:ea typeface="Trebuchet MS" pitchFamily="34" charset="-122"/>
                <a:cs typeface="Trebuchet MS" pitchFamily="34" charset="-120"/>
              </a:rPr>
              <a:t>ZOOM IN</a:t>
            </a:r>
            <a:endParaRPr lang="en-US" sz="900" dirty="0"/>
          </a:p>
        </p:txBody>
      </p:sp>
      <p:sp>
        <p:nvSpPr>
          <p:cNvPr id="9" name="Text 6"/>
          <p:cNvSpPr/>
          <p:nvPr/>
        </p:nvSpPr>
        <p:spPr>
          <a:xfrm>
            <a:off x="457200" y="6263640"/>
            <a:ext cx="8229600" cy="274320"/>
          </a:xfrm>
          <a:prstGeom prst="rect">
            <a:avLst/>
          </a:prstGeom>
          <a:noFill/>
          <a:ln/>
        </p:spPr>
        <p:txBody>
          <a:bodyPr wrap="square" rtlCol="0" anchor="ctr"/>
          <a:lstStyle/>
          <a:p>
            <a:pPr indent="0" marL="0">
              <a:buNone/>
            </a:pPr>
            <a:r>
              <a:rPr lang="en-US" sz="1000" i="1" dirty="0">
                <a:solidFill>
                  <a:srgbClr val="5C6470"/>
                </a:solidFill>
                <a:latin typeface="Trebuchet MS" pitchFamily="34" charset="0"/>
                <a:ea typeface="Trebuchet MS" pitchFamily="34" charset="-122"/>
                <a:cs typeface="Trebuchet MS" pitchFamily="34" charset="-120"/>
              </a:rPr>
              <a:t>US.10 · Farmer vs. Railroad Conflicts</a:t>
            </a:r>
            <a:endParaRPr lang="en-US" sz="1000" dirty="0"/>
          </a:p>
        </p:txBody>
      </p:sp>
      <p:sp>
        <p:nvSpPr>
          <p:cNvPr id="10" name="Text 7"/>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1" name="Text 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554480"/>
          </a:xfrm>
          <a:prstGeom prst="rect">
            <a:avLst/>
          </a:prstGeom>
          <a:solidFill>
            <a:srgbClr val="002858"/>
          </a:solidFill>
          <a:ln/>
        </p:spPr>
        <p:txBody>
          <a:bodyPr/>
          <a:p/>
        </p:txBody>
      </p:sp>
      <p:sp>
        <p:nvSpPr>
          <p:cNvPr id="3" name="Shape 1"/>
          <p:cNvSpPr/>
          <p:nvPr/>
        </p:nvSpPr>
        <p:spPr>
          <a:xfrm>
            <a:off x="0" y="1554480"/>
            <a:ext cx="12191695" cy="54864"/>
          </a:xfrm>
          <a:prstGeom prst="rect">
            <a:avLst/>
          </a:prstGeom>
          <a:solidFill>
            <a:srgbClr val="C9A84C"/>
          </a:solidFill>
          <a:ln/>
        </p:spPr>
        <p:txBody>
          <a:bodyPr/>
          <a:p/>
        </p:txBody>
      </p:sp>
      <p:sp>
        <p:nvSpPr>
          <p:cNvPr id="4" name="Text 2"/>
          <p:cNvSpPr/>
          <p:nvPr/>
        </p:nvSpPr>
        <p:spPr>
          <a:xfrm>
            <a:off x="457200" y="274320"/>
            <a:ext cx="3291840" cy="365760"/>
          </a:xfrm>
          <a:prstGeom prst="rect">
            <a:avLst/>
          </a:prstGeom>
          <a:solidFill>
            <a:srgbClr val="C6282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SOURCE IT FIRST</a:t>
            </a:r>
            <a:endParaRPr lang="en-US" sz="1100" dirty="0"/>
          </a:p>
        </p:txBody>
      </p:sp>
      <p:sp>
        <p:nvSpPr>
          <p:cNvPr id="5" name="Text 3"/>
          <p:cNvSpPr/>
          <p:nvPr/>
        </p:nvSpPr>
        <p:spPr>
          <a:xfrm>
            <a:off x="3886200" y="27432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US.10</a:t>
            </a:r>
            <a:endParaRPr lang="en-US" sz="1200" dirty="0"/>
          </a:p>
        </p:txBody>
      </p:sp>
      <p:sp>
        <p:nvSpPr>
          <p:cNvPr id="6" name="Text 4"/>
          <p:cNvSpPr/>
          <p:nvPr/>
        </p:nvSpPr>
        <p:spPr>
          <a:xfrm>
            <a:off x="457200" y="713232"/>
            <a:ext cx="11247120" cy="777240"/>
          </a:xfrm>
          <a:prstGeom prst="rect">
            <a:avLst/>
          </a:prstGeom>
          <a:noFill/>
          <a:ln/>
        </p:spPr>
        <p:txBody>
          <a:bodyPr wrap="square" rtlCol="0" anchor="ctr"/>
          <a:lstStyle/>
          <a:p>
            <a:pPr indent="0" marL="0">
              <a:buNone/>
            </a:pPr>
            <a:r>
              <a:rPr lang="en-US" sz="2000" b="1" dirty="0">
                <a:solidFill>
                  <a:srgbClr val="FFFFFF"/>
                </a:solidFill>
                <a:latin typeface="Georgia" pitchFamily="34" charset="0"/>
                <a:ea typeface="Georgia" pitchFamily="34" charset="-122"/>
                <a:cs typeface="Georgia" pitchFamily="34" charset="-120"/>
              </a:rPr>
              <a:t>Read the 1892 Populist Platform — its demands reveal what farmers thought was broken and how they wanted to fix it.</a:t>
            </a:r>
            <a:endParaRPr lang="en-US" sz="2000" dirty="0"/>
          </a:p>
        </p:txBody>
      </p:sp>
      <p:sp>
        <p:nvSpPr>
          <p:cNvPr id="7" name="Text 5"/>
          <p:cNvSpPr/>
          <p:nvPr/>
        </p:nvSpPr>
        <p:spPr>
          <a:xfrm>
            <a:off x="457200" y="1783080"/>
            <a:ext cx="3566160" cy="320040"/>
          </a:xfrm>
          <a:prstGeom prst="rect">
            <a:avLst/>
          </a:prstGeom>
          <a:solidFill>
            <a:srgbClr val="1A2332"/>
          </a:solid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WHO</a:t>
            </a:r>
            <a:endParaRPr lang="en-US" sz="1200" dirty="0"/>
          </a:p>
        </p:txBody>
      </p:sp>
      <p:sp>
        <p:nvSpPr>
          <p:cNvPr id="8" name="Text 6"/>
          <p:cNvSpPr/>
          <p:nvPr/>
        </p:nvSpPr>
        <p:spPr>
          <a:xfrm>
            <a:off x="457200" y="2103120"/>
            <a:ext cx="3566160" cy="914400"/>
          </a:xfrm>
          <a:prstGeom prst="rect">
            <a:avLst/>
          </a:prstGeom>
          <a:solidFill>
            <a:srgbClr val="FFFFFF"/>
          </a:solidFill>
          <a:ln w="12700">
            <a:solidFill>
              <a:srgbClr val="DAD3C2"/>
            </a:solidFill>
          </a:ln>
        </p:spPr>
        <p:txBody>
          <a:bodyPr wrap="square" lIns="76200" tIns="76200" rIns="76200" bIns="76200" rtlCol="0" anchor="t"/>
          <a:lstStyle/>
          <a:p>
            <a:pPr algn="l" indent="0" marL="0">
              <a:buNone/>
            </a:pPr>
            <a:r>
              <a:rPr lang="en-US" sz="1200" dirty="0">
                <a:solidFill>
                  <a:srgbClr val="1F2430"/>
                </a:solidFill>
                <a:latin typeface="Calibri" pitchFamily="34" charset="0"/>
                <a:ea typeface="Calibri" pitchFamily="34" charset="-122"/>
                <a:cs typeface="Calibri" pitchFamily="34" charset="-120"/>
              </a:rPr>
              <a:t>The People's Party — delegates representing millions of American farmers from the South and Midwest.</a:t>
            </a:r>
            <a:endParaRPr lang="en-US" sz="1200" dirty="0"/>
          </a:p>
        </p:txBody>
      </p:sp>
      <p:sp>
        <p:nvSpPr>
          <p:cNvPr id="9" name="Text 7"/>
          <p:cNvSpPr/>
          <p:nvPr/>
        </p:nvSpPr>
        <p:spPr>
          <a:xfrm>
            <a:off x="4251960" y="1783080"/>
            <a:ext cx="3566160" cy="320040"/>
          </a:xfrm>
          <a:prstGeom prst="rect">
            <a:avLst/>
          </a:prstGeom>
          <a:solidFill>
            <a:srgbClr val="1A2332"/>
          </a:solid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WHEN</a:t>
            </a:r>
            <a:endParaRPr lang="en-US" sz="1200" dirty="0"/>
          </a:p>
        </p:txBody>
      </p:sp>
      <p:sp>
        <p:nvSpPr>
          <p:cNvPr id="10" name="Text 8"/>
          <p:cNvSpPr/>
          <p:nvPr/>
        </p:nvSpPr>
        <p:spPr>
          <a:xfrm>
            <a:off x="4251960" y="2103120"/>
            <a:ext cx="3566160" cy="914400"/>
          </a:xfrm>
          <a:prstGeom prst="rect">
            <a:avLst/>
          </a:prstGeom>
          <a:solidFill>
            <a:srgbClr val="FFFFFF"/>
          </a:solidFill>
          <a:ln w="12700">
            <a:solidFill>
              <a:srgbClr val="DAD3C2"/>
            </a:solidFill>
          </a:ln>
        </p:spPr>
        <p:txBody>
          <a:bodyPr wrap="square" lIns="76200" tIns="76200" rIns="76200" bIns="76200" rtlCol="0" anchor="t"/>
          <a:lstStyle/>
          <a:p>
            <a:pPr algn="l" indent="0" marL="0">
              <a:buNone/>
            </a:pPr>
            <a:r>
              <a:rPr lang="en-US" sz="1200" dirty="0">
                <a:solidFill>
                  <a:srgbClr val="1F2430"/>
                </a:solidFill>
                <a:latin typeface="Calibri" pitchFamily="34" charset="0"/>
                <a:ea typeface="Calibri" pitchFamily="34" charset="-122"/>
                <a:cs typeface="Calibri" pitchFamily="34" charset="-120"/>
              </a:rPr>
              <a:t>1892, during a severe agricultural depression with falling crop prices and rising railroad costs.</a:t>
            </a:r>
            <a:endParaRPr lang="en-US" sz="1200" dirty="0"/>
          </a:p>
        </p:txBody>
      </p:sp>
      <p:sp>
        <p:nvSpPr>
          <p:cNvPr id="11" name="Text 9"/>
          <p:cNvSpPr/>
          <p:nvPr/>
        </p:nvSpPr>
        <p:spPr>
          <a:xfrm>
            <a:off x="8046720" y="1783080"/>
            <a:ext cx="3566160" cy="320040"/>
          </a:xfrm>
          <a:prstGeom prst="rect">
            <a:avLst/>
          </a:prstGeom>
          <a:solidFill>
            <a:srgbClr val="1A2332"/>
          </a:solid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WHY</a:t>
            </a:r>
            <a:endParaRPr lang="en-US" sz="1200" dirty="0"/>
          </a:p>
        </p:txBody>
      </p:sp>
      <p:sp>
        <p:nvSpPr>
          <p:cNvPr id="12" name="Text 10"/>
          <p:cNvSpPr/>
          <p:nvPr/>
        </p:nvSpPr>
        <p:spPr>
          <a:xfrm>
            <a:off x="8046720" y="2103120"/>
            <a:ext cx="3566160" cy="914400"/>
          </a:xfrm>
          <a:prstGeom prst="rect">
            <a:avLst/>
          </a:prstGeom>
          <a:solidFill>
            <a:srgbClr val="FFFFFF"/>
          </a:solidFill>
          <a:ln w="12700">
            <a:solidFill>
              <a:srgbClr val="DAD3C2"/>
            </a:solidFill>
          </a:ln>
        </p:spPr>
        <p:txBody>
          <a:bodyPr wrap="square" lIns="76200" tIns="76200" rIns="76200" bIns="76200" rtlCol="0" anchor="t"/>
          <a:lstStyle/>
          <a:p>
            <a:pPr algn="l" indent="0" marL="0">
              <a:buNone/>
            </a:pPr>
            <a:r>
              <a:rPr lang="en-US" sz="1200" dirty="0">
                <a:solidFill>
                  <a:srgbClr val="1F2430"/>
                </a:solidFill>
                <a:latin typeface="Calibri" pitchFamily="34" charset="0"/>
                <a:ea typeface="Calibri" pitchFamily="34" charset="-122"/>
                <a:cs typeface="Calibri" pitchFamily="34" charset="-120"/>
              </a:rPr>
              <a:t>Political platforms reveal what a group believes is wrong and what power they want to use to fix it.</a:t>
            </a:r>
            <a:endParaRPr lang="en-US" sz="1200" dirty="0"/>
          </a:p>
        </p:txBody>
      </p:sp>
      <p:sp>
        <p:nvSpPr>
          <p:cNvPr id="13" name="Shape 11"/>
          <p:cNvSpPr/>
          <p:nvPr/>
        </p:nvSpPr>
        <p:spPr>
          <a:xfrm>
            <a:off x="457200" y="3200400"/>
            <a:ext cx="5532120" cy="2651760"/>
          </a:xfrm>
          <a:prstGeom prst="rect">
            <a:avLst/>
          </a:prstGeom>
          <a:solidFill>
            <a:srgbClr val="FFFFFF"/>
          </a:solidFill>
          <a:ln w="19050">
            <a:solidFill>
              <a:srgbClr val="C9A84C"/>
            </a:solidFill>
            <a:prstDash val="solid"/>
          </a:ln>
        </p:spPr>
      </p:sp>
      <p:sp>
        <p:nvSpPr>
          <p:cNvPr id="14" name="Text 12"/>
          <p:cNvSpPr/>
          <p:nvPr/>
        </p:nvSpPr>
        <p:spPr>
          <a:xfrm>
            <a:off x="594360" y="3291840"/>
            <a:ext cx="5257800" cy="320040"/>
          </a:xfrm>
          <a:prstGeom prst="rect">
            <a:avLst/>
          </a:prstGeom>
          <a:noFill/>
          <a:ln/>
        </p:spPr>
        <p:txBody>
          <a:bodyPr wrap="square" rtlCol="0" anchor="ctr"/>
          <a:lstStyle/>
          <a:p>
            <a:pPr indent="0" marL="0">
              <a:buNone/>
            </a:pPr>
            <a:r>
              <a:rPr lang="en-US" sz="1400" b="1" dirty="0">
                <a:solidFill>
                  <a:srgbClr val="002858"/>
                </a:solidFill>
                <a:latin typeface="Georgia" pitchFamily="34" charset="0"/>
                <a:ea typeface="Georgia" pitchFamily="34" charset="-122"/>
                <a:cs typeface="Georgia" pitchFamily="34" charset="-120"/>
              </a:rPr>
              <a:t>Populist Party Platform</a:t>
            </a:r>
            <a:endParaRPr lang="en-US" sz="1400" dirty="0"/>
          </a:p>
        </p:txBody>
      </p:sp>
      <p:sp>
        <p:nvSpPr>
          <p:cNvPr id="15" name="Text 13"/>
          <p:cNvSpPr/>
          <p:nvPr/>
        </p:nvSpPr>
        <p:spPr>
          <a:xfrm>
            <a:off x="594360" y="3611880"/>
            <a:ext cx="5257800" cy="274320"/>
          </a:xfrm>
          <a:prstGeom prst="rect">
            <a:avLst/>
          </a:prstGeom>
          <a:noFill/>
          <a:ln/>
        </p:spPr>
        <p:txBody>
          <a:bodyPr wrap="square" rtlCol="0" anchor="ctr"/>
          <a:lstStyle/>
          <a:p>
            <a:pPr indent="0" marL="0">
              <a:buNone/>
            </a:pPr>
            <a:r>
              <a:rPr lang="en-US" sz="900" i="1" dirty="0">
                <a:solidFill>
                  <a:srgbClr val="5C6470"/>
                </a:solidFill>
                <a:latin typeface="Trebuchet MS" pitchFamily="34" charset="0"/>
                <a:ea typeface="Trebuchet MS" pitchFamily="34" charset="-122"/>
                <a:cs typeface="Trebuchet MS" pitchFamily="34" charset="-120"/>
              </a:rPr>
              <a:t>People's Party National Convention · 1892</a:t>
            </a:r>
            <a:endParaRPr lang="en-US" sz="900" dirty="0"/>
          </a:p>
        </p:txBody>
      </p:sp>
      <p:sp>
        <p:nvSpPr>
          <p:cNvPr id="16" name="Text 14"/>
          <p:cNvSpPr/>
          <p:nvPr/>
        </p:nvSpPr>
        <p:spPr>
          <a:xfrm>
            <a:off x="594360" y="3931920"/>
            <a:ext cx="5257800" cy="1600200"/>
          </a:xfrm>
          <a:prstGeom prst="rect">
            <a:avLst/>
          </a:prstGeom>
          <a:noFill/>
          <a:ln/>
        </p:spPr>
        <p:txBody>
          <a:bodyPr wrap="square" rtlCol="0" anchor="t"/>
          <a:lstStyle/>
          <a:p>
            <a:pPr indent="0" marL="0">
              <a:buNone/>
            </a:pPr>
            <a:r>
              <a:rPr lang="en-US" sz="1100" dirty="0">
                <a:solidFill>
                  <a:srgbClr val="1F2430"/>
                </a:solidFill>
                <a:latin typeface="Calibri" pitchFamily="34" charset="0"/>
                <a:ea typeface="Calibri" pitchFamily="34" charset="-122"/>
                <a:cs typeface="Calibri" pitchFamily="34" charset="-120"/>
              </a:rPr>
              <a:t>"We demand free and unlimited coinage of silver and gold at the present legal ratio of 16 to 1... We demand a graduated income tax... We believe that the power of government—in other words, of the people—should be expanded... to the end that oppression, injustice, and poverty shall eventually cease in the land."</a:t>
            </a:r>
            <a:endParaRPr lang="en-US" sz="1100" dirty="0"/>
          </a:p>
        </p:txBody>
      </p:sp>
      <p:sp>
        <p:nvSpPr>
          <p:cNvPr id="17" name="Text 15">
            <a:hlinkClick r:id="rId1" tooltip=""/>
          </p:cNvPr>
          <p:cNvSpPr/>
          <p:nvPr/>
        </p:nvSpPr>
        <p:spPr>
          <a:xfrm>
            <a:off x="594360" y="5532120"/>
            <a:ext cx="5257800" cy="256032"/>
          </a:xfrm>
          <a:prstGeom prst="rect">
            <a:avLst/>
          </a:prstGeom>
          <a:noFill/>
          <a:ln/>
        </p:spPr>
        <p:txBody>
          <a:bodyPr wrap="square" rtlCol="0" anchor="ctr"/>
          <a:lstStyle/>
          <a:p>
            <a:pPr indent="0" marL="0">
              <a:buNone/>
            </a:pPr>
            <a:r>
              <a:rPr lang="en-US" sz="900" u="sng" dirty="0">
                <a:solidFill>
                  <a:srgbClr val="002858"/>
                </a:solidFill>
                <a:latin typeface="Trebuchet MS" pitchFamily="34" charset="0"/>
                <a:ea typeface="Trebuchet MS" pitchFamily="34" charset="-122"/>
                <a:cs typeface="Trebuchet MS" pitchFamily="34" charset="-120"/>
                <a:hlinkClick r:id="rId1" invalidUrl="" action="" tgtFrame="" tooltip="" history="1" highlightClick="0" endSnd="0">
                  <a:extLst>
                    <a:ext uri="{A12FA001-AC4F-418D-AE19-62706E023703}">
                      <ahyp:hlinkClr xmlns:ahyp="http://schemas.microsoft.com/office/drawing/2018/hyperlinkcolor" val="tx"/>
                    </a:ext>
                  </a:extLst>
                </a:hlinkClick>
              </a:rPr>
              <a:t>Library of Congress</a:t>
            </a:r>
            <a:endParaRPr lang="en-US" sz="900" dirty="0"/>
          </a:p>
        </p:txBody>
      </p:sp>
      <p:sp>
        <p:nvSpPr>
          <p:cNvPr id="18" name="Text 16"/>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9" name="Text 17"/>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A2332"/>
        </a:solidFill>
      </p:bgPr>
    </p:bg>
    <p:spTree>
      <p:nvGrpSpPr>
        <p:cNvPr id="1" name=""/>
        <p:cNvGrpSpPr/>
        <p:nvPr/>
      </p:nvGrpSpPr>
      <p:grpSpPr>
        <a:xfrm>
          <a:off x="0" y="0"/>
          <a:ext cx="0" cy="0"/>
          <a:chOff x="0" y="0"/>
          <a:chExt cx="0" cy="0"/>
        </a:xfrm>
      </p:grpSpPr>
      <p:sp>
        <p:nvSpPr>
          <p:cNvPr id="2" name="Text 0"/>
          <p:cNvSpPr/>
          <p:nvPr/>
        </p:nvSpPr>
        <p:spPr>
          <a:xfrm>
            <a:off x="457200" y="274320"/>
            <a:ext cx="3291840" cy="365760"/>
          </a:xfrm>
          <a:prstGeom prst="rect">
            <a:avLst/>
          </a:prstGeom>
          <a:solidFill>
            <a:srgbClr val="C6282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THREE PERSPECTIVES</a:t>
            </a:r>
            <a:endParaRPr lang="en-US" sz="1100" dirty="0"/>
          </a:p>
        </p:txBody>
      </p:sp>
      <p:sp>
        <p:nvSpPr>
          <p:cNvPr id="3" name="Text 1"/>
          <p:cNvSpPr/>
          <p:nvPr/>
        </p:nvSpPr>
        <p:spPr>
          <a:xfrm>
            <a:off x="3886200" y="27432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US.10</a:t>
            </a:r>
            <a:endParaRPr lang="en-US" sz="1200" dirty="0"/>
          </a:p>
        </p:txBody>
      </p:sp>
      <p:sp>
        <p:nvSpPr>
          <p:cNvPr id="4" name="Text 2"/>
          <p:cNvSpPr/>
          <p:nvPr/>
        </p:nvSpPr>
        <p:spPr>
          <a:xfrm>
            <a:off x="457200" y="777240"/>
            <a:ext cx="11247120" cy="822960"/>
          </a:xfrm>
          <a:prstGeom prst="rect">
            <a:avLst/>
          </a:prstGeom>
          <a:noFill/>
          <a:ln/>
        </p:spPr>
        <p:txBody>
          <a:bodyPr wrap="square" rtlCol="0" anchor="ctr"/>
          <a:lstStyle/>
          <a:p>
            <a:pPr indent="0" marL="0">
              <a:buNone/>
            </a:pPr>
            <a:r>
              <a:rPr lang="en-US" sz="1700" i="1" dirty="0">
                <a:solidFill>
                  <a:srgbClr val="C7D4E0"/>
                </a:solidFill>
                <a:latin typeface="Georgia" pitchFamily="34" charset="0"/>
                <a:ea typeface="Georgia" pitchFamily="34" charset="-122"/>
                <a:cs typeface="Georgia" pitchFamily="34" charset="-120"/>
              </a:rPr>
              <a:t>A historian returns to three questions at the end of every reading. Use them to analyze this standard.</a:t>
            </a:r>
            <a:endParaRPr lang="en-US" sz="1700" dirty="0"/>
          </a:p>
        </p:txBody>
      </p:sp>
      <p:sp>
        <p:nvSpPr>
          <p:cNvPr id="5" name="Shape 3"/>
          <p:cNvSpPr/>
          <p:nvPr/>
        </p:nvSpPr>
        <p:spPr>
          <a:xfrm>
            <a:off x="457200" y="1783080"/>
            <a:ext cx="3566160" cy="4206240"/>
          </a:xfrm>
          <a:prstGeom prst="rect">
            <a:avLst/>
          </a:prstGeom>
          <a:solidFill>
            <a:srgbClr val="FFFFFF"/>
          </a:solidFill>
          <a:ln/>
        </p:spPr>
      </p:sp>
      <p:sp>
        <p:nvSpPr>
          <p:cNvPr id="6" name="Shape 4"/>
          <p:cNvSpPr/>
          <p:nvPr/>
        </p:nvSpPr>
        <p:spPr>
          <a:xfrm>
            <a:off x="457200" y="1783080"/>
            <a:ext cx="3566160" cy="548640"/>
          </a:xfrm>
          <a:prstGeom prst="rect">
            <a:avLst/>
          </a:prstGeom>
          <a:solidFill>
            <a:srgbClr val="1B5E20"/>
          </a:solidFill>
          <a:ln/>
        </p:spPr>
      </p:sp>
      <p:sp>
        <p:nvSpPr>
          <p:cNvPr id="7" name="Text 5"/>
          <p:cNvSpPr/>
          <p:nvPr/>
        </p:nvSpPr>
        <p:spPr>
          <a:xfrm>
            <a:off x="457200" y="1783080"/>
            <a:ext cx="3566160" cy="548640"/>
          </a:xfrm>
          <a:prstGeom prst="rect">
            <a:avLst/>
          </a:prstGeom>
          <a:noFill/>
          <a:ln/>
        </p:spPr>
        <p:txBody>
          <a:bodyPr wrap="square"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Who benefited?</a:t>
            </a:r>
            <a:endParaRPr lang="en-US" sz="1600" dirty="0"/>
          </a:p>
        </p:txBody>
      </p:sp>
      <p:sp>
        <p:nvSpPr>
          <p:cNvPr id="8" name="Text 6"/>
          <p:cNvSpPr/>
          <p:nvPr/>
        </p:nvSpPr>
        <p:spPr>
          <a:xfrm>
            <a:off x="594360" y="2423160"/>
            <a:ext cx="3291840" cy="868680"/>
          </a:xfrm>
          <a:prstGeom prst="rect">
            <a:avLst/>
          </a:prstGeom>
          <a:noFill/>
          <a:ln/>
        </p:spPr>
        <p:txBody>
          <a:bodyPr wrap="square" rtlCol="0" anchor="t"/>
          <a:lstStyle/>
          <a:p>
            <a:pPr indent="0" marL="0">
              <a:buNone/>
            </a:pPr>
            <a:r>
              <a:rPr lang="en-US" sz="1100" i="1" dirty="0">
                <a:solidFill>
                  <a:srgbClr val="5C6470"/>
                </a:solidFill>
                <a:latin typeface="Calibri" pitchFamily="34" charset="0"/>
                <a:ea typeface="Calibri" pitchFamily="34" charset="-122"/>
                <a:cs typeface="Calibri" pitchFamily="34" charset="-120"/>
              </a:rPr>
              <a:t>Who gained land, wealth, power, or protection?</a:t>
            </a:r>
            <a:endParaRPr lang="en-US" sz="1100" dirty="0"/>
          </a:p>
        </p:txBody>
      </p:sp>
      <p:sp>
        <p:nvSpPr>
          <p:cNvPr id="9" name="Text 7"/>
          <p:cNvSpPr/>
          <p:nvPr/>
        </p:nvSpPr>
        <p:spPr>
          <a:xfrm>
            <a:off x="594360" y="3291840"/>
            <a:ext cx="3291840" cy="274320"/>
          </a:xfrm>
          <a:prstGeom prst="rect">
            <a:avLst/>
          </a:prstGeom>
          <a:noFill/>
          <a:ln/>
        </p:spPr>
        <p:txBody>
          <a:bodyPr wrap="square" rtlCol="0" anchor="ctr"/>
          <a:lstStyle/>
          <a:p>
            <a:pPr indent="0" marL="0">
              <a:buNone/>
            </a:pPr>
            <a:r>
              <a:rPr lang="en-US" sz="1000" b="1" dirty="0">
                <a:solidFill>
                  <a:srgbClr val="8A6D1A"/>
                </a:solidFill>
                <a:latin typeface="Trebuchet MS" pitchFamily="34" charset="0"/>
                <a:ea typeface="Trebuchet MS" pitchFamily="34" charset="-122"/>
                <a:cs typeface="Trebuchet MS" pitchFamily="34" charset="-120"/>
              </a:rPr>
              <a:t>US.10:</a:t>
            </a:r>
            <a:endParaRPr lang="en-US" sz="1000" dirty="0"/>
          </a:p>
        </p:txBody>
      </p:sp>
      <p:sp>
        <p:nvSpPr>
          <p:cNvPr id="10" name="Text 8"/>
          <p:cNvSpPr/>
          <p:nvPr/>
        </p:nvSpPr>
        <p:spPr>
          <a:xfrm>
            <a:off x="594360" y="3566160"/>
            <a:ext cx="3291840" cy="2286000"/>
          </a:xfrm>
          <a:prstGeom prst="rect">
            <a:avLst/>
          </a:prstGeom>
          <a:noFill/>
          <a:ln/>
        </p:spPr>
        <p:txBody>
          <a:bodyPr wrap="square" rtlCol="0" anchor="t"/>
          <a:lstStyle/>
          <a:p>
            <a:pPr indent="0" marL="0">
              <a:buNone/>
            </a:pPr>
            <a:r>
              <a:rPr lang="en-US" sz="1200" dirty="0">
                <a:solidFill>
                  <a:srgbClr val="1F2430"/>
                </a:solidFill>
                <a:latin typeface="Calibri" pitchFamily="34" charset="0"/>
                <a:ea typeface="Calibri" pitchFamily="34" charset="-122"/>
                <a:cs typeface="Calibri" pitchFamily="34" charset="-120"/>
              </a:rPr>
              <a:t>Railroads, banks, and eastern financiers who profited from high rates, tight money, and the gold standard.</a:t>
            </a:r>
            <a:endParaRPr lang="en-US" sz="1200" dirty="0"/>
          </a:p>
        </p:txBody>
      </p:sp>
      <p:sp>
        <p:nvSpPr>
          <p:cNvPr id="11" name="Shape 9"/>
          <p:cNvSpPr/>
          <p:nvPr/>
        </p:nvSpPr>
        <p:spPr>
          <a:xfrm>
            <a:off x="4251960" y="1783080"/>
            <a:ext cx="3566160" cy="4206240"/>
          </a:xfrm>
          <a:prstGeom prst="rect">
            <a:avLst/>
          </a:prstGeom>
          <a:solidFill>
            <a:srgbClr val="FFFFFF"/>
          </a:solidFill>
          <a:ln/>
        </p:spPr>
      </p:sp>
      <p:sp>
        <p:nvSpPr>
          <p:cNvPr id="12" name="Shape 10"/>
          <p:cNvSpPr/>
          <p:nvPr/>
        </p:nvSpPr>
        <p:spPr>
          <a:xfrm>
            <a:off x="4251960" y="1783080"/>
            <a:ext cx="3566160" cy="548640"/>
          </a:xfrm>
          <a:prstGeom prst="rect">
            <a:avLst/>
          </a:prstGeom>
          <a:solidFill>
            <a:srgbClr val="C62828"/>
          </a:solidFill>
          <a:ln/>
        </p:spPr>
      </p:sp>
      <p:sp>
        <p:nvSpPr>
          <p:cNvPr id="13" name="Text 11"/>
          <p:cNvSpPr/>
          <p:nvPr/>
        </p:nvSpPr>
        <p:spPr>
          <a:xfrm>
            <a:off x="4251960" y="1783080"/>
            <a:ext cx="3566160" cy="548640"/>
          </a:xfrm>
          <a:prstGeom prst="rect">
            <a:avLst/>
          </a:prstGeom>
          <a:noFill/>
          <a:ln/>
        </p:spPr>
        <p:txBody>
          <a:bodyPr wrap="square"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Who bore the costs?</a:t>
            </a:r>
            <a:endParaRPr lang="en-US" sz="1600" dirty="0"/>
          </a:p>
        </p:txBody>
      </p:sp>
      <p:sp>
        <p:nvSpPr>
          <p:cNvPr id="14" name="Text 12"/>
          <p:cNvSpPr/>
          <p:nvPr/>
        </p:nvSpPr>
        <p:spPr>
          <a:xfrm>
            <a:off x="4389120" y="2423160"/>
            <a:ext cx="3291840" cy="868680"/>
          </a:xfrm>
          <a:prstGeom prst="rect">
            <a:avLst/>
          </a:prstGeom>
          <a:noFill/>
          <a:ln/>
        </p:spPr>
        <p:txBody>
          <a:bodyPr wrap="square" rtlCol="0" anchor="t"/>
          <a:lstStyle/>
          <a:p>
            <a:pPr indent="0" marL="0">
              <a:buNone/>
            </a:pPr>
            <a:r>
              <a:rPr lang="en-US" sz="1100" i="1" dirty="0">
                <a:solidFill>
                  <a:srgbClr val="5C6470"/>
                </a:solidFill>
                <a:latin typeface="Calibri" pitchFamily="34" charset="0"/>
                <a:ea typeface="Calibri" pitchFamily="34" charset="-122"/>
                <a:cs typeface="Calibri" pitchFamily="34" charset="-120"/>
              </a:rPr>
              <a:t>Who lost land, labor, freedom, or life — and who was silenced?</a:t>
            </a:r>
            <a:endParaRPr lang="en-US" sz="1100" dirty="0"/>
          </a:p>
        </p:txBody>
      </p:sp>
      <p:sp>
        <p:nvSpPr>
          <p:cNvPr id="15" name="Text 13"/>
          <p:cNvSpPr/>
          <p:nvPr/>
        </p:nvSpPr>
        <p:spPr>
          <a:xfrm>
            <a:off x="4389120" y="3291840"/>
            <a:ext cx="3291840" cy="274320"/>
          </a:xfrm>
          <a:prstGeom prst="rect">
            <a:avLst/>
          </a:prstGeom>
          <a:noFill/>
          <a:ln/>
        </p:spPr>
        <p:txBody>
          <a:bodyPr wrap="square" rtlCol="0" anchor="ctr"/>
          <a:lstStyle/>
          <a:p>
            <a:pPr indent="0" marL="0">
              <a:buNone/>
            </a:pPr>
            <a:r>
              <a:rPr lang="en-US" sz="1000" b="1" dirty="0">
                <a:solidFill>
                  <a:srgbClr val="8A6D1A"/>
                </a:solidFill>
                <a:latin typeface="Trebuchet MS" pitchFamily="34" charset="0"/>
                <a:ea typeface="Trebuchet MS" pitchFamily="34" charset="-122"/>
                <a:cs typeface="Trebuchet MS" pitchFamily="34" charset="-120"/>
              </a:rPr>
              <a:t>US.10:</a:t>
            </a:r>
            <a:endParaRPr lang="en-US" sz="1000" dirty="0"/>
          </a:p>
        </p:txBody>
      </p:sp>
      <p:sp>
        <p:nvSpPr>
          <p:cNvPr id="16" name="Text 14"/>
          <p:cNvSpPr/>
          <p:nvPr/>
        </p:nvSpPr>
        <p:spPr>
          <a:xfrm>
            <a:off x="4389120" y="3566160"/>
            <a:ext cx="3291840" cy="2286000"/>
          </a:xfrm>
          <a:prstGeom prst="rect">
            <a:avLst/>
          </a:prstGeom>
          <a:noFill/>
          <a:ln/>
        </p:spPr>
        <p:txBody>
          <a:bodyPr wrap="square" rtlCol="0" anchor="t"/>
          <a:lstStyle/>
          <a:p>
            <a:pPr indent="0" marL="0">
              <a:buNone/>
            </a:pPr>
            <a:r>
              <a:rPr lang="en-US" sz="1200" dirty="0">
                <a:solidFill>
                  <a:srgbClr val="1F2430"/>
                </a:solidFill>
                <a:latin typeface="Calibri" pitchFamily="34" charset="0"/>
                <a:ea typeface="Calibri" pitchFamily="34" charset="-122"/>
                <a:cs typeface="Calibri" pitchFamily="34" charset="-120"/>
              </a:rPr>
              <a:t>Farmers crushed by falling crop prices, debt, and freight charges — the constituency Populism organized to defend.</a:t>
            </a:r>
            <a:endParaRPr lang="en-US" sz="1200" dirty="0"/>
          </a:p>
        </p:txBody>
      </p:sp>
      <p:sp>
        <p:nvSpPr>
          <p:cNvPr id="17" name="Shape 15"/>
          <p:cNvSpPr/>
          <p:nvPr/>
        </p:nvSpPr>
        <p:spPr>
          <a:xfrm>
            <a:off x="8046720" y="1783080"/>
            <a:ext cx="3566160" cy="4206240"/>
          </a:xfrm>
          <a:prstGeom prst="rect">
            <a:avLst/>
          </a:prstGeom>
          <a:solidFill>
            <a:srgbClr val="FFFFFF"/>
          </a:solidFill>
          <a:ln/>
        </p:spPr>
      </p:sp>
      <p:sp>
        <p:nvSpPr>
          <p:cNvPr id="18" name="Shape 16"/>
          <p:cNvSpPr/>
          <p:nvPr/>
        </p:nvSpPr>
        <p:spPr>
          <a:xfrm>
            <a:off x="8046720" y="1783080"/>
            <a:ext cx="3566160" cy="548640"/>
          </a:xfrm>
          <a:prstGeom prst="rect">
            <a:avLst/>
          </a:prstGeom>
          <a:solidFill>
            <a:srgbClr val="002858"/>
          </a:solidFill>
          <a:ln/>
        </p:spPr>
      </p:sp>
      <p:sp>
        <p:nvSpPr>
          <p:cNvPr id="19" name="Text 17"/>
          <p:cNvSpPr/>
          <p:nvPr/>
        </p:nvSpPr>
        <p:spPr>
          <a:xfrm>
            <a:off x="8046720" y="1783080"/>
            <a:ext cx="3566160" cy="548640"/>
          </a:xfrm>
          <a:prstGeom prst="rect">
            <a:avLst/>
          </a:prstGeom>
          <a:noFill/>
          <a:ln/>
        </p:spPr>
        <p:txBody>
          <a:bodyPr wrap="square"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Who decided?</a:t>
            </a:r>
            <a:endParaRPr lang="en-US" sz="1600" dirty="0"/>
          </a:p>
        </p:txBody>
      </p:sp>
      <p:sp>
        <p:nvSpPr>
          <p:cNvPr id="20" name="Text 18"/>
          <p:cNvSpPr/>
          <p:nvPr/>
        </p:nvSpPr>
        <p:spPr>
          <a:xfrm>
            <a:off x="8183880" y="2423160"/>
            <a:ext cx="3291840" cy="868680"/>
          </a:xfrm>
          <a:prstGeom prst="rect">
            <a:avLst/>
          </a:prstGeom>
          <a:noFill/>
          <a:ln/>
        </p:spPr>
        <p:txBody>
          <a:bodyPr wrap="square" rtlCol="0" anchor="t"/>
          <a:lstStyle/>
          <a:p>
            <a:pPr indent="0" marL="0">
              <a:buNone/>
            </a:pPr>
            <a:r>
              <a:rPr lang="en-US" sz="1100" i="1" dirty="0">
                <a:solidFill>
                  <a:srgbClr val="5C6470"/>
                </a:solidFill>
                <a:latin typeface="Calibri" pitchFamily="34" charset="0"/>
                <a:ea typeface="Calibri" pitchFamily="34" charset="-122"/>
                <a:cs typeface="Calibri" pitchFamily="34" charset="-120"/>
              </a:rPr>
              <a:t>Which people, offices, or courts held the authority?</a:t>
            </a:r>
            <a:endParaRPr lang="en-US" sz="1100" dirty="0"/>
          </a:p>
        </p:txBody>
      </p:sp>
      <p:sp>
        <p:nvSpPr>
          <p:cNvPr id="21" name="Text 19"/>
          <p:cNvSpPr/>
          <p:nvPr/>
        </p:nvSpPr>
        <p:spPr>
          <a:xfrm>
            <a:off x="8183880" y="3291840"/>
            <a:ext cx="3291840" cy="274320"/>
          </a:xfrm>
          <a:prstGeom prst="rect">
            <a:avLst/>
          </a:prstGeom>
          <a:noFill/>
          <a:ln/>
        </p:spPr>
        <p:txBody>
          <a:bodyPr wrap="square" rtlCol="0" anchor="ctr"/>
          <a:lstStyle/>
          <a:p>
            <a:pPr indent="0" marL="0">
              <a:buNone/>
            </a:pPr>
            <a:r>
              <a:rPr lang="en-US" sz="1000" b="1" dirty="0">
                <a:solidFill>
                  <a:srgbClr val="8A6D1A"/>
                </a:solidFill>
                <a:latin typeface="Trebuchet MS" pitchFamily="34" charset="0"/>
                <a:ea typeface="Trebuchet MS" pitchFamily="34" charset="-122"/>
                <a:cs typeface="Trebuchet MS" pitchFamily="34" charset="-120"/>
              </a:rPr>
              <a:t>US.10:</a:t>
            </a:r>
            <a:endParaRPr lang="en-US" sz="1000" dirty="0"/>
          </a:p>
        </p:txBody>
      </p:sp>
      <p:sp>
        <p:nvSpPr>
          <p:cNvPr id="22" name="Text 20"/>
          <p:cNvSpPr/>
          <p:nvPr/>
        </p:nvSpPr>
        <p:spPr>
          <a:xfrm>
            <a:off x="8183880" y="3566160"/>
            <a:ext cx="3291840" cy="2286000"/>
          </a:xfrm>
          <a:prstGeom prst="rect">
            <a:avLst/>
          </a:prstGeom>
          <a:noFill/>
          <a:ln/>
        </p:spPr>
        <p:txBody>
          <a:bodyPr wrap="square" rtlCol="0" anchor="t"/>
          <a:lstStyle/>
          <a:p>
            <a:pPr indent="0" marL="0">
              <a:buNone/>
            </a:pPr>
            <a:r>
              <a:rPr lang="en-US" sz="1200" dirty="0">
                <a:solidFill>
                  <a:srgbClr val="1F2430"/>
                </a:solidFill>
                <a:latin typeface="Calibri" pitchFamily="34" charset="0"/>
                <a:ea typeface="Calibri" pitchFamily="34" charset="-122"/>
                <a:cs typeface="Calibri" pitchFamily="34" charset="-120"/>
              </a:rPr>
              <a:t>The People’s Party and Farmers’ Alliance building a mass movement, and the courts and Congress that would later address railroad regulation.</a:t>
            </a:r>
            <a:endParaRPr lang="en-US" sz="1200" dirty="0"/>
          </a:p>
        </p:txBody>
      </p:sp>
      <p:sp>
        <p:nvSpPr>
          <p:cNvPr id="23" name="Text 21"/>
          <p:cNvSpPr/>
          <p:nvPr/>
        </p:nvSpPr>
        <p:spPr>
          <a:xfrm>
            <a:off x="457200" y="6126480"/>
            <a:ext cx="10972800" cy="274320"/>
          </a:xfrm>
          <a:prstGeom prst="rect">
            <a:avLst/>
          </a:prstGeom>
          <a:noFill/>
          <a:ln/>
        </p:spPr>
        <p:txBody>
          <a:bodyPr wrap="square" rtlCol="0" anchor="ctr"/>
          <a:lstStyle/>
          <a:p>
            <a:pPr indent="0" marL="0">
              <a:buNone/>
            </a:pPr>
            <a:r>
              <a:rPr lang="en-US" sz="1000" i="1" dirty="0">
                <a:solidFill>
                  <a:srgbClr val="C7D4E0"/>
                </a:solidFill>
                <a:latin typeface="Trebuchet MS" pitchFamily="34" charset="0"/>
                <a:ea typeface="Trebuchet MS" pitchFamily="34" charset="-122"/>
                <a:cs typeface="Trebuchet MS" pitchFamily="34" charset="-120"/>
              </a:rPr>
              <a:t>Anchor: Populist Party Platform, 1892 (Library of Congress)</a:t>
            </a:r>
            <a:endParaRPr lang="en-US" sz="1000" dirty="0"/>
          </a:p>
        </p:txBody>
      </p:sp>
      <p:sp>
        <p:nvSpPr>
          <p:cNvPr id="24" name="Text 22"/>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5" name="Text 23"/>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A2332"/>
        </a:solidFill>
      </p:bgPr>
    </p:bg>
    <p:spTree>
      <p:nvGrpSpPr>
        <p:cNvPr id="1" name=""/>
        <p:cNvGrpSpPr/>
        <p:nvPr/>
      </p:nvGrpSpPr>
      <p:grpSpPr>
        <a:xfrm>
          <a:off x="0" y="0"/>
          <a:ext cx="0" cy="0"/>
          <a:chOff x="0" y="0"/>
          <a:chExt cx="0" cy="0"/>
        </a:xfrm>
      </p:grpSpPr>
      <p:sp>
        <p:nvSpPr>
          <p:cNvPr id="2" name="Shape 0"/>
          <p:cNvSpPr/>
          <p:nvPr/>
        </p:nvSpPr>
        <p:spPr>
          <a:xfrm>
            <a:off x="0" y="2331720"/>
            <a:ext cx="12191695" cy="73152"/>
          </a:xfrm>
          <a:prstGeom prst="rect">
            <a:avLst/>
          </a:prstGeom>
          <a:solidFill>
            <a:srgbClr val="C9A84C"/>
          </a:solidFill>
          <a:ln/>
        </p:spPr>
        <p:txBody>
          <a:bodyPr/>
          <a:p/>
        </p:txBody>
      </p:sp>
      <p:sp>
        <p:nvSpPr>
          <p:cNvPr id="3" name="Text 1"/>
          <p:cNvSpPr/>
          <p:nvPr/>
        </p:nvSpPr>
        <p:spPr>
          <a:xfrm>
            <a:off x="457200" y="548640"/>
            <a:ext cx="2926080" cy="1188720"/>
          </a:xfrm>
          <a:prstGeom prst="rect">
            <a:avLst/>
          </a:prstGeom>
          <a:noFill/>
          <a:ln/>
        </p:spPr>
        <p:txBody>
          <a:bodyPr wrap="square" rtlCol="0" anchor="ctr"/>
          <a:lstStyle/>
          <a:p>
            <a:pPr indent="0" marL="0">
              <a:buNone/>
            </a:pPr>
            <a:r>
              <a:rPr lang="en-US" sz="6000" b="1" dirty="0">
                <a:solidFill>
                  <a:srgbClr val="C9A84C"/>
                </a:solidFill>
                <a:latin typeface="Georgia" pitchFamily="34" charset="0"/>
                <a:ea typeface="Georgia" pitchFamily="34" charset="-122"/>
                <a:cs typeface="Georgia" pitchFamily="34" charset="-120"/>
              </a:rPr>
              <a:t>US.11</a:t>
            </a:r>
            <a:endParaRPr lang="en-US" sz="6000" dirty="0"/>
          </a:p>
        </p:txBody>
      </p:sp>
      <p:sp>
        <p:nvSpPr>
          <p:cNvPr id="4" name="Text 2"/>
          <p:cNvSpPr/>
          <p:nvPr/>
        </p:nvSpPr>
        <p:spPr>
          <a:xfrm>
            <a:off x="3474720" y="548640"/>
            <a:ext cx="8229600" cy="1188720"/>
          </a:xfrm>
          <a:prstGeom prst="rect">
            <a:avLst/>
          </a:prstGeom>
          <a:noFill/>
          <a:ln/>
        </p:spPr>
        <p:txBody>
          <a:bodyPr wrap="square" rtlCol="0" anchor="ctr"/>
          <a:lstStyle/>
          <a:p>
            <a:pPr indent="0" marL="0">
              <a:buNone/>
            </a:pPr>
            <a:r>
              <a:rPr lang="en-US" sz="2600" b="1" dirty="0">
                <a:solidFill>
                  <a:srgbClr val="FFFFFF"/>
                </a:solidFill>
                <a:latin typeface="Georgia" pitchFamily="34" charset="0"/>
                <a:ea typeface="Georgia" pitchFamily="34" charset="-122"/>
                <a:cs typeface="Georgia" pitchFamily="34" charset="-120"/>
              </a:rPr>
              <a:t>Rise of the Labor Movement</a:t>
            </a:r>
            <a:endParaRPr lang="en-US" sz="2600" dirty="0"/>
          </a:p>
        </p:txBody>
      </p:sp>
      <p:sp>
        <p:nvSpPr>
          <p:cNvPr id="5" name="Text 3"/>
          <p:cNvSpPr/>
          <p:nvPr/>
        </p:nvSpPr>
        <p:spPr>
          <a:xfrm>
            <a:off x="457200" y="2651760"/>
            <a:ext cx="11247120" cy="274320"/>
          </a:xfrm>
          <a:prstGeom prst="rect">
            <a:avLst/>
          </a:prstGeom>
          <a:noFill/>
          <a:ln/>
        </p:spPr>
        <p:txBody>
          <a:bodyPr wrap="square" rtlCol="0" anchor="ctr"/>
          <a:lstStyle/>
          <a:p>
            <a:pPr indent="0" marL="0">
              <a:buNone/>
            </a:pPr>
            <a:r>
              <a:rPr lang="en-US" sz="1200" b="1" spc="200" kern="0" dirty="0">
                <a:solidFill>
                  <a:srgbClr val="C9A84C"/>
                </a:solidFill>
                <a:latin typeface="Trebuchet MS" pitchFamily="34" charset="0"/>
                <a:ea typeface="Trebuchet MS" pitchFamily="34" charset="-122"/>
                <a:cs typeface="Trebuchet MS" pitchFamily="34" charset="-120"/>
              </a:rPr>
              <a:t>TN STANDARD</a:t>
            </a:r>
            <a:endParaRPr lang="en-US" sz="1200" dirty="0"/>
          </a:p>
        </p:txBody>
      </p:sp>
      <p:sp>
        <p:nvSpPr>
          <p:cNvPr id="6" name="Text 4"/>
          <p:cNvSpPr/>
          <p:nvPr/>
        </p:nvSpPr>
        <p:spPr>
          <a:xfrm>
            <a:off x="457200" y="2999232"/>
            <a:ext cx="11247120" cy="1691640"/>
          </a:xfrm>
          <a:prstGeom prst="rect">
            <a:avLst/>
          </a:prstGeom>
          <a:noFill/>
          <a:ln/>
        </p:spPr>
        <p:txBody>
          <a:bodyPr wrap="square" rtlCol="0" anchor="t"/>
          <a:lstStyle/>
          <a:p>
            <a:pPr indent="0" marL="0">
              <a:lnSpc>
                <a:spcPct val="105000"/>
              </a:lnSpc>
              <a:buNone/>
            </a:pPr>
            <a:r>
              <a:rPr lang="en-US" sz="1600" dirty="0">
                <a:solidFill>
                  <a:srgbClr val="C7D4E0"/>
                </a:solidFill>
                <a:latin typeface="Calibri" pitchFamily="34" charset="0"/>
                <a:ea typeface="Calibri" pitchFamily="34" charset="-122"/>
                <a:cs typeface="Calibri" pitchFamily="34" charset="-120"/>
              </a:rPr>
              <a:t>US.11 – Explain the rise of the labor movement, union tactics (e.g. strikes), the role of leaders (e.g. Eugene Debs and Samuel Gompers), the unjust use of prison labor (e.g. Coal Creek labor saga), and the responses of management and government.</a:t>
            </a:r>
            <a:endParaRPr lang="en-US" sz="1600" dirty="0"/>
          </a:p>
        </p:txBody>
      </p:sp>
      <p:sp>
        <p:nvSpPr>
          <p:cNvPr id="7" name="Shape 5"/>
          <p:cNvSpPr/>
          <p:nvPr/>
        </p:nvSpPr>
        <p:spPr>
          <a:xfrm>
            <a:off x="457200" y="4892040"/>
            <a:ext cx="11247120" cy="1234440"/>
          </a:xfrm>
          <a:prstGeom prst="rect">
            <a:avLst/>
          </a:prstGeom>
          <a:solidFill>
            <a:srgbClr val="C9A84C"/>
          </a:solidFill>
          <a:ln/>
        </p:spPr>
      </p:sp>
      <p:sp>
        <p:nvSpPr>
          <p:cNvPr id="8" name="Text 6"/>
          <p:cNvSpPr/>
          <p:nvPr/>
        </p:nvSpPr>
        <p:spPr>
          <a:xfrm>
            <a:off x="640080" y="5029200"/>
            <a:ext cx="10972800" cy="274320"/>
          </a:xfrm>
          <a:prstGeom prst="rect">
            <a:avLst/>
          </a:prstGeom>
          <a:noFill/>
          <a:ln/>
        </p:spPr>
        <p:txBody>
          <a:bodyPr wrap="square" rtlCol="0" anchor="ctr"/>
          <a:lstStyle/>
          <a:p>
            <a:pPr indent="0" marL="0">
              <a:buNone/>
            </a:pPr>
            <a:r>
              <a:rPr lang="en-US" sz="1200" b="1" spc="200" kern="0" dirty="0">
                <a:solidFill>
                  <a:srgbClr val="1A2332"/>
                </a:solidFill>
                <a:latin typeface="Trebuchet MS" pitchFamily="34" charset="0"/>
                <a:ea typeface="Trebuchet MS" pitchFamily="34" charset="-122"/>
                <a:cs typeface="Trebuchet MS" pitchFamily="34" charset="-120"/>
              </a:rPr>
              <a:t>I CAN</a:t>
            </a:r>
            <a:endParaRPr lang="en-US" sz="1200" dirty="0"/>
          </a:p>
        </p:txBody>
      </p:sp>
      <p:sp>
        <p:nvSpPr>
          <p:cNvPr id="9" name="Text 7"/>
          <p:cNvSpPr/>
          <p:nvPr/>
        </p:nvSpPr>
        <p:spPr>
          <a:xfrm>
            <a:off x="640080" y="5303520"/>
            <a:ext cx="10881360" cy="749808"/>
          </a:xfrm>
          <a:prstGeom prst="rect">
            <a:avLst/>
          </a:prstGeom>
          <a:noFill/>
          <a:ln/>
        </p:spPr>
        <p:txBody>
          <a:bodyPr wrap="square" rtlCol="0" anchor="t"/>
          <a:lstStyle/>
          <a:p>
            <a:pPr indent="0" marL="0">
              <a:buNone/>
            </a:pPr>
            <a:r>
              <a:rPr lang="en-US" sz="1400" b="1" dirty="0">
                <a:solidFill>
                  <a:srgbClr val="1A2332"/>
                </a:solidFill>
                <a:latin typeface="Calibri" pitchFamily="34" charset="0"/>
                <a:ea typeface="Calibri" pitchFamily="34" charset="-122"/>
                <a:cs typeface="Calibri" pitchFamily="34" charset="-120"/>
              </a:rPr>
              <a:t>I can explain the rise of the labor movement, union tactics such as strikes, the role of leaders such as Eugene Debs and Samuel Gompers, the unjust use of prison labor (Coal Creek), and the responses of management and government.</a:t>
            </a:r>
            <a:endParaRPr lang="en-US" sz="1400" dirty="0"/>
          </a:p>
        </p:txBody>
      </p:sp>
      <p:sp>
        <p:nvSpPr>
          <p:cNvPr id="10" name="Text 8"/>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1" name="Text 9"/>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737360"/>
          </a:xfrm>
          <a:prstGeom prst="rect">
            <a:avLst/>
          </a:prstGeom>
          <a:solidFill>
            <a:srgbClr val="1A2332"/>
          </a:solidFill>
          <a:ln/>
        </p:spPr>
        <p:txBody>
          <a:bodyPr/>
          <a:p/>
        </p:txBody>
      </p:sp>
      <p:sp>
        <p:nvSpPr>
          <p:cNvPr id="3" name="Shape 1"/>
          <p:cNvSpPr/>
          <p:nvPr/>
        </p:nvSpPr>
        <p:spPr>
          <a:xfrm>
            <a:off x="0" y="1737360"/>
            <a:ext cx="12191695" cy="54864"/>
          </a:xfrm>
          <a:prstGeom prst="rect">
            <a:avLst/>
          </a:prstGeom>
          <a:solidFill>
            <a:srgbClr val="C9A84C"/>
          </a:solidFill>
          <a:ln/>
        </p:spPr>
        <p:txBody>
          <a:bodyPr/>
          <a:p/>
        </p:txBody>
      </p:sp>
      <p:sp>
        <p:nvSpPr>
          <p:cNvPr id="4" name="Text 2"/>
          <p:cNvSpPr/>
          <p:nvPr/>
        </p:nvSpPr>
        <p:spPr>
          <a:xfrm>
            <a:off x="457200" y="320040"/>
            <a:ext cx="3291840" cy="365760"/>
          </a:xfrm>
          <a:prstGeom prst="rect">
            <a:avLst/>
          </a:prstGeom>
          <a:solidFill>
            <a:srgbClr val="00285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DIRECT INSTRUCTION</a:t>
            </a:r>
            <a:endParaRPr lang="en-US" sz="1100" dirty="0"/>
          </a:p>
        </p:txBody>
      </p:sp>
      <p:sp>
        <p:nvSpPr>
          <p:cNvPr id="5" name="Text 3"/>
          <p:cNvSpPr/>
          <p:nvPr/>
        </p:nvSpPr>
        <p:spPr>
          <a:xfrm>
            <a:off x="3886200" y="32004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US.11</a:t>
            </a:r>
            <a:endParaRPr lang="en-US" sz="1200" dirty="0"/>
          </a:p>
        </p:txBody>
      </p:sp>
      <p:sp>
        <p:nvSpPr>
          <p:cNvPr id="6" name="Text 4"/>
          <p:cNvSpPr/>
          <p:nvPr/>
        </p:nvSpPr>
        <p:spPr>
          <a:xfrm>
            <a:off x="457200" y="777240"/>
            <a:ext cx="11247120" cy="868680"/>
          </a:xfrm>
          <a:prstGeom prst="rect">
            <a:avLst/>
          </a:prstGeom>
          <a:noFill/>
          <a:ln/>
        </p:spPr>
        <p:txBody>
          <a:bodyPr wrap="square" rtlCol="0" anchor="ctr"/>
          <a:lstStyle/>
          <a:p>
            <a:pPr algn="l" indent="0" marL="0">
              <a:buNone/>
            </a:pPr>
            <a:r>
              <a:rPr lang="en-US" sz="2300" b="1" dirty="0">
                <a:solidFill>
                  <a:srgbClr val="FFFFFF"/>
                </a:solidFill>
                <a:latin typeface="Georgia" pitchFamily="34" charset="0"/>
                <a:ea typeface="Georgia" pitchFamily="34" charset="-122"/>
                <a:cs typeface="Georgia" pitchFamily="34" charset="-120"/>
              </a:rPr>
              <a:t>Brutal conditions — 12–16 hour days, dangerous work, child labor, and wages cut at will — drove industrial workers to organize.</a:t>
            </a:r>
            <a:endParaRPr lang="en-US" sz="2300" dirty="0"/>
          </a:p>
        </p:txBody>
      </p:sp>
      <p:pic>
        <p:nvPicPr>
          <p:cNvPr id="7" name="Image 0" descr="hh-web/public/images/textbook/unit-2/sweatshop-garment-workers-1908.jpg">    </p:cNvPr>
          <p:cNvPicPr>
            <a:picLocks noChangeAspect="1"/>
          </p:cNvPicPr>
          <p:nvPr/>
        </p:nvPicPr>
        <p:blipFill>
          <a:blip r:embed="rId1"/>
          <a:srcRect l="0" r="0" t="0" b="0"/>
          <a:stretch/>
        </p:blipFill>
        <p:spPr>
          <a:xfrm>
            <a:off x="2743200" y="2057400"/>
            <a:ext cx="6702552" cy="4160520"/>
          </a:xfrm>
          <a:prstGeom prst="rect">
            <a:avLst/>
          </a:prstGeom>
        </p:spPr>
      </p:pic>
      <p:sp>
        <p:nvSpPr>
          <p:cNvPr id="8" name="Text 5"/>
          <p:cNvSpPr/>
          <p:nvPr/>
        </p:nvSpPr>
        <p:spPr>
          <a:xfrm>
            <a:off x="2743200" y="2103120"/>
            <a:ext cx="1188720" cy="292608"/>
          </a:xfrm>
          <a:prstGeom prst="rect">
            <a:avLst/>
          </a:prstGeom>
          <a:solidFill>
            <a:srgbClr val="F9A825"/>
          </a:solidFill>
          <a:ln/>
        </p:spPr>
        <p:txBody>
          <a:bodyPr wrap="square" rtlCol="0" anchor="ctr"/>
          <a:lstStyle/>
          <a:p>
            <a:pPr algn="ctr" indent="0" marL="0">
              <a:buNone/>
            </a:pPr>
            <a:r>
              <a:rPr lang="en-US" sz="900" b="1" spc="100" kern="0" dirty="0">
                <a:solidFill>
                  <a:srgbClr val="1A2332"/>
                </a:solidFill>
                <a:latin typeface="Trebuchet MS" pitchFamily="34" charset="0"/>
                <a:ea typeface="Trebuchet MS" pitchFamily="34" charset="-122"/>
                <a:cs typeface="Trebuchet MS" pitchFamily="34" charset="-120"/>
              </a:rPr>
              <a:t>ZOOM IN</a:t>
            </a:r>
            <a:endParaRPr lang="en-US" sz="900" dirty="0"/>
          </a:p>
        </p:txBody>
      </p:sp>
      <p:sp>
        <p:nvSpPr>
          <p:cNvPr id="9" name="Text 6"/>
          <p:cNvSpPr/>
          <p:nvPr/>
        </p:nvSpPr>
        <p:spPr>
          <a:xfrm>
            <a:off x="457200" y="6263640"/>
            <a:ext cx="8229600" cy="274320"/>
          </a:xfrm>
          <a:prstGeom prst="rect">
            <a:avLst/>
          </a:prstGeom>
          <a:noFill/>
          <a:ln/>
        </p:spPr>
        <p:txBody>
          <a:bodyPr wrap="square" rtlCol="0" anchor="ctr"/>
          <a:lstStyle/>
          <a:p>
            <a:pPr indent="0" marL="0">
              <a:buNone/>
            </a:pPr>
            <a:r>
              <a:rPr lang="en-US" sz="1000" i="1" dirty="0">
                <a:solidFill>
                  <a:srgbClr val="5C6470"/>
                </a:solidFill>
                <a:latin typeface="Trebuchet MS" pitchFamily="34" charset="0"/>
                <a:ea typeface="Trebuchet MS" pitchFamily="34" charset="-122"/>
                <a:cs typeface="Trebuchet MS" pitchFamily="34" charset="-120"/>
              </a:rPr>
              <a:t>US.11 · Factors Leading to Organization</a:t>
            </a:r>
            <a:endParaRPr lang="en-US" sz="1000" dirty="0"/>
          </a:p>
        </p:txBody>
      </p:sp>
      <p:sp>
        <p:nvSpPr>
          <p:cNvPr id="10" name="Text 7"/>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1" name="Text 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737360"/>
          </a:xfrm>
          <a:prstGeom prst="rect">
            <a:avLst/>
          </a:prstGeom>
          <a:solidFill>
            <a:srgbClr val="1A2332"/>
          </a:solidFill>
          <a:ln/>
        </p:spPr>
        <p:txBody>
          <a:bodyPr/>
          <a:p/>
        </p:txBody>
      </p:sp>
      <p:sp>
        <p:nvSpPr>
          <p:cNvPr id="3" name="Shape 1"/>
          <p:cNvSpPr/>
          <p:nvPr/>
        </p:nvSpPr>
        <p:spPr>
          <a:xfrm>
            <a:off x="0" y="1737360"/>
            <a:ext cx="12191695" cy="54864"/>
          </a:xfrm>
          <a:prstGeom prst="rect">
            <a:avLst/>
          </a:prstGeom>
          <a:solidFill>
            <a:srgbClr val="C9A84C"/>
          </a:solidFill>
          <a:ln/>
        </p:spPr>
        <p:txBody>
          <a:bodyPr/>
          <a:p/>
        </p:txBody>
      </p:sp>
      <p:sp>
        <p:nvSpPr>
          <p:cNvPr id="4" name="Text 2"/>
          <p:cNvSpPr/>
          <p:nvPr/>
        </p:nvSpPr>
        <p:spPr>
          <a:xfrm>
            <a:off x="457200" y="320040"/>
            <a:ext cx="3291840" cy="365760"/>
          </a:xfrm>
          <a:prstGeom prst="rect">
            <a:avLst/>
          </a:prstGeom>
          <a:solidFill>
            <a:srgbClr val="00285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DIRECT INSTRUCTION</a:t>
            </a:r>
            <a:endParaRPr lang="en-US" sz="1100" dirty="0"/>
          </a:p>
        </p:txBody>
      </p:sp>
      <p:sp>
        <p:nvSpPr>
          <p:cNvPr id="5" name="Text 3"/>
          <p:cNvSpPr/>
          <p:nvPr/>
        </p:nvSpPr>
        <p:spPr>
          <a:xfrm>
            <a:off x="3886200" y="32004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US.11</a:t>
            </a:r>
            <a:endParaRPr lang="en-US" sz="1200" dirty="0"/>
          </a:p>
        </p:txBody>
      </p:sp>
      <p:sp>
        <p:nvSpPr>
          <p:cNvPr id="6" name="Text 4"/>
          <p:cNvSpPr/>
          <p:nvPr/>
        </p:nvSpPr>
        <p:spPr>
          <a:xfrm>
            <a:off x="457200" y="777240"/>
            <a:ext cx="11247120" cy="868680"/>
          </a:xfrm>
          <a:prstGeom prst="rect">
            <a:avLst/>
          </a:prstGeom>
          <a:noFill/>
          <a:ln/>
        </p:spPr>
        <p:txBody>
          <a:bodyPr wrap="square" rtlCol="0" anchor="ctr"/>
          <a:lstStyle/>
          <a:p>
            <a:pPr algn="l" indent="0" marL="0">
              <a:buNone/>
            </a:pPr>
            <a:r>
              <a:rPr lang="en-US" sz="2300" b="1" dirty="0">
                <a:solidFill>
                  <a:srgbClr val="FFFFFF"/>
                </a:solidFill>
                <a:latin typeface="Georgia" pitchFamily="34" charset="0"/>
                <a:ea typeface="Georgia" pitchFamily="34" charset="-122"/>
                <a:cs typeface="Georgia" pitchFamily="34" charset="-120"/>
              </a:rPr>
              <a:t>Unions bargained collectively and used strikes to force negotiation; leaders included AFL’s Samuel Gompers and socialist Eugene Debs.</a:t>
            </a:r>
            <a:endParaRPr lang="en-US" sz="2300" dirty="0"/>
          </a:p>
        </p:txBody>
      </p:sp>
      <p:pic>
        <p:nvPicPr>
          <p:cNvPr id="7" name="Image 0" descr="hh-web/public/images/textbook/unit-2/gompers-samuel-portrait.jpg">    </p:cNvPr>
          <p:cNvPicPr>
            <a:picLocks noChangeAspect="1"/>
          </p:cNvPicPr>
          <p:nvPr/>
        </p:nvPicPr>
        <p:blipFill>
          <a:blip r:embed="rId1"/>
          <a:srcRect l="0" r="0" t="0" b="0"/>
          <a:stretch/>
        </p:blipFill>
        <p:spPr>
          <a:xfrm>
            <a:off x="2743200" y="2057400"/>
            <a:ext cx="6702552" cy="4160520"/>
          </a:xfrm>
          <a:prstGeom prst="rect">
            <a:avLst/>
          </a:prstGeom>
        </p:spPr>
      </p:pic>
      <p:sp>
        <p:nvSpPr>
          <p:cNvPr id="8" name="Text 5"/>
          <p:cNvSpPr/>
          <p:nvPr/>
        </p:nvSpPr>
        <p:spPr>
          <a:xfrm>
            <a:off x="2743200" y="2103120"/>
            <a:ext cx="1188720" cy="292608"/>
          </a:xfrm>
          <a:prstGeom prst="rect">
            <a:avLst/>
          </a:prstGeom>
          <a:solidFill>
            <a:srgbClr val="F9A825"/>
          </a:solidFill>
          <a:ln/>
        </p:spPr>
        <p:txBody>
          <a:bodyPr wrap="square" rtlCol="0" anchor="ctr"/>
          <a:lstStyle/>
          <a:p>
            <a:pPr algn="ctr" indent="0" marL="0">
              <a:buNone/>
            </a:pPr>
            <a:r>
              <a:rPr lang="en-US" sz="900" b="1" spc="100" kern="0" dirty="0">
                <a:solidFill>
                  <a:srgbClr val="1A2332"/>
                </a:solidFill>
                <a:latin typeface="Trebuchet MS" pitchFamily="34" charset="0"/>
                <a:ea typeface="Trebuchet MS" pitchFamily="34" charset="-122"/>
                <a:cs typeface="Trebuchet MS" pitchFamily="34" charset="-120"/>
              </a:rPr>
              <a:t>ZOOM IN</a:t>
            </a:r>
            <a:endParaRPr lang="en-US" sz="900" dirty="0"/>
          </a:p>
        </p:txBody>
      </p:sp>
      <p:sp>
        <p:nvSpPr>
          <p:cNvPr id="9" name="Text 6"/>
          <p:cNvSpPr/>
          <p:nvPr/>
        </p:nvSpPr>
        <p:spPr>
          <a:xfrm>
            <a:off x="457200" y="6263640"/>
            <a:ext cx="8229600" cy="274320"/>
          </a:xfrm>
          <a:prstGeom prst="rect">
            <a:avLst/>
          </a:prstGeom>
          <a:noFill/>
          <a:ln/>
        </p:spPr>
        <p:txBody>
          <a:bodyPr wrap="square" rtlCol="0" anchor="ctr"/>
          <a:lstStyle/>
          <a:p>
            <a:pPr indent="0" marL="0">
              <a:buNone/>
            </a:pPr>
            <a:r>
              <a:rPr lang="en-US" sz="1000" i="1" dirty="0">
                <a:solidFill>
                  <a:srgbClr val="5C6470"/>
                </a:solidFill>
                <a:latin typeface="Trebuchet MS" pitchFamily="34" charset="0"/>
                <a:ea typeface="Trebuchet MS" pitchFamily="34" charset="-122"/>
                <a:cs typeface="Trebuchet MS" pitchFamily="34" charset="-120"/>
              </a:rPr>
              <a:t>US.11 · Union Tactics &amp; Key Leaders</a:t>
            </a:r>
            <a:endParaRPr lang="en-US" sz="1000" dirty="0"/>
          </a:p>
        </p:txBody>
      </p:sp>
      <p:sp>
        <p:nvSpPr>
          <p:cNvPr id="10" name="Text 7"/>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1" name="Text 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737360"/>
          </a:xfrm>
          <a:prstGeom prst="rect">
            <a:avLst/>
          </a:prstGeom>
          <a:solidFill>
            <a:srgbClr val="1A2332"/>
          </a:solidFill>
          <a:ln/>
        </p:spPr>
        <p:txBody>
          <a:bodyPr/>
          <a:p/>
        </p:txBody>
      </p:sp>
      <p:sp>
        <p:nvSpPr>
          <p:cNvPr id="3" name="Shape 1"/>
          <p:cNvSpPr/>
          <p:nvPr/>
        </p:nvSpPr>
        <p:spPr>
          <a:xfrm>
            <a:off x="0" y="1737360"/>
            <a:ext cx="12191695" cy="54864"/>
          </a:xfrm>
          <a:prstGeom prst="rect">
            <a:avLst/>
          </a:prstGeom>
          <a:solidFill>
            <a:srgbClr val="C9A84C"/>
          </a:solidFill>
          <a:ln/>
        </p:spPr>
        <p:txBody>
          <a:bodyPr/>
          <a:p/>
        </p:txBody>
      </p:sp>
      <p:sp>
        <p:nvSpPr>
          <p:cNvPr id="4" name="Text 2"/>
          <p:cNvSpPr/>
          <p:nvPr/>
        </p:nvSpPr>
        <p:spPr>
          <a:xfrm>
            <a:off x="457200" y="320040"/>
            <a:ext cx="3291840" cy="365760"/>
          </a:xfrm>
          <a:prstGeom prst="rect">
            <a:avLst/>
          </a:prstGeom>
          <a:solidFill>
            <a:srgbClr val="00285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DIRECT INSTRUCTION</a:t>
            </a:r>
            <a:endParaRPr lang="en-US" sz="1100" dirty="0"/>
          </a:p>
        </p:txBody>
      </p:sp>
      <p:sp>
        <p:nvSpPr>
          <p:cNvPr id="5" name="Text 3"/>
          <p:cNvSpPr/>
          <p:nvPr/>
        </p:nvSpPr>
        <p:spPr>
          <a:xfrm>
            <a:off x="3886200" y="32004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US.11</a:t>
            </a:r>
            <a:endParaRPr lang="en-US" sz="1200" dirty="0"/>
          </a:p>
        </p:txBody>
      </p:sp>
      <p:sp>
        <p:nvSpPr>
          <p:cNvPr id="6" name="Text 4"/>
          <p:cNvSpPr/>
          <p:nvPr/>
        </p:nvSpPr>
        <p:spPr>
          <a:xfrm>
            <a:off x="457200" y="777240"/>
            <a:ext cx="11247120" cy="868680"/>
          </a:xfrm>
          <a:prstGeom prst="rect">
            <a:avLst/>
          </a:prstGeom>
          <a:noFill/>
          <a:ln/>
        </p:spPr>
        <p:txBody>
          <a:bodyPr wrap="square" rtlCol="0" anchor="ctr"/>
          <a:lstStyle/>
          <a:p>
            <a:pPr algn="l" indent="0" marL="0">
              <a:buNone/>
            </a:pPr>
            <a:r>
              <a:rPr lang="en-US" sz="2300" b="1" dirty="0">
                <a:solidFill>
                  <a:srgbClr val="FFFFFF"/>
                </a:solidFill>
                <a:latin typeface="Georgia" pitchFamily="34" charset="0"/>
                <a:ea typeface="Georgia" pitchFamily="34" charset="-122"/>
                <a:cs typeface="Georgia" pitchFamily="34" charset="-120"/>
              </a:rPr>
              <a:t>In Tennessee’s Coal Creek saga (1891), miners revolted against convict-lease labor — prisoners leased as unpaid forced workers.</a:t>
            </a:r>
            <a:endParaRPr lang="en-US" sz="2300" dirty="0"/>
          </a:p>
        </p:txBody>
      </p:sp>
      <p:pic>
        <p:nvPicPr>
          <p:cNvPr id="7" name="Image 0" descr="hh-web/public/images/textbook/unit-2/debs-eugene-portrait-1912.jpg">    </p:cNvPr>
          <p:cNvPicPr>
            <a:picLocks noChangeAspect="1"/>
          </p:cNvPicPr>
          <p:nvPr/>
        </p:nvPicPr>
        <p:blipFill>
          <a:blip r:embed="rId1"/>
          <a:srcRect l="0" r="0" t="0" b="0"/>
          <a:stretch/>
        </p:blipFill>
        <p:spPr>
          <a:xfrm>
            <a:off x="2743200" y="2057400"/>
            <a:ext cx="6702552" cy="4160520"/>
          </a:xfrm>
          <a:prstGeom prst="rect">
            <a:avLst/>
          </a:prstGeom>
        </p:spPr>
      </p:pic>
      <p:sp>
        <p:nvSpPr>
          <p:cNvPr id="8" name="Text 5"/>
          <p:cNvSpPr/>
          <p:nvPr/>
        </p:nvSpPr>
        <p:spPr>
          <a:xfrm>
            <a:off x="2743200" y="2103120"/>
            <a:ext cx="1188720" cy="292608"/>
          </a:xfrm>
          <a:prstGeom prst="rect">
            <a:avLst/>
          </a:prstGeom>
          <a:solidFill>
            <a:srgbClr val="F9A825"/>
          </a:solidFill>
          <a:ln/>
        </p:spPr>
        <p:txBody>
          <a:bodyPr wrap="square" rtlCol="0" anchor="ctr"/>
          <a:lstStyle/>
          <a:p>
            <a:pPr algn="ctr" indent="0" marL="0">
              <a:buNone/>
            </a:pPr>
            <a:r>
              <a:rPr lang="en-US" sz="900" b="1" spc="100" kern="0" dirty="0">
                <a:solidFill>
                  <a:srgbClr val="1A2332"/>
                </a:solidFill>
                <a:latin typeface="Trebuchet MS" pitchFamily="34" charset="0"/>
                <a:ea typeface="Trebuchet MS" pitchFamily="34" charset="-122"/>
                <a:cs typeface="Trebuchet MS" pitchFamily="34" charset="-120"/>
              </a:rPr>
              <a:t>ZOOM IN</a:t>
            </a:r>
            <a:endParaRPr lang="en-US" sz="900" dirty="0"/>
          </a:p>
        </p:txBody>
      </p:sp>
      <p:sp>
        <p:nvSpPr>
          <p:cNvPr id="9" name="Text 6"/>
          <p:cNvSpPr/>
          <p:nvPr/>
        </p:nvSpPr>
        <p:spPr>
          <a:xfrm>
            <a:off x="457200" y="6263640"/>
            <a:ext cx="8229600" cy="274320"/>
          </a:xfrm>
          <a:prstGeom prst="rect">
            <a:avLst/>
          </a:prstGeom>
          <a:noFill/>
          <a:ln/>
        </p:spPr>
        <p:txBody>
          <a:bodyPr wrap="square" rtlCol="0" anchor="ctr"/>
          <a:lstStyle/>
          <a:p>
            <a:pPr indent="0" marL="0">
              <a:buNone/>
            </a:pPr>
            <a:r>
              <a:rPr lang="en-US" sz="1000" i="1" dirty="0">
                <a:solidFill>
                  <a:srgbClr val="5C6470"/>
                </a:solidFill>
                <a:latin typeface="Trebuchet MS" pitchFamily="34" charset="0"/>
                <a:ea typeface="Trebuchet MS" pitchFamily="34" charset="-122"/>
                <a:cs typeface="Trebuchet MS" pitchFamily="34" charset="-120"/>
              </a:rPr>
              <a:t>US.11 · Coal Creek &amp; Prison Labor</a:t>
            </a:r>
            <a:endParaRPr lang="en-US" sz="1000" dirty="0"/>
          </a:p>
        </p:txBody>
      </p:sp>
      <p:sp>
        <p:nvSpPr>
          <p:cNvPr id="10" name="Text 7"/>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1" name="Text 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737360"/>
          </a:xfrm>
          <a:prstGeom prst="rect">
            <a:avLst/>
          </a:prstGeom>
          <a:solidFill>
            <a:srgbClr val="1A2332"/>
          </a:solidFill>
          <a:ln/>
        </p:spPr>
        <p:txBody>
          <a:bodyPr/>
          <a:p/>
        </p:txBody>
      </p:sp>
      <p:sp>
        <p:nvSpPr>
          <p:cNvPr id="3" name="Shape 1"/>
          <p:cNvSpPr/>
          <p:nvPr/>
        </p:nvSpPr>
        <p:spPr>
          <a:xfrm>
            <a:off x="0" y="1737360"/>
            <a:ext cx="12191695" cy="54864"/>
          </a:xfrm>
          <a:prstGeom prst="rect">
            <a:avLst/>
          </a:prstGeom>
          <a:solidFill>
            <a:srgbClr val="C9A84C"/>
          </a:solidFill>
          <a:ln/>
        </p:spPr>
        <p:txBody>
          <a:bodyPr/>
          <a:p/>
        </p:txBody>
      </p:sp>
      <p:sp>
        <p:nvSpPr>
          <p:cNvPr id="4" name="Text 2"/>
          <p:cNvSpPr/>
          <p:nvPr/>
        </p:nvSpPr>
        <p:spPr>
          <a:xfrm>
            <a:off x="457200" y="320040"/>
            <a:ext cx="3291840" cy="365760"/>
          </a:xfrm>
          <a:prstGeom prst="rect">
            <a:avLst/>
          </a:prstGeom>
          <a:solidFill>
            <a:srgbClr val="00285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DIRECT INSTRUCTION</a:t>
            </a:r>
            <a:endParaRPr lang="en-US" sz="1100" dirty="0"/>
          </a:p>
        </p:txBody>
      </p:sp>
      <p:sp>
        <p:nvSpPr>
          <p:cNvPr id="5" name="Text 3"/>
          <p:cNvSpPr/>
          <p:nvPr/>
        </p:nvSpPr>
        <p:spPr>
          <a:xfrm>
            <a:off x="3886200" y="32004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US.11</a:t>
            </a:r>
            <a:endParaRPr lang="en-US" sz="1200" dirty="0"/>
          </a:p>
        </p:txBody>
      </p:sp>
      <p:sp>
        <p:nvSpPr>
          <p:cNvPr id="6" name="Text 4"/>
          <p:cNvSpPr/>
          <p:nvPr/>
        </p:nvSpPr>
        <p:spPr>
          <a:xfrm>
            <a:off x="457200" y="777240"/>
            <a:ext cx="11247120" cy="868680"/>
          </a:xfrm>
          <a:prstGeom prst="rect">
            <a:avLst/>
          </a:prstGeom>
          <a:noFill/>
          <a:ln/>
        </p:spPr>
        <p:txBody>
          <a:bodyPr wrap="square" rtlCol="0" anchor="ctr"/>
          <a:lstStyle/>
          <a:p>
            <a:pPr algn="l" indent="0" marL="0">
              <a:buNone/>
            </a:pPr>
            <a:r>
              <a:rPr lang="en-US" sz="2300" b="1" dirty="0">
                <a:solidFill>
                  <a:srgbClr val="FFFFFF"/>
                </a:solidFill>
                <a:latin typeface="Georgia" pitchFamily="34" charset="0"/>
                <a:ea typeface="Georgia" pitchFamily="34" charset="-122"/>
                <a:cs typeface="Georgia" pitchFamily="34" charset="-120"/>
              </a:rPr>
              <a:t>Management fought back with lockouts, Pinkertons, blacklisting, and court injunctions — often with government backing.</a:t>
            </a:r>
            <a:endParaRPr lang="en-US" sz="2300" dirty="0"/>
          </a:p>
        </p:txBody>
      </p:sp>
      <p:pic>
        <p:nvPicPr>
          <p:cNvPr id="7" name="Image 0" descr="hh-web/public/images/textbook/unit-2/carnegie-steel-homestead-1892.jpg">    </p:cNvPr>
          <p:cNvPicPr>
            <a:picLocks noChangeAspect="1"/>
          </p:cNvPicPr>
          <p:nvPr/>
        </p:nvPicPr>
        <p:blipFill>
          <a:blip r:embed="rId1"/>
          <a:srcRect l="0" r="0" t="0" b="0"/>
          <a:stretch/>
        </p:blipFill>
        <p:spPr>
          <a:xfrm>
            <a:off x="2743200" y="2057400"/>
            <a:ext cx="6702552" cy="4160520"/>
          </a:xfrm>
          <a:prstGeom prst="rect">
            <a:avLst/>
          </a:prstGeom>
        </p:spPr>
      </p:pic>
      <p:sp>
        <p:nvSpPr>
          <p:cNvPr id="8" name="Text 5"/>
          <p:cNvSpPr/>
          <p:nvPr/>
        </p:nvSpPr>
        <p:spPr>
          <a:xfrm>
            <a:off x="2743200" y="2103120"/>
            <a:ext cx="1188720" cy="292608"/>
          </a:xfrm>
          <a:prstGeom prst="rect">
            <a:avLst/>
          </a:prstGeom>
          <a:solidFill>
            <a:srgbClr val="F9A825"/>
          </a:solidFill>
          <a:ln/>
        </p:spPr>
        <p:txBody>
          <a:bodyPr wrap="square" rtlCol="0" anchor="ctr"/>
          <a:lstStyle/>
          <a:p>
            <a:pPr algn="ctr" indent="0" marL="0">
              <a:buNone/>
            </a:pPr>
            <a:r>
              <a:rPr lang="en-US" sz="900" b="1" spc="100" kern="0" dirty="0">
                <a:solidFill>
                  <a:srgbClr val="1A2332"/>
                </a:solidFill>
                <a:latin typeface="Trebuchet MS" pitchFamily="34" charset="0"/>
                <a:ea typeface="Trebuchet MS" pitchFamily="34" charset="-122"/>
                <a:cs typeface="Trebuchet MS" pitchFamily="34" charset="-120"/>
              </a:rPr>
              <a:t>ZOOM IN</a:t>
            </a:r>
            <a:endParaRPr lang="en-US" sz="900" dirty="0"/>
          </a:p>
        </p:txBody>
      </p:sp>
      <p:sp>
        <p:nvSpPr>
          <p:cNvPr id="9" name="Text 6"/>
          <p:cNvSpPr/>
          <p:nvPr/>
        </p:nvSpPr>
        <p:spPr>
          <a:xfrm>
            <a:off x="457200" y="6263640"/>
            <a:ext cx="8229600" cy="274320"/>
          </a:xfrm>
          <a:prstGeom prst="rect">
            <a:avLst/>
          </a:prstGeom>
          <a:noFill/>
          <a:ln/>
        </p:spPr>
        <p:txBody>
          <a:bodyPr wrap="square" rtlCol="0" anchor="ctr"/>
          <a:lstStyle/>
          <a:p>
            <a:pPr indent="0" marL="0">
              <a:buNone/>
            </a:pPr>
            <a:r>
              <a:rPr lang="en-US" sz="1000" i="1" dirty="0">
                <a:solidFill>
                  <a:srgbClr val="5C6470"/>
                </a:solidFill>
                <a:latin typeface="Trebuchet MS" pitchFamily="34" charset="0"/>
                <a:ea typeface="Trebuchet MS" pitchFamily="34" charset="-122"/>
                <a:cs typeface="Trebuchet MS" pitchFamily="34" charset="-120"/>
              </a:rPr>
              <a:t>US.11 · Management &amp; Government Responses</a:t>
            </a:r>
            <a:endParaRPr lang="en-US" sz="1000" dirty="0"/>
          </a:p>
        </p:txBody>
      </p:sp>
      <p:sp>
        <p:nvSpPr>
          <p:cNvPr id="10" name="Text 7"/>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1" name="Text 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23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554480"/>
          </a:xfrm>
          <a:prstGeom prst="rect">
            <a:avLst/>
          </a:prstGeom>
          <a:solidFill>
            <a:srgbClr val="002858"/>
          </a:solidFill>
          <a:ln/>
        </p:spPr>
        <p:txBody>
          <a:bodyPr/>
          <a:p/>
        </p:txBody>
      </p:sp>
      <p:sp>
        <p:nvSpPr>
          <p:cNvPr id="3" name="Shape 1"/>
          <p:cNvSpPr/>
          <p:nvPr/>
        </p:nvSpPr>
        <p:spPr>
          <a:xfrm>
            <a:off x="0" y="1554480"/>
            <a:ext cx="12191695" cy="54864"/>
          </a:xfrm>
          <a:prstGeom prst="rect">
            <a:avLst/>
          </a:prstGeom>
          <a:solidFill>
            <a:srgbClr val="C9A84C"/>
          </a:solidFill>
          <a:ln/>
        </p:spPr>
        <p:txBody>
          <a:bodyPr/>
          <a:p/>
        </p:txBody>
      </p:sp>
      <p:sp>
        <p:nvSpPr>
          <p:cNvPr id="4" name="Text 2"/>
          <p:cNvSpPr/>
          <p:nvPr/>
        </p:nvSpPr>
        <p:spPr>
          <a:xfrm>
            <a:off x="457200" y="274320"/>
            <a:ext cx="3291840" cy="365760"/>
          </a:xfrm>
          <a:prstGeom prst="rect">
            <a:avLst/>
          </a:prstGeom>
          <a:solidFill>
            <a:srgbClr val="C6282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SOURCE IT FIRST</a:t>
            </a:r>
            <a:endParaRPr lang="en-US" sz="1100" dirty="0"/>
          </a:p>
        </p:txBody>
      </p:sp>
      <p:sp>
        <p:nvSpPr>
          <p:cNvPr id="5" name="Text 3"/>
          <p:cNvSpPr/>
          <p:nvPr/>
        </p:nvSpPr>
        <p:spPr>
          <a:xfrm>
            <a:off x="3886200" y="27432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US.11</a:t>
            </a:r>
            <a:endParaRPr lang="en-US" sz="1200" dirty="0"/>
          </a:p>
        </p:txBody>
      </p:sp>
      <p:sp>
        <p:nvSpPr>
          <p:cNvPr id="6" name="Text 4"/>
          <p:cNvSpPr/>
          <p:nvPr/>
        </p:nvSpPr>
        <p:spPr>
          <a:xfrm>
            <a:off x="457200" y="713232"/>
            <a:ext cx="11247120" cy="777240"/>
          </a:xfrm>
          <a:prstGeom prst="rect">
            <a:avLst/>
          </a:prstGeom>
          <a:noFill/>
          <a:ln/>
        </p:spPr>
        <p:txBody>
          <a:bodyPr wrap="square" rtlCol="0" anchor="ctr"/>
          <a:lstStyle/>
          <a:p>
            <a:pPr indent="0" marL="0">
              <a:buNone/>
            </a:pPr>
            <a:r>
              <a:rPr lang="en-US" sz="2000" b="1" dirty="0">
                <a:solidFill>
                  <a:srgbClr val="FFFFFF"/>
                </a:solidFill>
                <a:latin typeface="Georgia" pitchFamily="34" charset="0"/>
                <a:ea typeface="Georgia" pitchFamily="34" charset="-122"/>
                <a:cs typeface="Georgia" pitchFamily="34" charset="-120"/>
              </a:rPr>
              <a:t>Read Gompers’s “What Does Labor Want?” — his words reveal what the movement believed the country owed its workers.</a:t>
            </a:r>
            <a:endParaRPr lang="en-US" sz="2000" dirty="0"/>
          </a:p>
        </p:txBody>
      </p:sp>
      <p:sp>
        <p:nvSpPr>
          <p:cNvPr id="7" name="Text 5"/>
          <p:cNvSpPr/>
          <p:nvPr/>
        </p:nvSpPr>
        <p:spPr>
          <a:xfrm>
            <a:off x="457200" y="1783080"/>
            <a:ext cx="3566160" cy="320040"/>
          </a:xfrm>
          <a:prstGeom prst="rect">
            <a:avLst/>
          </a:prstGeom>
          <a:solidFill>
            <a:srgbClr val="1A2332"/>
          </a:solid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WHO</a:t>
            </a:r>
            <a:endParaRPr lang="en-US" sz="1200" dirty="0"/>
          </a:p>
        </p:txBody>
      </p:sp>
      <p:sp>
        <p:nvSpPr>
          <p:cNvPr id="8" name="Text 6"/>
          <p:cNvSpPr/>
          <p:nvPr/>
        </p:nvSpPr>
        <p:spPr>
          <a:xfrm>
            <a:off x="457200" y="2103120"/>
            <a:ext cx="3566160" cy="914400"/>
          </a:xfrm>
          <a:prstGeom prst="rect">
            <a:avLst/>
          </a:prstGeom>
          <a:solidFill>
            <a:srgbClr val="FFFFFF"/>
          </a:solidFill>
          <a:ln w="12700">
            <a:solidFill>
              <a:srgbClr val="DAD3C2"/>
            </a:solidFill>
          </a:ln>
        </p:spPr>
        <p:txBody>
          <a:bodyPr wrap="square" lIns="76200" tIns="76200" rIns="76200" bIns="76200" rtlCol="0" anchor="t"/>
          <a:lstStyle/>
          <a:p>
            <a:pPr algn="l" indent="0" marL="0">
              <a:buNone/>
            </a:pPr>
            <a:r>
              <a:rPr lang="en-US" sz="1200" dirty="0">
                <a:solidFill>
                  <a:srgbClr val="1F2430"/>
                </a:solidFill>
                <a:latin typeface="Calibri" pitchFamily="34" charset="0"/>
                <a:ea typeface="Calibri" pitchFamily="34" charset="-122"/>
                <a:cs typeface="Calibri" pitchFamily="34" charset="-120"/>
              </a:rPr>
              <a:t>Samuel Gompers, AFL president and chief voice of organized labor in America.</a:t>
            </a:r>
            <a:endParaRPr lang="en-US" sz="1200" dirty="0"/>
          </a:p>
        </p:txBody>
      </p:sp>
      <p:sp>
        <p:nvSpPr>
          <p:cNvPr id="9" name="Text 7"/>
          <p:cNvSpPr/>
          <p:nvPr/>
        </p:nvSpPr>
        <p:spPr>
          <a:xfrm>
            <a:off x="4251960" y="1783080"/>
            <a:ext cx="3566160" cy="320040"/>
          </a:xfrm>
          <a:prstGeom prst="rect">
            <a:avLst/>
          </a:prstGeom>
          <a:solidFill>
            <a:srgbClr val="1A2332"/>
          </a:solid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WHEN</a:t>
            </a:r>
            <a:endParaRPr lang="en-US" sz="1200" dirty="0"/>
          </a:p>
        </p:txBody>
      </p:sp>
      <p:sp>
        <p:nvSpPr>
          <p:cNvPr id="10" name="Text 8"/>
          <p:cNvSpPr/>
          <p:nvPr/>
        </p:nvSpPr>
        <p:spPr>
          <a:xfrm>
            <a:off x="4251960" y="2103120"/>
            <a:ext cx="3566160" cy="914400"/>
          </a:xfrm>
          <a:prstGeom prst="rect">
            <a:avLst/>
          </a:prstGeom>
          <a:solidFill>
            <a:srgbClr val="FFFFFF"/>
          </a:solidFill>
          <a:ln w="12700">
            <a:solidFill>
              <a:srgbClr val="DAD3C2"/>
            </a:solidFill>
          </a:ln>
        </p:spPr>
        <p:txBody>
          <a:bodyPr wrap="square" lIns="76200" tIns="76200" rIns="76200" bIns="76200" rtlCol="0" anchor="t"/>
          <a:lstStyle/>
          <a:p>
            <a:pPr algn="l" indent="0" marL="0">
              <a:buNone/>
            </a:pPr>
            <a:r>
              <a:rPr lang="en-US" sz="1200" dirty="0">
                <a:solidFill>
                  <a:srgbClr val="1F2430"/>
                </a:solidFill>
                <a:latin typeface="Calibri" pitchFamily="34" charset="0"/>
                <a:ea typeface="Calibri" pitchFamily="34" charset="-122"/>
                <a:cs typeface="Calibri" pitchFamily="34" charset="-120"/>
              </a:rPr>
              <a:t>1893, during the worst economic depression of the 19th century (the Panic of 1893).</a:t>
            </a:r>
            <a:endParaRPr lang="en-US" sz="1200" dirty="0"/>
          </a:p>
        </p:txBody>
      </p:sp>
      <p:sp>
        <p:nvSpPr>
          <p:cNvPr id="11" name="Text 9"/>
          <p:cNvSpPr/>
          <p:nvPr/>
        </p:nvSpPr>
        <p:spPr>
          <a:xfrm>
            <a:off x="8046720" y="1783080"/>
            <a:ext cx="3566160" cy="320040"/>
          </a:xfrm>
          <a:prstGeom prst="rect">
            <a:avLst/>
          </a:prstGeom>
          <a:solidFill>
            <a:srgbClr val="1A2332"/>
          </a:solid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WHY</a:t>
            </a:r>
            <a:endParaRPr lang="en-US" sz="1200" dirty="0"/>
          </a:p>
        </p:txBody>
      </p:sp>
      <p:sp>
        <p:nvSpPr>
          <p:cNvPr id="12" name="Text 10"/>
          <p:cNvSpPr/>
          <p:nvPr/>
        </p:nvSpPr>
        <p:spPr>
          <a:xfrm>
            <a:off x="8046720" y="2103120"/>
            <a:ext cx="3566160" cy="914400"/>
          </a:xfrm>
          <a:prstGeom prst="rect">
            <a:avLst/>
          </a:prstGeom>
          <a:solidFill>
            <a:srgbClr val="FFFFFF"/>
          </a:solidFill>
          <a:ln w="12700">
            <a:solidFill>
              <a:srgbClr val="DAD3C2"/>
            </a:solidFill>
          </a:ln>
        </p:spPr>
        <p:txBody>
          <a:bodyPr wrap="square" lIns="76200" tIns="76200" rIns="76200" bIns="76200" rtlCol="0" anchor="t"/>
          <a:lstStyle/>
          <a:p>
            <a:pPr algn="l" indent="0" marL="0">
              <a:buNone/>
            </a:pPr>
            <a:r>
              <a:rPr lang="en-US" sz="1200" dirty="0">
                <a:solidFill>
                  <a:srgbClr val="1F2430"/>
                </a:solidFill>
                <a:latin typeface="Calibri" pitchFamily="34" charset="0"/>
                <a:ea typeface="Calibri" pitchFamily="34" charset="-122"/>
                <a:cs typeface="Calibri" pitchFamily="34" charset="-120"/>
              </a:rPr>
              <a:t>A labor leader's public speech reveals what workers needed — and what the movement believed the country owed its workers.</a:t>
            </a:r>
            <a:endParaRPr lang="en-US" sz="1200" dirty="0"/>
          </a:p>
        </p:txBody>
      </p:sp>
      <p:sp>
        <p:nvSpPr>
          <p:cNvPr id="13" name="Shape 11"/>
          <p:cNvSpPr/>
          <p:nvPr/>
        </p:nvSpPr>
        <p:spPr>
          <a:xfrm>
            <a:off x="457200" y="3200400"/>
            <a:ext cx="5532120" cy="2651760"/>
          </a:xfrm>
          <a:prstGeom prst="rect">
            <a:avLst/>
          </a:prstGeom>
          <a:solidFill>
            <a:srgbClr val="FFFFFF"/>
          </a:solidFill>
          <a:ln w="19050">
            <a:solidFill>
              <a:srgbClr val="C9A84C"/>
            </a:solidFill>
            <a:prstDash val="solid"/>
          </a:ln>
        </p:spPr>
      </p:sp>
      <p:sp>
        <p:nvSpPr>
          <p:cNvPr id="14" name="Text 12"/>
          <p:cNvSpPr/>
          <p:nvPr/>
        </p:nvSpPr>
        <p:spPr>
          <a:xfrm>
            <a:off x="594360" y="3291840"/>
            <a:ext cx="5257800" cy="320040"/>
          </a:xfrm>
          <a:prstGeom prst="rect">
            <a:avLst/>
          </a:prstGeom>
          <a:noFill/>
          <a:ln/>
        </p:spPr>
        <p:txBody>
          <a:bodyPr wrap="square" rtlCol="0" anchor="ctr"/>
          <a:lstStyle/>
          <a:p>
            <a:pPr indent="0" marL="0">
              <a:buNone/>
            </a:pPr>
            <a:r>
              <a:rPr lang="en-US" sz="1400" b="1" dirty="0">
                <a:solidFill>
                  <a:srgbClr val="002858"/>
                </a:solidFill>
                <a:latin typeface="Georgia" pitchFamily="34" charset="0"/>
                <a:ea typeface="Georgia" pitchFamily="34" charset="-122"/>
                <a:cs typeface="Georgia" pitchFamily="34" charset="-120"/>
              </a:rPr>
              <a:t>Samuel Gompers Address</a:t>
            </a:r>
            <a:endParaRPr lang="en-US" sz="1400" dirty="0"/>
          </a:p>
        </p:txBody>
      </p:sp>
      <p:sp>
        <p:nvSpPr>
          <p:cNvPr id="15" name="Text 13"/>
          <p:cNvSpPr/>
          <p:nvPr/>
        </p:nvSpPr>
        <p:spPr>
          <a:xfrm>
            <a:off x="594360" y="3611880"/>
            <a:ext cx="5257800" cy="274320"/>
          </a:xfrm>
          <a:prstGeom prst="rect">
            <a:avLst/>
          </a:prstGeom>
          <a:noFill/>
          <a:ln/>
        </p:spPr>
        <p:txBody>
          <a:bodyPr wrap="square" rtlCol="0" anchor="ctr"/>
          <a:lstStyle/>
          <a:p>
            <a:pPr indent="0" marL="0">
              <a:buNone/>
            </a:pPr>
            <a:r>
              <a:rPr lang="en-US" sz="900" i="1" dirty="0">
                <a:solidFill>
                  <a:srgbClr val="5C6470"/>
                </a:solidFill>
                <a:latin typeface="Trebuchet MS" pitchFamily="34" charset="0"/>
                <a:ea typeface="Trebuchet MS" pitchFamily="34" charset="-122"/>
                <a:cs typeface="Trebuchet MS" pitchFamily="34" charset="-120"/>
              </a:rPr>
              <a:t>Samuel Gompers, AFL President · 1893</a:t>
            </a:r>
            <a:endParaRPr lang="en-US" sz="900" dirty="0"/>
          </a:p>
        </p:txBody>
      </p:sp>
      <p:sp>
        <p:nvSpPr>
          <p:cNvPr id="16" name="Text 14"/>
          <p:cNvSpPr/>
          <p:nvPr/>
        </p:nvSpPr>
        <p:spPr>
          <a:xfrm>
            <a:off x="594360" y="3931920"/>
            <a:ext cx="5257800" cy="1600200"/>
          </a:xfrm>
          <a:prstGeom prst="rect">
            <a:avLst/>
          </a:prstGeom>
          <a:noFill/>
          <a:ln/>
        </p:spPr>
        <p:txBody>
          <a:bodyPr wrap="square" rtlCol="0" anchor="t"/>
          <a:lstStyle/>
          <a:p>
            <a:pPr indent="0" marL="0">
              <a:buNone/>
            </a:pPr>
            <a:r>
              <a:rPr lang="en-US" sz="1100" dirty="0">
                <a:solidFill>
                  <a:srgbClr val="1F2430"/>
                </a:solidFill>
                <a:latin typeface="Calibri" pitchFamily="34" charset="0"/>
                <a:ea typeface="Calibri" pitchFamily="34" charset="-122"/>
                <a:cs typeface="Calibri" pitchFamily="34" charset="-120"/>
              </a:rPr>
              <a:t>"What does labor want? We want more schoolhouses and less jails; more books and less arsenals; more learning and less vice; more leisure and less greed; more justice and less revenge; in fact, more of the opportunities to cultivate our better natures, to make manhood more noble, womanhood more beautiful, and childhood more happy and bright."</a:t>
            </a:r>
            <a:endParaRPr lang="en-US" sz="1100" dirty="0"/>
          </a:p>
        </p:txBody>
      </p:sp>
      <p:sp>
        <p:nvSpPr>
          <p:cNvPr id="17" name="Text 15">
            <a:hlinkClick r:id="rId1" tooltip=""/>
          </p:cNvPr>
          <p:cNvSpPr/>
          <p:nvPr/>
        </p:nvSpPr>
        <p:spPr>
          <a:xfrm>
            <a:off x="594360" y="5532120"/>
            <a:ext cx="5257800" cy="256032"/>
          </a:xfrm>
          <a:prstGeom prst="rect">
            <a:avLst/>
          </a:prstGeom>
          <a:noFill/>
          <a:ln/>
        </p:spPr>
        <p:txBody>
          <a:bodyPr wrap="square" rtlCol="0" anchor="ctr"/>
          <a:lstStyle/>
          <a:p>
            <a:pPr indent="0" marL="0">
              <a:buNone/>
            </a:pPr>
            <a:r>
              <a:rPr lang="en-US" sz="900" u="sng" dirty="0">
                <a:solidFill>
                  <a:srgbClr val="002858"/>
                </a:solidFill>
                <a:latin typeface="Trebuchet MS" pitchFamily="34" charset="0"/>
                <a:ea typeface="Trebuchet MS" pitchFamily="34" charset="-122"/>
                <a:cs typeface="Trebuchet MS" pitchFamily="34" charset="-120"/>
                <a:hlinkClick r:id="rId1" invalidUrl="" action="" tgtFrame="" tooltip="" history="1" highlightClick="0" endSnd="0">
                  <a:extLst>
                    <a:ext uri="{A12FA001-AC4F-418D-AE19-62706E023703}">
                      <ahyp:hlinkClr xmlns:ahyp="http://schemas.microsoft.com/office/drawing/2018/hyperlinkcolor" val="tx"/>
                    </a:ext>
                  </a:extLst>
                </a:hlinkClick>
              </a:rPr>
              <a:t>Library of Congress</a:t>
            </a:r>
            <a:endParaRPr lang="en-US" sz="900" dirty="0"/>
          </a:p>
        </p:txBody>
      </p:sp>
      <p:sp>
        <p:nvSpPr>
          <p:cNvPr id="18" name="Text 16"/>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9" name="Text 17"/>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24</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1A2332"/>
        </a:solidFill>
      </p:bgPr>
    </p:bg>
    <p:spTree>
      <p:nvGrpSpPr>
        <p:cNvPr id="1" name=""/>
        <p:cNvGrpSpPr/>
        <p:nvPr/>
      </p:nvGrpSpPr>
      <p:grpSpPr>
        <a:xfrm>
          <a:off x="0" y="0"/>
          <a:ext cx="0" cy="0"/>
          <a:chOff x="0" y="0"/>
          <a:chExt cx="0" cy="0"/>
        </a:xfrm>
      </p:grpSpPr>
      <p:sp>
        <p:nvSpPr>
          <p:cNvPr id="2" name="Text 0"/>
          <p:cNvSpPr/>
          <p:nvPr/>
        </p:nvSpPr>
        <p:spPr>
          <a:xfrm>
            <a:off x="457200" y="274320"/>
            <a:ext cx="3291840" cy="365760"/>
          </a:xfrm>
          <a:prstGeom prst="rect">
            <a:avLst/>
          </a:prstGeom>
          <a:solidFill>
            <a:srgbClr val="C6282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THREE PERSPECTIVES</a:t>
            </a:r>
            <a:endParaRPr lang="en-US" sz="1100" dirty="0"/>
          </a:p>
        </p:txBody>
      </p:sp>
      <p:sp>
        <p:nvSpPr>
          <p:cNvPr id="3" name="Text 1"/>
          <p:cNvSpPr/>
          <p:nvPr/>
        </p:nvSpPr>
        <p:spPr>
          <a:xfrm>
            <a:off x="3886200" y="27432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US.11</a:t>
            </a:r>
            <a:endParaRPr lang="en-US" sz="1200" dirty="0"/>
          </a:p>
        </p:txBody>
      </p:sp>
      <p:sp>
        <p:nvSpPr>
          <p:cNvPr id="4" name="Text 2"/>
          <p:cNvSpPr/>
          <p:nvPr/>
        </p:nvSpPr>
        <p:spPr>
          <a:xfrm>
            <a:off x="457200" y="777240"/>
            <a:ext cx="11247120" cy="822960"/>
          </a:xfrm>
          <a:prstGeom prst="rect">
            <a:avLst/>
          </a:prstGeom>
          <a:noFill/>
          <a:ln/>
        </p:spPr>
        <p:txBody>
          <a:bodyPr wrap="square" rtlCol="0" anchor="ctr"/>
          <a:lstStyle/>
          <a:p>
            <a:pPr indent="0" marL="0">
              <a:buNone/>
            </a:pPr>
            <a:r>
              <a:rPr lang="en-US" sz="1700" i="1" dirty="0">
                <a:solidFill>
                  <a:srgbClr val="C7D4E0"/>
                </a:solidFill>
                <a:latin typeface="Georgia" pitchFamily="34" charset="0"/>
                <a:ea typeface="Georgia" pitchFamily="34" charset="-122"/>
                <a:cs typeface="Georgia" pitchFamily="34" charset="-120"/>
              </a:rPr>
              <a:t>A historian returns to three questions at the end of every reading. Use them to analyze this standard.</a:t>
            </a:r>
            <a:endParaRPr lang="en-US" sz="1700" dirty="0"/>
          </a:p>
        </p:txBody>
      </p:sp>
      <p:sp>
        <p:nvSpPr>
          <p:cNvPr id="5" name="Shape 3"/>
          <p:cNvSpPr/>
          <p:nvPr/>
        </p:nvSpPr>
        <p:spPr>
          <a:xfrm>
            <a:off x="457200" y="1783080"/>
            <a:ext cx="3566160" cy="4206240"/>
          </a:xfrm>
          <a:prstGeom prst="rect">
            <a:avLst/>
          </a:prstGeom>
          <a:solidFill>
            <a:srgbClr val="FFFFFF"/>
          </a:solidFill>
          <a:ln/>
        </p:spPr>
      </p:sp>
      <p:sp>
        <p:nvSpPr>
          <p:cNvPr id="6" name="Shape 4"/>
          <p:cNvSpPr/>
          <p:nvPr/>
        </p:nvSpPr>
        <p:spPr>
          <a:xfrm>
            <a:off x="457200" y="1783080"/>
            <a:ext cx="3566160" cy="548640"/>
          </a:xfrm>
          <a:prstGeom prst="rect">
            <a:avLst/>
          </a:prstGeom>
          <a:solidFill>
            <a:srgbClr val="1B5E20"/>
          </a:solidFill>
          <a:ln/>
        </p:spPr>
      </p:sp>
      <p:sp>
        <p:nvSpPr>
          <p:cNvPr id="7" name="Text 5"/>
          <p:cNvSpPr/>
          <p:nvPr/>
        </p:nvSpPr>
        <p:spPr>
          <a:xfrm>
            <a:off x="457200" y="1783080"/>
            <a:ext cx="3566160" cy="548640"/>
          </a:xfrm>
          <a:prstGeom prst="rect">
            <a:avLst/>
          </a:prstGeom>
          <a:noFill/>
          <a:ln/>
        </p:spPr>
        <p:txBody>
          <a:bodyPr wrap="square"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Who benefited?</a:t>
            </a:r>
            <a:endParaRPr lang="en-US" sz="1600" dirty="0"/>
          </a:p>
        </p:txBody>
      </p:sp>
      <p:sp>
        <p:nvSpPr>
          <p:cNvPr id="8" name="Text 6"/>
          <p:cNvSpPr/>
          <p:nvPr/>
        </p:nvSpPr>
        <p:spPr>
          <a:xfrm>
            <a:off x="594360" y="2423160"/>
            <a:ext cx="3291840" cy="868680"/>
          </a:xfrm>
          <a:prstGeom prst="rect">
            <a:avLst/>
          </a:prstGeom>
          <a:noFill/>
          <a:ln/>
        </p:spPr>
        <p:txBody>
          <a:bodyPr wrap="square" rtlCol="0" anchor="t"/>
          <a:lstStyle/>
          <a:p>
            <a:pPr indent="0" marL="0">
              <a:buNone/>
            </a:pPr>
            <a:r>
              <a:rPr lang="en-US" sz="1100" i="1" dirty="0">
                <a:solidFill>
                  <a:srgbClr val="5C6470"/>
                </a:solidFill>
                <a:latin typeface="Calibri" pitchFamily="34" charset="0"/>
                <a:ea typeface="Calibri" pitchFamily="34" charset="-122"/>
                <a:cs typeface="Calibri" pitchFamily="34" charset="-120"/>
              </a:rPr>
              <a:t>Who gained land, wealth, power, or protection?</a:t>
            </a:r>
            <a:endParaRPr lang="en-US" sz="1100" dirty="0"/>
          </a:p>
        </p:txBody>
      </p:sp>
      <p:sp>
        <p:nvSpPr>
          <p:cNvPr id="9" name="Text 7"/>
          <p:cNvSpPr/>
          <p:nvPr/>
        </p:nvSpPr>
        <p:spPr>
          <a:xfrm>
            <a:off x="594360" y="3291840"/>
            <a:ext cx="3291840" cy="274320"/>
          </a:xfrm>
          <a:prstGeom prst="rect">
            <a:avLst/>
          </a:prstGeom>
          <a:noFill/>
          <a:ln/>
        </p:spPr>
        <p:txBody>
          <a:bodyPr wrap="square" rtlCol="0" anchor="ctr"/>
          <a:lstStyle/>
          <a:p>
            <a:pPr indent="0" marL="0">
              <a:buNone/>
            </a:pPr>
            <a:r>
              <a:rPr lang="en-US" sz="1000" b="1" dirty="0">
                <a:solidFill>
                  <a:srgbClr val="8A6D1A"/>
                </a:solidFill>
                <a:latin typeface="Trebuchet MS" pitchFamily="34" charset="0"/>
                <a:ea typeface="Trebuchet MS" pitchFamily="34" charset="-122"/>
                <a:cs typeface="Trebuchet MS" pitchFamily="34" charset="-120"/>
              </a:rPr>
              <a:t>US.11:</a:t>
            </a:r>
            <a:endParaRPr lang="en-US" sz="1000" dirty="0"/>
          </a:p>
        </p:txBody>
      </p:sp>
      <p:sp>
        <p:nvSpPr>
          <p:cNvPr id="10" name="Text 8"/>
          <p:cNvSpPr/>
          <p:nvPr/>
        </p:nvSpPr>
        <p:spPr>
          <a:xfrm>
            <a:off x="594360" y="3566160"/>
            <a:ext cx="3291840" cy="2286000"/>
          </a:xfrm>
          <a:prstGeom prst="rect">
            <a:avLst/>
          </a:prstGeom>
          <a:noFill/>
          <a:ln/>
        </p:spPr>
        <p:txBody>
          <a:bodyPr wrap="square" rtlCol="0" anchor="t"/>
          <a:lstStyle/>
          <a:p>
            <a:pPr indent="0" marL="0">
              <a:buNone/>
            </a:pPr>
            <a:r>
              <a:rPr lang="en-US" sz="1200" dirty="0">
                <a:solidFill>
                  <a:srgbClr val="1F2430"/>
                </a:solidFill>
                <a:latin typeface="Calibri" pitchFamily="34" charset="0"/>
                <a:ea typeface="Calibri" pitchFamily="34" charset="-122"/>
                <a:cs typeface="Calibri" pitchFamily="34" charset="-120"/>
              </a:rPr>
              <a:t>Industrialists who kept wages low and used lockouts, strikebreakers, and convict labor to blunt worker organizing.</a:t>
            </a:r>
            <a:endParaRPr lang="en-US" sz="1200" dirty="0"/>
          </a:p>
        </p:txBody>
      </p:sp>
      <p:sp>
        <p:nvSpPr>
          <p:cNvPr id="11" name="Shape 9"/>
          <p:cNvSpPr/>
          <p:nvPr/>
        </p:nvSpPr>
        <p:spPr>
          <a:xfrm>
            <a:off x="4251960" y="1783080"/>
            <a:ext cx="3566160" cy="4206240"/>
          </a:xfrm>
          <a:prstGeom prst="rect">
            <a:avLst/>
          </a:prstGeom>
          <a:solidFill>
            <a:srgbClr val="FFFFFF"/>
          </a:solidFill>
          <a:ln/>
        </p:spPr>
      </p:sp>
      <p:sp>
        <p:nvSpPr>
          <p:cNvPr id="12" name="Shape 10"/>
          <p:cNvSpPr/>
          <p:nvPr/>
        </p:nvSpPr>
        <p:spPr>
          <a:xfrm>
            <a:off x="4251960" y="1783080"/>
            <a:ext cx="3566160" cy="548640"/>
          </a:xfrm>
          <a:prstGeom prst="rect">
            <a:avLst/>
          </a:prstGeom>
          <a:solidFill>
            <a:srgbClr val="C62828"/>
          </a:solidFill>
          <a:ln/>
        </p:spPr>
      </p:sp>
      <p:sp>
        <p:nvSpPr>
          <p:cNvPr id="13" name="Text 11"/>
          <p:cNvSpPr/>
          <p:nvPr/>
        </p:nvSpPr>
        <p:spPr>
          <a:xfrm>
            <a:off x="4251960" y="1783080"/>
            <a:ext cx="3566160" cy="548640"/>
          </a:xfrm>
          <a:prstGeom prst="rect">
            <a:avLst/>
          </a:prstGeom>
          <a:noFill/>
          <a:ln/>
        </p:spPr>
        <p:txBody>
          <a:bodyPr wrap="square"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Who bore the costs?</a:t>
            </a:r>
            <a:endParaRPr lang="en-US" sz="1600" dirty="0"/>
          </a:p>
        </p:txBody>
      </p:sp>
      <p:sp>
        <p:nvSpPr>
          <p:cNvPr id="14" name="Text 12"/>
          <p:cNvSpPr/>
          <p:nvPr/>
        </p:nvSpPr>
        <p:spPr>
          <a:xfrm>
            <a:off x="4389120" y="2423160"/>
            <a:ext cx="3291840" cy="868680"/>
          </a:xfrm>
          <a:prstGeom prst="rect">
            <a:avLst/>
          </a:prstGeom>
          <a:noFill/>
          <a:ln/>
        </p:spPr>
        <p:txBody>
          <a:bodyPr wrap="square" rtlCol="0" anchor="t"/>
          <a:lstStyle/>
          <a:p>
            <a:pPr indent="0" marL="0">
              <a:buNone/>
            </a:pPr>
            <a:r>
              <a:rPr lang="en-US" sz="1100" i="1" dirty="0">
                <a:solidFill>
                  <a:srgbClr val="5C6470"/>
                </a:solidFill>
                <a:latin typeface="Calibri" pitchFamily="34" charset="0"/>
                <a:ea typeface="Calibri" pitchFamily="34" charset="-122"/>
                <a:cs typeface="Calibri" pitchFamily="34" charset="-120"/>
              </a:rPr>
              <a:t>Who lost land, labor, freedom, or life — and who was silenced?</a:t>
            </a:r>
            <a:endParaRPr lang="en-US" sz="1100" dirty="0"/>
          </a:p>
        </p:txBody>
      </p:sp>
      <p:sp>
        <p:nvSpPr>
          <p:cNvPr id="15" name="Text 13"/>
          <p:cNvSpPr/>
          <p:nvPr/>
        </p:nvSpPr>
        <p:spPr>
          <a:xfrm>
            <a:off x="4389120" y="3291840"/>
            <a:ext cx="3291840" cy="274320"/>
          </a:xfrm>
          <a:prstGeom prst="rect">
            <a:avLst/>
          </a:prstGeom>
          <a:noFill/>
          <a:ln/>
        </p:spPr>
        <p:txBody>
          <a:bodyPr wrap="square" rtlCol="0" anchor="ctr"/>
          <a:lstStyle/>
          <a:p>
            <a:pPr indent="0" marL="0">
              <a:buNone/>
            </a:pPr>
            <a:r>
              <a:rPr lang="en-US" sz="1000" b="1" dirty="0">
                <a:solidFill>
                  <a:srgbClr val="8A6D1A"/>
                </a:solidFill>
                <a:latin typeface="Trebuchet MS" pitchFamily="34" charset="0"/>
                <a:ea typeface="Trebuchet MS" pitchFamily="34" charset="-122"/>
                <a:cs typeface="Trebuchet MS" pitchFamily="34" charset="-120"/>
              </a:rPr>
              <a:t>US.11:</a:t>
            </a:r>
            <a:endParaRPr lang="en-US" sz="1000" dirty="0"/>
          </a:p>
        </p:txBody>
      </p:sp>
      <p:sp>
        <p:nvSpPr>
          <p:cNvPr id="16" name="Text 14"/>
          <p:cNvSpPr/>
          <p:nvPr/>
        </p:nvSpPr>
        <p:spPr>
          <a:xfrm>
            <a:off x="4389120" y="3566160"/>
            <a:ext cx="3291840" cy="2286000"/>
          </a:xfrm>
          <a:prstGeom prst="rect">
            <a:avLst/>
          </a:prstGeom>
          <a:noFill/>
          <a:ln/>
        </p:spPr>
        <p:txBody>
          <a:bodyPr wrap="square" rtlCol="0" anchor="t"/>
          <a:lstStyle/>
          <a:p>
            <a:pPr indent="0" marL="0">
              <a:buNone/>
            </a:pPr>
            <a:r>
              <a:rPr lang="en-US" sz="1200" dirty="0">
                <a:solidFill>
                  <a:srgbClr val="1F2430"/>
                </a:solidFill>
                <a:latin typeface="Calibri" pitchFamily="34" charset="0"/>
                <a:ea typeface="Calibri" pitchFamily="34" charset="-122"/>
                <a:cs typeface="Calibri" pitchFamily="34" charset="-120"/>
              </a:rPr>
              <a:t>Workers facing dangerous conditions and cut wages; leased convicts forced into unpaid mine labor at Coal Creek.</a:t>
            </a:r>
            <a:endParaRPr lang="en-US" sz="1200" dirty="0"/>
          </a:p>
        </p:txBody>
      </p:sp>
      <p:sp>
        <p:nvSpPr>
          <p:cNvPr id="17" name="Shape 15"/>
          <p:cNvSpPr/>
          <p:nvPr/>
        </p:nvSpPr>
        <p:spPr>
          <a:xfrm>
            <a:off x="8046720" y="1783080"/>
            <a:ext cx="3566160" cy="4206240"/>
          </a:xfrm>
          <a:prstGeom prst="rect">
            <a:avLst/>
          </a:prstGeom>
          <a:solidFill>
            <a:srgbClr val="FFFFFF"/>
          </a:solidFill>
          <a:ln/>
        </p:spPr>
      </p:sp>
      <p:sp>
        <p:nvSpPr>
          <p:cNvPr id="18" name="Shape 16"/>
          <p:cNvSpPr/>
          <p:nvPr/>
        </p:nvSpPr>
        <p:spPr>
          <a:xfrm>
            <a:off x="8046720" y="1783080"/>
            <a:ext cx="3566160" cy="548640"/>
          </a:xfrm>
          <a:prstGeom prst="rect">
            <a:avLst/>
          </a:prstGeom>
          <a:solidFill>
            <a:srgbClr val="002858"/>
          </a:solidFill>
          <a:ln/>
        </p:spPr>
      </p:sp>
      <p:sp>
        <p:nvSpPr>
          <p:cNvPr id="19" name="Text 17"/>
          <p:cNvSpPr/>
          <p:nvPr/>
        </p:nvSpPr>
        <p:spPr>
          <a:xfrm>
            <a:off x="8046720" y="1783080"/>
            <a:ext cx="3566160" cy="548640"/>
          </a:xfrm>
          <a:prstGeom prst="rect">
            <a:avLst/>
          </a:prstGeom>
          <a:noFill/>
          <a:ln/>
        </p:spPr>
        <p:txBody>
          <a:bodyPr wrap="square"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Who decided?</a:t>
            </a:r>
            <a:endParaRPr lang="en-US" sz="1600" dirty="0"/>
          </a:p>
        </p:txBody>
      </p:sp>
      <p:sp>
        <p:nvSpPr>
          <p:cNvPr id="20" name="Text 18"/>
          <p:cNvSpPr/>
          <p:nvPr/>
        </p:nvSpPr>
        <p:spPr>
          <a:xfrm>
            <a:off x="8183880" y="2423160"/>
            <a:ext cx="3291840" cy="868680"/>
          </a:xfrm>
          <a:prstGeom prst="rect">
            <a:avLst/>
          </a:prstGeom>
          <a:noFill/>
          <a:ln/>
        </p:spPr>
        <p:txBody>
          <a:bodyPr wrap="square" rtlCol="0" anchor="t"/>
          <a:lstStyle/>
          <a:p>
            <a:pPr indent="0" marL="0">
              <a:buNone/>
            </a:pPr>
            <a:r>
              <a:rPr lang="en-US" sz="1100" i="1" dirty="0">
                <a:solidFill>
                  <a:srgbClr val="5C6470"/>
                </a:solidFill>
                <a:latin typeface="Calibri" pitchFamily="34" charset="0"/>
                <a:ea typeface="Calibri" pitchFamily="34" charset="-122"/>
                <a:cs typeface="Calibri" pitchFamily="34" charset="-120"/>
              </a:rPr>
              <a:t>Which people, offices, or courts held the authority?</a:t>
            </a:r>
            <a:endParaRPr lang="en-US" sz="1100" dirty="0"/>
          </a:p>
        </p:txBody>
      </p:sp>
      <p:sp>
        <p:nvSpPr>
          <p:cNvPr id="21" name="Text 19"/>
          <p:cNvSpPr/>
          <p:nvPr/>
        </p:nvSpPr>
        <p:spPr>
          <a:xfrm>
            <a:off x="8183880" y="3291840"/>
            <a:ext cx="3291840" cy="274320"/>
          </a:xfrm>
          <a:prstGeom prst="rect">
            <a:avLst/>
          </a:prstGeom>
          <a:noFill/>
          <a:ln/>
        </p:spPr>
        <p:txBody>
          <a:bodyPr wrap="square" rtlCol="0" anchor="ctr"/>
          <a:lstStyle/>
          <a:p>
            <a:pPr indent="0" marL="0">
              <a:buNone/>
            </a:pPr>
            <a:r>
              <a:rPr lang="en-US" sz="1000" b="1" dirty="0">
                <a:solidFill>
                  <a:srgbClr val="8A6D1A"/>
                </a:solidFill>
                <a:latin typeface="Trebuchet MS" pitchFamily="34" charset="0"/>
                <a:ea typeface="Trebuchet MS" pitchFamily="34" charset="-122"/>
                <a:cs typeface="Trebuchet MS" pitchFamily="34" charset="-120"/>
              </a:rPr>
              <a:t>US.11:</a:t>
            </a:r>
            <a:endParaRPr lang="en-US" sz="1000" dirty="0"/>
          </a:p>
        </p:txBody>
      </p:sp>
      <p:sp>
        <p:nvSpPr>
          <p:cNvPr id="22" name="Text 20"/>
          <p:cNvSpPr/>
          <p:nvPr/>
        </p:nvSpPr>
        <p:spPr>
          <a:xfrm>
            <a:off x="8183880" y="3566160"/>
            <a:ext cx="3291840" cy="2286000"/>
          </a:xfrm>
          <a:prstGeom prst="rect">
            <a:avLst/>
          </a:prstGeom>
          <a:noFill/>
          <a:ln/>
        </p:spPr>
        <p:txBody>
          <a:bodyPr wrap="square" rtlCol="0" anchor="t"/>
          <a:lstStyle/>
          <a:p>
            <a:pPr indent="0" marL="0">
              <a:buNone/>
            </a:pPr>
            <a:r>
              <a:rPr lang="en-US" sz="1200" dirty="0">
                <a:solidFill>
                  <a:srgbClr val="1F2430"/>
                </a:solidFill>
                <a:latin typeface="Calibri" pitchFamily="34" charset="0"/>
                <a:ea typeface="Calibri" pitchFamily="34" charset="-122"/>
                <a:cs typeface="Calibri" pitchFamily="34" charset="-120"/>
              </a:rPr>
              <a:t>Union leaders like Gompers and Debs; employers and Pinkertons; and courts and government that often intervened on management’s side.</a:t>
            </a:r>
            <a:endParaRPr lang="en-US" sz="1200" dirty="0"/>
          </a:p>
        </p:txBody>
      </p:sp>
      <p:sp>
        <p:nvSpPr>
          <p:cNvPr id="23" name="Text 21"/>
          <p:cNvSpPr/>
          <p:nvPr/>
        </p:nvSpPr>
        <p:spPr>
          <a:xfrm>
            <a:off x="457200" y="6126480"/>
            <a:ext cx="10972800" cy="274320"/>
          </a:xfrm>
          <a:prstGeom prst="rect">
            <a:avLst/>
          </a:prstGeom>
          <a:noFill/>
          <a:ln/>
        </p:spPr>
        <p:txBody>
          <a:bodyPr wrap="square" rtlCol="0" anchor="ctr"/>
          <a:lstStyle/>
          <a:p>
            <a:pPr indent="0" marL="0">
              <a:buNone/>
            </a:pPr>
            <a:r>
              <a:rPr lang="en-US" sz="1000" i="1" dirty="0">
                <a:solidFill>
                  <a:srgbClr val="C7D4E0"/>
                </a:solidFill>
                <a:latin typeface="Trebuchet MS" pitchFamily="34" charset="0"/>
                <a:ea typeface="Trebuchet MS" pitchFamily="34" charset="-122"/>
                <a:cs typeface="Trebuchet MS" pitchFamily="34" charset="-120"/>
              </a:rPr>
              <a:t>Anchor: Gompers, “What Does Labor Want?” 1893 (Library of Congress)</a:t>
            </a:r>
            <a:endParaRPr lang="en-US" sz="1000" dirty="0"/>
          </a:p>
        </p:txBody>
      </p:sp>
      <p:sp>
        <p:nvSpPr>
          <p:cNvPr id="24" name="Text 22"/>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5" name="Text 23"/>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25</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1A2332"/>
        </a:solidFill>
      </p:bgPr>
    </p:bg>
    <p:spTree>
      <p:nvGrpSpPr>
        <p:cNvPr id="1" name=""/>
        <p:cNvGrpSpPr/>
        <p:nvPr/>
      </p:nvGrpSpPr>
      <p:grpSpPr>
        <a:xfrm>
          <a:off x="0" y="0"/>
          <a:ext cx="0" cy="0"/>
          <a:chOff x="0" y="0"/>
          <a:chExt cx="0" cy="0"/>
        </a:xfrm>
      </p:grpSpPr>
      <p:sp>
        <p:nvSpPr>
          <p:cNvPr id="2" name="Shape 0"/>
          <p:cNvSpPr/>
          <p:nvPr/>
        </p:nvSpPr>
        <p:spPr>
          <a:xfrm>
            <a:off x="0" y="2331720"/>
            <a:ext cx="12191695" cy="73152"/>
          </a:xfrm>
          <a:prstGeom prst="rect">
            <a:avLst/>
          </a:prstGeom>
          <a:solidFill>
            <a:srgbClr val="C9A84C"/>
          </a:solidFill>
          <a:ln/>
        </p:spPr>
        <p:txBody>
          <a:bodyPr/>
          <a:p/>
        </p:txBody>
      </p:sp>
      <p:sp>
        <p:nvSpPr>
          <p:cNvPr id="3" name="Text 1"/>
          <p:cNvSpPr/>
          <p:nvPr/>
        </p:nvSpPr>
        <p:spPr>
          <a:xfrm>
            <a:off x="457200" y="548640"/>
            <a:ext cx="2926080" cy="1188720"/>
          </a:xfrm>
          <a:prstGeom prst="rect">
            <a:avLst/>
          </a:prstGeom>
          <a:noFill/>
          <a:ln/>
        </p:spPr>
        <p:txBody>
          <a:bodyPr wrap="square" rtlCol="0" anchor="ctr"/>
          <a:lstStyle/>
          <a:p>
            <a:pPr indent="0" marL="0">
              <a:buNone/>
            </a:pPr>
            <a:r>
              <a:rPr lang="en-US" sz="6000" b="1" dirty="0">
                <a:solidFill>
                  <a:srgbClr val="C9A84C"/>
                </a:solidFill>
                <a:latin typeface="Georgia" pitchFamily="34" charset="0"/>
                <a:ea typeface="Georgia" pitchFamily="34" charset="-122"/>
                <a:cs typeface="Georgia" pitchFamily="34" charset="-120"/>
              </a:rPr>
              <a:t>US.12</a:t>
            </a:r>
            <a:endParaRPr lang="en-US" sz="6000" dirty="0"/>
          </a:p>
        </p:txBody>
      </p:sp>
      <p:sp>
        <p:nvSpPr>
          <p:cNvPr id="4" name="Text 2"/>
          <p:cNvSpPr/>
          <p:nvPr/>
        </p:nvSpPr>
        <p:spPr>
          <a:xfrm>
            <a:off x="3474720" y="548640"/>
            <a:ext cx="8229600" cy="1188720"/>
          </a:xfrm>
          <a:prstGeom prst="rect">
            <a:avLst/>
          </a:prstGeom>
          <a:noFill/>
          <a:ln/>
        </p:spPr>
        <p:txBody>
          <a:bodyPr wrap="square" rtlCol="0" anchor="ctr"/>
          <a:lstStyle/>
          <a:p>
            <a:pPr indent="0" marL="0">
              <a:buNone/>
            </a:pPr>
            <a:r>
              <a:rPr lang="en-US" sz="2600" b="1" dirty="0">
                <a:solidFill>
                  <a:srgbClr val="FFFFFF"/>
                </a:solidFill>
                <a:latin typeface="Georgia" pitchFamily="34" charset="0"/>
                <a:ea typeface="Georgia" pitchFamily="34" charset="-122"/>
                <a:cs typeface="Georgia" pitchFamily="34" charset="-120"/>
              </a:rPr>
              <a:t>Trusts, Monopolies &amp; Antitrust</a:t>
            </a:r>
            <a:endParaRPr lang="en-US" sz="2600" dirty="0"/>
          </a:p>
        </p:txBody>
      </p:sp>
      <p:sp>
        <p:nvSpPr>
          <p:cNvPr id="5" name="Text 3"/>
          <p:cNvSpPr/>
          <p:nvPr/>
        </p:nvSpPr>
        <p:spPr>
          <a:xfrm>
            <a:off x="457200" y="2651760"/>
            <a:ext cx="11247120" cy="274320"/>
          </a:xfrm>
          <a:prstGeom prst="rect">
            <a:avLst/>
          </a:prstGeom>
          <a:noFill/>
          <a:ln/>
        </p:spPr>
        <p:txBody>
          <a:bodyPr wrap="square" rtlCol="0" anchor="ctr"/>
          <a:lstStyle/>
          <a:p>
            <a:pPr indent="0" marL="0">
              <a:buNone/>
            </a:pPr>
            <a:r>
              <a:rPr lang="en-US" sz="1200" b="1" spc="200" kern="0" dirty="0">
                <a:solidFill>
                  <a:srgbClr val="C9A84C"/>
                </a:solidFill>
                <a:latin typeface="Trebuchet MS" pitchFamily="34" charset="0"/>
                <a:ea typeface="Trebuchet MS" pitchFamily="34" charset="-122"/>
                <a:cs typeface="Trebuchet MS" pitchFamily="34" charset="-120"/>
              </a:rPr>
              <a:t>TN STANDARD</a:t>
            </a:r>
            <a:endParaRPr lang="en-US" sz="1200" dirty="0"/>
          </a:p>
        </p:txBody>
      </p:sp>
      <p:sp>
        <p:nvSpPr>
          <p:cNvPr id="6" name="Text 4"/>
          <p:cNvSpPr/>
          <p:nvPr/>
        </p:nvSpPr>
        <p:spPr>
          <a:xfrm>
            <a:off x="457200" y="2999232"/>
            <a:ext cx="11247120" cy="1691640"/>
          </a:xfrm>
          <a:prstGeom prst="rect">
            <a:avLst/>
          </a:prstGeom>
          <a:noFill/>
          <a:ln/>
        </p:spPr>
        <p:txBody>
          <a:bodyPr wrap="square" rtlCol="0" anchor="t"/>
          <a:lstStyle/>
          <a:p>
            <a:pPr indent="0" marL="0">
              <a:lnSpc>
                <a:spcPct val="105000"/>
              </a:lnSpc>
              <a:buNone/>
            </a:pPr>
            <a:r>
              <a:rPr lang="en-US" sz="1600" dirty="0">
                <a:solidFill>
                  <a:srgbClr val="C7D4E0"/>
                </a:solidFill>
                <a:latin typeface="Calibri" pitchFamily="34" charset="0"/>
                <a:ea typeface="Calibri" pitchFamily="34" charset="-122"/>
                <a:cs typeface="Calibri" pitchFamily="34" charset="-120"/>
              </a:rPr>
              <a:t>US.12 – Describe the rise of trusts and monopolies, their impact on consumers and workers, and the government's response, including the Sherman Antitrust Act of 1890 and the Clayton Antitrust Act of 1914.</a:t>
            </a:r>
            <a:endParaRPr lang="en-US" sz="1600" dirty="0"/>
          </a:p>
        </p:txBody>
      </p:sp>
      <p:sp>
        <p:nvSpPr>
          <p:cNvPr id="7" name="Shape 5"/>
          <p:cNvSpPr/>
          <p:nvPr/>
        </p:nvSpPr>
        <p:spPr>
          <a:xfrm>
            <a:off x="457200" y="4892040"/>
            <a:ext cx="11247120" cy="1234440"/>
          </a:xfrm>
          <a:prstGeom prst="rect">
            <a:avLst/>
          </a:prstGeom>
          <a:solidFill>
            <a:srgbClr val="C9A84C"/>
          </a:solidFill>
          <a:ln/>
        </p:spPr>
      </p:sp>
      <p:sp>
        <p:nvSpPr>
          <p:cNvPr id="8" name="Text 6"/>
          <p:cNvSpPr/>
          <p:nvPr/>
        </p:nvSpPr>
        <p:spPr>
          <a:xfrm>
            <a:off x="640080" y="5029200"/>
            <a:ext cx="10972800" cy="274320"/>
          </a:xfrm>
          <a:prstGeom prst="rect">
            <a:avLst/>
          </a:prstGeom>
          <a:noFill/>
          <a:ln/>
        </p:spPr>
        <p:txBody>
          <a:bodyPr wrap="square" rtlCol="0" anchor="ctr"/>
          <a:lstStyle/>
          <a:p>
            <a:pPr indent="0" marL="0">
              <a:buNone/>
            </a:pPr>
            <a:r>
              <a:rPr lang="en-US" sz="1200" b="1" spc="200" kern="0" dirty="0">
                <a:solidFill>
                  <a:srgbClr val="1A2332"/>
                </a:solidFill>
                <a:latin typeface="Trebuchet MS" pitchFamily="34" charset="0"/>
                <a:ea typeface="Trebuchet MS" pitchFamily="34" charset="-122"/>
                <a:cs typeface="Trebuchet MS" pitchFamily="34" charset="-120"/>
              </a:rPr>
              <a:t>I CAN</a:t>
            </a:r>
            <a:endParaRPr lang="en-US" sz="1200" dirty="0"/>
          </a:p>
        </p:txBody>
      </p:sp>
      <p:sp>
        <p:nvSpPr>
          <p:cNvPr id="9" name="Text 7"/>
          <p:cNvSpPr/>
          <p:nvPr/>
        </p:nvSpPr>
        <p:spPr>
          <a:xfrm>
            <a:off x="640080" y="5303520"/>
            <a:ext cx="10881360" cy="749808"/>
          </a:xfrm>
          <a:prstGeom prst="rect">
            <a:avLst/>
          </a:prstGeom>
          <a:noFill/>
          <a:ln/>
        </p:spPr>
        <p:txBody>
          <a:bodyPr wrap="square" rtlCol="0" anchor="t"/>
          <a:lstStyle/>
          <a:p>
            <a:pPr indent="0" marL="0">
              <a:buNone/>
            </a:pPr>
            <a:r>
              <a:rPr lang="en-US" sz="1400" b="1" dirty="0">
                <a:solidFill>
                  <a:srgbClr val="1A2332"/>
                </a:solidFill>
                <a:latin typeface="Calibri" pitchFamily="34" charset="0"/>
                <a:ea typeface="Calibri" pitchFamily="34" charset="-122"/>
                <a:cs typeface="Calibri" pitchFamily="34" charset="-120"/>
              </a:rPr>
              <a:t>I can describe the rise of trusts and monopolies, their impact on consumers and workers, and the government's response including the Sherman Antitrust Act (1890) and the Clayton Antitrust Act (1914).</a:t>
            </a:r>
            <a:endParaRPr lang="en-US" sz="1400" dirty="0"/>
          </a:p>
        </p:txBody>
      </p:sp>
      <p:sp>
        <p:nvSpPr>
          <p:cNvPr id="10" name="Text 8"/>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1" name="Text 9"/>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26</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737360"/>
          </a:xfrm>
          <a:prstGeom prst="rect">
            <a:avLst/>
          </a:prstGeom>
          <a:solidFill>
            <a:srgbClr val="1A2332"/>
          </a:solidFill>
          <a:ln/>
        </p:spPr>
        <p:txBody>
          <a:bodyPr/>
          <a:p/>
        </p:txBody>
      </p:sp>
      <p:sp>
        <p:nvSpPr>
          <p:cNvPr id="3" name="Shape 1"/>
          <p:cNvSpPr/>
          <p:nvPr/>
        </p:nvSpPr>
        <p:spPr>
          <a:xfrm>
            <a:off x="0" y="1737360"/>
            <a:ext cx="12191695" cy="54864"/>
          </a:xfrm>
          <a:prstGeom prst="rect">
            <a:avLst/>
          </a:prstGeom>
          <a:solidFill>
            <a:srgbClr val="C9A84C"/>
          </a:solidFill>
          <a:ln/>
        </p:spPr>
        <p:txBody>
          <a:bodyPr/>
          <a:p/>
        </p:txBody>
      </p:sp>
      <p:sp>
        <p:nvSpPr>
          <p:cNvPr id="4" name="Text 2"/>
          <p:cNvSpPr/>
          <p:nvPr/>
        </p:nvSpPr>
        <p:spPr>
          <a:xfrm>
            <a:off x="457200" y="320040"/>
            <a:ext cx="3291840" cy="365760"/>
          </a:xfrm>
          <a:prstGeom prst="rect">
            <a:avLst/>
          </a:prstGeom>
          <a:solidFill>
            <a:srgbClr val="00285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DIRECT INSTRUCTION</a:t>
            </a:r>
            <a:endParaRPr lang="en-US" sz="1100" dirty="0"/>
          </a:p>
        </p:txBody>
      </p:sp>
      <p:sp>
        <p:nvSpPr>
          <p:cNvPr id="5" name="Text 3"/>
          <p:cNvSpPr/>
          <p:nvPr/>
        </p:nvSpPr>
        <p:spPr>
          <a:xfrm>
            <a:off x="3886200" y="32004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US.12</a:t>
            </a:r>
            <a:endParaRPr lang="en-US" sz="1200" dirty="0"/>
          </a:p>
        </p:txBody>
      </p:sp>
      <p:sp>
        <p:nvSpPr>
          <p:cNvPr id="6" name="Text 4"/>
          <p:cNvSpPr/>
          <p:nvPr/>
        </p:nvSpPr>
        <p:spPr>
          <a:xfrm>
            <a:off x="457200" y="777240"/>
            <a:ext cx="11247120" cy="868680"/>
          </a:xfrm>
          <a:prstGeom prst="rect">
            <a:avLst/>
          </a:prstGeom>
          <a:noFill/>
          <a:ln/>
        </p:spPr>
        <p:txBody>
          <a:bodyPr wrap="square" rtlCol="0" anchor="ctr"/>
          <a:lstStyle/>
          <a:p>
            <a:pPr algn="l" indent="0" marL="0">
              <a:buNone/>
            </a:pPr>
            <a:r>
              <a:rPr lang="en-US" sz="2300" b="1" dirty="0">
                <a:solidFill>
                  <a:srgbClr val="FFFFFF"/>
                </a:solidFill>
                <a:latin typeface="Georgia" pitchFamily="34" charset="0"/>
                <a:ea typeface="Georgia" pitchFamily="34" charset="-122"/>
                <a:cs typeface="Georgia" pitchFamily="34" charset="-120"/>
              </a:rPr>
              <a:t>Trusts let a board of trustees control an entire industry — Rockefeller’s Standard Oil refined 90% of America’s oil.</a:t>
            </a:r>
            <a:endParaRPr lang="en-US" sz="2300" dirty="0"/>
          </a:p>
        </p:txBody>
      </p:sp>
      <p:pic>
        <p:nvPicPr>
          <p:cNvPr id="7" name="Image 0" descr="hh-web/public/images/textbook/unit-2/standard-oil-octopus-next-1904.jpg">    </p:cNvPr>
          <p:cNvPicPr>
            <a:picLocks noChangeAspect="1"/>
          </p:cNvPicPr>
          <p:nvPr/>
        </p:nvPicPr>
        <p:blipFill>
          <a:blip r:embed="rId1"/>
          <a:srcRect l="0" r="0" t="0" b="0"/>
          <a:stretch/>
        </p:blipFill>
        <p:spPr>
          <a:xfrm>
            <a:off x="2743200" y="2057400"/>
            <a:ext cx="6702552" cy="4160520"/>
          </a:xfrm>
          <a:prstGeom prst="rect">
            <a:avLst/>
          </a:prstGeom>
        </p:spPr>
      </p:pic>
      <p:sp>
        <p:nvSpPr>
          <p:cNvPr id="8" name="Text 5"/>
          <p:cNvSpPr/>
          <p:nvPr/>
        </p:nvSpPr>
        <p:spPr>
          <a:xfrm>
            <a:off x="2743200" y="2103120"/>
            <a:ext cx="1188720" cy="292608"/>
          </a:xfrm>
          <a:prstGeom prst="rect">
            <a:avLst/>
          </a:prstGeom>
          <a:solidFill>
            <a:srgbClr val="F9A825"/>
          </a:solidFill>
          <a:ln/>
        </p:spPr>
        <p:txBody>
          <a:bodyPr wrap="square" rtlCol="0" anchor="ctr"/>
          <a:lstStyle/>
          <a:p>
            <a:pPr algn="ctr" indent="0" marL="0">
              <a:buNone/>
            </a:pPr>
            <a:r>
              <a:rPr lang="en-US" sz="900" b="1" spc="100" kern="0" dirty="0">
                <a:solidFill>
                  <a:srgbClr val="1A2332"/>
                </a:solidFill>
                <a:latin typeface="Trebuchet MS" pitchFamily="34" charset="0"/>
                <a:ea typeface="Trebuchet MS" pitchFamily="34" charset="-122"/>
                <a:cs typeface="Trebuchet MS" pitchFamily="34" charset="-120"/>
              </a:rPr>
              <a:t>ZOOM IN</a:t>
            </a:r>
            <a:endParaRPr lang="en-US" sz="900" dirty="0"/>
          </a:p>
        </p:txBody>
      </p:sp>
      <p:sp>
        <p:nvSpPr>
          <p:cNvPr id="9" name="Text 6"/>
          <p:cNvSpPr/>
          <p:nvPr/>
        </p:nvSpPr>
        <p:spPr>
          <a:xfrm>
            <a:off x="457200" y="6263640"/>
            <a:ext cx="8229600" cy="274320"/>
          </a:xfrm>
          <a:prstGeom prst="rect">
            <a:avLst/>
          </a:prstGeom>
          <a:noFill/>
          <a:ln/>
        </p:spPr>
        <p:txBody>
          <a:bodyPr wrap="square" rtlCol="0" anchor="ctr"/>
          <a:lstStyle/>
          <a:p>
            <a:pPr indent="0" marL="0">
              <a:buNone/>
            </a:pPr>
            <a:r>
              <a:rPr lang="en-US" sz="1000" i="1" dirty="0">
                <a:solidFill>
                  <a:srgbClr val="5C6470"/>
                </a:solidFill>
                <a:latin typeface="Trebuchet MS" pitchFamily="34" charset="0"/>
                <a:ea typeface="Trebuchet MS" pitchFamily="34" charset="-122"/>
                <a:cs typeface="Trebuchet MS" pitchFamily="34" charset="-120"/>
              </a:rPr>
              <a:t>US.12 · Rise of Trusts &amp; Monopolies</a:t>
            </a:r>
            <a:endParaRPr lang="en-US" sz="1000" dirty="0"/>
          </a:p>
        </p:txBody>
      </p:sp>
      <p:sp>
        <p:nvSpPr>
          <p:cNvPr id="10" name="Text 7"/>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1" name="Text 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27</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737360"/>
          </a:xfrm>
          <a:prstGeom prst="rect">
            <a:avLst/>
          </a:prstGeom>
          <a:solidFill>
            <a:srgbClr val="1A2332"/>
          </a:solidFill>
          <a:ln/>
        </p:spPr>
        <p:txBody>
          <a:bodyPr/>
          <a:p/>
        </p:txBody>
      </p:sp>
      <p:sp>
        <p:nvSpPr>
          <p:cNvPr id="3" name="Shape 1"/>
          <p:cNvSpPr/>
          <p:nvPr/>
        </p:nvSpPr>
        <p:spPr>
          <a:xfrm>
            <a:off x="0" y="1737360"/>
            <a:ext cx="12191695" cy="54864"/>
          </a:xfrm>
          <a:prstGeom prst="rect">
            <a:avLst/>
          </a:prstGeom>
          <a:solidFill>
            <a:srgbClr val="C9A84C"/>
          </a:solidFill>
          <a:ln/>
        </p:spPr>
        <p:txBody>
          <a:bodyPr/>
          <a:p/>
        </p:txBody>
      </p:sp>
      <p:sp>
        <p:nvSpPr>
          <p:cNvPr id="4" name="Text 2"/>
          <p:cNvSpPr/>
          <p:nvPr/>
        </p:nvSpPr>
        <p:spPr>
          <a:xfrm>
            <a:off x="457200" y="320040"/>
            <a:ext cx="3291840" cy="365760"/>
          </a:xfrm>
          <a:prstGeom prst="rect">
            <a:avLst/>
          </a:prstGeom>
          <a:solidFill>
            <a:srgbClr val="00285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DIRECT INSTRUCTION</a:t>
            </a:r>
            <a:endParaRPr lang="en-US" sz="1100" dirty="0"/>
          </a:p>
        </p:txBody>
      </p:sp>
      <p:sp>
        <p:nvSpPr>
          <p:cNvPr id="5" name="Text 3"/>
          <p:cNvSpPr/>
          <p:nvPr/>
        </p:nvSpPr>
        <p:spPr>
          <a:xfrm>
            <a:off x="3886200" y="32004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US.12</a:t>
            </a:r>
            <a:endParaRPr lang="en-US" sz="1200" dirty="0"/>
          </a:p>
        </p:txBody>
      </p:sp>
      <p:sp>
        <p:nvSpPr>
          <p:cNvPr id="6" name="Text 4"/>
          <p:cNvSpPr/>
          <p:nvPr/>
        </p:nvSpPr>
        <p:spPr>
          <a:xfrm>
            <a:off x="457200" y="777240"/>
            <a:ext cx="11247120" cy="868680"/>
          </a:xfrm>
          <a:prstGeom prst="rect">
            <a:avLst/>
          </a:prstGeom>
          <a:noFill/>
          <a:ln/>
        </p:spPr>
        <p:txBody>
          <a:bodyPr wrap="square" rtlCol="0" anchor="ctr"/>
          <a:lstStyle/>
          <a:p>
            <a:pPr algn="l" indent="0" marL="0">
              <a:buNone/>
            </a:pPr>
            <a:r>
              <a:rPr lang="en-US" sz="2300" b="1" dirty="0">
                <a:solidFill>
                  <a:srgbClr val="FFFFFF"/>
                </a:solidFill>
                <a:latin typeface="Georgia" pitchFamily="34" charset="0"/>
                <a:ea typeface="Georgia" pitchFamily="34" charset="-122"/>
                <a:cs typeface="Georgia" pitchFamily="34" charset="-120"/>
              </a:rPr>
              <a:t>Monopolies raised consumer prices and used predatory pricing to crush smaller competitors and suppress wages.</a:t>
            </a:r>
            <a:endParaRPr lang="en-US" sz="2300" dirty="0"/>
          </a:p>
        </p:txBody>
      </p:sp>
      <p:pic>
        <p:nvPicPr>
          <p:cNvPr id="7" name="Image 0" descr="hh-web/public/images/textbook/unit-2/rockefeller-john-d-portrait.jpg">    </p:cNvPr>
          <p:cNvPicPr>
            <a:picLocks noChangeAspect="1"/>
          </p:cNvPicPr>
          <p:nvPr/>
        </p:nvPicPr>
        <p:blipFill>
          <a:blip r:embed="rId1"/>
          <a:srcRect l="0" r="0" t="0" b="0"/>
          <a:stretch/>
        </p:blipFill>
        <p:spPr>
          <a:xfrm>
            <a:off x="2743200" y="2057400"/>
            <a:ext cx="6702552" cy="4160520"/>
          </a:xfrm>
          <a:prstGeom prst="rect">
            <a:avLst/>
          </a:prstGeom>
        </p:spPr>
      </p:pic>
      <p:sp>
        <p:nvSpPr>
          <p:cNvPr id="8" name="Text 5"/>
          <p:cNvSpPr/>
          <p:nvPr/>
        </p:nvSpPr>
        <p:spPr>
          <a:xfrm>
            <a:off x="2743200" y="2103120"/>
            <a:ext cx="1188720" cy="292608"/>
          </a:xfrm>
          <a:prstGeom prst="rect">
            <a:avLst/>
          </a:prstGeom>
          <a:solidFill>
            <a:srgbClr val="F9A825"/>
          </a:solidFill>
          <a:ln/>
        </p:spPr>
        <p:txBody>
          <a:bodyPr wrap="square" rtlCol="0" anchor="ctr"/>
          <a:lstStyle/>
          <a:p>
            <a:pPr algn="ctr" indent="0" marL="0">
              <a:buNone/>
            </a:pPr>
            <a:r>
              <a:rPr lang="en-US" sz="900" b="1" spc="100" kern="0" dirty="0">
                <a:solidFill>
                  <a:srgbClr val="1A2332"/>
                </a:solidFill>
                <a:latin typeface="Trebuchet MS" pitchFamily="34" charset="0"/>
                <a:ea typeface="Trebuchet MS" pitchFamily="34" charset="-122"/>
                <a:cs typeface="Trebuchet MS" pitchFamily="34" charset="-120"/>
              </a:rPr>
              <a:t>ZOOM IN</a:t>
            </a:r>
            <a:endParaRPr lang="en-US" sz="900" dirty="0"/>
          </a:p>
        </p:txBody>
      </p:sp>
      <p:sp>
        <p:nvSpPr>
          <p:cNvPr id="9" name="Text 6"/>
          <p:cNvSpPr/>
          <p:nvPr/>
        </p:nvSpPr>
        <p:spPr>
          <a:xfrm>
            <a:off x="457200" y="6263640"/>
            <a:ext cx="8229600" cy="274320"/>
          </a:xfrm>
          <a:prstGeom prst="rect">
            <a:avLst/>
          </a:prstGeom>
          <a:noFill/>
          <a:ln/>
        </p:spPr>
        <p:txBody>
          <a:bodyPr wrap="square" rtlCol="0" anchor="ctr"/>
          <a:lstStyle/>
          <a:p>
            <a:pPr indent="0" marL="0">
              <a:buNone/>
            </a:pPr>
            <a:r>
              <a:rPr lang="en-US" sz="1000" i="1" dirty="0">
                <a:solidFill>
                  <a:srgbClr val="5C6470"/>
                </a:solidFill>
                <a:latin typeface="Trebuchet MS" pitchFamily="34" charset="0"/>
                <a:ea typeface="Trebuchet MS" pitchFamily="34" charset="-122"/>
                <a:cs typeface="Trebuchet MS" pitchFamily="34" charset="-120"/>
              </a:rPr>
              <a:t>US.12 · Impact on Consumers, Workers &amp; Competition</a:t>
            </a:r>
            <a:endParaRPr lang="en-US" sz="1000" dirty="0"/>
          </a:p>
        </p:txBody>
      </p:sp>
      <p:sp>
        <p:nvSpPr>
          <p:cNvPr id="10" name="Text 7"/>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1" name="Text 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28</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737360"/>
          </a:xfrm>
          <a:prstGeom prst="rect">
            <a:avLst/>
          </a:prstGeom>
          <a:solidFill>
            <a:srgbClr val="1A2332"/>
          </a:solidFill>
          <a:ln/>
        </p:spPr>
        <p:txBody>
          <a:bodyPr/>
          <a:p/>
        </p:txBody>
      </p:sp>
      <p:sp>
        <p:nvSpPr>
          <p:cNvPr id="3" name="Shape 1"/>
          <p:cNvSpPr/>
          <p:nvPr/>
        </p:nvSpPr>
        <p:spPr>
          <a:xfrm>
            <a:off x="0" y="1737360"/>
            <a:ext cx="12191695" cy="54864"/>
          </a:xfrm>
          <a:prstGeom prst="rect">
            <a:avLst/>
          </a:prstGeom>
          <a:solidFill>
            <a:srgbClr val="C9A84C"/>
          </a:solidFill>
          <a:ln/>
        </p:spPr>
        <p:txBody>
          <a:bodyPr/>
          <a:p/>
        </p:txBody>
      </p:sp>
      <p:sp>
        <p:nvSpPr>
          <p:cNvPr id="4" name="Text 2"/>
          <p:cNvSpPr/>
          <p:nvPr/>
        </p:nvSpPr>
        <p:spPr>
          <a:xfrm>
            <a:off x="457200" y="320040"/>
            <a:ext cx="3291840" cy="365760"/>
          </a:xfrm>
          <a:prstGeom prst="rect">
            <a:avLst/>
          </a:prstGeom>
          <a:solidFill>
            <a:srgbClr val="00285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DIRECT INSTRUCTION</a:t>
            </a:r>
            <a:endParaRPr lang="en-US" sz="1100" dirty="0"/>
          </a:p>
        </p:txBody>
      </p:sp>
      <p:sp>
        <p:nvSpPr>
          <p:cNvPr id="5" name="Text 3"/>
          <p:cNvSpPr/>
          <p:nvPr/>
        </p:nvSpPr>
        <p:spPr>
          <a:xfrm>
            <a:off x="3886200" y="32004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US.12</a:t>
            </a:r>
            <a:endParaRPr lang="en-US" sz="1200" dirty="0"/>
          </a:p>
        </p:txBody>
      </p:sp>
      <p:sp>
        <p:nvSpPr>
          <p:cNvPr id="6" name="Text 4"/>
          <p:cNvSpPr/>
          <p:nvPr/>
        </p:nvSpPr>
        <p:spPr>
          <a:xfrm>
            <a:off x="457200" y="777240"/>
            <a:ext cx="11247120" cy="868680"/>
          </a:xfrm>
          <a:prstGeom prst="rect">
            <a:avLst/>
          </a:prstGeom>
          <a:noFill/>
          <a:ln/>
        </p:spPr>
        <p:txBody>
          <a:bodyPr wrap="square" rtlCol="0" anchor="ctr"/>
          <a:lstStyle/>
          <a:p>
            <a:pPr algn="l" indent="0" marL="0">
              <a:buNone/>
            </a:pPr>
            <a:r>
              <a:rPr lang="en-US" sz="2300" b="1" dirty="0">
                <a:solidFill>
                  <a:srgbClr val="FFFFFF"/>
                </a:solidFill>
                <a:latin typeface="Georgia" pitchFamily="34" charset="0"/>
                <a:ea typeface="Georgia" pitchFamily="34" charset="-122"/>
                <a:cs typeface="Georgia" pitchFamily="34" charset="-120"/>
              </a:rPr>
              <a:t>The Sherman Antitrust Act (1890) outlawed “restraint of trade,” and the Clayton Act (1914) closed loopholes — banning price discrimination and protecting unions.</a:t>
            </a:r>
            <a:endParaRPr lang="en-US" sz="2300" dirty="0"/>
          </a:p>
        </p:txBody>
      </p:sp>
      <p:pic>
        <p:nvPicPr>
          <p:cNvPr id="7" name="Image 0" descr="hh-web/public/images/textbook/unit-2/roosevelt-big-stick-trusts-1905.jpg">    </p:cNvPr>
          <p:cNvPicPr>
            <a:picLocks noChangeAspect="1"/>
          </p:cNvPicPr>
          <p:nvPr/>
        </p:nvPicPr>
        <p:blipFill>
          <a:blip r:embed="rId1"/>
          <a:srcRect l="0" r="0" t="0" b="0"/>
          <a:stretch/>
        </p:blipFill>
        <p:spPr>
          <a:xfrm>
            <a:off x="2743200" y="2057400"/>
            <a:ext cx="6702552" cy="4160520"/>
          </a:xfrm>
          <a:prstGeom prst="rect">
            <a:avLst/>
          </a:prstGeom>
        </p:spPr>
      </p:pic>
      <p:sp>
        <p:nvSpPr>
          <p:cNvPr id="8" name="Text 5"/>
          <p:cNvSpPr/>
          <p:nvPr/>
        </p:nvSpPr>
        <p:spPr>
          <a:xfrm>
            <a:off x="2743200" y="2103120"/>
            <a:ext cx="1188720" cy="292608"/>
          </a:xfrm>
          <a:prstGeom prst="rect">
            <a:avLst/>
          </a:prstGeom>
          <a:solidFill>
            <a:srgbClr val="F9A825"/>
          </a:solidFill>
          <a:ln/>
        </p:spPr>
        <p:txBody>
          <a:bodyPr wrap="square" rtlCol="0" anchor="ctr"/>
          <a:lstStyle/>
          <a:p>
            <a:pPr algn="ctr" indent="0" marL="0">
              <a:buNone/>
            </a:pPr>
            <a:r>
              <a:rPr lang="en-US" sz="900" b="1" spc="100" kern="0" dirty="0">
                <a:solidFill>
                  <a:srgbClr val="1A2332"/>
                </a:solidFill>
                <a:latin typeface="Trebuchet MS" pitchFamily="34" charset="0"/>
                <a:ea typeface="Trebuchet MS" pitchFamily="34" charset="-122"/>
                <a:cs typeface="Trebuchet MS" pitchFamily="34" charset="-120"/>
              </a:rPr>
              <a:t>ZOOM IN</a:t>
            </a:r>
            <a:endParaRPr lang="en-US" sz="900" dirty="0"/>
          </a:p>
        </p:txBody>
      </p:sp>
      <p:sp>
        <p:nvSpPr>
          <p:cNvPr id="9" name="Text 6"/>
          <p:cNvSpPr/>
          <p:nvPr/>
        </p:nvSpPr>
        <p:spPr>
          <a:xfrm>
            <a:off x="457200" y="6263640"/>
            <a:ext cx="8229600" cy="274320"/>
          </a:xfrm>
          <a:prstGeom prst="rect">
            <a:avLst/>
          </a:prstGeom>
          <a:noFill/>
          <a:ln/>
        </p:spPr>
        <p:txBody>
          <a:bodyPr wrap="square" rtlCol="0" anchor="ctr"/>
          <a:lstStyle/>
          <a:p>
            <a:pPr indent="0" marL="0">
              <a:buNone/>
            </a:pPr>
            <a:r>
              <a:rPr lang="en-US" sz="1000" i="1" dirty="0">
                <a:solidFill>
                  <a:srgbClr val="5C6470"/>
                </a:solidFill>
                <a:latin typeface="Trebuchet MS" pitchFamily="34" charset="0"/>
                <a:ea typeface="Trebuchet MS" pitchFamily="34" charset="-122"/>
                <a:cs typeface="Trebuchet MS" pitchFamily="34" charset="-120"/>
              </a:rPr>
              <a:t>US.12 · Sherman (1890) &amp; Clayton (1914)</a:t>
            </a:r>
            <a:endParaRPr lang="en-US" sz="1000" dirty="0"/>
          </a:p>
        </p:txBody>
      </p:sp>
      <p:sp>
        <p:nvSpPr>
          <p:cNvPr id="10" name="Text 7"/>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1" name="Text 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29</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554480"/>
          </a:xfrm>
          <a:prstGeom prst="rect">
            <a:avLst/>
          </a:prstGeom>
          <a:solidFill>
            <a:srgbClr val="002858"/>
          </a:solidFill>
          <a:ln/>
        </p:spPr>
        <p:txBody>
          <a:bodyPr/>
          <a:p/>
        </p:txBody>
      </p:sp>
      <p:sp>
        <p:nvSpPr>
          <p:cNvPr id="3" name="Shape 1"/>
          <p:cNvSpPr/>
          <p:nvPr/>
        </p:nvSpPr>
        <p:spPr>
          <a:xfrm>
            <a:off x="0" y="1554480"/>
            <a:ext cx="12191695" cy="54864"/>
          </a:xfrm>
          <a:prstGeom prst="rect">
            <a:avLst/>
          </a:prstGeom>
          <a:solidFill>
            <a:srgbClr val="C9A84C"/>
          </a:solidFill>
          <a:ln/>
        </p:spPr>
        <p:txBody>
          <a:bodyPr/>
          <a:p/>
        </p:txBody>
      </p:sp>
      <p:sp>
        <p:nvSpPr>
          <p:cNvPr id="4" name="Text 2"/>
          <p:cNvSpPr/>
          <p:nvPr/>
        </p:nvSpPr>
        <p:spPr>
          <a:xfrm>
            <a:off x="457200" y="274320"/>
            <a:ext cx="3291840" cy="365760"/>
          </a:xfrm>
          <a:prstGeom prst="rect">
            <a:avLst/>
          </a:prstGeom>
          <a:solidFill>
            <a:srgbClr val="C6282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SOURCE IT FIRST</a:t>
            </a:r>
            <a:endParaRPr lang="en-US" sz="1100" dirty="0"/>
          </a:p>
        </p:txBody>
      </p:sp>
      <p:sp>
        <p:nvSpPr>
          <p:cNvPr id="5" name="Text 3"/>
          <p:cNvSpPr/>
          <p:nvPr/>
        </p:nvSpPr>
        <p:spPr>
          <a:xfrm>
            <a:off x="3886200" y="27432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US.12</a:t>
            </a:r>
            <a:endParaRPr lang="en-US" sz="1200" dirty="0"/>
          </a:p>
        </p:txBody>
      </p:sp>
      <p:sp>
        <p:nvSpPr>
          <p:cNvPr id="6" name="Text 4"/>
          <p:cNvSpPr/>
          <p:nvPr/>
        </p:nvSpPr>
        <p:spPr>
          <a:xfrm>
            <a:off x="457200" y="713232"/>
            <a:ext cx="11247120" cy="777240"/>
          </a:xfrm>
          <a:prstGeom prst="rect">
            <a:avLst/>
          </a:prstGeom>
          <a:noFill/>
          <a:ln/>
        </p:spPr>
        <p:txBody>
          <a:bodyPr wrap="square" rtlCol="0" anchor="ctr"/>
          <a:lstStyle/>
          <a:p>
            <a:pPr indent="0" marL="0">
              <a:buNone/>
            </a:pPr>
            <a:r>
              <a:rPr lang="en-US" sz="2000" b="1" dirty="0">
                <a:solidFill>
                  <a:srgbClr val="FFFFFF"/>
                </a:solidFill>
                <a:latin typeface="Georgia" pitchFamily="34" charset="0"/>
                <a:ea typeface="Georgia" pitchFamily="34" charset="-122"/>
                <a:cs typeface="Georgia" pitchFamily="34" charset="-120"/>
              </a:rPr>
              <a:t>Read the Sherman Antitrust Act itself — the law’s wording reveals what Congress believed monopolies were doing to America.</a:t>
            </a:r>
            <a:endParaRPr lang="en-US" sz="2000" dirty="0"/>
          </a:p>
        </p:txBody>
      </p:sp>
      <p:sp>
        <p:nvSpPr>
          <p:cNvPr id="7" name="Text 5"/>
          <p:cNvSpPr/>
          <p:nvPr/>
        </p:nvSpPr>
        <p:spPr>
          <a:xfrm>
            <a:off x="457200" y="1783080"/>
            <a:ext cx="3566160" cy="320040"/>
          </a:xfrm>
          <a:prstGeom prst="rect">
            <a:avLst/>
          </a:prstGeom>
          <a:solidFill>
            <a:srgbClr val="1A2332"/>
          </a:solid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WHO</a:t>
            </a:r>
            <a:endParaRPr lang="en-US" sz="1200" dirty="0"/>
          </a:p>
        </p:txBody>
      </p:sp>
      <p:sp>
        <p:nvSpPr>
          <p:cNvPr id="8" name="Text 6"/>
          <p:cNvSpPr/>
          <p:nvPr/>
        </p:nvSpPr>
        <p:spPr>
          <a:xfrm>
            <a:off x="457200" y="2103120"/>
            <a:ext cx="3566160" cy="914400"/>
          </a:xfrm>
          <a:prstGeom prst="rect">
            <a:avLst/>
          </a:prstGeom>
          <a:solidFill>
            <a:srgbClr val="FFFFFF"/>
          </a:solidFill>
          <a:ln w="12700">
            <a:solidFill>
              <a:srgbClr val="DAD3C2"/>
            </a:solidFill>
          </a:ln>
        </p:spPr>
        <p:txBody>
          <a:bodyPr wrap="square" lIns="76200" tIns="76200" rIns="76200" bIns="76200" rtlCol="0" anchor="t"/>
          <a:lstStyle/>
          <a:p>
            <a:pPr algn="l" indent="0" marL="0">
              <a:buNone/>
            </a:pPr>
            <a:r>
              <a:rPr lang="en-US" sz="1200" dirty="0">
                <a:solidFill>
                  <a:srgbClr val="1F2430"/>
                </a:solidFill>
                <a:latin typeface="Calibri" pitchFamily="34" charset="0"/>
                <a:ea typeface="Calibri" pitchFamily="34" charset="-122"/>
                <a:cs typeface="Calibri" pitchFamily="34" charset="-120"/>
              </a:rPr>
              <a:t>U.S. Congress — a federal statute signed into law by President Harrison.</a:t>
            </a:r>
            <a:endParaRPr lang="en-US" sz="1200" dirty="0"/>
          </a:p>
        </p:txBody>
      </p:sp>
      <p:sp>
        <p:nvSpPr>
          <p:cNvPr id="9" name="Text 7"/>
          <p:cNvSpPr/>
          <p:nvPr/>
        </p:nvSpPr>
        <p:spPr>
          <a:xfrm>
            <a:off x="4251960" y="1783080"/>
            <a:ext cx="3566160" cy="320040"/>
          </a:xfrm>
          <a:prstGeom prst="rect">
            <a:avLst/>
          </a:prstGeom>
          <a:solidFill>
            <a:srgbClr val="1A2332"/>
          </a:solid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WHEN</a:t>
            </a:r>
            <a:endParaRPr lang="en-US" sz="1200" dirty="0"/>
          </a:p>
        </p:txBody>
      </p:sp>
      <p:sp>
        <p:nvSpPr>
          <p:cNvPr id="10" name="Text 8"/>
          <p:cNvSpPr/>
          <p:nvPr/>
        </p:nvSpPr>
        <p:spPr>
          <a:xfrm>
            <a:off x="4251960" y="2103120"/>
            <a:ext cx="3566160" cy="914400"/>
          </a:xfrm>
          <a:prstGeom prst="rect">
            <a:avLst/>
          </a:prstGeom>
          <a:solidFill>
            <a:srgbClr val="FFFFFF"/>
          </a:solidFill>
          <a:ln w="12700">
            <a:solidFill>
              <a:srgbClr val="DAD3C2"/>
            </a:solidFill>
          </a:ln>
        </p:spPr>
        <p:txBody>
          <a:bodyPr wrap="square" lIns="76200" tIns="76200" rIns="76200" bIns="76200" rtlCol="0" anchor="t"/>
          <a:lstStyle/>
          <a:p>
            <a:pPr algn="l" indent="0" marL="0">
              <a:buNone/>
            </a:pPr>
            <a:r>
              <a:rPr lang="en-US" sz="1200" dirty="0">
                <a:solidFill>
                  <a:srgbClr val="1F2430"/>
                </a:solidFill>
                <a:latin typeface="Calibri" pitchFamily="34" charset="0"/>
                <a:ea typeface="Calibri" pitchFamily="34" charset="-122"/>
                <a:cs typeface="Calibri" pitchFamily="34" charset="-120"/>
              </a:rPr>
              <a:t>1890, as Standard Oil controlled 90% of American oil refining and trusts dominated steel, sugar, and tobacco.</a:t>
            </a:r>
            <a:endParaRPr lang="en-US" sz="1200" dirty="0"/>
          </a:p>
        </p:txBody>
      </p:sp>
      <p:sp>
        <p:nvSpPr>
          <p:cNvPr id="11" name="Text 9"/>
          <p:cNvSpPr/>
          <p:nvPr/>
        </p:nvSpPr>
        <p:spPr>
          <a:xfrm>
            <a:off x="8046720" y="1783080"/>
            <a:ext cx="3566160" cy="320040"/>
          </a:xfrm>
          <a:prstGeom prst="rect">
            <a:avLst/>
          </a:prstGeom>
          <a:solidFill>
            <a:srgbClr val="1A2332"/>
          </a:solid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WHY</a:t>
            </a:r>
            <a:endParaRPr lang="en-US" sz="1200" dirty="0"/>
          </a:p>
        </p:txBody>
      </p:sp>
      <p:sp>
        <p:nvSpPr>
          <p:cNvPr id="12" name="Text 10"/>
          <p:cNvSpPr/>
          <p:nvPr/>
        </p:nvSpPr>
        <p:spPr>
          <a:xfrm>
            <a:off x="8046720" y="2103120"/>
            <a:ext cx="3566160" cy="914400"/>
          </a:xfrm>
          <a:prstGeom prst="rect">
            <a:avLst/>
          </a:prstGeom>
          <a:solidFill>
            <a:srgbClr val="FFFFFF"/>
          </a:solidFill>
          <a:ln w="12700">
            <a:solidFill>
              <a:srgbClr val="DAD3C2"/>
            </a:solidFill>
          </a:ln>
        </p:spPr>
        <p:txBody>
          <a:bodyPr wrap="square" lIns="76200" tIns="76200" rIns="76200" bIns="76200" rtlCol="0" anchor="t"/>
          <a:lstStyle/>
          <a:p>
            <a:pPr algn="l" indent="0" marL="0">
              <a:buNone/>
            </a:pPr>
            <a:r>
              <a:rPr lang="en-US" sz="1200" dirty="0">
                <a:solidFill>
                  <a:srgbClr val="1F2430"/>
                </a:solidFill>
                <a:latin typeface="Calibri" pitchFamily="34" charset="0"/>
                <a:ea typeface="Calibri" pitchFamily="34" charset="-122"/>
                <a:cs typeface="Calibri" pitchFamily="34" charset="-120"/>
              </a:rPr>
              <a:t>Federal laws reveal what Congress believed needed government protection — ask what harm they were trying to prevent.</a:t>
            </a:r>
            <a:endParaRPr lang="en-US" sz="1200" dirty="0"/>
          </a:p>
        </p:txBody>
      </p:sp>
      <p:sp>
        <p:nvSpPr>
          <p:cNvPr id="13" name="Shape 11"/>
          <p:cNvSpPr/>
          <p:nvPr/>
        </p:nvSpPr>
        <p:spPr>
          <a:xfrm>
            <a:off x="457200" y="3200400"/>
            <a:ext cx="5532120" cy="2651760"/>
          </a:xfrm>
          <a:prstGeom prst="rect">
            <a:avLst/>
          </a:prstGeom>
          <a:solidFill>
            <a:srgbClr val="FFFFFF"/>
          </a:solidFill>
          <a:ln w="19050">
            <a:solidFill>
              <a:srgbClr val="C9A84C"/>
            </a:solidFill>
            <a:prstDash val="solid"/>
          </a:ln>
        </p:spPr>
      </p:sp>
      <p:sp>
        <p:nvSpPr>
          <p:cNvPr id="14" name="Text 12"/>
          <p:cNvSpPr/>
          <p:nvPr/>
        </p:nvSpPr>
        <p:spPr>
          <a:xfrm>
            <a:off x="594360" y="3291840"/>
            <a:ext cx="5257800" cy="320040"/>
          </a:xfrm>
          <a:prstGeom prst="rect">
            <a:avLst/>
          </a:prstGeom>
          <a:noFill/>
          <a:ln/>
        </p:spPr>
        <p:txBody>
          <a:bodyPr wrap="square" rtlCol="0" anchor="ctr"/>
          <a:lstStyle/>
          <a:p>
            <a:pPr indent="0" marL="0">
              <a:buNone/>
            </a:pPr>
            <a:r>
              <a:rPr lang="en-US" sz="1400" b="1" dirty="0">
                <a:solidFill>
                  <a:srgbClr val="002858"/>
                </a:solidFill>
                <a:latin typeface="Georgia" pitchFamily="34" charset="0"/>
                <a:ea typeface="Georgia" pitchFamily="34" charset="-122"/>
                <a:cs typeface="Georgia" pitchFamily="34" charset="-120"/>
              </a:rPr>
              <a:t>Sherman Antitrust Act</a:t>
            </a:r>
            <a:endParaRPr lang="en-US" sz="1400" dirty="0"/>
          </a:p>
        </p:txBody>
      </p:sp>
      <p:sp>
        <p:nvSpPr>
          <p:cNvPr id="15" name="Text 13"/>
          <p:cNvSpPr/>
          <p:nvPr/>
        </p:nvSpPr>
        <p:spPr>
          <a:xfrm>
            <a:off x="594360" y="3611880"/>
            <a:ext cx="5257800" cy="274320"/>
          </a:xfrm>
          <a:prstGeom prst="rect">
            <a:avLst/>
          </a:prstGeom>
          <a:noFill/>
          <a:ln/>
        </p:spPr>
        <p:txBody>
          <a:bodyPr wrap="square" rtlCol="0" anchor="ctr"/>
          <a:lstStyle/>
          <a:p>
            <a:pPr indent="0" marL="0">
              <a:buNone/>
            </a:pPr>
            <a:r>
              <a:rPr lang="en-US" sz="900" i="1" dirty="0">
                <a:solidFill>
                  <a:srgbClr val="5C6470"/>
                </a:solidFill>
                <a:latin typeface="Trebuchet MS" pitchFamily="34" charset="0"/>
                <a:ea typeface="Trebuchet MS" pitchFamily="34" charset="-122"/>
                <a:cs typeface="Trebuchet MS" pitchFamily="34" charset="-120"/>
              </a:rPr>
              <a:t>U.S. Congress · 1890</a:t>
            </a:r>
            <a:endParaRPr lang="en-US" sz="900" dirty="0"/>
          </a:p>
        </p:txBody>
      </p:sp>
      <p:sp>
        <p:nvSpPr>
          <p:cNvPr id="16" name="Text 14"/>
          <p:cNvSpPr/>
          <p:nvPr/>
        </p:nvSpPr>
        <p:spPr>
          <a:xfrm>
            <a:off x="594360" y="3931920"/>
            <a:ext cx="5257800" cy="1600200"/>
          </a:xfrm>
          <a:prstGeom prst="rect">
            <a:avLst/>
          </a:prstGeom>
          <a:noFill/>
          <a:ln/>
        </p:spPr>
        <p:txBody>
          <a:bodyPr wrap="square" rtlCol="0" anchor="t"/>
          <a:lstStyle/>
          <a:p>
            <a:pPr indent="0" marL="0">
              <a:buNone/>
            </a:pPr>
            <a:r>
              <a:rPr lang="en-US" sz="1100" dirty="0">
                <a:solidFill>
                  <a:srgbClr val="1F2430"/>
                </a:solidFill>
                <a:latin typeface="Calibri" pitchFamily="34" charset="0"/>
                <a:ea typeface="Calibri" pitchFamily="34" charset="-122"/>
                <a:cs typeface="Calibri" pitchFamily="34" charset="-120"/>
              </a:rPr>
              <a:t>"Every contract, combination in the form of trust or otherwise, or conspiracy, in restraint of trade or commerce among the several States, or with foreign nations, is declared to be illegal... Every person who shall monopolize, or attempt to monopolize... any part of the trade or commerce among the several States... shall be deemed guilty of a felony."</a:t>
            </a:r>
            <a:endParaRPr lang="en-US" sz="1100" dirty="0"/>
          </a:p>
        </p:txBody>
      </p:sp>
      <p:sp>
        <p:nvSpPr>
          <p:cNvPr id="17" name="Text 15">
            <a:hlinkClick r:id="rId1" tooltip=""/>
          </p:cNvPr>
          <p:cNvSpPr/>
          <p:nvPr/>
        </p:nvSpPr>
        <p:spPr>
          <a:xfrm>
            <a:off x="594360" y="5532120"/>
            <a:ext cx="5257800" cy="256032"/>
          </a:xfrm>
          <a:prstGeom prst="rect">
            <a:avLst/>
          </a:prstGeom>
          <a:noFill/>
          <a:ln/>
        </p:spPr>
        <p:txBody>
          <a:bodyPr wrap="square" rtlCol="0" anchor="ctr"/>
          <a:lstStyle/>
          <a:p>
            <a:pPr indent="0" marL="0">
              <a:buNone/>
            </a:pPr>
            <a:r>
              <a:rPr lang="en-US" sz="900" u="sng" dirty="0">
                <a:solidFill>
                  <a:srgbClr val="002858"/>
                </a:solidFill>
                <a:latin typeface="Trebuchet MS" pitchFamily="34" charset="0"/>
                <a:ea typeface="Trebuchet MS" pitchFamily="34" charset="-122"/>
                <a:cs typeface="Trebuchet MS" pitchFamily="34" charset="-120"/>
                <a:hlinkClick r:id="rId1" invalidUrl="" action="" tgtFrame="" tooltip="" history="1" highlightClick="0" endSnd="0">
                  <a:extLst>
                    <a:ext uri="{A12FA001-AC4F-418D-AE19-62706E023703}">
                      <ahyp:hlinkClr xmlns:ahyp="http://schemas.microsoft.com/office/drawing/2018/hyperlinkcolor" val="tx"/>
                    </a:ext>
                  </a:extLst>
                </a:hlinkClick>
              </a:rPr>
              <a:t>National Archives</a:t>
            </a:r>
            <a:endParaRPr lang="en-US" sz="900" dirty="0"/>
          </a:p>
        </p:txBody>
      </p:sp>
      <p:sp>
        <p:nvSpPr>
          <p:cNvPr id="18" name="Text 16"/>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9" name="Text 17"/>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30</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1A2332"/>
        </a:solidFill>
      </p:bgPr>
    </p:bg>
    <p:spTree>
      <p:nvGrpSpPr>
        <p:cNvPr id="1" name=""/>
        <p:cNvGrpSpPr/>
        <p:nvPr/>
      </p:nvGrpSpPr>
      <p:grpSpPr>
        <a:xfrm>
          <a:off x="0" y="0"/>
          <a:ext cx="0" cy="0"/>
          <a:chOff x="0" y="0"/>
          <a:chExt cx="0" cy="0"/>
        </a:xfrm>
      </p:grpSpPr>
      <p:sp>
        <p:nvSpPr>
          <p:cNvPr id="2" name="Text 0"/>
          <p:cNvSpPr/>
          <p:nvPr/>
        </p:nvSpPr>
        <p:spPr>
          <a:xfrm>
            <a:off x="457200" y="274320"/>
            <a:ext cx="3291840" cy="365760"/>
          </a:xfrm>
          <a:prstGeom prst="rect">
            <a:avLst/>
          </a:prstGeom>
          <a:solidFill>
            <a:srgbClr val="C6282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THREE PERSPECTIVES</a:t>
            </a:r>
            <a:endParaRPr lang="en-US" sz="1100" dirty="0"/>
          </a:p>
        </p:txBody>
      </p:sp>
      <p:sp>
        <p:nvSpPr>
          <p:cNvPr id="3" name="Text 1"/>
          <p:cNvSpPr/>
          <p:nvPr/>
        </p:nvSpPr>
        <p:spPr>
          <a:xfrm>
            <a:off x="3886200" y="27432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US.12</a:t>
            </a:r>
            <a:endParaRPr lang="en-US" sz="1200" dirty="0"/>
          </a:p>
        </p:txBody>
      </p:sp>
      <p:sp>
        <p:nvSpPr>
          <p:cNvPr id="4" name="Text 2"/>
          <p:cNvSpPr/>
          <p:nvPr/>
        </p:nvSpPr>
        <p:spPr>
          <a:xfrm>
            <a:off x="457200" y="777240"/>
            <a:ext cx="11247120" cy="822960"/>
          </a:xfrm>
          <a:prstGeom prst="rect">
            <a:avLst/>
          </a:prstGeom>
          <a:noFill/>
          <a:ln/>
        </p:spPr>
        <p:txBody>
          <a:bodyPr wrap="square" rtlCol="0" anchor="ctr"/>
          <a:lstStyle/>
          <a:p>
            <a:pPr indent="0" marL="0">
              <a:buNone/>
            </a:pPr>
            <a:r>
              <a:rPr lang="en-US" sz="1700" i="1" dirty="0">
                <a:solidFill>
                  <a:srgbClr val="C7D4E0"/>
                </a:solidFill>
                <a:latin typeface="Georgia" pitchFamily="34" charset="0"/>
                <a:ea typeface="Georgia" pitchFamily="34" charset="-122"/>
                <a:cs typeface="Georgia" pitchFamily="34" charset="-120"/>
              </a:rPr>
              <a:t>A historian returns to three questions at the end of every reading. Use them to analyze this standard.</a:t>
            </a:r>
            <a:endParaRPr lang="en-US" sz="1700" dirty="0"/>
          </a:p>
        </p:txBody>
      </p:sp>
      <p:sp>
        <p:nvSpPr>
          <p:cNvPr id="5" name="Shape 3"/>
          <p:cNvSpPr/>
          <p:nvPr/>
        </p:nvSpPr>
        <p:spPr>
          <a:xfrm>
            <a:off x="457200" y="1783080"/>
            <a:ext cx="3566160" cy="4206240"/>
          </a:xfrm>
          <a:prstGeom prst="rect">
            <a:avLst/>
          </a:prstGeom>
          <a:solidFill>
            <a:srgbClr val="FFFFFF"/>
          </a:solidFill>
          <a:ln/>
        </p:spPr>
      </p:sp>
      <p:sp>
        <p:nvSpPr>
          <p:cNvPr id="6" name="Shape 4"/>
          <p:cNvSpPr/>
          <p:nvPr/>
        </p:nvSpPr>
        <p:spPr>
          <a:xfrm>
            <a:off x="457200" y="1783080"/>
            <a:ext cx="3566160" cy="548640"/>
          </a:xfrm>
          <a:prstGeom prst="rect">
            <a:avLst/>
          </a:prstGeom>
          <a:solidFill>
            <a:srgbClr val="1B5E20"/>
          </a:solidFill>
          <a:ln/>
        </p:spPr>
      </p:sp>
      <p:sp>
        <p:nvSpPr>
          <p:cNvPr id="7" name="Text 5"/>
          <p:cNvSpPr/>
          <p:nvPr/>
        </p:nvSpPr>
        <p:spPr>
          <a:xfrm>
            <a:off x="457200" y="1783080"/>
            <a:ext cx="3566160" cy="548640"/>
          </a:xfrm>
          <a:prstGeom prst="rect">
            <a:avLst/>
          </a:prstGeom>
          <a:noFill/>
          <a:ln/>
        </p:spPr>
        <p:txBody>
          <a:bodyPr wrap="square"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Who benefited?</a:t>
            </a:r>
            <a:endParaRPr lang="en-US" sz="1600" dirty="0"/>
          </a:p>
        </p:txBody>
      </p:sp>
      <p:sp>
        <p:nvSpPr>
          <p:cNvPr id="8" name="Text 6"/>
          <p:cNvSpPr/>
          <p:nvPr/>
        </p:nvSpPr>
        <p:spPr>
          <a:xfrm>
            <a:off x="594360" y="2423160"/>
            <a:ext cx="3291840" cy="868680"/>
          </a:xfrm>
          <a:prstGeom prst="rect">
            <a:avLst/>
          </a:prstGeom>
          <a:noFill/>
          <a:ln/>
        </p:spPr>
        <p:txBody>
          <a:bodyPr wrap="square" rtlCol="0" anchor="t"/>
          <a:lstStyle/>
          <a:p>
            <a:pPr indent="0" marL="0">
              <a:buNone/>
            </a:pPr>
            <a:r>
              <a:rPr lang="en-US" sz="1100" i="1" dirty="0">
                <a:solidFill>
                  <a:srgbClr val="5C6470"/>
                </a:solidFill>
                <a:latin typeface="Calibri" pitchFamily="34" charset="0"/>
                <a:ea typeface="Calibri" pitchFamily="34" charset="-122"/>
                <a:cs typeface="Calibri" pitchFamily="34" charset="-120"/>
              </a:rPr>
              <a:t>Who gained land, wealth, power, or protection?</a:t>
            </a:r>
            <a:endParaRPr lang="en-US" sz="1100" dirty="0"/>
          </a:p>
        </p:txBody>
      </p:sp>
      <p:sp>
        <p:nvSpPr>
          <p:cNvPr id="9" name="Text 7"/>
          <p:cNvSpPr/>
          <p:nvPr/>
        </p:nvSpPr>
        <p:spPr>
          <a:xfrm>
            <a:off x="594360" y="3291840"/>
            <a:ext cx="3291840" cy="274320"/>
          </a:xfrm>
          <a:prstGeom prst="rect">
            <a:avLst/>
          </a:prstGeom>
          <a:noFill/>
          <a:ln/>
        </p:spPr>
        <p:txBody>
          <a:bodyPr wrap="square" rtlCol="0" anchor="ctr"/>
          <a:lstStyle/>
          <a:p>
            <a:pPr indent="0" marL="0">
              <a:buNone/>
            </a:pPr>
            <a:r>
              <a:rPr lang="en-US" sz="1000" b="1" dirty="0">
                <a:solidFill>
                  <a:srgbClr val="8A6D1A"/>
                </a:solidFill>
                <a:latin typeface="Trebuchet MS" pitchFamily="34" charset="0"/>
                <a:ea typeface="Trebuchet MS" pitchFamily="34" charset="-122"/>
                <a:cs typeface="Trebuchet MS" pitchFamily="34" charset="-120"/>
              </a:rPr>
              <a:t>US.12:</a:t>
            </a:r>
            <a:endParaRPr lang="en-US" sz="1000" dirty="0"/>
          </a:p>
        </p:txBody>
      </p:sp>
      <p:sp>
        <p:nvSpPr>
          <p:cNvPr id="10" name="Text 8"/>
          <p:cNvSpPr/>
          <p:nvPr/>
        </p:nvSpPr>
        <p:spPr>
          <a:xfrm>
            <a:off x="594360" y="3566160"/>
            <a:ext cx="3291840" cy="2286000"/>
          </a:xfrm>
          <a:prstGeom prst="rect">
            <a:avLst/>
          </a:prstGeom>
          <a:noFill/>
          <a:ln/>
        </p:spPr>
        <p:txBody>
          <a:bodyPr wrap="square" rtlCol="0" anchor="t"/>
          <a:lstStyle/>
          <a:p>
            <a:pPr indent="0" marL="0">
              <a:buNone/>
            </a:pPr>
            <a:r>
              <a:rPr lang="en-US" sz="1200" dirty="0">
                <a:solidFill>
                  <a:srgbClr val="1F2430"/>
                </a:solidFill>
                <a:latin typeface="Calibri" pitchFamily="34" charset="0"/>
                <a:ea typeface="Calibri" pitchFamily="34" charset="-122"/>
                <a:cs typeface="Calibri" pitchFamily="34" charset="-120"/>
              </a:rPr>
              <a:t>Trust owners like Rockefeller who dominated industries and drove out rivals before regulation caught up.</a:t>
            </a:r>
            <a:endParaRPr lang="en-US" sz="1200" dirty="0"/>
          </a:p>
        </p:txBody>
      </p:sp>
      <p:sp>
        <p:nvSpPr>
          <p:cNvPr id="11" name="Shape 9"/>
          <p:cNvSpPr/>
          <p:nvPr/>
        </p:nvSpPr>
        <p:spPr>
          <a:xfrm>
            <a:off x="4251960" y="1783080"/>
            <a:ext cx="3566160" cy="4206240"/>
          </a:xfrm>
          <a:prstGeom prst="rect">
            <a:avLst/>
          </a:prstGeom>
          <a:solidFill>
            <a:srgbClr val="FFFFFF"/>
          </a:solidFill>
          <a:ln/>
        </p:spPr>
      </p:sp>
      <p:sp>
        <p:nvSpPr>
          <p:cNvPr id="12" name="Shape 10"/>
          <p:cNvSpPr/>
          <p:nvPr/>
        </p:nvSpPr>
        <p:spPr>
          <a:xfrm>
            <a:off x="4251960" y="1783080"/>
            <a:ext cx="3566160" cy="548640"/>
          </a:xfrm>
          <a:prstGeom prst="rect">
            <a:avLst/>
          </a:prstGeom>
          <a:solidFill>
            <a:srgbClr val="C62828"/>
          </a:solidFill>
          <a:ln/>
        </p:spPr>
      </p:sp>
      <p:sp>
        <p:nvSpPr>
          <p:cNvPr id="13" name="Text 11"/>
          <p:cNvSpPr/>
          <p:nvPr/>
        </p:nvSpPr>
        <p:spPr>
          <a:xfrm>
            <a:off x="4251960" y="1783080"/>
            <a:ext cx="3566160" cy="548640"/>
          </a:xfrm>
          <a:prstGeom prst="rect">
            <a:avLst/>
          </a:prstGeom>
          <a:noFill/>
          <a:ln/>
        </p:spPr>
        <p:txBody>
          <a:bodyPr wrap="square"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Who bore the costs?</a:t>
            </a:r>
            <a:endParaRPr lang="en-US" sz="1600" dirty="0"/>
          </a:p>
        </p:txBody>
      </p:sp>
      <p:sp>
        <p:nvSpPr>
          <p:cNvPr id="14" name="Text 12"/>
          <p:cNvSpPr/>
          <p:nvPr/>
        </p:nvSpPr>
        <p:spPr>
          <a:xfrm>
            <a:off x="4389120" y="2423160"/>
            <a:ext cx="3291840" cy="868680"/>
          </a:xfrm>
          <a:prstGeom prst="rect">
            <a:avLst/>
          </a:prstGeom>
          <a:noFill/>
          <a:ln/>
        </p:spPr>
        <p:txBody>
          <a:bodyPr wrap="square" rtlCol="0" anchor="t"/>
          <a:lstStyle/>
          <a:p>
            <a:pPr indent="0" marL="0">
              <a:buNone/>
            </a:pPr>
            <a:r>
              <a:rPr lang="en-US" sz="1100" i="1" dirty="0">
                <a:solidFill>
                  <a:srgbClr val="5C6470"/>
                </a:solidFill>
                <a:latin typeface="Calibri" pitchFamily="34" charset="0"/>
                <a:ea typeface="Calibri" pitchFamily="34" charset="-122"/>
                <a:cs typeface="Calibri" pitchFamily="34" charset="-120"/>
              </a:rPr>
              <a:t>Who lost land, labor, freedom, or life — and who was silenced?</a:t>
            </a:r>
            <a:endParaRPr lang="en-US" sz="1100" dirty="0"/>
          </a:p>
        </p:txBody>
      </p:sp>
      <p:sp>
        <p:nvSpPr>
          <p:cNvPr id="15" name="Text 13"/>
          <p:cNvSpPr/>
          <p:nvPr/>
        </p:nvSpPr>
        <p:spPr>
          <a:xfrm>
            <a:off x="4389120" y="3291840"/>
            <a:ext cx="3291840" cy="274320"/>
          </a:xfrm>
          <a:prstGeom prst="rect">
            <a:avLst/>
          </a:prstGeom>
          <a:noFill/>
          <a:ln/>
        </p:spPr>
        <p:txBody>
          <a:bodyPr wrap="square" rtlCol="0" anchor="ctr"/>
          <a:lstStyle/>
          <a:p>
            <a:pPr indent="0" marL="0">
              <a:buNone/>
            </a:pPr>
            <a:r>
              <a:rPr lang="en-US" sz="1000" b="1" dirty="0">
                <a:solidFill>
                  <a:srgbClr val="8A6D1A"/>
                </a:solidFill>
                <a:latin typeface="Trebuchet MS" pitchFamily="34" charset="0"/>
                <a:ea typeface="Trebuchet MS" pitchFamily="34" charset="-122"/>
                <a:cs typeface="Trebuchet MS" pitchFamily="34" charset="-120"/>
              </a:rPr>
              <a:t>US.12:</a:t>
            </a:r>
            <a:endParaRPr lang="en-US" sz="1000" dirty="0"/>
          </a:p>
        </p:txBody>
      </p:sp>
      <p:sp>
        <p:nvSpPr>
          <p:cNvPr id="16" name="Text 14"/>
          <p:cNvSpPr/>
          <p:nvPr/>
        </p:nvSpPr>
        <p:spPr>
          <a:xfrm>
            <a:off x="4389120" y="3566160"/>
            <a:ext cx="3291840" cy="2286000"/>
          </a:xfrm>
          <a:prstGeom prst="rect">
            <a:avLst/>
          </a:prstGeom>
          <a:noFill/>
          <a:ln/>
        </p:spPr>
        <p:txBody>
          <a:bodyPr wrap="square" rtlCol="0" anchor="t"/>
          <a:lstStyle/>
          <a:p>
            <a:pPr indent="0" marL="0">
              <a:buNone/>
            </a:pPr>
            <a:r>
              <a:rPr lang="en-US" sz="1200" dirty="0">
                <a:solidFill>
                  <a:srgbClr val="1F2430"/>
                </a:solidFill>
                <a:latin typeface="Calibri" pitchFamily="34" charset="0"/>
                <a:ea typeface="Calibri" pitchFamily="34" charset="-122"/>
                <a:cs typeface="Calibri" pitchFamily="34" charset="-120"/>
              </a:rPr>
              <a:t>Consumers paying monopoly prices, workers with suppressed wages, and small competitors destroyed by predatory pricing.</a:t>
            </a:r>
            <a:endParaRPr lang="en-US" sz="1200" dirty="0"/>
          </a:p>
        </p:txBody>
      </p:sp>
      <p:sp>
        <p:nvSpPr>
          <p:cNvPr id="17" name="Shape 15"/>
          <p:cNvSpPr/>
          <p:nvPr/>
        </p:nvSpPr>
        <p:spPr>
          <a:xfrm>
            <a:off x="8046720" y="1783080"/>
            <a:ext cx="3566160" cy="4206240"/>
          </a:xfrm>
          <a:prstGeom prst="rect">
            <a:avLst/>
          </a:prstGeom>
          <a:solidFill>
            <a:srgbClr val="FFFFFF"/>
          </a:solidFill>
          <a:ln/>
        </p:spPr>
      </p:sp>
      <p:sp>
        <p:nvSpPr>
          <p:cNvPr id="18" name="Shape 16"/>
          <p:cNvSpPr/>
          <p:nvPr/>
        </p:nvSpPr>
        <p:spPr>
          <a:xfrm>
            <a:off x="8046720" y="1783080"/>
            <a:ext cx="3566160" cy="548640"/>
          </a:xfrm>
          <a:prstGeom prst="rect">
            <a:avLst/>
          </a:prstGeom>
          <a:solidFill>
            <a:srgbClr val="002858"/>
          </a:solidFill>
          <a:ln/>
        </p:spPr>
      </p:sp>
      <p:sp>
        <p:nvSpPr>
          <p:cNvPr id="19" name="Text 17"/>
          <p:cNvSpPr/>
          <p:nvPr/>
        </p:nvSpPr>
        <p:spPr>
          <a:xfrm>
            <a:off x="8046720" y="1783080"/>
            <a:ext cx="3566160" cy="548640"/>
          </a:xfrm>
          <a:prstGeom prst="rect">
            <a:avLst/>
          </a:prstGeom>
          <a:noFill/>
          <a:ln/>
        </p:spPr>
        <p:txBody>
          <a:bodyPr wrap="square"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Who decided?</a:t>
            </a:r>
            <a:endParaRPr lang="en-US" sz="1600" dirty="0"/>
          </a:p>
        </p:txBody>
      </p:sp>
      <p:sp>
        <p:nvSpPr>
          <p:cNvPr id="20" name="Text 18"/>
          <p:cNvSpPr/>
          <p:nvPr/>
        </p:nvSpPr>
        <p:spPr>
          <a:xfrm>
            <a:off x="8183880" y="2423160"/>
            <a:ext cx="3291840" cy="868680"/>
          </a:xfrm>
          <a:prstGeom prst="rect">
            <a:avLst/>
          </a:prstGeom>
          <a:noFill/>
          <a:ln/>
        </p:spPr>
        <p:txBody>
          <a:bodyPr wrap="square" rtlCol="0" anchor="t"/>
          <a:lstStyle/>
          <a:p>
            <a:pPr indent="0" marL="0">
              <a:buNone/>
            </a:pPr>
            <a:r>
              <a:rPr lang="en-US" sz="1100" i="1" dirty="0">
                <a:solidFill>
                  <a:srgbClr val="5C6470"/>
                </a:solidFill>
                <a:latin typeface="Calibri" pitchFamily="34" charset="0"/>
                <a:ea typeface="Calibri" pitchFamily="34" charset="-122"/>
                <a:cs typeface="Calibri" pitchFamily="34" charset="-120"/>
              </a:rPr>
              <a:t>Which people, offices, or courts held the authority?</a:t>
            </a:r>
            <a:endParaRPr lang="en-US" sz="1100" dirty="0"/>
          </a:p>
        </p:txBody>
      </p:sp>
      <p:sp>
        <p:nvSpPr>
          <p:cNvPr id="21" name="Text 19"/>
          <p:cNvSpPr/>
          <p:nvPr/>
        </p:nvSpPr>
        <p:spPr>
          <a:xfrm>
            <a:off x="8183880" y="3291840"/>
            <a:ext cx="3291840" cy="274320"/>
          </a:xfrm>
          <a:prstGeom prst="rect">
            <a:avLst/>
          </a:prstGeom>
          <a:noFill/>
          <a:ln/>
        </p:spPr>
        <p:txBody>
          <a:bodyPr wrap="square" rtlCol="0" anchor="ctr"/>
          <a:lstStyle/>
          <a:p>
            <a:pPr indent="0" marL="0">
              <a:buNone/>
            </a:pPr>
            <a:r>
              <a:rPr lang="en-US" sz="1000" b="1" dirty="0">
                <a:solidFill>
                  <a:srgbClr val="8A6D1A"/>
                </a:solidFill>
                <a:latin typeface="Trebuchet MS" pitchFamily="34" charset="0"/>
                <a:ea typeface="Trebuchet MS" pitchFamily="34" charset="-122"/>
                <a:cs typeface="Trebuchet MS" pitchFamily="34" charset="-120"/>
              </a:rPr>
              <a:t>US.12:</a:t>
            </a:r>
            <a:endParaRPr lang="en-US" sz="1000" dirty="0"/>
          </a:p>
        </p:txBody>
      </p:sp>
      <p:sp>
        <p:nvSpPr>
          <p:cNvPr id="22" name="Text 20"/>
          <p:cNvSpPr/>
          <p:nvPr/>
        </p:nvSpPr>
        <p:spPr>
          <a:xfrm>
            <a:off x="8183880" y="3566160"/>
            <a:ext cx="3291840" cy="2286000"/>
          </a:xfrm>
          <a:prstGeom prst="rect">
            <a:avLst/>
          </a:prstGeom>
          <a:noFill/>
          <a:ln/>
        </p:spPr>
        <p:txBody>
          <a:bodyPr wrap="square" rtlCol="0" anchor="t"/>
          <a:lstStyle/>
          <a:p>
            <a:pPr indent="0" marL="0">
              <a:buNone/>
            </a:pPr>
            <a:r>
              <a:rPr lang="en-US" sz="1200" dirty="0">
                <a:solidFill>
                  <a:srgbClr val="1F2430"/>
                </a:solidFill>
                <a:latin typeface="Calibri" pitchFamily="34" charset="0"/>
                <a:ea typeface="Calibri" pitchFamily="34" charset="-122"/>
                <a:cs typeface="Calibri" pitchFamily="34" charset="-120"/>
              </a:rPr>
              <a:t>The U.S. Congress, which passed the Sherman (1890) and Clayton (1914) Acts, and courts that interpreted “restraint of trade.”</a:t>
            </a:r>
            <a:endParaRPr lang="en-US" sz="1200" dirty="0"/>
          </a:p>
        </p:txBody>
      </p:sp>
      <p:sp>
        <p:nvSpPr>
          <p:cNvPr id="23" name="Text 21"/>
          <p:cNvSpPr/>
          <p:nvPr/>
        </p:nvSpPr>
        <p:spPr>
          <a:xfrm>
            <a:off x="457200" y="6126480"/>
            <a:ext cx="10972800" cy="274320"/>
          </a:xfrm>
          <a:prstGeom prst="rect">
            <a:avLst/>
          </a:prstGeom>
          <a:noFill/>
          <a:ln/>
        </p:spPr>
        <p:txBody>
          <a:bodyPr wrap="square" rtlCol="0" anchor="ctr"/>
          <a:lstStyle/>
          <a:p>
            <a:pPr indent="0" marL="0">
              <a:buNone/>
            </a:pPr>
            <a:r>
              <a:rPr lang="en-US" sz="1000" i="1" dirty="0">
                <a:solidFill>
                  <a:srgbClr val="C7D4E0"/>
                </a:solidFill>
                <a:latin typeface="Trebuchet MS" pitchFamily="34" charset="0"/>
                <a:ea typeface="Trebuchet MS" pitchFamily="34" charset="-122"/>
                <a:cs typeface="Trebuchet MS" pitchFamily="34" charset="-120"/>
              </a:rPr>
              <a:t>Anchor: Sherman Antitrust Act, 1890 (National Archives)</a:t>
            </a:r>
            <a:endParaRPr lang="en-US" sz="1000" dirty="0"/>
          </a:p>
        </p:txBody>
      </p:sp>
      <p:sp>
        <p:nvSpPr>
          <p:cNvPr id="24" name="Text 22"/>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5" name="Text 23"/>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31</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1A2332"/>
        </a:solidFill>
      </p:bgPr>
    </p:bg>
    <p:spTree>
      <p:nvGrpSpPr>
        <p:cNvPr id="1" name=""/>
        <p:cNvGrpSpPr/>
        <p:nvPr/>
      </p:nvGrpSpPr>
      <p:grpSpPr>
        <a:xfrm>
          <a:off x="0" y="0"/>
          <a:ext cx="0" cy="0"/>
          <a:chOff x="0" y="0"/>
          <a:chExt cx="0" cy="0"/>
        </a:xfrm>
      </p:grpSpPr>
      <p:sp>
        <p:nvSpPr>
          <p:cNvPr id="2" name="Shape 0"/>
          <p:cNvSpPr/>
          <p:nvPr/>
        </p:nvSpPr>
        <p:spPr>
          <a:xfrm>
            <a:off x="0" y="2331720"/>
            <a:ext cx="12191695" cy="73152"/>
          </a:xfrm>
          <a:prstGeom prst="rect">
            <a:avLst/>
          </a:prstGeom>
          <a:solidFill>
            <a:srgbClr val="C9A84C"/>
          </a:solidFill>
          <a:ln/>
        </p:spPr>
        <p:txBody>
          <a:bodyPr/>
          <a:p/>
        </p:txBody>
      </p:sp>
      <p:sp>
        <p:nvSpPr>
          <p:cNvPr id="3" name="Text 1"/>
          <p:cNvSpPr/>
          <p:nvPr/>
        </p:nvSpPr>
        <p:spPr>
          <a:xfrm>
            <a:off x="457200" y="548640"/>
            <a:ext cx="2926080" cy="1188720"/>
          </a:xfrm>
          <a:prstGeom prst="rect">
            <a:avLst/>
          </a:prstGeom>
          <a:noFill/>
          <a:ln/>
        </p:spPr>
        <p:txBody>
          <a:bodyPr wrap="square" rtlCol="0" anchor="ctr"/>
          <a:lstStyle/>
          <a:p>
            <a:pPr indent="0" marL="0">
              <a:buNone/>
            </a:pPr>
            <a:r>
              <a:rPr lang="en-US" sz="6000" b="1" dirty="0">
                <a:solidFill>
                  <a:srgbClr val="C9A84C"/>
                </a:solidFill>
                <a:latin typeface="Georgia" pitchFamily="34" charset="0"/>
                <a:ea typeface="Georgia" pitchFamily="34" charset="-122"/>
                <a:cs typeface="Georgia" pitchFamily="34" charset="-120"/>
              </a:rPr>
              <a:t>US.13</a:t>
            </a:r>
            <a:endParaRPr lang="en-US" sz="6000" dirty="0"/>
          </a:p>
        </p:txBody>
      </p:sp>
      <p:sp>
        <p:nvSpPr>
          <p:cNvPr id="4" name="Text 2"/>
          <p:cNvSpPr/>
          <p:nvPr/>
        </p:nvSpPr>
        <p:spPr>
          <a:xfrm>
            <a:off x="3474720" y="548640"/>
            <a:ext cx="8229600" cy="1188720"/>
          </a:xfrm>
          <a:prstGeom prst="rect">
            <a:avLst/>
          </a:prstGeom>
          <a:noFill/>
          <a:ln/>
        </p:spPr>
        <p:txBody>
          <a:bodyPr wrap="square" rtlCol="0" anchor="ctr"/>
          <a:lstStyle/>
          <a:p>
            <a:pPr indent="0" marL="0">
              <a:buNone/>
            </a:pPr>
            <a:r>
              <a:rPr lang="en-US" sz="2600" b="1" dirty="0">
                <a:solidFill>
                  <a:srgbClr val="FFFFFF"/>
                </a:solidFill>
                <a:latin typeface="Georgia" pitchFamily="34" charset="0"/>
                <a:ea typeface="Georgia" pitchFamily="34" charset="-122"/>
                <a:cs typeface="Georgia" pitchFamily="34" charset="-120"/>
              </a:rPr>
              <a:t>Working Conditions, Women &amp; Child Labor</a:t>
            </a:r>
            <a:endParaRPr lang="en-US" sz="2600" dirty="0"/>
          </a:p>
        </p:txBody>
      </p:sp>
      <p:sp>
        <p:nvSpPr>
          <p:cNvPr id="5" name="Text 3"/>
          <p:cNvSpPr/>
          <p:nvPr/>
        </p:nvSpPr>
        <p:spPr>
          <a:xfrm>
            <a:off x="457200" y="2651760"/>
            <a:ext cx="11247120" cy="274320"/>
          </a:xfrm>
          <a:prstGeom prst="rect">
            <a:avLst/>
          </a:prstGeom>
          <a:noFill/>
          <a:ln/>
        </p:spPr>
        <p:txBody>
          <a:bodyPr wrap="square" rtlCol="0" anchor="ctr"/>
          <a:lstStyle/>
          <a:p>
            <a:pPr indent="0" marL="0">
              <a:buNone/>
            </a:pPr>
            <a:r>
              <a:rPr lang="en-US" sz="1200" b="1" spc="200" kern="0" dirty="0">
                <a:solidFill>
                  <a:srgbClr val="C9A84C"/>
                </a:solidFill>
                <a:latin typeface="Trebuchet MS" pitchFamily="34" charset="0"/>
                <a:ea typeface="Trebuchet MS" pitchFamily="34" charset="-122"/>
                <a:cs typeface="Trebuchet MS" pitchFamily="34" charset="-120"/>
              </a:rPr>
              <a:t>TN STANDARD</a:t>
            </a:r>
            <a:endParaRPr lang="en-US" sz="1200" dirty="0"/>
          </a:p>
        </p:txBody>
      </p:sp>
      <p:sp>
        <p:nvSpPr>
          <p:cNvPr id="6" name="Text 4"/>
          <p:cNvSpPr/>
          <p:nvPr/>
        </p:nvSpPr>
        <p:spPr>
          <a:xfrm>
            <a:off x="457200" y="2999232"/>
            <a:ext cx="11247120" cy="1691640"/>
          </a:xfrm>
          <a:prstGeom prst="rect">
            <a:avLst/>
          </a:prstGeom>
          <a:noFill/>
          <a:ln/>
        </p:spPr>
        <p:txBody>
          <a:bodyPr wrap="square" rtlCol="0" anchor="t"/>
          <a:lstStyle/>
          <a:p>
            <a:pPr indent="0" marL="0">
              <a:lnSpc>
                <a:spcPct val="105000"/>
              </a:lnSpc>
              <a:buNone/>
            </a:pPr>
            <a:r>
              <a:rPr lang="en-US" sz="1600" dirty="0">
                <a:solidFill>
                  <a:srgbClr val="C7D4E0"/>
                </a:solidFill>
                <a:latin typeface="Calibri" pitchFamily="34" charset="0"/>
                <a:ea typeface="Calibri" pitchFamily="34" charset="-122"/>
                <a:cs typeface="Calibri" pitchFamily="34" charset="-120"/>
              </a:rPr>
              <a:t>US.13 – Describe working conditions in industries during this era, including the use of labor by women and children.</a:t>
            </a:r>
            <a:endParaRPr lang="en-US" sz="1600" dirty="0"/>
          </a:p>
        </p:txBody>
      </p:sp>
      <p:sp>
        <p:nvSpPr>
          <p:cNvPr id="7" name="Shape 5"/>
          <p:cNvSpPr/>
          <p:nvPr/>
        </p:nvSpPr>
        <p:spPr>
          <a:xfrm>
            <a:off x="457200" y="4892040"/>
            <a:ext cx="11247120" cy="1234440"/>
          </a:xfrm>
          <a:prstGeom prst="rect">
            <a:avLst/>
          </a:prstGeom>
          <a:solidFill>
            <a:srgbClr val="C9A84C"/>
          </a:solidFill>
          <a:ln/>
        </p:spPr>
      </p:sp>
      <p:sp>
        <p:nvSpPr>
          <p:cNvPr id="8" name="Text 6"/>
          <p:cNvSpPr/>
          <p:nvPr/>
        </p:nvSpPr>
        <p:spPr>
          <a:xfrm>
            <a:off x="640080" y="5029200"/>
            <a:ext cx="10972800" cy="274320"/>
          </a:xfrm>
          <a:prstGeom prst="rect">
            <a:avLst/>
          </a:prstGeom>
          <a:noFill/>
          <a:ln/>
        </p:spPr>
        <p:txBody>
          <a:bodyPr wrap="square" rtlCol="0" anchor="ctr"/>
          <a:lstStyle/>
          <a:p>
            <a:pPr indent="0" marL="0">
              <a:buNone/>
            </a:pPr>
            <a:r>
              <a:rPr lang="en-US" sz="1200" b="1" spc="200" kern="0" dirty="0">
                <a:solidFill>
                  <a:srgbClr val="1A2332"/>
                </a:solidFill>
                <a:latin typeface="Trebuchet MS" pitchFamily="34" charset="0"/>
                <a:ea typeface="Trebuchet MS" pitchFamily="34" charset="-122"/>
                <a:cs typeface="Trebuchet MS" pitchFamily="34" charset="-120"/>
              </a:rPr>
              <a:t>I CAN</a:t>
            </a:r>
            <a:endParaRPr lang="en-US" sz="1200" dirty="0"/>
          </a:p>
        </p:txBody>
      </p:sp>
      <p:sp>
        <p:nvSpPr>
          <p:cNvPr id="9" name="Text 7"/>
          <p:cNvSpPr/>
          <p:nvPr/>
        </p:nvSpPr>
        <p:spPr>
          <a:xfrm>
            <a:off x="640080" y="5303520"/>
            <a:ext cx="10881360" cy="749808"/>
          </a:xfrm>
          <a:prstGeom prst="rect">
            <a:avLst/>
          </a:prstGeom>
          <a:noFill/>
          <a:ln/>
        </p:spPr>
        <p:txBody>
          <a:bodyPr wrap="square" rtlCol="0" anchor="t"/>
          <a:lstStyle/>
          <a:p>
            <a:pPr indent="0" marL="0">
              <a:buNone/>
            </a:pPr>
            <a:r>
              <a:rPr lang="en-US" sz="1400" b="1" dirty="0">
                <a:solidFill>
                  <a:srgbClr val="1A2332"/>
                </a:solidFill>
                <a:latin typeface="Calibri" pitchFamily="34" charset="0"/>
                <a:ea typeface="Calibri" pitchFamily="34" charset="-122"/>
                <a:cs typeface="Calibri" pitchFamily="34" charset="-120"/>
              </a:rPr>
              <a:t>I can describe working conditions in industries during this era, including the use of labor by women and children.</a:t>
            </a:r>
            <a:endParaRPr lang="en-US" sz="1400" dirty="0"/>
          </a:p>
        </p:txBody>
      </p:sp>
      <p:sp>
        <p:nvSpPr>
          <p:cNvPr id="10" name="Text 8"/>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1" name="Text 9"/>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32</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737360"/>
          </a:xfrm>
          <a:prstGeom prst="rect">
            <a:avLst/>
          </a:prstGeom>
          <a:solidFill>
            <a:srgbClr val="1A2332"/>
          </a:solidFill>
          <a:ln/>
        </p:spPr>
        <p:txBody>
          <a:bodyPr/>
          <a:p/>
        </p:txBody>
      </p:sp>
      <p:sp>
        <p:nvSpPr>
          <p:cNvPr id="3" name="Shape 1"/>
          <p:cNvSpPr/>
          <p:nvPr/>
        </p:nvSpPr>
        <p:spPr>
          <a:xfrm>
            <a:off x="0" y="1737360"/>
            <a:ext cx="12191695" cy="54864"/>
          </a:xfrm>
          <a:prstGeom prst="rect">
            <a:avLst/>
          </a:prstGeom>
          <a:solidFill>
            <a:srgbClr val="C9A84C"/>
          </a:solidFill>
          <a:ln/>
        </p:spPr>
        <p:txBody>
          <a:bodyPr/>
          <a:p/>
        </p:txBody>
      </p:sp>
      <p:sp>
        <p:nvSpPr>
          <p:cNvPr id="4" name="Text 2"/>
          <p:cNvSpPr/>
          <p:nvPr/>
        </p:nvSpPr>
        <p:spPr>
          <a:xfrm>
            <a:off x="457200" y="320040"/>
            <a:ext cx="3291840" cy="365760"/>
          </a:xfrm>
          <a:prstGeom prst="rect">
            <a:avLst/>
          </a:prstGeom>
          <a:solidFill>
            <a:srgbClr val="00285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DIRECT INSTRUCTION</a:t>
            </a:r>
            <a:endParaRPr lang="en-US" sz="1100" dirty="0"/>
          </a:p>
        </p:txBody>
      </p:sp>
      <p:sp>
        <p:nvSpPr>
          <p:cNvPr id="5" name="Text 3"/>
          <p:cNvSpPr/>
          <p:nvPr/>
        </p:nvSpPr>
        <p:spPr>
          <a:xfrm>
            <a:off x="3886200" y="32004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US.13</a:t>
            </a:r>
            <a:endParaRPr lang="en-US" sz="1200" dirty="0"/>
          </a:p>
        </p:txBody>
      </p:sp>
      <p:sp>
        <p:nvSpPr>
          <p:cNvPr id="6" name="Text 4"/>
          <p:cNvSpPr/>
          <p:nvPr/>
        </p:nvSpPr>
        <p:spPr>
          <a:xfrm>
            <a:off x="457200" y="777240"/>
            <a:ext cx="11247120" cy="868680"/>
          </a:xfrm>
          <a:prstGeom prst="rect">
            <a:avLst/>
          </a:prstGeom>
          <a:noFill/>
          <a:ln/>
        </p:spPr>
        <p:txBody>
          <a:bodyPr wrap="square" rtlCol="0" anchor="ctr"/>
          <a:lstStyle/>
          <a:p>
            <a:pPr algn="l" indent="0" marL="0">
              <a:buNone/>
            </a:pPr>
            <a:r>
              <a:rPr lang="en-US" sz="2300" b="1" dirty="0">
                <a:solidFill>
                  <a:srgbClr val="FFFFFF"/>
                </a:solidFill>
                <a:latin typeface="Georgia" pitchFamily="34" charset="0"/>
                <a:ea typeface="Georgia" pitchFamily="34" charset="-122"/>
                <a:cs typeface="Georgia" pitchFamily="34" charset="-120"/>
              </a:rPr>
              <a:t>Industrial workers endured 10–16 hour days, six or seven days a week, with no overtime, sick leave, or compensation for injury.</a:t>
            </a:r>
            <a:endParaRPr lang="en-US" sz="2300" dirty="0"/>
          </a:p>
        </p:txBody>
      </p:sp>
      <p:pic>
        <p:nvPicPr>
          <p:cNvPr id="7" name="Image 0" descr="hh-web/public/images/textbook/unit-2/sweatshop-garment-workers-1908.jpg">    </p:cNvPr>
          <p:cNvPicPr>
            <a:picLocks noChangeAspect="1"/>
          </p:cNvPicPr>
          <p:nvPr/>
        </p:nvPicPr>
        <p:blipFill>
          <a:blip r:embed="rId1"/>
          <a:srcRect l="0" r="0" t="0" b="0"/>
          <a:stretch/>
        </p:blipFill>
        <p:spPr>
          <a:xfrm>
            <a:off x="2743200" y="2057400"/>
            <a:ext cx="6702552" cy="4160520"/>
          </a:xfrm>
          <a:prstGeom prst="rect">
            <a:avLst/>
          </a:prstGeom>
        </p:spPr>
      </p:pic>
      <p:sp>
        <p:nvSpPr>
          <p:cNvPr id="8" name="Text 5"/>
          <p:cNvSpPr/>
          <p:nvPr/>
        </p:nvSpPr>
        <p:spPr>
          <a:xfrm>
            <a:off x="2743200" y="2103120"/>
            <a:ext cx="1188720" cy="292608"/>
          </a:xfrm>
          <a:prstGeom prst="rect">
            <a:avLst/>
          </a:prstGeom>
          <a:solidFill>
            <a:srgbClr val="F9A825"/>
          </a:solidFill>
          <a:ln/>
        </p:spPr>
        <p:txBody>
          <a:bodyPr wrap="square" rtlCol="0" anchor="ctr"/>
          <a:lstStyle/>
          <a:p>
            <a:pPr algn="ctr" indent="0" marL="0">
              <a:buNone/>
            </a:pPr>
            <a:r>
              <a:rPr lang="en-US" sz="900" b="1" spc="100" kern="0" dirty="0">
                <a:solidFill>
                  <a:srgbClr val="1A2332"/>
                </a:solidFill>
                <a:latin typeface="Trebuchet MS" pitchFamily="34" charset="0"/>
                <a:ea typeface="Trebuchet MS" pitchFamily="34" charset="-122"/>
                <a:cs typeface="Trebuchet MS" pitchFamily="34" charset="-120"/>
              </a:rPr>
              <a:t>ZOOM IN</a:t>
            </a:r>
            <a:endParaRPr lang="en-US" sz="900" dirty="0"/>
          </a:p>
        </p:txBody>
      </p:sp>
      <p:sp>
        <p:nvSpPr>
          <p:cNvPr id="9" name="Text 6"/>
          <p:cNvSpPr/>
          <p:nvPr/>
        </p:nvSpPr>
        <p:spPr>
          <a:xfrm>
            <a:off x="457200" y="6263640"/>
            <a:ext cx="8229600" cy="274320"/>
          </a:xfrm>
          <a:prstGeom prst="rect">
            <a:avLst/>
          </a:prstGeom>
          <a:noFill/>
          <a:ln/>
        </p:spPr>
        <p:txBody>
          <a:bodyPr wrap="square" rtlCol="0" anchor="ctr"/>
          <a:lstStyle/>
          <a:p>
            <a:pPr indent="0" marL="0">
              <a:buNone/>
            </a:pPr>
            <a:r>
              <a:rPr lang="en-US" sz="1000" i="1" dirty="0">
                <a:solidFill>
                  <a:srgbClr val="5C6470"/>
                </a:solidFill>
                <a:latin typeface="Trebuchet MS" pitchFamily="34" charset="0"/>
                <a:ea typeface="Trebuchet MS" pitchFamily="34" charset="-122"/>
                <a:cs typeface="Trebuchet MS" pitchFamily="34" charset="-120"/>
              </a:rPr>
              <a:t>US.13 · Industrial Working Conditions</a:t>
            </a:r>
            <a:endParaRPr lang="en-US" sz="1000" dirty="0"/>
          </a:p>
        </p:txBody>
      </p:sp>
      <p:sp>
        <p:nvSpPr>
          <p:cNvPr id="10" name="Text 7"/>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1" name="Text 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33</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737360"/>
          </a:xfrm>
          <a:prstGeom prst="rect">
            <a:avLst/>
          </a:prstGeom>
          <a:solidFill>
            <a:srgbClr val="1A2332"/>
          </a:solidFill>
          <a:ln/>
        </p:spPr>
        <p:txBody>
          <a:bodyPr/>
          <a:p/>
        </p:txBody>
      </p:sp>
      <p:sp>
        <p:nvSpPr>
          <p:cNvPr id="3" name="Shape 1"/>
          <p:cNvSpPr/>
          <p:nvPr/>
        </p:nvSpPr>
        <p:spPr>
          <a:xfrm>
            <a:off x="0" y="1737360"/>
            <a:ext cx="12191695" cy="54864"/>
          </a:xfrm>
          <a:prstGeom prst="rect">
            <a:avLst/>
          </a:prstGeom>
          <a:solidFill>
            <a:srgbClr val="C9A84C"/>
          </a:solidFill>
          <a:ln/>
        </p:spPr>
        <p:txBody>
          <a:bodyPr/>
          <a:p/>
        </p:txBody>
      </p:sp>
      <p:sp>
        <p:nvSpPr>
          <p:cNvPr id="4" name="Text 2"/>
          <p:cNvSpPr/>
          <p:nvPr/>
        </p:nvSpPr>
        <p:spPr>
          <a:xfrm>
            <a:off x="457200" y="320040"/>
            <a:ext cx="3291840" cy="365760"/>
          </a:xfrm>
          <a:prstGeom prst="rect">
            <a:avLst/>
          </a:prstGeom>
          <a:solidFill>
            <a:srgbClr val="00285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DIRECT INSTRUCTION</a:t>
            </a:r>
            <a:endParaRPr lang="en-US" sz="1100" dirty="0"/>
          </a:p>
        </p:txBody>
      </p:sp>
      <p:sp>
        <p:nvSpPr>
          <p:cNvPr id="5" name="Text 3"/>
          <p:cNvSpPr/>
          <p:nvPr/>
        </p:nvSpPr>
        <p:spPr>
          <a:xfrm>
            <a:off x="3886200" y="32004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US.13</a:t>
            </a:r>
            <a:endParaRPr lang="en-US" sz="1200" dirty="0"/>
          </a:p>
        </p:txBody>
      </p:sp>
      <p:sp>
        <p:nvSpPr>
          <p:cNvPr id="6" name="Text 4"/>
          <p:cNvSpPr/>
          <p:nvPr/>
        </p:nvSpPr>
        <p:spPr>
          <a:xfrm>
            <a:off x="457200" y="777240"/>
            <a:ext cx="11247120" cy="868680"/>
          </a:xfrm>
          <a:prstGeom prst="rect">
            <a:avLst/>
          </a:prstGeom>
          <a:noFill/>
          <a:ln/>
        </p:spPr>
        <p:txBody>
          <a:bodyPr wrap="square" rtlCol="0" anchor="ctr"/>
          <a:lstStyle/>
          <a:p>
            <a:pPr algn="l" indent="0" marL="0">
              <a:buNone/>
            </a:pPr>
            <a:r>
              <a:rPr lang="en-US" sz="2300" b="1" dirty="0">
                <a:solidFill>
                  <a:srgbClr val="FFFFFF"/>
                </a:solidFill>
                <a:latin typeface="Georgia" pitchFamily="34" charset="0"/>
                <a:ea typeface="Georgia" pitchFamily="34" charset="-122"/>
                <a:cs typeface="Georgia" pitchFamily="34" charset="-120"/>
              </a:rPr>
              <a:t>Women filled garment, textile, and food-processing jobs — paid far less than men for the same work.</a:t>
            </a:r>
            <a:endParaRPr lang="en-US" sz="2300" dirty="0"/>
          </a:p>
        </p:txBody>
      </p:sp>
      <p:sp>
        <p:nvSpPr>
          <p:cNvPr id="7" name="Shape 5"/>
          <p:cNvSpPr/>
          <p:nvPr/>
        </p:nvSpPr>
        <p:spPr>
          <a:xfrm>
            <a:off x="1463040" y="2377440"/>
            <a:ext cx="9262872" cy="3383280"/>
          </a:xfrm>
          <a:prstGeom prst="rect">
            <a:avLst/>
          </a:prstGeom>
          <a:solidFill>
            <a:srgbClr val="FFFFFF"/>
          </a:solidFill>
          <a:ln w="34925">
            <a:solidFill>
              <a:srgbClr val="F9A825"/>
            </a:solidFill>
            <a:prstDash val="solid"/>
          </a:ln>
        </p:spPr>
      </p:sp>
      <p:sp>
        <p:nvSpPr>
          <p:cNvPr id="8" name="Shape 6"/>
          <p:cNvSpPr/>
          <p:nvPr/>
        </p:nvSpPr>
        <p:spPr>
          <a:xfrm>
            <a:off x="1463040" y="2377440"/>
            <a:ext cx="9262872" cy="502920"/>
          </a:xfrm>
          <a:prstGeom prst="rect">
            <a:avLst/>
          </a:prstGeom>
          <a:solidFill>
            <a:srgbClr val="002858"/>
          </a:solidFill>
          <a:ln/>
        </p:spPr>
      </p:sp>
      <p:sp>
        <p:nvSpPr>
          <p:cNvPr id="9" name="Text 7"/>
          <p:cNvSpPr/>
          <p:nvPr/>
        </p:nvSpPr>
        <p:spPr>
          <a:xfrm>
            <a:off x="1463040" y="2377440"/>
            <a:ext cx="9262872" cy="502920"/>
          </a:xfrm>
          <a:prstGeom prst="rect">
            <a:avLst/>
          </a:prstGeom>
          <a:noFill/>
          <a:ln/>
        </p:spPr>
        <p:txBody>
          <a:bodyPr wrap="square" rtlCol="0" anchor="ctr"/>
          <a:lstStyle/>
          <a:p>
            <a:pPr algn="ctr" indent="0" marL="0">
              <a:buNone/>
            </a:pPr>
            <a:r>
              <a:rPr lang="en-US" sz="1200" b="1" spc="200" kern="0" dirty="0">
                <a:solidFill>
                  <a:srgbClr val="FFFFFF"/>
                </a:solidFill>
                <a:latin typeface="Trebuchet MS" pitchFamily="34" charset="0"/>
                <a:ea typeface="Trebuchet MS" pitchFamily="34" charset="-122"/>
                <a:cs typeface="Trebuchet MS" pitchFamily="34" charset="-120"/>
              </a:rPr>
              <a:t>KEY POINT</a:t>
            </a:r>
            <a:endParaRPr lang="en-US" sz="1200" dirty="0"/>
          </a:p>
        </p:txBody>
      </p:sp>
      <p:sp>
        <p:nvSpPr>
          <p:cNvPr id="10" name="Text 8"/>
          <p:cNvSpPr/>
          <p:nvPr/>
        </p:nvSpPr>
        <p:spPr>
          <a:xfrm>
            <a:off x="1920240" y="2880360"/>
            <a:ext cx="8348472" cy="2880360"/>
          </a:xfrm>
          <a:prstGeom prst="rect">
            <a:avLst/>
          </a:prstGeom>
          <a:noFill/>
          <a:ln/>
        </p:spPr>
        <p:txBody>
          <a:bodyPr wrap="square" rtlCol="0" anchor="ctr"/>
          <a:lstStyle/>
          <a:p>
            <a:pPr algn="ctr" indent="0" marL="0">
              <a:lnSpc>
                <a:spcPct val="120000"/>
              </a:lnSpc>
              <a:buNone/>
            </a:pPr>
            <a:r>
              <a:rPr lang="en-US" sz="2200" dirty="0">
                <a:solidFill>
                  <a:srgbClr val="1F2430"/>
                </a:solidFill>
                <a:latin typeface="Calibri" pitchFamily="34" charset="0"/>
                <a:ea typeface="Calibri" pitchFamily="34" charset="-122"/>
                <a:cs typeface="Calibri" pitchFamily="34" charset="-120"/>
              </a:rPr>
              <a:t>Women filled garment, textile, and food-processing jobs — paid far less than men for the same work.</a:t>
            </a:r>
            <a:endParaRPr lang="en-US" sz="2200" dirty="0"/>
          </a:p>
        </p:txBody>
      </p:sp>
      <p:sp>
        <p:nvSpPr>
          <p:cNvPr id="11" name="Text 9"/>
          <p:cNvSpPr/>
          <p:nvPr/>
        </p:nvSpPr>
        <p:spPr>
          <a:xfrm>
            <a:off x="457200" y="6263640"/>
            <a:ext cx="8229600" cy="274320"/>
          </a:xfrm>
          <a:prstGeom prst="rect">
            <a:avLst/>
          </a:prstGeom>
          <a:noFill/>
          <a:ln/>
        </p:spPr>
        <p:txBody>
          <a:bodyPr wrap="square" rtlCol="0" anchor="ctr"/>
          <a:lstStyle/>
          <a:p>
            <a:pPr indent="0" marL="0">
              <a:buNone/>
            </a:pPr>
            <a:r>
              <a:rPr lang="en-US" sz="1000" i="1" dirty="0">
                <a:solidFill>
                  <a:srgbClr val="5C6470"/>
                </a:solidFill>
                <a:latin typeface="Trebuchet MS" pitchFamily="34" charset="0"/>
                <a:ea typeface="Trebuchet MS" pitchFamily="34" charset="-122"/>
                <a:cs typeface="Trebuchet MS" pitchFamily="34" charset="-120"/>
              </a:rPr>
              <a:t>US.13 · Women in the Industrial Workforce</a:t>
            </a:r>
            <a:endParaRPr lang="en-US" sz="1000" dirty="0"/>
          </a:p>
        </p:txBody>
      </p:sp>
      <p:sp>
        <p:nvSpPr>
          <p:cNvPr id="12" name="Text 10"/>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3" name="Text 11"/>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34</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737360"/>
          </a:xfrm>
          <a:prstGeom prst="rect">
            <a:avLst/>
          </a:prstGeom>
          <a:solidFill>
            <a:srgbClr val="1A2332"/>
          </a:solidFill>
          <a:ln/>
        </p:spPr>
        <p:txBody>
          <a:bodyPr/>
          <a:p/>
        </p:txBody>
      </p:sp>
      <p:sp>
        <p:nvSpPr>
          <p:cNvPr id="3" name="Shape 1"/>
          <p:cNvSpPr/>
          <p:nvPr/>
        </p:nvSpPr>
        <p:spPr>
          <a:xfrm>
            <a:off x="0" y="1737360"/>
            <a:ext cx="12191695" cy="54864"/>
          </a:xfrm>
          <a:prstGeom prst="rect">
            <a:avLst/>
          </a:prstGeom>
          <a:solidFill>
            <a:srgbClr val="C9A84C"/>
          </a:solidFill>
          <a:ln/>
        </p:spPr>
        <p:txBody>
          <a:bodyPr/>
          <a:p/>
        </p:txBody>
      </p:sp>
      <p:sp>
        <p:nvSpPr>
          <p:cNvPr id="4" name="Text 2"/>
          <p:cNvSpPr/>
          <p:nvPr/>
        </p:nvSpPr>
        <p:spPr>
          <a:xfrm>
            <a:off x="457200" y="320040"/>
            <a:ext cx="3291840" cy="365760"/>
          </a:xfrm>
          <a:prstGeom prst="rect">
            <a:avLst/>
          </a:prstGeom>
          <a:solidFill>
            <a:srgbClr val="00285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DIRECT INSTRUCTION</a:t>
            </a:r>
            <a:endParaRPr lang="en-US" sz="1100" dirty="0"/>
          </a:p>
        </p:txBody>
      </p:sp>
      <p:sp>
        <p:nvSpPr>
          <p:cNvPr id="5" name="Text 3"/>
          <p:cNvSpPr/>
          <p:nvPr/>
        </p:nvSpPr>
        <p:spPr>
          <a:xfrm>
            <a:off x="3886200" y="32004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US.13</a:t>
            </a:r>
            <a:endParaRPr lang="en-US" sz="1200" dirty="0"/>
          </a:p>
        </p:txBody>
      </p:sp>
      <p:sp>
        <p:nvSpPr>
          <p:cNvPr id="6" name="Text 4"/>
          <p:cNvSpPr/>
          <p:nvPr/>
        </p:nvSpPr>
        <p:spPr>
          <a:xfrm>
            <a:off x="457200" y="777240"/>
            <a:ext cx="11247120" cy="868680"/>
          </a:xfrm>
          <a:prstGeom prst="rect">
            <a:avLst/>
          </a:prstGeom>
          <a:noFill/>
          <a:ln/>
        </p:spPr>
        <p:txBody>
          <a:bodyPr wrap="square" rtlCol="0" anchor="ctr"/>
          <a:lstStyle/>
          <a:p>
            <a:pPr algn="l" indent="0" marL="0">
              <a:buNone/>
            </a:pPr>
            <a:r>
              <a:rPr lang="en-US" sz="2300" b="1" dirty="0">
                <a:solidFill>
                  <a:srgbClr val="FFFFFF"/>
                </a:solidFill>
                <a:latin typeface="Georgia" pitchFamily="34" charset="0"/>
                <a:ea typeface="Georgia" pitchFamily="34" charset="-122"/>
                <a:cs typeface="Georgia" pitchFamily="34" charset="-120"/>
              </a:rPr>
              <a:t>An estimated 1.75 million children under 15 worked in mines, mills, and factories — losing schooling and safety.</a:t>
            </a:r>
            <a:endParaRPr lang="en-US" sz="2300" dirty="0"/>
          </a:p>
        </p:txBody>
      </p:sp>
      <p:pic>
        <p:nvPicPr>
          <p:cNvPr id="7" name="Image 0" descr="hh-web/public/images/textbook/unit-2/child-labor-hine-1908.jpg">    </p:cNvPr>
          <p:cNvPicPr>
            <a:picLocks noChangeAspect="1"/>
          </p:cNvPicPr>
          <p:nvPr/>
        </p:nvPicPr>
        <p:blipFill>
          <a:blip r:embed="rId1"/>
          <a:srcRect l="0" r="0" t="0" b="0"/>
          <a:stretch/>
        </p:blipFill>
        <p:spPr>
          <a:xfrm>
            <a:off x="2743200" y="2057400"/>
            <a:ext cx="6702552" cy="4160520"/>
          </a:xfrm>
          <a:prstGeom prst="rect">
            <a:avLst/>
          </a:prstGeom>
        </p:spPr>
      </p:pic>
      <p:sp>
        <p:nvSpPr>
          <p:cNvPr id="8" name="Text 5"/>
          <p:cNvSpPr/>
          <p:nvPr/>
        </p:nvSpPr>
        <p:spPr>
          <a:xfrm>
            <a:off x="2743200" y="2103120"/>
            <a:ext cx="1188720" cy="292608"/>
          </a:xfrm>
          <a:prstGeom prst="rect">
            <a:avLst/>
          </a:prstGeom>
          <a:solidFill>
            <a:srgbClr val="F9A825"/>
          </a:solidFill>
          <a:ln/>
        </p:spPr>
        <p:txBody>
          <a:bodyPr wrap="square" rtlCol="0" anchor="ctr"/>
          <a:lstStyle/>
          <a:p>
            <a:pPr algn="ctr" indent="0" marL="0">
              <a:buNone/>
            </a:pPr>
            <a:r>
              <a:rPr lang="en-US" sz="900" b="1" spc="100" kern="0" dirty="0">
                <a:solidFill>
                  <a:srgbClr val="1A2332"/>
                </a:solidFill>
                <a:latin typeface="Trebuchet MS" pitchFamily="34" charset="0"/>
                <a:ea typeface="Trebuchet MS" pitchFamily="34" charset="-122"/>
                <a:cs typeface="Trebuchet MS" pitchFamily="34" charset="-120"/>
              </a:rPr>
              <a:t>ZOOM IN</a:t>
            </a:r>
            <a:endParaRPr lang="en-US" sz="900" dirty="0"/>
          </a:p>
        </p:txBody>
      </p:sp>
      <p:sp>
        <p:nvSpPr>
          <p:cNvPr id="9" name="Text 6"/>
          <p:cNvSpPr/>
          <p:nvPr/>
        </p:nvSpPr>
        <p:spPr>
          <a:xfrm>
            <a:off x="457200" y="6263640"/>
            <a:ext cx="8229600" cy="274320"/>
          </a:xfrm>
          <a:prstGeom prst="rect">
            <a:avLst/>
          </a:prstGeom>
          <a:noFill/>
          <a:ln/>
        </p:spPr>
        <p:txBody>
          <a:bodyPr wrap="square" rtlCol="0" anchor="ctr"/>
          <a:lstStyle/>
          <a:p>
            <a:pPr indent="0" marL="0">
              <a:buNone/>
            </a:pPr>
            <a:r>
              <a:rPr lang="en-US" sz="1000" i="1" dirty="0">
                <a:solidFill>
                  <a:srgbClr val="5C6470"/>
                </a:solidFill>
                <a:latin typeface="Trebuchet MS" pitchFamily="34" charset="0"/>
                <a:ea typeface="Trebuchet MS" pitchFamily="34" charset="-122"/>
                <a:cs typeface="Trebuchet MS" pitchFamily="34" charset="-120"/>
              </a:rPr>
              <a:t>US.13 · Child Labor Practices</a:t>
            </a:r>
            <a:endParaRPr lang="en-US" sz="1000" dirty="0"/>
          </a:p>
        </p:txBody>
      </p:sp>
      <p:sp>
        <p:nvSpPr>
          <p:cNvPr id="10" name="Text 7"/>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1" name="Text 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35</a:t>
            </a:r>
            <a:endParaRPr lang="en-US" sz="9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737360"/>
          </a:xfrm>
          <a:prstGeom prst="rect">
            <a:avLst/>
          </a:prstGeom>
          <a:solidFill>
            <a:srgbClr val="1A2332"/>
          </a:solidFill>
          <a:ln/>
        </p:spPr>
        <p:txBody>
          <a:bodyPr/>
          <a:p/>
        </p:txBody>
      </p:sp>
      <p:sp>
        <p:nvSpPr>
          <p:cNvPr id="3" name="Shape 1"/>
          <p:cNvSpPr/>
          <p:nvPr/>
        </p:nvSpPr>
        <p:spPr>
          <a:xfrm>
            <a:off x="0" y="1737360"/>
            <a:ext cx="12191695" cy="54864"/>
          </a:xfrm>
          <a:prstGeom prst="rect">
            <a:avLst/>
          </a:prstGeom>
          <a:solidFill>
            <a:srgbClr val="C9A84C"/>
          </a:solidFill>
          <a:ln/>
        </p:spPr>
        <p:txBody>
          <a:bodyPr/>
          <a:p/>
        </p:txBody>
      </p:sp>
      <p:sp>
        <p:nvSpPr>
          <p:cNvPr id="4" name="Text 2"/>
          <p:cNvSpPr/>
          <p:nvPr/>
        </p:nvSpPr>
        <p:spPr>
          <a:xfrm>
            <a:off x="457200" y="320040"/>
            <a:ext cx="3291840" cy="365760"/>
          </a:xfrm>
          <a:prstGeom prst="rect">
            <a:avLst/>
          </a:prstGeom>
          <a:solidFill>
            <a:srgbClr val="00285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DIRECT INSTRUCTION</a:t>
            </a:r>
            <a:endParaRPr lang="en-US" sz="1100" dirty="0"/>
          </a:p>
        </p:txBody>
      </p:sp>
      <p:sp>
        <p:nvSpPr>
          <p:cNvPr id="5" name="Text 3"/>
          <p:cNvSpPr/>
          <p:nvPr/>
        </p:nvSpPr>
        <p:spPr>
          <a:xfrm>
            <a:off x="3886200" y="32004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US.13</a:t>
            </a:r>
            <a:endParaRPr lang="en-US" sz="1200" dirty="0"/>
          </a:p>
        </p:txBody>
      </p:sp>
      <p:sp>
        <p:nvSpPr>
          <p:cNvPr id="6" name="Text 4"/>
          <p:cNvSpPr/>
          <p:nvPr/>
        </p:nvSpPr>
        <p:spPr>
          <a:xfrm>
            <a:off x="457200" y="777240"/>
            <a:ext cx="11247120" cy="868680"/>
          </a:xfrm>
          <a:prstGeom prst="rect">
            <a:avLst/>
          </a:prstGeom>
          <a:noFill/>
          <a:ln/>
        </p:spPr>
        <p:txBody>
          <a:bodyPr wrap="square" rtlCol="0" anchor="ctr"/>
          <a:lstStyle/>
          <a:p>
            <a:pPr algn="l" indent="0" marL="0">
              <a:buNone/>
            </a:pPr>
            <a:r>
              <a:rPr lang="en-US" sz="2300" b="1" dirty="0">
                <a:solidFill>
                  <a:srgbClr val="FFFFFF"/>
                </a:solidFill>
                <a:latin typeface="Georgia" pitchFamily="34" charset="0"/>
                <a:ea typeface="Georgia" pitchFamily="34" charset="-122"/>
                <a:cs typeface="Georgia" pitchFamily="34" charset="-120"/>
              </a:rPr>
              <a:t>The Triangle Shirtwaist fire (1911) killed 146 workers — mostly young immigrant women — behind locked exits, forcing safety reform.</a:t>
            </a:r>
            <a:endParaRPr lang="en-US" sz="2300" dirty="0"/>
          </a:p>
        </p:txBody>
      </p:sp>
      <p:pic>
        <p:nvPicPr>
          <p:cNvPr id="7" name="Image 0" descr="hh-web/public/images/textbook/unit-2/triangle-fire-1911.jpg">    </p:cNvPr>
          <p:cNvPicPr>
            <a:picLocks noChangeAspect="1"/>
          </p:cNvPicPr>
          <p:nvPr/>
        </p:nvPicPr>
        <p:blipFill>
          <a:blip r:embed="rId1"/>
          <a:srcRect l="0" r="0" t="0" b="0"/>
          <a:stretch/>
        </p:blipFill>
        <p:spPr>
          <a:xfrm>
            <a:off x="2743200" y="2057400"/>
            <a:ext cx="6702552" cy="4160520"/>
          </a:xfrm>
          <a:prstGeom prst="rect">
            <a:avLst/>
          </a:prstGeom>
        </p:spPr>
      </p:pic>
      <p:sp>
        <p:nvSpPr>
          <p:cNvPr id="8" name="Text 5"/>
          <p:cNvSpPr/>
          <p:nvPr/>
        </p:nvSpPr>
        <p:spPr>
          <a:xfrm>
            <a:off x="2743200" y="2103120"/>
            <a:ext cx="1188720" cy="292608"/>
          </a:xfrm>
          <a:prstGeom prst="rect">
            <a:avLst/>
          </a:prstGeom>
          <a:solidFill>
            <a:srgbClr val="F9A825"/>
          </a:solidFill>
          <a:ln/>
        </p:spPr>
        <p:txBody>
          <a:bodyPr wrap="square" rtlCol="0" anchor="ctr"/>
          <a:lstStyle/>
          <a:p>
            <a:pPr algn="ctr" indent="0" marL="0">
              <a:buNone/>
            </a:pPr>
            <a:r>
              <a:rPr lang="en-US" sz="900" b="1" spc="100" kern="0" dirty="0">
                <a:solidFill>
                  <a:srgbClr val="1A2332"/>
                </a:solidFill>
                <a:latin typeface="Trebuchet MS" pitchFamily="34" charset="0"/>
                <a:ea typeface="Trebuchet MS" pitchFamily="34" charset="-122"/>
                <a:cs typeface="Trebuchet MS" pitchFamily="34" charset="-120"/>
              </a:rPr>
              <a:t>ZOOM IN</a:t>
            </a:r>
            <a:endParaRPr lang="en-US" sz="900" dirty="0"/>
          </a:p>
        </p:txBody>
      </p:sp>
      <p:sp>
        <p:nvSpPr>
          <p:cNvPr id="9" name="Text 6"/>
          <p:cNvSpPr/>
          <p:nvPr/>
        </p:nvSpPr>
        <p:spPr>
          <a:xfrm>
            <a:off x="457200" y="6263640"/>
            <a:ext cx="8229600" cy="274320"/>
          </a:xfrm>
          <a:prstGeom prst="rect">
            <a:avLst/>
          </a:prstGeom>
          <a:noFill/>
          <a:ln/>
        </p:spPr>
        <p:txBody>
          <a:bodyPr wrap="square" rtlCol="0" anchor="ctr"/>
          <a:lstStyle/>
          <a:p>
            <a:pPr indent="0" marL="0">
              <a:buNone/>
            </a:pPr>
            <a:r>
              <a:rPr lang="en-US" sz="1000" i="1" dirty="0">
                <a:solidFill>
                  <a:srgbClr val="5C6470"/>
                </a:solidFill>
                <a:latin typeface="Trebuchet MS" pitchFamily="34" charset="0"/>
                <a:ea typeface="Trebuchet MS" pitchFamily="34" charset="-122"/>
                <a:cs typeface="Trebuchet MS" pitchFamily="34" charset="-120"/>
              </a:rPr>
              <a:t>US.13 · The Triangle Shirtwaist Fire</a:t>
            </a:r>
            <a:endParaRPr lang="en-US" sz="1000" dirty="0"/>
          </a:p>
        </p:txBody>
      </p:sp>
      <p:sp>
        <p:nvSpPr>
          <p:cNvPr id="10" name="Text 7"/>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1" name="Text 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36</a:t>
            </a:r>
            <a:endParaRPr lang="en-US" sz="9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554480"/>
          </a:xfrm>
          <a:prstGeom prst="rect">
            <a:avLst/>
          </a:prstGeom>
          <a:solidFill>
            <a:srgbClr val="002858"/>
          </a:solidFill>
          <a:ln/>
        </p:spPr>
        <p:txBody>
          <a:bodyPr/>
          <a:p/>
        </p:txBody>
      </p:sp>
      <p:sp>
        <p:nvSpPr>
          <p:cNvPr id="3" name="Shape 1"/>
          <p:cNvSpPr/>
          <p:nvPr/>
        </p:nvSpPr>
        <p:spPr>
          <a:xfrm>
            <a:off x="0" y="1554480"/>
            <a:ext cx="12191695" cy="54864"/>
          </a:xfrm>
          <a:prstGeom prst="rect">
            <a:avLst/>
          </a:prstGeom>
          <a:solidFill>
            <a:srgbClr val="C9A84C"/>
          </a:solidFill>
          <a:ln/>
        </p:spPr>
        <p:txBody>
          <a:bodyPr/>
          <a:p/>
        </p:txBody>
      </p:sp>
      <p:sp>
        <p:nvSpPr>
          <p:cNvPr id="4" name="Text 2"/>
          <p:cNvSpPr/>
          <p:nvPr/>
        </p:nvSpPr>
        <p:spPr>
          <a:xfrm>
            <a:off x="457200" y="274320"/>
            <a:ext cx="3291840" cy="365760"/>
          </a:xfrm>
          <a:prstGeom prst="rect">
            <a:avLst/>
          </a:prstGeom>
          <a:solidFill>
            <a:srgbClr val="C6282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SOURCE IT FIRST</a:t>
            </a:r>
            <a:endParaRPr lang="en-US" sz="1100" dirty="0"/>
          </a:p>
        </p:txBody>
      </p:sp>
      <p:sp>
        <p:nvSpPr>
          <p:cNvPr id="5" name="Text 3"/>
          <p:cNvSpPr/>
          <p:nvPr/>
        </p:nvSpPr>
        <p:spPr>
          <a:xfrm>
            <a:off x="3886200" y="27432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US.13</a:t>
            </a:r>
            <a:endParaRPr lang="en-US" sz="1200" dirty="0"/>
          </a:p>
        </p:txBody>
      </p:sp>
      <p:sp>
        <p:nvSpPr>
          <p:cNvPr id="6" name="Text 4"/>
          <p:cNvSpPr/>
          <p:nvPr/>
        </p:nvSpPr>
        <p:spPr>
          <a:xfrm>
            <a:off x="457200" y="713232"/>
            <a:ext cx="11247120" cy="777240"/>
          </a:xfrm>
          <a:prstGeom prst="rect">
            <a:avLst/>
          </a:prstGeom>
          <a:noFill/>
          <a:ln/>
        </p:spPr>
        <p:txBody>
          <a:bodyPr wrap="square" rtlCol="0" anchor="ctr"/>
          <a:lstStyle/>
          <a:p>
            <a:pPr indent="0" marL="0">
              <a:buNone/>
            </a:pPr>
            <a:r>
              <a:rPr lang="en-US" sz="2000" b="1" dirty="0">
                <a:solidFill>
                  <a:srgbClr val="FFFFFF"/>
                </a:solidFill>
                <a:latin typeface="Georgia" pitchFamily="34" charset="0"/>
                <a:ea typeface="Georgia" pitchFamily="34" charset="-122"/>
                <a:cs typeface="Georgia" pitchFamily="34" charset="-120"/>
              </a:rPr>
              <a:t>Read survivor Rose Safran’s account of the fire — then ask what a witness could see, and what she could not know.</a:t>
            </a:r>
            <a:endParaRPr lang="en-US" sz="2000" dirty="0"/>
          </a:p>
        </p:txBody>
      </p:sp>
      <p:sp>
        <p:nvSpPr>
          <p:cNvPr id="7" name="Text 5"/>
          <p:cNvSpPr/>
          <p:nvPr/>
        </p:nvSpPr>
        <p:spPr>
          <a:xfrm>
            <a:off x="457200" y="1783080"/>
            <a:ext cx="3566160" cy="320040"/>
          </a:xfrm>
          <a:prstGeom prst="rect">
            <a:avLst/>
          </a:prstGeom>
          <a:solidFill>
            <a:srgbClr val="1A2332"/>
          </a:solid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WHO</a:t>
            </a:r>
            <a:endParaRPr lang="en-US" sz="1200" dirty="0"/>
          </a:p>
        </p:txBody>
      </p:sp>
      <p:sp>
        <p:nvSpPr>
          <p:cNvPr id="8" name="Text 6"/>
          <p:cNvSpPr/>
          <p:nvPr/>
        </p:nvSpPr>
        <p:spPr>
          <a:xfrm>
            <a:off x="457200" y="2103120"/>
            <a:ext cx="3566160" cy="914400"/>
          </a:xfrm>
          <a:prstGeom prst="rect">
            <a:avLst/>
          </a:prstGeom>
          <a:solidFill>
            <a:srgbClr val="FFFFFF"/>
          </a:solidFill>
          <a:ln w="12700">
            <a:solidFill>
              <a:srgbClr val="DAD3C2"/>
            </a:solidFill>
          </a:ln>
        </p:spPr>
        <p:txBody>
          <a:bodyPr wrap="square" lIns="76200" tIns="76200" rIns="76200" bIns="76200" rtlCol="0" anchor="t"/>
          <a:lstStyle/>
          <a:p>
            <a:pPr algn="l" indent="0" marL="0">
              <a:buNone/>
            </a:pPr>
            <a:r>
              <a:rPr lang="en-US" sz="1200" dirty="0">
                <a:solidFill>
                  <a:srgbClr val="1F2430"/>
                </a:solidFill>
                <a:latin typeface="Calibri" pitchFamily="34" charset="0"/>
                <a:ea typeface="Calibri" pitchFamily="34" charset="-122"/>
                <a:cs typeface="Calibri" pitchFamily="34" charset="-120"/>
              </a:rPr>
              <a:t>Rose Safran — a young immigrant worker who survived the Triangle fire.</a:t>
            </a:r>
            <a:endParaRPr lang="en-US" sz="1200" dirty="0"/>
          </a:p>
        </p:txBody>
      </p:sp>
      <p:sp>
        <p:nvSpPr>
          <p:cNvPr id="9" name="Text 7"/>
          <p:cNvSpPr/>
          <p:nvPr/>
        </p:nvSpPr>
        <p:spPr>
          <a:xfrm>
            <a:off x="4251960" y="1783080"/>
            <a:ext cx="3566160" cy="320040"/>
          </a:xfrm>
          <a:prstGeom prst="rect">
            <a:avLst/>
          </a:prstGeom>
          <a:solidFill>
            <a:srgbClr val="1A2332"/>
          </a:solid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WHEN</a:t>
            </a:r>
            <a:endParaRPr lang="en-US" sz="1200" dirty="0"/>
          </a:p>
        </p:txBody>
      </p:sp>
      <p:sp>
        <p:nvSpPr>
          <p:cNvPr id="10" name="Text 8"/>
          <p:cNvSpPr/>
          <p:nvPr/>
        </p:nvSpPr>
        <p:spPr>
          <a:xfrm>
            <a:off x="4251960" y="2103120"/>
            <a:ext cx="3566160" cy="914400"/>
          </a:xfrm>
          <a:prstGeom prst="rect">
            <a:avLst/>
          </a:prstGeom>
          <a:solidFill>
            <a:srgbClr val="FFFFFF"/>
          </a:solidFill>
          <a:ln w="12700">
            <a:solidFill>
              <a:srgbClr val="DAD3C2"/>
            </a:solidFill>
          </a:ln>
        </p:spPr>
        <p:txBody>
          <a:bodyPr wrap="square" lIns="76200" tIns="76200" rIns="76200" bIns="76200" rtlCol="0" anchor="t"/>
          <a:lstStyle/>
          <a:p>
            <a:pPr algn="l" indent="0" marL="0">
              <a:buNone/>
            </a:pPr>
            <a:r>
              <a:rPr lang="en-US" sz="1200" dirty="0">
                <a:solidFill>
                  <a:srgbClr val="1F2430"/>
                </a:solidFill>
                <a:latin typeface="Calibri" pitchFamily="34" charset="0"/>
                <a:ea typeface="Calibri" pitchFamily="34" charset="-122"/>
                <a:cs typeface="Calibri" pitchFamily="34" charset="-120"/>
              </a:rPr>
              <a:t>1911, weeks after the fire; she is testifying about what she witnessed firsthand.</a:t>
            </a:r>
            <a:endParaRPr lang="en-US" sz="1200" dirty="0"/>
          </a:p>
        </p:txBody>
      </p:sp>
      <p:sp>
        <p:nvSpPr>
          <p:cNvPr id="11" name="Text 9"/>
          <p:cNvSpPr/>
          <p:nvPr/>
        </p:nvSpPr>
        <p:spPr>
          <a:xfrm>
            <a:off x="8046720" y="1783080"/>
            <a:ext cx="3566160" cy="320040"/>
          </a:xfrm>
          <a:prstGeom prst="rect">
            <a:avLst/>
          </a:prstGeom>
          <a:solidFill>
            <a:srgbClr val="1A2332"/>
          </a:solid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WHY</a:t>
            </a:r>
            <a:endParaRPr lang="en-US" sz="1200" dirty="0"/>
          </a:p>
        </p:txBody>
      </p:sp>
      <p:sp>
        <p:nvSpPr>
          <p:cNvPr id="12" name="Text 10"/>
          <p:cNvSpPr/>
          <p:nvPr/>
        </p:nvSpPr>
        <p:spPr>
          <a:xfrm>
            <a:off x="8046720" y="2103120"/>
            <a:ext cx="3566160" cy="914400"/>
          </a:xfrm>
          <a:prstGeom prst="rect">
            <a:avLst/>
          </a:prstGeom>
          <a:solidFill>
            <a:srgbClr val="FFFFFF"/>
          </a:solidFill>
          <a:ln w="12700">
            <a:solidFill>
              <a:srgbClr val="DAD3C2"/>
            </a:solidFill>
          </a:ln>
        </p:spPr>
        <p:txBody>
          <a:bodyPr wrap="square" lIns="76200" tIns="76200" rIns="76200" bIns="76200" rtlCol="0" anchor="t"/>
          <a:lstStyle/>
          <a:p>
            <a:pPr algn="l" indent="0" marL="0">
              <a:buNone/>
            </a:pPr>
            <a:r>
              <a:rPr lang="en-US" sz="1200" dirty="0">
                <a:solidFill>
                  <a:srgbClr val="1F2430"/>
                </a:solidFill>
                <a:latin typeface="Calibri" pitchFamily="34" charset="0"/>
                <a:ea typeface="Calibri" pitchFamily="34" charset="-122"/>
                <a:cs typeface="Calibri" pitchFamily="34" charset="-120"/>
              </a:rPr>
              <a:t>Survivor testimony is powerful primary evidence — but always ask: what could this witness see, and what might they not know?</a:t>
            </a:r>
            <a:endParaRPr lang="en-US" sz="1200" dirty="0"/>
          </a:p>
        </p:txBody>
      </p:sp>
      <p:sp>
        <p:nvSpPr>
          <p:cNvPr id="13" name="Shape 11"/>
          <p:cNvSpPr/>
          <p:nvPr/>
        </p:nvSpPr>
        <p:spPr>
          <a:xfrm>
            <a:off x="457200" y="3200400"/>
            <a:ext cx="5532120" cy="2651760"/>
          </a:xfrm>
          <a:prstGeom prst="rect">
            <a:avLst/>
          </a:prstGeom>
          <a:solidFill>
            <a:srgbClr val="FFFFFF"/>
          </a:solidFill>
          <a:ln w="19050">
            <a:solidFill>
              <a:srgbClr val="C9A84C"/>
            </a:solidFill>
            <a:prstDash val="solid"/>
          </a:ln>
        </p:spPr>
      </p:sp>
      <p:sp>
        <p:nvSpPr>
          <p:cNvPr id="14" name="Text 12"/>
          <p:cNvSpPr/>
          <p:nvPr/>
        </p:nvSpPr>
        <p:spPr>
          <a:xfrm>
            <a:off x="594360" y="3291840"/>
            <a:ext cx="5257800" cy="320040"/>
          </a:xfrm>
          <a:prstGeom prst="rect">
            <a:avLst/>
          </a:prstGeom>
          <a:noFill/>
          <a:ln/>
        </p:spPr>
        <p:txBody>
          <a:bodyPr wrap="square" rtlCol="0" anchor="ctr"/>
          <a:lstStyle/>
          <a:p>
            <a:pPr indent="0" marL="0">
              <a:buNone/>
            </a:pPr>
            <a:r>
              <a:rPr lang="en-US" sz="1400" b="1" dirty="0">
                <a:solidFill>
                  <a:srgbClr val="002858"/>
                </a:solidFill>
                <a:latin typeface="Georgia" pitchFamily="34" charset="0"/>
                <a:ea typeface="Georgia" pitchFamily="34" charset="-122"/>
                <a:cs typeface="Georgia" pitchFamily="34" charset="-120"/>
              </a:rPr>
              <a:t>Triangle Shirtwaist Factory Fire Survivor Account</a:t>
            </a:r>
            <a:endParaRPr lang="en-US" sz="1400" dirty="0"/>
          </a:p>
        </p:txBody>
      </p:sp>
      <p:sp>
        <p:nvSpPr>
          <p:cNvPr id="15" name="Text 13"/>
          <p:cNvSpPr/>
          <p:nvPr/>
        </p:nvSpPr>
        <p:spPr>
          <a:xfrm>
            <a:off x="594360" y="3611880"/>
            <a:ext cx="5257800" cy="274320"/>
          </a:xfrm>
          <a:prstGeom prst="rect">
            <a:avLst/>
          </a:prstGeom>
          <a:noFill/>
          <a:ln/>
        </p:spPr>
        <p:txBody>
          <a:bodyPr wrap="square" rtlCol="0" anchor="ctr"/>
          <a:lstStyle/>
          <a:p>
            <a:pPr indent="0" marL="0">
              <a:buNone/>
            </a:pPr>
            <a:r>
              <a:rPr lang="en-US" sz="900" i="1" dirty="0">
                <a:solidFill>
                  <a:srgbClr val="5C6470"/>
                </a:solidFill>
                <a:latin typeface="Trebuchet MS" pitchFamily="34" charset="0"/>
                <a:ea typeface="Trebuchet MS" pitchFamily="34" charset="-122"/>
                <a:cs typeface="Trebuchet MS" pitchFamily="34" charset="-120"/>
              </a:rPr>
              <a:t>Rose Safran · 1911</a:t>
            </a:r>
            <a:endParaRPr lang="en-US" sz="900" dirty="0"/>
          </a:p>
        </p:txBody>
      </p:sp>
      <p:sp>
        <p:nvSpPr>
          <p:cNvPr id="16" name="Text 14"/>
          <p:cNvSpPr/>
          <p:nvPr/>
        </p:nvSpPr>
        <p:spPr>
          <a:xfrm>
            <a:off x="594360" y="3931920"/>
            <a:ext cx="5257800" cy="1600200"/>
          </a:xfrm>
          <a:prstGeom prst="rect">
            <a:avLst/>
          </a:prstGeom>
          <a:noFill/>
          <a:ln/>
        </p:spPr>
        <p:txBody>
          <a:bodyPr wrap="square" rtlCol="0" anchor="t"/>
          <a:lstStyle/>
          <a:p>
            <a:pPr indent="0" marL="0">
              <a:buNone/>
            </a:pPr>
            <a:r>
              <a:rPr lang="en-US" sz="1100" dirty="0">
                <a:solidFill>
                  <a:srgbClr val="1F2430"/>
                </a:solidFill>
                <a:latin typeface="Calibri" pitchFamily="34" charset="0"/>
                <a:ea typeface="Calibri" pitchFamily="34" charset="-122"/>
                <a:cs typeface="Calibri" pitchFamily="34" charset="-120"/>
              </a:rPr>
              <a:t>"The door was locked and immediately there was a great jam of girls behind me... I stood there crying and praying while some girls jumped from the window ledge. They went through the air like bundles. I knew that if the door was not opened I would die on the window ledge or be pushed off. The whole thing was over in seven minutes."</a:t>
            </a:r>
            <a:endParaRPr lang="en-US" sz="1100" dirty="0"/>
          </a:p>
        </p:txBody>
      </p:sp>
      <p:sp>
        <p:nvSpPr>
          <p:cNvPr id="17" name="Text 15">
            <a:hlinkClick r:id="rId1" tooltip=""/>
          </p:cNvPr>
          <p:cNvSpPr/>
          <p:nvPr/>
        </p:nvSpPr>
        <p:spPr>
          <a:xfrm>
            <a:off x="594360" y="5532120"/>
            <a:ext cx="5257800" cy="256032"/>
          </a:xfrm>
          <a:prstGeom prst="rect">
            <a:avLst/>
          </a:prstGeom>
          <a:noFill/>
          <a:ln/>
        </p:spPr>
        <p:txBody>
          <a:bodyPr wrap="square" rtlCol="0" anchor="ctr"/>
          <a:lstStyle/>
          <a:p>
            <a:pPr indent="0" marL="0">
              <a:buNone/>
            </a:pPr>
            <a:r>
              <a:rPr lang="en-US" sz="900" u="sng" dirty="0">
                <a:solidFill>
                  <a:srgbClr val="002858"/>
                </a:solidFill>
                <a:latin typeface="Trebuchet MS" pitchFamily="34" charset="0"/>
                <a:ea typeface="Trebuchet MS" pitchFamily="34" charset="-122"/>
                <a:cs typeface="Trebuchet MS" pitchFamily="34" charset="-120"/>
                <a:hlinkClick r:id="rId1" invalidUrl="" action="" tgtFrame="" tooltip="" history="1" highlightClick="0" endSnd="0">
                  <a:extLst>
                    <a:ext uri="{A12FA001-AC4F-418D-AE19-62706E023703}">
                      <ahyp:hlinkClr xmlns:ahyp="http://schemas.microsoft.com/office/drawing/2018/hyperlinkcolor" val="tx"/>
                    </a:ext>
                  </a:extLst>
                </a:hlinkClick>
              </a:rPr>
              <a:t>Cornell University ILR School</a:t>
            </a:r>
            <a:endParaRPr lang="en-US" sz="900" dirty="0"/>
          </a:p>
        </p:txBody>
      </p:sp>
      <p:sp>
        <p:nvSpPr>
          <p:cNvPr id="18" name="Text 16"/>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9" name="Text 17"/>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37</a:t>
            </a:r>
            <a:endParaRPr lang="en-US" sz="9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1A2332"/>
        </a:solidFill>
      </p:bgPr>
    </p:bg>
    <p:spTree>
      <p:nvGrpSpPr>
        <p:cNvPr id="1" name=""/>
        <p:cNvGrpSpPr/>
        <p:nvPr/>
      </p:nvGrpSpPr>
      <p:grpSpPr>
        <a:xfrm>
          <a:off x="0" y="0"/>
          <a:ext cx="0" cy="0"/>
          <a:chOff x="0" y="0"/>
          <a:chExt cx="0" cy="0"/>
        </a:xfrm>
      </p:grpSpPr>
      <p:sp>
        <p:nvSpPr>
          <p:cNvPr id="2" name="Text 0"/>
          <p:cNvSpPr/>
          <p:nvPr/>
        </p:nvSpPr>
        <p:spPr>
          <a:xfrm>
            <a:off x="457200" y="274320"/>
            <a:ext cx="3291840" cy="365760"/>
          </a:xfrm>
          <a:prstGeom prst="rect">
            <a:avLst/>
          </a:prstGeom>
          <a:solidFill>
            <a:srgbClr val="C6282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THREE PERSPECTIVES</a:t>
            </a:r>
            <a:endParaRPr lang="en-US" sz="1100" dirty="0"/>
          </a:p>
        </p:txBody>
      </p:sp>
      <p:sp>
        <p:nvSpPr>
          <p:cNvPr id="3" name="Text 1"/>
          <p:cNvSpPr/>
          <p:nvPr/>
        </p:nvSpPr>
        <p:spPr>
          <a:xfrm>
            <a:off x="3886200" y="27432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US.13</a:t>
            </a:r>
            <a:endParaRPr lang="en-US" sz="1200" dirty="0"/>
          </a:p>
        </p:txBody>
      </p:sp>
      <p:sp>
        <p:nvSpPr>
          <p:cNvPr id="4" name="Text 2"/>
          <p:cNvSpPr/>
          <p:nvPr/>
        </p:nvSpPr>
        <p:spPr>
          <a:xfrm>
            <a:off x="457200" y="777240"/>
            <a:ext cx="11247120" cy="822960"/>
          </a:xfrm>
          <a:prstGeom prst="rect">
            <a:avLst/>
          </a:prstGeom>
          <a:noFill/>
          <a:ln/>
        </p:spPr>
        <p:txBody>
          <a:bodyPr wrap="square" rtlCol="0" anchor="ctr"/>
          <a:lstStyle/>
          <a:p>
            <a:pPr indent="0" marL="0">
              <a:buNone/>
            </a:pPr>
            <a:r>
              <a:rPr lang="en-US" sz="1700" i="1" dirty="0">
                <a:solidFill>
                  <a:srgbClr val="C7D4E0"/>
                </a:solidFill>
                <a:latin typeface="Georgia" pitchFamily="34" charset="0"/>
                <a:ea typeface="Georgia" pitchFamily="34" charset="-122"/>
                <a:cs typeface="Georgia" pitchFamily="34" charset="-120"/>
              </a:rPr>
              <a:t>A historian returns to three questions at the end of every reading. Use them to analyze this standard.</a:t>
            </a:r>
            <a:endParaRPr lang="en-US" sz="1700" dirty="0"/>
          </a:p>
        </p:txBody>
      </p:sp>
      <p:sp>
        <p:nvSpPr>
          <p:cNvPr id="5" name="Shape 3"/>
          <p:cNvSpPr/>
          <p:nvPr/>
        </p:nvSpPr>
        <p:spPr>
          <a:xfrm>
            <a:off x="457200" y="1783080"/>
            <a:ext cx="3566160" cy="4206240"/>
          </a:xfrm>
          <a:prstGeom prst="rect">
            <a:avLst/>
          </a:prstGeom>
          <a:solidFill>
            <a:srgbClr val="FFFFFF"/>
          </a:solidFill>
          <a:ln/>
        </p:spPr>
      </p:sp>
      <p:sp>
        <p:nvSpPr>
          <p:cNvPr id="6" name="Shape 4"/>
          <p:cNvSpPr/>
          <p:nvPr/>
        </p:nvSpPr>
        <p:spPr>
          <a:xfrm>
            <a:off x="457200" y="1783080"/>
            <a:ext cx="3566160" cy="548640"/>
          </a:xfrm>
          <a:prstGeom prst="rect">
            <a:avLst/>
          </a:prstGeom>
          <a:solidFill>
            <a:srgbClr val="1B5E20"/>
          </a:solidFill>
          <a:ln/>
        </p:spPr>
      </p:sp>
      <p:sp>
        <p:nvSpPr>
          <p:cNvPr id="7" name="Text 5"/>
          <p:cNvSpPr/>
          <p:nvPr/>
        </p:nvSpPr>
        <p:spPr>
          <a:xfrm>
            <a:off x="457200" y="1783080"/>
            <a:ext cx="3566160" cy="548640"/>
          </a:xfrm>
          <a:prstGeom prst="rect">
            <a:avLst/>
          </a:prstGeom>
          <a:noFill/>
          <a:ln/>
        </p:spPr>
        <p:txBody>
          <a:bodyPr wrap="square"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Who benefited?</a:t>
            </a:r>
            <a:endParaRPr lang="en-US" sz="1600" dirty="0"/>
          </a:p>
        </p:txBody>
      </p:sp>
      <p:sp>
        <p:nvSpPr>
          <p:cNvPr id="8" name="Text 6"/>
          <p:cNvSpPr/>
          <p:nvPr/>
        </p:nvSpPr>
        <p:spPr>
          <a:xfrm>
            <a:off x="594360" y="2423160"/>
            <a:ext cx="3291840" cy="868680"/>
          </a:xfrm>
          <a:prstGeom prst="rect">
            <a:avLst/>
          </a:prstGeom>
          <a:noFill/>
          <a:ln/>
        </p:spPr>
        <p:txBody>
          <a:bodyPr wrap="square" rtlCol="0" anchor="t"/>
          <a:lstStyle/>
          <a:p>
            <a:pPr indent="0" marL="0">
              <a:buNone/>
            </a:pPr>
            <a:r>
              <a:rPr lang="en-US" sz="1100" i="1" dirty="0">
                <a:solidFill>
                  <a:srgbClr val="5C6470"/>
                </a:solidFill>
                <a:latin typeface="Calibri" pitchFamily="34" charset="0"/>
                <a:ea typeface="Calibri" pitchFamily="34" charset="-122"/>
                <a:cs typeface="Calibri" pitchFamily="34" charset="-120"/>
              </a:rPr>
              <a:t>Who gained land, wealth, power, or protection?</a:t>
            </a:r>
            <a:endParaRPr lang="en-US" sz="1100" dirty="0"/>
          </a:p>
        </p:txBody>
      </p:sp>
      <p:sp>
        <p:nvSpPr>
          <p:cNvPr id="9" name="Text 7"/>
          <p:cNvSpPr/>
          <p:nvPr/>
        </p:nvSpPr>
        <p:spPr>
          <a:xfrm>
            <a:off x="594360" y="3291840"/>
            <a:ext cx="3291840" cy="274320"/>
          </a:xfrm>
          <a:prstGeom prst="rect">
            <a:avLst/>
          </a:prstGeom>
          <a:noFill/>
          <a:ln/>
        </p:spPr>
        <p:txBody>
          <a:bodyPr wrap="square" rtlCol="0" anchor="ctr"/>
          <a:lstStyle/>
          <a:p>
            <a:pPr indent="0" marL="0">
              <a:buNone/>
            </a:pPr>
            <a:r>
              <a:rPr lang="en-US" sz="1000" b="1" dirty="0">
                <a:solidFill>
                  <a:srgbClr val="8A6D1A"/>
                </a:solidFill>
                <a:latin typeface="Trebuchet MS" pitchFamily="34" charset="0"/>
                <a:ea typeface="Trebuchet MS" pitchFamily="34" charset="-122"/>
                <a:cs typeface="Trebuchet MS" pitchFamily="34" charset="-120"/>
              </a:rPr>
              <a:t>US.13:</a:t>
            </a:r>
            <a:endParaRPr lang="en-US" sz="1000" dirty="0"/>
          </a:p>
        </p:txBody>
      </p:sp>
      <p:sp>
        <p:nvSpPr>
          <p:cNvPr id="10" name="Text 8"/>
          <p:cNvSpPr/>
          <p:nvPr/>
        </p:nvSpPr>
        <p:spPr>
          <a:xfrm>
            <a:off x="594360" y="3566160"/>
            <a:ext cx="3291840" cy="2286000"/>
          </a:xfrm>
          <a:prstGeom prst="rect">
            <a:avLst/>
          </a:prstGeom>
          <a:noFill/>
          <a:ln/>
        </p:spPr>
        <p:txBody>
          <a:bodyPr wrap="square" rtlCol="0" anchor="t"/>
          <a:lstStyle/>
          <a:p>
            <a:pPr indent="0" marL="0">
              <a:buNone/>
            </a:pPr>
            <a:r>
              <a:rPr lang="en-US" sz="1200" dirty="0">
                <a:solidFill>
                  <a:srgbClr val="1F2430"/>
                </a:solidFill>
                <a:latin typeface="Calibri" pitchFamily="34" charset="0"/>
                <a:ea typeface="Calibri" pitchFamily="34" charset="-122"/>
                <a:cs typeface="Calibri" pitchFamily="34" charset="-120"/>
              </a:rPr>
              <a:t>Factory owners who cut costs through cheap female and child labor and minimal safety spending.</a:t>
            </a:r>
            <a:endParaRPr lang="en-US" sz="1200" dirty="0"/>
          </a:p>
        </p:txBody>
      </p:sp>
      <p:sp>
        <p:nvSpPr>
          <p:cNvPr id="11" name="Shape 9"/>
          <p:cNvSpPr/>
          <p:nvPr/>
        </p:nvSpPr>
        <p:spPr>
          <a:xfrm>
            <a:off x="4251960" y="1783080"/>
            <a:ext cx="3566160" cy="4206240"/>
          </a:xfrm>
          <a:prstGeom prst="rect">
            <a:avLst/>
          </a:prstGeom>
          <a:solidFill>
            <a:srgbClr val="FFFFFF"/>
          </a:solidFill>
          <a:ln/>
        </p:spPr>
      </p:sp>
      <p:sp>
        <p:nvSpPr>
          <p:cNvPr id="12" name="Shape 10"/>
          <p:cNvSpPr/>
          <p:nvPr/>
        </p:nvSpPr>
        <p:spPr>
          <a:xfrm>
            <a:off x="4251960" y="1783080"/>
            <a:ext cx="3566160" cy="548640"/>
          </a:xfrm>
          <a:prstGeom prst="rect">
            <a:avLst/>
          </a:prstGeom>
          <a:solidFill>
            <a:srgbClr val="C62828"/>
          </a:solidFill>
          <a:ln/>
        </p:spPr>
      </p:sp>
      <p:sp>
        <p:nvSpPr>
          <p:cNvPr id="13" name="Text 11"/>
          <p:cNvSpPr/>
          <p:nvPr/>
        </p:nvSpPr>
        <p:spPr>
          <a:xfrm>
            <a:off x="4251960" y="1783080"/>
            <a:ext cx="3566160" cy="548640"/>
          </a:xfrm>
          <a:prstGeom prst="rect">
            <a:avLst/>
          </a:prstGeom>
          <a:noFill/>
          <a:ln/>
        </p:spPr>
        <p:txBody>
          <a:bodyPr wrap="square"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Who bore the costs?</a:t>
            </a:r>
            <a:endParaRPr lang="en-US" sz="1600" dirty="0"/>
          </a:p>
        </p:txBody>
      </p:sp>
      <p:sp>
        <p:nvSpPr>
          <p:cNvPr id="14" name="Text 12"/>
          <p:cNvSpPr/>
          <p:nvPr/>
        </p:nvSpPr>
        <p:spPr>
          <a:xfrm>
            <a:off x="4389120" y="2423160"/>
            <a:ext cx="3291840" cy="868680"/>
          </a:xfrm>
          <a:prstGeom prst="rect">
            <a:avLst/>
          </a:prstGeom>
          <a:noFill/>
          <a:ln/>
        </p:spPr>
        <p:txBody>
          <a:bodyPr wrap="square" rtlCol="0" anchor="t"/>
          <a:lstStyle/>
          <a:p>
            <a:pPr indent="0" marL="0">
              <a:buNone/>
            </a:pPr>
            <a:r>
              <a:rPr lang="en-US" sz="1100" i="1" dirty="0">
                <a:solidFill>
                  <a:srgbClr val="5C6470"/>
                </a:solidFill>
                <a:latin typeface="Calibri" pitchFamily="34" charset="0"/>
                <a:ea typeface="Calibri" pitchFamily="34" charset="-122"/>
                <a:cs typeface="Calibri" pitchFamily="34" charset="-120"/>
              </a:rPr>
              <a:t>Who lost land, labor, freedom, or life — and who was silenced?</a:t>
            </a:r>
            <a:endParaRPr lang="en-US" sz="1100" dirty="0"/>
          </a:p>
        </p:txBody>
      </p:sp>
      <p:sp>
        <p:nvSpPr>
          <p:cNvPr id="15" name="Text 13"/>
          <p:cNvSpPr/>
          <p:nvPr/>
        </p:nvSpPr>
        <p:spPr>
          <a:xfrm>
            <a:off x="4389120" y="3291840"/>
            <a:ext cx="3291840" cy="274320"/>
          </a:xfrm>
          <a:prstGeom prst="rect">
            <a:avLst/>
          </a:prstGeom>
          <a:noFill/>
          <a:ln/>
        </p:spPr>
        <p:txBody>
          <a:bodyPr wrap="square" rtlCol="0" anchor="ctr"/>
          <a:lstStyle/>
          <a:p>
            <a:pPr indent="0" marL="0">
              <a:buNone/>
            </a:pPr>
            <a:r>
              <a:rPr lang="en-US" sz="1000" b="1" dirty="0">
                <a:solidFill>
                  <a:srgbClr val="8A6D1A"/>
                </a:solidFill>
                <a:latin typeface="Trebuchet MS" pitchFamily="34" charset="0"/>
                <a:ea typeface="Trebuchet MS" pitchFamily="34" charset="-122"/>
                <a:cs typeface="Trebuchet MS" pitchFamily="34" charset="-120"/>
              </a:rPr>
              <a:t>US.13:</a:t>
            </a:r>
            <a:endParaRPr lang="en-US" sz="1000" dirty="0"/>
          </a:p>
        </p:txBody>
      </p:sp>
      <p:sp>
        <p:nvSpPr>
          <p:cNvPr id="16" name="Text 14"/>
          <p:cNvSpPr/>
          <p:nvPr/>
        </p:nvSpPr>
        <p:spPr>
          <a:xfrm>
            <a:off x="4389120" y="3566160"/>
            <a:ext cx="3291840" cy="2286000"/>
          </a:xfrm>
          <a:prstGeom prst="rect">
            <a:avLst/>
          </a:prstGeom>
          <a:noFill/>
          <a:ln/>
        </p:spPr>
        <p:txBody>
          <a:bodyPr wrap="square" rtlCol="0" anchor="t"/>
          <a:lstStyle/>
          <a:p>
            <a:pPr indent="0" marL="0">
              <a:buNone/>
            </a:pPr>
            <a:r>
              <a:rPr lang="en-US" sz="1200" dirty="0">
                <a:solidFill>
                  <a:srgbClr val="1F2430"/>
                </a:solidFill>
                <a:latin typeface="Calibri" pitchFamily="34" charset="0"/>
                <a:ea typeface="Calibri" pitchFamily="34" charset="-122"/>
                <a:cs typeface="Calibri" pitchFamily="34" charset="-120"/>
              </a:rPr>
              <a:t>Women paid less than men, children denied schooling, and the 146 Triangle workers who died behind locked doors.</a:t>
            </a:r>
            <a:endParaRPr lang="en-US" sz="1200" dirty="0"/>
          </a:p>
        </p:txBody>
      </p:sp>
      <p:sp>
        <p:nvSpPr>
          <p:cNvPr id="17" name="Shape 15"/>
          <p:cNvSpPr/>
          <p:nvPr/>
        </p:nvSpPr>
        <p:spPr>
          <a:xfrm>
            <a:off x="8046720" y="1783080"/>
            <a:ext cx="3566160" cy="4206240"/>
          </a:xfrm>
          <a:prstGeom prst="rect">
            <a:avLst/>
          </a:prstGeom>
          <a:solidFill>
            <a:srgbClr val="FFFFFF"/>
          </a:solidFill>
          <a:ln/>
        </p:spPr>
      </p:sp>
      <p:sp>
        <p:nvSpPr>
          <p:cNvPr id="18" name="Shape 16"/>
          <p:cNvSpPr/>
          <p:nvPr/>
        </p:nvSpPr>
        <p:spPr>
          <a:xfrm>
            <a:off x="8046720" y="1783080"/>
            <a:ext cx="3566160" cy="548640"/>
          </a:xfrm>
          <a:prstGeom prst="rect">
            <a:avLst/>
          </a:prstGeom>
          <a:solidFill>
            <a:srgbClr val="002858"/>
          </a:solidFill>
          <a:ln/>
        </p:spPr>
      </p:sp>
      <p:sp>
        <p:nvSpPr>
          <p:cNvPr id="19" name="Text 17"/>
          <p:cNvSpPr/>
          <p:nvPr/>
        </p:nvSpPr>
        <p:spPr>
          <a:xfrm>
            <a:off x="8046720" y="1783080"/>
            <a:ext cx="3566160" cy="548640"/>
          </a:xfrm>
          <a:prstGeom prst="rect">
            <a:avLst/>
          </a:prstGeom>
          <a:noFill/>
          <a:ln/>
        </p:spPr>
        <p:txBody>
          <a:bodyPr wrap="square"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Who decided?</a:t>
            </a:r>
            <a:endParaRPr lang="en-US" sz="1600" dirty="0"/>
          </a:p>
        </p:txBody>
      </p:sp>
      <p:sp>
        <p:nvSpPr>
          <p:cNvPr id="20" name="Text 18"/>
          <p:cNvSpPr/>
          <p:nvPr/>
        </p:nvSpPr>
        <p:spPr>
          <a:xfrm>
            <a:off x="8183880" y="2423160"/>
            <a:ext cx="3291840" cy="868680"/>
          </a:xfrm>
          <a:prstGeom prst="rect">
            <a:avLst/>
          </a:prstGeom>
          <a:noFill/>
          <a:ln/>
        </p:spPr>
        <p:txBody>
          <a:bodyPr wrap="square" rtlCol="0" anchor="t"/>
          <a:lstStyle/>
          <a:p>
            <a:pPr indent="0" marL="0">
              <a:buNone/>
            </a:pPr>
            <a:r>
              <a:rPr lang="en-US" sz="1100" i="1" dirty="0">
                <a:solidFill>
                  <a:srgbClr val="5C6470"/>
                </a:solidFill>
                <a:latin typeface="Calibri" pitchFamily="34" charset="0"/>
                <a:ea typeface="Calibri" pitchFamily="34" charset="-122"/>
                <a:cs typeface="Calibri" pitchFamily="34" charset="-120"/>
              </a:rPr>
              <a:t>Which people, offices, or courts held the authority?</a:t>
            </a:r>
            <a:endParaRPr lang="en-US" sz="1100" dirty="0"/>
          </a:p>
        </p:txBody>
      </p:sp>
      <p:sp>
        <p:nvSpPr>
          <p:cNvPr id="21" name="Text 19"/>
          <p:cNvSpPr/>
          <p:nvPr/>
        </p:nvSpPr>
        <p:spPr>
          <a:xfrm>
            <a:off x="8183880" y="3291840"/>
            <a:ext cx="3291840" cy="274320"/>
          </a:xfrm>
          <a:prstGeom prst="rect">
            <a:avLst/>
          </a:prstGeom>
          <a:noFill/>
          <a:ln/>
        </p:spPr>
        <p:txBody>
          <a:bodyPr wrap="square" rtlCol="0" anchor="ctr"/>
          <a:lstStyle/>
          <a:p>
            <a:pPr indent="0" marL="0">
              <a:buNone/>
            </a:pPr>
            <a:r>
              <a:rPr lang="en-US" sz="1000" b="1" dirty="0">
                <a:solidFill>
                  <a:srgbClr val="8A6D1A"/>
                </a:solidFill>
                <a:latin typeface="Trebuchet MS" pitchFamily="34" charset="0"/>
                <a:ea typeface="Trebuchet MS" pitchFamily="34" charset="-122"/>
                <a:cs typeface="Trebuchet MS" pitchFamily="34" charset="-120"/>
              </a:rPr>
              <a:t>US.13:</a:t>
            </a:r>
            <a:endParaRPr lang="en-US" sz="1000" dirty="0"/>
          </a:p>
        </p:txBody>
      </p:sp>
      <p:sp>
        <p:nvSpPr>
          <p:cNvPr id="22" name="Text 20"/>
          <p:cNvSpPr/>
          <p:nvPr/>
        </p:nvSpPr>
        <p:spPr>
          <a:xfrm>
            <a:off x="8183880" y="3566160"/>
            <a:ext cx="3291840" cy="2286000"/>
          </a:xfrm>
          <a:prstGeom prst="rect">
            <a:avLst/>
          </a:prstGeom>
          <a:noFill/>
          <a:ln/>
        </p:spPr>
        <p:txBody>
          <a:bodyPr wrap="square" rtlCol="0" anchor="t"/>
          <a:lstStyle/>
          <a:p>
            <a:pPr indent="0" marL="0">
              <a:buNone/>
            </a:pPr>
            <a:r>
              <a:rPr lang="en-US" sz="1200" dirty="0">
                <a:solidFill>
                  <a:srgbClr val="1F2430"/>
                </a:solidFill>
                <a:latin typeface="Calibri" pitchFamily="34" charset="0"/>
                <a:ea typeface="Calibri" pitchFamily="34" charset="-122"/>
                <a:cs typeface="Calibri" pitchFamily="34" charset="-120"/>
              </a:rPr>
              <a:t>Employers who set conditions; and, after the fire, city and state governments that enacted new factory-safety laws.</a:t>
            </a:r>
            <a:endParaRPr lang="en-US" sz="1200" dirty="0"/>
          </a:p>
        </p:txBody>
      </p:sp>
      <p:sp>
        <p:nvSpPr>
          <p:cNvPr id="23" name="Text 21"/>
          <p:cNvSpPr/>
          <p:nvPr/>
        </p:nvSpPr>
        <p:spPr>
          <a:xfrm>
            <a:off x="457200" y="6126480"/>
            <a:ext cx="10972800" cy="274320"/>
          </a:xfrm>
          <a:prstGeom prst="rect">
            <a:avLst/>
          </a:prstGeom>
          <a:noFill/>
          <a:ln/>
        </p:spPr>
        <p:txBody>
          <a:bodyPr wrap="square" rtlCol="0" anchor="ctr"/>
          <a:lstStyle/>
          <a:p>
            <a:pPr indent="0" marL="0">
              <a:buNone/>
            </a:pPr>
            <a:r>
              <a:rPr lang="en-US" sz="1000" i="1" dirty="0">
                <a:solidFill>
                  <a:srgbClr val="C7D4E0"/>
                </a:solidFill>
                <a:latin typeface="Trebuchet MS" pitchFamily="34" charset="0"/>
                <a:ea typeface="Trebuchet MS" pitchFamily="34" charset="-122"/>
                <a:cs typeface="Trebuchet MS" pitchFamily="34" charset="-120"/>
              </a:rPr>
              <a:t>Anchor: Rose Safran, Triangle fire survivor account, 1911 (Cornell ILR)</a:t>
            </a:r>
            <a:endParaRPr lang="en-US" sz="1000" dirty="0"/>
          </a:p>
        </p:txBody>
      </p:sp>
      <p:sp>
        <p:nvSpPr>
          <p:cNvPr id="24" name="Text 22"/>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5" name="Text 23"/>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38</a:t>
            </a:r>
            <a:endParaRPr lang="en-US" sz="9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1A2332"/>
        </a:solidFill>
      </p:bgPr>
    </p:bg>
    <p:spTree>
      <p:nvGrpSpPr>
        <p:cNvPr id="1" name=""/>
        <p:cNvGrpSpPr/>
        <p:nvPr/>
      </p:nvGrpSpPr>
      <p:grpSpPr>
        <a:xfrm>
          <a:off x="0" y="0"/>
          <a:ext cx="0" cy="0"/>
          <a:chOff x="0" y="0"/>
          <a:chExt cx="0" cy="0"/>
        </a:xfrm>
      </p:grpSpPr>
      <p:sp>
        <p:nvSpPr>
          <p:cNvPr id="2" name="Shape 0"/>
          <p:cNvSpPr/>
          <p:nvPr/>
        </p:nvSpPr>
        <p:spPr>
          <a:xfrm>
            <a:off x="0" y="2331720"/>
            <a:ext cx="12191695" cy="73152"/>
          </a:xfrm>
          <a:prstGeom prst="rect">
            <a:avLst/>
          </a:prstGeom>
          <a:solidFill>
            <a:srgbClr val="C9A84C"/>
          </a:solidFill>
          <a:ln/>
        </p:spPr>
        <p:txBody>
          <a:bodyPr/>
          <a:p/>
        </p:txBody>
      </p:sp>
      <p:sp>
        <p:nvSpPr>
          <p:cNvPr id="3" name="Text 1"/>
          <p:cNvSpPr/>
          <p:nvPr/>
        </p:nvSpPr>
        <p:spPr>
          <a:xfrm>
            <a:off x="457200" y="548640"/>
            <a:ext cx="2926080" cy="1188720"/>
          </a:xfrm>
          <a:prstGeom prst="rect">
            <a:avLst/>
          </a:prstGeom>
          <a:noFill/>
          <a:ln/>
        </p:spPr>
        <p:txBody>
          <a:bodyPr wrap="square" rtlCol="0" anchor="ctr"/>
          <a:lstStyle/>
          <a:p>
            <a:pPr indent="0" marL="0">
              <a:buNone/>
            </a:pPr>
            <a:r>
              <a:rPr lang="en-US" sz="6000" b="1" dirty="0">
                <a:solidFill>
                  <a:srgbClr val="C9A84C"/>
                </a:solidFill>
                <a:latin typeface="Georgia" pitchFamily="34" charset="0"/>
                <a:ea typeface="Georgia" pitchFamily="34" charset="-122"/>
                <a:cs typeface="Georgia" pitchFamily="34" charset="-120"/>
              </a:rPr>
              <a:t>US.14</a:t>
            </a:r>
            <a:endParaRPr lang="en-US" sz="6000" dirty="0"/>
          </a:p>
        </p:txBody>
      </p:sp>
      <p:sp>
        <p:nvSpPr>
          <p:cNvPr id="4" name="Text 2"/>
          <p:cNvSpPr/>
          <p:nvPr/>
        </p:nvSpPr>
        <p:spPr>
          <a:xfrm>
            <a:off x="3474720" y="548640"/>
            <a:ext cx="8229600" cy="1188720"/>
          </a:xfrm>
          <a:prstGeom prst="rect">
            <a:avLst/>
          </a:prstGeom>
          <a:noFill/>
          <a:ln/>
        </p:spPr>
        <p:txBody>
          <a:bodyPr wrap="square" rtlCol="0" anchor="ctr"/>
          <a:lstStyle/>
          <a:p>
            <a:pPr indent="0" marL="0">
              <a:buNone/>
            </a:pPr>
            <a:r>
              <a:rPr lang="en-US" sz="2600" b="1" dirty="0">
                <a:solidFill>
                  <a:srgbClr val="FFFFFF"/>
                </a:solidFill>
                <a:latin typeface="Georgia" pitchFamily="34" charset="0"/>
                <a:ea typeface="Georgia" pitchFamily="34" charset="-122"/>
                <a:cs typeface="Georgia" pitchFamily="34" charset="-120"/>
              </a:rPr>
              <a:t>Muckrakers &amp; Progressive Idealists</a:t>
            </a:r>
            <a:endParaRPr lang="en-US" sz="2600" dirty="0"/>
          </a:p>
        </p:txBody>
      </p:sp>
      <p:sp>
        <p:nvSpPr>
          <p:cNvPr id="5" name="Text 3"/>
          <p:cNvSpPr/>
          <p:nvPr/>
        </p:nvSpPr>
        <p:spPr>
          <a:xfrm>
            <a:off x="457200" y="2651760"/>
            <a:ext cx="11247120" cy="274320"/>
          </a:xfrm>
          <a:prstGeom prst="rect">
            <a:avLst/>
          </a:prstGeom>
          <a:noFill/>
          <a:ln/>
        </p:spPr>
        <p:txBody>
          <a:bodyPr wrap="square" rtlCol="0" anchor="ctr"/>
          <a:lstStyle/>
          <a:p>
            <a:pPr indent="0" marL="0">
              <a:buNone/>
            </a:pPr>
            <a:r>
              <a:rPr lang="en-US" sz="1200" b="1" spc="200" kern="0" dirty="0">
                <a:solidFill>
                  <a:srgbClr val="C9A84C"/>
                </a:solidFill>
                <a:latin typeface="Trebuchet MS" pitchFamily="34" charset="0"/>
                <a:ea typeface="Trebuchet MS" pitchFamily="34" charset="-122"/>
                <a:cs typeface="Trebuchet MS" pitchFamily="34" charset="-120"/>
              </a:rPr>
              <a:t>TN STANDARD</a:t>
            </a:r>
            <a:endParaRPr lang="en-US" sz="1200" dirty="0"/>
          </a:p>
        </p:txBody>
      </p:sp>
      <p:sp>
        <p:nvSpPr>
          <p:cNvPr id="6" name="Text 4"/>
          <p:cNvSpPr/>
          <p:nvPr/>
        </p:nvSpPr>
        <p:spPr>
          <a:xfrm>
            <a:off x="457200" y="2999232"/>
            <a:ext cx="11247120" cy="1691640"/>
          </a:xfrm>
          <a:prstGeom prst="rect">
            <a:avLst/>
          </a:prstGeom>
          <a:noFill/>
          <a:ln/>
        </p:spPr>
        <p:txBody>
          <a:bodyPr wrap="square" rtlCol="0" anchor="t"/>
          <a:lstStyle/>
          <a:p>
            <a:pPr indent="0" marL="0">
              <a:lnSpc>
                <a:spcPct val="105000"/>
              </a:lnSpc>
              <a:buNone/>
            </a:pPr>
            <a:r>
              <a:rPr lang="en-US" sz="1600" dirty="0">
                <a:solidFill>
                  <a:srgbClr val="C7D4E0"/>
                </a:solidFill>
                <a:latin typeface="Calibri" pitchFamily="34" charset="0"/>
                <a:ea typeface="Calibri" pitchFamily="34" charset="-122"/>
                <a:cs typeface="Calibri" pitchFamily="34" charset="-120"/>
              </a:rPr>
              <a:t>US.14 – Explain the roles played by muckrakers and progressive idealists, including: Robert M. La Follette, Sr., President Theodore Roosevelt, Upton Sinclair, Lincoln Steffens, Ida Tarbell.</a:t>
            </a:r>
            <a:endParaRPr lang="en-US" sz="1600" dirty="0"/>
          </a:p>
        </p:txBody>
      </p:sp>
      <p:sp>
        <p:nvSpPr>
          <p:cNvPr id="7" name="Shape 5"/>
          <p:cNvSpPr/>
          <p:nvPr/>
        </p:nvSpPr>
        <p:spPr>
          <a:xfrm>
            <a:off x="457200" y="4892040"/>
            <a:ext cx="11247120" cy="1234440"/>
          </a:xfrm>
          <a:prstGeom prst="rect">
            <a:avLst/>
          </a:prstGeom>
          <a:solidFill>
            <a:srgbClr val="C9A84C"/>
          </a:solidFill>
          <a:ln/>
        </p:spPr>
      </p:sp>
      <p:sp>
        <p:nvSpPr>
          <p:cNvPr id="8" name="Text 6"/>
          <p:cNvSpPr/>
          <p:nvPr/>
        </p:nvSpPr>
        <p:spPr>
          <a:xfrm>
            <a:off x="640080" y="5029200"/>
            <a:ext cx="10972800" cy="274320"/>
          </a:xfrm>
          <a:prstGeom prst="rect">
            <a:avLst/>
          </a:prstGeom>
          <a:noFill/>
          <a:ln/>
        </p:spPr>
        <p:txBody>
          <a:bodyPr wrap="square" rtlCol="0" anchor="ctr"/>
          <a:lstStyle/>
          <a:p>
            <a:pPr indent="0" marL="0">
              <a:buNone/>
            </a:pPr>
            <a:r>
              <a:rPr lang="en-US" sz="1200" b="1" spc="200" kern="0" dirty="0">
                <a:solidFill>
                  <a:srgbClr val="1A2332"/>
                </a:solidFill>
                <a:latin typeface="Trebuchet MS" pitchFamily="34" charset="0"/>
                <a:ea typeface="Trebuchet MS" pitchFamily="34" charset="-122"/>
                <a:cs typeface="Trebuchet MS" pitchFamily="34" charset="-120"/>
              </a:rPr>
              <a:t>I CAN</a:t>
            </a:r>
            <a:endParaRPr lang="en-US" sz="1200" dirty="0"/>
          </a:p>
        </p:txBody>
      </p:sp>
      <p:sp>
        <p:nvSpPr>
          <p:cNvPr id="9" name="Text 7"/>
          <p:cNvSpPr/>
          <p:nvPr/>
        </p:nvSpPr>
        <p:spPr>
          <a:xfrm>
            <a:off x="640080" y="5303520"/>
            <a:ext cx="10881360" cy="749808"/>
          </a:xfrm>
          <a:prstGeom prst="rect">
            <a:avLst/>
          </a:prstGeom>
          <a:noFill/>
          <a:ln/>
        </p:spPr>
        <p:txBody>
          <a:bodyPr wrap="square" rtlCol="0" anchor="t"/>
          <a:lstStyle/>
          <a:p>
            <a:pPr indent="0" marL="0">
              <a:buNone/>
            </a:pPr>
            <a:r>
              <a:rPr lang="en-US" sz="1400" b="1" dirty="0">
                <a:solidFill>
                  <a:srgbClr val="1A2332"/>
                </a:solidFill>
                <a:latin typeface="Calibri" pitchFamily="34" charset="0"/>
                <a:ea typeface="Calibri" pitchFamily="34" charset="-122"/>
                <a:cs typeface="Calibri" pitchFamily="34" charset="-120"/>
              </a:rPr>
              <a:t>I can explain the roles played by muckrakers and progressive idealists, including Robert M. La Follette Sr., President Theodore Roosevelt, Upton Sinclair, Lincoln Steffens, and Ida Tarbell.</a:t>
            </a:r>
            <a:endParaRPr lang="en-US" sz="1400" dirty="0"/>
          </a:p>
        </p:txBody>
      </p:sp>
      <p:sp>
        <p:nvSpPr>
          <p:cNvPr id="10" name="Text 8"/>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1" name="Text 9"/>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39</a:t>
            </a:r>
            <a:endParaRPr lang="en-US" sz="9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737360"/>
          </a:xfrm>
          <a:prstGeom prst="rect">
            <a:avLst/>
          </a:prstGeom>
          <a:solidFill>
            <a:srgbClr val="1A2332"/>
          </a:solidFill>
          <a:ln/>
        </p:spPr>
        <p:txBody>
          <a:bodyPr/>
          <a:p/>
        </p:txBody>
      </p:sp>
      <p:sp>
        <p:nvSpPr>
          <p:cNvPr id="3" name="Shape 1"/>
          <p:cNvSpPr/>
          <p:nvPr/>
        </p:nvSpPr>
        <p:spPr>
          <a:xfrm>
            <a:off x="0" y="1737360"/>
            <a:ext cx="12191695" cy="54864"/>
          </a:xfrm>
          <a:prstGeom prst="rect">
            <a:avLst/>
          </a:prstGeom>
          <a:solidFill>
            <a:srgbClr val="C9A84C"/>
          </a:solidFill>
          <a:ln/>
        </p:spPr>
        <p:txBody>
          <a:bodyPr/>
          <a:p/>
        </p:txBody>
      </p:sp>
      <p:sp>
        <p:nvSpPr>
          <p:cNvPr id="4" name="Text 2"/>
          <p:cNvSpPr/>
          <p:nvPr/>
        </p:nvSpPr>
        <p:spPr>
          <a:xfrm>
            <a:off x="457200" y="320040"/>
            <a:ext cx="3291840" cy="365760"/>
          </a:xfrm>
          <a:prstGeom prst="rect">
            <a:avLst/>
          </a:prstGeom>
          <a:solidFill>
            <a:srgbClr val="00285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DIRECT INSTRUCTION</a:t>
            </a:r>
            <a:endParaRPr lang="en-US" sz="1100" dirty="0"/>
          </a:p>
        </p:txBody>
      </p:sp>
      <p:sp>
        <p:nvSpPr>
          <p:cNvPr id="5" name="Text 3"/>
          <p:cNvSpPr/>
          <p:nvPr/>
        </p:nvSpPr>
        <p:spPr>
          <a:xfrm>
            <a:off x="3886200" y="32004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US.14</a:t>
            </a:r>
            <a:endParaRPr lang="en-US" sz="1200" dirty="0"/>
          </a:p>
        </p:txBody>
      </p:sp>
      <p:sp>
        <p:nvSpPr>
          <p:cNvPr id="6" name="Text 4"/>
          <p:cNvSpPr/>
          <p:nvPr/>
        </p:nvSpPr>
        <p:spPr>
          <a:xfrm>
            <a:off x="457200" y="777240"/>
            <a:ext cx="11247120" cy="868680"/>
          </a:xfrm>
          <a:prstGeom prst="rect">
            <a:avLst/>
          </a:prstGeom>
          <a:noFill/>
          <a:ln/>
        </p:spPr>
        <p:txBody>
          <a:bodyPr wrap="square" rtlCol="0" anchor="ctr"/>
          <a:lstStyle/>
          <a:p>
            <a:pPr algn="l" indent="0" marL="0">
              <a:buNone/>
            </a:pPr>
            <a:r>
              <a:rPr lang="en-US" sz="2300" b="1" dirty="0">
                <a:solidFill>
                  <a:srgbClr val="FFFFFF"/>
                </a:solidFill>
                <a:latin typeface="Georgia" pitchFamily="34" charset="0"/>
                <a:ea typeface="Georgia" pitchFamily="34" charset="-122"/>
                <a:cs typeface="Georgia" pitchFamily="34" charset="-120"/>
              </a:rPr>
              <a:t>Muckrakers — named by Roosevelt — were investigative journalists who exposed corruption, corporate abuse, and social injustice.</a:t>
            </a:r>
            <a:endParaRPr lang="en-US" sz="2300" dirty="0"/>
          </a:p>
        </p:txBody>
      </p:sp>
      <p:pic>
        <p:nvPicPr>
          <p:cNvPr id="7" name="Image 0" descr="hh-web/public/images/textbook/unit-2/steffens-lincoln-portrait.jpg">    </p:cNvPr>
          <p:cNvPicPr>
            <a:picLocks noChangeAspect="1"/>
          </p:cNvPicPr>
          <p:nvPr/>
        </p:nvPicPr>
        <p:blipFill>
          <a:blip r:embed="rId1"/>
          <a:srcRect l="0" r="0" t="0" b="0"/>
          <a:stretch/>
        </p:blipFill>
        <p:spPr>
          <a:xfrm>
            <a:off x="2743200" y="2057400"/>
            <a:ext cx="6702552" cy="4160520"/>
          </a:xfrm>
          <a:prstGeom prst="rect">
            <a:avLst/>
          </a:prstGeom>
        </p:spPr>
      </p:pic>
      <p:sp>
        <p:nvSpPr>
          <p:cNvPr id="8" name="Text 5"/>
          <p:cNvSpPr/>
          <p:nvPr/>
        </p:nvSpPr>
        <p:spPr>
          <a:xfrm>
            <a:off x="2743200" y="2103120"/>
            <a:ext cx="1188720" cy="292608"/>
          </a:xfrm>
          <a:prstGeom prst="rect">
            <a:avLst/>
          </a:prstGeom>
          <a:solidFill>
            <a:srgbClr val="F9A825"/>
          </a:solidFill>
          <a:ln/>
        </p:spPr>
        <p:txBody>
          <a:bodyPr wrap="square" rtlCol="0" anchor="ctr"/>
          <a:lstStyle/>
          <a:p>
            <a:pPr algn="ctr" indent="0" marL="0">
              <a:buNone/>
            </a:pPr>
            <a:r>
              <a:rPr lang="en-US" sz="900" b="1" spc="100" kern="0" dirty="0">
                <a:solidFill>
                  <a:srgbClr val="1A2332"/>
                </a:solidFill>
                <a:latin typeface="Trebuchet MS" pitchFamily="34" charset="0"/>
                <a:ea typeface="Trebuchet MS" pitchFamily="34" charset="-122"/>
                <a:cs typeface="Trebuchet MS" pitchFamily="34" charset="-120"/>
              </a:rPr>
              <a:t>ZOOM IN</a:t>
            </a:r>
            <a:endParaRPr lang="en-US" sz="900" dirty="0"/>
          </a:p>
        </p:txBody>
      </p:sp>
      <p:sp>
        <p:nvSpPr>
          <p:cNvPr id="9" name="Text 6"/>
          <p:cNvSpPr/>
          <p:nvPr/>
        </p:nvSpPr>
        <p:spPr>
          <a:xfrm>
            <a:off x="457200" y="6263640"/>
            <a:ext cx="8229600" cy="274320"/>
          </a:xfrm>
          <a:prstGeom prst="rect">
            <a:avLst/>
          </a:prstGeom>
          <a:noFill/>
          <a:ln/>
        </p:spPr>
        <p:txBody>
          <a:bodyPr wrap="square" rtlCol="0" anchor="ctr"/>
          <a:lstStyle/>
          <a:p>
            <a:pPr indent="0" marL="0">
              <a:buNone/>
            </a:pPr>
            <a:r>
              <a:rPr lang="en-US" sz="1000" i="1" dirty="0">
                <a:solidFill>
                  <a:srgbClr val="5C6470"/>
                </a:solidFill>
                <a:latin typeface="Trebuchet MS" pitchFamily="34" charset="0"/>
                <a:ea typeface="Trebuchet MS" pitchFamily="34" charset="-122"/>
                <a:cs typeface="Trebuchet MS" pitchFamily="34" charset="-120"/>
              </a:rPr>
              <a:t>US.14 · The Muckrakers</a:t>
            </a:r>
            <a:endParaRPr lang="en-US" sz="1000" dirty="0"/>
          </a:p>
        </p:txBody>
      </p:sp>
      <p:sp>
        <p:nvSpPr>
          <p:cNvPr id="10" name="Text 7"/>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1" name="Text 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40</a:t>
            </a:r>
            <a:endParaRPr lang="en-US" sz="9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737360"/>
          </a:xfrm>
          <a:prstGeom prst="rect">
            <a:avLst/>
          </a:prstGeom>
          <a:solidFill>
            <a:srgbClr val="1A2332"/>
          </a:solidFill>
          <a:ln/>
        </p:spPr>
        <p:txBody>
          <a:bodyPr/>
          <a:p/>
        </p:txBody>
      </p:sp>
      <p:sp>
        <p:nvSpPr>
          <p:cNvPr id="3" name="Shape 1"/>
          <p:cNvSpPr/>
          <p:nvPr/>
        </p:nvSpPr>
        <p:spPr>
          <a:xfrm>
            <a:off x="0" y="1737360"/>
            <a:ext cx="12191695" cy="54864"/>
          </a:xfrm>
          <a:prstGeom prst="rect">
            <a:avLst/>
          </a:prstGeom>
          <a:solidFill>
            <a:srgbClr val="C9A84C"/>
          </a:solidFill>
          <a:ln/>
        </p:spPr>
        <p:txBody>
          <a:bodyPr/>
          <a:p/>
        </p:txBody>
      </p:sp>
      <p:sp>
        <p:nvSpPr>
          <p:cNvPr id="4" name="Text 2"/>
          <p:cNvSpPr/>
          <p:nvPr/>
        </p:nvSpPr>
        <p:spPr>
          <a:xfrm>
            <a:off x="457200" y="320040"/>
            <a:ext cx="3291840" cy="365760"/>
          </a:xfrm>
          <a:prstGeom prst="rect">
            <a:avLst/>
          </a:prstGeom>
          <a:solidFill>
            <a:srgbClr val="00285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DIRECT INSTRUCTION</a:t>
            </a:r>
            <a:endParaRPr lang="en-US" sz="1100" dirty="0"/>
          </a:p>
        </p:txBody>
      </p:sp>
      <p:sp>
        <p:nvSpPr>
          <p:cNvPr id="5" name="Text 3"/>
          <p:cNvSpPr/>
          <p:nvPr/>
        </p:nvSpPr>
        <p:spPr>
          <a:xfrm>
            <a:off x="3886200" y="32004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US.14</a:t>
            </a:r>
            <a:endParaRPr lang="en-US" sz="1200" dirty="0"/>
          </a:p>
        </p:txBody>
      </p:sp>
      <p:sp>
        <p:nvSpPr>
          <p:cNvPr id="6" name="Text 4"/>
          <p:cNvSpPr/>
          <p:nvPr/>
        </p:nvSpPr>
        <p:spPr>
          <a:xfrm>
            <a:off x="457200" y="777240"/>
            <a:ext cx="11247120" cy="868680"/>
          </a:xfrm>
          <a:prstGeom prst="rect">
            <a:avLst/>
          </a:prstGeom>
          <a:noFill/>
          <a:ln/>
        </p:spPr>
        <p:txBody>
          <a:bodyPr wrap="square" rtlCol="0" anchor="ctr"/>
          <a:lstStyle/>
          <a:p>
            <a:pPr algn="l" indent="0" marL="0">
              <a:buNone/>
            </a:pPr>
            <a:r>
              <a:rPr lang="en-US" sz="2300" b="1" dirty="0">
                <a:solidFill>
                  <a:srgbClr val="FFFFFF"/>
                </a:solidFill>
                <a:latin typeface="Georgia" pitchFamily="34" charset="0"/>
                <a:ea typeface="Georgia" pitchFamily="34" charset="-122"/>
                <a:cs typeface="Georgia" pitchFamily="34" charset="-120"/>
              </a:rPr>
              <a:t>“Fighting Bob” La Follette made Wisconsin the “laboratory of democracy,” pioneering primaries, regulation, and expert governance.</a:t>
            </a:r>
            <a:endParaRPr lang="en-US" sz="2300" dirty="0"/>
          </a:p>
        </p:txBody>
      </p:sp>
      <p:pic>
        <p:nvPicPr>
          <p:cNvPr id="7" name="Image 0" descr="hh-web/public/images/textbook/unit-2/lafollette-robert-portrait.jpg">    </p:cNvPr>
          <p:cNvPicPr>
            <a:picLocks noChangeAspect="1"/>
          </p:cNvPicPr>
          <p:nvPr/>
        </p:nvPicPr>
        <p:blipFill>
          <a:blip r:embed="rId1"/>
          <a:srcRect l="0" r="0" t="0" b="0"/>
          <a:stretch/>
        </p:blipFill>
        <p:spPr>
          <a:xfrm>
            <a:off x="2743200" y="2057400"/>
            <a:ext cx="6702552" cy="4160520"/>
          </a:xfrm>
          <a:prstGeom prst="rect">
            <a:avLst/>
          </a:prstGeom>
        </p:spPr>
      </p:pic>
      <p:sp>
        <p:nvSpPr>
          <p:cNvPr id="8" name="Text 5"/>
          <p:cNvSpPr/>
          <p:nvPr/>
        </p:nvSpPr>
        <p:spPr>
          <a:xfrm>
            <a:off x="2743200" y="2103120"/>
            <a:ext cx="1188720" cy="292608"/>
          </a:xfrm>
          <a:prstGeom prst="rect">
            <a:avLst/>
          </a:prstGeom>
          <a:solidFill>
            <a:srgbClr val="F9A825"/>
          </a:solidFill>
          <a:ln/>
        </p:spPr>
        <p:txBody>
          <a:bodyPr wrap="square" rtlCol="0" anchor="ctr"/>
          <a:lstStyle/>
          <a:p>
            <a:pPr algn="ctr" indent="0" marL="0">
              <a:buNone/>
            </a:pPr>
            <a:r>
              <a:rPr lang="en-US" sz="900" b="1" spc="100" kern="0" dirty="0">
                <a:solidFill>
                  <a:srgbClr val="1A2332"/>
                </a:solidFill>
                <a:latin typeface="Trebuchet MS" pitchFamily="34" charset="0"/>
                <a:ea typeface="Trebuchet MS" pitchFamily="34" charset="-122"/>
                <a:cs typeface="Trebuchet MS" pitchFamily="34" charset="-120"/>
              </a:rPr>
              <a:t>ZOOM IN</a:t>
            </a:r>
            <a:endParaRPr lang="en-US" sz="900" dirty="0"/>
          </a:p>
        </p:txBody>
      </p:sp>
      <p:sp>
        <p:nvSpPr>
          <p:cNvPr id="9" name="Text 6"/>
          <p:cNvSpPr/>
          <p:nvPr/>
        </p:nvSpPr>
        <p:spPr>
          <a:xfrm>
            <a:off x="457200" y="6263640"/>
            <a:ext cx="8229600" cy="274320"/>
          </a:xfrm>
          <a:prstGeom prst="rect">
            <a:avLst/>
          </a:prstGeom>
          <a:noFill/>
          <a:ln/>
        </p:spPr>
        <p:txBody>
          <a:bodyPr wrap="square" rtlCol="0" anchor="ctr"/>
          <a:lstStyle/>
          <a:p>
            <a:pPr indent="0" marL="0">
              <a:buNone/>
            </a:pPr>
            <a:r>
              <a:rPr lang="en-US" sz="1000" i="1" dirty="0">
                <a:solidFill>
                  <a:srgbClr val="5C6470"/>
                </a:solidFill>
                <a:latin typeface="Trebuchet MS" pitchFamily="34" charset="0"/>
                <a:ea typeface="Trebuchet MS" pitchFamily="34" charset="-122"/>
                <a:cs typeface="Trebuchet MS" pitchFamily="34" charset="-120"/>
              </a:rPr>
              <a:t>US.14 · La Follette &amp; the Wisconsin Idea</a:t>
            </a:r>
            <a:endParaRPr lang="en-US" sz="1000" dirty="0"/>
          </a:p>
        </p:txBody>
      </p:sp>
      <p:sp>
        <p:nvSpPr>
          <p:cNvPr id="10" name="Text 7"/>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1" name="Text 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41</a:t>
            </a:r>
            <a:endParaRPr lang="en-US" sz="9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737360"/>
          </a:xfrm>
          <a:prstGeom prst="rect">
            <a:avLst/>
          </a:prstGeom>
          <a:solidFill>
            <a:srgbClr val="1A2332"/>
          </a:solidFill>
          <a:ln/>
        </p:spPr>
        <p:txBody>
          <a:bodyPr/>
          <a:p/>
        </p:txBody>
      </p:sp>
      <p:sp>
        <p:nvSpPr>
          <p:cNvPr id="3" name="Shape 1"/>
          <p:cNvSpPr/>
          <p:nvPr/>
        </p:nvSpPr>
        <p:spPr>
          <a:xfrm>
            <a:off x="0" y="1737360"/>
            <a:ext cx="12191695" cy="54864"/>
          </a:xfrm>
          <a:prstGeom prst="rect">
            <a:avLst/>
          </a:prstGeom>
          <a:solidFill>
            <a:srgbClr val="C9A84C"/>
          </a:solidFill>
          <a:ln/>
        </p:spPr>
        <p:txBody>
          <a:bodyPr/>
          <a:p/>
        </p:txBody>
      </p:sp>
      <p:sp>
        <p:nvSpPr>
          <p:cNvPr id="4" name="Text 2"/>
          <p:cNvSpPr/>
          <p:nvPr/>
        </p:nvSpPr>
        <p:spPr>
          <a:xfrm>
            <a:off x="457200" y="320040"/>
            <a:ext cx="3291840" cy="365760"/>
          </a:xfrm>
          <a:prstGeom prst="rect">
            <a:avLst/>
          </a:prstGeom>
          <a:solidFill>
            <a:srgbClr val="00285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DIRECT INSTRUCTION</a:t>
            </a:r>
            <a:endParaRPr lang="en-US" sz="1100" dirty="0"/>
          </a:p>
        </p:txBody>
      </p:sp>
      <p:sp>
        <p:nvSpPr>
          <p:cNvPr id="5" name="Text 3"/>
          <p:cNvSpPr/>
          <p:nvPr/>
        </p:nvSpPr>
        <p:spPr>
          <a:xfrm>
            <a:off x="3886200" y="32004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US.14</a:t>
            </a:r>
            <a:endParaRPr lang="en-US" sz="1200" dirty="0"/>
          </a:p>
        </p:txBody>
      </p:sp>
      <p:sp>
        <p:nvSpPr>
          <p:cNvPr id="6" name="Text 4"/>
          <p:cNvSpPr/>
          <p:nvPr/>
        </p:nvSpPr>
        <p:spPr>
          <a:xfrm>
            <a:off x="457200" y="777240"/>
            <a:ext cx="11247120" cy="868680"/>
          </a:xfrm>
          <a:prstGeom prst="rect">
            <a:avLst/>
          </a:prstGeom>
          <a:noFill/>
          <a:ln/>
        </p:spPr>
        <p:txBody>
          <a:bodyPr wrap="square" rtlCol="0" anchor="ctr"/>
          <a:lstStyle/>
          <a:p>
            <a:pPr algn="l" indent="0" marL="0">
              <a:buNone/>
            </a:pPr>
            <a:r>
              <a:rPr lang="en-US" sz="2300" b="1" dirty="0">
                <a:solidFill>
                  <a:srgbClr val="FFFFFF"/>
                </a:solidFill>
                <a:latin typeface="Georgia" pitchFamily="34" charset="0"/>
                <a:ea typeface="Georgia" pitchFamily="34" charset="-122"/>
                <a:cs typeface="Georgia" pitchFamily="34" charset="-120"/>
              </a:rPr>
              <a:t>Steffens’s “Shame of the Cities” exposed machine corruption; Tarbell’s Standard Oil series documented Rockefeller’s ruthless tactics.</a:t>
            </a:r>
            <a:endParaRPr lang="en-US" sz="2300" dirty="0"/>
          </a:p>
        </p:txBody>
      </p:sp>
      <p:pic>
        <p:nvPicPr>
          <p:cNvPr id="7" name="Image 0" descr="hh-web/public/images/textbook/unit-2/tarbell-ida-portrait-1910.jpg">    </p:cNvPr>
          <p:cNvPicPr>
            <a:picLocks noChangeAspect="1"/>
          </p:cNvPicPr>
          <p:nvPr/>
        </p:nvPicPr>
        <p:blipFill>
          <a:blip r:embed="rId1"/>
          <a:srcRect l="0" r="0" t="0" b="0"/>
          <a:stretch/>
        </p:blipFill>
        <p:spPr>
          <a:xfrm>
            <a:off x="2743200" y="2057400"/>
            <a:ext cx="6702552" cy="4160520"/>
          </a:xfrm>
          <a:prstGeom prst="rect">
            <a:avLst/>
          </a:prstGeom>
        </p:spPr>
      </p:pic>
      <p:sp>
        <p:nvSpPr>
          <p:cNvPr id="8" name="Text 5"/>
          <p:cNvSpPr/>
          <p:nvPr/>
        </p:nvSpPr>
        <p:spPr>
          <a:xfrm>
            <a:off x="2743200" y="2103120"/>
            <a:ext cx="1188720" cy="292608"/>
          </a:xfrm>
          <a:prstGeom prst="rect">
            <a:avLst/>
          </a:prstGeom>
          <a:solidFill>
            <a:srgbClr val="F9A825"/>
          </a:solidFill>
          <a:ln/>
        </p:spPr>
        <p:txBody>
          <a:bodyPr wrap="square" rtlCol="0" anchor="ctr"/>
          <a:lstStyle/>
          <a:p>
            <a:pPr algn="ctr" indent="0" marL="0">
              <a:buNone/>
            </a:pPr>
            <a:r>
              <a:rPr lang="en-US" sz="900" b="1" spc="100" kern="0" dirty="0">
                <a:solidFill>
                  <a:srgbClr val="1A2332"/>
                </a:solidFill>
                <a:latin typeface="Trebuchet MS" pitchFamily="34" charset="0"/>
                <a:ea typeface="Trebuchet MS" pitchFamily="34" charset="-122"/>
                <a:cs typeface="Trebuchet MS" pitchFamily="34" charset="-120"/>
              </a:rPr>
              <a:t>ZOOM IN</a:t>
            </a:r>
            <a:endParaRPr lang="en-US" sz="900" dirty="0"/>
          </a:p>
        </p:txBody>
      </p:sp>
      <p:sp>
        <p:nvSpPr>
          <p:cNvPr id="9" name="Text 6"/>
          <p:cNvSpPr/>
          <p:nvPr/>
        </p:nvSpPr>
        <p:spPr>
          <a:xfrm>
            <a:off x="457200" y="6263640"/>
            <a:ext cx="8229600" cy="274320"/>
          </a:xfrm>
          <a:prstGeom prst="rect">
            <a:avLst/>
          </a:prstGeom>
          <a:noFill/>
          <a:ln/>
        </p:spPr>
        <p:txBody>
          <a:bodyPr wrap="square" rtlCol="0" anchor="ctr"/>
          <a:lstStyle/>
          <a:p>
            <a:pPr indent="0" marL="0">
              <a:buNone/>
            </a:pPr>
            <a:r>
              <a:rPr lang="en-US" sz="1000" i="1" dirty="0">
                <a:solidFill>
                  <a:srgbClr val="5C6470"/>
                </a:solidFill>
                <a:latin typeface="Trebuchet MS" pitchFamily="34" charset="0"/>
                <a:ea typeface="Trebuchet MS" pitchFamily="34" charset="-122"/>
                <a:cs typeface="Trebuchet MS" pitchFamily="34" charset="-120"/>
              </a:rPr>
              <a:t>US.14 · Steffens &amp; Tarbell</a:t>
            </a:r>
            <a:endParaRPr lang="en-US" sz="1000" dirty="0"/>
          </a:p>
        </p:txBody>
      </p:sp>
      <p:sp>
        <p:nvSpPr>
          <p:cNvPr id="10" name="Text 7"/>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1" name="Text 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42</a:t>
            </a:r>
            <a:endParaRPr lang="en-US" sz="9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737360"/>
          </a:xfrm>
          <a:prstGeom prst="rect">
            <a:avLst/>
          </a:prstGeom>
          <a:solidFill>
            <a:srgbClr val="1A2332"/>
          </a:solidFill>
          <a:ln/>
        </p:spPr>
        <p:txBody>
          <a:bodyPr/>
          <a:p/>
        </p:txBody>
      </p:sp>
      <p:sp>
        <p:nvSpPr>
          <p:cNvPr id="3" name="Shape 1"/>
          <p:cNvSpPr/>
          <p:nvPr/>
        </p:nvSpPr>
        <p:spPr>
          <a:xfrm>
            <a:off x="0" y="1737360"/>
            <a:ext cx="12191695" cy="54864"/>
          </a:xfrm>
          <a:prstGeom prst="rect">
            <a:avLst/>
          </a:prstGeom>
          <a:solidFill>
            <a:srgbClr val="C9A84C"/>
          </a:solidFill>
          <a:ln/>
        </p:spPr>
        <p:txBody>
          <a:bodyPr/>
          <a:p/>
        </p:txBody>
      </p:sp>
      <p:sp>
        <p:nvSpPr>
          <p:cNvPr id="4" name="Text 2"/>
          <p:cNvSpPr/>
          <p:nvPr/>
        </p:nvSpPr>
        <p:spPr>
          <a:xfrm>
            <a:off x="457200" y="320040"/>
            <a:ext cx="3291840" cy="365760"/>
          </a:xfrm>
          <a:prstGeom prst="rect">
            <a:avLst/>
          </a:prstGeom>
          <a:solidFill>
            <a:srgbClr val="00285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DIRECT INSTRUCTION</a:t>
            </a:r>
            <a:endParaRPr lang="en-US" sz="1100" dirty="0"/>
          </a:p>
        </p:txBody>
      </p:sp>
      <p:sp>
        <p:nvSpPr>
          <p:cNvPr id="5" name="Text 3"/>
          <p:cNvSpPr/>
          <p:nvPr/>
        </p:nvSpPr>
        <p:spPr>
          <a:xfrm>
            <a:off x="3886200" y="32004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US.14</a:t>
            </a:r>
            <a:endParaRPr lang="en-US" sz="1200" dirty="0"/>
          </a:p>
        </p:txBody>
      </p:sp>
      <p:sp>
        <p:nvSpPr>
          <p:cNvPr id="6" name="Text 4"/>
          <p:cNvSpPr/>
          <p:nvPr/>
        </p:nvSpPr>
        <p:spPr>
          <a:xfrm>
            <a:off x="457200" y="777240"/>
            <a:ext cx="11247120" cy="868680"/>
          </a:xfrm>
          <a:prstGeom prst="rect">
            <a:avLst/>
          </a:prstGeom>
          <a:noFill/>
          <a:ln/>
        </p:spPr>
        <p:txBody>
          <a:bodyPr wrap="square" rtlCol="0" anchor="ctr"/>
          <a:lstStyle/>
          <a:p>
            <a:pPr algn="l" indent="0" marL="0">
              <a:buNone/>
            </a:pPr>
            <a:r>
              <a:rPr lang="en-US" sz="2300" b="1" dirty="0">
                <a:solidFill>
                  <a:srgbClr val="FFFFFF"/>
                </a:solidFill>
                <a:latin typeface="Georgia" pitchFamily="34" charset="0"/>
                <a:ea typeface="Georgia" pitchFamily="34" charset="-122"/>
                <a:cs typeface="Georgia" pitchFamily="34" charset="-120"/>
              </a:rPr>
              <a:t>Sinclair’s “The Jungle” (1906) exposed meatpacking horrors — prompting Roosevelt to back federal food-safety laws.</a:t>
            </a:r>
            <a:endParaRPr lang="en-US" sz="2300" dirty="0"/>
          </a:p>
        </p:txBody>
      </p:sp>
      <p:pic>
        <p:nvPicPr>
          <p:cNvPr id="7" name="Image 0" descr="hh-web/public/images/textbook/unit-2/sinclair-upton-portrait-1906.jpg">    </p:cNvPr>
          <p:cNvPicPr>
            <a:picLocks noChangeAspect="1"/>
          </p:cNvPicPr>
          <p:nvPr/>
        </p:nvPicPr>
        <p:blipFill>
          <a:blip r:embed="rId1"/>
          <a:srcRect l="0" r="0" t="0" b="0"/>
          <a:stretch/>
        </p:blipFill>
        <p:spPr>
          <a:xfrm>
            <a:off x="2743200" y="2057400"/>
            <a:ext cx="6702552" cy="4160520"/>
          </a:xfrm>
          <a:prstGeom prst="rect">
            <a:avLst/>
          </a:prstGeom>
        </p:spPr>
      </p:pic>
      <p:sp>
        <p:nvSpPr>
          <p:cNvPr id="8" name="Text 5"/>
          <p:cNvSpPr/>
          <p:nvPr/>
        </p:nvSpPr>
        <p:spPr>
          <a:xfrm>
            <a:off x="2743200" y="2103120"/>
            <a:ext cx="1188720" cy="292608"/>
          </a:xfrm>
          <a:prstGeom prst="rect">
            <a:avLst/>
          </a:prstGeom>
          <a:solidFill>
            <a:srgbClr val="F9A825"/>
          </a:solidFill>
          <a:ln/>
        </p:spPr>
        <p:txBody>
          <a:bodyPr wrap="square" rtlCol="0" anchor="ctr"/>
          <a:lstStyle/>
          <a:p>
            <a:pPr algn="ctr" indent="0" marL="0">
              <a:buNone/>
            </a:pPr>
            <a:r>
              <a:rPr lang="en-US" sz="900" b="1" spc="100" kern="0" dirty="0">
                <a:solidFill>
                  <a:srgbClr val="1A2332"/>
                </a:solidFill>
                <a:latin typeface="Trebuchet MS" pitchFamily="34" charset="0"/>
                <a:ea typeface="Trebuchet MS" pitchFamily="34" charset="-122"/>
                <a:cs typeface="Trebuchet MS" pitchFamily="34" charset="-120"/>
              </a:rPr>
              <a:t>ZOOM IN</a:t>
            </a:r>
            <a:endParaRPr lang="en-US" sz="900" dirty="0"/>
          </a:p>
        </p:txBody>
      </p:sp>
      <p:sp>
        <p:nvSpPr>
          <p:cNvPr id="9" name="Text 6"/>
          <p:cNvSpPr/>
          <p:nvPr/>
        </p:nvSpPr>
        <p:spPr>
          <a:xfrm>
            <a:off x="457200" y="6263640"/>
            <a:ext cx="8229600" cy="274320"/>
          </a:xfrm>
          <a:prstGeom prst="rect">
            <a:avLst/>
          </a:prstGeom>
          <a:noFill/>
          <a:ln/>
        </p:spPr>
        <p:txBody>
          <a:bodyPr wrap="square" rtlCol="0" anchor="ctr"/>
          <a:lstStyle/>
          <a:p>
            <a:pPr indent="0" marL="0">
              <a:buNone/>
            </a:pPr>
            <a:r>
              <a:rPr lang="en-US" sz="1000" i="1" dirty="0">
                <a:solidFill>
                  <a:srgbClr val="5C6470"/>
                </a:solidFill>
                <a:latin typeface="Trebuchet MS" pitchFamily="34" charset="0"/>
                <a:ea typeface="Trebuchet MS" pitchFamily="34" charset="-122"/>
                <a:cs typeface="Trebuchet MS" pitchFamily="34" charset="-120"/>
              </a:rPr>
              <a:t>US.14 · Sinclair &amp; Roosevelt</a:t>
            </a:r>
            <a:endParaRPr lang="en-US" sz="1000" dirty="0"/>
          </a:p>
        </p:txBody>
      </p:sp>
      <p:sp>
        <p:nvSpPr>
          <p:cNvPr id="10" name="Text 7"/>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1" name="Text 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43</a:t>
            </a:r>
            <a:endParaRPr lang="en-US" sz="9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554480"/>
          </a:xfrm>
          <a:prstGeom prst="rect">
            <a:avLst/>
          </a:prstGeom>
          <a:solidFill>
            <a:srgbClr val="002858"/>
          </a:solidFill>
          <a:ln/>
        </p:spPr>
        <p:txBody>
          <a:bodyPr/>
          <a:p/>
        </p:txBody>
      </p:sp>
      <p:sp>
        <p:nvSpPr>
          <p:cNvPr id="3" name="Shape 1"/>
          <p:cNvSpPr/>
          <p:nvPr/>
        </p:nvSpPr>
        <p:spPr>
          <a:xfrm>
            <a:off x="0" y="1554480"/>
            <a:ext cx="12191695" cy="54864"/>
          </a:xfrm>
          <a:prstGeom prst="rect">
            <a:avLst/>
          </a:prstGeom>
          <a:solidFill>
            <a:srgbClr val="C9A84C"/>
          </a:solidFill>
          <a:ln/>
        </p:spPr>
        <p:txBody>
          <a:bodyPr/>
          <a:p/>
        </p:txBody>
      </p:sp>
      <p:sp>
        <p:nvSpPr>
          <p:cNvPr id="4" name="Text 2"/>
          <p:cNvSpPr/>
          <p:nvPr/>
        </p:nvSpPr>
        <p:spPr>
          <a:xfrm>
            <a:off x="457200" y="274320"/>
            <a:ext cx="3291840" cy="365760"/>
          </a:xfrm>
          <a:prstGeom prst="rect">
            <a:avLst/>
          </a:prstGeom>
          <a:solidFill>
            <a:srgbClr val="C6282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SOURCE IT FIRST</a:t>
            </a:r>
            <a:endParaRPr lang="en-US" sz="1100" dirty="0"/>
          </a:p>
        </p:txBody>
      </p:sp>
      <p:sp>
        <p:nvSpPr>
          <p:cNvPr id="5" name="Text 3"/>
          <p:cNvSpPr/>
          <p:nvPr/>
        </p:nvSpPr>
        <p:spPr>
          <a:xfrm>
            <a:off x="3886200" y="27432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US.14</a:t>
            </a:r>
            <a:endParaRPr lang="en-US" sz="1200" dirty="0"/>
          </a:p>
        </p:txBody>
      </p:sp>
      <p:sp>
        <p:nvSpPr>
          <p:cNvPr id="6" name="Text 4"/>
          <p:cNvSpPr/>
          <p:nvPr/>
        </p:nvSpPr>
        <p:spPr>
          <a:xfrm>
            <a:off x="457200" y="713232"/>
            <a:ext cx="11247120" cy="777240"/>
          </a:xfrm>
          <a:prstGeom prst="rect">
            <a:avLst/>
          </a:prstGeom>
          <a:noFill/>
          <a:ln/>
        </p:spPr>
        <p:txBody>
          <a:bodyPr wrap="square" rtlCol="0" anchor="ctr"/>
          <a:lstStyle/>
          <a:p>
            <a:pPr indent="0" marL="0">
              <a:buNone/>
            </a:pPr>
            <a:r>
              <a:rPr lang="en-US" sz="2000" b="1" dirty="0">
                <a:solidFill>
                  <a:srgbClr val="FFFFFF"/>
                </a:solidFill>
                <a:latin typeface="Georgia" pitchFamily="34" charset="0"/>
                <a:ea typeface="Georgia" pitchFamily="34" charset="-122"/>
                <a:cs typeface="Georgia" pitchFamily="34" charset="-120"/>
              </a:rPr>
              <a:t>Read Tarbell on Standard Oil — then weigh her direct evidence against the fact that Rockefeller ruined her father’s business.</a:t>
            </a:r>
            <a:endParaRPr lang="en-US" sz="2000" dirty="0"/>
          </a:p>
        </p:txBody>
      </p:sp>
      <p:sp>
        <p:nvSpPr>
          <p:cNvPr id="7" name="Text 5"/>
          <p:cNvSpPr/>
          <p:nvPr/>
        </p:nvSpPr>
        <p:spPr>
          <a:xfrm>
            <a:off x="457200" y="1783080"/>
            <a:ext cx="3566160" cy="320040"/>
          </a:xfrm>
          <a:prstGeom prst="rect">
            <a:avLst/>
          </a:prstGeom>
          <a:solidFill>
            <a:srgbClr val="1A2332"/>
          </a:solid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WHO</a:t>
            </a:r>
            <a:endParaRPr lang="en-US" sz="1200" dirty="0"/>
          </a:p>
        </p:txBody>
      </p:sp>
      <p:sp>
        <p:nvSpPr>
          <p:cNvPr id="8" name="Text 6"/>
          <p:cNvSpPr/>
          <p:nvPr/>
        </p:nvSpPr>
        <p:spPr>
          <a:xfrm>
            <a:off x="457200" y="2103120"/>
            <a:ext cx="3566160" cy="914400"/>
          </a:xfrm>
          <a:prstGeom prst="rect">
            <a:avLst/>
          </a:prstGeom>
          <a:solidFill>
            <a:srgbClr val="FFFFFF"/>
          </a:solidFill>
          <a:ln w="12700">
            <a:solidFill>
              <a:srgbClr val="DAD3C2"/>
            </a:solidFill>
          </a:ln>
        </p:spPr>
        <p:txBody>
          <a:bodyPr wrap="square" lIns="76200" tIns="76200" rIns="76200" bIns="76200" rtlCol="0" anchor="t"/>
          <a:lstStyle/>
          <a:p>
            <a:pPr algn="l" indent="0" marL="0">
              <a:buNone/>
            </a:pPr>
            <a:r>
              <a:rPr lang="en-US" sz="1200" dirty="0">
                <a:solidFill>
                  <a:srgbClr val="1F2430"/>
                </a:solidFill>
                <a:latin typeface="Calibri" pitchFamily="34" charset="0"/>
                <a:ea typeface="Calibri" pitchFamily="34" charset="-122"/>
                <a:cs typeface="Calibri" pitchFamily="34" charset="-120"/>
              </a:rPr>
              <a:t>Ida Tarbell — investigative journalist, daughter of a Pennsylvania oil producer destroyed by Standard Oil.</a:t>
            </a:r>
            <a:endParaRPr lang="en-US" sz="1200" dirty="0"/>
          </a:p>
        </p:txBody>
      </p:sp>
      <p:sp>
        <p:nvSpPr>
          <p:cNvPr id="9" name="Text 7"/>
          <p:cNvSpPr/>
          <p:nvPr/>
        </p:nvSpPr>
        <p:spPr>
          <a:xfrm>
            <a:off x="4251960" y="1783080"/>
            <a:ext cx="3566160" cy="320040"/>
          </a:xfrm>
          <a:prstGeom prst="rect">
            <a:avLst/>
          </a:prstGeom>
          <a:solidFill>
            <a:srgbClr val="1A2332"/>
          </a:solid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WHEN</a:t>
            </a:r>
            <a:endParaRPr lang="en-US" sz="1200" dirty="0"/>
          </a:p>
        </p:txBody>
      </p:sp>
      <p:sp>
        <p:nvSpPr>
          <p:cNvPr id="10" name="Text 8"/>
          <p:cNvSpPr/>
          <p:nvPr/>
        </p:nvSpPr>
        <p:spPr>
          <a:xfrm>
            <a:off x="4251960" y="2103120"/>
            <a:ext cx="3566160" cy="914400"/>
          </a:xfrm>
          <a:prstGeom prst="rect">
            <a:avLst/>
          </a:prstGeom>
          <a:solidFill>
            <a:srgbClr val="FFFFFF"/>
          </a:solidFill>
          <a:ln w="12700">
            <a:solidFill>
              <a:srgbClr val="DAD3C2"/>
            </a:solidFill>
          </a:ln>
        </p:spPr>
        <p:txBody>
          <a:bodyPr wrap="square" lIns="76200" tIns="76200" rIns="76200" bIns="76200" rtlCol="0" anchor="t"/>
          <a:lstStyle/>
          <a:p>
            <a:pPr algn="l" indent="0" marL="0">
              <a:buNone/>
            </a:pPr>
            <a:r>
              <a:rPr lang="en-US" sz="1200" dirty="0">
                <a:solidFill>
                  <a:srgbClr val="1F2430"/>
                </a:solidFill>
                <a:latin typeface="Calibri" pitchFamily="34" charset="0"/>
                <a:ea typeface="Calibri" pitchFamily="34" charset="-122"/>
                <a:cs typeface="Calibri" pitchFamily="34" charset="-120"/>
              </a:rPr>
              <a:t>1904, after two years of documentary investigation; Standard Oil was at the height of its power.</a:t>
            </a:r>
            <a:endParaRPr lang="en-US" sz="1200" dirty="0"/>
          </a:p>
        </p:txBody>
      </p:sp>
      <p:sp>
        <p:nvSpPr>
          <p:cNvPr id="11" name="Text 9"/>
          <p:cNvSpPr/>
          <p:nvPr/>
        </p:nvSpPr>
        <p:spPr>
          <a:xfrm>
            <a:off x="8046720" y="1783080"/>
            <a:ext cx="3566160" cy="320040"/>
          </a:xfrm>
          <a:prstGeom prst="rect">
            <a:avLst/>
          </a:prstGeom>
          <a:solidFill>
            <a:srgbClr val="1A2332"/>
          </a:solid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WHY</a:t>
            </a:r>
            <a:endParaRPr lang="en-US" sz="1200" dirty="0"/>
          </a:p>
        </p:txBody>
      </p:sp>
      <p:sp>
        <p:nvSpPr>
          <p:cNvPr id="12" name="Text 10"/>
          <p:cNvSpPr/>
          <p:nvPr/>
        </p:nvSpPr>
        <p:spPr>
          <a:xfrm>
            <a:off x="8046720" y="2103120"/>
            <a:ext cx="3566160" cy="914400"/>
          </a:xfrm>
          <a:prstGeom prst="rect">
            <a:avLst/>
          </a:prstGeom>
          <a:solidFill>
            <a:srgbClr val="FFFFFF"/>
          </a:solidFill>
          <a:ln w="12700">
            <a:solidFill>
              <a:srgbClr val="DAD3C2"/>
            </a:solidFill>
          </a:ln>
        </p:spPr>
        <p:txBody>
          <a:bodyPr wrap="square" lIns="76200" tIns="76200" rIns="76200" bIns="76200" rtlCol="0" anchor="t"/>
          <a:lstStyle/>
          <a:p>
            <a:pPr algn="l" indent="0" marL="0">
              <a:buNone/>
            </a:pPr>
            <a:r>
              <a:rPr lang="en-US" sz="1200" dirty="0">
                <a:solidFill>
                  <a:srgbClr val="1F2430"/>
                </a:solidFill>
                <a:latin typeface="Calibri" pitchFamily="34" charset="0"/>
                <a:ea typeface="Calibri" pitchFamily="34" charset="-122"/>
                <a:cs typeface="Calibri" pitchFamily="34" charset="-120"/>
              </a:rPr>
              <a:t>The author's personal connection to the subject raises both credibility (direct experience) and a question: does her family's loss make her biased? A good historian acknowledges both.</a:t>
            </a:r>
            <a:endParaRPr lang="en-US" sz="1200" dirty="0"/>
          </a:p>
        </p:txBody>
      </p:sp>
      <p:sp>
        <p:nvSpPr>
          <p:cNvPr id="13" name="Shape 11"/>
          <p:cNvSpPr/>
          <p:nvPr/>
        </p:nvSpPr>
        <p:spPr>
          <a:xfrm>
            <a:off x="457200" y="3200400"/>
            <a:ext cx="5532120" cy="2651760"/>
          </a:xfrm>
          <a:prstGeom prst="rect">
            <a:avLst/>
          </a:prstGeom>
          <a:solidFill>
            <a:srgbClr val="FFFFFF"/>
          </a:solidFill>
          <a:ln w="19050">
            <a:solidFill>
              <a:srgbClr val="C9A84C"/>
            </a:solidFill>
            <a:prstDash val="solid"/>
          </a:ln>
        </p:spPr>
      </p:sp>
      <p:sp>
        <p:nvSpPr>
          <p:cNvPr id="14" name="Text 12"/>
          <p:cNvSpPr/>
          <p:nvPr/>
        </p:nvSpPr>
        <p:spPr>
          <a:xfrm>
            <a:off x="594360" y="3291840"/>
            <a:ext cx="5257800" cy="320040"/>
          </a:xfrm>
          <a:prstGeom prst="rect">
            <a:avLst/>
          </a:prstGeom>
          <a:noFill/>
          <a:ln/>
        </p:spPr>
        <p:txBody>
          <a:bodyPr wrap="square" rtlCol="0" anchor="ctr"/>
          <a:lstStyle/>
          <a:p>
            <a:pPr indent="0" marL="0">
              <a:buNone/>
            </a:pPr>
            <a:r>
              <a:rPr lang="en-US" sz="1400" b="1" dirty="0">
                <a:solidFill>
                  <a:srgbClr val="002858"/>
                </a:solidFill>
                <a:latin typeface="Georgia" pitchFamily="34" charset="0"/>
                <a:ea typeface="Georgia" pitchFamily="34" charset="-122"/>
                <a:cs typeface="Georgia" pitchFamily="34" charset="-120"/>
              </a:rPr>
              <a:t>The History of the Standard Oil Company</a:t>
            </a:r>
            <a:endParaRPr lang="en-US" sz="1400" dirty="0"/>
          </a:p>
        </p:txBody>
      </p:sp>
      <p:sp>
        <p:nvSpPr>
          <p:cNvPr id="15" name="Text 13"/>
          <p:cNvSpPr/>
          <p:nvPr/>
        </p:nvSpPr>
        <p:spPr>
          <a:xfrm>
            <a:off x="594360" y="3611880"/>
            <a:ext cx="5257800" cy="274320"/>
          </a:xfrm>
          <a:prstGeom prst="rect">
            <a:avLst/>
          </a:prstGeom>
          <a:noFill/>
          <a:ln/>
        </p:spPr>
        <p:txBody>
          <a:bodyPr wrap="square" rtlCol="0" anchor="ctr"/>
          <a:lstStyle/>
          <a:p>
            <a:pPr indent="0" marL="0">
              <a:buNone/>
            </a:pPr>
            <a:r>
              <a:rPr lang="en-US" sz="900" i="1" dirty="0">
                <a:solidFill>
                  <a:srgbClr val="5C6470"/>
                </a:solidFill>
                <a:latin typeface="Trebuchet MS" pitchFamily="34" charset="0"/>
                <a:ea typeface="Trebuchet MS" pitchFamily="34" charset="-122"/>
                <a:cs typeface="Trebuchet MS" pitchFamily="34" charset="-120"/>
              </a:rPr>
              <a:t>Ida Tarbell · 1904</a:t>
            </a:r>
            <a:endParaRPr lang="en-US" sz="900" dirty="0"/>
          </a:p>
        </p:txBody>
      </p:sp>
      <p:sp>
        <p:nvSpPr>
          <p:cNvPr id="16" name="Text 14"/>
          <p:cNvSpPr/>
          <p:nvPr/>
        </p:nvSpPr>
        <p:spPr>
          <a:xfrm>
            <a:off x="594360" y="3931920"/>
            <a:ext cx="5257800" cy="1600200"/>
          </a:xfrm>
          <a:prstGeom prst="rect">
            <a:avLst/>
          </a:prstGeom>
          <a:noFill/>
          <a:ln/>
        </p:spPr>
        <p:txBody>
          <a:bodyPr wrap="square" rtlCol="0" anchor="t"/>
          <a:lstStyle/>
          <a:p>
            <a:pPr indent="0" marL="0">
              <a:buNone/>
            </a:pPr>
            <a:r>
              <a:rPr lang="en-US" sz="1100" dirty="0">
                <a:solidFill>
                  <a:srgbClr val="1F2430"/>
                </a:solidFill>
                <a:latin typeface="Calibri" pitchFamily="34" charset="0"/>
                <a:ea typeface="Calibri" pitchFamily="34" charset="-122"/>
                <a:cs typeface="Calibri" pitchFamily="34" charset="-120"/>
              </a:rPr>
              <a:t>"Mr. Rockefeller has systematically played with loaded dice, and it is doubtful if there has ever been a time since 1872 when he has run a race with a competitor and started fair. Business played in this way loses all its sportmanlike qualities. It is fit only for tricksters."</a:t>
            </a:r>
            <a:endParaRPr lang="en-US" sz="1100" dirty="0"/>
          </a:p>
        </p:txBody>
      </p:sp>
      <p:sp>
        <p:nvSpPr>
          <p:cNvPr id="17" name="Text 15">
            <a:hlinkClick r:id="rId1" tooltip=""/>
          </p:cNvPr>
          <p:cNvSpPr/>
          <p:nvPr/>
        </p:nvSpPr>
        <p:spPr>
          <a:xfrm>
            <a:off x="594360" y="5532120"/>
            <a:ext cx="5257800" cy="256032"/>
          </a:xfrm>
          <a:prstGeom prst="rect">
            <a:avLst/>
          </a:prstGeom>
          <a:noFill/>
          <a:ln/>
        </p:spPr>
        <p:txBody>
          <a:bodyPr wrap="square" rtlCol="0" anchor="ctr"/>
          <a:lstStyle/>
          <a:p>
            <a:pPr indent="0" marL="0">
              <a:buNone/>
            </a:pPr>
            <a:r>
              <a:rPr lang="en-US" sz="900" u="sng" dirty="0">
                <a:solidFill>
                  <a:srgbClr val="002858"/>
                </a:solidFill>
                <a:latin typeface="Trebuchet MS" pitchFamily="34" charset="0"/>
                <a:ea typeface="Trebuchet MS" pitchFamily="34" charset="-122"/>
                <a:cs typeface="Trebuchet MS" pitchFamily="34" charset="-120"/>
                <a:hlinkClick r:id="rId1" invalidUrl="" action="" tgtFrame="" tooltip="" history="1" highlightClick="0" endSnd="0">
                  <a:extLst>
                    <a:ext uri="{A12FA001-AC4F-418D-AE19-62706E023703}">
                      <ahyp:hlinkClr xmlns:ahyp="http://schemas.microsoft.com/office/drawing/2018/hyperlinkcolor" val="tx"/>
                    </a:ext>
                  </a:extLst>
                </a:hlinkClick>
              </a:rPr>
              <a:t>Library of Congress</a:t>
            </a:r>
            <a:endParaRPr lang="en-US" sz="900" dirty="0"/>
          </a:p>
        </p:txBody>
      </p:sp>
      <p:sp>
        <p:nvSpPr>
          <p:cNvPr id="18" name="Text 16"/>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9" name="Text 17"/>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44</a:t>
            </a:r>
            <a:endParaRPr lang="en-US" sz="9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1A2332"/>
        </a:solidFill>
      </p:bgPr>
    </p:bg>
    <p:spTree>
      <p:nvGrpSpPr>
        <p:cNvPr id="1" name=""/>
        <p:cNvGrpSpPr/>
        <p:nvPr/>
      </p:nvGrpSpPr>
      <p:grpSpPr>
        <a:xfrm>
          <a:off x="0" y="0"/>
          <a:ext cx="0" cy="0"/>
          <a:chOff x="0" y="0"/>
          <a:chExt cx="0" cy="0"/>
        </a:xfrm>
      </p:grpSpPr>
      <p:sp>
        <p:nvSpPr>
          <p:cNvPr id="2" name="Text 0"/>
          <p:cNvSpPr/>
          <p:nvPr/>
        </p:nvSpPr>
        <p:spPr>
          <a:xfrm>
            <a:off x="457200" y="274320"/>
            <a:ext cx="3291840" cy="365760"/>
          </a:xfrm>
          <a:prstGeom prst="rect">
            <a:avLst/>
          </a:prstGeom>
          <a:solidFill>
            <a:srgbClr val="C6282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THREE PERSPECTIVES</a:t>
            </a:r>
            <a:endParaRPr lang="en-US" sz="1100" dirty="0"/>
          </a:p>
        </p:txBody>
      </p:sp>
      <p:sp>
        <p:nvSpPr>
          <p:cNvPr id="3" name="Text 1"/>
          <p:cNvSpPr/>
          <p:nvPr/>
        </p:nvSpPr>
        <p:spPr>
          <a:xfrm>
            <a:off x="3886200" y="27432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US.14</a:t>
            </a:r>
            <a:endParaRPr lang="en-US" sz="1200" dirty="0"/>
          </a:p>
        </p:txBody>
      </p:sp>
      <p:sp>
        <p:nvSpPr>
          <p:cNvPr id="4" name="Text 2"/>
          <p:cNvSpPr/>
          <p:nvPr/>
        </p:nvSpPr>
        <p:spPr>
          <a:xfrm>
            <a:off x="457200" y="777240"/>
            <a:ext cx="11247120" cy="822960"/>
          </a:xfrm>
          <a:prstGeom prst="rect">
            <a:avLst/>
          </a:prstGeom>
          <a:noFill/>
          <a:ln/>
        </p:spPr>
        <p:txBody>
          <a:bodyPr wrap="square" rtlCol="0" anchor="ctr"/>
          <a:lstStyle/>
          <a:p>
            <a:pPr indent="0" marL="0">
              <a:buNone/>
            </a:pPr>
            <a:r>
              <a:rPr lang="en-US" sz="1700" i="1" dirty="0">
                <a:solidFill>
                  <a:srgbClr val="C7D4E0"/>
                </a:solidFill>
                <a:latin typeface="Georgia" pitchFamily="34" charset="0"/>
                <a:ea typeface="Georgia" pitchFamily="34" charset="-122"/>
                <a:cs typeface="Georgia" pitchFamily="34" charset="-120"/>
              </a:rPr>
              <a:t>A historian returns to three questions at the end of every reading. Use them to analyze this standard.</a:t>
            </a:r>
            <a:endParaRPr lang="en-US" sz="1700" dirty="0"/>
          </a:p>
        </p:txBody>
      </p:sp>
      <p:sp>
        <p:nvSpPr>
          <p:cNvPr id="5" name="Shape 3"/>
          <p:cNvSpPr/>
          <p:nvPr/>
        </p:nvSpPr>
        <p:spPr>
          <a:xfrm>
            <a:off x="457200" y="1783080"/>
            <a:ext cx="3566160" cy="4206240"/>
          </a:xfrm>
          <a:prstGeom prst="rect">
            <a:avLst/>
          </a:prstGeom>
          <a:solidFill>
            <a:srgbClr val="FFFFFF"/>
          </a:solidFill>
          <a:ln/>
        </p:spPr>
      </p:sp>
      <p:sp>
        <p:nvSpPr>
          <p:cNvPr id="6" name="Shape 4"/>
          <p:cNvSpPr/>
          <p:nvPr/>
        </p:nvSpPr>
        <p:spPr>
          <a:xfrm>
            <a:off x="457200" y="1783080"/>
            <a:ext cx="3566160" cy="548640"/>
          </a:xfrm>
          <a:prstGeom prst="rect">
            <a:avLst/>
          </a:prstGeom>
          <a:solidFill>
            <a:srgbClr val="1B5E20"/>
          </a:solidFill>
          <a:ln/>
        </p:spPr>
      </p:sp>
      <p:sp>
        <p:nvSpPr>
          <p:cNvPr id="7" name="Text 5"/>
          <p:cNvSpPr/>
          <p:nvPr/>
        </p:nvSpPr>
        <p:spPr>
          <a:xfrm>
            <a:off x="457200" y="1783080"/>
            <a:ext cx="3566160" cy="548640"/>
          </a:xfrm>
          <a:prstGeom prst="rect">
            <a:avLst/>
          </a:prstGeom>
          <a:noFill/>
          <a:ln/>
        </p:spPr>
        <p:txBody>
          <a:bodyPr wrap="square"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Who benefited?</a:t>
            </a:r>
            <a:endParaRPr lang="en-US" sz="1600" dirty="0"/>
          </a:p>
        </p:txBody>
      </p:sp>
      <p:sp>
        <p:nvSpPr>
          <p:cNvPr id="8" name="Text 6"/>
          <p:cNvSpPr/>
          <p:nvPr/>
        </p:nvSpPr>
        <p:spPr>
          <a:xfrm>
            <a:off x="594360" y="2423160"/>
            <a:ext cx="3291840" cy="868680"/>
          </a:xfrm>
          <a:prstGeom prst="rect">
            <a:avLst/>
          </a:prstGeom>
          <a:noFill/>
          <a:ln/>
        </p:spPr>
        <p:txBody>
          <a:bodyPr wrap="square" rtlCol="0" anchor="t"/>
          <a:lstStyle/>
          <a:p>
            <a:pPr indent="0" marL="0">
              <a:buNone/>
            </a:pPr>
            <a:r>
              <a:rPr lang="en-US" sz="1100" i="1" dirty="0">
                <a:solidFill>
                  <a:srgbClr val="5C6470"/>
                </a:solidFill>
                <a:latin typeface="Calibri" pitchFamily="34" charset="0"/>
                <a:ea typeface="Calibri" pitchFamily="34" charset="-122"/>
                <a:cs typeface="Calibri" pitchFamily="34" charset="-120"/>
              </a:rPr>
              <a:t>Who gained land, wealth, power, or protection?</a:t>
            </a:r>
            <a:endParaRPr lang="en-US" sz="1100" dirty="0"/>
          </a:p>
        </p:txBody>
      </p:sp>
      <p:sp>
        <p:nvSpPr>
          <p:cNvPr id="9" name="Text 7"/>
          <p:cNvSpPr/>
          <p:nvPr/>
        </p:nvSpPr>
        <p:spPr>
          <a:xfrm>
            <a:off x="594360" y="3291840"/>
            <a:ext cx="3291840" cy="274320"/>
          </a:xfrm>
          <a:prstGeom prst="rect">
            <a:avLst/>
          </a:prstGeom>
          <a:noFill/>
          <a:ln/>
        </p:spPr>
        <p:txBody>
          <a:bodyPr wrap="square" rtlCol="0" anchor="ctr"/>
          <a:lstStyle/>
          <a:p>
            <a:pPr indent="0" marL="0">
              <a:buNone/>
            </a:pPr>
            <a:r>
              <a:rPr lang="en-US" sz="1000" b="1" dirty="0">
                <a:solidFill>
                  <a:srgbClr val="8A6D1A"/>
                </a:solidFill>
                <a:latin typeface="Trebuchet MS" pitchFamily="34" charset="0"/>
                <a:ea typeface="Trebuchet MS" pitchFamily="34" charset="-122"/>
                <a:cs typeface="Trebuchet MS" pitchFamily="34" charset="-120"/>
              </a:rPr>
              <a:t>US.14:</a:t>
            </a:r>
            <a:endParaRPr lang="en-US" sz="1000" dirty="0"/>
          </a:p>
        </p:txBody>
      </p:sp>
      <p:sp>
        <p:nvSpPr>
          <p:cNvPr id="10" name="Text 8"/>
          <p:cNvSpPr/>
          <p:nvPr/>
        </p:nvSpPr>
        <p:spPr>
          <a:xfrm>
            <a:off x="594360" y="3566160"/>
            <a:ext cx="3291840" cy="2286000"/>
          </a:xfrm>
          <a:prstGeom prst="rect">
            <a:avLst/>
          </a:prstGeom>
          <a:noFill/>
          <a:ln/>
        </p:spPr>
        <p:txBody>
          <a:bodyPr wrap="square" rtlCol="0" anchor="t"/>
          <a:lstStyle/>
          <a:p>
            <a:pPr indent="0" marL="0">
              <a:buNone/>
            </a:pPr>
            <a:r>
              <a:rPr lang="en-US" sz="1200" dirty="0">
                <a:solidFill>
                  <a:srgbClr val="1F2430"/>
                </a:solidFill>
                <a:latin typeface="Calibri" pitchFamily="34" charset="0"/>
                <a:ea typeface="Calibri" pitchFamily="34" charset="-122"/>
                <a:cs typeface="Calibri" pitchFamily="34" charset="-120"/>
              </a:rPr>
              <a:t>The reading public, who gained hard evidence of abuse; reformers who used muckraking exposes to build support for regulation.</a:t>
            </a:r>
            <a:endParaRPr lang="en-US" sz="1200" dirty="0"/>
          </a:p>
        </p:txBody>
      </p:sp>
      <p:sp>
        <p:nvSpPr>
          <p:cNvPr id="11" name="Shape 9"/>
          <p:cNvSpPr/>
          <p:nvPr/>
        </p:nvSpPr>
        <p:spPr>
          <a:xfrm>
            <a:off x="4251960" y="1783080"/>
            <a:ext cx="3566160" cy="4206240"/>
          </a:xfrm>
          <a:prstGeom prst="rect">
            <a:avLst/>
          </a:prstGeom>
          <a:solidFill>
            <a:srgbClr val="FFFFFF"/>
          </a:solidFill>
          <a:ln/>
        </p:spPr>
      </p:sp>
      <p:sp>
        <p:nvSpPr>
          <p:cNvPr id="12" name="Shape 10"/>
          <p:cNvSpPr/>
          <p:nvPr/>
        </p:nvSpPr>
        <p:spPr>
          <a:xfrm>
            <a:off x="4251960" y="1783080"/>
            <a:ext cx="3566160" cy="548640"/>
          </a:xfrm>
          <a:prstGeom prst="rect">
            <a:avLst/>
          </a:prstGeom>
          <a:solidFill>
            <a:srgbClr val="C62828"/>
          </a:solidFill>
          <a:ln/>
        </p:spPr>
      </p:sp>
      <p:sp>
        <p:nvSpPr>
          <p:cNvPr id="13" name="Text 11"/>
          <p:cNvSpPr/>
          <p:nvPr/>
        </p:nvSpPr>
        <p:spPr>
          <a:xfrm>
            <a:off x="4251960" y="1783080"/>
            <a:ext cx="3566160" cy="548640"/>
          </a:xfrm>
          <a:prstGeom prst="rect">
            <a:avLst/>
          </a:prstGeom>
          <a:noFill/>
          <a:ln/>
        </p:spPr>
        <p:txBody>
          <a:bodyPr wrap="square"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Who bore the costs?</a:t>
            </a:r>
            <a:endParaRPr lang="en-US" sz="1600" dirty="0"/>
          </a:p>
        </p:txBody>
      </p:sp>
      <p:sp>
        <p:nvSpPr>
          <p:cNvPr id="14" name="Text 12"/>
          <p:cNvSpPr/>
          <p:nvPr/>
        </p:nvSpPr>
        <p:spPr>
          <a:xfrm>
            <a:off x="4389120" y="2423160"/>
            <a:ext cx="3291840" cy="868680"/>
          </a:xfrm>
          <a:prstGeom prst="rect">
            <a:avLst/>
          </a:prstGeom>
          <a:noFill/>
          <a:ln/>
        </p:spPr>
        <p:txBody>
          <a:bodyPr wrap="square" rtlCol="0" anchor="t"/>
          <a:lstStyle/>
          <a:p>
            <a:pPr indent="0" marL="0">
              <a:buNone/>
            </a:pPr>
            <a:r>
              <a:rPr lang="en-US" sz="1100" i="1" dirty="0">
                <a:solidFill>
                  <a:srgbClr val="5C6470"/>
                </a:solidFill>
                <a:latin typeface="Calibri" pitchFamily="34" charset="0"/>
                <a:ea typeface="Calibri" pitchFamily="34" charset="-122"/>
                <a:cs typeface="Calibri" pitchFamily="34" charset="-120"/>
              </a:rPr>
              <a:t>Who lost land, labor, freedom, or life — and who was silenced?</a:t>
            </a:r>
            <a:endParaRPr lang="en-US" sz="1100" dirty="0"/>
          </a:p>
        </p:txBody>
      </p:sp>
      <p:sp>
        <p:nvSpPr>
          <p:cNvPr id="15" name="Text 13"/>
          <p:cNvSpPr/>
          <p:nvPr/>
        </p:nvSpPr>
        <p:spPr>
          <a:xfrm>
            <a:off x="4389120" y="3291840"/>
            <a:ext cx="3291840" cy="274320"/>
          </a:xfrm>
          <a:prstGeom prst="rect">
            <a:avLst/>
          </a:prstGeom>
          <a:noFill/>
          <a:ln/>
        </p:spPr>
        <p:txBody>
          <a:bodyPr wrap="square" rtlCol="0" anchor="ctr"/>
          <a:lstStyle/>
          <a:p>
            <a:pPr indent="0" marL="0">
              <a:buNone/>
            </a:pPr>
            <a:r>
              <a:rPr lang="en-US" sz="1000" b="1" dirty="0">
                <a:solidFill>
                  <a:srgbClr val="8A6D1A"/>
                </a:solidFill>
                <a:latin typeface="Trebuchet MS" pitchFamily="34" charset="0"/>
                <a:ea typeface="Trebuchet MS" pitchFamily="34" charset="-122"/>
                <a:cs typeface="Trebuchet MS" pitchFamily="34" charset="-120"/>
              </a:rPr>
              <a:t>US.14:</a:t>
            </a:r>
            <a:endParaRPr lang="en-US" sz="1000" dirty="0"/>
          </a:p>
        </p:txBody>
      </p:sp>
      <p:sp>
        <p:nvSpPr>
          <p:cNvPr id="16" name="Text 14"/>
          <p:cNvSpPr/>
          <p:nvPr/>
        </p:nvSpPr>
        <p:spPr>
          <a:xfrm>
            <a:off x="4389120" y="3566160"/>
            <a:ext cx="3291840" cy="2286000"/>
          </a:xfrm>
          <a:prstGeom prst="rect">
            <a:avLst/>
          </a:prstGeom>
          <a:noFill/>
          <a:ln/>
        </p:spPr>
        <p:txBody>
          <a:bodyPr wrap="square" rtlCol="0" anchor="t"/>
          <a:lstStyle/>
          <a:p>
            <a:pPr indent="0" marL="0">
              <a:buNone/>
            </a:pPr>
            <a:r>
              <a:rPr lang="en-US" sz="1200" dirty="0">
                <a:solidFill>
                  <a:srgbClr val="1F2430"/>
                </a:solidFill>
                <a:latin typeface="Calibri" pitchFamily="34" charset="0"/>
                <a:ea typeface="Calibri" pitchFamily="34" charset="-122"/>
                <a:cs typeface="Calibri" pitchFamily="34" charset="-120"/>
              </a:rPr>
              <a:t>Corrupt bosses and trusts exposed by name — Standard Oil, municipal machines, and meatpackers forced into the public eye.</a:t>
            </a:r>
            <a:endParaRPr lang="en-US" sz="1200" dirty="0"/>
          </a:p>
        </p:txBody>
      </p:sp>
      <p:sp>
        <p:nvSpPr>
          <p:cNvPr id="17" name="Shape 15"/>
          <p:cNvSpPr/>
          <p:nvPr/>
        </p:nvSpPr>
        <p:spPr>
          <a:xfrm>
            <a:off x="8046720" y="1783080"/>
            <a:ext cx="3566160" cy="4206240"/>
          </a:xfrm>
          <a:prstGeom prst="rect">
            <a:avLst/>
          </a:prstGeom>
          <a:solidFill>
            <a:srgbClr val="FFFFFF"/>
          </a:solidFill>
          <a:ln/>
        </p:spPr>
      </p:sp>
      <p:sp>
        <p:nvSpPr>
          <p:cNvPr id="18" name="Shape 16"/>
          <p:cNvSpPr/>
          <p:nvPr/>
        </p:nvSpPr>
        <p:spPr>
          <a:xfrm>
            <a:off x="8046720" y="1783080"/>
            <a:ext cx="3566160" cy="548640"/>
          </a:xfrm>
          <a:prstGeom prst="rect">
            <a:avLst/>
          </a:prstGeom>
          <a:solidFill>
            <a:srgbClr val="002858"/>
          </a:solidFill>
          <a:ln/>
        </p:spPr>
      </p:sp>
      <p:sp>
        <p:nvSpPr>
          <p:cNvPr id="19" name="Text 17"/>
          <p:cNvSpPr/>
          <p:nvPr/>
        </p:nvSpPr>
        <p:spPr>
          <a:xfrm>
            <a:off x="8046720" y="1783080"/>
            <a:ext cx="3566160" cy="548640"/>
          </a:xfrm>
          <a:prstGeom prst="rect">
            <a:avLst/>
          </a:prstGeom>
          <a:noFill/>
          <a:ln/>
        </p:spPr>
        <p:txBody>
          <a:bodyPr wrap="square"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Who decided?</a:t>
            </a:r>
            <a:endParaRPr lang="en-US" sz="1600" dirty="0"/>
          </a:p>
        </p:txBody>
      </p:sp>
      <p:sp>
        <p:nvSpPr>
          <p:cNvPr id="20" name="Text 18"/>
          <p:cNvSpPr/>
          <p:nvPr/>
        </p:nvSpPr>
        <p:spPr>
          <a:xfrm>
            <a:off x="8183880" y="2423160"/>
            <a:ext cx="3291840" cy="868680"/>
          </a:xfrm>
          <a:prstGeom prst="rect">
            <a:avLst/>
          </a:prstGeom>
          <a:noFill/>
          <a:ln/>
        </p:spPr>
        <p:txBody>
          <a:bodyPr wrap="square" rtlCol="0" anchor="t"/>
          <a:lstStyle/>
          <a:p>
            <a:pPr indent="0" marL="0">
              <a:buNone/>
            </a:pPr>
            <a:r>
              <a:rPr lang="en-US" sz="1100" i="1" dirty="0">
                <a:solidFill>
                  <a:srgbClr val="5C6470"/>
                </a:solidFill>
                <a:latin typeface="Calibri" pitchFamily="34" charset="0"/>
                <a:ea typeface="Calibri" pitchFamily="34" charset="-122"/>
                <a:cs typeface="Calibri" pitchFamily="34" charset="-120"/>
              </a:rPr>
              <a:t>Which people, offices, or courts held the authority?</a:t>
            </a:r>
            <a:endParaRPr lang="en-US" sz="1100" dirty="0"/>
          </a:p>
        </p:txBody>
      </p:sp>
      <p:sp>
        <p:nvSpPr>
          <p:cNvPr id="21" name="Text 19"/>
          <p:cNvSpPr/>
          <p:nvPr/>
        </p:nvSpPr>
        <p:spPr>
          <a:xfrm>
            <a:off x="8183880" y="3291840"/>
            <a:ext cx="3291840" cy="274320"/>
          </a:xfrm>
          <a:prstGeom prst="rect">
            <a:avLst/>
          </a:prstGeom>
          <a:noFill/>
          <a:ln/>
        </p:spPr>
        <p:txBody>
          <a:bodyPr wrap="square" rtlCol="0" anchor="ctr"/>
          <a:lstStyle/>
          <a:p>
            <a:pPr indent="0" marL="0">
              <a:buNone/>
            </a:pPr>
            <a:r>
              <a:rPr lang="en-US" sz="1000" b="1" dirty="0">
                <a:solidFill>
                  <a:srgbClr val="8A6D1A"/>
                </a:solidFill>
                <a:latin typeface="Trebuchet MS" pitchFamily="34" charset="0"/>
                <a:ea typeface="Trebuchet MS" pitchFamily="34" charset="-122"/>
                <a:cs typeface="Trebuchet MS" pitchFamily="34" charset="-120"/>
              </a:rPr>
              <a:t>US.14:</a:t>
            </a:r>
            <a:endParaRPr lang="en-US" sz="1000" dirty="0"/>
          </a:p>
        </p:txBody>
      </p:sp>
      <p:sp>
        <p:nvSpPr>
          <p:cNvPr id="22" name="Text 20"/>
          <p:cNvSpPr/>
          <p:nvPr/>
        </p:nvSpPr>
        <p:spPr>
          <a:xfrm>
            <a:off x="8183880" y="3566160"/>
            <a:ext cx="3291840" cy="2286000"/>
          </a:xfrm>
          <a:prstGeom prst="rect">
            <a:avLst/>
          </a:prstGeom>
          <a:noFill/>
          <a:ln/>
        </p:spPr>
        <p:txBody>
          <a:bodyPr wrap="square" rtlCol="0" anchor="t"/>
          <a:lstStyle/>
          <a:p>
            <a:pPr indent="0" marL="0">
              <a:buNone/>
            </a:pPr>
            <a:r>
              <a:rPr lang="en-US" sz="1200" dirty="0">
                <a:solidFill>
                  <a:srgbClr val="1F2430"/>
                </a:solidFill>
                <a:latin typeface="Calibri" pitchFamily="34" charset="0"/>
                <a:ea typeface="Calibri" pitchFamily="34" charset="-122"/>
                <a:cs typeface="Calibri" pitchFamily="34" charset="-120"/>
              </a:rPr>
              <a:t>Journalists (Tarbell, Steffens, Sinclair) and reform leaders (La Follette, Roosevelt) who turned exposure into policy.</a:t>
            </a:r>
            <a:endParaRPr lang="en-US" sz="1200" dirty="0"/>
          </a:p>
        </p:txBody>
      </p:sp>
      <p:sp>
        <p:nvSpPr>
          <p:cNvPr id="23" name="Text 21"/>
          <p:cNvSpPr/>
          <p:nvPr/>
        </p:nvSpPr>
        <p:spPr>
          <a:xfrm>
            <a:off x="457200" y="6126480"/>
            <a:ext cx="10972800" cy="274320"/>
          </a:xfrm>
          <a:prstGeom prst="rect">
            <a:avLst/>
          </a:prstGeom>
          <a:noFill/>
          <a:ln/>
        </p:spPr>
        <p:txBody>
          <a:bodyPr wrap="square" rtlCol="0" anchor="ctr"/>
          <a:lstStyle/>
          <a:p>
            <a:pPr indent="0" marL="0">
              <a:buNone/>
            </a:pPr>
            <a:r>
              <a:rPr lang="en-US" sz="1000" i="1" dirty="0">
                <a:solidFill>
                  <a:srgbClr val="C7D4E0"/>
                </a:solidFill>
                <a:latin typeface="Trebuchet MS" pitchFamily="34" charset="0"/>
                <a:ea typeface="Trebuchet MS" pitchFamily="34" charset="-122"/>
                <a:cs typeface="Trebuchet MS" pitchFamily="34" charset="-120"/>
              </a:rPr>
              <a:t>Anchor: Tarbell, The History of the Standard Oil Company, 1904 (Library of Congress)</a:t>
            </a:r>
            <a:endParaRPr lang="en-US" sz="1000" dirty="0"/>
          </a:p>
        </p:txBody>
      </p:sp>
      <p:sp>
        <p:nvSpPr>
          <p:cNvPr id="24" name="Text 22"/>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5" name="Text 23"/>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45</a:t>
            </a:r>
            <a:endParaRPr lang="en-US" sz="9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1A2332"/>
        </a:solidFill>
      </p:bgPr>
    </p:bg>
    <p:spTree>
      <p:nvGrpSpPr>
        <p:cNvPr id="1" name=""/>
        <p:cNvGrpSpPr/>
        <p:nvPr/>
      </p:nvGrpSpPr>
      <p:grpSpPr>
        <a:xfrm>
          <a:off x="0" y="0"/>
          <a:ext cx="0" cy="0"/>
          <a:chOff x="0" y="0"/>
          <a:chExt cx="0" cy="0"/>
        </a:xfrm>
      </p:grpSpPr>
      <p:sp>
        <p:nvSpPr>
          <p:cNvPr id="2" name="Shape 0"/>
          <p:cNvSpPr/>
          <p:nvPr/>
        </p:nvSpPr>
        <p:spPr>
          <a:xfrm>
            <a:off x="0" y="2331720"/>
            <a:ext cx="12191695" cy="73152"/>
          </a:xfrm>
          <a:prstGeom prst="rect">
            <a:avLst/>
          </a:prstGeom>
          <a:solidFill>
            <a:srgbClr val="C9A84C"/>
          </a:solidFill>
          <a:ln/>
        </p:spPr>
        <p:txBody>
          <a:bodyPr/>
          <a:p/>
        </p:txBody>
      </p:sp>
      <p:sp>
        <p:nvSpPr>
          <p:cNvPr id="3" name="Text 1"/>
          <p:cNvSpPr/>
          <p:nvPr/>
        </p:nvSpPr>
        <p:spPr>
          <a:xfrm>
            <a:off x="457200" y="548640"/>
            <a:ext cx="2926080" cy="1188720"/>
          </a:xfrm>
          <a:prstGeom prst="rect">
            <a:avLst/>
          </a:prstGeom>
          <a:noFill/>
          <a:ln/>
        </p:spPr>
        <p:txBody>
          <a:bodyPr wrap="square" rtlCol="0" anchor="ctr"/>
          <a:lstStyle/>
          <a:p>
            <a:pPr indent="0" marL="0">
              <a:buNone/>
            </a:pPr>
            <a:r>
              <a:rPr lang="en-US" sz="6000" b="1" dirty="0">
                <a:solidFill>
                  <a:srgbClr val="C9A84C"/>
                </a:solidFill>
                <a:latin typeface="Georgia" pitchFamily="34" charset="0"/>
                <a:ea typeface="Georgia" pitchFamily="34" charset="-122"/>
                <a:cs typeface="Georgia" pitchFamily="34" charset="-120"/>
              </a:rPr>
              <a:t>US.15</a:t>
            </a:r>
            <a:endParaRPr lang="en-US" sz="6000" dirty="0"/>
          </a:p>
        </p:txBody>
      </p:sp>
      <p:sp>
        <p:nvSpPr>
          <p:cNvPr id="4" name="Text 2"/>
          <p:cNvSpPr/>
          <p:nvPr/>
        </p:nvSpPr>
        <p:spPr>
          <a:xfrm>
            <a:off x="3474720" y="548640"/>
            <a:ext cx="8229600" cy="1188720"/>
          </a:xfrm>
          <a:prstGeom prst="rect">
            <a:avLst/>
          </a:prstGeom>
          <a:noFill/>
          <a:ln/>
        </p:spPr>
        <p:txBody>
          <a:bodyPr wrap="square" rtlCol="0" anchor="ctr"/>
          <a:lstStyle/>
          <a:p>
            <a:pPr indent="0" marL="0">
              <a:buNone/>
            </a:pPr>
            <a:r>
              <a:rPr lang="en-US" sz="2600" b="1" dirty="0">
                <a:solidFill>
                  <a:srgbClr val="FFFFFF"/>
                </a:solidFill>
                <a:latin typeface="Georgia" pitchFamily="34" charset="0"/>
                <a:ea typeface="Georgia" pitchFamily="34" charset="-122"/>
                <a:cs typeface="Georgia" pitchFamily="34" charset="-120"/>
              </a:rPr>
              <a:t>Progressive Movement Goals &amp; Achievements</a:t>
            </a:r>
            <a:endParaRPr lang="en-US" sz="2600" dirty="0"/>
          </a:p>
        </p:txBody>
      </p:sp>
      <p:sp>
        <p:nvSpPr>
          <p:cNvPr id="5" name="Text 3"/>
          <p:cNvSpPr/>
          <p:nvPr/>
        </p:nvSpPr>
        <p:spPr>
          <a:xfrm>
            <a:off x="457200" y="2651760"/>
            <a:ext cx="11247120" cy="274320"/>
          </a:xfrm>
          <a:prstGeom prst="rect">
            <a:avLst/>
          </a:prstGeom>
          <a:noFill/>
          <a:ln/>
        </p:spPr>
        <p:txBody>
          <a:bodyPr wrap="square" rtlCol="0" anchor="ctr"/>
          <a:lstStyle/>
          <a:p>
            <a:pPr indent="0" marL="0">
              <a:buNone/>
            </a:pPr>
            <a:r>
              <a:rPr lang="en-US" sz="1200" b="1" spc="200" kern="0" dirty="0">
                <a:solidFill>
                  <a:srgbClr val="C9A84C"/>
                </a:solidFill>
                <a:latin typeface="Trebuchet MS" pitchFamily="34" charset="0"/>
                <a:ea typeface="Trebuchet MS" pitchFamily="34" charset="-122"/>
                <a:cs typeface="Trebuchet MS" pitchFamily="34" charset="-120"/>
              </a:rPr>
              <a:t>TN STANDARD</a:t>
            </a:r>
            <a:endParaRPr lang="en-US" sz="1200" dirty="0"/>
          </a:p>
        </p:txBody>
      </p:sp>
      <p:sp>
        <p:nvSpPr>
          <p:cNvPr id="6" name="Text 4"/>
          <p:cNvSpPr/>
          <p:nvPr/>
        </p:nvSpPr>
        <p:spPr>
          <a:xfrm>
            <a:off x="457200" y="2999232"/>
            <a:ext cx="11247120" cy="1691640"/>
          </a:xfrm>
          <a:prstGeom prst="rect">
            <a:avLst/>
          </a:prstGeom>
          <a:noFill/>
          <a:ln/>
        </p:spPr>
        <p:txBody>
          <a:bodyPr wrap="square" rtlCol="0" anchor="t"/>
          <a:lstStyle/>
          <a:p>
            <a:pPr indent="0" marL="0">
              <a:lnSpc>
                <a:spcPct val="105000"/>
              </a:lnSpc>
              <a:buNone/>
            </a:pPr>
            <a:r>
              <a:rPr lang="en-US" sz="1600" dirty="0">
                <a:solidFill>
                  <a:srgbClr val="C7D4E0"/>
                </a:solidFill>
                <a:latin typeface="Calibri" pitchFamily="34" charset="0"/>
                <a:ea typeface="Calibri" pitchFamily="34" charset="-122"/>
                <a:cs typeface="Calibri" pitchFamily="34" charset="-120"/>
              </a:rPr>
              <a:t>US.15 – Analyze the goals and achievements of the Progressive movement, including: Adoption of the initiative, referendum, and recall, Adoption of the primary system, 16th Amendment, 17th Amendment, 18th Amendment.</a:t>
            </a:r>
            <a:endParaRPr lang="en-US" sz="1600" dirty="0"/>
          </a:p>
        </p:txBody>
      </p:sp>
      <p:sp>
        <p:nvSpPr>
          <p:cNvPr id="7" name="Shape 5"/>
          <p:cNvSpPr/>
          <p:nvPr/>
        </p:nvSpPr>
        <p:spPr>
          <a:xfrm>
            <a:off x="457200" y="4892040"/>
            <a:ext cx="11247120" cy="1234440"/>
          </a:xfrm>
          <a:prstGeom prst="rect">
            <a:avLst/>
          </a:prstGeom>
          <a:solidFill>
            <a:srgbClr val="C9A84C"/>
          </a:solidFill>
          <a:ln/>
        </p:spPr>
      </p:sp>
      <p:sp>
        <p:nvSpPr>
          <p:cNvPr id="8" name="Text 6"/>
          <p:cNvSpPr/>
          <p:nvPr/>
        </p:nvSpPr>
        <p:spPr>
          <a:xfrm>
            <a:off x="640080" y="5029200"/>
            <a:ext cx="10972800" cy="274320"/>
          </a:xfrm>
          <a:prstGeom prst="rect">
            <a:avLst/>
          </a:prstGeom>
          <a:noFill/>
          <a:ln/>
        </p:spPr>
        <p:txBody>
          <a:bodyPr wrap="square" rtlCol="0" anchor="ctr"/>
          <a:lstStyle/>
          <a:p>
            <a:pPr indent="0" marL="0">
              <a:buNone/>
            </a:pPr>
            <a:r>
              <a:rPr lang="en-US" sz="1200" b="1" spc="200" kern="0" dirty="0">
                <a:solidFill>
                  <a:srgbClr val="1A2332"/>
                </a:solidFill>
                <a:latin typeface="Trebuchet MS" pitchFamily="34" charset="0"/>
                <a:ea typeface="Trebuchet MS" pitchFamily="34" charset="-122"/>
                <a:cs typeface="Trebuchet MS" pitchFamily="34" charset="-120"/>
              </a:rPr>
              <a:t>I CAN</a:t>
            </a:r>
            <a:endParaRPr lang="en-US" sz="1200" dirty="0"/>
          </a:p>
        </p:txBody>
      </p:sp>
      <p:sp>
        <p:nvSpPr>
          <p:cNvPr id="9" name="Text 7"/>
          <p:cNvSpPr/>
          <p:nvPr/>
        </p:nvSpPr>
        <p:spPr>
          <a:xfrm>
            <a:off x="640080" y="5303520"/>
            <a:ext cx="10881360" cy="749808"/>
          </a:xfrm>
          <a:prstGeom prst="rect">
            <a:avLst/>
          </a:prstGeom>
          <a:noFill/>
          <a:ln/>
        </p:spPr>
        <p:txBody>
          <a:bodyPr wrap="square" rtlCol="0" anchor="t"/>
          <a:lstStyle/>
          <a:p>
            <a:pPr indent="0" marL="0">
              <a:buNone/>
            </a:pPr>
            <a:r>
              <a:rPr lang="en-US" sz="1400" b="1" dirty="0">
                <a:solidFill>
                  <a:srgbClr val="1A2332"/>
                </a:solidFill>
                <a:latin typeface="Calibri" pitchFamily="34" charset="0"/>
                <a:ea typeface="Calibri" pitchFamily="34" charset="-122"/>
                <a:cs typeface="Calibri" pitchFamily="34" charset="-120"/>
              </a:rPr>
              <a:t>I can analyze the goals and achievements of the Progressive movement, including the initiative, referendum, recall, direct primary, 16th Amendment, 17th Amendment, and 18th Amendment.</a:t>
            </a:r>
            <a:endParaRPr lang="en-US" sz="1400" dirty="0"/>
          </a:p>
        </p:txBody>
      </p:sp>
      <p:sp>
        <p:nvSpPr>
          <p:cNvPr id="10" name="Text 8"/>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1" name="Text 9"/>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46</a:t>
            </a:r>
            <a:endParaRPr lang="en-US" sz="9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737360"/>
          </a:xfrm>
          <a:prstGeom prst="rect">
            <a:avLst/>
          </a:prstGeom>
          <a:solidFill>
            <a:srgbClr val="1A2332"/>
          </a:solidFill>
          <a:ln/>
        </p:spPr>
        <p:txBody>
          <a:bodyPr/>
          <a:p/>
        </p:txBody>
      </p:sp>
      <p:sp>
        <p:nvSpPr>
          <p:cNvPr id="3" name="Shape 1"/>
          <p:cNvSpPr/>
          <p:nvPr/>
        </p:nvSpPr>
        <p:spPr>
          <a:xfrm>
            <a:off x="0" y="1737360"/>
            <a:ext cx="12191695" cy="54864"/>
          </a:xfrm>
          <a:prstGeom prst="rect">
            <a:avLst/>
          </a:prstGeom>
          <a:solidFill>
            <a:srgbClr val="C9A84C"/>
          </a:solidFill>
          <a:ln/>
        </p:spPr>
        <p:txBody>
          <a:bodyPr/>
          <a:p/>
        </p:txBody>
      </p:sp>
      <p:sp>
        <p:nvSpPr>
          <p:cNvPr id="4" name="Text 2"/>
          <p:cNvSpPr/>
          <p:nvPr/>
        </p:nvSpPr>
        <p:spPr>
          <a:xfrm>
            <a:off x="457200" y="320040"/>
            <a:ext cx="3291840" cy="365760"/>
          </a:xfrm>
          <a:prstGeom prst="rect">
            <a:avLst/>
          </a:prstGeom>
          <a:solidFill>
            <a:srgbClr val="00285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DIRECT INSTRUCTION</a:t>
            </a:r>
            <a:endParaRPr lang="en-US" sz="1100" dirty="0"/>
          </a:p>
        </p:txBody>
      </p:sp>
      <p:sp>
        <p:nvSpPr>
          <p:cNvPr id="5" name="Text 3"/>
          <p:cNvSpPr/>
          <p:nvPr/>
        </p:nvSpPr>
        <p:spPr>
          <a:xfrm>
            <a:off x="3886200" y="32004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US.15</a:t>
            </a:r>
            <a:endParaRPr lang="en-US" sz="1200" dirty="0"/>
          </a:p>
        </p:txBody>
      </p:sp>
      <p:sp>
        <p:nvSpPr>
          <p:cNvPr id="6" name="Text 4"/>
          <p:cNvSpPr/>
          <p:nvPr/>
        </p:nvSpPr>
        <p:spPr>
          <a:xfrm>
            <a:off x="457200" y="777240"/>
            <a:ext cx="11247120" cy="868680"/>
          </a:xfrm>
          <a:prstGeom prst="rect">
            <a:avLst/>
          </a:prstGeom>
          <a:noFill/>
          <a:ln/>
        </p:spPr>
        <p:txBody>
          <a:bodyPr wrap="square" rtlCol="0" anchor="ctr"/>
          <a:lstStyle/>
          <a:p>
            <a:pPr algn="l" indent="0" marL="0">
              <a:buNone/>
            </a:pPr>
            <a:r>
              <a:rPr lang="en-US" sz="2300" b="1" dirty="0">
                <a:solidFill>
                  <a:srgbClr val="FFFFFF"/>
                </a:solidFill>
                <a:latin typeface="Georgia" pitchFamily="34" charset="0"/>
                <a:ea typeface="Georgia" pitchFamily="34" charset="-122"/>
                <a:cs typeface="Georgia" pitchFamily="34" charset="-120"/>
              </a:rPr>
              <a:t>Progressives sought to use government power to curb corporate trusts, protect workers and consumers, and clean up politics.</a:t>
            </a:r>
            <a:endParaRPr lang="en-US" sz="2300" dirty="0"/>
          </a:p>
        </p:txBody>
      </p:sp>
      <p:pic>
        <p:nvPicPr>
          <p:cNvPr id="7" name="Image 0" descr="hh-web/public/images/textbook/unit-2/riis-bandits-roost-1888.jpg">    </p:cNvPr>
          <p:cNvPicPr>
            <a:picLocks noChangeAspect="1"/>
          </p:cNvPicPr>
          <p:nvPr/>
        </p:nvPicPr>
        <p:blipFill>
          <a:blip r:embed="rId1"/>
          <a:srcRect l="0" r="0" t="0" b="0"/>
          <a:stretch/>
        </p:blipFill>
        <p:spPr>
          <a:xfrm>
            <a:off x="2743200" y="2057400"/>
            <a:ext cx="6702552" cy="4160520"/>
          </a:xfrm>
          <a:prstGeom prst="rect">
            <a:avLst/>
          </a:prstGeom>
        </p:spPr>
      </p:pic>
      <p:sp>
        <p:nvSpPr>
          <p:cNvPr id="8" name="Text 5"/>
          <p:cNvSpPr/>
          <p:nvPr/>
        </p:nvSpPr>
        <p:spPr>
          <a:xfrm>
            <a:off x="2743200" y="2103120"/>
            <a:ext cx="1188720" cy="292608"/>
          </a:xfrm>
          <a:prstGeom prst="rect">
            <a:avLst/>
          </a:prstGeom>
          <a:solidFill>
            <a:srgbClr val="F9A825"/>
          </a:solidFill>
          <a:ln/>
        </p:spPr>
        <p:txBody>
          <a:bodyPr wrap="square" rtlCol="0" anchor="ctr"/>
          <a:lstStyle/>
          <a:p>
            <a:pPr algn="ctr" indent="0" marL="0">
              <a:buNone/>
            </a:pPr>
            <a:r>
              <a:rPr lang="en-US" sz="900" b="1" spc="100" kern="0" dirty="0">
                <a:solidFill>
                  <a:srgbClr val="1A2332"/>
                </a:solidFill>
                <a:latin typeface="Trebuchet MS" pitchFamily="34" charset="0"/>
                <a:ea typeface="Trebuchet MS" pitchFamily="34" charset="-122"/>
                <a:cs typeface="Trebuchet MS" pitchFamily="34" charset="-120"/>
              </a:rPr>
              <a:t>ZOOM IN</a:t>
            </a:r>
            <a:endParaRPr lang="en-US" sz="900" dirty="0"/>
          </a:p>
        </p:txBody>
      </p:sp>
      <p:sp>
        <p:nvSpPr>
          <p:cNvPr id="9" name="Text 6"/>
          <p:cNvSpPr/>
          <p:nvPr/>
        </p:nvSpPr>
        <p:spPr>
          <a:xfrm>
            <a:off x="457200" y="6263640"/>
            <a:ext cx="8229600" cy="274320"/>
          </a:xfrm>
          <a:prstGeom prst="rect">
            <a:avLst/>
          </a:prstGeom>
          <a:noFill/>
          <a:ln/>
        </p:spPr>
        <p:txBody>
          <a:bodyPr wrap="square" rtlCol="0" anchor="ctr"/>
          <a:lstStyle/>
          <a:p>
            <a:pPr indent="0" marL="0">
              <a:buNone/>
            </a:pPr>
            <a:r>
              <a:rPr lang="en-US" sz="1000" i="1" dirty="0">
                <a:solidFill>
                  <a:srgbClr val="5C6470"/>
                </a:solidFill>
                <a:latin typeface="Trebuchet MS" pitchFamily="34" charset="0"/>
                <a:ea typeface="Trebuchet MS" pitchFamily="34" charset="-122"/>
                <a:cs typeface="Trebuchet MS" pitchFamily="34" charset="-120"/>
              </a:rPr>
              <a:t>US.15 · Goals of the Progressive Movement</a:t>
            </a:r>
            <a:endParaRPr lang="en-US" sz="1000" dirty="0"/>
          </a:p>
        </p:txBody>
      </p:sp>
      <p:sp>
        <p:nvSpPr>
          <p:cNvPr id="10" name="Text 7"/>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1" name="Text 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47</a:t>
            </a:r>
            <a:endParaRPr lang="en-US" sz="9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737360"/>
          </a:xfrm>
          <a:prstGeom prst="rect">
            <a:avLst/>
          </a:prstGeom>
          <a:solidFill>
            <a:srgbClr val="1A2332"/>
          </a:solidFill>
          <a:ln/>
        </p:spPr>
        <p:txBody>
          <a:bodyPr/>
          <a:p/>
        </p:txBody>
      </p:sp>
      <p:sp>
        <p:nvSpPr>
          <p:cNvPr id="3" name="Shape 1"/>
          <p:cNvSpPr/>
          <p:nvPr/>
        </p:nvSpPr>
        <p:spPr>
          <a:xfrm>
            <a:off x="0" y="1737360"/>
            <a:ext cx="12191695" cy="54864"/>
          </a:xfrm>
          <a:prstGeom prst="rect">
            <a:avLst/>
          </a:prstGeom>
          <a:solidFill>
            <a:srgbClr val="C9A84C"/>
          </a:solidFill>
          <a:ln/>
        </p:spPr>
        <p:txBody>
          <a:bodyPr/>
          <a:p/>
        </p:txBody>
      </p:sp>
      <p:sp>
        <p:nvSpPr>
          <p:cNvPr id="4" name="Text 2"/>
          <p:cNvSpPr/>
          <p:nvPr/>
        </p:nvSpPr>
        <p:spPr>
          <a:xfrm>
            <a:off x="457200" y="320040"/>
            <a:ext cx="3291840" cy="365760"/>
          </a:xfrm>
          <a:prstGeom prst="rect">
            <a:avLst/>
          </a:prstGeom>
          <a:solidFill>
            <a:srgbClr val="00285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DIRECT INSTRUCTION</a:t>
            </a:r>
            <a:endParaRPr lang="en-US" sz="1100" dirty="0"/>
          </a:p>
        </p:txBody>
      </p:sp>
      <p:sp>
        <p:nvSpPr>
          <p:cNvPr id="5" name="Text 3"/>
          <p:cNvSpPr/>
          <p:nvPr/>
        </p:nvSpPr>
        <p:spPr>
          <a:xfrm>
            <a:off x="3886200" y="32004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US.15</a:t>
            </a:r>
            <a:endParaRPr lang="en-US" sz="1200" dirty="0"/>
          </a:p>
        </p:txBody>
      </p:sp>
      <p:sp>
        <p:nvSpPr>
          <p:cNvPr id="6" name="Text 4"/>
          <p:cNvSpPr/>
          <p:nvPr/>
        </p:nvSpPr>
        <p:spPr>
          <a:xfrm>
            <a:off x="457200" y="777240"/>
            <a:ext cx="11247120" cy="868680"/>
          </a:xfrm>
          <a:prstGeom prst="rect">
            <a:avLst/>
          </a:prstGeom>
          <a:noFill/>
          <a:ln/>
        </p:spPr>
        <p:txBody>
          <a:bodyPr wrap="square" rtlCol="0" anchor="ctr"/>
          <a:lstStyle/>
          <a:p>
            <a:pPr algn="l" indent="0" marL="0">
              <a:buNone/>
            </a:pPr>
            <a:r>
              <a:rPr lang="en-US" sz="2300" b="1" dirty="0">
                <a:solidFill>
                  <a:srgbClr val="FFFFFF"/>
                </a:solidFill>
                <a:latin typeface="Georgia" pitchFamily="34" charset="0"/>
                <a:ea typeface="Georgia" pitchFamily="34" charset="-122"/>
                <a:cs typeface="Georgia" pitchFamily="34" charset="-120"/>
              </a:rPr>
              <a:t>Initiative, referendum, and recall gave voters direct power to propose laws, approve them, and remove officials.</a:t>
            </a:r>
            <a:endParaRPr lang="en-US" sz="2300" dirty="0"/>
          </a:p>
        </p:txBody>
      </p:sp>
      <p:pic>
        <p:nvPicPr>
          <p:cNvPr id="7" name="Image 0" descr="hh-web/public/images/textbook/unit-2/bryan-speaking-1896.jpg">    </p:cNvPr>
          <p:cNvPicPr>
            <a:picLocks noChangeAspect="1"/>
          </p:cNvPicPr>
          <p:nvPr/>
        </p:nvPicPr>
        <p:blipFill>
          <a:blip r:embed="rId1"/>
          <a:srcRect l="0" r="0" t="0" b="0"/>
          <a:stretch/>
        </p:blipFill>
        <p:spPr>
          <a:xfrm>
            <a:off x="2743200" y="2057400"/>
            <a:ext cx="6702552" cy="4160520"/>
          </a:xfrm>
          <a:prstGeom prst="rect">
            <a:avLst/>
          </a:prstGeom>
        </p:spPr>
      </p:pic>
      <p:sp>
        <p:nvSpPr>
          <p:cNvPr id="8" name="Text 5"/>
          <p:cNvSpPr/>
          <p:nvPr/>
        </p:nvSpPr>
        <p:spPr>
          <a:xfrm>
            <a:off x="2743200" y="2103120"/>
            <a:ext cx="1188720" cy="292608"/>
          </a:xfrm>
          <a:prstGeom prst="rect">
            <a:avLst/>
          </a:prstGeom>
          <a:solidFill>
            <a:srgbClr val="F9A825"/>
          </a:solidFill>
          <a:ln/>
        </p:spPr>
        <p:txBody>
          <a:bodyPr wrap="square" rtlCol="0" anchor="ctr"/>
          <a:lstStyle/>
          <a:p>
            <a:pPr algn="ctr" indent="0" marL="0">
              <a:buNone/>
            </a:pPr>
            <a:r>
              <a:rPr lang="en-US" sz="900" b="1" spc="100" kern="0" dirty="0">
                <a:solidFill>
                  <a:srgbClr val="1A2332"/>
                </a:solidFill>
                <a:latin typeface="Trebuchet MS" pitchFamily="34" charset="0"/>
                <a:ea typeface="Trebuchet MS" pitchFamily="34" charset="-122"/>
                <a:cs typeface="Trebuchet MS" pitchFamily="34" charset="-120"/>
              </a:rPr>
              <a:t>ZOOM IN</a:t>
            </a:r>
            <a:endParaRPr lang="en-US" sz="900" dirty="0"/>
          </a:p>
        </p:txBody>
      </p:sp>
      <p:sp>
        <p:nvSpPr>
          <p:cNvPr id="9" name="Text 6"/>
          <p:cNvSpPr/>
          <p:nvPr/>
        </p:nvSpPr>
        <p:spPr>
          <a:xfrm>
            <a:off x="457200" y="6263640"/>
            <a:ext cx="8229600" cy="274320"/>
          </a:xfrm>
          <a:prstGeom prst="rect">
            <a:avLst/>
          </a:prstGeom>
          <a:noFill/>
          <a:ln/>
        </p:spPr>
        <p:txBody>
          <a:bodyPr wrap="square" rtlCol="0" anchor="ctr"/>
          <a:lstStyle/>
          <a:p>
            <a:pPr indent="0" marL="0">
              <a:buNone/>
            </a:pPr>
            <a:r>
              <a:rPr lang="en-US" sz="1000" i="1" dirty="0">
                <a:solidFill>
                  <a:srgbClr val="5C6470"/>
                </a:solidFill>
                <a:latin typeface="Trebuchet MS" pitchFamily="34" charset="0"/>
                <a:ea typeface="Trebuchet MS" pitchFamily="34" charset="-122"/>
                <a:cs typeface="Trebuchet MS" pitchFamily="34" charset="-120"/>
              </a:rPr>
              <a:t>US.15 · Initiative, Referendum &amp; Recall</a:t>
            </a:r>
            <a:endParaRPr lang="en-US" sz="1000" dirty="0"/>
          </a:p>
        </p:txBody>
      </p:sp>
      <p:sp>
        <p:nvSpPr>
          <p:cNvPr id="10" name="Text 7"/>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1" name="Text 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48</a:t>
            </a:r>
            <a:endParaRPr lang="en-US" sz="9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737360"/>
          </a:xfrm>
          <a:prstGeom prst="rect">
            <a:avLst/>
          </a:prstGeom>
          <a:solidFill>
            <a:srgbClr val="1A2332"/>
          </a:solidFill>
          <a:ln/>
        </p:spPr>
        <p:txBody>
          <a:bodyPr/>
          <a:p/>
        </p:txBody>
      </p:sp>
      <p:sp>
        <p:nvSpPr>
          <p:cNvPr id="3" name="Shape 1"/>
          <p:cNvSpPr/>
          <p:nvPr/>
        </p:nvSpPr>
        <p:spPr>
          <a:xfrm>
            <a:off x="0" y="1737360"/>
            <a:ext cx="12191695" cy="54864"/>
          </a:xfrm>
          <a:prstGeom prst="rect">
            <a:avLst/>
          </a:prstGeom>
          <a:solidFill>
            <a:srgbClr val="C9A84C"/>
          </a:solidFill>
          <a:ln/>
        </p:spPr>
        <p:txBody>
          <a:bodyPr/>
          <a:p/>
        </p:txBody>
      </p:sp>
      <p:sp>
        <p:nvSpPr>
          <p:cNvPr id="4" name="Text 2"/>
          <p:cNvSpPr/>
          <p:nvPr/>
        </p:nvSpPr>
        <p:spPr>
          <a:xfrm>
            <a:off x="457200" y="320040"/>
            <a:ext cx="3291840" cy="365760"/>
          </a:xfrm>
          <a:prstGeom prst="rect">
            <a:avLst/>
          </a:prstGeom>
          <a:solidFill>
            <a:srgbClr val="00285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DIRECT INSTRUCTION</a:t>
            </a:r>
            <a:endParaRPr lang="en-US" sz="1100" dirty="0"/>
          </a:p>
        </p:txBody>
      </p:sp>
      <p:sp>
        <p:nvSpPr>
          <p:cNvPr id="5" name="Text 3"/>
          <p:cNvSpPr/>
          <p:nvPr/>
        </p:nvSpPr>
        <p:spPr>
          <a:xfrm>
            <a:off x="3886200" y="32004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US.15</a:t>
            </a:r>
            <a:endParaRPr lang="en-US" sz="1200" dirty="0"/>
          </a:p>
        </p:txBody>
      </p:sp>
      <p:sp>
        <p:nvSpPr>
          <p:cNvPr id="6" name="Text 4"/>
          <p:cNvSpPr/>
          <p:nvPr/>
        </p:nvSpPr>
        <p:spPr>
          <a:xfrm>
            <a:off x="457200" y="777240"/>
            <a:ext cx="11247120" cy="868680"/>
          </a:xfrm>
          <a:prstGeom prst="rect">
            <a:avLst/>
          </a:prstGeom>
          <a:noFill/>
          <a:ln/>
        </p:spPr>
        <p:txBody>
          <a:bodyPr wrap="square" rtlCol="0" anchor="ctr"/>
          <a:lstStyle/>
          <a:p>
            <a:pPr algn="l" indent="0" marL="0">
              <a:buNone/>
            </a:pPr>
            <a:r>
              <a:rPr lang="en-US" sz="2300" b="1" dirty="0">
                <a:solidFill>
                  <a:srgbClr val="FFFFFF"/>
                </a:solidFill>
                <a:latin typeface="Georgia" pitchFamily="34" charset="0"/>
                <a:ea typeface="Georgia" pitchFamily="34" charset="-122"/>
                <a:cs typeface="Georgia" pitchFamily="34" charset="-120"/>
              </a:rPr>
              <a:t>The direct primary took candidate selection away from party bosses and gave it to voters.</a:t>
            </a:r>
            <a:endParaRPr lang="en-US" sz="2300" dirty="0"/>
          </a:p>
        </p:txBody>
      </p:sp>
      <p:pic>
        <p:nvPicPr>
          <p:cNvPr id="7" name="Image 0" descr="hh-web/public/images/textbook/unit-2/lafollette-robert-portrait.jpg">    </p:cNvPr>
          <p:cNvPicPr>
            <a:picLocks noChangeAspect="1"/>
          </p:cNvPicPr>
          <p:nvPr/>
        </p:nvPicPr>
        <p:blipFill>
          <a:blip r:embed="rId1"/>
          <a:srcRect l="0" r="0" t="0" b="0"/>
          <a:stretch/>
        </p:blipFill>
        <p:spPr>
          <a:xfrm>
            <a:off x="2743200" y="2057400"/>
            <a:ext cx="6702552" cy="4160520"/>
          </a:xfrm>
          <a:prstGeom prst="rect">
            <a:avLst/>
          </a:prstGeom>
        </p:spPr>
      </p:pic>
      <p:sp>
        <p:nvSpPr>
          <p:cNvPr id="8" name="Text 5"/>
          <p:cNvSpPr/>
          <p:nvPr/>
        </p:nvSpPr>
        <p:spPr>
          <a:xfrm>
            <a:off x="2743200" y="2103120"/>
            <a:ext cx="1188720" cy="292608"/>
          </a:xfrm>
          <a:prstGeom prst="rect">
            <a:avLst/>
          </a:prstGeom>
          <a:solidFill>
            <a:srgbClr val="F9A825"/>
          </a:solidFill>
          <a:ln/>
        </p:spPr>
        <p:txBody>
          <a:bodyPr wrap="square" rtlCol="0" anchor="ctr"/>
          <a:lstStyle/>
          <a:p>
            <a:pPr algn="ctr" indent="0" marL="0">
              <a:buNone/>
            </a:pPr>
            <a:r>
              <a:rPr lang="en-US" sz="900" b="1" spc="100" kern="0" dirty="0">
                <a:solidFill>
                  <a:srgbClr val="1A2332"/>
                </a:solidFill>
                <a:latin typeface="Trebuchet MS" pitchFamily="34" charset="0"/>
                <a:ea typeface="Trebuchet MS" pitchFamily="34" charset="-122"/>
                <a:cs typeface="Trebuchet MS" pitchFamily="34" charset="-120"/>
              </a:rPr>
              <a:t>ZOOM IN</a:t>
            </a:r>
            <a:endParaRPr lang="en-US" sz="900" dirty="0"/>
          </a:p>
        </p:txBody>
      </p:sp>
      <p:sp>
        <p:nvSpPr>
          <p:cNvPr id="9" name="Text 6"/>
          <p:cNvSpPr/>
          <p:nvPr/>
        </p:nvSpPr>
        <p:spPr>
          <a:xfrm>
            <a:off x="457200" y="6263640"/>
            <a:ext cx="8229600" cy="274320"/>
          </a:xfrm>
          <a:prstGeom prst="rect">
            <a:avLst/>
          </a:prstGeom>
          <a:noFill/>
          <a:ln/>
        </p:spPr>
        <p:txBody>
          <a:bodyPr wrap="square" rtlCol="0" anchor="ctr"/>
          <a:lstStyle/>
          <a:p>
            <a:pPr indent="0" marL="0">
              <a:buNone/>
            </a:pPr>
            <a:r>
              <a:rPr lang="en-US" sz="1000" i="1" dirty="0">
                <a:solidFill>
                  <a:srgbClr val="5C6470"/>
                </a:solidFill>
                <a:latin typeface="Trebuchet MS" pitchFamily="34" charset="0"/>
                <a:ea typeface="Trebuchet MS" pitchFamily="34" charset="-122"/>
                <a:cs typeface="Trebuchet MS" pitchFamily="34" charset="-120"/>
              </a:rPr>
              <a:t>US.15 · The Primary System</a:t>
            </a:r>
            <a:endParaRPr lang="en-US" sz="1000" dirty="0"/>
          </a:p>
        </p:txBody>
      </p:sp>
      <p:sp>
        <p:nvSpPr>
          <p:cNvPr id="10" name="Text 7"/>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1" name="Text 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49</a:t>
            </a:r>
            <a:endParaRPr lang="en-US" sz="9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737360"/>
          </a:xfrm>
          <a:prstGeom prst="rect">
            <a:avLst/>
          </a:prstGeom>
          <a:solidFill>
            <a:srgbClr val="1A2332"/>
          </a:solidFill>
          <a:ln/>
        </p:spPr>
        <p:txBody>
          <a:bodyPr/>
          <a:p/>
        </p:txBody>
      </p:sp>
      <p:sp>
        <p:nvSpPr>
          <p:cNvPr id="3" name="Shape 1"/>
          <p:cNvSpPr/>
          <p:nvPr/>
        </p:nvSpPr>
        <p:spPr>
          <a:xfrm>
            <a:off x="0" y="1737360"/>
            <a:ext cx="12191695" cy="54864"/>
          </a:xfrm>
          <a:prstGeom prst="rect">
            <a:avLst/>
          </a:prstGeom>
          <a:solidFill>
            <a:srgbClr val="C9A84C"/>
          </a:solidFill>
          <a:ln/>
        </p:spPr>
        <p:txBody>
          <a:bodyPr/>
          <a:p/>
        </p:txBody>
      </p:sp>
      <p:sp>
        <p:nvSpPr>
          <p:cNvPr id="4" name="Text 2"/>
          <p:cNvSpPr/>
          <p:nvPr/>
        </p:nvSpPr>
        <p:spPr>
          <a:xfrm>
            <a:off x="457200" y="320040"/>
            <a:ext cx="3291840" cy="365760"/>
          </a:xfrm>
          <a:prstGeom prst="rect">
            <a:avLst/>
          </a:prstGeom>
          <a:solidFill>
            <a:srgbClr val="00285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DIRECT INSTRUCTION</a:t>
            </a:r>
            <a:endParaRPr lang="en-US" sz="1100" dirty="0"/>
          </a:p>
        </p:txBody>
      </p:sp>
      <p:sp>
        <p:nvSpPr>
          <p:cNvPr id="5" name="Text 3"/>
          <p:cNvSpPr/>
          <p:nvPr/>
        </p:nvSpPr>
        <p:spPr>
          <a:xfrm>
            <a:off x="3886200" y="32004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US.15</a:t>
            </a:r>
            <a:endParaRPr lang="en-US" sz="1200" dirty="0"/>
          </a:p>
        </p:txBody>
      </p:sp>
      <p:sp>
        <p:nvSpPr>
          <p:cNvPr id="6" name="Text 4"/>
          <p:cNvSpPr/>
          <p:nvPr/>
        </p:nvSpPr>
        <p:spPr>
          <a:xfrm>
            <a:off x="457200" y="777240"/>
            <a:ext cx="11247120" cy="868680"/>
          </a:xfrm>
          <a:prstGeom prst="rect">
            <a:avLst/>
          </a:prstGeom>
          <a:noFill/>
          <a:ln/>
        </p:spPr>
        <p:txBody>
          <a:bodyPr wrap="square" rtlCol="0" anchor="ctr"/>
          <a:lstStyle/>
          <a:p>
            <a:pPr algn="l" indent="0" marL="0">
              <a:buNone/>
            </a:pPr>
            <a:r>
              <a:rPr lang="en-US" sz="2300" b="1" dirty="0">
                <a:solidFill>
                  <a:srgbClr val="FFFFFF"/>
                </a:solidFill>
                <a:latin typeface="Georgia" pitchFamily="34" charset="0"/>
                <a:ea typeface="Georgia" pitchFamily="34" charset="-122"/>
                <a:cs typeface="Georgia" pitchFamily="34" charset="-120"/>
              </a:rPr>
              <a:t>Three amendments: the 16th (income tax), 17th (direct election of senators), and 18th (Prohibition) enshrined Progressive goals.</a:t>
            </a:r>
            <a:endParaRPr lang="en-US" sz="2300" dirty="0"/>
          </a:p>
        </p:txBody>
      </p:sp>
      <p:sp>
        <p:nvSpPr>
          <p:cNvPr id="7" name="Shape 5"/>
          <p:cNvSpPr/>
          <p:nvPr/>
        </p:nvSpPr>
        <p:spPr>
          <a:xfrm>
            <a:off x="1463040" y="2377440"/>
            <a:ext cx="9262872" cy="3383280"/>
          </a:xfrm>
          <a:prstGeom prst="rect">
            <a:avLst/>
          </a:prstGeom>
          <a:solidFill>
            <a:srgbClr val="FFFFFF"/>
          </a:solidFill>
          <a:ln w="34925">
            <a:solidFill>
              <a:srgbClr val="F9A825"/>
            </a:solidFill>
            <a:prstDash val="solid"/>
          </a:ln>
        </p:spPr>
      </p:sp>
      <p:sp>
        <p:nvSpPr>
          <p:cNvPr id="8" name="Shape 6"/>
          <p:cNvSpPr/>
          <p:nvPr/>
        </p:nvSpPr>
        <p:spPr>
          <a:xfrm>
            <a:off x="1463040" y="2377440"/>
            <a:ext cx="9262872" cy="502920"/>
          </a:xfrm>
          <a:prstGeom prst="rect">
            <a:avLst/>
          </a:prstGeom>
          <a:solidFill>
            <a:srgbClr val="002858"/>
          </a:solidFill>
          <a:ln/>
        </p:spPr>
      </p:sp>
      <p:sp>
        <p:nvSpPr>
          <p:cNvPr id="9" name="Text 7"/>
          <p:cNvSpPr/>
          <p:nvPr/>
        </p:nvSpPr>
        <p:spPr>
          <a:xfrm>
            <a:off x="1463040" y="2377440"/>
            <a:ext cx="9262872" cy="502920"/>
          </a:xfrm>
          <a:prstGeom prst="rect">
            <a:avLst/>
          </a:prstGeom>
          <a:noFill/>
          <a:ln/>
        </p:spPr>
        <p:txBody>
          <a:bodyPr wrap="square" rtlCol="0" anchor="ctr"/>
          <a:lstStyle/>
          <a:p>
            <a:pPr algn="ctr" indent="0" marL="0">
              <a:buNone/>
            </a:pPr>
            <a:r>
              <a:rPr lang="en-US" sz="1200" b="1" spc="200" kern="0" dirty="0">
                <a:solidFill>
                  <a:srgbClr val="FFFFFF"/>
                </a:solidFill>
                <a:latin typeface="Trebuchet MS" pitchFamily="34" charset="0"/>
                <a:ea typeface="Trebuchet MS" pitchFamily="34" charset="-122"/>
                <a:cs typeface="Trebuchet MS" pitchFamily="34" charset="-120"/>
              </a:rPr>
              <a:t>KEY POINT</a:t>
            </a:r>
            <a:endParaRPr lang="en-US" sz="1200" dirty="0"/>
          </a:p>
        </p:txBody>
      </p:sp>
      <p:sp>
        <p:nvSpPr>
          <p:cNvPr id="10" name="Text 8"/>
          <p:cNvSpPr/>
          <p:nvPr/>
        </p:nvSpPr>
        <p:spPr>
          <a:xfrm>
            <a:off x="1920240" y="2880360"/>
            <a:ext cx="8348472" cy="2880360"/>
          </a:xfrm>
          <a:prstGeom prst="rect">
            <a:avLst/>
          </a:prstGeom>
          <a:noFill/>
          <a:ln/>
        </p:spPr>
        <p:txBody>
          <a:bodyPr wrap="square" rtlCol="0" anchor="ctr"/>
          <a:lstStyle/>
          <a:p>
            <a:pPr algn="ctr" indent="0" marL="0">
              <a:lnSpc>
                <a:spcPct val="120000"/>
              </a:lnSpc>
              <a:buNone/>
            </a:pPr>
            <a:r>
              <a:rPr lang="en-US" sz="2200" dirty="0">
                <a:solidFill>
                  <a:srgbClr val="1F2430"/>
                </a:solidFill>
                <a:latin typeface="Calibri" pitchFamily="34" charset="0"/>
                <a:ea typeface="Calibri" pitchFamily="34" charset="-122"/>
                <a:cs typeface="Calibri" pitchFamily="34" charset="-120"/>
              </a:rPr>
              <a:t>Three amendments: the 16th (income tax), 17th (direct election of senators), and 18th (Prohibition) enshrined Progressive goals.</a:t>
            </a:r>
            <a:endParaRPr lang="en-US" sz="2200" dirty="0"/>
          </a:p>
        </p:txBody>
      </p:sp>
      <p:sp>
        <p:nvSpPr>
          <p:cNvPr id="11" name="Text 9"/>
          <p:cNvSpPr/>
          <p:nvPr/>
        </p:nvSpPr>
        <p:spPr>
          <a:xfrm>
            <a:off x="457200" y="6263640"/>
            <a:ext cx="8229600" cy="274320"/>
          </a:xfrm>
          <a:prstGeom prst="rect">
            <a:avLst/>
          </a:prstGeom>
          <a:noFill/>
          <a:ln/>
        </p:spPr>
        <p:txBody>
          <a:bodyPr wrap="square" rtlCol="0" anchor="ctr"/>
          <a:lstStyle/>
          <a:p>
            <a:pPr indent="0" marL="0">
              <a:buNone/>
            </a:pPr>
            <a:r>
              <a:rPr lang="en-US" sz="1000" i="1" dirty="0">
                <a:solidFill>
                  <a:srgbClr val="5C6470"/>
                </a:solidFill>
                <a:latin typeface="Trebuchet MS" pitchFamily="34" charset="0"/>
                <a:ea typeface="Trebuchet MS" pitchFamily="34" charset="-122"/>
                <a:cs typeface="Trebuchet MS" pitchFamily="34" charset="-120"/>
              </a:rPr>
              <a:t>US.15 · 16th, 17th &amp; 18th Amendments</a:t>
            </a:r>
            <a:endParaRPr lang="en-US" sz="1000" dirty="0"/>
          </a:p>
        </p:txBody>
      </p:sp>
      <p:sp>
        <p:nvSpPr>
          <p:cNvPr id="12" name="Text 10"/>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3" name="Text 11"/>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50</a:t>
            </a:r>
            <a:endParaRPr lang="en-US" sz="9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554480"/>
          </a:xfrm>
          <a:prstGeom prst="rect">
            <a:avLst/>
          </a:prstGeom>
          <a:solidFill>
            <a:srgbClr val="002858"/>
          </a:solidFill>
          <a:ln/>
        </p:spPr>
        <p:txBody>
          <a:bodyPr/>
          <a:p/>
        </p:txBody>
      </p:sp>
      <p:sp>
        <p:nvSpPr>
          <p:cNvPr id="3" name="Shape 1"/>
          <p:cNvSpPr/>
          <p:nvPr/>
        </p:nvSpPr>
        <p:spPr>
          <a:xfrm>
            <a:off x="0" y="1554480"/>
            <a:ext cx="12191695" cy="54864"/>
          </a:xfrm>
          <a:prstGeom prst="rect">
            <a:avLst/>
          </a:prstGeom>
          <a:solidFill>
            <a:srgbClr val="C9A84C"/>
          </a:solidFill>
          <a:ln/>
        </p:spPr>
        <p:txBody>
          <a:bodyPr/>
          <a:p/>
        </p:txBody>
      </p:sp>
      <p:sp>
        <p:nvSpPr>
          <p:cNvPr id="4" name="Text 2"/>
          <p:cNvSpPr/>
          <p:nvPr/>
        </p:nvSpPr>
        <p:spPr>
          <a:xfrm>
            <a:off x="457200" y="274320"/>
            <a:ext cx="3291840" cy="365760"/>
          </a:xfrm>
          <a:prstGeom prst="rect">
            <a:avLst/>
          </a:prstGeom>
          <a:solidFill>
            <a:srgbClr val="C6282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SOURCE IT FIRST</a:t>
            </a:r>
            <a:endParaRPr lang="en-US" sz="1100" dirty="0"/>
          </a:p>
        </p:txBody>
      </p:sp>
      <p:sp>
        <p:nvSpPr>
          <p:cNvPr id="5" name="Text 3"/>
          <p:cNvSpPr/>
          <p:nvPr/>
        </p:nvSpPr>
        <p:spPr>
          <a:xfrm>
            <a:off x="3886200" y="27432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US.15</a:t>
            </a:r>
            <a:endParaRPr lang="en-US" sz="1200" dirty="0"/>
          </a:p>
        </p:txBody>
      </p:sp>
      <p:sp>
        <p:nvSpPr>
          <p:cNvPr id="6" name="Text 4"/>
          <p:cNvSpPr/>
          <p:nvPr/>
        </p:nvSpPr>
        <p:spPr>
          <a:xfrm>
            <a:off x="457200" y="713232"/>
            <a:ext cx="11247120" cy="777240"/>
          </a:xfrm>
          <a:prstGeom prst="rect">
            <a:avLst/>
          </a:prstGeom>
          <a:noFill/>
          <a:ln/>
        </p:spPr>
        <p:txBody>
          <a:bodyPr wrap="square" rtlCol="0" anchor="ctr"/>
          <a:lstStyle/>
          <a:p>
            <a:pPr indent="0" marL="0">
              <a:buNone/>
            </a:pPr>
            <a:r>
              <a:rPr lang="en-US" sz="2000" b="1" dirty="0">
                <a:solidFill>
                  <a:srgbClr val="FFFFFF"/>
                </a:solidFill>
                <a:latin typeface="Georgia" pitchFamily="34" charset="0"/>
                <a:ea typeface="Georgia" pitchFamily="34" charset="-122"/>
                <a:cs typeface="Georgia" pitchFamily="34" charset="-120"/>
              </a:rPr>
              <a:t>Read the 16th Amendment — a single sentence that reshaped federal power. Ask what problem the income tax was solving.</a:t>
            </a:r>
            <a:endParaRPr lang="en-US" sz="2000" dirty="0"/>
          </a:p>
        </p:txBody>
      </p:sp>
      <p:sp>
        <p:nvSpPr>
          <p:cNvPr id="7" name="Text 5"/>
          <p:cNvSpPr/>
          <p:nvPr/>
        </p:nvSpPr>
        <p:spPr>
          <a:xfrm>
            <a:off x="457200" y="1783080"/>
            <a:ext cx="3566160" cy="320040"/>
          </a:xfrm>
          <a:prstGeom prst="rect">
            <a:avLst/>
          </a:prstGeom>
          <a:solidFill>
            <a:srgbClr val="1A2332"/>
          </a:solid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WHO</a:t>
            </a:r>
            <a:endParaRPr lang="en-US" sz="1200" dirty="0"/>
          </a:p>
        </p:txBody>
      </p:sp>
      <p:sp>
        <p:nvSpPr>
          <p:cNvPr id="8" name="Text 6"/>
          <p:cNvSpPr/>
          <p:nvPr/>
        </p:nvSpPr>
        <p:spPr>
          <a:xfrm>
            <a:off x="457200" y="2103120"/>
            <a:ext cx="3566160" cy="914400"/>
          </a:xfrm>
          <a:prstGeom prst="rect">
            <a:avLst/>
          </a:prstGeom>
          <a:solidFill>
            <a:srgbClr val="FFFFFF"/>
          </a:solidFill>
          <a:ln w="12700">
            <a:solidFill>
              <a:srgbClr val="DAD3C2"/>
            </a:solidFill>
          </a:ln>
        </p:spPr>
        <p:txBody>
          <a:bodyPr wrap="square" lIns="76200" tIns="76200" rIns="76200" bIns="76200" rtlCol="0" anchor="t"/>
          <a:lstStyle/>
          <a:p>
            <a:pPr algn="l" indent="0" marL="0">
              <a:buNone/>
            </a:pPr>
            <a:r>
              <a:rPr lang="en-US" sz="1200" dirty="0">
                <a:solidFill>
                  <a:srgbClr val="1F2430"/>
                </a:solidFill>
                <a:latin typeface="Calibri" pitchFamily="34" charset="0"/>
                <a:ea typeface="Calibri" pitchFamily="34" charset="-122"/>
                <a:cs typeface="Calibri" pitchFamily="34" charset="-120"/>
              </a:rPr>
              <a:t>The U.S. Congress and state ratifying conventions — the constitutional amendment process.</a:t>
            </a:r>
            <a:endParaRPr lang="en-US" sz="1200" dirty="0"/>
          </a:p>
        </p:txBody>
      </p:sp>
      <p:sp>
        <p:nvSpPr>
          <p:cNvPr id="9" name="Text 7"/>
          <p:cNvSpPr/>
          <p:nvPr/>
        </p:nvSpPr>
        <p:spPr>
          <a:xfrm>
            <a:off x="4251960" y="1783080"/>
            <a:ext cx="3566160" cy="320040"/>
          </a:xfrm>
          <a:prstGeom prst="rect">
            <a:avLst/>
          </a:prstGeom>
          <a:solidFill>
            <a:srgbClr val="1A2332"/>
          </a:solid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WHEN</a:t>
            </a:r>
            <a:endParaRPr lang="en-US" sz="1200" dirty="0"/>
          </a:p>
        </p:txBody>
      </p:sp>
      <p:sp>
        <p:nvSpPr>
          <p:cNvPr id="10" name="Text 8"/>
          <p:cNvSpPr/>
          <p:nvPr/>
        </p:nvSpPr>
        <p:spPr>
          <a:xfrm>
            <a:off x="4251960" y="2103120"/>
            <a:ext cx="3566160" cy="914400"/>
          </a:xfrm>
          <a:prstGeom prst="rect">
            <a:avLst/>
          </a:prstGeom>
          <a:solidFill>
            <a:srgbClr val="FFFFFF"/>
          </a:solidFill>
          <a:ln w="12700">
            <a:solidFill>
              <a:srgbClr val="DAD3C2"/>
            </a:solidFill>
          </a:ln>
        </p:spPr>
        <p:txBody>
          <a:bodyPr wrap="square" lIns="76200" tIns="76200" rIns="76200" bIns="76200" rtlCol="0" anchor="t"/>
          <a:lstStyle/>
          <a:p>
            <a:pPr algn="l" indent="0" marL="0">
              <a:buNone/>
            </a:pPr>
            <a:r>
              <a:rPr lang="en-US" sz="1200" dirty="0">
                <a:solidFill>
                  <a:srgbClr val="1F2430"/>
                </a:solidFill>
                <a:latin typeface="Calibri" pitchFamily="34" charset="0"/>
                <a:ea typeface="Calibri" pitchFamily="34" charset="-122"/>
                <a:cs typeface="Calibri" pitchFamily="34" charset="-120"/>
              </a:rPr>
              <a:t>1913, after decades of Progressive lobbying for a federal income tax.</a:t>
            </a:r>
            <a:endParaRPr lang="en-US" sz="1200" dirty="0"/>
          </a:p>
        </p:txBody>
      </p:sp>
      <p:sp>
        <p:nvSpPr>
          <p:cNvPr id="11" name="Text 9"/>
          <p:cNvSpPr/>
          <p:nvPr/>
        </p:nvSpPr>
        <p:spPr>
          <a:xfrm>
            <a:off x="8046720" y="1783080"/>
            <a:ext cx="3566160" cy="320040"/>
          </a:xfrm>
          <a:prstGeom prst="rect">
            <a:avLst/>
          </a:prstGeom>
          <a:solidFill>
            <a:srgbClr val="1A2332"/>
          </a:solid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WHY</a:t>
            </a:r>
            <a:endParaRPr lang="en-US" sz="1200" dirty="0"/>
          </a:p>
        </p:txBody>
      </p:sp>
      <p:sp>
        <p:nvSpPr>
          <p:cNvPr id="12" name="Text 10"/>
          <p:cNvSpPr/>
          <p:nvPr/>
        </p:nvSpPr>
        <p:spPr>
          <a:xfrm>
            <a:off x="8046720" y="2103120"/>
            <a:ext cx="3566160" cy="914400"/>
          </a:xfrm>
          <a:prstGeom prst="rect">
            <a:avLst/>
          </a:prstGeom>
          <a:solidFill>
            <a:srgbClr val="FFFFFF"/>
          </a:solidFill>
          <a:ln w="12700">
            <a:solidFill>
              <a:srgbClr val="DAD3C2"/>
            </a:solidFill>
          </a:ln>
        </p:spPr>
        <p:txBody>
          <a:bodyPr wrap="square" lIns="76200" tIns="76200" rIns="76200" bIns="76200" rtlCol="0" anchor="t"/>
          <a:lstStyle/>
          <a:p>
            <a:pPr algn="l" indent="0" marL="0">
              <a:buNone/>
            </a:pPr>
            <a:r>
              <a:rPr lang="en-US" sz="1200" dirty="0">
                <a:solidFill>
                  <a:srgbClr val="1F2430"/>
                </a:solidFill>
                <a:latin typeface="Calibri" pitchFamily="34" charset="0"/>
                <a:ea typeface="Calibri" pitchFamily="34" charset="-122"/>
                <a:cs typeface="Calibri" pitchFamily="34" charset="-120"/>
              </a:rPr>
              <a:t>Constitutional amendments reveal what a society agreed was important enough to change the fundamental law — ask what problem it was solving.</a:t>
            </a:r>
            <a:endParaRPr lang="en-US" sz="1200" dirty="0"/>
          </a:p>
        </p:txBody>
      </p:sp>
      <p:sp>
        <p:nvSpPr>
          <p:cNvPr id="13" name="Shape 11"/>
          <p:cNvSpPr/>
          <p:nvPr/>
        </p:nvSpPr>
        <p:spPr>
          <a:xfrm>
            <a:off x="457200" y="3200400"/>
            <a:ext cx="5532120" cy="2651760"/>
          </a:xfrm>
          <a:prstGeom prst="rect">
            <a:avLst/>
          </a:prstGeom>
          <a:solidFill>
            <a:srgbClr val="FFFFFF"/>
          </a:solidFill>
          <a:ln w="19050">
            <a:solidFill>
              <a:srgbClr val="C9A84C"/>
            </a:solidFill>
            <a:prstDash val="solid"/>
          </a:ln>
        </p:spPr>
      </p:sp>
      <p:sp>
        <p:nvSpPr>
          <p:cNvPr id="14" name="Text 12"/>
          <p:cNvSpPr/>
          <p:nvPr/>
        </p:nvSpPr>
        <p:spPr>
          <a:xfrm>
            <a:off x="594360" y="3291840"/>
            <a:ext cx="5257800" cy="320040"/>
          </a:xfrm>
          <a:prstGeom prst="rect">
            <a:avLst/>
          </a:prstGeom>
          <a:noFill/>
          <a:ln/>
        </p:spPr>
        <p:txBody>
          <a:bodyPr wrap="square" rtlCol="0" anchor="ctr"/>
          <a:lstStyle/>
          <a:p>
            <a:pPr indent="0" marL="0">
              <a:buNone/>
            </a:pPr>
            <a:r>
              <a:rPr lang="en-US" sz="1400" b="1" dirty="0">
                <a:solidFill>
                  <a:srgbClr val="002858"/>
                </a:solidFill>
                <a:latin typeface="Georgia" pitchFamily="34" charset="0"/>
                <a:ea typeface="Georgia" pitchFamily="34" charset="-122"/>
                <a:cs typeface="Georgia" pitchFamily="34" charset="-120"/>
              </a:rPr>
              <a:t>16th Amendment</a:t>
            </a:r>
            <a:endParaRPr lang="en-US" sz="1400" dirty="0"/>
          </a:p>
        </p:txBody>
      </p:sp>
      <p:sp>
        <p:nvSpPr>
          <p:cNvPr id="15" name="Text 13"/>
          <p:cNvSpPr/>
          <p:nvPr/>
        </p:nvSpPr>
        <p:spPr>
          <a:xfrm>
            <a:off x="594360" y="3611880"/>
            <a:ext cx="5257800" cy="274320"/>
          </a:xfrm>
          <a:prstGeom prst="rect">
            <a:avLst/>
          </a:prstGeom>
          <a:noFill/>
          <a:ln/>
        </p:spPr>
        <p:txBody>
          <a:bodyPr wrap="square" rtlCol="0" anchor="ctr"/>
          <a:lstStyle/>
          <a:p>
            <a:pPr indent="0" marL="0">
              <a:buNone/>
            </a:pPr>
            <a:r>
              <a:rPr lang="en-US" sz="900" i="1" dirty="0">
                <a:solidFill>
                  <a:srgbClr val="5C6470"/>
                </a:solidFill>
                <a:latin typeface="Trebuchet MS" pitchFamily="34" charset="0"/>
                <a:ea typeface="Trebuchet MS" pitchFamily="34" charset="-122"/>
                <a:cs typeface="Trebuchet MS" pitchFamily="34" charset="-120"/>
              </a:rPr>
              <a:t>U.S. Constitution · 1913</a:t>
            </a:r>
            <a:endParaRPr lang="en-US" sz="900" dirty="0"/>
          </a:p>
        </p:txBody>
      </p:sp>
      <p:sp>
        <p:nvSpPr>
          <p:cNvPr id="16" name="Text 14"/>
          <p:cNvSpPr/>
          <p:nvPr/>
        </p:nvSpPr>
        <p:spPr>
          <a:xfrm>
            <a:off x="594360" y="3931920"/>
            <a:ext cx="5257800" cy="1600200"/>
          </a:xfrm>
          <a:prstGeom prst="rect">
            <a:avLst/>
          </a:prstGeom>
          <a:noFill/>
          <a:ln/>
        </p:spPr>
        <p:txBody>
          <a:bodyPr wrap="square" rtlCol="0" anchor="t"/>
          <a:lstStyle/>
          <a:p>
            <a:pPr indent="0" marL="0">
              <a:buNone/>
            </a:pPr>
            <a:r>
              <a:rPr lang="en-US" sz="1100" dirty="0">
                <a:solidFill>
                  <a:srgbClr val="1F2430"/>
                </a:solidFill>
                <a:latin typeface="Calibri" pitchFamily="34" charset="0"/>
                <a:ea typeface="Calibri" pitchFamily="34" charset="-122"/>
                <a:cs typeface="Calibri" pitchFamily="34" charset="-120"/>
              </a:rPr>
              <a:t>"The Congress shall have power to lay and collect taxes on incomes, from whatever source derived, without apportionment among the several States, and without regard to any census or enumeration."</a:t>
            </a:r>
            <a:endParaRPr lang="en-US" sz="1100" dirty="0"/>
          </a:p>
        </p:txBody>
      </p:sp>
      <p:sp>
        <p:nvSpPr>
          <p:cNvPr id="17" name="Text 15">
            <a:hlinkClick r:id="rId1" tooltip=""/>
          </p:cNvPr>
          <p:cNvSpPr/>
          <p:nvPr/>
        </p:nvSpPr>
        <p:spPr>
          <a:xfrm>
            <a:off x="594360" y="5532120"/>
            <a:ext cx="5257800" cy="256032"/>
          </a:xfrm>
          <a:prstGeom prst="rect">
            <a:avLst/>
          </a:prstGeom>
          <a:noFill/>
          <a:ln/>
        </p:spPr>
        <p:txBody>
          <a:bodyPr wrap="square" rtlCol="0" anchor="ctr"/>
          <a:lstStyle/>
          <a:p>
            <a:pPr indent="0" marL="0">
              <a:buNone/>
            </a:pPr>
            <a:r>
              <a:rPr lang="en-US" sz="900" u="sng" dirty="0">
                <a:solidFill>
                  <a:srgbClr val="002858"/>
                </a:solidFill>
                <a:latin typeface="Trebuchet MS" pitchFamily="34" charset="0"/>
                <a:ea typeface="Trebuchet MS" pitchFamily="34" charset="-122"/>
                <a:cs typeface="Trebuchet MS" pitchFamily="34" charset="-120"/>
                <a:hlinkClick r:id="rId1" invalidUrl="" action="" tgtFrame="" tooltip="" history="1" highlightClick="0" endSnd="0">
                  <a:extLst>
                    <a:ext uri="{A12FA001-AC4F-418D-AE19-62706E023703}">
                      <ahyp:hlinkClr xmlns:ahyp="http://schemas.microsoft.com/office/drawing/2018/hyperlinkcolor" val="tx"/>
                    </a:ext>
                  </a:extLst>
                </a:hlinkClick>
              </a:rPr>
              <a:t>Constitution Annotated, Library of Congress</a:t>
            </a:r>
            <a:endParaRPr lang="en-US" sz="900" dirty="0"/>
          </a:p>
        </p:txBody>
      </p:sp>
      <p:sp>
        <p:nvSpPr>
          <p:cNvPr id="18" name="Text 16"/>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9" name="Text 17"/>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51</a:t>
            </a:r>
            <a:endParaRPr lang="en-US" sz="9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1A2332"/>
        </a:solidFill>
      </p:bgPr>
    </p:bg>
    <p:spTree>
      <p:nvGrpSpPr>
        <p:cNvPr id="1" name=""/>
        <p:cNvGrpSpPr/>
        <p:nvPr/>
      </p:nvGrpSpPr>
      <p:grpSpPr>
        <a:xfrm>
          <a:off x="0" y="0"/>
          <a:ext cx="0" cy="0"/>
          <a:chOff x="0" y="0"/>
          <a:chExt cx="0" cy="0"/>
        </a:xfrm>
      </p:grpSpPr>
      <p:sp>
        <p:nvSpPr>
          <p:cNvPr id="2" name="Text 0"/>
          <p:cNvSpPr/>
          <p:nvPr/>
        </p:nvSpPr>
        <p:spPr>
          <a:xfrm>
            <a:off x="457200" y="274320"/>
            <a:ext cx="3291840" cy="365760"/>
          </a:xfrm>
          <a:prstGeom prst="rect">
            <a:avLst/>
          </a:prstGeom>
          <a:solidFill>
            <a:srgbClr val="C6282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THREE PERSPECTIVES</a:t>
            </a:r>
            <a:endParaRPr lang="en-US" sz="1100" dirty="0"/>
          </a:p>
        </p:txBody>
      </p:sp>
      <p:sp>
        <p:nvSpPr>
          <p:cNvPr id="3" name="Text 1"/>
          <p:cNvSpPr/>
          <p:nvPr/>
        </p:nvSpPr>
        <p:spPr>
          <a:xfrm>
            <a:off x="3886200" y="27432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US.15</a:t>
            </a:r>
            <a:endParaRPr lang="en-US" sz="1200" dirty="0"/>
          </a:p>
        </p:txBody>
      </p:sp>
      <p:sp>
        <p:nvSpPr>
          <p:cNvPr id="4" name="Text 2"/>
          <p:cNvSpPr/>
          <p:nvPr/>
        </p:nvSpPr>
        <p:spPr>
          <a:xfrm>
            <a:off x="457200" y="777240"/>
            <a:ext cx="11247120" cy="822960"/>
          </a:xfrm>
          <a:prstGeom prst="rect">
            <a:avLst/>
          </a:prstGeom>
          <a:noFill/>
          <a:ln/>
        </p:spPr>
        <p:txBody>
          <a:bodyPr wrap="square" rtlCol="0" anchor="ctr"/>
          <a:lstStyle/>
          <a:p>
            <a:pPr indent="0" marL="0">
              <a:buNone/>
            </a:pPr>
            <a:r>
              <a:rPr lang="en-US" sz="1700" i="1" dirty="0">
                <a:solidFill>
                  <a:srgbClr val="C7D4E0"/>
                </a:solidFill>
                <a:latin typeface="Georgia" pitchFamily="34" charset="0"/>
                <a:ea typeface="Georgia" pitchFamily="34" charset="-122"/>
                <a:cs typeface="Georgia" pitchFamily="34" charset="-120"/>
              </a:rPr>
              <a:t>A historian returns to three questions at the end of every reading. Use them to analyze this standard.</a:t>
            </a:r>
            <a:endParaRPr lang="en-US" sz="1700" dirty="0"/>
          </a:p>
        </p:txBody>
      </p:sp>
      <p:sp>
        <p:nvSpPr>
          <p:cNvPr id="5" name="Shape 3"/>
          <p:cNvSpPr/>
          <p:nvPr/>
        </p:nvSpPr>
        <p:spPr>
          <a:xfrm>
            <a:off x="457200" y="1783080"/>
            <a:ext cx="3566160" cy="4206240"/>
          </a:xfrm>
          <a:prstGeom prst="rect">
            <a:avLst/>
          </a:prstGeom>
          <a:solidFill>
            <a:srgbClr val="FFFFFF"/>
          </a:solidFill>
          <a:ln/>
        </p:spPr>
      </p:sp>
      <p:sp>
        <p:nvSpPr>
          <p:cNvPr id="6" name="Shape 4"/>
          <p:cNvSpPr/>
          <p:nvPr/>
        </p:nvSpPr>
        <p:spPr>
          <a:xfrm>
            <a:off x="457200" y="1783080"/>
            <a:ext cx="3566160" cy="548640"/>
          </a:xfrm>
          <a:prstGeom prst="rect">
            <a:avLst/>
          </a:prstGeom>
          <a:solidFill>
            <a:srgbClr val="1B5E20"/>
          </a:solidFill>
          <a:ln/>
        </p:spPr>
      </p:sp>
      <p:sp>
        <p:nvSpPr>
          <p:cNvPr id="7" name="Text 5"/>
          <p:cNvSpPr/>
          <p:nvPr/>
        </p:nvSpPr>
        <p:spPr>
          <a:xfrm>
            <a:off x="457200" y="1783080"/>
            <a:ext cx="3566160" cy="548640"/>
          </a:xfrm>
          <a:prstGeom prst="rect">
            <a:avLst/>
          </a:prstGeom>
          <a:noFill/>
          <a:ln/>
        </p:spPr>
        <p:txBody>
          <a:bodyPr wrap="square"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Who benefited?</a:t>
            </a:r>
            <a:endParaRPr lang="en-US" sz="1600" dirty="0"/>
          </a:p>
        </p:txBody>
      </p:sp>
      <p:sp>
        <p:nvSpPr>
          <p:cNvPr id="8" name="Text 6"/>
          <p:cNvSpPr/>
          <p:nvPr/>
        </p:nvSpPr>
        <p:spPr>
          <a:xfrm>
            <a:off x="594360" y="2423160"/>
            <a:ext cx="3291840" cy="868680"/>
          </a:xfrm>
          <a:prstGeom prst="rect">
            <a:avLst/>
          </a:prstGeom>
          <a:noFill/>
          <a:ln/>
        </p:spPr>
        <p:txBody>
          <a:bodyPr wrap="square" rtlCol="0" anchor="t"/>
          <a:lstStyle/>
          <a:p>
            <a:pPr indent="0" marL="0">
              <a:buNone/>
            </a:pPr>
            <a:r>
              <a:rPr lang="en-US" sz="1100" i="1" dirty="0">
                <a:solidFill>
                  <a:srgbClr val="5C6470"/>
                </a:solidFill>
                <a:latin typeface="Calibri" pitchFamily="34" charset="0"/>
                <a:ea typeface="Calibri" pitchFamily="34" charset="-122"/>
                <a:cs typeface="Calibri" pitchFamily="34" charset="-120"/>
              </a:rPr>
              <a:t>Who gained land, wealth, power, or protection?</a:t>
            </a:r>
            <a:endParaRPr lang="en-US" sz="1100" dirty="0"/>
          </a:p>
        </p:txBody>
      </p:sp>
      <p:sp>
        <p:nvSpPr>
          <p:cNvPr id="9" name="Text 7"/>
          <p:cNvSpPr/>
          <p:nvPr/>
        </p:nvSpPr>
        <p:spPr>
          <a:xfrm>
            <a:off x="594360" y="3291840"/>
            <a:ext cx="3291840" cy="274320"/>
          </a:xfrm>
          <a:prstGeom prst="rect">
            <a:avLst/>
          </a:prstGeom>
          <a:noFill/>
          <a:ln/>
        </p:spPr>
        <p:txBody>
          <a:bodyPr wrap="square" rtlCol="0" anchor="ctr"/>
          <a:lstStyle/>
          <a:p>
            <a:pPr indent="0" marL="0">
              <a:buNone/>
            </a:pPr>
            <a:r>
              <a:rPr lang="en-US" sz="1000" b="1" dirty="0">
                <a:solidFill>
                  <a:srgbClr val="8A6D1A"/>
                </a:solidFill>
                <a:latin typeface="Trebuchet MS" pitchFamily="34" charset="0"/>
                <a:ea typeface="Trebuchet MS" pitchFamily="34" charset="-122"/>
                <a:cs typeface="Trebuchet MS" pitchFamily="34" charset="-120"/>
              </a:rPr>
              <a:t>US.15:</a:t>
            </a:r>
            <a:endParaRPr lang="en-US" sz="1000" dirty="0"/>
          </a:p>
        </p:txBody>
      </p:sp>
      <p:sp>
        <p:nvSpPr>
          <p:cNvPr id="10" name="Text 8"/>
          <p:cNvSpPr/>
          <p:nvPr/>
        </p:nvSpPr>
        <p:spPr>
          <a:xfrm>
            <a:off x="594360" y="3566160"/>
            <a:ext cx="3291840" cy="2286000"/>
          </a:xfrm>
          <a:prstGeom prst="rect">
            <a:avLst/>
          </a:prstGeom>
          <a:noFill/>
          <a:ln/>
        </p:spPr>
        <p:txBody>
          <a:bodyPr wrap="square" rtlCol="0" anchor="t"/>
          <a:lstStyle/>
          <a:p>
            <a:pPr indent="0" marL="0">
              <a:buNone/>
            </a:pPr>
            <a:r>
              <a:rPr lang="en-US" sz="1200" dirty="0">
                <a:solidFill>
                  <a:srgbClr val="1F2430"/>
                </a:solidFill>
                <a:latin typeface="Calibri" pitchFamily="34" charset="0"/>
                <a:ea typeface="Calibri" pitchFamily="34" charset="-122"/>
                <a:cs typeface="Calibri" pitchFamily="34" charset="-120"/>
              </a:rPr>
              <a:t>Ordinary voters gaining direct democratic tools; the federal government gaining a stable income-tax revenue base.</a:t>
            </a:r>
            <a:endParaRPr lang="en-US" sz="1200" dirty="0"/>
          </a:p>
        </p:txBody>
      </p:sp>
      <p:sp>
        <p:nvSpPr>
          <p:cNvPr id="11" name="Shape 9"/>
          <p:cNvSpPr/>
          <p:nvPr/>
        </p:nvSpPr>
        <p:spPr>
          <a:xfrm>
            <a:off x="4251960" y="1783080"/>
            <a:ext cx="3566160" cy="4206240"/>
          </a:xfrm>
          <a:prstGeom prst="rect">
            <a:avLst/>
          </a:prstGeom>
          <a:solidFill>
            <a:srgbClr val="FFFFFF"/>
          </a:solidFill>
          <a:ln/>
        </p:spPr>
      </p:sp>
      <p:sp>
        <p:nvSpPr>
          <p:cNvPr id="12" name="Shape 10"/>
          <p:cNvSpPr/>
          <p:nvPr/>
        </p:nvSpPr>
        <p:spPr>
          <a:xfrm>
            <a:off x="4251960" y="1783080"/>
            <a:ext cx="3566160" cy="548640"/>
          </a:xfrm>
          <a:prstGeom prst="rect">
            <a:avLst/>
          </a:prstGeom>
          <a:solidFill>
            <a:srgbClr val="C62828"/>
          </a:solidFill>
          <a:ln/>
        </p:spPr>
      </p:sp>
      <p:sp>
        <p:nvSpPr>
          <p:cNvPr id="13" name="Text 11"/>
          <p:cNvSpPr/>
          <p:nvPr/>
        </p:nvSpPr>
        <p:spPr>
          <a:xfrm>
            <a:off x="4251960" y="1783080"/>
            <a:ext cx="3566160" cy="548640"/>
          </a:xfrm>
          <a:prstGeom prst="rect">
            <a:avLst/>
          </a:prstGeom>
          <a:noFill/>
          <a:ln/>
        </p:spPr>
        <p:txBody>
          <a:bodyPr wrap="square"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Who bore the costs?</a:t>
            </a:r>
            <a:endParaRPr lang="en-US" sz="1600" dirty="0"/>
          </a:p>
        </p:txBody>
      </p:sp>
      <p:sp>
        <p:nvSpPr>
          <p:cNvPr id="14" name="Text 12"/>
          <p:cNvSpPr/>
          <p:nvPr/>
        </p:nvSpPr>
        <p:spPr>
          <a:xfrm>
            <a:off x="4389120" y="2423160"/>
            <a:ext cx="3291840" cy="868680"/>
          </a:xfrm>
          <a:prstGeom prst="rect">
            <a:avLst/>
          </a:prstGeom>
          <a:noFill/>
          <a:ln/>
        </p:spPr>
        <p:txBody>
          <a:bodyPr wrap="square" rtlCol="0" anchor="t"/>
          <a:lstStyle/>
          <a:p>
            <a:pPr indent="0" marL="0">
              <a:buNone/>
            </a:pPr>
            <a:r>
              <a:rPr lang="en-US" sz="1100" i="1" dirty="0">
                <a:solidFill>
                  <a:srgbClr val="5C6470"/>
                </a:solidFill>
                <a:latin typeface="Calibri" pitchFamily="34" charset="0"/>
                <a:ea typeface="Calibri" pitchFamily="34" charset="-122"/>
                <a:cs typeface="Calibri" pitchFamily="34" charset="-120"/>
              </a:rPr>
              <a:t>Who lost land, labor, freedom, or life — and who was silenced?</a:t>
            </a:r>
            <a:endParaRPr lang="en-US" sz="1100" dirty="0"/>
          </a:p>
        </p:txBody>
      </p:sp>
      <p:sp>
        <p:nvSpPr>
          <p:cNvPr id="15" name="Text 13"/>
          <p:cNvSpPr/>
          <p:nvPr/>
        </p:nvSpPr>
        <p:spPr>
          <a:xfrm>
            <a:off x="4389120" y="3291840"/>
            <a:ext cx="3291840" cy="274320"/>
          </a:xfrm>
          <a:prstGeom prst="rect">
            <a:avLst/>
          </a:prstGeom>
          <a:noFill/>
          <a:ln/>
        </p:spPr>
        <p:txBody>
          <a:bodyPr wrap="square" rtlCol="0" anchor="ctr"/>
          <a:lstStyle/>
          <a:p>
            <a:pPr indent="0" marL="0">
              <a:buNone/>
            </a:pPr>
            <a:r>
              <a:rPr lang="en-US" sz="1000" b="1" dirty="0">
                <a:solidFill>
                  <a:srgbClr val="8A6D1A"/>
                </a:solidFill>
                <a:latin typeface="Trebuchet MS" pitchFamily="34" charset="0"/>
                <a:ea typeface="Trebuchet MS" pitchFamily="34" charset="-122"/>
                <a:cs typeface="Trebuchet MS" pitchFamily="34" charset="-120"/>
              </a:rPr>
              <a:t>US.15:</a:t>
            </a:r>
            <a:endParaRPr lang="en-US" sz="1000" dirty="0"/>
          </a:p>
        </p:txBody>
      </p:sp>
      <p:sp>
        <p:nvSpPr>
          <p:cNvPr id="16" name="Text 14"/>
          <p:cNvSpPr/>
          <p:nvPr/>
        </p:nvSpPr>
        <p:spPr>
          <a:xfrm>
            <a:off x="4389120" y="3566160"/>
            <a:ext cx="3291840" cy="2286000"/>
          </a:xfrm>
          <a:prstGeom prst="rect">
            <a:avLst/>
          </a:prstGeom>
          <a:noFill/>
          <a:ln/>
        </p:spPr>
        <p:txBody>
          <a:bodyPr wrap="square" rtlCol="0" anchor="t"/>
          <a:lstStyle/>
          <a:p>
            <a:pPr indent="0" marL="0">
              <a:buNone/>
            </a:pPr>
            <a:r>
              <a:rPr lang="en-US" sz="1200" dirty="0">
                <a:solidFill>
                  <a:srgbClr val="1F2430"/>
                </a:solidFill>
                <a:latin typeface="Calibri" pitchFamily="34" charset="0"/>
                <a:ea typeface="Calibri" pitchFamily="34" charset="-122"/>
                <a:cs typeface="Calibri" pitchFamily="34" charset="-120"/>
              </a:rPr>
              <a:t>Party bosses who lost control of nominations; wealthy interests newly subject to a federal income tax.</a:t>
            </a:r>
            <a:endParaRPr lang="en-US" sz="1200" dirty="0"/>
          </a:p>
        </p:txBody>
      </p:sp>
      <p:sp>
        <p:nvSpPr>
          <p:cNvPr id="17" name="Shape 15"/>
          <p:cNvSpPr/>
          <p:nvPr/>
        </p:nvSpPr>
        <p:spPr>
          <a:xfrm>
            <a:off x="8046720" y="1783080"/>
            <a:ext cx="3566160" cy="4206240"/>
          </a:xfrm>
          <a:prstGeom prst="rect">
            <a:avLst/>
          </a:prstGeom>
          <a:solidFill>
            <a:srgbClr val="FFFFFF"/>
          </a:solidFill>
          <a:ln/>
        </p:spPr>
      </p:sp>
      <p:sp>
        <p:nvSpPr>
          <p:cNvPr id="18" name="Shape 16"/>
          <p:cNvSpPr/>
          <p:nvPr/>
        </p:nvSpPr>
        <p:spPr>
          <a:xfrm>
            <a:off x="8046720" y="1783080"/>
            <a:ext cx="3566160" cy="548640"/>
          </a:xfrm>
          <a:prstGeom prst="rect">
            <a:avLst/>
          </a:prstGeom>
          <a:solidFill>
            <a:srgbClr val="002858"/>
          </a:solidFill>
          <a:ln/>
        </p:spPr>
      </p:sp>
      <p:sp>
        <p:nvSpPr>
          <p:cNvPr id="19" name="Text 17"/>
          <p:cNvSpPr/>
          <p:nvPr/>
        </p:nvSpPr>
        <p:spPr>
          <a:xfrm>
            <a:off x="8046720" y="1783080"/>
            <a:ext cx="3566160" cy="548640"/>
          </a:xfrm>
          <a:prstGeom prst="rect">
            <a:avLst/>
          </a:prstGeom>
          <a:noFill/>
          <a:ln/>
        </p:spPr>
        <p:txBody>
          <a:bodyPr wrap="square"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Who decided?</a:t>
            </a:r>
            <a:endParaRPr lang="en-US" sz="1600" dirty="0"/>
          </a:p>
        </p:txBody>
      </p:sp>
      <p:sp>
        <p:nvSpPr>
          <p:cNvPr id="20" name="Text 18"/>
          <p:cNvSpPr/>
          <p:nvPr/>
        </p:nvSpPr>
        <p:spPr>
          <a:xfrm>
            <a:off x="8183880" y="2423160"/>
            <a:ext cx="3291840" cy="868680"/>
          </a:xfrm>
          <a:prstGeom prst="rect">
            <a:avLst/>
          </a:prstGeom>
          <a:noFill/>
          <a:ln/>
        </p:spPr>
        <p:txBody>
          <a:bodyPr wrap="square" rtlCol="0" anchor="t"/>
          <a:lstStyle/>
          <a:p>
            <a:pPr indent="0" marL="0">
              <a:buNone/>
            </a:pPr>
            <a:r>
              <a:rPr lang="en-US" sz="1100" i="1" dirty="0">
                <a:solidFill>
                  <a:srgbClr val="5C6470"/>
                </a:solidFill>
                <a:latin typeface="Calibri" pitchFamily="34" charset="0"/>
                <a:ea typeface="Calibri" pitchFamily="34" charset="-122"/>
                <a:cs typeface="Calibri" pitchFamily="34" charset="-120"/>
              </a:rPr>
              <a:t>Which people, offices, or courts held the authority?</a:t>
            </a:r>
            <a:endParaRPr lang="en-US" sz="1100" dirty="0"/>
          </a:p>
        </p:txBody>
      </p:sp>
      <p:sp>
        <p:nvSpPr>
          <p:cNvPr id="21" name="Text 19"/>
          <p:cNvSpPr/>
          <p:nvPr/>
        </p:nvSpPr>
        <p:spPr>
          <a:xfrm>
            <a:off x="8183880" y="3291840"/>
            <a:ext cx="3291840" cy="274320"/>
          </a:xfrm>
          <a:prstGeom prst="rect">
            <a:avLst/>
          </a:prstGeom>
          <a:noFill/>
          <a:ln/>
        </p:spPr>
        <p:txBody>
          <a:bodyPr wrap="square" rtlCol="0" anchor="ctr"/>
          <a:lstStyle/>
          <a:p>
            <a:pPr indent="0" marL="0">
              <a:buNone/>
            </a:pPr>
            <a:r>
              <a:rPr lang="en-US" sz="1000" b="1" dirty="0">
                <a:solidFill>
                  <a:srgbClr val="8A6D1A"/>
                </a:solidFill>
                <a:latin typeface="Trebuchet MS" pitchFamily="34" charset="0"/>
                <a:ea typeface="Trebuchet MS" pitchFamily="34" charset="-122"/>
                <a:cs typeface="Trebuchet MS" pitchFamily="34" charset="-120"/>
              </a:rPr>
              <a:t>US.15:</a:t>
            </a:r>
            <a:endParaRPr lang="en-US" sz="1000" dirty="0"/>
          </a:p>
        </p:txBody>
      </p:sp>
      <p:sp>
        <p:nvSpPr>
          <p:cNvPr id="22" name="Text 20"/>
          <p:cNvSpPr/>
          <p:nvPr/>
        </p:nvSpPr>
        <p:spPr>
          <a:xfrm>
            <a:off x="8183880" y="3566160"/>
            <a:ext cx="3291840" cy="2286000"/>
          </a:xfrm>
          <a:prstGeom prst="rect">
            <a:avLst/>
          </a:prstGeom>
          <a:noFill/>
          <a:ln/>
        </p:spPr>
        <p:txBody>
          <a:bodyPr wrap="square" rtlCol="0" anchor="t"/>
          <a:lstStyle/>
          <a:p>
            <a:pPr indent="0" marL="0">
              <a:buNone/>
            </a:pPr>
            <a:r>
              <a:rPr lang="en-US" sz="1200" dirty="0">
                <a:solidFill>
                  <a:srgbClr val="1F2430"/>
                </a:solidFill>
                <a:latin typeface="Calibri" pitchFamily="34" charset="0"/>
                <a:ea typeface="Calibri" pitchFamily="34" charset="-122"/>
                <a:cs typeface="Calibri" pitchFamily="34" charset="-120"/>
              </a:rPr>
              <a:t>State legislatures and Congress, which adopted direct-democracy reforms and ratified the 16th, 17th, and 18th Amendments.</a:t>
            </a:r>
            <a:endParaRPr lang="en-US" sz="1200" dirty="0"/>
          </a:p>
        </p:txBody>
      </p:sp>
      <p:sp>
        <p:nvSpPr>
          <p:cNvPr id="23" name="Text 21"/>
          <p:cNvSpPr/>
          <p:nvPr/>
        </p:nvSpPr>
        <p:spPr>
          <a:xfrm>
            <a:off x="457200" y="6126480"/>
            <a:ext cx="10972800" cy="274320"/>
          </a:xfrm>
          <a:prstGeom prst="rect">
            <a:avLst/>
          </a:prstGeom>
          <a:noFill/>
          <a:ln/>
        </p:spPr>
        <p:txBody>
          <a:bodyPr wrap="square" rtlCol="0" anchor="ctr"/>
          <a:lstStyle/>
          <a:p>
            <a:pPr indent="0" marL="0">
              <a:buNone/>
            </a:pPr>
            <a:r>
              <a:rPr lang="en-US" sz="1000" i="1" dirty="0">
                <a:solidFill>
                  <a:srgbClr val="C7D4E0"/>
                </a:solidFill>
                <a:latin typeface="Trebuchet MS" pitchFamily="34" charset="0"/>
                <a:ea typeface="Trebuchet MS" pitchFamily="34" charset="-122"/>
                <a:cs typeface="Trebuchet MS" pitchFamily="34" charset="-120"/>
              </a:rPr>
              <a:t>Anchor: 16th Amendment, 1913 (Constitution Annotated, Library of Congress)</a:t>
            </a:r>
            <a:endParaRPr lang="en-US" sz="1000" dirty="0"/>
          </a:p>
        </p:txBody>
      </p:sp>
      <p:sp>
        <p:nvSpPr>
          <p:cNvPr id="24" name="Text 22"/>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5" name="Text 23"/>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52</a:t>
            </a:r>
            <a:endParaRPr lang="en-US" sz="9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1A2332"/>
        </a:solidFill>
      </p:bgPr>
    </p:bg>
    <p:spTree>
      <p:nvGrpSpPr>
        <p:cNvPr id="1" name=""/>
        <p:cNvGrpSpPr/>
        <p:nvPr/>
      </p:nvGrpSpPr>
      <p:grpSpPr>
        <a:xfrm>
          <a:off x="0" y="0"/>
          <a:ext cx="0" cy="0"/>
          <a:chOff x="0" y="0"/>
          <a:chExt cx="0" cy="0"/>
        </a:xfrm>
      </p:grpSpPr>
      <p:sp>
        <p:nvSpPr>
          <p:cNvPr id="2" name="Shape 0"/>
          <p:cNvSpPr/>
          <p:nvPr/>
        </p:nvSpPr>
        <p:spPr>
          <a:xfrm>
            <a:off x="0" y="2331720"/>
            <a:ext cx="12191695" cy="73152"/>
          </a:xfrm>
          <a:prstGeom prst="rect">
            <a:avLst/>
          </a:prstGeom>
          <a:solidFill>
            <a:srgbClr val="C9A84C"/>
          </a:solidFill>
          <a:ln/>
        </p:spPr>
        <p:txBody>
          <a:bodyPr/>
          <a:p/>
        </p:txBody>
      </p:sp>
      <p:sp>
        <p:nvSpPr>
          <p:cNvPr id="3" name="Text 1"/>
          <p:cNvSpPr/>
          <p:nvPr/>
        </p:nvSpPr>
        <p:spPr>
          <a:xfrm>
            <a:off x="457200" y="548640"/>
            <a:ext cx="2926080" cy="1188720"/>
          </a:xfrm>
          <a:prstGeom prst="rect">
            <a:avLst/>
          </a:prstGeom>
          <a:noFill/>
          <a:ln/>
        </p:spPr>
        <p:txBody>
          <a:bodyPr wrap="square" rtlCol="0" anchor="ctr"/>
          <a:lstStyle/>
          <a:p>
            <a:pPr indent="0" marL="0">
              <a:buNone/>
            </a:pPr>
            <a:r>
              <a:rPr lang="en-US" sz="6000" b="1" dirty="0">
                <a:solidFill>
                  <a:srgbClr val="C9A84C"/>
                </a:solidFill>
                <a:latin typeface="Georgia" pitchFamily="34" charset="0"/>
                <a:ea typeface="Georgia" pitchFamily="34" charset="-122"/>
                <a:cs typeface="Georgia" pitchFamily="34" charset="-120"/>
              </a:rPr>
              <a:t>US.16</a:t>
            </a:r>
            <a:endParaRPr lang="en-US" sz="6000" dirty="0"/>
          </a:p>
        </p:txBody>
      </p:sp>
      <p:sp>
        <p:nvSpPr>
          <p:cNvPr id="4" name="Text 2"/>
          <p:cNvSpPr/>
          <p:nvPr/>
        </p:nvSpPr>
        <p:spPr>
          <a:xfrm>
            <a:off x="3474720" y="548640"/>
            <a:ext cx="8229600" cy="1188720"/>
          </a:xfrm>
          <a:prstGeom prst="rect">
            <a:avLst/>
          </a:prstGeom>
          <a:noFill/>
          <a:ln/>
        </p:spPr>
        <p:txBody>
          <a:bodyPr wrap="square" rtlCol="0" anchor="ctr"/>
          <a:lstStyle/>
          <a:p>
            <a:pPr indent="0" marL="0">
              <a:buNone/>
            </a:pPr>
            <a:r>
              <a:rPr lang="en-US" sz="2600" b="1" dirty="0">
                <a:solidFill>
                  <a:srgbClr val="FFFFFF"/>
                </a:solidFill>
                <a:latin typeface="Georgia" pitchFamily="34" charset="0"/>
                <a:ea typeface="Georgia" pitchFamily="34" charset="-122"/>
                <a:cs typeface="Georgia" pitchFamily="34" charset="-120"/>
              </a:rPr>
              <a:t>Theodore Roosevelt's Progressive Achievements</a:t>
            </a:r>
            <a:endParaRPr lang="en-US" sz="2600" dirty="0"/>
          </a:p>
        </p:txBody>
      </p:sp>
      <p:sp>
        <p:nvSpPr>
          <p:cNvPr id="5" name="Text 3"/>
          <p:cNvSpPr/>
          <p:nvPr/>
        </p:nvSpPr>
        <p:spPr>
          <a:xfrm>
            <a:off x="457200" y="2651760"/>
            <a:ext cx="11247120" cy="274320"/>
          </a:xfrm>
          <a:prstGeom prst="rect">
            <a:avLst/>
          </a:prstGeom>
          <a:noFill/>
          <a:ln/>
        </p:spPr>
        <p:txBody>
          <a:bodyPr wrap="square" rtlCol="0" anchor="ctr"/>
          <a:lstStyle/>
          <a:p>
            <a:pPr indent="0" marL="0">
              <a:buNone/>
            </a:pPr>
            <a:r>
              <a:rPr lang="en-US" sz="1200" b="1" spc="200" kern="0" dirty="0">
                <a:solidFill>
                  <a:srgbClr val="C9A84C"/>
                </a:solidFill>
                <a:latin typeface="Trebuchet MS" pitchFamily="34" charset="0"/>
                <a:ea typeface="Trebuchet MS" pitchFamily="34" charset="-122"/>
                <a:cs typeface="Trebuchet MS" pitchFamily="34" charset="-120"/>
              </a:rPr>
              <a:t>TN STANDARD</a:t>
            </a:r>
            <a:endParaRPr lang="en-US" sz="1200" dirty="0"/>
          </a:p>
        </p:txBody>
      </p:sp>
      <p:sp>
        <p:nvSpPr>
          <p:cNvPr id="6" name="Text 4"/>
          <p:cNvSpPr/>
          <p:nvPr/>
        </p:nvSpPr>
        <p:spPr>
          <a:xfrm>
            <a:off x="457200" y="2999232"/>
            <a:ext cx="11247120" cy="1691640"/>
          </a:xfrm>
          <a:prstGeom prst="rect">
            <a:avLst/>
          </a:prstGeom>
          <a:noFill/>
          <a:ln/>
        </p:spPr>
        <p:txBody>
          <a:bodyPr wrap="square" rtlCol="0" anchor="t"/>
          <a:lstStyle/>
          <a:p>
            <a:pPr indent="0" marL="0">
              <a:lnSpc>
                <a:spcPct val="105000"/>
              </a:lnSpc>
              <a:buNone/>
            </a:pPr>
            <a:r>
              <a:rPr lang="en-US" sz="1600" dirty="0">
                <a:solidFill>
                  <a:srgbClr val="C7D4E0"/>
                </a:solidFill>
                <a:latin typeface="Calibri" pitchFamily="34" charset="0"/>
                <a:ea typeface="Calibri" pitchFamily="34" charset="-122"/>
                <a:cs typeface="Calibri" pitchFamily="34" charset="-120"/>
              </a:rPr>
              <a:t>US.16 – Analyze the significant progressive achievements during President Theodore Roosevelt's administration, including: Square Deal, 'Trust-busting', Pure Food and Drug Act, Meat Inspection Act, Support for conservation.</a:t>
            </a:r>
            <a:endParaRPr lang="en-US" sz="1600" dirty="0"/>
          </a:p>
        </p:txBody>
      </p:sp>
      <p:sp>
        <p:nvSpPr>
          <p:cNvPr id="7" name="Shape 5"/>
          <p:cNvSpPr/>
          <p:nvPr/>
        </p:nvSpPr>
        <p:spPr>
          <a:xfrm>
            <a:off x="457200" y="4892040"/>
            <a:ext cx="11247120" cy="1234440"/>
          </a:xfrm>
          <a:prstGeom prst="rect">
            <a:avLst/>
          </a:prstGeom>
          <a:solidFill>
            <a:srgbClr val="C9A84C"/>
          </a:solidFill>
          <a:ln/>
        </p:spPr>
      </p:sp>
      <p:sp>
        <p:nvSpPr>
          <p:cNvPr id="8" name="Text 6"/>
          <p:cNvSpPr/>
          <p:nvPr/>
        </p:nvSpPr>
        <p:spPr>
          <a:xfrm>
            <a:off x="640080" y="5029200"/>
            <a:ext cx="10972800" cy="274320"/>
          </a:xfrm>
          <a:prstGeom prst="rect">
            <a:avLst/>
          </a:prstGeom>
          <a:noFill/>
          <a:ln/>
        </p:spPr>
        <p:txBody>
          <a:bodyPr wrap="square" rtlCol="0" anchor="ctr"/>
          <a:lstStyle/>
          <a:p>
            <a:pPr indent="0" marL="0">
              <a:buNone/>
            </a:pPr>
            <a:r>
              <a:rPr lang="en-US" sz="1200" b="1" spc="200" kern="0" dirty="0">
                <a:solidFill>
                  <a:srgbClr val="1A2332"/>
                </a:solidFill>
                <a:latin typeface="Trebuchet MS" pitchFamily="34" charset="0"/>
                <a:ea typeface="Trebuchet MS" pitchFamily="34" charset="-122"/>
                <a:cs typeface="Trebuchet MS" pitchFamily="34" charset="-120"/>
              </a:rPr>
              <a:t>I CAN</a:t>
            </a:r>
            <a:endParaRPr lang="en-US" sz="1200" dirty="0"/>
          </a:p>
        </p:txBody>
      </p:sp>
      <p:sp>
        <p:nvSpPr>
          <p:cNvPr id="9" name="Text 7"/>
          <p:cNvSpPr/>
          <p:nvPr/>
        </p:nvSpPr>
        <p:spPr>
          <a:xfrm>
            <a:off x="640080" y="5303520"/>
            <a:ext cx="10881360" cy="749808"/>
          </a:xfrm>
          <a:prstGeom prst="rect">
            <a:avLst/>
          </a:prstGeom>
          <a:noFill/>
          <a:ln/>
        </p:spPr>
        <p:txBody>
          <a:bodyPr wrap="square" rtlCol="0" anchor="t"/>
          <a:lstStyle/>
          <a:p>
            <a:pPr indent="0" marL="0">
              <a:buNone/>
            </a:pPr>
            <a:r>
              <a:rPr lang="en-US" sz="1400" b="1" dirty="0">
                <a:solidFill>
                  <a:srgbClr val="1A2332"/>
                </a:solidFill>
                <a:latin typeface="Calibri" pitchFamily="34" charset="0"/>
                <a:ea typeface="Calibri" pitchFamily="34" charset="-122"/>
                <a:cs typeface="Calibri" pitchFamily="34" charset="-120"/>
              </a:rPr>
              <a:t>I can analyze the significant progressive achievements during President Theodore Roosevelt's administration, including the Square Deal, trust-busting, Pure Food and Drug Act, Meat Inspection Act, and conservation efforts.</a:t>
            </a:r>
            <a:endParaRPr lang="en-US" sz="1400" dirty="0"/>
          </a:p>
        </p:txBody>
      </p:sp>
      <p:sp>
        <p:nvSpPr>
          <p:cNvPr id="10" name="Text 8"/>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1" name="Text 9"/>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53</a:t>
            </a:r>
            <a:endParaRPr lang="en-US" sz="9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737360"/>
          </a:xfrm>
          <a:prstGeom prst="rect">
            <a:avLst/>
          </a:prstGeom>
          <a:solidFill>
            <a:srgbClr val="1A2332"/>
          </a:solidFill>
          <a:ln/>
        </p:spPr>
        <p:txBody>
          <a:bodyPr/>
          <a:p/>
        </p:txBody>
      </p:sp>
      <p:sp>
        <p:nvSpPr>
          <p:cNvPr id="3" name="Shape 1"/>
          <p:cNvSpPr/>
          <p:nvPr/>
        </p:nvSpPr>
        <p:spPr>
          <a:xfrm>
            <a:off x="0" y="1737360"/>
            <a:ext cx="12191695" cy="54864"/>
          </a:xfrm>
          <a:prstGeom prst="rect">
            <a:avLst/>
          </a:prstGeom>
          <a:solidFill>
            <a:srgbClr val="C9A84C"/>
          </a:solidFill>
          <a:ln/>
        </p:spPr>
        <p:txBody>
          <a:bodyPr/>
          <a:p/>
        </p:txBody>
      </p:sp>
      <p:sp>
        <p:nvSpPr>
          <p:cNvPr id="4" name="Text 2"/>
          <p:cNvSpPr/>
          <p:nvPr/>
        </p:nvSpPr>
        <p:spPr>
          <a:xfrm>
            <a:off x="457200" y="320040"/>
            <a:ext cx="3291840" cy="365760"/>
          </a:xfrm>
          <a:prstGeom prst="rect">
            <a:avLst/>
          </a:prstGeom>
          <a:solidFill>
            <a:srgbClr val="00285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DIRECT INSTRUCTION</a:t>
            </a:r>
            <a:endParaRPr lang="en-US" sz="1100" dirty="0"/>
          </a:p>
        </p:txBody>
      </p:sp>
      <p:sp>
        <p:nvSpPr>
          <p:cNvPr id="5" name="Text 3"/>
          <p:cNvSpPr/>
          <p:nvPr/>
        </p:nvSpPr>
        <p:spPr>
          <a:xfrm>
            <a:off x="3886200" y="32004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US.16</a:t>
            </a:r>
            <a:endParaRPr lang="en-US" sz="1200" dirty="0"/>
          </a:p>
        </p:txBody>
      </p:sp>
      <p:sp>
        <p:nvSpPr>
          <p:cNvPr id="6" name="Text 4"/>
          <p:cNvSpPr/>
          <p:nvPr/>
        </p:nvSpPr>
        <p:spPr>
          <a:xfrm>
            <a:off x="457200" y="777240"/>
            <a:ext cx="11247120" cy="868680"/>
          </a:xfrm>
          <a:prstGeom prst="rect">
            <a:avLst/>
          </a:prstGeom>
          <a:noFill/>
          <a:ln/>
        </p:spPr>
        <p:txBody>
          <a:bodyPr wrap="square" rtlCol="0" anchor="ctr"/>
          <a:lstStyle/>
          <a:p>
            <a:pPr algn="l" indent="0" marL="0">
              <a:buNone/>
            </a:pPr>
            <a:r>
              <a:rPr lang="en-US" sz="2300" b="1" dirty="0">
                <a:solidFill>
                  <a:srgbClr val="FFFFFF"/>
                </a:solidFill>
                <a:latin typeface="Georgia" pitchFamily="34" charset="0"/>
                <a:ea typeface="Georgia" pitchFamily="34" charset="-122"/>
                <a:cs typeface="Georgia" pitchFamily="34" charset="-120"/>
              </a:rPr>
              <a:t>Roosevelt’s “Square Deal” promised fair treatment for labor, business, and consumers alike.</a:t>
            </a:r>
            <a:endParaRPr lang="en-US" sz="2300" dirty="0"/>
          </a:p>
        </p:txBody>
      </p:sp>
      <p:pic>
        <p:nvPicPr>
          <p:cNvPr id="7" name="Image 0" descr="hh-web/public/images/textbook/unit-2/roosevelt-theodore-portrait-1904.jpg">    </p:cNvPr>
          <p:cNvPicPr>
            <a:picLocks noChangeAspect="1"/>
          </p:cNvPicPr>
          <p:nvPr/>
        </p:nvPicPr>
        <p:blipFill>
          <a:blip r:embed="rId1"/>
          <a:srcRect l="0" r="0" t="0" b="0"/>
          <a:stretch/>
        </p:blipFill>
        <p:spPr>
          <a:xfrm>
            <a:off x="2743200" y="2057400"/>
            <a:ext cx="6702552" cy="4160520"/>
          </a:xfrm>
          <a:prstGeom prst="rect">
            <a:avLst/>
          </a:prstGeom>
        </p:spPr>
      </p:pic>
      <p:sp>
        <p:nvSpPr>
          <p:cNvPr id="8" name="Text 5"/>
          <p:cNvSpPr/>
          <p:nvPr/>
        </p:nvSpPr>
        <p:spPr>
          <a:xfrm>
            <a:off x="2743200" y="2103120"/>
            <a:ext cx="1188720" cy="292608"/>
          </a:xfrm>
          <a:prstGeom prst="rect">
            <a:avLst/>
          </a:prstGeom>
          <a:solidFill>
            <a:srgbClr val="F9A825"/>
          </a:solidFill>
          <a:ln/>
        </p:spPr>
        <p:txBody>
          <a:bodyPr wrap="square" rtlCol="0" anchor="ctr"/>
          <a:lstStyle/>
          <a:p>
            <a:pPr algn="ctr" indent="0" marL="0">
              <a:buNone/>
            </a:pPr>
            <a:r>
              <a:rPr lang="en-US" sz="900" b="1" spc="100" kern="0" dirty="0">
                <a:solidFill>
                  <a:srgbClr val="1A2332"/>
                </a:solidFill>
                <a:latin typeface="Trebuchet MS" pitchFamily="34" charset="0"/>
                <a:ea typeface="Trebuchet MS" pitchFamily="34" charset="-122"/>
                <a:cs typeface="Trebuchet MS" pitchFamily="34" charset="-120"/>
              </a:rPr>
              <a:t>ZOOM IN</a:t>
            </a:r>
            <a:endParaRPr lang="en-US" sz="900" dirty="0"/>
          </a:p>
        </p:txBody>
      </p:sp>
      <p:sp>
        <p:nvSpPr>
          <p:cNvPr id="9" name="Text 6"/>
          <p:cNvSpPr/>
          <p:nvPr/>
        </p:nvSpPr>
        <p:spPr>
          <a:xfrm>
            <a:off x="457200" y="6263640"/>
            <a:ext cx="8229600" cy="274320"/>
          </a:xfrm>
          <a:prstGeom prst="rect">
            <a:avLst/>
          </a:prstGeom>
          <a:noFill/>
          <a:ln/>
        </p:spPr>
        <p:txBody>
          <a:bodyPr wrap="square" rtlCol="0" anchor="ctr"/>
          <a:lstStyle/>
          <a:p>
            <a:pPr indent="0" marL="0">
              <a:buNone/>
            </a:pPr>
            <a:r>
              <a:rPr lang="en-US" sz="1000" i="1" dirty="0">
                <a:solidFill>
                  <a:srgbClr val="5C6470"/>
                </a:solidFill>
                <a:latin typeface="Trebuchet MS" pitchFamily="34" charset="0"/>
                <a:ea typeface="Trebuchet MS" pitchFamily="34" charset="-122"/>
                <a:cs typeface="Trebuchet MS" pitchFamily="34" charset="-120"/>
              </a:rPr>
              <a:t>US.16 · The Square Deal</a:t>
            </a:r>
            <a:endParaRPr lang="en-US" sz="1000" dirty="0"/>
          </a:p>
        </p:txBody>
      </p:sp>
      <p:sp>
        <p:nvSpPr>
          <p:cNvPr id="10" name="Text 7"/>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1" name="Text 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54</a:t>
            </a:r>
            <a:endParaRPr lang="en-US" sz="9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737360"/>
          </a:xfrm>
          <a:prstGeom prst="rect">
            <a:avLst/>
          </a:prstGeom>
          <a:solidFill>
            <a:srgbClr val="1A2332"/>
          </a:solidFill>
          <a:ln/>
        </p:spPr>
        <p:txBody>
          <a:bodyPr/>
          <a:p/>
        </p:txBody>
      </p:sp>
      <p:sp>
        <p:nvSpPr>
          <p:cNvPr id="3" name="Shape 1"/>
          <p:cNvSpPr/>
          <p:nvPr/>
        </p:nvSpPr>
        <p:spPr>
          <a:xfrm>
            <a:off x="0" y="1737360"/>
            <a:ext cx="12191695" cy="54864"/>
          </a:xfrm>
          <a:prstGeom prst="rect">
            <a:avLst/>
          </a:prstGeom>
          <a:solidFill>
            <a:srgbClr val="C9A84C"/>
          </a:solidFill>
          <a:ln/>
        </p:spPr>
        <p:txBody>
          <a:bodyPr/>
          <a:p/>
        </p:txBody>
      </p:sp>
      <p:sp>
        <p:nvSpPr>
          <p:cNvPr id="4" name="Text 2"/>
          <p:cNvSpPr/>
          <p:nvPr/>
        </p:nvSpPr>
        <p:spPr>
          <a:xfrm>
            <a:off x="457200" y="320040"/>
            <a:ext cx="3291840" cy="365760"/>
          </a:xfrm>
          <a:prstGeom prst="rect">
            <a:avLst/>
          </a:prstGeom>
          <a:solidFill>
            <a:srgbClr val="00285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DIRECT INSTRUCTION</a:t>
            </a:r>
            <a:endParaRPr lang="en-US" sz="1100" dirty="0"/>
          </a:p>
        </p:txBody>
      </p:sp>
      <p:sp>
        <p:nvSpPr>
          <p:cNvPr id="5" name="Text 3"/>
          <p:cNvSpPr/>
          <p:nvPr/>
        </p:nvSpPr>
        <p:spPr>
          <a:xfrm>
            <a:off x="3886200" y="32004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US.16</a:t>
            </a:r>
            <a:endParaRPr lang="en-US" sz="1200" dirty="0"/>
          </a:p>
        </p:txBody>
      </p:sp>
      <p:sp>
        <p:nvSpPr>
          <p:cNvPr id="6" name="Text 4"/>
          <p:cNvSpPr/>
          <p:nvPr/>
        </p:nvSpPr>
        <p:spPr>
          <a:xfrm>
            <a:off x="457200" y="777240"/>
            <a:ext cx="11247120" cy="868680"/>
          </a:xfrm>
          <a:prstGeom prst="rect">
            <a:avLst/>
          </a:prstGeom>
          <a:noFill/>
          <a:ln/>
        </p:spPr>
        <p:txBody>
          <a:bodyPr wrap="square" rtlCol="0" anchor="ctr"/>
          <a:lstStyle/>
          <a:p>
            <a:pPr algn="l" indent="0" marL="0">
              <a:buNone/>
            </a:pPr>
            <a:r>
              <a:rPr lang="en-US" sz="2300" b="1" dirty="0">
                <a:solidFill>
                  <a:srgbClr val="FFFFFF"/>
                </a:solidFill>
                <a:latin typeface="Georgia" pitchFamily="34" charset="0"/>
                <a:ea typeface="Georgia" pitchFamily="34" charset="-122"/>
                <a:cs typeface="Georgia" pitchFamily="34" charset="-120"/>
              </a:rPr>
              <a:t>After “The Jungle,” Roosevelt backed the Pure Food and Drug Act and Meat Inspection Act (1906) to protect consumers.</a:t>
            </a:r>
            <a:endParaRPr lang="en-US" sz="2300" dirty="0"/>
          </a:p>
        </p:txBody>
      </p:sp>
      <p:pic>
        <p:nvPicPr>
          <p:cNvPr id="7" name="Image 0" descr="hh-web/public/images/textbook/unit-2/sinclair-upton-portrait-1906.jpg">    </p:cNvPr>
          <p:cNvPicPr>
            <a:picLocks noChangeAspect="1"/>
          </p:cNvPicPr>
          <p:nvPr/>
        </p:nvPicPr>
        <p:blipFill>
          <a:blip r:embed="rId1"/>
          <a:srcRect l="0" r="0" t="0" b="0"/>
          <a:stretch/>
        </p:blipFill>
        <p:spPr>
          <a:xfrm>
            <a:off x="2743200" y="2057400"/>
            <a:ext cx="6702552" cy="4160520"/>
          </a:xfrm>
          <a:prstGeom prst="rect">
            <a:avLst/>
          </a:prstGeom>
        </p:spPr>
      </p:pic>
      <p:sp>
        <p:nvSpPr>
          <p:cNvPr id="8" name="Text 5"/>
          <p:cNvSpPr/>
          <p:nvPr/>
        </p:nvSpPr>
        <p:spPr>
          <a:xfrm>
            <a:off x="2743200" y="2103120"/>
            <a:ext cx="1188720" cy="292608"/>
          </a:xfrm>
          <a:prstGeom prst="rect">
            <a:avLst/>
          </a:prstGeom>
          <a:solidFill>
            <a:srgbClr val="F9A825"/>
          </a:solidFill>
          <a:ln/>
        </p:spPr>
        <p:txBody>
          <a:bodyPr wrap="square" rtlCol="0" anchor="ctr"/>
          <a:lstStyle/>
          <a:p>
            <a:pPr algn="ctr" indent="0" marL="0">
              <a:buNone/>
            </a:pPr>
            <a:r>
              <a:rPr lang="en-US" sz="900" b="1" spc="100" kern="0" dirty="0">
                <a:solidFill>
                  <a:srgbClr val="1A2332"/>
                </a:solidFill>
                <a:latin typeface="Trebuchet MS" pitchFamily="34" charset="0"/>
                <a:ea typeface="Trebuchet MS" pitchFamily="34" charset="-122"/>
                <a:cs typeface="Trebuchet MS" pitchFamily="34" charset="-120"/>
              </a:rPr>
              <a:t>ZOOM IN</a:t>
            </a:r>
            <a:endParaRPr lang="en-US" sz="900" dirty="0"/>
          </a:p>
        </p:txBody>
      </p:sp>
      <p:sp>
        <p:nvSpPr>
          <p:cNvPr id="9" name="Text 6"/>
          <p:cNvSpPr/>
          <p:nvPr/>
        </p:nvSpPr>
        <p:spPr>
          <a:xfrm>
            <a:off x="457200" y="6263640"/>
            <a:ext cx="8229600" cy="274320"/>
          </a:xfrm>
          <a:prstGeom prst="rect">
            <a:avLst/>
          </a:prstGeom>
          <a:noFill/>
          <a:ln/>
        </p:spPr>
        <p:txBody>
          <a:bodyPr wrap="square" rtlCol="0" anchor="ctr"/>
          <a:lstStyle/>
          <a:p>
            <a:pPr indent="0" marL="0">
              <a:buNone/>
            </a:pPr>
            <a:r>
              <a:rPr lang="en-US" sz="1000" i="1" dirty="0">
                <a:solidFill>
                  <a:srgbClr val="5C6470"/>
                </a:solidFill>
                <a:latin typeface="Trebuchet MS" pitchFamily="34" charset="0"/>
                <a:ea typeface="Trebuchet MS" pitchFamily="34" charset="-122"/>
                <a:cs typeface="Trebuchet MS" pitchFamily="34" charset="-120"/>
              </a:rPr>
              <a:t>US.16 · Pure Food &amp; Meat Inspection Acts</a:t>
            </a:r>
            <a:endParaRPr lang="en-US" sz="1000" dirty="0"/>
          </a:p>
        </p:txBody>
      </p:sp>
      <p:sp>
        <p:nvSpPr>
          <p:cNvPr id="10" name="Text 7"/>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1" name="Text 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55</a:t>
            </a:r>
            <a:endParaRPr lang="en-US" sz="9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737360"/>
          </a:xfrm>
          <a:prstGeom prst="rect">
            <a:avLst/>
          </a:prstGeom>
          <a:solidFill>
            <a:srgbClr val="1A2332"/>
          </a:solidFill>
          <a:ln/>
        </p:spPr>
        <p:txBody>
          <a:bodyPr/>
          <a:p/>
        </p:txBody>
      </p:sp>
      <p:sp>
        <p:nvSpPr>
          <p:cNvPr id="3" name="Shape 1"/>
          <p:cNvSpPr/>
          <p:nvPr/>
        </p:nvSpPr>
        <p:spPr>
          <a:xfrm>
            <a:off x="0" y="1737360"/>
            <a:ext cx="12191695" cy="54864"/>
          </a:xfrm>
          <a:prstGeom prst="rect">
            <a:avLst/>
          </a:prstGeom>
          <a:solidFill>
            <a:srgbClr val="C9A84C"/>
          </a:solidFill>
          <a:ln/>
        </p:spPr>
        <p:txBody>
          <a:bodyPr/>
          <a:p/>
        </p:txBody>
      </p:sp>
      <p:sp>
        <p:nvSpPr>
          <p:cNvPr id="4" name="Text 2"/>
          <p:cNvSpPr/>
          <p:nvPr/>
        </p:nvSpPr>
        <p:spPr>
          <a:xfrm>
            <a:off x="457200" y="320040"/>
            <a:ext cx="3291840" cy="365760"/>
          </a:xfrm>
          <a:prstGeom prst="rect">
            <a:avLst/>
          </a:prstGeom>
          <a:solidFill>
            <a:srgbClr val="00285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DIRECT INSTRUCTION</a:t>
            </a:r>
            <a:endParaRPr lang="en-US" sz="1100" dirty="0"/>
          </a:p>
        </p:txBody>
      </p:sp>
      <p:sp>
        <p:nvSpPr>
          <p:cNvPr id="5" name="Text 3"/>
          <p:cNvSpPr/>
          <p:nvPr/>
        </p:nvSpPr>
        <p:spPr>
          <a:xfrm>
            <a:off x="3886200" y="32004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US.16</a:t>
            </a:r>
            <a:endParaRPr lang="en-US" sz="1200" dirty="0"/>
          </a:p>
        </p:txBody>
      </p:sp>
      <p:sp>
        <p:nvSpPr>
          <p:cNvPr id="6" name="Text 4"/>
          <p:cNvSpPr/>
          <p:nvPr/>
        </p:nvSpPr>
        <p:spPr>
          <a:xfrm>
            <a:off x="457200" y="777240"/>
            <a:ext cx="11247120" cy="868680"/>
          </a:xfrm>
          <a:prstGeom prst="rect">
            <a:avLst/>
          </a:prstGeom>
          <a:noFill/>
          <a:ln/>
        </p:spPr>
        <p:txBody>
          <a:bodyPr wrap="square" rtlCol="0" anchor="ctr"/>
          <a:lstStyle/>
          <a:p>
            <a:pPr algn="l" indent="0" marL="0">
              <a:buNone/>
            </a:pPr>
            <a:r>
              <a:rPr lang="en-US" sz="2300" b="1" dirty="0">
                <a:solidFill>
                  <a:srgbClr val="FFFFFF"/>
                </a:solidFill>
                <a:latin typeface="Georgia" pitchFamily="34" charset="0"/>
                <a:ea typeface="Georgia" pitchFamily="34" charset="-122"/>
                <a:cs typeface="Georgia" pitchFamily="34" charset="-120"/>
              </a:rPr>
              <a:t>As a “trust-buster,” Roosevelt filed 44 antitrust suits — including against Standard Oil — to check corporate power.</a:t>
            </a:r>
            <a:endParaRPr lang="en-US" sz="2300" dirty="0"/>
          </a:p>
        </p:txBody>
      </p:sp>
      <p:pic>
        <p:nvPicPr>
          <p:cNvPr id="7" name="Image 0" descr="hh-web/public/images/textbook/unit-2/roosevelt-big-stick-trusts-1905.jpg">    </p:cNvPr>
          <p:cNvPicPr>
            <a:picLocks noChangeAspect="1"/>
          </p:cNvPicPr>
          <p:nvPr/>
        </p:nvPicPr>
        <p:blipFill>
          <a:blip r:embed="rId1"/>
          <a:srcRect l="0" r="0" t="0" b="0"/>
          <a:stretch/>
        </p:blipFill>
        <p:spPr>
          <a:xfrm>
            <a:off x="2743200" y="2057400"/>
            <a:ext cx="6702552" cy="4160520"/>
          </a:xfrm>
          <a:prstGeom prst="rect">
            <a:avLst/>
          </a:prstGeom>
        </p:spPr>
      </p:pic>
      <p:sp>
        <p:nvSpPr>
          <p:cNvPr id="8" name="Text 5"/>
          <p:cNvSpPr/>
          <p:nvPr/>
        </p:nvSpPr>
        <p:spPr>
          <a:xfrm>
            <a:off x="2743200" y="2103120"/>
            <a:ext cx="1188720" cy="292608"/>
          </a:xfrm>
          <a:prstGeom prst="rect">
            <a:avLst/>
          </a:prstGeom>
          <a:solidFill>
            <a:srgbClr val="F9A825"/>
          </a:solidFill>
          <a:ln/>
        </p:spPr>
        <p:txBody>
          <a:bodyPr wrap="square" rtlCol="0" anchor="ctr"/>
          <a:lstStyle/>
          <a:p>
            <a:pPr algn="ctr" indent="0" marL="0">
              <a:buNone/>
            </a:pPr>
            <a:r>
              <a:rPr lang="en-US" sz="900" b="1" spc="100" kern="0" dirty="0">
                <a:solidFill>
                  <a:srgbClr val="1A2332"/>
                </a:solidFill>
                <a:latin typeface="Trebuchet MS" pitchFamily="34" charset="0"/>
                <a:ea typeface="Trebuchet MS" pitchFamily="34" charset="-122"/>
                <a:cs typeface="Trebuchet MS" pitchFamily="34" charset="-120"/>
              </a:rPr>
              <a:t>ZOOM IN</a:t>
            </a:r>
            <a:endParaRPr lang="en-US" sz="900" dirty="0"/>
          </a:p>
        </p:txBody>
      </p:sp>
      <p:sp>
        <p:nvSpPr>
          <p:cNvPr id="9" name="Text 6"/>
          <p:cNvSpPr/>
          <p:nvPr/>
        </p:nvSpPr>
        <p:spPr>
          <a:xfrm>
            <a:off x="457200" y="6263640"/>
            <a:ext cx="8229600" cy="274320"/>
          </a:xfrm>
          <a:prstGeom prst="rect">
            <a:avLst/>
          </a:prstGeom>
          <a:noFill/>
          <a:ln/>
        </p:spPr>
        <p:txBody>
          <a:bodyPr wrap="square" rtlCol="0" anchor="ctr"/>
          <a:lstStyle/>
          <a:p>
            <a:pPr indent="0" marL="0">
              <a:buNone/>
            </a:pPr>
            <a:r>
              <a:rPr lang="en-US" sz="1000" i="1" dirty="0">
                <a:solidFill>
                  <a:srgbClr val="5C6470"/>
                </a:solidFill>
                <a:latin typeface="Trebuchet MS" pitchFamily="34" charset="0"/>
                <a:ea typeface="Trebuchet MS" pitchFamily="34" charset="-122"/>
                <a:cs typeface="Trebuchet MS" pitchFamily="34" charset="-120"/>
              </a:rPr>
              <a:t>US.16 · Trust-Busting</a:t>
            </a:r>
            <a:endParaRPr lang="en-US" sz="1000" dirty="0"/>
          </a:p>
        </p:txBody>
      </p:sp>
      <p:sp>
        <p:nvSpPr>
          <p:cNvPr id="10" name="Text 7"/>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1" name="Text 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56</a:t>
            </a:r>
            <a:endParaRPr lang="en-US" sz="9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737360"/>
          </a:xfrm>
          <a:prstGeom prst="rect">
            <a:avLst/>
          </a:prstGeom>
          <a:solidFill>
            <a:srgbClr val="1A2332"/>
          </a:solidFill>
          <a:ln/>
        </p:spPr>
        <p:txBody>
          <a:bodyPr/>
          <a:p/>
        </p:txBody>
      </p:sp>
      <p:sp>
        <p:nvSpPr>
          <p:cNvPr id="3" name="Shape 1"/>
          <p:cNvSpPr/>
          <p:nvPr/>
        </p:nvSpPr>
        <p:spPr>
          <a:xfrm>
            <a:off x="0" y="1737360"/>
            <a:ext cx="12191695" cy="54864"/>
          </a:xfrm>
          <a:prstGeom prst="rect">
            <a:avLst/>
          </a:prstGeom>
          <a:solidFill>
            <a:srgbClr val="C9A84C"/>
          </a:solidFill>
          <a:ln/>
        </p:spPr>
        <p:txBody>
          <a:bodyPr/>
          <a:p/>
        </p:txBody>
      </p:sp>
      <p:sp>
        <p:nvSpPr>
          <p:cNvPr id="4" name="Text 2"/>
          <p:cNvSpPr/>
          <p:nvPr/>
        </p:nvSpPr>
        <p:spPr>
          <a:xfrm>
            <a:off x="457200" y="320040"/>
            <a:ext cx="3291840" cy="365760"/>
          </a:xfrm>
          <a:prstGeom prst="rect">
            <a:avLst/>
          </a:prstGeom>
          <a:solidFill>
            <a:srgbClr val="00285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DIRECT INSTRUCTION</a:t>
            </a:r>
            <a:endParaRPr lang="en-US" sz="1100" dirty="0"/>
          </a:p>
        </p:txBody>
      </p:sp>
      <p:sp>
        <p:nvSpPr>
          <p:cNvPr id="5" name="Text 3"/>
          <p:cNvSpPr/>
          <p:nvPr/>
        </p:nvSpPr>
        <p:spPr>
          <a:xfrm>
            <a:off x="3886200" y="32004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US.16</a:t>
            </a:r>
            <a:endParaRPr lang="en-US" sz="1200" dirty="0"/>
          </a:p>
        </p:txBody>
      </p:sp>
      <p:sp>
        <p:nvSpPr>
          <p:cNvPr id="6" name="Text 4"/>
          <p:cNvSpPr/>
          <p:nvPr/>
        </p:nvSpPr>
        <p:spPr>
          <a:xfrm>
            <a:off x="457200" y="777240"/>
            <a:ext cx="11247120" cy="868680"/>
          </a:xfrm>
          <a:prstGeom prst="rect">
            <a:avLst/>
          </a:prstGeom>
          <a:noFill/>
          <a:ln/>
        </p:spPr>
        <p:txBody>
          <a:bodyPr wrap="square" rtlCol="0" anchor="ctr"/>
          <a:lstStyle/>
          <a:p>
            <a:pPr algn="l" indent="0" marL="0">
              <a:buNone/>
            </a:pPr>
            <a:r>
              <a:rPr lang="en-US" sz="2300" b="1" dirty="0">
                <a:solidFill>
                  <a:srgbClr val="FFFFFF"/>
                </a:solidFill>
                <a:latin typeface="Georgia" pitchFamily="34" charset="0"/>
                <a:ea typeface="Georgia" pitchFamily="34" charset="-122"/>
                <a:cs typeface="Georgia" pitchFamily="34" charset="-120"/>
              </a:rPr>
              <a:t>The first environmentalist president, Roosevelt protected some 230 million acres — 150 national forests and 5 national parks.</a:t>
            </a:r>
            <a:endParaRPr lang="en-US" sz="2300" dirty="0"/>
          </a:p>
        </p:txBody>
      </p:sp>
      <p:pic>
        <p:nvPicPr>
          <p:cNvPr id="7" name="Image 0" descr="hh-web/public/images/textbook/unit-2/roosevelt-muir-glacier-point-1903.jpg">    </p:cNvPr>
          <p:cNvPicPr>
            <a:picLocks noChangeAspect="1"/>
          </p:cNvPicPr>
          <p:nvPr/>
        </p:nvPicPr>
        <p:blipFill>
          <a:blip r:embed="rId1"/>
          <a:srcRect l="0" r="0" t="0" b="0"/>
          <a:stretch/>
        </p:blipFill>
        <p:spPr>
          <a:xfrm>
            <a:off x="2743200" y="2057400"/>
            <a:ext cx="6702552" cy="4160520"/>
          </a:xfrm>
          <a:prstGeom prst="rect">
            <a:avLst/>
          </a:prstGeom>
        </p:spPr>
      </p:pic>
      <p:sp>
        <p:nvSpPr>
          <p:cNvPr id="8" name="Text 5"/>
          <p:cNvSpPr/>
          <p:nvPr/>
        </p:nvSpPr>
        <p:spPr>
          <a:xfrm>
            <a:off x="2743200" y="2103120"/>
            <a:ext cx="1188720" cy="292608"/>
          </a:xfrm>
          <a:prstGeom prst="rect">
            <a:avLst/>
          </a:prstGeom>
          <a:solidFill>
            <a:srgbClr val="F9A825"/>
          </a:solidFill>
          <a:ln/>
        </p:spPr>
        <p:txBody>
          <a:bodyPr wrap="square" rtlCol="0" anchor="ctr"/>
          <a:lstStyle/>
          <a:p>
            <a:pPr algn="ctr" indent="0" marL="0">
              <a:buNone/>
            </a:pPr>
            <a:r>
              <a:rPr lang="en-US" sz="900" b="1" spc="100" kern="0" dirty="0">
                <a:solidFill>
                  <a:srgbClr val="1A2332"/>
                </a:solidFill>
                <a:latin typeface="Trebuchet MS" pitchFamily="34" charset="0"/>
                <a:ea typeface="Trebuchet MS" pitchFamily="34" charset="-122"/>
                <a:cs typeface="Trebuchet MS" pitchFamily="34" charset="-120"/>
              </a:rPr>
              <a:t>ZOOM IN</a:t>
            </a:r>
            <a:endParaRPr lang="en-US" sz="900" dirty="0"/>
          </a:p>
        </p:txBody>
      </p:sp>
      <p:sp>
        <p:nvSpPr>
          <p:cNvPr id="9" name="Text 6"/>
          <p:cNvSpPr/>
          <p:nvPr/>
        </p:nvSpPr>
        <p:spPr>
          <a:xfrm>
            <a:off x="457200" y="6263640"/>
            <a:ext cx="8229600" cy="274320"/>
          </a:xfrm>
          <a:prstGeom prst="rect">
            <a:avLst/>
          </a:prstGeom>
          <a:noFill/>
          <a:ln/>
        </p:spPr>
        <p:txBody>
          <a:bodyPr wrap="square" rtlCol="0" anchor="ctr"/>
          <a:lstStyle/>
          <a:p>
            <a:pPr indent="0" marL="0">
              <a:buNone/>
            </a:pPr>
            <a:r>
              <a:rPr lang="en-US" sz="1000" i="1" dirty="0">
                <a:solidFill>
                  <a:srgbClr val="5C6470"/>
                </a:solidFill>
                <a:latin typeface="Trebuchet MS" pitchFamily="34" charset="0"/>
                <a:ea typeface="Trebuchet MS" pitchFamily="34" charset="-122"/>
                <a:cs typeface="Trebuchet MS" pitchFamily="34" charset="-120"/>
              </a:rPr>
              <a:t>US.16 · Conservation</a:t>
            </a:r>
            <a:endParaRPr lang="en-US" sz="1000" dirty="0"/>
          </a:p>
        </p:txBody>
      </p:sp>
      <p:sp>
        <p:nvSpPr>
          <p:cNvPr id="10" name="Text 7"/>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1" name="Text 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57</a:t>
            </a:r>
            <a:endParaRPr lang="en-US" sz="9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554480"/>
          </a:xfrm>
          <a:prstGeom prst="rect">
            <a:avLst/>
          </a:prstGeom>
          <a:solidFill>
            <a:srgbClr val="002858"/>
          </a:solidFill>
          <a:ln/>
        </p:spPr>
        <p:txBody>
          <a:bodyPr/>
          <a:p/>
        </p:txBody>
      </p:sp>
      <p:sp>
        <p:nvSpPr>
          <p:cNvPr id="3" name="Shape 1"/>
          <p:cNvSpPr/>
          <p:nvPr/>
        </p:nvSpPr>
        <p:spPr>
          <a:xfrm>
            <a:off x="0" y="1554480"/>
            <a:ext cx="12191695" cy="54864"/>
          </a:xfrm>
          <a:prstGeom prst="rect">
            <a:avLst/>
          </a:prstGeom>
          <a:solidFill>
            <a:srgbClr val="C9A84C"/>
          </a:solidFill>
          <a:ln/>
        </p:spPr>
        <p:txBody>
          <a:bodyPr/>
          <a:p/>
        </p:txBody>
      </p:sp>
      <p:sp>
        <p:nvSpPr>
          <p:cNvPr id="4" name="Text 2"/>
          <p:cNvSpPr/>
          <p:nvPr/>
        </p:nvSpPr>
        <p:spPr>
          <a:xfrm>
            <a:off x="457200" y="274320"/>
            <a:ext cx="3291840" cy="365760"/>
          </a:xfrm>
          <a:prstGeom prst="rect">
            <a:avLst/>
          </a:prstGeom>
          <a:solidFill>
            <a:srgbClr val="C6282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SOURCE IT FIRST</a:t>
            </a:r>
            <a:endParaRPr lang="en-US" sz="1100" dirty="0"/>
          </a:p>
        </p:txBody>
      </p:sp>
      <p:sp>
        <p:nvSpPr>
          <p:cNvPr id="5" name="Text 3"/>
          <p:cNvSpPr/>
          <p:nvPr/>
        </p:nvSpPr>
        <p:spPr>
          <a:xfrm>
            <a:off x="3886200" y="27432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US.16</a:t>
            </a:r>
            <a:endParaRPr lang="en-US" sz="1200" dirty="0"/>
          </a:p>
        </p:txBody>
      </p:sp>
      <p:sp>
        <p:nvSpPr>
          <p:cNvPr id="6" name="Text 4"/>
          <p:cNvSpPr/>
          <p:nvPr/>
        </p:nvSpPr>
        <p:spPr>
          <a:xfrm>
            <a:off x="457200" y="713232"/>
            <a:ext cx="11247120" cy="777240"/>
          </a:xfrm>
          <a:prstGeom prst="rect">
            <a:avLst/>
          </a:prstGeom>
          <a:noFill/>
          <a:ln/>
        </p:spPr>
        <p:txBody>
          <a:bodyPr wrap="square" rtlCol="0" anchor="ctr"/>
          <a:lstStyle/>
          <a:p>
            <a:pPr indent="0" marL="0">
              <a:buNone/>
            </a:pPr>
            <a:r>
              <a:rPr lang="en-US" sz="2000" b="1" dirty="0">
                <a:solidFill>
                  <a:srgbClr val="FFFFFF"/>
                </a:solidFill>
                <a:latin typeface="Georgia" pitchFamily="34" charset="0"/>
                <a:ea typeface="Georgia" pitchFamily="34" charset="-122"/>
                <a:cs typeface="Georgia" pitchFamily="34" charset="-120"/>
              </a:rPr>
              <a:t>Read Roosevelt’s “Square Deal” speech — ask which group he reassures and which he challenges.</a:t>
            </a:r>
            <a:endParaRPr lang="en-US" sz="2000" dirty="0"/>
          </a:p>
        </p:txBody>
      </p:sp>
      <p:sp>
        <p:nvSpPr>
          <p:cNvPr id="7" name="Text 5"/>
          <p:cNvSpPr/>
          <p:nvPr/>
        </p:nvSpPr>
        <p:spPr>
          <a:xfrm>
            <a:off x="457200" y="1783080"/>
            <a:ext cx="3566160" cy="320040"/>
          </a:xfrm>
          <a:prstGeom prst="rect">
            <a:avLst/>
          </a:prstGeom>
          <a:solidFill>
            <a:srgbClr val="1A2332"/>
          </a:solid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WHO</a:t>
            </a:r>
            <a:endParaRPr lang="en-US" sz="1200" dirty="0"/>
          </a:p>
        </p:txBody>
      </p:sp>
      <p:sp>
        <p:nvSpPr>
          <p:cNvPr id="8" name="Text 6"/>
          <p:cNvSpPr/>
          <p:nvPr/>
        </p:nvSpPr>
        <p:spPr>
          <a:xfrm>
            <a:off x="457200" y="2103120"/>
            <a:ext cx="3566160" cy="914400"/>
          </a:xfrm>
          <a:prstGeom prst="rect">
            <a:avLst/>
          </a:prstGeom>
          <a:solidFill>
            <a:srgbClr val="FFFFFF"/>
          </a:solidFill>
          <a:ln w="12700">
            <a:solidFill>
              <a:srgbClr val="DAD3C2"/>
            </a:solidFill>
          </a:ln>
        </p:spPr>
        <p:txBody>
          <a:bodyPr wrap="square" lIns="76200" tIns="76200" rIns="76200" bIns="76200" rtlCol="0" anchor="t"/>
          <a:lstStyle/>
          <a:p>
            <a:pPr algn="l" indent="0" marL="0">
              <a:buNone/>
            </a:pPr>
            <a:r>
              <a:rPr lang="en-US" sz="1200" dirty="0">
                <a:solidFill>
                  <a:srgbClr val="1F2430"/>
                </a:solidFill>
                <a:latin typeface="Calibri" pitchFamily="34" charset="0"/>
                <a:ea typeface="Calibri" pitchFamily="34" charset="-122"/>
                <a:cs typeface="Calibri" pitchFamily="34" charset="-120"/>
              </a:rPr>
              <a:t>Theodore Roosevelt — 26th President of the United States, speaking as commander in chief.</a:t>
            </a:r>
            <a:endParaRPr lang="en-US" sz="1200" dirty="0"/>
          </a:p>
        </p:txBody>
      </p:sp>
      <p:sp>
        <p:nvSpPr>
          <p:cNvPr id="9" name="Text 7"/>
          <p:cNvSpPr/>
          <p:nvPr/>
        </p:nvSpPr>
        <p:spPr>
          <a:xfrm>
            <a:off x="4251960" y="1783080"/>
            <a:ext cx="3566160" cy="320040"/>
          </a:xfrm>
          <a:prstGeom prst="rect">
            <a:avLst/>
          </a:prstGeom>
          <a:solidFill>
            <a:srgbClr val="1A2332"/>
          </a:solid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WHEN</a:t>
            </a:r>
            <a:endParaRPr lang="en-US" sz="1200" dirty="0"/>
          </a:p>
        </p:txBody>
      </p:sp>
      <p:sp>
        <p:nvSpPr>
          <p:cNvPr id="10" name="Text 8"/>
          <p:cNvSpPr/>
          <p:nvPr/>
        </p:nvSpPr>
        <p:spPr>
          <a:xfrm>
            <a:off x="4251960" y="2103120"/>
            <a:ext cx="3566160" cy="914400"/>
          </a:xfrm>
          <a:prstGeom prst="rect">
            <a:avLst/>
          </a:prstGeom>
          <a:solidFill>
            <a:srgbClr val="FFFFFF"/>
          </a:solidFill>
          <a:ln w="12700">
            <a:solidFill>
              <a:srgbClr val="DAD3C2"/>
            </a:solidFill>
          </a:ln>
        </p:spPr>
        <p:txBody>
          <a:bodyPr wrap="square" lIns="76200" tIns="76200" rIns="76200" bIns="76200" rtlCol="0" anchor="t"/>
          <a:lstStyle/>
          <a:p>
            <a:pPr algn="l" indent="0" marL="0">
              <a:buNone/>
            </a:pPr>
            <a:r>
              <a:rPr lang="en-US" sz="1200" dirty="0">
                <a:solidFill>
                  <a:srgbClr val="1F2430"/>
                </a:solidFill>
                <a:latin typeface="Calibri" pitchFamily="34" charset="0"/>
                <a:ea typeface="Calibri" pitchFamily="34" charset="-122"/>
                <a:cs typeface="Calibri" pitchFamily="34" charset="-120"/>
              </a:rPr>
              <a:t>1903, in the middle of a national coal strike and rising public anger at corporate trusts.</a:t>
            </a:r>
            <a:endParaRPr lang="en-US" sz="1200" dirty="0"/>
          </a:p>
        </p:txBody>
      </p:sp>
      <p:sp>
        <p:nvSpPr>
          <p:cNvPr id="11" name="Text 9"/>
          <p:cNvSpPr/>
          <p:nvPr/>
        </p:nvSpPr>
        <p:spPr>
          <a:xfrm>
            <a:off x="8046720" y="1783080"/>
            <a:ext cx="3566160" cy="320040"/>
          </a:xfrm>
          <a:prstGeom prst="rect">
            <a:avLst/>
          </a:prstGeom>
          <a:solidFill>
            <a:srgbClr val="1A2332"/>
          </a:solid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WHY</a:t>
            </a:r>
            <a:endParaRPr lang="en-US" sz="1200" dirty="0"/>
          </a:p>
        </p:txBody>
      </p:sp>
      <p:sp>
        <p:nvSpPr>
          <p:cNvPr id="12" name="Text 10"/>
          <p:cNvSpPr/>
          <p:nvPr/>
        </p:nvSpPr>
        <p:spPr>
          <a:xfrm>
            <a:off x="8046720" y="2103120"/>
            <a:ext cx="3566160" cy="914400"/>
          </a:xfrm>
          <a:prstGeom prst="rect">
            <a:avLst/>
          </a:prstGeom>
          <a:solidFill>
            <a:srgbClr val="FFFFFF"/>
          </a:solidFill>
          <a:ln w="12700">
            <a:solidFill>
              <a:srgbClr val="DAD3C2"/>
            </a:solidFill>
          </a:ln>
        </p:spPr>
        <p:txBody>
          <a:bodyPr wrap="square" lIns="76200" tIns="76200" rIns="76200" bIns="76200" rtlCol="0" anchor="t"/>
          <a:lstStyle/>
          <a:p>
            <a:pPr algn="l" indent="0" marL="0">
              <a:buNone/>
            </a:pPr>
            <a:r>
              <a:rPr lang="en-US" sz="1200" dirty="0">
                <a:solidFill>
                  <a:srgbClr val="1F2430"/>
                </a:solidFill>
                <a:latin typeface="Calibri" pitchFamily="34" charset="0"/>
                <a:ea typeface="Calibri" pitchFamily="34" charset="-122"/>
                <a:cs typeface="Calibri" pitchFamily="34" charset="-120"/>
              </a:rPr>
              <a:t>A president's public speech defines policy for millions of people — ask what group he is trying to reassure, and what group he may be challenging.</a:t>
            </a:r>
            <a:endParaRPr lang="en-US" sz="1200" dirty="0"/>
          </a:p>
        </p:txBody>
      </p:sp>
      <p:sp>
        <p:nvSpPr>
          <p:cNvPr id="13" name="Shape 11"/>
          <p:cNvSpPr/>
          <p:nvPr/>
        </p:nvSpPr>
        <p:spPr>
          <a:xfrm>
            <a:off x="457200" y="3200400"/>
            <a:ext cx="5532120" cy="2651760"/>
          </a:xfrm>
          <a:prstGeom prst="rect">
            <a:avLst/>
          </a:prstGeom>
          <a:solidFill>
            <a:srgbClr val="FFFFFF"/>
          </a:solidFill>
          <a:ln w="19050">
            <a:solidFill>
              <a:srgbClr val="C9A84C"/>
            </a:solidFill>
            <a:prstDash val="solid"/>
          </a:ln>
        </p:spPr>
      </p:sp>
      <p:sp>
        <p:nvSpPr>
          <p:cNvPr id="14" name="Text 12"/>
          <p:cNvSpPr/>
          <p:nvPr/>
        </p:nvSpPr>
        <p:spPr>
          <a:xfrm>
            <a:off x="594360" y="3291840"/>
            <a:ext cx="5257800" cy="320040"/>
          </a:xfrm>
          <a:prstGeom prst="rect">
            <a:avLst/>
          </a:prstGeom>
          <a:noFill/>
          <a:ln/>
        </p:spPr>
        <p:txBody>
          <a:bodyPr wrap="square" rtlCol="0" anchor="ctr"/>
          <a:lstStyle/>
          <a:p>
            <a:pPr indent="0" marL="0">
              <a:buNone/>
            </a:pPr>
            <a:r>
              <a:rPr lang="en-US" sz="1400" b="1" dirty="0">
                <a:solidFill>
                  <a:srgbClr val="002858"/>
                </a:solidFill>
                <a:latin typeface="Georgia" pitchFamily="34" charset="0"/>
                <a:ea typeface="Georgia" pitchFamily="34" charset="-122"/>
                <a:cs typeface="Georgia" pitchFamily="34" charset="-120"/>
              </a:rPr>
              <a:t>Square Deal Speech</a:t>
            </a:r>
            <a:endParaRPr lang="en-US" sz="1400" dirty="0"/>
          </a:p>
        </p:txBody>
      </p:sp>
      <p:sp>
        <p:nvSpPr>
          <p:cNvPr id="15" name="Text 13"/>
          <p:cNvSpPr/>
          <p:nvPr/>
        </p:nvSpPr>
        <p:spPr>
          <a:xfrm>
            <a:off x="594360" y="3611880"/>
            <a:ext cx="5257800" cy="274320"/>
          </a:xfrm>
          <a:prstGeom prst="rect">
            <a:avLst/>
          </a:prstGeom>
          <a:noFill/>
          <a:ln/>
        </p:spPr>
        <p:txBody>
          <a:bodyPr wrap="square" rtlCol="0" anchor="ctr"/>
          <a:lstStyle/>
          <a:p>
            <a:pPr indent="0" marL="0">
              <a:buNone/>
            </a:pPr>
            <a:r>
              <a:rPr lang="en-US" sz="900" i="1" dirty="0">
                <a:solidFill>
                  <a:srgbClr val="5C6470"/>
                </a:solidFill>
                <a:latin typeface="Trebuchet MS" pitchFamily="34" charset="0"/>
                <a:ea typeface="Trebuchet MS" pitchFamily="34" charset="-122"/>
                <a:cs typeface="Trebuchet MS" pitchFamily="34" charset="-120"/>
              </a:rPr>
              <a:t>President Theodore Roosevelt · 1903</a:t>
            </a:r>
            <a:endParaRPr lang="en-US" sz="900" dirty="0"/>
          </a:p>
        </p:txBody>
      </p:sp>
      <p:sp>
        <p:nvSpPr>
          <p:cNvPr id="16" name="Text 14"/>
          <p:cNvSpPr/>
          <p:nvPr/>
        </p:nvSpPr>
        <p:spPr>
          <a:xfrm>
            <a:off x="594360" y="3931920"/>
            <a:ext cx="5257800" cy="1600200"/>
          </a:xfrm>
          <a:prstGeom prst="rect">
            <a:avLst/>
          </a:prstGeom>
          <a:noFill/>
          <a:ln/>
        </p:spPr>
        <p:txBody>
          <a:bodyPr wrap="square" rtlCol="0" anchor="t"/>
          <a:lstStyle/>
          <a:p>
            <a:pPr indent="0" marL="0">
              <a:buNone/>
            </a:pPr>
            <a:r>
              <a:rPr lang="en-US" sz="1100" dirty="0">
                <a:solidFill>
                  <a:srgbClr val="1F2430"/>
                </a:solidFill>
                <a:latin typeface="Calibri" pitchFamily="34" charset="0"/>
                <a:ea typeface="Calibri" pitchFamily="34" charset="-122"/>
                <a:cs typeface="Calibri" pitchFamily="34" charset="-120"/>
              </a:rPr>
              <a:t>"When I say I believe in a square deal I do not mean... to give every man the best hand. If the cards do not come to any man, or if they do come, and he has not got the power to play them, that is his affair. All I mean is that there shall be no crookedness in the dealing."</a:t>
            </a:r>
            <a:endParaRPr lang="en-US" sz="1100" dirty="0"/>
          </a:p>
        </p:txBody>
      </p:sp>
      <p:sp>
        <p:nvSpPr>
          <p:cNvPr id="17" name="Text 15">
            <a:hlinkClick r:id="rId1" tooltip=""/>
          </p:cNvPr>
          <p:cNvSpPr/>
          <p:nvPr/>
        </p:nvSpPr>
        <p:spPr>
          <a:xfrm>
            <a:off x="594360" y="5532120"/>
            <a:ext cx="5257800" cy="256032"/>
          </a:xfrm>
          <a:prstGeom prst="rect">
            <a:avLst/>
          </a:prstGeom>
          <a:noFill/>
          <a:ln/>
        </p:spPr>
        <p:txBody>
          <a:bodyPr wrap="square" rtlCol="0" anchor="ctr"/>
          <a:lstStyle/>
          <a:p>
            <a:pPr indent="0" marL="0">
              <a:buNone/>
            </a:pPr>
            <a:r>
              <a:rPr lang="en-US" sz="900" u="sng" dirty="0">
                <a:solidFill>
                  <a:srgbClr val="002858"/>
                </a:solidFill>
                <a:latin typeface="Trebuchet MS" pitchFamily="34" charset="0"/>
                <a:ea typeface="Trebuchet MS" pitchFamily="34" charset="-122"/>
                <a:cs typeface="Trebuchet MS" pitchFamily="34" charset="-120"/>
                <a:hlinkClick r:id="rId1" invalidUrl="" action="" tgtFrame="" tooltip="" history="1" highlightClick="0" endSnd="0">
                  <a:extLst>
                    <a:ext uri="{A12FA001-AC4F-418D-AE19-62706E023703}">
                      <ahyp:hlinkClr xmlns:ahyp="http://schemas.microsoft.com/office/drawing/2018/hyperlinkcolor" val="tx"/>
                    </a:ext>
                  </a:extLst>
                </a:hlinkClick>
              </a:rPr>
              <a:t>Library of Congress</a:t>
            </a:r>
            <a:endParaRPr lang="en-US" sz="900" dirty="0"/>
          </a:p>
        </p:txBody>
      </p:sp>
      <p:sp>
        <p:nvSpPr>
          <p:cNvPr id="18" name="Text 16"/>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9" name="Text 17"/>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58</a:t>
            </a:r>
            <a:endParaRPr lang="en-US" sz="9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1A2332"/>
        </a:solidFill>
      </p:bgPr>
    </p:bg>
    <p:spTree>
      <p:nvGrpSpPr>
        <p:cNvPr id="1" name=""/>
        <p:cNvGrpSpPr/>
        <p:nvPr/>
      </p:nvGrpSpPr>
      <p:grpSpPr>
        <a:xfrm>
          <a:off x="0" y="0"/>
          <a:ext cx="0" cy="0"/>
          <a:chOff x="0" y="0"/>
          <a:chExt cx="0" cy="0"/>
        </a:xfrm>
      </p:grpSpPr>
      <p:sp>
        <p:nvSpPr>
          <p:cNvPr id="2" name="Text 0"/>
          <p:cNvSpPr/>
          <p:nvPr/>
        </p:nvSpPr>
        <p:spPr>
          <a:xfrm>
            <a:off x="457200" y="274320"/>
            <a:ext cx="3291840" cy="365760"/>
          </a:xfrm>
          <a:prstGeom prst="rect">
            <a:avLst/>
          </a:prstGeom>
          <a:solidFill>
            <a:srgbClr val="C6282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THREE PERSPECTIVES</a:t>
            </a:r>
            <a:endParaRPr lang="en-US" sz="1100" dirty="0"/>
          </a:p>
        </p:txBody>
      </p:sp>
      <p:sp>
        <p:nvSpPr>
          <p:cNvPr id="3" name="Text 1"/>
          <p:cNvSpPr/>
          <p:nvPr/>
        </p:nvSpPr>
        <p:spPr>
          <a:xfrm>
            <a:off x="3886200" y="27432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US.16</a:t>
            </a:r>
            <a:endParaRPr lang="en-US" sz="1200" dirty="0"/>
          </a:p>
        </p:txBody>
      </p:sp>
      <p:sp>
        <p:nvSpPr>
          <p:cNvPr id="4" name="Text 2"/>
          <p:cNvSpPr/>
          <p:nvPr/>
        </p:nvSpPr>
        <p:spPr>
          <a:xfrm>
            <a:off x="457200" y="777240"/>
            <a:ext cx="11247120" cy="822960"/>
          </a:xfrm>
          <a:prstGeom prst="rect">
            <a:avLst/>
          </a:prstGeom>
          <a:noFill/>
          <a:ln/>
        </p:spPr>
        <p:txBody>
          <a:bodyPr wrap="square" rtlCol="0" anchor="ctr"/>
          <a:lstStyle/>
          <a:p>
            <a:pPr indent="0" marL="0">
              <a:buNone/>
            </a:pPr>
            <a:r>
              <a:rPr lang="en-US" sz="1700" i="1" dirty="0">
                <a:solidFill>
                  <a:srgbClr val="C7D4E0"/>
                </a:solidFill>
                <a:latin typeface="Georgia" pitchFamily="34" charset="0"/>
                <a:ea typeface="Georgia" pitchFamily="34" charset="-122"/>
                <a:cs typeface="Georgia" pitchFamily="34" charset="-120"/>
              </a:rPr>
              <a:t>A historian returns to three questions at the end of every reading. Use them to analyze this standard.</a:t>
            </a:r>
            <a:endParaRPr lang="en-US" sz="1700" dirty="0"/>
          </a:p>
        </p:txBody>
      </p:sp>
      <p:sp>
        <p:nvSpPr>
          <p:cNvPr id="5" name="Shape 3"/>
          <p:cNvSpPr/>
          <p:nvPr/>
        </p:nvSpPr>
        <p:spPr>
          <a:xfrm>
            <a:off x="457200" y="1783080"/>
            <a:ext cx="3566160" cy="4206240"/>
          </a:xfrm>
          <a:prstGeom prst="rect">
            <a:avLst/>
          </a:prstGeom>
          <a:solidFill>
            <a:srgbClr val="FFFFFF"/>
          </a:solidFill>
          <a:ln/>
        </p:spPr>
      </p:sp>
      <p:sp>
        <p:nvSpPr>
          <p:cNvPr id="6" name="Shape 4"/>
          <p:cNvSpPr/>
          <p:nvPr/>
        </p:nvSpPr>
        <p:spPr>
          <a:xfrm>
            <a:off x="457200" y="1783080"/>
            <a:ext cx="3566160" cy="548640"/>
          </a:xfrm>
          <a:prstGeom prst="rect">
            <a:avLst/>
          </a:prstGeom>
          <a:solidFill>
            <a:srgbClr val="1B5E20"/>
          </a:solidFill>
          <a:ln/>
        </p:spPr>
      </p:sp>
      <p:sp>
        <p:nvSpPr>
          <p:cNvPr id="7" name="Text 5"/>
          <p:cNvSpPr/>
          <p:nvPr/>
        </p:nvSpPr>
        <p:spPr>
          <a:xfrm>
            <a:off x="457200" y="1783080"/>
            <a:ext cx="3566160" cy="548640"/>
          </a:xfrm>
          <a:prstGeom prst="rect">
            <a:avLst/>
          </a:prstGeom>
          <a:noFill/>
          <a:ln/>
        </p:spPr>
        <p:txBody>
          <a:bodyPr wrap="square"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Who benefited?</a:t>
            </a:r>
            <a:endParaRPr lang="en-US" sz="1600" dirty="0"/>
          </a:p>
        </p:txBody>
      </p:sp>
      <p:sp>
        <p:nvSpPr>
          <p:cNvPr id="8" name="Text 6"/>
          <p:cNvSpPr/>
          <p:nvPr/>
        </p:nvSpPr>
        <p:spPr>
          <a:xfrm>
            <a:off x="594360" y="2423160"/>
            <a:ext cx="3291840" cy="868680"/>
          </a:xfrm>
          <a:prstGeom prst="rect">
            <a:avLst/>
          </a:prstGeom>
          <a:noFill/>
          <a:ln/>
        </p:spPr>
        <p:txBody>
          <a:bodyPr wrap="square" rtlCol="0" anchor="t"/>
          <a:lstStyle/>
          <a:p>
            <a:pPr indent="0" marL="0">
              <a:buNone/>
            </a:pPr>
            <a:r>
              <a:rPr lang="en-US" sz="1100" i="1" dirty="0">
                <a:solidFill>
                  <a:srgbClr val="5C6470"/>
                </a:solidFill>
                <a:latin typeface="Calibri" pitchFamily="34" charset="0"/>
                <a:ea typeface="Calibri" pitchFamily="34" charset="-122"/>
                <a:cs typeface="Calibri" pitchFamily="34" charset="-120"/>
              </a:rPr>
              <a:t>Who gained land, wealth, power, or protection?</a:t>
            </a:r>
            <a:endParaRPr lang="en-US" sz="1100" dirty="0"/>
          </a:p>
        </p:txBody>
      </p:sp>
      <p:sp>
        <p:nvSpPr>
          <p:cNvPr id="9" name="Text 7"/>
          <p:cNvSpPr/>
          <p:nvPr/>
        </p:nvSpPr>
        <p:spPr>
          <a:xfrm>
            <a:off x="594360" y="3291840"/>
            <a:ext cx="3291840" cy="274320"/>
          </a:xfrm>
          <a:prstGeom prst="rect">
            <a:avLst/>
          </a:prstGeom>
          <a:noFill/>
          <a:ln/>
        </p:spPr>
        <p:txBody>
          <a:bodyPr wrap="square" rtlCol="0" anchor="ctr"/>
          <a:lstStyle/>
          <a:p>
            <a:pPr indent="0" marL="0">
              <a:buNone/>
            </a:pPr>
            <a:r>
              <a:rPr lang="en-US" sz="1000" b="1" dirty="0">
                <a:solidFill>
                  <a:srgbClr val="8A6D1A"/>
                </a:solidFill>
                <a:latin typeface="Trebuchet MS" pitchFamily="34" charset="0"/>
                <a:ea typeface="Trebuchet MS" pitchFamily="34" charset="-122"/>
                <a:cs typeface="Trebuchet MS" pitchFamily="34" charset="-120"/>
              </a:rPr>
              <a:t>US.16:</a:t>
            </a:r>
            <a:endParaRPr lang="en-US" sz="1000" dirty="0"/>
          </a:p>
        </p:txBody>
      </p:sp>
      <p:sp>
        <p:nvSpPr>
          <p:cNvPr id="10" name="Text 8"/>
          <p:cNvSpPr/>
          <p:nvPr/>
        </p:nvSpPr>
        <p:spPr>
          <a:xfrm>
            <a:off x="594360" y="3566160"/>
            <a:ext cx="3291840" cy="2286000"/>
          </a:xfrm>
          <a:prstGeom prst="rect">
            <a:avLst/>
          </a:prstGeom>
          <a:noFill/>
          <a:ln/>
        </p:spPr>
        <p:txBody>
          <a:bodyPr wrap="square" rtlCol="0" anchor="t"/>
          <a:lstStyle/>
          <a:p>
            <a:pPr indent="0" marL="0">
              <a:buNone/>
            </a:pPr>
            <a:r>
              <a:rPr lang="en-US" sz="1200" dirty="0">
                <a:solidFill>
                  <a:srgbClr val="1F2430"/>
                </a:solidFill>
                <a:latin typeface="Calibri" pitchFamily="34" charset="0"/>
                <a:ea typeface="Calibri" pitchFamily="34" charset="-122"/>
                <a:cs typeface="Calibri" pitchFamily="34" charset="-120"/>
              </a:rPr>
              <a:t>Consumers protected by food-safety laws; the public whose lands were conserved; workers given a fairer hearing under the Square Deal.</a:t>
            </a:r>
            <a:endParaRPr lang="en-US" sz="1200" dirty="0"/>
          </a:p>
        </p:txBody>
      </p:sp>
      <p:sp>
        <p:nvSpPr>
          <p:cNvPr id="11" name="Shape 9"/>
          <p:cNvSpPr/>
          <p:nvPr/>
        </p:nvSpPr>
        <p:spPr>
          <a:xfrm>
            <a:off x="4251960" y="1783080"/>
            <a:ext cx="3566160" cy="4206240"/>
          </a:xfrm>
          <a:prstGeom prst="rect">
            <a:avLst/>
          </a:prstGeom>
          <a:solidFill>
            <a:srgbClr val="FFFFFF"/>
          </a:solidFill>
          <a:ln/>
        </p:spPr>
      </p:sp>
      <p:sp>
        <p:nvSpPr>
          <p:cNvPr id="12" name="Shape 10"/>
          <p:cNvSpPr/>
          <p:nvPr/>
        </p:nvSpPr>
        <p:spPr>
          <a:xfrm>
            <a:off x="4251960" y="1783080"/>
            <a:ext cx="3566160" cy="548640"/>
          </a:xfrm>
          <a:prstGeom prst="rect">
            <a:avLst/>
          </a:prstGeom>
          <a:solidFill>
            <a:srgbClr val="C62828"/>
          </a:solidFill>
          <a:ln/>
        </p:spPr>
      </p:sp>
      <p:sp>
        <p:nvSpPr>
          <p:cNvPr id="13" name="Text 11"/>
          <p:cNvSpPr/>
          <p:nvPr/>
        </p:nvSpPr>
        <p:spPr>
          <a:xfrm>
            <a:off x="4251960" y="1783080"/>
            <a:ext cx="3566160" cy="548640"/>
          </a:xfrm>
          <a:prstGeom prst="rect">
            <a:avLst/>
          </a:prstGeom>
          <a:noFill/>
          <a:ln/>
        </p:spPr>
        <p:txBody>
          <a:bodyPr wrap="square"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Who bore the costs?</a:t>
            </a:r>
            <a:endParaRPr lang="en-US" sz="1600" dirty="0"/>
          </a:p>
        </p:txBody>
      </p:sp>
      <p:sp>
        <p:nvSpPr>
          <p:cNvPr id="14" name="Text 12"/>
          <p:cNvSpPr/>
          <p:nvPr/>
        </p:nvSpPr>
        <p:spPr>
          <a:xfrm>
            <a:off x="4389120" y="2423160"/>
            <a:ext cx="3291840" cy="868680"/>
          </a:xfrm>
          <a:prstGeom prst="rect">
            <a:avLst/>
          </a:prstGeom>
          <a:noFill/>
          <a:ln/>
        </p:spPr>
        <p:txBody>
          <a:bodyPr wrap="square" rtlCol="0" anchor="t"/>
          <a:lstStyle/>
          <a:p>
            <a:pPr indent="0" marL="0">
              <a:buNone/>
            </a:pPr>
            <a:r>
              <a:rPr lang="en-US" sz="1100" i="1" dirty="0">
                <a:solidFill>
                  <a:srgbClr val="5C6470"/>
                </a:solidFill>
                <a:latin typeface="Calibri" pitchFamily="34" charset="0"/>
                <a:ea typeface="Calibri" pitchFamily="34" charset="-122"/>
                <a:cs typeface="Calibri" pitchFamily="34" charset="-120"/>
              </a:rPr>
              <a:t>Who lost land, labor, freedom, or life — and who was silenced?</a:t>
            </a:r>
            <a:endParaRPr lang="en-US" sz="1100" dirty="0"/>
          </a:p>
        </p:txBody>
      </p:sp>
      <p:sp>
        <p:nvSpPr>
          <p:cNvPr id="15" name="Text 13"/>
          <p:cNvSpPr/>
          <p:nvPr/>
        </p:nvSpPr>
        <p:spPr>
          <a:xfrm>
            <a:off x="4389120" y="3291840"/>
            <a:ext cx="3291840" cy="274320"/>
          </a:xfrm>
          <a:prstGeom prst="rect">
            <a:avLst/>
          </a:prstGeom>
          <a:noFill/>
          <a:ln/>
        </p:spPr>
        <p:txBody>
          <a:bodyPr wrap="square" rtlCol="0" anchor="ctr"/>
          <a:lstStyle/>
          <a:p>
            <a:pPr indent="0" marL="0">
              <a:buNone/>
            </a:pPr>
            <a:r>
              <a:rPr lang="en-US" sz="1000" b="1" dirty="0">
                <a:solidFill>
                  <a:srgbClr val="8A6D1A"/>
                </a:solidFill>
                <a:latin typeface="Trebuchet MS" pitchFamily="34" charset="0"/>
                <a:ea typeface="Trebuchet MS" pitchFamily="34" charset="-122"/>
                <a:cs typeface="Trebuchet MS" pitchFamily="34" charset="-120"/>
              </a:rPr>
              <a:t>US.16:</a:t>
            </a:r>
            <a:endParaRPr lang="en-US" sz="1000" dirty="0"/>
          </a:p>
        </p:txBody>
      </p:sp>
      <p:sp>
        <p:nvSpPr>
          <p:cNvPr id="16" name="Text 14"/>
          <p:cNvSpPr/>
          <p:nvPr/>
        </p:nvSpPr>
        <p:spPr>
          <a:xfrm>
            <a:off x="4389120" y="3566160"/>
            <a:ext cx="3291840" cy="2286000"/>
          </a:xfrm>
          <a:prstGeom prst="rect">
            <a:avLst/>
          </a:prstGeom>
          <a:noFill/>
          <a:ln/>
        </p:spPr>
        <p:txBody>
          <a:bodyPr wrap="square" rtlCol="0" anchor="t"/>
          <a:lstStyle/>
          <a:p>
            <a:pPr indent="0" marL="0">
              <a:buNone/>
            </a:pPr>
            <a:r>
              <a:rPr lang="en-US" sz="1200" dirty="0">
                <a:solidFill>
                  <a:srgbClr val="1F2430"/>
                </a:solidFill>
                <a:latin typeface="Calibri" pitchFamily="34" charset="0"/>
                <a:ea typeface="Calibri" pitchFamily="34" charset="-122"/>
                <a:cs typeface="Calibri" pitchFamily="34" charset="-120"/>
              </a:rPr>
              <a:t>Monopoly trusts targeted by 44 antitrust suits; meatpackers and industries newly subject to federal inspection and regulation.</a:t>
            </a:r>
            <a:endParaRPr lang="en-US" sz="1200" dirty="0"/>
          </a:p>
        </p:txBody>
      </p:sp>
      <p:sp>
        <p:nvSpPr>
          <p:cNvPr id="17" name="Shape 15"/>
          <p:cNvSpPr/>
          <p:nvPr/>
        </p:nvSpPr>
        <p:spPr>
          <a:xfrm>
            <a:off x="8046720" y="1783080"/>
            <a:ext cx="3566160" cy="4206240"/>
          </a:xfrm>
          <a:prstGeom prst="rect">
            <a:avLst/>
          </a:prstGeom>
          <a:solidFill>
            <a:srgbClr val="FFFFFF"/>
          </a:solidFill>
          <a:ln/>
        </p:spPr>
      </p:sp>
      <p:sp>
        <p:nvSpPr>
          <p:cNvPr id="18" name="Shape 16"/>
          <p:cNvSpPr/>
          <p:nvPr/>
        </p:nvSpPr>
        <p:spPr>
          <a:xfrm>
            <a:off x="8046720" y="1783080"/>
            <a:ext cx="3566160" cy="548640"/>
          </a:xfrm>
          <a:prstGeom prst="rect">
            <a:avLst/>
          </a:prstGeom>
          <a:solidFill>
            <a:srgbClr val="002858"/>
          </a:solidFill>
          <a:ln/>
        </p:spPr>
      </p:sp>
      <p:sp>
        <p:nvSpPr>
          <p:cNvPr id="19" name="Text 17"/>
          <p:cNvSpPr/>
          <p:nvPr/>
        </p:nvSpPr>
        <p:spPr>
          <a:xfrm>
            <a:off x="8046720" y="1783080"/>
            <a:ext cx="3566160" cy="548640"/>
          </a:xfrm>
          <a:prstGeom prst="rect">
            <a:avLst/>
          </a:prstGeom>
          <a:noFill/>
          <a:ln/>
        </p:spPr>
        <p:txBody>
          <a:bodyPr wrap="square"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Who decided?</a:t>
            </a:r>
            <a:endParaRPr lang="en-US" sz="1600" dirty="0"/>
          </a:p>
        </p:txBody>
      </p:sp>
      <p:sp>
        <p:nvSpPr>
          <p:cNvPr id="20" name="Text 18"/>
          <p:cNvSpPr/>
          <p:nvPr/>
        </p:nvSpPr>
        <p:spPr>
          <a:xfrm>
            <a:off x="8183880" y="2423160"/>
            <a:ext cx="3291840" cy="868680"/>
          </a:xfrm>
          <a:prstGeom prst="rect">
            <a:avLst/>
          </a:prstGeom>
          <a:noFill/>
          <a:ln/>
        </p:spPr>
        <p:txBody>
          <a:bodyPr wrap="square" rtlCol="0" anchor="t"/>
          <a:lstStyle/>
          <a:p>
            <a:pPr indent="0" marL="0">
              <a:buNone/>
            </a:pPr>
            <a:r>
              <a:rPr lang="en-US" sz="1100" i="1" dirty="0">
                <a:solidFill>
                  <a:srgbClr val="5C6470"/>
                </a:solidFill>
                <a:latin typeface="Calibri" pitchFamily="34" charset="0"/>
                <a:ea typeface="Calibri" pitchFamily="34" charset="-122"/>
                <a:cs typeface="Calibri" pitchFamily="34" charset="-120"/>
              </a:rPr>
              <a:t>Which people, offices, or courts held the authority?</a:t>
            </a:r>
            <a:endParaRPr lang="en-US" sz="1100" dirty="0"/>
          </a:p>
        </p:txBody>
      </p:sp>
      <p:sp>
        <p:nvSpPr>
          <p:cNvPr id="21" name="Text 19"/>
          <p:cNvSpPr/>
          <p:nvPr/>
        </p:nvSpPr>
        <p:spPr>
          <a:xfrm>
            <a:off x="8183880" y="3291840"/>
            <a:ext cx="3291840" cy="274320"/>
          </a:xfrm>
          <a:prstGeom prst="rect">
            <a:avLst/>
          </a:prstGeom>
          <a:noFill/>
          <a:ln/>
        </p:spPr>
        <p:txBody>
          <a:bodyPr wrap="square" rtlCol="0" anchor="ctr"/>
          <a:lstStyle/>
          <a:p>
            <a:pPr indent="0" marL="0">
              <a:buNone/>
            </a:pPr>
            <a:r>
              <a:rPr lang="en-US" sz="1000" b="1" dirty="0">
                <a:solidFill>
                  <a:srgbClr val="8A6D1A"/>
                </a:solidFill>
                <a:latin typeface="Trebuchet MS" pitchFamily="34" charset="0"/>
                <a:ea typeface="Trebuchet MS" pitchFamily="34" charset="-122"/>
                <a:cs typeface="Trebuchet MS" pitchFamily="34" charset="-120"/>
              </a:rPr>
              <a:t>US.16:</a:t>
            </a:r>
            <a:endParaRPr lang="en-US" sz="1000" dirty="0"/>
          </a:p>
        </p:txBody>
      </p:sp>
      <p:sp>
        <p:nvSpPr>
          <p:cNvPr id="22" name="Text 20"/>
          <p:cNvSpPr/>
          <p:nvPr/>
        </p:nvSpPr>
        <p:spPr>
          <a:xfrm>
            <a:off x="8183880" y="3566160"/>
            <a:ext cx="3291840" cy="2286000"/>
          </a:xfrm>
          <a:prstGeom prst="rect">
            <a:avLst/>
          </a:prstGeom>
          <a:noFill/>
          <a:ln/>
        </p:spPr>
        <p:txBody>
          <a:bodyPr wrap="square" rtlCol="0" anchor="t"/>
          <a:lstStyle/>
          <a:p>
            <a:pPr indent="0" marL="0">
              <a:buNone/>
            </a:pPr>
            <a:r>
              <a:rPr lang="en-US" sz="1200" dirty="0">
                <a:solidFill>
                  <a:srgbClr val="1F2430"/>
                </a:solidFill>
                <a:latin typeface="Calibri" pitchFamily="34" charset="0"/>
                <a:ea typeface="Calibri" pitchFamily="34" charset="-122"/>
                <a:cs typeface="Calibri" pitchFamily="34" charset="-120"/>
              </a:rPr>
              <a:t>President Theodore Roosevelt and his administration, using executive power, antitrust suits, and Congress to enact reform.</a:t>
            </a:r>
            <a:endParaRPr lang="en-US" sz="1200" dirty="0"/>
          </a:p>
        </p:txBody>
      </p:sp>
      <p:sp>
        <p:nvSpPr>
          <p:cNvPr id="23" name="Text 21"/>
          <p:cNvSpPr/>
          <p:nvPr/>
        </p:nvSpPr>
        <p:spPr>
          <a:xfrm>
            <a:off x="457200" y="6126480"/>
            <a:ext cx="10972800" cy="274320"/>
          </a:xfrm>
          <a:prstGeom prst="rect">
            <a:avLst/>
          </a:prstGeom>
          <a:noFill/>
          <a:ln/>
        </p:spPr>
        <p:txBody>
          <a:bodyPr wrap="square" rtlCol="0" anchor="ctr"/>
          <a:lstStyle/>
          <a:p>
            <a:pPr indent="0" marL="0">
              <a:buNone/>
            </a:pPr>
            <a:r>
              <a:rPr lang="en-US" sz="1000" i="1" dirty="0">
                <a:solidFill>
                  <a:srgbClr val="C7D4E0"/>
                </a:solidFill>
                <a:latin typeface="Trebuchet MS" pitchFamily="34" charset="0"/>
                <a:ea typeface="Trebuchet MS" pitchFamily="34" charset="-122"/>
                <a:cs typeface="Trebuchet MS" pitchFamily="34" charset="-120"/>
              </a:rPr>
              <a:t>Anchor: Roosevelt, Square Deal Speech, 1903 (Library of Congress)</a:t>
            </a:r>
            <a:endParaRPr lang="en-US" sz="1000" dirty="0"/>
          </a:p>
        </p:txBody>
      </p:sp>
      <p:sp>
        <p:nvSpPr>
          <p:cNvPr id="24" name="Text 22"/>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5" name="Text 23"/>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59</a:t>
            </a:r>
            <a:endParaRPr lang="en-US" sz="9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1A2332"/>
        </a:solidFill>
      </p:bgPr>
    </p:bg>
    <p:spTree>
      <p:nvGrpSpPr>
        <p:cNvPr id="1" name=""/>
        <p:cNvGrpSpPr/>
        <p:nvPr/>
      </p:nvGrpSpPr>
      <p:grpSpPr>
        <a:xfrm>
          <a:off x="0" y="0"/>
          <a:ext cx="0" cy="0"/>
          <a:chOff x="0" y="0"/>
          <a:chExt cx="0" cy="0"/>
        </a:xfrm>
      </p:grpSpPr>
      <p:sp>
        <p:nvSpPr>
          <p:cNvPr id="2" name="Shape 0"/>
          <p:cNvSpPr/>
          <p:nvPr/>
        </p:nvSpPr>
        <p:spPr>
          <a:xfrm>
            <a:off x="0" y="2331720"/>
            <a:ext cx="12191695" cy="73152"/>
          </a:xfrm>
          <a:prstGeom prst="rect">
            <a:avLst/>
          </a:prstGeom>
          <a:solidFill>
            <a:srgbClr val="C9A84C"/>
          </a:solidFill>
          <a:ln/>
        </p:spPr>
        <p:txBody>
          <a:bodyPr/>
          <a:p/>
        </p:txBody>
      </p:sp>
      <p:sp>
        <p:nvSpPr>
          <p:cNvPr id="3" name="Text 1"/>
          <p:cNvSpPr/>
          <p:nvPr/>
        </p:nvSpPr>
        <p:spPr>
          <a:xfrm>
            <a:off x="457200" y="548640"/>
            <a:ext cx="2926080" cy="1188720"/>
          </a:xfrm>
          <a:prstGeom prst="rect">
            <a:avLst/>
          </a:prstGeom>
          <a:noFill/>
          <a:ln/>
        </p:spPr>
        <p:txBody>
          <a:bodyPr wrap="square" rtlCol="0" anchor="ctr"/>
          <a:lstStyle/>
          <a:p>
            <a:pPr indent="0" marL="0">
              <a:buNone/>
            </a:pPr>
            <a:r>
              <a:rPr lang="en-US" sz="6000" b="1" dirty="0">
                <a:solidFill>
                  <a:srgbClr val="C9A84C"/>
                </a:solidFill>
                <a:latin typeface="Georgia" pitchFamily="34" charset="0"/>
                <a:ea typeface="Georgia" pitchFamily="34" charset="-122"/>
                <a:cs typeface="Georgia" pitchFamily="34" charset="-120"/>
              </a:rPr>
              <a:t>US.17</a:t>
            </a:r>
            <a:endParaRPr lang="en-US" sz="6000" dirty="0"/>
          </a:p>
        </p:txBody>
      </p:sp>
      <p:sp>
        <p:nvSpPr>
          <p:cNvPr id="4" name="Text 2"/>
          <p:cNvSpPr/>
          <p:nvPr/>
        </p:nvSpPr>
        <p:spPr>
          <a:xfrm>
            <a:off x="3474720" y="548640"/>
            <a:ext cx="8229600" cy="1188720"/>
          </a:xfrm>
          <a:prstGeom prst="rect">
            <a:avLst/>
          </a:prstGeom>
          <a:noFill/>
          <a:ln/>
        </p:spPr>
        <p:txBody>
          <a:bodyPr wrap="square" rtlCol="0" anchor="ctr"/>
          <a:lstStyle/>
          <a:p>
            <a:pPr indent="0" marL="0">
              <a:buNone/>
            </a:pPr>
            <a:r>
              <a:rPr lang="en-US" sz="2600" b="1" dirty="0">
                <a:solidFill>
                  <a:srgbClr val="FFFFFF"/>
                </a:solidFill>
                <a:latin typeface="Georgia" pitchFamily="34" charset="0"/>
                <a:ea typeface="Georgia" pitchFamily="34" charset="-122"/>
                <a:cs typeface="Georgia" pitchFamily="34" charset="-120"/>
              </a:rPr>
              <a:t>Woodrow Wilson's Progressive Achievements</a:t>
            </a:r>
            <a:endParaRPr lang="en-US" sz="2600" dirty="0"/>
          </a:p>
        </p:txBody>
      </p:sp>
      <p:sp>
        <p:nvSpPr>
          <p:cNvPr id="5" name="Text 3"/>
          <p:cNvSpPr/>
          <p:nvPr/>
        </p:nvSpPr>
        <p:spPr>
          <a:xfrm>
            <a:off x="457200" y="2651760"/>
            <a:ext cx="11247120" cy="274320"/>
          </a:xfrm>
          <a:prstGeom prst="rect">
            <a:avLst/>
          </a:prstGeom>
          <a:noFill/>
          <a:ln/>
        </p:spPr>
        <p:txBody>
          <a:bodyPr wrap="square" rtlCol="0" anchor="ctr"/>
          <a:lstStyle/>
          <a:p>
            <a:pPr indent="0" marL="0">
              <a:buNone/>
            </a:pPr>
            <a:r>
              <a:rPr lang="en-US" sz="1200" b="1" spc="200" kern="0" dirty="0">
                <a:solidFill>
                  <a:srgbClr val="C9A84C"/>
                </a:solidFill>
                <a:latin typeface="Trebuchet MS" pitchFamily="34" charset="0"/>
                <a:ea typeface="Trebuchet MS" pitchFamily="34" charset="-122"/>
                <a:cs typeface="Trebuchet MS" pitchFamily="34" charset="-120"/>
              </a:rPr>
              <a:t>TN STANDARD</a:t>
            </a:r>
            <a:endParaRPr lang="en-US" sz="1200" dirty="0"/>
          </a:p>
        </p:txBody>
      </p:sp>
      <p:sp>
        <p:nvSpPr>
          <p:cNvPr id="6" name="Text 4"/>
          <p:cNvSpPr/>
          <p:nvPr/>
        </p:nvSpPr>
        <p:spPr>
          <a:xfrm>
            <a:off x="457200" y="2999232"/>
            <a:ext cx="11247120" cy="1691640"/>
          </a:xfrm>
          <a:prstGeom prst="rect">
            <a:avLst/>
          </a:prstGeom>
          <a:noFill/>
          <a:ln/>
        </p:spPr>
        <p:txBody>
          <a:bodyPr wrap="square" rtlCol="0" anchor="t"/>
          <a:lstStyle/>
          <a:p>
            <a:pPr indent="0" marL="0">
              <a:lnSpc>
                <a:spcPct val="105000"/>
              </a:lnSpc>
              <a:buNone/>
            </a:pPr>
            <a:r>
              <a:rPr lang="en-US" sz="1600" dirty="0">
                <a:solidFill>
                  <a:srgbClr val="C7D4E0"/>
                </a:solidFill>
                <a:latin typeface="Calibri" pitchFamily="34" charset="0"/>
                <a:ea typeface="Calibri" pitchFamily="34" charset="-122"/>
                <a:cs typeface="Calibri" pitchFamily="34" charset="-120"/>
              </a:rPr>
              <a:t>US.17 – Analyze the significant progressive achievements during President Woodrow Wilson's administration, including: the New Freedom, the Federal Reserve Act, and the creation of the National Park Service.</a:t>
            </a:r>
            <a:endParaRPr lang="en-US" sz="1600" dirty="0"/>
          </a:p>
        </p:txBody>
      </p:sp>
      <p:sp>
        <p:nvSpPr>
          <p:cNvPr id="7" name="Shape 5"/>
          <p:cNvSpPr/>
          <p:nvPr/>
        </p:nvSpPr>
        <p:spPr>
          <a:xfrm>
            <a:off x="457200" y="4892040"/>
            <a:ext cx="11247120" cy="1234440"/>
          </a:xfrm>
          <a:prstGeom prst="rect">
            <a:avLst/>
          </a:prstGeom>
          <a:solidFill>
            <a:srgbClr val="C9A84C"/>
          </a:solidFill>
          <a:ln/>
        </p:spPr>
      </p:sp>
      <p:sp>
        <p:nvSpPr>
          <p:cNvPr id="8" name="Text 6"/>
          <p:cNvSpPr/>
          <p:nvPr/>
        </p:nvSpPr>
        <p:spPr>
          <a:xfrm>
            <a:off x="640080" y="5029200"/>
            <a:ext cx="10972800" cy="274320"/>
          </a:xfrm>
          <a:prstGeom prst="rect">
            <a:avLst/>
          </a:prstGeom>
          <a:noFill/>
          <a:ln/>
        </p:spPr>
        <p:txBody>
          <a:bodyPr wrap="square" rtlCol="0" anchor="ctr"/>
          <a:lstStyle/>
          <a:p>
            <a:pPr indent="0" marL="0">
              <a:buNone/>
            </a:pPr>
            <a:r>
              <a:rPr lang="en-US" sz="1200" b="1" spc="200" kern="0" dirty="0">
                <a:solidFill>
                  <a:srgbClr val="1A2332"/>
                </a:solidFill>
                <a:latin typeface="Trebuchet MS" pitchFamily="34" charset="0"/>
                <a:ea typeface="Trebuchet MS" pitchFamily="34" charset="-122"/>
                <a:cs typeface="Trebuchet MS" pitchFamily="34" charset="-120"/>
              </a:rPr>
              <a:t>I CAN</a:t>
            </a:r>
            <a:endParaRPr lang="en-US" sz="1200" dirty="0"/>
          </a:p>
        </p:txBody>
      </p:sp>
      <p:sp>
        <p:nvSpPr>
          <p:cNvPr id="9" name="Text 7"/>
          <p:cNvSpPr/>
          <p:nvPr/>
        </p:nvSpPr>
        <p:spPr>
          <a:xfrm>
            <a:off x="640080" y="5303520"/>
            <a:ext cx="10881360" cy="749808"/>
          </a:xfrm>
          <a:prstGeom prst="rect">
            <a:avLst/>
          </a:prstGeom>
          <a:noFill/>
          <a:ln/>
        </p:spPr>
        <p:txBody>
          <a:bodyPr wrap="square" rtlCol="0" anchor="t"/>
          <a:lstStyle/>
          <a:p>
            <a:pPr indent="0" marL="0">
              <a:buNone/>
            </a:pPr>
            <a:r>
              <a:rPr lang="en-US" sz="1400" b="1" dirty="0">
                <a:solidFill>
                  <a:srgbClr val="1A2332"/>
                </a:solidFill>
                <a:latin typeface="Calibri" pitchFamily="34" charset="0"/>
                <a:ea typeface="Calibri" pitchFamily="34" charset="-122"/>
                <a:cs typeface="Calibri" pitchFamily="34" charset="-120"/>
              </a:rPr>
              <a:t>I can analyze the significant progressive achievements during President Woodrow Wilson's administration, including the New Freedom, the Federal Reserve Act, and the creation of the National Park Service.</a:t>
            </a:r>
            <a:endParaRPr lang="en-US" sz="1400" dirty="0"/>
          </a:p>
        </p:txBody>
      </p:sp>
      <p:sp>
        <p:nvSpPr>
          <p:cNvPr id="10" name="Text 8"/>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1" name="Text 9"/>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60</a:t>
            </a:r>
            <a:endParaRPr lang="en-US" sz="9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737360"/>
          </a:xfrm>
          <a:prstGeom prst="rect">
            <a:avLst/>
          </a:prstGeom>
          <a:solidFill>
            <a:srgbClr val="1A2332"/>
          </a:solidFill>
          <a:ln/>
        </p:spPr>
        <p:txBody>
          <a:bodyPr/>
          <a:p/>
        </p:txBody>
      </p:sp>
      <p:sp>
        <p:nvSpPr>
          <p:cNvPr id="3" name="Shape 1"/>
          <p:cNvSpPr/>
          <p:nvPr/>
        </p:nvSpPr>
        <p:spPr>
          <a:xfrm>
            <a:off x="0" y="1737360"/>
            <a:ext cx="12191695" cy="54864"/>
          </a:xfrm>
          <a:prstGeom prst="rect">
            <a:avLst/>
          </a:prstGeom>
          <a:solidFill>
            <a:srgbClr val="C9A84C"/>
          </a:solidFill>
          <a:ln/>
        </p:spPr>
        <p:txBody>
          <a:bodyPr/>
          <a:p/>
        </p:txBody>
      </p:sp>
      <p:sp>
        <p:nvSpPr>
          <p:cNvPr id="4" name="Text 2"/>
          <p:cNvSpPr/>
          <p:nvPr/>
        </p:nvSpPr>
        <p:spPr>
          <a:xfrm>
            <a:off x="457200" y="320040"/>
            <a:ext cx="3291840" cy="365760"/>
          </a:xfrm>
          <a:prstGeom prst="rect">
            <a:avLst/>
          </a:prstGeom>
          <a:solidFill>
            <a:srgbClr val="00285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DIRECT INSTRUCTION</a:t>
            </a:r>
            <a:endParaRPr lang="en-US" sz="1100" dirty="0"/>
          </a:p>
        </p:txBody>
      </p:sp>
      <p:sp>
        <p:nvSpPr>
          <p:cNvPr id="5" name="Text 3"/>
          <p:cNvSpPr/>
          <p:nvPr/>
        </p:nvSpPr>
        <p:spPr>
          <a:xfrm>
            <a:off x="3886200" y="32004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US.17</a:t>
            </a:r>
            <a:endParaRPr lang="en-US" sz="1200" dirty="0"/>
          </a:p>
        </p:txBody>
      </p:sp>
      <p:sp>
        <p:nvSpPr>
          <p:cNvPr id="6" name="Text 4"/>
          <p:cNvSpPr/>
          <p:nvPr/>
        </p:nvSpPr>
        <p:spPr>
          <a:xfrm>
            <a:off x="457200" y="777240"/>
            <a:ext cx="11247120" cy="868680"/>
          </a:xfrm>
          <a:prstGeom prst="rect">
            <a:avLst/>
          </a:prstGeom>
          <a:noFill/>
          <a:ln/>
        </p:spPr>
        <p:txBody>
          <a:bodyPr wrap="square" rtlCol="0" anchor="ctr"/>
          <a:lstStyle/>
          <a:p>
            <a:pPr algn="l" indent="0" marL="0">
              <a:buNone/>
            </a:pPr>
            <a:r>
              <a:rPr lang="en-US" sz="2300" b="1" dirty="0">
                <a:solidFill>
                  <a:srgbClr val="FFFFFF"/>
                </a:solidFill>
                <a:latin typeface="Georgia" pitchFamily="34" charset="0"/>
                <a:ea typeface="Georgia" pitchFamily="34" charset="-122"/>
                <a:cs typeface="Georgia" pitchFamily="34" charset="-120"/>
              </a:rPr>
              <a:t>Wilson won the 1912 three-way race and pushed his “New Freedom” — attacking trusts, tariffs, and high finance.</a:t>
            </a:r>
            <a:endParaRPr lang="en-US" sz="2300" dirty="0"/>
          </a:p>
        </p:txBody>
      </p:sp>
      <p:pic>
        <p:nvPicPr>
          <p:cNvPr id="7" name="Image 0" descr="hh-web/public/images/textbook/unit-2/wilson-woodrow-portrait-1919.jpg">    </p:cNvPr>
          <p:cNvPicPr>
            <a:picLocks noChangeAspect="1"/>
          </p:cNvPicPr>
          <p:nvPr/>
        </p:nvPicPr>
        <p:blipFill>
          <a:blip r:embed="rId1"/>
          <a:srcRect l="0" r="0" t="0" b="0"/>
          <a:stretch/>
        </p:blipFill>
        <p:spPr>
          <a:xfrm>
            <a:off x="2743200" y="2057400"/>
            <a:ext cx="6702552" cy="4160520"/>
          </a:xfrm>
          <a:prstGeom prst="rect">
            <a:avLst/>
          </a:prstGeom>
        </p:spPr>
      </p:pic>
      <p:sp>
        <p:nvSpPr>
          <p:cNvPr id="8" name="Text 5"/>
          <p:cNvSpPr/>
          <p:nvPr/>
        </p:nvSpPr>
        <p:spPr>
          <a:xfrm>
            <a:off x="2743200" y="2103120"/>
            <a:ext cx="1188720" cy="292608"/>
          </a:xfrm>
          <a:prstGeom prst="rect">
            <a:avLst/>
          </a:prstGeom>
          <a:solidFill>
            <a:srgbClr val="F9A825"/>
          </a:solidFill>
          <a:ln/>
        </p:spPr>
        <p:txBody>
          <a:bodyPr wrap="square" rtlCol="0" anchor="ctr"/>
          <a:lstStyle/>
          <a:p>
            <a:pPr algn="ctr" indent="0" marL="0">
              <a:buNone/>
            </a:pPr>
            <a:r>
              <a:rPr lang="en-US" sz="900" b="1" spc="100" kern="0" dirty="0">
                <a:solidFill>
                  <a:srgbClr val="1A2332"/>
                </a:solidFill>
                <a:latin typeface="Trebuchet MS" pitchFamily="34" charset="0"/>
                <a:ea typeface="Trebuchet MS" pitchFamily="34" charset="-122"/>
                <a:cs typeface="Trebuchet MS" pitchFamily="34" charset="-120"/>
              </a:rPr>
              <a:t>ZOOM IN</a:t>
            </a:r>
            <a:endParaRPr lang="en-US" sz="900" dirty="0"/>
          </a:p>
        </p:txBody>
      </p:sp>
      <p:sp>
        <p:nvSpPr>
          <p:cNvPr id="9" name="Text 6"/>
          <p:cNvSpPr/>
          <p:nvPr/>
        </p:nvSpPr>
        <p:spPr>
          <a:xfrm>
            <a:off x="457200" y="6263640"/>
            <a:ext cx="8229600" cy="274320"/>
          </a:xfrm>
          <a:prstGeom prst="rect">
            <a:avLst/>
          </a:prstGeom>
          <a:noFill/>
          <a:ln/>
        </p:spPr>
        <p:txBody>
          <a:bodyPr wrap="square" rtlCol="0" anchor="ctr"/>
          <a:lstStyle/>
          <a:p>
            <a:pPr indent="0" marL="0">
              <a:buNone/>
            </a:pPr>
            <a:r>
              <a:rPr lang="en-US" sz="1000" i="1" dirty="0">
                <a:solidFill>
                  <a:srgbClr val="5C6470"/>
                </a:solidFill>
                <a:latin typeface="Trebuchet MS" pitchFamily="34" charset="0"/>
                <a:ea typeface="Trebuchet MS" pitchFamily="34" charset="-122"/>
                <a:cs typeface="Trebuchet MS" pitchFamily="34" charset="-120"/>
              </a:rPr>
              <a:t>US.17 · The New Freedom Platform</a:t>
            </a:r>
            <a:endParaRPr lang="en-US" sz="1000" dirty="0"/>
          </a:p>
        </p:txBody>
      </p:sp>
      <p:sp>
        <p:nvSpPr>
          <p:cNvPr id="10" name="Text 7"/>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1" name="Text 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61</a:t>
            </a:r>
            <a:endParaRPr lang="en-US" sz="9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737360"/>
          </a:xfrm>
          <a:prstGeom prst="rect">
            <a:avLst/>
          </a:prstGeom>
          <a:solidFill>
            <a:srgbClr val="1A2332"/>
          </a:solidFill>
          <a:ln/>
        </p:spPr>
        <p:txBody>
          <a:bodyPr/>
          <a:p/>
        </p:txBody>
      </p:sp>
      <p:sp>
        <p:nvSpPr>
          <p:cNvPr id="3" name="Shape 1"/>
          <p:cNvSpPr/>
          <p:nvPr/>
        </p:nvSpPr>
        <p:spPr>
          <a:xfrm>
            <a:off x="0" y="1737360"/>
            <a:ext cx="12191695" cy="54864"/>
          </a:xfrm>
          <a:prstGeom prst="rect">
            <a:avLst/>
          </a:prstGeom>
          <a:solidFill>
            <a:srgbClr val="C9A84C"/>
          </a:solidFill>
          <a:ln/>
        </p:spPr>
        <p:txBody>
          <a:bodyPr/>
          <a:p/>
        </p:txBody>
      </p:sp>
      <p:sp>
        <p:nvSpPr>
          <p:cNvPr id="4" name="Text 2"/>
          <p:cNvSpPr/>
          <p:nvPr/>
        </p:nvSpPr>
        <p:spPr>
          <a:xfrm>
            <a:off x="457200" y="320040"/>
            <a:ext cx="3291840" cy="365760"/>
          </a:xfrm>
          <a:prstGeom prst="rect">
            <a:avLst/>
          </a:prstGeom>
          <a:solidFill>
            <a:srgbClr val="00285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DIRECT INSTRUCTION</a:t>
            </a:r>
            <a:endParaRPr lang="en-US" sz="1100" dirty="0"/>
          </a:p>
        </p:txBody>
      </p:sp>
      <p:sp>
        <p:nvSpPr>
          <p:cNvPr id="5" name="Text 3"/>
          <p:cNvSpPr/>
          <p:nvPr/>
        </p:nvSpPr>
        <p:spPr>
          <a:xfrm>
            <a:off x="3886200" y="32004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US.17</a:t>
            </a:r>
            <a:endParaRPr lang="en-US" sz="1200" dirty="0"/>
          </a:p>
        </p:txBody>
      </p:sp>
      <p:sp>
        <p:nvSpPr>
          <p:cNvPr id="6" name="Text 4"/>
          <p:cNvSpPr/>
          <p:nvPr/>
        </p:nvSpPr>
        <p:spPr>
          <a:xfrm>
            <a:off x="457200" y="777240"/>
            <a:ext cx="11247120" cy="868680"/>
          </a:xfrm>
          <a:prstGeom prst="rect">
            <a:avLst/>
          </a:prstGeom>
          <a:noFill/>
          <a:ln/>
        </p:spPr>
        <p:txBody>
          <a:bodyPr wrap="square" rtlCol="0" anchor="ctr"/>
          <a:lstStyle/>
          <a:p>
            <a:pPr algn="l" indent="0" marL="0">
              <a:buNone/>
            </a:pPr>
            <a:r>
              <a:rPr lang="en-US" sz="2300" b="1" dirty="0">
                <a:solidFill>
                  <a:srgbClr val="FFFFFF"/>
                </a:solidFill>
                <a:latin typeface="Georgia" pitchFamily="34" charset="0"/>
                <a:ea typeface="Georgia" pitchFamily="34" charset="-122"/>
                <a:cs typeface="Georgia" pitchFamily="34" charset="-120"/>
              </a:rPr>
              <a:t>The Federal Reserve Act (1913) created a central banking system to stabilize money and prevent panics like 1907.</a:t>
            </a:r>
            <a:endParaRPr lang="en-US" sz="2300" dirty="0"/>
          </a:p>
        </p:txBody>
      </p:sp>
      <p:pic>
        <p:nvPicPr>
          <p:cNvPr id="7" name="Image 0" descr="hh-web/public/images/textbook/unit-2/wilson-woodrow-portrait-1913.jpg">    </p:cNvPr>
          <p:cNvPicPr>
            <a:picLocks noChangeAspect="1"/>
          </p:cNvPicPr>
          <p:nvPr/>
        </p:nvPicPr>
        <p:blipFill>
          <a:blip r:embed="rId1"/>
          <a:srcRect l="0" r="0" t="0" b="0"/>
          <a:stretch/>
        </p:blipFill>
        <p:spPr>
          <a:xfrm>
            <a:off x="2743200" y="2057400"/>
            <a:ext cx="6702552" cy="4160520"/>
          </a:xfrm>
          <a:prstGeom prst="rect">
            <a:avLst/>
          </a:prstGeom>
        </p:spPr>
      </p:pic>
      <p:sp>
        <p:nvSpPr>
          <p:cNvPr id="8" name="Text 5"/>
          <p:cNvSpPr/>
          <p:nvPr/>
        </p:nvSpPr>
        <p:spPr>
          <a:xfrm>
            <a:off x="2743200" y="2103120"/>
            <a:ext cx="1188720" cy="292608"/>
          </a:xfrm>
          <a:prstGeom prst="rect">
            <a:avLst/>
          </a:prstGeom>
          <a:solidFill>
            <a:srgbClr val="F9A825"/>
          </a:solidFill>
          <a:ln/>
        </p:spPr>
        <p:txBody>
          <a:bodyPr wrap="square" rtlCol="0" anchor="ctr"/>
          <a:lstStyle/>
          <a:p>
            <a:pPr algn="ctr" indent="0" marL="0">
              <a:buNone/>
            </a:pPr>
            <a:r>
              <a:rPr lang="en-US" sz="900" b="1" spc="100" kern="0" dirty="0">
                <a:solidFill>
                  <a:srgbClr val="1A2332"/>
                </a:solidFill>
                <a:latin typeface="Trebuchet MS" pitchFamily="34" charset="0"/>
                <a:ea typeface="Trebuchet MS" pitchFamily="34" charset="-122"/>
                <a:cs typeface="Trebuchet MS" pitchFamily="34" charset="-120"/>
              </a:rPr>
              <a:t>ZOOM IN</a:t>
            </a:r>
            <a:endParaRPr lang="en-US" sz="900" dirty="0"/>
          </a:p>
        </p:txBody>
      </p:sp>
      <p:sp>
        <p:nvSpPr>
          <p:cNvPr id="9" name="Text 6"/>
          <p:cNvSpPr/>
          <p:nvPr/>
        </p:nvSpPr>
        <p:spPr>
          <a:xfrm>
            <a:off x="457200" y="6263640"/>
            <a:ext cx="8229600" cy="274320"/>
          </a:xfrm>
          <a:prstGeom prst="rect">
            <a:avLst/>
          </a:prstGeom>
          <a:noFill/>
          <a:ln/>
        </p:spPr>
        <p:txBody>
          <a:bodyPr wrap="square" rtlCol="0" anchor="ctr"/>
          <a:lstStyle/>
          <a:p>
            <a:pPr indent="0" marL="0">
              <a:buNone/>
            </a:pPr>
            <a:r>
              <a:rPr lang="en-US" sz="1000" i="1" dirty="0">
                <a:solidFill>
                  <a:srgbClr val="5C6470"/>
                </a:solidFill>
                <a:latin typeface="Trebuchet MS" pitchFamily="34" charset="0"/>
                <a:ea typeface="Trebuchet MS" pitchFamily="34" charset="-122"/>
                <a:cs typeface="Trebuchet MS" pitchFamily="34" charset="-120"/>
              </a:rPr>
              <a:t>US.17 · Federal Reserve Act</a:t>
            </a:r>
            <a:endParaRPr lang="en-US" sz="1000" dirty="0"/>
          </a:p>
        </p:txBody>
      </p:sp>
      <p:sp>
        <p:nvSpPr>
          <p:cNvPr id="10" name="Text 7"/>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1" name="Text 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62</a:t>
            </a:r>
            <a:endParaRPr lang="en-US" sz="9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737360"/>
          </a:xfrm>
          <a:prstGeom prst="rect">
            <a:avLst/>
          </a:prstGeom>
          <a:solidFill>
            <a:srgbClr val="1A2332"/>
          </a:solidFill>
          <a:ln/>
        </p:spPr>
        <p:txBody>
          <a:bodyPr/>
          <a:p/>
        </p:txBody>
      </p:sp>
      <p:sp>
        <p:nvSpPr>
          <p:cNvPr id="3" name="Shape 1"/>
          <p:cNvSpPr/>
          <p:nvPr/>
        </p:nvSpPr>
        <p:spPr>
          <a:xfrm>
            <a:off x="0" y="1737360"/>
            <a:ext cx="12191695" cy="54864"/>
          </a:xfrm>
          <a:prstGeom prst="rect">
            <a:avLst/>
          </a:prstGeom>
          <a:solidFill>
            <a:srgbClr val="C9A84C"/>
          </a:solidFill>
          <a:ln/>
        </p:spPr>
        <p:txBody>
          <a:bodyPr/>
          <a:p/>
        </p:txBody>
      </p:sp>
      <p:sp>
        <p:nvSpPr>
          <p:cNvPr id="4" name="Text 2"/>
          <p:cNvSpPr/>
          <p:nvPr/>
        </p:nvSpPr>
        <p:spPr>
          <a:xfrm>
            <a:off x="457200" y="320040"/>
            <a:ext cx="3291840" cy="365760"/>
          </a:xfrm>
          <a:prstGeom prst="rect">
            <a:avLst/>
          </a:prstGeom>
          <a:solidFill>
            <a:srgbClr val="00285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DIRECT INSTRUCTION</a:t>
            </a:r>
            <a:endParaRPr lang="en-US" sz="1100" dirty="0"/>
          </a:p>
        </p:txBody>
      </p:sp>
      <p:sp>
        <p:nvSpPr>
          <p:cNvPr id="5" name="Text 3"/>
          <p:cNvSpPr/>
          <p:nvPr/>
        </p:nvSpPr>
        <p:spPr>
          <a:xfrm>
            <a:off x="3886200" y="32004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US.17</a:t>
            </a:r>
            <a:endParaRPr lang="en-US" sz="1200" dirty="0"/>
          </a:p>
        </p:txBody>
      </p:sp>
      <p:sp>
        <p:nvSpPr>
          <p:cNvPr id="6" name="Text 4"/>
          <p:cNvSpPr/>
          <p:nvPr/>
        </p:nvSpPr>
        <p:spPr>
          <a:xfrm>
            <a:off x="457200" y="777240"/>
            <a:ext cx="11247120" cy="868680"/>
          </a:xfrm>
          <a:prstGeom prst="rect">
            <a:avLst/>
          </a:prstGeom>
          <a:noFill/>
          <a:ln/>
        </p:spPr>
        <p:txBody>
          <a:bodyPr wrap="square" rtlCol="0" anchor="ctr"/>
          <a:lstStyle/>
          <a:p>
            <a:pPr algn="l" indent="0" marL="0">
              <a:buNone/>
            </a:pPr>
            <a:r>
              <a:rPr lang="en-US" sz="2300" b="1" dirty="0">
                <a:solidFill>
                  <a:srgbClr val="FFFFFF"/>
                </a:solidFill>
                <a:latin typeface="Georgia" pitchFamily="34" charset="0"/>
                <a:ea typeface="Georgia" pitchFamily="34" charset="-122"/>
                <a:cs typeface="Georgia" pitchFamily="34" charset="-120"/>
              </a:rPr>
              <a:t>The National Park Service (1916) unified management of the nation’s parks under one federal agency.</a:t>
            </a:r>
            <a:endParaRPr lang="en-US" sz="2300" dirty="0"/>
          </a:p>
        </p:txBody>
      </p:sp>
      <p:pic>
        <p:nvPicPr>
          <p:cNvPr id="7" name="Image 0" descr="hh-web/public/images/textbook/unit-2/roosevelt-muir-glacier-point-1903.jpg">    </p:cNvPr>
          <p:cNvPicPr>
            <a:picLocks noChangeAspect="1"/>
          </p:cNvPicPr>
          <p:nvPr/>
        </p:nvPicPr>
        <p:blipFill>
          <a:blip r:embed="rId1"/>
          <a:srcRect l="0" r="0" t="0" b="0"/>
          <a:stretch/>
        </p:blipFill>
        <p:spPr>
          <a:xfrm>
            <a:off x="2743200" y="2057400"/>
            <a:ext cx="6702552" cy="4160520"/>
          </a:xfrm>
          <a:prstGeom prst="rect">
            <a:avLst/>
          </a:prstGeom>
        </p:spPr>
      </p:pic>
      <p:sp>
        <p:nvSpPr>
          <p:cNvPr id="8" name="Text 5"/>
          <p:cNvSpPr/>
          <p:nvPr/>
        </p:nvSpPr>
        <p:spPr>
          <a:xfrm>
            <a:off x="2743200" y="2103120"/>
            <a:ext cx="1188720" cy="292608"/>
          </a:xfrm>
          <a:prstGeom prst="rect">
            <a:avLst/>
          </a:prstGeom>
          <a:solidFill>
            <a:srgbClr val="F9A825"/>
          </a:solidFill>
          <a:ln/>
        </p:spPr>
        <p:txBody>
          <a:bodyPr wrap="square" rtlCol="0" anchor="ctr"/>
          <a:lstStyle/>
          <a:p>
            <a:pPr algn="ctr" indent="0" marL="0">
              <a:buNone/>
            </a:pPr>
            <a:r>
              <a:rPr lang="en-US" sz="900" b="1" spc="100" kern="0" dirty="0">
                <a:solidFill>
                  <a:srgbClr val="1A2332"/>
                </a:solidFill>
                <a:latin typeface="Trebuchet MS" pitchFamily="34" charset="0"/>
                <a:ea typeface="Trebuchet MS" pitchFamily="34" charset="-122"/>
                <a:cs typeface="Trebuchet MS" pitchFamily="34" charset="-120"/>
              </a:rPr>
              <a:t>ZOOM IN</a:t>
            </a:r>
            <a:endParaRPr lang="en-US" sz="900" dirty="0"/>
          </a:p>
        </p:txBody>
      </p:sp>
      <p:sp>
        <p:nvSpPr>
          <p:cNvPr id="9" name="Text 6"/>
          <p:cNvSpPr/>
          <p:nvPr/>
        </p:nvSpPr>
        <p:spPr>
          <a:xfrm>
            <a:off x="457200" y="6263640"/>
            <a:ext cx="8229600" cy="274320"/>
          </a:xfrm>
          <a:prstGeom prst="rect">
            <a:avLst/>
          </a:prstGeom>
          <a:noFill/>
          <a:ln/>
        </p:spPr>
        <p:txBody>
          <a:bodyPr wrap="square" rtlCol="0" anchor="ctr"/>
          <a:lstStyle/>
          <a:p>
            <a:pPr indent="0" marL="0">
              <a:buNone/>
            </a:pPr>
            <a:r>
              <a:rPr lang="en-US" sz="1000" i="1" dirty="0">
                <a:solidFill>
                  <a:srgbClr val="5C6470"/>
                </a:solidFill>
                <a:latin typeface="Trebuchet MS" pitchFamily="34" charset="0"/>
                <a:ea typeface="Trebuchet MS" pitchFamily="34" charset="-122"/>
                <a:cs typeface="Trebuchet MS" pitchFamily="34" charset="-120"/>
              </a:rPr>
              <a:t>US.17 · National Park Service</a:t>
            </a:r>
            <a:endParaRPr lang="en-US" sz="1000" dirty="0"/>
          </a:p>
        </p:txBody>
      </p:sp>
      <p:sp>
        <p:nvSpPr>
          <p:cNvPr id="10" name="Text 7"/>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1" name="Text 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63</a:t>
            </a:r>
            <a:endParaRPr lang="en-US" sz="9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554480"/>
          </a:xfrm>
          <a:prstGeom prst="rect">
            <a:avLst/>
          </a:prstGeom>
          <a:solidFill>
            <a:srgbClr val="002858"/>
          </a:solidFill>
          <a:ln/>
        </p:spPr>
        <p:txBody>
          <a:bodyPr/>
          <a:p/>
        </p:txBody>
      </p:sp>
      <p:sp>
        <p:nvSpPr>
          <p:cNvPr id="3" name="Shape 1"/>
          <p:cNvSpPr/>
          <p:nvPr/>
        </p:nvSpPr>
        <p:spPr>
          <a:xfrm>
            <a:off x="0" y="1554480"/>
            <a:ext cx="12191695" cy="54864"/>
          </a:xfrm>
          <a:prstGeom prst="rect">
            <a:avLst/>
          </a:prstGeom>
          <a:solidFill>
            <a:srgbClr val="C9A84C"/>
          </a:solidFill>
          <a:ln/>
        </p:spPr>
        <p:txBody>
          <a:bodyPr/>
          <a:p/>
        </p:txBody>
      </p:sp>
      <p:sp>
        <p:nvSpPr>
          <p:cNvPr id="4" name="Text 2"/>
          <p:cNvSpPr/>
          <p:nvPr/>
        </p:nvSpPr>
        <p:spPr>
          <a:xfrm>
            <a:off x="457200" y="274320"/>
            <a:ext cx="3291840" cy="365760"/>
          </a:xfrm>
          <a:prstGeom prst="rect">
            <a:avLst/>
          </a:prstGeom>
          <a:solidFill>
            <a:srgbClr val="C6282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SOURCE IT FIRST</a:t>
            </a:r>
            <a:endParaRPr lang="en-US" sz="1100" dirty="0"/>
          </a:p>
        </p:txBody>
      </p:sp>
      <p:sp>
        <p:nvSpPr>
          <p:cNvPr id="5" name="Text 3"/>
          <p:cNvSpPr/>
          <p:nvPr/>
        </p:nvSpPr>
        <p:spPr>
          <a:xfrm>
            <a:off x="3886200" y="27432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US.17</a:t>
            </a:r>
            <a:endParaRPr lang="en-US" sz="1200" dirty="0"/>
          </a:p>
        </p:txBody>
      </p:sp>
      <p:sp>
        <p:nvSpPr>
          <p:cNvPr id="6" name="Text 4"/>
          <p:cNvSpPr/>
          <p:nvPr/>
        </p:nvSpPr>
        <p:spPr>
          <a:xfrm>
            <a:off x="457200" y="713232"/>
            <a:ext cx="11247120" cy="777240"/>
          </a:xfrm>
          <a:prstGeom prst="rect">
            <a:avLst/>
          </a:prstGeom>
          <a:noFill/>
          <a:ln/>
        </p:spPr>
        <p:txBody>
          <a:bodyPr wrap="square" rtlCol="0" anchor="ctr"/>
          <a:lstStyle/>
          <a:p>
            <a:pPr indent="0" marL="0">
              <a:buNone/>
            </a:pPr>
            <a:r>
              <a:rPr lang="en-US" sz="2000" b="1" dirty="0">
                <a:solidFill>
                  <a:srgbClr val="FFFFFF"/>
                </a:solidFill>
                <a:latin typeface="Georgia" pitchFamily="34" charset="0"/>
                <a:ea typeface="Georgia" pitchFamily="34" charset="-122"/>
                <a:cs typeface="Georgia" pitchFamily="34" charset="-120"/>
              </a:rPr>
              <a:t>Read Wilson’s message on the Federal Reserve — ask what problem he responds to and who his solution serves.</a:t>
            </a:r>
            <a:endParaRPr lang="en-US" sz="2000" dirty="0"/>
          </a:p>
        </p:txBody>
      </p:sp>
      <p:sp>
        <p:nvSpPr>
          <p:cNvPr id="7" name="Text 5"/>
          <p:cNvSpPr/>
          <p:nvPr/>
        </p:nvSpPr>
        <p:spPr>
          <a:xfrm>
            <a:off x="457200" y="1783080"/>
            <a:ext cx="3566160" cy="320040"/>
          </a:xfrm>
          <a:prstGeom prst="rect">
            <a:avLst/>
          </a:prstGeom>
          <a:solidFill>
            <a:srgbClr val="1A2332"/>
          </a:solid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WHO</a:t>
            </a:r>
            <a:endParaRPr lang="en-US" sz="1200" dirty="0"/>
          </a:p>
        </p:txBody>
      </p:sp>
      <p:sp>
        <p:nvSpPr>
          <p:cNvPr id="8" name="Text 6"/>
          <p:cNvSpPr/>
          <p:nvPr/>
        </p:nvSpPr>
        <p:spPr>
          <a:xfrm>
            <a:off x="457200" y="2103120"/>
            <a:ext cx="3566160" cy="914400"/>
          </a:xfrm>
          <a:prstGeom prst="rect">
            <a:avLst/>
          </a:prstGeom>
          <a:solidFill>
            <a:srgbClr val="FFFFFF"/>
          </a:solidFill>
          <a:ln w="12700">
            <a:solidFill>
              <a:srgbClr val="DAD3C2"/>
            </a:solidFill>
          </a:ln>
        </p:spPr>
        <p:txBody>
          <a:bodyPr wrap="square" lIns="76200" tIns="76200" rIns="76200" bIns="76200" rtlCol="0" anchor="t"/>
          <a:lstStyle/>
          <a:p>
            <a:pPr algn="l" indent="0" marL="0">
              <a:buNone/>
            </a:pPr>
            <a:r>
              <a:rPr lang="en-US" sz="1200" dirty="0">
                <a:solidFill>
                  <a:srgbClr val="1F2430"/>
                </a:solidFill>
                <a:latin typeface="Calibri" pitchFamily="34" charset="0"/>
                <a:ea typeface="Calibri" pitchFamily="34" charset="-122"/>
                <a:cs typeface="Calibri" pitchFamily="34" charset="-120"/>
              </a:rPr>
              <a:t>Woodrow Wilson — 28th President, speaking to Congress as the chief executive proposing legislation.</a:t>
            </a:r>
            <a:endParaRPr lang="en-US" sz="1200" dirty="0"/>
          </a:p>
        </p:txBody>
      </p:sp>
      <p:sp>
        <p:nvSpPr>
          <p:cNvPr id="9" name="Text 7"/>
          <p:cNvSpPr/>
          <p:nvPr/>
        </p:nvSpPr>
        <p:spPr>
          <a:xfrm>
            <a:off x="4251960" y="1783080"/>
            <a:ext cx="3566160" cy="320040"/>
          </a:xfrm>
          <a:prstGeom prst="rect">
            <a:avLst/>
          </a:prstGeom>
          <a:solidFill>
            <a:srgbClr val="1A2332"/>
          </a:solid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WHEN</a:t>
            </a:r>
            <a:endParaRPr lang="en-US" sz="1200" dirty="0"/>
          </a:p>
        </p:txBody>
      </p:sp>
      <p:sp>
        <p:nvSpPr>
          <p:cNvPr id="10" name="Text 8"/>
          <p:cNvSpPr/>
          <p:nvPr/>
        </p:nvSpPr>
        <p:spPr>
          <a:xfrm>
            <a:off x="4251960" y="2103120"/>
            <a:ext cx="3566160" cy="914400"/>
          </a:xfrm>
          <a:prstGeom prst="rect">
            <a:avLst/>
          </a:prstGeom>
          <a:solidFill>
            <a:srgbClr val="FFFFFF"/>
          </a:solidFill>
          <a:ln w="12700">
            <a:solidFill>
              <a:srgbClr val="DAD3C2"/>
            </a:solidFill>
          </a:ln>
        </p:spPr>
        <p:txBody>
          <a:bodyPr wrap="square" lIns="76200" tIns="76200" rIns="76200" bIns="76200" rtlCol="0" anchor="t"/>
          <a:lstStyle/>
          <a:p>
            <a:pPr algn="l" indent="0" marL="0">
              <a:buNone/>
            </a:pPr>
            <a:r>
              <a:rPr lang="en-US" sz="1200" dirty="0">
                <a:solidFill>
                  <a:srgbClr val="1F2430"/>
                </a:solidFill>
                <a:latin typeface="Calibri" pitchFamily="34" charset="0"/>
                <a:ea typeface="Calibri" pitchFamily="34" charset="-122"/>
                <a:cs typeface="Calibri" pitchFamily="34" charset="-120"/>
              </a:rPr>
              <a:t>June 1913, as the Federal Reserve bill was being debated — six years after the Panic of 1907.</a:t>
            </a:r>
            <a:endParaRPr lang="en-US" sz="1200" dirty="0"/>
          </a:p>
        </p:txBody>
      </p:sp>
      <p:sp>
        <p:nvSpPr>
          <p:cNvPr id="11" name="Text 9"/>
          <p:cNvSpPr/>
          <p:nvPr/>
        </p:nvSpPr>
        <p:spPr>
          <a:xfrm>
            <a:off x="8046720" y="1783080"/>
            <a:ext cx="3566160" cy="320040"/>
          </a:xfrm>
          <a:prstGeom prst="rect">
            <a:avLst/>
          </a:prstGeom>
          <a:solidFill>
            <a:srgbClr val="1A2332"/>
          </a:solid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WHY</a:t>
            </a:r>
            <a:endParaRPr lang="en-US" sz="1200" dirty="0"/>
          </a:p>
        </p:txBody>
      </p:sp>
      <p:sp>
        <p:nvSpPr>
          <p:cNvPr id="12" name="Text 10"/>
          <p:cNvSpPr/>
          <p:nvPr/>
        </p:nvSpPr>
        <p:spPr>
          <a:xfrm>
            <a:off x="8046720" y="2103120"/>
            <a:ext cx="3566160" cy="914400"/>
          </a:xfrm>
          <a:prstGeom prst="rect">
            <a:avLst/>
          </a:prstGeom>
          <a:solidFill>
            <a:srgbClr val="FFFFFF"/>
          </a:solidFill>
          <a:ln w="12700">
            <a:solidFill>
              <a:srgbClr val="DAD3C2"/>
            </a:solidFill>
          </a:ln>
        </p:spPr>
        <p:txBody>
          <a:bodyPr wrap="square" lIns="76200" tIns="76200" rIns="76200" bIns="76200" rtlCol="0" anchor="t"/>
          <a:lstStyle/>
          <a:p>
            <a:pPr algn="l" indent="0" marL="0">
              <a:buNone/>
            </a:pPr>
            <a:r>
              <a:rPr lang="en-US" sz="1200" dirty="0">
                <a:solidFill>
                  <a:srgbClr val="1F2430"/>
                </a:solidFill>
                <a:latin typeface="Calibri" pitchFamily="34" charset="0"/>
                <a:ea typeface="Calibri" pitchFamily="34" charset="-122"/>
                <a:cs typeface="Calibri" pitchFamily="34" charset="-120"/>
              </a:rPr>
              <a:t>Presidential messages to Congress are public arguments for policy — ask: what problem is he responding to, and who benefits from his proposed solution?</a:t>
            </a:r>
            <a:endParaRPr lang="en-US" sz="1200" dirty="0"/>
          </a:p>
        </p:txBody>
      </p:sp>
      <p:sp>
        <p:nvSpPr>
          <p:cNvPr id="13" name="Shape 11"/>
          <p:cNvSpPr/>
          <p:nvPr/>
        </p:nvSpPr>
        <p:spPr>
          <a:xfrm>
            <a:off x="457200" y="3200400"/>
            <a:ext cx="5532120" cy="2651760"/>
          </a:xfrm>
          <a:prstGeom prst="rect">
            <a:avLst/>
          </a:prstGeom>
          <a:solidFill>
            <a:srgbClr val="FFFFFF"/>
          </a:solidFill>
          <a:ln w="19050">
            <a:solidFill>
              <a:srgbClr val="C9A84C"/>
            </a:solidFill>
            <a:prstDash val="solid"/>
          </a:ln>
        </p:spPr>
      </p:sp>
      <p:sp>
        <p:nvSpPr>
          <p:cNvPr id="14" name="Text 12"/>
          <p:cNvSpPr/>
          <p:nvPr/>
        </p:nvSpPr>
        <p:spPr>
          <a:xfrm>
            <a:off x="594360" y="3291840"/>
            <a:ext cx="5257800" cy="320040"/>
          </a:xfrm>
          <a:prstGeom prst="rect">
            <a:avLst/>
          </a:prstGeom>
          <a:noFill/>
          <a:ln/>
        </p:spPr>
        <p:txBody>
          <a:bodyPr wrap="square" rtlCol="0" anchor="ctr"/>
          <a:lstStyle/>
          <a:p>
            <a:pPr indent="0" marL="0">
              <a:buNone/>
            </a:pPr>
            <a:r>
              <a:rPr lang="en-US" sz="1400" b="1" dirty="0">
                <a:solidFill>
                  <a:srgbClr val="002858"/>
                </a:solidFill>
                <a:latin typeface="Georgia" pitchFamily="34" charset="0"/>
                <a:ea typeface="Georgia" pitchFamily="34" charset="-122"/>
                <a:cs typeface="Georgia" pitchFamily="34" charset="-120"/>
              </a:rPr>
              <a:t>Federal Reserve Act Message</a:t>
            </a:r>
            <a:endParaRPr lang="en-US" sz="1400" dirty="0"/>
          </a:p>
        </p:txBody>
      </p:sp>
      <p:sp>
        <p:nvSpPr>
          <p:cNvPr id="15" name="Text 13"/>
          <p:cNvSpPr/>
          <p:nvPr/>
        </p:nvSpPr>
        <p:spPr>
          <a:xfrm>
            <a:off x="594360" y="3611880"/>
            <a:ext cx="5257800" cy="274320"/>
          </a:xfrm>
          <a:prstGeom prst="rect">
            <a:avLst/>
          </a:prstGeom>
          <a:noFill/>
          <a:ln/>
        </p:spPr>
        <p:txBody>
          <a:bodyPr wrap="square" rtlCol="0" anchor="ctr"/>
          <a:lstStyle/>
          <a:p>
            <a:pPr indent="0" marL="0">
              <a:buNone/>
            </a:pPr>
            <a:r>
              <a:rPr lang="en-US" sz="900" i="1" dirty="0">
                <a:solidFill>
                  <a:srgbClr val="5C6470"/>
                </a:solidFill>
                <a:latin typeface="Trebuchet MS" pitchFamily="34" charset="0"/>
                <a:ea typeface="Trebuchet MS" pitchFamily="34" charset="-122"/>
                <a:cs typeface="Trebuchet MS" pitchFamily="34" charset="-120"/>
              </a:rPr>
              <a:t>President Woodrow Wilson · 1913</a:t>
            </a:r>
            <a:endParaRPr lang="en-US" sz="900" dirty="0"/>
          </a:p>
        </p:txBody>
      </p:sp>
      <p:sp>
        <p:nvSpPr>
          <p:cNvPr id="16" name="Text 14"/>
          <p:cNvSpPr/>
          <p:nvPr/>
        </p:nvSpPr>
        <p:spPr>
          <a:xfrm>
            <a:off x="594360" y="3931920"/>
            <a:ext cx="5257800" cy="1600200"/>
          </a:xfrm>
          <a:prstGeom prst="rect">
            <a:avLst/>
          </a:prstGeom>
          <a:noFill/>
          <a:ln/>
        </p:spPr>
        <p:txBody>
          <a:bodyPr wrap="square" rtlCol="0" anchor="t"/>
          <a:lstStyle/>
          <a:p>
            <a:pPr indent="0" marL="0">
              <a:buNone/>
            </a:pPr>
            <a:r>
              <a:rPr lang="en-US" sz="1100" dirty="0">
                <a:solidFill>
                  <a:srgbClr val="1F2430"/>
                </a:solidFill>
                <a:latin typeface="Calibri" pitchFamily="34" charset="0"/>
                <a:ea typeface="Calibri" pitchFamily="34" charset="-122"/>
                <a:cs typeface="Calibri" pitchFamily="34" charset="-120"/>
              </a:rPr>
              <a:t>"We shall deal with our economic system as it is and as it may be modified, not as it might be if we had a clean sheet of paper to write upon... We must effect our reforms with a minimum of disturbance to business. The control of the system of banking and of issue should be vested in the Government itself, so that the banks may be the instruments, not the masters, of business."</a:t>
            </a:r>
            <a:endParaRPr lang="en-US" sz="1100" dirty="0"/>
          </a:p>
        </p:txBody>
      </p:sp>
      <p:sp>
        <p:nvSpPr>
          <p:cNvPr id="17" name="Text 15">
            <a:hlinkClick r:id="rId1" tooltip=""/>
          </p:cNvPr>
          <p:cNvSpPr/>
          <p:nvPr/>
        </p:nvSpPr>
        <p:spPr>
          <a:xfrm>
            <a:off x="594360" y="5532120"/>
            <a:ext cx="5257800" cy="256032"/>
          </a:xfrm>
          <a:prstGeom prst="rect">
            <a:avLst/>
          </a:prstGeom>
          <a:noFill/>
          <a:ln/>
        </p:spPr>
        <p:txBody>
          <a:bodyPr wrap="square" rtlCol="0" anchor="ctr"/>
          <a:lstStyle/>
          <a:p>
            <a:pPr indent="0" marL="0">
              <a:buNone/>
            </a:pPr>
            <a:r>
              <a:rPr lang="en-US" sz="900" u="sng" dirty="0">
                <a:solidFill>
                  <a:srgbClr val="002858"/>
                </a:solidFill>
                <a:latin typeface="Trebuchet MS" pitchFamily="34" charset="0"/>
                <a:ea typeface="Trebuchet MS" pitchFamily="34" charset="-122"/>
                <a:cs typeface="Trebuchet MS" pitchFamily="34" charset="-120"/>
                <a:hlinkClick r:id="rId1" invalidUrl="" action="" tgtFrame="" tooltip="" history="1" highlightClick="0" endSnd="0">
                  <a:extLst>
                    <a:ext uri="{A12FA001-AC4F-418D-AE19-62706E023703}">
                      <ahyp:hlinkClr xmlns:ahyp="http://schemas.microsoft.com/office/drawing/2018/hyperlinkcolor" val="tx"/>
                    </a:ext>
                  </a:extLst>
                </a:hlinkClick>
              </a:rPr>
              <a:t>Library of Congress</a:t>
            </a:r>
            <a:endParaRPr lang="en-US" sz="900" dirty="0"/>
          </a:p>
        </p:txBody>
      </p:sp>
      <p:sp>
        <p:nvSpPr>
          <p:cNvPr id="18" name="Text 16"/>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9" name="Text 17"/>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64</a:t>
            </a:r>
            <a:endParaRPr lang="en-US" sz="9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1A2332"/>
        </a:solidFill>
      </p:bgPr>
    </p:bg>
    <p:spTree>
      <p:nvGrpSpPr>
        <p:cNvPr id="1" name=""/>
        <p:cNvGrpSpPr/>
        <p:nvPr/>
      </p:nvGrpSpPr>
      <p:grpSpPr>
        <a:xfrm>
          <a:off x="0" y="0"/>
          <a:ext cx="0" cy="0"/>
          <a:chOff x="0" y="0"/>
          <a:chExt cx="0" cy="0"/>
        </a:xfrm>
      </p:grpSpPr>
      <p:sp>
        <p:nvSpPr>
          <p:cNvPr id="2" name="Text 0"/>
          <p:cNvSpPr/>
          <p:nvPr/>
        </p:nvSpPr>
        <p:spPr>
          <a:xfrm>
            <a:off x="457200" y="274320"/>
            <a:ext cx="3291840" cy="365760"/>
          </a:xfrm>
          <a:prstGeom prst="rect">
            <a:avLst/>
          </a:prstGeom>
          <a:solidFill>
            <a:srgbClr val="C6282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THREE PERSPECTIVES</a:t>
            </a:r>
            <a:endParaRPr lang="en-US" sz="1100" dirty="0"/>
          </a:p>
        </p:txBody>
      </p:sp>
      <p:sp>
        <p:nvSpPr>
          <p:cNvPr id="3" name="Text 1"/>
          <p:cNvSpPr/>
          <p:nvPr/>
        </p:nvSpPr>
        <p:spPr>
          <a:xfrm>
            <a:off x="3886200" y="27432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US.17</a:t>
            </a:r>
            <a:endParaRPr lang="en-US" sz="1200" dirty="0"/>
          </a:p>
        </p:txBody>
      </p:sp>
      <p:sp>
        <p:nvSpPr>
          <p:cNvPr id="4" name="Text 2"/>
          <p:cNvSpPr/>
          <p:nvPr/>
        </p:nvSpPr>
        <p:spPr>
          <a:xfrm>
            <a:off x="457200" y="777240"/>
            <a:ext cx="11247120" cy="822960"/>
          </a:xfrm>
          <a:prstGeom prst="rect">
            <a:avLst/>
          </a:prstGeom>
          <a:noFill/>
          <a:ln/>
        </p:spPr>
        <p:txBody>
          <a:bodyPr wrap="square" rtlCol="0" anchor="ctr"/>
          <a:lstStyle/>
          <a:p>
            <a:pPr indent="0" marL="0">
              <a:buNone/>
            </a:pPr>
            <a:r>
              <a:rPr lang="en-US" sz="1700" i="1" dirty="0">
                <a:solidFill>
                  <a:srgbClr val="C7D4E0"/>
                </a:solidFill>
                <a:latin typeface="Georgia" pitchFamily="34" charset="0"/>
                <a:ea typeface="Georgia" pitchFamily="34" charset="-122"/>
                <a:cs typeface="Georgia" pitchFamily="34" charset="-120"/>
              </a:rPr>
              <a:t>A historian returns to three questions at the end of every reading. Use them to analyze this standard.</a:t>
            </a:r>
            <a:endParaRPr lang="en-US" sz="1700" dirty="0"/>
          </a:p>
        </p:txBody>
      </p:sp>
      <p:sp>
        <p:nvSpPr>
          <p:cNvPr id="5" name="Shape 3"/>
          <p:cNvSpPr/>
          <p:nvPr/>
        </p:nvSpPr>
        <p:spPr>
          <a:xfrm>
            <a:off x="457200" y="1783080"/>
            <a:ext cx="3566160" cy="4206240"/>
          </a:xfrm>
          <a:prstGeom prst="rect">
            <a:avLst/>
          </a:prstGeom>
          <a:solidFill>
            <a:srgbClr val="FFFFFF"/>
          </a:solidFill>
          <a:ln/>
        </p:spPr>
      </p:sp>
      <p:sp>
        <p:nvSpPr>
          <p:cNvPr id="6" name="Shape 4"/>
          <p:cNvSpPr/>
          <p:nvPr/>
        </p:nvSpPr>
        <p:spPr>
          <a:xfrm>
            <a:off x="457200" y="1783080"/>
            <a:ext cx="3566160" cy="548640"/>
          </a:xfrm>
          <a:prstGeom prst="rect">
            <a:avLst/>
          </a:prstGeom>
          <a:solidFill>
            <a:srgbClr val="1B5E20"/>
          </a:solidFill>
          <a:ln/>
        </p:spPr>
      </p:sp>
      <p:sp>
        <p:nvSpPr>
          <p:cNvPr id="7" name="Text 5"/>
          <p:cNvSpPr/>
          <p:nvPr/>
        </p:nvSpPr>
        <p:spPr>
          <a:xfrm>
            <a:off x="457200" y="1783080"/>
            <a:ext cx="3566160" cy="548640"/>
          </a:xfrm>
          <a:prstGeom prst="rect">
            <a:avLst/>
          </a:prstGeom>
          <a:noFill/>
          <a:ln/>
        </p:spPr>
        <p:txBody>
          <a:bodyPr wrap="square"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Who benefited?</a:t>
            </a:r>
            <a:endParaRPr lang="en-US" sz="1600" dirty="0"/>
          </a:p>
        </p:txBody>
      </p:sp>
      <p:sp>
        <p:nvSpPr>
          <p:cNvPr id="8" name="Text 6"/>
          <p:cNvSpPr/>
          <p:nvPr/>
        </p:nvSpPr>
        <p:spPr>
          <a:xfrm>
            <a:off x="594360" y="2423160"/>
            <a:ext cx="3291840" cy="868680"/>
          </a:xfrm>
          <a:prstGeom prst="rect">
            <a:avLst/>
          </a:prstGeom>
          <a:noFill/>
          <a:ln/>
        </p:spPr>
        <p:txBody>
          <a:bodyPr wrap="square" rtlCol="0" anchor="t"/>
          <a:lstStyle/>
          <a:p>
            <a:pPr indent="0" marL="0">
              <a:buNone/>
            </a:pPr>
            <a:r>
              <a:rPr lang="en-US" sz="1100" i="1" dirty="0">
                <a:solidFill>
                  <a:srgbClr val="5C6470"/>
                </a:solidFill>
                <a:latin typeface="Calibri" pitchFamily="34" charset="0"/>
                <a:ea typeface="Calibri" pitchFamily="34" charset="-122"/>
                <a:cs typeface="Calibri" pitchFamily="34" charset="-120"/>
              </a:rPr>
              <a:t>Who gained land, wealth, power, or protection?</a:t>
            </a:r>
            <a:endParaRPr lang="en-US" sz="1100" dirty="0"/>
          </a:p>
        </p:txBody>
      </p:sp>
      <p:sp>
        <p:nvSpPr>
          <p:cNvPr id="9" name="Text 7"/>
          <p:cNvSpPr/>
          <p:nvPr/>
        </p:nvSpPr>
        <p:spPr>
          <a:xfrm>
            <a:off x="594360" y="3291840"/>
            <a:ext cx="3291840" cy="274320"/>
          </a:xfrm>
          <a:prstGeom prst="rect">
            <a:avLst/>
          </a:prstGeom>
          <a:noFill/>
          <a:ln/>
        </p:spPr>
        <p:txBody>
          <a:bodyPr wrap="square" rtlCol="0" anchor="ctr"/>
          <a:lstStyle/>
          <a:p>
            <a:pPr indent="0" marL="0">
              <a:buNone/>
            </a:pPr>
            <a:r>
              <a:rPr lang="en-US" sz="1000" b="1" dirty="0">
                <a:solidFill>
                  <a:srgbClr val="8A6D1A"/>
                </a:solidFill>
                <a:latin typeface="Trebuchet MS" pitchFamily="34" charset="0"/>
                <a:ea typeface="Trebuchet MS" pitchFamily="34" charset="-122"/>
                <a:cs typeface="Trebuchet MS" pitchFamily="34" charset="-120"/>
              </a:rPr>
              <a:t>US.17:</a:t>
            </a:r>
            <a:endParaRPr lang="en-US" sz="1000" dirty="0"/>
          </a:p>
        </p:txBody>
      </p:sp>
      <p:sp>
        <p:nvSpPr>
          <p:cNvPr id="10" name="Text 8"/>
          <p:cNvSpPr/>
          <p:nvPr/>
        </p:nvSpPr>
        <p:spPr>
          <a:xfrm>
            <a:off x="594360" y="3566160"/>
            <a:ext cx="3291840" cy="2286000"/>
          </a:xfrm>
          <a:prstGeom prst="rect">
            <a:avLst/>
          </a:prstGeom>
          <a:noFill/>
          <a:ln/>
        </p:spPr>
        <p:txBody>
          <a:bodyPr wrap="square" rtlCol="0" anchor="t"/>
          <a:lstStyle/>
          <a:p>
            <a:pPr indent="0" marL="0">
              <a:buNone/>
            </a:pPr>
            <a:r>
              <a:rPr lang="en-US" sz="1200" dirty="0">
                <a:solidFill>
                  <a:srgbClr val="1F2430"/>
                </a:solidFill>
                <a:latin typeface="Calibri" pitchFamily="34" charset="0"/>
                <a:ea typeface="Calibri" pitchFamily="34" charset="-122"/>
                <a:cs typeface="Calibri" pitchFamily="34" charset="-120"/>
              </a:rPr>
              <a:t>The broader economy gained a more stable banking system; the public gained coordinated stewardship of national parks.</a:t>
            </a:r>
            <a:endParaRPr lang="en-US" sz="1200" dirty="0"/>
          </a:p>
        </p:txBody>
      </p:sp>
      <p:sp>
        <p:nvSpPr>
          <p:cNvPr id="11" name="Shape 9"/>
          <p:cNvSpPr/>
          <p:nvPr/>
        </p:nvSpPr>
        <p:spPr>
          <a:xfrm>
            <a:off x="4251960" y="1783080"/>
            <a:ext cx="3566160" cy="4206240"/>
          </a:xfrm>
          <a:prstGeom prst="rect">
            <a:avLst/>
          </a:prstGeom>
          <a:solidFill>
            <a:srgbClr val="FFFFFF"/>
          </a:solidFill>
          <a:ln/>
        </p:spPr>
      </p:sp>
      <p:sp>
        <p:nvSpPr>
          <p:cNvPr id="12" name="Shape 10"/>
          <p:cNvSpPr/>
          <p:nvPr/>
        </p:nvSpPr>
        <p:spPr>
          <a:xfrm>
            <a:off x="4251960" y="1783080"/>
            <a:ext cx="3566160" cy="548640"/>
          </a:xfrm>
          <a:prstGeom prst="rect">
            <a:avLst/>
          </a:prstGeom>
          <a:solidFill>
            <a:srgbClr val="C62828"/>
          </a:solidFill>
          <a:ln/>
        </p:spPr>
      </p:sp>
      <p:sp>
        <p:nvSpPr>
          <p:cNvPr id="13" name="Text 11"/>
          <p:cNvSpPr/>
          <p:nvPr/>
        </p:nvSpPr>
        <p:spPr>
          <a:xfrm>
            <a:off x="4251960" y="1783080"/>
            <a:ext cx="3566160" cy="548640"/>
          </a:xfrm>
          <a:prstGeom prst="rect">
            <a:avLst/>
          </a:prstGeom>
          <a:noFill/>
          <a:ln/>
        </p:spPr>
        <p:txBody>
          <a:bodyPr wrap="square"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Who bore the costs?</a:t>
            </a:r>
            <a:endParaRPr lang="en-US" sz="1600" dirty="0"/>
          </a:p>
        </p:txBody>
      </p:sp>
      <p:sp>
        <p:nvSpPr>
          <p:cNvPr id="14" name="Text 12"/>
          <p:cNvSpPr/>
          <p:nvPr/>
        </p:nvSpPr>
        <p:spPr>
          <a:xfrm>
            <a:off x="4389120" y="2423160"/>
            <a:ext cx="3291840" cy="868680"/>
          </a:xfrm>
          <a:prstGeom prst="rect">
            <a:avLst/>
          </a:prstGeom>
          <a:noFill/>
          <a:ln/>
        </p:spPr>
        <p:txBody>
          <a:bodyPr wrap="square" rtlCol="0" anchor="t"/>
          <a:lstStyle/>
          <a:p>
            <a:pPr indent="0" marL="0">
              <a:buNone/>
            </a:pPr>
            <a:r>
              <a:rPr lang="en-US" sz="1100" i="1" dirty="0">
                <a:solidFill>
                  <a:srgbClr val="5C6470"/>
                </a:solidFill>
                <a:latin typeface="Calibri" pitchFamily="34" charset="0"/>
                <a:ea typeface="Calibri" pitchFamily="34" charset="-122"/>
                <a:cs typeface="Calibri" pitchFamily="34" charset="-120"/>
              </a:rPr>
              <a:t>Who lost land, labor, freedom, or life — and who was silenced?</a:t>
            </a:r>
            <a:endParaRPr lang="en-US" sz="1100" dirty="0"/>
          </a:p>
        </p:txBody>
      </p:sp>
      <p:sp>
        <p:nvSpPr>
          <p:cNvPr id="15" name="Text 13"/>
          <p:cNvSpPr/>
          <p:nvPr/>
        </p:nvSpPr>
        <p:spPr>
          <a:xfrm>
            <a:off x="4389120" y="3291840"/>
            <a:ext cx="3291840" cy="274320"/>
          </a:xfrm>
          <a:prstGeom prst="rect">
            <a:avLst/>
          </a:prstGeom>
          <a:noFill/>
          <a:ln/>
        </p:spPr>
        <p:txBody>
          <a:bodyPr wrap="square" rtlCol="0" anchor="ctr"/>
          <a:lstStyle/>
          <a:p>
            <a:pPr indent="0" marL="0">
              <a:buNone/>
            </a:pPr>
            <a:r>
              <a:rPr lang="en-US" sz="1000" b="1" dirty="0">
                <a:solidFill>
                  <a:srgbClr val="8A6D1A"/>
                </a:solidFill>
                <a:latin typeface="Trebuchet MS" pitchFamily="34" charset="0"/>
                <a:ea typeface="Trebuchet MS" pitchFamily="34" charset="-122"/>
                <a:cs typeface="Trebuchet MS" pitchFamily="34" charset="-120"/>
              </a:rPr>
              <a:t>US.17:</a:t>
            </a:r>
            <a:endParaRPr lang="en-US" sz="1000" dirty="0"/>
          </a:p>
        </p:txBody>
      </p:sp>
      <p:sp>
        <p:nvSpPr>
          <p:cNvPr id="16" name="Text 14"/>
          <p:cNvSpPr/>
          <p:nvPr/>
        </p:nvSpPr>
        <p:spPr>
          <a:xfrm>
            <a:off x="4389120" y="3566160"/>
            <a:ext cx="3291840" cy="2286000"/>
          </a:xfrm>
          <a:prstGeom prst="rect">
            <a:avLst/>
          </a:prstGeom>
          <a:noFill/>
          <a:ln/>
        </p:spPr>
        <p:txBody>
          <a:bodyPr wrap="square" rtlCol="0" anchor="t"/>
          <a:lstStyle/>
          <a:p>
            <a:pPr indent="0" marL="0">
              <a:buNone/>
            </a:pPr>
            <a:r>
              <a:rPr lang="en-US" sz="1200" dirty="0">
                <a:solidFill>
                  <a:srgbClr val="1F2430"/>
                </a:solidFill>
                <a:latin typeface="Calibri" pitchFamily="34" charset="0"/>
                <a:ea typeface="Calibri" pitchFamily="34" charset="-122"/>
                <a:cs typeface="Calibri" pitchFamily="34" charset="-120"/>
              </a:rPr>
              <a:t>Private bankers who lost sole control of money and credit; trusts and tariff-protected industries targeted by the New Freedom.</a:t>
            </a:r>
            <a:endParaRPr lang="en-US" sz="1200" dirty="0"/>
          </a:p>
        </p:txBody>
      </p:sp>
      <p:sp>
        <p:nvSpPr>
          <p:cNvPr id="17" name="Shape 15"/>
          <p:cNvSpPr/>
          <p:nvPr/>
        </p:nvSpPr>
        <p:spPr>
          <a:xfrm>
            <a:off x="8046720" y="1783080"/>
            <a:ext cx="3566160" cy="4206240"/>
          </a:xfrm>
          <a:prstGeom prst="rect">
            <a:avLst/>
          </a:prstGeom>
          <a:solidFill>
            <a:srgbClr val="FFFFFF"/>
          </a:solidFill>
          <a:ln/>
        </p:spPr>
      </p:sp>
      <p:sp>
        <p:nvSpPr>
          <p:cNvPr id="18" name="Shape 16"/>
          <p:cNvSpPr/>
          <p:nvPr/>
        </p:nvSpPr>
        <p:spPr>
          <a:xfrm>
            <a:off x="8046720" y="1783080"/>
            <a:ext cx="3566160" cy="548640"/>
          </a:xfrm>
          <a:prstGeom prst="rect">
            <a:avLst/>
          </a:prstGeom>
          <a:solidFill>
            <a:srgbClr val="002858"/>
          </a:solidFill>
          <a:ln/>
        </p:spPr>
      </p:sp>
      <p:sp>
        <p:nvSpPr>
          <p:cNvPr id="19" name="Text 17"/>
          <p:cNvSpPr/>
          <p:nvPr/>
        </p:nvSpPr>
        <p:spPr>
          <a:xfrm>
            <a:off x="8046720" y="1783080"/>
            <a:ext cx="3566160" cy="548640"/>
          </a:xfrm>
          <a:prstGeom prst="rect">
            <a:avLst/>
          </a:prstGeom>
          <a:noFill/>
          <a:ln/>
        </p:spPr>
        <p:txBody>
          <a:bodyPr wrap="square"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Who decided?</a:t>
            </a:r>
            <a:endParaRPr lang="en-US" sz="1600" dirty="0"/>
          </a:p>
        </p:txBody>
      </p:sp>
      <p:sp>
        <p:nvSpPr>
          <p:cNvPr id="20" name="Text 18"/>
          <p:cNvSpPr/>
          <p:nvPr/>
        </p:nvSpPr>
        <p:spPr>
          <a:xfrm>
            <a:off x="8183880" y="2423160"/>
            <a:ext cx="3291840" cy="868680"/>
          </a:xfrm>
          <a:prstGeom prst="rect">
            <a:avLst/>
          </a:prstGeom>
          <a:noFill/>
          <a:ln/>
        </p:spPr>
        <p:txBody>
          <a:bodyPr wrap="square" rtlCol="0" anchor="t"/>
          <a:lstStyle/>
          <a:p>
            <a:pPr indent="0" marL="0">
              <a:buNone/>
            </a:pPr>
            <a:r>
              <a:rPr lang="en-US" sz="1100" i="1" dirty="0">
                <a:solidFill>
                  <a:srgbClr val="5C6470"/>
                </a:solidFill>
                <a:latin typeface="Calibri" pitchFamily="34" charset="0"/>
                <a:ea typeface="Calibri" pitchFamily="34" charset="-122"/>
                <a:cs typeface="Calibri" pitchFamily="34" charset="-120"/>
              </a:rPr>
              <a:t>Which people, offices, or courts held the authority?</a:t>
            </a:r>
            <a:endParaRPr lang="en-US" sz="1100" dirty="0"/>
          </a:p>
        </p:txBody>
      </p:sp>
      <p:sp>
        <p:nvSpPr>
          <p:cNvPr id="21" name="Text 19"/>
          <p:cNvSpPr/>
          <p:nvPr/>
        </p:nvSpPr>
        <p:spPr>
          <a:xfrm>
            <a:off x="8183880" y="3291840"/>
            <a:ext cx="3291840" cy="274320"/>
          </a:xfrm>
          <a:prstGeom prst="rect">
            <a:avLst/>
          </a:prstGeom>
          <a:noFill/>
          <a:ln/>
        </p:spPr>
        <p:txBody>
          <a:bodyPr wrap="square" rtlCol="0" anchor="ctr"/>
          <a:lstStyle/>
          <a:p>
            <a:pPr indent="0" marL="0">
              <a:buNone/>
            </a:pPr>
            <a:r>
              <a:rPr lang="en-US" sz="1000" b="1" dirty="0">
                <a:solidFill>
                  <a:srgbClr val="8A6D1A"/>
                </a:solidFill>
                <a:latin typeface="Trebuchet MS" pitchFamily="34" charset="0"/>
                <a:ea typeface="Trebuchet MS" pitchFamily="34" charset="-122"/>
                <a:cs typeface="Trebuchet MS" pitchFamily="34" charset="-120"/>
              </a:rPr>
              <a:t>US.17:</a:t>
            </a:r>
            <a:endParaRPr lang="en-US" sz="1000" dirty="0"/>
          </a:p>
        </p:txBody>
      </p:sp>
      <p:sp>
        <p:nvSpPr>
          <p:cNvPr id="22" name="Text 20"/>
          <p:cNvSpPr/>
          <p:nvPr/>
        </p:nvSpPr>
        <p:spPr>
          <a:xfrm>
            <a:off x="8183880" y="3566160"/>
            <a:ext cx="3291840" cy="2286000"/>
          </a:xfrm>
          <a:prstGeom prst="rect">
            <a:avLst/>
          </a:prstGeom>
          <a:noFill/>
          <a:ln/>
        </p:spPr>
        <p:txBody>
          <a:bodyPr wrap="square" rtlCol="0" anchor="t"/>
          <a:lstStyle/>
          <a:p>
            <a:pPr indent="0" marL="0">
              <a:buNone/>
            </a:pPr>
            <a:r>
              <a:rPr lang="en-US" sz="1200" dirty="0">
                <a:solidFill>
                  <a:srgbClr val="1F2430"/>
                </a:solidFill>
                <a:latin typeface="Calibri" pitchFamily="34" charset="0"/>
                <a:ea typeface="Calibri" pitchFamily="34" charset="-122"/>
                <a:cs typeface="Calibri" pitchFamily="34" charset="-120"/>
              </a:rPr>
              <a:t>President Woodrow Wilson working with Congress to pass the Federal Reserve Act and create the National Park Service.</a:t>
            </a:r>
            <a:endParaRPr lang="en-US" sz="1200" dirty="0"/>
          </a:p>
        </p:txBody>
      </p:sp>
      <p:sp>
        <p:nvSpPr>
          <p:cNvPr id="23" name="Text 21"/>
          <p:cNvSpPr/>
          <p:nvPr/>
        </p:nvSpPr>
        <p:spPr>
          <a:xfrm>
            <a:off x="457200" y="6126480"/>
            <a:ext cx="10972800" cy="274320"/>
          </a:xfrm>
          <a:prstGeom prst="rect">
            <a:avLst/>
          </a:prstGeom>
          <a:noFill/>
          <a:ln/>
        </p:spPr>
        <p:txBody>
          <a:bodyPr wrap="square" rtlCol="0" anchor="ctr"/>
          <a:lstStyle/>
          <a:p>
            <a:pPr indent="0" marL="0">
              <a:buNone/>
            </a:pPr>
            <a:r>
              <a:rPr lang="en-US" sz="1000" i="1" dirty="0">
                <a:solidFill>
                  <a:srgbClr val="C7D4E0"/>
                </a:solidFill>
                <a:latin typeface="Trebuchet MS" pitchFamily="34" charset="0"/>
                <a:ea typeface="Trebuchet MS" pitchFamily="34" charset="-122"/>
                <a:cs typeface="Trebuchet MS" pitchFamily="34" charset="-120"/>
              </a:rPr>
              <a:t>Anchor: Wilson, Federal Reserve Act message, 1913 (Library of Congress)</a:t>
            </a:r>
            <a:endParaRPr lang="en-US" sz="1000" dirty="0"/>
          </a:p>
        </p:txBody>
      </p:sp>
      <p:sp>
        <p:nvSpPr>
          <p:cNvPr id="24" name="Text 22"/>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5" name="Text 23"/>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65</a:t>
            </a:r>
            <a:endParaRPr lang="en-US" sz="9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1A2332"/>
        </a:solidFill>
      </p:bgPr>
    </p:bg>
    <p:spTree>
      <p:nvGrpSpPr>
        <p:cNvPr id="1" name=""/>
        <p:cNvGrpSpPr/>
        <p:nvPr/>
      </p:nvGrpSpPr>
      <p:grpSpPr>
        <a:xfrm>
          <a:off x="0" y="0"/>
          <a:ext cx="0" cy="0"/>
          <a:chOff x="0" y="0"/>
          <a:chExt cx="0" cy="0"/>
        </a:xfrm>
      </p:grpSpPr>
      <p:sp>
        <p:nvSpPr>
          <p:cNvPr id="2" name="Shape 0"/>
          <p:cNvSpPr/>
          <p:nvPr/>
        </p:nvSpPr>
        <p:spPr>
          <a:xfrm>
            <a:off x="0" y="2331720"/>
            <a:ext cx="12191695" cy="73152"/>
          </a:xfrm>
          <a:prstGeom prst="rect">
            <a:avLst/>
          </a:prstGeom>
          <a:solidFill>
            <a:srgbClr val="C9A84C"/>
          </a:solidFill>
          <a:ln/>
        </p:spPr>
        <p:txBody>
          <a:bodyPr/>
          <a:p/>
        </p:txBody>
      </p:sp>
      <p:sp>
        <p:nvSpPr>
          <p:cNvPr id="3" name="Text 1"/>
          <p:cNvSpPr/>
          <p:nvPr/>
        </p:nvSpPr>
        <p:spPr>
          <a:xfrm>
            <a:off x="457200" y="548640"/>
            <a:ext cx="2926080" cy="1188720"/>
          </a:xfrm>
          <a:prstGeom prst="rect">
            <a:avLst/>
          </a:prstGeom>
          <a:noFill/>
          <a:ln/>
        </p:spPr>
        <p:txBody>
          <a:bodyPr wrap="square" rtlCol="0" anchor="ctr"/>
          <a:lstStyle/>
          <a:p>
            <a:pPr indent="0" marL="0">
              <a:buNone/>
            </a:pPr>
            <a:r>
              <a:rPr lang="en-US" sz="6000" b="1" dirty="0">
                <a:solidFill>
                  <a:srgbClr val="C9A84C"/>
                </a:solidFill>
                <a:latin typeface="Georgia" pitchFamily="34" charset="0"/>
                <a:ea typeface="Georgia" pitchFamily="34" charset="-122"/>
                <a:cs typeface="Georgia" pitchFamily="34" charset="-120"/>
              </a:rPr>
              <a:t>US.18</a:t>
            </a:r>
            <a:endParaRPr lang="en-US" sz="6000" dirty="0"/>
          </a:p>
        </p:txBody>
      </p:sp>
      <p:sp>
        <p:nvSpPr>
          <p:cNvPr id="4" name="Text 2"/>
          <p:cNvSpPr/>
          <p:nvPr/>
        </p:nvSpPr>
        <p:spPr>
          <a:xfrm>
            <a:off x="3474720" y="548640"/>
            <a:ext cx="8229600" cy="1188720"/>
          </a:xfrm>
          <a:prstGeom prst="rect">
            <a:avLst/>
          </a:prstGeom>
          <a:noFill/>
          <a:ln/>
        </p:spPr>
        <p:txBody>
          <a:bodyPr wrap="square" rtlCol="0" anchor="ctr"/>
          <a:lstStyle/>
          <a:p>
            <a:pPr indent="0" marL="0">
              <a:buNone/>
            </a:pPr>
            <a:r>
              <a:rPr lang="en-US" sz="2600" b="1" dirty="0">
                <a:solidFill>
                  <a:srgbClr val="FFFFFF"/>
                </a:solidFill>
                <a:latin typeface="Georgia" pitchFamily="34" charset="0"/>
                <a:ea typeface="Georgia" pitchFamily="34" charset="-122"/>
                <a:cs typeface="Georgia" pitchFamily="34" charset="-120"/>
              </a:rPr>
              <a:t>Women's Suffrage Movement</a:t>
            </a:r>
            <a:endParaRPr lang="en-US" sz="2600" dirty="0"/>
          </a:p>
        </p:txBody>
      </p:sp>
      <p:sp>
        <p:nvSpPr>
          <p:cNvPr id="5" name="Text 3"/>
          <p:cNvSpPr/>
          <p:nvPr/>
        </p:nvSpPr>
        <p:spPr>
          <a:xfrm>
            <a:off x="457200" y="2651760"/>
            <a:ext cx="11247120" cy="274320"/>
          </a:xfrm>
          <a:prstGeom prst="rect">
            <a:avLst/>
          </a:prstGeom>
          <a:noFill/>
          <a:ln/>
        </p:spPr>
        <p:txBody>
          <a:bodyPr wrap="square" rtlCol="0" anchor="ctr"/>
          <a:lstStyle/>
          <a:p>
            <a:pPr indent="0" marL="0">
              <a:buNone/>
            </a:pPr>
            <a:r>
              <a:rPr lang="en-US" sz="1200" b="1" spc="200" kern="0" dirty="0">
                <a:solidFill>
                  <a:srgbClr val="C9A84C"/>
                </a:solidFill>
                <a:latin typeface="Trebuchet MS" pitchFamily="34" charset="0"/>
                <a:ea typeface="Trebuchet MS" pitchFamily="34" charset="-122"/>
                <a:cs typeface="Trebuchet MS" pitchFamily="34" charset="-120"/>
              </a:rPr>
              <a:t>TN STANDARD</a:t>
            </a:r>
            <a:endParaRPr lang="en-US" sz="1200" dirty="0"/>
          </a:p>
        </p:txBody>
      </p:sp>
      <p:sp>
        <p:nvSpPr>
          <p:cNvPr id="6" name="Text 4"/>
          <p:cNvSpPr/>
          <p:nvPr/>
        </p:nvSpPr>
        <p:spPr>
          <a:xfrm>
            <a:off x="457200" y="2999232"/>
            <a:ext cx="11247120" cy="1691640"/>
          </a:xfrm>
          <a:prstGeom prst="rect">
            <a:avLst/>
          </a:prstGeom>
          <a:noFill/>
          <a:ln/>
        </p:spPr>
        <p:txBody>
          <a:bodyPr wrap="square" rtlCol="0" anchor="t"/>
          <a:lstStyle/>
          <a:p>
            <a:pPr indent="0" marL="0">
              <a:lnSpc>
                <a:spcPct val="105000"/>
              </a:lnSpc>
              <a:buNone/>
            </a:pPr>
            <a:r>
              <a:rPr lang="en-US" sz="1600" dirty="0">
                <a:solidFill>
                  <a:srgbClr val="C7D4E0"/>
                </a:solidFill>
                <a:latin typeface="Calibri" pitchFamily="34" charset="0"/>
                <a:ea typeface="Calibri" pitchFamily="34" charset="-122"/>
                <a:cs typeface="Calibri" pitchFamily="34" charset="-120"/>
              </a:rPr>
              <a:t>US.18 – Describe the movement to achieve suffrage for women, including: the significance of leaders such as Carrie Chapman Catt, Anne Dallas Dudley, and Alice Paul, the activities of suffragettes, the passage of the 19th Amendment, and the role of Tennessee as the 'Perfect 36.'</a:t>
            </a:r>
            <a:endParaRPr lang="en-US" sz="1600" dirty="0"/>
          </a:p>
        </p:txBody>
      </p:sp>
      <p:sp>
        <p:nvSpPr>
          <p:cNvPr id="7" name="Shape 5"/>
          <p:cNvSpPr/>
          <p:nvPr/>
        </p:nvSpPr>
        <p:spPr>
          <a:xfrm>
            <a:off x="457200" y="4892040"/>
            <a:ext cx="11247120" cy="1234440"/>
          </a:xfrm>
          <a:prstGeom prst="rect">
            <a:avLst/>
          </a:prstGeom>
          <a:solidFill>
            <a:srgbClr val="C9A84C"/>
          </a:solidFill>
          <a:ln/>
        </p:spPr>
      </p:sp>
      <p:sp>
        <p:nvSpPr>
          <p:cNvPr id="8" name="Text 6"/>
          <p:cNvSpPr/>
          <p:nvPr/>
        </p:nvSpPr>
        <p:spPr>
          <a:xfrm>
            <a:off x="640080" y="5029200"/>
            <a:ext cx="10972800" cy="274320"/>
          </a:xfrm>
          <a:prstGeom prst="rect">
            <a:avLst/>
          </a:prstGeom>
          <a:noFill/>
          <a:ln/>
        </p:spPr>
        <p:txBody>
          <a:bodyPr wrap="square" rtlCol="0" anchor="ctr"/>
          <a:lstStyle/>
          <a:p>
            <a:pPr indent="0" marL="0">
              <a:buNone/>
            </a:pPr>
            <a:r>
              <a:rPr lang="en-US" sz="1200" b="1" spc="200" kern="0" dirty="0">
                <a:solidFill>
                  <a:srgbClr val="1A2332"/>
                </a:solidFill>
                <a:latin typeface="Trebuchet MS" pitchFamily="34" charset="0"/>
                <a:ea typeface="Trebuchet MS" pitchFamily="34" charset="-122"/>
                <a:cs typeface="Trebuchet MS" pitchFamily="34" charset="-120"/>
              </a:rPr>
              <a:t>I CAN</a:t>
            </a:r>
            <a:endParaRPr lang="en-US" sz="1200" dirty="0"/>
          </a:p>
        </p:txBody>
      </p:sp>
      <p:sp>
        <p:nvSpPr>
          <p:cNvPr id="9" name="Text 7"/>
          <p:cNvSpPr/>
          <p:nvPr/>
        </p:nvSpPr>
        <p:spPr>
          <a:xfrm>
            <a:off x="640080" y="5303520"/>
            <a:ext cx="10881360" cy="749808"/>
          </a:xfrm>
          <a:prstGeom prst="rect">
            <a:avLst/>
          </a:prstGeom>
          <a:noFill/>
          <a:ln/>
        </p:spPr>
        <p:txBody>
          <a:bodyPr wrap="square" rtlCol="0" anchor="t"/>
          <a:lstStyle/>
          <a:p>
            <a:pPr indent="0" marL="0">
              <a:buNone/>
            </a:pPr>
            <a:r>
              <a:rPr lang="en-US" sz="1400" b="1" dirty="0">
                <a:solidFill>
                  <a:srgbClr val="1A2332"/>
                </a:solidFill>
                <a:latin typeface="Calibri" pitchFamily="34" charset="0"/>
                <a:ea typeface="Calibri" pitchFamily="34" charset="-122"/>
                <a:cs typeface="Calibri" pitchFamily="34" charset="-120"/>
              </a:rPr>
              <a:t>I can describe the movement to achieve suffrage for women, including the significance of leaders such as Carrie Chapman Catt, Anne Dallas Dudley, and Alice Paul, the activities of suffragettes, the passage of the 19th Amendment, and the role of Tennessee as the 'Perfect 36.'</a:t>
            </a:r>
            <a:endParaRPr lang="en-US" sz="1400" dirty="0"/>
          </a:p>
        </p:txBody>
      </p:sp>
      <p:sp>
        <p:nvSpPr>
          <p:cNvPr id="10" name="Text 8"/>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1" name="Text 9"/>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66</a:t>
            </a:r>
            <a:endParaRPr lang="en-US" sz="9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737360"/>
          </a:xfrm>
          <a:prstGeom prst="rect">
            <a:avLst/>
          </a:prstGeom>
          <a:solidFill>
            <a:srgbClr val="1A2332"/>
          </a:solidFill>
          <a:ln/>
        </p:spPr>
        <p:txBody>
          <a:bodyPr/>
          <a:p/>
        </p:txBody>
      </p:sp>
      <p:sp>
        <p:nvSpPr>
          <p:cNvPr id="3" name="Shape 1"/>
          <p:cNvSpPr/>
          <p:nvPr/>
        </p:nvSpPr>
        <p:spPr>
          <a:xfrm>
            <a:off x="0" y="1737360"/>
            <a:ext cx="12191695" cy="54864"/>
          </a:xfrm>
          <a:prstGeom prst="rect">
            <a:avLst/>
          </a:prstGeom>
          <a:solidFill>
            <a:srgbClr val="C9A84C"/>
          </a:solidFill>
          <a:ln/>
        </p:spPr>
        <p:txBody>
          <a:bodyPr/>
          <a:p/>
        </p:txBody>
      </p:sp>
      <p:sp>
        <p:nvSpPr>
          <p:cNvPr id="4" name="Text 2"/>
          <p:cNvSpPr/>
          <p:nvPr/>
        </p:nvSpPr>
        <p:spPr>
          <a:xfrm>
            <a:off x="457200" y="320040"/>
            <a:ext cx="3291840" cy="365760"/>
          </a:xfrm>
          <a:prstGeom prst="rect">
            <a:avLst/>
          </a:prstGeom>
          <a:solidFill>
            <a:srgbClr val="00285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DIRECT INSTRUCTION</a:t>
            </a:r>
            <a:endParaRPr lang="en-US" sz="1100" dirty="0"/>
          </a:p>
        </p:txBody>
      </p:sp>
      <p:sp>
        <p:nvSpPr>
          <p:cNvPr id="5" name="Text 3"/>
          <p:cNvSpPr/>
          <p:nvPr/>
        </p:nvSpPr>
        <p:spPr>
          <a:xfrm>
            <a:off x="3886200" y="32004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US.18</a:t>
            </a:r>
            <a:endParaRPr lang="en-US" sz="1200" dirty="0"/>
          </a:p>
        </p:txBody>
      </p:sp>
      <p:sp>
        <p:nvSpPr>
          <p:cNvPr id="6" name="Text 4"/>
          <p:cNvSpPr/>
          <p:nvPr/>
        </p:nvSpPr>
        <p:spPr>
          <a:xfrm>
            <a:off x="457200" y="777240"/>
            <a:ext cx="11247120" cy="868680"/>
          </a:xfrm>
          <a:prstGeom prst="rect">
            <a:avLst/>
          </a:prstGeom>
          <a:noFill/>
          <a:ln/>
        </p:spPr>
        <p:txBody>
          <a:bodyPr wrap="square" rtlCol="0" anchor="ctr"/>
          <a:lstStyle/>
          <a:p>
            <a:pPr algn="l" indent="0" marL="0">
              <a:buNone/>
            </a:pPr>
            <a:r>
              <a:rPr lang="en-US" sz="2300" b="1" dirty="0">
                <a:solidFill>
                  <a:srgbClr val="FFFFFF"/>
                </a:solidFill>
                <a:latin typeface="Georgia" pitchFamily="34" charset="0"/>
                <a:ea typeface="Georgia" pitchFamily="34" charset="-122"/>
                <a:cs typeface="Georgia" pitchFamily="34" charset="-120"/>
              </a:rPr>
              <a:t>Women had demanded the vote since Seneca Falls (1848); the movement gained new urgency in the Progressive Era.</a:t>
            </a:r>
            <a:endParaRPr lang="en-US" sz="2300" dirty="0"/>
          </a:p>
        </p:txBody>
      </p:sp>
      <p:pic>
        <p:nvPicPr>
          <p:cNvPr id="7" name="Image 0" descr="hh-web/public/images/textbook/unit-2/suffrage-parade-1913.jpg">    </p:cNvPr>
          <p:cNvPicPr>
            <a:picLocks noChangeAspect="1"/>
          </p:cNvPicPr>
          <p:nvPr/>
        </p:nvPicPr>
        <p:blipFill>
          <a:blip r:embed="rId1"/>
          <a:srcRect l="0" r="0" t="0" b="0"/>
          <a:stretch/>
        </p:blipFill>
        <p:spPr>
          <a:xfrm>
            <a:off x="2743200" y="2057400"/>
            <a:ext cx="6702552" cy="4160520"/>
          </a:xfrm>
          <a:prstGeom prst="rect">
            <a:avLst/>
          </a:prstGeom>
        </p:spPr>
      </p:pic>
      <p:sp>
        <p:nvSpPr>
          <p:cNvPr id="8" name="Text 5"/>
          <p:cNvSpPr/>
          <p:nvPr/>
        </p:nvSpPr>
        <p:spPr>
          <a:xfrm>
            <a:off x="2743200" y="2103120"/>
            <a:ext cx="1188720" cy="292608"/>
          </a:xfrm>
          <a:prstGeom prst="rect">
            <a:avLst/>
          </a:prstGeom>
          <a:solidFill>
            <a:srgbClr val="F9A825"/>
          </a:solidFill>
          <a:ln/>
        </p:spPr>
        <p:txBody>
          <a:bodyPr wrap="square" rtlCol="0" anchor="ctr"/>
          <a:lstStyle/>
          <a:p>
            <a:pPr algn="ctr" indent="0" marL="0">
              <a:buNone/>
            </a:pPr>
            <a:r>
              <a:rPr lang="en-US" sz="900" b="1" spc="100" kern="0" dirty="0">
                <a:solidFill>
                  <a:srgbClr val="1A2332"/>
                </a:solidFill>
                <a:latin typeface="Trebuchet MS" pitchFamily="34" charset="0"/>
                <a:ea typeface="Trebuchet MS" pitchFamily="34" charset="-122"/>
                <a:cs typeface="Trebuchet MS" pitchFamily="34" charset="-120"/>
              </a:rPr>
              <a:t>ZOOM IN</a:t>
            </a:r>
            <a:endParaRPr lang="en-US" sz="900" dirty="0"/>
          </a:p>
        </p:txBody>
      </p:sp>
      <p:sp>
        <p:nvSpPr>
          <p:cNvPr id="9" name="Text 6"/>
          <p:cNvSpPr/>
          <p:nvPr/>
        </p:nvSpPr>
        <p:spPr>
          <a:xfrm>
            <a:off x="457200" y="6263640"/>
            <a:ext cx="8229600" cy="274320"/>
          </a:xfrm>
          <a:prstGeom prst="rect">
            <a:avLst/>
          </a:prstGeom>
          <a:noFill/>
          <a:ln/>
        </p:spPr>
        <p:txBody>
          <a:bodyPr wrap="square" rtlCol="0" anchor="ctr"/>
          <a:lstStyle/>
          <a:p>
            <a:pPr indent="0" marL="0">
              <a:buNone/>
            </a:pPr>
            <a:r>
              <a:rPr lang="en-US" sz="1000" i="1" dirty="0">
                <a:solidFill>
                  <a:srgbClr val="5C6470"/>
                </a:solidFill>
                <a:latin typeface="Trebuchet MS" pitchFamily="34" charset="0"/>
                <a:ea typeface="Trebuchet MS" pitchFamily="34" charset="-122"/>
                <a:cs typeface="Trebuchet MS" pitchFamily="34" charset="-120"/>
              </a:rPr>
              <a:t>US.18 · Historical Context &amp; Motivations</a:t>
            </a:r>
            <a:endParaRPr lang="en-US" sz="1000" dirty="0"/>
          </a:p>
        </p:txBody>
      </p:sp>
      <p:sp>
        <p:nvSpPr>
          <p:cNvPr id="10" name="Text 7"/>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1" name="Text 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67</a:t>
            </a:r>
            <a:endParaRPr lang="en-US" sz="9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737360"/>
          </a:xfrm>
          <a:prstGeom prst="rect">
            <a:avLst/>
          </a:prstGeom>
          <a:solidFill>
            <a:srgbClr val="1A2332"/>
          </a:solidFill>
          <a:ln/>
        </p:spPr>
        <p:txBody>
          <a:bodyPr/>
          <a:p/>
        </p:txBody>
      </p:sp>
      <p:sp>
        <p:nvSpPr>
          <p:cNvPr id="3" name="Shape 1"/>
          <p:cNvSpPr/>
          <p:nvPr/>
        </p:nvSpPr>
        <p:spPr>
          <a:xfrm>
            <a:off x="0" y="1737360"/>
            <a:ext cx="12191695" cy="54864"/>
          </a:xfrm>
          <a:prstGeom prst="rect">
            <a:avLst/>
          </a:prstGeom>
          <a:solidFill>
            <a:srgbClr val="C9A84C"/>
          </a:solidFill>
          <a:ln/>
        </p:spPr>
        <p:txBody>
          <a:bodyPr/>
          <a:p/>
        </p:txBody>
      </p:sp>
      <p:sp>
        <p:nvSpPr>
          <p:cNvPr id="4" name="Text 2"/>
          <p:cNvSpPr/>
          <p:nvPr/>
        </p:nvSpPr>
        <p:spPr>
          <a:xfrm>
            <a:off x="457200" y="320040"/>
            <a:ext cx="3291840" cy="365760"/>
          </a:xfrm>
          <a:prstGeom prst="rect">
            <a:avLst/>
          </a:prstGeom>
          <a:solidFill>
            <a:srgbClr val="00285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DIRECT INSTRUCTION</a:t>
            </a:r>
            <a:endParaRPr lang="en-US" sz="1100" dirty="0"/>
          </a:p>
        </p:txBody>
      </p:sp>
      <p:sp>
        <p:nvSpPr>
          <p:cNvPr id="5" name="Text 3"/>
          <p:cNvSpPr/>
          <p:nvPr/>
        </p:nvSpPr>
        <p:spPr>
          <a:xfrm>
            <a:off x="3886200" y="32004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US.18</a:t>
            </a:r>
            <a:endParaRPr lang="en-US" sz="1200" dirty="0"/>
          </a:p>
        </p:txBody>
      </p:sp>
      <p:sp>
        <p:nvSpPr>
          <p:cNvPr id="6" name="Text 4"/>
          <p:cNvSpPr/>
          <p:nvPr/>
        </p:nvSpPr>
        <p:spPr>
          <a:xfrm>
            <a:off x="457200" y="777240"/>
            <a:ext cx="11247120" cy="868680"/>
          </a:xfrm>
          <a:prstGeom prst="rect">
            <a:avLst/>
          </a:prstGeom>
          <a:noFill/>
          <a:ln/>
        </p:spPr>
        <p:txBody>
          <a:bodyPr wrap="square" rtlCol="0" anchor="ctr"/>
          <a:lstStyle/>
          <a:p>
            <a:pPr algn="l" indent="0" marL="0">
              <a:buNone/>
            </a:pPr>
            <a:r>
              <a:rPr lang="en-US" sz="2300" b="1" dirty="0">
                <a:solidFill>
                  <a:srgbClr val="FFFFFF"/>
                </a:solidFill>
                <a:latin typeface="Georgia" pitchFamily="34" charset="0"/>
                <a:ea typeface="Georgia" pitchFamily="34" charset="-122"/>
                <a:cs typeface="Georgia" pitchFamily="34" charset="-120"/>
              </a:rPr>
              <a:t>Carrie Chapman Catt led NAWSA’s state-by-state “Winning Plan”; Alice Paul pushed militant national tactics; Anne Dallas Dudley organized Tennessee.</a:t>
            </a:r>
            <a:endParaRPr lang="en-US" sz="2300" dirty="0"/>
          </a:p>
        </p:txBody>
      </p:sp>
      <p:pic>
        <p:nvPicPr>
          <p:cNvPr id="7" name="Image 0" descr="hh-web/public/images/textbook/unit-2/catt-carrie-chapman-portrait.jpg">    </p:cNvPr>
          <p:cNvPicPr>
            <a:picLocks noChangeAspect="1"/>
          </p:cNvPicPr>
          <p:nvPr/>
        </p:nvPicPr>
        <p:blipFill>
          <a:blip r:embed="rId1"/>
          <a:srcRect l="0" r="0" t="0" b="0"/>
          <a:stretch/>
        </p:blipFill>
        <p:spPr>
          <a:xfrm>
            <a:off x="2743200" y="2057400"/>
            <a:ext cx="6702552" cy="4160520"/>
          </a:xfrm>
          <a:prstGeom prst="rect">
            <a:avLst/>
          </a:prstGeom>
        </p:spPr>
      </p:pic>
      <p:sp>
        <p:nvSpPr>
          <p:cNvPr id="8" name="Text 5"/>
          <p:cNvSpPr/>
          <p:nvPr/>
        </p:nvSpPr>
        <p:spPr>
          <a:xfrm>
            <a:off x="2743200" y="2103120"/>
            <a:ext cx="1188720" cy="292608"/>
          </a:xfrm>
          <a:prstGeom prst="rect">
            <a:avLst/>
          </a:prstGeom>
          <a:solidFill>
            <a:srgbClr val="F9A825"/>
          </a:solidFill>
          <a:ln/>
        </p:spPr>
        <p:txBody>
          <a:bodyPr wrap="square" rtlCol="0" anchor="ctr"/>
          <a:lstStyle/>
          <a:p>
            <a:pPr algn="ctr" indent="0" marL="0">
              <a:buNone/>
            </a:pPr>
            <a:r>
              <a:rPr lang="en-US" sz="900" b="1" spc="100" kern="0" dirty="0">
                <a:solidFill>
                  <a:srgbClr val="1A2332"/>
                </a:solidFill>
                <a:latin typeface="Trebuchet MS" pitchFamily="34" charset="0"/>
                <a:ea typeface="Trebuchet MS" pitchFamily="34" charset="-122"/>
                <a:cs typeface="Trebuchet MS" pitchFamily="34" charset="-120"/>
              </a:rPr>
              <a:t>ZOOM IN</a:t>
            </a:r>
            <a:endParaRPr lang="en-US" sz="900" dirty="0"/>
          </a:p>
        </p:txBody>
      </p:sp>
      <p:sp>
        <p:nvSpPr>
          <p:cNvPr id="9" name="Text 6"/>
          <p:cNvSpPr/>
          <p:nvPr/>
        </p:nvSpPr>
        <p:spPr>
          <a:xfrm>
            <a:off x="457200" y="6263640"/>
            <a:ext cx="8229600" cy="274320"/>
          </a:xfrm>
          <a:prstGeom prst="rect">
            <a:avLst/>
          </a:prstGeom>
          <a:noFill/>
          <a:ln/>
        </p:spPr>
        <p:txBody>
          <a:bodyPr wrap="square" rtlCol="0" anchor="ctr"/>
          <a:lstStyle/>
          <a:p>
            <a:pPr indent="0" marL="0">
              <a:buNone/>
            </a:pPr>
            <a:r>
              <a:rPr lang="en-US" sz="1000" i="1" dirty="0">
                <a:solidFill>
                  <a:srgbClr val="5C6470"/>
                </a:solidFill>
                <a:latin typeface="Trebuchet MS" pitchFamily="34" charset="0"/>
                <a:ea typeface="Trebuchet MS" pitchFamily="34" charset="-122"/>
                <a:cs typeface="Trebuchet MS" pitchFamily="34" charset="-120"/>
              </a:rPr>
              <a:t>US.18 · Key Leaders &amp; Strategies</a:t>
            </a:r>
            <a:endParaRPr lang="en-US" sz="1000" dirty="0"/>
          </a:p>
        </p:txBody>
      </p:sp>
      <p:sp>
        <p:nvSpPr>
          <p:cNvPr id="10" name="Text 7"/>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1" name="Text 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68</a:t>
            </a:r>
            <a:endParaRPr lang="en-US" sz="9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737360"/>
          </a:xfrm>
          <a:prstGeom prst="rect">
            <a:avLst/>
          </a:prstGeom>
          <a:solidFill>
            <a:srgbClr val="1A2332"/>
          </a:solidFill>
          <a:ln/>
        </p:spPr>
        <p:txBody>
          <a:bodyPr/>
          <a:p/>
        </p:txBody>
      </p:sp>
      <p:sp>
        <p:nvSpPr>
          <p:cNvPr id="3" name="Shape 1"/>
          <p:cNvSpPr/>
          <p:nvPr/>
        </p:nvSpPr>
        <p:spPr>
          <a:xfrm>
            <a:off x="0" y="1737360"/>
            <a:ext cx="12191695" cy="54864"/>
          </a:xfrm>
          <a:prstGeom prst="rect">
            <a:avLst/>
          </a:prstGeom>
          <a:solidFill>
            <a:srgbClr val="C9A84C"/>
          </a:solidFill>
          <a:ln/>
        </p:spPr>
        <p:txBody>
          <a:bodyPr/>
          <a:p/>
        </p:txBody>
      </p:sp>
      <p:sp>
        <p:nvSpPr>
          <p:cNvPr id="4" name="Text 2"/>
          <p:cNvSpPr/>
          <p:nvPr/>
        </p:nvSpPr>
        <p:spPr>
          <a:xfrm>
            <a:off x="457200" y="320040"/>
            <a:ext cx="3291840" cy="365760"/>
          </a:xfrm>
          <a:prstGeom prst="rect">
            <a:avLst/>
          </a:prstGeom>
          <a:solidFill>
            <a:srgbClr val="00285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DIRECT INSTRUCTION</a:t>
            </a:r>
            <a:endParaRPr lang="en-US" sz="1100" dirty="0"/>
          </a:p>
        </p:txBody>
      </p:sp>
      <p:sp>
        <p:nvSpPr>
          <p:cNvPr id="5" name="Text 3"/>
          <p:cNvSpPr/>
          <p:nvPr/>
        </p:nvSpPr>
        <p:spPr>
          <a:xfrm>
            <a:off x="3886200" y="32004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US.18</a:t>
            </a:r>
            <a:endParaRPr lang="en-US" sz="1200" dirty="0"/>
          </a:p>
        </p:txBody>
      </p:sp>
      <p:sp>
        <p:nvSpPr>
          <p:cNvPr id="6" name="Text 4"/>
          <p:cNvSpPr/>
          <p:nvPr/>
        </p:nvSpPr>
        <p:spPr>
          <a:xfrm>
            <a:off x="457200" y="777240"/>
            <a:ext cx="11247120" cy="868680"/>
          </a:xfrm>
          <a:prstGeom prst="rect">
            <a:avLst/>
          </a:prstGeom>
          <a:noFill/>
          <a:ln/>
        </p:spPr>
        <p:txBody>
          <a:bodyPr wrap="square" rtlCol="0" anchor="ctr"/>
          <a:lstStyle/>
          <a:p>
            <a:pPr algn="l" indent="0" marL="0">
              <a:buNone/>
            </a:pPr>
            <a:r>
              <a:rPr lang="en-US" sz="2300" b="1" dirty="0">
                <a:solidFill>
                  <a:srgbClr val="FFFFFF"/>
                </a:solidFill>
                <a:latin typeface="Georgia" pitchFamily="34" charset="0"/>
                <a:ea typeface="Georgia" pitchFamily="34" charset="-122"/>
                <a:cs typeface="Georgia" pitchFamily="34" charset="-120"/>
              </a:rPr>
              <a:t>Suffragists escalated from petitions and lectures to mass parades, picketing the White House, and hunger strikes.</a:t>
            </a:r>
            <a:endParaRPr lang="en-US" sz="2300" dirty="0"/>
          </a:p>
        </p:txBody>
      </p:sp>
      <p:pic>
        <p:nvPicPr>
          <p:cNvPr id="7" name="Image 0" descr="hh-web/public/images/textbook/unit-2/paul-alice-portrait-1915.jpg">    </p:cNvPr>
          <p:cNvPicPr>
            <a:picLocks noChangeAspect="1"/>
          </p:cNvPicPr>
          <p:nvPr/>
        </p:nvPicPr>
        <p:blipFill>
          <a:blip r:embed="rId1"/>
          <a:srcRect l="0" r="0" t="0" b="0"/>
          <a:stretch/>
        </p:blipFill>
        <p:spPr>
          <a:xfrm>
            <a:off x="2743200" y="2057400"/>
            <a:ext cx="6702552" cy="4160520"/>
          </a:xfrm>
          <a:prstGeom prst="rect">
            <a:avLst/>
          </a:prstGeom>
        </p:spPr>
      </p:pic>
      <p:sp>
        <p:nvSpPr>
          <p:cNvPr id="8" name="Text 5"/>
          <p:cNvSpPr/>
          <p:nvPr/>
        </p:nvSpPr>
        <p:spPr>
          <a:xfrm>
            <a:off x="2743200" y="2103120"/>
            <a:ext cx="1188720" cy="292608"/>
          </a:xfrm>
          <a:prstGeom prst="rect">
            <a:avLst/>
          </a:prstGeom>
          <a:solidFill>
            <a:srgbClr val="F9A825"/>
          </a:solidFill>
          <a:ln/>
        </p:spPr>
        <p:txBody>
          <a:bodyPr wrap="square" rtlCol="0" anchor="ctr"/>
          <a:lstStyle/>
          <a:p>
            <a:pPr algn="ctr" indent="0" marL="0">
              <a:buNone/>
            </a:pPr>
            <a:r>
              <a:rPr lang="en-US" sz="900" b="1" spc="100" kern="0" dirty="0">
                <a:solidFill>
                  <a:srgbClr val="1A2332"/>
                </a:solidFill>
                <a:latin typeface="Trebuchet MS" pitchFamily="34" charset="0"/>
                <a:ea typeface="Trebuchet MS" pitchFamily="34" charset="-122"/>
                <a:cs typeface="Trebuchet MS" pitchFamily="34" charset="-120"/>
              </a:rPr>
              <a:t>ZOOM IN</a:t>
            </a:r>
            <a:endParaRPr lang="en-US" sz="900" dirty="0"/>
          </a:p>
        </p:txBody>
      </p:sp>
      <p:sp>
        <p:nvSpPr>
          <p:cNvPr id="9" name="Text 6"/>
          <p:cNvSpPr/>
          <p:nvPr/>
        </p:nvSpPr>
        <p:spPr>
          <a:xfrm>
            <a:off x="457200" y="6263640"/>
            <a:ext cx="8229600" cy="274320"/>
          </a:xfrm>
          <a:prstGeom prst="rect">
            <a:avLst/>
          </a:prstGeom>
          <a:noFill/>
          <a:ln/>
        </p:spPr>
        <p:txBody>
          <a:bodyPr wrap="square" rtlCol="0" anchor="ctr"/>
          <a:lstStyle/>
          <a:p>
            <a:pPr indent="0" marL="0">
              <a:buNone/>
            </a:pPr>
            <a:r>
              <a:rPr lang="en-US" sz="1000" i="1" dirty="0">
                <a:solidFill>
                  <a:srgbClr val="5C6470"/>
                </a:solidFill>
                <a:latin typeface="Trebuchet MS" pitchFamily="34" charset="0"/>
                <a:ea typeface="Trebuchet MS" pitchFamily="34" charset="-122"/>
                <a:cs typeface="Trebuchet MS" pitchFamily="34" charset="-120"/>
              </a:rPr>
              <a:t>US.18 · Suffragette Activities &amp; Tactics</a:t>
            </a:r>
            <a:endParaRPr lang="en-US" sz="1000" dirty="0"/>
          </a:p>
        </p:txBody>
      </p:sp>
      <p:sp>
        <p:nvSpPr>
          <p:cNvPr id="10" name="Text 7"/>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1" name="Text 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69</a:t>
            </a:r>
            <a:endParaRPr lang="en-US" sz="9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737360"/>
          </a:xfrm>
          <a:prstGeom prst="rect">
            <a:avLst/>
          </a:prstGeom>
          <a:solidFill>
            <a:srgbClr val="1A2332"/>
          </a:solidFill>
          <a:ln/>
        </p:spPr>
        <p:txBody>
          <a:bodyPr/>
          <a:p/>
        </p:txBody>
      </p:sp>
      <p:sp>
        <p:nvSpPr>
          <p:cNvPr id="3" name="Shape 1"/>
          <p:cNvSpPr/>
          <p:nvPr/>
        </p:nvSpPr>
        <p:spPr>
          <a:xfrm>
            <a:off x="0" y="1737360"/>
            <a:ext cx="12191695" cy="54864"/>
          </a:xfrm>
          <a:prstGeom prst="rect">
            <a:avLst/>
          </a:prstGeom>
          <a:solidFill>
            <a:srgbClr val="C9A84C"/>
          </a:solidFill>
          <a:ln/>
        </p:spPr>
        <p:txBody>
          <a:bodyPr/>
          <a:p/>
        </p:txBody>
      </p:sp>
      <p:sp>
        <p:nvSpPr>
          <p:cNvPr id="4" name="Text 2"/>
          <p:cNvSpPr/>
          <p:nvPr/>
        </p:nvSpPr>
        <p:spPr>
          <a:xfrm>
            <a:off x="457200" y="320040"/>
            <a:ext cx="3291840" cy="365760"/>
          </a:xfrm>
          <a:prstGeom prst="rect">
            <a:avLst/>
          </a:prstGeom>
          <a:solidFill>
            <a:srgbClr val="00285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DIRECT INSTRUCTION</a:t>
            </a:r>
            <a:endParaRPr lang="en-US" sz="1100" dirty="0"/>
          </a:p>
        </p:txBody>
      </p:sp>
      <p:sp>
        <p:nvSpPr>
          <p:cNvPr id="5" name="Text 3"/>
          <p:cNvSpPr/>
          <p:nvPr/>
        </p:nvSpPr>
        <p:spPr>
          <a:xfrm>
            <a:off x="3886200" y="32004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US.18</a:t>
            </a:r>
            <a:endParaRPr lang="en-US" sz="1200" dirty="0"/>
          </a:p>
        </p:txBody>
      </p:sp>
      <p:sp>
        <p:nvSpPr>
          <p:cNvPr id="6" name="Text 4"/>
          <p:cNvSpPr/>
          <p:nvPr/>
        </p:nvSpPr>
        <p:spPr>
          <a:xfrm>
            <a:off x="457200" y="777240"/>
            <a:ext cx="11247120" cy="868680"/>
          </a:xfrm>
          <a:prstGeom prst="rect">
            <a:avLst/>
          </a:prstGeom>
          <a:noFill/>
          <a:ln/>
        </p:spPr>
        <p:txBody>
          <a:bodyPr wrap="square" rtlCol="0" anchor="ctr"/>
          <a:lstStyle/>
          <a:p>
            <a:pPr algn="l" indent="0" marL="0">
              <a:buNone/>
            </a:pPr>
            <a:r>
              <a:rPr lang="en-US" sz="2300" b="1" dirty="0">
                <a:solidFill>
                  <a:srgbClr val="FFFFFF"/>
                </a:solidFill>
                <a:latin typeface="Georgia" pitchFamily="34" charset="0"/>
                <a:ea typeface="Georgia" pitchFamily="34" charset="-122"/>
                <a:cs typeface="Georgia" pitchFamily="34" charset="-120"/>
              </a:rPr>
              <a:t>The 19th Amendment passed Congress in 1919; Tennessee’s decisive ratification in August 1920 made it the “Perfect 36.”</a:t>
            </a:r>
            <a:endParaRPr lang="en-US" sz="2300" dirty="0"/>
          </a:p>
        </p:txBody>
      </p:sp>
      <p:pic>
        <p:nvPicPr>
          <p:cNvPr id="7" name="Image 0" descr="hh-web/public/images/textbook/unit-2/burn-harry-portrait-1922.jpg">    </p:cNvPr>
          <p:cNvPicPr>
            <a:picLocks noChangeAspect="1"/>
          </p:cNvPicPr>
          <p:nvPr/>
        </p:nvPicPr>
        <p:blipFill>
          <a:blip r:embed="rId1"/>
          <a:srcRect l="0" r="0" t="0" b="0"/>
          <a:stretch/>
        </p:blipFill>
        <p:spPr>
          <a:xfrm>
            <a:off x="2743200" y="2057400"/>
            <a:ext cx="6702552" cy="4160520"/>
          </a:xfrm>
          <a:prstGeom prst="rect">
            <a:avLst/>
          </a:prstGeom>
        </p:spPr>
      </p:pic>
      <p:sp>
        <p:nvSpPr>
          <p:cNvPr id="8" name="Text 5"/>
          <p:cNvSpPr/>
          <p:nvPr/>
        </p:nvSpPr>
        <p:spPr>
          <a:xfrm>
            <a:off x="2743200" y="2103120"/>
            <a:ext cx="1188720" cy="292608"/>
          </a:xfrm>
          <a:prstGeom prst="rect">
            <a:avLst/>
          </a:prstGeom>
          <a:solidFill>
            <a:srgbClr val="F9A825"/>
          </a:solidFill>
          <a:ln/>
        </p:spPr>
        <p:txBody>
          <a:bodyPr wrap="square" rtlCol="0" anchor="ctr"/>
          <a:lstStyle/>
          <a:p>
            <a:pPr algn="ctr" indent="0" marL="0">
              <a:buNone/>
            </a:pPr>
            <a:r>
              <a:rPr lang="en-US" sz="900" b="1" spc="100" kern="0" dirty="0">
                <a:solidFill>
                  <a:srgbClr val="1A2332"/>
                </a:solidFill>
                <a:latin typeface="Trebuchet MS" pitchFamily="34" charset="0"/>
                <a:ea typeface="Trebuchet MS" pitchFamily="34" charset="-122"/>
                <a:cs typeface="Trebuchet MS" pitchFamily="34" charset="-120"/>
              </a:rPr>
              <a:t>ZOOM IN</a:t>
            </a:r>
            <a:endParaRPr lang="en-US" sz="900" dirty="0"/>
          </a:p>
        </p:txBody>
      </p:sp>
      <p:sp>
        <p:nvSpPr>
          <p:cNvPr id="9" name="Text 6"/>
          <p:cNvSpPr/>
          <p:nvPr/>
        </p:nvSpPr>
        <p:spPr>
          <a:xfrm>
            <a:off x="457200" y="6263640"/>
            <a:ext cx="8229600" cy="274320"/>
          </a:xfrm>
          <a:prstGeom prst="rect">
            <a:avLst/>
          </a:prstGeom>
          <a:noFill/>
          <a:ln/>
        </p:spPr>
        <p:txBody>
          <a:bodyPr wrap="square" rtlCol="0" anchor="ctr"/>
          <a:lstStyle/>
          <a:p>
            <a:pPr indent="0" marL="0">
              <a:buNone/>
            </a:pPr>
            <a:r>
              <a:rPr lang="en-US" sz="1000" i="1" dirty="0">
                <a:solidFill>
                  <a:srgbClr val="5C6470"/>
                </a:solidFill>
                <a:latin typeface="Trebuchet MS" pitchFamily="34" charset="0"/>
                <a:ea typeface="Trebuchet MS" pitchFamily="34" charset="-122"/>
                <a:cs typeface="Trebuchet MS" pitchFamily="34" charset="-120"/>
              </a:rPr>
              <a:t>US.18 · 19th Amendment &amp; the ‘Perfect 36’</a:t>
            </a:r>
            <a:endParaRPr lang="en-US" sz="1000" dirty="0"/>
          </a:p>
        </p:txBody>
      </p:sp>
      <p:sp>
        <p:nvSpPr>
          <p:cNvPr id="10" name="Text 7"/>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1" name="Text 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70</a:t>
            </a:r>
            <a:endParaRPr lang="en-US" sz="9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554480"/>
          </a:xfrm>
          <a:prstGeom prst="rect">
            <a:avLst/>
          </a:prstGeom>
          <a:solidFill>
            <a:srgbClr val="002858"/>
          </a:solidFill>
          <a:ln/>
        </p:spPr>
        <p:txBody>
          <a:bodyPr/>
          <a:p/>
        </p:txBody>
      </p:sp>
      <p:sp>
        <p:nvSpPr>
          <p:cNvPr id="3" name="Shape 1"/>
          <p:cNvSpPr/>
          <p:nvPr/>
        </p:nvSpPr>
        <p:spPr>
          <a:xfrm>
            <a:off x="0" y="1554480"/>
            <a:ext cx="12191695" cy="54864"/>
          </a:xfrm>
          <a:prstGeom prst="rect">
            <a:avLst/>
          </a:prstGeom>
          <a:solidFill>
            <a:srgbClr val="C9A84C"/>
          </a:solidFill>
          <a:ln/>
        </p:spPr>
        <p:txBody>
          <a:bodyPr/>
          <a:p/>
        </p:txBody>
      </p:sp>
      <p:sp>
        <p:nvSpPr>
          <p:cNvPr id="4" name="Text 2"/>
          <p:cNvSpPr/>
          <p:nvPr/>
        </p:nvSpPr>
        <p:spPr>
          <a:xfrm>
            <a:off x="457200" y="274320"/>
            <a:ext cx="3291840" cy="365760"/>
          </a:xfrm>
          <a:prstGeom prst="rect">
            <a:avLst/>
          </a:prstGeom>
          <a:solidFill>
            <a:srgbClr val="C6282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SOURCE IT FIRST</a:t>
            </a:r>
            <a:endParaRPr lang="en-US" sz="1100" dirty="0"/>
          </a:p>
        </p:txBody>
      </p:sp>
      <p:sp>
        <p:nvSpPr>
          <p:cNvPr id="5" name="Text 3"/>
          <p:cNvSpPr/>
          <p:nvPr/>
        </p:nvSpPr>
        <p:spPr>
          <a:xfrm>
            <a:off x="3886200" y="27432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US.18</a:t>
            </a:r>
            <a:endParaRPr lang="en-US" sz="1200" dirty="0"/>
          </a:p>
        </p:txBody>
      </p:sp>
      <p:sp>
        <p:nvSpPr>
          <p:cNvPr id="6" name="Text 4"/>
          <p:cNvSpPr/>
          <p:nvPr/>
        </p:nvSpPr>
        <p:spPr>
          <a:xfrm>
            <a:off x="457200" y="713232"/>
            <a:ext cx="11247120" cy="777240"/>
          </a:xfrm>
          <a:prstGeom prst="rect">
            <a:avLst/>
          </a:prstGeom>
          <a:noFill/>
          <a:ln/>
        </p:spPr>
        <p:txBody>
          <a:bodyPr wrap="square" rtlCol="0" anchor="ctr"/>
          <a:lstStyle/>
          <a:p>
            <a:pPr indent="0" marL="0">
              <a:buNone/>
            </a:pPr>
            <a:r>
              <a:rPr lang="en-US" sz="2000" b="1" dirty="0">
                <a:solidFill>
                  <a:srgbClr val="FFFFFF"/>
                </a:solidFill>
                <a:latin typeface="Georgia" pitchFamily="34" charset="0"/>
                <a:ea typeface="Georgia" pitchFamily="34" charset="-122"/>
                <a:cs typeface="Georgia" pitchFamily="34" charset="-120"/>
              </a:rPr>
              <a:t>Read the 19th Amendment — one sentence that enfranchised millions. Ask who fought for it and what values it enshrined.</a:t>
            </a:r>
            <a:endParaRPr lang="en-US" sz="2000" dirty="0"/>
          </a:p>
        </p:txBody>
      </p:sp>
      <p:sp>
        <p:nvSpPr>
          <p:cNvPr id="7" name="Text 5"/>
          <p:cNvSpPr/>
          <p:nvPr/>
        </p:nvSpPr>
        <p:spPr>
          <a:xfrm>
            <a:off x="457200" y="1783080"/>
            <a:ext cx="3566160" cy="320040"/>
          </a:xfrm>
          <a:prstGeom prst="rect">
            <a:avLst/>
          </a:prstGeom>
          <a:solidFill>
            <a:srgbClr val="1A2332"/>
          </a:solid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WHO</a:t>
            </a:r>
            <a:endParaRPr lang="en-US" sz="1200" dirty="0"/>
          </a:p>
        </p:txBody>
      </p:sp>
      <p:sp>
        <p:nvSpPr>
          <p:cNvPr id="8" name="Text 6"/>
          <p:cNvSpPr/>
          <p:nvPr/>
        </p:nvSpPr>
        <p:spPr>
          <a:xfrm>
            <a:off x="457200" y="2103120"/>
            <a:ext cx="3566160" cy="914400"/>
          </a:xfrm>
          <a:prstGeom prst="rect">
            <a:avLst/>
          </a:prstGeom>
          <a:solidFill>
            <a:srgbClr val="FFFFFF"/>
          </a:solidFill>
          <a:ln w="12700">
            <a:solidFill>
              <a:srgbClr val="DAD3C2"/>
            </a:solidFill>
          </a:ln>
        </p:spPr>
        <p:txBody>
          <a:bodyPr wrap="square" lIns="76200" tIns="76200" rIns="76200" bIns="76200" rtlCol="0" anchor="t"/>
          <a:lstStyle/>
          <a:p>
            <a:pPr algn="l" indent="0" marL="0">
              <a:buNone/>
            </a:pPr>
            <a:r>
              <a:rPr lang="en-US" sz="1200" dirty="0">
                <a:solidFill>
                  <a:srgbClr val="1F2430"/>
                </a:solidFill>
                <a:latin typeface="Calibri" pitchFamily="34" charset="0"/>
                <a:ea typeface="Calibri" pitchFamily="34" charset="-122"/>
                <a:cs typeface="Calibri" pitchFamily="34" charset="-120"/>
              </a:rPr>
              <a:t>The U.S. Congress and 36 state ratifying bodies — ratified after 70 years of organized suffrage campaigning.</a:t>
            </a:r>
            <a:endParaRPr lang="en-US" sz="1200" dirty="0"/>
          </a:p>
        </p:txBody>
      </p:sp>
      <p:sp>
        <p:nvSpPr>
          <p:cNvPr id="9" name="Text 7"/>
          <p:cNvSpPr/>
          <p:nvPr/>
        </p:nvSpPr>
        <p:spPr>
          <a:xfrm>
            <a:off x="4251960" y="1783080"/>
            <a:ext cx="3566160" cy="320040"/>
          </a:xfrm>
          <a:prstGeom prst="rect">
            <a:avLst/>
          </a:prstGeom>
          <a:solidFill>
            <a:srgbClr val="1A2332"/>
          </a:solid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WHEN</a:t>
            </a:r>
            <a:endParaRPr lang="en-US" sz="1200" dirty="0"/>
          </a:p>
        </p:txBody>
      </p:sp>
      <p:sp>
        <p:nvSpPr>
          <p:cNvPr id="10" name="Text 8"/>
          <p:cNvSpPr/>
          <p:nvPr/>
        </p:nvSpPr>
        <p:spPr>
          <a:xfrm>
            <a:off x="4251960" y="2103120"/>
            <a:ext cx="3566160" cy="914400"/>
          </a:xfrm>
          <a:prstGeom prst="rect">
            <a:avLst/>
          </a:prstGeom>
          <a:solidFill>
            <a:srgbClr val="FFFFFF"/>
          </a:solidFill>
          <a:ln w="12700">
            <a:solidFill>
              <a:srgbClr val="DAD3C2"/>
            </a:solidFill>
          </a:ln>
        </p:spPr>
        <p:txBody>
          <a:bodyPr wrap="square" lIns="76200" tIns="76200" rIns="76200" bIns="76200" rtlCol="0" anchor="t"/>
          <a:lstStyle/>
          <a:p>
            <a:pPr algn="l" indent="0" marL="0">
              <a:buNone/>
            </a:pPr>
            <a:r>
              <a:rPr lang="en-US" sz="1200" dirty="0">
                <a:solidFill>
                  <a:srgbClr val="1F2430"/>
                </a:solidFill>
                <a:latin typeface="Calibri" pitchFamily="34" charset="0"/>
                <a:ea typeface="Calibri" pitchFamily="34" charset="-122"/>
                <a:cs typeface="Calibri" pitchFamily="34" charset="-120"/>
              </a:rPr>
              <a:t>August 18, 1920 — the Tennessee vote made it official; it was the final constitutional act of the Progressive Era.</a:t>
            </a:r>
            <a:endParaRPr lang="en-US" sz="1200" dirty="0"/>
          </a:p>
        </p:txBody>
      </p:sp>
      <p:sp>
        <p:nvSpPr>
          <p:cNvPr id="11" name="Text 9"/>
          <p:cNvSpPr/>
          <p:nvPr/>
        </p:nvSpPr>
        <p:spPr>
          <a:xfrm>
            <a:off x="8046720" y="1783080"/>
            <a:ext cx="3566160" cy="320040"/>
          </a:xfrm>
          <a:prstGeom prst="rect">
            <a:avLst/>
          </a:prstGeom>
          <a:solidFill>
            <a:srgbClr val="1A2332"/>
          </a:solid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WHY</a:t>
            </a:r>
            <a:endParaRPr lang="en-US" sz="1200" dirty="0"/>
          </a:p>
        </p:txBody>
      </p:sp>
      <p:sp>
        <p:nvSpPr>
          <p:cNvPr id="12" name="Text 10"/>
          <p:cNvSpPr/>
          <p:nvPr/>
        </p:nvSpPr>
        <p:spPr>
          <a:xfrm>
            <a:off x="8046720" y="2103120"/>
            <a:ext cx="3566160" cy="914400"/>
          </a:xfrm>
          <a:prstGeom prst="rect">
            <a:avLst/>
          </a:prstGeom>
          <a:solidFill>
            <a:srgbClr val="FFFFFF"/>
          </a:solidFill>
          <a:ln w="12700">
            <a:solidFill>
              <a:srgbClr val="DAD3C2"/>
            </a:solidFill>
          </a:ln>
        </p:spPr>
        <p:txBody>
          <a:bodyPr wrap="square" lIns="76200" tIns="76200" rIns="76200" bIns="76200" rtlCol="0" anchor="t"/>
          <a:lstStyle/>
          <a:p>
            <a:pPr algn="l" indent="0" marL="0">
              <a:buNone/>
            </a:pPr>
            <a:r>
              <a:rPr lang="en-US" sz="1200" dirty="0">
                <a:solidFill>
                  <a:srgbClr val="1F2430"/>
                </a:solidFill>
                <a:latin typeface="Calibri" pitchFamily="34" charset="0"/>
                <a:ea typeface="Calibri" pitchFamily="34" charset="-122"/>
                <a:cs typeface="Calibri" pitchFamily="34" charset="-120"/>
              </a:rPr>
              <a:t>Constitutional amendments are the highest form of democratic change — understanding who fought for them and why reveals the values a society chose to enshrine in its fundamental law.</a:t>
            </a:r>
            <a:endParaRPr lang="en-US" sz="1200" dirty="0"/>
          </a:p>
        </p:txBody>
      </p:sp>
      <p:sp>
        <p:nvSpPr>
          <p:cNvPr id="13" name="Shape 11"/>
          <p:cNvSpPr/>
          <p:nvPr/>
        </p:nvSpPr>
        <p:spPr>
          <a:xfrm>
            <a:off x="457200" y="3200400"/>
            <a:ext cx="5532120" cy="2651760"/>
          </a:xfrm>
          <a:prstGeom prst="rect">
            <a:avLst/>
          </a:prstGeom>
          <a:solidFill>
            <a:srgbClr val="FFFFFF"/>
          </a:solidFill>
          <a:ln w="19050">
            <a:solidFill>
              <a:srgbClr val="C9A84C"/>
            </a:solidFill>
            <a:prstDash val="solid"/>
          </a:ln>
        </p:spPr>
      </p:sp>
      <p:sp>
        <p:nvSpPr>
          <p:cNvPr id="14" name="Text 12"/>
          <p:cNvSpPr/>
          <p:nvPr/>
        </p:nvSpPr>
        <p:spPr>
          <a:xfrm>
            <a:off x="594360" y="3291840"/>
            <a:ext cx="5257800" cy="320040"/>
          </a:xfrm>
          <a:prstGeom prst="rect">
            <a:avLst/>
          </a:prstGeom>
          <a:noFill/>
          <a:ln/>
        </p:spPr>
        <p:txBody>
          <a:bodyPr wrap="square" rtlCol="0" anchor="ctr"/>
          <a:lstStyle/>
          <a:p>
            <a:pPr indent="0" marL="0">
              <a:buNone/>
            </a:pPr>
            <a:r>
              <a:rPr lang="en-US" sz="1400" b="1" dirty="0">
                <a:solidFill>
                  <a:srgbClr val="002858"/>
                </a:solidFill>
                <a:latin typeface="Georgia" pitchFamily="34" charset="0"/>
                <a:ea typeface="Georgia" pitchFamily="34" charset="-122"/>
                <a:cs typeface="Georgia" pitchFamily="34" charset="-120"/>
              </a:rPr>
              <a:t>19th Amendment</a:t>
            </a:r>
            <a:endParaRPr lang="en-US" sz="1400" dirty="0"/>
          </a:p>
        </p:txBody>
      </p:sp>
      <p:sp>
        <p:nvSpPr>
          <p:cNvPr id="15" name="Text 13"/>
          <p:cNvSpPr/>
          <p:nvPr/>
        </p:nvSpPr>
        <p:spPr>
          <a:xfrm>
            <a:off x="594360" y="3611880"/>
            <a:ext cx="5257800" cy="274320"/>
          </a:xfrm>
          <a:prstGeom prst="rect">
            <a:avLst/>
          </a:prstGeom>
          <a:noFill/>
          <a:ln/>
        </p:spPr>
        <p:txBody>
          <a:bodyPr wrap="square" rtlCol="0" anchor="ctr"/>
          <a:lstStyle/>
          <a:p>
            <a:pPr indent="0" marL="0">
              <a:buNone/>
            </a:pPr>
            <a:r>
              <a:rPr lang="en-US" sz="900" i="1" dirty="0">
                <a:solidFill>
                  <a:srgbClr val="5C6470"/>
                </a:solidFill>
                <a:latin typeface="Trebuchet MS" pitchFamily="34" charset="0"/>
                <a:ea typeface="Trebuchet MS" pitchFamily="34" charset="-122"/>
                <a:cs typeface="Trebuchet MS" pitchFamily="34" charset="-120"/>
              </a:rPr>
              <a:t>U.S. Constitution · 1920</a:t>
            </a:r>
            <a:endParaRPr lang="en-US" sz="900" dirty="0"/>
          </a:p>
        </p:txBody>
      </p:sp>
      <p:sp>
        <p:nvSpPr>
          <p:cNvPr id="16" name="Text 14"/>
          <p:cNvSpPr/>
          <p:nvPr/>
        </p:nvSpPr>
        <p:spPr>
          <a:xfrm>
            <a:off x="594360" y="3931920"/>
            <a:ext cx="5257800" cy="1600200"/>
          </a:xfrm>
          <a:prstGeom prst="rect">
            <a:avLst/>
          </a:prstGeom>
          <a:noFill/>
          <a:ln/>
        </p:spPr>
        <p:txBody>
          <a:bodyPr wrap="square" rtlCol="0" anchor="t"/>
          <a:lstStyle/>
          <a:p>
            <a:pPr indent="0" marL="0">
              <a:buNone/>
            </a:pPr>
            <a:r>
              <a:rPr lang="en-US" sz="1100" dirty="0">
                <a:solidFill>
                  <a:srgbClr val="1F2430"/>
                </a:solidFill>
                <a:latin typeface="Calibri" pitchFamily="34" charset="0"/>
                <a:ea typeface="Calibri" pitchFamily="34" charset="-122"/>
                <a:cs typeface="Calibri" pitchFamily="34" charset="-120"/>
              </a:rPr>
              <a:t>"The right of citizens of the United States to vote shall not be denied or abridged by the United States or by any State on account of sex. Congress shall have power to enforce this article by appropriate legislation."</a:t>
            </a:r>
            <a:endParaRPr lang="en-US" sz="1100" dirty="0"/>
          </a:p>
        </p:txBody>
      </p:sp>
      <p:sp>
        <p:nvSpPr>
          <p:cNvPr id="17" name="Text 15">
            <a:hlinkClick r:id="rId1" tooltip=""/>
          </p:cNvPr>
          <p:cNvSpPr/>
          <p:nvPr/>
        </p:nvSpPr>
        <p:spPr>
          <a:xfrm>
            <a:off x="594360" y="5532120"/>
            <a:ext cx="5257800" cy="256032"/>
          </a:xfrm>
          <a:prstGeom prst="rect">
            <a:avLst/>
          </a:prstGeom>
          <a:noFill/>
          <a:ln/>
        </p:spPr>
        <p:txBody>
          <a:bodyPr wrap="square" rtlCol="0" anchor="ctr"/>
          <a:lstStyle/>
          <a:p>
            <a:pPr indent="0" marL="0">
              <a:buNone/>
            </a:pPr>
            <a:r>
              <a:rPr lang="en-US" sz="900" u="sng" dirty="0">
                <a:solidFill>
                  <a:srgbClr val="002858"/>
                </a:solidFill>
                <a:latin typeface="Trebuchet MS" pitchFamily="34" charset="0"/>
                <a:ea typeface="Trebuchet MS" pitchFamily="34" charset="-122"/>
                <a:cs typeface="Trebuchet MS" pitchFamily="34" charset="-120"/>
                <a:hlinkClick r:id="rId1" invalidUrl="" action="" tgtFrame="" tooltip="" history="1" highlightClick="0" endSnd="0">
                  <a:extLst>
                    <a:ext uri="{A12FA001-AC4F-418D-AE19-62706E023703}">
                      <ahyp:hlinkClr xmlns:ahyp="http://schemas.microsoft.com/office/drawing/2018/hyperlinkcolor" val="tx"/>
                    </a:ext>
                  </a:extLst>
                </a:hlinkClick>
              </a:rPr>
              <a:t>National Archives</a:t>
            </a:r>
            <a:endParaRPr lang="en-US" sz="900" dirty="0"/>
          </a:p>
        </p:txBody>
      </p:sp>
      <p:sp>
        <p:nvSpPr>
          <p:cNvPr id="18" name="Text 16"/>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9" name="Text 17"/>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71</a:t>
            </a:r>
            <a:endParaRPr lang="en-US" sz="9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1A2332"/>
        </a:solidFill>
      </p:bgPr>
    </p:bg>
    <p:spTree>
      <p:nvGrpSpPr>
        <p:cNvPr id="1" name=""/>
        <p:cNvGrpSpPr/>
        <p:nvPr/>
      </p:nvGrpSpPr>
      <p:grpSpPr>
        <a:xfrm>
          <a:off x="0" y="0"/>
          <a:ext cx="0" cy="0"/>
          <a:chOff x="0" y="0"/>
          <a:chExt cx="0" cy="0"/>
        </a:xfrm>
      </p:grpSpPr>
      <p:sp>
        <p:nvSpPr>
          <p:cNvPr id="2" name="Text 0"/>
          <p:cNvSpPr/>
          <p:nvPr/>
        </p:nvSpPr>
        <p:spPr>
          <a:xfrm>
            <a:off x="457200" y="274320"/>
            <a:ext cx="3291840" cy="365760"/>
          </a:xfrm>
          <a:prstGeom prst="rect">
            <a:avLst/>
          </a:prstGeom>
          <a:solidFill>
            <a:srgbClr val="C6282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THREE PERSPECTIVES</a:t>
            </a:r>
            <a:endParaRPr lang="en-US" sz="1100" dirty="0"/>
          </a:p>
        </p:txBody>
      </p:sp>
      <p:sp>
        <p:nvSpPr>
          <p:cNvPr id="3" name="Text 1"/>
          <p:cNvSpPr/>
          <p:nvPr/>
        </p:nvSpPr>
        <p:spPr>
          <a:xfrm>
            <a:off x="3886200" y="27432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US.18</a:t>
            </a:r>
            <a:endParaRPr lang="en-US" sz="1200" dirty="0"/>
          </a:p>
        </p:txBody>
      </p:sp>
      <p:sp>
        <p:nvSpPr>
          <p:cNvPr id="4" name="Text 2"/>
          <p:cNvSpPr/>
          <p:nvPr/>
        </p:nvSpPr>
        <p:spPr>
          <a:xfrm>
            <a:off x="457200" y="777240"/>
            <a:ext cx="11247120" cy="822960"/>
          </a:xfrm>
          <a:prstGeom prst="rect">
            <a:avLst/>
          </a:prstGeom>
          <a:noFill/>
          <a:ln/>
        </p:spPr>
        <p:txBody>
          <a:bodyPr wrap="square" rtlCol="0" anchor="ctr"/>
          <a:lstStyle/>
          <a:p>
            <a:pPr indent="0" marL="0">
              <a:buNone/>
            </a:pPr>
            <a:r>
              <a:rPr lang="en-US" sz="1700" i="1" dirty="0">
                <a:solidFill>
                  <a:srgbClr val="C7D4E0"/>
                </a:solidFill>
                <a:latin typeface="Georgia" pitchFamily="34" charset="0"/>
                <a:ea typeface="Georgia" pitchFamily="34" charset="-122"/>
                <a:cs typeface="Georgia" pitchFamily="34" charset="-120"/>
              </a:rPr>
              <a:t>A historian returns to three questions at the end of every reading. Use them to analyze this standard.</a:t>
            </a:r>
            <a:endParaRPr lang="en-US" sz="1700" dirty="0"/>
          </a:p>
        </p:txBody>
      </p:sp>
      <p:sp>
        <p:nvSpPr>
          <p:cNvPr id="5" name="Shape 3"/>
          <p:cNvSpPr/>
          <p:nvPr/>
        </p:nvSpPr>
        <p:spPr>
          <a:xfrm>
            <a:off x="457200" y="1783080"/>
            <a:ext cx="3566160" cy="4206240"/>
          </a:xfrm>
          <a:prstGeom prst="rect">
            <a:avLst/>
          </a:prstGeom>
          <a:solidFill>
            <a:srgbClr val="FFFFFF"/>
          </a:solidFill>
          <a:ln/>
        </p:spPr>
      </p:sp>
      <p:sp>
        <p:nvSpPr>
          <p:cNvPr id="6" name="Shape 4"/>
          <p:cNvSpPr/>
          <p:nvPr/>
        </p:nvSpPr>
        <p:spPr>
          <a:xfrm>
            <a:off x="457200" y="1783080"/>
            <a:ext cx="3566160" cy="548640"/>
          </a:xfrm>
          <a:prstGeom prst="rect">
            <a:avLst/>
          </a:prstGeom>
          <a:solidFill>
            <a:srgbClr val="1B5E20"/>
          </a:solidFill>
          <a:ln/>
        </p:spPr>
      </p:sp>
      <p:sp>
        <p:nvSpPr>
          <p:cNvPr id="7" name="Text 5"/>
          <p:cNvSpPr/>
          <p:nvPr/>
        </p:nvSpPr>
        <p:spPr>
          <a:xfrm>
            <a:off x="457200" y="1783080"/>
            <a:ext cx="3566160" cy="548640"/>
          </a:xfrm>
          <a:prstGeom prst="rect">
            <a:avLst/>
          </a:prstGeom>
          <a:noFill/>
          <a:ln/>
        </p:spPr>
        <p:txBody>
          <a:bodyPr wrap="square"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Who benefited?</a:t>
            </a:r>
            <a:endParaRPr lang="en-US" sz="1600" dirty="0"/>
          </a:p>
        </p:txBody>
      </p:sp>
      <p:sp>
        <p:nvSpPr>
          <p:cNvPr id="8" name="Text 6"/>
          <p:cNvSpPr/>
          <p:nvPr/>
        </p:nvSpPr>
        <p:spPr>
          <a:xfrm>
            <a:off x="594360" y="2423160"/>
            <a:ext cx="3291840" cy="868680"/>
          </a:xfrm>
          <a:prstGeom prst="rect">
            <a:avLst/>
          </a:prstGeom>
          <a:noFill/>
          <a:ln/>
        </p:spPr>
        <p:txBody>
          <a:bodyPr wrap="square" rtlCol="0" anchor="t"/>
          <a:lstStyle/>
          <a:p>
            <a:pPr indent="0" marL="0">
              <a:buNone/>
            </a:pPr>
            <a:r>
              <a:rPr lang="en-US" sz="1100" i="1" dirty="0">
                <a:solidFill>
                  <a:srgbClr val="5C6470"/>
                </a:solidFill>
                <a:latin typeface="Calibri" pitchFamily="34" charset="0"/>
                <a:ea typeface="Calibri" pitchFamily="34" charset="-122"/>
                <a:cs typeface="Calibri" pitchFamily="34" charset="-120"/>
              </a:rPr>
              <a:t>Who gained land, wealth, power, or protection?</a:t>
            </a:r>
            <a:endParaRPr lang="en-US" sz="1100" dirty="0"/>
          </a:p>
        </p:txBody>
      </p:sp>
      <p:sp>
        <p:nvSpPr>
          <p:cNvPr id="9" name="Text 7"/>
          <p:cNvSpPr/>
          <p:nvPr/>
        </p:nvSpPr>
        <p:spPr>
          <a:xfrm>
            <a:off x="594360" y="3291840"/>
            <a:ext cx="3291840" cy="274320"/>
          </a:xfrm>
          <a:prstGeom prst="rect">
            <a:avLst/>
          </a:prstGeom>
          <a:noFill/>
          <a:ln/>
        </p:spPr>
        <p:txBody>
          <a:bodyPr wrap="square" rtlCol="0" anchor="ctr"/>
          <a:lstStyle/>
          <a:p>
            <a:pPr indent="0" marL="0">
              <a:buNone/>
            </a:pPr>
            <a:r>
              <a:rPr lang="en-US" sz="1000" b="1" dirty="0">
                <a:solidFill>
                  <a:srgbClr val="8A6D1A"/>
                </a:solidFill>
                <a:latin typeface="Trebuchet MS" pitchFamily="34" charset="0"/>
                <a:ea typeface="Trebuchet MS" pitchFamily="34" charset="-122"/>
                <a:cs typeface="Trebuchet MS" pitchFamily="34" charset="-120"/>
              </a:rPr>
              <a:t>US.18:</a:t>
            </a:r>
            <a:endParaRPr lang="en-US" sz="1000" dirty="0"/>
          </a:p>
        </p:txBody>
      </p:sp>
      <p:sp>
        <p:nvSpPr>
          <p:cNvPr id="10" name="Text 8"/>
          <p:cNvSpPr/>
          <p:nvPr/>
        </p:nvSpPr>
        <p:spPr>
          <a:xfrm>
            <a:off x="594360" y="3566160"/>
            <a:ext cx="3291840" cy="2286000"/>
          </a:xfrm>
          <a:prstGeom prst="rect">
            <a:avLst/>
          </a:prstGeom>
          <a:noFill/>
          <a:ln/>
        </p:spPr>
        <p:txBody>
          <a:bodyPr wrap="square" rtlCol="0" anchor="t"/>
          <a:lstStyle/>
          <a:p>
            <a:pPr indent="0" marL="0">
              <a:buNone/>
            </a:pPr>
            <a:r>
              <a:rPr lang="en-US" sz="1200" dirty="0">
                <a:solidFill>
                  <a:srgbClr val="1F2430"/>
                </a:solidFill>
                <a:latin typeface="Calibri" pitchFamily="34" charset="0"/>
                <a:ea typeface="Calibri" pitchFamily="34" charset="-122"/>
                <a:cs typeface="Calibri" pitchFamily="34" charset="-120"/>
              </a:rPr>
              <a:t>American women, who gained the constitutional right to vote after more than seven decades of organized campaigning.</a:t>
            </a:r>
            <a:endParaRPr lang="en-US" sz="1200" dirty="0"/>
          </a:p>
        </p:txBody>
      </p:sp>
      <p:sp>
        <p:nvSpPr>
          <p:cNvPr id="11" name="Shape 9"/>
          <p:cNvSpPr/>
          <p:nvPr/>
        </p:nvSpPr>
        <p:spPr>
          <a:xfrm>
            <a:off x="4251960" y="1783080"/>
            <a:ext cx="3566160" cy="4206240"/>
          </a:xfrm>
          <a:prstGeom prst="rect">
            <a:avLst/>
          </a:prstGeom>
          <a:solidFill>
            <a:srgbClr val="FFFFFF"/>
          </a:solidFill>
          <a:ln/>
        </p:spPr>
      </p:sp>
      <p:sp>
        <p:nvSpPr>
          <p:cNvPr id="12" name="Shape 10"/>
          <p:cNvSpPr/>
          <p:nvPr/>
        </p:nvSpPr>
        <p:spPr>
          <a:xfrm>
            <a:off x="4251960" y="1783080"/>
            <a:ext cx="3566160" cy="548640"/>
          </a:xfrm>
          <a:prstGeom prst="rect">
            <a:avLst/>
          </a:prstGeom>
          <a:solidFill>
            <a:srgbClr val="C62828"/>
          </a:solidFill>
          <a:ln/>
        </p:spPr>
      </p:sp>
      <p:sp>
        <p:nvSpPr>
          <p:cNvPr id="13" name="Text 11"/>
          <p:cNvSpPr/>
          <p:nvPr/>
        </p:nvSpPr>
        <p:spPr>
          <a:xfrm>
            <a:off x="4251960" y="1783080"/>
            <a:ext cx="3566160" cy="548640"/>
          </a:xfrm>
          <a:prstGeom prst="rect">
            <a:avLst/>
          </a:prstGeom>
          <a:noFill/>
          <a:ln/>
        </p:spPr>
        <p:txBody>
          <a:bodyPr wrap="square"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Who bore the costs?</a:t>
            </a:r>
            <a:endParaRPr lang="en-US" sz="1600" dirty="0"/>
          </a:p>
        </p:txBody>
      </p:sp>
      <p:sp>
        <p:nvSpPr>
          <p:cNvPr id="14" name="Text 12"/>
          <p:cNvSpPr/>
          <p:nvPr/>
        </p:nvSpPr>
        <p:spPr>
          <a:xfrm>
            <a:off x="4389120" y="2423160"/>
            <a:ext cx="3291840" cy="868680"/>
          </a:xfrm>
          <a:prstGeom prst="rect">
            <a:avLst/>
          </a:prstGeom>
          <a:noFill/>
          <a:ln/>
        </p:spPr>
        <p:txBody>
          <a:bodyPr wrap="square" rtlCol="0" anchor="t"/>
          <a:lstStyle/>
          <a:p>
            <a:pPr indent="0" marL="0">
              <a:buNone/>
            </a:pPr>
            <a:r>
              <a:rPr lang="en-US" sz="1100" i="1" dirty="0">
                <a:solidFill>
                  <a:srgbClr val="5C6470"/>
                </a:solidFill>
                <a:latin typeface="Calibri" pitchFamily="34" charset="0"/>
                <a:ea typeface="Calibri" pitchFamily="34" charset="-122"/>
                <a:cs typeface="Calibri" pitchFamily="34" charset="-120"/>
              </a:rPr>
              <a:t>Who lost land, labor, freedom, or life — and who was silenced?</a:t>
            </a:r>
            <a:endParaRPr lang="en-US" sz="1100" dirty="0"/>
          </a:p>
        </p:txBody>
      </p:sp>
      <p:sp>
        <p:nvSpPr>
          <p:cNvPr id="15" name="Text 13"/>
          <p:cNvSpPr/>
          <p:nvPr/>
        </p:nvSpPr>
        <p:spPr>
          <a:xfrm>
            <a:off x="4389120" y="3291840"/>
            <a:ext cx="3291840" cy="274320"/>
          </a:xfrm>
          <a:prstGeom prst="rect">
            <a:avLst/>
          </a:prstGeom>
          <a:noFill/>
          <a:ln/>
        </p:spPr>
        <p:txBody>
          <a:bodyPr wrap="square" rtlCol="0" anchor="ctr"/>
          <a:lstStyle/>
          <a:p>
            <a:pPr indent="0" marL="0">
              <a:buNone/>
            </a:pPr>
            <a:r>
              <a:rPr lang="en-US" sz="1000" b="1" dirty="0">
                <a:solidFill>
                  <a:srgbClr val="8A6D1A"/>
                </a:solidFill>
                <a:latin typeface="Trebuchet MS" pitchFamily="34" charset="0"/>
                <a:ea typeface="Trebuchet MS" pitchFamily="34" charset="-122"/>
                <a:cs typeface="Trebuchet MS" pitchFamily="34" charset="-120"/>
              </a:rPr>
              <a:t>US.18:</a:t>
            </a:r>
            <a:endParaRPr lang="en-US" sz="1000" dirty="0"/>
          </a:p>
        </p:txBody>
      </p:sp>
      <p:sp>
        <p:nvSpPr>
          <p:cNvPr id="16" name="Text 14"/>
          <p:cNvSpPr/>
          <p:nvPr/>
        </p:nvSpPr>
        <p:spPr>
          <a:xfrm>
            <a:off x="4389120" y="3566160"/>
            <a:ext cx="3291840" cy="2286000"/>
          </a:xfrm>
          <a:prstGeom prst="rect">
            <a:avLst/>
          </a:prstGeom>
          <a:noFill/>
          <a:ln/>
        </p:spPr>
        <p:txBody>
          <a:bodyPr wrap="square" rtlCol="0" anchor="t"/>
          <a:lstStyle/>
          <a:p>
            <a:pPr indent="0" marL="0">
              <a:buNone/>
            </a:pPr>
            <a:r>
              <a:rPr lang="en-US" sz="1200" dirty="0">
                <a:solidFill>
                  <a:srgbClr val="1F2430"/>
                </a:solidFill>
                <a:latin typeface="Calibri" pitchFamily="34" charset="0"/>
                <a:ea typeface="Calibri" pitchFamily="34" charset="-122"/>
                <a:cs typeface="Calibri" pitchFamily="34" charset="-120"/>
              </a:rPr>
              <a:t>Suffragists who endured arrest, hunger strikes, and force-feeding; and many women of color still blocked from voting by Jim Crow after 1920.</a:t>
            </a:r>
            <a:endParaRPr lang="en-US" sz="1200" dirty="0"/>
          </a:p>
        </p:txBody>
      </p:sp>
      <p:sp>
        <p:nvSpPr>
          <p:cNvPr id="17" name="Shape 15"/>
          <p:cNvSpPr/>
          <p:nvPr/>
        </p:nvSpPr>
        <p:spPr>
          <a:xfrm>
            <a:off x="8046720" y="1783080"/>
            <a:ext cx="3566160" cy="4206240"/>
          </a:xfrm>
          <a:prstGeom prst="rect">
            <a:avLst/>
          </a:prstGeom>
          <a:solidFill>
            <a:srgbClr val="FFFFFF"/>
          </a:solidFill>
          <a:ln/>
        </p:spPr>
      </p:sp>
      <p:sp>
        <p:nvSpPr>
          <p:cNvPr id="18" name="Shape 16"/>
          <p:cNvSpPr/>
          <p:nvPr/>
        </p:nvSpPr>
        <p:spPr>
          <a:xfrm>
            <a:off x="8046720" y="1783080"/>
            <a:ext cx="3566160" cy="548640"/>
          </a:xfrm>
          <a:prstGeom prst="rect">
            <a:avLst/>
          </a:prstGeom>
          <a:solidFill>
            <a:srgbClr val="002858"/>
          </a:solidFill>
          <a:ln/>
        </p:spPr>
      </p:sp>
      <p:sp>
        <p:nvSpPr>
          <p:cNvPr id="19" name="Text 17"/>
          <p:cNvSpPr/>
          <p:nvPr/>
        </p:nvSpPr>
        <p:spPr>
          <a:xfrm>
            <a:off x="8046720" y="1783080"/>
            <a:ext cx="3566160" cy="548640"/>
          </a:xfrm>
          <a:prstGeom prst="rect">
            <a:avLst/>
          </a:prstGeom>
          <a:noFill/>
          <a:ln/>
        </p:spPr>
        <p:txBody>
          <a:bodyPr wrap="square"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Who decided?</a:t>
            </a:r>
            <a:endParaRPr lang="en-US" sz="1600" dirty="0"/>
          </a:p>
        </p:txBody>
      </p:sp>
      <p:sp>
        <p:nvSpPr>
          <p:cNvPr id="20" name="Text 18"/>
          <p:cNvSpPr/>
          <p:nvPr/>
        </p:nvSpPr>
        <p:spPr>
          <a:xfrm>
            <a:off x="8183880" y="2423160"/>
            <a:ext cx="3291840" cy="868680"/>
          </a:xfrm>
          <a:prstGeom prst="rect">
            <a:avLst/>
          </a:prstGeom>
          <a:noFill/>
          <a:ln/>
        </p:spPr>
        <p:txBody>
          <a:bodyPr wrap="square" rtlCol="0" anchor="t"/>
          <a:lstStyle/>
          <a:p>
            <a:pPr indent="0" marL="0">
              <a:buNone/>
            </a:pPr>
            <a:r>
              <a:rPr lang="en-US" sz="1100" i="1" dirty="0">
                <a:solidFill>
                  <a:srgbClr val="5C6470"/>
                </a:solidFill>
                <a:latin typeface="Calibri" pitchFamily="34" charset="0"/>
                <a:ea typeface="Calibri" pitchFamily="34" charset="-122"/>
                <a:cs typeface="Calibri" pitchFamily="34" charset="-120"/>
              </a:rPr>
              <a:t>Which people, offices, or courts held the authority?</a:t>
            </a:r>
            <a:endParaRPr lang="en-US" sz="1100" dirty="0"/>
          </a:p>
        </p:txBody>
      </p:sp>
      <p:sp>
        <p:nvSpPr>
          <p:cNvPr id="21" name="Text 19"/>
          <p:cNvSpPr/>
          <p:nvPr/>
        </p:nvSpPr>
        <p:spPr>
          <a:xfrm>
            <a:off x="8183880" y="3291840"/>
            <a:ext cx="3291840" cy="274320"/>
          </a:xfrm>
          <a:prstGeom prst="rect">
            <a:avLst/>
          </a:prstGeom>
          <a:noFill/>
          <a:ln/>
        </p:spPr>
        <p:txBody>
          <a:bodyPr wrap="square" rtlCol="0" anchor="ctr"/>
          <a:lstStyle/>
          <a:p>
            <a:pPr indent="0" marL="0">
              <a:buNone/>
            </a:pPr>
            <a:r>
              <a:rPr lang="en-US" sz="1000" b="1" dirty="0">
                <a:solidFill>
                  <a:srgbClr val="8A6D1A"/>
                </a:solidFill>
                <a:latin typeface="Trebuchet MS" pitchFamily="34" charset="0"/>
                <a:ea typeface="Trebuchet MS" pitchFamily="34" charset="-122"/>
                <a:cs typeface="Trebuchet MS" pitchFamily="34" charset="-120"/>
              </a:rPr>
              <a:t>US.18:</a:t>
            </a:r>
            <a:endParaRPr lang="en-US" sz="1000" dirty="0"/>
          </a:p>
        </p:txBody>
      </p:sp>
      <p:sp>
        <p:nvSpPr>
          <p:cNvPr id="22" name="Text 20"/>
          <p:cNvSpPr/>
          <p:nvPr/>
        </p:nvSpPr>
        <p:spPr>
          <a:xfrm>
            <a:off x="8183880" y="3566160"/>
            <a:ext cx="3291840" cy="2286000"/>
          </a:xfrm>
          <a:prstGeom prst="rect">
            <a:avLst/>
          </a:prstGeom>
          <a:noFill/>
          <a:ln/>
        </p:spPr>
        <p:txBody>
          <a:bodyPr wrap="square" rtlCol="0" anchor="t"/>
          <a:lstStyle/>
          <a:p>
            <a:pPr indent="0" marL="0">
              <a:buNone/>
            </a:pPr>
            <a:r>
              <a:rPr lang="en-US" sz="1200" dirty="0">
                <a:solidFill>
                  <a:srgbClr val="1F2430"/>
                </a:solidFill>
                <a:latin typeface="Calibri" pitchFamily="34" charset="0"/>
                <a:ea typeface="Calibri" pitchFamily="34" charset="-122"/>
                <a:cs typeface="Calibri" pitchFamily="34" charset="-120"/>
              </a:rPr>
              <a:t>Congress and 36 state legislatures — with Tennessee, the ‘Perfect 36,’ casting the deciding ratification vote in August 1920.</a:t>
            </a:r>
            <a:endParaRPr lang="en-US" sz="1200" dirty="0"/>
          </a:p>
        </p:txBody>
      </p:sp>
      <p:sp>
        <p:nvSpPr>
          <p:cNvPr id="23" name="Text 21"/>
          <p:cNvSpPr/>
          <p:nvPr/>
        </p:nvSpPr>
        <p:spPr>
          <a:xfrm>
            <a:off x="457200" y="6126480"/>
            <a:ext cx="10972800" cy="274320"/>
          </a:xfrm>
          <a:prstGeom prst="rect">
            <a:avLst/>
          </a:prstGeom>
          <a:noFill/>
          <a:ln/>
        </p:spPr>
        <p:txBody>
          <a:bodyPr wrap="square" rtlCol="0" anchor="ctr"/>
          <a:lstStyle/>
          <a:p>
            <a:pPr indent="0" marL="0">
              <a:buNone/>
            </a:pPr>
            <a:r>
              <a:rPr lang="en-US" sz="1000" i="1" dirty="0">
                <a:solidFill>
                  <a:srgbClr val="C7D4E0"/>
                </a:solidFill>
                <a:latin typeface="Trebuchet MS" pitchFamily="34" charset="0"/>
                <a:ea typeface="Trebuchet MS" pitchFamily="34" charset="-122"/>
                <a:cs typeface="Trebuchet MS" pitchFamily="34" charset="-120"/>
              </a:rPr>
              <a:t>Anchor: 19th Amendment, 1920 (National Archives)</a:t>
            </a:r>
            <a:endParaRPr lang="en-US" sz="1000" dirty="0"/>
          </a:p>
        </p:txBody>
      </p:sp>
      <p:sp>
        <p:nvSpPr>
          <p:cNvPr id="24" name="Text 22"/>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5" name="Text 23"/>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72</a:t>
            </a:r>
            <a:endParaRPr lang="en-US" sz="900" dirty="0"/>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548640" y="640080"/>
            <a:ext cx="10972800" cy="64008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How This Deck Works</a:t>
            </a:r>
            <a:endParaRPr lang="en-US" sz="3800" dirty="0"/>
          </a:p>
        </p:txBody>
      </p:sp>
      <p:sp>
        <p:nvSpPr>
          <p:cNvPr id="3" name="Text 1"/>
          <p:cNvSpPr/>
          <p:nvPr/>
        </p:nvSpPr>
        <p:spPr>
          <a:xfrm>
            <a:off x="566928" y="1371600"/>
            <a:ext cx="10972800" cy="365760"/>
          </a:xfrm>
          <a:prstGeom prst="rect">
            <a:avLst/>
          </a:prstGeom>
          <a:noFill/>
          <a:ln/>
        </p:spPr>
        <p:txBody>
          <a:bodyPr wrap="square" lIns="0" tIns="0" rIns="0" bIns="0" rtlCol="0" anchor="ctr"/>
          <a:lstStyle/>
          <a:p>
            <a:pPr indent="0" marL="0">
              <a:buNone/>
            </a:pPr>
            <a:r>
              <a:rPr lang="en-US" sz="1600" i="1" dirty="0">
                <a:solidFill>
                  <a:srgbClr val="C89B3C"/>
                </a:solidFill>
                <a:latin typeface="Arial" pitchFamily="34" charset="0"/>
                <a:ea typeface="Arial" pitchFamily="34" charset="-122"/>
                <a:cs typeface="Arial" pitchFamily="34" charset="-120"/>
              </a:rPr>
              <a:t>Universal Design for Learning · Multi-Tiered System of Supports</a:t>
            </a:r>
            <a:endParaRPr lang="en-US" sz="1600" dirty="0"/>
          </a:p>
        </p:txBody>
      </p:sp>
      <p:sp>
        <p:nvSpPr>
          <p:cNvPr id="4" name="Text 2"/>
          <p:cNvSpPr/>
          <p:nvPr/>
        </p:nvSpPr>
        <p:spPr>
          <a:xfrm>
            <a:off x="548640" y="1847088"/>
            <a:ext cx="3657600" cy="292608"/>
          </a:xfrm>
          <a:prstGeom prst="rect">
            <a:avLst/>
          </a:prstGeom>
          <a:solidFill>
            <a:srgbClr val="B22234"/>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EVERY LEARNER  ·  SAME FIRM GOAL</a:t>
            </a:r>
            <a:endParaRPr lang="en-US" sz="1100" dirty="0"/>
          </a:p>
        </p:txBody>
      </p:sp>
      <p:sp>
        <p:nvSpPr>
          <p:cNvPr id="5" name="Shape 3"/>
          <p:cNvSpPr/>
          <p:nvPr/>
        </p:nvSpPr>
        <p:spPr>
          <a:xfrm>
            <a:off x="548640" y="2148840"/>
            <a:ext cx="3566160" cy="2926080"/>
          </a:xfrm>
          <a:prstGeom prst="rect">
            <a:avLst/>
          </a:prstGeom>
          <a:solidFill>
            <a:srgbClr val="1E2C4C"/>
          </a:solidFill>
          <a:ln w="12700">
            <a:solidFill>
              <a:srgbClr val="C89B3C"/>
            </a:solidFill>
            <a:prstDash val="solid"/>
          </a:ln>
        </p:spPr>
      </p:sp>
      <p:sp>
        <p:nvSpPr>
          <p:cNvPr id="6" name="Text 4"/>
          <p:cNvSpPr/>
          <p:nvPr/>
        </p:nvSpPr>
        <p:spPr>
          <a:xfrm>
            <a:off x="777240" y="2377440"/>
            <a:ext cx="3108960" cy="640080"/>
          </a:xfrm>
          <a:prstGeom prst="rect">
            <a:avLst/>
          </a:prstGeom>
          <a:noFill/>
          <a:ln/>
        </p:spPr>
        <p:txBody>
          <a:bodyPr wrap="square" lIns="0" tIns="0" rIns="0" bIns="0" rtlCol="0" anchor="t"/>
          <a:lstStyle/>
          <a:p>
            <a:pPr indent="0" marL="0">
              <a:buNone/>
            </a:pPr>
            <a:r>
              <a:rPr lang="en-US" sz="1900" b="1" dirty="0">
                <a:solidFill>
                  <a:srgbClr val="C89B3C"/>
                </a:solidFill>
                <a:latin typeface="Cambria" pitchFamily="34" charset="0"/>
                <a:ea typeface="Cambria" pitchFamily="34" charset="-122"/>
                <a:cs typeface="Cambria" pitchFamily="34" charset="-120"/>
              </a:rPr>
              <a:t>Multiple ways in</a:t>
            </a:r>
            <a:endParaRPr lang="en-US" sz="1900" dirty="0"/>
          </a:p>
        </p:txBody>
      </p:sp>
      <p:sp>
        <p:nvSpPr>
          <p:cNvPr id="7" name="Text 5"/>
          <p:cNvSpPr/>
          <p:nvPr/>
        </p:nvSpPr>
        <p:spPr>
          <a:xfrm>
            <a:off x="777240" y="3200400"/>
            <a:ext cx="3108960" cy="1737360"/>
          </a:xfrm>
          <a:prstGeom prst="rect">
            <a:avLst/>
          </a:prstGeom>
          <a:noFill/>
          <a:ln/>
        </p:spPr>
        <p:txBody>
          <a:bodyPr wrap="square" lIns="0" tIns="0" rIns="0" bIns="0" rtlCol="0" anchor="t"/>
          <a:lstStyle/>
          <a:p>
            <a:pPr indent="0" marL="0">
              <a:lnSpc>
                <a:spcPct val="105000"/>
              </a:lnSpc>
              <a:buNone/>
            </a:pPr>
            <a:r>
              <a:rPr lang="en-US" sz="1350" dirty="0">
                <a:solidFill>
                  <a:srgbClr val="E7EAF2"/>
                </a:solidFill>
                <a:latin typeface="Arial" pitchFamily="34" charset="0"/>
                <a:ea typeface="Arial" pitchFamily="34" charset="-122"/>
                <a:cs typeface="Arial" pitchFamily="34" charset="-120"/>
              </a:rPr>
              <a:t>Every lesson opens with a real question and a clear “I can” goal, so you know why it matters and where you’re headed.</a:t>
            </a:r>
            <a:endParaRPr lang="en-US" sz="1350" dirty="0"/>
          </a:p>
        </p:txBody>
      </p:sp>
      <p:sp>
        <p:nvSpPr>
          <p:cNvPr id="8" name="Shape 6"/>
          <p:cNvSpPr/>
          <p:nvPr/>
        </p:nvSpPr>
        <p:spPr>
          <a:xfrm>
            <a:off x="4315968" y="2148840"/>
            <a:ext cx="3566160" cy="2926080"/>
          </a:xfrm>
          <a:prstGeom prst="rect">
            <a:avLst/>
          </a:prstGeom>
          <a:solidFill>
            <a:srgbClr val="1E2C4C"/>
          </a:solidFill>
          <a:ln w="12700">
            <a:solidFill>
              <a:srgbClr val="C89B3C"/>
            </a:solidFill>
            <a:prstDash val="solid"/>
          </a:ln>
        </p:spPr>
      </p:sp>
      <p:sp>
        <p:nvSpPr>
          <p:cNvPr id="9" name="Text 7"/>
          <p:cNvSpPr/>
          <p:nvPr/>
        </p:nvSpPr>
        <p:spPr>
          <a:xfrm>
            <a:off x="4544568" y="2377440"/>
            <a:ext cx="3108960" cy="640080"/>
          </a:xfrm>
          <a:prstGeom prst="rect">
            <a:avLst/>
          </a:prstGeom>
          <a:noFill/>
          <a:ln/>
        </p:spPr>
        <p:txBody>
          <a:bodyPr wrap="square" lIns="0" tIns="0" rIns="0" bIns="0" rtlCol="0" anchor="t"/>
          <a:lstStyle/>
          <a:p>
            <a:pPr indent="0" marL="0">
              <a:buNone/>
            </a:pPr>
            <a:r>
              <a:rPr lang="en-US" sz="1900" b="1" dirty="0">
                <a:solidFill>
                  <a:srgbClr val="C89B3C"/>
                </a:solidFill>
                <a:latin typeface="Cambria" pitchFamily="34" charset="0"/>
                <a:ea typeface="Cambria" pitchFamily="34" charset="-122"/>
                <a:cs typeface="Cambria" pitchFamily="34" charset="-120"/>
              </a:rPr>
              <a:t>Multiple ways to see it</a:t>
            </a:r>
            <a:endParaRPr lang="en-US" sz="1900" dirty="0"/>
          </a:p>
        </p:txBody>
      </p:sp>
      <p:sp>
        <p:nvSpPr>
          <p:cNvPr id="10" name="Text 8"/>
          <p:cNvSpPr/>
          <p:nvPr/>
        </p:nvSpPr>
        <p:spPr>
          <a:xfrm>
            <a:off x="4544568" y="3200400"/>
            <a:ext cx="3108960" cy="1737360"/>
          </a:xfrm>
          <a:prstGeom prst="rect">
            <a:avLst/>
          </a:prstGeom>
          <a:noFill/>
          <a:ln/>
        </p:spPr>
        <p:txBody>
          <a:bodyPr wrap="square" lIns="0" tIns="0" rIns="0" bIns="0" rtlCol="0" anchor="t"/>
          <a:lstStyle/>
          <a:p>
            <a:pPr indent="0" marL="0">
              <a:lnSpc>
                <a:spcPct val="105000"/>
              </a:lnSpc>
              <a:buNone/>
            </a:pPr>
            <a:r>
              <a:rPr lang="en-US" sz="1350" dirty="0">
                <a:solidFill>
                  <a:srgbClr val="E7EAF2"/>
                </a:solidFill>
                <a:latin typeface="Arial" pitchFamily="34" charset="0"/>
                <a:ea typeface="Arial" pitchFamily="34" charset="-122"/>
                <a:cs typeface="Arial" pitchFamily="34" charset="-120"/>
              </a:rPr>
              <a:t>Direct instruction, primary sources, maps, and bilingual key vocabulary — the same ideas shown more than one way.</a:t>
            </a:r>
            <a:endParaRPr lang="en-US" sz="1350" dirty="0"/>
          </a:p>
        </p:txBody>
      </p:sp>
      <p:sp>
        <p:nvSpPr>
          <p:cNvPr id="11" name="Shape 9"/>
          <p:cNvSpPr/>
          <p:nvPr/>
        </p:nvSpPr>
        <p:spPr>
          <a:xfrm>
            <a:off x="8083296" y="2148840"/>
            <a:ext cx="3566160" cy="2926080"/>
          </a:xfrm>
          <a:prstGeom prst="rect">
            <a:avLst/>
          </a:prstGeom>
          <a:solidFill>
            <a:srgbClr val="1E2C4C"/>
          </a:solidFill>
          <a:ln w="12700">
            <a:solidFill>
              <a:srgbClr val="C89B3C"/>
            </a:solidFill>
            <a:prstDash val="solid"/>
          </a:ln>
        </p:spPr>
      </p:sp>
      <p:sp>
        <p:nvSpPr>
          <p:cNvPr id="12" name="Text 10"/>
          <p:cNvSpPr/>
          <p:nvPr/>
        </p:nvSpPr>
        <p:spPr>
          <a:xfrm>
            <a:off x="8311896" y="2377440"/>
            <a:ext cx="3108960" cy="640080"/>
          </a:xfrm>
          <a:prstGeom prst="rect">
            <a:avLst/>
          </a:prstGeom>
          <a:noFill/>
          <a:ln/>
        </p:spPr>
        <p:txBody>
          <a:bodyPr wrap="square" lIns="0" tIns="0" rIns="0" bIns="0" rtlCol="0" anchor="t"/>
          <a:lstStyle/>
          <a:p>
            <a:pPr indent="0" marL="0">
              <a:buNone/>
            </a:pPr>
            <a:r>
              <a:rPr lang="en-US" sz="1900" b="1" dirty="0">
                <a:solidFill>
                  <a:srgbClr val="C89B3C"/>
                </a:solidFill>
                <a:latin typeface="Cambria" pitchFamily="34" charset="0"/>
                <a:ea typeface="Cambria" pitchFamily="34" charset="-122"/>
                <a:cs typeface="Cambria" pitchFamily="34" charset="-120"/>
              </a:rPr>
              <a:t>Multiple ways to show it</a:t>
            </a:r>
            <a:endParaRPr lang="en-US" sz="1900" dirty="0"/>
          </a:p>
        </p:txBody>
      </p:sp>
      <p:sp>
        <p:nvSpPr>
          <p:cNvPr id="13" name="Text 11"/>
          <p:cNvSpPr/>
          <p:nvPr/>
        </p:nvSpPr>
        <p:spPr>
          <a:xfrm>
            <a:off x="8311896" y="3200400"/>
            <a:ext cx="3108960" cy="1737360"/>
          </a:xfrm>
          <a:prstGeom prst="rect">
            <a:avLst/>
          </a:prstGeom>
          <a:noFill/>
          <a:ln/>
        </p:spPr>
        <p:txBody>
          <a:bodyPr wrap="square" lIns="0" tIns="0" rIns="0" bIns="0" rtlCol="0" anchor="t"/>
          <a:lstStyle/>
          <a:p>
            <a:pPr indent="0" marL="0">
              <a:lnSpc>
                <a:spcPct val="105000"/>
              </a:lnSpc>
              <a:buNone/>
            </a:pPr>
            <a:r>
              <a:rPr lang="en-US" sz="1350" dirty="0">
                <a:solidFill>
                  <a:srgbClr val="E7EAF2"/>
                </a:solidFill>
                <a:latin typeface="Arial" pitchFamily="34" charset="0"/>
                <a:ea typeface="Arial" pitchFamily="34" charset="-122"/>
                <a:cs typeface="Arial" pitchFamily="34" charset="-120"/>
              </a:rPr>
              <a:t>Model-with-me, sentence frames, and choices in how you respond — you reach the same goal by the route that works for you.</a:t>
            </a:r>
            <a:endParaRPr lang="en-US" sz="1350" dirty="0"/>
          </a:p>
        </p:txBody>
      </p:sp>
      <p:sp>
        <p:nvSpPr>
          <p:cNvPr id="14" name="Text 12"/>
          <p:cNvSpPr/>
          <p:nvPr/>
        </p:nvSpPr>
        <p:spPr>
          <a:xfrm>
            <a:off x="548640" y="5394960"/>
            <a:ext cx="11064240" cy="640080"/>
          </a:xfrm>
          <a:prstGeom prst="rect">
            <a:avLst/>
          </a:prstGeom>
          <a:solidFill>
            <a:srgbClr val="1E2C4C"/>
          </a:solidFill>
          <a:ln/>
        </p:spPr>
        <p:txBody>
          <a:bodyPr wrap="square" lIns="76200" tIns="76200" rIns="76200" bIns="76200" rtlCol="0" anchor="ctr"/>
          <a:lstStyle/>
          <a:p>
            <a:pPr algn="ctr" indent="0" marL="0">
              <a:buNone/>
            </a:pPr>
            <a:r>
              <a:rPr lang="en-US" sz="1400" i="1" dirty="0">
                <a:solidFill>
                  <a:srgbClr val="FFFFFF"/>
                </a:solidFill>
                <a:latin typeface="Arial" pitchFamily="34" charset="0"/>
                <a:ea typeface="Arial" pitchFamily="34" charset="-122"/>
                <a:cs typeface="Arial" pitchFamily="34" charset="-120"/>
              </a:rPr>
              <a:t>Your teacher checks your progress along the way and gives you another path if you need one — </a:t>
            </a:r>
            <a:pPr algn="ctr" indent="0" marL="0">
              <a:buNone/>
            </a:pPr>
            <a:r>
              <a:rPr lang="en-US" sz="1400" b="1" i="1" dirty="0">
                <a:solidFill>
                  <a:srgbClr val="FF6B7A"/>
                </a:solidFill>
                <a:latin typeface="Arial" pitchFamily="34" charset="0"/>
                <a:ea typeface="Arial" pitchFamily="34" charset="-122"/>
                <a:cs typeface="Arial" pitchFamily="34" charset="-120"/>
              </a:rPr>
              <a:t>the goal never lowers.</a:t>
            </a:r>
            <a:endParaRPr lang="en-US" sz="1400" dirty="0"/>
          </a:p>
        </p:txBody>
      </p:sp>
      <p:sp>
        <p:nvSpPr>
          <p:cNvPr id="15" name="Text 13"/>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TroopToTeacher Technologies LLC   ·   Aligned to TN Academic Standards &amp; TCAP EOC</a:t>
            </a:r>
            <a:endParaRPr lang="en-US" sz="800" dirty="0"/>
          </a:p>
        </p:txBody>
      </p:sp>
      <p:sp>
        <p:nvSpPr>
          <p:cNvPr id="16" name="Text 14"/>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1</a:t>
            </a:r>
            <a:endParaRPr lang="en-US" sz="900" dirty="0"/>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2F5FA6"/>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KEY VOCABULARY  ·  LANGUAGE SUPPORT</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US.08</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TroopToTeacher Technologies LLC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2</a:t>
            </a:r>
            <a:endParaRPr lang="en-US" sz="900" dirty="0"/>
          </a:p>
        </p:txBody>
      </p:sp>
      <p:sp>
        <p:nvSpPr>
          <p:cNvPr id="6" name="Text 4"/>
          <p:cNvSpPr/>
          <p:nvPr/>
        </p:nvSpPr>
        <p:spPr>
          <a:xfrm>
            <a:off x="548640" y="914400"/>
            <a:ext cx="10515600" cy="502920"/>
          </a:xfrm>
          <a:prstGeom prst="rect">
            <a:avLst/>
          </a:prstGeom>
          <a:noFill/>
          <a:ln/>
        </p:spPr>
        <p:txBody>
          <a:bodyPr wrap="square" lIns="0" tIns="0" rIns="0" bIns="0" rtlCol="0" anchor="ctr"/>
          <a:lstStyle/>
          <a:p>
            <a:pPr indent="0" marL="0">
              <a:buNone/>
            </a:pPr>
            <a:r>
              <a:rPr lang="en-US" sz="2500" b="1" dirty="0">
                <a:solidFill>
                  <a:srgbClr val="FFFFFF"/>
                </a:solidFill>
                <a:latin typeface="Cambria" pitchFamily="34" charset="0"/>
                <a:ea typeface="Cambria" pitchFamily="34" charset="-122"/>
                <a:cs typeface="Cambria" pitchFamily="34" charset="-120"/>
              </a:rPr>
              <a:t>Words you need before we read</a:t>
            </a:r>
            <a:endParaRPr lang="en-US" sz="2500" dirty="0"/>
          </a:p>
        </p:txBody>
      </p:sp>
      <p:sp>
        <p:nvSpPr>
          <p:cNvPr id="7" name="Shape 5"/>
          <p:cNvSpPr/>
          <p:nvPr/>
        </p:nvSpPr>
        <p:spPr>
          <a:xfrm>
            <a:off x="548640" y="1691640"/>
            <a:ext cx="3514344" cy="4297680"/>
          </a:xfrm>
          <a:prstGeom prst="rect">
            <a:avLst/>
          </a:prstGeom>
          <a:solidFill>
            <a:srgbClr val="F7F5EF"/>
          </a:solidFill>
          <a:ln w="12700">
            <a:solidFill>
              <a:srgbClr val="D9D5C8"/>
            </a:solidFill>
            <a:prstDash val="solid"/>
          </a:ln>
        </p:spPr>
      </p:sp>
      <p:sp>
        <p:nvSpPr>
          <p:cNvPr id="8" name="Shape 6"/>
          <p:cNvSpPr/>
          <p:nvPr/>
        </p:nvSpPr>
        <p:spPr>
          <a:xfrm>
            <a:off x="804672" y="1938528"/>
            <a:ext cx="137160" cy="292608"/>
          </a:xfrm>
          <a:prstGeom prst="rect">
            <a:avLst/>
          </a:prstGeom>
          <a:solidFill>
            <a:srgbClr val="B22234"/>
          </a:solidFill>
          <a:ln/>
        </p:spPr>
      </p:sp>
      <p:sp>
        <p:nvSpPr>
          <p:cNvPr id="9" name="Text 7"/>
          <p:cNvSpPr/>
          <p:nvPr/>
        </p:nvSpPr>
        <p:spPr>
          <a:xfrm>
            <a:off x="1024128" y="1828800"/>
            <a:ext cx="2782824" cy="54864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Social Darwinism</a:t>
            </a:r>
            <a:endParaRPr lang="en-US" sz="1800" dirty="0"/>
          </a:p>
        </p:txBody>
      </p:sp>
      <p:sp>
        <p:nvSpPr>
          <p:cNvPr id="10" name="Text 8"/>
          <p:cNvSpPr/>
          <p:nvPr/>
        </p:nvSpPr>
        <p:spPr>
          <a:xfrm>
            <a:off x="804672" y="2487168"/>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Darwinismo Social</a:t>
            </a:r>
            <a:endParaRPr lang="en-US" sz="1250" dirty="0"/>
          </a:p>
        </p:txBody>
      </p:sp>
      <p:sp>
        <p:nvSpPr>
          <p:cNvPr id="11" name="Text 9"/>
          <p:cNvSpPr/>
          <p:nvPr/>
        </p:nvSpPr>
        <p:spPr>
          <a:xfrm>
            <a:off x="804672" y="306324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2" name="Text 10"/>
          <p:cNvSpPr/>
          <p:nvPr/>
        </p:nvSpPr>
        <p:spPr>
          <a:xfrm>
            <a:off x="804672" y="3401568"/>
            <a:ext cx="3011424" cy="2377440"/>
          </a:xfrm>
          <a:prstGeom prst="rect">
            <a:avLst/>
          </a:prstGeom>
          <a:noFill/>
          <a:ln/>
        </p:spPr>
        <p:txBody>
          <a:bodyPr wrap="square" lIns="0" tIns="0" rIns="0" bIns="0" rtlCol="0" anchor="t"/>
          <a:lstStyle/>
          <a:p>
            <a:pPr indent="0" marL="0">
              <a:lnSpc>
                <a:spcPct val="108000"/>
              </a:lnSpc>
              <a:buNone/>
            </a:pPr>
            <a:r>
              <a:rPr lang="en-US" sz="1300" dirty="0">
                <a:solidFill>
                  <a:srgbClr val="1A1A1A"/>
                </a:solidFill>
                <a:latin typeface="Arial" pitchFamily="34" charset="0"/>
                <a:ea typeface="Arial" pitchFamily="34" charset="-122"/>
                <a:cs typeface="Arial" pitchFamily="34" charset="-120"/>
              </a:rPr>
              <a:t>The belief that Darwin's theory of natural selection applies to human society — the wealthy are 'fit' and the poor are 'weak,' justifying laissez-faire capitalism and opposing government aid.</a:t>
            </a:r>
            <a:endParaRPr lang="en-US" sz="1300" dirty="0"/>
          </a:p>
        </p:txBody>
      </p:sp>
      <p:sp>
        <p:nvSpPr>
          <p:cNvPr id="13" name="Shape 11"/>
          <p:cNvSpPr/>
          <p:nvPr/>
        </p:nvSpPr>
        <p:spPr>
          <a:xfrm>
            <a:off x="4337304" y="1691640"/>
            <a:ext cx="3514344" cy="4297680"/>
          </a:xfrm>
          <a:prstGeom prst="rect">
            <a:avLst/>
          </a:prstGeom>
          <a:solidFill>
            <a:srgbClr val="F7F5EF"/>
          </a:solidFill>
          <a:ln w="12700">
            <a:solidFill>
              <a:srgbClr val="D9D5C8"/>
            </a:solidFill>
            <a:prstDash val="solid"/>
          </a:ln>
        </p:spPr>
      </p:sp>
      <p:sp>
        <p:nvSpPr>
          <p:cNvPr id="14" name="Shape 12"/>
          <p:cNvSpPr/>
          <p:nvPr/>
        </p:nvSpPr>
        <p:spPr>
          <a:xfrm>
            <a:off x="4593336" y="1938528"/>
            <a:ext cx="137160" cy="292608"/>
          </a:xfrm>
          <a:prstGeom prst="rect">
            <a:avLst/>
          </a:prstGeom>
          <a:solidFill>
            <a:srgbClr val="B22234"/>
          </a:solidFill>
          <a:ln/>
        </p:spPr>
      </p:sp>
      <p:sp>
        <p:nvSpPr>
          <p:cNvPr id="15" name="Text 13"/>
          <p:cNvSpPr/>
          <p:nvPr/>
        </p:nvSpPr>
        <p:spPr>
          <a:xfrm>
            <a:off x="4812792" y="1828800"/>
            <a:ext cx="2782824" cy="54864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Social Gospel</a:t>
            </a:r>
            <a:endParaRPr lang="en-US" sz="1800" dirty="0"/>
          </a:p>
        </p:txBody>
      </p:sp>
      <p:sp>
        <p:nvSpPr>
          <p:cNvPr id="16" name="Text 14"/>
          <p:cNvSpPr/>
          <p:nvPr/>
        </p:nvSpPr>
        <p:spPr>
          <a:xfrm>
            <a:off x="4593336" y="2487168"/>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Evangelio Social</a:t>
            </a:r>
            <a:endParaRPr lang="en-US" sz="1250" dirty="0"/>
          </a:p>
        </p:txBody>
      </p:sp>
      <p:sp>
        <p:nvSpPr>
          <p:cNvPr id="17" name="Text 15"/>
          <p:cNvSpPr/>
          <p:nvPr/>
        </p:nvSpPr>
        <p:spPr>
          <a:xfrm>
            <a:off x="4593336" y="306324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8" name="Text 16"/>
          <p:cNvSpPr/>
          <p:nvPr/>
        </p:nvSpPr>
        <p:spPr>
          <a:xfrm>
            <a:off x="4593336" y="3401568"/>
            <a:ext cx="3011424" cy="2377440"/>
          </a:xfrm>
          <a:prstGeom prst="rect">
            <a:avLst/>
          </a:prstGeom>
          <a:noFill/>
          <a:ln/>
        </p:spPr>
        <p:txBody>
          <a:bodyPr wrap="square" lIns="0" tIns="0" rIns="0" bIns="0" rtlCol="0" anchor="t"/>
          <a:lstStyle/>
          <a:p>
            <a:pPr indent="0" marL="0">
              <a:lnSpc>
                <a:spcPct val="108000"/>
              </a:lnSpc>
              <a:buNone/>
            </a:pPr>
            <a:r>
              <a:rPr lang="en-US" sz="1300" dirty="0">
                <a:solidFill>
                  <a:srgbClr val="1A1A1A"/>
                </a:solidFill>
                <a:latin typeface="Arial" pitchFamily="34" charset="0"/>
                <a:ea typeface="Arial" pitchFamily="34" charset="-122"/>
                <a:cs typeface="Arial" pitchFamily="34" charset="-120"/>
              </a:rPr>
              <a:t>A religious movement that emphasized Christians' duty to address poverty, unsafe conditions, and inequality — providing moral foundation for Progressive Era reform.</a:t>
            </a:r>
            <a:endParaRPr lang="en-US" sz="1300" dirty="0"/>
          </a:p>
        </p:txBody>
      </p:sp>
      <p:sp>
        <p:nvSpPr>
          <p:cNvPr id="19" name="Shape 17"/>
          <p:cNvSpPr/>
          <p:nvPr/>
        </p:nvSpPr>
        <p:spPr>
          <a:xfrm>
            <a:off x="8125968" y="1691640"/>
            <a:ext cx="3514344" cy="4297680"/>
          </a:xfrm>
          <a:prstGeom prst="rect">
            <a:avLst/>
          </a:prstGeom>
          <a:solidFill>
            <a:srgbClr val="F7F5EF"/>
          </a:solidFill>
          <a:ln w="12700">
            <a:solidFill>
              <a:srgbClr val="D9D5C8"/>
            </a:solidFill>
            <a:prstDash val="solid"/>
          </a:ln>
        </p:spPr>
      </p:sp>
      <p:sp>
        <p:nvSpPr>
          <p:cNvPr id="20" name="Shape 18"/>
          <p:cNvSpPr/>
          <p:nvPr/>
        </p:nvSpPr>
        <p:spPr>
          <a:xfrm>
            <a:off x="8382000" y="1938528"/>
            <a:ext cx="137160" cy="292608"/>
          </a:xfrm>
          <a:prstGeom prst="rect">
            <a:avLst/>
          </a:prstGeom>
          <a:solidFill>
            <a:srgbClr val="B22234"/>
          </a:solidFill>
          <a:ln/>
        </p:spPr>
      </p:sp>
      <p:sp>
        <p:nvSpPr>
          <p:cNvPr id="21" name="Text 19"/>
          <p:cNvSpPr/>
          <p:nvPr/>
        </p:nvSpPr>
        <p:spPr>
          <a:xfrm>
            <a:off x="8601456" y="1828800"/>
            <a:ext cx="2782824" cy="54864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Settlement House</a:t>
            </a:r>
            <a:endParaRPr lang="en-US" sz="1800" dirty="0"/>
          </a:p>
        </p:txBody>
      </p:sp>
      <p:sp>
        <p:nvSpPr>
          <p:cNvPr id="22" name="Text 20"/>
          <p:cNvSpPr/>
          <p:nvPr/>
        </p:nvSpPr>
        <p:spPr>
          <a:xfrm>
            <a:off x="8382000" y="2487168"/>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Casa de Asentamiento</a:t>
            </a:r>
            <a:endParaRPr lang="en-US" sz="1250" dirty="0"/>
          </a:p>
        </p:txBody>
      </p:sp>
      <p:sp>
        <p:nvSpPr>
          <p:cNvPr id="23" name="Text 21"/>
          <p:cNvSpPr/>
          <p:nvPr/>
        </p:nvSpPr>
        <p:spPr>
          <a:xfrm>
            <a:off x="8382000" y="306324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24" name="Text 22"/>
          <p:cNvSpPr/>
          <p:nvPr/>
        </p:nvSpPr>
        <p:spPr>
          <a:xfrm>
            <a:off x="8382000" y="3401568"/>
            <a:ext cx="3011424" cy="2377440"/>
          </a:xfrm>
          <a:prstGeom prst="rect">
            <a:avLst/>
          </a:prstGeom>
          <a:noFill/>
          <a:ln/>
        </p:spPr>
        <p:txBody>
          <a:bodyPr wrap="square" lIns="0" tIns="0" rIns="0" bIns="0" rtlCol="0" anchor="t"/>
          <a:lstStyle/>
          <a:p>
            <a:pPr indent="0" marL="0">
              <a:lnSpc>
                <a:spcPct val="108000"/>
              </a:lnSpc>
              <a:buNone/>
            </a:pPr>
            <a:r>
              <a:rPr lang="en-US" sz="1300" dirty="0">
                <a:solidFill>
                  <a:srgbClr val="1A1A1A"/>
                </a:solidFill>
                <a:latin typeface="Arial" pitchFamily="34" charset="0"/>
                <a:ea typeface="Arial" pitchFamily="34" charset="-122"/>
                <a:cs typeface="Arial" pitchFamily="34" charset="-120"/>
              </a:rPr>
              <a:t>Community centers in poor urban neighborhoods staffed by reformers who provided services such as childcare, education, and job training to immigrants and the poor.</a:t>
            </a:r>
            <a:endParaRPr lang="en-US" sz="1300" dirty="0"/>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2F5FA6"/>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KEY VOCABULARY  ·  LANGUAGE SUPPORT</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US.09</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TroopToTeacher Technologies LLC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4</a:t>
            </a:r>
            <a:endParaRPr lang="en-US" sz="900" dirty="0"/>
          </a:p>
        </p:txBody>
      </p:sp>
      <p:sp>
        <p:nvSpPr>
          <p:cNvPr id="6" name="Text 4"/>
          <p:cNvSpPr/>
          <p:nvPr/>
        </p:nvSpPr>
        <p:spPr>
          <a:xfrm>
            <a:off x="548640" y="914400"/>
            <a:ext cx="10515600" cy="502920"/>
          </a:xfrm>
          <a:prstGeom prst="rect">
            <a:avLst/>
          </a:prstGeom>
          <a:noFill/>
          <a:ln/>
        </p:spPr>
        <p:txBody>
          <a:bodyPr wrap="square" lIns="0" tIns="0" rIns="0" bIns="0" rtlCol="0" anchor="ctr"/>
          <a:lstStyle/>
          <a:p>
            <a:pPr indent="0" marL="0">
              <a:buNone/>
            </a:pPr>
            <a:r>
              <a:rPr lang="en-US" sz="2500" b="1" dirty="0">
                <a:solidFill>
                  <a:srgbClr val="FFFFFF"/>
                </a:solidFill>
                <a:latin typeface="Cambria" pitchFamily="34" charset="0"/>
                <a:ea typeface="Cambria" pitchFamily="34" charset="-122"/>
                <a:cs typeface="Cambria" pitchFamily="34" charset="-120"/>
              </a:rPr>
              <a:t>Words you need before we read</a:t>
            </a:r>
            <a:endParaRPr lang="en-US" sz="2500" dirty="0"/>
          </a:p>
        </p:txBody>
      </p:sp>
      <p:sp>
        <p:nvSpPr>
          <p:cNvPr id="7" name="Shape 5"/>
          <p:cNvSpPr/>
          <p:nvPr/>
        </p:nvSpPr>
        <p:spPr>
          <a:xfrm>
            <a:off x="548640" y="1691640"/>
            <a:ext cx="3514344" cy="4297680"/>
          </a:xfrm>
          <a:prstGeom prst="rect">
            <a:avLst/>
          </a:prstGeom>
          <a:solidFill>
            <a:srgbClr val="F7F5EF"/>
          </a:solidFill>
          <a:ln w="12700">
            <a:solidFill>
              <a:srgbClr val="D9D5C8"/>
            </a:solidFill>
            <a:prstDash val="solid"/>
          </a:ln>
        </p:spPr>
      </p:sp>
      <p:sp>
        <p:nvSpPr>
          <p:cNvPr id="8" name="Shape 6"/>
          <p:cNvSpPr/>
          <p:nvPr/>
        </p:nvSpPr>
        <p:spPr>
          <a:xfrm>
            <a:off x="804672" y="1938528"/>
            <a:ext cx="137160" cy="292608"/>
          </a:xfrm>
          <a:prstGeom prst="rect">
            <a:avLst/>
          </a:prstGeom>
          <a:solidFill>
            <a:srgbClr val="B22234"/>
          </a:solidFill>
          <a:ln/>
        </p:spPr>
      </p:sp>
      <p:sp>
        <p:nvSpPr>
          <p:cNvPr id="9" name="Text 7"/>
          <p:cNvSpPr/>
          <p:nvPr/>
        </p:nvSpPr>
        <p:spPr>
          <a:xfrm>
            <a:off x="1024128" y="1828800"/>
            <a:ext cx="2782824" cy="54864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Booker T. Washington</a:t>
            </a:r>
            <a:endParaRPr lang="en-US" sz="1800" dirty="0"/>
          </a:p>
        </p:txBody>
      </p:sp>
      <p:sp>
        <p:nvSpPr>
          <p:cNvPr id="10" name="Text 8"/>
          <p:cNvSpPr/>
          <p:nvPr/>
        </p:nvSpPr>
        <p:spPr>
          <a:xfrm>
            <a:off x="804672" y="2487168"/>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Booker T. Washington</a:t>
            </a:r>
            <a:endParaRPr lang="en-US" sz="1250" dirty="0"/>
          </a:p>
        </p:txBody>
      </p:sp>
      <p:sp>
        <p:nvSpPr>
          <p:cNvPr id="11" name="Text 9"/>
          <p:cNvSpPr/>
          <p:nvPr/>
        </p:nvSpPr>
        <p:spPr>
          <a:xfrm>
            <a:off x="804672" y="306324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2" name="Text 10"/>
          <p:cNvSpPr/>
          <p:nvPr/>
        </p:nvSpPr>
        <p:spPr>
          <a:xfrm>
            <a:off x="804672" y="3401568"/>
            <a:ext cx="3011424" cy="2377440"/>
          </a:xfrm>
          <a:prstGeom prst="rect">
            <a:avLst/>
          </a:prstGeom>
          <a:noFill/>
          <a:ln/>
        </p:spPr>
        <p:txBody>
          <a:bodyPr wrap="square" lIns="0" tIns="0" rIns="0" bIns="0" rtlCol="0" anchor="t"/>
          <a:lstStyle/>
          <a:p>
            <a:pPr indent="0" marL="0">
              <a:lnSpc>
                <a:spcPct val="108000"/>
              </a:lnSpc>
              <a:buNone/>
            </a:pPr>
            <a:r>
              <a:rPr lang="en-US" sz="1300" dirty="0">
                <a:solidFill>
                  <a:srgbClr val="1A1A1A"/>
                </a:solidFill>
                <a:latin typeface="Arial" pitchFamily="34" charset="0"/>
                <a:ea typeface="Arial" pitchFamily="34" charset="-122"/>
                <a:cs typeface="Arial" pitchFamily="34" charset="-120"/>
              </a:rPr>
              <a:t>African American educator who founded Tuskegee Institute and advocated vocational training and economic self-sufficiency as the path to African American advancement, accepting temporary segregation.</a:t>
            </a:r>
            <a:endParaRPr lang="en-US" sz="1300" dirty="0"/>
          </a:p>
        </p:txBody>
      </p:sp>
      <p:sp>
        <p:nvSpPr>
          <p:cNvPr id="13" name="Shape 11"/>
          <p:cNvSpPr/>
          <p:nvPr/>
        </p:nvSpPr>
        <p:spPr>
          <a:xfrm>
            <a:off x="4337304" y="1691640"/>
            <a:ext cx="3514344" cy="4297680"/>
          </a:xfrm>
          <a:prstGeom prst="rect">
            <a:avLst/>
          </a:prstGeom>
          <a:solidFill>
            <a:srgbClr val="F7F5EF"/>
          </a:solidFill>
          <a:ln w="12700">
            <a:solidFill>
              <a:srgbClr val="D9D5C8"/>
            </a:solidFill>
            <a:prstDash val="solid"/>
          </a:ln>
        </p:spPr>
      </p:sp>
      <p:sp>
        <p:nvSpPr>
          <p:cNvPr id="14" name="Shape 12"/>
          <p:cNvSpPr/>
          <p:nvPr/>
        </p:nvSpPr>
        <p:spPr>
          <a:xfrm>
            <a:off x="4593336" y="1938528"/>
            <a:ext cx="137160" cy="292608"/>
          </a:xfrm>
          <a:prstGeom prst="rect">
            <a:avLst/>
          </a:prstGeom>
          <a:solidFill>
            <a:srgbClr val="B22234"/>
          </a:solidFill>
          <a:ln/>
        </p:spPr>
      </p:sp>
      <p:sp>
        <p:nvSpPr>
          <p:cNvPr id="15" name="Text 13"/>
          <p:cNvSpPr/>
          <p:nvPr/>
        </p:nvSpPr>
        <p:spPr>
          <a:xfrm>
            <a:off x="4812792" y="1828800"/>
            <a:ext cx="2782824" cy="54864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W.E.B. Du Bois</a:t>
            </a:r>
            <a:endParaRPr lang="en-US" sz="1800" dirty="0"/>
          </a:p>
        </p:txBody>
      </p:sp>
      <p:sp>
        <p:nvSpPr>
          <p:cNvPr id="16" name="Text 14"/>
          <p:cNvSpPr/>
          <p:nvPr/>
        </p:nvSpPr>
        <p:spPr>
          <a:xfrm>
            <a:off x="4593336" y="2487168"/>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W.E.B. Du Bois</a:t>
            </a:r>
            <a:endParaRPr lang="en-US" sz="1250" dirty="0"/>
          </a:p>
        </p:txBody>
      </p:sp>
      <p:sp>
        <p:nvSpPr>
          <p:cNvPr id="17" name="Text 15"/>
          <p:cNvSpPr/>
          <p:nvPr/>
        </p:nvSpPr>
        <p:spPr>
          <a:xfrm>
            <a:off x="4593336" y="306324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8" name="Text 16"/>
          <p:cNvSpPr/>
          <p:nvPr/>
        </p:nvSpPr>
        <p:spPr>
          <a:xfrm>
            <a:off x="4593336" y="3401568"/>
            <a:ext cx="3011424" cy="2377440"/>
          </a:xfrm>
          <a:prstGeom prst="rect">
            <a:avLst/>
          </a:prstGeom>
          <a:noFill/>
          <a:ln/>
        </p:spPr>
        <p:txBody>
          <a:bodyPr wrap="square" lIns="0" tIns="0" rIns="0" bIns="0" rtlCol="0" anchor="t"/>
          <a:lstStyle/>
          <a:p>
            <a:pPr indent="0" marL="0">
              <a:lnSpc>
                <a:spcPct val="108000"/>
              </a:lnSpc>
              <a:buNone/>
            </a:pPr>
            <a:r>
              <a:rPr lang="en-US" sz="1300" dirty="0">
                <a:solidFill>
                  <a:srgbClr val="1A1A1A"/>
                </a:solidFill>
                <a:latin typeface="Arial" pitchFamily="34" charset="0"/>
                <a:ea typeface="Arial" pitchFamily="34" charset="-122"/>
                <a:cs typeface="Arial" pitchFamily="34" charset="-120"/>
              </a:rPr>
              <a:t>African American scholar who demanded immediate civil and political rights, co-founded the NAACP, and advocated classical education for the 'Talented Tenth' of African American leaders.</a:t>
            </a:r>
            <a:endParaRPr lang="en-US" sz="1300" dirty="0"/>
          </a:p>
        </p:txBody>
      </p:sp>
      <p:sp>
        <p:nvSpPr>
          <p:cNvPr id="19" name="Shape 17"/>
          <p:cNvSpPr/>
          <p:nvPr/>
        </p:nvSpPr>
        <p:spPr>
          <a:xfrm>
            <a:off x="8125968" y="1691640"/>
            <a:ext cx="3514344" cy="4297680"/>
          </a:xfrm>
          <a:prstGeom prst="rect">
            <a:avLst/>
          </a:prstGeom>
          <a:solidFill>
            <a:srgbClr val="F7F5EF"/>
          </a:solidFill>
          <a:ln w="12700">
            <a:solidFill>
              <a:srgbClr val="D9D5C8"/>
            </a:solidFill>
            <a:prstDash val="solid"/>
          </a:ln>
        </p:spPr>
      </p:sp>
      <p:sp>
        <p:nvSpPr>
          <p:cNvPr id="20" name="Shape 18"/>
          <p:cNvSpPr/>
          <p:nvPr/>
        </p:nvSpPr>
        <p:spPr>
          <a:xfrm>
            <a:off x="8382000" y="1938528"/>
            <a:ext cx="137160" cy="292608"/>
          </a:xfrm>
          <a:prstGeom prst="rect">
            <a:avLst/>
          </a:prstGeom>
          <a:solidFill>
            <a:srgbClr val="B22234"/>
          </a:solidFill>
          <a:ln/>
        </p:spPr>
      </p:sp>
      <p:sp>
        <p:nvSpPr>
          <p:cNvPr id="21" name="Text 19"/>
          <p:cNvSpPr/>
          <p:nvPr/>
        </p:nvSpPr>
        <p:spPr>
          <a:xfrm>
            <a:off x="8601456" y="1828800"/>
            <a:ext cx="2782824" cy="54864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Atlanta Compromise</a:t>
            </a:r>
            <a:endParaRPr lang="en-US" sz="1800" dirty="0"/>
          </a:p>
        </p:txBody>
      </p:sp>
      <p:sp>
        <p:nvSpPr>
          <p:cNvPr id="22" name="Text 20"/>
          <p:cNvSpPr/>
          <p:nvPr/>
        </p:nvSpPr>
        <p:spPr>
          <a:xfrm>
            <a:off x="8382000" y="2487168"/>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Compromiso de Atlanta</a:t>
            </a:r>
            <a:endParaRPr lang="en-US" sz="1250" dirty="0"/>
          </a:p>
        </p:txBody>
      </p:sp>
      <p:sp>
        <p:nvSpPr>
          <p:cNvPr id="23" name="Text 21"/>
          <p:cNvSpPr/>
          <p:nvPr/>
        </p:nvSpPr>
        <p:spPr>
          <a:xfrm>
            <a:off x="8382000" y="306324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24" name="Text 22"/>
          <p:cNvSpPr/>
          <p:nvPr/>
        </p:nvSpPr>
        <p:spPr>
          <a:xfrm>
            <a:off x="8382000" y="3401568"/>
            <a:ext cx="3011424" cy="2377440"/>
          </a:xfrm>
          <a:prstGeom prst="rect">
            <a:avLst/>
          </a:prstGeom>
          <a:noFill/>
          <a:ln/>
        </p:spPr>
        <p:txBody>
          <a:bodyPr wrap="square" lIns="0" tIns="0" rIns="0" bIns="0" rtlCol="0" anchor="t"/>
          <a:lstStyle/>
          <a:p>
            <a:pPr indent="0" marL="0">
              <a:lnSpc>
                <a:spcPct val="108000"/>
              </a:lnSpc>
              <a:buNone/>
            </a:pPr>
            <a:r>
              <a:rPr lang="en-US" sz="1300" dirty="0">
                <a:solidFill>
                  <a:srgbClr val="1A1A1A"/>
                </a:solidFill>
                <a:latin typeface="Arial" pitchFamily="34" charset="0"/>
                <a:ea typeface="Arial" pitchFamily="34" charset="-122"/>
                <a:cs typeface="Arial" pitchFamily="34" charset="-120"/>
              </a:rPr>
              <a:t>Booker T. Washington's 1895 speech accepting racial segregation in exchange for economic opportunity, arguing African Americans should focus on industrial skills rather than political rights.</a:t>
            </a:r>
            <a:endParaRPr lang="en-US" sz="1300" dirty="0"/>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2F5FA6"/>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KEY VOCABULARY  ·  LANGUAGE SUPPORT</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US.10</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TroopToTeacher Technologies LLC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6</a:t>
            </a:r>
            <a:endParaRPr lang="en-US" sz="900" dirty="0"/>
          </a:p>
        </p:txBody>
      </p:sp>
      <p:sp>
        <p:nvSpPr>
          <p:cNvPr id="6" name="Text 4"/>
          <p:cNvSpPr/>
          <p:nvPr/>
        </p:nvSpPr>
        <p:spPr>
          <a:xfrm>
            <a:off x="548640" y="914400"/>
            <a:ext cx="10515600" cy="502920"/>
          </a:xfrm>
          <a:prstGeom prst="rect">
            <a:avLst/>
          </a:prstGeom>
          <a:noFill/>
          <a:ln/>
        </p:spPr>
        <p:txBody>
          <a:bodyPr wrap="square" lIns="0" tIns="0" rIns="0" bIns="0" rtlCol="0" anchor="ctr"/>
          <a:lstStyle/>
          <a:p>
            <a:pPr indent="0" marL="0">
              <a:buNone/>
            </a:pPr>
            <a:r>
              <a:rPr lang="en-US" sz="2500" b="1" dirty="0">
                <a:solidFill>
                  <a:srgbClr val="FFFFFF"/>
                </a:solidFill>
                <a:latin typeface="Cambria" pitchFamily="34" charset="0"/>
                <a:ea typeface="Cambria" pitchFamily="34" charset="-122"/>
                <a:cs typeface="Cambria" pitchFamily="34" charset="-120"/>
              </a:rPr>
              <a:t>Words you need before we read</a:t>
            </a:r>
            <a:endParaRPr lang="en-US" sz="2500" dirty="0"/>
          </a:p>
        </p:txBody>
      </p:sp>
      <p:sp>
        <p:nvSpPr>
          <p:cNvPr id="7" name="Shape 5"/>
          <p:cNvSpPr/>
          <p:nvPr/>
        </p:nvSpPr>
        <p:spPr>
          <a:xfrm>
            <a:off x="548640" y="1691640"/>
            <a:ext cx="3514344" cy="4297680"/>
          </a:xfrm>
          <a:prstGeom prst="rect">
            <a:avLst/>
          </a:prstGeom>
          <a:solidFill>
            <a:srgbClr val="F7F5EF"/>
          </a:solidFill>
          <a:ln w="12700">
            <a:solidFill>
              <a:srgbClr val="D9D5C8"/>
            </a:solidFill>
            <a:prstDash val="solid"/>
          </a:ln>
        </p:spPr>
      </p:sp>
      <p:sp>
        <p:nvSpPr>
          <p:cNvPr id="8" name="Shape 6"/>
          <p:cNvSpPr/>
          <p:nvPr/>
        </p:nvSpPr>
        <p:spPr>
          <a:xfrm>
            <a:off x="804672" y="1938528"/>
            <a:ext cx="137160" cy="292608"/>
          </a:xfrm>
          <a:prstGeom prst="rect">
            <a:avLst/>
          </a:prstGeom>
          <a:solidFill>
            <a:srgbClr val="B22234"/>
          </a:solidFill>
          <a:ln/>
        </p:spPr>
      </p:sp>
      <p:sp>
        <p:nvSpPr>
          <p:cNvPr id="9" name="Text 7"/>
          <p:cNvSpPr/>
          <p:nvPr/>
        </p:nvSpPr>
        <p:spPr>
          <a:xfrm>
            <a:off x="1024128" y="1828800"/>
            <a:ext cx="2782824" cy="54864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Populism</a:t>
            </a:r>
            <a:endParaRPr lang="en-US" sz="1800" dirty="0"/>
          </a:p>
        </p:txBody>
      </p:sp>
      <p:sp>
        <p:nvSpPr>
          <p:cNvPr id="10" name="Text 8"/>
          <p:cNvSpPr/>
          <p:nvPr/>
        </p:nvSpPr>
        <p:spPr>
          <a:xfrm>
            <a:off x="804672" y="2487168"/>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Populismo</a:t>
            </a:r>
            <a:endParaRPr lang="en-US" sz="1250" dirty="0"/>
          </a:p>
        </p:txBody>
      </p:sp>
      <p:sp>
        <p:nvSpPr>
          <p:cNvPr id="11" name="Text 9"/>
          <p:cNvSpPr/>
          <p:nvPr/>
        </p:nvSpPr>
        <p:spPr>
          <a:xfrm>
            <a:off x="804672" y="306324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2" name="Text 10"/>
          <p:cNvSpPr/>
          <p:nvPr/>
        </p:nvSpPr>
        <p:spPr>
          <a:xfrm>
            <a:off x="804672" y="3401568"/>
            <a:ext cx="3011424" cy="2377440"/>
          </a:xfrm>
          <a:prstGeom prst="rect">
            <a:avLst/>
          </a:prstGeom>
          <a:noFill/>
          <a:ln/>
        </p:spPr>
        <p:txBody>
          <a:bodyPr wrap="square" lIns="0" tIns="0" rIns="0" bIns="0" rtlCol="0" anchor="t"/>
          <a:lstStyle/>
          <a:p>
            <a:pPr indent="0" marL="0">
              <a:lnSpc>
                <a:spcPct val="108000"/>
              </a:lnSpc>
              <a:buNone/>
            </a:pPr>
            <a:r>
              <a:rPr lang="en-US" sz="1300" dirty="0">
                <a:solidFill>
                  <a:srgbClr val="1A1A1A"/>
                </a:solidFill>
                <a:latin typeface="Arial" pitchFamily="34" charset="0"/>
                <a:ea typeface="Arial" pitchFamily="34" charset="-122"/>
                <a:cs typeface="Arial" pitchFamily="34" charset="-120"/>
              </a:rPr>
              <a:t>A political movement representing the interests of ordinary farmers and workers against the power of banks, railroads, and wealthy eastern interests in the late 19th century.</a:t>
            </a:r>
            <a:endParaRPr lang="en-US" sz="1300" dirty="0"/>
          </a:p>
        </p:txBody>
      </p:sp>
      <p:sp>
        <p:nvSpPr>
          <p:cNvPr id="13" name="Shape 11"/>
          <p:cNvSpPr/>
          <p:nvPr/>
        </p:nvSpPr>
        <p:spPr>
          <a:xfrm>
            <a:off x="4337304" y="1691640"/>
            <a:ext cx="3514344" cy="4297680"/>
          </a:xfrm>
          <a:prstGeom prst="rect">
            <a:avLst/>
          </a:prstGeom>
          <a:solidFill>
            <a:srgbClr val="F7F5EF"/>
          </a:solidFill>
          <a:ln w="12700">
            <a:solidFill>
              <a:srgbClr val="D9D5C8"/>
            </a:solidFill>
            <a:prstDash val="solid"/>
          </a:ln>
        </p:spPr>
      </p:sp>
      <p:sp>
        <p:nvSpPr>
          <p:cNvPr id="14" name="Shape 12"/>
          <p:cNvSpPr/>
          <p:nvPr/>
        </p:nvSpPr>
        <p:spPr>
          <a:xfrm>
            <a:off x="4593336" y="1938528"/>
            <a:ext cx="137160" cy="292608"/>
          </a:xfrm>
          <a:prstGeom prst="rect">
            <a:avLst/>
          </a:prstGeom>
          <a:solidFill>
            <a:srgbClr val="B22234"/>
          </a:solidFill>
          <a:ln/>
        </p:spPr>
      </p:sp>
      <p:sp>
        <p:nvSpPr>
          <p:cNvPr id="15" name="Text 13"/>
          <p:cNvSpPr/>
          <p:nvPr/>
        </p:nvSpPr>
        <p:spPr>
          <a:xfrm>
            <a:off x="4812792" y="1828800"/>
            <a:ext cx="2782824" cy="54864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Granger Movement</a:t>
            </a:r>
            <a:endParaRPr lang="en-US" sz="1800" dirty="0"/>
          </a:p>
        </p:txBody>
      </p:sp>
      <p:sp>
        <p:nvSpPr>
          <p:cNvPr id="16" name="Text 14"/>
          <p:cNvSpPr/>
          <p:nvPr/>
        </p:nvSpPr>
        <p:spPr>
          <a:xfrm>
            <a:off x="4593336" y="2487168"/>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Movimiento Granger</a:t>
            </a:r>
            <a:endParaRPr lang="en-US" sz="1250" dirty="0"/>
          </a:p>
        </p:txBody>
      </p:sp>
      <p:sp>
        <p:nvSpPr>
          <p:cNvPr id="17" name="Text 15"/>
          <p:cNvSpPr/>
          <p:nvPr/>
        </p:nvSpPr>
        <p:spPr>
          <a:xfrm>
            <a:off x="4593336" y="306324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8" name="Text 16"/>
          <p:cNvSpPr/>
          <p:nvPr/>
        </p:nvSpPr>
        <p:spPr>
          <a:xfrm>
            <a:off x="4593336" y="3401568"/>
            <a:ext cx="3011424" cy="2377440"/>
          </a:xfrm>
          <a:prstGeom prst="rect">
            <a:avLst/>
          </a:prstGeom>
          <a:noFill/>
          <a:ln/>
        </p:spPr>
        <p:txBody>
          <a:bodyPr wrap="square" lIns="0" tIns="0" rIns="0" bIns="0" rtlCol="0" anchor="t"/>
          <a:lstStyle/>
          <a:p>
            <a:pPr indent="0" marL="0">
              <a:lnSpc>
                <a:spcPct val="108000"/>
              </a:lnSpc>
              <a:buNone/>
            </a:pPr>
            <a:r>
              <a:rPr lang="en-US" sz="1300" dirty="0">
                <a:solidFill>
                  <a:srgbClr val="1A1A1A"/>
                </a:solidFill>
                <a:latin typeface="Arial" pitchFamily="34" charset="0"/>
                <a:ea typeface="Arial" pitchFamily="34" charset="-122"/>
                <a:cs typeface="Arial" pitchFamily="34" charset="-120"/>
              </a:rPr>
              <a:t>A farmers' organization founded in the 1860s–1870s that provided social support and lobbied for railroad regulation; won early 'Granger laws' capping freight rates.</a:t>
            </a:r>
            <a:endParaRPr lang="en-US" sz="1300" dirty="0"/>
          </a:p>
        </p:txBody>
      </p:sp>
      <p:sp>
        <p:nvSpPr>
          <p:cNvPr id="19" name="Shape 17"/>
          <p:cNvSpPr/>
          <p:nvPr/>
        </p:nvSpPr>
        <p:spPr>
          <a:xfrm>
            <a:off x="8125968" y="1691640"/>
            <a:ext cx="3514344" cy="4297680"/>
          </a:xfrm>
          <a:prstGeom prst="rect">
            <a:avLst/>
          </a:prstGeom>
          <a:solidFill>
            <a:srgbClr val="F7F5EF"/>
          </a:solidFill>
          <a:ln w="12700">
            <a:solidFill>
              <a:srgbClr val="D9D5C8"/>
            </a:solidFill>
            <a:prstDash val="solid"/>
          </a:ln>
        </p:spPr>
      </p:sp>
      <p:sp>
        <p:nvSpPr>
          <p:cNvPr id="20" name="Shape 18"/>
          <p:cNvSpPr/>
          <p:nvPr/>
        </p:nvSpPr>
        <p:spPr>
          <a:xfrm>
            <a:off x="8382000" y="1938528"/>
            <a:ext cx="137160" cy="292608"/>
          </a:xfrm>
          <a:prstGeom prst="rect">
            <a:avLst/>
          </a:prstGeom>
          <a:solidFill>
            <a:srgbClr val="B22234"/>
          </a:solidFill>
          <a:ln/>
        </p:spPr>
      </p:sp>
      <p:sp>
        <p:nvSpPr>
          <p:cNvPr id="21" name="Text 19"/>
          <p:cNvSpPr/>
          <p:nvPr/>
        </p:nvSpPr>
        <p:spPr>
          <a:xfrm>
            <a:off x="8601456" y="1828800"/>
            <a:ext cx="2782824" cy="54864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Farmers' Alliance</a:t>
            </a:r>
            <a:endParaRPr lang="en-US" sz="1800" dirty="0"/>
          </a:p>
        </p:txBody>
      </p:sp>
      <p:sp>
        <p:nvSpPr>
          <p:cNvPr id="22" name="Text 20"/>
          <p:cNvSpPr/>
          <p:nvPr/>
        </p:nvSpPr>
        <p:spPr>
          <a:xfrm>
            <a:off x="8382000" y="2487168"/>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Alianza de Agricultores</a:t>
            </a:r>
            <a:endParaRPr lang="en-US" sz="1250" dirty="0"/>
          </a:p>
        </p:txBody>
      </p:sp>
      <p:sp>
        <p:nvSpPr>
          <p:cNvPr id="23" name="Text 21"/>
          <p:cNvSpPr/>
          <p:nvPr/>
        </p:nvSpPr>
        <p:spPr>
          <a:xfrm>
            <a:off x="8382000" y="306324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24" name="Text 22"/>
          <p:cNvSpPr/>
          <p:nvPr/>
        </p:nvSpPr>
        <p:spPr>
          <a:xfrm>
            <a:off x="8382000" y="3401568"/>
            <a:ext cx="3011424" cy="2377440"/>
          </a:xfrm>
          <a:prstGeom prst="rect">
            <a:avLst/>
          </a:prstGeom>
          <a:noFill/>
          <a:ln/>
        </p:spPr>
        <p:txBody>
          <a:bodyPr wrap="square" lIns="0" tIns="0" rIns="0" bIns="0" rtlCol="0" anchor="t"/>
          <a:lstStyle/>
          <a:p>
            <a:pPr indent="0" marL="0">
              <a:lnSpc>
                <a:spcPct val="108000"/>
              </a:lnSpc>
              <a:buNone/>
            </a:pPr>
            <a:r>
              <a:rPr lang="en-US" sz="1300" dirty="0">
                <a:solidFill>
                  <a:srgbClr val="1A1A1A"/>
                </a:solidFill>
                <a:latin typeface="Arial" pitchFamily="34" charset="0"/>
                <a:ea typeface="Arial" pitchFamily="34" charset="-122"/>
                <a:cs typeface="Arial" pitchFamily="34" charset="-120"/>
              </a:rPr>
              <a:t>A coalition of farmers' organizations in the 1870s–1890s that created cooperatives, lobbied for government credit, and laid the groundwork for the Populist Party.</a:t>
            </a:r>
            <a:endParaRPr lang="en-US" sz="1300" dirty="0"/>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2F5FA6"/>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KEY VOCABULARY  ·  LANGUAGE SUPPORT</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US.11</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TroopToTeacher Technologies LLC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8</a:t>
            </a:r>
            <a:endParaRPr lang="en-US" sz="900" dirty="0"/>
          </a:p>
        </p:txBody>
      </p:sp>
      <p:sp>
        <p:nvSpPr>
          <p:cNvPr id="6" name="Text 4"/>
          <p:cNvSpPr/>
          <p:nvPr/>
        </p:nvSpPr>
        <p:spPr>
          <a:xfrm>
            <a:off x="548640" y="914400"/>
            <a:ext cx="10515600" cy="502920"/>
          </a:xfrm>
          <a:prstGeom prst="rect">
            <a:avLst/>
          </a:prstGeom>
          <a:noFill/>
          <a:ln/>
        </p:spPr>
        <p:txBody>
          <a:bodyPr wrap="square" lIns="0" tIns="0" rIns="0" bIns="0" rtlCol="0" anchor="ctr"/>
          <a:lstStyle/>
          <a:p>
            <a:pPr indent="0" marL="0">
              <a:buNone/>
            </a:pPr>
            <a:r>
              <a:rPr lang="en-US" sz="2500" b="1" dirty="0">
                <a:solidFill>
                  <a:srgbClr val="FFFFFF"/>
                </a:solidFill>
                <a:latin typeface="Cambria" pitchFamily="34" charset="0"/>
                <a:ea typeface="Cambria" pitchFamily="34" charset="-122"/>
                <a:cs typeface="Cambria" pitchFamily="34" charset="-120"/>
              </a:rPr>
              <a:t>Words you need before we read</a:t>
            </a:r>
            <a:endParaRPr lang="en-US" sz="2500" dirty="0"/>
          </a:p>
        </p:txBody>
      </p:sp>
      <p:sp>
        <p:nvSpPr>
          <p:cNvPr id="7" name="Shape 5"/>
          <p:cNvSpPr/>
          <p:nvPr/>
        </p:nvSpPr>
        <p:spPr>
          <a:xfrm>
            <a:off x="548640" y="1691640"/>
            <a:ext cx="3514344" cy="4297680"/>
          </a:xfrm>
          <a:prstGeom prst="rect">
            <a:avLst/>
          </a:prstGeom>
          <a:solidFill>
            <a:srgbClr val="F7F5EF"/>
          </a:solidFill>
          <a:ln w="12700">
            <a:solidFill>
              <a:srgbClr val="D9D5C8"/>
            </a:solidFill>
            <a:prstDash val="solid"/>
          </a:ln>
        </p:spPr>
      </p:sp>
      <p:sp>
        <p:nvSpPr>
          <p:cNvPr id="8" name="Shape 6"/>
          <p:cNvSpPr/>
          <p:nvPr/>
        </p:nvSpPr>
        <p:spPr>
          <a:xfrm>
            <a:off x="804672" y="1938528"/>
            <a:ext cx="137160" cy="292608"/>
          </a:xfrm>
          <a:prstGeom prst="rect">
            <a:avLst/>
          </a:prstGeom>
          <a:solidFill>
            <a:srgbClr val="B22234"/>
          </a:solidFill>
          <a:ln/>
        </p:spPr>
      </p:sp>
      <p:sp>
        <p:nvSpPr>
          <p:cNvPr id="9" name="Text 7"/>
          <p:cNvSpPr/>
          <p:nvPr/>
        </p:nvSpPr>
        <p:spPr>
          <a:xfrm>
            <a:off x="1024128" y="1828800"/>
            <a:ext cx="2782824" cy="54864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Labor Union</a:t>
            </a:r>
            <a:endParaRPr lang="en-US" sz="1800" dirty="0"/>
          </a:p>
        </p:txBody>
      </p:sp>
      <p:sp>
        <p:nvSpPr>
          <p:cNvPr id="10" name="Text 8"/>
          <p:cNvSpPr/>
          <p:nvPr/>
        </p:nvSpPr>
        <p:spPr>
          <a:xfrm>
            <a:off x="804672" y="2487168"/>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Sindicato Laboral</a:t>
            </a:r>
            <a:endParaRPr lang="en-US" sz="1250" dirty="0"/>
          </a:p>
        </p:txBody>
      </p:sp>
      <p:sp>
        <p:nvSpPr>
          <p:cNvPr id="11" name="Text 9"/>
          <p:cNvSpPr/>
          <p:nvPr/>
        </p:nvSpPr>
        <p:spPr>
          <a:xfrm>
            <a:off x="804672" y="306324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2" name="Text 10"/>
          <p:cNvSpPr/>
          <p:nvPr/>
        </p:nvSpPr>
        <p:spPr>
          <a:xfrm>
            <a:off x="804672" y="3401568"/>
            <a:ext cx="3011424" cy="2377440"/>
          </a:xfrm>
          <a:prstGeom prst="rect">
            <a:avLst/>
          </a:prstGeom>
          <a:noFill/>
          <a:ln/>
        </p:spPr>
        <p:txBody>
          <a:bodyPr wrap="square" lIns="0" tIns="0" rIns="0" bIns="0" rtlCol="0" anchor="t"/>
          <a:lstStyle/>
          <a:p>
            <a:pPr indent="0" marL="0">
              <a:lnSpc>
                <a:spcPct val="108000"/>
              </a:lnSpc>
              <a:buNone/>
            </a:pPr>
            <a:r>
              <a:rPr lang="en-US" sz="1300" dirty="0">
                <a:solidFill>
                  <a:srgbClr val="1A1A1A"/>
                </a:solidFill>
                <a:latin typeface="Arial" pitchFamily="34" charset="0"/>
                <a:ea typeface="Arial" pitchFamily="34" charset="-122"/>
                <a:cs typeface="Arial" pitchFamily="34" charset="-120"/>
              </a:rPr>
              <a:t>An organization of workers formed to protect their rights and improve wages, hours, and working conditions through collective bargaining and, if necessary, strikes.</a:t>
            </a:r>
            <a:endParaRPr lang="en-US" sz="1300" dirty="0"/>
          </a:p>
        </p:txBody>
      </p:sp>
      <p:sp>
        <p:nvSpPr>
          <p:cNvPr id="13" name="Shape 11"/>
          <p:cNvSpPr/>
          <p:nvPr/>
        </p:nvSpPr>
        <p:spPr>
          <a:xfrm>
            <a:off x="4337304" y="1691640"/>
            <a:ext cx="3514344" cy="4297680"/>
          </a:xfrm>
          <a:prstGeom prst="rect">
            <a:avLst/>
          </a:prstGeom>
          <a:solidFill>
            <a:srgbClr val="F7F5EF"/>
          </a:solidFill>
          <a:ln w="12700">
            <a:solidFill>
              <a:srgbClr val="D9D5C8"/>
            </a:solidFill>
            <a:prstDash val="solid"/>
          </a:ln>
        </p:spPr>
      </p:sp>
      <p:sp>
        <p:nvSpPr>
          <p:cNvPr id="14" name="Shape 12"/>
          <p:cNvSpPr/>
          <p:nvPr/>
        </p:nvSpPr>
        <p:spPr>
          <a:xfrm>
            <a:off x="4593336" y="1938528"/>
            <a:ext cx="137160" cy="292608"/>
          </a:xfrm>
          <a:prstGeom prst="rect">
            <a:avLst/>
          </a:prstGeom>
          <a:solidFill>
            <a:srgbClr val="B22234"/>
          </a:solidFill>
          <a:ln/>
        </p:spPr>
      </p:sp>
      <p:sp>
        <p:nvSpPr>
          <p:cNvPr id="15" name="Text 13"/>
          <p:cNvSpPr/>
          <p:nvPr/>
        </p:nvSpPr>
        <p:spPr>
          <a:xfrm>
            <a:off x="4812792" y="1828800"/>
            <a:ext cx="2782824" cy="54864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Strike</a:t>
            </a:r>
            <a:endParaRPr lang="en-US" sz="1800" dirty="0"/>
          </a:p>
        </p:txBody>
      </p:sp>
      <p:sp>
        <p:nvSpPr>
          <p:cNvPr id="16" name="Text 14"/>
          <p:cNvSpPr/>
          <p:nvPr/>
        </p:nvSpPr>
        <p:spPr>
          <a:xfrm>
            <a:off x="4593336" y="2487168"/>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Huelga</a:t>
            </a:r>
            <a:endParaRPr lang="en-US" sz="1250" dirty="0"/>
          </a:p>
        </p:txBody>
      </p:sp>
      <p:sp>
        <p:nvSpPr>
          <p:cNvPr id="17" name="Text 15"/>
          <p:cNvSpPr/>
          <p:nvPr/>
        </p:nvSpPr>
        <p:spPr>
          <a:xfrm>
            <a:off x="4593336" y="306324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8" name="Text 16"/>
          <p:cNvSpPr/>
          <p:nvPr/>
        </p:nvSpPr>
        <p:spPr>
          <a:xfrm>
            <a:off x="4593336" y="3401568"/>
            <a:ext cx="3011424" cy="2377440"/>
          </a:xfrm>
          <a:prstGeom prst="rect">
            <a:avLst/>
          </a:prstGeom>
          <a:noFill/>
          <a:ln/>
        </p:spPr>
        <p:txBody>
          <a:bodyPr wrap="square" lIns="0" tIns="0" rIns="0" bIns="0" rtlCol="0" anchor="t"/>
          <a:lstStyle/>
          <a:p>
            <a:pPr indent="0" marL="0">
              <a:lnSpc>
                <a:spcPct val="108000"/>
              </a:lnSpc>
              <a:buNone/>
            </a:pPr>
            <a:r>
              <a:rPr lang="en-US" sz="1300" dirty="0">
                <a:solidFill>
                  <a:srgbClr val="1A1A1A"/>
                </a:solidFill>
                <a:latin typeface="Arial" pitchFamily="34" charset="0"/>
                <a:ea typeface="Arial" pitchFamily="34" charset="-122"/>
                <a:cs typeface="Arial" pitchFamily="34" charset="-120"/>
              </a:rPr>
              <a:t>A work stoppage organized by union workers to pressure management to meet their demands for better wages, hours, or working conditions.</a:t>
            </a:r>
            <a:endParaRPr lang="en-US" sz="1300" dirty="0"/>
          </a:p>
        </p:txBody>
      </p:sp>
      <p:sp>
        <p:nvSpPr>
          <p:cNvPr id="19" name="Shape 17"/>
          <p:cNvSpPr/>
          <p:nvPr/>
        </p:nvSpPr>
        <p:spPr>
          <a:xfrm>
            <a:off x="8125968" y="1691640"/>
            <a:ext cx="3514344" cy="4297680"/>
          </a:xfrm>
          <a:prstGeom prst="rect">
            <a:avLst/>
          </a:prstGeom>
          <a:solidFill>
            <a:srgbClr val="F7F5EF"/>
          </a:solidFill>
          <a:ln w="12700">
            <a:solidFill>
              <a:srgbClr val="D9D5C8"/>
            </a:solidFill>
            <a:prstDash val="solid"/>
          </a:ln>
        </p:spPr>
      </p:sp>
      <p:sp>
        <p:nvSpPr>
          <p:cNvPr id="20" name="Shape 18"/>
          <p:cNvSpPr/>
          <p:nvPr/>
        </p:nvSpPr>
        <p:spPr>
          <a:xfrm>
            <a:off x="8382000" y="1938528"/>
            <a:ext cx="137160" cy="292608"/>
          </a:xfrm>
          <a:prstGeom prst="rect">
            <a:avLst/>
          </a:prstGeom>
          <a:solidFill>
            <a:srgbClr val="B22234"/>
          </a:solidFill>
          <a:ln/>
        </p:spPr>
      </p:sp>
      <p:sp>
        <p:nvSpPr>
          <p:cNvPr id="21" name="Text 19"/>
          <p:cNvSpPr/>
          <p:nvPr/>
        </p:nvSpPr>
        <p:spPr>
          <a:xfrm>
            <a:off x="8601456" y="1828800"/>
            <a:ext cx="2782824" cy="54864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Collective Bargaining</a:t>
            </a:r>
            <a:endParaRPr lang="en-US" sz="1800" dirty="0"/>
          </a:p>
        </p:txBody>
      </p:sp>
      <p:sp>
        <p:nvSpPr>
          <p:cNvPr id="22" name="Text 20"/>
          <p:cNvSpPr/>
          <p:nvPr/>
        </p:nvSpPr>
        <p:spPr>
          <a:xfrm>
            <a:off x="8382000" y="2487168"/>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Negociación Colectiva</a:t>
            </a:r>
            <a:endParaRPr lang="en-US" sz="1250" dirty="0"/>
          </a:p>
        </p:txBody>
      </p:sp>
      <p:sp>
        <p:nvSpPr>
          <p:cNvPr id="23" name="Text 21"/>
          <p:cNvSpPr/>
          <p:nvPr/>
        </p:nvSpPr>
        <p:spPr>
          <a:xfrm>
            <a:off x="8382000" y="306324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24" name="Text 22"/>
          <p:cNvSpPr/>
          <p:nvPr/>
        </p:nvSpPr>
        <p:spPr>
          <a:xfrm>
            <a:off x="8382000" y="3401568"/>
            <a:ext cx="3011424" cy="2377440"/>
          </a:xfrm>
          <a:prstGeom prst="rect">
            <a:avLst/>
          </a:prstGeom>
          <a:noFill/>
          <a:ln/>
        </p:spPr>
        <p:txBody>
          <a:bodyPr wrap="square" lIns="0" tIns="0" rIns="0" bIns="0" rtlCol="0" anchor="t"/>
          <a:lstStyle/>
          <a:p>
            <a:pPr indent="0" marL="0">
              <a:lnSpc>
                <a:spcPct val="108000"/>
              </a:lnSpc>
              <a:buNone/>
            </a:pPr>
            <a:r>
              <a:rPr lang="en-US" sz="1300" dirty="0">
                <a:solidFill>
                  <a:srgbClr val="1A1A1A"/>
                </a:solidFill>
                <a:latin typeface="Arial" pitchFamily="34" charset="0"/>
                <a:ea typeface="Arial" pitchFamily="34" charset="-122"/>
                <a:cs typeface="Arial" pitchFamily="34" charset="-120"/>
              </a:rPr>
              <a:t>The process where union representatives negotiate wages, hours, and conditions on behalf of all workers, giving workers more power than they would have bargaining individually.</a:t>
            </a:r>
            <a:endParaRPr lang="en-US" sz="1300" dirty="0"/>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2F5FA6"/>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KEY VOCABULARY  ·  LANGUAGE SUPPORT</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US.12</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TroopToTeacher Technologies LLC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10</a:t>
            </a:r>
            <a:endParaRPr lang="en-US" sz="900" dirty="0"/>
          </a:p>
        </p:txBody>
      </p:sp>
      <p:sp>
        <p:nvSpPr>
          <p:cNvPr id="6" name="Text 4"/>
          <p:cNvSpPr/>
          <p:nvPr/>
        </p:nvSpPr>
        <p:spPr>
          <a:xfrm>
            <a:off x="548640" y="914400"/>
            <a:ext cx="10515600" cy="502920"/>
          </a:xfrm>
          <a:prstGeom prst="rect">
            <a:avLst/>
          </a:prstGeom>
          <a:noFill/>
          <a:ln/>
        </p:spPr>
        <p:txBody>
          <a:bodyPr wrap="square" lIns="0" tIns="0" rIns="0" bIns="0" rtlCol="0" anchor="ctr"/>
          <a:lstStyle/>
          <a:p>
            <a:pPr indent="0" marL="0">
              <a:buNone/>
            </a:pPr>
            <a:r>
              <a:rPr lang="en-US" sz="2500" b="1" dirty="0">
                <a:solidFill>
                  <a:srgbClr val="FFFFFF"/>
                </a:solidFill>
                <a:latin typeface="Cambria" pitchFamily="34" charset="0"/>
                <a:ea typeface="Cambria" pitchFamily="34" charset="-122"/>
                <a:cs typeface="Cambria" pitchFamily="34" charset="-120"/>
              </a:rPr>
              <a:t>Words you need before we read</a:t>
            </a:r>
            <a:endParaRPr lang="en-US" sz="2500" dirty="0"/>
          </a:p>
        </p:txBody>
      </p:sp>
      <p:sp>
        <p:nvSpPr>
          <p:cNvPr id="7" name="Shape 5"/>
          <p:cNvSpPr/>
          <p:nvPr/>
        </p:nvSpPr>
        <p:spPr>
          <a:xfrm>
            <a:off x="548640" y="1691640"/>
            <a:ext cx="3514344" cy="4297680"/>
          </a:xfrm>
          <a:prstGeom prst="rect">
            <a:avLst/>
          </a:prstGeom>
          <a:solidFill>
            <a:srgbClr val="F7F5EF"/>
          </a:solidFill>
          <a:ln w="12700">
            <a:solidFill>
              <a:srgbClr val="D9D5C8"/>
            </a:solidFill>
            <a:prstDash val="solid"/>
          </a:ln>
        </p:spPr>
      </p:sp>
      <p:sp>
        <p:nvSpPr>
          <p:cNvPr id="8" name="Shape 6"/>
          <p:cNvSpPr/>
          <p:nvPr/>
        </p:nvSpPr>
        <p:spPr>
          <a:xfrm>
            <a:off x="804672" y="1938528"/>
            <a:ext cx="137160" cy="292608"/>
          </a:xfrm>
          <a:prstGeom prst="rect">
            <a:avLst/>
          </a:prstGeom>
          <a:solidFill>
            <a:srgbClr val="B22234"/>
          </a:solidFill>
          <a:ln/>
        </p:spPr>
      </p:sp>
      <p:sp>
        <p:nvSpPr>
          <p:cNvPr id="9" name="Text 7"/>
          <p:cNvSpPr/>
          <p:nvPr/>
        </p:nvSpPr>
        <p:spPr>
          <a:xfrm>
            <a:off x="1024128" y="1828800"/>
            <a:ext cx="2782824" cy="54864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Trust</a:t>
            </a:r>
            <a:endParaRPr lang="en-US" sz="1800" dirty="0"/>
          </a:p>
        </p:txBody>
      </p:sp>
      <p:sp>
        <p:nvSpPr>
          <p:cNvPr id="10" name="Text 8"/>
          <p:cNvSpPr/>
          <p:nvPr/>
        </p:nvSpPr>
        <p:spPr>
          <a:xfrm>
            <a:off x="804672" y="2487168"/>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Trust (Fideicomiso)</a:t>
            </a:r>
            <a:endParaRPr lang="en-US" sz="1250" dirty="0"/>
          </a:p>
        </p:txBody>
      </p:sp>
      <p:sp>
        <p:nvSpPr>
          <p:cNvPr id="11" name="Text 9"/>
          <p:cNvSpPr/>
          <p:nvPr/>
        </p:nvSpPr>
        <p:spPr>
          <a:xfrm>
            <a:off x="804672" y="306324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2" name="Text 10"/>
          <p:cNvSpPr/>
          <p:nvPr/>
        </p:nvSpPr>
        <p:spPr>
          <a:xfrm>
            <a:off x="804672" y="3401568"/>
            <a:ext cx="3011424" cy="2377440"/>
          </a:xfrm>
          <a:prstGeom prst="rect">
            <a:avLst/>
          </a:prstGeom>
          <a:noFill/>
          <a:ln/>
        </p:spPr>
        <p:txBody>
          <a:bodyPr wrap="square" lIns="0" tIns="0" rIns="0" bIns="0" rtlCol="0" anchor="t"/>
          <a:lstStyle/>
          <a:p>
            <a:pPr indent="0" marL="0">
              <a:lnSpc>
                <a:spcPct val="108000"/>
              </a:lnSpc>
              <a:buNone/>
            </a:pPr>
            <a:r>
              <a:rPr lang="en-US" sz="1300" dirty="0">
                <a:solidFill>
                  <a:srgbClr val="1A1A1A"/>
                </a:solidFill>
                <a:latin typeface="Arial" pitchFamily="34" charset="0"/>
                <a:ea typeface="Arial" pitchFamily="34" charset="-122"/>
                <a:cs typeface="Arial" pitchFamily="34" charset="-120"/>
              </a:rPr>
              <a:t>A legal arrangement where stockholders in several companies transfer their shares to a central board, creating a single entity that controls an entire industry and eliminates competition.</a:t>
            </a:r>
            <a:endParaRPr lang="en-US" sz="1300" dirty="0"/>
          </a:p>
        </p:txBody>
      </p:sp>
      <p:sp>
        <p:nvSpPr>
          <p:cNvPr id="13" name="Shape 11"/>
          <p:cNvSpPr/>
          <p:nvPr/>
        </p:nvSpPr>
        <p:spPr>
          <a:xfrm>
            <a:off x="4337304" y="1691640"/>
            <a:ext cx="3514344" cy="4297680"/>
          </a:xfrm>
          <a:prstGeom prst="rect">
            <a:avLst/>
          </a:prstGeom>
          <a:solidFill>
            <a:srgbClr val="F7F5EF"/>
          </a:solidFill>
          <a:ln w="12700">
            <a:solidFill>
              <a:srgbClr val="D9D5C8"/>
            </a:solidFill>
            <a:prstDash val="solid"/>
          </a:ln>
        </p:spPr>
      </p:sp>
      <p:sp>
        <p:nvSpPr>
          <p:cNvPr id="14" name="Shape 12"/>
          <p:cNvSpPr/>
          <p:nvPr/>
        </p:nvSpPr>
        <p:spPr>
          <a:xfrm>
            <a:off x="4593336" y="1938528"/>
            <a:ext cx="137160" cy="292608"/>
          </a:xfrm>
          <a:prstGeom prst="rect">
            <a:avLst/>
          </a:prstGeom>
          <a:solidFill>
            <a:srgbClr val="B22234"/>
          </a:solidFill>
          <a:ln/>
        </p:spPr>
      </p:sp>
      <p:sp>
        <p:nvSpPr>
          <p:cNvPr id="15" name="Text 13"/>
          <p:cNvSpPr/>
          <p:nvPr/>
        </p:nvSpPr>
        <p:spPr>
          <a:xfrm>
            <a:off x="4812792" y="1828800"/>
            <a:ext cx="2782824" cy="54864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Monopoly</a:t>
            </a:r>
            <a:endParaRPr lang="en-US" sz="1800" dirty="0"/>
          </a:p>
        </p:txBody>
      </p:sp>
      <p:sp>
        <p:nvSpPr>
          <p:cNvPr id="16" name="Text 14"/>
          <p:cNvSpPr/>
          <p:nvPr/>
        </p:nvSpPr>
        <p:spPr>
          <a:xfrm>
            <a:off x="4593336" y="2487168"/>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Monopolio</a:t>
            </a:r>
            <a:endParaRPr lang="en-US" sz="1250" dirty="0"/>
          </a:p>
        </p:txBody>
      </p:sp>
      <p:sp>
        <p:nvSpPr>
          <p:cNvPr id="17" name="Text 15"/>
          <p:cNvSpPr/>
          <p:nvPr/>
        </p:nvSpPr>
        <p:spPr>
          <a:xfrm>
            <a:off x="4593336" y="306324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8" name="Text 16"/>
          <p:cNvSpPr/>
          <p:nvPr/>
        </p:nvSpPr>
        <p:spPr>
          <a:xfrm>
            <a:off x="4593336" y="3401568"/>
            <a:ext cx="3011424" cy="2377440"/>
          </a:xfrm>
          <a:prstGeom prst="rect">
            <a:avLst/>
          </a:prstGeom>
          <a:noFill/>
          <a:ln/>
        </p:spPr>
        <p:txBody>
          <a:bodyPr wrap="square" lIns="0" tIns="0" rIns="0" bIns="0" rtlCol="0" anchor="t"/>
          <a:lstStyle/>
          <a:p>
            <a:pPr indent="0" marL="0">
              <a:lnSpc>
                <a:spcPct val="108000"/>
              </a:lnSpc>
              <a:buNone/>
            </a:pPr>
            <a:r>
              <a:rPr lang="en-US" sz="1300" dirty="0">
                <a:solidFill>
                  <a:srgbClr val="1A1A1A"/>
                </a:solidFill>
                <a:latin typeface="Arial" pitchFamily="34" charset="0"/>
                <a:ea typeface="Arial" pitchFamily="34" charset="-122"/>
                <a:cs typeface="Arial" pitchFamily="34" charset="-120"/>
              </a:rPr>
              <a:t>Complete control of a product or service by a single company, allowing it to set prices without competition — harmful to consumers, workers, and smaller businesses.</a:t>
            </a:r>
            <a:endParaRPr lang="en-US" sz="1300" dirty="0"/>
          </a:p>
        </p:txBody>
      </p:sp>
      <p:sp>
        <p:nvSpPr>
          <p:cNvPr id="19" name="Shape 17"/>
          <p:cNvSpPr/>
          <p:nvPr/>
        </p:nvSpPr>
        <p:spPr>
          <a:xfrm>
            <a:off x="8125968" y="1691640"/>
            <a:ext cx="3514344" cy="4297680"/>
          </a:xfrm>
          <a:prstGeom prst="rect">
            <a:avLst/>
          </a:prstGeom>
          <a:solidFill>
            <a:srgbClr val="F7F5EF"/>
          </a:solidFill>
          <a:ln w="12700">
            <a:solidFill>
              <a:srgbClr val="D9D5C8"/>
            </a:solidFill>
            <a:prstDash val="solid"/>
          </a:ln>
        </p:spPr>
      </p:sp>
      <p:sp>
        <p:nvSpPr>
          <p:cNvPr id="20" name="Shape 18"/>
          <p:cNvSpPr/>
          <p:nvPr/>
        </p:nvSpPr>
        <p:spPr>
          <a:xfrm>
            <a:off x="8382000" y="1938528"/>
            <a:ext cx="137160" cy="292608"/>
          </a:xfrm>
          <a:prstGeom prst="rect">
            <a:avLst/>
          </a:prstGeom>
          <a:solidFill>
            <a:srgbClr val="B22234"/>
          </a:solidFill>
          <a:ln/>
        </p:spPr>
      </p:sp>
      <p:sp>
        <p:nvSpPr>
          <p:cNvPr id="21" name="Text 19"/>
          <p:cNvSpPr/>
          <p:nvPr/>
        </p:nvSpPr>
        <p:spPr>
          <a:xfrm>
            <a:off x="8601456" y="1828800"/>
            <a:ext cx="2782824" cy="54864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Sherman Antitrust Act</a:t>
            </a:r>
            <a:endParaRPr lang="en-US" sz="1800" dirty="0"/>
          </a:p>
        </p:txBody>
      </p:sp>
      <p:sp>
        <p:nvSpPr>
          <p:cNvPr id="22" name="Text 20"/>
          <p:cNvSpPr/>
          <p:nvPr/>
        </p:nvSpPr>
        <p:spPr>
          <a:xfrm>
            <a:off x="8382000" y="2487168"/>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Ley Sherman Antimonopolio</a:t>
            </a:r>
            <a:endParaRPr lang="en-US" sz="1250" dirty="0"/>
          </a:p>
        </p:txBody>
      </p:sp>
      <p:sp>
        <p:nvSpPr>
          <p:cNvPr id="23" name="Text 21"/>
          <p:cNvSpPr/>
          <p:nvPr/>
        </p:nvSpPr>
        <p:spPr>
          <a:xfrm>
            <a:off x="8382000" y="306324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24" name="Text 22"/>
          <p:cNvSpPr/>
          <p:nvPr/>
        </p:nvSpPr>
        <p:spPr>
          <a:xfrm>
            <a:off x="8382000" y="3401568"/>
            <a:ext cx="3011424" cy="2377440"/>
          </a:xfrm>
          <a:prstGeom prst="rect">
            <a:avLst/>
          </a:prstGeom>
          <a:noFill/>
          <a:ln/>
        </p:spPr>
        <p:txBody>
          <a:bodyPr wrap="square" lIns="0" tIns="0" rIns="0" bIns="0" rtlCol="0" anchor="t"/>
          <a:lstStyle/>
          <a:p>
            <a:pPr indent="0" marL="0">
              <a:lnSpc>
                <a:spcPct val="108000"/>
              </a:lnSpc>
              <a:buNone/>
            </a:pPr>
            <a:r>
              <a:rPr lang="en-US" sz="1300" dirty="0">
                <a:solidFill>
                  <a:srgbClr val="1A1A1A"/>
                </a:solidFill>
                <a:latin typeface="Arial" pitchFamily="34" charset="0"/>
                <a:ea typeface="Arial" pitchFamily="34" charset="-122"/>
                <a:cs typeface="Arial" pitchFamily="34" charset="-120"/>
              </a:rPr>
              <a:t>An 1890 federal law that made it illegal to form trusts, monopolies, or conspiracies that restrained trade — the first federal law to regulate corporate power.</a:t>
            </a:r>
            <a:endParaRPr lang="en-US" sz="1300" dirty="0"/>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2F5FA6"/>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KEY VOCABULARY  ·  LANGUAGE SUPPORT</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US.13</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TroopToTeacher Technologies LLC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12</a:t>
            </a:r>
            <a:endParaRPr lang="en-US" sz="900" dirty="0"/>
          </a:p>
        </p:txBody>
      </p:sp>
      <p:sp>
        <p:nvSpPr>
          <p:cNvPr id="6" name="Text 4"/>
          <p:cNvSpPr/>
          <p:nvPr/>
        </p:nvSpPr>
        <p:spPr>
          <a:xfrm>
            <a:off x="548640" y="914400"/>
            <a:ext cx="10515600" cy="502920"/>
          </a:xfrm>
          <a:prstGeom prst="rect">
            <a:avLst/>
          </a:prstGeom>
          <a:noFill/>
          <a:ln/>
        </p:spPr>
        <p:txBody>
          <a:bodyPr wrap="square" lIns="0" tIns="0" rIns="0" bIns="0" rtlCol="0" anchor="ctr"/>
          <a:lstStyle/>
          <a:p>
            <a:pPr indent="0" marL="0">
              <a:buNone/>
            </a:pPr>
            <a:r>
              <a:rPr lang="en-US" sz="2500" b="1" dirty="0">
                <a:solidFill>
                  <a:srgbClr val="FFFFFF"/>
                </a:solidFill>
                <a:latin typeface="Cambria" pitchFamily="34" charset="0"/>
                <a:ea typeface="Cambria" pitchFamily="34" charset="-122"/>
                <a:cs typeface="Cambria" pitchFamily="34" charset="-120"/>
              </a:rPr>
              <a:t>Words you need before we read</a:t>
            </a:r>
            <a:endParaRPr lang="en-US" sz="2500" dirty="0"/>
          </a:p>
        </p:txBody>
      </p:sp>
      <p:sp>
        <p:nvSpPr>
          <p:cNvPr id="7" name="Shape 5"/>
          <p:cNvSpPr/>
          <p:nvPr/>
        </p:nvSpPr>
        <p:spPr>
          <a:xfrm>
            <a:off x="548640" y="1691640"/>
            <a:ext cx="3514344" cy="4297680"/>
          </a:xfrm>
          <a:prstGeom prst="rect">
            <a:avLst/>
          </a:prstGeom>
          <a:solidFill>
            <a:srgbClr val="F7F5EF"/>
          </a:solidFill>
          <a:ln w="12700">
            <a:solidFill>
              <a:srgbClr val="D9D5C8"/>
            </a:solidFill>
            <a:prstDash val="solid"/>
          </a:ln>
        </p:spPr>
      </p:sp>
      <p:sp>
        <p:nvSpPr>
          <p:cNvPr id="8" name="Shape 6"/>
          <p:cNvSpPr/>
          <p:nvPr/>
        </p:nvSpPr>
        <p:spPr>
          <a:xfrm>
            <a:off x="804672" y="1938528"/>
            <a:ext cx="137160" cy="292608"/>
          </a:xfrm>
          <a:prstGeom prst="rect">
            <a:avLst/>
          </a:prstGeom>
          <a:solidFill>
            <a:srgbClr val="B22234"/>
          </a:solidFill>
          <a:ln/>
        </p:spPr>
      </p:sp>
      <p:sp>
        <p:nvSpPr>
          <p:cNvPr id="9" name="Text 7"/>
          <p:cNvSpPr/>
          <p:nvPr/>
        </p:nvSpPr>
        <p:spPr>
          <a:xfrm>
            <a:off x="1024128" y="1828800"/>
            <a:ext cx="2782824" cy="54864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Sweatshop</a:t>
            </a:r>
            <a:endParaRPr lang="en-US" sz="1800" dirty="0"/>
          </a:p>
        </p:txBody>
      </p:sp>
      <p:sp>
        <p:nvSpPr>
          <p:cNvPr id="10" name="Text 8"/>
          <p:cNvSpPr/>
          <p:nvPr/>
        </p:nvSpPr>
        <p:spPr>
          <a:xfrm>
            <a:off x="804672" y="2487168"/>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Taller de Explotación</a:t>
            </a:r>
            <a:endParaRPr lang="en-US" sz="1250" dirty="0"/>
          </a:p>
        </p:txBody>
      </p:sp>
      <p:sp>
        <p:nvSpPr>
          <p:cNvPr id="11" name="Text 9"/>
          <p:cNvSpPr/>
          <p:nvPr/>
        </p:nvSpPr>
        <p:spPr>
          <a:xfrm>
            <a:off x="804672" y="306324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2" name="Text 10"/>
          <p:cNvSpPr/>
          <p:nvPr/>
        </p:nvSpPr>
        <p:spPr>
          <a:xfrm>
            <a:off x="804672" y="3401568"/>
            <a:ext cx="3011424" cy="2377440"/>
          </a:xfrm>
          <a:prstGeom prst="rect">
            <a:avLst/>
          </a:prstGeom>
          <a:noFill/>
          <a:ln/>
        </p:spPr>
        <p:txBody>
          <a:bodyPr wrap="square" lIns="0" tIns="0" rIns="0" bIns="0" rtlCol="0" anchor="t"/>
          <a:lstStyle/>
          <a:p>
            <a:pPr indent="0" marL="0">
              <a:lnSpc>
                <a:spcPct val="108000"/>
              </a:lnSpc>
              <a:buNone/>
            </a:pPr>
            <a:r>
              <a:rPr lang="en-US" sz="1300" dirty="0">
                <a:solidFill>
                  <a:srgbClr val="1A1A1A"/>
                </a:solidFill>
                <a:latin typeface="Arial" pitchFamily="34" charset="0"/>
                <a:ea typeface="Arial" pitchFamily="34" charset="-122"/>
                <a:cs typeface="Arial" pitchFamily="34" charset="-120"/>
              </a:rPr>
              <a:t>A factory or workshop where workers faced long hours, low wages, and dangerous or unhealthy conditions — common in the garment industry employing immigrant women.</a:t>
            </a:r>
            <a:endParaRPr lang="en-US" sz="1300" dirty="0"/>
          </a:p>
        </p:txBody>
      </p:sp>
      <p:sp>
        <p:nvSpPr>
          <p:cNvPr id="13" name="Shape 11"/>
          <p:cNvSpPr/>
          <p:nvPr/>
        </p:nvSpPr>
        <p:spPr>
          <a:xfrm>
            <a:off x="4337304" y="1691640"/>
            <a:ext cx="3514344" cy="4297680"/>
          </a:xfrm>
          <a:prstGeom prst="rect">
            <a:avLst/>
          </a:prstGeom>
          <a:solidFill>
            <a:srgbClr val="F7F5EF"/>
          </a:solidFill>
          <a:ln w="12700">
            <a:solidFill>
              <a:srgbClr val="D9D5C8"/>
            </a:solidFill>
            <a:prstDash val="solid"/>
          </a:ln>
        </p:spPr>
      </p:sp>
      <p:sp>
        <p:nvSpPr>
          <p:cNvPr id="14" name="Shape 12"/>
          <p:cNvSpPr/>
          <p:nvPr/>
        </p:nvSpPr>
        <p:spPr>
          <a:xfrm>
            <a:off x="4593336" y="1938528"/>
            <a:ext cx="137160" cy="292608"/>
          </a:xfrm>
          <a:prstGeom prst="rect">
            <a:avLst/>
          </a:prstGeom>
          <a:solidFill>
            <a:srgbClr val="B22234"/>
          </a:solidFill>
          <a:ln/>
        </p:spPr>
      </p:sp>
      <p:sp>
        <p:nvSpPr>
          <p:cNvPr id="15" name="Text 13"/>
          <p:cNvSpPr/>
          <p:nvPr/>
        </p:nvSpPr>
        <p:spPr>
          <a:xfrm>
            <a:off x="4812792" y="1828800"/>
            <a:ext cx="2782824" cy="54864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Child Labor</a:t>
            </a:r>
            <a:endParaRPr lang="en-US" sz="1800" dirty="0"/>
          </a:p>
        </p:txBody>
      </p:sp>
      <p:sp>
        <p:nvSpPr>
          <p:cNvPr id="16" name="Text 14"/>
          <p:cNvSpPr/>
          <p:nvPr/>
        </p:nvSpPr>
        <p:spPr>
          <a:xfrm>
            <a:off x="4593336" y="2487168"/>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Trabajo Infantil</a:t>
            </a:r>
            <a:endParaRPr lang="en-US" sz="1250" dirty="0"/>
          </a:p>
        </p:txBody>
      </p:sp>
      <p:sp>
        <p:nvSpPr>
          <p:cNvPr id="17" name="Text 15"/>
          <p:cNvSpPr/>
          <p:nvPr/>
        </p:nvSpPr>
        <p:spPr>
          <a:xfrm>
            <a:off x="4593336" y="306324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8" name="Text 16"/>
          <p:cNvSpPr/>
          <p:nvPr/>
        </p:nvSpPr>
        <p:spPr>
          <a:xfrm>
            <a:off x="4593336" y="3401568"/>
            <a:ext cx="3011424" cy="2377440"/>
          </a:xfrm>
          <a:prstGeom prst="rect">
            <a:avLst/>
          </a:prstGeom>
          <a:noFill/>
          <a:ln/>
        </p:spPr>
        <p:txBody>
          <a:bodyPr wrap="square" lIns="0" tIns="0" rIns="0" bIns="0" rtlCol="0" anchor="t"/>
          <a:lstStyle/>
          <a:p>
            <a:pPr indent="0" marL="0">
              <a:lnSpc>
                <a:spcPct val="108000"/>
              </a:lnSpc>
              <a:buNone/>
            </a:pPr>
            <a:r>
              <a:rPr lang="en-US" sz="1300" dirty="0">
                <a:solidFill>
                  <a:srgbClr val="1A1A1A"/>
                </a:solidFill>
                <a:latin typeface="Arial" pitchFamily="34" charset="0"/>
                <a:ea typeface="Arial" pitchFamily="34" charset="-122"/>
                <a:cs typeface="Arial" pitchFamily="34" charset="-120"/>
              </a:rPr>
              <a:t>The employment of children — sometimes as young as 5 or 6 — in factories, mines, and mills; an estimated 1.75 million children worked in American industry by 1900.</a:t>
            </a:r>
            <a:endParaRPr lang="en-US" sz="1300" dirty="0"/>
          </a:p>
        </p:txBody>
      </p:sp>
      <p:sp>
        <p:nvSpPr>
          <p:cNvPr id="19" name="Shape 17"/>
          <p:cNvSpPr/>
          <p:nvPr/>
        </p:nvSpPr>
        <p:spPr>
          <a:xfrm>
            <a:off x="8125968" y="1691640"/>
            <a:ext cx="3514344" cy="4297680"/>
          </a:xfrm>
          <a:prstGeom prst="rect">
            <a:avLst/>
          </a:prstGeom>
          <a:solidFill>
            <a:srgbClr val="F7F5EF"/>
          </a:solidFill>
          <a:ln w="12700">
            <a:solidFill>
              <a:srgbClr val="D9D5C8"/>
            </a:solidFill>
            <a:prstDash val="solid"/>
          </a:ln>
        </p:spPr>
      </p:sp>
      <p:sp>
        <p:nvSpPr>
          <p:cNvPr id="20" name="Shape 18"/>
          <p:cNvSpPr/>
          <p:nvPr/>
        </p:nvSpPr>
        <p:spPr>
          <a:xfrm>
            <a:off x="8382000" y="1938528"/>
            <a:ext cx="137160" cy="292608"/>
          </a:xfrm>
          <a:prstGeom prst="rect">
            <a:avLst/>
          </a:prstGeom>
          <a:solidFill>
            <a:srgbClr val="B22234"/>
          </a:solidFill>
          <a:ln/>
        </p:spPr>
      </p:sp>
      <p:sp>
        <p:nvSpPr>
          <p:cNvPr id="21" name="Text 19"/>
          <p:cNvSpPr/>
          <p:nvPr/>
        </p:nvSpPr>
        <p:spPr>
          <a:xfrm>
            <a:off x="8601456" y="1828800"/>
            <a:ext cx="2782824" cy="54864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Triangle Shirtwaist Fire</a:t>
            </a:r>
            <a:endParaRPr lang="en-US" sz="1800" dirty="0"/>
          </a:p>
        </p:txBody>
      </p:sp>
      <p:sp>
        <p:nvSpPr>
          <p:cNvPr id="22" name="Text 20"/>
          <p:cNvSpPr/>
          <p:nvPr/>
        </p:nvSpPr>
        <p:spPr>
          <a:xfrm>
            <a:off x="8382000" y="2487168"/>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Incendio de la Fábrica Triangle</a:t>
            </a:r>
            <a:endParaRPr lang="en-US" sz="1250" dirty="0"/>
          </a:p>
        </p:txBody>
      </p:sp>
      <p:sp>
        <p:nvSpPr>
          <p:cNvPr id="23" name="Text 21"/>
          <p:cNvSpPr/>
          <p:nvPr/>
        </p:nvSpPr>
        <p:spPr>
          <a:xfrm>
            <a:off x="8382000" y="306324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24" name="Text 22"/>
          <p:cNvSpPr/>
          <p:nvPr/>
        </p:nvSpPr>
        <p:spPr>
          <a:xfrm>
            <a:off x="8382000" y="3401568"/>
            <a:ext cx="3011424" cy="2377440"/>
          </a:xfrm>
          <a:prstGeom prst="rect">
            <a:avLst/>
          </a:prstGeom>
          <a:noFill/>
          <a:ln/>
        </p:spPr>
        <p:txBody>
          <a:bodyPr wrap="square" lIns="0" tIns="0" rIns="0" bIns="0" rtlCol="0" anchor="t"/>
          <a:lstStyle/>
          <a:p>
            <a:pPr indent="0" marL="0">
              <a:lnSpc>
                <a:spcPct val="108000"/>
              </a:lnSpc>
              <a:buNone/>
            </a:pPr>
            <a:r>
              <a:rPr lang="en-US" sz="1300" dirty="0">
                <a:solidFill>
                  <a:srgbClr val="1A1A1A"/>
                </a:solidFill>
                <a:latin typeface="Arial" pitchFamily="34" charset="0"/>
                <a:ea typeface="Arial" pitchFamily="34" charset="-122"/>
                <a:cs typeface="Arial" pitchFamily="34" charset="-120"/>
              </a:rPr>
              <a:t>A 1911 factory fire in New York City that killed 146 workers — mostly young immigrant women — trapped by locked exits, becoming a catalyst for worker safety reform.</a:t>
            </a:r>
            <a:endParaRPr lang="en-US" sz="1300" dirty="0"/>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2F5FA6"/>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KEY VOCABULARY  ·  LANGUAGE SUPPORT</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US.14</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TroopToTeacher Technologies LLC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14</a:t>
            </a:r>
            <a:endParaRPr lang="en-US" sz="900" dirty="0"/>
          </a:p>
        </p:txBody>
      </p:sp>
      <p:sp>
        <p:nvSpPr>
          <p:cNvPr id="6" name="Text 4"/>
          <p:cNvSpPr/>
          <p:nvPr/>
        </p:nvSpPr>
        <p:spPr>
          <a:xfrm>
            <a:off x="548640" y="914400"/>
            <a:ext cx="10515600" cy="502920"/>
          </a:xfrm>
          <a:prstGeom prst="rect">
            <a:avLst/>
          </a:prstGeom>
          <a:noFill/>
          <a:ln/>
        </p:spPr>
        <p:txBody>
          <a:bodyPr wrap="square" lIns="0" tIns="0" rIns="0" bIns="0" rtlCol="0" anchor="ctr"/>
          <a:lstStyle/>
          <a:p>
            <a:pPr indent="0" marL="0">
              <a:buNone/>
            </a:pPr>
            <a:r>
              <a:rPr lang="en-US" sz="2500" b="1" dirty="0">
                <a:solidFill>
                  <a:srgbClr val="FFFFFF"/>
                </a:solidFill>
                <a:latin typeface="Cambria" pitchFamily="34" charset="0"/>
                <a:ea typeface="Cambria" pitchFamily="34" charset="-122"/>
                <a:cs typeface="Cambria" pitchFamily="34" charset="-120"/>
              </a:rPr>
              <a:t>Words you need before we read</a:t>
            </a:r>
            <a:endParaRPr lang="en-US" sz="2500" dirty="0"/>
          </a:p>
        </p:txBody>
      </p:sp>
      <p:sp>
        <p:nvSpPr>
          <p:cNvPr id="7" name="Shape 5"/>
          <p:cNvSpPr/>
          <p:nvPr/>
        </p:nvSpPr>
        <p:spPr>
          <a:xfrm>
            <a:off x="548640" y="1691640"/>
            <a:ext cx="3514344" cy="4297680"/>
          </a:xfrm>
          <a:prstGeom prst="rect">
            <a:avLst/>
          </a:prstGeom>
          <a:solidFill>
            <a:srgbClr val="F7F5EF"/>
          </a:solidFill>
          <a:ln w="12700">
            <a:solidFill>
              <a:srgbClr val="D9D5C8"/>
            </a:solidFill>
            <a:prstDash val="solid"/>
          </a:ln>
        </p:spPr>
      </p:sp>
      <p:sp>
        <p:nvSpPr>
          <p:cNvPr id="8" name="Shape 6"/>
          <p:cNvSpPr/>
          <p:nvPr/>
        </p:nvSpPr>
        <p:spPr>
          <a:xfrm>
            <a:off x="804672" y="1938528"/>
            <a:ext cx="137160" cy="292608"/>
          </a:xfrm>
          <a:prstGeom prst="rect">
            <a:avLst/>
          </a:prstGeom>
          <a:solidFill>
            <a:srgbClr val="B22234"/>
          </a:solidFill>
          <a:ln/>
        </p:spPr>
      </p:sp>
      <p:sp>
        <p:nvSpPr>
          <p:cNvPr id="9" name="Text 7"/>
          <p:cNvSpPr/>
          <p:nvPr/>
        </p:nvSpPr>
        <p:spPr>
          <a:xfrm>
            <a:off x="1024128" y="1828800"/>
            <a:ext cx="2782824" cy="54864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Muckraker</a:t>
            </a:r>
            <a:endParaRPr lang="en-US" sz="1800" dirty="0"/>
          </a:p>
        </p:txBody>
      </p:sp>
      <p:sp>
        <p:nvSpPr>
          <p:cNvPr id="10" name="Text 8"/>
          <p:cNvSpPr/>
          <p:nvPr/>
        </p:nvSpPr>
        <p:spPr>
          <a:xfrm>
            <a:off x="804672" y="2487168"/>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Periodista de Investigación</a:t>
            </a:r>
            <a:endParaRPr lang="en-US" sz="1250" dirty="0"/>
          </a:p>
        </p:txBody>
      </p:sp>
      <p:sp>
        <p:nvSpPr>
          <p:cNvPr id="11" name="Text 9"/>
          <p:cNvSpPr/>
          <p:nvPr/>
        </p:nvSpPr>
        <p:spPr>
          <a:xfrm>
            <a:off x="804672" y="306324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2" name="Text 10"/>
          <p:cNvSpPr/>
          <p:nvPr/>
        </p:nvSpPr>
        <p:spPr>
          <a:xfrm>
            <a:off x="804672" y="3401568"/>
            <a:ext cx="3011424" cy="2377440"/>
          </a:xfrm>
          <a:prstGeom prst="rect">
            <a:avLst/>
          </a:prstGeom>
          <a:noFill/>
          <a:ln/>
        </p:spPr>
        <p:txBody>
          <a:bodyPr wrap="square" lIns="0" tIns="0" rIns="0" bIns="0" rtlCol="0" anchor="t"/>
          <a:lstStyle/>
          <a:p>
            <a:pPr indent="0" marL="0">
              <a:lnSpc>
                <a:spcPct val="108000"/>
              </a:lnSpc>
              <a:buNone/>
            </a:pPr>
            <a:r>
              <a:rPr lang="en-US" sz="1300" dirty="0">
                <a:solidFill>
                  <a:srgbClr val="1A1A1A"/>
                </a:solidFill>
                <a:latin typeface="Arial" pitchFamily="34" charset="0"/>
                <a:ea typeface="Arial" pitchFamily="34" charset="-122"/>
                <a:cs typeface="Arial" pitchFamily="34" charset="-120"/>
              </a:rPr>
              <a:t>Investigative journalists and authors who exposed corporate abuse, government corruption, and social injustice in the Progressive Era, building public pressure for reform.</a:t>
            </a:r>
            <a:endParaRPr lang="en-US" sz="1300" dirty="0"/>
          </a:p>
        </p:txBody>
      </p:sp>
      <p:sp>
        <p:nvSpPr>
          <p:cNvPr id="13" name="Shape 11"/>
          <p:cNvSpPr/>
          <p:nvPr/>
        </p:nvSpPr>
        <p:spPr>
          <a:xfrm>
            <a:off x="4337304" y="1691640"/>
            <a:ext cx="3514344" cy="4297680"/>
          </a:xfrm>
          <a:prstGeom prst="rect">
            <a:avLst/>
          </a:prstGeom>
          <a:solidFill>
            <a:srgbClr val="F7F5EF"/>
          </a:solidFill>
          <a:ln w="12700">
            <a:solidFill>
              <a:srgbClr val="D9D5C8"/>
            </a:solidFill>
            <a:prstDash val="solid"/>
          </a:ln>
        </p:spPr>
      </p:sp>
      <p:sp>
        <p:nvSpPr>
          <p:cNvPr id="14" name="Shape 12"/>
          <p:cNvSpPr/>
          <p:nvPr/>
        </p:nvSpPr>
        <p:spPr>
          <a:xfrm>
            <a:off x="4593336" y="1938528"/>
            <a:ext cx="137160" cy="292608"/>
          </a:xfrm>
          <a:prstGeom prst="rect">
            <a:avLst/>
          </a:prstGeom>
          <a:solidFill>
            <a:srgbClr val="B22234"/>
          </a:solidFill>
          <a:ln/>
        </p:spPr>
      </p:sp>
      <p:sp>
        <p:nvSpPr>
          <p:cNvPr id="15" name="Text 13"/>
          <p:cNvSpPr/>
          <p:nvPr/>
        </p:nvSpPr>
        <p:spPr>
          <a:xfrm>
            <a:off x="4812792" y="1828800"/>
            <a:ext cx="2782824" cy="54864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Progressive Movement</a:t>
            </a:r>
            <a:endParaRPr lang="en-US" sz="1800" dirty="0"/>
          </a:p>
        </p:txBody>
      </p:sp>
      <p:sp>
        <p:nvSpPr>
          <p:cNvPr id="16" name="Text 14"/>
          <p:cNvSpPr/>
          <p:nvPr/>
        </p:nvSpPr>
        <p:spPr>
          <a:xfrm>
            <a:off x="4593336" y="2487168"/>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Movimiento Progresivo</a:t>
            </a:r>
            <a:endParaRPr lang="en-US" sz="1250" dirty="0"/>
          </a:p>
        </p:txBody>
      </p:sp>
      <p:sp>
        <p:nvSpPr>
          <p:cNvPr id="17" name="Text 15"/>
          <p:cNvSpPr/>
          <p:nvPr/>
        </p:nvSpPr>
        <p:spPr>
          <a:xfrm>
            <a:off x="4593336" y="306324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8" name="Text 16"/>
          <p:cNvSpPr/>
          <p:nvPr/>
        </p:nvSpPr>
        <p:spPr>
          <a:xfrm>
            <a:off x="4593336" y="3401568"/>
            <a:ext cx="3011424" cy="2377440"/>
          </a:xfrm>
          <a:prstGeom prst="rect">
            <a:avLst/>
          </a:prstGeom>
          <a:noFill/>
          <a:ln/>
        </p:spPr>
        <p:txBody>
          <a:bodyPr wrap="square" lIns="0" tIns="0" rIns="0" bIns="0" rtlCol="0" anchor="t"/>
          <a:lstStyle/>
          <a:p>
            <a:pPr indent="0" marL="0">
              <a:lnSpc>
                <a:spcPct val="108000"/>
              </a:lnSpc>
              <a:buNone/>
            </a:pPr>
            <a:r>
              <a:rPr lang="en-US" sz="1300" dirty="0">
                <a:solidFill>
                  <a:srgbClr val="1A1A1A"/>
                </a:solidFill>
                <a:latin typeface="Arial" pitchFamily="34" charset="0"/>
                <a:ea typeface="Arial" pitchFamily="34" charset="-122"/>
                <a:cs typeface="Arial" pitchFamily="34" charset="-120"/>
              </a:rPr>
              <a:t>A broad reform effort (1890s–1920s) that used journalism, legislation, and political organizing to address the social and economic harms of industrialization.</a:t>
            </a:r>
            <a:endParaRPr lang="en-US" sz="1300" dirty="0"/>
          </a:p>
        </p:txBody>
      </p:sp>
      <p:sp>
        <p:nvSpPr>
          <p:cNvPr id="19" name="Shape 17"/>
          <p:cNvSpPr/>
          <p:nvPr/>
        </p:nvSpPr>
        <p:spPr>
          <a:xfrm>
            <a:off x="8125968" y="1691640"/>
            <a:ext cx="3514344" cy="4297680"/>
          </a:xfrm>
          <a:prstGeom prst="rect">
            <a:avLst/>
          </a:prstGeom>
          <a:solidFill>
            <a:srgbClr val="F7F5EF"/>
          </a:solidFill>
          <a:ln w="12700">
            <a:solidFill>
              <a:srgbClr val="D9D5C8"/>
            </a:solidFill>
            <a:prstDash val="solid"/>
          </a:ln>
        </p:spPr>
      </p:sp>
      <p:sp>
        <p:nvSpPr>
          <p:cNvPr id="20" name="Shape 18"/>
          <p:cNvSpPr/>
          <p:nvPr/>
        </p:nvSpPr>
        <p:spPr>
          <a:xfrm>
            <a:off x="8382000" y="1938528"/>
            <a:ext cx="137160" cy="292608"/>
          </a:xfrm>
          <a:prstGeom prst="rect">
            <a:avLst/>
          </a:prstGeom>
          <a:solidFill>
            <a:srgbClr val="B22234"/>
          </a:solidFill>
          <a:ln/>
        </p:spPr>
      </p:sp>
      <p:sp>
        <p:nvSpPr>
          <p:cNvPr id="21" name="Text 19"/>
          <p:cNvSpPr/>
          <p:nvPr/>
        </p:nvSpPr>
        <p:spPr>
          <a:xfrm>
            <a:off x="8601456" y="1828800"/>
            <a:ext cx="2782824" cy="54864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Wisconsin Idea</a:t>
            </a:r>
            <a:endParaRPr lang="en-US" sz="1800" dirty="0"/>
          </a:p>
        </p:txBody>
      </p:sp>
      <p:sp>
        <p:nvSpPr>
          <p:cNvPr id="22" name="Text 20"/>
          <p:cNvSpPr/>
          <p:nvPr/>
        </p:nvSpPr>
        <p:spPr>
          <a:xfrm>
            <a:off x="8382000" y="2487168"/>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Idea de Wisconsin</a:t>
            </a:r>
            <a:endParaRPr lang="en-US" sz="1250" dirty="0"/>
          </a:p>
        </p:txBody>
      </p:sp>
      <p:sp>
        <p:nvSpPr>
          <p:cNvPr id="23" name="Text 21"/>
          <p:cNvSpPr/>
          <p:nvPr/>
        </p:nvSpPr>
        <p:spPr>
          <a:xfrm>
            <a:off x="8382000" y="306324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24" name="Text 22"/>
          <p:cNvSpPr/>
          <p:nvPr/>
        </p:nvSpPr>
        <p:spPr>
          <a:xfrm>
            <a:off x="8382000" y="3401568"/>
            <a:ext cx="3011424" cy="2377440"/>
          </a:xfrm>
          <a:prstGeom prst="rect">
            <a:avLst/>
          </a:prstGeom>
          <a:noFill/>
          <a:ln/>
        </p:spPr>
        <p:txBody>
          <a:bodyPr wrap="square" lIns="0" tIns="0" rIns="0" bIns="0" rtlCol="0" anchor="t"/>
          <a:lstStyle/>
          <a:p>
            <a:pPr indent="0" marL="0">
              <a:lnSpc>
                <a:spcPct val="108000"/>
              </a:lnSpc>
              <a:buNone/>
            </a:pPr>
            <a:r>
              <a:rPr lang="en-US" sz="1300" dirty="0">
                <a:solidFill>
                  <a:srgbClr val="1A1A1A"/>
                </a:solidFill>
                <a:latin typeface="Arial" pitchFamily="34" charset="0"/>
                <a:ea typeface="Arial" pitchFamily="34" charset="-122"/>
                <a:cs typeface="Arial" pitchFamily="34" charset="-120"/>
              </a:rPr>
              <a:t>Robert La Follette's model of Progressive reform using university experts to design legislation and regulate corporations, making Wisconsin 'the laboratory of democracy.'</a:t>
            </a:r>
            <a:endParaRPr lang="en-US" sz="1300" dirty="0"/>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2F5FA6"/>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KEY VOCABULARY  ·  LANGUAGE SUPPORT</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US.15</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TroopToTeacher Technologies LLC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16</a:t>
            </a:r>
            <a:endParaRPr lang="en-US" sz="900" dirty="0"/>
          </a:p>
        </p:txBody>
      </p:sp>
      <p:sp>
        <p:nvSpPr>
          <p:cNvPr id="6" name="Text 4"/>
          <p:cNvSpPr/>
          <p:nvPr/>
        </p:nvSpPr>
        <p:spPr>
          <a:xfrm>
            <a:off x="548640" y="914400"/>
            <a:ext cx="10515600" cy="502920"/>
          </a:xfrm>
          <a:prstGeom prst="rect">
            <a:avLst/>
          </a:prstGeom>
          <a:noFill/>
          <a:ln/>
        </p:spPr>
        <p:txBody>
          <a:bodyPr wrap="square" lIns="0" tIns="0" rIns="0" bIns="0" rtlCol="0" anchor="ctr"/>
          <a:lstStyle/>
          <a:p>
            <a:pPr indent="0" marL="0">
              <a:buNone/>
            </a:pPr>
            <a:r>
              <a:rPr lang="en-US" sz="2500" b="1" dirty="0">
                <a:solidFill>
                  <a:srgbClr val="FFFFFF"/>
                </a:solidFill>
                <a:latin typeface="Cambria" pitchFamily="34" charset="0"/>
                <a:ea typeface="Cambria" pitchFamily="34" charset="-122"/>
                <a:cs typeface="Cambria" pitchFamily="34" charset="-120"/>
              </a:rPr>
              <a:t>Words you need before we read</a:t>
            </a:r>
            <a:endParaRPr lang="en-US" sz="2500" dirty="0"/>
          </a:p>
        </p:txBody>
      </p:sp>
      <p:sp>
        <p:nvSpPr>
          <p:cNvPr id="7" name="Shape 5"/>
          <p:cNvSpPr/>
          <p:nvPr/>
        </p:nvSpPr>
        <p:spPr>
          <a:xfrm>
            <a:off x="548640" y="1691640"/>
            <a:ext cx="3514344" cy="4297680"/>
          </a:xfrm>
          <a:prstGeom prst="rect">
            <a:avLst/>
          </a:prstGeom>
          <a:solidFill>
            <a:srgbClr val="F7F5EF"/>
          </a:solidFill>
          <a:ln w="12700">
            <a:solidFill>
              <a:srgbClr val="D9D5C8"/>
            </a:solidFill>
            <a:prstDash val="solid"/>
          </a:ln>
        </p:spPr>
      </p:sp>
      <p:sp>
        <p:nvSpPr>
          <p:cNvPr id="8" name="Shape 6"/>
          <p:cNvSpPr/>
          <p:nvPr/>
        </p:nvSpPr>
        <p:spPr>
          <a:xfrm>
            <a:off x="804672" y="1938528"/>
            <a:ext cx="137160" cy="292608"/>
          </a:xfrm>
          <a:prstGeom prst="rect">
            <a:avLst/>
          </a:prstGeom>
          <a:solidFill>
            <a:srgbClr val="B22234"/>
          </a:solidFill>
          <a:ln/>
        </p:spPr>
      </p:sp>
      <p:sp>
        <p:nvSpPr>
          <p:cNvPr id="9" name="Text 7"/>
          <p:cNvSpPr/>
          <p:nvPr/>
        </p:nvSpPr>
        <p:spPr>
          <a:xfrm>
            <a:off x="1024128" y="1828800"/>
            <a:ext cx="2782824" cy="54864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Initiative</a:t>
            </a:r>
            <a:endParaRPr lang="en-US" sz="1800" dirty="0"/>
          </a:p>
        </p:txBody>
      </p:sp>
      <p:sp>
        <p:nvSpPr>
          <p:cNvPr id="10" name="Text 8"/>
          <p:cNvSpPr/>
          <p:nvPr/>
        </p:nvSpPr>
        <p:spPr>
          <a:xfrm>
            <a:off x="804672" y="2487168"/>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Iniciativa</a:t>
            </a:r>
            <a:endParaRPr lang="en-US" sz="1250" dirty="0"/>
          </a:p>
        </p:txBody>
      </p:sp>
      <p:sp>
        <p:nvSpPr>
          <p:cNvPr id="11" name="Text 9"/>
          <p:cNvSpPr/>
          <p:nvPr/>
        </p:nvSpPr>
        <p:spPr>
          <a:xfrm>
            <a:off x="804672" y="306324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2" name="Text 10"/>
          <p:cNvSpPr/>
          <p:nvPr/>
        </p:nvSpPr>
        <p:spPr>
          <a:xfrm>
            <a:off x="804672" y="3401568"/>
            <a:ext cx="3011424" cy="2377440"/>
          </a:xfrm>
          <a:prstGeom prst="rect">
            <a:avLst/>
          </a:prstGeom>
          <a:noFill/>
          <a:ln/>
        </p:spPr>
        <p:txBody>
          <a:bodyPr wrap="square" lIns="0" tIns="0" rIns="0" bIns="0" rtlCol="0" anchor="t"/>
          <a:lstStyle/>
          <a:p>
            <a:pPr indent="0" marL="0">
              <a:lnSpc>
                <a:spcPct val="108000"/>
              </a:lnSpc>
              <a:buNone/>
            </a:pPr>
            <a:r>
              <a:rPr lang="en-US" sz="1300" dirty="0">
                <a:solidFill>
                  <a:srgbClr val="1A1A1A"/>
                </a:solidFill>
                <a:latin typeface="Arial" pitchFamily="34" charset="0"/>
                <a:ea typeface="Arial" pitchFamily="34" charset="-122"/>
                <a:cs typeface="Arial" pitchFamily="34" charset="-120"/>
              </a:rPr>
              <a:t>A Progressive reform allowing citizens to propose new laws by collecting enough voter signatures to put the proposal directly on the ballot.</a:t>
            </a:r>
            <a:endParaRPr lang="en-US" sz="1300" dirty="0"/>
          </a:p>
        </p:txBody>
      </p:sp>
      <p:sp>
        <p:nvSpPr>
          <p:cNvPr id="13" name="Shape 11"/>
          <p:cNvSpPr/>
          <p:nvPr/>
        </p:nvSpPr>
        <p:spPr>
          <a:xfrm>
            <a:off x="4337304" y="1691640"/>
            <a:ext cx="3514344" cy="4297680"/>
          </a:xfrm>
          <a:prstGeom prst="rect">
            <a:avLst/>
          </a:prstGeom>
          <a:solidFill>
            <a:srgbClr val="F7F5EF"/>
          </a:solidFill>
          <a:ln w="12700">
            <a:solidFill>
              <a:srgbClr val="D9D5C8"/>
            </a:solidFill>
            <a:prstDash val="solid"/>
          </a:ln>
        </p:spPr>
      </p:sp>
      <p:sp>
        <p:nvSpPr>
          <p:cNvPr id="14" name="Shape 12"/>
          <p:cNvSpPr/>
          <p:nvPr/>
        </p:nvSpPr>
        <p:spPr>
          <a:xfrm>
            <a:off x="4593336" y="1938528"/>
            <a:ext cx="137160" cy="292608"/>
          </a:xfrm>
          <a:prstGeom prst="rect">
            <a:avLst/>
          </a:prstGeom>
          <a:solidFill>
            <a:srgbClr val="B22234"/>
          </a:solidFill>
          <a:ln/>
        </p:spPr>
      </p:sp>
      <p:sp>
        <p:nvSpPr>
          <p:cNvPr id="15" name="Text 13"/>
          <p:cNvSpPr/>
          <p:nvPr/>
        </p:nvSpPr>
        <p:spPr>
          <a:xfrm>
            <a:off x="4812792" y="1828800"/>
            <a:ext cx="2782824" cy="54864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Referendum</a:t>
            </a:r>
            <a:endParaRPr lang="en-US" sz="1800" dirty="0"/>
          </a:p>
        </p:txBody>
      </p:sp>
      <p:sp>
        <p:nvSpPr>
          <p:cNvPr id="16" name="Text 14"/>
          <p:cNvSpPr/>
          <p:nvPr/>
        </p:nvSpPr>
        <p:spPr>
          <a:xfrm>
            <a:off x="4593336" y="2487168"/>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Referéndum</a:t>
            </a:r>
            <a:endParaRPr lang="en-US" sz="1250" dirty="0"/>
          </a:p>
        </p:txBody>
      </p:sp>
      <p:sp>
        <p:nvSpPr>
          <p:cNvPr id="17" name="Text 15"/>
          <p:cNvSpPr/>
          <p:nvPr/>
        </p:nvSpPr>
        <p:spPr>
          <a:xfrm>
            <a:off x="4593336" y="306324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8" name="Text 16"/>
          <p:cNvSpPr/>
          <p:nvPr/>
        </p:nvSpPr>
        <p:spPr>
          <a:xfrm>
            <a:off x="4593336" y="3401568"/>
            <a:ext cx="3011424" cy="2377440"/>
          </a:xfrm>
          <a:prstGeom prst="rect">
            <a:avLst/>
          </a:prstGeom>
          <a:noFill/>
          <a:ln/>
        </p:spPr>
        <p:txBody>
          <a:bodyPr wrap="square" lIns="0" tIns="0" rIns="0" bIns="0" rtlCol="0" anchor="t"/>
          <a:lstStyle/>
          <a:p>
            <a:pPr indent="0" marL="0">
              <a:lnSpc>
                <a:spcPct val="108000"/>
              </a:lnSpc>
              <a:buNone/>
            </a:pPr>
            <a:r>
              <a:rPr lang="en-US" sz="1300" dirty="0">
                <a:solidFill>
                  <a:srgbClr val="1A1A1A"/>
                </a:solidFill>
                <a:latin typeface="Arial" pitchFamily="34" charset="0"/>
                <a:ea typeface="Arial" pitchFamily="34" charset="-122"/>
                <a:cs typeface="Arial" pitchFamily="34" charset="-120"/>
              </a:rPr>
              <a:t>A Progressive reform allowing voters to approve or reject laws passed by the state legislature — giving citizens a direct check on legislative power.</a:t>
            </a:r>
            <a:endParaRPr lang="en-US" sz="1300" dirty="0"/>
          </a:p>
        </p:txBody>
      </p:sp>
      <p:sp>
        <p:nvSpPr>
          <p:cNvPr id="19" name="Shape 17"/>
          <p:cNvSpPr/>
          <p:nvPr/>
        </p:nvSpPr>
        <p:spPr>
          <a:xfrm>
            <a:off x="8125968" y="1691640"/>
            <a:ext cx="3514344" cy="4297680"/>
          </a:xfrm>
          <a:prstGeom prst="rect">
            <a:avLst/>
          </a:prstGeom>
          <a:solidFill>
            <a:srgbClr val="F7F5EF"/>
          </a:solidFill>
          <a:ln w="12700">
            <a:solidFill>
              <a:srgbClr val="D9D5C8"/>
            </a:solidFill>
            <a:prstDash val="solid"/>
          </a:ln>
        </p:spPr>
      </p:sp>
      <p:sp>
        <p:nvSpPr>
          <p:cNvPr id="20" name="Shape 18"/>
          <p:cNvSpPr/>
          <p:nvPr/>
        </p:nvSpPr>
        <p:spPr>
          <a:xfrm>
            <a:off x="8382000" y="1938528"/>
            <a:ext cx="137160" cy="292608"/>
          </a:xfrm>
          <a:prstGeom prst="rect">
            <a:avLst/>
          </a:prstGeom>
          <a:solidFill>
            <a:srgbClr val="B22234"/>
          </a:solidFill>
          <a:ln/>
        </p:spPr>
      </p:sp>
      <p:sp>
        <p:nvSpPr>
          <p:cNvPr id="21" name="Text 19"/>
          <p:cNvSpPr/>
          <p:nvPr/>
        </p:nvSpPr>
        <p:spPr>
          <a:xfrm>
            <a:off x="8601456" y="1828800"/>
            <a:ext cx="2782824" cy="54864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Recall</a:t>
            </a:r>
            <a:endParaRPr lang="en-US" sz="1800" dirty="0"/>
          </a:p>
        </p:txBody>
      </p:sp>
      <p:sp>
        <p:nvSpPr>
          <p:cNvPr id="22" name="Text 20"/>
          <p:cNvSpPr/>
          <p:nvPr/>
        </p:nvSpPr>
        <p:spPr>
          <a:xfrm>
            <a:off x="8382000" y="2487168"/>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Revocación</a:t>
            </a:r>
            <a:endParaRPr lang="en-US" sz="1250" dirty="0"/>
          </a:p>
        </p:txBody>
      </p:sp>
      <p:sp>
        <p:nvSpPr>
          <p:cNvPr id="23" name="Text 21"/>
          <p:cNvSpPr/>
          <p:nvPr/>
        </p:nvSpPr>
        <p:spPr>
          <a:xfrm>
            <a:off x="8382000" y="306324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24" name="Text 22"/>
          <p:cNvSpPr/>
          <p:nvPr/>
        </p:nvSpPr>
        <p:spPr>
          <a:xfrm>
            <a:off x="8382000" y="3401568"/>
            <a:ext cx="3011424" cy="2377440"/>
          </a:xfrm>
          <a:prstGeom prst="rect">
            <a:avLst/>
          </a:prstGeom>
          <a:noFill/>
          <a:ln/>
        </p:spPr>
        <p:txBody>
          <a:bodyPr wrap="square" lIns="0" tIns="0" rIns="0" bIns="0" rtlCol="0" anchor="t"/>
          <a:lstStyle/>
          <a:p>
            <a:pPr indent="0" marL="0">
              <a:lnSpc>
                <a:spcPct val="108000"/>
              </a:lnSpc>
              <a:buNone/>
            </a:pPr>
            <a:r>
              <a:rPr lang="en-US" sz="1300" dirty="0">
                <a:solidFill>
                  <a:srgbClr val="1A1A1A"/>
                </a:solidFill>
                <a:latin typeface="Arial" pitchFamily="34" charset="0"/>
                <a:ea typeface="Arial" pitchFamily="34" charset="-122"/>
                <a:cs typeface="Arial" pitchFamily="34" charset="-120"/>
              </a:rPr>
              <a:t>A Progressive reform allowing voters to remove elected officials from office before their terms expire — a direct accountability tool against corrupt or unresponsive officials.</a:t>
            </a:r>
            <a:endParaRPr lang="en-US" sz="1300" dirty="0"/>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2F5FA6"/>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KEY VOCABULARY  ·  LANGUAGE SUPPORT</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US.16</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TroopToTeacher Technologies LLC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18</a:t>
            </a:r>
            <a:endParaRPr lang="en-US" sz="900" dirty="0"/>
          </a:p>
        </p:txBody>
      </p:sp>
      <p:sp>
        <p:nvSpPr>
          <p:cNvPr id="6" name="Text 4"/>
          <p:cNvSpPr/>
          <p:nvPr/>
        </p:nvSpPr>
        <p:spPr>
          <a:xfrm>
            <a:off x="548640" y="914400"/>
            <a:ext cx="10515600" cy="502920"/>
          </a:xfrm>
          <a:prstGeom prst="rect">
            <a:avLst/>
          </a:prstGeom>
          <a:noFill/>
          <a:ln/>
        </p:spPr>
        <p:txBody>
          <a:bodyPr wrap="square" lIns="0" tIns="0" rIns="0" bIns="0" rtlCol="0" anchor="ctr"/>
          <a:lstStyle/>
          <a:p>
            <a:pPr indent="0" marL="0">
              <a:buNone/>
            </a:pPr>
            <a:r>
              <a:rPr lang="en-US" sz="2500" b="1" dirty="0">
                <a:solidFill>
                  <a:srgbClr val="FFFFFF"/>
                </a:solidFill>
                <a:latin typeface="Cambria" pitchFamily="34" charset="0"/>
                <a:ea typeface="Cambria" pitchFamily="34" charset="-122"/>
                <a:cs typeface="Cambria" pitchFamily="34" charset="-120"/>
              </a:rPr>
              <a:t>Words you need before we read</a:t>
            </a:r>
            <a:endParaRPr lang="en-US" sz="2500" dirty="0"/>
          </a:p>
        </p:txBody>
      </p:sp>
      <p:sp>
        <p:nvSpPr>
          <p:cNvPr id="7" name="Shape 5"/>
          <p:cNvSpPr/>
          <p:nvPr/>
        </p:nvSpPr>
        <p:spPr>
          <a:xfrm>
            <a:off x="548640" y="1691640"/>
            <a:ext cx="3514344" cy="4297680"/>
          </a:xfrm>
          <a:prstGeom prst="rect">
            <a:avLst/>
          </a:prstGeom>
          <a:solidFill>
            <a:srgbClr val="F7F5EF"/>
          </a:solidFill>
          <a:ln w="12700">
            <a:solidFill>
              <a:srgbClr val="D9D5C8"/>
            </a:solidFill>
            <a:prstDash val="solid"/>
          </a:ln>
        </p:spPr>
      </p:sp>
      <p:sp>
        <p:nvSpPr>
          <p:cNvPr id="8" name="Shape 6"/>
          <p:cNvSpPr/>
          <p:nvPr/>
        </p:nvSpPr>
        <p:spPr>
          <a:xfrm>
            <a:off x="804672" y="1938528"/>
            <a:ext cx="137160" cy="292608"/>
          </a:xfrm>
          <a:prstGeom prst="rect">
            <a:avLst/>
          </a:prstGeom>
          <a:solidFill>
            <a:srgbClr val="B22234"/>
          </a:solidFill>
          <a:ln/>
        </p:spPr>
      </p:sp>
      <p:sp>
        <p:nvSpPr>
          <p:cNvPr id="9" name="Text 7"/>
          <p:cNvSpPr/>
          <p:nvPr/>
        </p:nvSpPr>
        <p:spPr>
          <a:xfrm>
            <a:off x="1024128" y="1828800"/>
            <a:ext cx="2782824" cy="54864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Square Deal</a:t>
            </a:r>
            <a:endParaRPr lang="en-US" sz="1800" dirty="0"/>
          </a:p>
        </p:txBody>
      </p:sp>
      <p:sp>
        <p:nvSpPr>
          <p:cNvPr id="10" name="Text 8"/>
          <p:cNvSpPr/>
          <p:nvPr/>
        </p:nvSpPr>
        <p:spPr>
          <a:xfrm>
            <a:off x="804672" y="2487168"/>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Trato Justo</a:t>
            </a:r>
            <a:endParaRPr lang="en-US" sz="1250" dirty="0"/>
          </a:p>
        </p:txBody>
      </p:sp>
      <p:sp>
        <p:nvSpPr>
          <p:cNvPr id="11" name="Text 9"/>
          <p:cNvSpPr/>
          <p:nvPr/>
        </p:nvSpPr>
        <p:spPr>
          <a:xfrm>
            <a:off x="804672" y="306324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2" name="Text 10"/>
          <p:cNvSpPr/>
          <p:nvPr/>
        </p:nvSpPr>
        <p:spPr>
          <a:xfrm>
            <a:off x="804672" y="3401568"/>
            <a:ext cx="3011424" cy="2377440"/>
          </a:xfrm>
          <a:prstGeom prst="rect">
            <a:avLst/>
          </a:prstGeom>
          <a:noFill/>
          <a:ln/>
        </p:spPr>
        <p:txBody>
          <a:bodyPr wrap="square" lIns="0" tIns="0" rIns="0" bIns="0" rtlCol="0" anchor="t"/>
          <a:lstStyle/>
          <a:p>
            <a:pPr indent="0" marL="0">
              <a:lnSpc>
                <a:spcPct val="108000"/>
              </a:lnSpc>
              <a:buNone/>
            </a:pPr>
            <a:r>
              <a:rPr lang="en-US" sz="1300" dirty="0">
                <a:solidFill>
                  <a:srgbClr val="1A1A1A"/>
                </a:solidFill>
                <a:latin typeface="Arial" pitchFamily="34" charset="0"/>
                <a:ea typeface="Arial" pitchFamily="34" charset="-122"/>
                <a:cs typeface="Arial" pitchFamily="34" charset="-120"/>
              </a:rPr>
              <a:t>Theodore Roosevelt's domestic policy promising fair treatment for all Americans — balancing the interests of consumers, workers, and businesses through federal regulation.</a:t>
            </a:r>
            <a:endParaRPr lang="en-US" sz="1300" dirty="0"/>
          </a:p>
        </p:txBody>
      </p:sp>
      <p:sp>
        <p:nvSpPr>
          <p:cNvPr id="13" name="Shape 11"/>
          <p:cNvSpPr/>
          <p:nvPr/>
        </p:nvSpPr>
        <p:spPr>
          <a:xfrm>
            <a:off x="4337304" y="1691640"/>
            <a:ext cx="3514344" cy="4297680"/>
          </a:xfrm>
          <a:prstGeom prst="rect">
            <a:avLst/>
          </a:prstGeom>
          <a:solidFill>
            <a:srgbClr val="F7F5EF"/>
          </a:solidFill>
          <a:ln w="12700">
            <a:solidFill>
              <a:srgbClr val="D9D5C8"/>
            </a:solidFill>
            <a:prstDash val="solid"/>
          </a:ln>
        </p:spPr>
      </p:sp>
      <p:sp>
        <p:nvSpPr>
          <p:cNvPr id="14" name="Shape 12"/>
          <p:cNvSpPr/>
          <p:nvPr/>
        </p:nvSpPr>
        <p:spPr>
          <a:xfrm>
            <a:off x="4593336" y="1938528"/>
            <a:ext cx="137160" cy="292608"/>
          </a:xfrm>
          <a:prstGeom prst="rect">
            <a:avLst/>
          </a:prstGeom>
          <a:solidFill>
            <a:srgbClr val="B22234"/>
          </a:solidFill>
          <a:ln/>
        </p:spPr>
      </p:sp>
      <p:sp>
        <p:nvSpPr>
          <p:cNvPr id="15" name="Text 13"/>
          <p:cNvSpPr/>
          <p:nvPr/>
        </p:nvSpPr>
        <p:spPr>
          <a:xfrm>
            <a:off x="4812792" y="1828800"/>
            <a:ext cx="2782824" cy="54864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Trust-Busting</a:t>
            </a:r>
            <a:endParaRPr lang="en-US" sz="1800" dirty="0"/>
          </a:p>
        </p:txBody>
      </p:sp>
      <p:sp>
        <p:nvSpPr>
          <p:cNvPr id="16" name="Text 14"/>
          <p:cNvSpPr/>
          <p:nvPr/>
        </p:nvSpPr>
        <p:spPr>
          <a:xfrm>
            <a:off x="4593336" y="2487168"/>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Disolución de Trusts</a:t>
            </a:r>
            <a:endParaRPr lang="en-US" sz="1250" dirty="0"/>
          </a:p>
        </p:txBody>
      </p:sp>
      <p:sp>
        <p:nvSpPr>
          <p:cNvPr id="17" name="Text 15"/>
          <p:cNvSpPr/>
          <p:nvPr/>
        </p:nvSpPr>
        <p:spPr>
          <a:xfrm>
            <a:off x="4593336" y="306324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8" name="Text 16"/>
          <p:cNvSpPr/>
          <p:nvPr/>
        </p:nvSpPr>
        <p:spPr>
          <a:xfrm>
            <a:off x="4593336" y="3401568"/>
            <a:ext cx="3011424" cy="2377440"/>
          </a:xfrm>
          <a:prstGeom prst="rect">
            <a:avLst/>
          </a:prstGeom>
          <a:noFill/>
          <a:ln/>
        </p:spPr>
        <p:txBody>
          <a:bodyPr wrap="square" lIns="0" tIns="0" rIns="0" bIns="0" rtlCol="0" anchor="t"/>
          <a:lstStyle/>
          <a:p>
            <a:pPr indent="0" marL="0">
              <a:lnSpc>
                <a:spcPct val="108000"/>
              </a:lnSpc>
              <a:buNone/>
            </a:pPr>
            <a:r>
              <a:rPr lang="en-US" sz="1300" dirty="0">
                <a:solidFill>
                  <a:srgbClr val="1A1A1A"/>
                </a:solidFill>
                <a:latin typeface="Arial" pitchFamily="34" charset="0"/>
                <a:ea typeface="Arial" pitchFamily="34" charset="-122"/>
                <a:cs typeface="Arial" pitchFamily="34" charset="-120"/>
              </a:rPr>
              <a:t>Roosevelt's aggressive use of the Sherman Antitrust Act to break up monopolistic corporations — he filed 44 antitrust suits, earning the nickname 'trust-buster.'</a:t>
            </a:r>
            <a:endParaRPr lang="en-US" sz="1300" dirty="0"/>
          </a:p>
        </p:txBody>
      </p:sp>
      <p:sp>
        <p:nvSpPr>
          <p:cNvPr id="19" name="Shape 17"/>
          <p:cNvSpPr/>
          <p:nvPr/>
        </p:nvSpPr>
        <p:spPr>
          <a:xfrm>
            <a:off x="8125968" y="1691640"/>
            <a:ext cx="3514344" cy="4297680"/>
          </a:xfrm>
          <a:prstGeom prst="rect">
            <a:avLst/>
          </a:prstGeom>
          <a:solidFill>
            <a:srgbClr val="F7F5EF"/>
          </a:solidFill>
          <a:ln w="12700">
            <a:solidFill>
              <a:srgbClr val="D9D5C8"/>
            </a:solidFill>
            <a:prstDash val="solid"/>
          </a:ln>
        </p:spPr>
      </p:sp>
      <p:sp>
        <p:nvSpPr>
          <p:cNvPr id="20" name="Shape 18"/>
          <p:cNvSpPr/>
          <p:nvPr/>
        </p:nvSpPr>
        <p:spPr>
          <a:xfrm>
            <a:off x="8382000" y="1938528"/>
            <a:ext cx="137160" cy="292608"/>
          </a:xfrm>
          <a:prstGeom prst="rect">
            <a:avLst/>
          </a:prstGeom>
          <a:solidFill>
            <a:srgbClr val="B22234"/>
          </a:solidFill>
          <a:ln/>
        </p:spPr>
      </p:sp>
      <p:sp>
        <p:nvSpPr>
          <p:cNvPr id="21" name="Text 19"/>
          <p:cNvSpPr/>
          <p:nvPr/>
        </p:nvSpPr>
        <p:spPr>
          <a:xfrm>
            <a:off x="8601456" y="1828800"/>
            <a:ext cx="2782824" cy="54864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Conservation</a:t>
            </a:r>
            <a:endParaRPr lang="en-US" sz="1800" dirty="0"/>
          </a:p>
        </p:txBody>
      </p:sp>
      <p:sp>
        <p:nvSpPr>
          <p:cNvPr id="22" name="Text 20"/>
          <p:cNvSpPr/>
          <p:nvPr/>
        </p:nvSpPr>
        <p:spPr>
          <a:xfrm>
            <a:off x="8382000" y="2487168"/>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Conservación</a:t>
            </a:r>
            <a:endParaRPr lang="en-US" sz="1250" dirty="0"/>
          </a:p>
        </p:txBody>
      </p:sp>
      <p:sp>
        <p:nvSpPr>
          <p:cNvPr id="23" name="Text 21"/>
          <p:cNvSpPr/>
          <p:nvPr/>
        </p:nvSpPr>
        <p:spPr>
          <a:xfrm>
            <a:off x="8382000" y="306324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24" name="Text 22"/>
          <p:cNvSpPr/>
          <p:nvPr/>
        </p:nvSpPr>
        <p:spPr>
          <a:xfrm>
            <a:off x="8382000" y="3401568"/>
            <a:ext cx="3011424" cy="2377440"/>
          </a:xfrm>
          <a:prstGeom prst="rect">
            <a:avLst/>
          </a:prstGeom>
          <a:noFill/>
          <a:ln/>
        </p:spPr>
        <p:txBody>
          <a:bodyPr wrap="square" lIns="0" tIns="0" rIns="0" bIns="0" rtlCol="0" anchor="t"/>
          <a:lstStyle/>
          <a:p>
            <a:pPr indent="0" marL="0">
              <a:lnSpc>
                <a:spcPct val="108000"/>
              </a:lnSpc>
              <a:buNone/>
            </a:pPr>
            <a:r>
              <a:rPr lang="en-US" sz="1300" dirty="0">
                <a:solidFill>
                  <a:srgbClr val="1A1A1A"/>
                </a:solidFill>
                <a:latin typeface="Arial" pitchFamily="34" charset="0"/>
                <a:ea typeface="Arial" pitchFamily="34" charset="-122"/>
                <a:cs typeface="Arial" pitchFamily="34" charset="-120"/>
              </a:rPr>
              <a:t>The protection and sustainable management of natural resources; Roosevelt established 150 national forests and 5 national parks, protecting 230 million acres of public land.</a:t>
            </a:r>
            <a:endParaRPr lang="en-US" sz="1300" dirty="0"/>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2F5FA6"/>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KEY VOCABULARY  ·  LANGUAGE SUPPORT</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US.17</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TroopToTeacher Technologies LLC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20</a:t>
            </a:r>
            <a:endParaRPr lang="en-US" sz="900" dirty="0"/>
          </a:p>
        </p:txBody>
      </p:sp>
      <p:sp>
        <p:nvSpPr>
          <p:cNvPr id="6" name="Text 4"/>
          <p:cNvSpPr/>
          <p:nvPr/>
        </p:nvSpPr>
        <p:spPr>
          <a:xfrm>
            <a:off x="548640" y="914400"/>
            <a:ext cx="10515600" cy="502920"/>
          </a:xfrm>
          <a:prstGeom prst="rect">
            <a:avLst/>
          </a:prstGeom>
          <a:noFill/>
          <a:ln/>
        </p:spPr>
        <p:txBody>
          <a:bodyPr wrap="square" lIns="0" tIns="0" rIns="0" bIns="0" rtlCol="0" anchor="ctr"/>
          <a:lstStyle/>
          <a:p>
            <a:pPr indent="0" marL="0">
              <a:buNone/>
            </a:pPr>
            <a:r>
              <a:rPr lang="en-US" sz="2500" b="1" dirty="0">
                <a:solidFill>
                  <a:srgbClr val="FFFFFF"/>
                </a:solidFill>
                <a:latin typeface="Cambria" pitchFamily="34" charset="0"/>
                <a:ea typeface="Cambria" pitchFamily="34" charset="-122"/>
                <a:cs typeface="Cambria" pitchFamily="34" charset="-120"/>
              </a:rPr>
              <a:t>Words you need before we read</a:t>
            </a:r>
            <a:endParaRPr lang="en-US" sz="2500" dirty="0"/>
          </a:p>
        </p:txBody>
      </p:sp>
      <p:sp>
        <p:nvSpPr>
          <p:cNvPr id="7" name="Shape 5"/>
          <p:cNvSpPr/>
          <p:nvPr/>
        </p:nvSpPr>
        <p:spPr>
          <a:xfrm>
            <a:off x="548640" y="1691640"/>
            <a:ext cx="3514344" cy="4297680"/>
          </a:xfrm>
          <a:prstGeom prst="rect">
            <a:avLst/>
          </a:prstGeom>
          <a:solidFill>
            <a:srgbClr val="F7F5EF"/>
          </a:solidFill>
          <a:ln w="12700">
            <a:solidFill>
              <a:srgbClr val="D9D5C8"/>
            </a:solidFill>
            <a:prstDash val="solid"/>
          </a:ln>
        </p:spPr>
      </p:sp>
      <p:sp>
        <p:nvSpPr>
          <p:cNvPr id="8" name="Shape 6"/>
          <p:cNvSpPr/>
          <p:nvPr/>
        </p:nvSpPr>
        <p:spPr>
          <a:xfrm>
            <a:off x="804672" y="1938528"/>
            <a:ext cx="137160" cy="292608"/>
          </a:xfrm>
          <a:prstGeom prst="rect">
            <a:avLst/>
          </a:prstGeom>
          <a:solidFill>
            <a:srgbClr val="B22234"/>
          </a:solidFill>
          <a:ln/>
        </p:spPr>
      </p:sp>
      <p:sp>
        <p:nvSpPr>
          <p:cNvPr id="9" name="Text 7"/>
          <p:cNvSpPr/>
          <p:nvPr/>
        </p:nvSpPr>
        <p:spPr>
          <a:xfrm>
            <a:off x="1024128" y="1828800"/>
            <a:ext cx="2782824" cy="54864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New Freedom</a:t>
            </a:r>
            <a:endParaRPr lang="en-US" sz="1800" dirty="0"/>
          </a:p>
        </p:txBody>
      </p:sp>
      <p:sp>
        <p:nvSpPr>
          <p:cNvPr id="10" name="Text 8"/>
          <p:cNvSpPr/>
          <p:nvPr/>
        </p:nvSpPr>
        <p:spPr>
          <a:xfrm>
            <a:off x="804672" y="2487168"/>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Nueva Libertad</a:t>
            </a:r>
            <a:endParaRPr lang="en-US" sz="1250" dirty="0"/>
          </a:p>
        </p:txBody>
      </p:sp>
      <p:sp>
        <p:nvSpPr>
          <p:cNvPr id="11" name="Text 9"/>
          <p:cNvSpPr/>
          <p:nvPr/>
        </p:nvSpPr>
        <p:spPr>
          <a:xfrm>
            <a:off x="804672" y="306324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2" name="Text 10"/>
          <p:cNvSpPr/>
          <p:nvPr/>
        </p:nvSpPr>
        <p:spPr>
          <a:xfrm>
            <a:off x="804672" y="3401568"/>
            <a:ext cx="3011424" cy="2377440"/>
          </a:xfrm>
          <a:prstGeom prst="rect">
            <a:avLst/>
          </a:prstGeom>
          <a:noFill/>
          <a:ln/>
        </p:spPr>
        <p:txBody>
          <a:bodyPr wrap="square" lIns="0" tIns="0" rIns="0" bIns="0" rtlCol="0" anchor="t"/>
          <a:lstStyle/>
          <a:p>
            <a:pPr indent="0" marL="0">
              <a:lnSpc>
                <a:spcPct val="108000"/>
              </a:lnSpc>
              <a:buNone/>
            </a:pPr>
            <a:r>
              <a:rPr lang="en-US" sz="1300" dirty="0">
                <a:solidFill>
                  <a:srgbClr val="1A1A1A"/>
                </a:solidFill>
                <a:latin typeface="Arial" pitchFamily="34" charset="0"/>
                <a:ea typeface="Arial" pitchFamily="34" charset="-122"/>
                <a:cs typeface="Arial" pitchFamily="34" charset="-120"/>
              </a:rPr>
              <a:t>Woodrow Wilson's Progressive program that targeted the 'triple wall of privilege' — high tariffs, monopolistic banks, and industrial trusts — seeking to restore competition rather than just regulate big business.</a:t>
            </a:r>
            <a:endParaRPr lang="en-US" sz="1300" dirty="0"/>
          </a:p>
        </p:txBody>
      </p:sp>
      <p:sp>
        <p:nvSpPr>
          <p:cNvPr id="13" name="Shape 11"/>
          <p:cNvSpPr/>
          <p:nvPr/>
        </p:nvSpPr>
        <p:spPr>
          <a:xfrm>
            <a:off x="4337304" y="1691640"/>
            <a:ext cx="3514344" cy="4297680"/>
          </a:xfrm>
          <a:prstGeom prst="rect">
            <a:avLst/>
          </a:prstGeom>
          <a:solidFill>
            <a:srgbClr val="F7F5EF"/>
          </a:solidFill>
          <a:ln w="12700">
            <a:solidFill>
              <a:srgbClr val="D9D5C8"/>
            </a:solidFill>
            <a:prstDash val="solid"/>
          </a:ln>
        </p:spPr>
      </p:sp>
      <p:sp>
        <p:nvSpPr>
          <p:cNvPr id="14" name="Shape 12"/>
          <p:cNvSpPr/>
          <p:nvPr/>
        </p:nvSpPr>
        <p:spPr>
          <a:xfrm>
            <a:off x="4593336" y="1938528"/>
            <a:ext cx="137160" cy="292608"/>
          </a:xfrm>
          <a:prstGeom prst="rect">
            <a:avLst/>
          </a:prstGeom>
          <a:solidFill>
            <a:srgbClr val="B22234"/>
          </a:solidFill>
          <a:ln/>
        </p:spPr>
      </p:sp>
      <p:sp>
        <p:nvSpPr>
          <p:cNvPr id="15" name="Text 13"/>
          <p:cNvSpPr/>
          <p:nvPr/>
        </p:nvSpPr>
        <p:spPr>
          <a:xfrm>
            <a:off x="4812792" y="1828800"/>
            <a:ext cx="2782824" cy="54864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Federal Reserve System</a:t>
            </a:r>
            <a:endParaRPr lang="en-US" sz="1800" dirty="0"/>
          </a:p>
        </p:txBody>
      </p:sp>
      <p:sp>
        <p:nvSpPr>
          <p:cNvPr id="16" name="Text 14"/>
          <p:cNvSpPr/>
          <p:nvPr/>
        </p:nvSpPr>
        <p:spPr>
          <a:xfrm>
            <a:off x="4593336" y="2487168"/>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Sistema de la Reserva Federal</a:t>
            </a:r>
            <a:endParaRPr lang="en-US" sz="1250" dirty="0"/>
          </a:p>
        </p:txBody>
      </p:sp>
      <p:sp>
        <p:nvSpPr>
          <p:cNvPr id="17" name="Text 15"/>
          <p:cNvSpPr/>
          <p:nvPr/>
        </p:nvSpPr>
        <p:spPr>
          <a:xfrm>
            <a:off x="4593336" y="306324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8" name="Text 16"/>
          <p:cNvSpPr/>
          <p:nvPr/>
        </p:nvSpPr>
        <p:spPr>
          <a:xfrm>
            <a:off x="4593336" y="3401568"/>
            <a:ext cx="3011424" cy="2377440"/>
          </a:xfrm>
          <a:prstGeom prst="rect">
            <a:avLst/>
          </a:prstGeom>
          <a:noFill/>
          <a:ln/>
        </p:spPr>
        <p:txBody>
          <a:bodyPr wrap="square" lIns="0" tIns="0" rIns="0" bIns="0" rtlCol="0" anchor="t"/>
          <a:lstStyle/>
          <a:p>
            <a:pPr indent="0" marL="0">
              <a:lnSpc>
                <a:spcPct val="108000"/>
              </a:lnSpc>
              <a:buNone/>
            </a:pPr>
            <a:r>
              <a:rPr lang="en-US" sz="1300" dirty="0">
                <a:solidFill>
                  <a:srgbClr val="1A1A1A"/>
                </a:solidFill>
                <a:latin typeface="Arial" pitchFamily="34" charset="0"/>
                <a:ea typeface="Arial" pitchFamily="34" charset="-122"/>
                <a:cs typeface="Arial" pitchFamily="34" charset="-120"/>
              </a:rPr>
              <a:t>The central banking system created by the Federal Reserve Act (1913) — 12 regional banks under a government-appointed board that manages the money supply and stabilizes the financial system.</a:t>
            </a:r>
            <a:endParaRPr lang="en-US" sz="1300" dirty="0"/>
          </a:p>
        </p:txBody>
      </p:sp>
      <p:sp>
        <p:nvSpPr>
          <p:cNvPr id="19" name="Shape 17"/>
          <p:cNvSpPr/>
          <p:nvPr/>
        </p:nvSpPr>
        <p:spPr>
          <a:xfrm>
            <a:off x="8125968" y="1691640"/>
            <a:ext cx="3514344" cy="4297680"/>
          </a:xfrm>
          <a:prstGeom prst="rect">
            <a:avLst/>
          </a:prstGeom>
          <a:solidFill>
            <a:srgbClr val="F7F5EF"/>
          </a:solidFill>
          <a:ln w="12700">
            <a:solidFill>
              <a:srgbClr val="D9D5C8"/>
            </a:solidFill>
            <a:prstDash val="solid"/>
          </a:ln>
        </p:spPr>
      </p:sp>
      <p:sp>
        <p:nvSpPr>
          <p:cNvPr id="20" name="Shape 18"/>
          <p:cNvSpPr/>
          <p:nvPr/>
        </p:nvSpPr>
        <p:spPr>
          <a:xfrm>
            <a:off x="8382000" y="1938528"/>
            <a:ext cx="137160" cy="292608"/>
          </a:xfrm>
          <a:prstGeom prst="rect">
            <a:avLst/>
          </a:prstGeom>
          <a:solidFill>
            <a:srgbClr val="B22234"/>
          </a:solidFill>
          <a:ln/>
        </p:spPr>
      </p:sp>
      <p:sp>
        <p:nvSpPr>
          <p:cNvPr id="21" name="Text 19"/>
          <p:cNvSpPr/>
          <p:nvPr/>
        </p:nvSpPr>
        <p:spPr>
          <a:xfrm>
            <a:off x="8601456" y="1828800"/>
            <a:ext cx="2782824" cy="54864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Underwood Tariff</a:t>
            </a:r>
            <a:endParaRPr lang="en-US" sz="1800" dirty="0"/>
          </a:p>
        </p:txBody>
      </p:sp>
      <p:sp>
        <p:nvSpPr>
          <p:cNvPr id="22" name="Text 20"/>
          <p:cNvSpPr/>
          <p:nvPr/>
        </p:nvSpPr>
        <p:spPr>
          <a:xfrm>
            <a:off x="8382000" y="2487168"/>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Arancel Underwood</a:t>
            </a:r>
            <a:endParaRPr lang="en-US" sz="1250" dirty="0"/>
          </a:p>
        </p:txBody>
      </p:sp>
      <p:sp>
        <p:nvSpPr>
          <p:cNvPr id="23" name="Text 21"/>
          <p:cNvSpPr/>
          <p:nvPr/>
        </p:nvSpPr>
        <p:spPr>
          <a:xfrm>
            <a:off x="8382000" y="306324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24" name="Text 22"/>
          <p:cNvSpPr/>
          <p:nvPr/>
        </p:nvSpPr>
        <p:spPr>
          <a:xfrm>
            <a:off x="8382000" y="3401568"/>
            <a:ext cx="3011424" cy="2377440"/>
          </a:xfrm>
          <a:prstGeom prst="rect">
            <a:avLst/>
          </a:prstGeom>
          <a:noFill/>
          <a:ln/>
        </p:spPr>
        <p:txBody>
          <a:bodyPr wrap="square" lIns="0" tIns="0" rIns="0" bIns="0" rtlCol="0" anchor="t"/>
          <a:lstStyle/>
          <a:p>
            <a:pPr indent="0" marL="0">
              <a:lnSpc>
                <a:spcPct val="108000"/>
              </a:lnSpc>
              <a:buNone/>
            </a:pPr>
            <a:r>
              <a:rPr lang="en-US" sz="1300" dirty="0">
                <a:solidFill>
                  <a:srgbClr val="1A1A1A"/>
                </a:solidFill>
                <a:latin typeface="Arial" pitchFamily="34" charset="0"/>
                <a:ea typeface="Arial" pitchFamily="34" charset="-122"/>
                <a:cs typeface="Arial" pitchFamily="34" charset="-120"/>
              </a:rPr>
              <a:t>Wilson's 1913 tariff reduction that significantly lowered import taxes, making goods cheaper for consumers, while the new income tax (16th Amendment) replaced the lost revenue.</a:t>
            </a:r>
            <a:endParaRPr lang="en-US" sz="1300" dirty="0"/>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2F5FA6"/>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KEY VOCABULARY  ·  LANGUAGE SUPPORT</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US.18</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TroopToTeacher Technologies LLC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22</a:t>
            </a:r>
            <a:endParaRPr lang="en-US" sz="900" dirty="0"/>
          </a:p>
        </p:txBody>
      </p:sp>
      <p:sp>
        <p:nvSpPr>
          <p:cNvPr id="6" name="Text 4"/>
          <p:cNvSpPr/>
          <p:nvPr/>
        </p:nvSpPr>
        <p:spPr>
          <a:xfrm>
            <a:off x="548640" y="914400"/>
            <a:ext cx="10515600" cy="502920"/>
          </a:xfrm>
          <a:prstGeom prst="rect">
            <a:avLst/>
          </a:prstGeom>
          <a:noFill/>
          <a:ln/>
        </p:spPr>
        <p:txBody>
          <a:bodyPr wrap="square" lIns="0" tIns="0" rIns="0" bIns="0" rtlCol="0" anchor="ctr"/>
          <a:lstStyle/>
          <a:p>
            <a:pPr indent="0" marL="0">
              <a:buNone/>
            </a:pPr>
            <a:r>
              <a:rPr lang="en-US" sz="2500" b="1" dirty="0">
                <a:solidFill>
                  <a:srgbClr val="FFFFFF"/>
                </a:solidFill>
                <a:latin typeface="Cambria" pitchFamily="34" charset="0"/>
                <a:ea typeface="Cambria" pitchFamily="34" charset="-122"/>
                <a:cs typeface="Cambria" pitchFamily="34" charset="-120"/>
              </a:rPr>
              <a:t>Words you need before we read</a:t>
            </a:r>
            <a:endParaRPr lang="en-US" sz="2500" dirty="0"/>
          </a:p>
        </p:txBody>
      </p:sp>
      <p:sp>
        <p:nvSpPr>
          <p:cNvPr id="7" name="Shape 5"/>
          <p:cNvSpPr/>
          <p:nvPr/>
        </p:nvSpPr>
        <p:spPr>
          <a:xfrm>
            <a:off x="548640" y="1691640"/>
            <a:ext cx="3514344" cy="4297680"/>
          </a:xfrm>
          <a:prstGeom prst="rect">
            <a:avLst/>
          </a:prstGeom>
          <a:solidFill>
            <a:srgbClr val="F7F5EF"/>
          </a:solidFill>
          <a:ln w="12700">
            <a:solidFill>
              <a:srgbClr val="D9D5C8"/>
            </a:solidFill>
            <a:prstDash val="solid"/>
          </a:ln>
        </p:spPr>
      </p:sp>
      <p:sp>
        <p:nvSpPr>
          <p:cNvPr id="8" name="Shape 6"/>
          <p:cNvSpPr/>
          <p:nvPr/>
        </p:nvSpPr>
        <p:spPr>
          <a:xfrm>
            <a:off x="804672" y="1938528"/>
            <a:ext cx="137160" cy="292608"/>
          </a:xfrm>
          <a:prstGeom prst="rect">
            <a:avLst/>
          </a:prstGeom>
          <a:solidFill>
            <a:srgbClr val="B22234"/>
          </a:solidFill>
          <a:ln/>
        </p:spPr>
      </p:sp>
      <p:sp>
        <p:nvSpPr>
          <p:cNvPr id="9" name="Text 7"/>
          <p:cNvSpPr/>
          <p:nvPr/>
        </p:nvSpPr>
        <p:spPr>
          <a:xfrm>
            <a:off x="1024128" y="1828800"/>
            <a:ext cx="2782824" cy="54864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Women's Suffrage</a:t>
            </a:r>
            <a:endParaRPr lang="en-US" sz="1800" dirty="0"/>
          </a:p>
        </p:txBody>
      </p:sp>
      <p:sp>
        <p:nvSpPr>
          <p:cNvPr id="10" name="Text 8"/>
          <p:cNvSpPr/>
          <p:nvPr/>
        </p:nvSpPr>
        <p:spPr>
          <a:xfrm>
            <a:off x="804672" y="2487168"/>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Sufragio Femenino</a:t>
            </a:r>
            <a:endParaRPr lang="en-US" sz="1250" dirty="0"/>
          </a:p>
        </p:txBody>
      </p:sp>
      <p:sp>
        <p:nvSpPr>
          <p:cNvPr id="11" name="Text 9"/>
          <p:cNvSpPr/>
          <p:nvPr/>
        </p:nvSpPr>
        <p:spPr>
          <a:xfrm>
            <a:off x="804672" y="306324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2" name="Text 10"/>
          <p:cNvSpPr/>
          <p:nvPr/>
        </p:nvSpPr>
        <p:spPr>
          <a:xfrm>
            <a:off x="804672" y="3401568"/>
            <a:ext cx="3011424" cy="2377440"/>
          </a:xfrm>
          <a:prstGeom prst="rect">
            <a:avLst/>
          </a:prstGeom>
          <a:noFill/>
          <a:ln/>
        </p:spPr>
        <p:txBody>
          <a:bodyPr wrap="square" lIns="0" tIns="0" rIns="0" bIns="0" rtlCol="0" anchor="t"/>
          <a:lstStyle/>
          <a:p>
            <a:pPr indent="0" marL="0">
              <a:lnSpc>
                <a:spcPct val="108000"/>
              </a:lnSpc>
              <a:buNone/>
            </a:pPr>
            <a:r>
              <a:rPr lang="en-US" sz="1300" dirty="0">
                <a:solidFill>
                  <a:srgbClr val="1A1A1A"/>
                </a:solidFill>
                <a:latin typeface="Arial" pitchFamily="34" charset="0"/>
                <a:ea typeface="Arial" pitchFamily="34" charset="-122"/>
                <a:cs typeface="Arial" pitchFamily="34" charset="-120"/>
              </a:rPr>
              <a:t>The movement to secure voting rights for women, culminating in the 19th Amendment (1920) after more than 70 years of organized activism.</a:t>
            </a:r>
            <a:endParaRPr lang="en-US" sz="1300" dirty="0"/>
          </a:p>
        </p:txBody>
      </p:sp>
      <p:sp>
        <p:nvSpPr>
          <p:cNvPr id="13" name="Shape 11"/>
          <p:cNvSpPr/>
          <p:nvPr/>
        </p:nvSpPr>
        <p:spPr>
          <a:xfrm>
            <a:off x="4337304" y="1691640"/>
            <a:ext cx="3514344" cy="4297680"/>
          </a:xfrm>
          <a:prstGeom prst="rect">
            <a:avLst/>
          </a:prstGeom>
          <a:solidFill>
            <a:srgbClr val="F7F5EF"/>
          </a:solidFill>
          <a:ln w="12700">
            <a:solidFill>
              <a:srgbClr val="D9D5C8"/>
            </a:solidFill>
            <a:prstDash val="solid"/>
          </a:ln>
        </p:spPr>
      </p:sp>
      <p:sp>
        <p:nvSpPr>
          <p:cNvPr id="14" name="Shape 12"/>
          <p:cNvSpPr/>
          <p:nvPr/>
        </p:nvSpPr>
        <p:spPr>
          <a:xfrm>
            <a:off x="4593336" y="1938528"/>
            <a:ext cx="137160" cy="292608"/>
          </a:xfrm>
          <a:prstGeom prst="rect">
            <a:avLst/>
          </a:prstGeom>
          <a:solidFill>
            <a:srgbClr val="B22234"/>
          </a:solidFill>
          <a:ln/>
        </p:spPr>
      </p:sp>
      <p:sp>
        <p:nvSpPr>
          <p:cNvPr id="15" name="Text 13"/>
          <p:cNvSpPr/>
          <p:nvPr/>
        </p:nvSpPr>
        <p:spPr>
          <a:xfrm>
            <a:off x="4812792" y="1828800"/>
            <a:ext cx="2782824" cy="54864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19th Amendment</a:t>
            </a:r>
            <a:endParaRPr lang="en-US" sz="1800" dirty="0"/>
          </a:p>
        </p:txBody>
      </p:sp>
      <p:sp>
        <p:nvSpPr>
          <p:cNvPr id="16" name="Text 14"/>
          <p:cNvSpPr/>
          <p:nvPr/>
        </p:nvSpPr>
        <p:spPr>
          <a:xfrm>
            <a:off x="4593336" y="2487168"/>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19ª Enmienda</a:t>
            </a:r>
            <a:endParaRPr lang="en-US" sz="1250" dirty="0"/>
          </a:p>
        </p:txBody>
      </p:sp>
      <p:sp>
        <p:nvSpPr>
          <p:cNvPr id="17" name="Text 15"/>
          <p:cNvSpPr/>
          <p:nvPr/>
        </p:nvSpPr>
        <p:spPr>
          <a:xfrm>
            <a:off x="4593336" y="306324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8" name="Text 16"/>
          <p:cNvSpPr/>
          <p:nvPr/>
        </p:nvSpPr>
        <p:spPr>
          <a:xfrm>
            <a:off x="4593336" y="3401568"/>
            <a:ext cx="3011424" cy="2377440"/>
          </a:xfrm>
          <a:prstGeom prst="rect">
            <a:avLst/>
          </a:prstGeom>
          <a:noFill/>
          <a:ln/>
        </p:spPr>
        <p:txBody>
          <a:bodyPr wrap="square" lIns="0" tIns="0" rIns="0" bIns="0" rtlCol="0" anchor="t"/>
          <a:lstStyle/>
          <a:p>
            <a:pPr indent="0" marL="0">
              <a:lnSpc>
                <a:spcPct val="108000"/>
              </a:lnSpc>
              <a:buNone/>
            </a:pPr>
            <a:r>
              <a:rPr lang="en-US" sz="1300" dirty="0">
                <a:solidFill>
                  <a:srgbClr val="1A1A1A"/>
                </a:solidFill>
                <a:latin typeface="Arial" pitchFamily="34" charset="0"/>
                <a:ea typeface="Arial" pitchFamily="34" charset="-122"/>
                <a:cs typeface="Arial" pitchFamily="34" charset="-120"/>
              </a:rPr>
              <a:t>Ratified on August 18, 1920, this amendment prohibits denying any citizen the right to vote based on sex — extending the vote to women across the United States.</a:t>
            </a:r>
            <a:endParaRPr lang="en-US" sz="1300" dirty="0"/>
          </a:p>
        </p:txBody>
      </p:sp>
      <p:sp>
        <p:nvSpPr>
          <p:cNvPr id="19" name="Shape 17"/>
          <p:cNvSpPr/>
          <p:nvPr/>
        </p:nvSpPr>
        <p:spPr>
          <a:xfrm>
            <a:off x="8125968" y="1691640"/>
            <a:ext cx="3514344" cy="4297680"/>
          </a:xfrm>
          <a:prstGeom prst="rect">
            <a:avLst/>
          </a:prstGeom>
          <a:solidFill>
            <a:srgbClr val="F7F5EF"/>
          </a:solidFill>
          <a:ln w="12700">
            <a:solidFill>
              <a:srgbClr val="D9D5C8"/>
            </a:solidFill>
            <a:prstDash val="solid"/>
          </a:ln>
        </p:spPr>
      </p:sp>
      <p:sp>
        <p:nvSpPr>
          <p:cNvPr id="20" name="Shape 18"/>
          <p:cNvSpPr/>
          <p:nvPr/>
        </p:nvSpPr>
        <p:spPr>
          <a:xfrm>
            <a:off x="8382000" y="1938528"/>
            <a:ext cx="137160" cy="292608"/>
          </a:xfrm>
          <a:prstGeom prst="rect">
            <a:avLst/>
          </a:prstGeom>
          <a:solidFill>
            <a:srgbClr val="B22234"/>
          </a:solidFill>
          <a:ln/>
        </p:spPr>
      </p:sp>
      <p:sp>
        <p:nvSpPr>
          <p:cNvPr id="21" name="Text 19"/>
          <p:cNvSpPr/>
          <p:nvPr/>
        </p:nvSpPr>
        <p:spPr>
          <a:xfrm>
            <a:off x="8601456" y="1828800"/>
            <a:ext cx="2782824" cy="54864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Carrie Chapman Catt</a:t>
            </a:r>
            <a:endParaRPr lang="en-US" sz="1800" dirty="0"/>
          </a:p>
        </p:txBody>
      </p:sp>
      <p:sp>
        <p:nvSpPr>
          <p:cNvPr id="22" name="Text 20"/>
          <p:cNvSpPr/>
          <p:nvPr/>
        </p:nvSpPr>
        <p:spPr>
          <a:xfrm>
            <a:off x="8382000" y="2487168"/>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Carrie Chapman Catt</a:t>
            </a:r>
            <a:endParaRPr lang="en-US" sz="1250" dirty="0"/>
          </a:p>
        </p:txBody>
      </p:sp>
      <p:sp>
        <p:nvSpPr>
          <p:cNvPr id="23" name="Text 21"/>
          <p:cNvSpPr/>
          <p:nvPr/>
        </p:nvSpPr>
        <p:spPr>
          <a:xfrm>
            <a:off x="8382000" y="306324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24" name="Text 22"/>
          <p:cNvSpPr/>
          <p:nvPr/>
        </p:nvSpPr>
        <p:spPr>
          <a:xfrm>
            <a:off x="8382000" y="3401568"/>
            <a:ext cx="3011424" cy="2377440"/>
          </a:xfrm>
          <a:prstGeom prst="rect">
            <a:avLst/>
          </a:prstGeom>
          <a:noFill/>
          <a:ln/>
        </p:spPr>
        <p:txBody>
          <a:bodyPr wrap="square" lIns="0" tIns="0" rIns="0" bIns="0" rtlCol="0" anchor="t"/>
          <a:lstStyle/>
          <a:p>
            <a:pPr indent="0" marL="0">
              <a:lnSpc>
                <a:spcPct val="108000"/>
              </a:lnSpc>
              <a:buNone/>
            </a:pPr>
            <a:r>
              <a:rPr lang="en-US" sz="1300" dirty="0">
                <a:solidFill>
                  <a:srgbClr val="1A1A1A"/>
                </a:solidFill>
                <a:latin typeface="Arial" pitchFamily="34" charset="0"/>
                <a:ea typeface="Arial" pitchFamily="34" charset="-122"/>
                <a:cs typeface="Arial" pitchFamily="34" charset="-120"/>
              </a:rPr>
              <a:t>NAWSA president who developed the 'Winning Plan' — a coordinated state-level and federal strategy that led to the 19th Amendment's ratification.</a:t>
            </a:r>
            <a:endParaRPr lang="en-US" sz="1300" dirty="0"/>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B22234"/>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PROGRESS CHECK</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US.08</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TroopToTeacher Technologies LLC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3</a:t>
            </a:r>
            <a:endParaRPr lang="en-US" sz="900" dirty="0"/>
          </a:p>
        </p:txBody>
      </p:sp>
      <p:sp>
        <p:nvSpPr>
          <p:cNvPr id="6" name="Text 4"/>
          <p:cNvSpPr/>
          <p:nvPr/>
        </p:nvSpPr>
        <p:spPr>
          <a:xfrm>
            <a:off x="548640" y="914400"/>
            <a:ext cx="10515600" cy="502920"/>
          </a:xfrm>
          <a:prstGeom prst="rect">
            <a:avLst/>
          </a:prstGeom>
          <a:noFill/>
          <a:ln/>
        </p:spPr>
        <p:txBody>
          <a:bodyPr wrap="square" lIns="0" tIns="0" rIns="0" bIns="0" rtlCol="0" anchor="ctr"/>
          <a:lstStyle/>
          <a:p>
            <a:pPr indent="0" marL="0">
              <a:buNone/>
            </a:pPr>
            <a:r>
              <a:rPr lang="en-US" sz="2500" b="1" dirty="0">
                <a:solidFill>
                  <a:srgbClr val="FFFFFF"/>
                </a:solidFill>
                <a:latin typeface="Cambria" pitchFamily="34" charset="0"/>
                <a:ea typeface="Cambria" pitchFamily="34" charset="-122"/>
                <a:cs typeface="Cambria" pitchFamily="34" charset="-120"/>
              </a:rPr>
              <a:t>Check your understanding</a:t>
            </a:r>
            <a:endParaRPr lang="en-US" sz="2500" dirty="0"/>
          </a:p>
        </p:txBody>
      </p:sp>
      <p:sp>
        <p:nvSpPr>
          <p:cNvPr id="7" name="Shape 5"/>
          <p:cNvSpPr/>
          <p:nvPr/>
        </p:nvSpPr>
        <p:spPr>
          <a:xfrm>
            <a:off x="548640" y="1645920"/>
            <a:ext cx="11091672" cy="960120"/>
          </a:xfrm>
          <a:prstGeom prst="rect">
            <a:avLst/>
          </a:prstGeom>
          <a:solidFill>
            <a:srgbClr val="1E2C4C"/>
          </a:solidFill>
          <a:ln w="12700">
            <a:solidFill>
              <a:srgbClr val="C89B3C"/>
            </a:solidFill>
            <a:prstDash val="solid"/>
          </a:ln>
        </p:spPr>
      </p:sp>
      <p:sp>
        <p:nvSpPr>
          <p:cNvPr id="8" name="Text 6"/>
          <p:cNvSpPr/>
          <p:nvPr/>
        </p:nvSpPr>
        <p:spPr>
          <a:xfrm>
            <a:off x="777240" y="1673352"/>
            <a:ext cx="10607040" cy="905256"/>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Analyze how these competing philosophies shaped debates over government's role in addressing social and economic problems.</a:t>
            </a:r>
            <a:endParaRPr lang="en-US" sz="1600" dirty="0"/>
          </a:p>
        </p:txBody>
      </p:sp>
      <p:sp>
        <p:nvSpPr>
          <p:cNvPr id="9" name="Shape 7"/>
          <p:cNvSpPr/>
          <p:nvPr/>
        </p:nvSpPr>
        <p:spPr>
          <a:xfrm>
            <a:off x="548640" y="2761488"/>
            <a:ext cx="11091672" cy="678942"/>
          </a:xfrm>
          <a:prstGeom prst="rect">
            <a:avLst/>
          </a:prstGeom>
          <a:solidFill>
            <a:srgbClr val="F7F5EF"/>
          </a:solidFill>
          <a:ln w="12700">
            <a:solidFill>
              <a:srgbClr val="D9D5C8"/>
            </a:solidFill>
            <a:prstDash val="solid"/>
          </a:ln>
        </p:spPr>
      </p:sp>
      <p:sp>
        <p:nvSpPr>
          <p:cNvPr id="10" name="Text 8"/>
          <p:cNvSpPr/>
          <p:nvPr/>
        </p:nvSpPr>
        <p:spPr>
          <a:xfrm>
            <a:off x="685800" y="276148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A</a:t>
            </a:r>
            <a:endParaRPr lang="en-US" sz="1700" dirty="0"/>
          </a:p>
        </p:txBody>
      </p:sp>
      <p:sp>
        <p:nvSpPr>
          <p:cNvPr id="11" name="Text 9"/>
          <p:cNvSpPr/>
          <p:nvPr/>
        </p:nvSpPr>
        <p:spPr>
          <a:xfrm>
            <a:off x="1325880" y="276148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Social Darwinism argued government should not interfere while Social Gospel supported intervention, creating a fundamental tension about whether society should address inequality that continues today</a:t>
            </a:r>
            <a:endParaRPr lang="en-US" sz="1350" dirty="0"/>
          </a:p>
        </p:txBody>
      </p:sp>
      <p:sp>
        <p:nvSpPr>
          <p:cNvPr id="12" name="Shape 10"/>
          <p:cNvSpPr/>
          <p:nvPr/>
        </p:nvSpPr>
        <p:spPr>
          <a:xfrm>
            <a:off x="548640" y="3550158"/>
            <a:ext cx="11091672" cy="678942"/>
          </a:xfrm>
          <a:prstGeom prst="rect">
            <a:avLst/>
          </a:prstGeom>
          <a:solidFill>
            <a:srgbClr val="F7F5EF"/>
          </a:solidFill>
          <a:ln w="12700">
            <a:solidFill>
              <a:srgbClr val="D9D5C8"/>
            </a:solidFill>
            <a:prstDash val="solid"/>
          </a:ln>
        </p:spPr>
      </p:sp>
      <p:sp>
        <p:nvSpPr>
          <p:cNvPr id="13" name="Text 11"/>
          <p:cNvSpPr/>
          <p:nvPr/>
        </p:nvSpPr>
        <p:spPr>
          <a:xfrm>
            <a:off x="685800" y="355015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B</a:t>
            </a:r>
            <a:endParaRPr lang="en-US" sz="1700" dirty="0"/>
          </a:p>
        </p:txBody>
      </p:sp>
      <p:sp>
        <p:nvSpPr>
          <p:cNvPr id="14" name="Text 12"/>
          <p:cNvSpPr/>
          <p:nvPr/>
        </p:nvSpPr>
        <p:spPr>
          <a:xfrm>
            <a:off x="1325880" y="355015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Both philosophies supported the same policies, but this fails to account for the broader historical context, and this view has been largely revised by modern historical research</a:t>
            </a:r>
            <a:endParaRPr lang="en-US" sz="1350" dirty="0"/>
          </a:p>
        </p:txBody>
      </p:sp>
      <p:sp>
        <p:nvSpPr>
          <p:cNvPr id="15" name="Shape 13"/>
          <p:cNvSpPr/>
          <p:nvPr/>
        </p:nvSpPr>
        <p:spPr>
          <a:xfrm>
            <a:off x="548640" y="4338828"/>
            <a:ext cx="11091672" cy="678942"/>
          </a:xfrm>
          <a:prstGeom prst="rect">
            <a:avLst/>
          </a:prstGeom>
          <a:solidFill>
            <a:srgbClr val="F7F5EF"/>
          </a:solidFill>
          <a:ln w="12700">
            <a:solidFill>
              <a:srgbClr val="D9D5C8"/>
            </a:solidFill>
            <a:prstDash val="solid"/>
          </a:ln>
        </p:spPr>
      </p:sp>
      <p:sp>
        <p:nvSpPr>
          <p:cNvPr id="16" name="Text 14"/>
          <p:cNvSpPr/>
          <p:nvPr/>
        </p:nvSpPr>
        <p:spPr>
          <a:xfrm>
            <a:off x="685800" y="433882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C</a:t>
            </a:r>
            <a:endParaRPr lang="en-US" sz="1700" dirty="0"/>
          </a:p>
        </p:txBody>
      </p:sp>
      <p:sp>
        <p:nvSpPr>
          <p:cNvPr id="17" name="Text 15"/>
          <p:cNvSpPr/>
          <p:nvPr/>
        </p:nvSpPr>
        <p:spPr>
          <a:xfrm>
            <a:off x="1325880" y="433882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Neither philosophy influenced government policy, despite the fact that multiple sources contradict this view, but the historical evidence paints a more nuanced picture and does not reflect the scholarly consensus on this topic</a:t>
            </a:r>
            <a:endParaRPr lang="en-US" sz="1350" dirty="0"/>
          </a:p>
        </p:txBody>
      </p:sp>
      <p:sp>
        <p:nvSpPr>
          <p:cNvPr id="18" name="Shape 16"/>
          <p:cNvSpPr/>
          <p:nvPr/>
        </p:nvSpPr>
        <p:spPr>
          <a:xfrm>
            <a:off x="548640" y="5127498"/>
            <a:ext cx="11091672" cy="678942"/>
          </a:xfrm>
          <a:prstGeom prst="rect">
            <a:avLst/>
          </a:prstGeom>
          <a:solidFill>
            <a:srgbClr val="F7F5EF"/>
          </a:solidFill>
          <a:ln w="12700">
            <a:solidFill>
              <a:srgbClr val="D9D5C8"/>
            </a:solidFill>
            <a:prstDash val="solid"/>
          </a:ln>
        </p:spPr>
      </p:sp>
      <p:sp>
        <p:nvSpPr>
          <p:cNvPr id="19" name="Text 17"/>
          <p:cNvSpPr/>
          <p:nvPr/>
        </p:nvSpPr>
        <p:spPr>
          <a:xfrm>
            <a:off x="685800" y="512749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D</a:t>
            </a:r>
            <a:endParaRPr lang="en-US" sz="1700" dirty="0"/>
          </a:p>
        </p:txBody>
      </p:sp>
      <p:sp>
        <p:nvSpPr>
          <p:cNvPr id="20" name="Text 18"/>
          <p:cNvSpPr/>
          <p:nvPr/>
        </p:nvSpPr>
        <p:spPr>
          <a:xfrm>
            <a:off x="1325880" y="512749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Government ignored both viewpoints, although this view has been largely discredited by scholars when examined alongside the available primary and secondary sources, although historical sources do not support this conclusion</a:t>
            </a:r>
            <a:endParaRPr lang="en-US" sz="1350" dirty="0"/>
          </a:p>
        </p:txBody>
      </p:sp>
      <p:sp>
        <p:nvSpPr>
          <p:cNvPr id="21" name="Text 19"/>
          <p:cNvSpPr/>
          <p:nvPr/>
        </p:nvSpPr>
        <p:spPr>
          <a:xfrm>
            <a:off x="548640" y="6053328"/>
            <a:ext cx="11064240" cy="29260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Confidence:  </a:t>
            </a:r>
            <a:pPr indent="0" marL="0">
              <a:buNone/>
            </a:pPr>
            <a:r>
              <a:rPr lang="en-US" sz="1200" dirty="0">
                <a:solidFill>
                  <a:srgbClr val="E7EAF2"/>
                </a:solidFill>
                <a:latin typeface="Arial" pitchFamily="34" charset="0"/>
                <a:ea typeface="Arial" pitchFamily="34" charset="-122"/>
                <a:cs typeface="Arial" pitchFamily="34" charset="-120"/>
              </a:rPr>
              <a:t>😟 1     🙂 2     😀 3     — circle where you are; your teacher routes reteach or extension.</a:t>
            </a:r>
            <a:endParaRPr lang="en-US" sz="1200" dirty="0"/>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B22234"/>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PROGRESS CHECK</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US.09</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TroopToTeacher Technologies LLC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5</a:t>
            </a:r>
            <a:endParaRPr lang="en-US" sz="900" dirty="0"/>
          </a:p>
        </p:txBody>
      </p:sp>
      <p:sp>
        <p:nvSpPr>
          <p:cNvPr id="6" name="Text 4"/>
          <p:cNvSpPr/>
          <p:nvPr/>
        </p:nvSpPr>
        <p:spPr>
          <a:xfrm>
            <a:off x="548640" y="914400"/>
            <a:ext cx="10515600" cy="502920"/>
          </a:xfrm>
          <a:prstGeom prst="rect">
            <a:avLst/>
          </a:prstGeom>
          <a:noFill/>
          <a:ln/>
        </p:spPr>
        <p:txBody>
          <a:bodyPr wrap="square" lIns="0" tIns="0" rIns="0" bIns="0" rtlCol="0" anchor="ctr"/>
          <a:lstStyle/>
          <a:p>
            <a:pPr indent="0" marL="0">
              <a:buNone/>
            </a:pPr>
            <a:r>
              <a:rPr lang="en-US" sz="2500" b="1" dirty="0">
                <a:solidFill>
                  <a:srgbClr val="FFFFFF"/>
                </a:solidFill>
                <a:latin typeface="Cambria" pitchFamily="34" charset="0"/>
                <a:ea typeface="Cambria" pitchFamily="34" charset="-122"/>
                <a:cs typeface="Cambria" pitchFamily="34" charset="-120"/>
              </a:rPr>
              <a:t>Check your understanding</a:t>
            </a:r>
            <a:endParaRPr lang="en-US" sz="2500" dirty="0"/>
          </a:p>
        </p:txBody>
      </p:sp>
      <p:sp>
        <p:nvSpPr>
          <p:cNvPr id="7" name="Shape 5"/>
          <p:cNvSpPr/>
          <p:nvPr/>
        </p:nvSpPr>
        <p:spPr>
          <a:xfrm>
            <a:off x="548640" y="1645920"/>
            <a:ext cx="11091672" cy="960120"/>
          </a:xfrm>
          <a:prstGeom prst="rect">
            <a:avLst/>
          </a:prstGeom>
          <a:solidFill>
            <a:srgbClr val="1E2C4C"/>
          </a:solidFill>
          <a:ln w="12700">
            <a:solidFill>
              <a:srgbClr val="C89B3C"/>
            </a:solidFill>
            <a:prstDash val="solid"/>
          </a:ln>
        </p:spPr>
      </p:sp>
      <p:sp>
        <p:nvSpPr>
          <p:cNvPr id="8" name="Text 6"/>
          <p:cNvSpPr/>
          <p:nvPr/>
        </p:nvSpPr>
        <p:spPr>
          <a:xfrm>
            <a:off x="777240" y="1673352"/>
            <a:ext cx="10607040" cy="905256"/>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Evaluate which approach was more effective for advancing African American progress during this era.</a:t>
            </a:r>
            <a:endParaRPr lang="en-US" sz="1600" dirty="0"/>
          </a:p>
        </p:txBody>
      </p:sp>
      <p:sp>
        <p:nvSpPr>
          <p:cNvPr id="9" name="Shape 7"/>
          <p:cNvSpPr/>
          <p:nvPr/>
        </p:nvSpPr>
        <p:spPr>
          <a:xfrm>
            <a:off x="548640" y="2761488"/>
            <a:ext cx="11091672" cy="678942"/>
          </a:xfrm>
          <a:prstGeom prst="rect">
            <a:avLst/>
          </a:prstGeom>
          <a:solidFill>
            <a:srgbClr val="F7F5EF"/>
          </a:solidFill>
          <a:ln w="12700">
            <a:solidFill>
              <a:srgbClr val="D9D5C8"/>
            </a:solidFill>
            <a:prstDash val="solid"/>
          </a:ln>
        </p:spPr>
      </p:sp>
      <p:sp>
        <p:nvSpPr>
          <p:cNvPr id="10" name="Text 8"/>
          <p:cNvSpPr/>
          <p:nvPr/>
        </p:nvSpPr>
        <p:spPr>
          <a:xfrm>
            <a:off x="685800" y="276148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A</a:t>
            </a:r>
            <a:endParaRPr lang="en-US" sz="1700" dirty="0"/>
          </a:p>
        </p:txBody>
      </p:sp>
      <p:sp>
        <p:nvSpPr>
          <p:cNvPr id="11" name="Text 9"/>
          <p:cNvSpPr/>
          <p:nvPr/>
        </p:nvSpPr>
        <p:spPr>
          <a:xfrm>
            <a:off x="1325880" y="276148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Washington's approach completely succeeded, yet the available evidence points to a different conclusion and oversimplifies the complex factors at work during this period and fails to account for key developments in the broader context</a:t>
            </a:r>
            <a:endParaRPr lang="en-US" sz="1350" dirty="0"/>
          </a:p>
        </p:txBody>
      </p:sp>
      <p:sp>
        <p:nvSpPr>
          <p:cNvPr id="12" name="Shape 10"/>
          <p:cNvSpPr/>
          <p:nvPr/>
        </p:nvSpPr>
        <p:spPr>
          <a:xfrm>
            <a:off x="548640" y="3550158"/>
            <a:ext cx="11091672" cy="678942"/>
          </a:xfrm>
          <a:prstGeom prst="rect">
            <a:avLst/>
          </a:prstGeom>
          <a:solidFill>
            <a:srgbClr val="F7F5EF"/>
          </a:solidFill>
          <a:ln w="12700">
            <a:solidFill>
              <a:srgbClr val="D9D5C8"/>
            </a:solidFill>
            <a:prstDash val="solid"/>
          </a:ln>
        </p:spPr>
      </p:sp>
      <p:sp>
        <p:nvSpPr>
          <p:cNvPr id="13" name="Text 11"/>
          <p:cNvSpPr/>
          <p:nvPr/>
        </p:nvSpPr>
        <p:spPr>
          <a:xfrm>
            <a:off x="685800" y="355015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B</a:t>
            </a:r>
            <a:endParaRPr lang="en-US" sz="1700" dirty="0"/>
          </a:p>
        </p:txBody>
      </p:sp>
      <p:sp>
        <p:nvSpPr>
          <p:cNvPr id="14" name="Text 12"/>
          <p:cNvSpPr/>
          <p:nvPr/>
        </p:nvSpPr>
        <p:spPr>
          <a:xfrm>
            <a:off x="1325880" y="355015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Both contributed: Washington built institutions and economic opportunity while Du Bois established organizations like the NAACP that would lead later civil rights victories—different strategies served different needs</a:t>
            </a:r>
            <a:endParaRPr lang="en-US" sz="1350" dirty="0"/>
          </a:p>
        </p:txBody>
      </p:sp>
      <p:sp>
        <p:nvSpPr>
          <p:cNvPr id="15" name="Shape 13"/>
          <p:cNvSpPr/>
          <p:nvPr/>
        </p:nvSpPr>
        <p:spPr>
          <a:xfrm>
            <a:off x="548640" y="4338828"/>
            <a:ext cx="11091672" cy="678942"/>
          </a:xfrm>
          <a:prstGeom prst="rect">
            <a:avLst/>
          </a:prstGeom>
          <a:solidFill>
            <a:srgbClr val="F7F5EF"/>
          </a:solidFill>
          <a:ln w="12700">
            <a:solidFill>
              <a:srgbClr val="D9D5C8"/>
            </a:solidFill>
            <a:prstDash val="solid"/>
          </a:ln>
        </p:spPr>
      </p:sp>
      <p:sp>
        <p:nvSpPr>
          <p:cNvPr id="16" name="Text 14"/>
          <p:cNvSpPr/>
          <p:nvPr/>
        </p:nvSpPr>
        <p:spPr>
          <a:xfrm>
            <a:off x="685800" y="433882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C</a:t>
            </a:r>
            <a:endParaRPr lang="en-US" sz="1700" dirty="0"/>
          </a:p>
        </p:txBody>
      </p:sp>
      <p:sp>
        <p:nvSpPr>
          <p:cNvPr id="17" name="Text 15"/>
          <p:cNvSpPr/>
          <p:nvPr/>
        </p:nvSpPr>
        <p:spPr>
          <a:xfrm>
            <a:off x="1325880" y="433882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Neither approach had any impact, but this oversimplifies the complex factors at work, which ignores significant political and cultural developments of the era, which represents a common misconception about this historical period</a:t>
            </a:r>
            <a:endParaRPr lang="en-US" sz="1350" dirty="0"/>
          </a:p>
        </p:txBody>
      </p:sp>
      <p:sp>
        <p:nvSpPr>
          <p:cNvPr id="18" name="Shape 16"/>
          <p:cNvSpPr/>
          <p:nvPr/>
        </p:nvSpPr>
        <p:spPr>
          <a:xfrm>
            <a:off x="548640" y="5127498"/>
            <a:ext cx="11091672" cy="678942"/>
          </a:xfrm>
          <a:prstGeom prst="rect">
            <a:avLst/>
          </a:prstGeom>
          <a:solidFill>
            <a:srgbClr val="F7F5EF"/>
          </a:solidFill>
          <a:ln w="12700">
            <a:solidFill>
              <a:srgbClr val="D9D5C8"/>
            </a:solidFill>
            <a:prstDash val="solid"/>
          </a:ln>
        </p:spPr>
      </p:sp>
      <p:sp>
        <p:nvSpPr>
          <p:cNvPr id="19" name="Text 17"/>
          <p:cNvSpPr/>
          <p:nvPr/>
        </p:nvSpPr>
        <p:spPr>
          <a:xfrm>
            <a:off x="685800" y="512749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D</a:t>
            </a:r>
            <a:endParaRPr lang="en-US" sz="1700" dirty="0"/>
          </a:p>
        </p:txBody>
      </p:sp>
      <p:sp>
        <p:nvSpPr>
          <p:cNvPr id="20" name="Text 18"/>
          <p:cNvSpPr/>
          <p:nvPr/>
        </p:nvSpPr>
        <p:spPr>
          <a:xfrm>
            <a:off x="1325880" y="512749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Du Bois's approach achieved everything during his lifetime, which contradicts the primary source evidence from this era and does not reflect the scholarly consensus on this topic, which contradicts the primary source evidence from this era</a:t>
            </a:r>
            <a:endParaRPr lang="en-US" sz="1350" dirty="0"/>
          </a:p>
        </p:txBody>
      </p:sp>
      <p:sp>
        <p:nvSpPr>
          <p:cNvPr id="21" name="Text 19"/>
          <p:cNvSpPr/>
          <p:nvPr/>
        </p:nvSpPr>
        <p:spPr>
          <a:xfrm>
            <a:off x="548640" y="6053328"/>
            <a:ext cx="11064240" cy="29260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Confidence:  </a:t>
            </a:r>
            <a:pPr indent="0" marL="0">
              <a:buNone/>
            </a:pPr>
            <a:r>
              <a:rPr lang="en-US" sz="1200" dirty="0">
                <a:solidFill>
                  <a:srgbClr val="E7EAF2"/>
                </a:solidFill>
                <a:latin typeface="Arial" pitchFamily="34" charset="0"/>
                <a:ea typeface="Arial" pitchFamily="34" charset="-122"/>
                <a:cs typeface="Arial" pitchFamily="34" charset="-120"/>
              </a:rPr>
              <a:t>😟 1     🙂 2     😀 3     — circle where you are; your teacher routes reteach or extension.</a:t>
            </a:r>
            <a:endParaRPr lang="en-US" sz="1200" dirty="0"/>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B22234"/>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PROGRESS CHECK</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US.10</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TroopToTeacher Technologies LLC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7</a:t>
            </a:r>
            <a:endParaRPr lang="en-US" sz="900" dirty="0"/>
          </a:p>
        </p:txBody>
      </p:sp>
      <p:sp>
        <p:nvSpPr>
          <p:cNvPr id="6" name="Text 4"/>
          <p:cNvSpPr/>
          <p:nvPr/>
        </p:nvSpPr>
        <p:spPr>
          <a:xfrm>
            <a:off x="548640" y="914400"/>
            <a:ext cx="10515600" cy="502920"/>
          </a:xfrm>
          <a:prstGeom prst="rect">
            <a:avLst/>
          </a:prstGeom>
          <a:noFill/>
          <a:ln/>
        </p:spPr>
        <p:txBody>
          <a:bodyPr wrap="square" lIns="0" tIns="0" rIns="0" bIns="0" rtlCol="0" anchor="ctr"/>
          <a:lstStyle/>
          <a:p>
            <a:pPr indent="0" marL="0">
              <a:buNone/>
            </a:pPr>
            <a:r>
              <a:rPr lang="en-US" sz="2500" b="1" dirty="0">
                <a:solidFill>
                  <a:srgbClr val="FFFFFF"/>
                </a:solidFill>
                <a:latin typeface="Cambria" pitchFamily="34" charset="0"/>
                <a:ea typeface="Cambria" pitchFamily="34" charset="-122"/>
                <a:cs typeface="Cambria" pitchFamily="34" charset="-120"/>
              </a:rPr>
              <a:t>Check your understanding</a:t>
            </a:r>
            <a:endParaRPr lang="en-US" sz="2500" dirty="0"/>
          </a:p>
        </p:txBody>
      </p:sp>
      <p:sp>
        <p:nvSpPr>
          <p:cNvPr id="7" name="Shape 5"/>
          <p:cNvSpPr/>
          <p:nvPr/>
        </p:nvSpPr>
        <p:spPr>
          <a:xfrm>
            <a:off x="548640" y="1645920"/>
            <a:ext cx="11091672" cy="960120"/>
          </a:xfrm>
          <a:prstGeom prst="rect">
            <a:avLst/>
          </a:prstGeom>
          <a:solidFill>
            <a:srgbClr val="1E2C4C"/>
          </a:solidFill>
          <a:ln w="12700">
            <a:solidFill>
              <a:srgbClr val="C89B3C"/>
            </a:solidFill>
            <a:prstDash val="solid"/>
          </a:ln>
        </p:spPr>
      </p:sp>
      <p:sp>
        <p:nvSpPr>
          <p:cNvPr id="8" name="Text 6"/>
          <p:cNvSpPr/>
          <p:nvPr/>
        </p:nvSpPr>
        <p:spPr>
          <a:xfrm>
            <a:off x="777240" y="1673352"/>
            <a:ext cx="10607040" cy="905256"/>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Analyze why the Populist movement ultimately failed but influenced later Progressive reforms.</a:t>
            </a:r>
            <a:endParaRPr lang="en-US" sz="1600" dirty="0"/>
          </a:p>
        </p:txBody>
      </p:sp>
      <p:sp>
        <p:nvSpPr>
          <p:cNvPr id="9" name="Shape 7"/>
          <p:cNvSpPr/>
          <p:nvPr/>
        </p:nvSpPr>
        <p:spPr>
          <a:xfrm>
            <a:off x="548640" y="2761488"/>
            <a:ext cx="11091672" cy="678942"/>
          </a:xfrm>
          <a:prstGeom prst="rect">
            <a:avLst/>
          </a:prstGeom>
          <a:solidFill>
            <a:srgbClr val="F7F5EF"/>
          </a:solidFill>
          <a:ln w="12700">
            <a:solidFill>
              <a:srgbClr val="D9D5C8"/>
            </a:solidFill>
            <a:prstDash val="solid"/>
          </a:ln>
        </p:spPr>
      </p:sp>
      <p:sp>
        <p:nvSpPr>
          <p:cNvPr id="10" name="Text 8"/>
          <p:cNvSpPr/>
          <p:nvPr/>
        </p:nvSpPr>
        <p:spPr>
          <a:xfrm>
            <a:off x="685800" y="276148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A</a:t>
            </a:r>
            <a:endParaRPr lang="en-US" sz="1700" dirty="0"/>
          </a:p>
        </p:txBody>
      </p:sp>
      <p:sp>
        <p:nvSpPr>
          <p:cNvPr id="11" name="Text 9"/>
          <p:cNvSpPr/>
          <p:nvPr/>
        </p:nvSpPr>
        <p:spPr>
          <a:xfrm>
            <a:off x="1325880" y="276148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Populism had no lasting influence, but contemporary accounts suggest a different explanation despite the fact that multiple contemporary sources contradict this, and this view has been largely revised by modern historical research</a:t>
            </a:r>
            <a:endParaRPr lang="en-US" sz="1350" dirty="0"/>
          </a:p>
        </p:txBody>
      </p:sp>
      <p:sp>
        <p:nvSpPr>
          <p:cNvPr id="12" name="Shape 10"/>
          <p:cNvSpPr/>
          <p:nvPr/>
        </p:nvSpPr>
        <p:spPr>
          <a:xfrm>
            <a:off x="548640" y="3550158"/>
            <a:ext cx="11091672" cy="678942"/>
          </a:xfrm>
          <a:prstGeom prst="rect">
            <a:avLst/>
          </a:prstGeom>
          <a:solidFill>
            <a:srgbClr val="F7F5EF"/>
          </a:solidFill>
          <a:ln w="12700">
            <a:solidFill>
              <a:srgbClr val="D9D5C8"/>
            </a:solidFill>
            <a:prstDash val="solid"/>
          </a:ln>
        </p:spPr>
      </p:sp>
      <p:sp>
        <p:nvSpPr>
          <p:cNvPr id="13" name="Text 11"/>
          <p:cNvSpPr/>
          <p:nvPr/>
        </p:nvSpPr>
        <p:spPr>
          <a:xfrm>
            <a:off x="685800" y="355015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B</a:t>
            </a:r>
            <a:endParaRPr lang="en-US" sz="1700" dirty="0"/>
          </a:p>
        </p:txBody>
      </p:sp>
      <p:sp>
        <p:nvSpPr>
          <p:cNvPr id="14" name="Text 12"/>
          <p:cNvSpPr/>
          <p:nvPr/>
        </p:nvSpPr>
        <p:spPr>
          <a:xfrm>
            <a:off x="1325880" y="355015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Populism succeeded in all its goals immediately, although historical sources do not support this conclusion, but contemporary accounts and primary sources suggest otherwise and fails to account for key developments in the broader context</a:t>
            </a:r>
            <a:endParaRPr lang="en-US" sz="1350" dirty="0"/>
          </a:p>
        </p:txBody>
      </p:sp>
      <p:sp>
        <p:nvSpPr>
          <p:cNvPr id="15" name="Shape 13"/>
          <p:cNvSpPr/>
          <p:nvPr/>
        </p:nvSpPr>
        <p:spPr>
          <a:xfrm>
            <a:off x="548640" y="4338828"/>
            <a:ext cx="11091672" cy="678942"/>
          </a:xfrm>
          <a:prstGeom prst="rect">
            <a:avLst/>
          </a:prstGeom>
          <a:solidFill>
            <a:srgbClr val="F7F5EF"/>
          </a:solidFill>
          <a:ln w="12700">
            <a:solidFill>
              <a:srgbClr val="D9D5C8"/>
            </a:solidFill>
            <a:prstDash val="solid"/>
          </a:ln>
        </p:spPr>
      </p:sp>
      <p:sp>
        <p:nvSpPr>
          <p:cNvPr id="16" name="Text 14"/>
          <p:cNvSpPr/>
          <p:nvPr/>
        </p:nvSpPr>
        <p:spPr>
          <a:xfrm>
            <a:off x="685800" y="433882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C</a:t>
            </a:r>
            <a:endParaRPr lang="en-US" sz="1700" dirty="0"/>
          </a:p>
        </p:txBody>
      </p:sp>
      <p:sp>
        <p:nvSpPr>
          <p:cNvPr id="17" name="Text 15"/>
          <p:cNvSpPr/>
          <p:nvPr/>
        </p:nvSpPr>
        <p:spPr>
          <a:xfrm>
            <a:off x="1325880" y="433882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The movement failed electorally when Bryan lost in 1896, but its ideas—income tax, direct election of senators, railroad regulation—were adopted by Progressives, showing how failed movements can shape future reform</a:t>
            </a:r>
            <a:endParaRPr lang="en-US" sz="1350" dirty="0"/>
          </a:p>
        </p:txBody>
      </p:sp>
      <p:sp>
        <p:nvSpPr>
          <p:cNvPr id="18" name="Shape 16"/>
          <p:cNvSpPr/>
          <p:nvPr/>
        </p:nvSpPr>
        <p:spPr>
          <a:xfrm>
            <a:off x="548640" y="5127498"/>
            <a:ext cx="11091672" cy="678942"/>
          </a:xfrm>
          <a:prstGeom prst="rect">
            <a:avLst/>
          </a:prstGeom>
          <a:solidFill>
            <a:srgbClr val="F7F5EF"/>
          </a:solidFill>
          <a:ln w="12700">
            <a:solidFill>
              <a:srgbClr val="D9D5C8"/>
            </a:solidFill>
            <a:prstDash val="solid"/>
          </a:ln>
        </p:spPr>
      </p:sp>
      <p:sp>
        <p:nvSpPr>
          <p:cNvPr id="19" name="Text 17"/>
          <p:cNvSpPr/>
          <p:nvPr/>
        </p:nvSpPr>
        <p:spPr>
          <a:xfrm>
            <a:off x="685800" y="512749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D</a:t>
            </a:r>
            <a:endParaRPr lang="en-US" sz="1700" dirty="0"/>
          </a:p>
        </p:txBody>
      </p:sp>
      <p:sp>
        <p:nvSpPr>
          <p:cNvPr id="20" name="Text 18"/>
          <p:cNvSpPr/>
          <p:nvPr/>
        </p:nvSpPr>
        <p:spPr>
          <a:xfrm>
            <a:off x="1325880" y="512749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Progressive reforms were unrelated to Populism, although historical sources do not support this conclusion, which ignores significant political and cultural developments of the era, although historical sources do not support this conclusion</a:t>
            </a:r>
            <a:endParaRPr lang="en-US" sz="1350" dirty="0"/>
          </a:p>
        </p:txBody>
      </p:sp>
      <p:sp>
        <p:nvSpPr>
          <p:cNvPr id="21" name="Text 19"/>
          <p:cNvSpPr/>
          <p:nvPr/>
        </p:nvSpPr>
        <p:spPr>
          <a:xfrm>
            <a:off x="548640" y="6053328"/>
            <a:ext cx="11064240" cy="29260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Confidence:  </a:t>
            </a:r>
            <a:pPr indent="0" marL="0">
              <a:buNone/>
            </a:pPr>
            <a:r>
              <a:rPr lang="en-US" sz="1200" dirty="0">
                <a:solidFill>
                  <a:srgbClr val="E7EAF2"/>
                </a:solidFill>
                <a:latin typeface="Arial" pitchFamily="34" charset="0"/>
                <a:ea typeface="Arial" pitchFamily="34" charset="-122"/>
                <a:cs typeface="Arial" pitchFamily="34" charset="-120"/>
              </a:rPr>
              <a:t>😟 1     🙂 2     😀 3     — circle where you are; your teacher routes reteach or extension.</a:t>
            </a:r>
            <a:endParaRPr lang="en-US" sz="1200" dirty="0"/>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B22234"/>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PROGRESS CHECK</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US.11</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TroopToTeacher Technologies LLC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9</a:t>
            </a:r>
            <a:endParaRPr lang="en-US" sz="900" dirty="0"/>
          </a:p>
        </p:txBody>
      </p:sp>
      <p:sp>
        <p:nvSpPr>
          <p:cNvPr id="6" name="Text 4"/>
          <p:cNvSpPr/>
          <p:nvPr/>
        </p:nvSpPr>
        <p:spPr>
          <a:xfrm>
            <a:off x="548640" y="914400"/>
            <a:ext cx="10515600" cy="502920"/>
          </a:xfrm>
          <a:prstGeom prst="rect">
            <a:avLst/>
          </a:prstGeom>
          <a:noFill/>
          <a:ln/>
        </p:spPr>
        <p:txBody>
          <a:bodyPr wrap="square" lIns="0" tIns="0" rIns="0" bIns="0" rtlCol="0" anchor="ctr"/>
          <a:lstStyle/>
          <a:p>
            <a:pPr indent="0" marL="0">
              <a:buNone/>
            </a:pPr>
            <a:r>
              <a:rPr lang="en-US" sz="2500" b="1" dirty="0">
                <a:solidFill>
                  <a:srgbClr val="FFFFFF"/>
                </a:solidFill>
                <a:latin typeface="Cambria" pitchFamily="34" charset="0"/>
                <a:ea typeface="Cambria" pitchFamily="34" charset="-122"/>
                <a:cs typeface="Cambria" pitchFamily="34" charset="-120"/>
              </a:rPr>
              <a:t>Check your understanding</a:t>
            </a:r>
            <a:endParaRPr lang="en-US" sz="2500" dirty="0"/>
          </a:p>
        </p:txBody>
      </p:sp>
      <p:sp>
        <p:nvSpPr>
          <p:cNvPr id="7" name="Shape 5"/>
          <p:cNvSpPr/>
          <p:nvPr/>
        </p:nvSpPr>
        <p:spPr>
          <a:xfrm>
            <a:off x="548640" y="1645920"/>
            <a:ext cx="11091672" cy="960120"/>
          </a:xfrm>
          <a:prstGeom prst="rect">
            <a:avLst/>
          </a:prstGeom>
          <a:solidFill>
            <a:srgbClr val="1E2C4C"/>
          </a:solidFill>
          <a:ln w="12700">
            <a:solidFill>
              <a:srgbClr val="C89B3C"/>
            </a:solidFill>
            <a:prstDash val="solid"/>
          </a:ln>
        </p:spPr>
      </p:sp>
      <p:sp>
        <p:nvSpPr>
          <p:cNvPr id="8" name="Text 6"/>
          <p:cNvSpPr/>
          <p:nvPr/>
        </p:nvSpPr>
        <p:spPr>
          <a:xfrm>
            <a:off x="777240" y="1673352"/>
            <a:ext cx="10607040" cy="905256"/>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Analyze why government and business leaders often opposed labor unions and used force to break strikes.</a:t>
            </a:r>
            <a:endParaRPr lang="en-US" sz="1600" dirty="0"/>
          </a:p>
        </p:txBody>
      </p:sp>
      <p:sp>
        <p:nvSpPr>
          <p:cNvPr id="9" name="Shape 7"/>
          <p:cNvSpPr/>
          <p:nvPr/>
        </p:nvSpPr>
        <p:spPr>
          <a:xfrm>
            <a:off x="548640" y="2761488"/>
            <a:ext cx="11091672" cy="678942"/>
          </a:xfrm>
          <a:prstGeom prst="rect">
            <a:avLst/>
          </a:prstGeom>
          <a:solidFill>
            <a:srgbClr val="F7F5EF"/>
          </a:solidFill>
          <a:ln w="12700">
            <a:solidFill>
              <a:srgbClr val="D9D5C8"/>
            </a:solidFill>
            <a:prstDash val="solid"/>
          </a:ln>
        </p:spPr>
      </p:sp>
      <p:sp>
        <p:nvSpPr>
          <p:cNvPr id="10" name="Text 8"/>
          <p:cNvSpPr/>
          <p:nvPr/>
        </p:nvSpPr>
        <p:spPr>
          <a:xfrm>
            <a:off x="685800" y="276148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A</a:t>
            </a:r>
            <a:endParaRPr lang="en-US" sz="1700" dirty="0"/>
          </a:p>
        </p:txBody>
      </p:sp>
      <p:sp>
        <p:nvSpPr>
          <p:cNvPr id="11" name="Text 9"/>
          <p:cNvSpPr/>
          <p:nvPr/>
        </p:nvSpPr>
        <p:spPr>
          <a:xfrm>
            <a:off x="1325880" y="276148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Business and government supported all union activities, but this fails to account for the broader historical context, which does not align with the documented historical record, but contemporary accounts and primary sources suggest otherwise</a:t>
            </a:r>
            <a:endParaRPr lang="en-US" sz="1350" dirty="0"/>
          </a:p>
        </p:txBody>
      </p:sp>
      <p:sp>
        <p:nvSpPr>
          <p:cNvPr id="12" name="Shape 10"/>
          <p:cNvSpPr/>
          <p:nvPr/>
        </p:nvSpPr>
        <p:spPr>
          <a:xfrm>
            <a:off x="548640" y="3550158"/>
            <a:ext cx="11091672" cy="678942"/>
          </a:xfrm>
          <a:prstGeom prst="rect">
            <a:avLst/>
          </a:prstGeom>
          <a:solidFill>
            <a:srgbClr val="F7F5EF"/>
          </a:solidFill>
          <a:ln w="12700">
            <a:solidFill>
              <a:srgbClr val="D9D5C8"/>
            </a:solidFill>
            <a:prstDash val="solid"/>
          </a:ln>
        </p:spPr>
      </p:sp>
      <p:sp>
        <p:nvSpPr>
          <p:cNvPr id="13" name="Text 11"/>
          <p:cNvSpPr/>
          <p:nvPr/>
        </p:nvSpPr>
        <p:spPr>
          <a:xfrm>
            <a:off x="685800" y="355015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B</a:t>
            </a:r>
            <a:endParaRPr lang="en-US" sz="1700" dirty="0"/>
          </a:p>
        </p:txBody>
      </p:sp>
      <p:sp>
        <p:nvSpPr>
          <p:cNvPr id="14" name="Text 12"/>
          <p:cNvSpPr/>
          <p:nvPr/>
        </p:nvSpPr>
        <p:spPr>
          <a:xfrm>
            <a:off x="1325880" y="355015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Government remained neutral in all labor disputes, but the historical record tells a more complex story, although this overlooks critical economic and social factors involved, which represents a common misconception about this historical period</a:t>
            </a:r>
            <a:endParaRPr lang="en-US" sz="1350" dirty="0"/>
          </a:p>
        </p:txBody>
      </p:sp>
      <p:sp>
        <p:nvSpPr>
          <p:cNvPr id="15" name="Shape 13"/>
          <p:cNvSpPr/>
          <p:nvPr/>
        </p:nvSpPr>
        <p:spPr>
          <a:xfrm>
            <a:off x="548640" y="4338828"/>
            <a:ext cx="11091672" cy="678942"/>
          </a:xfrm>
          <a:prstGeom prst="rect">
            <a:avLst/>
          </a:prstGeom>
          <a:solidFill>
            <a:srgbClr val="F7F5EF"/>
          </a:solidFill>
          <a:ln w="12700">
            <a:solidFill>
              <a:srgbClr val="D9D5C8"/>
            </a:solidFill>
            <a:prstDash val="solid"/>
          </a:ln>
        </p:spPr>
      </p:sp>
      <p:sp>
        <p:nvSpPr>
          <p:cNvPr id="16" name="Text 14"/>
          <p:cNvSpPr/>
          <p:nvPr/>
        </p:nvSpPr>
        <p:spPr>
          <a:xfrm>
            <a:off x="685800" y="433882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C</a:t>
            </a:r>
            <a:endParaRPr lang="en-US" sz="1700" dirty="0"/>
          </a:p>
        </p:txBody>
      </p:sp>
      <p:sp>
        <p:nvSpPr>
          <p:cNvPr id="17" name="Text 15"/>
          <p:cNvSpPr/>
          <p:nvPr/>
        </p:nvSpPr>
        <p:spPr>
          <a:xfrm>
            <a:off x="1325880" y="433882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Unions never faced any opposition, despite the fact that multiple sources contradict this view despite the fact that multiple contemporary sources contradict this, although historical sources do not support this conclusion</a:t>
            </a:r>
            <a:endParaRPr lang="en-US" sz="1350" dirty="0"/>
          </a:p>
        </p:txBody>
      </p:sp>
      <p:sp>
        <p:nvSpPr>
          <p:cNvPr id="18" name="Shape 16"/>
          <p:cNvSpPr/>
          <p:nvPr/>
        </p:nvSpPr>
        <p:spPr>
          <a:xfrm>
            <a:off x="548640" y="5127498"/>
            <a:ext cx="11091672" cy="678942"/>
          </a:xfrm>
          <a:prstGeom prst="rect">
            <a:avLst/>
          </a:prstGeom>
          <a:solidFill>
            <a:srgbClr val="F7F5EF"/>
          </a:solidFill>
          <a:ln w="12700">
            <a:solidFill>
              <a:srgbClr val="D9D5C8"/>
            </a:solidFill>
            <a:prstDash val="solid"/>
          </a:ln>
        </p:spPr>
      </p:sp>
      <p:sp>
        <p:nvSpPr>
          <p:cNvPr id="19" name="Text 17"/>
          <p:cNvSpPr/>
          <p:nvPr/>
        </p:nvSpPr>
        <p:spPr>
          <a:xfrm>
            <a:off x="685800" y="512749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D</a:t>
            </a:r>
            <a:endParaRPr lang="en-US" sz="1700" dirty="0"/>
          </a:p>
        </p:txBody>
      </p:sp>
      <p:sp>
        <p:nvSpPr>
          <p:cNvPr id="20" name="Text 18"/>
          <p:cNvSpPr/>
          <p:nvPr/>
        </p:nvSpPr>
        <p:spPr>
          <a:xfrm>
            <a:off x="1325880" y="512749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Unions threatened corporate profits and control, so owners used strikebreakers and private security while government deployed troops and injunctions, viewing organized labor as dangerous to economic and social order</a:t>
            </a:r>
            <a:endParaRPr lang="en-US" sz="1350" dirty="0"/>
          </a:p>
        </p:txBody>
      </p:sp>
      <p:sp>
        <p:nvSpPr>
          <p:cNvPr id="21" name="Text 19"/>
          <p:cNvSpPr/>
          <p:nvPr/>
        </p:nvSpPr>
        <p:spPr>
          <a:xfrm>
            <a:off x="548640" y="6053328"/>
            <a:ext cx="11064240" cy="29260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Confidence:  </a:t>
            </a:r>
            <a:pPr indent="0" marL="0">
              <a:buNone/>
            </a:pPr>
            <a:r>
              <a:rPr lang="en-US" sz="1200" dirty="0">
                <a:solidFill>
                  <a:srgbClr val="E7EAF2"/>
                </a:solidFill>
                <a:latin typeface="Arial" pitchFamily="34" charset="0"/>
                <a:ea typeface="Arial" pitchFamily="34" charset="-122"/>
                <a:cs typeface="Arial" pitchFamily="34" charset="-120"/>
              </a:rPr>
              <a:t>😟 1     🙂 2     😀 3     — circle where you are; your teacher routes reteach or extension.</a:t>
            </a:r>
            <a:endParaRPr lang="en-US" sz="1200" dirty="0"/>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B22234"/>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PROGRESS CHECK</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US.12</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TroopToTeacher Technologies LLC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11</a:t>
            </a:r>
            <a:endParaRPr lang="en-US" sz="900" dirty="0"/>
          </a:p>
        </p:txBody>
      </p:sp>
      <p:sp>
        <p:nvSpPr>
          <p:cNvPr id="6" name="Text 4"/>
          <p:cNvSpPr/>
          <p:nvPr/>
        </p:nvSpPr>
        <p:spPr>
          <a:xfrm>
            <a:off x="548640" y="914400"/>
            <a:ext cx="10515600" cy="502920"/>
          </a:xfrm>
          <a:prstGeom prst="rect">
            <a:avLst/>
          </a:prstGeom>
          <a:noFill/>
          <a:ln/>
        </p:spPr>
        <p:txBody>
          <a:bodyPr wrap="square" lIns="0" tIns="0" rIns="0" bIns="0" rtlCol="0" anchor="ctr"/>
          <a:lstStyle/>
          <a:p>
            <a:pPr indent="0" marL="0">
              <a:buNone/>
            </a:pPr>
            <a:r>
              <a:rPr lang="en-US" sz="2500" b="1" dirty="0">
                <a:solidFill>
                  <a:srgbClr val="FFFFFF"/>
                </a:solidFill>
                <a:latin typeface="Cambria" pitchFamily="34" charset="0"/>
                <a:ea typeface="Cambria" pitchFamily="34" charset="-122"/>
                <a:cs typeface="Cambria" pitchFamily="34" charset="-120"/>
              </a:rPr>
              <a:t>Check your understanding</a:t>
            </a:r>
            <a:endParaRPr lang="en-US" sz="2500" dirty="0"/>
          </a:p>
        </p:txBody>
      </p:sp>
      <p:sp>
        <p:nvSpPr>
          <p:cNvPr id="7" name="Shape 5"/>
          <p:cNvSpPr/>
          <p:nvPr/>
        </p:nvSpPr>
        <p:spPr>
          <a:xfrm>
            <a:off x="548640" y="1645920"/>
            <a:ext cx="11091672" cy="960120"/>
          </a:xfrm>
          <a:prstGeom prst="rect">
            <a:avLst/>
          </a:prstGeom>
          <a:solidFill>
            <a:srgbClr val="1E2C4C"/>
          </a:solidFill>
          <a:ln w="12700">
            <a:solidFill>
              <a:srgbClr val="C89B3C"/>
            </a:solidFill>
            <a:prstDash val="solid"/>
          </a:ln>
        </p:spPr>
      </p:sp>
      <p:sp>
        <p:nvSpPr>
          <p:cNvPr id="8" name="Text 6"/>
          <p:cNvSpPr/>
          <p:nvPr/>
        </p:nvSpPr>
        <p:spPr>
          <a:xfrm>
            <a:off x="777240" y="1673352"/>
            <a:ext cx="10607040" cy="905256"/>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Evaluate whether the Clayton Antitrust Act of 1914 successfully addressed the limitations of earlier antitrust legislation.</a:t>
            </a:r>
            <a:endParaRPr lang="en-US" sz="1600" dirty="0"/>
          </a:p>
        </p:txBody>
      </p:sp>
      <p:sp>
        <p:nvSpPr>
          <p:cNvPr id="9" name="Shape 7"/>
          <p:cNvSpPr/>
          <p:nvPr/>
        </p:nvSpPr>
        <p:spPr>
          <a:xfrm>
            <a:off x="548640" y="2761488"/>
            <a:ext cx="11091672" cy="678942"/>
          </a:xfrm>
          <a:prstGeom prst="rect">
            <a:avLst/>
          </a:prstGeom>
          <a:solidFill>
            <a:srgbClr val="F7F5EF"/>
          </a:solidFill>
          <a:ln w="12700">
            <a:solidFill>
              <a:srgbClr val="D9D5C8"/>
            </a:solidFill>
            <a:prstDash val="solid"/>
          </a:ln>
        </p:spPr>
      </p:sp>
      <p:sp>
        <p:nvSpPr>
          <p:cNvPr id="10" name="Text 8"/>
          <p:cNvSpPr/>
          <p:nvPr/>
        </p:nvSpPr>
        <p:spPr>
          <a:xfrm>
            <a:off x="685800" y="276148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A</a:t>
            </a:r>
            <a:endParaRPr lang="en-US" sz="1700" dirty="0"/>
          </a:p>
        </p:txBody>
      </p:sp>
      <p:sp>
        <p:nvSpPr>
          <p:cNvPr id="11" name="Text 9"/>
          <p:cNvSpPr/>
          <p:nvPr/>
        </p:nvSpPr>
        <p:spPr>
          <a:xfrm>
            <a:off x="1325880" y="276148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By specifying illegal practices, exempting labor unions, and creating the FTC for enforcement, the Clayton Act improved antitrust effectiveness, though success still depended on political will to enforce it</a:t>
            </a:r>
            <a:endParaRPr lang="en-US" sz="1350" dirty="0"/>
          </a:p>
        </p:txBody>
      </p:sp>
      <p:sp>
        <p:nvSpPr>
          <p:cNvPr id="12" name="Shape 10"/>
          <p:cNvSpPr/>
          <p:nvPr/>
        </p:nvSpPr>
        <p:spPr>
          <a:xfrm>
            <a:off x="548640" y="3550158"/>
            <a:ext cx="11091672" cy="678942"/>
          </a:xfrm>
          <a:prstGeom prst="rect">
            <a:avLst/>
          </a:prstGeom>
          <a:solidFill>
            <a:srgbClr val="F7F5EF"/>
          </a:solidFill>
          <a:ln w="12700">
            <a:solidFill>
              <a:srgbClr val="D9D5C8"/>
            </a:solidFill>
            <a:prstDash val="solid"/>
          </a:ln>
        </p:spPr>
      </p:sp>
      <p:sp>
        <p:nvSpPr>
          <p:cNvPr id="13" name="Text 11"/>
          <p:cNvSpPr/>
          <p:nvPr/>
        </p:nvSpPr>
        <p:spPr>
          <a:xfrm>
            <a:off x="685800" y="355015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B</a:t>
            </a:r>
            <a:endParaRPr lang="en-US" sz="1700" dirty="0"/>
          </a:p>
        </p:txBody>
      </p:sp>
      <p:sp>
        <p:nvSpPr>
          <p:cNvPr id="14" name="Text 12"/>
          <p:cNvSpPr/>
          <p:nvPr/>
        </p:nvSpPr>
        <p:spPr>
          <a:xfrm>
            <a:off x="1325880" y="355015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The Clayton Act was identical to the Sherman Act, which represents a common misconception about the period and fails to account for key developments in the broader context, but contemporary accounts and primary sources suggest otherwise</a:t>
            </a:r>
            <a:endParaRPr lang="en-US" sz="1350" dirty="0"/>
          </a:p>
        </p:txBody>
      </p:sp>
      <p:sp>
        <p:nvSpPr>
          <p:cNvPr id="15" name="Shape 13"/>
          <p:cNvSpPr/>
          <p:nvPr/>
        </p:nvSpPr>
        <p:spPr>
          <a:xfrm>
            <a:off x="548640" y="4338828"/>
            <a:ext cx="11091672" cy="678942"/>
          </a:xfrm>
          <a:prstGeom prst="rect">
            <a:avLst/>
          </a:prstGeom>
          <a:solidFill>
            <a:srgbClr val="F7F5EF"/>
          </a:solidFill>
          <a:ln w="12700">
            <a:solidFill>
              <a:srgbClr val="D9D5C8"/>
            </a:solidFill>
            <a:prstDash val="solid"/>
          </a:ln>
        </p:spPr>
      </p:sp>
      <p:sp>
        <p:nvSpPr>
          <p:cNvPr id="16" name="Text 14"/>
          <p:cNvSpPr/>
          <p:nvPr/>
        </p:nvSpPr>
        <p:spPr>
          <a:xfrm>
            <a:off x="685800" y="433882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C</a:t>
            </a:r>
            <a:endParaRPr lang="en-US" sz="1700" dirty="0"/>
          </a:p>
        </p:txBody>
      </p:sp>
      <p:sp>
        <p:nvSpPr>
          <p:cNvPr id="17" name="Text 15"/>
          <p:cNvSpPr/>
          <p:nvPr/>
        </p:nvSpPr>
        <p:spPr>
          <a:xfrm>
            <a:off x="1325880" y="433882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The Clayton Act weakened antitrust enforcement, which represents a common misconception about the period, which represents a common misconception about this historical period and does not reflect the scholarly consensus on this topic</a:t>
            </a:r>
            <a:endParaRPr lang="en-US" sz="1350" dirty="0"/>
          </a:p>
        </p:txBody>
      </p:sp>
      <p:sp>
        <p:nvSpPr>
          <p:cNvPr id="18" name="Shape 16"/>
          <p:cNvSpPr/>
          <p:nvPr/>
        </p:nvSpPr>
        <p:spPr>
          <a:xfrm>
            <a:off x="548640" y="5127498"/>
            <a:ext cx="11091672" cy="678942"/>
          </a:xfrm>
          <a:prstGeom prst="rect">
            <a:avLst/>
          </a:prstGeom>
          <a:solidFill>
            <a:srgbClr val="F7F5EF"/>
          </a:solidFill>
          <a:ln w="12700">
            <a:solidFill>
              <a:srgbClr val="D9D5C8"/>
            </a:solidFill>
            <a:prstDash val="solid"/>
          </a:ln>
        </p:spPr>
      </p:sp>
      <p:sp>
        <p:nvSpPr>
          <p:cNvPr id="19" name="Text 17"/>
          <p:cNvSpPr/>
          <p:nvPr/>
        </p:nvSpPr>
        <p:spPr>
          <a:xfrm>
            <a:off x="685800" y="512749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D</a:t>
            </a:r>
            <a:endParaRPr lang="en-US" sz="1700" dirty="0"/>
          </a:p>
        </p:txBody>
      </p:sp>
      <p:sp>
        <p:nvSpPr>
          <p:cNvPr id="20" name="Text 18"/>
          <p:cNvSpPr/>
          <p:nvPr/>
        </p:nvSpPr>
        <p:spPr>
          <a:xfrm>
            <a:off x="1325880" y="512749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Antitrust laws had no impact on business practices, but the historical record tells a more complex story, and this view has been largely revised by modern historical research, but the historical evidence paints a more nuanced picture</a:t>
            </a:r>
            <a:endParaRPr lang="en-US" sz="1350" dirty="0"/>
          </a:p>
        </p:txBody>
      </p:sp>
      <p:sp>
        <p:nvSpPr>
          <p:cNvPr id="21" name="Text 19"/>
          <p:cNvSpPr/>
          <p:nvPr/>
        </p:nvSpPr>
        <p:spPr>
          <a:xfrm>
            <a:off x="548640" y="6053328"/>
            <a:ext cx="11064240" cy="29260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Confidence:  </a:t>
            </a:r>
            <a:pPr indent="0" marL="0">
              <a:buNone/>
            </a:pPr>
            <a:r>
              <a:rPr lang="en-US" sz="1200" dirty="0">
                <a:solidFill>
                  <a:srgbClr val="E7EAF2"/>
                </a:solidFill>
                <a:latin typeface="Arial" pitchFamily="34" charset="0"/>
                <a:ea typeface="Arial" pitchFamily="34" charset="-122"/>
                <a:cs typeface="Arial" pitchFamily="34" charset="-120"/>
              </a:rPr>
              <a:t>😟 1     🙂 2     😀 3     — circle where you are; your teacher routes reteach or extension.</a:t>
            </a:r>
            <a:endParaRPr lang="en-US" sz="1200" dirty="0"/>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B22234"/>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PROGRESS CHECK</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US.13</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TroopToTeacher Technologies LLC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13</a:t>
            </a:r>
            <a:endParaRPr lang="en-US" sz="900" dirty="0"/>
          </a:p>
        </p:txBody>
      </p:sp>
      <p:sp>
        <p:nvSpPr>
          <p:cNvPr id="6" name="Text 4"/>
          <p:cNvSpPr/>
          <p:nvPr/>
        </p:nvSpPr>
        <p:spPr>
          <a:xfrm>
            <a:off x="548640" y="914400"/>
            <a:ext cx="10515600" cy="502920"/>
          </a:xfrm>
          <a:prstGeom prst="rect">
            <a:avLst/>
          </a:prstGeom>
          <a:noFill/>
          <a:ln/>
        </p:spPr>
        <p:txBody>
          <a:bodyPr wrap="square" lIns="0" tIns="0" rIns="0" bIns="0" rtlCol="0" anchor="ctr"/>
          <a:lstStyle/>
          <a:p>
            <a:pPr indent="0" marL="0">
              <a:buNone/>
            </a:pPr>
            <a:r>
              <a:rPr lang="en-US" sz="2500" b="1" dirty="0">
                <a:solidFill>
                  <a:srgbClr val="FFFFFF"/>
                </a:solidFill>
                <a:latin typeface="Cambria" pitchFamily="34" charset="0"/>
                <a:ea typeface="Cambria" pitchFamily="34" charset="-122"/>
                <a:cs typeface="Cambria" pitchFamily="34" charset="-120"/>
              </a:rPr>
              <a:t>Check your understanding</a:t>
            </a:r>
            <a:endParaRPr lang="en-US" sz="2500" dirty="0"/>
          </a:p>
        </p:txBody>
      </p:sp>
      <p:sp>
        <p:nvSpPr>
          <p:cNvPr id="7" name="Shape 5"/>
          <p:cNvSpPr/>
          <p:nvPr/>
        </p:nvSpPr>
        <p:spPr>
          <a:xfrm>
            <a:off x="548640" y="1645920"/>
            <a:ext cx="11091672" cy="960120"/>
          </a:xfrm>
          <a:prstGeom prst="rect">
            <a:avLst/>
          </a:prstGeom>
          <a:solidFill>
            <a:srgbClr val="1E2C4C"/>
          </a:solidFill>
          <a:ln w="12700">
            <a:solidFill>
              <a:srgbClr val="C89B3C"/>
            </a:solidFill>
            <a:prstDash val="solid"/>
          </a:ln>
        </p:spPr>
      </p:sp>
      <p:sp>
        <p:nvSpPr>
          <p:cNvPr id="8" name="Text 6"/>
          <p:cNvSpPr/>
          <p:nvPr/>
        </p:nvSpPr>
        <p:spPr>
          <a:xfrm>
            <a:off x="777240" y="1673352"/>
            <a:ext cx="10607040" cy="905256"/>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Analyze how tragedies like the Triangle Shirtwaist Factory Fire led to workplace safety reforms.</a:t>
            </a:r>
            <a:endParaRPr lang="en-US" sz="1600" dirty="0"/>
          </a:p>
        </p:txBody>
      </p:sp>
      <p:sp>
        <p:nvSpPr>
          <p:cNvPr id="9" name="Shape 7"/>
          <p:cNvSpPr/>
          <p:nvPr/>
        </p:nvSpPr>
        <p:spPr>
          <a:xfrm>
            <a:off x="548640" y="2761488"/>
            <a:ext cx="11091672" cy="678942"/>
          </a:xfrm>
          <a:prstGeom prst="rect">
            <a:avLst/>
          </a:prstGeom>
          <a:solidFill>
            <a:srgbClr val="F7F5EF"/>
          </a:solidFill>
          <a:ln w="12700">
            <a:solidFill>
              <a:srgbClr val="D9D5C8"/>
            </a:solidFill>
            <a:prstDash val="solid"/>
          </a:ln>
        </p:spPr>
      </p:sp>
      <p:sp>
        <p:nvSpPr>
          <p:cNvPr id="10" name="Text 8"/>
          <p:cNvSpPr/>
          <p:nvPr/>
        </p:nvSpPr>
        <p:spPr>
          <a:xfrm>
            <a:off x="685800" y="276148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A</a:t>
            </a:r>
            <a:endParaRPr lang="en-US" sz="1700" dirty="0"/>
          </a:p>
        </p:txBody>
      </p:sp>
      <p:sp>
        <p:nvSpPr>
          <p:cNvPr id="11" name="Text 9"/>
          <p:cNvSpPr/>
          <p:nvPr/>
        </p:nvSpPr>
        <p:spPr>
          <a:xfrm>
            <a:off x="1325880" y="276148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The fire had no impact on workplace safety, although this view has been largely discredited by scholars despite the fact that multiple contemporary sources contradict this</a:t>
            </a:r>
            <a:endParaRPr lang="en-US" sz="1350" dirty="0"/>
          </a:p>
        </p:txBody>
      </p:sp>
      <p:sp>
        <p:nvSpPr>
          <p:cNvPr id="12" name="Shape 10"/>
          <p:cNvSpPr/>
          <p:nvPr/>
        </p:nvSpPr>
        <p:spPr>
          <a:xfrm>
            <a:off x="548640" y="3550158"/>
            <a:ext cx="11091672" cy="678942"/>
          </a:xfrm>
          <a:prstGeom prst="rect">
            <a:avLst/>
          </a:prstGeom>
          <a:solidFill>
            <a:srgbClr val="F7F5EF"/>
          </a:solidFill>
          <a:ln w="12700">
            <a:solidFill>
              <a:srgbClr val="D9D5C8"/>
            </a:solidFill>
            <a:prstDash val="solid"/>
          </a:ln>
        </p:spPr>
      </p:sp>
      <p:sp>
        <p:nvSpPr>
          <p:cNvPr id="13" name="Text 11"/>
          <p:cNvSpPr/>
          <p:nvPr/>
        </p:nvSpPr>
        <p:spPr>
          <a:xfrm>
            <a:off x="685800" y="355015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B</a:t>
            </a:r>
            <a:endParaRPr lang="en-US" sz="1700" dirty="0"/>
          </a:p>
        </p:txBody>
      </p:sp>
      <p:sp>
        <p:nvSpPr>
          <p:cNvPr id="14" name="Text 12"/>
          <p:cNvSpPr/>
          <p:nvPr/>
        </p:nvSpPr>
        <p:spPr>
          <a:xfrm>
            <a:off x="1325880" y="355015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The deaths of 146 workers from locked exits, inadequate fire safety, and collapsed fire escapes shocked the public and led to fire codes, factory inspections, and workers' compensation laws</a:t>
            </a:r>
            <a:endParaRPr lang="en-US" sz="1350" dirty="0"/>
          </a:p>
        </p:txBody>
      </p:sp>
      <p:sp>
        <p:nvSpPr>
          <p:cNvPr id="15" name="Shape 13"/>
          <p:cNvSpPr/>
          <p:nvPr/>
        </p:nvSpPr>
        <p:spPr>
          <a:xfrm>
            <a:off x="548640" y="4338828"/>
            <a:ext cx="11091672" cy="678942"/>
          </a:xfrm>
          <a:prstGeom prst="rect">
            <a:avLst/>
          </a:prstGeom>
          <a:solidFill>
            <a:srgbClr val="F7F5EF"/>
          </a:solidFill>
          <a:ln w="12700">
            <a:solidFill>
              <a:srgbClr val="D9D5C8"/>
            </a:solidFill>
            <a:prstDash val="solid"/>
          </a:ln>
        </p:spPr>
      </p:sp>
      <p:sp>
        <p:nvSpPr>
          <p:cNvPr id="16" name="Text 14"/>
          <p:cNvSpPr/>
          <p:nvPr/>
        </p:nvSpPr>
        <p:spPr>
          <a:xfrm>
            <a:off x="685800" y="433882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C</a:t>
            </a:r>
            <a:endParaRPr lang="en-US" sz="1700" dirty="0"/>
          </a:p>
        </p:txBody>
      </p:sp>
      <p:sp>
        <p:nvSpPr>
          <p:cNvPr id="17" name="Text 15"/>
          <p:cNvSpPr/>
          <p:nvPr/>
        </p:nvSpPr>
        <p:spPr>
          <a:xfrm>
            <a:off x="1325880" y="433882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Workplace safety was already adequate before the fire, but contemporary accounts suggest a different explanation, which represents a common misconception about this historical period</a:t>
            </a:r>
            <a:endParaRPr lang="en-US" sz="1350" dirty="0"/>
          </a:p>
        </p:txBody>
      </p:sp>
      <p:sp>
        <p:nvSpPr>
          <p:cNvPr id="18" name="Shape 16"/>
          <p:cNvSpPr/>
          <p:nvPr/>
        </p:nvSpPr>
        <p:spPr>
          <a:xfrm>
            <a:off x="548640" y="5127498"/>
            <a:ext cx="11091672" cy="678942"/>
          </a:xfrm>
          <a:prstGeom prst="rect">
            <a:avLst/>
          </a:prstGeom>
          <a:solidFill>
            <a:srgbClr val="F7F5EF"/>
          </a:solidFill>
          <a:ln w="12700">
            <a:solidFill>
              <a:srgbClr val="D9D5C8"/>
            </a:solidFill>
            <a:prstDash val="solid"/>
          </a:ln>
        </p:spPr>
      </p:sp>
      <p:sp>
        <p:nvSpPr>
          <p:cNvPr id="19" name="Text 17"/>
          <p:cNvSpPr/>
          <p:nvPr/>
        </p:nvSpPr>
        <p:spPr>
          <a:xfrm>
            <a:off x="685800" y="512749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D</a:t>
            </a:r>
            <a:endParaRPr lang="en-US" sz="1700" dirty="0"/>
          </a:p>
        </p:txBody>
      </p:sp>
      <p:sp>
        <p:nvSpPr>
          <p:cNvPr id="20" name="Text 18"/>
          <p:cNvSpPr/>
          <p:nvPr/>
        </p:nvSpPr>
        <p:spPr>
          <a:xfrm>
            <a:off x="1325880" y="512749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Reforms only affected the garment industry, despite limited evidence supporting this interpretation, although historical sources do not support this conclusion</a:t>
            </a:r>
            <a:endParaRPr lang="en-US" sz="1350" dirty="0"/>
          </a:p>
        </p:txBody>
      </p:sp>
      <p:sp>
        <p:nvSpPr>
          <p:cNvPr id="21" name="Text 19"/>
          <p:cNvSpPr/>
          <p:nvPr/>
        </p:nvSpPr>
        <p:spPr>
          <a:xfrm>
            <a:off x="548640" y="6053328"/>
            <a:ext cx="11064240" cy="29260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Confidence:  </a:t>
            </a:r>
            <a:pPr indent="0" marL="0">
              <a:buNone/>
            </a:pPr>
            <a:r>
              <a:rPr lang="en-US" sz="1200" dirty="0">
                <a:solidFill>
                  <a:srgbClr val="E7EAF2"/>
                </a:solidFill>
                <a:latin typeface="Arial" pitchFamily="34" charset="0"/>
                <a:ea typeface="Arial" pitchFamily="34" charset="-122"/>
                <a:cs typeface="Arial" pitchFamily="34" charset="-120"/>
              </a:rPr>
              <a:t>😟 1     🙂 2     😀 3     — circle where you are; your teacher routes reteach or extension.</a:t>
            </a:r>
            <a:endParaRPr lang="en-US" sz="1200" dirty="0"/>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B22234"/>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PROGRESS CHECK</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US.14</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TroopToTeacher Technologies LLC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15</a:t>
            </a:r>
            <a:endParaRPr lang="en-US" sz="900" dirty="0"/>
          </a:p>
        </p:txBody>
      </p:sp>
      <p:sp>
        <p:nvSpPr>
          <p:cNvPr id="6" name="Text 4"/>
          <p:cNvSpPr/>
          <p:nvPr/>
        </p:nvSpPr>
        <p:spPr>
          <a:xfrm>
            <a:off x="548640" y="914400"/>
            <a:ext cx="10515600" cy="502920"/>
          </a:xfrm>
          <a:prstGeom prst="rect">
            <a:avLst/>
          </a:prstGeom>
          <a:noFill/>
          <a:ln/>
        </p:spPr>
        <p:txBody>
          <a:bodyPr wrap="square" lIns="0" tIns="0" rIns="0" bIns="0" rtlCol="0" anchor="ctr"/>
          <a:lstStyle/>
          <a:p>
            <a:pPr indent="0" marL="0">
              <a:buNone/>
            </a:pPr>
            <a:r>
              <a:rPr lang="en-US" sz="2500" b="1" dirty="0">
                <a:solidFill>
                  <a:srgbClr val="FFFFFF"/>
                </a:solidFill>
                <a:latin typeface="Cambria" pitchFamily="34" charset="0"/>
                <a:ea typeface="Cambria" pitchFamily="34" charset="-122"/>
                <a:cs typeface="Cambria" pitchFamily="34" charset="-120"/>
              </a:rPr>
              <a:t>Check your understanding</a:t>
            </a:r>
            <a:endParaRPr lang="en-US" sz="2500" dirty="0"/>
          </a:p>
        </p:txBody>
      </p:sp>
      <p:sp>
        <p:nvSpPr>
          <p:cNvPr id="7" name="Shape 5"/>
          <p:cNvSpPr/>
          <p:nvPr/>
        </p:nvSpPr>
        <p:spPr>
          <a:xfrm>
            <a:off x="548640" y="1645920"/>
            <a:ext cx="11091672" cy="960120"/>
          </a:xfrm>
          <a:prstGeom prst="rect">
            <a:avLst/>
          </a:prstGeom>
          <a:solidFill>
            <a:srgbClr val="1E2C4C"/>
          </a:solidFill>
          <a:ln w="12700">
            <a:solidFill>
              <a:srgbClr val="C89B3C"/>
            </a:solidFill>
            <a:prstDash val="solid"/>
          </a:ln>
        </p:spPr>
      </p:sp>
      <p:sp>
        <p:nvSpPr>
          <p:cNvPr id="8" name="Text 6"/>
          <p:cNvSpPr/>
          <p:nvPr/>
        </p:nvSpPr>
        <p:spPr>
          <a:xfrm>
            <a:off x="777240" y="1673352"/>
            <a:ext cx="10607040" cy="905256"/>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Evaluate Theodore Roosevelt's complex relationship with muckrakers and his role in progressive reform.</a:t>
            </a:r>
            <a:endParaRPr lang="en-US" sz="1600" dirty="0"/>
          </a:p>
        </p:txBody>
      </p:sp>
      <p:sp>
        <p:nvSpPr>
          <p:cNvPr id="9" name="Shape 7"/>
          <p:cNvSpPr/>
          <p:nvPr/>
        </p:nvSpPr>
        <p:spPr>
          <a:xfrm>
            <a:off x="548640" y="2761488"/>
            <a:ext cx="11091672" cy="678942"/>
          </a:xfrm>
          <a:prstGeom prst="rect">
            <a:avLst/>
          </a:prstGeom>
          <a:solidFill>
            <a:srgbClr val="F7F5EF"/>
          </a:solidFill>
          <a:ln w="12700">
            <a:solidFill>
              <a:srgbClr val="D9D5C8"/>
            </a:solidFill>
            <a:prstDash val="solid"/>
          </a:ln>
        </p:spPr>
      </p:sp>
      <p:sp>
        <p:nvSpPr>
          <p:cNvPr id="10" name="Text 8"/>
          <p:cNvSpPr/>
          <p:nvPr/>
        </p:nvSpPr>
        <p:spPr>
          <a:xfrm>
            <a:off x="685800" y="276148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A</a:t>
            </a:r>
            <a:endParaRPr lang="en-US" sz="1700" dirty="0"/>
          </a:p>
        </p:txBody>
      </p:sp>
      <p:sp>
        <p:nvSpPr>
          <p:cNvPr id="11" name="Text 9"/>
          <p:cNvSpPr/>
          <p:nvPr/>
        </p:nvSpPr>
        <p:spPr>
          <a:xfrm>
            <a:off x="1325880" y="276148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Roosevelt completely supported all muckrakers, which does not reflect the consensus among historians, which does not align with the documented historical record and fails to account for key developments in the broader context</a:t>
            </a:r>
            <a:endParaRPr lang="en-US" sz="1350" dirty="0"/>
          </a:p>
        </p:txBody>
      </p:sp>
      <p:sp>
        <p:nvSpPr>
          <p:cNvPr id="12" name="Shape 10"/>
          <p:cNvSpPr/>
          <p:nvPr/>
        </p:nvSpPr>
        <p:spPr>
          <a:xfrm>
            <a:off x="548640" y="3550158"/>
            <a:ext cx="11091672" cy="678942"/>
          </a:xfrm>
          <a:prstGeom prst="rect">
            <a:avLst/>
          </a:prstGeom>
          <a:solidFill>
            <a:srgbClr val="F7F5EF"/>
          </a:solidFill>
          <a:ln w="12700">
            <a:solidFill>
              <a:srgbClr val="D9D5C8"/>
            </a:solidFill>
            <a:prstDash val="solid"/>
          </a:ln>
        </p:spPr>
      </p:sp>
      <p:sp>
        <p:nvSpPr>
          <p:cNvPr id="13" name="Text 11"/>
          <p:cNvSpPr/>
          <p:nvPr/>
        </p:nvSpPr>
        <p:spPr>
          <a:xfrm>
            <a:off x="685800" y="355015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B</a:t>
            </a:r>
            <a:endParaRPr lang="en-US" sz="1700" dirty="0"/>
          </a:p>
        </p:txBody>
      </p:sp>
      <p:sp>
        <p:nvSpPr>
          <p:cNvPr id="14" name="Text 12"/>
          <p:cNvSpPr/>
          <p:nvPr/>
        </p:nvSpPr>
        <p:spPr>
          <a:xfrm>
            <a:off x="1325880" y="355015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Roosevelt opposed all muckraking journalism, which represents a common misconception about the period, although this overlooks critical economic and social factors involved, but the historical evidence paints a more nuanced picture</a:t>
            </a:r>
            <a:endParaRPr lang="en-US" sz="1350" dirty="0"/>
          </a:p>
        </p:txBody>
      </p:sp>
      <p:sp>
        <p:nvSpPr>
          <p:cNvPr id="15" name="Shape 13"/>
          <p:cNvSpPr/>
          <p:nvPr/>
        </p:nvSpPr>
        <p:spPr>
          <a:xfrm>
            <a:off x="548640" y="4338828"/>
            <a:ext cx="11091672" cy="678942"/>
          </a:xfrm>
          <a:prstGeom prst="rect">
            <a:avLst/>
          </a:prstGeom>
          <a:solidFill>
            <a:srgbClr val="F7F5EF"/>
          </a:solidFill>
          <a:ln w="12700">
            <a:solidFill>
              <a:srgbClr val="D9D5C8"/>
            </a:solidFill>
            <a:prstDash val="solid"/>
          </a:ln>
        </p:spPr>
      </p:sp>
      <p:sp>
        <p:nvSpPr>
          <p:cNvPr id="16" name="Text 14"/>
          <p:cNvSpPr/>
          <p:nvPr/>
        </p:nvSpPr>
        <p:spPr>
          <a:xfrm>
            <a:off x="685800" y="433882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C</a:t>
            </a:r>
            <a:endParaRPr lang="en-US" sz="1700" dirty="0"/>
          </a:p>
        </p:txBody>
      </p:sp>
      <p:sp>
        <p:nvSpPr>
          <p:cNvPr id="17" name="Text 15"/>
          <p:cNvSpPr/>
          <p:nvPr/>
        </p:nvSpPr>
        <p:spPr>
          <a:xfrm>
            <a:off x="1325880" y="433882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Roosevelt used muckraker exposés to build support for reforms like consumer protection and trust-busting, but also criticized excessive negativity—showing how reform leaders balance media pressure with political strategy</a:t>
            </a:r>
            <a:endParaRPr lang="en-US" sz="1350" dirty="0"/>
          </a:p>
        </p:txBody>
      </p:sp>
      <p:sp>
        <p:nvSpPr>
          <p:cNvPr id="18" name="Shape 16"/>
          <p:cNvSpPr/>
          <p:nvPr/>
        </p:nvSpPr>
        <p:spPr>
          <a:xfrm>
            <a:off x="548640" y="5127498"/>
            <a:ext cx="11091672" cy="678942"/>
          </a:xfrm>
          <a:prstGeom prst="rect">
            <a:avLst/>
          </a:prstGeom>
          <a:solidFill>
            <a:srgbClr val="F7F5EF"/>
          </a:solidFill>
          <a:ln w="12700">
            <a:solidFill>
              <a:srgbClr val="D9D5C8"/>
            </a:solidFill>
            <a:prstDash val="solid"/>
          </a:ln>
        </p:spPr>
      </p:sp>
      <p:sp>
        <p:nvSpPr>
          <p:cNvPr id="19" name="Text 17"/>
          <p:cNvSpPr/>
          <p:nvPr/>
        </p:nvSpPr>
        <p:spPr>
          <a:xfrm>
            <a:off x="685800" y="512749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D</a:t>
            </a:r>
            <a:endParaRPr lang="en-US" sz="1700" dirty="0"/>
          </a:p>
        </p:txBody>
      </p:sp>
      <p:sp>
        <p:nvSpPr>
          <p:cNvPr id="20" name="Text 18"/>
          <p:cNvSpPr/>
          <p:nvPr/>
        </p:nvSpPr>
        <p:spPr>
          <a:xfrm>
            <a:off x="1325880" y="512749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Muckrakers and Roosevelt had no connection, despite limited evidence supporting this interpretation, but closer analysis reveals a more complicated historical reality, which represents a common misconception about this historical period</a:t>
            </a:r>
            <a:endParaRPr lang="en-US" sz="1350" dirty="0"/>
          </a:p>
        </p:txBody>
      </p:sp>
      <p:sp>
        <p:nvSpPr>
          <p:cNvPr id="21" name="Text 19"/>
          <p:cNvSpPr/>
          <p:nvPr/>
        </p:nvSpPr>
        <p:spPr>
          <a:xfrm>
            <a:off x="548640" y="6053328"/>
            <a:ext cx="11064240" cy="29260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Confidence:  </a:t>
            </a:r>
            <a:pPr indent="0" marL="0">
              <a:buNone/>
            </a:pPr>
            <a:r>
              <a:rPr lang="en-US" sz="1200" dirty="0">
                <a:solidFill>
                  <a:srgbClr val="E7EAF2"/>
                </a:solidFill>
                <a:latin typeface="Arial" pitchFamily="34" charset="0"/>
                <a:ea typeface="Arial" pitchFamily="34" charset="-122"/>
                <a:cs typeface="Arial" pitchFamily="34" charset="-120"/>
              </a:rPr>
              <a:t>😟 1     🙂 2     😀 3     — circle where you are; your teacher routes reteach or extension.</a:t>
            </a:r>
            <a:endParaRPr lang="en-US" sz="1200" dirty="0"/>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B22234"/>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PROGRESS CHECK</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US.15</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TroopToTeacher Technologies LLC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17</a:t>
            </a:r>
            <a:endParaRPr lang="en-US" sz="900" dirty="0"/>
          </a:p>
        </p:txBody>
      </p:sp>
      <p:sp>
        <p:nvSpPr>
          <p:cNvPr id="6" name="Text 4"/>
          <p:cNvSpPr/>
          <p:nvPr/>
        </p:nvSpPr>
        <p:spPr>
          <a:xfrm>
            <a:off x="548640" y="914400"/>
            <a:ext cx="10515600" cy="502920"/>
          </a:xfrm>
          <a:prstGeom prst="rect">
            <a:avLst/>
          </a:prstGeom>
          <a:noFill/>
          <a:ln/>
        </p:spPr>
        <p:txBody>
          <a:bodyPr wrap="square" lIns="0" tIns="0" rIns="0" bIns="0" rtlCol="0" anchor="ctr"/>
          <a:lstStyle/>
          <a:p>
            <a:pPr indent="0" marL="0">
              <a:buNone/>
            </a:pPr>
            <a:r>
              <a:rPr lang="en-US" sz="2500" b="1" dirty="0">
                <a:solidFill>
                  <a:srgbClr val="FFFFFF"/>
                </a:solidFill>
                <a:latin typeface="Cambria" pitchFamily="34" charset="0"/>
                <a:ea typeface="Cambria" pitchFamily="34" charset="-122"/>
                <a:cs typeface="Cambria" pitchFamily="34" charset="-120"/>
              </a:rPr>
              <a:t>Check your understanding</a:t>
            </a:r>
            <a:endParaRPr lang="en-US" sz="2500" dirty="0"/>
          </a:p>
        </p:txBody>
      </p:sp>
      <p:sp>
        <p:nvSpPr>
          <p:cNvPr id="7" name="Shape 5"/>
          <p:cNvSpPr/>
          <p:nvPr/>
        </p:nvSpPr>
        <p:spPr>
          <a:xfrm>
            <a:off x="548640" y="1645920"/>
            <a:ext cx="11091672" cy="960120"/>
          </a:xfrm>
          <a:prstGeom prst="rect">
            <a:avLst/>
          </a:prstGeom>
          <a:solidFill>
            <a:srgbClr val="1E2C4C"/>
          </a:solidFill>
          <a:ln w="12700">
            <a:solidFill>
              <a:srgbClr val="C89B3C"/>
            </a:solidFill>
            <a:prstDash val="solid"/>
          </a:ln>
        </p:spPr>
      </p:sp>
      <p:sp>
        <p:nvSpPr>
          <p:cNvPr id="8" name="Text 6"/>
          <p:cNvSpPr/>
          <p:nvPr/>
        </p:nvSpPr>
        <p:spPr>
          <a:xfrm>
            <a:off x="777240" y="1673352"/>
            <a:ext cx="10607040" cy="905256"/>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Analyze which Progressive reforms had the most lasting impact on American democracy.</a:t>
            </a:r>
            <a:endParaRPr lang="en-US" sz="1600" dirty="0"/>
          </a:p>
        </p:txBody>
      </p:sp>
      <p:sp>
        <p:nvSpPr>
          <p:cNvPr id="9" name="Shape 7"/>
          <p:cNvSpPr/>
          <p:nvPr/>
        </p:nvSpPr>
        <p:spPr>
          <a:xfrm>
            <a:off x="548640" y="2761488"/>
            <a:ext cx="11091672" cy="678942"/>
          </a:xfrm>
          <a:prstGeom prst="rect">
            <a:avLst/>
          </a:prstGeom>
          <a:solidFill>
            <a:srgbClr val="F7F5EF"/>
          </a:solidFill>
          <a:ln w="12700">
            <a:solidFill>
              <a:srgbClr val="D9D5C8"/>
            </a:solidFill>
            <a:prstDash val="solid"/>
          </a:ln>
        </p:spPr>
      </p:sp>
      <p:sp>
        <p:nvSpPr>
          <p:cNvPr id="10" name="Text 8"/>
          <p:cNvSpPr/>
          <p:nvPr/>
        </p:nvSpPr>
        <p:spPr>
          <a:xfrm>
            <a:off x="685800" y="276148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A</a:t>
            </a:r>
            <a:endParaRPr lang="en-US" sz="1700" dirty="0"/>
          </a:p>
        </p:txBody>
      </p:sp>
      <p:sp>
        <p:nvSpPr>
          <p:cNvPr id="11" name="Text 9"/>
          <p:cNvSpPr/>
          <p:nvPr/>
        </p:nvSpPr>
        <p:spPr>
          <a:xfrm>
            <a:off x="1325880" y="276148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No Progressive reforms survived, which represents a common misconception about the period, which contradicts the primary source evidence from this era and fails to account for key developments in the broader context</a:t>
            </a:r>
            <a:endParaRPr lang="en-US" sz="1350" dirty="0"/>
          </a:p>
        </p:txBody>
      </p:sp>
      <p:sp>
        <p:nvSpPr>
          <p:cNvPr id="12" name="Shape 10"/>
          <p:cNvSpPr/>
          <p:nvPr/>
        </p:nvSpPr>
        <p:spPr>
          <a:xfrm>
            <a:off x="548640" y="3550158"/>
            <a:ext cx="11091672" cy="678942"/>
          </a:xfrm>
          <a:prstGeom prst="rect">
            <a:avLst/>
          </a:prstGeom>
          <a:solidFill>
            <a:srgbClr val="F7F5EF"/>
          </a:solidFill>
          <a:ln w="12700">
            <a:solidFill>
              <a:srgbClr val="D9D5C8"/>
            </a:solidFill>
            <a:prstDash val="solid"/>
          </a:ln>
        </p:spPr>
      </p:sp>
      <p:sp>
        <p:nvSpPr>
          <p:cNvPr id="13" name="Text 11"/>
          <p:cNvSpPr/>
          <p:nvPr/>
        </p:nvSpPr>
        <p:spPr>
          <a:xfrm>
            <a:off x="685800" y="355015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B</a:t>
            </a:r>
            <a:endParaRPr lang="en-US" sz="1700" dirty="0"/>
          </a:p>
        </p:txBody>
      </p:sp>
      <p:sp>
        <p:nvSpPr>
          <p:cNvPr id="14" name="Text 12"/>
          <p:cNvSpPr/>
          <p:nvPr/>
        </p:nvSpPr>
        <p:spPr>
          <a:xfrm>
            <a:off x="1325880" y="355015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Only Prohibition had lasting impact, although this view has been largely discredited by scholars and oversimplifies the complex factors at work during this period</a:t>
            </a:r>
            <a:endParaRPr lang="en-US" sz="1350" dirty="0"/>
          </a:p>
        </p:txBody>
      </p:sp>
      <p:sp>
        <p:nvSpPr>
          <p:cNvPr id="15" name="Shape 13"/>
          <p:cNvSpPr/>
          <p:nvPr/>
        </p:nvSpPr>
        <p:spPr>
          <a:xfrm>
            <a:off x="548640" y="4338828"/>
            <a:ext cx="11091672" cy="678942"/>
          </a:xfrm>
          <a:prstGeom prst="rect">
            <a:avLst/>
          </a:prstGeom>
          <a:solidFill>
            <a:srgbClr val="F7F5EF"/>
          </a:solidFill>
          <a:ln w="12700">
            <a:solidFill>
              <a:srgbClr val="D9D5C8"/>
            </a:solidFill>
            <a:prstDash val="solid"/>
          </a:ln>
        </p:spPr>
      </p:sp>
      <p:sp>
        <p:nvSpPr>
          <p:cNvPr id="16" name="Text 14"/>
          <p:cNvSpPr/>
          <p:nvPr/>
        </p:nvSpPr>
        <p:spPr>
          <a:xfrm>
            <a:off x="685800" y="433882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C</a:t>
            </a:r>
            <a:endParaRPr lang="en-US" sz="1700" dirty="0"/>
          </a:p>
        </p:txBody>
      </p:sp>
      <p:sp>
        <p:nvSpPr>
          <p:cNvPr id="17" name="Text 15"/>
          <p:cNvSpPr/>
          <p:nvPr/>
        </p:nvSpPr>
        <p:spPr>
          <a:xfrm>
            <a:off x="1325880" y="433882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Progressive reforms were all reversed, but this oversimplifies the complex factors at work when examined alongside the available primary and secondary sources</a:t>
            </a:r>
            <a:endParaRPr lang="en-US" sz="1350" dirty="0"/>
          </a:p>
        </p:txBody>
      </p:sp>
      <p:sp>
        <p:nvSpPr>
          <p:cNvPr id="18" name="Shape 16"/>
          <p:cNvSpPr/>
          <p:nvPr/>
        </p:nvSpPr>
        <p:spPr>
          <a:xfrm>
            <a:off x="548640" y="5127498"/>
            <a:ext cx="11091672" cy="678942"/>
          </a:xfrm>
          <a:prstGeom prst="rect">
            <a:avLst/>
          </a:prstGeom>
          <a:solidFill>
            <a:srgbClr val="F7F5EF"/>
          </a:solidFill>
          <a:ln w="12700">
            <a:solidFill>
              <a:srgbClr val="D9D5C8"/>
            </a:solidFill>
            <a:prstDash val="solid"/>
          </a:ln>
        </p:spPr>
      </p:sp>
      <p:sp>
        <p:nvSpPr>
          <p:cNvPr id="19" name="Text 17"/>
          <p:cNvSpPr/>
          <p:nvPr/>
        </p:nvSpPr>
        <p:spPr>
          <a:xfrm>
            <a:off x="685800" y="512749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D</a:t>
            </a:r>
            <a:endParaRPr lang="en-US" sz="1700" dirty="0"/>
          </a:p>
        </p:txBody>
      </p:sp>
      <p:sp>
        <p:nvSpPr>
          <p:cNvPr id="20" name="Text 18"/>
          <p:cNvSpPr/>
          <p:nvPr/>
        </p:nvSpPr>
        <p:spPr>
          <a:xfrm>
            <a:off x="1325880" y="512749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Direct primaries, direct election of senators, and the income tax fundamentally reshaped American politics and remain in effect, while Prohibition demonstrated that not all reforms succeed</a:t>
            </a:r>
            <a:endParaRPr lang="en-US" sz="1350" dirty="0"/>
          </a:p>
        </p:txBody>
      </p:sp>
      <p:sp>
        <p:nvSpPr>
          <p:cNvPr id="21" name="Text 19"/>
          <p:cNvSpPr/>
          <p:nvPr/>
        </p:nvSpPr>
        <p:spPr>
          <a:xfrm>
            <a:off x="548640" y="6053328"/>
            <a:ext cx="11064240" cy="29260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Confidence:  </a:t>
            </a:r>
            <a:pPr indent="0" marL="0">
              <a:buNone/>
            </a:pPr>
            <a:r>
              <a:rPr lang="en-US" sz="1200" dirty="0">
                <a:solidFill>
                  <a:srgbClr val="E7EAF2"/>
                </a:solidFill>
                <a:latin typeface="Arial" pitchFamily="34" charset="0"/>
                <a:ea typeface="Arial" pitchFamily="34" charset="-122"/>
                <a:cs typeface="Arial" pitchFamily="34" charset="-120"/>
              </a:rPr>
              <a:t>😟 1     🙂 2     😀 3     — circle where you are; your teacher routes reteach or extension.</a:t>
            </a:r>
            <a:endParaRPr lang="en-US" sz="1200" dirty="0"/>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B22234"/>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PROGRESS CHECK</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US.16</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TroopToTeacher Technologies LLC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19</a:t>
            </a:r>
            <a:endParaRPr lang="en-US" sz="900" dirty="0"/>
          </a:p>
        </p:txBody>
      </p:sp>
      <p:sp>
        <p:nvSpPr>
          <p:cNvPr id="6" name="Text 4"/>
          <p:cNvSpPr/>
          <p:nvPr/>
        </p:nvSpPr>
        <p:spPr>
          <a:xfrm>
            <a:off x="548640" y="914400"/>
            <a:ext cx="10515600" cy="502920"/>
          </a:xfrm>
          <a:prstGeom prst="rect">
            <a:avLst/>
          </a:prstGeom>
          <a:noFill/>
          <a:ln/>
        </p:spPr>
        <p:txBody>
          <a:bodyPr wrap="square" lIns="0" tIns="0" rIns="0" bIns="0" rtlCol="0" anchor="ctr"/>
          <a:lstStyle/>
          <a:p>
            <a:pPr indent="0" marL="0">
              <a:buNone/>
            </a:pPr>
            <a:r>
              <a:rPr lang="en-US" sz="2500" b="1" dirty="0">
                <a:solidFill>
                  <a:srgbClr val="FFFFFF"/>
                </a:solidFill>
                <a:latin typeface="Cambria" pitchFamily="34" charset="0"/>
                <a:ea typeface="Cambria" pitchFamily="34" charset="-122"/>
                <a:cs typeface="Cambria" pitchFamily="34" charset="-120"/>
              </a:rPr>
              <a:t>Check your understanding</a:t>
            </a:r>
            <a:endParaRPr lang="en-US" sz="2500" dirty="0"/>
          </a:p>
        </p:txBody>
      </p:sp>
      <p:sp>
        <p:nvSpPr>
          <p:cNvPr id="7" name="Shape 5"/>
          <p:cNvSpPr/>
          <p:nvPr/>
        </p:nvSpPr>
        <p:spPr>
          <a:xfrm>
            <a:off x="548640" y="1645920"/>
            <a:ext cx="11091672" cy="960120"/>
          </a:xfrm>
          <a:prstGeom prst="rect">
            <a:avLst/>
          </a:prstGeom>
          <a:solidFill>
            <a:srgbClr val="1E2C4C"/>
          </a:solidFill>
          <a:ln w="12700">
            <a:solidFill>
              <a:srgbClr val="C89B3C"/>
            </a:solidFill>
            <a:prstDash val="solid"/>
          </a:ln>
        </p:spPr>
      </p:sp>
      <p:sp>
        <p:nvSpPr>
          <p:cNvPr id="8" name="Text 6"/>
          <p:cNvSpPr/>
          <p:nvPr/>
        </p:nvSpPr>
        <p:spPr>
          <a:xfrm>
            <a:off x="777240" y="1673352"/>
            <a:ext cx="10607040" cy="905256"/>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Evaluate Roosevelt's conservation legacy and its impact on environmental policy.</a:t>
            </a:r>
            <a:endParaRPr lang="en-US" sz="1600" dirty="0"/>
          </a:p>
        </p:txBody>
      </p:sp>
      <p:sp>
        <p:nvSpPr>
          <p:cNvPr id="9" name="Shape 7"/>
          <p:cNvSpPr/>
          <p:nvPr/>
        </p:nvSpPr>
        <p:spPr>
          <a:xfrm>
            <a:off x="548640" y="2761488"/>
            <a:ext cx="11091672" cy="678942"/>
          </a:xfrm>
          <a:prstGeom prst="rect">
            <a:avLst/>
          </a:prstGeom>
          <a:solidFill>
            <a:srgbClr val="F7F5EF"/>
          </a:solidFill>
          <a:ln w="12700">
            <a:solidFill>
              <a:srgbClr val="D9D5C8"/>
            </a:solidFill>
            <a:prstDash val="solid"/>
          </a:ln>
        </p:spPr>
      </p:sp>
      <p:sp>
        <p:nvSpPr>
          <p:cNvPr id="10" name="Text 8"/>
          <p:cNvSpPr/>
          <p:nvPr/>
        </p:nvSpPr>
        <p:spPr>
          <a:xfrm>
            <a:off x="685800" y="276148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A</a:t>
            </a:r>
            <a:endParaRPr lang="en-US" sz="1700" dirty="0"/>
          </a:p>
        </p:txBody>
      </p:sp>
      <p:sp>
        <p:nvSpPr>
          <p:cNvPr id="11" name="Text 9"/>
          <p:cNvSpPr/>
          <p:nvPr/>
        </p:nvSpPr>
        <p:spPr>
          <a:xfrm>
            <a:off x="1325880" y="276148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By creating national parks, forests, and wildlife refuges while balancing development with preservation, Roosevelt established conservation as a federal responsibility with lasting impact on American environmental policy</a:t>
            </a:r>
            <a:endParaRPr lang="en-US" sz="1350" dirty="0"/>
          </a:p>
        </p:txBody>
      </p:sp>
      <p:sp>
        <p:nvSpPr>
          <p:cNvPr id="12" name="Shape 10"/>
          <p:cNvSpPr/>
          <p:nvPr/>
        </p:nvSpPr>
        <p:spPr>
          <a:xfrm>
            <a:off x="548640" y="3550158"/>
            <a:ext cx="11091672" cy="678942"/>
          </a:xfrm>
          <a:prstGeom prst="rect">
            <a:avLst/>
          </a:prstGeom>
          <a:solidFill>
            <a:srgbClr val="F7F5EF"/>
          </a:solidFill>
          <a:ln w="12700">
            <a:solidFill>
              <a:srgbClr val="D9D5C8"/>
            </a:solidFill>
            <a:prstDash val="solid"/>
          </a:ln>
        </p:spPr>
      </p:sp>
      <p:sp>
        <p:nvSpPr>
          <p:cNvPr id="13" name="Text 11"/>
          <p:cNvSpPr/>
          <p:nvPr/>
        </p:nvSpPr>
        <p:spPr>
          <a:xfrm>
            <a:off x="685800" y="355015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B</a:t>
            </a:r>
            <a:endParaRPr lang="en-US" sz="1700" dirty="0"/>
          </a:p>
        </p:txBody>
      </p:sp>
      <p:sp>
        <p:nvSpPr>
          <p:cNvPr id="14" name="Text 12"/>
          <p:cNvSpPr/>
          <p:nvPr/>
        </p:nvSpPr>
        <p:spPr>
          <a:xfrm>
            <a:off x="1325880" y="355015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Roosevelt opposed conservation, but the historical record tells a more complex story, although historical sources do not support this conclusion, and this view has been largely revised by modern historical research</a:t>
            </a:r>
            <a:endParaRPr lang="en-US" sz="1350" dirty="0"/>
          </a:p>
        </p:txBody>
      </p:sp>
      <p:sp>
        <p:nvSpPr>
          <p:cNvPr id="15" name="Shape 13"/>
          <p:cNvSpPr/>
          <p:nvPr/>
        </p:nvSpPr>
        <p:spPr>
          <a:xfrm>
            <a:off x="548640" y="4338828"/>
            <a:ext cx="11091672" cy="678942"/>
          </a:xfrm>
          <a:prstGeom prst="rect">
            <a:avLst/>
          </a:prstGeom>
          <a:solidFill>
            <a:srgbClr val="F7F5EF"/>
          </a:solidFill>
          <a:ln w="12700">
            <a:solidFill>
              <a:srgbClr val="D9D5C8"/>
            </a:solidFill>
            <a:prstDash val="solid"/>
          </a:ln>
        </p:spPr>
      </p:sp>
      <p:sp>
        <p:nvSpPr>
          <p:cNvPr id="16" name="Text 14"/>
          <p:cNvSpPr/>
          <p:nvPr/>
        </p:nvSpPr>
        <p:spPr>
          <a:xfrm>
            <a:off x="685800" y="433882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C</a:t>
            </a:r>
            <a:endParaRPr lang="en-US" sz="1700" dirty="0"/>
          </a:p>
        </p:txBody>
      </p:sp>
      <p:sp>
        <p:nvSpPr>
          <p:cNvPr id="17" name="Text 15"/>
          <p:cNvSpPr/>
          <p:nvPr/>
        </p:nvSpPr>
        <p:spPr>
          <a:xfrm>
            <a:off x="1325880" y="433882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Conservation was unimportant to Roosevelt, which represents a common misconception about the period and fails to account for key developments in the broader context and oversimplifies the complex factors at work during this period</a:t>
            </a:r>
            <a:endParaRPr lang="en-US" sz="1350" dirty="0"/>
          </a:p>
        </p:txBody>
      </p:sp>
      <p:sp>
        <p:nvSpPr>
          <p:cNvPr id="18" name="Shape 16"/>
          <p:cNvSpPr/>
          <p:nvPr/>
        </p:nvSpPr>
        <p:spPr>
          <a:xfrm>
            <a:off x="548640" y="5127498"/>
            <a:ext cx="11091672" cy="678942"/>
          </a:xfrm>
          <a:prstGeom prst="rect">
            <a:avLst/>
          </a:prstGeom>
          <a:solidFill>
            <a:srgbClr val="F7F5EF"/>
          </a:solidFill>
          <a:ln w="12700">
            <a:solidFill>
              <a:srgbClr val="D9D5C8"/>
            </a:solidFill>
            <a:prstDash val="solid"/>
          </a:ln>
        </p:spPr>
      </p:sp>
      <p:sp>
        <p:nvSpPr>
          <p:cNvPr id="19" name="Text 17"/>
          <p:cNvSpPr/>
          <p:nvPr/>
        </p:nvSpPr>
        <p:spPr>
          <a:xfrm>
            <a:off x="685800" y="512749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D</a:t>
            </a:r>
            <a:endParaRPr lang="en-US" sz="1700" dirty="0"/>
          </a:p>
        </p:txBody>
      </p:sp>
      <p:sp>
        <p:nvSpPr>
          <p:cNvPr id="20" name="Text 18"/>
          <p:cNvSpPr/>
          <p:nvPr/>
        </p:nvSpPr>
        <p:spPr>
          <a:xfrm>
            <a:off x="1325880" y="512749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His conservation policies were all reversed, but the historical record tells a more complex story and fails to account for key developments in the broader context and oversimplifies the complex factors at work during this period</a:t>
            </a:r>
            <a:endParaRPr lang="en-US" sz="1350" dirty="0"/>
          </a:p>
        </p:txBody>
      </p:sp>
      <p:sp>
        <p:nvSpPr>
          <p:cNvPr id="21" name="Text 19"/>
          <p:cNvSpPr/>
          <p:nvPr/>
        </p:nvSpPr>
        <p:spPr>
          <a:xfrm>
            <a:off x="548640" y="6053328"/>
            <a:ext cx="11064240" cy="29260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Confidence:  </a:t>
            </a:r>
            <a:pPr indent="0" marL="0">
              <a:buNone/>
            </a:pPr>
            <a:r>
              <a:rPr lang="en-US" sz="1200" dirty="0">
                <a:solidFill>
                  <a:srgbClr val="E7EAF2"/>
                </a:solidFill>
                <a:latin typeface="Arial" pitchFamily="34" charset="0"/>
                <a:ea typeface="Arial" pitchFamily="34" charset="-122"/>
                <a:cs typeface="Arial" pitchFamily="34" charset="-120"/>
              </a:rPr>
              <a:t>😟 1     🙂 2     😀 3     — circle where you are; your teacher routes reteach or extension.</a:t>
            </a:r>
            <a:endParaRPr lang="en-US" sz="1200" dirty="0"/>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B22234"/>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PROGRESS CHECK</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US.17</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TroopToTeacher Technologies LLC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21</a:t>
            </a:r>
            <a:endParaRPr lang="en-US" sz="900" dirty="0"/>
          </a:p>
        </p:txBody>
      </p:sp>
      <p:sp>
        <p:nvSpPr>
          <p:cNvPr id="6" name="Text 4"/>
          <p:cNvSpPr/>
          <p:nvPr/>
        </p:nvSpPr>
        <p:spPr>
          <a:xfrm>
            <a:off x="548640" y="914400"/>
            <a:ext cx="10515600" cy="502920"/>
          </a:xfrm>
          <a:prstGeom prst="rect">
            <a:avLst/>
          </a:prstGeom>
          <a:noFill/>
          <a:ln/>
        </p:spPr>
        <p:txBody>
          <a:bodyPr wrap="square" lIns="0" tIns="0" rIns="0" bIns="0" rtlCol="0" anchor="ctr"/>
          <a:lstStyle/>
          <a:p>
            <a:pPr indent="0" marL="0">
              <a:buNone/>
            </a:pPr>
            <a:r>
              <a:rPr lang="en-US" sz="2500" b="1" dirty="0">
                <a:solidFill>
                  <a:srgbClr val="FFFFFF"/>
                </a:solidFill>
                <a:latin typeface="Cambria" pitchFamily="34" charset="0"/>
                <a:ea typeface="Cambria" pitchFamily="34" charset="-122"/>
                <a:cs typeface="Cambria" pitchFamily="34" charset="-120"/>
              </a:rPr>
              <a:t>Check your understanding</a:t>
            </a:r>
            <a:endParaRPr lang="en-US" sz="2500" dirty="0"/>
          </a:p>
        </p:txBody>
      </p:sp>
      <p:sp>
        <p:nvSpPr>
          <p:cNvPr id="7" name="Shape 5"/>
          <p:cNvSpPr/>
          <p:nvPr/>
        </p:nvSpPr>
        <p:spPr>
          <a:xfrm>
            <a:off x="548640" y="1645920"/>
            <a:ext cx="11091672" cy="960120"/>
          </a:xfrm>
          <a:prstGeom prst="rect">
            <a:avLst/>
          </a:prstGeom>
          <a:solidFill>
            <a:srgbClr val="1E2C4C"/>
          </a:solidFill>
          <a:ln w="12700">
            <a:solidFill>
              <a:srgbClr val="C89B3C"/>
            </a:solidFill>
            <a:prstDash val="solid"/>
          </a:ln>
        </p:spPr>
      </p:sp>
      <p:sp>
        <p:nvSpPr>
          <p:cNvPr id="8" name="Text 6"/>
          <p:cNvSpPr/>
          <p:nvPr/>
        </p:nvSpPr>
        <p:spPr>
          <a:xfrm>
            <a:off x="777240" y="1673352"/>
            <a:ext cx="10607040" cy="905256"/>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Analyze how Wilson's reforms created institutional frameworks that continue to influence American economic policy.</a:t>
            </a:r>
            <a:endParaRPr lang="en-US" sz="1600" dirty="0"/>
          </a:p>
        </p:txBody>
      </p:sp>
      <p:sp>
        <p:nvSpPr>
          <p:cNvPr id="9" name="Shape 7"/>
          <p:cNvSpPr/>
          <p:nvPr/>
        </p:nvSpPr>
        <p:spPr>
          <a:xfrm>
            <a:off x="548640" y="2761488"/>
            <a:ext cx="11091672" cy="678942"/>
          </a:xfrm>
          <a:prstGeom prst="rect">
            <a:avLst/>
          </a:prstGeom>
          <a:solidFill>
            <a:srgbClr val="F7F5EF"/>
          </a:solidFill>
          <a:ln w="12700">
            <a:solidFill>
              <a:srgbClr val="D9D5C8"/>
            </a:solidFill>
            <a:prstDash val="solid"/>
          </a:ln>
        </p:spPr>
      </p:sp>
      <p:sp>
        <p:nvSpPr>
          <p:cNvPr id="10" name="Text 8"/>
          <p:cNvSpPr/>
          <p:nvPr/>
        </p:nvSpPr>
        <p:spPr>
          <a:xfrm>
            <a:off x="685800" y="276148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A</a:t>
            </a:r>
            <a:endParaRPr lang="en-US" sz="1700" dirty="0"/>
          </a:p>
        </p:txBody>
      </p:sp>
      <p:sp>
        <p:nvSpPr>
          <p:cNvPr id="11" name="Text 9"/>
          <p:cNvSpPr/>
          <p:nvPr/>
        </p:nvSpPr>
        <p:spPr>
          <a:xfrm>
            <a:off x="1325880" y="276148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Wilson's reforms were all temporary, which does not align with the documented historical record when examined alongside the available primary and secondary sources and oversimplifies the complex factors at work during this period</a:t>
            </a:r>
            <a:endParaRPr lang="en-US" sz="1350" dirty="0"/>
          </a:p>
        </p:txBody>
      </p:sp>
      <p:sp>
        <p:nvSpPr>
          <p:cNvPr id="12" name="Shape 10"/>
          <p:cNvSpPr/>
          <p:nvPr/>
        </p:nvSpPr>
        <p:spPr>
          <a:xfrm>
            <a:off x="548640" y="3550158"/>
            <a:ext cx="11091672" cy="678942"/>
          </a:xfrm>
          <a:prstGeom prst="rect">
            <a:avLst/>
          </a:prstGeom>
          <a:solidFill>
            <a:srgbClr val="F7F5EF"/>
          </a:solidFill>
          <a:ln w="12700">
            <a:solidFill>
              <a:srgbClr val="D9D5C8"/>
            </a:solidFill>
            <a:prstDash val="solid"/>
          </a:ln>
        </p:spPr>
      </p:sp>
      <p:sp>
        <p:nvSpPr>
          <p:cNvPr id="13" name="Text 11"/>
          <p:cNvSpPr/>
          <p:nvPr/>
        </p:nvSpPr>
        <p:spPr>
          <a:xfrm>
            <a:off x="685800" y="355015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B</a:t>
            </a:r>
            <a:endParaRPr lang="en-US" sz="1700" dirty="0"/>
          </a:p>
        </p:txBody>
      </p:sp>
      <p:sp>
        <p:nvSpPr>
          <p:cNvPr id="14" name="Text 12"/>
          <p:cNvSpPr/>
          <p:nvPr/>
        </p:nvSpPr>
        <p:spPr>
          <a:xfrm>
            <a:off x="1325880" y="355015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The Federal Reserve manages monetary policy, the FTC enforces consumer protection, and the NPS protects natural resources—institutions created over a century ago that remain central to American government today</a:t>
            </a:r>
            <a:endParaRPr lang="en-US" sz="1350" dirty="0"/>
          </a:p>
        </p:txBody>
      </p:sp>
      <p:sp>
        <p:nvSpPr>
          <p:cNvPr id="15" name="Shape 13"/>
          <p:cNvSpPr/>
          <p:nvPr/>
        </p:nvSpPr>
        <p:spPr>
          <a:xfrm>
            <a:off x="548640" y="4338828"/>
            <a:ext cx="11091672" cy="678942"/>
          </a:xfrm>
          <a:prstGeom prst="rect">
            <a:avLst/>
          </a:prstGeom>
          <a:solidFill>
            <a:srgbClr val="F7F5EF"/>
          </a:solidFill>
          <a:ln w="12700">
            <a:solidFill>
              <a:srgbClr val="D9D5C8"/>
            </a:solidFill>
            <a:prstDash val="solid"/>
          </a:ln>
        </p:spPr>
      </p:sp>
      <p:sp>
        <p:nvSpPr>
          <p:cNvPr id="16" name="Text 14"/>
          <p:cNvSpPr/>
          <p:nvPr/>
        </p:nvSpPr>
        <p:spPr>
          <a:xfrm>
            <a:off x="685800" y="433882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C</a:t>
            </a:r>
            <a:endParaRPr lang="en-US" sz="1700" dirty="0"/>
          </a:p>
        </p:txBody>
      </p:sp>
      <p:sp>
        <p:nvSpPr>
          <p:cNvPr id="17" name="Text 15"/>
          <p:cNvSpPr/>
          <p:nvPr/>
        </p:nvSpPr>
        <p:spPr>
          <a:xfrm>
            <a:off x="1325880" y="433882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None of Wilson's institutions survived, which represents a common misconception about the period, and this view has been largely revised by modern historical research and fails to account for key developments in the broader context</a:t>
            </a:r>
            <a:endParaRPr lang="en-US" sz="1350" dirty="0"/>
          </a:p>
        </p:txBody>
      </p:sp>
      <p:sp>
        <p:nvSpPr>
          <p:cNvPr id="18" name="Shape 16"/>
          <p:cNvSpPr/>
          <p:nvPr/>
        </p:nvSpPr>
        <p:spPr>
          <a:xfrm>
            <a:off x="548640" y="5127498"/>
            <a:ext cx="11091672" cy="678942"/>
          </a:xfrm>
          <a:prstGeom prst="rect">
            <a:avLst/>
          </a:prstGeom>
          <a:solidFill>
            <a:srgbClr val="F7F5EF"/>
          </a:solidFill>
          <a:ln w="12700">
            <a:solidFill>
              <a:srgbClr val="D9D5C8"/>
            </a:solidFill>
            <a:prstDash val="solid"/>
          </a:ln>
        </p:spPr>
      </p:sp>
      <p:sp>
        <p:nvSpPr>
          <p:cNvPr id="19" name="Text 17"/>
          <p:cNvSpPr/>
          <p:nvPr/>
        </p:nvSpPr>
        <p:spPr>
          <a:xfrm>
            <a:off x="685800" y="512749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D</a:t>
            </a:r>
            <a:endParaRPr lang="en-US" sz="1700" dirty="0"/>
          </a:p>
        </p:txBody>
      </p:sp>
      <p:sp>
        <p:nvSpPr>
          <p:cNvPr id="20" name="Text 18"/>
          <p:cNvSpPr/>
          <p:nvPr/>
        </p:nvSpPr>
        <p:spPr>
          <a:xfrm>
            <a:off x="1325880" y="512749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Only the income tax remained from Wilson's era, which does not reflect the consensus among historians when examined alongside the available primary and secondary sources and fails to account for key developments in the broader context</a:t>
            </a:r>
            <a:endParaRPr lang="en-US" sz="1350" dirty="0"/>
          </a:p>
        </p:txBody>
      </p:sp>
      <p:sp>
        <p:nvSpPr>
          <p:cNvPr id="21" name="Text 19"/>
          <p:cNvSpPr/>
          <p:nvPr/>
        </p:nvSpPr>
        <p:spPr>
          <a:xfrm>
            <a:off x="548640" y="6053328"/>
            <a:ext cx="11064240" cy="29260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Confidence:  </a:t>
            </a:r>
            <a:pPr indent="0" marL="0">
              <a:buNone/>
            </a:pPr>
            <a:r>
              <a:rPr lang="en-US" sz="1200" dirty="0">
                <a:solidFill>
                  <a:srgbClr val="E7EAF2"/>
                </a:solidFill>
                <a:latin typeface="Arial" pitchFamily="34" charset="0"/>
                <a:ea typeface="Arial" pitchFamily="34" charset="-122"/>
                <a:cs typeface="Arial" pitchFamily="34" charset="-120"/>
              </a:rPr>
              <a:t>😟 1     🙂 2     😀 3     — circle where you are; your teacher routes reteach or extension.</a:t>
            </a:r>
            <a:endParaRPr lang="en-US" sz="1200" dirty="0"/>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B22234"/>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PROGRESS CHECK</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US.18</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TroopToTeacher Technologies LLC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23</a:t>
            </a:r>
            <a:endParaRPr lang="en-US" sz="900" dirty="0"/>
          </a:p>
        </p:txBody>
      </p:sp>
      <p:sp>
        <p:nvSpPr>
          <p:cNvPr id="6" name="Text 4"/>
          <p:cNvSpPr/>
          <p:nvPr/>
        </p:nvSpPr>
        <p:spPr>
          <a:xfrm>
            <a:off x="548640" y="914400"/>
            <a:ext cx="10515600" cy="502920"/>
          </a:xfrm>
          <a:prstGeom prst="rect">
            <a:avLst/>
          </a:prstGeom>
          <a:noFill/>
          <a:ln/>
        </p:spPr>
        <p:txBody>
          <a:bodyPr wrap="square" lIns="0" tIns="0" rIns="0" bIns="0" rtlCol="0" anchor="ctr"/>
          <a:lstStyle/>
          <a:p>
            <a:pPr indent="0" marL="0">
              <a:buNone/>
            </a:pPr>
            <a:r>
              <a:rPr lang="en-US" sz="2500" b="1" dirty="0">
                <a:solidFill>
                  <a:srgbClr val="FFFFFF"/>
                </a:solidFill>
                <a:latin typeface="Cambria" pitchFamily="34" charset="0"/>
                <a:ea typeface="Cambria" pitchFamily="34" charset="-122"/>
                <a:cs typeface="Cambria" pitchFamily="34" charset="-120"/>
              </a:rPr>
              <a:t>Check your understanding</a:t>
            </a:r>
            <a:endParaRPr lang="en-US" sz="2500" dirty="0"/>
          </a:p>
        </p:txBody>
      </p:sp>
      <p:sp>
        <p:nvSpPr>
          <p:cNvPr id="7" name="Shape 5"/>
          <p:cNvSpPr/>
          <p:nvPr/>
        </p:nvSpPr>
        <p:spPr>
          <a:xfrm>
            <a:off x="548640" y="1645920"/>
            <a:ext cx="11091672" cy="960120"/>
          </a:xfrm>
          <a:prstGeom prst="rect">
            <a:avLst/>
          </a:prstGeom>
          <a:solidFill>
            <a:srgbClr val="1E2C4C"/>
          </a:solidFill>
          <a:ln w="12700">
            <a:solidFill>
              <a:srgbClr val="C89B3C"/>
            </a:solidFill>
            <a:prstDash val="solid"/>
          </a:ln>
        </p:spPr>
      </p:sp>
      <p:sp>
        <p:nvSpPr>
          <p:cNvPr id="8" name="Text 6"/>
          <p:cNvSpPr/>
          <p:nvPr/>
        </p:nvSpPr>
        <p:spPr>
          <a:xfrm>
            <a:off x="777240" y="1673352"/>
            <a:ext cx="10607040" cy="905256"/>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Analyze the immediate and long-term impacts of women's suffrage on American politics and society.</a:t>
            </a:r>
            <a:endParaRPr lang="en-US" sz="1600" dirty="0"/>
          </a:p>
        </p:txBody>
      </p:sp>
      <p:sp>
        <p:nvSpPr>
          <p:cNvPr id="9" name="Shape 7"/>
          <p:cNvSpPr/>
          <p:nvPr/>
        </p:nvSpPr>
        <p:spPr>
          <a:xfrm>
            <a:off x="548640" y="2761488"/>
            <a:ext cx="11091672" cy="678942"/>
          </a:xfrm>
          <a:prstGeom prst="rect">
            <a:avLst/>
          </a:prstGeom>
          <a:solidFill>
            <a:srgbClr val="F7F5EF"/>
          </a:solidFill>
          <a:ln w="12700">
            <a:solidFill>
              <a:srgbClr val="D9D5C8"/>
            </a:solidFill>
            <a:prstDash val="solid"/>
          </a:ln>
        </p:spPr>
      </p:sp>
      <p:sp>
        <p:nvSpPr>
          <p:cNvPr id="10" name="Text 8"/>
          <p:cNvSpPr/>
          <p:nvPr/>
        </p:nvSpPr>
        <p:spPr>
          <a:xfrm>
            <a:off x="685800" y="276148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A</a:t>
            </a:r>
            <a:endParaRPr lang="en-US" sz="1700" dirty="0"/>
          </a:p>
        </p:txBody>
      </p:sp>
      <p:sp>
        <p:nvSpPr>
          <p:cNvPr id="11" name="Text 9"/>
          <p:cNvSpPr/>
          <p:nvPr/>
        </p:nvSpPr>
        <p:spPr>
          <a:xfrm>
            <a:off x="1325880" y="276148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Women's suffrage had no lasting impact, but the historical record tells a more complex story, but the historical evidence paints a more nuanced picture, which contradicts the primary source evidence from this era</a:t>
            </a:r>
            <a:endParaRPr lang="en-US" sz="1350" dirty="0"/>
          </a:p>
        </p:txBody>
      </p:sp>
      <p:sp>
        <p:nvSpPr>
          <p:cNvPr id="12" name="Shape 10"/>
          <p:cNvSpPr/>
          <p:nvPr/>
        </p:nvSpPr>
        <p:spPr>
          <a:xfrm>
            <a:off x="548640" y="3550158"/>
            <a:ext cx="11091672" cy="678942"/>
          </a:xfrm>
          <a:prstGeom prst="rect">
            <a:avLst/>
          </a:prstGeom>
          <a:solidFill>
            <a:srgbClr val="F7F5EF"/>
          </a:solidFill>
          <a:ln w="12700">
            <a:solidFill>
              <a:srgbClr val="D9D5C8"/>
            </a:solidFill>
            <a:prstDash val="solid"/>
          </a:ln>
        </p:spPr>
      </p:sp>
      <p:sp>
        <p:nvSpPr>
          <p:cNvPr id="13" name="Text 11"/>
          <p:cNvSpPr/>
          <p:nvPr/>
        </p:nvSpPr>
        <p:spPr>
          <a:xfrm>
            <a:off x="685800" y="355015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B</a:t>
            </a:r>
            <a:endParaRPr lang="en-US" sz="1700" dirty="0"/>
          </a:p>
        </p:txBody>
      </p:sp>
      <p:sp>
        <p:nvSpPr>
          <p:cNvPr id="14" name="Text 12"/>
          <p:cNvSpPr/>
          <p:nvPr/>
        </p:nvSpPr>
        <p:spPr>
          <a:xfrm>
            <a:off x="1325880" y="355015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Women stopped participating in politics after 1920, though this interpretation lacks supporting historical evidence, which ignores significant political and cultural developments of the era</a:t>
            </a:r>
            <a:endParaRPr lang="en-US" sz="1350" dirty="0"/>
          </a:p>
        </p:txBody>
      </p:sp>
      <p:sp>
        <p:nvSpPr>
          <p:cNvPr id="15" name="Shape 13"/>
          <p:cNvSpPr/>
          <p:nvPr/>
        </p:nvSpPr>
        <p:spPr>
          <a:xfrm>
            <a:off x="548640" y="4338828"/>
            <a:ext cx="11091672" cy="678942"/>
          </a:xfrm>
          <a:prstGeom prst="rect">
            <a:avLst/>
          </a:prstGeom>
          <a:solidFill>
            <a:srgbClr val="F7F5EF"/>
          </a:solidFill>
          <a:ln w="12700">
            <a:solidFill>
              <a:srgbClr val="D9D5C8"/>
            </a:solidFill>
            <a:prstDash val="solid"/>
          </a:ln>
        </p:spPr>
      </p:sp>
      <p:sp>
        <p:nvSpPr>
          <p:cNvPr id="16" name="Text 14"/>
          <p:cNvSpPr/>
          <p:nvPr/>
        </p:nvSpPr>
        <p:spPr>
          <a:xfrm>
            <a:off x="685800" y="433882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C</a:t>
            </a:r>
            <a:endParaRPr lang="en-US" sz="1700" dirty="0"/>
          </a:p>
        </p:txBody>
      </p:sp>
      <p:sp>
        <p:nvSpPr>
          <p:cNvPr id="17" name="Text 15"/>
          <p:cNvSpPr/>
          <p:nvPr/>
        </p:nvSpPr>
        <p:spPr>
          <a:xfrm>
            <a:off x="1325880" y="433882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Suffrage immediately enfranchised 26 million women, challenged gender roles, supported reforms in education and health, and laid the foundation for later women's rights movements and gender equality advances</a:t>
            </a:r>
            <a:endParaRPr lang="en-US" sz="1350" dirty="0"/>
          </a:p>
        </p:txBody>
      </p:sp>
      <p:sp>
        <p:nvSpPr>
          <p:cNvPr id="18" name="Shape 16"/>
          <p:cNvSpPr/>
          <p:nvPr/>
        </p:nvSpPr>
        <p:spPr>
          <a:xfrm>
            <a:off x="548640" y="5127498"/>
            <a:ext cx="11091672" cy="678942"/>
          </a:xfrm>
          <a:prstGeom prst="rect">
            <a:avLst/>
          </a:prstGeom>
          <a:solidFill>
            <a:srgbClr val="F7F5EF"/>
          </a:solidFill>
          <a:ln w="12700">
            <a:solidFill>
              <a:srgbClr val="D9D5C8"/>
            </a:solidFill>
            <a:prstDash val="solid"/>
          </a:ln>
        </p:spPr>
      </p:sp>
      <p:sp>
        <p:nvSpPr>
          <p:cNvPr id="19" name="Text 17"/>
          <p:cNvSpPr/>
          <p:nvPr/>
        </p:nvSpPr>
        <p:spPr>
          <a:xfrm>
            <a:off x="685800" y="512749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D</a:t>
            </a:r>
            <a:endParaRPr lang="en-US" sz="1700" dirty="0"/>
          </a:p>
        </p:txBody>
      </p:sp>
      <p:sp>
        <p:nvSpPr>
          <p:cNvPr id="20" name="Text 18"/>
          <p:cNvSpPr/>
          <p:nvPr/>
        </p:nvSpPr>
        <p:spPr>
          <a:xfrm>
            <a:off x="1325880" y="512749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Only electoral politics was affected, but contemporary accounts suggest a different explanation when examined alongside the available primary and secondary sources, but the historical evidence paints a more nuanced picture</a:t>
            </a:r>
            <a:endParaRPr lang="en-US" sz="1350" dirty="0"/>
          </a:p>
        </p:txBody>
      </p:sp>
      <p:sp>
        <p:nvSpPr>
          <p:cNvPr id="21" name="Text 19"/>
          <p:cNvSpPr/>
          <p:nvPr/>
        </p:nvSpPr>
        <p:spPr>
          <a:xfrm>
            <a:off x="548640" y="6053328"/>
            <a:ext cx="11064240" cy="29260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Confidence:  </a:t>
            </a:r>
            <a:pPr indent="0" marL="0">
              <a:buNone/>
            </a:pPr>
            <a:r>
              <a:rPr lang="en-US" sz="1200" dirty="0">
                <a:solidFill>
                  <a:srgbClr val="E7EAF2"/>
                </a:solidFill>
                <a:latin typeface="Arial" pitchFamily="34" charset="0"/>
                <a:ea typeface="Arial" pitchFamily="34" charset="-122"/>
                <a:cs typeface="Arial" pitchFamily="34" charset="-120"/>
              </a:rPr>
              <a:t>😟 1     🙂 2     😀 3     — circle where you are; your teacher routes reteach or extension.</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72</Slides>
  <Notes>72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72</vt:i4>
      </vt:variant>
    </vt:vector>
  </HeadingPairs>
  <TitlesOfParts>
    <vt:vector size="7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vector>
  </TitlesOfParts>
  <Company>U.S. History Hack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Unit 1 — Lean Student Deck (US.01–US.07)</dc:subject>
  <dc:creator>TroopToTeacher Technologies LLC</dc:creator>
  <cp:lastModifiedBy>TroopToTeacher Technologies LLC</cp:lastModifiedBy>
  <cp:revision>1</cp:revision>
  <dcterms:created xsi:type="dcterms:W3CDTF">2026-07-01T19:56:01Z</dcterms:created>
  <dcterms:modified xsi:type="dcterms:W3CDTF">2026-07-01T19:56:01Z</dcterms:modified>
</cp:coreProperties>
</file>
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media/image-16-1.jpg" ContentType="image/jpg"/>
  <Override PartName="/ppt/media/image-20-1.jpg" ContentType="image/jpg"/>
  <Override PartName="/ppt/media/image-27-1.jpg" ContentType="image/jpg"/>
  <Override PartName="/ppt/media/image-3-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6" r:id="rId37"/>
    <p:sldId id="256" r:id="rId2"/>
    <p:sldId id="257" r:id="rId3"/>
    <p:sldId id="258" r:id="rId4"/>
    <p:sldId id="259" r:id="rId5"/>
    <p:sldId id="260" r:id="rId6"/>
    <p:sldId id="261" r:id="rId7"/>
    <p:sldId id="287" r:id="rId38"/>
    <p:sldId id="292" r:id="rId43"/>
    <p:sldId id="262" r:id="rId8"/>
    <p:sldId id="263" r:id="rId9"/>
    <p:sldId id="264" r:id="rId10"/>
    <p:sldId id="265" r:id="rId11"/>
    <p:sldId id="266" r:id="rId12"/>
    <p:sldId id="267" r:id="rId13"/>
    <p:sldId id="288" r:id="rId39"/>
    <p:sldId id="293" r:id="rId44"/>
    <p:sldId id="268" r:id="rId14"/>
    <p:sldId id="269" r:id="rId15"/>
    <p:sldId id="270" r:id="rId16"/>
    <p:sldId id="271" r:id="rId17"/>
    <p:sldId id="272" r:id="rId18"/>
    <p:sldId id="273" r:id="rId19"/>
    <p:sldId id="289" r:id="rId40"/>
    <p:sldId id="294" r:id="rId45"/>
    <p:sldId id="274" r:id="rId20"/>
    <p:sldId id="275" r:id="rId21"/>
    <p:sldId id="276" r:id="rId22"/>
    <p:sldId id="277" r:id="rId23"/>
    <p:sldId id="278" r:id="rId24"/>
    <p:sldId id="279" r:id="rId25"/>
    <p:sldId id="290" r:id="rId41"/>
    <p:sldId id="295" r:id="rId46"/>
    <p:sldId id="280" r:id="rId26"/>
    <p:sldId id="281" r:id="rId27"/>
    <p:sldId id="282" r:id="rId28"/>
    <p:sldId id="283" r:id="rId29"/>
    <p:sldId id="284" r:id="rId30"/>
    <p:sldId id="285" r:id="rId31"/>
    <p:sldId id="291" r:id="rId42"/>
    <p:sldId id="296" r:id="rId47"/>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archives.gov/milestone-documents/brown-v-board-of-education"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loc.gov/collections/malcolm-x/"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kinginstitute.stanford.edu/encyclopedia/letter-birmingham-jail"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www.archives.gov/milestone-documents/civil-rights-act"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www.loc.gov/collections/cesar-chavez/" TargetMode="Externa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US.78</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Brown v. Board of Education</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US.78 – Examine the decision and impact of Brown v. Board of Education on desegregation. (TCA)</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examine the decision and impact of Brown v. Board of Education on desegregation.</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US.78</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NAACP built a legal strategy against segregation — for decades the "separate but equal" doctrine of Plessy v. Ferguson (1896) held; by the 1950s Thurgood Marshall and the NAACP challenged segregated schools, backed by Kenneth Clark’s doll tests showing the harm to Black children.</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NAACP built a legal strategy against segregation — for decades the "separate but equal" doctrine of Plessy v. Ferguson (1896) held; by the 1950s Thurgood Marshall and the NAACP challenged segregated schools, backed by Kenneth Clark’s doll tests showing the harm to Black children.</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US.78 · The Road to Brown</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US.78</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A unanimous Court struck down school segregation — the Supreme Court consolidated five cases; Chief Justice Earl Warren wrote that "separate educational facilities are inherently unequal," violating the 14th Amendment’s Equal Protection Clause.</a:t>
            </a:r>
            <a:endParaRPr lang="en-US" sz="1800" dirty="0"/>
          </a:p>
        </p:txBody>
      </p:sp>
      <p:pic>
        <p:nvPicPr>
          <p:cNvPr id="7" name="Image 0" descr="hh-web/public/images/textbook/unit-9/u-s-supreme-court-building-193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US.78 · The Decision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US.78</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Ending segregation on paper proved slow — Brown II (1955) ordered desegregation "with all deliberate speed"; Southern "massive resistance" meant only 2% of Black Southern students attended integrated schools by 1964, yet Brown anchored the wider movement.</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Ending segregation on paper proved slow — Brown II (1955) ordered desegregation "with all deliberate speed"; Southern "massive resistance" meant only 2% of Black Southern students attended integrated schools by 1964, yet Brown anchored the wider movement.</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US.78 · Impact &amp; Resistance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US.78</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Brown decision — weigh who wrote it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Chief Justice Earl Warren</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May 17, 1954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Brown v. Board of Education Decision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Chief Justice Earl Warren · May 17, 1954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"We conclude that, in the field of public education, the doctrine of "separate but equal" has no place. Separate educational facilities are inherently unequal. Therefore, we hold that the plaintiffs and others similarly situated... are, by reason of the segregation complained of, deprived of the equal protection of the laws guaranteed by the Fourteenth Amendment."</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US.78</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US.78:</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Black children and families who won a constitutional ruling against segregated schools, and the broader civil rights movement that gained legal footing.</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US.78:</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Black students who still faced closed schools, private academies, and years of ’massive resistance’ before the ruling was enforced.</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US.78:</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The U.S. Supreme Court, which issued the unanimous decision, and Southern officials and states who controlled how quickly it was obeyed.</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Brown v. Board of Education Decision, Chief Justice Earl Warren, May 17, 1954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US.79</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Civil Rights Advocates and Opponents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US.79 – Examine the roles and actions of civil rights advocates and opponents and how they coincided, confronted, and challenged each other. (TCA)</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examine the roles and actions of civil rights advocates (e.g., Malcolm X, Thurgood Marshall, Rosa Parks) and opponents (e.g., Bull Connor, Orval Faubus, Strom Thurmond) and how they coincided, confronted, and challenged each other.</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Advocates led with different strategies — Martin Luther King Jr. organized nonviolent resistance and the SCLC; Malcolm X promoted Black nationalism, then human rights; Thurgood Marshall argued Brown and joined the Supreme Court; Rosa Parks sparked the Montgomery Bus Boycott.</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Advocates led with different strategies — Martin Luther King Jr. organized nonviolent resistance and the SCLC; Malcolm X promoted Black nationalism, then human rights; Thurgood Marshall argued Brown and joined the Supreme Court; Rosa Parks sparked the Montgomery Bus Boycott.</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US.79 · Civil Rights Advocates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Opponents used office and violence to resist — Bull Connor turned fire hoses and dogs on protesters; Governor Orval Faubus defied court orders at Little Rock; Senator Strom Thurmond led the Dixiecrat revolt and filibustered civil rights legislation for 24+ hours.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Opponents used office and violence to resist — Bull Connor turned fire hoses and dogs on protesters; Governor Orval Faubus defied court orders at Little Rock; Senator Strom Thurmond led the Dixiecrat revolt and filibustered civil rights legislation for 24+ hours.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US.79 · Civil Rights Opponents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US.79</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Nonviolence and self-defense both shaped the movement — King emphasized integration and nonviolence while Malcolm X first urged separation and self-defense; both evolved, and courtroom victories and mass protests reinforced one another.</a:t>
            </a:r>
            <a:endParaRPr lang="en-US" sz="1800" dirty="0"/>
          </a:p>
        </p:txBody>
      </p:sp>
      <p:pic>
        <p:nvPicPr>
          <p:cNvPr id="7" name="Image 0" descr="hh-web/public/images/textbook/unit-9/malcolm-x-civil-rights-advocate-1964.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US.79 · Comparing Approaches</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US.79</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Ballot or the Bullet" — identify the speaker and purpose before you weigh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Malcolm X</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April 3, 1964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The Ballot or the Bullet</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Malcolm X · April 3, 1964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"It'll be the ballot or the bullet. It'll be liberty or it'll be death. And if you're not ready to pay that price don't use the word freedom in your vocabulary... I'm not an American. I'm one of the 22 million Black people who are the victims of Americanism... I don't see any American dream; I see an American nightmare."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US.79</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US.79:</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African Americans who gained visible leaders and a range of strategies, and a movement strengthened by both legal and grassroots pressure.</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US.79:</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Activists who faced violence, jail, and assassination, and Black communities targeted by officials like Connor, Faubus, and Thurmond.</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US.79:</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Movement leaders and organizations who chose tactics, and the officials, governors, and senators who used their power to resist change.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The Ballot or the Bullet, Malcolm X, April 3, 1964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US.80</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Significant Civil Rights Events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US.80 – Describe the significant events in the struggle to secure civil rights for African Americans, including: Montgomery Bus Boycott, Integration of Clinton High School and Central High School, Freedom Riders, Highlander Folk School, Tent City in Fayette County, TN, marches/demonstrations/boycotts/sit-ins, March on Washington D.C., Birmingham bombings of 1963, and assassination of Martin Luther King Jr. (TCA)</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describe the significant events in the struggle to secure civil rights for African Americans, including the Montgomery Bus Boycott, Freedom Riders, March on Washington, Birmingham bombings, and assassination of Martin Luther King Jr.</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Early victories proved nonviolent protest worked — the Montgomery Bus Boycott (1955-1956), sparked by Rosa Parks, sustained 381 days and lifted King to national leadership; the 1960 Nashville sit-ins, led by John Lewis and Diane Nash, desegregated lunch counters.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Early victories proved nonviolent protest worked — the Montgomery Bus Boycott (1955-1956), sparked by Rosa Parks, sustained 381 days and lifted King to national leadership; the 1960 Nashville sit-ins, led by John Lewis and Diane Nash, desegregated lunch counters.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US.80 · Early Movement Victories</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Tennessee stood at the center of the struggle — Clinton High School (1956) was the first Southern community to integrate under Brown; Highlander Folk School trained Rosa Parks and King; Fayette County’s Tent City (1960) sheltered Black sharecroppers evicted for trying to vote.</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Tennessee stood at the center of the struggle — Clinton High School (1956) was the first Southern community to integrate under Brown; Highlander Folk School trained Rosa Parks and King; Fayette County’s Tent City (1960) sheltered Black sharecroppers evicted for trying to vote.</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US.80 · Tennessee’s Role</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US.80</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Confrontations forced federal action and legislation — the Little Rock Nine (1957) and Freedom Riders (1961) drew federal intervention, the Birmingham Campaign (1963) shocked the nation, and the March on Washington (1963) pressured Congress before King’s 1968 Memphis assassination.</a:t>
            </a:r>
            <a:endParaRPr lang="en-US" sz="1800" dirty="0"/>
          </a:p>
        </p:txBody>
      </p:sp>
      <p:pic>
        <p:nvPicPr>
          <p:cNvPr id="7" name="Image 0" descr="hh-web/public/images/textbook/unit-9/march-washington-crowd-reflecting-pool-1963.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US.80 · Confrontations &amp; Culmination</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US.80</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"Letter from Birmingham Jail" — note the author, date, and purpose before you weigh his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Dr. Martin Luther King Jr.</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April 16, 1963</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Letter from Birmingham Jail</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Dr. Martin Luther King Jr. · April 16, 1963</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"Injustice anywhere is a threat to justice everywhere. We are caught in an inescapable network of mutuality, tied in a single garment of destiny. Whatever affects one directly, affects all indirectly... I have almost reached the regrettable conclusion that the Negro's great stumbling block in his stride toward freedom is not the White Citizen's Counciler or the Ku Klux Klanner, but the white moderate."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 Martin Luther King, Jr. Research and Education Institute, Stanford University</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US.80</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US.80:</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African Americans who won desegregated buses, lunch counters, and schools, and a movement that gained national attention and momentum.</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US.80:</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Protesters who faced arrest, beatings, firebombings, and death, including sharecroppers evicted for voting and King, assassinated in Memphis.</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US.80:</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Movement organizers who planned the actions, and presidents, courts, and Congress pressured into enforcing rights and passing legislation.</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Letter from Birmingham Jail, Dr. Martin Luther King Jr., April 16, 1963 (The Martin Luther King, Jr. Research and Education Institute, Stanford University)</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US.81</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Civil and Voting Rights Legislation</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US.81 – Analyze civil and voting rights legislation, including: The Civil Rights Act of 1964, the Voting Rights Act of 1965, the Civil Rights Act of 1968 (e.g., Fair Housing Act), and the 24th Amendment. (TCA)</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civil and voting rights legislation, including the Civil Rights Act of 1964, the Voting Rights Act of 1965, the Civil Rights Act of 1968 (Fair Housing Act), and the 24th Amendment.</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Civil Rights Act of 1964 outlawed segregation — it banned discrimination in public accommodations, employment, and federally funded programs, created the EEOC, and ended legal segregation in public facilities.</a:t>
            </a:r>
            <a:endParaRPr lang="en-US" sz="1800" dirty="0"/>
          </a:p>
        </p:txBody>
      </p:sp>
      <p:pic>
        <p:nvPicPr>
          <p:cNvPr id="7" name="Image 0" descr="hh-web/public/images/textbook/unit-9/president-lyndon-b-johnson-signs-1964.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US.81 · Civil Rights Act of 1964</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Voting Rights Act of 1965 protected the ballot — it banned literacy tests, required federal approval for voting changes in covered areas, and sent federal registrars — lifting Black Southern voter registration from 23% to 61% by 1969.</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Voting Rights Act of 1965 protected the ballot — it banned literacy tests, required federal approval for voting changes in covered areas, and sent federal registrars — lifting Black Southern voter registration from 23% to 61% by 1969.</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US.81 · Voting Rights Act of 1965</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US.81</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Later laws completed the legal framework — the 24th Amendment (1964) ended poll taxes in federal elections, and the Civil Rights Act of 1968 (Fair Housing Act), passed after King’s assassination, barred discrimination in housing.</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Later laws completed the legal framework — the 24th Amendment (1964) ended poll taxes in federal elections, and the Civil Rights Act of 1968 (Fair Housing Act), passed after King’s assassination, barred discrimination in housing.</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US.81 · 24th Amendment &amp; Fair Housing</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US.81</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Civil Rights Act of 1964 — identify who wrote it and why before you read the text.</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U.S. Congress</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July 2, 1964</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Civil Rights Act of 1964</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U.S. Congress · July 2, 1964</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"All persons shall be entitled to the full and equal enjoyment of the goods, services, facilities, privileges, advantages, and accommodations of any place of public accommodation... without discrimination or segregation on the ground of race, color, religion, or national origin."</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National Archives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US.81</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US.81:</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African Americans and other minorities who gained legal protection in jobs, public places, voting, and housing, and millions of new Southern voters.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US.81:</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Activists who died pressing for the laws, and communities where weak enforcement and lingering discrimination limited the laws’ real effect.</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US.81:</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Congress, which passed the legislation and amendment, and President Lyndon Johnson, who pushed and signed the landmark civil rights laws.</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Civil Rights Act of 1964, U.S. Congress, July 2, 1964 (National Archives)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A2332"/>
        </a:solidFill>
      </p:bgPr>
    </p:bg>
    <p:spTree>
      <p:nvGrpSpPr>
        <p:cNvPr id="1" name=""/>
        <p:cNvGrpSpPr/>
        <p:nvPr/>
      </p:nvGrpSpPr>
      <p:grpSpPr>
        <a:xfrm>
          <a:off x="0" y="0"/>
          <a:ext cx="0" cy="0"/>
          <a:chOff x="0" y="0"/>
          <a:chExt cx="0" cy="0"/>
        </a:xfrm>
      </p:grpSpPr>
      <p:sp>
        <p:nvSpPr>
          <p:cNvPr id="2" name="Shape 0"/>
          <p:cNvSpPr/>
          <p:nvPr/>
        </p:nvSpPr>
        <p:spPr>
          <a:xfrm>
            <a:off x="0" y="2331720"/>
            <a:ext cx="12191695" cy="73152"/>
          </a:xfrm>
          <a:prstGeom prst="rect">
            <a:avLst/>
          </a:prstGeom>
          <a:solidFill>
            <a:srgbClr val="C9A84C"/>
          </a:solidFill>
          <a:ln/>
        </p:spPr>
        <p:txBody>
          <a:bodyPr/>
          <a:p/>
        </p:txBody>
      </p:sp>
      <p:sp>
        <p:nvSpPr>
          <p:cNvPr id="3" name="Text 1"/>
          <p:cNvSpPr/>
          <p:nvPr/>
        </p:nvSpPr>
        <p:spPr>
          <a:xfrm>
            <a:off x="457200" y="548640"/>
            <a:ext cx="2926080" cy="1188720"/>
          </a:xfrm>
          <a:prstGeom prst="rect">
            <a:avLst/>
          </a:prstGeom>
          <a:noFill/>
          <a:ln/>
        </p:spPr>
        <p:txBody>
          <a:bodyPr wrap="square" rtlCol="0" anchor="ctr"/>
          <a:lstStyle/>
          <a:p>
            <a:pPr indent="0" marL="0">
              <a:buNone/>
            </a:pPr>
            <a:r>
              <a:rPr lang="en-US" sz="6000" b="1" dirty="0">
                <a:solidFill>
                  <a:srgbClr val="C9A84C"/>
                </a:solidFill>
                <a:latin typeface="Georgia" pitchFamily="34" charset="0"/>
                <a:ea typeface="Georgia" pitchFamily="34" charset="-122"/>
                <a:cs typeface="Georgia" pitchFamily="34" charset="-120"/>
              </a:rPr>
              <a:t>US.82</a:t>
            </a:r>
            <a:endParaRPr lang="en-US" sz="6000" dirty="0"/>
          </a:p>
        </p:txBody>
      </p:sp>
      <p:sp>
        <p:nvSpPr>
          <p:cNvPr id="4" name="Text 2"/>
          <p:cNvSpPr/>
          <p:nvPr/>
        </p:nvSpPr>
        <p:spPr>
          <a:xfrm>
            <a:off x="3474720" y="548640"/>
            <a:ext cx="8229600" cy="1188720"/>
          </a:xfrm>
          <a:prstGeom prst="rect">
            <a:avLst/>
          </a:prstGeom>
          <a:noFill/>
          <a:ln/>
        </p:spPr>
        <p:txBody>
          <a:bodyPr wrap="square"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American Indian, Chicano &amp; Feminist Movements</a:t>
            </a:r>
            <a:endParaRPr lang="en-US" sz="2600" dirty="0"/>
          </a:p>
        </p:txBody>
      </p:sp>
      <p:sp>
        <p:nvSpPr>
          <p:cNvPr id="5" name="Text 3"/>
          <p:cNvSpPr/>
          <p:nvPr/>
        </p:nvSpPr>
        <p:spPr>
          <a:xfrm>
            <a:off x="457200" y="2651760"/>
            <a:ext cx="11247120" cy="274320"/>
          </a:xfrm>
          <a:prstGeom prst="rect">
            <a:avLst/>
          </a:prstGeom>
          <a:noFill/>
          <a:ln/>
        </p:spPr>
        <p:txBody>
          <a:bodyPr wrap="square" rtlCol="0" anchor="ctr"/>
          <a:lstStyle/>
          <a:p>
            <a:pPr indent="0" marL="0">
              <a:buNone/>
            </a:pPr>
            <a:r>
              <a:rPr lang="en-US" sz="1200" b="1" spc="200" kern="0" dirty="0">
                <a:solidFill>
                  <a:srgbClr val="C9A84C"/>
                </a:solidFill>
                <a:latin typeface="Trebuchet MS" pitchFamily="34" charset="0"/>
                <a:ea typeface="Trebuchet MS" pitchFamily="34" charset="-122"/>
                <a:cs typeface="Trebuchet MS" pitchFamily="34" charset="-120"/>
              </a:rPr>
              <a:t>TN STANDARD</a:t>
            </a:r>
            <a:endParaRPr lang="en-US" sz="1200" dirty="0"/>
          </a:p>
        </p:txBody>
      </p:sp>
      <p:sp>
        <p:nvSpPr>
          <p:cNvPr id="6" name="Text 4"/>
          <p:cNvSpPr/>
          <p:nvPr/>
        </p:nvSpPr>
        <p:spPr>
          <a:xfrm>
            <a:off x="457200" y="2999232"/>
            <a:ext cx="11247120" cy="1691640"/>
          </a:xfrm>
          <a:prstGeom prst="rect">
            <a:avLst/>
          </a:prstGeom>
          <a:noFill/>
          <a:ln/>
        </p:spPr>
        <p:txBody>
          <a:bodyPr wrap="square" rtlCol="0" anchor="t"/>
          <a:lstStyle/>
          <a:p>
            <a:pPr indent="0" marL="0">
              <a:lnSpc>
                <a:spcPct val="105000"/>
              </a:lnSpc>
              <a:buNone/>
            </a:pPr>
            <a:r>
              <a:rPr lang="en-US" sz="1600" dirty="0">
                <a:solidFill>
                  <a:srgbClr val="C7D4E0"/>
                </a:solidFill>
                <a:latin typeface="Calibri" pitchFamily="34" charset="0"/>
                <a:ea typeface="Calibri" pitchFamily="34" charset="-122"/>
                <a:cs typeface="Calibri" pitchFamily="34" charset="-120"/>
              </a:rPr>
              <a:t>US.82 – Analyze how the American Indian Movement, Chicano Movement, and Feminist Movement are related to the Civil Rights Movement in advancing equality across the broader spectrum of American society during this time period.</a:t>
            </a:r>
            <a:endParaRPr lang="en-US" sz="1600" dirty="0"/>
          </a:p>
        </p:txBody>
      </p:sp>
      <p:sp>
        <p:nvSpPr>
          <p:cNvPr id="7" name="Shape 5"/>
          <p:cNvSpPr/>
          <p:nvPr/>
        </p:nvSpPr>
        <p:spPr>
          <a:xfrm>
            <a:off x="457200" y="4892040"/>
            <a:ext cx="11247120" cy="1234440"/>
          </a:xfrm>
          <a:prstGeom prst="rect">
            <a:avLst/>
          </a:prstGeom>
          <a:solidFill>
            <a:srgbClr val="C9A84C"/>
          </a:solidFill>
          <a:ln/>
        </p:spPr>
      </p:sp>
      <p:sp>
        <p:nvSpPr>
          <p:cNvPr id="8" name="Text 6"/>
          <p:cNvSpPr/>
          <p:nvPr/>
        </p:nvSpPr>
        <p:spPr>
          <a:xfrm>
            <a:off x="640080" y="5029200"/>
            <a:ext cx="10972800" cy="274320"/>
          </a:xfrm>
          <a:prstGeom prst="rect">
            <a:avLst/>
          </a:prstGeom>
          <a:noFill/>
          <a:ln/>
        </p:spPr>
        <p:txBody>
          <a:bodyPr wrap="square" rtlCol="0" anchor="ctr"/>
          <a:lstStyle/>
          <a:p>
            <a:pPr indent="0" marL="0">
              <a:buNone/>
            </a:pPr>
            <a:r>
              <a:rPr lang="en-US" sz="1200" b="1" spc="200" kern="0" dirty="0">
                <a:solidFill>
                  <a:srgbClr val="1A2332"/>
                </a:solidFill>
                <a:latin typeface="Trebuchet MS" pitchFamily="34" charset="0"/>
                <a:ea typeface="Trebuchet MS" pitchFamily="34" charset="-122"/>
                <a:cs typeface="Trebuchet MS" pitchFamily="34" charset="-120"/>
              </a:rPr>
              <a:t>I CAN</a:t>
            </a:r>
            <a:endParaRPr lang="en-US" sz="1200" dirty="0"/>
          </a:p>
        </p:txBody>
      </p:sp>
      <p:sp>
        <p:nvSpPr>
          <p:cNvPr id="9" name="Text 7"/>
          <p:cNvSpPr/>
          <p:nvPr/>
        </p:nvSpPr>
        <p:spPr>
          <a:xfrm>
            <a:off x="640080" y="5303520"/>
            <a:ext cx="10881360" cy="749808"/>
          </a:xfrm>
          <a:prstGeom prst="rect">
            <a:avLst/>
          </a:prstGeom>
          <a:noFill/>
          <a:ln/>
        </p:spPr>
        <p:txBody>
          <a:bodyPr wrap="square" rtlCol="0" anchor="t"/>
          <a:lstStyle/>
          <a:p>
            <a:pPr indent="0" marL="0">
              <a:buNone/>
            </a:pPr>
            <a:r>
              <a:rPr lang="en-US" sz="1400" b="1" dirty="0">
                <a:solidFill>
                  <a:srgbClr val="1A2332"/>
                </a:solidFill>
                <a:latin typeface="Calibri" pitchFamily="34" charset="0"/>
                <a:ea typeface="Calibri" pitchFamily="34" charset="-122"/>
                <a:cs typeface="Calibri" pitchFamily="34" charset="-120"/>
              </a:rPr>
              <a:t>I can analyze how the American Indian Movement, Chicano Movement, and Feminist Movement are related to the Civil Rights Movement in advancing equality across American society.</a:t>
            </a:r>
            <a:endParaRPr lang="en-US" sz="1400" dirty="0"/>
          </a:p>
        </p:txBody>
      </p:sp>
      <p:sp>
        <p:nvSpPr>
          <p:cNvPr id="10" name="Text 8"/>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9"/>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American Indian Movement demanded sovereignty — AIM pursued treaty rights, cultural preservation, and self-determination through the Occupation of Alcatraz (1969-1971), the Trail of Broken Treaties (1972), and Wounded Knee (1973), with Russell Means urging "Red Power."</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American Indian Movement demanded sovereignty — AIM pursued treaty rights, cultural preservation, and self-determination through the Occupation of Alcatraz (1969-1971), the Trail of Broken Treaties (1972), and Wounded Knee (1973), with Russell Means urging "Red Power."</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US.82 · American Indian Movement</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Chicano Movement organized for equality — it sought educational equality, labor rights, and cultural pride through the 1968 East L.A. walkouts and La Raza Unida; Cesar Chavez built the United Farm Workers using nonviolent strikes and grape boycotts.</a:t>
            </a:r>
            <a:endParaRPr lang="en-US" sz="1800" dirty="0"/>
          </a:p>
        </p:txBody>
      </p:sp>
      <p:pic>
        <p:nvPicPr>
          <p:cNvPr id="7" name="Image 0" descr="hh-web/public/images/textbook/unit-9/cesar-chavez-interview-ufw-1979.jpg">    </p:cNvPr>
          <p:cNvPicPr>
            <a:picLocks noChangeAspect="1"/>
          </p:cNvPicPr>
          <p:nvPr/>
        </p:nvPicPr>
        <p:blipFill>
          <a:blip r:embed="rId1"/>
          <a:srcRect l="0" r="0" t="0" b="0"/>
          <a:stretch/>
        </p:blipFill>
        <p:spPr>
          <a:xfrm>
            <a:off x="2743200" y="2057400"/>
            <a:ext cx="6702552" cy="4160520"/>
          </a:xfrm>
          <a:prstGeom prst="rect">
            <a:avLst/>
          </a:prstGeom>
        </p:spPr>
      </p:pic>
      <p:sp>
        <p:nvSpPr>
          <p:cNvPr id="8" name="Text 5"/>
          <p:cNvSpPr/>
          <p:nvPr/>
        </p:nvSpPr>
        <p:spPr>
          <a:xfrm>
            <a:off x="2743200" y="2103120"/>
            <a:ext cx="1188720" cy="292608"/>
          </a:xfrm>
          <a:prstGeom prst="rect">
            <a:avLst/>
          </a:prstGeom>
          <a:solidFill>
            <a:srgbClr val="F9A825"/>
          </a:solidFill>
          <a:ln/>
        </p:spPr>
        <p:txBody>
          <a:bodyPr wrap="square" rtlCol="0" anchor="ctr"/>
          <a:lstStyle/>
          <a:p>
            <a:pPr algn="ctr" indent="0" marL="0">
              <a:buNone/>
            </a:pPr>
            <a:r>
              <a:rPr lang="en-US" sz="900" b="1" spc="100" kern="0" dirty="0">
                <a:solidFill>
                  <a:srgbClr val="1A2332"/>
                </a:solidFill>
                <a:latin typeface="Trebuchet MS" pitchFamily="34" charset="0"/>
                <a:ea typeface="Trebuchet MS" pitchFamily="34" charset="-122"/>
                <a:cs typeface="Trebuchet MS" pitchFamily="34" charset="-120"/>
              </a:rPr>
              <a:t>ZOOM IN</a:t>
            </a:r>
            <a:endParaRPr lang="en-US" sz="900" dirty="0"/>
          </a:p>
        </p:txBody>
      </p:sp>
      <p:sp>
        <p:nvSpPr>
          <p:cNvPr id="9" name="Text 6"/>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US.82 · Chicano Movement</a:t>
            </a:r>
            <a:endParaRPr lang="en-US" sz="1000" dirty="0"/>
          </a:p>
        </p:txBody>
      </p:sp>
      <p:sp>
        <p:nvSpPr>
          <p:cNvPr id="10" name="Text 7"/>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1" name="Text 8"/>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737360"/>
          </a:xfrm>
          <a:prstGeom prst="rect">
            <a:avLst/>
          </a:prstGeom>
          <a:solidFill>
            <a:srgbClr val="1A2332"/>
          </a:solidFill>
          <a:ln/>
        </p:spPr>
        <p:txBody>
          <a:bodyPr/>
          <a:p/>
        </p:txBody>
      </p:sp>
      <p:sp>
        <p:nvSpPr>
          <p:cNvPr id="3" name="Shape 1"/>
          <p:cNvSpPr/>
          <p:nvPr/>
        </p:nvSpPr>
        <p:spPr>
          <a:xfrm>
            <a:off x="0" y="1737360"/>
            <a:ext cx="12191695" cy="54864"/>
          </a:xfrm>
          <a:prstGeom prst="rect">
            <a:avLst/>
          </a:prstGeom>
          <a:solidFill>
            <a:srgbClr val="C9A84C"/>
          </a:solidFill>
          <a:ln/>
        </p:spPr>
        <p:txBody>
          <a:bodyPr/>
          <a:p/>
        </p:txBody>
      </p:sp>
      <p:sp>
        <p:nvSpPr>
          <p:cNvPr id="4" name="Text 2"/>
          <p:cNvSpPr/>
          <p:nvPr/>
        </p:nvSpPr>
        <p:spPr>
          <a:xfrm>
            <a:off x="457200" y="320040"/>
            <a:ext cx="3291840" cy="365760"/>
          </a:xfrm>
          <a:prstGeom prst="rect">
            <a:avLst/>
          </a:prstGeom>
          <a:solidFill>
            <a:srgbClr val="00285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DIRECT INSTRUCTION</a:t>
            </a:r>
            <a:endParaRPr lang="en-US" sz="1100" dirty="0"/>
          </a:p>
        </p:txBody>
      </p:sp>
      <p:sp>
        <p:nvSpPr>
          <p:cNvPr id="5" name="Text 3"/>
          <p:cNvSpPr/>
          <p:nvPr/>
        </p:nvSpPr>
        <p:spPr>
          <a:xfrm>
            <a:off x="3886200" y="32004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US.82</a:t>
            </a:r>
            <a:endParaRPr lang="en-US" sz="1200" dirty="0"/>
          </a:p>
        </p:txBody>
      </p:sp>
      <p:sp>
        <p:nvSpPr>
          <p:cNvPr id="6" name="Text 4"/>
          <p:cNvSpPr/>
          <p:nvPr/>
        </p:nvSpPr>
        <p:spPr>
          <a:xfrm>
            <a:off x="457200" y="640080"/>
            <a:ext cx="11247120" cy="1005840"/>
          </a:xfrm>
          <a:prstGeom prst="rect">
            <a:avLst/>
          </a:prstGeom>
          <a:noFill/>
          <a:ln/>
        </p:spPr>
        <p:txBody>
          <a:bodyPr wrap="square" rtlCol="0" anchor="ctr"/>
          <a:lstStyle/>
          <a:p>
            <a:pPr algn="l" indent="0" marL="0">
              <a:lnSpc>
                <a:spcPct val="102000"/>
              </a:lnSpc>
              <a:buNone/>
            </a:pPr>
            <a:r>
              <a:rPr lang="en-US" sz="1800" b="1" dirty="0">
                <a:solidFill>
                  <a:srgbClr val="FFFFFF"/>
                </a:solidFill>
                <a:latin typeface="Georgia" pitchFamily="34" charset="0"/>
                <a:ea typeface="Georgia" pitchFamily="34" charset="-122"/>
                <a:cs typeface="Georgia" pitchFamily="34" charset="-120"/>
              </a:rPr>
              <a:t>The feminist movement fought gender discrimination — it pursued equal pay, reproductive rights, and representation; Betty Friedan’s The Feminine Mystique (1963) and the founding of NOW challenged traditional gender roles using civil rights strategies.</a:t>
            </a:r>
            <a:endParaRPr lang="en-US" sz="1800" dirty="0"/>
          </a:p>
        </p:txBody>
      </p:sp>
      <p:sp>
        <p:nvSpPr>
          <p:cNvPr id="7" name="Shape 5"/>
          <p:cNvSpPr/>
          <p:nvPr/>
        </p:nvSpPr>
        <p:spPr>
          <a:xfrm>
            <a:off x="1463040" y="2377440"/>
            <a:ext cx="9262872" cy="3383280"/>
          </a:xfrm>
          <a:prstGeom prst="rect">
            <a:avLst/>
          </a:prstGeom>
          <a:solidFill>
            <a:srgbClr val="FFFFFF"/>
          </a:solidFill>
          <a:ln w="34925">
            <a:solidFill>
              <a:srgbClr val="F9A825"/>
            </a:solidFill>
            <a:prstDash val="solid"/>
          </a:ln>
        </p:spPr>
      </p:sp>
      <p:sp>
        <p:nvSpPr>
          <p:cNvPr id="8" name="Shape 6"/>
          <p:cNvSpPr/>
          <p:nvPr/>
        </p:nvSpPr>
        <p:spPr>
          <a:xfrm>
            <a:off x="1463040" y="2377440"/>
            <a:ext cx="9262872" cy="502920"/>
          </a:xfrm>
          <a:prstGeom prst="rect">
            <a:avLst/>
          </a:prstGeom>
          <a:solidFill>
            <a:srgbClr val="002858"/>
          </a:solidFill>
          <a:ln/>
        </p:spPr>
      </p:sp>
      <p:sp>
        <p:nvSpPr>
          <p:cNvPr id="9" name="Text 7"/>
          <p:cNvSpPr/>
          <p:nvPr/>
        </p:nvSpPr>
        <p:spPr>
          <a:xfrm>
            <a:off x="1463040" y="2377440"/>
            <a:ext cx="9262872" cy="502920"/>
          </a:xfrm>
          <a:prstGeom prst="rect">
            <a:avLst/>
          </a:prstGeom>
          <a:noFill/>
          <a:ln/>
        </p:spPr>
        <p:txBody>
          <a:bodyPr wrap="square" rtlCol="0" anchor="ctr"/>
          <a:lstStyle/>
          <a:p>
            <a:pPr algn="ctr" indent="0" marL="0">
              <a:buNone/>
            </a:pPr>
            <a:r>
              <a:rPr lang="en-US" sz="1200" b="1" spc="200" kern="0" dirty="0">
                <a:solidFill>
                  <a:srgbClr val="FFFFFF"/>
                </a:solidFill>
                <a:latin typeface="Trebuchet MS" pitchFamily="34" charset="0"/>
                <a:ea typeface="Trebuchet MS" pitchFamily="34" charset="-122"/>
                <a:cs typeface="Trebuchet MS" pitchFamily="34" charset="-120"/>
              </a:rPr>
              <a:t>KEY POINT</a:t>
            </a:r>
            <a:endParaRPr lang="en-US" sz="1200" dirty="0"/>
          </a:p>
        </p:txBody>
      </p:sp>
      <p:sp>
        <p:nvSpPr>
          <p:cNvPr id="10" name="Text 8"/>
          <p:cNvSpPr/>
          <p:nvPr/>
        </p:nvSpPr>
        <p:spPr>
          <a:xfrm>
            <a:off x="1920240" y="2880360"/>
            <a:ext cx="8348472" cy="2880360"/>
          </a:xfrm>
          <a:prstGeom prst="rect">
            <a:avLst/>
          </a:prstGeom>
          <a:noFill/>
          <a:ln/>
        </p:spPr>
        <p:txBody>
          <a:bodyPr wrap="square" rtlCol="0" anchor="ctr"/>
          <a:lstStyle/>
          <a:p>
            <a:pPr algn="ctr" indent="0" marL="0">
              <a:lnSpc>
                <a:spcPct val="120000"/>
              </a:lnSpc>
              <a:buNone/>
            </a:pPr>
            <a:r>
              <a:rPr lang="en-US" sz="2200" dirty="0">
                <a:solidFill>
                  <a:srgbClr val="1F2430"/>
                </a:solidFill>
                <a:latin typeface="Calibri" pitchFamily="34" charset="0"/>
                <a:ea typeface="Calibri" pitchFamily="34" charset="-122"/>
                <a:cs typeface="Calibri" pitchFamily="34" charset="-120"/>
              </a:rPr>
              <a:t>The feminist movement fought gender discrimination — it pursued equal pay, reproductive rights, and representation; Betty Friedan’s The Feminine Mystique (1963) and the founding of NOW challenged traditional gender roles using civil rights strategies.</a:t>
            </a:r>
            <a:endParaRPr lang="en-US" sz="2200" dirty="0"/>
          </a:p>
        </p:txBody>
      </p:sp>
      <p:sp>
        <p:nvSpPr>
          <p:cNvPr id="11" name="Text 9"/>
          <p:cNvSpPr/>
          <p:nvPr/>
        </p:nvSpPr>
        <p:spPr>
          <a:xfrm>
            <a:off x="457200" y="6263640"/>
            <a:ext cx="8229600" cy="274320"/>
          </a:xfrm>
          <a:prstGeom prst="rect">
            <a:avLst/>
          </a:prstGeom>
          <a:noFill/>
          <a:ln/>
        </p:spPr>
        <p:txBody>
          <a:bodyPr wrap="square" rtlCol="0" anchor="ctr"/>
          <a:lstStyle/>
          <a:p>
            <a:pPr indent="0" marL="0">
              <a:buNone/>
            </a:pPr>
            <a:r>
              <a:rPr lang="en-US" sz="1000" i="1" dirty="0">
                <a:solidFill>
                  <a:srgbClr val="5C6470"/>
                </a:solidFill>
                <a:latin typeface="Trebuchet MS" pitchFamily="34" charset="0"/>
                <a:ea typeface="Trebuchet MS" pitchFamily="34" charset="-122"/>
                <a:cs typeface="Trebuchet MS" pitchFamily="34" charset="-120"/>
              </a:rPr>
              <a:t>US.82 · Feminist Movement</a:t>
            </a:r>
            <a:endParaRPr lang="en-US" sz="1000" dirty="0"/>
          </a:p>
        </p:txBody>
      </p:sp>
      <p:sp>
        <p:nvSpPr>
          <p:cNvPr id="12" name="Text 10"/>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3" name="Text 11"/>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12191695" cy="1554480"/>
          </a:xfrm>
          <a:prstGeom prst="rect">
            <a:avLst/>
          </a:prstGeom>
          <a:solidFill>
            <a:srgbClr val="002858"/>
          </a:solidFill>
          <a:ln/>
        </p:spPr>
        <p:txBody>
          <a:bodyPr/>
          <a:p/>
        </p:txBody>
      </p:sp>
      <p:sp>
        <p:nvSpPr>
          <p:cNvPr id="3" name="Shape 1"/>
          <p:cNvSpPr/>
          <p:nvPr/>
        </p:nvSpPr>
        <p:spPr>
          <a:xfrm>
            <a:off x="0" y="1554480"/>
            <a:ext cx="12191695" cy="54864"/>
          </a:xfrm>
          <a:prstGeom prst="rect">
            <a:avLst/>
          </a:prstGeom>
          <a:solidFill>
            <a:srgbClr val="C9A84C"/>
          </a:solidFill>
          <a:ln/>
        </p:spPr>
        <p:txBody>
          <a:bodyPr/>
          <a:p/>
        </p:txBody>
      </p:sp>
      <p:sp>
        <p:nvSpPr>
          <p:cNvPr id="4" name="Text 2"/>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SOURCE IT FIRST</a:t>
            </a:r>
            <a:endParaRPr lang="en-US" sz="1100" dirty="0"/>
          </a:p>
        </p:txBody>
      </p:sp>
      <p:sp>
        <p:nvSpPr>
          <p:cNvPr id="5" name="Text 3"/>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US.82</a:t>
            </a:r>
            <a:endParaRPr lang="en-US" sz="1200" dirty="0"/>
          </a:p>
        </p:txBody>
      </p:sp>
      <p:sp>
        <p:nvSpPr>
          <p:cNvPr id="6" name="Text 4"/>
          <p:cNvSpPr/>
          <p:nvPr/>
        </p:nvSpPr>
        <p:spPr>
          <a:xfrm>
            <a:off x="457200" y="713232"/>
            <a:ext cx="11247120" cy="77724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Read the United Farm Workers Proclamation — weigh who issued it and why before you read the words.</a:t>
            </a:r>
            <a:endParaRPr lang="en-US" sz="2000" dirty="0"/>
          </a:p>
        </p:txBody>
      </p:sp>
      <p:sp>
        <p:nvSpPr>
          <p:cNvPr id="7" name="Text 5"/>
          <p:cNvSpPr/>
          <p:nvPr/>
        </p:nvSpPr>
        <p:spPr>
          <a:xfrm>
            <a:off x="45720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WHO</a:t>
            </a:r>
            <a:endParaRPr lang="en-US" sz="1200" dirty="0"/>
          </a:p>
        </p:txBody>
      </p:sp>
      <p:sp>
        <p:nvSpPr>
          <p:cNvPr id="8" name="Text 6"/>
          <p:cNvSpPr/>
          <p:nvPr/>
        </p:nvSpPr>
        <p:spPr>
          <a:xfrm>
            <a:off x="45720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Dolores Huerta</a:t>
            </a:r>
            <a:endParaRPr lang="en-US" sz="1200" dirty="0"/>
          </a:p>
        </p:txBody>
      </p:sp>
      <p:sp>
        <p:nvSpPr>
          <p:cNvPr id="9" name="Text 7"/>
          <p:cNvSpPr/>
          <p:nvPr/>
        </p:nvSpPr>
        <p:spPr>
          <a:xfrm>
            <a:off x="425196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WHEN</a:t>
            </a:r>
            <a:endParaRPr lang="en-US" sz="1200" dirty="0"/>
          </a:p>
        </p:txBody>
      </p:sp>
      <p:sp>
        <p:nvSpPr>
          <p:cNvPr id="10" name="Text 8"/>
          <p:cNvSpPr/>
          <p:nvPr/>
        </p:nvSpPr>
        <p:spPr>
          <a:xfrm>
            <a:off x="425196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1965</a:t>
            </a:r>
            <a:endParaRPr lang="en-US" sz="1200" dirty="0"/>
          </a:p>
        </p:txBody>
      </p:sp>
      <p:sp>
        <p:nvSpPr>
          <p:cNvPr id="11" name="Text 9"/>
          <p:cNvSpPr/>
          <p:nvPr/>
        </p:nvSpPr>
        <p:spPr>
          <a:xfrm>
            <a:off x="8046720" y="1783080"/>
            <a:ext cx="3566160" cy="320040"/>
          </a:xfrm>
          <a:prstGeom prst="rect">
            <a:avLst/>
          </a:prstGeom>
          <a:solidFill>
            <a:srgbClr val="1A2332"/>
          </a:solid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WHY</a:t>
            </a:r>
            <a:endParaRPr lang="en-US" sz="1200" dirty="0"/>
          </a:p>
        </p:txBody>
      </p:sp>
      <p:sp>
        <p:nvSpPr>
          <p:cNvPr id="12" name="Text 10"/>
          <p:cNvSpPr/>
          <p:nvPr/>
        </p:nvSpPr>
        <p:spPr>
          <a:xfrm>
            <a:off x="8046720" y="2103120"/>
            <a:ext cx="3566160" cy="914400"/>
          </a:xfrm>
          <a:prstGeom prst="rect">
            <a:avLst/>
          </a:prstGeom>
          <a:solidFill>
            <a:srgbClr val="FFFFFF"/>
          </a:solidFill>
          <a:ln w="12700">
            <a:solidFill>
              <a:srgbClr val="DAD3C2"/>
            </a:solidFill>
          </a:ln>
        </p:spPr>
        <p:txBody>
          <a:bodyPr wrap="square" lIns="76200" tIns="76200" rIns="76200" bIns="76200" rtlCol="0" anchor="t"/>
          <a:lstStyle/>
          <a:p>
            <a:pPr algn="l" indent="0" marL="0">
              <a:buNone/>
            </a:pPr>
            <a:r>
              <a:rPr lang="en-US" sz="1200" dirty="0">
                <a:solidFill>
                  <a:srgbClr val="1F2430"/>
                </a:solidFill>
                <a:latin typeface="Calibri" pitchFamily="34" charset="0"/>
                <a:ea typeface="Calibri" pitchFamily="34" charset="-122"/>
                <a:cs typeface="Calibri" pitchFamily="34" charset="-120"/>
              </a:rPr>
              <a:t>Consider the author’s purpose and audience before you interpret the words.</a:t>
            </a:r>
            <a:endParaRPr lang="en-US" sz="1200" dirty="0"/>
          </a:p>
        </p:txBody>
      </p:sp>
      <p:sp>
        <p:nvSpPr>
          <p:cNvPr id="13" name="Shape 11"/>
          <p:cNvSpPr/>
          <p:nvPr/>
        </p:nvSpPr>
        <p:spPr>
          <a:xfrm>
            <a:off x="457200" y="3200400"/>
            <a:ext cx="5532120" cy="2651760"/>
          </a:xfrm>
          <a:prstGeom prst="rect">
            <a:avLst/>
          </a:prstGeom>
          <a:solidFill>
            <a:srgbClr val="FFFFFF"/>
          </a:solidFill>
          <a:ln w="19050">
            <a:solidFill>
              <a:srgbClr val="C9A84C"/>
            </a:solidFill>
            <a:prstDash val="solid"/>
          </a:ln>
        </p:spPr>
      </p:sp>
      <p:sp>
        <p:nvSpPr>
          <p:cNvPr id="14" name="Text 12"/>
          <p:cNvSpPr/>
          <p:nvPr/>
        </p:nvSpPr>
        <p:spPr>
          <a:xfrm>
            <a:off x="594360" y="3291840"/>
            <a:ext cx="5257800" cy="320040"/>
          </a:xfrm>
          <a:prstGeom prst="rect">
            <a:avLst/>
          </a:prstGeom>
          <a:noFill/>
          <a:ln/>
        </p:spPr>
        <p:txBody>
          <a:bodyPr wrap="square" rtlCol="0" anchor="ctr"/>
          <a:lstStyle/>
          <a:p>
            <a:pPr indent="0" marL="0">
              <a:buNone/>
            </a:pPr>
            <a:r>
              <a:rPr lang="en-US" sz="1400" b="1" dirty="0">
                <a:solidFill>
                  <a:srgbClr val="002858"/>
                </a:solidFill>
                <a:latin typeface="Georgia" pitchFamily="34" charset="0"/>
                <a:ea typeface="Georgia" pitchFamily="34" charset="-122"/>
                <a:cs typeface="Georgia" pitchFamily="34" charset="-120"/>
              </a:rPr>
              <a:t>United Farm Workers Proclamation</a:t>
            </a:r>
            <a:endParaRPr lang="en-US" sz="1400" dirty="0"/>
          </a:p>
        </p:txBody>
      </p:sp>
      <p:sp>
        <p:nvSpPr>
          <p:cNvPr id="15" name="Text 13"/>
          <p:cNvSpPr/>
          <p:nvPr/>
        </p:nvSpPr>
        <p:spPr>
          <a:xfrm>
            <a:off x="594360" y="3611880"/>
            <a:ext cx="5257800" cy="274320"/>
          </a:xfrm>
          <a:prstGeom prst="rect">
            <a:avLst/>
          </a:prstGeom>
          <a:noFill/>
          <a:ln/>
        </p:spPr>
        <p:txBody>
          <a:bodyPr wrap="square" rtlCol="0" anchor="ctr"/>
          <a:lstStyle/>
          <a:p>
            <a:pPr indent="0" marL="0">
              <a:buNone/>
            </a:pPr>
            <a:r>
              <a:rPr lang="en-US" sz="900" i="1" dirty="0">
                <a:solidFill>
                  <a:srgbClr val="5C6470"/>
                </a:solidFill>
                <a:latin typeface="Trebuchet MS" pitchFamily="34" charset="0"/>
                <a:ea typeface="Trebuchet MS" pitchFamily="34" charset="-122"/>
                <a:cs typeface="Trebuchet MS" pitchFamily="34" charset="-120"/>
              </a:rPr>
              <a:t>Dolores Huerta · 1965</a:t>
            </a:r>
            <a:endParaRPr lang="en-US" sz="900" dirty="0"/>
          </a:p>
        </p:txBody>
      </p:sp>
      <p:sp>
        <p:nvSpPr>
          <p:cNvPr id="16" name="Text 14"/>
          <p:cNvSpPr/>
          <p:nvPr/>
        </p:nvSpPr>
        <p:spPr>
          <a:xfrm>
            <a:off x="594360" y="3931920"/>
            <a:ext cx="5257800" cy="1600200"/>
          </a:xfrm>
          <a:prstGeom prst="rect">
            <a:avLst/>
          </a:prstGeom>
          <a:noFill/>
          <a:ln/>
        </p:spPr>
        <p:txBody>
          <a:bodyPr wrap="square" rtlCol="0" anchor="t"/>
          <a:lstStyle/>
          <a:p>
            <a:pPr indent="0" marL="0">
              <a:buNone/>
            </a:pPr>
            <a:r>
              <a:rPr lang="en-US" sz="1100" dirty="0">
                <a:solidFill>
                  <a:srgbClr val="1F2430"/>
                </a:solidFill>
                <a:latin typeface="Calibri" pitchFamily="34" charset="0"/>
                <a:ea typeface="Calibri" pitchFamily="34" charset="-122"/>
                <a:cs typeface="Calibri" pitchFamily="34" charset="-120"/>
              </a:rPr>
              <a:t>"We, the striking grape workers of California, join on this International Boycott Day with the consumers across the continent in planning the steps that lie ahead on the road to our liberation. Now we will suffer for the purpose of ending the poverty, the misery, and the injustice... We are suffering. We shall endure. We shall overcome."</a:t>
            </a:r>
            <a:endParaRPr lang="en-US" sz="1100" dirty="0"/>
          </a:p>
        </p:txBody>
      </p:sp>
      <p:sp>
        <p:nvSpPr>
          <p:cNvPr id="17" name="Text 15">
            <a:hlinkClick r:id="rId1" tooltip=""/>
          </p:cNvPr>
          <p:cNvSpPr/>
          <p:nvPr/>
        </p:nvSpPr>
        <p:spPr>
          <a:xfrm>
            <a:off x="594360" y="5532120"/>
            <a:ext cx="5257800" cy="256032"/>
          </a:xfrm>
          <a:prstGeom prst="rect">
            <a:avLst/>
          </a:prstGeom>
          <a:noFill/>
          <a:ln/>
        </p:spPr>
        <p:txBody>
          <a:bodyPr wrap="square" rtlCol="0" anchor="ctr"/>
          <a:lstStyle/>
          <a:p>
            <a:pPr indent="0" marL="0">
              <a:buNone/>
            </a:pPr>
            <a:r>
              <a:rPr lang="en-US" sz="900" u="sng" dirty="0">
                <a:solidFill>
                  <a:srgbClr val="002858"/>
                </a:solidFill>
                <a:latin typeface="Trebuchet MS" pitchFamily="34" charset="0"/>
                <a:ea typeface="Trebuchet MS" pitchFamily="34" charset="-122"/>
                <a:cs typeface="Trebuchet MS" pitchFamily="34" charset="-120"/>
                <a:hlinkClick r:id="rId1" invalidUrl="" action="" tgtFrame="" tooltip="" history="1" highlightClick="0" endSnd="0">
                  <a:extLst>
                    <a:ext uri="{A12FA001-AC4F-418D-AE19-62706E023703}">
                      <ahyp:hlinkClr xmlns:ahyp="http://schemas.microsoft.com/office/drawing/2018/hyperlinkcolor" val="tx"/>
                    </a:ext>
                  </a:extLst>
                </a:hlinkClick>
              </a:rPr>
              <a:t>Library of Congress</a:t>
            </a:r>
            <a:endParaRPr lang="en-US" sz="900" dirty="0"/>
          </a:p>
        </p:txBody>
      </p:sp>
      <p:sp>
        <p:nvSpPr>
          <p:cNvPr id="18" name="Text 16"/>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5C647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19" name="Text 17"/>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5C6470"/>
                </a:solidFill>
                <a:latin typeface="Trebuchet MS" pitchFamily="34" charset="0"/>
                <a:ea typeface="Trebuchet MS" pitchFamily="34" charset="-122"/>
                <a:cs typeface="Trebuchet MS"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A2332"/>
        </a:solidFill>
      </p:bgPr>
    </p:bg>
    <p:spTree>
      <p:nvGrpSpPr>
        <p:cNvPr id="1" name=""/>
        <p:cNvGrpSpPr/>
        <p:nvPr/>
      </p:nvGrpSpPr>
      <p:grpSpPr>
        <a:xfrm>
          <a:off x="0" y="0"/>
          <a:ext cx="0" cy="0"/>
          <a:chOff x="0" y="0"/>
          <a:chExt cx="0" cy="0"/>
        </a:xfrm>
      </p:grpSpPr>
      <p:sp>
        <p:nvSpPr>
          <p:cNvPr id="2" name="Text 0"/>
          <p:cNvSpPr/>
          <p:nvPr/>
        </p:nvSpPr>
        <p:spPr>
          <a:xfrm>
            <a:off x="457200" y="274320"/>
            <a:ext cx="3291840" cy="365760"/>
          </a:xfrm>
          <a:prstGeom prst="rect">
            <a:avLst/>
          </a:prstGeom>
          <a:solidFill>
            <a:srgbClr val="C62828"/>
          </a:solidFill>
          <a:ln/>
        </p:spPr>
        <p:txBody>
          <a:bodyPr wrap="square" rtlCol="0" anchor="ctr"/>
          <a:lstStyle/>
          <a:p>
            <a:pPr algn="ctr" indent="0" marL="0">
              <a:buNone/>
            </a:pPr>
            <a:r>
              <a:rPr lang="en-US" sz="1100" b="1" spc="100" kern="0" dirty="0">
                <a:solidFill>
                  <a:srgbClr val="FFFFFF"/>
                </a:solidFill>
                <a:latin typeface="Trebuchet MS" pitchFamily="34" charset="0"/>
                <a:ea typeface="Trebuchet MS" pitchFamily="34" charset="-122"/>
                <a:cs typeface="Trebuchet MS" pitchFamily="34" charset="-120"/>
              </a:rPr>
              <a:t>THREE PERSPECTIVES</a:t>
            </a:r>
            <a:endParaRPr lang="en-US" sz="1100" dirty="0"/>
          </a:p>
        </p:txBody>
      </p:sp>
      <p:sp>
        <p:nvSpPr>
          <p:cNvPr id="3" name="Text 1"/>
          <p:cNvSpPr/>
          <p:nvPr/>
        </p:nvSpPr>
        <p:spPr>
          <a:xfrm>
            <a:off x="3886200" y="274320"/>
            <a:ext cx="1005840" cy="365760"/>
          </a:xfrm>
          <a:prstGeom prst="rect">
            <a:avLst/>
          </a:prstGeom>
          <a:solidFill>
            <a:srgbClr val="C9A84C"/>
          </a:solidFill>
          <a:ln/>
        </p:spPr>
        <p:txBody>
          <a:bodyPr wrap="square" rtlCol="0" anchor="ctr"/>
          <a:lstStyle/>
          <a:p>
            <a:pPr algn="ctr" indent="0" marL="0">
              <a:buNone/>
            </a:pPr>
            <a:r>
              <a:rPr lang="en-US" sz="1200" b="1" dirty="0">
                <a:solidFill>
                  <a:srgbClr val="1A2332"/>
                </a:solidFill>
                <a:latin typeface="Trebuchet MS" pitchFamily="34" charset="0"/>
                <a:ea typeface="Trebuchet MS" pitchFamily="34" charset="-122"/>
                <a:cs typeface="Trebuchet MS" pitchFamily="34" charset="-120"/>
              </a:rPr>
              <a:t>US.82</a:t>
            </a:r>
            <a:endParaRPr lang="en-US" sz="1200" dirty="0"/>
          </a:p>
        </p:txBody>
      </p:sp>
      <p:sp>
        <p:nvSpPr>
          <p:cNvPr id="4" name="Text 2"/>
          <p:cNvSpPr/>
          <p:nvPr/>
        </p:nvSpPr>
        <p:spPr>
          <a:xfrm>
            <a:off x="457200" y="777240"/>
            <a:ext cx="11247120" cy="822960"/>
          </a:xfrm>
          <a:prstGeom prst="rect">
            <a:avLst/>
          </a:prstGeom>
          <a:noFill/>
          <a:ln/>
        </p:spPr>
        <p:txBody>
          <a:bodyPr wrap="square" rtlCol="0" anchor="ctr"/>
          <a:lstStyle/>
          <a:p>
            <a:pPr indent="0" marL="0">
              <a:buNone/>
            </a:pPr>
            <a:r>
              <a:rPr lang="en-US" sz="1700" i="1" dirty="0">
                <a:solidFill>
                  <a:srgbClr val="C7D4E0"/>
                </a:solidFill>
                <a:latin typeface="Georgia" pitchFamily="34" charset="0"/>
                <a:ea typeface="Georgia" pitchFamily="34" charset="-122"/>
                <a:cs typeface="Georgia" pitchFamily="34" charset="-120"/>
              </a:rPr>
              <a:t>A historian returns to three questions at the end of every reading. Use them to analyze this standard.</a:t>
            </a:r>
            <a:endParaRPr lang="en-US" sz="1700" dirty="0"/>
          </a:p>
        </p:txBody>
      </p:sp>
      <p:sp>
        <p:nvSpPr>
          <p:cNvPr id="5" name="Shape 3"/>
          <p:cNvSpPr/>
          <p:nvPr/>
        </p:nvSpPr>
        <p:spPr>
          <a:xfrm>
            <a:off x="457200" y="1783080"/>
            <a:ext cx="3566160" cy="4206240"/>
          </a:xfrm>
          <a:prstGeom prst="rect">
            <a:avLst/>
          </a:prstGeom>
          <a:solidFill>
            <a:srgbClr val="FFFFFF"/>
          </a:solidFill>
          <a:ln/>
        </p:spPr>
      </p:sp>
      <p:sp>
        <p:nvSpPr>
          <p:cNvPr id="6" name="Shape 4"/>
          <p:cNvSpPr/>
          <p:nvPr/>
        </p:nvSpPr>
        <p:spPr>
          <a:xfrm>
            <a:off x="457200" y="1783080"/>
            <a:ext cx="3566160" cy="548640"/>
          </a:xfrm>
          <a:prstGeom prst="rect">
            <a:avLst/>
          </a:prstGeom>
          <a:solidFill>
            <a:srgbClr val="1B5E20"/>
          </a:solidFill>
          <a:ln/>
        </p:spPr>
      </p:sp>
      <p:sp>
        <p:nvSpPr>
          <p:cNvPr id="7" name="Text 5"/>
          <p:cNvSpPr/>
          <p:nvPr/>
        </p:nvSpPr>
        <p:spPr>
          <a:xfrm>
            <a:off x="45720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benefited?</a:t>
            </a:r>
            <a:endParaRPr lang="en-US" sz="1600" dirty="0"/>
          </a:p>
        </p:txBody>
      </p:sp>
      <p:sp>
        <p:nvSpPr>
          <p:cNvPr id="8" name="Text 6"/>
          <p:cNvSpPr/>
          <p:nvPr/>
        </p:nvSpPr>
        <p:spPr>
          <a:xfrm>
            <a:off x="59436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gained land, wealth, power, or protection?</a:t>
            </a:r>
            <a:endParaRPr lang="en-US" sz="1100" dirty="0"/>
          </a:p>
        </p:txBody>
      </p:sp>
      <p:sp>
        <p:nvSpPr>
          <p:cNvPr id="9" name="Text 7"/>
          <p:cNvSpPr/>
          <p:nvPr/>
        </p:nvSpPr>
        <p:spPr>
          <a:xfrm>
            <a:off x="59436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US.82:</a:t>
            </a:r>
            <a:endParaRPr lang="en-US" sz="1000" dirty="0"/>
          </a:p>
        </p:txBody>
      </p:sp>
      <p:sp>
        <p:nvSpPr>
          <p:cNvPr id="10" name="Text 8"/>
          <p:cNvSpPr/>
          <p:nvPr/>
        </p:nvSpPr>
        <p:spPr>
          <a:xfrm>
            <a:off x="59436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American Indians, Mexican Americans, and women who won new rights, recognition, and organizations, and future movements that borrowed their tactics.</a:t>
            </a:r>
            <a:endParaRPr lang="en-US" sz="1200" dirty="0"/>
          </a:p>
        </p:txBody>
      </p:sp>
      <p:sp>
        <p:nvSpPr>
          <p:cNvPr id="11" name="Shape 9"/>
          <p:cNvSpPr/>
          <p:nvPr/>
        </p:nvSpPr>
        <p:spPr>
          <a:xfrm>
            <a:off x="4251960" y="1783080"/>
            <a:ext cx="3566160" cy="4206240"/>
          </a:xfrm>
          <a:prstGeom prst="rect">
            <a:avLst/>
          </a:prstGeom>
          <a:solidFill>
            <a:srgbClr val="FFFFFF"/>
          </a:solidFill>
          <a:ln/>
        </p:spPr>
      </p:sp>
      <p:sp>
        <p:nvSpPr>
          <p:cNvPr id="12" name="Shape 10"/>
          <p:cNvSpPr/>
          <p:nvPr/>
        </p:nvSpPr>
        <p:spPr>
          <a:xfrm>
            <a:off x="4251960" y="1783080"/>
            <a:ext cx="3566160" cy="548640"/>
          </a:xfrm>
          <a:prstGeom prst="rect">
            <a:avLst/>
          </a:prstGeom>
          <a:solidFill>
            <a:srgbClr val="C62828"/>
          </a:solidFill>
          <a:ln/>
        </p:spPr>
      </p:sp>
      <p:sp>
        <p:nvSpPr>
          <p:cNvPr id="13" name="Text 11"/>
          <p:cNvSpPr/>
          <p:nvPr/>
        </p:nvSpPr>
        <p:spPr>
          <a:xfrm>
            <a:off x="425196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bore the costs?</a:t>
            </a:r>
            <a:endParaRPr lang="en-US" sz="1600" dirty="0"/>
          </a:p>
        </p:txBody>
      </p:sp>
      <p:sp>
        <p:nvSpPr>
          <p:cNvPr id="14" name="Text 12"/>
          <p:cNvSpPr/>
          <p:nvPr/>
        </p:nvSpPr>
        <p:spPr>
          <a:xfrm>
            <a:off x="438912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Who lost land, labor, freedom, or life — and who was silenced?</a:t>
            </a:r>
            <a:endParaRPr lang="en-US" sz="1100" dirty="0"/>
          </a:p>
        </p:txBody>
      </p:sp>
      <p:sp>
        <p:nvSpPr>
          <p:cNvPr id="15" name="Text 13"/>
          <p:cNvSpPr/>
          <p:nvPr/>
        </p:nvSpPr>
        <p:spPr>
          <a:xfrm>
            <a:off x="438912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US.82:</a:t>
            </a:r>
            <a:endParaRPr lang="en-US" sz="1000" dirty="0"/>
          </a:p>
        </p:txBody>
      </p:sp>
      <p:sp>
        <p:nvSpPr>
          <p:cNvPr id="16" name="Text 14"/>
          <p:cNvSpPr/>
          <p:nvPr/>
        </p:nvSpPr>
        <p:spPr>
          <a:xfrm>
            <a:off x="438912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Activists who faced arrest and violence at Wounded Knee, on picket lines, and in protests, and groups whose full demands were only partly met.</a:t>
            </a:r>
            <a:endParaRPr lang="en-US" sz="1200" dirty="0"/>
          </a:p>
        </p:txBody>
      </p:sp>
      <p:sp>
        <p:nvSpPr>
          <p:cNvPr id="17" name="Shape 15"/>
          <p:cNvSpPr/>
          <p:nvPr/>
        </p:nvSpPr>
        <p:spPr>
          <a:xfrm>
            <a:off x="8046720" y="1783080"/>
            <a:ext cx="3566160" cy="4206240"/>
          </a:xfrm>
          <a:prstGeom prst="rect">
            <a:avLst/>
          </a:prstGeom>
          <a:solidFill>
            <a:srgbClr val="FFFFFF"/>
          </a:solidFill>
          <a:ln/>
        </p:spPr>
      </p:sp>
      <p:sp>
        <p:nvSpPr>
          <p:cNvPr id="18" name="Shape 16"/>
          <p:cNvSpPr/>
          <p:nvPr/>
        </p:nvSpPr>
        <p:spPr>
          <a:xfrm>
            <a:off x="8046720" y="1783080"/>
            <a:ext cx="3566160" cy="548640"/>
          </a:xfrm>
          <a:prstGeom prst="rect">
            <a:avLst/>
          </a:prstGeom>
          <a:solidFill>
            <a:srgbClr val="002858"/>
          </a:solidFill>
          <a:ln/>
        </p:spPr>
      </p:sp>
      <p:sp>
        <p:nvSpPr>
          <p:cNvPr id="19" name="Text 17"/>
          <p:cNvSpPr/>
          <p:nvPr/>
        </p:nvSpPr>
        <p:spPr>
          <a:xfrm>
            <a:off x="8046720" y="1783080"/>
            <a:ext cx="3566160" cy="5486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Who decided?</a:t>
            </a:r>
            <a:endParaRPr lang="en-US" sz="1600" dirty="0"/>
          </a:p>
        </p:txBody>
      </p:sp>
      <p:sp>
        <p:nvSpPr>
          <p:cNvPr id="20" name="Text 18"/>
          <p:cNvSpPr/>
          <p:nvPr/>
        </p:nvSpPr>
        <p:spPr>
          <a:xfrm>
            <a:off x="8183880" y="2423160"/>
            <a:ext cx="3291840" cy="868680"/>
          </a:xfrm>
          <a:prstGeom prst="rect">
            <a:avLst/>
          </a:prstGeom>
          <a:noFill/>
          <a:ln/>
        </p:spPr>
        <p:txBody>
          <a:bodyPr wrap="square" rtlCol="0" anchor="t"/>
          <a:lstStyle/>
          <a:p>
            <a:pPr indent="0" marL="0">
              <a:buNone/>
            </a:pPr>
            <a:r>
              <a:rPr lang="en-US" sz="1100" i="1" dirty="0">
                <a:solidFill>
                  <a:srgbClr val="5C6470"/>
                </a:solidFill>
                <a:latin typeface="Calibri" pitchFamily="34" charset="0"/>
                <a:ea typeface="Calibri" pitchFamily="34" charset="-122"/>
                <a:cs typeface="Calibri" pitchFamily="34" charset="-120"/>
              </a:rPr>
              <a:t>Which people, offices, or courts held the authority?</a:t>
            </a:r>
            <a:endParaRPr lang="en-US" sz="1100" dirty="0"/>
          </a:p>
        </p:txBody>
      </p:sp>
      <p:sp>
        <p:nvSpPr>
          <p:cNvPr id="21" name="Text 19"/>
          <p:cNvSpPr/>
          <p:nvPr/>
        </p:nvSpPr>
        <p:spPr>
          <a:xfrm>
            <a:off x="8183880" y="3291840"/>
            <a:ext cx="3291840" cy="274320"/>
          </a:xfrm>
          <a:prstGeom prst="rect">
            <a:avLst/>
          </a:prstGeom>
          <a:noFill/>
          <a:ln/>
        </p:spPr>
        <p:txBody>
          <a:bodyPr wrap="square" rtlCol="0" anchor="ctr"/>
          <a:lstStyle/>
          <a:p>
            <a:pPr indent="0" marL="0">
              <a:buNone/>
            </a:pPr>
            <a:r>
              <a:rPr lang="en-US" sz="1000" b="1" dirty="0">
                <a:solidFill>
                  <a:srgbClr val="8A6D1A"/>
                </a:solidFill>
                <a:latin typeface="Trebuchet MS" pitchFamily="34" charset="0"/>
                <a:ea typeface="Trebuchet MS" pitchFamily="34" charset="-122"/>
                <a:cs typeface="Trebuchet MS" pitchFamily="34" charset="-120"/>
              </a:rPr>
              <a:t>US.82:</a:t>
            </a:r>
            <a:endParaRPr lang="en-US" sz="1000" dirty="0"/>
          </a:p>
        </p:txBody>
      </p:sp>
      <p:sp>
        <p:nvSpPr>
          <p:cNvPr id="22" name="Text 20"/>
          <p:cNvSpPr/>
          <p:nvPr/>
        </p:nvSpPr>
        <p:spPr>
          <a:xfrm>
            <a:off x="8183880" y="3566160"/>
            <a:ext cx="3291840" cy="2286000"/>
          </a:xfrm>
          <a:prstGeom prst="rect">
            <a:avLst/>
          </a:prstGeom>
          <a:noFill/>
          <a:ln/>
        </p:spPr>
        <p:txBody>
          <a:bodyPr wrap="square" rtlCol="0" anchor="t"/>
          <a:lstStyle/>
          <a:p>
            <a:pPr indent="0" marL="0">
              <a:buNone/>
            </a:pPr>
            <a:r>
              <a:rPr lang="en-US" sz="1200" dirty="0">
                <a:solidFill>
                  <a:srgbClr val="1F2430"/>
                </a:solidFill>
                <a:latin typeface="Calibri" pitchFamily="34" charset="0"/>
                <a:ea typeface="Calibri" pitchFamily="34" charset="-122"/>
                <a:cs typeface="Calibri" pitchFamily="34" charset="-120"/>
              </a:rPr>
              <a:t>Movement leaders like Russell Means, Cesar Chavez, and Betty Friedan who organized action, and the governments and employers they pressured to change.</a:t>
            </a:r>
            <a:endParaRPr lang="en-US" sz="1200" dirty="0"/>
          </a:p>
        </p:txBody>
      </p:sp>
      <p:sp>
        <p:nvSpPr>
          <p:cNvPr id="23" name="Text 21"/>
          <p:cNvSpPr/>
          <p:nvPr/>
        </p:nvSpPr>
        <p:spPr>
          <a:xfrm>
            <a:off x="457200" y="6126480"/>
            <a:ext cx="10972800" cy="274320"/>
          </a:xfrm>
          <a:prstGeom prst="rect">
            <a:avLst/>
          </a:prstGeom>
          <a:noFill/>
          <a:ln/>
        </p:spPr>
        <p:txBody>
          <a:bodyPr wrap="square" rtlCol="0" anchor="ctr"/>
          <a:lstStyle/>
          <a:p>
            <a:pPr indent="0" marL="0">
              <a:buNone/>
            </a:pPr>
            <a:r>
              <a:rPr lang="en-US" sz="1000" i="1" dirty="0">
                <a:solidFill>
                  <a:srgbClr val="C7D4E0"/>
                </a:solidFill>
                <a:latin typeface="Trebuchet MS" pitchFamily="34" charset="0"/>
                <a:ea typeface="Trebuchet MS" pitchFamily="34" charset="-122"/>
                <a:cs typeface="Trebuchet MS" pitchFamily="34" charset="-120"/>
              </a:rPr>
              <a:t>Anchor: United Farm Workers Proclamation, Dolores Huerta, 1965 (Library of Congress)</a:t>
            </a:r>
            <a:endParaRPr lang="en-US" sz="1000" dirty="0"/>
          </a:p>
        </p:txBody>
      </p:sp>
      <p:sp>
        <p:nvSpPr>
          <p:cNvPr id="24" name="Text 22"/>
          <p:cNvSpPr/>
          <p:nvPr/>
        </p:nvSpPr>
        <p:spPr>
          <a:xfrm>
            <a:off x="457200" y="6473952"/>
            <a:ext cx="10058400" cy="274320"/>
          </a:xfrm>
          <a:prstGeom prst="rect">
            <a:avLst/>
          </a:prstGeom>
          <a:noFill/>
          <a:ln/>
        </p:spPr>
        <p:txBody>
          <a:bodyPr wrap="square" rtlCol="0" anchor="ctr"/>
          <a:lstStyle/>
          <a:p>
            <a:pPr algn="l" indent="0" marL="0">
              <a:buNone/>
            </a:pPr>
            <a:r>
              <a:rPr lang="en-US" sz="800" dirty="0">
                <a:solidFill>
                  <a:srgbClr val="C7D4E0"/>
                </a:solidFill>
                <a:latin typeface="Trebuchet MS" pitchFamily="34" charset="0"/>
                <a:ea typeface="Trebuchet MS" pitchFamily="34" charset="-122"/>
                <a:cs typeface="Trebuchet MS" pitchFamily="34" charset="-120"/>
              </a:rPr>
              <a:t>U.S. History Hack  ·  TroopToTeacher Technologies LLC  ·  Aligned to TN Academic Standards &amp; TCAP EOC</a:t>
            </a:r>
            <a:endParaRPr lang="en-US" sz="800" dirty="0"/>
          </a:p>
        </p:txBody>
      </p:sp>
      <p:sp>
        <p:nvSpPr>
          <p:cNvPr id="25" name="Text 23"/>
          <p:cNvSpPr/>
          <p:nvPr/>
        </p:nvSpPr>
        <p:spPr>
          <a:xfrm>
            <a:off x="11185855" y="6473952"/>
            <a:ext cx="548640" cy="274320"/>
          </a:xfrm>
          <a:prstGeom prst="rect">
            <a:avLst/>
          </a:prstGeom>
          <a:noFill/>
          <a:ln/>
        </p:spPr>
        <p:txBody>
          <a:bodyPr wrap="square" rtlCol="0" anchor="ctr"/>
          <a:lstStyle/>
          <a:p>
            <a:pPr algn="r" indent="0" marL="0">
              <a:buNone/>
            </a:pPr>
            <a:r>
              <a:rPr lang="en-US" sz="900" dirty="0">
                <a:solidFill>
                  <a:srgbClr val="C7D4E0"/>
                </a:solidFill>
                <a:latin typeface="Trebuchet MS" pitchFamily="34" charset="0"/>
                <a:ea typeface="Trebuchet MS" pitchFamily="34" charset="-122"/>
                <a:cs typeface="Trebuchet MS" pitchFamily="34" charset="-120"/>
              </a:rPr>
              <a:t>30</a:t>
            </a:r>
            <a:endParaRPr lang="en-US" sz="900" dirty="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548640" y="640080"/>
            <a:ext cx="10972800" cy="6400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How This Deck Works</a:t>
            </a:r>
            <a:endParaRPr lang="en-US" sz="3800" dirty="0"/>
          </a:p>
        </p:txBody>
      </p:sp>
      <p:sp>
        <p:nvSpPr>
          <p:cNvPr id="3" name="Text 1"/>
          <p:cNvSpPr/>
          <p:nvPr/>
        </p:nvSpPr>
        <p:spPr>
          <a:xfrm>
            <a:off x="566928" y="1371600"/>
            <a:ext cx="10972800" cy="365760"/>
          </a:xfrm>
          <a:prstGeom prst="rect">
            <a:avLst/>
          </a:prstGeom>
          <a:noFill/>
          <a:ln/>
        </p:spPr>
        <p:txBody>
          <a:bodyPr wrap="square" lIns="0" tIns="0" rIns="0" bIns="0" rtlCol="0" anchor="ctr"/>
          <a:lstStyle/>
          <a:p>
            <a:pPr indent="0" marL="0">
              <a:buNone/>
            </a:pPr>
            <a:r>
              <a:rPr lang="en-US" sz="1600" i="1" dirty="0">
                <a:solidFill>
                  <a:srgbClr val="C89B3C"/>
                </a:solidFill>
                <a:latin typeface="Arial" pitchFamily="34" charset="0"/>
                <a:ea typeface="Arial" pitchFamily="34" charset="-122"/>
                <a:cs typeface="Arial" pitchFamily="34" charset="-120"/>
              </a:rPr>
              <a:t>Universal Design for Learning · Multi-Tiered System of Supports</a:t>
            </a:r>
            <a:endParaRPr lang="en-US" sz="1600" dirty="0"/>
          </a:p>
        </p:txBody>
      </p:sp>
      <p:sp>
        <p:nvSpPr>
          <p:cNvPr id="4" name="Text 2"/>
          <p:cNvSpPr/>
          <p:nvPr/>
        </p:nvSpPr>
        <p:spPr>
          <a:xfrm>
            <a:off x="548640" y="1847088"/>
            <a:ext cx="3657600" cy="292608"/>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EVERY LEARNER  ·  SAME FIRM GOAL</a:t>
            </a:r>
            <a:endParaRPr lang="en-US" sz="1100" dirty="0"/>
          </a:p>
        </p:txBody>
      </p:sp>
      <p:sp>
        <p:nvSpPr>
          <p:cNvPr id="5" name="Shape 3"/>
          <p:cNvSpPr/>
          <p:nvPr/>
        </p:nvSpPr>
        <p:spPr>
          <a:xfrm>
            <a:off x="548640" y="2148840"/>
            <a:ext cx="3566160" cy="2926080"/>
          </a:xfrm>
          <a:prstGeom prst="rect">
            <a:avLst/>
          </a:prstGeom>
          <a:solidFill>
            <a:srgbClr val="1E2C4C"/>
          </a:solidFill>
          <a:ln w="12700">
            <a:solidFill>
              <a:srgbClr val="C89B3C"/>
            </a:solidFill>
            <a:prstDash val="solid"/>
          </a:ln>
        </p:spPr>
      </p:sp>
      <p:sp>
        <p:nvSpPr>
          <p:cNvPr id="6" name="Text 4"/>
          <p:cNvSpPr/>
          <p:nvPr/>
        </p:nvSpPr>
        <p:spPr>
          <a:xfrm>
            <a:off x="777240"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in</a:t>
            </a:r>
            <a:endParaRPr lang="en-US" sz="1900" dirty="0"/>
          </a:p>
        </p:txBody>
      </p:sp>
      <p:sp>
        <p:nvSpPr>
          <p:cNvPr id="7" name="Text 5"/>
          <p:cNvSpPr/>
          <p:nvPr/>
        </p:nvSpPr>
        <p:spPr>
          <a:xfrm>
            <a:off x="777240"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Every lesson opens with a real question and a clear “I can” goal, so you know why it matters and where you’re headed.</a:t>
            </a:r>
            <a:endParaRPr lang="en-US" sz="1350" dirty="0"/>
          </a:p>
        </p:txBody>
      </p:sp>
      <p:sp>
        <p:nvSpPr>
          <p:cNvPr id="8" name="Shape 6"/>
          <p:cNvSpPr/>
          <p:nvPr/>
        </p:nvSpPr>
        <p:spPr>
          <a:xfrm>
            <a:off x="4315968" y="2148840"/>
            <a:ext cx="3566160" cy="2926080"/>
          </a:xfrm>
          <a:prstGeom prst="rect">
            <a:avLst/>
          </a:prstGeom>
          <a:solidFill>
            <a:srgbClr val="1E2C4C"/>
          </a:solidFill>
          <a:ln w="12700">
            <a:solidFill>
              <a:srgbClr val="C89B3C"/>
            </a:solidFill>
            <a:prstDash val="solid"/>
          </a:ln>
        </p:spPr>
      </p:sp>
      <p:sp>
        <p:nvSpPr>
          <p:cNvPr id="9" name="Text 7"/>
          <p:cNvSpPr/>
          <p:nvPr/>
        </p:nvSpPr>
        <p:spPr>
          <a:xfrm>
            <a:off x="4544568"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see it</a:t>
            </a:r>
            <a:endParaRPr lang="en-US" sz="1900" dirty="0"/>
          </a:p>
        </p:txBody>
      </p:sp>
      <p:sp>
        <p:nvSpPr>
          <p:cNvPr id="10" name="Text 8"/>
          <p:cNvSpPr/>
          <p:nvPr/>
        </p:nvSpPr>
        <p:spPr>
          <a:xfrm>
            <a:off x="4544568"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Direct instruction, primary sources, maps, and bilingual key vocabulary — the same ideas shown more than one way.</a:t>
            </a:r>
            <a:endParaRPr lang="en-US" sz="1350" dirty="0"/>
          </a:p>
        </p:txBody>
      </p:sp>
      <p:sp>
        <p:nvSpPr>
          <p:cNvPr id="11" name="Shape 9"/>
          <p:cNvSpPr/>
          <p:nvPr/>
        </p:nvSpPr>
        <p:spPr>
          <a:xfrm>
            <a:off x="8083296" y="2148840"/>
            <a:ext cx="3566160" cy="2926080"/>
          </a:xfrm>
          <a:prstGeom prst="rect">
            <a:avLst/>
          </a:prstGeom>
          <a:solidFill>
            <a:srgbClr val="1E2C4C"/>
          </a:solidFill>
          <a:ln w="12700">
            <a:solidFill>
              <a:srgbClr val="C89B3C"/>
            </a:solidFill>
            <a:prstDash val="solid"/>
          </a:ln>
        </p:spPr>
      </p:sp>
      <p:sp>
        <p:nvSpPr>
          <p:cNvPr id="12" name="Text 10"/>
          <p:cNvSpPr/>
          <p:nvPr/>
        </p:nvSpPr>
        <p:spPr>
          <a:xfrm>
            <a:off x="8311896" y="2377440"/>
            <a:ext cx="3108960" cy="640080"/>
          </a:xfrm>
          <a:prstGeom prst="rect">
            <a:avLst/>
          </a:prstGeom>
          <a:noFill/>
          <a:ln/>
        </p:spPr>
        <p:txBody>
          <a:bodyPr wrap="square" lIns="0" tIns="0" rIns="0" bIns="0" rtlCol="0" anchor="t"/>
          <a:lstStyle/>
          <a:p>
            <a:pPr indent="0" marL="0">
              <a:buNone/>
            </a:pPr>
            <a:r>
              <a:rPr lang="en-US" sz="1900" b="1" dirty="0">
                <a:solidFill>
                  <a:srgbClr val="C89B3C"/>
                </a:solidFill>
                <a:latin typeface="Cambria" pitchFamily="34" charset="0"/>
                <a:ea typeface="Cambria" pitchFamily="34" charset="-122"/>
                <a:cs typeface="Cambria" pitchFamily="34" charset="-120"/>
              </a:rPr>
              <a:t>Multiple ways to show it</a:t>
            </a:r>
            <a:endParaRPr lang="en-US" sz="1900" dirty="0"/>
          </a:p>
        </p:txBody>
      </p:sp>
      <p:sp>
        <p:nvSpPr>
          <p:cNvPr id="13" name="Text 11"/>
          <p:cNvSpPr/>
          <p:nvPr/>
        </p:nvSpPr>
        <p:spPr>
          <a:xfrm>
            <a:off x="8311896" y="3200400"/>
            <a:ext cx="3108960" cy="1737360"/>
          </a:xfrm>
          <a:prstGeom prst="rect">
            <a:avLst/>
          </a:prstGeom>
          <a:noFill/>
          <a:ln/>
        </p:spPr>
        <p:txBody>
          <a:bodyPr wrap="square" lIns="0" tIns="0" rIns="0" bIns="0" rtlCol="0" anchor="t"/>
          <a:lstStyle/>
          <a:p>
            <a:pPr indent="0" marL="0">
              <a:lnSpc>
                <a:spcPct val="105000"/>
              </a:lnSpc>
              <a:buNone/>
            </a:pPr>
            <a:r>
              <a:rPr lang="en-US" sz="1350" dirty="0">
                <a:solidFill>
                  <a:srgbClr val="E7EAF2"/>
                </a:solidFill>
                <a:latin typeface="Arial" pitchFamily="34" charset="0"/>
                <a:ea typeface="Arial" pitchFamily="34" charset="-122"/>
                <a:cs typeface="Arial" pitchFamily="34" charset="-120"/>
              </a:rPr>
              <a:t>Model-with-me, sentence frames, and choices in how you respond — you reach the same goal by the route that works for you.</a:t>
            </a:r>
            <a:endParaRPr lang="en-US" sz="1350" dirty="0"/>
          </a:p>
        </p:txBody>
      </p:sp>
      <p:sp>
        <p:nvSpPr>
          <p:cNvPr id="14" name="Text 12"/>
          <p:cNvSpPr/>
          <p:nvPr/>
        </p:nvSpPr>
        <p:spPr>
          <a:xfrm>
            <a:off x="548640" y="5394960"/>
            <a:ext cx="11064240" cy="640080"/>
          </a:xfrm>
          <a:prstGeom prst="rect">
            <a:avLst/>
          </a:prstGeom>
          <a:solidFill>
            <a:srgbClr val="1E2C4C"/>
          </a:solidFill>
          <a:ln/>
        </p:spPr>
        <p:txBody>
          <a:bodyPr wrap="square" lIns="76200" tIns="76200" rIns="76200" bIns="76200" rtlCol="0" anchor="ctr"/>
          <a:lstStyle/>
          <a:p>
            <a:pPr algn="ctr" indent="0" marL="0">
              <a:buNone/>
            </a:pPr>
            <a:r>
              <a:rPr lang="en-US" sz="1400" i="1" dirty="0">
                <a:solidFill>
                  <a:srgbClr val="FFFFFF"/>
                </a:solidFill>
                <a:latin typeface="Arial" pitchFamily="34" charset="0"/>
                <a:ea typeface="Arial" pitchFamily="34" charset="-122"/>
                <a:cs typeface="Arial" pitchFamily="34" charset="-120"/>
              </a:rPr>
              <a:t>Your teacher checks your progress along the way and gives you another path if you need one — </a:t>
            </a:r>
            <a:pPr algn="ctr" indent="0" marL="0">
              <a:buNone/>
            </a:pPr>
            <a:r>
              <a:rPr lang="en-US" sz="1400" b="1" i="1" dirty="0">
                <a:solidFill>
                  <a:srgbClr val="FF6B7A"/>
                </a:solidFill>
                <a:latin typeface="Arial" pitchFamily="34" charset="0"/>
                <a:ea typeface="Arial" pitchFamily="34" charset="-122"/>
                <a:cs typeface="Arial" pitchFamily="34" charset="-120"/>
              </a:rPr>
              <a:t>the goal never lowers.</a:t>
            </a:r>
            <a:endParaRPr lang="en-US" sz="1400" dirty="0"/>
          </a:p>
        </p:txBody>
      </p:sp>
      <p:sp>
        <p:nvSpPr>
          <p:cNvPr id="15" name="Text 13"/>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16" name="Text 14"/>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2</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Brown v. Board of Education</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Brown contra el Consejo de Educación</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landmark 1954 Supreme Court decision that declared state laws establishing separate public schools for Black and white students unconstitutional, overturning Plessy v. Ferguson and ending legal school…</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Clinton 12</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Los 12 de Clinton</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12 African American students who integrated Clinton High School in Tennessee in 1956, making it the first state-supported high school in the South to integrate following Brown v. Board of Education.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Little Rock Nine</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Los Nueve de Little Rock</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nine African American students who integrated Central High School in Little Rock, Arkansas in 1957, facing violent mobs and requiring federal troops protection ordered by President Eisenhower.</a:t>
            </a:r>
            <a:endParaRPr lang="en-US" sz="130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4</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Rosa Parks</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Rosa Parks</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"Mother of the Civil Rights Movement" who refused to give up her bus seat to a white passenger in Montgomery, Alabama in 1955, sparking the Montgomery Bus Boycott.</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Dr. Martin Luther King Jr.</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Dr. Martin Luther King Jr.</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Baptist minister and the most prominent leader of the Civil Rights Movement, advocating nonviolent resistance and delivering the iconic "I Have a Dream" speech at the 1963 March on Washington.</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Malcolm X</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Malcolm X</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Influential civil rights leader and Nation of Islam minister who advocated for Black nationalism, self-defense, and economic independence before his assassination in 1965.</a:t>
            </a:r>
            <a:endParaRPr lang="en-US" sz="1300"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6</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Montgomery Bus Boycott</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Boicot de Autobuses de Montgomery</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381-day boycott (1955-1956) of the Montgomery, Alabama bus system by African Americans protesting segregated seating, ending when the Supreme Court ruled bus segregation unconstitutional.</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Freedom Riders</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Jinetes de la Libertad</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Interracial groups of civil rights activists who rode interstate buses into the segregated South in 1961 to challenge illegal segregation of public transportation, facing violent attacks.</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Highlander Folk School</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Escuela Popular Highlander</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Tennessee education center founded in 1932 that trained civil rights leaders including Rosa Parks, Martin Luther King Jr., and John Lewis in nonviolent resistance and organizing tactics.</a:t>
            </a:r>
            <a:endParaRPr lang="en-US" sz="1300"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8</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Civil Rights Act of 1964</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Derechos Civiles de 1964</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Landmark federal legislation that outlawed discrimination based on race, color, religion, sex, or national origin, ending segregation in public accommodations and employment.</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Voting Rights Act of 1965</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Derechos de Voto de 1965</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Federal legislation that outlawed discriminatory voting practices (literacy tests, poll taxes) used to disenfranchise African Americans, dramatically increasing Black voter registration in the South.</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Civil Rights Act of 1968 (Fair Housing Act)</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Ley de Derechos Civiles de 1968 (Ley de Vivienda Justa)</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Federal law that prohibited discrimination in the sale, rental, and financing of housing based on race, religion, national origin, or sex, addressing residential segregation.</a:t>
            </a:r>
            <a:endParaRPr lang="en-US" sz="1300" dirty="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2F5FA6"/>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KEY VOCABULARY  ·  LANGUAGE SUPPORT</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10</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Words you need before we read</a:t>
            </a:r>
            <a:endParaRPr lang="en-US" sz="2500" dirty="0"/>
          </a:p>
        </p:txBody>
      </p:sp>
      <p:sp>
        <p:nvSpPr>
          <p:cNvPr id="7" name="Shape 5"/>
          <p:cNvSpPr/>
          <p:nvPr/>
        </p:nvSpPr>
        <p:spPr>
          <a:xfrm>
            <a:off x="548640" y="1691640"/>
            <a:ext cx="3514344" cy="4297680"/>
          </a:xfrm>
          <a:prstGeom prst="rect">
            <a:avLst/>
          </a:prstGeom>
          <a:solidFill>
            <a:srgbClr val="F7F5EF"/>
          </a:solidFill>
          <a:ln w="12700">
            <a:solidFill>
              <a:srgbClr val="D9D5C8"/>
            </a:solidFill>
            <a:prstDash val="solid"/>
          </a:ln>
        </p:spPr>
      </p:sp>
      <p:sp>
        <p:nvSpPr>
          <p:cNvPr id="8" name="Shape 6"/>
          <p:cNvSpPr/>
          <p:nvPr/>
        </p:nvSpPr>
        <p:spPr>
          <a:xfrm>
            <a:off x="804672" y="1938528"/>
            <a:ext cx="137160" cy="292608"/>
          </a:xfrm>
          <a:prstGeom prst="rect">
            <a:avLst/>
          </a:prstGeom>
          <a:solidFill>
            <a:srgbClr val="B22234"/>
          </a:solidFill>
          <a:ln/>
        </p:spPr>
      </p:sp>
      <p:sp>
        <p:nvSpPr>
          <p:cNvPr id="9" name="Text 7"/>
          <p:cNvSpPr/>
          <p:nvPr/>
        </p:nvSpPr>
        <p:spPr>
          <a:xfrm>
            <a:off x="1024128"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American Indian Movement (AIM)</a:t>
            </a:r>
            <a:endParaRPr lang="en-US" sz="1800" dirty="0"/>
          </a:p>
        </p:txBody>
      </p:sp>
      <p:sp>
        <p:nvSpPr>
          <p:cNvPr id="10" name="Text 8"/>
          <p:cNvSpPr/>
          <p:nvPr/>
        </p:nvSpPr>
        <p:spPr>
          <a:xfrm>
            <a:off x="804672"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Indio Americano</a:t>
            </a:r>
            <a:endParaRPr lang="en-US" sz="1250" dirty="0"/>
          </a:p>
        </p:txBody>
      </p:sp>
      <p:sp>
        <p:nvSpPr>
          <p:cNvPr id="11" name="Text 9"/>
          <p:cNvSpPr/>
          <p:nvPr/>
        </p:nvSpPr>
        <p:spPr>
          <a:xfrm>
            <a:off x="804672"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2" name="Text 10"/>
          <p:cNvSpPr/>
          <p:nvPr/>
        </p:nvSpPr>
        <p:spPr>
          <a:xfrm>
            <a:off x="804672"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Civil rights organization founded in 1968 to address issues of poverty, police brutality, and treaty rights affecting Native Americans, using tactics inspired by the Black civil rights movement.</a:t>
            </a:r>
            <a:endParaRPr lang="en-US" sz="1300" dirty="0"/>
          </a:p>
        </p:txBody>
      </p:sp>
      <p:sp>
        <p:nvSpPr>
          <p:cNvPr id="13" name="Shape 11"/>
          <p:cNvSpPr/>
          <p:nvPr/>
        </p:nvSpPr>
        <p:spPr>
          <a:xfrm>
            <a:off x="4337304" y="1691640"/>
            <a:ext cx="3514344" cy="4297680"/>
          </a:xfrm>
          <a:prstGeom prst="rect">
            <a:avLst/>
          </a:prstGeom>
          <a:solidFill>
            <a:srgbClr val="F7F5EF"/>
          </a:solidFill>
          <a:ln w="12700">
            <a:solidFill>
              <a:srgbClr val="D9D5C8"/>
            </a:solidFill>
            <a:prstDash val="solid"/>
          </a:ln>
        </p:spPr>
      </p:sp>
      <p:sp>
        <p:nvSpPr>
          <p:cNvPr id="14" name="Shape 12"/>
          <p:cNvSpPr/>
          <p:nvPr/>
        </p:nvSpPr>
        <p:spPr>
          <a:xfrm>
            <a:off x="4593336" y="1938528"/>
            <a:ext cx="137160" cy="292608"/>
          </a:xfrm>
          <a:prstGeom prst="rect">
            <a:avLst/>
          </a:prstGeom>
          <a:solidFill>
            <a:srgbClr val="B22234"/>
          </a:solidFill>
          <a:ln/>
        </p:spPr>
      </p:sp>
      <p:sp>
        <p:nvSpPr>
          <p:cNvPr id="15" name="Text 13"/>
          <p:cNvSpPr/>
          <p:nvPr/>
        </p:nvSpPr>
        <p:spPr>
          <a:xfrm>
            <a:off x="4812792"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Chicano Movement</a:t>
            </a:r>
            <a:endParaRPr lang="en-US" sz="1800" dirty="0"/>
          </a:p>
        </p:txBody>
      </p:sp>
      <p:sp>
        <p:nvSpPr>
          <p:cNvPr id="16" name="Text 14"/>
          <p:cNvSpPr/>
          <p:nvPr/>
        </p:nvSpPr>
        <p:spPr>
          <a:xfrm>
            <a:off x="4593336"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Chicano</a:t>
            </a:r>
            <a:endParaRPr lang="en-US" sz="1250" dirty="0"/>
          </a:p>
        </p:txBody>
      </p:sp>
      <p:sp>
        <p:nvSpPr>
          <p:cNvPr id="17" name="Text 15"/>
          <p:cNvSpPr/>
          <p:nvPr/>
        </p:nvSpPr>
        <p:spPr>
          <a:xfrm>
            <a:off x="4593336"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18" name="Text 16"/>
          <p:cNvSpPr/>
          <p:nvPr/>
        </p:nvSpPr>
        <p:spPr>
          <a:xfrm>
            <a:off x="4593336"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Mexican American civil rights movement of the 1960s-70s that fought for labor rights, education reform, political representation, and cultural pride, led by figures like Cesar Chavez.</a:t>
            </a:r>
            <a:endParaRPr lang="en-US" sz="1300" dirty="0"/>
          </a:p>
        </p:txBody>
      </p:sp>
      <p:sp>
        <p:nvSpPr>
          <p:cNvPr id="19" name="Shape 17"/>
          <p:cNvSpPr/>
          <p:nvPr/>
        </p:nvSpPr>
        <p:spPr>
          <a:xfrm>
            <a:off x="8125968" y="1691640"/>
            <a:ext cx="3514344" cy="4297680"/>
          </a:xfrm>
          <a:prstGeom prst="rect">
            <a:avLst/>
          </a:prstGeom>
          <a:solidFill>
            <a:srgbClr val="F7F5EF"/>
          </a:solidFill>
          <a:ln w="12700">
            <a:solidFill>
              <a:srgbClr val="D9D5C8"/>
            </a:solidFill>
            <a:prstDash val="solid"/>
          </a:ln>
        </p:spPr>
      </p:sp>
      <p:sp>
        <p:nvSpPr>
          <p:cNvPr id="20" name="Shape 18"/>
          <p:cNvSpPr/>
          <p:nvPr/>
        </p:nvSpPr>
        <p:spPr>
          <a:xfrm>
            <a:off x="8382000" y="1938528"/>
            <a:ext cx="137160" cy="292608"/>
          </a:xfrm>
          <a:prstGeom prst="rect">
            <a:avLst/>
          </a:prstGeom>
          <a:solidFill>
            <a:srgbClr val="B22234"/>
          </a:solidFill>
          <a:ln/>
        </p:spPr>
      </p:sp>
      <p:sp>
        <p:nvSpPr>
          <p:cNvPr id="21" name="Text 19"/>
          <p:cNvSpPr/>
          <p:nvPr/>
        </p:nvSpPr>
        <p:spPr>
          <a:xfrm>
            <a:off x="8601456" y="1828800"/>
            <a:ext cx="2782824" cy="548640"/>
          </a:xfrm>
          <a:prstGeom prst="rect">
            <a:avLst/>
          </a:prstGeom>
          <a:noFill/>
          <a:ln/>
        </p:spPr>
        <p:txBody>
          <a:bodyPr wrap="square" lIns="0" tIns="0" rIns="0" bIns="0" rtlCol="0" anchor="t"/>
          <a:lstStyle/>
          <a:p>
            <a:pPr indent="0" marL="0">
              <a:buNone/>
            </a:pPr>
            <a:r>
              <a:rPr lang="en-US" sz="1800" b="1" dirty="0">
                <a:solidFill>
                  <a:srgbClr val="1B2A4A"/>
                </a:solidFill>
                <a:latin typeface="Cambria" pitchFamily="34" charset="0"/>
                <a:ea typeface="Cambria" pitchFamily="34" charset="-122"/>
                <a:cs typeface="Cambria" pitchFamily="34" charset="-120"/>
              </a:rPr>
              <a:t>Feminist Movement (1960s)</a:t>
            </a:r>
            <a:endParaRPr lang="en-US" sz="1800" dirty="0"/>
          </a:p>
        </p:txBody>
      </p:sp>
      <p:sp>
        <p:nvSpPr>
          <p:cNvPr id="22" name="Text 20"/>
          <p:cNvSpPr/>
          <p:nvPr/>
        </p:nvSpPr>
        <p:spPr>
          <a:xfrm>
            <a:off x="8382000" y="2487168"/>
            <a:ext cx="3011424" cy="457200"/>
          </a:xfrm>
          <a:prstGeom prst="rect">
            <a:avLst/>
          </a:prstGeom>
          <a:noFill/>
          <a:ln/>
        </p:spPr>
        <p:txBody>
          <a:bodyPr wrap="square" lIns="0" tIns="0" rIns="0" bIns="0" rtlCol="0" anchor="t"/>
          <a:lstStyle/>
          <a:p>
            <a:pPr indent="0" marL="0">
              <a:buNone/>
            </a:pPr>
            <a:r>
              <a:rPr lang="en-US" sz="1250" b="1" dirty="0">
                <a:solidFill>
                  <a:srgbClr val="2F5FA6"/>
                </a:solidFill>
                <a:latin typeface="Arial" pitchFamily="34" charset="0"/>
                <a:ea typeface="Arial" pitchFamily="34" charset="-122"/>
                <a:cs typeface="Arial" pitchFamily="34" charset="-120"/>
              </a:rPr>
              <a:t>En español:  </a:t>
            </a:r>
            <a:pPr indent="0" marL="0">
              <a:buNone/>
            </a:pPr>
            <a:r>
              <a:rPr lang="en-US" sz="1250" i="1" dirty="0">
                <a:solidFill>
                  <a:srgbClr val="2F5FA6"/>
                </a:solidFill>
                <a:latin typeface="Arial" pitchFamily="34" charset="0"/>
                <a:ea typeface="Arial" pitchFamily="34" charset="-122"/>
                <a:cs typeface="Arial" pitchFamily="34" charset="-120"/>
              </a:rPr>
              <a:t>Movimiento Feminista (1960s)</a:t>
            </a:r>
            <a:endParaRPr lang="en-US" sz="1250" dirty="0"/>
          </a:p>
        </p:txBody>
      </p:sp>
      <p:sp>
        <p:nvSpPr>
          <p:cNvPr id="23" name="Text 21"/>
          <p:cNvSpPr/>
          <p:nvPr/>
        </p:nvSpPr>
        <p:spPr>
          <a:xfrm>
            <a:off x="8382000" y="3063240"/>
            <a:ext cx="3011424" cy="274320"/>
          </a:xfrm>
          <a:prstGeom prst="rect">
            <a:avLst/>
          </a:prstGeom>
          <a:noFill/>
          <a:ln/>
        </p:spPr>
        <p:txBody>
          <a:bodyPr wrap="square" lIns="0" tIns="0" rIns="0" bIns="0" rtlCol="0" anchor="t"/>
          <a:lstStyle/>
          <a:p>
            <a:pPr indent="0" marL="0">
              <a:buNone/>
            </a:pPr>
            <a:r>
              <a:rPr lang="en-US" sz="1050" b="1" spc="100" kern="0" dirty="0">
                <a:solidFill>
                  <a:srgbClr val="B22234"/>
                </a:solidFill>
                <a:latin typeface="Arial" pitchFamily="34" charset="0"/>
                <a:ea typeface="Arial" pitchFamily="34" charset="-122"/>
                <a:cs typeface="Arial" pitchFamily="34" charset="-120"/>
              </a:rPr>
              <a:t>WHAT IT MEANS</a:t>
            </a:r>
            <a:endParaRPr lang="en-US" sz="1050" dirty="0"/>
          </a:p>
        </p:txBody>
      </p:sp>
      <p:sp>
        <p:nvSpPr>
          <p:cNvPr id="24" name="Text 22"/>
          <p:cNvSpPr/>
          <p:nvPr/>
        </p:nvSpPr>
        <p:spPr>
          <a:xfrm>
            <a:off x="8382000" y="3401568"/>
            <a:ext cx="3011424" cy="2377440"/>
          </a:xfrm>
          <a:prstGeom prst="rect">
            <a:avLst/>
          </a:prstGeom>
          <a:noFill/>
          <a:ln/>
        </p:spPr>
        <p:txBody>
          <a:bodyPr wrap="square" lIns="0" tIns="0" rIns="0" bIns="0" rtlCol="0" anchor="t"/>
          <a:lstStyle/>
          <a:p>
            <a:pPr indent="0" marL="0">
              <a:lnSpc>
                <a:spcPct val="108000"/>
              </a:lnSpc>
              <a:buNone/>
            </a:pPr>
            <a:r>
              <a:rPr lang="en-US" sz="1300" dirty="0">
                <a:solidFill>
                  <a:srgbClr val="1A1A1A"/>
                </a:solidFill>
                <a:latin typeface="Arial" pitchFamily="34" charset="0"/>
                <a:ea typeface="Arial" pitchFamily="34" charset="-122"/>
                <a:cs typeface="Arial" pitchFamily="34" charset="-120"/>
              </a:rPr>
              <a:t>The "Second Wave" women's rights movement that fought for equal pay, reproductive rights, workplace equality, and passage of the Equal Rights Amendment, led by activists like Betty Friedan.</a:t>
            </a:r>
            <a:endParaRPr lang="en-US" sz="1300" dirty="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US.78</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3</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was school desegregation so difficult to implement despite the Supreme Court's ruling?</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Brown II's "all deliberate speed" language allowed gradual implementation while Southern states launched "massive resistance" campaigns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ruling only applied to a few specific school districts, but the historical record tells a more complex story</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Federal troops refused to enforce the decision, but this fails to account for the broader historical context</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Most Black families preferred segregated schools, but contemporary accounts suggest a different explanation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US.79</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5</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Compare the philosophies of Martin Luther King Jr. and Malcolm X regarding integration and Black identity.</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Both leaders held identical views throughout their careers, which ignores key developments that shaped the outcome and oversimplifies the complex factors at work during this period</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King emphasized integration through Christian love and nonviolence while Malcolm X initially promoted Black nationalism and self-defense, though both evolved over time</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Malcolm X always supported King's nonviolent approach, despite limited evidence supporting this interpretation, but contemporary accounts and primary sources suggest otherwise</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King opposed integration while Malcolm X supported it, though this interpretation lacks supporting historical evidence, and this view has been largely revised by modern historical research</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US.80</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7</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How did television coverage of events like Birmingham and Little Rock build national support for civil rights legislation?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Television had minimal impact on public opinion, despite limited evidence supporting this interpretation, but closer analysis reveals a more complicated historical reality</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Television coverage primarily supported segregationists, yet the available evidence points to a different conclusion</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Images of fire hoses, police dogs, and troops protecting children shocked Americans and generated sympathy for the movement, pressuring Congress to act</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Most Americans did not have access to television coverage, yet the available evidence points to a different conclusion</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US.81</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9</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Why was the Fair Housing Act (1968) necessary even after earlier civil rights legislation?</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Earlier legislation had already addressed housing discrimination, although this view has been largely discredited by scholars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Housing discrimination was not a significant problem, despite limited evidence supporting this interpretation</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Fair Housing Act replaced the 1964 Civil Rights Act, which does not align with the documented historical record</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 1964 Act focused on public accommodations and employment but did not address residential segregation, which perpetuated inequality</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5223E"/>
        </a:solidFill>
      </p:bgPr>
    </p:bg>
    <p:spTree>
      <p:nvGrpSpPr>
        <p:cNvPr id="1" name=""/>
        <p:cNvGrpSpPr/>
        <p:nvPr/>
      </p:nvGrpSpPr>
      <p:grpSpPr/>
      <p:sp>
        <p:nvSpPr>
          <p:cNvPr id="2" name="Text 0"/>
          <p:cNvSpPr/>
          <p:nvPr/>
        </p:nvSpPr>
        <p:spPr>
          <a:xfrm>
            <a:off x="457200" y="384048"/>
            <a:ext cx="4937760" cy="310896"/>
          </a:xfrm>
          <a:prstGeom prst="rect">
            <a:avLst/>
          </a:prstGeom>
          <a:solidFill>
            <a:srgbClr val="B22234"/>
          </a:solidFill>
          <a:ln/>
        </p:spPr>
        <p:txBody>
          <a:bodyPr wrap="square" lIns="25400" tIns="25400" rIns="25400" bIns="2540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PROGRESS CHECK</a:t>
            </a:r>
            <a:endParaRPr lang="en-US" sz="1100" dirty="0"/>
          </a:p>
        </p:txBody>
      </p:sp>
      <p:sp>
        <p:nvSpPr>
          <p:cNvPr id="3" name="Text 1"/>
          <p:cNvSpPr/>
          <p:nvPr/>
        </p:nvSpPr>
        <p:spPr>
          <a:xfrm>
            <a:off x="10424160" y="384048"/>
            <a:ext cx="1307592" cy="310896"/>
          </a:xfrm>
          <a:prstGeom prst="rect">
            <a:avLst/>
          </a:prstGeom>
          <a:solidFill>
            <a:srgbClr val="C89B3C"/>
          </a:solidFill>
          <a:ln/>
        </p:spPr>
        <p:txBody>
          <a:bodyPr wrap="square" lIns="25400" tIns="25400" rIns="25400" bIns="25400" rtlCol="0" anchor="ctr"/>
          <a:lstStyle/>
          <a:p>
            <a:pPr algn="ctr" indent="0" marL="0">
              <a:buNone/>
            </a:pPr>
            <a:r>
              <a:rPr lang="en-US" sz="1100" b="1" dirty="0">
                <a:solidFill>
                  <a:srgbClr val="15223E"/>
                </a:solidFill>
                <a:latin typeface="Arial" pitchFamily="34" charset="0"/>
                <a:ea typeface="Arial" pitchFamily="34" charset="-122"/>
                <a:cs typeface="Arial" pitchFamily="34" charset="-120"/>
              </a:rPr>
              <a:t>US.82</a:t>
            </a:r>
            <a:endParaRPr lang="en-US" sz="1100" dirty="0"/>
          </a:p>
        </p:txBody>
      </p:sp>
      <p:sp>
        <p:nvSpPr>
          <p:cNvPr id="4" name="Text 2"/>
          <p:cNvSpPr/>
          <p:nvPr/>
        </p:nvSpPr>
        <p:spPr>
          <a:xfrm>
            <a:off x="457200" y="6455664"/>
            <a:ext cx="10241280" cy="274320"/>
          </a:xfrm>
          <a:prstGeom prst="rect">
            <a:avLst/>
          </a:prstGeom>
          <a:noFill/>
          <a:ln/>
        </p:spPr>
        <p:txBody>
          <a:bodyPr wrap="square" lIns="0" tIns="0" rIns="0" bIns="0" rtlCol="0" anchor="ctr"/>
          <a:lstStyle/>
          <a:p>
            <a:pPr indent="0" marL="0">
              <a:buNone/>
            </a:pPr>
            <a:r>
              <a:rPr lang="en-US" sz="800" dirty="0">
                <a:solidFill>
                  <a:srgbClr val="9AA6BF"/>
                </a:solidFill>
                <a:latin typeface="Arial" pitchFamily="34" charset="0"/>
                <a:ea typeface="Arial" pitchFamily="34" charset="-122"/>
                <a:cs typeface="Arial" pitchFamily="34" charset="-120"/>
              </a:rPr>
              <a:t>U.S. History Hack   ·   TroopToTeacher Technologies LLC   ·   Aligned to TN Academic Standards &amp; TCAP EOC</a:t>
            </a:r>
            <a:endParaRPr lang="en-US" sz="800" dirty="0"/>
          </a:p>
        </p:txBody>
      </p:sp>
      <p:sp>
        <p:nvSpPr>
          <p:cNvPr id="5" name="Text 3"/>
          <p:cNvSpPr/>
          <p:nvPr/>
        </p:nvSpPr>
        <p:spPr>
          <a:xfrm>
            <a:off x="11430000" y="6455664"/>
            <a:ext cx="365760" cy="274320"/>
          </a:xfrm>
          <a:prstGeom prst="rect">
            <a:avLst/>
          </a:prstGeom>
          <a:noFill/>
          <a:ln/>
        </p:spPr>
        <p:txBody>
          <a:bodyPr wrap="square" lIns="0" tIns="0" rIns="0" bIns="0" rtlCol="0" anchor="ctr"/>
          <a:lstStyle/>
          <a:p>
            <a:pPr algn="r" indent="0" marL="0">
              <a:buNone/>
            </a:pPr>
            <a:r>
              <a:rPr lang="en-US" sz="900" dirty="0">
                <a:solidFill>
                  <a:srgbClr val="9AA6BF"/>
                </a:solidFill>
                <a:latin typeface="Arial" pitchFamily="34" charset="0"/>
                <a:ea typeface="Arial" pitchFamily="34" charset="-122"/>
                <a:cs typeface="Arial" pitchFamily="34" charset="-120"/>
              </a:rPr>
              <a:t>11</a:t>
            </a:r>
            <a:endParaRPr lang="en-US" sz="900" dirty="0"/>
          </a:p>
        </p:txBody>
      </p:sp>
      <p:sp>
        <p:nvSpPr>
          <p:cNvPr id="6" name="Text 4"/>
          <p:cNvSpPr/>
          <p:nvPr/>
        </p:nvSpPr>
        <p:spPr>
          <a:xfrm>
            <a:off x="548640" y="914400"/>
            <a:ext cx="10515600" cy="502920"/>
          </a:xfrm>
          <a:prstGeom prst="rect">
            <a:avLst/>
          </a:prstGeom>
          <a:noFill/>
          <a:ln/>
        </p:spPr>
        <p:txBody>
          <a:bodyPr wrap="square" lIns="0" tIns="0" rIns="0" bIns="0" rtlCol="0" anchor="ctr"/>
          <a:lstStyle/>
          <a:p>
            <a:pPr indent="0" marL="0">
              <a:buNone/>
            </a:pPr>
            <a:r>
              <a:rPr lang="en-US" sz="2500" b="1" dirty="0">
                <a:solidFill>
                  <a:srgbClr val="FFFFFF"/>
                </a:solidFill>
                <a:latin typeface="Cambria" pitchFamily="34" charset="0"/>
                <a:ea typeface="Cambria" pitchFamily="34" charset="-122"/>
                <a:cs typeface="Cambria" pitchFamily="34" charset="-120"/>
              </a:rPr>
              <a:t>Check your understanding</a:t>
            </a:r>
            <a:endParaRPr lang="en-US" sz="2500" dirty="0"/>
          </a:p>
        </p:txBody>
      </p:sp>
      <p:sp>
        <p:nvSpPr>
          <p:cNvPr id="7" name="Shape 5"/>
          <p:cNvSpPr/>
          <p:nvPr/>
        </p:nvSpPr>
        <p:spPr>
          <a:xfrm>
            <a:off x="548640" y="1645920"/>
            <a:ext cx="11091672" cy="960120"/>
          </a:xfrm>
          <a:prstGeom prst="rect">
            <a:avLst/>
          </a:prstGeom>
          <a:solidFill>
            <a:srgbClr val="1E2C4C"/>
          </a:solidFill>
          <a:ln w="12700">
            <a:solidFill>
              <a:srgbClr val="C89B3C"/>
            </a:solidFill>
            <a:prstDash val="solid"/>
          </a:ln>
        </p:spPr>
      </p:sp>
      <p:sp>
        <p:nvSpPr>
          <p:cNvPr id="8" name="Text 6"/>
          <p:cNvSpPr/>
          <p:nvPr/>
        </p:nvSpPr>
        <p:spPr>
          <a:xfrm>
            <a:off x="777240" y="1673352"/>
            <a:ext cx="10607040" cy="90525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Compare how these movements both built upon and differed from the African American Civil Rights Movement.</a:t>
            </a:r>
            <a:endParaRPr lang="en-US" sz="1600" dirty="0"/>
          </a:p>
        </p:txBody>
      </p:sp>
      <p:sp>
        <p:nvSpPr>
          <p:cNvPr id="9" name="Shape 7"/>
          <p:cNvSpPr/>
          <p:nvPr/>
        </p:nvSpPr>
        <p:spPr>
          <a:xfrm>
            <a:off x="548640" y="2761488"/>
            <a:ext cx="11091672" cy="678942"/>
          </a:xfrm>
          <a:prstGeom prst="rect">
            <a:avLst/>
          </a:prstGeom>
          <a:solidFill>
            <a:srgbClr val="F7F5EF"/>
          </a:solidFill>
          <a:ln w="12700">
            <a:solidFill>
              <a:srgbClr val="D9D5C8"/>
            </a:solidFill>
            <a:prstDash val="solid"/>
          </a:ln>
        </p:spPr>
      </p:sp>
      <p:sp>
        <p:nvSpPr>
          <p:cNvPr id="10" name="Text 8"/>
          <p:cNvSpPr/>
          <p:nvPr/>
        </p:nvSpPr>
        <p:spPr>
          <a:xfrm>
            <a:off x="685800" y="276148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A</a:t>
            </a:r>
            <a:endParaRPr lang="en-US" sz="1700" dirty="0"/>
          </a:p>
        </p:txBody>
      </p:sp>
      <p:sp>
        <p:nvSpPr>
          <p:cNvPr id="11" name="Text 9"/>
          <p:cNvSpPr/>
          <p:nvPr/>
        </p:nvSpPr>
        <p:spPr>
          <a:xfrm>
            <a:off x="1325880" y="276148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adopted similar tactics (protests, legal challenges, legislation) but pursued distinct goals reflecting their communities' unique experiences and cultural identities</a:t>
            </a:r>
            <a:endParaRPr lang="en-US" sz="1350" dirty="0"/>
          </a:p>
        </p:txBody>
      </p:sp>
      <p:sp>
        <p:nvSpPr>
          <p:cNvPr id="12" name="Shape 10"/>
          <p:cNvSpPr/>
          <p:nvPr/>
        </p:nvSpPr>
        <p:spPr>
          <a:xfrm>
            <a:off x="548640" y="3550158"/>
            <a:ext cx="11091672" cy="678942"/>
          </a:xfrm>
          <a:prstGeom prst="rect">
            <a:avLst/>
          </a:prstGeom>
          <a:solidFill>
            <a:srgbClr val="F7F5EF"/>
          </a:solidFill>
          <a:ln w="12700">
            <a:solidFill>
              <a:srgbClr val="D9D5C8"/>
            </a:solidFill>
            <a:prstDash val="solid"/>
          </a:ln>
        </p:spPr>
      </p:sp>
      <p:sp>
        <p:nvSpPr>
          <p:cNvPr id="13" name="Text 11"/>
          <p:cNvSpPr/>
          <p:nvPr/>
        </p:nvSpPr>
        <p:spPr>
          <a:xfrm>
            <a:off x="685800" y="355015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B</a:t>
            </a:r>
            <a:endParaRPr lang="en-US" sz="1700" dirty="0"/>
          </a:p>
        </p:txBody>
      </p:sp>
      <p:sp>
        <p:nvSpPr>
          <p:cNvPr id="14" name="Text 12"/>
          <p:cNvSpPr/>
          <p:nvPr/>
        </p:nvSpPr>
        <p:spPr>
          <a:xfrm>
            <a:off x="1325880" y="355015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These movements were completely unrelated to civil rights, although historical sources do not support this conclusion and oversimplifies the complex factors at work during this period</a:t>
            </a:r>
            <a:endParaRPr lang="en-US" sz="1350" dirty="0"/>
          </a:p>
        </p:txBody>
      </p:sp>
      <p:sp>
        <p:nvSpPr>
          <p:cNvPr id="15" name="Shape 13"/>
          <p:cNvSpPr/>
          <p:nvPr/>
        </p:nvSpPr>
        <p:spPr>
          <a:xfrm>
            <a:off x="548640" y="4338828"/>
            <a:ext cx="11091672" cy="678942"/>
          </a:xfrm>
          <a:prstGeom prst="rect">
            <a:avLst/>
          </a:prstGeom>
          <a:solidFill>
            <a:srgbClr val="F7F5EF"/>
          </a:solidFill>
          <a:ln w="12700">
            <a:solidFill>
              <a:srgbClr val="D9D5C8"/>
            </a:solidFill>
            <a:prstDash val="solid"/>
          </a:ln>
        </p:spPr>
      </p:sp>
      <p:sp>
        <p:nvSpPr>
          <p:cNvPr id="16" name="Text 14"/>
          <p:cNvSpPr/>
          <p:nvPr/>
        </p:nvSpPr>
        <p:spPr>
          <a:xfrm>
            <a:off x="685800" y="433882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C</a:t>
            </a:r>
            <a:endParaRPr lang="en-US" sz="1700" dirty="0"/>
          </a:p>
        </p:txBody>
      </p:sp>
      <p:sp>
        <p:nvSpPr>
          <p:cNvPr id="17" name="Text 15"/>
          <p:cNvSpPr/>
          <p:nvPr/>
        </p:nvSpPr>
        <p:spPr>
          <a:xfrm>
            <a:off x="1325880" y="433882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opposed the African American civil rights movement, but the historical record tells a more complex story, which ignores significant political and cultural developments of the era</a:t>
            </a:r>
            <a:endParaRPr lang="en-US" sz="1350" dirty="0"/>
          </a:p>
        </p:txBody>
      </p:sp>
      <p:sp>
        <p:nvSpPr>
          <p:cNvPr id="18" name="Shape 16"/>
          <p:cNvSpPr/>
          <p:nvPr/>
        </p:nvSpPr>
        <p:spPr>
          <a:xfrm>
            <a:off x="548640" y="5127498"/>
            <a:ext cx="11091672" cy="678942"/>
          </a:xfrm>
          <a:prstGeom prst="rect">
            <a:avLst/>
          </a:prstGeom>
          <a:solidFill>
            <a:srgbClr val="F7F5EF"/>
          </a:solidFill>
          <a:ln w="12700">
            <a:solidFill>
              <a:srgbClr val="D9D5C8"/>
            </a:solidFill>
            <a:prstDash val="solid"/>
          </a:ln>
        </p:spPr>
      </p:sp>
      <p:sp>
        <p:nvSpPr>
          <p:cNvPr id="19" name="Text 17"/>
          <p:cNvSpPr/>
          <p:nvPr/>
        </p:nvSpPr>
        <p:spPr>
          <a:xfrm>
            <a:off x="685800" y="5127498"/>
            <a:ext cx="502920" cy="678942"/>
          </a:xfrm>
          <a:prstGeom prst="rect">
            <a:avLst/>
          </a:prstGeom>
          <a:noFill/>
          <a:ln/>
        </p:spPr>
        <p:txBody>
          <a:bodyPr wrap="square" lIns="0" tIns="0" rIns="0" bIns="0" rtlCol="0" anchor="ctr"/>
          <a:lstStyle/>
          <a:p>
            <a:pPr algn="ctr" indent="0" marL="0">
              <a:buNone/>
            </a:pPr>
            <a:r>
              <a:rPr lang="en-US" sz="1700" b="1" dirty="0">
                <a:solidFill>
                  <a:srgbClr val="1B2A4A"/>
                </a:solidFill>
                <a:latin typeface="Cambria" pitchFamily="34" charset="0"/>
                <a:ea typeface="Cambria" pitchFamily="34" charset="-122"/>
                <a:cs typeface="Cambria" pitchFamily="34" charset="-120"/>
              </a:rPr>
              <a:t>D</a:t>
            </a:r>
            <a:endParaRPr lang="en-US" sz="1700" dirty="0"/>
          </a:p>
        </p:txBody>
      </p:sp>
      <p:sp>
        <p:nvSpPr>
          <p:cNvPr id="20" name="Text 18"/>
          <p:cNvSpPr/>
          <p:nvPr/>
        </p:nvSpPr>
        <p:spPr>
          <a:xfrm>
            <a:off x="1325880" y="5127498"/>
            <a:ext cx="10149840" cy="678942"/>
          </a:xfrm>
          <a:prstGeom prst="rect">
            <a:avLst/>
          </a:prstGeom>
          <a:noFill/>
          <a:ln/>
        </p:spPr>
        <p:txBody>
          <a:bodyPr wrap="square" lIns="0" tIns="0" rIns="0" bIns="0" rtlCol="0" anchor="ctr"/>
          <a:lstStyle/>
          <a:p>
            <a:pPr indent="0" marL="0">
              <a:buNone/>
            </a:pPr>
            <a:r>
              <a:rPr lang="en-US" sz="1350" dirty="0">
                <a:solidFill>
                  <a:srgbClr val="1A1A1A"/>
                </a:solidFill>
                <a:latin typeface="Arial" pitchFamily="34" charset="0"/>
                <a:ea typeface="Arial" pitchFamily="34" charset="-122"/>
                <a:cs typeface="Arial" pitchFamily="34" charset="-120"/>
              </a:rPr>
              <a:t>They were identical in every way to the civil rights movement, despite limited evidence supporting this interpretation and fails to account for key developments in the broader context</a:t>
            </a:r>
            <a:endParaRPr lang="en-US" sz="1350" dirty="0"/>
          </a:p>
        </p:txBody>
      </p:sp>
      <p:sp>
        <p:nvSpPr>
          <p:cNvPr id="21" name="Text 19"/>
          <p:cNvSpPr/>
          <p:nvPr/>
        </p:nvSpPr>
        <p:spPr>
          <a:xfrm>
            <a:off x="548640" y="6053328"/>
            <a:ext cx="11064240" cy="29260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Confidence:  </a:t>
            </a:r>
            <a:pPr indent="0" marL="0">
              <a:buNone/>
            </a:pPr>
            <a:r>
              <a:rPr lang="en-US" sz="1200" dirty="0">
                <a:solidFill>
                  <a:srgbClr val="E7EAF2"/>
                </a:solidFill>
                <a:latin typeface="Arial" pitchFamily="34" charset="0"/>
                <a:ea typeface="Arial" pitchFamily="34" charset="-122"/>
                <a:cs typeface="Arial" pitchFamily="34" charset="-120"/>
              </a:rPr>
              <a:t>😟 1     🙂 2     😀 3     — circle where you are; your teacher routes reteach or extension.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U.S. History Hack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Unit 9 — The Civil Rights Movement (US.78–US.82) · Lean Student Deck</dc:subject>
  <dc:creator>TroopToTeacher Technologies LLC</dc:creator>
  <cp:lastModifiedBy>TroopToTeacher Technologies LLC</cp:lastModifiedBy>
  <cp:revision>1</cp:revision>
  <dcterms:created xsi:type="dcterms:W3CDTF">2026-07-02T20:01:22Z</dcterms:created>
  <dcterms:modified xsi:type="dcterms:W3CDTF">2026-07-02T20:01:22Z</dcterms:modified>
</cp:coreProperties>
</file>
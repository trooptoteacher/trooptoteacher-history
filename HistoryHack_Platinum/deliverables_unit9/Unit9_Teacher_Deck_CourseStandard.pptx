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1-1.jpg" ContentType="image/jpg"/>
  <Override PartName="/ppt/media/image-12-1.jpg" ContentType="image/jpg"/>
  <Override PartName="/ppt/media/image-26-1.jpg" ContentType="image/jpg"/>
  <Override PartName="/ppt/media/image-26-2.jpg" ContentType="image/jpg"/>
  <Override PartName="/ppt/media/image-26-3.jpg" ContentType="image/jpg"/>
  <Override PartName="/ppt/media/image-40-1.jpg" ContentType="image/jpg"/>
  <Override PartName="/ppt/media/image-41-1.jpg" ContentType="image/jpg"/>
  <Override PartName="/ppt/media/image-42-1.jpg" ContentType="image/jpg"/>
  <Override PartName="/ppt/media/image-43-1.jpg" ContentType="image/jpg"/>
  <Override PartName="/ppt/media/image-55-1.jpg" ContentType="image/jpg"/>
  <Override PartName="/ppt/media/image-58-1.jpg" ContentType="image/jpg"/>
  <Override PartName="/ppt/media/image-72-1.jpg" ContentType="image/jpg"/>
  <Override PartName="/ppt/media/image-7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343" r:id="rId94"/>
    <p:sldId id="260" r:id="rId6"/>
    <p:sldId id="261" r:id="rId7"/>
    <p:sldId id="262" r:id="rId8"/>
    <p:sldId id="263" r:id="rId9"/>
    <p:sldId id="264" r:id="rId10"/>
    <p:sldId id="265" r:id="rId11"/>
    <p:sldId id="266" r:id="rId12"/>
    <p:sldId id="267" r:id="rId13"/>
    <p:sldId id="338" r:id="rId89"/>
    <p:sldId id="269" r:id="rId15"/>
    <p:sldId id="270" r:id="rId16"/>
    <p:sldId id="271" r:id="rId17"/>
    <p:sldId id="272" r:id="rId18"/>
    <p:sldId id="273" r:id="rId19"/>
    <p:sldId id="274" r:id="rId20"/>
    <p:sldId id="344" r:id="rId95"/>
    <p:sldId id="349" r:id="rId100"/>
    <p:sldId id="275" r:id="rId21"/>
    <p:sldId id="276" r:id="rId22"/>
    <p:sldId id="277" r:id="rId23"/>
    <p:sldId id="278" r:id="rId24"/>
    <p:sldId id="279" r:id="rId25"/>
    <p:sldId id="280" r:id="rId26"/>
    <p:sldId id="281" r:id="rId27"/>
    <p:sldId id="282" r:id="rId28"/>
    <p:sldId id="339" r:id="rId90"/>
    <p:sldId id="284" r:id="rId30"/>
    <p:sldId id="285" r:id="rId31"/>
    <p:sldId id="286" r:id="rId32"/>
    <p:sldId id="287" r:id="rId33"/>
    <p:sldId id="288" r:id="rId34"/>
    <p:sldId id="289" r:id="rId35"/>
    <p:sldId id="345" r:id="rId96"/>
    <p:sldId id="350" r:id="rId101"/>
    <p:sldId id="290" r:id="rId36"/>
    <p:sldId id="291" r:id="rId37"/>
    <p:sldId id="292" r:id="rId38"/>
    <p:sldId id="293" r:id="rId39"/>
    <p:sldId id="294" r:id="rId40"/>
    <p:sldId id="295" r:id="rId41"/>
    <p:sldId id="296" r:id="rId42"/>
    <p:sldId id="297" r:id="rId43"/>
    <p:sldId id="298" r:id="rId44"/>
    <p:sldId id="340" r:id="rId91"/>
    <p:sldId id="300" r:id="rId46"/>
    <p:sldId id="301" r:id="rId47"/>
    <p:sldId id="302" r:id="rId48"/>
    <p:sldId id="303" r:id="rId49"/>
    <p:sldId id="304" r:id="rId50"/>
    <p:sldId id="305" r:id="rId51"/>
    <p:sldId id="346" r:id="rId97"/>
    <p:sldId id="351" r:id="rId102"/>
    <p:sldId id="306" r:id="rId52"/>
    <p:sldId id="307" r:id="rId53"/>
    <p:sldId id="308" r:id="rId54"/>
    <p:sldId id="309" r:id="rId55"/>
    <p:sldId id="310" r:id="rId56"/>
    <p:sldId id="311" r:id="rId57"/>
    <p:sldId id="312" r:id="rId58"/>
    <p:sldId id="313" r:id="rId59"/>
    <p:sldId id="314" r:id="rId60"/>
    <p:sldId id="341" r:id="rId92"/>
    <p:sldId id="316" r:id="rId62"/>
    <p:sldId id="317" r:id="rId63"/>
    <p:sldId id="318" r:id="rId64"/>
    <p:sldId id="319" r:id="rId65"/>
    <p:sldId id="320" r:id="rId66"/>
    <p:sldId id="321" r:id="rId67"/>
    <p:sldId id="347" r:id="rId98"/>
    <p:sldId id="352" r:id="rId103"/>
    <p:sldId id="322" r:id="rId68"/>
    <p:sldId id="323" r:id="rId69"/>
    <p:sldId id="324" r:id="rId70"/>
    <p:sldId id="325" r:id="rId71"/>
    <p:sldId id="326" r:id="rId72"/>
    <p:sldId id="327" r:id="rId73"/>
    <p:sldId id="328" r:id="rId74"/>
    <p:sldId id="329" r:id="rId75"/>
    <p:sldId id="330" r:id="rId76"/>
    <p:sldId id="342" r:id="rId93"/>
    <p:sldId id="332" r:id="rId78"/>
    <p:sldId id="333" r:id="rId79"/>
    <p:sldId id="334" r:id="rId80"/>
    <p:sldId id="335" r:id="rId81"/>
    <p:sldId id="336" r:id="rId82"/>
    <p:sldId id="337" r:id="rId83"/>
    <p:sldId id="348" r:id="rId99"/>
    <p:sldId id="353" r:id="rId104"/>
  </p:sldIdLst>
  <p:notesMasterIdLst>
    <p:notesMasterId r:id="rId8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 Id="rId89" Type="http://schemas.openxmlformats.org/officeDocument/2006/relationships/slide" Target="slides/slide13.xml"/><Relationship Id="rId90" Type="http://schemas.openxmlformats.org/officeDocument/2006/relationships/slide" Target="slides/slide28.xml"/><Relationship Id="rId91" Type="http://schemas.openxmlformats.org/officeDocument/2006/relationships/slide" Target="slides/slide44.xml"/><Relationship Id="rId92" Type="http://schemas.openxmlformats.org/officeDocument/2006/relationships/slide" Target="slides/slide60.xml"/><Relationship Id="rId93" Type="http://schemas.openxmlformats.org/officeDocument/2006/relationships/slide" Target="slides/slide76.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9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Rights students may name: attending an integrated school, voting without a literacy test or poll tax, being served at any restaurant or store, riding public transportation without segregated seating, and equal treatment in housing and employment. Push students to connect each to a specific event or law in this unit — Brown v. Board (schools), the Voting Rights Act of 1965 (the ballot), the Civil Rights Act of 1964 (public places and jobs), the Montgomery Bus Boycott and Freedom Rides (transportation), and the Fair Housing Act of 1968 (housing). Collect lists; revisit on the closing slide after students can answer with evidence — from Brown, through the advocates and opponents and the major protest campaigns, to the legislation and the movements that borrowed the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(US.78). Cold-call or whiteboards, 3-4 min, low stakes. Answers — 1) The 1950s brought suburban growth, consumer goods, and a booming middle class for many white families. But African Americans and other minorities were largely excluded by legal segregation (Jim Crow), housing discrimination, and unequal schools — setting the stage for the Civil Rights Movement.  2) A court ruling declares the law, but it cannot enforce itself. Southern states used ‘massive resistance’ — delay, defiance, and violence — so the federal government had to send troops (as at Little Rock in 1957) to enforce desegregation.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(US.78, DOK 1). 60-90 seconds. Have EVERY student commit (thumbs / whiteboard / choral) before revealing — this secures an early win and surfaces who is shaky before new content. Answer: Segregated (‘separate but equal’) public schools are unconstitutional. Key term to listen for: Brown v. Board of Education.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(US.78). Ask: if the highest court in the land says a practice is unconstitutional, does it end overnight? Why or why not?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(Chief Justice Earl Warren) WHEN? (May 17, 1954) WHY does that matter? (Consider the author’s purpose and audience before you interpret the words.) Only then move to the ANALYZE question. Suggested answer: The Court ruled that "Separate educational facilities are inherently unequal" and segregation deprives students of "equal protection of the laws guaranteed by the Fourteenth Amendment."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(US.78). Skill modeled: Source a Supreme Court opinion. Model the worked example aloud using the THINK ALOUD as your script, then release students to the activity ("Now you: underline the exact phrase that overturns "separate but equal," and name the amendment it relies on.").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US.78. Pair with the printable: printables/unit-9/unit-9-cause-effect.html. Timing: 15. Deliverable: Completed Causes &amp; Consequences organizer (3+ causes, 3+ consequences) plus a one-sentence evidence-based claim on why desegregation was slow to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(US.78, DOK 3). Have students commit to an answer (whiteboards, hand signal, or turn-and-talk) BEFORE advancing. Correct answer: A. The next slide reveals it. Why: The Court ruled that "Separate educational facilities are inherently unequal" and segregation deprives students of "equal protection of the laws guaranteed by the Fourteenth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(US.78). Correct: A. The Court ruled that "Separate educational facilities are inherently unequal" and segregation deprives students of "equal protection of the laws guaranteed by the Fourteenth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(US.78, DOK 2). Prompt: Explain how Brown v. Board of Education overturned Plessy v. Ferguson, and give one reason desegregation was still difficult to achieve after the ruling.  Model answer: Plessy v. Ferguson (1896) had allowed ‘separate but equal’ facilities. In Brown (1954) the Court ruled that separate schools are inherently unequal and unconstitutional, overturning that doctrine. Desegregation was still difficult because Southern states resisted — through delay, defiance (‘massive resistance’), and violence — requiring federal enforcement, such as troops at Little Rock in 1957.  RETEACH TRIGGER — if a student misses this exit ticket: (1) &lt;50% of class miss → spiral it into the next standard’s Quick Review opener (see the US.78 review prompts). (2) Individual/small group → reteach with the "Historical Context Leading to Brown v. Board" direct-instruction slide + re-run the SOURCE IT FIRST routine on the US.78 primary source, then assign the paired printable: printables/unit-9/unit-9-cause-effect.html. (3) Re-assess with the US.78 check-for-understanding reveal slide as a do-now the next day. Reteach anchors (this standard’s sections): Historical Context Leading to Brown v. Board; Key Details of the Court Case and Decision; Impact on Desegregation. I Can objective: I can examine the decision and impact of Brown v. Board of Education on desegregation.  HONORS / EXTENSION (DOK 3, for early finishers or advanced learners): Evaluate the long-term significance of Brown v. Board for the broader Civil Rights Movement. Was its greatest impact legal, moral, or strategic? Defend your answer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(US.79). Cold-call or whiteboards, 3-4 min, low stakes. Answers — 1) The Court ruled unanimously that ‘separate but equal’ schools were unconstitutional, overturning Plessy v. Ferguson. It gave the movement a legal victory and moral momentum to challenge segregation everywhere, not just in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(US.79, DOK 1). 60-90 seconds. Have EVERY student commit (thumbs / whiteboard / choral) before revealing — this secures an early win and surfaces who is shaky before new content. Answer: Advocate: Dr. King, Malcolm X, Thurgood Marshall, or Rosa Parks. Opponent: Bull Connor, Orval Faubus, or Strom Thurmond. Key term to listen for: advocate / opponent.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(US.79). Ask: can two people want the same freedom but disagree completely on how to win it? Hold that as we meet advocates and opponents.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(Malcolm X) WHEN? (April 3, 1964) WHY does that matter? (Consider the author’s purpose and audience before you interpret the words.) Only then move to the ANALYZE question. Suggested answer: Malcolm X presents a more militant view, stating "It'll be the ballot or the bullet" and expressing skepticism about America, saying "I see an American nightmare."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(US.79). Skill modeled: Compare two advocates’ strategies. Model the worked example aloud using the THINK ALOUD as your script, then release students to the activity ("Now you: write one sentence naming a shared goal and one naming their sharpest difference.").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US.79. Pair with the printable: printables/unit-9/venn-mlk-s-nonviolent-resistance-vs-malcolm-x-s-black-nationalism.html. Timing: 15. Deliverable: Completed Venn diagram (2+ items per section, including the shared overlap) plus a one-sentence claim on whether differing strategies strengthened or weakened the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(US.79, DOK 3). Have students commit to an answer (whiteboards, hand signal, or turn-and-talk) BEFORE advancing. Correct answer: D. The next slide reveals it. Why: Malcolm X presents a more militant view, stating "It'll be the ballot or the bullet" and expressing skepticism about America, saying "I see an American nightmare."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(US.79). Correct: D. Malcolm X presents a more militant view, stating "It'll be the ballot or the bullet" and expressing skepticism about America, saying "I see an American nightmare."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(US.79, DOK 3). Prompt: Compare the strategies of Dr. Martin Luther King Jr. and Malcolm X. How were their goals similar, and how did their approaches differ?  Model answer: Both sought to end the oppression of African Americans. King advocated nonviolent direct action, integration, and moral appeal to the nation’s conscience. Malcolm X (early in his career) argued for Black self-reliance, self-defense, and separatism, criticizing nonviolence as too slow. Their differing tactics pressured segregation from multiple angles and appealed to different audiences.  RETEACH TRIGGER — if a student misses this exit ticket: (1) &lt;50% of class miss → spiral it into the next standard’s Quick Review opener (see the US.79 review prompts). (2) Individual/small group → reteach with the "Civil Rights Advocates" direct-instruction slide + re-run the SOURCE IT FIRST routine on the US.79 primary source, then assign the paired printable: printables/unit-9/venn-mlk-s-nonviolent-resistance-vs-malcolm-x-s-black-nationalism.html. (3) Re-assess with the US.79 check-for-understanding reveal slide as a do-now the next day. Reteach anchors (this standard’s sections): Civil Rights Advocates; Civil Rights Opponents; Comparing Approaches. I Can objective: I can examine the roles and actions of civil rights advocates (e.g., Malcolm X, Thurgood Marshall, Rosa Parks) and opponents (e.g., Bull Connor, Orval Faubus, Strom Thurmond) and how they coincided, confronted, and challenged each other.  HONORS / EXTENSION (DOK 3, for early finishers or advanced learners): Analyze how the actions of both advocates AND opponents (e.g., Bull Connor, Faubus) shaped national public opinion about civil rights. Whose actions did more to move public opinion — and why?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(US.80). Cold-call or whiteboards, 3-4 min, low stakes. Answers — 1) King used nonviolent direct action and moral appeal; Malcolm X initially argued for Black self-reliance and self-defense; Marshall fought through the courts (winning Brown). Different tactics — legal, nonviolent protest, and militant advocacy — pressured the system from multiple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(US.80, DOK 1). 60-90 seconds. Have EVERY student commit (thumbs / whiteboard / choral) before revealing — this secures an early win and surfaces who is shaky before new content. Answer: The Montgomery Bus Boycott. Key term to listen for: Montgomery Bus Boycott.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(US.80). Ask: which is more powerful — a single act of courage, or thousands of ordinary people acting together? Watch for both today.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(Dr. Martin Luther King Jr.) WHEN? (April 16, 1963) WHY does that matter? (Consider the author’s purpose and audience before you interpret the words.) Only then move to the ANALYZE question. Suggested answer: King states that "the Negro's great stumbling block" is not the KKK but "the white moderate," those who prefer gradual change to immediate action for justice.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(US.80). Skill modeled: Trace cause and effect in a protest. Model the worked example aloud using the THINK ALOUD as your script, then release students to the activity ("Now you: name the trigger, the tactic, and the outcome for one event on today’s timeline.").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US.80. Pair with the printable: printables/unit-9/unit-9-sapa.html. Timing: 18. Deliverable: Completed SAPA chart for three campaigns, each with all four columns filled, plus one sentence identifying which tactic did the most to force federal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(US.80, DOK 3). Have students commit to an answer (whiteboards, hand signal, or turn-and-talk) BEFORE advancing. Correct answer: B. The next slide reveals it. Why: King states that "the Negro's great stumbling block" is not the KKK but "the white moderate," those who prefer gradual change to immediate action for justice.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(US.80). Correct: B. King states that "the Negro's great stumbling block" is not the KKK but "the white moderate," those who prefer gradual change to immediate action for justice.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(US.80, DOK 2). Prompt: Choose two civil rights events from this standard (boycott, sit-in, Freedom Ride, or march). Explain what tactic each used and what it accomplished.  Model answer: The Montgomery Bus Boycott used economic pressure (refusing to ride segregated buses) and ended bus segregation in Montgomery, establishing nonviolent resistance and launching Dr. King. The Nashville sit-ins used peaceful occupation of segregated lunch counters and successfully desegregated Nashville’s counters — becoming a model for the movement. Each used a different nonviolent tactic to target a specific form of segregation.  RETEACH TRIGGER — if a student misses this exit ticket: (1) &lt;50% of class miss → spiral it into the next standard’s Quick Review opener (see the US.80 review prompts). (2) Individual/small group → reteach with the "Early Movement Victories" direct-instruction slide + re-run the SOURCE IT FIRST routine on the US.80 primary source, then assign the paired printable: printables/unit-9/unit-9-sapa.html. (3) Re-assess with the US.80 check-for-understanding reveal slide as a do-now the next day. Reteach anchors (this standard’s sections): Early Movement Victories; Tennessee's Role in the Movement; Confrontations That Changed America; Culminating Events. I Can objective: I can describe the significant events in the struggle to secure civil rights for African Americans, including the Montgomery Bus Boycott, Freedom Riders, March on Washington, Birmingham bombings, and assassination of Martin Luther King Jr.  HONORS / EXTENSION (DOK 3, for early finishers or advanced learners): Analyze how different types of protest (boycotts, sit-ins, Freedom Rides, marches) achieved different goals. Which tactic was most effective at forcing federal action, and why?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(US.81). Cold-call or whiteboards, 3-4 min, low stakes. Answers — 1) Televised protests and violent responses (like Birmingham) shocked the nation and built public support. The March on Washington (1963) directly demanded civil rights legislation, pushing Congress and President Johnson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(US.81, DOK 1). 60-90 seconds. Have EVERY student commit (thumbs / whiteboard / choral) before revealing — this secures an early win and surfaces who is shaky before new content. Answer: Discrimination based on race, color, religion, sex, or national origin in public places and employment. Key term to listen for: Civil Rights Act of 1964.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(US.81). Ask: a march can change hearts, but what changes the law? Track how protest turned into legislation.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WHEN? (July 2, 1964) WHY does that matter? (Consider the author’s purpose and audience before you interpret the words.) Only then move to the ANALYZE question. Suggested answer: The Act guarantees "full and equal enjoyment" of "any place of public accommodation... without discrimination or segregation on the ground of race, color, religion, or national origin."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(US.81). Skill modeled: Analyze what a law actually does. Model the worked example aloud using the THINK ALOUD as your script, then release students to the activity ("Now you: for the Voting Rights Act of 1965, state what it banned and one enforcement tool it created.").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US.81. Pair with the printable: printables/unit-9/hippo-primary-source-organizer.html. Timing: 15. Deliverable: Completed HIPP[O] organizer for one law, an ordered list of the four measures with what each accomplished, and a one-sentence claim on why ending segregation did not automatically guarantee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(US.81, DOK 2). Have students commit to an answer (whiteboards, hand signal, or turn-and-talk) BEFORE advancing. Correct answer: D. The next slide reveals it. Why: The Act guarantees "full and equal enjoyment" of "any place of public accommodation... without discrimination or segregation on the ground of race, color, religion, or national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(US.81). Correct: D. The Act guarantees "full and equal enjoyment" of "any place of public accommodation... without discrimination or segregation on the ground of race, color, religion, or national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(US.81, DOK 2). Prompt: Explain the main purpose of the Civil Rights Act of 1964 and the Voting Rights Act of 1965. Why were BOTH laws necessary?  Model answer: The Civil Rights Act of 1964 outlawed segregation and discrimination in public places, schools, and employment. The Voting Rights Act of 1965 specifically protected the right to vote by banning literacy tests and authorizing federal oversight of voter registration. Both were necessary because ending segregation (1964) did not automatically guarantee access to the ballot — voting discrimination required its own law.  RETEACH TRIGGER — if a student misses this exit ticket: (1) &lt;50% of class miss → spiral it into the next standard’s Quick Review opener (see the US.81 review prompts). (2) Individual/small group → reteach with the "Civil Rights Act of 1964" direct-instruction slide + re-run the SOURCE IT FIRST routine on the US.81 primary source, then assign the paired printable: printables/unit-9/hippo-primary-source-organizer.html. (3) Re-assess with the US.81 check-for-understanding reveal slide as a do-now the next day. Reteach anchors (this standard’s sections): Civil Rights Act of 1964; Voting Rights Act of 1965; Civil Rights Act of 1968 (Fair Housing Act); 24th Amendment (1964). I Can objective: I can analyze civil and voting rights legislation, including the Civil Rights Act of 1964, the Voting Rights Act of 1965, the Civil Rights Act of 1968 (Fair Housing Act), and the 24th Amendment.  HONORS / EXTENSION (DOK 3, for early finishers or advanced learners): Evaluate which piece of civil rights legislation (1964 Act, 1965 Voting Rights Act, 24th Amendment, or 1968 Fair Housing Act) had the most transformative impact on American life. Defend your choice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(US.82). Cold-call or whiteboards, 3-4 min, low stakes. Answers — 1) The Civil Rights Act of 1964 banned discrimination in public places and employment; the Voting Rights Act of 1965 outlawed practices like literacy tests and authorized federal oversight of registration, dramatically increasing Black voter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(US.82, DOK 1). 60-90 seconds. Have EVERY student commit (thumbs / whiteboard / choral) before revealing — this secures an early win and surfaces who is shaky before new content. Answer: The American Indian Movement (AIM), the Chicano Movement, and the Feminist Movement. Key term to listen for: AIM / Chicano / Feminist.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(US.82). Ask: once one group wins civil rights, do other groups follow the same path? Look for the shared playbook.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(Dolores Huerta) WHEN? (1965) WHY does that matter? (Consider the author’s purpose and audience before you interpret the words.) Only then move to the ANALYZE question. Suggested answer: The proclamation echoes civil rights language with "We shall overcome" and frames the struggle as fighting "poverty, the misery, and the injustice," connecting it to the broader movement. Practice skill: Corroboration.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(US.82). Skill modeled: Connect movements to the Civil Rights Movement. Model the worked example aloud using the THINK ALOUD as your script, then release students to the activity ("Now you: pick one movement and name a goal it shared with, and one way it differed from, the CRM.").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US.82. Pair with the printable: printables/unit-9/unit-9-venn.html. Timing: 18. Deliverable: Completed comparison organizer (goal + leader + borrowed tactic for each of the three movements, plus the shared blueprint) and a one-sentence claim on how they expanded civil rights beyond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(US.82, DOK 2). Have students commit to an answer (whiteboards, hand signal, or turn-and-talk) BEFORE advancing. Correct answer: A. The next slide reveals it. Why: The proclamation echoes civil rights language with "We shall overcome" and frames the struggle as fighting "poverty, the misery, and the injustice," connecting it to the broader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(US.82). Correct: A. The proclamation echoes civil rights language with "We shall overcome" and frames the struggle as fighting "poverty, the misery, and the injustice," connecting it to the broader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(US.82, DOK 3). Prompt: Explain how the American Indian Movement, the Chicano Movement, and the Feminist Movement each built on the strategies of the African American Civil Rights Movement.  Model answer: Each movement adopted civil-rights tactics — organized protest, legal challenges, boycotts, and demands for federal legislation. AIM used occupations and protest to demand treaty rights; the Chicano Movement used the grape boycott and labor organizing (Cesar Chavez, UFW) to win farm-worker rights; the Feminist Movement used organizing and legislation to demand equality in work, pay, and law. All expanded the meaning of ‘civil rights’ beyond race.  RETEACH TRIGGER — if a student misses this exit ticket: (1) &lt;50% of class miss → spiral it into the next standard’s Quick Review opener (see the US.82 review prompts). (2) Individual/small group → reteach with the "American Indian Movement (AIM)" direct-instruction slide + re-run the SOURCE IT FIRST routine on the US.82 primary source, then assign the paired printable: printables/unit-9/unit-9-venn.html. (3) Re-assess with the US.82 check-for-understanding reveal slide as a do-now the next day. Reteach anchors (this standard’s sections): American Indian Movement (AIM); Chicano Movement; Feminist Movement; Synthesizing Connections. I Can objective: I can analyze how the American Indian Movement, Chicano Movement, and Feminist Movement are related to the Civil Rights Movement in advancing equality across American society.  HONORS / EXTENSION (DOK 3, for early finishers or advanced learners): Analyze how these movements collectively expanded the definition of civil rights in America. Did broadening the movement strengthen or dilute the pursuit of equality? Argue your position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commons.wikimedia.org/wiki/File:Operation_Arkansas,_Little_Rock_Nine.jp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loc.gov/pictures/item/2003688132/"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commons.wikimedia.org/wiki/File:U.S._Supreme_Court_building,_Washington,_D.C._LCCN2017878871.jpg" TargetMode="External"/><Relationship Id="rId3" Type="http://schemas.openxmlformats.org/officeDocument/2006/relationships/hyperlink" Target="https://www.archives.gov/milestone-documents/brown-v-board-of-education"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hyperlink" Target="https://commons.wikimedia.org/wiki/File:Martin-Luther-King-1964-leaning-on-a-lectern.jpg" TargetMode="External"/><Relationship Id="rId3" Type="http://schemas.openxmlformats.org/officeDocument/2006/relationships/image" Target="../media/image-26-2.jpg"/><Relationship Id="rId4" Type="http://schemas.openxmlformats.org/officeDocument/2006/relationships/hyperlink" Target="https://commons.wikimedia.org/wiki/File:Malcolm_X_NYWTS_2a.jpg" TargetMode="External"/><Relationship Id="rId5" Type="http://schemas.openxmlformats.org/officeDocument/2006/relationships/image" Target="../media/image-26-3.jpg"/><Relationship Id="rId6" Type="http://schemas.openxmlformats.org/officeDocument/2006/relationships/hyperlink" Target="https://commons.wikimedia.org/wiki/File:Rosa_Parks_on_bus_on_December_21,_1956.jpg" TargetMode="External"/><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www.loc.gov/collections/malcolm-x/"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hyperlink" Target="https://commons.wikimedia.org/wiki/File:Greyhound_Bus_Attack_Anniston_1.jpg"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hyperlink" Target="https://commons.wikimedia.org/wiki/File:Selma_to_Montgomery_Marches.jpg"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hyperlink" Target="https://commons.wikimedia.org/wiki/File:Nash_and_Smith_Nashville_sit-ins_1960.jpg"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hyperlink" Target="https://commons.wikimedia.org/wiki/File:March_on_Washington_-_Reflecting_Pool.jpg" TargetMode="External"/><Relationship Id="rId3" Type="http://schemas.openxmlformats.org/officeDocument/2006/relationships/hyperlink" Target="https://kinginstitute.stanford.edu/encyclopedia/letter-birmingham-jail" TargetMode="External"/><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hyperlink" Target="https://commons.wikimedia.org/wiki/File:LyndonJohnson_signs_Voting_Rights_Act_of_1965.jpg" TargetMode="External"/><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hyperlink" Target="https://commons.wikimedia.org/wiki/File:Lyndon_Johnson_signing_Civil_Rights_Act,_July_2,_1964.jpg" TargetMode="External"/><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www.archives.gov/milestone-documents/civil-rights-act" TargetMode="Externa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hyperlink" Target="https://commons.wikimedia.org/wiki/File:Women%27s_liberation_march_from_Farrugut_Square_to_Layfette_03425v.jpg" TargetMode="External"/><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hyperlink" Target="https://commons.wikimedia.org/wiki/File:Cesar_Chavez_40913a.tif" TargetMode="External"/><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hyperlink" Target="https://www.loc.gov/collections/cesar-chavez/" TargetMode="External"/><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p/>
        </p:txBody>
      </p:sp>
      <p:sp>
        <p:nvSpPr>
          <p:cNvPr id="3" name="Shape 1"/>
          <p:cNvSpPr/>
          <p:nvPr/>
        </p:nvSpPr>
        <p:spPr>
          <a:xfrm>
            <a:off x="0" y="0"/>
            <a:ext cx="12045391" cy="146304"/>
          </a:xfrm>
          <a:prstGeom prst="rect">
            <a:avLst/>
          </a:prstGeom>
          <a:solidFill>
            <a:srgbClr val="C9A84C"/>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9</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Civil Rights Movement</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Brown v. Board · Advocates &amp; Opponents · Boycotts, Sit-ins &amp; Marches · Civil &amp; Voting Rights Legislation · The American Indian, Chicano &amp; Feminist Movements   ·   1954–1968</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US.78 – US.82</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sp>
      <p:sp>
        <p:nvSpPr>
          <p:cNvPr id="10" name="Text 8"/>
          <p:cNvSpPr/>
          <p:nvPr/>
        </p:nvSpPr>
        <p:spPr>
          <a:xfrm>
            <a:off x="82296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US.78</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sp>
      <p:sp>
        <p:nvSpPr>
          <p:cNvPr id="12" name="Text 10"/>
          <p:cNvSpPr/>
          <p:nvPr/>
        </p:nvSpPr>
        <p:spPr>
          <a:xfrm>
            <a:off x="198424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US.79</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sp>
      <p:sp>
        <p:nvSpPr>
          <p:cNvPr id="14" name="Text 12"/>
          <p:cNvSpPr/>
          <p:nvPr/>
        </p:nvSpPr>
        <p:spPr>
          <a:xfrm>
            <a:off x="314553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US.80</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sp>
      <p:sp>
        <p:nvSpPr>
          <p:cNvPr id="16" name="Text 14"/>
          <p:cNvSpPr/>
          <p:nvPr/>
        </p:nvSpPr>
        <p:spPr>
          <a:xfrm>
            <a:off x="430682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US.81</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sp>
      <p:sp>
        <p:nvSpPr>
          <p:cNvPr id="18" name="Text 16"/>
          <p:cNvSpPr/>
          <p:nvPr/>
        </p:nvSpPr>
        <p:spPr>
          <a:xfrm>
            <a:off x="5468112"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US.82</a:t>
            </a:r>
            <a:endParaRPr lang="en-US" sz="1250" dirty="0"/>
          </a:p>
        </p:txBody>
      </p:sp>
      <p:sp>
        <p:nvSpPr>
          <p:cNvPr id="19" name="Text 17"/>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20" name="Text 18"/>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9 · The Civil Rights Movement (1954–1968)  —  Brown v. Board of Education, the advocates and opponents of civil rights, the boycotts, sit-ins, Freedom Rides, and marches that changed the nation, the landmark civil and voting rights legislation, and the American Indian, Chicano, and Feminist movements that followed the same blueprint</a:t>
            </a:r>
            <a:endParaRPr lang="en-US" sz="1300" dirty="0"/>
          </a:p>
        </p:txBody>
      </p:sp>
      <p:sp>
        <p:nvSpPr>
          <p:cNvPr id="6" name="Shape 4"/>
          <p:cNvSpPr/>
          <p:nvPr/>
        </p:nvSpPr>
        <p:spPr>
          <a:xfrm>
            <a:off x="548640" y="1828800"/>
            <a:ext cx="5349240" cy="960120"/>
          </a:xfrm>
          <a:prstGeom prst="rect">
            <a:avLst/>
          </a:prstGeom>
          <a:solidFill>
            <a:srgbClr val="FFFFFF"/>
          </a:solidFill>
          <a:ln w="12700">
            <a:solidFill>
              <a:srgbClr val="DAD3C2"/>
            </a:solidFill>
            <a:prstDash val="solid"/>
          </a:ln>
        </p:spPr>
      </p:sp>
      <p:sp>
        <p:nvSpPr>
          <p:cNvPr id="7" name="Shape 5"/>
          <p:cNvSpPr/>
          <p:nvPr/>
        </p:nvSpPr>
        <p:spPr>
          <a:xfrm>
            <a:off x="548640" y="1828800"/>
            <a:ext cx="1188720" cy="960120"/>
          </a:xfrm>
          <a:prstGeom prst="rect">
            <a:avLst/>
          </a:prstGeom>
          <a:solidFill>
            <a:srgbClr val="1A2332"/>
          </a:solidFill>
          <a:ln/>
        </p:spPr>
      </p:sp>
      <p:sp>
        <p:nvSpPr>
          <p:cNvPr id="8" name="Text 6"/>
          <p:cNvSpPr/>
          <p:nvPr/>
        </p:nvSpPr>
        <p:spPr>
          <a:xfrm>
            <a:off x="54864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US.78</a:t>
            </a:r>
            <a:endParaRPr lang="en-US" sz="1900" dirty="0"/>
          </a:p>
        </p:txBody>
      </p:sp>
      <p:sp>
        <p:nvSpPr>
          <p:cNvPr id="9" name="Text 7"/>
          <p:cNvSpPr/>
          <p:nvPr/>
        </p:nvSpPr>
        <p:spPr>
          <a:xfrm>
            <a:off x="1920240" y="1828800"/>
            <a:ext cx="3840480" cy="960120"/>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Brown v. Board of Education</a:t>
            </a:r>
            <a:endParaRPr lang="en-US" sz="1350" dirty="0"/>
          </a:p>
        </p:txBody>
      </p:sp>
      <p:sp>
        <p:nvSpPr>
          <p:cNvPr id="10" name="Shape 8"/>
          <p:cNvSpPr/>
          <p:nvPr/>
        </p:nvSpPr>
        <p:spPr>
          <a:xfrm rot="10800000">
            <a:off x="1042416" y="2798064"/>
            <a:ext cx="182880" cy="137160"/>
          </a:xfrm>
          <a:prstGeom prst="triangle">
            <a:avLst/>
          </a:prstGeom>
          <a:solidFill>
            <a:srgbClr val="C9A84C"/>
          </a:solidFill>
          <a:ln/>
        </p:spPr>
      </p:sp>
      <p:sp>
        <p:nvSpPr>
          <p:cNvPr id="11" name="Shape 9"/>
          <p:cNvSpPr/>
          <p:nvPr/>
        </p:nvSpPr>
        <p:spPr>
          <a:xfrm>
            <a:off x="548640" y="2944368"/>
            <a:ext cx="5349240" cy="960120"/>
          </a:xfrm>
          <a:prstGeom prst="rect">
            <a:avLst/>
          </a:prstGeom>
          <a:solidFill>
            <a:srgbClr val="FFFFFF"/>
          </a:solidFill>
          <a:ln w="12700">
            <a:solidFill>
              <a:srgbClr val="DAD3C2"/>
            </a:solidFill>
            <a:prstDash val="solid"/>
          </a:ln>
        </p:spPr>
      </p:sp>
      <p:sp>
        <p:nvSpPr>
          <p:cNvPr id="12" name="Shape 10"/>
          <p:cNvSpPr/>
          <p:nvPr/>
        </p:nvSpPr>
        <p:spPr>
          <a:xfrm>
            <a:off x="548640" y="2944368"/>
            <a:ext cx="1188720" cy="960120"/>
          </a:xfrm>
          <a:prstGeom prst="rect">
            <a:avLst/>
          </a:prstGeom>
          <a:solidFill>
            <a:srgbClr val="1A2332"/>
          </a:solidFill>
          <a:ln/>
        </p:spPr>
      </p:sp>
      <p:sp>
        <p:nvSpPr>
          <p:cNvPr id="13" name="Text 11"/>
          <p:cNvSpPr/>
          <p:nvPr/>
        </p:nvSpPr>
        <p:spPr>
          <a:xfrm>
            <a:off x="54864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US.79</a:t>
            </a:r>
            <a:endParaRPr lang="en-US" sz="1900" dirty="0"/>
          </a:p>
        </p:txBody>
      </p:sp>
      <p:sp>
        <p:nvSpPr>
          <p:cNvPr id="14" name="Text 12"/>
          <p:cNvSpPr/>
          <p:nvPr/>
        </p:nvSpPr>
        <p:spPr>
          <a:xfrm>
            <a:off x="1920240" y="2944368"/>
            <a:ext cx="3840480" cy="960120"/>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Civil Rights Advocates and Opponents</a:t>
            </a:r>
            <a:endParaRPr lang="en-US" sz="1350" dirty="0"/>
          </a:p>
        </p:txBody>
      </p:sp>
      <p:sp>
        <p:nvSpPr>
          <p:cNvPr id="15" name="Shape 13"/>
          <p:cNvSpPr/>
          <p:nvPr/>
        </p:nvSpPr>
        <p:spPr>
          <a:xfrm rot="10800000">
            <a:off x="1042416" y="3913632"/>
            <a:ext cx="182880" cy="137160"/>
          </a:xfrm>
          <a:prstGeom prst="triangle">
            <a:avLst/>
          </a:prstGeom>
          <a:solidFill>
            <a:srgbClr val="C9A84C"/>
          </a:solidFill>
          <a:ln/>
        </p:spPr>
      </p:sp>
      <p:sp>
        <p:nvSpPr>
          <p:cNvPr id="16" name="Shape 14"/>
          <p:cNvSpPr/>
          <p:nvPr/>
        </p:nvSpPr>
        <p:spPr>
          <a:xfrm>
            <a:off x="548640" y="4059936"/>
            <a:ext cx="5349240" cy="960120"/>
          </a:xfrm>
          <a:prstGeom prst="rect">
            <a:avLst/>
          </a:prstGeom>
          <a:solidFill>
            <a:srgbClr val="FFFFFF"/>
          </a:solidFill>
          <a:ln w="12700">
            <a:solidFill>
              <a:srgbClr val="DAD3C2"/>
            </a:solidFill>
            <a:prstDash val="solid"/>
          </a:ln>
        </p:spPr>
      </p:sp>
      <p:sp>
        <p:nvSpPr>
          <p:cNvPr id="17" name="Shape 15"/>
          <p:cNvSpPr/>
          <p:nvPr/>
        </p:nvSpPr>
        <p:spPr>
          <a:xfrm>
            <a:off x="548640" y="4059936"/>
            <a:ext cx="1188720" cy="960120"/>
          </a:xfrm>
          <a:prstGeom prst="rect">
            <a:avLst/>
          </a:prstGeom>
          <a:solidFill>
            <a:srgbClr val="1A2332"/>
          </a:solidFill>
          <a:ln/>
        </p:spPr>
      </p:sp>
      <p:sp>
        <p:nvSpPr>
          <p:cNvPr id="18" name="Text 16"/>
          <p:cNvSpPr/>
          <p:nvPr/>
        </p:nvSpPr>
        <p:spPr>
          <a:xfrm>
            <a:off x="548640" y="4059936"/>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US.80</a:t>
            </a:r>
            <a:endParaRPr lang="en-US" sz="1900" dirty="0"/>
          </a:p>
        </p:txBody>
      </p:sp>
      <p:sp>
        <p:nvSpPr>
          <p:cNvPr id="19" name="Text 17"/>
          <p:cNvSpPr/>
          <p:nvPr/>
        </p:nvSpPr>
        <p:spPr>
          <a:xfrm>
            <a:off x="1920240" y="4059936"/>
            <a:ext cx="3840480" cy="960120"/>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Significant Civil Rights Events</a:t>
            </a:r>
            <a:endParaRPr lang="en-US" sz="1350" dirty="0"/>
          </a:p>
        </p:txBody>
      </p:sp>
      <p:sp>
        <p:nvSpPr>
          <p:cNvPr id="20" name="Shape 18"/>
          <p:cNvSpPr/>
          <p:nvPr/>
        </p:nvSpPr>
        <p:spPr>
          <a:xfrm>
            <a:off x="6309360" y="1828800"/>
            <a:ext cx="5349240" cy="960120"/>
          </a:xfrm>
          <a:prstGeom prst="rect">
            <a:avLst/>
          </a:prstGeom>
          <a:solidFill>
            <a:srgbClr val="FFFFFF"/>
          </a:solidFill>
          <a:ln w="12700">
            <a:solidFill>
              <a:srgbClr val="DAD3C2"/>
            </a:solidFill>
            <a:prstDash val="solid"/>
          </a:ln>
        </p:spPr>
      </p:sp>
      <p:sp>
        <p:nvSpPr>
          <p:cNvPr id="21" name="Shape 19"/>
          <p:cNvSpPr/>
          <p:nvPr/>
        </p:nvSpPr>
        <p:spPr>
          <a:xfrm>
            <a:off x="6309360" y="1828800"/>
            <a:ext cx="1188720" cy="960120"/>
          </a:xfrm>
          <a:prstGeom prst="rect">
            <a:avLst/>
          </a:prstGeom>
          <a:solidFill>
            <a:srgbClr val="1A2332"/>
          </a:solidFill>
          <a:ln/>
        </p:spPr>
      </p:sp>
      <p:sp>
        <p:nvSpPr>
          <p:cNvPr id="22" name="Text 20"/>
          <p:cNvSpPr/>
          <p:nvPr/>
        </p:nvSpPr>
        <p:spPr>
          <a:xfrm>
            <a:off x="630936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US.81</a:t>
            </a:r>
            <a:endParaRPr lang="en-US" sz="1900" dirty="0"/>
          </a:p>
        </p:txBody>
      </p:sp>
      <p:sp>
        <p:nvSpPr>
          <p:cNvPr id="23" name="Text 21"/>
          <p:cNvSpPr/>
          <p:nvPr/>
        </p:nvSpPr>
        <p:spPr>
          <a:xfrm>
            <a:off x="7680960" y="1828800"/>
            <a:ext cx="3840480" cy="960120"/>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Civil and Voting Rights Legislation</a:t>
            </a:r>
            <a:endParaRPr lang="en-US" sz="1350" dirty="0"/>
          </a:p>
        </p:txBody>
      </p:sp>
      <p:sp>
        <p:nvSpPr>
          <p:cNvPr id="24" name="Shape 22"/>
          <p:cNvSpPr/>
          <p:nvPr/>
        </p:nvSpPr>
        <p:spPr>
          <a:xfrm rot="10800000">
            <a:off x="6803136" y="2798064"/>
            <a:ext cx="182880" cy="137160"/>
          </a:xfrm>
          <a:prstGeom prst="triangle">
            <a:avLst/>
          </a:prstGeom>
          <a:solidFill>
            <a:srgbClr val="C9A84C"/>
          </a:solidFill>
          <a:ln/>
        </p:spPr>
      </p:sp>
      <p:sp>
        <p:nvSpPr>
          <p:cNvPr id="25" name="Shape 23"/>
          <p:cNvSpPr/>
          <p:nvPr/>
        </p:nvSpPr>
        <p:spPr>
          <a:xfrm>
            <a:off x="6309360" y="2944368"/>
            <a:ext cx="5349240" cy="960120"/>
          </a:xfrm>
          <a:prstGeom prst="rect">
            <a:avLst/>
          </a:prstGeom>
          <a:solidFill>
            <a:srgbClr val="FFFFFF"/>
          </a:solidFill>
          <a:ln w="12700">
            <a:solidFill>
              <a:srgbClr val="DAD3C2"/>
            </a:solidFill>
            <a:prstDash val="solid"/>
          </a:ln>
        </p:spPr>
      </p:sp>
      <p:sp>
        <p:nvSpPr>
          <p:cNvPr id="26" name="Shape 24"/>
          <p:cNvSpPr/>
          <p:nvPr/>
        </p:nvSpPr>
        <p:spPr>
          <a:xfrm>
            <a:off x="6309360" y="2944368"/>
            <a:ext cx="1188720" cy="960120"/>
          </a:xfrm>
          <a:prstGeom prst="rect">
            <a:avLst/>
          </a:prstGeom>
          <a:solidFill>
            <a:srgbClr val="1A2332"/>
          </a:solidFill>
          <a:ln/>
        </p:spPr>
      </p:sp>
      <p:sp>
        <p:nvSpPr>
          <p:cNvPr id="27" name="Text 25"/>
          <p:cNvSpPr/>
          <p:nvPr/>
        </p:nvSpPr>
        <p:spPr>
          <a:xfrm>
            <a:off x="630936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US.82</a:t>
            </a:r>
            <a:endParaRPr lang="en-US" sz="1900" dirty="0"/>
          </a:p>
        </p:txBody>
      </p:sp>
      <p:sp>
        <p:nvSpPr>
          <p:cNvPr id="28" name="Text 26"/>
          <p:cNvSpPr/>
          <p:nvPr/>
        </p:nvSpPr>
        <p:spPr>
          <a:xfrm>
            <a:off x="7680960" y="2944368"/>
            <a:ext cx="3840480" cy="960120"/>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American Indian, Chicano &amp; Feminist Movements</a:t>
            </a:r>
            <a:endParaRPr lang="en-US" sz="1350" dirty="0"/>
          </a:p>
        </p:txBody>
      </p:sp>
      <p:sp>
        <p:nvSpPr>
          <p:cNvPr id="29" name="Shape 27"/>
          <p:cNvSpPr/>
          <p:nvPr/>
        </p:nvSpPr>
        <p:spPr>
          <a:xfrm>
            <a:off x="5532120" y="1856232"/>
            <a:ext cx="658368" cy="384048"/>
          </a:xfrm>
          <a:prstGeom prst="roundRect">
            <a:avLst>
              <a:gd name="adj" fmla="val 14286"/>
            </a:avLst>
          </a:prstGeom>
          <a:solidFill>
            <a:srgbClr val="1A2332"/>
          </a:solidFill>
          <a:ln/>
        </p:spPr>
      </p:sp>
      <p:sp>
        <p:nvSpPr>
          <p:cNvPr id="30" name="Text 28"/>
          <p:cNvSpPr/>
          <p:nvPr/>
        </p:nvSpPr>
        <p:spPr>
          <a:xfrm>
            <a:off x="5532120" y="1856232"/>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31" name="Shape 29"/>
          <p:cNvSpPr/>
          <p:nvPr/>
        </p:nvSpPr>
        <p:spPr>
          <a:xfrm rot="5400000">
            <a:off x="6199632" y="1984248"/>
            <a:ext cx="164592" cy="146304"/>
          </a:xfrm>
          <a:prstGeom prst="triangle">
            <a:avLst/>
          </a:prstGeom>
          <a:solidFill>
            <a:srgbClr val="C9A84C"/>
          </a:solidFill>
          <a:ln/>
        </p:spPr>
      </p:sp>
      <p:sp>
        <p:nvSpPr>
          <p:cNvPr id="32" name="Shape 30"/>
          <p:cNvSpPr/>
          <p:nvPr/>
        </p:nvSpPr>
        <p:spPr>
          <a:xfrm>
            <a:off x="548640" y="5248656"/>
            <a:ext cx="11109960" cy="1335024"/>
          </a:xfrm>
          <a:prstGeom prst="roundRect">
            <a:avLst>
              <a:gd name="adj" fmla="val 4110"/>
            </a:avLst>
          </a:prstGeom>
          <a:solidFill>
            <a:srgbClr val="FBEFD0"/>
          </a:solidFill>
          <a:ln w="12700">
            <a:solidFill>
              <a:srgbClr val="C9A84C"/>
            </a:solidFill>
            <a:prstDash val="solid"/>
          </a:ln>
        </p:spPr>
      </p:sp>
      <p:sp>
        <p:nvSpPr>
          <p:cNvPr id="33" name="Text 31"/>
          <p:cNvSpPr/>
          <p:nvPr/>
        </p:nvSpPr>
        <p:spPr>
          <a:xfrm>
            <a:off x="777240" y="5294376"/>
            <a:ext cx="10652760" cy="1243584"/>
          </a:xfrm>
          <a:prstGeom prst="rect">
            <a:avLst/>
          </a:prstGeom>
          <a:noFill/>
          <a:ln/>
        </p:spPr>
        <p:txBody>
          <a:bodyPr wrap="square" rtlCol="0" anchor="ctr"/>
          <a:lstStyle/>
          <a:p>
            <a:pPr indent="0" marL="0">
              <a:lnSpc>
                <a:spcPct val="106000"/>
              </a:lnSpc>
              <a:buNone/>
            </a:pPr>
            <a:r>
              <a:rPr lang="en-US" sz="1100" i="1" dirty="0">
                <a:solidFill>
                  <a:srgbClr val="5A4A1E"/>
                </a:solidFill>
                <a:latin typeface="Calibri" pitchFamily="34" charset="0"/>
                <a:ea typeface="Calibri" pitchFamily="34" charset="-122"/>
                <a:cs typeface="Calibri" pitchFamily="34" charset="-120"/>
              </a:rPr>
              <a:t>Standards build in sequence (US.78 → US.82). Each runs as a full lesson: TN standard · “I Can” · direct instruction · verified primary source · vocabulary · guided + independent practice · TCAP-style check with reveal key.</a:t>
            </a:r>
            <a:endParaRPr lang="en-US" sz="1100" dirty="0"/>
          </a:p>
        </p:txBody>
      </p:sp>
      <p:sp>
        <p:nvSpPr>
          <p:cNvPr id="34" name="Text 3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5" name="Text 3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34440"/>
            <a:ext cx="10789920" cy="1965960"/>
          </a:xfrm>
          <a:prstGeom prst="rect">
            <a:avLst/>
          </a:prstGeom>
          <a:noFill/>
          <a:ln/>
        </p:spPr>
        <p:txBody>
          <a:bodyPr wrap="square" rtlCol="0" anchor="t">
            <a:normAutofit/>
          </a:bodyP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In 1954, a unanimous Supreme Court ruled that segregated public schools were unconstitutional — but the law on paper was only the beginning.</a:t>
            </a:r>
            <a:endParaRPr lang="en-US" sz="3000" dirty="0"/>
          </a:p>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Over the next fourteen years, ordinary Americans boycotted buses, sat in at lunch counters, rode buses into danger, and marched on Washington, forcing a nation to confront the gap between its ideals and its practice. Congress answered with the most sweeping civil rights laws since Reconstruction.</a:t>
            </a:r>
            <a:endParaRPr lang="en-US" sz="3000" dirty="0"/>
          </a:p>
        </p:txBody>
      </p:sp>
      <p:sp>
        <p:nvSpPr>
          <p:cNvPr id="5" name="Text 3"/>
          <p:cNvSpPr/>
          <p:nvPr/>
        </p:nvSpPr>
        <p:spPr>
          <a:xfrm>
            <a:off x="640080" y="3337560"/>
            <a:ext cx="10789920" cy="914400"/>
          </a:xfrm>
          <a:prstGeom prst="rect">
            <a:avLst/>
          </a:prstGeom>
          <a:noFill/>
          <a:ln/>
        </p:spPr>
        <p:txBody>
          <a:bodyPr wrap="square" rtlCol="0" anchor="t">
            <a:normAutofit/>
          </a:bodyPr>
          <a:lstStyle/>
          <a:p>
            <a:pPr indent="0" marL="0">
              <a:buNone/>
            </a:pPr>
            <a:r>
              <a:rPr lang="en-US" sz="2200" i="1" dirty="0">
                <a:solidFill>
                  <a:srgbClr val="F9A825"/>
                </a:solidFill>
                <a:latin typeface="Georgia" pitchFamily="34" charset="0"/>
                <a:ea typeface="Georgia" pitchFamily="34" charset="-122"/>
                <a:cs typeface="Georgia" pitchFamily="34" charset="-120"/>
              </a:rPr>
              <a:t>How did Americans move from a court ruling in 1954 to sweeping federal civil rights laws by 1968 — and what did it take, on the streets and in Congress, to close the gap between the nation's ideals and its practice?</a:t>
            </a:r>
            <a:endParaRPr lang="en-US" sz="22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three rights or freedoms you think Americans take for granted today — in schools, at the ballot box, or in public places. Then predict: which of these do you think had to be won through protest and law in the 1950s and 1960s?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Brown v. Board of Education</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Examine the decision and impact of Brown v. Board of Education on desegregation.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examine the decision and impact of Brown v. Board of Education on desegregation.</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finished Unit 8 on postwar America and the 1950s. What was life like for many white middle-class Americans in the prosperous 1950s — and who was largely left out of that prosperity?</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Look back at our unit hook. Why did the Supreme Court’s 1954 ruling need federal troops before some schools actually integrated?</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did the Supreme Court decide in Brown v. Board of Education (1954)?</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Segregated (‘separate but equal’) public schools are unconstitutional.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1954, nine justices of the U.S. Supreme Court agreed unanimously that separating children by race in public schools was unconstitutional — overturning a “separate but equal” doctrine that had stood for 58 years.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highest court in the land declared segregated schools illegal in 1954, why did it take years — and federal troops — before many schools actually integrated?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Historical Context Leading to Brown v. Board</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case emerged from decades of "separate but equal" doctrine established in Plessy v. Ferguson (1896).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the 1950s, the NAACP's legal strategy, led by Thurgood Marshall, systematically challenged segregated education.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Previous cases like Sweatt v. Painter (1950) had already weakened the separate but equal principle in higher education.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Social science research, including Kenneth Clark's doll tests, demonstrated segregation's psychological harm to Black children.</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In Brown v. Board of Education, the Supreme Court decided that ___, which overturned the earlier rule of 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Key Details of the Court Case and Decision</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Supreme Court consolidated five cases challenging school segregation.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Chief Justice Earl Warren wrote the unanimous decision stating that "separate educational facilities are inherently unequal" and violated the 14th Amendment's Equal Protection Clause.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Court rejected the separate but equal doctrine for public education, declaring that segregation generated feelings of inferiority that damaged Black children's educational opportunities.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Impact on Desegregation</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6766560" cy="2697480"/>
          </a:xfrm>
          <a:prstGeom prst="rect">
            <a:avLst/>
          </a:prstGeom>
          <a:solidFill>
            <a:srgbClr val="FFFFFF"/>
          </a:solidFill>
          <a:ln w="12700">
            <a:solidFill>
              <a:srgbClr val="DAD3C2"/>
            </a:solidFill>
            <a:prstDash val="solid"/>
          </a:ln>
        </p:spPr>
      </p:sp>
      <p:sp>
        <p:nvSpPr>
          <p:cNvPr id="10" name="Text 8"/>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The decision legally ended school segregation but implementation proved difficult.</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Brown II (1955) ordered desegregation "with all deliberate speed," allowing gradual implementation.</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Many Southern states resisted through "massive resistance" campaigns, creating private academies and closing public schools.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Progress was slow—by 1964, only 2% of Black Southern students attended integrated schools.</a:t>
            </a:r>
            <a:endParaRPr lang="en-US" sz="1250" dirty="0"/>
          </a:p>
          <a:p>
            <a:pPr marL="228600" indent="-228600">
              <a:lnSpc>
                <a:spcPct val="110000"/>
              </a:lnSpc>
              <a:spcAft>
                <a:spcPts val="900"/>
              </a:spcAft>
              <a:buSzPct val="100000"/>
              <a:buChar char="•"/>
            </a:pPr>
            <a:r>
              <a:rPr lang="en-US" sz="1250" dirty="0">
                <a:solidFill>
                  <a:srgbClr val="1F2430"/>
                </a:solidFill>
                <a:latin typeface="Calibri" pitchFamily="34" charset="0"/>
                <a:ea typeface="Calibri" pitchFamily="34" charset="-122"/>
                <a:cs typeface="Calibri" pitchFamily="34" charset="-120"/>
              </a:rPr>
              <a:t>However, the decision provided legal foundation for the broader civil rights movement.</a:t>
            </a:r>
            <a:endParaRPr lang="en-US" sz="12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sp>
      <p:pic>
        <p:nvPicPr>
          <p:cNvPr id="12" name="Image 0" descr="unit9-full/img/101st-airborne-division-escorts-little-1957.jpg">    </p:cNvPr>
          <p:cNvPicPr>
            <a:picLocks noChangeAspect="1"/>
          </p:cNvPicPr>
          <p:nvPr/>
        </p:nvPicPr>
        <p:blipFill>
          <a:blip r:embed="rId1"/>
          <a:stretch>
            <a:fillRect/>
          </a:stretch>
        </p:blipFill>
        <p:spPr>
          <a:xfrm>
            <a:off x="7589520" y="1959868"/>
            <a:ext cx="4069080" cy="3148577"/>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Army, September 1957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4" name="Shape 11"/>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sp>
      <p:sp>
        <p:nvSpPr>
          <p:cNvPr id="15" name="Text 12"/>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6" name="Text 13"/>
          <p:cNvSpPr/>
          <p:nvPr/>
        </p:nvSpPr>
        <p:spPr>
          <a:xfrm>
            <a:off x="868680" y="5120640"/>
            <a:ext cx="612648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Clinton High School in Anderson County, Tennessee, was one of the first public high schools in the South to desegregate, in 1956 — the year after Brown — amid resistance that drew national attention.</a:t>
            </a:r>
            <a:endParaRPr lang="en-US" sz="13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Thurgood Marshall</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NAACP lead attorney</a:t>
            </a:r>
            <a:endParaRPr lang="en-US" sz="1100" dirty="0"/>
          </a:p>
        </p:txBody>
      </p:sp>
      <p:sp>
        <p:nvSpPr>
          <p:cNvPr id="9" name="Shape 7"/>
          <p:cNvSpPr/>
          <p:nvPr/>
        </p:nvSpPr>
        <p:spPr>
          <a:xfrm>
            <a:off x="667512" y="2578608"/>
            <a:ext cx="1912753" cy="2212848"/>
          </a:xfrm>
          <a:prstGeom prst="rect">
            <a:avLst/>
          </a:prstGeom>
          <a:solidFill>
            <a:srgbClr val="FFFFFF"/>
          </a:solidFill>
          <a:ln w="12700">
            <a:solidFill>
              <a:srgbClr val="DAD3C2"/>
            </a:solidFill>
            <a:prstDash val="solid"/>
          </a:ln>
        </p:spPr>
      </p:sp>
      <p:pic>
        <p:nvPicPr>
          <p:cNvPr id="10" name="Image 0" descr="unit9-full/img/thurgood-marshall-naacp-attorney-1957.jpg">    </p:cNvPr>
          <p:cNvPicPr>
            <a:picLocks noChangeAspect="1"/>
          </p:cNvPicPr>
          <p:nvPr/>
        </p:nvPicPr>
        <p:blipFill>
          <a:blip r:embed="rId1"/>
          <a:srcRect l="0" r="0" t="0" b="0"/>
          <a:stretch/>
        </p:blipFill>
        <p:spPr>
          <a:xfrm>
            <a:off x="694944" y="2606040"/>
            <a:ext cx="1857889" cy="2157984"/>
          </a:xfrm>
          <a:prstGeom prst="rect">
            <a:avLst/>
          </a:prstGeom>
        </p:spPr>
      </p:pic>
      <p:sp>
        <p:nvSpPr>
          <p:cNvPr id="11" name="Text 8"/>
          <p:cNvSpPr/>
          <p:nvPr/>
        </p:nvSpPr>
        <p:spPr>
          <a:xfrm>
            <a:off x="694944" y="4800600"/>
            <a:ext cx="2360809"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Thomas J. O'Halloran, U.S. News &amp; World Report Magazine, September 17, 1957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2735713" y="2606040"/>
            <a:ext cx="8730863"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Argued Brown v. Board of Education before the Supreme Court (1954)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Built the legal strategy that dismantled "separate but equal"</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Legal challenge (litigation strategy)</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US.78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Brown v. Board of Education Decision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Chief Justice Earl Warren  ·  May 17, 1954</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9-full/img/u-s-supreme-court-building-1939.jpg">    </p:cNvPr>
          <p:cNvPicPr>
            <a:picLocks noChangeAspect="1"/>
          </p:cNvPicPr>
          <p:nvPr/>
        </p:nvPicPr>
        <p:blipFill>
          <a:blip r:embed="rId1"/>
          <a:stretch>
            <a:fillRect/>
          </a:stretch>
        </p:blipFill>
        <p:spPr>
          <a:xfrm>
            <a:off x="1137791" y="1737360"/>
            <a:ext cx="2022098"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FSA / U.S. Federal Government, 1939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"We conclude that, in the field of public education, the doctrine of "separate but equal" has no place. Separate educational facilities are inherently unequal. Therefore, we hold that the plaintiffs and others similarly situated... are, by reason of the segregation complained of, deprived of the equal protection of the laws guaranteed by the Fourteenth Amendment."</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Since 1896, the Supreme Court's Plessy v. Ferguson decision had enshrined 'separate but equal' as the law of the land, allowing racial segregation across American life. By the early 1950s, the NAACP had built a legal strategy to challenge segregation in court, leading to the Brown v. Board case combining lawsuits from five states. The unanimous 1954 ruling overturned Plessy and declared school segregation inherently unequal—but it did not end segregation overnight, as resistance in the South was fierce.</a:t>
            </a:r>
            <a:endParaRPr lang="en-US" sz="950" dirty="0"/>
          </a:p>
        </p:txBody>
      </p:sp>
      <p:sp>
        <p:nvSpPr>
          <p:cNvPr id="19" name="Shape 16"/>
          <p:cNvSpPr/>
          <p:nvPr/>
        </p:nvSpPr>
        <p:spPr>
          <a:xfrm>
            <a:off x="7589520" y="3931920"/>
            <a:ext cx="4023360" cy="1051560"/>
          </a:xfrm>
          <a:prstGeom prst="roundRect">
            <a:avLst>
              <a:gd name="adj" fmla="val 6957"/>
            </a:avLst>
          </a:prstGeom>
          <a:solidFill>
            <a:srgbClr val="C9A84C"/>
          </a:solidFill>
          <a:ln/>
        </p:spPr>
      </p:sp>
      <p:sp>
        <p:nvSpPr>
          <p:cNvPr id="20" name="Text 17"/>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did the Supreme Court rule about segregated schools?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Chief Justice Earl Warren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May 17, 1954</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Brown v. Board of Education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brown VER-sus bord</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Brown contra el Consejo de Educación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BV</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landmark 1954 Supreme Court decision that declared state laws establishing separate public schools for Black and white students unconstitutional, overturning Plessy v. Ferguson and ending legal school…</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Clinton 12</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KLIN-tun twelv</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Los 12 de Clinton</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C1</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12 African American students who integrated Clinton High School in Tennessee in 1956, making it the first state-supported high school in the South to integrate following Brown v. Board of Education.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Little Rock Nine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Los Nueve de Little Rock</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nine African American students who integrated Central High School in Little Rock, Arkansas in 1957, facing violent mobs and requiring federal troops protection ordered by President Eisenhower.</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Thurgood Marshall</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THUR-good MAR-shul</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Thurgood Marshall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TM</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Chief counsel for the NAACP Legal Defense Fund who argued Brown v. Board of Education before the Supreme Court and later became the first African American Supreme Court Justice in 1967.</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Orval Faubus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OR-vul FAW-bus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Orval Faubus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OF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Arkansas Governor who defied the Supreme Court by using the National Guard to prevent the Little Rock Nine from integrating Central High School in 1957.</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Plessy v. Ferguson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PLES-ee VER-sus</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Plessy contra Ferguson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PV</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1896 Supreme Court case that allowed 'separate but equal' segregation — the precedent overturned by Brown v. Board in 1954.</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Brown v. Board of Education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brown VER-sus bord</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Brown contra el Consejo de Educación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BV</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landmark 1954 Supreme Court decision that declared state laws establishing separate public schools for Black and white students unconstitutional, overturning Plessy v. Ferguson and ending legal school…</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Clinton 12</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KLIN-tun twelv</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Los 12 de Clinton</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C1</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12 African American students who integrated Clinton High School in Tennessee in 1956, making it the first state-supported high school in the South to integrate following Brown v. Board of Education.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Little Rock Nine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Los Nueve de Little Rock</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nine African American students who integrated Central High School in Little Rock, Arkansas in 1957, facing violent mobs and requiring federal troops protection ordered by President Eisenhower.</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Thurgood Marshall</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THUR-good MAR-shul</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Thurgood Marshall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TM</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Chief counsel for the NAACP Legal Defense Fund who argued Brown v. Board of Education before the Supreme Court and later became the first African American Supreme Court Justice in 1967.</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Orval Faubus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OR-vul FAW-bus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Orval Faubus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OF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Arkansas Governor who defied the Supreme Court by using the National Guard to prevent the Little Rock Nine from integrating Central High School in 1957.</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Plessy v. Ferguson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PLES-ee VER-sus</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Plessy contra Ferguson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PV</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1896 Supreme Court case that allowed 'separate but equal' segregation — the precedent overturned by Brown v. Board in 1954.</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Source a Supreme Court opinion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Read Chief Justice Warren’s words in Brown v. Board. What does the Court conclude, and on what constitutional basis?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Warren writes that "separate educational facilities are inherently unequal."</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 notice the Court ties inequality to the 14th Amendment’s equal-protection clause — that is the legal hook.</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underline the exact phrase that overturns "separate but equal," and name the amendment it relies on.</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Brown v. Board — Causes &amp; Consequences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Brown v. Board decision excerpt, complete the Causes &amp; Consequences organizer. In the CAUSES column, list the legal and social conditions (Plessy ‘separate but equal,’ unequal schools, NAACP legal strategy) that led to the case. In the CONSEQUENCES column, trace what followed the 1954 ruling — both the legal victory and the resistance it provoked (massive resistance, Little Rock, Clinton HS in Tennessee). Finish with a one-sentence claim about why a court ruling alone could not immediately end segregation.</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Causes &amp; Consequences organizer (3+ causes, 3+ consequences) plus a one-sentence evidence-based claim on why desegregation was slow to enforce.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pre-seeded with a word bank (Plessy v. Ferguson, NAACP, massive resistance, Little Rock Nine, Clinton 12) to sort into Causes vs. Consequences. Honors: Evaluate the long-term significance of Brown for the broader movement — was its greatest impact legal, moral, or strategic?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printables/unit-9/unit-9-cause-effect.html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did the Supreme Court rule about segregated schools?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Separate schools are inherently unequal and violate the 14th Amendment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Segregated schools could continue if they were truly equal</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States could decide their own segregation policies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federal government had no authority over education</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did the Supreme Court rule about segregated schools?</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Separate schools are inherently unequal and violate the 14th Amendment</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Segregated schools could continue if they were truly equal</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States could decide their own segregation policies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federal government had no authority over education</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Court ruled that "Separate educational facilities are inherently unequal" and segregation deprives students of "equal protection of the laws guaranteed by the Fourteenth Amendment."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Historical Context Leading to Brown v. Board</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Key Details of the Court Case and Decision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Desegregation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the long-term significance of Brown v. Board for the broader Civil Rights Movement. Was its greatest impact legal, moral, or strategic? Defend your answer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Brown v. Board of Education overturned Plessy v. Ferguson, and give one reason desegregation was still difficult to achieve after the ruling.</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Civil Rights Advocates and Opponents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Examine the roles and actions of civil rights advocates and opponents and how they coincided, confronted, and challenged each other.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examine the roles and actions of civil rights advocates (e.g., Malcolm X, Thurgood Marshall, Rosa Parks) and opponents (e.g., Bull Connor, Orval Faubus, Strom Thurmond) and how they coincided, confronted, and challenged each other.</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Brown v. Board of Education. What did the Court decide, and why was that decision the spark for the wider movement?</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one civil rights advocate and one opponent from this standard.</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Advocate: Dr. King, Malcolm X, Thurgood Marshall, or Rosa Parks. Opponent: Bull Connor, Orval Faubus, or Strom Thurmond.</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Some civil rights leaders preached nonviolence and integration; others argued for self-defense and Black separatism — yet all of them were fighting the same system of segregation. Meanwhile, governors and police chiefs used the full power of the state to stop them.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people share the same goal but disagree on how to reach it, does that division weaken a movement — or does it give the movement more ways to win?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Civil Rights Advocates</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Martin Luther King Jr. led nonviolent resistance, organized the Montgomery Bus Boycott, founded the Southern Christian Leadership Conference (SCLC), and delivered the "I Have a Dream" speech.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Malcolm X initially promoted Black nationalism through the Nation of Islam, later evolving toward human rights after his pilgrimage to Mecca.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Thurgood Marshall served as NAACP chief legal counsel, argued Brown v. Board, and became the first Black Supreme Court Justice.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Rosa Parks sparked the Montgomery Bus Boycott and became a symbol of quiet dignity and resistance.</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Civil rights advocates like ___ used the strategy of ___, while opponents like ___ tried to 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Civil Rights Opponents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Bull Connor, Birmingham Police Commissioner, used fire hoses and police dogs against peaceful protesters—his violent tactics backfired by generating sympathy for civil rights.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Orval Faubus, Arkansas Governor, defied federal court orders using the National Guard to prevent the Little Rock Nine from entering Central High School, forcing President Eisenhower to intervene.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Strom Thurmond, South Carolina Senator, led the "Dixiecrat" revolt in 1948 and conducted the longest individual Senate filibuster (24+ hours) against the 1957 Civil Rights Act.</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Comparing Approaches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King emphasized integration and nonviolence while Malcolm X initially promoted separation and self-defense.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Both evolved—King became more critical of economic inequality while Malcolm X moved toward a broader human rights perspective.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Marshall used the courts while King used mass protests; both strategies complemented each other.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Legal victories provided the framework while protests generated political pressure for change.</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sp>
      <p:sp>
        <p:nvSpPr>
          <p:cNvPr id="6" name="Shape 4"/>
          <p:cNvSpPr/>
          <p:nvPr/>
        </p:nvSpPr>
        <p:spPr>
          <a:xfrm>
            <a:off x="548640" y="1627632"/>
            <a:ext cx="3505200" cy="868680"/>
          </a:xfrm>
          <a:prstGeom prst="rect">
            <a:avLst/>
          </a:prstGeom>
          <a:solidFill>
            <a:srgbClr val="1A2332"/>
          </a:solidFill>
          <a:ln/>
        </p:spPr>
      </p:sp>
      <p:sp>
        <p:nvSpPr>
          <p:cNvPr id="7" name="Text 5"/>
          <p:cNvSpPr/>
          <p:nvPr/>
        </p:nvSpPr>
        <p:spPr>
          <a:xfrm>
            <a:off x="66751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Dr. Martin Luther King Jr.</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Civil rights leader</a:t>
            </a:r>
            <a:endParaRPr lang="en-US" sz="1100" dirty="0"/>
          </a:p>
        </p:txBody>
      </p:sp>
      <p:sp>
        <p:nvSpPr>
          <p:cNvPr id="9" name="Shape 7"/>
          <p:cNvSpPr/>
          <p:nvPr/>
        </p:nvSpPr>
        <p:spPr>
          <a:xfrm>
            <a:off x="667512" y="2578608"/>
            <a:ext cx="1527048" cy="2086018"/>
          </a:xfrm>
          <a:prstGeom prst="rect">
            <a:avLst/>
          </a:prstGeom>
          <a:solidFill>
            <a:srgbClr val="FFFFFF"/>
          </a:solidFill>
          <a:ln w="12700">
            <a:solidFill>
              <a:srgbClr val="DAD3C2"/>
            </a:solidFill>
            <a:prstDash val="solid"/>
          </a:ln>
        </p:spPr>
      </p:sp>
      <p:pic>
        <p:nvPicPr>
          <p:cNvPr id="10" name="Image 0" descr="unit9-full/img/martin-luther-king-jr-press-1964.jpg">    </p:cNvPr>
          <p:cNvPicPr>
            <a:picLocks noChangeAspect="1"/>
          </p:cNvPicPr>
          <p:nvPr/>
        </p:nvPicPr>
        <p:blipFill>
          <a:blip r:embed="rId1"/>
          <a:srcRect l="0" r="0" t="0" b="0"/>
          <a:stretch/>
        </p:blipFill>
        <p:spPr>
          <a:xfrm>
            <a:off x="694944" y="2606040"/>
            <a:ext cx="1472184" cy="2031154"/>
          </a:xfrm>
          <a:prstGeom prst="rect">
            <a:avLst/>
          </a:prstGeom>
        </p:spPr>
      </p:pic>
      <p:sp>
        <p:nvSpPr>
          <p:cNvPr id="11" name="Text 8"/>
          <p:cNvSpPr/>
          <p:nvPr/>
        </p:nvSpPr>
        <p:spPr>
          <a:xfrm>
            <a:off x="694944" y="4673770"/>
            <a:ext cx="1975104"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Marion S. Trikosko, U.S. News &amp; World Report Magazine, March 26, 1964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235000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Led the movement using nonviolent direct action</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Delivered the "I Have a Dream" speech (1963)</a:t>
            </a:r>
            <a:endParaRPr lang="en-US" sz="1200" dirty="0"/>
          </a:p>
        </p:txBody>
      </p:sp>
      <p:sp>
        <p:nvSpPr>
          <p:cNvPr id="13" name="Shape 10"/>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Nonviolent resistance</a:t>
            </a:r>
            <a:endParaRPr lang="en-US" sz="800" dirty="0"/>
          </a:p>
        </p:txBody>
      </p:sp>
      <p:sp>
        <p:nvSpPr>
          <p:cNvPr id="15" name="Shape 12"/>
          <p:cNvSpPr/>
          <p:nvPr/>
        </p:nvSpPr>
        <p:spPr>
          <a:xfrm>
            <a:off x="4328160" y="1627632"/>
            <a:ext cx="3505200" cy="4114800"/>
          </a:xfrm>
          <a:prstGeom prst="rect">
            <a:avLst/>
          </a:prstGeom>
          <a:solidFill>
            <a:srgbClr val="FFFFFF"/>
          </a:solidFill>
          <a:ln w="12700">
            <a:solidFill>
              <a:srgbClr val="DAD3C2"/>
            </a:solidFill>
            <a:prstDash val="solid"/>
          </a:ln>
        </p:spPr>
      </p:sp>
      <p:sp>
        <p:nvSpPr>
          <p:cNvPr id="16" name="Shape 13"/>
          <p:cNvSpPr/>
          <p:nvPr/>
        </p:nvSpPr>
        <p:spPr>
          <a:xfrm>
            <a:off x="4328160" y="1627632"/>
            <a:ext cx="3505200" cy="868680"/>
          </a:xfrm>
          <a:prstGeom prst="rect">
            <a:avLst/>
          </a:prstGeom>
          <a:solidFill>
            <a:srgbClr val="1A2332"/>
          </a:solidFill>
          <a:ln/>
        </p:spPr>
      </p:sp>
      <p:sp>
        <p:nvSpPr>
          <p:cNvPr id="17" name="Text 14"/>
          <p:cNvSpPr/>
          <p:nvPr/>
        </p:nvSpPr>
        <p:spPr>
          <a:xfrm>
            <a:off x="444703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Malcolm X</a:t>
            </a:r>
            <a:endParaRPr lang="en-US" sz="1600" dirty="0"/>
          </a:p>
        </p:txBody>
      </p:sp>
      <p:sp>
        <p:nvSpPr>
          <p:cNvPr id="18" name="Text 15"/>
          <p:cNvSpPr/>
          <p:nvPr/>
        </p:nvSpPr>
        <p:spPr>
          <a:xfrm>
            <a:off x="444703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Activist &amp; minister</a:t>
            </a:r>
            <a:endParaRPr lang="en-US" sz="1100" dirty="0"/>
          </a:p>
        </p:txBody>
      </p:sp>
      <p:sp>
        <p:nvSpPr>
          <p:cNvPr id="19" name="Shape 16"/>
          <p:cNvSpPr/>
          <p:nvPr/>
        </p:nvSpPr>
        <p:spPr>
          <a:xfrm>
            <a:off x="4447032" y="2578608"/>
            <a:ext cx="1527048" cy="2082666"/>
          </a:xfrm>
          <a:prstGeom prst="rect">
            <a:avLst/>
          </a:prstGeom>
          <a:solidFill>
            <a:srgbClr val="FFFFFF"/>
          </a:solidFill>
          <a:ln w="12700">
            <a:solidFill>
              <a:srgbClr val="DAD3C2"/>
            </a:solidFill>
            <a:prstDash val="solid"/>
          </a:ln>
        </p:spPr>
      </p:sp>
      <p:pic>
        <p:nvPicPr>
          <p:cNvPr id="20" name="Image 1" descr="unit9-full/img/malcolm-x-civil-rights-advocate-1964.jpg">    </p:cNvPr>
          <p:cNvPicPr>
            <a:picLocks noChangeAspect="1"/>
          </p:cNvPicPr>
          <p:nvPr/>
        </p:nvPicPr>
        <p:blipFill>
          <a:blip r:embed="rId3"/>
          <a:srcRect l="0" r="0" t="0" b="0"/>
          <a:stretch/>
        </p:blipFill>
        <p:spPr>
          <a:xfrm>
            <a:off x="4474464" y="2606040"/>
            <a:ext cx="1472184" cy="2027802"/>
          </a:xfrm>
          <a:prstGeom prst="rect">
            <a:avLst/>
          </a:prstGeom>
        </p:spPr>
      </p:pic>
      <p:sp>
        <p:nvSpPr>
          <p:cNvPr id="21" name="Text 17"/>
          <p:cNvSpPr/>
          <p:nvPr/>
        </p:nvSpPr>
        <p:spPr>
          <a:xfrm>
            <a:off x="4474464" y="4670418"/>
            <a:ext cx="1975104"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Ed Ford, New York World-Telegram &amp; Sun, 1964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600" dirty="0"/>
          </a:p>
        </p:txBody>
      </p:sp>
      <p:sp>
        <p:nvSpPr>
          <p:cNvPr id="22" name="Text 18"/>
          <p:cNvSpPr/>
          <p:nvPr/>
        </p:nvSpPr>
        <p:spPr>
          <a:xfrm>
            <a:off x="612952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Advocated Black self-determination and self-defense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Offered an alternative vision to integration</a:t>
            </a:r>
            <a:endParaRPr lang="en-US" sz="1200" dirty="0"/>
          </a:p>
        </p:txBody>
      </p:sp>
      <p:sp>
        <p:nvSpPr>
          <p:cNvPr id="23" name="Shape 19"/>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sp>
      <p:sp>
        <p:nvSpPr>
          <p:cNvPr id="24" name="Text 20"/>
          <p:cNvSpPr/>
          <p:nvPr/>
        </p:nvSpPr>
        <p:spPr>
          <a:xfrm>
            <a:off x="452932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Black self-determination</a:t>
            </a:r>
            <a:endParaRPr lang="en-US" sz="800" dirty="0"/>
          </a:p>
        </p:txBody>
      </p:sp>
      <p:sp>
        <p:nvSpPr>
          <p:cNvPr id="25" name="Shape 21"/>
          <p:cNvSpPr/>
          <p:nvPr/>
        </p:nvSpPr>
        <p:spPr>
          <a:xfrm>
            <a:off x="8107680" y="1627632"/>
            <a:ext cx="3505200" cy="4114800"/>
          </a:xfrm>
          <a:prstGeom prst="rect">
            <a:avLst/>
          </a:prstGeom>
          <a:solidFill>
            <a:srgbClr val="FFFFFF"/>
          </a:solidFill>
          <a:ln w="12700">
            <a:solidFill>
              <a:srgbClr val="DAD3C2"/>
            </a:solidFill>
            <a:prstDash val="solid"/>
          </a:ln>
        </p:spPr>
      </p:sp>
      <p:sp>
        <p:nvSpPr>
          <p:cNvPr id="26" name="Shape 22"/>
          <p:cNvSpPr/>
          <p:nvPr/>
        </p:nvSpPr>
        <p:spPr>
          <a:xfrm>
            <a:off x="8107680" y="1627632"/>
            <a:ext cx="3505200" cy="868680"/>
          </a:xfrm>
          <a:prstGeom prst="rect">
            <a:avLst/>
          </a:prstGeom>
          <a:solidFill>
            <a:srgbClr val="1A2332"/>
          </a:solidFill>
          <a:ln/>
        </p:spPr>
      </p:sp>
      <p:sp>
        <p:nvSpPr>
          <p:cNvPr id="27" name="Text 23"/>
          <p:cNvSpPr/>
          <p:nvPr/>
        </p:nvSpPr>
        <p:spPr>
          <a:xfrm>
            <a:off x="822655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Rosa Parks</a:t>
            </a:r>
            <a:endParaRPr lang="en-US" sz="1600" dirty="0"/>
          </a:p>
        </p:txBody>
      </p:sp>
      <p:sp>
        <p:nvSpPr>
          <p:cNvPr id="28" name="Text 24"/>
          <p:cNvSpPr/>
          <p:nvPr/>
        </p:nvSpPr>
        <p:spPr>
          <a:xfrm>
            <a:off x="822655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Activist</a:t>
            </a:r>
            <a:endParaRPr lang="en-US" sz="1100" dirty="0"/>
          </a:p>
        </p:txBody>
      </p:sp>
      <p:sp>
        <p:nvSpPr>
          <p:cNvPr id="29" name="Shape 25"/>
          <p:cNvSpPr/>
          <p:nvPr/>
        </p:nvSpPr>
        <p:spPr>
          <a:xfrm>
            <a:off x="8226552" y="2578608"/>
            <a:ext cx="1527048" cy="1027886"/>
          </a:xfrm>
          <a:prstGeom prst="rect">
            <a:avLst/>
          </a:prstGeom>
          <a:solidFill>
            <a:srgbClr val="FFFFFF"/>
          </a:solidFill>
          <a:ln w="12700">
            <a:solidFill>
              <a:srgbClr val="DAD3C2"/>
            </a:solidFill>
            <a:prstDash val="solid"/>
          </a:ln>
        </p:spPr>
      </p:sp>
      <p:pic>
        <p:nvPicPr>
          <p:cNvPr id="30" name="Image 2" descr="unit9-full/img/rosa-parks-seated-front-bus-1956.jpg">    </p:cNvPr>
          <p:cNvPicPr>
            <a:picLocks noChangeAspect="1"/>
          </p:cNvPicPr>
          <p:nvPr/>
        </p:nvPicPr>
        <p:blipFill>
          <a:blip r:embed="rId5"/>
          <a:srcRect l="0" r="0" t="0" b="0"/>
          <a:stretch/>
        </p:blipFill>
        <p:spPr>
          <a:xfrm>
            <a:off x="8253984" y="2606040"/>
            <a:ext cx="1472184" cy="973022"/>
          </a:xfrm>
          <a:prstGeom prst="rect">
            <a:avLst/>
          </a:prstGeom>
        </p:spPr>
      </p:pic>
      <p:sp>
        <p:nvSpPr>
          <p:cNvPr id="31" name="Text 26"/>
          <p:cNvSpPr/>
          <p:nvPr/>
        </p:nvSpPr>
        <p:spPr>
          <a:xfrm>
            <a:off x="8253984" y="3615638"/>
            <a:ext cx="1975104"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United Press International (UPI) wire photo, December 21, 1956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Published in U.S. newspapers</a:t>
            </a:r>
            <a:endParaRPr lang="en-US" sz="600" dirty="0"/>
          </a:p>
        </p:txBody>
      </p:sp>
      <p:sp>
        <p:nvSpPr>
          <p:cNvPr id="32" name="Text 27"/>
          <p:cNvSpPr/>
          <p:nvPr/>
        </p:nvSpPr>
        <p:spPr>
          <a:xfrm>
            <a:off x="9909048" y="2606040"/>
            <a:ext cx="1557528"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Refused to give up her bus seat (1955)</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Sparked the Montgomery Bus Boycott</a:t>
            </a:r>
            <a:endParaRPr lang="en-US" sz="1200" dirty="0"/>
          </a:p>
        </p:txBody>
      </p:sp>
      <p:sp>
        <p:nvSpPr>
          <p:cNvPr id="33" name="Shape 28"/>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sp>
      <p:sp>
        <p:nvSpPr>
          <p:cNvPr id="34" name="Text 29"/>
          <p:cNvSpPr/>
          <p:nvPr/>
        </p:nvSpPr>
        <p:spPr>
          <a:xfrm>
            <a:off x="830884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Principled civil disobedience</a:t>
            </a:r>
            <a:endParaRPr lang="en-US" sz="800" dirty="0"/>
          </a:p>
        </p:txBody>
      </p:sp>
      <p:sp>
        <p:nvSpPr>
          <p:cNvPr id="35" name="Text 3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US.79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Ballot or the Bullet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Malcolm X  ·  April 3, 1964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"It'll be the ballot or the bullet. It'll be liberty or it'll be death. And if you're not ready to pay that price don't use the word freedom in your vocabulary... I'm not an American. I'm one of the 22 million Black people who are the victims of Americanism... I don't see any American dream; I see an American nightmare."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Malcolm X delivered 'The Ballot or the Bullet' speech in April 1964, just as the Civil Rights Act was being debated in Congress. His speech represented a different tradition in African American political thought—Black nationalism and self-defense—in contrast to King's nonviolent integration strategy. Malcolm X had recently left the Nation of Islam and was developing a more politically focused philosophy. His challenge to the American system was more radical than King's appeal to its ideals.</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Malcolm X's view of the civil rights struggle differ from nonviolent approaches?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Malcolm X</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April 3, 1964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Rosa Parks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ROH-zuh parks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Rosa Parks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RP</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"Mother of the Civil Rights Movement" who refused to give up her bus seat to a white passenger in Montgomery, Alabama in 1955, sparking the Montgomery Bus Boycott.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Dr. Martin Luther King Jr.</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LOO-ther king</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Dr. Martin Luther King Jr.</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Baptist minister and the most prominent leader of the Civil Rights Movement, advocating nonviolent resistance and delivering the iconic "I Have a Dream" speech at the 1963 March on Washington.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Malcolm X</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MAL-kum eks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Malcolm X</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MX</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Influential civil rights leader and Nation of Islam minister who advocated for Black nationalism, self-defense, and economic independence before his assassination in 1965.</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Bull Connor</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bul KON-er</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Bull Connor</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Birmingham, Alabama's Commissioner of Public Safety who violently opposed civil rights protesters in 1963, using police dogs and fire hoses against peaceful demonstrators, including children.</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Strom Thurmond</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strom THUR-mund</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Strom Thurmond</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ST</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South Carolina Senator who opposed civil rights legislation and conducted the longest individual filibuster in Senate history (24 hours, 18 minutes) against the Civil Rights Act of 1957.</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Nonviolent Resistance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non-VY-oh-lent</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Resistencia No Violenta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NR</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strategy of peaceful protest — boycotts, sit-ins, marches — used by Dr. King and others to confront segregation.</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Rosa Parks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ROH-zuh parks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Rosa Parks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RP</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"Mother of the Civil Rights Movement" who refused to give up her bus seat to a white passenger in Montgomery, Alabama in 1955, sparking the Montgomery Bus Boycott.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Dr. Martin Luther King Jr.</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LOO-ther king</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Dr. Martin Luther King Jr.</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Baptist minister and the most prominent leader of the Civil Rights Movement, advocating nonviolent resistance and delivering the iconic "I Have a Dream" speech at the 1963 March on Washington.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Malcolm X</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MAL-kum eks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Malcolm X</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MX</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Influential civil rights leader and Nation of Islam minister who advocated for Black nationalism, self-defense, and economic independence before his assassination in 1965.</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Bull Connor</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bul KON-er</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Bull Connor</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Birmingham, Alabama's Commissioner of Public Safety who violently opposed civil rights protesters in 1963, using police dogs and fire hoses against peaceful demonstrators, including children.</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Strom Thurmond</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strom THUR-mund</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Strom Thurmond</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ST</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South Carolina Senator who opposed civil rights legislation and conducted the longest individual filibuster in Senate history (24 hours, 18 minutes) against the Civil Rights Act of 1957.</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Nonviolent Resistance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non-VY-oh-lent</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Resistencia No Violenta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NR</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strategy of peaceful protest — boycotts, sit-ins, marches — used by Dr. King and others to confront segregation.</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two advocates’ strategies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King preached nonviolent integration; Malcolm X argued for self-determination "by any means necessary." How do their goals overlap and differ?</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Both wanted freedom and dignity for Black Americans.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They differ on method — King’s nonviolence vs. Malcolm X’s self-defense — and on integration vs. self-determination.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write one sentence naming a shared goal and one naming their sharpest difference.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MLK vs. Malcolm X — Strategy Venn Diagram</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primary source excerpts, complete the Venn diagram comparing Dr. Martin Luther King Jr.’s nonviolent resistance with Malcolm X’s Black nationalism. In the outer circles, record each leader’s distinct goals and tactics; in the overlap, record what they shared (a common goal of ending oppression). Then add a row identifying how OPPONENTS — Bull Connor, Orval Faubus, Strom Thurmond — tried to resist. Finish with a claim about how having multiple strategies affected the movement.</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Venn diagram (2+ items per section, including the shared overlap) plus a one-sentence claim on whether differing strategies strengthened or weakened the movement.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Venn diagram with sentence stems and a word bank (nonviolence, integration, self-defense, Black nationalism, boycott, legal challenge) to place. Honors: Analyze how the actions of both advocates and opponents shaped national public opinion — whose actions moved opinion more, and why?</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printables/unit-9/venn-mlk-s-nonviolent-resistance-vs-malcolm-x-s-black-nationalism.html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Malcolm X's view of the civil rights struggle differ from nonviolent approaches?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advocated working within the existing political system</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believed in gradual integration over many decades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supported cooperation with white political leaders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emphasized self-defense and questioned whether America could deliver freedom</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Malcolm X's view of the civil rights struggle differ from nonviolent approaches?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advocated working within the existing political system</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believed in gradual integration over many decades</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supported cooperation with white political leaders</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He emphasized self-defense and questioned whether America could deliver freedom</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Malcolm X presents a more militant view, stating "It'll be the ballot or the bullet" and expressing skepticism about America, saying "I see an American nightmare."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Rights Advocates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Rights Opponents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Comparing Approaches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Analyze how the actions of both advocates AND opponents (e.g., Bull Connor, Faubus) shaped national public opinion about civil rights. Whose actions did more to move public opinion — and why?</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the strategies of Dr. Martin Luther King Jr. and Malcolm X. How were their goals similar, and how did their approaches differ?</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Significant Civil Rights Events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significant events in the struggle to secure civil rights for African Americans, including: Montgomery Bus Boycott, Integration of Clinton High School and Central High School, Freedom Riders, Highlander Folk School, Tent City in Fayette County, TN, marches/demonstrations/boycotts/sit-ins, March on Washington D.C., Birmingham bombings of 1963, and assassination of Martin Luther King Jr. (TCA)</a:t>
            </a:r>
            <a:endParaRPr lang="en-US" sz="115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significant events in the struggle to secure civil rights for African Americans, including the Montgomery Bus Boycott, Freedom Riders, March on Washington, Birmingham bombings, and assassination of Martin Luther King Jr.</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compared civil rights advocates and opponents. How did leaders like Dr. King, Malcolm X, and Thurgood Marshall each use different strategies to fight segregation?</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civil rights protest began after Rosa Parks was arrested in 1955?</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Montgomery Bus Boycott.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 single arrest on a Montgomery bus, a lunch counter in Nashville, a burning Greyhound in Alabama — a chain of ordinary places became the battlegrounds where ordinary people forced a nation to change.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Boycotts, sit-ins, Freedom Rides, and marches were all different tactics. What did each one accomplish that the others could not?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Early Movement Victories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9692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 Montgomery Bus Boycott (1955-1956), sparked by Rosa Parks' arrest, demonstrated Black economic power through 381 days of sustained action.</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It established nonviolent resistance as the primary strategy and elevated Martin Luther King Jr. to national leadership.</a:t>
            </a:r>
            <a:endParaRPr lang="en-US" sz="1450" dirty="0"/>
          </a:p>
          <a:p>
            <a:pPr marL="228600" indent="-228600">
              <a:lnSpc>
                <a:spcPct val="110000"/>
              </a:lnSpc>
              <a:spcAft>
                <a:spcPts val="900"/>
              </a:spcAft>
              <a:buSzPct val="100000"/>
              <a:buChar char="•"/>
            </a:pPr>
            <a:r>
              <a:rPr lang="en-US" sz="1450" dirty="0">
                <a:solidFill>
                  <a:srgbClr val="1F2430"/>
                </a:solidFill>
                <a:latin typeface="Calibri" pitchFamily="34" charset="0"/>
                <a:ea typeface="Calibri" pitchFamily="34" charset="-122"/>
                <a:cs typeface="Calibri" pitchFamily="34" charset="-120"/>
              </a:rPr>
              <a:t>The Nashville Sit-ins (1960), led by John Lewis and Diane Nash, used disciplined nonviolent protests to desegregate lunch counters, inspiring similar actions nationwide.</a:t>
            </a:r>
            <a:endParaRPr lang="en-US" sz="1450" dirty="0"/>
          </a:p>
        </p:txBody>
      </p:sp>
      <p:sp>
        <p:nvSpPr>
          <p:cNvPr id="12" name="Shape 10"/>
          <p:cNvSpPr/>
          <p:nvPr/>
        </p:nvSpPr>
        <p:spPr>
          <a:xfrm>
            <a:off x="868680" y="32552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33101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35661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___ was an important civil rights event because it used the tactic of ___ to achieve ___.</a:t>
            </a:r>
            <a:endParaRPr lang="en-US" sz="1150" dirty="0"/>
          </a:p>
        </p:txBody>
      </p:sp>
      <p:sp>
        <p:nvSpPr>
          <p:cNvPr id="15" name="Shape 13"/>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6" name="Text 14"/>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7" name="Text 15"/>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The Nashville sit-ins (1960) — among these early movement victories — were led by Fisk and American Baptist students trained at Highlander Folk School in Monteagle, Tennessee. Their disciplined nonviolence made Nashville the first major Southern city to begin desegregating its downtown lunch counters.</a:t>
            </a:r>
            <a:endParaRPr lang="en-US" sz="1300" dirty="0"/>
          </a:p>
        </p:txBody>
      </p:sp>
      <p:sp>
        <p:nvSpPr>
          <p:cNvPr id="19"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Tennessee's Role in the Movement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Clinton High School (1956) became the first Southern community to integrate its high school following Brown v. Board.</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Twelve Black students faced violent opposition, requiring National Guard protection.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Highlander Folk School trained civil rights leaders including Rosa Parks and King in nonviolent resistance.</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Tent City in Fayette County (1960) formed when Black sharecroppers evicted for attempting to vote created a community on donated land, demonstrating both retaliation and resilience.</a:t>
            </a:r>
            <a:endParaRPr lang="en-US" sz="135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The Nashville sit-ins of 1960, led by Fisk University students including Diane Nash and John Lewis, desegregated Nashville’s downtown lunch counters and became a national model for nonviolent protest. In Fayette County, Tennessee, evicted Black sharecroppers who registered to vote built ‘Tent City’ to survive.</a:t>
            </a: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Confrontations That Changed America</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Little Rock Nine (1957) faced Governor Faubus's defiance until President Eisenhower sent federal troops.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Freedom Riders (1961) tested desegregation rulings by riding buses through the South, facing firebombings and beatings that forced federal intervention.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Birmingham Campaign (1963) targeted "the most segregated city in America," where Bull Connor's violent response to peaceful protesters shocked the nation.</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9-full/img/freedom-riders-greyhound-bus-burning-1961.jpg">    </p:cNvPr>
          <p:cNvPicPr>
            <a:picLocks noChangeAspect="1"/>
          </p:cNvPicPr>
          <p:nvPr/>
        </p:nvPicPr>
        <p:blipFill>
          <a:blip r:embed="rId1"/>
          <a:stretch>
            <a:fillRect/>
          </a:stretch>
        </p:blipFill>
        <p:spPr>
          <a:xfrm>
            <a:off x="7589520" y="2191360"/>
            <a:ext cx="4069080" cy="2685593"/>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National Park Service, May 14, 1961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Culminating Events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26974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The March on Washington (1963) brought 250,000 people to hear King's "I Have a Dream" speech, pressuring Congress for legislation.</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Martin Luther King Jr.'s assassination in Memphis (1968) while supporting striking sanitation workers triggered nationwide riots and galvanized support for the Fair Housing Act, marking both the movement's peak and transformation.</a:t>
            </a:r>
            <a:endParaRPr lang="en-US" sz="13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9-full/img/selma-to-montgomery-civil-rights-march-participants-1965.jpg">    </p:cNvPr>
          <p:cNvPicPr>
            <a:picLocks noChangeAspect="1"/>
          </p:cNvPicPr>
          <p:nvPr/>
        </p:nvPicPr>
        <p:blipFill>
          <a:blip r:embed="rId1"/>
          <a:stretch>
            <a:fillRect/>
          </a:stretch>
        </p:blipFill>
        <p:spPr>
          <a:xfrm>
            <a:off x="7589520" y="2173334"/>
            <a:ext cx="4069080" cy="2721643"/>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Peter Pettus, 1965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Shape 12"/>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sp>
      <p:sp>
        <p:nvSpPr>
          <p:cNvPr id="16" name="Text 13"/>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7" name="Text 14"/>
          <p:cNvSpPr/>
          <p:nvPr/>
        </p:nvSpPr>
        <p:spPr>
          <a:xfrm>
            <a:off x="868680" y="5120640"/>
            <a:ext cx="612648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Dr. Martin Luther King Jr. was assassinated in Memphis, Tennessee, on April 4, 1968, where he had come to support striking sanitation workers — placing the movement’s tragic turning point on Tennessee soil.</a:t>
            </a:r>
            <a:endParaRPr lang="en-US" sz="130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Diane Nash</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Student leader (Nashville)</a:t>
            </a:r>
            <a:endParaRPr lang="en-US" sz="1100" dirty="0"/>
          </a:p>
        </p:txBody>
      </p:sp>
      <p:sp>
        <p:nvSpPr>
          <p:cNvPr id="9" name="Shape 7"/>
          <p:cNvSpPr/>
          <p:nvPr/>
        </p:nvSpPr>
        <p:spPr>
          <a:xfrm>
            <a:off x="667512" y="2578608"/>
            <a:ext cx="1583181" cy="2212848"/>
          </a:xfrm>
          <a:prstGeom prst="rect">
            <a:avLst/>
          </a:prstGeom>
          <a:solidFill>
            <a:srgbClr val="FFFFFF"/>
          </a:solidFill>
          <a:ln w="12700">
            <a:solidFill>
              <a:srgbClr val="DAD3C2"/>
            </a:solidFill>
            <a:prstDash val="solid"/>
          </a:ln>
        </p:spPr>
      </p:sp>
      <p:pic>
        <p:nvPicPr>
          <p:cNvPr id="10" name="Image 0" descr="unit9-full/img/diane-nash-bernard-lafayette-nashville-1960.jpg">    </p:cNvPr>
          <p:cNvPicPr>
            <a:picLocks noChangeAspect="1"/>
          </p:cNvPicPr>
          <p:nvPr/>
        </p:nvPicPr>
        <p:blipFill>
          <a:blip r:embed="rId1"/>
          <a:srcRect l="0" r="0" t="0" b="0"/>
          <a:stretch/>
        </p:blipFill>
        <p:spPr>
          <a:xfrm>
            <a:off x="694944" y="2606040"/>
            <a:ext cx="1528317" cy="2157984"/>
          </a:xfrm>
          <a:prstGeom prst="rect">
            <a:avLst/>
          </a:prstGeom>
        </p:spPr>
      </p:pic>
      <p:sp>
        <p:nvSpPr>
          <p:cNvPr id="11" name="Text 8"/>
          <p:cNvSpPr/>
          <p:nvPr/>
        </p:nvSpPr>
        <p:spPr>
          <a:xfrm>
            <a:off x="694944" y="4800600"/>
            <a:ext cx="2031237"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Gerald Holly, The Tennessean, April 9, 1960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Tennessean (Nashville</a:t>
            </a:r>
            <a:endParaRPr lang="en-US" sz="600" dirty="0"/>
          </a:p>
        </p:txBody>
      </p:sp>
      <p:sp>
        <p:nvSpPr>
          <p:cNvPr id="12" name="Text 9"/>
          <p:cNvSpPr/>
          <p:nvPr/>
        </p:nvSpPr>
        <p:spPr>
          <a:xfrm>
            <a:off x="2406141" y="2606040"/>
            <a:ext cx="3391155"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Helped lead the Nashville sit-in movement (1960)</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Organized nonviolent campaigns with the SNCC</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Disciplined nonviolence</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868680"/>
          </a:xfrm>
          <a:prstGeom prst="rect">
            <a:avLst/>
          </a:prstGeom>
          <a:solidFill>
            <a:srgbClr val="1A2332"/>
          </a:solidFill>
          <a:ln/>
        </p:spPr>
      </p:sp>
      <p:sp>
        <p:nvSpPr>
          <p:cNvPr id="17" name="Text 14"/>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John Lewis</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Student leader</a:t>
            </a:r>
            <a:endParaRPr lang="en-US" sz="1100" dirty="0"/>
          </a:p>
        </p:txBody>
      </p:sp>
      <p:sp>
        <p:nvSpPr>
          <p:cNvPr id="19" name="Text 16"/>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Nashville sit-ins and the Selma march</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Later a long-serving U.S. Congressman</a:t>
            </a:r>
            <a:endParaRPr lang="en-US" sz="1300" dirty="0"/>
          </a:p>
        </p:txBody>
      </p:sp>
      <p:sp>
        <p:nvSpPr>
          <p:cNvPr id="20" name="Shape 17"/>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21" name="Text 18"/>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Direct action &amp; sacrifice</a:t>
            </a:r>
            <a:endParaRPr lang="en-US" sz="800" dirty="0"/>
          </a:p>
        </p:txBody>
      </p:sp>
      <p:sp>
        <p:nvSpPr>
          <p:cNvPr id="22" name="Text 1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US.80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Letter from Birmingham Jail</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Dr. Martin Luther King Jr.  ·  April 16, 1963</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9-full/img/march-washington-crowd-reflecting-pool-1963.jpg">    </p:cNvPr>
          <p:cNvPicPr>
            <a:picLocks noChangeAspect="1"/>
          </p:cNvPicPr>
          <p:nvPr/>
        </p:nvPicPr>
        <p:blipFill>
          <a:blip r:embed="rId1"/>
          <a:stretch>
            <a:fillRect/>
          </a:stretch>
        </p:blipFill>
        <p:spPr>
          <a:xfrm>
            <a:off x="1390632" y="1737360"/>
            <a:ext cx="1516416"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Warren K. Leffler, U.S. News &amp; World Report Magazine, August 28, 1963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"Injustice anywhere is a threat to justice everywhere. We are caught in an inescapable network of mutuality, tied in a single garment of destiny. Whatever affects one directly, affects all indirectly... I have almost reached the regrettable conclusion that the Negro's great stumbling block in his stride toward freedom is not the White Citizen's Counciler or the Ku Klux Klanner, but the white moderate."</a:t>
            </a:r>
            <a:endParaRPr lang="en-US" sz="1150" dirty="0"/>
          </a:p>
        </p:txBody>
      </p:sp>
      <p:sp>
        <p:nvSpPr>
          <p:cNvPr id="16" name="Shape 13"/>
          <p:cNvSpPr/>
          <p:nvPr/>
        </p:nvSpPr>
        <p:spPr>
          <a:xfrm>
            <a:off x="7589520" y="1737360"/>
            <a:ext cx="4023360" cy="2011680"/>
          </a:xfrm>
          <a:prstGeom prst="roundRect">
            <a:avLst>
              <a:gd name="adj" fmla="val 3636"/>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Dr. King wrote his famous letter in April 1963 from a Birmingham jail cell, where he had been imprisoned for violating an injunction against demonstrations. The letter was a response to a statement by eight white Alabama clergymen who had called the demonstrations 'unwise and untimely' while expressing sympathy for the civil rights cause. King's letter became one of the most eloquent defenses of nonviolent direct action and the moral urgency of civil rights in American history.</a:t>
            </a:r>
            <a:endParaRPr lang="en-US" sz="950" dirty="0"/>
          </a:p>
        </p:txBody>
      </p:sp>
      <p:sp>
        <p:nvSpPr>
          <p:cNvPr id="19" name="Shape 16"/>
          <p:cNvSpPr/>
          <p:nvPr/>
        </p:nvSpPr>
        <p:spPr>
          <a:xfrm>
            <a:off x="7589520" y="3931920"/>
            <a:ext cx="4023360" cy="1051560"/>
          </a:xfrm>
          <a:prstGeom prst="roundRect">
            <a:avLst>
              <a:gd name="adj" fmla="val 6957"/>
            </a:avLst>
          </a:prstGeom>
          <a:solidFill>
            <a:srgbClr val="C9A84C"/>
          </a:solidFill>
          <a:ln/>
        </p:spPr>
      </p:sp>
      <p:sp>
        <p:nvSpPr>
          <p:cNvPr id="20" name="Text 17"/>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Dr. King, what is the greatest obstacle to civil rights progress?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Dr. Martin Luther King Jr.</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April 16, 1963</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Montgomery Bus Boycott</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munt-GUM-er-ee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Boicot de Autobuses de Montgomery</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MB</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381-day boycott (1955-1956) of the Montgomery, Alabama bus system by African Americans protesting segregated seating, ending when the Supreme Court ruled bus segregation unconstitutional.</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Freedom Riders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FREE-dum RY-derz</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Jinetes de la Libertad</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Interracial groups of civil rights activists who rode interstate buses into the segregated South in 1961 to challenge illegal segregation of public transportation, facing violent attacks.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Highlander Folk School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HY-land-er</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Escuela Popular Highlander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HF</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 education center founded in 1932 that trained civil rights leaders including Rosa Parks, Martin Luther King Jr., and John Lewis in nonviolent resistance and organizing tactics.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Tent City (Fayette County, TN)</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fay-ET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Ciudad de Tiendas (Condado de Fayette, TN)</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1960 settlement of African Americans evicted from their homes in Fayette County, Tennessee after registering to vote, living in tents to maintain their right to vote despite economic retaliation.</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Sit-ins (Nashville)</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SIT-inz</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Sentadas (Nashville)</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Nonviolent protests where African Americans sat at segregated lunch counters requesting service, beginning in Greensboro (1960) and powerfully demonstrated in Nashville led by students like Diane Nash.</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March on Washington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WOSH-ing-tun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Marcha en Washington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MO</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massive August 28, 1963 demonstration where over 250,000 people gathered at the Lincoln Memorial to demand civil rights, highlighted by Martin Luther King Jr.'s "I Have a Dream" speech.</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Montgomery Bus Boycott</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munt-GUM-er-ee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Boicot de Autobuses de Montgomery</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MB</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381-day boycott (1955-1956) of the Montgomery, Alabama bus system by African Americans protesting segregated seating, ending when the Supreme Court ruled bus segregation unconstitutional.</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Freedom Riders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FREE-dum RY-derz</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Jinetes de la Libertad</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FR</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Interracial groups of civil rights activists who rode interstate buses into the segregated South in 1961 to challenge illegal segregation of public transportation, facing violent attacks.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Highlander Folk School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HY-land-er</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Escuela Popular Highlander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HF</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 education center founded in 1932 that trained civil rights leaders including Rosa Parks, Martin Luther King Jr., and John Lewis in nonviolent resistance and organizing tactics.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Tent City (Fayette County, TN)</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fay-ET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Ciudad de Tiendas (Condado de Fayette, TN)</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1960 settlement of African Americans evicted from their homes in Fayette County, Tennessee after registering to vote, living in tents to maintain their right to vote despite economic retaliation.</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Sit-ins (Nashville)</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SIT-inz</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Sentadas (Nashville)</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Nonviolent protests where African Americans sat at segregated lunch counters requesting service, beginning in Greensboro (1960) and powerfully demonstrated in Nashville led by students like Diane Nash.</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March on Washington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WOSH-ing-tun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Marcha en Washington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MO</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massive August 28, 1963 demonstration where over 250,000 people gathered at the Lincoln Memorial to demand civil rights, highlighted by Martin Luther King Jr.'s "I Have a Dream" speech.</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Trace cause and effect in a protest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Montgomery Bus Boycott lasted 381 days. What triggered it, and what did it prove about nonviolent protest?</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Rosa Parks’s arrest triggered a mass boycott organized by King and local leaders.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The sustained, disciplined boycott showed economic pressure plus nonviolence could force change.</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the trigger, the tactic, and the outcome for one event on today’s timeline.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Civil Rights Campaigns — SAPA Chart</a:t>
            </a:r>
            <a:endParaRPr lang="en-US" sz="27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complete the SAPA chart (Situation — Action — Problem — Action) for THREE civil rights campaigns from this standard: choose from the Montgomery Bus Boycott, the Nashville sit-ins, the Freedom Rides, and the March on Washington. For each, identify the Situation (the injustice), the Action taken (the tactic), the Problem/resistance it met, and the further Action or outcome that resulted. Note Tennessee’s role where it applies (Nashville sit-ins, Highlander, Fayette County Tent City).</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SAPA chart for three campaigns, each with all four columns filled, plus one sentence identifying which tactic did the most to force federal action.</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SAPA chart with two campaigns pre-filled as models and a word bank of tactics (boycott, sit-in, Freedom Ride, march) and outcomes. Honors: Analyze how different protest types achieved different goals — which tactic was most effective at forcing federal action, and why?</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printables/unit-9/unit-9-sapa.html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According to Dr. King, what is the greatest obstacle to civil rights progress?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Ku Klux Klan</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White moderates who prefer order over justice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Lack of funding for civil rights organizations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Disagreements among civil rights leaders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According to Dr. King, what is the greatest obstacle to civil rights progress?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Ku Klux Klan</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White moderates who prefer order over justice</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Lack of funding for civil rights organizations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Disagreements among civil rights leaders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King states that "the Negro's great stumbling block" is not the KKK but "the white moderate," those who prefer gradual change to immediate action for justice.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Early Movement Victories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Tennessee's Role in the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Confrontations That Changed America</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Culminating Events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Analyze how different types of protest (boycotts, sit-ins, Freedom Rides, marches) achieved different goals. Which tactic was most effective at forcing federal action, and why?</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Choose two civil rights events from this standard (boycott, sit-in, Freedom Ride, or march). Explain what tactic each used and what it accomplished.</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Civil and Voting Rights Legislation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civil and voting rights legislation, including: The Civil Rights Act of 1964, the Voting Rights Act of 1965, the Civil Rights Act of 1968 (e.g., Fair Housing Act), and the 24th Amendment.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civil and voting rights legislation, including the Civil Rights Act of 1964, the Voting Rights Act of 1965, the Civil Rights Act of 1968 (Fair Housing Act), and the 24th Amendment.</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major events — Montgomery, the Nashville sit-ins, the Freedom Rides, and the March on Washington. How did these events create pressure for new laws?</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did the Civil Rights Act of 1964 make illegal?</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Discrimination based on race, color, religion, sex, or national origin in public places and employment.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just four years, Congress passed the Civil Rights Act of 1964, the 24th Amendment, the Voting Rights Act of 1965, and the Fair Housing Act of 1968 — dismantling in law the segregation that protest had exposed on the streets.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Protests can change hearts and headlines — but why does lasting change usually require an act of Congress or an amendment to the Constitution?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Civil Rights Act of 1964</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landmark legislation banned discrimination in public accommodations, employment, and federally funded programs.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created the Equal Employment Opportunity Commission (EEOC) and strengthened voting rights enforcement.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 ended legal segregation in public facilities and opened economic opportunities for minorities, though housing discrimination and voting restrictions remained challenges.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___ of ___ helped African Americans by ___, which the government could now enforce because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Voting Rights Act of 1965</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Voting Rights Act banned literacy tests and other discriminatory voting practices.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required federal approval for voting changes in covered jurisdictions and authorized federal voting registrars in areas with low minority registration.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impact was dramatic—Black voter registration in the South increased from 23% to 61% by 1969, transforming Southern politics.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9-full/img/president-johnson-signs-voting-rights-1965.jpg">    </p:cNvPr>
          <p:cNvPicPr>
            <a:picLocks noChangeAspect="1"/>
          </p:cNvPicPr>
          <p:nvPr/>
        </p:nvPicPr>
        <p:blipFill>
          <a:blip r:embed="rId1"/>
          <a:stretch>
            <a:fillRect/>
          </a:stretch>
        </p:blipFill>
        <p:spPr>
          <a:xfrm>
            <a:off x="7589520" y="2169319"/>
            <a:ext cx="4069080" cy="2729675"/>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Yoichi R. Okamoto, LBJ Library, August 6, 1965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Civil Rights Act of 1968 (Fair Housing 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Passed after King's assassination amid national grief and urban riots, this Act prohibited discrimination in housing sales, rentals, and financing based on race, religion, national origin, or sex.</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addressed residential segregation, though enforcement remained weak.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 completed the legal framework for civil rights protection.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24th Amendment (1964)</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constitutional amendment eliminated poll taxes in federal elections, removing economic barriers to voting that particularly affected poor Black and white voters in the South.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extended voting rights protection beyond racial discrimination to address economic discrimination in the electoral process.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Lyndon B. Johnson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U.S. President</a:t>
            </a:r>
            <a:endParaRPr lang="en-US" sz="1100" dirty="0"/>
          </a:p>
        </p:txBody>
      </p:sp>
      <p:sp>
        <p:nvSpPr>
          <p:cNvPr id="9" name="Shape 7"/>
          <p:cNvSpPr/>
          <p:nvPr/>
        </p:nvSpPr>
        <p:spPr>
          <a:xfrm>
            <a:off x="667512" y="2578608"/>
            <a:ext cx="3276737" cy="2212848"/>
          </a:xfrm>
          <a:prstGeom prst="rect">
            <a:avLst/>
          </a:prstGeom>
          <a:solidFill>
            <a:srgbClr val="FFFFFF"/>
          </a:solidFill>
          <a:ln w="12700">
            <a:solidFill>
              <a:srgbClr val="DAD3C2"/>
            </a:solidFill>
            <a:prstDash val="solid"/>
          </a:ln>
        </p:spPr>
      </p:sp>
      <p:pic>
        <p:nvPicPr>
          <p:cNvPr id="10" name="Image 0" descr="unit9-full/img/president-lyndon-b-johnson-signs-1964.jpg">    </p:cNvPr>
          <p:cNvPicPr>
            <a:picLocks noChangeAspect="1"/>
          </p:cNvPicPr>
          <p:nvPr/>
        </p:nvPicPr>
        <p:blipFill>
          <a:blip r:embed="rId1"/>
          <a:srcRect l="0" r="0" t="0" b="0"/>
          <a:stretch/>
        </p:blipFill>
        <p:spPr>
          <a:xfrm>
            <a:off x="694944" y="2606040"/>
            <a:ext cx="3221873" cy="2157984"/>
          </a:xfrm>
          <a:prstGeom prst="rect">
            <a:avLst/>
          </a:prstGeom>
        </p:spPr>
      </p:pic>
      <p:sp>
        <p:nvSpPr>
          <p:cNvPr id="11" name="Text 8"/>
          <p:cNvSpPr/>
          <p:nvPr/>
        </p:nvSpPr>
        <p:spPr>
          <a:xfrm>
            <a:off x="694944" y="4800600"/>
            <a:ext cx="3724793"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Cecil Stoughton, White House Press Office, July 2, 1964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Executive Office of the President of the United States</a:t>
            </a:r>
            <a:endParaRPr lang="en-US" sz="600" dirty="0"/>
          </a:p>
        </p:txBody>
      </p:sp>
      <p:sp>
        <p:nvSpPr>
          <p:cNvPr id="12" name="Text 9"/>
          <p:cNvSpPr/>
          <p:nvPr/>
        </p:nvSpPr>
        <p:spPr>
          <a:xfrm>
            <a:off x="4099697" y="2606040"/>
            <a:ext cx="7366879"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Civil Rights Act of 1964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Voting Rights Act of 1965</a:t>
            </a:r>
            <a:endParaRPr lang="en-US" sz="1300" dirty="0"/>
          </a:p>
        </p:txBody>
      </p:sp>
      <p:sp>
        <p:nvSpPr>
          <p:cNvPr id="13" name="Shape 10"/>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Federal legislation &amp; enforcement</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US.81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Civil Rights Act of 1964</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July 2, 1964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"All persons shall be entitled to the full and equal enjoyment of the goods, services, facilities, privileges, advantages, and accommodations of any place of public accommodation... without discrimination or segregation on the ground of race, color, religion, or national origin."</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2011680"/>
          </a:xfrm>
          <a:prstGeom prst="roundRect">
            <a:avLst>
              <a:gd name="adj" fmla="val 3636"/>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The Civil Rights Act of 1964 was the most significant civil rights legislation since Reconstruction. It prohibited discrimination based on race, color, religion, sex, or national origin in employment and public accommodations like hotels, restaurants, and theaters. The bill had been proposed by Kennedy and was finally passed after his assassination under President Johnson, who used his legislative mastery to overcome a 60-day Southern filibuster in the Senate—the longest in Senate history.</a:t>
            </a:r>
            <a:endParaRPr lang="en-US" sz="950" dirty="0"/>
          </a:p>
        </p:txBody>
      </p:sp>
      <p:sp>
        <p:nvSpPr>
          <p:cNvPr id="16" name="Shape 14"/>
          <p:cNvSpPr/>
          <p:nvPr/>
        </p:nvSpPr>
        <p:spPr>
          <a:xfrm>
            <a:off x="7589520" y="3931920"/>
            <a:ext cx="4023360" cy="1051560"/>
          </a:xfrm>
          <a:prstGeom prst="roundRect">
            <a:avLst>
              <a:gd name="adj" fmla="val 6957"/>
            </a:avLst>
          </a:prstGeom>
          <a:solidFill>
            <a:srgbClr val="C9A84C"/>
          </a:solidFill>
          <a:ln/>
        </p:spPr>
      </p:sp>
      <p:sp>
        <p:nvSpPr>
          <p:cNvPr id="17" name="Text 15"/>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did the Civil Rights Act of 1964 prohibit?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Congress</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July 2, 1964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Civil Rights Act of 1964</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SIV-ul ryts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Civiles de 1964</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CR</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Landmark federal legislation that outlawed discrimination based on race, color, religion, sex, or national origin, ending segregation in public accommodations and employment.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Voting Rights Act of 1965</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de Voto de 1965</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VR</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legislation that outlawed discriminatory voting practices (literacy tests, poll taxes) used to disenfranchise African Americans, dramatically increasing Black voter registration in the South.</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Civil Rights Act of 1968 (Fair Housing Act)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SIV-ul ryts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Civiles de 1968 (Ley de Vivienda Justa)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law that prohibited discrimination in the sale, rental, and financing of housing based on race, religion, national origin, or sex, addressing residential segregation.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24th Amendment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uh-MEND-ment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Enmienda 24</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2A</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Constitutional amendment ratified in 1964 that abolished poll taxes in federal elections, removing a barrier used to prevent poor African Americans from voting.</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March on Washington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WOSH-ing-tun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Marcha sobre Washington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MO</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1963 civil rights rally where Dr. King delivered his 'I Have a Dream' speech, pressing for jobs and freedom.</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Lyndon B. Johnson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LIN-dun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Lyndon B. Johnson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LB</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36th U.S. President who signed the Civil Rights Act of 1964 and the Voting Rights Act of 1965 into law.</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Civil Rights Act of 1964</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SIV-ul ryts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Civiles de 1964</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CR</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Landmark federal legislation that outlawed discrimination based on race, color, religion, sex, or national origin, ending segregation in public accommodations and employment.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Voting Rights Act of 1965</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de Voto de 1965</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VR</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legislation that outlawed discriminatory voting practices (literacy tests, poll taxes) used to disenfranchise African Americans, dramatically increasing Black voter registration in the South.</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Civil Rights Act of 1968 (Fair Housing Act)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SIV-ul ryts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Derechos Civiles de 1968 (Ley de Vivienda Justa)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law that prohibited discrimination in the sale, rental, and financing of housing based on race, religion, national origin, or sex, addressing residential segregation.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24th Amendment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uh-MEND-ment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Enmienda 24</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2A</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Constitutional amendment ratified in 1964 that abolished poll taxes in federal elections, removing a barrier used to prevent poor African Americans from voting.</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March on Washington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WOSH-ing-tun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Marcha sobre Washington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MO</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1963 civil rights rally where Dr. King delivered his 'I Have a Dream' speech, pressing for jobs and freedom.</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Lyndon B. Johnson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LIN-dun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Lyndon B. Johnson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LB</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36th U.S. President who signed the Civil Rights Act of 1964 and the Voting Rights Act of 1965 into law.</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what a law actually does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Civil Rights Act of 1964 "banned discrimination." What specifically did it ban, and how was it enforced?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It outlawed segregation in public accommodations and discrimination in employment.</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Enforcement mattered — the federal government could now withhold funds and sue violators.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for the Voting Rights Act of 1965, state what it banned and one enforcement tool it created.</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Civil Rights Legislation — HIPP[O] Source Analysis</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legislative excerpt (Civil Rights Act of 1964 or Voting Rights Act of 1965), complete the HIPP[O] organizer: Historical context, Intended audience, Purpose, Point of view, and Overall significance. Then build a short timeline placing the four measures in order — Civil Rights Act of 1964, 24th Amendment (1964), Voting Rights Act of 1965, and Fair Housing Act of 1968 — and note what each one made illegal or protected. Finish with a claim on why BOTH the 1964 and 1965 laws were necessary.</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HIPP[O] organizer for one law, an ordered list of the four measures with what each accomplished, and a one-sentence claim on why ending segregation did not automatically guarantee the vote.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HIPP[O] organizer with guiding questions and a matching activity linking each law to what it banned/protected. Honors: Evaluate which measure (1964 Act, 1965 Voting Rights Act, 24th Amendment, or 1968 Fair Housing Act) had the most transformative impact, defended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printables/unit-9/hippo-primary-source-organizer.html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did the Civil Rights Act of 1964 prohibit?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Discrimination in private homes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Only discrimination in federal government jobs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Discrimination in voting only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Discrimination in public places based on race, color, religion, or national origin</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did the Civil Rights Act of 1964 prohibit?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Discrimination in private homes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Only discrimination in federal government jobs</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Discrimination in voting only</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Discrimination in public places based on race, color, religion, or national origin</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Act guarantees "full and equal enjoyment" of "any place of public accommodation... without discrimination or segregation on the ground of race, color, religion, or national origin."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Rights Act of 1964</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Voting Rights Act of 1965</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Rights Act of 1968 (Fair Housing 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24th Amendment (1964)</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which piece of civil rights legislation (1964 Act, 1965 Voting Rights Act, 24th Amendment, or 1968 Fair Housing Act) had the most transformative impact on American life. Defend your choice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main purpose of the Civil Rights Act of 1964 and the Voting Rights Act of 1965. Why were BOTH laws necessary?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American Indian, Chicano &amp; Feminist Movements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how the American Indian Movement, Chicano Movement, and Feminist Movement are related to the Civil Rights Movement in advancing equality across the broader spectrum of American society during this time period.</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how the American Indian Movement, Chicano Movement, and Feminist Movement are related to the Civil Rights Movement in advancing equality across American society.</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analyzed the major civil rights laws. What did the Civil Rights Act of 1964 and the Voting Rights Act of 1965 accomplish?</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the three movements this standard connects to the Civil Rights Movement.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American Indian Movement (AIM), the Chicano Movement, and the Feminist Movement.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The African American freedom struggle became a blueprint. American Indians occupied Alcatraz, Mexican American farm workers organized a national grape boycott, and women marched for equal rights — each borrowing tactics from the movement that came before them.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one movement’s strategies can be adopted by completely different groups, what does that tell us about how social change spreads in America?</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American Indian Movement (AIM)</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AIM pursued tribal sovereignty, treaty rights, cultural preservation, and economic development on reservations.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Key actions included the Occupation of Alcatraz (1969-1971), Trail of Broken Treaties march (1972), and Wounded Knee occupation (1973).</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Leader Russell Means advocated for "Red Power" and challenged federal Indian policies, using tactics similar to the civil rights movement while asserting distinct cultural identity.</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___ Movement built on the Civil Rights Movement by ___, in order to win rights for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Chicano Movement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Chicano Movement sought educational equality, labor rights, political representation, and cultural pride for Mexican Americans.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Key actions included East L.A. school walkouts (1968), formation of La Raza Unida Party, and grape boycotts.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Cesar Chavez organized the United Farm Workers, using nonviolent tactics including strikes and boycotts to demand equal opportunities in employment and education.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Feminist Movement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feminist movement pursued equal pay, reproductive rights, political representation, and ending gender discrimination.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Key actions included formation of the National Organization for Women (NOW), consciousness-raising groups, and protests against discriminatory practices.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Betty Friedan wrote "The Feminine Mystique" (1963), co-founded NOW, and challenged traditional gender roles, using civil rights legal strategies and protest tactics.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9-full/img/women-s-liberation-march-washington-1970.jpg">    </p:cNvPr>
          <p:cNvPicPr>
            <a:picLocks noChangeAspect="1"/>
          </p:cNvPicPr>
          <p:nvPr/>
        </p:nvPicPr>
        <p:blipFill>
          <a:blip r:embed="rId1"/>
          <a:stretch>
            <a:fillRect/>
          </a:stretch>
        </p:blipFill>
        <p:spPr>
          <a:xfrm>
            <a:off x="7589520" y="2139383"/>
            <a:ext cx="4069080" cy="2789545"/>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Warren K. Leffler, U.S. News &amp; World Report Magazine, August 26, 1970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Synthesizing Connections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All movements shared common elements: legal strategies to challenge discriminatory laws, direct action through protests and demonstrations, pursuit of protective federal legislation, emphasis on group pride and cultural distinctiveness, coalition building with other movements, and strategic use of media.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movements collectively expanded civil rights from racial equality to broader concepts of human equality, creating templates for future social justice movements.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Cesar Chavez</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&amp; Chicano leader</a:t>
            </a:r>
            <a:endParaRPr lang="en-US" sz="1100" dirty="0"/>
          </a:p>
        </p:txBody>
      </p:sp>
      <p:sp>
        <p:nvSpPr>
          <p:cNvPr id="9" name="Shape 7"/>
          <p:cNvSpPr/>
          <p:nvPr/>
        </p:nvSpPr>
        <p:spPr>
          <a:xfrm>
            <a:off x="667512" y="2578608"/>
            <a:ext cx="2320747" cy="1584335"/>
          </a:xfrm>
          <a:prstGeom prst="rect">
            <a:avLst/>
          </a:prstGeom>
          <a:solidFill>
            <a:srgbClr val="FFFFFF"/>
          </a:solidFill>
          <a:ln w="12700">
            <a:solidFill>
              <a:srgbClr val="DAD3C2"/>
            </a:solidFill>
            <a:prstDash val="solid"/>
          </a:ln>
        </p:spPr>
      </p:sp>
      <p:pic>
        <p:nvPicPr>
          <p:cNvPr id="10" name="Image 0" descr="unit9-full/img/cesar-chavez-interview-ufw-1979.jpg">    </p:cNvPr>
          <p:cNvPicPr>
            <a:picLocks noChangeAspect="1"/>
          </p:cNvPicPr>
          <p:nvPr/>
        </p:nvPicPr>
        <p:blipFill>
          <a:blip r:embed="rId1"/>
          <a:srcRect l="0" r="0" t="0" b="0"/>
          <a:stretch/>
        </p:blipFill>
        <p:spPr>
          <a:xfrm>
            <a:off x="694944" y="2606040"/>
            <a:ext cx="2265883" cy="1529471"/>
          </a:xfrm>
          <a:prstGeom prst="rect">
            <a:avLst/>
          </a:prstGeom>
        </p:spPr>
      </p:pic>
      <p:sp>
        <p:nvSpPr>
          <p:cNvPr id="11" name="Text 8"/>
          <p:cNvSpPr/>
          <p:nvPr/>
        </p:nvSpPr>
        <p:spPr>
          <a:xfrm>
            <a:off x="694944" y="4172087"/>
            <a:ext cx="2768803"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Marion S. Trikosko, U.S. News &amp; World Report Magazine, April 20, 1979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600" dirty="0"/>
          </a:p>
        </p:txBody>
      </p:sp>
      <p:sp>
        <p:nvSpPr>
          <p:cNvPr id="12" name="Text 9"/>
          <p:cNvSpPr/>
          <p:nvPr/>
        </p:nvSpPr>
        <p:spPr>
          <a:xfrm>
            <a:off x="3143707" y="2606040"/>
            <a:ext cx="2653589"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United Farm Workers (UFW)</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Used nonviolent boycotts to win farmworker rights</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Nonviolent labor organizing</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868680"/>
          </a:xfrm>
          <a:prstGeom prst="rect">
            <a:avLst/>
          </a:prstGeom>
          <a:solidFill>
            <a:srgbClr val="1A2332"/>
          </a:solidFill>
          <a:ln/>
        </p:spPr>
      </p:sp>
      <p:sp>
        <p:nvSpPr>
          <p:cNvPr id="17" name="Text 14"/>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Betty Friedan</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Feminist author &amp; organizer</a:t>
            </a:r>
            <a:endParaRPr lang="en-US" sz="1100" dirty="0"/>
          </a:p>
        </p:txBody>
      </p:sp>
      <p:sp>
        <p:nvSpPr>
          <p:cNvPr id="19" name="Text 16"/>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Wrote "The Feminine Mystique" (1963)</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National Organization for Women (NOW)</a:t>
            </a:r>
            <a:endParaRPr lang="en-US" sz="1300" dirty="0"/>
          </a:p>
        </p:txBody>
      </p:sp>
      <p:sp>
        <p:nvSpPr>
          <p:cNvPr id="20" name="Shape 17"/>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21" name="Text 18"/>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Consciousness-raising &amp; organizing</a:t>
            </a:r>
            <a:endParaRPr lang="en-US" sz="800" dirty="0"/>
          </a:p>
        </p:txBody>
      </p:sp>
      <p:sp>
        <p:nvSpPr>
          <p:cNvPr id="22" name="Text 1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US.82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United Farm Workers Proclamation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Corroboration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Dolores Huerta  ·  1965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"We, the striking grape workers of California, join on this International Boycott Day with the consumers across the continent in planning the steps that lie ahead on the road to our liberation. Now we will suffer for the purpose of ending the poverty, the misery, and the injustice... We are suffering. We shall endure. We shall overcome."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The United Farm Workers' 1965 Delano Grape Strike and subsequent consumer boycott of California table grapes became one of the most successful labor actions of the 1960s. César Chávez and the UFW issued proclamations explaining their demands and seeking public solidarity. The Proclamation drew on religious language and the tradition of nonviolent civil rights protest to frame the farm workers' struggle as a moral cause worthy of national support.</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this proclamation connect to the broader civil rights movement?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Dolores Huerta</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1965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American Indian Movement (AIM)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AY-im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Indio Americano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Civil rights organization founded in 1968 to address issues of poverty, police brutality, and treaty rights affecting Native Americans, using tactics inspired by the Black civil rights movement.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Chicano Movement</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chih-KAH-noh</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Chicano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Mexican American civil rights movement of the 1960s-70s that fought for labor rights, education reform, political representation, and cultural pride, led by figures like Cesar Chavez.</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Feminist Movement (1960s)</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FEM-ih-nist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Feminista (1960s)</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FM</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"Second Wave" women's rights movement that fought for equal pay, reproductive rights, workplace equality, and passage of the Equal Rights Amendment, led by activists like Betty Friedan.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Cesar Chavez</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SAY-zar SHAH-vez</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César Chávez</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labor leader who co-founded the United Farm Workers and led nonviolent strikes and boycotts for Mexican American farmworkers.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Equal Rights Amendment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EE-kwul ryts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Enmienda de Igualdad de Derechos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ER</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proposed constitutional amendment (revived in the 1970s feminist movement) to guarantee equal legal rights regardless of sex.</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United Farm Workers</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farm WUR-kerz</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Unión de Campesinos</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UF</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labor union founded by Cesar Chavez and Dolores Huerta to fight for better pay and conditions for farm laborers.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American Indian Movement (AIM)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AY-im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Indio Americano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AI</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Civil rights organization founded in 1968 to address issues of poverty, police brutality, and treaty rights affecting Native Americans, using tactics inspired by the Black civil rights movement.</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Chicano Movement</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chih-KAH-noh</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Chicano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Mexican American civil rights movement of the 1960s-70s that fought for labor rights, education reform, political representation, and cultural pride, led by figures like Cesar Chavez.</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Feminist Movement (1960s)</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FEM-ih-nist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Feminista (1960s)</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FM</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"Second Wave" women's rights movement that fought for equal pay, reproductive rights, workplace equality, and passage of the Equal Rights Amendment, led by activists like Betty Friedan.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Cesar Chavez</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SAY-zar SHAH-vez</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César Chávez</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labor leader who co-founded the United Farm Workers and led nonviolent strikes and boycotts for Mexican American farmworkers.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Equal Rights Amendment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EE-kwul ryts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Enmienda de Igualdad de Derechos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ER</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proposed constitutional amendment (revived in the 1970s feminist movement) to guarantee equal legal rights regardless of sex.</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United Farm Workers</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farm WUR-kerz</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Unión de Campesinos</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UF</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labor union founded by Cesar Chavez and Dolores Huerta to fight for better pay and conditions for farm laborers.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Connect movements to the Civil Rights Movement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Chavez, AIM, and NOW borrowed tactics from the African American freedom struggle. Name one tactic they shared.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All used nonviolent protest, organizing, and appeals to equal rights.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They adapted the same playbook — boycotts, marches, and legislation — to new communities.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pick one movement and name a goal it shared with, and one way it differed from, the CRM.</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Movements Compared — Civil Rights Blueprint Venn</a:t>
            </a:r>
            <a:endParaRPr lang="en-US" sz="24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complete the comparison organizer for the American Indian Movement (AIM), the Chicano Movement, and the Feminist Movement. For each movement, record its main goal, its key leader (Russell Means, Cesar Chavez, Betty Friedan), and the civil-rights tactic it borrowed (protest, boycott, legal challenge, demand for legislation). In the shared/overlap space, record what all three took from the African American Civil Rights Movement. Finish with a claim on how these movements expanded the definition of ‘civil rights.’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comparison organizer (goal + leader + borrowed tactic for each of the three movements, plus the shared blueprint) and a one-sentence claim on how they expanded civil rights beyond race.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movements pre-labeled and a word bank (grape boycott, Alcatraz occupation, equal pay, treaty rights, organized protest) to sort. Honors: Analyze how these movements collectively redefined civil rights — did broadening the struggle strengthen or dilute the pursuit of equality?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printables/unit-9/unit-9-venn.html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this proclamation connect to the broader civil rights movement?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uses similar language and tactics, including "We shall overcome"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explicitly rejects the civil rights movement's methods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focuses only on wages without addressing social justice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calls for violent confrontation with growers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this proclamation connect to the broader civil rights movement?</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uses similar language and tactics, including "We shall overcome"</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explicitly rejects the civil rights movement's methods</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focuses only on wages without addressing social justice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calls for violent confrontation with growers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proclamation echoes civil rights language with "We shall overcome" and frames the struggle as fighting "poverty, the misery, and the injustice," connecting it to the broader movement.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American Indian Movement (AIM)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Chicano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Feminist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Synthesizing Connections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Analyze how these movements collectively expanded the definition of civil rights in America. Did broadening the movement strengthen or dilute the pursuit of equality? Argue your position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American Indian Movement, the Chicano Movement, and the Feminist Movement each built on the strategies of the African American Civil Rights Movement.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9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Civil Rights Movement (1954–1968) · from Brown v. Board of Education, through the advocates and opponents of civil rights and the boycotts, sit-ins, Freedom Rides, and marches, to the landmark civil and voting rights legislation and the American Indian, Chicano, and Feminist movements that followed.</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How did Americans move from a court ruling in 1954 to sweeping federal civil rights laws by 1968 — and what did it take to close the gap between the nation's ideals and its practice? You can now answer with evidence — from Brown v. Board and the strategies of King, Malcolm X, Marshall, and Parks, through Montgomery, the Nashville sit-ins, the Freedom Rides, and the March on Washington, to the Civil Rights Act of 1964, the Voting Rights Act of 1965, and the movements that expanded the meaning of civil rights.</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10 — The Great Society &amp; the Modern Era</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Brown v. Board of Education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Brown contra el Consejo de Educación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landmark 1954 Supreme Court decision that declared state laws establishing separate public schools for Black and white students unconstitutional, overturning Plessy v. Ferguson and ending legal school…</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Clinton 12</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Los 12 de Clinton</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12 African American students who integrated Clinton High School in Tennessee in 1956, making it the first state-supported high school in the South to integrate following Brown v. Board of Education.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Little Rock Nine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Los Nueve de Little Rock</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nine African American students who integrated Central High School in Little Rock, Arkansas in 1957, facing violent mobs and requiring federal troops protection ordered by President Eisenhower.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Rosa Parks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Rosa Parks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"Mother of the Civil Rights Movement" who refused to give up her bus seat to a white passenger in Montgomery, Alabama in 1955, sparking the Montgomery Bus Boycott.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Dr. Martin Luther King Jr.</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Dr. Martin Luther King Jr.</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Baptist minister and the most prominent leader of the Civil Rights Movement, advocating nonviolent resistance and delivering the iconic "I Have a Dream" speech at the 1963 March on Washington.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Malcolm X</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Malcolm X</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Influential civil rights leader and Nation of Islam minister who advocated for Black nationalism, self-defense, and economic independence before his assassination in 1965.</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Montgomery Bus Boycott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Boicot de Autobuses de Montgomery</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381-day boycott (1955-1956) of the Montgomery, Alabama bus system by African Americans protesting segregated seating, ending when the Supreme Court ruled bus segregation unconstitutional.</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Freedom Riders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Jinetes de la Libertad</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Interracial groups of civil rights activists who rode interstate buses into the segregated South in 1961 to challenge illegal segregation of public transportation, facing violent attacks.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Highlander Folk School</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Escuela Popular Highlander</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Tennessee education center founded in 1932 that trained civil rights leaders including Rosa Parks, Martin Luther King Jr., and John Lewis in nonviolent resistance and organizing tactics.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Civil Rights Act of 1964</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Civiles de 1964</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Landmark federal legislation that outlawed discrimination based on race, color, religion, sex, or national origin, ending segregation in public accommodations and employment.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Voting Rights Act of 1965</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de Voto de 1965</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Federal legislation that outlawed discriminatory voting practices (literacy tests, poll taxes) used to disenfranchise African Americans, dramatically increasing Black voter registration in the South.</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Civil Rights Act of 1968 (Fair Housing Act)</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Civiles de 1968 (Ley de Vivienda Justa)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Federal law that prohibited discrimination in the sale, rental, and financing of housing based on race, religion, national origin, or sex, addressing residential segregation.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American Indian Movement (AIM)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Indio Americano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Civil rights organization founded in 1968 to address issues of poverty, police brutality, and treaty rights affecting Native Americans, using tactics inspired by the Black civil rights movement.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Chicano Movement</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Chicano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Mexican American civil rights movement of the 1960s-70s that fought for labor rights, education reform, political representation, and cultural pride, led by figures like Cesar Chavez.</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Feminist Movement (1960s)</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Feminista (1960s)</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"Second Wave" women's rights movement that fought for equal pay, reproductive rights, workplace equality, and passage of the Equal Rights Amendment, led by activists like Betty Friedan.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was school desegregation so difficult to implement despite the Supreme Court's ruling?</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Brown II's "all deliberate speed" language allowed gradual implementation while Southern states launched "massive resistance" campaigns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ruling only applied to a few specific school districts, but the historical record tells a more complex story</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Federal troops refused to enforce the decision, but this fails to account for the broader historical context</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Most Black families preferred segregated schools, but contemporary accounts suggest a different explanation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Compare the philosophies of Martin Luther King Jr. and Malcolm X regarding integration and Black identity.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Both leaders held identical views throughout their careers, which ignores key developments that shaped the outcome and oversimplifies the complex factors at work during this period</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King emphasized integration through Christian love and nonviolence while Malcolm X initially promoted Black nationalism and self-defense, though both evolved over time</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Malcolm X always supported King's nonviolent approach, despite limited evidence supporting this interpretation, but contemporary accounts and primary sources suggest otherwise</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King opposed integration while Malcolm X supported it, though this interpretation lacks supporting historical evidence,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television coverage of events like Birmingham and Little Rock build national support for civil rights legislation?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Television had minimal impact on public opinion, despite limited evidence supporting this interpretation, but closer analysis reveals a more complicated historical reality</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Television coverage primarily supported segregationists, yet the available evidence points to a different conclusion</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Images of fire hoses, police dogs, and troops protecting children shocked Americans and generated sympathy for the movement, pressuring Congress to act</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Most Americans did not have access to television coverage, yet the available evidence points to a different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was the Fair Housing Act (1968) necessary even after earlier civil rights legislation?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Earlier legislation had already addressed housing discrimination, although this view has been largely discredited by scholars</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Housing discrimination was not a significant problem, despite limited evidence supporting this interpretation</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Fair Housing Act replaced the 1964 Civil Rights Act, which does not align with the documented historical record</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1964 Act focused on public accommodations and employment but did not address residential segregation, which perpetuated inequality</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Compare how these movements both built upon and differed from the African American Civil Rights Movement.</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They adopted similar tactics (protests, legal challenges, legislation) but pursued distinct goals reflecting their communities' unique experiences and cultural identities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These movements were completely unrelated to civil rights, although historical sources do not support this conclusion and oversimplifies the complex factors at work during this period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opposed the African American civil rights movement, but the historical record tells a more complex story, which ignores significant political and cultural developments of the era</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were identical in every way to the civil rights movement, despite limited evidence supporting this interpretation and fails to account for key developments in the broader context</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9 — The Civil Rights Movement (US.78–US.82)</dc:subject>
  <dc:creator>TroopToTeacher Technologies LLC</dc:creator>
  <cp:lastModifiedBy>TroopToTeacher Technologies LLC</cp:lastModifiedBy>
  <cp:revision>1</cp:revision>
  <dcterms:created xsi:type="dcterms:W3CDTF">2026-07-02T19:54:55Z</dcterms:created>
  <dcterms:modified xsi:type="dcterms:W3CDTF">2026-07-02T19:54:55Z</dcterms:modified>
</cp:coreProperties>
</file>
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jpg" ContentType="image/jpg"/>
  <Override PartName="/ppt/media/image15.jpg" ContentType="image/jpg"/>
  <Override PartName="/ppt/media/image17.jpg" ContentType="image/jpg"/>
  <Override PartName="/ppt/media/image19.jpg" ContentType="image/jpg"/>
  <Override PartName="/ppt/media/image21.jpg" ContentType="image/jpg"/>
  <Override PartName="/ppt/media/image23.jpg" ContentType="image/jpg"/>
  <Override PartName="/ppt/media/image26.jpg" ContentType="image/jpg"/>
  <Override PartName="/ppt/media/image31.jpg" ContentType="image/jpg"/>
  <Override PartName="/ppt/media/image6.jpg" ContentType="image/jpg"/>
  <Override PartName="/ppt/media/image7.jpg" ContentType="image/jpg"/>
  <Override PartName="/ppt/media/image8.jpg" ContentType="image/jpg"/>
  <Override PartName="/ppt/media/image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322" r:id="rId73"/>
    <p:sldId id="256" r:id="rId2"/>
    <p:sldId id="257" r:id="rId3"/>
    <p:sldId id="258" r:id="rId4"/>
    <p:sldId id="259" r:id="rId5"/>
    <p:sldId id="260" r:id="rId6"/>
    <p:sldId id="261" r:id="rId7"/>
    <p:sldId id="323" r:id="rId74"/>
    <p:sldId id="334" r:id="rId85"/>
    <p:sldId id="262" r:id="rId8"/>
    <p:sldId id="263" r:id="rId9"/>
    <p:sldId id="264" r:id="rId10"/>
    <p:sldId id="265" r:id="rId11"/>
    <p:sldId id="266" r:id="rId12"/>
    <p:sldId id="267" r:id="rId13"/>
    <p:sldId id="324" r:id="rId75"/>
    <p:sldId id="335" r:id="rId86"/>
    <p:sldId id="268" r:id="rId14"/>
    <p:sldId id="269" r:id="rId15"/>
    <p:sldId id="270" r:id="rId16"/>
    <p:sldId id="271" r:id="rId17"/>
    <p:sldId id="272" r:id="rId18"/>
    <p:sldId id="273" r:id="rId19"/>
    <p:sldId id="325" r:id="rId76"/>
    <p:sldId id="336" r:id="rId87"/>
    <p:sldId id="274" r:id="rId20"/>
    <p:sldId id="275" r:id="rId21"/>
    <p:sldId id="276" r:id="rId22"/>
    <p:sldId id="277" r:id="rId23"/>
    <p:sldId id="278" r:id="rId24"/>
    <p:sldId id="279" r:id="rId25"/>
    <p:sldId id="326" r:id="rId77"/>
    <p:sldId id="337" r:id="rId88"/>
    <p:sldId id="280" r:id="rId26"/>
    <p:sldId id="281" r:id="rId27"/>
    <p:sldId id="282" r:id="rId28"/>
    <p:sldId id="283" r:id="rId29"/>
    <p:sldId id="284" r:id="rId30"/>
    <p:sldId id="285" r:id="rId31"/>
    <p:sldId id="327" r:id="rId78"/>
    <p:sldId id="338" r:id="rId89"/>
    <p:sldId id="286" r:id="rId32"/>
    <p:sldId id="287" r:id="rId33"/>
    <p:sldId id="288" r:id="rId34"/>
    <p:sldId id="289" r:id="rId35"/>
    <p:sldId id="290" r:id="rId36"/>
    <p:sldId id="291" r:id="rId37"/>
    <p:sldId id="328" r:id="rId79"/>
    <p:sldId id="339" r:id="rId90"/>
    <p:sldId id="292" r:id="rId38"/>
    <p:sldId id="293" r:id="rId39"/>
    <p:sldId id="294" r:id="rId40"/>
    <p:sldId id="295" r:id="rId41"/>
    <p:sldId id="296" r:id="rId42"/>
    <p:sldId id="297" r:id="rId43"/>
    <p:sldId id="329" r:id="rId80"/>
    <p:sldId id="340" r:id="rId91"/>
    <p:sldId id="298" r:id="rId44"/>
    <p:sldId id="299" r:id="rId45"/>
    <p:sldId id="300" r:id="rId46"/>
    <p:sldId id="301" r:id="rId47"/>
    <p:sldId id="302" r:id="rId48"/>
    <p:sldId id="303" r:id="rId49"/>
    <p:sldId id="330" r:id="rId81"/>
    <p:sldId id="341" r:id="rId92"/>
    <p:sldId id="304" r:id="rId50"/>
    <p:sldId id="305" r:id="rId51"/>
    <p:sldId id="306" r:id="rId52"/>
    <p:sldId id="307" r:id="rId53"/>
    <p:sldId id="308" r:id="rId54"/>
    <p:sldId id="309" r:id="rId55"/>
    <p:sldId id="331" r:id="rId82"/>
    <p:sldId id="342" r:id="rId93"/>
    <p:sldId id="310" r:id="rId56"/>
    <p:sldId id="311" r:id="rId57"/>
    <p:sldId id="312" r:id="rId58"/>
    <p:sldId id="313" r:id="rId59"/>
    <p:sldId id="314" r:id="rId60"/>
    <p:sldId id="315" r:id="rId61"/>
    <p:sldId id="332" r:id="rId83"/>
    <p:sldId id="343" r:id="rId94"/>
    <p:sldId id="316" r:id="rId62"/>
    <p:sldId id="317" r:id="rId63"/>
    <p:sldId id="318" r:id="rId64"/>
    <p:sldId id="319" r:id="rId65"/>
    <p:sldId id="320" r:id="rId66"/>
    <p:sldId id="321" r:id="rId67"/>
    <p:sldId id="333" r:id="rId84"/>
    <p:sldId id="344" r:id="rId9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loc.gov/collections/national-association-for-the-advancement-of-colored-peopl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www.loc.gov/collections/early-motion-picture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loc.gov/item/4102023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loc.gov/collections/charles-a-lindbergh/"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www.thehenryford.org/collections-and-research/digital-resource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6.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www.loc.gov/item/2004664586/"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8.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8.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hyperlink" Target="https://www.loc.gov/collections/margaret-sanger-paper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0.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2.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hyperlink" Target="https://www.loc.gov/item/mfd.22023/"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3.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4.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5.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hyperlink" Target="https://www.loc.gov/collections/clarence-darrow/"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6.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7.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28.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hyperlink" Target="https://www.loc.gov/collections/chronicling-america/"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29.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30.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3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hyperlink" Target="https://www.loc.gov/collections/general-collections/"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US.28</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Great Migration</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US.28 – Analyze the impact of the Great Migration of African Americans that began in the post-World War I era from the rural South to the industrial regions of the Northeast and Midwest. (TCA)</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analyze the impact of the Great Migration of African Americans from the rural South to the industrial regions of the Northeast and Midwest in the post-World War I era.</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US.28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Push factors drove them out — Jim Crow segregation, disenfranchisement, sharecropping debt, and racial violence pushed African Americans out of the rural South.</a:t>
            </a:r>
            <a:endParaRPr lang="en-US" sz="2300" dirty="0"/>
          </a:p>
        </p:txBody>
      </p:sp>
      <p:pic>
        <p:nvPicPr>
          <p:cNvPr id="7" name="Image 0" descr="hh-web/public/images/textbook/unit-4/great-migration-arthur-family-1920.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US.28 · Push Factors: Reasons to Leave the South</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US.28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Pull factors drew them north — World War I labor shortages opened Northern factory jobs at far higher wages, and the Chicago Defender urged migration to a freer, more urban life.</a:t>
            </a:r>
            <a:endParaRPr lang="en-US" sz="2300" dirty="0"/>
          </a:p>
        </p:txBody>
      </p:sp>
      <p:pic>
        <p:nvPicPr>
          <p:cNvPr id="7" name="Image 0" descr="hh-web/public/images/textbook/unit-4/great-migration-hat-factory-chicago-1922.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US.28 · Pull Factors: Attractions of the North</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US.28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The migration reshaped America — it moved the nation from rural to urban, built concentrated Black voting power and culture in Northern cities, and fueled the Harlem Renaissance.</a:t>
            </a:r>
            <a:endParaRPr lang="en-US" sz="2300" dirty="0"/>
          </a:p>
        </p:txBody>
      </p:sp>
      <p:pic>
        <p:nvPicPr>
          <p:cNvPr id="7" name="Image 0" descr="hh-web/public/images/textbook/unit-4/unia-parade-harlem-1920.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US.28 · Social &amp; Long-term Implications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US.28</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a Southern migrant’s letter to the Chicago Defender — weigh the writer’s purpose and audience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Anonymous Southern Migrant</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1917</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Letter from African American Migrant to Chicago Defender</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Anonymous Southern Migrant · 1917</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"I am in the darkness of the south and I am trying my best to get out. Oh please help me to get out of this low down country. I am counted no more than a dog here. I can do any kind of work from a shoe shine to farming. I would like to get my family out of this cursed place. Please sir help me and my family and God will bless you."</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US.28</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US.28:</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Migrating families who found higher wages and greater freedom, and Northern industries that gained a needed wartime labor force.</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US.28:</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Migrants who faced crowded housing, discrimination, and hostility in the North, and Southern communities drained of working-age population.</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US.28:</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Ordinary African American families making individual choices to leave, encouraged by Black newspapers like the Chicago Defender.</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Letter from African American Migrant to the Chicago Defender, 1917 (Chicago Defender /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US.29</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Radio, Movies, and Popular Culture</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US.29 – Describe the growth and effects that radio and movies played in the emergence of popular culture, such as advertising, celebrities, news, and entertainment.</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describe the growth and effects that radio and movies played in the emergence of popular culture, such as advertising, celebrities, news, and entertainment.</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US.29</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Radio unified the nation — the first medium to reach the whole country at once, radio ownership exploded in the 1920s and created a shared national culture of news, music, and sports.</a:t>
            </a:r>
            <a:endParaRPr lang="en-US" sz="2300" dirty="0"/>
          </a:p>
        </p:txBody>
      </p:sp>
      <p:pic>
        <p:nvPicPr>
          <p:cNvPr id="7" name="Image 0" descr="hh-web/public/images/textbook/unit-4/early-radio-speaker.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US.29 · Radio’s Impact on Popular Culture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US.29</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Movies made mass celebrities — silent film turned Charlie Chaplin and others into global stars, and elaborate movie palaces made film the dominant new entertainment industry.</a:t>
            </a:r>
            <a:endParaRPr lang="en-US" sz="2300" dirty="0"/>
          </a:p>
        </p:txBody>
      </p:sp>
      <p:pic>
        <p:nvPicPr>
          <p:cNvPr id="7" name="Image 0" descr="hh-web/public/images/textbook/unit-4/movie-palace-1926.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US.29 · Film Industry Growth</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US.29</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New heroes defined the decade — Chaplin’s “Tramp,” Lindbergh’s 1927 solo flight, and Babe Ruth’s 60 home runs made entertainers and athletes into national icons.</a:t>
            </a:r>
            <a:endParaRPr lang="en-US" sz="2300" dirty="0"/>
          </a:p>
        </p:txBody>
      </p:sp>
      <p:pic>
        <p:nvPicPr>
          <p:cNvPr id="7" name="Image 0" descr="hh-web/public/images/textbook/unit-4/spirit-of-st-louis-1927.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US.29 · Chaplin, Lindbergh &amp; Babe Ruth</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US.29</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a 1925 Photoplay magazine article — identify who published it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Photoplay Magazine</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1925</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Motion Picture Magazine Article</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Photoplay Magazine · 1925</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"The motion picture has become the most democratic of all the arts. It speaks a universal language that all may understand. The immigrant from Europe, the farmer from Kansas, the society matron from New York—all sit side by side in the darkness of the theater, laughing at the same jokes, crying at the same sorrows, thrilling to the same adventures."</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US.29</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US.29:</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Radio networks, film studios, advertisers, and celebrities who profited from a national mass audience for the first time.</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US.29:</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Local and regional cultures overshadowed by a single, commercialized national culture built around big-city media.</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US.29:</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Studios, radio networks, and advertisers who chose what the nation watched and heard, shaping public taste and values.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Photoplay Magazine article on the film industry, 1925 (magazine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US.30</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Grand Ole Opry, Blues &amp; Country Music</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US.30 – Examine how the use of the radio helped grow the popularity of country and blues music, including the rise of the Grand Ole Opry, W.C. Handy, and Bessie Smith. (TCA)</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examine how the use of the radio helped grow the popularity of country and blues music, including the rise of the Grand Ole Opry, W.C. Handy, and Bessie Smith.</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US.30</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Country music grew from Southern folk roots — Scottish-Irish ballads, gospel, and fiddle-and-banjo traditions produced a new commercial genre of rural white America.</a:t>
            </a:r>
            <a:endParaRPr lang="en-US" sz="2300" dirty="0"/>
          </a:p>
        </p:txBody>
      </p:sp>
      <p:pic>
        <p:nvPicPr>
          <p:cNvPr id="7" name="Image 0" descr="hh-web/public/images/textbook/unit-4/vernon-dalhart-1917.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US.30 · Country Music Roots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US.30</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The blues carried African American experience — rooted in work songs, field hollers, and spirituals, the Mississippi Delta blues gave voice to Black life and shaped all later American music.</a:t>
            </a:r>
            <a:endParaRPr lang="en-US" sz="2300" dirty="0"/>
          </a:p>
        </p:txBody>
      </p:sp>
      <p:pic>
        <p:nvPicPr>
          <p:cNvPr id="7" name="Image 0" descr="hh-web/public/images/textbook/unit-4/bessie-smith-empress-of-the-blues.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US.30 · Blues Music Evolution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US.30</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Nashville became a music capital — the Grand Ole Opry began as WSM’s “Barn Dance” on Nov. 28, 1925, while W.C. Handy published the blues and Bessie Smith became its “Empress.”</a:t>
            </a:r>
            <a:endParaRPr lang="en-US" sz="2300" dirty="0"/>
          </a:p>
        </p:txBody>
      </p:sp>
      <p:pic>
        <p:nvPicPr>
          <p:cNvPr id="7" name="Image 0" descr="hh-web/public/images/textbook/unit-4/wc-handy.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US.30 · The Grand Ole Opry, Handy &amp; Smith</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US.30</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W.C. Handy’s autobiography — note who is writing and when before you weigh his account.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W.C. Handy</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1941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W.C. Handy Autobiography Excerpt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W.C. Handy · 1941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"I wrote "Memphis Blues" in 1912 and "St. Louis Blues" in 1914. These were the first blues to be written down and published. Before this, the blues was folk music, passed along by ear. I wanted to capture on paper the sounds I heard in the cotton fields and on Beale Street. The sorrow songs of my people deserved to be preserved and heard by the world."</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US.30</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US.30:</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Black and white Southern musicians who found new audiences and income, and Nashville, which grew into a national music center.</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US.30:</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Black blues artists who often received little pay or credit while their music was borrowed and profited from by others.</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US.30:</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Record companies, radio stations like WSM, and pioneering artists such as Handy and Smith who defined the new genres.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W.C. Handy, Father of the Blues (autobiography), 1941 (published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US.31</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New Technologies: Air Travel and Electricity</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US.31 – Describe the impact of new technologies of the era, including the advent of air travel and spread of electricity.</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describe the impact of new technologies of the era, including the advent of air travel and spread of electricity.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US.31</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Aviation shrank the nation — from the Wright Brothers’ 1903 flight through WWI advances, air travel cut cross-country trips from days to hours and connected isolated regions.</a:t>
            </a:r>
            <a:endParaRPr lang="en-US" sz="2300" dirty="0"/>
          </a:p>
        </p:txBody>
      </p:sp>
      <p:pic>
        <p:nvPicPr>
          <p:cNvPr id="7" name="Image 0" descr="hh-web/public/images/textbook/unit-4/spirit-of-st-louis-1927.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US.31 · Early Aviation &amp; Its Impact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US.31</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Electricity transformed the cities — by 1930, 85% of urban homes had power, and appliances like vacuums, washing machines, and refrigerators reshaped daily household life.</a:t>
            </a:r>
            <a:endParaRPr lang="en-US" sz="2300" dirty="0"/>
          </a:p>
        </p:txBody>
      </p:sp>
      <p:pic>
        <p:nvPicPr>
          <p:cNvPr id="7" name="Image 0" descr="hh-web/public/images/textbook/unit-4/electric-washer-ad-1920.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US.31 · Spread of Electricity &amp; the Home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US.31</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A rural gap remained — only 10% of rural homes had electricity by 1930 because of cost and distance, deepening the divide between modern cities and the countryside.</a:t>
            </a:r>
            <a:endParaRPr lang="en-US" sz="2300" dirty="0"/>
          </a:p>
        </p:txBody>
      </p:sp>
      <p:pic>
        <p:nvPicPr>
          <p:cNvPr id="7" name="Image 0" descr="hh-web/public/images/textbook/unit-4/fsa-migrant-farm-family-1935.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US.31 · The Rural Electrification Gap</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US.31</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the New York Times report of Lindbergh’s flight — fix its source and date before analyzing it.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New York Times</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May 22, 1927</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Lindbergh Transatlantic Flight News Report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New York Times · May 22, 1927</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"LINDBERGH DOES IT! TO PARIS IN 33½ HOURS. Flies 1,000 Miles Through Snow and Sleet; Cheering French Ones Carry Him Off Field. Captain Charles A. Lindbergh accomplished the greatest feat of a solitary man in the records of the human race yesterday when he landed his airplane, the Spirit of St. Louis, at Le Bourget Aerodrome."</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US.31</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US.31:</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Urban Americans, manufacturers of appliances and aircraft, and businesses connected by faster travel and cheap electric power.</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US.31:</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Rural Americans left without electricity, falling further behind cities in convenience, productivity, and modern living.</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US.31:</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Private power companies and manufacturers who decided where to build lines and sell goods, prioritizing profitable urban markets.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New York Times, Lindbergh Transatlantic Flight report, May 22, 1927 (newspaper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US.32</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Henry Ford, the Automobile &amp; Mass Production</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US.32 – Describe the impact of Henry T. Ford, the automobile, and the mass production of automobiles on the American economy and society.</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describe the impact of Henry Ford, the automobile, and the mass production of automobiles on the American economy and society.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US.32</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Ford built cars for the masses — founding Ford Motor Company in 1903, he used the Model T and the moving assembly line to make automobiles affordable for average Americans.</a:t>
            </a:r>
            <a:endParaRPr lang="en-US" sz="2300" dirty="0"/>
          </a:p>
        </p:txBody>
      </p:sp>
      <p:pic>
        <p:nvPicPr>
          <p:cNvPr id="7" name="Image 0" descr="hh-web/public/images/textbook/unit-4/ford-assembly-line-1913.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US.32 · Ford’s Role &amp; Mass Production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US.32</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He remade labor and wages — Ford’s $5 Day (1914) doubled industrial pay and cut the workday to eight hours to reduce turnover, trading repetitive assembly-line work for higher wages.</a:t>
            </a:r>
            <a:endParaRPr lang="en-US" sz="2300" dirty="0"/>
          </a:p>
        </p:txBody>
      </p:sp>
      <p:pic>
        <p:nvPicPr>
          <p:cNvPr id="7" name="Image 0" descr="hh-web/public/images/textbook/unit-4/henry-ford.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US.32 · Impact on Labor Practices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US.32</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The car transformed society — automobiles ended rural isolation, enabled suburbs, and drove the steel, rubber, glass, and oil industries plus gas stations and motels.</a:t>
            </a:r>
            <a:endParaRPr lang="en-US" sz="2300" dirty="0"/>
          </a:p>
        </p:txBody>
      </p:sp>
      <p:pic>
        <p:nvPicPr>
          <p:cNvPr id="7" name="Image 0" descr="hh-web/public/images/textbook/unit-4/summit-street-toledo-automobiles-1920s.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US.32 · Societal &amp; Industrial Transformation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US.32</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Ford’s $5 Day announcement — identify its author, date, and purpose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Henry Ford</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January 5, 1914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Ford $5 Day Announcement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Henry Ford · January 5, 1914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"The Ford Motor Company, the greatest and most successful automobile manufacturing company in the world, will, on January 12, inaugurate the greatest revolution in the matter of rewards for its workers ever known to the industrial world. At one stroke it will reduce the hours of labor from nine to eight, and add to every man's pay a share of the profits of the house. The smallest amount to be received by a man 22 years old and upwards will be $5 per day."</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The Henry Ford</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US.32</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US.32:</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Ford and the auto industry, workers earning the $5 Day, and the many industries and businesses the automobile created.</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US.32:</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Assembly-line workers who faced monotonous, tightly controlled labor, and craftsmen displaced by standardized mass production.</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US.32:</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Henry Ford, whose decisions on production, pricing, and wages set the pattern for modern American industry.</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Henry Ford, $5 Day Announcement, January 5, 1914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US.33</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Harlem Renaissance</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US.33 – Analyze the impact of the Harlem Renaissance and its important figures on American culture, including: Louis Armstrong, Duke Ellington, Langston Hughes, Zora Neale Hurston, James Weldon Johnson. (TCA)</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analyze the impact of the Harlem Renaissance and its important figures on American culture, including Louis Armstrong, Duke Ellington, Langston Hughes, Zora Neale Hurston, and James Weldon Johnson.</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US.33</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Harlem became a cultural capital — the Great Migration concentrated African Americans in Harlem, sparking a 1920s flowering of Black literature, music, art, and theater.</a:t>
            </a:r>
            <a:endParaRPr lang="en-US" sz="2300" dirty="0"/>
          </a:p>
        </p:txBody>
      </p:sp>
      <p:pic>
        <p:nvPicPr>
          <p:cNvPr id="7" name="Image 0" descr="hh-web/public/images/textbook/unit-4/louis-armstrong-portrait.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US.33 · Historical Context &amp; the Arts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US.33</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Jazz masters redefined American music — Louis Armstrong turned jazz into a soloist’s art, and Duke Ellington led a sophisticated orchestra that made the Cotton Club famous.</a:t>
            </a:r>
            <a:endParaRPr lang="en-US" sz="2300" dirty="0"/>
          </a:p>
        </p:txBody>
      </p:sp>
      <p:pic>
        <p:nvPicPr>
          <p:cNvPr id="7" name="Image 0" descr="hh-web/public/images/textbook/unit-4/duke-ellington.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US.33 · Armstrong &amp; Ellington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US.33</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Writers gave the era its voice — Langston Hughes wove jazz rhythms and Black vernacular into poetry, while Zora Neale Hurston preserved African American folklore and stories.</a:t>
            </a:r>
            <a:endParaRPr lang="en-US" sz="2300" dirty="0"/>
          </a:p>
        </p:txBody>
      </p:sp>
      <p:pic>
        <p:nvPicPr>
          <p:cNvPr id="7" name="Image 0" descr="hh-web/public/images/textbook/unit-4/langston-hughes-portrait.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US.33 · Hughes &amp; Hurston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US.33</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Langston Hughes’ “The Negro Artist and the Racial Mountain” — note his purpose before you read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Langston Hughes</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1926</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The Negro Artist and the Racial Mountain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Langston Hughes · 1926</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"We younger Negro artists who create now intend to express our individual dark-skinned selves without fear or shame. If white people are pleased we are glad. If they are not, it doesn't matter. We know we are beautiful. And ugly too. The tom-tom cries and the tom-tom laughs. If colored people are pleased we are glad. If they are not, their displeasure doesn't matter either."</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US.33</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US.33:</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African American artists who gained recognition and voice, and American culture, permanently enriched by their work.</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US.33:</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Black artists who still faced segregation and had to perform for white audiences at venues like the Cotton Club that barred Black patrons.</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US.33:</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The artists themselves — Hughes, Hurston, Armstrong, Ellington — who defined a new, self-confident African American cultural identity.</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Langston Hughes, The Negro Artist and the Racial Mountain, 1926 (published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US.34</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Women in the 1920s: Flappers &amp; Social Changes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US.34 – Describe changes and limitations in the social and economic status of women during this era, including flappers, birth control, clerical and office jobs, and the rise of women's colleges.</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describe changes and limitations in the social and economic status of women during this era, including flappers, birth control, clerical and office jobs, and the rise of women's colleges.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US.34</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Flappers challenged Victorian norms — young modern women adopted bobbed hair, shorter skirts, makeup, and new public freedoms, symbolizing a break with old expectations.</a:t>
            </a:r>
            <a:endParaRPr lang="en-US" sz="2300" dirty="0"/>
          </a:p>
        </p:txBody>
      </p:sp>
      <p:pic>
        <p:nvPicPr>
          <p:cNvPr id="7" name="Image 0" descr="hh-web/public/images/textbook/unit-4/flapper-1920s.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US.34 · Flappers &amp; Cultural Significance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US.34</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New rights and new work — Margaret Sanger championed birth control, while clerical and office jobs for women grew from 75,000 (1900) to 1.4 million (1930).</a:t>
            </a:r>
            <a:endParaRPr lang="en-US" sz="2300" dirty="0"/>
          </a:p>
        </p:txBody>
      </p:sp>
      <p:pic>
        <p:nvPicPr>
          <p:cNvPr id="7" name="Image 0" descr="hh-web/public/images/textbook/unit-4/margaret-sanger.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US.34 · Birth Control &amp; Clerical Jobs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US.34</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Change had real limits — women’s colleges expanded opportunity, but most women stayed in traditional roles behind a glass ceiling, and pay inequality persisted.</a:t>
            </a:r>
            <a:endParaRPr lang="en-US" sz="2300" dirty="0"/>
          </a:p>
        </p:txBody>
      </p:sp>
      <p:pic>
        <p:nvPicPr>
          <p:cNvPr id="7" name="Image 0" descr="hh-web/public/images/textbook/unit-4/flapper-1920s.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US.34 · Women’s Colleges &amp; Limitations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US.34</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Margaret Sanger on birth control — identify who is speaking and why before you weigh her argument.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Margaret Sanger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1920</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Margaret Sanger on Birth Control</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Margaret Sanger · 1920</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"No woman can call herself free who does not own and control her body. No woman can call herself free until she can choose consciously whether she will or will not be a mother. Birth control is woman's problem. The quicker she accepts it as hers and hers alone, the quicker will society respect motherhood."</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US.34</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US.34:</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Younger, often urban and middle-class women who gained new freedoms, education, and clerical jobs in the postwar economy.</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US.34:</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Most women — especially poor, rural, and minority women — who stayed in traditional roles, faced a glass ceiling, and were paid less.</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US.34:</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Reformers like Sanger, women themselves reshaping social expectations, and the male-controlled institutions that still limited advancement.</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Margaret Sanger on Birth Control, 1920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US.35</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Civil Liberties: Red Scare, KKK &amp; NAACP</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US.35 – Examine challenges and advancements related to the push for civil liberties, including: First Red Scare, Immigration Quota Acts of the 1920s, Resurgence of the Ku Klux Klan, Black Wall Street and Tulsa Massacre, Rise of the NAACP, Efforts of Ida B. Wells-Barnett, Emergence of Garveyism. (TCA)</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examine challenges and advancements related to the push for civil liberties, including the First Red Scare, Immigration Quota Acts, resurgence of the KKK, Black Wall Street and Tulsa Massacre, rise of the NAACP, Ida B. Wells-Barnett, and Garveyism.</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US.35</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The First Red Scare bred fear — dread of a Russian-style revolution, strikes, and bombings triggered the Palmer Raids and immigration quota laws that cut newcomers to a fraction of earlier levels.</a:t>
            </a:r>
            <a:endParaRPr lang="en-US" sz="2300" dirty="0"/>
          </a:p>
        </p:txBody>
      </p:sp>
      <p:pic>
        <p:nvPicPr>
          <p:cNvPr id="7" name="Image 0" descr="hh-web/public/images/textbook/unit-4/buford-soviet-ark-deportation-1919.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US.35 · Red Scare &amp; Immigration Quotas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US.35</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A revived Klan spread hatred — inspired by the film “Birth of a Nation,” the new KKK targeted Catholics, Jews, and immigrants along with African Americans, gaining millions of members.</a:t>
            </a:r>
            <a:endParaRPr lang="en-US" sz="2300" dirty="0"/>
          </a:p>
        </p:txBody>
      </p:sp>
      <p:pic>
        <p:nvPicPr>
          <p:cNvPr id="7" name="Image 0" descr="hh-web/public/images/textbook/unit-4/ku-klux-klan-parade-washington-1926.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US.35 · Resurgence of the Ku Klux Klan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US.35</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Black leaders fought back — Ida B. Wells exposed lynching with hard data, Marcus Garvey preached Black nationalism through the UNIA, and the NAACP pressed for civil rights and anti-lynching law.</a:t>
            </a:r>
            <a:endParaRPr lang="en-US" sz="2300" dirty="0"/>
          </a:p>
        </p:txBody>
      </p:sp>
      <p:pic>
        <p:nvPicPr>
          <p:cNvPr id="7" name="Image 0" descr="hh-web/public/images/textbook/unit-4/ida-b-wells.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US.35 · Ida B. Wells, Garveyism &amp; the NAACP</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US.35</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Ida B. Wells’ anti-lynching pamphlet — note the author’s purpose and evidence before you read her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Ida B. Wells-Barnett</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1909</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Ida B. Wells Anti-Lynching Pamphlet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Ida B. Wells-Barnett · 1909</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"The student of American sociology will find the year 1894 marked by a pronounced increase in the number of lynchings. The statistics compiled show that more than ten thousand Negroes have been killed... The alleged causes of lynching do not explain it. It is an excuse to get rid of Negroes who are acquiring wealth and property and thus keep the race terrorized."</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US.35</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US.35:</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Nativists and the revived Klan who gained political power, and immigration restrictionists who reshaped who could enter the country.</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US.35:</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African Americans, Catholics, Jews, immigrants, and suspected radicals targeted by violence, deportation, and legal discrimination.</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US.35:</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Attorney General Palmer and Congress’s quota laws on one side; civil-rights leaders like Wells, Garvey, and the NAACP resisting on the other.</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Ida B. Wells-Barnett, Anti-Lynching Pamphlet, 1909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US.36</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Scopes Trial</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US.36 – Describe the Scopes Trial of 1925, including the major figures (i.e., John Scopes, William Jennings Bryan, and Clarence Darrow), two sides of the controversy (i.e., fundamentalism and modernism), the outcome, and the legacy.</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describe the Scopes Trial of 1925, including the major figures, the two sides of the controversy (fundamentalism and modernism), the outcome, and the legacy.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US.36</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A Tennessee test case drew the nation — teacher John Scopes challenged the Butler Act, pitting William Jennings Bryan for the prosecution against Clarence Darrow for the defense in Dayton, 1925.</a:t>
            </a:r>
            <a:endParaRPr lang="en-US" sz="2300" dirty="0"/>
          </a:p>
        </p:txBody>
      </p:sp>
      <p:pic>
        <p:nvPicPr>
          <p:cNvPr id="7" name="Image 0" descr="hh-web/public/images/textbook/unit-4/clarence-darrow-scopes-trial-1925.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US.36 · Major Figures &amp; Their Roles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US.36</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Two worldviews clashed — the prosecution defended the Bible as literal truth and moral order, while the defense argued evolution’s scientific evidence and teachers’ academic freedom.</a:t>
            </a:r>
            <a:endParaRPr lang="en-US" sz="2300" dirty="0"/>
          </a:p>
        </p:txBody>
      </p:sp>
      <p:pic>
        <p:nvPicPr>
          <p:cNvPr id="7" name="Image 0" descr="hh-web/public/images/textbook/unit-4/william-jennings-bryan.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US.36 · Arguments For &amp; Against Evolution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US.36</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The verdict outlived the trial — Scopes was convicted and fined $100 (later overturned on a technicality), but the case became the enduring symbol of the science-versus-religion debate.</a:t>
            </a:r>
            <a:endParaRPr lang="en-US" sz="2300" dirty="0"/>
          </a:p>
        </p:txBody>
      </p:sp>
      <p:pic>
        <p:nvPicPr>
          <p:cNvPr id="7" name="Image 0" descr="hh-web/public/images/textbook/unit-4/scopes-trial-outdoor-bryan-darrow-1925.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US.36 · Outcome &amp; Long-term Legacy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US.36</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the transcript of Darrow’s cross-examination of Bryan — note the setting and stakes before you analyze it.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Trial Transcript</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1925</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Clarence Darrow Cross-Examination of Bryan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Trial Transcript · 1925</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"DARROW: Do you think the earth was made in six days? BRYAN: Not six days of twenty-four hours... My impression is they were periods. DARROW: Now, if you call those periods, they might have been a very long time? BRYAN: They might have been. DARROW: The creation might have been going on for a very long time? BRYAN: It might have continued for millions of years."</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US.36</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US.36:</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Both sides claimed a kind of victory: the prosecution won the verdict, while the defense won national attention for evolution and academic freedom.</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US.36:</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Tennessee’s teachers, bound by the Butler Act until 1967, and Bryan, whose reputation suffered after Darrow’s cross-examination.</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US.36:</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The Tennessee legislature (Butler Act), the Dayton court and jury, and the two famous attorneys who framed the national debate.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Clarence Darrow, Cross-Examination of Bryan (trial transcript), 1925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US.37</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Prohibition &amp; Its Impact on American Society</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US.37 – Describe the impacts of Prohibition on American society, including: the rise of organized crime, bootlegging, and speakeasies.</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describe the impacts of Prohibition on American society, including the rise of organized crime, bootlegging, and speakeasies.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US.37</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The nation banned alcohol — the 18th Amendment (1919) and the Volstead Act prohibited making, selling, and transporting liquor, aiming to reduce crime, poverty, and family harm.</a:t>
            </a:r>
            <a:endParaRPr lang="en-US" sz="2300" dirty="0"/>
          </a:p>
        </p:txBody>
      </p:sp>
      <p:pic>
        <p:nvPicPr>
          <p:cNvPr id="7" name="Image 0" descr="hh-web/public/images/textbook/unit-4/prohibition-1919.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US.37 · Implementation &amp; Intended Effects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US.37</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Prohibition fueled organized crime — illegal alcohol brought huge profits, and gangsters like Al Capone built violent criminal empires — Capone earned an estimated $60 million a year in Chicago.</a:t>
            </a:r>
            <a:endParaRPr lang="en-US" sz="2300" dirty="0"/>
          </a:p>
        </p:txBody>
      </p:sp>
      <p:pic>
        <p:nvPicPr>
          <p:cNvPr id="7" name="Image 0" descr="hh-web/public/images/textbook/unit-4/al-capone.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US.37 · Organized Crime &amp; Bootlegging</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US.37</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Speakeasies thrived, then the ban ended — secret bars spread jazz and defiance of the law; the Depression, lost tax revenue, and enforcement failure led to repeal by the 21st Amendment (1933).</a:t>
            </a:r>
            <a:endParaRPr lang="en-US" sz="2300" dirty="0"/>
          </a:p>
        </p:txBody>
      </p:sp>
      <p:pic>
        <p:nvPicPr>
          <p:cNvPr id="7" name="Image 0" descr="hh-web/public/images/textbook/unit-4/prohibition-liquor-sewer.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US.37 · Speakeasies &amp; the End of Prohibition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US.37</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a 1930 newspaper interview of Al Capone — weigh who is speaking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Al Capone (as quoted in newspaper)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1930</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Al Capone Interview</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Al Capone (as quoted in newspaper) · 1930</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"I make my money by supplying a public demand. If I break the law, my customers, who number hundreds of the best people in Chicago, are as guilty as I am. The only difference between us is that I sell and they buy. Everybody calls me a racketeer. I call myself a businessman. When I sell liquor, it's bootlegging. When my patrons serve it on silver trays on Lake Shore Drive, it's hospitality."</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US.37</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US.37:</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Bootleggers and organized crime bosses like Al Capone who reaped enormous profits from illegal alcohol.</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US.37:</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Communities plagued by gang violence and corruption, and a public whose respect for law eroded as enforcement failed.</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US.37:</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Congress and the states that passed the 18th Amendment and Volstead Act, then reversed course with the 21st Amendment in 1933.</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Al Capone Interview (as quoted in newspaper), 1930 (newspaper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lstStyle/>
          <a:p>
            <a:endParaRPr lang="en-US"/>
          </a:p>
        </p:txBody>
      </p:sp>
      <p:sp>
        <p:nvSpPr>
          <p:cNvPr id="3" name="Text 1"/>
          <p:cNvSpPr/>
          <p:nvPr/>
        </p:nvSpPr>
        <p:spPr>
          <a:xfrm>
            <a:off x="457200" y="548640"/>
            <a:ext cx="2926080" cy="1188720"/>
          </a:xfrm>
          <a:prstGeom prst="rect">
            <a:avLst/>
          </a:prstGeom>
          <a:noFill/>
          <a:ln/>
        </p:spPr>
        <p:txBody>
          <a:bodyPr wrap="square" rtlCol="0" anchor="ctr"/>
          <a:lstStyle/>
          <a:p>
            <a:pPr marL="0" indent="0">
              <a:buNone/>
            </a:pPr>
            <a:r>
              <a:rPr lang="en-US" sz="6000" b="1" dirty="0">
                <a:solidFill>
                  <a:srgbClr val="C9A84C"/>
                </a:solidFill>
                <a:latin typeface="Georgia" pitchFamily="34" charset="0"/>
                <a:ea typeface="Georgia" pitchFamily="34" charset="-122"/>
                <a:cs typeface="Georgia" pitchFamily="34" charset="-120"/>
              </a:rPr>
              <a:t>US.38</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Credit, Consumerism &amp; Financial Speculation</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marL="0" indent="0">
              <a:buNone/>
            </a:pPr>
            <a:r>
              <a:rPr lang="en-US" sz="1200" b="1" kern="0" spc="20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marL="0" indent="0">
              <a:lnSpc>
                <a:spcPct val="105000"/>
              </a:lnSpc>
              <a:buNone/>
            </a:pPr>
            <a:r>
              <a:rPr lang="en-US" sz="1600" dirty="0">
                <a:solidFill>
                  <a:srgbClr val="C7D4E0"/>
                </a:solidFill>
                <a:latin typeface="Calibri" pitchFamily="34" charset="0"/>
                <a:ea typeface="Calibri" pitchFamily="34" charset="-122"/>
                <a:cs typeface="Calibri" pitchFamily="34" charset="-120"/>
              </a:rPr>
              <a:t>US.38 – Analyze the changes in the economy and culture of the U.S. as a result of credit expansion, consumerism, and financial speculation.</a:t>
            </a:r>
            <a:endParaRPr lang="en-US" sz="1600" dirty="0"/>
          </a:p>
        </p:txBody>
      </p:sp>
      <p:sp>
        <p:nvSpPr>
          <p:cNvPr id="7" name="Shape 5"/>
          <p:cNvSpPr/>
          <p:nvPr/>
        </p:nvSpPr>
        <p:spPr>
          <a:xfrm>
            <a:off x="457200" y="4892040"/>
            <a:ext cx="11247120" cy="1234440"/>
          </a:xfrm>
          <a:prstGeom prst="rect">
            <a:avLst/>
          </a:prstGeom>
          <a:solidFill>
            <a:srgbClr val="C9A84C"/>
          </a:solidFill>
          <a:ln/>
        </p:spPr>
        <p:txBody>
          <a:bodyPr/>
          <a:lstStyle/>
          <a:p>
            <a:endParaRPr lang="en-US"/>
          </a:p>
        </p:txBody>
      </p:sp>
      <p:sp>
        <p:nvSpPr>
          <p:cNvPr id="8" name="Text 6"/>
          <p:cNvSpPr/>
          <p:nvPr/>
        </p:nvSpPr>
        <p:spPr>
          <a:xfrm>
            <a:off x="640080" y="5029200"/>
            <a:ext cx="10972800" cy="274320"/>
          </a:xfrm>
          <a:prstGeom prst="rect">
            <a:avLst/>
          </a:prstGeom>
          <a:noFill/>
          <a:ln/>
        </p:spPr>
        <p:txBody>
          <a:bodyPr wrap="square" rtlCol="0" anchor="ctr"/>
          <a:lstStyle/>
          <a:p>
            <a:pPr marL="0" indent="0">
              <a:buNone/>
            </a:pPr>
            <a:r>
              <a:rPr lang="en-US" sz="1200" b="1" kern="0" spc="20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marL="0" indent="0">
              <a:buNone/>
            </a:pPr>
            <a:r>
              <a:rPr lang="en-US" sz="1400" b="1" dirty="0">
                <a:solidFill>
                  <a:srgbClr val="1A2332"/>
                </a:solidFill>
                <a:latin typeface="Calibri" pitchFamily="34" charset="0"/>
                <a:ea typeface="Calibri" pitchFamily="34" charset="-122"/>
                <a:cs typeface="Calibri" pitchFamily="34" charset="-120"/>
              </a:rPr>
              <a:t>I can analyze the changes in the economy and culture of the United States as a result of credit expansion, consumerism, and financial speculation.</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Buy now, pay later reshaped spending — installment credit made cars and appliances affordable, and consumer debt more than doubled from $3.3 billion (1920) to $7.6 billion (1929).</a:t>
            </a:r>
            <a:endParaRPr lang="en-US" sz="2300" dirty="0"/>
          </a:p>
        </p:txBody>
      </p:sp>
      <p:pic>
        <p:nvPicPr>
          <p:cNvPr id="7" name="Image 0" descr="hh-web/public/images/textbook/unit-4/stock-market-crash-1929.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US.38 · Credit Expansion &amp; Consumerism</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Speculation gripped the market — investors bought stocks on margin with as little as 10% down, and ordinary Americans poured savings into a soaring, overheated stock market.</a:t>
            </a:r>
            <a:endParaRPr lang="en-US" sz="2300" dirty="0"/>
          </a:p>
        </p:txBody>
      </p:sp>
      <p:pic>
        <p:nvPicPr>
          <p:cNvPr id="7" name="Image 0" descr="hh-web/public/images/textbook/unit-4/calvin-coolidge.jpg"/>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US.38 · Financial Speculation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lstStyle/>
          <a:p>
            <a:endParaRPr lang="en-US"/>
          </a:p>
        </p:txBody>
      </p:sp>
      <p:sp>
        <p:nvSpPr>
          <p:cNvPr id="3" name="Shape 1"/>
          <p:cNvSpPr/>
          <p:nvPr/>
        </p:nvSpPr>
        <p:spPr>
          <a:xfrm>
            <a:off x="0" y="1737360"/>
            <a:ext cx="12191695" cy="54864"/>
          </a:xfrm>
          <a:prstGeom prst="rect">
            <a:avLst/>
          </a:prstGeom>
          <a:solidFill>
            <a:srgbClr val="C9A84C"/>
          </a:solidFill>
          <a:ln/>
        </p:spPr>
        <p:txBody>
          <a:bodyPr/>
          <a:lstStyle/>
          <a:p>
            <a:endParaRPr lang="en-US"/>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US.38</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marL="0" indent="0" algn="l">
              <a:buNone/>
            </a:pPr>
            <a:r>
              <a:rPr lang="en-US" sz="2300" b="1" dirty="0">
                <a:solidFill>
                  <a:srgbClr val="FFFFFF"/>
                </a:solidFill>
                <a:latin typeface="Georgia" pitchFamily="34" charset="0"/>
                <a:ea typeface="Georgia" pitchFamily="34" charset="-122"/>
                <a:cs typeface="Georgia" pitchFamily="34" charset="-120"/>
              </a:rPr>
              <a:t>The boom hid deep fragility — credit, margin buying, and rising asset values reinforced one another, so a downturn in any one could trigger collapse — as it did in 1929.</a:t>
            </a:r>
            <a:endParaRPr lang="en-US" sz="2300" dirty="0"/>
          </a:p>
        </p:txBody>
      </p:sp>
      <p:pic>
        <p:nvPicPr>
          <p:cNvPr id="7" name="Image 0" descr="hh-web/public/images/textbook/unit-4/crowd-outside-nyse-1929.jpg"/>
          <p:cNvPicPr>
            <a:picLocks noChangeAspect="1"/>
          </p:cNvPicPr>
          <p:nvPr/>
        </p:nvPicPr>
        <p:blipFill>
          <a:blip r:embed="rId3"/>
          <a:srcRect/>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marL="0" indent="0" algn="ctr">
              <a:buNone/>
            </a:pPr>
            <a:r>
              <a:rPr lang="en-US" sz="900" b="1" kern="0" spc="10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marL="0" indent="0">
              <a:buNone/>
            </a:pPr>
            <a:r>
              <a:rPr lang="en-US" sz="1000" i="1" dirty="0">
                <a:solidFill>
                  <a:srgbClr val="5C6470"/>
                </a:solidFill>
                <a:latin typeface="Trebuchet MS" pitchFamily="34" charset="0"/>
                <a:ea typeface="Trebuchet MS" pitchFamily="34" charset="-122"/>
                <a:cs typeface="Trebuchet MS" pitchFamily="34" charset="-120"/>
              </a:rPr>
              <a:t>US.38 · Interconnections Creating Vulnerability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lstStyle/>
          <a:p>
            <a:endParaRPr lang="en-US"/>
          </a:p>
        </p:txBody>
      </p:sp>
      <p:sp>
        <p:nvSpPr>
          <p:cNvPr id="3" name="Shape 1"/>
          <p:cNvSpPr/>
          <p:nvPr/>
        </p:nvSpPr>
        <p:spPr>
          <a:xfrm>
            <a:off x="0" y="1554480"/>
            <a:ext cx="12191695" cy="54864"/>
          </a:xfrm>
          <a:prstGeom prst="rect">
            <a:avLst/>
          </a:prstGeom>
          <a:solidFill>
            <a:srgbClr val="C9A84C"/>
          </a:solidFill>
          <a:ln/>
        </p:spPr>
        <p:txBody>
          <a:bodyPr/>
          <a:lstStyle/>
          <a:p>
            <a:endParaRPr lang="en-US"/>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US.38</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Read a 1926 General Motors installment-plan advertisement — identify who made it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General Motors Acceptance Corporation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1926</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marL="0" indent="0" algn="l">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txBody>
          <a:bodyPr/>
          <a:lstStyle/>
          <a:p>
            <a:endParaRPr lang="en-US"/>
          </a:p>
        </p:txBody>
      </p:sp>
      <p:sp>
        <p:nvSpPr>
          <p:cNvPr id="14" name="Text 12"/>
          <p:cNvSpPr/>
          <p:nvPr/>
        </p:nvSpPr>
        <p:spPr>
          <a:xfrm>
            <a:off x="594360" y="3291840"/>
            <a:ext cx="5257800" cy="320040"/>
          </a:xfrm>
          <a:prstGeom prst="rect">
            <a:avLst/>
          </a:prstGeom>
          <a:noFill/>
          <a:ln/>
        </p:spPr>
        <p:txBody>
          <a:bodyPr wrap="square" rtlCol="0" anchor="ctr"/>
          <a:lstStyle/>
          <a:p>
            <a:pPr marL="0" indent="0">
              <a:buNone/>
            </a:pPr>
            <a:r>
              <a:rPr lang="en-US" sz="1400" b="1" dirty="0">
                <a:solidFill>
                  <a:srgbClr val="002858"/>
                </a:solidFill>
                <a:latin typeface="Georgia" pitchFamily="34" charset="0"/>
                <a:ea typeface="Georgia" pitchFamily="34" charset="-122"/>
                <a:cs typeface="Georgia" pitchFamily="34" charset="-120"/>
              </a:rPr>
              <a:t>General Motors Installment Plan Advertisement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marL="0" indent="0">
              <a:buNone/>
            </a:pPr>
            <a:r>
              <a:rPr lang="en-US" sz="900" i="1" dirty="0">
                <a:solidFill>
                  <a:srgbClr val="5C6470"/>
                </a:solidFill>
                <a:latin typeface="Trebuchet MS" pitchFamily="34" charset="0"/>
                <a:ea typeface="Trebuchet MS" pitchFamily="34" charset="-122"/>
                <a:cs typeface="Trebuchet MS" pitchFamily="34" charset="-120"/>
              </a:rPr>
              <a:t>General Motors Acceptance Corporation · 1926</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marL="0" indent="0">
              <a:buNone/>
            </a:pPr>
            <a:r>
              <a:rPr lang="en-US" sz="1100" dirty="0">
                <a:solidFill>
                  <a:srgbClr val="1F2430"/>
                </a:solidFill>
                <a:latin typeface="Calibri" pitchFamily="34" charset="0"/>
                <a:ea typeface="Calibri" pitchFamily="34" charset="-122"/>
                <a:cs typeface="Calibri" pitchFamily="34" charset="-120"/>
              </a:rPr>
              <a:t>"Why wait? Drive the car you want NOW and pay for it as you ride. GMAC Time Payment Plan makes it possible for every family to enjoy the benefits of automobile ownership. A small down payment puts you behind the wheel today. Easy monthly payments fit your budget. Don't deny yourself the pleasure and convenience of a new car."</a:t>
            </a:r>
            <a:endParaRPr lang="en-US" sz="1100" dirty="0"/>
          </a:p>
        </p:txBody>
      </p:sp>
      <p:sp>
        <p:nvSpPr>
          <p:cNvPr id="17" name="Text 15">
            <a:hlinkClick r:id="rId3"/>
          </p:cNvPr>
          <p:cNvSpPr/>
          <p:nvPr/>
        </p:nvSpPr>
        <p:spPr>
          <a:xfrm>
            <a:off x="594360" y="5532120"/>
            <a:ext cx="5257800" cy="256032"/>
          </a:xfrm>
          <a:prstGeom prst="rect">
            <a:avLst/>
          </a:prstGeom>
          <a:noFill/>
          <a:ln/>
        </p:spPr>
        <p:txBody>
          <a:bodyPr wrap="square" rtlCol="0" anchor="ctr"/>
          <a:lstStyle/>
          <a:p>
            <a:pPr marL="0" indent="0">
              <a:buNone/>
            </a:pPr>
            <a:r>
              <a:rPr lang="en-US" sz="900" u="sng" dirty="0">
                <a:solidFill>
                  <a:srgbClr val="002858"/>
                </a:solidFill>
                <a:latin typeface="Trebuchet MS" pitchFamily="34" charset="0"/>
                <a:ea typeface="Trebuchet MS" pitchFamily="34" charset="-122"/>
                <a:cs typeface="Trebuchet MS" pitchFamily="34" charset="-120"/>
                <a:hlinkClick r:id="rId3">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5C647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marL="0" indent="0" algn="ctr">
              <a:buNone/>
            </a:pPr>
            <a:r>
              <a:rPr lang="en-US" sz="1100" b="1" kern="0" spc="10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marL="0" indent="0" algn="ctr">
              <a:buNone/>
            </a:pPr>
            <a:r>
              <a:rPr lang="en-US" sz="1200" b="1" dirty="0">
                <a:solidFill>
                  <a:srgbClr val="1A2332"/>
                </a:solidFill>
                <a:latin typeface="Trebuchet MS" pitchFamily="34" charset="0"/>
                <a:ea typeface="Trebuchet MS" pitchFamily="34" charset="-122"/>
                <a:cs typeface="Trebuchet MS" pitchFamily="34" charset="-120"/>
              </a:rPr>
              <a:t>US.38</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marL="0" indent="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txBody>
          <a:bodyPr/>
          <a:lstStyle/>
          <a:p>
            <a:endParaRPr lang="en-US"/>
          </a:p>
        </p:txBody>
      </p:sp>
      <p:sp>
        <p:nvSpPr>
          <p:cNvPr id="6" name="Shape 4"/>
          <p:cNvSpPr/>
          <p:nvPr/>
        </p:nvSpPr>
        <p:spPr>
          <a:xfrm>
            <a:off x="457200" y="1783080"/>
            <a:ext cx="3566160" cy="548640"/>
          </a:xfrm>
          <a:prstGeom prst="rect">
            <a:avLst/>
          </a:prstGeom>
          <a:solidFill>
            <a:srgbClr val="1B5E20"/>
          </a:solidFill>
          <a:ln/>
        </p:spPr>
        <p:txBody>
          <a:bodyPr/>
          <a:lstStyle/>
          <a:p>
            <a:endParaRPr lang="en-US"/>
          </a:p>
        </p:txBody>
      </p:sp>
      <p:sp>
        <p:nvSpPr>
          <p:cNvPr id="7" name="Text 5"/>
          <p:cNvSpPr/>
          <p:nvPr/>
        </p:nvSpPr>
        <p:spPr>
          <a:xfrm>
            <a:off x="45720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US.38:</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Manufacturers, retailers, lenders, and brokers who profited from a credit-fueled consumer boom and rising stock prices.</a:t>
            </a:r>
            <a:endParaRPr lang="en-US" sz="1200" dirty="0"/>
          </a:p>
        </p:txBody>
      </p:sp>
      <p:sp>
        <p:nvSpPr>
          <p:cNvPr id="11" name="Shape 9"/>
          <p:cNvSpPr/>
          <p:nvPr/>
        </p:nvSpPr>
        <p:spPr>
          <a:xfrm>
            <a:off x="4251960" y="1783080"/>
            <a:ext cx="3566160" cy="4206240"/>
          </a:xfrm>
          <a:prstGeom prst="rect">
            <a:avLst/>
          </a:prstGeom>
          <a:solidFill>
            <a:srgbClr val="FFFFFF"/>
          </a:solidFill>
          <a:ln/>
        </p:spPr>
        <p:txBody>
          <a:bodyPr/>
          <a:lstStyle/>
          <a:p>
            <a:endParaRPr lang="en-US"/>
          </a:p>
        </p:txBody>
      </p:sp>
      <p:sp>
        <p:nvSpPr>
          <p:cNvPr id="12" name="Shape 10"/>
          <p:cNvSpPr/>
          <p:nvPr/>
        </p:nvSpPr>
        <p:spPr>
          <a:xfrm>
            <a:off x="4251960" y="1783080"/>
            <a:ext cx="3566160" cy="548640"/>
          </a:xfrm>
          <a:prstGeom prst="rect">
            <a:avLst/>
          </a:prstGeom>
          <a:solidFill>
            <a:srgbClr val="C62828"/>
          </a:solidFill>
          <a:ln/>
        </p:spPr>
        <p:txBody>
          <a:bodyPr/>
          <a:lstStyle/>
          <a:p>
            <a:endParaRPr lang="en-US"/>
          </a:p>
        </p:txBody>
      </p:sp>
      <p:sp>
        <p:nvSpPr>
          <p:cNvPr id="13" name="Text 11"/>
          <p:cNvSpPr/>
          <p:nvPr/>
        </p:nvSpPr>
        <p:spPr>
          <a:xfrm>
            <a:off x="425196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US.38:</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Ordinary Americans buried in debt and margin loans, who lost savings, homes, and jobs when the market crashed in 1929.</a:t>
            </a:r>
            <a:endParaRPr lang="en-US" sz="1200" dirty="0"/>
          </a:p>
        </p:txBody>
      </p:sp>
      <p:sp>
        <p:nvSpPr>
          <p:cNvPr id="17" name="Shape 15"/>
          <p:cNvSpPr/>
          <p:nvPr/>
        </p:nvSpPr>
        <p:spPr>
          <a:xfrm>
            <a:off x="8046720" y="1783080"/>
            <a:ext cx="3566160" cy="4206240"/>
          </a:xfrm>
          <a:prstGeom prst="rect">
            <a:avLst/>
          </a:prstGeom>
          <a:solidFill>
            <a:srgbClr val="FFFFFF"/>
          </a:solidFill>
          <a:ln/>
        </p:spPr>
        <p:txBody>
          <a:bodyPr/>
          <a:lstStyle/>
          <a:p>
            <a:endParaRPr lang="en-US"/>
          </a:p>
        </p:txBody>
      </p:sp>
      <p:sp>
        <p:nvSpPr>
          <p:cNvPr id="18" name="Shape 16"/>
          <p:cNvSpPr/>
          <p:nvPr/>
        </p:nvSpPr>
        <p:spPr>
          <a:xfrm>
            <a:off x="8046720" y="1783080"/>
            <a:ext cx="3566160" cy="548640"/>
          </a:xfrm>
          <a:prstGeom prst="rect">
            <a:avLst/>
          </a:prstGeom>
          <a:solidFill>
            <a:srgbClr val="002858"/>
          </a:solidFill>
          <a:ln/>
        </p:spPr>
        <p:txBody>
          <a:bodyPr/>
          <a:lstStyle/>
          <a:p>
            <a:endParaRPr lang="en-US"/>
          </a:p>
        </p:txBody>
      </p:sp>
      <p:sp>
        <p:nvSpPr>
          <p:cNvPr id="19" name="Text 17"/>
          <p:cNvSpPr/>
          <p:nvPr/>
        </p:nvSpPr>
        <p:spPr>
          <a:xfrm>
            <a:off x="8046720" y="1783080"/>
            <a:ext cx="356616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marL="0" indent="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marL="0" indent="0">
              <a:buNone/>
            </a:pPr>
            <a:r>
              <a:rPr lang="en-US" sz="1000" b="1" dirty="0">
                <a:solidFill>
                  <a:srgbClr val="8A6D1A"/>
                </a:solidFill>
                <a:latin typeface="Trebuchet MS" pitchFamily="34" charset="0"/>
                <a:ea typeface="Trebuchet MS" pitchFamily="34" charset="-122"/>
                <a:cs typeface="Trebuchet MS" pitchFamily="34" charset="-120"/>
              </a:rPr>
              <a:t>US.38:</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marL="0" indent="0">
              <a:buNone/>
            </a:pPr>
            <a:r>
              <a:rPr lang="en-US" sz="1200" dirty="0">
                <a:solidFill>
                  <a:srgbClr val="1F2430"/>
                </a:solidFill>
                <a:latin typeface="Calibri" pitchFamily="34" charset="0"/>
                <a:ea typeface="Calibri" pitchFamily="34" charset="-122"/>
                <a:cs typeface="Calibri" pitchFamily="34" charset="-120"/>
              </a:rPr>
              <a:t>Corporations extending credit, advertisers driving demand, and brokers enabling margin buying — with little government regulation.</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marL="0" indent="0">
              <a:buNone/>
            </a:pPr>
            <a:r>
              <a:rPr lang="en-US" sz="1000" i="1" dirty="0">
                <a:solidFill>
                  <a:srgbClr val="C7D4E0"/>
                </a:solidFill>
                <a:latin typeface="Trebuchet MS" pitchFamily="34" charset="0"/>
                <a:ea typeface="Trebuchet MS" pitchFamily="34" charset="-122"/>
                <a:cs typeface="Trebuchet MS" pitchFamily="34" charset="-120"/>
              </a:rPr>
              <a:t>Anchor: General Motors Installment Plan Advertisement (GMAC), 1926 (archive)</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marL="0" indent="0" algn="l">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marL="0" indent="0" algn="r">
              <a:buNone/>
            </a:pPr>
            <a:r>
              <a:rPr lang="en-US" sz="900" dirty="0">
                <a:solidFill>
                  <a:srgbClr val="C7D4E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640080"/>
            <a:ext cx="10972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This Deck Works</a:t>
            </a:r>
            <a:endParaRPr lang="en-US" sz="3800" dirty="0"/>
          </a:p>
        </p:txBody>
      </p:sp>
      <p:sp>
        <p:nvSpPr>
          <p:cNvPr id="3" name="Text 1"/>
          <p:cNvSpPr/>
          <p:nvPr/>
        </p:nvSpPr>
        <p:spPr>
          <a:xfrm>
            <a:off x="566928" y="1371600"/>
            <a:ext cx="10972800" cy="365760"/>
          </a:xfrm>
          <a:prstGeom prst="rect">
            <a:avLst/>
          </a:prstGeom>
          <a:noFill/>
          <a:ln/>
        </p:spPr>
        <p:txBody>
          <a:bodyPr wrap="square" lIns="0" tIns="0" rIns="0" bIns="0" rtlCol="0" anchor="ctr"/>
          <a:lstStyle/>
          <a:p>
            <a:pPr indent="0" marL="0">
              <a:buNone/>
            </a:pPr>
            <a:r>
              <a:rPr lang="en-US" sz="1600" i="1" dirty="0">
                <a:solidFill>
                  <a:srgbClr val="C89B3C"/>
                </a:solidFill>
                <a:latin typeface="Arial" pitchFamily="34" charset="0"/>
                <a:ea typeface="Arial" pitchFamily="34" charset="-122"/>
                <a:cs typeface="Arial" pitchFamily="34" charset="-120"/>
              </a:rPr>
              <a:t>Universal Design for Learning · Multi-Tiered System of Supports</a:t>
            </a:r>
            <a:endParaRPr lang="en-US" sz="1600" dirty="0"/>
          </a:p>
        </p:txBody>
      </p:sp>
      <p:sp>
        <p:nvSpPr>
          <p:cNvPr id="4" name="Text 2"/>
          <p:cNvSpPr/>
          <p:nvPr/>
        </p:nvSpPr>
        <p:spPr>
          <a:xfrm>
            <a:off x="548640" y="1847088"/>
            <a:ext cx="3657600" cy="292608"/>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EVERY LEARNER  ·  SAME FIRM GOAL</a:t>
            </a:r>
            <a:endParaRPr lang="en-US" sz="1100" dirty="0"/>
          </a:p>
        </p:txBody>
      </p:sp>
      <p:sp>
        <p:nvSpPr>
          <p:cNvPr id="5" name="Shape 3"/>
          <p:cNvSpPr/>
          <p:nvPr/>
        </p:nvSpPr>
        <p:spPr>
          <a:xfrm>
            <a:off x="548640" y="2148840"/>
            <a:ext cx="3566160" cy="2926080"/>
          </a:xfrm>
          <a:prstGeom prst="rect">
            <a:avLst/>
          </a:prstGeom>
          <a:solidFill>
            <a:srgbClr val="1E2C4C"/>
          </a:solidFill>
          <a:ln w="12700">
            <a:solidFill>
              <a:srgbClr val="C89B3C"/>
            </a:solidFill>
            <a:prstDash val="solid"/>
          </a:ln>
        </p:spPr>
      </p:sp>
      <p:sp>
        <p:nvSpPr>
          <p:cNvPr id="6" name="Text 4"/>
          <p:cNvSpPr/>
          <p:nvPr/>
        </p:nvSpPr>
        <p:spPr>
          <a:xfrm>
            <a:off x="777240"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in</a:t>
            </a:r>
            <a:endParaRPr lang="en-US" sz="1900" dirty="0"/>
          </a:p>
        </p:txBody>
      </p:sp>
      <p:sp>
        <p:nvSpPr>
          <p:cNvPr id="7" name="Text 5"/>
          <p:cNvSpPr/>
          <p:nvPr/>
        </p:nvSpPr>
        <p:spPr>
          <a:xfrm>
            <a:off x="777240"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Every lesson opens with a real question and a clear “I can” goal, so you know why it matters and where you’re headed.</a:t>
            </a:r>
            <a:endParaRPr lang="en-US" sz="1350" dirty="0"/>
          </a:p>
        </p:txBody>
      </p:sp>
      <p:sp>
        <p:nvSpPr>
          <p:cNvPr id="8" name="Shape 6"/>
          <p:cNvSpPr/>
          <p:nvPr/>
        </p:nvSpPr>
        <p:spPr>
          <a:xfrm>
            <a:off x="4315968" y="2148840"/>
            <a:ext cx="3566160" cy="2926080"/>
          </a:xfrm>
          <a:prstGeom prst="rect">
            <a:avLst/>
          </a:prstGeom>
          <a:solidFill>
            <a:srgbClr val="1E2C4C"/>
          </a:solidFill>
          <a:ln w="12700">
            <a:solidFill>
              <a:srgbClr val="C89B3C"/>
            </a:solidFill>
            <a:prstDash val="solid"/>
          </a:ln>
        </p:spPr>
      </p:sp>
      <p:sp>
        <p:nvSpPr>
          <p:cNvPr id="9" name="Text 7"/>
          <p:cNvSpPr/>
          <p:nvPr/>
        </p:nvSpPr>
        <p:spPr>
          <a:xfrm>
            <a:off x="4544568"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see it</a:t>
            </a:r>
            <a:endParaRPr lang="en-US" sz="1900" dirty="0"/>
          </a:p>
        </p:txBody>
      </p:sp>
      <p:sp>
        <p:nvSpPr>
          <p:cNvPr id="10" name="Text 8"/>
          <p:cNvSpPr/>
          <p:nvPr/>
        </p:nvSpPr>
        <p:spPr>
          <a:xfrm>
            <a:off x="4544568"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Direct instruction, primary sources, maps, and bilingual key vocabulary — the same ideas shown more than one way.</a:t>
            </a:r>
            <a:endParaRPr lang="en-US" sz="1350" dirty="0"/>
          </a:p>
        </p:txBody>
      </p:sp>
      <p:sp>
        <p:nvSpPr>
          <p:cNvPr id="11" name="Shape 9"/>
          <p:cNvSpPr/>
          <p:nvPr/>
        </p:nvSpPr>
        <p:spPr>
          <a:xfrm>
            <a:off x="8083296" y="2148840"/>
            <a:ext cx="3566160" cy="2926080"/>
          </a:xfrm>
          <a:prstGeom prst="rect">
            <a:avLst/>
          </a:prstGeom>
          <a:solidFill>
            <a:srgbClr val="1E2C4C"/>
          </a:solidFill>
          <a:ln w="12700">
            <a:solidFill>
              <a:srgbClr val="C89B3C"/>
            </a:solidFill>
            <a:prstDash val="solid"/>
          </a:ln>
        </p:spPr>
      </p:sp>
      <p:sp>
        <p:nvSpPr>
          <p:cNvPr id="12" name="Text 10"/>
          <p:cNvSpPr/>
          <p:nvPr/>
        </p:nvSpPr>
        <p:spPr>
          <a:xfrm>
            <a:off x="8311896"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show it</a:t>
            </a:r>
            <a:endParaRPr lang="en-US" sz="1900" dirty="0"/>
          </a:p>
        </p:txBody>
      </p:sp>
      <p:sp>
        <p:nvSpPr>
          <p:cNvPr id="13" name="Text 11"/>
          <p:cNvSpPr/>
          <p:nvPr/>
        </p:nvSpPr>
        <p:spPr>
          <a:xfrm>
            <a:off x="8311896"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Model-with-me, sentence frames, and choices in how you respond — you reach the same goal by the route that works for you.</a:t>
            </a:r>
            <a:endParaRPr lang="en-US" sz="1350" dirty="0"/>
          </a:p>
        </p:txBody>
      </p:sp>
      <p:sp>
        <p:nvSpPr>
          <p:cNvPr id="14" name="Text 12"/>
          <p:cNvSpPr/>
          <p:nvPr/>
        </p:nvSpPr>
        <p:spPr>
          <a:xfrm>
            <a:off x="548640" y="5394960"/>
            <a:ext cx="11064240" cy="640080"/>
          </a:xfrm>
          <a:prstGeom prst="rect">
            <a:avLst/>
          </a:prstGeom>
          <a:solidFill>
            <a:srgbClr val="1E2C4C"/>
          </a:solidFill>
          <a:ln/>
        </p:spPr>
        <p:txBody>
          <a:bodyPr wrap="square" lIns="76200" tIns="76200" rIns="76200" bIns="7620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Your teacher checks your progress along the way and gives you another path if you need one — </a:t>
            </a:r>
            <a:pPr algn="ctr" indent="0" marL="0">
              <a:buNone/>
            </a:pPr>
            <a:r>
              <a:rPr lang="en-US" sz="1400" b="1" i="1" dirty="0">
                <a:solidFill>
                  <a:srgbClr val="FF6B7A"/>
                </a:solidFill>
                <a:latin typeface="Arial" pitchFamily="34" charset="0"/>
                <a:ea typeface="Arial" pitchFamily="34" charset="-122"/>
                <a:cs typeface="Arial" pitchFamily="34" charset="-120"/>
              </a:rPr>
              <a:t>the goal never lowers.</a:t>
            </a:r>
            <a:endParaRPr lang="en-US" sz="1400" dirty="0"/>
          </a:p>
        </p:txBody>
      </p:sp>
      <p:sp>
        <p:nvSpPr>
          <p:cNvPr id="15" name="Text 13"/>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16" name="Text 1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Great Migration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Gran Migración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mass movement of over 6 million African Americans from the rural South to urban areas in the North and Midwest between 1916 and 1970, driven by economic opportunity and escape from Jim Crow segregation.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First Red Scare</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Primer Susto Rojo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period of intense fear of communism and radical political activity following World War I (1919-1920), leading to deportations, arrests, and violations of civil liberties.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Radio Broadcasting</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Radiodifusión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transmission of audio content over radio waves that revolutionized communication in the 1920s, creating mass media, national advertising, and shared popular culture.</a:t>
            </a:r>
            <a:endParaRPr lang="en-US" sz="1300" dirty="0"/>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Radio Broadcasting</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Radiodifusión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transmission of audio content over radio waves that revolutionized communication in the 1920s, creating mass media, national advertising, and shared popular culture.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Motion Pictures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Imágenes en Movimiento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Silent and "talkie" films that became America's most popular entertainment in the 1920s, creating celebrity culture and Hollywood as the film capital of the world.</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Commercial Aviation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Aviación Comercial</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development of airplane technology and air travel in the 1920s, highlighted by Charles Lindbergh's 1927 solo transatlantic flight, which captured public imagination and demonstrated aviation's potential.</a:t>
            </a:r>
            <a:endParaRPr lang="en-US" sz="1300" dirty="0"/>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Grand Ole Opry</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Grand Ole Opry</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weekly country music radio show that began in Nashville in 1925, becoming the longest-running radio broadcast in U.S. history and establishing Nashville as country music's capital.</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W.C. Handy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W.C. Handy</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Known as the "Father of the Blues," a musician and composer who published the first blues compositions and helped bring blues music from rural areas to mainstream audiences.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Bessie Smith</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Bessie Smith</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"Empress of the Blues," the most popular female blues singer of the 1920s whose powerful voice and emotional performances influenced generations of musicians.</a:t>
            </a:r>
            <a:endParaRPr lang="en-US" sz="1300" dirty="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Commercial Aviation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Aviación Comercial</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development of airplane technology and air travel in the 1920s, highlighted by Charles Lindbergh's 1927 solo transatlantic flight, which captured public imagination and demonstrated aviation's potential.</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Electrification</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Electrificación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spread of electrical power throughout America in the 1920s, transforming daily life with electric appliances, lighting, and machinery in homes and factories.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Automobile Impact</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Impacto del Automóvil</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widespread adoption of cars in the 1920s transformed American society, creating suburbs, highways, tourism, and related industries like gas stations, motels, and drive-in restaurants.</a:t>
            </a:r>
            <a:endParaRPr lang="en-US" sz="1300" dirty="0"/>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Henry Ford</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Henry Ford</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Automobile manufacturer who revolutionized production with the assembly line, making the Model T affordable for average Americans and transforming society.</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Assembly Line</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Línea de Ensamblaje</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manufacturing method where workers remain stationary while products move past them on a conveyor belt, with each worker performing one specific task, dramatically increasing efficiency.</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Automobile Impact</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Impacto del Automóvil</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widespread adoption of cars in the 1920s transformed American society, creating suburbs, highways, tourism, and related industries like gas stations, motels, and drive-in restaurants.</a:t>
            </a:r>
            <a:endParaRPr lang="en-US" sz="1300" dirty="0"/>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Harlem Renaissance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Renacimiento de Harlem</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1920s cultural movement centered in Harlem, New York, where African American artists, writers, musicians, and intellectuals celebrated Black culture and identity through art, literature, and music.</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Louis Armstrong</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Louis Armstrong</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revolutionary jazz trumpeter and singer from New Orleans who became one of the most influential musicians of the 20th century, pioneering improvisational jazz and scat singing.</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Duke Ellington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Duke Ellington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prolific jazz composer, pianist, and bandleader who led his orchestra for nearly 50 years, creating sophisticated jazz compositions that elevated the genre to high art.</a:t>
            </a:r>
            <a:endParaRPr lang="en-US" sz="1300" dirty="0"/>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Flappers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Flappers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Young women in the 1920s who challenged traditional gender norms by wearing short skirts and bobbed hair, dancing, drinking, smoking, and asserting independence.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Birth Control Movement</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de Control de Natalidad</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Led by Margaret Sanger, the campaign to legalize contraception and provide women reproductive choice, facing opposition from religious and conservative groups.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Women in the Workforce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Mujeres en la Fuerza Laboral</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1920s saw increased female employment in clerical and office jobs, though women still faced discrimination, lower wages, and were often expected to leave work upon marriage.</a:t>
            </a:r>
            <a:endParaRPr lang="en-US" sz="1300"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First Red Scare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Primer Susto Rojo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period of intense fear of communism and radical political activity following World War I (1919-1920), leading to deportations, arrests, and violations of civil liberties.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Immigration Quota Acts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Leyes de Cuotas de Inmigración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1921 and 1924 laws that drastically limited immigration, especially from Southern and Eastern Europe, Asia, and Africa, based on racist national origins formulas.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KKK Resurgence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Resurgimiento del KKK</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Ku Klux Klan's revival in the 1920s, expanding beyond the South to target not just African Americans but also Catholics, Jews, immigrants, and others, reaching 4-5 million members.</a:t>
            </a:r>
            <a:endParaRPr lang="en-US" sz="1300"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Scopes Trial</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Juicio de Scopes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1925 "Monkey Trial" in Dayton, Tennessee, where teacher John Scopes was prosecuted for teaching evolution, symbolizing the clash between modernism and fundamentalism.</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Fundamentalism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Fundamentalismo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religious movement emphasizing literal interpretation of the Bible, traditional values, and opposition to modernist ideas like evolution, gaining strength in the 1920s.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Modernism</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Modernismo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cultural movement embracing science, reason, and social change, including acceptance of evolution, urban lifestyles, and challenges to traditional religious and moral values.</a:t>
            </a:r>
            <a:endParaRPr lang="en-US" sz="1300"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Prohibition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Prohibición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nationwide constitutional ban on the manufacture, sale, and transport of alcoholic beverages, in effect from 1920 to 1933 under the 18th Amendment.</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Organized Crime</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Crimen Organizado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Structured criminal enterprises that expanded dramatically during Prohibition by controlling the illegal liquor trade, led by figures such as Al Capone in Chicago.</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Bootlegging</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Contrabando de Alcohol</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illegal production, smuggling, and distribution of alcohol during Prohibition.</a:t>
            </a:r>
            <a:endParaRPr lang="en-US" sz="1300" dirty="0"/>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Buying on Credit</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Compra a Crédito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practice of purchasing goods with borrowed money repaid over time in installments, which fueled 1920s consumer spending.</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Consumerism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Consumismo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culture of increased purchasing of consumer goods, driven in the 1920s by mass production, national advertising, and installment credit.</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Stock Speculation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Especulación Bursátil</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practice of buying stocks - frequently on margin with borrowed money - in the hope of selling at a higher price for quick profit.</a:t>
            </a:r>
            <a:endParaRPr lang="en-US" sz="1300" dirty="0"/>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social and cultural changes occurred in both Southern communities that lost population and Northern cities that gained it?</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Southern communities lost population and economic vitality while Northern cities saw neighborhood formation, business district growth, cultural flowering like the Harlem Renaissance, but also new racial tensions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Neither region experienced significant changes, but contemporary accounts suggest a different explanation, though this interpretation lacks supporting historical evidence, although this overlooks critical economic and social factors involved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Northern cities experienced changes, yet the available evidence points to a different conclusion, which contradicts the primary source evidence from this era despite the fact that multiple contemporary sources contradict this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Southern communities grew stronger after migration, although historical sources do not support this conclusion and oversimplifies the complex factors at work during this period, though this interpretation lacks supporting historical evidence</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mass media in the 1920s created modern American popular culture and consumer society.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Mass media had no impact on consumption patterns, which does not reflect the consensus among historians, although historical sources do not support this conclusion</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Radio and film advertising promoted consumer products to millions, celebrities modeled lifestyles and endorsed products, and shared entertainment created national markets for standardized goods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Consumer culture existed before mass media, although historical sources do not support this conclusion, though this interpretation lacks supporting historical evidence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wealthy Americans participated in consumer culture, although this overlooks critical economic and social factors, which does not align with the documented historical record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country and blues music reflected and influenced American cultural values and regional identity.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Music had no connection to cultural values, which represents a common misconception about the period, but the historical evidence paints a more nuanced picture and oversimplifies the complex factors at work during this period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wealthy Americans appreciated these genres, although historical sources do not support this conclusion, though this interpretation lacks supporting historical evidence and oversimplifies the complex factors at work during this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Country celebrated rural, traditional, and religious values while blues expressed resilience and emotional depth; both preserved regional heritage, provided cultural identity for marginalized communities, and influenced mainstream American music</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Country and blues had identical cultural messages, which does not reflect the consensus among historians and oversimplifies the complex factors at work during this period despite the fact that multiple contemporary sources contradict this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whether technological innovations of the 1920s improved quality of life for all Americans or primarily benefited certain groups.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All Americans benefited equally from new technologies, but this fails to account for the broader historical context when examined alongside the available primary and secondary sources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Technology only benefited the wealthy, despite the fact that multiple sources contradict this view, although historical sources do not support this conclusion</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Rural Americans benefited more than urban residents, which does not align with the documented historical record, although historical sources do not support this conclusion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Urban, middle-class Americans benefited most from electricity and appliances, while rural areas lacked electrification and many workers faced job displacement from mechanization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whether Ford's contributions to American economy and society were more positive or negative overall.</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Ford's innovations brought affordable transportation, higher wages, and economic growth, but also repetitive assembly work, anti-union policies, and American dependence on fossil fuels and automobile infrastructure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Ford's contributions were entirely positive, yet the available evidence points to a different conclusion, but closer analysis reveals a more complicated historical reality, although historical sources do not support this conclusion</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Ford's contributions were entirely negative, but this oversimplifies the complex factors at work, although this overlooks critical economic and social factors involved, which ignores significant political and cultural developments of the era</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Ford had no significant impact on American society, yet the available evidence points to a different conclusion, but the historical evidence paints a more nuanced picture despite the fact that multiple contemporary sources contradict this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the Harlem Renaissance challenged racial stereotypes and influenced American culture beyond the 1920s.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Renaissance had no lasting cultural impact, though this interpretation lacks supporting historical evidence and does not reflect the scholarly consensus on this topic, though this interpretation lacks supporting historical evidence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Renaissance demonstrated African American intellectual and artistic capabilities, challenged stereotypes through achievement, established jazz as American art, influenced the Civil Rights Movement, and continues to inspire artists today</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Renaissance ended racism in America, although this overlooks critical economic and social factors, although this overlooks critical economic and social factors involved, although historical sources do not support this conclusion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Its influence was limited to Harlem, although this overlooks critical economic and social factors, but contemporary accounts and primary sources suggest otherwise, which contradicts the primary source evidence from this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whether the social and economic changes of the 1920s fundamentally improved women's status or were primarily superficial.</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Changes completely transformed women's status, although historical sources do not support this conclusion, although this overlooks critical economic and social factors involved, which does not align with the documented historical record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No meaningful changes occurred for women, although historical sources do not support this conclusion and does not reflect the scholarly consensus on this topic, which does not align with the documented historical record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While voting rights, education access, and work opportunities expanded, persistent pay inequality, limited advancement, marriage bars, and traditional expectations meant fundamental gender inequality continued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rural women experienced significant changes, although this overlooks critical economic and social factors, but contemporary accounts and primary sources suggest otherwise and fails to account for key developments in the broader context</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Compare the different approaches of Ida B. Wells, Marcus Garvey, and the NAACP in fighting for African American rights.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All three used identical approaches, which does not align with the documented historical record, but contemporary accounts and primary sources suggest otherwise and does not reflect the scholarly consensus on this topic, which does not align with the documented historical record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None of these figures had significant impact, but this oversimplifies the complex factors at work, which does not align with the documented historical record, but contemporary accounts and primary sources suggest otherwise, which represents a common misconception about this historical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all opposed civil rights, but this oversimplifies the complex factors at work when examined alongside the available primary and secondary sources, which represents a common misconception about this historical period and fails to account for key developments in the broader context</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Wells used investigative journalism to expose lynching; Garvey promoted Black nationalism, economic self-sufficiency, and separatism; NAACP pursued integration through legal challenges—representing diverse strategies from documentation to separation to integration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the confrontation between William Jennings Bryan and Clarence Darrow symbolize broader cultural conflicts in 1920s America?</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Bryan represented traditional, rural, religious America defending Biblical authority while Darrow represented modern, urban, secular America promoting scientific thinking—symbolizing the era's urban-rural and tradition-modernity divides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Bryan and Darrow had similar viewpoints, which ignores key developments that shaped the outcome and oversimplifies the complex factors at work during this period despite the fact that multiple contemporary sources contradict this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confrontation was purely legal, not cultural, but the historical record tells a more complex story, though this interpretation lacks supporting historical evidence, but contemporary accounts and primary sources suggest otherwise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Neither figure was significant to the trial, although this overlooks critical economic and social factors, which does not align with the documented historical record, and this view has been largely revised by modern historical research</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whether Prohibition caused more harm than good to American society.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Prohibition was clearly beneficial overall, despite the fact that multiple sources contradict this view, although this overlooks critical economic and social factors involved, which represents a common misconception about this historical period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Prohibition created organized crime, caused deaths from poisonous alcohol, corrupted officials, overwhelmed law enforcement, and undermined respect for law while failing to stop drinking—its harms far outweighed any benefits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Prohibition had no significant effects, which represents a common misconception about the period, which contradicts the primary source evidence from this era, though this interpretation lacks supporting historical evidence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Prohibition successfully reduced alcohol consumption, though this interpretation lacks supporting historical evidence, though this interpretation lacks supporting historical evidence, and this view has been largely revised by modern historical research</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US.38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credit expansion, consumerism, and speculation worked together to create both prosperity and economic vulnerability.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These factors were unrelated, although this overlooks critical economic and social factors, but the historical evidence paints a more nuanced picture and oversimplifies the complex factors at work during this period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These factors created only prosperity, not vulnerability, but the historical record tells a more complex story and fails to account for key developments in the broader context, although historical sources do not support this conclusion</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Credit enabled consumption and speculation, which drove production and stock prices higher, encouraging more lending in a cycle that created apparent prosperity while building unsustainable debt and inflated asset values that would collapse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Economic vulnerability came from foreign sources, which ignores key developments that shaped the outcome and does not reflect the scholarly consensus on this topic, which does not align with the documented historical record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7202</Words>
  <Application>Microsoft Office PowerPoint</Application>
  <PresentationFormat>Widescreen</PresentationFormat>
  <Paragraphs>748</Paragraphs>
  <Slides>66</Slides>
  <Notes>66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Arial</vt:lpstr>
      <vt:lpstr>Calibri</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4 — The 1920s (US.28–US.38)</dc:subject>
  <dc:creator>TroopToTeacher Technologies LLC</dc:creator>
  <cp:lastModifiedBy>sean reynolds</cp:lastModifiedBy>
  <cp:revision>2</cp:revision>
  <dcterms:created xsi:type="dcterms:W3CDTF">2026-07-01T23:24:43Z</dcterms:created>
  <dcterms:modified xsi:type="dcterms:W3CDTF">2026-07-28T16:55:27Z</dcterms:modified>
</cp:coreProperties>
</file>
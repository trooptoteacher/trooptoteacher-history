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3"/>
  </p:notesMasterIdLst>
  <p:sldIdLst>
    <p:sldId id="256" r:id="rId2"/>
    <p:sldId id="257" r:id="rId3"/>
    <p:sldId id="258" r:id="rId4"/>
    <p:sldId id="259" r:id="rId5"/>
    <p:sldId id="447" r:id="rId198"/>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448" r:id="rId199"/>
    <p:sldId id="459" r:id="rId210"/>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449" r:id="rId200"/>
    <p:sldId id="460" r:id="rId211"/>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450" r:id="rId201"/>
    <p:sldId id="461" r:id="rId212"/>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451" r:id="rId202"/>
    <p:sldId id="462" r:id="rId21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452" r:id="rId203"/>
    <p:sldId id="463" r:id="rId214"/>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453" r:id="rId204"/>
    <p:sldId id="464" r:id="rId215"/>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454" r:id="rId205"/>
    <p:sldId id="465" r:id="rId216"/>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455" r:id="rId206"/>
    <p:sldId id="466" r:id="rId217"/>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56" r:id="rId207"/>
    <p:sldId id="467" r:id="rId21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57" r:id="rId208"/>
    <p:sldId id="468" r:id="rId219"/>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58" r:id="rId209"/>
    <p:sldId id="469" r:id="rId2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3" autoAdjust="0"/>
    <p:restoredTop sz="94610"/>
  </p:normalViewPr>
  <p:slideViewPr>
    <p:cSldViewPr snapToGrid="0" snapToObjects="1">
      <p:cViewPr>
        <p:scale>
          <a:sx n="119" d="100"/>
          <a:sy n="119" d="100"/>
        </p:scale>
        <p:origin x="10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notesMaster" Target="notesMasters/notesMaster1.xml"/><Relationship Id="rId194" Type="http://schemas.openxmlformats.org/officeDocument/2006/relationships/presProps" Target="presProps.xml"/><Relationship Id="rId195" Type="http://schemas.openxmlformats.org/officeDocument/2006/relationships/viewProps" Target="viewProps.xml"/><Relationship Id="rId196" Type="http://schemas.openxmlformats.org/officeDocument/2006/relationships/theme" Target="theme/theme1.xml"/><Relationship Id="rId197" Type="http://schemas.openxmlformats.org/officeDocument/2006/relationships/tableStyles" Target="tableStyles.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0384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4 TCAP EOC lecture deck. Each standard runs as a full lesson: divider (standard + I Can), hook, direct instruction with a verified primary-source image, key figures, vocabulary, a student activity (paired to a printable worksheet), a TCAP-style check (question slide, then click to the reveal/answer-key slide), and a wrap-up with a teacher answer key in the speaker notes. All images are public-domain, captioned, and linked to the Library of Congress / National Archives.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 ringer (5 min). New in the 1920s: radio, movies with sound, mass-produced cars, commercial aviation, jazz and the Harlem Renaissance, flappers and new roles for women, buying on credit. Warning signs / why it ended: economy built on debt and stock speculation, uneven prosperity (farmers and rural areas left behind), Prohibition breeding organized crime, and rising fear/intolerance (Red Scare, KKK, immigration quotas). Collect lists; revisit on the closing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(US.28). Cold-call or whiteboards, 3-4 min, low stakes. Answers — 1) World War I and its aftermath (roughly 1898-1920), which ended with the U.S. rejecting the Treaty of Versailles and the League of Nations and turning inward.  2) How did the 1920s transform American society, culture, technology, and economics, and why did that prosperity end in crisis?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(US.28, DOK 1). 60-90 seconds. Have EVERY student commit (thumbs / whiteboard / choral) before revealing — this secures an early win and surfaces who is shaky before new content. Answer: The movement of about six million Black Americans from the rural South to Northern and Midwestern cities in the early 20th century. Key term to listen for: Great Migration. This is the low-floor entry; the graded Check for Understanding later in the standard rises to DOK 2–3.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(US.28).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(US.28). Open with the migrant family photo and ask: what would make a family leave everything they know and move a thousand miles north? Teach in small steps; pause and check for understanding before the next chunk (aim 80%+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(Anonymous Southern Migrant) WHEN? (1917) WHY does that matter? (Consider the author's purpose and audience before reading the words.) Only then move to the ANALYZE question. Suggested answer: The writer describes being "counted no more than a dog" and calls the South "this cursed place," revealing dehumanization as a key push factor. Practice skill: Close Reading.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(US.28). Skill modeled: Distinguish push vs. pull factors. Model the worked example aloud using the THINK ALOUD as your script, then release students to the activity ("With a partner, decide whether push or pull mattered more, and cite one line as proof."). This is the I Do → We Do → You Do bridge — do not skip it; aim for 80%+ success before independent work.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US.28. Pair with the printable: cornell-notes/unit-4/us28-great-migration.pdf. Timing: 15. Deliverable: Completed push/pull chart (3+ factors per column) AND a one-sentence, evidence-based claim about which mattered more.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(US.28, DOK 2). Have students commit to an answer (whiteboards, hand signal, or turn-and-talk) BEFORE advancing. Correct answer: B. The next slide reveals it. Why: The report identifies three causes: war creating labor demand, boll weevil destroying crops, and "social conditions of the Negro in the South."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(US.28). Correct: B. The report identifies three causes: war creating labor demand, boll weevil destroying crops, and "social conditions of the Negro in the South."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(US.28, DOK 2). Prompt: Explain how push factors and pull factors together drove the Great Migration. Which do you think mattered more, and why?  Model answer: Push factors drove people out of the South: Jim Crow segregation, racial violence, and the poverty of sharecropping. Pull factors drew them North: factory jobs (especially during WWI), higher wages, and greater personal freedom. Many historians argue push and pull worked together, but the wartime demand for Northern factory labor created the concrete opportunity that turned a wish to leave into an actual move.  RETEACH TRIGGER — if a student misses this exit ticket: (1) &lt;50% of class miss → spiral it into the next standard’s Quick Review opener (see the US.28 review prompts). (2) Individual/small group → reteach with the "Push Factors: Reasons to Leave the South" direct-instruction slide + re-run the SOURCE IT FIRST routine on the US.28 primary source, then assign the paired printable: cornell-notes/unit-4/us28-great-migration.pdf. (3) Re-assess with the US.28 check-for-understanding reveal slide as a do-now the next day. Reteach anchors (this standard’s sections): Push Factors: Reasons to Leave the South; Pull Factors: Attractions of the North; Economic Opportunities Comparison; Social and Cultural Changes; Long-term Implications. I Can objective: I can analyze the impact of the Great Migration of African Americans from the rural South to the industrial regions of the Northeast and Midwest in the post-World War I era.  HONORS / EXTENSION (DOK 3, for early finishers or advanced learners): Evaluate: To what extent did the Great Migration succeed in giving Black Americans the freedom and opportunity they sought? Argue your position with at least two pieces of evidence. (SSP.04) — look for a clear claim plus two specific pieces of evidence.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(US.29). Cold-call or whiteboards, 3-4 min, low stakes. Answers — 1) The movement of roughly six million Black Americans from the rural South to Northern and Midwestern cities between 1916 and 1970, seeking jobs and escaping Jim Crow.  2) Push: Jim Crow laws, violence, and sharecropping poverty in the South. Pull: factory jobs, higher wages, and greater freedom in Northern cities.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(US.29, DOK 1). 60-90 seconds. Have EVERY student commit (thumbs / whiteboard / choral) before revealing — this secures an early win and surfaces who is shaky before new content. Answer: Radio broadcasting, which let millions of Americans hear the same programs at the same time. Key term to listen for: Radio Broadcasting. This is the low-floor entry; the graded Check for Understanding later in the standard rises to DOK 2–3.</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(US.29).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(US.29). Play the idea of one broadcast reaching millions at once and ask how that would change what a whole country talks about. Teach in small steps; pause and check for understanding before the next chunk (aim 80%+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(Photoplay Magazine) WHEN? (1925) WHY does that matter? (Consider the author's purpose and audience before reading the words.) Only then move to the ANALYZE question. Suggested answer: The article describes immigrants, farmers, and society members "sit side by side... laughing at the same jokes, crying at the same sorrows"—creating shared culture. Practice skill: Close Reading.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(US.29). Skill modeled: Analyze cause and effect. Model the worked example aloud using the THINK ALOUD as your script, then release students to the activity ("Explain to a partner one way mass culture changed daily life, using a detail from the text."). This is the I Do → We Do → You Do bridge — do not skip it; aim for 80%+ success before independent work.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US.29. Pair with the printable: cornell-notes/unit-4/us29-radio-movies-culture.pdf. Timing: 12. Deliverable: Completed two-part organizer (3 effects each for radio and film) AND a one-sentence evidence-based claim about mass media.</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(US.29, DOK 1). Have students commit to an answer (whiteboards, hand signal, or turn-and-talk) BEFORE advancing. Correct answer: B. The next slide reveals it. Why: The article describes immigrants, farmers, and society members "sit side by side... laughing at the same jokes, crying at the same sorrows"—creating shared culture.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(US.29). Correct: B. The article describes immigrants, farmers, and society members "sit side by side... laughing at the same jokes, crying at the same sorrows"—creating shared culture.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(US.29, DOK 2). Prompt: Explain how radio and movies created a shared national culture in the 1920s. Give one specific effect of each.  Model answer: Radio let families across the country hear the same news, music, sports, and comedy at the same moment, creating common experiences and a national audience. Movies drew millions to theaters each week and made celebrities like Charlie Chaplin nationally famous, spreading fashions, slang, and values. Together they helped standardize American popular culture across regions.  RETEACH TRIGGER — if a student misses this exit ticket: (1) &lt;50% of class miss → spiral it into the next standard’s Quick Review opener (see the US.29 review prompts). (2) Individual/small group → reteach with the "Radio's Impact on Popular Culture" direct-instruction slide + re-run the SOURCE IT FIRST routine on the US.29 primary source, then assign the paired printable: cornell-notes/unit-4/us29-radio-movies-culture.pdf. (3) Re-assess with the US.29 check-for-understanding reveal slide as a do-now the next day. Reteach anchors (this standard’s sections): Radio's Impact on Popular Culture; Film Industry Growth; Charlie Chaplin (1889-1977); Charles Lindbergh (1902-1974); Babe Ruth (1895-1948). I Can objective: I can describe the growth and effects that radio and movies played in the emergence of popular culture, such as advertising, celebrities, news, and entertainment.  HONORS / EXTENSION (DOK 3, for early finishers or advanced learners): Evaluate: Did the new mass media of the 1920s unite Americans or erase important local and regional differences? Argue your position with evidence. (SSP.04) — look for a clear claim plus two specific pieces of evidence.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(US.30). Cold-call or whiteboards, 3-4 min, low stakes. Answers — 1) It created a shared national culture, letting millions of families hear the same music, news, sports, and entertainment at the same time.  2) In 1927 he made the first solo nonstop flight across the Atlantic, symbolizing courage, individualism, and the promise of new technology.</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(US.30, DOK 1). 60-90 seconds. Have EVERY student commit (thumbs / whiteboard / choral) before revealing — this secures an early win and surfaces who is shaky before new content. Answer: The Grand Ole Opry, first broadcast in 1925. Key term to listen for: Grand Ole Opry. This is the low-floor entry; the graded Check for Understanding later in the standard rises to DOK 2–3.</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(US.30).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(US.30). Lead with the Grand Ole Opry: a Nashville radio show still running today - ask how a local barn dance became a national institution. Teach in small steps; pause and check for understanding before the next chunk (aim 80%+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(W.C. Handy) WHEN? (1941) WHY does that matter? (Consider the author's purpose and audience before reading the words.) Only then move to the ANALYZE question. Suggested answer: Handy states "These were the first blues to be written down and published" and that he "wanted to capture on paper" folk music previously "passed along by ear." Practice skill: Sourcing.</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(US.30). Skill modeled: Trace an idea across sources. Model the worked example aloud using the THINK ALOUD as your script, then release students to the activity ("Name one artist and explain how technology grew that artist's audience."). This is the I Do → We Do → You Do bridge — do not skip it; aim for 80%+ success before independent work.</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US.30. Pair with the printable: cornell-notes/unit-4/us30-blues-country-opry.pdf. Timing: 15. Deliverable: Completed roots-to-industry chart (origin, technology, key figure) AND a one-sentence evidence-based claim.</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(US.30, DOK 2). Have students commit to an answer (whiteboards, hand signal, or turn-and-talk) BEFORE advancing. Correct answer: B. The next slide reveals it. Why: Handy states "These were the first blues to be written down and published" and that he "wanted to capture on paper" folk music previously "passed along by ear."</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(US.30). Correct: B. Handy states "These were the first blues to be written down and published" and that he "wanted to capture on paper" folk music previously "passed along by ear."</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(US.30, DOK 2). Prompt: Explain how blues and country music of the 1920s both grew out of Southern life and became national industries. Use one figure as evidence.  Model answer: Both blues and country grew from the folk traditions of poor Southerners, Black and white. Radio and records turned them into national industries: the Grand Ole Opry broadcast country music from Nashville nationwide, while artists like W.C. Handy published blues songs and Bessie Smith sold millions of records. Technology carried regional Southern music to the whole country.  RETEACH TRIGGER — if a student misses this exit ticket: (1) &lt;50% of class miss → spiral it into the next standard’s Quick Review opener (see the US.30 review prompts). (2) Individual/small group → reteach with the "Country Music Roots" direct-instruction slide + re-run the SOURCE IT FIRST routine on the US.30 primary source, then assign the paired printable: cornell-notes/unit-4/us30-blues-country-opry.pdf. (3) Re-assess with the US.30 check-for-understanding reveal slide as a do-now the next day. Reteach anchors (this standard’s sections): Country Music Roots; Blues Music Evolution; The Grand Ole Opry; W.C. Handy (1873-1958): Father of the Blues; Bessie Smith (1894-1937): Empress of the Blues. I Can objective: I can examine how the use of the radio helped grow the popularity of country and blues music, including the rise of the Grand Ole Opry, W.C. Handy, and Bessie Smith.  HONORS / EXTENSION (DOK 3, for early finishers or advanced learners): Evaluate: How much credit should Black musicians like W.C. Handy and Bessie Smith receive for shaping American popular music in the 1920s? Defend your claim with evidence. (SSP.04) — look for a clear claim plus two specific pieces of evidence.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(US.31). Cold-call or whiteboards, 3-4 min, low stakes. Answers — 1) A live country music radio program that began in Nashville, Tennessee, in 1925 and helped make Nashville the center of the country music industry.  2) The 'Father of the Blues,' a composer who helped turn Southern blues music into published, nationally popular songs.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(US.31, DOK 1). 60-90 seconds. Have EVERY student commit (thumbs / whiteboard / choral) before revealing — this secures an early win and surfaces who is shaky before new content. Answer: Charles Lindbergh, in the 'Spirit of St. Louis.' Key term to listen for: Commercial Aviation. This is the low-floor entry; the graded Check for Understanding later in the standard rises to DOK 2–3.</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(US.31).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(US.31). Put Lindbergh's 33-hour solo flight on the board and ask what it would feel like to be the first to cross the ocean alone. Teach in small steps; pause and check for understanding before the next chunk (aim 80%+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(New York Times) WHEN? (May 22, 1927) WHY does that matter? (Consider the author's purpose and audience before reading the words.) Only then move to the ANALYZE question. Suggested answer: The Times calls it "the greatest feat of a solitary man in the records of the human race," showing how aviation captured public imagination. Practice skill: Contextualization.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(US.31). Skill modeled: Evaluate significance of technology. Model the worked example aloud using the THINK ALOUD as your script, then release students to the activity ("Decide which technology was more transformative and defend it with evidence."). This is the I Do → We Do → You Do bridge — do not skip it; aim for 80%+ success before independent work.</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US.31. Pair with the printable: cornell-notes/unit-4/us31-aviation-electricity.pdf. Timing: 12. Deliverable: Completed aviation/electricity T-chart (2+ items per side, rural gaps starred) AND a one-sentence evidence-based claim.</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(US.31, DOK 1). Have students commit to an answer (whiteboards, hand signal, or turn-and-talk) BEFORE advancing. Correct answer: B. The next slide reveals it. Why: The Times calls it "the greatest feat of a solitary man in the records of the human race," showing how aviation captured public imagination.</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(US.31). Correct: B. The Times calls it "the greatest feat of a solitary man in the records of the human race," showing how aviation captured public imagination.</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(US.31, DOK 2). Prompt: Explain how advances in aviation and electricity changed American life in the 1920s. Give one example of each.  Model answer: Aviation advanced from a novelty to a symbol of progress; Lindbergh's 1927 transatlantic flight showed long-distance air travel was possible and thrilled the nation. Electricity spread through cities, powering appliances like refrigerators, washing machines, and radios that reshaped daily home life. Both fed a belief that technology was rapidly improving the American standard of living, though rural areas were left behind.  RETEACH TRIGGER — if a student misses this exit ticket: (1) &lt;50% of class miss → spiral it into the next standard’s Quick Review opener (see the US.31 review prompts). (2) Individual/small group → reteach with the "Early Aviation Development" direct-instruction slide + re-run the SOURCE IT FIRST routine on the US.31 primary source, then assign the paired printable: cornell-notes/unit-4/us31-aviation-electricity.pdf. (3) Re-assess with the US.31 check-for-understanding reveal slide as a do-now the next day. Reteach anchors (this standard’s sections): Early Aviation Development; Aviation's Revolutionary Impact; Spread of Electricity: Urban Transformation; Household and Industrial Transformation; Rural Electrification Gap. I Can objective: I can describe the impact of new technologies of the era, including the advent of air travel and spread of electricity.  HONORS / EXTENSION (DOK 3, for early finishers or advanced learners): Evaluate: Did the technological changes of the 1920s benefit all Americans equally? Use the rural electrification gap as evidence to argue your position. (SSP.04) — look for a clear claim plus two specific pieces of evidence.</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(US.32). Cold-call or whiteboards, 3-4 min, low stakes. Answers — 1) That aviation had advanced enough for long-distance travel, fueling public excitement about airplanes and the future of transportation.  2) Electricity powered new appliances (refrigerators, vacuums, radios) that transformed daily life, though rural areas lagged far behind cities.</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(US.32, DOK 1). 60-90 seconds. Have EVERY student commit (thumbs / whiteboard / choral) before revealing — this secures an early win and surfaces who is shaky before new content. Answer: The moving assembly line, which broke work into small repeated steps. Key term to listen for: Assembly Line. This is the low-floor entry; the graded Check for Understanding later in the standard rises to DOK 2–3.</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(US.32).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(US.32). Ask: how could one factory idea put a car in the driveway of an ordinary worker for the first time? Teach in small steps; pause and check for understanding before the next chunk (aim 80%+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(Henry Ford) WHEN? (January 5, 1914) WHY does that matter? (Consider the author's purpose and audience before reading the words.) Only then move to the ANALYZE question. Suggested answer: Ford announced reducing hours "from nine to eight" while raising pay to "$5 per day"—described as "the greatest revolution... in rewards for its workers." Practice skill: Close Reading.</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(US.32). Skill modeled: Connect production to consumption. Model the worked example aloud using the THINK ALOUD as your script, then release students to the activity ("Explain how the automobile reshaped where and how Americans lived."). This is the I Do → We Do → You Do bridge — do not skip it; aim for 80%+ success before independent work.</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US.32. Pair with the printable: cornell-notes/unit-4/us32-ford-assembly-line.pdf. Timing: 15. Deliverable: Completed cause-and-effect web (4+ effects) AND a one-sentence evidence-based claim about Ford's greatest impact.</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(US.32, DOK 2). Have students commit to an answer (whiteboards, hand signal, or turn-and-talk) BEFORE advancing. Correct answer: B. The next slide reveals it. Why: Ford announced reducing hours "from nine to eight" while raising pay to "$5 per day"—described as "the greatest revolution... in rewards for its workers."</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(US.32). Correct: B. Ford announced reducing hours "from nine to eight" while raising pay to "$5 per day"—described as "the greatest revolution... in rewards for its workers."</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(US.32, DOK 2). Prompt: Explain how Henry Ford's assembly line and $5 day transformed both industry and society in the 1920s.  Model answer: Ford's moving assembly line broke car-making into small repeated steps, slashing the time and cost of production and making the model for mass production across industry. His $5 day cut turnover and let workers afford the cars they built, helping create a consumer middle class. Beyond factories, affordable cars changed where people lived, worked, shopped, and spent leisure time.  RETEACH TRIGGER — if a student misses this exit ticket: (1) &lt;50% of class miss → spiral it into the next standard’s Quick Review opener (see the US.32 review prompts). (2) Individual/small group → reteach with the "Henry Ford's Revolutionary Role" direct-instruction slide + re-run the SOURCE IT FIRST routine on the US.32 primary source, then assign the paired printable: cornell-notes/unit-4/us32-ford-assembly-line.pdf. (3) Re-assess with the US.32 check-for-understanding reveal slide as a do-now the next day. Reteach anchors (this standard’s sections): Henry Ford's Revolutionary Role; Economic Impact on Manufacturing; Impact on Labor Practices; Societal Transformation; Supporting Industries and Infrastructure. I Can objective: I can describe the impact of Henry Ford, the automobile, and the mass production of automobiles on the American economy and society.  HONORS / EXTENSION (DOK 3, for early finishers or advanced learners): Evaluate: Was Henry Ford's greatest impact on the American economy or on American everyday life? Defend your claim with at least two pieces of evidence. (SSP.04) — look for a clear claim plus two specific pieces of evidence.</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(US.33). Cold-call or whiteboards, 3-4 min, low stakes. Answers — 1) It broke production into small repeated steps on a moving line, cutting the time and cost to build a car and making mass production the model for industry.  2) Ford doubled workers' pay to about $5 a day in 1914, reducing turnover and letting his own workers afford the cars they built.</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(US.33, DOK 1). 60-90 seconds. Have EVERY student commit (thumbs / whiteboard / choral) before revealing — this secures an early win and surfaces who is shaky before new content. Answer: A 1920s flowering of African American art, literature, and music centered in Harlem. Key term to listen for: Harlem Renaissance. This is the low-floor entry; the graded Check for Understanding later in the standard rises to DOK 2–3.</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(US.33).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(US.33). Read one Langston Hughes line aloud and ask students what pride sounds like in a poem. Teach in small steps; pause and check for understanding before the next chunk (aim 80%+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(Langston Hughes) WHEN? (1926) WHY does that matter? (Consider the author's purpose and audience before reading the words.) Only then move to the ANALYZE question. Suggested answer: Hughes declares artists will "express our individual dark-skinned selves without fear or shame" regardless of whether white or Black audiences approve. Practice skill: Argumentation.</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(US.33). Skill modeled: Interpret an author's claim. Model the worked example aloud using the THINK ALOUD as your script, then release students to the activity ("Paraphrase the author's argument in one sentence, then cite the line that proves it."). This is the I Do → We Do → You Do bridge — do not skip it; aim for 80%+ success before independent work.</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US.33. Pair with the printable: cornell-notes/unit-4/us33-harlem-renaissance.pdf. Timing: 15. Deliverable: Completed exhibit card (field, contribution, expression of identity) AND a one-sentence evidence-based claim.</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(US.33, DOK 3). Have students commit to an answer (whiteboards, hand signal, or turn-and-talk) BEFORE advancing. Correct answer: B. The next slide reveals it. Why: Hughes declares artists will "express our individual dark-skinned selves without fear or shame" regardless of whether white or Black audiences approve.</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(US.33). Correct: B. Hughes declares artists will "express our individual dark-skinned selves without fear or shame" regardless of whether white or Black audiences approve.</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(US.33, DOK 2). Prompt: Explain what the Harlem Renaissance was and why it mattered to American culture. Use at least two figures as evidence.  Model answer: The Harlem Renaissance was a 1920s explosion of African American literature, music, and art centered in Harlem. Writers like Langston Hughes and Zora Neale Hurston, and musicians like Louis Armstrong and Duke Ellington, celebrated Black identity and experience. It mattered because it asserted that African American culture was central to American culture and influenced music, writing, and art far beyond Harlem.  RETEACH TRIGGER — if a student misses this exit ticket: (1) &lt;50% of class miss → spiral it into the next standard’s Quick Review opener (see the US.33 review prompts). (2) Individual/small group → reteach with the "Historical Context and Characteristics" direct-instruction slide + re-run the SOURCE IT FIRST routine on the US.33 primary source, then assign the paired printable: cornell-notes/unit-4/us33-harlem-renaissance.pdf. (3) Re-assess with the US.33 check-for-understanding reveal slide as a do-now the next day. Reteach anchors (this standard’s sections): Historical Context and Characteristics; Impact on African American Arts; Louis Armstrong (1901-1971); Duke Ellington (1899-1974); Langston Hughes and Zora Neale Hurston. I Can objective: I can analyze the impact of the Harlem Renaissance and its important figures on American culture, including Louis Armstrong, Duke Ellington, Langston Hughes, Zora Neale Hurston, and James Weldon Johnson.  HONORS / EXTENSION (DOK 3, for early finishers or advanced learners): Evaluate: To what extent did the Harlem Renaissance change how Americans viewed Black culture and identity? Argue your position with at least two pieces of evidence. (SSP.04) — look for a clear claim plus two specific pieces of evidence.</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(US.34). Cold-call or whiteboards, 3-4 min, low stakes. Answers — 1) A flourishing of African American literature, music, and art centered in Harlem in the 1920s that celebrated Black identity and culture.  2) Any two of: Langston Hughes, Zora Neale Hurston, Louis Armstrong, Duke Ellington, James Weldon Johnson.</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(US.34, DOK 1). 60-90 seconds. Have EVERY student commit (thumbs / whiteboard / choral) before revealing — this secures an early win and surfaces who is shaky before new content. Answer: Young women of the 1920s who broke with tradition through new fashion, behavior, and independence. Key term to listen for: Flappers. This is the low-floor entry; the graded Check for Understanding later in the standard rises to DOK 2–3.</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(US.34).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(US.34). Show the flapper image with no caption and ask what it suggests about how young women were changing - and what it hides. Teach in small steps; pause and check for understanding before the next chunk (aim 80%+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(Margaret Sanger) WHEN? (1920) WHY does that matter? (Consider the author's purpose and audience before reading the words.) Only then move to the ANALYZE question. Suggested answer: Sanger states "No woman can call herself free who does not own and control her body" or "choose consciously whether she will or will not be a mother." Practice skill: Sourcing.</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(US.34). Skill modeled: Separate image from reality. Model the worked example aloud using the THINK ALOUD as your script, then release students to the activity ("Write one sentence stating whether 1920s change for women was large or limited, with evidence."). This is the I Do → We Do → You Do bridge — do not skip it; aim for 80%+ success before independent work.</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US.34. Pair with the printable: cornell-notes/unit-4/us34-women-1920s.pdf. Timing: 15. Deliverable: Completed change/continuity chart (3+ per column) AND a one-sentence evidence-based claim.</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(US.34, DOK 3). Have students commit to an answer (whiteboards, hand signal, or turn-and-talk) BEFORE advancing. Correct answer: B. The next slide reveals it. Why: Sanger states "No woman can call herself free who does not own and control her body" or "choose consciously whether she will or will not be a mother."</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(US.34). Correct: B. Sanger states "No woman can call herself free who does not own and control her body" or "choose consciously whether she will or will not be a mother."</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(US.34, DOK 2). Prompt: Explain how life changed for American women in the 1920s AND how it stayed the same. Give one example of each.  Model answer: Life changed: women gained the vote (Nineteenth Amendment), more moved into clerical and office jobs, attended women's colleges, and the flapper symbolized new social freedom in dress and behavior. Yet much stayed the same: most women were still expected to marry and manage the home, faced lower pay and limited careers, and the new freedoms were most available to young, urban, often white and middle-class women.  RETEACH TRIGGER — if a student misses this exit ticket: (1) &lt;50% of class miss → spiral it into the next standard’s Quick Review opener (see the US.34 review prompts). (2) Individual/small group → reteach with the "Flappers and Cultural Significance" direct-instruction slide + re-run the SOURCE IT FIRST routine on the US.34 primary source, then assign the paired printable: cornell-notes/unit-4/us34-women-1920s.pdf. (3) Re-assess with the US.34 check-for-understanding reveal slide as a do-now the next day. Reteach anchors (this standard’s sections): Flappers and Cultural Significance; Birth Control and Reproductive Rights; Clerical and Office Jobs; Rise of Women's Colleges; Limitations and Contradictions. I Can objective: I can describe changes and limitations in the social and economic status of women during this era, including flappers, birth control, clerical and office jobs, and the rise of women's colleges.  HONORS / EXTENSION (DOK 3, for early finishers or advanced learners): Evaluate: Did the 1920s represent real liberation for women or mostly a change in style and image? Defend your claim with evidence. (SSP.04) — look for a clear claim plus two specific pieces of evidence.</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(US.35). Cold-call or whiteboards, 3-4 min, low stakes. Answers — 1) Young women of the 1920s who challenged traditional roles with new fashion, behavior, and independence, symbolizing changing social attitudes.  2) The right to vote, guaranteed by the Nineteenth Amendment ratified in 1920.</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(US.35, DOK 1). 60-90 seconds. Have EVERY student commit (thumbs / whiteboard / choral) before revealing — this secures an early win and surfaces who is shaky before new content. Answer: Post-WWI fear of communism and radicalism that led to raids, arrests, and deportations. Key term to listen for: First Red Scare. This is the low-floor entry; the graded Check for Understanding later in the standard rises to DOK 2–3.</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(US.35).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(US.35). Drop two facts side by side - the Klan marching in Washington and the NAACP fighting lynching - and ask how both could be the same decade. Teach in small steps; pause and check for understanding before the next chunk (aim 80%+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(Ida B. Wells-Barnett) WHEN? (1909) WHY does that matter? (Consider the author's purpose and audience before reading the words.) Only then move to the ANALYZE question. Suggested answer: Wells argues "alleged causes... do not explain it" and that lynching is "an excuse to get rid of Negroes who are acquiring wealth and property." Practice skill: Close Reading.</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(US.35). Skill modeled: Weigh advancement vs. backlash. Model the worked example aloud using the THINK ALOUD as your script, then release students to the activity ("Take a side and support it with one advancement and one backlash from the text."). This is the I Do → We Do → You Do bridge — do not skip it; aim for 80%+ success before independent work.</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US.35. Pair with the printable: cornell-notes/unit-4/us35-civil-liberties.pdf. Timing: 15. Deliverable: Completed three-threat organizer (target + method for each) AND a one-sentence evidence-based claim about the cause of 1920s intolerance.</a:t>
            </a:r>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(US.35, DOK 3). Have students commit to an answer (whiteboards, hand signal, or turn-and-talk) BEFORE advancing. Correct answer: A. The next slide reveals it. Why: Wells argues "alleged causes... do not explain it" and that lynching is "an excuse to get rid of Negroes who are acquiring wealth and property."</a:t>
            </a:r>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(US.35). Correct: A. Wells argues "alleged causes... do not explain it" and that lynching is "an excuse to get rid of Negroes who are acquiring wealth and property."</a:t>
            </a:r>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(US.35, DOK 2). Prompt: Explain how the 1920s limited civil liberties even as popular culture celebrated freedom. Give two specific examples.  Model answer: Alongside the era's celebrated freedoms, civil liberties shrank. The First Red Scare produced the Palmer Raids, mass arrests, and deportations of suspected radicals. The Klan revived to over four million members, targeting Black Americans, Catholics, Jews, and immigrants. The Immigration Quota Acts slammed the door on newcomers from Southern and Eastern Europe and Asia. These show the decade's deep tension between openness and fear.  RETEACH TRIGGER — if a student misses this exit ticket: (1) &lt;50% of class miss → spiral it into the next standard’s Quick Review opener (see the US.35 review prompts). (2) Individual/small group → reteach with the "First Red Scare (1919-1920)" direct-instruction slide + re-run the SOURCE IT FIRST routine on the US.35 primary source, then assign the paired printable: cornell-notes/unit-4/us35-civil-liberties.pdf. (3) Re-assess with the US.35 check-for-understanding reveal slide as a do-now the next day. Reteach anchors (this standard’s sections): First Red Scare (1919-1920); Immigration Quota Acts of the 1920s; Resurgence of the Ku Klux Klan; Ida B. Wells (1862-1931); Garveyism and the NAACP. I Can objective: I can examine challenges and advancements related to the push for civil liberties, including the First Red Scare, Immigration Quota Acts, resurgence of the KKK, Black Wall Street and Tulsa Massacre, rise of the NAACP, Ida B. Wells-Barnett, and Garveyism.  HONORS / EXTENSION (DOK 3, for early finishers or advanced learners): Evaluate: What best explains the surge of fear and intolerance in the 1920s, economic anxiety, wartime hostility, or racial and ethnic prejudice? Argue with evidence. (SSP.04) — look for a clear claim plus two specific pieces of evidence.</a:t>
            </a:r>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(US.36). Cold-call or whiteboards, 3-4 min, low stakes. Answers — 1) A wave of fear of communism and radicalism after World War I that led to the Palmer Raids, arrests, and deportations of suspected radicals.  2) They set strict quotas that sharply limited immigration, especially from Southern and Eastern Europe and Asia, favoring Northern Europeans.</a:t>
            </a:r>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(US.36, DOK 1). 60-90 seconds. Have EVERY student commit (thumbs / whiteboard / choral) before revealing — this secures an early win and surfaces who is shaky before new content. Answer: The 1925 Tennessee trial of a teacher for teaching evolution, a clash of religion and science. Key term to listen for: Scopes Trial. This is the low-floor entry; the graded Check for Understanding later in the standard rises to DOK 2–3.</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(US.36).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(US.36). Ask: should a community be allowed to decide what science a teacher may teach? Then reveal it happened in Dayton, Tennessee. Teach in small steps; pause and check for understanding before the next chunk (aim 80%+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(Trial Transcript) WHEN? (1925) WHY does that matter? (Consider the author's purpose and audience before reading the words.) Only then move to the ANALYZE question. Suggested answer: Bryan admitted the "six days" might be "periods" lasting "millions of years"—showing he didn't interpret the Bible entirely literally, undermining the fundamentalist position. Practice skill: Close Reading.</a:t>
            </a:r>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(US.36). Skill modeled: Compare competing arguments. Model the worked example aloud using the THINK ALOUD as your script, then release students to the activity ("State which argument you find stronger and quote one line to support it."). This is the I Do → We Do → You Do bridge — do not skip it; aim for 80%+ success before independent work.</a:t>
            </a:r>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US.36. Pair with the printable: cornell-notes/unit-4/us36-scopes-trial.pdf. Timing: 15. Deliverable: Completed prosecution/defense chart (argument, evidence, goal for schools) AND a one-sentence evidence-based claim.</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(US.36, DOK 3). Have students commit to an answer (whiteboards, hand signal, or turn-and-talk) BEFORE advancing. Correct answer: B. The next slide reveals it. Why: Bryan admitted the "six days" might be "periods" lasting "millions of years"—showing he didn't interpret the Bible entirely literally, undermining the fundamentalist position.</a:t>
            </a:r>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(US.36). Correct: B. Bryan admitted the "six days" might be "periods" lasting "millions of years"—showing he didn't interpret the Bible entirely literally, undermining the fundamentalist position.</a:t>
            </a:r>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(US.36, DOK 2). Prompt: Explain what the Scopes Trial revealed about the divisions in 1920s America. Identify the two sides and what each wanted.  Model answer: The Scopes Trial revealed a clash between fundamentalism and modernism. Fundamentalists, represented by William Jennings Bryan, wanted a literal reading of the Bible protected in schools and backed Tennessee's law banning the teaching of evolution. Modernists, defended by Clarence Darrow, wanted schools free to teach modern science. The trial dramatized the larger battle between rural, traditional values and urban, modern ones.  RETEACH TRIGGER — if a student misses this exit ticket: (1) &lt;50% of class miss → spiral it into the next standard’s Quick Review opener (see the US.36 review prompts). (2) Individual/small group → reteach with the "Major Figures and Their Roles" direct-instruction slide + re-run the SOURCE IT FIRST routine on the US.36 primary source, then assign the paired printable: cornell-notes/unit-4/us36-scopes-trial.pdf. (3) Re-assess with the US.36 check-for-understanding reveal slide as a do-now the next day. Reteach anchors (this standard’s sections): Major Figures and Their Roles; Arguments Against Evolution (Prosecution); Arguments For Evolution (Defense); Trial Outcome and Immediate Impact; Long-term Legacy. I Can objective: I can describe the Scopes Trial of 1925, including the major figures, the two sides of the controversy (fundamentalism and modernism), the outcome, and the legacy.  HONORS / EXTENSION (DOK 3, for early finishers or advanced learners): Evaluate: Did the Scopes Trial settle the conflict between science and religion in public schools, or simply expose it? Defend your claim with evidence. (SSP.04) — look for a clear claim plus two specific pieces of evidence.</a:t>
            </a:r>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(US.37). Cold-call or whiteboards, 3-4 min, low stakes. Answers — 1) A 1925 Tennessee trial of teacher John Scopes for teaching evolution, dramatizing the clash between fundamentalist religion and modern science.  2) Fundamentalists held to a literal reading of the Bible; modernists tried to reconcile religion with new science and changing society.</a:t>
            </a:r>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(US.37, DOK 1). 60-90 seconds. Have EVERY student commit (thumbs / whiteboard / choral) before revealing — this secures an early win and surfaces who is shaky before new content. Answer: The making, selling, and transporting of alcoholic beverages across the United States. Key term to listen for: Prohibition. This is the low-floor entry; the graded Check for Understanding later in the standard rises to DOK 2–3.</a:t>
            </a:r>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(US.37).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(US.37). Ask: if you banned something millions of people wanted, what do you think would happen next? Teach in small steps; pause and check for understanding before the next chunk (aim 80%+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(Al Capone (as quoted in newspaper)) WHEN? (1930) WHY does that matter? (Consider the author's purpose and audience before reading the words.) Only then move to the ANALYZE question. Suggested answer: Capone argues he supplies "a public demand" and that his customers "are as guilty as I am"—he's a "businessman" while wealthy patrons call it "hospitality." Practice skill: Argumentation.</a:t>
            </a:r>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(US.37). Skill modeled: Analyze unintended consequences. Model the worked example aloud using the THINK ALOUD as your script, then release students to the activity ("Explain to a partner why Prohibition was eventually repealed."). This is the I Do → We Do → You Do bridge — do not skip it; aim for 80%+ success before independent work.</a:t>
            </a:r>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US.37. Pair with the printable: cornell-notes/unit-4/us37-prohibition.pdf. Timing: 12. Deliverable: Completed cause-and-effect chain (goals -&gt; effects -&gt; repeal, 4+ links) AND a one-sentence evidence-based claim.</a:t>
            </a:r>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(US.37, DOK 1). Have students commit to an answer (whiteboards, hand signal, or turn-and-talk) BEFORE advancing. Correct answer: B. The next slide reveals it. Why: Capone argues he supplies "a public demand" and that his customers "are as guilty as I am"—he's a "businessman" while wealthy patrons call it "hospitality."</a:t>
            </a:r>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(US.37). Correct: B. Capone argues he supplies "a public demand" and that his customers "are as guilty as I am"—he's a "businessman" while wealthy patrons call it "hospitality."</a:t>
            </a:r>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(US.37, DOK 2). Prompt: Explain why Prohibition was passed and why it ultimately failed. Give one reason for each.  Model answer: Prohibition was passed because reformers believed banning alcohol would reduce crime, poverty, and family violence and improve public morality, and the Eighteenth Amendment wrote that ban into the Constitution. It failed because millions kept drinking, creating a huge illegal market: bootleggers, speakeasies, and powerful organized-crime figures like Al Capone profited, enforcement was impossible, and public respect for the law collapsed, leading to repeal in 1933.  RETEACH TRIGGER — if a student misses this exit ticket: (1) &lt;50% of class miss → spiral it into the next standard’s Quick Review opener (see the US.37 review prompts). (2) Individual/small group → reteach with the "Implementation and Intended Effects" direct-instruction slide + re-run the SOURCE IT FIRST routine on the US.37 primary source, then assign the paired printable: cornell-notes/unit-4/us37-prohibition.pdf. (3) Re-assess with the US.37 check-for-understanding reveal slide as a do-now the next day. Reteach anchors (this standard’s sections): Implementation and Intended Effects; Rise of Organized Crime; Bootlegging Methods and Consequences; Speakeasies and Social Culture; End of Prohibition. I Can objective: I can describe the impacts of Prohibition on American society, including the rise of organized crime, bootlegging, and speakeasies.  HONORS / EXTENSION (DOK 3, for early finishers or advanced learners): Evaluate: Was Prohibition a well-meaning reform undone by human nature, or a doomed overreach of government power from the start? Argue with evidence. (SSP.04) — look for a clear claim plus two specific pieces of evidence.</a:t>
            </a:r>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(US.38). Cold-call or whiteboards, 3-4 min, low stakes. Answers — 1) The Eighteenth Amendment banned the making, selling, and transporting of alcoholic beverages nationwide.  2) The rise of organized crime, bootlegging, and speakeasies, along with widespread disrespect for the law.</a:t>
            </a:r>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(US.38, DOK 1). 60-90 seconds. Have EVERY student commit (thumbs / whiteboard / choral) before revealing — this secures an early win and surfaces who is shaky before new content. Answer: To purchase goods now and pay for them over time in installments, rather than all at once. Key term to listen for: Buying on Credit. This is the low-floor entry; the graded Check for Understanding later in the standard rises to DOK 2–3.</a:t>
            </a:r>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(US.38).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(US.38). Ask: is it smart or dangerous to buy things - and stocks - with money you do not yet have? Teach in small steps; pause and check for understanding before the next chunk (aim 80%+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(General Motors Acceptance Corporation) WHEN? (1926) WHY does that matter? (Consider the author's purpose and audience before reading the words.) Only then move to the ANALYZE question. Suggested answer: The ad promotes buying "NOW and pay for it as you ride" with "A small down payment" and "Easy monthly payments"—credit purchasing. Practice skill: Close Reading.</a:t>
            </a:r>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(US.38). Skill modeled: Analyze economic causation. Model the worked example aloud using the THINK ALOUD as your script, then release students to the activity ("Predict one way this borrowing could turn a boom into a bust."). This is the I Do → We Do → You Do bridge — do not skip it; aim for 80%+ success before independent work.</a:t>
            </a:r>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US.38. Pair with the printable: cornell-notes/unit-4/us38-credit-consumerism.pdf. Timing: 15. Deliverable: Completed prosperity-to-danger flowchart (boom drivers + hidden risks) AND a one-sentence evidence-based claim.</a:t>
            </a:r>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(US.38, DOK 2). Have students commit to an answer (whiteboards, hand signal, or turn-and-talk) BEFORE advancing. Correct answer: B. The next slide reveals it. Why: The ad promotes buying "NOW and pay for it as you ride" with "A small down payment" and "Easy monthly payments"—credit purchasing.</a:t>
            </a:r>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(US.38). Correct: B. The ad promotes buying "NOW and pay for it as you ride" with "A small down payment" and "Easy monthly payments"—credit purchasing.</a:t>
            </a:r>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(US.38, DOK 2). Prompt: Explain how buying on credit and stock speculation fueled 1920s prosperity AND created hidden dangers.  Model answer: Credit let Americans buy cars, appliances, and radios now and pay later, driving a consumer boom that powered the economy. Stock speculation, often 'on margin' (with borrowed money), pushed prices ever higher as investors bet the market would keep rising. The hidden danger was that this prosperity rested on debt and confidence: if incomes stalled or prices fell, borrowers could not pay and the whole system was vulnerable, which is exactly what happened in 1929.  RETEACH TRIGGER — if a student misses this exit ticket: (1) &lt;50% of class miss → spiral it into the next standard’s Quick Review opener (see the US.38 review prompts). (2) Individual/small group → reteach with the "Credit Expansion and Economic Growth" direct-instruction slide + re-run the SOURCE IT FIRST routine on the US.38 primary source, then assign the paired printable: cornell-notes/unit-4/us38-credit-consumerism.pdf. (3) Re-assess with the US.38 check-for-understanding reveal slide as a do-now the next day. Reteach anchors (this standard’s sections): Credit Expansion and Economic Growth; Consumerism and Cultural Change; Financial Speculation; Interconnections Creating Vulnerability; Technology and Advertising Impact. I Can objective: I can analyze the changes in the economy and culture of the United States as a result of credit expansion, consumerism, and financial speculation.  HONORS / EXTENSION (DOK 3, for early finishers or advanced learners): Evaluate: To what extent was the prosperity of the 1920s 'real' versus built on borrowed money and false confidence? Argue your position with evidence. (SSP.04) — look for a clear claim plus two specific pieces of evidence.</a:t>
            </a:r>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eg"/><Relationship Id="rId4" Type="http://schemas.openxmlformats.org/officeDocument/2006/relationships/hyperlink" Target="https://archive.org/details/negroinchicagost00chic"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jpeg"/><Relationship Id="rId4" Type="http://schemas.openxmlformats.org/officeDocument/2006/relationships/hyperlink" Target="https://archive.org/details/negroinchicagost00chic"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jpeg"/><Relationship Id="rId4" Type="http://schemas.openxmlformats.org/officeDocument/2006/relationships/hyperlink" Target="https://archive.org/details/negroinchicagost00chic" TargetMode="External"/><Relationship Id="rId5" Type="http://schemas.openxmlformats.org/officeDocument/2006/relationships/hyperlink" Target="https://www.loc.gov/collections/national-association-for-the-advancement-of-colored-peopl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jpeg"/><Relationship Id="rId4" Type="http://schemas.openxmlformats.org/officeDocument/2006/relationships/hyperlink" Target="https://commons.wikimedia.org/wiki/File:Early_1920s_radio_and_horn_speaker.pn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jpeg"/><Relationship Id="rId4" Type="http://schemas.openxmlformats.org/officeDocument/2006/relationships/hyperlink" Target="https://commons.wikimedia.org/wiki/File:EgyptianTheater-ext-1926.jp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jpeg"/><Relationship Id="rId4" Type="http://schemas.openxmlformats.org/officeDocument/2006/relationships/hyperlink" Target="https://commons.wikimedia.org/wiki/File:Charles_Lindbergh_with_the_Spirit_of_St_Louis_at_Sand_Point,_Seattle,_September_13,_1927_(MOHAI_1240).jp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jpeg"/><Relationship Id="rId4" Type="http://schemas.openxmlformats.org/officeDocument/2006/relationships/hyperlink" Target="https://commons.wikimedia.org/wiki/File:BroxSistersRadioTeddyBear.jpg" TargetMode="External"/><Relationship Id="rId5" Type="http://schemas.openxmlformats.org/officeDocument/2006/relationships/hyperlink" Target="https://www.loc.gov/collections/early-motion-picture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8.jpeg"/><Relationship Id="rId4" Type="http://schemas.openxmlformats.org/officeDocument/2006/relationships/hyperlink" Target="https://www.loc.gov/item/92520351/"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9.jpeg"/><Relationship Id="rId4" Type="http://schemas.openxmlformats.org/officeDocument/2006/relationships/hyperlink" Target="https://www.loc.gov/item/2004663577/"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0.jpeg"/><Relationship Id="rId4" Type="http://schemas.openxmlformats.org/officeDocument/2006/relationships/hyperlink" Target="https://www.loc.gov/pictures/collection/van/"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1.jpeg"/><Relationship Id="rId4" Type="http://schemas.openxmlformats.org/officeDocument/2006/relationships/hyperlink" Target="https://www.loc.gov/pictures/collection/van/" TargetMode="External"/><Relationship Id="rId5" Type="http://schemas.openxmlformats.org/officeDocument/2006/relationships/image" Target="../media/image12.jpeg"/><Relationship Id="rId6" Type="http://schemas.openxmlformats.org/officeDocument/2006/relationships/hyperlink" Target="https://www.loc.gov/item/2004663577/"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3.jpeg"/><Relationship Id="rId4" Type="http://schemas.openxmlformats.org/officeDocument/2006/relationships/hyperlink" Target="https://www.loc.gov/pictures/collection/van/" TargetMode="External"/><Relationship Id="rId5" Type="http://schemas.openxmlformats.org/officeDocument/2006/relationships/hyperlink" Target="https://www.loc.gov/item/41020233/"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4.jpeg"/><Relationship Id="rId4" Type="http://schemas.openxmlformats.org/officeDocument/2006/relationships/hyperlink" Target="https://www.loc.gov/item/2004663577/"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5.jpeg"/><Relationship Id="rId4" Type="http://schemas.openxmlformats.org/officeDocument/2006/relationships/hyperlink" Target="https://www.loc.gov/item/92520351/"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6.jpeg"/><Relationship Id="rId4" Type="http://schemas.openxmlformats.org/officeDocument/2006/relationships/hyperlink" Target="https://commons.wikimedia.org/wiki/File:Charles_Lindbergh_with_the_Spirit_of_St_Louis_at_Sand_Point,_Seattle,_September_13,_1927_(MOHAI_1240).jpg"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7.jpeg"/><Relationship Id="rId4" Type="http://schemas.openxmlformats.org/officeDocument/2006/relationships/hyperlink" Target="https://commons.wikimedia.org/wiki/File:Charles_Lindbergh_with_the_Spirit_of_St_Louis_at_Sand_Point,_Seattle,_September_13,_1927_(MOHAI_1240).jpg" TargetMode="External"/><Relationship Id="rId5" Type="http://schemas.openxmlformats.org/officeDocument/2006/relationships/hyperlink" Target="https://www.loc.gov/collections/charles-a-lindbergh/"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8.jpeg"/><Relationship Id="rId4" Type="http://schemas.openxmlformats.org/officeDocument/2006/relationships/hyperlink" Target="https://www.loc.gov/item/92520351/"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8.jpeg"/><Relationship Id="rId4" Type="http://schemas.openxmlformats.org/officeDocument/2006/relationships/hyperlink" Target="https://commons.wikimedia.org/wiki/File:Ford_assembly_line_-_1913.jpg"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9.jpeg"/><Relationship Id="rId4" Type="http://schemas.openxmlformats.org/officeDocument/2006/relationships/hyperlink" Target="https://commons.wikimedia.org/wiki/File:Henry_ford_1919.jpg"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20.jpeg"/><Relationship Id="rId4" Type="http://schemas.openxmlformats.org/officeDocument/2006/relationships/hyperlink" Target="https://commons.wikimedia.org/wiki/File:Ford_assembly_line_-_1913.jpg" TargetMode="External"/><Relationship Id="rId5" Type="http://schemas.openxmlformats.org/officeDocument/2006/relationships/hyperlink" Target="https://www.thehenryford.org/collections-and-research/digital-resources/"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21.jpeg"/><Relationship Id="rId4" Type="http://schemas.openxmlformats.org/officeDocument/2006/relationships/hyperlink" Target="https://commons.wikimedia.org/wiki/File:Henry_ford_1919.jpg"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22.jpeg"/><Relationship Id="rId4" Type="http://schemas.openxmlformats.org/officeDocument/2006/relationships/hyperlink" Target="https://www.loc.gov/item/97518323/"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23.jpeg"/><Relationship Id="rId4" Type="http://schemas.openxmlformats.org/officeDocument/2006/relationships/hyperlink" Target="https://commons.wikimedia.org/wiki/File:Jazz_musician_Duke_Ellington.JPEG"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24.jpeg"/><Relationship Id="rId4" Type="http://schemas.openxmlformats.org/officeDocument/2006/relationships/hyperlink" Target="https://www.loc.gov/item/2004663042/" TargetMode="External"/><Relationship Id="rId5" Type="http://schemas.openxmlformats.org/officeDocument/2006/relationships/image" Target="../media/image25.jpeg"/><Relationship Id="rId6" Type="http://schemas.openxmlformats.org/officeDocument/2006/relationships/hyperlink" Target="https://www.loc.gov/item/97518323/" TargetMode="External"/><Relationship Id="rId7" Type="http://schemas.openxmlformats.org/officeDocument/2006/relationships/image" Target="../media/image26.jpeg"/><Relationship Id="rId8" Type="http://schemas.openxmlformats.org/officeDocument/2006/relationships/hyperlink" Target="https://commons.wikimedia.org/wiki/File:Jazz_musician_Duke_Ellington.JPEG" TargetMode="External"/><Relationship Id="rId9" Type="http://schemas.openxmlformats.org/officeDocument/2006/relationships/image" Target="../media/image27.jpeg"/><Relationship Id="rId10" Type="http://schemas.openxmlformats.org/officeDocument/2006/relationships/hyperlink" Target="https://www.loc.gov/item/2004663047/"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28.jpeg"/><Relationship Id="rId4" Type="http://schemas.openxmlformats.org/officeDocument/2006/relationships/hyperlink" Target="https://www.loc.gov/item/2004663042/" TargetMode="External"/><Relationship Id="rId5" Type="http://schemas.openxmlformats.org/officeDocument/2006/relationships/hyperlink" Target="https://www.loc.gov/item/2004664586/"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29.jpeg"/><Relationship Id="rId4" Type="http://schemas.openxmlformats.org/officeDocument/2006/relationships/hyperlink" Target="https://commons.wikimedia.org/wiki/File:Jazz_musician_Duke_Ellington.JPEG"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30.jpeg"/><Relationship Id="rId4" Type="http://schemas.openxmlformats.org/officeDocument/2006/relationships/hyperlink" Target="https://www.loc.gov/pictures/item/2012645724/"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31.jpeg"/><Relationship Id="rId4" Type="http://schemas.openxmlformats.org/officeDocument/2006/relationships/hyperlink" Target="https://www.loc.gov/pictures/item/2012645724/" TargetMode="External"/><Relationship Id="rId5" Type="http://schemas.openxmlformats.org/officeDocument/2006/relationships/image" Target="../media/image32.jpeg"/><Relationship Id="rId6" Type="http://schemas.openxmlformats.org/officeDocument/2006/relationships/hyperlink" Target="https://commons.wikimedia.org/wiki/File:MargaretSanger-Underwood.LOC.jpg"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33.jpeg"/><Relationship Id="rId4" Type="http://schemas.openxmlformats.org/officeDocument/2006/relationships/hyperlink" Target="https://commons.wikimedia.org/wiki/File:MargaretSanger-Underwood.LOC.jpg" TargetMode="External"/><Relationship Id="rId5" Type="http://schemas.openxmlformats.org/officeDocument/2006/relationships/hyperlink" Target="https://www.loc.gov/collections/margaret-sanger-papers/"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34.jpeg"/><Relationship Id="rId4" Type="http://schemas.openxmlformats.org/officeDocument/2006/relationships/hyperlink" Target="https://www.loc.gov/pictures/item/2012645724/"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35.jpeg"/><Relationship Id="rId4" Type="http://schemas.openxmlformats.org/officeDocument/2006/relationships/hyperlink" Target="https://commons.wikimedia.org/wiki/File:Tulsa_Aftermath.jpg"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36.jpeg"/><Relationship Id="rId4" Type="http://schemas.openxmlformats.org/officeDocument/2006/relationships/hyperlink" Target="https://www.loc.gov/item/93513529/"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37.jpeg"/><Relationship Id="rId4" Type="http://schemas.openxmlformats.org/officeDocument/2006/relationships/hyperlink" Target="https://commons.wikimedia.org/wiki/File:Mary_Garrity_-_Ida_B._Wells-Barnett.jpg" TargetMode="External"/><Relationship Id="rId5" Type="http://schemas.openxmlformats.org/officeDocument/2006/relationships/image" Target="../media/image38.jpeg"/><Relationship Id="rId6" Type="http://schemas.openxmlformats.org/officeDocument/2006/relationships/hyperlink" Target="https://commons.wikimedia.org/wiki/File:Marcus_Garvey_(1922).jpg" TargetMode="Externa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39.jpeg"/><Relationship Id="rId4" Type="http://schemas.openxmlformats.org/officeDocument/2006/relationships/hyperlink" Target="https://commons.wikimedia.org/wiki/File:Mary_Garrity_-_Ida_B._Wells-Barnett.jpg" TargetMode="External"/><Relationship Id="rId5" Type="http://schemas.openxmlformats.org/officeDocument/2006/relationships/hyperlink" Target="https://www.loc.gov/item/mfd.22023/" TargetMode="Externa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40.jpeg"/><Relationship Id="rId4" Type="http://schemas.openxmlformats.org/officeDocument/2006/relationships/hyperlink" Target="https://www.loc.gov/item/93513529/" TargetMode="Externa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41.jpeg"/><Relationship Id="rId4" Type="http://schemas.openxmlformats.org/officeDocument/2006/relationships/hyperlink" Target="https://www.loc.gov/item/2005687216/" TargetMode="Externa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42.jpeg"/><Relationship Id="rId4" Type="http://schemas.openxmlformats.org/officeDocument/2006/relationships/hyperlink" Target="https://www.loc.gov/item/2014680943/" TargetMode="External"/><Relationship Id="rId5" Type="http://schemas.openxmlformats.org/officeDocument/2006/relationships/image" Target="../media/image43.jpeg"/><Relationship Id="rId6" Type="http://schemas.openxmlformats.org/officeDocument/2006/relationships/hyperlink" Target="https://www.loc.gov/item/2005687216/" TargetMode="Externa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44.jpeg"/><Relationship Id="rId4" Type="http://schemas.openxmlformats.org/officeDocument/2006/relationships/hyperlink" Target="https://www.loc.gov/item/2005687216/" TargetMode="External"/><Relationship Id="rId5" Type="http://schemas.openxmlformats.org/officeDocument/2006/relationships/hyperlink" Target="https://www.loc.gov/collections/clarence-darrow/" TargetMode="Externa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45.jpeg"/><Relationship Id="rId4" Type="http://schemas.openxmlformats.org/officeDocument/2006/relationships/hyperlink" Target="https://www.loc.gov/item/2014680943/" TargetMode="Externa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46.jpeg"/><Relationship Id="rId4" Type="http://schemas.openxmlformats.org/officeDocument/2006/relationships/hyperlink" Target="https://www.loc.gov/pictures/item/2016683882/" TargetMode="Externa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47.jpeg"/><Relationship Id="rId4" Type="http://schemas.openxmlformats.org/officeDocument/2006/relationships/hyperlink" Target="https://www.loc.gov/item/99405169/" TargetMode="Externa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48.jpeg"/><Relationship Id="rId4" Type="http://schemas.openxmlformats.org/officeDocument/2006/relationships/hyperlink" Target="https://commons.wikimedia.org/wiki/File:Al_Capone_in_1930.jpg" TargetMode="Externa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49.jpeg"/><Relationship Id="rId4" Type="http://schemas.openxmlformats.org/officeDocument/2006/relationships/hyperlink" Target="https://commons.wikimedia.org/wiki/File:Al_Capone_in_1930.jpg" TargetMode="External"/><Relationship Id="rId5" Type="http://schemas.openxmlformats.org/officeDocument/2006/relationships/hyperlink" Target="https://www.loc.gov/collections/chronicling-america/" TargetMode="Externa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50.jpeg"/><Relationship Id="rId4" Type="http://schemas.openxmlformats.org/officeDocument/2006/relationships/hyperlink" Target="https://www.loc.gov/item/99405169/" TargetMode="Externa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1.jpeg"/><Relationship Id="rId4" Type="http://schemas.openxmlformats.org/officeDocument/2006/relationships/hyperlink" Target="https://commons.wikimedia.org/wiki/File:Crowds_gathering_outside_the_New_York_Stock_Exchange.jpg" TargetMode="Externa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52.jpeg"/><Relationship Id="rId4" Type="http://schemas.openxmlformats.org/officeDocument/2006/relationships/hyperlink" Target="https://www.loc.gov/item/91784345/" TargetMode="Externa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hyperlink" Target="https://www.loc.gov/collections/general-collections/" TargetMode="Externa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53.jpeg"/><Relationship Id="rId4" Type="http://schemas.openxmlformats.org/officeDocument/2006/relationships/hyperlink" Target="https://commons.wikimedia.org/wiki/File:Crowds_gathering_outside_the_New_York_Stock_Exchange.jpg" TargetMode="Externa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12045391" y="0"/>
            <a:ext cx="146304" cy="6858000"/>
          </a:xfrm>
          <a:prstGeom prst="rect">
            <a:avLst/>
          </a:prstGeom>
          <a:solidFill>
            <a:srgbClr val="C62828"/>
          </a:solidFill>
          <a:ln/>
        </p:spPr>
        <p:txBody>
          <a:bodyPr/>
          <a:lstStyle/>
          <a:p>
            <a:endParaRPr lang="en-US"/>
          </a:p>
        </p:txBody>
      </p:sp>
      <p:sp>
        <p:nvSpPr>
          <p:cNvPr id="3" name="Shape 1"/>
          <p:cNvSpPr/>
          <p:nvPr/>
        </p:nvSpPr>
        <p:spPr>
          <a:xfrm>
            <a:off x="0" y="0"/>
            <a:ext cx="12045391" cy="146304"/>
          </a:xfrm>
          <a:prstGeom prst="rect">
            <a:avLst/>
          </a:prstGeom>
          <a:solidFill>
            <a:srgbClr val="C9A84C"/>
          </a:solidFill>
          <a:ln/>
        </p:spPr>
        <p:txBody>
          <a:bodyPr/>
          <a:lstStyle/>
          <a:p>
            <a:endParaRPr lang="en-US"/>
          </a:p>
        </p:txBody>
      </p:sp>
      <p:sp>
        <p:nvSpPr>
          <p:cNvPr id="4" name="Text 2"/>
          <p:cNvSpPr/>
          <p:nvPr/>
        </p:nvSpPr>
        <p:spPr>
          <a:xfrm>
            <a:off x="822960" y="1371600"/>
            <a:ext cx="10058400" cy="457200"/>
          </a:xfrm>
          <a:prstGeom prst="rect">
            <a:avLst/>
          </a:prstGeom>
          <a:noFill/>
          <a:ln/>
        </p:spPr>
        <p:txBody>
          <a:bodyPr wrap="square" rtlCol="0" anchor="ctr"/>
          <a:lstStyle/>
          <a:p>
            <a:pPr marL="0" indent="0">
              <a:buNone/>
            </a:pPr>
            <a:r>
              <a:rPr lang="en-US" sz="1800" b="1" kern="0" spc="500" dirty="0">
                <a:solidFill>
                  <a:srgbClr val="F9A825"/>
                </a:solidFill>
                <a:latin typeface="Trebuchet MS" pitchFamily="34" charset="0"/>
                <a:ea typeface="Trebuchet MS" pitchFamily="34" charset="-122"/>
                <a:cs typeface="Trebuchet MS" pitchFamily="34" charset="-120"/>
              </a:rPr>
              <a:t>U.S. HISTORY HACK</a:t>
            </a:r>
            <a:endParaRPr lang="en-US" sz="1800" dirty="0"/>
          </a:p>
        </p:txBody>
      </p:sp>
      <p:sp>
        <p:nvSpPr>
          <p:cNvPr id="5" name="Text 3"/>
          <p:cNvSpPr/>
          <p:nvPr/>
        </p:nvSpPr>
        <p:spPr>
          <a:xfrm>
            <a:off x="822960" y="1828800"/>
            <a:ext cx="10058400" cy="822960"/>
          </a:xfrm>
          <a:prstGeom prst="rect">
            <a:avLst/>
          </a:prstGeom>
          <a:noFill/>
          <a:ln/>
        </p:spPr>
        <p:txBody>
          <a:bodyPr wrap="square" rtlCol="0" anchor="ctr"/>
          <a:lstStyle/>
          <a:p>
            <a:pPr marL="0" indent="0">
              <a:buNone/>
            </a:pPr>
            <a:r>
              <a:rPr lang="en-US" sz="6000" b="1" dirty="0">
                <a:solidFill>
                  <a:srgbClr val="FFFFFF"/>
                </a:solidFill>
                <a:latin typeface="Georgia" pitchFamily="34" charset="0"/>
                <a:ea typeface="Georgia" pitchFamily="34" charset="-122"/>
                <a:cs typeface="Georgia" pitchFamily="34" charset="-120"/>
              </a:rPr>
              <a:t>Unit 4</a:t>
            </a:r>
            <a:endParaRPr lang="en-US" sz="6000" dirty="0"/>
          </a:p>
        </p:txBody>
      </p:sp>
      <p:sp>
        <p:nvSpPr>
          <p:cNvPr id="6" name="Text 4"/>
          <p:cNvSpPr/>
          <p:nvPr/>
        </p:nvSpPr>
        <p:spPr>
          <a:xfrm>
            <a:off x="822960" y="2788920"/>
            <a:ext cx="10241280" cy="64008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The 1920s</a:t>
            </a:r>
            <a:endParaRPr lang="en-US" sz="3400" dirty="0"/>
          </a:p>
        </p:txBody>
      </p:sp>
      <p:sp>
        <p:nvSpPr>
          <p:cNvPr id="7" name="Text 5"/>
          <p:cNvSpPr/>
          <p:nvPr/>
        </p:nvSpPr>
        <p:spPr>
          <a:xfrm>
            <a:off x="822960" y="3456432"/>
            <a:ext cx="10424160" cy="457200"/>
          </a:xfrm>
          <a:prstGeom prst="rect">
            <a:avLst/>
          </a:prstGeom>
          <a:noFill/>
          <a:ln/>
        </p:spPr>
        <p:txBody>
          <a:bodyPr wrap="square" rtlCol="0" anchor="ctr"/>
          <a:lstStyle/>
          <a:p>
            <a:pPr marL="0" indent="0">
              <a:buNone/>
            </a:pPr>
            <a:r>
              <a:rPr lang="en-US" sz="1900" i="1" dirty="0">
                <a:solidFill>
                  <a:srgbClr val="C7D4E0"/>
                </a:solidFill>
                <a:latin typeface="Georgia" pitchFamily="34" charset="0"/>
                <a:ea typeface="Georgia" pitchFamily="34" charset="-122"/>
                <a:cs typeface="Georgia" pitchFamily="34" charset="-120"/>
              </a:rPr>
              <a:t>The Roaring Twenties · Mass Culture · Boom &amp; Its Dangers   ·   1919–1929</a:t>
            </a:r>
            <a:endParaRPr lang="en-US" sz="1900" dirty="0"/>
          </a:p>
        </p:txBody>
      </p:sp>
      <p:sp>
        <p:nvSpPr>
          <p:cNvPr id="8" name="Text 6"/>
          <p:cNvSpPr/>
          <p:nvPr/>
        </p:nvSpPr>
        <p:spPr>
          <a:xfrm>
            <a:off x="822960" y="3931920"/>
            <a:ext cx="10058400" cy="411480"/>
          </a:xfrm>
          <a:prstGeom prst="rect">
            <a:avLst/>
          </a:prstGeom>
          <a:noFill/>
          <a:ln/>
        </p:spPr>
        <p:txBody>
          <a:bodyPr wrap="square" rtlCol="0" anchor="ctr"/>
          <a:lstStyle/>
          <a:p>
            <a:pPr marL="0" indent="0">
              <a:buNone/>
            </a:pPr>
            <a:r>
              <a:rPr lang="en-US" sz="1800" dirty="0">
                <a:solidFill>
                  <a:srgbClr val="A7BACB"/>
                </a:solidFill>
                <a:latin typeface="Calibri" pitchFamily="34" charset="0"/>
                <a:ea typeface="Calibri" pitchFamily="34" charset="-122"/>
                <a:cs typeface="Calibri" pitchFamily="34" charset="-120"/>
              </a:rPr>
              <a:t>Standards US.28 – US.38</a:t>
            </a:r>
            <a:endParaRPr lang="en-US" sz="1800" dirty="0"/>
          </a:p>
        </p:txBody>
      </p:sp>
      <p:sp>
        <p:nvSpPr>
          <p:cNvPr id="9" name="Shape 7"/>
          <p:cNvSpPr/>
          <p:nvPr/>
        </p:nvSpPr>
        <p:spPr>
          <a:xfrm>
            <a:off x="822960" y="4480560"/>
            <a:ext cx="1024128" cy="438912"/>
          </a:xfrm>
          <a:prstGeom prst="roundRect">
            <a:avLst>
              <a:gd name="adj" fmla="val 16667"/>
            </a:avLst>
          </a:prstGeom>
          <a:solidFill>
            <a:srgbClr val="243047"/>
          </a:solidFill>
          <a:ln w="12700">
            <a:solidFill>
              <a:srgbClr val="C9A84C"/>
            </a:solidFill>
            <a:prstDash val="solid"/>
          </a:ln>
        </p:spPr>
        <p:txBody>
          <a:bodyPr/>
          <a:lstStyle/>
          <a:p>
            <a:endParaRPr lang="en-US"/>
          </a:p>
        </p:txBody>
      </p:sp>
      <p:sp>
        <p:nvSpPr>
          <p:cNvPr id="10" name="Text 8"/>
          <p:cNvSpPr/>
          <p:nvPr/>
        </p:nvSpPr>
        <p:spPr>
          <a:xfrm>
            <a:off x="822960" y="4480560"/>
            <a:ext cx="1024128" cy="438912"/>
          </a:xfrm>
          <a:prstGeom prst="rect">
            <a:avLst/>
          </a:prstGeom>
          <a:noFill/>
          <a:ln/>
        </p:spPr>
        <p:txBody>
          <a:bodyPr wrap="square" rtlCol="0" anchor="ctr"/>
          <a:lstStyle/>
          <a:p>
            <a:pPr marL="0" indent="0" algn="ctr">
              <a:buNone/>
            </a:pPr>
            <a:r>
              <a:rPr lang="en-US" sz="1250" b="1" dirty="0">
                <a:solidFill>
                  <a:srgbClr val="F9A825"/>
                </a:solidFill>
                <a:latin typeface="Trebuchet MS" pitchFamily="34" charset="0"/>
                <a:ea typeface="Trebuchet MS" pitchFamily="34" charset="-122"/>
                <a:cs typeface="Trebuchet MS" pitchFamily="34" charset="-120"/>
              </a:rPr>
              <a:t>US.28</a:t>
            </a:r>
            <a:endParaRPr lang="en-US" sz="1250" dirty="0"/>
          </a:p>
        </p:txBody>
      </p:sp>
      <p:sp>
        <p:nvSpPr>
          <p:cNvPr id="11" name="Shape 9"/>
          <p:cNvSpPr/>
          <p:nvPr/>
        </p:nvSpPr>
        <p:spPr>
          <a:xfrm>
            <a:off x="1984248" y="4480560"/>
            <a:ext cx="1024128" cy="438912"/>
          </a:xfrm>
          <a:prstGeom prst="roundRect">
            <a:avLst>
              <a:gd name="adj" fmla="val 16667"/>
            </a:avLst>
          </a:prstGeom>
          <a:solidFill>
            <a:srgbClr val="243047"/>
          </a:solidFill>
          <a:ln w="12700">
            <a:solidFill>
              <a:srgbClr val="C9A84C"/>
            </a:solidFill>
            <a:prstDash val="solid"/>
          </a:ln>
        </p:spPr>
        <p:txBody>
          <a:bodyPr/>
          <a:lstStyle/>
          <a:p>
            <a:endParaRPr lang="en-US"/>
          </a:p>
        </p:txBody>
      </p:sp>
      <p:sp>
        <p:nvSpPr>
          <p:cNvPr id="12" name="Text 10"/>
          <p:cNvSpPr/>
          <p:nvPr/>
        </p:nvSpPr>
        <p:spPr>
          <a:xfrm>
            <a:off x="1984248" y="4480560"/>
            <a:ext cx="1024128" cy="438912"/>
          </a:xfrm>
          <a:prstGeom prst="rect">
            <a:avLst/>
          </a:prstGeom>
          <a:noFill/>
          <a:ln/>
        </p:spPr>
        <p:txBody>
          <a:bodyPr wrap="square" rtlCol="0" anchor="ctr"/>
          <a:lstStyle/>
          <a:p>
            <a:pPr marL="0" indent="0" algn="ctr">
              <a:buNone/>
            </a:pPr>
            <a:r>
              <a:rPr lang="en-US" sz="1250" b="1" dirty="0">
                <a:solidFill>
                  <a:srgbClr val="F9A825"/>
                </a:solidFill>
                <a:latin typeface="Trebuchet MS" pitchFamily="34" charset="0"/>
                <a:ea typeface="Trebuchet MS" pitchFamily="34" charset="-122"/>
                <a:cs typeface="Trebuchet MS" pitchFamily="34" charset="-120"/>
              </a:rPr>
              <a:t>US.29</a:t>
            </a:r>
            <a:endParaRPr lang="en-US" sz="1250" dirty="0"/>
          </a:p>
        </p:txBody>
      </p:sp>
      <p:sp>
        <p:nvSpPr>
          <p:cNvPr id="13" name="Shape 11"/>
          <p:cNvSpPr/>
          <p:nvPr/>
        </p:nvSpPr>
        <p:spPr>
          <a:xfrm>
            <a:off x="3145536" y="4480560"/>
            <a:ext cx="1024128" cy="438912"/>
          </a:xfrm>
          <a:prstGeom prst="roundRect">
            <a:avLst>
              <a:gd name="adj" fmla="val 16667"/>
            </a:avLst>
          </a:prstGeom>
          <a:solidFill>
            <a:srgbClr val="243047"/>
          </a:solidFill>
          <a:ln w="12700">
            <a:solidFill>
              <a:srgbClr val="C9A84C"/>
            </a:solidFill>
            <a:prstDash val="solid"/>
          </a:ln>
        </p:spPr>
        <p:txBody>
          <a:bodyPr/>
          <a:lstStyle/>
          <a:p>
            <a:endParaRPr lang="en-US"/>
          </a:p>
        </p:txBody>
      </p:sp>
      <p:sp>
        <p:nvSpPr>
          <p:cNvPr id="14" name="Text 12"/>
          <p:cNvSpPr/>
          <p:nvPr/>
        </p:nvSpPr>
        <p:spPr>
          <a:xfrm>
            <a:off x="3145536" y="4480560"/>
            <a:ext cx="1024128" cy="438912"/>
          </a:xfrm>
          <a:prstGeom prst="rect">
            <a:avLst/>
          </a:prstGeom>
          <a:noFill/>
          <a:ln/>
        </p:spPr>
        <p:txBody>
          <a:bodyPr wrap="square" rtlCol="0" anchor="ctr"/>
          <a:lstStyle/>
          <a:p>
            <a:pPr marL="0" indent="0" algn="ctr">
              <a:buNone/>
            </a:pPr>
            <a:r>
              <a:rPr lang="en-US" sz="1250" b="1" dirty="0">
                <a:solidFill>
                  <a:srgbClr val="F9A825"/>
                </a:solidFill>
                <a:latin typeface="Trebuchet MS" pitchFamily="34" charset="0"/>
                <a:ea typeface="Trebuchet MS" pitchFamily="34" charset="-122"/>
                <a:cs typeface="Trebuchet MS" pitchFamily="34" charset="-120"/>
              </a:rPr>
              <a:t>US.30</a:t>
            </a:r>
            <a:endParaRPr lang="en-US" sz="1250" dirty="0"/>
          </a:p>
        </p:txBody>
      </p:sp>
      <p:sp>
        <p:nvSpPr>
          <p:cNvPr id="15" name="Shape 13"/>
          <p:cNvSpPr/>
          <p:nvPr/>
        </p:nvSpPr>
        <p:spPr>
          <a:xfrm>
            <a:off x="4306824" y="4480560"/>
            <a:ext cx="1024128" cy="438912"/>
          </a:xfrm>
          <a:prstGeom prst="roundRect">
            <a:avLst>
              <a:gd name="adj" fmla="val 16667"/>
            </a:avLst>
          </a:prstGeom>
          <a:solidFill>
            <a:srgbClr val="243047"/>
          </a:solidFill>
          <a:ln w="12700">
            <a:solidFill>
              <a:srgbClr val="C9A84C"/>
            </a:solidFill>
            <a:prstDash val="solid"/>
          </a:ln>
        </p:spPr>
        <p:txBody>
          <a:bodyPr/>
          <a:lstStyle/>
          <a:p>
            <a:endParaRPr lang="en-US"/>
          </a:p>
        </p:txBody>
      </p:sp>
      <p:sp>
        <p:nvSpPr>
          <p:cNvPr id="16" name="Text 14"/>
          <p:cNvSpPr/>
          <p:nvPr/>
        </p:nvSpPr>
        <p:spPr>
          <a:xfrm>
            <a:off x="4306824" y="4480560"/>
            <a:ext cx="1024128" cy="438912"/>
          </a:xfrm>
          <a:prstGeom prst="rect">
            <a:avLst/>
          </a:prstGeom>
          <a:noFill/>
          <a:ln/>
        </p:spPr>
        <p:txBody>
          <a:bodyPr wrap="square" rtlCol="0" anchor="ctr"/>
          <a:lstStyle/>
          <a:p>
            <a:pPr marL="0" indent="0" algn="ctr">
              <a:buNone/>
            </a:pPr>
            <a:r>
              <a:rPr lang="en-US" sz="1250" b="1" dirty="0">
                <a:solidFill>
                  <a:srgbClr val="F9A825"/>
                </a:solidFill>
                <a:latin typeface="Trebuchet MS" pitchFamily="34" charset="0"/>
                <a:ea typeface="Trebuchet MS" pitchFamily="34" charset="-122"/>
                <a:cs typeface="Trebuchet MS" pitchFamily="34" charset="-120"/>
              </a:rPr>
              <a:t>US.31</a:t>
            </a:r>
            <a:endParaRPr lang="en-US" sz="1250" dirty="0"/>
          </a:p>
        </p:txBody>
      </p:sp>
      <p:sp>
        <p:nvSpPr>
          <p:cNvPr id="17" name="Shape 15"/>
          <p:cNvSpPr/>
          <p:nvPr/>
        </p:nvSpPr>
        <p:spPr>
          <a:xfrm>
            <a:off x="5468112" y="4480560"/>
            <a:ext cx="1024128" cy="438912"/>
          </a:xfrm>
          <a:prstGeom prst="roundRect">
            <a:avLst>
              <a:gd name="adj" fmla="val 16667"/>
            </a:avLst>
          </a:prstGeom>
          <a:solidFill>
            <a:srgbClr val="243047"/>
          </a:solidFill>
          <a:ln w="12700">
            <a:solidFill>
              <a:srgbClr val="C9A84C"/>
            </a:solidFill>
            <a:prstDash val="solid"/>
          </a:ln>
        </p:spPr>
        <p:txBody>
          <a:bodyPr/>
          <a:lstStyle/>
          <a:p>
            <a:endParaRPr lang="en-US"/>
          </a:p>
        </p:txBody>
      </p:sp>
      <p:sp>
        <p:nvSpPr>
          <p:cNvPr id="18" name="Text 16"/>
          <p:cNvSpPr/>
          <p:nvPr/>
        </p:nvSpPr>
        <p:spPr>
          <a:xfrm>
            <a:off x="5468112" y="4480560"/>
            <a:ext cx="1024128" cy="438912"/>
          </a:xfrm>
          <a:prstGeom prst="rect">
            <a:avLst/>
          </a:prstGeom>
          <a:noFill/>
          <a:ln/>
        </p:spPr>
        <p:txBody>
          <a:bodyPr wrap="square" rtlCol="0" anchor="ctr"/>
          <a:lstStyle/>
          <a:p>
            <a:pPr marL="0" indent="0" algn="ctr">
              <a:buNone/>
            </a:pPr>
            <a:r>
              <a:rPr lang="en-US" sz="1250" b="1" dirty="0">
                <a:solidFill>
                  <a:srgbClr val="F9A825"/>
                </a:solidFill>
                <a:latin typeface="Trebuchet MS" pitchFamily="34" charset="0"/>
                <a:ea typeface="Trebuchet MS" pitchFamily="34" charset="-122"/>
                <a:cs typeface="Trebuchet MS" pitchFamily="34" charset="-120"/>
              </a:rPr>
              <a:t>US.32</a:t>
            </a:r>
            <a:endParaRPr lang="en-US" sz="1250" dirty="0"/>
          </a:p>
        </p:txBody>
      </p:sp>
      <p:sp>
        <p:nvSpPr>
          <p:cNvPr id="19" name="Shape 17"/>
          <p:cNvSpPr/>
          <p:nvPr/>
        </p:nvSpPr>
        <p:spPr>
          <a:xfrm>
            <a:off x="6629400" y="4480560"/>
            <a:ext cx="1024128" cy="438912"/>
          </a:xfrm>
          <a:prstGeom prst="roundRect">
            <a:avLst>
              <a:gd name="adj" fmla="val 16667"/>
            </a:avLst>
          </a:prstGeom>
          <a:solidFill>
            <a:srgbClr val="243047"/>
          </a:solidFill>
          <a:ln w="12700">
            <a:solidFill>
              <a:srgbClr val="C9A84C"/>
            </a:solidFill>
            <a:prstDash val="solid"/>
          </a:ln>
        </p:spPr>
        <p:txBody>
          <a:bodyPr/>
          <a:lstStyle/>
          <a:p>
            <a:endParaRPr lang="en-US"/>
          </a:p>
        </p:txBody>
      </p:sp>
      <p:sp>
        <p:nvSpPr>
          <p:cNvPr id="20" name="Text 18"/>
          <p:cNvSpPr/>
          <p:nvPr/>
        </p:nvSpPr>
        <p:spPr>
          <a:xfrm>
            <a:off x="6629400" y="4480560"/>
            <a:ext cx="1024128" cy="438912"/>
          </a:xfrm>
          <a:prstGeom prst="rect">
            <a:avLst/>
          </a:prstGeom>
          <a:noFill/>
          <a:ln/>
        </p:spPr>
        <p:txBody>
          <a:bodyPr wrap="square" rtlCol="0" anchor="ctr"/>
          <a:lstStyle/>
          <a:p>
            <a:pPr marL="0" indent="0" algn="ctr">
              <a:buNone/>
            </a:pPr>
            <a:r>
              <a:rPr lang="en-US" sz="1250" b="1" dirty="0">
                <a:solidFill>
                  <a:srgbClr val="F9A825"/>
                </a:solidFill>
                <a:latin typeface="Trebuchet MS" pitchFamily="34" charset="0"/>
                <a:ea typeface="Trebuchet MS" pitchFamily="34" charset="-122"/>
                <a:cs typeface="Trebuchet MS" pitchFamily="34" charset="-120"/>
              </a:rPr>
              <a:t>US.33</a:t>
            </a:r>
            <a:endParaRPr lang="en-US" sz="1250" dirty="0"/>
          </a:p>
        </p:txBody>
      </p:sp>
      <p:sp>
        <p:nvSpPr>
          <p:cNvPr id="21" name="Shape 19"/>
          <p:cNvSpPr/>
          <p:nvPr/>
        </p:nvSpPr>
        <p:spPr>
          <a:xfrm>
            <a:off x="7790688" y="4480560"/>
            <a:ext cx="1024128" cy="438912"/>
          </a:xfrm>
          <a:prstGeom prst="roundRect">
            <a:avLst>
              <a:gd name="adj" fmla="val 16667"/>
            </a:avLst>
          </a:prstGeom>
          <a:solidFill>
            <a:srgbClr val="243047"/>
          </a:solidFill>
          <a:ln w="12700">
            <a:solidFill>
              <a:srgbClr val="C9A84C"/>
            </a:solidFill>
            <a:prstDash val="solid"/>
          </a:ln>
        </p:spPr>
        <p:txBody>
          <a:bodyPr/>
          <a:lstStyle/>
          <a:p>
            <a:endParaRPr lang="en-US"/>
          </a:p>
        </p:txBody>
      </p:sp>
      <p:sp>
        <p:nvSpPr>
          <p:cNvPr id="22" name="Text 20"/>
          <p:cNvSpPr/>
          <p:nvPr/>
        </p:nvSpPr>
        <p:spPr>
          <a:xfrm>
            <a:off x="7790688" y="4480560"/>
            <a:ext cx="1024128" cy="438912"/>
          </a:xfrm>
          <a:prstGeom prst="rect">
            <a:avLst/>
          </a:prstGeom>
          <a:noFill/>
          <a:ln/>
        </p:spPr>
        <p:txBody>
          <a:bodyPr wrap="square" rtlCol="0" anchor="ctr"/>
          <a:lstStyle/>
          <a:p>
            <a:pPr marL="0" indent="0" algn="ctr">
              <a:buNone/>
            </a:pPr>
            <a:r>
              <a:rPr lang="en-US" sz="1250" b="1" dirty="0">
                <a:solidFill>
                  <a:srgbClr val="F9A825"/>
                </a:solidFill>
                <a:latin typeface="Trebuchet MS" pitchFamily="34" charset="0"/>
                <a:ea typeface="Trebuchet MS" pitchFamily="34" charset="-122"/>
                <a:cs typeface="Trebuchet MS" pitchFamily="34" charset="-120"/>
              </a:rPr>
              <a:t>US.34</a:t>
            </a:r>
            <a:endParaRPr lang="en-US" sz="1250" dirty="0"/>
          </a:p>
        </p:txBody>
      </p:sp>
      <p:sp>
        <p:nvSpPr>
          <p:cNvPr id="23" name="Shape 21"/>
          <p:cNvSpPr/>
          <p:nvPr/>
        </p:nvSpPr>
        <p:spPr>
          <a:xfrm>
            <a:off x="8951976" y="4480560"/>
            <a:ext cx="1024128" cy="438912"/>
          </a:xfrm>
          <a:prstGeom prst="roundRect">
            <a:avLst>
              <a:gd name="adj" fmla="val 16667"/>
            </a:avLst>
          </a:prstGeom>
          <a:solidFill>
            <a:srgbClr val="243047"/>
          </a:solidFill>
          <a:ln w="12700">
            <a:solidFill>
              <a:srgbClr val="C9A84C"/>
            </a:solidFill>
            <a:prstDash val="solid"/>
          </a:ln>
        </p:spPr>
        <p:txBody>
          <a:bodyPr/>
          <a:lstStyle/>
          <a:p>
            <a:endParaRPr lang="en-US"/>
          </a:p>
        </p:txBody>
      </p:sp>
      <p:sp>
        <p:nvSpPr>
          <p:cNvPr id="24" name="Text 22"/>
          <p:cNvSpPr/>
          <p:nvPr/>
        </p:nvSpPr>
        <p:spPr>
          <a:xfrm>
            <a:off x="8951976" y="4480560"/>
            <a:ext cx="1024128" cy="438912"/>
          </a:xfrm>
          <a:prstGeom prst="rect">
            <a:avLst/>
          </a:prstGeom>
          <a:noFill/>
          <a:ln/>
        </p:spPr>
        <p:txBody>
          <a:bodyPr wrap="square" rtlCol="0" anchor="ctr"/>
          <a:lstStyle/>
          <a:p>
            <a:pPr marL="0" indent="0" algn="ctr">
              <a:buNone/>
            </a:pPr>
            <a:r>
              <a:rPr lang="en-US" sz="1250" b="1" dirty="0">
                <a:solidFill>
                  <a:srgbClr val="F9A825"/>
                </a:solidFill>
                <a:latin typeface="Trebuchet MS" pitchFamily="34" charset="0"/>
                <a:ea typeface="Trebuchet MS" pitchFamily="34" charset="-122"/>
                <a:cs typeface="Trebuchet MS" pitchFamily="34" charset="-120"/>
              </a:rPr>
              <a:t>US.35</a:t>
            </a:r>
            <a:endParaRPr lang="en-US" sz="1250" dirty="0"/>
          </a:p>
        </p:txBody>
      </p:sp>
      <p:sp>
        <p:nvSpPr>
          <p:cNvPr id="25" name="Shape 23"/>
          <p:cNvSpPr/>
          <p:nvPr/>
        </p:nvSpPr>
        <p:spPr>
          <a:xfrm>
            <a:off x="10113264" y="4480560"/>
            <a:ext cx="1024128" cy="438912"/>
          </a:xfrm>
          <a:prstGeom prst="roundRect">
            <a:avLst>
              <a:gd name="adj" fmla="val 16667"/>
            </a:avLst>
          </a:prstGeom>
          <a:solidFill>
            <a:srgbClr val="243047"/>
          </a:solidFill>
          <a:ln w="12700">
            <a:solidFill>
              <a:srgbClr val="C9A84C"/>
            </a:solidFill>
            <a:prstDash val="solid"/>
          </a:ln>
        </p:spPr>
        <p:txBody>
          <a:bodyPr/>
          <a:lstStyle/>
          <a:p>
            <a:endParaRPr lang="en-US"/>
          </a:p>
        </p:txBody>
      </p:sp>
      <p:sp>
        <p:nvSpPr>
          <p:cNvPr id="26" name="Text 24"/>
          <p:cNvSpPr/>
          <p:nvPr/>
        </p:nvSpPr>
        <p:spPr>
          <a:xfrm>
            <a:off x="10113264" y="4480560"/>
            <a:ext cx="1024128" cy="438912"/>
          </a:xfrm>
          <a:prstGeom prst="rect">
            <a:avLst/>
          </a:prstGeom>
          <a:noFill/>
          <a:ln/>
        </p:spPr>
        <p:txBody>
          <a:bodyPr wrap="square" rtlCol="0" anchor="ctr"/>
          <a:lstStyle/>
          <a:p>
            <a:pPr marL="0" indent="0" algn="ctr">
              <a:buNone/>
            </a:pPr>
            <a:r>
              <a:rPr lang="en-US" sz="1250" b="1" dirty="0">
                <a:solidFill>
                  <a:srgbClr val="F9A825"/>
                </a:solidFill>
                <a:latin typeface="Trebuchet MS" pitchFamily="34" charset="0"/>
                <a:ea typeface="Trebuchet MS" pitchFamily="34" charset="-122"/>
                <a:cs typeface="Trebuchet MS" pitchFamily="34" charset="-120"/>
              </a:rPr>
              <a:t>US.36</a:t>
            </a:r>
            <a:endParaRPr lang="en-US" sz="1250" dirty="0"/>
          </a:p>
        </p:txBody>
      </p:sp>
      <p:sp>
        <p:nvSpPr>
          <p:cNvPr id="27" name="Shape 25"/>
          <p:cNvSpPr/>
          <p:nvPr/>
        </p:nvSpPr>
        <p:spPr>
          <a:xfrm>
            <a:off x="822960" y="5047488"/>
            <a:ext cx="1024128" cy="438912"/>
          </a:xfrm>
          <a:prstGeom prst="roundRect">
            <a:avLst>
              <a:gd name="adj" fmla="val 16667"/>
            </a:avLst>
          </a:prstGeom>
          <a:solidFill>
            <a:srgbClr val="243047"/>
          </a:solidFill>
          <a:ln w="12700">
            <a:solidFill>
              <a:srgbClr val="C9A84C"/>
            </a:solidFill>
            <a:prstDash val="solid"/>
          </a:ln>
        </p:spPr>
        <p:txBody>
          <a:bodyPr/>
          <a:lstStyle/>
          <a:p>
            <a:endParaRPr lang="en-US"/>
          </a:p>
        </p:txBody>
      </p:sp>
      <p:sp>
        <p:nvSpPr>
          <p:cNvPr id="28" name="Text 26"/>
          <p:cNvSpPr/>
          <p:nvPr/>
        </p:nvSpPr>
        <p:spPr>
          <a:xfrm>
            <a:off x="822960" y="5047488"/>
            <a:ext cx="1024128" cy="438912"/>
          </a:xfrm>
          <a:prstGeom prst="rect">
            <a:avLst/>
          </a:prstGeom>
          <a:noFill/>
          <a:ln/>
        </p:spPr>
        <p:txBody>
          <a:bodyPr wrap="square" rtlCol="0" anchor="ctr"/>
          <a:lstStyle/>
          <a:p>
            <a:pPr marL="0" indent="0" algn="ctr">
              <a:buNone/>
            </a:pPr>
            <a:r>
              <a:rPr lang="en-US" sz="1250" b="1" dirty="0">
                <a:solidFill>
                  <a:srgbClr val="F9A825"/>
                </a:solidFill>
                <a:latin typeface="Trebuchet MS" pitchFamily="34" charset="0"/>
                <a:ea typeface="Trebuchet MS" pitchFamily="34" charset="-122"/>
                <a:cs typeface="Trebuchet MS" pitchFamily="34" charset="-120"/>
              </a:rPr>
              <a:t>US.37</a:t>
            </a:r>
            <a:endParaRPr lang="en-US" sz="1250" dirty="0"/>
          </a:p>
        </p:txBody>
      </p:sp>
      <p:sp>
        <p:nvSpPr>
          <p:cNvPr id="29" name="Shape 27"/>
          <p:cNvSpPr/>
          <p:nvPr/>
        </p:nvSpPr>
        <p:spPr>
          <a:xfrm>
            <a:off x="1984248" y="5047488"/>
            <a:ext cx="1024128" cy="438912"/>
          </a:xfrm>
          <a:prstGeom prst="roundRect">
            <a:avLst>
              <a:gd name="adj" fmla="val 16667"/>
            </a:avLst>
          </a:prstGeom>
          <a:solidFill>
            <a:srgbClr val="243047"/>
          </a:solidFill>
          <a:ln w="12700">
            <a:solidFill>
              <a:srgbClr val="C9A84C"/>
            </a:solidFill>
            <a:prstDash val="solid"/>
          </a:ln>
        </p:spPr>
        <p:txBody>
          <a:bodyPr/>
          <a:lstStyle/>
          <a:p>
            <a:endParaRPr lang="en-US"/>
          </a:p>
        </p:txBody>
      </p:sp>
      <p:sp>
        <p:nvSpPr>
          <p:cNvPr id="30" name="Text 28"/>
          <p:cNvSpPr/>
          <p:nvPr/>
        </p:nvSpPr>
        <p:spPr>
          <a:xfrm>
            <a:off x="1984248" y="5047488"/>
            <a:ext cx="1024128" cy="438912"/>
          </a:xfrm>
          <a:prstGeom prst="rect">
            <a:avLst/>
          </a:prstGeom>
          <a:noFill/>
          <a:ln/>
        </p:spPr>
        <p:txBody>
          <a:bodyPr wrap="square" rtlCol="0" anchor="ctr"/>
          <a:lstStyle/>
          <a:p>
            <a:pPr marL="0" indent="0" algn="ctr">
              <a:buNone/>
            </a:pPr>
            <a:r>
              <a:rPr lang="en-US" sz="1250" b="1" dirty="0">
                <a:solidFill>
                  <a:srgbClr val="F9A825"/>
                </a:solidFill>
                <a:latin typeface="Trebuchet MS" pitchFamily="34" charset="0"/>
                <a:ea typeface="Trebuchet MS" pitchFamily="34" charset="-122"/>
                <a:cs typeface="Trebuchet MS" pitchFamily="34" charset="-120"/>
              </a:rPr>
              <a:t>US.38</a:t>
            </a:r>
            <a:endParaRPr lang="en-US" sz="1250" dirty="0"/>
          </a:p>
        </p:txBody>
      </p:sp>
      <p:sp>
        <p:nvSpPr>
          <p:cNvPr id="31" name="Text 29"/>
          <p:cNvSpPr/>
          <p:nvPr/>
        </p:nvSpPr>
        <p:spPr>
          <a:xfrm>
            <a:off x="822960" y="5852160"/>
            <a:ext cx="10515600" cy="365760"/>
          </a:xfrm>
          <a:prstGeom prst="rect">
            <a:avLst/>
          </a:prstGeom>
          <a:noFill/>
          <a:ln/>
        </p:spPr>
        <p:txBody>
          <a:bodyPr wrap="square" rtlCol="0" anchor="ctr"/>
          <a:lstStyle/>
          <a:p>
            <a:pPr marL="0" indent="0">
              <a:buNone/>
            </a:pPr>
            <a:r>
              <a:rPr lang="en-US" sz="1200" kern="0" spc="100" dirty="0">
                <a:solidFill>
                  <a:srgbClr val="A7BACB"/>
                </a:solidFill>
                <a:latin typeface="Trebuchet MS" pitchFamily="34" charset="0"/>
                <a:ea typeface="Trebuchet MS" pitchFamily="34" charset="-122"/>
                <a:cs typeface="Trebuchet MS" pitchFamily="34" charset="-120"/>
              </a:rPr>
              <a:t>TCAP EOC LECTURE DECK  ·  Tennessee Academic Standards for U.S. History</a:t>
            </a:r>
            <a:endParaRPr lang="en-US" sz="1200" dirty="0"/>
          </a:p>
        </p:txBody>
      </p:sp>
      <p:sp>
        <p:nvSpPr>
          <p:cNvPr id="32" name="Text 30"/>
          <p:cNvSpPr/>
          <p:nvPr/>
        </p:nvSpPr>
        <p:spPr>
          <a:xfrm>
            <a:off x="822960" y="6263640"/>
            <a:ext cx="10515600" cy="274320"/>
          </a:xfrm>
          <a:prstGeom prst="rect">
            <a:avLst/>
          </a:prstGeom>
          <a:noFill/>
          <a:ln/>
        </p:spPr>
        <p:txBody>
          <a:bodyPr wrap="square" rtlCol="0" anchor="ctr"/>
          <a:lstStyle/>
          <a:p>
            <a:pPr marL="0" indent="0">
              <a:buNone/>
            </a:pPr>
            <a:r>
              <a:rPr lang="en-US" sz="1100" dirty="0">
                <a:solidFill>
                  <a:srgbClr val="A7BACB"/>
                </a:solidFill>
                <a:latin typeface="Calibri" pitchFamily="34" charset="0"/>
                <a:ea typeface="Calibri" pitchFamily="34" charset="-122"/>
                <a:cs typeface="Calibri" pitchFamily="34" charset="-120"/>
              </a:rPr>
              <a:t>TroopToTeacher Technologies LLC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UNIT ROADMAP</a:t>
            </a:r>
            <a:endParaRPr lang="en-US" sz="1200" dirty="0"/>
          </a:p>
        </p:txBody>
      </p:sp>
      <p:sp>
        <p:nvSpPr>
          <p:cNvPr id="4" name="Text 2"/>
          <p:cNvSpPr/>
          <p:nvPr/>
        </p:nvSpPr>
        <p:spPr>
          <a:xfrm>
            <a:off x="548640" y="777240"/>
            <a:ext cx="10972800" cy="548640"/>
          </a:xfrm>
          <a:prstGeom prst="rect">
            <a:avLst/>
          </a:prstGeom>
          <a:noFill/>
          <a:ln/>
        </p:spPr>
        <p:txBody>
          <a:bodyPr wrap="square" rtlCol="0" anchor="ctr"/>
          <a:lstStyle/>
          <a:p>
            <a:pPr marL="0" indent="0">
              <a:buNone/>
            </a:pPr>
            <a:r>
              <a:rPr lang="en-US" sz="3400" b="1" dirty="0">
                <a:solidFill>
                  <a:srgbClr val="1A2332"/>
                </a:solidFill>
                <a:latin typeface="Georgia" pitchFamily="34" charset="0"/>
                <a:ea typeface="Georgia" pitchFamily="34" charset="-122"/>
                <a:cs typeface="Georgia" pitchFamily="34" charset="-120"/>
              </a:rPr>
              <a:t>Where We Are Headed</a:t>
            </a:r>
            <a:endParaRPr lang="en-US" sz="3400" dirty="0"/>
          </a:p>
        </p:txBody>
      </p:sp>
      <p:sp>
        <p:nvSpPr>
          <p:cNvPr id="5" name="Text 3"/>
          <p:cNvSpPr/>
          <p:nvPr/>
        </p:nvSpPr>
        <p:spPr>
          <a:xfrm>
            <a:off x="548640" y="1353312"/>
            <a:ext cx="11064240" cy="320040"/>
          </a:xfrm>
          <a:prstGeom prst="rect">
            <a:avLst/>
          </a:prstGeom>
          <a:noFill/>
          <a:ln/>
        </p:spPr>
        <p:txBody>
          <a:bodyPr wrap="square" rtlCol="0" anchor="ctr"/>
          <a:lstStyle/>
          <a:p>
            <a:pPr marL="0" indent="0">
              <a:buNone/>
            </a:pPr>
            <a:r>
              <a:rPr lang="en-US" sz="1300" i="1" dirty="0">
                <a:solidFill>
                  <a:srgbClr val="5C6470"/>
                </a:solidFill>
                <a:latin typeface="Calibri" pitchFamily="34" charset="0"/>
                <a:ea typeface="Calibri" pitchFamily="34" charset="-122"/>
                <a:cs typeface="Calibri" pitchFamily="34" charset="-120"/>
              </a:rPr>
              <a:t>Unit 4 · The 1920s (1919–1929)  —  Migration, Mass Culture, New Technology &amp; a Fragile Boom</a:t>
            </a:r>
            <a:endParaRPr lang="en-US" sz="1300" dirty="0"/>
          </a:p>
        </p:txBody>
      </p:sp>
      <p:sp>
        <p:nvSpPr>
          <p:cNvPr id="6" name="Shape 4"/>
          <p:cNvSpPr/>
          <p:nvPr/>
        </p:nvSpPr>
        <p:spPr>
          <a:xfrm>
            <a:off x="548640" y="1828800"/>
            <a:ext cx="5349240" cy="583692"/>
          </a:xfrm>
          <a:prstGeom prst="rect">
            <a:avLst/>
          </a:prstGeom>
          <a:solidFill>
            <a:srgbClr val="FFFFFF"/>
          </a:solidFill>
          <a:ln w="12700">
            <a:solidFill>
              <a:srgbClr val="DAD3C2"/>
            </a:solidFill>
            <a:prstDash val="solid"/>
          </a:ln>
        </p:spPr>
        <p:txBody>
          <a:bodyPr/>
          <a:lstStyle/>
          <a:p>
            <a:endParaRPr lang="en-US"/>
          </a:p>
        </p:txBody>
      </p:sp>
      <p:sp>
        <p:nvSpPr>
          <p:cNvPr id="7" name="Shape 5"/>
          <p:cNvSpPr/>
          <p:nvPr/>
        </p:nvSpPr>
        <p:spPr>
          <a:xfrm>
            <a:off x="548640" y="1828800"/>
            <a:ext cx="1188720" cy="583692"/>
          </a:xfrm>
          <a:prstGeom prst="rect">
            <a:avLst/>
          </a:prstGeom>
          <a:solidFill>
            <a:srgbClr val="1A2332"/>
          </a:solidFill>
          <a:ln/>
        </p:spPr>
        <p:txBody>
          <a:bodyPr/>
          <a:lstStyle/>
          <a:p>
            <a:endParaRPr lang="en-US"/>
          </a:p>
        </p:txBody>
      </p:sp>
      <p:sp>
        <p:nvSpPr>
          <p:cNvPr id="8" name="Text 6"/>
          <p:cNvSpPr/>
          <p:nvPr/>
        </p:nvSpPr>
        <p:spPr>
          <a:xfrm>
            <a:off x="548640" y="1828800"/>
            <a:ext cx="1188720" cy="583692"/>
          </a:xfrm>
          <a:prstGeom prst="rect">
            <a:avLst/>
          </a:prstGeom>
          <a:noFill/>
          <a:ln/>
        </p:spPr>
        <p:txBody>
          <a:bodyPr wrap="square" rtlCol="0" anchor="ctr"/>
          <a:lstStyle/>
          <a:p>
            <a:pPr marL="0" indent="0" algn="ctr">
              <a:buNone/>
            </a:pPr>
            <a:r>
              <a:rPr lang="en-US" sz="1600" b="1" dirty="0">
                <a:solidFill>
                  <a:srgbClr val="F9A825"/>
                </a:solidFill>
                <a:latin typeface="Georgia" pitchFamily="34" charset="0"/>
                <a:ea typeface="Georgia" pitchFamily="34" charset="-122"/>
                <a:cs typeface="Georgia" pitchFamily="34" charset="-120"/>
              </a:rPr>
              <a:t>US.28</a:t>
            </a:r>
            <a:endParaRPr lang="en-US" sz="1600" dirty="0"/>
          </a:p>
        </p:txBody>
      </p:sp>
      <p:sp>
        <p:nvSpPr>
          <p:cNvPr id="9" name="Text 7"/>
          <p:cNvSpPr/>
          <p:nvPr/>
        </p:nvSpPr>
        <p:spPr>
          <a:xfrm>
            <a:off x="1920240" y="1828800"/>
            <a:ext cx="3840480" cy="583692"/>
          </a:xfrm>
          <a:prstGeom prst="rect">
            <a:avLst/>
          </a:prstGeom>
          <a:noFill/>
          <a:ln/>
        </p:spPr>
        <p:txBody>
          <a:bodyPr wrap="square" rtlCol="0" anchor="ctr">
            <a:normAutofit/>
          </a:bodyPr>
          <a:lstStyle/>
          <a:p>
            <a:pPr marL="0" indent="0">
              <a:buNone/>
            </a:pPr>
            <a:r>
              <a:rPr lang="en-US" sz="1200" b="1" dirty="0">
                <a:solidFill>
                  <a:srgbClr val="1F2430"/>
                </a:solidFill>
                <a:latin typeface="Calibri" pitchFamily="34" charset="0"/>
                <a:ea typeface="Calibri" pitchFamily="34" charset="-122"/>
                <a:cs typeface="Calibri" pitchFamily="34" charset="-120"/>
              </a:rPr>
              <a:t>The Great Migration</a:t>
            </a:r>
            <a:endParaRPr lang="en-US" sz="1200" dirty="0"/>
          </a:p>
        </p:txBody>
      </p:sp>
      <p:sp>
        <p:nvSpPr>
          <p:cNvPr id="10" name="Shape 8"/>
          <p:cNvSpPr/>
          <p:nvPr/>
        </p:nvSpPr>
        <p:spPr>
          <a:xfrm rot="10800000">
            <a:off x="1042416" y="2421636"/>
            <a:ext cx="182880" cy="137160"/>
          </a:xfrm>
          <a:prstGeom prst="triangle">
            <a:avLst/>
          </a:prstGeom>
          <a:solidFill>
            <a:srgbClr val="C9A84C"/>
          </a:solidFill>
          <a:ln/>
        </p:spPr>
        <p:txBody>
          <a:bodyPr/>
          <a:lstStyle/>
          <a:p>
            <a:endParaRPr lang="en-US"/>
          </a:p>
        </p:txBody>
      </p:sp>
      <p:sp>
        <p:nvSpPr>
          <p:cNvPr id="11" name="Shape 9"/>
          <p:cNvSpPr/>
          <p:nvPr/>
        </p:nvSpPr>
        <p:spPr>
          <a:xfrm>
            <a:off x="548640" y="2567940"/>
            <a:ext cx="5349240" cy="583692"/>
          </a:xfrm>
          <a:prstGeom prst="rect">
            <a:avLst/>
          </a:prstGeom>
          <a:solidFill>
            <a:srgbClr val="FFFFFF"/>
          </a:solidFill>
          <a:ln w="12700">
            <a:solidFill>
              <a:srgbClr val="DAD3C2"/>
            </a:solidFill>
            <a:prstDash val="solid"/>
          </a:ln>
        </p:spPr>
        <p:txBody>
          <a:bodyPr/>
          <a:lstStyle/>
          <a:p>
            <a:endParaRPr lang="en-US"/>
          </a:p>
        </p:txBody>
      </p:sp>
      <p:sp>
        <p:nvSpPr>
          <p:cNvPr id="12" name="Shape 10"/>
          <p:cNvSpPr/>
          <p:nvPr/>
        </p:nvSpPr>
        <p:spPr>
          <a:xfrm>
            <a:off x="548640" y="2567940"/>
            <a:ext cx="1188720" cy="583692"/>
          </a:xfrm>
          <a:prstGeom prst="rect">
            <a:avLst/>
          </a:prstGeom>
          <a:solidFill>
            <a:srgbClr val="1A2332"/>
          </a:solidFill>
          <a:ln/>
        </p:spPr>
        <p:txBody>
          <a:bodyPr/>
          <a:lstStyle/>
          <a:p>
            <a:endParaRPr lang="en-US"/>
          </a:p>
        </p:txBody>
      </p:sp>
      <p:sp>
        <p:nvSpPr>
          <p:cNvPr id="13" name="Text 11"/>
          <p:cNvSpPr/>
          <p:nvPr/>
        </p:nvSpPr>
        <p:spPr>
          <a:xfrm>
            <a:off x="548640" y="2567940"/>
            <a:ext cx="1188720" cy="583692"/>
          </a:xfrm>
          <a:prstGeom prst="rect">
            <a:avLst/>
          </a:prstGeom>
          <a:noFill/>
          <a:ln/>
        </p:spPr>
        <p:txBody>
          <a:bodyPr wrap="square" rtlCol="0" anchor="ctr"/>
          <a:lstStyle/>
          <a:p>
            <a:pPr marL="0" indent="0" algn="ctr">
              <a:buNone/>
            </a:pPr>
            <a:r>
              <a:rPr lang="en-US" sz="1600" b="1" dirty="0">
                <a:solidFill>
                  <a:srgbClr val="F9A825"/>
                </a:solidFill>
                <a:latin typeface="Georgia" pitchFamily="34" charset="0"/>
                <a:ea typeface="Georgia" pitchFamily="34" charset="-122"/>
                <a:cs typeface="Georgia" pitchFamily="34" charset="-120"/>
              </a:rPr>
              <a:t>US.29</a:t>
            </a:r>
            <a:endParaRPr lang="en-US" sz="1600" dirty="0"/>
          </a:p>
        </p:txBody>
      </p:sp>
      <p:sp>
        <p:nvSpPr>
          <p:cNvPr id="14" name="Text 12"/>
          <p:cNvSpPr/>
          <p:nvPr/>
        </p:nvSpPr>
        <p:spPr>
          <a:xfrm>
            <a:off x="1920240" y="2567940"/>
            <a:ext cx="3840480" cy="583692"/>
          </a:xfrm>
          <a:prstGeom prst="rect">
            <a:avLst/>
          </a:prstGeom>
          <a:noFill/>
          <a:ln/>
        </p:spPr>
        <p:txBody>
          <a:bodyPr wrap="square" rtlCol="0" anchor="ctr">
            <a:normAutofit/>
          </a:bodyPr>
          <a:lstStyle/>
          <a:p>
            <a:pPr marL="0" indent="0">
              <a:buNone/>
            </a:pPr>
            <a:r>
              <a:rPr lang="en-US" sz="1200" b="1" dirty="0">
                <a:solidFill>
                  <a:srgbClr val="1F2430"/>
                </a:solidFill>
                <a:latin typeface="Calibri" pitchFamily="34" charset="0"/>
                <a:ea typeface="Calibri" pitchFamily="34" charset="-122"/>
                <a:cs typeface="Calibri" pitchFamily="34" charset="-120"/>
              </a:rPr>
              <a:t>Radio, Movies, and Popular Culture</a:t>
            </a:r>
            <a:endParaRPr lang="en-US" sz="1200" dirty="0"/>
          </a:p>
        </p:txBody>
      </p:sp>
      <p:sp>
        <p:nvSpPr>
          <p:cNvPr id="15" name="Shape 13"/>
          <p:cNvSpPr/>
          <p:nvPr/>
        </p:nvSpPr>
        <p:spPr>
          <a:xfrm rot="10800000">
            <a:off x="1042416" y="3160776"/>
            <a:ext cx="182880" cy="137160"/>
          </a:xfrm>
          <a:prstGeom prst="triangle">
            <a:avLst/>
          </a:prstGeom>
          <a:solidFill>
            <a:srgbClr val="C9A84C"/>
          </a:solidFill>
          <a:ln/>
        </p:spPr>
        <p:txBody>
          <a:bodyPr/>
          <a:lstStyle/>
          <a:p>
            <a:endParaRPr lang="en-US"/>
          </a:p>
        </p:txBody>
      </p:sp>
      <p:sp>
        <p:nvSpPr>
          <p:cNvPr id="16" name="Shape 14"/>
          <p:cNvSpPr/>
          <p:nvPr/>
        </p:nvSpPr>
        <p:spPr>
          <a:xfrm>
            <a:off x="548640" y="3307080"/>
            <a:ext cx="5349240" cy="583692"/>
          </a:xfrm>
          <a:prstGeom prst="rect">
            <a:avLst/>
          </a:prstGeom>
          <a:solidFill>
            <a:srgbClr val="FFFFFF"/>
          </a:solidFill>
          <a:ln w="12700">
            <a:solidFill>
              <a:srgbClr val="DAD3C2"/>
            </a:solidFill>
            <a:prstDash val="solid"/>
          </a:ln>
        </p:spPr>
        <p:txBody>
          <a:bodyPr/>
          <a:lstStyle/>
          <a:p>
            <a:endParaRPr lang="en-US"/>
          </a:p>
        </p:txBody>
      </p:sp>
      <p:sp>
        <p:nvSpPr>
          <p:cNvPr id="17" name="Shape 15"/>
          <p:cNvSpPr/>
          <p:nvPr/>
        </p:nvSpPr>
        <p:spPr>
          <a:xfrm>
            <a:off x="548640" y="3307080"/>
            <a:ext cx="1188720" cy="583692"/>
          </a:xfrm>
          <a:prstGeom prst="rect">
            <a:avLst/>
          </a:prstGeom>
          <a:solidFill>
            <a:srgbClr val="1A2332"/>
          </a:solidFill>
          <a:ln/>
        </p:spPr>
        <p:txBody>
          <a:bodyPr/>
          <a:lstStyle/>
          <a:p>
            <a:endParaRPr lang="en-US"/>
          </a:p>
        </p:txBody>
      </p:sp>
      <p:sp>
        <p:nvSpPr>
          <p:cNvPr id="18" name="Text 16"/>
          <p:cNvSpPr/>
          <p:nvPr/>
        </p:nvSpPr>
        <p:spPr>
          <a:xfrm>
            <a:off x="548640" y="3307080"/>
            <a:ext cx="1188720" cy="583692"/>
          </a:xfrm>
          <a:prstGeom prst="rect">
            <a:avLst/>
          </a:prstGeom>
          <a:noFill/>
          <a:ln/>
        </p:spPr>
        <p:txBody>
          <a:bodyPr wrap="square" rtlCol="0" anchor="ctr"/>
          <a:lstStyle/>
          <a:p>
            <a:pPr marL="0" indent="0" algn="ctr">
              <a:buNone/>
            </a:pPr>
            <a:r>
              <a:rPr lang="en-US" sz="1600" b="1" dirty="0">
                <a:solidFill>
                  <a:srgbClr val="F9A825"/>
                </a:solidFill>
                <a:latin typeface="Georgia" pitchFamily="34" charset="0"/>
                <a:ea typeface="Georgia" pitchFamily="34" charset="-122"/>
                <a:cs typeface="Georgia" pitchFamily="34" charset="-120"/>
              </a:rPr>
              <a:t>US.30</a:t>
            </a:r>
            <a:endParaRPr lang="en-US" sz="1600" dirty="0"/>
          </a:p>
        </p:txBody>
      </p:sp>
      <p:sp>
        <p:nvSpPr>
          <p:cNvPr id="19" name="Text 17"/>
          <p:cNvSpPr/>
          <p:nvPr/>
        </p:nvSpPr>
        <p:spPr>
          <a:xfrm>
            <a:off x="1920240" y="3307080"/>
            <a:ext cx="3840480" cy="583692"/>
          </a:xfrm>
          <a:prstGeom prst="rect">
            <a:avLst/>
          </a:prstGeom>
          <a:noFill/>
          <a:ln/>
        </p:spPr>
        <p:txBody>
          <a:bodyPr wrap="square" rtlCol="0" anchor="ctr">
            <a:normAutofit/>
          </a:bodyPr>
          <a:lstStyle/>
          <a:p>
            <a:pPr marL="0" indent="0">
              <a:buNone/>
            </a:pPr>
            <a:r>
              <a:rPr lang="en-US" sz="1200" b="1" dirty="0">
                <a:solidFill>
                  <a:srgbClr val="1F2430"/>
                </a:solidFill>
                <a:latin typeface="Calibri" pitchFamily="34" charset="0"/>
                <a:ea typeface="Calibri" pitchFamily="34" charset="-122"/>
                <a:cs typeface="Calibri" pitchFamily="34" charset="-120"/>
              </a:rPr>
              <a:t>Grand Ole Opry, Blues &amp; Country Music</a:t>
            </a:r>
            <a:endParaRPr lang="en-US" sz="1200" dirty="0"/>
          </a:p>
        </p:txBody>
      </p:sp>
      <p:sp>
        <p:nvSpPr>
          <p:cNvPr id="20" name="Shape 18"/>
          <p:cNvSpPr/>
          <p:nvPr/>
        </p:nvSpPr>
        <p:spPr>
          <a:xfrm rot="10800000">
            <a:off x="1042416" y="3899916"/>
            <a:ext cx="182880" cy="137160"/>
          </a:xfrm>
          <a:prstGeom prst="triangle">
            <a:avLst/>
          </a:prstGeom>
          <a:solidFill>
            <a:srgbClr val="C9A84C"/>
          </a:solidFill>
          <a:ln/>
        </p:spPr>
        <p:txBody>
          <a:bodyPr/>
          <a:lstStyle/>
          <a:p>
            <a:endParaRPr lang="en-US"/>
          </a:p>
        </p:txBody>
      </p:sp>
      <p:sp>
        <p:nvSpPr>
          <p:cNvPr id="21" name="Shape 19"/>
          <p:cNvSpPr/>
          <p:nvPr/>
        </p:nvSpPr>
        <p:spPr>
          <a:xfrm>
            <a:off x="548640" y="4046220"/>
            <a:ext cx="5349240" cy="583692"/>
          </a:xfrm>
          <a:prstGeom prst="rect">
            <a:avLst/>
          </a:prstGeom>
          <a:solidFill>
            <a:srgbClr val="FFFFFF"/>
          </a:solidFill>
          <a:ln w="12700">
            <a:solidFill>
              <a:srgbClr val="DAD3C2"/>
            </a:solidFill>
            <a:prstDash val="solid"/>
          </a:ln>
        </p:spPr>
        <p:txBody>
          <a:bodyPr/>
          <a:lstStyle/>
          <a:p>
            <a:endParaRPr lang="en-US"/>
          </a:p>
        </p:txBody>
      </p:sp>
      <p:sp>
        <p:nvSpPr>
          <p:cNvPr id="22" name="Shape 20"/>
          <p:cNvSpPr/>
          <p:nvPr/>
        </p:nvSpPr>
        <p:spPr>
          <a:xfrm>
            <a:off x="548640" y="4046220"/>
            <a:ext cx="1188720" cy="583692"/>
          </a:xfrm>
          <a:prstGeom prst="rect">
            <a:avLst/>
          </a:prstGeom>
          <a:solidFill>
            <a:srgbClr val="1A2332"/>
          </a:solidFill>
          <a:ln/>
        </p:spPr>
        <p:txBody>
          <a:bodyPr/>
          <a:lstStyle/>
          <a:p>
            <a:endParaRPr lang="en-US"/>
          </a:p>
        </p:txBody>
      </p:sp>
      <p:sp>
        <p:nvSpPr>
          <p:cNvPr id="23" name="Text 21"/>
          <p:cNvSpPr/>
          <p:nvPr/>
        </p:nvSpPr>
        <p:spPr>
          <a:xfrm>
            <a:off x="548640" y="4046220"/>
            <a:ext cx="1188720" cy="583692"/>
          </a:xfrm>
          <a:prstGeom prst="rect">
            <a:avLst/>
          </a:prstGeom>
          <a:noFill/>
          <a:ln/>
        </p:spPr>
        <p:txBody>
          <a:bodyPr wrap="square" rtlCol="0" anchor="ctr"/>
          <a:lstStyle/>
          <a:p>
            <a:pPr marL="0" indent="0" algn="ctr">
              <a:buNone/>
            </a:pPr>
            <a:r>
              <a:rPr lang="en-US" sz="1600" b="1" dirty="0">
                <a:solidFill>
                  <a:srgbClr val="F9A825"/>
                </a:solidFill>
                <a:latin typeface="Georgia" pitchFamily="34" charset="0"/>
                <a:ea typeface="Georgia" pitchFamily="34" charset="-122"/>
                <a:cs typeface="Georgia" pitchFamily="34" charset="-120"/>
              </a:rPr>
              <a:t>US.31</a:t>
            </a:r>
            <a:endParaRPr lang="en-US" sz="1600" dirty="0"/>
          </a:p>
        </p:txBody>
      </p:sp>
      <p:sp>
        <p:nvSpPr>
          <p:cNvPr id="24" name="Text 22"/>
          <p:cNvSpPr/>
          <p:nvPr/>
        </p:nvSpPr>
        <p:spPr>
          <a:xfrm>
            <a:off x="1920240" y="4046220"/>
            <a:ext cx="3840480" cy="583692"/>
          </a:xfrm>
          <a:prstGeom prst="rect">
            <a:avLst/>
          </a:prstGeom>
          <a:noFill/>
          <a:ln/>
        </p:spPr>
        <p:txBody>
          <a:bodyPr wrap="square" rtlCol="0" anchor="ctr">
            <a:normAutofit/>
          </a:bodyPr>
          <a:lstStyle/>
          <a:p>
            <a:pPr marL="0" indent="0">
              <a:buNone/>
            </a:pPr>
            <a:r>
              <a:rPr lang="en-US" sz="1200" b="1" dirty="0">
                <a:solidFill>
                  <a:srgbClr val="1F2430"/>
                </a:solidFill>
                <a:latin typeface="Calibri" pitchFamily="34" charset="0"/>
                <a:ea typeface="Calibri" pitchFamily="34" charset="-122"/>
                <a:cs typeface="Calibri" pitchFamily="34" charset="-120"/>
              </a:rPr>
              <a:t>New Technologies: Air Travel and Electricity</a:t>
            </a:r>
            <a:endParaRPr lang="en-US" sz="1200" dirty="0"/>
          </a:p>
        </p:txBody>
      </p:sp>
      <p:sp>
        <p:nvSpPr>
          <p:cNvPr id="25" name="Shape 23"/>
          <p:cNvSpPr/>
          <p:nvPr/>
        </p:nvSpPr>
        <p:spPr>
          <a:xfrm rot="10800000">
            <a:off x="1042416" y="4639056"/>
            <a:ext cx="182880" cy="137160"/>
          </a:xfrm>
          <a:prstGeom prst="triangle">
            <a:avLst/>
          </a:prstGeom>
          <a:solidFill>
            <a:srgbClr val="C9A84C"/>
          </a:solidFill>
          <a:ln/>
        </p:spPr>
        <p:txBody>
          <a:bodyPr/>
          <a:lstStyle/>
          <a:p>
            <a:endParaRPr lang="en-US"/>
          </a:p>
        </p:txBody>
      </p:sp>
      <p:sp>
        <p:nvSpPr>
          <p:cNvPr id="26" name="Shape 24"/>
          <p:cNvSpPr/>
          <p:nvPr/>
        </p:nvSpPr>
        <p:spPr>
          <a:xfrm>
            <a:off x="548640" y="4785360"/>
            <a:ext cx="5349240" cy="583692"/>
          </a:xfrm>
          <a:prstGeom prst="rect">
            <a:avLst/>
          </a:prstGeom>
          <a:solidFill>
            <a:srgbClr val="FFFFFF"/>
          </a:solidFill>
          <a:ln w="12700">
            <a:solidFill>
              <a:srgbClr val="DAD3C2"/>
            </a:solidFill>
            <a:prstDash val="solid"/>
          </a:ln>
        </p:spPr>
        <p:txBody>
          <a:bodyPr/>
          <a:lstStyle/>
          <a:p>
            <a:endParaRPr lang="en-US"/>
          </a:p>
        </p:txBody>
      </p:sp>
      <p:sp>
        <p:nvSpPr>
          <p:cNvPr id="27" name="Shape 25"/>
          <p:cNvSpPr/>
          <p:nvPr/>
        </p:nvSpPr>
        <p:spPr>
          <a:xfrm>
            <a:off x="548640" y="4785360"/>
            <a:ext cx="1188720" cy="583692"/>
          </a:xfrm>
          <a:prstGeom prst="rect">
            <a:avLst/>
          </a:prstGeom>
          <a:solidFill>
            <a:srgbClr val="1A2332"/>
          </a:solidFill>
          <a:ln/>
        </p:spPr>
        <p:txBody>
          <a:bodyPr/>
          <a:lstStyle/>
          <a:p>
            <a:endParaRPr lang="en-US"/>
          </a:p>
        </p:txBody>
      </p:sp>
      <p:sp>
        <p:nvSpPr>
          <p:cNvPr id="28" name="Text 26"/>
          <p:cNvSpPr/>
          <p:nvPr/>
        </p:nvSpPr>
        <p:spPr>
          <a:xfrm>
            <a:off x="548640" y="4785360"/>
            <a:ext cx="1188720" cy="583692"/>
          </a:xfrm>
          <a:prstGeom prst="rect">
            <a:avLst/>
          </a:prstGeom>
          <a:noFill/>
          <a:ln/>
        </p:spPr>
        <p:txBody>
          <a:bodyPr wrap="square" rtlCol="0" anchor="ctr"/>
          <a:lstStyle/>
          <a:p>
            <a:pPr marL="0" indent="0" algn="ctr">
              <a:buNone/>
            </a:pPr>
            <a:r>
              <a:rPr lang="en-US" sz="1600" b="1" dirty="0">
                <a:solidFill>
                  <a:srgbClr val="F9A825"/>
                </a:solidFill>
                <a:latin typeface="Georgia" pitchFamily="34" charset="0"/>
                <a:ea typeface="Georgia" pitchFamily="34" charset="-122"/>
                <a:cs typeface="Georgia" pitchFamily="34" charset="-120"/>
              </a:rPr>
              <a:t>US.32</a:t>
            </a:r>
            <a:endParaRPr lang="en-US" sz="1600" dirty="0"/>
          </a:p>
        </p:txBody>
      </p:sp>
      <p:sp>
        <p:nvSpPr>
          <p:cNvPr id="29" name="Text 27"/>
          <p:cNvSpPr/>
          <p:nvPr/>
        </p:nvSpPr>
        <p:spPr>
          <a:xfrm>
            <a:off x="1920240" y="4785360"/>
            <a:ext cx="3840480" cy="583692"/>
          </a:xfrm>
          <a:prstGeom prst="rect">
            <a:avLst/>
          </a:prstGeom>
          <a:noFill/>
          <a:ln/>
        </p:spPr>
        <p:txBody>
          <a:bodyPr wrap="square" rtlCol="0" anchor="ctr">
            <a:normAutofit/>
          </a:bodyPr>
          <a:lstStyle/>
          <a:p>
            <a:pPr marL="0" indent="0">
              <a:buNone/>
            </a:pPr>
            <a:r>
              <a:rPr lang="en-US" sz="1200" b="1" dirty="0">
                <a:solidFill>
                  <a:srgbClr val="1F2430"/>
                </a:solidFill>
                <a:latin typeface="Calibri" pitchFamily="34" charset="0"/>
                <a:ea typeface="Calibri" pitchFamily="34" charset="-122"/>
                <a:cs typeface="Calibri" pitchFamily="34" charset="-120"/>
              </a:rPr>
              <a:t>Henry Ford, the Automobile &amp; Mass Production</a:t>
            </a:r>
            <a:endParaRPr lang="en-US" sz="1200" dirty="0"/>
          </a:p>
        </p:txBody>
      </p:sp>
      <p:sp>
        <p:nvSpPr>
          <p:cNvPr id="30" name="Shape 28"/>
          <p:cNvSpPr/>
          <p:nvPr/>
        </p:nvSpPr>
        <p:spPr>
          <a:xfrm rot="10800000">
            <a:off x="1042416" y="5378196"/>
            <a:ext cx="182880" cy="137160"/>
          </a:xfrm>
          <a:prstGeom prst="triangle">
            <a:avLst/>
          </a:prstGeom>
          <a:solidFill>
            <a:srgbClr val="C9A84C"/>
          </a:solidFill>
          <a:ln/>
        </p:spPr>
        <p:txBody>
          <a:bodyPr/>
          <a:lstStyle/>
          <a:p>
            <a:endParaRPr lang="en-US"/>
          </a:p>
        </p:txBody>
      </p:sp>
      <p:sp>
        <p:nvSpPr>
          <p:cNvPr id="31" name="Shape 29"/>
          <p:cNvSpPr/>
          <p:nvPr/>
        </p:nvSpPr>
        <p:spPr>
          <a:xfrm>
            <a:off x="548640" y="5524500"/>
            <a:ext cx="5349240" cy="583692"/>
          </a:xfrm>
          <a:prstGeom prst="rect">
            <a:avLst/>
          </a:prstGeom>
          <a:solidFill>
            <a:srgbClr val="FFFFFF"/>
          </a:solidFill>
          <a:ln w="12700">
            <a:solidFill>
              <a:srgbClr val="DAD3C2"/>
            </a:solidFill>
            <a:prstDash val="solid"/>
          </a:ln>
        </p:spPr>
        <p:txBody>
          <a:bodyPr/>
          <a:lstStyle/>
          <a:p>
            <a:endParaRPr lang="en-US"/>
          </a:p>
        </p:txBody>
      </p:sp>
      <p:sp>
        <p:nvSpPr>
          <p:cNvPr id="32" name="Shape 30"/>
          <p:cNvSpPr/>
          <p:nvPr/>
        </p:nvSpPr>
        <p:spPr>
          <a:xfrm>
            <a:off x="548640" y="5524500"/>
            <a:ext cx="1188720" cy="583692"/>
          </a:xfrm>
          <a:prstGeom prst="rect">
            <a:avLst/>
          </a:prstGeom>
          <a:solidFill>
            <a:srgbClr val="1A2332"/>
          </a:solidFill>
          <a:ln/>
        </p:spPr>
        <p:txBody>
          <a:bodyPr/>
          <a:lstStyle/>
          <a:p>
            <a:endParaRPr lang="en-US"/>
          </a:p>
        </p:txBody>
      </p:sp>
      <p:sp>
        <p:nvSpPr>
          <p:cNvPr id="33" name="Text 31"/>
          <p:cNvSpPr/>
          <p:nvPr/>
        </p:nvSpPr>
        <p:spPr>
          <a:xfrm>
            <a:off x="548640" y="5524500"/>
            <a:ext cx="1188720" cy="583692"/>
          </a:xfrm>
          <a:prstGeom prst="rect">
            <a:avLst/>
          </a:prstGeom>
          <a:noFill/>
          <a:ln/>
        </p:spPr>
        <p:txBody>
          <a:bodyPr wrap="square" rtlCol="0" anchor="ctr"/>
          <a:lstStyle/>
          <a:p>
            <a:pPr marL="0" indent="0" algn="ctr">
              <a:buNone/>
            </a:pPr>
            <a:r>
              <a:rPr lang="en-US" sz="1600" b="1" dirty="0">
                <a:solidFill>
                  <a:srgbClr val="F9A825"/>
                </a:solidFill>
                <a:latin typeface="Georgia" pitchFamily="34" charset="0"/>
                <a:ea typeface="Georgia" pitchFamily="34" charset="-122"/>
                <a:cs typeface="Georgia" pitchFamily="34" charset="-120"/>
              </a:rPr>
              <a:t>US.33</a:t>
            </a:r>
            <a:endParaRPr lang="en-US" sz="1600" dirty="0"/>
          </a:p>
        </p:txBody>
      </p:sp>
      <p:sp>
        <p:nvSpPr>
          <p:cNvPr id="34" name="Text 32"/>
          <p:cNvSpPr/>
          <p:nvPr/>
        </p:nvSpPr>
        <p:spPr>
          <a:xfrm>
            <a:off x="1920240" y="5524500"/>
            <a:ext cx="3840480" cy="583692"/>
          </a:xfrm>
          <a:prstGeom prst="rect">
            <a:avLst/>
          </a:prstGeom>
          <a:noFill/>
          <a:ln/>
        </p:spPr>
        <p:txBody>
          <a:bodyPr wrap="square" rtlCol="0" anchor="ctr">
            <a:normAutofit/>
          </a:bodyPr>
          <a:lstStyle/>
          <a:p>
            <a:pPr marL="0" indent="0">
              <a:buNone/>
            </a:pPr>
            <a:r>
              <a:rPr lang="en-US" sz="1200" b="1" dirty="0">
                <a:solidFill>
                  <a:srgbClr val="1F2430"/>
                </a:solidFill>
                <a:latin typeface="Calibri" pitchFamily="34" charset="0"/>
                <a:ea typeface="Calibri" pitchFamily="34" charset="-122"/>
                <a:cs typeface="Calibri" pitchFamily="34" charset="-120"/>
              </a:rPr>
              <a:t>The Harlem Renaissance</a:t>
            </a:r>
            <a:endParaRPr lang="en-US" sz="1200" dirty="0"/>
          </a:p>
        </p:txBody>
      </p:sp>
      <p:sp>
        <p:nvSpPr>
          <p:cNvPr id="35" name="Shape 33"/>
          <p:cNvSpPr/>
          <p:nvPr/>
        </p:nvSpPr>
        <p:spPr>
          <a:xfrm>
            <a:off x="6309360" y="1828800"/>
            <a:ext cx="5349240" cy="583692"/>
          </a:xfrm>
          <a:prstGeom prst="rect">
            <a:avLst/>
          </a:prstGeom>
          <a:solidFill>
            <a:srgbClr val="FFFFFF"/>
          </a:solidFill>
          <a:ln w="12700">
            <a:solidFill>
              <a:srgbClr val="DAD3C2"/>
            </a:solidFill>
            <a:prstDash val="solid"/>
          </a:ln>
        </p:spPr>
        <p:txBody>
          <a:bodyPr/>
          <a:lstStyle/>
          <a:p>
            <a:endParaRPr lang="en-US"/>
          </a:p>
        </p:txBody>
      </p:sp>
      <p:sp>
        <p:nvSpPr>
          <p:cNvPr id="36" name="Shape 34"/>
          <p:cNvSpPr/>
          <p:nvPr/>
        </p:nvSpPr>
        <p:spPr>
          <a:xfrm>
            <a:off x="6309360" y="1828800"/>
            <a:ext cx="1188720" cy="583692"/>
          </a:xfrm>
          <a:prstGeom prst="rect">
            <a:avLst/>
          </a:prstGeom>
          <a:solidFill>
            <a:srgbClr val="1A2332"/>
          </a:solidFill>
          <a:ln/>
        </p:spPr>
        <p:txBody>
          <a:bodyPr/>
          <a:lstStyle/>
          <a:p>
            <a:endParaRPr lang="en-US"/>
          </a:p>
        </p:txBody>
      </p:sp>
      <p:sp>
        <p:nvSpPr>
          <p:cNvPr id="37" name="Text 35"/>
          <p:cNvSpPr/>
          <p:nvPr/>
        </p:nvSpPr>
        <p:spPr>
          <a:xfrm>
            <a:off x="6309360" y="1828800"/>
            <a:ext cx="1188720" cy="583692"/>
          </a:xfrm>
          <a:prstGeom prst="rect">
            <a:avLst/>
          </a:prstGeom>
          <a:noFill/>
          <a:ln/>
        </p:spPr>
        <p:txBody>
          <a:bodyPr wrap="square" rtlCol="0" anchor="ctr"/>
          <a:lstStyle/>
          <a:p>
            <a:pPr marL="0" indent="0" algn="ctr">
              <a:buNone/>
            </a:pPr>
            <a:r>
              <a:rPr lang="en-US" sz="1600" b="1" dirty="0">
                <a:solidFill>
                  <a:srgbClr val="F9A825"/>
                </a:solidFill>
                <a:latin typeface="Georgia" pitchFamily="34" charset="0"/>
                <a:ea typeface="Georgia" pitchFamily="34" charset="-122"/>
                <a:cs typeface="Georgia" pitchFamily="34" charset="-120"/>
              </a:rPr>
              <a:t>US.34</a:t>
            </a:r>
            <a:endParaRPr lang="en-US" sz="1600" dirty="0"/>
          </a:p>
        </p:txBody>
      </p:sp>
      <p:sp>
        <p:nvSpPr>
          <p:cNvPr id="38" name="Text 36"/>
          <p:cNvSpPr/>
          <p:nvPr/>
        </p:nvSpPr>
        <p:spPr>
          <a:xfrm>
            <a:off x="7680960" y="1828800"/>
            <a:ext cx="3840480" cy="583692"/>
          </a:xfrm>
          <a:prstGeom prst="rect">
            <a:avLst/>
          </a:prstGeom>
          <a:noFill/>
          <a:ln/>
        </p:spPr>
        <p:txBody>
          <a:bodyPr wrap="square" rtlCol="0" anchor="ctr">
            <a:normAutofit/>
          </a:bodyPr>
          <a:lstStyle/>
          <a:p>
            <a:pPr marL="0" indent="0">
              <a:buNone/>
            </a:pPr>
            <a:r>
              <a:rPr lang="en-US" sz="1200" b="1" dirty="0">
                <a:solidFill>
                  <a:srgbClr val="1F2430"/>
                </a:solidFill>
                <a:latin typeface="Calibri" pitchFamily="34" charset="0"/>
                <a:ea typeface="Calibri" pitchFamily="34" charset="-122"/>
                <a:cs typeface="Calibri" pitchFamily="34" charset="-120"/>
              </a:rPr>
              <a:t>Women in the 1920s: Flappers &amp; Social Changes</a:t>
            </a:r>
            <a:endParaRPr lang="en-US" sz="1200" dirty="0"/>
          </a:p>
        </p:txBody>
      </p:sp>
      <p:sp>
        <p:nvSpPr>
          <p:cNvPr id="39" name="Shape 37"/>
          <p:cNvSpPr/>
          <p:nvPr/>
        </p:nvSpPr>
        <p:spPr>
          <a:xfrm rot="10800000">
            <a:off x="6803136" y="2421636"/>
            <a:ext cx="182880" cy="137160"/>
          </a:xfrm>
          <a:prstGeom prst="triangle">
            <a:avLst/>
          </a:prstGeom>
          <a:solidFill>
            <a:srgbClr val="C9A84C"/>
          </a:solidFill>
          <a:ln/>
        </p:spPr>
        <p:txBody>
          <a:bodyPr/>
          <a:lstStyle/>
          <a:p>
            <a:endParaRPr lang="en-US"/>
          </a:p>
        </p:txBody>
      </p:sp>
      <p:sp>
        <p:nvSpPr>
          <p:cNvPr id="40" name="Shape 38"/>
          <p:cNvSpPr/>
          <p:nvPr/>
        </p:nvSpPr>
        <p:spPr>
          <a:xfrm>
            <a:off x="6309360" y="2567940"/>
            <a:ext cx="5349240" cy="583692"/>
          </a:xfrm>
          <a:prstGeom prst="rect">
            <a:avLst/>
          </a:prstGeom>
          <a:solidFill>
            <a:srgbClr val="FFFFFF"/>
          </a:solidFill>
          <a:ln w="12700">
            <a:solidFill>
              <a:srgbClr val="DAD3C2"/>
            </a:solidFill>
            <a:prstDash val="solid"/>
          </a:ln>
        </p:spPr>
        <p:txBody>
          <a:bodyPr/>
          <a:lstStyle/>
          <a:p>
            <a:endParaRPr lang="en-US"/>
          </a:p>
        </p:txBody>
      </p:sp>
      <p:sp>
        <p:nvSpPr>
          <p:cNvPr id="41" name="Shape 39"/>
          <p:cNvSpPr/>
          <p:nvPr/>
        </p:nvSpPr>
        <p:spPr>
          <a:xfrm>
            <a:off x="6309360" y="2567940"/>
            <a:ext cx="1188720" cy="583692"/>
          </a:xfrm>
          <a:prstGeom prst="rect">
            <a:avLst/>
          </a:prstGeom>
          <a:solidFill>
            <a:srgbClr val="1A2332"/>
          </a:solidFill>
          <a:ln/>
        </p:spPr>
        <p:txBody>
          <a:bodyPr/>
          <a:lstStyle/>
          <a:p>
            <a:endParaRPr lang="en-US"/>
          </a:p>
        </p:txBody>
      </p:sp>
      <p:sp>
        <p:nvSpPr>
          <p:cNvPr id="42" name="Text 40"/>
          <p:cNvSpPr/>
          <p:nvPr/>
        </p:nvSpPr>
        <p:spPr>
          <a:xfrm>
            <a:off x="6309360" y="2567940"/>
            <a:ext cx="1188720" cy="583692"/>
          </a:xfrm>
          <a:prstGeom prst="rect">
            <a:avLst/>
          </a:prstGeom>
          <a:noFill/>
          <a:ln/>
        </p:spPr>
        <p:txBody>
          <a:bodyPr wrap="square" rtlCol="0" anchor="ctr"/>
          <a:lstStyle/>
          <a:p>
            <a:pPr marL="0" indent="0" algn="ctr">
              <a:buNone/>
            </a:pPr>
            <a:r>
              <a:rPr lang="en-US" sz="1600" b="1" dirty="0">
                <a:solidFill>
                  <a:srgbClr val="F9A825"/>
                </a:solidFill>
                <a:latin typeface="Georgia" pitchFamily="34" charset="0"/>
                <a:ea typeface="Georgia" pitchFamily="34" charset="-122"/>
                <a:cs typeface="Georgia" pitchFamily="34" charset="-120"/>
              </a:rPr>
              <a:t>US.35</a:t>
            </a:r>
            <a:endParaRPr lang="en-US" sz="1600" dirty="0"/>
          </a:p>
        </p:txBody>
      </p:sp>
      <p:sp>
        <p:nvSpPr>
          <p:cNvPr id="43" name="Text 41"/>
          <p:cNvSpPr/>
          <p:nvPr/>
        </p:nvSpPr>
        <p:spPr>
          <a:xfrm>
            <a:off x="7680960" y="2567940"/>
            <a:ext cx="3840480" cy="583692"/>
          </a:xfrm>
          <a:prstGeom prst="rect">
            <a:avLst/>
          </a:prstGeom>
          <a:noFill/>
          <a:ln/>
        </p:spPr>
        <p:txBody>
          <a:bodyPr wrap="square" rtlCol="0" anchor="ctr">
            <a:normAutofit/>
          </a:bodyPr>
          <a:lstStyle/>
          <a:p>
            <a:pPr marL="0" indent="0">
              <a:buNone/>
            </a:pPr>
            <a:r>
              <a:rPr lang="en-US" sz="1200" b="1" dirty="0">
                <a:solidFill>
                  <a:srgbClr val="1F2430"/>
                </a:solidFill>
                <a:latin typeface="Calibri" pitchFamily="34" charset="0"/>
                <a:ea typeface="Calibri" pitchFamily="34" charset="-122"/>
                <a:cs typeface="Calibri" pitchFamily="34" charset="-120"/>
              </a:rPr>
              <a:t>Civil Liberties: Red Scare, KKK &amp; NAACP</a:t>
            </a:r>
            <a:endParaRPr lang="en-US" sz="1200" dirty="0"/>
          </a:p>
        </p:txBody>
      </p:sp>
      <p:sp>
        <p:nvSpPr>
          <p:cNvPr id="44" name="Shape 42"/>
          <p:cNvSpPr/>
          <p:nvPr/>
        </p:nvSpPr>
        <p:spPr>
          <a:xfrm rot="10800000">
            <a:off x="6803136" y="3160776"/>
            <a:ext cx="182880" cy="137160"/>
          </a:xfrm>
          <a:prstGeom prst="triangle">
            <a:avLst/>
          </a:prstGeom>
          <a:solidFill>
            <a:srgbClr val="C9A84C"/>
          </a:solidFill>
          <a:ln/>
        </p:spPr>
        <p:txBody>
          <a:bodyPr/>
          <a:lstStyle/>
          <a:p>
            <a:endParaRPr lang="en-US"/>
          </a:p>
        </p:txBody>
      </p:sp>
      <p:sp>
        <p:nvSpPr>
          <p:cNvPr id="45" name="Shape 43"/>
          <p:cNvSpPr/>
          <p:nvPr/>
        </p:nvSpPr>
        <p:spPr>
          <a:xfrm>
            <a:off x="6309360" y="3307080"/>
            <a:ext cx="5349240" cy="583692"/>
          </a:xfrm>
          <a:prstGeom prst="rect">
            <a:avLst/>
          </a:prstGeom>
          <a:solidFill>
            <a:srgbClr val="FFFFFF"/>
          </a:solidFill>
          <a:ln w="12700">
            <a:solidFill>
              <a:srgbClr val="DAD3C2"/>
            </a:solidFill>
            <a:prstDash val="solid"/>
          </a:ln>
        </p:spPr>
        <p:txBody>
          <a:bodyPr/>
          <a:lstStyle/>
          <a:p>
            <a:endParaRPr lang="en-US"/>
          </a:p>
        </p:txBody>
      </p:sp>
      <p:sp>
        <p:nvSpPr>
          <p:cNvPr id="46" name="Shape 44"/>
          <p:cNvSpPr/>
          <p:nvPr/>
        </p:nvSpPr>
        <p:spPr>
          <a:xfrm>
            <a:off x="6309360" y="3307080"/>
            <a:ext cx="1188720" cy="583692"/>
          </a:xfrm>
          <a:prstGeom prst="rect">
            <a:avLst/>
          </a:prstGeom>
          <a:solidFill>
            <a:srgbClr val="1A2332"/>
          </a:solidFill>
          <a:ln/>
        </p:spPr>
        <p:txBody>
          <a:bodyPr/>
          <a:lstStyle/>
          <a:p>
            <a:endParaRPr lang="en-US"/>
          </a:p>
        </p:txBody>
      </p:sp>
      <p:sp>
        <p:nvSpPr>
          <p:cNvPr id="47" name="Text 45"/>
          <p:cNvSpPr/>
          <p:nvPr/>
        </p:nvSpPr>
        <p:spPr>
          <a:xfrm>
            <a:off x="6309360" y="3307080"/>
            <a:ext cx="1188720" cy="583692"/>
          </a:xfrm>
          <a:prstGeom prst="rect">
            <a:avLst/>
          </a:prstGeom>
          <a:noFill/>
          <a:ln/>
        </p:spPr>
        <p:txBody>
          <a:bodyPr wrap="square" rtlCol="0" anchor="ctr"/>
          <a:lstStyle/>
          <a:p>
            <a:pPr marL="0" indent="0" algn="ctr">
              <a:buNone/>
            </a:pPr>
            <a:r>
              <a:rPr lang="en-US" sz="1600" b="1" dirty="0">
                <a:solidFill>
                  <a:srgbClr val="F9A825"/>
                </a:solidFill>
                <a:latin typeface="Georgia" pitchFamily="34" charset="0"/>
                <a:ea typeface="Georgia" pitchFamily="34" charset="-122"/>
                <a:cs typeface="Georgia" pitchFamily="34" charset="-120"/>
              </a:rPr>
              <a:t>US.36</a:t>
            </a:r>
            <a:endParaRPr lang="en-US" sz="1600" dirty="0"/>
          </a:p>
        </p:txBody>
      </p:sp>
      <p:sp>
        <p:nvSpPr>
          <p:cNvPr id="48" name="Text 46"/>
          <p:cNvSpPr/>
          <p:nvPr/>
        </p:nvSpPr>
        <p:spPr>
          <a:xfrm>
            <a:off x="7680960" y="3307080"/>
            <a:ext cx="3840480" cy="583692"/>
          </a:xfrm>
          <a:prstGeom prst="rect">
            <a:avLst/>
          </a:prstGeom>
          <a:noFill/>
          <a:ln/>
        </p:spPr>
        <p:txBody>
          <a:bodyPr wrap="square" rtlCol="0" anchor="ctr">
            <a:normAutofit/>
          </a:bodyPr>
          <a:lstStyle/>
          <a:p>
            <a:pPr marL="0" indent="0">
              <a:buNone/>
            </a:pPr>
            <a:r>
              <a:rPr lang="en-US" sz="1200" b="1" dirty="0">
                <a:solidFill>
                  <a:srgbClr val="1F2430"/>
                </a:solidFill>
                <a:latin typeface="Calibri" pitchFamily="34" charset="0"/>
                <a:ea typeface="Calibri" pitchFamily="34" charset="-122"/>
                <a:cs typeface="Calibri" pitchFamily="34" charset="-120"/>
              </a:rPr>
              <a:t>The Scopes Trial</a:t>
            </a:r>
            <a:endParaRPr lang="en-US" sz="1200" dirty="0"/>
          </a:p>
        </p:txBody>
      </p:sp>
      <p:sp>
        <p:nvSpPr>
          <p:cNvPr id="49" name="Shape 47"/>
          <p:cNvSpPr/>
          <p:nvPr/>
        </p:nvSpPr>
        <p:spPr>
          <a:xfrm rot="10800000">
            <a:off x="6803136" y="3899916"/>
            <a:ext cx="182880" cy="137160"/>
          </a:xfrm>
          <a:prstGeom prst="triangle">
            <a:avLst/>
          </a:prstGeom>
          <a:solidFill>
            <a:srgbClr val="C9A84C"/>
          </a:solidFill>
          <a:ln/>
        </p:spPr>
        <p:txBody>
          <a:bodyPr/>
          <a:lstStyle/>
          <a:p>
            <a:endParaRPr lang="en-US"/>
          </a:p>
        </p:txBody>
      </p:sp>
      <p:sp>
        <p:nvSpPr>
          <p:cNvPr id="50" name="Shape 48"/>
          <p:cNvSpPr/>
          <p:nvPr/>
        </p:nvSpPr>
        <p:spPr>
          <a:xfrm>
            <a:off x="6309360" y="4046220"/>
            <a:ext cx="5349240" cy="583692"/>
          </a:xfrm>
          <a:prstGeom prst="rect">
            <a:avLst/>
          </a:prstGeom>
          <a:solidFill>
            <a:srgbClr val="FFFFFF"/>
          </a:solidFill>
          <a:ln w="12700">
            <a:solidFill>
              <a:srgbClr val="DAD3C2"/>
            </a:solidFill>
            <a:prstDash val="solid"/>
          </a:ln>
        </p:spPr>
        <p:txBody>
          <a:bodyPr/>
          <a:lstStyle/>
          <a:p>
            <a:endParaRPr lang="en-US"/>
          </a:p>
        </p:txBody>
      </p:sp>
      <p:sp>
        <p:nvSpPr>
          <p:cNvPr id="51" name="Shape 49"/>
          <p:cNvSpPr/>
          <p:nvPr/>
        </p:nvSpPr>
        <p:spPr>
          <a:xfrm>
            <a:off x="6309360" y="4046220"/>
            <a:ext cx="1188720" cy="583692"/>
          </a:xfrm>
          <a:prstGeom prst="rect">
            <a:avLst/>
          </a:prstGeom>
          <a:solidFill>
            <a:srgbClr val="1A2332"/>
          </a:solidFill>
          <a:ln/>
        </p:spPr>
        <p:txBody>
          <a:bodyPr/>
          <a:lstStyle/>
          <a:p>
            <a:endParaRPr lang="en-US"/>
          </a:p>
        </p:txBody>
      </p:sp>
      <p:sp>
        <p:nvSpPr>
          <p:cNvPr id="52" name="Text 50"/>
          <p:cNvSpPr/>
          <p:nvPr/>
        </p:nvSpPr>
        <p:spPr>
          <a:xfrm>
            <a:off x="6309360" y="4046220"/>
            <a:ext cx="1188720" cy="583692"/>
          </a:xfrm>
          <a:prstGeom prst="rect">
            <a:avLst/>
          </a:prstGeom>
          <a:noFill/>
          <a:ln/>
        </p:spPr>
        <p:txBody>
          <a:bodyPr wrap="square" rtlCol="0" anchor="ctr"/>
          <a:lstStyle/>
          <a:p>
            <a:pPr marL="0" indent="0" algn="ctr">
              <a:buNone/>
            </a:pPr>
            <a:r>
              <a:rPr lang="en-US" sz="1600" b="1" dirty="0">
                <a:solidFill>
                  <a:srgbClr val="F9A825"/>
                </a:solidFill>
                <a:latin typeface="Georgia" pitchFamily="34" charset="0"/>
                <a:ea typeface="Georgia" pitchFamily="34" charset="-122"/>
                <a:cs typeface="Georgia" pitchFamily="34" charset="-120"/>
              </a:rPr>
              <a:t>US.37</a:t>
            </a:r>
            <a:endParaRPr lang="en-US" sz="1600" dirty="0"/>
          </a:p>
        </p:txBody>
      </p:sp>
      <p:sp>
        <p:nvSpPr>
          <p:cNvPr id="53" name="Text 51"/>
          <p:cNvSpPr/>
          <p:nvPr/>
        </p:nvSpPr>
        <p:spPr>
          <a:xfrm>
            <a:off x="7680960" y="4046220"/>
            <a:ext cx="3840480" cy="583692"/>
          </a:xfrm>
          <a:prstGeom prst="rect">
            <a:avLst/>
          </a:prstGeom>
          <a:noFill/>
          <a:ln/>
        </p:spPr>
        <p:txBody>
          <a:bodyPr wrap="square" rtlCol="0" anchor="ctr">
            <a:normAutofit/>
          </a:bodyPr>
          <a:lstStyle/>
          <a:p>
            <a:pPr marL="0" indent="0">
              <a:buNone/>
            </a:pPr>
            <a:r>
              <a:rPr lang="en-US" sz="1200" b="1" dirty="0">
                <a:solidFill>
                  <a:srgbClr val="1F2430"/>
                </a:solidFill>
                <a:latin typeface="Calibri" pitchFamily="34" charset="0"/>
                <a:ea typeface="Calibri" pitchFamily="34" charset="-122"/>
                <a:cs typeface="Calibri" pitchFamily="34" charset="-120"/>
              </a:rPr>
              <a:t>Prohibition &amp; Its Impact on American Society</a:t>
            </a:r>
            <a:endParaRPr lang="en-US" sz="1200" dirty="0"/>
          </a:p>
        </p:txBody>
      </p:sp>
      <p:sp>
        <p:nvSpPr>
          <p:cNvPr id="54" name="Shape 52"/>
          <p:cNvSpPr/>
          <p:nvPr/>
        </p:nvSpPr>
        <p:spPr>
          <a:xfrm rot="10800000">
            <a:off x="6803136" y="4639056"/>
            <a:ext cx="182880" cy="137160"/>
          </a:xfrm>
          <a:prstGeom prst="triangle">
            <a:avLst/>
          </a:prstGeom>
          <a:solidFill>
            <a:srgbClr val="C9A84C"/>
          </a:solidFill>
          <a:ln/>
        </p:spPr>
        <p:txBody>
          <a:bodyPr/>
          <a:lstStyle/>
          <a:p>
            <a:endParaRPr lang="en-US"/>
          </a:p>
        </p:txBody>
      </p:sp>
      <p:sp>
        <p:nvSpPr>
          <p:cNvPr id="55" name="Shape 53"/>
          <p:cNvSpPr/>
          <p:nvPr/>
        </p:nvSpPr>
        <p:spPr>
          <a:xfrm>
            <a:off x="6309360" y="4785360"/>
            <a:ext cx="5349240" cy="583692"/>
          </a:xfrm>
          <a:prstGeom prst="rect">
            <a:avLst/>
          </a:prstGeom>
          <a:solidFill>
            <a:srgbClr val="FFFFFF"/>
          </a:solidFill>
          <a:ln w="12700">
            <a:solidFill>
              <a:srgbClr val="DAD3C2"/>
            </a:solidFill>
            <a:prstDash val="solid"/>
          </a:ln>
        </p:spPr>
        <p:txBody>
          <a:bodyPr/>
          <a:lstStyle/>
          <a:p>
            <a:endParaRPr lang="en-US"/>
          </a:p>
        </p:txBody>
      </p:sp>
      <p:sp>
        <p:nvSpPr>
          <p:cNvPr id="56" name="Shape 54"/>
          <p:cNvSpPr/>
          <p:nvPr/>
        </p:nvSpPr>
        <p:spPr>
          <a:xfrm>
            <a:off x="6309360" y="4785360"/>
            <a:ext cx="1188720" cy="583692"/>
          </a:xfrm>
          <a:prstGeom prst="rect">
            <a:avLst/>
          </a:prstGeom>
          <a:solidFill>
            <a:srgbClr val="1A2332"/>
          </a:solidFill>
          <a:ln/>
        </p:spPr>
        <p:txBody>
          <a:bodyPr/>
          <a:lstStyle/>
          <a:p>
            <a:endParaRPr lang="en-US"/>
          </a:p>
        </p:txBody>
      </p:sp>
      <p:sp>
        <p:nvSpPr>
          <p:cNvPr id="57" name="Text 55"/>
          <p:cNvSpPr/>
          <p:nvPr/>
        </p:nvSpPr>
        <p:spPr>
          <a:xfrm>
            <a:off x="6309360" y="4785360"/>
            <a:ext cx="1188720" cy="583692"/>
          </a:xfrm>
          <a:prstGeom prst="rect">
            <a:avLst/>
          </a:prstGeom>
          <a:noFill/>
          <a:ln/>
        </p:spPr>
        <p:txBody>
          <a:bodyPr wrap="square" rtlCol="0" anchor="ctr"/>
          <a:lstStyle/>
          <a:p>
            <a:pPr marL="0" indent="0" algn="ctr">
              <a:buNone/>
            </a:pPr>
            <a:r>
              <a:rPr lang="en-US" sz="1600" b="1" dirty="0">
                <a:solidFill>
                  <a:srgbClr val="F9A825"/>
                </a:solidFill>
                <a:latin typeface="Georgia" pitchFamily="34" charset="0"/>
                <a:ea typeface="Georgia" pitchFamily="34" charset="-122"/>
                <a:cs typeface="Georgia" pitchFamily="34" charset="-120"/>
              </a:rPr>
              <a:t>US.38</a:t>
            </a:r>
            <a:endParaRPr lang="en-US" sz="1600" dirty="0"/>
          </a:p>
        </p:txBody>
      </p:sp>
      <p:sp>
        <p:nvSpPr>
          <p:cNvPr id="58" name="Text 56"/>
          <p:cNvSpPr/>
          <p:nvPr/>
        </p:nvSpPr>
        <p:spPr>
          <a:xfrm>
            <a:off x="7680960" y="4785360"/>
            <a:ext cx="3840480" cy="583692"/>
          </a:xfrm>
          <a:prstGeom prst="rect">
            <a:avLst/>
          </a:prstGeom>
          <a:noFill/>
          <a:ln/>
        </p:spPr>
        <p:txBody>
          <a:bodyPr wrap="square" rtlCol="0" anchor="ctr">
            <a:normAutofit/>
          </a:bodyPr>
          <a:lstStyle/>
          <a:p>
            <a:pPr marL="0" indent="0">
              <a:buNone/>
            </a:pPr>
            <a:r>
              <a:rPr lang="en-US" sz="1200" b="1" dirty="0">
                <a:solidFill>
                  <a:srgbClr val="1F2430"/>
                </a:solidFill>
                <a:latin typeface="Calibri" pitchFamily="34" charset="0"/>
                <a:ea typeface="Calibri" pitchFamily="34" charset="-122"/>
                <a:cs typeface="Calibri" pitchFamily="34" charset="-120"/>
              </a:rPr>
              <a:t>Credit, Consumerism &amp; Financial Speculation</a:t>
            </a:r>
            <a:endParaRPr lang="en-US" sz="1200" dirty="0"/>
          </a:p>
        </p:txBody>
      </p:sp>
      <p:sp>
        <p:nvSpPr>
          <p:cNvPr id="59" name="Shape 57"/>
          <p:cNvSpPr/>
          <p:nvPr/>
        </p:nvSpPr>
        <p:spPr>
          <a:xfrm>
            <a:off x="5532120" y="1856232"/>
            <a:ext cx="658368" cy="384048"/>
          </a:xfrm>
          <a:prstGeom prst="roundRect">
            <a:avLst>
              <a:gd name="adj" fmla="val 14286"/>
            </a:avLst>
          </a:prstGeom>
          <a:solidFill>
            <a:srgbClr val="1A2332"/>
          </a:solidFill>
          <a:ln/>
        </p:spPr>
        <p:txBody>
          <a:bodyPr/>
          <a:lstStyle/>
          <a:p>
            <a:endParaRPr lang="en-US"/>
          </a:p>
        </p:txBody>
      </p:sp>
      <p:sp>
        <p:nvSpPr>
          <p:cNvPr id="60" name="Text 58"/>
          <p:cNvSpPr/>
          <p:nvPr/>
        </p:nvSpPr>
        <p:spPr>
          <a:xfrm>
            <a:off x="5532120" y="1856232"/>
            <a:ext cx="658368" cy="384048"/>
          </a:xfrm>
          <a:prstGeom prst="rect">
            <a:avLst/>
          </a:prstGeom>
          <a:noFill/>
          <a:ln/>
        </p:spPr>
        <p:txBody>
          <a:bodyPr wrap="square" rtlCol="0" anchor="ctr"/>
          <a:lstStyle/>
          <a:p>
            <a:pPr marL="0" indent="0" algn="ctr">
              <a:buNone/>
            </a:pPr>
            <a:r>
              <a:rPr lang="en-US" sz="900" b="1" dirty="0">
                <a:solidFill>
                  <a:srgbClr val="F9A825"/>
                </a:solidFill>
                <a:latin typeface="Trebuchet MS" pitchFamily="34" charset="0"/>
                <a:ea typeface="Trebuchet MS" pitchFamily="34" charset="-122"/>
                <a:cs typeface="Trebuchet MS" pitchFamily="34" charset="-120"/>
              </a:rPr>
              <a:t>then</a:t>
            </a:r>
            <a:endParaRPr lang="en-US" sz="900" dirty="0"/>
          </a:p>
        </p:txBody>
      </p:sp>
      <p:sp>
        <p:nvSpPr>
          <p:cNvPr id="61" name="Shape 59"/>
          <p:cNvSpPr/>
          <p:nvPr/>
        </p:nvSpPr>
        <p:spPr>
          <a:xfrm rot="5400000">
            <a:off x="6199632" y="1984248"/>
            <a:ext cx="164592" cy="146304"/>
          </a:xfrm>
          <a:prstGeom prst="triangle">
            <a:avLst/>
          </a:prstGeom>
          <a:solidFill>
            <a:srgbClr val="C9A84C"/>
          </a:solidFill>
          <a:ln/>
        </p:spPr>
        <p:txBody>
          <a:bodyPr/>
          <a:lstStyle/>
          <a:p>
            <a:endParaRPr lang="en-US"/>
          </a:p>
        </p:txBody>
      </p:sp>
      <p:sp>
        <p:nvSpPr>
          <p:cNvPr id="62" name="Text 6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63" name="Text 6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85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640080" y="64008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BELL RINGER · HOOK</a:t>
            </a:r>
            <a:endParaRPr lang="en-US" sz="1200" dirty="0"/>
          </a:p>
        </p:txBody>
      </p:sp>
      <p:sp>
        <p:nvSpPr>
          <p:cNvPr id="4" name="Text 2"/>
          <p:cNvSpPr/>
          <p:nvPr/>
        </p:nvSpPr>
        <p:spPr>
          <a:xfrm>
            <a:off x="640080" y="1234440"/>
            <a:ext cx="10789920" cy="1965960"/>
          </a:xfrm>
          <a:prstGeom prst="rect">
            <a:avLst/>
          </a:prstGeom>
          <a:noFill/>
          <a:ln/>
        </p:spPr>
        <p:txBody>
          <a:bodyPr wrap="square" rtlCol="0" anchor="t">
            <a:normAutofit lnSpcReduction="10000"/>
          </a:bodyPr>
          <a:lstStyle/>
          <a:p>
            <a:pPr marL="0" indent="0">
              <a:lnSpc>
                <a:spcPct val="105000"/>
              </a:lnSpc>
              <a:buNone/>
            </a:pPr>
            <a:r>
              <a:rPr lang="en-US" sz="3000" b="1" dirty="0">
                <a:solidFill>
                  <a:srgbClr val="FFFFFF"/>
                </a:solidFill>
                <a:latin typeface="Georgia" pitchFamily="34" charset="0"/>
                <a:ea typeface="Georgia" pitchFamily="34" charset="-122"/>
                <a:cs typeface="Georgia" pitchFamily="34" charset="-120"/>
              </a:rPr>
              <a:t>In 1919, most Americans had never heard a radio or driven a car.</a:t>
            </a:r>
            <a:endParaRPr lang="en-US" sz="3000" dirty="0"/>
          </a:p>
          <a:p>
            <a:pPr marL="0" indent="0">
              <a:lnSpc>
                <a:spcPct val="105000"/>
              </a:lnSpc>
              <a:buNone/>
            </a:pPr>
            <a:r>
              <a:rPr lang="en-US" sz="3000" b="1" dirty="0">
                <a:solidFill>
                  <a:srgbClr val="FFFFFF"/>
                </a:solidFill>
                <a:latin typeface="Georgia" pitchFamily="34" charset="0"/>
                <a:ea typeface="Georgia" pitchFamily="34" charset="-122"/>
                <a:cs typeface="Georgia" pitchFamily="34" charset="-120"/>
              </a:rPr>
              <a:t>By 1929, cars, radios, movies, and jazz had remade daily life — and then it all came crashing down.</a:t>
            </a:r>
            <a:endParaRPr lang="en-US" sz="3000" dirty="0"/>
          </a:p>
        </p:txBody>
      </p:sp>
      <p:sp>
        <p:nvSpPr>
          <p:cNvPr id="5" name="Text 3"/>
          <p:cNvSpPr/>
          <p:nvPr/>
        </p:nvSpPr>
        <p:spPr>
          <a:xfrm>
            <a:off x="640080" y="3337560"/>
            <a:ext cx="10789920" cy="914400"/>
          </a:xfrm>
          <a:prstGeom prst="rect">
            <a:avLst/>
          </a:prstGeom>
          <a:noFill/>
          <a:ln/>
        </p:spPr>
        <p:txBody>
          <a:bodyPr wrap="square" rtlCol="0" anchor="t">
            <a:normAutofit/>
          </a:bodyPr>
          <a:lstStyle/>
          <a:p>
            <a:pPr marL="0" indent="0">
              <a:buNone/>
            </a:pPr>
            <a:r>
              <a:rPr lang="en-US" sz="2200" i="1" dirty="0">
                <a:solidFill>
                  <a:srgbClr val="F9A825"/>
                </a:solidFill>
                <a:latin typeface="Georgia" pitchFamily="34" charset="0"/>
                <a:ea typeface="Georgia" pitchFamily="34" charset="-122"/>
                <a:cs typeface="Georgia" pitchFamily="34" charset="-120"/>
              </a:rPr>
              <a:t>How did a single decade transform American culture, technology, and everyday life — and why did that dazzling prosperity end in disaster?</a:t>
            </a:r>
            <a:endParaRPr lang="en-US" sz="2200" dirty="0"/>
          </a:p>
        </p:txBody>
      </p:sp>
      <p:sp>
        <p:nvSpPr>
          <p:cNvPr id="6" name="Shape 4"/>
          <p:cNvSpPr/>
          <p:nvPr/>
        </p:nvSpPr>
        <p:spPr>
          <a:xfrm>
            <a:off x="640080" y="4434840"/>
            <a:ext cx="10881360" cy="1417320"/>
          </a:xfrm>
          <a:prstGeom prst="roundRect">
            <a:avLst>
              <a:gd name="adj" fmla="val 6452"/>
            </a:avLst>
          </a:prstGeom>
          <a:solidFill>
            <a:srgbClr val="243047"/>
          </a:solidFill>
          <a:ln w="12700">
            <a:solidFill>
              <a:srgbClr val="C9A84C"/>
            </a:solidFill>
            <a:prstDash val="solid"/>
          </a:ln>
        </p:spPr>
        <p:txBody>
          <a:bodyPr/>
          <a:lstStyle/>
          <a:p>
            <a:endParaRPr lang="en-US"/>
          </a:p>
        </p:txBody>
      </p:sp>
      <p:sp>
        <p:nvSpPr>
          <p:cNvPr id="7" name="Text 5"/>
          <p:cNvSpPr/>
          <p:nvPr/>
        </p:nvSpPr>
        <p:spPr>
          <a:xfrm>
            <a:off x="914400" y="4617720"/>
            <a:ext cx="2743200" cy="320040"/>
          </a:xfrm>
          <a:prstGeom prst="rect">
            <a:avLst/>
          </a:prstGeom>
          <a:noFill/>
          <a:ln/>
        </p:spPr>
        <p:txBody>
          <a:bodyPr wrap="square" rtlCol="0" anchor="ctr"/>
          <a:lstStyle/>
          <a:p>
            <a:pPr marL="0" indent="0">
              <a:buNone/>
            </a:pPr>
            <a:r>
              <a:rPr lang="en-US" sz="1300" b="1" kern="0" spc="200" dirty="0">
                <a:solidFill>
                  <a:srgbClr val="F9A825"/>
                </a:solidFill>
                <a:latin typeface="Trebuchet MS" pitchFamily="34" charset="0"/>
                <a:ea typeface="Trebuchet MS" pitchFamily="34" charset="-122"/>
                <a:cs typeface="Trebuchet MS" pitchFamily="34" charset="-120"/>
              </a:rPr>
              <a:t>TURN &amp; TALK</a:t>
            </a:r>
            <a:endParaRPr lang="en-US" sz="1300" dirty="0"/>
          </a:p>
        </p:txBody>
      </p:sp>
      <p:sp>
        <p:nvSpPr>
          <p:cNvPr id="8" name="Text 6"/>
          <p:cNvSpPr/>
          <p:nvPr/>
        </p:nvSpPr>
        <p:spPr>
          <a:xfrm>
            <a:off x="914400" y="4937760"/>
            <a:ext cx="10332720" cy="822960"/>
          </a:xfrm>
          <a:prstGeom prst="rect">
            <a:avLst/>
          </a:prstGeom>
          <a:noFill/>
          <a:ln/>
        </p:spPr>
        <p:txBody>
          <a:bodyPr wrap="square" rtlCol="0" anchor="t"/>
          <a:lstStyle/>
          <a:p>
            <a:pPr marL="0" indent="0">
              <a:lnSpc>
                <a:spcPct val="105000"/>
              </a:lnSpc>
              <a:buNone/>
            </a:pPr>
            <a:r>
              <a:rPr lang="en-US" sz="1600" dirty="0">
                <a:solidFill>
                  <a:srgbClr val="FFFFFF"/>
                </a:solidFill>
                <a:latin typeface="Calibri" pitchFamily="34" charset="0"/>
                <a:ea typeface="Calibri" pitchFamily="34" charset="-122"/>
                <a:cs typeface="Calibri" pitchFamily="34" charset="-120"/>
              </a:rPr>
              <a:t>With a partner, list three things you think were brand new or exciting about the 1920s, and one reason the good times might not have lasted. Keep your list; we will return to it at the end of the unit.</a:t>
            </a:r>
            <a:endParaRPr lang="en-US" sz="16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lstStyle/>
          <a:p>
            <a:endParaRPr lang="en-US"/>
          </a:p>
        </p:txBody>
      </p:sp>
      <p:sp>
        <p:nvSpPr>
          <p:cNvPr id="3" name="Shape 1"/>
          <p:cNvSpPr/>
          <p:nvPr/>
        </p:nvSpPr>
        <p:spPr>
          <a:xfrm>
            <a:off x="320040" y="0"/>
            <a:ext cx="109728" cy="6858000"/>
          </a:xfrm>
          <a:prstGeom prst="rect">
            <a:avLst/>
          </a:prstGeom>
          <a:solidFill>
            <a:srgbClr val="C9A84C"/>
          </a:solidFill>
          <a:ln/>
        </p:spPr>
        <p:txBody>
          <a:bodyPr/>
          <a:lstStyle/>
          <a:p>
            <a:endParaRPr lang="en-US"/>
          </a:p>
        </p:txBody>
      </p:sp>
      <p:sp>
        <p:nvSpPr>
          <p:cNvPr id="4" name="Text 2"/>
          <p:cNvSpPr/>
          <p:nvPr/>
        </p:nvSpPr>
        <p:spPr>
          <a:xfrm>
            <a:off x="914400" y="1005840"/>
            <a:ext cx="5486400" cy="365760"/>
          </a:xfrm>
          <a:prstGeom prst="rect">
            <a:avLst/>
          </a:prstGeom>
          <a:noFill/>
          <a:ln/>
        </p:spPr>
        <p:txBody>
          <a:bodyPr wrap="square" rtlCol="0" anchor="ctr"/>
          <a:lstStyle/>
          <a:p>
            <a:pPr marL="0" indent="0">
              <a:buNone/>
            </a:pPr>
            <a:r>
              <a:rPr lang="en-US" sz="1500" b="1" kern="0" spc="40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marL="0" indent="0">
              <a:buNone/>
            </a:pPr>
            <a:r>
              <a:rPr lang="en-US" sz="8800" b="1" dirty="0">
                <a:solidFill>
                  <a:srgbClr val="FFFFFF"/>
                </a:solidFill>
                <a:latin typeface="Georgia" pitchFamily="34" charset="0"/>
                <a:ea typeface="Georgia" pitchFamily="34" charset="-122"/>
                <a:cs typeface="Georgia" pitchFamily="34" charset="-120"/>
              </a:rPr>
              <a:t>US.28</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marL="0" indent="0">
              <a:lnSpc>
                <a:spcPct val="102000"/>
              </a:lnSpc>
              <a:buNone/>
            </a:pPr>
            <a:r>
              <a:rPr lang="en-US" sz="3000" i="1" dirty="0">
                <a:solidFill>
                  <a:srgbClr val="F9A825"/>
                </a:solidFill>
                <a:latin typeface="Georgia" pitchFamily="34" charset="0"/>
                <a:ea typeface="Georgia" pitchFamily="34" charset="-122"/>
                <a:cs typeface="Georgia" pitchFamily="34" charset="-120"/>
              </a:rPr>
              <a:t>The Great Migration</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marL="0" indent="0" algn="l">
              <a:buNone/>
            </a:pPr>
            <a:r>
              <a:rPr lang="en-US" sz="1100" b="1" kern="0" spc="20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lstStyle/>
          <a:p>
            <a:endParaRPr lang="en-US"/>
          </a:p>
        </p:txBody>
      </p:sp>
      <p:sp>
        <p:nvSpPr>
          <p:cNvPr id="9" name="Text 7"/>
          <p:cNvSpPr/>
          <p:nvPr/>
        </p:nvSpPr>
        <p:spPr>
          <a:xfrm>
            <a:off x="6812280" y="1417320"/>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lstStyle/>
          <a:p>
            <a:endParaRPr lang="en-US"/>
          </a:p>
        </p:txBody>
      </p:sp>
      <p:sp>
        <p:nvSpPr>
          <p:cNvPr id="12" name="Text 10"/>
          <p:cNvSpPr/>
          <p:nvPr/>
        </p:nvSpPr>
        <p:spPr>
          <a:xfrm>
            <a:off x="6812280" y="1755648"/>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lstStyle/>
          <a:p>
            <a:endParaRPr lang="en-US"/>
          </a:p>
        </p:txBody>
      </p:sp>
      <p:sp>
        <p:nvSpPr>
          <p:cNvPr id="15" name="Text 13"/>
          <p:cNvSpPr/>
          <p:nvPr/>
        </p:nvSpPr>
        <p:spPr>
          <a:xfrm>
            <a:off x="6812280" y="2093976"/>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lstStyle/>
          <a:p>
            <a:endParaRPr lang="en-US"/>
          </a:p>
        </p:txBody>
      </p:sp>
      <p:sp>
        <p:nvSpPr>
          <p:cNvPr id="18" name="Text 16"/>
          <p:cNvSpPr/>
          <p:nvPr/>
        </p:nvSpPr>
        <p:spPr>
          <a:xfrm>
            <a:off x="1143000" y="3913632"/>
            <a:ext cx="5486400" cy="274320"/>
          </a:xfrm>
          <a:prstGeom prst="rect">
            <a:avLst/>
          </a:prstGeom>
          <a:noFill/>
          <a:ln/>
        </p:spPr>
        <p:txBody>
          <a:bodyPr wrap="square" rtlCol="0" anchor="ctr"/>
          <a:lstStyle/>
          <a:p>
            <a:pPr marL="0" indent="0">
              <a:buNone/>
            </a:pPr>
            <a:r>
              <a:rPr lang="en-US" sz="1100" b="1" kern="0" spc="20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Analyze the impact of the Great Migration of African Americans that began in the post-World War I era from the rural South to the industrial regions of the Northeast and Midwest. (TCA)</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lstStyle/>
          <a:p>
            <a:endParaRPr lang="en-US"/>
          </a:p>
        </p:txBody>
      </p:sp>
      <p:sp>
        <p:nvSpPr>
          <p:cNvPr id="21" name="Text 19"/>
          <p:cNvSpPr/>
          <p:nvPr/>
        </p:nvSpPr>
        <p:spPr>
          <a:xfrm>
            <a:off x="1143000" y="5230368"/>
            <a:ext cx="1828800" cy="292608"/>
          </a:xfrm>
          <a:prstGeom prst="rect">
            <a:avLst/>
          </a:prstGeom>
          <a:noFill/>
          <a:ln/>
        </p:spPr>
        <p:txBody>
          <a:bodyPr wrap="square" rtlCol="0" anchor="ctr"/>
          <a:lstStyle/>
          <a:p>
            <a:pPr marL="0" indent="0">
              <a:buNone/>
            </a:pPr>
            <a:r>
              <a:rPr lang="en-US" sz="1300" b="1" kern="0" spc="20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marL="0" indent="0">
              <a:lnSpc>
                <a:spcPct val="100000"/>
              </a:lnSpc>
              <a:buNone/>
            </a:pPr>
            <a:r>
              <a:rPr lang="en-US" sz="1250" b="1" dirty="0">
                <a:solidFill>
                  <a:srgbClr val="1A2332"/>
                </a:solidFill>
                <a:latin typeface="Calibri" pitchFamily="34" charset="0"/>
                <a:ea typeface="Calibri" pitchFamily="34" charset="-122"/>
                <a:cs typeface="Calibri" pitchFamily="34" charset="-120"/>
              </a:rPr>
              <a:t>I can analyze the impact of the Great Migration of African Americans from the rural South to the industrial regions of the Northeast and Midwest in the post-World War I era.</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lstStyle/>
          <a:p>
            <a:endParaRPr lang="en-US"/>
          </a:p>
        </p:txBody>
      </p:sp>
      <p:sp>
        <p:nvSpPr>
          <p:cNvPr id="7" name="Shape 5"/>
          <p:cNvSpPr/>
          <p:nvPr/>
        </p:nvSpPr>
        <p:spPr>
          <a:xfrm>
            <a:off x="548640" y="2057400"/>
            <a:ext cx="777240" cy="1234440"/>
          </a:xfrm>
          <a:prstGeom prst="rect">
            <a:avLst/>
          </a:prstGeom>
          <a:solidFill>
            <a:srgbClr val="1A2332"/>
          </a:solidFill>
          <a:ln/>
        </p:spPr>
        <p:txBody>
          <a:bodyPr/>
          <a:lstStyle/>
          <a:p>
            <a:endParaRPr lang="en-US"/>
          </a:p>
        </p:txBody>
      </p:sp>
      <p:sp>
        <p:nvSpPr>
          <p:cNvPr id="8" name="Text 6"/>
          <p:cNvSpPr/>
          <p:nvPr/>
        </p:nvSpPr>
        <p:spPr>
          <a:xfrm>
            <a:off x="548640" y="2057400"/>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Unit 3  </a:t>
            </a:r>
            <a:r>
              <a:rPr lang="en-US" sz="1350" dirty="0">
                <a:solidFill>
                  <a:srgbClr val="1F2430"/>
                </a:solidFill>
                <a:latin typeface="Calibri" pitchFamily="34" charset="0"/>
                <a:ea typeface="Calibri" pitchFamily="34" charset="-122"/>
                <a:cs typeface="Calibri" pitchFamily="34" charset="-120"/>
              </a:rPr>
              <a:t>What era did we just finish, and how did it end?</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lstStyle/>
          <a:p>
            <a:endParaRPr lang="en-US"/>
          </a:p>
        </p:txBody>
      </p:sp>
      <p:sp>
        <p:nvSpPr>
          <p:cNvPr id="11" name="Shape 9"/>
          <p:cNvSpPr/>
          <p:nvPr/>
        </p:nvSpPr>
        <p:spPr>
          <a:xfrm>
            <a:off x="548640" y="3456432"/>
            <a:ext cx="777240" cy="1234440"/>
          </a:xfrm>
          <a:prstGeom prst="rect">
            <a:avLst/>
          </a:prstGeom>
          <a:solidFill>
            <a:srgbClr val="1A2332"/>
          </a:solidFill>
          <a:ln/>
        </p:spPr>
        <p:txBody>
          <a:bodyPr/>
          <a:lstStyle/>
          <a:p>
            <a:endParaRPr lang="en-US"/>
          </a:p>
        </p:txBody>
      </p:sp>
      <p:sp>
        <p:nvSpPr>
          <p:cNvPr id="12" name="Text 10"/>
          <p:cNvSpPr/>
          <p:nvPr/>
        </p:nvSpPr>
        <p:spPr>
          <a:xfrm>
            <a:off x="548640" y="3456432"/>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Unit Hook  </a:t>
            </a:r>
            <a:r>
              <a:rPr lang="en-US" sz="1350" dirty="0">
                <a:solidFill>
                  <a:srgbClr val="1F2430"/>
                </a:solidFill>
                <a:latin typeface="Calibri" pitchFamily="34" charset="0"/>
                <a:ea typeface="Calibri" pitchFamily="34" charset="-122"/>
                <a:cs typeface="Calibri" pitchFamily="34" charset="-120"/>
              </a:rPr>
              <a:t>What is the big question of Unit 4?</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lstStyle/>
          <a:p>
            <a:endParaRPr lang="en-US"/>
          </a:p>
        </p:txBody>
      </p:sp>
      <p:sp>
        <p:nvSpPr>
          <p:cNvPr id="6" name="Text 4"/>
          <p:cNvSpPr/>
          <p:nvPr/>
        </p:nvSpPr>
        <p:spPr>
          <a:xfrm>
            <a:off x="8686800" y="786384"/>
            <a:ext cx="1143000" cy="457200"/>
          </a:xfrm>
          <a:prstGeom prst="rect">
            <a:avLst/>
          </a:prstGeom>
          <a:noFill/>
          <a:ln/>
        </p:spPr>
        <p:txBody>
          <a:bodyPr wrap="square" rtlCol="0" anchor="ctr"/>
          <a:lstStyle/>
          <a:p>
            <a:pPr marL="0" indent="0" algn="ctr">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lstStyle/>
          <a:p>
            <a:endParaRPr lang="en-US"/>
          </a:p>
        </p:txBody>
      </p:sp>
      <p:sp>
        <p:nvSpPr>
          <p:cNvPr id="8" name="Text 6"/>
          <p:cNvSpPr/>
          <p:nvPr/>
        </p:nvSpPr>
        <p:spPr>
          <a:xfrm>
            <a:off x="9966960" y="786384"/>
            <a:ext cx="164592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lstStyle/>
          <a:p>
            <a:endParaRPr lang="en-US"/>
          </a:p>
        </p:txBody>
      </p:sp>
      <p:sp>
        <p:nvSpPr>
          <p:cNvPr id="11" name="Text 9"/>
          <p:cNvSpPr/>
          <p:nvPr/>
        </p:nvSpPr>
        <p:spPr>
          <a:xfrm>
            <a:off x="1005840" y="2194560"/>
            <a:ext cx="10149840" cy="1417320"/>
          </a:xfrm>
          <a:prstGeom prst="rect">
            <a:avLst/>
          </a:prstGeom>
          <a:noFill/>
          <a:ln/>
        </p:spPr>
        <p:txBody>
          <a:bodyPr wrap="square" rtlCol="0" anchor="ctr"/>
          <a:lstStyle/>
          <a:p>
            <a:pPr marL="0" indent="0" algn="ctr">
              <a:lnSpc>
                <a:spcPct val="108000"/>
              </a:lnSpc>
              <a:buNone/>
            </a:pPr>
            <a:r>
              <a:rPr lang="en-US" sz="2400" b="1" dirty="0">
                <a:solidFill>
                  <a:srgbClr val="FFFFFF"/>
                </a:solidFill>
                <a:latin typeface="Georgia" pitchFamily="34" charset="0"/>
                <a:ea typeface="Georgia" pitchFamily="34" charset="-122"/>
                <a:cs typeface="Georgia" pitchFamily="34" charset="-120"/>
              </a:rPr>
              <a:t>What is the Great Migration?</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lstStyle/>
          <a:p>
            <a:endParaRPr lang="en-US"/>
          </a:p>
        </p:txBody>
      </p:sp>
      <p:sp>
        <p:nvSpPr>
          <p:cNvPr id="13" name="Text 11"/>
          <p:cNvSpPr/>
          <p:nvPr/>
        </p:nvSpPr>
        <p:spPr>
          <a:xfrm>
            <a:off x="914400" y="4224528"/>
            <a:ext cx="2743200" cy="320040"/>
          </a:xfrm>
          <a:prstGeom prst="rect">
            <a:avLst/>
          </a:prstGeom>
          <a:noFill/>
          <a:ln/>
        </p:spPr>
        <p:txBody>
          <a:bodyPr wrap="square" rtlCol="0" anchor="ctr"/>
          <a:lstStyle/>
          <a:p>
            <a:pPr marL="0" indent="0">
              <a:buNone/>
            </a:pPr>
            <a:r>
              <a:rPr lang="en-US" sz="1200" b="1" kern="0" spc="20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marL="0" indent="0">
              <a:lnSpc>
                <a:spcPct val="108000"/>
              </a:lnSpc>
              <a:buNone/>
            </a:pPr>
            <a:r>
              <a:rPr lang="en-US" sz="1600" dirty="0">
                <a:solidFill>
                  <a:srgbClr val="1F2430"/>
                </a:solidFill>
                <a:latin typeface="Calibri" pitchFamily="34" charset="0"/>
                <a:ea typeface="Calibri" pitchFamily="34" charset="-122"/>
                <a:cs typeface="Calibri" pitchFamily="34" charset="-120"/>
              </a:rPr>
              <a:t>The movement of about six million Black Americans from the rural South to Northern and Midwestern cities in the early 20th century.</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lstStyle/>
          <a:p>
            <a:endParaRPr lang="en-US"/>
          </a:p>
        </p:txBody>
      </p:sp>
      <p:sp>
        <p:nvSpPr>
          <p:cNvPr id="16" name="Text 14"/>
          <p:cNvSpPr/>
          <p:nvPr/>
        </p:nvSpPr>
        <p:spPr>
          <a:xfrm>
            <a:off x="822960" y="5623560"/>
            <a:ext cx="10515600" cy="457200"/>
          </a:xfrm>
          <a:prstGeom prst="rect">
            <a:avLst/>
          </a:prstGeom>
          <a:noFill/>
          <a:ln/>
        </p:spPr>
        <p:txBody>
          <a:bodyPr wrap="square" rtlCol="0" anchor="ctr"/>
          <a:lstStyle/>
          <a:p>
            <a:pPr marL="0" indent="0">
              <a:buNone/>
            </a:pPr>
            <a:r>
              <a:rPr lang="en-US" sz="1150" b="1" i="1" kern="0" spc="100" dirty="0">
                <a:solidFill>
                  <a:srgbClr val="C62828"/>
                </a:solidFill>
                <a:latin typeface="Trebuchet MS" pitchFamily="34" charset="0"/>
                <a:ea typeface="Trebuchet MS" pitchFamily="34" charset="-122"/>
                <a:cs typeface="Trebuchet MS" pitchFamily="34" charset="-120"/>
              </a:rPr>
              <a:t>COMMIT FIRST:  </a:t>
            </a: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lstStyle/>
          <a:p>
            <a:endParaRPr lang="en-US"/>
          </a:p>
        </p:txBody>
      </p:sp>
      <p:sp>
        <p:nvSpPr>
          <p:cNvPr id="6" name="Text 4"/>
          <p:cNvSpPr/>
          <p:nvPr/>
        </p:nvSpPr>
        <p:spPr>
          <a:xfrm>
            <a:off x="1005840" y="1965960"/>
            <a:ext cx="10149840" cy="1645920"/>
          </a:xfrm>
          <a:prstGeom prst="rect">
            <a:avLst/>
          </a:prstGeom>
          <a:noFill/>
          <a:ln/>
        </p:spPr>
        <p:txBody>
          <a:bodyPr wrap="square" rtlCol="0" anchor="ctr"/>
          <a:lstStyle/>
          <a:p>
            <a:pPr marL="0" indent="0">
              <a:lnSpc>
                <a:spcPct val="108000"/>
              </a:lnSpc>
              <a:buNone/>
            </a:pPr>
            <a:r>
              <a:rPr lang="en-US" sz="2600" i="1" dirty="0">
                <a:solidFill>
                  <a:srgbClr val="FFFFFF"/>
                </a:solidFill>
                <a:latin typeface="Georgia" pitchFamily="34" charset="0"/>
                <a:ea typeface="Georgia" pitchFamily="34" charset="-122"/>
                <a:cs typeface="Georgia" pitchFamily="34" charset="-120"/>
              </a:rPr>
              <a:t>Between 1916 and 1970, roughly six million Black Americans packed their belongings and left the rural South for cities like Chicago, Detroit, and New York, one of the largest internal migrations in the nation's history.</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lstStyle/>
          <a:p>
            <a:endParaRPr lang="en-US"/>
          </a:p>
        </p:txBody>
      </p:sp>
      <p:sp>
        <p:nvSpPr>
          <p:cNvPr id="8" name="Text 6"/>
          <p:cNvSpPr/>
          <p:nvPr/>
        </p:nvSpPr>
        <p:spPr>
          <a:xfrm>
            <a:off x="914400" y="4297680"/>
            <a:ext cx="2743200" cy="320040"/>
          </a:xfrm>
          <a:prstGeom prst="rect">
            <a:avLst/>
          </a:prstGeom>
          <a:noFill/>
          <a:ln/>
        </p:spPr>
        <p:txBody>
          <a:bodyPr wrap="square" rtlCol="0" anchor="ctr"/>
          <a:lstStyle/>
          <a:p>
            <a:pPr marL="0" indent="0">
              <a:buNone/>
            </a:pPr>
            <a:r>
              <a:rPr lang="en-US" sz="1300" b="1" kern="0" spc="20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lstStyle/>
          <a:p>
            <a:endParaRPr lang="en-US"/>
          </a:p>
        </p:txBody>
      </p:sp>
      <p:sp>
        <p:nvSpPr>
          <p:cNvPr id="10" name="Text 8"/>
          <p:cNvSpPr/>
          <p:nvPr/>
        </p:nvSpPr>
        <p:spPr>
          <a:xfrm>
            <a:off x="7772400" y="4224528"/>
            <a:ext cx="3657600" cy="45720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marL="0" indent="0">
              <a:lnSpc>
                <a:spcPct val="110000"/>
              </a:lnSpc>
              <a:buNone/>
            </a:pPr>
            <a:r>
              <a:rPr lang="en-US" sz="1600" dirty="0">
                <a:solidFill>
                  <a:srgbClr val="1F2430"/>
                </a:solidFill>
                <a:latin typeface="Calibri" pitchFamily="34" charset="0"/>
                <a:ea typeface="Calibri" pitchFamily="34" charset="-122"/>
                <a:cs typeface="Calibri" pitchFamily="34" charset="-120"/>
              </a:rPr>
              <a:t>Why would millions of people leave the only home their families had known for generations, and how did that single decision reshape American cities forever?</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Push Factors: Reasons to Leave the South</a:t>
            </a:r>
            <a:endParaRPr lang="en-US" sz="3000" dirty="0"/>
          </a:p>
        </p:txBody>
      </p:sp>
      <p:sp>
        <p:nvSpPr>
          <p:cNvPr id="5" name="Shape 3"/>
          <p:cNvSpPr/>
          <p:nvPr/>
        </p:nvSpPr>
        <p:spPr>
          <a:xfrm>
            <a:off x="10180015" y="502920"/>
            <a:ext cx="146304" cy="146304"/>
          </a:xfrm>
          <a:prstGeom prst="ellipse">
            <a:avLst/>
          </a:prstGeom>
          <a:solidFill>
            <a:srgbClr val="C62828"/>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6766560" cy="26974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969264"/>
          </a:xfrm>
          <a:prstGeom prst="rect">
            <a:avLst/>
          </a:prstGeom>
          <a:noFill/>
          <a:ln/>
        </p:spPr>
        <p:txBody>
          <a:bodyPr wrap="square" rtlCol="0" anchor="t">
            <a:normAutofit fontScale="62500" lnSpcReduction="20000"/>
          </a:bodyPr>
          <a:lstStyle/>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Jim Crow laws enforced legal segregation and disenfranchisement, restricting opportunities for African Americans.</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sharecropping system kept them in poverty through economic exploitation.</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Racial violence including lynchings, KKK terrorism, and legal injustice created dangerous conditions.</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Inferior segregated schools limited educational advancement, while the boll weevil destroyed cotton crops, reducing farm jobs.</a:t>
            </a:r>
            <a:endParaRPr lang="en-US" sz="1350" dirty="0"/>
          </a:p>
        </p:txBody>
      </p:sp>
      <p:sp>
        <p:nvSpPr>
          <p:cNvPr id="13" name="Shape 11"/>
          <p:cNvSpPr/>
          <p:nvPr/>
        </p:nvSpPr>
        <p:spPr>
          <a:xfrm>
            <a:off x="868680" y="3255264"/>
            <a:ext cx="6126480" cy="1097280"/>
          </a:xfrm>
          <a:prstGeom prst="roundRect">
            <a:avLst>
              <a:gd name="adj" fmla="val 5000"/>
            </a:avLst>
          </a:prstGeom>
          <a:solidFill>
            <a:srgbClr val="EEF3F7"/>
          </a:solidFill>
          <a:ln w="12700">
            <a:solidFill>
              <a:srgbClr val="A7BACB"/>
            </a:solidFill>
            <a:prstDash val="solid"/>
          </a:ln>
        </p:spPr>
        <p:txBody>
          <a:bodyPr/>
          <a:lstStyle/>
          <a:p>
            <a:endParaRPr lang="en-US"/>
          </a:p>
        </p:txBody>
      </p:sp>
      <p:sp>
        <p:nvSpPr>
          <p:cNvPr id="14" name="Text 12"/>
          <p:cNvSpPr/>
          <p:nvPr/>
        </p:nvSpPr>
        <p:spPr>
          <a:xfrm>
            <a:off x="1024128" y="3310128"/>
            <a:ext cx="5852160" cy="237744"/>
          </a:xfrm>
          <a:prstGeom prst="rect">
            <a:avLst/>
          </a:prstGeom>
          <a:noFill/>
          <a:ln/>
        </p:spPr>
        <p:txBody>
          <a:bodyPr wrap="square" rtlCol="0" anchor="ctr"/>
          <a:lstStyle/>
          <a:p>
            <a:pPr marL="0" indent="0">
              <a:buNone/>
            </a:pPr>
            <a:r>
              <a:rPr lang="en-US" sz="900" b="1" kern="0" spc="100" dirty="0">
                <a:solidFill>
                  <a:srgbClr val="002858"/>
                </a:solidFill>
                <a:latin typeface="Trebuchet MS" pitchFamily="34" charset="0"/>
                <a:ea typeface="Trebuchet MS" pitchFamily="34" charset="-122"/>
                <a:cs typeface="Trebuchet MS" pitchFamily="34" charset="-120"/>
              </a:rPr>
              <a:t>SENTENCE FRAME  </a:t>
            </a:r>
            <a:r>
              <a:rPr lang="en-US" sz="850" i="1" dirty="0">
                <a:solidFill>
                  <a:srgbClr val="5C6470"/>
                </a:solidFill>
              </a:rPr>
              <a:t>(EL &amp; writing support)  </a:t>
            </a:r>
            <a:endParaRPr lang="en-US" sz="900" dirty="0"/>
          </a:p>
        </p:txBody>
      </p:sp>
      <p:sp>
        <p:nvSpPr>
          <p:cNvPr id="15" name="Text 13"/>
          <p:cNvSpPr/>
          <p:nvPr/>
        </p:nvSpPr>
        <p:spPr>
          <a:xfrm>
            <a:off x="1024128" y="3566160"/>
            <a:ext cx="6309360" cy="658368"/>
          </a:xfrm>
          <a:prstGeom prst="rect">
            <a:avLst/>
          </a:prstGeom>
          <a:noFill/>
          <a:ln/>
        </p:spPr>
        <p:txBody>
          <a:bodyPr wrap="square" rtlCol="0" anchor="t"/>
          <a:lstStyle/>
          <a:p>
            <a:pPr marL="0" indent="0">
              <a:lnSpc>
                <a:spcPct val="104000"/>
              </a:lnSpc>
              <a:buNone/>
            </a:pPr>
            <a:r>
              <a:rPr lang="en-US" sz="1050" i="1" dirty="0">
                <a:solidFill>
                  <a:srgbClr val="1F2430"/>
                </a:solidFill>
                <a:latin typeface="Calibri" pitchFamily="34" charset="0"/>
                <a:ea typeface="Calibri" pitchFamily="34" charset="-122"/>
                <a:cs typeface="Calibri" pitchFamily="34" charset="-120"/>
              </a:rPr>
              <a:t>The Great Migration happened because ________ pushed Black Americans out of the South and ________ pulled them toward Northern cities.</a:t>
            </a:r>
            <a:endParaRPr lang="en-US" sz="1050" dirty="0"/>
          </a:p>
        </p:txBody>
      </p:sp>
      <p:sp>
        <p:nvSpPr>
          <p:cNvPr id="16" name="Shape 14"/>
          <p:cNvSpPr/>
          <p:nvPr/>
        </p:nvSpPr>
        <p:spPr>
          <a:xfrm>
            <a:off x="7552944" y="1746504"/>
            <a:ext cx="4142232" cy="2935224"/>
          </a:xfrm>
          <a:prstGeom prst="rect">
            <a:avLst/>
          </a:prstGeom>
          <a:solidFill>
            <a:srgbClr val="FFFFFF"/>
          </a:solidFill>
          <a:ln w="12700">
            <a:solidFill>
              <a:srgbClr val="DAD3C2"/>
            </a:solidFill>
            <a:prstDash val="solid"/>
          </a:ln>
        </p:spPr>
        <p:txBody>
          <a:bodyPr/>
          <a:lstStyle/>
          <a:p>
            <a:endParaRPr lang="en-US"/>
          </a:p>
        </p:txBody>
      </p:sp>
      <p:pic>
        <p:nvPicPr>
          <p:cNvPr id="17" name="Image 0" descr="unit4-full/img/great-migration-arthur-family-1920.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814635" y="1783080"/>
            <a:ext cx="3618851" cy="2862072"/>
          </a:xfrm>
          <a:prstGeom prst="rect">
            <a:avLst/>
          </a:prstGeom>
        </p:spPr>
      </p:pic>
      <p:sp>
        <p:nvSpPr>
          <p:cNvPr id="18" name="Text 15"/>
          <p:cNvSpPr/>
          <p:nvPr/>
        </p:nvSpPr>
        <p:spPr>
          <a:xfrm>
            <a:off x="7589520" y="470001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Chicago Commission on Race Relations, c1920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The Negro in Chicago (1922)</a:t>
            </a:r>
            <a:endParaRPr lang="en-US" sz="800" dirty="0"/>
          </a:p>
        </p:txBody>
      </p:sp>
      <p:sp>
        <p:nvSpPr>
          <p:cNvPr id="19" name="Shape 16"/>
          <p:cNvSpPr/>
          <p:nvPr/>
        </p:nvSpPr>
        <p:spPr>
          <a:xfrm>
            <a:off x="548640" y="4709160"/>
            <a:ext cx="6766560" cy="1143000"/>
          </a:xfrm>
          <a:prstGeom prst="roundRect">
            <a:avLst>
              <a:gd name="adj" fmla="val 6400"/>
            </a:avLst>
          </a:prstGeom>
          <a:solidFill>
            <a:srgbClr val="FBEFD0"/>
          </a:solidFill>
          <a:ln w="19050">
            <a:solidFill>
              <a:srgbClr val="C9A84C"/>
            </a:solidFill>
            <a:prstDash val="solid"/>
          </a:ln>
        </p:spPr>
        <p:txBody>
          <a:bodyPr/>
          <a:lstStyle/>
          <a:p>
            <a:endParaRPr lang="en-US"/>
          </a:p>
        </p:txBody>
      </p:sp>
      <p:sp>
        <p:nvSpPr>
          <p:cNvPr id="20" name="Text 17"/>
          <p:cNvSpPr/>
          <p:nvPr/>
        </p:nvSpPr>
        <p:spPr>
          <a:xfrm>
            <a:off x="868680" y="4846320"/>
            <a:ext cx="5486400" cy="274320"/>
          </a:xfrm>
          <a:prstGeom prst="rect">
            <a:avLst/>
          </a:prstGeom>
          <a:noFill/>
          <a:ln/>
        </p:spPr>
        <p:txBody>
          <a:bodyPr wrap="square" rtlCol="0" anchor="ctr"/>
          <a:lstStyle/>
          <a:p>
            <a:pPr marL="0" indent="0">
              <a:buNone/>
            </a:pPr>
            <a:r>
              <a:rPr lang="en-US" sz="1200" b="1" kern="0" spc="10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21" name="Text 18"/>
          <p:cNvSpPr/>
          <p:nvPr/>
        </p:nvSpPr>
        <p:spPr>
          <a:xfrm>
            <a:off x="868680" y="5120640"/>
            <a:ext cx="6126480" cy="685800"/>
          </a:xfrm>
          <a:prstGeom prst="rect">
            <a:avLst/>
          </a:prstGeom>
          <a:noFill/>
          <a:ln/>
        </p:spPr>
        <p:txBody>
          <a:bodyPr wrap="square" rtlCol="0" anchor="t"/>
          <a:lstStyle/>
          <a:p>
            <a:pPr marL="0" indent="0">
              <a:lnSpc>
                <a:spcPct val="105000"/>
              </a:lnSpc>
              <a:buNone/>
            </a:pPr>
            <a:r>
              <a:rPr lang="en-US" sz="1300" dirty="0">
                <a:solidFill>
                  <a:srgbClr val="1F2430"/>
                </a:solidFill>
                <a:latin typeface="Calibri" pitchFamily="34" charset="0"/>
                <a:ea typeface="Calibri" pitchFamily="34" charset="-122"/>
                <a:cs typeface="Calibri" pitchFamily="34" charset="-120"/>
              </a:rPr>
              <a:t>Tennessee cities like Memphis and Nashville were both departure points and destinations in the Great Migration, and Memphis's Beale Street became a hub of the Black music and business culture migrants carried with them.</a:t>
            </a:r>
            <a:endParaRPr lang="en-US" sz="1300" dirty="0"/>
          </a:p>
        </p:txBody>
      </p:sp>
      <p:sp>
        <p:nvSpPr>
          <p:cNvPr id="22" name="Shape 19"/>
          <p:cNvSpPr/>
          <p:nvPr/>
        </p:nvSpPr>
        <p:spPr>
          <a:xfrm>
            <a:off x="7589520" y="5440680"/>
            <a:ext cx="4069080" cy="713232"/>
          </a:xfrm>
          <a:prstGeom prst="roundRect">
            <a:avLst>
              <a:gd name="adj" fmla="val 7692"/>
            </a:avLst>
          </a:prstGeom>
          <a:solidFill>
            <a:srgbClr val="1A2332"/>
          </a:solidFill>
          <a:ln/>
        </p:spPr>
        <p:txBody>
          <a:bodyPr/>
          <a:lstStyle/>
          <a:p>
            <a:endParaRPr lang="en-US"/>
          </a:p>
        </p:txBody>
      </p:sp>
      <p:sp>
        <p:nvSpPr>
          <p:cNvPr id="23" name="Text 20"/>
          <p:cNvSpPr/>
          <p:nvPr/>
        </p:nvSpPr>
        <p:spPr>
          <a:xfrm>
            <a:off x="7772400" y="5477256"/>
            <a:ext cx="3703320" cy="640080"/>
          </a:xfrm>
          <a:prstGeom prst="rect">
            <a:avLst/>
          </a:prstGeom>
          <a:noFill/>
          <a:ln/>
        </p:spPr>
        <p:txBody>
          <a:bodyPr wrap="square" rtlCol="0" anchor="ctr"/>
          <a:lstStyle/>
          <a:p>
            <a:pPr marL="0" indent="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5"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6"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Pull Factors: Attractions of the North</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C62828"/>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World War I created labor shortages in Northern factories, opening industrial jobs with significantly higher wages—average $1,000+ annually versus $300 in the South.</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Northern cities offered better schools and colleges, the ability to vote and participate in politics, less legally enforced segregation, and better housing, healthcare, and cultural opportunities.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Economic Opportunities Comparison</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C62828"/>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 the South, African Americans were limited to sharecropping, domestic service, and agricultural labor.</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Northern cities offered factory work in steel mills, meatpacking, and railroads, plus domestic service, factory positions, and clerical work for women.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Northern cities also allowed African American entrepreneurship and professional services.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Social and Cultural Changes</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C62828"/>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Southern communities lost significant working-age population, affecting agricultural production and weakening traditional networks.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Northern cities like Chicago, Detroit, and New York saw massive population growth, creation of African American neighborhoods and business districts, and the cultural flowering that led to the Harlem Renaissance.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Social tensions arose from competition for jobs and housing.</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Long-term Implications</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C62828"/>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Great Migration transformed America from rural to urban society.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Concentrated African American voters in Northern cities increased political influence.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Urban communities provided the base for future civil rights organizing.</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migration created an African American middle class and spread jazz, blues, literature, and art from concentrated urban communities.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Approximately 6 million African Americans migrated between 1910-1970.</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27632"/>
            <a:ext cx="11064240" cy="868680"/>
          </a:xfrm>
          <a:prstGeom prst="rect">
            <a:avLst/>
          </a:prstGeom>
          <a:solidFill>
            <a:srgbClr val="1A2332"/>
          </a:solidFill>
          <a:ln/>
        </p:spPr>
        <p:txBody>
          <a:bodyPr/>
          <a:lstStyle/>
          <a:p>
            <a:endParaRPr lang="en-US"/>
          </a:p>
        </p:txBody>
      </p:sp>
      <p:sp>
        <p:nvSpPr>
          <p:cNvPr id="7" name="Text 5"/>
          <p:cNvSpPr/>
          <p:nvPr/>
        </p:nvSpPr>
        <p:spPr>
          <a:xfrm>
            <a:off x="667512" y="1627632"/>
            <a:ext cx="10826496" cy="63093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African American Migrants</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Six million who left the South</a:t>
            </a:r>
            <a:endParaRPr lang="en-US" sz="1100" dirty="0"/>
          </a:p>
        </p:txBody>
      </p:sp>
      <p:sp>
        <p:nvSpPr>
          <p:cNvPr id="9" name="Shape 7"/>
          <p:cNvSpPr/>
          <p:nvPr/>
        </p:nvSpPr>
        <p:spPr>
          <a:xfrm>
            <a:off x="667512" y="2578608"/>
            <a:ext cx="2783454" cy="2212848"/>
          </a:xfrm>
          <a:prstGeom prst="rect">
            <a:avLst/>
          </a:prstGeom>
          <a:solidFill>
            <a:srgbClr val="FFFFFF"/>
          </a:solidFill>
          <a:ln w="12700">
            <a:solidFill>
              <a:srgbClr val="DAD3C2"/>
            </a:solidFill>
            <a:prstDash val="solid"/>
          </a:ln>
        </p:spPr>
        <p:txBody>
          <a:bodyPr/>
          <a:lstStyle/>
          <a:p>
            <a:endParaRPr lang="en-US"/>
          </a:p>
        </p:txBody>
      </p:sp>
      <p:pic>
        <p:nvPicPr>
          <p:cNvPr id="10" name="Image 0" descr="unit4-full/img/great-migration-arthur-family-1920.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94944" y="2606040"/>
            <a:ext cx="2728590" cy="2157984"/>
          </a:xfrm>
          <a:prstGeom prst="rect">
            <a:avLst/>
          </a:prstGeom>
        </p:spPr>
      </p:pic>
      <p:sp>
        <p:nvSpPr>
          <p:cNvPr id="11" name="Text 8"/>
          <p:cNvSpPr/>
          <p:nvPr/>
        </p:nvSpPr>
        <p:spPr>
          <a:xfrm>
            <a:off x="694944" y="4800600"/>
            <a:ext cx="3231510"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Chicago Commission on Race Relations, c1920  </a:t>
            </a:r>
            <a:r>
              <a:rPr lang="en-US" sz="6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The Negro in Chicago (1922)</a:t>
            </a:r>
            <a:endParaRPr lang="en-US" sz="600" dirty="0"/>
          </a:p>
        </p:txBody>
      </p:sp>
      <p:sp>
        <p:nvSpPr>
          <p:cNvPr id="12" name="Text 9"/>
          <p:cNvSpPr/>
          <p:nvPr/>
        </p:nvSpPr>
        <p:spPr>
          <a:xfrm>
            <a:off x="3606414" y="2606040"/>
            <a:ext cx="7860162"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Fled Jim Crow laws, violence, and sharecropping poverty (push factors)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Sought jobs, higher wages, and voting rights in the North (pull factors)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Reshaped Northern cities and built new Black communities</a:t>
            </a:r>
            <a:endParaRPr lang="en-US" sz="1300" dirty="0"/>
          </a:p>
        </p:txBody>
      </p:sp>
      <p:sp>
        <p:nvSpPr>
          <p:cNvPr id="13" name="Shape 10"/>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14" name="Text 11"/>
          <p:cNvSpPr/>
          <p:nvPr/>
        </p:nvSpPr>
        <p:spPr>
          <a:xfrm>
            <a:off x="749808" y="5175504"/>
            <a:ext cx="1068019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Frame the migration as thousands of individual decisions - use the Defender letter to make one migrant's reasoning concrete.</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002858"/>
                </a:solidFill>
                <a:latin typeface="Trebuchet MS" pitchFamily="34" charset="0"/>
                <a:ea typeface="Trebuchet MS" pitchFamily="34" charset="-122"/>
                <a:cs typeface="Trebuchet MS" pitchFamily="34" charset="-120"/>
              </a:rPr>
              <a:t>US.28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marL="0" indent="0">
              <a:buNone/>
            </a:pPr>
            <a:r>
              <a:rPr lang="en-US" sz="2000" b="1" dirty="0">
                <a:solidFill>
                  <a:srgbClr val="1A2332"/>
                </a:solidFill>
                <a:latin typeface="Georgia" pitchFamily="34" charset="0"/>
                <a:ea typeface="Georgia" pitchFamily="34" charset="-122"/>
                <a:cs typeface="Georgia" pitchFamily="34" charset="-120"/>
              </a:rPr>
              <a:t>Letter from African American Migrant to Chicago Defender</a:t>
            </a:r>
            <a:endParaRPr lang="en-US" sz="20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lstStyle/>
          <a:p>
            <a:endParaRPr lang="en-US"/>
          </a:p>
        </p:txBody>
      </p:sp>
      <p:sp>
        <p:nvSpPr>
          <p:cNvPr id="6" name="Text 4"/>
          <p:cNvSpPr/>
          <p:nvPr/>
        </p:nvSpPr>
        <p:spPr>
          <a:xfrm>
            <a:off x="9418320" y="777240"/>
            <a:ext cx="219456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Anonymous Southern Migrant  ·  1917</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txBody>
          <a:bodyPr/>
          <a:lstStyle/>
          <a:p>
            <a:endParaRPr lang="en-US"/>
          </a:p>
        </p:txBody>
      </p:sp>
      <p:pic>
        <p:nvPicPr>
          <p:cNvPr id="9" name="Image 0" descr="unit4-full/img/great-migration-arthur-family-1920.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8640" y="1738240"/>
            <a:ext cx="3200400" cy="2531128"/>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marL="0" indent="0" algn="l">
              <a:lnSpc>
                <a:spcPct val="100000"/>
              </a:lnSpc>
              <a:buNone/>
            </a:pPr>
            <a:r>
              <a:rPr lang="en-US" sz="700" i="1" dirty="0">
                <a:solidFill>
                  <a:srgbClr val="5C6470"/>
                </a:solidFill>
                <a:latin typeface="Calibri" pitchFamily="34" charset="0"/>
                <a:ea typeface="Calibri" pitchFamily="34" charset="-122"/>
                <a:cs typeface="Calibri" pitchFamily="34" charset="-120"/>
              </a:rPr>
              <a:t>Chicago Commission on Race Relations, c1920  </a:t>
            </a:r>
            <a:r>
              <a:rPr lang="en-US" sz="7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The Negro in Chicago (1922)</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lstStyle/>
          <a:p>
            <a:endParaRPr lang="en-US"/>
          </a:p>
        </p:txBody>
      </p:sp>
      <p:sp>
        <p:nvSpPr>
          <p:cNvPr id="12" name="Text 9"/>
          <p:cNvSpPr/>
          <p:nvPr/>
        </p:nvSpPr>
        <p:spPr>
          <a:xfrm>
            <a:off x="768096" y="1865376"/>
            <a:ext cx="2761488" cy="438912"/>
          </a:xfrm>
          <a:prstGeom prst="rect">
            <a:avLst/>
          </a:prstGeom>
          <a:noFill/>
          <a:ln/>
        </p:spPr>
        <p:txBody>
          <a:bodyPr wrap="square" rtlCol="0" anchor="ctr"/>
          <a:lstStyle/>
          <a:p>
            <a:pPr marL="0" indent="0">
              <a:lnSpc>
                <a:spcPct val="95000"/>
              </a:lnSpc>
              <a:buNone/>
            </a:pPr>
            <a:r>
              <a:rPr lang="en-US" sz="950" b="1" kern="0" spc="150" dirty="0">
                <a:solidFill>
                  <a:srgbClr val="1A2332"/>
                </a:solidFill>
                <a:latin typeface="Trebuchet MS" pitchFamily="34" charset="0"/>
                <a:ea typeface="Trebuchet MS" pitchFamily="34" charset="-122"/>
                <a:cs typeface="Trebuchet MS" pitchFamily="34" charset="-120"/>
              </a:rPr>
              <a:t>ZOOM IN  </a:t>
            </a: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lstStyle/>
          <a:p>
            <a:endParaRPr lang="en-US"/>
          </a:p>
        </p:txBody>
      </p:sp>
      <p:sp>
        <p:nvSpPr>
          <p:cNvPr id="14" name="Shape 11"/>
          <p:cNvSpPr/>
          <p:nvPr/>
        </p:nvSpPr>
        <p:spPr>
          <a:xfrm>
            <a:off x="3931920" y="1737360"/>
            <a:ext cx="91440" cy="3246120"/>
          </a:xfrm>
          <a:prstGeom prst="rect">
            <a:avLst/>
          </a:prstGeom>
          <a:solidFill>
            <a:srgbClr val="C9A84C"/>
          </a:solidFill>
          <a:ln/>
        </p:spPr>
        <p:txBody>
          <a:bodyPr/>
          <a:lstStyle/>
          <a:p>
            <a:endParaRPr lang="en-US"/>
          </a:p>
        </p:txBody>
      </p:sp>
      <p:sp>
        <p:nvSpPr>
          <p:cNvPr id="15" name="Text 12"/>
          <p:cNvSpPr/>
          <p:nvPr/>
        </p:nvSpPr>
        <p:spPr>
          <a:xfrm>
            <a:off x="4160520" y="1920240"/>
            <a:ext cx="3200400" cy="2880360"/>
          </a:xfrm>
          <a:prstGeom prst="rect">
            <a:avLst/>
          </a:prstGeom>
          <a:noFill/>
          <a:ln/>
        </p:spPr>
        <p:txBody>
          <a:bodyPr wrap="square" rtlCol="0" anchor="t"/>
          <a:lstStyle/>
          <a:p>
            <a:pPr marL="0" indent="0">
              <a:lnSpc>
                <a:spcPct val="112000"/>
              </a:lnSpc>
              <a:buNone/>
            </a:pPr>
            <a:r>
              <a:rPr lang="en-US" sz="1250" i="1" dirty="0">
                <a:solidFill>
                  <a:srgbClr val="1F2430"/>
                </a:solidFill>
                <a:latin typeface="Georgia" pitchFamily="34" charset="0"/>
                <a:ea typeface="Georgia" pitchFamily="34" charset="-122"/>
                <a:cs typeface="Georgia" pitchFamily="34" charset="-120"/>
              </a:rPr>
              <a:t>"I am in the darkness of the south and I am trying my best to get out. Oh please help me to get out of this low down country. I am counted no more than a dog here. I can do any kind of work from a shoe shine to farming. I would like to get my family out of this cursed place. Please sir help me and my family and God will bless you."</a:t>
            </a:r>
            <a:endParaRPr lang="en-US" sz="1250" dirty="0"/>
          </a:p>
        </p:txBody>
      </p:sp>
      <p:sp>
        <p:nvSpPr>
          <p:cNvPr id="16" name="Shape 13"/>
          <p:cNvSpPr/>
          <p:nvPr/>
        </p:nvSpPr>
        <p:spPr>
          <a:xfrm>
            <a:off x="7589520" y="1737360"/>
            <a:ext cx="4023360" cy="2011680"/>
          </a:xfrm>
          <a:prstGeom prst="roundRect">
            <a:avLst>
              <a:gd name="adj" fmla="val 3636"/>
            </a:avLst>
          </a:prstGeom>
          <a:solidFill>
            <a:srgbClr val="1A2332"/>
          </a:solidFill>
          <a:ln/>
        </p:spPr>
        <p:txBody>
          <a:bodyPr/>
          <a:lstStyle/>
          <a:p>
            <a:endParaRPr lang="en-US"/>
          </a:p>
        </p:txBody>
      </p:sp>
      <p:sp>
        <p:nvSpPr>
          <p:cNvPr id="17" name="Text 14"/>
          <p:cNvSpPr/>
          <p:nvPr/>
        </p:nvSpPr>
        <p:spPr>
          <a:xfrm>
            <a:off x="7818120" y="1856232"/>
            <a:ext cx="3657600" cy="274320"/>
          </a:xfrm>
          <a:prstGeom prst="rect">
            <a:avLst/>
          </a:prstGeom>
          <a:noFill/>
          <a:ln/>
        </p:spPr>
        <p:txBody>
          <a:bodyPr wrap="square" rtlCol="0" anchor="ctr"/>
          <a:lstStyle/>
          <a:p>
            <a:pPr marL="0" indent="0">
              <a:buNone/>
            </a:pPr>
            <a:r>
              <a:rPr lang="en-US" sz="1100" b="1" kern="0" spc="20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marL="0" indent="0">
              <a:lnSpc>
                <a:spcPct val="96000"/>
              </a:lnSpc>
              <a:buNone/>
            </a:pPr>
            <a:r>
              <a:rPr lang="en-US" sz="850" dirty="0">
                <a:solidFill>
                  <a:srgbClr val="FFFFFF"/>
                </a:solidFill>
                <a:latin typeface="Calibri" pitchFamily="34" charset="0"/>
                <a:ea typeface="Calibri" pitchFamily="34" charset="-122"/>
                <a:cs typeface="Calibri" pitchFamily="34" charset="-120"/>
              </a:rPr>
              <a:t>The Great Migration was one of the most significant demographic shifts in American history. Between 1910 and 1970, over six million African Americans left the South for northern and western cities — driven out by Jim Crow laws, racial violence, sharecropping poverty, and boll weevil crop destruction, and drawn north by factory jobs, higher wages, and greater (though still limited) freedom. World War I accelerated the movement by creating massive demand for industrial labor as immigration from Europe stopped. Letters like this one, written by southern Black migrants to the Chicago Defender, capture the hopes and desperation that drove this monumental movement.</a:t>
            </a:r>
            <a:endParaRPr lang="en-US" sz="850" dirty="0"/>
          </a:p>
        </p:txBody>
      </p:sp>
      <p:sp>
        <p:nvSpPr>
          <p:cNvPr id="19" name="Shape 16"/>
          <p:cNvSpPr/>
          <p:nvPr/>
        </p:nvSpPr>
        <p:spPr>
          <a:xfrm>
            <a:off x="7589520" y="3931920"/>
            <a:ext cx="4023360" cy="1051560"/>
          </a:xfrm>
          <a:prstGeom prst="roundRect">
            <a:avLst>
              <a:gd name="adj" fmla="val 6957"/>
            </a:avLst>
          </a:prstGeom>
          <a:solidFill>
            <a:srgbClr val="C9A84C"/>
          </a:solidFill>
          <a:ln/>
        </p:spPr>
        <p:txBody>
          <a:bodyPr/>
          <a:lstStyle/>
          <a:p>
            <a:endParaRPr lang="en-US"/>
          </a:p>
        </p:txBody>
      </p:sp>
      <p:sp>
        <p:nvSpPr>
          <p:cNvPr id="20" name="Text 17"/>
          <p:cNvSpPr/>
          <p:nvPr/>
        </p:nvSpPr>
        <p:spPr>
          <a:xfrm>
            <a:off x="7818120" y="4050792"/>
            <a:ext cx="3657600" cy="274320"/>
          </a:xfrm>
          <a:prstGeom prst="rect">
            <a:avLst/>
          </a:prstGeom>
          <a:noFill/>
          <a:ln/>
        </p:spPr>
        <p:txBody>
          <a:bodyPr wrap="square" rtlCol="0" anchor="ctr"/>
          <a:lstStyle/>
          <a:p>
            <a:pPr marL="0" indent="0">
              <a:buNone/>
            </a:pPr>
            <a:r>
              <a:rPr lang="en-US" sz="1100" b="1" kern="0" spc="20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marL="0" indent="0">
              <a:lnSpc>
                <a:spcPct val="103000"/>
              </a:lnSpc>
              <a:buNone/>
            </a:pPr>
            <a:r>
              <a:rPr lang="en-US" sz="1250" b="1" dirty="0">
                <a:solidFill>
                  <a:srgbClr val="1A2332"/>
                </a:solidFill>
                <a:latin typeface="Calibri" pitchFamily="34" charset="0"/>
                <a:ea typeface="Calibri" pitchFamily="34" charset="-122"/>
                <a:cs typeface="Calibri" pitchFamily="34" charset="-120"/>
              </a:rPr>
              <a:t>What does this letter reveal about the "push factors" that motivated the Great Migration?</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lstStyle/>
          <a:p>
            <a:endParaRPr lang="en-US"/>
          </a:p>
        </p:txBody>
      </p:sp>
      <p:sp>
        <p:nvSpPr>
          <p:cNvPr id="23" name="Shape 20"/>
          <p:cNvSpPr/>
          <p:nvPr/>
        </p:nvSpPr>
        <p:spPr>
          <a:xfrm>
            <a:off x="548640" y="5120640"/>
            <a:ext cx="2423160" cy="841248"/>
          </a:xfrm>
          <a:prstGeom prst="rect">
            <a:avLst/>
          </a:prstGeom>
          <a:solidFill>
            <a:srgbClr val="002858"/>
          </a:solidFill>
          <a:ln/>
        </p:spPr>
        <p:txBody>
          <a:bodyPr/>
          <a:lstStyle/>
          <a:p>
            <a:endParaRPr lang="en-US"/>
          </a:p>
        </p:txBody>
      </p:sp>
      <p:sp>
        <p:nvSpPr>
          <p:cNvPr id="24" name="Text 21"/>
          <p:cNvSpPr/>
          <p:nvPr/>
        </p:nvSpPr>
        <p:spPr>
          <a:xfrm>
            <a:off x="658368" y="5239512"/>
            <a:ext cx="2194560" cy="274320"/>
          </a:xfrm>
          <a:prstGeom prst="rect">
            <a:avLst/>
          </a:prstGeom>
          <a:noFill/>
          <a:ln/>
        </p:spPr>
        <p:txBody>
          <a:bodyPr wrap="square"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marL="0" indent="0">
              <a:buNone/>
            </a:pPr>
            <a:r>
              <a:rPr lang="en-US" sz="1250" b="1" kern="0" spc="10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marL="0" indent="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Anonymous Southern Migrant</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1917</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marL="0" indent="0" algn="l">
              <a:buNone/>
            </a:pPr>
            <a:r>
              <a:rPr lang="en-US" sz="900" dirty="0">
                <a:solidFill>
                  <a:srgbClr val="5C6470"/>
                </a:solidFill>
                <a:latin typeface="Calibri" pitchFamily="34" charset="0"/>
                <a:ea typeface="Calibri" pitchFamily="34" charset="-122"/>
                <a:cs typeface="Calibri" pitchFamily="34" charset="-120"/>
              </a:rPr>
              <a:t>Source: </a:t>
            </a:r>
            <a:r>
              <a:rPr lang="en-US" sz="900" i="1" u="sng" dirty="0">
                <a:solidFill>
                  <a:srgbClr val="00285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45920"/>
            <a:ext cx="5486400" cy="676656"/>
          </a:xfrm>
          <a:prstGeom prst="rect">
            <a:avLst/>
          </a:prstGeom>
          <a:solidFill>
            <a:srgbClr val="1A2332"/>
          </a:solidFill>
          <a:ln/>
        </p:spPr>
        <p:txBody>
          <a:bodyPr/>
          <a:lstStyle/>
          <a:p>
            <a:endParaRPr lang="en-US"/>
          </a:p>
        </p:txBody>
      </p:sp>
      <p:sp>
        <p:nvSpPr>
          <p:cNvPr id="7" name="Text 5"/>
          <p:cNvSpPr/>
          <p:nvPr/>
        </p:nvSpPr>
        <p:spPr>
          <a:xfrm>
            <a:off x="685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Great Migration</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grayt my-GRAY-shun</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Gran Migración</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1" name="Text 9"/>
          <p:cNvSpPr/>
          <p:nvPr/>
        </p:nvSpPr>
        <p:spPr>
          <a:xfrm>
            <a:off x="576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GM</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mass movement of over 6 million African Americans from the rural South to urban areas in the North and Midwest between 1916 and 1970, driven by economic opportunity and escape from Jim Crow segregation.</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14" name="Shape 12"/>
          <p:cNvSpPr/>
          <p:nvPr/>
        </p:nvSpPr>
        <p:spPr>
          <a:xfrm>
            <a:off x="6263640" y="1645920"/>
            <a:ext cx="5486400" cy="676656"/>
          </a:xfrm>
          <a:prstGeom prst="rect">
            <a:avLst/>
          </a:prstGeom>
          <a:solidFill>
            <a:srgbClr val="1A2332"/>
          </a:solidFill>
          <a:ln/>
        </p:spPr>
        <p:txBody>
          <a:bodyPr/>
          <a:lstStyle/>
          <a:p>
            <a:endParaRPr lang="en-US"/>
          </a:p>
        </p:txBody>
      </p:sp>
      <p:sp>
        <p:nvSpPr>
          <p:cNvPr id="15" name="Text 13"/>
          <p:cNvSpPr/>
          <p:nvPr/>
        </p:nvSpPr>
        <p:spPr>
          <a:xfrm>
            <a:off x="6400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First Red Scare</a:t>
            </a:r>
            <a:endParaRPr lang="en-US" sz="13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Primer Susto Rojo</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8" name="Text 16"/>
          <p:cNvSpPr/>
          <p:nvPr/>
        </p:nvSpPr>
        <p:spPr>
          <a:xfrm>
            <a:off x="6291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FR</a:t>
            </a:r>
            <a:endParaRPr lang="en-US" sz="1300" dirty="0"/>
          </a:p>
        </p:txBody>
      </p:sp>
      <p:sp>
        <p:nvSpPr>
          <p:cNvPr id="19" name="Text 17"/>
          <p:cNvSpPr/>
          <p:nvPr/>
        </p:nvSpPr>
        <p:spPr>
          <a:xfrm>
            <a:off x="6940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period of intense fear of communism and radical political activity following World War I (1919-1920), leading to deportations, arrests, and violations of civil liberties.</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1" name="Shape 19"/>
          <p:cNvSpPr/>
          <p:nvPr/>
        </p:nvSpPr>
        <p:spPr>
          <a:xfrm>
            <a:off x="548640" y="3072384"/>
            <a:ext cx="5486400" cy="676656"/>
          </a:xfrm>
          <a:prstGeom prst="rect">
            <a:avLst/>
          </a:prstGeom>
          <a:solidFill>
            <a:srgbClr val="1A2332"/>
          </a:solidFill>
          <a:ln/>
        </p:spPr>
        <p:txBody>
          <a:bodyPr/>
          <a:lstStyle/>
          <a:p>
            <a:endParaRPr lang="en-US"/>
          </a:p>
        </p:txBody>
      </p:sp>
      <p:sp>
        <p:nvSpPr>
          <p:cNvPr id="22" name="Text 20"/>
          <p:cNvSpPr/>
          <p:nvPr/>
        </p:nvSpPr>
        <p:spPr>
          <a:xfrm>
            <a:off x="685800" y="3127248"/>
            <a:ext cx="2880360" cy="310896"/>
          </a:xfrm>
          <a:prstGeom prst="rect">
            <a:avLst/>
          </a:prstGeom>
          <a:noFill/>
          <a:ln/>
        </p:spPr>
        <p:txBody>
          <a:bodyPr wrap="square" rtlCol="0" anchor="ctr">
            <a:normAutofit fontScale="62500" lnSpcReduction="20000"/>
          </a:bodyPr>
          <a:lstStyle/>
          <a:p>
            <a:pPr marL="0" indent="0">
              <a:buNone/>
            </a:pPr>
            <a:r>
              <a:rPr lang="en-US" sz="1350" b="1" dirty="0">
                <a:solidFill>
                  <a:srgbClr val="FFFFFF"/>
                </a:solidFill>
                <a:latin typeface="Calibri" pitchFamily="34" charset="0"/>
                <a:ea typeface="Calibri" pitchFamily="34" charset="-122"/>
                <a:cs typeface="Calibri" pitchFamily="34" charset="-120"/>
              </a:rPr>
              <a:t>NAACP (National Association for the Advancement of Colored People)</a:t>
            </a:r>
            <a:endParaRPr lang="en-US" sz="13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NAACP (Asociación Nacional para el Avance de las Personas de Color)</a:t>
            </a:r>
            <a:endParaRPr lang="en-US" sz="1000" dirty="0"/>
          </a:p>
        </p:txBody>
      </p:sp>
      <p:sp>
        <p:nvSpPr>
          <p:cNvPr id="24" name="Shape 22"/>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25" name="Text 23"/>
          <p:cNvSpPr/>
          <p:nvPr/>
        </p:nvSpPr>
        <p:spPr>
          <a:xfrm>
            <a:off x="576072" y="3822192"/>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N</a:t>
            </a:r>
            <a:endParaRPr lang="en-US" sz="1500" dirty="0"/>
          </a:p>
        </p:txBody>
      </p:sp>
      <p:sp>
        <p:nvSpPr>
          <p:cNvPr id="26" name="Text 24"/>
          <p:cNvSpPr/>
          <p:nvPr/>
        </p:nvSpPr>
        <p:spPr>
          <a:xfrm>
            <a:off x="1225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Founded in 1909, the nation's oldest civil rights organization that fought legal battles against segregation, lobbied for anti-lynching laws, and expanded significantly in the 1920s.</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8" name="Shape 26"/>
          <p:cNvSpPr/>
          <p:nvPr/>
        </p:nvSpPr>
        <p:spPr>
          <a:xfrm>
            <a:off x="6263640" y="3072384"/>
            <a:ext cx="5486400" cy="676656"/>
          </a:xfrm>
          <a:prstGeom prst="rect">
            <a:avLst/>
          </a:prstGeom>
          <a:solidFill>
            <a:srgbClr val="1A2332"/>
          </a:solidFill>
          <a:ln/>
        </p:spPr>
        <p:txBody>
          <a:bodyPr/>
          <a:lstStyle/>
          <a:p>
            <a:endParaRPr lang="en-US"/>
          </a:p>
        </p:txBody>
      </p:sp>
      <p:sp>
        <p:nvSpPr>
          <p:cNvPr id="29" name="Text 27"/>
          <p:cNvSpPr/>
          <p:nvPr/>
        </p:nvSpPr>
        <p:spPr>
          <a:xfrm>
            <a:off x="6400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Radio Broadcasting</a:t>
            </a:r>
            <a:endParaRPr lang="en-US" sz="13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Radiodifusión</a:t>
            </a:r>
            <a:endParaRPr lang="en-US" sz="1000" dirty="0"/>
          </a:p>
        </p:txBody>
      </p:sp>
      <p:sp>
        <p:nvSpPr>
          <p:cNvPr id="31" name="Shape 29"/>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2" name="Text 30"/>
          <p:cNvSpPr/>
          <p:nvPr/>
        </p:nvSpPr>
        <p:spPr>
          <a:xfrm>
            <a:off x="6291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RB</a:t>
            </a:r>
            <a:endParaRPr lang="en-US" sz="1300" dirty="0"/>
          </a:p>
        </p:txBody>
      </p:sp>
      <p:sp>
        <p:nvSpPr>
          <p:cNvPr id="33" name="Text 31"/>
          <p:cNvSpPr/>
          <p:nvPr/>
        </p:nvSpPr>
        <p:spPr>
          <a:xfrm>
            <a:off x="6940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transmission of audio content over radio waves that revolutionized communication in the 1920s, creating mass media, national advertising, and shared popular culture.</a:t>
            </a:r>
            <a:endParaRPr lang="en-US" sz="1100" dirty="0"/>
          </a:p>
        </p:txBody>
      </p:sp>
      <p:sp>
        <p:nvSpPr>
          <p:cNvPr id="34" name="Shape 32"/>
          <p:cNvSpPr/>
          <p:nvPr/>
        </p:nvSpPr>
        <p:spPr>
          <a:xfrm>
            <a:off x="548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35" name="Shape 33"/>
          <p:cNvSpPr/>
          <p:nvPr/>
        </p:nvSpPr>
        <p:spPr>
          <a:xfrm>
            <a:off x="548640" y="4498848"/>
            <a:ext cx="5486400" cy="676656"/>
          </a:xfrm>
          <a:prstGeom prst="rect">
            <a:avLst/>
          </a:prstGeom>
          <a:solidFill>
            <a:srgbClr val="1A2332"/>
          </a:solidFill>
          <a:ln/>
        </p:spPr>
        <p:txBody>
          <a:bodyPr/>
          <a:lstStyle/>
          <a:p>
            <a:endParaRPr lang="en-US"/>
          </a:p>
        </p:txBody>
      </p:sp>
      <p:sp>
        <p:nvSpPr>
          <p:cNvPr id="36" name="Text 34"/>
          <p:cNvSpPr/>
          <p:nvPr/>
        </p:nvSpPr>
        <p:spPr>
          <a:xfrm>
            <a:off x="685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Harlem Renaissance</a:t>
            </a:r>
            <a:endParaRPr lang="en-US" sz="1350" dirty="0"/>
          </a:p>
        </p:txBody>
      </p:sp>
      <p:sp>
        <p:nvSpPr>
          <p:cNvPr id="37" name="Text 35"/>
          <p:cNvSpPr/>
          <p:nvPr/>
        </p:nvSpPr>
        <p:spPr>
          <a:xfrm>
            <a:off x="3703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Renacimiento de Harlem</a:t>
            </a:r>
            <a:endParaRPr lang="en-US" sz="1000" dirty="0"/>
          </a:p>
        </p:txBody>
      </p:sp>
      <p:sp>
        <p:nvSpPr>
          <p:cNvPr id="38" name="Shape 36"/>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9" name="Text 37"/>
          <p:cNvSpPr/>
          <p:nvPr/>
        </p:nvSpPr>
        <p:spPr>
          <a:xfrm>
            <a:off x="576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HR</a:t>
            </a:r>
            <a:endParaRPr lang="en-US" sz="1300" dirty="0"/>
          </a:p>
        </p:txBody>
      </p:sp>
      <p:sp>
        <p:nvSpPr>
          <p:cNvPr id="40" name="Text 38"/>
          <p:cNvSpPr/>
          <p:nvPr/>
        </p:nvSpPr>
        <p:spPr>
          <a:xfrm>
            <a:off x="1225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1920s cultural movement centered in Harlem, New York, where African American artists, writers, musicians, and intellectuals celebrated Black culture and identity through art, literature, and music.</a:t>
            </a:r>
            <a:endParaRPr lang="en-US" sz="1100" dirty="0"/>
          </a:p>
        </p:txBody>
      </p:sp>
      <p:sp>
        <p:nvSpPr>
          <p:cNvPr id="41" name="Shape 39"/>
          <p:cNvSpPr/>
          <p:nvPr/>
        </p:nvSpPr>
        <p:spPr>
          <a:xfrm>
            <a:off x="6263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42" name="Shape 40"/>
          <p:cNvSpPr/>
          <p:nvPr/>
        </p:nvSpPr>
        <p:spPr>
          <a:xfrm>
            <a:off x="6263640" y="4498848"/>
            <a:ext cx="5486400" cy="676656"/>
          </a:xfrm>
          <a:prstGeom prst="rect">
            <a:avLst/>
          </a:prstGeom>
          <a:solidFill>
            <a:srgbClr val="1A2332"/>
          </a:solidFill>
          <a:ln/>
        </p:spPr>
        <p:txBody>
          <a:bodyPr/>
          <a:lstStyle/>
          <a:p>
            <a:endParaRPr lang="en-US"/>
          </a:p>
        </p:txBody>
      </p:sp>
      <p:sp>
        <p:nvSpPr>
          <p:cNvPr id="43" name="Text 41"/>
          <p:cNvSpPr/>
          <p:nvPr/>
        </p:nvSpPr>
        <p:spPr>
          <a:xfrm>
            <a:off x="6400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Automobile Impact</a:t>
            </a:r>
            <a:endParaRPr lang="en-US" sz="1350" dirty="0"/>
          </a:p>
        </p:txBody>
      </p:sp>
      <p:sp>
        <p:nvSpPr>
          <p:cNvPr id="44" name="Text 42"/>
          <p:cNvSpPr/>
          <p:nvPr/>
        </p:nvSpPr>
        <p:spPr>
          <a:xfrm>
            <a:off x="9418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Impacto del Automóvil</a:t>
            </a:r>
            <a:endParaRPr lang="en-US" sz="1000" dirty="0"/>
          </a:p>
        </p:txBody>
      </p:sp>
      <p:sp>
        <p:nvSpPr>
          <p:cNvPr id="45" name="Shape 43"/>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6" name="Text 44"/>
          <p:cNvSpPr/>
          <p:nvPr/>
        </p:nvSpPr>
        <p:spPr>
          <a:xfrm>
            <a:off x="6291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AI</a:t>
            </a:r>
            <a:endParaRPr lang="en-US" sz="1300" dirty="0"/>
          </a:p>
        </p:txBody>
      </p:sp>
      <p:sp>
        <p:nvSpPr>
          <p:cNvPr id="47" name="Text 45"/>
          <p:cNvSpPr/>
          <p:nvPr/>
        </p:nvSpPr>
        <p:spPr>
          <a:xfrm>
            <a:off x="6940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widespread adoption of cars in the 1920s transformed American society, creating suburbs, highways, tourism, and related industries like gas stations, motels, and drive-in restaurants.</a:t>
            </a:r>
            <a:endParaRPr lang="en-US" sz="1100" dirty="0"/>
          </a:p>
        </p:txBody>
      </p:sp>
      <p:sp>
        <p:nvSpPr>
          <p:cNvPr id="48" name="Text 46"/>
          <p:cNvSpPr/>
          <p:nvPr/>
        </p:nvSpPr>
        <p:spPr>
          <a:xfrm>
            <a:off x="548640" y="5897880"/>
            <a:ext cx="11064240" cy="320040"/>
          </a:xfrm>
          <a:prstGeom prst="rect">
            <a:avLst/>
          </a:prstGeom>
          <a:noFill/>
          <a:ln/>
        </p:spPr>
        <p:txBody>
          <a:bodyPr wrap="square" rtlCol="0" anchor="ctr"/>
          <a:lstStyle/>
          <a:p>
            <a:pPr marL="0" indent="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49" name="Text 4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0" name="Text 4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marL="0" indent="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lstStyle/>
          <a:p>
            <a:endParaRPr lang="en-US"/>
          </a:p>
        </p:txBody>
      </p:sp>
      <p:sp>
        <p:nvSpPr>
          <p:cNvPr id="6" name="Text 4"/>
          <p:cNvSpPr/>
          <p:nvPr/>
        </p:nvSpPr>
        <p:spPr>
          <a:xfrm>
            <a:off x="8869680" y="822960"/>
            <a:ext cx="274320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Distinguish push vs. pull factors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640080"/>
          </a:xfrm>
          <a:prstGeom prst="rect">
            <a:avLst/>
          </a:prstGeom>
          <a:noFill/>
          <a:ln/>
        </p:spPr>
        <p:txBody>
          <a:bodyPr wrap="square" rtlCol="0" anchor="ctr"/>
          <a:lstStyle/>
          <a:p>
            <a:pPr marL="0" indent="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r>
              <a:rPr lang="en-US" sz="1500" dirty="0">
                <a:solidFill>
                  <a:srgbClr val="FFFFFF"/>
                </a:solidFill>
                <a:latin typeface="Calibri" pitchFamily="34" charset="0"/>
                <a:ea typeface="Calibri" pitchFamily="34" charset="-122"/>
                <a:cs typeface="Calibri" pitchFamily="34" charset="-120"/>
              </a:rPr>
              <a:t>Why did millions of African Americans leave the South after WWI?</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lstStyle/>
          <a:p>
            <a:endParaRPr lang="en-US"/>
          </a:p>
        </p:txBody>
      </p:sp>
      <p:sp>
        <p:nvSpPr>
          <p:cNvPr id="10" name="Text 8"/>
          <p:cNvSpPr/>
          <p:nvPr/>
        </p:nvSpPr>
        <p:spPr>
          <a:xfrm>
            <a:off x="822960" y="2724912"/>
            <a:ext cx="10058400" cy="292608"/>
          </a:xfrm>
          <a:prstGeom prst="rect">
            <a:avLst/>
          </a:prstGeom>
          <a:noFill/>
          <a:ln/>
        </p:spPr>
        <p:txBody>
          <a:bodyPr wrap="square" rtlCol="0" anchor="ctr"/>
          <a:lstStyle/>
          <a:p>
            <a:pPr marL="0" indent="0">
              <a:buNone/>
            </a:pPr>
            <a:r>
              <a:rPr lang="en-US" sz="1100" b="1" kern="0" spc="10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marL="0" indent="0">
              <a:lnSpc>
                <a:spcPct val="106000"/>
              </a:lnSpc>
              <a:buNone/>
            </a:pPr>
            <a:r>
              <a:rPr lang="en-US" sz="1450" b="1" dirty="0">
                <a:solidFill>
                  <a:srgbClr val="1A2332"/>
                </a:solidFill>
                <a:latin typeface="Calibri" pitchFamily="34" charset="0"/>
                <a:ea typeface="Calibri" pitchFamily="34" charset="-122"/>
                <a:cs typeface="Calibri" pitchFamily="34" charset="-120"/>
              </a:rPr>
              <a:t>The text names violence and Jim Crow as push factors, and Northern jobs and voting rights as pull factors. The migrant's letter shows both at once: he flees fear and chases wages.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lstStyle/>
          <a:p>
            <a:endParaRPr lang="en-US"/>
          </a:p>
        </p:txBody>
      </p:sp>
      <p:sp>
        <p:nvSpPr>
          <p:cNvPr id="13" name="Text 11"/>
          <p:cNvSpPr/>
          <p:nvPr/>
        </p:nvSpPr>
        <p:spPr>
          <a:xfrm>
            <a:off x="822960" y="4407408"/>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marL="0" indent="0">
              <a:lnSpc>
                <a:spcPct val="106000"/>
              </a:lnSpc>
              <a:buNone/>
            </a:pPr>
            <a:r>
              <a:rPr lang="en-US" sz="1300" i="1" dirty="0">
                <a:solidFill>
                  <a:srgbClr val="1F2430"/>
                </a:solidFill>
                <a:latin typeface="Calibri" pitchFamily="34" charset="0"/>
                <a:ea typeface="Calibri" pitchFamily="34" charset="-122"/>
                <a:cs typeface="Calibri" pitchFamily="34" charset="-120"/>
              </a:rPr>
              <a:t>Label each reason in the section as PUSH (South) or PULL (North).</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marL="0" indent="0">
              <a:buNone/>
            </a:pPr>
            <a:r>
              <a:rPr lang="en-US" sz="1200" b="1" dirty="0">
                <a:solidFill>
                  <a:srgbClr val="1A2332"/>
                </a:solidFill>
                <a:latin typeface="Calibri" pitchFamily="34" charset="0"/>
                <a:ea typeface="Calibri" pitchFamily="34" charset="-122"/>
                <a:cs typeface="Calibri" pitchFamily="34" charset="-120"/>
              </a:rPr>
              <a:t>→ Now you try:  </a:t>
            </a:r>
            <a:r>
              <a:rPr lang="en-US" sz="1200" i="1" dirty="0">
                <a:solidFill>
                  <a:srgbClr val="002858"/>
                </a:solidFill>
                <a:latin typeface="Calibri" pitchFamily="34" charset="0"/>
                <a:ea typeface="Calibri" pitchFamily="34" charset="-122"/>
                <a:cs typeface="Calibri" pitchFamily="34" charset="-120"/>
              </a:rPr>
              <a:t>With a partner, decide whether push or pull mattered more, and cite one line as proof.</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marL="0" indent="0">
              <a:buNone/>
            </a:pPr>
            <a:r>
              <a:rPr lang="en-US" sz="2400" b="1" dirty="0">
                <a:solidFill>
                  <a:srgbClr val="1A2332"/>
                </a:solidFill>
                <a:latin typeface="Georgia" pitchFamily="34" charset="0"/>
                <a:ea typeface="Georgia" pitchFamily="34" charset="-122"/>
                <a:cs typeface="Georgia" pitchFamily="34" charset="-120"/>
              </a:rPr>
              <a:t>Push and Pull — Mapping the Great Migration</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txBody>
          <a:bodyPr/>
          <a:lstStyle/>
          <a:p>
            <a:endParaRPr lang="en-US"/>
          </a:p>
        </p:txBody>
      </p:sp>
      <p:sp>
        <p:nvSpPr>
          <p:cNvPr id="6" name="Text 4"/>
          <p:cNvSpPr/>
          <p:nvPr/>
        </p:nvSpPr>
        <p:spPr>
          <a:xfrm>
            <a:off x="548640" y="1591056"/>
            <a:ext cx="694944"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txBody>
          <a:bodyPr/>
          <a:lstStyle/>
          <a:p>
            <a:endParaRPr lang="en-US"/>
          </a:p>
        </p:txBody>
      </p:sp>
      <p:sp>
        <p:nvSpPr>
          <p:cNvPr id="8" name="Text 6"/>
          <p:cNvSpPr/>
          <p:nvPr/>
        </p:nvSpPr>
        <p:spPr>
          <a:xfrm>
            <a:off x="1408176" y="1591056"/>
            <a:ext cx="779069"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txBody>
          <a:bodyPr/>
          <a:lstStyle/>
          <a:p>
            <a:endParaRPr lang="en-US"/>
          </a:p>
        </p:txBody>
      </p:sp>
      <p:sp>
        <p:nvSpPr>
          <p:cNvPr id="10" name="Text 8"/>
          <p:cNvSpPr/>
          <p:nvPr/>
        </p:nvSpPr>
        <p:spPr>
          <a:xfrm>
            <a:off x="822960" y="2194560"/>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marL="0" indent="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migrant's letter to the Chicago Defender, build a two-column chart of PUSH factors (reasons to leave the South) and PULL factors (attractions of the North). Place at least three factors in each column. Then write a one-sentence claim naming which set of factors mattered more and cite one piece of evidence from Direct Instruction or the primary source.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txBody>
          <a:bodyPr/>
          <a:lstStyle/>
          <a:p>
            <a:endParaRPr lang="en-US"/>
          </a:p>
        </p:txBody>
      </p:sp>
      <p:sp>
        <p:nvSpPr>
          <p:cNvPr id="13" name="Text 11"/>
          <p:cNvSpPr/>
          <p:nvPr/>
        </p:nvSpPr>
        <p:spPr>
          <a:xfrm>
            <a:off x="777240" y="4645152"/>
            <a:ext cx="4572000" cy="274320"/>
          </a:xfrm>
          <a:prstGeom prst="rect">
            <a:avLst/>
          </a:prstGeom>
          <a:noFill/>
          <a:ln/>
        </p:spPr>
        <p:txBody>
          <a:bodyPr wrap="square" rtlCol="0" anchor="ctr"/>
          <a:lstStyle/>
          <a:p>
            <a:pPr marL="0" indent="0">
              <a:buNone/>
            </a:pPr>
            <a:r>
              <a:rPr lang="en-US" sz="1050" b="1" kern="0" spc="20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marL="0" indent="0">
              <a:lnSpc>
                <a:spcPct val="103000"/>
              </a:lnSpc>
              <a:buNone/>
            </a:pPr>
            <a:r>
              <a:rPr lang="en-US" sz="1250" dirty="0">
                <a:solidFill>
                  <a:srgbClr val="FFFFFF"/>
                </a:solidFill>
                <a:latin typeface="Calibri" pitchFamily="34" charset="0"/>
                <a:ea typeface="Calibri" pitchFamily="34" charset="-122"/>
                <a:cs typeface="Calibri" pitchFamily="34" charset="-120"/>
              </a:rPr>
              <a:t>Completed push/pull chart (3+ factors per column) AND a one-sentence, evidence-based claim about which mattered more.</a:t>
            </a:r>
            <a:endParaRPr lang="en-US" sz="12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lstStyle/>
          <a:p>
            <a:endParaRPr lang="en-US"/>
          </a:p>
        </p:txBody>
      </p:sp>
      <p:sp>
        <p:nvSpPr>
          <p:cNvPr id="16" name="Text 14"/>
          <p:cNvSpPr/>
          <p:nvPr/>
        </p:nvSpPr>
        <p:spPr>
          <a:xfrm>
            <a:off x="6400800" y="4645152"/>
            <a:ext cx="4572000" cy="274320"/>
          </a:xfrm>
          <a:prstGeom prst="rect">
            <a:avLst/>
          </a:prstGeom>
          <a:noFill/>
          <a:ln/>
        </p:spPr>
        <p:txBody>
          <a:bodyPr wrap="square" rtlCol="0" anchor="ctr"/>
          <a:lstStyle/>
          <a:p>
            <a:pPr marL="0" indent="0">
              <a:buNone/>
            </a:pPr>
            <a:r>
              <a:rPr lang="en-US" sz="1050" b="1" kern="0" spc="20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marL="0" indent="0">
              <a:lnSpc>
                <a:spcPct val="103000"/>
              </a:lnSpc>
              <a:buNone/>
            </a:pPr>
            <a:r>
              <a:rPr lang="en-US" sz="1000" dirty="0">
                <a:solidFill>
                  <a:srgbClr val="1F2430"/>
                </a:solidFill>
                <a:latin typeface="Calibri" pitchFamily="34" charset="0"/>
                <a:ea typeface="Calibri" pitchFamily="34" charset="-122"/>
                <a:cs typeface="Calibri" pitchFamily="34" charset="-120"/>
              </a:rPr>
              <a:t>Entry: Chart with a word bank of factors provided; students place each in the correct column (no written claim required). Honors: Write a paragraph arguing to what extent the Great Migration delivered the freedom and opportunity migrants sought, using two pieces of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marL="0" indent="0">
              <a:buNone/>
            </a:pPr>
            <a:r>
              <a:rPr lang="en-US" sz="1050" b="1" dirty="0">
                <a:solidFill>
                  <a:srgbClr val="1A2332"/>
                </a:solidFill>
                <a:latin typeface="Calibri" pitchFamily="34" charset="0"/>
                <a:ea typeface="Calibri" pitchFamily="34" charset="-122"/>
                <a:cs typeface="Calibri" pitchFamily="34" charset="-120"/>
              </a:rPr>
              <a:t>Companion printable:  </a:t>
            </a:r>
            <a:r>
              <a:rPr lang="en-US" sz="1050" i="1" dirty="0">
                <a:solidFill>
                  <a:srgbClr val="002858"/>
                </a:solidFill>
                <a:latin typeface="Calibri" pitchFamily="34" charset="0"/>
                <a:ea typeface="Calibri" pitchFamily="34" charset="-122"/>
                <a:cs typeface="Calibri" pitchFamily="34" charset="-120"/>
              </a:rPr>
              <a:t>cornell-notes/unit-4/us28-great-migration.pdf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US.28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lstStyle/>
          <a:p>
            <a:endParaRPr lang="en-US"/>
          </a:p>
        </p:txBody>
      </p:sp>
      <p:sp>
        <p:nvSpPr>
          <p:cNvPr id="6" name="Text 4"/>
          <p:cNvSpPr/>
          <p:nvPr/>
        </p:nvSpPr>
        <p:spPr>
          <a:xfrm>
            <a:off x="7635240" y="822960"/>
            <a:ext cx="1143000" cy="457200"/>
          </a:xfrm>
          <a:prstGeom prst="rect">
            <a:avLst/>
          </a:prstGeom>
          <a:noFill/>
          <a:ln/>
        </p:spPr>
        <p:txBody>
          <a:bodyPr wrap="square" rtlCol="0" anchor="ctr"/>
          <a:lstStyle/>
          <a:p>
            <a:pPr marL="0" indent="0" algn="ctr">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lstStyle/>
          <a:p>
            <a:endParaRPr lang="en-US"/>
          </a:p>
        </p:txBody>
      </p:sp>
      <p:sp>
        <p:nvSpPr>
          <p:cNvPr id="8" name="Text 6"/>
          <p:cNvSpPr/>
          <p:nvPr/>
        </p:nvSpPr>
        <p:spPr>
          <a:xfrm>
            <a:off x="8869680" y="822960"/>
            <a:ext cx="274320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lstStyle/>
          <a:p>
            <a:endParaRPr lang="en-US"/>
          </a:p>
        </p:txBody>
      </p:sp>
      <p:sp>
        <p:nvSpPr>
          <p:cNvPr id="10" name="Text 8"/>
          <p:cNvSpPr/>
          <p:nvPr/>
        </p:nvSpPr>
        <p:spPr>
          <a:xfrm>
            <a:off x="822960" y="1691640"/>
            <a:ext cx="10515600" cy="777240"/>
          </a:xfrm>
          <a:prstGeom prst="rect">
            <a:avLst/>
          </a:prstGeom>
          <a:noFill/>
          <a:ln/>
        </p:spPr>
        <p:txBody>
          <a:bodyPr wrap="square" rtlCol="0" anchor="ctr"/>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According to this government report, what combination of factors caused the Great Migration?</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2" name="Shape 10"/>
          <p:cNvSpPr/>
          <p:nvPr/>
        </p:nvSpPr>
        <p:spPr>
          <a:xfrm>
            <a:off x="713232" y="2889504"/>
            <a:ext cx="365760" cy="365760"/>
          </a:xfrm>
          <a:prstGeom prst="ellipse">
            <a:avLst/>
          </a:prstGeom>
          <a:solidFill>
            <a:srgbClr val="1A2332"/>
          </a:solidFill>
          <a:ln/>
        </p:spPr>
        <p:txBody>
          <a:bodyPr/>
          <a:lstStyle/>
          <a:p>
            <a:endParaRPr lang="en-US"/>
          </a:p>
        </p:txBody>
      </p:sp>
      <p:sp>
        <p:nvSpPr>
          <p:cNvPr id="13" name="Text 11"/>
          <p:cNvSpPr/>
          <p:nvPr/>
        </p:nvSpPr>
        <p:spPr>
          <a:xfrm>
            <a:off x="713232" y="2889504"/>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Only economic factors related to job opportunities in the North</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6" name="Shape 14"/>
          <p:cNvSpPr/>
          <p:nvPr/>
        </p:nvSpPr>
        <p:spPr>
          <a:xfrm>
            <a:off x="713232" y="3639312"/>
            <a:ext cx="365760" cy="365760"/>
          </a:xfrm>
          <a:prstGeom prst="ellipse">
            <a:avLst/>
          </a:prstGeom>
          <a:solidFill>
            <a:srgbClr val="1A2332"/>
          </a:solidFill>
          <a:ln/>
        </p:spPr>
        <p:txBody>
          <a:bodyPr/>
          <a:lstStyle/>
          <a:p>
            <a:endParaRPr lang="en-US"/>
          </a:p>
        </p:txBody>
      </p:sp>
      <p:sp>
        <p:nvSpPr>
          <p:cNvPr id="17" name="Text 15"/>
          <p:cNvSpPr/>
          <p:nvPr/>
        </p:nvSpPr>
        <p:spPr>
          <a:xfrm>
            <a:off x="713232" y="3639312"/>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Labor demand from WWI, agricultural disaster, and social conditions in the South</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0" name="Shape 18"/>
          <p:cNvSpPr/>
          <p:nvPr/>
        </p:nvSpPr>
        <p:spPr>
          <a:xfrm>
            <a:off x="713232" y="4389120"/>
            <a:ext cx="365760" cy="365760"/>
          </a:xfrm>
          <a:prstGeom prst="ellipse">
            <a:avLst/>
          </a:prstGeom>
          <a:solidFill>
            <a:srgbClr val="1A2332"/>
          </a:solidFill>
          <a:ln/>
        </p:spPr>
        <p:txBody>
          <a:bodyPr/>
          <a:lstStyle/>
          <a:p>
            <a:endParaRPr lang="en-US"/>
          </a:p>
        </p:txBody>
      </p:sp>
      <p:sp>
        <p:nvSpPr>
          <p:cNvPr id="21" name="Text 19"/>
          <p:cNvSpPr/>
          <p:nvPr/>
        </p:nvSpPr>
        <p:spPr>
          <a:xfrm>
            <a:off x="713232" y="4389120"/>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Government programs relocating workers to industrial centers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4" name="Shape 22"/>
          <p:cNvSpPr/>
          <p:nvPr/>
        </p:nvSpPr>
        <p:spPr>
          <a:xfrm>
            <a:off x="713232" y="5138928"/>
            <a:ext cx="365760" cy="365760"/>
          </a:xfrm>
          <a:prstGeom prst="ellipse">
            <a:avLst/>
          </a:prstGeom>
          <a:solidFill>
            <a:srgbClr val="1A2332"/>
          </a:solidFill>
          <a:ln/>
        </p:spPr>
        <p:txBody>
          <a:bodyPr/>
          <a:lstStyle/>
          <a:p>
            <a:endParaRPr lang="en-US"/>
          </a:p>
        </p:txBody>
      </p:sp>
      <p:sp>
        <p:nvSpPr>
          <p:cNvPr id="25" name="Text 23"/>
          <p:cNvSpPr/>
          <p:nvPr/>
        </p:nvSpPr>
        <p:spPr>
          <a:xfrm>
            <a:off x="713232" y="5138928"/>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Railroad companies offering free transportation to workers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lstStyle/>
          <a:p>
            <a:endParaRPr lang="en-US"/>
          </a:p>
        </p:txBody>
      </p:sp>
      <p:sp>
        <p:nvSpPr>
          <p:cNvPr id="28" name="Text 26"/>
          <p:cNvSpPr/>
          <p:nvPr/>
        </p:nvSpPr>
        <p:spPr>
          <a:xfrm>
            <a:off x="822960" y="5715000"/>
            <a:ext cx="10515600" cy="502920"/>
          </a:xfrm>
          <a:prstGeom prst="rect">
            <a:avLst/>
          </a:prstGeom>
          <a:noFill/>
          <a:ln/>
        </p:spPr>
        <p:txBody>
          <a:bodyPr wrap="square" rtlCol="0" anchor="ctr"/>
          <a:lstStyle/>
          <a:p>
            <a:pPr marL="0" indent="0">
              <a:buNone/>
            </a:pPr>
            <a:r>
              <a:rPr lang="en-US" sz="1200" b="1" i="1" kern="0" spc="100" dirty="0">
                <a:solidFill>
                  <a:srgbClr val="F9A825"/>
                </a:solidFill>
                <a:latin typeface="Trebuchet MS" pitchFamily="34" charset="0"/>
                <a:ea typeface="Trebuchet MS" pitchFamily="34" charset="-122"/>
                <a:cs typeface="Trebuchet MS" pitchFamily="34" charset="-120"/>
              </a:rPr>
              <a:t>ANSWER FIRST:  </a:t>
            </a: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US.28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lstStyle/>
          <a:p>
            <a:endParaRPr lang="en-US"/>
          </a:p>
        </p:txBody>
      </p:sp>
      <p:sp>
        <p:nvSpPr>
          <p:cNvPr id="6" name="Text 4"/>
          <p:cNvSpPr/>
          <p:nvPr/>
        </p:nvSpPr>
        <p:spPr>
          <a:xfrm>
            <a:off x="8595360" y="822960"/>
            <a:ext cx="301752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731520"/>
          </a:xfrm>
          <a:prstGeom prst="rect">
            <a:avLst/>
          </a:prstGeom>
          <a:noFill/>
          <a:ln/>
        </p:spPr>
        <p:txBody>
          <a:bodyPr wrap="square" rtlCol="0" anchor="ctr"/>
          <a:lstStyle/>
          <a:p>
            <a:pPr marL="0" indent="0">
              <a:lnSpc>
                <a:spcPct val="102000"/>
              </a:lnSpc>
              <a:buNone/>
            </a:pPr>
            <a:r>
              <a:rPr lang="en-US" sz="1500" b="1" dirty="0">
                <a:solidFill>
                  <a:srgbClr val="FFFFFF"/>
                </a:solidFill>
                <a:latin typeface="Calibri" pitchFamily="34" charset="0"/>
                <a:ea typeface="Calibri" pitchFamily="34" charset="-122"/>
                <a:cs typeface="Calibri" pitchFamily="34" charset="-120"/>
              </a:rPr>
              <a:t>According to this government report, what combination of factors caused the Great Migration?</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0" name="Shape 8"/>
          <p:cNvSpPr/>
          <p:nvPr/>
        </p:nvSpPr>
        <p:spPr>
          <a:xfrm>
            <a:off x="713232" y="2761488"/>
            <a:ext cx="347472" cy="347472"/>
          </a:xfrm>
          <a:prstGeom prst="ellipse">
            <a:avLst/>
          </a:prstGeom>
          <a:solidFill>
            <a:srgbClr val="1A2332"/>
          </a:solidFill>
          <a:ln/>
        </p:spPr>
        <p:txBody>
          <a:bodyPr/>
          <a:lstStyle/>
          <a:p>
            <a:endParaRPr lang="en-US"/>
          </a:p>
        </p:txBody>
      </p:sp>
      <p:sp>
        <p:nvSpPr>
          <p:cNvPr id="11" name="Text 9"/>
          <p:cNvSpPr/>
          <p:nvPr/>
        </p:nvSpPr>
        <p:spPr>
          <a:xfrm>
            <a:off x="713232" y="2761488"/>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Only economic factors related to job opportunities in the North</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txBody>
          <a:bodyPr/>
          <a:lstStyle/>
          <a:p>
            <a:endParaRPr lang="en-US"/>
          </a:p>
        </p:txBody>
      </p:sp>
      <p:sp>
        <p:nvSpPr>
          <p:cNvPr id="14" name="Shape 12"/>
          <p:cNvSpPr/>
          <p:nvPr/>
        </p:nvSpPr>
        <p:spPr>
          <a:xfrm>
            <a:off x="713232" y="3419856"/>
            <a:ext cx="347472" cy="347472"/>
          </a:xfrm>
          <a:prstGeom prst="ellipse">
            <a:avLst/>
          </a:prstGeom>
          <a:solidFill>
            <a:srgbClr val="1A2332"/>
          </a:solidFill>
          <a:ln/>
        </p:spPr>
        <p:txBody>
          <a:bodyPr/>
          <a:lstStyle/>
          <a:p>
            <a:endParaRPr lang="en-US"/>
          </a:p>
        </p:txBody>
      </p:sp>
      <p:sp>
        <p:nvSpPr>
          <p:cNvPr id="15" name="Text 13"/>
          <p:cNvSpPr/>
          <p:nvPr/>
        </p:nvSpPr>
        <p:spPr>
          <a:xfrm>
            <a:off x="713232" y="3419856"/>
            <a:ext cx="347472" cy="347472"/>
          </a:xfrm>
          <a:prstGeom prst="rect">
            <a:avLst/>
          </a:prstGeom>
          <a:noFill/>
          <a:ln/>
        </p:spPr>
        <p:txBody>
          <a:bodyPr wrap="square" rtlCol="0" anchor="ctr"/>
          <a:lstStyle/>
          <a:p>
            <a:pPr marL="0" indent="0" algn="ctr">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marL="0" indent="0">
              <a:lnSpc>
                <a:spcPct val="100000"/>
              </a:lnSpc>
              <a:buNone/>
            </a:pPr>
            <a:r>
              <a:rPr lang="en-US" sz="1300" b="1" dirty="0">
                <a:solidFill>
                  <a:srgbClr val="1A2332"/>
                </a:solidFill>
                <a:latin typeface="Calibri" pitchFamily="34" charset="0"/>
                <a:ea typeface="Calibri" pitchFamily="34" charset="-122"/>
                <a:cs typeface="Calibri" pitchFamily="34" charset="-120"/>
              </a:rPr>
              <a:t>Labor demand from WWI, agricultural disaster, and social conditions in the South</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marL="0" indent="0" algn="ctr">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9" name="Shape 17"/>
          <p:cNvSpPr/>
          <p:nvPr/>
        </p:nvSpPr>
        <p:spPr>
          <a:xfrm>
            <a:off x="713232" y="4078224"/>
            <a:ext cx="347472" cy="347472"/>
          </a:xfrm>
          <a:prstGeom prst="ellipse">
            <a:avLst/>
          </a:prstGeom>
          <a:solidFill>
            <a:srgbClr val="1A2332"/>
          </a:solidFill>
          <a:ln/>
        </p:spPr>
        <p:txBody>
          <a:bodyPr/>
          <a:lstStyle/>
          <a:p>
            <a:endParaRPr lang="en-US"/>
          </a:p>
        </p:txBody>
      </p:sp>
      <p:sp>
        <p:nvSpPr>
          <p:cNvPr id="20" name="Text 18"/>
          <p:cNvSpPr/>
          <p:nvPr/>
        </p:nvSpPr>
        <p:spPr>
          <a:xfrm>
            <a:off x="713232" y="4078224"/>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Government programs relocating workers to industrial centers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23" name="Shape 21"/>
          <p:cNvSpPr/>
          <p:nvPr/>
        </p:nvSpPr>
        <p:spPr>
          <a:xfrm>
            <a:off x="713232" y="4736592"/>
            <a:ext cx="347472" cy="347472"/>
          </a:xfrm>
          <a:prstGeom prst="ellipse">
            <a:avLst/>
          </a:prstGeom>
          <a:solidFill>
            <a:srgbClr val="1A2332"/>
          </a:solidFill>
          <a:ln/>
        </p:spPr>
        <p:txBody>
          <a:bodyPr/>
          <a:lstStyle/>
          <a:p>
            <a:endParaRPr lang="en-US"/>
          </a:p>
        </p:txBody>
      </p:sp>
      <p:sp>
        <p:nvSpPr>
          <p:cNvPr id="24" name="Text 22"/>
          <p:cNvSpPr/>
          <p:nvPr/>
        </p:nvSpPr>
        <p:spPr>
          <a:xfrm>
            <a:off x="713232" y="4736592"/>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Railroad companies offering free transportation to workers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lstStyle/>
          <a:p>
            <a:endParaRPr lang="en-US"/>
          </a:p>
        </p:txBody>
      </p:sp>
      <p:sp>
        <p:nvSpPr>
          <p:cNvPr id="27" name="Text 25"/>
          <p:cNvSpPr/>
          <p:nvPr/>
        </p:nvSpPr>
        <p:spPr>
          <a:xfrm>
            <a:off x="822960" y="5532120"/>
            <a:ext cx="10515600" cy="713232"/>
          </a:xfrm>
          <a:prstGeom prst="rect">
            <a:avLst/>
          </a:prstGeom>
          <a:noFill/>
          <a:ln/>
        </p:spPr>
        <p:txBody>
          <a:bodyPr wrap="square" rtlCol="0" anchor="ctr"/>
          <a:lstStyle/>
          <a:p>
            <a:pPr marL="0" indent="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Why: </a:t>
            </a:r>
            <a:r>
              <a:rPr lang="en-US" sz="1150" dirty="0">
                <a:solidFill>
                  <a:srgbClr val="C7D4E0"/>
                </a:solidFill>
                <a:latin typeface="Calibri" pitchFamily="34" charset="0"/>
                <a:ea typeface="Calibri" pitchFamily="34" charset="-122"/>
                <a:cs typeface="Calibri" pitchFamily="34" charset="-120"/>
              </a:rPr>
              <a:t>The report identifies three causes: war creating labor demand, boll weevil destroying crops, and "social conditions of the Negro in the South."</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US.28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marL="0" indent="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lstStyle/>
          <a:p>
            <a:endParaRPr lang="en-US"/>
          </a:p>
        </p:txBody>
      </p:sp>
      <p:sp>
        <p:nvSpPr>
          <p:cNvPr id="6" name="Text 4"/>
          <p:cNvSpPr/>
          <p:nvPr/>
        </p:nvSpPr>
        <p:spPr>
          <a:xfrm>
            <a:off x="868680" y="1847088"/>
            <a:ext cx="5486400" cy="320040"/>
          </a:xfrm>
          <a:prstGeom prst="rect">
            <a:avLst/>
          </a:prstGeom>
          <a:noFill/>
          <a:ln/>
        </p:spPr>
        <p:txBody>
          <a:bodyPr wrap="square" rtlCol="0" anchor="ctr"/>
          <a:lstStyle/>
          <a:p>
            <a:pPr marL="0" indent="0">
              <a:buNone/>
            </a:pPr>
            <a:r>
              <a:rPr lang="en-US" sz="1200" b="1" kern="0" spc="20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Push Factors: Reasons to Leave the South</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Pull Factors: Attractions of the North</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Economic Opportunities Comparison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Social and Cultural Changes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Long-term Implications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lstStyle/>
          <a:p>
            <a:endParaRPr lang="en-US"/>
          </a:p>
        </p:txBody>
      </p:sp>
      <p:sp>
        <p:nvSpPr>
          <p:cNvPr id="9" name="Text 7"/>
          <p:cNvSpPr/>
          <p:nvPr/>
        </p:nvSpPr>
        <p:spPr>
          <a:xfrm>
            <a:off x="822960" y="4901184"/>
            <a:ext cx="6492240" cy="274320"/>
          </a:xfrm>
          <a:prstGeom prst="rect">
            <a:avLst/>
          </a:prstGeom>
          <a:noFill/>
          <a:ln/>
        </p:spPr>
        <p:txBody>
          <a:bodyPr wrap="square" rtlCol="0" anchor="ctr"/>
          <a:lstStyle/>
          <a:p>
            <a:pPr marL="0" indent="0">
              <a:buNone/>
            </a:pPr>
            <a:r>
              <a:rPr lang="en-US" sz="1100" b="1" kern="0" spc="100" dirty="0">
                <a:solidFill>
                  <a:srgbClr val="7A5C12"/>
                </a:solidFill>
                <a:latin typeface="Trebuchet MS" pitchFamily="34" charset="0"/>
                <a:ea typeface="Trebuchet MS" pitchFamily="34" charset="-122"/>
                <a:cs typeface="Trebuchet MS" pitchFamily="34" charset="-120"/>
              </a:rPr>
              <a:t>★ HONORS / EXTENSION  </a:t>
            </a: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marL="0" indent="0">
              <a:lnSpc>
                <a:spcPct val="98000"/>
              </a:lnSpc>
              <a:buNone/>
            </a:pPr>
            <a:r>
              <a:rPr lang="en-US" sz="1050" i="1" dirty="0">
                <a:solidFill>
                  <a:srgbClr val="1F2430"/>
                </a:solidFill>
                <a:latin typeface="Calibri" pitchFamily="34" charset="0"/>
                <a:ea typeface="Calibri" pitchFamily="34" charset="-122"/>
                <a:cs typeface="Calibri" pitchFamily="34" charset="-120"/>
              </a:rPr>
              <a:t>Evaluate: To what extent did the Great Migration succeed in giving Black Americans the freedom and opportunity they sought? Argue your position with at least two pieces of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lstStyle/>
          <a:p>
            <a:endParaRPr lang="en-US"/>
          </a:p>
        </p:txBody>
      </p:sp>
      <p:sp>
        <p:nvSpPr>
          <p:cNvPr id="12" name="Text 10"/>
          <p:cNvSpPr/>
          <p:nvPr/>
        </p:nvSpPr>
        <p:spPr>
          <a:xfrm>
            <a:off x="8092440" y="1920240"/>
            <a:ext cx="2286000" cy="320040"/>
          </a:xfrm>
          <a:prstGeom prst="rect">
            <a:avLst/>
          </a:prstGeom>
          <a:noFill/>
          <a:ln/>
        </p:spPr>
        <p:txBody>
          <a:bodyPr wrap="square" rtlCol="0" anchor="ctr"/>
          <a:lstStyle/>
          <a:p>
            <a:pPr marL="0" indent="0">
              <a:buNone/>
            </a:pPr>
            <a:r>
              <a:rPr lang="en-US" sz="1200" b="1" kern="0" spc="20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lstStyle/>
          <a:p>
            <a:endParaRPr lang="en-US"/>
          </a:p>
        </p:txBody>
      </p:sp>
      <p:sp>
        <p:nvSpPr>
          <p:cNvPr id="14" name="Text 12"/>
          <p:cNvSpPr/>
          <p:nvPr/>
        </p:nvSpPr>
        <p:spPr>
          <a:xfrm>
            <a:off x="10378440" y="1883664"/>
            <a:ext cx="960120" cy="365760"/>
          </a:xfrm>
          <a:prstGeom prst="rect">
            <a:avLst/>
          </a:prstGeom>
          <a:noFill/>
          <a:ln/>
        </p:spPr>
        <p:txBody>
          <a:bodyPr wrap="square" rtlCol="0" anchor="ctr"/>
          <a:lstStyle/>
          <a:p>
            <a:pPr marL="0" indent="0" algn="ctr">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Explain how push factors and pull factors together drove the Great Migration. Which do you think mattered more, and why?</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lstStyle/>
          <a:p>
            <a:endParaRPr lang="en-US"/>
          </a:p>
        </p:txBody>
      </p:sp>
      <p:sp>
        <p:nvSpPr>
          <p:cNvPr id="17" name="Shape 15"/>
          <p:cNvSpPr/>
          <p:nvPr/>
        </p:nvSpPr>
        <p:spPr>
          <a:xfrm>
            <a:off x="8138160" y="5074920"/>
            <a:ext cx="3108960" cy="0"/>
          </a:xfrm>
          <a:prstGeom prst="line">
            <a:avLst/>
          </a:prstGeom>
          <a:noFill/>
          <a:ln w="12700">
            <a:solidFill>
              <a:srgbClr val="A7BACB"/>
            </a:solidFill>
            <a:prstDash val="dash"/>
          </a:ln>
        </p:spPr>
        <p:txBody>
          <a:bodyPr/>
          <a:lstStyle/>
          <a:p>
            <a:endParaRPr lang="en-US"/>
          </a:p>
        </p:txBody>
      </p:sp>
      <p:sp>
        <p:nvSpPr>
          <p:cNvPr id="18" name="Shape 16"/>
          <p:cNvSpPr/>
          <p:nvPr/>
        </p:nvSpPr>
        <p:spPr>
          <a:xfrm>
            <a:off x="8138160" y="5623560"/>
            <a:ext cx="3108960" cy="0"/>
          </a:xfrm>
          <a:prstGeom prst="line">
            <a:avLst/>
          </a:prstGeom>
          <a:noFill/>
          <a:ln w="12700">
            <a:solidFill>
              <a:srgbClr val="A7BACB"/>
            </a:solidFill>
            <a:prstDash val="dash"/>
          </a:ln>
        </p:spPr>
        <p:txBody>
          <a:bodyPr/>
          <a:lstStyle/>
          <a:p>
            <a:endParaRPr lang="en-US"/>
          </a:p>
        </p:txBody>
      </p:sp>
      <p:sp>
        <p:nvSpPr>
          <p:cNvPr id="20" name="Text 1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lstStyle/>
          <a:p>
            <a:endParaRPr lang="en-US"/>
          </a:p>
        </p:txBody>
      </p:sp>
      <p:sp>
        <p:nvSpPr>
          <p:cNvPr id="3" name="Shape 1"/>
          <p:cNvSpPr/>
          <p:nvPr/>
        </p:nvSpPr>
        <p:spPr>
          <a:xfrm>
            <a:off x="320040" y="0"/>
            <a:ext cx="109728" cy="6858000"/>
          </a:xfrm>
          <a:prstGeom prst="rect">
            <a:avLst/>
          </a:prstGeom>
          <a:solidFill>
            <a:srgbClr val="C9A84C"/>
          </a:solidFill>
          <a:ln/>
        </p:spPr>
        <p:txBody>
          <a:bodyPr/>
          <a:lstStyle/>
          <a:p>
            <a:endParaRPr lang="en-US"/>
          </a:p>
        </p:txBody>
      </p:sp>
      <p:sp>
        <p:nvSpPr>
          <p:cNvPr id="4" name="Text 2"/>
          <p:cNvSpPr/>
          <p:nvPr/>
        </p:nvSpPr>
        <p:spPr>
          <a:xfrm>
            <a:off x="914400" y="1005840"/>
            <a:ext cx="5486400" cy="365760"/>
          </a:xfrm>
          <a:prstGeom prst="rect">
            <a:avLst/>
          </a:prstGeom>
          <a:noFill/>
          <a:ln/>
        </p:spPr>
        <p:txBody>
          <a:bodyPr wrap="square" rtlCol="0" anchor="ctr"/>
          <a:lstStyle/>
          <a:p>
            <a:pPr marL="0" indent="0">
              <a:buNone/>
            </a:pPr>
            <a:r>
              <a:rPr lang="en-US" sz="1500" b="1" kern="0" spc="40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marL="0" indent="0">
              <a:buNone/>
            </a:pPr>
            <a:r>
              <a:rPr lang="en-US" sz="8800" b="1" dirty="0">
                <a:solidFill>
                  <a:srgbClr val="FFFFFF"/>
                </a:solidFill>
                <a:latin typeface="Georgia" pitchFamily="34" charset="0"/>
                <a:ea typeface="Georgia" pitchFamily="34" charset="-122"/>
                <a:cs typeface="Georgia" pitchFamily="34" charset="-120"/>
              </a:rPr>
              <a:t>US.29</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marL="0" indent="0">
              <a:lnSpc>
                <a:spcPct val="102000"/>
              </a:lnSpc>
              <a:buNone/>
            </a:pPr>
            <a:r>
              <a:rPr lang="en-US" sz="2400" i="1" dirty="0">
                <a:solidFill>
                  <a:srgbClr val="F9A825"/>
                </a:solidFill>
                <a:latin typeface="Georgia" pitchFamily="34" charset="0"/>
                <a:ea typeface="Georgia" pitchFamily="34" charset="-122"/>
                <a:cs typeface="Georgia" pitchFamily="34" charset="-120"/>
              </a:rPr>
              <a:t>Radio, Movies, and Popular Culture</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marL="0" indent="0" algn="l">
              <a:buNone/>
            </a:pPr>
            <a:r>
              <a:rPr lang="en-US" sz="1100" b="1" kern="0" spc="20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lstStyle/>
          <a:p>
            <a:endParaRPr lang="en-US"/>
          </a:p>
        </p:txBody>
      </p:sp>
      <p:sp>
        <p:nvSpPr>
          <p:cNvPr id="9" name="Text 7"/>
          <p:cNvSpPr/>
          <p:nvPr/>
        </p:nvSpPr>
        <p:spPr>
          <a:xfrm>
            <a:off x="6812280" y="1417320"/>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lstStyle/>
          <a:p>
            <a:endParaRPr lang="en-US"/>
          </a:p>
        </p:txBody>
      </p:sp>
      <p:sp>
        <p:nvSpPr>
          <p:cNvPr id="12" name="Text 10"/>
          <p:cNvSpPr/>
          <p:nvPr/>
        </p:nvSpPr>
        <p:spPr>
          <a:xfrm>
            <a:off x="6812280" y="1755648"/>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lstStyle/>
          <a:p>
            <a:endParaRPr lang="en-US"/>
          </a:p>
        </p:txBody>
      </p:sp>
      <p:sp>
        <p:nvSpPr>
          <p:cNvPr id="15" name="Text 13"/>
          <p:cNvSpPr/>
          <p:nvPr/>
        </p:nvSpPr>
        <p:spPr>
          <a:xfrm>
            <a:off x="6812280" y="2093976"/>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lstStyle/>
          <a:p>
            <a:endParaRPr lang="en-US"/>
          </a:p>
        </p:txBody>
      </p:sp>
      <p:sp>
        <p:nvSpPr>
          <p:cNvPr id="18" name="Text 16"/>
          <p:cNvSpPr/>
          <p:nvPr/>
        </p:nvSpPr>
        <p:spPr>
          <a:xfrm>
            <a:off x="1143000" y="3913632"/>
            <a:ext cx="5486400" cy="274320"/>
          </a:xfrm>
          <a:prstGeom prst="rect">
            <a:avLst/>
          </a:prstGeom>
          <a:noFill/>
          <a:ln/>
        </p:spPr>
        <p:txBody>
          <a:bodyPr wrap="square" rtlCol="0" anchor="ctr"/>
          <a:lstStyle/>
          <a:p>
            <a:pPr marL="0" indent="0">
              <a:buNone/>
            </a:pPr>
            <a:r>
              <a:rPr lang="en-US" sz="1100" b="1" kern="0" spc="20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Describe the growth and effects that radio and movies played in the emergence of popular culture, such as advertising, celebrities, news, and entertainment.</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lstStyle/>
          <a:p>
            <a:endParaRPr lang="en-US"/>
          </a:p>
        </p:txBody>
      </p:sp>
      <p:sp>
        <p:nvSpPr>
          <p:cNvPr id="21" name="Text 19"/>
          <p:cNvSpPr/>
          <p:nvPr/>
        </p:nvSpPr>
        <p:spPr>
          <a:xfrm>
            <a:off x="1143000" y="5230368"/>
            <a:ext cx="1828800" cy="292608"/>
          </a:xfrm>
          <a:prstGeom prst="rect">
            <a:avLst/>
          </a:prstGeom>
          <a:noFill/>
          <a:ln/>
        </p:spPr>
        <p:txBody>
          <a:bodyPr wrap="square" rtlCol="0" anchor="ctr"/>
          <a:lstStyle/>
          <a:p>
            <a:pPr marL="0" indent="0">
              <a:buNone/>
            </a:pPr>
            <a:r>
              <a:rPr lang="en-US" sz="1300" b="1" kern="0" spc="20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marL="0" indent="0">
              <a:lnSpc>
                <a:spcPct val="100000"/>
              </a:lnSpc>
              <a:buNone/>
            </a:pPr>
            <a:r>
              <a:rPr lang="en-US" sz="1250" b="1" dirty="0">
                <a:solidFill>
                  <a:srgbClr val="1A2332"/>
                </a:solidFill>
                <a:latin typeface="Calibri" pitchFamily="34" charset="0"/>
                <a:ea typeface="Calibri" pitchFamily="34" charset="-122"/>
                <a:cs typeface="Calibri" pitchFamily="34" charset="-120"/>
              </a:rPr>
              <a:t>I can describe the growth and effects that radio and movies played in the emergence of popular culture, such as advertising, celebrities, news, and entertainment.</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lstStyle/>
          <a:p>
            <a:endParaRPr lang="en-US"/>
          </a:p>
        </p:txBody>
      </p:sp>
      <p:sp>
        <p:nvSpPr>
          <p:cNvPr id="7" name="Shape 5"/>
          <p:cNvSpPr/>
          <p:nvPr/>
        </p:nvSpPr>
        <p:spPr>
          <a:xfrm>
            <a:off x="548640" y="2057400"/>
            <a:ext cx="777240" cy="1234440"/>
          </a:xfrm>
          <a:prstGeom prst="rect">
            <a:avLst/>
          </a:prstGeom>
          <a:solidFill>
            <a:srgbClr val="1A2332"/>
          </a:solidFill>
          <a:ln/>
        </p:spPr>
        <p:txBody>
          <a:bodyPr/>
          <a:lstStyle/>
          <a:p>
            <a:endParaRPr lang="en-US"/>
          </a:p>
        </p:txBody>
      </p:sp>
      <p:sp>
        <p:nvSpPr>
          <p:cNvPr id="8" name="Text 6"/>
          <p:cNvSpPr/>
          <p:nvPr/>
        </p:nvSpPr>
        <p:spPr>
          <a:xfrm>
            <a:off x="548640" y="2057400"/>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US.28  </a:t>
            </a:r>
            <a:r>
              <a:rPr lang="en-US" sz="1350" dirty="0">
                <a:solidFill>
                  <a:srgbClr val="1F2430"/>
                </a:solidFill>
                <a:latin typeface="Calibri" pitchFamily="34" charset="0"/>
                <a:ea typeface="Calibri" pitchFamily="34" charset="-122"/>
                <a:cs typeface="Calibri" pitchFamily="34" charset="-120"/>
              </a:rPr>
              <a:t>What was the Great Migration?</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lstStyle/>
          <a:p>
            <a:endParaRPr lang="en-US"/>
          </a:p>
        </p:txBody>
      </p:sp>
      <p:sp>
        <p:nvSpPr>
          <p:cNvPr id="11" name="Shape 9"/>
          <p:cNvSpPr/>
          <p:nvPr/>
        </p:nvSpPr>
        <p:spPr>
          <a:xfrm>
            <a:off x="548640" y="3456432"/>
            <a:ext cx="777240" cy="1234440"/>
          </a:xfrm>
          <a:prstGeom prst="rect">
            <a:avLst/>
          </a:prstGeom>
          <a:solidFill>
            <a:srgbClr val="1A2332"/>
          </a:solidFill>
          <a:ln/>
        </p:spPr>
        <p:txBody>
          <a:bodyPr/>
          <a:lstStyle/>
          <a:p>
            <a:endParaRPr lang="en-US"/>
          </a:p>
        </p:txBody>
      </p:sp>
      <p:sp>
        <p:nvSpPr>
          <p:cNvPr id="12" name="Text 10"/>
          <p:cNvSpPr/>
          <p:nvPr/>
        </p:nvSpPr>
        <p:spPr>
          <a:xfrm>
            <a:off x="548640" y="3456432"/>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US.28  </a:t>
            </a:r>
            <a:r>
              <a:rPr lang="en-US" sz="1350" dirty="0">
                <a:solidFill>
                  <a:srgbClr val="1F2430"/>
                </a:solidFill>
                <a:latin typeface="Calibri" pitchFamily="34" charset="0"/>
                <a:ea typeface="Calibri" pitchFamily="34" charset="-122"/>
                <a:cs typeface="Calibri" pitchFamily="34" charset="-120"/>
              </a:rPr>
              <a:t>Name one push factor and one pull factor of the Great Migration.</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lstStyle/>
          <a:p>
            <a:endParaRPr lang="en-US"/>
          </a:p>
        </p:txBody>
      </p:sp>
      <p:sp>
        <p:nvSpPr>
          <p:cNvPr id="6" name="Text 4"/>
          <p:cNvSpPr/>
          <p:nvPr/>
        </p:nvSpPr>
        <p:spPr>
          <a:xfrm>
            <a:off x="8686800" y="786384"/>
            <a:ext cx="1143000" cy="457200"/>
          </a:xfrm>
          <a:prstGeom prst="rect">
            <a:avLst/>
          </a:prstGeom>
          <a:noFill/>
          <a:ln/>
        </p:spPr>
        <p:txBody>
          <a:bodyPr wrap="square" rtlCol="0" anchor="ctr"/>
          <a:lstStyle/>
          <a:p>
            <a:pPr marL="0" indent="0" algn="ctr">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lstStyle/>
          <a:p>
            <a:endParaRPr lang="en-US"/>
          </a:p>
        </p:txBody>
      </p:sp>
      <p:sp>
        <p:nvSpPr>
          <p:cNvPr id="8" name="Text 6"/>
          <p:cNvSpPr/>
          <p:nvPr/>
        </p:nvSpPr>
        <p:spPr>
          <a:xfrm>
            <a:off x="9966960" y="786384"/>
            <a:ext cx="164592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lstStyle/>
          <a:p>
            <a:endParaRPr lang="en-US"/>
          </a:p>
        </p:txBody>
      </p:sp>
      <p:sp>
        <p:nvSpPr>
          <p:cNvPr id="11" name="Text 9"/>
          <p:cNvSpPr/>
          <p:nvPr/>
        </p:nvSpPr>
        <p:spPr>
          <a:xfrm>
            <a:off x="1005840" y="2194560"/>
            <a:ext cx="10149840" cy="1417320"/>
          </a:xfrm>
          <a:prstGeom prst="rect">
            <a:avLst/>
          </a:prstGeom>
          <a:noFill/>
          <a:ln/>
        </p:spPr>
        <p:txBody>
          <a:bodyPr wrap="square" rtlCol="0" anchor="ctr"/>
          <a:lstStyle/>
          <a:p>
            <a:pPr marL="0" indent="0" algn="ctr">
              <a:lnSpc>
                <a:spcPct val="108000"/>
              </a:lnSpc>
              <a:buNone/>
            </a:pPr>
            <a:r>
              <a:rPr lang="en-US" sz="2400" b="1" dirty="0">
                <a:solidFill>
                  <a:srgbClr val="FFFFFF"/>
                </a:solidFill>
                <a:latin typeface="Georgia" pitchFamily="34" charset="0"/>
                <a:ea typeface="Georgia" pitchFamily="34" charset="-122"/>
                <a:cs typeface="Georgia" pitchFamily="34" charset="-120"/>
              </a:rPr>
              <a:t>What new technology created a shared national culture in the 1920s?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lstStyle/>
          <a:p>
            <a:endParaRPr lang="en-US"/>
          </a:p>
        </p:txBody>
      </p:sp>
      <p:sp>
        <p:nvSpPr>
          <p:cNvPr id="13" name="Text 11"/>
          <p:cNvSpPr/>
          <p:nvPr/>
        </p:nvSpPr>
        <p:spPr>
          <a:xfrm>
            <a:off x="914400" y="4224528"/>
            <a:ext cx="2743200" cy="320040"/>
          </a:xfrm>
          <a:prstGeom prst="rect">
            <a:avLst/>
          </a:prstGeom>
          <a:noFill/>
          <a:ln/>
        </p:spPr>
        <p:txBody>
          <a:bodyPr wrap="square" rtlCol="0" anchor="ctr"/>
          <a:lstStyle/>
          <a:p>
            <a:pPr marL="0" indent="0">
              <a:buNone/>
            </a:pPr>
            <a:r>
              <a:rPr lang="en-US" sz="1200" b="1" kern="0" spc="20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marL="0" indent="0">
              <a:lnSpc>
                <a:spcPct val="108000"/>
              </a:lnSpc>
              <a:buNone/>
            </a:pPr>
            <a:r>
              <a:rPr lang="en-US" sz="1600" dirty="0">
                <a:solidFill>
                  <a:srgbClr val="1F2430"/>
                </a:solidFill>
                <a:latin typeface="Calibri" pitchFamily="34" charset="0"/>
                <a:ea typeface="Calibri" pitchFamily="34" charset="-122"/>
                <a:cs typeface="Calibri" pitchFamily="34" charset="-120"/>
              </a:rPr>
              <a:t>Radio broadcasting, which let millions of Americans hear the same programs at the same time.</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lstStyle/>
          <a:p>
            <a:endParaRPr lang="en-US"/>
          </a:p>
        </p:txBody>
      </p:sp>
      <p:sp>
        <p:nvSpPr>
          <p:cNvPr id="16" name="Text 14"/>
          <p:cNvSpPr/>
          <p:nvPr/>
        </p:nvSpPr>
        <p:spPr>
          <a:xfrm>
            <a:off x="822960" y="5623560"/>
            <a:ext cx="10515600" cy="457200"/>
          </a:xfrm>
          <a:prstGeom prst="rect">
            <a:avLst/>
          </a:prstGeom>
          <a:noFill/>
          <a:ln/>
        </p:spPr>
        <p:txBody>
          <a:bodyPr wrap="square" rtlCol="0" anchor="ctr"/>
          <a:lstStyle/>
          <a:p>
            <a:pPr marL="0" indent="0">
              <a:buNone/>
            </a:pPr>
            <a:r>
              <a:rPr lang="en-US" sz="1150" b="1" i="1" kern="0" spc="100" dirty="0">
                <a:solidFill>
                  <a:srgbClr val="C62828"/>
                </a:solidFill>
                <a:latin typeface="Trebuchet MS" pitchFamily="34" charset="0"/>
                <a:ea typeface="Trebuchet MS" pitchFamily="34" charset="-122"/>
                <a:cs typeface="Trebuchet MS" pitchFamily="34" charset="-120"/>
              </a:rPr>
              <a:t>COMMIT FIRST:  </a:t>
            </a: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lstStyle/>
          <a:p>
            <a:endParaRPr lang="en-US"/>
          </a:p>
        </p:txBody>
      </p:sp>
      <p:sp>
        <p:nvSpPr>
          <p:cNvPr id="6" name="Text 4"/>
          <p:cNvSpPr/>
          <p:nvPr/>
        </p:nvSpPr>
        <p:spPr>
          <a:xfrm>
            <a:off x="1005840" y="1965960"/>
            <a:ext cx="10149840" cy="1645920"/>
          </a:xfrm>
          <a:prstGeom prst="rect">
            <a:avLst/>
          </a:prstGeom>
          <a:noFill/>
          <a:ln/>
        </p:spPr>
        <p:txBody>
          <a:bodyPr wrap="square" rtlCol="0" anchor="ctr"/>
          <a:lstStyle/>
          <a:p>
            <a:pPr marL="0" indent="0">
              <a:lnSpc>
                <a:spcPct val="108000"/>
              </a:lnSpc>
              <a:buNone/>
            </a:pPr>
            <a:r>
              <a:rPr lang="en-US" sz="2600" i="1" dirty="0">
                <a:solidFill>
                  <a:srgbClr val="FFFFFF"/>
                </a:solidFill>
                <a:latin typeface="Georgia" pitchFamily="34" charset="0"/>
                <a:ea typeface="Georgia" pitchFamily="34" charset="-122"/>
                <a:cs typeface="Georgia" pitchFamily="34" charset="-120"/>
              </a:rPr>
              <a:t>In 1920 almost no American home had a radio; by 1929 more than twelve million families gathered around one every night, hearing the same voices, music, and news at the exact same moment for the first time in history.</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lstStyle/>
          <a:p>
            <a:endParaRPr lang="en-US"/>
          </a:p>
        </p:txBody>
      </p:sp>
      <p:sp>
        <p:nvSpPr>
          <p:cNvPr id="8" name="Text 6"/>
          <p:cNvSpPr/>
          <p:nvPr/>
        </p:nvSpPr>
        <p:spPr>
          <a:xfrm>
            <a:off x="914400" y="4297680"/>
            <a:ext cx="2743200" cy="320040"/>
          </a:xfrm>
          <a:prstGeom prst="rect">
            <a:avLst/>
          </a:prstGeom>
          <a:noFill/>
          <a:ln/>
        </p:spPr>
        <p:txBody>
          <a:bodyPr wrap="square" rtlCol="0" anchor="ctr"/>
          <a:lstStyle/>
          <a:p>
            <a:pPr marL="0" indent="0">
              <a:buNone/>
            </a:pPr>
            <a:r>
              <a:rPr lang="en-US" sz="1300" b="1" kern="0" spc="20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lstStyle/>
          <a:p>
            <a:endParaRPr lang="en-US"/>
          </a:p>
        </p:txBody>
      </p:sp>
      <p:sp>
        <p:nvSpPr>
          <p:cNvPr id="10" name="Text 8"/>
          <p:cNvSpPr/>
          <p:nvPr/>
        </p:nvSpPr>
        <p:spPr>
          <a:xfrm>
            <a:off x="7772400" y="4224528"/>
            <a:ext cx="3657600" cy="45720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marL="0" indent="0">
              <a:lnSpc>
                <a:spcPct val="110000"/>
              </a:lnSpc>
              <a:buNone/>
            </a:pPr>
            <a:r>
              <a:rPr lang="en-US" sz="1600" dirty="0">
                <a:solidFill>
                  <a:srgbClr val="1F2430"/>
                </a:solidFill>
                <a:latin typeface="Calibri" pitchFamily="34" charset="0"/>
                <a:ea typeface="Calibri" pitchFamily="34" charset="-122"/>
                <a:cs typeface="Calibri" pitchFamily="34" charset="-120"/>
              </a:rPr>
              <a:t>What happens to a country when, for the first time, millions of strangers can laugh at the same joke and hear the same song at the same second?</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Radio's Impact on Popular Culture</a:t>
            </a:r>
            <a:endParaRPr lang="en-US" sz="3000" dirty="0"/>
          </a:p>
        </p:txBody>
      </p:sp>
      <p:sp>
        <p:nvSpPr>
          <p:cNvPr id="5" name="Shape 3"/>
          <p:cNvSpPr/>
          <p:nvPr/>
        </p:nvSpPr>
        <p:spPr>
          <a:xfrm>
            <a:off x="10180015" y="502920"/>
            <a:ext cx="146304" cy="146304"/>
          </a:xfrm>
          <a:prstGeom prst="ellipse">
            <a:avLst/>
          </a:prstGeom>
          <a:solidFill>
            <a:srgbClr val="C62828"/>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2340864"/>
          </a:xfrm>
          <a:prstGeom prst="rect">
            <a:avLst/>
          </a:prstGeom>
          <a:noFill/>
          <a:ln/>
        </p:spPr>
        <p:txBody>
          <a:bodyPr wrap="square" rtlCol="0" anchor="t">
            <a:normAutofit fontScale="92500"/>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Radio became the first medium to reach the entire nation simultaneously.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Ownership grew from 60,000 sets in 1922 to 10 million by 1929.</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Programming included music, news, sports, comedy shows, and serialized dramas.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Radio created shared experiences across geographic and cultural boundaries, gave birth to consumer culture through commercialized advertising, and changed political campaigns as politicians could reach voters directly.</a:t>
            </a:r>
            <a:endParaRPr lang="en-US" sz="1550" dirty="0"/>
          </a:p>
        </p:txBody>
      </p:sp>
      <p:sp>
        <p:nvSpPr>
          <p:cNvPr id="13" name="Shape 11"/>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lstStyle/>
          <a:p>
            <a:endParaRPr lang="en-US"/>
          </a:p>
        </p:txBody>
      </p:sp>
      <p:sp>
        <p:nvSpPr>
          <p:cNvPr id="14" name="Text 12"/>
          <p:cNvSpPr/>
          <p:nvPr/>
        </p:nvSpPr>
        <p:spPr>
          <a:xfrm>
            <a:off x="1024128" y="4681728"/>
            <a:ext cx="5852160" cy="237744"/>
          </a:xfrm>
          <a:prstGeom prst="rect">
            <a:avLst/>
          </a:prstGeom>
          <a:noFill/>
          <a:ln/>
        </p:spPr>
        <p:txBody>
          <a:bodyPr wrap="square" rtlCol="0" anchor="ctr"/>
          <a:lstStyle/>
          <a:p>
            <a:pPr marL="0" indent="0">
              <a:buNone/>
            </a:pPr>
            <a:r>
              <a:rPr lang="en-US" sz="900" b="1" kern="0" spc="100" dirty="0">
                <a:solidFill>
                  <a:srgbClr val="002858"/>
                </a:solidFill>
                <a:latin typeface="Trebuchet MS" pitchFamily="34" charset="0"/>
                <a:ea typeface="Trebuchet MS" pitchFamily="34" charset="-122"/>
                <a:cs typeface="Trebuchet MS" pitchFamily="34" charset="-120"/>
              </a:rPr>
              <a:t>SENTENCE FRAME  </a:t>
            </a:r>
            <a:r>
              <a:rPr lang="en-US" sz="850" i="1" dirty="0">
                <a:solidFill>
                  <a:srgbClr val="5C6470"/>
                </a:solidFill>
              </a:rPr>
              <a:t>(EL &amp; writing support)  </a:t>
            </a:r>
            <a:endParaRPr lang="en-US" sz="900" dirty="0"/>
          </a:p>
        </p:txBody>
      </p:sp>
      <p:sp>
        <p:nvSpPr>
          <p:cNvPr id="15" name="Text 13"/>
          <p:cNvSpPr/>
          <p:nvPr/>
        </p:nvSpPr>
        <p:spPr>
          <a:xfrm>
            <a:off x="1024128" y="4937760"/>
            <a:ext cx="6309360" cy="658368"/>
          </a:xfrm>
          <a:prstGeom prst="rect">
            <a:avLst/>
          </a:prstGeom>
          <a:noFill/>
          <a:ln/>
        </p:spPr>
        <p:txBody>
          <a:bodyPr wrap="square" rtlCol="0" anchor="t"/>
          <a:lstStyle/>
          <a:p>
            <a:pPr marL="0" indent="0">
              <a:lnSpc>
                <a:spcPct val="104000"/>
              </a:lnSpc>
              <a:buNone/>
            </a:pPr>
            <a:r>
              <a:rPr lang="en-US" sz="1050" i="1" dirty="0">
                <a:solidFill>
                  <a:srgbClr val="1F2430"/>
                </a:solidFill>
                <a:latin typeface="Calibri" pitchFamily="34" charset="0"/>
                <a:ea typeface="Calibri" pitchFamily="34" charset="-122"/>
                <a:cs typeface="Calibri" pitchFamily="34" charset="-120"/>
              </a:rPr>
              <a:t>Radio and movies changed the 1920s by ________, which created a shared national ________.</a:t>
            </a:r>
            <a:endParaRPr lang="en-US" sz="1050" dirty="0"/>
          </a:p>
        </p:txBody>
      </p:sp>
      <p:sp>
        <p:nvSpPr>
          <p:cNvPr id="16" name="Shape 14"/>
          <p:cNvSpPr/>
          <p:nvPr/>
        </p:nvSpPr>
        <p:spPr>
          <a:xfrm>
            <a:off x="7552944" y="1746504"/>
            <a:ext cx="4142232" cy="2935224"/>
          </a:xfrm>
          <a:prstGeom prst="rect">
            <a:avLst/>
          </a:prstGeom>
          <a:solidFill>
            <a:srgbClr val="FFFFFF"/>
          </a:solidFill>
          <a:ln w="12700">
            <a:solidFill>
              <a:srgbClr val="DAD3C2"/>
            </a:solidFill>
            <a:prstDash val="solid"/>
          </a:ln>
        </p:spPr>
        <p:txBody>
          <a:bodyPr/>
          <a:lstStyle/>
          <a:p>
            <a:endParaRPr lang="en-US"/>
          </a:p>
        </p:txBody>
      </p:sp>
      <p:pic>
        <p:nvPicPr>
          <p:cNvPr id="17" name="Image 0" descr="unit4-full/img/early-radio-speaker.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61254" y="1783080"/>
            <a:ext cx="3925611" cy="2862072"/>
          </a:xfrm>
          <a:prstGeom prst="rect">
            <a:avLst/>
          </a:prstGeom>
        </p:spPr>
      </p:pic>
      <p:sp>
        <p:nvSpPr>
          <p:cNvPr id="18" name="Text 15"/>
          <p:cNvSpPr/>
          <p:nvPr/>
        </p:nvSpPr>
        <p:spPr>
          <a:xfrm>
            <a:off x="7589520" y="470001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Photographer unknown, c1922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Wikimedia Commons (public domain)</a:t>
            </a:r>
            <a:endParaRPr lang="en-US" sz="800" dirty="0"/>
          </a:p>
        </p:txBody>
      </p:sp>
      <p:sp>
        <p:nvSpPr>
          <p:cNvPr id="19" name="Shape 16"/>
          <p:cNvSpPr/>
          <p:nvPr/>
        </p:nvSpPr>
        <p:spPr>
          <a:xfrm>
            <a:off x="7589520" y="5440680"/>
            <a:ext cx="4069080" cy="713232"/>
          </a:xfrm>
          <a:prstGeom prst="roundRect">
            <a:avLst>
              <a:gd name="adj" fmla="val 7692"/>
            </a:avLst>
          </a:prstGeom>
          <a:solidFill>
            <a:srgbClr val="1A2332"/>
          </a:solidFill>
          <a:ln/>
        </p:spPr>
        <p:txBody>
          <a:bodyPr/>
          <a:lstStyle/>
          <a:p>
            <a:endParaRPr lang="en-US"/>
          </a:p>
        </p:txBody>
      </p:sp>
      <p:sp>
        <p:nvSpPr>
          <p:cNvPr id="20" name="Text 17"/>
          <p:cNvSpPr/>
          <p:nvPr/>
        </p:nvSpPr>
        <p:spPr>
          <a:xfrm>
            <a:off x="7772400" y="5477256"/>
            <a:ext cx="3703320" cy="640080"/>
          </a:xfrm>
          <a:prstGeom prst="rect">
            <a:avLst/>
          </a:prstGeom>
          <a:noFill/>
          <a:ln/>
        </p:spPr>
        <p:txBody>
          <a:bodyPr wrap="square" rtlCol="0" anchor="ctr"/>
          <a:lstStyle/>
          <a:p>
            <a:pPr marL="0" indent="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2" name="Text 1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3" name="Text 1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Film Industry Growth</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C62828"/>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Silent films made stars like Charlie Chaplin, Mary Pickford, and Rudolph Valentino global celebrities.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Elaborate movie palaces made moviegoing a glamorous experience.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Hollywood emerged as the entertainment capital, creating the "dream factory" mythology.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By 1929, 50 million Americans attended movies weekly.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"talkies" revolution began in 1927 with "The Jazz Singer," which introduced sound films.</a:t>
            </a:r>
            <a:endParaRPr lang="en-US" sz="1550" dirty="0"/>
          </a:p>
        </p:txBody>
      </p:sp>
      <p:sp>
        <p:nvSpPr>
          <p:cNvPr id="13" name="Shape 11"/>
          <p:cNvSpPr/>
          <p:nvPr/>
        </p:nvSpPr>
        <p:spPr>
          <a:xfrm>
            <a:off x="7552944" y="1746504"/>
            <a:ext cx="4142232" cy="3575304"/>
          </a:xfrm>
          <a:prstGeom prst="rect">
            <a:avLst/>
          </a:prstGeom>
          <a:solidFill>
            <a:srgbClr val="FFFFFF"/>
          </a:solidFill>
          <a:ln w="12700">
            <a:solidFill>
              <a:srgbClr val="DAD3C2"/>
            </a:solidFill>
            <a:prstDash val="solid"/>
          </a:ln>
        </p:spPr>
        <p:txBody>
          <a:bodyPr/>
          <a:lstStyle/>
          <a:p>
            <a:endParaRPr lang="en-US"/>
          </a:p>
        </p:txBody>
      </p:sp>
      <p:pic>
        <p:nvPicPr>
          <p:cNvPr id="14" name="Image 0" descr="unit4-full/img/movie-palace-1926.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88317" y="1783080"/>
            <a:ext cx="2671487" cy="3502152"/>
          </a:xfrm>
          <a:prstGeom prst="rect">
            <a:avLst/>
          </a:prstGeom>
        </p:spPr>
      </p:pic>
      <p:sp>
        <p:nvSpPr>
          <p:cNvPr id="15" name="Text 12"/>
          <p:cNvSpPr/>
          <p:nvPr/>
        </p:nvSpPr>
        <p:spPr>
          <a:xfrm>
            <a:off x="7589520" y="534009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Photographer unknown, c1926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Wikimedia Commons (public domain)</a:t>
            </a:r>
            <a:endParaRPr lang="en-US" sz="800" dirty="0"/>
          </a:p>
        </p:txBody>
      </p:sp>
      <p:sp>
        <p:nvSpPr>
          <p:cNvPr id="16" name="Text 13"/>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Charlie Chaplin (1889-1977)</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C62828"/>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Chaplin created "The Tramp"—an iconic character with bowler hat, cane, and mustache.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pioneered physical comedy and film techniques, achieving global appeal since silent films crossed language barriers.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character represented the common man struggling against modern industrial society.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founded United Artists studio and created social commentary films like "Modern Times."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Charles Lindbergh (1902-1974)</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C62828"/>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"Lucky Lindy" completed the first solo nonstop transatlantic flight on May 20-21, 1927.</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became a media sensation with ticker-tape parades, endorsements, and constant press coverage.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As an aviation pioneer, he promoted commercial aviation and technological progress.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Lindbergh embodied American ingenuity and adventurous spirit, becoming a national hero through newspapers, radio, and newsreels.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Babe Ruth (1895-1948)</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C62828"/>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"Sultan of Swat" transformed baseball from a pitching game to a hitting game.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60 home runs in 1927 captivated national attention.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larger-than-life personality with a flamboyant lifestyle made him a cultural icon.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Radio coverage brought baseball games to millions of fans, and Ruth became the first athlete to capitalize on celebrity for endorsements.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Yankee Stadium was called "The House that Ruth Built."</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3505200" cy="4114800"/>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27632"/>
            <a:ext cx="3505200" cy="868680"/>
          </a:xfrm>
          <a:prstGeom prst="rect">
            <a:avLst/>
          </a:prstGeom>
          <a:solidFill>
            <a:srgbClr val="1A2332"/>
          </a:solidFill>
          <a:ln/>
        </p:spPr>
        <p:txBody>
          <a:bodyPr/>
          <a:lstStyle/>
          <a:p>
            <a:endParaRPr lang="en-US"/>
          </a:p>
        </p:txBody>
      </p:sp>
      <p:sp>
        <p:nvSpPr>
          <p:cNvPr id="7" name="Text 5"/>
          <p:cNvSpPr/>
          <p:nvPr/>
        </p:nvSpPr>
        <p:spPr>
          <a:xfrm>
            <a:off x="667512" y="1627632"/>
            <a:ext cx="3267456" cy="630936"/>
          </a:xfrm>
          <a:prstGeom prst="rect">
            <a:avLst/>
          </a:prstGeom>
          <a:noFill/>
          <a:ln/>
        </p:spPr>
        <p:txBody>
          <a:bodyPr wrap="square" rtlCol="0" anchor="ctr">
            <a:normAutofit/>
          </a:bodyPr>
          <a:lstStyle/>
          <a:p>
            <a:pPr marL="0" indent="0">
              <a:lnSpc>
                <a:spcPct val="95000"/>
              </a:lnSpc>
              <a:buNone/>
            </a:pPr>
            <a:r>
              <a:rPr lang="en-US" sz="1600" b="1" dirty="0">
                <a:solidFill>
                  <a:srgbClr val="FFFFFF"/>
                </a:solidFill>
                <a:latin typeface="Georgia" pitchFamily="34" charset="0"/>
                <a:ea typeface="Georgia" pitchFamily="34" charset="-122"/>
                <a:cs typeface="Georgia" pitchFamily="34" charset="-120"/>
              </a:rPr>
              <a:t>Charlie Chaplin</a:t>
            </a:r>
            <a:endParaRPr lang="en-US" sz="1600" dirty="0"/>
          </a:p>
        </p:txBody>
      </p:sp>
      <p:sp>
        <p:nvSpPr>
          <p:cNvPr id="8" name="Text 6"/>
          <p:cNvSpPr/>
          <p:nvPr/>
        </p:nvSpPr>
        <p:spPr>
          <a:xfrm>
            <a:off x="667512" y="2221992"/>
            <a:ext cx="326745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Silent-film comedian &amp; director (1889-1977)</a:t>
            </a:r>
            <a:endParaRPr lang="en-US" sz="1100" dirty="0"/>
          </a:p>
        </p:txBody>
      </p:sp>
      <p:sp>
        <p:nvSpPr>
          <p:cNvPr id="9" name="Text 7"/>
          <p:cNvSpPr/>
          <p:nvPr/>
        </p:nvSpPr>
        <p:spPr>
          <a:xfrm>
            <a:off x="694944" y="2606040"/>
            <a:ext cx="321259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Created 'The Tramp,' the era's most recognized character</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Turned film into a mass-culture art form</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Built one of the first global celebrity brands</a:t>
            </a:r>
            <a:endParaRPr lang="en-US" sz="1200" dirty="0"/>
          </a:p>
        </p:txBody>
      </p:sp>
      <p:sp>
        <p:nvSpPr>
          <p:cNvPr id="10" name="Shape 8"/>
          <p:cNvSpPr/>
          <p:nvPr/>
        </p:nvSpPr>
        <p:spPr>
          <a:xfrm>
            <a:off x="667512" y="5148072"/>
            <a:ext cx="326745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11" name="Text 9"/>
          <p:cNvSpPr/>
          <p:nvPr/>
        </p:nvSpPr>
        <p:spPr>
          <a:xfrm>
            <a:off x="749808" y="5175504"/>
            <a:ext cx="312115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Use Chaplin to show how movies created a shared national culture across regions.</a:t>
            </a:r>
            <a:endParaRPr lang="en-US" sz="800" dirty="0"/>
          </a:p>
        </p:txBody>
      </p:sp>
      <p:sp>
        <p:nvSpPr>
          <p:cNvPr id="12" name="Shape 10"/>
          <p:cNvSpPr/>
          <p:nvPr/>
        </p:nvSpPr>
        <p:spPr>
          <a:xfrm>
            <a:off x="4328160" y="1627632"/>
            <a:ext cx="3505200" cy="4114800"/>
          </a:xfrm>
          <a:prstGeom prst="rect">
            <a:avLst/>
          </a:prstGeom>
          <a:solidFill>
            <a:srgbClr val="FFFFFF"/>
          </a:solidFill>
          <a:ln w="12700">
            <a:solidFill>
              <a:srgbClr val="DAD3C2"/>
            </a:solidFill>
            <a:prstDash val="solid"/>
          </a:ln>
        </p:spPr>
        <p:txBody>
          <a:bodyPr/>
          <a:lstStyle/>
          <a:p>
            <a:endParaRPr lang="en-US"/>
          </a:p>
        </p:txBody>
      </p:sp>
      <p:sp>
        <p:nvSpPr>
          <p:cNvPr id="13" name="Shape 11"/>
          <p:cNvSpPr/>
          <p:nvPr/>
        </p:nvSpPr>
        <p:spPr>
          <a:xfrm>
            <a:off x="4328160" y="1627632"/>
            <a:ext cx="3505200" cy="868680"/>
          </a:xfrm>
          <a:prstGeom prst="rect">
            <a:avLst/>
          </a:prstGeom>
          <a:solidFill>
            <a:srgbClr val="1A2332"/>
          </a:solidFill>
          <a:ln/>
        </p:spPr>
        <p:txBody>
          <a:bodyPr/>
          <a:lstStyle/>
          <a:p>
            <a:endParaRPr lang="en-US"/>
          </a:p>
        </p:txBody>
      </p:sp>
      <p:sp>
        <p:nvSpPr>
          <p:cNvPr id="14" name="Text 12"/>
          <p:cNvSpPr/>
          <p:nvPr/>
        </p:nvSpPr>
        <p:spPr>
          <a:xfrm>
            <a:off x="4447032" y="1627632"/>
            <a:ext cx="3267456" cy="630936"/>
          </a:xfrm>
          <a:prstGeom prst="rect">
            <a:avLst/>
          </a:prstGeom>
          <a:noFill/>
          <a:ln/>
        </p:spPr>
        <p:txBody>
          <a:bodyPr wrap="square" rtlCol="0" anchor="ctr">
            <a:normAutofit/>
          </a:bodyPr>
          <a:lstStyle/>
          <a:p>
            <a:pPr marL="0" indent="0">
              <a:lnSpc>
                <a:spcPct val="95000"/>
              </a:lnSpc>
              <a:buNone/>
            </a:pPr>
            <a:r>
              <a:rPr lang="en-US" sz="1600" b="1" dirty="0">
                <a:solidFill>
                  <a:srgbClr val="FFFFFF"/>
                </a:solidFill>
                <a:latin typeface="Georgia" pitchFamily="34" charset="0"/>
                <a:ea typeface="Georgia" pitchFamily="34" charset="-122"/>
                <a:cs typeface="Georgia" pitchFamily="34" charset="-120"/>
              </a:rPr>
              <a:t>Charles Lindbergh</a:t>
            </a:r>
            <a:endParaRPr lang="en-US" sz="1600" dirty="0"/>
          </a:p>
        </p:txBody>
      </p:sp>
      <p:sp>
        <p:nvSpPr>
          <p:cNvPr id="15" name="Text 13"/>
          <p:cNvSpPr/>
          <p:nvPr/>
        </p:nvSpPr>
        <p:spPr>
          <a:xfrm>
            <a:off x="4447032" y="2221992"/>
            <a:ext cx="326745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Aviator &amp; national celebrity (1902-1974)</a:t>
            </a:r>
            <a:endParaRPr lang="en-US" sz="1100" dirty="0"/>
          </a:p>
        </p:txBody>
      </p:sp>
      <p:sp>
        <p:nvSpPr>
          <p:cNvPr id="16" name="Shape 14"/>
          <p:cNvSpPr/>
          <p:nvPr/>
        </p:nvSpPr>
        <p:spPr>
          <a:xfrm>
            <a:off x="4447032" y="2578608"/>
            <a:ext cx="1527048" cy="1211909"/>
          </a:xfrm>
          <a:prstGeom prst="rect">
            <a:avLst/>
          </a:prstGeom>
          <a:solidFill>
            <a:srgbClr val="FFFFFF"/>
          </a:solidFill>
          <a:ln w="12700">
            <a:solidFill>
              <a:srgbClr val="DAD3C2"/>
            </a:solidFill>
            <a:prstDash val="solid"/>
          </a:ln>
        </p:spPr>
        <p:txBody>
          <a:bodyPr/>
          <a:lstStyle/>
          <a:p>
            <a:endParaRPr lang="en-US"/>
          </a:p>
        </p:txBody>
      </p:sp>
      <p:pic>
        <p:nvPicPr>
          <p:cNvPr id="17" name="Image 0" descr="unit4-full/img/charles-lindbergh.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474464" y="2606040"/>
            <a:ext cx="1472184" cy="1157045"/>
          </a:xfrm>
          <a:prstGeom prst="rect">
            <a:avLst/>
          </a:prstGeom>
        </p:spPr>
      </p:pic>
      <p:sp>
        <p:nvSpPr>
          <p:cNvPr id="18" name="Text 15"/>
          <p:cNvSpPr/>
          <p:nvPr/>
        </p:nvSpPr>
        <p:spPr>
          <a:xfrm>
            <a:off x="4474464" y="3799661"/>
            <a:ext cx="1975104"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News photo (MOHAI), 1927  </a:t>
            </a:r>
            <a:r>
              <a:rPr lang="en-US" sz="6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Museum of History &amp; Industry (MOHAI)</a:t>
            </a:r>
            <a:endParaRPr lang="en-US" sz="600" dirty="0"/>
          </a:p>
        </p:txBody>
      </p:sp>
      <p:sp>
        <p:nvSpPr>
          <p:cNvPr id="19" name="Text 16"/>
          <p:cNvSpPr/>
          <p:nvPr/>
        </p:nvSpPr>
        <p:spPr>
          <a:xfrm>
            <a:off x="6129528" y="2606040"/>
            <a:ext cx="1557528"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Made the first solo nonstop transatlantic flight (1927)</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Became the era's greatest hero</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Showed how radio and film could make an instant national celebrity</a:t>
            </a:r>
            <a:endParaRPr lang="en-US" sz="1200" dirty="0"/>
          </a:p>
        </p:txBody>
      </p:sp>
      <p:sp>
        <p:nvSpPr>
          <p:cNvPr id="20" name="Shape 17"/>
          <p:cNvSpPr/>
          <p:nvPr/>
        </p:nvSpPr>
        <p:spPr>
          <a:xfrm>
            <a:off x="4447032" y="5148072"/>
            <a:ext cx="326745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21" name="Text 18"/>
          <p:cNvSpPr/>
          <p:nvPr/>
        </p:nvSpPr>
        <p:spPr>
          <a:xfrm>
            <a:off x="4529328" y="5175504"/>
            <a:ext cx="3121152" cy="457200"/>
          </a:xfrm>
          <a:prstGeom prst="rect">
            <a:avLst/>
          </a:prstGeom>
          <a:noFill/>
          <a:ln/>
        </p:spPr>
        <p:txBody>
          <a:bodyPr wrap="square" rtlCol="0" anchor="ctr">
            <a:normAutofit fontScale="92500" lnSpcReduction="20000"/>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Connect Lindbergh to US.31: his fame was a product of the new technology and the new mass media.</a:t>
            </a:r>
            <a:endParaRPr lang="en-US" sz="800" dirty="0"/>
          </a:p>
        </p:txBody>
      </p:sp>
      <p:sp>
        <p:nvSpPr>
          <p:cNvPr id="22" name="Shape 19"/>
          <p:cNvSpPr/>
          <p:nvPr/>
        </p:nvSpPr>
        <p:spPr>
          <a:xfrm>
            <a:off x="8107680" y="1627632"/>
            <a:ext cx="3505200" cy="4114800"/>
          </a:xfrm>
          <a:prstGeom prst="rect">
            <a:avLst/>
          </a:prstGeom>
          <a:solidFill>
            <a:srgbClr val="FFFFFF"/>
          </a:solidFill>
          <a:ln w="12700">
            <a:solidFill>
              <a:srgbClr val="DAD3C2"/>
            </a:solidFill>
            <a:prstDash val="solid"/>
          </a:ln>
        </p:spPr>
        <p:txBody>
          <a:bodyPr/>
          <a:lstStyle/>
          <a:p>
            <a:endParaRPr lang="en-US"/>
          </a:p>
        </p:txBody>
      </p:sp>
      <p:sp>
        <p:nvSpPr>
          <p:cNvPr id="23" name="Shape 20"/>
          <p:cNvSpPr/>
          <p:nvPr/>
        </p:nvSpPr>
        <p:spPr>
          <a:xfrm>
            <a:off x="8107680" y="1627632"/>
            <a:ext cx="3505200" cy="868680"/>
          </a:xfrm>
          <a:prstGeom prst="rect">
            <a:avLst/>
          </a:prstGeom>
          <a:solidFill>
            <a:srgbClr val="1A2332"/>
          </a:solidFill>
          <a:ln/>
        </p:spPr>
        <p:txBody>
          <a:bodyPr/>
          <a:lstStyle/>
          <a:p>
            <a:endParaRPr lang="en-US"/>
          </a:p>
        </p:txBody>
      </p:sp>
      <p:sp>
        <p:nvSpPr>
          <p:cNvPr id="24" name="Text 21"/>
          <p:cNvSpPr/>
          <p:nvPr/>
        </p:nvSpPr>
        <p:spPr>
          <a:xfrm>
            <a:off x="8226552" y="1627632"/>
            <a:ext cx="3267456" cy="630936"/>
          </a:xfrm>
          <a:prstGeom prst="rect">
            <a:avLst/>
          </a:prstGeom>
          <a:noFill/>
          <a:ln/>
        </p:spPr>
        <p:txBody>
          <a:bodyPr wrap="square" rtlCol="0" anchor="ctr">
            <a:normAutofit/>
          </a:bodyPr>
          <a:lstStyle/>
          <a:p>
            <a:pPr marL="0" indent="0">
              <a:lnSpc>
                <a:spcPct val="95000"/>
              </a:lnSpc>
              <a:buNone/>
            </a:pPr>
            <a:r>
              <a:rPr lang="en-US" sz="1600" b="1" dirty="0">
                <a:solidFill>
                  <a:srgbClr val="FFFFFF"/>
                </a:solidFill>
                <a:latin typeface="Georgia" pitchFamily="34" charset="0"/>
                <a:ea typeface="Georgia" pitchFamily="34" charset="-122"/>
                <a:cs typeface="Georgia" pitchFamily="34" charset="-120"/>
              </a:rPr>
              <a:t>Babe Ruth</a:t>
            </a:r>
            <a:endParaRPr lang="en-US" sz="1600" dirty="0"/>
          </a:p>
        </p:txBody>
      </p:sp>
      <p:sp>
        <p:nvSpPr>
          <p:cNvPr id="25" name="Text 22"/>
          <p:cNvSpPr/>
          <p:nvPr/>
        </p:nvSpPr>
        <p:spPr>
          <a:xfrm>
            <a:off x="8226552" y="2221992"/>
            <a:ext cx="326745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Baseball superstar (1895-1948)</a:t>
            </a:r>
            <a:endParaRPr lang="en-US" sz="1100" dirty="0"/>
          </a:p>
        </p:txBody>
      </p:sp>
      <p:sp>
        <p:nvSpPr>
          <p:cNvPr id="26" name="Text 23"/>
          <p:cNvSpPr/>
          <p:nvPr/>
        </p:nvSpPr>
        <p:spPr>
          <a:xfrm>
            <a:off x="8253984" y="2606040"/>
            <a:ext cx="321259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Transformed baseball with his home-run power</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Became sports' first modern celebrity</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Symbolized the boom-time optimism of the decade</a:t>
            </a:r>
            <a:endParaRPr lang="en-US" sz="1200" dirty="0"/>
          </a:p>
        </p:txBody>
      </p:sp>
      <p:sp>
        <p:nvSpPr>
          <p:cNvPr id="27" name="Shape 24"/>
          <p:cNvSpPr/>
          <p:nvPr/>
        </p:nvSpPr>
        <p:spPr>
          <a:xfrm>
            <a:off x="8226552" y="5148072"/>
            <a:ext cx="326745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28" name="Text 25"/>
          <p:cNvSpPr/>
          <p:nvPr/>
        </p:nvSpPr>
        <p:spPr>
          <a:xfrm>
            <a:off x="8308848" y="5175504"/>
            <a:ext cx="312115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Use Ruth to introduce the idea of the celebrity athlete built by radio and newsreels.</a:t>
            </a:r>
            <a:endParaRPr lang="en-US" sz="800" dirty="0"/>
          </a:p>
        </p:txBody>
      </p:sp>
      <p:sp>
        <p:nvSpPr>
          <p:cNvPr id="29" name="Text 2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002858"/>
                </a:solidFill>
                <a:latin typeface="Trebuchet MS" pitchFamily="34" charset="0"/>
                <a:ea typeface="Trebuchet MS" pitchFamily="34" charset="-122"/>
                <a:cs typeface="Trebuchet MS" pitchFamily="34" charset="-120"/>
              </a:rPr>
              <a:t>US.29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marL="0" indent="0">
              <a:buNone/>
            </a:pPr>
            <a:r>
              <a:rPr lang="en-US" sz="2500" b="1" dirty="0">
                <a:solidFill>
                  <a:srgbClr val="1A2332"/>
                </a:solidFill>
                <a:latin typeface="Georgia" pitchFamily="34" charset="0"/>
                <a:ea typeface="Georgia" pitchFamily="34" charset="-122"/>
                <a:cs typeface="Georgia" pitchFamily="34" charset="-120"/>
              </a:rPr>
              <a:t>Motion Picture Magazine Article</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lstStyle/>
          <a:p>
            <a:endParaRPr lang="en-US"/>
          </a:p>
        </p:txBody>
      </p:sp>
      <p:sp>
        <p:nvSpPr>
          <p:cNvPr id="6" name="Text 4"/>
          <p:cNvSpPr/>
          <p:nvPr/>
        </p:nvSpPr>
        <p:spPr>
          <a:xfrm>
            <a:off x="9418320" y="777240"/>
            <a:ext cx="219456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Photoplay Magazine  ·  1925</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txBody>
          <a:bodyPr/>
          <a:lstStyle/>
          <a:p>
            <a:endParaRPr lang="en-US"/>
          </a:p>
        </p:txBody>
      </p:sp>
      <p:pic>
        <p:nvPicPr>
          <p:cNvPr id="9" name="Image 0" descr="unit4-full/img/women-with-radio-1920s.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8640" y="1852410"/>
            <a:ext cx="3200400" cy="2302788"/>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marL="0" indent="0" algn="l">
              <a:lnSpc>
                <a:spcPct val="100000"/>
              </a:lnSpc>
              <a:buNone/>
            </a:pPr>
            <a:r>
              <a:rPr lang="en-US" sz="700" i="1" dirty="0">
                <a:solidFill>
                  <a:srgbClr val="5C6470"/>
                </a:solidFill>
                <a:latin typeface="Calibri" pitchFamily="34" charset="0"/>
                <a:ea typeface="Calibri" pitchFamily="34" charset="-122"/>
                <a:cs typeface="Calibri" pitchFamily="34" charset="-120"/>
              </a:rPr>
              <a:t>News photo, c1925  </a:t>
            </a:r>
            <a:r>
              <a:rPr lang="en-US" sz="7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Wikimedia Commons (public domain)</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lstStyle/>
          <a:p>
            <a:endParaRPr lang="en-US"/>
          </a:p>
        </p:txBody>
      </p:sp>
      <p:sp>
        <p:nvSpPr>
          <p:cNvPr id="12" name="Text 9"/>
          <p:cNvSpPr/>
          <p:nvPr/>
        </p:nvSpPr>
        <p:spPr>
          <a:xfrm>
            <a:off x="768096" y="1865376"/>
            <a:ext cx="2761488" cy="438912"/>
          </a:xfrm>
          <a:prstGeom prst="rect">
            <a:avLst/>
          </a:prstGeom>
          <a:noFill/>
          <a:ln/>
        </p:spPr>
        <p:txBody>
          <a:bodyPr wrap="square" rtlCol="0" anchor="ctr"/>
          <a:lstStyle/>
          <a:p>
            <a:pPr marL="0" indent="0">
              <a:lnSpc>
                <a:spcPct val="95000"/>
              </a:lnSpc>
              <a:buNone/>
            </a:pPr>
            <a:r>
              <a:rPr lang="en-US" sz="950" b="1" kern="0" spc="150" dirty="0">
                <a:solidFill>
                  <a:srgbClr val="1A2332"/>
                </a:solidFill>
                <a:latin typeface="Trebuchet MS" pitchFamily="34" charset="0"/>
                <a:ea typeface="Trebuchet MS" pitchFamily="34" charset="-122"/>
                <a:cs typeface="Trebuchet MS" pitchFamily="34" charset="-120"/>
              </a:rPr>
              <a:t>ZOOM IN  </a:t>
            </a: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lstStyle/>
          <a:p>
            <a:endParaRPr lang="en-US"/>
          </a:p>
        </p:txBody>
      </p:sp>
      <p:sp>
        <p:nvSpPr>
          <p:cNvPr id="14" name="Shape 11"/>
          <p:cNvSpPr/>
          <p:nvPr/>
        </p:nvSpPr>
        <p:spPr>
          <a:xfrm>
            <a:off x="3931920" y="1737360"/>
            <a:ext cx="91440" cy="3246120"/>
          </a:xfrm>
          <a:prstGeom prst="rect">
            <a:avLst/>
          </a:prstGeom>
          <a:solidFill>
            <a:srgbClr val="C9A84C"/>
          </a:solidFill>
          <a:ln/>
        </p:spPr>
        <p:txBody>
          <a:bodyPr/>
          <a:lstStyle/>
          <a:p>
            <a:endParaRPr lang="en-US"/>
          </a:p>
        </p:txBody>
      </p:sp>
      <p:sp>
        <p:nvSpPr>
          <p:cNvPr id="15" name="Text 12"/>
          <p:cNvSpPr/>
          <p:nvPr/>
        </p:nvSpPr>
        <p:spPr>
          <a:xfrm>
            <a:off x="4160520" y="1920240"/>
            <a:ext cx="3200400" cy="2880360"/>
          </a:xfrm>
          <a:prstGeom prst="rect">
            <a:avLst/>
          </a:prstGeom>
          <a:noFill/>
          <a:ln/>
        </p:spPr>
        <p:txBody>
          <a:bodyPr wrap="square" rtlCol="0" anchor="t"/>
          <a:lstStyle/>
          <a:p>
            <a:pPr marL="0" indent="0">
              <a:lnSpc>
                <a:spcPct val="112000"/>
              </a:lnSpc>
              <a:buNone/>
            </a:pPr>
            <a:r>
              <a:rPr lang="en-US" sz="1250" i="1" dirty="0">
                <a:solidFill>
                  <a:srgbClr val="1F2430"/>
                </a:solidFill>
                <a:latin typeface="Georgia" pitchFamily="34" charset="0"/>
                <a:ea typeface="Georgia" pitchFamily="34" charset="-122"/>
                <a:cs typeface="Georgia" pitchFamily="34" charset="-120"/>
              </a:rPr>
              <a:t>"The motion picture has become the most democratic of all the arts. It speaks a universal language that all may understand. The immigrant from Europe, the farmer from Kansas, the society matron from New York—all sit side by side in the darkness of the theater, laughing at the same jokes, crying at the same sorrows, thrilling to the same adventures."</a:t>
            </a:r>
            <a:endParaRPr lang="en-US" sz="1250" dirty="0"/>
          </a:p>
        </p:txBody>
      </p:sp>
      <p:sp>
        <p:nvSpPr>
          <p:cNvPr id="16" name="Shape 13"/>
          <p:cNvSpPr/>
          <p:nvPr/>
        </p:nvSpPr>
        <p:spPr>
          <a:xfrm>
            <a:off x="7589520" y="1737360"/>
            <a:ext cx="4023360" cy="2011680"/>
          </a:xfrm>
          <a:prstGeom prst="roundRect">
            <a:avLst>
              <a:gd name="adj" fmla="val 3636"/>
            </a:avLst>
          </a:prstGeom>
          <a:solidFill>
            <a:srgbClr val="1A2332"/>
          </a:solidFill>
          <a:ln/>
        </p:spPr>
        <p:txBody>
          <a:bodyPr/>
          <a:lstStyle/>
          <a:p>
            <a:endParaRPr lang="en-US"/>
          </a:p>
        </p:txBody>
      </p:sp>
      <p:sp>
        <p:nvSpPr>
          <p:cNvPr id="17" name="Text 14"/>
          <p:cNvSpPr/>
          <p:nvPr/>
        </p:nvSpPr>
        <p:spPr>
          <a:xfrm>
            <a:off x="7818120" y="1856232"/>
            <a:ext cx="3657600" cy="274320"/>
          </a:xfrm>
          <a:prstGeom prst="rect">
            <a:avLst/>
          </a:prstGeom>
          <a:noFill/>
          <a:ln/>
        </p:spPr>
        <p:txBody>
          <a:bodyPr wrap="square" rtlCol="0" anchor="ctr"/>
          <a:lstStyle/>
          <a:p>
            <a:pPr marL="0" indent="0">
              <a:buNone/>
            </a:pPr>
            <a:r>
              <a:rPr lang="en-US" sz="1100" b="1" kern="0" spc="20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marL="0" indent="0">
              <a:lnSpc>
                <a:spcPct val="96000"/>
              </a:lnSpc>
              <a:buNone/>
            </a:pPr>
            <a:r>
              <a:rPr lang="en-US" sz="780" dirty="0">
                <a:solidFill>
                  <a:srgbClr val="FFFFFF"/>
                </a:solidFill>
                <a:latin typeface="Calibri" pitchFamily="34" charset="0"/>
                <a:ea typeface="Calibri" pitchFamily="34" charset="-122"/>
                <a:cs typeface="Calibri" pitchFamily="34" charset="-120"/>
              </a:rPr>
              <a:t>The motion picture industry was transformed in the 1920s into America's dominant popular entertainment. By mid-decade, over 50 million Americans attended movies every week — in a country of 110 million. Hollywood studios churned out hundreds of films annually, creating a star system that turned actors like Charlie Chaplin, Mary Pickford, Douglas Fairbanks, and Rudolph Valentino into the first modern celebrities. Movie magazines like Photoplay fed the public's insatiable appetite for gossip about stars' private lives. The introduction of sound ('talkies') in 1927 with 'The Jazz Singer' ended the silent era and made movies even more popular. Hollywood projected American culture around the world.</a:t>
            </a:r>
            <a:endParaRPr lang="en-US" sz="780" dirty="0"/>
          </a:p>
        </p:txBody>
      </p:sp>
      <p:sp>
        <p:nvSpPr>
          <p:cNvPr id="19" name="Shape 16"/>
          <p:cNvSpPr/>
          <p:nvPr/>
        </p:nvSpPr>
        <p:spPr>
          <a:xfrm>
            <a:off x="7589520" y="3931920"/>
            <a:ext cx="4023360" cy="1051560"/>
          </a:xfrm>
          <a:prstGeom prst="roundRect">
            <a:avLst>
              <a:gd name="adj" fmla="val 6957"/>
            </a:avLst>
          </a:prstGeom>
          <a:solidFill>
            <a:srgbClr val="C9A84C"/>
          </a:solidFill>
          <a:ln/>
        </p:spPr>
        <p:txBody>
          <a:bodyPr/>
          <a:lstStyle/>
          <a:p>
            <a:endParaRPr lang="en-US"/>
          </a:p>
        </p:txBody>
      </p:sp>
      <p:sp>
        <p:nvSpPr>
          <p:cNvPr id="20" name="Text 17"/>
          <p:cNvSpPr/>
          <p:nvPr/>
        </p:nvSpPr>
        <p:spPr>
          <a:xfrm>
            <a:off x="7818120" y="4050792"/>
            <a:ext cx="3657600" cy="274320"/>
          </a:xfrm>
          <a:prstGeom prst="rect">
            <a:avLst/>
          </a:prstGeom>
          <a:noFill/>
          <a:ln/>
        </p:spPr>
        <p:txBody>
          <a:bodyPr wrap="square" rtlCol="0" anchor="ctr"/>
          <a:lstStyle/>
          <a:p>
            <a:pPr marL="0" indent="0">
              <a:buNone/>
            </a:pPr>
            <a:r>
              <a:rPr lang="en-US" sz="1100" b="1" kern="0" spc="20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marL="0" indent="0">
              <a:lnSpc>
                <a:spcPct val="103000"/>
              </a:lnSpc>
              <a:buNone/>
            </a:pPr>
            <a:r>
              <a:rPr lang="en-US" sz="1250" b="1" dirty="0">
                <a:solidFill>
                  <a:srgbClr val="1A2332"/>
                </a:solidFill>
                <a:latin typeface="Calibri" pitchFamily="34" charset="0"/>
                <a:ea typeface="Calibri" pitchFamily="34" charset="-122"/>
                <a:cs typeface="Calibri" pitchFamily="34" charset="-120"/>
              </a:rPr>
              <a:t>How did movies contribute to American popular culture according to this article?</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lstStyle/>
          <a:p>
            <a:endParaRPr lang="en-US"/>
          </a:p>
        </p:txBody>
      </p:sp>
      <p:sp>
        <p:nvSpPr>
          <p:cNvPr id="23" name="Shape 20"/>
          <p:cNvSpPr/>
          <p:nvPr/>
        </p:nvSpPr>
        <p:spPr>
          <a:xfrm>
            <a:off x="548640" y="5120640"/>
            <a:ext cx="2423160" cy="841248"/>
          </a:xfrm>
          <a:prstGeom prst="rect">
            <a:avLst/>
          </a:prstGeom>
          <a:solidFill>
            <a:srgbClr val="002858"/>
          </a:solidFill>
          <a:ln/>
        </p:spPr>
        <p:txBody>
          <a:bodyPr/>
          <a:lstStyle/>
          <a:p>
            <a:endParaRPr lang="en-US"/>
          </a:p>
        </p:txBody>
      </p:sp>
      <p:sp>
        <p:nvSpPr>
          <p:cNvPr id="24" name="Text 21"/>
          <p:cNvSpPr/>
          <p:nvPr/>
        </p:nvSpPr>
        <p:spPr>
          <a:xfrm>
            <a:off x="658368" y="5239512"/>
            <a:ext cx="2194560" cy="274320"/>
          </a:xfrm>
          <a:prstGeom prst="rect">
            <a:avLst/>
          </a:prstGeom>
          <a:noFill/>
          <a:ln/>
        </p:spPr>
        <p:txBody>
          <a:bodyPr wrap="square"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marL="0" indent="0">
              <a:buNone/>
            </a:pPr>
            <a:r>
              <a:rPr lang="en-US" sz="1250" b="1" kern="0" spc="10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marL="0" indent="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Photoplay Magazine</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1925</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marL="0" indent="0" algn="l">
              <a:buNone/>
            </a:pPr>
            <a:r>
              <a:rPr lang="en-US" sz="900" dirty="0">
                <a:solidFill>
                  <a:srgbClr val="5C6470"/>
                </a:solidFill>
                <a:latin typeface="Calibri" pitchFamily="34" charset="0"/>
                <a:ea typeface="Calibri" pitchFamily="34" charset="-122"/>
                <a:cs typeface="Calibri" pitchFamily="34" charset="-120"/>
              </a:rPr>
              <a:t>Source: </a:t>
            </a:r>
            <a:r>
              <a:rPr lang="en-US" sz="900" i="1" u="sng" dirty="0">
                <a:solidFill>
                  <a:srgbClr val="00285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45920"/>
            <a:ext cx="5486400" cy="676656"/>
          </a:xfrm>
          <a:prstGeom prst="rect">
            <a:avLst/>
          </a:prstGeom>
          <a:solidFill>
            <a:srgbClr val="1A2332"/>
          </a:solidFill>
          <a:ln/>
        </p:spPr>
        <p:txBody>
          <a:bodyPr/>
          <a:lstStyle/>
          <a:p>
            <a:endParaRPr lang="en-US"/>
          </a:p>
        </p:txBody>
      </p:sp>
      <p:sp>
        <p:nvSpPr>
          <p:cNvPr id="7" name="Text 5"/>
          <p:cNvSpPr/>
          <p:nvPr/>
        </p:nvSpPr>
        <p:spPr>
          <a:xfrm>
            <a:off x="685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Radio Broadcasting</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Radiodifusión</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0" name="Text 8"/>
          <p:cNvSpPr/>
          <p:nvPr/>
        </p:nvSpPr>
        <p:spPr>
          <a:xfrm>
            <a:off x="576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RB</a:t>
            </a:r>
            <a:endParaRPr lang="en-US" sz="1300" dirty="0"/>
          </a:p>
        </p:txBody>
      </p:sp>
      <p:sp>
        <p:nvSpPr>
          <p:cNvPr id="11" name="Text 9"/>
          <p:cNvSpPr/>
          <p:nvPr/>
        </p:nvSpPr>
        <p:spPr>
          <a:xfrm>
            <a:off x="1225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transmission of audio content over radio waves that revolutionized communication in the 1920s, creating mass media, national advertising, and shared popular culture.</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13" name="Shape 11"/>
          <p:cNvSpPr/>
          <p:nvPr/>
        </p:nvSpPr>
        <p:spPr>
          <a:xfrm>
            <a:off x="6263640" y="1645920"/>
            <a:ext cx="5486400" cy="676656"/>
          </a:xfrm>
          <a:prstGeom prst="rect">
            <a:avLst/>
          </a:prstGeom>
          <a:solidFill>
            <a:srgbClr val="1A2332"/>
          </a:solidFill>
          <a:ln/>
        </p:spPr>
        <p:txBody>
          <a:bodyPr/>
          <a:lstStyle/>
          <a:p>
            <a:endParaRPr lang="en-US"/>
          </a:p>
        </p:txBody>
      </p:sp>
      <p:sp>
        <p:nvSpPr>
          <p:cNvPr id="14" name="Text 12"/>
          <p:cNvSpPr/>
          <p:nvPr/>
        </p:nvSpPr>
        <p:spPr>
          <a:xfrm>
            <a:off x="6400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Motion Pictures</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Imágenes en Movimiento</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7" name="Text 15"/>
          <p:cNvSpPr/>
          <p:nvPr/>
        </p:nvSpPr>
        <p:spPr>
          <a:xfrm>
            <a:off x="6291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MP</a:t>
            </a:r>
            <a:endParaRPr lang="en-US" sz="1300" dirty="0"/>
          </a:p>
        </p:txBody>
      </p:sp>
      <p:sp>
        <p:nvSpPr>
          <p:cNvPr id="18" name="Text 16"/>
          <p:cNvSpPr/>
          <p:nvPr/>
        </p:nvSpPr>
        <p:spPr>
          <a:xfrm>
            <a:off x="6940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Silent and "talkie" films that became America's most popular entertainment in the 1920s, creating celebrity culture and Hollywood as the film capital of the world.</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0" name="Shape 18"/>
          <p:cNvSpPr/>
          <p:nvPr/>
        </p:nvSpPr>
        <p:spPr>
          <a:xfrm>
            <a:off x="548640" y="3072384"/>
            <a:ext cx="5486400" cy="676656"/>
          </a:xfrm>
          <a:prstGeom prst="rect">
            <a:avLst/>
          </a:prstGeom>
          <a:solidFill>
            <a:srgbClr val="1A2332"/>
          </a:solidFill>
          <a:ln/>
        </p:spPr>
        <p:txBody>
          <a:bodyPr/>
          <a:lstStyle/>
          <a:p>
            <a:endParaRPr lang="en-US"/>
          </a:p>
        </p:txBody>
      </p:sp>
      <p:sp>
        <p:nvSpPr>
          <p:cNvPr id="21" name="Text 19"/>
          <p:cNvSpPr/>
          <p:nvPr/>
        </p:nvSpPr>
        <p:spPr>
          <a:xfrm>
            <a:off x="685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Commercial Aviation</a:t>
            </a:r>
            <a:endParaRPr lang="en-US" sz="1350" dirty="0"/>
          </a:p>
        </p:txBody>
      </p:sp>
      <p:sp>
        <p:nvSpPr>
          <p:cNvPr id="22" name="Text 20"/>
          <p:cNvSpPr/>
          <p:nvPr/>
        </p:nvSpPr>
        <p:spPr>
          <a:xfrm>
            <a:off x="3703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Aviación Comercial</a:t>
            </a:r>
            <a:endParaRPr lang="en-US" sz="1000" dirty="0"/>
          </a:p>
        </p:txBody>
      </p:sp>
      <p:sp>
        <p:nvSpPr>
          <p:cNvPr id="23" name="Shape 21"/>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24" name="Text 22"/>
          <p:cNvSpPr/>
          <p:nvPr/>
        </p:nvSpPr>
        <p:spPr>
          <a:xfrm>
            <a:off x="576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CA</a:t>
            </a:r>
            <a:endParaRPr lang="en-US" sz="1300" dirty="0"/>
          </a:p>
        </p:txBody>
      </p:sp>
      <p:sp>
        <p:nvSpPr>
          <p:cNvPr id="25" name="Text 23"/>
          <p:cNvSpPr/>
          <p:nvPr/>
        </p:nvSpPr>
        <p:spPr>
          <a:xfrm>
            <a:off x="1225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development of airplane technology and air travel in the 1920s, highlighted by Charles Lindbergh's 1927 solo transatlantic flight, which captured public imagination and demonstrated aviation's potential.</a:t>
            </a:r>
            <a:endParaRPr lang="en-US" sz="1100" dirty="0"/>
          </a:p>
        </p:txBody>
      </p:sp>
      <p:sp>
        <p:nvSpPr>
          <p:cNvPr id="26" name="Shape 24"/>
          <p:cNvSpPr/>
          <p:nvPr/>
        </p:nvSpPr>
        <p:spPr>
          <a:xfrm>
            <a:off x="6263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7" name="Shape 25"/>
          <p:cNvSpPr/>
          <p:nvPr/>
        </p:nvSpPr>
        <p:spPr>
          <a:xfrm>
            <a:off x="6263640" y="3072384"/>
            <a:ext cx="5486400" cy="676656"/>
          </a:xfrm>
          <a:prstGeom prst="rect">
            <a:avLst/>
          </a:prstGeom>
          <a:solidFill>
            <a:srgbClr val="1A2332"/>
          </a:solidFill>
          <a:ln/>
        </p:spPr>
        <p:txBody>
          <a:bodyPr/>
          <a:lstStyle/>
          <a:p>
            <a:endParaRPr lang="en-US"/>
          </a:p>
        </p:txBody>
      </p:sp>
      <p:sp>
        <p:nvSpPr>
          <p:cNvPr id="28" name="Text 26"/>
          <p:cNvSpPr/>
          <p:nvPr/>
        </p:nvSpPr>
        <p:spPr>
          <a:xfrm>
            <a:off x="6400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Consumerism</a:t>
            </a:r>
            <a:endParaRPr lang="en-US" sz="1350" dirty="0"/>
          </a:p>
        </p:txBody>
      </p:sp>
      <p:sp>
        <p:nvSpPr>
          <p:cNvPr id="29" name="Text 27"/>
          <p:cNvSpPr/>
          <p:nvPr/>
        </p:nvSpPr>
        <p:spPr>
          <a:xfrm>
            <a:off x="6400800" y="3438144"/>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kun-SOO-mer-iz-um</a:t>
            </a:r>
            <a:endParaRPr lang="en-US" sz="8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Consumismo</a:t>
            </a:r>
            <a:endParaRPr lang="en-US" sz="1000" dirty="0"/>
          </a:p>
        </p:txBody>
      </p:sp>
      <p:sp>
        <p:nvSpPr>
          <p:cNvPr id="31" name="Shape 29"/>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2" name="Text 30"/>
          <p:cNvSpPr/>
          <p:nvPr/>
        </p:nvSpPr>
        <p:spPr>
          <a:xfrm>
            <a:off x="6291072" y="3822192"/>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C</a:t>
            </a:r>
            <a:endParaRPr lang="en-US" sz="1500" dirty="0"/>
          </a:p>
        </p:txBody>
      </p:sp>
      <p:sp>
        <p:nvSpPr>
          <p:cNvPr id="33" name="Text 31"/>
          <p:cNvSpPr/>
          <p:nvPr/>
        </p:nvSpPr>
        <p:spPr>
          <a:xfrm>
            <a:off x="6940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culture of increased purchasing of consumer goods, driven in the 1920s by mass production, national advertising, and installment credit.</a:t>
            </a:r>
            <a:endParaRPr lang="en-US" sz="1100" dirty="0"/>
          </a:p>
        </p:txBody>
      </p:sp>
      <p:sp>
        <p:nvSpPr>
          <p:cNvPr id="34" name="Shape 32"/>
          <p:cNvSpPr/>
          <p:nvPr/>
        </p:nvSpPr>
        <p:spPr>
          <a:xfrm>
            <a:off x="548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35" name="Shape 33"/>
          <p:cNvSpPr/>
          <p:nvPr/>
        </p:nvSpPr>
        <p:spPr>
          <a:xfrm>
            <a:off x="548640" y="4498848"/>
            <a:ext cx="5486400" cy="676656"/>
          </a:xfrm>
          <a:prstGeom prst="rect">
            <a:avLst/>
          </a:prstGeom>
          <a:solidFill>
            <a:srgbClr val="1A2332"/>
          </a:solidFill>
          <a:ln/>
        </p:spPr>
        <p:txBody>
          <a:bodyPr/>
          <a:lstStyle/>
          <a:p>
            <a:endParaRPr lang="en-US"/>
          </a:p>
        </p:txBody>
      </p:sp>
      <p:sp>
        <p:nvSpPr>
          <p:cNvPr id="36" name="Text 34"/>
          <p:cNvSpPr/>
          <p:nvPr/>
        </p:nvSpPr>
        <p:spPr>
          <a:xfrm>
            <a:off x="685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Grand Ole Opry</a:t>
            </a:r>
            <a:endParaRPr lang="en-US" sz="1350" dirty="0"/>
          </a:p>
        </p:txBody>
      </p:sp>
      <p:sp>
        <p:nvSpPr>
          <p:cNvPr id="37" name="Text 35"/>
          <p:cNvSpPr/>
          <p:nvPr/>
        </p:nvSpPr>
        <p:spPr>
          <a:xfrm>
            <a:off x="685800" y="4864608"/>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grand ohl AH-pree</a:t>
            </a:r>
            <a:endParaRPr lang="en-US" sz="8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Grand Ole Opry</a:t>
            </a:r>
            <a:endParaRPr lang="en-US" sz="1000" dirty="0"/>
          </a:p>
        </p:txBody>
      </p:sp>
      <p:sp>
        <p:nvSpPr>
          <p:cNvPr id="39" name="Shape 37"/>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0" name="Text 38"/>
          <p:cNvSpPr/>
          <p:nvPr/>
        </p:nvSpPr>
        <p:spPr>
          <a:xfrm>
            <a:off x="576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GO</a:t>
            </a:r>
            <a:endParaRPr lang="en-US" sz="1300" dirty="0"/>
          </a:p>
        </p:txBody>
      </p:sp>
      <p:sp>
        <p:nvSpPr>
          <p:cNvPr id="41" name="Text 39"/>
          <p:cNvSpPr/>
          <p:nvPr/>
        </p:nvSpPr>
        <p:spPr>
          <a:xfrm>
            <a:off x="1225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weekly country music radio show that began in Nashville in 1925, becoming the longest-running radio broadcast in U.S. history and establishing Nashville as country music's capital.</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43" name="Shape 41"/>
          <p:cNvSpPr/>
          <p:nvPr/>
        </p:nvSpPr>
        <p:spPr>
          <a:xfrm>
            <a:off x="6263640" y="4498848"/>
            <a:ext cx="5486400" cy="676656"/>
          </a:xfrm>
          <a:prstGeom prst="rect">
            <a:avLst/>
          </a:prstGeom>
          <a:solidFill>
            <a:srgbClr val="1A2332"/>
          </a:solidFill>
          <a:ln/>
        </p:spPr>
        <p:txBody>
          <a:bodyPr/>
          <a:lstStyle/>
          <a:p>
            <a:endParaRPr lang="en-US"/>
          </a:p>
        </p:txBody>
      </p:sp>
      <p:sp>
        <p:nvSpPr>
          <p:cNvPr id="44" name="Text 42"/>
          <p:cNvSpPr/>
          <p:nvPr/>
        </p:nvSpPr>
        <p:spPr>
          <a:xfrm>
            <a:off x="6400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Electrification</a:t>
            </a:r>
            <a:endParaRPr lang="en-US" sz="1350" dirty="0"/>
          </a:p>
        </p:txBody>
      </p:sp>
      <p:sp>
        <p:nvSpPr>
          <p:cNvPr id="45" name="Text 43"/>
          <p:cNvSpPr/>
          <p:nvPr/>
        </p:nvSpPr>
        <p:spPr>
          <a:xfrm>
            <a:off x="6400800" y="4864608"/>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ee-lek-truh-fih-KAY-shun</a:t>
            </a:r>
            <a:endParaRPr lang="en-US" sz="8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Electrificación</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8" name="Text 46"/>
          <p:cNvSpPr/>
          <p:nvPr/>
        </p:nvSpPr>
        <p:spPr>
          <a:xfrm>
            <a:off x="6291072" y="5248656"/>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E</a:t>
            </a:r>
            <a:endParaRPr lang="en-US" sz="1500" dirty="0"/>
          </a:p>
        </p:txBody>
      </p:sp>
      <p:sp>
        <p:nvSpPr>
          <p:cNvPr id="49" name="Text 47"/>
          <p:cNvSpPr/>
          <p:nvPr/>
        </p:nvSpPr>
        <p:spPr>
          <a:xfrm>
            <a:off x="6940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spread of electrical power throughout America in the 1920s, transforming daily life with electric appliances, lighting, and machinery in homes and factories.</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marL="0" indent="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marL="0" indent="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lstStyle/>
          <a:p>
            <a:endParaRPr lang="en-US"/>
          </a:p>
        </p:txBody>
      </p:sp>
      <p:sp>
        <p:nvSpPr>
          <p:cNvPr id="6" name="Text 4"/>
          <p:cNvSpPr/>
          <p:nvPr/>
        </p:nvSpPr>
        <p:spPr>
          <a:xfrm>
            <a:off x="8869680" y="822960"/>
            <a:ext cx="274320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Analyze cause and effect</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640080"/>
          </a:xfrm>
          <a:prstGeom prst="rect">
            <a:avLst/>
          </a:prstGeom>
          <a:noFill/>
          <a:ln/>
        </p:spPr>
        <p:txBody>
          <a:bodyPr wrap="square" rtlCol="0" anchor="ctr"/>
          <a:lstStyle/>
          <a:p>
            <a:pPr marL="0" indent="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r>
              <a:rPr lang="en-US" sz="1500" dirty="0">
                <a:solidFill>
                  <a:srgbClr val="FFFFFF"/>
                </a:solidFill>
                <a:latin typeface="Calibri" pitchFamily="34" charset="0"/>
                <a:ea typeface="Calibri" pitchFamily="34" charset="-122"/>
                <a:cs typeface="Calibri" pitchFamily="34" charset="-120"/>
              </a:rPr>
              <a:t>How did radio and movies create a shared national culture?</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lstStyle/>
          <a:p>
            <a:endParaRPr lang="en-US"/>
          </a:p>
        </p:txBody>
      </p:sp>
      <p:sp>
        <p:nvSpPr>
          <p:cNvPr id="10" name="Text 8"/>
          <p:cNvSpPr/>
          <p:nvPr/>
        </p:nvSpPr>
        <p:spPr>
          <a:xfrm>
            <a:off x="822960" y="2724912"/>
            <a:ext cx="10058400" cy="292608"/>
          </a:xfrm>
          <a:prstGeom prst="rect">
            <a:avLst/>
          </a:prstGeom>
          <a:noFill/>
          <a:ln/>
        </p:spPr>
        <p:txBody>
          <a:bodyPr wrap="square" rtlCol="0" anchor="ctr"/>
          <a:lstStyle/>
          <a:p>
            <a:pPr marL="0" indent="0">
              <a:buNone/>
            </a:pPr>
            <a:r>
              <a:rPr lang="en-US" sz="1100" b="1" kern="0" spc="10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marL="0" indent="0">
              <a:lnSpc>
                <a:spcPct val="106000"/>
              </a:lnSpc>
              <a:buNone/>
            </a:pPr>
            <a:r>
              <a:rPr lang="en-US" sz="1450" b="1" dirty="0">
                <a:solidFill>
                  <a:srgbClr val="1A2332"/>
                </a:solidFill>
                <a:latin typeface="Calibri" pitchFamily="34" charset="0"/>
                <a:ea typeface="Calibri" pitchFamily="34" charset="-122"/>
                <a:cs typeface="Calibri" pitchFamily="34" charset="-120"/>
              </a:rPr>
              <a:t>Radio let millions hear the same broadcast, and films gave the whole country the same stars. That shared experience is what 'mass culture' means.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lstStyle/>
          <a:p>
            <a:endParaRPr lang="en-US"/>
          </a:p>
        </p:txBody>
      </p:sp>
      <p:sp>
        <p:nvSpPr>
          <p:cNvPr id="13" name="Text 11"/>
          <p:cNvSpPr/>
          <p:nvPr/>
        </p:nvSpPr>
        <p:spPr>
          <a:xfrm>
            <a:off x="822960" y="4407408"/>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marL="0" indent="0">
              <a:lnSpc>
                <a:spcPct val="106000"/>
              </a:lnSpc>
              <a:buNone/>
            </a:pPr>
            <a:r>
              <a:rPr lang="en-US" sz="1300" i="1" dirty="0">
                <a:solidFill>
                  <a:srgbClr val="1F2430"/>
                </a:solidFill>
                <a:latin typeface="Calibri" pitchFamily="34" charset="0"/>
                <a:ea typeface="Calibri" pitchFamily="34" charset="-122"/>
                <a:cs typeface="Calibri" pitchFamily="34" charset="-120"/>
              </a:rPr>
              <a:t>Underline every effect of radio or film in the section.</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marL="0" indent="0">
              <a:buNone/>
            </a:pPr>
            <a:r>
              <a:rPr lang="en-US" sz="1200" b="1" dirty="0">
                <a:solidFill>
                  <a:srgbClr val="1A2332"/>
                </a:solidFill>
                <a:latin typeface="Calibri" pitchFamily="34" charset="0"/>
                <a:ea typeface="Calibri" pitchFamily="34" charset="-122"/>
                <a:cs typeface="Calibri" pitchFamily="34" charset="-120"/>
              </a:rPr>
              <a:t>→ Now you try:  </a:t>
            </a:r>
            <a:r>
              <a:rPr lang="en-US" sz="1200" i="1" dirty="0">
                <a:solidFill>
                  <a:srgbClr val="002858"/>
                </a:solidFill>
                <a:latin typeface="Calibri" pitchFamily="34" charset="0"/>
                <a:ea typeface="Calibri" pitchFamily="34" charset="-122"/>
                <a:cs typeface="Calibri" pitchFamily="34" charset="-120"/>
              </a:rPr>
              <a:t>Explain to a partner one way mass culture changed daily life, using a detail from the text.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marL="0" indent="0">
              <a:buNone/>
            </a:pPr>
            <a:r>
              <a:rPr lang="en-US" sz="2400" b="1" dirty="0">
                <a:solidFill>
                  <a:srgbClr val="1A2332"/>
                </a:solidFill>
                <a:latin typeface="Georgia" pitchFamily="34" charset="0"/>
                <a:ea typeface="Georgia" pitchFamily="34" charset="-122"/>
                <a:cs typeface="Georgia" pitchFamily="34" charset="-120"/>
              </a:rPr>
              <a:t>One Nation, One Broadcast — Mass Media Effects</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txBody>
          <a:bodyPr/>
          <a:lstStyle/>
          <a:p>
            <a:endParaRPr lang="en-US"/>
          </a:p>
        </p:txBody>
      </p:sp>
      <p:sp>
        <p:nvSpPr>
          <p:cNvPr id="6" name="Text 4"/>
          <p:cNvSpPr/>
          <p:nvPr/>
        </p:nvSpPr>
        <p:spPr>
          <a:xfrm>
            <a:off x="548640" y="1591056"/>
            <a:ext cx="694944"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txBody>
          <a:bodyPr/>
          <a:lstStyle/>
          <a:p>
            <a:endParaRPr lang="en-US"/>
          </a:p>
        </p:txBody>
      </p:sp>
      <p:sp>
        <p:nvSpPr>
          <p:cNvPr id="8" name="Text 6"/>
          <p:cNvSpPr/>
          <p:nvPr/>
        </p:nvSpPr>
        <p:spPr>
          <a:xfrm>
            <a:off x="1408176" y="1591056"/>
            <a:ext cx="779069"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lstStyle/>
          <a:p>
            <a:endParaRPr lang="en-US"/>
          </a:p>
        </p:txBody>
      </p:sp>
      <p:sp>
        <p:nvSpPr>
          <p:cNvPr id="10" name="Text 8"/>
          <p:cNvSpPr/>
          <p:nvPr/>
        </p:nvSpPr>
        <p:spPr>
          <a:xfrm>
            <a:off x="822960" y="2194560"/>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marL="0" indent="0">
              <a:lnSpc>
                <a:spcPct val="112000"/>
              </a:lnSpc>
              <a:buNone/>
            </a:pPr>
            <a:r>
              <a:rPr lang="en-US" sz="1350" dirty="0">
                <a:solidFill>
                  <a:srgbClr val="1F2430"/>
                </a:solidFill>
                <a:latin typeface="Calibri" pitchFamily="34" charset="0"/>
                <a:ea typeface="Calibri" pitchFamily="34" charset="-122"/>
                <a:cs typeface="Calibri" pitchFamily="34" charset="-120"/>
              </a:rPr>
              <a:t>Using the radio and movie-palace images and your notes, complete a two-part organizer: (1) list three ways radio changed American life and (2) list three ways movies changed it. For each medium, mark one effect as 'unifying' the country and one as 'standardizing' culture. Finish with a one-sentence claim on whether mass media brought Americans together or erased local differences.</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lstStyle/>
          <a:p>
            <a:endParaRPr lang="en-US"/>
          </a:p>
        </p:txBody>
      </p:sp>
      <p:pic>
        <p:nvPicPr>
          <p:cNvPr id="13" name="Image 0" descr="unit4-full/img/spirit-of-st-louis-1927.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11002" y="2057400"/>
            <a:ext cx="1426116"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marL="0" indent="0" algn="l">
              <a:lnSpc>
                <a:spcPct val="100000"/>
              </a:lnSpc>
              <a:buNone/>
            </a:pPr>
            <a:r>
              <a:rPr lang="en-US" sz="750" i="1" dirty="0">
                <a:solidFill>
                  <a:srgbClr val="5C6470"/>
                </a:solidFill>
                <a:latin typeface="Calibri" pitchFamily="34" charset="0"/>
                <a:ea typeface="Calibri" pitchFamily="34" charset="-122"/>
                <a:cs typeface="Calibri" pitchFamily="34" charset="-120"/>
              </a:rPr>
              <a:t>Library of Congress, Prints and Photographs Division, 1927  </a:t>
            </a:r>
            <a:r>
              <a:rPr lang="en-US" sz="75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lstStyle/>
          <a:p>
            <a:endParaRPr lang="en-US"/>
          </a:p>
        </p:txBody>
      </p:sp>
      <p:sp>
        <p:nvSpPr>
          <p:cNvPr id="16" name="Text 13"/>
          <p:cNvSpPr/>
          <p:nvPr/>
        </p:nvSpPr>
        <p:spPr>
          <a:xfrm>
            <a:off x="777240" y="4645152"/>
            <a:ext cx="4572000" cy="274320"/>
          </a:xfrm>
          <a:prstGeom prst="rect">
            <a:avLst/>
          </a:prstGeom>
          <a:noFill/>
          <a:ln/>
        </p:spPr>
        <p:txBody>
          <a:bodyPr wrap="square" rtlCol="0" anchor="ctr"/>
          <a:lstStyle/>
          <a:p>
            <a:pPr marL="0" indent="0">
              <a:buNone/>
            </a:pPr>
            <a:r>
              <a:rPr lang="en-US" sz="1050" b="1" kern="0" spc="20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normAutofit/>
          </a:bodyPr>
          <a:lstStyle/>
          <a:p>
            <a:pPr marL="0" indent="0">
              <a:lnSpc>
                <a:spcPct val="103000"/>
              </a:lnSpc>
              <a:buNone/>
            </a:pPr>
            <a:r>
              <a:rPr lang="en-US" sz="1250" dirty="0">
                <a:solidFill>
                  <a:srgbClr val="FFFFFF"/>
                </a:solidFill>
                <a:latin typeface="Calibri" pitchFamily="34" charset="0"/>
                <a:ea typeface="Calibri" pitchFamily="34" charset="-122"/>
                <a:cs typeface="Calibri" pitchFamily="34" charset="-120"/>
              </a:rPr>
              <a:t>Completed two-part organizer (3 effects each for radio and film) AND a one-sentence evidence-based claim about mass media.</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lstStyle/>
          <a:p>
            <a:endParaRPr lang="en-US"/>
          </a:p>
        </p:txBody>
      </p:sp>
      <p:sp>
        <p:nvSpPr>
          <p:cNvPr id="19" name="Text 16"/>
          <p:cNvSpPr/>
          <p:nvPr/>
        </p:nvSpPr>
        <p:spPr>
          <a:xfrm>
            <a:off x="6400800" y="4645152"/>
            <a:ext cx="4572000" cy="274320"/>
          </a:xfrm>
          <a:prstGeom prst="rect">
            <a:avLst/>
          </a:prstGeom>
          <a:noFill/>
          <a:ln/>
        </p:spPr>
        <p:txBody>
          <a:bodyPr wrap="square" rtlCol="0" anchor="ctr"/>
          <a:lstStyle/>
          <a:p>
            <a:pPr marL="0" indent="0">
              <a:buNone/>
            </a:pPr>
            <a:r>
              <a:rPr lang="en-US" sz="1050" b="1" kern="0" spc="20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20" name="Text 17"/>
          <p:cNvSpPr/>
          <p:nvPr/>
        </p:nvSpPr>
        <p:spPr>
          <a:xfrm>
            <a:off x="6400800" y="4919472"/>
            <a:ext cx="5029200" cy="868680"/>
          </a:xfrm>
          <a:prstGeom prst="rect">
            <a:avLst/>
          </a:prstGeom>
          <a:noFill/>
          <a:ln/>
        </p:spPr>
        <p:txBody>
          <a:bodyPr wrap="square" rtlCol="0" anchor="t">
            <a:normAutofit/>
          </a:bodyPr>
          <a:lstStyle/>
          <a:p>
            <a:pPr marL="0" indent="0">
              <a:lnSpc>
                <a:spcPct val="103000"/>
              </a:lnSpc>
              <a:buNone/>
            </a:pPr>
            <a:r>
              <a:rPr lang="en-US" sz="1000" dirty="0">
                <a:solidFill>
                  <a:srgbClr val="1F2430"/>
                </a:solidFill>
                <a:latin typeface="Calibri" pitchFamily="34" charset="0"/>
                <a:ea typeface="Calibri" pitchFamily="34" charset="-122"/>
                <a:cs typeface="Calibri" pitchFamily="34" charset="-120"/>
              </a:rPr>
              <a:t>Entry: Organizer pre-labeled 'Radio' and 'Movies' with an effects word bank to sort. Honors: Write a paragraph comparing the cultural power of 1920s radio to a modern form of mass media, citing one example from each era.</a:t>
            </a:r>
            <a:endParaRPr lang="en-US" sz="1000" dirty="0"/>
          </a:p>
        </p:txBody>
      </p:sp>
      <p:sp>
        <p:nvSpPr>
          <p:cNvPr id="21" name="Text 18"/>
          <p:cNvSpPr/>
          <p:nvPr/>
        </p:nvSpPr>
        <p:spPr>
          <a:xfrm>
            <a:off x="548640" y="5943600"/>
            <a:ext cx="11064240" cy="320040"/>
          </a:xfrm>
          <a:prstGeom prst="rect">
            <a:avLst/>
          </a:prstGeom>
          <a:noFill/>
          <a:ln/>
        </p:spPr>
        <p:txBody>
          <a:bodyPr wrap="square" rtlCol="0" anchor="ctr"/>
          <a:lstStyle/>
          <a:p>
            <a:pPr marL="0" indent="0">
              <a:buNone/>
            </a:pPr>
            <a:r>
              <a:rPr lang="en-US" sz="1050" b="1" dirty="0">
                <a:solidFill>
                  <a:srgbClr val="1A2332"/>
                </a:solidFill>
                <a:latin typeface="Calibri" pitchFamily="34" charset="0"/>
                <a:ea typeface="Calibri" pitchFamily="34" charset="-122"/>
                <a:cs typeface="Calibri" pitchFamily="34" charset="-120"/>
              </a:rPr>
              <a:t>Companion printable:  </a:t>
            </a:r>
            <a:r>
              <a:rPr lang="en-US" sz="1050" i="1" dirty="0">
                <a:solidFill>
                  <a:srgbClr val="002858"/>
                </a:solidFill>
                <a:latin typeface="Calibri" pitchFamily="34" charset="0"/>
                <a:ea typeface="Calibri" pitchFamily="34" charset="-122"/>
                <a:cs typeface="Calibri" pitchFamily="34" charset="-120"/>
              </a:rPr>
              <a:t>cornell-notes/unit-4/us29-radio-movies-culture.pdf</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US.29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lstStyle/>
          <a:p>
            <a:endParaRPr lang="en-US"/>
          </a:p>
        </p:txBody>
      </p:sp>
      <p:sp>
        <p:nvSpPr>
          <p:cNvPr id="6" name="Text 4"/>
          <p:cNvSpPr/>
          <p:nvPr/>
        </p:nvSpPr>
        <p:spPr>
          <a:xfrm>
            <a:off x="7635240" y="822960"/>
            <a:ext cx="1143000" cy="457200"/>
          </a:xfrm>
          <a:prstGeom prst="rect">
            <a:avLst/>
          </a:prstGeom>
          <a:noFill/>
          <a:ln/>
        </p:spPr>
        <p:txBody>
          <a:bodyPr wrap="square" rtlCol="0" anchor="ctr"/>
          <a:lstStyle/>
          <a:p>
            <a:pPr marL="0" indent="0" algn="ctr">
              <a:buNone/>
            </a:pPr>
            <a:r>
              <a:rPr lang="en-US" sz="1200" b="1" dirty="0">
                <a:solidFill>
                  <a:srgbClr val="F9A825"/>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lstStyle/>
          <a:p>
            <a:endParaRPr lang="en-US"/>
          </a:p>
        </p:txBody>
      </p:sp>
      <p:sp>
        <p:nvSpPr>
          <p:cNvPr id="8" name="Text 6"/>
          <p:cNvSpPr/>
          <p:nvPr/>
        </p:nvSpPr>
        <p:spPr>
          <a:xfrm>
            <a:off x="8869680" y="822960"/>
            <a:ext cx="274320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lstStyle/>
          <a:p>
            <a:endParaRPr lang="en-US"/>
          </a:p>
        </p:txBody>
      </p:sp>
      <p:sp>
        <p:nvSpPr>
          <p:cNvPr id="10" name="Text 8"/>
          <p:cNvSpPr/>
          <p:nvPr/>
        </p:nvSpPr>
        <p:spPr>
          <a:xfrm>
            <a:off x="822960" y="1691640"/>
            <a:ext cx="10515600" cy="777240"/>
          </a:xfrm>
          <a:prstGeom prst="rect">
            <a:avLst/>
          </a:prstGeom>
          <a:noFill/>
          <a:ln/>
        </p:spPr>
        <p:txBody>
          <a:bodyPr wrap="square" rtlCol="0" anchor="ctr"/>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How did movies contribute to American popular culture according to this article?</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2" name="Shape 10"/>
          <p:cNvSpPr/>
          <p:nvPr/>
        </p:nvSpPr>
        <p:spPr>
          <a:xfrm>
            <a:off x="713232" y="2889504"/>
            <a:ext cx="365760" cy="365760"/>
          </a:xfrm>
          <a:prstGeom prst="ellipse">
            <a:avLst/>
          </a:prstGeom>
          <a:solidFill>
            <a:srgbClr val="1A2332"/>
          </a:solidFill>
          <a:ln/>
        </p:spPr>
        <p:txBody>
          <a:bodyPr/>
          <a:lstStyle/>
          <a:p>
            <a:endParaRPr lang="en-US"/>
          </a:p>
        </p:txBody>
      </p:sp>
      <p:sp>
        <p:nvSpPr>
          <p:cNvPr id="13" name="Text 11"/>
          <p:cNvSpPr/>
          <p:nvPr/>
        </p:nvSpPr>
        <p:spPr>
          <a:xfrm>
            <a:off x="713232" y="2889504"/>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They created separate entertainment for different social classes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6" name="Shape 14"/>
          <p:cNvSpPr/>
          <p:nvPr/>
        </p:nvSpPr>
        <p:spPr>
          <a:xfrm>
            <a:off x="713232" y="3639312"/>
            <a:ext cx="365760" cy="365760"/>
          </a:xfrm>
          <a:prstGeom prst="ellipse">
            <a:avLst/>
          </a:prstGeom>
          <a:solidFill>
            <a:srgbClr val="1A2332"/>
          </a:solidFill>
          <a:ln/>
        </p:spPr>
        <p:txBody>
          <a:bodyPr/>
          <a:lstStyle/>
          <a:p>
            <a:endParaRPr lang="en-US"/>
          </a:p>
        </p:txBody>
      </p:sp>
      <p:sp>
        <p:nvSpPr>
          <p:cNvPr id="17" name="Text 15"/>
          <p:cNvSpPr/>
          <p:nvPr/>
        </p:nvSpPr>
        <p:spPr>
          <a:xfrm>
            <a:off x="713232" y="3639312"/>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They united diverse Americans through shared emotional experiences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0" name="Shape 18"/>
          <p:cNvSpPr/>
          <p:nvPr/>
        </p:nvSpPr>
        <p:spPr>
          <a:xfrm>
            <a:off x="713232" y="4389120"/>
            <a:ext cx="365760" cy="365760"/>
          </a:xfrm>
          <a:prstGeom prst="ellipse">
            <a:avLst/>
          </a:prstGeom>
          <a:solidFill>
            <a:srgbClr val="1A2332"/>
          </a:solidFill>
          <a:ln/>
        </p:spPr>
        <p:txBody>
          <a:bodyPr/>
          <a:lstStyle/>
          <a:p>
            <a:endParaRPr lang="en-US"/>
          </a:p>
        </p:txBody>
      </p:sp>
      <p:sp>
        <p:nvSpPr>
          <p:cNvPr id="21" name="Text 19"/>
          <p:cNvSpPr/>
          <p:nvPr/>
        </p:nvSpPr>
        <p:spPr>
          <a:xfrm>
            <a:off x="713232" y="4389120"/>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They primarily served as educational tools for immigrants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4" name="Shape 22"/>
          <p:cNvSpPr/>
          <p:nvPr/>
        </p:nvSpPr>
        <p:spPr>
          <a:xfrm>
            <a:off x="713232" y="5138928"/>
            <a:ext cx="365760" cy="365760"/>
          </a:xfrm>
          <a:prstGeom prst="ellipse">
            <a:avLst/>
          </a:prstGeom>
          <a:solidFill>
            <a:srgbClr val="1A2332"/>
          </a:solidFill>
          <a:ln/>
        </p:spPr>
        <p:txBody>
          <a:bodyPr/>
          <a:lstStyle/>
          <a:p>
            <a:endParaRPr lang="en-US"/>
          </a:p>
        </p:txBody>
      </p:sp>
      <p:sp>
        <p:nvSpPr>
          <p:cNvPr id="25" name="Text 23"/>
          <p:cNvSpPr/>
          <p:nvPr/>
        </p:nvSpPr>
        <p:spPr>
          <a:xfrm>
            <a:off x="713232" y="5138928"/>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They replaced live theater as the only form of entertainment</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lstStyle/>
          <a:p>
            <a:endParaRPr lang="en-US"/>
          </a:p>
        </p:txBody>
      </p:sp>
      <p:sp>
        <p:nvSpPr>
          <p:cNvPr id="28" name="Text 26"/>
          <p:cNvSpPr/>
          <p:nvPr/>
        </p:nvSpPr>
        <p:spPr>
          <a:xfrm>
            <a:off x="822960" y="5715000"/>
            <a:ext cx="10515600" cy="502920"/>
          </a:xfrm>
          <a:prstGeom prst="rect">
            <a:avLst/>
          </a:prstGeom>
          <a:noFill/>
          <a:ln/>
        </p:spPr>
        <p:txBody>
          <a:bodyPr wrap="square" rtlCol="0" anchor="ctr"/>
          <a:lstStyle/>
          <a:p>
            <a:pPr marL="0" indent="0">
              <a:buNone/>
            </a:pPr>
            <a:r>
              <a:rPr lang="en-US" sz="1200" b="1" i="1" kern="0" spc="100" dirty="0">
                <a:solidFill>
                  <a:srgbClr val="F9A825"/>
                </a:solidFill>
                <a:latin typeface="Trebuchet MS" pitchFamily="34" charset="0"/>
                <a:ea typeface="Trebuchet MS" pitchFamily="34" charset="-122"/>
                <a:cs typeface="Trebuchet MS" pitchFamily="34" charset="-120"/>
              </a:rPr>
              <a:t>ANSWER FIRST:  </a:t>
            </a: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US.29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lstStyle/>
          <a:p>
            <a:endParaRPr lang="en-US"/>
          </a:p>
        </p:txBody>
      </p:sp>
      <p:sp>
        <p:nvSpPr>
          <p:cNvPr id="6" name="Text 4"/>
          <p:cNvSpPr/>
          <p:nvPr/>
        </p:nvSpPr>
        <p:spPr>
          <a:xfrm>
            <a:off x="8595360" y="822960"/>
            <a:ext cx="301752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731520"/>
          </a:xfrm>
          <a:prstGeom prst="rect">
            <a:avLst/>
          </a:prstGeom>
          <a:noFill/>
          <a:ln/>
        </p:spPr>
        <p:txBody>
          <a:bodyPr wrap="square" rtlCol="0" anchor="ctr"/>
          <a:lstStyle/>
          <a:p>
            <a:pPr marL="0" indent="0">
              <a:lnSpc>
                <a:spcPct val="102000"/>
              </a:lnSpc>
              <a:buNone/>
            </a:pPr>
            <a:r>
              <a:rPr lang="en-US" sz="1500" b="1" dirty="0">
                <a:solidFill>
                  <a:srgbClr val="FFFFFF"/>
                </a:solidFill>
                <a:latin typeface="Calibri" pitchFamily="34" charset="0"/>
                <a:ea typeface="Calibri" pitchFamily="34" charset="-122"/>
                <a:cs typeface="Calibri" pitchFamily="34" charset="-120"/>
              </a:rPr>
              <a:t>How did movies contribute to American popular culture according to this article?</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0" name="Shape 8"/>
          <p:cNvSpPr/>
          <p:nvPr/>
        </p:nvSpPr>
        <p:spPr>
          <a:xfrm>
            <a:off x="713232" y="2761488"/>
            <a:ext cx="347472" cy="347472"/>
          </a:xfrm>
          <a:prstGeom prst="ellipse">
            <a:avLst/>
          </a:prstGeom>
          <a:solidFill>
            <a:srgbClr val="1A2332"/>
          </a:solidFill>
          <a:ln/>
        </p:spPr>
        <p:txBody>
          <a:bodyPr/>
          <a:lstStyle/>
          <a:p>
            <a:endParaRPr lang="en-US"/>
          </a:p>
        </p:txBody>
      </p:sp>
      <p:sp>
        <p:nvSpPr>
          <p:cNvPr id="11" name="Text 9"/>
          <p:cNvSpPr/>
          <p:nvPr/>
        </p:nvSpPr>
        <p:spPr>
          <a:xfrm>
            <a:off x="713232" y="2761488"/>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They created separate entertainment for different social classes</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txBody>
          <a:bodyPr/>
          <a:lstStyle/>
          <a:p>
            <a:endParaRPr lang="en-US"/>
          </a:p>
        </p:txBody>
      </p:sp>
      <p:sp>
        <p:nvSpPr>
          <p:cNvPr id="14" name="Shape 12"/>
          <p:cNvSpPr/>
          <p:nvPr/>
        </p:nvSpPr>
        <p:spPr>
          <a:xfrm>
            <a:off x="713232" y="3419856"/>
            <a:ext cx="347472" cy="347472"/>
          </a:xfrm>
          <a:prstGeom prst="ellipse">
            <a:avLst/>
          </a:prstGeom>
          <a:solidFill>
            <a:srgbClr val="1A2332"/>
          </a:solidFill>
          <a:ln/>
        </p:spPr>
        <p:txBody>
          <a:bodyPr/>
          <a:lstStyle/>
          <a:p>
            <a:endParaRPr lang="en-US"/>
          </a:p>
        </p:txBody>
      </p:sp>
      <p:sp>
        <p:nvSpPr>
          <p:cNvPr id="15" name="Text 13"/>
          <p:cNvSpPr/>
          <p:nvPr/>
        </p:nvSpPr>
        <p:spPr>
          <a:xfrm>
            <a:off x="713232" y="3419856"/>
            <a:ext cx="347472" cy="347472"/>
          </a:xfrm>
          <a:prstGeom prst="rect">
            <a:avLst/>
          </a:prstGeom>
          <a:noFill/>
          <a:ln/>
        </p:spPr>
        <p:txBody>
          <a:bodyPr wrap="square" rtlCol="0" anchor="ctr"/>
          <a:lstStyle/>
          <a:p>
            <a:pPr marL="0" indent="0" algn="ctr">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marL="0" indent="0">
              <a:lnSpc>
                <a:spcPct val="100000"/>
              </a:lnSpc>
              <a:buNone/>
            </a:pPr>
            <a:r>
              <a:rPr lang="en-US" sz="1300" b="1" dirty="0">
                <a:solidFill>
                  <a:srgbClr val="1A2332"/>
                </a:solidFill>
                <a:latin typeface="Calibri" pitchFamily="34" charset="0"/>
                <a:ea typeface="Calibri" pitchFamily="34" charset="-122"/>
                <a:cs typeface="Calibri" pitchFamily="34" charset="-120"/>
              </a:rPr>
              <a:t>They united diverse Americans through shared emotional experiences</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marL="0" indent="0" algn="ctr">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9" name="Shape 17"/>
          <p:cNvSpPr/>
          <p:nvPr/>
        </p:nvSpPr>
        <p:spPr>
          <a:xfrm>
            <a:off x="713232" y="4078224"/>
            <a:ext cx="347472" cy="347472"/>
          </a:xfrm>
          <a:prstGeom prst="ellipse">
            <a:avLst/>
          </a:prstGeom>
          <a:solidFill>
            <a:srgbClr val="1A2332"/>
          </a:solidFill>
          <a:ln/>
        </p:spPr>
        <p:txBody>
          <a:bodyPr/>
          <a:lstStyle/>
          <a:p>
            <a:endParaRPr lang="en-US"/>
          </a:p>
        </p:txBody>
      </p:sp>
      <p:sp>
        <p:nvSpPr>
          <p:cNvPr id="20" name="Text 18"/>
          <p:cNvSpPr/>
          <p:nvPr/>
        </p:nvSpPr>
        <p:spPr>
          <a:xfrm>
            <a:off x="713232" y="4078224"/>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They primarily served as educational tools for immigrants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23" name="Shape 21"/>
          <p:cNvSpPr/>
          <p:nvPr/>
        </p:nvSpPr>
        <p:spPr>
          <a:xfrm>
            <a:off x="713232" y="4736592"/>
            <a:ext cx="347472" cy="347472"/>
          </a:xfrm>
          <a:prstGeom prst="ellipse">
            <a:avLst/>
          </a:prstGeom>
          <a:solidFill>
            <a:srgbClr val="1A2332"/>
          </a:solidFill>
          <a:ln/>
        </p:spPr>
        <p:txBody>
          <a:bodyPr/>
          <a:lstStyle/>
          <a:p>
            <a:endParaRPr lang="en-US"/>
          </a:p>
        </p:txBody>
      </p:sp>
      <p:sp>
        <p:nvSpPr>
          <p:cNvPr id="24" name="Text 22"/>
          <p:cNvSpPr/>
          <p:nvPr/>
        </p:nvSpPr>
        <p:spPr>
          <a:xfrm>
            <a:off x="713232" y="4736592"/>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They replaced live theater as the only form of entertainment</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lstStyle/>
          <a:p>
            <a:endParaRPr lang="en-US"/>
          </a:p>
        </p:txBody>
      </p:sp>
      <p:sp>
        <p:nvSpPr>
          <p:cNvPr id="27" name="Text 25"/>
          <p:cNvSpPr/>
          <p:nvPr/>
        </p:nvSpPr>
        <p:spPr>
          <a:xfrm>
            <a:off x="822960" y="5532120"/>
            <a:ext cx="10515600" cy="713232"/>
          </a:xfrm>
          <a:prstGeom prst="rect">
            <a:avLst/>
          </a:prstGeom>
          <a:noFill/>
          <a:ln/>
        </p:spPr>
        <p:txBody>
          <a:bodyPr wrap="square" rtlCol="0" anchor="ctr"/>
          <a:lstStyle/>
          <a:p>
            <a:pPr marL="0" indent="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Why: </a:t>
            </a:r>
            <a:r>
              <a:rPr lang="en-US" sz="1150" dirty="0">
                <a:solidFill>
                  <a:srgbClr val="C7D4E0"/>
                </a:solidFill>
                <a:latin typeface="Calibri" pitchFamily="34" charset="0"/>
                <a:ea typeface="Calibri" pitchFamily="34" charset="-122"/>
                <a:cs typeface="Calibri" pitchFamily="34" charset="-120"/>
              </a:rPr>
              <a:t>The article describes immigrants, farmers, and society members "sit side by side... laughing at the same jokes, crying at the same sorrows"—creating shared culture.</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US.29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marL="0" indent="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lstStyle/>
          <a:p>
            <a:endParaRPr lang="en-US"/>
          </a:p>
        </p:txBody>
      </p:sp>
      <p:sp>
        <p:nvSpPr>
          <p:cNvPr id="6" name="Text 4"/>
          <p:cNvSpPr/>
          <p:nvPr/>
        </p:nvSpPr>
        <p:spPr>
          <a:xfrm>
            <a:off x="868680" y="1847088"/>
            <a:ext cx="5486400" cy="320040"/>
          </a:xfrm>
          <a:prstGeom prst="rect">
            <a:avLst/>
          </a:prstGeom>
          <a:noFill/>
          <a:ln/>
        </p:spPr>
        <p:txBody>
          <a:bodyPr wrap="square" rtlCol="0" anchor="ctr"/>
          <a:lstStyle/>
          <a:p>
            <a:pPr marL="0" indent="0">
              <a:buNone/>
            </a:pPr>
            <a:r>
              <a:rPr lang="en-US" sz="1200" b="1" kern="0" spc="20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Radio's Impact on Popular Culture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Film Industry Growth</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Charlie Chaplin (1889-1977)</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Charles Lindbergh (1902-1974)</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Babe Ruth (1895-1948)</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lstStyle/>
          <a:p>
            <a:endParaRPr lang="en-US"/>
          </a:p>
        </p:txBody>
      </p:sp>
      <p:sp>
        <p:nvSpPr>
          <p:cNvPr id="9" name="Text 7"/>
          <p:cNvSpPr/>
          <p:nvPr/>
        </p:nvSpPr>
        <p:spPr>
          <a:xfrm>
            <a:off x="822960" y="4901184"/>
            <a:ext cx="6492240" cy="274320"/>
          </a:xfrm>
          <a:prstGeom prst="rect">
            <a:avLst/>
          </a:prstGeom>
          <a:noFill/>
          <a:ln/>
        </p:spPr>
        <p:txBody>
          <a:bodyPr wrap="square" rtlCol="0" anchor="ctr"/>
          <a:lstStyle/>
          <a:p>
            <a:pPr marL="0" indent="0">
              <a:buNone/>
            </a:pPr>
            <a:r>
              <a:rPr lang="en-US" sz="1100" b="1" kern="0" spc="100" dirty="0">
                <a:solidFill>
                  <a:srgbClr val="7A5C12"/>
                </a:solidFill>
                <a:latin typeface="Trebuchet MS" pitchFamily="34" charset="0"/>
                <a:ea typeface="Trebuchet MS" pitchFamily="34" charset="-122"/>
                <a:cs typeface="Trebuchet MS" pitchFamily="34" charset="-120"/>
              </a:rPr>
              <a:t>★ HONORS / EXTENSION  </a:t>
            </a: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marL="0" indent="0">
              <a:lnSpc>
                <a:spcPct val="98000"/>
              </a:lnSpc>
              <a:buNone/>
            </a:pPr>
            <a:r>
              <a:rPr lang="en-US" sz="1050" i="1" dirty="0">
                <a:solidFill>
                  <a:srgbClr val="1F2430"/>
                </a:solidFill>
                <a:latin typeface="Calibri" pitchFamily="34" charset="0"/>
                <a:ea typeface="Calibri" pitchFamily="34" charset="-122"/>
                <a:cs typeface="Calibri" pitchFamily="34" charset="-120"/>
              </a:rPr>
              <a:t>Evaluate: Did the new mass media of the 1920s unite Americans or erase important local and regional differences? Argue your position with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lstStyle/>
          <a:p>
            <a:endParaRPr lang="en-US"/>
          </a:p>
        </p:txBody>
      </p:sp>
      <p:sp>
        <p:nvSpPr>
          <p:cNvPr id="12" name="Text 10"/>
          <p:cNvSpPr/>
          <p:nvPr/>
        </p:nvSpPr>
        <p:spPr>
          <a:xfrm>
            <a:off x="8092440" y="1920240"/>
            <a:ext cx="2286000" cy="320040"/>
          </a:xfrm>
          <a:prstGeom prst="rect">
            <a:avLst/>
          </a:prstGeom>
          <a:noFill/>
          <a:ln/>
        </p:spPr>
        <p:txBody>
          <a:bodyPr wrap="square" rtlCol="0" anchor="ctr"/>
          <a:lstStyle/>
          <a:p>
            <a:pPr marL="0" indent="0">
              <a:buNone/>
            </a:pPr>
            <a:r>
              <a:rPr lang="en-US" sz="1200" b="1" kern="0" spc="20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lstStyle/>
          <a:p>
            <a:endParaRPr lang="en-US"/>
          </a:p>
        </p:txBody>
      </p:sp>
      <p:sp>
        <p:nvSpPr>
          <p:cNvPr id="14" name="Text 12"/>
          <p:cNvSpPr/>
          <p:nvPr/>
        </p:nvSpPr>
        <p:spPr>
          <a:xfrm>
            <a:off x="10378440" y="1883664"/>
            <a:ext cx="960120" cy="365760"/>
          </a:xfrm>
          <a:prstGeom prst="rect">
            <a:avLst/>
          </a:prstGeom>
          <a:noFill/>
          <a:ln/>
        </p:spPr>
        <p:txBody>
          <a:bodyPr wrap="square" rtlCol="0" anchor="ctr"/>
          <a:lstStyle/>
          <a:p>
            <a:pPr marL="0" indent="0" algn="ctr">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Explain how radio and movies created a shared national culture in the 1920s. Give one specific effect of each.</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lstStyle/>
          <a:p>
            <a:endParaRPr lang="en-US"/>
          </a:p>
        </p:txBody>
      </p:sp>
      <p:sp>
        <p:nvSpPr>
          <p:cNvPr id="17" name="Shape 15"/>
          <p:cNvSpPr/>
          <p:nvPr/>
        </p:nvSpPr>
        <p:spPr>
          <a:xfrm>
            <a:off x="8138160" y="5074920"/>
            <a:ext cx="3108960" cy="0"/>
          </a:xfrm>
          <a:prstGeom prst="line">
            <a:avLst/>
          </a:prstGeom>
          <a:noFill/>
          <a:ln w="12700">
            <a:solidFill>
              <a:srgbClr val="A7BACB"/>
            </a:solidFill>
            <a:prstDash val="dash"/>
          </a:ln>
        </p:spPr>
        <p:txBody>
          <a:bodyPr/>
          <a:lstStyle/>
          <a:p>
            <a:endParaRPr lang="en-US"/>
          </a:p>
        </p:txBody>
      </p:sp>
      <p:sp>
        <p:nvSpPr>
          <p:cNvPr id="18" name="Shape 16"/>
          <p:cNvSpPr/>
          <p:nvPr/>
        </p:nvSpPr>
        <p:spPr>
          <a:xfrm>
            <a:off x="8138160" y="5623560"/>
            <a:ext cx="3108960" cy="0"/>
          </a:xfrm>
          <a:prstGeom prst="line">
            <a:avLst/>
          </a:prstGeom>
          <a:noFill/>
          <a:ln w="12700">
            <a:solidFill>
              <a:srgbClr val="A7BACB"/>
            </a:solidFill>
            <a:prstDash val="dash"/>
          </a:ln>
        </p:spPr>
        <p:txBody>
          <a:bodyPr/>
          <a:lstStyle/>
          <a:p>
            <a:endParaRPr lang="en-US"/>
          </a:p>
        </p:txBody>
      </p:sp>
      <p:sp>
        <p:nvSpPr>
          <p:cNvPr id="20" name="Text 1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lstStyle/>
          <a:p>
            <a:endParaRPr lang="en-US"/>
          </a:p>
        </p:txBody>
      </p:sp>
      <p:sp>
        <p:nvSpPr>
          <p:cNvPr id="3" name="Shape 1"/>
          <p:cNvSpPr/>
          <p:nvPr/>
        </p:nvSpPr>
        <p:spPr>
          <a:xfrm>
            <a:off x="320040" y="0"/>
            <a:ext cx="109728" cy="6858000"/>
          </a:xfrm>
          <a:prstGeom prst="rect">
            <a:avLst/>
          </a:prstGeom>
          <a:solidFill>
            <a:srgbClr val="C9A84C"/>
          </a:solidFill>
          <a:ln/>
        </p:spPr>
        <p:txBody>
          <a:bodyPr/>
          <a:lstStyle/>
          <a:p>
            <a:endParaRPr lang="en-US"/>
          </a:p>
        </p:txBody>
      </p:sp>
      <p:sp>
        <p:nvSpPr>
          <p:cNvPr id="4" name="Text 2"/>
          <p:cNvSpPr/>
          <p:nvPr/>
        </p:nvSpPr>
        <p:spPr>
          <a:xfrm>
            <a:off x="914400" y="1005840"/>
            <a:ext cx="5486400" cy="365760"/>
          </a:xfrm>
          <a:prstGeom prst="rect">
            <a:avLst/>
          </a:prstGeom>
          <a:noFill/>
          <a:ln/>
        </p:spPr>
        <p:txBody>
          <a:bodyPr wrap="square" rtlCol="0" anchor="ctr"/>
          <a:lstStyle/>
          <a:p>
            <a:pPr marL="0" indent="0">
              <a:buNone/>
            </a:pPr>
            <a:r>
              <a:rPr lang="en-US" sz="1500" b="1" kern="0" spc="40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marL="0" indent="0">
              <a:buNone/>
            </a:pPr>
            <a:r>
              <a:rPr lang="en-US" sz="8800" b="1" dirty="0">
                <a:solidFill>
                  <a:srgbClr val="FFFFFF"/>
                </a:solidFill>
                <a:latin typeface="Georgia" pitchFamily="34" charset="0"/>
                <a:ea typeface="Georgia" pitchFamily="34" charset="-122"/>
                <a:cs typeface="Georgia" pitchFamily="34" charset="-120"/>
              </a:rPr>
              <a:t>US.30</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marL="0" indent="0">
              <a:lnSpc>
                <a:spcPct val="102000"/>
              </a:lnSpc>
              <a:buNone/>
            </a:pPr>
            <a:r>
              <a:rPr lang="en-US" sz="2400" i="1" dirty="0">
                <a:solidFill>
                  <a:srgbClr val="F9A825"/>
                </a:solidFill>
                <a:latin typeface="Georgia" pitchFamily="34" charset="0"/>
                <a:ea typeface="Georgia" pitchFamily="34" charset="-122"/>
                <a:cs typeface="Georgia" pitchFamily="34" charset="-120"/>
              </a:rPr>
              <a:t>Grand Ole Opry, Blues &amp; Country Music</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marL="0" indent="0" algn="l">
              <a:buNone/>
            </a:pPr>
            <a:r>
              <a:rPr lang="en-US" sz="1100" b="1" kern="0" spc="20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lstStyle/>
          <a:p>
            <a:endParaRPr lang="en-US"/>
          </a:p>
        </p:txBody>
      </p:sp>
      <p:sp>
        <p:nvSpPr>
          <p:cNvPr id="9" name="Text 7"/>
          <p:cNvSpPr/>
          <p:nvPr/>
        </p:nvSpPr>
        <p:spPr>
          <a:xfrm>
            <a:off x="6812280" y="1417320"/>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lstStyle/>
          <a:p>
            <a:endParaRPr lang="en-US"/>
          </a:p>
        </p:txBody>
      </p:sp>
      <p:sp>
        <p:nvSpPr>
          <p:cNvPr id="12" name="Text 10"/>
          <p:cNvSpPr/>
          <p:nvPr/>
        </p:nvSpPr>
        <p:spPr>
          <a:xfrm>
            <a:off x="6812280" y="1755648"/>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lstStyle/>
          <a:p>
            <a:endParaRPr lang="en-US"/>
          </a:p>
        </p:txBody>
      </p:sp>
      <p:sp>
        <p:nvSpPr>
          <p:cNvPr id="15" name="Text 13"/>
          <p:cNvSpPr/>
          <p:nvPr/>
        </p:nvSpPr>
        <p:spPr>
          <a:xfrm>
            <a:off x="6812280" y="2093976"/>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lstStyle/>
          <a:p>
            <a:endParaRPr lang="en-US"/>
          </a:p>
        </p:txBody>
      </p:sp>
      <p:sp>
        <p:nvSpPr>
          <p:cNvPr id="18" name="Text 16"/>
          <p:cNvSpPr/>
          <p:nvPr/>
        </p:nvSpPr>
        <p:spPr>
          <a:xfrm>
            <a:off x="1143000" y="3913632"/>
            <a:ext cx="5486400" cy="274320"/>
          </a:xfrm>
          <a:prstGeom prst="rect">
            <a:avLst/>
          </a:prstGeom>
          <a:noFill/>
          <a:ln/>
        </p:spPr>
        <p:txBody>
          <a:bodyPr wrap="square" rtlCol="0" anchor="ctr"/>
          <a:lstStyle/>
          <a:p>
            <a:pPr marL="0" indent="0">
              <a:buNone/>
            </a:pPr>
            <a:r>
              <a:rPr lang="en-US" sz="1100" b="1" kern="0" spc="20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Examine how the use of the radio helped grow the popularity of country and blues music, including the rise of the Grand Ole Opry, W.C. Handy, and Bessie Smith. (TCA)</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lstStyle/>
          <a:p>
            <a:endParaRPr lang="en-US"/>
          </a:p>
        </p:txBody>
      </p:sp>
      <p:sp>
        <p:nvSpPr>
          <p:cNvPr id="21" name="Text 19"/>
          <p:cNvSpPr/>
          <p:nvPr/>
        </p:nvSpPr>
        <p:spPr>
          <a:xfrm>
            <a:off x="1143000" y="5230368"/>
            <a:ext cx="1828800" cy="292608"/>
          </a:xfrm>
          <a:prstGeom prst="rect">
            <a:avLst/>
          </a:prstGeom>
          <a:noFill/>
          <a:ln/>
        </p:spPr>
        <p:txBody>
          <a:bodyPr wrap="square" rtlCol="0" anchor="ctr"/>
          <a:lstStyle/>
          <a:p>
            <a:pPr marL="0" indent="0">
              <a:buNone/>
            </a:pPr>
            <a:r>
              <a:rPr lang="en-US" sz="1300" b="1" kern="0" spc="20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marL="0" indent="0">
              <a:lnSpc>
                <a:spcPct val="100000"/>
              </a:lnSpc>
              <a:buNone/>
            </a:pPr>
            <a:r>
              <a:rPr lang="en-US" sz="1250" b="1" dirty="0">
                <a:solidFill>
                  <a:srgbClr val="1A2332"/>
                </a:solidFill>
                <a:latin typeface="Calibri" pitchFamily="34" charset="0"/>
                <a:ea typeface="Calibri" pitchFamily="34" charset="-122"/>
                <a:cs typeface="Calibri" pitchFamily="34" charset="-120"/>
              </a:rPr>
              <a:t>I can examine how the use of the radio helped grow the popularity of country and blues music, including the rise of the Grand Ole Opry, W.C. Handy, and Bessie Smith.</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lstStyle/>
          <a:p>
            <a:endParaRPr lang="en-US"/>
          </a:p>
        </p:txBody>
      </p:sp>
      <p:sp>
        <p:nvSpPr>
          <p:cNvPr id="7" name="Shape 5"/>
          <p:cNvSpPr/>
          <p:nvPr/>
        </p:nvSpPr>
        <p:spPr>
          <a:xfrm>
            <a:off x="548640" y="2057400"/>
            <a:ext cx="777240" cy="1234440"/>
          </a:xfrm>
          <a:prstGeom prst="rect">
            <a:avLst/>
          </a:prstGeom>
          <a:solidFill>
            <a:srgbClr val="1A2332"/>
          </a:solidFill>
          <a:ln/>
        </p:spPr>
        <p:txBody>
          <a:bodyPr/>
          <a:lstStyle/>
          <a:p>
            <a:endParaRPr lang="en-US"/>
          </a:p>
        </p:txBody>
      </p:sp>
      <p:sp>
        <p:nvSpPr>
          <p:cNvPr id="8" name="Text 6"/>
          <p:cNvSpPr/>
          <p:nvPr/>
        </p:nvSpPr>
        <p:spPr>
          <a:xfrm>
            <a:off x="548640" y="2057400"/>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US.29  </a:t>
            </a:r>
            <a:r>
              <a:rPr lang="en-US" sz="1350" dirty="0">
                <a:solidFill>
                  <a:srgbClr val="1F2430"/>
                </a:solidFill>
                <a:latin typeface="Calibri" pitchFamily="34" charset="0"/>
                <a:ea typeface="Calibri" pitchFamily="34" charset="-122"/>
                <a:cs typeface="Calibri" pitchFamily="34" charset="-120"/>
              </a:rPr>
              <a:t>How did radio change American life in the 1920s?</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lstStyle/>
          <a:p>
            <a:endParaRPr lang="en-US"/>
          </a:p>
        </p:txBody>
      </p:sp>
      <p:sp>
        <p:nvSpPr>
          <p:cNvPr id="11" name="Shape 9"/>
          <p:cNvSpPr/>
          <p:nvPr/>
        </p:nvSpPr>
        <p:spPr>
          <a:xfrm>
            <a:off x="548640" y="3456432"/>
            <a:ext cx="777240" cy="1234440"/>
          </a:xfrm>
          <a:prstGeom prst="rect">
            <a:avLst/>
          </a:prstGeom>
          <a:solidFill>
            <a:srgbClr val="1A2332"/>
          </a:solidFill>
          <a:ln/>
        </p:spPr>
        <p:txBody>
          <a:bodyPr/>
          <a:lstStyle/>
          <a:p>
            <a:endParaRPr lang="en-US"/>
          </a:p>
        </p:txBody>
      </p:sp>
      <p:sp>
        <p:nvSpPr>
          <p:cNvPr id="12" name="Text 10"/>
          <p:cNvSpPr/>
          <p:nvPr/>
        </p:nvSpPr>
        <p:spPr>
          <a:xfrm>
            <a:off x="548640" y="3456432"/>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US.29  </a:t>
            </a:r>
            <a:r>
              <a:rPr lang="en-US" sz="1350" dirty="0">
                <a:solidFill>
                  <a:srgbClr val="1F2430"/>
                </a:solidFill>
                <a:latin typeface="Calibri" pitchFamily="34" charset="0"/>
                <a:ea typeface="Calibri" pitchFamily="34" charset="-122"/>
                <a:cs typeface="Calibri" pitchFamily="34" charset="-120"/>
              </a:rPr>
              <a:t>Why did Charles Lindbergh become such a national hero?</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lstStyle/>
          <a:p>
            <a:endParaRPr lang="en-US"/>
          </a:p>
        </p:txBody>
      </p:sp>
      <p:sp>
        <p:nvSpPr>
          <p:cNvPr id="6" name="Text 4"/>
          <p:cNvSpPr/>
          <p:nvPr/>
        </p:nvSpPr>
        <p:spPr>
          <a:xfrm>
            <a:off x="8686800" y="786384"/>
            <a:ext cx="1143000" cy="457200"/>
          </a:xfrm>
          <a:prstGeom prst="rect">
            <a:avLst/>
          </a:prstGeom>
          <a:noFill/>
          <a:ln/>
        </p:spPr>
        <p:txBody>
          <a:bodyPr wrap="square" rtlCol="0" anchor="ctr"/>
          <a:lstStyle/>
          <a:p>
            <a:pPr marL="0" indent="0" algn="ctr">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lstStyle/>
          <a:p>
            <a:endParaRPr lang="en-US"/>
          </a:p>
        </p:txBody>
      </p:sp>
      <p:sp>
        <p:nvSpPr>
          <p:cNvPr id="8" name="Text 6"/>
          <p:cNvSpPr/>
          <p:nvPr/>
        </p:nvSpPr>
        <p:spPr>
          <a:xfrm>
            <a:off x="9966960" y="786384"/>
            <a:ext cx="164592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lstStyle/>
          <a:p>
            <a:endParaRPr lang="en-US"/>
          </a:p>
        </p:txBody>
      </p:sp>
      <p:sp>
        <p:nvSpPr>
          <p:cNvPr id="11" name="Text 9"/>
          <p:cNvSpPr/>
          <p:nvPr/>
        </p:nvSpPr>
        <p:spPr>
          <a:xfrm>
            <a:off x="1005840" y="2194560"/>
            <a:ext cx="10149840" cy="1417320"/>
          </a:xfrm>
          <a:prstGeom prst="rect">
            <a:avLst/>
          </a:prstGeom>
          <a:noFill/>
          <a:ln/>
        </p:spPr>
        <p:txBody>
          <a:bodyPr wrap="square" rtlCol="0" anchor="ctr"/>
          <a:lstStyle/>
          <a:p>
            <a:pPr marL="0" indent="0" algn="ctr">
              <a:lnSpc>
                <a:spcPct val="108000"/>
              </a:lnSpc>
              <a:buNone/>
            </a:pPr>
            <a:r>
              <a:rPr lang="en-US" sz="2400" b="1" dirty="0">
                <a:solidFill>
                  <a:srgbClr val="FFFFFF"/>
                </a:solidFill>
                <a:latin typeface="Georgia" pitchFamily="34" charset="0"/>
                <a:ea typeface="Georgia" pitchFamily="34" charset="-122"/>
                <a:cs typeface="Georgia" pitchFamily="34" charset="-120"/>
              </a:rPr>
              <a:t>What Nashville radio program helped launch the country music industry?</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lstStyle/>
          <a:p>
            <a:endParaRPr lang="en-US"/>
          </a:p>
        </p:txBody>
      </p:sp>
      <p:sp>
        <p:nvSpPr>
          <p:cNvPr id="13" name="Text 11"/>
          <p:cNvSpPr/>
          <p:nvPr/>
        </p:nvSpPr>
        <p:spPr>
          <a:xfrm>
            <a:off x="914400" y="4224528"/>
            <a:ext cx="2743200" cy="320040"/>
          </a:xfrm>
          <a:prstGeom prst="rect">
            <a:avLst/>
          </a:prstGeom>
          <a:noFill/>
          <a:ln/>
        </p:spPr>
        <p:txBody>
          <a:bodyPr wrap="square" rtlCol="0" anchor="ctr"/>
          <a:lstStyle/>
          <a:p>
            <a:pPr marL="0" indent="0">
              <a:buNone/>
            </a:pPr>
            <a:r>
              <a:rPr lang="en-US" sz="1200" b="1" kern="0" spc="20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marL="0" indent="0">
              <a:lnSpc>
                <a:spcPct val="108000"/>
              </a:lnSpc>
              <a:buNone/>
            </a:pPr>
            <a:r>
              <a:rPr lang="en-US" sz="1600" dirty="0">
                <a:solidFill>
                  <a:srgbClr val="1F2430"/>
                </a:solidFill>
                <a:latin typeface="Calibri" pitchFamily="34" charset="0"/>
                <a:ea typeface="Calibri" pitchFamily="34" charset="-122"/>
                <a:cs typeface="Calibri" pitchFamily="34" charset="-120"/>
              </a:rPr>
              <a:t>The Grand Ole Opry, first broadcast in 1925.</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lstStyle/>
          <a:p>
            <a:endParaRPr lang="en-US"/>
          </a:p>
        </p:txBody>
      </p:sp>
      <p:sp>
        <p:nvSpPr>
          <p:cNvPr id="16" name="Text 14"/>
          <p:cNvSpPr/>
          <p:nvPr/>
        </p:nvSpPr>
        <p:spPr>
          <a:xfrm>
            <a:off x="822960" y="5623560"/>
            <a:ext cx="10515600" cy="457200"/>
          </a:xfrm>
          <a:prstGeom prst="rect">
            <a:avLst/>
          </a:prstGeom>
          <a:noFill/>
          <a:ln/>
        </p:spPr>
        <p:txBody>
          <a:bodyPr wrap="square" rtlCol="0" anchor="ctr"/>
          <a:lstStyle/>
          <a:p>
            <a:pPr marL="0" indent="0">
              <a:buNone/>
            </a:pPr>
            <a:r>
              <a:rPr lang="en-US" sz="1150" b="1" i="1" kern="0" spc="100" dirty="0">
                <a:solidFill>
                  <a:srgbClr val="C62828"/>
                </a:solidFill>
                <a:latin typeface="Trebuchet MS" pitchFamily="34" charset="0"/>
                <a:ea typeface="Trebuchet MS" pitchFamily="34" charset="-122"/>
                <a:cs typeface="Trebuchet MS" pitchFamily="34" charset="-120"/>
              </a:rPr>
              <a:t>COMMIT FIRST:  </a:t>
            </a: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lstStyle/>
          <a:p>
            <a:endParaRPr lang="en-US"/>
          </a:p>
        </p:txBody>
      </p:sp>
      <p:sp>
        <p:nvSpPr>
          <p:cNvPr id="6" name="Text 4"/>
          <p:cNvSpPr/>
          <p:nvPr/>
        </p:nvSpPr>
        <p:spPr>
          <a:xfrm>
            <a:off x="1005840" y="1965960"/>
            <a:ext cx="10149840" cy="1645920"/>
          </a:xfrm>
          <a:prstGeom prst="rect">
            <a:avLst/>
          </a:prstGeom>
          <a:noFill/>
          <a:ln/>
        </p:spPr>
        <p:txBody>
          <a:bodyPr wrap="square" rtlCol="0" anchor="ctr"/>
          <a:lstStyle/>
          <a:p>
            <a:pPr marL="0" indent="0">
              <a:lnSpc>
                <a:spcPct val="108000"/>
              </a:lnSpc>
              <a:buNone/>
            </a:pPr>
            <a:r>
              <a:rPr lang="en-US" sz="2600" i="1" dirty="0">
                <a:solidFill>
                  <a:srgbClr val="FFFFFF"/>
                </a:solidFill>
                <a:latin typeface="Georgia" pitchFamily="34" charset="0"/>
                <a:ea typeface="Georgia" pitchFamily="34" charset="-122"/>
                <a:cs typeface="Georgia" pitchFamily="34" charset="-120"/>
              </a:rPr>
              <a:t>On a Saturday night in 1925, a Nashville radio announcer flipped from a network opera broadcast to a fiddle tune and joked that listeners had just heard 'grand opera,' now they'd hear the 'Grand Ole Opry,' and a Tennessee institution was born.</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lstStyle/>
          <a:p>
            <a:endParaRPr lang="en-US"/>
          </a:p>
        </p:txBody>
      </p:sp>
      <p:sp>
        <p:nvSpPr>
          <p:cNvPr id="8" name="Text 6"/>
          <p:cNvSpPr/>
          <p:nvPr/>
        </p:nvSpPr>
        <p:spPr>
          <a:xfrm>
            <a:off x="914400" y="4297680"/>
            <a:ext cx="2743200" cy="320040"/>
          </a:xfrm>
          <a:prstGeom prst="rect">
            <a:avLst/>
          </a:prstGeom>
          <a:noFill/>
          <a:ln/>
        </p:spPr>
        <p:txBody>
          <a:bodyPr wrap="square" rtlCol="0" anchor="ctr"/>
          <a:lstStyle/>
          <a:p>
            <a:pPr marL="0" indent="0">
              <a:buNone/>
            </a:pPr>
            <a:r>
              <a:rPr lang="en-US" sz="1300" b="1" kern="0" spc="20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lstStyle/>
          <a:p>
            <a:endParaRPr lang="en-US"/>
          </a:p>
        </p:txBody>
      </p:sp>
      <p:sp>
        <p:nvSpPr>
          <p:cNvPr id="10" name="Text 8"/>
          <p:cNvSpPr/>
          <p:nvPr/>
        </p:nvSpPr>
        <p:spPr>
          <a:xfrm>
            <a:off x="7772400" y="4224528"/>
            <a:ext cx="3657600" cy="45720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marL="0" indent="0">
              <a:lnSpc>
                <a:spcPct val="110000"/>
              </a:lnSpc>
              <a:buNone/>
            </a:pPr>
            <a:r>
              <a:rPr lang="en-US" sz="1600" dirty="0">
                <a:solidFill>
                  <a:srgbClr val="1F2430"/>
                </a:solidFill>
                <a:latin typeface="Calibri" pitchFamily="34" charset="0"/>
                <a:ea typeface="Calibri" pitchFamily="34" charset="-122"/>
                <a:cs typeface="Calibri" pitchFamily="34" charset="-120"/>
              </a:rPr>
              <a:t>How did the music of poor Southern farmers and Black blues musicians become a national industry broadcast from Tennessee to the whole country?</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Country Music Roots</a:t>
            </a:r>
            <a:endParaRPr lang="en-US" sz="3000" dirty="0"/>
          </a:p>
        </p:txBody>
      </p:sp>
      <p:sp>
        <p:nvSpPr>
          <p:cNvPr id="5" name="Shape 3"/>
          <p:cNvSpPr/>
          <p:nvPr/>
        </p:nvSpPr>
        <p:spPr>
          <a:xfrm>
            <a:off x="10180015" y="502920"/>
            <a:ext cx="146304" cy="146304"/>
          </a:xfrm>
          <a:prstGeom prst="ellipse">
            <a:avLst/>
          </a:prstGeom>
          <a:solidFill>
            <a:srgbClr val="C62828"/>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Country music originated from rural Southern folk traditions, Scottish-Irish ballads, and gospel music. Instruments included fiddle, banjo, guitar, harmonica, and later steel guitar.</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Themes centered on rural life, family, religion, hardship, and traditional values.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Regional variations included Appalachian mountain music, Western swing, and honky-tonk.</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1920s recording industry brought rural music to national audiences.</a:t>
            </a:r>
            <a:endParaRPr lang="en-US" sz="1700" dirty="0"/>
          </a:p>
        </p:txBody>
      </p:sp>
      <p:sp>
        <p:nvSpPr>
          <p:cNvPr id="13" name="Shape 11"/>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txBody>
          <a:bodyPr/>
          <a:lstStyle/>
          <a:p>
            <a:endParaRPr lang="en-US"/>
          </a:p>
        </p:txBody>
      </p:sp>
      <p:sp>
        <p:nvSpPr>
          <p:cNvPr id="14" name="Text 12"/>
          <p:cNvSpPr/>
          <p:nvPr/>
        </p:nvSpPr>
        <p:spPr>
          <a:xfrm>
            <a:off x="1024128" y="4681728"/>
            <a:ext cx="10149840" cy="237744"/>
          </a:xfrm>
          <a:prstGeom prst="rect">
            <a:avLst/>
          </a:prstGeom>
          <a:noFill/>
          <a:ln/>
        </p:spPr>
        <p:txBody>
          <a:bodyPr wrap="square" rtlCol="0" anchor="ctr"/>
          <a:lstStyle/>
          <a:p>
            <a:pPr marL="0" indent="0">
              <a:buNone/>
            </a:pPr>
            <a:r>
              <a:rPr lang="en-US" sz="900" b="1" kern="0" spc="100" dirty="0">
                <a:solidFill>
                  <a:srgbClr val="002858"/>
                </a:solidFill>
                <a:latin typeface="Trebuchet MS" pitchFamily="34" charset="0"/>
                <a:ea typeface="Trebuchet MS" pitchFamily="34" charset="-122"/>
                <a:cs typeface="Trebuchet MS" pitchFamily="34" charset="-120"/>
              </a:rPr>
              <a:t>SENTENCE FRAME  </a:t>
            </a:r>
            <a:r>
              <a:rPr lang="en-US" sz="850" i="1" dirty="0">
                <a:solidFill>
                  <a:srgbClr val="5C6470"/>
                </a:solidFill>
              </a:rPr>
              <a:t>(EL &amp; writing support)  </a:t>
            </a:r>
            <a:endParaRPr lang="en-US" sz="900" dirty="0"/>
          </a:p>
        </p:txBody>
      </p:sp>
      <p:sp>
        <p:nvSpPr>
          <p:cNvPr id="15" name="Text 13"/>
          <p:cNvSpPr/>
          <p:nvPr/>
        </p:nvSpPr>
        <p:spPr>
          <a:xfrm>
            <a:off x="1024128" y="4937760"/>
            <a:ext cx="10607040" cy="658368"/>
          </a:xfrm>
          <a:prstGeom prst="rect">
            <a:avLst/>
          </a:prstGeom>
          <a:noFill/>
          <a:ln/>
        </p:spPr>
        <p:txBody>
          <a:bodyPr wrap="square" rtlCol="0" anchor="t"/>
          <a:lstStyle/>
          <a:p>
            <a:pPr marL="0" indent="0">
              <a:lnSpc>
                <a:spcPct val="104000"/>
              </a:lnSpc>
              <a:buNone/>
            </a:pPr>
            <a:r>
              <a:rPr lang="en-US" sz="1150" i="1" dirty="0">
                <a:solidFill>
                  <a:srgbClr val="1F2430"/>
                </a:solidFill>
                <a:latin typeface="Calibri" pitchFamily="34" charset="0"/>
                <a:ea typeface="Calibri" pitchFamily="34" charset="-122"/>
                <a:cs typeface="Calibri" pitchFamily="34" charset="-120"/>
              </a:rPr>
              <a:t>Blues and country music grew out of ________, and became national industries because of ________.</a:t>
            </a:r>
            <a:endParaRPr lang="en-US" sz="115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Blues Music Evolution</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C62828"/>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Blues evolved from African American work songs, field hollers, spirituals, and African musical traditions.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Mississippi Delta was the birthplace of Delta blues with its distinctive guitar style.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Urban blues developed as African Americans migrated to cities like Chicago.</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standard 12-bar structure became the foundation for popular music. Themes addressed love, loss, hardship, and resilience.</a:t>
            </a:r>
            <a:endParaRPr lang="en-US" sz="1550" dirty="0"/>
          </a:p>
        </p:txBody>
      </p:sp>
      <p:sp>
        <p:nvSpPr>
          <p:cNvPr id="13" name="Shape 11"/>
          <p:cNvSpPr/>
          <p:nvPr/>
        </p:nvSpPr>
        <p:spPr>
          <a:xfrm>
            <a:off x="7552944" y="1746504"/>
            <a:ext cx="4142232" cy="3575304"/>
          </a:xfrm>
          <a:prstGeom prst="rect">
            <a:avLst/>
          </a:prstGeom>
          <a:solidFill>
            <a:srgbClr val="FFFFFF"/>
          </a:solidFill>
          <a:ln w="12700">
            <a:solidFill>
              <a:srgbClr val="DAD3C2"/>
            </a:solidFill>
            <a:prstDash val="solid"/>
          </a:ln>
        </p:spPr>
        <p:txBody>
          <a:bodyPr/>
          <a:lstStyle/>
          <a:p>
            <a:endParaRPr lang="en-US"/>
          </a:p>
        </p:txBody>
      </p:sp>
      <p:pic>
        <p:nvPicPr>
          <p:cNvPr id="14" name="Image 0" descr="unit4-full/img/bessie-smith-empress-of-the-blues.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24433" y="1783080"/>
            <a:ext cx="2599253" cy="3502152"/>
          </a:xfrm>
          <a:prstGeom prst="rect">
            <a:avLst/>
          </a:prstGeom>
        </p:spPr>
      </p:pic>
      <p:sp>
        <p:nvSpPr>
          <p:cNvPr id="15" name="Text 12"/>
          <p:cNvSpPr/>
          <p:nvPr/>
        </p:nvSpPr>
        <p:spPr>
          <a:xfrm>
            <a:off x="7589520" y="534009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Carl Van Vechten / Library of Congress, Prints and Photographs Division, c1936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800" dirty="0"/>
          </a:p>
        </p:txBody>
      </p:sp>
      <p:sp>
        <p:nvSpPr>
          <p:cNvPr id="16" name="Text 13"/>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The Grand Ole Opry</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C62828"/>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6766560" cy="26974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Beginning as "WSM Barn Dance" in Nashville on November 28, 1925, it was created and hosted by George D. Hay, the "Solemn Old Judge." It became the "Grand Ole Opry" in 1927.</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Saturday night live radio broadcasts reached millions across America, making Nashville the center of country music. The Opry preserved and promoted traditional American folk music, launched countless careers, and drew tourists to Nashville.</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The Ryman Auditorium hosted the Opry from 1943-1974.</a:t>
            </a:r>
            <a:endParaRPr lang="en-US" sz="1250" dirty="0"/>
          </a:p>
        </p:txBody>
      </p:sp>
      <p:sp>
        <p:nvSpPr>
          <p:cNvPr id="13" name="Shape 11"/>
          <p:cNvSpPr/>
          <p:nvPr/>
        </p:nvSpPr>
        <p:spPr>
          <a:xfrm>
            <a:off x="7552944" y="1746504"/>
            <a:ext cx="4142232" cy="3575304"/>
          </a:xfrm>
          <a:prstGeom prst="rect">
            <a:avLst/>
          </a:prstGeom>
          <a:solidFill>
            <a:srgbClr val="FFFFFF"/>
          </a:solidFill>
          <a:ln w="12700">
            <a:solidFill>
              <a:srgbClr val="DAD3C2"/>
            </a:solidFill>
            <a:prstDash val="solid"/>
          </a:ln>
        </p:spPr>
        <p:txBody>
          <a:bodyPr/>
          <a:lstStyle/>
          <a:p>
            <a:endParaRPr lang="en-US"/>
          </a:p>
        </p:txBody>
      </p:sp>
      <p:pic>
        <p:nvPicPr>
          <p:cNvPr id="14" name="Image 0" descr="unit4-full/img/wc-handy.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59869" y="1783080"/>
            <a:ext cx="2528383" cy="3502152"/>
          </a:xfrm>
          <a:prstGeom prst="rect">
            <a:avLst/>
          </a:prstGeom>
        </p:spPr>
      </p:pic>
      <p:sp>
        <p:nvSpPr>
          <p:cNvPr id="15" name="Text 12"/>
          <p:cNvSpPr/>
          <p:nvPr/>
        </p:nvSpPr>
        <p:spPr>
          <a:xfrm>
            <a:off x="7589520" y="534009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Carl Van Vechten, 1941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800" dirty="0"/>
          </a:p>
        </p:txBody>
      </p:sp>
      <p:sp>
        <p:nvSpPr>
          <p:cNvPr id="16" name="Shape 13"/>
          <p:cNvSpPr/>
          <p:nvPr/>
        </p:nvSpPr>
        <p:spPr>
          <a:xfrm>
            <a:off x="548640" y="4709160"/>
            <a:ext cx="6766560" cy="1143000"/>
          </a:xfrm>
          <a:prstGeom prst="roundRect">
            <a:avLst>
              <a:gd name="adj" fmla="val 6400"/>
            </a:avLst>
          </a:prstGeom>
          <a:solidFill>
            <a:srgbClr val="FBEFD0"/>
          </a:solidFill>
          <a:ln w="19050">
            <a:solidFill>
              <a:srgbClr val="C9A84C"/>
            </a:solidFill>
            <a:prstDash val="solid"/>
          </a:ln>
        </p:spPr>
        <p:txBody>
          <a:bodyPr/>
          <a:lstStyle/>
          <a:p>
            <a:endParaRPr lang="en-US"/>
          </a:p>
        </p:txBody>
      </p:sp>
      <p:sp>
        <p:nvSpPr>
          <p:cNvPr id="17" name="Text 14"/>
          <p:cNvSpPr/>
          <p:nvPr/>
        </p:nvSpPr>
        <p:spPr>
          <a:xfrm>
            <a:off x="868680" y="4846320"/>
            <a:ext cx="5486400" cy="274320"/>
          </a:xfrm>
          <a:prstGeom prst="rect">
            <a:avLst/>
          </a:prstGeom>
          <a:noFill/>
          <a:ln/>
        </p:spPr>
        <p:txBody>
          <a:bodyPr wrap="square" rtlCol="0" anchor="ctr"/>
          <a:lstStyle/>
          <a:p>
            <a:pPr marL="0" indent="0">
              <a:buNone/>
            </a:pPr>
            <a:r>
              <a:rPr lang="en-US" sz="1200" b="1" kern="0" spc="10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8" name="Text 15"/>
          <p:cNvSpPr/>
          <p:nvPr/>
        </p:nvSpPr>
        <p:spPr>
          <a:xfrm>
            <a:off x="868680" y="5120640"/>
            <a:ext cx="6126480" cy="685800"/>
          </a:xfrm>
          <a:prstGeom prst="rect">
            <a:avLst/>
          </a:prstGeom>
          <a:noFill/>
          <a:ln/>
        </p:spPr>
        <p:txBody>
          <a:bodyPr wrap="square" rtlCol="0" anchor="t"/>
          <a:lstStyle/>
          <a:p>
            <a:pPr marL="0" indent="0">
              <a:lnSpc>
                <a:spcPct val="105000"/>
              </a:lnSpc>
              <a:buNone/>
            </a:pPr>
            <a:r>
              <a:rPr lang="en-US" sz="1300" dirty="0">
                <a:solidFill>
                  <a:srgbClr val="1F2430"/>
                </a:solidFill>
                <a:latin typeface="Calibri" pitchFamily="34" charset="0"/>
                <a:ea typeface="Calibri" pitchFamily="34" charset="-122"/>
                <a:cs typeface="Calibri" pitchFamily="34" charset="-120"/>
              </a:rPr>
              <a:t>The Grand Ole Opry began as the 'WSM Barn Dance' broadcast from Nashville station WSM in 1925 and soon took its famous name. It made Nashville the capital of country music, a title Tennessee's capital still holds today.</a:t>
            </a:r>
            <a:endParaRPr lang="en-US" sz="1300" dirty="0"/>
          </a:p>
        </p:txBody>
      </p:sp>
      <p:sp>
        <p:nvSpPr>
          <p:cNvPr id="19" name="Text 1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W.C. Handy (1873-1958): Father of the Blues</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C62828"/>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W.C. Handy was the first to publish blues compositions for mainstream audiences.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"Memphis Blues" (1912) was the first published blues composition, and "St. Louis Blues" (1914) became a blues standard recorded by countless artists.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 trained musician who studied European classical music, Handy combined African American folk traditions with formal musical notation.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founded Handy Brothers Music Company and proved African American music could achieve commercial success.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Bessie Smith (1894-1937): Empress of the Blues</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C62828"/>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Bessie Smith was the most popular and influential blues singer of the 1920s.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Her Columbia Records contract made her the highest-paid Black performer of her era.</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Her powerful voice featured emotional depth and perfect pitch on songs like "Downhearted Blues" and "St. Louis Blues." She earned up to $2,000 per week during peak years, broke racial barriers, and performed for integrated audiences.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Her influence extended to generations of singers including Billie Holiday and Janis Joplin.</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27632"/>
            <a:ext cx="5394960" cy="868680"/>
          </a:xfrm>
          <a:prstGeom prst="rect">
            <a:avLst/>
          </a:prstGeom>
          <a:solidFill>
            <a:srgbClr val="1A2332"/>
          </a:solidFill>
          <a:ln/>
        </p:spPr>
        <p:txBody>
          <a:bodyPr/>
          <a:lstStyle/>
          <a:p>
            <a:endParaRPr lang="en-US"/>
          </a:p>
        </p:txBody>
      </p:sp>
      <p:sp>
        <p:nvSpPr>
          <p:cNvPr id="7" name="Text 5"/>
          <p:cNvSpPr/>
          <p:nvPr/>
        </p:nvSpPr>
        <p:spPr>
          <a:xfrm>
            <a:off x="667512" y="1627632"/>
            <a:ext cx="5157216" cy="63093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W.C. Handy</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'Father of the Blues' (1873-1958)</a:t>
            </a:r>
            <a:endParaRPr lang="en-US" sz="1100" dirty="0"/>
          </a:p>
        </p:txBody>
      </p:sp>
      <p:sp>
        <p:nvSpPr>
          <p:cNvPr id="9" name="Shape 7"/>
          <p:cNvSpPr/>
          <p:nvPr/>
        </p:nvSpPr>
        <p:spPr>
          <a:xfrm>
            <a:off x="667512" y="2578608"/>
            <a:ext cx="1612823" cy="2212848"/>
          </a:xfrm>
          <a:prstGeom prst="rect">
            <a:avLst/>
          </a:prstGeom>
          <a:solidFill>
            <a:srgbClr val="FFFFFF"/>
          </a:solidFill>
          <a:ln w="12700">
            <a:solidFill>
              <a:srgbClr val="DAD3C2"/>
            </a:solidFill>
            <a:prstDash val="solid"/>
          </a:ln>
        </p:spPr>
        <p:txBody>
          <a:bodyPr/>
          <a:lstStyle/>
          <a:p>
            <a:endParaRPr lang="en-US"/>
          </a:p>
        </p:txBody>
      </p:sp>
      <p:pic>
        <p:nvPicPr>
          <p:cNvPr id="10" name="Image 0" descr="unit4-full/img/wc-handy.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94944" y="2606040"/>
            <a:ext cx="1557959" cy="2157984"/>
          </a:xfrm>
          <a:prstGeom prst="rect">
            <a:avLst/>
          </a:prstGeom>
        </p:spPr>
      </p:pic>
      <p:sp>
        <p:nvSpPr>
          <p:cNvPr id="11" name="Text 8"/>
          <p:cNvSpPr/>
          <p:nvPr/>
        </p:nvSpPr>
        <p:spPr>
          <a:xfrm>
            <a:off x="694944" y="4800600"/>
            <a:ext cx="2060879"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Carl Van Vechten, 1941  </a:t>
            </a:r>
            <a:r>
              <a:rPr lang="en-US" sz="6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600" dirty="0"/>
          </a:p>
        </p:txBody>
      </p:sp>
      <p:sp>
        <p:nvSpPr>
          <p:cNvPr id="12" name="Text 9"/>
          <p:cNvSpPr/>
          <p:nvPr/>
        </p:nvSpPr>
        <p:spPr>
          <a:xfrm>
            <a:off x="2435783" y="2606040"/>
            <a:ext cx="3361513"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Published the first widely circulated blues compositions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Popularized the blues form nationwide</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Bridged African American folk music and commercial recording</a:t>
            </a:r>
            <a:endParaRPr lang="en-US" sz="1300" dirty="0"/>
          </a:p>
        </p:txBody>
      </p:sp>
      <p:sp>
        <p:nvSpPr>
          <p:cNvPr id="13" name="Shape 10"/>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14" name="Text 11"/>
          <p:cNvSpPr/>
          <p:nvPr/>
        </p:nvSpPr>
        <p:spPr>
          <a:xfrm>
            <a:off x="749808" y="5175504"/>
            <a:ext cx="501091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Read Handy's own words to show how he documented and formalized a folk tradition.</a:t>
            </a:r>
            <a:endParaRPr lang="en-US" sz="800" dirty="0"/>
          </a:p>
        </p:txBody>
      </p:sp>
      <p:sp>
        <p:nvSpPr>
          <p:cNvPr id="15" name="Shape 12"/>
          <p:cNvSpPr/>
          <p:nvPr/>
        </p:nvSpPr>
        <p:spPr>
          <a:xfrm>
            <a:off x="6217920" y="1627632"/>
            <a:ext cx="5394960" cy="4114800"/>
          </a:xfrm>
          <a:prstGeom prst="rect">
            <a:avLst/>
          </a:prstGeom>
          <a:solidFill>
            <a:srgbClr val="FFFFFF"/>
          </a:solidFill>
          <a:ln w="12700">
            <a:solidFill>
              <a:srgbClr val="DAD3C2"/>
            </a:solidFill>
            <a:prstDash val="solid"/>
          </a:ln>
        </p:spPr>
        <p:txBody>
          <a:bodyPr/>
          <a:lstStyle/>
          <a:p>
            <a:endParaRPr lang="en-US"/>
          </a:p>
        </p:txBody>
      </p:sp>
      <p:sp>
        <p:nvSpPr>
          <p:cNvPr id="16" name="Shape 13"/>
          <p:cNvSpPr/>
          <p:nvPr/>
        </p:nvSpPr>
        <p:spPr>
          <a:xfrm>
            <a:off x="6217920" y="1627632"/>
            <a:ext cx="5394960" cy="868680"/>
          </a:xfrm>
          <a:prstGeom prst="rect">
            <a:avLst/>
          </a:prstGeom>
          <a:solidFill>
            <a:srgbClr val="1A2332"/>
          </a:solidFill>
          <a:ln/>
        </p:spPr>
        <p:txBody>
          <a:bodyPr/>
          <a:lstStyle/>
          <a:p>
            <a:endParaRPr lang="en-US"/>
          </a:p>
        </p:txBody>
      </p:sp>
      <p:sp>
        <p:nvSpPr>
          <p:cNvPr id="17" name="Text 14"/>
          <p:cNvSpPr/>
          <p:nvPr/>
        </p:nvSpPr>
        <p:spPr>
          <a:xfrm>
            <a:off x="6336792" y="1627632"/>
            <a:ext cx="5157216" cy="63093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Bessie Smith</a:t>
            </a:r>
            <a:endParaRPr lang="en-US" sz="1800" dirty="0"/>
          </a:p>
        </p:txBody>
      </p:sp>
      <p:sp>
        <p:nvSpPr>
          <p:cNvPr id="18" name="Text 15"/>
          <p:cNvSpPr/>
          <p:nvPr/>
        </p:nvSpPr>
        <p:spPr>
          <a:xfrm>
            <a:off x="6336792" y="2221992"/>
            <a:ext cx="515721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'Empress of the Blues' (1894-1937)</a:t>
            </a:r>
            <a:endParaRPr lang="en-US" sz="1100" dirty="0"/>
          </a:p>
        </p:txBody>
      </p:sp>
      <p:sp>
        <p:nvSpPr>
          <p:cNvPr id="19" name="Shape 16"/>
          <p:cNvSpPr/>
          <p:nvPr/>
        </p:nvSpPr>
        <p:spPr>
          <a:xfrm>
            <a:off x="6336792" y="2578608"/>
            <a:ext cx="1656493" cy="2212848"/>
          </a:xfrm>
          <a:prstGeom prst="rect">
            <a:avLst/>
          </a:prstGeom>
          <a:solidFill>
            <a:srgbClr val="FFFFFF"/>
          </a:solidFill>
          <a:ln w="12700">
            <a:solidFill>
              <a:srgbClr val="DAD3C2"/>
            </a:solidFill>
            <a:prstDash val="solid"/>
          </a:ln>
        </p:spPr>
        <p:txBody>
          <a:bodyPr/>
          <a:lstStyle/>
          <a:p>
            <a:endParaRPr lang="en-US"/>
          </a:p>
        </p:txBody>
      </p:sp>
      <p:pic>
        <p:nvPicPr>
          <p:cNvPr id="20" name="Image 1" descr="unit4-full/img/bessie-smith-empress-of-the-blues.jpg"/>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364224" y="2606040"/>
            <a:ext cx="1601629" cy="2157984"/>
          </a:xfrm>
          <a:prstGeom prst="rect">
            <a:avLst/>
          </a:prstGeom>
        </p:spPr>
      </p:pic>
      <p:sp>
        <p:nvSpPr>
          <p:cNvPr id="21" name="Text 17"/>
          <p:cNvSpPr/>
          <p:nvPr/>
        </p:nvSpPr>
        <p:spPr>
          <a:xfrm>
            <a:off x="6364224" y="4800600"/>
            <a:ext cx="2104549"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Carl Van Vechten, c1936  </a:t>
            </a:r>
            <a:r>
              <a:rPr lang="en-US" sz="600" i="1" u="sng" dirty="0">
                <a:solidFill>
                  <a:srgbClr val="002858"/>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Library of Congress</a:t>
            </a:r>
            <a:endParaRPr lang="en-US" sz="600" dirty="0"/>
          </a:p>
        </p:txBody>
      </p:sp>
      <p:sp>
        <p:nvSpPr>
          <p:cNvPr id="22" name="Text 18"/>
          <p:cNvSpPr/>
          <p:nvPr/>
        </p:nvSpPr>
        <p:spPr>
          <a:xfrm>
            <a:off x="8148733" y="2606040"/>
            <a:ext cx="3317843"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The most popular female blues singer of the 1920s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Sold records in enormous numbers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Showed the commercial power of Black artists on record</a:t>
            </a:r>
            <a:endParaRPr lang="en-US" sz="1300" dirty="0"/>
          </a:p>
        </p:txBody>
      </p:sp>
      <p:sp>
        <p:nvSpPr>
          <p:cNvPr id="23" name="Shape 19"/>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24" name="Text 20"/>
          <p:cNvSpPr/>
          <p:nvPr/>
        </p:nvSpPr>
        <p:spPr>
          <a:xfrm>
            <a:off x="6419088" y="5175504"/>
            <a:ext cx="501091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Use the record-sales report to prove the size of the audience for Black music.</a:t>
            </a:r>
            <a:endParaRPr lang="en-US" sz="800" dirty="0"/>
          </a:p>
        </p:txBody>
      </p:sp>
      <p:sp>
        <p:nvSpPr>
          <p:cNvPr id="25"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6"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002858"/>
                </a:solidFill>
                <a:latin typeface="Trebuchet MS" pitchFamily="34" charset="0"/>
                <a:ea typeface="Trebuchet MS" pitchFamily="34" charset="-122"/>
                <a:cs typeface="Trebuchet MS" pitchFamily="34" charset="-120"/>
              </a:rPr>
              <a:t>US.30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marL="0" indent="0">
              <a:buNone/>
            </a:pPr>
            <a:r>
              <a:rPr lang="en-US" sz="2500" b="1" dirty="0">
                <a:solidFill>
                  <a:srgbClr val="1A2332"/>
                </a:solidFill>
                <a:latin typeface="Georgia" pitchFamily="34" charset="0"/>
                <a:ea typeface="Georgia" pitchFamily="34" charset="-122"/>
                <a:cs typeface="Georgia" pitchFamily="34" charset="-120"/>
              </a:rPr>
              <a:t>W.C. Handy Autobiography Excerpt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lstStyle/>
          <a:p>
            <a:endParaRPr lang="en-US"/>
          </a:p>
        </p:txBody>
      </p:sp>
      <p:sp>
        <p:nvSpPr>
          <p:cNvPr id="6" name="Text 4"/>
          <p:cNvSpPr/>
          <p:nvPr/>
        </p:nvSpPr>
        <p:spPr>
          <a:xfrm>
            <a:off x="9418320" y="777240"/>
            <a:ext cx="219456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Sourcing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W.C. Handy  ·  1941</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txBody>
          <a:bodyPr/>
          <a:lstStyle/>
          <a:p>
            <a:endParaRPr lang="en-US"/>
          </a:p>
        </p:txBody>
      </p:sp>
      <p:pic>
        <p:nvPicPr>
          <p:cNvPr id="9" name="Image 0" descr="unit4-full/img/wc-handy.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34529" y="1737360"/>
            <a:ext cx="1828622" cy="2532888"/>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marL="0" indent="0" algn="l">
              <a:lnSpc>
                <a:spcPct val="100000"/>
              </a:lnSpc>
              <a:buNone/>
            </a:pPr>
            <a:r>
              <a:rPr lang="en-US" sz="700" i="1" dirty="0">
                <a:solidFill>
                  <a:srgbClr val="5C6470"/>
                </a:solidFill>
                <a:latin typeface="Calibri" pitchFamily="34" charset="0"/>
                <a:ea typeface="Calibri" pitchFamily="34" charset="-122"/>
                <a:cs typeface="Calibri" pitchFamily="34" charset="-120"/>
              </a:rPr>
              <a:t>Carl Van Vechten, 1941  </a:t>
            </a:r>
            <a:r>
              <a:rPr lang="en-US" sz="7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lstStyle/>
          <a:p>
            <a:endParaRPr lang="en-US"/>
          </a:p>
        </p:txBody>
      </p:sp>
      <p:sp>
        <p:nvSpPr>
          <p:cNvPr id="12" name="Text 9"/>
          <p:cNvSpPr/>
          <p:nvPr/>
        </p:nvSpPr>
        <p:spPr>
          <a:xfrm>
            <a:off x="768096" y="1865376"/>
            <a:ext cx="2761488" cy="438912"/>
          </a:xfrm>
          <a:prstGeom prst="rect">
            <a:avLst/>
          </a:prstGeom>
          <a:noFill/>
          <a:ln/>
        </p:spPr>
        <p:txBody>
          <a:bodyPr wrap="square" rtlCol="0" anchor="ctr"/>
          <a:lstStyle/>
          <a:p>
            <a:pPr marL="0" indent="0">
              <a:lnSpc>
                <a:spcPct val="95000"/>
              </a:lnSpc>
              <a:buNone/>
            </a:pPr>
            <a:r>
              <a:rPr lang="en-US" sz="950" b="1" kern="0" spc="150" dirty="0">
                <a:solidFill>
                  <a:srgbClr val="1A2332"/>
                </a:solidFill>
                <a:latin typeface="Trebuchet MS" pitchFamily="34" charset="0"/>
                <a:ea typeface="Trebuchet MS" pitchFamily="34" charset="-122"/>
                <a:cs typeface="Trebuchet MS" pitchFamily="34" charset="-120"/>
              </a:rPr>
              <a:t>ZOOM IN  </a:t>
            </a: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lstStyle/>
          <a:p>
            <a:endParaRPr lang="en-US"/>
          </a:p>
        </p:txBody>
      </p:sp>
      <p:sp>
        <p:nvSpPr>
          <p:cNvPr id="14" name="Shape 11"/>
          <p:cNvSpPr/>
          <p:nvPr/>
        </p:nvSpPr>
        <p:spPr>
          <a:xfrm>
            <a:off x="3931920" y="1737360"/>
            <a:ext cx="91440" cy="3246120"/>
          </a:xfrm>
          <a:prstGeom prst="rect">
            <a:avLst/>
          </a:prstGeom>
          <a:solidFill>
            <a:srgbClr val="C9A84C"/>
          </a:solidFill>
          <a:ln/>
        </p:spPr>
        <p:txBody>
          <a:bodyPr/>
          <a:lstStyle/>
          <a:p>
            <a:endParaRPr lang="en-US"/>
          </a:p>
        </p:txBody>
      </p:sp>
      <p:sp>
        <p:nvSpPr>
          <p:cNvPr id="15" name="Text 12"/>
          <p:cNvSpPr/>
          <p:nvPr/>
        </p:nvSpPr>
        <p:spPr>
          <a:xfrm>
            <a:off x="4160520" y="1920240"/>
            <a:ext cx="3200400" cy="2880360"/>
          </a:xfrm>
          <a:prstGeom prst="rect">
            <a:avLst/>
          </a:prstGeom>
          <a:noFill/>
          <a:ln/>
        </p:spPr>
        <p:txBody>
          <a:bodyPr wrap="square" rtlCol="0" anchor="t"/>
          <a:lstStyle/>
          <a:p>
            <a:pPr marL="0" indent="0">
              <a:lnSpc>
                <a:spcPct val="112000"/>
              </a:lnSpc>
              <a:buNone/>
            </a:pPr>
            <a:r>
              <a:rPr lang="en-US" sz="1250" i="1" dirty="0">
                <a:solidFill>
                  <a:srgbClr val="1F2430"/>
                </a:solidFill>
                <a:latin typeface="Georgia" pitchFamily="34" charset="0"/>
                <a:ea typeface="Georgia" pitchFamily="34" charset="-122"/>
                <a:cs typeface="Georgia" pitchFamily="34" charset="-120"/>
              </a:rPr>
              <a:t>"I wrote "Memphis Blues" in 1912 and "St. Louis Blues" in 1914. These were the first blues to be written down and published. Before this, the blues was folk music, passed along by ear. I wanted to capture on paper the sounds I heard in the cotton fields and on Beale Street. The sorrow songs of my people deserved to be preserved and heard by the world."</a:t>
            </a:r>
            <a:endParaRPr lang="en-US" sz="1250" dirty="0"/>
          </a:p>
        </p:txBody>
      </p:sp>
      <p:sp>
        <p:nvSpPr>
          <p:cNvPr id="16" name="Shape 13"/>
          <p:cNvSpPr/>
          <p:nvPr/>
        </p:nvSpPr>
        <p:spPr>
          <a:xfrm>
            <a:off x="7589520" y="1737360"/>
            <a:ext cx="4023360" cy="2011680"/>
          </a:xfrm>
          <a:prstGeom prst="roundRect">
            <a:avLst>
              <a:gd name="adj" fmla="val 3636"/>
            </a:avLst>
          </a:prstGeom>
          <a:solidFill>
            <a:srgbClr val="1A2332"/>
          </a:solidFill>
          <a:ln/>
        </p:spPr>
        <p:txBody>
          <a:bodyPr/>
          <a:lstStyle/>
          <a:p>
            <a:endParaRPr lang="en-US"/>
          </a:p>
        </p:txBody>
      </p:sp>
      <p:sp>
        <p:nvSpPr>
          <p:cNvPr id="17" name="Text 14"/>
          <p:cNvSpPr/>
          <p:nvPr/>
        </p:nvSpPr>
        <p:spPr>
          <a:xfrm>
            <a:off x="7818120" y="1856232"/>
            <a:ext cx="3657600" cy="274320"/>
          </a:xfrm>
          <a:prstGeom prst="rect">
            <a:avLst/>
          </a:prstGeom>
          <a:noFill/>
          <a:ln/>
        </p:spPr>
        <p:txBody>
          <a:bodyPr wrap="square" rtlCol="0" anchor="ctr"/>
          <a:lstStyle/>
          <a:p>
            <a:pPr marL="0" indent="0">
              <a:buNone/>
            </a:pPr>
            <a:r>
              <a:rPr lang="en-US" sz="1100" b="1" kern="0" spc="20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marL="0" indent="0">
              <a:lnSpc>
                <a:spcPct val="96000"/>
              </a:lnSpc>
              <a:buNone/>
            </a:pPr>
            <a:r>
              <a:rPr lang="en-US" sz="850" dirty="0">
                <a:solidFill>
                  <a:srgbClr val="FFFFFF"/>
                </a:solidFill>
                <a:latin typeface="Calibri" pitchFamily="34" charset="0"/>
                <a:ea typeface="Calibri" pitchFamily="34" charset="-122"/>
                <a:cs typeface="Calibri" pitchFamily="34" charset="-120"/>
              </a:rPr>
              <a:t>W.C. Handy is often called the 'Father of the Blues' for popularizing blues music and bringing it to national audiences. Born in Alabama in 1873 to freed slaves, Handy grew up hearing the field hollers, spirituals, and work songs that would become the foundation of blues music. He began writing and publishing blues compositions around 1909, including 'Memphis Blues' (1912) and 'St. Louis Blues' (1914) — among the first blues songs to be written down and published commercially. His autobiography (1941) describes his early encounters with Delta blues musicians and his recognition that this music had commercial potential that he could develop.</a:t>
            </a:r>
            <a:endParaRPr lang="en-US" sz="850" dirty="0"/>
          </a:p>
        </p:txBody>
      </p:sp>
      <p:sp>
        <p:nvSpPr>
          <p:cNvPr id="19" name="Shape 16"/>
          <p:cNvSpPr/>
          <p:nvPr/>
        </p:nvSpPr>
        <p:spPr>
          <a:xfrm>
            <a:off x="7589520" y="3931920"/>
            <a:ext cx="4023360" cy="1051560"/>
          </a:xfrm>
          <a:prstGeom prst="roundRect">
            <a:avLst>
              <a:gd name="adj" fmla="val 6957"/>
            </a:avLst>
          </a:prstGeom>
          <a:solidFill>
            <a:srgbClr val="C9A84C"/>
          </a:solidFill>
          <a:ln/>
        </p:spPr>
        <p:txBody>
          <a:bodyPr/>
          <a:lstStyle/>
          <a:p>
            <a:endParaRPr lang="en-US"/>
          </a:p>
        </p:txBody>
      </p:sp>
      <p:sp>
        <p:nvSpPr>
          <p:cNvPr id="20" name="Text 17"/>
          <p:cNvSpPr/>
          <p:nvPr/>
        </p:nvSpPr>
        <p:spPr>
          <a:xfrm>
            <a:off x="7818120" y="4050792"/>
            <a:ext cx="3657600" cy="274320"/>
          </a:xfrm>
          <a:prstGeom prst="rect">
            <a:avLst/>
          </a:prstGeom>
          <a:noFill/>
          <a:ln/>
        </p:spPr>
        <p:txBody>
          <a:bodyPr wrap="square" rtlCol="0" anchor="ctr"/>
          <a:lstStyle/>
          <a:p>
            <a:pPr marL="0" indent="0">
              <a:buNone/>
            </a:pPr>
            <a:r>
              <a:rPr lang="en-US" sz="1100" b="1" kern="0" spc="20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marL="0" indent="0">
              <a:lnSpc>
                <a:spcPct val="103000"/>
              </a:lnSpc>
              <a:buNone/>
            </a:pPr>
            <a:r>
              <a:rPr lang="en-US" sz="1250" b="1" dirty="0">
                <a:solidFill>
                  <a:srgbClr val="1A2332"/>
                </a:solidFill>
                <a:latin typeface="Calibri" pitchFamily="34" charset="0"/>
                <a:ea typeface="Calibri" pitchFamily="34" charset="-122"/>
                <a:cs typeface="Calibri" pitchFamily="34" charset="-120"/>
              </a:rPr>
              <a:t>According to W.C. Handy, what was his contribution to American music?</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lstStyle/>
          <a:p>
            <a:endParaRPr lang="en-US"/>
          </a:p>
        </p:txBody>
      </p:sp>
      <p:sp>
        <p:nvSpPr>
          <p:cNvPr id="23" name="Shape 20"/>
          <p:cNvSpPr/>
          <p:nvPr/>
        </p:nvSpPr>
        <p:spPr>
          <a:xfrm>
            <a:off x="548640" y="5120640"/>
            <a:ext cx="2423160" cy="841248"/>
          </a:xfrm>
          <a:prstGeom prst="rect">
            <a:avLst/>
          </a:prstGeom>
          <a:solidFill>
            <a:srgbClr val="002858"/>
          </a:solidFill>
          <a:ln/>
        </p:spPr>
        <p:txBody>
          <a:bodyPr/>
          <a:lstStyle/>
          <a:p>
            <a:endParaRPr lang="en-US"/>
          </a:p>
        </p:txBody>
      </p:sp>
      <p:sp>
        <p:nvSpPr>
          <p:cNvPr id="24" name="Text 21"/>
          <p:cNvSpPr/>
          <p:nvPr/>
        </p:nvSpPr>
        <p:spPr>
          <a:xfrm>
            <a:off x="658368" y="5239512"/>
            <a:ext cx="2194560" cy="274320"/>
          </a:xfrm>
          <a:prstGeom prst="rect">
            <a:avLst/>
          </a:prstGeom>
          <a:noFill/>
          <a:ln/>
        </p:spPr>
        <p:txBody>
          <a:bodyPr wrap="square"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marL="0" indent="0">
              <a:buNone/>
            </a:pPr>
            <a:r>
              <a:rPr lang="en-US" sz="1250" b="1" kern="0" spc="10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marL="0" indent="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W.C. Handy</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1941</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marL="0" indent="0" algn="l">
              <a:buNone/>
            </a:pPr>
            <a:r>
              <a:rPr lang="en-US" sz="900" dirty="0">
                <a:solidFill>
                  <a:srgbClr val="5C6470"/>
                </a:solidFill>
                <a:latin typeface="Calibri" pitchFamily="34" charset="0"/>
                <a:ea typeface="Calibri" pitchFamily="34" charset="-122"/>
                <a:cs typeface="Calibri" pitchFamily="34" charset="-120"/>
              </a:rPr>
              <a:t>Source: </a:t>
            </a:r>
            <a:r>
              <a:rPr lang="en-US" sz="900" i="1" u="sng" dirty="0">
                <a:solidFill>
                  <a:srgbClr val="00285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45920"/>
            <a:ext cx="5486400" cy="676656"/>
          </a:xfrm>
          <a:prstGeom prst="rect">
            <a:avLst/>
          </a:prstGeom>
          <a:solidFill>
            <a:srgbClr val="1A2332"/>
          </a:solidFill>
          <a:ln/>
        </p:spPr>
        <p:txBody>
          <a:bodyPr/>
          <a:lstStyle/>
          <a:p>
            <a:endParaRPr lang="en-US"/>
          </a:p>
        </p:txBody>
      </p:sp>
      <p:sp>
        <p:nvSpPr>
          <p:cNvPr id="7" name="Text 5"/>
          <p:cNvSpPr/>
          <p:nvPr/>
        </p:nvSpPr>
        <p:spPr>
          <a:xfrm>
            <a:off x="685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Grand Ole Opry</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grand ohl AH-pree</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Grand Ole Opry</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1" name="Text 9"/>
          <p:cNvSpPr/>
          <p:nvPr/>
        </p:nvSpPr>
        <p:spPr>
          <a:xfrm>
            <a:off x="576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GO</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weekly country music radio show that began in Nashville in 1925, becoming the longest-running radio broadcast in U.S. history and establishing Nashville as country music's capital.</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14" name="Shape 12"/>
          <p:cNvSpPr/>
          <p:nvPr/>
        </p:nvSpPr>
        <p:spPr>
          <a:xfrm>
            <a:off x="6263640" y="1645920"/>
            <a:ext cx="5486400" cy="676656"/>
          </a:xfrm>
          <a:prstGeom prst="rect">
            <a:avLst/>
          </a:prstGeom>
          <a:solidFill>
            <a:srgbClr val="1A2332"/>
          </a:solidFill>
          <a:ln/>
        </p:spPr>
        <p:txBody>
          <a:bodyPr/>
          <a:lstStyle/>
          <a:p>
            <a:endParaRPr lang="en-US"/>
          </a:p>
        </p:txBody>
      </p:sp>
      <p:sp>
        <p:nvSpPr>
          <p:cNvPr id="15" name="Text 13"/>
          <p:cNvSpPr/>
          <p:nvPr/>
        </p:nvSpPr>
        <p:spPr>
          <a:xfrm>
            <a:off x="6400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W.C. Handy</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double-yoo see HAN-dee</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W.C. Handy</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9" name="Text 17"/>
          <p:cNvSpPr/>
          <p:nvPr/>
        </p:nvSpPr>
        <p:spPr>
          <a:xfrm>
            <a:off x="6291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WH</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Known as the "Father of the Blues," a musician and composer who published the first blues compositions and helped bring blues music from rural areas to mainstream audiences.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2" name="Shape 20"/>
          <p:cNvSpPr/>
          <p:nvPr/>
        </p:nvSpPr>
        <p:spPr>
          <a:xfrm>
            <a:off x="548640" y="3072384"/>
            <a:ext cx="5486400" cy="676656"/>
          </a:xfrm>
          <a:prstGeom prst="rect">
            <a:avLst/>
          </a:prstGeom>
          <a:solidFill>
            <a:srgbClr val="1A2332"/>
          </a:solidFill>
          <a:ln/>
        </p:spPr>
        <p:txBody>
          <a:bodyPr/>
          <a:lstStyle/>
          <a:p>
            <a:endParaRPr lang="en-US"/>
          </a:p>
        </p:txBody>
      </p:sp>
      <p:sp>
        <p:nvSpPr>
          <p:cNvPr id="23" name="Text 21"/>
          <p:cNvSpPr/>
          <p:nvPr/>
        </p:nvSpPr>
        <p:spPr>
          <a:xfrm>
            <a:off x="685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Bessie Smith</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BESS-ee smith</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Bessie Smith</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27" name="Text 25"/>
          <p:cNvSpPr/>
          <p:nvPr/>
        </p:nvSpPr>
        <p:spPr>
          <a:xfrm>
            <a:off x="576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BS</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"Empress of the Blues," the most popular female blues singer of the 1920s whose powerful voice and emotional performances influenced generations of musicians.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30" name="Shape 28"/>
          <p:cNvSpPr/>
          <p:nvPr/>
        </p:nvSpPr>
        <p:spPr>
          <a:xfrm>
            <a:off x="6263640" y="3072384"/>
            <a:ext cx="5486400" cy="676656"/>
          </a:xfrm>
          <a:prstGeom prst="rect">
            <a:avLst/>
          </a:prstGeom>
          <a:solidFill>
            <a:srgbClr val="1A2332"/>
          </a:solidFill>
          <a:ln/>
        </p:spPr>
        <p:txBody>
          <a:bodyPr/>
          <a:lstStyle/>
          <a:p>
            <a:endParaRPr lang="en-US"/>
          </a:p>
        </p:txBody>
      </p:sp>
      <p:sp>
        <p:nvSpPr>
          <p:cNvPr id="31" name="Text 29"/>
          <p:cNvSpPr/>
          <p:nvPr/>
        </p:nvSpPr>
        <p:spPr>
          <a:xfrm>
            <a:off x="6400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Radio Broadcasting</a:t>
            </a:r>
            <a:endParaRPr lang="en-US" sz="13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Radiodifusión</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4" name="Text 32"/>
          <p:cNvSpPr/>
          <p:nvPr/>
        </p:nvSpPr>
        <p:spPr>
          <a:xfrm>
            <a:off x="6291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RB</a:t>
            </a:r>
            <a:endParaRPr lang="en-US" sz="1300" dirty="0"/>
          </a:p>
        </p:txBody>
      </p:sp>
      <p:sp>
        <p:nvSpPr>
          <p:cNvPr id="35" name="Text 33"/>
          <p:cNvSpPr/>
          <p:nvPr/>
        </p:nvSpPr>
        <p:spPr>
          <a:xfrm>
            <a:off x="6940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transmission of audio content over radio waves that revolutionized communication in the 1920s, creating mass media, national advertising, and shared popular culture.</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37" name="Shape 35"/>
          <p:cNvSpPr/>
          <p:nvPr/>
        </p:nvSpPr>
        <p:spPr>
          <a:xfrm>
            <a:off x="548640" y="4498848"/>
            <a:ext cx="5486400" cy="676656"/>
          </a:xfrm>
          <a:prstGeom prst="rect">
            <a:avLst/>
          </a:prstGeom>
          <a:solidFill>
            <a:srgbClr val="1A2332"/>
          </a:solidFill>
          <a:ln/>
        </p:spPr>
        <p:txBody>
          <a:bodyPr/>
          <a:lstStyle/>
          <a:p>
            <a:endParaRPr lang="en-US"/>
          </a:p>
        </p:txBody>
      </p:sp>
      <p:sp>
        <p:nvSpPr>
          <p:cNvPr id="38" name="Text 36"/>
          <p:cNvSpPr/>
          <p:nvPr/>
        </p:nvSpPr>
        <p:spPr>
          <a:xfrm>
            <a:off x="685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Harlem Renaissance</a:t>
            </a:r>
            <a:endParaRPr lang="en-US" sz="13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Renacimiento de Harlem</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1" name="Text 39"/>
          <p:cNvSpPr/>
          <p:nvPr/>
        </p:nvSpPr>
        <p:spPr>
          <a:xfrm>
            <a:off x="576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HR</a:t>
            </a:r>
            <a:endParaRPr lang="en-US" sz="1300" dirty="0"/>
          </a:p>
        </p:txBody>
      </p:sp>
      <p:sp>
        <p:nvSpPr>
          <p:cNvPr id="42" name="Text 40"/>
          <p:cNvSpPr/>
          <p:nvPr/>
        </p:nvSpPr>
        <p:spPr>
          <a:xfrm>
            <a:off x="1225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1920s cultural movement centered in Harlem, New York, where African American artists, writers, musicians, and intellectuals celebrated Black culture and identity through art, literature, and music.</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44" name="Shape 42"/>
          <p:cNvSpPr/>
          <p:nvPr/>
        </p:nvSpPr>
        <p:spPr>
          <a:xfrm>
            <a:off x="6263640" y="4498848"/>
            <a:ext cx="5486400" cy="676656"/>
          </a:xfrm>
          <a:prstGeom prst="rect">
            <a:avLst/>
          </a:prstGeom>
          <a:solidFill>
            <a:srgbClr val="1A2332"/>
          </a:solidFill>
          <a:ln/>
        </p:spPr>
        <p:txBody>
          <a:bodyPr/>
          <a:lstStyle/>
          <a:p>
            <a:endParaRPr lang="en-US"/>
          </a:p>
        </p:txBody>
      </p:sp>
      <p:sp>
        <p:nvSpPr>
          <p:cNvPr id="45" name="Text 43"/>
          <p:cNvSpPr/>
          <p:nvPr/>
        </p:nvSpPr>
        <p:spPr>
          <a:xfrm>
            <a:off x="6400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Motion Pictures</a:t>
            </a:r>
            <a:endParaRPr lang="en-US" sz="13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Imágenes en Movimiento</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8" name="Text 46"/>
          <p:cNvSpPr/>
          <p:nvPr/>
        </p:nvSpPr>
        <p:spPr>
          <a:xfrm>
            <a:off x="6291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MP</a:t>
            </a:r>
            <a:endParaRPr lang="en-US" sz="1300" dirty="0"/>
          </a:p>
        </p:txBody>
      </p:sp>
      <p:sp>
        <p:nvSpPr>
          <p:cNvPr id="49" name="Text 47"/>
          <p:cNvSpPr/>
          <p:nvPr/>
        </p:nvSpPr>
        <p:spPr>
          <a:xfrm>
            <a:off x="6940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Silent and "talkie" films that became America's most popular entertainment in the 1920s, creating celebrity culture and Hollywood as the film capital of the world.</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marL="0" indent="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marL="0" indent="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lstStyle/>
          <a:p>
            <a:endParaRPr lang="en-US"/>
          </a:p>
        </p:txBody>
      </p:sp>
      <p:sp>
        <p:nvSpPr>
          <p:cNvPr id="6" name="Text 4"/>
          <p:cNvSpPr/>
          <p:nvPr/>
        </p:nvSpPr>
        <p:spPr>
          <a:xfrm>
            <a:off x="8869680" y="822960"/>
            <a:ext cx="274320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Trace an idea across sources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640080"/>
          </a:xfrm>
          <a:prstGeom prst="rect">
            <a:avLst/>
          </a:prstGeom>
          <a:noFill/>
          <a:ln/>
        </p:spPr>
        <p:txBody>
          <a:bodyPr wrap="square" rtlCol="0" anchor="ctr"/>
          <a:lstStyle/>
          <a:p>
            <a:pPr marL="0" indent="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r>
              <a:rPr lang="en-US" sz="1500" dirty="0">
                <a:solidFill>
                  <a:srgbClr val="FFFFFF"/>
                </a:solidFill>
                <a:latin typeface="Calibri" pitchFamily="34" charset="0"/>
                <a:ea typeface="Calibri" pitchFamily="34" charset="-122"/>
                <a:cs typeface="Calibri" pitchFamily="34" charset="-120"/>
              </a:rPr>
              <a:t>How did radio spread country and blues music to a national audience?</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lstStyle/>
          <a:p>
            <a:endParaRPr lang="en-US"/>
          </a:p>
        </p:txBody>
      </p:sp>
      <p:sp>
        <p:nvSpPr>
          <p:cNvPr id="10" name="Text 8"/>
          <p:cNvSpPr/>
          <p:nvPr/>
        </p:nvSpPr>
        <p:spPr>
          <a:xfrm>
            <a:off x="822960" y="2724912"/>
            <a:ext cx="10058400" cy="292608"/>
          </a:xfrm>
          <a:prstGeom prst="rect">
            <a:avLst/>
          </a:prstGeom>
          <a:noFill/>
          <a:ln/>
        </p:spPr>
        <p:txBody>
          <a:bodyPr wrap="square" rtlCol="0" anchor="ctr"/>
          <a:lstStyle/>
          <a:p>
            <a:pPr marL="0" indent="0">
              <a:buNone/>
            </a:pPr>
            <a:r>
              <a:rPr lang="en-US" sz="1100" b="1" kern="0" spc="10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marL="0" indent="0">
              <a:lnSpc>
                <a:spcPct val="106000"/>
              </a:lnSpc>
              <a:buNone/>
            </a:pPr>
            <a:r>
              <a:rPr lang="en-US" sz="1450" b="1" dirty="0">
                <a:solidFill>
                  <a:srgbClr val="1A2332"/>
                </a:solidFill>
                <a:latin typeface="Calibri" pitchFamily="34" charset="0"/>
                <a:ea typeface="Calibri" pitchFamily="34" charset="-122"/>
                <a:cs typeface="Calibri" pitchFamily="34" charset="-120"/>
              </a:rPr>
              <a:t>The WSM Barn Dance beamed the Opry across the country, and record sales carried the blues far beyond the South. Radio and records did the spreading.</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lstStyle/>
          <a:p>
            <a:endParaRPr lang="en-US"/>
          </a:p>
        </p:txBody>
      </p:sp>
      <p:sp>
        <p:nvSpPr>
          <p:cNvPr id="13" name="Text 11"/>
          <p:cNvSpPr/>
          <p:nvPr/>
        </p:nvSpPr>
        <p:spPr>
          <a:xfrm>
            <a:off x="822960" y="4407408"/>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marL="0" indent="0">
              <a:lnSpc>
                <a:spcPct val="106000"/>
              </a:lnSpc>
              <a:buNone/>
            </a:pPr>
            <a:r>
              <a:rPr lang="en-US" sz="1300" i="1" dirty="0">
                <a:solidFill>
                  <a:srgbClr val="1F2430"/>
                </a:solidFill>
                <a:latin typeface="Calibri" pitchFamily="34" charset="0"/>
                <a:ea typeface="Calibri" pitchFamily="34" charset="-122"/>
                <a:cs typeface="Calibri" pitchFamily="34" charset="-120"/>
              </a:rPr>
              <a:t>Find the Tennessee connection (the Grand Ole Opry) and mark it.</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marL="0" indent="0">
              <a:buNone/>
            </a:pPr>
            <a:r>
              <a:rPr lang="en-US" sz="1200" b="1" dirty="0">
                <a:solidFill>
                  <a:srgbClr val="1A2332"/>
                </a:solidFill>
                <a:latin typeface="Calibri" pitchFamily="34" charset="0"/>
                <a:ea typeface="Calibri" pitchFamily="34" charset="-122"/>
                <a:cs typeface="Calibri" pitchFamily="34" charset="-120"/>
              </a:rPr>
              <a:t>→ Now you try:  </a:t>
            </a:r>
            <a:r>
              <a:rPr lang="en-US" sz="1200" i="1" dirty="0">
                <a:solidFill>
                  <a:srgbClr val="002858"/>
                </a:solidFill>
                <a:latin typeface="Calibri" pitchFamily="34" charset="0"/>
                <a:ea typeface="Calibri" pitchFamily="34" charset="-122"/>
                <a:cs typeface="Calibri" pitchFamily="34" charset="-120"/>
              </a:rPr>
              <a:t>Name one artist and explain how technology grew that artist's audience.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marL="0" indent="0">
              <a:buNone/>
            </a:pPr>
            <a:r>
              <a:rPr lang="en-US" sz="2200" b="1" dirty="0">
                <a:solidFill>
                  <a:srgbClr val="1A2332"/>
                </a:solidFill>
                <a:latin typeface="Georgia" pitchFamily="34" charset="0"/>
                <a:ea typeface="Georgia" pitchFamily="34" charset="-122"/>
                <a:cs typeface="Georgia" pitchFamily="34" charset="-120"/>
              </a:rPr>
              <a:t>From the Hills to the Airwaves — Blues and Country Roots</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txBody>
          <a:bodyPr/>
          <a:lstStyle/>
          <a:p>
            <a:endParaRPr lang="en-US"/>
          </a:p>
        </p:txBody>
      </p:sp>
      <p:sp>
        <p:nvSpPr>
          <p:cNvPr id="6" name="Text 4"/>
          <p:cNvSpPr/>
          <p:nvPr/>
        </p:nvSpPr>
        <p:spPr>
          <a:xfrm>
            <a:off x="548640" y="1591056"/>
            <a:ext cx="1199693"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txBody>
          <a:bodyPr/>
          <a:lstStyle/>
          <a:p>
            <a:endParaRPr lang="en-US"/>
          </a:p>
        </p:txBody>
      </p:sp>
      <p:sp>
        <p:nvSpPr>
          <p:cNvPr id="8" name="Text 6"/>
          <p:cNvSpPr/>
          <p:nvPr/>
        </p:nvSpPr>
        <p:spPr>
          <a:xfrm>
            <a:off x="1912925" y="1591056"/>
            <a:ext cx="779069"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lstStyle/>
          <a:p>
            <a:endParaRPr lang="en-US"/>
          </a:p>
        </p:txBody>
      </p:sp>
      <p:sp>
        <p:nvSpPr>
          <p:cNvPr id="10" name="Text 8"/>
          <p:cNvSpPr/>
          <p:nvPr/>
        </p:nvSpPr>
        <p:spPr>
          <a:xfrm>
            <a:off x="822960" y="2194560"/>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marL="0" indent="0">
              <a:lnSpc>
                <a:spcPct val="112000"/>
              </a:lnSpc>
              <a:buNone/>
            </a:pPr>
            <a:r>
              <a:rPr lang="en-US" sz="1350" dirty="0">
                <a:solidFill>
                  <a:srgbClr val="1F2430"/>
                </a:solidFill>
                <a:latin typeface="Calibri" pitchFamily="34" charset="0"/>
                <a:ea typeface="Calibri" pitchFamily="34" charset="-122"/>
                <a:cs typeface="Calibri" pitchFamily="34" charset="-120"/>
              </a:rPr>
              <a:t>Read the W.C. Handy excerpt and the Bessie Smith record-sales report. Build a chart tracing how Southern folk music (blues and country) became a national industry: identify (1) where the music came from, (2) the technology that spread it (radio, records, the Grand Ole Opry), and (3) one key figure and their contribution. End with a one-sentence claim on how much credit Black musicians deserve for shaping American popular music.</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lstStyle/>
          <a:p>
            <a:endParaRPr lang="en-US"/>
          </a:p>
        </p:txBody>
      </p:sp>
      <p:pic>
        <p:nvPicPr>
          <p:cNvPr id="13" name="Image 0" descr="unit4-full/img/bessie-smith-empress-of-the-blues.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62370" y="2057400"/>
            <a:ext cx="13233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marL="0" indent="0" algn="l">
              <a:lnSpc>
                <a:spcPct val="100000"/>
              </a:lnSpc>
              <a:buNone/>
            </a:pPr>
            <a:r>
              <a:rPr lang="en-US" sz="750" i="1" dirty="0">
                <a:solidFill>
                  <a:srgbClr val="5C6470"/>
                </a:solidFill>
                <a:latin typeface="Calibri" pitchFamily="34" charset="0"/>
                <a:ea typeface="Calibri" pitchFamily="34" charset="-122"/>
                <a:cs typeface="Calibri" pitchFamily="34" charset="-120"/>
              </a:rPr>
              <a:t>Carl Van Vechten / Library of Congress, Prints and Photographs Division, c1936  </a:t>
            </a:r>
            <a:r>
              <a:rPr lang="en-US" sz="75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lstStyle/>
          <a:p>
            <a:endParaRPr lang="en-US"/>
          </a:p>
        </p:txBody>
      </p:sp>
      <p:sp>
        <p:nvSpPr>
          <p:cNvPr id="16" name="Text 13"/>
          <p:cNvSpPr/>
          <p:nvPr/>
        </p:nvSpPr>
        <p:spPr>
          <a:xfrm>
            <a:off x="777240" y="4645152"/>
            <a:ext cx="4572000" cy="274320"/>
          </a:xfrm>
          <a:prstGeom prst="rect">
            <a:avLst/>
          </a:prstGeom>
          <a:noFill/>
          <a:ln/>
        </p:spPr>
        <p:txBody>
          <a:bodyPr wrap="square" rtlCol="0" anchor="ctr"/>
          <a:lstStyle/>
          <a:p>
            <a:pPr marL="0" indent="0">
              <a:buNone/>
            </a:pPr>
            <a:r>
              <a:rPr lang="en-US" sz="1050" b="1" kern="0" spc="20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normAutofit/>
          </a:bodyPr>
          <a:lstStyle/>
          <a:p>
            <a:pPr marL="0" indent="0">
              <a:lnSpc>
                <a:spcPct val="103000"/>
              </a:lnSpc>
              <a:buNone/>
            </a:pPr>
            <a:r>
              <a:rPr lang="en-US" sz="1250" dirty="0">
                <a:solidFill>
                  <a:srgbClr val="FFFFFF"/>
                </a:solidFill>
                <a:latin typeface="Calibri" pitchFamily="34" charset="0"/>
                <a:ea typeface="Calibri" pitchFamily="34" charset="-122"/>
                <a:cs typeface="Calibri" pitchFamily="34" charset="-120"/>
              </a:rPr>
              <a:t>Completed roots-to-industry chart (origin, technology, key figure) AND a one-sentence evidence-based claim.</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lstStyle/>
          <a:p>
            <a:endParaRPr lang="en-US"/>
          </a:p>
        </p:txBody>
      </p:sp>
      <p:sp>
        <p:nvSpPr>
          <p:cNvPr id="19" name="Text 16"/>
          <p:cNvSpPr/>
          <p:nvPr/>
        </p:nvSpPr>
        <p:spPr>
          <a:xfrm>
            <a:off x="6400800" y="4645152"/>
            <a:ext cx="4572000" cy="274320"/>
          </a:xfrm>
          <a:prstGeom prst="rect">
            <a:avLst/>
          </a:prstGeom>
          <a:noFill/>
          <a:ln/>
        </p:spPr>
        <p:txBody>
          <a:bodyPr wrap="square" rtlCol="0" anchor="ctr"/>
          <a:lstStyle/>
          <a:p>
            <a:pPr marL="0" indent="0">
              <a:buNone/>
            </a:pPr>
            <a:r>
              <a:rPr lang="en-US" sz="1050" b="1" kern="0" spc="20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20" name="Text 17"/>
          <p:cNvSpPr/>
          <p:nvPr/>
        </p:nvSpPr>
        <p:spPr>
          <a:xfrm>
            <a:off x="6400800" y="4919472"/>
            <a:ext cx="5029200" cy="868680"/>
          </a:xfrm>
          <a:prstGeom prst="rect">
            <a:avLst/>
          </a:prstGeom>
          <a:noFill/>
          <a:ln/>
        </p:spPr>
        <p:txBody>
          <a:bodyPr wrap="square" rtlCol="0" anchor="t">
            <a:normAutofit/>
          </a:bodyPr>
          <a:lstStyle/>
          <a:p>
            <a:pPr marL="0" indent="0">
              <a:lnSpc>
                <a:spcPct val="103000"/>
              </a:lnSpc>
              <a:buNone/>
            </a:pPr>
            <a:r>
              <a:rPr lang="en-US" sz="1000" dirty="0">
                <a:solidFill>
                  <a:srgbClr val="1F2430"/>
                </a:solidFill>
                <a:latin typeface="Calibri" pitchFamily="34" charset="0"/>
                <a:ea typeface="Calibri" pitchFamily="34" charset="-122"/>
                <a:cs typeface="Calibri" pitchFamily="34" charset="-120"/>
              </a:rPr>
              <a:t>Entry: Chart with the three categories pre-labeled and a fact bank to place. Honors: Write a paragraph explaining how the Grand Ole Opry made Nashville the capital of country music, using one detail from the notes.</a:t>
            </a:r>
            <a:endParaRPr lang="en-US" sz="1000" dirty="0"/>
          </a:p>
        </p:txBody>
      </p:sp>
      <p:sp>
        <p:nvSpPr>
          <p:cNvPr id="21" name="Text 18"/>
          <p:cNvSpPr/>
          <p:nvPr/>
        </p:nvSpPr>
        <p:spPr>
          <a:xfrm>
            <a:off x="548640" y="5943600"/>
            <a:ext cx="11064240" cy="320040"/>
          </a:xfrm>
          <a:prstGeom prst="rect">
            <a:avLst/>
          </a:prstGeom>
          <a:noFill/>
          <a:ln/>
        </p:spPr>
        <p:txBody>
          <a:bodyPr wrap="square" rtlCol="0" anchor="ctr"/>
          <a:lstStyle/>
          <a:p>
            <a:pPr marL="0" indent="0">
              <a:buNone/>
            </a:pPr>
            <a:r>
              <a:rPr lang="en-US" sz="1050" b="1" dirty="0">
                <a:solidFill>
                  <a:srgbClr val="1A2332"/>
                </a:solidFill>
                <a:latin typeface="Calibri" pitchFamily="34" charset="0"/>
                <a:ea typeface="Calibri" pitchFamily="34" charset="-122"/>
                <a:cs typeface="Calibri" pitchFamily="34" charset="-120"/>
              </a:rPr>
              <a:t>Companion printable:  </a:t>
            </a:r>
            <a:r>
              <a:rPr lang="en-US" sz="1050" i="1" dirty="0">
                <a:solidFill>
                  <a:srgbClr val="002858"/>
                </a:solidFill>
                <a:latin typeface="Calibri" pitchFamily="34" charset="0"/>
                <a:ea typeface="Calibri" pitchFamily="34" charset="-122"/>
                <a:cs typeface="Calibri" pitchFamily="34" charset="-120"/>
              </a:rPr>
              <a:t>cornell-notes/unit-4/us30-blues-country-opry.pdf</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US.30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lstStyle/>
          <a:p>
            <a:endParaRPr lang="en-US"/>
          </a:p>
        </p:txBody>
      </p:sp>
      <p:sp>
        <p:nvSpPr>
          <p:cNvPr id="6" name="Text 4"/>
          <p:cNvSpPr/>
          <p:nvPr/>
        </p:nvSpPr>
        <p:spPr>
          <a:xfrm>
            <a:off x="7635240" y="822960"/>
            <a:ext cx="1143000" cy="457200"/>
          </a:xfrm>
          <a:prstGeom prst="rect">
            <a:avLst/>
          </a:prstGeom>
          <a:noFill/>
          <a:ln/>
        </p:spPr>
        <p:txBody>
          <a:bodyPr wrap="square" rtlCol="0" anchor="ctr"/>
          <a:lstStyle/>
          <a:p>
            <a:pPr marL="0" indent="0" algn="ctr">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lstStyle/>
          <a:p>
            <a:endParaRPr lang="en-US"/>
          </a:p>
        </p:txBody>
      </p:sp>
      <p:sp>
        <p:nvSpPr>
          <p:cNvPr id="8" name="Text 6"/>
          <p:cNvSpPr/>
          <p:nvPr/>
        </p:nvSpPr>
        <p:spPr>
          <a:xfrm>
            <a:off x="8869680" y="822960"/>
            <a:ext cx="274320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lstStyle/>
          <a:p>
            <a:endParaRPr lang="en-US"/>
          </a:p>
        </p:txBody>
      </p:sp>
      <p:sp>
        <p:nvSpPr>
          <p:cNvPr id="10" name="Text 8"/>
          <p:cNvSpPr/>
          <p:nvPr/>
        </p:nvSpPr>
        <p:spPr>
          <a:xfrm>
            <a:off x="822960" y="1691640"/>
            <a:ext cx="10515600" cy="777240"/>
          </a:xfrm>
          <a:prstGeom prst="rect">
            <a:avLst/>
          </a:prstGeom>
          <a:noFill/>
          <a:ln/>
        </p:spPr>
        <p:txBody>
          <a:bodyPr wrap="square" rtlCol="0" anchor="ctr"/>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According to W.C. Handy, what was his contribution to American music?</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2" name="Shape 10"/>
          <p:cNvSpPr/>
          <p:nvPr/>
        </p:nvSpPr>
        <p:spPr>
          <a:xfrm>
            <a:off x="713232" y="2889504"/>
            <a:ext cx="365760" cy="365760"/>
          </a:xfrm>
          <a:prstGeom prst="ellipse">
            <a:avLst/>
          </a:prstGeom>
          <a:solidFill>
            <a:srgbClr val="1A2332"/>
          </a:solidFill>
          <a:ln/>
        </p:spPr>
        <p:txBody>
          <a:bodyPr/>
          <a:lstStyle/>
          <a:p>
            <a:endParaRPr lang="en-US"/>
          </a:p>
        </p:txBody>
      </p:sp>
      <p:sp>
        <p:nvSpPr>
          <p:cNvPr id="13" name="Text 11"/>
          <p:cNvSpPr/>
          <p:nvPr/>
        </p:nvSpPr>
        <p:spPr>
          <a:xfrm>
            <a:off x="713232" y="2889504"/>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He invented the blues as an entirely new musical form</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6" name="Shape 14"/>
          <p:cNvSpPr/>
          <p:nvPr/>
        </p:nvSpPr>
        <p:spPr>
          <a:xfrm>
            <a:off x="713232" y="3639312"/>
            <a:ext cx="365760" cy="365760"/>
          </a:xfrm>
          <a:prstGeom prst="ellipse">
            <a:avLst/>
          </a:prstGeom>
          <a:solidFill>
            <a:srgbClr val="1A2332"/>
          </a:solidFill>
          <a:ln/>
        </p:spPr>
        <p:txBody>
          <a:bodyPr/>
          <a:lstStyle/>
          <a:p>
            <a:endParaRPr lang="en-US"/>
          </a:p>
        </p:txBody>
      </p:sp>
      <p:sp>
        <p:nvSpPr>
          <p:cNvPr id="17" name="Text 15"/>
          <p:cNvSpPr/>
          <p:nvPr/>
        </p:nvSpPr>
        <p:spPr>
          <a:xfrm>
            <a:off x="713232" y="3639312"/>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He was the first to formally write down and publish blues music</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0" name="Shape 18"/>
          <p:cNvSpPr/>
          <p:nvPr/>
        </p:nvSpPr>
        <p:spPr>
          <a:xfrm>
            <a:off x="713232" y="4389120"/>
            <a:ext cx="365760" cy="365760"/>
          </a:xfrm>
          <a:prstGeom prst="ellipse">
            <a:avLst/>
          </a:prstGeom>
          <a:solidFill>
            <a:srgbClr val="1A2332"/>
          </a:solidFill>
          <a:ln/>
        </p:spPr>
        <p:txBody>
          <a:bodyPr/>
          <a:lstStyle/>
          <a:p>
            <a:endParaRPr lang="en-US"/>
          </a:p>
        </p:txBody>
      </p:sp>
      <p:sp>
        <p:nvSpPr>
          <p:cNvPr id="21" name="Text 19"/>
          <p:cNvSpPr/>
          <p:nvPr/>
        </p:nvSpPr>
        <p:spPr>
          <a:xfrm>
            <a:off x="713232" y="4389120"/>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He performed only in Memphis and refused to travel</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4" name="Shape 22"/>
          <p:cNvSpPr/>
          <p:nvPr/>
        </p:nvSpPr>
        <p:spPr>
          <a:xfrm>
            <a:off x="713232" y="5138928"/>
            <a:ext cx="365760" cy="365760"/>
          </a:xfrm>
          <a:prstGeom prst="ellipse">
            <a:avLst/>
          </a:prstGeom>
          <a:solidFill>
            <a:srgbClr val="1A2332"/>
          </a:solidFill>
          <a:ln/>
        </p:spPr>
        <p:txBody>
          <a:bodyPr/>
          <a:lstStyle/>
          <a:p>
            <a:endParaRPr lang="en-US"/>
          </a:p>
        </p:txBody>
      </p:sp>
      <p:sp>
        <p:nvSpPr>
          <p:cNvPr id="25" name="Text 23"/>
          <p:cNvSpPr/>
          <p:nvPr/>
        </p:nvSpPr>
        <p:spPr>
          <a:xfrm>
            <a:off x="713232" y="5138928"/>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He rejected traditional African American musical influences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lstStyle/>
          <a:p>
            <a:endParaRPr lang="en-US"/>
          </a:p>
        </p:txBody>
      </p:sp>
      <p:sp>
        <p:nvSpPr>
          <p:cNvPr id="28" name="Text 26"/>
          <p:cNvSpPr/>
          <p:nvPr/>
        </p:nvSpPr>
        <p:spPr>
          <a:xfrm>
            <a:off x="822960" y="5715000"/>
            <a:ext cx="10515600" cy="502920"/>
          </a:xfrm>
          <a:prstGeom prst="rect">
            <a:avLst/>
          </a:prstGeom>
          <a:noFill/>
          <a:ln/>
        </p:spPr>
        <p:txBody>
          <a:bodyPr wrap="square" rtlCol="0" anchor="ctr"/>
          <a:lstStyle/>
          <a:p>
            <a:pPr marL="0" indent="0">
              <a:buNone/>
            </a:pPr>
            <a:r>
              <a:rPr lang="en-US" sz="1200" b="1" i="1" kern="0" spc="100" dirty="0">
                <a:solidFill>
                  <a:srgbClr val="F9A825"/>
                </a:solidFill>
                <a:latin typeface="Trebuchet MS" pitchFamily="34" charset="0"/>
                <a:ea typeface="Trebuchet MS" pitchFamily="34" charset="-122"/>
                <a:cs typeface="Trebuchet MS" pitchFamily="34" charset="-120"/>
              </a:rPr>
              <a:t>ANSWER FIRST:  </a:t>
            </a: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US.30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lstStyle/>
          <a:p>
            <a:endParaRPr lang="en-US"/>
          </a:p>
        </p:txBody>
      </p:sp>
      <p:sp>
        <p:nvSpPr>
          <p:cNvPr id="6" name="Text 4"/>
          <p:cNvSpPr/>
          <p:nvPr/>
        </p:nvSpPr>
        <p:spPr>
          <a:xfrm>
            <a:off x="8595360" y="822960"/>
            <a:ext cx="301752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731520"/>
          </a:xfrm>
          <a:prstGeom prst="rect">
            <a:avLst/>
          </a:prstGeom>
          <a:noFill/>
          <a:ln/>
        </p:spPr>
        <p:txBody>
          <a:bodyPr wrap="square" rtlCol="0" anchor="ctr"/>
          <a:lstStyle/>
          <a:p>
            <a:pPr marL="0" indent="0">
              <a:lnSpc>
                <a:spcPct val="102000"/>
              </a:lnSpc>
              <a:buNone/>
            </a:pPr>
            <a:r>
              <a:rPr lang="en-US" sz="1500" b="1" dirty="0">
                <a:solidFill>
                  <a:srgbClr val="FFFFFF"/>
                </a:solidFill>
                <a:latin typeface="Calibri" pitchFamily="34" charset="0"/>
                <a:ea typeface="Calibri" pitchFamily="34" charset="-122"/>
                <a:cs typeface="Calibri" pitchFamily="34" charset="-120"/>
              </a:rPr>
              <a:t>According to W.C. Handy, what was his contribution to American music?</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0" name="Shape 8"/>
          <p:cNvSpPr/>
          <p:nvPr/>
        </p:nvSpPr>
        <p:spPr>
          <a:xfrm>
            <a:off x="713232" y="2761488"/>
            <a:ext cx="347472" cy="347472"/>
          </a:xfrm>
          <a:prstGeom prst="ellipse">
            <a:avLst/>
          </a:prstGeom>
          <a:solidFill>
            <a:srgbClr val="1A2332"/>
          </a:solidFill>
          <a:ln/>
        </p:spPr>
        <p:txBody>
          <a:bodyPr/>
          <a:lstStyle/>
          <a:p>
            <a:endParaRPr lang="en-US"/>
          </a:p>
        </p:txBody>
      </p:sp>
      <p:sp>
        <p:nvSpPr>
          <p:cNvPr id="11" name="Text 9"/>
          <p:cNvSpPr/>
          <p:nvPr/>
        </p:nvSpPr>
        <p:spPr>
          <a:xfrm>
            <a:off x="713232" y="2761488"/>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He invented the blues as an entirely new musical form</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txBody>
          <a:bodyPr/>
          <a:lstStyle/>
          <a:p>
            <a:endParaRPr lang="en-US"/>
          </a:p>
        </p:txBody>
      </p:sp>
      <p:sp>
        <p:nvSpPr>
          <p:cNvPr id="14" name="Shape 12"/>
          <p:cNvSpPr/>
          <p:nvPr/>
        </p:nvSpPr>
        <p:spPr>
          <a:xfrm>
            <a:off x="713232" y="3419856"/>
            <a:ext cx="347472" cy="347472"/>
          </a:xfrm>
          <a:prstGeom prst="ellipse">
            <a:avLst/>
          </a:prstGeom>
          <a:solidFill>
            <a:srgbClr val="1A2332"/>
          </a:solidFill>
          <a:ln/>
        </p:spPr>
        <p:txBody>
          <a:bodyPr/>
          <a:lstStyle/>
          <a:p>
            <a:endParaRPr lang="en-US"/>
          </a:p>
        </p:txBody>
      </p:sp>
      <p:sp>
        <p:nvSpPr>
          <p:cNvPr id="15" name="Text 13"/>
          <p:cNvSpPr/>
          <p:nvPr/>
        </p:nvSpPr>
        <p:spPr>
          <a:xfrm>
            <a:off x="713232" y="3419856"/>
            <a:ext cx="347472" cy="347472"/>
          </a:xfrm>
          <a:prstGeom prst="rect">
            <a:avLst/>
          </a:prstGeom>
          <a:noFill/>
          <a:ln/>
        </p:spPr>
        <p:txBody>
          <a:bodyPr wrap="square" rtlCol="0" anchor="ctr"/>
          <a:lstStyle/>
          <a:p>
            <a:pPr marL="0" indent="0" algn="ctr">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marL="0" indent="0">
              <a:lnSpc>
                <a:spcPct val="100000"/>
              </a:lnSpc>
              <a:buNone/>
            </a:pPr>
            <a:r>
              <a:rPr lang="en-US" sz="1300" b="1" dirty="0">
                <a:solidFill>
                  <a:srgbClr val="1A2332"/>
                </a:solidFill>
                <a:latin typeface="Calibri" pitchFamily="34" charset="0"/>
                <a:ea typeface="Calibri" pitchFamily="34" charset="-122"/>
                <a:cs typeface="Calibri" pitchFamily="34" charset="-120"/>
              </a:rPr>
              <a:t>He was the first to formally write down and publish blues music</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marL="0" indent="0" algn="ctr">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9" name="Shape 17"/>
          <p:cNvSpPr/>
          <p:nvPr/>
        </p:nvSpPr>
        <p:spPr>
          <a:xfrm>
            <a:off x="713232" y="4078224"/>
            <a:ext cx="347472" cy="347472"/>
          </a:xfrm>
          <a:prstGeom prst="ellipse">
            <a:avLst/>
          </a:prstGeom>
          <a:solidFill>
            <a:srgbClr val="1A2332"/>
          </a:solidFill>
          <a:ln/>
        </p:spPr>
        <p:txBody>
          <a:bodyPr/>
          <a:lstStyle/>
          <a:p>
            <a:endParaRPr lang="en-US"/>
          </a:p>
        </p:txBody>
      </p:sp>
      <p:sp>
        <p:nvSpPr>
          <p:cNvPr id="20" name="Text 18"/>
          <p:cNvSpPr/>
          <p:nvPr/>
        </p:nvSpPr>
        <p:spPr>
          <a:xfrm>
            <a:off x="713232" y="4078224"/>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He performed only in Memphis and refused to travel</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23" name="Shape 21"/>
          <p:cNvSpPr/>
          <p:nvPr/>
        </p:nvSpPr>
        <p:spPr>
          <a:xfrm>
            <a:off x="713232" y="4736592"/>
            <a:ext cx="347472" cy="347472"/>
          </a:xfrm>
          <a:prstGeom prst="ellipse">
            <a:avLst/>
          </a:prstGeom>
          <a:solidFill>
            <a:srgbClr val="1A2332"/>
          </a:solidFill>
          <a:ln/>
        </p:spPr>
        <p:txBody>
          <a:bodyPr/>
          <a:lstStyle/>
          <a:p>
            <a:endParaRPr lang="en-US"/>
          </a:p>
        </p:txBody>
      </p:sp>
      <p:sp>
        <p:nvSpPr>
          <p:cNvPr id="24" name="Text 22"/>
          <p:cNvSpPr/>
          <p:nvPr/>
        </p:nvSpPr>
        <p:spPr>
          <a:xfrm>
            <a:off x="713232" y="4736592"/>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He rejected traditional African American musical influences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lstStyle/>
          <a:p>
            <a:endParaRPr lang="en-US"/>
          </a:p>
        </p:txBody>
      </p:sp>
      <p:sp>
        <p:nvSpPr>
          <p:cNvPr id="27" name="Text 25"/>
          <p:cNvSpPr/>
          <p:nvPr/>
        </p:nvSpPr>
        <p:spPr>
          <a:xfrm>
            <a:off x="822960" y="5532120"/>
            <a:ext cx="10515600" cy="713232"/>
          </a:xfrm>
          <a:prstGeom prst="rect">
            <a:avLst/>
          </a:prstGeom>
          <a:noFill/>
          <a:ln/>
        </p:spPr>
        <p:txBody>
          <a:bodyPr wrap="square" rtlCol="0" anchor="ctr"/>
          <a:lstStyle/>
          <a:p>
            <a:pPr marL="0" indent="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Why: </a:t>
            </a:r>
            <a:r>
              <a:rPr lang="en-US" sz="1150" dirty="0">
                <a:solidFill>
                  <a:srgbClr val="C7D4E0"/>
                </a:solidFill>
                <a:latin typeface="Calibri" pitchFamily="34" charset="0"/>
                <a:ea typeface="Calibri" pitchFamily="34" charset="-122"/>
                <a:cs typeface="Calibri" pitchFamily="34" charset="-120"/>
              </a:rPr>
              <a:t>Handy states "These were the first blues to be written down and published" and that he "wanted to capture on paper" folk music previously "passed along by ear."</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US.30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marL="0" indent="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lstStyle/>
          <a:p>
            <a:endParaRPr lang="en-US"/>
          </a:p>
        </p:txBody>
      </p:sp>
      <p:sp>
        <p:nvSpPr>
          <p:cNvPr id="6" name="Text 4"/>
          <p:cNvSpPr/>
          <p:nvPr/>
        </p:nvSpPr>
        <p:spPr>
          <a:xfrm>
            <a:off x="868680" y="1847088"/>
            <a:ext cx="5486400" cy="320040"/>
          </a:xfrm>
          <a:prstGeom prst="rect">
            <a:avLst/>
          </a:prstGeom>
          <a:noFill/>
          <a:ln/>
        </p:spPr>
        <p:txBody>
          <a:bodyPr wrap="square" rtlCol="0" anchor="ctr"/>
          <a:lstStyle/>
          <a:p>
            <a:pPr marL="0" indent="0">
              <a:buNone/>
            </a:pPr>
            <a:r>
              <a:rPr lang="en-US" sz="1200" b="1" kern="0" spc="20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Country Music Roots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Blues Music Evolution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Grand Ole Opry</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W.C. Handy (1873-1958): Father of the Blues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Bessie Smith (1894-1937): Empress of the Blues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lstStyle/>
          <a:p>
            <a:endParaRPr lang="en-US"/>
          </a:p>
        </p:txBody>
      </p:sp>
      <p:sp>
        <p:nvSpPr>
          <p:cNvPr id="9" name="Text 7"/>
          <p:cNvSpPr/>
          <p:nvPr/>
        </p:nvSpPr>
        <p:spPr>
          <a:xfrm>
            <a:off x="822960" y="4901184"/>
            <a:ext cx="6492240" cy="274320"/>
          </a:xfrm>
          <a:prstGeom prst="rect">
            <a:avLst/>
          </a:prstGeom>
          <a:noFill/>
          <a:ln/>
        </p:spPr>
        <p:txBody>
          <a:bodyPr wrap="square" rtlCol="0" anchor="ctr"/>
          <a:lstStyle/>
          <a:p>
            <a:pPr marL="0" indent="0">
              <a:buNone/>
            </a:pPr>
            <a:r>
              <a:rPr lang="en-US" sz="1100" b="1" kern="0" spc="100" dirty="0">
                <a:solidFill>
                  <a:srgbClr val="7A5C12"/>
                </a:solidFill>
                <a:latin typeface="Trebuchet MS" pitchFamily="34" charset="0"/>
                <a:ea typeface="Trebuchet MS" pitchFamily="34" charset="-122"/>
                <a:cs typeface="Trebuchet MS" pitchFamily="34" charset="-120"/>
              </a:rPr>
              <a:t>★ HONORS / EXTENSION  </a:t>
            </a: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marL="0" indent="0">
              <a:lnSpc>
                <a:spcPct val="98000"/>
              </a:lnSpc>
              <a:buNone/>
            </a:pPr>
            <a:r>
              <a:rPr lang="en-US" sz="1050" i="1" dirty="0">
                <a:solidFill>
                  <a:srgbClr val="1F2430"/>
                </a:solidFill>
                <a:latin typeface="Calibri" pitchFamily="34" charset="0"/>
                <a:ea typeface="Calibri" pitchFamily="34" charset="-122"/>
                <a:cs typeface="Calibri" pitchFamily="34" charset="-120"/>
              </a:rPr>
              <a:t>Evaluate: How much credit should Black musicians like W.C. Handy and Bessie Smith receive for shaping American popular music in the 1920s? Defend your claim with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lstStyle/>
          <a:p>
            <a:endParaRPr lang="en-US"/>
          </a:p>
        </p:txBody>
      </p:sp>
      <p:sp>
        <p:nvSpPr>
          <p:cNvPr id="12" name="Text 10"/>
          <p:cNvSpPr/>
          <p:nvPr/>
        </p:nvSpPr>
        <p:spPr>
          <a:xfrm>
            <a:off x="8092440" y="1920240"/>
            <a:ext cx="2286000" cy="320040"/>
          </a:xfrm>
          <a:prstGeom prst="rect">
            <a:avLst/>
          </a:prstGeom>
          <a:noFill/>
          <a:ln/>
        </p:spPr>
        <p:txBody>
          <a:bodyPr wrap="square" rtlCol="0" anchor="ctr"/>
          <a:lstStyle/>
          <a:p>
            <a:pPr marL="0" indent="0">
              <a:buNone/>
            </a:pPr>
            <a:r>
              <a:rPr lang="en-US" sz="1200" b="1" kern="0" spc="20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lstStyle/>
          <a:p>
            <a:endParaRPr lang="en-US"/>
          </a:p>
        </p:txBody>
      </p:sp>
      <p:sp>
        <p:nvSpPr>
          <p:cNvPr id="14" name="Text 12"/>
          <p:cNvSpPr/>
          <p:nvPr/>
        </p:nvSpPr>
        <p:spPr>
          <a:xfrm>
            <a:off x="10378440" y="1883664"/>
            <a:ext cx="960120" cy="365760"/>
          </a:xfrm>
          <a:prstGeom prst="rect">
            <a:avLst/>
          </a:prstGeom>
          <a:noFill/>
          <a:ln/>
        </p:spPr>
        <p:txBody>
          <a:bodyPr wrap="square" rtlCol="0" anchor="ctr"/>
          <a:lstStyle/>
          <a:p>
            <a:pPr marL="0" indent="0" algn="ctr">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Explain how blues and country music of the 1920s both grew out of Southern life and became national industries. Use one figure as evidence.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lstStyle/>
          <a:p>
            <a:endParaRPr lang="en-US"/>
          </a:p>
        </p:txBody>
      </p:sp>
      <p:sp>
        <p:nvSpPr>
          <p:cNvPr id="17" name="Shape 15"/>
          <p:cNvSpPr/>
          <p:nvPr/>
        </p:nvSpPr>
        <p:spPr>
          <a:xfrm>
            <a:off x="8138160" y="5074920"/>
            <a:ext cx="3108960" cy="0"/>
          </a:xfrm>
          <a:prstGeom prst="line">
            <a:avLst/>
          </a:prstGeom>
          <a:noFill/>
          <a:ln w="12700">
            <a:solidFill>
              <a:srgbClr val="A7BACB"/>
            </a:solidFill>
            <a:prstDash val="dash"/>
          </a:ln>
        </p:spPr>
        <p:txBody>
          <a:bodyPr/>
          <a:lstStyle/>
          <a:p>
            <a:endParaRPr lang="en-US"/>
          </a:p>
        </p:txBody>
      </p:sp>
      <p:sp>
        <p:nvSpPr>
          <p:cNvPr id="18" name="Shape 16"/>
          <p:cNvSpPr/>
          <p:nvPr/>
        </p:nvSpPr>
        <p:spPr>
          <a:xfrm>
            <a:off x="8138160" y="5623560"/>
            <a:ext cx="3108960" cy="0"/>
          </a:xfrm>
          <a:prstGeom prst="line">
            <a:avLst/>
          </a:prstGeom>
          <a:noFill/>
          <a:ln w="12700">
            <a:solidFill>
              <a:srgbClr val="A7BACB"/>
            </a:solidFill>
            <a:prstDash val="dash"/>
          </a:ln>
        </p:spPr>
        <p:txBody>
          <a:bodyPr/>
          <a:lstStyle/>
          <a:p>
            <a:endParaRPr lang="en-US"/>
          </a:p>
        </p:txBody>
      </p:sp>
      <p:sp>
        <p:nvSpPr>
          <p:cNvPr id="20" name="Text 1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lstStyle/>
          <a:p>
            <a:endParaRPr lang="en-US"/>
          </a:p>
        </p:txBody>
      </p:sp>
      <p:sp>
        <p:nvSpPr>
          <p:cNvPr id="3" name="Shape 1"/>
          <p:cNvSpPr/>
          <p:nvPr/>
        </p:nvSpPr>
        <p:spPr>
          <a:xfrm>
            <a:off x="320040" y="0"/>
            <a:ext cx="109728" cy="6858000"/>
          </a:xfrm>
          <a:prstGeom prst="rect">
            <a:avLst/>
          </a:prstGeom>
          <a:solidFill>
            <a:srgbClr val="C9A84C"/>
          </a:solidFill>
          <a:ln/>
        </p:spPr>
        <p:txBody>
          <a:bodyPr/>
          <a:lstStyle/>
          <a:p>
            <a:endParaRPr lang="en-US"/>
          </a:p>
        </p:txBody>
      </p:sp>
      <p:sp>
        <p:nvSpPr>
          <p:cNvPr id="4" name="Text 2"/>
          <p:cNvSpPr/>
          <p:nvPr/>
        </p:nvSpPr>
        <p:spPr>
          <a:xfrm>
            <a:off x="914400" y="1005840"/>
            <a:ext cx="5486400" cy="365760"/>
          </a:xfrm>
          <a:prstGeom prst="rect">
            <a:avLst/>
          </a:prstGeom>
          <a:noFill/>
          <a:ln/>
        </p:spPr>
        <p:txBody>
          <a:bodyPr wrap="square" rtlCol="0" anchor="ctr"/>
          <a:lstStyle/>
          <a:p>
            <a:pPr marL="0" indent="0">
              <a:buNone/>
            </a:pPr>
            <a:r>
              <a:rPr lang="en-US" sz="1500" b="1" kern="0" spc="40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marL="0" indent="0">
              <a:buNone/>
            </a:pPr>
            <a:r>
              <a:rPr lang="en-US" sz="8800" b="1" dirty="0">
                <a:solidFill>
                  <a:srgbClr val="FFFFFF"/>
                </a:solidFill>
                <a:latin typeface="Georgia" pitchFamily="34" charset="0"/>
                <a:ea typeface="Georgia" pitchFamily="34" charset="-122"/>
                <a:cs typeface="Georgia" pitchFamily="34" charset="-120"/>
              </a:rPr>
              <a:t>US.31</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marL="0" indent="0">
              <a:lnSpc>
                <a:spcPct val="102000"/>
              </a:lnSpc>
              <a:buNone/>
            </a:pPr>
            <a:r>
              <a:rPr lang="en-US" sz="2400" i="1" dirty="0">
                <a:solidFill>
                  <a:srgbClr val="F9A825"/>
                </a:solidFill>
                <a:latin typeface="Georgia" pitchFamily="34" charset="0"/>
                <a:ea typeface="Georgia" pitchFamily="34" charset="-122"/>
                <a:cs typeface="Georgia" pitchFamily="34" charset="-120"/>
              </a:rPr>
              <a:t>New Technologies: Air Travel and Electricity</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marL="0" indent="0" algn="l">
              <a:buNone/>
            </a:pPr>
            <a:r>
              <a:rPr lang="en-US" sz="1100" b="1" kern="0" spc="20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lstStyle/>
          <a:p>
            <a:endParaRPr lang="en-US"/>
          </a:p>
        </p:txBody>
      </p:sp>
      <p:sp>
        <p:nvSpPr>
          <p:cNvPr id="9" name="Text 7"/>
          <p:cNvSpPr/>
          <p:nvPr/>
        </p:nvSpPr>
        <p:spPr>
          <a:xfrm>
            <a:off x="6812280" y="1417320"/>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lstStyle/>
          <a:p>
            <a:endParaRPr lang="en-US"/>
          </a:p>
        </p:txBody>
      </p:sp>
      <p:sp>
        <p:nvSpPr>
          <p:cNvPr id="12" name="Text 10"/>
          <p:cNvSpPr/>
          <p:nvPr/>
        </p:nvSpPr>
        <p:spPr>
          <a:xfrm>
            <a:off x="6812280" y="1755648"/>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lstStyle/>
          <a:p>
            <a:endParaRPr lang="en-US"/>
          </a:p>
        </p:txBody>
      </p:sp>
      <p:sp>
        <p:nvSpPr>
          <p:cNvPr id="15" name="Text 13"/>
          <p:cNvSpPr/>
          <p:nvPr/>
        </p:nvSpPr>
        <p:spPr>
          <a:xfrm>
            <a:off x="6812280" y="2093976"/>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lstStyle/>
          <a:p>
            <a:endParaRPr lang="en-US"/>
          </a:p>
        </p:txBody>
      </p:sp>
      <p:sp>
        <p:nvSpPr>
          <p:cNvPr id="18" name="Text 16"/>
          <p:cNvSpPr/>
          <p:nvPr/>
        </p:nvSpPr>
        <p:spPr>
          <a:xfrm>
            <a:off x="1143000" y="3913632"/>
            <a:ext cx="5486400" cy="274320"/>
          </a:xfrm>
          <a:prstGeom prst="rect">
            <a:avLst/>
          </a:prstGeom>
          <a:noFill/>
          <a:ln/>
        </p:spPr>
        <p:txBody>
          <a:bodyPr wrap="square" rtlCol="0" anchor="ctr"/>
          <a:lstStyle/>
          <a:p>
            <a:pPr marL="0" indent="0">
              <a:buNone/>
            </a:pPr>
            <a:r>
              <a:rPr lang="en-US" sz="1100" b="1" kern="0" spc="20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Describe the impact of new technologies of the era, including the advent of air travel and spread of electricity.</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lstStyle/>
          <a:p>
            <a:endParaRPr lang="en-US"/>
          </a:p>
        </p:txBody>
      </p:sp>
      <p:sp>
        <p:nvSpPr>
          <p:cNvPr id="21" name="Text 19"/>
          <p:cNvSpPr/>
          <p:nvPr/>
        </p:nvSpPr>
        <p:spPr>
          <a:xfrm>
            <a:off x="1143000" y="5230368"/>
            <a:ext cx="1828800" cy="292608"/>
          </a:xfrm>
          <a:prstGeom prst="rect">
            <a:avLst/>
          </a:prstGeom>
          <a:noFill/>
          <a:ln/>
        </p:spPr>
        <p:txBody>
          <a:bodyPr wrap="square" rtlCol="0" anchor="ctr"/>
          <a:lstStyle/>
          <a:p>
            <a:pPr marL="0" indent="0">
              <a:buNone/>
            </a:pPr>
            <a:r>
              <a:rPr lang="en-US" sz="1300" b="1" kern="0" spc="20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marL="0" indent="0">
              <a:lnSpc>
                <a:spcPct val="100000"/>
              </a:lnSpc>
              <a:buNone/>
            </a:pPr>
            <a:r>
              <a:rPr lang="en-US" sz="1350" b="1" dirty="0">
                <a:solidFill>
                  <a:srgbClr val="1A2332"/>
                </a:solidFill>
                <a:latin typeface="Calibri" pitchFamily="34" charset="0"/>
                <a:ea typeface="Calibri" pitchFamily="34" charset="-122"/>
                <a:cs typeface="Calibri" pitchFamily="34" charset="-120"/>
              </a:rPr>
              <a:t>I can describe the impact of new technologies of the era, including the advent of air travel and spread of electricity.</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lstStyle/>
          <a:p>
            <a:endParaRPr lang="en-US"/>
          </a:p>
        </p:txBody>
      </p:sp>
      <p:sp>
        <p:nvSpPr>
          <p:cNvPr id="7" name="Shape 5"/>
          <p:cNvSpPr/>
          <p:nvPr/>
        </p:nvSpPr>
        <p:spPr>
          <a:xfrm>
            <a:off x="548640" y="2057400"/>
            <a:ext cx="777240" cy="1234440"/>
          </a:xfrm>
          <a:prstGeom prst="rect">
            <a:avLst/>
          </a:prstGeom>
          <a:solidFill>
            <a:srgbClr val="1A2332"/>
          </a:solidFill>
          <a:ln/>
        </p:spPr>
        <p:txBody>
          <a:bodyPr/>
          <a:lstStyle/>
          <a:p>
            <a:endParaRPr lang="en-US"/>
          </a:p>
        </p:txBody>
      </p:sp>
      <p:sp>
        <p:nvSpPr>
          <p:cNvPr id="8" name="Text 6"/>
          <p:cNvSpPr/>
          <p:nvPr/>
        </p:nvSpPr>
        <p:spPr>
          <a:xfrm>
            <a:off x="548640" y="2057400"/>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US.30  </a:t>
            </a:r>
            <a:r>
              <a:rPr lang="en-US" sz="1350" dirty="0">
                <a:solidFill>
                  <a:srgbClr val="1F2430"/>
                </a:solidFill>
                <a:latin typeface="Calibri" pitchFamily="34" charset="0"/>
                <a:ea typeface="Calibri" pitchFamily="34" charset="-122"/>
                <a:cs typeface="Calibri" pitchFamily="34" charset="-120"/>
              </a:rPr>
              <a:t>What is the Grand Ole Opry and where did it begin?</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lstStyle/>
          <a:p>
            <a:endParaRPr lang="en-US"/>
          </a:p>
        </p:txBody>
      </p:sp>
      <p:sp>
        <p:nvSpPr>
          <p:cNvPr id="11" name="Shape 9"/>
          <p:cNvSpPr/>
          <p:nvPr/>
        </p:nvSpPr>
        <p:spPr>
          <a:xfrm>
            <a:off x="548640" y="3456432"/>
            <a:ext cx="777240" cy="1234440"/>
          </a:xfrm>
          <a:prstGeom prst="rect">
            <a:avLst/>
          </a:prstGeom>
          <a:solidFill>
            <a:srgbClr val="1A2332"/>
          </a:solidFill>
          <a:ln/>
        </p:spPr>
        <p:txBody>
          <a:bodyPr/>
          <a:lstStyle/>
          <a:p>
            <a:endParaRPr lang="en-US"/>
          </a:p>
        </p:txBody>
      </p:sp>
      <p:sp>
        <p:nvSpPr>
          <p:cNvPr id="12" name="Text 10"/>
          <p:cNvSpPr/>
          <p:nvPr/>
        </p:nvSpPr>
        <p:spPr>
          <a:xfrm>
            <a:off x="548640" y="3456432"/>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US.30  </a:t>
            </a:r>
            <a:r>
              <a:rPr lang="en-US" sz="1350" dirty="0">
                <a:solidFill>
                  <a:srgbClr val="1F2430"/>
                </a:solidFill>
                <a:latin typeface="Calibri" pitchFamily="34" charset="0"/>
                <a:ea typeface="Calibri" pitchFamily="34" charset="-122"/>
                <a:cs typeface="Calibri" pitchFamily="34" charset="-120"/>
              </a:rPr>
              <a:t>Who was W.C. Handy?</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lstStyle/>
          <a:p>
            <a:endParaRPr lang="en-US"/>
          </a:p>
        </p:txBody>
      </p:sp>
      <p:sp>
        <p:nvSpPr>
          <p:cNvPr id="6" name="Text 4"/>
          <p:cNvSpPr/>
          <p:nvPr/>
        </p:nvSpPr>
        <p:spPr>
          <a:xfrm>
            <a:off x="8686800" y="786384"/>
            <a:ext cx="1143000" cy="457200"/>
          </a:xfrm>
          <a:prstGeom prst="rect">
            <a:avLst/>
          </a:prstGeom>
          <a:noFill/>
          <a:ln/>
        </p:spPr>
        <p:txBody>
          <a:bodyPr wrap="square" rtlCol="0" anchor="ctr"/>
          <a:lstStyle/>
          <a:p>
            <a:pPr marL="0" indent="0" algn="ctr">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lstStyle/>
          <a:p>
            <a:endParaRPr lang="en-US"/>
          </a:p>
        </p:txBody>
      </p:sp>
      <p:sp>
        <p:nvSpPr>
          <p:cNvPr id="8" name="Text 6"/>
          <p:cNvSpPr/>
          <p:nvPr/>
        </p:nvSpPr>
        <p:spPr>
          <a:xfrm>
            <a:off x="9966960" y="786384"/>
            <a:ext cx="164592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lstStyle/>
          <a:p>
            <a:endParaRPr lang="en-US"/>
          </a:p>
        </p:txBody>
      </p:sp>
      <p:sp>
        <p:nvSpPr>
          <p:cNvPr id="11" name="Text 9"/>
          <p:cNvSpPr/>
          <p:nvPr/>
        </p:nvSpPr>
        <p:spPr>
          <a:xfrm>
            <a:off x="1005840" y="2194560"/>
            <a:ext cx="10149840" cy="1417320"/>
          </a:xfrm>
          <a:prstGeom prst="rect">
            <a:avLst/>
          </a:prstGeom>
          <a:noFill/>
          <a:ln/>
        </p:spPr>
        <p:txBody>
          <a:bodyPr wrap="square" rtlCol="0" anchor="ctr"/>
          <a:lstStyle/>
          <a:p>
            <a:pPr marL="0" indent="0" algn="ctr">
              <a:lnSpc>
                <a:spcPct val="108000"/>
              </a:lnSpc>
              <a:buNone/>
            </a:pPr>
            <a:r>
              <a:rPr lang="en-US" sz="2400" b="1" dirty="0">
                <a:solidFill>
                  <a:srgbClr val="FFFFFF"/>
                </a:solidFill>
                <a:latin typeface="Georgia" pitchFamily="34" charset="0"/>
                <a:ea typeface="Georgia" pitchFamily="34" charset="-122"/>
                <a:cs typeface="Georgia" pitchFamily="34" charset="-120"/>
              </a:rPr>
              <a:t>Who made the first solo nonstop flight across the Atlantic in 1927?</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lstStyle/>
          <a:p>
            <a:endParaRPr lang="en-US"/>
          </a:p>
        </p:txBody>
      </p:sp>
      <p:sp>
        <p:nvSpPr>
          <p:cNvPr id="13" name="Text 11"/>
          <p:cNvSpPr/>
          <p:nvPr/>
        </p:nvSpPr>
        <p:spPr>
          <a:xfrm>
            <a:off x="914400" y="4224528"/>
            <a:ext cx="2743200" cy="320040"/>
          </a:xfrm>
          <a:prstGeom prst="rect">
            <a:avLst/>
          </a:prstGeom>
          <a:noFill/>
          <a:ln/>
        </p:spPr>
        <p:txBody>
          <a:bodyPr wrap="square" rtlCol="0" anchor="ctr"/>
          <a:lstStyle/>
          <a:p>
            <a:pPr marL="0" indent="0">
              <a:buNone/>
            </a:pPr>
            <a:r>
              <a:rPr lang="en-US" sz="1200" b="1" kern="0" spc="20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marL="0" indent="0">
              <a:lnSpc>
                <a:spcPct val="108000"/>
              </a:lnSpc>
              <a:buNone/>
            </a:pPr>
            <a:r>
              <a:rPr lang="en-US" sz="1600" dirty="0">
                <a:solidFill>
                  <a:srgbClr val="1F2430"/>
                </a:solidFill>
                <a:latin typeface="Calibri" pitchFamily="34" charset="0"/>
                <a:ea typeface="Calibri" pitchFamily="34" charset="-122"/>
                <a:cs typeface="Calibri" pitchFamily="34" charset="-120"/>
              </a:rPr>
              <a:t>Charles Lindbergh, in the 'Spirit of St. Louis.'</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lstStyle/>
          <a:p>
            <a:endParaRPr lang="en-US"/>
          </a:p>
        </p:txBody>
      </p:sp>
      <p:sp>
        <p:nvSpPr>
          <p:cNvPr id="16" name="Text 14"/>
          <p:cNvSpPr/>
          <p:nvPr/>
        </p:nvSpPr>
        <p:spPr>
          <a:xfrm>
            <a:off x="822960" y="5623560"/>
            <a:ext cx="10515600" cy="457200"/>
          </a:xfrm>
          <a:prstGeom prst="rect">
            <a:avLst/>
          </a:prstGeom>
          <a:noFill/>
          <a:ln/>
        </p:spPr>
        <p:txBody>
          <a:bodyPr wrap="square" rtlCol="0" anchor="ctr"/>
          <a:lstStyle/>
          <a:p>
            <a:pPr marL="0" indent="0">
              <a:buNone/>
            </a:pPr>
            <a:r>
              <a:rPr lang="en-US" sz="1150" b="1" i="1" kern="0" spc="100" dirty="0">
                <a:solidFill>
                  <a:srgbClr val="C62828"/>
                </a:solidFill>
                <a:latin typeface="Trebuchet MS" pitchFamily="34" charset="0"/>
                <a:ea typeface="Trebuchet MS" pitchFamily="34" charset="-122"/>
                <a:cs typeface="Trebuchet MS" pitchFamily="34" charset="-120"/>
              </a:rPr>
              <a:t>COMMIT FIRST:  </a:t>
            </a: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lstStyle/>
          <a:p>
            <a:endParaRPr lang="en-US"/>
          </a:p>
        </p:txBody>
      </p:sp>
      <p:sp>
        <p:nvSpPr>
          <p:cNvPr id="6" name="Text 4"/>
          <p:cNvSpPr/>
          <p:nvPr/>
        </p:nvSpPr>
        <p:spPr>
          <a:xfrm>
            <a:off x="1005840" y="1965960"/>
            <a:ext cx="10149840" cy="1645920"/>
          </a:xfrm>
          <a:prstGeom prst="rect">
            <a:avLst/>
          </a:prstGeom>
          <a:noFill/>
          <a:ln/>
        </p:spPr>
        <p:txBody>
          <a:bodyPr wrap="square" rtlCol="0" anchor="ctr"/>
          <a:lstStyle/>
          <a:p>
            <a:pPr marL="0" indent="0">
              <a:lnSpc>
                <a:spcPct val="108000"/>
              </a:lnSpc>
              <a:buNone/>
            </a:pPr>
            <a:r>
              <a:rPr lang="en-US" sz="2600" i="1" dirty="0">
                <a:solidFill>
                  <a:srgbClr val="FFFFFF"/>
                </a:solidFill>
                <a:latin typeface="Georgia" pitchFamily="34" charset="0"/>
                <a:ea typeface="Georgia" pitchFamily="34" charset="-122"/>
                <a:cs typeface="Georgia" pitchFamily="34" charset="-120"/>
              </a:rPr>
              <a:t>In May 1927, a shy airmail pilot named Charles Lindbergh climbed into a single-engine plane alone and flew 3,600 miles across the Atlantic Ocean nonstop, and returned to a hero's welcome of four million people in New York.</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lstStyle/>
          <a:p>
            <a:endParaRPr lang="en-US"/>
          </a:p>
        </p:txBody>
      </p:sp>
      <p:sp>
        <p:nvSpPr>
          <p:cNvPr id="8" name="Text 6"/>
          <p:cNvSpPr/>
          <p:nvPr/>
        </p:nvSpPr>
        <p:spPr>
          <a:xfrm>
            <a:off x="914400" y="4297680"/>
            <a:ext cx="2743200" cy="320040"/>
          </a:xfrm>
          <a:prstGeom prst="rect">
            <a:avLst/>
          </a:prstGeom>
          <a:noFill/>
          <a:ln/>
        </p:spPr>
        <p:txBody>
          <a:bodyPr wrap="square" rtlCol="0" anchor="ctr"/>
          <a:lstStyle/>
          <a:p>
            <a:pPr marL="0" indent="0">
              <a:buNone/>
            </a:pPr>
            <a:r>
              <a:rPr lang="en-US" sz="1300" b="1" kern="0" spc="20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lstStyle/>
          <a:p>
            <a:endParaRPr lang="en-US"/>
          </a:p>
        </p:txBody>
      </p:sp>
      <p:sp>
        <p:nvSpPr>
          <p:cNvPr id="10" name="Text 8"/>
          <p:cNvSpPr/>
          <p:nvPr/>
        </p:nvSpPr>
        <p:spPr>
          <a:xfrm>
            <a:off x="7772400" y="4224528"/>
            <a:ext cx="3657600" cy="45720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marL="0" indent="0">
              <a:lnSpc>
                <a:spcPct val="110000"/>
              </a:lnSpc>
              <a:buNone/>
            </a:pPr>
            <a:r>
              <a:rPr lang="en-US" sz="1600" dirty="0">
                <a:solidFill>
                  <a:srgbClr val="1F2430"/>
                </a:solidFill>
                <a:latin typeface="Calibri" pitchFamily="34" charset="0"/>
                <a:ea typeface="Calibri" pitchFamily="34" charset="-122"/>
                <a:cs typeface="Calibri" pitchFamily="34" charset="-120"/>
              </a:rPr>
              <a:t>Why did one man's 33-hour flight, and the spread of electricity into ordinary homes, make Americans believe technology could transform their entire way of life?</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Early Aviation Development</a:t>
            </a:r>
            <a:endParaRPr lang="en-US" sz="3000" dirty="0"/>
          </a:p>
        </p:txBody>
      </p:sp>
      <p:sp>
        <p:nvSpPr>
          <p:cNvPr id="5" name="Shape 3"/>
          <p:cNvSpPr/>
          <p:nvPr/>
        </p:nvSpPr>
        <p:spPr>
          <a:xfrm>
            <a:off x="10180015" y="502920"/>
            <a:ext cx="146304" cy="146304"/>
          </a:xfrm>
          <a:prstGeom prst="ellipse">
            <a:avLst/>
          </a:prstGeom>
          <a:solidFill>
            <a:srgbClr val="C62828"/>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Wright Brothers achieved the first powered flight at Kitty Hawk, North Carolina in 1903.</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World War I accelerated aircraft development and pilot training.</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Post Office began regular airmail routes in 1918, and first passenger airlines were established in the early 1920s.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Charles Lindbergh's solo transatlantic flight in 1927 captured public imagination and promoted commercial aviation.</a:t>
            </a:r>
            <a:endParaRPr lang="en-US" sz="1550" dirty="0"/>
          </a:p>
        </p:txBody>
      </p:sp>
      <p:sp>
        <p:nvSpPr>
          <p:cNvPr id="13" name="Shape 11"/>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lstStyle/>
          <a:p>
            <a:endParaRPr lang="en-US"/>
          </a:p>
        </p:txBody>
      </p:sp>
      <p:sp>
        <p:nvSpPr>
          <p:cNvPr id="14" name="Text 12"/>
          <p:cNvSpPr/>
          <p:nvPr/>
        </p:nvSpPr>
        <p:spPr>
          <a:xfrm>
            <a:off x="1024128" y="4681728"/>
            <a:ext cx="5852160" cy="237744"/>
          </a:xfrm>
          <a:prstGeom prst="rect">
            <a:avLst/>
          </a:prstGeom>
          <a:noFill/>
          <a:ln/>
        </p:spPr>
        <p:txBody>
          <a:bodyPr wrap="square" rtlCol="0" anchor="ctr"/>
          <a:lstStyle/>
          <a:p>
            <a:pPr marL="0" indent="0">
              <a:buNone/>
            </a:pPr>
            <a:r>
              <a:rPr lang="en-US" sz="900" b="1" kern="0" spc="100" dirty="0">
                <a:solidFill>
                  <a:srgbClr val="002858"/>
                </a:solidFill>
                <a:latin typeface="Trebuchet MS" pitchFamily="34" charset="0"/>
                <a:ea typeface="Trebuchet MS" pitchFamily="34" charset="-122"/>
                <a:cs typeface="Trebuchet MS" pitchFamily="34" charset="-120"/>
              </a:rPr>
              <a:t>SENTENCE FRAME  </a:t>
            </a:r>
            <a:r>
              <a:rPr lang="en-US" sz="850" i="1" dirty="0">
                <a:solidFill>
                  <a:srgbClr val="5C6470"/>
                </a:solidFill>
              </a:rPr>
              <a:t>(EL &amp; writing support)  </a:t>
            </a:r>
            <a:endParaRPr lang="en-US" sz="900" dirty="0"/>
          </a:p>
        </p:txBody>
      </p:sp>
      <p:sp>
        <p:nvSpPr>
          <p:cNvPr id="15" name="Text 13"/>
          <p:cNvSpPr/>
          <p:nvPr/>
        </p:nvSpPr>
        <p:spPr>
          <a:xfrm>
            <a:off x="1024128" y="4937760"/>
            <a:ext cx="6309360" cy="658368"/>
          </a:xfrm>
          <a:prstGeom prst="rect">
            <a:avLst/>
          </a:prstGeom>
          <a:noFill/>
          <a:ln/>
        </p:spPr>
        <p:txBody>
          <a:bodyPr wrap="square" rtlCol="0" anchor="t"/>
          <a:lstStyle/>
          <a:p>
            <a:pPr marL="0" indent="0">
              <a:lnSpc>
                <a:spcPct val="104000"/>
              </a:lnSpc>
              <a:buNone/>
            </a:pPr>
            <a:r>
              <a:rPr lang="en-US" sz="1050" i="1" dirty="0">
                <a:solidFill>
                  <a:srgbClr val="1F2430"/>
                </a:solidFill>
                <a:latin typeface="Calibri" pitchFamily="34" charset="0"/>
                <a:ea typeface="Calibri" pitchFamily="34" charset="-122"/>
                <a:cs typeface="Calibri" pitchFamily="34" charset="-120"/>
              </a:rPr>
              <a:t>New technologies like ________ and ________ changed daily life in the 1920s, but rural areas ________.</a:t>
            </a:r>
            <a:endParaRPr lang="en-US" sz="1050" dirty="0"/>
          </a:p>
        </p:txBody>
      </p:sp>
      <p:sp>
        <p:nvSpPr>
          <p:cNvPr id="16" name="Shape 14"/>
          <p:cNvSpPr/>
          <p:nvPr/>
        </p:nvSpPr>
        <p:spPr>
          <a:xfrm>
            <a:off x="7552944" y="1746504"/>
            <a:ext cx="4142232" cy="2935224"/>
          </a:xfrm>
          <a:prstGeom prst="rect">
            <a:avLst/>
          </a:prstGeom>
          <a:solidFill>
            <a:srgbClr val="FFFFFF"/>
          </a:solidFill>
          <a:ln w="12700">
            <a:solidFill>
              <a:srgbClr val="DAD3C2"/>
            </a:solidFill>
            <a:prstDash val="solid"/>
          </a:ln>
        </p:spPr>
        <p:txBody>
          <a:bodyPr/>
          <a:lstStyle/>
          <a:p>
            <a:endParaRPr lang="en-US"/>
          </a:p>
        </p:txBody>
      </p:sp>
      <p:pic>
        <p:nvPicPr>
          <p:cNvPr id="17" name="Image 0" descr="unit4-full/img/spirit-of-st-louis-1927.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79511" y="1783080"/>
            <a:ext cx="2289099" cy="2862072"/>
          </a:xfrm>
          <a:prstGeom prst="rect">
            <a:avLst/>
          </a:prstGeom>
        </p:spPr>
      </p:pic>
      <p:sp>
        <p:nvSpPr>
          <p:cNvPr id="18" name="Text 15"/>
          <p:cNvSpPr/>
          <p:nvPr/>
        </p:nvSpPr>
        <p:spPr>
          <a:xfrm>
            <a:off x="7589520" y="470001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Library of Congress, Prints and Photographs Division, 1927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800" dirty="0"/>
          </a:p>
        </p:txBody>
      </p:sp>
      <p:sp>
        <p:nvSpPr>
          <p:cNvPr id="19" name="Shape 16"/>
          <p:cNvSpPr/>
          <p:nvPr/>
        </p:nvSpPr>
        <p:spPr>
          <a:xfrm>
            <a:off x="7589520" y="5440680"/>
            <a:ext cx="4069080" cy="713232"/>
          </a:xfrm>
          <a:prstGeom prst="roundRect">
            <a:avLst>
              <a:gd name="adj" fmla="val 7692"/>
            </a:avLst>
          </a:prstGeom>
          <a:solidFill>
            <a:srgbClr val="1A2332"/>
          </a:solidFill>
          <a:ln/>
        </p:spPr>
        <p:txBody>
          <a:bodyPr/>
          <a:lstStyle/>
          <a:p>
            <a:endParaRPr lang="en-US"/>
          </a:p>
        </p:txBody>
      </p:sp>
      <p:sp>
        <p:nvSpPr>
          <p:cNvPr id="20" name="Text 17"/>
          <p:cNvSpPr/>
          <p:nvPr/>
        </p:nvSpPr>
        <p:spPr>
          <a:xfrm>
            <a:off x="7772400" y="5477256"/>
            <a:ext cx="3703320" cy="640080"/>
          </a:xfrm>
          <a:prstGeom prst="rect">
            <a:avLst/>
          </a:prstGeom>
          <a:noFill/>
          <a:ln/>
        </p:spPr>
        <p:txBody>
          <a:bodyPr wrap="square" rtlCol="0" anchor="ctr"/>
          <a:lstStyle/>
          <a:p>
            <a:pPr marL="0" indent="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2" name="Text 1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3" name="Text 1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Aviation's Revolutionary Impact</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C62828"/>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Air travel reduced cross-country travel time from days to hours and connected previously isolated regions to the national economy.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Commercial passenger miles increased from 6,000 in 1926 to 173,000 in 1929.</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Aviation created new industries and employment opportunities, facilitated global business and diplomatic relations, and enhanced national defense capabilities.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Infrastructure including airports and navigation systems developed rapidly.</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Spread of Electricity: Urban Transformation</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C62828"/>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By 1930, 85% of urban homes had electricity, with power generation increasing from 6 billion kilowatt-hours in 1902 to 117 billion in 1929.</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Electric streetlights improved safety and extended business hours.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Electric trolleys and subways revolutionized urban mobility.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Electric elevators made skyscrapers practical.</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Electric signs, movie theaters, and amusement parks transformed urban entertainment.</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Household and Industrial Transformation</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C62828"/>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Electric household appliances—vacuum cleaners, washing machines, electric irons, and refrigerators—reduced domestic labor and improved living conditions.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 manufacturing, electric motors increased productivity and allowed flexible factory layouts.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New industries emerged in electrical equipment manufacturing, power generation, and appliance production.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Electric lighting improved workplace safety and extended productive hours.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Rural Electrification Gap</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C62828"/>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Only 10% of rural homes had electricity by 1930 due to cost and distance.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limited rural access to modern conveniences and productivity improvements.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Where available, electric-powered farm equipment improved agricultural efficiency.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rural-urban electrification gap wouldn't be addressed until New Deal programs like TVA brought electricity to underserved areas.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27632"/>
            <a:ext cx="11064240" cy="868680"/>
          </a:xfrm>
          <a:prstGeom prst="rect">
            <a:avLst/>
          </a:prstGeom>
          <a:solidFill>
            <a:srgbClr val="1A2332"/>
          </a:solidFill>
          <a:ln/>
        </p:spPr>
        <p:txBody>
          <a:bodyPr/>
          <a:lstStyle/>
          <a:p>
            <a:endParaRPr lang="en-US"/>
          </a:p>
        </p:txBody>
      </p:sp>
      <p:sp>
        <p:nvSpPr>
          <p:cNvPr id="7" name="Text 5"/>
          <p:cNvSpPr/>
          <p:nvPr/>
        </p:nvSpPr>
        <p:spPr>
          <a:xfrm>
            <a:off x="667512" y="1627632"/>
            <a:ext cx="10826496" cy="63093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Charles Lindbergh</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Aviator (1902-1974)</a:t>
            </a:r>
            <a:endParaRPr lang="en-US" sz="1100" dirty="0"/>
          </a:p>
        </p:txBody>
      </p:sp>
      <p:sp>
        <p:nvSpPr>
          <p:cNvPr id="9" name="Shape 7"/>
          <p:cNvSpPr/>
          <p:nvPr/>
        </p:nvSpPr>
        <p:spPr>
          <a:xfrm>
            <a:off x="667512" y="2578608"/>
            <a:ext cx="2800609" cy="2212848"/>
          </a:xfrm>
          <a:prstGeom prst="rect">
            <a:avLst/>
          </a:prstGeom>
          <a:solidFill>
            <a:srgbClr val="FFFFFF"/>
          </a:solidFill>
          <a:ln w="12700">
            <a:solidFill>
              <a:srgbClr val="DAD3C2"/>
            </a:solidFill>
            <a:prstDash val="solid"/>
          </a:ln>
        </p:spPr>
        <p:txBody>
          <a:bodyPr/>
          <a:lstStyle/>
          <a:p>
            <a:endParaRPr lang="en-US"/>
          </a:p>
        </p:txBody>
      </p:sp>
      <p:pic>
        <p:nvPicPr>
          <p:cNvPr id="10" name="Image 0" descr="unit4-full/img/charles-lindbergh.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94944" y="2606040"/>
            <a:ext cx="2745745" cy="2157984"/>
          </a:xfrm>
          <a:prstGeom prst="rect">
            <a:avLst/>
          </a:prstGeom>
        </p:spPr>
      </p:pic>
      <p:sp>
        <p:nvSpPr>
          <p:cNvPr id="11" name="Text 8"/>
          <p:cNvSpPr/>
          <p:nvPr/>
        </p:nvSpPr>
        <p:spPr>
          <a:xfrm>
            <a:off x="694944" y="4800600"/>
            <a:ext cx="3248665"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News photo (MOHAI), 1927  </a:t>
            </a:r>
            <a:r>
              <a:rPr lang="en-US" sz="6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Museum of History &amp; Industry (MOHAI)</a:t>
            </a:r>
            <a:endParaRPr lang="en-US" sz="600" dirty="0"/>
          </a:p>
        </p:txBody>
      </p:sp>
      <p:sp>
        <p:nvSpPr>
          <p:cNvPr id="12" name="Text 9"/>
          <p:cNvSpPr/>
          <p:nvPr/>
        </p:nvSpPr>
        <p:spPr>
          <a:xfrm>
            <a:off x="3623569" y="2606040"/>
            <a:ext cx="7843007"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Flew solo nonstop New York to Paris in 1927</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Proved long-distance air travel was possible</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Sparked public excitement and investment in aviation</a:t>
            </a:r>
            <a:endParaRPr lang="en-US" sz="1300" dirty="0"/>
          </a:p>
        </p:txBody>
      </p:sp>
      <p:sp>
        <p:nvSpPr>
          <p:cNvPr id="13" name="Shape 10"/>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14" name="Text 11"/>
          <p:cNvSpPr/>
          <p:nvPr/>
        </p:nvSpPr>
        <p:spPr>
          <a:xfrm>
            <a:off x="749808" y="5175504"/>
            <a:ext cx="1068019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Use Lindbergh's flight as the tipping point that turned aviation from stunt to industry.</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002858"/>
                </a:solidFill>
                <a:latin typeface="Trebuchet MS" pitchFamily="34" charset="0"/>
                <a:ea typeface="Trebuchet MS" pitchFamily="34" charset="-122"/>
                <a:cs typeface="Trebuchet MS" pitchFamily="34" charset="-120"/>
              </a:rPr>
              <a:t>US.31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marL="0" indent="0">
              <a:buNone/>
            </a:pPr>
            <a:r>
              <a:rPr lang="en-US" sz="2200" b="1" dirty="0">
                <a:solidFill>
                  <a:srgbClr val="1A2332"/>
                </a:solidFill>
                <a:latin typeface="Georgia" pitchFamily="34" charset="0"/>
                <a:ea typeface="Georgia" pitchFamily="34" charset="-122"/>
                <a:cs typeface="Georgia" pitchFamily="34" charset="-120"/>
              </a:rPr>
              <a:t>Lindbergh Transatlantic Flight News Report</a:t>
            </a:r>
            <a:endParaRPr lang="en-US" sz="22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lstStyle/>
          <a:p>
            <a:endParaRPr lang="en-US"/>
          </a:p>
        </p:txBody>
      </p:sp>
      <p:sp>
        <p:nvSpPr>
          <p:cNvPr id="6" name="Text 4"/>
          <p:cNvSpPr/>
          <p:nvPr/>
        </p:nvSpPr>
        <p:spPr>
          <a:xfrm>
            <a:off x="9418320" y="777240"/>
            <a:ext cx="219456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Contextualization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New York Times  ·  May 22, 1927</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txBody>
          <a:bodyPr/>
          <a:lstStyle/>
          <a:p>
            <a:endParaRPr lang="en-US"/>
          </a:p>
        </p:txBody>
      </p:sp>
      <p:pic>
        <p:nvPicPr>
          <p:cNvPr id="9" name="Image 0" descr="unit4-full/img/charles-lindbergh.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8640" y="1746147"/>
            <a:ext cx="3200400" cy="2515314"/>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marL="0" indent="0" algn="l">
              <a:lnSpc>
                <a:spcPct val="100000"/>
              </a:lnSpc>
              <a:buNone/>
            </a:pPr>
            <a:r>
              <a:rPr lang="en-US" sz="700" i="1" dirty="0">
                <a:solidFill>
                  <a:srgbClr val="5C6470"/>
                </a:solidFill>
                <a:latin typeface="Calibri" pitchFamily="34" charset="0"/>
                <a:ea typeface="Calibri" pitchFamily="34" charset="-122"/>
                <a:cs typeface="Calibri" pitchFamily="34" charset="-120"/>
              </a:rPr>
              <a:t>News photo (MOHAI), 1927  </a:t>
            </a:r>
            <a:r>
              <a:rPr lang="en-US" sz="7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Museum of History &amp; Industry (MOHAI)</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lstStyle/>
          <a:p>
            <a:endParaRPr lang="en-US"/>
          </a:p>
        </p:txBody>
      </p:sp>
      <p:sp>
        <p:nvSpPr>
          <p:cNvPr id="12" name="Text 9"/>
          <p:cNvSpPr/>
          <p:nvPr/>
        </p:nvSpPr>
        <p:spPr>
          <a:xfrm>
            <a:off x="768096" y="1865376"/>
            <a:ext cx="2761488" cy="438912"/>
          </a:xfrm>
          <a:prstGeom prst="rect">
            <a:avLst/>
          </a:prstGeom>
          <a:noFill/>
          <a:ln/>
        </p:spPr>
        <p:txBody>
          <a:bodyPr wrap="square" rtlCol="0" anchor="ctr"/>
          <a:lstStyle/>
          <a:p>
            <a:pPr marL="0" indent="0">
              <a:lnSpc>
                <a:spcPct val="95000"/>
              </a:lnSpc>
              <a:buNone/>
            </a:pPr>
            <a:r>
              <a:rPr lang="en-US" sz="950" b="1" kern="0" spc="150" dirty="0">
                <a:solidFill>
                  <a:srgbClr val="1A2332"/>
                </a:solidFill>
                <a:latin typeface="Trebuchet MS" pitchFamily="34" charset="0"/>
                <a:ea typeface="Trebuchet MS" pitchFamily="34" charset="-122"/>
                <a:cs typeface="Trebuchet MS" pitchFamily="34" charset="-120"/>
              </a:rPr>
              <a:t>ZOOM IN  </a:t>
            </a: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lstStyle/>
          <a:p>
            <a:endParaRPr lang="en-US"/>
          </a:p>
        </p:txBody>
      </p:sp>
      <p:sp>
        <p:nvSpPr>
          <p:cNvPr id="14" name="Shape 11"/>
          <p:cNvSpPr/>
          <p:nvPr/>
        </p:nvSpPr>
        <p:spPr>
          <a:xfrm>
            <a:off x="3931920" y="1737360"/>
            <a:ext cx="91440" cy="3246120"/>
          </a:xfrm>
          <a:prstGeom prst="rect">
            <a:avLst/>
          </a:prstGeom>
          <a:solidFill>
            <a:srgbClr val="C9A84C"/>
          </a:solidFill>
          <a:ln/>
        </p:spPr>
        <p:txBody>
          <a:bodyPr/>
          <a:lstStyle/>
          <a:p>
            <a:endParaRPr lang="en-US"/>
          </a:p>
        </p:txBody>
      </p:sp>
      <p:sp>
        <p:nvSpPr>
          <p:cNvPr id="15" name="Text 12"/>
          <p:cNvSpPr/>
          <p:nvPr/>
        </p:nvSpPr>
        <p:spPr>
          <a:xfrm>
            <a:off x="4160520" y="1920240"/>
            <a:ext cx="3200400" cy="2880360"/>
          </a:xfrm>
          <a:prstGeom prst="rect">
            <a:avLst/>
          </a:prstGeom>
          <a:noFill/>
          <a:ln/>
        </p:spPr>
        <p:txBody>
          <a:bodyPr wrap="square" rtlCol="0" anchor="t"/>
          <a:lstStyle/>
          <a:p>
            <a:pPr marL="0" indent="0">
              <a:lnSpc>
                <a:spcPct val="112000"/>
              </a:lnSpc>
              <a:buNone/>
            </a:pPr>
            <a:r>
              <a:rPr lang="en-US" sz="1250" i="1" dirty="0">
                <a:solidFill>
                  <a:srgbClr val="1F2430"/>
                </a:solidFill>
                <a:latin typeface="Georgia" pitchFamily="34" charset="0"/>
                <a:ea typeface="Georgia" pitchFamily="34" charset="-122"/>
                <a:cs typeface="Georgia" pitchFamily="34" charset="-120"/>
              </a:rPr>
              <a:t>"LINDBERGH DOES IT! TO PARIS IN 33½ HOURS. Flies 1,000 Miles Through Snow and Sleet; Cheering French Ones Carry Him Off Field. Captain Charles A. Lindbergh accomplished the greatest feat of a solitary man in the records of the human race yesterday when he landed his airplane, the Spirit of St. Louis, at Le Bourget Aerodrome."</a:t>
            </a:r>
            <a:endParaRPr lang="en-US" sz="1250" dirty="0"/>
          </a:p>
        </p:txBody>
      </p:sp>
      <p:sp>
        <p:nvSpPr>
          <p:cNvPr id="16" name="Shape 13"/>
          <p:cNvSpPr/>
          <p:nvPr/>
        </p:nvSpPr>
        <p:spPr>
          <a:xfrm>
            <a:off x="7589520" y="1737360"/>
            <a:ext cx="4023360" cy="2011680"/>
          </a:xfrm>
          <a:prstGeom prst="roundRect">
            <a:avLst>
              <a:gd name="adj" fmla="val 3636"/>
            </a:avLst>
          </a:prstGeom>
          <a:solidFill>
            <a:srgbClr val="1A2332"/>
          </a:solidFill>
          <a:ln/>
        </p:spPr>
        <p:txBody>
          <a:bodyPr/>
          <a:lstStyle/>
          <a:p>
            <a:endParaRPr lang="en-US"/>
          </a:p>
        </p:txBody>
      </p:sp>
      <p:sp>
        <p:nvSpPr>
          <p:cNvPr id="17" name="Text 14"/>
          <p:cNvSpPr/>
          <p:nvPr/>
        </p:nvSpPr>
        <p:spPr>
          <a:xfrm>
            <a:off x="7818120" y="1856232"/>
            <a:ext cx="3657600" cy="274320"/>
          </a:xfrm>
          <a:prstGeom prst="rect">
            <a:avLst/>
          </a:prstGeom>
          <a:noFill/>
          <a:ln/>
        </p:spPr>
        <p:txBody>
          <a:bodyPr wrap="square" rtlCol="0" anchor="ctr"/>
          <a:lstStyle/>
          <a:p>
            <a:pPr marL="0" indent="0">
              <a:buNone/>
            </a:pPr>
            <a:r>
              <a:rPr lang="en-US" sz="1100" b="1" kern="0" spc="20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marL="0" indent="0">
              <a:lnSpc>
                <a:spcPct val="96000"/>
              </a:lnSpc>
              <a:buNone/>
            </a:pPr>
            <a:r>
              <a:rPr lang="en-US" sz="850" dirty="0">
                <a:solidFill>
                  <a:srgbClr val="FFFFFF"/>
                </a:solidFill>
                <a:latin typeface="Calibri" pitchFamily="34" charset="0"/>
                <a:ea typeface="Calibri" pitchFamily="34" charset="-122"/>
                <a:cs typeface="Calibri" pitchFamily="34" charset="-120"/>
              </a:rPr>
              <a:t>Charles Lindbergh's solo transatlantic flight from New York to Paris on May 20-21, 1927 was one of the defining moments of the 1920s — and perhaps of the entire 20th century. Flying his monoplane Spirit of St. Louis 3,600 miles in 33.5 hours, Lindbergh became the first person to complete a solo nonstop transatlantic flight and claimed the $25,000 Orteig Prize. His arrival in Paris was greeted by 100,000 cheering spectators. In America, his return sparked the largest celebration of an individual in the nation's history. Lindbergh became a symbol of American technological achievement, individual heroism, and the limitless possibilities of the aviation age.</a:t>
            </a:r>
            <a:endParaRPr lang="en-US" sz="850" dirty="0"/>
          </a:p>
        </p:txBody>
      </p:sp>
      <p:sp>
        <p:nvSpPr>
          <p:cNvPr id="19" name="Shape 16"/>
          <p:cNvSpPr/>
          <p:nvPr/>
        </p:nvSpPr>
        <p:spPr>
          <a:xfrm>
            <a:off x="7589520" y="3931920"/>
            <a:ext cx="4023360" cy="1051560"/>
          </a:xfrm>
          <a:prstGeom prst="roundRect">
            <a:avLst>
              <a:gd name="adj" fmla="val 6957"/>
            </a:avLst>
          </a:prstGeom>
          <a:solidFill>
            <a:srgbClr val="C9A84C"/>
          </a:solidFill>
          <a:ln/>
        </p:spPr>
        <p:txBody>
          <a:bodyPr/>
          <a:lstStyle/>
          <a:p>
            <a:endParaRPr lang="en-US"/>
          </a:p>
        </p:txBody>
      </p:sp>
      <p:sp>
        <p:nvSpPr>
          <p:cNvPr id="20" name="Text 17"/>
          <p:cNvSpPr/>
          <p:nvPr/>
        </p:nvSpPr>
        <p:spPr>
          <a:xfrm>
            <a:off x="7818120" y="4050792"/>
            <a:ext cx="3657600" cy="274320"/>
          </a:xfrm>
          <a:prstGeom prst="rect">
            <a:avLst/>
          </a:prstGeom>
          <a:noFill/>
          <a:ln/>
        </p:spPr>
        <p:txBody>
          <a:bodyPr wrap="square" rtlCol="0" anchor="ctr"/>
          <a:lstStyle/>
          <a:p>
            <a:pPr marL="0" indent="0">
              <a:buNone/>
            </a:pPr>
            <a:r>
              <a:rPr lang="en-US" sz="1100" b="1" kern="0" spc="20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marL="0" indent="0">
              <a:lnSpc>
                <a:spcPct val="103000"/>
              </a:lnSpc>
              <a:buNone/>
            </a:pPr>
            <a:r>
              <a:rPr lang="en-US" sz="1250" b="1" dirty="0">
                <a:solidFill>
                  <a:srgbClr val="1A2332"/>
                </a:solidFill>
                <a:latin typeface="Calibri" pitchFamily="34" charset="0"/>
                <a:ea typeface="Calibri" pitchFamily="34" charset="-122"/>
                <a:cs typeface="Calibri" pitchFamily="34" charset="-120"/>
              </a:rPr>
              <a:t>How did the newspaper characterize Lindbergh's transatlantic flight?</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lstStyle/>
          <a:p>
            <a:endParaRPr lang="en-US"/>
          </a:p>
        </p:txBody>
      </p:sp>
      <p:sp>
        <p:nvSpPr>
          <p:cNvPr id="23" name="Shape 20"/>
          <p:cNvSpPr/>
          <p:nvPr/>
        </p:nvSpPr>
        <p:spPr>
          <a:xfrm>
            <a:off x="548640" y="5120640"/>
            <a:ext cx="2423160" cy="841248"/>
          </a:xfrm>
          <a:prstGeom prst="rect">
            <a:avLst/>
          </a:prstGeom>
          <a:solidFill>
            <a:srgbClr val="002858"/>
          </a:solidFill>
          <a:ln/>
        </p:spPr>
        <p:txBody>
          <a:bodyPr/>
          <a:lstStyle/>
          <a:p>
            <a:endParaRPr lang="en-US"/>
          </a:p>
        </p:txBody>
      </p:sp>
      <p:sp>
        <p:nvSpPr>
          <p:cNvPr id="24" name="Text 21"/>
          <p:cNvSpPr/>
          <p:nvPr/>
        </p:nvSpPr>
        <p:spPr>
          <a:xfrm>
            <a:off x="658368" y="5239512"/>
            <a:ext cx="2194560" cy="274320"/>
          </a:xfrm>
          <a:prstGeom prst="rect">
            <a:avLst/>
          </a:prstGeom>
          <a:noFill/>
          <a:ln/>
        </p:spPr>
        <p:txBody>
          <a:bodyPr wrap="square"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marL="0" indent="0">
              <a:buNone/>
            </a:pPr>
            <a:r>
              <a:rPr lang="en-US" sz="1250" b="1" kern="0" spc="10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marL="0" indent="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New York Times</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May 22, 1927</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marL="0" indent="0" algn="l">
              <a:buNone/>
            </a:pPr>
            <a:r>
              <a:rPr lang="en-US" sz="900" dirty="0">
                <a:solidFill>
                  <a:srgbClr val="5C6470"/>
                </a:solidFill>
                <a:latin typeface="Calibri" pitchFamily="34" charset="0"/>
                <a:ea typeface="Calibri" pitchFamily="34" charset="-122"/>
                <a:cs typeface="Calibri" pitchFamily="34" charset="-120"/>
              </a:rPr>
              <a:t>Source: </a:t>
            </a:r>
            <a:r>
              <a:rPr lang="en-US" sz="900" i="1" u="sng" dirty="0">
                <a:solidFill>
                  <a:srgbClr val="00285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45920"/>
            <a:ext cx="5486400" cy="676656"/>
          </a:xfrm>
          <a:prstGeom prst="rect">
            <a:avLst/>
          </a:prstGeom>
          <a:solidFill>
            <a:srgbClr val="1A2332"/>
          </a:solidFill>
          <a:ln/>
        </p:spPr>
        <p:txBody>
          <a:bodyPr/>
          <a:lstStyle/>
          <a:p>
            <a:endParaRPr lang="en-US"/>
          </a:p>
        </p:txBody>
      </p:sp>
      <p:sp>
        <p:nvSpPr>
          <p:cNvPr id="7" name="Text 5"/>
          <p:cNvSpPr/>
          <p:nvPr/>
        </p:nvSpPr>
        <p:spPr>
          <a:xfrm>
            <a:off x="685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Commercial Aviation</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Aviación Comercial</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0" name="Text 8"/>
          <p:cNvSpPr/>
          <p:nvPr/>
        </p:nvSpPr>
        <p:spPr>
          <a:xfrm>
            <a:off x="576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CA</a:t>
            </a:r>
            <a:endParaRPr lang="en-US" sz="1300" dirty="0"/>
          </a:p>
        </p:txBody>
      </p:sp>
      <p:sp>
        <p:nvSpPr>
          <p:cNvPr id="11" name="Text 9"/>
          <p:cNvSpPr/>
          <p:nvPr/>
        </p:nvSpPr>
        <p:spPr>
          <a:xfrm>
            <a:off x="1225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development of airplane technology and air travel in the 1920s, highlighted by Charles Lindbergh's 1927 solo transatlantic flight, which captured public imagination and demonstrated aviation's potential.</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13" name="Shape 11"/>
          <p:cNvSpPr/>
          <p:nvPr/>
        </p:nvSpPr>
        <p:spPr>
          <a:xfrm>
            <a:off x="6263640" y="1645920"/>
            <a:ext cx="5486400" cy="676656"/>
          </a:xfrm>
          <a:prstGeom prst="rect">
            <a:avLst/>
          </a:prstGeom>
          <a:solidFill>
            <a:srgbClr val="1A2332"/>
          </a:solidFill>
          <a:ln/>
        </p:spPr>
        <p:txBody>
          <a:bodyPr/>
          <a:lstStyle/>
          <a:p>
            <a:endParaRPr lang="en-US"/>
          </a:p>
        </p:txBody>
      </p:sp>
      <p:sp>
        <p:nvSpPr>
          <p:cNvPr id="14" name="Text 12"/>
          <p:cNvSpPr/>
          <p:nvPr/>
        </p:nvSpPr>
        <p:spPr>
          <a:xfrm>
            <a:off x="6400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Electrification</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ee-lek-truh-fih-KAY-shun</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Electrificación</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8" name="Text 16"/>
          <p:cNvSpPr/>
          <p:nvPr/>
        </p:nvSpPr>
        <p:spPr>
          <a:xfrm>
            <a:off x="6291072" y="2395728"/>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E</a:t>
            </a:r>
            <a:endParaRPr lang="en-US" sz="1500" dirty="0"/>
          </a:p>
        </p:txBody>
      </p:sp>
      <p:sp>
        <p:nvSpPr>
          <p:cNvPr id="19" name="Text 17"/>
          <p:cNvSpPr/>
          <p:nvPr/>
        </p:nvSpPr>
        <p:spPr>
          <a:xfrm>
            <a:off x="6940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spread of electrical power throughout America in the 1920s, transforming daily life with electric appliances, lighting, and machinery in homes and factories.</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1" name="Shape 19"/>
          <p:cNvSpPr/>
          <p:nvPr/>
        </p:nvSpPr>
        <p:spPr>
          <a:xfrm>
            <a:off x="548640" y="3072384"/>
            <a:ext cx="5486400" cy="676656"/>
          </a:xfrm>
          <a:prstGeom prst="rect">
            <a:avLst/>
          </a:prstGeom>
          <a:solidFill>
            <a:srgbClr val="1A2332"/>
          </a:solidFill>
          <a:ln/>
        </p:spPr>
        <p:txBody>
          <a:bodyPr/>
          <a:lstStyle/>
          <a:p>
            <a:endParaRPr lang="en-US"/>
          </a:p>
        </p:txBody>
      </p:sp>
      <p:sp>
        <p:nvSpPr>
          <p:cNvPr id="22" name="Text 20"/>
          <p:cNvSpPr/>
          <p:nvPr/>
        </p:nvSpPr>
        <p:spPr>
          <a:xfrm>
            <a:off x="685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Automobile Impact</a:t>
            </a:r>
            <a:endParaRPr lang="en-US" sz="13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Impacto del Automóvil</a:t>
            </a:r>
            <a:endParaRPr lang="en-US" sz="1000" dirty="0"/>
          </a:p>
        </p:txBody>
      </p:sp>
      <p:sp>
        <p:nvSpPr>
          <p:cNvPr id="24" name="Shape 22"/>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25" name="Text 23"/>
          <p:cNvSpPr/>
          <p:nvPr/>
        </p:nvSpPr>
        <p:spPr>
          <a:xfrm>
            <a:off x="576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AI</a:t>
            </a:r>
            <a:endParaRPr lang="en-US" sz="1300" dirty="0"/>
          </a:p>
        </p:txBody>
      </p:sp>
      <p:sp>
        <p:nvSpPr>
          <p:cNvPr id="26" name="Text 24"/>
          <p:cNvSpPr/>
          <p:nvPr/>
        </p:nvSpPr>
        <p:spPr>
          <a:xfrm>
            <a:off x="1225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widespread adoption of cars in the 1920s transformed American society, creating suburbs, highways, tourism, and related industries like gas stations, motels, and drive-in restaurants.</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8" name="Shape 26"/>
          <p:cNvSpPr/>
          <p:nvPr/>
        </p:nvSpPr>
        <p:spPr>
          <a:xfrm>
            <a:off x="6263640" y="3072384"/>
            <a:ext cx="5486400" cy="676656"/>
          </a:xfrm>
          <a:prstGeom prst="rect">
            <a:avLst/>
          </a:prstGeom>
          <a:solidFill>
            <a:srgbClr val="1A2332"/>
          </a:solidFill>
          <a:ln/>
        </p:spPr>
        <p:txBody>
          <a:bodyPr/>
          <a:lstStyle/>
          <a:p>
            <a:endParaRPr lang="en-US"/>
          </a:p>
        </p:txBody>
      </p:sp>
      <p:sp>
        <p:nvSpPr>
          <p:cNvPr id="29" name="Text 27"/>
          <p:cNvSpPr/>
          <p:nvPr/>
        </p:nvSpPr>
        <p:spPr>
          <a:xfrm>
            <a:off x="6400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Assembly Line</a:t>
            </a:r>
            <a:endParaRPr lang="en-US" sz="13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Línea de Ensamblaje</a:t>
            </a:r>
            <a:endParaRPr lang="en-US" sz="1000" dirty="0"/>
          </a:p>
        </p:txBody>
      </p:sp>
      <p:sp>
        <p:nvSpPr>
          <p:cNvPr id="31" name="Shape 29"/>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2" name="Text 30"/>
          <p:cNvSpPr/>
          <p:nvPr/>
        </p:nvSpPr>
        <p:spPr>
          <a:xfrm>
            <a:off x="6291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AL</a:t>
            </a:r>
            <a:endParaRPr lang="en-US" sz="1300" dirty="0"/>
          </a:p>
        </p:txBody>
      </p:sp>
      <p:sp>
        <p:nvSpPr>
          <p:cNvPr id="33" name="Text 31"/>
          <p:cNvSpPr/>
          <p:nvPr/>
        </p:nvSpPr>
        <p:spPr>
          <a:xfrm>
            <a:off x="6940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manufacturing method where workers remain stationary while products move past them on a conveyor belt, with each worker performing one specific task, dramatically increasing efficiency.</a:t>
            </a:r>
            <a:endParaRPr lang="en-US" sz="1100" dirty="0"/>
          </a:p>
        </p:txBody>
      </p:sp>
      <p:sp>
        <p:nvSpPr>
          <p:cNvPr id="34" name="Shape 32"/>
          <p:cNvSpPr/>
          <p:nvPr/>
        </p:nvSpPr>
        <p:spPr>
          <a:xfrm>
            <a:off x="548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35" name="Shape 33"/>
          <p:cNvSpPr/>
          <p:nvPr/>
        </p:nvSpPr>
        <p:spPr>
          <a:xfrm>
            <a:off x="548640" y="4498848"/>
            <a:ext cx="5486400" cy="676656"/>
          </a:xfrm>
          <a:prstGeom prst="rect">
            <a:avLst/>
          </a:prstGeom>
          <a:solidFill>
            <a:srgbClr val="1A2332"/>
          </a:solidFill>
          <a:ln/>
        </p:spPr>
        <p:txBody>
          <a:bodyPr/>
          <a:lstStyle/>
          <a:p>
            <a:endParaRPr lang="en-US"/>
          </a:p>
        </p:txBody>
      </p:sp>
      <p:sp>
        <p:nvSpPr>
          <p:cNvPr id="36" name="Text 34"/>
          <p:cNvSpPr/>
          <p:nvPr/>
        </p:nvSpPr>
        <p:spPr>
          <a:xfrm>
            <a:off x="685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Consumerism</a:t>
            </a:r>
            <a:endParaRPr lang="en-US" sz="1350" dirty="0"/>
          </a:p>
        </p:txBody>
      </p:sp>
      <p:sp>
        <p:nvSpPr>
          <p:cNvPr id="37" name="Text 35"/>
          <p:cNvSpPr/>
          <p:nvPr/>
        </p:nvSpPr>
        <p:spPr>
          <a:xfrm>
            <a:off x="685800" y="4864608"/>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kun-SOO-mer-iz-um</a:t>
            </a:r>
            <a:endParaRPr lang="en-US" sz="8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Consumismo</a:t>
            </a:r>
            <a:endParaRPr lang="en-US" sz="1000" dirty="0"/>
          </a:p>
        </p:txBody>
      </p:sp>
      <p:sp>
        <p:nvSpPr>
          <p:cNvPr id="39" name="Shape 37"/>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0" name="Text 38"/>
          <p:cNvSpPr/>
          <p:nvPr/>
        </p:nvSpPr>
        <p:spPr>
          <a:xfrm>
            <a:off x="576072" y="5248656"/>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C</a:t>
            </a:r>
            <a:endParaRPr lang="en-US" sz="1500" dirty="0"/>
          </a:p>
        </p:txBody>
      </p:sp>
      <p:sp>
        <p:nvSpPr>
          <p:cNvPr id="41" name="Text 39"/>
          <p:cNvSpPr/>
          <p:nvPr/>
        </p:nvSpPr>
        <p:spPr>
          <a:xfrm>
            <a:off x="1225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culture of increased purchasing of consumer goods, driven in the 1920s by mass production, national advertising, and installment credit.</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43" name="Shape 41"/>
          <p:cNvSpPr/>
          <p:nvPr/>
        </p:nvSpPr>
        <p:spPr>
          <a:xfrm>
            <a:off x="6263640" y="4498848"/>
            <a:ext cx="5486400" cy="676656"/>
          </a:xfrm>
          <a:prstGeom prst="rect">
            <a:avLst/>
          </a:prstGeom>
          <a:solidFill>
            <a:srgbClr val="1A2332"/>
          </a:solidFill>
          <a:ln/>
        </p:spPr>
        <p:txBody>
          <a:bodyPr/>
          <a:lstStyle/>
          <a:p>
            <a:endParaRPr lang="en-US"/>
          </a:p>
        </p:txBody>
      </p:sp>
      <p:sp>
        <p:nvSpPr>
          <p:cNvPr id="44" name="Text 42"/>
          <p:cNvSpPr/>
          <p:nvPr/>
        </p:nvSpPr>
        <p:spPr>
          <a:xfrm>
            <a:off x="6400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Radio Broadcasting</a:t>
            </a:r>
            <a:endParaRPr lang="en-US" sz="1350" dirty="0"/>
          </a:p>
        </p:txBody>
      </p:sp>
      <p:sp>
        <p:nvSpPr>
          <p:cNvPr id="45" name="Text 43"/>
          <p:cNvSpPr/>
          <p:nvPr/>
        </p:nvSpPr>
        <p:spPr>
          <a:xfrm>
            <a:off x="9418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Radiodifusión</a:t>
            </a:r>
            <a:endParaRPr lang="en-US" sz="1000" dirty="0"/>
          </a:p>
        </p:txBody>
      </p:sp>
      <p:sp>
        <p:nvSpPr>
          <p:cNvPr id="46" name="Shape 44"/>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7" name="Text 45"/>
          <p:cNvSpPr/>
          <p:nvPr/>
        </p:nvSpPr>
        <p:spPr>
          <a:xfrm>
            <a:off x="6291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RB</a:t>
            </a:r>
            <a:endParaRPr lang="en-US" sz="1300" dirty="0"/>
          </a:p>
        </p:txBody>
      </p:sp>
      <p:sp>
        <p:nvSpPr>
          <p:cNvPr id="48" name="Text 46"/>
          <p:cNvSpPr/>
          <p:nvPr/>
        </p:nvSpPr>
        <p:spPr>
          <a:xfrm>
            <a:off x="6940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transmission of audio content over radio waves that revolutionized communication in the 1920s, creating mass media, national advertising, and shared popular culture.</a:t>
            </a:r>
            <a:endParaRPr lang="en-US" sz="1100" dirty="0"/>
          </a:p>
        </p:txBody>
      </p:sp>
      <p:sp>
        <p:nvSpPr>
          <p:cNvPr id="49" name="Text 47"/>
          <p:cNvSpPr/>
          <p:nvPr/>
        </p:nvSpPr>
        <p:spPr>
          <a:xfrm>
            <a:off x="548640" y="5897880"/>
            <a:ext cx="11064240" cy="320040"/>
          </a:xfrm>
          <a:prstGeom prst="rect">
            <a:avLst/>
          </a:prstGeom>
          <a:noFill/>
          <a:ln/>
        </p:spPr>
        <p:txBody>
          <a:bodyPr wrap="square" rtlCol="0" anchor="ctr"/>
          <a:lstStyle/>
          <a:p>
            <a:pPr marL="0" indent="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0" name="Text 4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1" name="Text 4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marL="0" indent="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lstStyle/>
          <a:p>
            <a:endParaRPr lang="en-US"/>
          </a:p>
        </p:txBody>
      </p:sp>
      <p:sp>
        <p:nvSpPr>
          <p:cNvPr id="6" name="Text 4"/>
          <p:cNvSpPr/>
          <p:nvPr/>
        </p:nvSpPr>
        <p:spPr>
          <a:xfrm>
            <a:off x="8869680" y="822960"/>
            <a:ext cx="274320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Evaluate significance of technology</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640080"/>
          </a:xfrm>
          <a:prstGeom prst="rect">
            <a:avLst/>
          </a:prstGeom>
          <a:noFill/>
          <a:ln/>
        </p:spPr>
        <p:txBody>
          <a:bodyPr wrap="square" rtlCol="0" anchor="ctr"/>
          <a:lstStyle/>
          <a:p>
            <a:pPr marL="0" indent="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r>
              <a:rPr lang="en-US" sz="1500" dirty="0">
                <a:solidFill>
                  <a:srgbClr val="FFFFFF"/>
                </a:solidFill>
                <a:latin typeface="Calibri" pitchFamily="34" charset="0"/>
                <a:ea typeface="Calibri" pitchFamily="34" charset="-122"/>
                <a:cs typeface="Calibri" pitchFamily="34" charset="-120"/>
              </a:rPr>
              <a:t>Which mattered more to daily life - air travel or electrification?</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lstStyle/>
          <a:p>
            <a:endParaRPr lang="en-US"/>
          </a:p>
        </p:txBody>
      </p:sp>
      <p:sp>
        <p:nvSpPr>
          <p:cNvPr id="10" name="Text 8"/>
          <p:cNvSpPr/>
          <p:nvPr/>
        </p:nvSpPr>
        <p:spPr>
          <a:xfrm>
            <a:off x="822960" y="2724912"/>
            <a:ext cx="10058400" cy="292608"/>
          </a:xfrm>
          <a:prstGeom prst="rect">
            <a:avLst/>
          </a:prstGeom>
          <a:noFill/>
          <a:ln/>
        </p:spPr>
        <p:txBody>
          <a:bodyPr wrap="square" rtlCol="0" anchor="ctr"/>
          <a:lstStyle/>
          <a:p>
            <a:pPr marL="0" indent="0">
              <a:buNone/>
            </a:pPr>
            <a:r>
              <a:rPr lang="en-US" sz="1100" b="1" kern="0" spc="10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marL="0" indent="0">
              <a:lnSpc>
                <a:spcPct val="106000"/>
              </a:lnSpc>
              <a:buNone/>
            </a:pPr>
            <a:r>
              <a:rPr lang="en-US" sz="1450" b="1" dirty="0">
                <a:solidFill>
                  <a:srgbClr val="1A2332"/>
                </a:solidFill>
                <a:latin typeface="Calibri" pitchFamily="34" charset="0"/>
                <a:ea typeface="Calibri" pitchFamily="34" charset="-122"/>
                <a:cs typeface="Calibri" pitchFamily="34" charset="-120"/>
              </a:rPr>
              <a:t>Lindbergh's flight thrilled the nation, but electrification changed millions of homes and factories every day. Reach and daily impact are different measures.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lstStyle/>
          <a:p>
            <a:endParaRPr lang="en-US"/>
          </a:p>
        </p:txBody>
      </p:sp>
      <p:sp>
        <p:nvSpPr>
          <p:cNvPr id="13" name="Text 11"/>
          <p:cNvSpPr/>
          <p:nvPr/>
        </p:nvSpPr>
        <p:spPr>
          <a:xfrm>
            <a:off x="822960" y="4407408"/>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marL="0" indent="0">
              <a:lnSpc>
                <a:spcPct val="106000"/>
              </a:lnSpc>
              <a:buNone/>
            </a:pPr>
            <a:r>
              <a:rPr lang="en-US" sz="1300" i="1" dirty="0">
                <a:solidFill>
                  <a:srgbClr val="1F2430"/>
                </a:solidFill>
                <a:latin typeface="Calibri" pitchFamily="34" charset="0"/>
                <a:ea typeface="Calibri" pitchFamily="34" charset="-122"/>
                <a:cs typeface="Calibri" pitchFamily="34" charset="-120"/>
              </a:rPr>
              <a:t>List one effect of aviation and one effect of electrification.</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marL="0" indent="0">
              <a:buNone/>
            </a:pPr>
            <a:r>
              <a:rPr lang="en-US" sz="1200" b="1" dirty="0">
                <a:solidFill>
                  <a:srgbClr val="1A2332"/>
                </a:solidFill>
                <a:latin typeface="Calibri" pitchFamily="34" charset="0"/>
                <a:ea typeface="Calibri" pitchFamily="34" charset="-122"/>
                <a:cs typeface="Calibri" pitchFamily="34" charset="-120"/>
              </a:rPr>
              <a:t>→ Now you try:  </a:t>
            </a:r>
            <a:r>
              <a:rPr lang="en-US" sz="1200" i="1" dirty="0">
                <a:solidFill>
                  <a:srgbClr val="002858"/>
                </a:solidFill>
                <a:latin typeface="Calibri" pitchFamily="34" charset="0"/>
                <a:ea typeface="Calibri" pitchFamily="34" charset="-122"/>
                <a:cs typeface="Calibri" pitchFamily="34" charset="-120"/>
              </a:rPr>
              <a:t>Decide which technology was more transformative and defend it with evidence.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marL="0" indent="0">
              <a:buNone/>
            </a:pPr>
            <a:r>
              <a:rPr lang="en-US" sz="2200" b="1" dirty="0">
                <a:solidFill>
                  <a:srgbClr val="1A2332"/>
                </a:solidFill>
                <a:latin typeface="Georgia" pitchFamily="34" charset="0"/>
                <a:ea typeface="Georgia" pitchFamily="34" charset="-122"/>
                <a:cs typeface="Georgia" pitchFamily="34" charset="-120"/>
              </a:rPr>
              <a:t>The Sky and the Switch — Technology Transforms Daily Life</a:t>
            </a:r>
            <a:endParaRPr lang="en-US" sz="2200" dirty="0"/>
          </a:p>
        </p:txBody>
      </p:sp>
      <p:sp>
        <p:nvSpPr>
          <p:cNvPr id="5" name="Shape 3"/>
          <p:cNvSpPr/>
          <p:nvPr/>
        </p:nvSpPr>
        <p:spPr>
          <a:xfrm>
            <a:off x="548640" y="1591056"/>
            <a:ext cx="694944" cy="365760"/>
          </a:xfrm>
          <a:prstGeom prst="roundRect">
            <a:avLst>
              <a:gd name="adj" fmla="val 20000"/>
            </a:avLst>
          </a:prstGeom>
          <a:solidFill>
            <a:srgbClr val="1A2332"/>
          </a:solidFill>
          <a:ln/>
        </p:spPr>
        <p:txBody>
          <a:bodyPr/>
          <a:lstStyle/>
          <a:p>
            <a:endParaRPr lang="en-US"/>
          </a:p>
        </p:txBody>
      </p:sp>
      <p:sp>
        <p:nvSpPr>
          <p:cNvPr id="6" name="Text 4"/>
          <p:cNvSpPr/>
          <p:nvPr/>
        </p:nvSpPr>
        <p:spPr>
          <a:xfrm>
            <a:off x="548640" y="1591056"/>
            <a:ext cx="694944"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txBody>
          <a:bodyPr/>
          <a:lstStyle/>
          <a:p>
            <a:endParaRPr lang="en-US"/>
          </a:p>
        </p:txBody>
      </p:sp>
      <p:sp>
        <p:nvSpPr>
          <p:cNvPr id="8" name="Text 6"/>
          <p:cNvSpPr/>
          <p:nvPr/>
        </p:nvSpPr>
        <p:spPr>
          <a:xfrm>
            <a:off x="1408176" y="1591056"/>
            <a:ext cx="779069"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lstStyle/>
          <a:p>
            <a:endParaRPr lang="en-US"/>
          </a:p>
        </p:txBody>
      </p:sp>
      <p:sp>
        <p:nvSpPr>
          <p:cNvPr id="10" name="Text 8"/>
          <p:cNvSpPr/>
          <p:nvPr/>
        </p:nvSpPr>
        <p:spPr>
          <a:xfrm>
            <a:off x="822960" y="2194560"/>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marL="0" indent="0">
              <a:lnSpc>
                <a:spcPct val="112000"/>
              </a:lnSpc>
              <a:buNone/>
            </a:pPr>
            <a:r>
              <a:rPr lang="en-US" sz="1350" dirty="0">
                <a:solidFill>
                  <a:srgbClr val="1F2430"/>
                </a:solidFill>
                <a:latin typeface="Calibri" pitchFamily="34" charset="0"/>
                <a:ea typeface="Calibri" pitchFamily="34" charset="-122"/>
                <a:cs typeface="Calibri" pitchFamily="34" charset="-120"/>
              </a:rPr>
              <a:t>Using the Lindbergh news report and the rural electrification survey, complete a T-chart: on one side list ways AVIATION changed America; on the other list ways ELECTRICITY changed the home and workplace. Include at least two items per side, and star any item that did NOT reach rural areas. Finish with a one-sentence claim on whether 1920s technology benefited all Americans equally.</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lstStyle/>
          <a:p>
            <a:endParaRPr lang="en-US"/>
          </a:p>
        </p:txBody>
      </p:sp>
      <p:pic>
        <p:nvPicPr>
          <p:cNvPr id="13" name="Image 0" descr="unit4-full/img/spirit-of-st-louis-1927.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11002" y="2057400"/>
            <a:ext cx="1426116"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marL="0" indent="0" algn="l">
              <a:lnSpc>
                <a:spcPct val="100000"/>
              </a:lnSpc>
              <a:buNone/>
            </a:pPr>
            <a:r>
              <a:rPr lang="en-US" sz="750" i="1" dirty="0">
                <a:solidFill>
                  <a:srgbClr val="5C6470"/>
                </a:solidFill>
                <a:latin typeface="Calibri" pitchFamily="34" charset="0"/>
                <a:ea typeface="Calibri" pitchFamily="34" charset="-122"/>
                <a:cs typeface="Calibri" pitchFamily="34" charset="-120"/>
              </a:rPr>
              <a:t>Library of Congress, Prints and Photographs Division, 1927  </a:t>
            </a:r>
            <a:r>
              <a:rPr lang="en-US" sz="75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lstStyle/>
          <a:p>
            <a:endParaRPr lang="en-US"/>
          </a:p>
        </p:txBody>
      </p:sp>
      <p:sp>
        <p:nvSpPr>
          <p:cNvPr id="16" name="Text 13"/>
          <p:cNvSpPr/>
          <p:nvPr/>
        </p:nvSpPr>
        <p:spPr>
          <a:xfrm>
            <a:off x="777240" y="4645152"/>
            <a:ext cx="4572000" cy="274320"/>
          </a:xfrm>
          <a:prstGeom prst="rect">
            <a:avLst/>
          </a:prstGeom>
          <a:noFill/>
          <a:ln/>
        </p:spPr>
        <p:txBody>
          <a:bodyPr wrap="square" rtlCol="0" anchor="ctr"/>
          <a:lstStyle/>
          <a:p>
            <a:pPr marL="0" indent="0">
              <a:buNone/>
            </a:pPr>
            <a:r>
              <a:rPr lang="en-US" sz="1050" b="1" kern="0" spc="20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normAutofit/>
          </a:bodyPr>
          <a:lstStyle/>
          <a:p>
            <a:pPr marL="0" indent="0">
              <a:lnSpc>
                <a:spcPct val="103000"/>
              </a:lnSpc>
              <a:buNone/>
            </a:pPr>
            <a:r>
              <a:rPr lang="en-US" sz="1250" dirty="0">
                <a:solidFill>
                  <a:srgbClr val="FFFFFF"/>
                </a:solidFill>
                <a:latin typeface="Calibri" pitchFamily="34" charset="0"/>
                <a:ea typeface="Calibri" pitchFamily="34" charset="-122"/>
                <a:cs typeface="Calibri" pitchFamily="34" charset="-120"/>
              </a:rPr>
              <a:t>Completed aviation/electricity T-chart (2+ items per side, rural gaps starred) AND a one-sentence evidence-based claim.</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lstStyle/>
          <a:p>
            <a:endParaRPr lang="en-US"/>
          </a:p>
        </p:txBody>
      </p:sp>
      <p:sp>
        <p:nvSpPr>
          <p:cNvPr id="19" name="Text 16"/>
          <p:cNvSpPr/>
          <p:nvPr/>
        </p:nvSpPr>
        <p:spPr>
          <a:xfrm>
            <a:off x="6400800" y="4645152"/>
            <a:ext cx="4572000" cy="274320"/>
          </a:xfrm>
          <a:prstGeom prst="rect">
            <a:avLst/>
          </a:prstGeom>
          <a:noFill/>
          <a:ln/>
        </p:spPr>
        <p:txBody>
          <a:bodyPr wrap="square" rtlCol="0" anchor="ctr"/>
          <a:lstStyle/>
          <a:p>
            <a:pPr marL="0" indent="0">
              <a:buNone/>
            </a:pPr>
            <a:r>
              <a:rPr lang="en-US" sz="1050" b="1" kern="0" spc="20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20" name="Text 17"/>
          <p:cNvSpPr/>
          <p:nvPr/>
        </p:nvSpPr>
        <p:spPr>
          <a:xfrm>
            <a:off x="6400800" y="4919472"/>
            <a:ext cx="5029200" cy="868680"/>
          </a:xfrm>
          <a:prstGeom prst="rect">
            <a:avLst/>
          </a:prstGeom>
          <a:noFill/>
          <a:ln/>
        </p:spPr>
        <p:txBody>
          <a:bodyPr wrap="square" rtlCol="0" anchor="t">
            <a:normAutofit/>
          </a:bodyPr>
          <a:lstStyle/>
          <a:p>
            <a:pPr marL="0" indent="0">
              <a:lnSpc>
                <a:spcPct val="103000"/>
              </a:lnSpc>
              <a:buNone/>
            </a:pPr>
            <a:r>
              <a:rPr lang="en-US" sz="1000" dirty="0">
                <a:solidFill>
                  <a:srgbClr val="1F2430"/>
                </a:solidFill>
                <a:latin typeface="Calibri" pitchFamily="34" charset="0"/>
                <a:ea typeface="Calibri" pitchFamily="34" charset="-122"/>
                <a:cs typeface="Calibri" pitchFamily="34" charset="-120"/>
              </a:rPr>
              <a:t>Entry: T-chart with a word bank of technologies and effects to sort. Honors: Write a paragraph using the rural electrification gap to argue whether the 1920s 'technology boom' was truly national.</a:t>
            </a:r>
            <a:endParaRPr lang="en-US" sz="1000" dirty="0"/>
          </a:p>
        </p:txBody>
      </p:sp>
      <p:sp>
        <p:nvSpPr>
          <p:cNvPr id="21" name="Text 18"/>
          <p:cNvSpPr/>
          <p:nvPr/>
        </p:nvSpPr>
        <p:spPr>
          <a:xfrm>
            <a:off x="548640" y="5943600"/>
            <a:ext cx="11064240" cy="320040"/>
          </a:xfrm>
          <a:prstGeom prst="rect">
            <a:avLst/>
          </a:prstGeom>
          <a:noFill/>
          <a:ln/>
        </p:spPr>
        <p:txBody>
          <a:bodyPr wrap="square" rtlCol="0" anchor="ctr"/>
          <a:lstStyle/>
          <a:p>
            <a:pPr marL="0" indent="0">
              <a:buNone/>
            </a:pPr>
            <a:r>
              <a:rPr lang="en-US" sz="1050" b="1" dirty="0">
                <a:solidFill>
                  <a:srgbClr val="1A2332"/>
                </a:solidFill>
                <a:latin typeface="Calibri" pitchFamily="34" charset="0"/>
                <a:ea typeface="Calibri" pitchFamily="34" charset="-122"/>
                <a:cs typeface="Calibri" pitchFamily="34" charset="-120"/>
              </a:rPr>
              <a:t>Companion printable:  </a:t>
            </a:r>
            <a:r>
              <a:rPr lang="en-US" sz="1050" i="1" dirty="0">
                <a:solidFill>
                  <a:srgbClr val="002858"/>
                </a:solidFill>
                <a:latin typeface="Calibri" pitchFamily="34" charset="0"/>
                <a:ea typeface="Calibri" pitchFamily="34" charset="-122"/>
                <a:cs typeface="Calibri" pitchFamily="34" charset="-120"/>
              </a:rPr>
              <a:t>cornell-notes/unit-4/us31-aviation-electricity.pdf</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US.31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lstStyle/>
          <a:p>
            <a:endParaRPr lang="en-US"/>
          </a:p>
        </p:txBody>
      </p:sp>
      <p:sp>
        <p:nvSpPr>
          <p:cNvPr id="6" name="Text 4"/>
          <p:cNvSpPr/>
          <p:nvPr/>
        </p:nvSpPr>
        <p:spPr>
          <a:xfrm>
            <a:off x="7635240" y="822960"/>
            <a:ext cx="1143000" cy="457200"/>
          </a:xfrm>
          <a:prstGeom prst="rect">
            <a:avLst/>
          </a:prstGeom>
          <a:noFill/>
          <a:ln/>
        </p:spPr>
        <p:txBody>
          <a:bodyPr wrap="square" rtlCol="0" anchor="ctr"/>
          <a:lstStyle/>
          <a:p>
            <a:pPr marL="0" indent="0" algn="ctr">
              <a:buNone/>
            </a:pPr>
            <a:r>
              <a:rPr lang="en-US" sz="1200" b="1" dirty="0">
                <a:solidFill>
                  <a:srgbClr val="F9A825"/>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lstStyle/>
          <a:p>
            <a:endParaRPr lang="en-US"/>
          </a:p>
        </p:txBody>
      </p:sp>
      <p:sp>
        <p:nvSpPr>
          <p:cNvPr id="8" name="Text 6"/>
          <p:cNvSpPr/>
          <p:nvPr/>
        </p:nvSpPr>
        <p:spPr>
          <a:xfrm>
            <a:off x="8869680" y="822960"/>
            <a:ext cx="274320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lstStyle/>
          <a:p>
            <a:endParaRPr lang="en-US"/>
          </a:p>
        </p:txBody>
      </p:sp>
      <p:sp>
        <p:nvSpPr>
          <p:cNvPr id="10" name="Text 8"/>
          <p:cNvSpPr/>
          <p:nvPr/>
        </p:nvSpPr>
        <p:spPr>
          <a:xfrm>
            <a:off x="822960" y="1691640"/>
            <a:ext cx="10515600" cy="777240"/>
          </a:xfrm>
          <a:prstGeom prst="rect">
            <a:avLst/>
          </a:prstGeom>
          <a:noFill/>
          <a:ln/>
        </p:spPr>
        <p:txBody>
          <a:bodyPr wrap="square" rtlCol="0" anchor="ctr"/>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How did the newspaper characterize Lindbergh's transatlantic flight?</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2" name="Shape 10"/>
          <p:cNvSpPr/>
          <p:nvPr/>
        </p:nvSpPr>
        <p:spPr>
          <a:xfrm>
            <a:off x="713232" y="2889504"/>
            <a:ext cx="365760" cy="365760"/>
          </a:xfrm>
          <a:prstGeom prst="ellipse">
            <a:avLst/>
          </a:prstGeom>
          <a:solidFill>
            <a:srgbClr val="1A2332"/>
          </a:solidFill>
          <a:ln/>
        </p:spPr>
        <p:txBody>
          <a:bodyPr/>
          <a:lstStyle/>
          <a:p>
            <a:endParaRPr lang="en-US"/>
          </a:p>
        </p:txBody>
      </p:sp>
      <p:sp>
        <p:nvSpPr>
          <p:cNvPr id="13" name="Text 11"/>
          <p:cNvSpPr/>
          <p:nvPr/>
        </p:nvSpPr>
        <p:spPr>
          <a:xfrm>
            <a:off x="713232" y="2889504"/>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As a routine commercial aviation achievement</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6" name="Shape 14"/>
          <p:cNvSpPr/>
          <p:nvPr/>
        </p:nvSpPr>
        <p:spPr>
          <a:xfrm>
            <a:off x="713232" y="3639312"/>
            <a:ext cx="365760" cy="365760"/>
          </a:xfrm>
          <a:prstGeom prst="ellipse">
            <a:avLst/>
          </a:prstGeom>
          <a:solidFill>
            <a:srgbClr val="1A2332"/>
          </a:solidFill>
          <a:ln/>
        </p:spPr>
        <p:txBody>
          <a:bodyPr/>
          <a:lstStyle/>
          <a:p>
            <a:endParaRPr lang="en-US"/>
          </a:p>
        </p:txBody>
      </p:sp>
      <p:sp>
        <p:nvSpPr>
          <p:cNvPr id="17" name="Text 15"/>
          <p:cNvSpPr/>
          <p:nvPr/>
        </p:nvSpPr>
        <p:spPr>
          <a:xfrm>
            <a:off x="713232" y="3639312"/>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As "the greatest feat of a solitary man in the records of the human race"</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0" name="Shape 18"/>
          <p:cNvSpPr/>
          <p:nvPr/>
        </p:nvSpPr>
        <p:spPr>
          <a:xfrm>
            <a:off x="713232" y="4389120"/>
            <a:ext cx="365760" cy="365760"/>
          </a:xfrm>
          <a:prstGeom prst="ellipse">
            <a:avLst/>
          </a:prstGeom>
          <a:solidFill>
            <a:srgbClr val="1A2332"/>
          </a:solidFill>
          <a:ln/>
        </p:spPr>
        <p:txBody>
          <a:bodyPr/>
          <a:lstStyle/>
          <a:p>
            <a:endParaRPr lang="en-US"/>
          </a:p>
        </p:txBody>
      </p:sp>
      <p:sp>
        <p:nvSpPr>
          <p:cNvPr id="21" name="Text 19"/>
          <p:cNvSpPr/>
          <p:nvPr/>
        </p:nvSpPr>
        <p:spPr>
          <a:xfrm>
            <a:off x="713232" y="4389120"/>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As a dangerous stunt that should not be repeated</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4" name="Shape 22"/>
          <p:cNvSpPr/>
          <p:nvPr/>
        </p:nvSpPr>
        <p:spPr>
          <a:xfrm>
            <a:off x="713232" y="5138928"/>
            <a:ext cx="365760" cy="365760"/>
          </a:xfrm>
          <a:prstGeom prst="ellipse">
            <a:avLst/>
          </a:prstGeom>
          <a:solidFill>
            <a:srgbClr val="1A2332"/>
          </a:solidFill>
          <a:ln/>
        </p:spPr>
        <p:txBody>
          <a:bodyPr/>
          <a:lstStyle/>
          <a:p>
            <a:endParaRPr lang="en-US"/>
          </a:p>
        </p:txBody>
      </p:sp>
      <p:sp>
        <p:nvSpPr>
          <p:cNvPr id="25" name="Text 23"/>
          <p:cNvSpPr/>
          <p:nvPr/>
        </p:nvSpPr>
        <p:spPr>
          <a:xfrm>
            <a:off x="713232" y="5138928"/>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As a failed attempt that barely succeeded</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lstStyle/>
          <a:p>
            <a:endParaRPr lang="en-US"/>
          </a:p>
        </p:txBody>
      </p:sp>
      <p:sp>
        <p:nvSpPr>
          <p:cNvPr id="28" name="Text 26"/>
          <p:cNvSpPr/>
          <p:nvPr/>
        </p:nvSpPr>
        <p:spPr>
          <a:xfrm>
            <a:off x="822960" y="5715000"/>
            <a:ext cx="10515600" cy="502920"/>
          </a:xfrm>
          <a:prstGeom prst="rect">
            <a:avLst/>
          </a:prstGeom>
          <a:noFill/>
          <a:ln/>
        </p:spPr>
        <p:txBody>
          <a:bodyPr wrap="square" rtlCol="0" anchor="ctr"/>
          <a:lstStyle/>
          <a:p>
            <a:pPr marL="0" indent="0">
              <a:buNone/>
            </a:pPr>
            <a:r>
              <a:rPr lang="en-US" sz="1200" b="1" i="1" kern="0" spc="100" dirty="0">
                <a:solidFill>
                  <a:srgbClr val="F9A825"/>
                </a:solidFill>
                <a:latin typeface="Trebuchet MS" pitchFamily="34" charset="0"/>
                <a:ea typeface="Trebuchet MS" pitchFamily="34" charset="-122"/>
                <a:cs typeface="Trebuchet MS" pitchFamily="34" charset="-120"/>
              </a:rPr>
              <a:t>ANSWER FIRST:  </a:t>
            </a: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US.31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lstStyle/>
          <a:p>
            <a:endParaRPr lang="en-US"/>
          </a:p>
        </p:txBody>
      </p:sp>
      <p:sp>
        <p:nvSpPr>
          <p:cNvPr id="6" name="Text 4"/>
          <p:cNvSpPr/>
          <p:nvPr/>
        </p:nvSpPr>
        <p:spPr>
          <a:xfrm>
            <a:off x="8595360" y="822960"/>
            <a:ext cx="301752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731520"/>
          </a:xfrm>
          <a:prstGeom prst="rect">
            <a:avLst/>
          </a:prstGeom>
          <a:noFill/>
          <a:ln/>
        </p:spPr>
        <p:txBody>
          <a:bodyPr wrap="square" rtlCol="0" anchor="ctr"/>
          <a:lstStyle/>
          <a:p>
            <a:pPr marL="0" indent="0">
              <a:lnSpc>
                <a:spcPct val="102000"/>
              </a:lnSpc>
              <a:buNone/>
            </a:pPr>
            <a:r>
              <a:rPr lang="en-US" sz="1500" b="1" dirty="0">
                <a:solidFill>
                  <a:srgbClr val="FFFFFF"/>
                </a:solidFill>
                <a:latin typeface="Calibri" pitchFamily="34" charset="0"/>
                <a:ea typeface="Calibri" pitchFamily="34" charset="-122"/>
                <a:cs typeface="Calibri" pitchFamily="34" charset="-120"/>
              </a:rPr>
              <a:t>How did the newspaper characterize Lindbergh's transatlantic flight?</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0" name="Shape 8"/>
          <p:cNvSpPr/>
          <p:nvPr/>
        </p:nvSpPr>
        <p:spPr>
          <a:xfrm>
            <a:off x="713232" y="2761488"/>
            <a:ext cx="347472" cy="347472"/>
          </a:xfrm>
          <a:prstGeom prst="ellipse">
            <a:avLst/>
          </a:prstGeom>
          <a:solidFill>
            <a:srgbClr val="1A2332"/>
          </a:solidFill>
          <a:ln/>
        </p:spPr>
        <p:txBody>
          <a:bodyPr/>
          <a:lstStyle/>
          <a:p>
            <a:endParaRPr lang="en-US"/>
          </a:p>
        </p:txBody>
      </p:sp>
      <p:sp>
        <p:nvSpPr>
          <p:cNvPr id="11" name="Text 9"/>
          <p:cNvSpPr/>
          <p:nvPr/>
        </p:nvSpPr>
        <p:spPr>
          <a:xfrm>
            <a:off x="713232" y="2761488"/>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As a routine commercial aviation achievement</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txBody>
          <a:bodyPr/>
          <a:lstStyle/>
          <a:p>
            <a:endParaRPr lang="en-US"/>
          </a:p>
        </p:txBody>
      </p:sp>
      <p:sp>
        <p:nvSpPr>
          <p:cNvPr id="14" name="Shape 12"/>
          <p:cNvSpPr/>
          <p:nvPr/>
        </p:nvSpPr>
        <p:spPr>
          <a:xfrm>
            <a:off x="713232" y="3419856"/>
            <a:ext cx="347472" cy="347472"/>
          </a:xfrm>
          <a:prstGeom prst="ellipse">
            <a:avLst/>
          </a:prstGeom>
          <a:solidFill>
            <a:srgbClr val="1A2332"/>
          </a:solidFill>
          <a:ln/>
        </p:spPr>
        <p:txBody>
          <a:bodyPr/>
          <a:lstStyle/>
          <a:p>
            <a:endParaRPr lang="en-US"/>
          </a:p>
        </p:txBody>
      </p:sp>
      <p:sp>
        <p:nvSpPr>
          <p:cNvPr id="15" name="Text 13"/>
          <p:cNvSpPr/>
          <p:nvPr/>
        </p:nvSpPr>
        <p:spPr>
          <a:xfrm>
            <a:off x="713232" y="3419856"/>
            <a:ext cx="347472" cy="347472"/>
          </a:xfrm>
          <a:prstGeom prst="rect">
            <a:avLst/>
          </a:prstGeom>
          <a:noFill/>
          <a:ln/>
        </p:spPr>
        <p:txBody>
          <a:bodyPr wrap="square" rtlCol="0" anchor="ctr"/>
          <a:lstStyle/>
          <a:p>
            <a:pPr marL="0" indent="0" algn="ctr">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marL="0" indent="0">
              <a:lnSpc>
                <a:spcPct val="100000"/>
              </a:lnSpc>
              <a:buNone/>
            </a:pPr>
            <a:r>
              <a:rPr lang="en-US" sz="1300" b="1" dirty="0">
                <a:solidFill>
                  <a:srgbClr val="1A2332"/>
                </a:solidFill>
                <a:latin typeface="Calibri" pitchFamily="34" charset="0"/>
                <a:ea typeface="Calibri" pitchFamily="34" charset="-122"/>
                <a:cs typeface="Calibri" pitchFamily="34" charset="-120"/>
              </a:rPr>
              <a:t>As "the greatest feat of a solitary man in the records of the human race"</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marL="0" indent="0" algn="ctr">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9" name="Shape 17"/>
          <p:cNvSpPr/>
          <p:nvPr/>
        </p:nvSpPr>
        <p:spPr>
          <a:xfrm>
            <a:off x="713232" y="4078224"/>
            <a:ext cx="347472" cy="347472"/>
          </a:xfrm>
          <a:prstGeom prst="ellipse">
            <a:avLst/>
          </a:prstGeom>
          <a:solidFill>
            <a:srgbClr val="1A2332"/>
          </a:solidFill>
          <a:ln/>
        </p:spPr>
        <p:txBody>
          <a:bodyPr/>
          <a:lstStyle/>
          <a:p>
            <a:endParaRPr lang="en-US"/>
          </a:p>
        </p:txBody>
      </p:sp>
      <p:sp>
        <p:nvSpPr>
          <p:cNvPr id="20" name="Text 18"/>
          <p:cNvSpPr/>
          <p:nvPr/>
        </p:nvSpPr>
        <p:spPr>
          <a:xfrm>
            <a:off x="713232" y="4078224"/>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As a dangerous stunt that should not be repeated</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23" name="Shape 21"/>
          <p:cNvSpPr/>
          <p:nvPr/>
        </p:nvSpPr>
        <p:spPr>
          <a:xfrm>
            <a:off x="713232" y="4736592"/>
            <a:ext cx="347472" cy="347472"/>
          </a:xfrm>
          <a:prstGeom prst="ellipse">
            <a:avLst/>
          </a:prstGeom>
          <a:solidFill>
            <a:srgbClr val="1A2332"/>
          </a:solidFill>
          <a:ln/>
        </p:spPr>
        <p:txBody>
          <a:bodyPr/>
          <a:lstStyle/>
          <a:p>
            <a:endParaRPr lang="en-US"/>
          </a:p>
        </p:txBody>
      </p:sp>
      <p:sp>
        <p:nvSpPr>
          <p:cNvPr id="24" name="Text 22"/>
          <p:cNvSpPr/>
          <p:nvPr/>
        </p:nvSpPr>
        <p:spPr>
          <a:xfrm>
            <a:off x="713232" y="4736592"/>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As a failed attempt that barely succeeded</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lstStyle/>
          <a:p>
            <a:endParaRPr lang="en-US"/>
          </a:p>
        </p:txBody>
      </p:sp>
      <p:sp>
        <p:nvSpPr>
          <p:cNvPr id="27" name="Text 25"/>
          <p:cNvSpPr/>
          <p:nvPr/>
        </p:nvSpPr>
        <p:spPr>
          <a:xfrm>
            <a:off x="822960" y="5532120"/>
            <a:ext cx="10515600" cy="713232"/>
          </a:xfrm>
          <a:prstGeom prst="rect">
            <a:avLst/>
          </a:prstGeom>
          <a:noFill/>
          <a:ln/>
        </p:spPr>
        <p:txBody>
          <a:bodyPr wrap="square" rtlCol="0" anchor="ctr"/>
          <a:lstStyle/>
          <a:p>
            <a:pPr marL="0" indent="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Why: </a:t>
            </a:r>
            <a:r>
              <a:rPr lang="en-US" sz="1150" dirty="0">
                <a:solidFill>
                  <a:srgbClr val="C7D4E0"/>
                </a:solidFill>
                <a:latin typeface="Calibri" pitchFamily="34" charset="0"/>
                <a:ea typeface="Calibri" pitchFamily="34" charset="-122"/>
                <a:cs typeface="Calibri" pitchFamily="34" charset="-120"/>
              </a:rPr>
              <a:t>The Times calls it "the greatest feat of a solitary man in the records of the human race," showing how aviation captured public imagination.</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US.31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marL="0" indent="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lstStyle/>
          <a:p>
            <a:endParaRPr lang="en-US"/>
          </a:p>
        </p:txBody>
      </p:sp>
      <p:sp>
        <p:nvSpPr>
          <p:cNvPr id="6" name="Text 4"/>
          <p:cNvSpPr/>
          <p:nvPr/>
        </p:nvSpPr>
        <p:spPr>
          <a:xfrm>
            <a:off x="868680" y="1847088"/>
            <a:ext cx="5486400" cy="320040"/>
          </a:xfrm>
          <a:prstGeom prst="rect">
            <a:avLst/>
          </a:prstGeom>
          <a:noFill/>
          <a:ln/>
        </p:spPr>
        <p:txBody>
          <a:bodyPr wrap="square" rtlCol="0" anchor="ctr"/>
          <a:lstStyle/>
          <a:p>
            <a:pPr marL="0" indent="0">
              <a:buNone/>
            </a:pPr>
            <a:r>
              <a:rPr lang="en-US" sz="1200" b="1" kern="0" spc="20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Early Aviation Development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Aviation's Revolutionary Impact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Spread of Electricity: Urban Transformation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Household and Industrial Transformation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Rural Electrification Gap</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lstStyle/>
          <a:p>
            <a:endParaRPr lang="en-US"/>
          </a:p>
        </p:txBody>
      </p:sp>
      <p:sp>
        <p:nvSpPr>
          <p:cNvPr id="9" name="Text 7"/>
          <p:cNvSpPr/>
          <p:nvPr/>
        </p:nvSpPr>
        <p:spPr>
          <a:xfrm>
            <a:off x="822960" y="4901184"/>
            <a:ext cx="6492240" cy="274320"/>
          </a:xfrm>
          <a:prstGeom prst="rect">
            <a:avLst/>
          </a:prstGeom>
          <a:noFill/>
          <a:ln/>
        </p:spPr>
        <p:txBody>
          <a:bodyPr wrap="square" rtlCol="0" anchor="ctr"/>
          <a:lstStyle/>
          <a:p>
            <a:pPr marL="0" indent="0">
              <a:buNone/>
            </a:pPr>
            <a:r>
              <a:rPr lang="en-US" sz="1100" b="1" kern="0" spc="100" dirty="0">
                <a:solidFill>
                  <a:srgbClr val="7A5C12"/>
                </a:solidFill>
                <a:latin typeface="Trebuchet MS" pitchFamily="34" charset="0"/>
                <a:ea typeface="Trebuchet MS" pitchFamily="34" charset="-122"/>
                <a:cs typeface="Trebuchet MS" pitchFamily="34" charset="-120"/>
              </a:rPr>
              <a:t>★ HONORS / EXTENSION  </a:t>
            </a: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marL="0" indent="0">
              <a:lnSpc>
                <a:spcPct val="98000"/>
              </a:lnSpc>
              <a:buNone/>
            </a:pPr>
            <a:r>
              <a:rPr lang="en-US" sz="1050" i="1" dirty="0">
                <a:solidFill>
                  <a:srgbClr val="1F2430"/>
                </a:solidFill>
                <a:latin typeface="Calibri" pitchFamily="34" charset="0"/>
                <a:ea typeface="Calibri" pitchFamily="34" charset="-122"/>
                <a:cs typeface="Calibri" pitchFamily="34" charset="-120"/>
              </a:rPr>
              <a:t>Evaluate: Did the technological changes of the 1920s benefit all Americans equally? Use the rural electrification gap as evidence to argue your position.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lstStyle/>
          <a:p>
            <a:endParaRPr lang="en-US"/>
          </a:p>
        </p:txBody>
      </p:sp>
      <p:sp>
        <p:nvSpPr>
          <p:cNvPr id="12" name="Text 10"/>
          <p:cNvSpPr/>
          <p:nvPr/>
        </p:nvSpPr>
        <p:spPr>
          <a:xfrm>
            <a:off x="8092440" y="1920240"/>
            <a:ext cx="2286000" cy="320040"/>
          </a:xfrm>
          <a:prstGeom prst="rect">
            <a:avLst/>
          </a:prstGeom>
          <a:noFill/>
          <a:ln/>
        </p:spPr>
        <p:txBody>
          <a:bodyPr wrap="square" rtlCol="0" anchor="ctr"/>
          <a:lstStyle/>
          <a:p>
            <a:pPr marL="0" indent="0">
              <a:buNone/>
            </a:pPr>
            <a:r>
              <a:rPr lang="en-US" sz="1200" b="1" kern="0" spc="20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lstStyle/>
          <a:p>
            <a:endParaRPr lang="en-US"/>
          </a:p>
        </p:txBody>
      </p:sp>
      <p:sp>
        <p:nvSpPr>
          <p:cNvPr id="14" name="Text 12"/>
          <p:cNvSpPr/>
          <p:nvPr/>
        </p:nvSpPr>
        <p:spPr>
          <a:xfrm>
            <a:off x="10378440" y="1883664"/>
            <a:ext cx="960120" cy="365760"/>
          </a:xfrm>
          <a:prstGeom prst="rect">
            <a:avLst/>
          </a:prstGeom>
          <a:noFill/>
          <a:ln/>
        </p:spPr>
        <p:txBody>
          <a:bodyPr wrap="square" rtlCol="0" anchor="ctr"/>
          <a:lstStyle/>
          <a:p>
            <a:pPr marL="0" indent="0" algn="ctr">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Explain how advances in aviation and electricity changed American life in the 1920s. Give one example of each.</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lstStyle/>
          <a:p>
            <a:endParaRPr lang="en-US"/>
          </a:p>
        </p:txBody>
      </p:sp>
      <p:sp>
        <p:nvSpPr>
          <p:cNvPr id="17" name="Shape 15"/>
          <p:cNvSpPr/>
          <p:nvPr/>
        </p:nvSpPr>
        <p:spPr>
          <a:xfrm>
            <a:off x="8138160" y="5074920"/>
            <a:ext cx="3108960" cy="0"/>
          </a:xfrm>
          <a:prstGeom prst="line">
            <a:avLst/>
          </a:prstGeom>
          <a:noFill/>
          <a:ln w="12700">
            <a:solidFill>
              <a:srgbClr val="A7BACB"/>
            </a:solidFill>
            <a:prstDash val="dash"/>
          </a:ln>
        </p:spPr>
        <p:txBody>
          <a:bodyPr/>
          <a:lstStyle/>
          <a:p>
            <a:endParaRPr lang="en-US"/>
          </a:p>
        </p:txBody>
      </p:sp>
      <p:sp>
        <p:nvSpPr>
          <p:cNvPr id="18" name="Shape 16"/>
          <p:cNvSpPr/>
          <p:nvPr/>
        </p:nvSpPr>
        <p:spPr>
          <a:xfrm>
            <a:off x="8138160" y="5623560"/>
            <a:ext cx="3108960" cy="0"/>
          </a:xfrm>
          <a:prstGeom prst="line">
            <a:avLst/>
          </a:prstGeom>
          <a:noFill/>
          <a:ln w="12700">
            <a:solidFill>
              <a:srgbClr val="A7BACB"/>
            </a:solidFill>
            <a:prstDash val="dash"/>
          </a:ln>
        </p:spPr>
        <p:txBody>
          <a:bodyPr/>
          <a:lstStyle/>
          <a:p>
            <a:endParaRPr lang="en-US"/>
          </a:p>
        </p:txBody>
      </p:sp>
      <p:sp>
        <p:nvSpPr>
          <p:cNvPr id="20" name="Text 1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lstStyle/>
          <a:p>
            <a:endParaRPr lang="en-US"/>
          </a:p>
        </p:txBody>
      </p:sp>
      <p:sp>
        <p:nvSpPr>
          <p:cNvPr id="3" name="Shape 1"/>
          <p:cNvSpPr/>
          <p:nvPr/>
        </p:nvSpPr>
        <p:spPr>
          <a:xfrm>
            <a:off x="320040" y="0"/>
            <a:ext cx="109728" cy="6858000"/>
          </a:xfrm>
          <a:prstGeom prst="rect">
            <a:avLst/>
          </a:prstGeom>
          <a:solidFill>
            <a:srgbClr val="C9A84C"/>
          </a:solidFill>
          <a:ln/>
        </p:spPr>
        <p:txBody>
          <a:bodyPr/>
          <a:lstStyle/>
          <a:p>
            <a:endParaRPr lang="en-US"/>
          </a:p>
        </p:txBody>
      </p:sp>
      <p:sp>
        <p:nvSpPr>
          <p:cNvPr id="4" name="Text 2"/>
          <p:cNvSpPr/>
          <p:nvPr/>
        </p:nvSpPr>
        <p:spPr>
          <a:xfrm>
            <a:off x="914400" y="1005840"/>
            <a:ext cx="5486400" cy="365760"/>
          </a:xfrm>
          <a:prstGeom prst="rect">
            <a:avLst/>
          </a:prstGeom>
          <a:noFill/>
          <a:ln/>
        </p:spPr>
        <p:txBody>
          <a:bodyPr wrap="square" rtlCol="0" anchor="ctr"/>
          <a:lstStyle/>
          <a:p>
            <a:pPr marL="0" indent="0">
              <a:buNone/>
            </a:pPr>
            <a:r>
              <a:rPr lang="en-US" sz="1500" b="1" kern="0" spc="40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marL="0" indent="0">
              <a:buNone/>
            </a:pPr>
            <a:r>
              <a:rPr lang="en-US" sz="8800" b="1" dirty="0">
                <a:solidFill>
                  <a:srgbClr val="FFFFFF"/>
                </a:solidFill>
                <a:latin typeface="Georgia" pitchFamily="34" charset="0"/>
                <a:ea typeface="Georgia" pitchFamily="34" charset="-122"/>
                <a:cs typeface="Georgia" pitchFamily="34" charset="-120"/>
              </a:rPr>
              <a:t>US.32</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marL="0" indent="0">
              <a:lnSpc>
                <a:spcPct val="102000"/>
              </a:lnSpc>
              <a:buNone/>
            </a:pPr>
            <a:r>
              <a:rPr lang="en-US" sz="2400" i="1" dirty="0">
                <a:solidFill>
                  <a:srgbClr val="F9A825"/>
                </a:solidFill>
                <a:latin typeface="Georgia" pitchFamily="34" charset="0"/>
                <a:ea typeface="Georgia" pitchFamily="34" charset="-122"/>
                <a:cs typeface="Georgia" pitchFamily="34" charset="-120"/>
              </a:rPr>
              <a:t>Henry Ford, the Automobile &amp; Mass Production</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marL="0" indent="0" algn="l">
              <a:buNone/>
            </a:pPr>
            <a:r>
              <a:rPr lang="en-US" sz="1100" b="1" kern="0" spc="20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lstStyle/>
          <a:p>
            <a:endParaRPr lang="en-US"/>
          </a:p>
        </p:txBody>
      </p:sp>
      <p:sp>
        <p:nvSpPr>
          <p:cNvPr id="9" name="Text 7"/>
          <p:cNvSpPr/>
          <p:nvPr/>
        </p:nvSpPr>
        <p:spPr>
          <a:xfrm>
            <a:off x="6812280" y="1417320"/>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lstStyle/>
          <a:p>
            <a:endParaRPr lang="en-US"/>
          </a:p>
        </p:txBody>
      </p:sp>
      <p:sp>
        <p:nvSpPr>
          <p:cNvPr id="12" name="Text 10"/>
          <p:cNvSpPr/>
          <p:nvPr/>
        </p:nvSpPr>
        <p:spPr>
          <a:xfrm>
            <a:off x="6812280" y="1755648"/>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lstStyle/>
          <a:p>
            <a:endParaRPr lang="en-US"/>
          </a:p>
        </p:txBody>
      </p:sp>
      <p:sp>
        <p:nvSpPr>
          <p:cNvPr id="15" name="Text 13"/>
          <p:cNvSpPr/>
          <p:nvPr/>
        </p:nvSpPr>
        <p:spPr>
          <a:xfrm>
            <a:off x="6812280" y="2093976"/>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lstStyle/>
          <a:p>
            <a:endParaRPr lang="en-US"/>
          </a:p>
        </p:txBody>
      </p:sp>
      <p:sp>
        <p:nvSpPr>
          <p:cNvPr id="18" name="Text 16"/>
          <p:cNvSpPr/>
          <p:nvPr/>
        </p:nvSpPr>
        <p:spPr>
          <a:xfrm>
            <a:off x="1143000" y="3913632"/>
            <a:ext cx="5486400" cy="274320"/>
          </a:xfrm>
          <a:prstGeom prst="rect">
            <a:avLst/>
          </a:prstGeom>
          <a:noFill/>
          <a:ln/>
        </p:spPr>
        <p:txBody>
          <a:bodyPr wrap="square" rtlCol="0" anchor="ctr"/>
          <a:lstStyle/>
          <a:p>
            <a:pPr marL="0" indent="0">
              <a:buNone/>
            </a:pPr>
            <a:r>
              <a:rPr lang="en-US" sz="1100" b="1" kern="0" spc="20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Describe the impact of Henry T. Ford, the automobile, and the mass production of automobiles on the American economy and society.</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lstStyle/>
          <a:p>
            <a:endParaRPr lang="en-US"/>
          </a:p>
        </p:txBody>
      </p:sp>
      <p:sp>
        <p:nvSpPr>
          <p:cNvPr id="21" name="Text 19"/>
          <p:cNvSpPr/>
          <p:nvPr/>
        </p:nvSpPr>
        <p:spPr>
          <a:xfrm>
            <a:off x="1143000" y="5230368"/>
            <a:ext cx="1828800" cy="292608"/>
          </a:xfrm>
          <a:prstGeom prst="rect">
            <a:avLst/>
          </a:prstGeom>
          <a:noFill/>
          <a:ln/>
        </p:spPr>
        <p:txBody>
          <a:bodyPr wrap="square" rtlCol="0" anchor="ctr"/>
          <a:lstStyle/>
          <a:p>
            <a:pPr marL="0" indent="0">
              <a:buNone/>
            </a:pPr>
            <a:r>
              <a:rPr lang="en-US" sz="1300" b="1" kern="0" spc="20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marL="0" indent="0">
              <a:lnSpc>
                <a:spcPct val="100000"/>
              </a:lnSpc>
              <a:buNone/>
            </a:pPr>
            <a:r>
              <a:rPr lang="en-US" sz="1350" b="1" dirty="0">
                <a:solidFill>
                  <a:srgbClr val="1A2332"/>
                </a:solidFill>
                <a:latin typeface="Calibri" pitchFamily="34" charset="0"/>
                <a:ea typeface="Calibri" pitchFamily="34" charset="-122"/>
                <a:cs typeface="Calibri" pitchFamily="34" charset="-120"/>
              </a:rPr>
              <a:t>I can describe the impact of Henry Ford, the automobile, and the mass production of automobiles on the American economy and society.</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lstStyle/>
          <a:p>
            <a:endParaRPr lang="en-US"/>
          </a:p>
        </p:txBody>
      </p:sp>
      <p:sp>
        <p:nvSpPr>
          <p:cNvPr id="7" name="Shape 5"/>
          <p:cNvSpPr/>
          <p:nvPr/>
        </p:nvSpPr>
        <p:spPr>
          <a:xfrm>
            <a:off x="548640" y="2057400"/>
            <a:ext cx="777240" cy="1234440"/>
          </a:xfrm>
          <a:prstGeom prst="rect">
            <a:avLst/>
          </a:prstGeom>
          <a:solidFill>
            <a:srgbClr val="1A2332"/>
          </a:solidFill>
          <a:ln/>
        </p:spPr>
        <p:txBody>
          <a:bodyPr/>
          <a:lstStyle/>
          <a:p>
            <a:endParaRPr lang="en-US"/>
          </a:p>
        </p:txBody>
      </p:sp>
      <p:sp>
        <p:nvSpPr>
          <p:cNvPr id="8" name="Text 6"/>
          <p:cNvSpPr/>
          <p:nvPr/>
        </p:nvSpPr>
        <p:spPr>
          <a:xfrm>
            <a:off x="548640" y="2057400"/>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US.31  </a:t>
            </a:r>
            <a:r>
              <a:rPr lang="en-US" sz="1350" dirty="0">
                <a:solidFill>
                  <a:srgbClr val="1F2430"/>
                </a:solidFill>
                <a:latin typeface="Calibri" pitchFamily="34" charset="0"/>
                <a:ea typeface="Calibri" pitchFamily="34" charset="-122"/>
                <a:cs typeface="Calibri" pitchFamily="34" charset="-120"/>
              </a:rPr>
              <a:t>What did Charles Lindbergh's 1927 flight demonstrate about technology?</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lstStyle/>
          <a:p>
            <a:endParaRPr lang="en-US"/>
          </a:p>
        </p:txBody>
      </p:sp>
      <p:sp>
        <p:nvSpPr>
          <p:cNvPr id="11" name="Shape 9"/>
          <p:cNvSpPr/>
          <p:nvPr/>
        </p:nvSpPr>
        <p:spPr>
          <a:xfrm>
            <a:off x="548640" y="3456432"/>
            <a:ext cx="777240" cy="1234440"/>
          </a:xfrm>
          <a:prstGeom prst="rect">
            <a:avLst/>
          </a:prstGeom>
          <a:solidFill>
            <a:srgbClr val="1A2332"/>
          </a:solidFill>
          <a:ln/>
        </p:spPr>
        <p:txBody>
          <a:bodyPr/>
          <a:lstStyle/>
          <a:p>
            <a:endParaRPr lang="en-US"/>
          </a:p>
        </p:txBody>
      </p:sp>
      <p:sp>
        <p:nvSpPr>
          <p:cNvPr id="12" name="Text 10"/>
          <p:cNvSpPr/>
          <p:nvPr/>
        </p:nvSpPr>
        <p:spPr>
          <a:xfrm>
            <a:off x="548640" y="3456432"/>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US.31  </a:t>
            </a:r>
            <a:r>
              <a:rPr lang="en-US" sz="1350" dirty="0">
                <a:solidFill>
                  <a:srgbClr val="1F2430"/>
                </a:solidFill>
                <a:latin typeface="Calibri" pitchFamily="34" charset="0"/>
                <a:ea typeface="Calibri" pitchFamily="34" charset="-122"/>
                <a:cs typeface="Calibri" pitchFamily="34" charset="-120"/>
              </a:rPr>
              <a:t>How did electrification change American homes in the 1920s?</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lstStyle/>
          <a:p>
            <a:endParaRPr lang="en-US"/>
          </a:p>
        </p:txBody>
      </p:sp>
      <p:sp>
        <p:nvSpPr>
          <p:cNvPr id="6" name="Text 4"/>
          <p:cNvSpPr/>
          <p:nvPr/>
        </p:nvSpPr>
        <p:spPr>
          <a:xfrm>
            <a:off x="8686800" y="786384"/>
            <a:ext cx="1143000" cy="457200"/>
          </a:xfrm>
          <a:prstGeom prst="rect">
            <a:avLst/>
          </a:prstGeom>
          <a:noFill/>
          <a:ln/>
        </p:spPr>
        <p:txBody>
          <a:bodyPr wrap="square" rtlCol="0" anchor="ctr"/>
          <a:lstStyle/>
          <a:p>
            <a:pPr marL="0" indent="0" algn="ctr">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lstStyle/>
          <a:p>
            <a:endParaRPr lang="en-US"/>
          </a:p>
        </p:txBody>
      </p:sp>
      <p:sp>
        <p:nvSpPr>
          <p:cNvPr id="8" name="Text 6"/>
          <p:cNvSpPr/>
          <p:nvPr/>
        </p:nvSpPr>
        <p:spPr>
          <a:xfrm>
            <a:off x="9966960" y="786384"/>
            <a:ext cx="164592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lstStyle/>
          <a:p>
            <a:endParaRPr lang="en-US"/>
          </a:p>
        </p:txBody>
      </p:sp>
      <p:sp>
        <p:nvSpPr>
          <p:cNvPr id="11" name="Text 9"/>
          <p:cNvSpPr/>
          <p:nvPr/>
        </p:nvSpPr>
        <p:spPr>
          <a:xfrm>
            <a:off x="1005840" y="2194560"/>
            <a:ext cx="10149840" cy="1417320"/>
          </a:xfrm>
          <a:prstGeom prst="rect">
            <a:avLst/>
          </a:prstGeom>
          <a:noFill/>
          <a:ln/>
        </p:spPr>
        <p:txBody>
          <a:bodyPr wrap="square" rtlCol="0" anchor="ctr"/>
          <a:lstStyle/>
          <a:p>
            <a:pPr marL="0" indent="0" algn="ctr">
              <a:lnSpc>
                <a:spcPct val="108000"/>
              </a:lnSpc>
              <a:buNone/>
            </a:pPr>
            <a:r>
              <a:rPr lang="en-US" sz="2400" b="1" dirty="0">
                <a:solidFill>
                  <a:srgbClr val="FFFFFF"/>
                </a:solidFill>
                <a:latin typeface="Georgia" pitchFamily="34" charset="0"/>
                <a:ea typeface="Georgia" pitchFamily="34" charset="-122"/>
                <a:cs typeface="Georgia" pitchFamily="34" charset="-120"/>
              </a:rPr>
              <a:t>What production method let Henry Ford build cars faster and cheaper?</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lstStyle/>
          <a:p>
            <a:endParaRPr lang="en-US"/>
          </a:p>
        </p:txBody>
      </p:sp>
      <p:sp>
        <p:nvSpPr>
          <p:cNvPr id="13" name="Text 11"/>
          <p:cNvSpPr/>
          <p:nvPr/>
        </p:nvSpPr>
        <p:spPr>
          <a:xfrm>
            <a:off x="914400" y="4224528"/>
            <a:ext cx="2743200" cy="320040"/>
          </a:xfrm>
          <a:prstGeom prst="rect">
            <a:avLst/>
          </a:prstGeom>
          <a:noFill/>
          <a:ln/>
        </p:spPr>
        <p:txBody>
          <a:bodyPr wrap="square" rtlCol="0" anchor="ctr"/>
          <a:lstStyle/>
          <a:p>
            <a:pPr marL="0" indent="0">
              <a:buNone/>
            </a:pPr>
            <a:r>
              <a:rPr lang="en-US" sz="1200" b="1" kern="0" spc="20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marL="0" indent="0">
              <a:lnSpc>
                <a:spcPct val="108000"/>
              </a:lnSpc>
              <a:buNone/>
            </a:pPr>
            <a:r>
              <a:rPr lang="en-US" sz="1600" dirty="0">
                <a:solidFill>
                  <a:srgbClr val="1F2430"/>
                </a:solidFill>
                <a:latin typeface="Calibri" pitchFamily="34" charset="0"/>
                <a:ea typeface="Calibri" pitchFamily="34" charset="-122"/>
                <a:cs typeface="Calibri" pitchFamily="34" charset="-120"/>
              </a:rPr>
              <a:t>The moving assembly line, which broke work into small repeated steps.</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lstStyle/>
          <a:p>
            <a:endParaRPr lang="en-US"/>
          </a:p>
        </p:txBody>
      </p:sp>
      <p:sp>
        <p:nvSpPr>
          <p:cNvPr id="16" name="Text 14"/>
          <p:cNvSpPr/>
          <p:nvPr/>
        </p:nvSpPr>
        <p:spPr>
          <a:xfrm>
            <a:off x="822960" y="5623560"/>
            <a:ext cx="10515600" cy="457200"/>
          </a:xfrm>
          <a:prstGeom prst="rect">
            <a:avLst/>
          </a:prstGeom>
          <a:noFill/>
          <a:ln/>
        </p:spPr>
        <p:txBody>
          <a:bodyPr wrap="square" rtlCol="0" anchor="ctr"/>
          <a:lstStyle/>
          <a:p>
            <a:pPr marL="0" indent="0">
              <a:buNone/>
            </a:pPr>
            <a:r>
              <a:rPr lang="en-US" sz="1150" b="1" i="1" kern="0" spc="100" dirty="0">
                <a:solidFill>
                  <a:srgbClr val="C62828"/>
                </a:solidFill>
                <a:latin typeface="Trebuchet MS" pitchFamily="34" charset="0"/>
                <a:ea typeface="Trebuchet MS" pitchFamily="34" charset="-122"/>
                <a:cs typeface="Trebuchet MS" pitchFamily="34" charset="-120"/>
              </a:rPr>
              <a:t>COMMIT FIRST:  </a:t>
            </a: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lstStyle/>
          <a:p>
            <a:endParaRPr lang="en-US"/>
          </a:p>
        </p:txBody>
      </p:sp>
      <p:sp>
        <p:nvSpPr>
          <p:cNvPr id="6" name="Text 4"/>
          <p:cNvSpPr/>
          <p:nvPr/>
        </p:nvSpPr>
        <p:spPr>
          <a:xfrm>
            <a:off x="1005840" y="1965960"/>
            <a:ext cx="10149840" cy="1645920"/>
          </a:xfrm>
          <a:prstGeom prst="rect">
            <a:avLst/>
          </a:prstGeom>
          <a:noFill/>
          <a:ln/>
        </p:spPr>
        <p:txBody>
          <a:bodyPr wrap="square" rtlCol="0" anchor="ctr"/>
          <a:lstStyle/>
          <a:p>
            <a:pPr marL="0" indent="0">
              <a:lnSpc>
                <a:spcPct val="108000"/>
              </a:lnSpc>
              <a:buNone/>
            </a:pPr>
            <a:r>
              <a:rPr lang="en-US" sz="2600" i="1" dirty="0">
                <a:solidFill>
                  <a:srgbClr val="FFFFFF"/>
                </a:solidFill>
                <a:latin typeface="Georgia" pitchFamily="34" charset="0"/>
                <a:ea typeface="Georgia" pitchFamily="34" charset="-122"/>
                <a:cs typeface="Georgia" pitchFamily="34" charset="-120"/>
              </a:rPr>
              <a:t>Henry Ford did not invent the automobile, but by putting the car on a moving assembly line he cut the time to build a Model T from twelve hours to ninety minutes, and dropped its price until an ordinary worker could own one.</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lstStyle/>
          <a:p>
            <a:endParaRPr lang="en-US"/>
          </a:p>
        </p:txBody>
      </p:sp>
      <p:sp>
        <p:nvSpPr>
          <p:cNvPr id="8" name="Text 6"/>
          <p:cNvSpPr/>
          <p:nvPr/>
        </p:nvSpPr>
        <p:spPr>
          <a:xfrm>
            <a:off x="914400" y="4297680"/>
            <a:ext cx="2743200" cy="320040"/>
          </a:xfrm>
          <a:prstGeom prst="rect">
            <a:avLst/>
          </a:prstGeom>
          <a:noFill/>
          <a:ln/>
        </p:spPr>
        <p:txBody>
          <a:bodyPr wrap="square" rtlCol="0" anchor="ctr"/>
          <a:lstStyle/>
          <a:p>
            <a:pPr marL="0" indent="0">
              <a:buNone/>
            </a:pPr>
            <a:r>
              <a:rPr lang="en-US" sz="1300" b="1" kern="0" spc="20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lstStyle/>
          <a:p>
            <a:endParaRPr lang="en-US"/>
          </a:p>
        </p:txBody>
      </p:sp>
      <p:sp>
        <p:nvSpPr>
          <p:cNvPr id="10" name="Text 8"/>
          <p:cNvSpPr/>
          <p:nvPr/>
        </p:nvSpPr>
        <p:spPr>
          <a:xfrm>
            <a:off x="7772400" y="4224528"/>
            <a:ext cx="3657600" cy="45720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marL="0" indent="0">
              <a:lnSpc>
                <a:spcPct val="110000"/>
              </a:lnSpc>
              <a:buNone/>
            </a:pPr>
            <a:r>
              <a:rPr lang="en-US" sz="1600" dirty="0">
                <a:solidFill>
                  <a:srgbClr val="1F2430"/>
                </a:solidFill>
                <a:latin typeface="Calibri" pitchFamily="34" charset="0"/>
                <a:ea typeface="Calibri" pitchFamily="34" charset="-122"/>
                <a:cs typeface="Calibri" pitchFamily="34" charset="-120"/>
              </a:rPr>
              <a:t>How did one man's factory floor change not just how cars were built, but how Americans worked, shopped, dated, and lived?</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Henry Ford's Revolutionary Role</a:t>
            </a:r>
            <a:endParaRPr lang="en-US" sz="3000" dirty="0"/>
          </a:p>
        </p:txBody>
      </p:sp>
      <p:sp>
        <p:nvSpPr>
          <p:cNvPr id="5" name="Shape 3"/>
          <p:cNvSpPr/>
          <p:nvPr/>
        </p:nvSpPr>
        <p:spPr>
          <a:xfrm>
            <a:off x="10180015" y="502920"/>
            <a:ext cx="146304" cy="146304"/>
          </a:xfrm>
          <a:prstGeom prst="ellipse">
            <a:avLst/>
          </a:prstGeom>
          <a:solidFill>
            <a:srgbClr val="C62828"/>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2340864"/>
          </a:xfrm>
          <a:prstGeom prst="rect">
            <a:avLst/>
          </a:prstGeom>
          <a:noFill/>
          <a:ln/>
        </p:spPr>
        <p:txBody>
          <a:bodyPr wrap="square" rtlCol="0" anchor="t">
            <a:normAutofit fontScale="92500"/>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Ford founded the Ford Motor Company in 1903 with the goal of building affordable cars for average Americans.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Model T (1908-1927), nicknamed "Tin Lizzie," became America's first mass-produced automobile.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Ford's assembly line (1913) used moving conveyor belts, interchangeable parts, and division of labor to revolutionize manufacturing.</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These innovations reduced Model T assembly time from 12 hours to 93 minutes.</a:t>
            </a:r>
            <a:endParaRPr lang="en-US" sz="1550" dirty="0"/>
          </a:p>
        </p:txBody>
      </p:sp>
      <p:sp>
        <p:nvSpPr>
          <p:cNvPr id="13" name="Shape 11"/>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lstStyle/>
          <a:p>
            <a:endParaRPr lang="en-US"/>
          </a:p>
        </p:txBody>
      </p:sp>
      <p:sp>
        <p:nvSpPr>
          <p:cNvPr id="14" name="Text 12"/>
          <p:cNvSpPr/>
          <p:nvPr/>
        </p:nvSpPr>
        <p:spPr>
          <a:xfrm>
            <a:off x="1024128" y="4681728"/>
            <a:ext cx="5852160" cy="237744"/>
          </a:xfrm>
          <a:prstGeom prst="rect">
            <a:avLst/>
          </a:prstGeom>
          <a:noFill/>
          <a:ln/>
        </p:spPr>
        <p:txBody>
          <a:bodyPr wrap="square" rtlCol="0" anchor="ctr"/>
          <a:lstStyle/>
          <a:p>
            <a:pPr marL="0" indent="0">
              <a:buNone/>
            </a:pPr>
            <a:r>
              <a:rPr lang="en-US" sz="900" b="1" kern="0" spc="100" dirty="0">
                <a:solidFill>
                  <a:srgbClr val="002858"/>
                </a:solidFill>
                <a:latin typeface="Trebuchet MS" pitchFamily="34" charset="0"/>
                <a:ea typeface="Trebuchet MS" pitchFamily="34" charset="-122"/>
                <a:cs typeface="Trebuchet MS" pitchFamily="34" charset="-120"/>
              </a:rPr>
              <a:t>SENTENCE FRAME  </a:t>
            </a:r>
            <a:r>
              <a:rPr lang="en-US" sz="850" i="1" dirty="0">
                <a:solidFill>
                  <a:srgbClr val="5C6470"/>
                </a:solidFill>
              </a:rPr>
              <a:t>(EL &amp; writing support)  </a:t>
            </a:r>
            <a:endParaRPr lang="en-US" sz="900" dirty="0"/>
          </a:p>
        </p:txBody>
      </p:sp>
      <p:sp>
        <p:nvSpPr>
          <p:cNvPr id="15" name="Text 13"/>
          <p:cNvSpPr/>
          <p:nvPr/>
        </p:nvSpPr>
        <p:spPr>
          <a:xfrm>
            <a:off x="1024128" y="4937760"/>
            <a:ext cx="6309360" cy="658368"/>
          </a:xfrm>
          <a:prstGeom prst="rect">
            <a:avLst/>
          </a:prstGeom>
          <a:noFill/>
          <a:ln/>
        </p:spPr>
        <p:txBody>
          <a:bodyPr wrap="square" rtlCol="0" anchor="t"/>
          <a:lstStyle/>
          <a:p>
            <a:pPr marL="0" indent="0">
              <a:lnSpc>
                <a:spcPct val="104000"/>
              </a:lnSpc>
              <a:buNone/>
            </a:pPr>
            <a:r>
              <a:rPr lang="en-US" sz="1050" i="1" dirty="0">
                <a:solidFill>
                  <a:srgbClr val="1F2430"/>
                </a:solidFill>
                <a:latin typeface="Calibri" pitchFamily="34" charset="0"/>
                <a:ea typeface="Calibri" pitchFamily="34" charset="-122"/>
                <a:cs typeface="Calibri" pitchFamily="34" charset="-120"/>
              </a:rPr>
              <a:t>Henry Ford transformed industry by using ________, and transformed society because ________.</a:t>
            </a:r>
            <a:endParaRPr lang="en-US" sz="1050" dirty="0"/>
          </a:p>
        </p:txBody>
      </p:sp>
      <p:sp>
        <p:nvSpPr>
          <p:cNvPr id="16" name="Shape 14"/>
          <p:cNvSpPr/>
          <p:nvPr/>
        </p:nvSpPr>
        <p:spPr>
          <a:xfrm>
            <a:off x="7552944" y="1746504"/>
            <a:ext cx="4142232" cy="2935224"/>
          </a:xfrm>
          <a:prstGeom prst="rect">
            <a:avLst/>
          </a:prstGeom>
          <a:solidFill>
            <a:srgbClr val="FFFFFF"/>
          </a:solidFill>
          <a:ln w="12700">
            <a:solidFill>
              <a:srgbClr val="DAD3C2"/>
            </a:solidFill>
            <a:prstDash val="solid"/>
          </a:ln>
        </p:spPr>
        <p:txBody>
          <a:bodyPr/>
          <a:lstStyle/>
          <a:p>
            <a:endParaRPr lang="en-US"/>
          </a:p>
        </p:txBody>
      </p:sp>
      <p:pic>
        <p:nvPicPr>
          <p:cNvPr id="17" name="Image 0" descr="unit4-full/img/ford-assembly-line-1913.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41067" y="1783080"/>
            <a:ext cx="3965985" cy="2862072"/>
          </a:xfrm>
          <a:prstGeom prst="rect">
            <a:avLst/>
          </a:prstGeom>
        </p:spPr>
      </p:pic>
      <p:sp>
        <p:nvSpPr>
          <p:cNvPr id="18" name="Text 15"/>
          <p:cNvSpPr/>
          <p:nvPr/>
        </p:nvSpPr>
        <p:spPr>
          <a:xfrm>
            <a:off x="7589520" y="470001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Ford Motor Company, 1913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Wikimedia Commons</a:t>
            </a:r>
            <a:endParaRPr lang="en-US" sz="800" dirty="0"/>
          </a:p>
        </p:txBody>
      </p:sp>
      <p:sp>
        <p:nvSpPr>
          <p:cNvPr id="19" name="Shape 16"/>
          <p:cNvSpPr/>
          <p:nvPr/>
        </p:nvSpPr>
        <p:spPr>
          <a:xfrm>
            <a:off x="7589520" y="5440680"/>
            <a:ext cx="4069080" cy="713232"/>
          </a:xfrm>
          <a:prstGeom prst="roundRect">
            <a:avLst>
              <a:gd name="adj" fmla="val 7692"/>
            </a:avLst>
          </a:prstGeom>
          <a:solidFill>
            <a:srgbClr val="1A2332"/>
          </a:solidFill>
          <a:ln/>
        </p:spPr>
        <p:txBody>
          <a:bodyPr/>
          <a:lstStyle/>
          <a:p>
            <a:endParaRPr lang="en-US"/>
          </a:p>
        </p:txBody>
      </p:sp>
      <p:sp>
        <p:nvSpPr>
          <p:cNvPr id="20" name="Text 17"/>
          <p:cNvSpPr/>
          <p:nvPr/>
        </p:nvSpPr>
        <p:spPr>
          <a:xfrm>
            <a:off x="7772400" y="5477256"/>
            <a:ext cx="3703320" cy="640080"/>
          </a:xfrm>
          <a:prstGeom prst="rect">
            <a:avLst/>
          </a:prstGeom>
          <a:noFill/>
          <a:ln/>
        </p:spPr>
        <p:txBody>
          <a:bodyPr wrap="square" rtlCol="0" anchor="ctr"/>
          <a:lstStyle/>
          <a:p>
            <a:pPr marL="0" indent="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2" name="Text 1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3" name="Text 1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Economic Impact on Manufacturing</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C62828"/>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assembly line became the standard for mass production industries, dramatically increasing productivity.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Ford reduced Model T prices from $825 (1908) to $290 (1925), making automobiles affordable for middle-class consumers.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By 1927, Ford had produced 15 million Model Ts and controlled 50% of the automobile market.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methods spread to other industries, establishing U.S. industrial leadership.</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Impact on Labor Practices</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C62828"/>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Ford's $5 Day (1914) doubled typical industrial wages to reduce turnover and increase productivity.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reduced the workday from 9-10 hours to 8 hours.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These innovations cut employee turnover from 370% to 16% and created a workforce that could afford to buy the products they made.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However, assembly line work was repetitive, and Ford strongly resisted unionization.</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Societal Transformation</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C62828"/>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Automobiles gave Americans unprecedented personal mobility, ending rural isolation and enabling suburban development.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Cars changed dating and courtship patterns, providing privacy and mobility for young people.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Sunday drives and family vacations became popular activities.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Automobile ownership became a measure of social success and enabled new patterns of work, shopping, and leisure.</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Supporting Industries and Infrastructure</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C62828"/>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automobile industry drove expansion of steel, rubber, glass, and petroleum industries.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Gas stations, repair shops, motels, and auto parts stores proliferated.</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Massive road construction programs transformed the American landscape.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Detroit became "Motor City," attracting workers nationwide.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automobile industry directly and indirectly employed millions of Americans.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27632"/>
            <a:ext cx="11064240" cy="868680"/>
          </a:xfrm>
          <a:prstGeom prst="rect">
            <a:avLst/>
          </a:prstGeom>
          <a:solidFill>
            <a:srgbClr val="1A2332"/>
          </a:solidFill>
          <a:ln/>
        </p:spPr>
        <p:txBody>
          <a:bodyPr/>
          <a:lstStyle/>
          <a:p>
            <a:endParaRPr lang="en-US"/>
          </a:p>
        </p:txBody>
      </p:sp>
      <p:sp>
        <p:nvSpPr>
          <p:cNvPr id="7" name="Text 5"/>
          <p:cNvSpPr/>
          <p:nvPr/>
        </p:nvSpPr>
        <p:spPr>
          <a:xfrm>
            <a:off x="667512" y="1627632"/>
            <a:ext cx="10826496" cy="63093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Henry Ford</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Automobile manufacturer</a:t>
            </a:r>
            <a:endParaRPr lang="en-US" sz="1100" dirty="0"/>
          </a:p>
        </p:txBody>
      </p:sp>
      <p:sp>
        <p:nvSpPr>
          <p:cNvPr id="9" name="Shape 7"/>
          <p:cNvSpPr/>
          <p:nvPr/>
        </p:nvSpPr>
        <p:spPr>
          <a:xfrm>
            <a:off x="667512" y="2578608"/>
            <a:ext cx="2212848" cy="2212848"/>
          </a:xfrm>
          <a:prstGeom prst="rect">
            <a:avLst/>
          </a:prstGeom>
          <a:solidFill>
            <a:srgbClr val="FFFFFF"/>
          </a:solidFill>
          <a:ln w="12700">
            <a:solidFill>
              <a:srgbClr val="DAD3C2"/>
            </a:solidFill>
            <a:prstDash val="solid"/>
          </a:ln>
        </p:spPr>
        <p:txBody>
          <a:bodyPr/>
          <a:lstStyle/>
          <a:p>
            <a:endParaRPr lang="en-US"/>
          </a:p>
        </p:txBody>
      </p:sp>
      <p:pic>
        <p:nvPicPr>
          <p:cNvPr id="10" name="Image 0" descr="unit4-full/img/henry-ford.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94944" y="2606040"/>
            <a:ext cx="2157984" cy="2157984"/>
          </a:xfrm>
          <a:prstGeom prst="rect">
            <a:avLst/>
          </a:prstGeom>
        </p:spPr>
      </p:pic>
      <p:sp>
        <p:nvSpPr>
          <p:cNvPr id="11" name="Text 8"/>
          <p:cNvSpPr/>
          <p:nvPr/>
        </p:nvSpPr>
        <p:spPr>
          <a:xfrm>
            <a:off x="694944" y="4800600"/>
            <a:ext cx="2660904"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Hartsook (studio), c1919  </a:t>
            </a:r>
            <a:r>
              <a:rPr lang="en-US" sz="6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600" dirty="0"/>
          </a:p>
        </p:txBody>
      </p:sp>
      <p:sp>
        <p:nvSpPr>
          <p:cNvPr id="12" name="Text 9"/>
          <p:cNvSpPr/>
          <p:nvPr/>
        </p:nvSpPr>
        <p:spPr>
          <a:xfrm>
            <a:off x="3035808" y="2606040"/>
            <a:ext cx="8430768"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Perfected the moving assembly line for the Model T</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Introduced the $5 workday (1914)</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Made cars affordable for ordinary Americans</a:t>
            </a:r>
            <a:endParaRPr lang="en-US" sz="1300" dirty="0"/>
          </a:p>
        </p:txBody>
      </p:sp>
      <p:sp>
        <p:nvSpPr>
          <p:cNvPr id="13" name="Shape 10"/>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14" name="Text 11"/>
          <p:cNvSpPr/>
          <p:nvPr/>
        </p:nvSpPr>
        <p:spPr>
          <a:xfrm>
            <a:off x="749808" y="5175504"/>
            <a:ext cx="1068019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Pair the assembly-line description with the $5-Day announcement to show mass production and mass consumption together.</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002858"/>
                </a:solidFill>
                <a:latin typeface="Trebuchet MS" pitchFamily="34" charset="0"/>
                <a:ea typeface="Trebuchet MS" pitchFamily="34" charset="-122"/>
                <a:cs typeface="Trebuchet MS" pitchFamily="34" charset="-120"/>
              </a:rPr>
              <a:t>US.32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marL="0" indent="0">
              <a:buNone/>
            </a:pPr>
            <a:r>
              <a:rPr lang="en-US" sz="2500" b="1" dirty="0">
                <a:solidFill>
                  <a:srgbClr val="1A2332"/>
                </a:solidFill>
                <a:latin typeface="Georgia" pitchFamily="34" charset="0"/>
                <a:ea typeface="Georgia" pitchFamily="34" charset="-122"/>
                <a:cs typeface="Georgia" pitchFamily="34" charset="-120"/>
              </a:rPr>
              <a:t>Ford $5 Day Announcement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lstStyle/>
          <a:p>
            <a:endParaRPr lang="en-US"/>
          </a:p>
        </p:txBody>
      </p:sp>
      <p:sp>
        <p:nvSpPr>
          <p:cNvPr id="6" name="Text 4"/>
          <p:cNvSpPr/>
          <p:nvPr/>
        </p:nvSpPr>
        <p:spPr>
          <a:xfrm>
            <a:off x="9418320" y="777240"/>
            <a:ext cx="219456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Henry Ford  ·  January 5, 1914</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txBody>
          <a:bodyPr/>
          <a:lstStyle/>
          <a:p>
            <a:endParaRPr lang="en-US"/>
          </a:p>
        </p:txBody>
      </p:sp>
      <p:pic>
        <p:nvPicPr>
          <p:cNvPr id="9" name="Image 0" descr="unit4-full/img/ford-assembly-line-1913.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8640" y="1849012"/>
            <a:ext cx="3200400" cy="2309584"/>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marL="0" indent="0" algn="l">
              <a:lnSpc>
                <a:spcPct val="100000"/>
              </a:lnSpc>
              <a:buNone/>
            </a:pPr>
            <a:r>
              <a:rPr lang="en-US" sz="700" i="1" dirty="0">
                <a:solidFill>
                  <a:srgbClr val="5C6470"/>
                </a:solidFill>
                <a:latin typeface="Calibri" pitchFamily="34" charset="0"/>
                <a:ea typeface="Calibri" pitchFamily="34" charset="-122"/>
                <a:cs typeface="Calibri" pitchFamily="34" charset="-120"/>
              </a:rPr>
              <a:t>Ford Motor Company, 1913  </a:t>
            </a:r>
            <a:r>
              <a:rPr lang="en-US" sz="7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Wikimedia Commons</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lstStyle/>
          <a:p>
            <a:endParaRPr lang="en-US"/>
          </a:p>
        </p:txBody>
      </p:sp>
      <p:sp>
        <p:nvSpPr>
          <p:cNvPr id="12" name="Text 9"/>
          <p:cNvSpPr/>
          <p:nvPr/>
        </p:nvSpPr>
        <p:spPr>
          <a:xfrm>
            <a:off x="768096" y="1865376"/>
            <a:ext cx="2761488" cy="438912"/>
          </a:xfrm>
          <a:prstGeom prst="rect">
            <a:avLst/>
          </a:prstGeom>
          <a:noFill/>
          <a:ln/>
        </p:spPr>
        <p:txBody>
          <a:bodyPr wrap="square" rtlCol="0" anchor="ctr"/>
          <a:lstStyle/>
          <a:p>
            <a:pPr marL="0" indent="0">
              <a:lnSpc>
                <a:spcPct val="95000"/>
              </a:lnSpc>
              <a:buNone/>
            </a:pPr>
            <a:r>
              <a:rPr lang="en-US" sz="950" b="1" kern="0" spc="150" dirty="0">
                <a:solidFill>
                  <a:srgbClr val="1A2332"/>
                </a:solidFill>
                <a:latin typeface="Trebuchet MS" pitchFamily="34" charset="0"/>
                <a:ea typeface="Trebuchet MS" pitchFamily="34" charset="-122"/>
                <a:cs typeface="Trebuchet MS" pitchFamily="34" charset="-120"/>
              </a:rPr>
              <a:t>ZOOM IN  </a:t>
            </a: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lstStyle/>
          <a:p>
            <a:endParaRPr lang="en-US"/>
          </a:p>
        </p:txBody>
      </p:sp>
      <p:sp>
        <p:nvSpPr>
          <p:cNvPr id="14" name="Shape 11"/>
          <p:cNvSpPr/>
          <p:nvPr/>
        </p:nvSpPr>
        <p:spPr>
          <a:xfrm>
            <a:off x="3931920" y="1737360"/>
            <a:ext cx="91440" cy="3246120"/>
          </a:xfrm>
          <a:prstGeom prst="rect">
            <a:avLst/>
          </a:prstGeom>
          <a:solidFill>
            <a:srgbClr val="C9A84C"/>
          </a:solidFill>
          <a:ln/>
        </p:spPr>
        <p:txBody>
          <a:bodyPr/>
          <a:lstStyle/>
          <a:p>
            <a:endParaRPr lang="en-US"/>
          </a:p>
        </p:txBody>
      </p:sp>
      <p:sp>
        <p:nvSpPr>
          <p:cNvPr id="15" name="Text 12"/>
          <p:cNvSpPr/>
          <p:nvPr/>
        </p:nvSpPr>
        <p:spPr>
          <a:xfrm>
            <a:off x="4160520" y="1920240"/>
            <a:ext cx="3200400" cy="2880360"/>
          </a:xfrm>
          <a:prstGeom prst="rect">
            <a:avLst/>
          </a:prstGeom>
          <a:noFill/>
          <a:ln/>
        </p:spPr>
        <p:txBody>
          <a:bodyPr wrap="square" rtlCol="0" anchor="t"/>
          <a:lstStyle/>
          <a:p>
            <a:pPr marL="0" indent="0">
              <a:lnSpc>
                <a:spcPct val="112000"/>
              </a:lnSpc>
              <a:buNone/>
            </a:pPr>
            <a:r>
              <a:rPr lang="en-US" sz="1150" i="1" dirty="0">
                <a:solidFill>
                  <a:srgbClr val="1F2430"/>
                </a:solidFill>
                <a:latin typeface="Georgia" pitchFamily="34" charset="0"/>
                <a:ea typeface="Georgia" pitchFamily="34" charset="-122"/>
                <a:cs typeface="Georgia" pitchFamily="34" charset="-120"/>
              </a:rPr>
              <a:t>"The Ford Motor Company, the greatest and most successful automobile manufacturing company in the world, will, on January 12, inaugurate the greatest revolution in the matter of rewards for its workers ever known to the industrial world. At one stroke it will reduce the hours of labor from nine to eight, and add to every man's pay a share of the profits of the house. The smallest amount to be received by a man 22 years old and upwards will be $5 per day."</a:t>
            </a:r>
            <a:endParaRPr lang="en-US" sz="1150" dirty="0"/>
          </a:p>
        </p:txBody>
      </p:sp>
      <p:sp>
        <p:nvSpPr>
          <p:cNvPr id="16" name="Shape 13"/>
          <p:cNvSpPr/>
          <p:nvPr/>
        </p:nvSpPr>
        <p:spPr>
          <a:xfrm>
            <a:off x="7589520" y="1737360"/>
            <a:ext cx="4023360" cy="2011680"/>
          </a:xfrm>
          <a:prstGeom prst="roundRect">
            <a:avLst>
              <a:gd name="adj" fmla="val 3636"/>
            </a:avLst>
          </a:prstGeom>
          <a:solidFill>
            <a:srgbClr val="1A2332"/>
          </a:solidFill>
          <a:ln/>
        </p:spPr>
        <p:txBody>
          <a:bodyPr/>
          <a:lstStyle/>
          <a:p>
            <a:endParaRPr lang="en-US"/>
          </a:p>
        </p:txBody>
      </p:sp>
      <p:sp>
        <p:nvSpPr>
          <p:cNvPr id="17" name="Text 14"/>
          <p:cNvSpPr/>
          <p:nvPr/>
        </p:nvSpPr>
        <p:spPr>
          <a:xfrm>
            <a:off x="7818120" y="1856232"/>
            <a:ext cx="3657600" cy="274320"/>
          </a:xfrm>
          <a:prstGeom prst="rect">
            <a:avLst/>
          </a:prstGeom>
          <a:noFill/>
          <a:ln/>
        </p:spPr>
        <p:txBody>
          <a:bodyPr wrap="square" rtlCol="0" anchor="ctr"/>
          <a:lstStyle/>
          <a:p>
            <a:pPr marL="0" indent="0">
              <a:buNone/>
            </a:pPr>
            <a:r>
              <a:rPr lang="en-US" sz="1100" b="1" kern="0" spc="20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marL="0" indent="0">
              <a:lnSpc>
                <a:spcPct val="96000"/>
              </a:lnSpc>
              <a:buNone/>
            </a:pPr>
            <a:r>
              <a:rPr lang="en-US" sz="740" dirty="0">
                <a:solidFill>
                  <a:srgbClr val="FFFFFF"/>
                </a:solidFill>
                <a:latin typeface="Calibri" pitchFamily="34" charset="0"/>
                <a:ea typeface="Calibri" pitchFamily="34" charset="-122"/>
                <a:cs typeface="Calibri" pitchFamily="34" charset="-120"/>
              </a:rPr>
              <a:t>On January 5, 1914, Henry Ford shocked the business world by announcing that Ford Motor Company would pay its workers a minimum of $5 per day — roughly double the prevailing factory wage at the time. Ford's motives were partly practical: the assembly line had made work so monotonous that turnover was astronomical (Ford hired 52,000 workers to maintain a workforce of 14,000 in 1913). The $5 day reduced turnover, increased productivity, and generated enormous positive publicity. It also, as Ford himself noted, allowed workers to afford the very cars they were building — contributing to the rise of mass consumer society. However, the $5 day came with strict moral and behavioral requirements that Ford's 'Sociological Department' enforced through home inspections.</a:t>
            </a:r>
            <a:endParaRPr lang="en-US" sz="740" dirty="0"/>
          </a:p>
        </p:txBody>
      </p:sp>
      <p:sp>
        <p:nvSpPr>
          <p:cNvPr id="19" name="Shape 16"/>
          <p:cNvSpPr/>
          <p:nvPr/>
        </p:nvSpPr>
        <p:spPr>
          <a:xfrm>
            <a:off x="7589520" y="3931920"/>
            <a:ext cx="4023360" cy="1051560"/>
          </a:xfrm>
          <a:prstGeom prst="roundRect">
            <a:avLst>
              <a:gd name="adj" fmla="val 6957"/>
            </a:avLst>
          </a:prstGeom>
          <a:solidFill>
            <a:srgbClr val="C9A84C"/>
          </a:solidFill>
          <a:ln/>
        </p:spPr>
        <p:txBody>
          <a:bodyPr/>
          <a:lstStyle/>
          <a:p>
            <a:endParaRPr lang="en-US"/>
          </a:p>
        </p:txBody>
      </p:sp>
      <p:sp>
        <p:nvSpPr>
          <p:cNvPr id="20" name="Text 17"/>
          <p:cNvSpPr/>
          <p:nvPr/>
        </p:nvSpPr>
        <p:spPr>
          <a:xfrm>
            <a:off x="7818120" y="4050792"/>
            <a:ext cx="3657600" cy="274320"/>
          </a:xfrm>
          <a:prstGeom prst="rect">
            <a:avLst/>
          </a:prstGeom>
          <a:noFill/>
          <a:ln/>
        </p:spPr>
        <p:txBody>
          <a:bodyPr wrap="square" rtlCol="0" anchor="ctr"/>
          <a:lstStyle/>
          <a:p>
            <a:pPr marL="0" indent="0">
              <a:buNone/>
            </a:pPr>
            <a:r>
              <a:rPr lang="en-US" sz="1100" b="1" kern="0" spc="20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marL="0" indent="0">
              <a:lnSpc>
                <a:spcPct val="103000"/>
              </a:lnSpc>
              <a:buNone/>
            </a:pPr>
            <a:r>
              <a:rPr lang="en-US" sz="1250" b="1" dirty="0">
                <a:solidFill>
                  <a:srgbClr val="1A2332"/>
                </a:solidFill>
                <a:latin typeface="Calibri" pitchFamily="34" charset="0"/>
                <a:ea typeface="Calibri" pitchFamily="34" charset="-122"/>
                <a:cs typeface="Calibri" pitchFamily="34" charset="-120"/>
              </a:rPr>
              <a:t>What did Ford's $5 day policy represent in American industrial history?</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lstStyle/>
          <a:p>
            <a:endParaRPr lang="en-US"/>
          </a:p>
        </p:txBody>
      </p:sp>
      <p:sp>
        <p:nvSpPr>
          <p:cNvPr id="23" name="Shape 20"/>
          <p:cNvSpPr/>
          <p:nvPr/>
        </p:nvSpPr>
        <p:spPr>
          <a:xfrm>
            <a:off x="548640" y="5120640"/>
            <a:ext cx="2423160" cy="841248"/>
          </a:xfrm>
          <a:prstGeom prst="rect">
            <a:avLst/>
          </a:prstGeom>
          <a:solidFill>
            <a:srgbClr val="002858"/>
          </a:solidFill>
          <a:ln/>
        </p:spPr>
        <p:txBody>
          <a:bodyPr/>
          <a:lstStyle/>
          <a:p>
            <a:endParaRPr lang="en-US"/>
          </a:p>
        </p:txBody>
      </p:sp>
      <p:sp>
        <p:nvSpPr>
          <p:cNvPr id="24" name="Text 21"/>
          <p:cNvSpPr/>
          <p:nvPr/>
        </p:nvSpPr>
        <p:spPr>
          <a:xfrm>
            <a:off x="658368" y="5239512"/>
            <a:ext cx="2194560" cy="274320"/>
          </a:xfrm>
          <a:prstGeom prst="rect">
            <a:avLst/>
          </a:prstGeom>
          <a:noFill/>
          <a:ln/>
        </p:spPr>
        <p:txBody>
          <a:bodyPr wrap="square"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marL="0" indent="0">
              <a:buNone/>
            </a:pPr>
            <a:r>
              <a:rPr lang="en-US" sz="1250" b="1" kern="0" spc="10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marL="0" indent="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Henry Ford</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January 5, 1914</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marL="0" indent="0" algn="l">
              <a:buNone/>
            </a:pPr>
            <a:r>
              <a:rPr lang="en-US" sz="900" dirty="0">
                <a:solidFill>
                  <a:srgbClr val="5C6470"/>
                </a:solidFill>
                <a:latin typeface="Calibri" pitchFamily="34" charset="0"/>
                <a:ea typeface="Calibri" pitchFamily="34" charset="-122"/>
                <a:cs typeface="Calibri" pitchFamily="34" charset="-120"/>
              </a:rPr>
              <a:t>Source: </a:t>
            </a:r>
            <a:r>
              <a:rPr lang="en-US" sz="900" i="1" u="sng" dirty="0">
                <a:solidFill>
                  <a:srgbClr val="00285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The Henry Ford</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45920"/>
            <a:ext cx="5486400" cy="676656"/>
          </a:xfrm>
          <a:prstGeom prst="rect">
            <a:avLst/>
          </a:prstGeom>
          <a:solidFill>
            <a:srgbClr val="1A2332"/>
          </a:solidFill>
          <a:ln/>
        </p:spPr>
        <p:txBody>
          <a:bodyPr/>
          <a:lstStyle/>
          <a:p>
            <a:endParaRPr lang="en-US"/>
          </a:p>
        </p:txBody>
      </p:sp>
      <p:sp>
        <p:nvSpPr>
          <p:cNvPr id="7" name="Text 5"/>
          <p:cNvSpPr/>
          <p:nvPr/>
        </p:nvSpPr>
        <p:spPr>
          <a:xfrm>
            <a:off x="685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Henry Ford</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HEN-ree ford</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Henry Ford</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1" name="Text 9"/>
          <p:cNvSpPr/>
          <p:nvPr/>
        </p:nvSpPr>
        <p:spPr>
          <a:xfrm>
            <a:off x="576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HF</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Automobile manufacturer who revolutionized production with the assembly line, making the Model T affordable for average Americans and transforming society.</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14" name="Shape 12"/>
          <p:cNvSpPr/>
          <p:nvPr/>
        </p:nvSpPr>
        <p:spPr>
          <a:xfrm>
            <a:off x="6263640" y="1645920"/>
            <a:ext cx="5486400" cy="676656"/>
          </a:xfrm>
          <a:prstGeom prst="rect">
            <a:avLst/>
          </a:prstGeom>
          <a:solidFill>
            <a:srgbClr val="1A2332"/>
          </a:solidFill>
          <a:ln/>
        </p:spPr>
        <p:txBody>
          <a:bodyPr/>
          <a:lstStyle/>
          <a:p>
            <a:endParaRPr lang="en-US"/>
          </a:p>
        </p:txBody>
      </p:sp>
      <p:sp>
        <p:nvSpPr>
          <p:cNvPr id="15" name="Text 13"/>
          <p:cNvSpPr/>
          <p:nvPr/>
        </p:nvSpPr>
        <p:spPr>
          <a:xfrm>
            <a:off x="6400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Assembly Line</a:t>
            </a:r>
            <a:endParaRPr lang="en-US" sz="13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Línea de Ensamblaje</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8" name="Text 16"/>
          <p:cNvSpPr/>
          <p:nvPr/>
        </p:nvSpPr>
        <p:spPr>
          <a:xfrm>
            <a:off x="6291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AL</a:t>
            </a:r>
            <a:endParaRPr lang="en-US" sz="1300" dirty="0"/>
          </a:p>
        </p:txBody>
      </p:sp>
      <p:sp>
        <p:nvSpPr>
          <p:cNvPr id="19" name="Text 17"/>
          <p:cNvSpPr/>
          <p:nvPr/>
        </p:nvSpPr>
        <p:spPr>
          <a:xfrm>
            <a:off x="6940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manufacturing method where workers remain stationary while products move past them on a conveyor belt, with each worker performing one specific task, dramatically increasing efficiency.</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1" name="Shape 19"/>
          <p:cNvSpPr/>
          <p:nvPr/>
        </p:nvSpPr>
        <p:spPr>
          <a:xfrm>
            <a:off x="548640" y="3072384"/>
            <a:ext cx="5486400" cy="676656"/>
          </a:xfrm>
          <a:prstGeom prst="rect">
            <a:avLst/>
          </a:prstGeom>
          <a:solidFill>
            <a:srgbClr val="1A2332"/>
          </a:solidFill>
          <a:ln/>
        </p:spPr>
        <p:txBody>
          <a:bodyPr/>
          <a:lstStyle/>
          <a:p>
            <a:endParaRPr lang="en-US"/>
          </a:p>
        </p:txBody>
      </p:sp>
      <p:sp>
        <p:nvSpPr>
          <p:cNvPr id="22" name="Text 20"/>
          <p:cNvSpPr/>
          <p:nvPr/>
        </p:nvSpPr>
        <p:spPr>
          <a:xfrm>
            <a:off x="685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Automobile Impact</a:t>
            </a:r>
            <a:endParaRPr lang="en-US" sz="13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Impacto del Automóvil</a:t>
            </a:r>
            <a:endParaRPr lang="en-US" sz="1000" dirty="0"/>
          </a:p>
        </p:txBody>
      </p:sp>
      <p:sp>
        <p:nvSpPr>
          <p:cNvPr id="24" name="Shape 22"/>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25" name="Text 23"/>
          <p:cNvSpPr/>
          <p:nvPr/>
        </p:nvSpPr>
        <p:spPr>
          <a:xfrm>
            <a:off x="576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AI</a:t>
            </a:r>
            <a:endParaRPr lang="en-US" sz="1300" dirty="0"/>
          </a:p>
        </p:txBody>
      </p:sp>
      <p:sp>
        <p:nvSpPr>
          <p:cNvPr id="26" name="Text 24"/>
          <p:cNvSpPr/>
          <p:nvPr/>
        </p:nvSpPr>
        <p:spPr>
          <a:xfrm>
            <a:off x="1225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widespread adoption of cars in the 1920s transformed American society, creating suburbs, highways, tourism, and related industries like gas stations, motels, and drive-in restaurants.</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8" name="Shape 26"/>
          <p:cNvSpPr/>
          <p:nvPr/>
        </p:nvSpPr>
        <p:spPr>
          <a:xfrm>
            <a:off x="6263640" y="3072384"/>
            <a:ext cx="5486400" cy="676656"/>
          </a:xfrm>
          <a:prstGeom prst="rect">
            <a:avLst/>
          </a:prstGeom>
          <a:solidFill>
            <a:srgbClr val="1A2332"/>
          </a:solidFill>
          <a:ln/>
        </p:spPr>
        <p:txBody>
          <a:bodyPr/>
          <a:lstStyle/>
          <a:p>
            <a:endParaRPr lang="en-US"/>
          </a:p>
        </p:txBody>
      </p:sp>
      <p:sp>
        <p:nvSpPr>
          <p:cNvPr id="29" name="Text 27"/>
          <p:cNvSpPr/>
          <p:nvPr/>
        </p:nvSpPr>
        <p:spPr>
          <a:xfrm>
            <a:off x="6400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Buying on Credit</a:t>
            </a:r>
            <a:endParaRPr lang="en-US" sz="13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Compra a Crédito</a:t>
            </a:r>
            <a:endParaRPr lang="en-US" sz="1000" dirty="0"/>
          </a:p>
        </p:txBody>
      </p:sp>
      <p:sp>
        <p:nvSpPr>
          <p:cNvPr id="31" name="Shape 29"/>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2" name="Text 30"/>
          <p:cNvSpPr/>
          <p:nvPr/>
        </p:nvSpPr>
        <p:spPr>
          <a:xfrm>
            <a:off x="6291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BO</a:t>
            </a:r>
            <a:endParaRPr lang="en-US" sz="1300" dirty="0"/>
          </a:p>
        </p:txBody>
      </p:sp>
      <p:sp>
        <p:nvSpPr>
          <p:cNvPr id="33" name="Text 31"/>
          <p:cNvSpPr/>
          <p:nvPr/>
        </p:nvSpPr>
        <p:spPr>
          <a:xfrm>
            <a:off x="6940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practice of purchasing goods with borrowed money repaid over time in installments, which fueled 1920s consumer spending.</a:t>
            </a:r>
            <a:endParaRPr lang="en-US" sz="1100" dirty="0"/>
          </a:p>
        </p:txBody>
      </p:sp>
      <p:sp>
        <p:nvSpPr>
          <p:cNvPr id="34" name="Shape 32"/>
          <p:cNvSpPr/>
          <p:nvPr/>
        </p:nvSpPr>
        <p:spPr>
          <a:xfrm>
            <a:off x="548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35" name="Shape 33"/>
          <p:cNvSpPr/>
          <p:nvPr/>
        </p:nvSpPr>
        <p:spPr>
          <a:xfrm>
            <a:off x="548640" y="4498848"/>
            <a:ext cx="5486400" cy="676656"/>
          </a:xfrm>
          <a:prstGeom prst="rect">
            <a:avLst/>
          </a:prstGeom>
          <a:solidFill>
            <a:srgbClr val="1A2332"/>
          </a:solidFill>
          <a:ln/>
        </p:spPr>
        <p:txBody>
          <a:bodyPr/>
          <a:lstStyle/>
          <a:p>
            <a:endParaRPr lang="en-US"/>
          </a:p>
        </p:txBody>
      </p:sp>
      <p:sp>
        <p:nvSpPr>
          <p:cNvPr id="36" name="Text 34"/>
          <p:cNvSpPr/>
          <p:nvPr/>
        </p:nvSpPr>
        <p:spPr>
          <a:xfrm>
            <a:off x="685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Consumerism</a:t>
            </a:r>
            <a:endParaRPr lang="en-US" sz="1350" dirty="0"/>
          </a:p>
        </p:txBody>
      </p:sp>
      <p:sp>
        <p:nvSpPr>
          <p:cNvPr id="37" name="Text 35"/>
          <p:cNvSpPr/>
          <p:nvPr/>
        </p:nvSpPr>
        <p:spPr>
          <a:xfrm>
            <a:off x="685800" y="4864608"/>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kun-SOO-mer-iz-um</a:t>
            </a:r>
            <a:endParaRPr lang="en-US" sz="8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Consumismo</a:t>
            </a:r>
            <a:endParaRPr lang="en-US" sz="1000" dirty="0"/>
          </a:p>
        </p:txBody>
      </p:sp>
      <p:sp>
        <p:nvSpPr>
          <p:cNvPr id="39" name="Shape 37"/>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0" name="Text 38"/>
          <p:cNvSpPr/>
          <p:nvPr/>
        </p:nvSpPr>
        <p:spPr>
          <a:xfrm>
            <a:off x="576072" y="5248656"/>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C</a:t>
            </a:r>
            <a:endParaRPr lang="en-US" sz="1500" dirty="0"/>
          </a:p>
        </p:txBody>
      </p:sp>
      <p:sp>
        <p:nvSpPr>
          <p:cNvPr id="41" name="Text 39"/>
          <p:cNvSpPr/>
          <p:nvPr/>
        </p:nvSpPr>
        <p:spPr>
          <a:xfrm>
            <a:off x="1225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culture of increased purchasing of consumer goods, driven in the 1920s by mass production, national advertising, and installment credit.</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43" name="Shape 41"/>
          <p:cNvSpPr/>
          <p:nvPr/>
        </p:nvSpPr>
        <p:spPr>
          <a:xfrm>
            <a:off x="6263640" y="4498848"/>
            <a:ext cx="5486400" cy="676656"/>
          </a:xfrm>
          <a:prstGeom prst="rect">
            <a:avLst/>
          </a:prstGeom>
          <a:solidFill>
            <a:srgbClr val="1A2332"/>
          </a:solidFill>
          <a:ln/>
        </p:spPr>
        <p:txBody>
          <a:bodyPr/>
          <a:lstStyle/>
          <a:p>
            <a:endParaRPr lang="en-US"/>
          </a:p>
        </p:txBody>
      </p:sp>
      <p:sp>
        <p:nvSpPr>
          <p:cNvPr id="44" name="Text 42"/>
          <p:cNvSpPr/>
          <p:nvPr/>
        </p:nvSpPr>
        <p:spPr>
          <a:xfrm>
            <a:off x="6400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Electrification</a:t>
            </a:r>
            <a:endParaRPr lang="en-US" sz="1350" dirty="0"/>
          </a:p>
        </p:txBody>
      </p:sp>
      <p:sp>
        <p:nvSpPr>
          <p:cNvPr id="45" name="Text 43"/>
          <p:cNvSpPr/>
          <p:nvPr/>
        </p:nvSpPr>
        <p:spPr>
          <a:xfrm>
            <a:off x="6400800" y="4864608"/>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ee-lek-truh-fih-KAY-shun</a:t>
            </a:r>
            <a:endParaRPr lang="en-US" sz="8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Electrificación</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8" name="Text 46"/>
          <p:cNvSpPr/>
          <p:nvPr/>
        </p:nvSpPr>
        <p:spPr>
          <a:xfrm>
            <a:off x="6291072" y="5248656"/>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E</a:t>
            </a:r>
            <a:endParaRPr lang="en-US" sz="1500" dirty="0"/>
          </a:p>
        </p:txBody>
      </p:sp>
      <p:sp>
        <p:nvSpPr>
          <p:cNvPr id="49" name="Text 47"/>
          <p:cNvSpPr/>
          <p:nvPr/>
        </p:nvSpPr>
        <p:spPr>
          <a:xfrm>
            <a:off x="6940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spread of electrical power throughout America in the 1920s, transforming daily life with electric appliances, lighting, and machinery in homes and factories.</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marL="0" indent="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marL="0" indent="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lstStyle/>
          <a:p>
            <a:endParaRPr lang="en-US"/>
          </a:p>
        </p:txBody>
      </p:sp>
      <p:sp>
        <p:nvSpPr>
          <p:cNvPr id="6" name="Text 4"/>
          <p:cNvSpPr/>
          <p:nvPr/>
        </p:nvSpPr>
        <p:spPr>
          <a:xfrm>
            <a:off x="8869680" y="822960"/>
            <a:ext cx="274320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Connect production to consumption</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640080"/>
          </a:xfrm>
          <a:prstGeom prst="rect">
            <a:avLst/>
          </a:prstGeom>
          <a:noFill/>
          <a:ln/>
        </p:spPr>
        <p:txBody>
          <a:bodyPr wrap="square" rtlCol="0" anchor="ctr"/>
          <a:lstStyle/>
          <a:p>
            <a:pPr marL="0" indent="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r>
              <a:rPr lang="en-US" sz="1500" dirty="0">
                <a:solidFill>
                  <a:srgbClr val="FFFFFF"/>
                </a:solidFill>
                <a:latin typeface="Calibri" pitchFamily="34" charset="0"/>
                <a:ea typeface="Calibri" pitchFamily="34" charset="-122"/>
                <a:cs typeface="Calibri" pitchFamily="34" charset="-120"/>
              </a:rPr>
              <a:t>How did Ford's assembly line change both work and society?</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lstStyle/>
          <a:p>
            <a:endParaRPr lang="en-US"/>
          </a:p>
        </p:txBody>
      </p:sp>
      <p:sp>
        <p:nvSpPr>
          <p:cNvPr id="10" name="Text 8"/>
          <p:cNvSpPr/>
          <p:nvPr/>
        </p:nvSpPr>
        <p:spPr>
          <a:xfrm>
            <a:off x="822960" y="2724912"/>
            <a:ext cx="10058400" cy="292608"/>
          </a:xfrm>
          <a:prstGeom prst="rect">
            <a:avLst/>
          </a:prstGeom>
          <a:noFill/>
          <a:ln/>
        </p:spPr>
        <p:txBody>
          <a:bodyPr wrap="square" rtlCol="0" anchor="ctr"/>
          <a:lstStyle/>
          <a:p>
            <a:pPr marL="0" indent="0">
              <a:buNone/>
            </a:pPr>
            <a:r>
              <a:rPr lang="en-US" sz="1100" b="1" kern="0" spc="10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marL="0" indent="0">
              <a:lnSpc>
                <a:spcPct val="106000"/>
              </a:lnSpc>
              <a:buNone/>
            </a:pPr>
            <a:r>
              <a:rPr lang="en-US" sz="1450" b="1" dirty="0">
                <a:solidFill>
                  <a:srgbClr val="1A2332"/>
                </a:solidFill>
                <a:latin typeface="Calibri" pitchFamily="34" charset="0"/>
                <a:ea typeface="Calibri" pitchFamily="34" charset="-122"/>
                <a:cs typeface="Calibri" pitchFamily="34" charset="-120"/>
              </a:rPr>
              <a:t>The moving line made cars cheap; the $5 day let workers afford them. Mass production and mass consumption fed each other.</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lstStyle/>
          <a:p>
            <a:endParaRPr lang="en-US"/>
          </a:p>
        </p:txBody>
      </p:sp>
      <p:sp>
        <p:nvSpPr>
          <p:cNvPr id="13" name="Text 11"/>
          <p:cNvSpPr/>
          <p:nvPr/>
        </p:nvSpPr>
        <p:spPr>
          <a:xfrm>
            <a:off x="822960" y="4407408"/>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marL="0" indent="0">
              <a:lnSpc>
                <a:spcPct val="106000"/>
              </a:lnSpc>
              <a:buNone/>
            </a:pPr>
            <a:r>
              <a:rPr lang="en-US" sz="1300" i="1" dirty="0">
                <a:solidFill>
                  <a:srgbClr val="1F2430"/>
                </a:solidFill>
                <a:latin typeface="Calibri" pitchFamily="34" charset="0"/>
                <a:ea typeface="Calibri" pitchFamily="34" charset="-122"/>
                <a:cs typeface="Calibri" pitchFamily="34" charset="-120"/>
              </a:rPr>
              <a:t>Circle the effect on workers and the effect on ordinary buyers.</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marL="0" indent="0">
              <a:buNone/>
            </a:pPr>
            <a:r>
              <a:rPr lang="en-US" sz="1200" b="1" dirty="0">
                <a:solidFill>
                  <a:srgbClr val="1A2332"/>
                </a:solidFill>
                <a:latin typeface="Calibri" pitchFamily="34" charset="0"/>
                <a:ea typeface="Calibri" pitchFamily="34" charset="-122"/>
                <a:cs typeface="Calibri" pitchFamily="34" charset="-120"/>
              </a:rPr>
              <a:t>→ Now you try:  </a:t>
            </a:r>
            <a:r>
              <a:rPr lang="en-US" sz="1200" i="1" dirty="0">
                <a:solidFill>
                  <a:srgbClr val="002858"/>
                </a:solidFill>
                <a:latin typeface="Calibri" pitchFamily="34" charset="0"/>
                <a:ea typeface="Calibri" pitchFamily="34" charset="-122"/>
                <a:cs typeface="Calibri" pitchFamily="34" charset="-120"/>
              </a:rPr>
              <a:t>Explain how the automobile reshaped where and how Americans lived.</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marL="0" indent="0">
              <a:buNone/>
            </a:pPr>
            <a:r>
              <a:rPr lang="en-US" sz="2400" b="1" dirty="0">
                <a:solidFill>
                  <a:srgbClr val="1A2332"/>
                </a:solidFill>
                <a:latin typeface="Georgia" pitchFamily="34" charset="0"/>
                <a:ea typeface="Georgia" pitchFamily="34" charset="-122"/>
                <a:cs typeface="Georgia" pitchFamily="34" charset="-120"/>
              </a:rPr>
              <a:t>Ninety Minutes to a Model T — The Assembly Line Effect</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txBody>
          <a:bodyPr/>
          <a:lstStyle/>
          <a:p>
            <a:endParaRPr lang="en-US"/>
          </a:p>
        </p:txBody>
      </p:sp>
      <p:sp>
        <p:nvSpPr>
          <p:cNvPr id="6" name="Text 4"/>
          <p:cNvSpPr/>
          <p:nvPr/>
        </p:nvSpPr>
        <p:spPr>
          <a:xfrm>
            <a:off x="548640" y="1591056"/>
            <a:ext cx="694944"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txBody>
          <a:bodyPr/>
          <a:lstStyle/>
          <a:p>
            <a:endParaRPr lang="en-US"/>
          </a:p>
        </p:txBody>
      </p:sp>
      <p:sp>
        <p:nvSpPr>
          <p:cNvPr id="8" name="Text 6"/>
          <p:cNvSpPr/>
          <p:nvPr/>
        </p:nvSpPr>
        <p:spPr>
          <a:xfrm>
            <a:off x="1408176" y="1591056"/>
            <a:ext cx="779069"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lstStyle/>
          <a:p>
            <a:endParaRPr lang="en-US"/>
          </a:p>
        </p:txBody>
      </p:sp>
      <p:sp>
        <p:nvSpPr>
          <p:cNvPr id="10" name="Text 8"/>
          <p:cNvSpPr/>
          <p:nvPr/>
        </p:nvSpPr>
        <p:spPr>
          <a:xfrm>
            <a:off x="822960" y="2194560"/>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marL="0" indent="0">
              <a:lnSpc>
                <a:spcPct val="112000"/>
              </a:lnSpc>
              <a:buNone/>
            </a:pPr>
            <a:r>
              <a:rPr lang="en-US" sz="1350" dirty="0">
                <a:solidFill>
                  <a:srgbClr val="1F2430"/>
                </a:solidFill>
                <a:latin typeface="Calibri" pitchFamily="34" charset="0"/>
                <a:ea typeface="Calibri" pitchFamily="34" charset="-122"/>
                <a:cs typeface="Calibri" pitchFamily="34" charset="-120"/>
              </a:rPr>
              <a:t>Read the Ford assembly-line description and the $5 Day announcement. Create a cause-and-effect web starting from 'moving assembly line' and branching to at least four effects: on price, on workers, on the consumer middle class, and on daily American life (where people lived, worked, shopped). Then write a one-sentence claim on whether Ford's biggest impact was on the economy or on everyday life.</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lstStyle/>
          <a:p>
            <a:endParaRPr lang="en-US"/>
          </a:p>
        </p:txBody>
      </p:sp>
      <p:pic>
        <p:nvPicPr>
          <p:cNvPr id="13" name="Image 0" descr="unit4-full/img/henry-ford.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732520" y="2057400"/>
            <a:ext cx="1783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marL="0" indent="0" algn="l">
              <a:lnSpc>
                <a:spcPct val="100000"/>
              </a:lnSpc>
              <a:buNone/>
            </a:pPr>
            <a:r>
              <a:rPr lang="en-US" sz="750" i="1" dirty="0">
                <a:solidFill>
                  <a:srgbClr val="5C6470"/>
                </a:solidFill>
                <a:latin typeface="Calibri" pitchFamily="34" charset="0"/>
                <a:ea typeface="Calibri" pitchFamily="34" charset="-122"/>
                <a:cs typeface="Calibri" pitchFamily="34" charset="-120"/>
              </a:rPr>
              <a:t>Hartsook (studio), c1919  </a:t>
            </a:r>
            <a:r>
              <a:rPr lang="en-US" sz="75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lstStyle/>
          <a:p>
            <a:endParaRPr lang="en-US"/>
          </a:p>
        </p:txBody>
      </p:sp>
      <p:sp>
        <p:nvSpPr>
          <p:cNvPr id="16" name="Text 13"/>
          <p:cNvSpPr/>
          <p:nvPr/>
        </p:nvSpPr>
        <p:spPr>
          <a:xfrm>
            <a:off x="777240" y="4645152"/>
            <a:ext cx="4572000" cy="274320"/>
          </a:xfrm>
          <a:prstGeom prst="rect">
            <a:avLst/>
          </a:prstGeom>
          <a:noFill/>
          <a:ln/>
        </p:spPr>
        <p:txBody>
          <a:bodyPr wrap="square" rtlCol="0" anchor="ctr"/>
          <a:lstStyle/>
          <a:p>
            <a:pPr marL="0" indent="0">
              <a:buNone/>
            </a:pPr>
            <a:r>
              <a:rPr lang="en-US" sz="1050" b="1" kern="0" spc="20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normAutofit/>
          </a:bodyPr>
          <a:lstStyle/>
          <a:p>
            <a:pPr marL="0" indent="0">
              <a:lnSpc>
                <a:spcPct val="103000"/>
              </a:lnSpc>
              <a:buNone/>
            </a:pPr>
            <a:r>
              <a:rPr lang="en-US" sz="1250" dirty="0">
                <a:solidFill>
                  <a:srgbClr val="FFFFFF"/>
                </a:solidFill>
                <a:latin typeface="Calibri" pitchFamily="34" charset="0"/>
                <a:ea typeface="Calibri" pitchFamily="34" charset="-122"/>
                <a:cs typeface="Calibri" pitchFamily="34" charset="-120"/>
              </a:rPr>
              <a:t>Completed cause-and-effect web (4+ effects) AND a one-sentence evidence-based claim about Ford's greatest impact.</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lstStyle/>
          <a:p>
            <a:endParaRPr lang="en-US"/>
          </a:p>
        </p:txBody>
      </p:sp>
      <p:sp>
        <p:nvSpPr>
          <p:cNvPr id="19" name="Text 16"/>
          <p:cNvSpPr/>
          <p:nvPr/>
        </p:nvSpPr>
        <p:spPr>
          <a:xfrm>
            <a:off x="6400800" y="4645152"/>
            <a:ext cx="4572000" cy="274320"/>
          </a:xfrm>
          <a:prstGeom prst="rect">
            <a:avLst/>
          </a:prstGeom>
          <a:noFill/>
          <a:ln/>
        </p:spPr>
        <p:txBody>
          <a:bodyPr wrap="square" rtlCol="0" anchor="ctr"/>
          <a:lstStyle/>
          <a:p>
            <a:pPr marL="0" indent="0">
              <a:buNone/>
            </a:pPr>
            <a:r>
              <a:rPr lang="en-US" sz="1050" b="1" kern="0" spc="20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20" name="Text 17"/>
          <p:cNvSpPr/>
          <p:nvPr/>
        </p:nvSpPr>
        <p:spPr>
          <a:xfrm>
            <a:off x="6400800" y="4919472"/>
            <a:ext cx="5029200" cy="868680"/>
          </a:xfrm>
          <a:prstGeom prst="rect">
            <a:avLst/>
          </a:prstGeom>
          <a:noFill/>
          <a:ln/>
        </p:spPr>
        <p:txBody>
          <a:bodyPr wrap="square" rtlCol="0" anchor="t">
            <a:normAutofit/>
          </a:bodyPr>
          <a:lstStyle/>
          <a:p>
            <a:pPr marL="0" indent="0">
              <a:lnSpc>
                <a:spcPct val="103000"/>
              </a:lnSpc>
              <a:buNone/>
            </a:pPr>
            <a:r>
              <a:rPr lang="en-US" sz="1000" dirty="0">
                <a:solidFill>
                  <a:srgbClr val="1F2430"/>
                </a:solidFill>
                <a:latin typeface="Calibri" pitchFamily="34" charset="0"/>
                <a:ea typeface="Calibri" pitchFamily="34" charset="-122"/>
                <a:cs typeface="Calibri" pitchFamily="34" charset="-120"/>
              </a:rPr>
              <a:t>Entry: Web with the four effect branches pre-labeled and a word bank to fill in. Honors: Write a paragraph explaining how the $5 Day helped create the very consumers who bought Ford's cars, citing the announcement.</a:t>
            </a:r>
            <a:endParaRPr lang="en-US" sz="1000" dirty="0"/>
          </a:p>
        </p:txBody>
      </p:sp>
      <p:sp>
        <p:nvSpPr>
          <p:cNvPr id="21" name="Text 18"/>
          <p:cNvSpPr/>
          <p:nvPr/>
        </p:nvSpPr>
        <p:spPr>
          <a:xfrm>
            <a:off x="548640" y="5943600"/>
            <a:ext cx="11064240" cy="320040"/>
          </a:xfrm>
          <a:prstGeom prst="rect">
            <a:avLst/>
          </a:prstGeom>
          <a:noFill/>
          <a:ln/>
        </p:spPr>
        <p:txBody>
          <a:bodyPr wrap="square" rtlCol="0" anchor="ctr"/>
          <a:lstStyle/>
          <a:p>
            <a:pPr marL="0" indent="0">
              <a:buNone/>
            </a:pPr>
            <a:r>
              <a:rPr lang="en-US" sz="1050" b="1" dirty="0">
                <a:solidFill>
                  <a:srgbClr val="1A2332"/>
                </a:solidFill>
                <a:latin typeface="Calibri" pitchFamily="34" charset="0"/>
                <a:ea typeface="Calibri" pitchFamily="34" charset="-122"/>
                <a:cs typeface="Calibri" pitchFamily="34" charset="-120"/>
              </a:rPr>
              <a:t>Companion printable:  </a:t>
            </a:r>
            <a:r>
              <a:rPr lang="en-US" sz="1050" i="1" dirty="0">
                <a:solidFill>
                  <a:srgbClr val="002858"/>
                </a:solidFill>
                <a:latin typeface="Calibri" pitchFamily="34" charset="0"/>
                <a:ea typeface="Calibri" pitchFamily="34" charset="-122"/>
                <a:cs typeface="Calibri" pitchFamily="34" charset="-120"/>
              </a:rPr>
              <a:t>cornell-notes/unit-4/us32-ford-assembly-line.pdf</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US.32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lstStyle/>
          <a:p>
            <a:endParaRPr lang="en-US"/>
          </a:p>
        </p:txBody>
      </p:sp>
      <p:sp>
        <p:nvSpPr>
          <p:cNvPr id="6" name="Text 4"/>
          <p:cNvSpPr/>
          <p:nvPr/>
        </p:nvSpPr>
        <p:spPr>
          <a:xfrm>
            <a:off x="7635240" y="822960"/>
            <a:ext cx="1143000" cy="457200"/>
          </a:xfrm>
          <a:prstGeom prst="rect">
            <a:avLst/>
          </a:prstGeom>
          <a:noFill/>
          <a:ln/>
        </p:spPr>
        <p:txBody>
          <a:bodyPr wrap="square" rtlCol="0" anchor="ctr"/>
          <a:lstStyle/>
          <a:p>
            <a:pPr marL="0" indent="0" algn="ctr">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lstStyle/>
          <a:p>
            <a:endParaRPr lang="en-US"/>
          </a:p>
        </p:txBody>
      </p:sp>
      <p:sp>
        <p:nvSpPr>
          <p:cNvPr id="8" name="Text 6"/>
          <p:cNvSpPr/>
          <p:nvPr/>
        </p:nvSpPr>
        <p:spPr>
          <a:xfrm>
            <a:off x="8869680" y="822960"/>
            <a:ext cx="274320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lstStyle/>
          <a:p>
            <a:endParaRPr lang="en-US"/>
          </a:p>
        </p:txBody>
      </p:sp>
      <p:sp>
        <p:nvSpPr>
          <p:cNvPr id="10" name="Text 8"/>
          <p:cNvSpPr/>
          <p:nvPr/>
        </p:nvSpPr>
        <p:spPr>
          <a:xfrm>
            <a:off x="822960" y="1691640"/>
            <a:ext cx="10515600" cy="777240"/>
          </a:xfrm>
          <a:prstGeom prst="rect">
            <a:avLst/>
          </a:prstGeom>
          <a:noFill/>
          <a:ln/>
        </p:spPr>
        <p:txBody>
          <a:bodyPr wrap="square" rtlCol="0" anchor="ctr"/>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What did Ford's $5 day policy represent in American industrial history?</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2" name="Shape 10"/>
          <p:cNvSpPr/>
          <p:nvPr/>
        </p:nvSpPr>
        <p:spPr>
          <a:xfrm>
            <a:off x="713232" y="2889504"/>
            <a:ext cx="365760" cy="365760"/>
          </a:xfrm>
          <a:prstGeom prst="ellipse">
            <a:avLst/>
          </a:prstGeom>
          <a:solidFill>
            <a:srgbClr val="1A2332"/>
          </a:solidFill>
          <a:ln/>
        </p:spPr>
        <p:txBody>
          <a:bodyPr/>
          <a:lstStyle/>
          <a:p>
            <a:endParaRPr lang="en-US"/>
          </a:p>
        </p:txBody>
      </p:sp>
      <p:sp>
        <p:nvSpPr>
          <p:cNvPr id="13" name="Text 11"/>
          <p:cNvSpPr/>
          <p:nvPr/>
        </p:nvSpPr>
        <p:spPr>
          <a:xfrm>
            <a:off x="713232" y="2889504"/>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A reduction in worker wages to increase company profits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6" name="Shape 14"/>
          <p:cNvSpPr/>
          <p:nvPr/>
        </p:nvSpPr>
        <p:spPr>
          <a:xfrm>
            <a:off x="713232" y="3639312"/>
            <a:ext cx="365760" cy="365760"/>
          </a:xfrm>
          <a:prstGeom prst="ellipse">
            <a:avLst/>
          </a:prstGeom>
          <a:solidFill>
            <a:srgbClr val="1A2332"/>
          </a:solidFill>
          <a:ln/>
        </p:spPr>
        <p:txBody>
          <a:bodyPr/>
          <a:lstStyle/>
          <a:p>
            <a:endParaRPr lang="en-US"/>
          </a:p>
        </p:txBody>
      </p:sp>
      <p:sp>
        <p:nvSpPr>
          <p:cNvPr id="17" name="Text 15"/>
          <p:cNvSpPr/>
          <p:nvPr/>
        </p:nvSpPr>
        <p:spPr>
          <a:xfrm>
            <a:off x="713232" y="3639312"/>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A revolutionary increase in wages combined with shorter work hours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0" name="Shape 18"/>
          <p:cNvSpPr/>
          <p:nvPr/>
        </p:nvSpPr>
        <p:spPr>
          <a:xfrm>
            <a:off x="713232" y="4389120"/>
            <a:ext cx="365760" cy="365760"/>
          </a:xfrm>
          <a:prstGeom prst="ellipse">
            <a:avLst/>
          </a:prstGeom>
          <a:solidFill>
            <a:srgbClr val="1A2332"/>
          </a:solidFill>
          <a:ln/>
        </p:spPr>
        <p:txBody>
          <a:bodyPr/>
          <a:lstStyle/>
          <a:p>
            <a:endParaRPr lang="en-US"/>
          </a:p>
        </p:txBody>
      </p:sp>
      <p:sp>
        <p:nvSpPr>
          <p:cNvPr id="21" name="Text 19"/>
          <p:cNvSpPr/>
          <p:nvPr/>
        </p:nvSpPr>
        <p:spPr>
          <a:xfrm>
            <a:off x="713232" y="4389120"/>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A requirement for workers to purchase Ford automobiles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4" name="Shape 22"/>
          <p:cNvSpPr/>
          <p:nvPr/>
        </p:nvSpPr>
        <p:spPr>
          <a:xfrm>
            <a:off x="713232" y="5138928"/>
            <a:ext cx="365760" cy="365760"/>
          </a:xfrm>
          <a:prstGeom prst="ellipse">
            <a:avLst/>
          </a:prstGeom>
          <a:solidFill>
            <a:srgbClr val="1A2332"/>
          </a:solidFill>
          <a:ln/>
        </p:spPr>
        <p:txBody>
          <a:bodyPr/>
          <a:lstStyle/>
          <a:p>
            <a:endParaRPr lang="en-US"/>
          </a:p>
        </p:txBody>
      </p:sp>
      <p:sp>
        <p:nvSpPr>
          <p:cNvPr id="25" name="Text 23"/>
          <p:cNvSpPr/>
          <p:nvPr/>
        </p:nvSpPr>
        <p:spPr>
          <a:xfrm>
            <a:off x="713232" y="5138928"/>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An elimination of profit-sharing programs for workers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lstStyle/>
          <a:p>
            <a:endParaRPr lang="en-US"/>
          </a:p>
        </p:txBody>
      </p:sp>
      <p:sp>
        <p:nvSpPr>
          <p:cNvPr id="28" name="Text 26"/>
          <p:cNvSpPr/>
          <p:nvPr/>
        </p:nvSpPr>
        <p:spPr>
          <a:xfrm>
            <a:off x="822960" y="5715000"/>
            <a:ext cx="10515600" cy="502920"/>
          </a:xfrm>
          <a:prstGeom prst="rect">
            <a:avLst/>
          </a:prstGeom>
          <a:noFill/>
          <a:ln/>
        </p:spPr>
        <p:txBody>
          <a:bodyPr wrap="square" rtlCol="0" anchor="ctr"/>
          <a:lstStyle/>
          <a:p>
            <a:pPr marL="0" indent="0">
              <a:buNone/>
            </a:pPr>
            <a:r>
              <a:rPr lang="en-US" sz="1200" b="1" i="1" kern="0" spc="100" dirty="0">
                <a:solidFill>
                  <a:srgbClr val="F9A825"/>
                </a:solidFill>
                <a:latin typeface="Trebuchet MS" pitchFamily="34" charset="0"/>
                <a:ea typeface="Trebuchet MS" pitchFamily="34" charset="-122"/>
                <a:cs typeface="Trebuchet MS" pitchFamily="34" charset="-120"/>
              </a:rPr>
              <a:t>ANSWER FIRST:  </a:t>
            </a: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US.32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lstStyle/>
          <a:p>
            <a:endParaRPr lang="en-US"/>
          </a:p>
        </p:txBody>
      </p:sp>
      <p:sp>
        <p:nvSpPr>
          <p:cNvPr id="6" name="Text 4"/>
          <p:cNvSpPr/>
          <p:nvPr/>
        </p:nvSpPr>
        <p:spPr>
          <a:xfrm>
            <a:off x="8595360" y="822960"/>
            <a:ext cx="301752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731520"/>
          </a:xfrm>
          <a:prstGeom prst="rect">
            <a:avLst/>
          </a:prstGeom>
          <a:noFill/>
          <a:ln/>
        </p:spPr>
        <p:txBody>
          <a:bodyPr wrap="square" rtlCol="0" anchor="ctr"/>
          <a:lstStyle/>
          <a:p>
            <a:pPr marL="0" indent="0">
              <a:lnSpc>
                <a:spcPct val="102000"/>
              </a:lnSpc>
              <a:buNone/>
            </a:pPr>
            <a:r>
              <a:rPr lang="en-US" sz="1500" b="1" dirty="0">
                <a:solidFill>
                  <a:srgbClr val="FFFFFF"/>
                </a:solidFill>
                <a:latin typeface="Calibri" pitchFamily="34" charset="0"/>
                <a:ea typeface="Calibri" pitchFamily="34" charset="-122"/>
                <a:cs typeface="Calibri" pitchFamily="34" charset="-120"/>
              </a:rPr>
              <a:t>What did Ford's $5 day policy represent in American industrial history?</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0" name="Shape 8"/>
          <p:cNvSpPr/>
          <p:nvPr/>
        </p:nvSpPr>
        <p:spPr>
          <a:xfrm>
            <a:off x="713232" y="2761488"/>
            <a:ext cx="347472" cy="347472"/>
          </a:xfrm>
          <a:prstGeom prst="ellipse">
            <a:avLst/>
          </a:prstGeom>
          <a:solidFill>
            <a:srgbClr val="1A2332"/>
          </a:solidFill>
          <a:ln/>
        </p:spPr>
        <p:txBody>
          <a:bodyPr/>
          <a:lstStyle/>
          <a:p>
            <a:endParaRPr lang="en-US"/>
          </a:p>
        </p:txBody>
      </p:sp>
      <p:sp>
        <p:nvSpPr>
          <p:cNvPr id="11" name="Text 9"/>
          <p:cNvSpPr/>
          <p:nvPr/>
        </p:nvSpPr>
        <p:spPr>
          <a:xfrm>
            <a:off x="713232" y="2761488"/>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A reduction in worker wages to increase company profits</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txBody>
          <a:bodyPr/>
          <a:lstStyle/>
          <a:p>
            <a:endParaRPr lang="en-US"/>
          </a:p>
        </p:txBody>
      </p:sp>
      <p:sp>
        <p:nvSpPr>
          <p:cNvPr id="14" name="Shape 12"/>
          <p:cNvSpPr/>
          <p:nvPr/>
        </p:nvSpPr>
        <p:spPr>
          <a:xfrm>
            <a:off x="713232" y="3419856"/>
            <a:ext cx="347472" cy="347472"/>
          </a:xfrm>
          <a:prstGeom prst="ellipse">
            <a:avLst/>
          </a:prstGeom>
          <a:solidFill>
            <a:srgbClr val="1A2332"/>
          </a:solidFill>
          <a:ln/>
        </p:spPr>
        <p:txBody>
          <a:bodyPr/>
          <a:lstStyle/>
          <a:p>
            <a:endParaRPr lang="en-US"/>
          </a:p>
        </p:txBody>
      </p:sp>
      <p:sp>
        <p:nvSpPr>
          <p:cNvPr id="15" name="Text 13"/>
          <p:cNvSpPr/>
          <p:nvPr/>
        </p:nvSpPr>
        <p:spPr>
          <a:xfrm>
            <a:off x="713232" y="3419856"/>
            <a:ext cx="347472" cy="347472"/>
          </a:xfrm>
          <a:prstGeom prst="rect">
            <a:avLst/>
          </a:prstGeom>
          <a:noFill/>
          <a:ln/>
        </p:spPr>
        <p:txBody>
          <a:bodyPr wrap="square" rtlCol="0" anchor="ctr"/>
          <a:lstStyle/>
          <a:p>
            <a:pPr marL="0" indent="0" algn="ctr">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marL="0" indent="0">
              <a:lnSpc>
                <a:spcPct val="100000"/>
              </a:lnSpc>
              <a:buNone/>
            </a:pPr>
            <a:r>
              <a:rPr lang="en-US" sz="1300" b="1" dirty="0">
                <a:solidFill>
                  <a:srgbClr val="1A2332"/>
                </a:solidFill>
                <a:latin typeface="Calibri" pitchFamily="34" charset="0"/>
                <a:ea typeface="Calibri" pitchFamily="34" charset="-122"/>
                <a:cs typeface="Calibri" pitchFamily="34" charset="-120"/>
              </a:rPr>
              <a:t>A revolutionary increase in wages combined with shorter work hours</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marL="0" indent="0" algn="ctr">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9" name="Shape 17"/>
          <p:cNvSpPr/>
          <p:nvPr/>
        </p:nvSpPr>
        <p:spPr>
          <a:xfrm>
            <a:off x="713232" y="4078224"/>
            <a:ext cx="347472" cy="347472"/>
          </a:xfrm>
          <a:prstGeom prst="ellipse">
            <a:avLst/>
          </a:prstGeom>
          <a:solidFill>
            <a:srgbClr val="1A2332"/>
          </a:solidFill>
          <a:ln/>
        </p:spPr>
        <p:txBody>
          <a:bodyPr/>
          <a:lstStyle/>
          <a:p>
            <a:endParaRPr lang="en-US"/>
          </a:p>
        </p:txBody>
      </p:sp>
      <p:sp>
        <p:nvSpPr>
          <p:cNvPr id="20" name="Text 18"/>
          <p:cNvSpPr/>
          <p:nvPr/>
        </p:nvSpPr>
        <p:spPr>
          <a:xfrm>
            <a:off x="713232" y="4078224"/>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A requirement for workers to purchase Ford automobiles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23" name="Shape 21"/>
          <p:cNvSpPr/>
          <p:nvPr/>
        </p:nvSpPr>
        <p:spPr>
          <a:xfrm>
            <a:off x="713232" y="4736592"/>
            <a:ext cx="347472" cy="347472"/>
          </a:xfrm>
          <a:prstGeom prst="ellipse">
            <a:avLst/>
          </a:prstGeom>
          <a:solidFill>
            <a:srgbClr val="1A2332"/>
          </a:solidFill>
          <a:ln/>
        </p:spPr>
        <p:txBody>
          <a:bodyPr/>
          <a:lstStyle/>
          <a:p>
            <a:endParaRPr lang="en-US"/>
          </a:p>
        </p:txBody>
      </p:sp>
      <p:sp>
        <p:nvSpPr>
          <p:cNvPr id="24" name="Text 22"/>
          <p:cNvSpPr/>
          <p:nvPr/>
        </p:nvSpPr>
        <p:spPr>
          <a:xfrm>
            <a:off x="713232" y="4736592"/>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An elimination of profit-sharing programs for workers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lstStyle/>
          <a:p>
            <a:endParaRPr lang="en-US"/>
          </a:p>
        </p:txBody>
      </p:sp>
      <p:sp>
        <p:nvSpPr>
          <p:cNvPr id="27" name="Text 25"/>
          <p:cNvSpPr/>
          <p:nvPr/>
        </p:nvSpPr>
        <p:spPr>
          <a:xfrm>
            <a:off x="822960" y="5532120"/>
            <a:ext cx="10515600" cy="713232"/>
          </a:xfrm>
          <a:prstGeom prst="rect">
            <a:avLst/>
          </a:prstGeom>
          <a:noFill/>
          <a:ln/>
        </p:spPr>
        <p:txBody>
          <a:bodyPr wrap="square" rtlCol="0" anchor="ctr"/>
          <a:lstStyle/>
          <a:p>
            <a:pPr marL="0" indent="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Why: </a:t>
            </a:r>
            <a:r>
              <a:rPr lang="en-US" sz="1150" dirty="0">
                <a:solidFill>
                  <a:srgbClr val="C7D4E0"/>
                </a:solidFill>
                <a:latin typeface="Calibri" pitchFamily="34" charset="0"/>
                <a:ea typeface="Calibri" pitchFamily="34" charset="-122"/>
                <a:cs typeface="Calibri" pitchFamily="34" charset="-120"/>
              </a:rPr>
              <a:t>Ford announced reducing hours "from nine to eight" while raising pay to "$5 per day"—described as "the greatest revolution... in rewards for its workers."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US.32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marL="0" indent="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lstStyle/>
          <a:p>
            <a:endParaRPr lang="en-US"/>
          </a:p>
        </p:txBody>
      </p:sp>
      <p:sp>
        <p:nvSpPr>
          <p:cNvPr id="6" name="Text 4"/>
          <p:cNvSpPr/>
          <p:nvPr/>
        </p:nvSpPr>
        <p:spPr>
          <a:xfrm>
            <a:off x="868680" y="1847088"/>
            <a:ext cx="5486400" cy="320040"/>
          </a:xfrm>
          <a:prstGeom prst="rect">
            <a:avLst/>
          </a:prstGeom>
          <a:noFill/>
          <a:ln/>
        </p:spPr>
        <p:txBody>
          <a:bodyPr wrap="square" rtlCol="0" anchor="ctr"/>
          <a:lstStyle/>
          <a:p>
            <a:pPr marL="0" indent="0">
              <a:buNone/>
            </a:pPr>
            <a:r>
              <a:rPr lang="en-US" sz="1200" b="1" kern="0" spc="20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Henry Ford's Revolutionary Role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Economic Impact on Manufacturing</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Impact on Labor Practices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Societal Transformation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Supporting Industries and Infrastructure</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lstStyle/>
          <a:p>
            <a:endParaRPr lang="en-US"/>
          </a:p>
        </p:txBody>
      </p:sp>
      <p:sp>
        <p:nvSpPr>
          <p:cNvPr id="9" name="Text 7"/>
          <p:cNvSpPr/>
          <p:nvPr/>
        </p:nvSpPr>
        <p:spPr>
          <a:xfrm>
            <a:off x="822960" y="4901184"/>
            <a:ext cx="6492240" cy="274320"/>
          </a:xfrm>
          <a:prstGeom prst="rect">
            <a:avLst/>
          </a:prstGeom>
          <a:noFill/>
          <a:ln/>
        </p:spPr>
        <p:txBody>
          <a:bodyPr wrap="square" rtlCol="0" anchor="ctr"/>
          <a:lstStyle/>
          <a:p>
            <a:pPr marL="0" indent="0">
              <a:buNone/>
            </a:pPr>
            <a:r>
              <a:rPr lang="en-US" sz="1100" b="1" kern="0" spc="100" dirty="0">
                <a:solidFill>
                  <a:srgbClr val="7A5C12"/>
                </a:solidFill>
                <a:latin typeface="Trebuchet MS" pitchFamily="34" charset="0"/>
                <a:ea typeface="Trebuchet MS" pitchFamily="34" charset="-122"/>
                <a:cs typeface="Trebuchet MS" pitchFamily="34" charset="-120"/>
              </a:rPr>
              <a:t>★ HONORS / EXTENSION  </a:t>
            </a: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marL="0" indent="0">
              <a:lnSpc>
                <a:spcPct val="98000"/>
              </a:lnSpc>
              <a:buNone/>
            </a:pPr>
            <a:r>
              <a:rPr lang="en-US" sz="1050" i="1" dirty="0">
                <a:solidFill>
                  <a:srgbClr val="1F2430"/>
                </a:solidFill>
                <a:latin typeface="Calibri" pitchFamily="34" charset="0"/>
                <a:ea typeface="Calibri" pitchFamily="34" charset="-122"/>
                <a:cs typeface="Calibri" pitchFamily="34" charset="-120"/>
              </a:rPr>
              <a:t>Evaluate: Was Henry Ford's greatest impact on the American economy or on American everyday life? Defend your claim with at least two pieces of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lstStyle/>
          <a:p>
            <a:endParaRPr lang="en-US"/>
          </a:p>
        </p:txBody>
      </p:sp>
      <p:sp>
        <p:nvSpPr>
          <p:cNvPr id="12" name="Text 10"/>
          <p:cNvSpPr/>
          <p:nvPr/>
        </p:nvSpPr>
        <p:spPr>
          <a:xfrm>
            <a:off x="8092440" y="1920240"/>
            <a:ext cx="2286000" cy="320040"/>
          </a:xfrm>
          <a:prstGeom prst="rect">
            <a:avLst/>
          </a:prstGeom>
          <a:noFill/>
          <a:ln/>
        </p:spPr>
        <p:txBody>
          <a:bodyPr wrap="square" rtlCol="0" anchor="ctr"/>
          <a:lstStyle/>
          <a:p>
            <a:pPr marL="0" indent="0">
              <a:buNone/>
            </a:pPr>
            <a:r>
              <a:rPr lang="en-US" sz="1200" b="1" kern="0" spc="20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lstStyle/>
          <a:p>
            <a:endParaRPr lang="en-US"/>
          </a:p>
        </p:txBody>
      </p:sp>
      <p:sp>
        <p:nvSpPr>
          <p:cNvPr id="14" name="Text 12"/>
          <p:cNvSpPr/>
          <p:nvPr/>
        </p:nvSpPr>
        <p:spPr>
          <a:xfrm>
            <a:off x="10378440" y="1883664"/>
            <a:ext cx="960120" cy="365760"/>
          </a:xfrm>
          <a:prstGeom prst="rect">
            <a:avLst/>
          </a:prstGeom>
          <a:noFill/>
          <a:ln/>
        </p:spPr>
        <p:txBody>
          <a:bodyPr wrap="square" rtlCol="0" anchor="ctr"/>
          <a:lstStyle/>
          <a:p>
            <a:pPr marL="0" indent="0" algn="ctr">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Explain how Henry Ford's assembly line and $5 day transformed both industry and society in the 1920s.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lstStyle/>
          <a:p>
            <a:endParaRPr lang="en-US"/>
          </a:p>
        </p:txBody>
      </p:sp>
      <p:sp>
        <p:nvSpPr>
          <p:cNvPr id="17" name="Shape 15"/>
          <p:cNvSpPr/>
          <p:nvPr/>
        </p:nvSpPr>
        <p:spPr>
          <a:xfrm>
            <a:off x="8138160" y="5074920"/>
            <a:ext cx="3108960" cy="0"/>
          </a:xfrm>
          <a:prstGeom prst="line">
            <a:avLst/>
          </a:prstGeom>
          <a:noFill/>
          <a:ln w="12700">
            <a:solidFill>
              <a:srgbClr val="A7BACB"/>
            </a:solidFill>
            <a:prstDash val="dash"/>
          </a:ln>
        </p:spPr>
        <p:txBody>
          <a:bodyPr/>
          <a:lstStyle/>
          <a:p>
            <a:endParaRPr lang="en-US"/>
          </a:p>
        </p:txBody>
      </p:sp>
      <p:sp>
        <p:nvSpPr>
          <p:cNvPr id="18" name="Shape 16"/>
          <p:cNvSpPr/>
          <p:nvPr/>
        </p:nvSpPr>
        <p:spPr>
          <a:xfrm>
            <a:off x="8138160" y="5623560"/>
            <a:ext cx="3108960" cy="0"/>
          </a:xfrm>
          <a:prstGeom prst="line">
            <a:avLst/>
          </a:prstGeom>
          <a:noFill/>
          <a:ln w="12700">
            <a:solidFill>
              <a:srgbClr val="A7BACB"/>
            </a:solidFill>
            <a:prstDash val="dash"/>
          </a:ln>
        </p:spPr>
        <p:txBody>
          <a:bodyPr/>
          <a:lstStyle/>
          <a:p>
            <a:endParaRPr lang="en-US"/>
          </a:p>
        </p:txBody>
      </p:sp>
      <p:sp>
        <p:nvSpPr>
          <p:cNvPr id="20" name="Text 1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lstStyle/>
          <a:p>
            <a:endParaRPr lang="en-US"/>
          </a:p>
        </p:txBody>
      </p:sp>
      <p:sp>
        <p:nvSpPr>
          <p:cNvPr id="3" name="Shape 1"/>
          <p:cNvSpPr/>
          <p:nvPr/>
        </p:nvSpPr>
        <p:spPr>
          <a:xfrm>
            <a:off x="320040" y="0"/>
            <a:ext cx="109728" cy="6858000"/>
          </a:xfrm>
          <a:prstGeom prst="rect">
            <a:avLst/>
          </a:prstGeom>
          <a:solidFill>
            <a:srgbClr val="C9A84C"/>
          </a:solidFill>
          <a:ln/>
        </p:spPr>
        <p:txBody>
          <a:bodyPr/>
          <a:lstStyle/>
          <a:p>
            <a:endParaRPr lang="en-US"/>
          </a:p>
        </p:txBody>
      </p:sp>
      <p:sp>
        <p:nvSpPr>
          <p:cNvPr id="4" name="Text 2"/>
          <p:cNvSpPr/>
          <p:nvPr/>
        </p:nvSpPr>
        <p:spPr>
          <a:xfrm>
            <a:off x="914400" y="1005840"/>
            <a:ext cx="5486400" cy="365760"/>
          </a:xfrm>
          <a:prstGeom prst="rect">
            <a:avLst/>
          </a:prstGeom>
          <a:noFill/>
          <a:ln/>
        </p:spPr>
        <p:txBody>
          <a:bodyPr wrap="square" rtlCol="0" anchor="ctr"/>
          <a:lstStyle/>
          <a:p>
            <a:pPr marL="0" indent="0">
              <a:buNone/>
            </a:pPr>
            <a:r>
              <a:rPr lang="en-US" sz="1500" b="1" kern="0" spc="40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marL="0" indent="0">
              <a:buNone/>
            </a:pPr>
            <a:r>
              <a:rPr lang="en-US" sz="8800" b="1" dirty="0">
                <a:solidFill>
                  <a:srgbClr val="FFFFFF"/>
                </a:solidFill>
                <a:latin typeface="Georgia" pitchFamily="34" charset="0"/>
                <a:ea typeface="Georgia" pitchFamily="34" charset="-122"/>
                <a:cs typeface="Georgia" pitchFamily="34" charset="-120"/>
              </a:rPr>
              <a:t>US.33</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marL="0" indent="0">
              <a:lnSpc>
                <a:spcPct val="102000"/>
              </a:lnSpc>
              <a:buNone/>
            </a:pPr>
            <a:r>
              <a:rPr lang="en-US" sz="3000" i="1" dirty="0">
                <a:solidFill>
                  <a:srgbClr val="F9A825"/>
                </a:solidFill>
                <a:latin typeface="Georgia" pitchFamily="34" charset="0"/>
                <a:ea typeface="Georgia" pitchFamily="34" charset="-122"/>
                <a:cs typeface="Georgia" pitchFamily="34" charset="-120"/>
              </a:rPr>
              <a:t>The Harlem Renaissance</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marL="0" indent="0" algn="l">
              <a:buNone/>
            </a:pPr>
            <a:r>
              <a:rPr lang="en-US" sz="1100" b="1" kern="0" spc="20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lstStyle/>
          <a:p>
            <a:endParaRPr lang="en-US"/>
          </a:p>
        </p:txBody>
      </p:sp>
      <p:sp>
        <p:nvSpPr>
          <p:cNvPr id="9" name="Text 7"/>
          <p:cNvSpPr/>
          <p:nvPr/>
        </p:nvSpPr>
        <p:spPr>
          <a:xfrm>
            <a:off x="6812280" y="1417320"/>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lstStyle/>
          <a:p>
            <a:endParaRPr lang="en-US"/>
          </a:p>
        </p:txBody>
      </p:sp>
      <p:sp>
        <p:nvSpPr>
          <p:cNvPr id="12" name="Text 10"/>
          <p:cNvSpPr/>
          <p:nvPr/>
        </p:nvSpPr>
        <p:spPr>
          <a:xfrm>
            <a:off x="6812280" y="1755648"/>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lstStyle/>
          <a:p>
            <a:endParaRPr lang="en-US"/>
          </a:p>
        </p:txBody>
      </p:sp>
      <p:sp>
        <p:nvSpPr>
          <p:cNvPr id="15" name="Text 13"/>
          <p:cNvSpPr/>
          <p:nvPr/>
        </p:nvSpPr>
        <p:spPr>
          <a:xfrm>
            <a:off x="6812280" y="2093976"/>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lstStyle/>
          <a:p>
            <a:endParaRPr lang="en-US"/>
          </a:p>
        </p:txBody>
      </p:sp>
      <p:sp>
        <p:nvSpPr>
          <p:cNvPr id="18" name="Text 16"/>
          <p:cNvSpPr/>
          <p:nvPr/>
        </p:nvSpPr>
        <p:spPr>
          <a:xfrm>
            <a:off x="1143000" y="3913632"/>
            <a:ext cx="5486400" cy="274320"/>
          </a:xfrm>
          <a:prstGeom prst="rect">
            <a:avLst/>
          </a:prstGeom>
          <a:noFill/>
          <a:ln/>
        </p:spPr>
        <p:txBody>
          <a:bodyPr wrap="square" rtlCol="0" anchor="ctr"/>
          <a:lstStyle/>
          <a:p>
            <a:pPr marL="0" indent="0">
              <a:buNone/>
            </a:pPr>
            <a:r>
              <a:rPr lang="en-US" sz="1100" b="1" kern="0" spc="20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Analyze the impact of the Harlem Renaissance and its important figures on American culture, including: Louis Armstrong, Duke Ellington, Langston Hughes, Zora Neale Hurston, James Weldon Johnson. (TCA)</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lstStyle/>
          <a:p>
            <a:endParaRPr lang="en-US"/>
          </a:p>
        </p:txBody>
      </p:sp>
      <p:sp>
        <p:nvSpPr>
          <p:cNvPr id="21" name="Text 19"/>
          <p:cNvSpPr/>
          <p:nvPr/>
        </p:nvSpPr>
        <p:spPr>
          <a:xfrm>
            <a:off x="1143000" y="5230368"/>
            <a:ext cx="1828800" cy="292608"/>
          </a:xfrm>
          <a:prstGeom prst="rect">
            <a:avLst/>
          </a:prstGeom>
          <a:noFill/>
          <a:ln/>
        </p:spPr>
        <p:txBody>
          <a:bodyPr wrap="square" rtlCol="0" anchor="ctr"/>
          <a:lstStyle/>
          <a:p>
            <a:pPr marL="0" indent="0">
              <a:buNone/>
            </a:pPr>
            <a:r>
              <a:rPr lang="en-US" sz="1300" b="1" kern="0" spc="20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marL="0" indent="0">
              <a:lnSpc>
                <a:spcPct val="100000"/>
              </a:lnSpc>
              <a:buNone/>
            </a:pPr>
            <a:r>
              <a:rPr lang="en-US" sz="1250" b="1" dirty="0">
                <a:solidFill>
                  <a:srgbClr val="1A2332"/>
                </a:solidFill>
                <a:latin typeface="Calibri" pitchFamily="34" charset="0"/>
                <a:ea typeface="Calibri" pitchFamily="34" charset="-122"/>
                <a:cs typeface="Calibri" pitchFamily="34" charset="-120"/>
              </a:rPr>
              <a:t>I can analyze the impact of the Harlem Renaissance and its important figures on American culture, including Louis Armstrong, Duke Ellington, Langston Hughes, Zora Neale Hurston, and James Weldon Johnson.</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lstStyle/>
          <a:p>
            <a:endParaRPr lang="en-US"/>
          </a:p>
        </p:txBody>
      </p:sp>
      <p:sp>
        <p:nvSpPr>
          <p:cNvPr id="7" name="Shape 5"/>
          <p:cNvSpPr/>
          <p:nvPr/>
        </p:nvSpPr>
        <p:spPr>
          <a:xfrm>
            <a:off x="548640" y="2057400"/>
            <a:ext cx="777240" cy="1234440"/>
          </a:xfrm>
          <a:prstGeom prst="rect">
            <a:avLst/>
          </a:prstGeom>
          <a:solidFill>
            <a:srgbClr val="1A2332"/>
          </a:solidFill>
          <a:ln/>
        </p:spPr>
        <p:txBody>
          <a:bodyPr/>
          <a:lstStyle/>
          <a:p>
            <a:endParaRPr lang="en-US"/>
          </a:p>
        </p:txBody>
      </p:sp>
      <p:sp>
        <p:nvSpPr>
          <p:cNvPr id="8" name="Text 6"/>
          <p:cNvSpPr/>
          <p:nvPr/>
        </p:nvSpPr>
        <p:spPr>
          <a:xfrm>
            <a:off x="548640" y="2057400"/>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US.32  </a:t>
            </a:r>
            <a:r>
              <a:rPr lang="en-US" sz="1350" dirty="0">
                <a:solidFill>
                  <a:srgbClr val="1F2430"/>
                </a:solidFill>
                <a:latin typeface="Calibri" pitchFamily="34" charset="0"/>
                <a:ea typeface="Calibri" pitchFamily="34" charset="-122"/>
                <a:cs typeface="Calibri" pitchFamily="34" charset="-120"/>
              </a:rPr>
              <a:t>How did Henry Ford's assembly line change manufacturing?</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lstStyle/>
          <a:p>
            <a:endParaRPr lang="en-US"/>
          </a:p>
        </p:txBody>
      </p:sp>
      <p:sp>
        <p:nvSpPr>
          <p:cNvPr id="11" name="Shape 9"/>
          <p:cNvSpPr/>
          <p:nvPr/>
        </p:nvSpPr>
        <p:spPr>
          <a:xfrm>
            <a:off x="548640" y="3456432"/>
            <a:ext cx="777240" cy="1234440"/>
          </a:xfrm>
          <a:prstGeom prst="rect">
            <a:avLst/>
          </a:prstGeom>
          <a:solidFill>
            <a:srgbClr val="1A2332"/>
          </a:solidFill>
          <a:ln/>
        </p:spPr>
        <p:txBody>
          <a:bodyPr/>
          <a:lstStyle/>
          <a:p>
            <a:endParaRPr lang="en-US"/>
          </a:p>
        </p:txBody>
      </p:sp>
      <p:sp>
        <p:nvSpPr>
          <p:cNvPr id="12" name="Text 10"/>
          <p:cNvSpPr/>
          <p:nvPr/>
        </p:nvSpPr>
        <p:spPr>
          <a:xfrm>
            <a:off x="548640" y="3456432"/>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US.32  </a:t>
            </a:r>
            <a:r>
              <a:rPr lang="en-US" sz="1350" dirty="0">
                <a:solidFill>
                  <a:srgbClr val="1F2430"/>
                </a:solidFill>
                <a:latin typeface="Calibri" pitchFamily="34" charset="0"/>
                <a:ea typeface="Calibri" pitchFamily="34" charset="-122"/>
                <a:cs typeface="Calibri" pitchFamily="34" charset="-120"/>
              </a:rPr>
              <a:t>What was Ford's '$5 day' and why did it matter?</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lstStyle/>
          <a:p>
            <a:endParaRPr lang="en-US"/>
          </a:p>
        </p:txBody>
      </p:sp>
      <p:sp>
        <p:nvSpPr>
          <p:cNvPr id="6" name="Text 4"/>
          <p:cNvSpPr/>
          <p:nvPr/>
        </p:nvSpPr>
        <p:spPr>
          <a:xfrm>
            <a:off x="8686800" y="786384"/>
            <a:ext cx="1143000" cy="457200"/>
          </a:xfrm>
          <a:prstGeom prst="rect">
            <a:avLst/>
          </a:prstGeom>
          <a:noFill/>
          <a:ln/>
        </p:spPr>
        <p:txBody>
          <a:bodyPr wrap="square" rtlCol="0" anchor="ctr"/>
          <a:lstStyle/>
          <a:p>
            <a:pPr marL="0" indent="0" algn="ctr">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lstStyle/>
          <a:p>
            <a:endParaRPr lang="en-US"/>
          </a:p>
        </p:txBody>
      </p:sp>
      <p:sp>
        <p:nvSpPr>
          <p:cNvPr id="8" name="Text 6"/>
          <p:cNvSpPr/>
          <p:nvPr/>
        </p:nvSpPr>
        <p:spPr>
          <a:xfrm>
            <a:off x="9966960" y="786384"/>
            <a:ext cx="164592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lstStyle/>
          <a:p>
            <a:endParaRPr lang="en-US"/>
          </a:p>
        </p:txBody>
      </p:sp>
      <p:sp>
        <p:nvSpPr>
          <p:cNvPr id="11" name="Text 9"/>
          <p:cNvSpPr/>
          <p:nvPr/>
        </p:nvSpPr>
        <p:spPr>
          <a:xfrm>
            <a:off x="1005840" y="2194560"/>
            <a:ext cx="10149840" cy="1417320"/>
          </a:xfrm>
          <a:prstGeom prst="rect">
            <a:avLst/>
          </a:prstGeom>
          <a:noFill/>
          <a:ln/>
        </p:spPr>
        <p:txBody>
          <a:bodyPr wrap="square" rtlCol="0" anchor="ctr"/>
          <a:lstStyle/>
          <a:p>
            <a:pPr marL="0" indent="0" algn="ctr">
              <a:lnSpc>
                <a:spcPct val="108000"/>
              </a:lnSpc>
              <a:buNone/>
            </a:pPr>
            <a:r>
              <a:rPr lang="en-US" sz="2400" b="1" dirty="0">
                <a:solidFill>
                  <a:srgbClr val="FFFFFF"/>
                </a:solidFill>
                <a:latin typeface="Georgia" pitchFamily="34" charset="0"/>
                <a:ea typeface="Georgia" pitchFamily="34" charset="-122"/>
                <a:cs typeface="Georgia" pitchFamily="34" charset="-120"/>
              </a:rPr>
              <a:t>What was the Harlem Renaissance?</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lstStyle/>
          <a:p>
            <a:endParaRPr lang="en-US"/>
          </a:p>
        </p:txBody>
      </p:sp>
      <p:sp>
        <p:nvSpPr>
          <p:cNvPr id="13" name="Text 11"/>
          <p:cNvSpPr/>
          <p:nvPr/>
        </p:nvSpPr>
        <p:spPr>
          <a:xfrm>
            <a:off x="914400" y="4224528"/>
            <a:ext cx="2743200" cy="320040"/>
          </a:xfrm>
          <a:prstGeom prst="rect">
            <a:avLst/>
          </a:prstGeom>
          <a:noFill/>
          <a:ln/>
        </p:spPr>
        <p:txBody>
          <a:bodyPr wrap="square" rtlCol="0" anchor="ctr"/>
          <a:lstStyle/>
          <a:p>
            <a:pPr marL="0" indent="0">
              <a:buNone/>
            </a:pPr>
            <a:r>
              <a:rPr lang="en-US" sz="1200" b="1" kern="0" spc="20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marL="0" indent="0">
              <a:lnSpc>
                <a:spcPct val="108000"/>
              </a:lnSpc>
              <a:buNone/>
            </a:pPr>
            <a:r>
              <a:rPr lang="en-US" sz="1600" dirty="0">
                <a:solidFill>
                  <a:srgbClr val="1F2430"/>
                </a:solidFill>
                <a:latin typeface="Calibri" pitchFamily="34" charset="0"/>
                <a:ea typeface="Calibri" pitchFamily="34" charset="-122"/>
                <a:cs typeface="Calibri" pitchFamily="34" charset="-120"/>
              </a:rPr>
              <a:t>A 1920s flowering of African American art, literature, and music centered in Harlem.</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lstStyle/>
          <a:p>
            <a:endParaRPr lang="en-US"/>
          </a:p>
        </p:txBody>
      </p:sp>
      <p:sp>
        <p:nvSpPr>
          <p:cNvPr id="16" name="Text 14"/>
          <p:cNvSpPr/>
          <p:nvPr/>
        </p:nvSpPr>
        <p:spPr>
          <a:xfrm>
            <a:off x="822960" y="5623560"/>
            <a:ext cx="10515600" cy="457200"/>
          </a:xfrm>
          <a:prstGeom prst="rect">
            <a:avLst/>
          </a:prstGeom>
          <a:noFill/>
          <a:ln/>
        </p:spPr>
        <p:txBody>
          <a:bodyPr wrap="square" rtlCol="0" anchor="ctr"/>
          <a:lstStyle/>
          <a:p>
            <a:pPr marL="0" indent="0">
              <a:buNone/>
            </a:pPr>
            <a:r>
              <a:rPr lang="en-US" sz="1150" b="1" i="1" kern="0" spc="100" dirty="0">
                <a:solidFill>
                  <a:srgbClr val="C62828"/>
                </a:solidFill>
                <a:latin typeface="Trebuchet MS" pitchFamily="34" charset="0"/>
                <a:ea typeface="Trebuchet MS" pitchFamily="34" charset="-122"/>
                <a:cs typeface="Trebuchet MS" pitchFamily="34" charset="-120"/>
              </a:rPr>
              <a:t>COMMIT FIRST:  </a:t>
            </a: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lstStyle/>
          <a:p>
            <a:endParaRPr lang="en-US"/>
          </a:p>
        </p:txBody>
      </p:sp>
      <p:sp>
        <p:nvSpPr>
          <p:cNvPr id="6" name="Text 4"/>
          <p:cNvSpPr/>
          <p:nvPr/>
        </p:nvSpPr>
        <p:spPr>
          <a:xfrm>
            <a:off x="1005840" y="1965960"/>
            <a:ext cx="10149840" cy="1645920"/>
          </a:xfrm>
          <a:prstGeom prst="rect">
            <a:avLst/>
          </a:prstGeom>
          <a:noFill/>
          <a:ln/>
        </p:spPr>
        <p:txBody>
          <a:bodyPr wrap="square" rtlCol="0" anchor="ctr"/>
          <a:lstStyle/>
          <a:p>
            <a:pPr marL="0" indent="0">
              <a:lnSpc>
                <a:spcPct val="108000"/>
              </a:lnSpc>
              <a:buNone/>
            </a:pPr>
            <a:r>
              <a:rPr lang="en-US" sz="2600" i="1" dirty="0">
                <a:solidFill>
                  <a:srgbClr val="FFFFFF"/>
                </a:solidFill>
                <a:latin typeface="Georgia" pitchFamily="34" charset="0"/>
                <a:ea typeface="Georgia" pitchFamily="34" charset="-122"/>
                <a:cs typeface="Georgia" pitchFamily="34" charset="-120"/>
              </a:rPr>
              <a:t>In the 1920s the Harlem neighborhood of New York City exploded with Black poets, novelists, painters, and jazz musicians, an artistic movement so powerful it announced that African American culture was American culture.</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lstStyle/>
          <a:p>
            <a:endParaRPr lang="en-US"/>
          </a:p>
        </p:txBody>
      </p:sp>
      <p:sp>
        <p:nvSpPr>
          <p:cNvPr id="8" name="Text 6"/>
          <p:cNvSpPr/>
          <p:nvPr/>
        </p:nvSpPr>
        <p:spPr>
          <a:xfrm>
            <a:off x="914400" y="4297680"/>
            <a:ext cx="2743200" cy="320040"/>
          </a:xfrm>
          <a:prstGeom prst="rect">
            <a:avLst/>
          </a:prstGeom>
          <a:noFill/>
          <a:ln/>
        </p:spPr>
        <p:txBody>
          <a:bodyPr wrap="square" rtlCol="0" anchor="ctr"/>
          <a:lstStyle/>
          <a:p>
            <a:pPr marL="0" indent="0">
              <a:buNone/>
            </a:pPr>
            <a:r>
              <a:rPr lang="en-US" sz="1300" b="1" kern="0" spc="20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lstStyle/>
          <a:p>
            <a:endParaRPr lang="en-US"/>
          </a:p>
        </p:txBody>
      </p:sp>
      <p:sp>
        <p:nvSpPr>
          <p:cNvPr id="10" name="Text 8"/>
          <p:cNvSpPr/>
          <p:nvPr/>
        </p:nvSpPr>
        <p:spPr>
          <a:xfrm>
            <a:off x="7772400" y="4224528"/>
            <a:ext cx="3657600" cy="45720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marL="0" indent="0">
              <a:lnSpc>
                <a:spcPct val="110000"/>
              </a:lnSpc>
              <a:buNone/>
            </a:pPr>
            <a:r>
              <a:rPr lang="en-US" sz="1600" dirty="0">
                <a:solidFill>
                  <a:srgbClr val="1F2430"/>
                </a:solidFill>
                <a:latin typeface="Calibri" pitchFamily="34" charset="0"/>
                <a:ea typeface="Calibri" pitchFamily="34" charset="-122"/>
                <a:cs typeface="Calibri" pitchFamily="34" charset="-120"/>
              </a:rPr>
              <a:t>Why did a few square miles of one New York neighborhood produce a burst of art and music that still shapes the world today?</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92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Historical Context and Characteristics</a:t>
            </a:r>
            <a:endParaRPr lang="en-US" sz="3000" dirty="0"/>
          </a:p>
        </p:txBody>
      </p:sp>
      <p:sp>
        <p:nvSpPr>
          <p:cNvPr id="5" name="Shape 3"/>
          <p:cNvSpPr/>
          <p:nvPr/>
        </p:nvSpPr>
        <p:spPr>
          <a:xfrm>
            <a:off x="10180015" y="502920"/>
            <a:ext cx="146304" cy="146304"/>
          </a:xfrm>
          <a:prstGeom prst="ellipse">
            <a:avLst/>
          </a:prstGeom>
          <a:solidFill>
            <a:srgbClr val="C62828"/>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2340864"/>
          </a:xfrm>
          <a:prstGeom prst="rect">
            <a:avLst/>
          </a:prstGeom>
          <a:noFill/>
          <a:ln/>
        </p:spPr>
        <p:txBody>
          <a:bodyPr wrap="square" rtlCol="0" anchor="t">
            <a:normAutofit fontScale="92500" lnSpcReduction="20000"/>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Harlem Renaissance (approximately 1918-1937, peak in 1920s) was centered in Harlem, Manhattan.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Great Migration created concentrated urban African American communities.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Post-WWI, Black veterans returned with new expectations.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"New Negro Movement" promoted pride in African American identity.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Key venues included the Cotton Club, Apollo Theater, and Schomburg Center.</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Crisis and Opportunity magazines showcased new talent.</a:t>
            </a:r>
            <a:endParaRPr lang="en-US" sz="1550" dirty="0"/>
          </a:p>
        </p:txBody>
      </p:sp>
      <p:sp>
        <p:nvSpPr>
          <p:cNvPr id="13" name="Shape 11"/>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lstStyle/>
          <a:p>
            <a:endParaRPr lang="en-US"/>
          </a:p>
        </p:txBody>
      </p:sp>
      <p:sp>
        <p:nvSpPr>
          <p:cNvPr id="14" name="Text 12"/>
          <p:cNvSpPr/>
          <p:nvPr/>
        </p:nvSpPr>
        <p:spPr>
          <a:xfrm>
            <a:off x="1024128" y="4681728"/>
            <a:ext cx="5852160" cy="237744"/>
          </a:xfrm>
          <a:prstGeom prst="rect">
            <a:avLst/>
          </a:prstGeom>
          <a:noFill/>
          <a:ln/>
        </p:spPr>
        <p:txBody>
          <a:bodyPr wrap="square" rtlCol="0" anchor="ctr"/>
          <a:lstStyle/>
          <a:p>
            <a:pPr marL="0" indent="0">
              <a:buNone/>
            </a:pPr>
            <a:r>
              <a:rPr lang="en-US" sz="900" b="1" kern="0" spc="100" dirty="0">
                <a:solidFill>
                  <a:srgbClr val="002858"/>
                </a:solidFill>
                <a:latin typeface="Trebuchet MS" pitchFamily="34" charset="0"/>
                <a:ea typeface="Trebuchet MS" pitchFamily="34" charset="-122"/>
                <a:cs typeface="Trebuchet MS" pitchFamily="34" charset="-120"/>
              </a:rPr>
              <a:t>SENTENCE FRAME  </a:t>
            </a:r>
            <a:r>
              <a:rPr lang="en-US" sz="850" i="1" dirty="0">
                <a:solidFill>
                  <a:srgbClr val="5C6470"/>
                </a:solidFill>
              </a:rPr>
              <a:t>(EL &amp; writing support)  </a:t>
            </a:r>
            <a:endParaRPr lang="en-US" sz="900" dirty="0"/>
          </a:p>
        </p:txBody>
      </p:sp>
      <p:sp>
        <p:nvSpPr>
          <p:cNvPr id="15" name="Text 13"/>
          <p:cNvSpPr/>
          <p:nvPr/>
        </p:nvSpPr>
        <p:spPr>
          <a:xfrm>
            <a:off x="1024128" y="4937760"/>
            <a:ext cx="6309360" cy="658368"/>
          </a:xfrm>
          <a:prstGeom prst="rect">
            <a:avLst/>
          </a:prstGeom>
          <a:noFill/>
          <a:ln/>
        </p:spPr>
        <p:txBody>
          <a:bodyPr wrap="square" rtlCol="0" anchor="t"/>
          <a:lstStyle/>
          <a:p>
            <a:pPr marL="0" indent="0">
              <a:lnSpc>
                <a:spcPct val="104000"/>
              </a:lnSpc>
              <a:buNone/>
            </a:pPr>
            <a:r>
              <a:rPr lang="en-US" sz="1050" i="1" dirty="0">
                <a:solidFill>
                  <a:srgbClr val="1F2430"/>
                </a:solidFill>
                <a:latin typeface="Calibri" pitchFamily="34" charset="0"/>
                <a:ea typeface="Calibri" pitchFamily="34" charset="-122"/>
                <a:cs typeface="Calibri" pitchFamily="34" charset="-120"/>
              </a:rPr>
              <a:t>The Harlem Renaissance was ________, and it mattered because ________.</a:t>
            </a:r>
            <a:endParaRPr lang="en-US" sz="1050" dirty="0"/>
          </a:p>
        </p:txBody>
      </p:sp>
      <p:sp>
        <p:nvSpPr>
          <p:cNvPr id="16" name="Shape 14"/>
          <p:cNvSpPr/>
          <p:nvPr/>
        </p:nvSpPr>
        <p:spPr>
          <a:xfrm>
            <a:off x="7552944" y="1746504"/>
            <a:ext cx="4142232" cy="2935224"/>
          </a:xfrm>
          <a:prstGeom prst="rect">
            <a:avLst/>
          </a:prstGeom>
          <a:solidFill>
            <a:srgbClr val="FFFFFF"/>
          </a:solidFill>
          <a:ln w="12700">
            <a:solidFill>
              <a:srgbClr val="DAD3C2"/>
            </a:solidFill>
            <a:prstDash val="solid"/>
          </a:ln>
        </p:spPr>
        <p:txBody>
          <a:bodyPr/>
          <a:lstStyle/>
          <a:p>
            <a:endParaRPr lang="en-US"/>
          </a:p>
        </p:txBody>
      </p:sp>
      <p:pic>
        <p:nvPicPr>
          <p:cNvPr id="17" name="Image 0" descr="unit4-full/img/louis-armstrong-portrait.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78113" y="1783080"/>
            <a:ext cx="2291894" cy="2862072"/>
          </a:xfrm>
          <a:prstGeom prst="rect">
            <a:avLst/>
          </a:prstGeom>
        </p:spPr>
      </p:pic>
      <p:sp>
        <p:nvSpPr>
          <p:cNvPr id="18" name="Text 15"/>
          <p:cNvSpPr/>
          <p:nvPr/>
        </p:nvSpPr>
        <p:spPr>
          <a:xfrm>
            <a:off x="7589520" y="470001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Library of Congress, Prints and Photographs Division, c1920s-1930s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800" dirty="0"/>
          </a:p>
        </p:txBody>
      </p:sp>
      <p:sp>
        <p:nvSpPr>
          <p:cNvPr id="19" name="Shape 16"/>
          <p:cNvSpPr/>
          <p:nvPr/>
        </p:nvSpPr>
        <p:spPr>
          <a:xfrm>
            <a:off x="7589520" y="5440680"/>
            <a:ext cx="4069080" cy="713232"/>
          </a:xfrm>
          <a:prstGeom prst="roundRect">
            <a:avLst>
              <a:gd name="adj" fmla="val 7692"/>
            </a:avLst>
          </a:prstGeom>
          <a:solidFill>
            <a:srgbClr val="1A2332"/>
          </a:solidFill>
          <a:ln/>
        </p:spPr>
        <p:txBody>
          <a:bodyPr/>
          <a:lstStyle/>
          <a:p>
            <a:endParaRPr lang="en-US"/>
          </a:p>
        </p:txBody>
      </p:sp>
      <p:sp>
        <p:nvSpPr>
          <p:cNvPr id="20" name="Text 17"/>
          <p:cNvSpPr/>
          <p:nvPr/>
        </p:nvSpPr>
        <p:spPr>
          <a:xfrm>
            <a:off x="7772400" y="5477256"/>
            <a:ext cx="3703320" cy="640080"/>
          </a:xfrm>
          <a:prstGeom prst="rect">
            <a:avLst/>
          </a:prstGeom>
          <a:noFill/>
          <a:ln/>
        </p:spPr>
        <p:txBody>
          <a:bodyPr wrap="square" rtlCol="0" anchor="ctr"/>
          <a:lstStyle/>
          <a:p>
            <a:pPr marL="0" indent="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2" name="Text 1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3" name="Text 1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93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Impact on African American Arts</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C62828"/>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Renaissance produced an explosion of creativity in literature, music, visual arts, and theater.</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New poetry forms expressed African American experience and pride.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Realistic novels challenged stereotypes.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Artists like Aaron Douglas created distinctive African American visual styles.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Plays explored Black themes, and musical theater shows like "Shuffle Along" brought Black performers to Broadway.</a:t>
            </a:r>
            <a:endParaRPr lang="en-US" sz="1550" dirty="0"/>
          </a:p>
        </p:txBody>
      </p:sp>
      <p:sp>
        <p:nvSpPr>
          <p:cNvPr id="13" name="Shape 11"/>
          <p:cNvSpPr/>
          <p:nvPr/>
        </p:nvSpPr>
        <p:spPr>
          <a:xfrm>
            <a:off x="7552944" y="1746504"/>
            <a:ext cx="4142232" cy="3575304"/>
          </a:xfrm>
          <a:prstGeom prst="rect">
            <a:avLst/>
          </a:prstGeom>
          <a:solidFill>
            <a:srgbClr val="FFFFFF"/>
          </a:solidFill>
          <a:ln w="12700">
            <a:solidFill>
              <a:srgbClr val="DAD3C2"/>
            </a:solidFill>
            <a:prstDash val="solid"/>
          </a:ln>
        </p:spPr>
        <p:txBody>
          <a:bodyPr/>
          <a:lstStyle/>
          <a:p>
            <a:endParaRPr lang="en-US"/>
          </a:p>
        </p:txBody>
      </p:sp>
      <p:pic>
        <p:nvPicPr>
          <p:cNvPr id="14" name="Image 0" descr="unit4-full/img/duke-ellington.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89520" y="1916061"/>
            <a:ext cx="4069080" cy="3236190"/>
          </a:xfrm>
          <a:prstGeom prst="rect">
            <a:avLst/>
          </a:prstGeom>
        </p:spPr>
      </p:pic>
      <p:sp>
        <p:nvSpPr>
          <p:cNvPr id="15" name="Text 12"/>
          <p:cNvSpPr/>
          <p:nvPr/>
        </p:nvSpPr>
        <p:spPr>
          <a:xfrm>
            <a:off x="7589520" y="534009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Unknown, c1920s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Wikimedia Commons (public domain)</a:t>
            </a:r>
            <a:endParaRPr lang="en-US" sz="800" dirty="0"/>
          </a:p>
        </p:txBody>
      </p:sp>
      <p:sp>
        <p:nvSpPr>
          <p:cNvPr id="16" name="Text 13"/>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Louis Armstrong (1901-1971)</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C62828"/>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Armstrong transformed jazz from ensemble music to a soloist-centered art form.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revolutionary trumpet technique and improvisational skills redefined the genre.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pioneered scat singing and recorded influential sessions with his Hot Five and Hot Seven groups.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charismatic personality made jazz accessible to mainstream audiences, and he became a cultural ambassador spreading American jazz internationally.</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Duke Ellington (1899-1974)</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C62828"/>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Ellington led a sophisticated orchestra for over 50 years, composing over 1,000 works including "Mood Indigo" and "Sophisticated Lady." His Cotton Club residency (1927-1931) made him nationally famous.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 master of orchestration who blended jazz with classical music, Ellington elevated jazz to serious art form status.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 insisted on dignity and respect for African American musicians.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Langston Hughes and Zora Neale Hurston</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C62828"/>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Hughes (1902-1967) captured African American experience in poetry collections like "The Weary Blues" (1926), incorporating jazz rhythms and vernacular language.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"Dream Deferred" questioned American equality.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Hurston (1891-1960) wrote the masterpiece "Their Eyes Were Watching God" (1937), collected African American folklore, and created strong female protagonists.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Both used authentic voice to celebrate Black culture while challenging discrimination.</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97</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1993392"/>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27632"/>
            <a:ext cx="5394960" cy="548640"/>
          </a:xfrm>
          <a:prstGeom prst="rect">
            <a:avLst/>
          </a:prstGeom>
          <a:solidFill>
            <a:srgbClr val="1A2332"/>
          </a:solidFill>
          <a:ln/>
        </p:spPr>
        <p:txBody>
          <a:bodyPr/>
          <a:lstStyle/>
          <a:p>
            <a:endParaRPr lang="en-US"/>
          </a:p>
        </p:txBody>
      </p:sp>
      <p:sp>
        <p:nvSpPr>
          <p:cNvPr id="7" name="Text 5"/>
          <p:cNvSpPr/>
          <p:nvPr/>
        </p:nvSpPr>
        <p:spPr>
          <a:xfrm>
            <a:off x="685800" y="1655064"/>
            <a:ext cx="3344875" cy="49377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Langston Hughes</a:t>
            </a:r>
            <a:endParaRPr lang="en-US" sz="1800" dirty="0"/>
          </a:p>
        </p:txBody>
      </p:sp>
      <p:sp>
        <p:nvSpPr>
          <p:cNvPr id="8" name="Text 6"/>
          <p:cNvSpPr/>
          <p:nvPr/>
        </p:nvSpPr>
        <p:spPr>
          <a:xfrm>
            <a:off x="3893515" y="1655064"/>
            <a:ext cx="1912925" cy="493776"/>
          </a:xfrm>
          <a:prstGeom prst="rect">
            <a:avLst/>
          </a:prstGeom>
          <a:noFill/>
          <a:ln/>
        </p:spPr>
        <p:txBody>
          <a:bodyPr wrap="square" rtlCol="0" anchor="ctr">
            <a:normAutofit/>
          </a:bodyPr>
          <a:lstStyle/>
          <a:p>
            <a:pPr marL="0" indent="0" algn="r">
              <a:buNone/>
            </a:pPr>
            <a:r>
              <a:rPr lang="en-US" sz="1100" dirty="0">
                <a:solidFill>
                  <a:srgbClr val="F9A825"/>
                </a:solidFill>
                <a:latin typeface="Trebuchet MS" pitchFamily="34" charset="0"/>
                <a:ea typeface="Trebuchet MS" pitchFamily="34" charset="-122"/>
                <a:cs typeface="Trebuchet MS" pitchFamily="34" charset="-120"/>
              </a:rPr>
              <a:t>Poet of the Harlem Renaissance</a:t>
            </a:r>
            <a:endParaRPr lang="en-US" sz="1100" dirty="0"/>
          </a:p>
        </p:txBody>
      </p:sp>
      <p:sp>
        <p:nvSpPr>
          <p:cNvPr id="9" name="Shape 7"/>
          <p:cNvSpPr/>
          <p:nvPr/>
        </p:nvSpPr>
        <p:spPr>
          <a:xfrm>
            <a:off x="658368" y="2221992"/>
            <a:ext cx="662208" cy="795528"/>
          </a:xfrm>
          <a:prstGeom prst="rect">
            <a:avLst/>
          </a:prstGeom>
          <a:solidFill>
            <a:srgbClr val="FFFFFF"/>
          </a:solidFill>
          <a:ln w="12700">
            <a:solidFill>
              <a:srgbClr val="DAD3C2"/>
            </a:solidFill>
            <a:prstDash val="solid"/>
          </a:ln>
        </p:spPr>
        <p:txBody>
          <a:bodyPr/>
          <a:lstStyle/>
          <a:p>
            <a:endParaRPr lang="en-US"/>
          </a:p>
        </p:txBody>
      </p:sp>
      <p:pic>
        <p:nvPicPr>
          <p:cNvPr id="10" name="Image 0" descr="unit4-full/img/langston-hughes-portrait.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85800" y="2249424"/>
            <a:ext cx="607344" cy="740664"/>
          </a:xfrm>
          <a:prstGeom prst="rect">
            <a:avLst/>
          </a:prstGeom>
        </p:spPr>
      </p:pic>
      <p:sp>
        <p:nvSpPr>
          <p:cNvPr id="11" name="Text 8">
            <a:hlinkClick r:id="rId4"/>
          </p:cNvPr>
          <p:cNvSpPr/>
          <p:nvPr/>
        </p:nvSpPr>
        <p:spPr>
          <a:xfrm>
            <a:off x="685800" y="3008376"/>
            <a:ext cx="881664" cy="137160"/>
          </a:xfrm>
          <a:prstGeom prst="rect">
            <a:avLst/>
          </a:prstGeom>
          <a:noFill/>
          <a:ln/>
        </p:spPr>
        <p:txBody>
          <a:bodyPr wrap="square" rtlCol="0" anchor="t"/>
          <a:lstStyle/>
          <a:p>
            <a:pPr marL="0" indent="0">
              <a:buNone/>
            </a:pPr>
            <a:r>
              <a:rPr lang="en-US" sz="55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550" dirty="0"/>
          </a:p>
        </p:txBody>
      </p:sp>
      <p:sp>
        <p:nvSpPr>
          <p:cNvPr id="12" name="Text 9"/>
          <p:cNvSpPr/>
          <p:nvPr/>
        </p:nvSpPr>
        <p:spPr>
          <a:xfrm>
            <a:off x="1412016" y="2249424"/>
            <a:ext cx="4385280" cy="777240"/>
          </a:xfrm>
          <a:prstGeom prst="rect">
            <a:avLst/>
          </a:prstGeom>
          <a:noFill/>
          <a:ln/>
        </p:spPr>
        <p:txBody>
          <a:bodyPr wrap="square" rtlCol="0" anchor="ctr">
            <a:normAutofit/>
          </a:bodyPr>
          <a:lstStyle/>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Wrote 'The Negro Speaks of Rivers' and 'The Negro Artist and the Racial Mountain'</a:t>
            </a:r>
            <a:endParaRPr lang="en-US" sz="1300" dirty="0"/>
          </a:p>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Gave voice to Black pride and everyday life</a:t>
            </a:r>
            <a:endParaRPr lang="en-US" sz="1300" dirty="0"/>
          </a:p>
        </p:txBody>
      </p:sp>
      <p:sp>
        <p:nvSpPr>
          <p:cNvPr id="13" name="Shape 10"/>
          <p:cNvSpPr/>
          <p:nvPr/>
        </p:nvSpPr>
        <p:spPr>
          <a:xfrm>
            <a:off x="667512" y="3026664"/>
            <a:ext cx="515721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14" name="Text 11"/>
          <p:cNvSpPr/>
          <p:nvPr/>
        </p:nvSpPr>
        <p:spPr>
          <a:xfrm>
            <a:off x="749808" y="3054096"/>
            <a:ext cx="501091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050" b="1" dirty="0">
                <a:solidFill>
                  <a:srgbClr val="1A2332"/>
                </a:solidFill>
                <a:latin typeface="Calibri" pitchFamily="34" charset="0"/>
                <a:ea typeface="Calibri" pitchFamily="34" charset="-122"/>
                <a:cs typeface="Calibri" pitchFamily="34" charset="-120"/>
              </a:rPr>
              <a:t>Read a Hughes line aloud, then have students name the identity he is asserting.</a:t>
            </a:r>
            <a:endParaRPr lang="en-US" sz="800" dirty="0"/>
          </a:p>
        </p:txBody>
      </p:sp>
      <p:sp>
        <p:nvSpPr>
          <p:cNvPr id="15" name="Shape 12"/>
          <p:cNvSpPr/>
          <p:nvPr/>
        </p:nvSpPr>
        <p:spPr>
          <a:xfrm>
            <a:off x="6217920" y="1627632"/>
            <a:ext cx="5394960" cy="1993392"/>
          </a:xfrm>
          <a:prstGeom prst="rect">
            <a:avLst/>
          </a:prstGeom>
          <a:solidFill>
            <a:srgbClr val="FFFFFF"/>
          </a:solidFill>
          <a:ln w="12700">
            <a:solidFill>
              <a:srgbClr val="DAD3C2"/>
            </a:solidFill>
            <a:prstDash val="solid"/>
          </a:ln>
        </p:spPr>
        <p:txBody>
          <a:bodyPr/>
          <a:lstStyle/>
          <a:p>
            <a:endParaRPr lang="en-US"/>
          </a:p>
        </p:txBody>
      </p:sp>
      <p:sp>
        <p:nvSpPr>
          <p:cNvPr id="16" name="Shape 13"/>
          <p:cNvSpPr/>
          <p:nvPr/>
        </p:nvSpPr>
        <p:spPr>
          <a:xfrm>
            <a:off x="6217920" y="1627632"/>
            <a:ext cx="5394960" cy="548640"/>
          </a:xfrm>
          <a:prstGeom prst="rect">
            <a:avLst/>
          </a:prstGeom>
          <a:solidFill>
            <a:srgbClr val="1A2332"/>
          </a:solidFill>
          <a:ln/>
        </p:spPr>
        <p:txBody>
          <a:bodyPr/>
          <a:lstStyle/>
          <a:p>
            <a:endParaRPr lang="en-US"/>
          </a:p>
        </p:txBody>
      </p:sp>
      <p:sp>
        <p:nvSpPr>
          <p:cNvPr id="17" name="Text 14"/>
          <p:cNvSpPr/>
          <p:nvPr/>
        </p:nvSpPr>
        <p:spPr>
          <a:xfrm>
            <a:off x="6355080" y="1655064"/>
            <a:ext cx="3344875" cy="49377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Louis Armstrong</a:t>
            </a:r>
            <a:endParaRPr lang="en-US" sz="1800" dirty="0"/>
          </a:p>
        </p:txBody>
      </p:sp>
      <p:sp>
        <p:nvSpPr>
          <p:cNvPr id="18" name="Text 15"/>
          <p:cNvSpPr/>
          <p:nvPr/>
        </p:nvSpPr>
        <p:spPr>
          <a:xfrm>
            <a:off x="9562795" y="1655064"/>
            <a:ext cx="1912925" cy="493776"/>
          </a:xfrm>
          <a:prstGeom prst="rect">
            <a:avLst/>
          </a:prstGeom>
          <a:noFill/>
          <a:ln/>
        </p:spPr>
        <p:txBody>
          <a:bodyPr wrap="square" rtlCol="0" anchor="ctr">
            <a:normAutofit/>
          </a:bodyPr>
          <a:lstStyle/>
          <a:p>
            <a:pPr marL="0" indent="0" algn="r">
              <a:buNone/>
            </a:pPr>
            <a:r>
              <a:rPr lang="en-US" sz="1100" dirty="0">
                <a:solidFill>
                  <a:srgbClr val="F9A825"/>
                </a:solidFill>
                <a:latin typeface="Trebuchet MS" pitchFamily="34" charset="0"/>
                <a:ea typeface="Trebuchet MS" pitchFamily="34" charset="-122"/>
                <a:cs typeface="Trebuchet MS" pitchFamily="34" charset="-120"/>
              </a:rPr>
              <a:t>Jazz trumpeter &amp; singer (1901-1971)</a:t>
            </a:r>
            <a:endParaRPr lang="en-US" sz="1100" dirty="0"/>
          </a:p>
        </p:txBody>
      </p:sp>
      <p:sp>
        <p:nvSpPr>
          <p:cNvPr id="19" name="Shape 16"/>
          <p:cNvSpPr/>
          <p:nvPr/>
        </p:nvSpPr>
        <p:spPr>
          <a:xfrm>
            <a:off x="6327648" y="2221992"/>
            <a:ext cx="662208" cy="795528"/>
          </a:xfrm>
          <a:prstGeom prst="rect">
            <a:avLst/>
          </a:prstGeom>
          <a:solidFill>
            <a:srgbClr val="FFFFFF"/>
          </a:solidFill>
          <a:ln w="12700">
            <a:solidFill>
              <a:srgbClr val="DAD3C2"/>
            </a:solidFill>
            <a:prstDash val="solid"/>
          </a:ln>
        </p:spPr>
        <p:txBody>
          <a:bodyPr/>
          <a:lstStyle/>
          <a:p>
            <a:endParaRPr lang="en-US"/>
          </a:p>
        </p:txBody>
      </p:sp>
      <p:pic>
        <p:nvPicPr>
          <p:cNvPr id="20" name="Image 1" descr="unit4-full/img/louis-armstrong-portrait.jpg"/>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355080" y="2249424"/>
            <a:ext cx="607344" cy="740664"/>
          </a:xfrm>
          <a:prstGeom prst="rect">
            <a:avLst/>
          </a:prstGeom>
        </p:spPr>
      </p:pic>
      <p:sp>
        <p:nvSpPr>
          <p:cNvPr id="21" name="Text 17">
            <a:hlinkClick r:id="rId6"/>
          </p:cNvPr>
          <p:cNvSpPr/>
          <p:nvPr/>
        </p:nvSpPr>
        <p:spPr>
          <a:xfrm>
            <a:off x="6355080" y="3008376"/>
            <a:ext cx="881664" cy="137160"/>
          </a:xfrm>
          <a:prstGeom prst="rect">
            <a:avLst/>
          </a:prstGeom>
          <a:noFill/>
          <a:ln/>
        </p:spPr>
        <p:txBody>
          <a:bodyPr wrap="square" rtlCol="0" anchor="t"/>
          <a:lstStyle/>
          <a:p>
            <a:pPr marL="0" indent="0">
              <a:buNone/>
            </a:pPr>
            <a:r>
              <a:rPr lang="en-US" sz="550" i="1" u="sng" dirty="0">
                <a:solidFill>
                  <a:srgbClr val="002858"/>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Library of Congress</a:t>
            </a:r>
            <a:endParaRPr lang="en-US" sz="550" dirty="0"/>
          </a:p>
        </p:txBody>
      </p:sp>
      <p:sp>
        <p:nvSpPr>
          <p:cNvPr id="22" name="Text 18"/>
          <p:cNvSpPr/>
          <p:nvPr/>
        </p:nvSpPr>
        <p:spPr>
          <a:xfrm>
            <a:off x="7081296" y="2249424"/>
            <a:ext cx="4385280" cy="777240"/>
          </a:xfrm>
          <a:prstGeom prst="rect">
            <a:avLst/>
          </a:prstGeom>
          <a:noFill/>
          <a:ln/>
        </p:spPr>
        <p:txBody>
          <a:bodyPr wrap="square" rtlCol="0" anchor="ctr">
            <a:normAutofit/>
          </a:bodyPr>
          <a:lstStyle/>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Revolutionized jazz with improvised solos</a:t>
            </a:r>
            <a:endParaRPr lang="en-US" sz="1300" dirty="0"/>
          </a:p>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Became one of the most influential musicians in history</a:t>
            </a:r>
            <a:endParaRPr lang="en-US" sz="1300" dirty="0"/>
          </a:p>
        </p:txBody>
      </p:sp>
      <p:sp>
        <p:nvSpPr>
          <p:cNvPr id="23" name="Shape 19"/>
          <p:cNvSpPr/>
          <p:nvPr/>
        </p:nvSpPr>
        <p:spPr>
          <a:xfrm>
            <a:off x="6336792" y="3026664"/>
            <a:ext cx="515721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24" name="Text 20"/>
          <p:cNvSpPr/>
          <p:nvPr/>
        </p:nvSpPr>
        <p:spPr>
          <a:xfrm>
            <a:off x="6419088" y="3054096"/>
            <a:ext cx="501091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050" b="1" dirty="0">
                <a:solidFill>
                  <a:srgbClr val="1A2332"/>
                </a:solidFill>
                <a:latin typeface="Calibri" pitchFamily="34" charset="0"/>
                <a:ea typeface="Calibri" pitchFamily="34" charset="-122"/>
                <a:cs typeface="Calibri" pitchFamily="34" charset="-120"/>
              </a:rPr>
              <a:t>Use Armstrong to show jazz as the sound of the Harlem Renaissance and the decade.</a:t>
            </a:r>
            <a:endParaRPr lang="en-US" sz="800" dirty="0"/>
          </a:p>
        </p:txBody>
      </p:sp>
      <p:sp>
        <p:nvSpPr>
          <p:cNvPr id="25" name="Shape 21"/>
          <p:cNvSpPr/>
          <p:nvPr/>
        </p:nvSpPr>
        <p:spPr>
          <a:xfrm>
            <a:off x="548640" y="3822192"/>
            <a:ext cx="5394960" cy="1993392"/>
          </a:xfrm>
          <a:prstGeom prst="rect">
            <a:avLst/>
          </a:prstGeom>
          <a:solidFill>
            <a:srgbClr val="FFFFFF"/>
          </a:solidFill>
          <a:ln w="12700">
            <a:solidFill>
              <a:srgbClr val="DAD3C2"/>
            </a:solidFill>
            <a:prstDash val="solid"/>
          </a:ln>
        </p:spPr>
        <p:txBody>
          <a:bodyPr/>
          <a:lstStyle/>
          <a:p>
            <a:endParaRPr lang="en-US"/>
          </a:p>
        </p:txBody>
      </p:sp>
      <p:sp>
        <p:nvSpPr>
          <p:cNvPr id="26" name="Shape 22"/>
          <p:cNvSpPr/>
          <p:nvPr/>
        </p:nvSpPr>
        <p:spPr>
          <a:xfrm>
            <a:off x="548640" y="3822192"/>
            <a:ext cx="5394960" cy="548640"/>
          </a:xfrm>
          <a:prstGeom prst="rect">
            <a:avLst/>
          </a:prstGeom>
          <a:solidFill>
            <a:srgbClr val="1A2332"/>
          </a:solidFill>
          <a:ln/>
        </p:spPr>
        <p:txBody>
          <a:bodyPr/>
          <a:lstStyle/>
          <a:p>
            <a:endParaRPr lang="en-US"/>
          </a:p>
        </p:txBody>
      </p:sp>
      <p:sp>
        <p:nvSpPr>
          <p:cNvPr id="27" name="Text 23"/>
          <p:cNvSpPr/>
          <p:nvPr/>
        </p:nvSpPr>
        <p:spPr>
          <a:xfrm>
            <a:off x="685800" y="3849624"/>
            <a:ext cx="3344875" cy="49377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Duke Ellington</a:t>
            </a:r>
            <a:endParaRPr lang="en-US" sz="1800" dirty="0"/>
          </a:p>
        </p:txBody>
      </p:sp>
      <p:sp>
        <p:nvSpPr>
          <p:cNvPr id="28" name="Text 24"/>
          <p:cNvSpPr/>
          <p:nvPr/>
        </p:nvSpPr>
        <p:spPr>
          <a:xfrm>
            <a:off x="3893515" y="3849624"/>
            <a:ext cx="1912925" cy="493776"/>
          </a:xfrm>
          <a:prstGeom prst="rect">
            <a:avLst/>
          </a:prstGeom>
          <a:noFill/>
          <a:ln/>
        </p:spPr>
        <p:txBody>
          <a:bodyPr wrap="square" rtlCol="0" anchor="ctr">
            <a:normAutofit/>
          </a:bodyPr>
          <a:lstStyle/>
          <a:p>
            <a:pPr marL="0" indent="0" algn="r">
              <a:buNone/>
            </a:pPr>
            <a:r>
              <a:rPr lang="en-US" sz="1100" dirty="0">
                <a:solidFill>
                  <a:srgbClr val="F9A825"/>
                </a:solidFill>
                <a:latin typeface="Trebuchet MS" pitchFamily="34" charset="0"/>
                <a:ea typeface="Trebuchet MS" pitchFamily="34" charset="-122"/>
                <a:cs typeface="Trebuchet MS" pitchFamily="34" charset="-120"/>
              </a:rPr>
              <a:t>Jazz composer &amp; bandleader (1899-1974)</a:t>
            </a:r>
            <a:endParaRPr lang="en-US" sz="1100" dirty="0"/>
          </a:p>
        </p:txBody>
      </p:sp>
      <p:sp>
        <p:nvSpPr>
          <p:cNvPr id="29" name="Shape 25"/>
          <p:cNvSpPr/>
          <p:nvPr/>
        </p:nvSpPr>
        <p:spPr>
          <a:xfrm>
            <a:off x="658368" y="4416552"/>
            <a:ext cx="662208" cy="795528"/>
          </a:xfrm>
          <a:prstGeom prst="rect">
            <a:avLst/>
          </a:prstGeom>
          <a:solidFill>
            <a:srgbClr val="FFFFFF"/>
          </a:solidFill>
          <a:ln w="12700">
            <a:solidFill>
              <a:srgbClr val="DAD3C2"/>
            </a:solidFill>
            <a:prstDash val="solid"/>
          </a:ln>
        </p:spPr>
        <p:txBody>
          <a:bodyPr/>
          <a:lstStyle/>
          <a:p>
            <a:endParaRPr lang="en-US"/>
          </a:p>
        </p:txBody>
      </p:sp>
      <p:pic>
        <p:nvPicPr>
          <p:cNvPr id="30" name="Image 2" descr="unit4-full/img/duke-ellington.jpg"/>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85800" y="4443984"/>
            <a:ext cx="607344" cy="740664"/>
          </a:xfrm>
          <a:prstGeom prst="rect">
            <a:avLst/>
          </a:prstGeom>
        </p:spPr>
      </p:pic>
      <p:sp>
        <p:nvSpPr>
          <p:cNvPr id="31" name="Text 26">
            <a:hlinkClick r:id="rId8"/>
          </p:cNvPr>
          <p:cNvSpPr/>
          <p:nvPr/>
        </p:nvSpPr>
        <p:spPr>
          <a:xfrm>
            <a:off x="685800" y="5202936"/>
            <a:ext cx="881664" cy="137160"/>
          </a:xfrm>
          <a:prstGeom prst="rect">
            <a:avLst/>
          </a:prstGeom>
          <a:noFill/>
          <a:ln/>
        </p:spPr>
        <p:txBody>
          <a:bodyPr wrap="square" rtlCol="0" anchor="t"/>
          <a:lstStyle/>
          <a:p>
            <a:pPr marL="0" indent="0">
              <a:buNone/>
            </a:pPr>
            <a:r>
              <a:rPr lang="en-US" sz="550" i="1" u="sng" dirty="0">
                <a:solidFill>
                  <a:srgbClr val="002858"/>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Wikimedia Commons (public domain)</a:t>
            </a:r>
            <a:endParaRPr lang="en-US" sz="550" dirty="0"/>
          </a:p>
        </p:txBody>
      </p:sp>
      <p:sp>
        <p:nvSpPr>
          <p:cNvPr id="32" name="Text 27"/>
          <p:cNvSpPr/>
          <p:nvPr/>
        </p:nvSpPr>
        <p:spPr>
          <a:xfrm>
            <a:off x="1412016" y="4443984"/>
            <a:ext cx="4385280" cy="777240"/>
          </a:xfrm>
          <a:prstGeom prst="rect">
            <a:avLst/>
          </a:prstGeom>
          <a:noFill/>
          <a:ln/>
        </p:spPr>
        <p:txBody>
          <a:bodyPr wrap="square" rtlCol="0" anchor="ctr">
            <a:normAutofit/>
          </a:bodyPr>
          <a:lstStyle/>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Led his orchestra for nearly 50 years</a:t>
            </a:r>
            <a:endParaRPr lang="en-US" sz="1300" dirty="0"/>
          </a:p>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Composed sophisticated 'big band' jazz</a:t>
            </a:r>
            <a:endParaRPr lang="en-US" sz="1300" dirty="0"/>
          </a:p>
        </p:txBody>
      </p:sp>
      <p:sp>
        <p:nvSpPr>
          <p:cNvPr id="33" name="Shape 28"/>
          <p:cNvSpPr/>
          <p:nvPr/>
        </p:nvSpPr>
        <p:spPr>
          <a:xfrm>
            <a:off x="667512" y="5221224"/>
            <a:ext cx="515721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34" name="Text 29"/>
          <p:cNvSpPr/>
          <p:nvPr/>
        </p:nvSpPr>
        <p:spPr>
          <a:xfrm>
            <a:off x="749808" y="5248656"/>
            <a:ext cx="501091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050" b="1" dirty="0">
                <a:solidFill>
                  <a:srgbClr val="1A2332"/>
                </a:solidFill>
                <a:latin typeface="Calibri" pitchFamily="34" charset="0"/>
                <a:ea typeface="Calibri" pitchFamily="34" charset="-122"/>
                <a:cs typeface="Calibri" pitchFamily="34" charset="-120"/>
              </a:rPr>
              <a:t>Contrast Ellington's polished composition with Armstrong's improvisation to show jazz's range.</a:t>
            </a:r>
            <a:endParaRPr lang="en-US" sz="800" dirty="0"/>
          </a:p>
        </p:txBody>
      </p:sp>
      <p:sp>
        <p:nvSpPr>
          <p:cNvPr id="35" name="Shape 30"/>
          <p:cNvSpPr/>
          <p:nvPr/>
        </p:nvSpPr>
        <p:spPr>
          <a:xfrm>
            <a:off x="6217920" y="3822192"/>
            <a:ext cx="5394960" cy="1993392"/>
          </a:xfrm>
          <a:prstGeom prst="rect">
            <a:avLst/>
          </a:prstGeom>
          <a:solidFill>
            <a:srgbClr val="FFFFFF"/>
          </a:solidFill>
          <a:ln w="12700">
            <a:solidFill>
              <a:srgbClr val="DAD3C2"/>
            </a:solidFill>
            <a:prstDash val="solid"/>
          </a:ln>
        </p:spPr>
        <p:txBody>
          <a:bodyPr/>
          <a:lstStyle/>
          <a:p>
            <a:endParaRPr lang="en-US"/>
          </a:p>
        </p:txBody>
      </p:sp>
      <p:sp>
        <p:nvSpPr>
          <p:cNvPr id="36" name="Shape 31"/>
          <p:cNvSpPr/>
          <p:nvPr/>
        </p:nvSpPr>
        <p:spPr>
          <a:xfrm>
            <a:off x="6217920" y="3822192"/>
            <a:ext cx="5394960" cy="548640"/>
          </a:xfrm>
          <a:prstGeom prst="rect">
            <a:avLst/>
          </a:prstGeom>
          <a:solidFill>
            <a:srgbClr val="1A2332"/>
          </a:solidFill>
          <a:ln/>
        </p:spPr>
        <p:txBody>
          <a:bodyPr/>
          <a:lstStyle/>
          <a:p>
            <a:endParaRPr lang="en-US"/>
          </a:p>
        </p:txBody>
      </p:sp>
      <p:sp>
        <p:nvSpPr>
          <p:cNvPr id="37" name="Text 32"/>
          <p:cNvSpPr/>
          <p:nvPr/>
        </p:nvSpPr>
        <p:spPr>
          <a:xfrm>
            <a:off x="6355080" y="3849624"/>
            <a:ext cx="3344875" cy="49377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Zora Neale Hurston</a:t>
            </a:r>
            <a:endParaRPr lang="en-US" sz="1800" dirty="0"/>
          </a:p>
        </p:txBody>
      </p:sp>
      <p:sp>
        <p:nvSpPr>
          <p:cNvPr id="38" name="Text 33"/>
          <p:cNvSpPr/>
          <p:nvPr/>
        </p:nvSpPr>
        <p:spPr>
          <a:xfrm>
            <a:off x="9562795" y="3849624"/>
            <a:ext cx="1912925" cy="493776"/>
          </a:xfrm>
          <a:prstGeom prst="rect">
            <a:avLst/>
          </a:prstGeom>
          <a:noFill/>
          <a:ln/>
        </p:spPr>
        <p:txBody>
          <a:bodyPr wrap="square" rtlCol="0" anchor="ctr">
            <a:normAutofit/>
          </a:bodyPr>
          <a:lstStyle/>
          <a:p>
            <a:pPr marL="0" indent="0" algn="r">
              <a:buNone/>
            </a:pPr>
            <a:r>
              <a:rPr lang="en-US" sz="1100" dirty="0">
                <a:solidFill>
                  <a:srgbClr val="F9A825"/>
                </a:solidFill>
                <a:latin typeface="Trebuchet MS" pitchFamily="34" charset="0"/>
                <a:ea typeface="Trebuchet MS" pitchFamily="34" charset="-122"/>
                <a:cs typeface="Trebuchet MS" pitchFamily="34" charset="-120"/>
              </a:rPr>
              <a:t>Novelist &amp; folklorist</a:t>
            </a:r>
            <a:endParaRPr lang="en-US" sz="1100" dirty="0"/>
          </a:p>
        </p:txBody>
      </p:sp>
      <p:sp>
        <p:nvSpPr>
          <p:cNvPr id="39" name="Shape 34"/>
          <p:cNvSpPr/>
          <p:nvPr/>
        </p:nvSpPr>
        <p:spPr>
          <a:xfrm>
            <a:off x="6327648" y="4416552"/>
            <a:ext cx="662208" cy="795528"/>
          </a:xfrm>
          <a:prstGeom prst="rect">
            <a:avLst/>
          </a:prstGeom>
          <a:solidFill>
            <a:srgbClr val="FFFFFF"/>
          </a:solidFill>
          <a:ln w="12700">
            <a:solidFill>
              <a:srgbClr val="DAD3C2"/>
            </a:solidFill>
            <a:prstDash val="solid"/>
          </a:ln>
        </p:spPr>
        <p:txBody>
          <a:bodyPr/>
          <a:lstStyle/>
          <a:p>
            <a:endParaRPr lang="en-US"/>
          </a:p>
        </p:txBody>
      </p:sp>
      <p:pic>
        <p:nvPicPr>
          <p:cNvPr id="40" name="Image 3" descr="unit4-full/img/zora-neale-hurston-portrait.jpg"/>
          <p:cNvPicPr>
            <a:picLocks noChangeAspect="1"/>
          </p:cNvPicPr>
          <p:nvPr/>
        </p:nvPicPr>
        <p:blipFill>
          <a:blip r:embed="rId9" cstate="screen">
            <a:extLst>
              <a:ext uri="{28A0092B-C50C-407E-A947-70E740481C1C}">
                <a14:useLocalDpi xmlns:a14="http://schemas.microsoft.com/office/drawing/2010/main"/>
              </a:ext>
            </a:extLst>
          </a:blip>
          <a:srcRect/>
          <a:stretch/>
        </p:blipFill>
        <p:spPr>
          <a:xfrm>
            <a:off x="6355080" y="4443984"/>
            <a:ext cx="607344" cy="740664"/>
          </a:xfrm>
          <a:prstGeom prst="rect">
            <a:avLst/>
          </a:prstGeom>
        </p:spPr>
      </p:pic>
      <p:sp>
        <p:nvSpPr>
          <p:cNvPr id="41" name="Text 35">
            <a:hlinkClick r:id="rId10"/>
          </p:cNvPr>
          <p:cNvSpPr/>
          <p:nvPr/>
        </p:nvSpPr>
        <p:spPr>
          <a:xfrm>
            <a:off x="6355080" y="5202936"/>
            <a:ext cx="881664" cy="137160"/>
          </a:xfrm>
          <a:prstGeom prst="rect">
            <a:avLst/>
          </a:prstGeom>
          <a:noFill/>
          <a:ln/>
        </p:spPr>
        <p:txBody>
          <a:bodyPr wrap="square" rtlCol="0" anchor="t"/>
          <a:lstStyle/>
          <a:p>
            <a:pPr marL="0" indent="0">
              <a:buNone/>
            </a:pPr>
            <a:r>
              <a:rPr lang="en-US" sz="550" i="1" u="sng" dirty="0">
                <a:solidFill>
                  <a:srgbClr val="002858"/>
                </a:solidFill>
                <a:latin typeface="Calibri" pitchFamily="34" charset="0"/>
                <a:ea typeface="Calibri" pitchFamily="34" charset="-122"/>
                <a:cs typeface="Calibri" pitchFamily="34" charset="-120"/>
                <a:hlinkClick r:id="rId10">
                  <a:extLst>
                    <a:ext uri="{A12FA001-AC4F-418D-AE19-62706E023703}">
                      <ahyp:hlinkClr xmlns:ahyp="http://schemas.microsoft.com/office/drawing/2018/hyperlinkcolor" val="tx"/>
                    </a:ext>
                  </a:extLst>
                </a:hlinkClick>
              </a:rPr>
              <a:t>Library of Congress</a:t>
            </a:r>
            <a:endParaRPr lang="en-US" sz="550" dirty="0"/>
          </a:p>
        </p:txBody>
      </p:sp>
      <p:sp>
        <p:nvSpPr>
          <p:cNvPr id="42" name="Text 36"/>
          <p:cNvSpPr/>
          <p:nvPr/>
        </p:nvSpPr>
        <p:spPr>
          <a:xfrm>
            <a:off x="7081296" y="4443984"/>
            <a:ext cx="4385280" cy="777240"/>
          </a:xfrm>
          <a:prstGeom prst="rect">
            <a:avLst/>
          </a:prstGeom>
          <a:noFill/>
          <a:ln/>
        </p:spPr>
        <p:txBody>
          <a:bodyPr wrap="square" rtlCol="0" anchor="ctr">
            <a:normAutofit/>
          </a:bodyPr>
          <a:lstStyle/>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Collected and celebrated Southern Black folklore</a:t>
            </a:r>
            <a:endParaRPr lang="en-US" sz="1300" dirty="0"/>
          </a:p>
          <a:p>
            <a:pPr marL="152400" indent="-152400">
              <a:lnSpc>
                <a:spcPct val="105000"/>
              </a:lnSpc>
              <a:spcAft>
                <a:spcPts val="300"/>
              </a:spcAft>
              <a:buSzPct val="100000"/>
              <a:buChar char="•"/>
            </a:pPr>
            <a:r>
              <a:rPr lang="en-US" sz="1300" dirty="0">
                <a:solidFill>
                  <a:srgbClr val="1F2430"/>
                </a:solidFill>
                <a:latin typeface="Calibri" pitchFamily="34" charset="0"/>
                <a:ea typeface="Calibri" pitchFamily="34" charset="-122"/>
                <a:cs typeface="Calibri" pitchFamily="34" charset="-120"/>
              </a:rPr>
              <a:t>Wrote in authentic dialect and voice</a:t>
            </a:r>
            <a:endParaRPr lang="en-US" sz="1300" dirty="0"/>
          </a:p>
        </p:txBody>
      </p:sp>
      <p:sp>
        <p:nvSpPr>
          <p:cNvPr id="43" name="Shape 37"/>
          <p:cNvSpPr/>
          <p:nvPr/>
        </p:nvSpPr>
        <p:spPr>
          <a:xfrm>
            <a:off x="6336792" y="5221224"/>
            <a:ext cx="515721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44" name="Text 38"/>
          <p:cNvSpPr/>
          <p:nvPr/>
        </p:nvSpPr>
        <p:spPr>
          <a:xfrm>
            <a:off x="6419088" y="5248656"/>
            <a:ext cx="501091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050" b="1" dirty="0">
                <a:solidFill>
                  <a:srgbClr val="1A2332"/>
                </a:solidFill>
                <a:latin typeface="Calibri" pitchFamily="34" charset="0"/>
                <a:ea typeface="Calibri" pitchFamily="34" charset="-122"/>
                <a:cs typeface="Calibri" pitchFamily="34" charset="-120"/>
              </a:rPr>
              <a:t>Use Hurston to broaden the Renaissance beyond Harlem to Southern Black culture.</a:t>
            </a:r>
            <a:endParaRPr lang="en-US" sz="800" dirty="0"/>
          </a:p>
        </p:txBody>
      </p:sp>
      <p:sp>
        <p:nvSpPr>
          <p:cNvPr id="45" name="Text 3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6" name="Text 4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98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002858"/>
                </a:solidFill>
                <a:latin typeface="Trebuchet MS" pitchFamily="34" charset="0"/>
                <a:ea typeface="Trebuchet MS" pitchFamily="34" charset="-122"/>
                <a:cs typeface="Trebuchet MS" pitchFamily="34" charset="-120"/>
              </a:rPr>
              <a:t>US.33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marL="0" indent="0">
              <a:buNone/>
            </a:pPr>
            <a:r>
              <a:rPr lang="en-US" sz="2200" b="1" dirty="0">
                <a:solidFill>
                  <a:srgbClr val="1A2332"/>
                </a:solidFill>
                <a:latin typeface="Georgia" pitchFamily="34" charset="0"/>
                <a:ea typeface="Georgia" pitchFamily="34" charset="-122"/>
                <a:cs typeface="Georgia" pitchFamily="34" charset="-120"/>
              </a:rPr>
              <a:t>The Negro Artist and the Racial Mountain</a:t>
            </a:r>
            <a:endParaRPr lang="en-US" sz="22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lstStyle/>
          <a:p>
            <a:endParaRPr lang="en-US"/>
          </a:p>
        </p:txBody>
      </p:sp>
      <p:sp>
        <p:nvSpPr>
          <p:cNvPr id="6" name="Text 4"/>
          <p:cNvSpPr/>
          <p:nvPr/>
        </p:nvSpPr>
        <p:spPr>
          <a:xfrm>
            <a:off x="9418320" y="777240"/>
            <a:ext cx="219456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Argumentation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Langston Hughes  ·  1926</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txBody>
          <a:bodyPr/>
          <a:lstStyle/>
          <a:p>
            <a:endParaRPr lang="en-US"/>
          </a:p>
        </p:txBody>
      </p:sp>
      <p:pic>
        <p:nvPicPr>
          <p:cNvPr id="9" name="Image 0" descr="unit4-full/img/langston-hughes-portrait.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68266" y="1737360"/>
            <a:ext cx="1761149" cy="2532888"/>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marL="0" indent="0" algn="l">
              <a:lnSpc>
                <a:spcPct val="100000"/>
              </a:lnSpc>
              <a:buNone/>
            </a:pPr>
            <a:r>
              <a:rPr lang="en-US" sz="700" i="1" dirty="0">
                <a:solidFill>
                  <a:srgbClr val="5C6470"/>
                </a:solidFill>
                <a:latin typeface="Calibri" pitchFamily="34" charset="0"/>
                <a:ea typeface="Calibri" pitchFamily="34" charset="-122"/>
                <a:cs typeface="Calibri" pitchFamily="34" charset="-120"/>
              </a:rPr>
              <a:t>Carl Van Vechten / Library of Congress, Prints and Photographs Division, c1936  </a:t>
            </a:r>
            <a:r>
              <a:rPr lang="en-US" sz="7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lstStyle/>
          <a:p>
            <a:endParaRPr lang="en-US"/>
          </a:p>
        </p:txBody>
      </p:sp>
      <p:sp>
        <p:nvSpPr>
          <p:cNvPr id="12" name="Text 9"/>
          <p:cNvSpPr/>
          <p:nvPr/>
        </p:nvSpPr>
        <p:spPr>
          <a:xfrm>
            <a:off x="768096" y="1865376"/>
            <a:ext cx="2761488" cy="438912"/>
          </a:xfrm>
          <a:prstGeom prst="rect">
            <a:avLst/>
          </a:prstGeom>
          <a:noFill/>
          <a:ln/>
        </p:spPr>
        <p:txBody>
          <a:bodyPr wrap="square" rtlCol="0" anchor="ctr"/>
          <a:lstStyle/>
          <a:p>
            <a:pPr marL="0" indent="0">
              <a:lnSpc>
                <a:spcPct val="95000"/>
              </a:lnSpc>
              <a:buNone/>
            </a:pPr>
            <a:r>
              <a:rPr lang="en-US" sz="950" b="1" kern="0" spc="150" dirty="0">
                <a:solidFill>
                  <a:srgbClr val="1A2332"/>
                </a:solidFill>
                <a:latin typeface="Trebuchet MS" pitchFamily="34" charset="0"/>
                <a:ea typeface="Trebuchet MS" pitchFamily="34" charset="-122"/>
                <a:cs typeface="Trebuchet MS" pitchFamily="34" charset="-120"/>
              </a:rPr>
              <a:t>ZOOM IN  </a:t>
            </a: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lstStyle/>
          <a:p>
            <a:endParaRPr lang="en-US"/>
          </a:p>
        </p:txBody>
      </p:sp>
      <p:sp>
        <p:nvSpPr>
          <p:cNvPr id="14" name="Shape 11"/>
          <p:cNvSpPr/>
          <p:nvPr/>
        </p:nvSpPr>
        <p:spPr>
          <a:xfrm>
            <a:off x="3931920" y="1737360"/>
            <a:ext cx="91440" cy="3246120"/>
          </a:xfrm>
          <a:prstGeom prst="rect">
            <a:avLst/>
          </a:prstGeom>
          <a:solidFill>
            <a:srgbClr val="C9A84C"/>
          </a:solidFill>
          <a:ln/>
        </p:spPr>
        <p:txBody>
          <a:bodyPr/>
          <a:lstStyle/>
          <a:p>
            <a:endParaRPr lang="en-US"/>
          </a:p>
        </p:txBody>
      </p:sp>
      <p:sp>
        <p:nvSpPr>
          <p:cNvPr id="15" name="Text 12"/>
          <p:cNvSpPr/>
          <p:nvPr/>
        </p:nvSpPr>
        <p:spPr>
          <a:xfrm>
            <a:off x="4160520" y="1920240"/>
            <a:ext cx="3200400" cy="2880360"/>
          </a:xfrm>
          <a:prstGeom prst="rect">
            <a:avLst/>
          </a:prstGeom>
          <a:noFill/>
          <a:ln/>
        </p:spPr>
        <p:txBody>
          <a:bodyPr wrap="square" rtlCol="0" anchor="t"/>
          <a:lstStyle/>
          <a:p>
            <a:pPr marL="0" indent="0">
              <a:lnSpc>
                <a:spcPct val="112000"/>
              </a:lnSpc>
              <a:buNone/>
            </a:pPr>
            <a:r>
              <a:rPr lang="en-US" sz="1150" i="1" dirty="0">
                <a:solidFill>
                  <a:srgbClr val="1F2430"/>
                </a:solidFill>
                <a:latin typeface="Georgia" pitchFamily="34" charset="0"/>
                <a:ea typeface="Georgia" pitchFamily="34" charset="-122"/>
                <a:cs typeface="Georgia" pitchFamily="34" charset="-120"/>
              </a:rPr>
              <a:t>"We younger Negro artists who create now intend to express our individual dark-skinned selves without fear or shame. If white people are pleased we are glad. If they are not, it doesn't matter. We know we are beautiful. And ugly too. The tom-tom cries and the tom-tom laughs. If colored people are pleased we are glad. If they are not, their displeasure doesn't matter either."</a:t>
            </a:r>
            <a:endParaRPr lang="en-US" sz="1150" dirty="0"/>
          </a:p>
        </p:txBody>
      </p:sp>
      <p:sp>
        <p:nvSpPr>
          <p:cNvPr id="16" name="Shape 13"/>
          <p:cNvSpPr/>
          <p:nvPr/>
        </p:nvSpPr>
        <p:spPr>
          <a:xfrm>
            <a:off x="7589520" y="1737360"/>
            <a:ext cx="4023360" cy="2011680"/>
          </a:xfrm>
          <a:prstGeom prst="roundRect">
            <a:avLst>
              <a:gd name="adj" fmla="val 3636"/>
            </a:avLst>
          </a:prstGeom>
          <a:solidFill>
            <a:srgbClr val="1A2332"/>
          </a:solidFill>
          <a:ln/>
        </p:spPr>
        <p:txBody>
          <a:bodyPr/>
          <a:lstStyle/>
          <a:p>
            <a:endParaRPr lang="en-US"/>
          </a:p>
        </p:txBody>
      </p:sp>
      <p:sp>
        <p:nvSpPr>
          <p:cNvPr id="17" name="Text 14"/>
          <p:cNvSpPr/>
          <p:nvPr/>
        </p:nvSpPr>
        <p:spPr>
          <a:xfrm>
            <a:off x="7818120" y="1856232"/>
            <a:ext cx="3657600" cy="274320"/>
          </a:xfrm>
          <a:prstGeom prst="rect">
            <a:avLst/>
          </a:prstGeom>
          <a:noFill/>
          <a:ln/>
        </p:spPr>
        <p:txBody>
          <a:bodyPr wrap="square" rtlCol="0" anchor="ctr"/>
          <a:lstStyle/>
          <a:p>
            <a:pPr marL="0" indent="0">
              <a:buNone/>
            </a:pPr>
            <a:r>
              <a:rPr lang="en-US" sz="1100" b="1" kern="0" spc="20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marL="0" indent="0">
              <a:lnSpc>
                <a:spcPct val="96000"/>
              </a:lnSpc>
              <a:buNone/>
            </a:pPr>
            <a:r>
              <a:rPr lang="en-US" sz="850" dirty="0">
                <a:solidFill>
                  <a:srgbClr val="FFFFFF"/>
                </a:solidFill>
                <a:latin typeface="Calibri" pitchFamily="34" charset="0"/>
                <a:ea typeface="Calibri" pitchFamily="34" charset="-122"/>
                <a:cs typeface="Calibri" pitchFamily="34" charset="-120"/>
              </a:rPr>
              <a:t>Langston Hughes's 1926 essay 'The Negro Artist and the Racial Mountain' was a manifesto for the Harlem Renaissance's most ambitious artists. Hughes argued against Black artists who tried to imitate white artistic standards or who were ashamed of the jazz, blues, and folk traditions of ordinary Black life. He celebrated the 'low-down folks' — the workers and poor people of Harlem — as the true source of authentic Black artistic expression. The essay was a direct response to an older Black critic who had said that a promising young Black poet wanted to be white — which Hughes interpreted as wanting to write 'white' poetry. Hughes argued for a Black art rooted in Black experience.</a:t>
            </a:r>
            <a:endParaRPr lang="en-US" sz="850" dirty="0"/>
          </a:p>
        </p:txBody>
      </p:sp>
      <p:sp>
        <p:nvSpPr>
          <p:cNvPr id="19" name="Shape 16"/>
          <p:cNvSpPr/>
          <p:nvPr/>
        </p:nvSpPr>
        <p:spPr>
          <a:xfrm>
            <a:off x="7589520" y="3931920"/>
            <a:ext cx="4023360" cy="1051560"/>
          </a:xfrm>
          <a:prstGeom prst="roundRect">
            <a:avLst>
              <a:gd name="adj" fmla="val 6957"/>
            </a:avLst>
          </a:prstGeom>
          <a:solidFill>
            <a:srgbClr val="C9A84C"/>
          </a:solidFill>
          <a:ln/>
        </p:spPr>
        <p:txBody>
          <a:bodyPr/>
          <a:lstStyle/>
          <a:p>
            <a:endParaRPr lang="en-US"/>
          </a:p>
        </p:txBody>
      </p:sp>
      <p:sp>
        <p:nvSpPr>
          <p:cNvPr id="20" name="Text 17"/>
          <p:cNvSpPr/>
          <p:nvPr/>
        </p:nvSpPr>
        <p:spPr>
          <a:xfrm>
            <a:off x="7818120" y="4050792"/>
            <a:ext cx="3657600" cy="274320"/>
          </a:xfrm>
          <a:prstGeom prst="rect">
            <a:avLst/>
          </a:prstGeom>
          <a:noFill/>
          <a:ln/>
        </p:spPr>
        <p:txBody>
          <a:bodyPr wrap="square" rtlCol="0" anchor="ctr"/>
          <a:lstStyle/>
          <a:p>
            <a:pPr marL="0" indent="0">
              <a:buNone/>
            </a:pPr>
            <a:r>
              <a:rPr lang="en-US" sz="1100" b="1" kern="0" spc="20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marL="0" indent="0">
              <a:lnSpc>
                <a:spcPct val="103000"/>
              </a:lnSpc>
              <a:buNone/>
            </a:pPr>
            <a:r>
              <a:rPr lang="en-US" sz="1250" b="1" dirty="0">
                <a:solidFill>
                  <a:srgbClr val="1A2332"/>
                </a:solidFill>
                <a:latin typeface="Calibri" pitchFamily="34" charset="0"/>
                <a:ea typeface="Calibri" pitchFamily="34" charset="-122"/>
                <a:cs typeface="Calibri" pitchFamily="34" charset="-120"/>
              </a:rPr>
              <a:t>What artistic philosophy did Langston Hughes advocate for African American artists?</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lstStyle/>
          <a:p>
            <a:endParaRPr lang="en-US"/>
          </a:p>
        </p:txBody>
      </p:sp>
      <p:sp>
        <p:nvSpPr>
          <p:cNvPr id="23" name="Shape 20"/>
          <p:cNvSpPr/>
          <p:nvPr/>
        </p:nvSpPr>
        <p:spPr>
          <a:xfrm>
            <a:off x="548640" y="5120640"/>
            <a:ext cx="2423160" cy="841248"/>
          </a:xfrm>
          <a:prstGeom prst="rect">
            <a:avLst/>
          </a:prstGeom>
          <a:solidFill>
            <a:srgbClr val="002858"/>
          </a:solidFill>
          <a:ln/>
        </p:spPr>
        <p:txBody>
          <a:bodyPr/>
          <a:lstStyle/>
          <a:p>
            <a:endParaRPr lang="en-US"/>
          </a:p>
        </p:txBody>
      </p:sp>
      <p:sp>
        <p:nvSpPr>
          <p:cNvPr id="24" name="Text 21"/>
          <p:cNvSpPr/>
          <p:nvPr/>
        </p:nvSpPr>
        <p:spPr>
          <a:xfrm>
            <a:off x="658368" y="5239512"/>
            <a:ext cx="2194560" cy="274320"/>
          </a:xfrm>
          <a:prstGeom prst="rect">
            <a:avLst/>
          </a:prstGeom>
          <a:noFill/>
          <a:ln/>
        </p:spPr>
        <p:txBody>
          <a:bodyPr wrap="square"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marL="0" indent="0">
              <a:buNone/>
            </a:pPr>
            <a:r>
              <a:rPr lang="en-US" sz="1250" b="1" kern="0" spc="10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marL="0" indent="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Langston Hughes</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1926</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marL="0" indent="0" algn="l">
              <a:buNone/>
            </a:pPr>
            <a:r>
              <a:rPr lang="en-US" sz="900" dirty="0">
                <a:solidFill>
                  <a:srgbClr val="5C6470"/>
                </a:solidFill>
                <a:latin typeface="Calibri" pitchFamily="34" charset="0"/>
                <a:ea typeface="Calibri" pitchFamily="34" charset="-122"/>
                <a:cs typeface="Calibri" pitchFamily="34" charset="-120"/>
              </a:rPr>
              <a:t>Source: </a:t>
            </a:r>
            <a:r>
              <a:rPr lang="en-US" sz="900" i="1" u="sng" dirty="0">
                <a:solidFill>
                  <a:srgbClr val="00285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45920"/>
            <a:ext cx="5486400" cy="676656"/>
          </a:xfrm>
          <a:prstGeom prst="rect">
            <a:avLst/>
          </a:prstGeom>
          <a:solidFill>
            <a:srgbClr val="1A2332"/>
          </a:solidFill>
          <a:ln/>
        </p:spPr>
        <p:txBody>
          <a:bodyPr/>
          <a:lstStyle/>
          <a:p>
            <a:endParaRPr lang="en-US"/>
          </a:p>
        </p:txBody>
      </p:sp>
      <p:sp>
        <p:nvSpPr>
          <p:cNvPr id="7" name="Text 5"/>
          <p:cNvSpPr/>
          <p:nvPr/>
        </p:nvSpPr>
        <p:spPr>
          <a:xfrm>
            <a:off x="685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Harlem Renaissance</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Renacimiento de Harlem</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0" name="Text 8"/>
          <p:cNvSpPr/>
          <p:nvPr/>
        </p:nvSpPr>
        <p:spPr>
          <a:xfrm>
            <a:off x="576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HR</a:t>
            </a:r>
            <a:endParaRPr lang="en-US" sz="1300" dirty="0"/>
          </a:p>
        </p:txBody>
      </p:sp>
      <p:sp>
        <p:nvSpPr>
          <p:cNvPr id="11" name="Text 9"/>
          <p:cNvSpPr/>
          <p:nvPr/>
        </p:nvSpPr>
        <p:spPr>
          <a:xfrm>
            <a:off x="1225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1920s cultural movement centered in Harlem, New York, where African American artists, writers, musicians, and intellectuals celebrated Black culture and identity through art, literature, and music.</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13" name="Shape 11"/>
          <p:cNvSpPr/>
          <p:nvPr/>
        </p:nvSpPr>
        <p:spPr>
          <a:xfrm>
            <a:off x="6263640" y="1645920"/>
            <a:ext cx="5486400" cy="676656"/>
          </a:xfrm>
          <a:prstGeom prst="rect">
            <a:avLst/>
          </a:prstGeom>
          <a:solidFill>
            <a:srgbClr val="1A2332"/>
          </a:solidFill>
          <a:ln/>
        </p:spPr>
        <p:txBody>
          <a:bodyPr/>
          <a:lstStyle/>
          <a:p>
            <a:endParaRPr lang="en-US"/>
          </a:p>
        </p:txBody>
      </p:sp>
      <p:sp>
        <p:nvSpPr>
          <p:cNvPr id="14" name="Text 12"/>
          <p:cNvSpPr/>
          <p:nvPr/>
        </p:nvSpPr>
        <p:spPr>
          <a:xfrm>
            <a:off x="6400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Louis Armstrong</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LOO-ee ARM-strong</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Louis Armstrong</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8" name="Text 16"/>
          <p:cNvSpPr/>
          <p:nvPr/>
        </p:nvSpPr>
        <p:spPr>
          <a:xfrm>
            <a:off x="6291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LA</a:t>
            </a:r>
            <a:endParaRPr lang="en-US" sz="1300" dirty="0"/>
          </a:p>
        </p:txBody>
      </p:sp>
      <p:sp>
        <p:nvSpPr>
          <p:cNvPr id="19" name="Text 17"/>
          <p:cNvSpPr/>
          <p:nvPr/>
        </p:nvSpPr>
        <p:spPr>
          <a:xfrm>
            <a:off x="6940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revolutionary jazz trumpeter and singer from New Orleans who became one of the most influential musicians of the 20th century, pioneering improvisational jazz and scat singing.</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1" name="Shape 19"/>
          <p:cNvSpPr/>
          <p:nvPr/>
        </p:nvSpPr>
        <p:spPr>
          <a:xfrm>
            <a:off x="548640" y="3072384"/>
            <a:ext cx="5486400" cy="676656"/>
          </a:xfrm>
          <a:prstGeom prst="rect">
            <a:avLst/>
          </a:prstGeom>
          <a:solidFill>
            <a:srgbClr val="1A2332"/>
          </a:solidFill>
          <a:ln/>
        </p:spPr>
        <p:txBody>
          <a:bodyPr/>
          <a:lstStyle/>
          <a:p>
            <a:endParaRPr lang="en-US"/>
          </a:p>
        </p:txBody>
      </p:sp>
      <p:sp>
        <p:nvSpPr>
          <p:cNvPr id="22" name="Text 20"/>
          <p:cNvSpPr/>
          <p:nvPr/>
        </p:nvSpPr>
        <p:spPr>
          <a:xfrm>
            <a:off x="685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Duke Ellington</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dook EL-ing-tun</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Duke Ellington</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26" name="Text 24"/>
          <p:cNvSpPr/>
          <p:nvPr/>
        </p:nvSpPr>
        <p:spPr>
          <a:xfrm>
            <a:off x="576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DE</a:t>
            </a:r>
            <a:endParaRPr lang="en-US" sz="1300" dirty="0"/>
          </a:p>
        </p:txBody>
      </p:sp>
      <p:sp>
        <p:nvSpPr>
          <p:cNvPr id="27" name="Text 25"/>
          <p:cNvSpPr/>
          <p:nvPr/>
        </p:nvSpPr>
        <p:spPr>
          <a:xfrm>
            <a:off x="1225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prolific jazz composer, pianist, and bandleader who led his orchestra for nearly 50 years, creating sophisticated jazz compositions that elevated the genre to high art.</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9" name="Shape 27"/>
          <p:cNvSpPr/>
          <p:nvPr/>
        </p:nvSpPr>
        <p:spPr>
          <a:xfrm>
            <a:off x="6263640" y="3072384"/>
            <a:ext cx="5486400" cy="676656"/>
          </a:xfrm>
          <a:prstGeom prst="rect">
            <a:avLst/>
          </a:prstGeom>
          <a:solidFill>
            <a:srgbClr val="1A2332"/>
          </a:solidFill>
          <a:ln/>
        </p:spPr>
        <p:txBody>
          <a:bodyPr/>
          <a:lstStyle/>
          <a:p>
            <a:endParaRPr lang="en-US"/>
          </a:p>
        </p:txBody>
      </p:sp>
      <p:sp>
        <p:nvSpPr>
          <p:cNvPr id="30" name="Text 28"/>
          <p:cNvSpPr/>
          <p:nvPr/>
        </p:nvSpPr>
        <p:spPr>
          <a:xfrm>
            <a:off x="6400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Langston Hughes</a:t>
            </a:r>
            <a:endParaRPr lang="en-US" sz="1350" dirty="0"/>
          </a:p>
        </p:txBody>
      </p:sp>
      <p:sp>
        <p:nvSpPr>
          <p:cNvPr id="31" name="Text 29"/>
          <p:cNvSpPr/>
          <p:nvPr/>
        </p:nvSpPr>
        <p:spPr>
          <a:xfrm>
            <a:off x="6400800" y="3438144"/>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LANG-stun hyooz</a:t>
            </a:r>
            <a:endParaRPr lang="en-US" sz="8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Langston Hughes</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4" name="Text 32"/>
          <p:cNvSpPr/>
          <p:nvPr/>
        </p:nvSpPr>
        <p:spPr>
          <a:xfrm>
            <a:off x="6291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LH</a:t>
            </a:r>
            <a:endParaRPr lang="en-US" sz="1300" dirty="0"/>
          </a:p>
        </p:txBody>
      </p:sp>
      <p:sp>
        <p:nvSpPr>
          <p:cNvPr id="35" name="Text 33"/>
          <p:cNvSpPr/>
          <p:nvPr/>
        </p:nvSpPr>
        <p:spPr>
          <a:xfrm>
            <a:off x="6940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leading poet, novelist, and playwright of the Harlem Renaissance who wrote powerfully about the Black experience in America, using jazz rhythms and everyday language.</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37" name="Shape 35"/>
          <p:cNvSpPr/>
          <p:nvPr/>
        </p:nvSpPr>
        <p:spPr>
          <a:xfrm>
            <a:off x="548640" y="4498848"/>
            <a:ext cx="5486400" cy="676656"/>
          </a:xfrm>
          <a:prstGeom prst="rect">
            <a:avLst/>
          </a:prstGeom>
          <a:solidFill>
            <a:srgbClr val="1A2332"/>
          </a:solidFill>
          <a:ln/>
        </p:spPr>
        <p:txBody>
          <a:bodyPr/>
          <a:lstStyle/>
          <a:p>
            <a:endParaRPr lang="en-US"/>
          </a:p>
        </p:txBody>
      </p:sp>
      <p:sp>
        <p:nvSpPr>
          <p:cNvPr id="38" name="Text 36"/>
          <p:cNvSpPr/>
          <p:nvPr/>
        </p:nvSpPr>
        <p:spPr>
          <a:xfrm>
            <a:off x="685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Zora Neale Hurston</a:t>
            </a:r>
            <a:endParaRPr lang="en-US" sz="1350" dirty="0"/>
          </a:p>
        </p:txBody>
      </p:sp>
      <p:sp>
        <p:nvSpPr>
          <p:cNvPr id="39" name="Text 37"/>
          <p:cNvSpPr/>
          <p:nvPr/>
        </p:nvSpPr>
        <p:spPr>
          <a:xfrm>
            <a:off x="685800" y="4864608"/>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ZOR-uh neel HUR-stun</a:t>
            </a:r>
            <a:endParaRPr lang="en-US" sz="850" dirty="0"/>
          </a:p>
        </p:txBody>
      </p:sp>
      <p:sp>
        <p:nvSpPr>
          <p:cNvPr id="40" name="Text 38"/>
          <p:cNvSpPr/>
          <p:nvPr/>
        </p:nvSpPr>
        <p:spPr>
          <a:xfrm>
            <a:off x="3703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Zora Neale Hurston</a:t>
            </a:r>
            <a:endParaRPr lang="en-US" sz="1000" dirty="0"/>
          </a:p>
        </p:txBody>
      </p:sp>
      <p:sp>
        <p:nvSpPr>
          <p:cNvPr id="41" name="Shape 39"/>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2" name="Text 40"/>
          <p:cNvSpPr/>
          <p:nvPr/>
        </p:nvSpPr>
        <p:spPr>
          <a:xfrm>
            <a:off x="576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ZN</a:t>
            </a:r>
            <a:endParaRPr lang="en-US" sz="1300" dirty="0"/>
          </a:p>
        </p:txBody>
      </p:sp>
      <p:sp>
        <p:nvSpPr>
          <p:cNvPr id="43" name="Text 41"/>
          <p:cNvSpPr/>
          <p:nvPr/>
        </p:nvSpPr>
        <p:spPr>
          <a:xfrm>
            <a:off x="1225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An anthropologist, folklorist, and novelist who celebrated Southern Black culture and dialect in her masterpiece "Their Eyes Were Watching God."</a:t>
            </a:r>
            <a:endParaRPr lang="en-US" sz="1100" dirty="0"/>
          </a:p>
        </p:txBody>
      </p:sp>
      <p:sp>
        <p:nvSpPr>
          <p:cNvPr id="44" name="Shape 42"/>
          <p:cNvSpPr/>
          <p:nvPr/>
        </p:nvSpPr>
        <p:spPr>
          <a:xfrm>
            <a:off x="6263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45" name="Shape 43"/>
          <p:cNvSpPr/>
          <p:nvPr/>
        </p:nvSpPr>
        <p:spPr>
          <a:xfrm>
            <a:off x="6263640" y="4498848"/>
            <a:ext cx="5486400" cy="676656"/>
          </a:xfrm>
          <a:prstGeom prst="rect">
            <a:avLst/>
          </a:prstGeom>
          <a:solidFill>
            <a:srgbClr val="1A2332"/>
          </a:solidFill>
          <a:ln/>
        </p:spPr>
        <p:txBody>
          <a:bodyPr/>
          <a:lstStyle/>
          <a:p>
            <a:endParaRPr lang="en-US"/>
          </a:p>
        </p:txBody>
      </p:sp>
      <p:sp>
        <p:nvSpPr>
          <p:cNvPr id="46" name="Text 44"/>
          <p:cNvSpPr/>
          <p:nvPr/>
        </p:nvSpPr>
        <p:spPr>
          <a:xfrm>
            <a:off x="6400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James Weldon Johnson</a:t>
            </a:r>
            <a:endParaRPr lang="en-US" sz="1350" dirty="0"/>
          </a:p>
        </p:txBody>
      </p:sp>
      <p:sp>
        <p:nvSpPr>
          <p:cNvPr id="47" name="Text 45"/>
          <p:cNvSpPr/>
          <p:nvPr/>
        </p:nvSpPr>
        <p:spPr>
          <a:xfrm>
            <a:off x="6400800" y="4864608"/>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jaymz WEL-dun JON-sun</a:t>
            </a:r>
            <a:endParaRPr lang="en-US" sz="850" dirty="0"/>
          </a:p>
        </p:txBody>
      </p:sp>
      <p:sp>
        <p:nvSpPr>
          <p:cNvPr id="48" name="Text 46"/>
          <p:cNvSpPr/>
          <p:nvPr/>
        </p:nvSpPr>
        <p:spPr>
          <a:xfrm>
            <a:off x="9418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James Weldon Johnson</a:t>
            </a:r>
            <a:endParaRPr lang="en-US" sz="1000" dirty="0"/>
          </a:p>
        </p:txBody>
      </p:sp>
      <p:sp>
        <p:nvSpPr>
          <p:cNvPr id="49" name="Shape 47"/>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50" name="Text 48"/>
          <p:cNvSpPr/>
          <p:nvPr/>
        </p:nvSpPr>
        <p:spPr>
          <a:xfrm>
            <a:off x="6291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JW</a:t>
            </a:r>
            <a:endParaRPr lang="en-US" sz="1300" dirty="0"/>
          </a:p>
        </p:txBody>
      </p:sp>
      <p:sp>
        <p:nvSpPr>
          <p:cNvPr id="51" name="Text 49"/>
          <p:cNvSpPr/>
          <p:nvPr/>
        </p:nvSpPr>
        <p:spPr>
          <a:xfrm>
            <a:off x="6940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writer, diplomat, and civil rights activist who wrote "Lift Every Voice and Sing" (known as the Black National Anthem) and led the NAACP.</a:t>
            </a:r>
            <a:endParaRPr lang="en-US" sz="1100" dirty="0"/>
          </a:p>
        </p:txBody>
      </p:sp>
      <p:sp>
        <p:nvSpPr>
          <p:cNvPr id="52" name="Text 50"/>
          <p:cNvSpPr/>
          <p:nvPr/>
        </p:nvSpPr>
        <p:spPr>
          <a:xfrm>
            <a:off x="548640" y="5897880"/>
            <a:ext cx="11064240" cy="320040"/>
          </a:xfrm>
          <a:prstGeom prst="rect">
            <a:avLst/>
          </a:prstGeom>
          <a:noFill/>
          <a:ln/>
        </p:spPr>
        <p:txBody>
          <a:bodyPr wrap="square" rtlCol="0" anchor="ctr"/>
          <a:lstStyle/>
          <a:p>
            <a:pPr marL="0" indent="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3" name="Text 5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4" name="Text 5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marL="0" indent="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lstStyle/>
          <a:p>
            <a:endParaRPr lang="en-US"/>
          </a:p>
        </p:txBody>
      </p:sp>
      <p:sp>
        <p:nvSpPr>
          <p:cNvPr id="6" name="Text 4"/>
          <p:cNvSpPr/>
          <p:nvPr/>
        </p:nvSpPr>
        <p:spPr>
          <a:xfrm>
            <a:off x="8869680" y="822960"/>
            <a:ext cx="274320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Interpret an author's claim</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640080"/>
          </a:xfrm>
          <a:prstGeom prst="rect">
            <a:avLst/>
          </a:prstGeom>
          <a:noFill/>
          <a:ln/>
        </p:spPr>
        <p:txBody>
          <a:bodyPr wrap="square" rtlCol="0" anchor="ctr"/>
          <a:lstStyle/>
          <a:p>
            <a:pPr marL="0" indent="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r>
              <a:rPr lang="en-US" sz="1500" dirty="0">
                <a:solidFill>
                  <a:srgbClr val="FFFFFF"/>
                </a:solidFill>
                <a:latin typeface="Calibri" pitchFamily="34" charset="0"/>
                <a:ea typeface="Calibri" pitchFamily="34" charset="-122"/>
                <a:cs typeface="Calibri" pitchFamily="34" charset="-120"/>
              </a:rPr>
              <a:t>What did Harlem Renaissance artists say about Black identity?</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lstStyle/>
          <a:p>
            <a:endParaRPr lang="en-US"/>
          </a:p>
        </p:txBody>
      </p:sp>
      <p:sp>
        <p:nvSpPr>
          <p:cNvPr id="10" name="Text 8"/>
          <p:cNvSpPr/>
          <p:nvPr/>
        </p:nvSpPr>
        <p:spPr>
          <a:xfrm>
            <a:off x="822960" y="2724912"/>
            <a:ext cx="10058400" cy="292608"/>
          </a:xfrm>
          <a:prstGeom prst="rect">
            <a:avLst/>
          </a:prstGeom>
          <a:noFill/>
          <a:ln/>
        </p:spPr>
        <p:txBody>
          <a:bodyPr wrap="square" rtlCol="0" anchor="ctr"/>
          <a:lstStyle/>
          <a:p>
            <a:pPr marL="0" indent="0">
              <a:buNone/>
            </a:pPr>
            <a:r>
              <a:rPr lang="en-US" sz="1100" b="1" kern="0" spc="10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marL="0" indent="0">
              <a:lnSpc>
                <a:spcPct val="106000"/>
              </a:lnSpc>
              <a:buNone/>
            </a:pPr>
            <a:r>
              <a:rPr lang="en-US" sz="1450" b="1" dirty="0">
                <a:solidFill>
                  <a:srgbClr val="1A2332"/>
                </a:solidFill>
                <a:latin typeface="Calibri" pitchFamily="34" charset="0"/>
                <a:ea typeface="Calibri" pitchFamily="34" charset="-122"/>
                <a:cs typeface="Calibri" pitchFamily="34" charset="-120"/>
              </a:rPr>
              <a:t>Hughes insists Black artists should create from their own experience, not imitate white culture. That is a claim of pride and independence.</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lstStyle/>
          <a:p>
            <a:endParaRPr lang="en-US"/>
          </a:p>
        </p:txBody>
      </p:sp>
      <p:sp>
        <p:nvSpPr>
          <p:cNvPr id="13" name="Text 11"/>
          <p:cNvSpPr/>
          <p:nvPr/>
        </p:nvSpPr>
        <p:spPr>
          <a:xfrm>
            <a:off x="822960" y="4407408"/>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marL="0" indent="0">
              <a:lnSpc>
                <a:spcPct val="106000"/>
              </a:lnSpc>
              <a:buNone/>
            </a:pPr>
            <a:r>
              <a:rPr lang="en-US" sz="1300" i="1" dirty="0">
                <a:solidFill>
                  <a:srgbClr val="1F2430"/>
                </a:solidFill>
                <a:latin typeface="Calibri" pitchFamily="34" charset="0"/>
                <a:ea typeface="Calibri" pitchFamily="34" charset="-122"/>
                <a:cs typeface="Calibri" pitchFamily="34" charset="-120"/>
              </a:rPr>
              <a:t>Underline the sentence where the author states the purpose of Black art.</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marL="0" indent="0">
              <a:buNone/>
            </a:pPr>
            <a:r>
              <a:rPr lang="en-US" sz="1200" b="1" dirty="0">
                <a:solidFill>
                  <a:srgbClr val="1A2332"/>
                </a:solidFill>
                <a:latin typeface="Calibri" pitchFamily="34" charset="0"/>
                <a:ea typeface="Calibri" pitchFamily="34" charset="-122"/>
                <a:cs typeface="Calibri" pitchFamily="34" charset="-120"/>
              </a:rPr>
              <a:t>→ Now you try:  </a:t>
            </a:r>
            <a:r>
              <a:rPr lang="en-US" sz="1200" i="1" dirty="0">
                <a:solidFill>
                  <a:srgbClr val="002858"/>
                </a:solidFill>
                <a:latin typeface="Calibri" pitchFamily="34" charset="0"/>
                <a:ea typeface="Calibri" pitchFamily="34" charset="-122"/>
                <a:cs typeface="Calibri" pitchFamily="34" charset="-120"/>
              </a:rPr>
              <a:t>Paraphrase the author's argument in one sentence, then cite the line that proves it.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101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marL="0" indent="0">
              <a:buNone/>
            </a:pPr>
            <a:r>
              <a:rPr lang="en-US" sz="2400" b="1" dirty="0">
                <a:solidFill>
                  <a:srgbClr val="1A2332"/>
                </a:solidFill>
                <a:latin typeface="Georgia" pitchFamily="34" charset="0"/>
                <a:ea typeface="Georgia" pitchFamily="34" charset="-122"/>
                <a:cs typeface="Georgia" pitchFamily="34" charset="-120"/>
              </a:rPr>
              <a:t>Harlem's Voices — A Renaissance Exhibit Card</a:t>
            </a:r>
            <a:endParaRPr lang="en-US" sz="2400" dirty="0"/>
          </a:p>
        </p:txBody>
      </p:sp>
      <p:sp>
        <p:nvSpPr>
          <p:cNvPr id="5" name="Shape 3"/>
          <p:cNvSpPr/>
          <p:nvPr/>
        </p:nvSpPr>
        <p:spPr>
          <a:xfrm>
            <a:off x="548640" y="1591056"/>
            <a:ext cx="1199693" cy="365760"/>
          </a:xfrm>
          <a:prstGeom prst="roundRect">
            <a:avLst>
              <a:gd name="adj" fmla="val 20000"/>
            </a:avLst>
          </a:prstGeom>
          <a:solidFill>
            <a:srgbClr val="1A2332"/>
          </a:solidFill>
          <a:ln/>
        </p:spPr>
        <p:txBody>
          <a:bodyPr/>
          <a:lstStyle/>
          <a:p>
            <a:endParaRPr lang="en-US"/>
          </a:p>
        </p:txBody>
      </p:sp>
      <p:sp>
        <p:nvSpPr>
          <p:cNvPr id="6" name="Text 4"/>
          <p:cNvSpPr/>
          <p:nvPr/>
        </p:nvSpPr>
        <p:spPr>
          <a:xfrm>
            <a:off x="548640" y="1591056"/>
            <a:ext cx="1199693"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txBody>
          <a:bodyPr/>
          <a:lstStyle/>
          <a:p>
            <a:endParaRPr lang="en-US"/>
          </a:p>
        </p:txBody>
      </p:sp>
      <p:sp>
        <p:nvSpPr>
          <p:cNvPr id="8" name="Text 6"/>
          <p:cNvSpPr/>
          <p:nvPr/>
        </p:nvSpPr>
        <p:spPr>
          <a:xfrm>
            <a:off x="1912925" y="1591056"/>
            <a:ext cx="779069"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lstStyle/>
          <a:p>
            <a:endParaRPr lang="en-US"/>
          </a:p>
        </p:txBody>
      </p:sp>
      <p:sp>
        <p:nvSpPr>
          <p:cNvPr id="10" name="Text 8"/>
          <p:cNvSpPr/>
          <p:nvPr/>
        </p:nvSpPr>
        <p:spPr>
          <a:xfrm>
            <a:off x="822960" y="2194560"/>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marL="0" indent="0">
              <a:lnSpc>
                <a:spcPct val="112000"/>
              </a:lnSpc>
              <a:buNone/>
            </a:pPr>
            <a:r>
              <a:rPr lang="en-US" sz="1350" dirty="0">
                <a:solidFill>
                  <a:srgbClr val="1F2430"/>
                </a:solidFill>
                <a:latin typeface="Calibri" pitchFamily="34" charset="0"/>
                <a:ea typeface="Calibri" pitchFamily="34" charset="-122"/>
                <a:cs typeface="Calibri" pitchFamily="34" charset="-120"/>
              </a:rPr>
              <a:t>Read 'The Negro Speaks of Rivers' and the excerpt from 'The Negro Artist and the Racial Mountain.' Create an exhibit card profiling ONE Harlem Renaissance figure (Langston Hughes, Zora Neale Hurston, Louis Armstrong, Duke Ellington, or James Weldon Johnson): include their field, one major work or contribution, and how they expressed Black identity and pride. End with a one-sentence claim on why the Harlem Renaissance mattered to American culture.</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lstStyle/>
          <a:p>
            <a:endParaRPr lang="en-US"/>
          </a:p>
        </p:txBody>
      </p:sp>
      <p:pic>
        <p:nvPicPr>
          <p:cNvPr id="13" name="Image 0" descr="unit4-full/img/duke-ellington.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503067" y="2057400"/>
            <a:ext cx="2241987"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marL="0" indent="0" algn="l">
              <a:lnSpc>
                <a:spcPct val="100000"/>
              </a:lnSpc>
              <a:buNone/>
            </a:pPr>
            <a:r>
              <a:rPr lang="en-US" sz="750" i="1" dirty="0">
                <a:solidFill>
                  <a:srgbClr val="5C6470"/>
                </a:solidFill>
                <a:latin typeface="Calibri" pitchFamily="34" charset="0"/>
                <a:ea typeface="Calibri" pitchFamily="34" charset="-122"/>
                <a:cs typeface="Calibri" pitchFamily="34" charset="-120"/>
              </a:rPr>
              <a:t>Unknown, c1920s  </a:t>
            </a:r>
            <a:r>
              <a:rPr lang="en-US" sz="75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Wikimedia Commons (public domain)</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lstStyle/>
          <a:p>
            <a:endParaRPr lang="en-US"/>
          </a:p>
        </p:txBody>
      </p:sp>
      <p:sp>
        <p:nvSpPr>
          <p:cNvPr id="16" name="Text 13"/>
          <p:cNvSpPr/>
          <p:nvPr/>
        </p:nvSpPr>
        <p:spPr>
          <a:xfrm>
            <a:off x="777240" y="4645152"/>
            <a:ext cx="4572000" cy="274320"/>
          </a:xfrm>
          <a:prstGeom prst="rect">
            <a:avLst/>
          </a:prstGeom>
          <a:noFill/>
          <a:ln/>
        </p:spPr>
        <p:txBody>
          <a:bodyPr wrap="square" rtlCol="0" anchor="ctr"/>
          <a:lstStyle/>
          <a:p>
            <a:pPr marL="0" indent="0">
              <a:buNone/>
            </a:pPr>
            <a:r>
              <a:rPr lang="en-US" sz="1050" b="1" kern="0" spc="20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normAutofit/>
          </a:bodyPr>
          <a:lstStyle/>
          <a:p>
            <a:pPr marL="0" indent="0">
              <a:lnSpc>
                <a:spcPct val="103000"/>
              </a:lnSpc>
              <a:buNone/>
            </a:pPr>
            <a:r>
              <a:rPr lang="en-US" sz="1250" dirty="0">
                <a:solidFill>
                  <a:srgbClr val="FFFFFF"/>
                </a:solidFill>
                <a:latin typeface="Calibri" pitchFamily="34" charset="0"/>
                <a:ea typeface="Calibri" pitchFamily="34" charset="-122"/>
                <a:cs typeface="Calibri" pitchFamily="34" charset="-120"/>
              </a:rPr>
              <a:t>Completed exhibit card (field, contribution, expression of identity) AND a one-sentence evidence-based claim.</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lstStyle/>
          <a:p>
            <a:endParaRPr lang="en-US"/>
          </a:p>
        </p:txBody>
      </p:sp>
      <p:sp>
        <p:nvSpPr>
          <p:cNvPr id="19" name="Text 16"/>
          <p:cNvSpPr/>
          <p:nvPr/>
        </p:nvSpPr>
        <p:spPr>
          <a:xfrm>
            <a:off x="6400800" y="4645152"/>
            <a:ext cx="4572000" cy="274320"/>
          </a:xfrm>
          <a:prstGeom prst="rect">
            <a:avLst/>
          </a:prstGeom>
          <a:noFill/>
          <a:ln/>
        </p:spPr>
        <p:txBody>
          <a:bodyPr wrap="square" rtlCol="0" anchor="ctr"/>
          <a:lstStyle/>
          <a:p>
            <a:pPr marL="0" indent="0">
              <a:buNone/>
            </a:pPr>
            <a:r>
              <a:rPr lang="en-US" sz="1050" b="1" kern="0" spc="20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20" name="Text 17"/>
          <p:cNvSpPr/>
          <p:nvPr/>
        </p:nvSpPr>
        <p:spPr>
          <a:xfrm>
            <a:off x="6400800" y="4919472"/>
            <a:ext cx="5029200" cy="868680"/>
          </a:xfrm>
          <a:prstGeom prst="rect">
            <a:avLst/>
          </a:prstGeom>
          <a:noFill/>
          <a:ln/>
        </p:spPr>
        <p:txBody>
          <a:bodyPr wrap="square" rtlCol="0" anchor="t">
            <a:normAutofit/>
          </a:bodyPr>
          <a:lstStyle/>
          <a:p>
            <a:pPr marL="0" indent="0">
              <a:lnSpc>
                <a:spcPct val="103000"/>
              </a:lnSpc>
              <a:buNone/>
            </a:pPr>
            <a:r>
              <a:rPr lang="en-US" sz="1000" dirty="0">
                <a:solidFill>
                  <a:srgbClr val="1F2430"/>
                </a:solidFill>
                <a:latin typeface="Calibri" pitchFamily="34" charset="0"/>
                <a:ea typeface="Calibri" pitchFamily="34" charset="-122"/>
                <a:cs typeface="Calibri" pitchFamily="34" charset="-120"/>
              </a:rPr>
              <a:t>Entry: Exhibit-card template with labeled sections and a figure fact bank. Honors: Add a paragraph analyzing how Hughes's poem uses history to build pride, quoting one line.</a:t>
            </a:r>
            <a:endParaRPr lang="en-US" sz="1000" dirty="0"/>
          </a:p>
        </p:txBody>
      </p:sp>
      <p:sp>
        <p:nvSpPr>
          <p:cNvPr id="21" name="Text 18"/>
          <p:cNvSpPr/>
          <p:nvPr/>
        </p:nvSpPr>
        <p:spPr>
          <a:xfrm>
            <a:off x="548640" y="5943600"/>
            <a:ext cx="11064240" cy="320040"/>
          </a:xfrm>
          <a:prstGeom prst="rect">
            <a:avLst/>
          </a:prstGeom>
          <a:noFill/>
          <a:ln/>
        </p:spPr>
        <p:txBody>
          <a:bodyPr wrap="square" rtlCol="0" anchor="ctr"/>
          <a:lstStyle/>
          <a:p>
            <a:pPr marL="0" indent="0">
              <a:buNone/>
            </a:pPr>
            <a:r>
              <a:rPr lang="en-US" sz="1050" b="1" dirty="0">
                <a:solidFill>
                  <a:srgbClr val="1A2332"/>
                </a:solidFill>
                <a:latin typeface="Calibri" pitchFamily="34" charset="0"/>
                <a:ea typeface="Calibri" pitchFamily="34" charset="-122"/>
                <a:cs typeface="Calibri" pitchFamily="34" charset="-120"/>
              </a:rPr>
              <a:t>Companion printable:  </a:t>
            </a:r>
            <a:r>
              <a:rPr lang="en-US" sz="1050" i="1" dirty="0">
                <a:solidFill>
                  <a:srgbClr val="002858"/>
                </a:solidFill>
                <a:latin typeface="Calibri" pitchFamily="34" charset="0"/>
                <a:ea typeface="Calibri" pitchFamily="34" charset="-122"/>
                <a:cs typeface="Calibri" pitchFamily="34" charset="-120"/>
              </a:rPr>
              <a:t>cornell-notes/unit-4/us33-harlem-renaissance.pdf</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102</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US.33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lstStyle/>
          <a:p>
            <a:endParaRPr lang="en-US"/>
          </a:p>
        </p:txBody>
      </p:sp>
      <p:sp>
        <p:nvSpPr>
          <p:cNvPr id="6" name="Text 4"/>
          <p:cNvSpPr/>
          <p:nvPr/>
        </p:nvSpPr>
        <p:spPr>
          <a:xfrm>
            <a:off x="7635240" y="822960"/>
            <a:ext cx="1143000" cy="457200"/>
          </a:xfrm>
          <a:prstGeom prst="rect">
            <a:avLst/>
          </a:prstGeom>
          <a:noFill/>
          <a:ln/>
        </p:spPr>
        <p:txBody>
          <a:bodyPr wrap="square" rtlCol="0" anchor="ctr"/>
          <a:lstStyle/>
          <a:p>
            <a:pPr marL="0" indent="0" algn="ctr">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lstStyle/>
          <a:p>
            <a:endParaRPr lang="en-US"/>
          </a:p>
        </p:txBody>
      </p:sp>
      <p:sp>
        <p:nvSpPr>
          <p:cNvPr id="8" name="Text 6"/>
          <p:cNvSpPr/>
          <p:nvPr/>
        </p:nvSpPr>
        <p:spPr>
          <a:xfrm>
            <a:off x="8869680" y="822960"/>
            <a:ext cx="274320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lstStyle/>
          <a:p>
            <a:endParaRPr lang="en-US"/>
          </a:p>
        </p:txBody>
      </p:sp>
      <p:sp>
        <p:nvSpPr>
          <p:cNvPr id="10" name="Text 8"/>
          <p:cNvSpPr/>
          <p:nvPr/>
        </p:nvSpPr>
        <p:spPr>
          <a:xfrm>
            <a:off x="822960" y="1691640"/>
            <a:ext cx="10515600" cy="777240"/>
          </a:xfrm>
          <a:prstGeom prst="rect">
            <a:avLst/>
          </a:prstGeom>
          <a:noFill/>
          <a:ln/>
        </p:spPr>
        <p:txBody>
          <a:bodyPr wrap="square" rtlCol="0" anchor="ctr"/>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What artistic philosophy did Langston Hughes advocate for African American artists?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2" name="Shape 10"/>
          <p:cNvSpPr/>
          <p:nvPr/>
        </p:nvSpPr>
        <p:spPr>
          <a:xfrm>
            <a:off x="713232" y="2889504"/>
            <a:ext cx="365760" cy="365760"/>
          </a:xfrm>
          <a:prstGeom prst="ellipse">
            <a:avLst/>
          </a:prstGeom>
          <a:solidFill>
            <a:srgbClr val="1A2332"/>
          </a:solidFill>
          <a:ln/>
        </p:spPr>
        <p:txBody>
          <a:bodyPr/>
          <a:lstStyle/>
          <a:p>
            <a:endParaRPr lang="en-US"/>
          </a:p>
        </p:txBody>
      </p:sp>
      <p:sp>
        <p:nvSpPr>
          <p:cNvPr id="13" name="Text 11"/>
          <p:cNvSpPr/>
          <p:nvPr/>
        </p:nvSpPr>
        <p:spPr>
          <a:xfrm>
            <a:off x="713232" y="2889504"/>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African American artists should imitate European artistic traditions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6" name="Shape 14"/>
          <p:cNvSpPr/>
          <p:nvPr/>
        </p:nvSpPr>
        <p:spPr>
          <a:xfrm>
            <a:off x="713232" y="3639312"/>
            <a:ext cx="365760" cy="365760"/>
          </a:xfrm>
          <a:prstGeom prst="ellipse">
            <a:avLst/>
          </a:prstGeom>
          <a:solidFill>
            <a:srgbClr val="1A2332"/>
          </a:solidFill>
          <a:ln/>
        </p:spPr>
        <p:txBody>
          <a:bodyPr/>
          <a:lstStyle/>
          <a:p>
            <a:endParaRPr lang="en-US"/>
          </a:p>
        </p:txBody>
      </p:sp>
      <p:sp>
        <p:nvSpPr>
          <p:cNvPr id="17" name="Text 15"/>
          <p:cNvSpPr/>
          <p:nvPr/>
        </p:nvSpPr>
        <p:spPr>
          <a:xfrm>
            <a:off x="713232" y="3639312"/>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Artists should create authentically without seeking approval from any group</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0" name="Shape 18"/>
          <p:cNvSpPr/>
          <p:nvPr/>
        </p:nvSpPr>
        <p:spPr>
          <a:xfrm>
            <a:off x="713232" y="4389120"/>
            <a:ext cx="365760" cy="365760"/>
          </a:xfrm>
          <a:prstGeom prst="ellipse">
            <a:avLst/>
          </a:prstGeom>
          <a:solidFill>
            <a:srgbClr val="1A2332"/>
          </a:solidFill>
          <a:ln/>
        </p:spPr>
        <p:txBody>
          <a:bodyPr/>
          <a:lstStyle/>
          <a:p>
            <a:endParaRPr lang="en-US"/>
          </a:p>
        </p:txBody>
      </p:sp>
      <p:sp>
        <p:nvSpPr>
          <p:cNvPr id="21" name="Text 19"/>
          <p:cNvSpPr/>
          <p:nvPr/>
        </p:nvSpPr>
        <p:spPr>
          <a:xfrm>
            <a:off x="713232" y="4389120"/>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Black artists must only create work that white audiences will appreciate</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4" name="Shape 22"/>
          <p:cNvSpPr/>
          <p:nvPr/>
        </p:nvSpPr>
        <p:spPr>
          <a:xfrm>
            <a:off x="713232" y="5138928"/>
            <a:ext cx="365760" cy="365760"/>
          </a:xfrm>
          <a:prstGeom prst="ellipse">
            <a:avLst/>
          </a:prstGeom>
          <a:solidFill>
            <a:srgbClr val="1A2332"/>
          </a:solidFill>
          <a:ln/>
        </p:spPr>
        <p:txBody>
          <a:bodyPr/>
          <a:lstStyle/>
          <a:p>
            <a:endParaRPr lang="en-US"/>
          </a:p>
        </p:txBody>
      </p:sp>
      <p:sp>
        <p:nvSpPr>
          <p:cNvPr id="25" name="Text 23"/>
          <p:cNvSpPr/>
          <p:nvPr/>
        </p:nvSpPr>
        <p:spPr>
          <a:xfrm>
            <a:off x="713232" y="5138928"/>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Art should avoid addressing racial themes to reach broader audiences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lstStyle/>
          <a:p>
            <a:endParaRPr lang="en-US"/>
          </a:p>
        </p:txBody>
      </p:sp>
      <p:sp>
        <p:nvSpPr>
          <p:cNvPr id="28" name="Text 26"/>
          <p:cNvSpPr/>
          <p:nvPr/>
        </p:nvSpPr>
        <p:spPr>
          <a:xfrm>
            <a:off x="822960" y="5715000"/>
            <a:ext cx="10515600" cy="502920"/>
          </a:xfrm>
          <a:prstGeom prst="rect">
            <a:avLst/>
          </a:prstGeom>
          <a:noFill/>
          <a:ln/>
        </p:spPr>
        <p:txBody>
          <a:bodyPr wrap="square" rtlCol="0" anchor="ctr"/>
          <a:lstStyle/>
          <a:p>
            <a:pPr marL="0" indent="0">
              <a:buNone/>
            </a:pPr>
            <a:r>
              <a:rPr lang="en-US" sz="1200" b="1" i="1" kern="0" spc="100" dirty="0">
                <a:solidFill>
                  <a:srgbClr val="F9A825"/>
                </a:solidFill>
                <a:latin typeface="Trebuchet MS" pitchFamily="34" charset="0"/>
                <a:ea typeface="Trebuchet MS" pitchFamily="34" charset="-122"/>
                <a:cs typeface="Trebuchet MS" pitchFamily="34" charset="-120"/>
              </a:rPr>
              <a:t>ANSWER FIRST:  </a:t>
            </a: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103</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US.33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lstStyle/>
          <a:p>
            <a:endParaRPr lang="en-US"/>
          </a:p>
        </p:txBody>
      </p:sp>
      <p:sp>
        <p:nvSpPr>
          <p:cNvPr id="6" name="Text 4"/>
          <p:cNvSpPr/>
          <p:nvPr/>
        </p:nvSpPr>
        <p:spPr>
          <a:xfrm>
            <a:off x="8595360" y="822960"/>
            <a:ext cx="301752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731520"/>
          </a:xfrm>
          <a:prstGeom prst="rect">
            <a:avLst/>
          </a:prstGeom>
          <a:noFill/>
          <a:ln/>
        </p:spPr>
        <p:txBody>
          <a:bodyPr wrap="square" rtlCol="0" anchor="ctr"/>
          <a:lstStyle/>
          <a:p>
            <a:pPr marL="0" indent="0">
              <a:lnSpc>
                <a:spcPct val="102000"/>
              </a:lnSpc>
              <a:buNone/>
            </a:pPr>
            <a:r>
              <a:rPr lang="en-US" sz="1500" b="1" dirty="0">
                <a:solidFill>
                  <a:srgbClr val="FFFFFF"/>
                </a:solidFill>
                <a:latin typeface="Calibri" pitchFamily="34" charset="0"/>
                <a:ea typeface="Calibri" pitchFamily="34" charset="-122"/>
                <a:cs typeface="Calibri" pitchFamily="34" charset="-120"/>
              </a:rPr>
              <a:t>What artistic philosophy did Langston Hughes advocate for African American artists?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0" name="Shape 8"/>
          <p:cNvSpPr/>
          <p:nvPr/>
        </p:nvSpPr>
        <p:spPr>
          <a:xfrm>
            <a:off x="713232" y="2761488"/>
            <a:ext cx="347472" cy="347472"/>
          </a:xfrm>
          <a:prstGeom prst="ellipse">
            <a:avLst/>
          </a:prstGeom>
          <a:solidFill>
            <a:srgbClr val="1A2332"/>
          </a:solidFill>
          <a:ln/>
        </p:spPr>
        <p:txBody>
          <a:bodyPr/>
          <a:lstStyle/>
          <a:p>
            <a:endParaRPr lang="en-US"/>
          </a:p>
        </p:txBody>
      </p:sp>
      <p:sp>
        <p:nvSpPr>
          <p:cNvPr id="11" name="Text 9"/>
          <p:cNvSpPr/>
          <p:nvPr/>
        </p:nvSpPr>
        <p:spPr>
          <a:xfrm>
            <a:off x="713232" y="2761488"/>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African American artists should imitate European artistic traditions</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txBody>
          <a:bodyPr/>
          <a:lstStyle/>
          <a:p>
            <a:endParaRPr lang="en-US"/>
          </a:p>
        </p:txBody>
      </p:sp>
      <p:sp>
        <p:nvSpPr>
          <p:cNvPr id="14" name="Shape 12"/>
          <p:cNvSpPr/>
          <p:nvPr/>
        </p:nvSpPr>
        <p:spPr>
          <a:xfrm>
            <a:off x="713232" y="3419856"/>
            <a:ext cx="347472" cy="347472"/>
          </a:xfrm>
          <a:prstGeom prst="ellipse">
            <a:avLst/>
          </a:prstGeom>
          <a:solidFill>
            <a:srgbClr val="1A2332"/>
          </a:solidFill>
          <a:ln/>
        </p:spPr>
        <p:txBody>
          <a:bodyPr/>
          <a:lstStyle/>
          <a:p>
            <a:endParaRPr lang="en-US"/>
          </a:p>
        </p:txBody>
      </p:sp>
      <p:sp>
        <p:nvSpPr>
          <p:cNvPr id="15" name="Text 13"/>
          <p:cNvSpPr/>
          <p:nvPr/>
        </p:nvSpPr>
        <p:spPr>
          <a:xfrm>
            <a:off x="713232" y="3419856"/>
            <a:ext cx="347472" cy="347472"/>
          </a:xfrm>
          <a:prstGeom prst="rect">
            <a:avLst/>
          </a:prstGeom>
          <a:noFill/>
          <a:ln/>
        </p:spPr>
        <p:txBody>
          <a:bodyPr wrap="square" rtlCol="0" anchor="ctr"/>
          <a:lstStyle/>
          <a:p>
            <a:pPr marL="0" indent="0" algn="ctr">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marL="0" indent="0">
              <a:lnSpc>
                <a:spcPct val="100000"/>
              </a:lnSpc>
              <a:buNone/>
            </a:pPr>
            <a:r>
              <a:rPr lang="en-US" sz="1300" b="1" dirty="0">
                <a:solidFill>
                  <a:srgbClr val="1A2332"/>
                </a:solidFill>
                <a:latin typeface="Calibri" pitchFamily="34" charset="0"/>
                <a:ea typeface="Calibri" pitchFamily="34" charset="-122"/>
                <a:cs typeface="Calibri" pitchFamily="34" charset="-120"/>
              </a:rPr>
              <a:t>Artists should create authentically without seeking approval from any group</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marL="0" indent="0" algn="ctr">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9" name="Shape 17"/>
          <p:cNvSpPr/>
          <p:nvPr/>
        </p:nvSpPr>
        <p:spPr>
          <a:xfrm>
            <a:off x="713232" y="4078224"/>
            <a:ext cx="347472" cy="347472"/>
          </a:xfrm>
          <a:prstGeom prst="ellipse">
            <a:avLst/>
          </a:prstGeom>
          <a:solidFill>
            <a:srgbClr val="1A2332"/>
          </a:solidFill>
          <a:ln/>
        </p:spPr>
        <p:txBody>
          <a:bodyPr/>
          <a:lstStyle/>
          <a:p>
            <a:endParaRPr lang="en-US"/>
          </a:p>
        </p:txBody>
      </p:sp>
      <p:sp>
        <p:nvSpPr>
          <p:cNvPr id="20" name="Text 18"/>
          <p:cNvSpPr/>
          <p:nvPr/>
        </p:nvSpPr>
        <p:spPr>
          <a:xfrm>
            <a:off x="713232" y="4078224"/>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Black artists must only create work that white audiences will appreciate</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23" name="Shape 21"/>
          <p:cNvSpPr/>
          <p:nvPr/>
        </p:nvSpPr>
        <p:spPr>
          <a:xfrm>
            <a:off x="713232" y="4736592"/>
            <a:ext cx="347472" cy="347472"/>
          </a:xfrm>
          <a:prstGeom prst="ellipse">
            <a:avLst/>
          </a:prstGeom>
          <a:solidFill>
            <a:srgbClr val="1A2332"/>
          </a:solidFill>
          <a:ln/>
        </p:spPr>
        <p:txBody>
          <a:bodyPr/>
          <a:lstStyle/>
          <a:p>
            <a:endParaRPr lang="en-US"/>
          </a:p>
        </p:txBody>
      </p:sp>
      <p:sp>
        <p:nvSpPr>
          <p:cNvPr id="24" name="Text 22"/>
          <p:cNvSpPr/>
          <p:nvPr/>
        </p:nvSpPr>
        <p:spPr>
          <a:xfrm>
            <a:off x="713232" y="4736592"/>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Art should avoid addressing racial themes to reach broader audiences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lstStyle/>
          <a:p>
            <a:endParaRPr lang="en-US"/>
          </a:p>
        </p:txBody>
      </p:sp>
      <p:sp>
        <p:nvSpPr>
          <p:cNvPr id="27" name="Text 25"/>
          <p:cNvSpPr/>
          <p:nvPr/>
        </p:nvSpPr>
        <p:spPr>
          <a:xfrm>
            <a:off x="822960" y="5532120"/>
            <a:ext cx="10515600" cy="713232"/>
          </a:xfrm>
          <a:prstGeom prst="rect">
            <a:avLst/>
          </a:prstGeom>
          <a:noFill/>
          <a:ln/>
        </p:spPr>
        <p:txBody>
          <a:bodyPr wrap="square" rtlCol="0" anchor="ctr"/>
          <a:lstStyle/>
          <a:p>
            <a:pPr marL="0" indent="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Why: </a:t>
            </a:r>
            <a:r>
              <a:rPr lang="en-US" sz="1150" dirty="0">
                <a:solidFill>
                  <a:srgbClr val="C7D4E0"/>
                </a:solidFill>
                <a:latin typeface="Calibri" pitchFamily="34" charset="0"/>
                <a:ea typeface="Calibri" pitchFamily="34" charset="-122"/>
                <a:cs typeface="Calibri" pitchFamily="34" charset="-120"/>
              </a:rPr>
              <a:t>Hughes declares artists will "express our individual dark-skinned selves without fear or shame" regardless of whether white or Black audiences approve.</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104</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US.33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marL="0" indent="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lstStyle/>
          <a:p>
            <a:endParaRPr lang="en-US"/>
          </a:p>
        </p:txBody>
      </p:sp>
      <p:sp>
        <p:nvSpPr>
          <p:cNvPr id="6" name="Text 4"/>
          <p:cNvSpPr/>
          <p:nvPr/>
        </p:nvSpPr>
        <p:spPr>
          <a:xfrm>
            <a:off x="868680" y="1847088"/>
            <a:ext cx="5486400" cy="320040"/>
          </a:xfrm>
          <a:prstGeom prst="rect">
            <a:avLst/>
          </a:prstGeom>
          <a:noFill/>
          <a:ln/>
        </p:spPr>
        <p:txBody>
          <a:bodyPr wrap="square" rtlCol="0" anchor="ctr"/>
          <a:lstStyle/>
          <a:p>
            <a:pPr marL="0" indent="0">
              <a:buNone/>
            </a:pPr>
            <a:r>
              <a:rPr lang="en-US" sz="1200" b="1" kern="0" spc="20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Historical Context and Characteristics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Impact on African American Arts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Louis Armstrong (1901-1971)</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Duke Ellington (1899-1974)</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Langston Hughes and Zora Neale Hurston</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lstStyle/>
          <a:p>
            <a:endParaRPr lang="en-US"/>
          </a:p>
        </p:txBody>
      </p:sp>
      <p:sp>
        <p:nvSpPr>
          <p:cNvPr id="9" name="Text 7"/>
          <p:cNvSpPr/>
          <p:nvPr/>
        </p:nvSpPr>
        <p:spPr>
          <a:xfrm>
            <a:off x="822960" y="4901184"/>
            <a:ext cx="6492240" cy="274320"/>
          </a:xfrm>
          <a:prstGeom prst="rect">
            <a:avLst/>
          </a:prstGeom>
          <a:noFill/>
          <a:ln/>
        </p:spPr>
        <p:txBody>
          <a:bodyPr wrap="square" rtlCol="0" anchor="ctr"/>
          <a:lstStyle/>
          <a:p>
            <a:pPr marL="0" indent="0">
              <a:buNone/>
            </a:pPr>
            <a:r>
              <a:rPr lang="en-US" sz="1100" b="1" kern="0" spc="100" dirty="0">
                <a:solidFill>
                  <a:srgbClr val="7A5C12"/>
                </a:solidFill>
                <a:latin typeface="Trebuchet MS" pitchFamily="34" charset="0"/>
                <a:ea typeface="Trebuchet MS" pitchFamily="34" charset="-122"/>
                <a:cs typeface="Trebuchet MS" pitchFamily="34" charset="-120"/>
              </a:rPr>
              <a:t>★ HONORS / EXTENSION  </a:t>
            </a: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marL="0" indent="0">
              <a:lnSpc>
                <a:spcPct val="98000"/>
              </a:lnSpc>
              <a:buNone/>
            </a:pPr>
            <a:r>
              <a:rPr lang="en-US" sz="1050" i="1" dirty="0">
                <a:solidFill>
                  <a:srgbClr val="1F2430"/>
                </a:solidFill>
                <a:latin typeface="Calibri" pitchFamily="34" charset="0"/>
                <a:ea typeface="Calibri" pitchFamily="34" charset="-122"/>
                <a:cs typeface="Calibri" pitchFamily="34" charset="-120"/>
              </a:rPr>
              <a:t>Evaluate: To what extent did the Harlem Renaissance change how Americans viewed Black culture and identity? Argue your position with at least two pieces of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lstStyle/>
          <a:p>
            <a:endParaRPr lang="en-US"/>
          </a:p>
        </p:txBody>
      </p:sp>
      <p:sp>
        <p:nvSpPr>
          <p:cNvPr id="12" name="Text 10"/>
          <p:cNvSpPr/>
          <p:nvPr/>
        </p:nvSpPr>
        <p:spPr>
          <a:xfrm>
            <a:off x="8092440" y="1920240"/>
            <a:ext cx="2286000" cy="320040"/>
          </a:xfrm>
          <a:prstGeom prst="rect">
            <a:avLst/>
          </a:prstGeom>
          <a:noFill/>
          <a:ln/>
        </p:spPr>
        <p:txBody>
          <a:bodyPr wrap="square" rtlCol="0" anchor="ctr"/>
          <a:lstStyle/>
          <a:p>
            <a:pPr marL="0" indent="0">
              <a:buNone/>
            </a:pPr>
            <a:r>
              <a:rPr lang="en-US" sz="1200" b="1" kern="0" spc="20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lstStyle/>
          <a:p>
            <a:endParaRPr lang="en-US"/>
          </a:p>
        </p:txBody>
      </p:sp>
      <p:sp>
        <p:nvSpPr>
          <p:cNvPr id="14" name="Text 12"/>
          <p:cNvSpPr/>
          <p:nvPr/>
        </p:nvSpPr>
        <p:spPr>
          <a:xfrm>
            <a:off x="10378440" y="1883664"/>
            <a:ext cx="960120" cy="365760"/>
          </a:xfrm>
          <a:prstGeom prst="rect">
            <a:avLst/>
          </a:prstGeom>
          <a:noFill/>
          <a:ln/>
        </p:spPr>
        <p:txBody>
          <a:bodyPr wrap="square" rtlCol="0" anchor="ctr"/>
          <a:lstStyle/>
          <a:p>
            <a:pPr marL="0" indent="0" algn="ctr">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Explain what the Harlem Renaissance was and why it mattered to American culture. Use at least two figures as evidence.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lstStyle/>
          <a:p>
            <a:endParaRPr lang="en-US"/>
          </a:p>
        </p:txBody>
      </p:sp>
      <p:sp>
        <p:nvSpPr>
          <p:cNvPr id="17" name="Shape 15"/>
          <p:cNvSpPr/>
          <p:nvPr/>
        </p:nvSpPr>
        <p:spPr>
          <a:xfrm>
            <a:off x="8138160" y="5074920"/>
            <a:ext cx="3108960" cy="0"/>
          </a:xfrm>
          <a:prstGeom prst="line">
            <a:avLst/>
          </a:prstGeom>
          <a:noFill/>
          <a:ln w="12700">
            <a:solidFill>
              <a:srgbClr val="A7BACB"/>
            </a:solidFill>
            <a:prstDash val="dash"/>
          </a:ln>
        </p:spPr>
        <p:txBody>
          <a:bodyPr/>
          <a:lstStyle/>
          <a:p>
            <a:endParaRPr lang="en-US"/>
          </a:p>
        </p:txBody>
      </p:sp>
      <p:sp>
        <p:nvSpPr>
          <p:cNvPr id="18" name="Shape 16"/>
          <p:cNvSpPr/>
          <p:nvPr/>
        </p:nvSpPr>
        <p:spPr>
          <a:xfrm>
            <a:off x="8138160" y="5623560"/>
            <a:ext cx="3108960" cy="0"/>
          </a:xfrm>
          <a:prstGeom prst="line">
            <a:avLst/>
          </a:prstGeom>
          <a:noFill/>
          <a:ln w="12700">
            <a:solidFill>
              <a:srgbClr val="A7BACB"/>
            </a:solidFill>
            <a:prstDash val="dash"/>
          </a:ln>
        </p:spPr>
        <p:txBody>
          <a:bodyPr/>
          <a:lstStyle/>
          <a:p>
            <a:endParaRPr lang="en-US"/>
          </a:p>
        </p:txBody>
      </p:sp>
      <p:sp>
        <p:nvSpPr>
          <p:cNvPr id="20" name="Text 1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lstStyle/>
          <a:p>
            <a:endParaRPr lang="en-US"/>
          </a:p>
        </p:txBody>
      </p:sp>
      <p:sp>
        <p:nvSpPr>
          <p:cNvPr id="3" name="Shape 1"/>
          <p:cNvSpPr/>
          <p:nvPr/>
        </p:nvSpPr>
        <p:spPr>
          <a:xfrm>
            <a:off x="320040" y="0"/>
            <a:ext cx="109728" cy="6858000"/>
          </a:xfrm>
          <a:prstGeom prst="rect">
            <a:avLst/>
          </a:prstGeom>
          <a:solidFill>
            <a:srgbClr val="C9A84C"/>
          </a:solidFill>
          <a:ln/>
        </p:spPr>
        <p:txBody>
          <a:bodyPr/>
          <a:lstStyle/>
          <a:p>
            <a:endParaRPr lang="en-US"/>
          </a:p>
        </p:txBody>
      </p:sp>
      <p:sp>
        <p:nvSpPr>
          <p:cNvPr id="4" name="Text 2"/>
          <p:cNvSpPr/>
          <p:nvPr/>
        </p:nvSpPr>
        <p:spPr>
          <a:xfrm>
            <a:off x="914400" y="1005840"/>
            <a:ext cx="5486400" cy="365760"/>
          </a:xfrm>
          <a:prstGeom prst="rect">
            <a:avLst/>
          </a:prstGeom>
          <a:noFill/>
          <a:ln/>
        </p:spPr>
        <p:txBody>
          <a:bodyPr wrap="square" rtlCol="0" anchor="ctr"/>
          <a:lstStyle/>
          <a:p>
            <a:pPr marL="0" indent="0">
              <a:buNone/>
            </a:pPr>
            <a:r>
              <a:rPr lang="en-US" sz="1500" b="1" kern="0" spc="40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marL="0" indent="0">
              <a:buNone/>
            </a:pPr>
            <a:r>
              <a:rPr lang="en-US" sz="8800" b="1" dirty="0">
                <a:solidFill>
                  <a:srgbClr val="FFFFFF"/>
                </a:solidFill>
                <a:latin typeface="Georgia" pitchFamily="34" charset="0"/>
                <a:ea typeface="Georgia" pitchFamily="34" charset="-122"/>
                <a:cs typeface="Georgia" pitchFamily="34" charset="-120"/>
              </a:rPr>
              <a:t>US.34</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marL="0" indent="0">
              <a:lnSpc>
                <a:spcPct val="102000"/>
              </a:lnSpc>
              <a:buNone/>
            </a:pPr>
            <a:r>
              <a:rPr lang="en-US" sz="2400" i="1" dirty="0">
                <a:solidFill>
                  <a:srgbClr val="F9A825"/>
                </a:solidFill>
                <a:latin typeface="Georgia" pitchFamily="34" charset="0"/>
                <a:ea typeface="Georgia" pitchFamily="34" charset="-122"/>
                <a:cs typeface="Georgia" pitchFamily="34" charset="-120"/>
              </a:rPr>
              <a:t>Women in the 1920s: Flappers &amp; Social Changes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marL="0" indent="0" algn="l">
              <a:buNone/>
            </a:pPr>
            <a:r>
              <a:rPr lang="en-US" sz="1100" b="1" kern="0" spc="20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lstStyle/>
          <a:p>
            <a:endParaRPr lang="en-US"/>
          </a:p>
        </p:txBody>
      </p:sp>
      <p:sp>
        <p:nvSpPr>
          <p:cNvPr id="9" name="Text 7"/>
          <p:cNvSpPr/>
          <p:nvPr/>
        </p:nvSpPr>
        <p:spPr>
          <a:xfrm>
            <a:off x="6812280" y="1417320"/>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lstStyle/>
          <a:p>
            <a:endParaRPr lang="en-US"/>
          </a:p>
        </p:txBody>
      </p:sp>
      <p:sp>
        <p:nvSpPr>
          <p:cNvPr id="12" name="Text 10"/>
          <p:cNvSpPr/>
          <p:nvPr/>
        </p:nvSpPr>
        <p:spPr>
          <a:xfrm>
            <a:off x="6812280" y="1755648"/>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lstStyle/>
          <a:p>
            <a:endParaRPr lang="en-US"/>
          </a:p>
        </p:txBody>
      </p:sp>
      <p:sp>
        <p:nvSpPr>
          <p:cNvPr id="15" name="Text 13"/>
          <p:cNvSpPr/>
          <p:nvPr/>
        </p:nvSpPr>
        <p:spPr>
          <a:xfrm>
            <a:off x="6812280" y="2093976"/>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lstStyle/>
          <a:p>
            <a:endParaRPr lang="en-US"/>
          </a:p>
        </p:txBody>
      </p:sp>
      <p:sp>
        <p:nvSpPr>
          <p:cNvPr id="18" name="Text 16"/>
          <p:cNvSpPr/>
          <p:nvPr/>
        </p:nvSpPr>
        <p:spPr>
          <a:xfrm>
            <a:off x="1143000" y="3913632"/>
            <a:ext cx="5486400" cy="274320"/>
          </a:xfrm>
          <a:prstGeom prst="rect">
            <a:avLst/>
          </a:prstGeom>
          <a:noFill/>
          <a:ln/>
        </p:spPr>
        <p:txBody>
          <a:bodyPr wrap="square" rtlCol="0" anchor="ctr"/>
          <a:lstStyle/>
          <a:p>
            <a:pPr marL="0" indent="0">
              <a:buNone/>
            </a:pPr>
            <a:r>
              <a:rPr lang="en-US" sz="1100" b="1" kern="0" spc="20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Describe changes and limitations in the social and economic status of women during this era, including flappers, birth control, clerical and office jobs, and the rise of women's colleges.</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lstStyle/>
          <a:p>
            <a:endParaRPr lang="en-US"/>
          </a:p>
        </p:txBody>
      </p:sp>
      <p:sp>
        <p:nvSpPr>
          <p:cNvPr id="21" name="Text 19"/>
          <p:cNvSpPr/>
          <p:nvPr/>
        </p:nvSpPr>
        <p:spPr>
          <a:xfrm>
            <a:off x="1143000" y="5230368"/>
            <a:ext cx="1828800" cy="292608"/>
          </a:xfrm>
          <a:prstGeom prst="rect">
            <a:avLst/>
          </a:prstGeom>
          <a:noFill/>
          <a:ln/>
        </p:spPr>
        <p:txBody>
          <a:bodyPr wrap="square" rtlCol="0" anchor="ctr"/>
          <a:lstStyle/>
          <a:p>
            <a:pPr marL="0" indent="0">
              <a:buNone/>
            </a:pPr>
            <a:r>
              <a:rPr lang="en-US" sz="1300" b="1" kern="0" spc="20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marL="0" indent="0">
              <a:lnSpc>
                <a:spcPct val="100000"/>
              </a:lnSpc>
              <a:buNone/>
            </a:pPr>
            <a:r>
              <a:rPr lang="en-US" sz="1250" b="1" dirty="0">
                <a:solidFill>
                  <a:srgbClr val="1A2332"/>
                </a:solidFill>
                <a:latin typeface="Calibri" pitchFamily="34" charset="0"/>
                <a:ea typeface="Calibri" pitchFamily="34" charset="-122"/>
                <a:cs typeface="Calibri" pitchFamily="34" charset="-120"/>
              </a:rPr>
              <a:t>I can describe changes and limitations in the social and economic status of women during this era, including flappers, birth control, clerical and office jobs, and the rise of women's colleges.</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106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lstStyle/>
          <a:p>
            <a:endParaRPr lang="en-US"/>
          </a:p>
        </p:txBody>
      </p:sp>
      <p:sp>
        <p:nvSpPr>
          <p:cNvPr id="7" name="Shape 5"/>
          <p:cNvSpPr/>
          <p:nvPr/>
        </p:nvSpPr>
        <p:spPr>
          <a:xfrm>
            <a:off x="548640" y="2057400"/>
            <a:ext cx="777240" cy="1234440"/>
          </a:xfrm>
          <a:prstGeom prst="rect">
            <a:avLst/>
          </a:prstGeom>
          <a:solidFill>
            <a:srgbClr val="1A2332"/>
          </a:solidFill>
          <a:ln/>
        </p:spPr>
        <p:txBody>
          <a:bodyPr/>
          <a:lstStyle/>
          <a:p>
            <a:endParaRPr lang="en-US"/>
          </a:p>
        </p:txBody>
      </p:sp>
      <p:sp>
        <p:nvSpPr>
          <p:cNvPr id="8" name="Text 6"/>
          <p:cNvSpPr/>
          <p:nvPr/>
        </p:nvSpPr>
        <p:spPr>
          <a:xfrm>
            <a:off x="548640" y="2057400"/>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US.33  </a:t>
            </a:r>
            <a:r>
              <a:rPr lang="en-US" sz="1350" dirty="0">
                <a:solidFill>
                  <a:srgbClr val="1F2430"/>
                </a:solidFill>
                <a:latin typeface="Calibri" pitchFamily="34" charset="0"/>
                <a:ea typeface="Calibri" pitchFamily="34" charset="-122"/>
                <a:cs typeface="Calibri" pitchFamily="34" charset="-120"/>
              </a:rPr>
              <a:t>What was the Harlem Renaissance?</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lstStyle/>
          <a:p>
            <a:endParaRPr lang="en-US"/>
          </a:p>
        </p:txBody>
      </p:sp>
      <p:sp>
        <p:nvSpPr>
          <p:cNvPr id="11" name="Shape 9"/>
          <p:cNvSpPr/>
          <p:nvPr/>
        </p:nvSpPr>
        <p:spPr>
          <a:xfrm>
            <a:off x="548640" y="3456432"/>
            <a:ext cx="777240" cy="1234440"/>
          </a:xfrm>
          <a:prstGeom prst="rect">
            <a:avLst/>
          </a:prstGeom>
          <a:solidFill>
            <a:srgbClr val="1A2332"/>
          </a:solidFill>
          <a:ln/>
        </p:spPr>
        <p:txBody>
          <a:bodyPr/>
          <a:lstStyle/>
          <a:p>
            <a:endParaRPr lang="en-US"/>
          </a:p>
        </p:txBody>
      </p:sp>
      <p:sp>
        <p:nvSpPr>
          <p:cNvPr id="12" name="Text 10"/>
          <p:cNvSpPr/>
          <p:nvPr/>
        </p:nvSpPr>
        <p:spPr>
          <a:xfrm>
            <a:off x="548640" y="3456432"/>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US.33  </a:t>
            </a:r>
            <a:r>
              <a:rPr lang="en-US" sz="1350" dirty="0">
                <a:solidFill>
                  <a:srgbClr val="1F2430"/>
                </a:solidFill>
                <a:latin typeface="Calibri" pitchFamily="34" charset="0"/>
                <a:ea typeface="Calibri" pitchFamily="34" charset="-122"/>
                <a:cs typeface="Calibri" pitchFamily="34" charset="-120"/>
              </a:rPr>
              <a:t>Name two major figures of the Harlem Renaissance.</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107</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lstStyle/>
          <a:p>
            <a:endParaRPr lang="en-US"/>
          </a:p>
        </p:txBody>
      </p:sp>
      <p:sp>
        <p:nvSpPr>
          <p:cNvPr id="6" name="Text 4"/>
          <p:cNvSpPr/>
          <p:nvPr/>
        </p:nvSpPr>
        <p:spPr>
          <a:xfrm>
            <a:off x="8686800" y="786384"/>
            <a:ext cx="1143000" cy="457200"/>
          </a:xfrm>
          <a:prstGeom prst="rect">
            <a:avLst/>
          </a:prstGeom>
          <a:noFill/>
          <a:ln/>
        </p:spPr>
        <p:txBody>
          <a:bodyPr wrap="square" rtlCol="0" anchor="ctr"/>
          <a:lstStyle/>
          <a:p>
            <a:pPr marL="0" indent="0" algn="ctr">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lstStyle/>
          <a:p>
            <a:endParaRPr lang="en-US"/>
          </a:p>
        </p:txBody>
      </p:sp>
      <p:sp>
        <p:nvSpPr>
          <p:cNvPr id="8" name="Text 6"/>
          <p:cNvSpPr/>
          <p:nvPr/>
        </p:nvSpPr>
        <p:spPr>
          <a:xfrm>
            <a:off x="9966960" y="786384"/>
            <a:ext cx="164592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lstStyle/>
          <a:p>
            <a:endParaRPr lang="en-US"/>
          </a:p>
        </p:txBody>
      </p:sp>
      <p:sp>
        <p:nvSpPr>
          <p:cNvPr id="11" name="Text 9"/>
          <p:cNvSpPr/>
          <p:nvPr/>
        </p:nvSpPr>
        <p:spPr>
          <a:xfrm>
            <a:off x="1005840" y="2194560"/>
            <a:ext cx="10149840" cy="1417320"/>
          </a:xfrm>
          <a:prstGeom prst="rect">
            <a:avLst/>
          </a:prstGeom>
          <a:noFill/>
          <a:ln/>
        </p:spPr>
        <p:txBody>
          <a:bodyPr wrap="square" rtlCol="0" anchor="ctr"/>
          <a:lstStyle/>
          <a:p>
            <a:pPr marL="0" indent="0" algn="ctr">
              <a:lnSpc>
                <a:spcPct val="108000"/>
              </a:lnSpc>
              <a:buNone/>
            </a:pPr>
            <a:r>
              <a:rPr lang="en-US" sz="2400" b="1" dirty="0">
                <a:solidFill>
                  <a:srgbClr val="FFFFFF"/>
                </a:solidFill>
                <a:latin typeface="Georgia" pitchFamily="34" charset="0"/>
                <a:ea typeface="Georgia" pitchFamily="34" charset="-122"/>
                <a:cs typeface="Georgia" pitchFamily="34" charset="-120"/>
              </a:rPr>
              <a:t>Who were the flappers?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lstStyle/>
          <a:p>
            <a:endParaRPr lang="en-US"/>
          </a:p>
        </p:txBody>
      </p:sp>
      <p:sp>
        <p:nvSpPr>
          <p:cNvPr id="13" name="Text 11"/>
          <p:cNvSpPr/>
          <p:nvPr/>
        </p:nvSpPr>
        <p:spPr>
          <a:xfrm>
            <a:off x="914400" y="4224528"/>
            <a:ext cx="2743200" cy="320040"/>
          </a:xfrm>
          <a:prstGeom prst="rect">
            <a:avLst/>
          </a:prstGeom>
          <a:noFill/>
          <a:ln/>
        </p:spPr>
        <p:txBody>
          <a:bodyPr wrap="square" rtlCol="0" anchor="ctr"/>
          <a:lstStyle/>
          <a:p>
            <a:pPr marL="0" indent="0">
              <a:buNone/>
            </a:pPr>
            <a:r>
              <a:rPr lang="en-US" sz="1200" b="1" kern="0" spc="20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marL="0" indent="0">
              <a:lnSpc>
                <a:spcPct val="108000"/>
              </a:lnSpc>
              <a:buNone/>
            </a:pPr>
            <a:r>
              <a:rPr lang="en-US" sz="1600" dirty="0">
                <a:solidFill>
                  <a:srgbClr val="1F2430"/>
                </a:solidFill>
                <a:latin typeface="Calibri" pitchFamily="34" charset="0"/>
                <a:ea typeface="Calibri" pitchFamily="34" charset="-122"/>
                <a:cs typeface="Calibri" pitchFamily="34" charset="-120"/>
              </a:rPr>
              <a:t>Young women of the 1920s who broke with tradition through new fashion, behavior, and independence.</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lstStyle/>
          <a:p>
            <a:endParaRPr lang="en-US"/>
          </a:p>
        </p:txBody>
      </p:sp>
      <p:sp>
        <p:nvSpPr>
          <p:cNvPr id="16" name="Text 14"/>
          <p:cNvSpPr/>
          <p:nvPr/>
        </p:nvSpPr>
        <p:spPr>
          <a:xfrm>
            <a:off x="822960" y="5623560"/>
            <a:ext cx="10515600" cy="457200"/>
          </a:xfrm>
          <a:prstGeom prst="rect">
            <a:avLst/>
          </a:prstGeom>
          <a:noFill/>
          <a:ln/>
        </p:spPr>
        <p:txBody>
          <a:bodyPr wrap="square" rtlCol="0" anchor="ctr"/>
          <a:lstStyle/>
          <a:p>
            <a:pPr marL="0" indent="0">
              <a:buNone/>
            </a:pPr>
            <a:r>
              <a:rPr lang="en-US" sz="1150" b="1" i="1" kern="0" spc="100" dirty="0">
                <a:solidFill>
                  <a:srgbClr val="C62828"/>
                </a:solidFill>
                <a:latin typeface="Trebuchet MS" pitchFamily="34" charset="0"/>
                <a:ea typeface="Trebuchet MS" pitchFamily="34" charset="-122"/>
                <a:cs typeface="Trebuchet MS" pitchFamily="34" charset="-120"/>
              </a:rPr>
              <a:t>COMMIT FIRST:  </a:t>
            </a: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108</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lstStyle/>
          <a:p>
            <a:endParaRPr lang="en-US"/>
          </a:p>
        </p:txBody>
      </p:sp>
      <p:sp>
        <p:nvSpPr>
          <p:cNvPr id="6" name="Text 4"/>
          <p:cNvSpPr/>
          <p:nvPr/>
        </p:nvSpPr>
        <p:spPr>
          <a:xfrm>
            <a:off x="1005840" y="1965960"/>
            <a:ext cx="10149840" cy="1645920"/>
          </a:xfrm>
          <a:prstGeom prst="rect">
            <a:avLst/>
          </a:prstGeom>
          <a:noFill/>
          <a:ln/>
        </p:spPr>
        <p:txBody>
          <a:bodyPr wrap="square" rtlCol="0" anchor="ctr"/>
          <a:lstStyle/>
          <a:p>
            <a:pPr marL="0" indent="0">
              <a:lnSpc>
                <a:spcPct val="108000"/>
              </a:lnSpc>
              <a:buNone/>
            </a:pPr>
            <a:r>
              <a:rPr lang="en-US" sz="2600" i="1" dirty="0">
                <a:solidFill>
                  <a:srgbClr val="FFFFFF"/>
                </a:solidFill>
                <a:latin typeface="Georgia" pitchFamily="34" charset="0"/>
                <a:ea typeface="Georgia" pitchFamily="34" charset="-122"/>
                <a:cs typeface="Georgia" pitchFamily="34" charset="-120"/>
              </a:rPr>
              <a:t>In the 1920s a new kind of young woman, the 'flapper,' bobbed her hair, raised her hemline, danced the Charleston, and voted for the first time, shocking her parents and redefining what a woman could be.</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lstStyle/>
          <a:p>
            <a:endParaRPr lang="en-US"/>
          </a:p>
        </p:txBody>
      </p:sp>
      <p:sp>
        <p:nvSpPr>
          <p:cNvPr id="8" name="Text 6"/>
          <p:cNvSpPr/>
          <p:nvPr/>
        </p:nvSpPr>
        <p:spPr>
          <a:xfrm>
            <a:off x="914400" y="4297680"/>
            <a:ext cx="2743200" cy="320040"/>
          </a:xfrm>
          <a:prstGeom prst="rect">
            <a:avLst/>
          </a:prstGeom>
          <a:noFill/>
          <a:ln/>
        </p:spPr>
        <p:txBody>
          <a:bodyPr wrap="square" rtlCol="0" anchor="ctr"/>
          <a:lstStyle/>
          <a:p>
            <a:pPr marL="0" indent="0">
              <a:buNone/>
            </a:pPr>
            <a:r>
              <a:rPr lang="en-US" sz="1300" b="1" kern="0" spc="20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lstStyle/>
          <a:p>
            <a:endParaRPr lang="en-US"/>
          </a:p>
        </p:txBody>
      </p:sp>
      <p:sp>
        <p:nvSpPr>
          <p:cNvPr id="10" name="Text 8"/>
          <p:cNvSpPr/>
          <p:nvPr/>
        </p:nvSpPr>
        <p:spPr>
          <a:xfrm>
            <a:off x="7772400" y="4224528"/>
            <a:ext cx="3657600" cy="45720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marL="0" indent="0">
              <a:lnSpc>
                <a:spcPct val="110000"/>
              </a:lnSpc>
              <a:buNone/>
            </a:pPr>
            <a:r>
              <a:rPr lang="en-US" sz="1600" dirty="0">
                <a:solidFill>
                  <a:srgbClr val="1F2430"/>
                </a:solidFill>
                <a:latin typeface="Calibri" pitchFamily="34" charset="0"/>
                <a:ea typeface="Calibri" pitchFamily="34" charset="-122"/>
                <a:cs typeface="Calibri" pitchFamily="34" charset="-120"/>
              </a:rPr>
              <a:t>How much did life really change for American women in the 1920s, and how much stayed exactly the same?</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109</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Flappers and Cultural Significance</a:t>
            </a:r>
            <a:endParaRPr lang="en-US" sz="3000" dirty="0"/>
          </a:p>
        </p:txBody>
      </p:sp>
      <p:sp>
        <p:nvSpPr>
          <p:cNvPr id="5" name="Shape 3"/>
          <p:cNvSpPr/>
          <p:nvPr/>
        </p:nvSpPr>
        <p:spPr>
          <a:xfrm>
            <a:off x="10180015" y="502920"/>
            <a:ext cx="146304" cy="146304"/>
          </a:xfrm>
          <a:prstGeom prst="ellipse">
            <a:avLst/>
          </a:prstGeom>
          <a:solidFill>
            <a:srgbClr val="C62828"/>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2340864"/>
          </a:xfrm>
          <a:prstGeom prst="rect">
            <a:avLst/>
          </a:prstGeom>
          <a:noFill/>
          <a:ln/>
        </p:spPr>
        <p:txBody>
          <a:bodyPr wrap="square" rtlCol="0" anchor="t">
            <a:normAutofit fontScale="92500" lnSpcReduction="10000"/>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Flappers were young, modern women who rejected Victorian values.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Their characteristics included short "bob" haircuts, short skirts, makeup, and fashionable clothing.</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They smoked, drank, danced, dated unchaperoned, and spoke frankly about sexuality.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Flappers emphasized individual choice over family duty, exercised newly won voting rights, and became targets of advertising.</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They sparked debates about morality and family values.</a:t>
            </a:r>
            <a:endParaRPr lang="en-US" sz="1550" dirty="0"/>
          </a:p>
        </p:txBody>
      </p:sp>
      <p:sp>
        <p:nvSpPr>
          <p:cNvPr id="13" name="Shape 11"/>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lstStyle/>
          <a:p>
            <a:endParaRPr lang="en-US"/>
          </a:p>
        </p:txBody>
      </p:sp>
      <p:sp>
        <p:nvSpPr>
          <p:cNvPr id="14" name="Text 12"/>
          <p:cNvSpPr/>
          <p:nvPr/>
        </p:nvSpPr>
        <p:spPr>
          <a:xfrm>
            <a:off x="1024128" y="4681728"/>
            <a:ext cx="5852160" cy="237744"/>
          </a:xfrm>
          <a:prstGeom prst="rect">
            <a:avLst/>
          </a:prstGeom>
          <a:noFill/>
          <a:ln/>
        </p:spPr>
        <p:txBody>
          <a:bodyPr wrap="square" rtlCol="0" anchor="ctr"/>
          <a:lstStyle/>
          <a:p>
            <a:pPr marL="0" indent="0">
              <a:buNone/>
            </a:pPr>
            <a:r>
              <a:rPr lang="en-US" sz="900" b="1" kern="0" spc="100" dirty="0">
                <a:solidFill>
                  <a:srgbClr val="002858"/>
                </a:solidFill>
                <a:latin typeface="Trebuchet MS" pitchFamily="34" charset="0"/>
                <a:ea typeface="Trebuchet MS" pitchFamily="34" charset="-122"/>
                <a:cs typeface="Trebuchet MS" pitchFamily="34" charset="-120"/>
              </a:rPr>
              <a:t>SENTENCE FRAME  </a:t>
            </a:r>
            <a:r>
              <a:rPr lang="en-US" sz="850" i="1" dirty="0">
                <a:solidFill>
                  <a:srgbClr val="5C6470"/>
                </a:solidFill>
              </a:rPr>
              <a:t>(EL &amp; writing support)  </a:t>
            </a:r>
            <a:endParaRPr lang="en-US" sz="900" dirty="0"/>
          </a:p>
        </p:txBody>
      </p:sp>
      <p:sp>
        <p:nvSpPr>
          <p:cNvPr id="15" name="Text 13"/>
          <p:cNvSpPr/>
          <p:nvPr/>
        </p:nvSpPr>
        <p:spPr>
          <a:xfrm>
            <a:off x="1024128" y="4937760"/>
            <a:ext cx="6309360" cy="658368"/>
          </a:xfrm>
          <a:prstGeom prst="rect">
            <a:avLst/>
          </a:prstGeom>
          <a:noFill/>
          <a:ln/>
        </p:spPr>
        <p:txBody>
          <a:bodyPr wrap="square" rtlCol="0" anchor="t"/>
          <a:lstStyle/>
          <a:p>
            <a:pPr marL="0" indent="0">
              <a:lnSpc>
                <a:spcPct val="104000"/>
              </a:lnSpc>
              <a:buNone/>
            </a:pPr>
            <a:r>
              <a:rPr lang="en-US" sz="1050" i="1" dirty="0">
                <a:solidFill>
                  <a:srgbClr val="1F2430"/>
                </a:solidFill>
                <a:latin typeface="Calibri" pitchFamily="34" charset="0"/>
                <a:ea typeface="Calibri" pitchFamily="34" charset="-122"/>
                <a:cs typeface="Calibri" pitchFamily="34" charset="-120"/>
              </a:rPr>
              <a:t>Women's lives changed in the 1920s when ________, but stayed the same because ________.</a:t>
            </a:r>
            <a:endParaRPr lang="en-US" sz="1050" dirty="0"/>
          </a:p>
        </p:txBody>
      </p:sp>
      <p:sp>
        <p:nvSpPr>
          <p:cNvPr id="16" name="Shape 14"/>
          <p:cNvSpPr/>
          <p:nvPr/>
        </p:nvSpPr>
        <p:spPr>
          <a:xfrm>
            <a:off x="7552944" y="1746504"/>
            <a:ext cx="4142232" cy="2935224"/>
          </a:xfrm>
          <a:prstGeom prst="rect">
            <a:avLst/>
          </a:prstGeom>
          <a:solidFill>
            <a:srgbClr val="FFFFFF"/>
          </a:solidFill>
          <a:ln w="12700">
            <a:solidFill>
              <a:srgbClr val="DAD3C2"/>
            </a:solidFill>
            <a:prstDash val="solid"/>
          </a:ln>
        </p:spPr>
        <p:txBody>
          <a:bodyPr/>
          <a:lstStyle/>
          <a:p>
            <a:endParaRPr lang="en-US"/>
          </a:p>
        </p:txBody>
      </p:sp>
      <p:pic>
        <p:nvPicPr>
          <p:cNvPr id="17" name="Image 0" descr="unit4-full/img/flapper-1920s.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883563" y="1783080"/>
            <a:ext cx="1480995" cy="2862072"/>
          </a:xfrm>
          <a:prstGeom prst="rect">
            <a:avLst/>
          </a:prstGeom>
        </p:spPr>
      </p:pic>
      <p:sp>
        <p:nvSpPr>
          <p:cNvPr id="18" name="Text 15"/>
          <p:cNvSpPr/>
          <p:nvPr/>
        </p:nvSpPr>
        <p:spPr>
          <a:xfrm>
            <a:off x="7589520" y="470001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Turner, C. W., photographer, c1922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800" dirty="0"/>
          </a:p>
        </p:txBody>
      </p:sp>
      <p:sp>
        <p:nvSpPr>
          <p:cNvPr id="19" name="Shape 16"/>
          <p:cNvSpPr/>
          <p:nvPr/>
        </p:nvSpPr>
        <p:spPr>
          <a:xfrm>
            <a:off x="7589520" y="5440680"/>
            <a:ext cx="4069080" cy="713232"/>
          </a:xfrm>
          <a:prstGeom prst="roundRect">
            <a:avLst>
              <a:gd name="adj" fmla="val 7692"/>
            </a:avLst>
          </a:prstGeom>
          <a:solidFill>
            <a:srgbClr val="1A2332"/>
          </a:solidFill>
          <a:ln/>
        </p:spPr>
        <p:txBody>
          <a:bodyPr/>
          <a:lstStyle/>
          <a:p>
            <a:endParaRPr lang="en-US"/>
          </a:p>
        </p:txBody>
      </p:sp>
      <p:sp>
        <p:nvSpPr>
          <p:cNvPr id="20" name="Text 17"/>
          <p:cNvSpPr/>
          <p:nvPr/>
        </p:nvSpPr>
        <p:spPr>
          <a:xfrm>
            <a:off x="7772400" y="5477256"/>
            <a:ext cx="3703320" cy="640080"/>
          </a:xfrm>
          <a:prstGeom prst="rect">
            <a:avLst/>
          </a:prstGeom>
          <a:noFill/>
          <a:ln/>
        </p:spPr>
        <p:txBody>
          <a:bodyPr wrap="square" rtlCol="0" anchor="ctr"/>
          <a:lstStyle/>
          <a:p>
            <a:pPr marL="0" indent="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2" name="Text 1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3" name="Text 1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110</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Birth Control and Reproductive Rights</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C62828"/>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Margaret Sanger founded the American Birth Control League (predecessor to Planned Parenthood), opened the first birth control clinic in Brooklyn (1916), and was arrested multiple times for distributing contraceptive information.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Average family size decreased from 7 children (1800) to 3 children (1930).</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Birth control gave women more control over their bodies, improved maternal health, and allowed women to pursue education and careers.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111</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Clerical and Office Jobs</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C62828"/>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service economy created millions of clerical positions.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Women in clerical work increased from 75,000 (1900) to 1.4 million (1930).</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Jobs included secretaries, stenographers, typists, telephone operators, and bookkeepers.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Office work paid better than factory or domestic work and offered cleaner, safer conditions.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However, women faced lower pay than men, limited advancement, and "marriage bars" requiring women to quit when they married.</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112</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Rise of Women's Colleges</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C62828"/>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Seven Sisters and other women's colleges provided education equivalent to men's institutions.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Programs prepared women for teaching, nursing, social work, and business careers.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Female professors served as role models, and alumni networks helped graduates find employment.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Women's colleges challenged assumptions about female intellectual capabilities and produced leaders in progressive reform movements.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113</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Limitations and Contradictions</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C62828"/>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Despite changes, most women remained in traditional roles.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 "glass ceiling" limited advancement to executive positions.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Pay inequality persisted with women earning significantly less for similar work.</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Flapper culture was primarily urban and middle-class.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Conservative backlash criticized modern women as immoral.</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Most professional schools still excluded women, and marriage often ended careers.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114</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27632"/>
            <a:ext cx="5394960" cy="868680"/>
          </a:xfrm>
          <a:prstGeom prst="rect">
            <a:avLst/>
          </a:prstGeom>
          <a:solidFill>
            <a:srgbClr val="1A2332"/>
          </a:solidFill>
          <a:ln/>
        </p:spPr>
        <p:txBody>
          <a:bodyPr/>
          <a:lstStyle/>
          <a:p>
            <a:endParaRPr lang="en-US"/>
          </a:p>
        </p:txBody>
      </p:sp>
      <p:sp>
        <p:nvSpPr>
          <p:cNvPr id="7" name="Text 5"/>
          <p:cNvSpPr/>
          <p:nvPr/>
        </p:nvSpPr>
        <p:spPr>
          <a:xfrm>
            <a:off x="667512" y="1627632"/>
            <a:ext cx="5157216" cy="63093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The Flapper</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Symbol of the 'New Woman'</a:t>
            </a:r>
            <a:endParaRPr lang="en-US" sz="1100" dirty="0"/>
          </a:p>
        </p:txBody>
      </p:sp>
      <p:sp>
        <p:nvSpPr>
          <p:cNvPr id="9" name="Shape 7"/>
          <p:cNvSpPr/>
          <p:nvPr/>
        </p:nvSpPr>
        <p:spPr>
          <a:xfrm>
            <a:off x="667512" y="2578608"/>
            <a:ext cx="1171524" cy="2212848"/>
          </a:xfrm>
          <a:prstGeom prst="rect">
            <a:avLst/>
          </a:prstGeom>
          <a:solidFill>
            <a:srgbClr val="FFFFFF"/>
          </a:solidFill>
          <a:ln w="12700">
            <a:solidFill>
              <a:srgbClr val="DAD3C2"/>
            </a:solidFill>
            <a:prstDash val="solid"/>
          </a:ln>
        </p:spPr>
        <p:txBody>
          <a:bodyPr/>
          <a:lstStyle/>
          <a:p>
            <a:endParaRPr lang="en-US"/>
          </a:p>
        </p:txBody>
      </p:sp>
      <p:pic>
        <p:nvPicPr>
          <p:cNvPr id="10" name="Image 0" descr="unit4-full/img/flapper-1920s.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94944" y="2606040"/>
            <a:ext cx="1116660" cy="2157984"/>
          </a:xfrm>
          <a:prstGeom prst="rect">
            <a:avLst/>
          </a:prstGeom>
        </p:spPr>
      </p:pic>
      <p:sp>
        <p:nvSpPr>
          <p:cNvPr id="11" name="Text 8"/>
          <p:cNvSpPr/>
          <p:nvPr/>
        </p:nvSpPr>
        <p:spPr>
          <a:xfrm>
            <a:off x="694944" y="4800600"/>
            <a:ext cx="1619580"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Turner, C. W., photographer, c1922  </a:t>
            </a:r>
            <a:r>
              <a:rPr lang="en-US" sz="6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600" dirty="0"/>
          </a:p>
        </p:txBody>
      </p:sp>
      <p:sp>
        <p:nvSpPr>
          <p:cNvPr id="12" name="Text 9"/>
          <p:cNvSpPr/>
          <p:nvPr/>
        </p:nvSpPr>
        <p:spPr>
          <a:xfrm>
            <a:off x="1994484" y="2606040"/>
            <a:ext cx="3802812"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Bobbed hair, short skirts, and public independence</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Challenged Victorian rules for women</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Became the media image of 1920s youth culture</a:t>
            </a:r>
            <a:endParaRPr lang="en-US" sz="1300" dirty="0"/>
          </a:p>
        </p:txBody>
      </p:sp>
      <p:sp>
        <p:nvSpPr>
          <p:cNvPr id="13" name="Shape 10"/>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14" name="Text 11"/>
          <p:cNvSpPr/>
          <p:nvPr/>
        </p:nvSpPr>
        <p:spPr>
          <a:xfrm>
            <a:off x="749808" y="5175504"/>
            <a:ext cx="501091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Have students separate the media image of the flapper from the real, limited gains for most women.</a:t>
            </a:r>
            <a:endParaRPr lang="en-US" sz="800" dirty="0"/>
          </a:p>
        </p:txBody>
      </p:sp>
      <p:sp>
        <p:nvSpPr>
          <p:cNvPr id="15" name="Shape 12"/>
          <p:cNvSpPr/>
          <p:nvPr/>
        </p:nvSpPr>
        <p:spPr>
          <a:xfrm>
            <a:off x="6217920" y="1627632"/>
            <a:ext cx="5394960" cy="4114800"/>
          </a:xfrm>
          <a:prstGeom prst="rect">
            <a:avLst/>
          </a:prstGeom>
          <a:solidFill>
            <a:srgbClr val="FFFFFF"/>
          </a:solidFill>
          <a:ln w="12700">
            <a:solidFill>
              <a:srgbClr val="DAD3C2"/>
            </a:solidFill>
            <a:prstDash val="solid"/>
          </a:ln>
        </p:spPr>
        <p:txBody>
          <a:bodyPr/>
          <a:lstStyle/>
          <a:p>
            <a:endParaRPr lang="en-US"/>
          </a:p>
        </p:txBody>
      </p:sp>
      <p:sp>
        <p:nvSpPr>
          <p:cNvPr id="16" name="Shape 13"/>
          <p:cNvSpPr/>
          <p:nvPr/>
        </p:nvSpPr>
        <p:spPr>
          <a:xfrm>
            <a:off x="6217920" y="1627632"/>
            <a:ext cx="5394960" cy="868680"/>
          </a:xfrm>
          <a:prstGeom prst="rect">
            <a:avLst/>
          </a:prstGeom>
          <a:solidFill>
            <a:srgbClr val="1A2332"/>
          </a:solidFill>
          <a:ln/>
        </p:spPr>
        <p:txBody>
          <a:bodyPr/>
          <a:lstStyle/>
          <a:p>
            <a:endParaRPr lang="en-US"/>
          </a:p>
        </p:txBody>
      </p:sp>
      <p:sp>
        <p:nvSpPr>
          <p:cNvPr id="17" name="Text 14"/>
          <p:cNvSpPr/>
          <p:nvPr/>
        </p:nvSpPr>
        <p:spPr>
          <a:xfrm>
            <a:off x="6336792" y="1627632"/>
            <a:ext cx="5157216" cy="63093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Margaret Sanger</a:t>
            </a:r>
            <a:endParaRPr lang="en-US" sz="1800" dirty="0"/>
          </a:p>
        </p:txBody>
      </p:sp>
      <p:sp>
        <p:nvSpPr>
          <p:cNvPr id="18" name="Text 15"/>
          <p:cNvSpPr/>
          <p:nvPr/>
        </p:nvSpPr>
        <p:spPr>
          <a:xfrm>
            <a:off x="6336792" y="2221992"/>
            <a:ext cx="515721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Birth-control activist</a:t>
            </a:r>
            <a:endParaRPr lang="en-US" sz="1100" dirty="0"/>
          </a:p>
        </p:txBody>
      </p:sp>
      <p:sp>
        <p:nvSpPr>
          <p:cNvPr id="19" name="Shape 16"/>
          <p:cNvSpPr/>
          <p:nvPr/>
        </p:nvSpPr>
        <p:spPr>
          <a:xfrm>
            <a:off x="6336792" y="2578608"/>
            <a:ext cx="1755527" cy="2212848"/>
          </a:xfrm>
          <a:prstGeom prst="rect">
            <a:avLst/>
          </a:prstGeom>
          <a:solidFill>
            <a:srgbClr val="FFFFFF"/>
          </a:solidFill>
          <a:ln w="12700">
            <a:solidFill>
              <a:srgbClr val="DAD3C2"/>
            </a:solidFill>
            <a:prstDash val="solid"/>
          </a:ln>
        </p:spPr>
        <p:txBody>
          <a:bodyPr/>
          <a:lstStyle/>
          <a:p>
            <a:endParaRPr lang="en-US"/>
          </a:p>
        </p:txBody>
      </p:sp>
      <p:pic>
        <p:nvPicPr>
          <p:cNvPr id="20" name="Image 1" descr="unit4-full/img/margaret-sanger.jpg"/>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364224" y="2606040"/>
            <a:ext cx="1700663" cy="2157984"/>
          </a:xfrm>
          <a:prstGeom prst="rect">
            <a:avLst/>
          </a:prstGeom>
        </p:spPr>
      </p:pic>
      <p:sp>
        <p:nvSpPr>
          <p:cNvPr id="21" name="Text 17"/>
          <p:cNvSpPr/>
          <p:nvPr/>
        </p:nvSpPr>
        <p:spPr>
          <a:xfrm>
            <a:off x="6364224" y="4800600"/>
            <a:ext cx="2203583"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Underwood &amp; Underwood, c1922  </a:t>
            </a:r>
            <a:r>
              <a:rPr lang="en-US" sz="600" i="1" u="sng" dirty="0">
                <a:solidFill>
                  <a:srgbClr val="002858"/>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Library of Congress</a:t>
            </a:r>
            <a:endParaRPr lang="en-US" sz="600" dirty="0"/>
          </a:p>
        </p:txBody>
      </p:sp>
      <p:sp>
        <p:nvSpPr>
          <p:cNvPr id="22" name="Text 18"/>
          <p:cNvSpPr/>
          <p:nvPr/>
        </p:nvSpPr>
        <p:spPr>
          <a:xfrm>
            <a:off x="8247767" y="2606040"/>
            <a:ext cx="3218809"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the movement to legalize contraception</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birth-control clinics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Framed reproductive choice as a women's-rights issue</a:t>
            </a:r>
            <a:endParaRPr lang="en-US" sz="1300" dirty="0"/>
          </a:p>
        </p:txBody>
      </p:sp>
      <p:sp>
        <p:nvSpPr>
          <p:cNvPr id="23" name="Shape 19"/>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24" name="Text 20"/>
          <p:cNvSpPr/>
          <p:nvPr/>
        </p:nvSpPr>
        <p:spPr>
          <a:xfrm>
            <a:off x="6419088" y="5175504"/>
            <a:ext cx="501091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Use Sanger to show that 1920s change for women was contested and legally risky, not simply granted.</a:t>
            </a:r>
            <a:endParaRPr lang="en-US" sz="800" dirty="0"/>
          </a:p>
        </p:txBody>
      </p:sp>
      <p:sp>
        <p:nvSpPr>
          <p:cNvPr id="25"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6"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115</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002858"/>
                </a:solidFill>
                <a:latin typeface="Trebuchet MS" pitchFamily="34" charset="0"/>
                <a:ea typeface="Trebuchet MS" pitchFamily="34" charset="-122"/>
                <a:cs typeface="Trebuchet MS" pitchFamily="34" charset="-120"/>
              </a:rPr>
              <a:t>US.34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marL="0" indent="0">
              <a:buNone/>
            </a:pPr>
            <a:r>
              <a:rPr lang="en-US" sz="2500" b="1" dirty="0">
                <a:solidFill>
                  <a:srgbClr val="1A2332"/>
                </a:solidFill>
                <a:latin typeface="Georgia" pitchFamily="34" charset="0"/>
                <a:ea typeface="Georgia" pitchFamily="34" charset="-122"/>
                <a:cs typeface="Georgia" pitchFamily="34" charset="-120"/>
              </a:rPr>
              <a:t>Margaret Sanger on Birth Control</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lstStyle/>
          <a:p>
            <a:endParaRPr lang="en-US"/>
          </a:p>
        </p:txBody>
      </p:sp>
      <p:sp>
        <p:nvSpPr>
          <p:cNvPr id="6" name="Text 4"/>
          <p:cNvSpPr/>
          <p:nvPr/>
        </p:nvSpPr>
        <p:spPr>
          <a:xfrm>
            <a:off x="9418320" y="777240"/>
            <a:ext cx="219456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Sourcing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Margaret Sanger  ·  1920</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txBody>
          <a:bodyPr/>
          <a:lstStyle/>
          <a:p>
            <a:endParaRPr lang="en-US"/>
          </a:p>
        </p:txBody>
      </p:sp>
      <p:pic>
        <p:nvPicPr>
          <p:cNvPr id="9" name="Image 0" descr="unit4-full/img/margaret-sanger.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50781" y="1737360"/>
            <a:ext cx="1996117" cy="2532888"/>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marL="0" indent="0" algn="l">
              <a:lnSpc>
                <a:spcPct val="100000"/>
              </a:lnSpc>
              <a:buNone/>
            </a:pPr>
            <a:r>
              <a:rPr lang="en-US" sz="700" i="1" dirty="0">
                <a:solidFill>
                  <a:srgbClr val="5C6470"/>
                </a:solidFill>
                <a:latin typeface="Calibri" pitchFamily="34" charset="0"/>
                <a:ea typeface="Calibri" pitchFamily="34" charset="-122"/>
                <a:cs typeface="Calibri" pitchFamily="34" charset="-120"/>
              </a:rPr>
              <a:t>Underwood &amp; Underwood, c1922  </a:t>
            </a:r>
            <a:r>
              <a:rPr lang="en-US" sz="7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lstStyle/>
          <a:p>
            <a:endParaRPr lang="en-US"/>
          </a:p>
        </p:txBody>
      </p:sp>
      <p:sp>
        <p:nvSpPr>
          <p:cNvPr id="12" name="Text 9"/>
          <p:cNvSpPr/>
          <p:nvPr/>
        </p:nvSpPr>
        <p:spPr>
          <a:xfrm>
            <a:off x="768096" y="1865376"/>
            <a:ext cx="2761488" cy="438912"/>
          </a:xfrm>
          <a:prstGeom prst="rect">
            <a:avLst/>
          </a:prstGeom>
          <a:noFill/>
          <a:ln/>
        </p:spPr>
        <p:txBody>
          <a:bodyPr wrap="square" rtlCol="0" anchor="ctr"/>
          <a:lstStyle/>
          <a:p>
            <a:pPr marL="0" indent="0">
              <a:lnSpc>
                <a:spcPct val="95000"/>
              </a:lnSpc>
              <a:buNone/>
            </a:pPr>
            <a:r>
              <a:rPr lang="en-US" sz="950" b="1" kern="0" spc="150" dirty="0">
                <a:solidFill>
                  <a:srgbClr val="1A2332"/>
                </a:solidFill>
                <a:latin typeface="Trebuchet MS" pitchFamily="34" charset="0"/>
                <a:ea typeface="Trebuchet MS" pitchFamily="34" charset="-122"/>
                <a:cs typeface="Trebuchet MS" pitchFamily="34" charset="-120"/>
              </a:rPr>
              <a:t>ZOOM IN  </a:t>
            </a: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lstStyle/>
          <a:p>
            <a:endParaRPr lang="en-US"/>
          </a:p>
        </p:txBody>
      </p:sp>
      <p:sp>
        <p:nvSpPr>
          <p:cNvPr id="14" name="Shape 11"/>
          <p:cNvSpPr/>
          <p:nvPr/>
        </p:nvSpPr>
        <p:spPr>
          <a:xfrm>
            <a:off x="3931920" y="1737360"/>
            <a:ext cx="91440" cy="3246120"/>
          </a:xfrm>
          <a:prstGeom prst="rect">
            <a:avLst/>
          </a:prstGeom>
          <a:solidFill>
            <a:srgbClr val="C9A84C"/>
          </a:solidFill>
          <a:ln/>
        </p:spPr>
        <p:txBody>
          <a:bodyPr/>
          <a:lstStyle/>
          <a:p>
            <a:endParaRPr lang="en-US"/>
          </a:p>
        </p:txBody>
      </p:sp>
      <p:sp>
        <p:nvSpPr>
          <p:cNvPr id="15" name="Text 12"/>
          <p:cNvSpPr/>
          <p:nvPr/>
        </p:nvSpPr>
        <p:spPr>
          <a:xfrm>
            <a:off x="4160520" y="1920240"/>
            <a:ext cx="3200400" cy="2880360"/>
          </a:xfrm>
          <a:prstGeom prst="rect">
            <a:avLst/>
          </a:prstGeom>
          <a:noFill/>
          <a:ln/>
        </p:spPr>
        <p:txBody>
          <a:bodyPr wrap="square" rtlCol="0" anchor="t"/>
          <a:lstStyle/>
          <a:p>
            <a:pPr marL="0" indent="0">
              <a:lnSpc>
                <a:spcPct val="112000"/>
              </a:lnSpc>
              <a:buNone/>
            </a:pPr>
            <a:r>
              <a:rPr lang="en-US" sz="1250" i="1" dirty="0">
                <a:solidFill>
                  <a:srgbClr val="1F2430"/>
                </a:solidFill>
                <a:latin typeface="Georgia" pitchFamily="34" charset="0"/>
                <a:ea typeface="Georgia" pitchFamily="34" charset="-122"/>
                <a:cs typeface="Georgia" pitchFamily="34" charset="-120"/>
              </a:rPr>
              <a:t>"No woman can call herself free who does not own and control her body. No woman can call herself free until she can choose consciously whether she will or will not be a mother. Birth control is woman's problem. The quicker she accepts it as hers and hers alone, the quicker will society respect motherhood."</a:t>
            </a:r>
            <a:endParaRPr lang="en-US" sz="1250" dirty="0"/>
          </a:p>
        </p:txBody>
      </p:sp>
      <p:sp>
        <p:nvSpPr>
          <p:cNvPr id="16" name="Shape 13"/>
          <p:cNvSpPr/>
          <p:nvPr/>
        </p:nvSpPr>
        <p:spPr>
          <a:xfrm>
            <a:off x="7589520" y="1737360"/>
            <a:ext cx="4023360" cy="2011680"/>
          </a:xfrm>
          <a:prstGeom prst="roundRect">
            <a:avLst>
              <a:gd name="adj" fmla="val 3636"/>
            </a:avLst>
          </a:prstGeom>
          <a:solidFill>
            <a:srgbClr val="1A2332"/>
          </a:solidFill>
          <a:ln/>
        </p:spPr>
        <p:txBody>
          <a:bodyPr/>
          <a:lstStyle/>
          <a:p>
            <a:endParaRPr lang="en-US"/>
          </a:p>
        </p:txBody>
      </p:sp>
      <p:sp>
        <p:nvSpPr>
          <p:cNvPr id="17" name="Text 14"/>
          <p:cNvSpPr/>
          <p:nvPr/>
        </p:nvSpPr>
        <p:spPr>
          <a:xfrm>
            <a:off x="7818120" y="1856232"/>
            <a:ext cx="3657600" cy="274320"/>
          </a:xfrm>
          <a:prstGeom prst="rect">
            <a:avLst/>
          </a:prstGeom>
          <a:noFill/>
          <a:ln/>
        </p:spPr>
        <p:txBody>
          <a:bodyPr wrap="square" rtlCol="0" anchor="ctr"/>
          <a:lstStyle/>
          <a:p>
            <a:pPr marL="0" indent="0">
              <a:buNone/>
            </a:pPr>
            <a:r>
              <a:rPr lang="en-US" sz="1100" b="1" kern="0" spc="20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marL="0" indent="0">
              <a:lnSpc>
                <a:spcPct val="96000"/>
              </a:lnSpc>
              <a:buNone/>
            </a:pPr>
            <a:r>
              <a:rPr lang="en-US" sz="780" dirty="0">
                <a:solidFill>
                  <a:srgbClr val="FFFFFF"/>
                </a:solidFill>
                <a:latin typeface="Calibri" pitchFamily="34" charset="0"/>
                <a:ea typeface="Calibri" pitchFamily="34" charset="-122"/>
                <a:cs typeface="Calibri" pitchFamily="34" charset="-120"/>
              </a:rPr>
              <a:t>Margaret Sanger was the founder of what would become Planned Parenthood and the most important advocate for birth control in American history. In 1920, when this excerpt was published, birth control was illegal in most states under the Comstock Laws (1873), which classified contraceptive information as obscene material. Sanger had already been arrested multiple times for distributing birth control information and opening a clinic in Brooklyn. Her advocacy combined feminist arguments about women's autonomy with eugenicist beliefs about 'unfit' populations — a troubling combination that reflected both progressive feminist politics and the disturbing racial and class assumptions widespread in progressive circles.</a:t>
            </a:r>
            <a:endParaRPr lang="en-US" sz="780" dirty="0"/>
          </a:p>
        </p:txBody>
      </p:sp>
      <p:sp>
        <p:nvSpPr>
          <p:cNvPr id="19" name="Shape 16"/>
          <p:cNvSpPr/>
          <p:nvPr/>
        </p:nvSpPr>
        <p:spPr>
          <a:xfrm>
            <a:off x="7589520" y="3931920"/>
            <a:ext cx="4023360" cy="1051560"/>
          </a:xfrm>
          <a:prstGeom prst="roundRect">
            <a:avLst>
              <a:gd name="adj" fmla="val 6957"/>
            </a:avLst>
          </a:prstGeom>
          <a:solidFill>
            <a:srgbClr val="C9A84C"/>
          </a:solidFill>
          <a:ln/>
        </p:spPr>
        <p:txBody>
          <a:bodyPr/>
          <a:lstStyle/>
          <a:p>
            <a:endParaRPr lang="en-US"/>
          </a:p>
        </p:txBody>
      </p:sp>
      <p:sp>
        <p:nvSpPr>
          <p:cNvPr id="20" name="Text 17"/>
          <p:cNvSpPr/>
          <p:nvPr/>
        </p:nvSpPr>
        <p:spPr>
          <a:xfrm>
            <a:off x="7818120" y="4050792"/>
            <a:ext cx="3657600" cy="274320"/>
          </a:xfrm>
          <a:prstGeom prst="rect">
            <a:avLst/>
          </a:prstGeom>
          <a:noFill/>
          <a:ln/>
        </p:spPr>
        <p:txBody>
          <a:bodyPr wrap="square" rtlCol="0" anchor="ctr"/>
          <a:lstStyle/>
          <a:p>
            <a:pPr marL="0" indent="0">
              <a:buNone/>
            </a:pPr>
            <a:r>
              <a:rPr lang="en-US" sz="1100" b="1" kern="0" spc="20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marL="0" indent="0">
              <a:lnSpc>
                <a:spcPct val="103000"/>
              </a:lnSpc>
              <a:buNone/>
            </a:pPr>
            <a:r>
              <a:rPr lang="en-US" sz="1250" b="1" dirty="0">
                <a:solidFill>
                  <a:srgbClr val="1A2332"/>
                </a:solidFill>
                <a:latin typeface="Calibri" pitchFamily="34" charset="0"/>
                <a:ea typeface="Calibri" pitchFamily="34" charset="-122"/>
                <a:cs typeface="Calibri" pitchFamily="34" charset="-120"/>
              </a:rPr>
              <a:t>According to Margaret Sanger, why was birth control essential for women's freedom?</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lstStyle/>
          <a:p>
            <a:endParaRPr lang="en-US"/>
          </a:p>
        </p:txBody>
      </p:sp>
      <p:sp>
        <p:nvSpPr>
          <p:cNvPr id="23" name="Shape 20"/>
          <p:cNvSpPr/>
          <p:nvPr/>
        </p:nvSpPr>
        <p:spPr>
          <a:xfrm>
            <a:off x="548640" y="5120640"/>
            <a:ext cx="2423160" cy="841248"/>
          </a:xfrm>
          <a:prstGeom prst="rect">
            <a:avLst/>
          </a:prstGeom>
          <a:solidFill>
            <a:srgbClr val="002858"/>
          </a:solidFill>
          <a:ln/>
        </p:spPr>
        <p:txBody>
          <a:bodyPr/>
          <a:lstStyle/>
          <a:p>
            <a:endParaRPr lang="en-US"/>
          </a:p>
        </p:txBody>
      </p:sp>
      <p:sp>
        <p:nvSpPr>
          <p:cNvPr id="24" name="Text 21"/>
          <p:cNvSpPr/>
          <p:nvPr/>
        </p:nvSpPr>
        <p:spPr>
          <a:xfrm>
            <a:off x="658368" y="5239512"/>
            <a:ext cx="2194560" cy="274320"/>
          </a:xfrm>
          <a:prstGeom prst="rect">
            <a:avLst/>
          </a:prstGeom>
          <a:noFill/>
          <a:ln/>
        </p:spPr>
        <p:txBody>
          <a:bodyPr wrap="square"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marL="0" indent="0">
              <a:buNone/>
            </a:pPr>
            <a:r>
              <a:rPr lang="en-US" sz="1250" b="1" kern="0" spc="10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marL="0" indent="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Margaret Sanger</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1920</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marL="0" indent="0" algn="l">
              <a:buNone/>
            </a:pPr>
            <a:r>
              <a:rPr lang="en-US" sz="900" dirty="0">
                <a:solidFill>
                  <a:srgbClr val="5C6470"/>
                </a:solidFill>
                <a:latin typeface="Calibri" pitchFamily="34" charset="0"/>
                <a:ea typeface="Calibri" pitchFamily="34" charset="-122"/>
                <a:cs typeface="Calibri" pitchFamily="34" charset="-120"/>
              </a:rPr>
              <a:t>Source: </a:t>
            </a:r>
            <a:r>
              <a:rPr lang="en-US" sz="900" i="1" u="sng" dirty="0">
                <a:solidFill>
                  <a:srgbClr val="00285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116</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45920"/>
            <a:ext cx="5486400" cy="676656"/>
          </a:xfrm>
          <a:prstGeom prst="rect">
            <a:avLst/>
          </a:prstGeom>
          <a:solidFill>
            <a:srgbClr val="1A2332"/>
          </a:solidFill>
          <a:ln/>
        </p:spPr>
        <p:txBody>
          <a:bodyPr/>
          <a:lstStyle/>
          <a:p>
            <a:endParaRPr lang="en-US"/>
          </a:p>
        </p:txBody>
      </p:sp>
      <p:sp>
        <p:nvSpPr>
          <p:cNvPr id="7" name="Text 5"/>
          <p:cNvSpPr/>
          <p:nvPr/>
        </p:nvSpPr>
        <p:spPr>
          <a:xfrm>
            <a:off x="685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Flappers</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FLAP-erz</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Flappers</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1" name="Text 9"/>
          <p:cNvSpPr/>
          <p:nvPr/>
        </p:nvSpPr>
        <p:spPr>
          <a:xfrm>
            <a:off x="576072" y="2395728"/>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F</a:t>
            </a:r>
            <a:endParaRPr lang="en-US" sz="1500" dirty="0"/>
          </a:p>
        </p:txBody>
      </p:sp>
      <p:sp>
        <p:nvSpPr>
          <p:cNvPr id="12" name="Text 10"/>
          <p:cNvSpPr/>
          <p:nvPr/>
        </p:nvSpPr>
        <p:spPr>
          <a:xfrm>
            <a:off x="1225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Young women in the 1920s who challenged traditional gender norms by wearing short skirts and bobbed hair, dancing, drinking, smoking, and asserting independence.</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14" name="Shape 12"/>
          <p:cNvSpPr/>
          <p:nvPr/>
        </p:nvSpPr>
        <p:spPr>
          <a:xfrm>
            <a:off x="6263640" y="1645920"/>
            <a:ext cx="5486400" cy="676656"/>
          </a:xfrm>
          <a:prstGeom prst="rect">
            <a:avLst/>
          </a:prstGeom>
          <a:solidFill>
            <a:srgbClr val="1A2332"/>
          </a:solidFill>
          <a:ln/>
        </p:spPr>
        <p:txBody>
          <a:bodyPr/>
          <a:lstStyle/>
          <a:p>
            <a:endParaRPr lang="en-US"/>
          </a:p>
        </p:txBody>
      </p:sp>
      <p:sp>
        <p:nvSpPr>
          <p:cNvPr id="15" name="Text 13"/>
          <p:cNvSpPr/>
          <p:nvPr/>
        </p:nvSpPr>
        <p:spPr>
          <a:xfrm>
            <a:off x="6400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Birth Control Movement</a:t>
            </a:r>
            <a:endParaRPr lang="en-US" sz="13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Movimiento de Control de Natalidad</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8" name="Text 16"/>
          <p:cNvSpPr/>
          <p:nvPr/>
        </p:nvSpPr>
        <p:spPr>
          <a:xfrm>
            <a:off x="6291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BC</a:t>
            </a:r>
            <a:endParaRPr lang="en-US" sz="1300" dirty="0"/>
          </a:p>
        </p:txBody>
      </p:sp>
      <p:sp>
        <p:nvSpPr>
          <p:cNvPr id="19" name="Text 17"/>
          <p:cNvSpPr/>
          <p:nvPr/>
        </p:nvSpPr>
        <p:spPr>
          <a:xfrm>
            <a:off x="6940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Led by Margaret Sanger, the campaign to legalize contraception and provide women reproductive choice, facing opposition from religious and conservative groups.</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1" name="Shape 19"/>
          <p:cNvSpPr/>
          <p:nvPr/>
        </p:nvSpPr>
        <p:spPr>
          <a:xfrm>
            <a:off x="548640" y="3072384"/>
            <a:ext cx="5486400" cy="676656"/>
          </a:xfrm>
          <a:prstGeom prst="rect">
            <a:avLst/>
          </a:prstGeom>
          <a:solidFill>
            <a:srgbClr val="1A2332"/>
          </a:solidFill>
          <a:ln/>
        </p:spPr>
        <p:txBody>
          <a:bodyPr/>
          <a:lstStyle/>
          <a:p>
            <a:endParaRPr lang="en-US"/>
          </a:p>
        </p:txBody>
      </p:sp>
      <p:sp>
        <p:nvSpPr>
          <p:cNvPr id="22" name="Text 20"/>
          <p:cNvSpPr/>
          <p:nvPr/>
        </p:nvSpPr>
        <p:spPr>
          <a:xfrm>
            <a:off x="685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Women in the Workforce</a:t>
            </a:r>
            <a:endParaRPr lang="en-US" sz="13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Mujeres en la Fuerza Laboral</a:t>
            </a:r>
            <a:endParaRPr lang="en-US" sz="1000" dirty="0"/>
          </a:p>
        </p:txBody>
      </p:sp>
      <p:sp>
        <p:nvSpPr>
          <p:cNvPr id="24" name="Shape 22"/>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25" name="Text 23"/>
          <p:cNvSpPr/>
          <p:nvPr/>
        </p:nvSpPr>
        <p:spPr>
          <a:xfrm>
            <a:off x="576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WI</a:t>
            </a:r>
            <a:endParaRPr lang="en-US" sz="1300" dirty="0"/>
          </a:p>
        </p:txBody>
      </p:sp>
      <p:sp>
        <p:nvSpPr>
          <p:cNvPr id="26" name="Text 24"/>
          <p:cNvSpPr/>
          <p:nvPr/>
        </p:nvSpPr>
        <p:spPr>
          <a:xfrm>
            <a:off x="1225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1920s saw increased female employment in clerical and office jobs, though women still faced discrimination, lower wages, and were often expected to leave work upon marriage.</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8" name="Shape 26"/>
          <p:cNvSpPr/>
          <p:nvPr/>
        </p:nvSpPr>
        <p:spPr>
          <a:xfrm>
            <a:off x="6263640" y="3072384"/>
            <a:ext cx="5486400" cy="676656"/>
          </a:xfrm>
          <a:prstGeom prst="rect">
            <a:avLst/>
          </a:prstGeom>
          <a:solidFill>
            <a:srgbClr val="1A2332"/>
          </a:solidFill>
          <a:ln/>
        </p:spPr>
        <p:txBody>
          <a:bodyPr/>
          <a:lstStyle/>
          <a:p>
            <a:endParaRPr lang="en-US"/>
          </a:p>
        </p:txBody>
      </p:sp>
      <p:sp>
        <p:nvSpPr>
          <p:cNvPr id="29" name="Text 27"/>
          <p:cNvSpPr/>
          <p:nvPr/>
        </p:nvSpPr>
        <p:spPr>
          <a:xfrm>
            <a:off x="6400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Consumerism</a:t>
            </a:r>
            <a:endParaRPr lang="en-US" sz="1350" dirty="0"/>
          </a:p>
        </p:txBody>
      </p:sp>
      <p:sp>
        <p:nvSpPr>
          <p:cNvPr id="30" name="Text 28"/>
          <p:cNvSpPr/>
          <p:nvPr/>
        </p:nvSpPr>
        <p:spPr>
          <a:xfrm>
            <a:off x="6400800" y="3438144"/>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kun-SOO-mer-iz-um</a:t>
            </a:r>
            <a:endParaRPr lang="en-US" sz="850" dirty="0"/>
          </a:p>
        </p:txBody>
      </p:sp>
      <p:sp>
        <p:nvSpPr>
          <p:cNvPr id="31" name="Text 29"/>
          <p:cNvSpPr/>
          <p:nvPr/>
        </p:nvSpPr>
        <p:spPr>
          <a:xfrm>
            <a:off x="9418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Consumismo</a:t>
            </a:r>
            <a:endParaRPr lang="en-US" sz="1000" dirty="0"/>
          </a:p>
        </p:txBody>
      </p:sp>
      <p:sp>
        <p:nvSpPr>
          <p:cNvPr id="32" name="Shape 30"/>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3" name="Text 31"/>
          <p:cNvSpPr/>
          <p:nvPr/>
        </p:nvSpPr>
        <p:spPr>
          <a:xfrm>
            <a:off x="6291072" y="3822192"/>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C</a:t>
            </a:r>
            <a:endParaRPr lang="en-US" sz="1500" dirty="0"/>
          </a:p>
        </p:txBody>
      </p:sp>
      <p:sp>
        <p:nvSpPr>
          <p:cNvPr id="34" name="Text 32"/>
          <p:cNvSpPr/>
          <p:nvPr/>
        </p:nvSpPr>
        <p:spPr>
          <a:xfrm>
            <a:off x="6940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culture of increased purchasing of consumer goods, driven in the 1920s by mass production, national advertising, and installment credit.</a:t>
            </a:r>
            <a:endParaRPr lang="en-US" sz="1100" dirty="0"/>
          </a:p>
        </p:txBody>
      </p:sp>
      <p:sp>
        <p:nvSpPr>
          <p:cNvPr id="35" name="Shape 33"/>
          <p:cNvSpPr/>
          <p:nvPr/>
        </p:nvSpPr>
        <p:spPr>
          <a:xfrm>
            <a:off x="548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36" name="Shape 34"/>
          <p:cNvSpPr/>
          <p:nvPr/>
        </p:nvSpPr>
        <p:spPr>
          <a:xfrm>
            <a:off x="548640" y="4498848"/>
            <a:ext cx="5486400" cy="676656"/>
          </a:xfrm>
          <a:prstGeom prst="rect">
            <a:avLst/>
          </a:prstGeom>
          <a:solidFill>
            <a:srgbClr val="1A2332"/>
          </a:solidFill>
          <a:ln/>
        </p:spPr>
        <p:txBody>
          <a:bodyPr/>
          <a:lstStyle/>
          <a:p>
            <a:endParaRPr lang="en-US"/>
          </a:p>
        </p:txBody>
      </p:sp>
      <p:sp>
        <p:nvSpPr>
          <p:cNvPr id="37" name="Text 35"/>
          <p:cNvSpPr/>
          <p:nvPr/>
        </p:nvSpPr>
        <p:spPr>
          <a:xfrm>
            <a:off x="685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Automobile Impact</a:t>
            </a:r>
            <a:endParaRPr lang="en-US" sz="13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Impacto del Automóvil</a:t>
            </a:r>
            <a:endParaRPr lang="en-US" sz="1000" dirty="0"/>
          </a:p>
        </p:txBody>
      </p:sp>
      <p:sp>
        <p:nvSpPr>
          <p:cNvPr id="39" name="Shape 37"/>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0" name="Text 38"/>
          <p:cNvSpPr/>
          <p:nvPr/>
        </p:nvSpPr>
        <p:spPr>
          <a:xfrm>
            <a:off x="576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AI</a:t>
            </a:r>
            <a:endParaRPr lang="en-US" sz="1300" dirty="0"/>
          </a:p>
        </p:txBody>
      </p:sp>
      <p:sp>
        <p:nvSpPr>
          <p:cNvPr id="41" name="Text 39"/>
          <p:cNvSpPr/>
          <p:nvPr/>
        </p:nvSpPr>
        <p:spPr>
          <a:xfrm>
            <a:off x="1225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widespread adoption of cars in the 1920s transformed American society, creating suburbs, highways, tourism, and related industries like gas stations, motels, and drive-in restaurants.</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43" name="Shape 41"/>
          <p:cNvSpPr/>
          <p:nvPr/>
        </p:nvSpPr>
        <p:spPr>
          <a:xfrm>
            <a:off x="6263640" y="4498848"/>
            <a:ext cx="5486400" cy="676656"/>
          </a:xfrm>
          <a:prstGeom prst="rect">
            <a:avLst/>
          </a:prstGeom>
          <a:solidFill>
            <a:srgbClr val="1A2332"/>
          </a:solidFill>
          <a:ln/>
        </p:spPr>
        <p:txBody>
          <a:bodyPr/>
          <a:lstStyle/>
          <a:p>
            <a:endParaRPr lang="en-US"/>
          </a:p>
        </p:txBody>
      </p:sp>
      <p:sp>
        <p:nvSpPr>
          <p:cNvPr id="44" name="Text 42"/>
          <p:cNvSpPr/>
          <p:nvPr/>
        </p:nvSpPr>
        <p:spPr>
          <a:xfrm>
            <a:off x="6400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Motion Pictures</a:t>
            </a:r>
            <a:endParaRPr lang="en-US" sz="1350" dirty="0"/>
          </a:p>
        </p:txBody>
      </p:sp>
      <p:sp>
        <p:nvSpPr>
          <p:cNvPr id="45" name="Text 43"/>
          <p:cNvSpPr/>
          <p:nvPr/>
        </p:nvSpPr>
        <p:spPr>
          <a:xfrm>
            <a:off x="9418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Imágenes en Movimiento</a:t>
            </a:r>
            <a:endParaRPr lang="en-US" sz="1000" dirty="0"/>
          </a:p>
        </p:txBody>
      </p:sp>
      <p:sp>
        <p:nvSpPr>
          <p:cNvPr id="46" name="Shape 44"/>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7" name="Text 45"/>
          <p:cNvSpPr/>
          <p:nvPr/>
        </p:nvSpPr>
        <p:spPr>
          <a:xfrm>
            <a:off x="6291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MP</a:t>
            </a:r>
            <a:endParaRPr lang="en-US" sz="1300" dirty="0"/>
          </a:p>
        </p:txBody>
      </p:sp>
      <p:sp>
        <p:nvSpPr>
          <p:cNvPr id="48" name="Text 46"/>
          <p:cNvSpPr/>
          <p:nvPr/>
        </p:nvSpPr>
        <p:spPr>
          <a:xfrm>
            <a:off x="6940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Silent and "talkie" films that became America's most popular entertainment in the 1920s, creating celebrity culture and Hollywood as the film capital of the world.</a:t>
            </a:r>
            <a:endParaRPr lang="en-US" sz="1100" dirty="0"/>
          </a:p>
        </p:txBody>
      </p:sp>
      <p:sp>
        <p:nvSpPr>
          <p:cNvPr id="49" name="Text 47"/>
          <p:cNvSpPr/>
          <p:nvPr/>
        </p:nvSpPr>
        <p:spPr>
          <a:xfrm>
            <a:off x="548640" y="5897880"/>
            <a:ext cx="11064240" cy="320040"/>
          </a:xfrm>
          <a:prstGeom prst="rect">
            <a:avLst/>
          </a:prstGeom>
          <a:noFill/>
          <a:ln/>
        </p:spPr>
        <p:txBody>
          <a:bodyPr wrap="square" rtlCol="0" anchor="ctr"/>
          <a:lstStyle/>
          <a:p>
            <a:pPr marL="0" indent="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0" name="Text 4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1" name="Text 4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117</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marL="0" indent="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lstStyle/>
          <a:p>
            <a:endParaRPr lang="en-US"/>
          </a:p>
        </p:txBody>
      </p:sp>
      <p:sp>
        <p:nvSpPr>
          <p:cNvPr id="6" name="Text 4"/>
          <p:cNvSpPr/>
          <p:nvPr/>
        </p:nvSpPr>
        <p:spPr>
          <a:xfrm>
            <a:off x="8869680" y="822960"/>
            <a:ext cx="274320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Separate image from reality</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640080"/>
          </a:xfrm>
          <a:prstGeom prst="rect">
            <a:avLst/>
          </a:prstGeom>
          <a:noFill/>
          <a:ln/>
        </p:spPr>
        <p:txBody>
          <a:bodyPr wrap="square" rtlCol="0" anchor="ctr"/>
          <a:lstStyle/>
          <a:p>
            <a:pPr marL="0" indent="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r>
              <a:rPr lang="en-US" sz="1500" dirty="0">
                <a:solidFill>
                  <a:srgbClr val="FFFFFF"/>
                </a:solidFill>
                <a:latin typeface="Calibri" pitchFamily="34" charset="0"/>
                <a:ea typeface="Calibri" pitchFamily="34" charset="-122"/>
                <a:cs typeface="Calibri" pitchFamily="34" charset="-120"/>
              </a:rPr>
              <a:t>How much did life really change for women in the 1920s?</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lstStyle/>
          <a:p>
            <a:endParaRPr lang="en-US"/>
          </a:p>
        </p:txBody>
      </p:sp>
      <p:sp>
        <p:nvSpPr>
          <p:cNvPr id="10" name="Text 8"/>
          <p:cNvSpPr/>
          <p:nvPr/>
        </p:nvSpPr>
        <p:spPr>
          <a:xfrm>
            <a:off x="822960" y="2724912"/>
            <a:ext cx="10058400" cy="292608"/>
          </a:xfrm>
          <a:prstGeom prst="rect">
            <a:avLst/>
          </a:prstGeom>
          <a:noFill/>
          <a:ln/>
        </p:spPr>
        <p:txBody>
          <a:bodyPr wrap="square" rtlCol="0" anchor="ctr"/>
          <a:lstStyle/>
          <a:p>
            <a:pPr marL="0" indent="0">
              <a:buNone/>
            </a:pPr>
            <a:r>
              <a:rPr lang="en-US" sz="1100" b="1" kern="0" spc="10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marL="0" indent="0">
              <a:lnSpc>
                <a:spcPct val="106000"/>
              </a:lnSpc>
              <a:buNone/>
            </a:pPr>
            <a:r>
              <a:rPr lang="en-US" sz="1450" b="1" dirty="0">
                <a:solidFill>
                  <a:srgbClr val="1A2332"/>
                </a:solidFill>
                <a:latin typeface="Calibri" pitchFamily="34" charset="0"/>
                <a:ea typeface="Calibri" pitchFamily="34" charset="-122"/>
                <a:cs typeface="Calibri" pitchFamily="34" charset="-120"/>
              </a:rPr>
              <a:t>The flapper image suggests total freedom, but the text shows women still faced job limits, unequal pay, and legal fights over birth control. Image and reality differ.</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lstStyle/>
          <a:p>
            <a:endParaRPr lang="en-US"/>
          </a:p>
        </p:txBody>
      </p:sp>
      <p:sp>
        <p:nvSpPr>
          <p:cNvPr id="13" name="Text 11"/>
          <p:cNvSpPr/>
          <p:nvPr/>
        </p:nvSpPr>
        <p:spPr>
          <a:xfrm>
            <a:off x="822960" y="4407408"/>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marL="0" indent="0">
              <a:lnSpc>
                <a:spcPct val="106000"/>
              </a:lnSpc>
              <a:buNone/>
            </a:pPr>
            <a:r>
              <a:rPr lang="en-US" sz="1300" i="1" dirty="0">
                <a:solidFill>
                  <a:srgbClr val="1F2430"/>
                </a:solidFill>
                <a:latin typeface="Calibri" pitchFamily="34" charset="0"/>
                <a:ea typeface="Calibri" pitchFamily="34" charset="-122"/>
                <a:cs typeface="Calibri" pitchFamily="34" charset="-120"/>
              </a:rPr>
              <a:t>List one real gain and one real limitation for women.</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marL="0" indent="0">
              <a:buNone/>
            </a:pPr>
            <a:r>
              <a:rPr lang="en-US" sz="1200" b="1" dirty="0">
                <a:solidFill>
                  <a:srgbClr val="1A2332"/>
                </a:solidFill>
                <a:latin typeface="Calibri" pitchFamily="34" charset="0"/>
                <a:ea typeface="Calibri" pitchFamily="34" charset="-122"/>
                <a:cs typeface="Calibri" pitchFamily="34" charset="-120"/>
              </a:rPr>
              <a:t>→ Now you try:  </a:t>
            </a:r>
            <a:r>
              <a:rPr lang="en-US" sz="1200" i="1" dirty="0">
                <a:solidFill>
                  <a:srgbClr val="002858"/>
                </a:solidFill>
                <a:latin typeface="Calibri" pitchFamily="34" charset="0"/>
                <a:ea typeface="Calibri" pitchFamily="34" charset="-122"/>
                <a:cs typeface="Calibri" pitchFamily="34" charset="-120"/>
              </a:rPr>
              <a:t>Write one sentence stating whether 1920s change for women was large or limited, with evidence.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118</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marL="0" indent="0">
              <a:buNone/>
            </a:pPr>
            <a:r>
              <a:rPr lang="en-US" sz="2200" b="1" dirty="0">
                <a:solidFill>
                  <a:srgbClr val="1A2332"/>
                </a:solidFill>
                <a:latin typeface="Georgia" pitchFamily="34" charset="0"/>
                <a:ea typeface="Georgia" pitchFamily="34" charset="-122"/>
                <a:cs typeface="Georgia" pitchFamily="34" charset="-120"/>
              </a:rPr>
              <a:t>New Woman or New Style? — Change and Continuity for Women</a:t>
            </a:r>
            <a:endParaRPr lang="en-US" sz="2200" dirty="0"/>
          </a:p>
        </p:txBody>
      </p:sp>
      <p:sp>
        <p:nvSpPr>
          <p:cNvPr id="5" name="Shape 3"/>
          <p:cNvSpPr/>
          <p:nvPr/>
        </p:nvSpPr>
        <p:spPr>
          <a:xfrm>
            <a:off x="548640" y="1591056"/>
            <a:ext cx="694944" cy="365760"/>
          </a:xfrm>
          <a:prstGeom prst="roundRect">
            <a:avLst>
              <a:gd name="adj" fmla="val 20000"/>
            </a:avLst>
          </a:prstGeom>
          <a:solidFill>
            <a:srgbClr val="1A2332"/>
          </a:solidFill>
          <a:ln/>
        </p:spPr>
        <p:txBody>
          <a:bodyPr/>
          <a:lstStyle/>
          <a:p>
            <a:endParaRPr lang="en-US"/>
          </a:p>
        </p:txBody>
      </p:sp>
      <p:sp>
        <p:nvSpPr>
          <p:cNvPr id="6" name="Text 4"/>
          <p:cNvSpPr/>
          <p:nvPr/>
        </p:nvSpPr>
        <p:spPr>
          <a:xfrm>
            <a:off x="548640" y="1591056"/>
            <a:ext cx="694944"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txBody>
          <a:bodyPr/>
          <a:lstStyle/>
          <a:p>
            <a:endParaRPr lang="en-US"/>
          </a:p>
        </p:txBody>
      </p:sp>
      <p:sp>
        <p:nvSpPr>
          <p:cNvPr id="8" name="Text 6"/>
          <p:cNvSpPr/>
          <p:nvPr/>
        </p:nvSpPr>
        <p:spPr>
          <a:xfrm>
            <a:off x="1408176" y="1591056"/>
            <a:ext cx="779069"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lstStyle/>
          <a:p>
            <a:endParaRPr lang="en-US"/>
          </a:p>
        </p:txBody>
      </p:sp>
      <p:sp>
        <p:nvSpPr>
          <p:cNvPr id="10" name="Text 8"/>
          <p:cNvSpPr/>
          <p:nvPr/>
        </p:nvSpPr>
        <p:spPr>
          <a:xfrm>
            <a:off x="822960" y="2194560"/>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marL="0" indent="0">
              <a:lnSpc>
                <a:spcPct val="112000"/>
              </a:lnSpc>
              <a:buNone/>
            </a:pPr>
            <a:r>
              <a:rPr lang="en-US" sz="1350" dirty="0">
                <a:solidFill>
                  <a:srgbClr val="1F2430"/>
                </a:solidFill>
                <a:latin typeface="Calibri" pitchFamily="34" charset="0"/>
                <a:ea typeface="Calibri" pitchFamily="34" charset="-122"/>
                <a:cs typeface="Calibri" pitchFamily="34" charset="-120"/>
              </a:rPr>
              <a:t>Read the flapper defense article and Margaret Sanger's statement on birth control. Build a two-column chart: WHAT CHANGED for women in the 1920s (voting, jobs, colleges, fashion, freedom) and WHAT STAYED THE SAME (expectations to marry, lower pay, limited careers, who got the new freedoms). List at least three per column. Finish with a one-sentence claim on whether the 1920s brought real liberation or mostly a change in image.</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lstStyle/>
          <a:p>
            <a:endParaRPr lang="en-US"/>
          </a:p>
        </p:txBody>
      </p:sp>
      <p:pic>
        <p:nvPicPr>
          <p:cNvPr id="13" name="Image 0" descr="unit4-full/img/flapper-1920s.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162728" y="2057400"/>
            <a:ext cx="922664"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marL="0" indent="0" algn="l">
              <a:lnSpc>
                <a:spcPct val="100000"/>
              </a:lnSpc>
              <a:buNone/>
            </a:pPr>
            <a:r>
              <a:rPr lang="en-US" sz="750" i="1" dirty="0">
                <a:solidFill>
                  <a:srgbClr val="5C6470"/>
                </a:solidFill>
                <a:latin typeface="Calibri" pitchFamily="34" charset="0"/>
                <a:ea typeface="Calibri" pitchFamily="34" charset="-122"/>
                <a:cs typeface="Calibri" pitchFamily="34" charset="-120"/>
              </a:rPr>
              <a:t>Turner, C. W., photographer, c1922  </a:t>
            </a:r>
            <a:r>
              <a:rPr lang="en-US" sz="75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lstStyle/>
          <a:p>
            <a:endParaRPr lang="en-US"/>
          </a:p>
        </p:txBody>
      </p:sp>
      <p:sp>
        <p:nvSpPr>
          <p:cNvPr id="16" name="Text 13"/>
          <p:cNvSpPr/>
          <p:nvPr/>
        </p:nvSpPr>
        <p:spPr>
          <a:xfrm>
            <a:off x="777240" y="4645152"/>
            <a:ext cx="4572000" cy="274320"/>
          </a:xfrm>
          <a:prstGeom prst="rect">
            <a:avLst/>
          </a:prstGeom>
          <a:noFill/>
          <a:ln/>
        </p:spPr>
        <p:txBody>
          <a:bodyPr wrap="square" rtlCol="0" anchor="ctr"/>
          <a:lstStyle/>
          <a:p>
            <a:pPr marL="0" indent="0">
              <a:buNone/>
            </a:pPr>
            <a:r>
              <a:rPr lang="en-US" sz="1050" b="1" kern="0" spc="20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normAutofit/>
          </a:bodyPr>
          <a:lstStyle/>
          <a:p>
            <a:pPr marL="0" indent="0">
              <a:lnSpc>
                <a:spcPct val="103000"/>
              </a:lnSpc>
              <a:buNone/>
            </a:pPr>
            <a:r>
              <a:rPr lang="en-US" sz="1250" dirty="0">
                <a:solidFill>
                  <a:srgbClr val="FFFFFF"/>
                </a:solidFill>
                <a:latin typeface="Calibri" pitchFamily="34" charset="0"/>
                <a:ea typeface="Calibri" pitchFamily="34" charset="-122"/>
                <a:cs typeface="Calibri" pitchFamily="34" charset="-120"/>
              </a:rPr>
              <a:t>Completed change/continuity chart (3+ per column) AND a one-sentence evidence-based claim.</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lstStyle/>
          <a:p>
            <a:endParaRPr lang="en-US"/>
          </a:p>
        </p:txBody>
      </p:sp>
      <p:sp>
        <p:nvSpPr>
          <p:cNvPr id="19" name="Text 16"/>
          <p:cNvSpPr/>
          <p:nvPr/>
        </p:nvSpPr>
        <p:spPr>
          <a:xfrm>
            <a:off x="6400800" y="4645152"/>
            <a:ext cx="4572000" cy="274320"/>
          </a:xfrm>
          <a:prstGeom prst="rect">
            <a:avLst/>
          </a:prstGeom>
          <a:noFill/>
          <a:ln/>
        </p:spPr>
        <p:txBody>
          <a:bodyPr wrap="square" rtlCol="0" anchor="ctr"/>
          <a:lstStyle/>
          <a:p>
            <a:pPr marL="0" indent="0">
              <a:buNone/>
            </a:pPr>
            <a:r>
              <a:rPr lang="en-US" sz="1050" b="1" kern="0" spc="20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20" name="Text 17"/>
          <p:cNvSpPr/>
          <p:nvPr/>
        </p:nvSpPr>
        <p:spPr>
          <a:xfrm>
            <a:off x="6400800" y="4919472"/>
            <a:ext cx="5029200" cy="868680"/>
          </a:xfrm>
          <a:prstGeom prst="rect">
            <a:avLst/>
          </a:prstGeom>
          <a:noFill/>
          <a:ln/>
        </p:spPr>
        <p:txBody>
          <a:bodyPr wrap="square" rtlCol="0" anchor="t">
            <a:normAutofit/>
          </a:bodyPr>
          <a:lstStyle/>
          <a:p>
            <a:pPr marL="0" indent="0">
              <a:lnSpc>
                <a:spcPct val="103000"/>
              </a:lnSpc>
              <a:buNone/>
            </a:pPr>
            <a:r>
              <a:rPr lang="en-US" sz="1000" dirty="0">
                <a:solidFill>
                  <a:srgbClr val="1F2430"/>
                </a:solidFill>
                <a:latin typeface="Calibri" pitchFamily="34" charset="0"/>
                <a:ea typeface="Calibri" pitchFamily="34" charset="-122"/>
                <a:cs typeface="Calibri" pitchFamily="34" charset="-120"/>
              </a:rPr>
              <a:t>Entry: Chart with a word bank to sort into 'changed' vs. 'stayed the same.' Honors: Write a paragraph arguing which women benefited most from the changes of the 1920s, and which were left out.</a:t>
            </a:r>
            <a:endParaRPr lang="en-US" sz="1000" dirty="0"/>
          </a:p>
        </p:txBody>
      </p:sp>
      <p:sp>
        <p:nvSpPr>
          <p:cNvPr id="21" name="Text 18"/>
          <p:cNvSpPr/>
          <p:nvPr/>
        </p:nvSpPr>
        <p:spPr>
          <a:xfrm>
            <a:off x="548640" y="5943600"/>
            <a:ext cx="11064240" cy="320040"/>
          </a:xfrm>
          <a:prstGeom prst="rect">
            <a:avLst/>
          </a:prstGeom>
          <a:noFill/>
          <a:ln/>
        </p:spPr>
        <p:txBody>
          <a:bodyPr wrap="square" rtlCol="0" anchor="ctr"/>
          <a:lstStyle/>
          <a:p>
            <a:pPr marL="0" indent="0">
              <a:buNone/>
            </a:pPr>
            <a:r>
              <a:rPr lang="en-US" sz="1050" b="1" dirty="0">
                <a:solidFill>
                  <a:srgbClr val="1A2332"/>
                </a:solidFill>
                <a:latin typeface="Calibri" pitchFamily="34" charset="0"/>
                <a:ea typeface="Calibri" pitchFamily="34" charset="-122"/>
                <a:cs typeface="Calibri" pitchFamily="34" charset="-120"/>
              </a:rPr>
              <a:t>Companion printable:  </a:t>
            </a:r>
            <a:r>
              <a:rPr lang="en-US" sz="1050" i="1" dirty="0">
                <a:solidFill>
                  <a:srgbClr val="002858"/>
                </a:solidFill>
                <a:latin typeface="Calibri" pitchFamily="34" charset="0"/>
                <a:ea typeface="Calibri" pitchFamily="34" charset="-122"/>
                <a:cs typeface="Calibri" pitchFamily="34" charset="-120"/>
              </a:rPr>
              <a:t>cornell-notes/unit-4/us34-women-1920s.pdf</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119</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US.34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lstStyle/>
          <a:p>
            <a:endParaRPr lang="en-US"/>
          </a:p>
        </p:txBody>
      </p:sp>
      <p:sp>
        <p:nvSpPr>
          <p:cNvPr id="6" name="Text 4"/>
          <p:cNvSpPr/>
          <p:nvPr/>
        </p:nvSpPr>
        <p:spPr>
          <a:xfrm>
            <a:off x="7635240" y="822960"/>
            <a:ext cx="1143000" cy="457200"/>
          </a:xfrm>
          <a:prstGeom prst="rect">
            <a:avLst/>
          </a:prstGeom>
          <a:noFill/>
          <a:ln/>
        </p:spPr>
        <p:txBody>
          <a:bodyPr wrap="square" rtlCol="0" anchor="ctr"/>
          <a:lstStyle/>
          <a:p>
            <a:pPr marL="0" indent="0" algn="ctr">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lstStyle/>
          <a:p>
            <a:endParaRPr lang="en-US"/>
          </a:p>
        </p:txBody>
      </p:sp>
      <p:sp>
        <p:nvSpPr>
          <p:cNvPr id="8" name="Text 6"/>
          <p:cNvSpPr/>
          <p:nvPr/>
        </p:nvSpPr>
        <p:spPr>
          <a:xfrm>
            <a:off x="8869680" y="822960"/>
            <a:ext cx="274320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lstStyle/>
          <a:p>
            <a:endParaRPr lang="en-US"/>
          </a:p>
        </p:txBody>
      </p:sp>
      <p:sp>
        <p:nvSpPr>
          <p:cNvPr id="10" name="Text 8"/>
          <p:cNvSpPr/>
          <p:nvPr/>
        </p:nvSpPr>
        <p:spPr>
          <a:xfrm>
            <a:off x="822960" y="1691640"/>
            <a:ext cx="10515600" cy="777240"/>
          </a:xfrm>
          <a:prstGeom prst="rect">
            <a:avLst/>
          </a:prstGeom>
          <a:noFill/>
          <a:ln/>
        </p:spPr>
        <p:txBody>
          <a:bodyPr wrap="square" rtlCol="0" anchor="ctr"/>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According to Margaret Sanger, why was birth control essential for women's freedom?</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2" name="Shape 10"/>
          <p:cNvSpPr/>
          <p:nvPr/>
        </p:nvSpPr>
        <p:spPr>
          <a:xfrm>
            <a:off x="713232" y="2889504"/>
            <a:ext cx="365760" cy="365760"/>
          </a:xfrm>
          <a:prstGeom prst="ellipse">
            <a:avLst/>
          </a:prstGeom>
          <a:solidFill>
            <a:srgbClr val="1A2332"/>
          </a:solidFill>
          <a:ln/>
        </p:spPr>
        <p:txBody>
          <a:bodyPr/>
          <a:lstStyle/>
          <a:p>
            <a:endParaRPr lang="en-US"/>
          </a:p>
        </p:txBody>
      </p:sp>
      <p:sp>
        <p:nvSpPr>
          <p:cNvPr id="13" name="Text 11"/>
          <p:cNvSpPr/>
          <p:nvPr/>
        </p:nvSpPr>
        <p:spPr>
          <a:xfrm>
            <a:off x="713232" y="2889504"/>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It would help reduce poverty in urban immigrant communities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6" name="Shape 14"/>
          <p:cNvSpPr/>
          <p:nvPr/>
        </p:nvSpPr>
        <p:spPr>
          <a:xfrm>
            <a:off x="713232" y="3639312"/>
            <a:ext cx="365760" cy="365760"/>
          </a:xfrm>
          <a:prstGeom prst="ellipse">
            <a:avLst/>
          </a:prstGeom>
          <a:solidFill>
            <a:srgbClr val="1A2332"/>
          </a:solidFill>
          <a:ln/>
        </p:spPr>
        <p:txBody>
          <a:bodyPr/>
          <a:lstStyle/>
          <a:p>
            <a:endParaRPr lang="en-US"/>
          </a:p>
        </p:txBody>
      </p:sp>
      <p:sp>
        <p:nvSpPr>
          <p:cNvPr id="17" name="Text 15"/>
          <p:cNvSpPr/>
          <p:nvPr/>
        </p:nvSpPr>
        <p:spPr>
          <a:xfrm>
            <a:off x="713232" y="3639312"/>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True freedom required women to control their own bodies and reproductive choices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0" name="Shape 18"/>
          <p:cNvSpPr/>
          <p:nvPr/>
        </p:nvSpPr>
        <p:spPr>
          <a:xfrm>
            <a:off x="713232" y="4389120"/>
            <a:ext cx="365760" cy="365760"/>
          </a:xfrm>
          <a:prstGeom prst="ellipse">
            <a:avLst/>
          </a:prstGeom>
          <a:solidFill>
            <a:srgbClr val="1A2332"/>
          </a:solidFill>
          <a:ln/>
        </p:spPr>
        <p:txBody>
          <a:bodyPr/>
          <a:lstStyle/>
          <a:p>
            <a:endParaRPr lang="en-US"/>
          </a:p>
        </p:txBody>
      </p:sp>
      <p:sp>
        <p:nvSpPr>
          <p:cNvPr id="21" name="Text 19"/>
          <p:cNvSpPr/>
          <p:nvPr/>
        </p:nvSpPr>
        <p:spPr>
          <a:xfrm>
            <a:off x="713232" y="4389120"/>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Birth control would allow women to compete with men in all careers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4" name="Shape 22"/>
          <p:cNvSpPr/>
          <p:nvPr/>
        </p:nvSpPr>
        <p:spPr>
          <a:xfrm>
            <a:off x="713232" y="5138928"/>
            <a:ext cx="365760" cy="365760"/>
          </a:xfrm>
          <a:prstGeom prst="ellipse">
            <a:avLst/>
          </a:prstGeom>
          <a:solidFill>
            <a:srgbClr val="1A2332"/>
          </a:solidFill>
          <a:ln/>
        </p:spPr>
        <p:txBody>
          <a:bodyPr/>
          <a:lstStyle/>
          <a:p>
            <a:endParaRPr lang="en-US"/>
          </a:p>
        </p:txBody>
      </p:sp>
      <p:sp>
        <p:nvSpPr>
          <p:cNvPr id="25" name="Text 23"/>
          <p:cNvSpPr/>
          <p:nvPr/>
        </p:nvSpPr>
        <p:spPr>
          <a:xfrm>
            <a:off x="713232" y="5138928"/>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It was primarily a health issue rather than a freedom issue</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lstStyle/>
          <a:p>
            <a:endParaRPr lang="en-US"/>
          </a:p>
        </p:txBody>
      </p:sp>
      <p:sp>
        <p:nvSpPr>
          <p:cNvPr id="28" name="Text 26"/>
          <p:cNvSpPr/>
          <p:nvPr/>
        </p:nvSpPr>
        <p:spPr>
          <a:xfrm>
            <a:off x="822960" y="5715000"/>
            <a:ext cx="10515600" cy="502920"/>
          </a:xfrm>
          <a:prstGeom prst="rect">
            <a:avLst/>
          </a:prstGeom>
          <a:noFill/>
          <a:ln/>
        </p:spPr>
        <p:txBody>
          <a:bodyPr wrap="square" rtlCol="0" anchor="ctr"/>
          <a:lstStyle/>
          <a:p>
            <a:pPr marL="0" indent="0">
              <a:buNone/>
            </a:pPr>
            <a:r>
              <a:rPr lang="en-US" sz="1200" b="1" i="1" kern="0" spc="100" dirty="0">
                <a:solidFill>
                  <a:srgbClr val="F9A825"/>
                </a:solidFill>
                <a:latin typeface="Trebuchet MS" pitchFamily="34" charset="0"/>
                <a:ea typeface="Trebuchet MS" pitchFamily="34" charset="-122"/>
                <a:cs typeface="Trebuchet MS" pitchFamily="34" charset="-120"/>
              </a:rPr>
              <a:t>ANSWER FIRST:  </a:t>
            </a: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120</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US.34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lstStyle/>
          <a:p>
            <a:endParaRPr lang="en-US"/>
          </a:p>
        </p:txBody>
      </p:sp>
      <p:sp>
        <p:nvSpPr>
          <p:cNvPr id="6" name="Text 4"/>
          <p:cNvSpPr/>
          <p:nvPr/>
        </p:nvSpPr>
        <p:spPr>
          <a:xfrm>
            <a:off x="8595360" y="822960"/>
            <a:ext cx="301752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731520"/>
          </a:xfrm>
          <a:prstGeom prst="rect">
            <a:avLst/>
          </a:prstGeom>
          <a:noFill/>
          <a:ln/>
        </p:spPr>
        <p:txBody>
          <a:bodyPr wrap="square" rtlCol="0" anchor="ctr"/>
          <a:lstStyle/>
          <a:p>
            <a:pPr marL="0" indent="0">
              <a:lnSpc>
                <a:spcPct val="102000"/>
              </a:lnSpc>
              <a:buNone/>
            </a:pPr>
            <a:r>
              <a:rPr lang="en-US" sz="1500" b="1" dirty="0">
                <a:solidFill>
                  <a:srgbClr val="FFFFFF"/>
                </a:solidFill>
                <a:latin typeface="Calibri" pitchFamily="34" charset="0"/>
                <a:ea typeface="Calibri" pitchFamily="34" charset="-122"/>
                <a:cs typeface="Calibri" pitchFamily="34" charset="-120"/>
              </a:rPr>
              <a:t>According to Margaret Sanger, why was birth control essential for women's freedom?</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0" name="Shape 8"/>
          <p:cNvSpPr/>
          <p:nvPr/>
        </p:nvSpPr>
        <p:spPr>
          <a:xfrm>
            <a:off x="713232" y="2761488"/>
            <a:ext cx="347472" cy="347472"/>
          </a:xfrm>
          <a:prstGeom prst="ellipse">
            <a:avLst/>
          </a:prstGeom>
          <a:solidFill>
            <a:srgbClr val="1A2332"/>
          </a:solidFill>
          <a:ln/>
        </p:spPr>
        <p:txBody>
          <a:bodyPr/>
          <a:lstStyle/>
          <a:p>
            <a:endParaRPr lang="en-US"/>
          </a:p>
        </p:txBody>
      </p:sp>
      <p:sp>
        <p:nvSpPr>
          <p:cNvPr id="11" name="Text 9"/>
          <p:cNvSpPr/>
          <p:nvPr/>
        </p:nvSpPr>
        <p:spPr>
          <a:xfrm>
            <a:off x="713232" y="2761488"/>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It would help reduce poverty in urban immigrant communities</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txBody>
          <a:bodyPr/>
          <a:lstStyle/>
          <a:p>
            <a:endParaRPr lang="en-US"/>
          </a:p>
        </p:txBody>
      </p:sp>
      <p:sp>
        <p:nvSpPr>
          <p:cNvPr id="14" name="Shape 12"/>
          <p:cNvSpPr/>
          <p:nvPr/>
        </p:nvSpPr>
        <p:spPr>
          <a:xfrm>
            <a:off x="713232" y="3419856"/>
            <a:ext cx="347472" cy="347472"/>
          </a:xfrm>
          <a:prstGeom prst="ellipse">
            <a:avLst/>
          </a:prstGeom>
          <a:solidFill>
            <a:srgbClr val="1A2332"/>
          </a:solidFill>
          <a:ln/>
        </p:spPr>
        <p:txBody>
          <a:bodyPr/>
          <a:lstStyle/>
          <a:p>
            <a:endParaRPr lang="en-US"/>
          </a:p>
        </p:txBody>
      </p:sp>
      <p:sp>
        <p:nvSpPr>
          <p:cNvPr id="15" name="Text 13"/>
          <p:cNvSpPr/>
          <p:nvPr/>
        </p:nvSpPr>
        <p:spPr>
          <a:xfrm>
            <a:off x="713232" y="3419856"/>
            <a:ext cx="347472" cy="347472"/>
          </a:xfrm>
          <a:prstGeom prst="rect">
            <a:avLst/>
          </a:prstGeom>
          <a:noFill/>
          <a:ln/>
        </p:spPr>
        <p:txBody>
          <a:bodyPr wrap="square" rtlCol="0" anchor="ctr"/>
          <a:lstStyle/>
          <a:p>
            <a:pPr marL="0" indent="0" algn="ctr">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marL="0" indent="0">
              <a:lnSpc>
                <a:spcPct val="100000"/>
              </a:lnSpc>
              <a:buNone/>
            </a:pPr>
            <a:r>
              <a:rPr lang="en-US" sz="1300" b="1" dirty="0">
                <a:solidFill>
                  <a:srgbClr val="1A2332"/>
                </a:solidFill>
                <a:latin typeface="Calibri" pitchFamily="34" charset="0"/>
                <a:ea typeface="Calibri" pitchFamily="34" charset="-122"/>
                <a:cs typeface="Calibri" pitchFamily="34" charset="-120"/>
              </a:rPr>
              <a:t>True freedom required women to control their own bodies and reproductive choices</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marL="0" indent="0" algn="ctr">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9" name="Shape 17"/>
          <p:cNvSpPr/>
          <p:nvPr/>
        </p:nvSpPr>
        <p:spPr>
          <a:xfrm>
            <a:off x="713232" y="4078224"/>
            <a:ext cx="347472" cy="347472"/>
          </a:xfrm>
          <a:prstGeom prst="ellipse">
            <a:avLst/>
          </a:prstGeom>
          <a:solidFill>
            <a:srgbClr val="1A2332"/>
          </a:solidFill>
          <a:ln/>
        </p:spPr>
        <p:txBody>
          <a:bodyPr/>
          <a:lstStyle/>
          <a:p>
            <a:endParaRPr lang="en-US"/>
          </a:p>
        </p:txBody>
      </p:sp>
      <p:sp>
        <p:nvSpPr>
          <p:cNvPr id="20" name="Text 18"/>
          <p:cNvSpPr/>
          <p:nvPr/>
        </p:nvSpPr>
        <p:spPr>
          <a:xfrm>
            <a:off x="713232" y="4078224"/>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Birth control would allow women to compete with men in all careers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23" name="Shape 21"/>
          <p:cNvSpPr/>
          <p:nvPr/>
        </p:nvSpPr>
        <p:spPr>
          <a:xfrm>
            <a:off x="713232" y="4736592"/>
            <a:ext cx="347472" cy="347472"/>
          </a:xfrm>
          <a:prstGeom prst="ellipse">
            <a:avLst/>
          </a:prstGeom>
          <a:solidFill>
            <a:srgbClr val="1A2332"/>
          </a:solidFill>
          <a:ln/>
        </p:spPr>
        <p:txBody>
          <a:bodyPr/>
          <a:lstStyle/>
          <a:p>
            <a:endParaRPr lang="en-US"/>
          </a:p>
        </p:txBody>
      </p:sp>
      <p:sp>
        <p:nvSpPr>
          <p:cNvPr id="24" name="Text 22"/>
          <p:cNvSpPr/>
          <p:nvPr/>
        </p:nvSpPr>
        <p:spPr>
          <a:xfrm>
            <a:off x="713232" y="4736592"/>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It was primarily a health issue rather than a freedom issue</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lstStyle/>
          <a:p>
            <a:endParaRPr lang="en-US"/>
          </a:p>
        </p:txBody>
      </p:sp>
      <p:sp>
        <p:nvSpPr>
          <p:cNvPr id="27" name="Text 25"/>
          <p:cNvSpPr/>
          <p:nvPr/>
        </p:nvSpPr>
        <p:spPr>
          <a:xfrm>
            <a:off x="822960" y="5532120"/>
            <a:ext cx="10515600" cy="713232"/>
          </a:xfrm>
          <a:prstGeom prst="rect">
            <a:avLst/>
          </a:prstGeom>
          <a:noFill/>
          <a:ln/>
        </p:spPr>
        <p:txBody>
          <a:bodyPr wrap="square" rtlCol="0" anchor="ctr"/>
          <a:lstStyle/>
          <a:p>
            <a:pPr marL="0" indent="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Why: </a:t>
            </a:r>
            <a:r>
              <a:rPr lang="en-US" sz="1150" dirty="0">
                <a:solidFill>
                  <a:srgbClr val="C7D4E0"/>
                </a:solidFill>
                <a:latin typeface="Calibri" pitchFamily="34" charset="0"/>
                <a:ea typeface="Calibri" pitchFamily="34" charset="-122"/>
                <a:cs typeface="Calibri" pitchFamily="34" charset="-120"/>
              </a:rPr>
              <a:t>Sanger states "No woman can call herself free who does not own and control her body" or "choose consciously whether she will or will not be a mother."</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121</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US.34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marL="0" indent="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lstStyle/>
          <a:p>
            <a:endParaRPr lang="en-US"/>
          </a:p>
        </p:txBody>
      </p:sp>
      <p:sp>
        <p:nvSpPr>
          <p:cNvPr id="6" name="Text 4"/>
          <p:cNvSpPr/>
          <p:nvPr/>
        </p:nvSpPr>
        <p:spPr>
          <a:xfrm>
            <a:off x="868680" y="1847088"/>
            <a:ext cx="5486400" cy="320040"/>
          </a:xfrm>
          <a:prstGeom prst="rect">
            <a:avLst/>
          </a:prstGeom>
          <a:noFill/>
          <a:ln/>
        </p:spPr>
        <p:txBody>
          <a:bodyPr wrap="square" rtlCol="0" anchor="ctr"/>
          <a:lstStyle/>
          <a:p>
            <a:pPr marL="0" indent="0">
              <a:buNone/>
            </a:pPr>
            <a:r>
              <a:rPr lang="en-US" sz="1200" b="1" kern="0" spc="20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Flappers and Cultural Significance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Birth Control and Reproductive Rights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Clerical and Office Jobs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Rise of Women's Colleges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Limitations and Contradictions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lstStyle/>
          <a:p>
            <a:endParaRPr lang="en-US"/>
          </a:p>
        </p:txBody>
      </p:sp>
      <p:sp>
        <p:nvSpPr>
          <p:cNvPr id="9" name="Text 7"/>
          <p:cNvSpPr/>
          <p:nvPr/>
        </p:nvSpPr>
        <p:spPr>
          <a:xfrm>
            <a:off x="822960" y="4901184"/>
            <a:ext cx="6492240" cy="274320"/>
          </a:xfrm>
          <a:prstGeom prst="rect">
            <a:avLst/>
          </a:prstGeom>
          <a:noFill/>
          <a:ln/>
        </p:spPr>
        <p:txBody>
          <a:bodyPr wrap="square" rtlCol="0" anchor="ctr"/>
          <a:lstStyle/>
          <a:p>
            <a:pPr marL="0" indent="0">
              <a:buNone/>
            </a:pPr>
            <a:r>
              <a:rPr lang="en-US" sz="1100" b="1" kern="0" spc="100" dirty="0">
                <a:solidFill>
                  <a:srgbClr val="7A5C12"/>
                </a:solidFill>
                <a:latin typeface="Trebuchet MS" pitchFamily="34" charset="0"/>
                <a:ea typeface="Trebuchet MS" pitchFamily="34" charset="-122"/>
                <a:cs typeface="Trebuchet MS" pitchFamily="34" charset="-120"/>
              </a:rPr>
              <a:t>★ HONORS / EXTENSION  </a:t>
            </a: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marL="0" indent="0">
              <a:lnSpc>
                <a:spcPct val="98000"/>
              </a:lnSpc>
              <a:buNone/>
            </a:pPr>
            <a:r>
              <a:rPr lang="en-US" sz="1150" i="1" dirty="0">
                <a:solidFill>
                  <a:srgbClr val="1F2430"/>
                </a:solidFill>
                <a:latin typeface="Calibri" pitchFamily="34" charset="0"/>
                <a:ea typeface="Calibri" pitchFamily="34" charset="-122"/>
                <a:cs typeface="Calibri" pitchFamily="34" charset="-120"/>
              </a:rPr>
              <a:t>Evaluate: Did the 1920s represent real liberation for women or mostly a change in style and image? Defend your claim with evidence. (SSP.04)</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lstStyle/>
          <a:p>
            <a:endParaRPr lang="en-US"/>
          </a:p>
        </p:txBody>
      </p:sp>
      <p:sp>
        <p:nvSpPr>
          <p:cNvPr id="12" name="Text 10"/>
          <p:cNvSpPr/>
          <p:nvPr/>
        </p:nvSpPr>
        <p:spPr>
          <a:xfrm>
            <a:off x="8092440" y="1920240"/>
            <a:ext cx="2286000" cy="320040"/>
          </a:xfrm>
          <a:prstGeom prst="rect">
            <a:avLst/>
          </a:prstGeom>
          <a:noFill/>
          <a:ln/>
        </p:spPr>
        <p:txBody>
          <a:bodyPr wrap="square" rtlCol="0" anchor="ctr"/>
          <a:lstStyle/>
          <a:p>
            <a:pPr marL="0" indent="0">
              <a:buNone/>
            </a:pPr>
            <a:r>
              <a:rPr lang="en-US" sz="1200" b="1" kern="0" spc="20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lstStyle/>
          <a:p>
            <a:endParaRPr lang="en-US"/>
          </a:p>
        </p:txBody>
      </p:sp>
      <p:sp>
        <p:nvSpPr>
          <p:cNvPr id="14" name="Text 12"/>
          <p:cNvSpPr/>
          <p:nvPr/>
        </p:nvSpPr>
        <p:spPr>
          <a:xfrm>
            <a:off x="10378440" y="1883664"/>
            <a:ext cx="960120" cy="365760"/>
          </a:xfrm>
          <a:prstGeom prst="rect">
            <a:avLst/>
          </a:prstGeom>
          <a:noFill/>
          <a:ln/>
        </p:spPr>
        <p:txBody>
          <a:bodyPr wrap="square" rtlCol="0" anchor="ctr"/>
          <a:lstStyle/>
          <a:p>
            <a:pPr marL="0" indent="0" algn="ctr">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Explain how life changed for American women in the 1920s AND how it stayed the same. Give one example of each.</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lstStyle/>
          <a:p>
            <a:endParaRPr lang="en-US"/>
          </a:p>
        </p:txBody>
      </p:sp>
      <p:sp>
        <p:nvSpPr>
          <p:cNvPr id="17" name="Shape 15"/>
          <p:cNvSpPr/>
          <p:nvPr/>
        </p:nvSpPr>
        <p:spPr>
          <a:xfrm>
            <a:off x="8138160" y="5074920"/>
            <a:ext cx="3108960" cy="0"/>
          </a:xfrm>
          <a:prstGeom prst="line">
            <a:avLst/>
          </a:prstGeom>
          <a:noFill/>
          <a:ln w="12700">
            <a:solidFill>
              <a:srgbClr val="A7BACB"/>
            </a:solidFill>
            <a:prstDash val="dash"/>
          </a:ln>
        </p:spPr>
        <p:txBody>
          <a:bodyPr/>
          <a:lstStyle/>
          <a:p>
            <a:endParaRPr lang="en-US"/>
          </a:p>
        </p:txBody>
      </p:sp>
      <p:sp>
        <p:nvSpPr>
          <p:cNvPr id="18" name="Shape 16"/>
          <p:cNvSpPr/>
          <p:nvPr/>
        </p:nvSpPr>
        <p:spPr>
          <a:xfrm>
            <a:off x="8138160" y="5623560"/>
            <a:ext cx="3108960" cy="0"/>
          </a:xfrm>
          <a:prstGeom prst="line">
            <a:avLst/>
          </a:prstGeom>
          <a:noFill/>
          <a:ln w="12700">
            <a:solidFill>
              <a:srgbClr val="A7BACB"/>
            </a:solidFill>
            <a:prstDash val="dash"/>
          </a:ln>
        </p:spPr>
        <p:txBody>
          <a:bodyPr/>
          <a:lstStyle/>
          <a:p>
            <a:endParaRPr lang="en-US"/>
          </a:p>
        </p:txBody>
      </p:sp>
      <p:sp>
        <p:nvSpPr>
          <p:cNvPr id="20" name="Text 1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122</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lstStyle/>
          <a:p>
            <a:endParaRPr lang="en-US"/>
          </a:p>
        </p:txBody>
      </p:sp>
      <p:sp>
        <p:nvSpPr>
          <p:cNvPr id="3" name="Shape 1"/>
          <p:cNvSpPr/>
          <p:nvPr/>
        </p:nvSpPr>
        <p:spPr>
          <a:xfrm>
            <a:off x="320040" y="0"/>
            <a:ext cx="109728" cy="6858000"/>
          </a:xfrm>
          <a:prstGeom prst="rect">
            <a:avLst/>
          </a:prstGeom>
          <a:solidFill>
            <a:srgbClr val="C9A84C"/>
          </a:solidFill>
          <a:ln/>
        </p:spPr>
        <p:txBody>
          <a:bodyPr/>
          <a:lstStyle/>
          <a:p>
            <a:endParaRPr lang="en-US"/>
          </a:p>
        </p:txBody>
      </p:sp>
      <p:sp>
        <p:nvSpPr>
          <p:cNvPr id="4" name="Text 2"/>
          <p:cNvSpPr/>
          <p:nvPr/>
        </p:nvSpPr>
        <p:spPr>
          <a:xfrm>
            <a:off x="914400" y="1005840"/>
            <a:ext cx="5486400" cy="365760"/>
          </a:xfrm>
          <a:prstGeom prst="rect">
            <a:avLst/>
          </a:prstGeom>
          <a:noFill/>
          <a:ln/>
        </p:spPr>
        <p:txBody>
          <a:bodyPr wrap="square" rtlCol="0" anchor="ctr"/>
          <a:lstStyle/>
          <a:p>
            <a:pPr marL="0" indent="0">
              <a:buNone/>
            </a:pPr>
            <a:r>
              <a:rPr lang="en-US" sz="1500" b="1" kern="0" spc="40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marL="0" indent="0">
              <a:buNone/>
            </a:pPr>
            <a:r>
              <a:rPr lang="en-US" sz="8800" b="1" dirty="0">
                <a:solidFill>
                  <a:srgbClr val="FFFFFF"/>
                </a:solidFill>
                <a:latin typeface="Georgia" pitchFamily="34" charset="0"/>
                <a:ea typeface="Georgia" pitchFamily="34" charset="-122"/>
                <a:cs typeface="Georgia" pitchFamily="34" charset="-120"/>
              </a:rPr>
              <a:t>US.35</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marL="0" indent="0">
              <a:lnSpc>
                <a:spcPct val="102000"/>
              </a:lnSpc>
              <a:buNone/>
            </a:pPr>
            <a:r>
              <a:rPr lang="en-US" sz="2400" i="1" dirty="0">
                <a:solidFill>
                  <a:srgbClr val="F9A825"/>
                </a:solidFill>
                <a:latin typeface="Georgia" pitchFamily="34" charset="0"/>
                <a:ea typeface="Georgia" pitchFamily="34" charset="-122"/>
                <a:cs typeface="Georgia" pitchFamily="34" charset="-120"/>
              </a:rPr>
              <a:t>Civil Liberties: Red Scare, KKK &amp; NAACP</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marL="0" indent="0" algn="l">
              <a:buNone/>
            </a:pPr>
            <a:r>
              <a:rPr lang="en-US" sz="1100" b="1" kern="0" spc="20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lstStyle/>
          <a:p>
            <a:endParaRPr lang="en-US"/>
          </a:p>
        </p:txBody>
      </p:sp>
      <p:sp>
        <p:nvSpPr>
          <p:cNvPr id="9" name="Text 7"/>
          <p:cNvSpPr/>
          <p:nvPr/>
        </p:nvSpPr>
        <p:spPr>
          <a:xfrm>
            <a:off x="6812280" y="1417320"/>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lstStyle/>
          <a:p>
            <a:endParaRPr lang="en-US"/>
          </a:p>
        </p:txBody>
      </p:sp>
      <p:sp>
        <p:nvSpPr>
          <p:cNvPr id="12" name="Text 10"/>
          <p:cNvSpPr/>
          <p:nvPr/>
        </p:nvSpPr>
        <p:spPr>
          <a:xfrm>
            <a:off x="6812280" y="1755648"/>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lstStyle/>
          <a:p>
            <a:endParaRPr lang="en-US"/>
          </a:p>
        </p:txBody>
      </p:sp>
      <p:sp>
        <p:nvSpPr>
          <p:cNvPr id="15" name="Text 13"/>
          <p:cNvSpPr/>
          <p:nvPr/>
        </p:nvSpPr>
        <p:spPr>
          <a:xfrm>
            <a:off x="6812280" y="2093976"/>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lstStyle/>
          <a:p>
            <a:endParaRPr lang="en-US"/>
          </a:p>
        </p:txBody>
      </p:sp>
      <p:sp>
        <p:nvSpPr>
          <p:cNvPr id="18" name="Text 16"/>
          <p:cNvSpPr/>
          <p:nvPr/>
        </p:nvSpPr>
        <p:spPr>
          <a:xfrm>
            <a:off x="1143000" y="3913632"/>
            <a:ext cx="5486400" cy="274320"/>
          </a:xfrm>
          <a:prstGeom prst="rect">
            <a:avLst/>
          </a:prstGeom>
          <a:noFill/>
          <a:ln/>
        </p:spPr>
        <p:txBody>
          <a:bodyPr wrap="square" rtlCol="0" anchor="ctr"/>
          <a:lstStyle/>
          <a:p>
            <a:pPr marL="0" indent="0">
              <a:buNone/>
            </a:pPr>
            <a:r>
              <a:rPr lang="en-US" sz="1100" b="1" kern="0" spc="20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marL="0" indent="0">
              <a:lnSpc>
                <a:spcPct val="100000"/>
              </a:lnSpc>
              <a:buNone/>
            </a:pPr>
            <a:r>
              <a:rPr lang="en-US" sz="1150" dirty="0">
                <a:solidFill>
                  <a:srgbClr val="FFFFFF"/>
                </a:solidFill>
                <a:latin typeface="Calibri" pitchFamily="34" charset="0"/>
                <a:ea typeface="Calibri" pitchFamily="34" charset="-122"/>
                <a:cs typeface="Calibri" pitchFamily="34" charset="-120"/>
              </a:rPr>
              <a:t>Examine challenges and advancements related to the push for civil liberties, including: First Red Scare, Immigration Quota Acts of the 1920s, Resurgence of the Ku Klux Klan, Black Wall Street and Tulsa Massacre, Rise of the NAACP, Efforts of Ida B. Wells-Barnett, Emergence of Garveyism. (TCA)</a:t>
            </a:r>
            <a:endParaRPr lang="en-US" sz="115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lstStyle/>
          <a:p>
            <a:endParaRPr lang="en-US"/>
          </a:p>
        </p:txBody>
      </p:sp>
      <p:sp>
        <p:nvSpPr>
          <p:cNvPr id="21" name="Text 19"/>
          <p:cNvSpPr/>
          <p:nvPr/>
        </p:nvSpPr>
        <p:spPr>
          <a:xfrm>
            <a:off x="1143000" y="5230368"/>
            <a:ext cx="1828800" cy="292608"/>
          </a:xfrm>
          <a:prstGeom prst="rect">
            <a:avLst/>
          </a:prstGeom>
          <a:noFill/>
          <a:ln/>
        </p:spPr>
        <p:txBody>
          <a:bodyPr wrap="square" rtlCol="0" anchor="ctr"/>
          <a:lstStyle/>
          <a:p>
            <a:pPr marL="0" indent="0">
              <a:buNone/>
            </a:pPr>
            <a:r>
              <a:rPr lang="en-US" sz="1300" b="1" kern="0" spc="20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marL="0" indent="0">
              <a:lnSpc>
                <a:spcPct val="100000"/>
              </a:lnSpc>
              <a:buNone/>
            </a:pPr>
            <a:r>
              <a:rPr lang="en-US" sz="1150" b="1" dirty="0">
                <a:solidFill>
                  <a:srgbClr val="1A2332"/>
                </a:solidFill>
                <a:latin typeface="Calibri" pitchFamily="34" charset="0"/>
                <a:ea typeface="Calibri" pitchFamily="34" charset="-122"/>
                <a:cs typeface="Calibri" pitchFamily="34" charset="-120"/>
              </a:rPr>
              <a:t>I can examine challenges and advancements related to the push for civil liberties, including the First Red Scare, Immigration Quota Acts, resurgence of the KKK, Black Wall Street and Tulsa Massacre, rise of the NAACP, Ida B. Wells-Barnett, and Garveyism.</a:t>
            </a:r>
            <a:endParaRPr lang="en-US" sz="1150" dirty="0"/>
          </a:p>
        </p:txBody>
      </p:sp>
      <p:sp>
        <p:nvSpPr>
          <p:cNvPr id="23"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123</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lstStyle/>
          <a:p>
            <a:endParaRPr lang="en-US"/>
          </a:p>
        </p:txBody>
      </p:sp>
      <p:sp>
        <p:nvSpPr>
          <p:cNvPr id="7" name="Shape 5"/>
          <p:cNvSpPr/>
          <p:nvPr/>
        </p:nvSpPr>
        <p:spPr>
          <a:xfrm>
            <a:off x="548640" y="2057400"/>
            <a:ext cx="777240" cy="1234440"/>
          </a:xfrm>
          <a:prstGeom prst="rect">
            <a:avLst/>
          </a:prstGeom>
          <a:solidFill>
            <a:srgbClr val="1A2332"/>
          </a:solidFill>
          <a:ln/>
        </p:spPr>
        <p:txBody>
          <a:bodyPr/>
          <a:lstStyle/>
          <a:p>
            <a:endParaRPr lang="en-US"/>
          </a:p>
        </p:txBody>
      </p:sp>
      <p:sp>
        <p:nvSpPr>
          <p:cNvPr id="8" name="Text 6"/>
          <p:cNvSpPr/>
          <p:nvPr/>
        </p:nvSpPr>
        <p:spPr>
          <a:xfrm>
            <a:off x="548640" y="2057400"/>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US.34  </a:t>
            </a:r>
            <a:r>
              <a:rPr lang="en-US" sz="1350" dirty="0">
                <a:solidFill>
                  <a:srgbClr val="1F2430"/>
                </a:solidFill>
                <a:latin typeface="Calibri" pitchFamily="34" charset="0"/>
                <a:ea typeface="Calibri" pitchFamily="34" charset="-122"/>
                <a:cs typeface="Calibri" pitchFamily="34" charset="-120"/>
              </a:rPr>
              <a:t>Who were the 'flappers' and what did they represent?</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lstStyle/>
          <a:p>
            <a:endParaRPr lang="en-US"/>
          </a:p>
        </p:txBody>
      </p:sp>
      <p:sp>
        <p:nvSpPr>
          <p:cNvPr id="11" name="Shape 9"/>
          <p:cNvSpPr/>
          <p:nvPr/>
        </p:nvSpPr>
        <p:spPr>
          <a:xfrm>
            <a:off x="548640" y="3456432"/>
            <a:ext cx="777240" cy="1234440"/>
          </a:xfrm>
          <a:prstGeom prst="rect">
            <a:avLst/>
          </a:prstGeom>
          <a:solidFill>
            <a:srgbClr val="1A2332"/>
          </a:solidFill>
          <a:ln/>
        </p:spPr>
        <p:txBody>
          <a:bodyPr/>
          <a:lstStyle/>
          <a:p>
            <a:endParaRPr lang="en-US"/>
          </a:p>
        </p:txBody>
      </p:sp>
      <p:sp>
        <p:nvSpPr>
          <p:cNvPr id="12" name="Text 10"/>
          <p:cNvSpPr/>
          <p:nvPr/>
        </p:nvSpPr>
        <p:spPr>
          <a:xfrm>
            <a:off x="548640" y="3456432"/>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US.34  </a:t>
            </a:r>
            <a:r>
              <a:rPr lang="en-US" sz="1350" dirty="0">
                <a:solidFill>
                  <a:srgbClr val="1F2430"/>
                </a:solidFill>
                <a:latin typeface="Calibri" pitchFamily="34" charset="0"/>
                <a:ea typeface="Calibri" pitchFamily="34" charset="-122"/>
                <a:cs typeface="Calibri" pitchFamily="34" charset="-120"/>
              </a:rPr>
              <a:t>What major political right did women gain at the start of the 1920s?</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124</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lstStyle/>
          <a:p>
            <a:endParaRPr lang="en-US"/>
          </a:p>
        </p:txBody>
      </p:sp>
      <p:sp>
        <p:nvSpPr>
          <p:cNvPr id="6" name="Text 4"/>
          <p:cNvSpPr/>
          <p:nvPr/>
        </p:nvSpPr>
        <p:spPr>
          <a:xfrm>
            <a:off x="8686800" y="786384"/>
            <a:ext cx="1143000" cy="457200"/>
          </a:xfrm>
          <a:prstGeom prst="rect">
            <a:avLst/>
          </a:prstGeom>
          <a:noFill/>
          <a:ln/>
        </p:spPr>
        <p:txBody>
          <a:bodyPr wrap="square" rtlCol="0" anchor="ctr"/>
          <a:lstStyle/>
          <a:p>
            <a:pPr marL="0" indent="0" algn="ctr">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lstStyle/>
          <a:p>
            <a:endParaRPr lang="en-US"/>
          </a:p>
        </p:txBody>
      </p:sp>
      <p:sp>
        <p:nvSpPr>
          <p:cNvPr id="8" name="Text 6"/>
          <p:cNvSpPr/>
          <p:nvPr/>
        </p:nvSpPr>
        <p:spPr>
          <a:xfrm>
            <a:off x="9966960" y="786384"/>
            <a:ext cx="164592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lstStyle/>
          <a:p>
            <a:endParaRPr lang="en-US"/>
          </a:p>
        </p:txBody>
      </p:sp>
      <p:sp>
        <p:nvSpPr>
          <p:cNvPr id="11" name="Text 9"/>
          <p:cNvSpPr/>
          <p:nvPr/>
        </p:nvSpPr>
        <p:spPr>
          <a:xfrm>
            <a:off x="1005840" y="2194560"/>
            <a:ext cx="10149840" cy="1417320"/>
          </a:xfrm>
          <a:prstGeom prst="rect">
            <a:avLst/>
          </a:prstGeom>
          <a:noFill/>
          <a:ln/>
        </p:spPr>
        <p:txBody>
          <a:bodyPr wrap="square" rtlCol="0" anchor="ctr"/>
          <a:lstStyle/>
          <a:p>
            <a:pPr marL="0" indent="0" algn="ctr">
              <a:lnSpc>
                <a:spcPct val="108000"/>
              </a:lnSpc>
              <a:buNone/>
            </a:pPr>
            <a:r>
              <a:rPr lang="en-US" sz="2400" b="1" dirty="0">
                <a:solidFill>
                  <a:srgbClr val="FFFFFF"/>
                </a:solidFill>
                <a:latin typeface="Georgia" pitchFamily="34" charset="0"/>
                <a:ea typeface="Georgia" pitchFamily="34" charset="-122"/>
                <a:cs typeface="Georgia" pitchFamily="34" charset="-120"/>
              </a:rPr>
              <a:t>What was the First Red Scare?</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lstStyle/>
          <a:p>
            <a:endParaRPr lang="en-US"/>
          </a:p>
        </p:txBody>
      </p:sp>
      <p:sp>
        <p:nvSpPr>
          <p:cNvPr id="13" name="Text 11"/>
          <p:cNvSpPr/>
          <p:nvPr/>
        </p:nvSpPr>
        <p:spPr>
          <a:xfrm>
            <a:off x="914400" y="4224528"/>
            <a:ext cx="2743200" cy="320040"/>
          </a:xfrm>
          <a:prstGeom prst="rect">
            <a:avLst/>
          </a:prstGeom>
          <a:noFill/>
          <a:ln/>
        </p:spPr>
        <p:txBody>
          <a:bodyPr wrap="square" rtlCol="0" anchor="ctr"/>
          <a:lstStyle/>
          <a:p>
            <a:pPr marL="0" indent="0">
              <a:buNone/>
            </a:pPr>
            <a:r>
              <a:rPr lang="en-US" sz="1200" b="1" kern="0" spc="20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marL="0" indent="0">
              <a:lnSpc>
                <a:spcPct val="108000"/>
              </a:lnSpc>
              <a:buNone/>
            </a:pPr>
            <a:r>
              <a:rPr lang="en-US" sz="1600" dirty="0">
                <a:solidFill>
                  <a:srgbClr val="1F2430"/>
                </a:solidFill>
                <a:latin typeface="Calibri" pitchFamily="34" charset="0"/>
                <a:ea typeface="Calibri" pitchFamily="34" charset="-122"/>
                <a:cs typeface="Calibri" pitchFamily="34" charset="-120"/>
              </a:rPr>
              <a:t>Post-WWI fear of communism and radicalism that led to raids, arrests, and deportations.</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lstStyle/>
          <a:p>
            <a:endParaRPr lang="en-US"/>
          </a:p>
        </p:txBody>
      </p:sp>
      <p:sp>
        <p:nvSpPr>
          <p:cNvPr id="16" name="Text 14"/>
          <p:cNvSpPr/>
          <p:nvPr/>
        </p:nvSpPr>
        <p:spPr>
          <a:xfrm>
            <a:off x="822960" y="5623560"/>
            <a:ext cx="10515600" cy="457200"/>
          </a:xfrm>
          <a:prstGeom prst="rect">
            <a:avLst/>
          </a:prstGeom>
          <a:noFill/>
          <a:ln/>
        </p:spPr>
        <p:txBody>
          <a:bodyPr wrap="square" rtlCol="0" anchor="ctr"/>
          <a:lstStyle/>
          <a:p>
            <a:pPr marL="0" indent="0">
              <a:buNone/>
            </a:pPr>
            <a:r>
              <a:rPr lang="en-US" sz="1150" b="1" i="1" kern="0" spc="100" dirty="0">
                <a:solidFill>
                  <a:srgbClr val="C62828"/>
                </a:solidFill>
                <a:latin typeface="Trebuchet MS" pitchFamily="34" charset="0"/>
                <a:ea typeface="Trebuchet MS" pitchFamily="34" charset="-122"/>
                <a:cs typeface="Trebuchet MS" pitchFamily="34" charset="-120"/>
              </a:rPr>
              <a:t>COMMIT FIRST:  </a:t>
            </a: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125</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lstStyle/>
          <a:p>
            <a:endParaRPr lang="en-US"/>
          </a:p>
        </p:txBody>
      </p:sp>
      <p:sp>
        <p:nvSpPr>
          <p:cNvPr id="6" name="Text 4"/>
          <p:cNvSpPr/>
          <p:nvPr/>
        </p:nvSpPr>
        <p:spPr>
          <a:xfrm>
            <a:off x="1005840" y="1965960"/>
            <a:ext cx="10149840" cy="1645920"/>
          </a:xfrm>
          <a:prstGeom prst="rect">
            <a:avLst/>
          </a:prstGeom>
          <a:noFill/>
          <a:ln/>
        </p:spPr>
        <p:txBody>
          <a:bodyPr wrap="square" rtlCol="0" anchor="ctr"/>
          <a:lstStyle/>
          <a:p>
            <a:pPr marL="0" indent="0">
              <a:lnSpc>
                <a:spcPct val="108000"/>
              </a:lnSpc>
              <a:buNone/>
            </a:pPr>
            <a:r>
              <a:rPr lang="en-US" sz="2600" i="1" dirty="0">
                <a:solidFill>
                  <a:srgbClr val="FFFFFF"/>
                </a:solidFill>
                <a:latin typeface="Georgia" pitchFamily="34" charset="0"/>
                <a:ea typeface="Georgia" pitchFamily="34" charset="-122"/>
                <a:cs typeface="Georgia" pitchFamily="34" charset="-120"/>
              </a:rPr>
              <a:t>In the same decade that celebrated jazz and freedom, the Ku Klux Klan grew to over four million members, the government rounded up and deported suspected radicals, and Congress slammed the door on immigrants from most of the world.</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lstStyle/>
          <a:p>
            <a:endParaRPr lang="en-US"/>
          </a:p>
        </p:txBody>
      </p:sp>
      <p:sp>
        <p:nvSpPr>
          <p:cNvPr id="8" name="Text 6"/>
          <p:cNvSpPr/>
          <p:nvPr/>
        </p:nvSpPr>
        <p:spPr>
          <a:xfrm>
            <a:off x="914400" y="4297680"/>
            <a:ext cx="2743200" cy="320040"/>
          </a:xfrm>
          <a:prstGeom prst="rect">
            <a:avLst/>
          </a:prstGeom>
          <a:noFill/>
          <a:ln/>
        </p:spPr>
        <p:txBody>
          <a:bodyPr wrap="square" rtlCol="0" anchor="ctr"/>
          <a:lstStyle/>
          <a:p>
            <a:pPr marL="0" indent="0">
              <a:buNone/>
            </a:pPr>
            <a:r>
              <a:rPr lang="en-US" sz="1300" b="1" kern="0" spc="20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lstStyle/>
          <a:p>
            <a:endParaRPr lang="en-US"/>
          </a:p>
        </p:txBody>
      </p:sp>
      <p:sp>
        <p:nvSpPr>
          <p:cNvPr id="10" name="Text 8"/>
          <p:cNvSpPr/>
          <p:nvPr/>
        </p:nvSpPr>
        <p:spPr>
          <a:xfrm>
            <a:off x="7772400" y="4224528"/>
            <a:ext cx="3657600" cy="45720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marL="0" indent="0">
              <a:lnSpc>
                <a:spcPct val="110000"/>
              </a:lnSpc>
              <a:buNone/>
            </a:pPr>
            <a:r>
              <a:rPr lang="en-US" sz="1600" dirty="0">
                <a:solidFill>
                  <a:srgbClr val="1F2430"/>
                </a:solidFill>
                <a:latin typeface="Calibri" pitchFamily="34" charset="0"/>
                <a:ea typeface="Calibri" pitchFamily="34" charset="-122"/>
                <a:cs typeface="Calibri" pitchFamily="34" charset="-120"/>
              </a:rPr>
              <a:t>How could the 'Roaring Twenties' be a time of new freedom and, at the very same time, a time of fear, prejudice, and shrinking civil liberties?</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126</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First Red Scare (1919-1920)</a:t>
            </a:r>
            <a:endParaRPr lang="en-US" sz="3000" dirty="0"/>
          </a:p>
        </p:txBody>
      </p:sp>
      <p:sp>
        <p:nvSpPr>
          <p:cNvPr id="5" name="Shape 3"/>
          <p:cNvSpPr/>
          <p:nvPr/>
        </p:nvSpPr>
        <p:spPr>
          <a:xfrm>
            <a:off x="10180015" y="502920"/>
            <a:ext cx="146304" cy="146304"/>
          </a:xfrm>
          <a:prstGeom prst="ellipse">
            <a:avLst/>
          </a:prstGeom>
          <a:solidFill>
            <a:srgbClr val="C62828"/>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2340864"/>
          </a:xfrm>
          <a:prstGeom prst="rect">
            <a:avLst/>
          </a:prstGeom>
          <a:noFill/>
          <a:ln/>
        </p:spPr>
        <p:txBody>
          <a:bodyPr wrap="square" rtlCol="0" anchor="t">
            <a:normAutofit fontScale="92500" lnSpcReduction="10000"/>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Fear of communist revolution spreading from Russia combined with labor strikes and anarchist bombings created hysteria.</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Attorney General Palmer authorized raids on suspected radicals, arresting over 6,000 people, many without warrants.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Hundreds of immigrants were deported without due process.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Socialist publications were banned, and meetings disrupted.</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Constitutional rights including free speech and due process were violated in the name of security.</a:t>
            </a:r>
            <a:endParaRPr lang="en-US" sz="1550" dirty="0"/>
          </a:p>
        </p:txBody>
      </p:sp>
      <p:sp>
        <p:nvSpPr>
          <p:cNvPr id="13" name="Shape 11"/>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lstStyle/>
          <a:p>
            <a:endParaRPr lang="en-US"/>
          </a:p>
        </p:txBody>
      </p:sp>
      <p:sp>
        <p:nvSpPr>
          <p:cNvPr id="14" name="Text 12"/>
          <p:cNvSpPr/>
          <p:nvPr/>
        </p:nvSpPr>
        <p:spPr>
          <a:xfrm>
            <a:off x="1024128" y="4681728"/>
            <a:ext cx="5852160" cy="237744"/>
          </a:xfrm>
          <a:prstGeom prst="rect">
            <a:avLst/>
          </a:prstGeom>
          <a:noFill/>
          <a:ln/>
        </p:spPr>
        <p:txBody>
          <a:bodyPr wrap="square" rtlCol="0" anchor="ctr"/>
          <a:lstStyle/>
          <a:p>
            <a:pPr marL="0" indent="0">
              <a:buNone/>
            </a:pPr>
            <a:r>
              <a:rPr lang="en-US" sz="900" b="1" kern="0" spc="100" dirty="0">
                <a:solidFill>
                  <a:srgbClr val="002858"/>
                </a:solidFill>
                <a:latin typeface="Trebuchet MS" pitchFamily="34" charset="0"/>
                <a:ea typeface="Trebuchet MS" pitchFamily="34" charset="-122"/>
                <a:cs typeface="Trebuchet MS" pitchFamily="34" charset="-120"/>
              </a:rPr>
              <a:t>SENTENCE FRAME  </a:t>
            </a:r>
            <a:r>
              <a:rPr lang="en-US" sz="850" i="1" dirty="0">
                <a:solidFill>
                  <a:srgbClr val="5C6470"/>
                </a:solidFill>
              </a:rPr>
              <a:t>(EL &amp; writing support)  </a:t>
            </a:r>
            <a:endParaRPr lang="en-US" sz="900" dirty="0"/>
          </a:p>
        </p:txBody>
      </p:sp>
      <p:sp>
        <p:nvSpPr>
          <p:cNvPr id="15" name="Text 13"/>
          <p:cNvSpPr/>
          <p:nvPr/>
        </p:nvSpPr>
        <p:spPr>
          <a:xfrm>
            <a:off x="1024128" y="4937760"/>
            <a:ext cx="6309360" cy="658368"/>
          </a:xfrm>
          <a:prstGeom prst="rect">
            <a:avLst/>
          </a:prstGeom>
          <a:noFill/>
          <a:ln/>
        </p:spPr>
        <p:txBody>
          <a:bodyPr wrap="square" rtlCol="0" anchor="t"/>
          <a:lstStyle/>
          <a:p>
            <a:pPr marL="0" indent="0">
              <a:lnSpc>
                <a:spcPct val="104000"/>
              </a:lnSpc>
              <a:buNone/>
            </a:pPr>
            <a:r>
              <a:rPr lang="en-US" sz="1050" i="1" dirty="0">
                <a:solidFill>
                  <a:srgbClr val="1F2430"/>
                </a:solidFill>
                <a:latin typeface="Calibri" pitchFamily="34" charset="0"/>
                <a:ea typeface="Calibri" pitchFamily="34" charset="-122"/>
                <a:cs typeface="Calibri" pitchFamily="34" charset="-120"/>
              </a:rPr>
              <a:t>In the 1920s civil liberties shrank because of ________, ________, and ________.</a:t>
            </a:r>
            <a:endParaRPr lang="en-US" sz="1050" dirty="0"/>
          </a:p>
        </p:txBody>
      </p:sp>
      <p:sp>
        <p:nvSpPr>
          <p:cNvPr id="16" name="Shape 14"/>
          <p:cNvSpPr/>
          <p:nvPr/>
        </p:nvSpPr>
        <p:spPr>
          <a:xfrm>
            <a:off x="7552944" y="1746504"/>
            <a:ext cx="4142232" cy="2935224"/>
          </a:xfrm>
          <a:prstGeom prst="rect">
            <a:avLst/>
          </a:prstGeom>
          <a:solidFill>
            <a:srgbClr val="FFFFFF"/>
          </a:solidFill>
          <a:ln w="12700">
            <a:solidFill>
              <a:srgbClr val="DAD3C2"/>
            </a:solidFill>
            <a:prstDash val="solid"/>
          </a:ln>
        </p:spPr>
        <p:txBody>
          <a:bodyPr/>
          <a:lstStyle/>
          <a:p>
            <a:endParaRPr lang="en-US"/>
          </a:p>
        </p:txBody>
      </p:sp>
      <p:pic>
        <p:nvPicPr>
          <p:cNvPr id="17" name="Image 0" descr="unit4-full/img/tulsa-aftermath-1921.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95570" y="1783080"/>
            <a:ext cx="4056979" cy="2862072"/>
          </a:xfrm>
          <a:prstGeom prst="rect">
            <a:avLst/>
          </a:prstGeom>
        </p:spPr>
      </p:pic>
      <p:sp>
        <p:nvSpPr>
          <p:cNvPr id="18" name="Text 15"/>
          <p:cNvSpPr/>
          <p:nvPr/>
        </p:nvSpPr>
        <p:spPr>
          <a:xfrm>
            <a:off x="7589520" y="470001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News photo, 1921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Wikimedia Commons (public domain)</a:t>
            </a:r>
            <a:endParaRPr lang="en-US" sz="800" dirty="0"/>
          </a:p>
        </p:txBody>
      </p:sp>
      <p:sp>
        <p:nvSpPr>
          <p:cNvPr id="19" name="Shape 16"/>
          <p:cNvSpPr/>
          <p:nvPr/>
        </p:nvSpPr>
        <p:spPr>
          <a:xfrm>
            <a:off x="7589520" y="5440680"/>
            <a:ext cx="4069080" cy="713232"/>
          </a:xfrm>
          <a:prstGeom prst="roundRect">
            <a:avLst>
              <a:gd name="adj" fmla="val 7692"/>
            </a:avLst>
          </a:prstGeom>
          <a:solidFill>
            <a:srgbClr val="1A2332"/>
          </a:solidFill>
          <a:ln/>
        </p:spPr>
        <p:txBody>
          <a:bodyPr/>
          <a:lstStyle/>
          <a:p>
            <a:endParaRPr lang="en-US"/>
          </a:p>
        </p:txBody>
      </p:sp>
      <p:sp>
        <p:nvSpPr>
          <p:cNvPr id="20" name="Text 17"/>
          <p:cNvSpPr/>
          <p:nvPr/>
        </p:nvSpPr>
        <p:spPr>
          <a:xfrm>
            <a:off x="7772400" y="5477256"/>
            <a:ext cx="3703320" cy="640080"/>
          </a:xfrm>
          <a:prstGeom prst="rect">
            <a:avLst/>
          </a:prstGeom>
          <a:noFill/>
          <a:ln/>
        </p:spPr>
        <p:txBody>
          <a:bodyPr wrap="square" rtlCol="0" anchor="ctr"/>
          <a:lstStyle/>
          <a:p>
            <a:pPr marL="0" indent="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2" name="Text 1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3" name="Text 1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127</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Immigration Quota Acts of the 1920s</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C62828"/>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Emergency Quota Act (1921) limited immigration to 3% of each nationality present in 1910.</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National Origins Act (1924) reduced this to 2% based on 1890 census, favoring Northern and Western Europeans while completely banning Asian immigration.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Total annual immigration was capped at 150,000.</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These laws dramatically altered American demographics and separated many families.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128</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Resurgence of the Ku Klux Klan</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C62828"/>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film "Birth of a Nation" (1915) romanticized the original KKK and inspired revival.</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new Klan opposed Catholics, Jews, and immigrants in addition to African Americans, extending beyond the South to Midwest and West. Peak membership reached 4-5 million in the mid-1920s.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KKK engaged in violence, influenced elections, and promoted economic boycotts before scandals caused decline by 1930.</a:t>
            </a:r>
            <a:endParaRPr lang="en-US" sz="1550" dirty="0"/>
          </a:p>
        </p:txBody>
      </p:sp>
      <p:sp>
        <p:nvSpPr>
          <p:cNvPr id="13" name="Shape 11"/>
          <p:cNvSpPr/>
          <p:nvPr/>
        </p:nvSpPr>
        <p:spPr>
          <a:xfrm>
            <a:off x="7552944" y="1746504"/>
            <a:ext cx="4142232" cy="3575304"/>
          </a:xfrm>
          <a:prstGeom prst="rect">
            <a:avLst/>
          </a:prstGeom>
          <a:solidFill>
            <a:srgbClr val="FFFFFF"/>
          </a:solidFill>
          <a:ln w="12700">
            <a:solidFill>
              <a:srgbClr val="DAD3C2"/>
            </a:solidFill>
            <a:prstDash val="solid"/>
          </a:ln>
        </p:spPr>
        <p:txBody>
          <a:bodyPr/>
          <a:lstStyle/>
          <a:p>
            <a:endParaRPr lang="en-US"/>
          </a:p>
        </p:txBody>
      </p:sp>
      <p:pic>
        <p:nvPicPr>
          <p:cNvPr id="14" name="Image 0" descr="unit4-full/img/ku-klux-klan-parade-washington-1926.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30381" y="1783080"/>
            <a:ext cx="2787357" cy="3502152"/>
          </a:xfrm>
          <a:prstGeom prst="rect">
            <a:avLst/>
          </a:prstGeom>
        </p:spPr>
      </p:pic>
      <p:sp>
        <p:nvSpPr>
          <p:cNvPr id="15" name="Text 12"/>
          <p:cNvSpPr/>
          <p:nvPr/>
        </p:nvSpPr>
        <p:spPr>
          <a:xfrm>
            <a:off x="7589520" y="534009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National Photo Company / Library of Congress, Prints and Photographs Division, 1926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800" dirty="0"/>
          </a:p>
        </p:txBody>
      </p:sp>
      <p:sp>
        <p:nvSpPr>
          <p:cNvPr id="16" name="Text 13"/>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129</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Ida B. Wells (1862-1931)</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C62828"/>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Wells documented and publicized lynching statistics through investigative journalism.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Her work "Southern Horrors" (1892) exposed myths about lynching.</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She spoke internationally to build pressure against racial violence and co-founded the NAACP.</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Wells advocated for both civil rights and women's suffrage despite facing death threats and character attacks for her militant stance.</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130</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Garveyism and the NAACP</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C62828"/>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Marcus Garvey founded the Universal Negro Improvement Association promoting Black nationalism, Pan-Africanism, economic self-sufficiency, and "Back to Africa" movement.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UNIA reached 2-4 million members.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NAACP, co-founded by W.E.B. Du Bois, pursued integration through legal challenges and political lobbying.</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Membership grew from 9,000 (1917) to 100,000 (1930).</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These organizations represented different strategies—separation versus integration—for advancing African American rights.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131</a:t>
            </a:r>
            <a:endParaRPr lang="en-US" sz="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3505200" cy="4114800"/>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27632"/>
            <a:ext cx="3505200" cy="868680"/>
          </a:xfrm>
          <a:prstGeom prst="rect">
            <a:avLst/>
          </a:prstGeom>
          <a:solidFill>
            <a:srgbClr val="1A2332"/>
          </a:solidFill>
          <a:ln/>
        </p:spPr>
        <p:txBody>
          <a:bodyPr/>
          <a:lstStyle/>
          <a:p>
            <a:endParaRPr lang="en-US"/>
          </a:p>
        </p:txBody>
      </p:sp>
      <p:sp>
        <p:nvSpPr>
          <p:cNvPr id="7" name="Text 5"/>
          <p:cNvSpPr/>
          <p:nvPr/>
        </p:nvSpPr>
        <p:spPr>
          <a:xfrm>
            <a:off x="667512" y="1627632"/>
            <a:ext cx="3267456" cy="630936"/>
          </a:xfrm>
          <a:prstGeom prst="rect">
            <a:avLst/>
          </a:prstGeom>
          <a:noFill/>
          <a:ln/>
        </p:spPr>
        <p:txBody>
          <a:bodyPr wrap="square" rtlCol="0" anchor="ctr">
            <a:normAutofit/>
          </a:bodyPr>
          <a:lstStyle/>
          <a:p>
            <a:pPr marL="0" indent="0">
              <a:lnSpc>
                <a:spcPct val="95000"/>
              </a:lnSpc>
              <a:buNone/>
            </a:pPr>
            <a:r>
              <a:rPr lang="en-US" sz="1600" b="1" dirty="0">
                <a:solidFill>
                  <a:srgbClr val="FFFFFF"/>
                </a:solidFill>
                <a:latin typeface="Georgia" pitchFamily="34" charset="0"/>
                <a:ea typeface="Georgia" pitchFamily="34" charset="-122"/>
                <a:cs typeface="Georgia" pitchFamily="34" charset="-120"/>
              </a:rPr>
              <a:t>Ida B. Wells-Barnett</a:t>
            </a:r>
            <a:endParaRPr lang="en-US" sz="1600" dirty="0"/>
          </a:p>
        </p:txBody>
      </p:sp>
      <p:sp>
        <p:nvSpPr>
          <p:cNvPr id="8" name="Text 6"/>
          <p:cNvSpPr/>
          <p:nvPr/>
        </p:nvSpPr>
        <p:spPr>
          <a:xfrm>
            <a:off x="667512" y="2221992"/>
            <a:ext cx="326745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Journalist &amp; anti-lynching crusader (1862-1931)</a:t>
            </a:r>
            <a:endParaRPr lang="en-US" sz="1100" dirty="0"/>
          </a:p>
        </p:txBody>
      </p:sp>
      <p:sp>
        <p:nvSpPr>
          <p:cNvPr id="9" name="Shape 7"/>
          <p:cNvSpPr/>
          <p:nvPr/>
        </p:nvSpPr>
        <p:spPr>
          <a:xfrm>
            <a:off x="667512" y="2578608"/>
            <a:ext cx="1527048" cy="2157327"/>
          </a:xfrm>
          <a:prstGeom prst="rect">
            <a:avLst/>
          </a:prstGeom>
          <a:solidFill>
            <a:srgbClr val="FFFFFF"/>
          </a:solidFill>
          <a:ln w="12700">
            <a:solidFill>
              <a:srgbClr val="DAD3C2"/>
            </a:solidFill>
            <a:prstDash val="solid"/>
          </a:ln>
        </p:spPr>
        <p:txBody>
          <a:bodyPr/>
          <a:lstStyle/>
          <a:p>
            <a:endParaRPr lang="en-US"/>
          </a:p>
        </p:txBody>
      </p:sp>
      <p:pic>
        <p:nvPicPr>
          <p:cNvPr id="10" name="Image 0" descr="unit4-full/img/ida-b-wells.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94944" y="2606040"/>
            <a:ext cx="1472184" cy="2102463"/>
          </a:xfrm>
          <a:prstGeom prst="rect">
            <a:avLst/>
          </a:prstGeom>
        </p:spPr>
      </p:pic>
      <p:sp>
        <p:nvSpPr>
          <p:cNvPr id="11" name="Text 8"/>
          <p:cNvSpPr/>
          <p:nvPr/>
        </p:nvSpPr>
        <p:spPr>
          <a:xfrm>
            <a:off x="694944" y="4745079"/>
            <a:ext cx="1975104"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Mary Garrity, c1893  </a:t>
            </a:r>
            <a:r>
              <a:rPr lang="en-US" sz="6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National Portrait Gallery</a:t>
            </a:r>
            <a:endParaRPr lang="en-US" sz="600" dirty="0"/>
          </a:p>
        </p:txBody>
      </p:sp>
      <p:sp>
        <p:nvSpPr>
          <p:cNvPr id="12" name="Text 9"/>
          <p:cNvSpPr/>
          <p:nvPr/>
        </p:nvSpPr>
        <p:spPr>
          <a:xfrm>
            <a:off x="2350008" y="2606040"/>
            <a:ext cx="1557528"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Investigated and exposed lynching with hard data</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Published pamphlets documenting mob violence</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Co-founded the NAACP and pressed for federal anti-lynching law</a:t>
            </a:r>
            <a:endParaRPr lang="en-US" sz="1200" dirty="0"/>
          </a:p>
        </p:txBody>
      </p:sp>
      <p:sp>
        <p:nvSpPr>
          <p:cNvPr id="13" name="Shape 10"/>
          <p:cNvSpPr/>
          <p:nvPr/>
        </p:nvSpPr>
        <p:spPr>
          <a:xfrm>
            <a:off x="667512" y="5148072"/>
            <a:ext cx="326745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14" name="Text 11"/>
          <p:cNvSpPr/>
          <p:nvPr/>
        </p:nvSpPr>
        <p:spPr>
          <a:xfrm>
            <a:off x="749808" y="5175504"/>
            <a:ext cx="312115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Lead with Wells to show civil-rights advancement, not only the era's backlash.</a:t>
            </a:r>
            <a:endParaRPr lang="en-US" sz="800" dirty="0"/>
          </a:p>
        </p:txBody>
      </p:sp>
      <p:sp>
        <p:nvSpPr>
          <p:cNvPr id="15" name="Shape 12"/>
          <p:cNvSpPr/>
          <p:nvPr/>
        </p:nvSpPr>
        <p:spPr>
          <a:xfrm>
            <a:off x="4328160" y="1627632"/>
            <a:ext cx="3505200" cy="4114800"/>
          </a:xfrm>
          <a:prstGeom prst="rect">
            <a:avLst/>
          </a:prstGeom>
          <a:solidFill>
            <a:srgbClr val="FFFFFF"/>
          </a:solidFill>
          <a:ln w="12700">
            <a:solidFill>
              <a:srgbClr val="DAD3C2"/>
            </a:solidFill>
            <a:prstDash val="solid"/>
          </a:ln>
        </p:spPr>
        <p:txBody>
          <a:bodyPr/>
          <a:lstStyle/>
          <a:p>
            <a:endParaRPr lang="en-US"/>
          </a:p>
        </p:txBody>
      </p:sp>
      <p:sp>
        <p:nvSpPr>
          <p:cNvPr id="16" name="Shape 13"/>
          <p:cNvSpPr/>
          <p:nvPr/>
        </p:nvSpPr>
        <p:spPr>
          <a:xfrm>
            <a:off x="4328160" y="1627632"/>
            <a:ext cx="3505200" cy="868680"/>
          </a:xfrm>
          <a:prstGeom prst="rect">
            <a:avLst/>
          </a:prstGeom>
          <a:solidFill>
            <a:srgbClr val="1A2332"/>
          </a:solidFill>
          <a:ln/>
        </p:spPr>
        <p:txBody>
          <a:bodyPr/>
          <a:lstStyle/>
          <a:p>
            <a:endParaRPr lang="en-US"/>
          </a:p>
        </p:txBody>
      </p:sp>
      <p:sp>
        <p:nvSpPr>
          <p:cNvPr id="17" name="Text 14"/>
          <p:cNvSpPr/>
          <p:nvPr/>
        </p:nvSpPr>
        <p:spPr>
          <a:xfrm>
            <a:off x="4447032" y="1627632"/>
            <a:ext cx="3267456" cy="630936"/>
          </a:xfrm>
          <a:prstGeom prst="rect">
            <a:avLst/>
          </a:prstGeom>
          <a:noFill/>
          <a:ln/>
        </p:spPr>
        <p:txBody>
          <a:bodyPr wrap="square" rtlCol="0" anchor="ctr">
            <a:normAutofit/>
          </a:bodyPr>
          <a:lstStyle/>
          <a:p>
            <a:pPr marL="0" indent="0">
              <a:lnSpc>
                <a:spcPct val="95000"/>
              </a:lnSpc>
              <a:buNone/>
            </a:pPr>
            <a:r>
              <a:rPr lang="en-US" sz="1600" b="1" dirty="0">
                <a:solidFill>
                  <a:srgbClr val="FFFFFF"/>
                </a:solidFill>
                <a:latin typeface="Georgia" pitchFamily="34" charset="0"/>
                <a:ea typeface="Georgia" pitchFamily="34" charset="-122"/>
                <a:cs typeface="Georgia" pitchFamily="34" charset="-120"/>
              </a:rPr>
              <a:t>Marcus Garvey</a:t>
            </a:r>
            <a:endParaRPr lang="en-US" sz="1600" dirty="0"/>
          </a:p>
        </p:txBody>
      </p:sp>
      <p:sp>
        <p:nvSpPr>
          <p:cNvPr id="18" name="Text 15"/>
          <p:cNvSpPr/>
          <p:nvPr/>
        </p:nvSpPr>
        <p:spPr>
          <a:xfrm>
            <a:off x="4447032" y="2221992"/>
            <a:ext cx="326745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Black-nationalist leader (Garveyism)</a:t>
            </a:r>
            <a:endParaRPr lang="en-US" sz="1100" dirty="0"/>
          </a:p>
        </p:txBody>
      </p:sp>
      <p:sp>
        <p:nvSpPr>
          <p:cNvPr id="19" name="Shape 16"/>
          <p:cNvSpPr/>
          <p:nvPr/>
        </p:nvSpPr>
        <p:spPr>
          <a:xfrm>
            <a:off x="4447032" y="2578608"/>
            <a:ext cx="1527048" cy="1905445"/>
          </a:xfrm>
          <a:prstGeom prst="rect">
            <a:avLst/>
          </a:prstGeom>
          <a:solidFill>
            <a:srgbClr val="FFFFFF"/>
          </a:solidFill>
          <a:ln w="12700">
            <a:solidFill>
              <a:srgbClr val="DAD3C2"/>
            </a:solidFill>
            <a:prstDash val="solid"/>
          </a:ln>
        </p:spPr>
        <p:txBody>
          <a:bodyPr/>
          <a:lstStyle/>
          <a:p>
            <a:endParaRPr lang="en-US"/>
          </a:p>
        </p:txBody>
      </p:sp>
      <p:pic>
        <p:nvPicPr>
          <p:cNvPr id="20" name="Image 1" descr="unit4-full/img/marcus-garvey.jpg"/>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4474464" y="2606040"/>
            <a:ext cx="1472184" cy="1850581"/>
          </a:xfrm>
          <a:prstGeom prst="rect">
            <a:avLst/>
          </a:prstGeom>
        </p:spPr>
      </p:pic>
      <p:sp>
        <p:nvSpPr>
          <p:cNvPr id="21" name="Text 17"/>
          <p:cNvSpPr/>
          <p:nvPr/>
        </p:nvSpPr>
        <p:spPr>
          <a:xfrm>
            <a:off x="4474464" y="4493197"/>
            <a:ext cx="1975104"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George Grantham Bain, 1922  </a:t>
            </a:r>
            <a:r>
              <a:rPr lang="en-US" sz="600" i="1" u="sng" dirty="0">
                <a:solidFill>
                  <a:srgbClr val="002858"/>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Library of Congress</a:t>
            </a:r>
            <a:endParaRPr lang="en-US" sz="600" dirty="0"/>
          </a:p>
        </p:txBody>
      </p:sp>
      <p:sp>
        <p:nvSpPr>
          <p:cNvPr id="22" name="Text 18"/>
          <p:cNvSpPr/>
          <p:nvPr/>
        </p:nvSpPr>
        <p:spPr>
          <a:xfrm>
            <a:off x="6129528" y="2606040"/>
            <a:ext cx="1557528"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Founded the Universal Negro Improvement Association</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Preached Black pride, self-reliance, and pan-African unity</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Built the largest Black mass movement of the era</a:t>
            </a:r>
            <a:endParaRPr lang="en-US" sz="1200" dirty="0"/>
          </a:p>
        </p:txBody>
      </p:sp>
      <p:sp>
        <p:nvSpPr>
          <p:cNvPr id="23" name="Shape 19"/>
          <p:cNvSpPr/>
          <p:nvPr/>
        </p:nvSpPr>
        <p:spPr>
          <a:xfrm>
            <a:off x="4447032" y="5148072"/>
            <a:ext cx="326745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24" name="Text 20"/>
          <p:cNvSpPr/>
          <p:nvPr/>
        </p:nvSpPr>
        <p:spPr>
          <a:xfrm>
            <a:off x="4529328" y="5175504"/>
            <a:ext cx="3121152" cy="457200"/>
          </a:xfrm>
          <a:prstGeom prst="rect">
            <a:avLst/>
          </a:prstGeom>
          <a:noFill/>
          <a:ln/>
        </p:spPr>
        <p:txBody>
          <a:bodyPr wrap="square" rtlCol="0" anchor="ctr">
            <a:normAutofit fontScale="92500" lnSpcReduction="20000"/>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Contrast Garvey's separatism with the NAACP's integration strategy so students see competing visions.</a:t>
            </a:r>
            <a:endParaRPr lang="en-US" sz="800" dirty="0"/>
          </a:p>
        </p:txBody>
      </p:sp>
      <p:sp>
        <p:nvSpPr>
          <p:cNvPr id="25" name="Shape 21"/>
          <p:cNvSpPr/>
          <p:nvPr/>
        </p:nvSpPr>
        <p:spPr>
          <a:xfrm>
            <a:off x="8107680" y="1627632"/>
            <a:ext cx="3505200" cy="4114800"/>
          </a:xfrm>
          <a:prstGeom prst="rect">
            <a:avLst/>
          </a:prstGeom>
          <a:solidFill>
            <a:srgbClr val="FFFFFF"/>
          </a:solidFill>
          <a:ln w="12700">
            <a:solidFill>
              <a:srgbClr val="DAD3C2"/>
            </a:solidFill>
            <a:prstDash val="solid"/>
          </a:ln>
        </p:spPr>
        <p:txBody>
          <a:bodyPr/>
          <a:lstStyle/>
          <a:p>
            <a:endParaRPr lang="en-US"/>
          </a:p>
        </p:txBody>
      </p:sp>
      <p:sp>
        <p:nvSpPr>
          <p:cNvPr id="26" name="Shape 22"/>
          <p:cNvSpPr/>
          <p:nvPr/>
        </p:nvSpPr>
        <p:spPr>
          <a:xfrm>
            <a:off x="8107680" y="1627632"/>
            <a:ext cx="3505200" cy="868680"/>
          </a:xfrm>
          <a:prstGeom prst="rect">
            <a:avLst/>
          </a:prstGeom>
          <a:solidFill>
            <a:srgbClr val="1A2332"/>
          </a:solidFill>
          <a:ln/>
        </p:spPr>
        <p:txBody>
          <a:bodyPr/>
          <a:lstStyle/>
          <a:p>
            <a:endParaRPr lang="en-US"/>
          </a:p>
        </p:txBody>
      </p:sp>
      <p:sp>
        <p:nvSpPr>
          <p:cNvPr id="27" name="Text 23"/>
          <p:cNvSpPr/>
          <p:nvPr/>
        </p:nvSpPr>
        <p:spPr>
          <a:xfrm>
            <a:off x="8226552" y="1627632"/>
            <a:ext cx="3267456" cy="630936"/>
          </a:xfrm>
          <a:prstGeom prst="rect">
            <a:avLst/>
          </a:prstGeom>
          <a:noFill/>
          <a:ln/>
        </p:spPr>
        <p:txBody>
          <a:bodyPr wrap="square" rtlCol="0" anchor="ctr">
            <a:normAutofit/>
          </a:bodyPr>
          <a:lstStyle/>
          <a:p>
            <a:pPr marL="0" indent="0">
              <a:lnSpc>
                <a:spcPct val="95000"/>
              </a:lnSpc>
              <a:buNone/>
            </a:pPr>
            <a:r>
              <a:rPr lang="en-US" sz="1600" b="1" dirty="0">
                <a:solidFill>
                  <a:srgbClr val="FFFFFF"/>
                </a:solidFill>
                <a:latin typeface="Georgia" pitchFamily="34" charset="0"/>
                <a:ea typeface="Georgia" pitchFamily="34" charset="-122"/>
                <a:cs typeface="Georgia" pitchFamily="34" charset="-120"/>
              </a:rPr>
              <a:t>A. Mitchell Palmer</a:t>
            </a:r>
            <a:endParaRPr lang="en-US" sz="1600" dirty="0"/>
          </a:p>
        </p:txBody>
      </p:sp>
      <p:sp>
        <p:nvSpPr>
          <p:cNvPr id="28" name="Text 24"/>
          <p:cNvSpPr/>
          <p:nvPr/>
        </p:nvSpPr>
        <p:spPr>
          <a:xfrm>
            <a:off x="8226552" y="2221992"/>
            <a:ext cx="326745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U.S. Attorney General (Red Scare)</a:t>
            </a:r>
            <a:endParaRPr lang="en-US" sz="1100" dirty="0"/>
          </a:p>
        </p:txBody>
      </p:sp>
      <p:sp>
        <p:nvSpPr>
          <p:cNvPr id="29" name="Text 25"/>
          <p:cNvSpPr/>
          <p:nvPr/>
        </p:nvSpPr>
        <p:spPr>
          <a:xfrm>
            <a:off x="8253984" y="2606040"/>
            <a:ext cx="321259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Directed the Palmer Raids against suspected radicals (1919-1920)</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Deported hundreds of immigrants without trial</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Embodied the postwar fear of communism</a:t>
            </a:r>
            <a:endParaRPr lang="en-US" sz="1200" dirty="0"/>
          </a:p>
        </p:txBody>
      </p:sp>
      <p:sp>
        <p:nvSpPr>
          <p:cNvPr id="30" name="Shape 26"/>
          <p:cNvSpPr/>
          <p:nvPr/>
        </p:nvSpPr>
        <p:spPr>
          <a:xfrm>
            <a:off x="8226552" y="5148072"/>
            <a:ext cx="326745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31" name="Text 27"/>
          <p:cNvSpPr/>
          <p:nvPr/>
        </p:nvSpPr>
        <p:spPr>
          <a:xfrm>
            <a:off x="8308848" y="5175504"/>
            <a:ext cx="312115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Use Palmer to frame the liberty-vs-security debate at the center of the Red Scare.</a:t>
            </a:r>
            <a:endParaRPr lang="en-US" sz="800" dirty="0"/>
          </a:p>
        </p:txBody>
      </p:sp>
      <p:sp>
        <p:nvSpPr>
          <p:cNvPr id="32" name="Text 2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2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132</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002858"/>
                </a:solidFill>
                <a:latin typeface="Trebuchet MS" pitchFamily="34" charset="0"/>
                <a:ea typeface="Trebuchet MS" pitchFamily="34" charset="-122"/>
                <a:cs typeface="Trebuchet MS" pitchFamily="34" charset="-120"/>
              </a:rPr>
              <a:t>US.35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marL="0" indent="0">
              <a:buNone/>
            </a:pPr>
            <a:r>
              <a:rPr lang="en-US" sz="2500" b="1" dirty="0">
                <a:solidFill>
                  <a:srgbClr val="1A2332"/>
                </a:solidFill>
                <a:latin typeface="Georgia" pitchFamily="34" charset="0"/>
                <a:ea typeface="Georgia" pitchFamily="34" charset="-122"/>
                <a:cs typeface="Georgia" pitchFamily="34" charset="-120"/>
              </a:rPr>
              <a:t>Ida B. Wells Anti-Lynching Pamphlet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lstStyle/>
          <a:p>
            <a:endParaRPr lang="en-US"/>
          </a:p>
        </p:txBody>
      </p:sp>
      <p:sp>
        <p:nvSpPr>
          <p:cNvPr id="6" name="Text 4"/>
          <p:cNvSpPr/>
          <p:nvPr/>
        </p:nvSpPr>
        <p:spPr>
          <a:xfrm>
            <a:off x="9418320" y="777240"/>
            <a:ext cx="219456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Ida B. Wells-Barnett  ·  1909</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txBody>
          <a:bodyPr/>
          <a:lstStyle/>
          <a:p>
            <a:endParaRPr lang="en-US"/>
          </a:p>
        </p:txBody>
      </p:sp>
      <p:pic>
        <p:nvPicPr>
          <p:cNvPr id="9" name="Image 0" descr="unit4-full/img/ida-b-wells.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62052" y="1737360"/>
            <a:ext cx="1773576" cy="2532888"/>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marL="0" indent="0" algn="l">
              <a:lnSpc>
                <a:spcPct val="100000"/>
              </a:lnSpc>
              <a:buNone/>
            </a:pPr>
            <a:r>
              <a:rPr lang="en-US" sz="700" i="1" dirty="0">
                <a:solidFill>
                  <a:srgbClr val="5C6470"/>
                </a:solidFill>
                <a:latin typeface="Calibri" pitchFamily="34" charset="0"/>
                <a:ea typeface="Calibri" pitchFamily="34" charset="-122"/>
                <a:cs typeface="Calibri" pitchFamily="34" charset="-120"/>
              </a:rPr>
              <a:t>Mary Garrity, c1893  </a:t>
            </a:r>
            <a:r>
              <a:rPr lang="en-US" sz="7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National Portrait Gallery</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lstStyle/>
          <a:p>
            <a:endParaRPr lang="en-US"/>
          </a:p>
        </p:txBody>
      </p:sp>
      <p:sp>
        <p:nvSpPr>
          <p:cNvPr id="12" name="Text 9"/>
          <p:cNvSpPr/>
          <p:nvPr/>
        </p:nvSpPr>
        <p:spPr>
          <a:xfrm>
            <a:off x="768096" y="1865376"/>
            <a:ext cx="2761488" cy="438912"/>
          </a:xfrm>
          <a:prstGeom prst="rect">
            <a:avLst/>
          </a:prstGeom>
          <a:noFill/>
          <a:ln/>
        </p:spPr>
        <p:txBody>
          <a:bodyPr wrap="square" rtlCol="0" anchor="ctr"/>
          <a:lstStyle/>
          <a:p>
            <a:pPr marL="0" indent="0">
              <a:lnSpc>
                <a:spcPct val="95000"/>
              </a:lnSpc>
              <a:buNone/>
            </a:pPr>
            <a:r>
              <a:rPr lang="en-US" sz="950" b="1" kern="0" spc="150" dirty="0">
                <a:solidFill>
                  <a:srgbClr val="1A2332"/>
                </a:solidFill>
                <a:latin typeface="Trebuchet MS" pitchFamily="34" charset="0"/>
                <a:ea typeface="Trebuchet MS" pitchFamily="34" charset="-122"/>
                <a:cs typeface="Trebuchet MS" pitchFamily="34" charset="-120"/>
              </a:rPr>
              <a:t>ZOOM IN  </a:t>
            </a: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lstStyle/>
          <a:p>
            <a:endParaRPr lang="en-US"/>
          </a:p>
        </p:txBody>
      </p:sp>
      <p:sp>
        <p:nvSpPr>
          <p:cNvPr id="14" name="Shape 11"/>
          <p:cNvSpPr/>
          <p:nvPr/>
        </p:nvSpPr>
        <p:spPr>
          <a:xfrm>
            <a:off x="3931920" y="1737360"/>
            <a:ext cx="91440" cy="3246120"/>
          </a:xfrm>
          <a:prstGeom prst="rect">
            <a:avLst/>
          </a:prstGeom>
          <a:solidFill>
            <a:srgbClr val="C9A84C"/>
          </a:solidFill>
          <a:ln/>
        </p:spPr>
        <p:txBody>
          <a:bodyPr/>
          <a:lstStyle/>
          <a:p>
            <a:endParaRPr lang="en-US"/>
          </a:p>
        </p:txBody>
      </p:sp>
      <p:sp>
        <p:nvSpPr>
          <p:cNvPr id="15" name="Text 12"/>
          <p:cNvSpPr/>
          <p:nvPr/>
        </p:nvSpPr>
        <p:spPr>
          <a:xfrm>
            <a:off x="4160520" y="1920240"/>
            <a:ext cx="3200400" cy="2880360"/>
          </a:xfrm>
          <a:prstGeom prst="rect">
            <a:avLst/>
          </a:prstGeom>
          <a:noFill/>
          <a:ln/>
        </p:spPr>
        <p:txBody>
          <a:bodyPr wrap="square" rtlCol="0" anchor="t"/>
          <a:lstStyle/>
          <a:p>
            <a:pPr marL="0" indent="0">
              <a:lnSpc>
                <a:spcPct val="112000"/>
              </a:lnSpc>
              <a:buNone/>
            </a:pPr>
            <a:r>
              <a:rPr lang="en-US" sz="1150" i="1" dirty="0">
                <a:solidFill>
                  <a:srgbClr val="1F2430"/>
                </a:solidFill>
                <a:latin typeface="Georgia" pitchFamily="34" charset="0"/>
                <a:ea typeface="Georgia" pitchFamily="34" charset="-122"/>
                <a:cs typeface="Georgia" pitchFamily="34" charset="-120"/>
              </a:rPr>
              <a:t>"The student of American sociology will find the year 1894 marked by a pronounced increase in the number of lynchings. The statistics compiled show that more than ten thousand Negroes have been killed... The alleged causes of lynching do not explain it. It is an excuse to get rid of Negroes who are acquiring wealth and property and thus keep the race terrorized."</a:t>
            </a:r>
            <a:endParaRPr lang="en-US" sz="1150" dirty="0"/>
          </a:p>
        </p:txBody>
      </p:sp>
      <p:sp>
        <p:nvSpPr>
          <p:cNvPr id="16" name="Shape 13"/>
          <p:cNvSpPr/>
          <p:nvPr/>
        </p:nvSpPr>
        <p:spPr>
          <a:xfrm>
            <a:off x="7589520" y="1737360"/>
            <a:ext cx="4023360" cy="2011680"/>
          </a:xfrm>
          <a:prstGeom prst="roundRect">
            <a:avLst>
              <a:gd name="adj" fmla="val 3636"/>
            </a:avLst>
          </a:prstGeom>
          <a:solidFill>
            <a:srgbClr val="1A2332"/>
          </a:solidFill>
          <a:ln/>
        </p:spPr>
        <p:txBody>
          <a:bodyPr/>
          <a:lstStyle/>
          <a:p>
            <a:endParaRPr lang="en-US"/>
          </a:p>
        </p:txBody>
      </p:sp>
      <p:sp>
        <p:nvSpPr>
          <p:cNvPr id="17" name="Text 14"/>
          <p:cNvSpPr/>
          <p:nvPr/>
        </p:nvSpPr>
        <p:spPr>
          <a:xfrm>
            <a:off x="7818120" y="1856232"/>
            <a:ext cx="3657600" cy="274320"/>
          </a:xfrm>
          <a:prstGeom prst="rect">
            <a:avLst/>
          </a:prstGeom>
          <a:noFill/>
          <a:ln/>
        </p:spPr>
        <p:txBody>
          <a:bodyPr wrap="square" rtlCol="0" anchor="ctr"/>
          <a:lstStyle/>
          <a:p>
            <a:pPr marL="0" indent="0">
              <a:buNone/>
            </a:pPr>
            <a:r>
              <a:rPr lang="en-US" sz="1100" b="1" kern="0" spc="20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marL="0" indent="0">
              <a:lnSpc>
                <a:spcPct val="96000"/>
              </a:lnSpc>
              <a:buNone/>
            </a:pPr>
            <a:r>
              <a:rPr lang="en-US" sz="780" dirty="0">
                <a:solidFill>
                  <a:srgbClr val="FFFFFF"/>
                </a:solidFill>
                <a:latin typeface="Calibri" pitchFamily="34" charset="0"/>
                <a:ea typeface="Calibri" pitchFamily="34" charset="-122"/>
                <a:cs typeface="Calibri" pitchFamily="34" charset="-120"/>
              </a:rPr>
              <a:t>Ida B. Wells-Barnett was one of the most courageous journalists and civil rights activists in American history. In the 1890s, she conducted a careful investigation of lynching in the American South, documenting that many of the supposed justifications for mob killings were false — particularly the claim that lynching punished Black men for sexual assault. Wells-Barnett published her findings at enormous personal risk (a Memphis newspaper office where she worked was burned) and brought the issue of lynching to national and international attention. Though published in 1909, her anti-lynching pamphlets remained essential reading during the 1920s, when lynching persisted and Congress repeatedly failed to pass anti-lynching legislation.</a:t>
            </a:r>
            <a:endParaRPr lang="en-US" sz="780" dirty="0"/>
          </a:p>
        </p:txBody>
      </p:sp>
      <p:sp>
        <p:nvSpPr>
          <p:cNvPr id="19" name="Shape 16"/>
          <p:cNvSpPr/>
          <p:nvPr/>
        </p:nvSpPr>
        <p:spPr>
          <a:xfrm>
            <a:off x="7589520" y="3931920"/>
            <a:ext cx="4023360" cy="1051560"/>
          </a:xfrm>
          <a:prstGeom prst="roundRect">
            <a:avLst>
              <a:gd name="adj" fmla="val 6957"/>
            </a:avLst>
          </a:prstGeom>
          <a:solidFill>
            <a:srgbClr val="C9A84C"/>
          </a:solidFill>
          <a:ln/>
        </p:spPr>
        <p:txBody>
          <a:bodyPr/>
          <a:lstStyle/>
          <a:p>
            <a:endParaRPr lang="en-US"/>
          </a:p>
        </p:txBody>
      </p:sp>
      <p:sp>
        <p:nvSpPr>
          <p:cNvPr id="20" name="Text 17"/>
          <p:cNvSpPr/>
          <p:nvPr/>
        </p:nvSpPr>
        <p:spPr>
          <a:xfrm>
            <a:off x="7818120" y="4050792"/>
            <a:ext cx="3657600" cy="274320"/>
          </a:xfrm>
          <a:prstGeom prst="rect">
            <a:avLst/>
          </a:prstGeom>
          <a:noFill/>
          <a:ln/>
        </p:spPr>
        <p:txBody>
          <a:bodyPr wrap="square" rtlCol="0" anchor="ctr"/>
          <a:lstStyle/>
          <a:p>
            <a:pPr marL="0" indent="0">
              <a:buNone/>
            </a:pPr>
            <a:r>
              <a:rPr lang="en-US" sz="1100" b="1" kern="0" spc="20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marL="0" indent="0">
              <a:lnSpc>
                <a:spcPct val="103000"/>
              </a:lnSpc>
              <a:buNone/>
            </a:pPr>
            <a:r>
              <a:rPr lang="en-US" sz="1250" b="1" dirty="0">
                <a:solidFill>
                  <a:srgbClr val="1A2332"/>
                </a:solidFill>
                <a:latin typeface="Calibri" pitchFamily="34" charset="0"/>
                <a:ea typeface="Calibri" pitchFamily="34" charset="-122"/>
                <a:cs typeface="Calibri" pitchFamily="34" charset="-120"/>
              </a:rPr>
              <a:t>What does Ida B. Wells argue was the true cause of lynching?</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lstStyle/>
          <a:p>
            <a:endParaRPr lang="en-US"/>
          </a:p>
        </p:txBody>
      </p:sp>
      <p:sp>
        <p:nvSpPr>
          <p:cNvPr id="23" name="Shape 20"/>
          <p:cNvSpPr/>
          <p:nvPr/>
        </p:nvSpPr>
        <p:spPr>
          <a:xfrm>
            <a:off x="548640" y="5120640"/>
            <a:ext cx="2423160" cy="841248"/>
          </a:xfrm>
          <a:prstGeom prst="rect">
            <a:avLst/>
          </a:prstGeom>
          <a:solidFill>
            <a:srgbClr val="002858"/>
          </a:solidFill>
          <a:ln/>
        </p:spPr>
        <p:txBody>
          <a:bodyPr/>
          <a:lstStyle/>
          <a:p>
            <a:endParaRPr lang="en-US"/>
          </a:p>
        </p:txBody>
      </p:sp>
      <p:sp>
        <p:nvSpPr>
          <p:cNvPr id="24" name="Text 21"/>
          <p:cNvSpPr/>
          <p:nvPr/>
        </p:nvSpPr>
        <p:spPr>
          <a:xfrm>
            <a:off x="658368" y="5239512"/>
            <a:ext cx="2194560" cy="274320"/>
          </a:xfrm>
          <a:prstGeom prst="rect">
            <a:avLst/>
          </a:prstGeom>
          <a:noFill/>
          <a:ln/>
        </p:spPr>
        <p:txBody>
          <a:bodyPr wrap="square"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marL="0" indent="0">
              <a:buNone/>
            </a:pPr>
            <a:r>
              <a:rPr lang="en-US" sz="1250" b="1" kern="0" spc="10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marL="0" indent="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Ida B. Wells-Barnett</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1909</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marL="0" indent="0" algn="l">
              <a:buNone/>
            </a:pPr>
            <a:r>
              <a:rPr lang="en-US" sz="900" dirty="0">
                <a:solidFill>
                  <a:srgbClr val="5C6470"/>
                </a:solidFill>
                <a:latin typeface="Calibri" pitchFamily="34" charset="0"/>
                <a:ea typeface="Calibri" pitchFamily="34" charset="-122"/>
                <a:cs typeface="Calibri" pitchFamily="34" charset="-120"/>
              </a:rPr>
              <a:t>Source: </a:t>
            </a:r>
            <a:r>
              <a:rPr lang="en-US" sz="900" i="1" u="sng" dirty="0">
                <a:solidFill>
                  <a:srgbClr val="00285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133</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45920"/>
            <a:ext cx="5486400" cy="676656"/>
          </a:xfrm>
          <a:prstGeom prst="rect">
            <a:avLst/>
          </a:prstGeom>
          <a:solidFill>
            <a:srgbClr val="1A2332"/>
          </a:solidFill>
          <a:ln/>
        </p:spPr>
        <p:txBody>
          <a:bodyPr/>
          <a:lstStyle/>
          <a:p>
            <a:endParaRPr lang="en-US"/>
          </a:p>
        </p:txBody>
      </p:sp>
      <p:sp>
        <p:nvSpPr>
          <p:cNvPr id="7" name="Text 5"/>
          <p:cNvSpPr/>
          <p:nvPr/>
        </p:nvSpPr>
        <p:spPr>
          <a:xfrm>
            <a:off x="685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First Red Scare</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Primer Susto Rojo</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0" name="Text 8"/>
          <p:cNvSpPr/>
          <p:nvPr/>
        </p:nvSpPr>
        <p:spPr>
          <a:xfrm>
            <a:off x="576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FR</a:t>
            </a:r>
            <a:endParaRPr lang="en-US" sz="1300" dirty="0"/>
          </a:p>
        </p:txBody>
      </p:sp>
      <p:sp>
        <p:nvSpPr>
          <p:cNvPr id="11" name="Text 9"/>
          <p:cNvSpPr/>
          <p:nvPr/>
        </p:nvSpPr>
        <p:spPr>
          <a:xfrm>
            <a:off x="1225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period of intense fear of communism and radical political activity following World War I (1919-1920), leading to deportations, arrests, and violations of civil liberties.</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13" name="Shape 11"/>
          <p:cNvSpPr/>
          <p:nvPr/>
        </p:nvSpPr>
        <p:spPr>
          <a:xfrm>
            <a:off x="6263640" y="1645920"/>
            <a:ext cx="5486400" cy="676656"/>
          </a:xfrm>
          <a:prstGeom prst="rect">
            <a:avLst/>
          </a:prstGeom>
          <a:solidFill>
            <a:srgbClr val="1A2332"/>
          </a:solidFill>
          <a:ln/>
        </p:spPr>
        <p:txBody>
          <a:bodyPr/>
          <a:lstStyle/>
          <a:p>
            <a:endParaRPr lang="en-US"/>
          </a:p>
        </p:txBody>
      </p:sp>
      <p:sp>
        <p:nvSpPr>
          <p:cNvPr id="14" name="Text 12"/>
          <p:cNvSpPr/>
          <p:nvPr/>
        </p:nvSpPr>
        <p:spPr>
          <a:xfrm>
            <a:off x="6400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Immigration Quota Acts</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Leyes de Cuotas de Inmigración</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7" name="Text 15"/>
          <p:cNvSpPr/>
          <p:nvPr/>
        </p:nvSpPr>
        <p:spPr>
          <a:xfrm>
            <a:off x="6291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IQ</a:t>
            </a:r>
            <a:endParaRPr lang="en-US" sz="1300" dirty="0"/>
          </a:p>
        </p:txBody>
      </p:sp>
      <p:sp>
        <p:nvSpPr>
          <p:cNvPr id="18" name="Text 16"/>
          <p:cNvSpPr/>
          <p:nvPr/>
        </p:nvSpPr>
        <p:spPr>
          <a:xfrm>
            <a:off x="6940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1921 and 1924 laws that drastically limited immigration, especially from Southern and Eastern Europe, Asia, and Africa, based on racist national origins formulas.</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0" name="Shape 18"/>
          <p:cNvSpPr/>
          <p:nvPr/>
        </p:nvSpPr>
        <p:spPr>
          <a:xfrm>
            <a:off x="548640" y="3072384"/>
            <a:ext cx="5486400" cy="676656"/>
          </a:xfrm>
          <a:prstGeom prst="rect">
            <a:avLst/>
          </a:prstGeom>
          <a:solidFill>
            <a:srgbClr val="1A2332"/>
          </a:solidFill>
          <a:ln/>
        </p:spPr>
        <p:txBody>
          <a:bodyPr/>
          <a:lstStyle/>
          <a:p>
            <a:endParaRPr lang="en-US"/>
          </a:p>
        </p:txBody>
      </p:sp>
      <p:sp>
        <p:nvSpPr>
          <p:cNvPr id="21" name="Text 19"/>
          <p:cNvSpPr/>
          <p:nvPr/>
        </p:nvSpPr>
        <p:spPr>
          <a:xfrm>
            <a:off x="685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KKK Resurgence</a:t>
            </a:r>
            <a:endParaRPr lang="en-US" sz="1350" dirty="0"/>
          </a:p>
        </p:txBody>
      </p:sp>
      <p:sp>
        <p:nvSpPr>
          <p:cNvPr id="22" name="Text 20"/>
          <p:cNvSpPr/>
          <p:nvPr/>
        </p:nvSpPr>
        <p:spPr>
          <a:xfrm>
            <a:off x="3703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Resurgimiento del KKK</a:t>
            </a:r>
            <a:endParaRPr lang="en-US" sz="1000" dirty="0"/>
          </a:p>
        </p:txBody>
      </p:sp>
      <p:sp>
        <p:nvSpPr>
          <p:cNvPr id="23" name="Shape 21"/>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24" name="Text 22"/>
          <p:cNvSpPr/>
          <p:nvPr/>
        </p:nvSpPr>
        <p:spPr>
          <a:xfrm>
            <a:off x="576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KR</a:t>
            </a:r>
            <a:endParaRPr lang="en-US" sz="1300" dirty="0"/>
          </a:p>
        </p:txBody>
      </p:sp>
      <p:sp>
        <p:nvSpPr>
          <p:cNvPr id="25" name="Text 23"/>
          <p:cNvSpPr/>
          <p:nvPr/>
        </p:nvSpPr>
        <p:spPr>
          <a:xfrm>
            <a:off x="1225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Ku Klux Klan's revival in the 1920s, expanding beyond the South to target not just African Americans but also Catholics, Jews, immigrants, and others, reaching 4-5 million members.</a:t>
            </a:r>
            <a:endParaRPr lang="en-US" sz="1100" dirty="0"/>
          </a:p>
        </p:txBody>
      </p:sp>
      <p:sp>
        <p:nvSpPr>
          <p:cNvPr id="26" name="Shape 24"/>
          <p:cNvSpPr/>
          <p:nvPr/>
        </p:nvSpPr>
        <p:spPr>
          <a:xfrm>
            <a:off x="6263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7" name="Shape 25"/>
          <p:cNvSpPr/>
          <p:nvPr/>
        </p:nvSpPr>
        <p:spPr>
          <a:xfrm>
            <a:off x="6263640" y="3072384"/>
            <a:ext cx="5486400" cy="676656"/>
          </a:xfrm>
          <a:prstGeom prst="rect">
            <a:avLst/>
          </a:prstGeom>
          <a:solidFill>
            <a:srgbClr val="1A2332"/>
          </a:solidFill>
          <a:ln/>
        </p:spPr>
        <p:txBody>
          <a:bodyPr/>
          <a:lstStyle/>
          <a:p>
            <a:endParaRPr lang="en-US"/>
          </a:p>
        </p:txBody>
      </p:sp>
      <p:sp>
        <p:nvSpPr>
          <p:cNvPr id="28" name="Text 26"/>
          <p:cNvSpPr/>
          <p:nvPr/>
        </p:nvSpPr>
        <p:spPr>
          <a:xfrm>
            <a:off x="6400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Tulsa Race Massacre</a:t>
            </a:r>
            <a:endParaRPr lang="en-US" sz="1350" dirty="0"/>
          </a:p>
        </p:txBody>
      </p:sp>
      <p:sp>
        <p:nvSpPr>
          <p:cNvPr id="29" name="Text 27"/>
          <p:cNvSpPr/>
          <p:nvPr/>
        </p:nvSpPr>
        <p:spPr>
          <a:xfrm>
            <a:off x="6400800" y="3438144"/>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TUL-suh rays MASS-uh-ker</a:t>
            </a:r>
            <a:endParaRPr lang="en-US" sz="8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Masacre Racial de Tulsa</a:t>
            </a:r>
            <a:endParaRPr lang="en-US" sz="1000" dirty="0"/>
          </a:p>
        </p:txBody>
      </p:sp>
      <p:sp>
        <p:nvSpPr>
          <p:cNvPr id="31" name="Shape 29"/>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2" name="Text 30"/>
          <p:cNvSpPr/>
          <p:nvPr/>
        </p:nvSpPr>
        <p:spPr>
          <a:xfrm>
            <a:off x="6291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TR</a:t>
            </a:r>
            <a:endParaRPr lang="en-US" sz="1300" dirty="0"/>
          </a:p>
        </p:txBody>
      </p:sp>
      <p:sp>
        <p:nvSpPr>
          <p:cNvPr id="33" name="Text 31"/>
          <p:cNvSpPr/>
          <p:nvPr/>
        </p:nvSpPr>
        <p:spPr>
          <a:xfrm>
            <a:off x="6940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May 31-June 1, 1921 attack on Tulsa's prosperous Black Greenwood district ("Black Wall Street") by white mobs, killing an estimated 300 Black residents and destroying 1,200 homes and businesses.</a:t>
            </a:r>
            <a:endParaRPr lang="en-US" sz="1100" dirty="0"/>
          </a:p>
        </p:txBody>
      </p:sp>
      <p:sp>
        <p:nvSpPr>
          <p:cNvPr id="34" name="Shape 32"/>
          <p:cNvSpPr/>
          <p:nvPr/>
        </p:nvSpPr>
        <p:spPr>
          <a:xfrm>
            <a:off x="548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35" name="Shape 33"/>
          <p:cNvSpPr/>
          <p:nvPr/>
        </p:nvSpPr>
        <p:spPr>
          <a:xfrm>
            <a:off x="548640" y="4498848"/>
            <a:ext cx="5486400" cy="676656"/>
          </a:xfrm>
          <a:prstGeom prst="rect">
            <a:avLst/>
          </a:prstGeom>
          <a:solidFill>
            <a:srgbClr val="1A2332"/>
          </a:solidFill>
          <a:ln/>
        </p:spPr>
        <p:txBody>
          <a:bodyPr/>
          <a:lstStyle/>
          <a:p>
            <a:endParaRPr lang="en-US"/>
          </a:p>
        </p:txBody>
      </p:sp>
      <p:sp>
        <p:nvSpPr>
          <p:cNvPr id="36" name="Text 34"/>
          <p:cNvSpPr/>
          <p:nvPr/>
        </p:nvSpPr>
        <p:spPr>
          <a:xfrm>
            <a:off x="685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Ida B. Wells-Barnett</a:t>
            </a:r>
            <a:endParaRPr lang="en-US" sz="1350" dirty="0"/>
          </a:p>
        </p:txBody>
      </p:sp>
      <p:sp>
        <p:nvSpPr>
          <p:cNvPr id="37" name="Text 35"/>
          <p:cNvSpPr/>
          <p:nvPr/>
        </p:nvSpPr>
        <p:spPr>
          <a:xfrm>
            <a:off x="685800" y="4864608"/>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EYE-duh bee wellz BAR-net</a:t>
            </a:r>
            <a:endParaRPr lang="en-US" sz="8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Ida B. Wells-Barnett</a:t>
            </a:r>
            <a:endParaRPr lang="en-US" sz="1000" dirty="0"/>
          </a:p>
        </p:txBody>
      </p:sp>
      <p:sp>
        <p:nvSpPr>
          <p:cNvPr id="39" name="Shape 37"/>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0" name="Text 38"/>
          <p:cNvSpPr/>
          <p:nvPr/>
        </p:nvSpPr>
        <p:spPr>
          <a:xfrm>
            <a:off x="576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IB</a:t>
            </a:r>
            <a:endParaRPr lang="en-US" sz="1300" dirty="0"/>
          </a:p>
        </p:txBody>
      </p:sp>
      <p:sp>
        <p:nvSpPr>
          <p:cNvPr id="41" name="Text 39"/>
          <p:cNvSpPr/>
          <p:nvPr/>
        </p:nvSpPr>
        <p:spPr>
          <a:xfrm>
            <a:off x="1225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An investigative journalist and civil rights activist who led anti-lynching crusades, exposing the truth about racial violence through fearless reporting and organizing.</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43" name="Shape 41"/>
          <p:cNvSpPr/>
          <p:nvPr/>
        </p:nvSpPr>
        <p:spPr>
          <a:xfrm>
            <a:off x="6263640" y="4498848"/>
            <a:ext cx="5486400" cy="676656"/>
          </a:xfrm>
          <a:prstGeom prst="rect">
            <a:avLst/>
          </a:prstGeom>
          <a:solidFill>
            <a:srgbClr val="1A2332"/>
          </a:solidFill>
          <a:ln/>
        </p:spPr>
        <p:txBody>
          <a:bodyPr/>
          <a:lstStyle/>
          <a:p>
            <a:endParaRPr lang="en-US"/>
          </a:p>
        </p:txBody>
      </p:sp>
      <p:sp>
        <p:nvSpPr>
          <p:cNvPr id="44" name="Text 42"/>
          <p:cNvSpPr/>
          <p:nvPr/>
        </p:nvSpPr>
        <p:spPr>
          <a:xfrm>
            <a:off x="6400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Garveyism</a:t>
            </a:r>
            <a:endParaRPr lang="en-US" sz="1350" dirty="0"/>
          </a:p>
        </p:txBody>
      </p:sp>
      <p:sp>
        <p:nvSpPr>
          <p:cNvPr id="45" name="Text 43"/>
          <p:cNvSpPr/>
          <p:nvPr/>
        </p:nvSpPr>
        <p:spPr>
          <a:xfrm>
            <a:off x="6400800" y="4864608"/>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GAR-vee-iz-um</a:t>
            </a:r>
            <a:endParaRPr lang="en-US" sz="8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Garveyismo</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8" name="Text 46"/>
          <p:cNvSpPr/>
          <p:nvPr/>
        </p:nvSpPr>
        <p:spPr>
          <a:xfrm>
            <a:off x="6291072" y="5248656"/>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G</a:t>
            </a:r>
            <a:endParaRPr lang="en-US" sz="1500" dirty="0"/>
          </a:p>
        </p:txBody>
      </p:sp>
      <p:sp>
        <p:nvSpPr>
          <p:cNvPr id="49" name="Text 47"/>
          <p:cNvSpPr/>
          <p:nvPr/>
        </p:nvSpPr>
        <p:spPr>
          <a:xfrm>
            <a:off x="6940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Marcus Garvey's movement promoting Black pride, economic independence, and pan-African unity, advocating for African Americans to build their own businesses and even return to Africa.</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marL="0" indent="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134</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marL="0" indent="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lstStyle/>
          <a:p>
            <a:endParaRPr lang="en-US"/>
          </a:p>
        </p:txBody>
      </p:sp>
      <p:sp>
        <p:nvSpPr>
          <p:cNvPr id="6" name="Text 4"/>
          <p:cNvSpPr/>
          <p:nvPr/>
        </p:nvSpPr>
        <p:spPr>
          <a:xfrm>
            <a:off x="8869680" y="822960"/>
            <a:ext cx="274320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Weigh advancement vs. backlash</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640080"/>
          </a:xfrm>
          <a:prstGeom prst="rect">
            <a:avLst/>
          </a:prstGeom>
          <a:noFill/>
          <a:ln/>
        </p:spPr>
        <p:txBody>
          <a:bodyPr wrap="square" rtlCol="0" anchor="ctr"/>
          <a:lstStyle/>
          <a:p>
            <a:pPr marL="0" indent="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r>
              <a:rPr lang="en-US" sz="1500" dirty="0">
                <a:solidFill>
                  <a:srgbClr val="FFFFFF"/>
                </a:solidFill>
                <a:latin typeface="Calibri" pitchFamily="34" charset="0"/>
                <a:ea typeface="Calibri" pitchFamily="34" charset="-122"/>
                <a:cs typeface="Calibri" pitchFamily="34" charset="-120"/>
              </a:rPr>
              <a:t>Was the 1920s a step forward or backward for civil liberties?</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lstStyle/>
          <a:p>
            <a:endParaRPr lang="en-US"/>
          </a:p>
        </p:txBody>
      </p:sp>
      <p:sp>
        <p:nvSpPr>
          <p:cNvPr id="10" name="Text 8"/>
          <p:cNvSpPr/>
          <p:nvPr/>
        </p:nvSpPr>
        <p:spPr>
          <a:xfrm>
            <a:off x="822960" y="2724912"/>
            <a:ext cx="10058400" cy="292608"/>
          </a:xfrm>
          <a:prstGeom prst="rect">
            <a:avLst/>
          </a:prstGeom>
          <a:noFill/>
          <a:ln/>
        </p:spPr>
        <p:txBody>
          <a:bodyPr wrap="square" rtlCol="0" anchor="ctr"/>
          <a:lstStyle/>
          <a:p>
            <a:pPr marL="0" indent="0">
              <a:buNone/>
            </a:pPr>
            <a:r>
              <a:rPr lang="en-US" sz="1100" b="1" kern="0" spc="10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marL="0" indent="0">
              <a:lnSpc>
                <a:spcPct val="106000"/>
              </a:lnSpc>
              <a:buNone/>
            </a:pPr>
            <a:r>
              <a:rPr lang="en-US" sz="1450" b="1" dirty="0">
                <a:solidFill>
                  <a:srgbClr val="1A2332"/>
                </a:solidFill>
                <a:latin typeface="Calibri" pitchFamily="34" charset="0"/>
                <a:ea typeface="Calibri" pitchFamily="34" charset="-122"/>
                <a:cs typeface="Calibri" pitchFamily="34" charset="-120"/>
              </a:rPr>
              <a:t>The Klan revived and the Red Scare crushed dissent (backlash), but Wells, Garvey, and the NAACP organized and fought back (advancement). Both happened at once.</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lstStyle/>
          <a:p>
            <a:endParaRPr lang="en-US"/>
          </a:p>
        </p:txBody>
      </p:sp>
      <p:sp>
        <p:nvSpPr>
          <p:cNvPr id="13" name="Text 11"/>
          <p:cNvSpPr/>
          <p:nvPr/>
        </p:nvSpPr>
        <p:spPr>
          <a:xfrm>
            <a:off x="822960" y="4407408"/>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marL="0" indent="0">
              <a:lnSpc>
                <a:spcPct val="106000"/>
              </a:lnSpc>
              <a:buNone/>
            </a:pPr>
            <a:r>
              <a:rPr lang="en-US" sz="1300" i="1" dirty="0">
                <a:solidFill>
                  <a:srgbClr val="1F2430"/>
                </a:solidFill>
                <a:latin typeface="Calibri" pitchFamily="34" charset="0"/>
                <a:ea typeface="Calibri" pitchFamily="34" charset="-122"/>
                <a:cs typeface="Calibri" pitchFamily="34" charset="-120"/>
              </a:rPr>
              <a:t>Sort each event into ADVANCEMENT or BACKLASH.</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marL="0" indent="0">
              <a:buNone/>
            </a:pPr>
            <a:r>
              <a:rPr lang="en-US" sz="1200" b="1" dirty="0">
                <a:solidFill>
                  <a:srgbClr val="1A2332"/>
                </a:solidFill>
                <a:latin typeface="Calibri" pitchFamily="34" charset="0"/>
                <a:ea typeface="Calibri" pitchFamily="34" charset="-122"/>
                <a:cs typeface="Calibri" pitchFamily="34" charset="-120"/>
              </a:rPr>
              <a:t>→ Now you try:  </a:t>
            </a:r>
            <a:r>
              <a:rPr lang="en-US" sz="1200" i="1" dirty="0">
                <a:solidFill>
                  <a:srgbClr val="002858"/>
                </a:solidFill>
                <a:latin typeface="Calibri" pitchFamily="34" charset="0"/>
                <a:ea typeface="Calibri" pitchFamily="34" charset="-122"/>
                <a:cs typeface="Calibri" pitchFamily="34" charset="-120"/>
              </a:rPr>
              <a:t>Take a side and support it with one advancement and one backlash from the text.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135</a:t>
            </a:r>
            <a:endParaRPr lang="en-US" sz="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marL="0" indent="0">
              <a:buNone/>
            </a:pPr>
            <a:r>
              <a:rPr lang="en-US" sz="2200" b="1" dirty="0">
                <a:solidFill>
                  <a:srgbClr val="1A2332"/>
                </a:solidFill>
                <a:latin typeface="Georgia" pitchFamily="34" charset="0"/>
                <a:ea typeface="Georgia" pitchFamily="34" charset="-122"/>
                <a:cs typeface="Georgia" pitchFamily="34" charset="-120"/>
              </a:rPr>
              <a:t>Fear in the Roaring Twenties — Civil Liberties Under Pressure</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txBody>
          <a:bodyPr/>
          <a:lstStyle/>
          <a:p>
            <a:endParaRPr lang="en-US"/>
          </a:p>
        </p:txBody>
      </p:sp>
      <p:sp>
        <p:nvSpPr>
          <p:cNvPr id="6" name="Text 4"/>
          <p:cNvSpPr/>
          <p:nvPr/>
        </p:nvSpPr>
        <p:spPr>
          <a:xfrm>
            <a:off x="548640" y="1591056"/>
            <a:ext cx="1199693"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txBody>
          <a:bodyPr/>
          <a:lstStyle/>
          <a:p>
            <a:endParaRPr lang="en-US"/>
          </a:p>
        </p:txBody>
      </p:sp>
      <p:sp>
        <p:nvSpPr>
          <p:cNvPr id="8" name="Text 6"/>
          <p:cNvSpPr/>
          <p:nvPr/>
        </p:nvSpPr>
        <p:spPr>
          <a:xfrm>
            <a:off x="1912925" y="1591056"/>
            <a:ext cx="779069"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lstStyle/>
          <a:p>
            <a:endParaRPr lang="en-US"/>
          </a:p>
        </p:txBody>
      </p:sp>
      <p:sp>
        <p:nvSpPr>
          <p:cNvPr id="10" name="Text 8"/>
          <p:cNvSpPr/>
          <p:nvPr/>
        </p:nvSpPr>
        <p:spPr>
          <a:xfrm>
            <a:off x="822960" y="2194560"/>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marL="0" indent="0">
              <a:lnSpc>
                <a:spcPct val="112000"/>
              </a:lnSpc>
              <a:buNone/>
            </a:pPr>
            <a:r>
              <a:rPr lang="en-US" sz="1350" dirty="0">
                <a:solidFill>
                  <a:srgbClr val="1F2430"/>
                </a:solidFill>
                <a:latin typeface="Calibri" pitchFamily="34" charset="0"/>
                <a:ea typeface="Calibri" pitchFamily="34" charset="-122"/>
                <a:cs typeface="Calibri" pitchFamily="34" charset="-120"/>
              </a:rPr>
              <a:t>Using the Immigration Act of 1924 and the Ida B. Wells anti-lynching pamphlet, complete an organizer covering three threats to civil liberties in the 1920s: the First Red Scare and Palmer Raids, the revived Ku Klux Klan, and the immigration quota laws. For each, note WHO was targeted and HOW. Then write a one-sentence claim explaining what best accounts for this surge of fear and intolerance.</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lstStyle/>
          <a:p>
            <a:endParaRPr lang="en-US"/>
          </a:p>
        </p:txBody>
      </p:sp>
      <p:pic>
        <p:nvPicPr>
          <p:cNvPr id="13" name="Image 0" descr="unit4-full/img/ku-klux-klan-parade-washington-1926.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14485" y="2057400"/>
            <a:ext cx="1419151"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marL="0" indent="0" algn="l">
              <a:lnSpc>
                <a:spcPct val="100000"/>
              </a:lnSpc>
              <a:buNone/>
            </a:pPr>
            <a:r>
              <a:rPr lang="en-US" sz="750" i="1" dirty="0">
                <a:solidFill>
                  <a:srgbClr val="5C6470"/>
                </a:solidFill>
                <a:latin typeface="Calibri" pitchFamily="34" charset="0"/>
                <a:ea typeface="Calibri" pitchFamily="34" charset="-122"/>
                <a:cs typeface="Calibri" pitchFamily="34" charset="-120"/>
              </a:rPr>
              <a:t>National Photo Company / Library of Congress, Prints and Photographs Division, 1926  </a:t>
            </a:r>
            <a:r>
              <a:rPr lang="en-US" sz="75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lstStyle/>
          <a:p>
            <a:endParaRPr lang="en-US"/>
          </a:p>
        </p:txBody>
      </p:sp>
      <p:sp>
        <p:nvSpPr>
          <p:cNvPr id="16" name="Text 13"/>
          <p:cNvSpPr/>
          <p:nvPr/>
        </p:nvSpPr>
        <p:spPr>
          <a:xfrm>
            <a:off x="777240" y="4645152"/>
            <a:ext cx="4572000" cy="274320"/>
          </a:xfrm>
          <a:prstGeom prst="rect">
            <a:avLst/>
          </a:prstGeom>
          <a:noFill/>
          <a:ln/>
        </p:spPr>
        <p:txBody>
          <a:bodyPr wrap="square" rtlCol="0" anchor="ctr"/>
          <a:lstStyle/>
          <a:p>
            <a:pPr marL="0" indent="0">
              <a:buNone/>
            </a:pPr>
            <a:r>
              <a:rPr lang="en-US" sz="1050" b="1" kern="0" spc="20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normAutofit/>
          </a:bodyPr>
          <a:lstStyle/>
          <a:p>
            <a:pPr marL="0" indent="0">
              <a:lnSpc>
                <a:spcPct val="103000"/>
              </a:lnSpc>
              <a:buNone/>
            </a:pPr>
            <a:r>
              <a:rPr lang="en-US" sz="1050" dirty="0">
                <a:solidFill>
                  <a:srgbClr val="FFFFFF"/>
                </a:solidFill>
                <a:latin typeface="Calibri" pitchFamily="34" charset="0"/>
                <a:ea typeface="Calibri" pitchFamily="34" charset="-122"/>
                <a:cs typeface="Calibri" pitchFamily="34" charset="-120"/>
              </a:rPr>
              <a:t>Completed three-threat organizer (target + method for each) AND a one-sentence evidence-based claim about the cause of 1920s intolerance.</a:t>
            </a:r>
            <a:endParaRPr lang="en-US" sz="10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lstStyle/>
          <a:p>
            <a:endParaRPr lang="en-US"/>
          </a:p>
        </p:txBody>
      </p:sp>
      <p:sp>
        <p:nvSpPr>
          <p:cNvPr id="19" name="Text 16"/>
          <p:cNvSpPr/>
          <p:nvPr/>
        </p:nvSpPr>
        <p:spPr>
          <a:xfrm>
            <a:off x="6400800" y="4645152"/>
            <a:ext cx="4572000" cy="274320"/>
          </a:xfrm>
          <a:prstGeom prst="rect">
            <a:avLst/>
          </a:prstGeom>
          <a:noFill/>
          <a:ln/>
        </p:spPr>
        <p:txBody>
          <a:bodyPr wrap="square" rtlCol="0" anchor="ctr"/>
          <a:lstStyle/>
          <a:p>
            <a:pPr marL="0" indent="0">
              <a:buNone/>
            </a:pPr>
            <a:r>
              <a:rPr lang="en-US" sz="1050" b="1" kern="0" spc="20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20" name="Text 17"/>
          <p:cNvSpPr/>
          <p:nvPr/>
        </p:nvSpPr>
        <p:spPr>
          <a:xfrm>
            <a:off x="6400800" y="4919472"/>
            <a:ext cx="5029200" cy="868680"/>
          </a:xfrm>
          <a:prstGeom prst="rect">
            <a:avLst/>
          </a:prstGeom>
          <a:noFill/>
          <a:ln/>
        </p:spPr>
        <p:txBody>
          <a:bodyPr wrap="square" rtlCol="0" anchor="t">
            <a:normAutofit/>
          </a:bodyPr>
          <a:lstStyle/>
          <a:p>
            <a:pPr marL="0" indent="0">
              <a:lnSpc>
                <a:spcPct val="103000"/>
              </a:lnSpc>
              <a:buNone/>
            </a:pPr>
            <a:r>
              <a:rPr lang="en-US" sz="1000" dirty="0">
                <a:solidFill>
                  <a:srgbClr val="1F2430"/>
                </a:solidFill>
                <a:latin typeface="Calibri" pitchFamily="34" charset="0"/>
                <a:ea typeface="Calibri" pitchFamily="34" charset="-122"/>
                <a:cs typeface="Calibri" pitchFamily="34" charset="-120"/>
              </a:rPr>
              <a:t>Entry: Organizer with the three threats pre-labeled and a fact bank of targets and methods. Honors: Write a paragraph connecting one 1920s restriction on liberty to its long-term consequences, using evidence.</a:t>
            </a:r>
            <a:endParaRPr lang="en-US" sz="1000" dirty="0"/>
          </a:p>
        </p:txBody>
      </p:sp>
      <p:sp>
        <p:nvSpPr>
          <p:cNvPr id="21" name="Text 18"/>
          <p:cNvSpPr/>
          <p:nvPr/>
        </p:nvSpPr>
        <p:spPr>
          <a:xfrm>
            <a:off x="548640" y="5943600"/>
            <a:ext cx="11064240" cy="320040"/>
          </a:xfrm>
          <a:prstGeom prst="rect">
            <a:avLst/>
          </a:prstGeom>
          <a:noFill/>
          <a:ln/>
        </p:spPr>
        <p:txBody>
          <a:bodyPr wrap="square" rtlCol="0" anchor="ctr"/>
          <a:lstStyle/>
          <a:p>
            <a:pPr marL="0" indent="0">
              <a:buNone/>
            </a:pPr>
            <a:r>
              <a:rPr lang="en-US" sz="1050" b="1" dirty="0">
                <a:solidFill>
                  <a:srgbClr val="1A2332"/>
                </a:solidFill>
                <a:latin typeface="Calibri" pitchFamily="34" charset="0"/>
                <a:ea typeface="Calibri" pitchFamily="34" charset="-122"/>
                <a:cs typeface="Calibri" pitchFamily="34" charset="-120"/>
              </a:rPr>
              <a:t>Companion printable:  </a:t>
            </a:r>
            <a:r>
              <a:rPr lang="en-US" sz="1050" i="1" dirty="0">
                <a:solidFill>
                  <a:srgbClr val="002858"/>
                </a:solidFill>
                <a:latin typeface="Calibri" pitchFamily="34" charset="0"/>
                <a:ea typeface="Calibri" pitchFamily="34" charset="-122"/>
                <a:cs typeface="Calibri" pitchFamily="34" charset="-120"/>
              </a:rPr>
              <a:t>cornell-notes/unit-4/us35-civil-liberties.pdf</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136</a:t>
            </a:r>
            <a:endParaRPr lang="en-US" sz="9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US.35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lstStyle/>
          <a:p>
            <a:endParaRPr lang="en-US"/>
          </a:p>
        </p:txBody>
      </p:sp>
      <p:sp>
        <p:nvSpPr>
          <p:cNvPr id="6" name="Text 4"/>
          <p:cNvSpPr/>
          <p:nvPr/>
        </p:nvSpPr>
        <p:spPr>
          <a:xfrm>
            <a:off x="7635240" y="822960"/>
            <a:ext cx="1143000" cy="457200"/>
          </a:xfrm>
          <a:prstGeom prst="rect">
            <a:avLst/>
          </a:prstGeom>
          <a:noFill/>
          <a:ln/>
        </p:spPr>
        <p:txBody>
          <a:bodyPr wrap="square" rtlCol="0" anchor="ctr"/>
          <a:lstStyle/>
          <a:p>
            <a:pPr marL="0" indent="0" algn="ctr">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lstStyle/>
          <a:p>
            <a:endParaRPr lang="en-US"/>
          </a:p>
        </p:txBody>
      </p:sp>
      <p:sp>
        <p:nvSpPr>
          <p:cNvPr id="8" name="Text 6"/>
          <p:cNvSpPr/>
          <p:nvPr/>
        </p:nvSpPr>
        <p:spPr>
          <a:xfrm>
            <a:off x="8869680" y="822960"/>
            <a:ext cx="274320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lstStyle/>
          <a:p>
            <a:endParaRPr lang="en-US"/>
          </a:p>
        </p:txBody>
      </p:sp>
      <p:sp>
        <p:nvSpPr>
          <p:cNvPr id="10" name="Text 8"/>
          <p:cNvSpPr/>
          <p:nvPr/>
        </p:nvSpPr>
        <p:spPr>
          <a:xfrm>
            <a:off x="822960" y="1691640"/>
            <a:ext cx="10515600" cy="777240"/>
          </a:xfrm>
          <a:prstGeom prst="rect">
            <a:avLst/>
          </a:prstGeom>
          <a:noFill/>
          <a:ln/>
        </p:spPr>
        <p:txBody>
          <a:bodyPr wrap="square" rtlCol="0" anchor="ctr"/>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What does Ida B. Wells argue was the true cause of lynching?</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2" name="Shape 10"/>
          <p:cNvSpPr/>
          <p:nvPr/>
        </p:nvSpPr>
        <p:spPr>
          <a:xfrm>
            <a:off x="713232" y="2889504"/>
            <a:ext cx="365760" cy="365760"/>
          </a:xfrm>
          <a:prstGeom prst="ellipse">
            <a:avLst/>
          </a:prstGeom>
          <a:solidFill>
            <a:srgbClr val="1A2332"/>
          </a:solidFill>
          <a:ln/>
        </p:spPr>
        <p:txBody>
          <a:bodyPr/>
          <a:lstStyle/>
          <a:p>
            <a:endParaRPr lang="en-US"/>
          </a:p>
        </p:txBody>
      </p:sp>
      <p:sp>
        <p:nvSpPr>
          <p:cNvPr id="13" name="Text 11"/>
          <p:cNvSpPr/>
          <p:nvPr/>
        </p:nvSpPr>
        <p:spPr>
          <a:xfrm>
            <a:off x="713232" y="2889504"/>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Economic jealousy and desire to prevent Black economic success through terror</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6" name="Shape 14"/>
          <p:cNvSpPr/>
          <p:nvPr/>
        </p:nvSpPr>
        <p:spPr>
          <a:xfrm>
            <a:off x="713232" y="3639312"/>
            <a:ext cx="365760" cy="365760"/>
          </a:xfrm>
          <a:prstGeom prst="ellipse">
            <a:avLst/>
          </a:prstGeom>
          <a:solidFill>
            <a:srgbClr val="1A2332"/>
          </a:solidFill>
          <a:ln/>
        </p:spPr>
        <p:txBody>
          <a:bodyPr/>
          <a:lstStyle/>
          <a:p>
            <a:endParaRPr lang="en-US"/>
          </a:p>
        </p:txBody>
      </p:sp>
      <p:sp>
        <p:nvSpPr>
          <p:cNvPr id="17" name="Text 15"/>
          <p:cNvSpPr/>
          <p:nvPr/>
        </p:nvSpPr>
        <p:spPr>
          <a:xfrm>
            <a:off x="713232" y="3639312"/>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Punishment for actual crimes committed by the victims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0" name="Shape 18"/>
          <p:cNvSpPr/>
          <p:nvPr/>
        </p:nvSpPr>
        <p:spPr>
          <a:xfrm>
            <a:off x="713232" y="4389120"/>
            <a:ext cx="365760" cy="365760"/>
          </a:xfrm>
          <a:prstGeom prst="ellipse">
            <a:avLst/>
          </a:prstGeom>
          <a:solidFill>
            <a:srgbClr val="1A2332"/>
          </a:solidFill>
          <a:ln/>
        </p:spPr>
        <p:txBody>
          <a:bodyPr/>
          <a:lstStyle/>
          <a:p>
            <a:endParaRPr lang="en-US"/>
          </a:p>
        </p:txBody>
      </p:sp>
      <p:sp>
        <p:nvSpPr>
          <p:cNvPr id="21" name="Text 19"/>
          <p:cNvSpPr/>
          <p:nvPr/>
        </p:nvSpPr>
        <p:spPr>
          <a:xfrm>
            <a:off x="713232" y="4389120"/>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Lack of effective law enforcement in Southern rural areas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4" name="Shape 22"/>
          <p:cNvSpPr/>
          <p:nvPr/>
        </p:nvSpPr>
        <p:spPr>
          <a:xfrm>
            <a:off x="713232" y="5138928"/>
            <a:ext cx="365760" cy="365760"/>
          </a:xfrm>
          <a:prstGeom prst="ellipse">
            <a:avLst/>
          </a:prstGeom>
          <a:solidFill>
            <a:srgbClr val="1A2332"/>
          </a:solidFill>
          <a:ln/>
        </p:spPr>
        <p:txBody>
          <a:bodyPr/>
          <a:lstStyle/>
          <a:p>
            <a:endParaRPr lang="en-US"/>
          </a:p>
        </p:txBody>
      </p:sp>
      <p:sp>
        <p:nvSpPr>
          <p:cNvPr id="25" name="Text 23"/>
          <p:cNvSpPr/>
          <p:nvPr/>
        </p:nvSpPr>
        <p:spPr>
          <a:xfrm>
            <a:off x="713232" y="5138928"/>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Religious conflicts between different racial and ethnic groups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lstStyle/>
          <a:p>
            <a:endParaRPr lang="en-US"/>
          </a:p>
        </p:txBody>
      </p:sp>
      <p:sp>
        <p:nvSpPr>
          <p:cNvPr id="28" name="Text 26"/>
          <p:cNvSpPr/>
          <p:nvPr/>
        </p:nvSpPr>
        <p:spPr>
          <a:xfrm>
            <a:off x="822960" y="5715000"/>
            <a:ext cx="10515600" cy="502920"/>
          </a:xfrm>
          <a:prstGeom prst="rect">
            <a:avLst/>
          </a:prstGeom>
          <a:noFill/>
          <a:ln/>
        </p:spPr>
        <p:txBody>
          <a:bodyPr wrap="square" rtlCol="0" anchor="ctr"/>
          <a:lstStyle/>
          <a:p>
            <a:pPr marL="0" indent="0">
              <a:buNone/>
            </a:pPr>
            <a:r>
              <a:rPr lang="en-US" sz="1200" b="1" i="1" kern="0" spc="100" dirty="0">
                <a:solidFill>
                  <a:srgbClr val="F9A825"/>
                </a:solidFill>
                <a:latin typeface="Trebuchet MS" pitchFamily="34" charset="0"/>
                <a:ea typeface="Trebuchet MS" pitchFamily="34" charset="-122"/>
                <a:cs typeface="Trebuchet MS" pitchFamily="34" charset="-120"/>
              </a:rPr>
              <a:t>ANSWER FIRST:  </a:t>
            </a: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137</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US.35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lstStyle/>
          <a:p>
            <a:endParaRPr lang="en-US"/>
          </a:p>
        </p:txBody>
      </p:sp>
      <p:sp>
        <p:nvSpPr>
          <p:cNvPr id="6" name="Text 4"/>
          <p:cNvSpPr/>
          <p:nvPr/>
        </p:nvSpPr>
        <p:spPr>
          <a:xfrm>
            <a:off x="8595360" y="822960"/>
            <a:ext cx="301752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731520"/>
          </a:xfrm>
          <a:prstGeom prst="rect">
            <a:avLst/>
          </a:prstGeom>
          <a:noFill/>
          <a:ln/>
        </p:spPr>
        <p:txBody>
          <a:bodyPr wrap="square" rtlCol="0" anchor="ctr"/>
          <a:lstStyle/>
          <a:p>
            <a:pPr marL="0" indent="0">
              <a:lnSpc>
                <a:spcPct val="102000"/>
              </a:lnSpc>
              <a:buNone/>
            </a:pPr>
            <a:r>
              <a:rPr lang="en-US" sz="1500" b="1" dirty="0">
                <a:solidFill>
                  <a:srgbClr val="FFFFFF"/>
                </a:solidFill>
                <a:latin typeface="Calibri" pitchFamily="34" charset="0"/>
                <a:ea typeface="Calibri" pitchFamily="34" charset="-122"/>
                <a:cs typeface="Calibri" pitchFamily="34" charset="-120"/>
              </a:rPr>
              <a:t>What does Ida B. Wells argue was the true cause of lynching?</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F9A825"/>
            </a:solidFill>
            <a:prstDash val="solid"/>
          </a:ln>
        </p:spPr>
        <p:txBody>
          <a:bodyPr/>
          <a:lstStyle/>
          <a:p>
            <a:endParaRPr lang="en-US"/>
          </a:p>
        </p:txBody>
      </p:sp>
      <p:sp>
        <p:nvSpPr>
          <p:cNvPr id="10" name="Shape 8"/>
          <p:cNvSpPr/>
          <p:nvPr/>
        </p:nvSpPr>
        <p:spPr>
          <a:xfrm>
            <a:off x="713232" y="2761488"/>
            <a:ext cx="347472" cy="347472"/>
          </a:xfrm>
          <a:prstGeom prst="ellipse">
            <a:avLst/>
          </a:prstGeom>
          <a:solidFill>
            <a:srgbClr val="1A2332"/>
          </a:solidFill>
          <a:ln/>
        </p:spPr>
        <p:txBody>
          <a:bodyPr/>
          <a:lstStyle/>
          <a:p>
            <a:endParaRPr lang="en-US"/>
          </a:p>
        </p:txBody>
      </p:sp>
      <p:sp>
        <p:nvSpPr>
          <p:cNvPr id="11" name="Text 9"/>
          <p:cNvSpPr/>
          <p:nvPr/>
        </p:nvSpPr>
        <p:spPr>
          <a:xfrm>
            <a:off x="713232" y="2761488"/>
            <a:ext cx="347472" cy="347472"/>
          </a:xfrm>
          <a:prstGeom prst="rect">
            <a:avLst/>
          </a:prstGeom>
          <a:noFill/>
          <a:ln/>
        </p:spPr>
        <p:txBody>
          <a:bodyPr wrap="square" rtlCol="0" anchor="ctr"/>
          <a:lstStyle/>
          <a:p>
            <a:pPr marL="0" indent="0" algn="ctr">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marL="0" indent="0">
              <a:lnSpc>
                <a:spcPct val="100000"/>
              </a:lnSpc>
              <a:buNone/>
            </a:pPr>
            <a:r>
              <a:rPr lang="en-US" sz="1300" b="1" dirty="0">
                <a:solidFill>
                  <a:srgbClr val="1A2332"/>
                </a:solidFill>
                <a:latin typeface="Calibri" pitchFamily="34" charset="0"/>
                <a:ea typeface="Calibri" pitchFamily="34" charset="-122"/>
                <a:cs typeface="Calibri" pitchFamily="34" charset="-120"/>
              </a:rPr>
              <a:t>Economic jealousy and desire to prevent Black economic success through terror</a:t>
            </a:r>
            <a:endParaRPr lang="en-US" sz="1300" dirty="0"/>
          </a:p>
        </p:txBody>
      </p:sp>
      <p:sp>
        <p:nvSpPr>
          <p:cNvPr id="13" name="Text 11"/>
          <p:cNvSpPr/>
          <p:nvPr/>
        </p:nvSpPr>
        <p:spPr>
          <a:xfrm>
            <a:off x="11018520" y="2651760"/>
            <a:ext cx="457200" cy="566928"/>
          </a:xfrm>
          <a:prstGeom prst="rect">
            <a:avLst/>
          </a:prstGeom>
          <a:noFill/>
          <a:ln/>
        </p:spPr>
        <p:txBody>
          <a:bodyPr wrap="square" rtlCol="0" anchor="ctr"/>
          <a:lstStyle/>
          <a:p>
            <a:pPr marL="0" indent="0" algn="ctr">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5" name="Shape 13"/>
          <p:cNvSpPr/>
          <p:nvPr/>
        </p:nvSpPr>
        <p:spPr>
          <a:xfrm>
            <a:off x="713232" y="3419856"/>
            <a:ext cx="347472" cy="347472"/>
          </a:xfrm>
          <a:prstGeom prst="ellipse">
            <a:avLst/>
          </a:prstGeom>
          <a:solidFill>
            <a:srgbClr val="1A2332"/>
          </a:solidFill>
          <a:ln/>
        </p:spPr>
        <p:txBody>
          <a:bodyPr/>
          <a:lstStyle/>
          <a:p>
            <a:endParaRPr lang="en-US"/>
          </a:p>
        </p:txBody>
      </p:sp>
      <p:sp>
        <p:nvSpPr>
          <p:cNvPr id="16" name="Text 14"/>
          <p:cNvSpPr/>
          <p:nvPr/>
        </p:nvSpPr>
        <p:spPr>
          <a:xfrm>
            <a:off x="713232" y="3419856"/>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Punishment for actual crimes committed by the victims</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9" name="Shape 17"/>
          <p:cNvSpPr/>
          <p:nvPr/>
        </p:nvSpPr>
        <p:spPr>
          <a:xfrm>
            <a:off x="713232" y="4078224"/>
            <a:ext cx="347472" cy="347472"/>
          </a:xfrm>
          <a:prstGeom prst="ellipse">
            <a:avLst/>
          </a:prstGeom>
          <a:solidFill>
            <a:srgbClr val="1A2332"/>
          </a:solidFill>
          <a:ln/>
        </p:spPr>
        <p:txBody>
          <a:bodyPr/>
          <a:lstStyle/>
          <a:p>
            <a:endParaRPr lang="en-US"/>
          </a:p>
        </p:txBody>
      </p:sp>
      <p:sp>
        <p:nvSpPr>
          <p:cNvPr id="20" name="Text 18"/>
          <p:cNvSpPr/>
          <p:nvPr/>
        </p:nvSpPr>
        <p:spPr>
          <a:xfrm>
            <a:off x="713232" y="4078224"/>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Lack of effective law enforcement in Southern rural areas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23" name="Shape 21"/>
          <p:cNvSpPr/>
          <p:nvPr/>
        </p:nvSpPr>
        <p:spPr>
          <a:xfrm>
            <a:off x="713232" y="4736592"/>
            <a:ext cx="347472" cy="347472"/>
          </a:xfrm>
          <a:prstGeom prst="ellipse">
            <a:avLst/>
          </a:prstGeom>
          <a:solidFill>
            <a:srgbClr val="1A2332"/>
          </a:solidFill>
          <a:ln/>
        </p:spPr>
        <p:txBody>
          <a:bodyPr/>
          <a:lstStyle/>
          <a:p>
            <a:endParaRPr lang="en-US"/>
          </a:p>
        </p:txBody>
      </p:sp>
      <p:sp>
        <p:nvSpPr>
          <p:cNvPr id="24" name="Text 22"/>
          <p:cNvSpPr/>
          <p:nvPr/>
        </p:nvSpPr>
        <p:spPr>
          <a:xfrm>
            <a:off x="713232" y="4736592"/>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Religious conflicts between different racial and ethnic groups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lstStyle/>
          <a:p>
            <a:endParaRPr lang="en-US"/>
          </a:p>
        </p:txBody>
      </p:sp>
      <p:sp>
        <p:nvSpPr>
          <p:cNvPr id="27" name="Text 25"/>
          <p:cNvSpPr/>
          <p:nvPr/>
        </p:nvSpPr>
        <p:spPr>
          <a:xfrm>
            <a:off x="822960" y="5532120"/>
            <a:ext cx="10515600" cy="713232"/>
          </a:xfrm>
          <a:prstGeom prst="rect">
            <a:avLst/>
          </a:prstGeom>
          <a:noFill/>
          <a:ln/>
        </p:spPr>
        <p:txBody>
          <a:bodyPr wrap="square" rtlCol="0" anchor="ctr"/>
          <a:lstStyle/>
          <a:p>
            <a:pPr marL="0" indent="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Why: </a:t>
            </a:r>
            <a:r>
              <a:rPr lang="en-US" sz="1150" dirty="0">
                <a:solidFill>
                  <a:srgbClr val="C7D4E0"/>
                </a:solidFill>
                <a:latin typeface="Calibri" pitchFamily="34" charset="0"/>
                <a:ea typeface="Calibri" pitchFamily="34" charset="-122"/>
                <a:cs typeface="Calibri" pitchFamily="34" charset="-120"/>
              </a:rPr>
              <a:t>Wells argues "alleged causes... do not explain it" and that lynching is "an excuse to get rid of Negroes who are acquiring wealth and property."</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138</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US.35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marL="0" indent="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lstStyle/>
          <a:p>
            <a:endParaRPr lang="en-US"/>
          </a:p>
        </p:txBody>
      </p:sp>
      <p:sp>
        <p:nvSpPr>
          <p:cNvPr id="6" name="Text 4"/>
          <p:cNvSpPr/>
          <p:nvPr/>
        </p:nvSpPr>
        <p:spPr>
          <a:xfrm>
            <a:off x="868680" y="1847088"/>
            <a:ext cx="5486400" cy="320040"/>
          </a:xfrm>
          <a:prstGeom prst="rect">
            <a:avLst/>
          </a:prstGeom>
          <a:noFill/>
          <a:ln/>
        </p:spPr>
        <p:txBody>
          <a:bodyPr wrap="square" rtlCol="0" anchor="ctr"/>
          <a:lstStyle/>
          <a:p>
            <a:pPr marL="0" indent="0">
              <a:buNone/>
            </a:pPr>
            <a:r>
              <a:rPr lang="en-US" sz="1200" b="1" kern="0" spc="20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First Red Scare (1919-1920)</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Immigration Quota Acts of the 1920s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Resurgence of the Ku Klux Klan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Ida B. Wells (1862-1931)</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Garveyism and the NAACP</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lstStyle/>
          <a:p>
            <a:endParaRPr lang="en-US"/>
          </a:p>
        </p:txBody>
      </p:sp>
      <p:sp>
        <p:nvSpPr>
          <p:cNvPr id="9" name="Text 7"/>
          <p:cNvSpPr/>
          <p:nvPr/>
        </p:nvSpPr>
        <p:spPr>
          <a:xfrm>
            <a:off x="822960" y="4901184"/>
            <a:ext cx="6492240" cy="274320"/>
          </a:xfrm>
          <a:prstGeom prst="rect">
            <a:avLst/>
          </a:prstGeom>
          <a:noFill/>
          <a:ln/>
        </p:spPr>
        <p:txBody>
          <a:bodyPr wrap="square" rtlCol="0" anchor="ctr"/>
          <a:lstStyle/>
          <a:p>
            <a:pPr marL="0" indent="0">
              <a:buNone/>
            </a:pPr>
            <a:r>
              <a:rPr lang="en-US" sz="1100" b="1" kern="0" spc="100" dirty="0">
                <a:solidFill>
                  <a:srgbClr val="7A5C12"/>
                </a:solidFill>
                <a:latin typeface="Trebuchet MS" pitchFamily="34" charset="0"/>
                <a:ea typeface="Trebuchet MS" pitchFamily="34" charset="-122"/>
                <a:cs typeface="Trebuchet MS" pitchFamily="34" charset="-120"/>
              </a:rPr>
              <a:t>★ HONORS / EXTENSION  </a:t>
            </a: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marL="0" indent="0">
              <a:lnSpc>
                <a:spcPct val="98000"/>
              </a:lnSpc>
              <a:buNone/>
            </a:pPr>
            <a:r>
              <a:rPr lang="en-US" sz="1050" i="1" dirty="0">
                <a:solidFill>
                  <a:srgbClr val="1F2430"/>
                </a:solidFill>
                <a:latin typeface="Calibri" pitchFamily="34" charset="0"/>
                <a:ea typeface="Calibri" pitchFamily="34" charset="-122"/>
                <a:cs typeface="Calibri" pitchFamily="34" charset="-120"/>
              </a:rPr>
              <a:t>Evaluate: What best explains the surge of fear and intolerance in the 1920s, economic anxiety, wartime hostility, or racial and ethnic prejudice? Argue with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lstStyle/>
          <a:p>
            <a:endParaRPr lang="en-US"/>
          </a:p>
        </p:txBody>
      </p:sp>
      <p:sp>
        <p:nvSpPr>
          <p:cNvPr id="12" name="Text 10"/>
          <p:cNvSpPr/>
          <p:nvPr/>
        </p:nvSpPr>
        <p:spPr>
          <a:xfrm>
            <a:off x="8092440" y="1920240"/>
            <a:ext cx="2286000" cy="320040"/>
          </a:xfrm>
          <a:prstGeom prst="rect">
            <a:avLst/>
          </a:prstGeom>
          <a:noFill/>
          <a:ln/>
        </p:spPr>
        <p:txBody>
          <a:bodyPr wrap="square" rtlCol="0" anchor="ctr"/>
          <a:lstStyle/>
          <a:p>
            <a:pPr marL="0" indent="0">
              <a:buNone/>
            </a:pPr>
            <a:r>
              <a:rPr lang="en-US" sz="1200" b="1" kern="0" spc="20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lstStyle/>
          <a:p>
            <a:endParaRPr lang="en-US"/>
          </a:p>
        </p:txBody>
      </p:sp>
      <p:sp>
        <p:nvSpPr>
          <p:cNvPr id="14" name="Text 12"/>
          <p:cNvSpPr/>
          <p:nvPr/>
        </p:nvSpPr>
        <p:spPr>
          <a:xfrm>
            <a:off x="10378440" y="1883664"/>
            <a:ext cx="960120" cy="365760"/>
          </a:xfrm>
          <a:prstGeom prst="rect">
            <a:avLst/>
          </a:prstGeom>
          <a:noFill/>
          <a:ln/>
        </p:spPr>
        <p:txBody>
          <a:bodyPr wrap="square" rtlCol="0" anchor="ctr"/>
          <a:lstStyle/>
          <a:p>
            <a:pPr marL="0" indent="0" algn="ctr">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Explain how the 1920s limited civil liberties even as popular culture celebrated freedom. Give two specific examples.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lstStyle/>
          <a:p>
            <a:endParaRPr lang="en-US"/>
          </a:p>
        </p:txBody>
      </p:sp>
      <p:sp>
        <p:nvSpPr>
          <p:cNvPr id="17" name="Shape 15"/>
          <p:cNvSpPr/>
          <p:nvPr/>
        </p:nvSpPr>
        <p:spPr>
          <a:xfrm>
            <a:off x="8138160" y="5074920"/>
            <a:ext cx="3108960" cy="0"/>
          </a:xfrm>
          <a:prstGeom prst="line">
            <a:avLst/>
          </a:prstGeom>
          <a:noFill/>
          <a:ln w="12700">
            <a:solidFill>
              <a:srgbClr val="A7BACB"/>
            </a:solidFill>
            <a:prstDash val="dash"/>
          </a:ln>
        </p:spPr>
        <p:txBody>
          <a:bodyPr/>
          <a:lstStyle/>
          <a:p>
            <a:endParaRPr lang="en-US"/>
          </a:p>
        </p:txBody>
      </p:sp>
      <p:sp>
        <p:nvSpPr>
          <p:cNvPr id="18" name="Shape 16"/>
          <p:cNvSpPr/>
          <p:nvPr/>
        </p:nvSpPr>
        <p:spPr>
          <a:xfrm>
            <a:off x="8138160" y="5623560"/>
            <a:ext cx="3108960" cy="0"/>
          </a:xfrm>
          <a:prstGeom prst="line">
            <a:avLst/>
          </a:prstGeom>
          <a:noFill/>
          <a:ln w="12700">
            <a:solidFill>
              <a:srgbClr val="A7BACB"/>
            </a:solidFill>
            <a:prstDash val="dash"/>
          </a:ln>
        </p:spPr>
        <p:txBody>
          <a:bodyPr/>
          <a:lstStyle/>
          <a:p>
            <a:endParaRPr lang="en-US"/>
          </a:p>
        </p:txBody>
      </p:sp>
      <p:sp>
        <p:nvSpPr>
          <p:cNvPr id="20" name="Text 1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139</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lstStyle/>
          <a:p>
            <a:endParaRPr lang="en-US"/>
          </a:p>
        </p:txBody>
      </p:sp>
      <p:sp>
        <p:nvSpPr>
          <p:cNvPr id="3" name="Shape 1"/>
          <p:cNvSpPr/>
          <p:nvPr/>
        </p:nvSpPr>
        <p:spPr>
          <a:xfrm>
            <a:off x="320040" y="0"/>
            <a:ext cx="109728" cy="6858000"/>
          </a:xfrm>
          <a:prstGeom prst="rect">
            <a:avLst/>
          </a:prstGeom>
          <a:solidFill>
            <a:srgbClr val="C9A84C"/>
          </a:solidFill>
          <a:ln/>
        </p:spPr>
        <p:txBody>
          <a:bodyPr/>
          <a:lstStyle/>
          <a:p>
            <a:endParaRPr lang="en-US"/>
          </a:p>
        </p:txBody>
      </p:sp>
      <p:sp>
        <p:nvSpPr>
          <p:cNvPr id="4" name="Text 2"/>
          <p:cNvSpPr/>
          <p:nvPr/>
        </p:nvSpPr>
        <p:spPr>
          <a:xfrm>
            <a:off x="914400" y="1005840"/>
            <a:ext cx="5486400" cy="365760"/>
          </a:xfrm>
          <a:prstGeom prst="rect">
            <a:avLst/>
          </a:prstGeom>
          <a:noFill/>
          <a:ln/>
        </p:spPr>
        <p:txBody>
          <a:bodyPr wrap="square" rtlCol="0" anchor="ctr"/>
          <a:lstStyle/>
          <a:p>
            <a:pPr marL="0" indent="0">
              <a:buNone/>
            </a:pPr>
            <a:r>
              <a:rPr lang="en-US" sz="1500" b="1" kern="0" spc="40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marL="0" indent="0">
              <a:buNone/>
            </a:pPr>
            <a:r>
              <a:rPr lang="en-US" sz="8800" b="1" dirty="0">
                <a:solidFill>
                  <a:srgbClr val="FFFFFF"/>
                </a:solidFill>
                <a:latin typeface="Georgia" pitchFamily="34" charset="0"/>
                <a:ea typeface="Georgia" pitchFamily="34" charset="-122"/>
                <a:cs typeface="Georgia" pitchFamily="34" charset="-120"/>
              </a:rPr>
              <a:t>US.36</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marL="0" indent="0">
              <a:lnSpc>
                <a:spcPct val="102000"/>
              </a:lnSpc>
              <a:buNone/>
            </a:pPr>
            <a:r>
              <a:rPr lang="en-US" sz="3000" i="1" dirty="0">
                <a:solidFill>
                  <a:srgbClr val="F9A825"/>
                </a:solidFill>
                <a:latin typeface="Georgia" pitchFamily="34" charset="0"/>
                <a:ea typeface="Georgia" pitchFamily="34" charset="-122"/>
                <a:cs typeface="Georgia" pitchFamily="34" charset="-120"/>
              </a:rPr>
              <a:t>The Scopes Trial</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marL="0" indent="0" algn="l">
              <a:buNone/>
            </a:pPr>
            <a:r>
              <a:rPr lang="en-US" sz="1100" b="1" kern="0" spc="20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lstStyle/>
          <a:p>
            <a:endParaRPr lang="en-US"/>
          </a:p>
        </p:txBody>
      </p:sp>
      <p:sp>
        <p:nvSpPr>
          <p:cNvPr id="9" name="Text 7"/>
          <p:cNvSpPr/>
          <p:nvPr/>
        </p:nvSpPr>
        <p:spPr>
          <a:xfrm>
            <a:off x="6812280" y="1417320"/>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lstStyle/>
          <a:p>
            <a:endParaRPr lang="en-US"/>
          </a:p>
        </p:txBody>
      </p:sp>
      <p:sp>
        <p:nvSpPr>
          <p:cNvPr id="12" name="Text 10"/>
          <p:cNvSpPr/>
          <p:nvPr/>
        </p:nvSpPr>
        <p:spPr>
          <a:xfrm>
            <a:off x="6812280" y="1755648"/>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lstStyle/>
          <a:p>
            <a:endParaRPr lang="en-US"/>
          </a:p>
        </p:txBody>
      </p:sp>
      <p:sp>
        <p:nvSpPr>
          <p:cNvPr id="15" name="Text 13"/>
          <p:cNvSpPr/>
          <p:nvPr/>
        </p:nvSpPr>
        <p:spPr>
          <a:xfrm>
            <a:off x="6812280" y="2093976"/>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lstStyle/>
          <a:p>
            <a:endParaRPr lang="en-US"/>
          </a:p>
        </p:txBody>
      </p:sp>
      <p:sp>
        <p:nvSpPr>
          <p:cNvPr id="18" name="Text 16"/>
          <p:cNvSpPr/>
          <p:nvPr/>
        </p:nvSpPr>
        <p:spPr>
          <a:xfrm>
            <a:off x="1143000" y="3913632"/>
            <a:ext cx="5486400" cy="274320"/>
          </a:xfrm>
          <a:prstGeom prst="rect">
            <a:avLst/>
          </a:prstGeom>
          <a:noFill/>
          <a:ln/>
        </p:spPr>
        <p:txBody>
          <a:bodyPr wrap="square" rtlCol="0" anchor="ctr"/>
          <a:lstStyle/>
          <a:p>
            <a:pPr marL="0" indent="0">
              <a:buNone/>
            </a:pPr>
            <a:r>
              <a:rPr lang="en-US" sz="1100" b="1" kern="0" spc="20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Describe the Scopes Trial of 1925, including the major figures (i.e., John Scopes, William Jennings Bryan, and Clarence Darrow), two sides of the controversy (i.e., fundamentalism and modernism), the outcome, and the legacy.</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lstStyle/>
          <a:p>
            <a:endParaRPr lang="en-US"/>
          </a:p>
        </p:txBody>
      </p:sp>
      <p:sp>
        <p:nvSpPr>
          <p:cNvPr id="21" name="Text 19"/>
          <p:cNvSpPr/>
          <p:nvPr/>
        </p:nvSpPr>
        <p:spPr>
          <a:xfrm>
            <a:off x="1143000" y="5230368"/>
            <a:ext cx="1828800" cy="292608"/>
          </a:xfrm>
          <a:prstGeom prst="rect">
            <a:avLst/>
          </a:prstGeom>
          <a:noFill/>
          <a:ln/>
        </p:spPr>
        <p:txBody>
          <a:bodyPr wrap="square" rtlCol="0" anchor="ctr"/>
          <a:lstStyle/>
          <a:p>
            <a:pPr marL="0" indent="0">
              <a:buNone/>
            </a:pPr>
            <a:r>
              <a:rPr lang="en-US" sz="1300" b="1" kern="0" spc="20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marL="0" indent="0">
              <a:lnSpc>
                <a:spcPct val="100000"/>
              </a:lnSpc>
              <a:buNone/>
            </a:pPr>
            <a:r>
              <a:rPr lang="en-US" sz="1250" b="1" dirty="0">
                <a:solidFill>
                  <a:srgbClr val="1A2332"/>
                </a:solidFill>
                <a:latin typeface="Calibri" pitchFamily="34" charset="0"/>
                <a:ea typeface="Calibri" pitchFamily="34" charset="-122"/>
                <a:cs typeface="Calibri" pitchFamily="34" charset="-120"/>
              </a:rPr>
              <a:t>I can describe the Scopes Trial of 1925, including the major figures, the two sides of the controversy (fundamentalism and modernism), the outcome, and the legacy.</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140</a:t>
            </a:r>
            <a:endParaRPr lang="en-US" sz="9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lstStyle/>
          <a:p>
            <a:endParaRPr lang="en-US"/>
          </a:p>
        </p:txBody>
      </p:sp>
      <p:sp>
        <p:nvSpPr>
          <p:cNvPr id="7" name="Shape 5"/>
          <p:cNvSpPr/>
          <p:nvPr/>
        </p:nvSpPr>
        <p:spPr>
          <a:xfrm>
            <a:off x="548640" y="2057400"/>
            <a:ext cx="777240" cy="1234440"/>
          </a:xfrm>
          <a:prstGeom prst="rect">
            <a:avLst/>
          </a:prstGeom>
          <a:solidFill>
            <a:srgbClr val="1A2332"/>
          </a:solidFill>
          <a:ln/>
        </p:spPr>
        <p:txBody>
          <a:bodyPr/>
          <a:lstStyle/>
          <a:p>
            <a:endParaRPr lang="en-US"/>
          </a:p>
        </p:txBody>
      </p:sp>
      <p:sp>
        <p:nvSpPr>
          <p:cNvPr id="8" name="Text 6"/>
          <p:cNvSpPr/>
          <p:nvPr/>
        </p:nvSpPr>
        <p:spPr>
          <a:xfrm>
            <a:off x="548640" y="2057400"/>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US.35  </a:t>
            </a:r>
            <a:r>
              <a:rPr lang="en-US" sz="1350" dirty="0">
                <a:solidFill>
                  <a:srgbClr val="1F2430"/>
                </a:solidFill>
                <a:latin typeface="Calibri" pitchFamily="34" charset="0"/>
                <a:ea typeface="Calibri" pitchFamily="34" charset="-122"/>
                <a:cs typeface="Calibri" pitchFamily="34" charset="-120"/>
              </a:rPr>
              <a:t>What was the First Red Scare?</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lstStyle/>
          <a:p>
            <a:endParaRPr lang="en-US"/>
          </a:p>
        </p:txBody>
      </p:sp>
      <p:sp>
        <p:nvSpPr>
          <p:cNvPr id="11" name="Shape 9"/>
          <p:cNvSpPr/>
          <p:nvPr/>
        </p:nvSpPr>
        <p:spPr>
          <a:xfrm>
            <a:off x="548640" y="3456432"/>
            <a:ext cx="777240" cy="1234440"/>
          </a:xfrm>
          <a:prstGeom prst="rect">
            <a:avLst/>
          </a:prstGeom>
          <a:solidFill>
            <a:srgbClr val="1A2332"/>
          </a:solidFill>
          <a:ln/>
        </p:spPr>
        <p:txBody>
          <a:bodyPr/>
          <a:lstStyle/>
          <a:p>
            <a:endParaRPr lang="en-US"/>
          </a:p>
        </p:txBody>
      </p:sp>
      <p:sp>
        <p:nvSpPr>
          <p:cNvPr id="12" name="Text 10"/>
          <p:cNvSpPr/>
          <p:nvPr/>
        </p:nvSpPr>
        <p:spPr>
          <a:xfrm>
            <a:off x="548640" y="3456432"/>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US.35  </a:t>
            </a:r>
            <a:r>
              <a:rPr lang="en-US" sz="1350" dirty="0">
                <a:solidFill>
                  <a:srgbClr val="1F2430"/>
                </a:solidFill>
                <a:latin typeface="Calibri" pitchFamily="34" charset="0"/>
                <a:ea typeface="Calibri" pitchFamily="34" charset="-122"/>
                <a:cs typeface="Calibri" pitchFamily="34" charset="-120"/>
              </a:rPr>
              <a:t>What did the Immigration (Quota) Acts of the 1920s do?</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141</a:t>
            </a:r>
            <a:endParaRPr lang="en-US" sz="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lstStyle/>
          <a:p>
            <a:endParaRPr lang="en-US"/>
          </a:p>
        </p:txBody>
      </p:sp>
      <p:sp>
        <p:nvSpPr>
          <p:cNvPr id="6" name="Text 4"/>
          <p:cNvSpPr/>
          <p:nvPr/>
        </p:nvSpPr>
        <p:spPr>
          <a:xfrm>
            <a:off x="8686800" y="786384"/>
            <a:ext cx="1143000" cy="457200"/>
          </a:xfrm>
          <a:prstGeom prst="rect">
            <a:avLst/>
          </a:prstGeom>
          <a:noFill/>
          <a:ln/>
        </p:spPr>
        <p:txBody>
          <a:bodyPr wrap="square" rtlCol="0" anchor="ctr"/>
          <a:lstStyle/>
          <a:p>
            <a:pPr marL="0" indent="0" algn="ctr">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lstStyle/>
          <a:p>
            <a:endParaRPr lang="en-US"/>
          </a:p>
        </p:txBody>
      </p:sp>
      <p:sp>
        <p:nvSpPr>
          <p:cNvPr id="8" name="Text 6"/>
          <p:cNvSpPr/>
          <p:nvPr/>
        </p:nvSpPr>
        <p:spPr>
          <a:xfrm>
            <a:off x="9966960" y="786384"/>
            <a:ext cx="164592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lstStyle/>
          <a:p>
            <a:endParaRPr lang="en-US"/>
          </a:p>
        </p:txBody>
      </p:sp>
      <p:sp>
        <p:nvSpPr>
          <p:cNvPr id="11" name="Text 9"/>
          <p:cNvSpPr/>
          <p:nvPr/>
        </p:nvSpPr>
        <p:spPr>
          <a:xfrm>
            <a:off x="1005840" y="2194560"/>
            <a:ext cx="10149840" cy="1417320"/>
          </a:xfrm>
          <a:prstGeom prst="rect">
            <a:avLst/>
          </a:prstGeom>
          <a:noFill/>
          <a:ln/>
        </p:spPr>
        <p:txBody>
          <a:bodyPr wrap="square" rtlCol="0" anchor="ctr"/>
          <a:lstStyle/>
          <a:p>
            <a:pPr marL="0" indent="0" algn="ctr">
              <a:lnSpc>
                <a:spcPct val="108000"/>
              </a:lnSpc>
              <a:buNone/>
            </a:pPr>
            <a:r>
              <a:rPr lang="en-US" sz="2400" b="1" dirty="0">
                <a:solidFill>
                  <a:srgbClr val="FFFFFF"/>
                </a:solidFill>
                <a:latin typeface="Georgia" pitchFamily="34" charset="0"/>
                <a:ea typeface="Georgia" pitchFamily="34" charset="-122"/>
                <a:cs typeface="Georgia" pitchFamily="34" charset="-120"/>
              </a:rPr>
              <a:t>What was the Scopes Trial?</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lstStyle/>
          <a:p>
            <a:endParaRPr lang="en-US"/>
          </a:p>
        </p:txBody>
      </p:sp>
      <p:sp>
        <p:nvSpPr>
          <p:cNvPr id="13" name="Text 11"/>
          <p:cNvSpPr/>
          <p:nvPr/>
        </p:nvSpPr>
        <p:spPr>
          <a:xfrm>
            <a:off x="914400" y="4224528"/>
            <a:ext cx="2743200" cy="320040"/>
          </a:xfrm>
          <a:prstGeom prst="rect">
            <a:avLst/>
          </a:prstGeom>
          <a:noFill/>
          <a:ln/>
        </p:spPr>
        <p:txBody>
          <a:bodyPr wrap="square" rtlCol="0" anchor="ctr"/>
          <a:lstStyle/>
          <a:p>
            <a:pPr marL="0" indent="0">
              <a:buNone/>
            </a:pPr>
            <a:r>
              <a:rPr lang="en-US" sz="1200" b="1" kern="0" spc="20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marL="0" indent="0">
              <a:lnSpc>
                <a:spcPct val="108000"/>
              </a:lnSpc>
              <a:buNone/>
            </a:pPr>
            <a:r>
              <a:rPr lang="en-US" sz="1600" dirty="0">
                <a:solidFill>
                  <a:srgbClr val="1F2430"/>
                </a:solidFill>
                <a:latin typeface="Calibri" pitchFamily="34" charset="0"/>
                <a:ea typeface="Calibri" pitchFamily="34" charset="-122"/>
                <a:cs typeface="Calibri" pitchFamily="34" charset="-120"/>
              </a:rPr>
              <a:t>The 1925 Tennessee trial of a teacher for teaching evolution, a clash of religion and science.</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lstStyle/>
          <a:p>
            <a:endParaRPr lang="en-US"/>
          </a:p>
        </p:txBody>
      </p:sp>
      <p:sp>
        <p:nvSpPr>
          <p:cNvPr id="16" name="Text 14"/>
          <p:cNvSpPr/>
          <p:nvPr/>
        </p:nvSpPr>
        <p:spPr>
          <a:xfrm>
            <a:off x="822960" y="5623560"/>
            <a:ext cx="10515600" cy="457200"/>
          </a:xfrm>
          <a:prstGeom prst="rect">
            <a:avLst/>
          </a:prstGeom>
          <a:noFill/>
          <a:ln/>
        </p:spPr>
        <p:txBody>
          <a:bodyPr wrap="square" rtlCol="0" anchor="ctr"/>
          <a:lstStyle/>
          <a:p>
            <a:pPr marL="0" indent="0">
              <a:buNone/>
            </a:pPr>
            <a:r>
              <a:rPr lang="en-US" sz="1150" b="1" i="1" kern="0" spc="100" dirty="0">
                <a:solidFill>
                  <a:srgbClr val="C62828"/>
                </a:solidFill>
                <a:latin typeface="Trebuchet MS" pitchFamily="34" charset="0"/>
                <a:ea typeface="Trebuchet MS" pitchFamily="34" charset="-122"/>
                <a:cs typeface="Trebuchet MS" pitchFamily="34" charset="-120"/>
              </a:rPr>
              <a:t>COMMIT FIRST:  </a:t>
            </a: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142</a:t>
            </a:r>
            <a:endParaRPr lang="en-US"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lstStyle/>
          <a:p>
            <a:endParaRPr lang="en-US"/>
          </a:p>
        </p:txBody>
      </p:sp>
      <p:sp>
        <p:nvSpPr>
          <p:cNvPr id="6" name="Text 4"/>
          <p:cNvSpPr/>
          <p:nvPr/>
        </p:nvSpPr>
        <p:spPr>
          <a:xfrm>
            <a:off x="1005840" y="1965960"/>
            <a:ext cx="10149840" cy="1645920"/>
          </a:xfrm>
          <a:prstGeom prst="rect">
            <a:avLst/>
          </a:prstGeom>
          <a:noFill/>
          <a:ln/>
        </p:spPr>
        <p:txBody>
          <a:bodyPr wrap="square" rtlCol="0" anchor="ctr"/>
          <a:lstStyle/>
          <a:p>
            <a:pPr marL="0" indent="0">
              <a:lnSpc>
                <a:spcPct val="108000"/>
              </a:lnSpc>
              <a:buNone/>
            </a:pPr>
            <a:r>
              <a:rPr lang="en-US" sz="2600" i="1" dirty="0">
                <a:solidFill>
                  <a:srgbClr val="FFFFFF"/>
                </a:solidFill>
                <a:latin typeface="Georgia" pitchFamily="34" charset="0"/>
                <a:ea typeface="Georgia" pitchFamily="34" charset="-122"/>
                <a:cs typeface="Georgia" pitchFamily="34" charset="-120"/>
              </a:rPr>
              <a:t>In the summer of 1925, in the small town of Dayton, Tennessee, a high school teacher went on trial for teaching evolution, and two of the most famous lawyers in America turned a local courtroom into a national showdown over science and the Bible.</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lstStyle/>
          <a:p>
            <a:endParaRPr lang="en-US"/>
          </a:p>
        </p:txBody>
      </p:sp>
      <p:sp>
        <p:nvSpPr>
          <p:cNvPr id="8" name="Text 6"/>
          <p:cNvSpPr/>
          <p:nvPr/>
        </p:nvSpPr>
        <p:spPr>
          <a:xfrm>
            <a:off x="914400" y="4297680"/>
            <a:ext cx="2743200" cy="320040"/>
          </a:xfrm>
          <a:prstGeom prst="rect">
            <a:avLst/>
          </a:prstGeom>
          <a:noFill/>
          <a:ln/>
        </p:spPr>
        <p:txBody>
          <a:bodyPr wrap="square" rtlCol="0" anchor="ctr"/>
          <a:lstStyle/>
          <a:p>
            <a:pPr marL="0" indent="0">
              <a:buNone/>
            </a:pPr>
            <a:r>
              <a:rPr lang="en-US" sz="1300" b="1" kern="0" spc="20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lstStyle/>
          <a:p>
            <a:endParaRPr lang="en-US"/>
          </a:p>
        </p:txBody>
      </p:sp>
      <p:sp>
        <p:nvSpPr>
          <p:cNvPr id="10" name="Text 8"/>
          <p:cNvSpPr/>
          <p:nvPr/>
        </p:nvSpPr>
        <p:spPr>
          <a:xfrm>
            <a:off x="7772400" y="4224528"/>
            <a:ext cx="3657600" cy="45720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marL="0" indent="0">
              <a:lnSpc>
                <a:spcPct val="110000"/>
              </a:lnSpc>
              <a:buNone/>
            </a:pPr>
            <a:r>
              <a:rPr lang="en-US" sz="1600" dirty="0">
                <a:solidFill>
                  <a:srgbClr val="1F2430"/>
                </a:solidFill>
                <a:latin typeface="Calibri" pitchFamily="34" charset="0"/>
                <a:ea typeface="Calibri" pitchFamily="34" charset="-122"/>
                <a:cs typeface="Calibri" pitchFamily="34" charset="-120"/>
              </a:rPr>
              <a:t>When a community's deepest beliefs collide with new scientific ideas, who should decide what gets taught in a public school classroom?</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143</a:t>
            </a:r>
            <a:endParaRPr lang="en-US"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Major Figures and Their Roles</a:t>
            </a:r>
            <a:endParaRPr lang="en-US" sz="3000" dirty="0"/>
          </a:p>
        </p:txBody>
      </p:sp>
      <p:sp>
        <p:nvSpPr>
          <p:cNvPr id="5" name="Shape 3"/>
          <p:cNvSpPr/>
          <p:nvPr/>
        </p:nvSpPr>
        <p:spPr>
          <a:xfrm>
            <a:off x="10180015" y="502920"/>
            <a:ext cx="146304" cy="146304"/>
          </a:xfrm>
          <a:prstGeom prst="ellipse">
            <a:avLst/>
          </a:prstGeom>
          <a:solidFill>
            <a:srgbClr val="C62828"/>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6766560" cy="26974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969264"/>
          </a:xfrm>
          <a:prstGeom prst="rect">
            <a:avLst/>
          </a:prstGeom>
          <a:noFill/>
          <a:ln/>
        </p:spPr>
        <p:txBody>
          <a:bodyPr wrap="square" rtlCol="0" anchor="t">
            <a:normAutofit fontScale="47500" lnSpcReduction="20000"/>
          </a:bodyPr>
          <a:lstStyle/>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John T. Scopes was a 24-year-old high school teacher in Dayton, Tennessee who volunteered to test the Butler Act.</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William Jennings Bryan, three-time presidential candidate and fundamentalist champion, led the prosecution.</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Clarence Darrow, famous criminal lawyer and religious skeptic, led the defense.</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Judge John Raulston favored the prosecution.</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H.L. Mencken covered the trial for national audiences, coining the term "Monkey Trial."</a:t>
            </a:r>
            <a:endParaRPr lang="en-US" sz="1350" dirty="0"/>
          </a:p>
        </p:txBody>
      </p:sp>
      <p:sp>
        <p:nvSpPr>
          <p:cNvPr id="13" name="Shape 11"/>
          <p:cNvSpPr/>
          <p:nvPr/>
        </p:nvSpPr>
        <p:spPr>
          <a:xfrm>
            <a:off x="868680" y="3255264"/>
            <a:ext cx="6126480" cy="1097280"/>
          </a:xfrm>
          <a:prstGeom prst="roundRect">
            <a:avLst>
              <a:gd name="adj" fmla="val 5000"/>
            </a:avLst>
          </a:prstGeom>
          <a:solidFill>
            <a:srgbClr val="EEF3F7"/>
          </a:solidFill>
          <a:ln w="12700">
            <a:solidFill>
              <a:srgbClr val="A7BACB"/>
            </a:solidFill>
            <a:prstDash val="solid"/>
          </a:ln>
        </p:spPr>
        <p:txBody>
          <a:bodyPr/>
          <a:lstStyle/>
          <a:p>
            <a:endParaRPr lang="en-US"/>
          </a:p>
        </p:txBody>
      </p:sp>
      <p:sp>
        <p:nvSpPr>
          <p:cNvPr id="14" name="Text 12"/>
          <p:cNvSpPr/>
          <p:nvPr/>
        </p:nvSpPr>
        <p:spPr>
          <a:xfrm>
            <a:off x="1024128" y="3310128"/>
            <a:ext cx="5852160" cy="237744"/>
          </a:xfrm>
          <a:prstGeom prst="rect">
            <a:avLst/>
          </a:prstGeom>
          <a:noFill/>
          <a:ln/>
        </p:spPr>
        <p:txBody>
          <a:bodyPr wrap="square" rtlCol="0" anchor="ctr"/>
          <a:lstStyle/>
          <a:p>
            <a:pPr marL="0" indent="0">
              <a:buNone/>
            </a:pPr>
            <a:r>
              <a:rPr lang="en-US" sz="900" b="1" kern="0" spc="100" dirty="0">
                <a:solidFill>
                  <a:srgbClr val="002858"/>
                </a:solidFill>
                <a:latin typeface="Trebuchet MS" pitchFamily="34" charset="0"/>
                <a:ea typeface="Trebuchet MS" pitchFamily="34" charset="-122"/>
                <a:cs typeface="Trebuchet MS" pitchFamily="34" charset="-120"/>
              </a:rPr>
              <a:t>SENTENCE FRAME  </a:t>
            </a:r>
            <a:r>
              <a:rPr lang="en-US" sz="850" i="1" dirty="0">
                <a:solidFill>
                  <a:srgbClr val="5C6470"/>
                </a:solidFill>
              </a:rPr>
              <a:t>(EL &amp; writing support)  </a:t>
            </a:r>
            <a:endParaRPr lang="en-US" sz="900" dirty="0"/>
          </a:p>
        </p:txBody>
      </p:sp>
      <p:sp>
        <p:nvSpPr>
          <p:cNvPr id="15" name="Text 13"/>
          <p:cNvSpPr/>
          <p:nvPr/>
        </p:nvSpPr>
        <p:spPr>
          <a:xfrm>
            <a:off x="1024128" y="3566160"/>
            <a:ext cx="6309360" cy="658368"/>
          </a:xfrm>
          <a:prstGeom prst="rect">
            <a:avLst/>
          </a:prstGeom>
          <a:noFill/>
          <a:ln/>
        </p:spPr>
        <p:txBody>
          <a:bodyPr wrap="square" rtlCol="0" anchor="t"/>
          <a:lstStyle/>
          <a:p>
            <a:pPr marL="0" indent="0">
              <a:lnSpc>
                <a:spcPct val="104000"/>
              </a:lnSpc>
              <a:buNone/>
            </a:pPr>
            <a:r>
              <a:rPr lang="en-US" sz="1050" i="1" dirty="0">
                <a:solidFill>
                  <a:srgbClr val="1F2430"/>
                </a:solidFill>
                <a:latin typeface="Calibri" pitchFamily="34" charset="0"/>
                <a:ea typeface="Calibri" pitchFamily="34" charset="-122"/>
                <a:cs typeface="Calibri" pitchFamily="34" charset="-120"/>
              </a:rPr>
              <a:t>The Scopes Trial was a conflict between ________ and ________, and it revealed that ________.</a:t>
            </a:r>
            <a:endParaRPr lang="en-US" sz="1050" dirty="0"/>
          </a:p>
        </p:txBody>
      </p:sp>
      <p:sp>
        <p:nvSpPr>
          <p:cNvPr id="16" name="Shape 14"/>
          <p:cNvSpPr/>
          <p:nvPr/>
        </p:nvSpPr>
        <p:spPr>
          <a:xfrm>
            <a:off x="7552944" y="1746504"/>
            <a:ext cx="4142232" cy="2935224"/>
          </a:xfrm>
          <a:prstGeom prst="rect">
            <a:avLst/>
          </a:prstGeom>
          <a:solidFill>
            <a:srgbClr val="FFFFFF"/>
          </a:solidFill>
          <a:ln w="12700">
            <a:solidFill>
              <a:srgbClr val="DAD3C2"/>
            </a:solidFill>
            <a:prstDash val="solid"/>
          </a:ln>
        </p:spPr>
        <p:txBody>
          <a:bodyPr/>
          <a:lstStyle/>
          <a:p>
            <a:endParaRPr lang="en-US"/>
          </a:p>
        </p:txBody>
      </p:sp>
      <p:pic>
        <p:nvPicPr>
          <p:cNvPr id="17" name="Image 0" descr="unit4-full/img/clarence-darrow-scopes-trial-1925.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604447" y="1783080"/>
            <a:ext cx="2039226" cy="2862072"/>
          </a:xfrm>
          <a:prstGeom prst="rect">
            <a:avLst/>
          </a:prstGeom>
        </p:spPr>
      </p:pic>
      <p:sp>
        <p:nvSpPr>
          <p:cNvPr id="18" name="Text 15"/>
          <p:cNvSpPr/>
          <p:nvPr/>
        </p:nvSpPr>
        <p:spPr>
          <a:xfrm>
            <a:off x="7589520" y="470001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Library of Congress, Prints and Photographs Division, 1925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800" dirty="0"/>
          </a:p>
        </p:txBody>
      </p:sp>
      <p:sp>
        <p:nvSpPr>
          <p:cNvPr id="19" name="Shape 16"/>
          <p:cNvSpPr/>
          <p:nvPr/>
        </p:nvSpPr>
        <p:spPr>
          <a:xfrm>
            <a:off x="548640" y="4709160"/>
            <a:ext cx="6766560" cy="1143000"/>
          </a:xfrm>
          <a:prstGeom prst="roundRect">
            <a:avLst>
              <a:gd name="adj" fmla="val 6400"/>
            </a:avLst>
          </a:prstGeom>
          <a:solidFill>
            <a:srgbClr val="FBEFD0"/>
          </a:solidFill>
          <a:ln w="19050">
            <a:solidFill>
              <a:srgbClr val="C9A84C"/>
            </a:solidFill>
            <a:prstDash val="solid"/>
          </a:ln>
        </p:spPr>
        <p:txBody>
          <a:bodyPr/>
          <a:lstStyle/>
          <a:p>
            <a:endParaRPr lang="en-US"/>
          </a:p>
        </p:txBody>
      </p:sp>
      <p:sp>
        <p:nvSpPr>
          <p:cNvPr id="20" name="Text 17"/>
          <p:cNvSpPr/>
          <p:nvPr/>
        </p:nvSpPr>
        <p:spPr>
          <a:xfrm>
            <a:off x="868680" y="4846320"/>
            <a:ext cx="5486400" cy="274320"/>
          </a:xfrm>
          <a:prstGeom prst="rect">
            <a:avLst/>
          </a:prstGeom>
          <a:noFill/>
          <a:ln/>
        </p:spPr>
        <p:txBody>
          <a:bodyPr wrap="square" rtlCol="0" anchor="ctr"/>
          <a:lstStyle/>
          <a:p>
            <a:pPr marL="0" indent="0">
              <a:buNone/>
            </a:pPr>
            <a:r>
              <a:rPr lang="en-US" sz="1200" b="1" kern="0" spc="10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21" name="Text 18"/>
          <p:cNvSpPr/>
          <p:nvPr/>
        </p:nvSpPr>
        <p:spPr>
          <a:xfrm>
            <a:off x="868680" y="5120640"/>
            <a:ext cx="6126480" cy="685800"/>
          </a:xfrm>
          <a:prstGeom prst="rect">
            <a:avLst/>
          </a:prstGeom>
          <a:noFill/>
          <a:ln/>
        </p:spPr>
        <p:txBody>
          <a:bodyPr wrap="square" rtlCol="0" anchor="t"/>
          <a:lstStyle/>
          <a:p>
            <a:pPr marL="0" indent="0">
              <a:lnSpc>
                <a:spcPct val="105000"/>
              </a:lnSpc>
              <a:buNone/>
            </a:pPr>
            <a:r>
              <a:rPr lang="en-US" sz="1300" dirty="0">
                <a:solidFill>
                  <a:srgbClr val="1F2430"/>
                </a:solidFill>
                <a:latin typeface="Calibri" pitchFamily="34" charset="0"/>
                <a:ea typeface="Calibri" pitchFamily="34" charset="-122"/>
                <a:cs typeface="Calibri" pitchFamily="34" charset="-120"/>
              </a:rPr>
              <a:t>The Scopes Trial took place in Dayton, Tennessee, in July 1925, after the state legislature passed the Butler Act banning the teaching of evolution in public schools. Tennessee became the national stage for the clash between science and religion.</a:t>
            </a:r>
            <a:endParaRPr lang="en-US" sz="1300" dirty="0"/>
          </a:p>
        </p:txBody>
      </p:sp>
      <p:sp>
        <p:nvSpPr>
          <p:cNvPr id="22" name="Shape 19"/>
          <p:cNvSpPr/>
          <p:nvPr/>
        </p:nvSpPr>
        <p:spPr>
          <a:xfrm>
            <a:off x="7589520" y="5440680"/>
            <a:ext cx="4069080" cy="713232"/>
          </a:xfrm>
          <a:prstGeom prst="roundRect">
            <a:avLst>
              <a:gd name="adj" fmla="val 7692"/>
            </a:avLst>
          </a:prstGeom>
          <a:solidFill>
            <a:srgbClr val="1A2332"/>
          </a:solidFill>
          <a:ln/>
        </p:spPr>
        <p:txBody>
          <a:bodyPr/>
          <a:lstStyle/>
          <a:p>
            <a:endParaRPr lang="en-US"/>
          </a:p>
        </p:txBody>
      </p:sp>
      <p:sp>
        <p:nvSpPr>
          <p:cNvPr id="23" name="Text 20"/>
          <p:cNvSpPr/>
          <p:nvPr/>
        </p:nvSpPr>
        <p:spPr>
          <a:xfrm>
            <a:off x="7772400" y="5477256"/>
            <a:ext cx="3703320" cy="640080"/>
          </a:xfrm>
          <a:prstGeom prst="rect">
            <a:avLst/>
          </a:prstGeom>
          <a:noFill/>
          <a:ln/>
        </p:spPr>
        <p:txBody>
          <a:bodyPr wrap="square" rtlCol="0" anchor="ctr"/>
          <a:lstStyle/>
          <a:p>
            <a:pPr marL="0" indent="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5"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6"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144</a:t>
            </a:r>
            <a:endParaRPr lang="en-US"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Arguments Against Evolution (Prosecution)</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C62828"/>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prosecution argued that the Bible is the literal word of God and scientifically accurate.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They claimed evolution undermined religious faith and moral behavior.</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They asserted that parents and taxpayers should control school curriculum.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Traditional religious values were deemed necessary for social order, and schools should teach established truth, not controversial theories.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145</a:t>
            </a:r>
            <a:endParaRPr lang="en-US" sz="9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Arguments For Evolution (Defense)</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C62828"/>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defense argued that evolution was supported by overwhelming scientific evidence.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Teachers should be free to teach accepted scientific theories.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Separation of church and state prohibited establishing religious doctrine in schools.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Students needed modern scientific education to compete.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Many Christians already accepted evolution as God's method of creation.</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146</a:t>
            </a:r>
            <a:endParaRPr lang="en-US"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Trial Outcome and Immediate Impact</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C62828"/>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Scopes was convicted and fined $100, though the conviction was later overturned on a technicality.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Butler Act remained in effect until 1967.</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Darrow's cross-examination of Bryan exposed inconsistencies in Biblical literalism.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trial became a media circus broadcast on radio.</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Afterward, publishers removed evolution from textbooks, and many teachers avoided the subject for decades.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147</a:t>
            </a:r>
            <a:endParaRPr lang="en-US" sz="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Long-term Legacy</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C62828"/>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Scopes Trial became a symbol of science versus religion conflict.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It established templates for ongoing debates about curriculum control and academic freedom.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trial portrayed religious conservatives as anti-intellectual, reinforcing regional stereotypes about the South.</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It foreshadowed later Supreme Court cases on religion in schools and inspired cultural works including "Inherit the Wind."</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148</a:t>
            </a:r>
            <a:endParaRPr lang="en-US" sz="9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3505200" cy="4114800"/>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27632"/>
            <a:ext cx="3505200" cy="868680"/>
          </a:xfrm>
          <a:prstGeom prst="rect">
            <a:avLst/>
          </a:prstGeom>
          <a:solidFill>
            <a:srgbClr val="1A2332"/>
          </a:solidFill>
          <a:ln/>
        </p:spPr>
        <p:txBody>
          <a:bodyPr/>
          <a:lstStyle/>
          <a:p>
            <a:endParaRPr lang="en-US"/>
          </a:p>
        </p:txBody>
      </p:sp>
      <p:sp>
        <p:nvSpPr>
          <p:cNvPr id="7" name="Text 5"/>
          <p:cNvSpPr/>
          <p:nvPr/>
        </p:nvSpPr>
        <p:spPr>
          <a:xfrm>
            <a:off x="667512" y="1627632"/>
            <a:ext cx="3267456" cy="630936"/>
          </a:xfrm>
          <a:prstGeom prst="rect">
            <a:avLst/>
          </a:prstGeom>
          <a:noFill/>
          <a:ln/>
        </p:spPr>
        <p:txBody>
          <a:bodyPr wrap="square" rtlCol="0" anchor="ctr">
            <a:normAutofit/>
          </a:bodyPr>
          <a:lstStyle/>
          <a:p>
            <a:pPr marL="0" indent="0">
              <a:lnSpc>
                <a:spcPct val="95000"/>
              </a:lnSpc>
              <a:buNone/>
            </a:pPr>
            <a:r>
              <a:rPr lang="en-US" sz="1600" b="1" dirty="0">
                <a:solidFill>
                  <a:srgbClr val="FFFFFF"/>
                </a:solidFill>
                <a:latin typeface="Georgia" pitchFamily="34" charset="0"/>
                <a:ea typeface="Georgia" pitchFamily="34" charset="-122"/>
                <a:cs typeface="Georgia" pitchFamily="34" charset="-120"/>
              </a:rPr>
              <a:t>William Jennings Bryan</a:t>
            </a:r>
            <a:endParaRPr lang="en-US" sz="1600" dirty="0"/>
          </a:p>
        </p:txBody>
      </p:sp>
      <p:sp>
        <p:nvSpPr>
          <p:cNvPr id="8" name="Text 6"/>
          <p:cNvSpPr/>
          <p:nvPr/>
        </p:nvSpPr>
        <p:spPr>
          <a:xfrm>
            <a:off x="667512" y="2221992"/>
            <a:ext cx="326745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Prosecutor &amp; fundamentalist orator</a:t>
            </a:r>
            <a:endParaRPr lang="en-US" sz="1100" dirty="0"/>
          </a:p>
        </p:txBody>
      </p:sp>
      <p:sp>
        <p:nvSpPr>
          <p:cNvPr id="9" name="Shape 7"/>
          <p:cNvSpPr/>
          <p:nvPr/>
        </p:nvSpPr>
        <p:spPr>
          <a:xfrm>
            <a:off x="667512" y="2578608"/>
            <a:ext cx="1527048" cy="2081417"/>
          </a:xfrm>
          <a:prstGeom prst="rect">
            <a:avLst/>
          </a:prstGeom>
          <a:solidFill>
            <a:srgbClr val="FFFFFF"/>
          </a:solidFill>
          <a:ln w="12700">
            <a:solidFill>
              <a:srgbClr val="DAD3C2"/>
            </a:solidFill>
            <a:prstDash val="solid"/>
          </a:ln>
        </p:spPr>
        <p:txBody>
          <a:bodyPr/>
          <a:lstStyle/>
          <a:p>
            <a:endParaRPr lang="en-US"/>
          </a:p>
        </p:txBody>
      </p:sp>
      <p:pic>
        <p:nvPicPr>
          <p:cNvPr id="10" name="Image 0" descr="unit4-full/img/william-jennings-bryan.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94944" y="2606040"/>
            <a:ext cx="1472184" cy="2026553"/>
          </a:xfrm>
          <a:prstGeom prst="rect">
            <a:avLst/>
          </a:prstGeom>
        </p:spPr>
      </p:pic>
      <p:sp>
        <p:nvSpPr>
          <p:cNvPr id="11" name="Text 8"/>
          <p:cNvSpPr/>
          <p:nvPr/>
        </p:nvSpPr>
        <p:spPr>
          <a:xfrm>
            <a:off x="694944" y="4669169"/>
            <a:ext cx="1975104"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Library of Congress, c1920s  </a:t>
            </a:r>
            <a:r>
              <a:rPr lang="en-US" sz="6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600" dirty="0"/>
          </a:p>
        </p:txBody>
      </p:sp>
      <p:sp>
        <p:nvSpPr>
          <p:cNvPr id="12" name="Text 9"/>
          <p:cNvSpPr/>
          <p:nvPr/>
        </p:nvSpPr>
        <p:spPr>
          <a:xfrm>
            <a:off x="2350008" y="2606040"/>
            <a:ext cx="1557528"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Argued for the state and against teaching evolution</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Defended a literal reading of the Bible</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Voice of rural, fundamentalist America</a:t>
            </a:r>
            <a:endParaRPr lang="en-US" sz="1200" dirty="0"/>
          </a:p>
        </p:txBody>
      </p:sp>
      <p:sp>
        <p:nvSpPr>
          <p:cNvPr id="13" name="Shape 10"/>
          <p:cNvSpPr/>
          <p:nvPr/>
        </p:nvSpPr>
        <p:spPr>
          <a:xfrm>
            <a:off x="667512" y="5148072"/>
            <a:ext cx="326745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14" name="Text 11"/>
          <p:cNvSpPr/>
          <p:nvPr/>
        </p:nvSpPr>
        <p:spPr>
          <a:xfrm>
            <a:off x="749808" y="5175504"/>
            <a:ext cx="3121152" cy="457200"/>
          </a:xfrm>
          <a:prstGeom prst="rect">
            <a:avLst/>
          </a:prstGeom>
          <a:noFill/>
          <a:ln/>
        </p:spPr>
        <p:txBody>
          <a:bodyPr wrap="square" rtlCol="0" anchor="ctr">
            <a:normAutofit fontScale="92500" lnSpcReduction="20000"/>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Pair Bryan and Darrow back-to-back so students hear both sides of the culture clash in their own words.</a:t>
            </a:r>
            <a:endParaRPr lang="en-US" sz="800" dirty="0"/>
          </a:p>
        </p:txBody>
      </p:sp>
      <p:sp>
        <p:nvSpPr>
          <p:cNvPr id="15" name="Shape 12"/>
          <p:cNvSpPr/>
          <p:nvPr/>
        </p:nvSpPr>
        <p:spPr>
          <a:xfrm>
            <a:off x="4328160" y="1627632"/>
            <a:ext cx="3505200" cy="4114800"/>
          </a:xfrm>
          <a:prstGeom prst="rect">
            <a:avLst/>
          </a:prstGeom>
          <a:solidFill>
            <a:srgbClr val="FFFFFF"/>
          </a:solidFill>
          <a:ln w="12700">
            <a:solidFill>
              <a:srgbClr val="DAD3C2"/>
            </a:solidFill>
            <a:prstDash val="solid"/>
          </a:ln>
        </p:spPr>
        <p:txBody>
          <a:bodyPr/>
          <a:lstStyle/>
          <a:p>
            <a:endParaRPr lang="en-US"/>
          </a:p>
        </p:txBody>
      </p:sp>
      <p:sp>
        <p:nvSpPr>
          <p:cNvPr id="16" name="Shape 13"/>
          <p:cNvSpPr/>
          <p:nvPr/>
        </p:nvSpPr>
        <p:spPr>
          <a:xfrm>
            <a:off x="4328160" y="1627632"/>
            <a:ext cx="3505200" cy="868680"/>
          </a:xfrm>
          <a:prstGeom prst="rect">
            <a:avLst/>
          </a:prstGeom>
          <a:solidFill>
            <a:srgbClr val="1A2332"/>
          </a:solidFill>
          <a:ln/>
        </p:spPr>
        <p:txBody>
          <a:bodyPr/>
          <a:lstStyle/>
          <a:p>
            <a:endParaRPr lang="en-US"/>
          </a:p>
        </p:txBody>
      </p:sp>
      <p:sp>
        <p:nvSpPr>
          <p:cNvPr id="17" name="Text 14"/>
          <p:cNvSpPr/>
          <p:nvPr/>
        </p:nvSpPr>
        <p:spPr>
          <a:xfrm>
            <a:off x="4447032" y="1627632"/>
            <a:ext cx="3267456" cy="630936"/>
          </a:xfrm>
          <a:prstGeom prst="rect">
            <a:avLst/>
          </a:prstGeom>
          <a:noFill/>
          <a:ln/>
        </p:spPr>
        <p:txBody>
          <a:bodyPr wrap="square" rtlCol="0" anchor="ctr">
            <a:normAutofit/>
          </a:bodyPr>
          <a:lstStyle/>
          <a:p>
            <a:pPr marL="0" indent="0">
              <a:lnSpc>
                <a:spcPct val="95000"/>
              </a:lnSpc>
              <a:buNone/>
            </a:pPr>
            <a:r>
              <a:rPr lang="en-US" sz="1600" b="1" dirty="0">
                <a:solidFill>
                  <a:srgbClr val="FFFFFF"/>
                </a:solidFill>
                <a:latin typeface="Georgia" pitchFamily="34" charset="0"/>
                <a:ea typeface="Georgia" pitchFamily="34" charset="-122"/>
                <a:cs typeface="Georgia" pitchFamily="34" charset="-120"/>
              </a:rPr>
              <a:t>Clarence Darrow</a:t>
            </a:r>
            <a:endParaRPr lang="en-US" sz="1600" dirty="0"/>
          </a:p>
        </p:txBody>
      </p:sp>
      <p:sp>
        <p:nvSpPr>
          <p:cNvPr id="18" name="Text 15"/>
          <p:cNvSpPr/>
          <p:nvPr/>
        </p:nvSpPr>
        <p:spPr>
          <a:xfrm>
            <a:off x="4447032" y="2221992"/>
            <a:ext cx="326745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Defense attorney &amp; modernist</a:t>
            </a:r>
            <a:endParaRPr lang="en-US" sz="1100" dirty="0"/>
          </a:p>
        </p:txBody>
      </p:sp>
      <p:sp>
        <p:nvSpPr>
          <p:cNvPr id="19" name="Shape 16"/>
          <p:cNvSpPr/>
          <p:nvPr/>
        </p:nvSpPr>
        <p:spPr>
          <a:xfrm>
            <a:off x="4447032" y="2578608"/>
            <a:ext cx="1527048" cy="2121087"/>
          </a:xfrm>
          <a:prstGeom prst="rect">
            <a:avLst/>
          </a:prstGeom>
          <a:solidFill>
            <a:srgbClr val="FFFFFF"/>
          </a:solidFill>
          <a:ln w="12700">
            <a:solidFill>
              <a:srgbClr val="DAD3C2"/>
            </a:solidFill>
            <a:prstDash val="solid"/>
          </a:ln>
        </p:spPr>
        <p:txBody>
          <a:bodyPr/>
          <a:lstStyle/>
          <a:p>
            <a:endParaRPr lang="en-US"/>
          </a:p>
        </p:txBody>
      </p:sp>
      <p:pic>
        <p:nvPicPr>
          <p:cNvPr id="20" name="Image 1" descr="unit4-full/img/clarence-darrow-scopes-trial-1925.jpg"/>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4474464" y="2606040"/>
            <a:ext cx="1472184" cy="2066223"/>
          </a:xfrm>
          <a:prstGeom prst="rect">
            <a:avLst/>
          </a:prstGeom>
        </p:spPr>
      </p:pic>
      <p:sp>
        <p:nvSpPr>
          <p:cNvPr id="21" name="Text 17"/>
          <p:cNvSpPr/>
          <p:nvPr/>
        </p:nvSpPr>
        <p:spPr>
          <a:xfrm>
            <a:off x="4474464" y="4708839"/>
            <a:ext cx="1975104"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Library of Congress, Prints and Photographs Division, 1925  </a:t>
            </a:r>
            <a:r>
              <a:rPr lang="en-US" sz="600" i="1" u="sng" dirty="0">
                <a:solidFill>
                  <a:srgbClr val="002858"/>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Library of Congress</a:t>
            </a:r>
            <a:endParaRPr lang="en-US" sz="600" dirty="0"/>
          </a:p>
        </p:txBody>
      </p:sp>
      <p:sp>
        <p:nvSpPr>
          <p:cNvPr id="22" name="Text 18"/>
          <p:cNvSpPr/>
          <p:nvPr/>
        </p:nvSpPr>
        <p:spPr>
          <a:xfrm>
            <a:off x="6129528" y="2606040"/>
            <a:ext cx="1557528"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Defended teacher John Scopes</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Cross-examined Bryan on the Bible</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Voice of urban, modernist America</a:t>
            </a:r>
            <a:endParaRPr lang="en-US" sz="1200" dirty="0"/>
          </a:p>
        </p:txBody>
      </p:sp>
      <p:sp>
        <p:nvSpPr>
          <p:cNvPr id="23" name="Shape 19"/>
          <p:cNvSpPr/>
          <p:nvPr/>
        </p:nvSpPr>
        <p:spPr>
          <a:xfrm>
            <a:off x="4447032" y="5148072"/>
            <a:ext cx="326745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24" name="Text 20"/>
          <p:cNvSpPr/>
          <p:nvPr/>
        </p:nvSpPr>
        <p:spPr>
          <a:xfrm>
            <a:off x="4529328" y="5175504"/>
            <a:ext cx="3121152" cy="457200"/>
          </a:xfrm>
          <a:prstGeom prst="rect">
            <a:avLst/>
          </a:prstGeom>
          <a:noFill/>
          <a:ln/>
        </p:spPr>
        <p:txBody>
          <a:bodyPr wrap="square" rtlCol="0" anchor="ctr">
            <a:normAutofit fontScale="92500"/>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Use Darrow's cross-examination to model how a lawyer builds an argument from questions.</a:t>
            </a:r>
            <a:endParaRPr lang="en-US" sz="800" dirty="0"/>
          </a:p>
        </p:txBody>
      </p:sp>
      <p:sp>
        <p:nvSpPr>
          <p:cNvPr id="25" name="Shape 21"/>
          <p:cNvSpPr/>
          <p:nvPr/>
        </p:nvSpPr>
        <p:spPr>
          <a:xfrm>
            <a:off x="8107680" y="1627632"/>
            <a:ext cx="3505200" cy="4114800"/>
          </a:xfrm>
          <a:prstGeom prst="rect">
            <a:avLst/>
          </a:prstGeom>
          <a:solidFill>
            <a:srgbClr val="FFFFFF"/>
          </a:solidFill>
          <a:ln w="12700">
            <a:solidFill>
              <a:srgbClr val="DAD3C2"/>
            </a:solidFill>
            <a:prstDash val="solid"/>
          </a:ln>
        </p:spPr>
        <p:txBody>
          <a:bodyPr/>
          <a:lstStyle/>
          <a:p>
            <a:endParaRPr lang="en-US"/>
          </a:p>
        </p:txBody>
      </p:sp>
      <p:sp>
        <p:nvSpPr>
          <p:cNvPr id="26" name="Shape 22"/>
          <p:cNvSpPr/>
          <p:nvPr/>
        </p:nvSpPr>
        <p:spPr>
          <a:xfrm>
            <a:off x="8107680" y="1627632"/>
            <a:ext cx="3505200" cy="868680"/>
          </a:xfrm>
          <a:prstGeom prst="rect">
            <a:avLst/>
          </a:prstGeom>
          <a:solidFill>
            <a:srgbClr val="1A2332"/>
          </a:solidFill>
          <a:ln/>
        </p:spPr>
        <p:txBody>
          <a:bodyPr/>
          <a:lstStyle/>
          <a:p>
            <a:endParaRPr lang="en-US"/>
          </a:p>
        </p:txBody>
      </p:sp>
      <p:sp>
        <p:nvSpPr>
          <p:cNvPr id="27" name="Text 23"/>
          <p:cNvSpPr/>
          <p:nvPr/>
        </p:nvSpPr>
        <p:spPr>
          <a:xfrm>
            <a:off x="8226552" y="1627632"/>
            <a:ext cx="3267456" cy="630936"/>
          </a:xfrm>
          <a:prstGeom prst="rect">
            <a:avLst/>
          </a:prstGeom>
          <a:noFill/>
          <a:ln/>
        </p:spPr>
        <p:txBody>
          <a:bodyPr wrap="square" rtlCol="0" anchor="ctr">
            <a:normAutofit/>
          </a:bodyPr>
          <a:lstStyle/>
          <a:p>
            <a:pPr marL="0" indent="0">
              <a:lnSpc>
                <a:spcPct val="95000"/>
              </a:lnSpc>
              <a:buNone/>
            </a:pPr>
            <a:r>
              <a:rPr lang="en-US" sz="1600" b="1" dirty="0">
                <a:solidFill>
                  <a:srgbClr val="FFFFFF"/>
                </a:solidFill>
                <a:latin typeface="Georgia" pitchFamily="34" charset="0"/>
                <a:ea typeface="Georgia" pitchFamily="34" charset="-122"/>
                <a:cs typeface="Georgia" pitchFamily="34" charset="-120"/>
              </a:rPr>
              <a:t>John Scopes</a:t>
            </a:r>
            <a:endParaRPr lang="en-US" sz="1600" dirty="0"/>
          </a:p>
        </p:txBody>
      </p:sp>
      <p:sp>
        <p:nvSpPr>
          <p:cNvPr id="28" name="Text 24"/>
          <p:cNvSpPr/>
          <p:nvPr/>
        </p:nvSpPr>
        <p:spPr>
          <a:xfrm>
            <a:off x="8226552" y="2221992"/>
            <a:ext cx="326745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Dayton, Tennessee teacher</a:t>
            </a:r>
            <a:endParaRPr lang="en-US" sz="1100" dirty="0"/>
          </a:p>
        </p:txBody>
      </p:sp>
      <p:sp>
        <p:nvSpPr>
          <p:cNvPr id="29" name="Text 25"/>
          <p:cNvSpPr/>
          <p:nvPr/>
        </p:nvSpPr>
        <p:spPr>
          <a:xfrm>
            <a:off x="8253984" y="2606040"/>
            <a:ext cx="321259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Agreed to be charged for teaching evolution</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Made his classroom a test case for the Butler Act</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Became the human center of a national debate</a:t>
            </a:r>
            <a:endParaRPr lang="en-US" sz="1200" dirty="0"/>
          </a:p>
        </p:txBody>
      </p:sp>
      <p:sp>
        <p:nvSpPr>
          <p:cNvPr id="30" name="Shape 26"/>
          <p:cNvSpPr/>
          <p:nvPr/>
        </p:nvSpPr>
        <p:spPr>
          <a:xfrm>
            <a:off x="8226552" y="5148072"/>
            <a:ext cx="326745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31" name="Text 27"/>
          <p:cNvSpPr/>
          <p:nvPr/>
        </p:nvSpPr>
        <p:spPr>
          <a:xfrm>
            <a:off x="8308848" y="5175504"/>
            <a:ext cx="3121152" cy="457200"/>
          </a:xfrm>
          <a:prstGeom prst="rect">
            <a:avLst/>
          </a:prstGeom>
          <a:noFill/>
          <a:ln/>
        </p:spPr>
        <p:txBody>
          <a:bodyPr wrap="square" rtlCol="0" anchor="ctr">
            <a:normAutofit fontScale="92500" lnSpcReduction="20000"/>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Anchor the trial in Tennessee: Scopes and the Butler Act make this a local story with national stakes.</a:t>
            </a:r>
            <a:endParaRPr lang="en-US" sz="800" dirty="0"/>
          </a:p>
        </p:txBody>
      </p:sp>
      <p:sp>
        <p:nvSpPr>
          <p:cNvPr id="32" name="Text 2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2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149</a:t>
            </a:r>
            <a:endParaRPr lang="en-US" sz="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002858"/>
                </a:solidFill>
                <a:latin typeface="Trebuchet MS" pitchFamily="34" charset="0"/>
                <a:ea typeface="Trebuchet MS" pitchFamily="34" charset="-122"/>
                <a:cs typeface="Trebuchet MS" pitchFamily="34" charset="-120"/>
              </a:rPr>
              <a:t>US.36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marL="0" indent="0">
              <a:buNone/>
            </a:pPr>
            <a:r>
              <a:rPr lang="en-US" sz="2200" b="1" dirty="0">
                <a:solidFill>
                  <a:srgbClr val="1A2332"/>
                </a:solidFill>
                <a:latin typeface="Georgia" pitchFamily="34" charset="0"/>
                <a:ea typeface="Georgia" pitchFamily="34" charset="-122"/>
                <a:cs typeface="Georgia" pitchFamily="34" charset="-120"/>
              </a:rPr>
              <a:t>Clarence Darrow Cross-Examination of Bryan</a:t>
            </a:r>
            <a:endParaRPr lang="en-US" sz="22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lstStyle/>
          <a:p>
            <a:endParaRPr lang="en-US"/>
          </a:p>
        </p:txBody>
      </p:sp>
      <p:sp>
        <p:nvSpPr>
          <p:cNvPr id="6" name="Text 4"/>
          <p:cNvSpPr/>
          <p:nvPr/>
        </p:nvSpPr>
        <p:spPr>
          <a:xfrm>
            <a:off x="9418320" y="777240"/>
            <a:ext cx="219456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Trial Transcript  ·  1925</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txBody>
          <a:bodyPr/>
          <a:lstStyle/>
          <a:p>
            <a:endParaRPr lang="en-US"/>
          </a:p>
        </p:txBody>
      </p:sp>
      <p:pic>
        <p:nvPicPr>
          <p:cNvPr id="9" name="Image 0" descr="unit4-full/img/clarence-darrow-scopes-trial-1925.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46499" y="1737360"/>
            <a:ext cx="1804683" cy="2532888"/>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marL="0" indent="0" algn="l">
              <a:lnSpc>
                <a:spcPct val="100000"/>
              </a:lnSpc>
              <a:buNone/>
            </a:pPr>
            <a:r>
              <a:rPr lang="en-US" sz="700" i="1" dirty="0">
                <a:solidFill>
                  <a:srgbClr val="5C6470"/>
                </a:solidFill>
                <a:latin typeface="Calibri" pitchFamily="34" charset="0"/>
                <a:ea typeface="Calibri" pitchFamily="34" charset="-122"/>
                <a:cs typeface="Calibri" pitchFamily="34" charset="-120"/>
              </a:rPr>
              <a:t>Library of Congress, Prints and Photographs Division, 1925  </a:t>
            </a:r>
            <a:r>
              <a:rPr lang="en-US" sz="7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lstStyle/>
          <a:p>
            <a:endParaRPr lang="en-US"/>
          </a:p>
        </p:txBody>
      </p:sp>
      <p:sp>
        <p:nvSpPr>
          <p:cNvPr id="12" name="Text 9"/>
          <p:cNvSpPr/>
          <p:nvPr/>
        </p:nvSpPr>
        <p:spPr>
          <a:xfrm>
            <a:off x="768096" y="1865376"/>
            <a:ext cx="2761488" cy="438912"/>
          </a:xfrm>
          <a:prstGeom prst="rect">
            <a:avLst/>
          </a:prstGeom>
          <a:noFill/>
          <a:ln/>
        </p:spPr>
        <p:txBody>
          <a:bodyPr wrap="square" rtlCol="0" anchor="ctr"/>
          <a:lstStyle/>
          <a:p>
            <a:pPr marL="0" indent="0">
              <a:lnSpc>
                <a:spcPct val="95000"/>
              </a:lnSpc>
              <a:buNone/>
            </a:pPr>
            <a:r>
              <a:rPr lang="en-US" sz="950" b="1" kern="0" spc="150" dirty="0">
                <a:solidFill>
                  <a:srgbClr val="1A2332"/>
                </a:solidFill>
                <a:latin typeface="Trebuchet MS" pitchFamily="34" charset="0"/>
                <a:ea typeface="Trebuchet MS" pitchFamily="34" charset="-122"/>
                <a:cs typeface="Trebuchet MS" pitchFamily="34" charset="-120"/>
              </a:rPr>
              <a:t>ZOOM IN  </a:t>
            </a: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lstStyle/>
          <a:p>
            <a:endParaRPr lang="en-US"/>
          </a:p>
        </p:txBody>
      </p:sp>
      <p:sp>
        <p:nvSpPr>
          <p:cNvPr id="14" name="Shape 11"/>
          <p:cNvSpPr/>
          <p:nvPr/>
        </p:nvSpPr>
        <p:spPr>
          <a:xfrm>
            <a:off x="3931920" y="1737360"/>
            <a:ext cx="91440" cy="3246120"/>
          </a:xfrm>
          <a:prstGeom prst="rect">
            <a:avLst/>
          </a:prstGeom>
          <a:solidFill>
            <a:srgbClr val="C9A84C"/>
          </a:solidFill>
          <a:ln/>
        </p:spPr>
        <p:txBody>
          <a:bodyPr/>
          <a:lstStyle/>
          <a:p>
            <a:endParaRPr lang="en-US"/>
          </a:p>
        </p:txBody>
      </p:sp>
      <p:sp>
        <p:nvSpPr>
          <p:cNvPr id="15" name="Text 12"/>
          <p:cNvSpPr/>
          <p:nvPr/>
        </p:nvSpPr>
        <p:spPr>
          <a:xfrm>
            <a:off x="4160520" y="1920240"/>
            <a:ext cx="3200400" cy="2880360"/>
          </a:xfrm>
          <a:prstGeom prst="rect">
            <a:avLst/>
          </a:prstGeom>
          <a:noFill/>
          <a:ln/>
        </p:spPr>
        <p:txBody>
          <a:bodyPr wrap="square" rtlCol="0" anchor="t"/>
          <a:lstStyle/>
          <a:p>
            <a:pPr marL="0" indent="0">
              <a:lnSpc>
                <a:spcPct val="112000"/>
              </a:lnSpc>
              <a:buNone/>
            </a:pPr>
            <a:r>
              <a:rPr lang="en-US" sz="1150" i="1" dirty="0">
                <a:solidFill>
                  <a:srgbClr val="1F2430"/>
                </a:solidFill>
                <a:latin typeface="Georgia" pitchFamily="34" charset="0"/>
                <a:ea typeface="Georgia" pitchFamily="34" charset="-122"/>
                <a:cs typeface="Georgia" pitchFamily="34" charset="-120"/>
              </a:rPr>
              <a:t>"DARROW: Do you think the earth was made in six days? BRYAN: Not six days of twenty-four hours... My impression is they were periods. DARROW: Now, if you call those periods, they might have been a very long time? BRYAN: They might have been. DARROW: The creation might have been going on for a very long time? BRYAN: It might have continued for millions of years."</a:t>
            </a:r>
            <a:endParaRPr lang="en-US" sz="1150" dirty="0"/>
          </a:p>
        </p:txBody>
      </p:sp>
      <p:sp>
        <p:nvSpPr>
          <p:cNvPr id="16" name="Shape 13"/>
          <p:cNvSpPr/>
          <p:nvPr/>
        </p:nvSpPr>
        <p:spPr>
          <a:xfrm>
            <a:off x="7589520" y="1737360"/>
            <a:ext cx="4023360" cy="2011680"/>
          </a:xfrm>
          <a:prstGeom prst="roundRect">
            <a:avLst>
              <a:gd name="adj" fmla="val 3636"/>
            </a:avLst>
          </a:prstGeom>
          <a:solidFill>
            <a:srgbClr val="1A2332"/>
          </a:solidFill>
          <a:ln/>
        </p:spPr>
        <p:txBody>
          <a:bodyPr/>
          <a:lstStyle/>
          <a:p>
            <a:endParaRPr lang="en-US"/>
          </a:p>
        </p:txBody>
      </p:sp>
      <p:sp>
        <p:nvSpPr>
          <p:cNvPr id="17" name="Text 14"/>
          <p:cNvSpPr/>
          <p:nvPr/>
        </p:nvSpPr>
        <p:spPr>
          <a:xfrm>
            <a:off x="7818120" y="1856232"/>
            <a:ext cx="3657600" cy="274320"/>
          </a:xfrm>
          <a:prstGeom prst="rect">
            <a:avLst/>
          </a:prstGeom>
          <a:noFill/>
          <a:ln/>
        </p:spPr>
        <p:txBody>
          <a:bodyPr wrap="square" rtlCol="0" anchor="ctr"/>
          <a:lstStyle/>
          <a:p>
            <a:pPr marL="0" indent="0">
              <a:buNone/>
            </a:pPr>
            <a:r>
              <a:rPr lang="en-US" sz="1100" b="1" kern="0" spc="20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marL="0" indent="0">
              <a:lnSpc>
                <a:spcPct val="96000"/>
              </a:lnSpc>
              <a:buNone/>
            </a:pPr>
            <a:r>
              <a:rPr lang="en-US" sz="850" dirty="0">
                <a:solidFill>
                  <a:srgbClr val="FFFFFF"/>
                </a:solidFill>
                <a:latin typeface="Calibri" pitchFamily="34" charset="0"/>
                <a:ea typeface="Calibri" pitchFamily="34" charset="-122"/>
                <a:cs typeface="Calibri" pitchFamily="34" charset="-120"/>
              </a:rPr>
              <a:t>The Scopes Trial's most dramatic moment came when defense attorney Clarence Darrow — the most famous trial lawyer in America — put prosecution witness William Jennings Bryan on the stand and cross-examined him about his literal interpretation of the Bible. The exchange lasted two hours and was devastating: Darrow got Bryan to admit he hadn't studied ancient languages, that he believed a day in Genesis might have lasted millions of years, and that he accepted what experts told him. The trial transcript captured a moment when the conflict between religious fundamentalism and scientific modernity played out in the most personal and dramatic way possible, revealing both men at their most human.</a:t>
            </a:r>
            <a:endParaRPr lang="en-US" sz="850" dirty="0"/>
          </a:p>
        </p:txBody>
      </p:sp>
      <p:sp>
        <p:nvSpPr>
          <p:cNvPr id="19" name="Shape 16"/>
          <p:cNvSpPr/>
          <p:nvPr/>
        </p:nvSpPr>
        <p:spPr>
          <a:xfrm>
            <a:off x="7589520" y="3931920"/>
            <a:ext cx="4023360" cy="1051560"/>
          </a:xfrm>
          <a:prstGeom prst="roundRect">
            <a:avLst>
              <a:gd name="adj" fmla="val 6957"/>
            </a:avLst>
          </a:prstGeom>
          <a:solidFill>
            <a:srgbClr val="C9A84C"/>
          </a:solidFill>
          <a:ln/>
        </p:spPr>
        <p:txBody>
          <a:bodyPr/>
          <a:lstStyle/>
          <a:p>
            <a:endParaRPr lang="en-US"/>
          </a:p>
        </p:txBody>
      </p:sp>
      <p:sp>
        <p:nvSpPr>
          <p:cNvPr id="20" name="Text 17"/>
          <p:cNvSpPr/>
          <p:nvPr/>
        </p:nvSpPr>
        <p:spPr>
          <a:xfrm>
            <a:off x="7818120" y="4050792"/>
            <a:ext cx="3657600" cy="274320"/>
          </a:xfrm>
          <a:prstGeom prst="rect">
            <a:avLst/>
          </a:prstGeom>
          <a:noFill/>
          <a:ln/>
        </p:spPr>
        <p:txBody>
          <a:bodyPr wrap="square" rtlCol="0" anchor="ctr"/>
          <a:lstStyle/>
          <a:p>
            <a:pPr marL="0" indent="0">
              <a:buNone/>
            </a:pPr>
            <a:r>
              <a:rPr lang="en-US" sz="1100" b="1" kern="0" spc="20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marL="0" indent="0">
              <a:lnSpc>
                <a:spcPct val="103000"/>
              </a:lnSpc>
              <a:buNone/>
            </a:pPr>
            <a:r>
              <a:rPr lang="en-US" sz="1250" b="1" dirty="0">
                <a:solidFill>
                  <a:srgbClr val="1A2332"/>
                </a:solidFill>
                <a:latin typeface="Calibri" pitchFamily="34" charset="0"/>
                <a:ea typeface="Calibri" pitchFamily="34" charset="-122"/>
                <a:cs typeface="Calibri" pitchFamily="34" charset="-120"/>
              </a:rPr>
              <a:t>What did Clarence Darrow accomplish by questioning Bryan about the "six days" of creation?</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lstStyle/>
          <a:p>
            <a:endParaRPr lang="en-US"/>
          </a:p>
        </p:txBody>
      </p:sp>
      <p:sp>
        <p:nvSpPr>
          <p:cNvPr id="23" name="Shape 20"/>
          <p:cNvSpPr/>
          <p:nvPr/>
        </p:nvSpPr>
        <p:spPr>
          <a:xfrm>
            <a:off x="548640" y="5120640"/>
            <a:ext cx="2423160" cy="841248"/>
          </a:xfrm>
          <a:prstGeom prst="rect">
            <a:avLst/>
          </a:prstGeom>
          <a:solidFill>
            <a:srgbClr val="002858"/>
          </a:solidFill>
          <a:ln/>
        </p:spPr>
        <p:txBody>
          <a:bodyPr/>
          <a:lstStyle/>
          <a:p>
            <a:endParaRPr lang="en-US"/>
          </a:p>
        </p:txBody>
      </p:sp>
      <p:sp>
        <p:nvSpPr>
          <p:cNvPr id="24" name="Text 21"/>
          <p:cNvSpPr/>
          <p:nvPr/>
        </p:nvSpPr>
        <p:spPr>
          <a:xfrm>
            <a:off x="658368" y="5239512"/>
            <a:ext cx="2194560" cy="274320"/>
          </a:xfrm>
          <a:prstGeom prst="rect">
            <a:avLst/>
          </a:prstGeom>
          <a:noFill/>
          <a:ln/>
        </p:spPr>
        <p:txBody>
          <a:bodyPr wrap="square"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marL="0" indent="0">
              <a:buNone/>
            </a:pPr>
            <a:r>
              <a:rPr lang="en-US" sz="1250" b="1" kern="0" spc="10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marL="0" indent="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Trial Transcript</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1925</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marL="0" indent="0" algn="l">
              <a:buNone/>
            </a:pPr>
            <a:r>
              <a:rPr lang="en-US" sz="900" dirty="0">
                <a:solidFill>
                  <a:srgbClr val="5C6470"/>
                </a:solidFill>
                <a:latin typeface="Calibri" pitchFamily="34" charset="0"/>
                <a:ea typeface="Calibri" pitchFamily="34" charset="-122"/>
                <a:cs typeface="Calibri" pitchFamily="34" charset="-120"/>
              </a:rPr>
              <a:t>Source: </a:t>
            </a:r>
            <a:r>
              <a:rPr lang="en-US" sz="900" i="1" u="sng" dirty="0">
                <a:solidFill>
                  <a:srgbClr val="00285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150</a:t>
            </a:r>
            <a:endParaRPr lang="en-US"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45920"/>
            <a:ext cx="5486400" cy="676656"/>
          </a:xfrm>
          <a:prstGeom prst="rect">
            <a:avLst/>
          </a:prstGeom>
          <a:solidFill>
            <a:srgbClr val="1A2332"/>
          </a:solidFill>
          <a:ln/>
        </p:spPr>
        <p:txBody>
          <a:bodyPr/>
          <a:lstStyle/>
          <a:p>
            <a:endParaRPr lang="en-US"/>
          </a:p>
        </p:txBody>
      </p:sp>
      <p:sp>
        <p:nvSpPr>
          <p:cNvPr id="7" name="Text 5"/>
          <p:cNvSpPr/>
          <p:nvPr/>
        </p:nvSpPr>
        <p:spPr>
          <a:xfrm>
            <a:off x="685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Scopes Trial</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Juicio de Scopes</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0" name="Text 8"/>
          <p:cNvSpPr/>
          <p:nvPr/>
        </p:nvSpPr>
        <p:spPr>
          <a:xfrm>
            <a:off x="576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ST</a:t>
            </a:r>
            <a:endParaRPr lang="en-US" sz="1300" dirty="0"/>
          </a:p>
        </p:txBody>
      </p:sp>
      <p:sp>
        <p:nvSpPr>
          <p:cNvPr id="11" name="Text 9"/>
          <p:cNvSpPr/>
          <p:nvPr/>
        </p:nvSpPr>
        <p:spPr>
          <a:xfrm>
            <a:off x="1225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1925 "Monkey Trial" in Dayton, Tennessee, where teacher John Scopes was prosecuted for teaching evolution, symbolizing the clash between modernism and fundamentalism.</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13" name="Shape 11"/>
          <p:cNvSpPr/>
          <p:nvPr/>
        </p:nvSpPr>
        <p:spPr>
          <a:xfrm>
            <a:off x="6263640" y="1645920"/>
            <a:ext cx="5486400" cy="676656"/>
          </a:xfrm>
          <a:prstGeom prst="rect">
            <a:avLst/>
          </a:prstGeom>
          <a:solidFill>
            <a:srgbClr val="1A2332"/>
          </a:solidFill>
          <a:ln/>
        </p:spPr>
        <p:txBody>
          <a:bodyPr/>
          <a:lstStyle/>
          <a:p>
            <a:endParaRPr lang="en-US"/>
          </a:p>
        </p:txBody>
      </p:sp>
      <p:sp>
        <p:nvSpPr>
          <p:cNvPr id="14" name="Text 12"/>
          <p:cNvSpPr/>
          <p:nvPr/>
        </p:nvSpPr>
        <p:spPr>
          <a:xfrm>
            <a:off x="6400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Fundamentalism</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fun-duh-MEN-tuh-liz-um</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Fundamentalismo</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8" name="Text 16"/>
          <p:cNvSpPr/>
          <p:nvPr/>
        </p:nvSpPr>
        <p:spPr>
          <a:xfrm>
            <a:off x="6291072" y="2395728"/>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F</a:t>
            </a:r>
            <a:endParaRPr lang="en-US" sz="1500" dirty="0"/>
          </a:p>
        </p:txBody>
      </p:sp>
      <p:sp>
        <p:nvSpPr>
          <p:cNvPr id="19" name="Text 17"/>
          <p:cNvSpPr/>
          <p:nvPr/>
        </p:nvSpPr>
        <p:spPr>
          <a:xfrm>
            <a:off x="6940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religious movement emphasizing literal interpretation of the Bible, traditional values, and opposition to modernist ideas like evolution, gaining strength in the 1920s.</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1" name="Shape 19"/>
          <p:cNvSpPr/>
          <p:nvPr/>
        </p:nvSpPr>
        <p:spPr>
          <a:xfrm>
            <a:off x="548640" y="3072384"/>
            <a:ext cx="5486400" cy="676656"/>
          </a:xfrm>
          <a:prstGeom prst="rect">
            <a:avLst/>
          </a:prstGeom>
          <a:solidFill>
            <a:srgbClr val="1A2332"/>
          </a:solidFill>
          <a:ln/>
        </p:spPr>
        <p:txBody>
          <a:bodyPr/>
          <a:lstStyle/>
          <a:p>
            <a:endParaRPr lang="en-US"/>
          </a:p>
        </p:txBody>
      </p:sp>
      <p:sp>
        <p:nvSpPr>
          <p:cNvPr id="22" name="Text 20"/>
          <p:cNvSpPr/>
          <p:nvPr/>
        </p:nvSpPr>
        <p:spPr>
          <a:xfrm>
            <a:off x="685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Modernism</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MOD-ern-iz-um</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Modernismo</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26" name="Text 24"/>
          <p:cNvSpPr/>
          <p:nvPr/>
        </p:nvSpPr>
        <p:spPr>
          <a:xfrm>
            <a:off x="576072" y="3822192"/>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M</a:t>
            </a:r>
            <a:endParaRPr lang="en-US" sz="1500" dirty="0"/>
          </a:p>
        </p:txBody>
      </p:sp>
      <p:sp>
        <p:nvSpPr>
          <p:cNvPr id="27" name="Text 25"/>
          <p:cNvSpPr/>
          <p:nvPr/>
        </p:nvSpPr>
        <p:spPr>
          <a:xfrm>
            <a:off x="1225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cultural movement embracing science, reason, and social change, including acceptance of evolution, urban lifestyles, and challenges to traditional religious and moral values.</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9" name="Shape 27"/>
          <p:cNvSpPr/>
          <p:nvPr/>
        </p:nvSpPr>
        <p:spPr>
          <a:xfrm>
            <a:off x="6263640" y="3072384"/>
            <a:ext cx="5486400" cy="676656"/>
          </a:xfrm>
          <a:prstGeom prst="rect">
            <a:avLst/>
          </a:prstGeom>
          <a:solidFill>
            <a:srgbClr val="1A2332"/>
          </a:solidFill>
          <a:ln/>
        </p:spPr>
        <p:txBody>
          <a:bodyPr/>
          <a:lstStyle/>
          <a:p>
            <a:endParaRPr lang="en-US"/>
          </a:p>
        </p:txBody>
      </p:sp>
      <p:sp>
        <p:nvSpPr>
          <p:cNvPr id="30" name="Text 28"/>
          <p:cNvSpPr/>
          <p:nvPr/>
        </p:nvSpPr>
        <p:spPr>
          <a:xfrm>
            <a:off x="6400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Grand Ole Opry</a:t>
            </a:r>
            <a:endParaRPr lang="en-US" sz="1350" dirty="0"/>
          </a:p>
        </p:txBody>
      </p:sp>
      <p:sp>
        <p:nvSpPr>
          <p:cNvPr id="31" name="Text 29"/>
          <p:cNvSpPr/>
          <p:nvPr/>
        </p:nvSpPr>
        <p:spPr>
          <a:xfrm>
            <a:off x="6400800" y="3438144"/>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grand ohl AH-pree</a:t>
            </a:r>
            <a:endParaRPr lang="en-US" sz="8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Grand Ole Opry</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4" name="Text 32"/>
          <p:cNvSpPr/>
          <p:nvPr/>
        </p:nvSpPr>
        <p:spPr>
          <a:xfrm>
            <a:off x="6291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GO</a:t>
            </a:r>
            <a:endParaRPr lang="en-US" sz="1300" dirty="0"/>
          </a:p>
        </p:txBody>
      </p:sp>
      <p:sp>
        <p:nvSpPr>
          <p:cNvPr id="35" name="Text 33"/>
          <p:cNvSpPr/>
          <p:nvPr/>
        </p:nvSpPr>
        <p:spPr>
          <a:xfrm>
            <a:off x="6940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weekly country music radio show that began in Nashville in 1925, becoming the longest-running radio broadcast in U.S. history and establishing Nashville as country music's capital.</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37" name="Shape 35"/>
          <p:cNvSpPr/>
          <p:nvPr/>
        </p:nvSpPr>
        <p:spPr>
          <a:xfrm>
            <a:off x="548640" y="4498848"/>
            <a:ext cx="5486400" cy="676656"/>
          </a:xfrm>
          <a:prstGeom prst="rect">
            <a:avLst/>
          </a:prstGeom>
          <a:solidFill>
            <a:srgbClr val="1A2332"/>
          </a:solidFill>
          <a:ln/>
        </p:spPr>
        <p:txBody>
          <a:bodyPr/>
          <a:lstStyle/>
          <a:p>
            <a:endParaRPr lang="en-US"/>
          </a:p>
        </p:txBody>
      </p:sp>
      <p:sp>
        <p:nvSpPr>
          <p:cNvPr id="38" name="Text 36"/>
          <p:cNvSpPr/>
          <p:nvPr/>
        </p:nvSpPr>
        <p:spPr>
          <a:xfrm>
            <a:off x="685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First Red Scare</a:t>
            </a:r>
            <a:endParaRPr lang="en-US" sz="13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Primer Susto Rojo</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1" name="Text 39"/>
          <p:cNvSpPr/>
          <p:nvPr/>
        </p:nvSpPr>
        <p:spPr>
          <a:xfrm>
            <a:off x="576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FR</a:t>
            </a:r>
            <a:endParaRPr lang="en-US" sz="1300" dirty="0"/>
          </a:p>
        </p:txBody>
      </p:sp>
      <p:sp>
        <p:nvSpPr>
          <p:cNvPr id="42" name="Text 40"/>
          <p:cNvSpPr/>
          <p:nvPr/>
        </p:nvSpPr>
        <p:spPr>
          <a:xfrm>
            <a:off x="1225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period of intense fear of communism and radical political activity following World War I (1919-1920), leading to deportations, arrests, and violations of civil liberties.</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44" name="Shape 42"/>
          <p:cNvSpPr/>
          <p:nvPr/>
        </p:nvSpPr>
        <p:spPr>
          <a:xfrm>
            <a:off x="6263640" y="4498848"/>
            <a:ext cx="5486400" cy="676656"/>
          </a:xfrm>
          <a:prstGeom prst="rect">
            <a:avLst/>
          </a:prstGeom>
          <a:solidFill>
            <a:srgbClr val="1A2332"/>
          </a:solidFill>
          <a:ln/>
        </p:spPr>
        <p:txBody>
          <a:bodyPr/>
          <a:lstStyle/>
          <a:p>
            <a:endParaRPr lang="en-US"/>
          </a:p>
        </p:txBody>
      </p:sp>
      <p:sp>
        <p:nvSpPr>
          <p:cNvPr id="45" name="Text 43"/>
          <p:cNvSpPr/>
          <p:nvPr/>
        </p:nvSpPr>
        <p:spPr>
          <a:xfrm>
            <a:off x="6400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Immigration Quota Acts</a:t>
            </a:r>
            <a:endParaRPr lang="en-US" sz="1350" dirty="0"/>
          </a:p>
        </p:txBody>
      </p:sp>
      <p:sp>
        <p:nvSpPr>
          <p:cNvPr id="46" name="Text 44"/>
          <p:cNvSpPr/>
          <p:nvPr/>
        </p:nvSpPr>
        <p:spPr>
          <a:xfrm>
            <a:off x="9418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Leyes de Cuotas de Inmigración</a:t>
            </a:r>
            <a:endParaRPr lang="en-US" sz="1000" dirty="0"/>
          </a:p>
        </p:txBody>
      </p:sp>
      <p:sp>
        <p:nvSpPr>
          <p:cNvPr id="47" name="Shape 45"/>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8" name="Text 46"/>
          <p:cNvSpPr/>
          <p:nvPr/>
        </p:nvSpPr>
        <p:spPr>
          <a:xfrm>
            <a:off x="6291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IQ</a:t>
            </a:r>
            <a:endParaRPr lang="en-US" sz="1300" dirty="0"/>
          </a:p>
        </p:txBody>
      </p:sp>
      <p:sp>
        <p:nvSpPr>
          <p:cNvPr id="49" name="Text 47"/>
          <p:cNvSpPr/>
          <p:nvPr/>
        </p:nvSpPr>
        <p:spPr>
          <a:xfrm>
            <a:off x="6940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1921 and 1924 laws that drastically limited immigration, especially from Southern and Eastern Europe, Asia, and Africa, based on racist national origins formulas.</a:t>
            </a:r>
            <a:endParaRPr lang="en-US" sz="1100" dirty="0"/>
          </a:p>
        </p:txBody>
      </p:sp>
      <p:sp>
        <p:nvSpPr>
          <p:cNvPr id="50" name="Text 48"/>
          <p:cNvSpPr/>
          <p:nvPr/>
        </p:nvSpPr>
        <p:spPr>
          <a:xfrm>
            <a:off x="548640" y="5897880"/>
            <a:ext cx="11064240" cy="320040"/>
          </a:xfrm>
          <a:prstGeom prst="rect">
            <a:avLst/>
          </a:prstGeom>
          <a:noFill/>
          <a:ln/>
        </p:spPr>
        <p:txBody>
          <a:bodyPr wrap="square" rtlCol="0" anchor="ctr"/>
          <a:lstStyle/>
          <a:p>
            <a:pPr marL="0" indent="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1" name="Text 4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2" name="Text 5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151</a:t>
            </a:r>
            <a:endParaRPr lang="en-US" sz="9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marL="0" indent="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lstStyle/>
          <a:p>
            <a:endParaRPr lang="en-US"/>
          </a:p>
        </p:txBody>
      </p:sp>
      <p:sp>
        <p:nvSpPr>
          <p:cNvPr id="6" name="Text 4"/>
          <p:cNvSpPr/>
          <p:nvPr/>
        </p:nvSpPr>
        <p:spPr>
          <a:xfrm>
            <a:off x="8869680" y="822960"/>
            <a:ext cx="274320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Compare competing arguments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640080"/>
          </a:xfrm>
          <a:prstGeom prst="rect">
            <a:avLst/>
          </a:prstGeom>
          <a:noFill/>
          <a:ln/>
        </p:spPr>
        <p:txBody>
          <a:bodyPr wrap="square" rtlCol="0" anchor="ctr"/>
          <a:lstStyle/>
          <a:p>
            <a:pPr marL="0" indent="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r>
              <a:rPr lang="en-US" sz="1500" dirty="0">
                <a:solidFill>
                  <a:srgbClr val="FFFFFF"/>
                </a:solidFill>
                <a:latin typeface="Calibri" pitchFamily="34" charset="0"/>
                <a:ea typeface="Calibri" pitchFamily="34" charset="-122"/>
                <a:cs typeface="Calibri" pitchFamily="34" charset="-120"/>
              </a:rPr>
              <a:t>How did Bryan and Darrow frame the fight over evolution?</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lstStyle/>
          <a:p>
            <a:endParaRPr lang="en-US"/>
          </a:p>
        </p:txBody>
      </p:sp>
      <p:sp>
        <p:nvSpPr>
          <p:cNvPr id="10" name="Text 8"/>
          <p:cNvSpPr/>
          <p:nvPr/>
        </p:nvSpPr>
        <p:spPr>
          <a:xfrm>
            <a:off x="822960" y="2724912"/>
            <a:ext cx="10058400" cy="292608"/>
          </a:xfrm>
          <a:prstGeom prst="rect">
            <a:avLst/>
          </a:prstGeom>
          <a:noFill/>
          <a:ln/>
        </p:spPr>
        <p:txBody>
          <a:bodyPr wrap="square" rtlCol="0" anchor="ctr"/>
          <a:lstStyle/>
          <a:p>
            <a:pPr marL="0" indent="0">
              <a:buNone/>
            </a:pPr>
            <a:r>
              <a:rPr lang="en-US" sz="1100" b="1" kern="0" spc="10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marL="0" indent="0">
              <a:lnSpc>
                <a:spcPct val="106000"/>
              </a:lnSpc>
              <a:buNone/>
            </a:pPr>
            <a:r>
              <a:rPr lang="en-US" sz="1450" b="1" dirty="0">
                <a:solidFill>
                  <a:srgbClr val="1A2332"/>
                </a:solidFill>
                <a:latin typeface="Calibri" pitchFamily="34" charset="0"/>
                <a:ea typeface="Calibri" pitchFamily="34" charset="-122"/>
                <a:cs typeface="Calibri" pitchFamily="34" charset="-120"/>
              </a:rPr>
              <a:t>Bryan defends the literal Bible and majority rule; Darrow defends science and free inquiry. It is fundamentalism versus modernism.</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lstStyle/>
          <a:p>
            <a:endParaRPr lang="en-US"/>
          </a:p>
        </p:txBody>
      </p:sp>
      <p:sp>
        <p:nvSpPr>
          <p:cNvPr id="13" name="Text 11"/>
          <p:cNvSpPr/>
          <p:nvPr/>
        </p:nvSpPr>
        <p:spPr>
          <a:xfrm>
            <a:off x="822960" y="4407408"/>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marL="0" indent="0">
              <a:lnSpc>
                <a:spcPct val="106000"/>
              </a:lnSpc>
              <a:buNone/>
            </a:pPr>
            <a:r>
              <a:rPr lang="en-US" sz="1300" i="1" dirty="0">
                <a:solidFill>
                  <a:srgbClr val="1F2430"/>
                </a:solidFill>
                <a:latin typeface="Calibri" pitchFamily="34" charset="0"/>
                <a:ea typeface="Calibri" pitchFamily="34" charset="-122"/>
                <a:cs typeface="Calibri" pitchFamily="34" charset="-120"/>
              </a:rPr>
              <a:t>Label each man's core value: tradition or science.</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marL="0" indent="0">
              <a:buNone/>
            </a:pPr>
            <a:r>
              <a:rPr lang="en-US" sz="1200" b="1" dirty="0">
                <a:solidFill>
                  <a:srgbClr val="1A2332"/>
                </a:solidFill>
                <a:latin typeface="Calibri" pitchFamily="34" charset="0"/>
                <a:ea typeface="Calibri" pitchFamily="34" charset="-122"/>
                <a:cs typeface="Calibri" pitchFamily="34" charset="-120"/>
              </a:rPr>
              <a:t>→ Now you try:  </a:t>
            </a:r>
            <a:r>
              <a:rPr lang="en-US" sz="1200" i="1" dirty="0">
                <a:solidFill>
                  <a:srgbClr val="002858"/>
                </a:solidFill>
                <a:latin typeface="Calibri" pitchFamily="34" charset="0"/>
                <a:ea typeface="Calibri" pitchFamily="34" charset="-122"/>
                <a:cs typeface="Calibri" pitchFamily="34" charset="-120"/>
              </a:rPr>
              <a:t>State which argument you find stronger and quote one line to support it.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152</a:t>
            </a:r>
            <a:endParaRPr lang="en-US" sz="9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marL="0" indent="0">
              <a:buNone/>
            </a:pPr>
            <a:r>
              <a:rPr lang="en-US" sz="2700" b="1" dirty="0">
                <a:solidFill>
                  <a:srgbClr val="1A2332"/>
                </a:solidFill>
                <a:latin typeface="Georgia" pitchFamily="34" charset="0"/>
                <a:ea typeface="Georgia" pitchFamily="34" charset="-122"/>
                <a:cs typeface="Georgia" pitchFamily="34" charset="-120"/>
              </a:rPr>
              <a:t>Science on Trial — The Scopes Showdown</a:t>
            </a:r>
            <a:endParaRPr lang="en-US" sz="2700" dirty="0"/>
          </a:p>
        </p:txBody>
      </p:sp>
      <p:sp>
        <p:nvSpPr>
          <p:cNvPr id="5" name="Shape 3"/>
          <p:cNvSpPr/>
          <p:nvPr/>
        </p:nvSpPr>
        <p:spPr>
          <a:xfrm>
            <a:off x="548640" y="1591056"/>
            <a:ext cx="694944" cy="365760"/>
          </a:xfrm>
          <a:prstGeom prst="roundRect">
            <a:avLst>
              <a:gd name="adj" fmla="val 20000"/>
            </a:avLst>
          </a:prstGeom>
          <a:solidFill>
            <a:srgbClr val="1A2332"/>
          </a:solidFill>
          <a:ln/>
        </p:spPr>
        <p:txBody>
          <a:bodyPr/>
          <a:lstStyle/>
          <a:p>
            <a:endParaRPr lang="en-US"/>
          </a:p>
        </p:txBody>
      </p:sp>
      <p:sp>
        <p:nvSpPr>
          <p:cNvPr id="6" name="Text 4"/>
          <p:cNvSpPr/>
          <p:nvPr/>
        </p:nvSpPr>
        <p:spPr>
          <a:xfrm>
            <a:off x="548640" y="1591056"/>
            <a:ext cx="694944"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txBody>
          <a:bodyPr/>
          <a:lstStyle/>
          <a:p>
            <a:endParaRPr lang="en-US"/>
          </a:p>
        </p:txBody>
      </p:sp>
      <p:sp>
        <p:nvSpPr>
          <p:cNvPr id="8" name="Text 6"/>
          <p:cNvSpPr/>
          <p:nvPr/>
        </p:nvSpPr>
        <p:spPr>
          <a:xfrm>
            <a:off x="1408176" y="1591056"/>
            <a:ext cx="779069"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lstStyle/>
          <a:p>
            <a:endParaRPr lang="en-US"/>
          </a:p>
        </p:txBody>
      </p:sp>
      <p:sp>
        <p:nvSpPr>
          <p:cNvPr id="10" name="Text 8"/>
          <p:cNvSpPr/>
          <p:nvPr/>
        </p:nvSpPr>
        <p:spPr>
          <a:xfrm>
            <a:off x="822960" y="2194560"/>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marL="0" indent="0">
              <a:lnSpc>
                <a:spcPct val="112000"/>
              </a:lnSpc>
              <a:buNone/>
            </a:pPr>
            <a:r>
              <a:rPr lang="en-US" sz="1350" dirty="0">
                <a:solidFill>
                  <a:srgbClr val="1F2430"/>
                </a:solidFill>
                <a:latin typeface="Calibri" pitchFamily="34" charset="0"/>
                <a:ea typeface="Calibri" pitchFamily="34" charset="-122"/>
                <a:cs typeface="Calibri" pitchFamily="34" charset="-120"/>
              </a:rPr>
              <a:t>Read the Tennessee Butler Act and the excerpt of Darrow's cross-examination of Bryan. Build a two-column chart contrasting the PROSECUTION (fundamentalism, Bryan) and the DEFENSE (modernism, Darrow): for each side list the main argument, one piece of evidence, and what they wanted for public schools. Then write a one-sentence claim on whether the trial settled the science-vs-religion conflict or simply exposed it.</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lstStyle/>
          <a:p>
            <a:endParaRPr lang="en-US"/>
          </a:p>
        </p:txBody>
      </p:sp>
      <p:pic>
        <p:nvPicPr>
          <p:cNvPr id="13" name="Image 0" descr="unit4-full/img/william-jennings-bryan.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76403" y="2057400"/>
            <a:ext cx="1295314"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marL="0" indent="0" algn="l">
              <a:lnSpc>
                <a:spcPct val="100000"/>
              </a:lnSpc>
              <a:buNone/>
            </a:pPr>
            <a:r>
              <a:rPr lang="en-US" sz="750" i="1" dirty="0">
                <a:solidFill>
                  <a:srgbClr val="5C6470"/>
                </a:solidFill>
                <a:latin typeface="Calibri" pitchFamily="34" charset="0"/>
                <a:ea typeface="Calibri" pitchFamily="34" charset="-122"/>
                <a:cs typeface="Calibri" pitchFamily="34" charset="-120"/>
              </a:rPr>
              <a:t>Library of Congress, c1920s  </a:t>
            </a:r>
            <a:r>
              <a:rPr lang="en-US" sz="75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lstStyle/>
          <a:p>
            <a:endParaRPr lang="en-US"/>
          </a:p>
        </p:txBody>
      </p:sp>
      <p:sp>
        <p:nvSpPr>
          <p:cNvPr id="16" name="Text 13"/>
          <p:cNvSpPr/>
          <p:nvPr/>
        </p:nvSpPr>
        <p:spPr>
          <a:xfrm>
            <a:off x="777240" y="4645152"/>
            <a:ext cx="4572000" cy="274320"/>
          </a:xfrm>
          <a:prstGeom prst="rect">
            <a:avLst/>
          </a:prstGeom>
          <a:noFill/>
          <a:ln/>
        </p:spPr>
        <p:txBody>
          <a:bodyPr wrap="square" rtlCol="0" anchor="ctr"/>
          <a:lstStyle/>
          <a:p>
            <a:pPr marL="0" indent="0">
              <a:buNone/>
            </a:pPr>
            <a:r>
              <a:rPr lang="en-US" sz="1050" b="1" kern="0" spc="20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normAutofit/>
          </a:bodyPr>
          <a:lstStyle/>
          <a:p>
            <a:pPr marL="0" indent="0">
              <a:lnSpc>
                <a:spcPct val="103000"/>
              </a:lnSpc>
              <a:buNone/>
            </a:pPr>
            <a:r>
              <a:rPr lang="en-US" sz="1250" dirty="0">
                <a:solidFill>
                  <a:srgbClr val="FFFFFF"/>
                </a:solidFill>
                <a:latin typeface="Calibri" pitchFamily="34" charset="0"/>
                <a:ea typeface="Calibri" pitchFamily="34" charset="-122"/>
                <a:cs typeface="Calibri" pitchFamily="34" charset="-120"/>
              </a:rPr>
              <a:t>Completed prosecution/defense chart (argument, evidence, goal for schools) AND a one-sentence evidence-based claim.</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lstStyle/>
          <a:p>
            <a:endParaRPr lang="en-US"/>
          </a:p>
        </p:txBody>
      </p:sp>
      <p:sp>
        <p:nvSpPr>
          <p:cNvPr id="19" name="Text 16"/>
          <p:cNvSpPr/>
          <p:nvPr/>
        </p:nvSpPr>
        <p:spPr>
          <a:xfrm>
            <a:off x="6400800" y="4645152"/>
            <a:ext cx="4572000" cy="274320"/>
          </a:xfrm>
          <a:prstGeom prst="rect">
            <a:avLst/>
          </a:prstGeom>
          <a:noFill/>
          <a:ln/>
        </p:spPr>
        <p:txBody>
          <a:bodyPr wrap="square" rtlCol="0" anchor="ctr"/>
          <a:lstStyle/>
          <a:p>
            <a:pPr marL="0" indent="0">
              <a:buNone/>
            </a:pPr>
            <a:r>
              <a:rPr lang="en-US" sz="1050" b="1" kern="0" spc="20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20" name="Text 17"/>
          <p:cNvSpPr/>
          <p:nvPr/>
        </p:nvSpPr>
        <p:spPr>
          <a:xfrm>
            <a:off x="6400800" y="4919472"/>
            <a:ext cx="5029200" cy="868680"/>
          </a:xfrm>
          <a:prstGeom prst="rect">
            <a:avLst/>
          </a:prstGeom>
          <a:noFill/>
          <a:ln/>
        </p:spPr>
        <p:txBody>
          <a:bodyPr wrap="square" rtlCol="0" anchor="t">
            <a:normAutofit/>
          </a:bodyPr>
          <a:lstStyle/>
          <a:p>
            <a:pPr marL="0" indent="0">
              <a:lnSpc>
                <a:spcPct val="103000"/>
              </a:lnSpc>
              <a:buNone/>
            </a:pPr>
            <a:r>
              <a:rPr lang="en-US" sz="1000" dirty="0">
                <a:solidFill>
                  <a:srgbClr val="1F2430"/>
                </a:solidFill>
                <a:latin typeface="Calibri" pitchFamily="34" charset="0"/>
                <a:ea typeface="Calibri" pitchFamily="34" charset="-122"/>
                <a:cs typeface="Calibri" pitchFamily="34" charset="-120"/>
              </a:rPr>
              <a:t>Entry: Chart pre-labeled 'Prosecution' and 'Defense' with a word bank of arguments to sort. Honors: Write a paragraph connecting the Scopes Trial's rural-vs-urban divide to another 1920s conflict from the unit.</a:t>
            </a:r>
            <a:endParaRPr lang="en-US" sz="1000" dirty="0"/>
          </a:p>
        </p:txBody>
      </p:sp>
      <p:sp>
        <p:nvSpPr>
          <p:cNvPr id="21" name="Text 18"/>
          <p:cNvSpPr/>
          <p:nvPr/>
        </p:nvSpPr>
        <p:spPr>
          <a:xfrm>
            <a:off x="548640" y="5943600"/>
            <a:ext cx="11064240" cy="320040"/>
          </a:xfrm>
          <a:prstGeom prst="rect">
            <a:avLst/>
          </a:prstGeom>
          <a:noFill/>
          <a:ln/>
        </p:spPr>
        <p:txBody>
          <a:bodyPr wrap="square" rtlCol="0" anchor="ctr"/>
          <a:lstStyle/>
          <a:p>
            <a:pPr marL="0" indent="0">
              <a:buNone/>
            </a:pPr>
            <a:r>
              <a:rPr lang="en-US" sz="1050" b="1" dirty="0">
                <a:solidFill>
                  <a:srgbClr val="1A2332"/>
                </a:solidFill>
                <a:latin typeface="Calibri" pitchFamily="34" charset="0"/>
                <a:ea typeface="Calibri" pitchFamily="34" charset="-122"/>
                <a:cs typeface="Calibri" pitchFamily="34" charset="-120"/>
              </a:rPr>
              <a:t>Companion printable:  </a:t>
            </a:r>
            <a:r>
              <a:rPr lang="en-US" sz="1050" i="1" dirty="0">
                <a:solidFill>
                  <a:srgbClr val="002858"/>
                </a:solidFill>
                <a:latin typeface="Calibri" pitchFamily="34" charset="0"/>
                <a:ea typeface="Calibri" pitchFamily="34" charset="-122"/>
                <a:cs typeface="Calibri" pitchFamily="34" charset="-120"/>
              </a:rPr>
              <a:t>cornell-notes/unit-4/us36-scopes-trial.pdf</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153</a:t>
            </a:r>
            <a:endParaRPr lang="en-US" sz="9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US.36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lstStyle/>
          <a:p>
            <a:endParaRPr lang="en-US"/>
          </a:p>
        </p:txBody>
      </p:sp>
      <p:sp>
        <p:nvSpPr>
          <p:cNvPr id="6" name="Text 4"/>
          <p:cNvSpPr/>
          <p:nvPr/>
        </p:nvSpPr>
        <p:spPr>
          <a:xfrm>
            <a:off x="7635240" y="822960"/>
            <a:ext cx="1143000" cy="457200"/>
          </a:xfrm>
          <a:prstGeom prst="rect">
            <a:avLst/>
          </a:prstGeom>
          <a:noFill/>
          <a:ln/>
        </p:spPr>
        <p:txBody>
          <a:bodyPr wrap="square" rtlCol="0" anchor="ctr"/>
          <a:lstStyle/>
          <a:p>
            <a:pPr marL="0" indent="0" algn="ctr">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lstStyle/>
          <a:p>
            <a:endParaRPr lang="en-US"/>
          </a:p>
        </p:txBody>
      </p:sp>
      <p:sp>
        <p:nvSpPr>
          <p:cNvPr id="8" name="Text 6"/>
          <p:cNvSpPr/>
          <p:nvPr/>
        </p:nvSpPr>
        <p:spPr>
          <a:xfrm>
            <a:off x="8869680" y="822960"/>
            <a:ext cx="274320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lstStyle/>
          <a:p>
            <a:endParaRPr lang="en-US"/>
          </a:p>
        </p:txBody>
      </p:sp>
      <p:sp>
        <p:nvSpPr>
          <p:cNvPr id="10" name="Text 8"/>
          <p:cNvSpPr/>
          <p:nvPr/>
        </p:nvSpPr>
        <p:spPr>
          <a:xfrm>
            <a:off x="822960" y="1691640"/>
            <a:ext cx="10515600" cy="777240"/>
          </a:xfrm>
          <a:prstGeom prst="rect">
            <a:avLst/>
          </a:prstGeom>
          <a:noFill/>
          <a:ln/>
        </p:spPr>
        <p:txBody>
          <a:bodyPr wrap="square" rtlCol="0" anchor="ctr"/>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What did Clarence Darrow accomplish by questioning Bryan about the "six days" of creation?</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2" name="Shape 10"/>
          <p:cNvSpPr/>
          <p:nvPr/>
        </p:nvSpPr>
        <p:spPr>
          <a:xfrm>
            <a:off x="713232" y="2889504"/>
            <a:ext cx="365760" cy="365760"/>
          </a:xfrm>
          <a:prstGeom prst="ellipse">
            <a:avLst/>
          </a:prstGeom>
          <a:solidFill>
            <a:srgbClr val="1A2332"/>
          </a:solidFill>
          <a:ln/>
        </p:spPr>
        <p:txBody>
          <a:bodyPr/>
          <a:lstStyle/>
          <a:p>
            <a:endParaRPr lang="en-US"/>
          </a:p>
        </p:txBody>
      </p:sp>
      <p:sp>
        <p:nvSpPr>
          <p:cNvPr id="13" name="Text 11"/>
          <p:cNvSpPr/>
          <p:nvPr/>
        </p:nvSpPr>
        <p:spPr>
          <a:xfrm>
            <a:off x="713232" y="2889504"/>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He proved that evolution was scientifically accurate beyond doubt</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6" name="Shape 14"/>
          <p:cNvSpPr/>
          <p:nvPr/>
        </p:nvSpPr>
        <p:spPr>
          <a:xfrm>
            <a:off x="713232" y="3639312"/>
            <a:ext cx="365760" cy="365760"/>
          </a:xfrm>
          <a:prstGeom prst="ellipse">
            <a:avLst/>
          </a:prstGeom>
          <a:solidFill>
            <a:srgbClr val="1A2332"/>
          </a:solidFill>
          <a:ln/>
        </p:spPr>
        <p:txBody>
          <a:bodyPr/>
          <a:lstStyle/>
          <a:p>
            <a:endParaRPr lang="en-US"/>
          </a:p>
        </p:txBody>
      </p:sp>
      <p:sp>
        <p:nvSpPr>
          <p:cNvPr id="17" name="Text 15"/>
          <p:cNvSpPr/>
          <p:nvPr/>
        </p:nvSpPr>
        <p:spPr>
          <a:xfrm>
            <a:off x="713232" y="3639312"/>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He showed that even Bryan did not interpret the Bible entirely literally</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0" name="Shape 18"/>
          <p:cNvSpPr/>
          <p:nvPr/>
        </p:nvSpPr>
        <p:spPr>
          <a:xfrm>
            <a:off x="713232" y="4389120"/>
            <a:ext cx="365760" cy="365760"/>
          </a:xfrm>
          <a:prstGeom prst="ellipse">
            <a:avLst/>
          </a:prstGeom>
          <a:solidFill>
            <a:srgbClr val="1A2332"/>
          </a:solidFill>
          <a:ln/>
        </p:spPr>
        <p:txBody>
          <a:bodyPr/>
          <a:lstStyle/>
          <a:p>
            <a:endParaRPr lang="en-US"/>
          </a:p>
        </p:txBody>
      </p:sp>
      <p:sp>
        <p:nvSpPr>
          <p:cNvPr id="21" name="Text 19"/>
          <p:cNvSpPr/>
          <p:nvPr/>
        </p:nvSpPr>
        <p:spPr>
          <a:xfrm>
            <a:off x="713232" y="4389120"/>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He convinced Bryan to support teaching evolution in schools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4" name="Shape 22"/>
          <p:cNvSpPr/>
          <p:nvPr/>
        </p:nvSpPr>
        <p:spPr>
          <a:xfrm>
            <a:off x="713232" y="5138928"/>
            <a:ext cx="365760" cy="365760"/>
          </a:xfrm>
          <a:prstGeom prst="ellipse">
            <a:avLst/>
          </a:prstGeom>
          <a:solidFill>
            <a:srgbClr val="1A2332"/>
          </a:solidFill>
          <a:ln/>
        </p:spPr>
        <p:txBody>
          <a:bodyPr/>
          <a:lstStyle/>
          <a:p>
            <a:endParaRPr lang="en-US"/>
          </a:p>
        </p:txBody>
      </p:sp>
      <p:sp>
        <p:nvSpPr>
          <p:cNvPr id="25" name="Text 23"/>
          <p:cNvSpPr/>
          <p:nvPr/>
        </p:nvSpPr>
        <p:spPr>
          <a:xfrm>
            <a:off x="713232" y="5138928"/>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He demonstrated that the Bible and science were completely compatible</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lstStyle/>
          <a:p>
            <a:endParaRPr lang="en-US"/>
          </a:p>
        </p:txBody>
      </p:sp>
      <p:sp>
        <p:nvSpPr>
          <p:cNvPr id="28" name="Text 26"/>
          <p:cNvSpPr/>
          <p:nvPr/>
        </p:nvSpPr>
        <p:spPr>
          <a:xfrm>
            <a:off x="822960" y="5715000"/>
            <a:ext cx="10515600" cy="502920"/>
          </a:xfrm>
          <a:prstGeom prst="rect">
            <a:avLst/>
          </a:prstGeom>
          <a:noFill/>
          <a:ln/>
        </p:spPr>
        <p:txBody>
          <a:bodyPr wrap="square" rtlCol="0" anchor="ctr"/>
          <a:lstStyle/>
          <a:p>
            <a:pPr marL="0" indent="0">
              <a:buNone/>
            </a:pPr>
            <a:r>
              <a:rPr lang="en-US" sz="1200" b="1" i="1" kern="0" spc="100" dirty="0">
                <a:solidFill>
                  <a:srgbClr val="F9A825"/>
                </a:solidFill>
                <a:latin typeface="Trebuchet MS" pitchFamily="34" charset="0"/>
                <a:ea typeface="Trebuchet MS" pitchFamily="34" charset="-122"/>
                <a:cs typeface="Trebuchet MS" pitchFamily="34" charset="-120"/>
              </a:rPr>
              <a:t>ANSWER FIRST:  </a:t>
            </a: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154</a:t>
            </a:r>
            <a:endParaRPr lang="en-US" sz="9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US.36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lstStyle/>
          <a:p>
            <a:endParaRPr lang="en-US"/>
          </a:p>
        </p:txBody>
      </p:sp>
      <p:sp>
        <p:nvSpPr>
          <p:cNvPr id="6" name="Text 4"/>
          <p:cNvSpPr/>
          <p:nvPr/>
        </p:nvSpPr>
        <p:spPr>
          <a:xfrm>
            <a:off x="8595360" y="822960"/>
            <a:ext cx="301752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731520"/>
          </a:xfrm>
          <a:prstGeom prst="rect">
            <a:avLst/>
          </a:prstGeom>
          <a:noFill/>
          <a:ln/>
        </p:spPr>
        <p:txBody>
          <a:bodyPr wrap="square" rtlCol="0" anchor="ctr"/>
          <a:lstStyle/>
          <a:p>
            <a:pPr marL="0" indent="0">
              <a:lnSpc>
                <a:spcPct val="102000"/>
              </a:lnSpc>
              <a:buNone/>
            </a:pPr>
            <a:r>
              <a:rPr lang="en-US" sz="1500" b="1" dirty="0">
                <a:solidFill>
                  <a:srgbClr val="FFFFFF"/>
                </a:solidFill>
                <a:latin typeface="Calibri" pitchFamily="34" charset="0"/>
                <a:ea typeface="Calibri" pitchFamily="34" charset="-122"/>
                <a:cs typeface="Calibri" pitchFamily="34" charset="-120"/>
              </a:rPr>
              <a:t>What did Clarence Darrow accomplish by questioning Bryan about the "six days" of creation?</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0" name="Shape 8"/>
          <p:cNvSpPr/>
          <p:nvPr/>
        </p:nvSpPr>
        <p:spPr>
          <a:xfrm>
            <a:off x="713232" y="2761488"/>
            <a:ext cx="347472" cy="347472"/>
          </a:xfrm>
          <a:prstGeom prst="ellipse">
            <a:avLst/>
          </a:prstGeom>
          <a:solidFill>
            <a:srgbClr val="1A2332"/>
          </a:solidFill>
          <a:ln/>
        </p:spPr>
        <p:txBody>
          <a:bodyPr/>
          <a:lstStyle/>
          <a:p>
            <a:endParaRPr lang="en-US"/>
          </a:p>
        </p:txBody>
      </p:sp>
      <p:sp>
        <p:nvSpPr>
          <p:cNvPr id="11" name="Text 9"/>
          <p:cNvSpPr/>
          <p:nvPr/>
        </p:nvSpPr>
        <p:spPr>
          <a:xfrm>
            <a:off x="713232" y="2761488"/>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He proved that evolution was scientifically accurate beyond doubt</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txBody>
          <a:bodyPr/>
          <a:lstStyle/>
          <a:p>
            <a:endParaRPr lang="en-US"/>
          </a:p>
        </p:txBody>
      </p:sp>
      <p:sp>
        <p:nvSpPr>
          <p:cNvPr id="14" name="Shape 12"/>
          <p:cNvSpPr/>
          <p:nvPr/>
        </p:nvSpPr>
        <p:spPr>
          <a:xfrm>
            <a:off x="713232" y="3419856"/>
            <a:ext cx="347472" cy="347472"/>
          </a:xfrm>
          <a:prstGeom prst="ellipse">
            <a:avLst/>
          </a:prstGeom>
          <a:solidFill>
            <a:srgbClr val="1A2332"/>
          </a:solidFill>
          <a:ln/>
        </p:spPr>
        <p:txBody>
          <a:bodyPr/>
          <a:lstStyle/>
          <a:p>
            <a:endParaRPr lang="en-US"/>
          </a:p>
        </p:txBody>
      </p:sp>
      <p:sp>
        <p:nvSpPr>
          <p:cNvPr id="15" name="Text 13"/>
          <p:cNvSpPr/>
          <p:nvPr/>
        </p:nvSpPr>
        <p:spPr>
          <a:xfrm>
            <a:off x="713232" y="3419856"/>
            <a:ext cx="347472" cy="347472"/>
          </a:xfrm>
          <a:prstGeom prst="rect">
            <a:avLst/>
          </a:prstGeom>
          <a:noFill/>
          <a:ln/>
        </p:spPr>
        <p:txBody>
          <a:bodyPr wrap="square" rtlCol="0" anchor="ctr"/>
          <a:lstStyle/>
          <a:p>
            <a:pPr marL="0" indent="0" algn="ctr">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marL="0" indent="0">
              <a:lnSpc>
                <a:spcPct val="100000"/>
              </a:lnSpc>
              <a:buNone/>
            </a:pPr>
            <a:r>
              <a:rPr lang="en-US" sz="1300" b="1" dirty="0">
                <a:solidFill>
                  <a:srgbClr val="1A2332"/>
                </a:solidFill>
                <a:latin typeface="Calibri" pitchFamily="34" charset="0"/>
                <a:ea typeface="Calibri" pitchFamily="34" charset="-122"/>
                <a:cs typeface="Calibri" pitchFamily="34" charset="-120"/>
              </a:rPr>
              <a:t>He showed that even Bryan did not interpret the Bible entirely literally</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marL="0" indent="0" algn="ctr">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9" name="Shape 17"/>
          <p:cNvSpPr/>
          <p:nvPr/>
        </p:nvSpPr>
        <p:spPr>
          <a:xfrm>
            <a:off x="713232" y="4078224"/>
            <a:ext cx="347472" cy="347472"/>
          </a:xfrm>
          <a:prstGeom prst="ellipse">
            <a:avLst/>
          </a:prstGeom>
          <a:solidFill>
            <a:srgbClr val="1A2332"/>
          </a:solidFill>
          <a:ln/>
        </p:spPr>
        <p:txBody>
          <a:bodyPr/>
          <a:lstStyle/>
          <a:p>
            <a:endParaRPr lang="en-US"/>
          </a:p>
        </p:txBody>
      </p:sp>
      <p:sp>
        <p:nvSpPr>
          <p:cNvPr id="20" name="Text 18"/>
          <p:cNvSpPr/>
          <p:nvPr/>
        </p:nvSpPr>
        <p:spPr>
          <a:xfrm>
            <a:off x="713232" y="4078224"/>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He convinced Bryan to support teaching evolution in schools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23" name="Shape 21"/>
          <p:cNvSpPr/>
          <p:nvPr/>
        </p:nvSpPr>
        <p:spPr>
          <a:xfrm>
            <a:off x="713232" y="4736592"/>
            <a:ext cx="347472" cy="347472"/>
          </a:xfrm>
          <a:prstGeom prst="ellipse">
            <a:avLst/>
          </a:prstGeom>
          <a:solidFill>
            <a:srgbClr val="1A2332"/>
          </a:solidFill>
          <a:ln/>
        </p:spPr>
        <p:txBody>
          <a:bodyPr/>
          <a:lstStyle/>
          <a:p>
            <a:endParaRPr lang="en-US"/>
          </a:p>
        </p:txBody>
      </p:sp>
      <p:sp>
        <p:nvSpPr>
          <p:cNvPr id="24" name="Text 22"/>
          <p:cNvSpPr/>
          <p:nvPr/>
        </p:nvSpPr>
        <p:spPr>
          <a:xfrm>
            <a:off x="713232" y="4736592"/>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He demonstrated that the Bible and science were completely compatible</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lstStyle/>
          <a:p>
            <a:endParaRPr lang="en-US"/>
          </a:p>
        </p:txBody>
      </p:sp>
      <p:sp>
        <p:nvSpPr>
          <p:cNvPr id="27" name="Text 25"/>
          <p:cNvSpPr/>
          <p:nvPr/>
        </p:nvSpPr>
        <p:spPr>
          <a:xfrm>
            <a:off x="822960" y="5532120"/>
            <a:ext cx="10515600" cy="713232"/>
          </a:xfrm>
          <a:prstGeom prst="rect">
            <a:avLst/>
          </a:prstGeom>
          <a:noFill/>
          <a:ln/>
        </p:spPr>
        <p:txBody>
          <a:bodyPr wrap="square" rtlCol="0" anchor="ctr"/>
          <a:lstStyle/>
          <a:p>
            <a:pPr marL="0" indent="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Why: </a:t>
            </a:r>
            <a:r>
              <a:rPr lang="en-US" sz="1150" dirty="0">
                <a:solidFill>
                  <a:srgbClr val="C7D4E0"/>
                </a:solidFill>
                <a:latin typeface="Calibri" pitchFamily="34" charset="0"/>
                <a:ea typeface="Calibri" pitchFamily="34" charset="-122"/>
                <a:cs typeface="Calibri" pitchFamily="34" charset="-120"/>
              </a:rPr>
              <a:t>Bryan admitted the "six days" might be "periods" lasting "millions of years"—showing he didn't interpret the Bible entirely literally, undermining the fundamentalist position.</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155</a:t>
            </a:r>
            <a:endParaRPr lang="en-US" sz="9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US.36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marL="0" indent="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lstStyle/>
          <a:p>
            <a:endParaRPr lang="en-US"/>
          </a:p>
        </p:txBody>
      </p:sp>
      <p:sp>
        <p:nvSpPr>
          <p:cNvPr id="6" name="Text 4"/>
          <p:cNvSpPr/>
          <p:nvPr/>
        </p:nvSpPr>
        <p:spPr>
          <a:xfrm>
            <a:off x="868680" y="1847088"/>
            <a:ext cx="5486400" cy="320040"/>
          </a:xfrm>
          <a:prstGeom prst="rect">
            <a:avLst/>
          </a:prstGeom>
          <a:noFill/>
          <a:ln/>
        </p:spPr>
        <p:txBody>
          <a:bodyPr wrap="square" rtlCol="0" anchor="ctr"/>
          <a:lstStyle/>
          <a:p>
            <a:pPr marL="0" indent="0">
              <a:buNone/>
            </a:pPr>
            <a:r>
              <a:rPr lang="en-US" sz="1200" b="1" kern="0" spc="20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Major Figures and Their Roles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Arguments Against Evolution (Prosecution)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Arguments For Evolution (Defense)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Trial Outcome and Immediate Impact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Long-term Legacy</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lstStyle/>
          <a:p>
            <a:endParaRPr lang="en-US"/>
          </a:p>
        </p:txBody>
      </p:sp>
      <p:sp>
        <p:nvSpPr>
          <p:cNvPr id="9" name="Text 7"/>
          <p:cNvSpPr/>
          <p:nvPr/>
        </p:nvSpPr>
        <p:spPr>
          <a:xfrm>
            <a:off x="822960" y="4901184"/>
            <a:ext cx="6492240" cy="274320"/>
          </a:xfrm>
          <a:prstGeom prst="rect">
            <a:avLst/>
          </a:prstGeom>
          <a:noFill/>
          <a:ln/>
        </p:spPr>
        <p:txBody>
          <a:bodyPr wrap="square" rtlCol="0" anchor="ctr"/>
          <a:lstStyle/>
          <a:p>
            <a:pPr marL="0" indent="0">
              <a:buNone/>
            </a:pPr>
            <a:r>
              <a:rPr lang="en-US" sz="1100" b="1" kern="0" spc="100" dirty="0">
                <a:solidFill>
                  <a:srgbClr val="7A5C12"/>
                </a:solidFill>
                <a:latin typeface="Trebuchet MS" pitchFamily="34" charset="0"/>
                <a:ea typeface="Trebuchet MS" pitchFamily="34" charset="-122"/>
                <a:cs typeface="Trebuchet MS" pitchFamily="34" charset="-120"/>
              </a:rPr>
              <a:t>★ HONORS / EXTENSION  </a:t>
            </a: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marL="0" indent="0">
              <a:lnSpc>
                <a:spcPct val="98000"/>
              </a:lnSpc>
              <a:buNone/>
            </a:pPr>
            <a:r>
              <a:rPr lang="en-US" sz="1050" i="1" dirty="0">
                <a:solidFill>
                  <a:srgbClr val="1F2430"/>
                </a:solidFill>
                <a:latin typeface="Calibri" pitchFamily="34" charset="0"/>
                <a:ea typeface="Calibri" pitchFamily="34" charset="-122"/>
                <a:cs typeface="Calibri" pitchFamily="34" charset="-120"/>
              </a:rPr>
              <a:t>Evaluate: Did the Scopes Trial settle the conflict between science and religion in public schools, or simply expose it? Defend your claim with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lstStyle/>
          <a:p>
            <a:endParaRPr lang="en-US"/>
          </a:p>
        </p:txBody>
      </p:sp>
      <p:sp>
        <p:nvSpPr>
          <p:cNvPr id="12" name="Text 10"/>
          <p:cNvSpPr/>
          <p:nvPr/>
        </p:nvSpPr>
        <p:spPr>
          <a:xfrm>
            <a:off x="8092440" y="1920240"/>
            <a:ext cx="2286000" cy="320040"/>
          </a:xfrm>
          <a:prstGeom prst="rect">
            <a:avLst/>
          </a:prstGeom>
          <a:noFill/>
          <a:ln/>
        </p:spPr>
        <p:txBody>
          <a:bodyPr wrap="square" rtlCol="0" anchor="ctr"/>
          <a:lstStyle/>
          <a:p>
            <a:pPr marL="0" indent="0">
              <a:buNone/>
            </a:pPr>
            <a:r>
              <a:rPr lang="en-US" sz="1200" b="1" kern="0" spc="20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lstStyle/>
          <a:p>
            <a:endParaRPr lang="en-US"/>
          </a:p>
        </p:txBody>
      </p:sp>
      <p:sp>
        <p:nvSpPr>
          <p:cNvPr id="14" name="Text 12"/>
          <p:cNvSpPr/>
          <p:nvPr/>
        </p:nvSpPr>
        <p:spPr>
          <a:xfrm>
            <a:off x="10378440" y="1883664"/>
            <a:ext cx="960120" cy="365760"/>
          </a:xfrm>
          <a:prstGeom prst="rect">
            <a:avLst/>
          </a:prstGeom>
          <a:noFill/>
          <a:ln/>
        </p:spPr>
        <p:txBody>
          <a:bodyPr wrap="square" rtlCol="0" anchor="ctr"/>
          <a:lstStyle/>
          <a:p>
            <a:pPr marL="0" indent="0" algn="ctr">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Explain what the Scopes Trial revealed about the divisions in 1920s America. Identify the two sides and what each wanted.</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lstStyle/>
          <a:p>
            <a:endParaRPr lang="en-US"/>
          </a:p>
        </p:txBody>
      </p:sp>
      <p:sp>
        <p:nvSpPr>
          <p:cNvPr id="17" name="Shape 15"/>
          <p:cNvSpPr/>
          <p:nvPr/>
        </p:nvSpPr>
        <p:spPr>
          <a:xfrm>
            <a:off x="8138160" y="5074920"/>
            <a:ext cx="3108960" cy="0"/>
          </a:xfrm>
          <a:prstGeom prst="line">
            <a:avLst/>
          </a:prstGeom>
          <a:noFill/>
          <a:ln w="12700">
            <a:solidFill>
              <a:srgbClr val="A7BACB"/>
            </a:solidFill>
            <a:prstDash val="dash"/>
          </a:ln>
        </p:spPr>
        <p:txBody>
          <a:bodyPr/>
          <a:lstStyle/>
          <a:p>
            <a:endParaRPr lang="en-US"/>
          </a:p>
        </p:txBody>
      </p:sp>
      <p:sp>
        <p:nvSpPr>
          <p:cNvPr id="18" name="Shape 16"/>
          <p:cNvSpPr/>
          <p:nvPr/>
        </p:nvSpPr>
        <p:spPr>
          <a:xfrm>
            <a:off x="8138160" y="5623560"/>
            <a:ext cx="3108960" cy="0"/>
          </a:xfrm>
          <a:prstGeom prst="line">
            <a:avLst/>
          </a:prstGeom>
          <a:noFill/>
          <a:ln w="12700">
            <a:solidFill>
              <a:srgbClr val="A7BACB"/>
            </a:solidFill>
            <a:prstDash val="dash"/>
          </a:ln>
        </p:spPr>
        <p:txBody>
          <a:bodyPr/>
          <a:lstStyle/>
          <a:p>
            <a:endParaRPr lang="en-US"/>
          </a:p>
        </p:txBody>
      </p:sp>
      <p:sp>
        <p:nvSpPr>
          <p:cNvPr id="20" name="Text 1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156</a:t>
            </a:r>
            <a:endParaRPr lang="en-US" sz="9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lstStyle/>
          <a:p>
            <a:endParaRPr lang="en-US"/>
          </a:p>
        </p:txBody>
      </p:sp>
      <p:sp>
        <p:nvSpPr>
          <p:cNvPr id="3" name="Shape 1"/>
          <p:cNvSpPr/>
          <p:nvPr/>
        </p:nvSpPr>
        <p:spPr>
          <a:xfrm>
            <a:off x="320040" y="0"/>
            <a:ext cx="109728" cy="6858000"/>
          </a:xfrm>
          <a:prstGeom prst="rect">
            <a:avLst/>
          </a:prstGeom>
          <a:solidFill>
            <a:srgbClr val="C9A84C"/>
          </a:solidFill>
          <a:ln/>
        </p:spPr>
        <p:txBody>
          <a:bodyPr/>
          <a:lstStyle/>
          <a:p>
            <a:endParaRPr lang="en-US"/>
          </a:p>
        </p:txBody>
      </p:sp>
      <p:sp>
        <p:nvSpPr>
          <p:cNvPr id="4" name="Text 2"/>
          <p:cNvSpPr/>
          <p:nvPr/>
        </p:nvSpPr>
        <p:spPr>
          <a:xfrm>
            <a:off x="914400" y="1005840"/>
            <a:ext cx="5486400" cy="365760"/>
          </a:xfrm>
          <a:prstGeom prst="rect">
            <a:avLst/>
          </a:prstGeom>
          <a:noFill/>
          <a:ln/>
        </p:spPr>
        <p:txBody>
          <a:bodyPr wrap="square" rtlCol="0" anchor="ctr"/>
          <a:lstStyle/>
          <a:p>
            <a:pPr marL="0" indent="0">
              <a:buNone/>
            </a:pPr>
            <a:r>
              <a:rPr lang="en-US" sz="1500" b="1" kern="0" spc="40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marL="0" indent="0">
              <a:buNone/>
            </a:pPr>
            <a:r>
              <a:rPr lang="en-US" sz="8800" b="1" dirty="0">
                <a:solidFill>
                  <a:srgbClr val="FFFFFF"/>
                </a:solidFill>
                <a:latin typeface="Georgia" pitchFamily="34" charset="0"/>
                <a:ea typeface="Georgia" pitchFamily="34" charset="-122"/>
                <a:cs typeface="Georgia" pitchFamily="34" charset="-120"/>
              </a:rPr>
              <a:t>US.37</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marL="0" indent="0">
              <a:lnSpc>
                <a:spcPct val="102000"/>
              </a:lnSpc>
              <a:buNone/>
            </a:pPr>
            <a:r>
              <a:rPr lang="en-US" sz="2400" i="1" dirty="0">
                <a:solidFill>
                  <a:srgbClr val="F9A825"/>
                </a:solidFill>
                <a:latin typeface="Georgia" pitchFamily="34" charset="0"/>
                <a:ea typeface="Georgia" pitchFamily="34" charset="-122"/>
                <a:cs typeface="Georgia" pitchFamily="34" charset="-120"/>
              </a:rPr>
              <a:t>Prohibition &amp; Its Impact on American Society</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marL="0" indent="0" algn="l">
              <a:buNone/>
            </a:pPr>
            <a:r>
              <a:rPr lang="en-US" sz="1100" b="1" kern="0" spc="20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lstStyle/>
          <a:p>
            <a:endParaRPr lang="en-US"/>
          </a:p>
        </p:txBody>
      </p:sp>
      <p:sp>
        <p:nvSpPr>
          <p:cNvPr id="9" name="Text 7"/>
          <p:cNvSpPr/>
          <p:nvPr/>
        </p:nvSpPr>
        <p:spPr>
          <a:xfrm>
            <a:off x="6812280" y="1417320"/>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lstStyle/>
          <a:p>
            <a:endParaRPr lang="en-US"/>
          </a:p>
        </p:txBody>
      </p:sp>
      <p:sp>
        <p:nvSpPr>
          <p:cNvPr id="12" name="Text 10"/>
          <p:cNvSpPr/>
          <p:nvPr/>
        </p:nvSpPr>
        <p:spPr>
          <a:xfrm>
            <a:off x="6812280" y="1755648"/>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lstStyle/>
          <a:p>
            <a:endParaRPr lang="en-US"/>
          </a:p>
        </p:txBody>
      </p:sp>
      <p:sp>
        <p:nvSpPr>
          <p:cNvPr id="15" name="Text 13"/>
          <p:cNvSpPr/>
          <p:nvPr/>
        </p:nvSpPr>
        <p:spPr>
          <a:xfrm>
            <a:off x="6812280" y="2093976"/>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lstStyle/>
          <a:p>
            <a:endParaRPr lang="en-US"/>
          </a:p>
        </p:txBody>
      </p:sp>
      <p:sp>
        <p:nvSpPr>
          <p:cNvPr id="18" name="Text 16"/>
          <p:cNvSpPr/>
          <p:nvPr/>
        </p:nvSpPr>
        <p:spPr>
          <a:xfrm>
            <a:off x="1143000" y="3913632"/>
            <a:ext cx="5486400" cy="274320"/>
          </a:xfrm>
          <a:prstGeom prst="rect">
            <a:avLst/>
          </a:prstGeom>
          <a:noFill/>
          <a:ln/>
        </p:spPr>
        <p:txBody>
          <a:bodyPr wrap="square" rtlCol="0" anchor="ctr"/>
          <a:lstStyle/>
          <a:p>
            <a:pPr marL="0" indent="0">
              <a:buNone/>
            </a:pPr>
            <a:r>
              <a:rPr lang="en-US" sz="1100" b="1" kern="0" spc="20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Describe the impacts of Prohibition on American society, including: the rise of organized crime, bootlegging, and speakeasies.</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lstStyle/>
          <a:p>
            <a:endParaRPr lang="en-US"/>
          </a:p>
        </p:txBody>
      </p:sp>
      <p:sp>
        <p:nvSpPr>
          <p:cNvPr id="21" name="Text 19"/>
          <p:cNvSpPr/>
          <p:nvPr/>
        </p:nvSpPr>
        <p:spPr>
          <a:xfrm>
            <a:off x="1143000" y="5230368"/>
            <a:ext cx="1828800" cy="292608"/>
          </a:xfrm>
          <a:prstGeom prst="rect">
            <a:avLst/>
          </a:prstGeom>
          <a:noFill/>
          <a:ln/>
        </p:spPr>
        <p:txBody>
          <a:bodyPr wrap="square" rtlCol="0" anchor="ctr"/>
          <a:lstStyle/>
          <a:p>
            <a:pPr marL="0" indent="0">
              <a:buNone/>
            </a:pPr>
            <a:r>
              <a:rPr lang="en-US" sz="1300" b="1" kern="0" spc="20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marL="0" indent="0">
              <a:lnSpc>
                <a:spcPct val="100000"/>
              </a:lnSpc>
              <a:buNone/>
            </a:pPr>
            <a:r>
              <a:rPr lang="en-US" sz="1350" b="1" dirty="0">
                <a:solidFill>
                  <a:srgbClr val="1A2332"/>
                </a:solidFill>
                <a:latin typeface="Calibri" pitchFamily="34" charset="0"/>
                <a:ea typeface="Calibri" pitchFamily="34" charset="-122"/>
                <a:cs typeface="Calibri" pitchFamily="34" charset="-120"/>
              </a:rPr>
              <a:t>I can describe the impacts of Prohibition on American society, including the rise of organized crime, bootlegging, and speakeasies.</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157</a:t>
            </a:r>
            <a:endParaRPr lang="en-US" sz="9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lstStyle/>
          <a:p>
            <a:endParaRPr lang="en-US"/>
          </a:p>
        </p:txBody>
      </p:sp>
      <p:sp>
        <p:nvSpPr>
          <p:cNvPr id="7" name="Shape 5"/>
          <p:cNvSpPr/>
          <p:nvPr/>
        </p:nvSpPr>
        <p:spPr>
          <a:xfrm>
            <a:off x="548640" y="2057400"/>
            <a:ext cx="777240" cy="1234440"/>
          </a:xfrm>
          <a:prstGeom prst="rect">
            <a:avLst/>
          </a:prstGeom>
          <a:solidFill>
            <a:srgbClr val="1A2332"/>
          </a:solidFill>
          <a:ln/>
        </p:spPr>
        <p:txBody>
          <a:bodyPr/>
          <a:lstStyle/>
          <a:p>
            <a:endParaRPr lang="en-US"/>
          </a:p>
        </p:txBody>
      </p:sp>
      <p:sp>
        <p:nvSpPr>
          <p:cNvPr id="8" name="Text 6"/>
          <p:cNvSpPr/>
          <p:nvPr/>
        </p:nvSpPr>
        <p:spPr>
          <a:xfrm>
            <a:off x="548640" y="2057400"/>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US.36  </a:t>
            </a:r>
            <a:r>
              <a:rPr lang="en-US" sz="1350" dirty="0">
                <a:solidFill>
                  <a:srgbClr val="1F2430"/>
                </a:solidFill>
                <a:latin typeface="Calibri" pitchFamily="34" charset="0"/>
                <a:ea typeface="Calibri" pitchFamily="34" charset="-122"/>
                <a:cs typeface="Calibri" pitchFamily="34" charset="-120"/>
              </a:rPr>
              <a:t>What was the Scopes Trial about?</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lstStyle/>
          <a:p>
            <a:endParaRPr lang="en-US"/>
          </a:p>
        </p:txBody>
      </p:sp>
      <p:sp>
        <p:nvSpPr>
          <p:cNvPr id="11" name="Shape 9"/>
          <p:cNvSpPr/>
          <p:nvPr/>
        </p:nvSpPr>
        <p:spPr>
          <a:xfrm>
            <a:off x="548640" y="3456432"/>
            <a:ext cx="777240" cy="1234440"/>
          </a:xfrm>
          <a:prstGeom prst="rect">
            <a:avLst/>
          </a:prstGeom>
          <a:solidFill>
            <a:srgbClr val="1A2332"/>
          </a:solidFill>
          <a:ln/>
        </p:spPr>
        <p:txBody>
          <a:bodyPr/>
          <a:lstStyle/>
          <a:p>
            <a:endParaRPr lang="en-US"/>
          </a:p>
        </p:txBody>
      </p:sp>
      <p:sp>
        <p:nvSpPr>
          <p:cNvPr id="12" name="Text 10"/>
          <p:cNvSpPr/>
          <p:nvPr/>
        </p:nvSpPr>
        <p:spPr>
          <a:xfrm>
            <a:off x="548640" y="3456432"/>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US.36  </a:t>
            </a:r>
            <a:r>
              <a:rPr lang="en-US" sz="1350" dirty="0">
                <a:solidFill>
                  <a:srgbClr val="1F2430"/>
                </a:solidFill>
                <a:latin typeface="Calibri" pitchFamily="34" charset="0"/>
                <a:ea typeface="Calibri" pitchFamily="34" charset="-122"/>
                <a:cs typeface="Calibri" pitchFamily="34" charset="-120"/>
              </a:rPr>
              <a:t>What was the difference between fundamentalism and modernism in the 1920s?</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158</a:t>
            </a:r>
            <a:endParaRPr lang="en-US" sz="9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lstStyle/>
          <a:p>
            <a:endParaRPr lang="en-US"/>
          </a:p>
        </p:txBody>
      </p:sp>
      <p:sp>
        <p:nvSpPr>
          <p:cNvPr id="6" name="Text 4"/>
          <p:cNvSpPr/>
          <p:nvPr/>
        </p:nvSpPr>
        <p:spPr>
          <a:xfrm>
            <a:off x="8686800" y="786384"/>
            <a:ext cx="1143000" cy="457200"/>
          </a:xfrm>
          <a:prstGeom prst="rect">
            <a:avLst/>
          </a:prstGeom>
          <a:noFill/>
          <a:ln/>
        </p:spPr>
        <p:txBody>
          <a:bodyPr wrap="square" rtlCol="0" anchor="ctr"/>
          <a:lstStyle/>
          <a:p>
            <a:pPr marL="0" indent="0" algn="ctr">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lstStyle/>
          <a:p>
            <a:endParaRPr lang="en-US"/>
          </a:p>
        </p:txBody>
      </p:sp>
      <p:sp>
        <p:nvSpPr>
          <p:cNvPr id="8" name="Text 6"/>
          <p:cNvSpPr/>
          <p:nvPr/>
        </p:nvSpPr>
        <p:spPr>
          <a:xfrm>
            <a:off x="9966960" y="786384"/>
            <a:ext cx="164592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lstStyle/>
          <a:p>
            <a:endParaRPr lang="en-US"/>
          </a:p>
        </p:txBody>
      </p:sp>
      <p:sp>
        <p:nvSpPr>
          <p:cNvPr id="11" name="Text 9"/>
          <p:cNvSpPr/>
          <p:nvPr/>
        </p:nvSpPr>
        <p:spPr>
          <a:xfrm>
            <a:off x="1005840" y="2194560"/>
            <a:ext cx="10149840" cy="1417320"/>
          </a:xfrm>
          <a:prstGeom prst="rect">
            <a:avLst/>
          </a:prstGeom>
          <a:noFill/>
          <a:ln/>
        </p:spPr>
        <p:txBody>
          <a:bodyPr wrap="square" rtlCol="0" anchor="ctr"/>
          <a:lstStyle/>
          <a:p>
            <a:pPr marL="0" indent="0" algn="ctr">
              <a:lnSpc>
                <a:spcPct val="108000"/>
              </a:lnSpc>
              <a:buNone/>
            </a:pPr>
            <a:r>
              <a:rPr lang="en-US" sz="2400" b="1" dirty="0">
                <a:solidFill>
                  <a:srgbClr val="FFFFFF"/>
                </a:solidFill>
                <a:latin typeface="Georgia" pitchFamily="34" charset="0"/>
                <a:ea typeface="Georgia" pitchFamily="34" charset="-122"/>
                <a:cs typeface="Georgia" pitchFamily="34" charset="-120"/>
              </a:rPr>
              <a:t>What did Prohibition make illegal?</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lstStyle/>
          <a:p>
            <a:endParaRPr lang="en-US"/>
          </a:p>
        </p:txBody>
      </p:sp>
      <p:sp>
        <p:nvSpPr>
          <p:cNvPr id="13" name="Text 11"/>
          <p:cNvSpPr/>
          <p:nvPr/>
        </p:nvSpPr>
        <p:spPr>
          <a:xfrm>
            <a:off x="914400" y="4224528"/>
            <a:ext cx="2743200" cy="320040"/>
          </a:xfrm>
          <a:prstGeom prst="rect">
            <a:avLst/>
          </a:prstGeom>
          <a:noFill/>
          <a:ln/>
        </p:spPr>
        <p:txBody>
          <a:bodyPr wrap="square" rtlCol="0" anchor="ctr"/>
          <a:lstStyle/>
          <a:p>
            <a:pPr marL="0" indent="0">
              <a:buNone/>
            </a:pPr>
            <a:r>
              <a:rPr lang="en-US" sz="1200" b="1" kern="0" spc="20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marL="0" indent="0">
              <a:lnSpc>
                <a:spcPct val="108000"/>
              </a:lnSpc>
              <a:buNone/>
            </a:pPr>
            <a:r>
              <a:rPr lang="en-US" sz="1600" dirty="0">
                <a:solidFill>
                  <a:srgbClr val="1F2430"/>
                </a:solidFill>
                <a:latin typeface="Calibri" pitchFamily="34" charset="0"/>
                <a:ea typeface="Calibri" pitchFamily="34" charset="-122"/>
                <a:cs typeface="Calibri" pitchFamily="34" charset="-120"/>
              </a:rPr>
              <a:t>The making, selling, and transporting of alcoholic beverages across the United States.</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lstStyle/>
          <a:p>
            <a:endParaRPr lang="en-US"/>
          </a:p>
        </p:txBody>
      </p:sp>
      <p:sp>
        <p:nvSpPr>
          <p:cNvPr id="16" name="Text 14"/>
          <p:cNvSpPr/>
          <p:nvPr/>
        </p:nvSpPr>
        <p:spPr>
          <a:xfrm>
            <a:off x="822960" y="5623560"/>
            <a:ext cx="10515600" cy="457200"/>
          </a:xfrm>
          <a:prstGeom prst="rect">
            <a:avLst/>
          </a:prstGeom>
          <a:noFill/>
          <a:ln/>
        </p:spPr>
        <p:txBody>
          <a:bodyPr wrap="square" rtlCol="0" anchor="ctr"/>
          <a:lstStyle/>
          <a:p>
            <a:pPr marL="0" indent="0">
              <a:buNone/>
            </a:pPr>
            <a:r>
              <a:rPr lang="en-US" sz="1150" b="1" i="1" kern="0" spc="100" dirty="0">
                <a:solidFill>
                  <a:srgbClr val="C62828"/>
                </a:solidFill>
                <a:latin typeface="Trebuchet MS" pitchFamily="34" charset="0"/>
                <a:ea typeface="Trebuchet MS" pitchFamily="34" charset="-122"/>
                <a:cs typeface="Trebuchet MS" pitchFamily="34" charset="-120"/>
              </a:rPr>
              <a:t>COMMIT FIRST:  </a:t>
            </a: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159</a:t>
            </a:r>
            <a:endParaRPr lang="en-US" sz="9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lstStyle/>
          <a:p>
            <a:endParaRPr lang="en-US"/>
          </a:p>
        </p:txBody>
      </p:sp>
      <p:sp>
        <p:nvSpPr>
          <p:cNvPr id="6" name="Text 4"/>
          <p:cNvSpPr/>
          <p:nvPr/>
        </p:nvSpPr>
        <p:spPr>
          <a:xfrm>
            <a:off x="1005840" y="1965960"/>
            <a:ext cx="10149840" cy="1645920"/>
          </a:xfrm>
          <a:prstGeom prst="rect">
            <a:avLst/>
          </a:prstGeom>
          <a:noFill/>
          <a:ln/>
        </p:spPr>
        <p:txBody>
          <a:bodyPr wrap="square" rtlCol="0" anchor="ctr"/>
          <a:lstStyle/>
          <a:p>
            <a:pPr marL="0" indent="0">
              <a:lnSpc>
                <a:spcPct val="108000"/>
              </a:lnSpc>
              <a:buNone/>
            </a:pPr>
            <a:r>
              <a:rPr lang="en-US" sz="2600" i="1" dirty="0">
                <a:solidFill>
                  <a:srgbClr val="FFFFFF"/>
                </a:solidFill>
                <a:latin typeface="Georgia" pitchFamily="34" charset="0"/>
                <a:ea typeface="Georgia" pitchFamily="34" charset="-122"/>
                <a:cs typeface="Georgia" pitchFamily="34" charset="-120"/>
              </a:rPr>
              <a:t>In 1920 the United States did something no other nation had tried: it amended its own Constitution to ban the making, selling, and transporting of alcohol across the entire country.</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lstStyle/>
          <a:p>
            <a:endParaRPr lang="en-US"/>
          </a:p>
        </p:txBody>
      </p:sp>
      <p:sp>
        <p:nvSpPr>
          <p:cNvPr id="8" name="Text 6"/>
          <p:cNvSpPr/>
          <p:nvPr/>
        </p:nvSpPr>
        <p:spPr>
          <a:xfrm>
            <a:off x="914400" y="4297680"/>
            <a:ext cx="2743200" cy="320040"/>
          </a:xfrm>
          <a:prstGeom prst="rect">
            <a:avLst/>
          </a:prstGeom>
          <a:noFill/>
          <a:ln/>
        </p:spPr>
        <p:txBody>
          <a:bodyPr wrap="square" rtlCol="0" anchor="ctr"/>
          <a:lstStyle/>
          <a:p>
            <a:pPr marL="0" indent="0">
              <a:buNone/>
            </a:pPr>
            <a:r>
              <a:rPr lang="en-US" sz="1300" b="1" kern="0" spc="20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lstStyle/>
          <a:p>
            <a:endParaRPr lang="en-US"/>
          </a:p>
        </p:txBody>
      </p:sp>
      <p:sp>
        <p:nvSpPr>
          <p:cNvPr id="10" name="Text 8"/>
          <p:cNvSpPr/>
          <p:nvPr/>
        </p:nvSpPr>
        <p:spPr>
          <a:xfrm>
            <a:off x="7772400" y="4224528"/>
            <a:ext cx="3657600" cy="45720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marL="0" indent="0">
              <a:lnSpc>
                <a:spcPct val="110000"/>
              </a:lnSpc>
              <a:buNone/>
            </a:pPr>
            <a:r>
              <a:rPr lang="en-US" sz="1600" dirty="0">
                <a:solidFill>
                  <a:srgbClr val="1F2430"/>
                </a:solidFill>
                <a:latin typeface="Calibri" pitchFamily="34" charset="0"/>
                <a:ea typeface="Calibri" pitchFamily="34" charset="-122"/>
                <a:cs typeface="Calibri" pitchFamily="34" charset="-120"/>
              </a:rPr>
              <a:t>What happens when a government outlaws something millions of its citizens refuse to give up, and who ends up profiting from the ban?</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160</a:t>
            </a:r>
            <a:endParaRPr lang="en-US" sz="9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Implementation and Intended Effects</a:t>
            </a:r>
            <a:endParaRPr lang="en-US" sz="3000" dirty="0"/>
          </a:p>
        </p:txBody>
      </p:sp>
      <p:sp>
        <p:nvSpPr>
          <p:cNvPr id="5" name="Shape 3"/>
          <p:cNvSpPr/>
          <p:nvPr/>
        </p:nvSpPr>
        <p:spPr>
          <a:xfrm>
            <a:off x="10180015" y="502920"/>
            <a:ext cx="146304" cy="146304"/>
          </a:xfrm>
          <a:prstGeom prst="ellipse">
            <a:avLst/>
          </a:prstGeom>
          <a:solidFill>
            <a:srgbClr val="C62828"/>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2340864"/>
          </a:xfrm>
          <a:prstGeom prst="rect">
            <a:avLst/>
          </a:prstGeom>
          <a:noFill/>
          <a:ln/>
        </p:spPr>
        <p:txBody>
          <a:bodyPr wrap="square" rtlCol="0" anchor="t">
            <a:normAutofit lnSpcReduction="10000"/>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18th Amendment (1919) prohibited manufacture, sale, and transportation of alcohol.</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Volstead Act defined "intoxicating liquors" as containing over 0.5% alcohol.</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temperance movement, religious groups, and progressive reformers supported Prohibition to reduce crime, improve health, strengthen families, and increase worker productivity.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Only 1,500 federal agents were available for enforcement.</a:t>
            </a:r>
            <a:endParaRPr lang="en-US" sz="1550" dirty="0"/>
          </a:p>
        </p:txBody>
      </p:sp>
      <p:sp>
        <p:nvSpPr>
          <p:cNvPr id="13" name="Shape 11"/>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lstStyle/>
          <a:p>
            <a:endParaRPr lang="en-US"/>
          </a:p>
        </p:txBody>
      </p:sp>
      <p:sp>
        <p:nvSpPr>
          <p:cNvPr id="14" name="Text 12"/>
          <p:cNvSpPr/>
          <p:nvPr/>
        </p:nvSpPr>
        <p:spPr>
          <a:xfrm>
            <a:off x="1024128" y="4681728"/>
            <a:ext cx="5852160" cy="237744"/>
          </a:xfrm>
          <a:prstGeom prst="rect">
            <a:avLst/>
          </a:prstGeom>
          <a:noFill/>
          <a:ln/>
        </p:spPr>
        <p:txBody>
          <a:bodyPr wrap="square" rtlCol="0" anchor="ctr"/>
          <a:lstStyle/>
          <a:p>
            <a:pPr marL="0" indent="0">
              <a:buNone/>
            </a:pPr>
            <a:r>
              <a:rPr lang="en-US" sz="900" b="1" kern="0" spc="100" dirty="0">
                <a:solidFill>
                  <a:srgbClr val="002858"/>
                </a:solidFill>
                <a:latin typeface="Trebuchet MS" pitchFamily="34" charset="0"/>
                <a:ea typeface="Trebuchet MS" pitchFamily="34" charset="-122"/>
                <a:cs typeface="Trebuchet MS" pitchFamily="34" charset="-120"/>
              </a:rPr>
              <a:t>SENTENCE FRAME  </a:t>
            </a:r>
            <a:r>
              <a:rPr lang="en-US" sz="850" i="1" dirty="0">
                <a:solidFill>
                  <a:srgbClr val="5C6470"/>
                </a:solidFill>
              </a:rPr>
              <a:t>(EL &amp; writing support)  </a:t>
            </a:r>
            <a:endParaRPr lang="en-US" sz="900" dirty="0"/>
          </a:p>
        </p:txBody>
      </p:sp>
      <p:sp>
        <p:nvSpPr>
          <p:cNvPr id="15" name="Text 13"/>
          <p:cNvSpPr/>
          <p:nvPr/>
        </p:nvSpPr>
        <p:spPr>
          <a:xfrm>
            <a:off x="1024128" y="4937760"/>
            <a:ext cx="6309360" cy="658368"/>
          </a:xfrm>
          <a:prstGeom prst="rect">
            <a:avLst/>
          </a:prstGeom>
          <a:noFill/>
          <a:ln/>
        </p:spPr>
        <p:txBody>
          <a:bodyPr wrap="square" rtlCol="0" anchor="t"/>
          <a:lstStyle/>
          <a:p>
            <a:pPr marL="0" indent="0">
              <a:lnSpc>
                <a:spcPct val="104000"/>
              </a:lnSpc>
              <a:buNone/>
            </a:pPr>
            <a:r>
              <a:rPr lang="en-US" sz="1050" i="1" dirty="0">
                <a:solidFill>
                  <a:srgbClr val="1F2430"/>
                </a:solidFill>
                <a:latin typeface="Calibri" pitchFamily="34" charset="0"/>
                <a:ea typeface="Calibri" pitchFamily="34" charset="-122"/>
                <a:cs typeface="Calibri" pitchFamily="34" charset="-120"/>
              </a:rPr>
              <a:t>Prohibition was meant to ________, but it actually led to ________.</a:t>
            </a:r>
            <a:endParaRPr lang="en-US" sz="1050" dirty="0"/>
          </a:p>
        </p:txBody>
      </p:sp>
      <p:sp>
        <p:nvSpPr>
          <p:cNvPr id="16" name="Shape 14"/>
          <p:cNvSpPr/>
          <p:nvPr/>
        </p:nvSpPr>
        <p:spPr>
          <a:xfrm>
            <a:off x="7552944" y="1746504"/>
            <a:ext cx="4142232" cy="2935224"/>
          </a:xfrm>
          <a:prstGeom prst="rect">
            <a:avLst/>
          </a:prstGeom>
          <a:solidFill>
            <a:srgbClr val="FFFFFF"/>
          </a:solidFill>
          <a:ln w="12700">
            <a:solidFill>
              <a:srgbClr val="DAD3C2"/>
            </a:solidFill>
            <a:prstDash val="solid"/>
          </a:ln>
        </p:spPr>
        <p:txBody>
          <a:bodyPr/>
          <a:lstStyle/>
          <a:p>
            <a:endParaRPr lang="en-US"/>
          </a:p>
        </p:txBody>
      </p:sp>
      <p:pic>
        <p:nvPicPr>
          <p:cNvPr id="17" name="Image 0" descr="unit4-full/img/prohibition-1919.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810470" y="1783080"/>
            <a:ext cx="3627180" cy="2862072"/>
          </a:xfrm>
          <a:prstGeom prst="rect">
            <a:avLst/>
          </a:prstGeom>
        </p:spPr>
      </p:pic>
      <p:sp>
        <p:nvSpPr>
          <p:cNvPr id="18" name="Text 15"/>
          <p:cNvSpPr/>
          <p:nvPr/>
        </p:nvSpPr>
        <p:spPr>
          <a:xfrm>
            <a:off x="7589520" y="470001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Pease, Lute, 1869-1963, artist, [between 1917 and 1920]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800" dirty="0"/>
          </a:p>
        </p:txBody>
      </p:sp>
      <p:sp>
        <p:nvSpPr>
          <p:cNvPr id="19" name="Shape 16"/>
          <p:cNvSpPr/>
          <p:nvPr/>
        </p:nvSpPr>
        <p:spPr>
          <a:xfrm>
            <a:off x="7589520" y="5440680"/>
            <a:ext cx="4069080" cy="713232"/>
          </a:xfrm>
          <a:prstGeom prst="roundRect">
            <a:avLst>
              <a:gd name="adj" fmla="val 7692"/>
            </a:avLst>
          </a:prstGeom>
          <a:solidFill>
            <a:srgbClr val="1A2332"/>
          </a:solidFill>
          <a:ln/>
        </p:spPr>
        <p:txBody>
          <a:bodyPr/>
          <a:lstStyle/>
          <a:p>
            <a:endParaRPr lang="en-US"/>
          </a:p>
        </p:txBody>
      </p:sp>
      <p:sp>
        <p:nvSpPr>
          <p:cNvPr id="20" name="Text 17"/>
          <p:cNvSpPr/>
          <p:nvPr/>
        </p:nvSpPr>
        <p:spPr>
          <a:xfrm>
            <a:off x="7772400" y="5477256"/>
            <a:ext cx="3703320" cy="640080"/>
          </a:xfrm>
          <a:prstGeom prst="rect">
            <a:avLst/>
          </a:prstGeom>
          <a:noFill/>
          <a:ln/>
        </p:spPr>
        <p:txBody>
          <a:bodyPr wrap="square" rtlCol="0" anchor="ctr"/>
          <a:lstStyle/>
          <a:p>
            <a:pPr marL="0" indent="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2" name="Text 1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3" name="Text 1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161</a:t>
            </a:r>
            <a:endParaRPr lang="en-US" sz="9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Rise of Organized Crime</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C62828"/>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Illegal alcohol created enormous profits with relatively low risk.</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Al Capone controlled Chicago operations with an estimated $60 million annual income.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Organized crime bribed police, judges, and politicians.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Gang warfare including the St. Valentine's Day Massacre (1929) demonstrated violence.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Criminal organizations developed national networks and diversified into gambling and other illegal activities.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162</a:t>
            </a:r>
            <a:endParaRPr lang="en-US" sz="9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Bootlegging Methods and Consequences</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C62828"/>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Alcohol was produced through home distillation ("bathtub gin"), stolen and redistilled industrial alcohol, smuggling from Canada and Caribbean, and abuse of medicinal and religious exemptions.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Rumrunners, cars, and trucks distributed illegal alcohol.</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Poisonous industrial alcohol killed thousands.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Widespread bribery undermined law enforcement, and only 5% of illegal alcohol was estimated to be intercepted.</a:t>
            </a:r>
            <a:endParaRPr lang="en-US" sz="1550" dirty="0"/>
          </a:p>
        </p:txBody>
      </p:sp>
      <p:sp>
        <p:nvSpPr>
          <p:cNvPr id="13" name="Shape 11"/>
          <p:cNvSpPr/>
          <p:nvPr/>
        </p:nvSpPr>
        <p:spPr>
          <a:xfrm>
            <a:off x="7552944" y="1746504"/>
            <a:ext cx="4142232" cy="3575304"/>
          </a:xfrm>
          <a:prstGeom prst="rect">
            <a:avLst/>
          </a:prstGeom>
          <a:solidFill>
            <a:srgbClr val="FFFFFF"/>
          </a:solidFill>
          <a:ln w="12700">
            <a:solidFill>
              <a:srgbClr val="DAD3C2"/>
            </a:solidFill>
            <a:prstDash val="solid"/>
          </a:ln>
        </p:spPr>
        <p:txBody>
          <a:bodyPr/>
          <a:lstStyle/>
          <a:p>
            <a:endParaRPr lang="en-US"/>
          </a:p>
        </p:txBody>
      </p:sp>
      <p:pic>
        <p:nvPicPr>
          <p:cNvPr id="14" name="Image 0" descr="unit4-full/img/prohibition-liquor-sewer.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89520" y="1917650"/>
            <a:ext cx="4069080" cy="3233011"/>
          </a:xfrm>
          <a:prstGeom prst="rect">
            <a:avLst/>
          </a:prstGeom>
        </p:spPr>
      </p:pic>
      <p:sp>
        <p:nvSpPr>
          <p:cNvPr id="15" name="Text 12"/>
          <p:cNvSpPr/>
          <p:nvPr/>
        </p:nvSpPr>
        <p:spPr>
          <a:xfrm>
            <a:off x="7589520" y="534009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News photo, c1921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800" dirty="0"/>
          </a:p>
        </p:txBody>
      </p:sp>
      <p:sp>
        <p:nvSpPr>
          <p:cNvPr id="16" name="Text 13"/>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163</a:t>
            </a:r>
            <a:endParaRPr lang="en-US" sz="9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Speakeasies and Social Culture</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C62828"/>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26974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Speakeasies were secret bars in basements and disguised establishments, often requiring passwords for entry.</a:t>
            </a:r>
            <a:endParaRPr lang="en-US" sz="1450" dirty="0"/>
          </a:p>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They featured jazz music, dancing, and diverse clientele mixing social classes and sometimes races.</a:t>
            </a:r>
            <a:endParaRPr lang="en-US" sz="1450" dirty="0"/>
          </a:p>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Women drank publicly in unprecedented numbers.</a:t>
            </a:r>
            <a:endParaRPr lang="en-US" sz="1450" dirty="0"/>
          </a:p>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Speakeasies promoted flapper culture and created modern nightclub atmosphere.</a:t>
            </a:r>
            <a:endParaRPr lang="en-US" sz="1450" dirty="0"/>
          </a:p>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They represented open defiance of Prohibition law.</a:t>
            </a:r>
            <a:endParaRPr lang="en-US" sz="1450" dirty="0"/>
          </a:p>
        </p:txBody>
      </p:sp>
      <p:sp>
        <p:nvSpPr>
          <p:cNvPr id="13" name="Shape 11"/>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txBody>
          <a:bodyPr/>
          <a:lstStyle/>
          <a:p>
            <a:endParaRPr lang="en-US"/>
          </a:p>
        </p:txBody>
      </p:sp>
      <p:sp>
        <p:nvSpPr>
          <p:cNvPr id="14" name="Text 12"/>
          <p:cNvSpPr/>
          <p:nvPr/>
        </p:nvSpPr>
        <p:spPr>
          <a:xfrm>
            <a:off x="868680" y="4846320"/>
            <a:ext cx="5486400" cy="274320"/>
          </a:xfrm>
          <a:prstGeom prst="rect">
            <a:avLst/>
          </a:prstGeom>
          <a:noFill/>
          <a:ln/>
        </p:spPr>
        <p:txBody>
          <a:bodyPr wrap="square" rtlCol="0" anchor="ctr"/>
          <a:lstStyle/>
          <a:p>
            <a:pPr marL="0" indent="0">
              <a:buNone/>
            </a:pPr>
            <a:r>
              <a:rPr lang="en-US" sz="1200" b="1" kern="0" spc="10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5" name="Text 13"/>
          <p:cNvSpPr/>
          <p:nvPr/>
        </p:nvSpPr>
        <p:spPr>
          <a:xfrm>
            <a:off x="868680" y="5120640"/>
            <a:ext cx="10424160" cy="685800"/>
          </a:xfrm>
          <a:prstGeom prst="rect">
            <a:avLst/>
          </a:prstGeom>
          <a:noFill/>
          <a:ln/>
        </p:spPr>
        <p:txBody>
          <a:bodyPr wrap="square" rtlCol="0" anchor="t"/>
          <a:lstStyle/>
          <a:p>
            <a:pPr marL="0" indent="0">
              <a:lnSpc>
                <a:spcPct val="105000"/>
              </a:lnSpc>
              <a:buNone/>
            </a:pPr>
            <a:r>
              <a:rPr lang="en-US" sz="1300" dirty="0">
                <a:solidFill>
                  <a:srgbClr val="1F2430"/>
                </a:solidFill>
                <a:latin typeface="Calibri" pitchFamily="34" charset="0"/>
                <a:ea typeface="Calibri" pitchFamily="34" charset="-122"/>
                <a:cs typeface="Calibri" pitchFamily="34" charset="-120"/>
              </a:rPr>
              <a:t>Tennessee had gone dry years before national Prohibition, and moonshining in the Appalachian hills and hollows of East Tennessee became legendary, feeding both the illegal liquor trade and later the roots of stock-car racing.</a:t>
            </a:r>
            <a:endParaRPr lang="en-US" sz="1300" dirty="0"/>
          </a:p>
        </p:txBody>
      </p:sp>
      <p:sp>
        <p:nvSpPr>
          <p:cNvPr id="16"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164</a:t>
            </a:r>
            <a:endParaRPr lang="en-US" sz="9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End of Prohibition</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C62828"/>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Great Depression made alcohol tax revenue attractive.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Public opinion blamed Prohibition for organized crime.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Obvious enforcement failure undermined the law.</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21st Amendment (1933) repealed Prohibition, returning alcohol regulation to states.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Criminal networks established during Prohibition persisted for decades, and the experiment demonstrated limitations of legislating moral behavior.</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165</a:t>
            </a:r>
            <a:endParaRPr lang="en-US" sz="9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27632"/>
            <a:ext cx="11064240" cy="868680"/>
          </a:xfrm>
          <a:prstGeom prst="rect">
            <a:avLst/>
          </a:prstGeom>
          <a:solidFill>
            <a:srgbClr val="1A2332"/>
          </a:solidFill>
          <a:ln/>
        </p:spPr>
        <p:txBody>
          <a:bodyPr/>
          <a:lstStyle/>
          <a:p>
            <a:endParaRPr lang="en-US"/>
          </a:p>
        </p:txBody>
      </p:sp>
      <p:sp>
        <p:nvSpPr>
          <p:cNvPr id="7" name="Text 5"/>
          <p:cNvSpPr/>
          <p:nvPr/>
        </p:nvSpPr>
        <p:spPr>
          <a:xfrm>
            <a:off x="667512" y="1627632"/>
            <a:ext cx="10826496" cy="63093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Al Capone</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Chicago organized-crime boss</a:t>
            </a:r>
            <a:endParaRPr lang="en-US" sz="1100" dirty="0"/>
          </a:p>
        </p:txBody>
      </p:sp>
      <p:sp>
        <p:nvSpPr>
          <p:cNvPr id="9" name="Shape 7"/>
          <p:cNvSpPr/>
          <p:nvPr/>
        </p:nvSpPr>
        <p:spPr>
          <a:xfrm>
            <a:off x="667512" y="2578608"/>
            <a:ext cx="1724888" cy="2212848"/>
          </a:xfrm>
          <a:prstGeom prst="rect">
            <a:avLst/>
          </a:prstGeom>
          <a:solidFill>
            <a:srgbClr val="FFFFFF"/>
          </a:solidFill>
          <a:ln w="12700">
            <a:solidFill>
              <a:srgbClr val="DAD3C2"/>
            </a:solidFill>
            <a:prstDash val="solid"/>
          </a:ln>
        </p:spPr>
        <p:txBody>
          <a:bodyPr/>
          <a:lstStyle/>
          <a:p>
            <a:endParaRPr lang="en-US"/>
          </a:p>
        </p:txBody>
      </p:sp>
      <p:pic>
        <p:nvPicPr>
          <p:cNvPr id="10" name="Image 0" descr="unit4-full/img/al-capone.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94944" y="2606040"/>
            <a:ext cx="1670024" cy="2157984"/>
          </a:xfrm>
          <a:prstGeom prst="rect">
            <a:avLst/>
          </a:prstGeom>
        </p:spPr>
      </p:pic>
      <p:sp>
        <p:nvSpPr>
          <p:cNvPr id="11" name="Text 8"/>
          <p:cNvSpPr/>
          <p:nvPr/>
        </p:nvSpPr>
        <p:spPr>
          <a:xfrm>
            <a:off x="694944" y="4800600"/>
            <a:ext cx="2172944"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Chicago Bureau (news photo), 1930  </a:t>
            </a:r>
            <a:r>
              <a:rPr lang="en-US" sz="6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Wikimedia Commons (public domain)</a:t>
            </a:r>
            <a:endParaRPr lang="en-US" sz="600" dirty="0"/>
          </a:p>
        </p:txBody>
      </p:sp>
      <p:sp>
        <p:nvSpPr>
          <p:cNvPr id="12" name="Text 9"/>
          <p:cNvSpPr/>
          <p:nvPr/>
        </p:nvSpPr>
        <p:spPr>
          <a:xfrm>
            <a:off x="2547848" y="2606040"/>
            <a:ext cx="8918728"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Built a criminal empire on illegal liquor</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Made millions from bootlegging and speakeasies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Symbolized the violent, unintended costs of Prohibition</a:t>
            </a:r>
            <a:endParaRPr lang="en-US" sz="1300" dirty="0"/>
          </a:p>
        </p:txBody>
      </p:sp>
      <p:sp>
        <p:nvSpPr>
          <p:cNvPr id="13" name="Shape 10"/>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14" name="Text 11"/>
          <p:cNvSpPr/>
          <p:nvPr/>
        </p:nvSpPr>
        <p:spPr>
          <a:xfrm>
            <a:off x="749808" y="5175504"/>
            <a:ext cx="1068019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Use Capone's own interview to show how the criminal justified himself, then have students judge the claim.</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166</a:t>
            </a:r>
            <a:endParaRPr lang="en-US" sz="9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002858"/>
                </a:solidFill>
                <a:latin typeface="Trebuchet MS" pitchFamily="34" charset="0"/>
                <a:ea typeface="Trebuchet MS" pitchFamily="34" charset="-122"/>
                <a:cs typeface="Trebuchet MS" pitchFamily="34" charset="-120"/>
              </a:rPr>
              <a:t>US.37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marL="0" indent="0">
              <a:buNone/>
            </a:pPr>
            <a:r>
              <a:rPr lang="en-US" sz="2500" b="1" dirty="0">
                <a:solidFill>
                  <a:srgbClr val="1A2332"/>
                </a:solidFill>
                <a:latin typeface="Georgia" pitchFamily="34" charset="0"/>
                <a:ea typeface="Georgia" pitchFamily="34" charset="-122"/>
                <a:cs typeface="Georgia" pitchFamily="34" charset="-120"/>
              </a:rPr>
              <a:t>Al Capone Interview</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lstStyle/>
          <a:p>
            <a:endParaRPr lang="en-US"/>
          </a:p>
        </p:txBody>
      </p:sp>
      <p:sp>
        <p:nvSpPr>
          <p:cNvPr id="6" name="Text 4"/>
          <p:cNvSpPr/>
          <p:nvPr/>
        </p:nvSpPr>
        <p:spPr>
          <a:xfrm>
            <a:off x="9418320" y="777240"/>
            <a:ext cx="219456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Argumentation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Al Capone (as quoted in newspaper)  ·  1930</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txBody>
          <a:bodyPr/>
          <a:lstStyle/>
          <a:p>
            <a:endParaRPr lang="en-US"/>
          </a:p>
        </p:txBody>
      </p:sp>
      <p:pic>
        <p:nvPicPr>
          <p:cNvPr id="9" name="Image 0" descr="unit4-full/img/al-capone.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68762" y="1737360"/>
            <a:ext cx="1960155" cy="2532888"/>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marL="0" indent="0" algn="l">
              <a:lnSpc>
                <a:spcPct val="100000"/>
              </a:lnSpc>
              <a:buNone/>
            </a:pPr>
            <a:r>
              <a:rPr lang="en-US" sz="700" i="1" dirty="0">
                <a:solidFill>
                  <a:srgbClr val="5C6470"/>
                </a:solidFill>
                <a:latin typeface="Calibri" pitchFamily="34" charset="0"/>
                <a:ea typeface="Calibri" pitchFamily="34" charset="-122"/>
                <a:cs typeface="Calibri" pitchFamily="34" charset="-120"/>
              </a:rPr>
              <a:t>Chicago Bureau (news photo), 1930  </a:t>
            </a:r>
            <a:r>
              <a:rPr lang="en-US" sz="7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Wikimedia Commons (public domain)</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txBody>
          <a:bodyPr/>
          <a:lstStyle/>
          <a:p>
            <a:endParaRPr lang="en-US"/>
          </a:p>
        </p:txBody>
      </p:sp>
      <p:sp>
        <p:nvSpPr>
          <p:cNvPr id="12" name="Text 9"/>
          <p:cNvSpPr/>
          <p:nvPr/>
        </p:nvSpPr>
        <p:spPr>
          <a:xfrm>
            <a:off x="768096" y="1865376"/>
            <a:ext cx="2761488" cy="438912"/>
          </a:xfrm>
          <a:prstGeom prst="rect">
            <a:avLst/>
          </a:prstGeom>
          <a:noFill/>
          <a:ln/>
        </p:spPr>
        <p:txBody>
          <a:bodyPr wrap="square" rtlCol="0" anchor="ctr"/>
          <a:lstStyle/>
          <a:p>
            <a:pPr marL="0" indent="0">
              <a:lnSpc>
                <a:spcPct val="95000"/>
              </a:lnSpc>
              <a:buNone/>
            </a:pPr>
            <a:r>
              <a:rPr lang="en-US" sz="950" b="1" kern="0" spc="150" dirty="0">
                <a:solidFill>
                  <a:srgbClr val="1A2332"/>
                </a:solidFill>
                <a:latin typeface="Trebuchet MS" pitchFamily="34" charset="0"/>
                <a:ea typeface="Trebuchet MS" pitchFamily="34" charset="-122"/>
                <a:cs typeface="Trebuchet MS" pitchFamily="34" charset="-120"/>
              </a:rPr>
              <a:t>ZOOM IN  </a:t>
            </a: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lstStyle/>
          <a:p>
            <a:endParaRPr lang="en-US"/>
          </a:p>
        </p:txBody>
      </p:sp>
      <p:sp>
        <p:nvSpPr>
          <p:cNvPr id="14" name="Shape 11"/>
          <p:cNvSpPr/>
          <p:nvPr/>
        </p:nvSpPr>
        <p:spPr>
          <a:xfrm>
            <a:off x="3931920" y="1737360"/>
            <a:ext cx="91440" cy="3246120"/>
          </a:xfrm>
          <a:prstGeom prst="rect">
            <a:avLst/>
          </a:prstGeom>
          <a:solidFill>
            <a:srgbClr val="C9A84C"/>
          </a:solidFill>
          <a:ln/>
        </p:spPr>
        <p:txBody>
          <a:bodyPr/>
          <a:lstStyle/>
          <a:p>
            <a:endParaRPr lang="en-US"/>
          </a:p>
        </p:txBody>
      </p:sp>
      <p:sp>
        <p:nvSpPr>
          <p:cNvPr id="15" name="Text 12"/>
          <p:cNvSpPr/>
          <p:nvPr/>
        </p:nvSpPr>
        <p:spPr>
          <a:xfrm>
            <a:off x="4160520" y="1920240"/>
            <a:ext cx="3200400" cy="2880360"/>
          </a:xfrm>
          <a:prstGeom prst="rect">
            <a:avLst/>
          </a:prstGeom>
          <a:noFill/>
          <a:ln/>
        </p:spPr>
        <p:txBody>
          <a:bodyPr wrap="square" rtlCol="0" anchor="t"/>
          <a:lstStyle/>
          <a:p>
            <a:pPr marL="0" indent="0">
              <a:lnSpc>
                <a:spcPct val="112000"/>
              </a:lnSpc>
              <a:buNone/>
            </a:pPr>
            <a:r>
              <a:rPr lang="en-US" sz="1150" i="1" dirty="0">
                <a:solidFill>
                  <a:srgbClr val="1F2430"/>
                </a:solidFill>
                <a:latin typeface="Georgia" pitchFamily="34" charset="0"/>
                <a:ea typeface="Georgia" pitchFamily="34" charset="-122"/>
                <a:cs typeface="Georgia" pitchFamily="34" charset="-120"/>
              </a:rPr>
              <a:t>"I make my money by supplying a public demand. If I break the law, my customers, who number hundreds of the best people in Chicago, are as guilty as I am. The only difference between us is that I sell and they buy. Everybody calls me a racketeer. I call myself a businessman. When I sell liquor, it's bootlegging. When my patrons serve it on silver trays on Lake Shore Drive, it's hospitality."</a:t>
            </a:r>
            <a:endParaRPr lang="en-US" sz="1150" dirty="0"/>
          </a:p>
        </p:txBody>
      </p:sp>
      <p:sp>
        <p:nvSpPr>
          <p:cNvPr id="16" name="Shape 13"/>
          <p:cNvSpPr/>
          <p:nvPr/>
        </p:nvSpPr>
        <p:spPr>
          <a:xfrm>
            <a:off x="7589520" y="1737360"/>
            <a:ext cx="4023360" cy="2011680"/>
          </a:xfrm>
          <a:prstGeom prst="roundRect">
            <a:avLst>
              <a:gd name="adj" fmla="val 3636"/>
            </a:avLst>
          </a:prstGeom>
          <a:solidFill>
            <a:srgbClr val="1A2332"/>
          </a:solidFill>
          <a:ln/>
        </p:spPr>
        <p:txBody>
          <a:bodyPr/>
          <a:lstStyle/>
          <a:p>
            <a:endParaRPr lang="en-US"/>
          </a:p>
        </p:txBody>
      </p:sp>
      <p:sp>
        <p:nvSpPr>
          <p:cNvPr id="17" name="Text 14"/>
          <p:cNvSpPr/>
          <p:nvPr/>
        </p:nvSpPr>
        <p:spPr>
          <a:xfrm>
            <a:off x="7818120" y="1856232"/>
            <a:ext cx="3657600" cy="274320"/>
          </a:xfrm>
          <a:prstGeom prst="rect">
            <a:avLst/>
          </a:prstGeom>
          <a:noFill/>
          <a:ln/>
        </p:spPr>
        <p:txBody>
          <a:bodyPr wrap="square" rtlCol="0" anchor="ctr"/>
          <a:lstStyle/>
          <a:p>
            <a:pPr marL="0" indent="0">
              <a:buNone/>
            </a:pPr>
            <a:r>
              <a:rPr lang="en-US" sz="1100" b="1" kern="0" spc="20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marL="0" indent="0">
              <a:lnSpc>
                <a:spcPct val="96000"/>
              </a:lnSpc>
              <a:buNone/>
            </a:pPr>
            <a:r>
              <a:rPr lang="en-US" sz="780" dirty="0">
                <a:solidFill>
                  <a:srgbClr val="FFFFFF"/>
                </a:solidFill>
                <a:latin typeface="Calibri" pitchFamily="34" charset="0"/>
                <a:ea typeface="Calibri" pitchFamily="34" charset="-122"/>
                <a:cs typeface="Calibri" pitchFamily="34" charset="-120"/>
              </a:rPr>
              <a:t>Al Capone was the most famous American criminal of the 20th century, building a Chicago bootlegging empire worth an estimated $60 million per year during Prohibition. The son of Italian immigrants from Brooklyn, Capone rose through organized crime to control Chicago's illegal liquor trade, gambling, and prostitution, corrupting hundreds of police officers and politicians. He was a public celebrity who gave interviews and attended baseball games, projecting an image of a businessman providing a service the public wanted. The federal government finally convicted him on tax evasion charges in 1931 — they couldn't prove the murders and bootlegging — and he spent eight years in prison. He became the enduring symbol of Prohibition's failure.</a:t>
            </a:r>
            <a:endParaRPr lang="en-US" sz="780" dirty="0"/>
          </a:p>
        </p:txBody>
      </p:sp>
      <p:sp>
        <p:nvSpPr>
          <p:cNvPr id="19" name="Shape 16"/>
          <p:cNvSpPr/>
          <p:nvPr/>
        </p:nvSpPr>
        <p:spPr>
          <a:xfrm>
            <a:off x="7589520" y="3931920"/>
            <a:ext cx="4023360" cy="1051560"/>
          </a:xfrm>
          <a:prstGeom prst="roundRect">
            <a:avLst>
              <a:gd name="adj" fmla="val 6957"/>
            </a:avLst>
          </a:prstGeom>
          <a:solidFill>
            <a:srgbClr val="C9A84C"/>
          </a:solidFill>
          <a:ln/>
        </p:spPr>
        <p:txBody>
          <a:bodyPr/>
          <a:lstStyle/>
          <a:p>
            <a:endParaRPr lang="en-US"/>
          </a:p>
        </p:txBody>
      </p:sp>
      <p:sp>
        <p:nvSpPr>
          <p:cNvPr id="20" name="Text 17"/>
          <p:cNvSpPr/>
          <p:nvPr/>
        </p:nvSpPr>
        <p:spPr>
          <a:xfrm>
            <a:off x="7818120" y="4050792"/>
            <a:ext cx="3657600" cy="274320"/>
          </a:xfrm>
          <a:prstGeom prst="rect">
            <a:avLst/>
          </a:prstGeom>
          <a:noFill/>
          <a:ln/>
        </p:spPr>
        <p:txBody>
          <a:bodyPr wrap="square" rtlCol="0" anchor="ctr"/>
          <a:lstStyle/>
          <a:p>
            <a:pPr marL="0" indent="0">
              <a:buNone/>
            </a:pPr>
            <a:r>
              <a:rPr lang="en-US" sz="1100" b="1" kern="0" spc="20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marL="0" indent="0">
              <a:lnSpc>
                <a:spcPct val="103000"/>
              </a:lnSpc>
              <a:buNone/>
            </a:pPr>
            <a:r>
              <a:rPr lang="en-US" sz="1250" b="1" dirty="0">
                <a:solidFill>
                  <a:srgbClr val="1A2332"/>
                </a:solidFill>
                <a:latin typeface="Calibri" pitchFamily="34" charset="0"/>
                <a:ea typeface="Calibri" pitchFamily="34" charset="-122"/>
                <a:cs typeface="Calibri" pitchFamily="34" charset="-120"/>
              </a:rPr>
              <a:t>How did Al Capone justify his bootlegging activities?</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lstStyle/>
          <a:p>
            <a:endParaRPr lang="en-US"/>
          </a:p>
        </p:txBody>
      </p:sp>
      <p:sp>
        <p:nvSpPr>
          <p:cNvPr id="23" name="Shape 20"/>
          <p:cNvSpPr/>
          <p:nvPr/>
        </p:nvSpPr>
        <p:spPr>
          <a:xfrm>
            <a:off x="548640" y="5120640"/>
            <a:ext cx="2423160" cy="841248"/>
          </a:xfrm>
          <a:prstGeom prst="rect">
            <a:avLst/>
          </a:prstGeom>
          <a:solidFill>
            <a:srgbClr val="002858"/>
          </a:solidFill>
          <a:ln/>
        </p:spPr>
        <p:txBody>
          <a:bodyPr/>
          <a:lstStyle/>
          <a:p>
            <a:endParaRPr lang="en-US"/>
          </a:p>
        </p:txBody>
      </p:sp>
      <p:sp>
        <p:nvSpPr>
          <p:cNvPr id="24" name="Text 21"/>
          <p:cNvSpPr/>
          <p:nvPr/>
        </p:nvSpPr>
        <p:spPr>
          <a:xfrm>
            <a:off x="658368" y="5239512"/>
            <a:ext cx="2194560" cy="274320"/>
          </a:xfrm>
          <a:prstGeom prst="rect">
            <a:avLst/>
          </a:prstGeom>
          <a:noFill/>
          <a:ln/>
        </p:spPr>
        <p:txBody>
          <a:bodyPr wrap="square"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marL="0" indent="0">
              <a:buNone/>
            </a:pPr>
            <a:r>
              <a:rPr lang="en-US" sz="1250" b="1" kern="0" spc="10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marL="0" indent="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Al Capone (as quoted in newspaper)</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1930</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marL="0" indent="0" algn="l">
              <a:buNone/>
            </a:pPr>
            <a:r>
              <a:rPr lang="en-US" sz="900" dirty="0">
                <a:solidFill>
                  <a:srgbClr val="5C6470"/>
                </a:solidFill>
                <a:latin typeface="Calibri" pitchFamily="34" charset="0"/>
                <a:ea typeface="Calibri" pitchFamily="34" charset="-122"/>
                <a:cs typeface="Calibri" pitchFamily="34" charset="-120"/>
              </a:rPr>
              <a:t>Source: </a:t>
            </a:r>
            <a:r>
              <a:rPr lang="en-US" sz="900" i="1" u="sng" dirty="0">
                <a:solidFill>
                  <a:srgbClr val="00285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167</a:t>
            </a:r>
            <a:endParaRPr lang="en-US" sz="9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45920"/>
            <a:ext cx="5486400" cy="676656"/>
          </a:xfrm>
          <a:prstGeom prst="rect">
            <a:avLst/>
          </a:prstGeom>
          <a:solidFill>
            <a:srgbClr val="1A2332"/>
          </a:solidFill>
          <a:ln/>
        </p:spPr>
        <p:txBody>
          <a:bodyPr/>
          <a:lstStyle/>
          <a:p>
            <a:endParaRPr lang="en-US"/>
          </a:p>
        </p:txBody>
      </p:sp>
      <p:sp>
        <p:nvSpPr>
          <p:cNvPr id="7" name="Text 5"/>
          <p:cNvSpPr/>
          <p:nvPr/>
        </p:nvSpPr>
        <p:spPr>
          <a:xfrm>
            <a:off x="685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Prohibition</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proh-uh-BISH-un</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Prohibición</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1" name="Text 9"/>
          <p:cNvSpPr/>
          <p:nvPr/>
        </p:nvSpPr>
        <p:spPr>
          <a:xfrm>
            <a:off x="576072" y="2395728"/>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P</a:t>
            </a:r>
            <a:endParaRPr lang="en-US" sz="1500" dirty="0"/>
          </a:p>
        </p:txBody>
      </p:sp>
      <p:sp>
        <p:nvSpPr>
          <p:cNvPr id="12" name="Text 10"/>
          <p:cNvSpPr/>
          <p:nvPr/>
        </p:nvSpPr>
        <p:spPr>
          <a:xfrm>
            <a:off x="1225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nationwide constitutional ban on the manufacture, sale, and transport of alcoholic beverages, in effect from 1920 to 1933 under the 18th Amendment.</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14" name="Shape 12"/>
          <p:cNvSpPr/>
          <p:nvPr/>
        </p:nvSpPr>
        <p:spPr>
          <a:xfrm>
            <a:off x="6263640" y="1645920"/>
            <a:ext cx="5486400" cy="676656"/>
          </a:xfrm>
          <a:prstGeom prst="rect">
            <a:avLst/>
          </a:prstGeom>
          <a:solidFill>
            <a:srgbClr val="1A2332"/>
          </a:solidFill>
          <a:ln/>
        </p:spPr>
        <p:txBody>
          <a:bodyPr/>
          <a:lstStyle/>
          <a:p>
            <a:endParaRPr lang="en-US"/>
          </a:p>
        </p:txBody>
      </p:sp>
      <p:sp>
        <p:nvSpPr>
          <p:cNvPr id="15" name="Text 13"/>
          <p:cNvSpPr/>
          <p:nvPr/>
        </p:nvSpPr>
        <p:spPr>
          <a:xfrm>
            <a:off x="6400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Organized Crime</a:t>
            </a:r>
            <a:endParaRPr lang="en-US" sz="13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Crimen Organizado</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8" name="Text 16"/>
          <p:cNvSpPr/>
          <p:nvPr/>
        </p:nvSpPr>
        <p:spPr>
          <a:xfrm>
            <a:off x="6291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OC</a:t>
            </a:r>
            <a:endParaRPr lang="en-US" sz="1300" dirty="0"/>
          </a:p>
        </p:txBody>
      </p:sp>
      <p:sp>
        <p:nvSpPr>
          <p:cNvPr id="19" name="Text 17"/>
          <p:cNvSpPr/>
          <p:nvPr/>
        </p:nvSpPr>
        <p:spPr>
          <a:xfrm>
            <a:off x="6940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Structured criminal enterprises that expanded dramatically during Prohibition by controlling the illegal liquor trade, led by figures such as Al Capone in Chicago.</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1" name="Shape 19"/>
          <p:cNvSpPr/>
          <p:nvPr/>
        </p:nvSpPr>
        <p:spPr>
          <a:xfrm>
            <a:off x="548640" y="3072384"/>
            <a:ext cx="5486400" cy="676656"/>
          </a:xfrm>
          <a:prstGeom prst="rect">
            <a:avLst/>
          </a:prstGeom>
          <a:solidFill>
            <a:srgbClr val="1A2332"/>
          </a:solidFill>
          <a:ln/>
        </p:spPr>
        <p:txBody>
          <a:bodyPr/>
          <a:lstStyle/>
          <a:p>
            <a:endParaRPr lang="en-US"/>
          </a:p>
        </p:txBody>
      </p:sp>
      <p:sp>
        <p:nvSpPr>
          <p:cNvPr id="22" name="Text 20"/>
          <p:cNvSpPr/>
          <p:nvPr/>
        </p:nvSpPr>
        <p:spPr>
          <a:xfrm>
            <a:off x="685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Bootlegging</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BOOT-leg-ing</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Contrabando de Alcohol</a:t>
            </a:r>
            <a:endParaRPr lang="en-US" sz="1000" dirty="0"/>
          </a:p>
        </p:txBody>
      </p:sp>
      <p:sp>
        <p:nvSpPr>
          <p:cNvPr id="25" name="Shape 23"/>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26" name="Text 24"/>
          <p:cNvSpPr/>
          <p:nvPr/>
        </p:nvSpPr>
        <p:spPr>
          <a:xfrm>
            <a:off x="576072" y="3822192"/>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B</a:t>
            </a:r>
            <a:endParaRPr lang="en-US" sz="1500" dirty="0"/>
          </a:p>
        </p:txBody>
      </p:sp>
      <p:sp>
        <p:nvSpPr>
          <p:cNvPr id="27" name="Text 25"/>
          <p:cNvSpPr/>
          <p:nvPr/>
        </p:nvSpPr>
        <p:spPr>
          <a:xfrm>
            <a:off x="1225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illegal production, smuggling, and distribution of alcohol during Prohibition.</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9" name="Shape 27"/>
          <p:cNvSpPr/>
          <p:nvPr/>
        </p:nvSpPr>
        <p:spPr>
          <a:xfrm>
            <a:off x="6263640" y="3072384"/>
            <a:ext cx="5486400" cy="676656"/>
          </a:xfrm>
          <a:prstGeom prst="rect">
            <a:avLst/>
          </a:prstGeom>
          <a:solidFill>
            <a:srgbClr val="1A2332"/>
          </a:solidFill>
          <a:ln/>
        </p:spPr>
        <p:txBody>
          <a:bodyPr/>
          <a:lstStyle/>
          <a:p>
            <a:endParaRPr lang="en-US"/>
          </a:p>
        </p:txBody>
      </p:sp>
      <p:sp>
        <p:nvSpPr>
          <p:cNvPr id="30" name="Text 28"/>
          <p:cNvSpPr/>
          <p:nvPr/>
        </p:nvSpPr>
        <p:spPr>
          <a:xfrm>
            <a:off x="6400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Speakeasy</a:t>
            </a:r>
            <a:endParaRPr lang="en-US" sz="1350" dirty="0"/>
          </a:p>
        </p:txBody>
      </p:sp>
      <p:sp>
        <p:nvSpPr>
          <p:cNvPr id="31" name="Text 29"/>
          <p:cNvSpPr/>
          <p:nvPr/>
        </p:nvSpPr>
        <p:spPr>
          <a:xfrm>
            <a:off x="6400800" y="3438144"/>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SPEEK-ee-zee</a:t>
            </a:r>
            <a:endParaRPr lang="en-US" sz="850" dirty="0"/>
          </a:p>
        </p:txBody>
      </p:sp>
      <p:sp>
        <p:nvSpPr>
          <p:cNvPr id="32" name="Text 30"/>
          <p:cNvSpPr/>
          <p:nvPr/>
        </p:nvSpPr>
        <p:spPr>
          <a:xfrm>
            <a:off x="9418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Bar Clandestino</a:t>
            </a:r>
            <a:endParaRPr lang="en-US" sz="1000" dirty="0"/>
          </a:p>
        </p:txBody>
      </p:sp>
      <p:sp>
        <p:nvSpPr>
          <p:cNvPr id="33" name="Shape 31"/>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4" name="Text 32"/>
          <p:cNvSpPr/>
          <p:nvPr/>
        </p:nvSpPr>
        <p:spPr>
          <a:xfrm>
            <a:off x="6291072" y="3822192"/>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S</a:t>
            </a:r>
            <a:endParaRPr lang="en-US" sz="1500" dirty="0"/>
          </a:p>
        </p:txBody>
      </p:sp>
      <p:sp>
        <p:nvSpPr>
          <p:cNvPr id="35" name="Text 33"/>
          <p:cNvSpPr/>
          <p:nvPr/>
        </p:nvSpPr>
        <p:spPr>
          <a:xfrm>
            <a:off x="6940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An illicit establishment that sold alcoholic beverages during Prohibition, often hidden behind ordinary storefronts.</a:t>
            </a:r>
            <a:endParaRPr lang="en-US" sz="1100" dirty="0"/>
          </a:p>
        </p:txBody>
      </p:sp>
      <p:sp>
        <p:nvSpPr>
          <p:cNvPr id="36" name="Shape 34"/>
          <p:cNvSpPr/>
          <p:nvPr/>
        </p:nvSpPr>
        <p:spPr>
          <a:xfrm>
            <a:off x="548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37" name="Shape 35"/>
          <p:cNvSpPr/>
          <p:nvPr/>
        </p:nvSpPr>
        <p:spPr>
          <a:xfrm>
            <a:off x="548640" y="4498848"/>
            <a:ext cx="5486400" cy="676656"/>
          </a:xfrm>
          <a:prstGeom prst="rect">
            <a:avLst/>
          </a:prstGeom>
          <a:solidFill>
            <a:srgbClr val="1A2332"/>
          </a:solidFill>
          <a:ln/>
        </p:spPr>
        <p:txBody>
          <a:bodyPr/>
          <a:lstStyle/>
          <a:p>
            <a:endParaRPr lang="en-US"/>
          </a:p>
        </p:txBody>
      </p:sp>
      <p:sp>
        <p:nvSpPr>
          <p:cNvPr id="38" name="Text 36"/>
          <p:cNvSpPr/>
          <p:nvPr/>
        </p:nvSpPr>
        <p:spPr>
          <a:xfrm>
            <a:off x="685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First Red Scare</a:t>
            </a:r>
            <a:endParaRPr lang="en-US" sz="1350" dirty="0"/>
          </a:p>
        </p:txBody>
      </p:sp>
      <p:sp>
        <p:nvSpPr>
          <p:cNvPr id="39" name="Text 37"/>
          <p:cNvSpPr/>
          <p:nvPr/>
        </p:nvSpPr>
        <p:spPr>
          <a:xfrm>
            <a:off x="3703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Primer Susto Rojo</a:t>
            </a:r>
            <a:endParaRPr lang="en-US" sz="1000" dirty="0"/>
          </a:p>
        </p:txBody>
      </p:sp>
      <p:sp>
        <p:nvSpPr>
          <p:cNvPr id="40" name="Shape 38"/>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1" name="Text 39"/>
          <p:cNvSpPr/>
          <p:nvPr/>
        </p:nvSpPr>
        <p:spPr>
          <a:xfrm>
            <a:off x="576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FR</a:t>
            </a:r>
            <a:endParaRPr lang="en-US" sz="1300" dirty="0"/>
          </a:p>
        </p:txBody>
      </p:sp>
      <p:sp>
        <p:nvSpPr>
          <p:cNvPr id="42" name="Text 40"/>
          <p:cNvSpPr/>
          <p:nvPr/>
        </p:nvSpPr>
        <p:spPr>
          <a:xfrm>
            <a:off x="1225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period of intense fear of communism and radical political activity following World War I (1919-1920), leading to deportations, arrests, and violations of civil liberties.</a:t>
            </a:r>
            <a:endParaRPr lang="en-US" sz="1100" dirty="0"/>
          </a:p>
        </p:txBody>
      </p:sp>
      <p:sp>
        <p:nvSpPr>
          <p:cNvPr id="43" name="Shape 41"/>
          <p:cNvSpPr/>
          <p:nvPr/>
        </p:nvSpPr>
        <p:spPr>
          <a:xfrm>
            <a:off x="6263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44" name="Shape 42"/>
          <p:cNvSpPr/>
          <p:nvPr/>
        </p:nvSpPr>
        <p:spPr>
          <a:xfrm>
            <a:off x="6263640" y="4498848"/>
            <a:ext cx="5486400" cy="676656"/>
          </a:xfrm>
          <a:prstGeom prst="rect">
            <a:avLst/>
          </a:prstGeom>
          <a:solidFill>
            <a:srgbClr val="1A2332"/>
          </a:solidFill>
          <a:ln/>
        </p:spPr>
        <p:txBody>
          <a:bodyPr/>
          <a:lstStyle/>
          <a:p>
            <a:endParaRPr lang="en-US"/>
          </a:p>
        </p:txBody>
      </p:sp>
      <p:sp>
        <p:nvSpPr>
          <p:cNvPr id="45" name="Text 43"/>
          <p:cNvSpPr/>
          <p:nvPr/>
        </p:nvSpPr>
        <p:spPr>
          <a:xfrm>
            <a:off x="6400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Consumerism</a:t>
            </a:r>
            <a:endParaRPr lang="en-US" sz="1350" dirty="0"/>
          </a:p>
        </p:txBody>
      </p:sp>
      <p:sp>
        <p:nvSpPr>
          <p:cNvPr id="46" name="Text 44"/>
          <p:cNvSpPr/>
          <p:nvPr/>
        </p:nvSpPr>
        <p:spPr>
          <a:xfrm>
            <a:off x="6400800" y="4864608"/>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kun-SOO-mer-iz-um</a:t>
            </a:r>
            <a:endParaRPr lang="en-US" sz="850" dirty="0"/>
          </a:p>
        </p:txBody>
      </p:sp>
      <p:sp>
        <p:nvSpPr>
          <p:cNvPr id="47" name="Text 45"/>
          <p:cNvSpPr/>
          <p:nvPr/>
        </p:nvSpPr>
        <p:spPr>
          <a:xfrm>
            <a:off x="9418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Consumismo</a:t>
            </a:r>
            <a:endParaRPr lang="en-US" sz="1000" dirty="0"/>
          </a:p>
        </p:txBody>
      </p:sp>
      <p:sp>
        <p:nvSpPr>
          <p:cNvPr id="48" name="Shape 46"/>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9" name="Text 47"/>
          <p:cNvSpPr/>
          <p:nvPr/>
        </p:nvSpPr>
        <p:spPr>
          <a:xfrm>
            <a:off x="6291072" y="5248656"/>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C</a:t>
            </a:r>
            <a:endParaRPr lang="en-US" sz="1500" dirty="0"/>
          </a:p>
        </p:txBody>
      </p:sp>
      <p:sp>
        <p:nvSpPr>
          <p:cNvPr id="50" name="Text 48"/>
          <p:cNvSpPr/>
          <p:nvPr/>
        </p:nvSpPr>
        <p:spPr>
          <a:xfrm>
            <a:off x="6940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culture of increased purchasing of consumer goods, driven in the 1920s by mass production, national advertising, and installment credit.</a:t>
            </a:r>
            <a:endParaRPr lang="en-US" sz="1100" dirty="0"/>
          </a:p>
        </p:txBody>
      </p:sp>
      <p:sp>
        <p:nvSpPr>
          <p:cNvPr id="51" name="Text 49"/>
          <p:cNvSpPr/>
          <p:nvPr/>
        </p:nvSpPr>
        <p:spPr>
          <a:xfrm>
            <a:off x="548640" y="5897880"/>
            <a:ext cx="11064240" cy="320040"/>
          </a:xfrm>
          <a:prstGeom prst="rect">
            <a:avLst/>
          </a:prstGeom>
          <a:noFill/>
          <a:ln/>
        </p:spPr>
        <p:txBody>
          <a:bodyPr wrap="square" rtlCol="0" anchor="ctr"/>
          <a:lstStyle/>
          <a:p>
            <a:pPr marL="0" indent="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2" name="Text 5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3" name="Text 5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168</a:t>
            </a:r>
            <a:endParaRPr lang="en-US" sz="9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marL="0" indent="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lstStyle/>
          <a:p>
            <a:endParaRPr lang="en-US"/>
          </a:p>
        </p:txBody>
      </p:sp>
      <p:sp>
        <p:nvSpPr>
          <p:cNvPr id="6" name="Text 4"/>
          <p:cNvSpPr/>
          <p:nvPr/>
        </p:nvSpPr>
        <p:spPr>
          <a:xfrm>
            <a:off x="8869680" y="822960"/>
            <a:ext cx="274320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Analyze unintended consequences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640080"/>
          </a:xfrm>
          <a:prstGeom prst="rect">
            <a:avLst/>
          </a:prstGeom>
          <a:noFill/>
          <a:ln/>
        </p:spPr>
        <p:txBody>
          <a:bodyPr wrap="square" rtlCol="0" anchor="ctr"/>
          <a:lstStyle/>
          <a:p>
            <a:pPr marL="0" indent="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r>
              <a:rPr lang="en-US" sz="1500" dirty="0">
                <a:solidFill>
                  <a:srgbClr val="FFFFFF"/>
                </a:solidFill>
                <a:latin typeface="Calibri" pitchFamily="34" charset="0"/>
                <a:ea typeface="Calibri" pitchFamily="34" charset="-122"/>
                <a:cs typeface="Calibri" pitchFamily="34" charset="-120"/>
              </a:rPr>
              <a:t>Why did a law meant to reduce vice increase crime?</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lstStyle/>
          <a:p>
            <a:endParaRPr lang="en-US"/>
          </a:p>
        </p:txBody>
      </p:sp>
      <p:sp>
        <p:nvSpPr>
          <p:cNvPr id="10" name="Text 8"/>
          <p:cNvSpPr/>
          <p:nvPr/>
        </p:nvSpPr>
        <p:spPr>
          <a:xfrm>
            <a:off x="822960" y="2724912"/>
            <a:ext cx="10058400" cy="292608"/>
          </a:xfrm>
          <a:prstGeom prst="rect">
            <a:avLst/>
          </a:prstGeom>
          <a:noFill/>
          <a:ln/>
        </p:spPr>
        <p:txBody>
          <a:bodyPr wrap="square" rtlCol="0" anchor="ctr"/>
          <a:lstStyle/>
          <a:p>
            <a:pPr marL="0" indent="0">
              <a:buNone/>
            </a:pPr>
            <a:r>
              <a:rPr lang="en-US" sz="1100" b="1" kern="0" spc="10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marL="0" indent="0">
              <a:lnSpc>
                <a:spcPct val="106000"/>
              </a:lnSpc>
              <a:buNone/>
            </a:pPr>
            <a:r>
              <a:rPr lang="en-US" sz="1450" b="1" dirty="0">
                <a:solidFill>
                  <a:srgbClr val="1A2332"/>
                </a:solidFill>
                <a:latin typeface="Calibri" pitchFamily="34" charset="0"/>
                <a:ea typeface="Calibri" pitchFamily="34" charset="-122"/>
                <a:cs typeface="Calibri" pitchFamily="34" charset="-120"/>
              </a:rPr>
              <a:t>Banning liquor did not end demand; it moved supply to criminals like Capone, who got rich on bootlegging and speakeasies.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lstStyle/>
          <a:p>
            <a:endParaRPr lang="en-US"/>
          </a:p>
        </p:txBody>
      </p:sp>
      <p:sp>
        <p:nvSpPr>
          <p:cNvPr id="13" name="Text 11"/>
          <p:cNvSpPr/>
          <p:nvPr/>
        </p:nvSpPr>
        <p:spPr>
          <a:xfrm>
            <a:off x="822960" y="4407408"/>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marL="0" indent="0">
              <a:lnSpc>
                <a:spcPct val="106000"/>
              </a:lnSpc>
              <a:buNone/>
            </a:pPr>
            <a:r>
              <a:rPr lang="en-US" sz="1300" i="1" dirty="0">
                <a:solidFill>
                  <a:srgbClr val="1F2430"/>
                </a:solidFill>
                <a:latin typeface="Calibri" pitchFamily="34" charset="0"/>
                <a:ea typeface="Calibri" pitchFamily="34" charset="-122"/>
                <a:cs typeface="Calibri" pitchFamily="34" charset="-120"/>
              </a:rPr>
              <a:t>Match the intended effect to its actual, opposite result.</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marL="0" indent="0">
              <a:buNone/>
            </a:pPr>
            <a:r>
              <a:rPr lang="en-US" sz="1200" b="1" dirty="0">
                <a:solidFill>
                  <a:srgbClr val="1A2332"/>
                </a:solidFill>
                <a:latin typeface="Calibri" pitchFamily="34" charset="0"/>
                <a:ea typeface="Calibri" pitchFamily="34" charset="-122"/>
                <a:cs typeface="Calibri" pitchFamily="34" charset="-120"/>
              </a:rPr>
              <a:t>→ Now you try:  </a:t>
            </a:r>
            <a:r>
              <a:rPr lang="en-US" sz="1200" i="1" dirty="0">
                <a:solidFill>
                  <a:srgbClr val="002858"/>
                </a:solidFill>
                <a:latin typeface="Calibri" pitchFamily="34" charset="0"/>
                <a:ea typeface="Calibri" pitchFamily="34" charset="-122"/>
                <a:cs typeface="Calibri" pitchFamily="34" charset="-120"/>
              </a:rPr>
              <a:t>Explain to a partner why Prohibition was eventually repealed.</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169</a:t>
            </a:r>
            <a:endParaRPr lang="en-US" sz="9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marL="0" indent="0">
              <a:buNone/>
            </a:pPr>
            <a:r>
              <a:rPr lang="en-US" sz="2400" b="1" dirty="0">
                <a:solidFill>
                  <a:srgbClr val="1A2332"/>
                </a:solidFill>
                <a:latin typeface="Georgia" pitchFamily="34" charset="0"/>
                <a:ea typeface="Georgia" pitchFamily="34" charset="-122"/>
                <a:cs typeface="Georgia" pitchFamily="34" charset="-120"/>
              </a:rPr>
              <a:t>The Great Experiment — Why Prohibition Backfired</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txBody>
          <a:bodyPr/>
          <a:lstStyle/>
          <a:p>
            <a:endParaRPr lang="en-US"/>
          </a:p>
        </p:txBody>
      </p:sp>
      <p:sp>
        <p:nvSpPr>
          <p:cNvPr id="6" name="Text 4"/>
          <p:cNvSpPr/>
          <p:nvPr/>
        </p:nvSpPr>
        <p:spPr>
          <a:xfrm>
            <a:off x="548640" y="1591056"/>
            <a:ext cx="694944"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txBody>
          <a:bodyPr/>
          <a:lstStyle/>
          <a:p>
            <a:endParaRPr lang="en-US"/>
          </a:p>
        </p:txBody>
      </p:sp>
      <p:sp>
        <p:nvSpPr>
          <p:cNvPr id="8" name="Text 6"/>
          <p:cNvSpPr/>
          <p:nvPr/>
        </p:nvSpPr>
        <p:spPr>
          <a:xfrm>
            <a:off x="1408176" y="1591056"/>
            <a:ext cx="779069"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lstStyle/>
          <a:p>
            <a:endParaRPr lang="en-US"/>
          </a:p>
        </p:txBody>
      </p:sp>
      <p:sp>
        <p:nvSpPr>
          <p:cNvPr id="10" name="Text 8"/>
          <p:cNvSpPr/>
          <p:nvPr/>
        </p:nvSpPr>
        <p:spPr>
          <a:xfrm>
            <a:off x="822960" y="2194560"/>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marL="0" indent="0">
              <a:lnSpc>
                <a:spcPct val="112000"/>
              </a:lnSpc>
              <a:buNone/>
            </a:pPr>
            <a:r>
              <a:rPr lang="en-US" sz="1350" dirty="0">
                <a:solidFill>
                  <a:srgbClr val="1F2430"/>
                </a:solidFill>
                <a:latin typeface="Calibri" pitchFamily="34" charset="0"/>
                <a:ea typeface="Calibri" pitchFamily="34" charset="-122"/>
                <a:cs typeface="Calibri" pitchFamily="34" charset="-120"/>
              </a:rPr>
              <a:t>Read the 18th Amendment text and the Al Capone interview. Create a cause-and-effect chain: start with the goals of Prohibition (why reformers wanted it), then trace the unintended effects (organized crime, bootlegging, speakeasies, disrespect for the law), and end with repeal in 1933. Include at least four links. Finish with a one-sentence claim on whether Prohibition was a well-meaning reform undone by human nature or a doomed overreach.</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lstStyle/>
          <a:p>
            <a:endParaRPr lang="en-US"/>
          </a:p>
        </p:txBody>
      </p:sp>
      <p:pic>
        <p:nvPicPr>
          <p:cNvPr id="13" name="Image 0" descr="unit4-full/img/prohibition-liquor-sewer.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501964" y="2057400"/>
            <a:ext cx="2244191"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marL="0" indent="0" algn="l">
              <a:lnSpc>
                <a:spcPct val="100000"/>
              </a:lnSpc>
              <a:buNone/>
            </a:pPr>
            <a:r>
              <a:rPr lang="en-US" sz="750" i="1" dirty="0">
                <a:solidFill>
                  <a:srgbClr val="5C6470"/>
                </a:solidFill>
                <a:latin typeface="Calibri" pitchFamily="34" charset="0"/>
                <a:ea typeface="Calibri" pitchFamily="34" charset="-122"/>
                <a:cs typeface="Calibri" pitchFamily="34" charset="-120"/>
              </a:rPr>
              <a:t>News photo, c1921  </a:t>
            </a:r>
            <a:r>
              <a:rPr lang="en-US" sz="75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lstStyle/>
          <a:p>
            <a:endParaRPr lang="en-US"/>
          </a:p>
        </p:txBody>
      </p:sp>
      <p:sp>
        <p:nvSpPr>
          <p:cNvPr id="16" name="Text 13"/>
          <p:cNvSpPr/>
          <p:nvPr/>
        </p:nvSpPr>
        <p:spPr>
          <a:xfrm>
            <a:off x="777240" y="4645152"/>
            <a:ext cx="4572000" cy="274320"/>
          </a:xfrm>
          <a:prstGeom prst="rect">
            <a:avLst/>
          </a:prstGeom>
          <a:noFill/>
          <a:ln/>
        </p:spPr>
        <p:txBody>
          <a:bodyPr wrap="square" rtlCol="0" anchor="ctr"/>
          <a:lstStyle/>
          <a:p>
            <a:pPr marL="0" indent="0">
              <a:buNone/>
            </a:pPr>
            <a:r>
              <a:rPr lang="en-US" sz="1050" b="1" kern="0" spc="20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normAutofit/>
          </a:bodyPr>
          <a:lstStyle/>
          <a:p>
            <a:pPr marL="0" indent="0">
              <a:lnSpc>
                <a:spcPct val="103000"/>
              </a:lnSpc>
              <a:buNone/>
            </a:pPr>
            <a:r>
              <a:rPr lang="en-US" sz="1250" dirty="0">
                <a:solidFill>
                  <a:srgbClr val="FFFFFF"/>
                </a:solidFill>
                <a:latin typeface="Calibri" pitchFamily="34" charset="0"/>
                <a:ea typeface="Calibri" pitchFamily="34" charset="-122"/>
                <a:cs typeface="Calibri" pitchFamily="34" charset="-120"/>
              </a:rPr>
              <a:t>Completed cause-and-effect chain (goals -&gt; effects -&gt; repeal, 4+ links) AND a one-sentence evidence-based claim.</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lstStyle/>
          <a:p>
            <a:endParaRPr lang="en-US"/>
          </a:p>
        </p:txBody>
      </p:sp>
      <p:sp>
        <p:nvSpPr>
          <p:cNvPr id="19" name="Text 16"/>
          <p:cNvSpPr/>
          <p:nvPr/>
        </p:nvSpPr>
        <p:spPr>
          <a:xfrm>
            <a:off x="6400800" y="4645152"/>
            <a:ext cx="4572000" cy="274320"/>
          </a:xfrm>
          <a:prstGeom prst="rect">
            <a:avLst/>
          </a:prstGeom>
          <a:noFill/>
          <a:ln/>
        </p:spPr>
        <p:txBody>
          <a:bodyPr wrap="square" rtlCol="0" anchor="ctr"/>
          <a:lstStyle/>
          <a:p>
            <a:pPr marL="0" indent="0">
              <a:buNone/>
            </a:pPr>
            <a:r>
              <a:rPr lang="en-US" sz="1050" b="1" kern="0" spc="20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20" name="Text 17"/>
          <p:cNvSpPr/>
          <p:nvPr/>
        </p:nvSpPr>
        <p:spPr>
          <a:xfrm>
            <a:off x="6400800" y="4919472"/>
            <a:ext cx="5029200" cy="868680"/>
          </a:xfrm>
          <a:prstGeom prst="rect">
            <a:avLst/>
          </a:prstGeom>
          <a:noFill/>
          <a:ln/>
        </p:spPr>
        <p:txBody>
          <a:bodyPr wrap="square" rtlCol="0" anchor="t">
            <a:normAutofit/>
          </a:bodyPr>
          <a:lstStyle/>
          <a:p>
            <a:pPr marL="0" indent="0">
              <a:lnSpc>
                <a:spcPct val="103000"/>
              </a:lnSpc>
              <a:buNone/>
            </a:pPr>
            <a:r>
              <a:rPr lang="en-US" sz="1000" dirty="0">
                <a:solidFill>
                  <a:srgbClr val="1F2430"/>
                </a:solidFill>
                <a:latin typeface="Calibri" pitchFamily="34" charset="0"/>
                <a:ea typeface="Calibri" pitchFamily="34" charset="-122"/>
                <a:cs typeface="Calibri" pitchFamily="34" charset="-120"/>
              </a:rPr>
              <a:t>Entry: Chain with the links provided out of order to sequence, plus a word bank. Honors: Write a paragraph explaining how Capone's own words reveal why Prohibition was impossible to enforce, quoting the interview.</a:t>
            </a:r>
            <a:endParaRPr lang="en-US" sz="1000" dirty="0"/>
          </a:p>
        </p:txBody>
      </p:sp>
      <p:sp>
        <p:nvSpPr>
          <p:cNvPr id="21" name="Text 18"/>
          <p:cNvSpPr/>
          <p:nvPr/>
        </p:nvSpPr>
        <p:spPr>
          <a:xfrm>
            <a:off x="548640" y="5943600"/>
            <a:ext cx="11064240" cy="320040"/>
          </a:xfrm>
          <a:prstGeom prst="rect">
            <a:avLst/>
          </a:prstGeom>
          <a:noFill/>
          <a:ln/>
        </p:spPr>
        <p:txBody>
          <a:bodyPr wrap="square" rtlCol="0" anchor="ctr"/>
          <a:lstStyle/>
          <a:p>
            <a:pPr marL="0" indent="0">
              <a:buNone/>
            </a:pPr>
            <a:r>
              <a:rPr lang="en-US" sz="1050" b="1" dirty="0">
                <a:solidFill>
                  <a:srgbClr val="1A2332"/>
                </a:solidFill>
                <a:latin typeface="Calibri" pitchFamily="34" charset="0"/>
                <a:ea typeface="Calibri" pitchFamily="34" charset="-122"/>
                <a:cs typeface="Calibri" pitchFamily="34" charset="-120"/>
              </a:rPr>
              <a:t>Companion printable:  </a:t>
            </a:r>
            <a:r>
              <a:rPr lang="en-US" sz="1050" i="1" dirty="0">
                <a:solidFill>
                  <a:srgbClr val="002858"/>
                </a:solidFill>
                <a:latin typeface="Calibri" pitchFamily="34" charset="0"/>
                <a:ea typeface="Calibri" pitchFamily="34" charset="-122"/>
                <a:cs typeface="Calibri" pitchFamily="34" charset="-120"/>
              </a:rPr>
              <a:t>cornell-notes/unit-4/us37-prohibition.pdf</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170</a:t>
            </a:r>
            <a:endParaRPr lang="en-US" sz="9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US.37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lstStyle/>
          <a:p>
            <a:endParaRPr lang="en-US"/>
          </a:p>
        </p:txBody>
      </p:sp>
      <p:sp>
        <p:nvSpPr>
          <p:cNvPr id="6" name="Text 4"/>
          <p:cNvSpPr/>
          <p:nvPr/>
        </p:nvSpPr>
        <p:spPr>
          <a:xfrm>
            <a:off x="7635240" y="822960"/>
            <a:ext cx="1143000" cy="457200"/>
          </a:xfrm>
          <a:prstGeom prst="rect">
            <a:avLst/>
          </a:prstGeom>
          <a:noFill/>
          <a:ln/>
        </p:spPr>
        <p:txBody>
          <a:bodyPr wrap="square" rtlCol="0" anchor="ctr"/>
          <a:lstStyle/>
          <a:p>
            <a:pPr marL="0" indent="0" algn="ctr">
              <a:buNone/>
            </a:pPr>
            <a:r>
              <a:rPr lang="en-US" sz="1200" b="1" dirty="0">
                <a:solidFill>
                  <a:srgbClr val="F9A825"/>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lstStyle/>
          <a:p>
            <a:endParaRPr lang="en-US"/>
          </a:p>
        </p:txBody>
      </p:sp>
      <p:sp>
        <p:nvSpPr>
          <p:cNvPr id="8" name="Text 6"/>
          <p:cNvSpPr/>
          <p:nvPr/>
        </p:nvSpPr>
        <p:spPr>
          <a:xfrm>
            <a:off x="8869680" y="822960"/>
            <a:ext cx="274320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lstStyle/>
          <a:p>
            <a:endParaRPr lang="en-US"/>
          </a:p>
        </p:txBody>
      </p:sp>
      <p:sp>
        <p:nvSpPr>
          <p:cNvPr id="10" name="Text 8"/>
          <p:cNvSpPr/>
          <p:nvPr/>
        </p:nvSpPr>
        <p:spPr>
          <a:xfrm>
            <a:off x="822960" y="1691640"/>
            <a:ext cx="10515600" cy="777240"/>
          </a:xfrm>
          <a:prstGeom prst="rect">
            <a:avLst/>
          </a:prstGeom>
          <a:noFill/>
          <a:ln/>
        </p:spPr>
        <p:txBody>
          <a:bodyPr wrap="square" rtlCol="0" anchor="ctr"/>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How did Al Capone justify his bootlegging activities?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2" name="Shape 10"/>
          <p:cNvSpPr/>
          <p:nvPr/>
        </p:nvSpPr>
        <p:spPr>
          <a:xfrm>
            <a:off x="713232" y="2889504"/>
            <a:ext cx="365760" cy="365760"/>
          </a:xfrm>
          <a:prstGeom prst="ellipse">
            <a:avLst/>
          </a:prstGeom>
          <a:solidFill>
            <a:srgbClr val="1A2332"/>
          </a:solidFill>
          <a:ln/>
        </p:spPr>
        <p:txBody>
          <a:bodyPr/>
          <a:lstStyle/>
          <a:p>
            <a:endParaRPr lang="en-US"/>
          </a:p>
        </p:txBody>
      </p:sp>
      <p:sp>
        <p:nvSpPr>
          <p:cNvPr id="13" name="Text 11"/>
          <p:cNvSpPr/>
          <p:nvPr/>
        </p:nvSpPr>
        <p:spPr>
          <a:xfrm>
            <a:off x="713232" y="2889504"/>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He claimed to be fighting against an unjust government policy</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6" name="Shape 14"/>
          <p:cNvSpPr/>
          <p:nvPr/>
        </p:nvSpPr>
        <p:spPr>
          <a:xfrm>
            <a:off x="713232" y="3639312"/>
            <a:ext cx="365760" cy="365760"/>
          </a:xfrm>
          <a:prstGeom prst="ellipse">
            <a:avLst/>
          </a:prstGeom>
          <a:solidFill>
            <a:srgbClr val="1A2332"/>
          </a:solidFill>
          <a:ln/>
        </p:spPr>
        <p:txBody>
          <a:bodyPr/>
          <a:lstStyle/>
          <a:p>
            <a:endParaRPr lang="en-US"/>
          </a:p>
        </p:txBody>
      </p:sp>
      <p:sp>
        <p:nvSpPr>
          <p:cNvPr id="17" name="Text 15"/>
          <p:cNvSpPr/>
          <p:nvPr/>
        </p:nvSpPr>
        <p:spPr>
          <a:xfrm>
            <a:off x="713232" y="3639312"/>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He argued he was simply a businessman meeting public demand, no different from his wealthy customers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0" name="Shape 18"/>
          <p:cNvSpPr/>
          <p:nvPr/>
        </p:nvSpPr>
        <p:spPr>
          <a:xfrm>
            <a:off x="713232" y="4389120"/>
            <a:ext cx="365760" cy="365760"/>
          </a:xfrm>
          <a:prstGeom prst="ellipse">
            <a:avLst/>
          </a:prstGeom>
          <a:solidFill>
            <a:srgbClr val="1A2332"/>
          </a:solidFill>
          <a:ln/>
        </p:spPr>
        <p:txBody>
          <a:bodyPr/>
          <a:lstStyle/>
          <a:p>
            <a:endParaRPr lang="en-US"/>
          </a:p>
        </p:txBody>
      </p:sp>
      <p:sp>
        <p:nvSpPr>
          <p:cNvPr id="21" name="Text 19"/>
          <p:cNvSpPr/>
          <p:nvPr/>
        </p:nvSpPr>
        <p:spPr>
          <a:xfrm>
            <a:off x="713232" y="4389120"/>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He admitted his activities were criminal and asked for mercy</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4" name="Shape 22"/>
          <p:cNvSpPr/>
          <p:nvPr/>
        </p:nvSpPr>
        <p:spPr>
          <a:xfrm>
            <a:off x="713232" y="5138928"/>
            <a:ext cx="365760" cy="365760"/>
          </a:xfrm>
          <a:prstGeom prst="ellipse">
            <a:avLst/>
          </a:prstGeom>
          <a:solidFill>
            <a:srgbClr val="1A2332"/>
          </a:solidFill>
          <a:ln/>
        </p:spPr>
        <p:txBody>
          <a:bodyPr/>
          <a:lstStyle/>
          <a:p>
            <a:endParaRPr lang="en-US"/>
          </a:p>
        </p:txBody>
      </p:sp>
      <p:sp>
        <p:nvSpPr>
          <p:cNvPr id="25" name="Text 23"/>
          <p:cNvSpPr/>
          <p:nvPr/>
        </p:nvSpPr>
        <p:spPr>
          <a:xfrm>
            <a:off x="713232" y="5138928"/>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He blamed the police for not enforcing the law consistently</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lstStyle/>
          <a:p>
            <a:endParaRPr lang="en-US"/>
          </a:p>
        </p:txBody>
      </p:sp>
      <p:sp>
        <p:nvSpPr>
          <p:cNvPr id="28" name="Text 26"/>
          <p:cNvSpPr/>
          <p:nvPr/>
        </p:nvSpPr>
        <p:spPr>
          <a:xfrm>
            <a:off x="822960" y="5715000"/>
            <a:ext cx="10515600" cy="502920"/>
          </a:xfrm>
          <a:prstGeom prst="rect">
            <a:avLst/>
          </a:prstGeom>
          <a:noFill/>
          <a:ln/>
        </p:spPr>
        <p:txBody>
          <a:bodyPr wrap="square" rtlCol="0" anchor="ctr"/>
          <a:lstStyle/>
          <a:p>
            <a:pPr marL="0" indent="0">
              <a:buNone/>
            </a:pPr>
            <a:r>
              <a:rPr lang="en-US" sz="1200" b="1" i="1" kern="0" spc="100" dirty="0">
                <a:solidFill>
                  <a:srgbClr val="F9A825"/>
                </a:solidFill>
                <a:latin typeface="Trebuchet MS" pitchFamily="34" charset="0"/>
                <a:ea typeface="Trebuchet MS" pitchFamily="34" charset="-122"/>
                <a:cs typeface="Trebuchet MS" pitchFamily="34" charset="-120"/>
              </a:rPr>
              <a:t>ANSWER FIRST:  </a:t>
            </a: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171</a:t>
            </a:r>
            <a:endParaRPr lang="en-US" sz="9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US.37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lstStyle/>
          <a:p>
            <a:endParaRPr lang="en-US"/>
          </a:p>
        </p:txBody>
      </p:sp>
      <p:sp>
        <p:nvSpPr>
          <p:cNvPr id="6" name="Text 4"/>
          <p:cNvSpPr/>
          <p:nvPr/>
        </p:nvSpPr>
        <p:spPr>
          <a:xfrm>
            <a:off x="8595360" y="822960"/>
            <a:ext cx="301752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731520"/>
          </a:xfrm>
          <a:prstGeom prst="rect">
            <a:avLst/>
          </a:prstGeom>
          <a:noFill/>
          <a:ln/>
        </p:spPr>
        <p:txBody>
          <a:bodyPr wrap="square" rtlCol="0" anchor="ctr"/>
          <a:lstStyle/>
          <a:p>
            <a:pPr marL="0" indent="0">
              <a:lnSpc>
                <a:spcPct val="102000"/>
              </a:lnSpc>
              <a:buNone/>
            </a:pPr>
            <a:r>
              <a:rPr lang="en-US" sz="1500" b="1" dirty="0">
                <a:solidFill>
                  <a:srgbClr val="FFFFFF"/>
                </a:solidFill>
                <a:latin typeface="Calibri" pitchFamily="34" charset="0"/>
                <a:ea typeface="Calibri" pitchFamily="34" charset="-122"/>
                <a:cs typeface="Calibri" pitchFamily="34" charset="-120"/>
              </a:rPr>
              <a:t>How did Al Capone justify his bootlegging activities?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0" name="Shape 8"/>
          <p:cNvSpPr/>
          <p:nvPr/>
        </p:nvSpPr>
        <p:spPr>
          <a:xfrm>
            <a:off x="713232" y="2761488"/>
            <a:ext cx="347472" cy="347472"/>
          </a:xfrm>
          <a:prstGeom prst="ellipse">
            <a:avLst/>
          </a:prstGeom>
          <a:solidFill>
            <a:srgbClr val="1A2332"/>
          </a:solidFill>
          <a:ln/>
        </p:spPr>
        <p:txBody>
          <a:bodyPr/>
          <a:lstStyle/>
          <a:p>
            <a:endParaRPr lang="en-US"/>
          </a:p>
        </p:txBody>
      </p:sp>
      <p:sp>
        <p:nvSpPr>
          <p:cNvPr id="11" name="Text 9"/>
          <p:cNvSpPr/>
          <p:nvPr/>
        </p:nvSpPr>
        <p:spPr>
          <a:xfrm>
            <a:off x="713232" y="2761488"/>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He claimed to be fighting against an unjust government policy</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txBody>
          <a:bodyPr/>
          <a:lstStyle/>
          <a:p>
            <a:endParaRPr lang="en-US"/>
          </a:p>
        </p:txBody>
      </p:sp>
      <p:sp>
        <p:nvSpPr>
          <p:cNvPr id="14" name="Shape 12"/>
          <p:cNvSpPr/>
          <p:nvPr/>
        </p:nvSpPr>
        <p:spPr>
          <a:xfrm>
            <a:off x="713232" y="3419856"/>
            <a:ext cx="347472" cy="347472"/>
          </a:xfrm>
          <a:prstGeom prst="ellipse">
            <a:avLst/>
          </a:prstGeom>
          <a:solidFill>
            <a:srgbClr val="1A2332"/>
          </a:solidFill>
          <a:ln/>
        </p:spPr>
        <p:txBody>
          <a:bodyPr/>
          <a:lstStyle/>
          <a:p>
            <a:endParaRPr lang="en-US"/>
          </a:p>
        </p:txBody>
      </p:sp>
      <p:sp>
        <p:nvSpPr>
          <p:cNvPr id="15" name="Text 13"/>
          <p:cNvSpPr/>
          <p:nvPr/>
        </p:nvSpPr>
        <p:spPr>
          <a:xfrm>
            <a:off x="713232" y="3419856"/>
            <a:ext cx="347472" cy="347472"/>
          </a:xfrm>
          <a:prstGeom prst="rect">
            <a:avLst/>
          </a:prstGeom>
          <a:noFill/>
          <a:ln/>
        </p:spPr>
        <p:txBody>
          <a:bodyPr wrap="square" rtlCol="0" anchor="ctr"/>
          <a:lstStyle/>
          <a:p>
            <a:pPr marL="0" indent="0" algn="ctr">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marL="0" indent="0">
              <a:lnSpc>
                <a:spcPct val="100000"/>
              </a:lnSpc>
              <a:buNone/>
            </a:pPr>
            <a:r>
              <a:rPr lang="en-US" sz="1300" b="1" dirty="0">
                <a:solidFill>
                  <a:srgbClr val="1A2332"/>
                </a:solidFill>
                <a:latin typeface="Calibri" pitchFamily="34" charset="0"/>
                <a:ea typeface="Calibri" pitchFamily="34" charset="-122"/>
                <a:cs typeface="Calibri" pitchFamily="34" charset="-120"/>
              </a:rPr>
              <a:t>He argued he was simply a businessman meeting public demand, no different from his wealthy customers</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marL="0" indent="0" algn="ctr">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9" name="Shape 17"/>
          <p:cNvSpPr/>
          <p:nvPr/>
        </p:nvSpPr>
        <p:spPr>
          <a:xfrm>
            <a:off x="713232" y="4078224"/>
            <a:ext cx="347472" cy="347472"/>
          </a:xfrm>
          <a:prstGeom prst="ellipse">
            <a:avLst/>
          </a:prstGeom>
          <a:solidFill>
            <a:srgbClr val="1A2332"/>
          </a:solidFill>
          <a:ln/>
        </p:spPr>
        <p:txBody>
          <a:bodyPr/>
          <a:lstStyle/>
          <a:p>
            <a:endParaRPr lang="en-US"/>
          </a:p>
        </p:txBody>
      </p:sp>
      <p:sp>
        <p:nvSpPr>
          <p:cNvPr id="20" name="Text 18"/>
          <p:cNvSpPr/>
          <p:nvPr/>
        </p:nvSpPr>
        <p:spPr>
          <a:xfrm>
            <a:off x="713232" y="4078224"/>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He admitted his activities were criminal and asked for mercy</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23" name="Shape 21"/>
          <p:cNvSpPr/>
          <p:nvPr/>
        </p:nvSpPr>
        <p:spPr>
          <a:xfrm>
            <a:off x="713232" y="4736592"/>
            <a:ext cx="347472" cy="347472"/>
          </a:xfrm>
          <a:prstGeom prst="ellipse">
            <a:avLst/>
          </a:prstGeom>
          <a:solidFill>
            <a:srgbClr val="1A2332"/>
          </a:solidFill>
          <a:ln/>
        </p:spPr>
        <p:txBody>
          <a:bodyPr/>
          <a:lstStyle/>
          <a:p>
            <a:endParaRPr lang="en-US"/>
          </a:p>
        </p:txBody>
      </p:sp>
      <p:sp>
        <p:nvSpPr>
          <p:cNvPr id="24" name="Text 22"/>
          <p:cNvSpPr/>
          <p:nvPr/>
        </p:nvSpPr>
        <p:spPr>
          <a:xfrm>
            <a:off x="713232" y="4736592"/>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He blamed the police for not enforcing the law consistently</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lstStyle/>
          <a:p>
            <a:endParaRPr lang="en-US"/>
          </a:p>
        </p:txBody>
      </p:sp>
      <p:sp>
        <p:nvSpPr>
          <p:cNvPr id="27" name="Text 25"/>
          <p:cNvSpPr/>
          <p:nvPr/>
        </p:nvSpPr>
        <p:spPr>
          <a:xfrm>
            <a:off x="822960" y="5532120"/>
            <a:ext cx="10515600" cy="713232"/>
          </a:xfrm>
          <a:prstGeom prst="rect">
            <a:avLst/>
          </a:prstGeom>
          <a:noFill/>
          <a:ln/>
        </p:spPr>
        <p:txBody>
          <a:bodyPr wrap="square" rtlCol="0" anchor="ctr"/>
          <a:lstStyle/>
          <a:p>
            <a:pPr marL="0" indent="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Why: </a:t>
            </a:r>
            <a:r>
              <a:rPr lang="en-US" sz="1150" dirty="0">
                <a:solidFill>
                  <a:srgbClr val="C7D4E0"/>
                </a:solidFill>
                <a:latin typeface="Calibri" pitchFamily="34" charset="0"/>
                <a:ea typeface="Calibri" pitchFamily="34" charset="-122"/>
                <a:cs typeface="Calibri" pitchFamily="34" charset="-120"/>
              </a:rPr>
              <a:t>Capone argues he supplies "a public demand" and that his customers "are as guilty as I am"—he's a "businessman" while wealthy patrons call it "hospitality."</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172</a:t>
            </a:r>
            <a:endParaRPr lang="en-US" sz="9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US.37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marL="0" indent="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lstStyle/>
          <a:p>
            <a:endParaRPr lang="en-US"/>
          </a:p>
        </p:txBody>
      </p:sp>
      <p:sp>
        <p:nvSpPr>
          <p:cNvPr id="6" name="Text 4"/>
          <p:cNvSpPr/>
          <p:nvPr/>
        </p:nvSpPr>
        <p:spPr>
          <a:xfrm>
            <a:off x="868680" y="1847088"/>
            <a:ext cx="5486400" cy="320040"/>
          </a:xfrm>
          <a:prstGeom prst="rect">
            <a:avLst/>
          </a:prstGeom>
          <a:noFill/>
          <a:ln/>
        </p:spPr>
        <p:txBody>
          <a:bodyPr wrap="square" rtlCol="0" anchor="ctr"/>
          <a:lstStyle/>
          <a:p>
            <a:pPr marL="0" indent="0">
              <a:buNone/>
            </a:pPr>
            <a:r>
              <a:rPr lang="en-US" sz="1200" b="1" kern="0" spc="20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Implementation and Intended Effects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Rise of Organized Crime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Bootlegging Methods and Consequences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Speakeasies and Social Culture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End of Prohibition</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lstStyle/>
          <a:p>
            <a:endParaRPr lang="en-US"/>
          </a:p>
        </p:txBody>
      </p:sp>
      <p:sp>
        <p:nvSpPr>
          <p:cNvPr id="9" name="Text 7"/>
          <p:cNvSpPr/>
          <p:nvPr/>
        </p:nvSpPr>
        <p:spPr>
          <a:xfrm>
            <a:off x="822960" y="4901184"/>
            <a:ext cx="6492240" cy="274320"/>
          </a:xfrm>
          <a:prstGeom prst="rect">
            <a:avLst/>
          </a:prstGeom>
          <a:noFill/>
          <a:ln/>
        </p:spPr>
        <p:txBody>
          <a:bodyPr wrap="square" rtlCol="0" anchor="ctr"/>
          <a:lstStyle/>
          <a:p>
            <a:pPr marL="0" indent="0">
              <a:buNone/>
            </a:pPr>
            <a:r>
              <a:rPr lang="en-US" sz="1100" b="1" kern="0" spc="100" dirty="0">
                <a:solidFill>
                  <a:srgbClr val="7A5C12"/>
                </a:solidFill>
                <a:latin typeface="Trebuchet MS" pitchFamily="34" charset="0"/>
                <a:ea typeface="Trebuchet MS" pitchFamily="34" charset="-122"/>
                <a:cs typeface="Trebuchet MS" pitchFamily="34" charset="-120"/>
              </a:rPr>
              <a:t>★ HONORS / EXTENSION  </a:t>
            </a: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marL="0" indent="0">
              <a:lnSpc>
                <a:spcPct val="98000"/>
              </a:lnSpc>
              <a:buNone/>
            </a:pPr>
            <a:r>
              <a:rPr lang="en-US" sz="1050" i="1" dirty="0">
                <a:solidFill>
                  <a:srgbClr val="1F2430"/>
                </a:solidFill>
                <a:latin typeface="Calibri" pitchFamily="34" charset="0"/>
                <a:ea typeface="Calibri" pitchFamily="34" charset="-122"/>
                <a:cs typeface="Calibri" pitchFamily="34" charset="-120"/>
              </a:rPr>
              <a:t>Evaluate: Was Prohibition a well-meaning reform undone by human nature, or a doomed overreach of government power from the start? Argue with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lstStyle/>
          <a:p>
            <a:endParaRPr lang="en-US"/>
          </a:p>
        </p:txBody>
      </p:sp>
      <p:sp>
        <p:nvSpPr>
          <p:cNvPr id="12" name="Text 10"/>
          <p:cNvSpPr/>
          <p:nvPr/>
        </p:nvSpPr>
        <p:spPr>
          <a:xfrm>
            <a:off x="8092440" y="1920240"/>
            <a:ext cx="2286000" cy="320040"/>
          </a:xfrm>
          <a:prstGeom prst="rect">
            <a:avLst/>
          </a:prstGeom>
          <a:noFill/>
          <a:ln/>
        </p:spPr>
        <p:txBody>
          <a:bodyPr wrap="square" rtlCol="0" anchor="ctr"/>
          <a:lstStyle/>
          <a:p>
            <a:pPr marL="0" indent="0">
              <a:buNone/>
            </a:pPr>
            <a:r>
              <a:rPr lang="en-US" sz="1200" b="1" kern="0" spc="20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lstStyle/>
          <a:p>
            <a:endParaRPr lang="en-US"/>
          </a:p>
        </p:txBody>
      </p:sp>
      <p:sp>
        <p:nvSpPr>
          <p:cNvPr id="14" name="Text 12"/>
          <p:cNvSpPr/>
          <p:nvPr/>
        </p:nvSpPr>
        <p:spPr>
          <a:xfrm>
            <a:off x="10378440" y="1883664"/>
            <a:ext cx="960120" cy="365760"/>
          </a:xfrm>
          <a:prstGeom prst="rect">
            <a:avLst/>
          </a:prstGeom>
          <a:noFill/>
          <a:ln/>
        </p:spPr>
        <p:txBody>
          <a:bodyPr wrap="square" rtlCol="0" anchor="ctr"/>
          <a:lstStyle/>
          <a:p>
            <a:pPr marL="0" indent="0" algn="ctr">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Explain why Prohibition was passed and why it ultimately failed. Give one reason for each.</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lstStyle/>
          <a:p>
            <a:endParaRPr lang="en-US"/>
          </a:p>
        </p:txBody>
      </p:sp>
      <p:sp>
        <p:nvSpPr>
          <p:cNvPr id="17" name="Shape 15"/>
          <p:cNvSpPr/>
          <p:nvPr/>
        </p:nvSpPr>
        <p:spPr>
          <a:xfrm>
            <a:off x="8138160" y="5074920"/>
            <a:ext cx="3108960" cy="0"/>
          </a:xfrm>
          <a:prstGeom prst="line">
            <a:avLst/>
          </a:prstGeom>
          <a:noFill/>
          <a:ln w="12700">
            <a:solidFill>
              <a:srgbClr val="A7BACB"/>
            </a:solidFill>
            <a:prstDash val="dash"/>
          </a:ln>
        </p:spPr>
        <p:txBody>
          <a:bodyPr/>
          <a:lstStyle/>
          <a:p>
            <a:endParaRPr lang="en-US"/>
          </a:p>
        </p:txBody>
      </p:sp>
      <p:sp>
        <p:nvSpPr>
          <p:cNvPr id="18" name="Shape 16"/>
          <p:cNvSpPr/>
          <p:nvPr/>
        </p:nvSpPr>
        <p:spPr>
          <a:xfrm>
            <a:off x="8138160" y="5623560"/>
            <a:ext cx="3108960" cy="0"/>
          </a:xfrm>
          <a:prstGeom prst="line">
            <a:avLst/>
          </a:prstGeom>
          <a:noFill/>
          <a:ln w="12700">
            <a:solidFill>
              <a:srgbClr val="A7BACB"/>
            </a:solidFill>
            <a:prstDash val="dash"/>
          </a:ln>
        </p:spPr>
        <p:txBody>
          <a:bodyPr/>
          <a:lstStyle/>
          <a:p>
            <a:endParaRPr lang="en-US"/>
          </a:p>
        </p:txBody>
      </p:sp>
      <p:sp>
        <p:nvSpPr>
          <p:cNvPr id="20" name="Text 1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173</a:t>
            </a:r>
            <a:endParaRPr lang="en-US" sz="9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lstStyle/>
          <a:p>
            <a:endParaRPr lang="en-US"/>
          </a:p>
        </p:txBody>
      </p:sp>
      <p:sp>
        <p:nvSpPr>
          <p:cNvPr id="3" name="Shape 1"/>
          <p:cNvSpPr/>
          <p:nvPr/>
        </p:nvSpPr>
        <p:spPr>
          <a:xfrm>
            <a:off x="320040" y="0"/>
            <a:ext cx="109728" cy="6858000"/>
          </a:xfrm>
          <a:prstGeom prst="rect">
            <a:avLst/>
          </a:prstGeom>
          <a:solidFill>
            <a:srgbClr val="C9A84C"/>
          </a:solidFill>
          <a:ln/>
        </p:spPr>
        <p:txBody>
          <a:bodyPr/>
          <a:lstStyle/>
          <a:p>
            <a:endParaRPr lang="en-US"/>
          </a:p>
        </p:txBody>
      </p:sp>
      <p:sp>
        <p:nvSpPr>
          <p:cNvPr id="4" name="Text 2"/>
          <p:cNvSpPr/>
          <p:nvPr/>
        </p:nvSpPr>
        <p:spPr>
          <a:xfrm>
            <a:off x="914400" y="1005840"/>
            <a:ext cx="5486400" cy="365760"/>
          </a:xfrm>
          <a:prstGeom prst="rect">
            <a:avLst/>
          </a:prstGeom>
          <a:noFill/>
          <a:ln/>
        </p:spPr>
        <p:txBody>
          <a:bodyPr wrap="square" rtlCol="0" anchor="ctr"/>
          <a:lstStyle/>
          <a:p>
            <a:pPr marL="0" indent="0">
              <a:buNone/>
            </a:pPr>
            <a:r>
              <a:rPr lang="en-US" sz="1500" b="1" kern="0" spc="40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marL="0" indent="0">
              <a:buNone/>
            </a:pPr>
            <a:r>
              <a:rPr lang="en-US" sz="8800" b="1" dirty="0">
                <a:solidFill>
                  <a:srgbClr val="FFFFFF"/>
                </a:solidFill>
                <a:latin typeface="Georgia" pitchFamily="34" charset="0"/>
                <a:ea typeface="Georgia" pitchFamily="34" charset="-122"/>
                <a:cs typeface="Georgia" pitchFamily="34" charset="-120"/>
              </a:rPr>
              <a:t>US.38</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marL="0" indent="0">
              <a:lnSpc>
                <a:spcPct val="102000"/>
              </a:lnSpc>
              <a:buNone/>
            </a:pPr>
            <a:r>
              <a:rPr lang="en-US" sz="2400" i="1" dirty="0">
                <a:solidFill>
                  <a:srgbClr val="F9A825"/>
                </a:solidFill>
                <a:latin typeface="Georgia" pitchFamily="34" charset="0"/>
                <a:ea typeface="Georgia" pitchFamily="34" charset="-122"/>
                <a:cs typeface="Georgia" pitchFamily="34" charset="-120"/>
              </a:rPr>
              <a:t>Credit, Consumerism &amp; Financial Speculation</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marL="0" indent="0" algn="l">
              <a:buNone/>
            </a:pPr>
            <a:r>
              <a:rPr lang="en-US" sz="1100" b="1" kern="0" spc="20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txBody>
          <a:bodyPr/>
          <a:lstStyle/>
          <a:p>
            <a:endParaRPr lang="en-US"/>
          </a:p>
        </p:txBody>
      </p:sp>
      <p:sp>
        <p:nvSpPr>
          <p:cNvPr id="9" name="Text 7"/>
          <p:cNvSpPr/>
          <p:nvPr/>
        </p:nvSpPr>
        <p:spPr>
          <a:xfrm>
            <a:off x="6812280" y="1417320"/>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txBody>
          <a:bodyPr/>
          <a:lstStyle/>
          <a:p>
            <a:endParaRPr lang="en-US"/>
          </a:p>
        </p:txBody>
      </p:sp>
      <p:sp>
        <p:nvSpPr>
          <p:cNvPr id="12" name="Text 10"/>
          <p:cNvSpPr/>
          <p:nvPr/>
        </p:nvSpPr>
        <p:spPr>
          <a:xfrm>
            <a:off x="6812280" y="1755648"/>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txBody>
          <a:bodyPr/>
          <a:lstStyle/>
          <a:p>
            <a:endParaRPr lang="en-US"/>
          </a:p>
        </p:txBody>
      </p:sp>
      <p:sp>
        <p:nvSpPr>
          <p:cNvPr id="15" name="Text 13"/>
          <p:cNvSpPr/>
          <p:nvPr/>
        </p:nvSpPr>
        <p:spPr>
          <a:xfrm>
            <a:off x="6812280" y="2093976"/>
            <a:ext cx="1078992" cy="292608"/>
          </a:xfrm>
          <a:prstGeom prst="rect">
            <a:avLst/>
          </a:prstGeom>
          <a:noFill/>
          <a:ln/>
        </p:spPr>
        <p:txBody>
          <a:bodyPr wrap="square" rtlCol="0" anchor="ctr"/>
          <a:lstStyle/>
          <a:p>
            <a:pPr marL="0" indent="0" algn="ctr">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lstStyle/>
          <a:p>
            <a:endParaRPr lang="en-US"/>
          </a:p>
        </p:txBody>
      </p:sp>
      <p:sp>
        <p:nvSpPr>
          <p:cNvPr id="18" name="Text 16"/>
          <p:cNvSpPr/>
          <p:nvPr/>
        </p:nvSpPr>
        <p:spPr>
          <a:xfrm>
            <a:off x="1143000" y="3913632"/>
            <a:ext cx="5486400" cy="274320"/>
          </a:xfrm>
          <a:prstGeom prst="rect">
            <a:avLst/>
          </a:prstGeom>
          <a:noFill/>
          <a:ln/>
        </p:spPr>
        <p:txBody>
          <a:bodyPr wrap="square" rtlCol="0" anchor="ctr"/>
          <a:lstStyle/>
          <a:p>
            <a:pPr marL="0" indent="0">
              <a:buNone/>
            </a:pPr>
            <a:r>
              <a:rPr lang="en-US" sz="1100" b="1" kern="0" spc="20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Analyze the changes in the economy and culture of the U.S. as a result of credit expansion, consumerism, and financial speculation.</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txBody>
          <a:bodyPr/>
          <a:lstStyle/>
          <a:p>
            <a:endParaRPr lang="en-US"/>
          </a:p>
        </p:txBody>
      </p:sp>
      <p:sp>
        <p:nvSpPr>
          <p:cNvPr id="21" name="Text 19"/>
          <p:cNvSpPr/>
          <p:nvPr/>
        </p:nvSpPr>
        <p:spPr>
          <a:xfrm>
            <a:off x="1143000" y="5230368"/>
            <a:ext cx="1828800" cy="292608"/>
          </a:xfrm>
          <a:prstGeom prst="rect">
            <a:avLst/>
          </a:prstGeom>
          <a:noFill/>
          <a:ln/>
        </p:spPr>
        <p:txBody>
          <a:bodyPr wrap="square" rtlCol="0" anchor="ctr"/>
          <a:lstStyle/>
          <a:p>
            <a:pPr marL="0" indent="0">
              <a:buNone/>
            </a:pPr>
            <a:r>
              <a:rPr lang="en-US" sz="1300" b="1" kern="0" spc="20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marL="0" indent="0">
              <a:lnSpc>
                <a:spcPct val="100000"/>
              </a:lnSpc>
              <a:buNone/>
            </a:pPr>
            <a:r>
              <a:rPr lang="en-US" sz="1350" b="1" dirty="0">
                <a:solidFill>
                  <a:srgbClr val="1A2332"/>
                </a:solidFill>
                <a:latin typeface="Calibri" pitchFamily="34" charset="0"/>
                <a:ea typeface="Calibri" pitchFamily="34" charset="-122"/>
                <a:cs typeface="Calibri" pitchFamily="34" charset="-120"/>
              </a:rPr>
              <a:t>I can analyze the changes in the economy and culture of the United States as a result of credit expansion, consumerism, and financial speculation.</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174</a:t>
            </a:r>
            <a:endParaRPr lang="en-US" sz="9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lstStyle/>
          <a:p>
            <a:endParaRPr lang="en-US"/>
          </a:p>
        </p:txBody>
      </p:sp>
      <p:sp>
        <p:nvSpPr>
          <p:cNvPr id="7" name="Shape 5"/>
          <p:cNvSpPr/>
          <p:nvPr/>
        </p:nvSpPr>
        <p:spPr>
          <a:xfrm>
            <a:off x="548640" y="2057400"/>
            <a:ext cx="777240" cy="1234440"/>
          </a:xfrm>
          <a:prstGeom prst="rect">
            <a:avLst/>
          </a:prstGeom>
          <a:solidFill>
            <a:srgbClr val="1A2332"/>
          </a:solidFill>
          <a:ln/>
        </p:spPr>
        <p:txBody>
          <a:bodyPr/>
          <a:lstStyle/>
          <a:p>
            <a:endParaRPr lang="en-US"/>
          </a:p>
        </p:txBody>
      </p:sp>
      <p:sp>
        <p:nvSpPr>
          <p:cNvPr id="8" name="Text 6"/>
          <p:cNvSpPr/>
          <p:nvPr/>
        </p:nvSpPr>
        <p:spPr>
          <a:xfrm>
            <a:off x="548640" y="2057400"/>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US.37  </a:t>
            </a:r>
            <a:r>
              <a:rPr lang="en-US" sz="1350" dirty="0">
                <a:solidFill>
                  <a:srgbClr val="1F2430"/>
                </a:solidFill>
                <a:latin typeface="Calibri" pitchFamily="34" charset="0"/>
                <a:ea typeface="Calibri" pitchFamily="34" charset="-122"/>
                <a:cs typeface="Calibri" pitchFamily="34" charset="-120"/>
              </a:rPr>
              <a:t>What did Prohibition ban, and what amendment created it?</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lstStyle/>
          <a:p>
            <a:endParaRPr lang="en-US"/>
          </a:p>
        </p:txBody>
      </p:sp>
      <p:sp>
        <p:nvSpPr>
          <p:cNvPr id="11" name="Shape 9"/>
          <p:cNvSpPr/>
          <p:nvPr/>
        </p:nvSpPr>
        <p:spPr>
          <a:xfrm>
            <a:off x="548640" y="3456432"/>
            <a:ext cx="777240" cy="1234440"/>
          </a:xfrm>
          <a:prstGeom prst="rect">
            <a:avLst/>
          </a:prstGeom>
          <a:solidFill>
            <a:srgbClr val="1A2332"/>
          </a:solidFill>
          <a:ln/>
        </p:spPr>
        <p:txBody>
          <a:bodyPr/>
          <a:lstStyle/>
          <a:p>
            <a:endParaRPr lang="en-US"/>
          </a:p>
        </p:txBody>
      </p:sp>
      <p:sp>
        <p:nvSpPr>
          <p:cNvPr id="12" name="Text 10"/>
          <p:cNvSpPr/>
          <p:nvPr/>
        </p:nvSpPr>
        <p:spPr>
          <a:xfrm>
            <a:off x="548640" y="3456432"/>
            <a:ext cx="777240" cy="1234440"/>
          </a:xfrm>
          <a:prstGeom prst="rect">
            <a:avLst/>
          </a:prstGeom>
          <a:noFill/>
          <a:ln/>
        </p:spPr>
        <p:txBody>
          <a:bodyPr wrap="square" rtlCol="0" anchor="ctr"/>
          <a:lstStyle/>
          <a:p>
            <a:pPr marL="0" indent="0" algn="ctr">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marL="0" indent="0">
              <a:lnSpc>
                <a:spcPct val="104000"/>
              </a:lnSpc>
              <a:buNone/>
            </a:pPr>
            <a:r>
              <a:rPr lang="en-US" sz="1350" b="1" dirty="0">
                <a:solidFill>
                  <a:srgbClr val="C62828"/>
                </a:solidFill>
                <a:latin typeface="Calibri" pitchFamily="34" charset="0"/>
                <a:ea typeface="Calibri" pitchFamily="34" charset="-122"/>
                <a:cs typeface="Calibri" pitchFamily="34" charset="-120"/>
              </a:rPr>
              <a:t>US.37  </a:t>
            </a:r>
            <a:r>
              <a:rPr lang="en-US" sz="1350" dirty="0">
                <a:solidFill>
                  <a:srgbClr val="1F2430"/>
                </a:solidFill>
                <a:latin typeface="Calibri" pitchFamily="34" charset="0"/>
                <a:ea typeface="Calibri" pitchFamily="34" charset="-122"/>
                <a:cs typeface="Calibri" pitchFamily="34" charset="-120"/>
              </a:rPr>
              <a:t>Name one major unintended consequence of Prohibition.</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175</a:t>
            </a:r>
            <a:endParaRPr lang="en-US" sz="9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txBody>
          <a:bodyPr/>
          <a:lstStyle/>
          <a:p>
            <a:endParaRPr lang="en-US"/>
          </a:p>
        </p:txBody>
      </p:sp>
      <p:sp>
        <p:nvSpPr>
          <p:cNvPr id="6" name="Text 4"/>
          <p:cNvSpPr/>
          <p:nvPr/>
        </p:nvSpPr>
        <p:spPr>
          <a:xfrm>
            <a:off x="8686800" y="786384"/>
            <a:ext cx="1143000" cy="457200"/>
          </a:xfrm>
          <a:prstGeom prst="rect">
            <a:avLst/>
          </a:prstGeom>
          <a:noFill/>
          <a:ln/>
        </p:spPr>
        <p:txBody>
          <a:bodyPr wrap="square" rtlCol="0" anchor="ctr"/>
          <a:lstStyle/>
          <a:p>
            <a:pPr marL="0" indent="0" algn="ctr">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txBody>
          <a:bodyPr/>
          <a:lstStyle/>
          <a:p>
            <a:endParaRPr lang="en-US"/>
          </a:p>
        </p:txBody>
      </p:sp>
      <p:sp>
        <p:nvSpPr>
          <p:cNvPr id="8" name="Text 6"/>
          <p:cNvSpPr/>
          <p:nvPr/>
        </p:nvSpPr>
        <p:spPr>
          <a:xfrm>
            <a:off x="9966960" y="786384"/>
            <a:ext cx="164592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txBody>
          <a:bodyPr/>
          <a:lstStyle/>
          <a:p>
            <a:endParaRPr lang="en-US"/>
          </a:p>
        </p:txBody>
      </p:sp>
      <p:sp>
        <p:nvSpPr>
          <p:cNvPr id="11" name="Text 9"/>
          <p:cNvSpPr/>
          <p:nvPr/>
        </p:nvSpPr>
        <p:spPr>
          <a:xfrm>
            <a:off x="1005840" y="2194560"/>
            <a:ext cx="10149840" cy="1417320"/>
          </a:xfrm>
          <a:prstGeom prst="rect">
            <a:avLst/>
          </a:prstGeom>
          <a:noFill/>
          <a:ln/>
        </p:spPr>
        <p:txBody>
          <a:bodyPr wrap="square" rtlCol="0" anchor="ctr"/>
          <a:lstStyle/>
          <a:p>
            <a:pPr marL="0" indent="0" algn="ctr">
              <a:lnSpc>
                <a:spcPct val="108000"/>
              </a:lnSpc>
              <a:buNone/>
            </a:pPr>
            <a:r>
              <a:rPr lang="en-US" sz="2400" b="1" dirty="0">
                <a:solidFill>
                  <a:srgbClr val="FFFFFF"/>
                </a:solidFill>
                <a:latin typeface="Georgia" pitchFamily="34" charset="0"/>
                <a:ea typeface="Georgia" pitchFamily="34" charset="-122"/>
                <a:cs typeface="Georgia" pitchFamily="34" charset="-120"/>
              </a:rPr>
              <a:t>What does it mean to 'buy on credit'?</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txBody>
          <a:bodyPr/>
          <a:lstStyle/>
          <a:p>
            <a:endParaRPr lang="en-US"/>
          </a:p>
        </p:txBody>
      </p:sp>
      <p:sp>
        <p:nvSpPr>
          <p:cNvPr id="13" name="Text 11"/>
          <p:cNvSpPr/>
          <p:nvPr/>
        </p:nvSpPr>
        <p:spPr>
          <a:xfrm>
            <a:off x="914400" y="4224528"/>
            <a:ext cx="2743200" cy="320040"/>
          </a:xfrm>
          <a:prstGeom prst="rect">
            <a:avLst/>
          </a:prstGeom>
          <a:noFill/>
          <a:ln/>
        </p:spPr>
        <p:txBody>
          <a:bodyPr wrap="square" rtlCol="0" anchor="ctr"/>
          <a:lstStyle/>
          <a:p>
            <a:pPr marL="0" indent="0">
              <a:buNone/>
            </a:pPr>
            <a:r>
              <a:rPr lang="en-US" sz="1200" b="1" kern="0" spc="20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marL="0" indent="0">
              <a:lnSpc>
                <a:spcPct val="108000"/>
              </a:lnSpc>
              <a:buNone/>
            </a:pPr>
            <a:r>
              <a:rPr lang="en-US" sz="1600" dirty="0">
                <a:solidFill>
                  <a:srgbClr val="1F2430"/>
                </a:solidFill>
                <a:latin typeface="Calibri" pitchFamily="34" charset="0"/>
                <a:ea typeface="Calibri" pitchFamily="34" charset="-122"/>
                <a:cs typeface="Calibri" pitchFamily="34" charset="-120"/>
              </a:rPr>
              <a:t>To purchase goods now and pay for them over time in installments, rather than all at once.</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txBody>
          <a:bodyPr/>
          <a:lstStyle/>
          <a:p>
            <a:endParaRPr lang="en-US"/>
          </a:p>
        </p:txBody>
      </p:sp>
      <p:sp>
        <p:nvSpPr>
          <p:cNvPr id="16" name="Text 14"/>
          <p:cNvSpPr/>
          <p:nvPr/>
        </p:nvSpPr>
        <p:spPr>
          <a:xfrm>
            <a:off x="822960" y="5623560"/>
            <a:ext cx="10515600" cy="457200"/>
          </a:xfrm>
          <a:prstGeom prst="rect">
            <a:avLst/>
          </a:prstGeom>
          <a:noFill/>
          <a:ln/>
        </p:spPr>
        <p:txBody>
          <a:bodyPr wrap="square" rtlCol="0" anchor="ctr"/>
          <a:lstStyle/>
          <a:p>
            <a:pPr marL="0" indent="0">
              <a:buNone/>
            </a:pPr>
            <a:r>
              <a:rPr lang="en-US" sz="1150" b="1" i="1" kern="0" spc="100" dirty="0">
                <a:solidFill>
                  <a:srgbClr val="C62828"/>
                </a:solidFill>
                <a:latin typeface="Trebuchet MS" pitchFamily="34" charset="0"/>
                <a:ea typeface="Trebuchet MS" pitchFamily="34" charset="-122"/>
                <a:cs typeface="Trebuchet MS" pitchFamily="34" charset="-120"/>
              </a:rPr>
              <a:t>COMMIT FIRST:  </a:t>
            </a: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176</a:t>
            </a:r>
            <a:endParaRPr lang="en-US" sz="9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txBody>
          <a:bodyPr/>
          <a:lstStyle/>
          <a:p>
            <a:endParaRPr lang="en-US"/>
          </a:p>
        </p:txBody>
      </p:sp>
      <p:sp>
        <p:nvSpPr>
          <p:cNvPr id="6" name="Text 4"/>
          <p:cNvSpPr/>
          <p:nvPr/>
        </p:nvSpPr>
        <p:spPr>
          <a:xfrm>
            <a:off x="1005840" y="1965960"/>
            <a:ext cx="10149840" cy="1645920"/>
          </a:xfrm>
          <a:prstGeom prst="rect">
            <a:avLst/>
          </a:prstGeom>
          <a:noFill/>
          <a:ln/>
        </p:spPr>
        <p:txBody>
          <a:bodyPr wrap="square" rtlCol="0" anchor="ctr"/>
          <a:lstStyle/>
          <a:p>
            <a:pPr marL="0" indent="0">
              <a:lnSpc>
                <a:spcPct val="108000"/>
              </a:lnSpc>
              <a:buNone/>
            </a:pPr>
            <a:r>
              <a:rPr lang="en-US" sz="2600" i="1" dirty="0">
                <a:solidFill>
                  <a:srgbClr val="FFFFFF"/>
                </a:solidFill>
                <a:latin typeface="Georgia" pitchFamily="34" charset="0"/>
                <a:ea typeface="Georgia" pitchFamily="34" charset="-122"/>
                <a:cs typeface="Georgia" pitchFamily="34" charset="-120"/>
              </a:rPr>
              <a:t>In the 1920s Americans discovered they could buy a car, a radio, or a refrigerator today and pay for it later, and millions rushed to borrow money to buy stocks they were sure would only go up.</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txBody>
          <a:bodyPr/>
          <a:lstStyle/>
          <a:p>
            <a:endParaRPr lang="en-US"/>
          </a:p>
        </p:txBody>
      </p:sp>
      <p:sp>
        <p:nvSpPr>
          <p:cNvPr id="8" name="Text 6"/>
          <p:cNvSpPr/>
          <p:nvPr/>
        </p:nvSpPr>
        <p:spPr>
          <a:xfrm>
            <a:off x="914400" y="4297680"/>
            <a:ext cx="2743200" cy="320040"/>
          </a:xfrm>
          <a:prstGeom prst="rect">
            <a:avLst/>
          </a:prstGeom>
          <a:noFill/>
          <a:ln/>
        </p:spPr>
        <p:txBody>
          <a:bodyPr wrap="square" rtlCol="0" anchor="ctr"/>
          <a:lstStyle/>
          <a:p>
            <a:pPr marL="0" indent="0">
              <a:buNone/>
            </a:pPr>
            <a:r>
              <a:rPr lang="en-US" sz="1300" b="1" kern="0" spc="20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txBody>
          <a:bodyPr/>
          <a:lstStyle/>
          <a:p>
            <a:endParaRPr lang="en-US"/>
          </a:p>
        </p:txBody>
      </p:sp>
      <p:sp>
        <p:nvSpPr>
          <p:cNvPr id="10" name="Text 8"/>
          <p:cNvSpPr/>
          <p:nvPr/>
        </p:nvSpPr>
        <p:spPr>
          <a:xfrm>
            <a:off x="7772400" y="4224528"/>
            <a:ext cx="3657600" cy="45720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marL="0" indent="0">
              <a:lnSpc>
                <a:spcPct val="110000"/>
              </a:lnSpc>
              <a:buNone/>
            </a:pPr>
            <a:r>
              <a:rPr lang="en-US" sz="1600" dirty="0">
                <a:solidFill>
                  <a:srgbClr val="1F2430"/>
                </a:solidFill>
                <a:latin typeface="Calibri" pitchFamily="34" charset="0"/>
                <a:ea typeface="Calibri" pitchFamily="34" charset="-122"/>
                <a:cs typeface="Calibri" pitchFamily="34" charset="-120"/>
              </a:rPr>
              <a:t>If everyone is borrowing to buy and betting the good times will never end, what happens when the bill finally comes due?</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177</a:t>
            </a:r>
            <a:endParaRPr lang="en-US" sz="9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Credit Expansion and Economic Growth</a:t>
            </a:r>
            <a:endParaRPr lang="en-US" sz="3000" dirty="0"/>
          </a:p>
        </p:txBody>
      </p:sp>
      <p:sp>
        <p:nvSpPr>
          <p:cNvPr id="5" name="Shape 3"/>
          <p:cNvSpPr/>
          <p:nvPr/>
        </p:nvSpPr>
        <p:spPr>
          <a:xfrm>
            <a:off x="10180015" y="502920"/>
            <a:ext cx="146304" cy="146304"/>
          </a:xfrm>
          <a:prstGeom prst="ellipse">
            <a:avLst/>
          </a:prstGeom>
          <a:solidFill>
            <a:srgbClr val="C62828"/>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Installment buying ("buy now, pay later") made expensive goods affordable.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Consumer debt increased from $3.3 billion (1920) to $7.6 billion (1929).</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By 1929, 75% of cars were purchased on credit.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Banks and retailers offered loans for automobiles, appliances, and homes.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Credit-driven demand increased production and employment, but also accumulated unsustainable debt levels.</a:t>
            </a:r>
            <a:endParaRPr lang="en-US" sz="1700" dirty="0"/>
          </a:p>
        </p:txBody>
      </p:sp>
      <p:sp>
        <p:nvSpPr>
          <p:cNvPr id="13" name="Shape 11"/>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txBody>
          <a:bodyPr/>
          <a:lstStyle/>
          <a:p>
            <a:endParaRPr lang="en-US"/>
          </a:p>
        </p:txBody>
      </p:sp>
      <p:sp>
        <p:nvSpPr>
          <p:cNvPr id="14" name="Text 12"/>
          <p:cNvSpPr/>
          <p:nvPr/>
        </p:nvSpPr>
        <p:spPr>
          <a:xfrm>
            <a:off x="1024128" y="4681728"/>
            <a:ext cx="10149840" cy="237744"/>
          </a:xfrm>
          <a:prstGeom prst="rect">
            <a:avLst/>
          </a:prstGeom>
          <a:noFill/>
          <a:ln/>
        </p:spPr>
        <p:txBody>
          <a:bodyPr wrap="square" rtlCol="0" anchor="ctr"/>
          <a:lstStyle/>
          <a:p>
            <a:pPr marL="0" indent="0">
              <a:buNone/>
            </a:pPr>
            <a:r>
              <a:rPr lang="en-US" sz="900" b="1" kern="0" spc="100" dirty="0">
                <a:solidFill>
                  <a:srgbClr val="002858"/>
                </a:solidFill>
                <a:latin typeface="Trebuchet MS" pitchFamily="34" charset="0"/>
                <a:ea typeface="Trebuchet MS" pitchFamily="34" charset="-122"/>
                <a:cs typeface="Trebuchet MS" pitchFamily="34" charset="-120"/>
              </a:rPr>
              <a:t>SENTENCE FRAME  </a:t>
            </a:r>
            <a:r>
              <a:rPr lang="en-US" sz="850" i="1" dirty="0">
                <a:solidFill>
                  <a:srgbClr val="5C6470"/>
                </a:solidFill>
              </a:rPr>
              <a:t>(EL &amp; writing support)  </a:t>
            </a:r>
            <a:endParaRPr lang="en-US" sz="900" dirty="0"/>
          </a:p>
        </p:txBody>
      </p:sp>
      <p:sp>
        <p:nvSpPr>
          <p:cNvPr id="15" name="Text 13"/>
          <p:cNvSpPr/>
          <p:nvPr/>
        </p:nvSpPr>
        <p:spPr>
          <a:xfrm>
            <a:off x="1024128" y="4937760"/>
            <a:ext cx="10607040" cy="658368"/>
          </a:xfrm>
          <a:prstGeom prst="rect">
            <a:avLst/>
          </a:prstGeom>
          <a:noFill/>
          <a:ln/>
        </p:spPr>
        <p:txBody>
          <a:bodyPr wrap="square" rtlCol="0" anchor="t"/>
          <a:lstStyle/>
          <a:p>
            <a:pPr marL="0" indent="0">
              <a:lnSpc>
                <a:spcPct val="104000"/>
              </a:lnSpc>
              <a:buNone/>
            </a:pPr>
            <a:r>
              <a:rPr lang="en-US" sz="1150" i="1" dirty="0">
                <a:solidFill>
                  <a:srgbClr val="1F2430"/>
                </a:solidFill>
                <a:latin typeface="Calibri" pitchFamily="34" charset="0"/>
                <a:ea typeface="Calibri" pitchFamily="34" charset="-122"/>
                <a:cs typeface="Calibri" pitchFamily="34" charset="-120"/>
              </a:rPr>
              <a:t>The prosperity of the 1920s was built on ________, which was dangerous because ________.</a:t>
            </a:r>
            <a:endParaRPr lang="en-US" sz="115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178</a:t>
            </a:r>
            <a:endParaRPr lang="en-US" sz="9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Consumerism and Cultural Change</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C62828"/>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Purchasing goods became central to American identity and status.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Mass production made standardized products available to broad populations.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Advertising created brand loyalty through emotional appeals rather than just product information.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Lifestyle marketing sold products as means to achieve desired lifestyles.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Success became increasingly measured by possessions rather than character.</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179</a:t>
            </a:r>
            <a:endParaRPr lang="en-US" sz="9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Financial Speculation</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C62828"/>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Investors could buy stocks with as little as 10% down payment (buying on margin).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Speculation fever meant ordinary Americans invested life savings in the stock market.</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Stock prices rose far beyond companies' actual worth, creating an investment bubble.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Margin requirements meant small price declines triggered forced selling that accelerated market drops.</a:t>
            </a:r>
            <a:endParaRPr lang="en-US" sz="1550" dirty="0"/>
          </a:p>
        </p:txBody>
      </p:sp>
      <p:sp>
        <p:nvSpPr>
          <p:cNvPr id="13" name="Shape 11"/>
          <p:cNvSpPr/>
          <p:nvPr/>
        </p:nvSpPr>
        <p:spPr>
          <a:xfrm>
            <a:off x="7552944" y="1746504"/>
            <a:ext cx="4142232" cy="3575304"/>
          </a:xfrm>
          <a:prstGeom prst="rect">
            <a:avLst/>
          </a:prstGeom>
          <a:solidFill>
            <a:srgbClr val="FFFFFF"/>
          </a:solidFill>
          <a:ln w="12700">
            <a:solidFill>
              <a:srgbClr val="DAD3C2"/>
            </a:solidFill>
            <a:prstDash val="solid"/>
          </a:ln>
        </p:spPr>
        <p:txBody>
          <a:bodyPr/>
          <a:lstStyle/>
          <a:p>
            <a:endParaRPr lang="en-US"/>
          </a:p>
        </p:txBody>
      </p:sp>
      <p:pic>
        <p:nvPicPr>
          <p:cNvPr id="14" name="Image 0" descr="unit4-full/img/stock-market-crash-1929.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89520" y="1931956"/>
            <a:ext cx="4069080" cy="3204401"/>
          </a:xfrm>
          <a:prstGeom prst="rect">
            <a:avLst/>
          </a:prstGeom>
        </p:spPr>
      </p:pic>
      <p:sp>
        <p:nvSpPr>
          <p:cNvPr id="15" name="Text 12"/>
          <p:cNvSpPr/>
          <p:nvPr/>
        </p:nvSpPr>
        <p:spPr>
          <a:xfrm>
            <a:off x="7589520" y="5340096"/>
            <a:ext cx="4069080" cy="512064"/>
          </a:xfrm>
          <a:prstGeom prst="rect">
            <a:avLst/>
          </a:prstGeom>
          <a:noFill/>
          <a:ln/>
        </p:spPr>
        <p:txBody>
          <a:bodyPr wrap="square" rtlCol="0" anchor="t"/>
          <a:lstStyle/>
          <a:p>
            <a:pPr marL="0" indent="0" algn="l">
              <a:lnSpc>
                <a:spcPct val="100000"/>
              </a:lnSpc>
              <a:buNone/>
            </a:pPr>
            <a:r>
              <a:rPr lang="en-US" sz="800" i="1" dirty="0">
                <a:solidFill>
                  <a:srgbClr val="5C6470"/>
                </a:solidFill>
                <a:latin typeface="Calibri" pitchFamily="34" charset="0"/>
                <a:ea typeface="Calibri" pitchFamily="34" charset="-122"/>
                <a:cs typeface="Calibri" pitchFamily="34" charset="-120"/>
              </a:rPr>
              <a:t>News photo, 1929  </a:t>
            </a:r>
            <a:r>
              <a:rPr lang="en-US" sz="8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U.S. Social Security Administration</a:t>
            </a:r>
            <a:endParaRPr lang="en-US" sz="800" dirty="0"/>
          </a:p>
        </p:txBody>
      </p:sp>
      <p:sp>
        <p:nvSpPr>
          <p:cNvPr id="16" name="Text 13"/>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180</a:t>
            </a:r>
            <a:endParaRPr lang="en-US" sz="9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Interconnections Creating Vulnerability</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C62828"/>
          </a:solidFill>
          <a:ln/>
        </p:spPr>
        <p:txBody>
          <a:bodyPr/>
          <a:lstStyle/>
          <a:p>
            <a:endParaRPr lang="en-US"/>
          </a:p>
        </p:txBody>
      </p:sp>
      <p:sp>
        <p:nvSpPr>
          <p:cNvPr id="9" name="Shape 7"/>
          <p:cNvSpPr/>
          <p:nvPr/>
        </p:nvSpPr>
        <p:spPr>
          <a:xfrm>
            <a:off x="11350447" y="502920"/>
            <a:ext cx="146304" cy="146304"/>
          </a:xfrm>
          <a:prstGeom prst="ellipse">
            <a:avLst/>
          </a:prstGeom>
          <a:solidFill>
            <a:srgbClr val="A7BACB"/>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Credit enabled consumer purchases and stock investments, driving production and corporate profits higher.</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Rising asset values encouraged more lending.</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cycle created an unsustainable bubble.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Warning signs included overproduction, income inequality limiting purchasing power, and debt levels beyond what the economy could support.</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181</a:t>
            </a:r>
            <a:endParaRPr lang="en-US" sz="9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marL="0" indent="0">
              <a:buNone/>
            </a:pPr>
            <a:r>
              <a:rPr lang="en-US" sz="3000" b="1" dirty="0">
                <a:solidFill>
                  <a:srgbClr val="1A2332"/>
                </a:solidFill>
                <a:latin typeface="Georgia" pitchFamily="34" charset="0"/>
                <a:ea typeface="Georgia" pitchFamily="34" charset="-122"/>
                <a:cs typeface="Georgia" pitchFamily="34" charset="-120"/>
              </a:rPr>
              <a:t>Technology and Advertising Impact</a:t>
            </a:r>
            <a:endParaRPr lang="en-US" sz="3000" dirty="0"/>
          </a:p>
        </p:txBody>
      </p:sp>
      <p:sp>
        <p:nvSpPr>
          <p:cNvPr id="5" name="Shape 3"/>
          <p:cNvSpPr/>
          <p:nvPr/>
        </p:nvSpPr>
        <p:spPr>
          <a:xfrm>
            <a:off x="10180015" y="502920"/>
            <a:ext cx="146304" cy="146304"/>
          </a:xfrm>
          <a:prstGeom prst="ellipse">
            <a:avLst/>
          </a:prstGeom>
          <a:solidFill>
            <a:srgbClr val="A7BACB"/>
          </a:solidFill>
          <a:ln/>
        </p:spPr>
        <p:txBody>
          <a:bodyPr/>
          <a:lstStyle/>
          <a:p>
            <a:endParaRPr lang="en-US"/>
          </a:p>
        </p:txBody>
      </p:sp>
      <p:sp>
        <p:nvSpPr>
          <p:cNvPr id="6" name="Shape 4"/>
          <p:cNvSpPr/>
          <p:nvPr/>
        </p:nvSpPr>
        <p:spPr>
          <a:xfrm>
            <a:off x="10472623" y="502920"/>
            <a:ext cx="146304" cy="146304"/>
          </a:xfrm>
          <a:prstGeom prst="ellipse">
            <a:avLst/>
          </a:prstGeom>
          <a:solidFill>
            <a:srgbClr val="A7BACB"/>
          </a:solidFill>
          <a:ln/>
        </p:spPr>
        <p:txBody>
          <a:bodyPr/>
          <a:lstStyle/>
          <a:p>
            <a:endParaRPr lang="en-US"/>
          </a:p>
        </p:txBody>
      </p:sp>
      <p:sp>
        <p:nvSpPr>
          <p:cNvPr id="7" name="Shape 5"/>
          <p:cNvSpPr/>
          <p:nvPr/>
        </p:nvSpPr>
        <p:spPr>
          <a:xfrm>
            <a:off x="10765231" y="502920"/>
            <a:ext cx="146304" cy="146304"/>
          </a:xfrm>
          <a:prstGeom prst="ellipse">
            <a:avLst/>
          </a:prstGeom>
          <a:solidFill>
            <a:srgbClr val="A7BACB"/>
          </a:solidFill>
          <a:ln/>
        </p:spPr>
        <p:txBody>
          <a:bodyPr/>
          <a:lstStyle/>
          <a:p>
            <a:endParaRPr lang="en-US"/>
          </a:p>
        </p:txBody>
      </p:sp>
      <p:sp>
        <p:nvSpPr>
          <p:cNvPr id="8" name="Shape 6"/>
          <p:cNvSpPr/>
          <p:nvPr/>
        </p:nvSpPr>
        <p:spPr>
          <a:xfrm>
            <a:off x="11057839" y="502920"/>
            <a:ext cx="146304" cy="146304"/>
          </a:xfrm>
          <a:prstGeom prst="ellipse">
            <a:avLst/>
          </a:prstGeom>
          <a:solidFill>
            <a:srgbClr val="A7BACB"/>
          </a:solidFill>
          <a:ln/>
        </p:spPr>
        <p:txBody>
          <a:bodyPr/>
          <a:lstStyle/>
          <a:p>
            <a:endParaRPr lang="en-US"/>
          </a:p>
        </p:txBody>
      </p:sp>
      <p:sp>
        <p:nvSpPr>
          <p:cNvPr id="9" name="Shape 7"/>
          <p:cNvSpPr/>
          <p:nvPr/>
        </p:nvSpPr>
        <p:spPr>
          <a:xfrm>
            <a:off x="11350447" y="502920"/>
            <a:ext cx="146304" cy="146304"/>
          </a:xfrm>
          <a:prstGeom prst="ellipse">
            <a:avLst/>
          </a:prstGeom>
          <a:solidFill>
            <a:srgbClr val="C62828"/>
          </a:solidFill>
          <a:ln/>
        </p:spPr>
        <p:txBody>
          <a:bodyPr/>
          <a:lstStyle/>
          <a:p>
            <a:endParaRPr lang="en-US"/>
          </a:p>
        </p:txBody>
      </p:sp>
      <p:sp>
        <p:nvSpPr>
          <p:cNvPr id="10" name="Text 8"/>
          <p:cNvSpPr/>
          <p:nvPr/>
        </p:nvSpPr>
        <p:spPr>
          <a:xfrm>
            <a:off x="9219895" y="411480"/>
            <a:ext cx="914400" cy="329184"/>
          </a:xfrm>
          <a:prstGeom prst="rect">
            <a:avLst/>
          </a:prstGeom>
          <a:noFill/>
          <a:ln/>
        </p:spPr>
        <p:txBody>
          <a:bodyPr wrap="square" rtlCol="0" anchor="ctr"/>
          <a:lstStyle/>
          <a:p>
            <a:pPr marL="0" indent="0" algn="r">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txBody>
          <a:bodyPr/>
          <a:lstStyle/>
          <a:p>
            <a:endParaRPr lang="en-US"/>
          </a:p>
        </p:txBody>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Radio and magazines enabled national advertising campaigns that used psychological appeals.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Household appliances—refrigerators, washing machines, vacuum cleaners—changed domestic life.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Automobiles made middle-class families mobile.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These technologies, promoted through advertising, created consumer expectations and desires that drove purchasing and economic growth.</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182</a:t>
            </a:r>
            <a:endParaRPr lang="en-US" sz="9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27632"/>
            <a:ext cx="11064240" cy="868680"/>
          </a:xfrm>
          <a:prstGeom prst="rect">
            <a:avLst/>
          </a:prstGeom>
          <a:solidFill>
            <a:srgbClr val="1A2332"/>
          </a:solidFill>
          <a:ln/>
        </p:spPr>
        <p:txBody>
          <a:bodyPr/>
          <a:lstStyle/>
          <a:p>
            <a:endParaRPr lang="en-US"/>
          </a:p>
        </p:txBody>
      </p:sp>
      <p:sp>
        <p:nvSpPr>
          <p:cNvPr id="7" name="Text 5"/>
          <p:cNvSpPr/>
          <p:nvPr/>
        </p:nvSpPr>
        <p:spPr>
          <a:xfrm>
            <a:off x="667512" y="1627632"/>
            <a:ext cx="10826496" cy="630936"/>
          </a:xfrm>
          <a:prstGeom prst="rect">
            <a:avLst/>
          </a:prstGeom>
          <a:noFill/>
          <a:ln/>
        </p:spPr>
        <p:txBody>
          <a:bodyPr wrap="square" rtlCol="0" anchor="ctr">
            <a:normAutofit/>
          </a:bodyPr>
          <a:lstStyle/>
          <a:p>
            <a:pPr marL="0" indent="0">
              <a:lnSpc>
                <a:spcPct val="95000"/>
              </a:lnSpc>
              <a:buNone/>
            </a:pPr>
            <a:r>
              <a:rPr lang="en-US" sz="1800" b="1" dirty="0">
                <a:solidFill>
                  <a:srgbClr val="FFFFFF"/>
                </a:solidFill>
                <a:latin typeface="Georgia" pitchFamily="34" charset="0"/>
                <a:ea typeface="Georgia" pitchFamily="34" charset="-122"/>
                <a:cs typeface="Georgia" pitchFamily="34" charset="-120"/>
              </a:rPr>
              <a:t>Calvin Coolidge</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marL="0" indent="0">
              <a:buNone/>
            </a:pPr>
            <a:r>
              <a:rPr lang="en-US" sz="1100" dirty="0">
                <a:solidFill>
                  <a:srgbClr val="F9A825"/>
                </a:solidFill>
                <a:latin typeface="Trebuchet MS" pitchFamily="34" charset="0"/>
                <a:ea typeface="Trebuchet MS" pitchFamily="34" charset="-122"/>
                <a:cs typeface="Trebuchet MS" pitchFamily="34" charset="-120"/>
              </a:rPr>
              <a:t>30th President (1923-1929)</a:t>
            </a:r>
            <a:endParaRPr lang="en-US" sz="1100" dirty="0"/>
          </a:p>
        </p:txBody>
      </p:sp>
      <p:sp>
        <p:nvSpPr>
          <p:cNvPr id="9" name="Shape 7"/>
          <p:cNvSpPr/>
          <p:nvPr/>
        </p:nvSpPr>
        <p:spPr>
          <a:xfrm>
            <a:off x="667512" y="2578608"/>
            <a:ext cx="1772662" cy="2212848"/>
          </a:xfrm>
          <a:prstGeom prst="rect">
            <a:avLst/>
          </a:prstGeom>
          <a:solidFill>
            <a:srgbClr val="FFFFFF"/>
          </a:solidFill>
          <a:ln w="12700">
            <a:solidFill>
              <a:srgbClr val="DAD3C2"/>
            </a:solidFill>
            <a:prstDash val="solid"/>
          </a:ln>
        </p:spPr>
        <p:txBody>
          <a:bodyPr/>
          <a:lstStyle/>
          <a:p>
            <a:endParaRPr lang="en-US"/>
          </a:p>
        </p:txBody>
      </p:sp>
      <p:pic>
        <p:nvPicPr>
          <p:cNvPr id="10" name="Image 0" descr="unit4-full/img/calvin-coolidge.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94944" y="2606040"/>
            <a:ext cx="1717798" cy="2157984"/>
          </a:xfrm>
          <a:prstGeom prst="rect">
            <a:avLst/>
          </a:prstGeom>
        </p:spPr>
      </p:pic>
      <p:sp>
        <p:nvSpPr>
          <p:cNvPr id="11" name="Text 8"/>
          <p:cNvSpPr/>
          <p:nvPr/>
        </p:nvSpPr>
        <p:spPr>
          <a:xfrm>
            <a:off x="694944" y="4800600"/>
            <a:ext cx="2220718" cy="365760"/>
          </a:xfrm>
          <a:prstGeom prst="rect">
            <a:avLst/>
          </a:prstGeom>
          <a:noFill/>
          <a:ln/>
        </p:spPr>
        <p:txBody>
          <a:bodyPr wrap="square" rtlCol="0" anchor="t"/>
          <a:lstStyle/>
          <a:p>
            <a:pPr marL="0" indent="0">
              <a:lnSpc>
                <a:spcPct val="95000"/>
              </a:lnSpc>
              <a:buNone/>
            </a:pPr>
            <a:r>
              <a:rPr lang="en-US" sz="600" i="1" dirty="0">
                <a:solidFill>
                  <a:srgbClr val="5C6470"/>
                </a:solidFill>
                <a:latin typeface="Calibri" pitchFamily="34" charset="0"/>
                <a:ea typeface="Calibri" pitchFamily="34" charset="-122"/>
                <a:cs typeface="Calibri" pitchFamily="34" charset="-120"/>
              </a:rPr>
              <a:t>Library of Congress, c1923  </a:t>
            </a:r>
            <a:r>
              <a:rPr lang="en-US" sz="60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Library of Congress</a:t>
            </a:r>
            <a:endParaRPr lang="en-US" sz="600" dirty="0"/>
          </a:p>
        </p:txBody>
      </p:sp>
      <p:sp>
        <p:nvSpPr>
          <p:cNvPr id="12" name="Text 9"/>
          <p:cNvSpPr/>
          <p:nvPr/>
        </p:nvSpPr>
        <p:spPr>
          <a:xfrm>
            <a:off x="2595622" y="2606040"/>
            <a:ext cx="8870954"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'The chief business of the American people is business'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Cut taxes and championed pro-business policy</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Presided over the late-1920s boom before the crash</a:t>
            </a:r>
            <a:endParaRPr lang="en-US" sz="1300" dirty="0"/>
          </a:p>
        </p:txBody>
      </p:sp>
      <p:sp>
        <p:nvSpPr>
          <p:cNvPr id="13" name="Shape 10"/>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txBody>
          <a:bodyPr/>
          <a:lstStyle/>
          <a:p>
            <a:endParaRPr lang="en-US"/>
          </a:p>
        </p:txBody>
      </p:sp>
      <p:sp>
        <p:nvSpPr>
          <p:cNvPr id="14" name="Text 11"/>
          <p:cNvSpPr/>
          <p:nvPr/>
        </p:nvSpPr>
        <p:spPr>
          <a:xfrm>
            <a:off x="749808" y="5175504"/>
            <a:ext cx="10680192" cy="457200"/>
          </a:xfrm>
          <a:prstGeom prst="rect">
            <a:avLst/>
          </a:prstGeom>
          <a:noFill/>
          <a:ln/>
        </p:spPr>
        <p:txBody>
          <a:bodyPr wrap="square" rtlCol="0" anchor="ctr">
            <a:normAutofit/>
          </a:bodyPr>
          <a:lstStyle/>
          <a:p>
            <a:pPr marL="0" indent="0">
              <a:lnSpc>
                <a:spcPct val="92000"/>
              </a:lnSpc>
              <a:buNone/>
            </a:pPr>
            <a:r>
              <a:rPr lang="en-US" sz="800" b="1" kern="0" spc="100" dirty="0">
                <a:solidFill>
                  <a:srgbClr val="C62828"/>
                </a:solidFill>
                <a:latin typeface="Trebuchet MS" pitchFamily="34" charset="0"/>
                <a:ea typeface="Trebuchet MS" pitchFamily="34" charset="-122"/>
                <a:cs typeface="Trebuchet MS" pitchFamily="34" charset="-120"/>
              </a:rPr>
              <a:t>STRATEGY  </a:t>
            </a:r>
            <a:r>
              <a:rPr lang="en-US" sz="1100" b="1" dirty="0">
                <a:solidFill>
                  <a:srgbClr val="1A2332"/>
                </a:solidFill>
                <a:latin typeface="Calibri" pitchFamily="34" charset="0"/>
                <a:ea typeface="Calibri" pitchFamily="34" charset="-122"/>
                <a:cs typeface="Calibri" pitchFamily="34" charset="-120"/>
              </a:rPr>
              <a:t>Use Coolidge to name the pro-business optimism that made speculation feel safe - then set up US.38's hidden risks.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183</a:t>
            </a:r>
            <a:endParaRPr lang="en-US" sz="9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002858"/>
                </a:solidFill>
                <a:latin typeface="Trebuchet MS" pitchFamily="34" charset="0"/>
                <a:ea typeface="Trebuchet MS" pitchFamily="34" charset="-122"/>
                <a:cs typeface="Trebuchet MS" pitchFamily="34" charset="-120"/>
              </a:rPr>
              <a:t>US.38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marL="0" indent="0">
              <a:buNone/>
            </a:pPr>
            <a:r>
              <a:rPr lang="en-US" sz="2000" b="1" dirty="0">
                <a:solidFill>
                  <a:srgbClr val="1A2332"/>
                </a:solidFill>
                <a:latin typeface="Georgia" pitchFamily="34" charset="0"/>
                <a:ea typeface="Georgia" pitchFamily="34" charset="-122"/>
                <a:cs typeface="Georgia" pitchFamily="34" charset="-120"/>
              </a:rPr>
              <a:t>General Motors Installment Plan Advertisement</a:t>
            </a:r>
            <a:endParaRPr lang="en-US" sz="20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lstStyle/>
          <a:p>
            <a:endParaRPr lang="en-US"/>
          </a:p>
        </p:txBody>
      </p:sp>
      <p:sp>
        <p:nvSpPr>
          <p:cNvPr id="6" name="Text 4"/>
          <p:cNvSpPr/>
          <p:nvPr/>
        </p:nvSpPr>
        <p:spPr>
          <a:xfrm>
            <a:off x="9418320" y="777240"/>
            <a:ext cx="219456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General Motors Acceptance Corporation  ·  1926</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txBody>
          <a:bodyPr/>
          <a:lstStyle/>
          <a:p>
            <a:endParaRPr lang="en-US"/>
          </a:p>
        </p:txBody>
      </p:sp>
      <p:sp>
        <p:nvSpPr>
          <p:cNvPr id="9" name="Shape 7"/>
          <p:cNvSpPr/>
          <p:nvPr/>
        </p:nvSpPr>
        <p:spPr>
          <a:xfrm>
            <a:off x="548640" y="1737360"/>
            <a:ext cx="109728" cy="3246120"/>
          </a:xfrm>
          <a:prstGeom prst="rect">
            <a:avLst/>
          </a:prstGeom>
          <a:solidFill>
            <a:srgbClr val="C9A84C"/>
          </a:solidFill>
          <a:ln/>
        </p:spPr>
        <p:txBody>
          <a:bodyPr/>
          <a:lstStyle/>
          <a:p>
            <a:endParaRPr lang="en-US"/>
          </a:p>
        </p:txBody>
      </p:sp>
      <p:sp>
        <p:nvSpPr>
          <p:cNvPr id="10" name="Text 8"/>
          <p:cNvSpPr/>
          <p:nvPr/>
        </p:nvSpPr>
        <p:spPr>
          <a:xfrm>
            <a:off x="868680" y="1938528"/>
            <a:ext cx="6355080" cy="2295144"/>
          </a:xfrm>
          <a:prstGeom prst="rect">
            <a:avLst/>
          </a:prstGeom>
          <a:noFill/>
          <a:ln/>
        </p:spPr>
        <p:txBody>
          <a:bodyPr wrap="square" rtlCol="0" anchor="t"/>
          <a:lstStyle/>
          <a:p>
            <a:pPr marL="0" indent="0">
              <a:lnSpc>
                <a:spcPct val="114000"/>
              </a:lnSpc>
              <a:buNone/>
            </a:pPr>
            <a:r>
              <a:rPr lang="en-US" sz="1400" i="1" dirty="0">
                <a:solidFill>
                  <a:srgbClr val="1F2430"/>
                </a:solidFill>
                <a:latin typeface="Georgia" pitchFamily="34" charset="0"/>
                <a:ea typeface="Georgia" pitchFamily="34" charset="-122"/>
                <a:cs typeface="Georgia" pitchFamily="34" charset="-120"/>
              </a:rPr>
              <a:t>"Why wait? Drive the car you want NOW and pay for it as you ride. GMAC Time Payment Plan makes it possible for every family to enjoy the benefits of automobile ownership. A small down payment puts you behind the wheel today. Easy monthly payments fit your budget. Don't deny yourself the pleasure and convenience of a new car."</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txBody>
          <a:bodyPr/>
          <a:lstStyle/>
          <a:p>
            <a:endParaRPr lang="en-US"/>
          </a:p>
        </p:txBody>
      </p:sp>
      <p:sp>
        <p:nvSpPr>
          <p:cNvPr id="12" name="Text 10"/>
          <p:cNvSpPr/>
          <p:nvPr/>
        </p:nvSpPr>
        <p:spPr>
          <a:xfrm>
            <a:off x="1051560" y="4270248"/>
            <a:ext cx="6035040" cy="566928"/>
          </a:xfrm>
          <a:prstGeom prst="rect">
            <a:avLst/>
          </a:prstGeom>
          <a:noFill/>
          <a:ln/>
        </p:spPr>
        <p:txBody>
          <a:bodyPr wrap="square" rtlCol="0" anchor="ctr"/>
          <a:lstStyle/>
          <a:p>
            <a:pPr marL="0" indent="0">
              <a:lnSpc>
                <a:spcPct val="98000"/>
              </a:lnSpc>
              <a:buNone/>
            </a:pPr>
            <a:r>
              <a:rPr lang="en-US" sz="1000" b="1" kern="0" spc="150" dirty="0">
                <a:solidFill>
                  <a:srgbClr val="1A2332"/>
                </a:solidFill>
                <a:latin typeface="Trebuchet MS" pitchFamily="34" charset="0"/>
                <a:ea typeface="Trebuchet MS" pitchFamily="34" charset="-122"/>
                <a:cs typeface="Trebuchet MS" pitchFamily="34" charset="-120"/>
              </a:rPr>
              <a:t>READ CLOSELY  </a:t>
            </a: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2011680"/>
          </a:xfrm>
          <a:prstGeom prst="roundRect">
            <a:avLst>
              <a:gd name="adj" fmla="val 3636"/>
            </a:avLst>
          </a:prstGeom>
          <a:solidFill>
            <a:srgbClr val="1A2332"/>
          </a:solidFill>
          <a:ln/>
        </p:spPr>
        <p:txBody>
          <a:bodyPr/>
          <a:lstStyle/>
          <a:p>
            <a:endParaRPr lang="en-US"/>
          </a:p>
        </p:txBody>
      </p:sp>
      <p:sp>
        <p:nvSpPr>
          <p:cNvPr id="14" name="Text 12"/>
          <p:cNvSpPr/>
          <p:nvPr/>
        </p:nvSpPr>
        <p:spPr>
          <a:xfrm>
            <a:off x="7818120" y="1856232"/>
            <a:ext cx="3657600" cy="274320"/>
          </a:xfrm>
          <a:prstGeom prst="rect">
            <a:avLst/>
          </a:prstGeom>
          <a:noFill/>
          <a:ln/>
        </p:spPr>
        <p:txBody>
          <a:bodyPr wrap="square" rtlCol="0" anchor="ctr"/>
          <a:lstStyle/>
          <a:p>
            <a:pPr marL="0" indent="0">
              <a:buNone/>
            </a:pPr>
            <a:r>
              <a:rPr lang="en-US" sz="1100" b="1" kern="0" spc="20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499616"/>
          </a:xfrm>
          <a:prstGeom prst="rect">
            <a:avLst/>
          </a:prstGeom>
          <a:noFill/>
          <a:ln/>
        </p:spPr>
        <p:txBody>
          <a:bodyPr wrap="square" rtlCol="0" anchor="t">
            <a:normAutofit/>
          </a:bodyPr>
          <a:lstStyle/>
          <a:p>
            <a:pPr marL="0" indent="0">
              <a:lnSpc>
                <a:spcPct val="96000"/>
              </a:lnSpc>
              <a:buNone/>
            </a:pPr>
            <a:r>
              <a:rPr lang="en-US" sz="740" dirty="0">
                <a:solidFill>
                  <a:srgbClr val="FFFFFF"/>
                </a:solidFill>
                <a:latin typeface="Calibri" pitchFamily="34" charset="0"/>
                <a:ea typeface="Calibri" pitchFamily="34" charset="-122"/>
                <a:cs typeface="Calibri" pitchFamily="34" charset="-120"/>
              </a:rPr>
              <a:t>The 1920s saw an unprecedented expansion of consumer credit and installment buying. Before the 1920s, buying on credit was considered shameful — a sign of living beyond one's means. The automobile industry changed this: in 1919, only 4% of car purchases were made on credit; by 1927, nearly two-thirds were. General Motors Acceptance Corporation (GMAC), founded in 1919, was the pioneer of consumer auto financing. The expansion of consumer credit helped fuel the 1920s boom — allowing Americans to buy goods they couldn't afford with cash — but also created a fragile economy heavily dependent on continued consumer confidence and ability to make payments. When the Depression hit, many families couldn't make their installment payments and lost both their goods and their credit.</a:t>
            </a:r>
            <a:endParaRPr lang="en-US" sz="740" dirty="0"/>
          </a:p>
        </p:txBody>
      </p:sp>
      <p:sp>
        <p:nvSpPr>
          <p:cNvPr id="16" name="Shape 14"/>
          <p:cNvSpPr/>
          <p:nvPr/>
        </p:nvSpPr>
        <p:spPr>
          <a:xfrm>
            <a:off x="7589520" y="3931920"/>
            <a:ext cx="4023360" cy="1051560"/>
          </a:xfrm>
          <a:prstGeom prst="roundRect">
            <a:avLst>
              <a:gd name="adj" fmla="val 6957"/>
            </a:avLst>
          </a:prstGeom>
          <a:solidFill>
            <a:srgbClr val="C9A84C"/>
          </a:solidFill>
          <a:ln/>
        </p:spPr>
        <p:txBody>
          <a:bodyPr/>
          <a:lstStyle/>
          <a:p>
            <a:endParaRPr lang="en-US"/>
          </a:p>
        </p:txBody>
      </p:sp>
      <p:sp>
        <p:nvSpPr>
          <p:cNvPr id="17" name="Text 15"/>
          <p:cNvSpPr/>
          <p:nvPr/>
        </p:nvSpPr>
        <p:spPr>
          <a:xfrm>
            <a:off x="7818120" y="4050792"/>
            <a:ext cx="3657600" cy="274320"/>
          </a:xfrm>
          <a:prstGeom prst="rect">
            <a:avLst/>
          </a:prstGeom>
          <a:noFill/>
          <a:ln/>
        </p:spPr>
        <p:txBody>
          <a:bodyPr wrap="square" rtlCol="0" anchor="ctr"/>
          <a:lstStyle/>
          <a:p>
            <a:pPr marL="0" indent="0">
              <a:buNone/>
            </a:pPr>
            <a:r>
              <a:rPr lang="en-US" sz="1100" b="1" kern="0" spc="20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352544"/>
            <a:ext cx="3611880" cy="521208"/>
          </a:xfrm>
          <a:prstGeom prst="rect">
            <a:avLst/>
          </a:prstGeom>
          <a:noFill/>
          <a:ln/>
        </p:spPr>
        <p:txBody>
          <a:bodyPr wrap="square" rtlCol="0" anchor="t"/>
          <a:lstStyle/>
          <a:p>
            <a:pPr marL="0" indent="0">
              <a:lnSpc>
                <a:spcPct val="103000"/>
              </a:lnSpc>
              <a:buNone/>
            </a:pPr>
            <a:r>
              <a:rPr lang="en-US" sz="1250" b="1" dirty="0">
                <a:solidFill>
                  <a:srgbClr val="1A2332"/>
                </a:solidFill>
                <a:latin typeface="Calibri" pitchFamily="34" charset="0"/>
                <a:ea typeface="Calibri" pitchFamily="34" charset="-122"/>
                <a:cs typeface="Calibri" pitchFamily="34" charset="-120"/>
              </a:rPr>
              <a:t>What new purchasing practice does this advertisement promote?</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txBody>
          <a:bodyPr/>
          <a:lstStyle/>
          <a:p>
            <a:endParaRPr lang="en-US"/>
          </a:p>
        </p:txBody>
      </p:sp>
      <p:sp>
        <p:nvSpPr>
          <p:cNvPr id="20" name="Shape 18"/>
          <p:cNvSpPr/>
          <p:nvPr/>
        </p:nvSpPr>
        <p:spPr>
          <a:xfrm>
            <a:off x="548640" y="5120640"/>
            <a:ext cx="2423160" cy="841248"/>
          </a:xfrm>
          <a:prstGeom prst="rect">
            <a:avLst/>
          </a:prstGeom>
          <a:solidFill>
            <a:srgbClr val="002858"/>
          </a:solidFill>
          <a:ln/>
        </p:spPr>
        <p:txBody>
          <a:bodyPr/>
          <a:lstStyle/>
          <a:p>
            <a:endParaRPr lang="en-US"/>
          </a:p>
        </p:txBody>
      </p:sp>
      <p:sp>
        <p:nvSpPr>
          <p:cNvPr id="21" name="Text 19"/>
          <p:cNvSpPr/>
          <p:nvPr/>
        </p:nvSpPr>
        <p:spPr>
          <a:xfrm>
            <a:off x="658368" y="5239512"/>
            <a:ext cx="2194560" cy="274320"/>
          </a:xfrm>
          <a:prstGeom prst="rect">
            <a:avLst/>
          </a:prstGeom>
          <a:noFill/>
          <a:ln/>
        </p:spPr>
        <p:txBody>
          <a:bodyPr wrap="square"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marL="0" indent="0">
              <a:buNone/>
            </a:pPr>
            <a:r>
              <a:rPr lang="en-US" sz="1250" b="1" kern="0" spc="10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marL="0" indent="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General Motors Acceptance Corporation</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1926</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marL="0" indent="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marL="0" indent="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marL="0" indent="0" algn="l">
              <a:buNone/>
            </a:pPr>
            <a:r>
              <a:rPr lang="en-US" sz="900" dirty="0">
                <a:solidFill>
                  <a:srgbClr val="5C6470"/>
                </a:solidFill>
                <a:latin typeface="Calibri" pitchFamily="34" charset="0"/>
                <a:ea typeface="Calibri" pitchFamily="34" charset="-122"/>
                <a:cs typeface="Calibri" pitchFamily="34" charset="-120"/>
              </a:rPr>
              <a:t>Source: </a:t>
            </a:r>
            <a:r>
              <a:rPr lang="en-US" sz="900" i="1" u="sng" dirty="0">
                <a:solidFill>
                  <a:srgbClr val="00285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Library of Congress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184</a:t>
            </a:r>
            <a:endParaRPr lang="en-US" sz="9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marL="0" indent="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6" name="Shape 4"/>
          <p:cNvSpPr/>
          <p:nvPr/>
        </p:nvSpPr>
        <p:spPr>
          <a:xfrm>
            <a:off x="548640" y="1645920"/>
            <a:ext cx="5486400" cy="676656"/>
          </a:xfrm>
          <a:prstGeom prst="rect">
            <a:avLst/>
          </a:prstGeom>
          <a:solidFill>
            <a:srgbClr val="1A2332"/>
          </a:solidFill>
          <a:ln/>
        </p:spPr>
        <p:txBody>
          <a:bodyPr/>
          <a:lstStyle/>
          <a:p>
            <a:endParaRPr lang="en-US"/>
          </a:p>
        </p:txBody>
      </p:sp>
      <p:sp>
        <p:nvSpPr>
          <p:cNvPr id="7" name="Text 5"/>
          <p:cNvSpPr/>
          <p:nvPr/>
        </p:nvSpPr>
        <p:spPr>
          <a:xfrm>
            <a:off x="685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Buying on Credit</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Compra a Crédito</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0" name="Text 8"/>
          <p:cNvSpPr/>
          <p:nvPr/>
        </p:nvSpPr>
        <p:spPr>
          <a:xfrm>
            <a:off x="576072" y="2395728"/>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BO</a:t>
            </a:r>
            <a:endParaRPr lang="en-US" sz="1300" dirty="0"/>
          </a:p>
        </p:txBody>
      </p:sp>
      <p:sp>
        <p:nvSpPr>
          <p:cNvPr id="11" name="Text 9"/>
          <p:cNvSpPr/>
          <p:nvPr/>
        </p:nvSpPr>
        <p:spPr>
          <a:xfrm>
            <a:off x="1225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practice of purchasing goods with borrowed money repaid over time in installments, which fueled 1920s consumer spending.</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lstStyle/>
          <a:p>
            <a:endParaRPr lang="en-US"/>
          </a:p>
        </p:txBody>
      </p:sp>
      <p:sp>
        <p:nvSpPr>
          <p:cNvPr id="13" name="Shape 11"/>
          <p:cNvSpPr/>
          <p:nvPr/>
        </p:nvSpPr>
        <p:spPr>
          <a:xfrm>
            <a:off x="6263640" y="1645920"/>
            <a:ext cx="5486400" cy="676656"/>
          </a:xfrm>
          <a:prstGeom prst="rect">
            <a:avLst/>
          </a:prstGeom>
          <a:solidFill>
            <a:srgbClr val="1A2332"/>
          </a:solidFill>
          <a:ln/>
        </p:spPr>
        <p:txBody>
          <a:bodyPr/>
          <a:lstStyle/>
          <a:p>
            <a:endParaRPr lang="en-US"/>
          </a:p>
        </p:txBody>
      </p:sp>
      <p:sp>
        <p:nvSpPr>
          <p:cNvPr id="14" name="Text 12"/>
          <p:cNvSpPr/>
          <p:nvPr/>
        </p:nvSpPr>
        <p:spPr>
          <a:xfrm>
            <a:off x="6400800" y="1700784"/>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Consumerism</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marL="0" indent="0">
              <a:buNone/>
            </a:pPr>
            <a:r>
              <a:rPr lang="en-US" sz="850" b="1" dirty="0">
                <a:solidFill>
                  <a:srgbClr val="C7D4E0"/>
                </a:solidFill>
                <a:latin typeface="Trebuchet MS" pitchFamily="34" charset="0"/>
                <a:ea typeface="Trebuchet MS" pitchFamily="34" charset="-122"/>
                <a:cs typeface="Trebuchet MS" pitchFamily="34" charset="-120"/>
              </a:rPr>
              <a:t>say:  </a:t>
            </a:r>
            <a:r>
              <a:rPr lang="en-US" sz="950" i="1" dirty="0">
                <a:solidFill>
                  <a:srgbClr val="C7D4E0"/>
                </a:solidFill>
                <a:latin typeface="Calibri" pitchFamily="34" charset="0"/>
                <a:ea typeface="Calibri" pitchFamily="34" charset="-122"/>
                <a:cs typeface="Calibri" pitchFamily="34" charset="-120"/>
              </a:rPr>
              <a:t>kun-SOO-mer-iz-um</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Consumismo</a:t>
            </a:r>
            <a:endParaRPr lang="en-US" sz="1000" dirty="0"/>
          </a:p>
        </p:txBody>
      </p:sp>
      <p:sp>
        <p:nvSpPr>
          <p:cNvPr id="17" name="Shape 15"/>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18" name="Text 16"/>
          <p:cNvSpPr/>
          <p:nvPr/>
        </p:nvSpPr>
        <p:spPr>
          <a:xfrm>
            <a:off x="6291072" y="2395728"/>
            <a:ext cx="640080" cy="457200"/>
          </a:xfrm>
          <a:prstGeom prst="rect">
            <a:avLst/>
          </a:prstGeom>
          <a:noFill/>
          <a:ln/>
        </p:spPr>
        <p:txBody>
          <a:bodyPr wrap="square" lIns="0" tIns="0" rIns="0" bIns="0" rtlCol="0" anchor="ctr"/>
          <a:lstStyle/>
          <a:p>
            <a:pPr marL="0" indent="0" algn="ctr">
              <a:buNone/>
            </a:pPr>
            <a:r>
              <a:rPr lang="en-US" sz="1500" b="1" dirty="0">
                <a:solidFill>
                  <a:srgbClr val="002858"/>
                </a:solidFill>
                <a:latin typeface="Georgia" pitchFamily="34" charset="0"/>
                <a:ea typeface="Georgia" pitchFamily="34" charset="-122"/>
                <a:cs typeface="Georgia" pitchFamily="34" charset="-120"/>
              </a:rPr>
              <a:t>C</a:t>
            </a:r>
            <a:endParaRPr lang="en-US" sz="1500" dirty="0"/>
          </a:p>
        </p:txBody>
      </p:sp>
      <p:sp>
        <p:nvSpPr>
          <p:cNvPr id="19" name="Text 17"/>
          <p:cNvSpPr/>
          <p:nvPr/>
        </p:nvSpPr>
        <p:spPr>
          <a:xfrm>
            <a:off x="6940296" y="2395728"/>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culture of increased purchasing of consumer goods, driven in the 1920s by mass production, national advertising, and installment credit.</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1" name="Shape 19"/>
          <p:cNvSpPr/>
          <p:nvPr/>
        </p:nvSpPr>
        <p:spPr>
          <a:xfrm>
            <a:off x="548640" y="3072384"/>
            <a:ext cx="5486400" cy="676656"/>
          </a:xfrm>
          <a:prstGeom prst="rect">
            <a:avLst/>
          </a:prstGeom>
          <a:solidFill>
            <a:srgbClr val="1A2332"/>
          </a:solidFill>
          <a:ln/>
        </p:spPr>
        <p:txBody>
          <a:bodyPr/>
          <a:lstStyle/>
          <a:p>
            <a:endParaRPr lang="en-US"/>
          </a:p>
        </p:txBody>
      </p:sp>
      <p:sp>
        <p:nvSpPr>
          <p:cNvPr id="22" name="Text 20"/>
          <p:cNvSpPr/>
          <p:nvPr/>
        </p:nvSpPr>
        <p:spPr>
          <a:xfrm>
            <a:off x="685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Stock Speculation</a:t>
            </a:r>
            <a:endParaRPr lang="en-US" sz="13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Especulación Bursátil</a:t>
            </a:r>
            <a:endParaRPr lang="en-US" sz="1000" dirty="0"/>
          </a:p>
        </p:txBody>
      </p:sp>
      <p:sp>
        <p:nvSpPr>
          <p:cNvPr id="24" name="Shape 22"/>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25" name="Text 23"/>
          <p:cNvSpPr/>
          <p:nvPr/>
        </p:nvSpPr>
        <p:spPr>
          <a:xfrm>
            <a:off x="576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SS</a:t>
            </a:r>
            <a:endParaRPr lang="en-US" sz="1300" dirty="0"/>
          </a:p>
        </p:txBody>
      </p:sp>
      <p:sp>
        <p:nvSpPr>
          <p:cNvPr id="26" name="Text 24"/>
          <p:cNvSpPr/>
          <p:nvPr/>
        </p:nvSpPr>
        <p:spPr>
          <a:xfrm>
            <a:off x="1225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practice of buying stocks - frequently on margin with borrowed money - in the hope of selling at a higher price for quick profit.</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txBody>
          <a:bodyPr/>
          <a:lstStyle/>
          <a:p>
            <a:endParaRPr lang="en-US"/>
          </a:p>
        </p:txBody>
      </p:sp>
      <p:sp>
        <p:nvSpPr>
          <p:cNvPr id="28" name="Shape 26"/>
          <p:cNvSpPr/>
          <p:nvPr/>
        </p:nvSpPr>
        <p:spPr>
          <a:xfrm>
            <a:off x="6263640" y="3072384"/>
            <a:ext cx="5486400" cy="676656"/>
          </a:xfrm>
          <a:prstGeom prst="rect">
            <a:avLst/>
          </a:prstGeom>
          <a:solidFill>
            <a:srgbClr val="1A2332"/>
          </a:solidFill>
          <a:ln/>
        </p:spPr>
        <p:txBody>
          <a:bodyPr/>
          <a:lstStyle/>
          <a:p>
            <a:endParaRPr lang="en-US"/>
          </a:p>
        </p:txBody>
      </p:sp>
      <p:sp>
        <p:nvSpPr>
          <p:cNvPr id="29" name="Text 27"/>
          <p:cNvSpPr/>
          <p:nvPr/>
        </p:nvSpPr>
        <p:spPr>
          <a:xfrm>
            <a:off x="6400800" y="3127248"/>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Automobile Impact</a:t>
            </a:r>
            <a:endParaRPr lang="en-US" sz="13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Impacto del Automóvil</a:t>
            </a:r>
            <a:endParaRPr lang="en-US" sz="1000" dirty="0"/>
          </a:p>
        </p:txBody>
      </p:sp>
      <p:sp>
        <p:nvSpPr>
          <p:cNvPr id="31" name="Shape 29"/>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2" name="Text 30"/>
          <p:cNvSpPr/>
          <p:nvPr/>
        </p:nvSpPr>
        <p:spPr>
          <a:xfrm>
            <a:off x="6291072" y="3822192"/>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AI</a:t>
            </a:r>
            <a:endParaRPr lang="en-US" sz="1300" dirty="0"/>
          </a:p>
        </p:txBody>
      </p:sp>
      <p:sp>
        <p:nvSpPr>
          <p:cNvPr id="33" name="Text 31"/>
          <p:cNvSpPr/>
          <p:nvPr/>
        </p:nvSpPr>
        <p:spPr>
          <a:xfrm>
            <a:off x="6940296" y="3822192"/>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The widespread adoption of cars in the 1920s transformed American society, creating suburbs, highways, tourism, and related industries like gas stations, motels, and drive-in restaurants.</a:t>
            </a:r>
            <a:endParaRPr lang="en-US" sz="1100" dirty="0"/>
          </a:p>
        </p:txBody>
      </p:sp>
      <p:sp>
        <p:nvSpPr>
          <p:cNvPr id="34" name="Shape 32"/>
          <p:cNvSpPr/>
          <p:nvPr/>
        </p:nvSpPr>
        <p:spPr>
          <a:xfrm>
            <a:off x="548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35" name="Shape 33"/>
          <p:cNvSpPr/>
          <p:nvPr/>
        </p:nvSpPr>
        <p:spPr>
          <a:xfrm>
            <a:off x="548640" y="4498848"/>
            <a:ext cx="5486400" cy="676656"/>
          </a:xfrm>
          <a:prstGeom prst="rect">
            <a:avLst/>
          </a:prstGeom>
          <a:solidFill>
            <a:srgbClr val="1A2332"/>
          </a:solidFill>
          <a:ln/>
        </p:spPr>
        <p:txBody>
          <a:bodyPr/>
          <a:lstStyle/>
          <a:p>
            <a:endParaRPr lang="en-US"/>
          </a:p>
        </p:txBody>
      </p:sp>
      <p:sp>
        <p:nvSpPr>
          <p:cNvPr id="36" name="Text 34"/>
          <p:cNvSpPr/>
          <p:nvPr/>
        </p:nvSpPr>
        <p:spPr>
          <a:xfrm>
            <a:off x="685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Assembly Line</a:t>
            </a:r>
            <a:endParaRPr lang="en-US" sz="1350" dirty="0"/>
          </a:p>
        </p:txBody>
      </p:sp>
      <p:sp>
        <p:nvSpPr>
          <p:cNvPr id="37" name="Text 35"/>
          <p:cNvSpPr/>
          <p:nvPr/>
        </p:nvSpPr>
        <p:spPr>
          <a:xfrm>
            <a:off x="3703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Línea de Ensamblaje</a:t>
            </a:r>
            <a:endParaRPr lang="en-US" sz="1000" dirty="0"/>
          </a:p>
        </p:txBody>
      </p:sp>
      <p:sp>
        <p:nvSpPr>
          <p:cNvPr id="38" name="Shape 36"/>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39" name="Text 37"/>
          <p:cNvSpPr/>
          <p:nvPr/>
        </p:nvSpPr>
        <p:spPr>
          <a:xfrm>
            <a:off x="576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AL</a:t>
            </a:r>
            <a:endParaRPr lang="en-US" sz="1300" dirty="0"/>
          </a:p>
        </p:txBody>
      </p:sp>
      <p:sp>
        <p:nvSpPr>
          <p:cNvPr id="40" name="Text 38"/>
          <p:cNvSpPr/>
          <p:nvPr/>
        </p:nvSpPr>
        <p:spPr>
          <a:xfrm>
            <a:off x="1225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A manufacturing method where workers remain stationary while products move past them on a conveyor belt, with each worker performing one specific task, dramatically increasing efficiency.</a:t>
            </a:r>
            <a:endParaRPr lang="en-US" sz="1100" dirty="0"/>
          </a:p>
        </p:txBody>
      </p:sp>
      <p:sp>
        <p:nvSpPr>
          <p:cNvPr id="41" name="Shape 39"/>
          <p:cNvSpPr/>
          <p:nvPr/>
        </p:nvSpPr>
        <p:spPr>
          <a:xfrm>
            <a:off x="6263640" y="4498848"/>
            <a:ext cx="5486400" cy="1261872"/>
          </a:xfrm>
          <a:prstGeom prst="rect">
            <a:avLst/>
          </a:prstGeom>
          <a:solidFill>
            <a:srgbClr val="FFFFFF"/>
          </a:solidFill>
          <a:ln w="12700">
            <a:solidFill>
              <a:srgbClr val="DAD3C2"/>
            </a:solidFill>
            <a:prstDash val="solid"/>
          </a:ln>
        </p:spPr>
        <p:txBody>
          <a:bodyPr/>
          <a:lstStyle/>
          <a:p>
            <a:endParaRPr lang="en-US"/>
          </a:p>
        </p:txBody>
      </p:sp>
      <p:sp>
        <p:nvSpPr>
          <p:cNvPr id="42" name="Shape 40"/>
          <p:cNvSpPr/>
          <p:nvPr/>
        </p:nvSpPr>
        <p:spPr>
          <a:xfrm>
            <a:off x="6263640" y="4498848"/>
            <a:ext cx="5486400" cy="676656"/>
          </a:xfrm>
          <a:prstGeom prst="rect">
            <a:avLst/>
          </a:prstGeom>
          <a:solidFill>
            <a:srgbClr val="1A2332"/>
          </a:solidFill>
          <a:ln/>
        </p:spPr>
        <p:txBody>
          <a:bodyPr/>
          <a:lstStyle/>
          <a:p>
            <a:endParaRPr lang="en-US"/>
          </a:p>
        </p:txBody>
      </p:sp>
      <p:sp>
        <p:nvSpPr>
          <p:cNvPr id="43" name="Text 41"/>
          <p:cNvSpPr/>
          <p:nvPr/>
        </p:nvSpPr>
        <p:spPr>
          <a:xfrm>
            <a:off x="6400800" y="4553712"/>
            <a:ext cx="2880360" cy="310896"/>
          </a:xfrm>
          <a:prstGeom prst="rect">
            <a:avLst/>
          </a:prstGeom>
          <a:noFill/>
          <a:ln/>
        </p:spPr>
        <p:txBody>
          <a:bodyPr wrap="square" rtlCol="0" anchor="ctr">
            <a:normAutofit/>
          </a:bodyPr>
          <a:lstStyle/>
          <a:p>
            <a:pPr marL="0" indent="0">
              <a:buNone/>
            </a:pPr>
            <a:r>
              <a:rPr lang="en-US" sz="1350" b="1" dirty="0">
                <a:solidFill>
                  <a:srgbClr val="FFFFFF"/>
                </a:solidFill>
                <a:latin typeface="Calibri" pitchFamily="34" charset="0"/>
                <a:ea typeface="Calibri" pitchFamily="34" charset="-122"/>
                <a:cs typeface="Calibri" pitchFamily="34" charset="-120"/>
              </a:rPr>
              <a:t>Motion Pictures</a:t>
            </a:r>
            <a:endParaRPr lang="en-US" sz="1350" dirty="0"/>
          </a:p>
        </p:txBody>
      </p:sp>
      <p:sp>
        <p:nvSpPr>
          <p:cNvPr id="44" name="Text 42"/>
          <p:cNvSpPr/>
          <p:nvPr/>
        </p:nvSpPr>
        <p:spPr>
          <a:xfrm>
            <a:off x="9418320" y="4498848"/>
            <a:ext cx="2194560" cy="676656"/>
          </a:xfrm>
          <a:prstGeom prst="rect">
            <a:avLst/>
          </a:prstGeom>
          <a:noFill/>
          <a:ln/>
        </p:spPr>
        <p:txBody>
          <a:bodyPr wrap="square" rtlCol="0" anchor="ctr">
            <a:normAutofit/>
          </a:bodyPr>
          <a:lstStyle/>
          <a:p>
            <a:pPr marL="0" indent="0" algn="r">
              <a:buNone/>
            </a:pPr>
            <a:r>
              <a:rPr lang="en-US" sz="1000" i="1" dirty="0">
                <a:solidFill>
                  <a:srgbClr val="F9A825"/>
                </a:solidFill>
                <a:latin typeface="Calibri" pitchFamily="34" charset="0"/>
                <a:ea typeface="Calibri" pitchFamily="34" charset="-122"/>
                <a:cs typeface="Calibri" pitchFamily="34" charset="-120"/>
              </a:rPr>
              <a:t>Imágenes en Movimiento</a:t>
            </a:r>
            <a:endParaRPr lang="en-US" sz="1000" dirty="0"/>
          </a:p>
        </p:txBody>
      </p:sp>
      <p:sp>
        <p:nvSpPr>
          <p:cNvPr id="45" name="Shape 43"/>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txBody>
          <a:bodyPr/>
          <a:lstStyle/>
          <a:p>
            <a:endParaRPr lang="en-US"/>
          </a:p>
        </p:txBody>
      </p:sp>
      <p:sp>
        <p:nvSpPr>
          <p:cNvPr id="46" name="Text 44"/>
          <p:cNvSpPr/>
          <p:nvPr/>
        </p:nvSpPr>
        <p:spPr>
          <a:xfrm>
            <a:off x="6291072" y="5248656"/>
            <a:ext cx="640080" cy="457200"/>
          </a:xfrm>
          <a:prstGeom prst="rect">
            <a:avLst/>
          </a:prstGeom>
          <a:noFill/>
          <a:ln/>
        </p:spPr>
        <p:txBody>
          <a:bodyPr wrap="square" lIns="0" tIns="0" rIns="0" bIns="0" rtlCol="0" anchor="ctr"/>
          <a:lstStyle/>
          <a:p>
            <a:pPr marL="0" indent="0" algn="ctr">
              <a:buNone/>
            </a:pPr>
            <a:r>
              <a:rPr lang="en-US" sz="1300" b="1" dirty="0">
                <a:solidFill>
                  <a:srgbClr val="002858"/>
                </a:solidFill>
                <a:latin typeface="Georgia" pitchFamily="34" charset="0"/>
                <a:ea typeface="Georgia" pitchFamily="34" charset="-122"/>
                <a:cs typeface="Georgia" pitchFamily="34" charset="-120"/>
              </a:rPr>
              <a:t>MP</a:t>
            </a:r>
            <a:endParaRPr lang="en-US" sz="1300" dirty="0"/>
          </a:p>
        </p:txBody>
      </p:sp>
      <p:sp>
        <p:nvSpPr>
          <p:cNvPr id="47" name="Text 45"/>
          <p:cNvSpPr/>
          <p:nvPr/>
        </p:nvSpPr>
        <p:spPr>
          <a:xfrm>
            <a:off x="6940296" y="5248656"/>
            <a:ext cx="4681728" cy="420624"/>
          </a:xfrm>
          <a:prstGeom prst="rect">
            <a:avLst/>
          </a:prstGeom>
          <a:noFill/>
          <a:ln/>
        </p:spPr>
        <p:txBody>
          <a:bodyPr wrap="square" rtlCol="0" anchor="t"/>
          <a:lstStyle/>
          <a:p>
            <a:pPr marL="0" indent="0">
              <a:lnSpc>
                <a:spcPct val="104000"/>
              </a:lnSpc>
              <a:buNone/>
            </a:pPr>
            <a:r>
              <a:rPr lang="en-US" sz="1100" dirty="0">
                <a:solidFill>
                  <a:srgbClr val="1F2430"/>
                </a:solidFill>
                <a:latin typeface="Calibri" pitchFamily="34" charset="0"/>
                <a:ea typeface="Calibri" pitchFamily="34" charset="-122"/>
                <a:cs typeface="Calibri" pitchFamily="34" charset="-120"/>
              </a:rPr>
              <a:t>Silent and "talkie" films that became America's most popular entertainment in the 1920s, creating celebrity culture and Hollywood as the film capital of the world.</a:t>
            </a:r>
            <a:endParaRPr lang="en-US" sz="1100" dirty="0"/>
          </a:p>
        </p:txBody>
      </p:sp>
      <p:sp>
        <p:nvSpPr>
          <p:cNvPr id="48" name="Text 46"/>
          <p:cNvSpPr/>
          <p:nvPr/>
        </p:nvSpPr>
        <p:spPr>
          <a:xfrm>
            <a:off x="548640" y="5897880"/>
            <a:ext cx="11064240" cy="320040"/>
          </a:xfrm>
          <a:prstGeom prst="rect">
            <a:avLst/>
          </a:prstGeom>
          <a:noFill/>
          <a:ln/>
        </p:spPr>
        <p:txBody>
          <a:bodyPr wrap="square" rtlCol="0" anchor="ctr"/>
          <a:lstStyle/>
          <a:p>
            <a:pPr marL="0" indent="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49" name="Text 4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0" name="Text 4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185</a:t>
            </a:r>
            <a:endParaRPr lang="en-US" sz="9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marL="0" indent="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txBody>
          <a:bodyPr/>
          <a:lstStyle/>
          <a:p>
            <a:endParaRPr lang="en-US"/>
          </a:p>
        </p:txBody>
      </p:sp>
      <p:sp>
        <p:nvSpPr>
          <p:cNvPr id="6" name="Text 4"/>
          <p:cNvSpPr/>
          <p:nvPr/>
        </p:nvSpPr>
        <p:spPr>
          <a:xfrm>
            <a:off x="8869680" y="822960"/>
            <a:ext cx="2743200" cy="457200"/>
          </a:xfrm>
          <a:prstGeom prst="rect">
            <a:avLst/>
          </a:prstGeom>
          <a:noFill/>
          <a:ln/>
        </p:spPr>
        <p:txBody>
          <a:bodyPr wrap="square" rtlCol="0" anchor="ctr"/>
          <a:lstStyle/>
          <a:p>
            <a:pPr marL="0" indent="0" algn="ctr">
              <a:buNone/>
            </a:pPr>
            <a:r>
              <a:rPr lang="en-US" sz="1100" b="1" dirty="0">
                <a:solidFill>
                  <a:srgbClr val="F9A825"/>
                </a:solidFill>
                <a:latin typeface="Trebuchet MS" pitchFamily="34" charset="0"/>
                <a:ea typeface="Trebuchet MS" pitchFamily="34" charset="-122"/>
                <a:cs typeface="Trebuchet MS" pitchFamily="34" charset="-120"/>
              </a:rPr>
              <a:t>Analyze economic causation</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640080"/>
          </a:xfrm>
          <a:prstGeom prst="rect">
            <a:avLst/>
          </a:prstGeom>
          <a:noFill/>
          <a:ln/>
        </p:spPr>
        <p:txBody>
          <a:bodyPr wrap="square" rtlCol="0" anchor="ctr"/>
          <a:lstStyle/>
          <a:p>
            <a:pPr marL="0" indent="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r>
              <a:rPr lang="en-US" sz="1500" dirty="0">
                <a:solidFill>
                  <a:srgbClr val="FFFFFF"/>
                </a:solidFill>
                <a:latin typeface="Calibri" pitchFamily="34" charset="0"/>
                <a:ea typeface="Calibri" pitchFamily="34" charset="-122"/>
                <a:cs typeface="Calibri" pitchFamily="34" charset="-120"/>
              </a:rPr>
              <a:t>How did credit and speculation make the boom fragile?</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txBody>
          <a:bodyPr/>
          <a:lstStyle/>
          <a:p>
            <a:endParaRPr lang="en-US"/>
          </a:p>
        </p:txBody>
      </p:sp>
      <p:sp>
        <p:nvSpPr>
          <p:cNvPr id="10" name="Text 8"/>
          <p:cNvSpPr/>
          <p:nvPr/>
        </p:nvSpPr>
        <p:spPr>
          <a:xfrm>
            <a:off x="822960" y="2724912"/>
            <a:ext cx="10058400" cy="292608"/>
          </a:xfrm>
          <a:prstGeom prst="rect">
            <a:avLst/>
          </a:prstGeom>
          <a:noFill/>
          <a:ln/>
        </p:spPr>
        <p:txBody>
          <a:bodyPr wrap="square" rtlCol="0" anchor="ctr"/>
          <a:lstStyle/>
          <a:p>
            <a:pPr marL="0" indent="0">
              <a:buNone/>
            </a:pPr>
            <a:r>
              <a:rPr lang="en-US" sz="1100" b="1" kern="0" spc="10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marL="0" indent="0">
              <a:lnSpc>
                <a:spcPct val="106000"/>
              </a:lnSpc>
              <a:buNone/>
            </a:pPr>
            <a:r>
              <a:rPr lang="en-US" sz="1450" b="1" dirty="0">
                <a:solidFill>
                  <a:srgbClr val="1A2332"/>
                </a:solidFill>
                <a:latin typeface="Calibri" pitchFamily="34" charset="0"/>
                <a:ea typeface="Calibri" pitchFamily="34" charset="-122"/>
                <a:cs typeface="Calibri" pitchFamily="34" charset="-120"/>
              </a:rPr>
              <a:t>Buying on credit and stocks on margin let people spend money they did not have. When prices stalled, the debt remained - a hidden risk beneath the boom.</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lstStyle/>
          <a:p>
            <a:endParaRPr lang="en-US"/>
          </a:p>
        </p:txBody>
      </p:sp>
      <p:sp>
        <p:nvSpPr>
          <p:cNvPr id="13" name="Text 11"/>
          <p:cNvSpPr/>
          <p:nvPr/>
        </p:nvSpPr>
        <p:spPr>
          <a:xfrm>
            <a:off x="822960" y="4407408"/>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marL="0" indent="0">
              <a:lnSpc>
                <a:spcPct val="106000"/>
              </a:lnSpc>
              <a:buNone/>
            </a:pPr>
            <a:r>
              <a:rPr lang="en-US" sz="1300" i="1" dirty="0">
                <a:solidFill>
                  <a:srgbClr val="1F2430"/>
                </a:solidFill>
                <a:latin typeface="Calibri" pitchFamily="34" charset="0"/>
                <a:ea typeface="Calibri" pitchFamily="34" charset="-122"/>
                <a:cs typeface="Calibri" pitchFamily="34" charset="-120"/>
              </a:rPr>
              <a:t>Circle each use of borrowed money in the section.</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marL="0" indent="0">
              <a:buNone/>
            </a:pPr>
            <a:r>
              <a:rPr lang="en-US" sz="1200" b="1" dirty="0">
                <a:solidFill>
                  <a:srgbClr val="1A2332"/>
                </a:solidFill>
                <a:latin typeface="Calibri" pitchFamily="34" charset="0"/>
                <a:ea typeface="Calibri" pitchFamily="34" charset="-122"/>
                <a:cs typeface="Calibri" pitchFamily="34" charset="-120"/>
              </a:rPr>
              <a:t>→ Now you try:  </a:t>
            </a:r>
            <a:r>
              <a:rPr lang="en-US" sz="1200" i="1" dirty="0">
                <a:solidFill>
                  <a:srgbClr val="002858"/>
                </a:solidFill>
                <a:latin typeface="Calibri" pitchFamily="34" charset="0"/>
                <a:ea typeface="Calibri" pitchFamily="34" charset="-122"/>
                <a:cs typeface="Calibri" pitchFamily="34" charset="-120"/>
              </a:rPr>
              <a:t>Predict one way this borrowing could turn a boom into a bust.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186</a:t>
            </a:r>
            <a:endParaRPr lang="en-US" sz="9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marL="0" indent="0">
              <a:buNone/>
            </a:pPr>
            <a:r>
              <a:rPr lang="en-US" sz="2700" b="1" dirty="0">
                <a:solidFill>
                  <a:srgbClr val="1A2332"/>
                </a:solidFill>
                <a:latin typeface="Georgia" pitchFamily="34" charset="0"/>
                <a:ea typeface="Georgia" pitchFamily="34" charset="-122"/>
                <a:cs typeface="Georgia" pitchFamily="34" charset="-120"/>
              </a:rPr>
              <a:t>Buy Now, Pay Later — The Fragile Boom</a:t>
            </a:r>
            <a:endParaRPr lang="en-US" sz="2700" dirty="0"/>
          </a:p>
        </p:txBody>
      </p:sp>
      <p:sp>
        <p:nvSpPr>
          <p:cNvPr id="5" name="Shape 3"/>
          <p:cNvSpPr/>
          <p:nvPr/>
        </p:nvSpPr>
        <p:spPr>
          <a:xfrm>
            <a:off x="548640" y="1591056"/>
            <a:ext cx="694944" cy="365760"/>
          </a:xfrm>
          <a:prstGeom prst="roundRect">
            <a:avLst>
              <a:gd name="adj" fmla="val 20000"/>
            </a:avLst>
          </a:prstGeom>
          <a:solidFill>
            <a:srgbClr val="1A2332"/>
          </a:solidFill>
          <a:ln/>
        </p:spPr>
        <p:txBody>
          <a:bodyPr/>
          <a:lstStyle/>
          <a:p>
            <a:endParaRPr lang="en-US"/>
          </a:p>
        </p:txBody>
      </p:sp>
      <p:sp>
        <p:nvSpPr>
          <p:cNvPr id="6" name="Text 4"/>
          <p:cNvSpPr/>
          <p:nvPr/>
        </p:nvSpPr>
        <p:spPr>
          <a:xfrm>
            <a:off x="548640" y="1591056"/>
            <a:ext cx="694944"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txBody>
          <a:bodyPr/>
          <a:lstStyle/>
          <a:p>
            <a:endParaRPr lang="en-US"/>
          </a:p>
        </p:txBody>
      </p:sp>
      <p:sp>
        <p:nvSpPr>
          <p:cNvPr id="8" name="Text 6"/>
          <p:cNvSpPr/>
          <p:nvPr/>
        </p:nvSpPr>
        <p:spPr>
          <a:xfrm>
            <a:off x="1408176" y="1591056"/>
            <a:ext cx="779069" cy="365760"/>
          </a:xfrm>
          <a:prstGeom prst="rect">
            <a:avLst/>
          </a:prstGeom>
          <a:noFill/>
          <a:ln/>
        </p:spPr>
        <p:txBody>
          <a:bodyPr wrap="square" rtlCol="0" anchor="ctr"/>
          <a:lstStyle/>
          <a:p>
            <a:pPr marL="0" indent="0" algn="ctr">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lstStyle/>
          <a:p>
            <a:endParaRPr lang="en-US"/>
          </a:p>
        </p:txBody>
      </p:sp>
      <p:sp>
        <p:nvSpPr>
          <p:cNvPr id="10" name="Text 8"/>
          <p:cNvSpPr/>
          <p:nvPr/>
        </p:nvSpPr>
        <p:spPr>
          <a:xfrm>
            <a:off x="822960" y="2194560"/>
            <a:ext cx="4572000" cy="274320"/>
          </a:xfrm>
          <a:prstGeom prst="rect">
            <a:avLst/>
          </a:prstGeom>
          <a:noFill/>
          <a:ln/>
        </p:spPr>
        <p:txBody>
          <a:bodyPr wrap="square" rtlCol="0" anchor="ctr"/>
          <a:lstStyle/>
          <a:p>
            <a:pPr marL="0" indent="0">
              <a:buNone/>
            </a:pPr>
            <a:r>
              <a:rPr lang="en-US" sz="1100" b="1" kern="0" spc="20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marL="0" indent="0">
              <a:lnSpc>
                <a:spcPct val="112000"/>
              </a:lnSpc>
              <a:buNone/>
            </a:pPr>
            <a:r>
              <a:rPr lang="en-US" sz="1350" dirty="0">
                <a:solidFill>
                  <a:srgbClr val="1F2430"/>
                </a:solidFill>
                <a:latin typeface="Calibri" pitchFamily="34" charset="0"/>
                <a:ea typeface="Calibri" pitchFamily="34" charset="-122"/>
                <a:cs typeface="Calibri" pitchFamily="34" charset="-120"/>
              </a:rPr>
              <a:t>Read the General Motors installment-plan ad and President Coolidge's statement. Build a flowchart showing how buying on credit and stock speculation fueled 1920s prosperity, then mark the HIDDEN DANGER at each step (rising debt, buying stocks 'on margin,' overconfidence, uneven incomes). End with a one-sentence claim on how 'real' 1920s prosperity was versus how much rested on borrowed money and confidence.</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lstStyle/>
          <a:p>
            <a:endParaRPr lang="en-US"/>
          </a:p>
        </p:txBody>
      </p:sp>
      <p:pic>
        <p:nvPicPr>
          <p:cNvPr id="13" name="Image 0" descr="unit4-full/img/stock-market-crash-1929.jp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91946" y="2057400"/>
            <a:ext cx="2264229"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marL="0" indent="0" algn="l">
              <a:lnSpc>
                <a:spcPct val="100000"/>
              </a:lnSpc>
              <a:buNone/>
            </a:pPr>
            <a:r>
              <a:rPr lang="en-US" sz="750" i="1" dirty="0">
                <a:solidFill>
                  <a:srgbClr val="5C6470"/>
                </a:solidFill>
                <a:latin typeface="Calibri" pitchFamily="34" charset="0"/>
                <a:ea typeface="Calibri" pitchFamily="34" charset="-122"/>
                <a:cs typeface="Calibri" pitchFamily="34" charset="-120"/>
              </a:rPr>
              <a:t>News photo, 1929  </a:t>
            </a:r>
            <a:r>
              <a:rPr lang="en-US" sz="750" i="1" u="sng" dirty="0">
                <a:solidFill>
                  <a:srgbClr val="00285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U.S. Social Security Administration</a:t>
            </a:r>
            <a:endParaRPr lang="en-US" sz="750" dirty="0"/>
          </a:p>
        </p:txBody>
      </p:sp>
      <p:sp>
        <p:nvSpPr>
          <p:cNvPr id="15" name="Shape 12"/>
          <p:cNvSpPr/>
          <p:nvPr/>
        </p:nvSpPr>
        <p:spPr>
          <a:xfrm>
            <a:off x="548640" y="4526280"/>
            <a:ext cx="5486400" cy="1325880"/>
          </a:xfrm>
          <a:prstGeom prst="roundRect">
            <a:avLst>
              <a:gd name="adj" fmla="val 5517"/>
            </a:avLst>
          </a:prstGeom>
          <a:solidFill>
            <a:srgbClr val="1A2332"/>
          </a:solidFill>
          <a:ln/>
        </p:spPr>
        <p:txBody>
          <a:bodyPr/>
          <a:lstStyle/>
          <a:p>
            <a:endParaRPr lang="en-US"/>
          </a:p>
        </p:txBody>
      </p:sp>
      <p:sp>
        <p:nvSpPr>
          <p:cNvPr id="16" name="Text 13"/>
          <p:cNvSpPr/>
          <p:nvPr/>
        </p:nvSpPr>
        <p:spPr>
          <a:xfrm>
            <a:off x="777240" y="4645152"/>
            <a:ext cx="4572000" cy="274320"/>
          </a:xfrm>
          <a:prstGeom prst="rect">
            <a:avLst/>
          </a:prstGeom>
          <a:noFill/>
          <a:ln/>
        </p:spPr>
        <p:txBody>
          <a:bodyPr wrap="square" rtlCol="0" anchor="ctr"/>
          <a:lstStyle/>
          <a:p>
            <a:pPr marL="0" indent="0">
              <a:buNone/>
            </a:pPr>
            <a:r>
              <a:rPr lang="en-US" sz="1050" b="1" kern="0" spc="20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normAutofit/>
          </a:bodyPr>
          <a:lstStyle/>
          <a:p>
            <a:pPr marL="0" indent="0">
              <a:lnSpc>
                <a:spcPct val="103000"/>
              </a:lnSpc>
              <a:buNone/>
            </a:pPr>
            <a:r>
              <a:rPr lang="en-US" sz="1250" dirty="0">
                <a:solidFill>
                  <a:srgbClr val="FFFFFF"/>
                </a:solidFill>
                <a:latin typeface="Calibri" pitchFamily="34" charset="0"/>
                <a:ea typeface="Calibri" pitchFamily="34" charset="-122"/>
                <a:cs typeface="Calibri" pitchFamily="34" charset="-120"/>
              </a:rPr>
              <a:t>Completed prosperity-to-danger flowchart (boom drivers + hidden risks) AND a one-sentence evidence-based claim.</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txBody>
          <a:bodyPr/>
          <a:lstStyle/>
          <a:p>
            <a:endParaRPr lang="en-US"/>
          </a:p>
        </p:txBody>
      </p:sp>
      <p:sp>
        <p:nvSpPr>
          <p:cNvPr id="19" name="Text 16"/>
          <p:cNvSpPr/>
          <p:nvPr/>
        </p:nvSpPr>
        <p:spPr>
          <a:xfrm>
            <a:off x="6400800" y="4645152"/>
            <a:ext cx="4572000" cy="274320"/>
          </a:xfrm>
          <a:prstGeom prst="rect">
            <a:avLst/>
          </a:prstGeom>
          <a:noFill/>
          <a:ln/>
        </p:spPr>
        <p:txBody>
          <a:bodyPr wrap="square" rtlCol="0" anchor="ctr"/>
          <a:lstStyle/>
          <a:p>
            <a:pPr marL="0" indent="0">
              <a:buNone/>
            </a:pPr>
            <a:r>
              <a:rPr lang="en-US" sz="1050" b="1" kern="0" spc="20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20" name="Text 17"/>
          <p:cNvSpPr/>
          <p:nvPr/>
        </p:nvSpPr>
        <p:spPr>
          <a:xfrm>
            <a:off x="6400800" y="4919472"/>
            <a:ext cx="5029200" cy="868680"/>
          </a:xfrm>
          <a:prstGeom prst="rect">
            <a:avLst/>
          </a:prstGeom>
          <a:noFill/>
          <a:ln/>
        </p:spPr>
        <p:txBody>
          <a:bodyPr wrap="square" rtlCol="0" anchor="t">
            <a:normAutofit/>
          </a:bodyPr>
          <a:lstStyle/>
          <a:p>
            <a:pPr marL="0" indent="0">
              <a:lnSpc>
                <a:spcPct val="103000"/>
              </a:lnSpc>
              <a:buNone/>
            </a:pPr>
            <a:r>
              <a:rPr lang="en-US" sz="1000" dirty="0">
                <a:solidFill>
                  <a:srgbClr val="1F2430"/>
                </a:solidFill>
                <a:latin typeface="Calibri" pitchFamily="34" charset="0"/>
                <a:ea typeface="Calibri" pitchFamily="34" charset="-122"/>
                <a:cs typeface="Calibri" pitchFamily="34" charset="-120"/>
              </a:rPr>
              <a:t>Entry: Flowchart with boom drivers pre-labeled and a word bank of hidden dangers to match. Honors: Write a paragraph predicting, from 1928, what could cause this credit-and-speculation economy to collapse, using two pieces of evidence.</a:t>
            </a:r>
            <a:endParaRPr lang="en-US" sz="1000" dirty="0"/>
          </a:p>
        </p:txBody>
      </p:sp>
      <p:sp>
        <p:nvSpPr>
          <p:cNvPr id="21" name="Text 18"/>
          <p:cNvSpPr/>
          <p:nvPr/>
        </p:nvSpPr>
        <p:spPr>
          <a:xfrm>
            <a:off x="548640" y="5943600"/>
            <a:ext cx="11064240" cy="320040"/>
          </a:xfrm>
          <a:prstGeom prst="rect">
            <a:avLst/>
          </a:prstGeom>
          <a:noFill/>
          <a:ln/>
        </p:spPr>
        <p:txBody>
          <a:bodyPr wrap="square" rtlCol="0" anchor="ctr"/>
          <a:lstStyle/>
          <a:p>
            <a:pPr marL="0" indent="0">
              <a:buNone/>
            </a:pPr>
            <a:r>
              <a:rPr lang="en-US" sz="1050" b="1" dirty="0">
                <a:solidFill>
                  <a:srgbClr val="1A2332"/>
                </a:solidFill>
                <a:latin typeface="Calibri" pitchFamily="34" charset="0"/>
                <a:ea typeface="Calibri" pitchFamily="34" charset="-122"/>
                <a:cs typeface="Calibri" pitchFamily="34" charset="-120"/>
              </a:rPr>
              <a:t>Companion printable:  </a:t>
            </a:r>
            <a:r>
              <a:rPr lang="en-US" sz="1050" i="1" dirty="0">
                <a:solidFill>
                  <a:srgbClr val="002858"/>
                </a:solidFill>
                <a:latin typeface="Calibri" pitchFamily="34" charset="0"/>
                <a:ea typeface="Calibri" pitchFamily="34" charset="-122"/>
                <a:cs typeface="Calibri" pitchFamily="34" charset="-120"/>
              </a:rPr>
              <a:t>cornell-notes/unit-4/us38-credit-consumerism.pdf</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187</a:t>
            </a:r>
            <a:endParaRPr lang="en-US" sz="9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US.38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txBody>
          <a:bodyPr/>
          <a:lstStyle/>
          <a:p>
            <a:endParaRPr lang="en-US"/>
          </a:p>
        </p:txBody>
      </p:sp>
      <p:sp>
        <p:nvSpPr>
          <p:cNvPr id="6" name="Text 4"/>
          <p:cNvSpPr/>
          <p:nvPr/>
        </p:nvSpPr>
        <p:spPr>
          <a:xfrm>
            <a:off x="7635240" y="822960"/>
            <a:ext cx="1143000" cy="457200"/>
          </a:xfrm>
          <a:prstGeom prst="rect">
            <a:avLst/>
          </a:prstGeom>
          <a:noFill/>
          <a:ln/>
        </p:spPr>
        <p:txBody>
          <a:bodyPr wrap="square" rtlCol="0" anchor="ctr"/>
          <a:lstStyle/>
          <a:p>
            <a:pPr marL="0" indent="0" algn="ctr">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txBody>
          <a:bodyPr/>
          <a:lstStyle/>
          <a:p>
            <a:endParaRPr lang="en-US"/>
          </a:p>
        </p:txBody>
      </p:sp>
      <p:sp>
        <p:nvSpPr>
          <p:cNvPr id="8" name="Text 6"/>
          <p:cNvSpPr/>
          <p:nvPr/>
        </p:nvSpPr>
        <p:spPr>
          <a:xfrm>
            <a:off x="8869680" y="822960"/>
            <a:ext cx="274320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lstStyle/>
          <a:p>
            <a:endParaRPr lang="en-US"/>
          </a:p>
        </p:txBody>
      </p:sp>
      <p:sp>
        <p:nvSpPr>
          <p:cNvPr id="10" name="Text 8"/>
          <p:cNvSpPr/>
          <p:nvPr/>
        </p:nvSpPr>
        <p:spPr>
          <a:xfrm>
            <a:off x="822960" y="1691640"/>
            <a:ext cx="10515600" cy="777240"/>
          </a:xfrm>
          <a:prstGeom prst="rect">
            <a:avLst/>
          </a:prstGeom>
          <a:noFill/>
          <a:ln/>
        </p:spPr>
        <p:txBody>
          <a:bodyPr wrap="square" rtlCol="0" anchor="ctr"/>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What new purchasing practice does this advertisement promote?</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2" name="Shape 10"/>
          <p:cNvSpPr/>
          <p:nvPr/>
        </p:nvSpPr>
        <p:spPr>
          <a:xfrm>
            <a:off x="713232" y="2889504"/>
            <a:ext cx="365760" cy="365760"/>
          </a:xfrm>
          <a:prstGeom prst="ellipse">
            <a:avLst/>
          </a:prstGeom>
          <a:solidFill>
            <a:srgbClr val="1A2332"/>
          </a:solidFill>
          <a:ln/>
        </p:spPr>
        <p:txBody>
          <a:bodyPr/>
          <a:lstStyle/>
          <a:p>
            <a:endParaRPr lang="en-US"/>
          </a:p>
        </p:txBody>
      </p:sp>
      <p:sp>
        <p:nvSpPr>
          <p:cNvPr id="13" name="Text 11"/>
          <p:cNvSpPr/>
          <p:nvPr/>
        </p:nvSpPr>
        <p:spPr>
          <a:xfrm>
            <a:off x="713232" y="2889504"/>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Saving money for years before making major purchases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16" name="Shape 14"/>
          <p:cNvSpPr/>
          <p:nvPr/>
        </p:nvSpPr>
        <p:spPr>
          <a:xfrm>
            <a:off x="713232" y="3639312"/>
            <a:ext cx="365760" cy="365760"/>
          </a:xfrm>
          <a:prstGeom prst="ellipse">
            <a:avLst/>
          </a:prstGeom>
          <a:solidFill>
            <a:srgbClr val="1A2332"/>
          </a:solidFill>
          <a:ln/>
        </p:spPr>
        <p:txBody>
          <a:bodyPr/>
          <a:lstStyle/>
          <a:p>
            <a:endParaRPr lang="en-US"/>
          </a:p>
        </p:txBody>
      </p:sp>
      <p:sp>
        <p:nvSpPr>
          <p:cNvPr id="17" name="Text 15"/>
          <p:cNvSpPr/>
          <p:nvPr/>
        </p:nvSpPr>
        <p:spPr>
          <a:xfrm>
            <a:off x="713232" y="3639312"/>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Buying expensive items on credit with small payments over time</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0" name="Shape 18"/>
          <p:cNvSpPr/>
          <p:nvPr/>
        </p:nvSpPr>
        <p:spPr>
          <a:xfrm>
            <a:off x="713232" y="4389120"/>
            <a:ext cx="365760" cy="365760"/>
          </a:xfrm>
          <a:prstGeom prst="ellipse">
            <a:avLst/>
          </a:prstGeom>
          <a:solidFill>
            <a:srgbClr val="1A2332"/>
          </a:solidFill>
          <a:ln/>
        </p:spPr>
        <p:txBody>
          <a:bodyPr/>
          <a:lstStyle/>
          <a:p>
            <a:endParaRPr lang="en-US"/>
          </a:p>
        </p:txBody>
      </p:sp>
      <p:sp>
        <p:nvSpPr>
          <p:cNvPr id="21" name="Text 19"/>
          <p:cNvSpPr/>
          <p:nvPr/>
        </p:nvSpPr>
        <p:spPr>
          <a:xfrm>
            <a:off x="713232" y="4389120"/>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Sharing automobiles among multiple families to reduce costs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lstStyle/>
          <a:p>
            <a:endParaRPr lang="en-US"/>
          </a:p>
        </p:txBody>
      </p:sp>
      <p:sp>
        <p:nvSpPr>
          <p:cNvPr id="24" name="Shape 22"/>
          <p:cNvSpPr/>
          <p:nvPr/>
        </p:nvSpPr>
        <p:spPr>
          <a:xfrm>
            <a:off x="713232" y="5138928"/>
            <a:ext cx="365760" cy="365760"/>
          </a:xfrm>
          <a:prstGeom prst="ellipse">
            <a:avLst/>
          </a:prstGeom>
          <a:solidFill>
            <a:srgbClr val="1A2332"/>
          </a:solidFill>
          <a:ln/>
        </p:spPr>
        <p:txBody>
          <a:bodyPr/>
          <a:lstStyle/>
          <a:p>
            <a:endParaRPr lang="en-US"/>
          </a:p>
        </p:txBody>
      </p:sp>
      <p:sp>
        <p:nvSpPr>
          <p:cNvPr id="25" name="Text 23"/>
          <p:cNvSpPr/>
          <p:nvPr/>
        </p:nvSpPr>
        <p:spPr>
          <a:xfrm>
            <a:off x="713232" y="5138928"/>
            <a:ext cx="365760" cy="365760"/>
          </a:xfrm>
          <a:prstGeom prst="rect">
            <a:avLst/>
          </a:prstGeom>
          <a:noFill/>
          <a:ln/>
        </p:spPr>
        <p:txBody>
          <a:bodyPr wrap="square" rtlCol="0" anchor="ctr"/>
          <a:lstStyle/>
          <a:p>
            <a:pPr marL="0" indent="0" algn="ctr">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marL="0" indent="0">
              <a:lnSpc>
                <a:spcPct val="100000"/>
              </a:lnSpc>
              <a:buNone/>
            </a:pPr>
            <a:r>
              <a:rPr lang="en-US" sz="1350" dirty="0">
                <a:solidFill>
                  <a:srgbClr val="FFFFFF"/>
                </a:solidFill>
                <a:latin typeface="Calibri" pitchFamily="34" charset="0"/>
                <a:ea typeface="Calibri" pitchFamily="34" charset="-122"/>
                <a:cs typeface="Calibri" pitchFamily="34" charset="-120"/>
              </a:rPr>
              <a:t>Leasing vehicles from dealerships instead of owning them</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txBody>
          <a:bodyPr/>
          <a:lstStyle/>
          <a:p>
            <a:endParaRPr lang="en-US"/>
          </a:p>
        </p:txBody>
      </p:sp>
      <p:sp>
        <p:nvSpPr>
          <p:cNvPr id="28" name="Text 26"/>
          <p:cNvSpPr/>
          <p:nvPr/>
        </p:nvSpPr>
        <p:spPr>
          <a:xfrm>
            <a:off x="822960" y="5715000"/>
            <a:ext cx="10515600" cy="502920"/>
          </a:xfrm>
          <a:prstGeom prst="rect">
            <a:avLst/>
          </a:prstGeom>
          <a:noFill/>
          <a:ln/>
        </p:spPr>
        <p:txBody>
          <a:bodyPr wrap="square" rtlCol="0" anchor="ctr"/>
          <a:lstStyle/>
          <a:p>
            <a:pPr marL="0" indent="0">
              <a:buNone/>
            </a:pPr>
            <a:r>
              <a:rPr lang="en-US" sz="1200" b="1" i="1" kern="0" spc="100" dirty="0">
                <a:solidFill>
                  <a:srgbClr val="F9A825"/>
                </a:solidFill>
                <a:latin typeface="Trebuchet MS" pitchFamily="34" charset="0"/>
                <a:ea typeface="Trebuchet MS" pitchFamily="34" charset="-122"/>
                <a:cs typeface="Trebuchet MS" pitchFamily="34" charset="-120"/>
              </a:rPr>
              <a:t>ANSWER FIRST:  </a:t>
            </a: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188</a:t>
            </a:r>
            <a:endParaRPr lang="en-US" sz="9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Text 1"/>
          <p:cNvSpPr/>
          <p:nvPr/>
        </p:nvSpPr>
        <p:spPr>
          <a:xfrm>
            <a:off x="548640" y="457200"/>
            <a:ext cx="7315200" cy="274320"/>
          </a:xfrm>
          <a:prstGeom prst="rect">
            <a:avLst/>
          </a:prstGeom>
          <a:noFill/>
          <a:ln/>
        </p:spPr>
        <p:txBody>
          <a:bodyPr wrap="square" rtlCol="0" anchor="ctr"/>
          <a:lstStyle/>
          <a:p>
            <a:pPr marL="0" indent="0" algn="l">
              <a:buNone/>
            </a:pPr>
            <a:r>
              <a:rPr lang="en-US" sz="1200" b="1" kern="0" spc="200" dirty="0">
                <a:solidFill>
                  <a:srgbClr val="F9A825"/>
                </a:solidFill>
                <a:latin typeface="Trebuchet MS" pitchFamily="34" charset="0"/>
                <a:ea typeface="Trebuchet MS" pitchFamily="34" charset="-122"/>
                <a:cs typeface="Trebuchet MS" pitchFamily="34" charset="-120"/>
              </a:rPr>
              <a:t>US.38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lstStyle/>
          <a:p>
            <a:endParaRPr lang="en-US"/>
          </a:p>
        </p:txBody>
      </p:sp>
      <p:sp>
        <p:nvSpPr>
          <p:cNvPr id="6" name="Text 4"/>
          <p:cNvSpPr/>
          <p:nvPr/>
        </p:nvSpPr>
        <p:spPr>
          <a:xfrm>
            <a:off x="8595360" y="822960"/>
            <a:ext cx="3017520" cy="45720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lstStyle/>
          <a:p>
            <a:endParaRPr lang="en-US"/>
          </a:p>
        </p:txBody>
      </p:sp>
      <p:sp>
        <p:nvSpPr>
          <p:cNvPr id="8" name="Text 6"/>
          <p:cNvSpPr/>
          <p:nvPr/>
        </p:nvSpPr>
        <p:spPr>
          <a:xfrm>
            <a:off x="822960" y="1664208"/>
            <a:ext cx="10515600" cy="731520"/>
          </a:xfrm>
          <a:prstGeom prst="rect">
            <a:avLst/>
          </a:prstGeom>
          <a:noFill/>
          <a:ln/>
        </p:spPr>
        <p:txBody>
          <a:bodyPr wrap="square" rtlCol="0" anchor="ctr"/>
          <a:lstStyle/>
          <a:p>
            <a:pPr marL="0" indent="0">
              <a:lnSpc>
                <a:spcPct val="102000"/>
              </a:lnSpc>
              <a:buNone/>
            </a:pPr>
            <a:r>
              <a:rPr lang="en-US" sz="1500" b="1" dirty="0">
                <a:solidFill>
                  <a:srgbClr val="FFFFFF"/>
                </a:solidFill>
                <a:latin typeface="Calibri" pitchFamily="34" charset="0"/>
                <a:ea typeface="Calibri" pitchFamily="34" charset="-122"/>
                <a:cs typeface="Calibri" pitchFamily="34" charset="-120"/>
              </a:rPr>
              <a:t>What new purchasing practice does this advertisement promote?</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0" name="Shape 8"/>
          <p:cNvSpPr/>
          <p:nvPr/>
        </p:nvSpPr>
        <p:spPr>
          <a:xfrm>
            <a:off x="713232" y="2761488"/>
            <a:ext cx="347472" cy="347472"/>
          </a:xfrm>
          <a:prstGeom prst="ellipse">
            <a:avLst/>
          </a:prstGeom>
          <a:solidFill>
            <a:srgbClr val="1A2332"/>
          </a:solidFill>
          <a:ln/>
        </p:spPr>
        <p:txBody>
          <a:bodyPr/>
          <a:lstStyle/>
          <a:p>
            <a:endParaRPr lang="en-US"/>
          </a:p>
        </p:txBody>
      </p:sp>
      <p:sp>
        <p:nvSpPr>
          <p:cNvPr id="11" name="Text 9"/>
          <p:cNvSpPr/>
          <p:nvPr/>
        </p:nvSpPr>
        <p:spPr>
          <a:xfrm>
            <a:off x="713232" y="2761488"/>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Saving money for years before making major purchases</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txBody>
          <a:bodyPr/>
          <a:lstStyle/>
          <a:p>
            <a:endParaRPr lang="en-US"/>
          </a:p>
        </p:txBody>
      </p:sp>
      <p:sp>
        <p:nvSpPr>
          <p:cNvPr id="14" name="Shape 12"/>
          <p:cNvSpPr/>
          <p:nvPr/>
        </p:nvSpPr>
        <p:spPr>
          <a:xfrm>
            <a:off x="713232" y="3419856"/>
            <a:ext cx="347472" cy="347472"/>
          </a:xfrm>
          <a:prstGeom prst="ellipse">
            <a:avLst/>
          </a:prstGeom>
          <a:solidFill>
            <a:srgbClr val="1A2332"/>
          </a:solidFill>
          <a:ln/>
        </p:spPr>
        <p:txBody>
          <a:bodyPr/>
          <a:lstStyle/>
          <a:p>
            <a:endParaRPr lang="en-US"/>
          </a:p>
        </p:txBody>
      </p:sp>
      <p:sp>
        <p:nvSpPr>
          <p:cNvPr id="15" name="Text 13"/>
          <p:cNvSpPr/>
          <p:nvPr/>
        </p:nvSpPr>
        <p:spPr>
          <a:xfrm>
            <a:off x="713232" y="3419856"/>
            <a:ext cx="347472" cy="347472"/>
          </a:xfrm>
          <a:prstGeom prst="rect">
            <a:avLst/>
          </a:prstGeom>
          <a:noFill/>
          <a:ln/>
        </p:spPr>
        <p:txBody>
          <a:bodyPr wrap="square" rtlCol="0" anchor="ctr"/>
          <a:lstStyle/>
          <a:p>
            <a:pPr marL="0" indent="0" algn="ctr">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marL="0" indent="0">
              <a:lnSpc>
                <a:spcPct val="100000"/>
              </a:lnSpc>
              <a:buNone/>
            </a:pPr>
            <a:r>
              <a:rPr lang="en-US" sz="1300" b="1" dirty="0">
                <a:solidFill>
                  <a:srgbClr val="1A2332"/>
                </a:solidFill>
                <a:latin typeface="Calibri" pitchFamily="34" charset="0"/>
                <a:ea typeface="Calibri" pitchFamily="34" charset="-122"/>
                <a:cs typeface="Calibri" pitchFamily="34" charset="-120"/>
              </a:rPr>
              <a:t>Buying expensive items on credit with small payments over time</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marL="0" indent="0" algn="ctr">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19" name="Shape 17"/>
          <p:cNvSpPr/>
          <p:nvPr/>
        </p:nvSpPr>
        <p:spPr>
          <a:xfrm>
            <a:off x="713232" y="4078224"/>
            <a:ext cx="347472" cy="347472"/>
          </a:xfrm>
          <a:prstGeom prst="ellipse">
            <a:avLst/>
          </a:prstGeom>
          <a:solidFill>
            <a:srgbClr val="1A2332"/>
          </a:solidFill>
          <a:ln/>
        </p:spPr>
        <p:txBody>
          <a:bodyPr/>
          <a:lstStyle/>
          <a:p>
            <a:endParaRPr lang="en-US"/>
          </a:p>
        </p:txBody>
      </p:sp>
      <p:sp>
        <p:nvSpPr>
          <p:cNvPr id="20" name="Text 18"/>
          <p:cNvSpPr/>
          <p:nvPr/>
        </p:nvSpPr>
        <p:spPr>
          <a:xfrm>
            <a:off x="713232" y="4078224"/>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Sharing automobiles among multiple families to reduce costs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lstStyle/>
          <a:p>
            <a:endParaRPr lang="en-US"/>
          </a:p>
        </p:txBody>
      </p:sp>
      <p:sp>
        <p:nvSpPr>
          <p:cNvPr id="23" name="Shape 21"/>
          <p:cNvSpPr/>
          <p:nvPr/>
        </p:nvSpPr>
        <p:spPr>
          <a:xfrm>
            <a:off x="713232" y="4736592"/>
            <a:ext cx="347472" cy="347472"/>
          </a:xfrm>
          <a:prstGeom prst="ellipse">
            <a:avLst/>
          </a:prstGeom>
          <a:solidFill>
            <a:srgbClr val="1A2332"/>
          </a:solidFill>
          <a:ln/>
        </p:spPr>
        <p:txBody>
          <a:bodyPr/>
          <a:lstStyle/>
          <a:p>
            <a:endParaRPr lang="en-US"/>
          </a:p>
        </p:txBody>
      </p:sp>
      <p:sp>
        <p:nvSpPr>
          <p:cNvPr id="24" name="Text 22"/>
          <p:cNvSpPr/>
          <p:nvPr/>
        </p:nvSpPr>
        <p:spPr>
          <a:xfrm>
            <a:off x="713232" y="4736592"/>
            <a:ext cx="347472" cy="347472"/>
          </a:xfrm>
          <a:prstGeom prst="rect">
            <a:avLst/>
          </a:prstGeom>
          <a:noFill/>
          <a:ln/>
        </p:spPr>
        <p:txBody>
          <a:bodyPr wrap="square" rtlCol="0" anchor="ctr"/>
          <a:lstStyle/>
          <a:p>
            <a:pPr marL="0" indent="0" algn="ctr">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Leasing vehicles from dealerships instead of owning them</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lstStyle/>
          <a:p>
            <a:endParaRPr lang="en-US"/>
          </a:p>
        </p:txBody>
      </p:sp>
      <p:sp>
        <p:nvSpPr>
          <p:cNvPr id="27" name="Text 25"/>
          <p:cNvSpPr/>
          <p:nvPr/>
        </p:nvSpPr>
        <p:spPr>
          <a:xfrm>
            <a:off x="822960" y="5532120"/>
            <a:ext cx="10515600" cy="713232"/>
          </a:xfrm>
          <a:prstGeom prst="rect">
            <a:avLst/>
          </a:prstGeom>
          <a:noFill/>
          <a:ln/>
        </p:spPr>
        <p:txBody>
          <a:bodyPr wrap="square" rtlCol="0" anchor="ctr"/>
          <a:lstStyle/>
          <a:p>
            <a:pPr marL="0" indent="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Why: </a:t>
            </a:r>
            <a:r>
              <a:rPr lang="en-US" sz="1150" dirty="0">
                <a:solidFill>
                  <a:srgbClr val="C7D4E0"/>
                </a:solidFill>
                <a:latin typeface="Calibri" pitchFamily="34" charset="0"/>
                <a:ea typeface="Calibri" pitchFamily="34" charset="-122"/>
                <a:cs typeface="Calibri" pitchFamily="34" charset="-120"/>
              </a:rPr>
              <a:t>The ad promotes buying "NOW and pay for it as you ride" with "A small down payment" and "Easy monthly payments"—credit purchasing.</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189</a:t>
            </a:r>
            <a:endParaRPr lang="en-US" sz="9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lstStyle/>
          <a:p>
            <a:endParaRPr lang="en-US"/>
          </a:p>
        </p:txBody>
      </p:sp>
      <p:sp>
        <p:nvSpPr>
          <p:cNvPr id="3" name="Text 1"/>
          <p:cNvSpPr/>
          <p:nvPr/>
        </p:nvSpPr>
        <p:spPr>
          <a:xfrm>
            <a:off x="548640" y="411480"/>
            <a:ext cx="7315200" cy="274320"/>
          </a:xfrm>
          <a:prstGeom prst="rect">
            <a:avLst/>
          </a:prstGeom>
          <a:noFill/>
          <a:ln/>
        </p:spPr>
        <p:txBody>
          <a:bodyPr wrap="square" rtlCol="0" anchor="ctr"/>
          <a:lstStyle/>
          <a:p>
            <a:pPr marL="0" indent="0" algn="l">
              <a:buNone/>
            </a:pPr>
            <a:r>
              <a:rPr lang="en-US" sz="1200" b="1" kern="0" spc="200" dirty="0">
                <a:solidFill>
                  <a:srgbClr val="C62828"/>
                </a:solidFill>
                <a:latin typeface="Trebuchet MS" pitchFamily="34" charset="0"/>
                <a:ea typeface="Trebuchet MS" pitchFamily="34" charset="-122"/>
                <a:cs typeface="Trebuchet MS" pitchFamily="34" charset="-120"/>
              </a:rPr>
              <a:t>US.38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marL="0" indent="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lstStyle/>
          <a:p>
            <a:endParaRPr lang="en-US"/>
          </a:p>
        </p:txBody>
      </p:sp>
      <p:sp>
        <p:nvSpPr>
          <p:cNvPr id="6" name="Text 4"/>
          <p:cNvSpPr/>
          <p:nvPr/>
        </p:nvSpPr>
        <p:spPr>
          <a:xfrm>
            <a:off x="868680" y="1847088"/>
            <a:ext cx="5486400" cy="320040"/>
          </a:xfrm>
          <a:prstGeom prst="rect">
            <a:avLst/>
          </a:prstGeom>
          <a:noFill/>
          <a:ln/>
        </p:spPr>
        <p:txBody>
          <a:bodyPr wrap="square" rtlCol="0" anchor="ctr"/>
          <a:lstStyle/>
          <a:p>
            <a:pPr marL="0" indent="0">
              <a:buNone/>
            </a:pPr>
            <a:r>
              <a:rPr lang="en-US" sz="1200" b="1" kern="0" spc="20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Credit Expansion and Economic Growth</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Consumerism and Cultural Change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Financial Speculation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Interconnections Creating Vulnerability</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Technology and Advertising Impact</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txBody>
          <a:bodyPr/>
          <a:lstStyle/>
          <a:p>
            <a:endParaRPr lang="en-US"/>
          </a:p>
        </p:txBody>
      </p:sp>
      <p:sp>
        <p:nvSpPr>
          <p:cNvPr id="9" name="Text 7"/>
          <p:cNvSpPr/>
          <p:nvPr/>
        </p:nvSpPr>
        <p:spPr>
          <a:xfrm>
            <a:off x="822960" y="4901184"/>
            <a:ext cx="6492240" cy="274320"/>
          </a:xfrm>
          <a:prstGeom prst="rect">
            <a:avLst/>
          </a:prstGeom>
          <a:noFill/>
          <a:ln/>
        </p:spPr>
        <p:txBody>
          <a:bodyPr wrap="square" rtlCol="0" anchor="ctr"/>
          <a:lstStyle/>
          <a:p>
            <a:pPr marL="0" indent="0">
              <a:buNone/>
            </a:pPr>
            <a:r>
              <a:rPr lang="en-US" sz="1100" b="1" kern="0" spc="100" dirty="0">
                <a:solidFill>
                  <a:srgbClr val="7A5C12"/>
                </a:solidFill>
                <a:latin typeface="Trebuchet MS" pitchFamily="34" charset="0"/>
                <a:ea typeface="Trebuchet MS" pitchFamily="34" charset="-122"/>
                <a:cs typeface="Trebuchet MS" pitchFamily="34" charset="-120"/>
              </a:rPr>
              <a:t>★ HONORS / EXTENSION  </a:t>
            </a: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marL="0" indent="0">
              <a:lnSpc>
                <a:spcPct val="98000"/>
              </a:lnSpc>
              <a:buNone/>
            </a:pPr>
            <a:r>
              <a:rPr lang="en-US" sz="1050" i="1" dirty="0">
                <a:solidFill>
                  <a:srgbClr val="1F2430"/>
                </a:solidFill>
                <a:latin typeface="Calibri" pitchFamily="34" charset="0"/>
                <a:ea typeface="Calibri" pitchFamily="34" charset="-122"/>
                <a:cs typeface="Calibri" pitchFamily="34" charset="-120"/>
              </a:rPr>
              <a:t>Evaluate: To what extent was the prosperity of the 1920s 'real' versus built on borrowed money and false confidence? Argue your position with evidence.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txBody>
          <a:bodyPr/>
          <a:lstStyle/>
          <a:p>
            <a:endParaRPr lang="en-US"/>
          </a:p>
        </p:txBody>
      </p:sp>
      <p:sp>
        <p:nvSpPr>
          <p:cNvPr id="12" name="Text 10"/>
          <p:cNvSpPr/>
          <p:nvPr/>
        </p:nvSpPr>
        <p:spPr>
          <a:xfrm>
            <a:off x="8092440" y="1920240"/>
            <a:ext cx="2286000" cy="320040"/>
          </a:xfrm>
          <a:prstGeom prst="rect">
            <a:avLst/>
          </a:prstGeom>
          <a:noFill/>
          <a:ln/>
        </p:spPr>
        <p:txBody>
          <a:bodyPr wrap="square" rtlCol="0" anchor="ctr"/>
          <a:lstStyle/>
          <a:p>
            <a:pPr marL="0" indent="0">
              <a:buNone/>
            </a:pPr>
            <a:r>
              <a:rPr lang="en-US" sz="1200" b="1" kern="0" spc="20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txBody>
          <a:bodyPr/>
          <a:lstStyle/>
          <a:p>
            <a:endParaRPr lang="en-US"/>
          </a:p>
        </p:txBody>
      </p:sp>
      <p:sp>
        <p:nvSpPr>
          <p:cNvPr id="14" name="Text 12"/>
          <p:cNvSpPr/>
          <p:nvPr/>
        </p:nvSpPr>
        <p:spPr>
          <a:xfrm>
            <a:off x="10378440" y="1883664"/>
            <a:ext cx="960120" cy="365760"/>
          </a:xfrm>
          <a:prstGeom prst="rect">
            <a:avLst/>
          </a:prstGeom>
          <a:noFill/>
          <a:ln/>
        </p:spPr>
        <p:txBody>
          <a:bodyPr wrap="square" rtlCol="0" anchor="ctr"/>
          <a:lstStyle/>
          <a:p>
            <a:pPr marL="0" indent="0" algn="ctr">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Explain how buying on credit and stock speculation fueled 1920s prosperity AND created hidden dangers.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lstStyle/>
          <a:p>
            <a:endParaRPr lang="en-US"/>
          </a:p>
        </p:txBody>
      </p:sp>
      <p:sp>
        <p:nvSpPr>
          <p:cNvPr id="17" name="Shape 15"/>
          <p:cNvSpPr/>
          <p:nvPr/>
        </p:nvSpPr>
        <p:spPr>
          <a:xfrm>
            <a:off x="8138160" y="5074920"/>
            <a:ext cx="3108960" cy="0"/>
          </a:xfrm>
          <a:prstGeom prst="line">
            <a:avLst/>
          </a:prstGeom>
          <a:noFill/>
          <a:ln w="12700">
            <a:solidFill>
              <a:srgbClr val="A7BACB"/>
            </a:solidFill>
            <a:prstDash val="dash"/>
          </a:ln>
        </p:spPr>
        <p:txBody>
          <a:bodyPr/>
          <a:lstStyle/>
          <a:p>
            <a:endParaRPr lang="en-US"/>
          </a:p>
        </p:txBody>
      </p:sp>
      <p:sp>
        <p:nvSpPr>
          <p:cNvPr id="18" name="Shape 16"/>
          <p:cNvSpPr/>
          <p:nvPr/>
        </p:nvSpPr>
        <p:spPr>
          <a:xfrm>
            <a:off x="8138160" y="5623560"/>
            <a:ext cx="3108960" cy="0"/>
          </a:xfrm>
          <a:prstGeom prst="line">
            <a:avLst/>
          </a:prstGeom>
          <a:noFill/>
          <a:ln w="12700">
            <a:solidFill>
              <a:srgbClr val="A7BACB"/>
            </a:solidFill>
            <a:prstDash val="dash"/>
          </a:ln>
        </p:spPr>
        <p:txBody>
          <a:bodyPr/>
          <a:lstStyle/>
          <a:p>
            <a:endParaRPr lang="en-US"/>
          </a:p>
        </p:txBody>
      </p:sp>
      <p:sp>
        <p:nvSpPr>
          <p:cNvPr id="20" name="Text 1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190</a:t>
            </a:r>
            <a:endParaRPr lang="en-US" sz="9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lstStyle/>
          <a:p>
            <a:endParaRPr lang="en-US"/>
          </a:p>
        </p:txBody>
      </p:sp>
      <p:sp>
        <p:nvSpPr>
          <p:cNvPr id="3" name="Shape 1"/>
          <p:cNvSpPr/>
          <p:nvPr/>
        </p:nvSpPr>
        <p:spPr>
          <a:xfrm>
            <a:off x="0" y="6711696"/>
            <a:ext cx="12191695" cy="146304"/>
          </a:xfrm>
          <a:prstGeom prst="rect">
            <a:avLst/>
          </a:prstGeom>
          <a:solidFill>
            <a:srgbClr val="C62828"/>
          </a:solidFill>
          <a:ln/>
        </p:spPr>
        <p:txBody>
          <a:bodyPr/>
          <a:lstStyle/>
          <a:p>
            <a:endParaRPr lang="en-US"/>
          </a:p>
        </p:txBody>
      </p:sp>
      <p:sp>
        <p:nvSpPr>
          <p:cNvPr id="4" name="Text 2"/>
          <p:cNvSpPr/>
          <p:nvPr/>
        </p:nvSpPr>
        <p:spPr>
          <a:xfrm>
            <a:off x="822960" y="1463040"/>
            <a:ext cx="10515600" cy="914400"/>
          </a:xfrm>
          <a:prstGeom prst="rect">
            <a:avLst/>
          </a:prstGeom>
          <a:noFill/>
          <a:ln/>
        </p:spPr>
        <p:txBody>
          <a:bodyPr wrap="square"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Unit 4 Complete</a:t>
            </a:r>
            <a:endParaRPr lang="en-US" sz="4800" dirty="0"/>
          </a:p>
        </p:txBody>
      </p:sp>
      <p:sp>
        <p:nvSpPr>
          <p:cNvPr id="5" name="Text 3"/>
          <p:cNvSpPr/>
          <p:nvPr/>
        </p:nvSpPr>
        <p:spPr>
          <a:xfrm>
            <a:off x="822960" y="2560320"/>
            <a:ext cx="10515600" cy="1005840"/>
          </a:xfrm>
          <a:prstGeom prst="rect">
            <a:avLst/>
          </a:prstGeom>
          <a:noFill/>
          <a:ln/>
        </p:spPr>
        <p:txBody>
          <a:bodyPr wrap="square" rtlCol="0" anchor="ctr"/>
          <a:lstStyle/>
          <a:p>
            <a:pPr marL="0" indent="0">
              <a:lnSpc>
                <a:spcPct val="110000"/>
              </a:lnSpc>
              <a:buNone/>
            </a:pPr>
            <a:r>
              <a:rPr lang="en-US" sz="2100" i="1" dirty="0">
                <a:solidFill>
                  <a:srgbClr val="F9A825"/>
                </a:solidFill>
                <a:latin typeface="Georgia" pitchFamily="34" charset="0"/>
                <a:ea typeface="Georgia" pitchFamily="34" charset="-122"/>
                <a:cs typeface="Georgia" pitchFamily="34" charset="-120"/>
              </a:rPr>
              <a:t>The 1920s (1919–1929) · from the Great Migration and the Harlem Renaissance to the assembly line, Prohibition, and a boom built on borrowed money.</a:t>
            </a:r>
            <a:endParaRPr lang="en-US" sz="2100" dirty="0"/>
          </a:p>
        </p:txBody>
      </p:sp>
      <p:sp>
        <p:nvSpPr>
          <p:cNvPr id="6" name="Text 4"/>
          <p:cNvSpPr/>
          <p:nvPr/>
        </p:nvSpPr>
        <p:spPr>
          <a:xfrm>
            <a:off x="822960" y="3566160"/>
            <a:ext cx="10515600" cy="1097280"/>
          </a:xfrm>
          <a:prstGeom prst="rect">
            <a:avLst/>
          </a:prstGeom>
          <a:noFill/>
          <a:ln/>
        </p:spPr>
        <p:txBody>
          <a:bodyPr wrap="square" rtlCol="0" anchor="t"/>
          <a:lstStyle/>
          <a:p>
            <a:pPr marL="0" indent="0">
              <a:lnSpc>
                <a:spcPct val="115000"/>
              </a:lnSpc>
              <a:buNone/>
            </a:pPr>
            <a:r>
              <a:rPr lang="en-US" sz="1600" b="1" dirty="0">
                <a:solidFill>
                  <a:srgbClr val="FFFFFF"/>
                </a:solidFill>
                <a:latin typeface="Calibri" pitchFamily="34" charset="0"/>
                <a:ea typeface="Calibri" pitchFamily="34" charset="-122"/>
                <a:cs typeface="Calibri" pitchFamily="34" charset="-120"/>
              </a:rPr>
              <a:t>Revisit your unit hook: </a:t>
            </a:r>
            <a:r>
              <a:rPr lang="en-US" sz="1600" dirty="0">
                <a:solidFill>
                  <a:srgbClr val="C7D4E0"/>
                </a:solidFill>
                <a:latin typeface="Calibri" pitchFamily="34" charset="0"/>
                <a:ea typeface="Calibri" pitchFamily="34" charset="-122"/>
                <a:cs typeface="Calibri" pitchFamily="34" charset="-120"/>
              </a:rPr>
              <a:t>How did one decade transform American life — and why did the boom end in crisis? You can now answer with evidence — from radio and Lindbergh to the Scopes Trial, Prohibition, and buying stocks on margin.</a:t>
            </a:r>
            <a:endParaRPr lang="en-US" sz="1600" dirty="0"/>
          </a:p>
        </p:txBody>
      </p:sp>
      <p:sp>
        <p:nvSpPr>
          <p:cNvPr id="7" name="Text 5"/>
          <p:cNvSpPr/>
          <p:nvPr/>
        </p:nvSpPr>
        <p:spPr>
          <a:xfrm>
            <a:off x="822960" y="4937760"/>
            <a:ext cx="10515600" cy="457200"/>
          </a:xfrm>
          <a:prstGeom prst="rect">
            <a:avLst/>
          </a:prstGeom>
          <a:noFill/>
          <a:ln/>
        </p:spPr>
        <p:txBody>
          <a:bodyPr wrap="square" rtlCol="0" anchor="ctr"/>
          <a:lstStyle/>
          <a:p>
            <a:pPr marL="0" indent="0">
              <a:buNone/>
            </a:pPr>
            <a:r>
              <a:rPr lang="en-US" sz="1400" b="1" kern="0" spc="100" dirty="0">
                <a:solidFill>
                  <a:srgbClr val="F9A825"/>
                </a:solidFill>
                <a:latin typeface="Trebuchet MS" pitchFamily="34" charset="0"/>
                <a:ea typeface="Trebuchet MS" pitchFamily="34" charset="-122"/>
                <a:cs typeface="Trebuchet MS" pitchFamily="34" charset="-120"/>
              </a:rPr>
              <a:t>Next: Unit 5 — The Great Depression &amp; the New Deal</a:t>
            </a:r>
            <a:endParaRPr lang="en-US" sz="1400" dirty="0"/>
          </a:p>
        </p:txBody>
      </p:sp>
      <p:sp>
        <p:nvSpPr>
          <p:cNvPr id="8" name="Text 6"/>
          <p:cNvSpPr/>
          <p:nvPr/>
        </p:nvSpPr>
        <p:spPr>
          <a:xfrm>
            <a:off x="822960" y="5943600"/>
            <a:ext cx="10607040" cy="457200"/>
          </a:xfrm>
          <a:prstGeom prst="rect">
            <a:avLst/>
          </a:prstGeom>
          <a:noFill/>
          <a:ln/>
        </p:spPr>
        <p:txBody>
          <a:bodyPr wrap="square" rtlCol="0" anchor="ctr"/>
          <a:lstStyle/>
          <a:p>
            <a:pPr marL="0" indent="0">
              <a:buNone/>
            </a:pPr>
            <a:r>
              <a:rPr lang="en-US" sz="1000" dirty="0">
                <a:solidFill>
                  <a:srgbClr val="5C6470"/>
                </a:solidFill>
                <a:latin typeface="Calibri" pitchFamily="34" charset="0"/>
                <a:ea typeface="Calibri" pitchFamily="34" charset="-122"/>
                <a:cs typeface="Calibri" pitchFamily="34" charset="-120"/>
              </a:rPr>
              <a:t>U.S. History Hack  ·  TroopToTeacher Technologies LLC  ·  All primary sources verified against National Archives, Library of Congress, and U.S. Senate records. All images public domain.</a:t>
            </a:r>
            <a:endParaRPr lang="en-US" sz="1000" dirty="0"/>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502920"/>
            <a:ext cx="111556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This Deck Works — UDL 3.0 &amp; MTSS</a:t>
            </a:r>
            <a:endParaRPr lang="en-US" sz="3200" dirty="0"/>
          </a:p>
        </p:txBody>
      </p:sp>
      <p:sp>
        <p:nvSpPr>
          <p:cNvPr id="3" name="Text 1"/>
          <p:cNvSpPr/>
          <p:nvPr/>
        </p:nvSpPr>
        <p:spPr>
          <a:xfrm>
            <a:off x="566928" y="1115568"/>
            <a:ext cx="10972800" cy="320040"/>
          </a:xfrm>
          <a:prstGeom prst="rect">
            <a:avLst/>
          </a:prstGeom>
          <a:noFill/>
          <a:ln/>
        </p:spPr>
        <p:txBody>
          <a:bodyPr wrap="square" lIns="0" tIns="0" rIns="0" bIns="0" rtlCol="0" anchor="ctr"/>
          <a:lstStyle/>
          <a:p>
            <a:pPr indent="0" marL="0">
              <a:buNone/>
            </a:pPr>
            <a:r>
              <a:rPr lang="en-US" sz="1400" i="1" dirty="0">
                <a:solidFill>
                  <a:srgbClr val="C89B3C"/>
                </a:solidFill>
                <a:latin typeface="Arial" pitchFamily="34" charset="0"/>
                <a:ea typeface="Arial" pitchFamily="34" charset="-122"/>
                <a:cs typeface="Arial" pitchFamily="34" charset="-120"/>
              </a:rPr>
              <a:t>Teacher reference · CAST UDL 3.0 guidelines designed into every standard</a:t>
            </a:r>
            <a:endParaRPr lang="en-US" sz="1400" dirty="0"/>
          </a:p>
        </p:txBody>
      </p:sp>
      <p:sp>
        <p:nvSpPr>
          <p:cNvPr id="4" name="Shape 2"/>
          <p:cNvSpPr/>
          <p:nvPr/>
        </p:nvSpPr>
        <p:spPr>
          <a:xfrm>
            <a:off x="548640" y="1600200"/>
            <a:ext cx="3566160" cy="3246120"/>
          </a:xfrm>
          <a:prstGeom prst="rect">
            <a:avLst/>
          </a:prstGeom>
          <a:solidFill>
            <a:srgbClr val="1E2C4C"/>
          </a:solidFill>
          <a:ln w="12700">
            <a:solidFill>
              <a:srgbClr val="C89B3C"/>
            </a:solidFill>
            <a:prstDash val="solid"/>
          </a:ln>
        </p:spPr>
      </p:sp>
      <p:sp>
        <p:nvSpPr>
          <p:cNvPr id="5" name="Text 3"/>
          <p:cNvSpPr/>
          <p:nvPr/>
        </p:nvSpPr>
        <p:spPr>
          <a:xfrm>
            <a:off x="777240"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ENGAGEMENT</a:t>
            </a:r>
            <a:endParaRPr lang="en-US" sz="1400" dirty="0"/>
          </a:p>
        </p:txBody>
      </p:sp>
      <p:sp>
        <p:nvSpPr>
          <p:cNvPr id="6" name="Text 4"/>
          <p:cNvSpPr/>
          <p:nvPr/>
        </p:nvSpPr>
        <p:spPr>
          <a:xfrm>
            <a:off x="777240"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“why”</a:t>
            </a:r>
            <a:endParaRPr lang="en-US" sz="1100" dirty="0"/>
          </a:p>
        </p:txBody>
      </p:sp>
      <p:sp>
        <p:nvSpPr>
          <p:cNvPr id="7" name="Text 5"/>
          <p:cNvSpPr/>
          <p:nvPr/>
        </p:nvSpPr>
        <p:spPr>
          <a:xfrm>
            <a:off x="777240"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Welcoming Interests &amp; Identities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Sustaining Effort &amp; Persistence</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Emotional Capacity</a:t>
            </a:r>
            <a:endParaRPr lang="en-US" sz="1300" dirty="0"/>
          </a:p>
        </p:txBody>
      </p:sp>
      <p:sp>
        <p:nvSpPr>
          <p:cNvPr id="8" name="Shape 6"/>
          <p:cNvSpPr/>
          <p:nvPr/>
        </p:nvSpPr>
        <p:spPr>
          <a:xfrm>
            <a:off x="4315968" y="1600200"/>
            <a:ext cx="3566160" cy="3246120"/>
          </a:xfrm>
          <a:prstGeom prst="rect">
            <a:avLst/>
          </a:prstGeom>
          <a:solidFill>
            <a:srgbClr val="1E2C4C"/>
          </a:solidFill>
          <a:ln w="12700">
            <a:solidFill>
              <a:srgbClr val="C89B3C"/>
            </a:solidFill>
            <a:prstDash val="solid"/>
          </a:ln>
        </p:spPr>
      </p:sp>
      <p:sp>
        <p:nvSpPr>
          <p:cNvPr id="9" name="Text 7"/>
          <p:cNvSpPr/>
          <p:nvPr/>
        </p:nvSpPr>
        <p:spPr>
          <a:xfrm>
            <a:off x="4544568"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REPRESENTATION</a:t>
            </a:r>
            <a:endParaRPr lang="en-US" sz="1400" dirty="0"/>
          </a:p>
        </p:txBody>
      </p:sp>
      <p:sp>
        <p:nvSpPr>
          <p:cNvPr id="10" name="Text 8"/>
          <p:cNvSpPr/>
          <p:nvPr/>
        </p:nvSpPr>
        <p:spPr>
          <a:xfrm>
            <a:off x="4544568"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“what”</a:t>
            </a:r>
            <a:endParaRPr lang="en-US" sz="1100" dirty="0"/>
          </a:p>
        </p:txBody>
      </p:sp>
      <p:sp>
        <p:nvSpPr>
          <p:cNvPr id="11" name="Text 9"/>
          <p:cNvSpPr/>
          <p:nvPr/>
        </p:nvSpPr>
        <p:spPr>
          <a:xfrm>
            <a:off x="4544568"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Perception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Language &amp; Symbols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Building Knowledge</a:t>
            </a:r>
            <a:endParaRPr lang="en-US" sz="1300" dirty="0"/>
          </a:p>
        </p:txBody>
      </p:sp>
      <p:sp>
        <p:nvSpPr>
          <p:cNvPr id="12" name="Shape 10"/>
          <p:cNvSpPr/>
          <p:nvPr/>
        </p:nvSpPr>
        <p:spPr>
          <a:xfrm>
            <a:off x="8083296" y="1600200"/>
            <a:ext cx="3566160" cy="3246120"/>
          </a:xfrm>
          <a:prstGeom prst="rect">
            <a:avLst/>
          </a:prstGeom>
          <a:solidFill>
            <a:srgbClr val="1E2C4C"/>
          </a:solidFill>
          <a:ln w="12700">
            <a:solidFill>
              <a:srgbClr val="C89B3C"/>
            </a:solidFill>
            <a:prstDash val="solid"/>
          </a:ln>
        </p:spPr>
      </p:sp>
      <p:sp>
        <p:nvSpPr>
          <p:cNvPr id="13" name="Text 11"/>
          <p:cNvSpPr/>
          <p:nvPr/>
        </p:nvSpPr>
        <p:spPr>
          <a:xfrm>
            <a:off x="8311896"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ACTION &amp; EXPRESSION</a:t>
            </a:r>
            <a:endParaRPr lang="en-US" sz="1400" dirty="0"/>
          </a:p>
        </p:txBody>
      </p:sp>
      <p:sp>
        <p:nvSpPr>
          <p:cNvPr id="14" name="Text 12"/>
          <p:cNvSpPr/>
          <p:nvPr/>
        </p:nvSpPr>
        <p:spPr>
          <a:xfrm>
            <a:off x="8311896"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“how”</a:t>
            </a:r>
            <a:endParaRPr lang="en-US" sz="1100" dirty="0"/>
          </a:p>
        </p:txBody>
      </p:sp>
      <p:sp>
        <p:nvSpPr>
          <p:cNvPr id="15" name="Text 13"/>
          <p:cNvSpPr/>
          <p:nvPr/>
        </p:nvSpPr>
        <p:spPr>
          <a:xfrm>
            <a:off x="8311896"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Interaction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Expression &amp; Communication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Strategy Development</a:t>
            </a:r>
            <a:endParaRPr lang="en-US" sz="1300" dirty="0"/>
          </a:p>
        </p:txBody>
      </p:sp>
      <p:sp>
        <p:nvSpPr>
          <p:cNvPr id="16" name="Text 14"/>
          <p:cNvSpPr/>
          <p:nvPr/>
        </p:nvSpPr>
        <p:spPr>
          <a:xfrm>
            <a:off x="8522208" y="1170432"/>
            <a:ext cx="3108960" cy="274320"/>
          </a:xfrm>
          <a:prstGeom prst="rect">
            <a:avLst/>
          </a:prstGeom>
          <a:solidFill>
            <a:srgbClr val="B22234"/>
          </a:solidFill>
          <a:ln/>
        </p:spPr>
        <p:txBody>
          <a:bodyPr wrap="square" lIns="25400" tIns="25400" rIns="25400" bIns="254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EVERY LEARNER  ·  SAME FIRM GOAL</a:t>
            </a:r>
            <a:endParaRPr lang="en-US" sz="1050" dirty="0"/>
          </a:p>
        </p:txBody>
      </p:sp>
      <p:sp>
        <p:nvSpPr>
          <p:cNvPr id="17" name="Shape 15"/>
          <p:cNvSpPr/>
          <p:nvPr/>
        </p:nvSpPr>
        <p:spPr>
          <a:xfrm>
            <a:off x="548640" y="5074920"/>
            <a:ext cx="11091672" cy="960120"/>
          </a:xfrm>
          <a:prstGeom prst="rect">
            <a:avLst/>
          </a:prstGeom>
          <a:solidFill>
            <a:srgbClr val="24345A"/>
          </a:solidFill>
          <a:ln w="19050">
            <a:solidFill>
              <a:srgbClr val="B22234"/>
            </a:solidFill>
            <a:prstDash val="solid"/>
          </a:ln>
        </p:spPr>
      </p:sp>
      <p:sp>
        <p:nvSpPr>
          <p:cNvPr id="18" name="Text 16"/>
          <p:cNvSpPr/>
          <p:nvPr/>
        </p:nvSpPr>
        <p:spPr>
          <a:xfrm>
            <a:off x="777240" y="5120640"/>
            <a:ext cx="10607040" cy="868680"/>
          </a:xfrm>
          <a:prstGeom prst="rect">
            <a:avLst/>
          </a:prstGeom>
          <a:noFill/>
          <a:ln/>
        </p:spPr>
        <p:txBody>
          <a:bodyPr wrap="square" lIns="0" tIns="0" rIns="0" bIns="0" rtlCol="0" anchor="ctr"/>
          <a:lstStyle/>
          <a:p>
            <a:pPr indent="0" marL="0">
              <a:lnSpc>
                <a:spcPct val="105000"/>
              </a:lnSpc>
              <a:buNone/>
            </a:pPr>
            <a:r>
              <a:rPr lang="en-US" sz="1350" b="1" dirty="0">
                <a:solidFill>
                  <a:srgbClr val="C89B3C"/>
                </a:solidFill>
                <a:latin typeface="Arial" pitchFamily="34" charset="0"/>
                <a:ea typeface="Arial" pitchFamily="34" charset="-122"/>
                <a:cs typeface="Arial" pitchFamily="34" charset="-120"/>
              </a:rPr>
              <a:t>MTSS decision cycle:  </a:t>
            </a:r>
            <a:pPr indent="0" marL="0">
              <a:lnSpc>
                <a:spcPct val="105000"/>
              </a:lnSpc>
              <a:buNone/>
            </a:pPr>
            <a:r>
              <a:rPr lang="en-US" sz="1350" dirty="0">
                <a:solidFill>
                  <a:srgbClr val="FFFFFF"/>
                </a:solidFill>
                <a:latin typeface="Arial" pitchFamily="34" charset="0"/>
                <a:ea typeface="Arial" pitchFamily="34" charset="-122"/>
                <a:cs typeface="Arial" pitchFamily="34" charset="-120"/>
              </a:rPr>
              <a:t>Tier 1 core for all → the Progress Check yields evidence → below mastery routes to targeted reteach (Tier 2, Teacher Guide §16); at/above mastery routes to extension. </a:t>
            </a:r>
            <a:pPr indent="0" marL="0">
              <a:lnSpc>
                <a:spcPct val="105000"/>
              </a:lnSpc>
              <a:buNone/>
            </a:pPr>
            <a:r>
              <a:rPr lang="en-US" sz="1350" b="1" dirty="0">
                <a:solidFill>
                  <a:srgbClr val="FF6B7A"/>
                </a:solidFill>
                <a:latin typeface="Arial" pitchFamily="34" charset="0"/>
                <a:ea typeface="Arial" pitchFamily="34" charset="-122"/>
                <a:cs typeface="Arial" pitchFamily="34" charset="-120"/>
              </a:rPr>
              <a:t>The goal never lowers.</a:t>
            </a:r>
            <a:endParaRPr lang="en-US" sz="1350" dirty="0"/>
          </a:p>
        </p:txBody>
      </p:sp>
      <p:sp>
        <p:nvSpPr>
          <p:cNvPr id="19" name="Text 17"/>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20" name="Text 18"/>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Great Migration</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Gran Migración</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mass movement of over 6 million African Americans from the rural South to urban areas in the North and Midwest between 1916 and 1970, driven by economic opportunity and escape from Jim Crow segregation.</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First Red Scare</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Primer Susto Rojo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period of intense fear of communism and radical political activity following World War I (1919-1920), leading to deportations, arrests, and violations of civil liberties.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Radio Broadcasting</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Radiodifusión</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transmission of audio content over radio waves that revolutionized communication in the 1920s, creating mass media, national advertising, and shared popular culture.</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Radio Broadcasting</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Radiodifusión</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transmission of audio content over radio waves that revolutionized communication in the 1920s, creating mass media, national advertising, and shared popular culture.</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Motion Pictures</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Imágenes en Movimiento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Silent and "talkie" films that became America's most popular entertainment in the 1920s, creating celebrity culture and Hollywood as the film capital of the world.</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Commercial Aviation</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Aviación Comercial</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development of airplane technology and air travel in the 1920s, highlighted by Charles Lindbergh's 1927 solo transatlantic flight, which captured public imagination and demonstrated aviation's potential.</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Grand Ole Opry</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Grand Ole Opry</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weekly country music radio show that began in Nashville in 1925, becoming the longest-running radio broadcast in U.S. history and establishing Nashville as country music's capital.</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W.C. Handy</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W.C. Handy</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Known as the "Father of the Blues," a musician and composer who published the first blues compositions and helped bring blues music from rural areas to mainstream audiences.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Bessie Smith</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Bessie Smith</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"Empress of the Blues," the most popular female blues singer of the 1920s whose powerful voice and emotional performances influenced generations of musicians.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Commercial Aviation</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Aviación Comercial</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development of airplane technology and air travel in the 1920s, highlighted by Charles Lindbergh's 1927 solo transatlantic flight, which captured public imagination and demonstrated aviation's potential.</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Electrification</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Electrificación</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spread of electrical power throughout America in the 1920s, transforming daily life with electric appliances, lighting, and machinery in homes and factories.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Automobile Impact</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Impacto del Automóvil</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widespread adoption of cars in the 1920s transformed American society, creating suburbs, highways, tourism, and related industries like gas stations, motels, and drive-in restaurants.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Henry Ford</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Henry Ford</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Automobile manufacturer who revolutionized production with the assembly line, making the Model T affordable for average Americans and transforming society.</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Assembly Line</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Línea de Ensamblaje</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manufacturing method where workers remain stationary while products move past them on a conveyor belt, with each worker performing one specific task, dramatically increasing efficiency.</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Automobile Impact</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Impacto del Automóvil</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widespread adoption of cars in the 1920s transformed American society, creating suburbs, highways, tourism, and related industries like gas stations, motels, and drive-in restaurants.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Harlem Renaissance</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Renacimiento de Harlem</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1920s cultural movement centered in Harlem, New York, where African American artists, writers, musicians, and intellectuals celebrated Black culture and identity through art, literature, and music.</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Louis Armstrong</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Louis Armstrong</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revolutionary jazz trumpeter and singer from New Orleans who became one of the most influential musicians of the 20th century, pioneering improvisational jazz and scat singing.</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Duke Ellington</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Duke Ellington</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prolific jazz composer, pianist, and bandleader who led his orchestra for nearly 50 years, creating sophisticated jazz compositions that elevated the genre to high art.</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Flappers</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Flappers</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Young women in the 1920s who challenged traditional gender norms by wearing short skirts and bobbed hair, dancing, drinking, smoking, and asserting independence.</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Birth Control Movement</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de Control de Natalidad</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Led by Margaret Sanger, the campaign to legalize contraception and provide women reproductive choice, facing opposition from religious and conservative groups.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Women in the Workforce</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Mujeres en la Fuerza Laboral</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1920s saw increased female employment in clerical and office jobs, though women still faced discrimination, lower wages, and were often expected to leave work upon marriage.</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First Red Scare</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Primer Susto Rojo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period of intense fear of communism and radical political activity following World War I (1919-1920), leading to deportations, arrests, and violations of civil liberties.</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Immigration Quota Acts</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Leyes de Cuotas de Inmigración</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1921 and 1924 laws that drastically limited immigration, especially from Southern and Eastern Europe, Asia, and Africa, based on racist national origins formulas.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KKK Resurgence</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Resurgimiento del KKK</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Ku Klux Klan's revival in the 1920s, expanding beyond the South to target not just African Americans but also Catholics, Jews, immigrants, and others, reaching 4-5 million members.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Scopes Trial</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Juicio de Scopes</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1925 "Monkey Trial" in Dayton, Tennessee, where teacher John Scopes was prosecuted for teaching evolution, symbolizing the clash between modernism and fundamentalism.</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Fundamentalism</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Fundamentalismo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religious movement emphasizing literal interpretation of the Bible, traditional values, and opposition to modernist ideas like evolution, gaining strength in the 1920s.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Modernism</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Modernismo</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cultural movement embracing science, reason, and social change, including acceptance of evolution, urban lifestyles, and challenges to traditional religious and moral values.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Prohibition</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Prohibición</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nationwide constitutional ban on the manufacture, sale, and transport of alcoholic beverages, in effect from 1920 to 1933 under the 18th Amendment.</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Organized Crime</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Crimen Organizado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Structured criminal enterprises that expanded dramatically during Prohibition by controlling the illegal liquor trade, led by figures such as Al Capone in Chicago.</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Bootlegging</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Contrabando de Alcohol</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illegal production, smuggling, and distribution of alcohol during Prohibition.</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Buying on Credit</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Compra a Crédito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practice of purchasing goods with borrowed money repaid over time in installments, which fueled 1920s consumer spending.</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Consumerism</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Consumismo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culture of increased purchasing of consumer goods, driven in the 1920s by mass production, national advertising, and installment credit.</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Stock Speculation</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Especulación Bursátil</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practice of buying stocks - frequently on margin with borrowed money - in the hope of selling at a higher price for quick profit.</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What social and cultural changes occurred in both Southern communities that lost population and Northern cities that gained it?</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Southern communities lost population and economic vitality while Northern cities saw neighborhood formation, business district growth, cultural flowering like the Harlem Renaissance, but also new racial tensions</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Neither region experienced significant changes, but contemporary accounts suggest a different explanation, though this interpretation lacks supporting historical evidence, although this overlooks critical economic and social factors involved</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Northern cities experienced changes, yet the available evidence points to a different conclusion, which contradicts the primary source evidence from this era despite the fact that multiple contemporary sources contradict this</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Southern communities grew stronger after migration, although historical sources do not support this conclusion and oversimplifies the complex factors at work during this period, though this interpretation lacks supporting historical evidence</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Analyze how mass media in the 1920s created modern American popular culture and consumer society.</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Mass media had no impact on consumption patterns, which does not reflect the consensus among historians, although historical sources do not support this conclusion</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Radio and film advertising promoted consumer products to millions, celebrities modeled lifestyles and endorsed products, and shared entertainment created national markets for standardized goods</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Consumer culture existed before mass media, although historical sources do not support this conclusion, though this interpretation lacks supporting historical evidence</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wealthy Americans participated in consumer culture, although this overlooks critical economic and social factors, which does not align with the documented historical record</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Analyze how country and blues music reflected and influenced American cultural values and regional identity.</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Music had no connection to cultural values, which represents a common misconception about the period, but the historical evidence paints a more nuanced picture and oversimplifies the complex factors at work during this period</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wealthy Americans appreciated these genres, although historical sources do not support this conclusion, though this interpretation lacks supporting historical evidence and oversimplifies the complex factors at work during this period</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Country celebrated rural, traditional, and religious values while blues expressed resilience and emotional depth; both preserved regional heritage, provided cultural identity for marginalized communities, and influenced mainstream American music</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Country and blues had identical cultural messages, which does not reflect the consensus among historians and oversimplifies the complex factors at work during this period despite the fact that multiple contemporary sources contradict this</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Evaluate whether technological innovations of the 1920s improved quality of life for all Americans or primarily benefited certain groups.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All Americans benefited equally from new technologies, but this fails to account for the broader historical context when examined alongside the available primary and secondary sources</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Technology only benefited the wealthy, despite the fact that multiple sources contradict this view, although historical sources do not support this conclusion</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Rural Americans benefited more than urban residents, which does not align with the documented historical record, although historical sources do not support this conclusion</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Urban, middle-class Americans benefited most from electricity and appliances, while rural areas lacked electrification and many workers faced job displacement from mechanization</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Analyze whether Ford's contributions to American economy and society were more positive or negative overall.</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Ford's innovations brought affordable transportation, higher wages, and economic growth, but also repetitive assembly work, anti-union policies, and American dependence on fossil fuels and automobile infrastructure</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Ford's contributions were entirely positive, yet the available evidence points to a different conclusion, but closer analysis reveals a more complicated historical reality, although historical sources do not support this conclusion</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Ford's contributions were entirely negative, but this oversimplifies the complex factors at work, although this overlooks critical economic and social factors involved, which ignores significant political and cultural developments of the era</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Ford had no significant impact on American society, yet the available evidence points to a different conclusion, but the historical evidence paints a more nuanced picture despite the fact that multiple contemporary sources contradict this</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Analyze how the Harlem Renaissance challenged racial stereotypes and influenced American culture beyond the 1920s.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Renaissance had no lasting cultural impact, though this interpretation lacks supporting historical evidence and does not reflect the scholarly consensus on this topic, though this interpretation lacks supporting historical evidence</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Renaissance demonstrated African American intellectual and artistic capabilities, challenged stereotypes through achievement, established jazz as American art, influenced the Civil Rights Movement, and continues to inspire artists today</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Renaissance ended racism in America, although this overlooks critical economic and social factors, although this overlooks critical economic and social factors involved, although historical sources do not support this conclusion</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Its influence was limited to Harlem, although this overlooks critical economic and social factors, but contemporary accounts and primary sources suggest otherwise, which contradicts the primary source evidence from this era</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Evaluate whether the social and economic changes of the 1920s fundamentally improved women's status or were primarily superficial.</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Changes completely transformed women's status, although historical sources do not support this conclusion, although this overlooks critical economic and social factors involved, which does not align with the documented historical record</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No meaningful changes occurred for women, although historical sources do not support this conclusion and does not reflect the scholarly consensus on this topic, which does not align with the documented historical record</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While voting rights, education access, and work opportunities expanded, persistent pay inequality, limited advancement, marriage bars, and traditional expectations meant fundamental gender inequality continued</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rural women experienced significant changes, although this overlooks critical economic and social factors, but contemporary accounts and primary sources suggest otherwise and fails to account for key developments in the broader context</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Compare the different approaches of Ida B. Wells, Marcus Garvey, and the NAACP in fighting for African American rights.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All three used identical approaches, which does not align with the documented historical record, but contemporary accounts and primary sources suggest otherwise and does not reflect the scholarly consensus on this topic, which does not align with the documented historical record</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None of these figures had significant impact, but this oversimplifies the complex factors at work, which does not align with the documented historical record, but contemporary accounts and primary sources suggest otherwise, which represents a common misconception about this historical period</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They all opposed civil rights, but this oversimplifies the complex factors at work when examined alongside the available primary and secondary sources, which represents a common misconception about this historical period and fails to account for key developments in the broader context</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Wells used investigative journalism to expose lynching; Garvey promoted Black nationalism, economic self-sufficiency, and separatism; NAACP pursued integration through legal challenges—representing diverse strategies from documentation to separation to integration</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the confrontation between William Jennings Bryan and Clarence Darrow symbolize broader cultural conflicts in 1920s America?</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Bryan represented traditional, rural, religious America defending Biblical authority while Darrow represented modern, urban, secular America promoting scientific thinking—symbolizing the era's urban-rural and tradition-modernity divides</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Bryan and Darrow had similar viewpoints, which ignores key developments that shaped the outcome and oversimplifies the complex factors at work during this period despite the fact that multiple contemporary sources contradict this</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confrontation was purely legal, not cultural, but the historical record tells a more complex story, though this interpretation lacks supporting historical evidence, but contemporary accounts and primary sources suggest otherwise</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Neither figure was significant to the trial, although this overlooks critical economic and social factors, which does not align with the documented historical record, and this view has been largely revised by modern historical research</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Evaluate whether Prohibition caused more harm than good to American society.</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Prohibition was clearly beneficial overall, despite the fact that multiple sources contradict this view, although this overlooks critical economic and social factors involved, which represents a common misconception about this historical period</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Prohibition created organized crime, caused deaths from poisonous alcohol, corrupted officials, overwhelmed law enforcement, and undermined respect for law while failing to stop drinking—its harms far outweighed any benefits</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Prohibition had no significant effects, which represents a common misconception about the period, which contradicts the primary source evidence from this era, though this interpretation lacks supporting historical evidence</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Prohibition successfully reduced alcohol consumption, though this interpretation lacks supporting historical evidence, though this interpretation lacks supporting historical evidence, and this view has been largely revised by modern historical research</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Analyze how credit expansion, consumerism, and speculation worked together to create both prosperity and economic vulnerability.</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These factors were unrelated, although this overlooks critical economic and social factors, but the historical evidence paints a more nuanced picture and oversimplifies the complex factors at work during this period</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These factors created only prosperity, not vulnerability, but the historical record tells a more complex story and fails to account for key developments in the broader context, although historical sources do not support this conclusion</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Credit enabled consumption and speculation, which drove production and stock prices higher, encouraging more lending in a cycle that created apparent prosperity while building unsustainable debt and inflated asset values that would collapse</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Economic vulnerability came from foreign sources, which ignores key developments that shaped the outcome and does not reflect the scholarly consensus on this topic, which does not align with the documented historical record</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37840</Words>
  <Application>Microsoft Office PowerPoint</Application>
  <PresentationFormat>Widescreen</PresentationFormat>
  <Paragraphs>2992</Paragraphs>
  <Slides>191</Slides>
  <Notes>191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191</vt:i4>
      </vt:variant>
    </vt:vector>
  </HeadingPairs>
  <TitlesOfParts>
    <vt:vector size="196" baseType="lpstr">
      <vt:lpstr>Arial</vt:lpstr>
      <vt:lpstr>Calibri</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4 — The 1920s (US.28–US.38)</dc:subject>
  <dc:creator>TroopToTeacher Technologies LLC</dc:creator>
  <cp:lastModifiedBy>sean reynolds</cp:lastModifiedBy>
  <cp:revision>2</cp:revision>
  <dcterms:created xsi:type="dcterms:W3CDTF">2026-07-01T22:52:29Z</dcterms:created>
  <dcterms:modified xsi:type="dcterms:W3CDTF">2026-07-28T16:57:58Z</dcterms:modified>
</cp:coreProperties>
</file>
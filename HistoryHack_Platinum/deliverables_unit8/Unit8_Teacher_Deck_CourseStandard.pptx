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1.jpg" ContentType="image/jpg"/>
  <Override PartName="/ppt/media/image-102-1.jpg" ContentType="image/jpg"/>
  <Override PartName="/ppt/media/image-104-1.jpg" ContentType="image/jpg"/>
  <Override PartName="/ppt/media/image-107-1.jpg" ContentType="image/jpg"/>
  <Override PartName="/ppt/media/image-11-1.jpg" ContentType="image/jpg"/>
  <Override PartName="/ppt/media/image-14-1.jpg" ContentType="image/jpg"/>
  <Override PartName="/ppt/media/image-25-1.jpg" ContentType="image/jpg"/>
  <Override PartName="/ppt/media/image-40-1.jpg" ContentType="image/jpg"/>
  <Override PartName="/ppt/media/image-41-1.jpg" ContentType="image/jpg"/>
  <Override PartName="/ppt/media/image-58-1.jpg" ContentType="image/jpg"/>
  <Override PartName="/ppt/media/image-59-1.jpg" ContentType="image/jpg"/>
  <Override PartName="/ppt/media/image-71-1.jpg" ContentType="image/jpg"/>
  <Override PartName="/ppt/media/image-87-1.jpg" ContentType="image/jpg"/>
  <Override PartName="/ppt/media/image-88-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377" r:id="rId128"/>
    <p:sldId id="260" r:id="rId6"/>
    <p:sldId id="261" r:id="rId7"/>
    <p:sldId id="262" r:id="rId8"/>
    <p:sldId id="263" r:id="rId9"/>
    <p:sldId id="264" r:id="rId10"/>
    <p:sldId id="265" r:id="rId11"/>
    <p:sldId id="266" r:id="rId12"/>
    <p:sldId id="267" r:id="rId13"/>
    <p:sldId id="268" r:id="rId14"/>
    <p:sldId id="269" r:id="rId15"/>
    <p:sldId id="370" r:id="rId121"/>
    <p:sldId id="271" r:id="rId17"/>
    <p:sldId id="272" r:id="rId18"/>
    <p:sldId id="273" r:id="rId19"/>
    <p:sldId id="274" r:id="rId20"/>
    <p:sldId id="275" r:id="rId21"/>
    <p:sldId id="276" r:id="rId22"/>
    <p:sldId id="378" r:id="rId129"/>
    <p:sldId id="385" r:id="rId136"/>
    <p:sldId id="277" r:id="rId23"/>
    <p:sldId id="278" r:id="rId24"/>
    <p:sldId id="279" r:id="rId25"/>
    <p:sldId id="280" r:id="rId26"/>
    <p:sldId id="281" r:id="rId27"/>
    <p:sldId id="282" r:id="rId28"/>
    <p:sldId id="283" r:id="rId29"/>
    <p:sldId id="284" r:id="rId30"/>
    <p:sldId id="371" r:id="rId122"/>
    <p:sldId id="286" r:id="rId32"/>
    <p:sldId id="287" r:id="rId33"/>
    <p:sldId id="288" r:id="rId34"/>
    <p:sldId id="289" r:id="rId35"/>
    <p:sldId id="290" r:id="rId36"/>
    <p:sldId id="291" r:id="rId37"/>
    <p:sldId id="379" r:id="rId130"/>
    <p:sldId id="386" r:id="rId137"/>
    <p:sldId id="292" r:id="rId38"/>
    <p:sldId id="293" r:id="rId39"/>
    <p:sldId id="294" r:id="rId40"/>
    <p:sldId id="295" r:id="rId41"/>
    <p:sldId id="296" r:id="rId42"/>
    <p:sldId id="297" r:id="rId43"/>
    <p:sldId id="298" r:id="rId44"/>
    <p:sldId id="299" r:id="rId45"/>
    <p:sldId id="300" r:id="rId46"/>
    <p:sldId id="372" r:id="rId123"/>
    <p:sldId id="302" r:id="rId48"/>
    <p:sldId id="303" r:id="rId49"/>
    <p:sldId id="304" r:id="rId50"/>
    <p:sldId id="305" r:id="rId51"/>
    <p:sldId id="306" r:id="rId52"/>
    <p:sldId id="307" r:id="rId53"/>
    <p:sldId id="380" r:id="rId131"/>
    <p:sldId id="387" r:id="rId138"/>
    <p:sldId id="308" r:id="rId54"/>
    <p:sldId id="309" r:id="rId55"/>
    <p:sldId id="310" r:id="rId56"/>
    <p:sldId id="311" r:id="rId57"/>
    <p:sldId id="312" r:id="rId58"/>
    <p:sldId id="313" r:id="rId59"/>
    <p:sldId id="314" r:id="rId60"/>
    <p:sldId id="315" r:id="rId61"/>
    <p:sldId id="373" r:id="rId124"/>
    <p:sldId id="317" r:id="rId63"/>
    <p:sldId id="318" r:id="rId64"/>
    <p:sldId id="319" r:id="rId65"/>
    <p:sldId id="320" r:id="rId66"/>
    <p:sldId id="321" r:id="rId67"/>
    <p:sldId id="322" r:id="rId68"/>
    <p:sldId id="381" r:id="rId132"/>
    <p:sldId id="388" r:id="rId139"/>
    <p:sldId id="323" r:id="rId69"/>
    <p:sldId id="324" r:id="rId70"/>
    <p:sldId id="325" r:id="rId71"/>
    <p:sldId id="326" r:id="rId72"/>
    <p:sldId id="327" r:id="rId73"/>
    <p:sldId id="328" r:id="rId74"/>
    <p:sldId id="329" r:id="rId75"/>
    <p:sldId id="330" r:id="rId76"/>
    <p:sldId id="374" r:id="rId125"/>
    <p:sldId id="332" r:id="rId78"/>
    <p:sldId id="333" r:id="rId79"/>
    <p:sldId id="334" r:id="rId80"/>
    <p:sldId id="335" r:id="rId81"/>
    <p:sldId id="336" r:id="rId82"/>
    <p:sldId id="337" r:id="rId83"/>
    <p:sldId id="382" r:id="rId133"/>
    <p:sldId id="389" r:id="rId140"/>
    <p:sldId id="338" r:id="rId84"/>
    <p:sldId id="339" r:id="rId85"/>
    <p:sldId id="340" r:id="rId86"/>
    <p:sldId id="341" r:id="rId87"/>
    <p:sldId id="342" r:id="rId88"/>
    <p:sldId id="343" r:id="rId89"/>
    <p:sldId id="344" r:id="rId90"/>
    <p:sldId id="345" r:id="rId91"/>
    <p:sldId id="346" r:id="rId92"/>
    <p:sldId id="375" r:id="rId126"/>
    <p:sldId id="348" r:id="rId94"/>
    <p:sldId id="349" r:id="rId95"/>
    <p:sldId id="350" r:id="rId96"/>
    <p:sldId id="351" r:id="rId97"/>
    <p:sldId id="352" r:id="rId98"/>
    <p:sldId id="353" r:id="rId99"/>
    <p:sldId id="383" r:id="rId134"/>
    <p:sldId id="390" r:id="rId141"/>
    <p:sldId id="354" r:id="rId100"/>
    <p:sldId id="355" r:id="rId101"/>
    <p:sldId id="356" r:id="rId102"/>
    <p:sldId id="357" r:id="rId103"/>
    <p:sldId id="358" r:id="rId104"/>
    <p:sldId id="359" r:id="rId105"/>
    <p:sldId id="360" r:id="rId106"/>
    <p:sldId id="361" r:id="rId107"/>
    <p:sldId id="362" r:id="rId108"/>
    <p:sldId id="376" r:id="rId127"/>
    <p:sldId id="364" r:id="rId110"/>
    <p:sldId id="365" r:id="rId111"/>
    <p:sldId id="366" r:id="rId112"/>
    <p:sldId id="367" r:id="rId113"/>
    <p:sldId id="368" r:id="rId114"/>
    <p:sldId id="369" r:id="rId115"/>
    <p:sldId id="384" r:id="rId135"/>
    <p:sldId id="391" r:id="rId142"/>
  </p:sldIdLst>
  <p:notesMasterIdLst>
    <p:notesMasterId r:id="rId1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notesMaster" Target="notesMasters/notesMaster1.xml"/><Relationship Id="rId117" Type="http://schemas.openxmlformats.org/officeDocument/2006/relationships/presProps" Target="presProps.xml"/><Relationship Id="rId118" Type="http://schemas.openxmlformats.org/officeDocument/2006/relationships/viewProps" Target="viewProps.xml"/><Relationship Id="rId119" Type="http://schemas.openxmlformats.org/officeDocument/2006/relationships/theme" Target="theme/theme1.xml"/><Relationship Id="rId120" Type="http://schemas.openxmlformats.org/officeDocument/2006/relationships/tableStyles" Target="tableStyles.xml"/><Relationship Id="rId121" Type="http://schemas.openxmlformats.org/officeDocument/2006/relationships/slide" Target="slides/slide15.xml"/><Relationship Id="rId122" Type="http://schemas.openxmlformats.org/officeDocument/2006/relationships/slide" Target="slides/slide30.xml"/><Relationship Id="rId123" Type="http://schemas.openxmlformats.org/officeDocument/2006/relationships/slide" Target="slides/slide46.xml"/><Relationship Id="rId124" Type="http://schemas.openxmlformats.org/officeDocument/2006/relationships/slide" Target="slides/slide61.xml"/><Relationship Id="rId125" Type="http://schemas.openxmlformats.org/officeDocument/2006/relationships/slide" Target="slides/slide76.xml"/><Relationship Id="rId126" Type="http://schemas.openxmlformats.org/officeDocument/2006/relationships/slide" Target="slides/slide92.xml"/><Relationship Id="rId127" Type="http://schemas.openxmlformats.org/officeDocument/2006/relationships/slide" Target="slides/slide108.xml"/><Relationship Id="rId128" Type="http://schemas.openxmlformats.org/officeDocument/2006/relationships/slide" Target="slides/slide115.xml"/><Relationship Id="rId129" Type="http://schemas.openxmlformats.org/officeDocument/2006/relationships/slide" Target="slides/slide116.xml"/><Relationship Id="rId130" Type="http://schemas.openxmlformats.org/officeDocument/2006/relationships/slide" Target="slides/slide117.xml"/><Relationship Id="rId131" Type="http://schemas.openxmlformats.org/officeDocument/2006/relationships/slide" Target="slides/slide118.xml"/><Relationship Id="rId132" Type="http://schemas.openxmlformats.org/officeDocument/2006/relationships/slide" Target="slides/slide119.xml"/><Relationship Id="rId133" Type="http://schemas.openxmlformats.org/officeDocument/2006/relationships/slide" Target="slides/slide120.xml"/><Relationship Id="rId134" Type="http://schemas.openxmlformats.org/officeDocument/2006/relationships/slide" Target="slides/slide121.xml"/><Relationship Id="rId135" Type="http://schemas.openxmlformats.org/officeDocument/2006/relationships/slide" Target="slides/slide122.xml"/><Relationship Id="rId136" Type="http://schemas.openxmlformats.org/officeDocument/2006/relationships/slide" Target="slides/slide123.xml"/><Relationship Id="rId137" Type="http://schemas.openxmlformats.org/officeDocument/2006/relationships/slide" Target="slides/slide124.xml"/><Relationship Id="rId138" Type="http://schemas.openxmlformats.org/officeDocument/2006/relationships/slide" Target="slides/slide125.xml"/><Relationship Id="rId139" Type="http://schemas.openxmlformats.org/officeDocument/2006/relationships/slide" Target="slides/slide126.xml"/><Relationship Id="rId140" Type="http://schemas.openxmlformats.org/officeDocument/2006/relationships/slide" Target="slides/slide127.xml"/><Relationship Id="rId141" Type="http://schemas.openxmlformats.org/officeDocument/2006/relationships/slide" Target="slides/slide128.xml"/><Relationship Id="rId142" Type="http://schemas.openxmlformats.org/officeDocument/2006/relationships/slide" Target="slides/slide1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8 TCAP EOC lecture deck. Each standard runs as a full lesson: divider (standard + I Can), hook, direct instruction with a verified primary-source image, key figures, vocabulary, a student activity (paired to a printable worksheet), a TCAP-style check (question slide, then click to the reveal/answer-key slide), and a wrap-up with a teacher answer key in the speaker notes. All images are public-domain, captioned, and linked to the Library of Congress / National Archives.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 ringer (5 min). Features of modern American life rooted in the 1950s students may name: suburban housing developments and homeownership (Levittown, the G.I. Bill), the interstate highway system and car culture, fast food and motel chains, television as the dominant mass medium, consumer credit and advertising, and rock 'n' roll and a distinct teenage youth culture. Push students to also name who was left out — many Black families were excluded from suburbs and G.I. Bill benefits. Collect lists; revisit on the closing slide after students can answer with evidence — from consumerism and the suburbs, through the baby boom, Eisenhower, cars, and television, to Tennessee music and Kennedy's New Frontier.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(US.71). Cold-call or whiteboards, 3-4 min, low stakes. Answers — 1) The Cold War was the rivalry between the United States and the Soviet Union. It shaped American policy by driving military spending, the formation of NATO, and domestic programs like the G.I. Bill and highway system that were partly justified as national-defense measures.  2) No. While many white veterans benefited from the G.I. Bill, suburbs, and white-collar jobs, discriminatory policies like redlining and restrictive covenants largely excluded African Americans from the same prosperity, making 1950s affluence deeply unequal.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(US.71, DOK 1). 60-90 seconds. Have EVERY student commit (thumbs / whiteboard / choral) before revealing — this secures an early win and surfaces who is shaky before new content. Answer: College tuition, home loans, or vocational training (any one is correct). Key term to listen for: G.I. Bill.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(US.71).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(US.71). Ask students: if the government gave you money for college and a low-interest home loan, how would that change where you live and what you do for work?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WHEN? (1944) WHY does that matter? (Consider the author’s purpose and audience before reading the words.) Only then move to the ANALYZE question. Suggested answer: See teacher key. Practice skill: Contextualization.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(US.71). Skill modeled: Analyze cause and effect. Model the worked example aloud using the THINK ALOUD as your script, then release students to the activity ("With a partner, trace one chain of causes and effects that connects post-war prosperity to the suburban ideal. Be ready to share your chain.").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US.71. Pair with the printable: cornell-notes/unit-8/us71-prosperity-consumerism.pdf. Timing: 15. Deliverable: Completed three-column chart (education / housing / economy, each with a G.I. Bill benefit + one concrete effect) AND a one-sentence evidence-based claim about the most significant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(US.71, DOK 2). Have students commit to an answer (whiteboards, hand signal, or turn-and-talk) BEFORE advancing. Correct answer: C. The next slide reveals it. Why: The growth of white-collar jobs in the 1950s expanded office and professional work, which helped enlarge the middle class. Workers moved from factory floors to corporate offices, fueling the suburban lifestyle. A describes the G.I. Bill, not white-collar job growth. D describes consumerism broadly, not the specific shift in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(US.71). Correct: C. The growth of white-collar jobs in the 1950s expanded office and professional work, which helped enlarge the middle class. Workers moved from factory floors to corporate offices, fueling the suburban lifestyle. A describes the G.I. Bill, not white-collar job growth. D describes consumerism broadly, not the specific shift in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(US.71, DOK 2). Prompt: Explain how the G.I. Bill and suburban growth together created a new American middle class. What did each contribute, and was the benefit available to all Americans?  Model answer: The G.I. Bill gave veterans affordable college tuition and low-interest home loans, while suburban developers like Levitt provided mass-produced affordable homes. Together they created millions of new homeowners with college educations—a new middle class. However, discriminatory implementation and restrictive covenants meant African American veterans received far fewer benefits, making the new prosperity unequally distributed.  RETEACH TRIGGER — if a student misses this exit ticket: (1) &lt;50% of class miss → spiral it into the next standard’s Quick Review opener (see the US.71 review prompts). (2) Individual/small group → reteach with the "Post-War Economic Boom" direct-instruction slide + re-run the SOURCE IT FIRST routine on the US.71 primary source, then assign the paired printable: cornell-notes/unit-8/us71-prosperity-consumerism.pdf. (3) Re-assess with the US.71 check-for-understanding reveal slide as a do-now the next day. Reteach anchors (this standard’s sections): Post-War Economic Boom; Growth of White-Collar Jobs; The Suburban Ideal; Impact of the G.I. Bill; Increased Reliance on Foreign Oil. I Can objective: I can analyze the impact of prosperity and consumerism in the 1950s, including the growth of white-collar jobs, the "suburban ideal," the impact of the G.I. Bill, and the increased reliance on foreign oil.  HONORS / EXTENSION (DOK 3, for early finishers or advanced learners): Argue: was 1950s prosperity a genuine American success story or a story of unequal access? Use the G.I. Bill and suburban ideal as evidence and address the strongest counterargument.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(US.72). Cold-call or whiteboards, 3-4 min, low stakes. Answers — 1) The G.I. Bill gave veterans home loans and college tuition, creating economic stability. Suburbs offered affordable housing for families. These conditions—prosperity, housing, and optimism—encouraged veterans to marry and have children in record numbers, fueling the baby boom.  2) Low unemployment, rising wages, and affordable suburban housing gave families the economic security to have larger families. The postwar prosperity created the conditions for the baby boom.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(US.72, DOK 1). 60-90 seconds. Have EVERY student commit (thumbs / whiteboard / choral) before revealing — this secures an early win and surfaces who is shaky before new content. Answer: 1946 to 1964. Key term to listen for: Baby Boom.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(US.72).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(US.72). Ask students: if every family in the country suddenly had two or three more children, what would change in your community—schools, stores, neighborhoods?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Census Bureau) WHEN? (1955) WHY does that matter? (Consider the author’s purpose and audience before reading the words.) Only then move to the ANALYZE question. Suggested answer: See teacher key. Practice skill: Contextualization.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(US.72). Skill modeled: Identify demographic cause and effect. Model the worked example aloud using the THINK ALOUD as your script, then release students to the activity ("With a partner, predict: if boomers grew from babies to teenagers, what new industries would emerge? Use the sections to support your prediction.").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US.72. Pair with the printable: cornell-notes/unit-8/us72-baby-boomer-impact.pdf. Timing: 15. Deliverable: Cause-and-effect diagram (at least four ripple effects across two time periods) AND one explanatory sentence connecting demographic change to economic and cultural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(US.72, DOK 2). Have students commit to an answer (whiteboards, hand signal, or turn-and-talk) BEFORE advancing. Correct answer: A. The next slide reveals it. Why: The baby-boom generation drove huge demand for schools, houses, toys, cars, and later colleges and jobs. B is wrong because the boom fueled growth, not depression. C is wrong because boomers stayed and shaped American culture. D is wrong because the boom was most visible in suburban and urban areas, not rural farming communities.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(US.72). Correct: A. The baby-boom generation drove huge demand for schools, houses, toys, cars, and later colleges and jobs. B is wrong because the boom fueled growth, not depression. C is wrong because boomers stayed and shaped American culture. D is wrong because the boom was most visible in suburban and urban areas, not rural farming communities.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(US.72, DOK 2). Prompt: Explain how the baby boom generation changed the American economy in two different ways—one immediate (1950s) and one longer-term (1960s-onward).  Model answer: Immediately in the 1950s, the baby boom created demand for baby products, schools, and housing, driving manufacturing and retail growth. As boomers became teenagers in the 1960s, they created a massive youth consumer market for music, fashion, and entertainment, transforming American culture and business.  RETEACH TRIGGER — if a student misses this exit ticket: (1) &lt;50% of class miss → spiral it into the next standard’s Quick Review opener (see the US.72 review prompts). (2) Individual/small group → reteach with the "What Was the Baby Boom?" direct-instruction slide + re-run the SOURCE IT FIRST routine on the US.72 primary source, then assign the paired printable: cornell-notes/unit-8/us72-baby-boomer-impact.pdf. (3) Re-assess with the US.72 check-for-understanding reveal slide as a do-now the next day. Reteach anchors (this standard’s sections): What Was the Baby Boom?; Reshaping the American Economy; New Markets and Industries; Long-Term Cultural Impact. I Can objective: I can explain the impact of the baby boomer generation on the American economy and culture.  HONORS / EXTENSION (DOK 3, for early finishers or advanced learners): Argue: the baby boom was the single most important driver of postwar economic growth—agree or disagree? Use at least two specific economic effects as evidence, and acknowledge one factor that could challenge your argument.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(US.73). Cold-call or whiteboards, 3-4 min, low stakes. Answers — 1) The baby boom created millions of new Americans who needed schools, roads, hospitals, and housing. This demographic pressure made government investment in infrastructure and public health—like highways and the polio vaccine—both urgent and politically popular.  2) Baby boomers filled schools to overflowing, requiring massive expansion of public education. They also drove demand for pediatric healthcare and public health programs, including the mass polio vaccination campaigns of the 1950s.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(US.73, DOK 1). 60-90 seconds. Have EVERY student commit (thumbs / whiteboard / choral) before revealing — this secures an early win and surfaces who is shaky before new content. Answer: Polio. Key term to listen for: Polio Vaccine.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(US.73).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(US.73). Show a map of the interstate highway system and ask: what happened to the small towns that got bypassed, and who paid the price when highways were routed through city neighborhoods?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Dwight D. Eisenhower) WHEN? (1955) WHY does that matter? (Consider the author’s purpose and audience before reading the words.) Only then move to the ANALYZE question. Suggested answer: See teacher key. Practice skill: Sourcing.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(US.73). Skill modeled: Evaluate intended and unintended consequences. Model the worked example aloud using the THINK ALOUD as your script, then release students to the activity ("With a partner, discuss: was the Interstate Highway System a success or a mixed result? Use evidence from at least two sections.").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US.73. Pair with the printable: cornell-notes/unit-8/us73-eisenhower-developments.pdf. Timing: 15. Deliverable: T-chart with at least three benefits and three costs of the Interstate Highway System, AND a one-paragraph argument comparing government investment in highways and medicine.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(US.73, DOK 2). Have students commit to an answer (whiteboards, hand signal, or turn-and-talk) BEFORE advancing. Correct answer: A. The next slide reveals it. Why: The Interstate Highway System was significant because it connected the country, sped up trade, supported defense, and made suburban commuting easier. B is wrong because vaccines were not distributed through highways. C is wrong because rail and air travel continued. D is wrong because it covered the entire 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(US.73). Correct: A. The Interstate Highway System was significant because it connected the country, sped up trade, supported defense, and made suburban commuting easier. B is wrong because vaccines were not distributed through highways. C is wrong because rail and air travel continued. D is wrong because it covered the entire 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(US.73, DOK 2). Prompt: Compare the polio vaccine and the Interstate Highway System. How did both demonstrate that government investment could transform American life—and what were the costs of each?  Model answer: Both showed government investment solving national problems: the vaccine virtually eliminated polio, restoring parents’ confidence in public health, while the highway system connected the nation, boosted commerce, and enabled suburban growth. However, both had costs: highways divided urban neighborhoods and contributed to urban decay, while the vaccine campaign required massive federal coordination that not all accepted.  RETEACH TRIGGER — if a student misses this exit ticket: (1) &lt;50% of class miss → spiral it into the next standard’s Quick Review opener (see the US.73 review prompts). (2) Individual/small group → reteach with the "Medical Breakthroughs: The Polio Vaccine" direct-instruction slide + re-run the SOURCE IT FIRST routine on the US.73 primary source, then assign the paired printable: cornell-notes/unit-8/us73-eisenhower-developments.pdf. (3) Re-assess with the US.73 check-for-understanding reveal slide as a do-now the next day. Reteach anchors (this standard’s sections): Medical Breakthroughs: The Polio Vaccine; Interstate Highway System: Economic Effects; Interstate Highway System: Social Effects; Unintended Consequences. I Can objective: I can describe domestic developments during President Eisenhower’s administration, including advances in medicine and the creation of the Interstate Highway System.  HONORS / EXTENSION (DOK 3, for early finishers or advanced learners): Argue: Eisenhower’s two greatest domestic achievements—the highway system and support for the polio vaccine—reveal what he believed the federal government’s proper role was. What was that role, and does the evidence support or challenge his stated warnings about government overreach?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(US.74). Cold-call or whiteboards, 3-4 min, low stakes. Answers — 1) The Interstate Highway System made long-distance car travel fast and reliable, enabling suburban commuting, cross-country trucking of goods, and the highway-adjacent businesses like motels and fast food chains that defined automobile culture.  2) The Interstate Highway System created the national road network that allowed chain businesses to locate along predictable, high-traffic corridors. Without the highways, drive-through restaurants and highway motels could not have scaled nationally.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(US.74, DOK 1). 60-90 seconds. Have EVERY student commit (thumbs / whiteboard / choral) before revealing — this secures an early win and surfaces who is shaky before new content. Answer: Fast food chains (like McDonald’s) or highway motels (like Holiday Inn) or suburban shopping malls (any one is correct). Key term to listen for: Automobile Culture.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(US.74).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(US.74). Ask students: name three things you pass on a drive that would not exist without cars—what does that tell us about how deeply the automobile reshaped American life?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(McDonald’s Corporation) WHEN? (1955) WHY does that matter? (Consider the author’s purpose and audience before reading the words.) Only then move to the ANALYZE question. Suggested answer: See teacher key. Practice skill: Corroboration.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(US.74). Skill modeled: Corroborate evidence from two sources. Model the worked example aloud using the THINK ALOUD as your script, then release students to the activity ("With a partner, write one sentence that uses both sources to corroborate the claim: the automobile created entirely new American industries.").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US.74. Pair with the printable: cornell-notes/unit-8/us74-automobile-influence.pdf. Timing: 15. Deliverable: Three-industry analysis chart (fast food / motels / suburban shopping, each with need + example + social effect) AND one corroboration sentence connecting the McDonald’s ad to Holiday Inn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(US.74, DOK 2). Have students commit to an answer (whiteboards, hand signal, or turn-and-talk) BEFORE advancing. Correct answer: C. The next slide reveals it. Why: Automobiles transformed business and culture by encouraging fast-food chains, motels, shopping centers, and drive-in theaters. A is wrong because cars increased consumer spending instead of reducing it, and D is wrong because they did not mainly revive railroad travel. A car-centered economy became a defining feature of 1950s America.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(US.74). Correct: C. Automobiles transformed business and culture by encouraging fast-food chains, motels, shopping centers, and drive-in theaters. A is wrong because cars increased consumer spending instead of reducing it, and D is wrong because they did not mainly revive railroad travel. A car-centered economy became a defining feature of 1950s America.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(US.74, DOK 2). Prompt: Explain how the automobile created two entirely new American industries, using specific evidence from the primary sources or sections.  Model answer: The automobile created the fast food industry: McDonald’s built drive-throughs on busy highways specifically to serve customers in their cars, as the franchise advertisement shows. It also created the highway motel industry: Holiday Inn, founded in 1952, offered standardized lodging for automobile travelers along major routes. Both industries were impossible before widespread car ownership and the interstate highway system.  RETEACH TRIGGER — if a student misses this exit ticket: (1) &lt;50% of class miss → spiral it into the next standard’s Quick Review opener (see the US.74 review prompts). (2) Individual/small group → reteach with the "Transforming American Daily Life" direct-instruction slide + re-run the SOURCE IT FIRST routine on the US.74 primary source, then assign the paired printable: cornell-notes/unit-8/us74-automobile-influence.pdf. (3) Re-assess with the US.74 check-for-understanding reveal slide as a do-now the next day. Reteach anchors (this standard’s sections): Transforming American Daily Life; Connection to Suburban Growth; Fast Food and Hospitality Industries; Broader Social Changes. I Can objective: I can describe the growing influence of the automobile on American society, including the growth of suburbia, fast food chains, and the hotel industry.  HONORS / EXTENSION (DOK 3, for early finishers or advanced learners): Argue: automobile culture’s negative effects (urban decay, air pollution, decline of public transit, social isolation) outweighed its economic benefits to American society. Use evidence from at least two sections and acknowledge the strongest counterargument.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(US.75). Cold-call or whiteboards, 3-4 min, low stakes. Answers — 1) Rising incomes and the culture of buying consumer goods made televisions affordable for most American families. The same consumerism that bought cars and suburban homes bought televisions, and companies quickly recognized TV advertising as the most powerful way to reach mass consumers.  2) Both reshuffled physical space around the new technology: homes were designed with garages for cars and living rooms arranged around television sets. Both also transformed leisure time and created new industries targeting car-dependent or TV-watching consumers.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(US.75, DOK 1). 60-90 seconds. Have EVERY student commit (thumbs / whiteboard / choral) before revealing — this secures an early win and surfaces who is shaky before new content. Answer: The Kennedy-Nixon debate (first televised presidential debate). Key term to listen for: Television.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(US.75).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(US.75). Ask students: think about the last election you saw covered—would that candidate have won or lost if voters could only hear them on radio and not see them on screen?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(Theodore White, journalist) WHEN? (1961) WHY does that matter? (Consider the author’s purpose and audience before reading the words.) Only then move to the ANALYZE question. Suggested answer: See teacher key.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(US.75). Skill modeled: Compare impacts across two domains. Model the worked example aloud using the THINK ALOUD as your script, then release students to the activity ("With a partner, rank television’s three biggest effects on American society and defend your top choice with a specific example from the sections.").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US.75. Pair with the printable: cornell-notes/unit-8/us75-television-mass-media.pdf. Timing: 15. Deliverable: Three-arena analysis (home / politics / economy, two sentences each) AND a one-sentence claim identifying television’s greatest impact with supporting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(US.75, DOK 2). Have students commit to an answer (whiteboards, hand signal, or turn-and-talk) BEFORE advancing. Correct answer: B. The next slide reveals it. Why: Televised debates and news changed politics by making image, speaking style, and camera presence matter more to voters. A and C describe TV’s economic impact, not its political impact. D describes TV’s cultural role at home, not its effect on elections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(US.75). Correct: B. Televised debates and news changed politics by making image, speaking style, and camera presence matter more to voters. A and C describe TV’s economic impact, not its political impact. D describes TV’s cultural role at home, not its effect on elections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(US.75, DOK 2). Prompt: Using Theodore White’s account of the 1960 debates, explain how television changed the criteria voters used to evaluate presidential candidates.  Model answer: Before television, voters judged candidates primarily by their positions and speaking voice (radio). Theodore White’s account shows that television added visual criteria: Nixon looked pale and tired on screen, while Kennedy appeared tanned and confident. Television made appearance, body language, and visual communication skills as important as policy positions, fundamentally changing what it means to be an effective political candidate.  RETEACH TRIGGER — if a student misses this exit ticket: (1) &lt;50% of class miss → spiral it into the next standard’s Quick Review opener (see the US.75 review prompts). (2) Individual/small group → reteach with the "Television Changes Family Life" direct-instruction slide + re-run the SOURCE IT FIRST routine on the US.75 primary source, then assign the paired printable: cornell-notes/unit-8/us75-television-mass-media.pdf. (3) Re-assess with the US.75 check-for-understanding reveal slide as a do-now the next day. Reteach anchors (this standard’s sections): Television Changes Family Life; Television and Politics; Advertising and Consumer Culture; Cultural Homogenization. I Can objective: I can analyze the increasing impact of television and mass media on the American home, politics, and economy.  HONORS / EXTENSION (DOK 3, for early finishers or advanced learners): Argue: television’s influence on democracy is ultimately harmful because it prioritizes image over substance. Use White’s account as evidence for your argument, and address the strongest counterargument (that TV also educated and informed voters).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(US.76). Cold-call or whiteboards, 3-4 min, low stakes. Answers — 1) Television gave musicians a national platform—when Elvis appeared on The Ed Sullivan Show, millions of teenagers across the country saw him simultaneously. TV accelerated cultural homogenization, including the spread of youth music and fashion nationwide.  2) Mass media gave teenagers across the country the same music, fashion icons, and cultural touchstones simultaneously, creating a shared “youth culture” that was distinct from their parents’ generation and strong enough to challenge traditional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(US.76, DOK 1). 60-90 seconds. Have EVERY student commit (thumbs / whiteboard / choral) before revealing — this secures an early win and surfaces who is shaky before new content. Answer: Sun Studio (also accepted: Sun Records). Key term to listen for: Sun Studio.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(US.76).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(US.76). Play 10 seconds of Elvis’s “That’s All Right” and ask: what two musical traditions can you hear blended together, and why would that combination shock a 1954 audience?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(Sun Records, Memphis, Tennessee) WHEN? (1954) WHY does that matter? (Consider the author’s purpose and audience before reading the words.) Only then move to the ANALYZE question. Suggested answer: See teacher key. Practice skill: Sourcing.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(US.76). Skill modeled: Trace the progression of an idea. Model the worked example aloud using the THINK ALOUD as your script, then release students to the activity ("With a partner, construct a three-step timeline: swing (1940s) → R&amp;B (early 1950s) → rock ’n’ roll (mid-1950s), and name one Tennessee location for the last step.").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US.76. Pair with the printable: cornell-notes/unit-8/us76-youth-culture-music.pdf. Timing: 15. Deliverable: Three-genre progression chart (swing / R&amp;B / rock ’n’ roll, each with community + characteristic + Tennessee connection) AND one argument paragraph about Tennessee’s unique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(US.76, DOK 2). Have students commit to an answer (whiteboards, hand signal, or turn-and-talk) BEFORE advancing. Correct answer: D. The next slide reveals it. Why: Youth culture challenged 1950s values through rock ’n’ roll, beat writing, new fashions, and teenage rebellion against conformity. A and B are too narrow because they focus only on Tennessee music history. This growing youth identity helped set the stage for the larger social conflicts of the 1960s.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(US.76). Correct: D. Youth culture challenged 1950s values through rock ’n’ roll, beat writing, new fashions, and teenage rebellion against conformity. A and B are too narrow because they focus only on Tennessee music history. This growing youth identity helped set the stage for the larger social conflicts of the 1960s.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(US.76, DOK 2). Prompt: Explain how Tennessee became the birthplace of rock ’n’ roll. Use at least two specific pieces of evidence about Sun Studio, Stax Records, or specific artists.  Model answer: Tennessee, particularly Memphis, became the birthplace of rock ’n’ roll because of its unique position at the crossroads of Black and white musical traditions. Sun Studio, founded by Sam Phillips, recorded Elvis Presley combining Black rhythm and blues with white country music. Stax Records produced soul music with integrated musicians. Together, these Memphis institutions created the sound—and the cultural crossing of racial barriers—that defined rock ’n’ roll.  RETEACH TRIGGER — if a student misses this exit ticket: (1) &lt;50% of class miss → spiral it into the next standard’s Quick Review opener (see the US.76 review prompts). (2) Individual/small group → reteach with the "The Beat Generation" direct-instruction slide + re-run the SOURCE IT FIRST routine on the US.76 primary source, then assign the paired printable: cornell-notes/unit-8/us76-youth-culture-music.pdf. (3) Re-assess with the US.76 check-for-understanding reveal slide as a do-now the next day. Reteach anchors (this standard’s sections): The Beat Generation; Tennessee’s Central Role in Music; Breaking Racial Barriers Through Music; Sun Studio and Stax Records. I Can objective: I can describe the emergence of a youth culture, including beatniks and the progression of popular music, and the impact of Tennessee on the music industry, including B.B. King, Elvis Presley, Stax Records, and Sun Studio.  HONORS / EXTENSION (DOK 3, for early finishers or advanced learners): Argue: music in 1950s Memphis did more to challenge racial segregation than any law passed during that decade. Use at least two specific examples (artists, recordings, or venues) and address the strongest counterargument.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(US.77). Cold-call or whiteboards, 3-4 min, low stakes. Answers — 1) The baby boom generation raised on rock ’n’ roll and youth rebellion was ready for Kennedy’s call to service. Kennedy’s “Ask not” message appealed to idealistic young Americans who had grown up questioning conformity and wanting to make a difference.  2) The 1950s youth culture had already established teenagers and young adults as a distinct, powerful force with their own identity and values. Kennedy, as the youngest elected president, directly appealed to this generational energy, promising a new era of public service and bold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(US.77, DOK 1). 60-90 seconds. Have EVERY student commit (thumbs / whiteboard / choral) before revealing — this secures an early win and surfaces who is shaky before new content. Answer: Domestic agenda to improve education, end racial discrimination, create the Peace Corps, and put a man on the moon. Key term to listen for: New Frontier.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(US.77).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(US.77). Ask students: Kennedy said “Ask not what your country can do for you—ask what you can do for your country”—what specific program did he back up those words with, and why did that matter in the Cold War?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(President John F. Kennedy) WHEN? (March 1, 1961) WHY does that matter? (Consider the author’s purpose and audience before reading the words.) Only then move to the ANALYZE question. Suggested answer: See teacher key. Practice skill: Argumentation.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(US.77). Skill modeled: Identify author’s argument and purpose. Model the worked example aloud using the THINK ALOUD as your script, then release students to the activity ("With a partner, write one sentence: according to Kennedy, why would the Peace Corps be more effective in the Cold War than military force alone?").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US.77. Pair with the printable: cornell-notes/unit-8/us77-kennedy-new-frontier.pdf. Timing: 15. Deliverable: Three-program analysis chart (Peace Corps / moon goal / civil rights, each with goal + evidence + outcome) AND a one-paragraph argument identifying the most impactful program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(US.77, DOK 2). Have students commit to an answer (whiteboards, hand signal, or turn-and-talk) BEFORE advancing. Correct answer: D. The next slide reveals it. Why: Kennedy’s moon goal reflected Cold War rivalry because landing Americans on the moon would prove U.S. scientific and technological strength against the Soviet Union. C is wrong because it states the goal but not its broader meaning, and B is wrong because the Peace Corps addressed a different part of the Cold War. The space race turned science into a contest for global prestige.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(US.77). Correct: D. Kennedy’s moon goal reflected Cold War rivalry because landing Americans on the moon would prove U.S. scientific and technological strength against the Soviet Union. C is wrong because it states the goal but not its broader meaning, and B is wrong because the Peace Corps addressed a different part of the Cold War. The space race turned science into a contest for global prestige.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(US.77, DOK 2). Prompt: Explain how two of Kennedy’s New Frontier programs were connected to Cold War competition. Use specific evidence from the primary source or sections.  Model answer: Both the Peace Corps and the moon goal were direct responses to Cold War competition. The Peace Corps sent trained American volunteers to developing nations to build goodwill—competing with Soviet influence not through military force but through service. The moon goal challenged the Soviet Union’s early space victories (Sputnik, Gagarin) by committing America to a technological achievement that would demonstrate democratic superiority. Kennedy’s explicit language in the Rice speech—“not because they are easy, but because they are hard”—framed it as a Cold War challenge.  RETEACH TRIGGER — if a student misses this exit ticket: (1) &lt;50% of class miss → spiral it into the next standard’s Quick Review opener (see the US.77 review prompts). (2) Individual/small group → reteach with the "New Frontier Goals" direct-instruction slide + re-run the SOURCE IT FIRST routine on the US.77 primary source, then assign the paired printable: cornell-notes/unit-8/us77-kennedy-new-frontier.pdf. (3) Re-assess with the US.77 check-for-understanding reveal slide as a do-now the next day. Reteach anchors (this standard’s sections): New Frontier Goals; The Peace Corps; The Space Race Priority; Legacy and Limitations. I Can objective: I can describe President John F. Kennedy’s New Frontier programs to improve education, end racial discrimination, create the Peace Corps, and put a man on the moon.  HONORS / EXTENSION (DOK 3, for early finishers or advanced learners): Argue: Kennedy’s most lasting New Frontier legacy was not any specific program, but the idea that America had a responsibility to lead—through service, science, and moral courage. Use the Peace Corps message and at least one other piece of evidence to support your argument. (SSP.04)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commons.wikimedia.org/wiki/File:LevittownPA.jpg"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hyperlink" Target="https://commons.wikimedia.org/wiki/File:GI_Bill_signing.jpg"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hyperlink" Target="https://commons.wikimedia.org/wiki/File:GI_Bill_signing.jpg" TargetMode="External"/><Relationship Id="rId3" Type="http://schemas.openxmlformats.org/officeDocument/2006/relationships/hyperlink" Target="https://www.archives.gov/milestone-documents/servicemens-readjustment-act" TargetMode="External"/><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hyperlink" Target="https://commons.wikimedia.org/wiki/File:A_NEW_MOTHER_VIEWS_HER_CHILD_IN_THE_NURSERY_OF_LORETTO_HOSPITAL_IN_NEW_ULM,_MINNESOTA._THERE_ARE_TWO_HOSPITALS_IN_THE..._-_NARA_-_558170.jpg"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census.gov/history/"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hyperlink" Target="https://commons.wikimedia.org/wiki/File:Dr_Jonas_Edward_Salk,_creator_of_Salk_polio_vaccine,_at_Copenhagen_Airport.jpg" TargetMode="External"/><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hyperlink" Target="https://commons.wikimedia.org/wiki/File:CA_51_I10_FHWA_1957_1663.jpg" TargetMode="External"/><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www.eisenhowerlibrary.gov/research/online-documents/interstate-highway-system" TargetMode="External"/><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hyperlink" Target="https://commons.wikimedia.org/wiki/File:DRIVE-IN_RESTAURANT_-_NARA_-_547855.jpg" TargetMode="External"/><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hyperlink" Target="https://commons.wikimedia.org/wiki/File:1957_-_Holiday_Inn_Postcard_-_Allentown_PA.jpg" TargetMode="External"/><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hyperlink" Target="https://www.loc.gov/collections/general-collections/" TargetMode="External"/><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hyperlink" Target="https://commons.wikimedia.org/wiki/File:Family_watching_television_1958.jpg" TargetMode="External"/><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hyperlink" Target="https://www.jfklibrary.org/learn/about-jfk/jfk-in-history/campaign-of-1960" TargetMode="External"/><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hyperlink" Target="https://commons.wikimedia.org/wiki/File:Poster_of_B.B._King_and_Bill_Harvey_(saxophonist)_and_Orchestra,_featuring_photos_of_B.B._King_holding_his_guitar_and_Evelyn_Young_playing_saxaphone._-_8049g557h_files_92a57ed3-1d17-4a52-bda9-53dd48145101.jpg" TargetMode="External"/><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hyperlink" Target="https://commons.wikimedia.org/wiki/File:Elvis_sworn_into_army_1958.jpg" TargetMode="External"/><Relationship Id="rId3" Type="http://schemas.openxmlformats.org/officeDocument/2006/relationships/slideLayout" Target="../slideLayouts/slideLayout1.xm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hyperlink" Target="https://www.loc.gov/collections/general-collections/" TargetMode="External"/><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hyperlink" Target="https://commons.wikimedia.org/wiki/File:John_F._Kennedy,_White_House_color_photo_portrait.jpg" TargetMode="External"/><Relationship Id="rId3" Type="http://schemas.openxmlformats.org/officeDocument/2006/relationships/slideLayout" Target="../slideLayouts/slideLayout1.xml"/><Relationship Id="rId4"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jpg"/><Relationship Id="rId2" Type="http://schemas.openxmlformats.org/officeDocument/2006/relationships/hyperlink" Target="https://commons.wikimedia.org/wiki/File:John_F._Kennedy_speaks_at_Rice_University.jpg" TargetMode="External"/><Relationship Id="rId3" Type="http://schemas.openxmlformats.org/officeDocument/2006/relationships/slideLayout" Target="../slideLayouts/slideLayout1.xml"/><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jpg"/><Relationship Id="rId2" Type="http://schemas.openxmlformats.org/officeDocument/2006/relationships/hyperlink" Target="https://commons.wikimedia.org/wiki/File:John_F._Kennedy_speaks_at_Rice_University.jpg" TargetMode="External"/><Relationship Id="rId3" Type="http://schemas.openxmlformats.org/officeDocument/2006/relationships/hyperlink" Target="https://www.jfklibrary.org/asset-viewer/archives/JFKPOF/034/JFKPOF-034-002" TargetMode="External"/><Relationship Id="rId4" Type="http://schemas.openxmlformats.org/officeDocument/2006/relationships/slideLayout" Target="../slideLayouts/slideLayout1.xml"/><Relationship Id="rId5"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12045391" y="0"/>
            <a:ext cx="146304" cy="6858000"/>
          </a:xfrm>
          <a:prstGeom prst="rect">
            <a:avLst/>
          </a:prstGeom>
          <a:solidFill>
            <a:srgbClr val="C62828"/>
          </a:solidFill>
          <a:ln/>
        </p:spPr>
        <p:txBody>
          <a:bodyPr/>
          <a:p/>
        </p:txBody>
      </p:sp>
      <p:sp>
        <p:nvSpPr>
          <p:cNvPr id="3" name="Shape 1"/>
          <p:cNvSpPr/>
          <p:nvPr/>
        </p:nvSpPr>
        <p:spPr>
          <a:xfrm>
            <a:off x="0" y="0"/>
            <a:ext cx="12045391" cy="146304"/>
          </a:xfrm>
          <a:prstGeom prst="rect">
            <a:avLst/>
          </a:prstGeom>
          <a:solidFill>
            <a:srgbClr val="C9A84C"/>
          </a:solidFill>
          <a:ln/>
        </p:spPr>
        <p:txBody>
          <a:bodyPr/>
          <a:p/>
        </p:txBody>
      </p:sp>
      <p:sp>
        <p:nvSpPr>
          <p:cNvPr id="4" name="Text 2"/>
          <p:cNvSpPr/>
          <p:nvPr/>
        </p:nvSpPr>
        <p:spPr>
          <a:xfrm>
            <a:off x="822960" y="1371600"/>
            <a:ext cx="10058400" cy="457200"/>
          </a:xfrm>
          <a:prstGeom prst="rect">
            <a:avLst/>
          </a:prstGeom>
          <a:noFill/>
          <a:ln/>
        </p:spPr>
        <p:txBody>
          <a:bodyPr wrap="square" rtlCol="0" anchor="ctr"/>
          <a:lstStyle/>
          <a:p>
            <a:pPr indent="0" marL="0">
              <a:buNone/>
            </a:pPr>
            <a:r>
              <a:rPr lang="en-US" sz="1800" b="1" spc="500" kern="0" dirty="0">
                <a:solidFill>
                  <a:srgbClr val="F9A825"/>
                </a:solidFill>
                <a:latin typeface="Trebuchet MS" pitchFamily="34" charset="0"/>
                <a:ea typeface="Trebuchet MS" pitchFamily="34" charset="-122"/>
                <a:cs typeface="Trebuchet MS" pitchFamily="34" charset="-120"/>
              </a:rPr>
              <a:t>U.S. HISTORY HACK</a:t>
            </a:r>
            <a:endParaRPr lang="en-US" sz="1800" dirty="0"/>
          </a:p>
        </p:txBody>
      </p:sp>
      <p:sp>
        <p:nvSpPr>
          <p:cNvPr id="5" name="Text 3"/>
          <p:cNvSpPr/>
          <p:nvPr/>
        </p:nvSpPr>
        <p:spPr>
          <a:xfrm>
            <a:off x="822960" y="1828800"/>
            <a:ext cx="10058400" cy="822960"/>
          </a:xfrm>
          <a:prstGeom prst="rect">
            <a:avLst/>
          </a:prstGeom>
          <a:noFill/>
          <a:ln/>
        </p:spPr>
        <p:txBody>
          <a:bodyPr wrap="square"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Unit 8</a:t>
            </a:r>
            <a:endParaRPr lang="en-US" sz="6000" dirty="0"/>
          </a:p>
        </p:txBody>
      </p:sp>
      <p:sp>
        <p:nvSpPr>
          <p:cNvPr id="6" name="Text 4"/>
          <p:cNvSpPr/>
          <p:nvPr/>
        </p:nvSpPr>
        <p:spPr>
          <a:xfrm>
            <a:off x="822960" y="2788920"/>
            <a:ext cx="10241280" cy="64008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Postwar Prosperity &amp; 1950s America</a:t>
            </a:r>
            <a:endParaRPr lang="en-US" sz="3400" dirty="0"/>
          </a:p>
        </p:txBody>
      </p:sp>
      <p:sp>
        <p:nvSpPr>
          <p:cNvPr id="7" name="Text 5"/>
          <p:cNvSpPr/>
          <p:nvPr/>
        </p:nvSpPr>
        <p:spPr>
          <a:xfrm>
            <a:off x="822960" y="3456432"/>
            <a:ext cx="10424160" cy="457200"/>
          </a:xfrm>
          <a:prstGeom prst="rect">
            <a:avLst/>
          </a:prstGeom>
          <a:noFill/>
          <a:ln/>
        </p:spPr>
        <p:txBody>
          <a:bodyPr wrap="square" rtlCol="0" anchor="ctr"/>
          <a:lstStyle/>
          <a:p>
            <a:pPr indent="0" marL="0">
              <a:buNone/>
            </a:pPr>
            <a:r>
              <a:rPr lang="en-US" sz="1900" i="1" dirty="0">
                <a:solidFill>
                  <a:srgbClr val="C7D4E0"/>
                </a:solidFill>
                <a:latin typeface="Georgia" pitchFamily="34" charset="0"/>
                <a:ea typeface="Georgia" pitchFamily="34" charset="-122"/>
                <a:cs typeface="Georgia" pitchFamily="34" charset="-120"/>
              </a:rPr>
              <a:t>Consumerism · Suburbs &amp; the G.I. Bill · The Baby Boom · Eisenhower · Cars &amp; Highways · Television · Rock 'n' Roll &amp; Tennessee Music · Kennedy's New Frontier   ·   1945–1963</a:t>
            </a:r>
            <a:endParaRPr lang="en-US" sz="1900" dirty="0"/>
          </a:p>
        </p:txBody>
      </p:sp>
      <p:sp>
        <p:nvSpPr>
          <p:cNvPr id="8" name="Text 6"/>
          <p:cNvSpPr/>
          <p:nvPr/>
        </p:nvSpPr>
        <p:spPr>
          <a:xfrm>
            <a:off x="822960" y="3931920"/>
            <a:ext cx="10058400" cy="411480"/>
          </a:xfrm>
          <a:prstGeom prst="rect">
            <a:avLst/>
          </a:prstGeom>
          <a:noFill/>
          <a:ln/>
        </p:spPr>
        <p:txBody>
          <a:bodyPr wrap="square" rtlCol="0" anchor="ctr"/>
          <a:lstStyle/>
          <a:p>
            <a:pPr indent="0" marL="0">
              <a:buNone/>
            </a:pPr>
            <a:r>
              <a:rPr lang="en-US" sz="1800" dirty="0">
                <a:solidFill>
                  <a:srgbClr val="A7BACB"/>
                </a:solidFill>
                <a:latin typeface="Calibri" pitchFamily="34" charset="0"/>
                <a:ea typeface="Calibri" pitchFamily="34" charset="-122"/>
                <a:cs typeface="Calibri" pitchFamily="34" charset="-120"/>
              </a:rPr>
              <a:t>Standards US.71 – US.77</a:t>
            </a:r>
            <a:endParaRPr lang="en-US" sz="1800" dirty="0"/>
          </a:p>
        </p:txBody>
      </p:sp>
      <p:sp>
        <p:nvSpPr>
          <p:cNvPr id="9" name="Shape 7"/>
          <p:cNvSpPr/>
          <p:nvPr/>
        </p:nvSpPr>
        <p:spPr>
          <a:xfrm>
            <a:off x="822960" y="4480560"/>
            <a:ext cx="1024128" cy="438912"/>
          </a:xfrm>
          <a:prstGeom prst="roundRect">
            <a:avLst>
              <a:gd name="adj" fmla="val 16667"/>
            </a:avLst>
          </a:prstGeom>
          <a:solidFill>
            <a:srgbClr val="243047"/>
          </a:solidFill>
          <a:ln w="12700">
            <a:solidFill>
              <a:srgbClr val="C9A84C"/>
            </a:solidFill>
            <a:prstDash val="solid"/>
          </a:ln>
        </p:spPr>
      </p:sp>
      <p:sp>
        <p:nvSpPr>
          <p:cNvPr id="10" name="Text 8"/>
          <p:cNvSpPr/>
          <p:nvPr/>
        </p:nvSpPr>
        <p:spPr>
          <a:xfrm>
            <a:off x="822960"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US.71</a:t>
            </a:r>
            <a:endParaRPr lang="en-US" sz="1250" dirty="0"/>
          </a:p>
        </p:txBody>
      </p:sp>
      <p:sp>
        <p:nvSpPr>
          <p:cNvPr id="11" name="Shape 9"/>
          <p:cNvSpPr/>
          <p:nvPr/>
        </p:nvSpPr>
        <p:spPr>
          <a:xfrm>
            <a:off x="1984248" y="4480560"/>
            <a:ext cx="1024128" cy="438912"/>
          </a:xfrm>
          <a:prstGeom prst="roundRect">
            <a:avLst>
              <a:gd name="adj" fmla="val 16667"/>
            </a:avLst>
          </a:prstGeom>
          <a:solidFill>
            <a:srgbClr val="243047"/>
          </a:solidFill>
          <a:ln w="12700">
            <a:solidFill>
              <a:srgbClr val="C9A84C"/>
            </a:solidFill>
            <a:prstDash val="solid"/>
          </a:ln>
        </p:spPr>
      </p:sp>
      <p:sp>
        <p:nvSpPr>
          <p:cNvPr id="12" name="Text 10"/>
          <p:cNvSpPr/>
          <p:nvPr/>
        </p:nvSpPr>
        <p:spPr>
          <a:xfrm>
            <a:off x="1984248"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US.72</a:t>
            </a:r>
            <a:endParaRPr lang="en-US" sz="1250" dirty="0"/>
          </a:p>
        </p:txBody>
      </p:sp>
      <p:sp>
        <p:nvSpPr>
          <p:cNvPr id="13" name="Shape 11"/>
          <p:cNvSpPr/>
          <p:nvPr/>
        </p:nvSpPr>
        <p:spPr>
          <a:xfrm>
            <a:off x="3145536" y="4480560"/>
            <a:ext cx="1024128" cy="438912"/>
          </a:xfrm>
          <a:prstGeom prst="roundRect">
            <a:avLst>
              <a:gd name="adj" fmla="val 16667"/>
            </a:avLst>
          </a:prstGeom>
          <a:solidFill>
            <a:srgbClr val="243047"/>
          </a:solidFill>
          <a:ln w="12700">
            <a:solidFill>
              <a:srgbClr val="C9A84C"/>
            </a:solidFill>
            <a:prstDash val="solid"/>
          </a:ln>
        </p:spPr>
      </p:sp>
      <p:sp>
        <p:nvSpPr>
          <p:cNvPr id="14" name="Text 12"/>
          <p:cNvSpPr/>
          <p:nvPr/>
        </p:nvSpPr>
        <p:spPr>
          <a:xfrm>
            <a:off x="3145536"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US.73</a:t>
            </a:r>
            <a:endParaRPr lang="en-US" sz="1250" dirty="0"/>
          </a:p>
        </p:txBody>
      </p:sp>
      <p:sp>
        <p:nvSpPr>
          <p:cNvPr id="15" name="Shape 13"/>
          <p:cNvSpPr/>
          <p:nvPr/>
        </p:nvSpPr>
        <p:spPr>
          <a:xfrm>
            <a:off x="4306824" y="4480560"/>
            <a:ext cx="1024128" cy="438912"/>
          </a:xfrm>
          <a:prstGeom prst="roundRect">
            <a:avLst>
              <a:gd name="adj" fmla="val 16667"/>
            </a:avLst>
          </a:prstGeom>
          <a:solidFill>
            <a:srgbClr val="243047"/>
          </a:solidFill>
          <a:ln w="12700">
            <a:solidFill>
              <a:srgbClr val="C9A84C"/>
            </a:solidFill>
            <a:prstDash val="solid"/>
          </a:ln>
        </p:spPr>
      </p:sp>
      <p:sp>
        <p:nvSpPr>
          <p:cNvPr id="16" name="Text 14"/>
          <p:cNvSpPr/>
          <p:nvPr/>
        </p:nvSpPr>
        <p:spPr>
          <a:xfrm>
            <a:off x="4306824"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US.74</a:t>
            </a:r>
            <a:endParaRPr lang="en-US" sz="1250" dirty="0"/>
          </a:p>
        </p:txBody>
      </p:sp>
      <p:sp>
        <p:nvSpPr>
          <p:cNvPr id="17" name="Shape 15"/>
          <p:cNvSpPr/>
          <p:nvPr/>
        </p:nvSpPr>
        <p:spPr>
          <a:xfrm>
            <a:off x="5468112" y="4480560"/>
            <a:ext cx="1024128" cy="438912"/>
          </a:xfrm>
          <a:prstGeom prst="roundRect">
            <a:avLst>
              <a:gd name="adj" fmla="val 16667"/>
            </a:avLst>
          </a:prstGeom>
          <a:solidFill>
            <a:srgbClr val="243047"/>
          </a:solidFill>
          <a:ln w="12700">
            <a:solidFill>
              <a:srgbClr val="C9A84C"/>
            </a:solidFill>
            <a:prstDash val="solid"/>
          </a:ln>
        </p:spPr>
      </p:sp>
      <p:sp>
        <p:nvSpPr>
          <p:cNvPr id="18" name="Text 16"/>
          <p:cNvSpPr/>
          <p:nvPr/>
        </p:nvSpPr>
        <p:spPr>
          <a:xfrm>
            <a:off x="5468112"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US.75</a:t>
            </a:r>
            <a:endParaRPr lang="en-US" sz="1250" dirty="0"/>
          </a:p>
        </p:txBody>
      </p:sp>
      <p:sp>
        <p:nvSpPr>
          <p:cNvPr id="19" name="Shape 17"/>
          <p:cNvSpPr/>
          <p:nvPr/>
        </p:nvSpPr>
        <p:spPr>
          <a:xfrm>
            <a:off x="6629400" y="4480560"/>
            <a:ext cx="1024128" cy="438912"/>
          </a:xfrm>
          <a:prstGeom prst="roundRect">
            <a:avLst>
              <a:gd name="adj" fmla="val 16667"/>
            </a:avLst>
          </a:prstGeom>
          <a:solidFill>
            <a:srgbClr val="243047"/>
          </a:solidFill>
          <a:ln w="12700">
            <a:solidFill>
              <a:srgbClr val="C9A84C"/>
            </a:solidFill>
            <a:prstDash val="solid"/>
          </a:ln>
        </p:spPr>
      </p:sp>
      <p:sp>
        <p:nvSpPr>
          <p:cNvPr id="20" name="Text 18"/>
          <p:cNvSpPr/>
          <p:nvPr/>
        </p:nvSpPr>
        <p:spPr>
          <a:xfrm>
            <a:off x="6629400"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US.76</a:t>
            </a:r>
            <a:endParaRPr lang="en-US" sz="1250" dirty="0"/>
          </a:p>
        </p:txBody>
      </p:sp>
      <p:sp>
        <p:nvSpPr>
          <p:cNvPr id="21" name="Shape 19"/>
          <p:cNvSpPr/>
          <p:nvPr/>
        </p:nvSpPr>
        <p:spPr>
          <a:xfrm>
            <a:off x="7790688" y="4480560"/>
            <a:ext cx="1024128" cy="438912"/>
          </a:xfrm>
          <a:prstGeom prst="roundRect">
            <a:avLst>
              <a:gd name="adj" fmla="val 16667"/>
            </a:avLst>
          </a:prstGeom>
          <a:solidFill>
            <a:srgbClr val="243047"/>
          </a:solidFill>
          <a:ln w="12700">
            <a:solidFill>
              <a:srgbClr val="C9A84C"/>
            </a:solidFill>
            <a:prstDash val="solid"/>
          </a:ln>
        </p:spPr>
      </p:sp>
      <p:sp>
        <p:nvSpPr>
          <p:cNvPr id="22" name="Text 20"/>
          <p:cNvSpPr/>
          <p:nvPr/>
        </p:nvSpPr>
        <p:spPr>
          <a:xfrm>
            <a:off x="7790688" y="4480560"/>
            <a:ext cx="1024128" cy="438912"/>
          </a:xfrm>
          <a:prstGeom prst="rect">
            <a:avLst/>
          </a:prstGeom>
          <a:noFill/>
          <a:ln/>
        </p:spPr>
        <p:txBody>
          <a:bodyPr wrap="square" rtlCol="0" anchor="ctr"/>
          <a:lstStyle/>
          <a:p>
            <a:pPr algn="ctr" indent="0" marL="0">
              <a:buNone/>
            </a:pPr>
            <a:r>
              <a:rPr lang="en-US" sz="1250" b="1" dirty="0">
                <a:solidFill>
                  <a:srgbClr val="F9A825"/>
                </a:solidFill>
                <a:latin typeface="Trebuchet MS" pitchFamily="34" charset="0"/>
                <a:ea typeface="Trebuchet MS" pitchFamily="34" charset="-122"/>
                <a:cs typeface="Trebuchet MS" pitchFamily="34" charset="-120"/>
              </a:rPr>
              <a:t>US.77</a:t>
            </a:r>
            <a:endParaRPr lang="en-US" sz="1250" dirty="0"/>
          </a:p>
        </p:txBody>
      </p:sp>
      <p:sp>
        <p:nvSpPr>
          <p:cNvPr id="23" name="Text 21"/>
          <p:cNvSpPr/>
          <p:nvPr/>
        </p:nvSpPr>
        <p:spPr>
          <a:xfrm>
            <a:off x="822960" y="5852160"/>
            <a:ext cx="10515600" cy="365760"/>
          </a:xfrm>
          <a:prstGeom prst="rect">
            <a:avLst/>
          </a:prstGeom>
          <a:noFill/>
          <a:ln/>
        </p:spPr>
        <p:txBody>
          <a:bodyPr wrap="square" rtlCol="0" anchor="ctr"/>
          <a:lstStyle/>
          <a:p>
            <a:pPr indent="0" marL="0">
              <a:buNone/>
            </a:pPr>
            <a:r>
              <a:rPr lang="en-US" sz="1200" spc="100" kern="0" dirty="0">
                <a:solidFill>
                  <a:srgbClr val="A7BACB"/>
                </a:solidFill>
                <a:latin typeface="Trebuchet MS" pitchFamily="34" charset="0"/>
                <a:ea typeface="Trebuchet MS" pitchFamily="34" charset="-122"/>
                <a:cs typeface="Trebuchet MS" pitchFamily="34" charset="-120"/>
              </a:rPr>
              <a:t>TCAP EOC LECTURE DECK  ·  Tennessee Academic Standards for U.S. History</a:t>
            </a:r>
            <a:endParaRPr lang="en-US" sz="1200" dirty="0"/>
          </a:p>
        </p:txBody>
      </p:sp>
      <p:sp>
        <p:nvSpPr>
          <p:cNvPr id="24" name="Text 22"/>
          <p:cNvSpPr/>
          <p:nvPr/>
        </p:nvSpPr>
        <p:spPr>
          <a:xfrm>
            <a:off x="822960" y="6263640"/>
            <a:ext cx="10515600" cy="274320"/>
          </a:xfrm>
          <a:prstGeom prst="rect">
            <a:avLst/>
          </a:prstGeom>
          <a:noFill/>
          <a:ln/>
        </p:spPr>
        <p:txBody>
          <a:bodyPr wrap="square" rtlCol="0" anchor="ctr"/>
          <a:lstStyle/>
          <a:p>
            <a:pPr indent="0" marL="0">
              <a:buNone/>
            </a:pPr>
            <a:r>
              <a:rPr lang="en-US" sz="1100" dirty="0">
                <a:solidFill>
                  <a:srgbClr val="A7BACB"/>
                </a:solidFill>
                <a:latin typeface="Calibri" pitchFamily="34" charset="0"/>
                <a:ea typeface="Calibri" pitchFamily="34" charset="-122"/>
                <a:cs typeface="Calibri" pitchFamily="34" charset="-120"/>
              </a:rPr>
              <a:t>TroopToTeacher Technologies LLC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UNIT ROADMAP</a:t>
            </a:r>
            <a:endParaRPr lang="en-US" sz="1200" dirty="0"/>
          </a:p>
        </p:txBody>
      </p:sp>
      <p:sp>
        <p:nvSpPr>
          <p:cNvPr id="4" name="Text 2"/>
          <p:cNvSpPr/>
          <p:nvPr/>
        </p:nvSpPr>
        <p:spPr>
          <a:xfrm>
            <a:off x="548640" y="777240"/>
            <a:ext cx="10972800" cy="548640"/>
          </a:xfrm>
          <a:prstGeom prst="rect">
            <a:avLst/>
          </a:prstGeom>
          <a:noFill/>
          <a:ln/>
        </p:spPr>
        <p:txBody>
          <a:bodyPr wrap="square" rtlCol="0" anchor="ctr"/>
          <a:lstStyle/>
          <a:p>
            <a:pPr indent="0" marL="0">
              <a:buNone/>
            </a:pPr>
            <a:r>
              <a:rPr lang="en-US" sz="3400" b="1" dirty="0">
                <a:solidFill>
                  <a:srgbClr val="1A2332"/>
                </a:solidFill>
                <a:latin typeface="Georgia" pitchFamily="34" charset="0"/>
                <a:ea typeface="Georgia" pitchFamily="34" charset="-122"/>
                <a:cs typeface="Georgia" pitchFamily="34" charset="-120"/>
              </a:rPr>
              <a:t>Where We Are Headed</a:t>
            </a:r>
            <a:endParaRPr lang="en-US" sz="3400" dirty="0"/>
          </a:p>
        </p:txBody>
      </p:sp>
      <p:sp>
        <p:nvSpPr>
          <p:cNvPr id="5" name="Text 3"/>
          <p:cNvSpPr/>
          <p:nvPr/>
        </p:nvSpPr>
        <p:spPr>
          <a:xfrm>
            <a:off x="548640" y="1353312"/>
            <a:ext cx="11064240" cy="320040"/>
          </a:xfrm>
          <a:prstGeom prst="rect">
            <a:avLst/>
          </a:prstGeom>
          <a:noFill/>
          <a:ln/>
        </p:spPr>
        <p:txBody>
          <a:bodyPr wrap="square" rtlCol="0" anchor="ctr"/>
          <a:lstStyle/>
          <a:p>
            <a:pPr indent="0" marL="0">
              <a:buNone/>
            </a:pPr>
            <a:r>
              <a:rPr lang="en-US" sz="1300" i="1" dirty="0">
                <a:solidFill>
                  <a:srgbClr val="5C6470"/>
                </a:solidFill>
                <a:latin typeface="Calibri" pitchFamily="34" charset="0"/>
                <a:ea typeface="Calibri" pitchFamily="34" charset="-122"/>
                <a:cs typeface="Calibri" pitchFamily="34" charset="-120"/>
              </a:rPr>
              <a:t>Unit 8 · Postwar Prosperity &amp; 1950s America (1945–1963)  —  Consumerism and the Suburbs, the Baby Boom, the Eisenhower Years, the Automobile and Interstate Highways, Television and Mass Media, Youth Culture and Tennessee Music, and Kennedy's New Frontier</a:t>
            </a:r>
            <a:endParaRPr lang="en-US" sz="1300" dirty="0"/>
          </a:p>
        </p:txBody>
      </p:sp>
      <p:sp>
        <p:nvSpPr>
          <p:cNvPr id="6" name="Shape 4"/>
          <p:cNvSpPr/>
          <p:nvPr/>
        </p:nvSpPr>
        <p:spPr>
          <a:xfrm>
            <a:off x="548640" y="1828800"/>
            <a:ext cx="5349240" cy="953262"/>
          </a:xfrm>
          <a:prstGeom prst="rect">
            <a:avLst/>
          </a:prstGeom>
          <a:solidFill>
            <a:srgbClr val="FFFFFF"/>
          </a:solidFill>
          <a:ln w="12700">
            <a:solidFill>
              <a:srgbClr val="DAD3C2"/>
            </a:solidFill>
            <a:prstDash val="solid"/>
          </a:ln>
        </p:spPr>
      </p:sp>
      <p:sp>
        <p:nvSpPr>
          <p:cNvPr id="7" name="Shape 5"/>
          <p:cNvSpPr/>
          <p:nvPr/>
        </p:nvSpPr>
        <p:spPr>
          <a:xfrm>
            <a:off x="548640" y="1828800"/>
            <a:ext cx="1188720" cy="953262"/>
          </a:xfrm>
          <a:prstGeom prst="rect">
            <a:avLst/>
          </a:prstGeom>
          <a:solidFill>
            <a:srgbClr val="1A2332"/>
          </a:solidFill>
          <a:ln/>
        </p:spPr>
      </p:sp>
      <p:sp>
        <p:nvSpPr>
          <p:cNvPr id="8" name="Text 6"/>
          <p:cNvSpPr/>
          <p:nvPr/>
        </p:nvSpPr>
        <p:spPr>
          <a:xfrm>
            <a:off x="548640" y="1828800"/>
            <a:ext cx="1188720" cy="953262"/>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US.71</a:t>
            </a:r>
            <a:endParaRPr lang="en-US" sz="1900" dirty="0"/>
          </a:p>
        </p:txBody>
      </p:sp>
      <p:sp>
        <p:nvSpPr>
          <p:cNvPr id="9" name="Text 7"/>
          <p:cNvSpPr/>
          <p:nvPr/>
        </p:nvSpPr>
        <p:spPr>
          <a:xfrm>
            <a:off x="1920240" y="1828800"/>
            <a:ext cx="3840480" cy="953262"/>
          </a:xfrm>
          <a:prstGeom prst="rect">
            <a:avLst/>
          </a:prstGeom>
          <a:noFill/>
          <a:ln/>
        </p:spPr>
        <p:txBody>
          <a:bodyPr wrap="square" rtlCol="0" anchor="ctr">
            <a:normAutofit/>
          </a:bodyPr>
          <a:lstStyle/>
          <a:p>
            <a:pPr indent="0" marL="0">
              <a:buNone/>
            </a:pPr>
            <a:r>
              <a:rPr lang="en-US" sz="1350" b="1" dirty="0">
                <a:solidFill>
                  <a:srgbClr val="1F2430"/>
                </a:solidFill>
                <a:latin typeface="Calibri" pitchFamily="34" charset="0"/>
                <a:ea typeface="Calibri" pitchFamily="34" charset="-122"/>
                <a:cs typeface="Calibri" pitchFamily="34" charset="-120"/>
              </a:rPr>
              <a:t>1950s Prosperity &amp; Consumerism</a:t>
            </a:r>
            <a:endParaRPr lang="en-US" sz="1350" dirty="0"/>
          </a:p>
        </p:txBody>
      </p:sp>
      <p:sp>
        <p:nvSpPr>
          <p:cNvPr id="10" name="Shape 8"/>
          <p:cNvSpPr/>
          <p:nvPr/>
        </p:nvSpPr>
        <p:spPr>
          <a:xfrm rot="10800000">
            <a:off x="1042416" y="2791206"/>
            <a:ext cx="182880" cy="137160"/>
          </a:xfrm>
          <a:prstGeom prst="triangle">
            <a:avLst/>
          </a:prstGeom>
          <a:solidFill>
            <a:srgbClr val="C9A84C"/>
          </a:solidFill>
          <a:ln/>
        </p:spPr>
      </p:sp>
      <p:sp>
        <p:nvSpPr>
          <p:cNvPr id="11" name="Shape 9"/>
          <p:cNvSpPr/>
          <p:nvPr/>
        </p:nvSpPr>
        <p:spPr>
          <a:xfrm>
            <a:off x="548640" y="2937510"/>
            <a:ext cx="5349240" cy="953262"/>
          </a:xfrm>
          <a:prstGeom prst="rect">
            <a:avLst/>
          </a:prstGeom>
          <a:solidFill>
            <a:srgbClr val="FFFFFF"/>
          </a:solidFill>
          <a:ln w="12700">
            <a:solidFill>
              <a:srgbClr val="DAD3C2"/>
            </a:solidFill>
            <a:prstDash val="solid"/>
          </a:ln>
        </p:spPr>
      </p:sp>
      <p:sp>
        <p:nvSpPr>
          <p:cNvPr id="12" name="Shape 10"/>
          <p:cNvSpPr/>
          <p:nvPr/>
        </p:nvSpPr>
        <p:spPr>
          <a:xfrm>
            <a:off x="548640" y="2937510"/>
            <a:ext cx="1188720" cy="953262"/>
          </a:xfrm>
          <a:prstGeom prst="rect">
            <a:avLst/>
          </a:prstGeom>
          <a:solidFill>
            <a:srgbClr val="1A2332"/>
          </a:solidFill>
          <a:ln/>
        </p:spPr>
      </p:sp>
      <p:sp>
        <p:nvSpPr>
          <p:cNvPr id="13" name="Text 11"/>
          <p:cNvSpPr/>
          <p:nvPr/>
        </p:nvSpPr>
        <p:spPr>
          <a:xfrm>
            <a:off x="548640" y="2937510"/>
            <a:ext cx="1188720" cy="953262"/>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US.72</a:t>
            </a:r>
            <a:endParaRPr lang="en-US" sz="1900" dirty="0"/>
          </a:p>
        </p:txBody>
      </p:sp>
      <p:sp>
        <p:nvSpPr>
          <p:cNvPr id="14" name="Text 12"/>
          <p:cNvSpPr/>
          <p:nvPr/>
        </p:nvSpPr>
        <p:spPr>
          <a:xfrm>
            <a:off x="1920240" y="2937510"/>
            <a:ext cx="3840480" cy="953262"/>
          </a:xfrm>
          <a:prstGeom prst="rect">
            <a:avLst/>
          </a:prstGeom>
          <a:noFill/>
          <a:ln/>
        </p:spPr>
        <p:txBody>
          <a:bodyPr wrap="square" rtlCol="0" anchor="ctr">
            <a:normAutofit/>
          </a:bodyPr>
          <a:lstStyle/>
          <a:p>
            <a:pPr indent="0" marL="0">
              <a:buNone/>
            </a:pPr>
            <a:r>
              <a:rPr lang="en-US" sz="1350" b="1" dirty="0">
                <a:solidFill>
                  <a:srgbClr val="1F2430"/>
                </a:solidFill>
                <a:latin typeface="Calibri" pitchFamily="34" charset="0"/>
                <a:ea typeface="Calibri" pitchFamily="34" charset="-122"/>
                <a:cs typeface="Calibri" pitchFamily="34" charset="-120"/>
              </a:rPr>
              <a:t>Baby Boomer Generation Impact</a:t>
            </a:r>
            <a:endParaRPr lang="en-US" sz="1350" dirty="0"/>
          </a:p>
        </p:txBody>
      </p:sp>
      <p:sp>
        <p:nvSpPr>
          <p:cNvPr id="15" name="Shape 13"/>
          <p:cNvSpPr/>
          <p:nvPr/>
        </p:nvSpPr>
        <p:spPr>
          <a:xfrm rot="10800000">
            <a:off x="1042416" y="3899916"/>
            <a:ext cx="182880" cy="137160"/>
          </a:xfrm>
          <a:prstGeom prst="triangle">
            <a:avLst/>
          </a:prstGeom>
          <a:solidFill>
            <a:srgbClr val="C9A84C"/>
          </a:solidFill>
          <a:ln/>
        </p:spPr>
      </p:sp>
      <p:sp>
        <p:nvSpPr>
          <p:cNvPr id="16" name="Shape 14"/>
          <p:cNvSpPr/>
          <p:nvPr/>
        </p:nvSpPr>
        <p:spPr>
          <a:xfrm>
            <a:off x="548640" y="4046220"/>
            <a:ext cx="5349240" cy="953262"/>
          </a:xfrm>
          <a:prstGeom prst="rect">
            <a:avLst/>
          </a:prstGeom>
          <a:solidFill>
            <a:srgbClr val="FFFFFF"/>
          </a:solidFill>
          <a:ln w="12700">
            <a:solidFill>
              <a:srgbClr val="DAD3C2"/>
            </a:solidFill>
            <a:prstDash val="solid"/>
          </a:ln>
        </p:spPr>
      </p:sp>
      <p:sp>
        <p:nvSpPr>
          <p:cNvPr id="17" name="Shape 15"/>
          <p:cNvSpPr/>
          <p:nvPr/>
        </p:nvSpPr>
        <p:spPr>
          <a:xfrm>
            <a:off x="548640" y="4046220"/>
            <a:ext cx="1188720" cy="953262"/>
          </a:xfrm>
          <a:prstGeom prst="rect">
            <a:avLst/>
          </a:prstGeom>
          <a:solidFill>
            <a:srgbClr val="1A2332"/>
          </a:solidFill>
          <a:ln/>
        </p:spPr>
      </p:sp>
      <p:sp>
        <p:nvSpPr>
          <p:cNvPr id="18" name="Text 16"/>
          <p:cNvSpPr/>
          <p:nvPr/>
        </p:nvSpPr>
        <p:spPr>
          <a:xfrm>
            <a:off x="548640" y="4046220"/>
            <a:ext cx="1188720" cy="953262"/>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US.73</a:t>
            </a:r>
            <a:endParaRPr lang="en-US" sz="1900" dirty="0"/>
          </a:p>
        </p:txBody>
      </p:sp>
      <p:sp>
        <p:nvSpPr>
          <p:cNvPr id="19" name="Text 17"/>
          <p:cNvSpPr/>
          <p:nvPr/>
        </p:nvSpPr>
        <p:spPr>
          <a:xfrm>
            <a:off x="1920240" y="4046220"/>
            <a:ext cx="3840480" cy="953262"/>
          </a:xfrm>
          <a:prstGeom prst="rect">
            <a:avLst/>
          </a:prstGeom>
          <a:noFill/>
          <a:ln/>
        </p:spPr>
        <p:txBody>
          <a:bodyPr wrap="square" rtlCol="0" anchor="ctr">
            <a:normAutofit/>
          </a:bodyPr>
          <a:lstStyle/>
          <a:p>
            <a:pPr indent="0" marL="0">
              <a:buNone/>
            </a:pPr>
            <a:r>
              <a:rPr lang="en-US" sz="1350" b="1" dirty="0">
                <a:solidFill>
                  <a:srgbClr val="1F2430"/>
                </a:solidFill>
                <a:latin typeface="Calibri" pitchFamily="34" charset="0"/>
                <a:ea typeface="Calibri" pitchFamily="34" charset="-122"/>
                <a:cs typeface="Calibri" pitchFamily="34" charset="-120"/>
              </a:rPr>
              <a:t>Eisenhower Administration Developments</a:t>
            </a:r>
            <a:endParaRPr lang="en-US" sz="1350" dirty="0"/>
          </a:p>
        </p:txBody>
      </p:sp>
      <p:sp>
        <p:nvSpPr>
          <p:cNvPr id="20" name="Shape 18"/>
          <p:cNvSpPr/>
          <p:nvPr/>
        </p:nvSpPr>
        <p:spPr>
          <a:xfrm rot="10800000">
            <a:off x="1042416" y="5008626"/>
            <a:ext cx="182880" cy="137160"/>
          </a:xfrm>
          <a:prstGeom prst="triangle">
            <a:avLst/>
          </a:prstGeom>
          <a:solidFill>
            <a:srgbClr val="C9A84C"/>
          </a:solidFill>
          <a:ln/>
        </p:spPr>
      </p:sp>
      <p:sp>
        <p:nvSpPr>
          <p:cNvPr id="21" name="Shape 19"/>
          <p:cNvSpPr/>
          <p:nvPr/>
        </p:nvSpPr>
        <p:spPr>
          <a:xfrm>
            <a:off x="548640" y="5154930"/>
            <a:ext cx="5349240" cy="953262"/>
          </a:xfrm>
          <a:prstGeom prst="rect">
            <a:avLst/>
          </a:prstGeom>
          <a:solidFill>
            <a:srgbClr val="FFFFFF"/>
          </a:solidFill>
          <a:ln w="12700">
            <a:solidFill>
              <a:srgbClr val="DAD3C2"/>
            </a:solidFill>
            <a:prstDash val="solid"/>
          </a:ln>
        </p:spPr>
      </p:sp>
      <p:sp>
        <p:nvSpPr>
          <p:cNvPr id="22" name="Shape 20"/>
          <p:cNvSpPr/>
          <p:nvPr/>
        </p:nvSpPr>
        <p:spPr>
          <a:xfrm>
            <a:off x="548640" y="5154930"/>
            <a:ext cx="1188720" cy="953262"/>
          </a:xfrm>
          <a:prstGeom prst="rect">
            <a:avLst/>
          </a:prstGeom>
          <a:solidFill>
            <a:srgbClr val="1A2332"/>
          </a:solidFill>
          <a:ln/>
        </p:spPr>
      </p:sp>
      <p:sp>
        <p:nvSpPr>
          <p:cNvPr id="23" name="Text 21"/>
          <p:cNvSpPr/>
          <p:nvPr/>
        </p:nvSpPr>
        <p:spPr>
          <a:xfrm>
            <a:off x="548640" y="5154930"/>
            <a:ext cx="1188720" cy="953262"/>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US.74</a:t>
            </a:r>
            <a:endParaRPr lang="en-US" sz="1900" dirty="0"/>
          </a:p>
        </p:txBody>
      </p:sp>
      <p:sp>
        <p:nvSpPr>
          <p:cNvPr id="24" name="Text 22"/>
          <p:cNvSpPr/>
          <p:nvPr/>
        </p:nvSpPr>
        <p:spPr>
          <a:xfrm>
            <a:off x="1920240" y="5154930"/>
            <a:ext cx="3840480" cy="953262"/>
          </a:xfrm>
          <a:prstGeom prst="rect">
            <a:avLst/>
          </a:prstGeom>
          <a:noFill/>
          <a:ln/>
        </p:spPr>
        <p:txBody>
          <a:bodyPr wrap="square" rtlCol="0" anchor="ctr">
            <a:normAutofit/>
          </a:bodyPr>
          <a:lstStyle/>
          <a:p>
            <a:pPr indent="0" marL="0">
              <a:buNone/>
            </a:pPr>
            <a:r>
              <a:rPr lang="en-US" sz="1350" b="1" dirty="0">
                <a:solidFill>
                  <a:srgbClr val="1F2430"/>
                </a:solidFill>
                <a:latin typeface="Calibri" pitchFamily="34" charset="0"/>
                <a:ea typeface="Calibri" pitchFamily="34" charset="-122"/>
                <a:cs typeface="Calibri" pitchFamily="34" charset="-120"/>
              </a:rPr>
              <a:t>Automobile's Growing Influence</a:t>
            </a:r>
            <a:endParaRPr lang="en-US" sz="1350" dirty="0"/>
          </a:p>
        </p:txBody>
      </p:sp>
      <p:sp>
        <p:nvSpPr>
          <p:cNvPr id="25" name="Shape 23"/>
          <p:cNvSpPr/>
          <p:nvPr/>
        </p:nvSpPr>
        <p:spPr>
          <a:xfrm>
            <a:off x="6309360" y="1828800"/>
            <a:ext cx="5349240" cy="953262"/>
          </a:xfrm>
          <a:prstGeom prst="rect">
            <a:avLst/>
          </a:prstGeom>
          <a:solidFill>
            <a:srgbClr val="FFFFFF"/>
          </a:solidFill>
          <a:ln w="12700">
            <a:solidFill>
              <a:srgbClr val="DAD3C2"/>
            </a:solidFill>
            <a:prstDash val="solid"/>
          </a:ln>
        </p:spPr>
      </p:sp>
      <p:sp>
        <p:nvSpPr>
          <p:cNvPr id="26" name="Shape 24"/>
          <p:cNvSpPr/>
          <p:nvPr/>
        </p:nvSpPr>
        <p:spPr>
          <a:xfrm>
            <a:off x="6309360" y="1828800"/>
            <a:ext cx="1188720" cy="953262"/>
          </a:xfrm>
          <a:prstGeom prst="rect">
            <a:avLst/>
          </a:prstGeom>
          <a:solidFill>
            <a:srgbClr val="1A2332"/>
          </a:solidFill>
          <a:ln/>
        </p:spPr>
      </p:sp>
      <p:sp>
        <p:nvSpPr>
          <p:cNvPr id="27" name="Text 25"/>
          <p:cNvSpPr/>
          <p:nvPr/>
        </p:nvSpPr>
        <p:spPr>
          <a:xfrm>
            <a:off x="6309360" y="1828800"/>
            <a:ext cx="1188720" cy="953262"/>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US.75</a:t>
            </a:r>
            <a:endParaRPr lang="en-US" sz="1900" dirty="0"/>
          </a:p>
        </p:txBody>
      </p:sp>
      <p:sp>
        <p:nvSpPr>
          <p:cNvPr id="28" name="Text 26"/>
          <p:cNvSpPr/>
          <p:nvPr/>
        </p:nvSpPr>
        <p:spPr>
          <a:xfrm>
            <a:off x="7680960" y="1828800"/>
            <a:ext cx="3840480" cy="953262"/>
          </a:xfrm>
          <a:prstGeom prst="rect">
            <a:avLst/>
          </a:prstGeom>
          <a:noFill/>
          <a:ln/>
        </p:spPr>
        <p:txBody>
          <a:bodyPr wrap="square" rtlCol="0" anchor="ctr">
            <a:normAutofit/>
          </a:bodyPr>
          <a:lstStyle/>
          <a:p>
            <a:pPr indent="0" marL="0">
              <a:buNone/>
            </a:pPr>
            <a:r>
              <a:rPr lang="en-US" sz="1350" b="1" dirty="0">
                <a:solidFill>
                  <a:srgbClr val="1F2430"/>
                </a:solidFill>
                <a:latin typeface="Calibri" pitchFamily="34" charset="0"/>
                <a:ea typeface="Calibri" pitchFamily="34" charset="-122"/>
                <a:cs typeface="Calibri" pitchFamily="34" charset="-120"/>
              </a:rPr>
              <a:t>Television and Mass Media Impact</a:t>
            </a:r>
            <a:endParaRPr lang="en-US" sz="1350" dirty="0"/>
          </a:p>
        </p:txBody>
      </p:sp>
      <p:sp>
        <p:nvSpPr>
          <p:cNvPr id="29" name="Shape 27"/>
          <p:cNvSpPr/>
          <p:nvPr/>
        </p:nvSpPr>
        <p:spPr>
          <a:xfrm rot="10800000">
            <a:off x="6803136" y="2791206"/>
            <a:ext cx="182880" cy="137160"/>
          </a:xfrm>
          <a:prstGeom prst="triangle">
            <a:avLst/>
          </a:prstGeom>
          <a:solidFill>
            <a:srgbClr val="C9A84C"/>
          </a:solidFill>
          <a:ln/>
        </p:spPr>
      </p:sp>
      <p:sp>
        <p:nvSpPr>
          <p:cNvPr id="30" name="Shape 28"/>
          <p:cNvSpPr/>
          <p:nvPr/>
        </p:nvSpPr>
        <p:spPr>
          <a:xfrm>
            <a:off x="6309360" y="2937510"/>
            <a:ext cx="5349240" cy="953262"/>
          </a:xfrm>
          <a:prstGeom prst="rect">
            <a:avLst/>
          </a:prstGeom>
          <a:solidFill>
            <a:srgbClr val="FFFFFF"/>
          </a:solidFill>
          <a:ln w="12700">
            <a:solidFill>
              <a:srgbClr val="DAD3C2"/>
            </a:solidFill>
            <a:prstDash val="solid"/>
          </a:ln>
        </p:spPr>
      </p:sp>
      <p:sp>
        <p:nvSpPr>
          <p:cNvPr id="31" name="Shape 29"/>
          <p:cNvSpPr/>
          <p:nvPr/>
        </p:nvSpPr>
        <p:spPr>
          <a:xfrm>
            <a:off x="6309360" y="2937510"/>
            <a:ext cx="1188720" cy="953262"/>
          </a:xfrm>
          <a:prstGeom prst="rect">
            <a:avLst/>
          </a:prstGeom>
          <a:solidFill>
            <a:srgbClr val="1A2332"/>
          </a:solidFill>
          <a:ln/>
        </p:spPr>
      </p:sp>
      <p:sp>
        <p:nvSpPr>
          <p:cNvPr id="32" name="Text 30"/>
          <p:cNvSpPr/>
          <p:nvPr/>
        </p:nvSpPr>
        <p:spPr>
          <a:xfrm>
            <a:off x="6309360" y="2937510"/>
            <a:ext cx="1188720" cy="953262"/>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US.76</a:t>
            </a:r>
            <a:endParaRPr lang="en-US" sz="1900" dirty="0"/>
          </a:p>
        </p:txBody>
      </p:sp>
      <p:sp>
        <p:nvSpPr>
          <p:cNvPr id="33" name="Text 31"/>
          <p:cNvSpPr/>
          <p:nvPr/>
        </p:nvSpPr>
        <p:spPr>
          <a:xfrm>
            <a:off x="7680960" y="2937510"/>
            <a:ext cx="3840480" cy="953262"/>
          </a:xfrm>
          <a:prstGeom prst="rect">
            <a:avLst/>
          </a:prstGeom>
          <a:noFill/>
          <a:ln/>
        </p:spPr>
        <p:txBody>
          <a:bodyPr wrap="square" rtlCol="0" anchor="ctr">
            <a:normAutofit/>
          </a:bodyPr>
          <a:lstStyle/>
          <a:p>
            <a:pPr indent="0" marL="0">
              <a:buNone/>
            </a:pPr>
            <a:r>
              <a:rPr lang="en-US" sz="1350" b="1" dirty="0">
                <a:solidFill>
                  <a:srgbClr val="1F2430"/>
                </a:solidFill>
                <a:latin typeface="Calibri" pitchFamily="34" charset="0"/>
                <a:ea typeface="Calibri" pitchFamily="34" charset="-122"/>
                <a:cs typeface="Calibri" pitchFamily="34" charset="-120"/>
              </a:rPr>
              <a:t>Youth Culture and Tennessee Music</a:t>
            </a:r>
            <a:endParaRPr lang="en-US" sz="1350" dirty="0"/>
          </a:p>
        </p:txBody>
      </p:sp>
      <p:sp>
        <p:nvSpPr>
          <p:cNvPr id="34" name="Shape 32"/>
          <p:cNvSpPr/>
          <p:nvPr/>
        </p:nvSpPr>
        <p:spPr>
          <a:xfrm rot="10800000">
            <a:off x="6803136" y="3899916"/>
            <a:ext cx="182880" cy="137160"/>
          </a:xfrm>
          <a:prstGeom prst="triangle">
            <a:avLst/>
          </a:prstGeom>
          <a:solidFill>
            <a:srgbClr val="C9A84C"/>
          </a:solidFill>
          <a:ln/>
        </p:spPr>
      </p:sp>
      <p:sp>
        <p:nvSpPr>
          <p:cNvPr id="35" name="Shape 33"/>
          <p:cNvSpPr/>
          <p:nvPr/>
        </p:nvSpPr>
        <p:spPr>
          <a:xfrm>
            <a:off x="6309360" y="4046220"/>
            <a:ext cx="5349240" cy="953262"/>
          </a:xfrm>
          <a:prstGeom prst="rect">
            <a:avLst/>
          </a:prstGeom>
          <a:solidFill>
            <a:srgbClr val="FFFFFF"/>
          </a:solidFill>
          <a:ln w="12700">
            <a:solidFill>
              <a:srgbClr val="DAD3C2"/>
            </a:solidFill>
            <a:prstDash val="solid"/>
          </a:ln>
        </p:spPr>
      </p:sp>
      <p:sp>
        <p:nvSpPr>
          <p:cNvPr id="36" name="Shape 34"/>
          <p:cNvSpPr/>
          <p:nvPr/>
        </p:nvSpPr>
        <p:spPr>
          <a:xfrm>
            <a:off x="6309360" y="4046220"/>
            <a:ext cx="1188720" cy="953262"/>
          </a:xfrm>
          <a:prstGeom prst="rect">
            <a:avLst/>
          </a:prstGeom>
          <a:solidFill>
            <a:srgbClr val="1A2332"/>
          </a:solidFill>
          <a:ln/>
        </p:spPr>
      </p:sp>
      <p:sp>
        <p:nvSpPr>
          <p:cNvPr id="37" name="Text 35"/>
          <p:cNvSpPr/>
          <p:nvPr/>
        </p:nvSpPr>
        <p:spPr>
          <a:xfrm>
            <a:off x="6309360" y="4046220"/>
            <a:ext cx="1188720" cy="953262"/>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US.77</a:t>
            </a:r>
            <a:endParaRPr lang="en-US" sz="1900" dirty="0"/>
          </a:p>
        </p:txBody>
      </p:sp>
      <p:sp>
        <p:nvSpPr>
          <p:cNvPr id="38" name="Text 36"/>
          <p:cNvSpPr/>
          <p:nvPr/>
        </p:nvSpPr>
        <p:spPr>
          <a:xfrm>
            <a:off x="7680960" y="4046220"/>
            <a:ext cx="3840480" cy="953262"/>
          </a:xfrm>
          <a:prstGeom prst="rect">
            <a:avLst/>
          </a:prstGeom>
          <a:noFill/>
          <a:ln/>
        </p:spPr>
        <p:txBody>
          <a:bodyPr wrap="square" rtlCol="0" anchor="ctr">
            <a:normAutofit/>
          </a:bodyPr>
          <a:lstStyle/>
          <a:p>
            <a:pPr indent="0" marL="0">
              <a:buNone/>
            </a:pPr>
            <a:r>
              <a:rPr lang="en-US" sz="1350" b="1" dirty="0">
                <a:solidFill>
                  <a:srgbClr val="1F2430"/>
                </a:solidFill>
                <a:latin typeface="Calibri" pitchFamily="34" charset="0"/>
                <a:ea typeface="Calibri" pitchFamily="34" charset="-122"/>
                <a:cs typeface="Calibri" pitchFamily="34" charset="-120"/>
              </a:rPr>
              <a:t>Kennedy's New Frontier</a:t>
            </a:r>
            <a:endParaRPr lang="en-US" sz="1350" dirty="0"/>
          </a:p>
        </p:txBody>
      </p:sp>
      <p:sp>
        <p:nvSpPr>
          <p:cNvPr id="39" name="Shape 37"/>
          <p:cNvSpPr/>
          <p:nvPr/>
        </p:nvSpPr>
        <p:spPr>
          <a:xfrm>
            <a:off x="5532120" y="1856232"/>
            <a:ext cx="658368" cy="384048"/>
          </a:xfrm>
          <a:prstGeom prst="roundRect">
            <a:avLst>
              <a:gd name="adj" fmla="val 14286"/>
            </a:avLst>
          </a:prstGeom>
          <a:solidFill>
            <a:srgbClr val="1A2332"/>
          </a:solidFill>
          <a:ln/>
        </p:spPr>
      </p:sp>
      <p:sp>
        <p:nvSpPr>
          <p:cNvPr id="40" name="Text 38"/>
          <p:cNvSpPr/>
          <p:nvPr/>
        </p:nvSpPr>
        <p:spPr>
          <a:xfrm>
            <a:off x="5532120" y="1856232"/>
            <a:ext cx="658368" cy="384048"/>
          </a:xfrm>
          <a:prstGeom prst="rect">
            <a:avLst/>
          </a:prstGeom>
          <a:noFill/>
          <a:ln/>
        </p:spPr>
        <p:txBody>
          <a:bodyPr wrap="square" rtlCol="0" anchor="ctr"/>
          <a:lstStyle/>
          <a:p>
            <a:pPr algn="ctr" indent="0" marL="0">
              <a:buNone/>
            </a:pPr>
            <a:r>
              <a:rPr lang="en-US" sz="900" b="1" dirty="0">
                <a:solidFill>
                  <a:srgbClr val="F9A825"/>
                </a:solidFill>
                <a:latin typeface="Trebuchet MS" pitchFamily="34" charset="0"/>
                <a:ea typeface="Trebuchet MS" pitchFamily="34" charset="-122"/>
                <a:cs typeface="Trebuchet MS" pitchFamily="34" charset="-120"/>
              </a:rPr>
              <a:t>then</a:t>
            </a:r>
            <a:endParaRPr lang="en-US" sz="900" dirty="0"/>
          </a:p>
        </p:txBody>
      </p:sp>
      <p:sp>
        <p:nvSpPr>
          <p:cNvPr id="41" name="Shape 39"/>
          <p:cNvSpPr/>
          <p:nvPr/>
        </p:nvSpPr>
        <p:spPr>
          <a:xfrm rot="5400000">
            <a:off x="6199632" y="1984248"/>
            <a:ext cx="164592" cy="146304"/>
          </a:xfrm>
          <a:prstGeom prst="triangle">
            <a:avLst/>
          </a:prstGeom>
          <a:solidFill>
            <a:srgbClr val="C9A84C"/>
          </a:solidFill>
          <a:ln/>
        </p:spPr>
      </p:sp>
      <p:sp>
        <p:nvSpPr>
          <p:cNvPr id="42" name="Text 4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3" name="Text 4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858"/>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640080" y="64008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BELL RINGER · HOOK</a:t>
            </a:r>
            <a:endParaRPr lang="en-US" sz="1200" dirty="0"/>
          </a:p>
        </p:txBody>
      </p:sp>
      <p:sp>
        <p:nvSpPr>
          <p:cNvPr id="4" name="Text 2"/>
          <p:cNvSpPr/>
          <p:nvPr/>
        </p:nvSpPr>
        <p:spPr>
          <a:xfrm>
            <a:off x="640080" y="1234440"/>
            <a:ext cx="10789920" cy="1965960"/>
          </a:xfrm>
          <a:prstGeom prst="rect">
            <a:avLst/>
          </a:prstGeom>
          <a:noFill/>
          <a:ln/>
        </p:spPr>
        <p:txBody>
          <a:bodyPr wrap="square" rtlCol="0" anchor="t">
            <a:normAutofit/>
          </a:bodyPr>
          <a:lstStyle/>
          <a:p>
            <a:pPr indent="0" marL="0">
              <a:lnSpc>
                <a:spcPct val="105000"/>
              </a:lnSpc>
              <a:buNone/>
            </a:pPr>
            <a:r>
              <a:rPr lang="en-US" sz="3000" b="1" dirty="0">
                <a:solidFill>
                  <a:srgbClr val="FFFFFF"/>
                </a:solidFill>
                <a:latin typeface="Georgia" pitchFamily="34" charset="0"/>
                <a:ea typeface="Georgia" pitchFamily="34" charset="-122"/>
                <a:cs typeface="Georgia" pitchFamily="34" charset="-120"/>
              </a:rPr>
              <a:t>After World War II, the United States entered the greatest economic boom in its history. Returning veterans used the G.I. Bill to buy homes and attend college, families moved to fast-growing suburbs, and a "baby boom" added millions of children.</a:t>
            </a:r>
            <a:endParaRPr lang="en-US" sz="3000" dirty="0"/>
          </a:p>
          <a:p>
            <a:pPr indent="0" marL="0">
              <a:lnSpc>
                <a:spcPct val="105000"/>
              </a:lnSpc>
              <a:buNone/>
            </a:pPr>
            <a:r>
              <a:rPr lang="en-US" sz="3000" b="1" dirty="0">
                <a:solidFill>
                  <a:srgbClr val="FFFFFF"/>
                </a:solidFill>
                <a:latin typeface="Georgia" pitchFamily="34" charset="0"/>
                <a:ea typeface="Georgia" pitchFamily="34" charset="-122"/>
                <a:cs typeface="Georgia" pitchFamily="34" charset="-120"/>
              </a:rPr>
              <a:t>New highways, automobiles, fast food, and television reshaped daily life, while rock 'n' roll — much of it born in Tennessee — gave a new youth culture its sound.</a:t>
            </a:r>
            <a:endParaRPr lang="en-US" sz="3000" dirty="0"/>
          </a:p>
        </p:txBody>
      </p:sp>
      <p:sp>
        <p:nvSpPr>
          <p:cNvPr id="5" name="Text 3"/>
          <p:cNvSpPr/>
          <p:nvPr/>
        </p:nvSpPr>
        <p:spPr>
          <a:xfrm>
            <a:off x="640080" y="3337560"/>
            <a:ext cx="10789920" cy="914400"/>
          </a:xfrm>
          <a:prstGeom prst="rect">
            <a:avLst/>
          </a:prstGeom>
          <a:noFill/>
          <a:ln/>
        </p:spPr>
        <p:txBody>
          <a:bodyPr wrap="square" rtlCol="0" anchor="t">
            <a:normAutofit/>
          </a:bodyPr>
          <a:lstStyle/>
          <a:p>
            <a:pPr indent="0" marL="0">
              <a:buNone/>
            </a:pPr>
            <a:r>
              <a:rPr lang="en-US" sz="2200" i="1" dirty="0">
                <a:solidFill>
                  <a:srgbClr val="F9A825"/>
                </a:solidFill>
                <a:latin typeface="Georgia" pitchFamily="34" charset="0"/>
                <a:ea typeface="Georgia" pitchFamily="34" charset="-122"/>
                <a:cs typeface="Georgia" pitchFamily="34" charset="-120"/>
              </a:rPr>
              <a:t>How did prosperity, new technology, and mass culture in the 1950s change where Americans lived, what they bought, and how they saw themselves — and who was left out of the boom?</a:t>
            </a:r>
            <a:endParaRPr lang="en-US" sz="2200" dirty="0"/>
          </a:p>
        </p:txBody>
      </p:sp>
      <p:sp>
        <p:nvSpPr>
          <p:cNvPr id="6" name="Shape 4"/>
          <p:cNvSpPr/>
          <p:nvPr/>
        </p:nvSpPr>
        <p:spPr>
          <a:xfrm>
            <a:off x="640080" y="4434840"/>
            <a:ext cx="10881360" cy="1417320"/>
          </a:xfrm>
          <a:prstGeom prst="roundRect">
            <a:avLst>
              <a:gd name="adj" fmla="val 6452"/>
            </a:avLst>
          </a:prstGeom>
          <a:solidFill>
            <a:srgbClr val="243047"/>
          </a:solidFill>
          <a:ln w="12700">
            <a:solidFill>
              <a:srgbClr val="C9A84C"/>
            </a:solidFill>
            <a:prstDash val="solid"/>
          </a:ln>
        </p:spPr>
      </p:sp>
      <p:sp>
        <p:nvSpPr>
          <p:cNvPr id="7" name="Text 5"/>
          <p:cNvSpPr/>
          <p:nvPr/>
        </p:nvSpPr>
        <p:spPr>
          <a:xfrm>
            <a:off x="914400" y="4617720"/>
            <a:ext cx="2743200" cy="320040"/>
          </a:xfrm>
          <a:prstGeom prst="rect">
            <a:avLst/>
          </a:prstGeom>
          <a:noFill/>
          <a:ln/>
        </p:spPr>
        <p:txBody>
          <a:bodyPr wrap="square" rtlCol="0" anchor="ctr"/>
          <a:lstStyle/>
          <a:p>
            <a:pPr indent="0" marL="0">
              <a:buNone/>
            </a:pPr>
            <a:r>
              <a:rPr lang="en-US" sz="1300" b="1" spc="200" kern="0" dirty="0">
                <a:solidFill>
                  <a:srgbClr val="F9A825"/>
                </a:solidFill>
                <a:latin typeface="Trebuchet MS" pitchFamily="34" charset="0"/>
                <a:ea typeface="Trebuchet MS" pitchFamily="34" charset="-122"/>
                <a:cs typeface="Trebuchet MS" pitchFamily="34" charset="-120"/>
              </a:rPr>
              <a:t>TURN &amp; TALK</a:t>
            </a:r>
            <a:endParaRPr lang="en-US" sz="1300" dirty="0"/>
          </a:p>
        </p:txBody>
      </p:sp>
      <p:sp>
        <p:nvSpPr>
          <p:cNvPr id="8" name="Text 6"/>
          <p:cNvSpPr/>
          <p:nvPr/>
        </p:nvSpPr>
        <p:spPr>
          <a:xfrm>
            <a:off x="914400" y="4937760"/>
            <a:ext cx="10332720" cy="822960"/>
          </a:xfrm>
          <a:prstGeom prst="rect">
            <a:avLst/>
          </a:prstGeom>
          <a:noFill/>
          <a:ln/>
        </p:spPr>
        <p:txBody>
          <a:bodyPr wrap="square"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With a partner, list three things about American life today — homes, cars, TV, music, shopping — that you think began or grew rapidly in the 1950s. Then predict: which change do you think mattered most? Keep your list; we will return to it at the end of the unit.</a:t>
            </a:r>
            <a:endParaRPr lang="en-US" sz="16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US.71</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1950s Prosperity &amp; Consumerism</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Analyze the impact of prosperity and consumerism in the 1950s, including: the growth of white-collar jobs, the "suburban ideal", the impact of the G.I. Bill, and the increased reliance on foreign oil.</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analyze the impact of prosperity and consumerism in the 1950s, including the growth of white-collar jobs, the "suburban ideal," the impact of the G.I. Bill, and the increased reliance on foreign oil.</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Unit 7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We just finished Unit 7 on the Cold War. What was the main rivalry, and how did it shape American policy at home and abroad after World War II?</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Unit Hook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big question should we keep in mind as we study 1950s prosperity—was the economic boom equally available to all Americans?</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Name one benefit the G.I. Bill provided to returning World War II veterans.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College tuition, home loans, or vocational training (any one is correct).</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the 1950s, America produced half the world’s manufactured goods, veterans came home to buy homes in brand-new suburbs, and a new middle class was born almost overnight—but not everyone got the same ticket to the American Dream.</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If the G.I. Bill gave millions of veterans the chance to own a home and go to college, why did African American veterans receive far fewer of those benefits, and what does that reveal about who the “American Dream” was really for?</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Post-War Economic Boom</a:t>
            </a:r>
            <a:endParaRPr lang="en-US" sz="3000" dirty="0"/>
          </a:p>
        </p:txBody>
      </p:sp>
      <p:sp>
        <p:nvSpPr>
          <p:cNvPr id="5" name="Shape 3"/>
          <p:cNvSpPr/>
          <p:nvPr/>
        </p:nvSpPr>
        <p:spPr>
          <a:xfrm>
            <a:off x="10180015" y="502920"/>
            <a:ext cx="146304" cy="146304"/>
          </a:xfrm>
          <a:prstGeom prst="ellipse">
            <a:avLst/>
          </a:prstGeom>
          <a:solidFill>
            <a:srgbClr val="C62828"/>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1950s saw unprecedented American prosperity.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GDP grew from $200 billion (1940) to $500 billion (1960).</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Low unemployment, rising wages, and consumer spending drove economic expansion.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United States produced half of the world’s manufactured goods and enjoyed the highest standard of living in history.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prosperity was fueled by pent-up consumer demand from wartime rationing, government spending, and technological innovation.</a:t>
            </a:r>
            <a:endParaRPr lang="en-US" sz="1700" dirty="0"/>
          </a:p>
        </p:txBody>
      </p:sp>
      <p:sp>
        <p:nvSpPr>
          <p:cNvPr id="13" name="Shape 11"/>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4" name="Text 12"/>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5" name="Text 13"/>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G.I. Bill changed American society by providing veterans with ___, which led to ___ in the American middle class.</a:t>
            </a:r>
            <a:endParaRPr lang="en-US" sz="115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Growth of White-Collar Jobs</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C62828"/>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American economy shifted from manufacturing to services and management.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White-collar workers—office employees, managers, professionals, and salespeople—outnumbered blue-collar workers for the first time by 1956.</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Large corporations like IBM, General Electric, and AT&amp;T offered stable employment with benefits, pensions, and opportunities for advancement.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“organization man” became a cultural archetype as corporate culture defined middle-class identity.</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Suburban Ideal</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C62828"/>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Suburban development exploded as developers like William Levitt built planned communities of affordable, mass-produced homes.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Levittown, New York (1947) became the model for suburban development nationwide.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Suburbs offered space, safety, good schools, and the American Dream of homeownership.</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However, restrictive covenants and redlining practices excluded African Americans and other minorities from most suburban communities, reinforcing racial segregation.</a:t>
            </a:r>
            <a:endParaRPr lang="en-US" sz="1550" dirty="0"/>
          </a:p>
        </p:txBody>
      </p:sp>
      <p:sp>
        <p:nvSpPr>
          <p:cNvPr id="13" name="Shape 11"/>
          <p:cNvSpPr/>
          <p:nvPr/>
        </p:nvSpPr>
        <p:spPr>
          <a:xfrm>
            <a:off x="7552944" y="1746504"/>
            <a:ext cx="4142232" cy="3575304"/>
          </a:xfrm>
          <a:prstGeom prst="rect">
            <a:avLst/>
          </a:prstGeom>
          <a:solidFill>
            <a:srgbClr val="FFFFFF"/>
          </a:solidFill>
          <a:ln w="12700">
            <a:solidFill>
              <a:srgbClr val="DAD3C2"/>
            </a:solidFill>
            <a:prstDash val="solid"/>
          </a:ln>
        </p:spPr>
      </p:sp>
      <p:pic>
        <p:nvPicPr>
          <p:cNvPr id="14" name="Image 0" descr="unit8-full/img/aerial-view-levittown-pennsylvania-1959.jpg">    </p:cNvPr>
          <p:cNvPicPr>
            <a:picLocks noChangeAspect="1"/>
          </p:cNvPicPr>
          <p:nvPr/>
        </p:nvPicPr>
        <p:blipFill>
          <a:blip r:embed="rId1"/>
          <a:stretch>
            <a:fillRect/>
          </a:stretch>
        </p:blipFill>
        <p:spPr>
          <a:xfrm>
            <a:off x="7589520" y="2003922"/>
            <a:ext cx="4069080" cy="3060468"/>
          </a:xfrm>
          <a:prstGeom prst="rect">
            <a:avLst/>
          </a:prstGeom>
        </p:spPr>
      </p:pic>
      <p:sp>
        <p:nvSpPr>
          <p:cNvPr id="15" name="Text 12"/>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Unknown, c. 1959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Impact of the G.I. Bill</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C62828"/>
          </a:solidFill>
          <a:ln/>
        </p:spPr>
      </p:sp>
      <p:sp>
        <p:nvSpPr>
          <p:cNvPr id="9" name="Shape 7"/>
          <p:cNvSpPr/>
          <p:nvPr/>
        </p:nvSpPr>
        <p:spPr>
          <a:xfrm>
            <a:off x="11350447" y="502920"/>
            <a:ext cx="146304" cy="146304"/>
          </a:xfrm>
          <a:prstGeom prst="ellipse">
            <a:avLst/>
          </a:prstGeom>
          <a:solidFill>
            <a:srgbClr val="A7BACB"/>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5</a:t>
            </a:r>
            <a:endParaRPr lang="en-US" sz="1000" dirty="0"/>
          </a:p>
        </p:txBody>
      </p:sp>
      <p:sp>
        <p:nvSpPr>
          <p:cNvPr id="11" name="Shape 9"/>
          <p:cNvSpPr/>
          <p:nvPr/>
        </p:nvSpPr>
        <p:spPr>
          <a:xfrm>
            <a:off x="548640" y="1783080"/>
            <a:ext cx="676656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Servicemen’s Readjustment Act of 1944 (G.I. Bill) transformed American society.</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It provided veterans with college tuition, vocational training, low-interest home loans, and unemployment benefits.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By 1956, nearly 8 million veterans had used education benefits, doubling the college-educated population.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G.I. Bill home loans fueled suburban growth, creating a massive new middle class.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However, discriminatory implementation meant African American veterans received far fewer benefits.</a:t>
            </a:r>
            <a:endParaRPr lang="en-US" sz="1550" dirty="0"/>
          </a:p>
        </p:txBody>
      </p:sp>
      <p:sp>
        <p:nvSpPr>
          <p:cNvPr id="13" name="Shape 11"/>
          <p:cNvSpPr/>
          <p:nvPr/>
        </p:nvSpPr>
        <p:spPr>
          <a:xfrm>
            <a:off x="7552944" y="1746504"/>
            <a:ext cx="4142232" cy="3575304"/>
          </a:xfrm>
          <a:prstGeom prst="rect">
            <a:avLst/>
          </a:prstGeom>
          <a:solidFill>
            <a:srgbClr val="FFFFFF"/>
          </a:solidFill>
          <a:ln w="12700">
            <a:solidFill>
              <a:srgbClr val="DAD3C2"/>
            </a:solidFill>
            <a:prstDash val="solid"/>
          </a:ln>
        </p:spPr>
      </p:sp>
      <p:pic>
        <p:nvPicPr>
          <p:cNvPr id="14" name="Image 0" descr="unit8-full/img/president-roosevelt-signs-gi-bill-1944.jpg">    </p:cNvPr>
          <p:cNvPicPr>
            <a:picLocks noChangeAspect="1"/>
          </p:cNvPicPr>
          <p:nvPr/>
        </p:nvPicPr>
        <p:blipFill>
          <a:blip r:embed="rId1"/>
          <a:stretch>
            <a:fillRect/>
          </a:stretch>
        </p:blipFill>
        <p:spPr>
          <a:xfrm>
            <a:off x="7589520" y="2156073"/>
            <a:ext cx="4069080" cy="2756166"/>
          </a:xfrm>
          <a:prstGeom prst="rect">
            <a:avLst/>
          </a:prstGeom>
        </p:spPr>
      </p:pic>
      <p:sp>
        <p:nvSpPr>
          <p:cNvPr id="15" name="Text 12"/>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U.S. Federal Government, June 22, 1944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a:t>
            </a:r>
            <a:endParaRPr lang="en-US" sz="80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Increased Reliance on Foreign Oil</a:t>
            </a:r>
            <a:endParaRPr lang="en-US" sz="3000" dirty="0"/>
          </a:p>
        </p:txBody>
      </p:sp>
      <p:sp>
        <p:nvSpPr>
          <p:cNvPr id="5" name="Shape 3"/>
          <p:cNvSpPr/>
          <p:nvPr/>
        </p:nvSpPr>
        <p:spPr>
          <a:xfrm>
            <a:off x="10180015" y="502920"/>
            <a:ext cx="146304" cy="146304"/>
          </a:xfrm>
          <a:prstGeom prst="ellipse">
            <a:avLst/>
          </a:prstGeom>
          <a:solidFill>
            <a:srgbClr val="A7BACB"/>
          </a:solidFill>
          <a:ln/>
        </p:spPr>
      </p:sp>
      <p:sp>
        <p:nvSpPr>
          <p:cNvPr id="6" name="Shape 4"/>
          <p:cNvSpPr/>
          <p:nvPr/>
        </p:nvSpPr>
        <p:spPr>
          <a:xfrm>
            <a:off x="10472623" y="502920"/>
            <a:ext cx="146304" cy="146304"/>
          </a:xfrm>
          <a:prstGeom prst="ellipse">
            <a:avLst/>
          </a:prstGeom>
          <a:solidFill>
            <a:srgbClr val="A7BACB"/>
          </a:solidFill>
          <a:ln/>
        </p:spPr>
      </p:sp>
      <p:sp>
        <p:nvSpPr>
          <p:cNvPr id="7" name="Shape 5"/>
          <p:cNvSpPr/>
          <p:nvPr/>
        </p:nvSpPr>
        <p:spPr>
          <a:xfrm>
            <a:off x="10765231" y="502920"/>
            <a:ext cx="146304" cy="146304"/>
          </a:xfrm>
          <a:prstGeom prst="ellipse">
            <a:avLst/>
          </a:prstGeom>
          <a:solidFill>
            <a:srgbClr val="A7BACB"/>
          </a:solidFill>
          <a:ln/>
        </p:spPr>
      </p:sp>
      <p:sp>
        <p:nvSpPr>
          <p:cNvPr id="8" name="Shape 6"/>
          <p:cNvSpPr/>
          <p:nvPr/>
        </p:nvSpPr>
        <p:spPr>
          <a:xfrm>
            <a:off x="11057839" y="502920"/>
            <a:ext cx="146304" cy="146304"/>
          </a:xfrm>
          <a:prstGeom prst="ellipse">
            <a:avLst/>
          </a:prstGeom>
          <a:solidFill>
            <a:srgbClr val="A7BACB"/>
          </a:solidFill>
          <a:ln/>
        </p:spPr>
      </p:sp>
      <p:sp>
        <p:nvSpPr>
          <p:cNvPr id="9" name="Shape 7"/>
          <p:cNvSpPr/>
          <p:nvPr/>
        </p:nvSpPr>
        <p:spPr>
          <a:xfrm>
            <a:off x="11350447" y="502920"/>
            <a:ext cx="146304" cy="146304"/>
          </a:xfrm>
          <a:prstGeom prst="ellipse">
            <a:avLst/>
          </a:prstGeom>
          <a:solidFill>
            <a:srgbClr val="C62828"/>
          </a:solidFill>
          <a:ln/>
        </p:spPr>
      </p:sp>
      <p:sp>
        <p:nvSpPr>
          <p:cNvPr id="10" name="Text 8"/>
          <p:cNvSpPr/>
          <p:nvPr/>
        </p:nvSpPr>
        <p:spPr>
          <a:xfrm>
            <a:off x="9219895"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5 of 5</a:t>
            </a:r>
            <a:endParaRPr lang="en-US" sz="1000" dirty="0"/>
          </a:p>
        </p:txBody>
      </p:sp>
      <p:sp>
        <p:nvSpPr>
          <p:cNvPr id="11" name="Shape 9"/>
          <p:cNvSpPr/>
          <p:nvPr/>
        </p:nvSpPr>
        <p:spPr>
          <a:xfrm>
            <a:off x="548640" y="1783080"/>
            <a:ext cx="11064240" cy="4069080"/>
          </a:xfrm>
          <a:prstGeom prst="rect">
            <a:avLst/>
          </a:prstGeom>
          <a:solidFill>
            <a:srgbClr val="FFFFFF"/>
          </a:solidFill>
          <a:ln w="12700">
            <a:solidFill>
              <a:srgbClr val="DAD3C2"/>
            </a:solidFill>
            <a:prstDash val="solid"/>
          </a:ln>
        </p:spPr>
      </p:sp>
      <p:sp>
        <p:nvSpPr>
          <p:cNvPr id="12" name="Text 10"/>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America’s car-centered suburban lifestyle dramatically increased oil consumption.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Domestic oil production could not keep pace with demand, and the U.S. began importing increasing amounts of foreign oil, particularly from the Middle East.</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growing dependence would later create economic vulnerability during the 1970s oil crises.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interstate highway system, suburban sprawl, and consumer culture all reinforced reliance on petroleum.</a:t>
            </a:r>
            <a:endParaRPr lang="en-US" sz="1700" dirty="0"/>
          </a:p>
        </p:txBody>
      </p:sp>
      <p:sp>
        <p:nvSpPr>
          <p:cNvPr id="13" name="Text 1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William Levitt</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Developer, Levittown</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Built Levittown, NY (1947), first mass-produced suburb</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Made homeownership affordable for returning veterans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Created the model for American suburban development</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Levitt to show how mass production reshaped where Americans lived.</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US.71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200" b="1" dirty="0">
                <a:solidFill>
                  <a:srgbClr val="1A2332"/>
                </a:solidFill>
                <a:latin typeface="Georgia" pitchFamily="34" charset="0"/>
                <a:ea typeface="Georgia" pitchFamily="34" charset="-122"/>
                <a:cs typeface="Georgia" pitchFamily="34" charset="-120"/>
              </a:rPr>
              <a:t>Servicemen’s Readjustment Act (G.I. Bill)</a:t>
            </a:r>
            <a:endParaRPr lang="en-US" sz="22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Contextualization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1944</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sp>
      <p:pic>
        <p:nvPicPr>
          <p:cNvPr id="9" name="Image 0" descr="unit8-full/img/president-roosevelt-signs-gi-bill-1944.jpg">    </p:cNvPr>
          <p:cNvPicPr>
            <a:picLocks noChangeAspect="1"/>
          </p:cNvPicPr>
          <p:nvPr/>
        </p:nvPicPr>
        <p:blipFill>
          <a:blip r:embed="rId1"/>
          <a:stretch>
            <a:fillRect/>
          </a:stretch>
        </p:blipFill>
        <p:spPr>
          <a:xfrm>
            <a:off x="548640" y="1919919"/>
            <a:ext cx="3200400" cy="2167771"/>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algn="l" indent="0" marL="0">
              <a:lnSpc>
                <a:spcPct val="100000"/>
              </a:lnSpc>
              <a:buNone/>
            </a:pPr>
            <a:pPr algn="l" indent="0" marL="0">
              <a:lnSpc>
                <a:spcPct val="100000"/>
              </a:lnSpc>
              <a:buNone/>
            </a:pPr>
            <a:r>
              <a:rPr lang="en-US" sz="700" i="1" dirty="0">
                <a:solidFill>
                  <a:srgbClr val="5C6470"/>
                </a:solidFill>
                <a:latin typeface="Calibri" pitchFamily="34" charset="0"/>
                <a:ea typeface="Calibri" pitchFamily="34" charset="-122"/>
                <a:cs typeface="Calibri" pitchFamily="34" charset="-120"/>
              </a:rPr>
              <a:t>U.S. Federal Government, June 22, 1944  </a:t>
            </a:r>
            <a:pPr algn="l"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sp>
      <p:sp>
        <p:nvSpPr>
          <p:cNvPr id="14" name="Shape 11"/>
          <p:cNvSpPr/>
          <p:nvPr/>
        </p:nvSpPr>
        <p:spPr>
          <a:xfrm>
            <a:off x="3931920" y="1737360"/>
            <a:ext cx="91440" cy="3246120"/>
          </a:xfrm>
          <a:prstGeom prst="rect">
            <a:avLst/>
          </a:prstGeom>
          <a:solidFill>
            <a:srgbClr val="C9A84C"/>
          </a:solidFill>
          <a:ln/>
        </p:spPr>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"Any person who served in the active military or naval service... shall be entitled to vocational rehabilitation... The Administrator shall pay the educational institution... tuition, fees, books, and supplies. Each eligible person shall be entitled to a subsistence allowance... while pursuing a full-time course of education."</a:t>
            </a:r>
            <a:endParaRPr lang="en-US" sz="1250" dirty="0"/>
          </a:p>
        </p:txBody>
      </p:sp>
      <p:sp>
        <p:nvSpPr>
          <p:cNvPr id="16" name="Shape 13"/>
          <p:cNvSpPr/>
          <p:nvPr/>
        </p:nvSpPr>
        <p:spPr>
          <a:xfrm>
            <a:off x="7589520" y="1737360"/>
            <a:ext cx="4023360" cy="2011680"/>
          </a:xfrm>
          <a:prstGeom prst="roundRect">
            <a:avLst>
              <a:gd name="adj" fmla="val 3636"/>
            </a:avLst>
          </a:prstGeom>
          <a:solidFill>
            <a:srgbClr val="1A2332"/>
          </a:solidFill>
          <a:ln/>
        </p:spPr>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49961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When approximately 16 million Americans returned home from World War II, the federal government sought to ease their transition back to civilian life and prevent a repeat of the social unrest that followed World War I. The Servicemen’s Readjustment Act of 1944, known as the G.I. Bill, was one of the most sweeping pieces of legislation in American history, offering veterans education, job training, home loans, and unemployment compensation. It fundamentally reshaped American society by creating a new suburban middle class.</a:t>
            </a:r>
            <a:endParaRPr lang="en-US" sz="950" dirty="0"/>
          </a:p>
        </p:txBody>
      </p:sp>
      <p:sp>
        <p:nvSpPr>
          <p:cNvPr id="19" name="Shape 16"/>
          <p:cNvSpPr/>
          <p:nvPr/>
        </p:nvSpPr>
        <p:spPr>
          <a:xfrm>
            <a:off x="7589520" y="3931920"/>
            <a:ext cx="4023360" cy="1051560"/>
          </a:xfrm>
          <a:prstGeom prst="roundRect">
            <a:avLst>
              <a:gd name="adj" fmla="val 6957"/>
            </a:avLst>
          </a:prstGeom>
          <a:solidFill>
            <a:srgbClr val="C9A84C"/>
          </a:solidFill>
          <a:ln/>
        </p:spPr>
      </p:sp>
      <p:sp>
        <p:nvSpPr>
          <p:cNvPr id="20" name="Text 17"/>
          <p:cNvSpPr/>
          <p:nvPr/>
        </p:nvSpPr>
        <p:spPr>
          <a:xfrm>
            <a:off x="7818120" y="405079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352544"/>
            <a:ext cx="3611880" cy="52120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benefits did the G.I. Bill provide to returning veterans?</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sp>
      <p:sp>
        <p:nvSpPr>
          <p:cNvPr id="23" name="Shape 20"/>
          <p:cNvSpPr/>
          <p:nvPr/>
        </p:nvSpPr>
        <p:spPr>
          <a:xfrm>
            <a:off x="548640" y="5120640"/>
            <a:ext cx="2423160" cy="841248"/>
          </a:xfrm>
          <a:prstGeom prst="rect">
            <a:avLst/>
          </a:prstGeom>
          <a:solidFill>
            <a:srgbClr val="002858"/>
          </a:solidFill>
          <a:ln/>
        </p:spPr>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U.S. Congress</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1944</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White-Collar Jobs</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KOL-er</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Empleos de Cuello Blanco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WC</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Office and professional occupations (managers, salespeople, clerks) that grew rapidly in the 1950s, outnumbering factory workers for the first time.</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Suburban Ideal</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suh-BER-bin</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Ideal Suburbano</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SI</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1950s American dream of owning a single-family home in the suburbs with a yard, garage, and modern appliances, drawing families out of cities.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G.I. Bill</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jee-eye BIL</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G.I.</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GI</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Servicemen’s Readjustment Act of 1944, which gave veterans college tuition, home loans, and job training, creating a massive new middle class.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Consumerism</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kun-SOO-mer-izm</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Consumismo</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CO</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1950s economic culture of buying goods beyond basic needs—televisions, cars, appliances, homes—driving growth and defining postwar life.</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Levittown</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LEV-it-town</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Levittown</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LE</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first mass-produced suburb, built by William Levitt on Long Island starting in 1947 using assembly-line techniques to build homes quickly and cheaply.</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Foreign Oil Dependence</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FOR-in oyl</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Dependencia de Petróleo Extranjero</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FO</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America’s growing reliance on imported petroleum from the Middle East to fuel its car-centered economy, creating vulnerabilities in the 1970s.</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a:t>
            </a:r>
            <a:endParaRPr lang="en-US" sz="9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White-Collar Jobs</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KOL-er</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Empleos de Cuello Blanco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WC</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Office and professional occupations (managers, salespeople, clerks) that grew rapidly in the 1950s, outnumbering factory workers for the first time.</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Suburban Ideal</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suh-BER-bin</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Ideal Suburbano</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SI</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1950s American dream of owning a single-family home in the suburbs with a yard, garage, and modern appliances, drawing families out of cities.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G.I. Bill</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jee-eye BIL</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G.I.</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GI</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Servicemen’s Readjustment Act of 1944, which gave veterans college tuition, home loans, and job training, creating a massive new middle class.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Consumerism</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kun-SOO-mer-izm</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Consumismo</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CO</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1950s economic culture of buying goods beyond basic needs—televisions, cars, appliances, homes—driving growth and defining postwar life.</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Levittown</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LEV-it-town</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Levittown</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LE</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first mass-produced suburb, built by William Levitt on Long Island starting in 1947 using assembly-line techniques to build homes quickly and cheaply.</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Foreign Oil Dependence</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FOR-in oyl</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Dependencia de Petróleo Extranjero</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FO</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America’s growing reliance on imported petroleum from the Middle East to fuel its car-centered economy, creating vulnerabilities in the 1970s.</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Analyze cause and effect</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did the G.I. Bill change where and how Americans lived after World War II?</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The G.I. Bill gave veterans low-interest home loans, which allowed millions to buy homes in new suburbs like Levittown. This caused suburban populations to explode, shifting American life away from cities.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In the sections, underline one cause and one effect of either the G.I. Bill or white-collar job growth.</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With a partner, trace one chain of causes and effects that connects post-war prosperity to the suburban ideal. Be ready to share your chain.</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G.I. Bill Impact Analysis — Building the Suburban Middle Class</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G.I. Bill excerpt, build a three-column chart labeled EDUCATION, HOUSING, and ECONOMY. For each column, explain how the G.I. Bill created that benefit for veterans and one concrete effect it had on American society (e.g., suburban growth, new middle class, college enrollment increase). Finish with a one-sentence claim, backed by evidence, on which benefit had the greatest long-term impact on American society.</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Completed three-column chart (education / housing / economy, each with a G.I. Bill benefit + one concrete effect) AND a one-sentence evidence-based claim about the most significant benefit.</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Chart with the three columns pre-labeled and a word bank (Levittown, college enrollment, suburban growth, middle class) to sort into the correct columns. Honors: Analyze why African American veterans received fewer G.I. Bill benefits and argue, using evidence, whether prosperity in the 1950s was equally distributed.</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cornell-notes/unit-8/us71-prosperity-consumerism.pdf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US.71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the growth of white-collar jobs change American society in the 1950s?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provided veterans with education benefits, home loans, and job training</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symbolized the counterculture’s ideals of peace, music, and communal spirit</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expanded the middle class and shifted workers from factories to offices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Rising household incomes, mass consumption of goods, and rapid suburban growth</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US.71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the growth of white-collar jobs change American society in the 1950s?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provided veterans with education benefits, home loans, and job training</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symbolized the counterculture’s ideals of peace, music, and communal spirit</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It expanded the middle class and shifted workers from factories to offices</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Rising household incomes, mass consumption of goods, and rapid suburban growth</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growth of white-collar jobs in the 1950s expanded office and professional work, which helped enlarge the middle class. Workers moved from factory floors to corporate offices, fueling the suburban lifestyle. A describes the G.I. Bill, not white-collar job growth. D describes consumerism broadly…</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US.71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Post-War Economic Boom</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Growth of White-Collar Jobs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Suburban Ideal</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Impact of the G.I. Bill</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Increased Reliance on Foreign Oil</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Argue: was 1950s prosperity a genuine American success story or a story of unequal access? Use the G.I. Bill and suburban ideal as evidence and address the strongest counterargument.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the G.I. Bill and suburban growth together created a new American middle class. What did each contribute, and was the benefit available to all Americans?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US.72</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Baby Boomer Generation Impact</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5" name="Text 13"/>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6" name="Text 14"/>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the impact of the baby boomer generation on the American economy and culture.</a:t>
            </a:r>
            <a:endParaRPr lang="en-US" sz="1300" dirty="0"/>
          </a:p>
        </p:txBody>
      </p:sp>
      <p:sp>
        <p:nvSpPr>
          <p:cNvPr id="17" name="Shape 15"/>
          <p:cNvSpPr/>
          <p:nvPr/>
        </p:nvSpPr>
        <p:spPr>
          <a:xfrm>
            <a:off x="914400" y="5120640"/>
            <a:ext cx="10332720" cy="1188720"/>
          </a:xfrm>
          <a:prstGeom prst="roundRect">
            <a:avLst>
              <a:gd name="adj" fmla="val 6154"/>
            </a:avLst>
          </a:prstGeom>
          <a:solidFill>
            <a:srgbClr val="C9A84C"/>
          </a:solidFill>
          <a:ln/>
        </p:spPr>
      </p:sp>
      <p:sp>
        <p:nvSpPr>
          <p:cNvPr id="18" name="Text 16"/>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19" name="Text 17"/>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explain the impact of the baby boomer generation on the American economy and culture.</a:t>
            </a:r>
            <a:endParaRPr lang="en-US" sz="1350" dirty="0"/>
          </a:p>
        </p:txBody>
      </p:sp>
      <p:sp>
        <p:nvSpPr>
          <p:cNvPr id="20" name="Text 1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US.72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1950s prosperity. How did the G.I. Bill and suburban growth connect to the conditions that caused the baby boom?</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Name one economic characteristic of 1950s America that explains why families could afford to have more children.</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US.72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years mark the baby boom generation?</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1946 to 1964.</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US.72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Between 1946 and 1964, 76 million babies were born in the United States—a generation so large it would reshape the economy, culture, and politics of an entire nation simply by growing up.</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If a generation’s size alone can transform an economy, what happens when those 76 million baby boomers become teenagers—and then retirees? How does a demographic wave become a cultural revolution?</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What Was the Baby Boom?</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Baby Boom was a dramatic increase in U.S. birth rates from 1946–1964, peaking in the late 1950s.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Key factors included: returning WWII veterans starting families, economic prosperity allowing larger families, government policies like the G.I. Bill supporting homeownership, cultural emphasis on domesticity, and improved medical care reducing infant mortality.</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The baby boom generation grew because ___, and it changed the American economy by 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8-full/img/mother-views-infant-hospital-nursery-1959.jpg">    </p:cNvPr>
          <p:cNvPicPr>
            <a:picLocks noChangeAspect="1"/>
          </p:cNvPicPr>
          <p:nvPr/>
        </p:nvPicPr>
        <p:blipFill>
          <a:blip r:embed="rId1"/>
          <a:stretch>
            <a:fillRect/>
          </a:stretch>
        </p:blipFill>
        <p:spPr>
          <a:xfrm>
            <a:off x="7589520" y="1834444"/>
            <a:ext cx="4069080" cy="2759345"/>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U.S. Federal Government (NARA, NAID 558170), c. 1959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Reshaping the American Economy</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Baby boomers created massive demand for consumer goods—from baby products to toys, children’s clothing, and eventually teenage items.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drove economic growth through increased manufacturing, retail expansion, and new industries.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Companies began targeting youth markets, creating the foundation for modern consumer culture.</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New Markets and Industries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baby boom generation sparked entirely new markets: pediatric healthcare expanded, toy manufacturers thrived, children’s clothing became a major industry, and education spending increased dramatically.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As boomers aged into teenagers, industries catering to youth—music, fashion, entertainment—experienced explosive growth.</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Long-Term Cultural Impact</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Baby boomers shaped American culture for decades.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Their sheer numbers gave them political and economic influence.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They drove the 1960s counterculture movement, transformed marketing and advertising, and continue to influence policy debates about Social Security and healthcare as they age.</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US.72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Census Bureau Population Report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Contextualization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Census Bureau  ·  1955</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"The birth rate has reached unprecedented levels since the end of World War II. Between 1946 and 1954, approximately 29 million babies were born in the United States, compared to 24 million in the preceding eight years. This surge in population is creating increased demand for schools, housing, and consumer goods targeted at families."</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The 1950s saw one of the largest demographic explosions in American history: the baby boom. Returning veterans from World War II married and started families in record numbers, aided by the G.I. Bill’s home loans and economic prosperity. Between 1946 and 1964, approximately 76 million babies were born in the United States—a generation that would reshape the economy, culture, and politics for decades.</a:t>
            </a:r>
            <a:endParaRPr lang="en-US" sz="10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According to this report, what economic effect was the baby boom having on American society?</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U.S. Census Bureau</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1955</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U.S. Census Bureau</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US.72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Baby Boom</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BAY-bee boom</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Explosión de Natalidad</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BB</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dramatic increase in birth rates from 1946–1964, when 76 million babies were born, transforming the American economy and culture as they grew up.</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Consumer Economy</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kun-SOO-mer</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Economía de Consumo</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CE</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economy driven by high household spending on homes, cars, and appliances — powered in the 1950s by postwar prosperity and Baby Boom families.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Suburbanization</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sub-ER-bun-ih-ZAY-shun</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Suburbanización</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SU</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mass 1950s movement of families to newly built suburbs, driven by cheap housing, automobiles, and growing Baby Boom households.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Youth Market</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yooth</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Mercado Juvenil</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YM</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large new consumer market of children and teenagers created by the Baby Boom, targeted by toy, music, food, and clothing industries.</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Nuclear Family</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NOO-klee-er</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Familia Nuclear</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NF</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1950s ideal household of a married couple and their children, celebrated in advertising and television as the American norm.</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Postwar Prosperity</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POHST-wor</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Prosperidad de Posguerra</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PP</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broad economic growth and rising standard of living the United States enjoyed after World War II.</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US.72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Baby Boom</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BAY-bee boom</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Explosión de Natalidad</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BB</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dramatic increase in birth rates from 1946–1964, when 76 million babies were born, transforming the American economy and culture as they grew up.</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Consumer Economy</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kun-SOO-mer</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Economía de Consumo</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CE</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economy driven by high household spending on homes, cars, and appliances — powered in the 1950s by postwar prosperity and Baby Boom families.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Suburbanization</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sub-ER-bun-ih-ZAY-shun</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Suburbanización</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SU</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mass 1950s movement of families to newly built suburbs, driven by cheap housing, automobiles, and growing Baby Boom households.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Youth Market</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yooth</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Mercado Juvenil</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YM</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large new consumer market of children and teenagers created by the Baby Boom, targeted by toy, music, food, and clothing industries.</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Nuclear Family</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NOO-klee-er</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Familia Nuclear</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NF</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1950s ideal household of a married couple and their children, celebrated in advertising and television as the American norm.</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Postwar Prosperity</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POHST-wor</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Prosperidad de Posguerra</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PP</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broad economic growth and rising standard of living the United States enjoyed after World War II.</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US.72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Identify demographic cause and effect</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did a sudden increase in the birth rate change what businesses and schools had to do?</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When millions of new babies were born after World War II, schools had to expand, toy companies grew rapidly, and neighborhoods needed more housing. A demographic change drove an economic change.</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In the sections, underline one economic or cultural change that the baby boom caused.</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With a partner, predict: if boomers grew from babies to teenagers, what new industries would emerge? Use the sections to support your prediction.</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US.72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Baby Boom Ripple Effects — Mapping Economic and Cultural Change</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Census Bureau report, create a cause-and-effect diagram starting with “massive increase in births 1946–1964.” Trace at least four ripple effects across two generations: (1) immediate economic effects in the 1950s (schools, toys, housing) and (2) long-term cultural effects as boomers became teenagers (music, fashion, consumer culture). Add one sentence explaining how a demographic change can drive an economic and cultural revolution.</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Cause-and-effect diagram (at least four ripple effects across two time periods) AND one explanatory sentence connecting demographic change to economic and cultural change.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Diagram template with two circles pre-labeled (1950s effects / teenager effects) and a word bank of effects to place. Honors: Project forward—as boomers retire and age, what economic pressures does that create for Social Security and healthcare? Argue using the demographic evidence from the census report.</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cornell-notes/unit-8/us72-baby-boomer-impact.pdf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US.72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the baby boom generation impact the American economy and culture?</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drove demand for schools, housing, consumer goods, and new services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caused severe economic depression due to overcrowded job markets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had minimal impact because most baby boomers emigrated to Europe</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primarily strengthened rural agricultural communities across America</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US.72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the baby boom generation impact the American economy and culture?</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F9A825"/>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It drove demand for schools, housing, consumer goods, and new services</a:t>
            </a:r>
            <a:endParaRPr lang="en-US" sz="1300" dirty="0"/>
          </a:p>
        </p:txBody>
      </p:sp>
      <p:sp>
        <p:nvSpPr>
          <p:cNvPr id="13" name="Text 11"/>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5" name="Shape 13"/>
          <p:cNvSpPr/>
          <p:nvPr/>
        </p:nvSpPr>
        <p:spPr>
          <a:xfrm>
            <a:off x="713232" y="3419856"/>
            <a:ext cx="347472" cy="347472"/>
          </a:xfrm>
          <a:prstGeom prst="ellipse">
            <a:avLst/>
          </a:prstGeom>
          <a:solidFill>
            <a:srgbClr val="1A2332"/>
          </a:solidFill>
          <a:ln/>
        </p:spPr>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caused severe economic depression due to overcrowded job markets</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had minimal impact because most baby boomers emigrated to Europe</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primarily strengthened rural agricultural communities across America</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baby-boom generation drove huge demand for schools, houses, toys, cars, and later colleges and jobs. B is wrong because the boom fueled growth, not depression. C is wrong because boomers stayed and shaped American culture. D is wrong because the boom was most visible in suburban and urban…</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US.72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What Was the Baby Boom?</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Reshaping the American Economy</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New Markets and Industries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Long-Term Cultural Impact</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Argue: the baby boom was the single most important driver of postwar economic growth—agree or disagree? Use at least two specific economic effects as evidence, and acknowledge one factor that could challenge your argument.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the baby boom generation changed the American economy in two different ways—one immediate (1950s) and one longer-term (1960s-onward).</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US.73</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Eisenhower Administration Developments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domestic developments during President Dwight D. Eisenhower’s administration, including advances in medicine and the creation of the Interstate Highway System.</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describe domestic developments during President Eisenhower’s administration, including advances in medicine and the creation of the Interstate Highway System.</a:t>
            </a:r>
            <a:endParaRPr lang="en-US" sz="12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US.72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the baby boom. How did the massive growth in population connect to the need for infrastructure like schools, roads, and hospitals?</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US.72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Name one way baby boomers transformed demand for government services or public institutions.</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disease did the Salk vaccine virtually eliminate in the 1950s?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Polio.</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President Eisenhower built 41,000 miles of interstate highway—the largest public works project in American history—and also funded the vaccine that eliminated a disease that paralyzed thousands of children every year.</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When the government spends billions on highways and medicine, who benefits most—and who pays the price when those highways get routed straight through existing neighborhoods?</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Medical Breakthroughs: The Polio Vaccine</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1955 Salk polio vaccine eliminated parents’ fears of their children contracting this crippling disease.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It demonstrated government’s role in public health, restored confidence in medical science, and allowed children to safely attend schools and public spaces without fear of epidemic. Before the vaccine, polio paralyzed or killed thousands of Americans annually.</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President Eisenhower’s Interstate Highway System was significant because it ___, even though it also caused 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8-full/img/jonas-salk-copenhagen-airport-1959.jpg">    </p:cNvPr>
          <p:cNvPicPr>
            <a:picLocks noChangeAspect="1"/>
          </p:cNvPicPr>
          <p:nvPr/>
        </p:nvPicPr>
        <p:blipFill>
          <a:blip r:embed="rId1"/>
          <a:stretch>
            <a:fillRect/>
          </a:stretch>
        </p:blipFill>
        <p:spPr>
          <a:xfrm>
            <a:off x="7694775" y="1783080"/>
            <a:ext cx="3858570"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SAS Scandinavian Airlines, 1959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Interstate Highway System: Economic Effects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Interstate Highway System created millions of construction jobs, enabled easier movement of goods across the country, and fueled growth in automobile-related industries including car manufacturing, gas stations, motels, and fast food restaurants.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It became the largest public works project in American history.</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8-full/img/san-bernardino-freeway-i-10-construction-1957.jpg">    </p:cNvPr>
          <p:cNvPicPr>
            <a:picLocks noChangeAspect="1"/>
          </p:cNvPicPr>
          <p:nvPr/>
        </p:nvPicPr>
        <p:blipFill>
          <a:blip r:embed="rId1"/>
          <a:stretch>
            <a:fillRect/>
          </a:stretch>
        </p:blipFill>
        <p:spPr>
          <a:xfrm>
            <a:off x="7589520" y="1992356"/>
            <a:ext cx="4069080" cy="3083600"/>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Federal Highway Administration, 1957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Interstate Highway System: Social Effects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highways enabled suburban expansion by allowing workers to commute longer distances.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However, they also contributed to the decline of small towns bypassed by the new roads and accelerated urban decay as middle-class families moved to suburbs.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Increased mobility transformed American family life and leisure activities.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Unintended Consequences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While highways brought economic benefits, they also divided urban neighborhoods—often minority communities—with massive road construction.</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Downtown areas lost shoppers to suburban malls, and public transportation systems declined as car ownership became essential for American life.</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sp>
      <p:sp>
        <p:nvSpPr>
          <p:cNvPr id="6" name="Shape 4"/>
          <p:cNvSpPr/>
          <p:nvPr/>
        </p:nvSpPr>
        <p:spPr>
          <a:xfrm>
            <a:off x="548640" y="1627632"/>
            <a:ext cx="5394960" cy="868680"/>
          </a:xfrm>
          <a:prstGeom prst="rect">
            <a:avLst/>
          </a:prstGeom>
          <a:solidFill>
            <a:srgbClr val="1A2332"/>
          </a:solidFill>
          <a:ln/>
        </p:spPr>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Dwight D. Eisenhower</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34th President (1953–1961)</a:t>
            </a:r>
            <a:endParaRPr lang="en-US" sz="1100" dirty="0"/>
          </a:p>
        </p:txBody>
      </p:sp>
      <p:sp>
        <p:nvSpPr>
          <p:cNvPr id="9" name="Text 7"/>
          <p:cNvSpPr/>
          <p:nvPr/>
        </p:nvSpPr>
        <p:spPr>
          <a:xfrm>
            <a:off x="69494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Ended Korean War and maintained Cold War peace</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Created the Interstate Highway System in 1956</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Warned of the military-industrial complex</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Eisenhower to show how Cold War competition shaped domestic infrastructure investment.</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sp>
      <p:sp>
        <p:nvSpPr>
          <p:cNvPr id="13" name="Shape 11"/>
          <p:cNvSpPr/>
          <p:nvPr/>
        </p:nvSpPr>
        <p:spPr>
          <a:xfrm>
            <a:off x="6217920" y="1627632"/>
            <a:ext cx="5394960" cy="868680"/>
          </a:xfrm>
          <a:prstGeom prst="rect">
            <a:avLst/>
          </a:prstGeom>
          <a:solidFill>
            <a:srgbClr val="1A2332"/>
          </a:solidFill>
          <a:ln/>
        </p:spPr>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Jonas Salk</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Polio vaccine developer</a:t>
            </a:r>
            <a:endParaRPr lang="en-US" sz="1100" dirty="0"/>
          </a:p>
        </p:txBody>
      </p:sp>
      <p:sp>
        <p:nvSpPr>
          <p:cNvPr id="16" name="Text 14"/>
          <p:cNvSpPr/>
          <p:nvPr/>
        </p:nvSpPr>
        <p:spPr>
          <a:xfrm>
            <a:off x="6364224" y="2606040"/>
            <a:ext cx="510235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Developed the polio vaccine, announced safe and effective in 1955</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mass vaccination campaigns that virtually eliminated polio</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Demonstrated government-funded science could solve public health crises</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84C"/>
            </a:solidFill>
            <a:prstDash val="solid"/>
          </a:ln>
        </p:spPr>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Salk to show postwar faith that science and public investment could solve seemingly hopeless problems.</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US.73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Federal-Aid Highway Act Message</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Sourcing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Dwight D. Eisenhower  ·  1955</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"Our unity as a nation is sustained by free communication of thought and by easy transportation of people and goods... Together, the united forces of our communication and transportation systems are dynamic elements in the very name we bear—United States. Without them, we would be a mere alliance of many separate parts."</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By the mid-1950s, America’s transportation infrastructure was inadequate for the age of the automobile. Eisenhower, who had seen the value of Germany’s Autobahn highway system during World War II, championed a national highway network both for economic development and national defense—to allow rapid military movement across the country. The Federal-Aid Highway Act of 1956 authorized 41,000 miles of limited-access highways funded primarily by federal gasoline taxes.</a:t>
            </a:r>
            <a:endParaRPr lang="en-US" sz="9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Why did Eisenhower believe a national highway system was essential?</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Dwight D. Eisenhower</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1955</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Dwight D. Eisenhower Presidential Library</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Interstate Highway System</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IN-ter-stayt HY-way</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Sistema de Autopistas Interestatales</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IH</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Massive 41,000-mile highway network authorized by President Eisenhower in 1956 that transformed American travel, commerce, and settlement patterns.</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Polio Vaccine</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Vacuna contra la Polio</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PV</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vaccine developed by Dr. Jonas Salk, announced safe in April 1955, that ended the epidemic that had paralyzed or killed thousands of children yearly.</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Dwight D. Eisenhower</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EYE-zen-how-er</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Dwight D. Eisenhower</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DD</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34th U.S. President (1953–1961) and former WWII general who ended the Korean War and launched the Interstate Highway System.</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Military-Industrial Complex</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MIL-ih-tair-ee</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Complejo Militar-Industrial</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MI</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close relationship between the armed forces and defense industries that Eisenhower warned about in his 1961 farewell address.</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Cold War Peace</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kohld wor</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Paz de la Guerra Fría</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CW</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Eisenhower's policy of avoiding direct war with the Soviet Union while containing communism through deterrence and diplomacy.</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Urban Decline</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UR-bin dih-KLYN</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Declive Urbano</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UD</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weakening of inner cities as highways and suburbs pulled residents and businesses away — an unintended consequence of the Interstate system.</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Interstate Highway System</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IN-ter-stayt HY-way</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Sistema de Autopistas Interestatales</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IH</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Massive 41,000-mile highway network authorized by President Eisenhower in 1956 that transformed American travel, commerce, and settlement patterns.</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Polio Vaccine</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Vacuna contra la Polio</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PV</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vaccine developed by Dr. Jonas Salk, announced safe in April 1955, that ended the epidemic that had paralyzed or killed thousands of children yearly.</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Dwight D. Eisenhower</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EYE-zen-how-er</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Dwight D. Eisenhower</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DD</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34th U.S. President (1953–1961) and former WWII general who ended the Korean War and launched the Interstate Highway System.</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Military-Industrial Complex</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MIL-ih-tair-ee</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Complejo Militar-Industrial</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MI</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close relationship between the armed forces and defense industries that Eisenhower warned about in his 1961 farewell address.</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Cold War Peace</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kohld wor</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Paz de la Guerra Fría</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CW</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Eisenhower's policy of avoiding direct war with the Soviet Union while containing communism through deterrence and diplomacy.</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Urban Decline</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UR-bin dih-KLYN</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Declive Urbano</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UD</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weakening of inner cities as highways and suburbs pulled residents and businesses away — an unintended consequence of the Interstate system.</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Evaluate intended and unintended consequences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What were the intended and unintended effects of the Interstate Highway System?</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Eisenhower intended the highways to boost commerce and national defense. An unintended effect was that urban neighborhoods were sometimes divided by highway construction, harming minority communities.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In the sections, underline one intended effect and one unintended consequence of the Interstate Highway System.</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With a partner, discuss: was the Interstate Highway System a success or a mixed result? Use evidence from at least two sections.</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Eisenhower’s America — Highway System Costs and Benefits</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Eisenhower’s Federal-Aid Highway Act message, create a T-chart labeled BENEFITS and COSTS of the Interstate Highway System. For each column, list at least three items drawn from the sections. Then compare: did the polio vaccine and the highway system both show that government investment could solve national problems? Write a one-paragraph argument with evidence from both the highway sections and the polio vaccine section.</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T-chart with at least three benefits and three costs of the Interstate Highway System, AND a one-paragraph argument comparing government investment in highways and medicine.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T-chart with three benefits pre-filled; student adds costs and the connecting sentence only. Honors: Argue whether Eisenhower’s highway system was primarily a national-defense investment, an economic investment, or a social investment—use at least two pieces of evidence from the primary source and sections.</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cornell-notes/unit-8/us73-eisenhower-developments.pdf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US.73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Why was the Interstate Highway System significant for American life?</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connected the nation, boosted commerce, enabled suburban growth, and provided defense routes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made polio vaccines available at rest stops nationwide</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replaced all rail travel and eliminated the need for airports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was built only in the South and had little national impact</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US.73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Why was the Interstate Highway System significant for American life?</a:t>
            </a:r>
            <a:endParaRPr lang="en-US" sz="1500" dirty="0"/>
          </a:p>
        </p:txBody>
      </p:sp>
      <p:sp>
        <p:nvSpPr>
          <p:cNvPr id="9" name="Shape 7"/>
          <p:cNvSpPr/>
          <p:nvPr/>
        </p:nvSpPr>
        <p:spPr>
          <a:xfrm>
            <a:off x="548640" y="2651760"/>
            <a:ext cx="11064240" cy="566928"/>
          </a:xfrm>
          <a:prstGeom prst="roundRect">
            <a:avLst>
              <a:gd name="adj" fmla="val 9677"/>
            </a:avLst>
          </a:prstGeom>
          <a:solidFill>
            <a:srgbClr val="C9A84C"/>
          </a:solidFill>
          <a:ln w="12700">
            <a:solidFill>
              <a:srgbClr val="F9A825"/>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It connected the nation, boosted commerce, enabled suburban growth, and provided defense routes</a:t>
            </a:r>
            <a:endParaRPr lang="en-US" sz="1300" dirty="0"/>
          </a:p>
        </p:txBody>
      </p:sp>
      <p:sp>
        <p:nvSpPr>
          <p:cNvPr id="13" name="Text 11"/>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5" name="Shape 13"/>
          <p:cNvSpPr/>
          <p:nvPr/>
        </p:nvSpPr>
        <p:spPr>
          <a:xfrm>
            <a:off x="713232" y="3419856"/>
            <a:ext cx="347472" cy="347472"/>
          </a:xfrm>
          <a:prstGeom prst="ellipse">
            <a:avLst/>
          </a:prstGeom>
          <a:solidFill>
            <a:srgbClr val="1A2332"/>
          </a:solidFill>
          <a:ln/>
        </p:spPr>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made polio vaccines available at rest stops nationwide</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replaced all rail travel and eliminated the need for airports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was built only in the South and had little national impact</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Interstate Highway System was significant because it connected the country, sped up trade, supported defense, and made suburban commuting easier. B is wrong because vaccines were not distributed through highways. C is wrong because rail and air travel continued. D is wrong because it covered…</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US.73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Medical Breakthroughs: The Polio Vaccine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Interstate Highway System: Economic Effects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Interstate Highway System: Social Effects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Unintended Consequences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Argue: Eisenhower’s two greatest domestic achievements—the highway system and support for the polio vaccine—reveal what he believed the federal government’s proper role was. What was that role, and does the evidence support or challenge his stated warnings about government overreach?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Compare the polio vaccine and the Interstate Highway System. How did both demonstrate that government investment could transform American life—and what were the costs of each?</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US.74</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Automobile's Growing Influence</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0" name="Shape 18"/>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21" name="Text 19"/>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2" name="Text 20"/>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the growing influence of the automobile on American society, including the growth of suburbia, fast food chains, and the hotel industry.</a:t>
            </a:r>
            <a:endParaRPr lang="en-US" sz="1300" dirty="0"/>
          </a:p>
        </p:txBody>
      </p:sp>
      <p:sp>
        <p:nvSpPr>
          <p:cNvPr id="23" name="Shape 21"/>
          <p:cNvSpPr/>
          <p:nvPr/>
        </p:nvSpPr>
        <p:spPr>
          <a:xfrm>
            <a:off x="914400" y="5120640"/>
            <a:ext cx="10332720" cy="1188720"/>
          </a:xfrm>
          <a:prstGeom prst="roundRect">
            <a:avLst>
              <a:gd name="adj" fmla="val 6154"/>
            </a:avLst>
          </a:prstGeom>
          <a:solidFill>
            <a:srgbClr val="C9A84C"/>
          </a:solidFill>
          <a:ln/>
        </p:spPr>
      </p:sp>
      <p:sp>
        <p:nvSpPr>
          <p:cNvPr id="24" name="Text 22"/>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5" name="Text 23"/>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describe the growing influence of the automobile on American society, including the growth of suburbia, fast food chains, and the hotel industry.</a:t>
            </a:r>
            <a:endParaRPr lang="en-US" sz="135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US.74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US.73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the Interstate Highway System. How did Eisenhower’s highways directly enable the automobile culture we’re studying now?</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US.73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Eisenhower-era development made it physically possible for businesses like McDonald’s and Holiday Inn to expand across America?</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US.74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Name one industry that grew directly because of the automobile in the 1950s.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Fast food chains (like McDonald’s) or highway motels (like Holiday Inn) or suburban shopping malls (any one is correct).</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US.74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1950, fewer than half of American families owned a car; by 1960, the car was so central to daily life that businesses, homes, schools, and entire cities were redesigned around it.</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If you had to design a business specifically for a customer who never got out of their car, what would you build—and how does that thought experiment explain McDonald’s, Holiday Inn, and the shopping mall?</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Transforming American Daily Life</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Cars provided unprecedented personal mobility, allowing Americans to live farther from work, shop at distant locations, and pursue leisure activities across wider areas.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Family life became more mobile, dating patterns changed as teenagers gained independence, and the daily routine expanded beyond walking distance of home.</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The automobile changed American business and culture by creating ___ and encouraging Americans to ___.</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Connection to Suburban Growth</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Cars made suburban living practical by allowing workers to commute to city jobs while living in residential communities.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enabled the explosive growth of suburbs like Levittown, as families could live miles from their workplace.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Suburban homes were designed around cars, with garages, wide driveways, and streets built for automobile traffic rather than pedestrians.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Fast Food and Hospitality Industries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automobile created entirely new industries.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McDonald’s, founded as a franchise by Ray Kroc in 1955, pioneered drive-through service for car customers.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Holiday Inn, founded in 1952, developed standardized motels along highways for automobile travelers.</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These businesses located along highways and in suburbs, catering to car-dependent customers who wanted quick, convenient service.</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8-full/img/drive-in-restaurant-carhops-automobiles-1970s-1975.jpg">    </p:cNvPr>
          <p:cNvPicPr>
            <a:picLocks noChangeAspect="1"/>
          </p:cNvPicPr>
          <p:nvPr/>
        </p:nvPicPr>
        <p:blipFill>
          <a:blip r:embed="rId1"/>
          <a:stretch>
            <a:fillRect/>
          </a:stretch>
        </p:blipFill>
        <p:spPr>
          <a:xfrm>
            <a:off x="7589520" y="2165610"/>
            <a:ext cx="4069080" cy="2737092"/>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Environmental Protection Agency / U.S. Federal Government, c. 1970–1975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Broader Social Changes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Automobile culture transformed social patterns beyond transportation.</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Drive-in movies, drive-through restaurants, and shopping malls with large parking lots all centered on car culture.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Teenagers gained new independence through car ownership.</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However, automobile dependence also contributed to urban decay, air pollution, and the decline of public transportation systems.</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8-full/img/holiday-inn-postcard-allentown-pennsylvania-1957.jpg">    </p:cNvPr>
          <p:cNvPicPr>
            <a:picLocks noChangeAspect="1"/>
          </p:cNvPicPr>
          <p:nvPr/>
        </p:nvPicPr>
        <p:blipFill>
          <a:blip r:embed="rId1"/>
          <a:stretch>
            <a:fillRect/>
          </a:stretch>
        </p:blipFill>
        <p:spPr>
          <a:xfrm>
            <a:off x="7589520" y="2245084"/>
            <a:ext cx="4069080" cy="2578144"/>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Unknown, 1957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US.74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McDonald’s Franchise Advertisement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Corroboration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McDonald’s Corporation  ·  1955</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"Join the McDonald’s System! Our revolutionary Speedee Service System serves customers in their automobiles in seconds, not minutes. Located on busy highways, our golden arches attract families on the go. Low prices, consistent quality, and fast service—the formula for success in the age of the automobile."</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After World War II, fast food chains like McDonald’s transformed the American food industry and consumer culture. Ray Kroc began franchising McDonald’s in 1954, and by the late 1950s the golden arches were appearing across America. The franchise model—where individuals could buy the right to operate a standardized restaurant using a proven formula—became a defining feature of American capitalism and the expanding consumer economy of the 1950s.</a:t>
            </a:r>
            <a:endParaRPr lang="en-US" sz="9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How does this advertisement show the connection between automobiles and fast food chains?</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McDonald’s Corporation</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1955</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60</a:t>
            </a:r>
            <a:endParaRPr lang="en-US" sz="900" dirty="0"/>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US.74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Suburban Ideal</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suh-BER-bin</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Ideal Suburbano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SI</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1950s American dream of owning a single-family home in the suburbs with a yard, garage, and modern appliances, drawing families out of cities.</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Interstate Highway System</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IN-ter-stayt HY-way</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Sistema de Autopistas Interestatales</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IH</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Massive 41,000-mile highway network authorized by President Eisenhower in 1956 that transformed American travel, commerce, and settlement patterns.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Automobile Culture</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AW-tuh-moh-beel</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Cultura del Automóvil</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AC</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1950s lifestyle centered on cars, which symbolized freedom and prosperity, reshaping cities, suburbs, and daily life across America.</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Fast Food Chains</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fast food</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Cadenas de Comida Rápida</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FF</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Restaurant businesses like McDonald’s that used assembly-line prep and drive-through service to feed automobile travelers quickly and cheaply.</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Motel/Hotel Chains</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moh-TEL</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Cadenas de Moteles/Hoteles</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MH</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Standardized roadside lodging like Holiday Inn, founded 1952, built along highways to serve automobile travelers with predictable quality and amenities.</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Levittown</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LEV-it-town</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Levittown</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LE</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first mass-produced suburb, built by William Levitt on Long Island starting in 1947 using assembly-line techniques to build homes quickly and cheaply.</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US.74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Suburban Ideal</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suh-BER-bin</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Ideal Suburbano</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SI</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1950s American dream of owning a single-family home in the suburbs with a yard, garage, and modern appliances, drawing families out of cities.</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Interstate Highway System</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IN-ter-stayt HY-way</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Sistema de Autopistas Interestatales</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IH</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Massive 41,000-mile highway network authorized by President Eisenhower in 1956 that transformed American travel, commerce, and settlement patterns.</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Automobile Culture</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AW-tuh-moh-beel</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Cultura del Automóvil</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AC</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1950s lifestyle centered on cars, which symbolized freedom and prosperity, reshaping cities, suburbs, and daily life across America.</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Fast Food Chains</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fast food</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Cadenas de Comida Rápida</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FF</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Restaurant businesses like McDonald’s that used assembly-line prep and drive-through service to feed automobile travelers quickly and cheaply.</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Motel/Hotel Chains</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moh-TEL</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Cadenas de Moteles/Hoteles</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MH</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Standardized roadside lodging like Holiday Inn, founded 1952, built along highways to serve automobile travelers with predictable quality and amenities.</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Levittown</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LEV-it-town</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Levittown</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LE</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first mass-produced suburb, built by William Levitt on Long Island starting in 1947 using assembly-line techniques to build homes quickly and cheaply.</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US.74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Corroborate evidence from two sources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do the McDonald’s advertisement and the Holiday Inn franchise history both show that the automobile created new American industries?</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Both sources show businesses specifically designed for car travelers: McDonald’s puts its restaurants on highways and serves customers in their cars, while Holiday Inn builds standardized motels along major roads for automobile tourists.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Underline one phrase in each source that proves the business was built for car culture, not for pedestrians.</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With a partner, write one sentence that uses both sources to corroborate the claim: the automobile created entirely new American industries.</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US.74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Automobile Economy — Drive-In America Business Case Study</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McDonald’s franchise advertisement, analyze how the automobile created three new American industries: fast food, highway motels, and suburban shopping. For each industry, identify (a) the automobile-related need it met, (b) one specific company or example from the sections, and (c) one broader social effect. Then corroborate: how does the McDonald’s advertisement confirm what the Holiday Inn historical context says about automobile culture reshaping American business?</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Three-industry analysis chart (fast food / motels / suburban shopping, each with need + example + social effect) AND one corroboration sentence connecting the McDonald’s ad to Holiday Inn evidence.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Chart with industry names and one column (automobile need) pre-filled for one industry; student completes the rest. Honors: Argue whether automobile culture’s economic benefits outweighed its social costs (urban decay, air pollution, decline of public transit)—use evidence from at least three different sections.</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cornell-notes/unit-8/us74-automobile-influence.pdf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US.74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the automobile transform American business and culture in the 1950s?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reduced consumer spending because families saved money on transit</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eliminated the need for any new road construction across the nation</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created fast food chains, motels, shopping centers, and drive-ins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primarily benefited the railroad industry by increasing train travel</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US.74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the automobile transform American business and culture in the 1950s?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reduced consumer spending because families saved money on transit</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eliminated the need for any new road construction across the nation</a:t>
            </a:r>
            <a:endParaRPr lang="en-US" sz="1300" dirty="0"/>
          </a:p>
        </p:txBody>
      </p:sp>
      <p:sp>
        <p:nvSpPr>
          <p:cNvPr id="17" name="Shape 15"/>
          <p:cNvSpPr/>
          <p:nvPr/>
        </p:nvSpPr>
        <p:spPr>
          <a:xfrm>
            <a:off x="548640" y="3968496"/>
            <a:ext cx="11064240" cy="566928"/>
          </a:xfrm>
          <a:prstGeom prst="roundRect">
            <a:avLst>
              <a:gd name="adj" fmla="val 9677"/>
            </a:avLst>
          </a:prstGeom>
          <a:solidFill>
            <a:srgbClr val="C9A84C"/>
          </a:solidFill>
          <a:ln w="12700">
            <a:solidFill>
              <a:srgbClr val="F9A825"/>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It created fast food chains, motels, shopping centers, and drive-ins</a:t>
            </a:r>
            <a:endParaRPr lang="en-US" sz="1300" dirty="0"/>
          </a:p>
        </p:txBody>
      </p:sp>
      <p:sp>
        <p:nvSpPr>
          <p:cNvPr id="21" name="Text 19"/>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primarily benefited the railroad industry by increasing train travel</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Automobiles transformed business and culture by encouraging fast-food chains, motels, shopping centers, and drive-in theaters. A is wrong because cars increased consumer spending instead of reducing it, and D is wrong because they did not mainly revive railroad travel. A car-centered economy became…</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US.74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Transforming American Daily Life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Connection to Suburban Growth</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Fast Food and Hospitality Industries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Broader Social Changes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Argue: automobile culture’s negative effects (urban decay, air pollution, decline of public transit, social isolation) outweighed its economic benefits to American society. Use evidence from at least two sections and acknowledge the strongest counterargument.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the automobile created two entirely new American industries, using specific evidence from the primary sources or sections.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US.75</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Television and Mass Media Impact</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SSP.03</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Analyze the increasing impact of television and mass media on the American home, politics, and economy.</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84C"/>
          </a:solidFill>
          <a:ln/>
        </p:spPr>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A2332"/>
                </a:solidFill>
                <a:latin typeface="Calibri" pitchFamily="34" charset="0"/>
                <a:ea typeface="Calibri" pitchFamily="34" charset="-122"/>
                <a:cs typeface="Calibri" pitchFamily="34" charset="-120"/>
              </a:rPr>
              <a:t>I can analyze the increasing impact of television and mass media on the American home, politics, and economy.</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US.75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US.74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automobile culture. How did rising prosperity and consumer culture in the 1950s create the conditions for television to become dominant?</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US.74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Name one similarity between how automobiles and televisions each reshaped American home design and family life.</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US.75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was the name of the 1960 presidential debate that showed television’s power in politics?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The Kennedy-Nixon debate (first televised presidential debate).</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US.75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1950, only 9% of American homes had a television; by 1960, that number was 90%—and the way Americans got information, chose their leaders, and spent their evenings had changed forever.</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When radio listeners thought Nixon won the 1960 presidential debate but television viewers thought Kennedy won, what does that tell us about what democracy looks like in the age of television?</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Television Changes Family Life</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Television became the center of family entertainment, replacing radio and reducing movie attendance.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Families scheduled activities around TV programs, shared common cultural experiences through popular shows, and spent more time at home.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TV also influenced home design, with living rooms arranged around television sets.</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Television changed American homes by ___, and it changed politics by making ___ as important as a candidate’s ideas.</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8-full/img/american-family-gathered-around-television-1958.jpg">    </p:cNvPr>
          <p:cNvPicPr>
            <a:picLocks noChangeAspect="1"/>
          </p:cNvPicPr>
          <p:nvPr/>
        </p:nvPicPr>
        <p:blipFill>
          <a:blip r:embed="rId1"/>
          <a:stretch>
            <a:fillRect/>
          </a:stretch>
        </p:blipFill>
        <p:spPr>
          <a:xfrm>
            <a:off x="8164517" y="1783080"/>
            <a:ext cx="2919085"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Evert F. Baumgardner / National Archives, c. 1958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Television and Politics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Television transformed politics by emphasizing candidates’ appearance and communication skills.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1960 Kennedy-Nixon debates showed TV’s power—radio listeners thought Nixon won, but TV viewers favored the telegenic Kennedy.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Politicians had to adapt their message and image for the visual medium.</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Advertising and Consumer Culture</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Television advertising created a powerful new marketing tool that could reach millions of households simultaneously.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Commercials shaped consumer desires, created brand awareness, and drove purchasing decisions.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Companies invested heavily in TV advertising, making it the dominant advertising medium by the late 1950s.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Cultural Homogenization</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Television created shared national experiences as Americans across the country watched the same programs.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promoted cultural homogenization—similar values, consumer preferences, and entertainment tastes spread nationwide.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However, critics argued TV content was often shallow and promoted conformity.</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US.75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Television and the 1960 Election</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Theodore White, journalist  ·  1961</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"Those who heard the debates on radio thought Nixon had won. But those who watched on television thought Kennedy had won. Nixon, recovering from illness, appeared pale, tired, and sweating under the studio lights. Kennedy, tanned and rested, projected youth, vigor, and confidence. Television had changed American politics forever."</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The 1960 presidential election between John F. Kennedy and Richard Nixon was the first to feature televised debates, and it demonstrated television’s transformative power in politics. By 1960, approximately 90% of American homes had televisions. Theodore White’s account in his landmark book “The Making of the President 1960” became the definitive record of how TV altered American electoral politics.</a:t>
            </a:r>
            <a:endParaRPr lang="en-US" sz="10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According to this source, how did television change American politics?</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Theodore White, journalist</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1961</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John F. Kennedy Presidential Library</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75</a:t>
            </a:r>
            <a:endParaRPr lang="en-US" sz="900" dirty="0"/>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US.75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Television</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TEL-uh-vizh-un</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Televisión</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TE</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electronic medium that became the dominant form of American entertainment and information by the late 1950s, creating shared national experiences.</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Mass Media</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mas MEE-dee-uh</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Medios Masivos</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MM</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Communication channels—TV, radio, newspapers, magazines—that reach large audiences at once; in the 1950s television became the most powerful medium.</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Advertising</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AD-ver-ty-zing</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Publicidad</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AD</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rapidly growing 1950s industry that used television to shape consumer desires and sell products to mass audiences.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Consumer Culture</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kun-SOO-mer</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Cultura de Consumo</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CC</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society centered on buying goods; 1950s television and advertising encouraged Americans to define success through purchases.</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Cultural Homogenization</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huh-mah-jen-ih-ZAY-shun</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Homogeneización Cultural</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CH</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way national television gave Americans shared programs, products, and values, making regional cultures more alike.</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Nixon–Kennedy Debates</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NIK-sun KEN-eh-dee</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Debates Nixon–Kennedy</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NK</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first televised presidential debates (1960), which showed television's new power to shape politics and public opinion.</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US.75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Television</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TEL-uh-vizh-un</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Televisión</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TE</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electronic medium that became the dominant form of American entertainment and information by the late 1950s, creating shared national experiences.</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Mass Media</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mas MEE-dee-uh</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Medios Masivos</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MM</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Communication channels—TV, radio, newspapers, magazines—that reach large audiences at once; in the 1950s television became the most powerful medium.</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Advertising</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AD-ver-ty-zing</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Publicidad</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AD</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rapidly growing 1950s industry that used television to shape consumer desires and sell products to mass audiences.</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Consumer Culture</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kun-SOO-mer</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Cultura de Consumo</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CC</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society centered on buying goods; 1950s television and advertising encouraged Americans to define success through purchases.</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Cultural Homogenization</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huh-mah-jen-ih-ZAY-shun</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Homogeneización Cultural</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CH</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way national television gave Americans shared programs, products, and values, making regional cultures more alike.</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Nixon–Kennedy Debates</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NIK-sun KEN-eh-dee</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Debates Nixon–Kennedy</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NK</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first televised presidential debates (1960), which showed television's new power to shape politics and public opinion.</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US.75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Compare impacts across two domains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did television change both American family life and American politics in different ways?</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Television changed family life by becoming the center of home entertainment and reshaping the living room. It changed politics by making candidates’ appearance and communication skills as important as their ideas, as seen in the 1960 Kennedy-Nixon debates.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In the sections, underline one sentence about TV’s effect on families and one sentence about its effect on politics.</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With a partner, rank television’s three biggest effects on American society and defend your top choice with a specific example from the sections.</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US.75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Television’s Triple Impact — Home, Politics, and Economy</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Theodore White’s account of the 1960 debates, analyze television’s impact across three arenas: HOME, POLITICS, and ECONOMY. For each arena, write two sentences—one describing what changed and one citing specific evidence from the sections or primary source. Then argue: was television’s greatest impact on American families, politics, or the economy? Back your claim with evidence.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Three-arena analysis (home / politics / economy, two sentences each) AND a one-sentence claim identifying television’s greatest impact with supporting evidence.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Arena chart with sentence starters provided (“Television changed home life by...”; “Television changed politics by...”; “Television changed the economy by...”). Honors: Extend the argument—if the 1960 Kennedy-Nixon debate was the first to use television, what does that suggest about the role of media image in democracy? Is that a positive or negative development? Use White’s account as evidence.</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cornell-notes/unit-8/us75-television-mass-media.pdf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US.75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television impact American politics during the 1950s and early 1960s?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combined audio and visuals to influence consumer preferences at scale</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Televised debates and news coverage transformed how voters chose leaders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TV advertising created national demand for products and shaped consumer desires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TV became the center of family entertainment and a source of news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US.75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television impact American politics during the 1950s and early 1960s?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combined audio and visuals to influence consumer preferences at scale</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84C"/>
          </a:solidFill>
          <a:ln w="12700">
            <a:solidFill>
              <a:srgbClr val="F9A825"/>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Televised debates and news coverage transformed how voters chose leaders</a:t>
            </a:r>
            <a:endParaRPr lang="en-US" sz="1300" dirty="0"/>
          </a:p>
        </p:txBody>
      </p:sp>
      <p:sp>
        <p:nvSpPr>
          <p:cNvPr id="17" name="Text 15"/>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9" name="Shape 17"/>
          <p:cNvSpPr/>
          <p:nvPr/>
        </p:nvSpPr>
        <p:spPr>
          <a:xfrm>
            <a:off x="713232" y="4078224"/>
            <a:ext cx="347472" cy="347472"/>
          </a:xfrm>
          <a:prstGeom prst="ellipse">
            <a:avLst/>
          </a:prstGeom>
          <a:solidFill>
            <a:srgbClr val="1A2332"/>
          </a:solidFill>
          <a:ln/>
        </p:spPr>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TV advertising created national demand for products and shaped consumer desires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sp>
      <p:sp>
        <p:nvSpPr>
          <p:cNvPr id="23" name="Shape 21"/>
          <p:cNvSpPr/>
          <p:nvPr/>
        </p:nvSpPr>
        <p:spPr>
          <a:xfrm>
            <a:off x="713232" y="4736592"/>
            <a:ext cx="347472" cy="347472"/>
          </a:xfrm>
          <a:prstGeom prst="ellipse">
            <a:avLst/>
          </a:prstGeom>
          <a:solidFill>
            <a:srgbClr val="1A2332"/>
          </a:solidFill>
          <a:ln/>
        </p:spPr>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TV became the center of family entertainment and a source of news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Televised debates and news changed politics by making image, speaking style, and camera presence matter more to voters. A and C describe TV’s economic impact, not its political impact. D describes TV’s cultural role at home, not its effect on elections specifically.</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US.75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Television Changes Family Life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Television and Politics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Advertising and Consumer Culture</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Cultural Homogenization</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Argue: television’s influence on democracy is ultimately harmful because it prioritizes image over substance. Use White’s account as evidence for your argument, and address the strongest counterargument (that TV also educated and informed voters).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Using Theodore White’s account of the 1960 debates, explain how television changed the criteria voters used to evaluate presidential candidates.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US.76</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Youth Culture and Tennessee Music</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0" name="Shape 18"/>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21" name="Text 19"/>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2" name="Text 20"/>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150" dirty="0">
                <a:solidFill>
                  <a:srgbClr val="FFFFFF"/>
                </a:solidFill>
                <a:latin typeface="Calibri" pitchFamily="34" charset="0"/>
                <a:ea typeface="Calibri" pitchFamily="34" charset="-122"/>
                <a:cs typeface="Calibri" pitchFamily="34" charset="-120"/>
              </a:rPr>
              <a:t>Describe the emergence of a youth culture, including beatniks and the progression of popular music (from swing to rhythm and blues to rock ’n’ roll), and the impact of Tennessee on the music industry, including the influence of B.B. King, Elvis Presley, Stax Records, and Sun Studio. (TCA)</a:t>
            </a:r>
            <a:endParaRPr lang="en-US" sz="1150" dirty="0"/>
          </a:p>
        </p:txBody>
      </p:sp>
      <p:sp>
        <p:nvSpPr>
          <p:cNvPr id="23" name="Shape 21"/>
          <p:cNvSpPr/>
          <p:nvPr/>
        </p:nvSpPr>
        <p:spPr>
          <a:xfrm>
            <a:off x="914400" y="5120640"/>
            <a:ext cx="10332720" cy="1188720"/>
          </a:xfrm>
          <a:prstGeom prst="roundRect">
            <a:avLst>
              <a:gd name="adj" fmla="val 6154"/>
            </a:avLst>
          </a:prstGeom>
          <a:solidFill>
            <a:srgbClr val="C9A84C"/>
          </a:solidFill>
          <a:ln/>
        </p:spPr>
      </p:sp>
      <p:sp>
        <p:nvSpPr>
          <p:cNvPr id="24" name="Text 22"/>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5" name="Text 23"/>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A2332"/>
                </a:solidFill>
                <a:latin typeface="Calibri" pitchFamily="34" charset="0"/>
                <a:ea typeface="Calibri" pitchFamily="34" charset="-122"/>
                <a:cs typeface="Calibri" pitchFamily="34" charset="-120"/>
              </a:rPr>
              <a:t>I can describe the emergence of a youth culture, including beatniks and the progression of popular music, and the impact of Tennessee on the music industry, including B.B. King, Elvis Presley, Stax Records, and Sun Studio.</a:t>
            </a:r>
            <a:endParaRPr lang="en-US" sz="115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US.75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television’s impact. How did television help spread youth culture and music like rock ’n’ roll to a national audience?</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US.75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How did mass media’s ability to create shared national experiences connect to the rise of a distinct youth culture in the 1950s?</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Name the Memphis recording studio where Elvis Presley recorded his first single.</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Sun Studio (also accepted: Sun Records).</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the mid-1950s, a young truck driver from Tupelo, Mississippi walked into a small Memphis recording studio and recorded a song that blended Black rhythm and blues with white country music—and nothing in American culture was ever the same.</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If music was one of the first places in 1950s America where Black and white traditions crossed over and blended together, what does that tell us about the power of culture to challenge segregation before the courts and laws did?</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Beat Generation</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Beatniks rejected 1950s conformity, materialism, and conventional career paths.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They embraced artistic expression, questioned authority, experimented with alternative lifestyles, and criticized suburban conformity.</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Writers like Jack Kerouac and Allen Ginsberg became cultural icons.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laid groundwork for 1960s counterculture movements.</a:t>
            </a:r>
            <a:endParaRPr lang="en-US" sz="1700" dirty="0"/>
          </a:p>
        </p:txBody>
      </p:sp>
      <p:sp>
        <p:nvSpPr>
          <p:cNvPr id="12" name="Shape 10"/>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Tennessee’s Sun Studio and Stax Records were important because they ___, which helped ___ in 1950s America.</a:t>
            </a:r>
            <a:endParaRPr lang="en-US" sz="1150" dirty="0"/>
          </a:p>
        </p:txBody>
      </p:sp>
      <p:sp>
        <p:nvSpPr>
          <p:cNvPr id="16"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7"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Tennessee’s Central Role in Music</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6766560" cy="26974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Tennessee, particularly Memphis and Nashville, became crucial to American popular music because of: Sun Studio’s role in developing rock ’n’ roll, Stax Records promoting rhythm and blues, the convergence of African American and white musical traditions, and artists like Elvis Presley and B.B. King who crossed racial boundaries in music.</a:t>
            </a:r>
            <a:endParaRPr lang="en-US" sz="13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8-full/img/b-b-king-bill-harvey.jpg">    </p:cNvPr>
          <p:cNvPicPr>
            <a:picLocks noChangeAspect="1"/>
          </p:cNvPicPr>
          <p:nvPr/>
        </p:nvPicPr>
        <p:blipFill>
          <a:blip r:embed="rId1"/>
          <a:stretch>
            <a:fillRect/>
          </a:stretch>
        </p:blipFill>
        <p:spPr>
          <a:xfrm>
            <a:off x="8290572" y="1783080"/>
            <a:ext cx="2666976" cy="3502152"/>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Unknown, 1950s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5" name="Shape 12"/>
          <p:cNvSpPr/>
          <p:nvPr/>
        </p:nvSpPr>
        <p:spPr>
          <a:xfrm>
            <a:off x="548640" y="4709160"/>
            <a:ext cx="6766560" cy="1143000"/>
          </a:xfrm>
          <a:prstGeom prst="roundRect">
            <a:avLst>
              <a:gd name="adj" fmla="val 6400"/>
            </a:avLst>
          </a:prstGeom>
          <a:solidFill>
            <a:srgbClr val="FBEFD0"/>
          </a:solidFill>
          <a:ln w="19050">
            <a:solidFill>
              <a:srgbClr val="C9A84C"/>
            </a:solidFill>
            <a:prstDash val="solid"/>
          </a:ln>
        </p:spPr>
      </p:sp>
      <p:sp>
        <p:nvSpPr>
          <p:cNvPr id="16" name="Text 13"/>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7" name="Text 14"/>
          <p:cNvSpPr/>
          <p:nvPr/>
        </p:nvSpPr>
        <p:spPr>
          <a:xfrm>
            <a:off x="868680" y="5120640"/>
            <a:ext cx="6126480" cy="685800"/>
          </a:xfrm>
          <a:prstGeom prst="rect">
            <a:avLst/>
          </a:prstGeom>
          <a:noFill/>
          <a:ln/>
        </p:spPr>
        <p:txBody>
          <a:bodyPr wrap="square" rtlCol="0" anchor="t"/>
          <a:lstStyle/>
          <a:p>
            <a:pPr indent="0" marL="0">
              <a:lnSpc>
                <a:spcPct val="105000"/>
              </a:lnSpc>
              <a:buNone/>
            </a:pPr>
            <a:endParaRPr lang="en-US" sz="130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Breaking Racial Barriers Through Music</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6766560" cy="26974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Artists like Elvis Presley, who recorded at Sun Studio in Memphis, brought African American musical styles to white audiences.</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B.B. King and other blues artists at Stax Records gained crossover appeal.</a:t>
            </a:r>
            <a:endParaRPr lang="en-US" sz="1350" dirty="0"/>
          </a:p>
          <a:p>
            <a:pPr marL="228600" indent="-228600">
              <a:lnSpc>
                <a:spcPct val="110000"/>
              </a:lnSpc>
              <a:spcAft>
                <a:spcPts val="900"/>
              </a:spcAft>
              <a:buSzPct val="100000"/>
              <a:buChar char="•"/>
            </a:pPr>
            <a:r>
              <a:rPr lang="en-US" sz="1350" dirty="0">
                <a:solidFill>
                  <a:srgbClr val="1F2430"/>
                </a:solidFill>
                <a:latin typeface="Calibri" pitchFamily="34" charset="0"/>
                <a:ea typeface="Calibri" pitchFamily="34" charset="-122"/>
                <a:cs typeface="Calibri" pitchFamily="34" charset="-120"/>
              </a:rPr>
              <a:t>Music became one of the first areas where racial integration occurred naturally, challenging segregation through shared cultural experiences.</a:t>
            </a:r>
            <a:endParaRPr lang="en-US" sz="13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8-full/img/elvis-presley-sworn-u-s-1958.jpg">    </p:cNvPr>
          <p:cNvPicPr>
            <a:picLocks noChangeAspect="1"/>
          </p:cNvPicPr>
          <p:nvPr/>
        </p:nvPicPr>
        <p:blipFill>
          <a:blip r:embed="rId1"/>
          <a:stretch>
            <a:fillRect/>
          </a:stretch>
        </p:blipFill>
        <p:spPr>
          <a:xfrm>
            <a:off x="7589520" y="2003384"/>
            <a:ext cx="4069080" cy="3061545"/>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Associated Press / Standard-Sentinel, March 25, 1958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5" name="Shape 12"/>
          <p:cNvSpPr/>
          <p:nvPr/>
        </p:nvSpPr>
        <p:spPr>
          <a:xfrm>
            <a:off x="548640" y="4709160"/>
            <a:ext cx="6766560" cy="1143000"/>
          </a:xfrm>
          <a:prstGeom prst="roundRect">
            <a:avLst>
              <a:gd name="adj" fmla="val 6400"/>
            </a:avLst>
          </a:prstGeom>
          <a:solidFill>
            <a:srgbClr val="FBEFD0"/>
          </a:solidFill>
          <a:ln w="19050">
            <a:solidFill>
              <a:srgbClr val="C9A84C"/>
            </a:solidFill>
            <a:prstDash val="solid"/>
          </a:ln>
        </p:spPr>
      </p:sp>
      <p:sp>
        <p:nvSpPr>
          <p:cNvPr id="16" name="Text 13"/>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7" name="Text 14"/>
          <p:cNvSpPr/>
          <p:nvPr/>
        </p:nvSpPr>
        <p:spPr>
          <a:xfrm>
            <a:off x="868680" y="5120640"/>
            <a:ext cx="6126480" cy="685800"/>
          </a:xfrm>
          <a:prstGeom prst="rect">
            <a:avLst/>
          </a:prstGeom>
          <a:noFill/>
          <a:ln/>
        </p:spPr>
        <p:txBody>
          <a:bodyPr wrap="square" rtlCol="0" anchor="t"/>
          <a:lstStyle/>
          <a:p>
            <a:pPr indent="0" marL="0">
              <a:lnSpc>
                <a:spcPct val="105000"/>
              </a:lnSpc>
              <a:buNone/>
            </a:pPr>
            <a:endParaRPr lang="en-US" sz="130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Sun Studio and Stax Records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26974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21945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Sun Studio, founded by Sam Phillips in Memphis, recorded Elvis Presley, Johnny Cash, Jerry Lee Lewis, and Carl Perkins—creating rock ’n’ roll.</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Stax Records, also in Memphis, produced soul music with artists like Otis Redding and Booker T. &amp; the M.G.’s.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These Tennessee institutions shaped American music history.</a:t>
            </a:r>
            <a:endParaRPr lang="en-US" sz="1700" dirty="0"/>
          </a:p>
        </p:txBody>
      </p:sp>
      <p:sp>
        <p:nvSpPr>
          <p:cNvPr id="12" name="Shape 10"/>
          <p:cNvSpPr/>
          <p:nvPr/>
        </p:nvSpPr>
        <p:spPr>
          <a:xfrm>
            <a:off x="548640" y="4709160"/>
            <a:ext cx="11064240" cy="1143000"/>
          </a:xfrm>
          <a:prstGeom prst="roundRect">
            <a:avLst>
              <a:gd name="adj" fmla="val 6400"/>
            </a:avLst>
          </a:prstGeom>
          <a:solidFill>
            <a:srgbClr val="FBEFD0"/>
          </a:solidFill>
          <a:ln w="19050">
            <a:solidFill>
              <a:srgbClr val="C9A84C"/>
            </a:solidFill>
            <a:prstDash val="solid"/>
          </a:ln>
        </p:spPr>
      </p:sp>
      <p:sp>
        <p:nvSpPr>
          <p:cNvPr id="13" name="Text 11"/>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C62828"/>
                </a:solidFill>
                <a:latin typeface="Trebuchet MS" pitchFamily="34" charset="0"/>
                <a:ea typeface="Trebuchet MS" pitchFamily="34" charset="-122"/>
                <a:cs typeface="Trebuchet MS" pitchFamily="34" charset="-120"/>
              </a:rPr>
              <a:t>★ TENNESSEE CONNECTION</a:t>
            </a:r>
            <a:endParaRPr lang="en-US" sz="1200" dirty="0"/>
          </a:p>
        </p:txBody>
      </p:sp>
      <p:sp>
        <p:nvSpPr>
          <p:cNvPr id="14" name="Text 12"/>
          <p:cNvSpPr/>
          <p:nvPr/>
        </p:nvSpPr>
        <p:spPr>
          <a:xfrm>
            <a:off x="868680" y="5120640"/>
            <a:ext cx="10424160" cy="685800"/>
          </a:xfrm>
          <a:prstGeom prst="rect">
            <a:avLst/>
          </a:prstGeom>
          <a:noFill/>
          <a:ln/>
        </p:spPr>
        <p:txBody>
          <a:bodyPr wrap="square" rtlCol="0" anchor="t"/>
          <a:lstStyle/>
          <a:p>
            <a:pPr indent="0" marL="0">
              <a:lnSpc>
                <a:spcPct val="105000"/>
              </a:lnSpc>
              <a:buNone/>
            </a:pPr>
            <a:endParaRPr lang="en-US" sz="1300" dirty="0"/>
          </a:p>
        </p:txBody>
      </p:sp>
      <p:sp>
        <p:nvSpPr>
          <p:cNvPr id="15" name="Text 13"/>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4"/>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3505200" cy="4114800"/>
          </a:xfrm>
          <a:prstGeom prst="rect">
            <a:avLst/>
          </a:prstGeom>
          <a:solidFill>
            <a:srgbClr val="FFFFFF"/>
          </a:solidFill>
          <a:ln w="12700">
            <a:solidFill>
              <a:srgbClr val="DAD3C2"/>
            </a:solidFill>
            <a:prstDash val="solid"/>
          </a:ln>
        </p:spPr>
      </p:sp>
      <p:sp>
        <p:nvSpPr>
          <p:cNvPr id="6" name="Shape 4"/>
          <p:cNvSpPr/>
          <p:nvPr/>
        </p:nvSpPr>
        <p:spPr>
          <a:xfrm>
            <a:off x="548640" y="1627632"/>
            <a:ext cx="3505200" cy="868680"/>
          </a:xfrm>
          <a:prstGeom prst="rect">
            <a:avLst/>
          </a:prstGeom>
          <a:solidFill>
            <a:srgbClr val="1A2332"/>
          </a:solidFill>
          <a:ln/>
        </p:spPr>
      </p:sp>
      <p:sp>
        <p:nvSpPr>
          <p:cNvPr id="7" name="Text 5"/>
          <p:cNvSpPr/>
          <p:nvPr/>
        </p:nvSpPr>
        <p:spPr>
          <a:xfrm>
            <a:off x="667512" y="1627632"/>
            <a:ext cx="3267456" cy="63093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Elvis Presley</a:t>
            </a:r>
            <a:endParaRPr lang="en-US" sz="1600" dirty="0"/>
          </a:p>
        </p:txBody>
      </p:sp>
      <p:sp>
        <p:nvSpPr>
          <p:cNvPr id="8" name="Text 6"/>
          <p:cNvSpPr/>
          <p:nvPr/>
        </p:nvSpPr>
        <p:spPr>
          <a:xfrm>
            <a:off x="667512" y="2221992"/>
            <a:ext cx="326745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King of Rock ’n’ Roll</a:t>
            </a:r>
            <a:endParaRPr lang="en-US" sz="1100" dirty="0"/>
          </a:p>
        </p:txBody>
      </p:sp>
      <p:sp>
        <p:nvSpPr>
          <p:cNvPr id="9" name="Text 7"/>
          <p:cNvSpPr/>
          <p:nvPr/>
        </p:nvSpPr>
        <p:spPr>
          <a:xfrm>
            <a:off x="694944" y="2606040"/>
            <a:ext cx="321259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Recorded at Sun Studio in Memphis, combining country and blues</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Brought African American musical styles to white audiences</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Became the cultural symbol of 1950s youth rebellion</a:t>
            </a:r>
            <a:endParaRPr lang="en-US" sz="1200" dirty="0"/>
          </a:p>
        </p:txBody>
      </p:sp>
      <p:sp>
        <p:nvSpPr>
          <p:cNvPr id="10" name="Shape 8"/>
          <p:cNvSpPr/>
          <p:nvPr/>
        </p:nvSpPr>
        <p:spPr>
          <a:xfrm>
            <a:off x="667512" y="5148072"/>
            <a:ext cx="326745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312115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Elvis to show how music crossed racial boundaries before laws did.</a:t>
            </a:r>
            <a:endParaRPr lang="en-US" sz="800" dirty="0"/>
          </a:p>
        </p:txBody>
      </p:sp>
      <p:sp>
        <p:nvSpPr>
          <p:cNvPr id="12" name="Shape 10"/>
          <p:cNvSpPr/>
          <p:nvPr/>
        </p:nvSpPr>
        <p:spPr>
          <a:xfrm>
            <a:off x="4328160" y="1627632"/>
            <a:ext cx="3505200" cy="4114800"/>
          </a:xfrm>
          <a:prstGeom prst="rect">
            <a:avLst/>
          </a:prstGeom>
          <a:solidFill>
            <a:srgbClr val="FFFFFF"/>
          </a:solidFill>
          <a:ln w="12700">
            <a:solidFill>
              <a:srgbClr val="DAD3C2"/>
            </a:solidFill>
            <a:prstDash val="solid"/>
          </a:ln>
        </p:spPr>
      </p:sp>
      <p:sp>
        <p:nvSpPr>
          <p:cNvPr id="13" name="Shape 11"/>
          <p:cNvSpPr/>
          <p:nvPr/>
        </p:nvSpPr>
        <p:spPr>
          <a:xfrm>
            <a:off x="4328160" y="1627632"/>
            <a:ext cx="3505200" cy="868680"/>
          </a:xfrm>
          <a:prstGeom prst="rect">
            <a:avLst/>
          </a:prstGeom>
          <a:solidFill>
            <a:srgbClr val="1A2332"/>
          </a:solidFill>
          <a:ln/>
        </p:spPr>
      </p:sp>
      <p:sp>
        <p:nvSpPr>
          <p:cNvPr id="14" name="Text 12"/>
          <p:cNvSpPr/>
          <p:nvPr/>
        </p:nvSpPr>
        <p:spPr>
          <a:xfrm>
            <a:off x="4447032" y="1627632"/>
            <a:ext cx="3267456" cy="63093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B.B. King</a:t>
            </a:r>
            <a:endParaRPr lang="en-US" sz="1600" dirty="0"/>
          </a:p>
        </p:txBody>
      </p:sp>
      <p:sp>
        <p:nvSpPr>
          <p:cNvPr id="15" name="Text 13"/>
          <p:cNvSpPr/>
          <p:nvPr/>
        </p:nvSpPr>
        <p:spPr>
          <a:xfrm>
            <a:off x="4447032" y="2221992"/>
            <a:ext cx="326745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Blues legend, Memphis</a:t>
            </a:r>
            <a:endParaRPr lang="en-US" sz="1100" dirty="0"/>
          </a:p>
        </p:txBody>
      </p:sp>
      <p:sp>
        <p:nvSpPr>
          <p:cNvPr id="16" name="Text 14"/>
          <p:cNvSpPr/>
          <p:nvPr/>
        </p:nvSpPr>
        <p:spPr>
          <a:xfrm>
            <a:off x="4474464" y="2606040"/>
            <a:ext cx="321259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Mastered blues guitar on Memphis’s Beale Street</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Influenced generations of rock and blues musicians worldwide</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Bridged Black musical traditions and mainstream popular culture</a:t>
            </a:r>
            <a:endParaRPr lang="en-US" sz="1200" dirty="0"/>
          </a:p>
        </p:txBody>
      </p:sp>
      <p:sp>
        <p:nvSpPr>
          <p:cNvPr id="17" name="Shape 15"/>
          <p:cNvSpPr/>
          <p:nvPr/>
        </p:nvSpPr>
        <p:spPr>
          <a:xfrm>
            <a:off x="4447032" y="5148072"/>
            <a:ext cx="3267456" cy="512064"/>
          </a:xfrm>
          <a:prstGeom prst="roundRect">
            <a:avLst>
              <a:gd name="adj" fmla="val 10714"/>
            </a:avLst>
          </a:prstGeom>
          <a:solidFill>
            <a:srgbClr val="FBEFD0"/>
          </a:solidFill>
          <a:ln w="15875">
            <a:solidFill>
              <a:srgbClr val="C9A84C"/>
            </a:solidFill>
            <a:prstDash val="solid"/>
          </a:ln>
        </p:spPr>
      </p:sp>
      <p:sp>
        <p:nvSpPr>
          <p:cNvPr id="18" name="Text 16"/>
          <p:cNvSpPr/>
          <p:nvPr/>
        </p:nvSpPr>
        <p:spPr>
          <a:xfrm>
            <a:off x="4529328" y="5175504"/>
            <a:ext cx="312115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B.B. King to show how African American blues artists shaped the music that defined a generation.</a:t>
            </a:r>
            <a:endParaRPr lang="en-US" sz="800" dirty="0"/>
          </a:p>
        </p:txBody>
      </p:sp>
      <p:sp>
        <p:nvSpPr>
          <p:cNvPr id="19" name="Shape 17"/>
          <p:cNvSpPr/>
          <p:nvPr/>
        </p:nvSpPr>
        <p:spPr>
          <a:xfrm>
            <a:off x="8107680" y="1627632"/>
            <a:ext cx="3505200" cy="4114800"/>
          </a:xfrm>
          <a:prstGeom prst="rect">
            <a:avLst/>
          </a:prstGeom>
          <a:solidFill>
            <a:srgbClr val="FFFFFF"/>
          </a:solidFill>
          <a:ln w="12700">
            <a:solidFill>
              <a:srgbClr val="DAD3C2"/>
            </a:solidFill>
            <a:prstDash val="solid"/>
          </a:ln>
        </p:spPr>
      </p:sp>
      <p:sp>
        <p:nvSpPr>
          <p:cNvPr id="20" name="Shape 18"/>
          <p:cNvSpPr/>
          <p:nvPr/>
        </p:nvSpPr>
        <p:spPr>
          <a:xfrm>
            <a:off x="8107680" y="1627632"/>
            <a:ext cx="3505200" cy="868680"/>
          </a:xfrm>
          <a:prstGeom prst="rect">
            <a:avLst/>
          </a:prstGeom>
          <a:solidFill>
            <a:srgbClr val="1A2332"/>
          </a:solidFill>
          <a:ln/>
        </p:spPr>
      </p:sp>
      <p:sp>
        <p:nvSpPr>
          <p:cNvPr id="21" name="Text 19"/>
          <p:cNvSpPr/>
          <p:nvPr/>
        </p:nvSpPr>
        <p:spPr>
          <a:xfrm>
            <a:off x="8226552" y="1627632"/>
            <a:ext cx="3267456" cy="63093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Sam Phillips</a:t>
            </a:r>
            <a:endParaRPr lang="en-US" sz="1600" dirty="0"/>
          </a:p>
        </p:txBody>
      </p:sp>
      <p:sp>
        <p:nvSpPr>
          <p:cNvPr id="22" name="Text 20"/>
          <p:cNvSpPr/>
          <p:nvPr/>
        </p:nvSpPr>
        <p:spPr>
          <a:xfrm>
            <a:off x="8226552" y="2221992"/>
            <a:ext cx="326745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Founder, Sun Studio</a:t>
            </a:r>
            <a:endParaRPr lang="en-US" sz="1100" dirty="0"/>
          </a:p>
        </p:txBody>
      </p:sp>
      <p:sp>
        <p:nvSpPr>
          <p:cNvPr id="23" name="Text 21"/>
          <p:cNvSpPr/>
          <p:nvPr/>
        </p:nvSpPr>
        <p:spPr>
          <a:xfrm>
            <a:off x="8253984" y="2606040"/>
            <a:ext cx="321259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Founded Sun Studio in Memphis in 1950</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Recorded Elvis Presley, Johnny Cash, and Jerry Lee Lewis</a:t>
            </a:r>
            <a:endParaRPr lang="en-US" sz="1200" dirty="0"/>
          </a:p>
          <a:p>
            <a:pPr marL="152400" indent="-152400">
              <a:lnSpc>
                <a:spcPct val="105000"/>
              </a:lnSpc>
              <a:spcAft>
                <a:spcPts val="600"/>
              </a:spcAft>
              <a:buSzPct val="100000"/>
              <a:buChar char="•"/>
            </a:pPr>
            <a:r>
              <a:rPr lang="en-US" sz="1200" dirty="0">
                <a:solidFill>
                  <a:srgbClr val="1F2430"/>
                </a:solidFill>
                <a:latin typeface="Calibri" pitchFamily="34" charset="0"/>
                <a:ea typeface="Calibri" pitchFamily="34" charset="-122"/>
                <a:cs typeface="Calibri" pitchFamily="34" charset="-120"/>
              </a:rPr>
              <a:t>Sought music that crossed racial boundaries to create a new American sound</a:t>
            </a:r>
            <a:endParaRPr lang="en-US" sz="1200" dirty="0"/>
          </a:p>
        </p:txBody>
      </p:sp>
      <p:sp>
        <p:nvSpPr>
          <p:cNvPr id="24" name="Shape 22"/>
          <p:cNvSpPr/>
          <p:nvPr/>
        </p:nvSpPr>
        <p:spPr>
          <a:xfrm>
            <a:off x="8226552" y="5148072"/>
            <a:ext cx="3267456" cy="512064"/>
          </a:xfrm>
          <a:prstGeom prst="roundRect">
            <a:avLst>
              <a:gd name="adj" fmla="val 10714"/>
            </a:avLst>
          </a:prstGeom>
          <a:solidFill>
            <a:srgbClr val="FBEFD0"/>
          </a:solidFill>
          <a:ln w="15875">
            <a:solidFill>
              <a:srgbClr val="C9A84C"/>
            </a:solidFill>
            <a:prstDash val="solid"/>
          </a:ln>
        </p:spPr>
      </p:sp>
      <p:sp>
        <p:nvSpPr>
          <p:cNvPr id="25" name="Text 23"/>
          <p:cNvSpPr/>
          <p:nvPr/>
        </p:nvSpPr>
        <p:spPr>
          <a:xfrm>
            <a:off x="8308848" y="5175504"/>
            <a:ext cx="312115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Sam Phillips to show how a visionary producer turned Memphis into the birthplace of rock ’n’ roll.</a:t>
            </a:r>
            <a:endParaRPr lang="en-US" sz="80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US.76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500" b="1" dirty="0">
                <a:solidFill>
                  <a:srgbClr val="1A2332"/>
                </a:solidFill>
                <a:latin typeface="Georgia" pitchFamily="34" charset="0"/>
                <a:ea typeface="Georgia" pitchFamily="34" charset="-122"/>
                <a:cs typeface="Georgia" pitchFamily="34" charset="-120"/>
              </a:rPr>
              <a:t>Sun Studio Press Release</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Sourcing</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Sun Records, Memphis, Tennessee  ·  1954</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sp>
      <p:sp>
        <p:nvSpPr>
          <p:cNvPr id="9" name="Shape 7"/>
          <p:cNvSpPr/>
          <p:nvPr/>
        </p:nvSpPr>
        <p:spPr>
          <a:xfrm>
            <a:off x="548640" y="1737360"/>
            <a:ext cx="109728" cy="3246120"/>
          </a:xfrm>
          <a:prstGeom prst="rect">
            <a:avLst/>
          </a:prstGeom>
          <a:solidFill>
            <a:srgbClr val="C9A84C"/>
          </a:solidFill>
          <a:ln/>
        </p:spPr>
      </p:sp>
      <p:sp>
        <p:nvSpPr>
          <p:cNvPr id="10" name="Text 8"/>
          <p:cNvSpPr/>
          <p:nvPr/>
        </p:nvSpPr>
        <p:spPr>
          <a:xfrm>
            <a:off x="868680" y="1938528"/>
            <a:ext cx="6355080" cy="2295144"/>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"Memphis-based Sun Records announces the release of “That’s All Right” by Elvis Presley, a young truck driver from Tupelo, Mississippi. The record combines elements of country music with rhythm and blues, creating a new sound that is sweeping the South. Radio stations from Memphis to Nashville are reporting unprecedented listener demand."</a:t>
            </a:r>
            <a:endParaRPr lang="en-US" sz="1400" dirty="0"/>
          </a:p>
        </p:txBody>
      </p:sp>
      <p:sp>
        <p:nvSpPr>
          <p:cNvPr id="11" name="Shape 9"/>
          <p:cNvSpPr/>
          <p:nvPr/>
        </p:nvSpPr>
        <p:spPr>
          <a:xfrm>
            <a:off x="868680" y="4270248"/>
            <a:ext cx="6355080" cy="566928"/>
          </a:xfrm>
          <a:prstGeom prst="roundRect">
            <a:avLst>
              <a:gd name="adj" fmla="val 9677"/>
            </a:avLst>
          </a:prstGeom>
          <a:solidFill>
            <a:srgbClr val="C9A84C"/>
          </a:solidFill>
          <a:ln w="12700">
            <a:solidFill>
              <a:srgbClr val="1A2332"/>
            </a:solidFill>
            <a:prstDash val="solid"/>
          </a:ln>
        </p:spPr>
      </p:sp>
      <p:sp>
        <p:nvSpPr>
          <p:cNvPr id="12" name="Text 10"/>
          <p:cNvSpPr/>
          <p:nvPr/>
        </p:nvSpPr>
        <p:spPr>
          <a:xfrm>
            <a:off x="1051560" y="4270248"/>
            <a:ext cx="6035040" cy="566928"/>
          </a:xfrm>
          <a:prstGeom prst="rect">
            <a:avLst/>
          </a:prstGeom>
          <a:noFill/>
          <a:ln/>
        </p:spPr>
        <p:txBody>
          <a:bodyPr wrap="square" rtlCol="0" anchor="ctr"/>
          <a:lstStyle/>
          <a:p>
            <a:pPr indent="0" marL="0">
              <a:lnSpc>
                <a:spcPct val="98000"/>
              </a:lnSpc>
              <a:buNone/>
            </a:pPr>
            <a:r>
              <a:rPr lang="en-US" sz="1000" b="1" spc="150" kern="0" dirty="0">
                <a:solidFill>
                  <a:srgbClr val="1A2332"/>
                </a:solidFill>
                <a:latin typeface="Trebuchet MS" pitchFamily="34" charset="0"/>
                <a:ea typeface="Trebuchet MS" pitchFamily="34" charset="-122"/>
                <a:cs typeface="Trebuchet MS" pitchFamily="34" charset="-120"/>
              </a:rPr>
              <a:t>READ CLOSELY  </a:t>
            </a:r>
            <a:pPr indent="0" marL="0">
              <a:lnSpc>
                <a:spcPct val="98000"/>
              </a:lnSpc>
              <a:buNone/>
            </a:pPr>
            <a:r>
              <a:rPr lang="en-US" sz="950" i="1" dirty="0">
                <a:solidFill>
                  <a:srgbClr val="1A2332"/>
                </a:solidFill>
                <a:latin typeface="Calibri" pitchFamily="34" charset="0"/>
                <a:ea typeface="Calibri" pitchFamily="34" charset="-122"/>
                <a:cs typeface="Calibri" pitchFamily="34" charset="-120"/>
              </a:rPr>
              <a:t>Underline the exact words that answer the ANALYZE question — be ready to read them aloud.</a:t>
            </a:r>
            <a:endParaRPr lang="en-US" sz="1000" dirty="0"/>
          </a:p>
        </p:txBody>
      </p:sp>
      <p:sp>
        <p:nvSpPr>
          <p:cNvPr id="13" name="Shape 11"/>
          <p:cNvSpPr/>
          <p:nvPr/>
        </p:nvSpPr>
        <p:spPr>
          <a:xfrm>
            <a:off x="7589520" y="1737360"/>
            <a:ext cx="4023360" cy="1737360"/>
          </a:xfrm>
          <a:prstGeom prst="roundRect">
            <a:avLst>
              <a:gd name="adj" fmla="val 4211"/>
            </a:avLst>
          </a:prstGeom>
          <a:solidFill>
            <a:srgbClr val="1A2332"/>
          </a:solidFill>
          <a:ln/>
        </p:spPr>
      </p:sp>
      <p:sp>
        <p:nvSpPr>
          <p:cNvPr id="14" name="Text 12"/>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5" name="Text 13"/>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950" dirty="0">
                <a:solidFill>
                  <a:srgbClr val="FFFFFF"/>
                </a:solidFill>
                <a:latin typeface="Calibri" pitchFamily="34" charset="0"/>
                <a:ea typeface="Calibri" pitchFamily="34" charset="-122"/>
                <a:cs typeface="Calibri" pitchFamily="34" charset="-120"/>
              </a:rPr>
              <a:t>Memphis, Tennessee’s Sun Studio, founded by Sam Phillips in 1950, became the birthplace of rock and roll. In the early 1950s, Phillips recorded blues, country, and gospel artists, seeking a sound that could cross racial boundaries. When a young Elvis Presley recorded there in 1954, the result combined Black rhythm and blues with white country music in a way that captured national attention and launched a cultural revolution in American music and youth culture.</a:t>
            </a:r>
            <a:endParaRPr lang="en-US" sz="950" dirty="0"/>
          </a:p>
        </p:txBody>
      </p:sp>
      <p:sp>
        <p:nvSpPr>
          <p:cNvPr id="16" name="Shape 14"/>
          <p:cNvSpPr/>
          <p:nvPr/>
        </p:nvSpPr>
        <p:spPr>
          <a:xfrm>
            <a:off x="7589520" y="3657600"/>
            <a:ext cx="4023360" cy="1325880"/>
          </a:xfrm>
          <a:prstGeom prst="roundRect">
            <a:avLst>
              <a:gd name="adj" fmla="val 5517"/>
            </a:avLst>
          </a:prstGeom>
          <a:solidFill>
            <a:srgbClr val="C9A84C"/>
          </a:solidFill>
          <a:ln/>
        </p:spPr>
      </p:sp>
      <p:sp>
        <p:nvSpPr>
          <p:cNvPr id="17" name="Text 15"/>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18" name="Text 16"/>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does this document reveal about Tennessee’s role in the origins of rock and roll?</a:t>
            </a:r>
            <a:endParaRPr lang="en-US" sz="1250" dirty="0"/>
          </a:p>
        </p:txBody>
      </p:sp>
      <p:sp>
        <p:nvSpPr>
          <p:cNvPr id="19" name="Shape 17"/>
          <p:cNvSpPr/>
          <p:nvPr/>
        </p:nvSpPr>
        <p:spPr>
          <a:xfrm>
            <a:off x="548640" y="5120640"/>
            <a:ext cx="11064240" cy="841248"/>
          </a:xfrm>
          <a:prstGeom prst="rect">
            <a:avLst/>
          </a:prstGeom>
          <a:solidFill>
            <a:srgbClr val="FFFFFF"/>
          </a:solidFill>
          <a:ln w="15875">
            <a:solidFill>
              <a:srgbClr val="002858"/>
            </a:solidFill>
            <a:prstDash val="solid"/>
          </a:ln>
        </p:spPr>
      </p:sp>
      <p:sp>
        <p:nvSpPr>
          <p:cNvPr id="20" name="Shape 18"/>
          <p:cNvSpPr/>
          <p:nvPr/>
        </p:nvSpPr>
        <p:spPr>
          <a:xfrm>
            <a:off x="548640" y="5120640"/>
            <a:ext cx="2423160" cy="841248"/>
          </a:xfrm>
          <a:prstGeom prst="rect">
            <a:avLst/>
          </a:prstGeom>
          <a:solidFill>
            <a:srgbClr val="002858"/>
          </a:solidFill>
          <a:ln/>
        </p:spPr>
      </p:sp>
      <p:sp>
        <p:nvSpPr>
          <p:cNvPr id="21" name="Text 19"/>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2" name="Text 20"/>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3" name="Text 21"/>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4" name="Text 22"/>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5" name="Text 23"/>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Sun Records, Memphis, Tennessee</a:t>
            </a:r>
            <a:endParaRPr lang="en-US" sz="950" dirty="0"/>
          </a:p>
        </p:txBody>
      </p:sp>
      <p:sp>
        <p:nvSpPr>
          <p:cNvPr id="26" name="Text 24"/>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7" name="Text 25"/>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1954</a:t>
            </a:r>
            <a:endParaRPr lang="en-US" sz="950" dirty="0"/>
          </a:p>
        </p:txBody>
      </p:sp>
      <p:sp>
        <p:nvSpPr>
          <p:cNvPr id="28" name="Text 26"/>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9" name="Text 27"/>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0" name="Text 28"/>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2" name="Text 29"/>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91</a:t>
            </a:r>
            <a:endParaRPr lang="en-US" sz="900" dirty="0"/>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Beatniks</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BEET-niks</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Beatniks</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BE</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Members of the 1950s Beat Generation—writers like Jack Kerouac and Allen Ginsberg—who rejected mainstream culture, materialism, and conformity.</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Rock ’n’ Roll</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rok un ROHL</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Rock ’n’ Roll</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RN</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Revolutionary 1950s music genre combining rhythm and blues, country, and gospel; Elvis Presley became its “King,” representing youth rebellion.</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Elvis Presley</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EL-vis PREZ-lee</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Elvis Presley</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EP</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Tennessee singer who became “The King of Rock ’n’ Roll” in the 1950s, revolutionizing popular culture and launching rock as a global phenomenon.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Sun Studio</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sun STOO-dee-oh</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Sun Studio</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SS</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Memphis recording studio where Elvis Presley, Johnny Cash, Jerry Lee Lewis, and others recorded, creating the “Memphis Sound” of rock ’n’ roll.</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Stax Records</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staks</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Stax Records</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SR</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Memphis record label founded 1957, legendary for soul music and home to Otis Redding and Isaac Hayes, putting Tennessee at the center of American music.</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B.B. King</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bee-bee KING</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B.B. King</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BB</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Mississippi-born blues guitarist who recorded in Memphis and became “King of the Blues,” shaping rock, soul, and popular music from Tennessee.</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Beatniks</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BEET-niks</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Beatniks</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BE</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Members of the 1950s Beat Generation—writers like Jack Kerouac and Allen Ginsberg—who rejected mainstream culture, materialism, and conformity.</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Rock ’n’ Roll</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rok un ROHL</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Rock ’n’ Roll</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RN</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Revolutionary 1950s music genre combining rhythm and blues, country, and gospel; Elvis Presley became its “King,” representing youth rebellion.</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Elvis Presley</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EL-vis PREZ-lee</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Elvis Presley</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EP</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Tennessee singer who became “The King of Rock ’n’ Roll” in the 1950s, revolutionizing popular culture and launching rock as a global phenomenon.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Sun Studio</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sun STOO-dee-oh</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Sun Studio</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SS</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Memphis recording studio where Elvis Presley, Johnny Cash, Jerry Lee Lewis, and others recorded, creating the “Memphis Sound” of rock ’n’ roll.</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Stax Records</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staks</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Stax Records</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SR</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Memphis record label founded 1957, legendary for soul music and home to Otis Redding and Isaac Hayes, putting Tennessee at the center of American music.</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B.B. King</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bee-bee KING</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B.B. King</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BB</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Mississippi-born blues guitarist who recorded in Memphis and became “King of the Blues,” shaping rock, soul, and popular music from Tennessee.</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Trace the progression of an idea</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How did American popular music evolve from swing to rhythm and blues to rock ’n’ roll, and why did Tennessee play a central role?</a:t>
            </a:r>
            <a:endParaRPr lang="en-US" sz="1500" dirty="0"/>
          </a:p>
        </p:txBody>
      </p:sp>
      <p:sp>
        <p:nvSpPr>
          <p:cNvPr id="9" name="Shape 7"/>
          <p:cNvSpPr/>
          <p:nvPr/>
        </p:nvSpPr>
        <p:spPr>
          <a:xfrm>
            <a:off x="548640" y="2606040"/>
            <a:ext cx="11064240" cy="1691640"/>
          </a:xfrm>
          <a:prstGeom prst="roundRect">
            <a:avLst>
              <a:gd name="adj" fmla="val 4324"/>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88136"/>
          </a:xfrm>
          <a:prstGeom prst="rect">
            <a:avLst/>
          </a:prstGeom>
          <a:noFill/>
          <a:ln/>
        </p:spPr>
        <p:txBody>
          <a:bodyPr wrap="square" rtlCol="0" anchor="t">
            <a:normAutofit/>
          </a:bodyPr>
          <a:lstStyle/>
          <a:p>
            <a:pPr indent="0" marL="0">
              <a:lnSpc>
                <a:spcPct val="106000"/>
              </a:lnSpc>
              <a:buNone/>
            </a:pPr>
            <a:r>
              <a:rPr lang="en-US" sz="1375" b="1" dirty="0">
                <a:solidFill>
                  <a:srgbClr val="1A2332"/>
                </a:solidFill>
                <a:latin typeface="Calibri" pitchFamily="34" charset="0"/>
                <a:ea typeface="Calibri" pitchFamily="34" charset="-122"/>
                <a:cs typeface="Calibri" pitchFamily="34" charset="-120"/>
              </a:rPr>
              <a:t>Swing was sophisticated adult dance music. Rhythm and blues emerged from African American communities with a rawer, more emotional sound. When artists like Elvis Presley blended R&amp;B with country at Sun Studio in Memphis, rock ’n’ roll was born—Tennessee was at the center of this crossing of racial and musical boundaries.</a:t>
            </a:r>
            <a:endParaRPr lang="en-US" sz="1375" dirty="0"/>
          </a:p>
        </p:txBody>
      </p:sp>
      <p:sp>
        <p:nvSpPr>
          <p:cNvPr id="12" name="Shape 10"/>
          <p:cNvSpPr/>
          <p:nvPr/>
        </p:nvSpPr>
        <p:spPr>
          <a:xfrm>
            <a:off x="548640" y="4434840"/>
            <a:ext cx="11064240" cy="1234440"/>
          </a:xfrm>
          <a:prstGeom prst="rect">
            <a:avLst/>
          </a:prstGeom>
          <a:solidFill>
            <a:srgbClr val="FFFFFF"/>
          </a:solidFill>
          <a:ln w="12700">
            <a:solidFill>
              <a:srgbClr val="DAD3C2"/>
            </a:solidFill>
            <a:prstDash val="solid"/>
          </a:ln>
        </p:spPr>
      </p:sp>
      <p:sp>
        <p:nvSpPr>
          <p:cNvPr id="13" name="Text 11"/>
          <p:cNvSpPr/>
          <p:nvPr/>
        </p:nvSpPr>
        <p:spPr>
          <a:xfrm>
            <a:off x="822960" y="454456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837176"/>
            <a:ext cx="10515600" cy="72237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In the sections, underline one sentence that shows music crossing racial boundaries in Tennessee.</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With a partner, construct a three-step timeline: swing (1940s) → R&amp;B (early 1950s) → rock ’n’ roll (mid-1950s), and name one Tennessee location for the last step.</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93</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Tennessee’s Music Revolution — Sun Studio and the Sound of Change</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the Sun Studio press release, trace the progression of American popular music from swing to rhythm and blues to rock ’n’ roll. For each genre, identify (a) the community that developed it, (b) one key characteristic, and (c) one Tennessee artist or institution connected to it. Then argue: how did Tennessee’s unique position at the crossroads of Black and white musical traditions make Memphis the birthplace of rock ’n’ roll? Use at least two pieces of evidence.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Three-genre progression chart (swing / R&amp;B / rock ’n’ roll, each with community + characteristic + Tennessee connection) AND one argument paragraph about Tennessee’s unique role.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Chart with swing row pre-filled and genre names pre-labeled; student completes R&amp;B and rock ’n’ roll rows. Honors: Argue whether music integration at Sun Studio and Stax Records was more powerful than legal integration in the 1950s—which form of change reached more Americans, and why? Use at least two specific examples.</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cornell-notes/unit-8/us76-youth-culture-music.pdf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US.76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the emergence of youth culture in the 1950s challenge traditional American values?</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Memphis and Nashville became major centers for blues, rock, and country</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They helped launch rock ’n’ roll by blending Black and white musical styles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blended Black and white musical traditions, challenging racial boundaries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Rock ’n’ roll, beatniks, and teen rebellion challenged 1950s conformity</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US.76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the emergence of youth culture in the 1950s challenge traditional American values?</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Memphis and Nashville became major centers for blues, rock, and country</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They helped launch rock ’n’ roll by blending Black and white musical styles</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blended Black and white musical traditions, challenging racial boundaries</a:t>
            </a:r>
            <a:endParaRPr lang="en-US" sz="1300" dirty="0"/>
          </a:p>
        </p:txBody>
      </p:sp>
      <p:sp>
        <p:nvSpPr>
          <p:cNvPr id="21" name="Shape 19"/>
          <p:cNvSpPr/>
          <p:nvPr/>
        </p:nvSpPr>
        <p:spPr>
          <a:xfrm>
            <a:off x="548640" y="4626864"/>
            <a:ext cx="11064240" cy="566928"/>
          </a:xfrm>
          <a:prstGeom prst="roundRect">
            <a:avLst>
              <a:gd name="adj" fmla="val 9677"/>
            </a:avLst>
          </a:prstGeom>
          <a:solidFill>
            <a:srgbClr val="C9A84C"/>
          </a:solidFill>
          <a:ln w="12700">
            <a:solidFill>
              <a:srgbClr val="F9A825"/>
            </a:solidFill>
            <a:prstDash val="solid"/>
          </a:ln>
        </p:spPr>
      </p:sp>
      <p:sp>
        <p:nvSpPr>
          <p:cNvPr id="22" name="Shape 20"/>
          <p:cNvSpPr/>
          <p:nvPr/>
        </p:nvSpPr>
        <p:spPr>
          <a:xfrm>
            <a:off x="713232" y="4736592"/>
            <a:ext cx="347472" cy="347472"/>
          </a:xfrm>
          <a:prstGeom prst="ellipse">
            <a:avLst/>
          </a:prstGeom>
          <a:solidFill>
            <a:srgbClr val="1A2332"/>
          </a:solidFill>
          <a:ln/>
        </p:spPr>
      </p:sp>
      <p:sp>
        <p:nvSpPr>
          <p:cNvPr id="23" name="Text 21"/>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D</a:t>
            </a:r>
            <a:endParaRPr lang="en-US" sz="1300" dirty="0"/>
          </a:p>
        </p:txBody>
      </p:sp>
      <p:sp>
        <p:nvSpPr>
          <p:cNvPr id="24" name="Text 22"/>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Rock ’n’ roll, beatniks, and teen rebellion challenged 1950s conformity</a:t>
            </a:r>
            <a:endParaRPr lang="en-US" sz="1300" dirty="0"/>
          </a:p>
        </p:txBody>
      </p:sp>
      <p:sp>
        <p:nvSpPr>
          <p:cNvPr id="25" name="Text 23"/>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Youth culture challenged 1950s values through rock ’n’ roll, beat writing, new fashions, and teenage rebellion against conformity. A and B are too narrow because they focus only on Tennessee music history. This growing youth identity helped set the stage for the larger social conflicts of the 1960s.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US.76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Beat Generation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Tennessee’s Central Role in Music</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Breaking Racial Barriers Through Music</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Sun Studio and Stax Records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Argue: music in 1950s Memphis did more to challenge racial segregation than any law passed during that decade. Use at least two specific examples (artists, recordings, or venues) and address the strongest counterargument.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Tennessee became the birthplace of rock ’n’ roll. Use at least two specific pieces of evidence about Sun Studio, Stax Records, or specific artists.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97</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62828"/>
          </a:solidFill>
          <a:ln/>
        </p:spPr>
        <p:txBody>
          <a:bodyPr/>
          <a:p/>
        </p:txBody>
      </p:sp>
      <p:sp>
        <p:nvSpPr>
          <p:cNvPr id="3" name="Shape 1"/>
          <p:cNvSpPr/>
          <p:nvPr/>
        </p:nvSpPr>
        <p:spPr>
          <a:xfrm>
            <a:off x="320040" y="0"/>
            <a:ext cx="109728" cy="6858000"/>
          </a:xfrm>
          <a:prstGeom prst="rect">
            <a:avLst/>
          </a:prstGeom>
          <a:solidFill>
            <a:srgbClr val="C9A84C"/>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US.77</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3000" i="1" dirty="0">
                <a:solidFill>
                  <a:srgbClr val="F9A825"/>
                </a:solidFill>
                <a:latin typeface="Georgia" pitchFamily="34" charset="0"/>
                <a:ea typeface="Georgia" pitchFamily="34" charset="-122"/>
                <a:cs typeface="Georgia" pitchFamily="34" charset="-120"/>
              </a:rPr>
              <a:t>Kennedy's New Frontier</a:t>
            </a:r>
            <a:endParaRPr lang="en-US" sz="30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84C"/>
          </a:solidFill>
          <a:ln/>
        </p:spPr>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84C"/>
          </a:solidFill>
          <a:ln/>
        </p:spPr>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84C"/>
          </a:solidFill>
          <a:ln/>
        </p:spPr>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SSP.04</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84C"/>
          </a:solidFill>
          <a:ln/>
        </p:spPr>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A2332"/>
                </a:solidFill>
                <a:latin typeface="Trebuchet MS" pitchFamily="34" charset="0"/>
                <a:ea typeface="Trebuchet MS" pitchFamily="34" charset="-122"/>
                <a:cs typeface="Trebuchet MS" pitchFamily="34" charset="-120"/>
              </a:rPr>
              <a:t>SSP.05</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0" name="Shape 18"/>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sp>
      <p:sp>
        <p:nvSpPr>
          <p:cNvPr id="21" name="Text 19"/>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2" name="Text 20"/>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Describe President John F. Kennedy’s New Frontier programs to improve education, end racial discrimination, create the Peace Corps, and put a man on the moon.</a:t>
            </a:r>
            <a:endParaRPr lang="en-US" sz="1300" dirty="0"/>
          </a:p>
        </p:txBody>
      </p:sp>
      <p:sp>
        <p:nvSpPr>
          <p:cNvPr id="23" name="Shape 21"/>
          <p:cNvSpPr/>
          <p:nvPr/>
        </p:nvSpPr>
        <p:spPr>
          <a:xfrm>
            <a:off x="914400" y="5120640"/>
            <a:ext cx="10332720" cy="1188720"/>
          </a:xfrm>
          <a:prstGeom prst="roundRect">
            <a:avLst>
              <a:gd name="adj" fmla="val 6154"/>
            </a:avLst>
          </a:prstGeom>
          <a:solidFill>
            <a:srgbClr val="C9A84C"/>
          </a:solidFill>
          <a:ln/>
        </p:spPr>
      </p:sp>
      <p:sp>
        <p:nvSpPr>
          <p:cNvPr id="24" name="Text 22"/>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A2332"/>
                </a:solidFill>
                <a:latin typeface="Trebuchet MS" pitchFamily="34" charset="0"/>
                <a:ea typeface="Trebuchet MS" pitchFamily="34" charset="-122"/>
                <a:cs typeface="Trebuchet MS" pitchFamily="34" charset="-120"/>
              </a:rPr>
              <a:t>I CAN</a:t>
            </a:r>
            <a:endParaRPr lang="en-US" sz="1300" dirty="0"/>
          </a:p>
        </p:txBody>
      </p:sp>
      <p:sp>
        <p:nvSpPr>
          <p:cNvPr id="25" name="Text 23"/>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A2332"/>
                </a:solidFill>
                <a:latin typeface="Calibri" pitchFamily="34" charset="0"/>
                <a:ea typeface="Calibri" pitchFamily="34" charset="-122"/>
                <a:cs typeface="Calibri" pitchFamily="34" charset="-120"/>
              </a:rPr>
              <a:t>I can describe President John F. Kennedy’s New Frontier programs to improve education, end racial discrimination, create the Peace Corps, and put a man on the moon.</a:t>
            </a:r>
            <a:endParaRPr lang="en-US" sz="125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sp>
      <p:sp>
        <p:nvSpPr>
          <p:cNvPr id="7" name="Shape 5"/>
          <p:cNvSpPr/>
          <p:nvPr/>
        </p:nvSpPr>
        <p:spPr>
          <a:xfrm>
            <a:off x="548640" y="2057400"/>
            <a:ext cx="777240" cy="1234440"/>
          </a:xfrm>
          <a:prstGeom prst="rect">
            <a:avLst/>
          </a:prstGeom>
          <a:solidFill>
            <a:srgbClr val="1A2332"/>
          </a:solidFill>
          <a:ln/>
        </p:spPr>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US.76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In the last standard, we studied 1950s youth culture. How did the generation shaped by rock ’n’ roll and beatnik rebellion connect to the idealism Kennedy tapped with the Peace Corps?</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sp>
      <p:sp>
        <p:nvSpPr>
          <p:cNvPr id="11" name="Shape 9"/>
          <p:cNvSpPr/>
          <p:nvPr/>
        </p:nvSpPr>
        <p:spPr>
          <a:xfrm>
            <a:off x="548640" y="3456432"/>
            <a:ext cx="777240" cy="1234440"/>
          </a:xfrm>
          <a:prstGeom prst="rect">
            <a:avLst/>
          </a:prstGeom>
          <a:solidFill>
            <a:srgbClr val="1A2332"/>
          </a:solidFill>
          <a:ln/>
        </p:spPr>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C62828"/>
                </a:solidFill>
                <a:latin typeface="Calibri" pitchFamily="34" charset="0"/>
                <a:ea typeface="Calibri" pitchFamily="34" charset="-122"/>
                <a:cs typeface="Calibri" pitchFamily="34" charset="-120"/>
              </a:rPr>
              <a:t>US.76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Name one way 1950s youth culture laid the cultural groundwork for Kennedy’s “New Frontier” vision of a new generation taking charge.</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84C"/>
            </a:solidFill>
            <a:prstDash val="solid"/>
          </a:ln>
        </p:spPr>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C62828"/>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A2332"/>
          </a:solidFill>
          <a:ln/>
        </p:spPr>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A2332"/>
          </a:solidFill>
          <a:ln/>
        </p:spPr>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was President Kennedy’s “New Frontier” program?</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84C"/>
            </a:solidFill>
            <a:prstDash val="solid"/>
          </a:ln>
        </p:spPr>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Domestic agenda to improve education, end racial discrimination, create the Peace Corps, and put a man on the moon.</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84C"/>
            </a:solidFill>
            <a:prstDash val="solid"/>
          </a:ln>
        </p:spPr>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C62828"/>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A2332"/>
          </a:solidFill>
          <a:ln/>
        </p:spPr>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John F. Kennedy took office at 43 as the youngest elected president in history, challenged Americans to “ask not what your country can do for you,” and promised to put a man on the moon before the decade was out—all within his first hundred days.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84C"/>
            </a:solidFill>
            <a:prstDash val="solid"/>
          </a:ln>
        </p:spPr>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C62828"/>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A2332"/>
          </a:solidFill>
          <a:ln/>
        </p:spPr>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If Kennedy was assassinated in 1963 before most of his New Frontier programs were enacted, why do historians still consider his presidency transformative—what did he start that others finished?</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New Frontier Goals</a:t>
            </a:r>
            <a:endParaRPr lang="en-US" sz="3000" dirty="0"/>
          </a:p>
        </p:txBody>
      </p:sp>
      <p:sp>
        <p:nvSpPr>
          <p:cNvPr id="5" name="Shape 3"/>
          <p:cNvSpPr/>
          <p:nvPr/>
        </p:nvSpPr>
        <p:spPr>
          <a:xfrm>
            <a:off x="10472623" y="502920"/>
            <a:ext cx="146304" cy="146304"/>
          </a:xfrm>
          <a:prstGeom prst="ellipse">
            <a:avLst/>
          </a:prstGeom>
          <a:solidFill>
            <a:srgbClr val="C62828"/>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2340864"/>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Kennedy’s New Frontier was an ambitious domestic and foreign policy agenda.</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 education, Kennedy proposed federal aid to expand schools and make college more affordable.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He called for ending racial discrimination through civil rights enforcement.</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He challenged a new generation to public service and sacrifice, declaring in his inaugural address: “Ask not what your country can do for you—ask what you can do for your country.”</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850" i="1" dirty="0">
                <a:solidFill>
                  <a:srgbClr val="5C6470"/>
                </a:solidFill>
              </a:rPr>
              <a:t>(EL &amp; writing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The New Frontier was a set of programs to ___, and Kennedy created the Peace Corps because 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sp>
      <p:pic>
        <p:nvPicPr>
          <p:cNvPr id="16" name="Image 0" descr="unit8-full/img/president-john-f-kennedy-white-1963.jpg">    </p:cNvPr>
          <p:cNvPicPr>
            <a:picLocks noChangeAspect="1"/>
          </p:cNvPicPr>
          <p:nvPr/>
        </p:nvPicPr>
        <p:blipFill>
          <a:blip r:embed="rId1"/>
          <a:stretch>
            <a:fillRect/>
          </a:stretch>
        </p:blipFill>
        <p:spPr>
          <a:xfrm>
            <a:off x="8520451" y="1783080"/>
            <a:ext cx="2207217"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Cecil Stoughton / White House, c. 1961–1963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8" name="Shape 15"/>
          <p:cNvSpPr/>
          <p:nvPr/>
        </p:nvSpPr>
        <p:spPr>
          <a:xfrm>
            <a:off x="7589520" y="5440680"/>
            <a:ext cx="4069080" cy="713232"/>
          </a:xfrm>
          <a:prstGeom prst="roundRect">
            <a:avLst>
              <a:gd name="adj" fmla="val 7692"/>
            </a:avLst>
          </a:prstGeom>
          <a:solidFill>
            <a:srgbClr val="1A2332"/>
          </a:solidFill>
          <a:ln/>
        </p:spPr>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102</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Peace Corps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C62828"/>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Kennedy established the Peace Corps by executive order in March 1961.</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It sent trained American volunteers to developing countries to help with education, healthcare, and agriculture.</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Peace Corps reflected Kennedy’s strategy of competing with Soviet influence through goodwill and service rather than military force, and tapped the idealism of the baby boom generation.</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103</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The Space Race Priority</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C62828"/>
          </a:solidFill>
          <a:ln/>
        </p:spPr>
      </p:sp>
      <p:sp>
        <p:nvSpPr>
          <p:cNvPr id="8" name="Shape 6"/>
          <p:cNvSpPr/>
          <p:nvPr/>
        </p:nvSpPr>
        <p:spPr>
          <a:xfrm>
            <a:off x="11350447" y="502920"/>
            <a:ext cx="146304" cy="146304"/>
          </a:xfrm>
          <a:prstGeom prst="ellipse">
            <a:avLst/>
          </a:prstGeom>
          <a:solidFill>
            <a:srgbClr val="A7BACB"/>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sp>
      <p:sp>
        <p:nvSpPr>
          <p:cNvPr id="11" name="Text 9"/>
          <p:cNvSpPr/>
          <p:nvPr/>
        </p:nvSpPr>
        <p:spPr>
          <a:xfrm>
            <a:off x="914400" y="2057400"/>
            <a:ext cx="612648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After the Soviet Union launched Sputnik (1957) and sent the first human to space (Yuri Gagarin, April 1961), Kennedy committed America to landing on the moon before the end of the decade.</a:t>
            </a:r>
            <a:endParaRPr lang="en-US" sz="1550" dirty="0"/>
          </a:p>
          <a:p>
            <a:pPr marL="228600" indent="-228600">
              <a:lnSpc>
                <a:spcPct val="110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 his September 1962 speech at Rice University he declared: “We choose to go to the Moon in this decade and do the other things, not because they are easy, but because they are hard.” The goal mobilized national resources and advanced technology.</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sp>
      <p:pic>
        <p:nvPicPr>
          <p:cNvPr id="13" name="Image 0" descr="unit8-full/img/president-kennedy-speaks-rice-university-1962.jpg">    </p:cNvPr>
          <p:cNvPicPr>
            <a:picLocks noChangeAspect="1"/>
          </p:cNvPicPr>
          <p:nvPr/>
        </p:nvPicPr>
        <p:blipFill>
          <a:blip r:embed="rId1"/>
          <a:stretch>
            <a:fillRect/>
          </a:stretch>
        </p:blipFill>
        <p:spPr>
          <a:xfrm>
            <a:off x="8418370" y="1783080"/>
            <a:ext cx="2411380" cy="3502152"/>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800" i="1" dirty="0">
                <a:solidFill>
                  <a:srgbClr val="5C6470"/>
                </a:solidFill>
                <a:latin typeface="Calibri" pitchFamily="34" charset="0"/>
                <a:ea typeface="Calibri" pitchFamily="34" charset="-122"/>
                <a:cs typeface="Calibri" pitchFamily="34" charset="-120"/>
              </a:rPr>
              <a:t>NASA, September 12, 1962  </a:t>
            </a:r>
            <a:pPr algn="l" indent="0" marL="0">
              <a:lnSpc>
                <a:spcPct val="100000"/>
              </a:lnSpc>
              <a:buNone/>
            </a:pPr>
            <a:r>
              <a:rPr lang="en-US" sz="8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104</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A2332"/>
                </a:solidFill>
                <a:latin typeface="Georgia" pitchFamily="34" charset="0"/>
                <a:ea typeface="Georgia" pitchFamily="34" charset="-122"/>
                <a:cs typeface="Georgia" pitchFamily="34" charset="-120"/>
              </a:rPr>
              <a:t>Legacy and Limitations</a:t>
            </a:r>
            <a:endParaRPr lang="en-US" sz="3000" dirty="0"/>
          </a:p>
        </p:txBody>
      </p:sp>
      <p:sp>
        <p:nvSpPr>
          <p:cNvPr id="5" name="Shape 3"/>
          <p:cNvSpPr/>
          <p:nvPr/>
        </p:nvSpPr>
        <p:spPr>
          <a:xfrm>
            <a:off x="10472623" y="502920"/>
            <a:ext cx="146304" cy="146304"/>
          </a:xfrm>
          <a:prstGeom prst="ellipse">
            <a:avLst/>
          </a:prstGeom>
          <a:solidFill>
            <a:srgbClr val="A7BACB"/>
          </a:solidFill>
          <a:ln/>
        </p:spPr>
      </p:sp>
      <p:sp>
        <p:nvSpPr>
          <p:cNvPr id="6" name="Shape 4"/>
          <p:cNvSpPr/>
          <p:nvPr/>
        </p:nvSpPr>
        <p:spPr>
          <a:xfrm>
            <a:off x="10765231" y="502920"/>
            <a:ext cx="146304" cy="146304"/>
          </a:xfrm>
          <a:prstGeom prst="ellipse">
            <a:avLst/>
          </a:prstGeom>
          <a:solidFill>
            <a:srgbClr val="A7BACB"/>
          </a:solidFill>
          <a:ln/>
        </p:spPr>
      </p:sp>
      <p:sp>
        <p:nvSpPr>
          <p:cNvPr id="7" name="Shape 5"/>
          <p:cNvSpPr/>
          <p:nvPr/>
        </p:nvSpPr>
        <p:spPr>
          <a:xfrm>
            <a:off x="11057839" y="502920"/>
            <a:ext cx="146304" cy="146304"/>
          </a:xfrm>
          <a:prstGeom prst="ellipse">
            <a:avLst/>
          </a:prstGeom>
          <a:solidFill>
            <a:srgbClr val="A7BACB"/>
          </a:solidFill>
          <a:ln/>
        </p:spPr>
      </p:sp>
      <p:sp>
        <p:nvSpPr>
          <p:cNvPr id="8" name="Shape 6"/>
          <p:cNvSpPr/>
          <p:nvPr/>
        </p:nvSpPr>
        <p:spPr>
          <a:xfrm>
            <a:off x="11350447" y="502920"/>
            <a:ext cx="146304" cy="146304"/>
          </a:xfrm>
          <a:prstGeom prst="ellipse">
            <a:avLst/>
          </a:prstGeom>
          <a:solidFill>
            <a:srgbClr val="C62828"/>
          </a:solidFill>
          <a:ln/>
        </p:spPr>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sp>
      <p:sp>
        <p:nvSpPr>
          <p:cNvPr id="11" name="Text 9"/>
          <p:cNvSpPr/>
          <p:nvPr/>
        </p:nvSpPr>
        <p:spPr>
          <a:xfrm>
            <a:off x="914400" y="2057400"/>
            <a:ext cx="10424160" cy="3566160"/>
          </a:xfrm>
          <a:prstGeom prst="rect">
            <a:avLst/>
          </a:prstGeom>
          <a:noFill/>
          <a:ln/>
        </p:spPr>
        <p:txBody>
          <a:bodyPr wrap="square" rtlCol="0" anchor="t">
            <a:normAutofit/>
          </a:bodyPr>
          <a:lstStyle/>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Kennedy was assassinated in Dallas, Texas on November 22, 1963, before most New Frontier programs were fully enacted.</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Many were blocked by Congress.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However, his assassination created political momentum: President Johnson used Kennedy’s memory to pass the Civil Rights Act of 1964 and other programs.</a:t>
            </a:r>
            <a:endParaRPr lang="en-US" sz="1700" dirty="0"/>
          </a:p>
          <a:p>
            <a:pPr marL="228600" indent="-228600">
              <a:lnSpc>
                <a:spcPct val="110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moon landing was achieved in July 1969, fulfilling Kennedy’s promise.</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6282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sp>
      <p:sp>
        <p:nvSpPr>
          <p:cNvPr id="6" name="Shape 4"/>
          <p:cNvSpPr/>
          <p:nvPr/>
        </p:nvSpPr>
        <p:spPr>
          <a:xfrm>
            <a:off x="548640" y="1627632"/>
            <a:ext cx="11064240" cy="868680"/>
          </a:xfrm>
          <a:prstGeom prst="rect">
            <a:avLst/>
          </a:prstGeom>
          <a:solidFill>
            <a:srgbClr val="1A2332"/>
          </a:solidFill>
          <a:ln/>
        </p:spPr>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John F. Kennedy</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35th President (1961–1963)</a:t>
            </a:r>
            <a:endParaRPr lang="en-US" sz="1100" dirty="0"/>
          </a:p>
        </p:txBody>
      </p:sp>
      <p:sp>
        <p:nvSpPr>
          <p:cNvPr id="9" name="Text 7"/>
          <p:cNvSpPr/>
          <p:nvPr/>
        </p:nvSpPr>
        <p:spPr>
          <a:xfrm>
            <a:off x="694944" y="2606040"/>
            <a:ext cx="10771632" cy="2542032"/>
          </a:xfrm>
          <a:prstGeom prst="rect">
            <a:avLst/>
          </a:prstGeom>
          <a:noFill/>
          <a:ln/>
        </p:spPr>
        <p:txBody>
          <a:bodyPr wrap="square" rtlCol="0" anchor="t">
            <a:normAutofit/>
          </a:bodyP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Created the Peace Corps to send American volunteers abroad</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Set the goal of landing on the moon before 1970</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Proposed comprehensive civil rights legislation</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84C"/>
            </a:solidFill>
            <a:prstDash val="solid"/>
          </a:ln>
        </p:spPr>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800" b="1" spc="100" kern="0" dirty="0">
                <a:solidFill>
                  <a:srgbClr val="C62828"/>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A2332"/>
                </a:solidFill>
                <a:latin typeface="Calibri" pitchFamily="34" charset="0"/>
                <a:ea typeface="Calibri" pitchFamily="34" charset="-122"/>
                <a:cs typeface="Calibri" pitchFamily="34" charset="-120"/>
              </a:rPr>
              <a:t>Use Kennedy to show how Cold War competition and domestic idealism shaped the New Frontier programs.</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US.77 · PRIMARY SOURCE ANALYSIS</a:t>
            </a:r>
            <a:endParaRPr lang="en-US" sz="1200" dirty="0"/>
          </a:p>
        </p:txBody>
      </p:sp>
      <p:sp>
        <p:nvSpPr>
          <p:cNvPr id="4" name="Text 2"/>
          <p:cNvSpPr/>
          <p:nvPr/>
        </p:nvSpPr>
        <p:spPr>
          <a:xfrm>
            <a:off x="548640" y="731520"/>
            <a:ext cx="8686800" cy="548640"/>
          </a:xfrm>
          <a:prstGeom prst="rect">
            <a:avLst/>
          </a:prstGeom>
          <a:noFill/>
          <a:ln/>
        </p:spPr>
        <p:txBody>
          <a:bodyPr wrap="square" rtlCol="0" anchor="t"/>
          <a:lstStyle/>
          <a:p>
            <a:pPr indent="0" marL="0">
              <a:buNone/>
            </a:pPr>
            <a:r>
              <a:rPr lang="en-US" sz="2000" b="1" dirty="0">
                <a:solidFill>
                  <a:srgbClr val="1A2332"/>
                </a:solidFill>
                <a:latin typeface="Georgia" pitchFamily="34" charset="0"/>
                <a:ea typeface="Georgia" pitchFamily="34" charset="-122"/>
                <a:cs typeface="Georgia" pitchFamily="34" charset="-120"/>
              </a:rPr>
              <a:t>Special Message to Congress on the Peace Corps</a:t>
            </a:r>
            <a:endParaRPr lang="en-US" sz="2000" dirty="0"/>
          </a:p>
        </p:txBody>
      </p:sp>
      <p:sp>
        <p:nvSpPr>
          <p:cNvPr id="5" name="Shape 3"/>
          <p:cNvSpPr/>
          <p:nvPr/>
        </p:nvSpPr>
        <p:spPr>
          <a:xfrm>
            <a:off x="9418320" y="777240"/>
            <a:ext cx="2194560" cy="457200"/>
          </a:xfrm>
          <a:prstGeom prst="roundRect">
            <a:avLst>
              <a:gd name="adj" fmla="val 20000"/>
            </a:avLst>
          </a:prstGeom>
          <a:solidFill>
            <a:srgbClr val="002858"/>
          </a:solidFill>
          <a:ln/>
        </p:spPr>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Argumentation</a:t>
            </a:r>
            <a:endParaRPr lang="en-US" sz="1200" dirty="0"/>
          </a:p>
        </p:txBody>
      </p:sp>
      <p:sp>
        <p:nvSpPr>
          <p:cNvPr id="7" name="Text 5"/>
          <p:cNvSpPr/>
          <p:nvPr/>
        </p:nvSpPr>
        <p:spPr>
          <a:xfrm>
            <a:off x="548640" y="1371600"/>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President John F. Kennedy  ·  March 1, 1961</a:t>
            </a:r>
            <a:endParaRPr lang="en-US" sz="1200" dirty="0"/>
          </a:p>
        </p:txBody>
      </p:sp>
      <p:sp>
        <p:nvSpPr>
          <p:cNvPr id="8" name="Shape 6"/>
          <p:cNvSpPr/>
          <p:nvPr/>
        </p:nvSpPr>
        <p:spPr>
          <a:xfrm>
            <a:off x="512064" y="1700784"/>
            <a:ext cx="3273552" cy="2606040"/>
          </a:xfrm>
          <a:prstGeom prst="rect">
            <a:avLst/>
          </a:prstGeom>
          <a:solidFill>
            <a:srgbClr val="FFFFFF"/>
          </a:solidFill>
          <a:ln w="12700">
            <a:solidFill>
              <a:srgbClr val="DAD3C2"/>
            </a:solidFill>
            <a:prstDash val="solid"/>
          </a:ln>
        </p:spPr>
      </p:sp>
      <p:pic>
        <p:nvPicPr>
          <p:cNvPr id="9" name="Image 0" descr="unit8-full/img/president-kennedy-speaks-rice-university-1962.jpg">    </p:cNvPr>
          <p:cNvPicPr>
            <a:picLocks noChangeAspect="1"/>
          </p:cNvPicPr>
          <p:nvPr/>
        </p:nvPicPr>
        <p:blipFill>
          <a:blip r:embed="rId1"/>
          <a:stretch>
            <a:fillRect/>
          </a:stretch>
        </p:blipFill>
        <p:spPr>
          <a:xfrm>
            <a:off x="1276840" y="1737360"/>
            <a:ext cx="1744000" cy="2532888"/>
          </a:xfrm>
          <a:prstGeom prst="rect">
            <a:avLst/>
          </a:prstGeom>
        </p:spPr>
      </p:pic>
      <p:sp>
        <p:nvSpPr>
          <p:cNvPr id="10" name="Text 7"/>
          <p:cNvSpPr/>
          <p:nvPr/>
        </p:nvSpPr>
        <p:spPr>
          <a:xfrm>
            <a:off x="548640" y="4325112"/>
            <a:ext cx="3200400" cy="658368"/>
          </a:xfrm>
          <a:prstGeom prst="rect">
            <a:avLst/>
          </a:prstGeom>
          <a:noFill/>
          <a:ln/>
        </p:spPr>
        <p:txBody>
          <a:bodyPr wrap="square" rtlCol="0" anchor="t"/>
          <a:lstStyle/>
          <a:p>
            <a:pPr algn="l" indent="0" marL="0">
              <a:lnSpc>
                <a:spcPct val="100000"/>
              </a:lnSpc>
              <a:buNone/>
            </a:pPr>
            <a:pPr algn="l" indent="0" marL="0">
              <a:lnSpc>
                <a:spcPct val="100000"/>
              </a:lnSpc>
              <a:buNone/>
            </a:pPr>
            <a:r>
              <a:rPr lang="en-US" sz="700" i="1" dirty="0">
                <a:solidFill>
                  <a:srgbClr val="5C6470"/>
                </a:solidFill>
                <a:latin typeface="Calibri" pitchFamily="34" charset="0"/>
                <a:ea typeface="Calibri" pitchFamily="34" charset="-122"/>
                <a:cs typeface="Calibri" pitchFamily="34" charset="-120"/>
              </a:rPr>
              <a:t>NASA, September 12, 1962  </a:t>
            </a:r>
            <a:pPr algn="l" indent="0" marL="0">
              <a:lnSpc>
                <a:spcPct val="100000"/>
              </a:lnSpc>
              <a:buNone/>
            </a:pPr>
            <a:r>
              <a:rPr lang="en-US" sz="7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Wikimedia Commons</a:t>
            </a:r>
            <a:endParaRPr lang="en-US" sz="700" dirty="0"/>
          </a:p>
        </p:txBody>
      </p:sp>
      <p:sp>
        <p:nvSpPr>
          <p:cNvPr id="11" name="Shape 8"/>
          <p:cNvSpPr/>
          <p:nvPr/>
        </p:nvSpPr>
        <p:spPr>
          <a:xfrm>
            <a:off x="658368" y="1828800"/>
            <a:ext cx="2980944" cy="512064"/>
          </a:xfrm>
          <a:prstGeom prst="roundRect">
            <a:avLst>
              <a:gd name="adj" fmla="val 10714"/>
            </a:avLst>
          </a:prstGeom>
          <a:solidFill>
            <a:srgbClr val="C9A84C"/>
          </a:solidFill>
          <a:ln w="12700">
            <a:solidFill>
              <a:srgbClr val="1A2332"/>
            </a:solidFill>
            <a:prstDash val="solid"/>
          </a:ln>
        </p:spPr>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A2332"/>
                </a:solidFill>
                <a:latin typeface="Trebuchet MS" pitchFamily="34" charset="0"/>
                <a:ea typeface="Trebuchet MS" pitchFamily="34" charset="-122"/>
                <a:cs typeface="Trebuchet MS" pitchFamily="34" charset="-120"/>
              </a:rPr>
              <a:t>ZOOM IN  </a:t>
            </a:r>
            <a:pPr indent="0" marL="0">
              <a:lnSpc>
                <a:spcPct val="95000"/>
              </a:lnSpc>
              <a:buNone/>
            </a:pPr>
            <a:r>
              <a:rPr lang="en-US" sz="850" i="1" dirty="0">
                <a:solidFill>
                  <a:srgbClr val="1A2332"/>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sp>
      <p:sp>
        <p:nvSpPr>
          <p:cNvPr id="14" name="Shape 11"/>
          <p:cNvSpPr/>
          <p:nvPr/>
        </p:nvSpPr>
        <p:spPr>
          <a:xfrm>
            <a:off x="3931920" y="1737360"/>
            <a:ext cx="91440" cy="3246120"/>
          </a:xfrm>
          <a:prstGeom prst="rect">
            <a:avLst/>
          </a:prstGeom>
          <a:solidFill>
            <a:srgbClr val="C9A84C"/>
          </a:solidFill>
          <a:ln/>
        </p:spPr>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"I recommend to the Congress the establishment of a permanent Peace Corps—a pool of trained American men and women sent overseas by the U.S. Government to help foreign countries meet their urgent needs for skilled manpower... Life in the Peace Corps will not be easy... But if the life will not be easy, it will be rich and satisfying."</a:t>
            </a:r>
            <a:endParaRPr lang="en-US" sz="1250" dirty="0"/>
          </a:p>
        </p:txBody>
      </p:sp>
      <p:sp>
        <p:nvSpPr>
          <p:cNvPr id="16" name="Shape 13"/>
          <p:cNvSpPr/>
          <p:nvPr/>
        </p:nvSpPr>
        <p:spPr>
          <a:xfrm>
            <a:off x="7589520" y="1737360"/>
            <a:ext cx="4023360" cy="1737360"/>
          </a:xfrm>
          <a:prstGeom prst="roundRect">
            <a:avLst>
              <a:gd name="adj" fmla="val 4211"/>
            </a:avLst>
          </a:prstGeom>
          <a:solidFill>
            <a:srgbClr val="1A2332"/>
          </a:solidFill>
          <a:ln/>
        </p:spPr>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225296"/>
          </a:xfrm>
          <a:prstGeom prst="rect">
            <a:avLst/>
          </a:prstGeom>
          <a:noFill/>
          <a:ln/>
        </p:spPr>
        <p:txBody>
          <a:bodyPr wrap="square" rtlCol="0" anchor="t">
            <a:normAutofit/>
          </a:bodyPr>
          <a:lstStyle/>
          <a:p>
            <a:pPr indent="0" marL="0">
              <a:lnSpc>
                <a:spcPct val="96000"/>
              </a:lnSpc>
              <a:buNone/>
            </a:pPr>
            <a:r>
              <a:rPr lang="en-US" sz="1050" dirty="0">
                <a:solidFill>
                  <a:srgbClr val="FFFFFF"/>
                </a:solidFill>
                <a:latin typeface="Calibri" pitchFamily="34" charset="0"/>
                <a:ea typeface="Calibri" pitchFamily="34" charset="-122"/>
                <a:cs typeface="Calibri" pitchFamily="34" charset="-120"/>
              </a:rPr>
              <a:t>John F. Kennedy established the Peace Corps by executive order in March 1961, just weeks after taking office. The Peace Corps reflected Kennedy’s broader foreign policy vision of competing with Soviet influence in the developing world not through military force but through American volunteers sharing skills and goodwill. It also tapped into the idealism of the baby boom generation who wanted to serve and make a difference in the world.</a:t>
            </a:r>
            <a:endParaRPr lang="en-US" sz="1050" dirty="0"/>
          </a:p>
        </p:txBody>
      </p:sp>
      <p:sp>
        <p:nvSpPr>
          <p:cNvPr id="19" name="Shape 16"/>
          <p:cNvSpPr/>
          <p:nvPr/>
        </p:nvSpPr>
        <p:spPr>
          <a:xfrm>
            <a:off x="7589520" y="3657600"/>
            <a:ext cx="4023360" cy="1325880"/>
          </a:xfrm>
          <a:prstGeom prst="roundRect">
            <a:avLst>
              <a:gd name="adj" fmla="val 5517"/>
            </a:avLst>
          </a:prstGeom>
          <a:solidFill>
            <a:srgbClr val="C9A84C"/>
          </a:solidFill>
          <a:ln/>
        </p:spPr>
      </p:sp>
      <p:sp>
        <p:nvSpPr>
          <p:cNvPr id="20" name="Text 17"/>
          <p:cNvSpPr/>
          <p:nvPr/>
        </p:nvSpPr>
        <p:spPr>
          <a:xfrm>
            <a:off x="7818120" y="3776472"/>
            <a:ext cx="3657600" cy="274320"/>
          </a:xfrm>
          <a:prstGeom prst="rect">
            <a:avLst/>
          </a:prstGeom>
          <a:noFill/>
          <a:ln/>
        </p:spPr>
        <p:txBody>
          <a:bodyPr wrap="square" rtlCol="0" anchor="ctr"/>
          <a:lstStyle/>
          <a:p>
            <a:pPr indent="0" marL="0">
              <a:buNone/>
            </a:pPr>
            <a:r>
              <a:rPr lang="en-US" sz="1100" b="1" spc="200" kern="0" dirty="0">
                <a:solidFill>
                  <a:srgbClr val="1A2332"/>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078224"/>
            <a:ext cx="3611880" cy="795528"/>
          </a:xfrm>
          <a:prstGeom prst="rect">
            <a:avLst/>
          </a:prstGeom>
          <a:noFill/>
          <a:ln/>
        </p:spPr>
        <p:txBody>
          <a:bodyPr wrap="square" rtlCol="0" anchor="t"/>
          <a:lstStyle/>
          <a:p>
            <a:pPr indent="0" marL="0">
              <a:lnSpc>
                <a:spcPct val="103000"/>
              </a:lnSpc>
              <a:buNone/>
            </a:pPr>
            <a:r>
              <a:rPr lang="en-US" sz="1250" b="1" dirty="0">
                <a:solidFill>
                  <a:srgbClr val="1A2332"/>
                </a:solidFill>
                <a:latin typeface="Calibri" pitchFamily="34" charset="0"/>
                <a:ea typeface="Calibri" pitchFamily="34" charset="-122"/>
                <a:cs typeface="Calibri" pitchFamily="34" charset="-120"/>
              </a:rPr>
              <a:t>What was Kennedy’s vision for the Peace Corps?</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sp>
      <p:sp>
        <p:nvSpPr>
          <p:cNvPr id="23" name="Shape 20"/>
          <p:cNvSpPr/>
          <p:nvPr/>
        </p:nvSpPr>
        <p:spPr>
          <a:xfrm>
            <a:off x="548640" y="5120640"/>
            <a:ext cx="2423160" cy="841248"/>
          </a:xfrm>
          <a:prstGeom prst="rect">
            <a:avLst/>
          </a:prstGeom>
          <a:solidFill>
            <a:srgbClr val="002858"/>
          </a:solidFill>
          <a:ln/>
        </p:spPr>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75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President John F. Kennedy</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March 1, 1961</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22392"/>
            <a:ext cx="2743200" cy="475488"/>
          </a:xfrm>
          <a:prstGeom prst="rect">
            <a:avLst/>
          </a:prstGeom>
          <a:noFill/>
          <a:ln/>
        </p:spPr>
        <p:txBody>
          <a:bodyPr wrap="square" rtlCol="0" anchor="t">
            <a:normAutofit/>
          </a:bodyPr>
          <a:lstStyle/>
          <a:p>
            <a:pPr indent="0" marL="0">
              <a:lnSpc>
                <a:spcPct val="95000"/>
              </a:lnSpc>
              <a:buNone/>
            </a:pPr>
            <a:r>
              <a:rPr lang="en-US" sz="95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John F. Kennedy Presidential Library</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107</a:t>
            </a:r>
            <a:endParaRPr lang="en-US" sz="900" dirty="0"/>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New Frontier</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noo frun-TEER</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Nueva Frontera</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NF</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John F. Kennedy’s 1960s domestic program promoting economic growth, education, civil rights, and space exploration; a symbol of optimism.</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Peace Corps</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pees KOR</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Cuerpo de Paz</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PC</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Volunteer program created by President Kennedy in 1961, sending Americans to developing countries to help with education, health, and economic development.</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Moon Landing Goal</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moon LAND-ing</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Objetivo de Aterrizaje Lunar</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ML</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Kennedy’s 1961 pledge to land Americans on the moon before 1970, mobilizing national resources, advancing technology, and inspiring a generation.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Space Race</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spays rays</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Carrera Espacial</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SR</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competition between the U.S. and Soviet Union to achieve firsts in space exploration; a top New Frontier priority.</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John F. Kennedy</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KEN-eh-dee</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John F. Kennedy</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JF</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35th U.S. President (1961–1963) whose New Frontier promised progress in civil rights, the economy, and space.</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Apollo Program</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uh-POL-oh</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Programa Apolo</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AP</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NASA program launched under Kennedy's goal of landing an American on the Moon before the decade's end.</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7F4EC"/>
        </a:solidFill>
      </p:bgPr>
    </p:bg>
    <p:spTree>
      <p:nvGrpSpPr>
        <p:cNvPr id="1" name=""/>
        <p:cNvGrpSpPr/>
        <p:nvPr/>
      </p:nvGrpSpPr>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A2332"/>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sp>
      <p:sp>
        <p:nvSpPr>
          <p:cNvPr id="6" name="Shape 4"/>
          <p:cNvSpPr/>
          <p:nvPr/>
        </p:nvSpPr>
        <p:spPr>
          <a:xfrm>
            <a:off x="548640" y="1645920"/>
            <a:ext cx="5486400" cy="676656"/>
          </a:xfrm>
          <a:prstGeom prst="rect">
            <a:avLst/>
          </a:prstGeom>
          <a:solidFill>
            <a:srgbClr val="1A2332"/>
          </a:solidFill>
          <a:ln/>
        </p:spPr>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New Frontier</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noo frun-TEER</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Nueva Frontera</a:t>
            </a:r>
            <a:endParaRPr lang="en-US" sz="1000" dirty="0"/>
          </a:p>
        </p:txBody>
      </p:sp>
      <p:sp>
        <p:nvSpPr>
          <p:cNvPr id="10" name="Shape 8"/>
          <p:cNvSpPr/>
          <p:nvPr/>
        </p:nvSpPr>
        <p:spPr>
          <a:xfrm>
            <a:off x="667512" y="2395728"/>
            <a:ext cx="457200" cy="457200"/>
          </a:xfrm>
          <a:prstGeom prst="roundRect">
            <a:avLst>
              <a:gd name="adj" fmla="val 16000"/>
            </a:avLst>
          </a:prstGeom>
          <a:solidFill>
            <a:srgbClr val="F3EAD0"/>
          </a:solidFill>
          <a:ln w="12700">
            <a:solidFill>
              <a:srgbClr val="C9A84C"/>
            </a:solidFill>
            <a:prstDash val="solid"/>
          </a:ln>
        </p:spPr>
      </p:sp>
      <p:sp>
        <p:nvSpPr>
          <p:cNvPr id="11" name="Text 9"/>
          <p:cNvSpPr/>
          <p:nvPr/>
        </p:nvSpPr>
        <p:spPr>
          <a:xfrm>
            <a:off x="576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NF</a:t>
            </a:r>
            <a:endParaRPr lang="en-US" sz="1300" dirty="0"/>
          </a:p>
        </p:txBody>
      </p:sp>
      <p:sp>
        <p:nvSpPr>
          <p:cNvPr id="12" name="Text 10"/>
          <p:cNvSpPr/>
          <p:nvPr/>
        </p:nvSpPr>
        <p:spPr>
          <a:xfrm>
            <a:off x="1225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John F. Kennedy’s 1960s domestic program promoting economic growth, education, civil rights, and space exploration; a symbol of optimism.</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sp>
      <p:sp>
        <p:nvSpPr>
          <p:cNvPr id="14" name="Shape 12"/>
          <p:cNvSpPr/>
          <p:nvPr/>
        </p:nvSpPr>
        <p:spPr>
          <a:xfrm>
            <a:off x="6263640" y="1645920"/>
            <a:ext cx="5486400" cy="676656"/>
          </a:xfrm>
          <a:prstGeom prst="rect">
            <a:avLst/>
          </a:prstGeom>
          <a:solidFill>
            <a:srgbClr val="1A2332"/>
          </a:solidFill>
          <a:ln/>
        </p:spPr>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Peace Corps</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pees KOR</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Cuerpo de Paz</a:t>
            </a:r>
            <a:endParaRPr lang="en-US" sz="1000" dirty="0"/>
          </a:p>
        </p:txBody>
      </p:sp>
      <p:sp>
        <p:nvSpPr>
          <p:cNvPr id="18" name="Shape 16"/>
          <p:cNvSpPr/>
          <p:nvPr/>
        </p:nvSpPr>
        <p:spPr>
          <a:xfrm>
            <a:off x="6382512" y="2395728"/>
            <a:ext cx="457200" cy="457200"/>
          </a:xfrm>
          <a:prstGeom prst="roundRect">
            <a:avLst>
              <a:gd name="adj" fmla="val 16000"/>
            </a:avLst>
          </a:prstGeom>
          <a:solidFill>
            <a:srgbClr val="F3EAD0"/>
          </a:solidFill>
          <a:ln w="12700">
            <a:solidFill>
              <a:srgbClr val="C9A84C"/>
            </a:solidFill>
            <a:prstDash val="solid"/>
          </a:ln>
        </p:spPr>
      </p:sp>
      <p:sp>
        <p:nvSpPr>
          <p:cNvPr id="19" name="Text 17"/>
          <p:cNvSpPr/>
          <p:nvPr/>
        </p:nvSpPr>
        <p:spPr>
          <a:xfrm>
            <a:off x="6291072" y="2395728"/>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PC</a:t>
            </a:r>
            <a:endParaRPr lang="en-US" sz="1300" dirty="0"/>
          </a:p>
        </p:txBody>
      </p:sp>
      <p:sp>
        <p:nvSpPr>
          <p:cNvPr id="20" name="Text 18"/>
          <p:cNvSpPr/>
          <p:nvPr/>
        </p:nvSpPr>
        <p:spPr>
          <a:xfrm>
            <a:off x="6940296" y="2395728"/>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Volunteer program created by President Kennedy in 1961, sending Americans to developing countries to help with education, health, and economic development.</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sp>
      <p:sp>
        <p:nvSpPr>
          <p:cNvPr id="22" name="Shape 20"/>
          <p:cNvSpPr/>
          <p:nvPr/>
        </p:nvSpPr>
        <p:spPr>
          <a:xfrm>
            <a:off x="548640" y="3072384"/>
            <a:ext cx="5486400" cy="676656"/>
          </a:xfrm>
          <a:prstGeom prst="rect">
            <a:avLst/>
          </a:prstGeom>
          <a:solidFill>
            <a:srgbClr val="1A2332"/>
          </a:solidFill>
          <a:ln/>
        </p:spPr>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Moon Landing Goal</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moon LAND-ing</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Objetivo de Aterrizaje Lunar</a:t>
            </a:r>
            <a:endParaRPr lang="en-US" sz="1000" dirty="0"/>
          </a:p>
        </p:txBody>
      </p:sp>
      <p:sp>
        <p:nvSpPr>
          <p:cNvPr id="26" name="Shape 24"/>
          <p:cNvSpPr/>
          <p:nvPr/>
        </p:nvSpPr>
        <p:spPr>
          <a:xfrm>
            <a:off x="667512" y="3822192"/>
            <a:ext cx="457200" cy="457200"/>
          </a:xfrm>
          <a:prstGeom prst="roundRect">
            <a:avLst>
              <a:gd name="adj" fmla="val 16000"/>
            </a:avLst>
          </a:prstGeom>
          <a:solidFill>
            <a:srgbClr val="F3EAD0"/>
          </a:solidFill>
          <a:ln w="12700">
            <a:solidFill>
              <a:srgbClr val="C9A84C"/>
            </a:solidFill>
            <a:prstDash val="solid"/>
          </a:ln>
        </p:spPr>
      </p:sp>
      <p:sp>
        <p:nvSpPr>
          <p:cNvPr id="27" name="Text 25"/>
          <p:cNvSpPr/>
          <p:nvPr/>
        </p:nvSpPr>
        <p:spPr>
          <a:xfrm>
            <a:off x="576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ML</a:t>
            </a:r>
            <a:endParaRPr lang="en-US" sz="1300" dirty="0"/>
          </a:p>
        </p:txBody>
      </p:sp>
      <p:sp>
        <p:nvSpPr>
          <p:cNvPr id="28" name="Text 26"/>
          <p:cNvSpPr/>
          <p:nvPr/>
        </p:nvSpPr>
        <p:spPr>
          <a:xfrm>
            <a:off x="1225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President Kennedy’s 1961 pledge to land Americans on the moon before 1970, mobilizing national resources, advancing technology, and inspiring a generation.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sp>
      <p:sp>
        <p:nvSpPr>
          <p:cNvPr id="30" name="Shape 28"/>
          <p:cNvSpPr/>
          <p:nvPr/>
        </p:nvSpPr>
        <p:spPr>
          <a:xfrm>
            <a:off x="6263640" y="3072384"/>
            <a:ext cx="5486400" cy="676656"/>
          </a:xfrm>
          <a:prstGeom prst="rect">
            <a:avLst/>
          </a:prstGeom>
          <a:solidFill>
            <a:srgbClr val="1A2332"/>
          </a:solidFill>
          <a:ln/>
        </p:spPr>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Space Race</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spays rays</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Carrera Espacial</a:t>
            </a:r>
            <a:endParaRPr lang="en-US" sz="1000" dirty="0"/>
          </a:p>
        </p:txBody>
      </p:sp>
      <p:sp>
        <p:nvSpPr>
          <p:cNvPr id="34" name="Shape 32"/>
          <p:cNvSpPr/>
          <p:nvPr/>
        </p:nvSpPr>
        <p:spPr>
          <a:xfrm>
            <a:off x="6382512" y="3822192"/>
            <a:ext cx="457200" cy="457200"/>
          </a:xfrm>
          <a:prstGeom prst="roundRect">
            <a:avLst>
              <a:gd name="adj" fmla="val 16000"/>
            </a:avLst>
          </a:prstGeom>
          <a:solidFill>
            <a:srgbClr val="F3EAD0"/>
          </a:solidFill>
          <a:ln w="12700">
            <a:solidFill>
              <a:srgbClr val="C9A84C"/>
            </a:solidFill>
            <a:prstDash val="solid"/>
          </a:ln>
        </p:spPr>
      </p:sp>
      <p:sp>
        <p:nvSpPr>
          <p:cNvPr id="35" name="Text 33"/>
          <p:cNvSpPr/>
          <p:nvPr/>
        </p:nvSpPr>
        <p:spPr>
          <a:xfrm>
            <a:off x="6291072" y="3822192"/>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SR</a:t>
            </a:r>
            <a:endParaRPr lang="en-US" sz="1300" dirty="0"/>
          </a:p>
        </p:txBody>
      </p:sp>
      <p:sp>
        <p:nvSpPr>
          <p:cNvPr id="36" name="Text 34"/>
          <p:cNvSpPr/>
          <p:nvPr/>
        </p:nvSpPr>
        <p:spPr>
          <a:xfrm>
            <a:off x="6940296" y="3822192"/>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Cold War competition between the U.S. and Soviet Union to achieve firsts in space exploration; a top New Frontier priority.</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sp>
      <p:sp>
        <p:nvSpPr>
          <p:cNvPr id="38" name="Shape 36"/>
          <p:cNvSpPr/>
          <p:nvPr/>
        </p:nvSpPr>
        <p:spPr>
          <a:xfrm>
            <a:off x="548640" y="4498848"/>
            <a:ext cx="5486400" cy="676656"/>
          </a:xfrm>
          <a:prstGeom prst="rect">
            <a:avLst/>
          </a:prstGeom>
          <a:solidFill>
            <a:srgbClr val="1A2332"/>
          </a:solidFill>
          <a:ln/>
        </p:spPr>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John F. Kennedy</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KEN-eh-dee</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John F. Kennedy</a:t>
            </a:r>
            <a:endParaRPr lang="en-US" sz="1000" dirty="0"/>
          </a:p>
        </p:txBody>
      </p:sp>
      <p:sp>
        <p:nvSpPr>
          <p:cNvPr id="42" name="Shape 40"/>
          <p:cNvSpPr/>
          <p:nvPr/>
        </p:nvSpPr>
        <p:spPr>
          <a:xfrm>
            <a:off x="667512" y="5248656"/>
            <a:ext cx="457200" cy="457200"/>
          </a:xfrm>
          <a:prstGeom prst="roundRect">
            <a:avLst>
              <a:gd name="adj" fmla="val 16000"/>
            </a:avLst>
          </a:prstGeom>
          <a:solidFill>
            <a:srgbClr val="F3EAD0"/>
          </a:solidFill>
          <a:ln w="12700">
            <a:solidFill>
              <a:srgbClr val="C9A84C"/>
            </a:solidFill>
            <a:prstDash val="solid"/>
          </a:ln>
        </p:spPr>
      </p:sp>
      <p:sp>
        <p:nvSpPr>
          <p:cNvPr id="43" name="Text 41"/>
          <p:cNvSpPr/>
          <p:nvPr/>
        </p:nvSpPr>
        <p:spPr>
          <a:xfrm>
            <a:off x="576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JF</a:t>
            </a:r>
            <a:endParaRPr lang="en-US" sz="1300" dirty="0"/>
          </a:p>
        </p:txBody>
      </p:sp>
      <p:sp>
        <p:nvSpPr>
          <p:cNvPr id="44" name="Text 42"/>
          <p:cNvSpPr/>
          <p:nvPr/>
        </p:nvSpPr>
        <p:spPr>
          <a:xfrm>
            <a:off x="1225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35th U.S. President (1961–1963) whose New Frontier promised progress in civil rights, the economy, and space.</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sp>
      <p:sp>
        <p:nvSpPr>
          <p:cNvPr id="46" name="Shape 44"/>
          <p:cNvSpPr/>
          <p:nvPr/>
        </p:nvSpPr>
        <p:spPr>
          <a:xfrm>
            <a:off x="6263640" y="4498848"/>
            <a:ext cx="5486400" cy="676656"/>
          </a:xfrm>
          <a:prstGeom prst="rect">
            <a:avLst/>
          </a:prstGeom>
          <a:solidFill>
            <a:srgbClr val="1A2332"/>
          </a:solidFill>
          <a:ln/>
        </p:spPr>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Apollo Program</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85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uh-POL-oh</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Programa Apolo</a:t>
            </a:r>
            <a:endParaRPr lang="en-US" sz="1000" dirty="0"/>
          </a:p>
        </p:txBody>
      </p:sp>
      <p:sp>
        <p:nvSpPr>
          <p:cNvPr id="50" name="Shape 48"/>
          <p:cNvSpPr/>
          <p:nvPr/>
        </p:nvSpPr>
        <p:spPr>
          <a:xfrm>
            <a:off x="6382512" y="5248656"/>
            <a:ext cx="457200" cy="457200"/>
          </a:xfrm>
          <a:prstGeom prst="roundRect">
            <a:avLst>
              <a:gd name="adj" fmla="val 16000"/>
            </a:avLst>
          </a:prstGeom>
          <a:solidFill>
            <a:srgbClr val="F3EAD0"/>
          </a:solidFill>
          <a:ln w="12700">
            <a:solidFill>
              <a:srgbClr val="C9A84C"/>
            </a:solidFill>
            <a:prstDash val="solid"/>
          </a:ln>
        </p:spPr>
      </p:sp>
      <p:sp>
        <p:nvSpPr>
          <p:cNvPr id="51" name="Text 49"/>
          <p:cNvSpPr/>
          <p:nvPr/>
        </p:nvSpPr>
        <p:spPr>
          <a:xfrm>
            <a:off x="6291072" y="5248656"/>
            <a:ext cx="640080" cy="457200"/>
          </a:xfrm>
          <a:prstGeom prst="rect">
            <a:avLst/>
          </a:prstGeom>
          <a:noFill/>
          <a:ln/>
        </p:spPr>
        <p:txBody>
          <a:bodyPr wrap="square" lIns="0" tIns="0" rIns="0" bIns="0" rtlCol="0" anchor="ctr"/>
          <a:lstStyle/>
          <a:p>
            <a:pPr algn="ctr" indent="0" marL="0">
              <a:buNone/>
            </a:pPr>
            <a:r>
              <a:rPr lang="en-US" sz="1300" b="1" dirty="0">
                <a:solidFill>
                  <a:srgbClr val="002858"/>
                </a:solidFill>
                <a:latin typeface="Georgia" pitchFamily="34" charset="0"/>
                <a:ea typeface="Georgia" pitchFamily="34" charset="-122"/>
                <a:cs typeface="Georgia" pitchFamily="34" charset="-120"/>
              </a:rPr>
              <a:t>AP</a:t>
            </a:r>
            <a:endParaRPr lang="en-US" sz="1300" dirty="0"/>
          </a:p>
        </p:txBody>
      </p:sp>
      <p:sp>
        <p:nvSpPr>
          <p:cNvPr id="52" name="Text 50"/>
          <p:cNvSpPr/>
          <p:nvPr/>
        </p:nvSpPr>
        <p:spPr>
          <a:xfrm>
            <a:off x="6940296" y="5248656"/>
            <a:ext cx="4681728"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NASA program launched under Kennedy's goal of landing an American on the Moon before the decade's end.</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A2332"/>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A2332"/>
          </a:solidFill>
          <a:ln/>
        </p:spPr>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Identify author’s argument and purpose</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Why did Kennedy argue that the Peace Corps was important for American foreign policy?</a:t>
            </a:r>
            <a:endParaRPr lang="en-US" sz="1500" dirty="0"/>
          </a:p>
        </p:txBody>
      </p:sp>
      <p:sp>
        <p:nvSpPr>
          <p:cNvPr id="9" name="Shape 7"/>
          <p:cNvSpPr/>
          <p:nvPr/>
        </p:nvSpPr>
        <p:spPr>
          <a:xfrm>
            <a:off x="548640" y="2606040"/>
            <a:ext cx="11064240" cy="1554480"/>
          </a:xfrm>
          <a:prstGeom prst="roundRect">
            <a:avLst>
              <a:gd name="adj" fmla="val 4706"/>
            </a:avLst>
          </a:prstGeom>
          <a:solidFill>
            <a:srgbClr val="C9A84C"/>
          </a:solidFill>
          <a:ln/>
        </p:spPr>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A2332"/>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950976"/>
          </a:xfrm>
          <a:prstGeom prst="rect">
            <a:avLst/>
          </a:prstGeom>
          <a:noFill/>
          <a:ln/>
        </p:spPr>
        <p:txBody>
          <a:bodyPr wrap="square" rtlCol="0" anchor="t">
            <a:normAutofit/>
          </a:bodyPr>
          <a:lstStyle/>
          <a:p>
            <a:pPr indent="0" marL="0">
              <a:lnSpc>
                <a:spcPct val="106000"/>
              </a:lnSpc>
              <a:buNone/>
            </a:pPr>
            <a:r>
              <a:rPr lang="en-US" sz="1450" b="1" dirty="0">
                <a:solidFill>
                  <a:srgbClr val="1A2332"/>
                </a:solidFill>
                <a:latin typeface="Calibri" pitchFamily="34" charset="0"/>
                <a:ea typeface="Calibri" pitchFamily="34" charset="-122"/>
                <a:cs typeface="Calibri" pitchFamily="34" charset="-120"/>
              </a:rPr>
              <a:t>Kennedy argued that trained American volunteers helping developing nations would advance U.S. interests by building goodwill and competing with Soviet influence—not through weapons, but through service.</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859536"/>
          </a:xfrm>
          <a:prstGeom prst="rect">
            <a:avLst/>
          </a:prstGeom>
          <a:noFill/>
          <a:ln/>
        </p:spPr>
        <p:txBody>
          <a:bodyPr wrap="square" rtlCol="0" anchor="t">
            <a:normAutofit/>
          </a:bodyPr>
          <a:lstStyle/>
          <a:p>
            <a:pPr indent="0" marL="0">
              <a:lnSpc>
                <a:spcPct val="106000"/>
              </a:lnSpc>
              <a:buNone/>
            </a:pPr>
            <a:r>
              <a:rPr lang="en-US" sz="1300" i="1" dirty="0">
                <a:solidFill>
                  <a:srgbClr val="1F2430"/>
                </a:solidFill>
                <a:latin typeface="Calibri" pitchFamily="34" charset="0"/>
                <a:ea typeface="Calibri" pitchFamily="34" charset="-122"/>
                <a:cs typeface="Calibri" pitchFamily="34" charset="-120"/>
              </a:rPr>
              <a:t>In the Peace Corps message, underline the phrase that shows Kennedy’s vision went beyond charity to Cold War strategy.</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With a partner, write one sentence: according to Kennedy, why would the Peace Corps be more effective in the Cold War than military force alone?</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109</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STUDENT ACTIVITY</a:t>
            </a:r>
            <a:endParaRPr lang="en-US" sz="1200" dirty="0"/>
          </a:p>
        </p:txBody>
      </p:sp>
      <p:sp>
        <p:nvSpPr>
          <p:cNvPr id="4" name="Text 2"/>
          <p:cNvSpPr/>
          <p:nvPr/>
        </p:nvSpPr>
        <p:spPr>
          <a:xfrm>
            <a:off x="548640" y="713232"/>
            <a:ext cx="11064240" cy="822960"/>
          </a:xfrm>
          <a:prstGeom prst="rect">
            <a:avLst/>
          </a:prstGeom>
          <a:noFill/>
          <a:ln/>
        </p:spPr>
        <p:txBody>
          <a:bodyPr wrap="square" rtlCol="0" anchor="t">
            <a:normAutofit/>
          </a:bodyPr>
          <a:lstStyle/>
          <a:p>
            <a:pPr indent="0" marL="0">
              <a:buNone/>
            </a:pPr>
            <a:r>
              <a:rPr lang="en-US" sz="2200" b="1" dirty="0">
                <a:solidFill>
                  <a:srgbClr val="1A2332"/>
                </a:solidFill>
                <a:latin typeface="Georgia" pitchFamily="34" charset="0"/>
                <a:ea typeface="Georgia" pitchFamily="34" charset="-122"/>
                <a:cs typeface="Georgia" pitchFamily="34" charset="-120"/>
              </a:rPr>
              <a:t>New Frontier in Action — Kennedy’s Programs and the Cold War</a:t>
            </a:r>
            <a:endParaRPr lang="en-US" sz="2200" dirty="0"/>
          </a:p>
        </p:txBody>
      </p:sp>
      <p:sp>
        <p:nvSpPr>
          <p:cNvPr id="5" name="Shape 3"/>
          <p:cNvSpPr/>
          <p:nvPr/>
        </p:nvSpPr>
        <p:spPr>
          <a:xfrm>
            <a:off x="548640" y="1591056"/>
            <a:ext cx="1199693" cy="365760"/>
          </a:xfrm>
          <a:prstGeom prst="roundRect">
            <a:avLst>
              <a:gd name="adj" fmla="val 20000"/>
            </a:avLst>
          </a:prstGeom>
          <a:solidFill>
            <a:srgbClr val="1A2332"/>
          </a:solidFill>
          <a:ln/>
        </p:spPr>
      </p:sp>
      <p:sp>
        <p:nvSpPr>
          <p:cNvPr id="6" name="Text 4"/>
          <p:cNvSpPr/>
          <p:nvPr/>
        </p:nvSpPr>
        <p:spPr>
          <a:xfrm>
            <a:off x="548640" y="1591056"/>
            <a:ext cx="119969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Groups of 3</a:t>
            </a:r>
            <a:endParaRPr lang="en-US" sz="1050" dirty="0"/>
          </a:p>
        </p:txBody>
      </p:sp>
      <p:sp>
        <p:nvSpPr>
          <p:cNvPr id="7" name="Shape 5"/>
          <p:cNvSpPr/>
          <p:nvPr/>
        </p:nvSpPr>
        <p:spPr>
          <a:xfrm>
            <a:off x="1912925" y="1591056"/>
            <a:ext cx="779069" cy="365760"/>
          </a:xfrm>
          <a:prstGeom prst="roundRect">
            <a:avLst>
              <a:gd name="adj" fmla="val 20000"/>
            </a:avLst>
          </a:prstGeom>
          <a:solidFill>
            <a:srgbClr val="1A2332"/>
          </a:solidFill>
          <a:ln/>
        </p:spPr>
      </p:sp>
      <p:sp>
        <p:nvSpPr>
          <p:cNvPr id="8" name="Text 6"/>
          <p:cNvSpPr/>
          <p:nvPr/>
        </p:nvSpPr>
        <p:spPr>
          <a:xfrm>
            <a:off x="1912925" y="1591056"/>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C62828"/>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your Cornell notes and Kennedy’s Peace Corps message, analyze three New Frontier programs: PEACE CORPS, MOON GOAL, and CIVIL RIGHTS. For each program, identify (a) the domestic problem or Cold War goal it addressed, (b) one piece of evidence from the sections or primary source, and (c) whether Kennedy achieved it. Then argue: which New Frontier program had the greatest long-term impact on America? Use evidence from the sections to defend your choice.</a:t>
            </a:r>
            <a:endParaRPr lang="en-US" sz="1350" dirty="0"/>
          </a:p>
        </p:txBody>
      </p:sp>
      <p:sp>
        <p:nvSpPr>
          <p:cNvPr id="12" name="Shape 10"/>
          <p:cNvSpPr/>
          <p:nvPr/>
        </p:nvSpPr>
        <p:spPr>
          <a:xfrm>
            <a:off x="548640" y="4526280"/>
            <a:ext cx="5486400" cy="1325880"/>
          </a:xfrm>
          <a:prstGeom prst="roundRect">
            <a:avLst>
              <a:gd name="adj" fmla="val 5517"/>
            </a:avLst>
          </a:prstGeom>
          <a:solidFill>
            <a:srgbClr val="1A2332"/>
          </a:solidFill>
          <a:ln/>
        </p:spPr>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normAutofit/>
          </a:bodyPr>
          <a:lstStyle/>
          <a:p>
            <a:pPr indent="0" marL="0">
              <a:lnSpc>
                <a:spcPct val="103000"/>
              </a:lnSpc>
              <a:buNone/>
            </a:pPr>
            <a:r>
              <a:rPr lang="en-US" sz="1050" dirty="0">
                <a:solidFill>
                  <a:srgbClr val="FFFFFF"/>
                </a:solidFill>
                <a:latin typeface="Calibri" pitchFamily="34" charset="0"/>
                <a:ea typeface="Calibri" pitchFamily="34" charset="-122"/>
                <a:cs typeface="Calibri" pitchFamily="34" charset="-120"/>
              </a:rPr>
              <a:t>Three-program analysis chart (Peace Corps / moon goal / civil rights, each with goal + evidence + outcome) AND a one-paragraph argument identifying the most impactful program with evidence.</a:t>
            </a:r>
            <a:endParaRPr lang="en-US" sz="10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84C"/>
            </a:solidFill>
            <a:prstDash val="solid"/>
          </a:ln>
        </p:spPr>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C62828"/>
                </a:solidFill>
                <a:latin typeface="Trebuchet MS" pitchFamily="34" charset="0"/>
                <a:ea typeface="Trebuchet MS" pitchFamily="34" charset="-122"/>
                <a:cs typeface="Trebuchet MS" pitchFamily="34" charset="-120"/>
              </a:rPr>
              <a:t>DIFFERENTIATION</a:t>
            </a:r>
            <a:endParaRPr lang="en-US" sz="1050" dirty="0"/>
          </a:p>
        </p:txBody>
      </p:sp>
      <p:sp>
        <p:nvSpPr>
          <p:cNvPr id="17" name="Text 15"/>
          <p:cNvSpPr/>
          <p:nvPr/>
        </p:nvSpPr>
        <p:spPr>
          <a:xfrm>
            <a:off x="6400800" y="4919472"/>
            <a:ext cx="5029200" cy="868680"/>
          </a:xfrm>
          <a:prstGeom prst="rect">
            <a:avLst/>
          </a:prstGeom>
          <a:noFill/>
          <a:ln/>
        </p:spPr>
        <p:txBody>
          <a:bodyPr wrap="square" rtlCol="0" anchor="t">
            <a:normAutofit/>
          </a:bodyPr>
          <a:lstStyle/>
          <a:p>
            <a:pPr indent="0" marL="0">
              <a:lnSpc>
                <a:spcPct val="103000"/>
              </a:lnSpc>
              <a:buNone/>
            </a:pPr>
            <a:r>
              <a:rPr lang="en-US" sz="1000" dirty="0">
                <a:solidFill>
                  <a:srgbClr val="1F2430"/>
                </a:solidFill>
                <a:latin typeface="Calibri" pitchFamily="34" charset="0"/>
                <a:ea typeface="Calibri" pitchFamily="34" charset="-122"/>
                <a:cs typeface="Calibri" pitchFamily="34" charset="-120"/>
              </a:rPr>
              <a:t>Entry: Chart with program names pre-labeled and one column (domestic or Cold War goal) pre-filled for the Peace Corps; student completes the remaining programs. Honors: Argue whether Kennedy’s assassination helped or hurt the New Frontier—did his death make more programs succeed through LBJ, or did it derail the agenda? Use specific evidence from the sections and what you know about the Great Society.</a:t>
            </a:r>
            <a:endParaRPr lang="en-US" sz="10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A2332"/>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cornell-notes/unit-8/us77-kennedy-new-frontier.pdf</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110</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US.77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84C"/>
            </a:solidFill>
            <a:prstDash val="solid"/>
          </a:ln>
        </p:spPr>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C62828"/>
          </a:solidFill>
          <a:ln/>
        </p:spPr>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did President Kennedy’s space program goal reflect Cold War competition?</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sp>
      <p:sp>
        <p:nvSpPr>
          <p:cNvPr id="12" name="Shape 10"/>
          <p:cNvSpPr/>
          <p:nvPr/>
        </p:nvSpPr>
        <p:spPr>
          <a:xfrm>
            <a:off x="713232" y="2889504"/>
            <a:ext cx="365760" cy="365760"/>
          </a:xfrm>
          <a:prstGeom prst="ellipse">
            <a:avLst/>
          </a:prstGeom>
          <a:solidFill>
            <a:srgbClr val="1A2332"/>
          </a:solidFill>
          <a:ln/>
        </p:spPr>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Domestic agenda to improve education, end discrimination, and reach the moon</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sp>
      <p:sp>
        <p:nvSpPr>
          <p:cNvPr id="16" name="Shape 14"/>
          <p:cNvSpPr/>
          <p:nvPr/>
        </p:nvSpPr>
        <p:spPr>
          <a:xfrm>
            <a:off x="713232" y="3639312"/>
            <a:ext cx="365760" cy="365760"/>
          </a:xfrm>
          <a:prstGeom prst="ellipse">
            <a:avLst/>
          </a:prstGeom>
          <a:solidFill>
            <a:srgbClr val="1A2332"/>
          </a:solidFill>
          <a:ln/>
        </p:spPr>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Send American volunteers to developing nations to provide assistance</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sp>
      <p:sp>
        <p:nvSpPr>
          <p:cNvPr id="20" name="Shape 18"/>
          <p:cNvSpPr/>
          <p:nvPr/>
        </p:nvSpPr>
        <p:spPr>
          <a:xfrm>
            <a:off x="713232" y="4389120"/>
            <a:ext cx="365760" cy="365760"/>
          </a:xfrm>
          <a:prstGeom prst="ellipse">
            <a:avLst/>
          </a:prstGeom>
          <a:solidFill>
            <a:srgbClr val="1A2332"/>
          </a:solidFill>
          <a:ln/>
        </p:spPr>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Commitment to landing Americans on the moon before the decade ended</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sp>
      <p:sp>
        <p:nvSpPr>
          <p:cNvPr id="24" name="Shape 22"/>
          <p:cNvSpPr/>
          <p:nvPr/>
        </p:nvSpPr>
        <p:spPr>
          <a:xfrm>
            <a:off x="713232" y="5138928"/>
            <a:ext cx="365760" cy="365760"/>
          </a:xfrm>
          <a:prstGeom prst="ellipse">
            <a:avLst/>
          </a:prstGeom>
          <a:solidFill>
            <a:srgbClr val="1A2332"/>
          </a:solidFill>
          <a:ln/>
        </p:spPr>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Landing on the moon would demonstrate American technological superiority</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84C"/>
            </a:solidFill>
            <a:prstDash val="solid"/>
          </a:ln>
        </p:spPr>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111</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US.77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did President Kennedy’s space program goal reflect Cold War competition?</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sp>
      <p:sp>
        <p:nvSpPr>
          <p:cNvPr id="10" name="Shape 8"/>
          <p:cNvSpPr/>
          <p:nvPr/>
        </p:nvSpPr>
        <p:spPr>
          <a:xfrm>
            <a:off x="713232" y="2761488"/>
            <a:ext cx="347472" cy="347472"/>
          </a:xfrm>
          <a:prstGeom prst="ellipse">
            <a:avLst/>
          </a:prstGeom>
          <a:solidFill>
            <a:srgbClr val="1A2332"/>
          </a:solidFill>
          <a:ln/>
        </p:spPr>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Domestic agenda to improve education, end discrimination, and reach the moon</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sp>
      <p:sp>
        <p:nvSpPr>
          <p:cNvPr id="14" name="Shape 12"/>
          <p:cNvSpPr/>
          <p:nvPr/>
        </p:nvSpPr>
        <p:spPr>
          <a:xfrm>
            <a:off x="713232" y="3419856"/>
            <a:ext cx="347472" cy="347472"/>
          </a:xfrm>
          <a:prstGeom prst="ellipse">
            <a:avLst/>
          </a:prstGeom>
          <a:solidFill>
            <a:srgbClr val="1A2332"/>
          </a:solidFill>
          <a:ln/>
        </p:spPr>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Send American volunteers to developing nations to provide assistance</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sp>
      <p:sp>
        <p:nvSpPr>
          <p:cNvPr id="18" name="Shape 16"/>
          <p:cNvSpPr/>
          <p:nvPr/>
        </p:nvSpPr>
        <p:spPr>
          <a:xfrm>
            <a:off x="713232" y="4078224"/>
            <a:ext cx="347472" cy="347472"/>
          </a:xfrm>
          <a:prstGeom prst="ellipse">
            <a:avLst/>
          </a:prstGeom>
          <a:solidFill>
            <a:srgbClr val="1A2332"/>
          </a:solidFill>
          <a:ln/>
        </p:spPr>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Commitment to landing Americans on the moon before the decade ended</a:t>
            </a:r>
            <a:endParaRPr lang="en-US" sz="1300" dirty="0"/>
          </a:p>
        </p:txBody>
      </p:sp>
      <p:sp>
        <p:nvSpPr>
          <p:cNvPr id="21" name="Shape 19"/>
          <p:cNvSpPr/>
          <p:nvPr/>
        </p:nvSpPr>
        <p:spPr>
          <a:xfrm>
            <a:off x="548640" y="4626864"/>
            <a:ext cx="11064240" cy="566928"/>
          </a:xfrm>
          <a:prstGeom prst="roundRect">
            <a:avLst>
              <a:gd name="adj" fmla="val 9677"/>
            </a:avLst>
          </a:prstGeom>
          <a:solidFill>
            <a:srgbClr val="C9A84C"/>
          </a:solidFill>
          <a:ln w="12700">
            <a:solidFill>
              <a:srgbClr val="F9A825"/>
            </a:solidFill>
            <a:prstDash val="solid"/>
          </a:ln>
        </p:spPr>
      </p:sp>
      <p:sp>
        <p:nvSpPr>
          <p:cNvPr id="22" name="Shape 20"/>
          <p:cNvSpPr/>
          <p:nvPr/>
        </p:nvSpPr>
        <p:spPr>
          <a:xfrm>
            <a:off x="713232" y="4736592"/>
            <a:ext cx="347472" cy="347472"/>
          </a:xfrm>
          <a:prstGeom prst="ellipse">
            <a:avLst/>
          </a:prstGeom>
          <a:solidFill>
            <a:srgbClr val="1A2332"/>
          </a:solidFill>
          <a:ln/>
        </p:spPr>
      </p:sp>
      <p:sp>
        <p:nvSpPr>
          <p:cNvPr id="23" name="Text 21"/>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D</a:t>
            </a:r>
            <a:endParaRPr lang="en-US" sz="1300" dirty="0"/>
          </a:p>
        </p:txBody>
      </p:sp>
      <p:sp>
        <p:nvSpPr>
          <p:cNvPr id="24" name="Text 22"/>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b="1" dirty="0">
                <a:solidFill>
                  <a:srgbClr val="1A2332"/>
                </a:solidFill>
                <a:latin typeface="Calibri" pitchFamily="34" charset="0"/>
                <a:ea typeface="Calibri" pitchFamily="34" charset="-122"/>
                <a:cs typeface="Calibri" pitchFamily="34" charset="-120"/>
              </a:rPr>
              <a:t>Landing on the moon would demonstrate American technological superiority</a:t>
            </a:r>
            <a:endParaRPr lang="en-US" sz="1300" dirty="0"/>
          </a:p>
        </p:txBody>
      </p:sp>
      <p:sp>
        <p:nvSpPr>
          <p:cNvPr id="25" name="Text 23"/>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A2332"/>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Kennedy’s moon goal reflected Cold War rivalry because landing Americans on the moon would prove U.S. scientific and technological strength against the Soviet Union. C is wrong because it states the goal but not its broader meaning, and B is wrong because the Peace Corps addressed a different part…</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112</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A2332"/>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C62828"/>
                </a:solidFill>
                <a:latin typeface="Trebuchet MS" pitchFamily="34" charset="0"/>
                <a:ea typeface="Trebuchet MS" pitchFamily="34" charset="-122"/>
                <a:cs typeface="Trebuchet MS" pitchFamily="34" charset="-120"/>
              </a:rPr>
              <a:t>US.77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A2332"/>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C62828"/>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New Frontier Goals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Peace Corps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Space Race Priority</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Legacy and Limitations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84C"/>
            </a:solidFill>
            <a:prstDash val="solid"/>
          </a:ln>
        </p:spPr>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HONORS /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57216"/>
            <a:ext cx="6492240" cy="603504"/>
          </a:xfrm>
          <a:prstGeom prst="rect">
            <a:avLst/>
          </a:prstGeom>
          <a:noFill/>
          <a:ln/>
        </p:spPr>
        <p:txBody>
          <a:bodyPr wrap="square" rtlCol="0" anchor="t">
            <a:normAutofit/>
          </a:bodyPr>
          <a:lstStyle/>
          <a:p>
            <a:pPr indent="0" marL="0">
              <a:lnSpc>
                <a:spcPct val="98000"/>
              </a:lnSpc>
              <a:buNone/>
            </a:pPr>
            <a:r>
              <a:rPr lang="en-US" sz="1050" i="1" dirty="0">
                <a:solidFill>
                  <a:srgbClr val="1F2430"/>
                </a:solidFill>
                <a:latin typeface="Calibri" pitchFamily="34" charset="0"/>
                <a:ea typeface="Calibri" pitchFamily="34" charset="-122"/>
                <a:cs typeface="Calibri" pitchFamily="34" charset="-120"/>
              </a:rPr>
              <a:t>Argue: Kennedy’s most lasting New Frontier legacy was not any specific program, but the idea that America had a responsibility to lead—through service, science, and moral courage. Use the Peace Corps message and at least one other piece of evidence to support your argument. (SSP.04)</a:t>
            </a:r>
            <a:endParaRPr lang="en-US" sz="1050" dirty="0"/>
          </a:p>
        </p:txBody>
      </p:sp>
      <p:sp>
        <p:nvSpPr>
          <p:cNvPr id="11" name="Shape 9"/>
          <p:cNvSpPr/>
          <p:nvPr/>
        </p:nvSpPr>
        <p:spPr>
          <a:xfrm>
            <a:off x="7818120" y="1691640"/>
            <a:ext cx="3794760" cy="4114800"/>
          </a:xfrm>
          <a:prstGeom prst="roundRect">
            <a:avLst>
              <a:gd name="adj" fmla="val 2410"/>
            </a:avLst>
          </a:prstGeom>
          <a:solidFill>
            <a:srgbClr val="1A2332"/>
          </a:solidFill>
          <a:ln/>
        </p:spPr>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84C"/>
            </a:solidFill>
            <a:prstDash val="solid"/>
          </a:ln>
        </p:spPr>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how two of Kennedy’s New Frontier programs were connected to Cold War competition. Use specific evidence from the primary source or sections.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sp>
      <p:sp>
        <p:nvSpPr>
          <p:cNvPr id="17" name="Shape 15"/>
          <p:cNvSpPr/>
          <p:nvPr/>
        </p:nvSpPr>
        <p:spPr>
          <a:xfrm>
            <a:off x="8138160" y="5074920"/>
            <a:ext cx="3108960" cy="0"/>
          </a:xfrm>
          <a:prstGeom prst="line">
            <a:avLst/>
          </a:prstGeom>
          <a:noFill/>
          <a:ln w="12700">
            <a:solidFill>
              <a:srgbClr val="A7BACB"/>
            </a:solidFill>
            <a:prstDash val="dash"/>
          </a:ln>
        </p:spPr>
      </p:sp>
      <p:sp>
        <p:nvSpPr>
          <p:cNvPr id="18" name="Shape 16"/>
          <p:cNvSpPr/>
          <p:nvPr/>
        </p:nvSpPr>
        <p:spPr>
          <a:xfrm>
            <a:off x="8138160" y="5623560"/>
            <a:ext cx="3108960" cy="0"/>
          </a:xfrm>
          <a:prstGeom prst="line">
            <a:avLst/>
          </a:prstGeom>
          <a:noFill/>
          <a:ln w="12700">
            <a:solidFill>
              <a:srgbClr val="A7BACB"/>
            </a:solidFill>
            <a:prstDash val="dash"/>
          </a:ln>
        </p:spPr>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113</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84C"/>
          </a:solidFill>
          <a:ln/>
        </p:spPr>
        <p:txBody>
          <a:bodyPr/>
          <a:p/>
        </p:txBody>
      </p:sp>
      <p:sp>
        <p:nvSpPr>
          <p:cNvPr id="3" name="Shape 1"/>
          <p:cNvSpPr/>
          <p:nvPr/>
        </p:nvSpPr>
        <p:spPr>
          <a:xfrm>
            <a:off x="0" y="6711696"/>
            <a:ext cx="12191695" cy="146304"/>
          </a:xfrm>
          <a:prstGeom prst="rect">
            <a:avLst/>
          </a:prstGeom>
          <a:solidFill>
            <a:srgbClr val="C62828"/>
          </a:solidFill>
          <a:ln/>
        </p:spPr>
        <p:txBody>
          <a:bodyPr/>
          <a:p/>
        </p:txBody>
      </p:sp>
      <p:sp>
        <p:nvSpPr>
          <p:cNvPr id="4" name="Text 2"/>
          <p:cNvSpPr/>
          <p:nvPr/>
        </p:nvSpPr>
        <p:spPr>
          <a:xfrm>
            <a:off x="822960" y="1463040"/>
            <a:ext cx="10515600" cy="91440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Unit 8 Complete</a:t>
            </a:r>
            <a:endParaRPr lang="en-US" sz="4800" dirty="0"/>
          </a:p>
        </p:txBody>
      </p:sp>
      <p:sp>
        <p:nvSpPr>
          <p:cNvPr id="5" name="Text 3"/>
          <p:cNvSpPr/>
          <p:nvPr/>
        </p:nvSpPr>
        <p:spPr>
          <a:xfrm>
            <a:off x="822960" y="2560320"/>
            <a:ext cx="10515600" cy="1005840"/>
          </a:xfrm>
          <a:prstGeom prst="rect">
            <a:avLst/>
          </a:prstGeom>
          <a:noFill/>
          <a:ln/>
        </p:spPr>
        <p:txBody>
          <a:bodyPr wrap="square" rtlCol="0" anchor="ctr"/>
          <a:lstStyle/>
          <a:p>
            <a:pPr indent="0" marL="0">
              <a:lnSpc>
                <a:spcPct val="110000"/>
              </a:lnSpc>
              <a:buNone/>
            </a:pPr>
            <a:r>
              <a:rPr lang="en-US" sz="2100" i="1" dirty="0">
                <a:solidFill>
                  <a:srgbClr val="F9A825"/>
                </a:solidFill>
                <a:latin typeface="Georgia" pitchFamily="34" charset="0"/>
                <a:ea typeface="Georgia" pitchFamily="34" charset="-122"/>
                <a:cs typeface="Georgia" pitchFamily="34" charset="-120"/>
              </a:rPr>
              <a:t>Postwar Prosperity &amp; 1950s America (1945–1963) · from consumerism, the G.I. Bill, and the suburbs, through the baby boom and the Eisenhower years, to cars and highways, television, Tennessee's rock 'n' roll, and Kennedy's New Frontier.</a:t>
            </a:r>
            <a:endParaRPr lang="en-US" sz="2100" dirty="0"/>
          </a:p>
        </p:txBody>
      </p:sp>
      <p:sp>
        <p:nvSpPr>
          <p:cNvPr id="6" name="Text 4"/>
          <p:cNvSpPr/>
          <p:nvPr/>
        </p:nvSpPr>
        <p:spPr>
          <a:xfrm>
            <a:off x="822960" y="3566160"/>
            <a:ext cx="10515600" cy="1097280"/>
          </a:xfrm>
          <a:prstGeom prst="rect">
            <a:avLst/>
          </a:prstGeom>
          <a:noFill/>
          <a:ln/>
        </p:spPr>
        <p:txBody>
          <a:bodyPr wrap="square" rtlCol="0" anchor="t"/>
          <a:lstStyle/>
          <a:p>
            <a:pPr indent="0" marL="0">
              <a:lnSpc>
                <a:spcPct val="115000"/>
              </a:lnSpc>
              <a:buNone/>
            </a:pPr>
            <a:r>
              <a:rPr lang="en-US" sz="1600" b="1" dirty="0">
                <a:solidFill>
                  <a:srgbClr val="FFFFFF"/>
                </a:solidFill>
                <a:latin typeface="Calibri" pitchFamily="34" charset="0"/>
                <a:ea typeface="Calibri" pitchFamily="34" charset="-122"/>
                <a:cs typeface="Calibri" pitchFamily="34" charset="-120"/>
              </a:rPr>
              <a:t>Revisit your unit hook: </a:t>
            </a:r>
            <a:pPr indent="0" marL="0">
              <a:lnSpc>
                <a:spcPct val="115000"/>
              </a:lnSpc>
              <a:buNone/>
            </a:pPr>
            <a:r>
              <a:rPr lang="en-US" sz="1600" dirty="0">
                <a:solidFill>
                  <a:srgbClr val="C7D4E0"/>
                </a:solidFill>
                <a:latin typeface="Calibri" pitchFamily="34" charset="0"/>
                <a:ea typeface="Calibri" pitchFamily="34" charset="-122"/>
                <a:cs typeface="Calibri" pitchFamily="34" charset="-120"/>
              </a:rPr>
              <a:t>How did prosperity, new technology, and mass culture reshape American life in the 1950s — and who was left out? You can now answer with evidence — from the G.I. Bill and Levittown, the baby boom, and Eisenhower's interstate highways, to the automobile, television, Elvis and Memphis music, and Kennedy's New Frontier.</a:t>
            </a:r>
            <a:endParaRPr lang="en-US" sz="1600" dirty="0"/>
          </a:p>
        </p:txBody>
      </p:sp>
      <p:sp>
        <p:nvSpPr>
          <p:cNvPr id="7" name="Text 5"/>
          <p:cNvSpPr/>
          <p:nvPr/>
        </p:nvSpPr>
        <p:spPr>
          <a:xfrm>
            <a:off x="822960" y="4937760"/>
            <a:ext cx="10515600" cy="457200"/>
          </a:xfrm>
          <a:prstGeom prst="rect">
            <a:avLst/>
          </a:prstGeom>
          <a:noFill/>
          <a:ln/>
        </p:spPr>
        <p:txBody>
          <a:bodyPr wrap="square" rtlCol="0" anchor="ctr"/>
          <a:lstStyle/>
          <a:p>
            <a:pPr indent="0" marL="0">
              <a:buNone/>
            </a:pPr>
            <a:r>
              <a:rPr lang="en-US" sz="1400" b="1" spc="100" kern="0" dirty="0">
                <a:solidFill>
                  <a:srgbClr val="F9A825"/>
                </a:solidFill>
                <a:latin typeface="Trebuchet MS" pitchFamily="34" charset="0"/>
                <a:ea typeface="Trebuchet MS" pitchFamily="34" charset="-122"/>
                <a:cs typeface="Trebuchet MS" pitchFamily="34" charset="-120"/>
              </a:rPr>
              <a:t>Next: Unit 9 — The Civil Rights Movement</a:t>
            </a:r>
            <a:endParaRPr lang="en-US" sz="1400" dirty="0"/>
          </a:p>
        </p:txBody>
      </p:sp>
      <p:sp>
        <p:nvSpPr>
          <p:cNvPr id="8" name="Text 6"/>
          <p:cNvSpPr/>
          <p:nvPr/>
        </p:nvSpPr>
        <p:spPr>
          <a:xfrm>
            <a:off x="822960" y="5943600"/>
            <a:ext cx="10607040" cy="457200"/>
          </a:xfrm>
          <a:prstGeom prst="rect">
            <a:avLst/>
          </a:prstGeom>
          <a:noFill/>
          <a:ln/>
        </p:spPr>
        <p:txBody>
          <a:bodyPr wrap="square" rtlCol="0" anchor="ctr"/>
          <a:lstStyle/>
          <a:p>
            <a:pPr indent="0" marL="0">
              <a:buNone/>
            </a:pPr>
            <a:r>
              <a:rPr lang="en-US" sz="1000" dirty="0">
                <a:solidFill>
                  <a:srgbClr val="5C6470"/>
                </a:solidFill>
                <a:latin typeface="Calibri" pitchFamily="34" charset="0"/>
                <a:ea typeface="Calibri" pitchFamily="34" charset="-122"/>
                <a:cs typeface="Calibri" pitchFamily="34" charset="-120"/>
              </a:rPr>
              <a:t>U.S. History Hack  ·  TroopToTeacher Technologies LLC  ·  All primary sources verified against National Archives, Library of Congress, and U.S. Senate records. All images public domain.</a:t>
            </a:r>
            <a:endParaRPr lang="en-US" sz="1000" dirty="0"/>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502920"/>
            <a:ext cx="111556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How This Deck Works — UDL 3.0 &amp; MTSS</a:t>
            </a:r>
            <a:endParaRPr lang="en-US" sz="3200" dirty="0"/>
          </a:p>
        </p:txBody>
      </p:sp>
      <p:sp>
        <p:nvSpPr>
          <p:cNvPr id="3" name="Text 1"/>
          <p:cNvSpPr/>
          <p:nvPr/>
        </p:nvSpPr>
        <p:spPr>
          <a:xfrm>
            <a:off x="566928" y="1115568"/>
            <a:ext cx="10972800" cy="320040"/>
          </a:xfrm>
          <a:prstGeom prst="rect">
            <a:avLst/>
          </a:prstGeom>
          <a:noFill/>
          <a:ln/>
        </p:spPr>
        <p:txBody>
          <a:bodyPr wrap="square" lIns="0" tIns="0" rIns="0" bIns="0" rtlCol="0" anchor="ctr"/>
          <a:lstStyle/>
          <a:p>
            <a:pPr indent="0" marL="0">
              <a:buNone/>
            </a:pPr>
            <a:r>
              <a:rPr lang="en-US" sz="1400" i="1" dirty="0">
                <a:solidFill>
                  <a:srgbClr val="C89B3C"/>
                </a:solidFill>
                <a:latin typeface="Arial" pitchFamily="34" charset="0"/>
                <a:ea typeface="Arial" pitchFamily="34" charset="-122"/>
                <a:cs typeface="Arial" pitchFamily="34" charset="-120"/>
              </a:rPr>
              <a:t>Teacher reference · CAST UDL 3.0 guidelines designed into every standard</a:t>
            </a:r>
            <a:endParaRPr lang="en-US" sz="1400" dirty="0"/>
          </a:p>
        </p:txBody>
      </p:sp>
      <p:sp>
        <p:nvSpPr>
          <p:cNvPr id="4" name="Shape 2"/>
          <p:cNvSpPr/>
          <p:nvPr/>
        </p:nvSpPr>
        <p:spPr>
          <a:xfrm>
            <a:off x="548640" y="1600200"/>
            <a:ext cx="3566160" cy="3246120"/>
          </a:xfrm>
          <a:prstGeom prst="rect">
            <a:avLst/>
          </a:prstGeom>
          <a:solidFill>
            <a:srgbClr val="1E2C4C"/>
          </a:solidFill>
          <a:ln w="12700">
            <a:solidFill>
              <a:srgbClr val="C89B3C"/>
            </a:solidFill>
            <a:prstDash val="solid"/>
          </a:ln>
        </p:spPr>
      </p:sp>
      <p:sp>
        <p:nvSpPr>
          <p:cNvPr id="5" name="Text 3"/>
          <p:cNvSpPr/>
          <p:nvPr/>
        </p:nvSpPr>
        <p:spPr>
          <a:xfrm>
            <a:off x="777240"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ENGAGEMENT</a:t>
            </a:r>
            <a:endParaRPr lang="en-US" sz="1400" dirty="0"/>
          </a:p>
        </p:txBody>
      </p:sp>
      <p:sp>
        <p:nvSpPr>
          <p:cNvPr id="6" name="Text 4"/>
          <p:cNvSpPr/>
          <p:nvPr/>
        </p:nvSpPr>
        <p:spPr>
          <a:xfrm>
            <a:off x="777240"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“why”</a:t>
            </a:r>
            <a:endParaRPr lang="en-US" sz="1100" dirty="0"/>
          </a:p>
        </p:txBody>
      </p:sp>
      <p:sp>
        <p:nvSpPr>
          <p:cNvPr id="7" name="Text 5"/>
          <p:cNvSpPr/>
          <p:nvPr/>
        </p:nvSpPr>
        <p:spPr>
          <a:xfrm>
            <a:off x="777240"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Welcoming Interests &amp; Identities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Sustaining Effort &amp; Persistence</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Emotional Capacity</a:t>
            </a:r>
            <a:endParaRPr lang="en-US" sz="1300" dirty="0"/>
          </a:p>
        </p:txBody>
      </p:sp>
      <p:sp>
        <p:nvSpPr>
          <p:cNvPr id="8" name="Shape 6"/>
          <p:cNvSpPr/>
          <p:nvPr/>
        </p:nvSpPr>
        <p:spPr>
          <a:xfrm>
            <a:off x="4315968" y="1600200"/>
            <a:ext cx="3566160" cy="3246120"/>
          </a:xfrm>
          <a:prstGeom prst="rect">
            <a:avLst/>
          </a:prstGeom>
          <a:solidFill>
            <a:srgbClr val="1E2C4C"/>
          </a:solidFill>
          <a:ln w="12700">
            <a:solidFill>
              <a:srgbClr val="C89B3C"/>
            </a:solidFill>
            <a:prstDash val="solid"/>
          </a:ln>
        </p:spPr>
      </p:sp>
      <p:sp>
        <p:nvSpPr>
          <p:cNvPr id="9" name="Text 7"/>
          <p:cNvSpPr/>
          <p:nvPr/>
        </p:nvSpPr>
        <p:spPr>
          <a:xfrm>
            <a:off x="4544568"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REPRESENTATION</a:t>
            </a:r>
            <a:endParaRPr lang="en-US" sz="1400" dirty="0"/>
          </a:p>
        </p:txBody>
      </p:sp>
      <p:sp>
        <p:nvSpPr>
          <p:cNvPr id="10" name="Text 8"/>
          <p:cNvSpPr/>
          <p:nvPr/>
        </p:nvSpPr>
        <p:spPr>
          <a:xfrm>
            <a:off x="4544568"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“what”</a:t>
            </a:r>
            <a:endParaRPr lang="en-US" sz="1100" dirty="0"/>
          </a:p>
        </p:txBody>
      </p:sp>
      <p:sp>
        <p:nvSpPr>
          <p:cNvPr id="11" name="Text 9"/>
          <p:cNvSpPr/>
          <p:nvPr/>
        </p:nvSpPr>
        <p:spPr>
          <a:xfrm>
            <a:off x="4544568"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Perception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Language &amp; Symbols</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Building Knowledge</a:t>
            </a:r>
            <a:endParaRPr lang="en-US" sz="1300" dirty="0"/>
          </a:p>
        </p:txBody>
      </p:sp>
      <p:sp>
        <p:nvSpPr>
          <p:cNvPr id="12" name="Shape 10"/>
          <p:cNvSpPr/>
          <p:nvPr/>
        </p:nvSpPr>
        <p:spPr>
          <a:xfrm>
            <a:off x="8083296" y="1600200"/>
            <a:ext cx="3566160" cy="3246120"/>
          </a:xfrm>
          <a:prstGeom prst="rect">
            <a:avLst/>
          </a:prstGeom>
          <a:solidFill>
            <a:srgbClr val="1E2C4C"/>
          </a:solidFill>
          <a:ln w="12700">
            <a:solidFill>
              <a:srgbClr val="C89B3C"/>
            </a:solidFill>
            <a:prstDash val="solid"/>
          </a:ln>
        </p:spPr>
      </p:sp>
      <p:sp>
        <p:nvSpPr>
          <p:cNvPr id="13" name="Text 11"/>
          <p:cNvSpPr/>
          <p:nvPr/>
        </p:nvSpPr>
        <p:spPr>
          <a:xfrm>
            <a:off x="8311896" y="1783080"/>
            <a:ext cx="3108960" cy="320040"/>
          </a:xfrm>
          <a:prstGeom prst="rect">
            <a:avLst/>
          </a:prstGeom>
          <a:noFill/>
          <a:ln/>
        </p:spPr>
        <p:txBody>
          <a:bodyPr wrap="square" lIns="0" tIns="0" rIns="0" bIns="0" rtlCol="0" anchor="t"/>
          <a:lstStyle/>
          <a:p>
            <a:pPr indent="0" marL="0">
              <a:buNone/>
            </a:pPr>
            <a:r>
              <a:rPr lang="en-US" sz="1400" b="1" spc="50" kern="0" dirty="0">
                <a:solidFill>
                  <a:srgbClr val="C89B3C"/>
                </a:solidFill>
                <a:latin typeface="Arial" pitchFamily="34" charset="0"/>
                <a:ea typeface="Arial" pitchFamily="34" charset="-122"/>
                <a:cs typeface="Arial" pitchFamily="34" charset="-120"/>
              </a:rPr>
              <a:t>ACTION &amp; EXPRESSION</a:t>
            </a:r>
            <a:endParaRPr lang="en-US" sz="1400" dirty="0"/>
          </a:p>
        </p:txBody>
      </p:sp>
      <p:sp>
        <p:nvSpPr>
          <p:cNvPr id="14" name="Text 12"/>
          <p:cNvSpPr/>
          <p:nvPr/>
        </p:nvSpPr>
        <p:spPr>
          <a:xfrm>
            <a:off x="8311896" y="2103120"/>
            <a:ext cx="3108960" cy="274320"/>
          </a:xfrm>
          <a:prstGeom prst="rect">
            <a:avLst/>
          </a:prstGeom>
          <a:noFill/>
          <a:ln/>
        </p:spPr>
        <p:txBody>
          <a:bodyPr wrap="square" lIns="0" tIns="0" rIns="0" bIns="0" rtlCol="0" anchor="t"/>
          <a:lstStyle/>
          <a:p>
            <a:pPr indent="0" marL="0">
              <a:buNone/>
            </a:pPr>
            <a:r>
              <a:rPr lang="en-US" sz="1100" i="1" dirty="0">
                <a:solidFill>
                  <a:srgbClr val="9AA6BF"/>
                </a:solidFill>
                <a:latin typeface="Arial" pitchFamily="34" charset="0"/>
                <a:ea typeface="Arial" pitchFamily="34" charset="-122"/>
                <a:cs typeface="Arial" pitchFamily="34" charset="-120"/>
              </a:rPr>
              <a:t>Multiple means of the “how”</a:t>
            </a:r>
            <a:endParaRPr lang="en-US" sz="1100" dirty="0"/>
          </a:p>
        </p:txBody>
      </p:sp>
      <p:sp>
        <p:nvSpPr>
          <p:cNvPr id="15" name="Text 13"/>
          <p:cNvSpPr/>
          <p:nvPr/>
        </p:nvSpPr>
        <p:spPr>
          <a:xfrm>
            <a:off x="8311896" y="2487168"/>
            <a:ext cx="3154680" cy="219456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Interaction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Expression &amp; Communication</a:t>
            </a:r>
            <a:endParaRPr lang="en-US" sz="1300" dirty="0"/>
          </a:p>
          <a:p>
            <a:pPr marL="152400" indent="-152400">
              <a:spcAft>
                <a:spcPts val="600"/>
              </a:spcAft>
              <a:buSzPct val="100000"/>
              <a:buChar char="•"/>
            </a:pPr>
            <a:r>
              <a:rPr lang="en-US" sz="1300" dirty="0">
                <a:solidFill>
                  <a:srgbClr val="E7EAF2"/>
                </a:solidFill>
                <a:latin typeface="Arial" pitchFamily="34" charset="0"/>
                <a:ea typeface="Arial" pitchFamily="34" charset="-122"/>
                <a:cs typeface="Arial" pitchFamily="34" charset="-120"/>
              </a:rPr>
              <a:t>Strategy Development</a:t>
            </a:r>
            <a:endParaRPr lang="en-US" sz="1300" dirty="0"/>
          </a:p>
        </p:txBody>
      </p:sp>
      <p:sp>
        <p:nvSpPr>
          <p:cNvPr id="16" name="Text 14"/>
          <p:cNvSpPr/>
          <p:nvPr/>
        </p:nvSpPr>
        <p:spPr>
          <a:xfrm>
            <a:off x="8522208" y="1170432"/>
            <a:ext cx="3108960" cy="274320"/>
          </a:xfrm>
          <a:prstGeom prst="rect">
            <a:avLst/>
          </a:prstGeom>
          <a:solidFill>
            <a:srgbClr val="B22234"/>
          </a:solidFill>
          <a:ln/>
        </p:spPr>
        <p:txBody>
          <a:bodyPr wrap="square" lIns="25400" tIns="25400" rIns="25400" bIns="254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EVERY LEARNER  ·  SAME FIRM GOAL</a:t>
            </a:r>
            <a:endParaRPr lang="en-US" sz="1050" dirty="0"/>
          </a:p>
        </p:txBody>
      </p:sp>
      <p:sp>
        <p:nvSpPr>
          <p:cNvPr id="17" name="Shape 15"/>
          <p:cNvSpPr/>
          <p:nvPr/>
        </p:nvSpPr>
        <p:spPr>
          <a:xfrm>
            <a:off x="548640" y="5074920"/>
            <a:ext cx="11091672" cy="960120"/>
          </a:xfrm>
          <a:prstGeom prst="rect">
            <a:avLst/>
          </a:prstGeom>
          <a:solidFill>
            <a:srgbClr val="24345A"/>
          </a:solidFill>
          <a:ln w="19050">
            <a:solidFill>
              <a:srgbClr val="B22234"/>
            </a:solidFill>
            <a:prstDash val="solid"/>
          </a:ln>
        </p:spPr>
      </p:sp>
      <p:sp>
        <p:nvSpPr>
          <p:cNvPr id="18" name="Text 16"/>
          <p:cNvSpPr/>
          <p:nvPr/>
        </p:nvSpPr>
        <p:spPr>
          <a:xfrm>
            <a:off x="777240" y="5120640"/>
            <a:ext cx="10607040" cy="868680"/>
          </a:xfrm>
          <a:prstGeom prst="rect">
            <a:avLst/>
          </a:prstGeom>
          <a:noFill/>
          <a:ln/>
        </p:spPr>
        <p:txBody>
          <a:bodyPr wrap="square" lIns="0" tIns="0" rIns="0" bIns="0" rtlCol="0" anchor="ctr"/>
          <a:lstStyle/>
          <a:p>
            <a:pPr indent="0" marL="0">
              <a:lnSpc>
                <a:spcPct val="105000"/>
              </a:lnSpc>
              <a:buNone/>
            </a:pPr>
            <a:r>
              <a:rPr lang="en-US" sz="1350" b="1" dirty="0">
                <a:solidFill>
                  <a:srgbClr val="C89B3C"/>
                </a:solidFill>
                <a:latin typeface="Arial" pitchFamily="34" charset="0"/>
                <a:ea typeface="Arial" pitchFamily="34" charset="-122"/>
                <a:cs typeface="Arial" pitchFamily="34" charset="-120"/>
              </a:rPr>
              <a:t>MTSS decision cycle:  </a:t>
            </a:r>
            <a:pPr indent="0" marL="0">
              <a:lnSpc>
                <a:spcPct val="105000"/>
              </a:lnSpc>
              <a:buNone/>
            </a:pPr>
            <a:r>
              <a:rPr lang="en-US" sz="1350" dirty="0">
                <a:solidFill>
                  <a:srgbClr val="FFFFFF"/>
                </a:solidFill>
                <a:latin typeface="Arial" pitchFamily="34" charset="0"/>
                <a:ea typeface="Arial" pitchFamily="34" charset="-122"/>
                <a:cs typeface="Arial" pitchFamily="34" charset="-120"/>
              </a:rPr>
              <a:t>Tier 1 core for all → the Progress Check yields evidence → below mastery routes to targeted reteach (Tier 2, Teacher Guide §16); at/above mastery routes to extension. </a:t>
            </a:r>
            <a:pPr indent="0" marL="0">
              <a:lnSpc>
                <a:spcPct val="105000"/>
              </a:lnSpc>
              <a:buNone/>
            </a:pPr>
            <a:r>
              <a:rPr lang="en-US" sz="1350" b="1" dirty="0">
                <a:solidFill>
                  <a:srgbClr val="FF6B7A"/>
                </a:solidFill>
                <a:latin typeface="Arial" pitchFamily="34" charset="0"/>
                <a:ea typeface="Arial" pitchFamily="34" charset="-122"/>
                <a:cs typeface="Arial" pitchFamily="34" charset="-120"/>
              </a:rPr>
              <a:t>The goal never lowers.</a:t>
            </a:r>
            <a:endParaRPr lang="en-US" sz="1350" dirty="0"/>
          </a:p>
        </p:txBody>
      </p:sp>
      <p:sp>
        <p:nvSpPr>
          <p:cNvPr id="19" name="Text 17"/>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20" name="Text 18"/>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White-Collar Jobs</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Empleos de Cuello Blanco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Office and professional occupations (managers, salespeople, clerks) that grew rapidly in the 1950s, outnumbering factory workers for the first time.</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Suburban Ideal</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Ideal Suburbano</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1950s American dream of owning a single-family home in the suburbs with a yard, garage, and modern appliances, drawing families out of cities.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G.I. Bill</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G.I.</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Servicemen’s Readjustment Act of 1944, which gave veterans college tuition, home loans, and job training, creating a massive new middle class.</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11091672"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10360152" cy="50292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Baby Boom</a:t>
            </a:r>
            <a:endParaRPr lang="en-US" sz="2200" dirty="0"/>
          </a:p>
        </p:txBody>
      </p:sp>
      <p:sp>
        <p:nvSpPr>
          <p:cNvPr id="10" name="Text 8"/>
          <p:cNvSpPr/>
          <p:nvPr/>
        </p:nvSpPr>
        <p:spPr>
          <a:xfrm>
            <a:off x="804672" y="2432304"/>
            <a:ext cx="10588752" cy="457200"/>
          </a:xfrm>
          <a:prstGeom prst="rect">
            <a:avLst/>
          </a:prstGeom>
          <a:noFill/>
          <a:ln/>
        </p:spPr>
        <p:txBody>
          <a:bodyPr wrap="square" lIns="0" tIns="0" rIns="0" bIns="0" rtlCol="0" anchor="t"/>
          <a:lstStyle/>
          <a:p>
            <a:pPr indent="0" marL="0">
              <a:buNone/>
            </a:pPr>
            <a:r>
              <a:rPr lang="en-US" sz="1400" b="1" dirty="0">
                <a:solidFill>
                  <a:srgbClr val="2F5FA6"/>
                </a:solidFill>
                <a:latin typeface="Arial" pitchFamily="34" charset="0"/>
                <a:ea typeface="Arial" pitchFamily="34" charset="-122"/>
                <a:cs typeface="Arial" pitchFamily="34" charset="-120"/>
              </a:rPr>
              <a:t>En español:  </a:t>
            </a:r>
            <a:pPr indent="0" marL="0">
              <a:buNone/>
            </a:pPr>
            <a:r>
              <a:rPr lang="en-US" sz="1400" i="1" dirty="0">
                <a:solidFill>
                  <a:srgbClr val="2F5FA6"/>
                </a:solidFill>
                <a:latin typeface="Arial" pitchFamily="34" charset="0"/>
                <a:ea typeface="Arial" pitchFamily="34" charset="-122"/>
                <a:cs typeface="Arial" pitchFamily="34" charset="-120"/>
              </a:rPr>
              <a:t>Explosión de Natalidad</a:t>
            </a:r>
            <a:endParaRPr lang="en-US" sz="1400" dirty="0"/>
          </a:p>
        </p:txBody>
      </p:sp>
      <p:sp>
        <p:nvSpPr>
          <p:cNvPr id="11" name="Text 9"/>
          <p:cNvSpPr/>
          <p:nvPr/>
        </p:nvSpPr>
        <p:spPr>
          <a:xfrm>
            <a:off x="804672" y="2971800"/>
            <a:ext cx="10588752"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310128"/>
            <a:ext cx="10588752" cy="2194560"/>
          </a:xfrm>
          <a:prstGeom prst="rect">
            <a:avLst/>
          </a:prstGeom>
          <a:noFill/>
          <a:ln/>
        </p:spPr>
        <p:txBody>
          <a:bodyPr wrap="square" lIns="0" tIns="0" rIns="0" bIns="0" rtlCol="0" anchor="t"/>
          <a:lstStyle/>
          <a:p>
            <a:pPr indent="0" marL="0">
              <a:lnSpc>
                <a:spcPct val="106000"/>
              </a:lnSpc>
              <a:buNone/>
            </a:pPr>
            <a:r>
              <a:rPr lang="en-US" sz="1450" dirty="0">
                <a:solidFill>
                  <a:srgbClr val="1A1A1A"/>
                </a:solidFill>
                <a:latin typeface="Arial" pitchFamily="34" charset="0"/>
                <a:ea typeface="Arial" pitchFamily="34" charset="-122"/>
                <a:cs typeface="Arial" pitchFamily="34" charset="-120"/>
              </a:rPr>
              <a:t>The dramatic increase in birth rates from 1946–1964, when 76 million babies were born, transforming the American economy and culture as they grew up.</a:t>
            </a:r>
            <a:endParaRPr lang="en-US" sz="1450" dirty="0"/>
          </a:p>
        </p:txBody>
      </p:sp>
      <p:sp>
        <p:nvSpPr>
          <p:cNvPr id="13" name="Text 11"/>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5408676"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4677156" cy="50292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Interstate Highway System</a:t>
            </a:r>
            <a:endParaRPr lang="en-US" sz="2200" dirty="0"/>
          </a:p>
        </p:txBody>
      </p:sp>
      <p:sp>
        <p:nvSpPr>
          <p:cNvPr id="10" name="Text 8"/>
          <p:cNvSpPr/>
          <p:nvPr/>
        </p:nvSpPr>
        <p:spPr>
          <a:xfrm>
            <a:off x="804672" y="2432304"/>
            <a:ext cx="4905756" cy="457200"/>
          </a:xfrm>
          <a:prstGeom prst="rect">
            <a:avLst/>
          </a:prstGeom>
          <a:noFill/>
          <a:ln/>
        </p:spPr>
        <p:txBody>
          <a:bodyPr wrap="square" lIns="0" tIns="0" rIns="0" bIns="0" rtlCol="0" anchor="t"/>
          <a:lstStyle/>
          <a:p>
            <a:pPr indent="0" marL="0">
              <a:buNone/>
            </a:pPr>
            <a:r>
              <a:rPr lang="en-US" sz="1400" b="1" dirty="0">
                <a:solidFill>
                  <a:srgbClr val="2F5FA6"/>
                </a:solidFill>
                <a:latin typeface="Arial" pitchFamily="34" charset="0"/>
                <a:ea typeface="Arial" pitchFamily="34" charset="-122"/>
                <a:cs typeface="Arial" pitchFamily="34" charset="-120"/>
              </a:rPr>
              <a:t>En español:  </a:t>
            </a:r>
            <a:pPr indent="0" marL="0">
              <a:buNone/>
            </a:pPr>
            <a:r>
              <a:rPr lang="en-US" sz="1400" i="1" dirty="0">
                <a:solidFill>
                  <a:srgbClr val="2F5FA6"/>
                </a:solidFill>
                <a:latin typeface="Arial" pitchFamily="34" charset="0"/>
                <a:ea typeface="Arial" pitchFamily="34" charset="-122"/>
                <a:cs typeface="Arial" pitchFamily="34" charset="-120"/>
              </a:rPr>
              <a:t>Sistema de Autopistas Interestatales</a:t>
            </a:r>
            <a:endParaRPr lang="en-US" sz="1400" dirty="0"/>
          </a:p>
        </p:txBody>
      </p:sp>
      <p:sp>
        <p:nvSpPr>
          <p:cNvPr id="11" name="Text 9"/>
          <p:cNvSpPr/>
          <p:nvPr/>
        </p:nvSpPr>
        <p:spPr>
          <a:xfrm>
            <a:off x="804672" y="2971800"/>
            <a:ext cx="4905756"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310128"/>
            <a:ext cx="4905756" cy="2194560"/>
          </a:xfrm>
          <a:prstGeom prst="rect">
            <a:avLst/>
          </a:prstGeom>
          <a:noFill/>
          <a:ln/>
        </p:spPr>
        <p:txBody>
          <a:bodyPr wrap="square" lIns="0" tIns="0" rIns="0" bIns="0" rtlCol="0" anchor="t"/>
          <a:lstStyle/>
          <a:p>
            <a:pPr indent="0" marL="0">
              <a:lnSpc>
                <a:spcPct val="106000"/>
              </a:lnSpc>
              <a:buNone/>
            </a:pPr>
            <a:r>
              <a:rPr lang="en-US" sz="1450" dirty="0">
                <a:solidFill>
                  <a:srgbClr val="1A1A1A"/>
                </a:solidFill>
                <a:latin typeface="Arial" pitchFamily="34" charset="0"/>
                <a:ea typeface="Arial" pitchFamily="34" charset="-122"/>
                <a:cs typeface="Arial" pitchFamily="34" charset="-120"/>
              </a:rPr>
              <a:t>Massive 41,000-mile highway network authorized by President Eisenhower in 1956 that transformed American travel, commerce, and settlement patterns.</a:t>
            </a:r>
            <a:endParaRPr lang="en-US" sz="1450" dirty="0"/>
          </a:p>
        </p:txBody>
      </p:sp>
      <p:sp>
        <p:nvSpPr>
          <p:cNvPr id="13" name="Shape 11"/>
          <p:cNvSpPr/>
          <p:nvPr/>
        </p:nvSpPr>
        <p:spPr>
          <a:xfrm>
            <a:off x="6231636" y="1600200"/>
            <a:ext cx="5408676" cy="3977640"/>
          </a:xfrm>
          <a:prstGeom prst="rect">
            <a:avLst/>
          </a:prstGeom>
          <a:solidFill>
            <a:srgbClr val="F7F5EF"/>
          </a:solidFill>
          <a:ln w="12700">
            <a:solidFill>
              <a:srgbClr val="D9D5C8"/>
            </a:solidFill>
            <a:prstDash val="solid"/>
          </a:ln>
        </p:spPr>
      </p:sp>
      <p:sp>
        <p:nvSpPr>
          <p:cNvPr id="14" name="Shape 12"/>
          <p:cNvSpPr/>
          <p:nvPr/>
        </p:nvSpPr>
        <p:spPr>
          <a:xfrm>
            <a:off x="6487668" y="1828800"/>
            <a:ext cx="137160" cy="292608"/>
          </a:xfrm>
          <a:prstGeom prst="rect">
            <a:avLst/>
          </a:prstGeom>
          <a:solidFill>
            <a:srgbClr val="B22234"/>
          </a:solidFill>
          <a:ln/>
        </p:spPr>
      </p:sp>
      <p:sp>
        <p:nvSpPr>
          <p:cNvPr id="15" name="Text 13"/>
          <p:cNvSpPr/>
          <p:nvPr/>
        </p:nvSpPr>
        <p:spPr>
          <a:xfrm>
            <a:off x="6707124" y="1737360"/>
            <a:ext cx="4677156" cy="50292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Polio Vaccine</a:t>
            </a:r>
            <a:endParaRPr lang="en-US" sz="2200" dirty="0"/>
          </a:p>
        </p:txBody>
      </p:sp>
      <p:sp>
        <p:nvSpPr>
          <p:cNvPr id="16" name="Text 14"/>
          <p:cNvSpPr/>
          <p:nvPr/>
        </p:nvSpPr>
        <p:spPr>
          <a:xfrm>
            <a:off x="6487668" y="2432304"/>
            <a:ext cx="4905756" cy="457200"/>
          </a:xfrm>
          <a:prstGeom prst="rect">
            <a:avLst/>
          </a:prstGeom>
          <a:noFill/>
          <a:ln/>
        </p:spPr>
        <p:txBody>
          <a:bodyPr wrap="square" lIns="0" tIns="0" rIns="0" bIns="0" rtlCol="0" anchor="t"/>
          <a:lstStyle/>
          <a:p>
            <a:pPr indent="0" marL="0">
              <a:buNone/>
            </a:pPr>
            <a:r>
              <a:rPr lang="en-US" sz="1400" b="1" dirty="0">
                <a:solidFill>
                  <a:srgbClr val="2F5FA6"/>
                </a:solidFill>
                <a:latin typeface="Arial" pitchFamily="34" charset="0"/>
                <a:ea typeface="Arial" pitchFamily="34" charset="-122"/>
                <a:cs typeface="Arial" pitchFamily="34" charset="-120"/>
              </a:rPr>
              <a:t>En español:  </a:t>
            </a:r>
            <a:pPr indent="0" marL="0">
              <a:buNone/>
            </a:pPr>
            <a:r>
              <a:rPr lang="en-US" sz="1400" i="1" dirty="0">
                <a:solidFill>
                  <a:srgbClr val="2F5FA6"/>
                </a:solidFill>
                <a:latin typeface="Arial" pitchFamily="34" charset="0"/>
                <a:ea typeface="Arial" pitchFamily="34" charset="-122"/>
                <a:cs typeface="Arial" pitchFamily="34" charset="-120"/>
              </a:rPr>
              <a:t>Vacuna contra la Polio</a:t>
            </a:r>
            <a:endParaRPr lang="en-US" sz="1400" dirty="0"/>
          </a:p>
        </p:txBody>
      </p:sp>
      <p:sp>
        <p:nvSpPr>
          <p:cNvPr id="17" name="Text 15"/>
          <p:cNvSpPr/>
          <p:nvPr/>
        </p:nvSpPr>
        <p:spPr>
          <a:xfrm>
            <a:off x="6487668" y="2971800"/>
            <a:ext cx="4905756"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6487668" y="3310128"/>
            <a:ext cx="4905756" cy="2194560"/>
          </a:xfrm>
          <a:prstGeom prst="rect">
            <a:avLst/>
          </a:prstGeom>
          <a:noFill/>
          <a:ln/>
        </p:spPr>
        <p:txBody>
          <a:bodyPr wrap="square" lIns="0" tIns="0" rIns="0" bIns="0" rtlCol="0" anchor="t"/>
          <a:lstStyle/>
          <a:p>
            <a:pPr indent="0" marL="0">
              <a:lnSpc>
                <a:spcPct val="106000"/>
              </a:lnSpc>
              <a:buNone/>
            </a:pPr>
            <a:r>
              <a:rPr lang="en-US" sz="1450" dirty="0">
                <a:solidFill>
                  <a:srgbClr val="1A1A1A"/>
                </a:solidFill>
                <a:latin typeface="Arial" pitchFamily="34" charset="0"/>
                <a:ea typeface="Arial" pitchFamily="34" charset="-122"/>
                <a:cs typeface="Arial" pitchFamily="34" charset="-120"/>
              </a:rPr>
              <a:t>The vaccine developed by Dr. Jonas Salk, announced safe in April 1955, that ended the epidemic that had paralyzed or killed thousands of children yearly.</a:t>
            </a:r>
            <a:endParaRPr lang="en-US" sz="1450" dirty="0"/>
          </a:p>
        </p:txBody>
      </p:sp>
      <p:sp>
        <p:nvSpPr>
          <p:cNvPr id="19" name="Text 17"/>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Suburban Ideal</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Ideal Suburbano</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1950s American dream of owning a single-family home in the suburbs with a yard, garage, and modern appliances, drawing families out of cities.</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Interstate Highway System</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Sistema de Autopistas Interestatales</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Massive 41,000-mile highway network authorized by President Eisenhower in 1956 that transformed American travel, commerce, and settlement patterns.</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Automobile Culture</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Cultura del Automóvil</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The 1950s lifestyle centered on cars, which symbolized freedom and prosperity, reshaping cities, suburbs, and daily life across America.</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5408676"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4677156" cy="50292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Television</a:t>
            </a:r>
            <a:endParaRPr lang="en-US" sz="2200" dirty="0"/>
          </a:p>
        </p:txBody>
      </p:sp>
      <p:sp>
        <p:nvSpPr>
          <p:cNvPr id="10" name="Text 8"/>
          <p:cNvSpPr/>
          <p:nvPr/>
        </p:nvSpPr>
        <p:spPr>
          <a:xfrm>
            <a:off x="804672" y="2432304"/>
            <a:ext cx="4905756" cy="457200"/>
          </a:xfrm>
          <a:prstGeom prst="rect">
            <a:avLst/>
          </a:prstGeom>
          <a:noFill/>
          <a:ln/>
        </p:spPr>
        <p:txBody>
          <a:bodyPr wrap="square" lIns="0" tIns="0" rIns="0" bIns="0" rtlCol="0" anchor="t"/>
          <a:lstStyle/>
          <a:p>
            <a:pPr indent="0" marL="0">
              <a:buNone/>
            </a:pPr>
            <a:r>
              <a:rPr lang="en-US" sz="1400" b="1" dirty="0">
                <a:solidFill>
                  <a:srgbClr val="2F5FA6"/>
                </a:solidFill>
                <a:latin typeface="Arial" pitchFamily="34" charset="0"/>
                <a:ea typeface="Arial" pitchFamily="34" charset="-122"/>
                <a:cs typeface="Arial" pitchFamily="34" charset="-120"/>
              </a:rPr>
              <a:t>En español:  </a:t>
            </a:r>
            <a:pPr indent="0" marL="0">
              <a:buNone/>
            </a:pPr>
            <a:r>
              <a:rPr lang="en-US" sz="1400" i="1" dirty="0">
                <a:solidFill>
                  <a:srgbClr val="2F5FA6"/>
                </a:solidFill>
                <a:latin typeface="Arial" pitchFamily="34" charset="0"/>
                <a:ea typeface="Arial" pitchFamily="34" charset="-122"/>
                <a:cs typeface="Arial" pitchFamily="34" charset="-120"/>
              </a:rPr>
              <a:t>Televisión</a:t>
            </a:r>
            <a:endParaRPr lang="en-US" sz="1400" dirty="0"/>
          </a:p>
        </p:txBody>
      </p:sp>
      <p:sp>
        <p:nvSpPr>
          <p:cNvPr id="11" name="Text 9"/>
          <p:cNvSpPr/>
          <p:nvPr/>
        </p:nvSpPr>
        <p:spPr>
          <a:xfrm>
            <a:off x="804672" y="2971800"/>
            <a:ext cx="4905756"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310128"/>
            <a:ext cx="4905756" cy="2194560"/>
          </a:xfrm>
          <a:prstGeom prst="rect">
            <a:avLst/>
          </a:prstGeom>
          <a:noFill/>
          <a:ln/>
        </p:spPr>
        <p:txBody>
          <a:bodyPr wrap="square" lIns="0" tIns="0" rIns="0" bIns="0" rtlCol="0" anchor="t"/>
          <a:lstStyle/>
          <a:p>
            <a:pPr indent="0" marL="0">
              <a:lnSpc>
                <a:spcPct val="106000"/>
              </a:lnSpc>
              <a:buNone/>
            </a:pPr>
            <a:r>
              <a:rPr lang="en-US" sz="1450" dirty="0">
                <a:solidFill>
                  <a:srgbClr val="1A1A1A"/>
                </a:solidFill>
                <a:latin typeface="Arial" pitchFamily="34" charset="0"/>
                <a:ea typeface="Arial" pitchFamily="34" charset="-122"/>
                <a:cs typeface="Arial" pitchFamily="34" charset="-120"/>
              </a:rPr>
              <a:t>The electronic medium that became the dominant form of American entertainment and information by the late 1950s, creating shared national experiences.</a:t>
            </a:r>
            <a:endParaRPr lang="en-US" sz="1450" dirty="0"/>
          </a:p>
        </p:txBody>
      </p:sp>
      <p:sp>
        <p:nvSpPr>
          <p:cNvPr id="13" name="Shape 11"/>
          <p:cNvSpPr/>
          <p:nvPr/>
        </p:nvSpPr>
        <p:spPr>
          <a:xfrm>
            <a:off x="6231636" y="1600200"/>
            <a:ext cx="5408676" cy="3977640"/>
          </a:xfrm>
          <a:prstGeom prst="rect">
            <a:avLst/>
          </a:prstGeom>
          <a:solidFill>
            <a:srgbClr val="F7F5EF"/>
          </a:solidFill>
          <a:ln w="12700">
            <a:solidFill>
              <a:srgbClr val="D9D5C8"/>
            </a:solidFill>
            <a:prstDash val="solid"/>
          </a:ln>
        </p:spPr>
      </p:sp>
      <p:sp>
        <p:nvSpPr>
          <p:cNvPr id="14" name="Shape 12"/>
          <p:cNvSpPr/>
          <p:nvPr/>
        </p:nvSpPr>
        <p:spPr>
          <a:xfrm>
            <a:off x="6487668" y="1828800"/>
            <a:ext cx="137160" cy="292608"/>
          </a:xfrm>
          <a:prstGeom prst="rect">
            <a:avLst/>
          </a:prstGeom>
          <a:solidFill>
            <a:srgbClr val="B22234"/>
          </a:solidFill>
          <a:ln/>
        </p:spPr>
      </p:sp>
      <p:sp>
        <p:nvSpPr>
          <p:cNvPr id="15" name="Text 13"/>
          <p:cNvSpPr/>
          <p:nvPr/>
        </p:nvSpPr>
        <p:spPr>
          <a:xfrm>
            <a:off x="6707124" y="1737360"/>
            <a:ext cx="4677156" cy="50292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Mass Media</a:t>
            </a:r>
            <a:endParaRPr lang="en-US" sz="2200" dirty="0"/>
          </a:p>
        </p:txBody>
      </p:sp>
      <p:sp>
        <p:nvSpPr>
          <p:cNvPr id="16" name="Text 14"/>
          <p:cNvSpPr/>
          <p:nvPr/>
        </p:nvSpPr>
        <p:spPr>
          <a:xfrm>
            <a:off x="6487668" y="2432304"/>
            <a:ext cx="4905756" cy="457200"/>
          </a:xfrm>
          <a:prstGeom prst="rect">
            <a:avLst/>
          </a:prstGeom>
          <a:noFill/>
          <a:ln/>
        </p:spPr>
        <p:txBody>
          <a:bodyPr wrap="square" lIns="0" tIns="0" rIns="0" bIns="0" rtlCol="0" anchor="t"/>
          <a:lstStyle/>
          <a:p>
            <a:pPr indent="0" marL="0">
              <a:buNone/>
            </a:pPr>
            <a:r>
              <a:rPr lang="en-US" sz="1400" b="1" dirty="0">
                <a:solidFill>
                  <a:srgbClr val="2F5FA6"/>
                </a:solidFill>
                <a:latin typeface="Arial" pitchFamily="34" charset="0"/>
                <a:ea typeface="Arial" pitchFamily="34" charset="-122"/>
                <a:cs typeface="Arial" pitchFamily="34" charset="-120"/>
              </a:rPr>
              <a:t>En español:  </a:t>
            </a:r>
            <a:pPr indent="0" marL="0">
              <a:buNone/>
            </a:pPr>
            <a:r>
              <a:rPr lang="en-US" sz="1400" i="1" dirty="0">
                <a:solidFill>
                  <a:srgbClr val="2F5FA6"/>
                </a:solidFill>
                <a:latin typeface="Arial" pitchFamily="34" charset="0"/>
                <a:ea typeface="Arial" pitchFamily="34" charset="-122"/>
                <a:cs typeface="Arial" pitchFamily="34" charset="-120"/>
              </a:rPr>
              <a:t>Medios Masivos</a:t>
            </a:r>
            <a:endParaRPr lang="en-US" sz="1400" dirty="0"/>
          </a:p>
        </p:txBody>
      </p:sp>
      <p:sp>
        <p:nvSpPr>
          <p:cNvPr id="17" name="Text 15"/>
          <p:cNvSpPr/>
          <p:nvPr/>
        </p:nvSpPr>
        <p:spPr>
          <a:xfrm>
            <a:off x="6487668" y="2971800"/>
            <a:ext cx="4905756"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6487668" y="3310128"/>
            <a:ext cx="4905756" cy="2194560"/>
          </a:xfrm>
          <a:prstGeom prst="rect">
            <a:avLst/>
          </a:prstGeom>
          <a:noFill/>
          <a:ln/>
        </p:spPr>
        <p:txBody>
          <a:bodyPr wrap="square" lIns="0" tIns="0" rIns="0" bIns="0" rtlCol="0" anchor="t"/>
          <a:lstStyle/>
          <a:p>
            <a:pPr indent="0" marL="0">
              <a:lnSpc>
                <a:spcPct val="106000"/>
              </a:lnSpc>
              <a:buNone/>
            </a:pPr>
            <a:r>
              <a:rPr lang="en-US" sz="1450" dirty="0">
                <a:solidFill>
                  <a:srgbClr val="1A1A1A"/>
                </a:solidFill>
                <a:latin typeface="Arial" pitchFamily="34" charset="0"/>
                <a:ea typeface="Arial" pitchFamily="34" charset="-122"/>
                <a:cs typeface="Arial" pitchFamily="34" charset="-120"/>
              </a:rPr>
              <a:t>Communication channels—TV, radio, newspapers, magazines—that reach large audiences at once; in the 1950s television became the most powerful medium.</a:t>
            </a:r>
            <a:endParaRPr lang="en-US" sz="1450" dirty="0"/>
          </a:p>
        </p:txBody>
      </p:sp>
      <p:sp>
        <p:nvSpPr>
          <p:cNvPr id="19" name="Text 17"/>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Beatniks</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Beatniks</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Members of the 1950s Beat Generation—writers like Jack Kerouac and Allen Ginsberg—who rejected mainstream culture, materialism, and conformity.</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Rock ’n’ Roll</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Rock ’n’ Roll</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Revolutionary 1950s music genre combining rhythm and blues, country, and gospel; Elvis Presley became its “King,” representing youth rebellion.</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Elvis Presley</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Elvis Presley</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Tennessee singer who became “The King of Rock ’n’ Roll” in the 1950s, revolutionizing popular culture and launching rock as a global phenomenon.</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Words you need before we read</a:t>
            </a:r>
            <a:endParaRPr lang="en-US" sz="2400" dirty="0"/>
          </a:p>
        </p:txBody>
      </p:sp>
      <p:sp>
        <p:nvSpPr>
          <p:cNvPr id="7" name="Shape 5"/>
          <p:cNvSpPr/>
          <p:nvPr/>
        </p:nvSpPr>
        <p:spPr>
          <a:xfrm>
            <a:off x="548640" y="1600200"/>
            <a:ext cx="3514344" cy="3977640"/>
          </a:xfrm>
          <a:prstGeom prst="rect">
            <a:avLst/>
          </a:prstGeom>
          <a:solidFill>
            <a:srgbClr val="F7F5EF"/>
          </a:solidFill>
          <a:ln w="12700">
            <a:solidFill>
              <a:srgbClr val="D9D5C8"/>
            </a:solidFill>
            <a:prstDash val="solid"/>
          </a:ln>
        </p:spPr>
      </p:sp>
      <p:sp>
        <p:nvSpPr>
          <p:cNvPr id="8" name="Shape 6"/>
          <p:cNvSpPr/>
          <p:nvPr/>
        </p:nvSpPr>
        <p:spPr>
          <a:xfrm>
            <a:off x="804672" y="1828800"/>
            <a:ext cx="137160" cy="292608"/>
          </a:xfrm>
          <a:prstGeom prst="rect">
            <a:avLst/>
          </a:prstGeom>
          <a:solidFill>
            <a:srgbClr val="B22234"/>
          </a:solidFill>
          <a:ln/>
        </p:spPr>
      </p:sp>
      <p:sp>
        <p:nvSpPr>
          <p:cNvPr id="9" name="Text 7"/>
          <p:cNvSpPr/>
          <p:nvPr/>
        </p:nvSpPr>
        <p:spPr>
          <a:xfrm>
            <a:off x="1024128"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New Frontier</a:t>
            </a:r>
            <a:endParaRPr lang="en-US" sz="1800" dirty="0"/>
          </a:p>
        </p:txBody>
      </p:sp>
      <p:sp>
        <p:nvSpPr>
          <p:cNvPr id="10" name="Text 8"/>
          <p:cNvSpPr/>
          <p:nvPr/>
        </p:nvSpPr>
        <p:spPr>
          <a:xfrm>
            <a:off x="804672"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Nueva Frontera</a:t>
            </a:r>
            <a:endParaRPr lang="en-US" sz="1250" dirty="0"/>
          </a:p>
        </p:txBody>
      </p:sp>
      <p:sp>
        <p:nvSpPr>
          <p:cNvPr id="11" name="Text 9"/>
          <p:cNvSpPr/>
          <p:nvPr/>
        </p:nvSpPr>
        <p:spPr>
          <a:xfrm>
            <a:off x="804672"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President John F. Kennedy’s 1960s domestic program promoting economic growth, education, civil rights, and space exploration; a symbol of optimism.</a:t>
            </a:r>
            <a:endParaRPr lang="en-US" sz="1250" dirty="0"/>
          </a:p>
        </p:txBody>
      </p:sp>
      <p:sp>
        <p:nvSpPr>
          <p:cNvPr id="13" name="Shape 11"/>
          <p:cNvSpPr/>
          <p:nvPr/>
        </p:nvSpPr>
        <p:spPr>
          <a:xfrm>
            <a:off x="4337304" y="1600200"/>
            <a:ext cx="3514344" cy="3977640"/>
          </a:xfrm>
          <a:prstGeom prst="rect">
            <a:avLst/>
          </a:prstGeom>
          <a:solidFill>
            <a:srgbClr val="F7F5EF"/>
          </a:solidFill>
          <a:ln w="12700">
            <a:solidFill>
              <a:srgbClr val="D9D5C8"/>
            </a:solidFill>
            <a:prstDash val="solid"/>
          </a:ln>
        </p:spPr>
      </p:sp>
      <p:sp>
        <p:nvSpPr>
          <p:cNvPr id="14" name="Shape 12"/>
          <p:cNvSpPr/>
          <p:nvPr/>
        </p:nvSpPr>
        <p:spPr>
          <a:xfrm>
            <a:off x="4593336" y="1828800"/>
            <a:ext cx="137160" cy="292608"/>
          </a:xfrm>
          <a:prstGeom prst="rect">
            <a:avLst/>
          </a:prstGeom>
          <a:solidFill>
            <a:srgbClr val="B22234"/>
          </a:solidFill>
          <a:ln/>
        </p:spPr>
      </p:sp>
      <p:sp>
        <p:nvSpPr>
          <p:cNvPr id="15" name="Text 13"/>
          <p:cNvSpPr/>
          <p:nvPr/>
        </p:nvSpPr>
        <p:spPr>
          <a:xfrm>
            <a:off x="4812792"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Peace Corps</a:t>
            </a:r>
            <a:endParaRPr lang="en-US" sz="1800" dirty="0"/>
          </a:p>
        </p:txBody>
      </p:sp>
      <p:sp>
        <p:nvSpPr>
          <p:cNvPr id="16" name="Text 14"/>
          <p:cNvSpPr/>
          <p:nvPr/>
        </p:nvSpPr>
        <p:spPr>
          <a:xfrm>
            <a:off x="4593336"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Cuerpo de Paz</a:t>
            </a:r>
            <a:endParaRPr lang="en-US" sz="1250" dirty="0"/>
          </a:p>
        </p:txBody>
      </p:sp>
      <p:sp>
        <p:nvSpPr>
          <p:cNvPr id="17" name="Text 15"/>
          <p:cNvSpPr/>
          <p:nvPr/>
        </p:nvSpPr>
        <p:spPr>
          <a:xfrm>
            <a:off x="4593336"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Volunteer program created by President Kennedy in 1961, sending Americans to developing countries to help with education, health, and economic development.</a:t>
            </a:r>
            <a:endParaRPr lang="en-US" sz="1250" dirty="0"/>
          </a:p>
        </p:txBody>
      </p:sp>
      <p:sp>
        <p:nvSpPr>
          <p:cNvPr id="19" name="Shape 17"/>
          <p:cNvSpPr/>
          <p:nvPr/>
        </p:nvSpPr>
        <p:spPr>
          <a:xfrm>
            <a:off x="8125968" y="1600200"/>
            <a:ext cx="3514344" cy="3977640"/>
          </a:xfrm>
          <a:prstGeom prst="rect">
            <a:avLst/>
          </a:prstGeom>
          <a:solidFill>
            <a:srgbClr val="F7F5EF"/>
          </a:solidFill>
          <a:ln w="12700">
            <a:solidFill>
              <a:srgbClr val="D9D5C8"/>
            </a:solidFill>
            <a:prstDash val="solid"/>
          </a:ln>
        </p:spPr>
      </p:sp>
      <p:sp>
        <p:nvSpPr>
          <p:cNvPr id="20" name="Shape 18"/>
          <p:cNvSpPr/>
          <p:nvPr/>
        </p:nvSpPr>
        <p:spPr>
          <a:xfrm>
            <a:off x="8382000" y="1828800"/>
            <a:ext cx="137160" cy="292608"/>
          </a:xfrm>
          <a:prstGeom prst="rect">
            <a:avLst/>
          </a:prstGeom>
          <a:solidFill>
            <a:srgbClr val="B22234"/>
          </a:solidFill>
          <a:ln/>
        </p:spPr>
      </p:sp>
      <p:sp>
        <p:nvSpPr>
          <p:cNvPr id="21" name="Text 19"/>
          <p:cNvSpPr/>
          <p:nvPr/>
        </p:nvSpPr>
        <p:spPr>
          <a:xfrm>
            <a:off x="8601456" y="1737360"/>
            <a:ext cx="2782824" cy="50292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Moon Landing Goal</a:t>
            </a:r>
            <a:endParaRPr lang="en-US" sz="1800" dirty="0"/>
          </a:p>
        </p:txBody>
      </p:sp>
      <p:sp>
        <p:nvSpPr>
          <p:cNvPr id="22" name="Text 20"/>
          <p:cNvSpPr/>
          <p:nvPr/>
        </p:nvSpPr>
        <p:spPr>
          <a:xfrm>
            <a:off x="8382000" y="2377440"/>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Objetivo de Aterrizaje Lunar</a:t>
            </a:r>
            <a:endParaRPr lang="en-US" sz="1250" dirty="0"/>
          </a:p>
        </p:txBody>
      </p:sp>
      <p:sp>
        <p:nvSpPr>
          <p:cNvPr id="23" name="Text 21"/>
          <p:cNvSpPr/>
          <p:nvPr/>
        </p:nvSpPr>
        <p:spPr>
          <a:xfrm>
            <a:off x="8382000" y="292608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246120"/>
            <a:ext cx="3011424" cy="2194560"/>
          </a:xfrm>
          <a:prstGeom prst="rect">
            <a:avLst/>
          </a:prstGeom>
          <a:noFill/>
          <a:ln/>
        </p:spPr>
        <p:txBody>
          <a:bodyPr wrap="square" lIns="0" tIns="0" rIns="0" bIns="0" rtlCol="0" anchor="t"/>
          <a:lstStyle/>
          <a:p>
            <a:pPr indent="0" marL="0">
              <a:lnSpc>
                <a:spcPct val="106000"/>
              </a:lnSpc>
              <a:buNone/>
            </a:pPr>
            <a:r>
              <a:rPr lang="en-US" sz="1250" dirty="0">
                <a:solidFill>
                  <a:srgbClr val="1A1A1A"/>
                </a:solidFill>
                <a:latin typeface="Arial" pitchFamily="34" charset="0"/>
                <a:ea typeface="Arial" pitchFamily="34" charset="-122"/>
                <a:cs typeface="Arial" pitchFamily="34" charset="-120"/>
              </a:rPr>
              <a:t>President Kennedy’s 1961 pledge to land Americans on the moon before 1970, mobilizing national resources, advancing technology, and inspiring a generation.</a:t>
            </a:r>
            <a:endParaRPr lang="en-US" sz="1250" dirty="0"/>
          </a:p>
        </p:txBody>
      </p:sp>
      <p:sp>
        <p:nvSpPr>
          <p:cNvPr id="25" name="Text 23"/>
          <p:cNvSpPr/>
          <p:nvPr/>
        </p:nvSpPr>
        <p:spPr>
          <a:xfrm>
            <a:off x="548640" y="580644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REPRESENTATION → LANGUAGE &amp; SYMBOLS</a:t>
            </a:r>
            <a:endParaRPr lang="en-US" sz="1050" dirty="0"/>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the "suburban ideal" both fulfill and contradict the American Dream during the 1950s?</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Suburbs offered homeownership and prosperity for white families, but restrictive covenants and redlining excluded minorities, creating segregated communities that contradicted democratic ideals of equality</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Suburbs perfectly fulfilled the American Dream for all Americans, though this interpretation lacks supporting historical evidence when examined alongside the available primary and secondary sources</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Suburban development had no racial dimensions, which does not align with the documented historical record when examined alongside the available primary and secondary sources, although historical sources do not support this conclusion</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All Americans had equal access to suburban housing, but this fails to account for the broader historical context, which contradicts the primary source evidence from this era and does not reflect the scholarly consensus on this topic</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baby boomers reshape American consumer culture and economic growth in the 1950s and 1960s?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They had no significant economic impact due to their young age, which does not align with the documented historical record</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Their massive numbers created huge demand for consumer goods, driving manufacturing growth, retail expansion, and new youth-targeted industries</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They primarily affected only the housing market, although historical sources do not support this conclusion</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Consumer culture declined during the baby boom years, which does not reflect the consensus among historians</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the Interstate Highway System contribute to suburban growth and urban decline?</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Highways had no effect on population distribution, which contradicts the primary source evidence from this era, though this interpretation lacks supporting historical evidence</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Highways strengthened urban centers, which contradicts the primary source evidence from this era, which does not align with the documented historical record</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Highways enabled suburban commuting while bypassing small towns, dividing urban neighborhoods, and accelerating downtown decline as families moved to suburbs</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Suburbs declined as highways made cities more accessible, yet the available evidence points to a different conclusion, which does not align with the documented historical record</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How did automobiles drive the expansion of fast food chains and the hotel industry?</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Fast food and motels existed before car culture, though this interpretation lacks supporting historical evidence and does not reflect the scholarly consensus on this topic</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hospitality industry declined as car ownership increased, which does not align with the documented historical record</a:t>
            </a:r>
            <a:endParaRPr lang="en-US" sz="1300" dirty="0"/>
          </a:p>
        </p:txBody>
      </p:sp>
      <p:sp>
        <p:nvSpPr>
          <p:cNvPr id="15" name="Shape 13"/>
          <p:cNvSpPr/>
          <p:nvPr/>
        </p:nvSpPr>
        <p:spPr>
          <a:xfrm>
            <a:off x="548640" y="3954780"/>
            <a:ext cx="11091672" cy="560070"/>
          </a:xfrm>
          <a:prstGeom prst="rect">
            <a:avLst/>
          </a:prstGeom>
          <a:solidFill>
            <a:srgbClr val="F7F5EF"/>
          </a:solidFill>
          <a:ln w="12700">
            <a:solidFill>
              <a:srgbClr val="D9D5C8"/>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Fast food was only popular in urban areas, but this oversimplifies the complex factors at work, but the historical evidence paints a more nuanced picture</a:t>
            </a:r>
            <a:endParaRPr lang="en-US" sz="1300" dirty="0"/>
          </a:p>
        </p:txBody>
      </p:sp>
      <p:sp>
        <p:nvSpPr>
          <p:cNvPr id="18" name="Shape 16"/>
          <p:cNvSpPr/>
          <p:nvPr/>
        </p:nvSpPr>
        <p:spPr>
          <a:xfrm>
            <a:off x="548640" y="4606290"/>
            <a:ext cx="11091672" cy="560070"/>
          </a:xfrm>
          <a:prstGeom prst="rect">
            <a:avLst/>
          </a:prstGeom>
          <a:solidFill>
            <a:srgbClr val="E4F2E8"/>
          </a:solidFill>
          <a:ln w="25400">
            <a:solidFill>
              <a:srgbClr val="2E7D46"/>
            </a:solidFill>
            <a:prstDash val="solid"/>
          </a:ln>
        </p:spPr>
      </p:sp>
      <p:sp>
        <p:nvSpPr>
          <p:cNvPr id="19" name="Text 17"/>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Car culture created demand for drive-in restaurants like McDonald's and roadside motels, spawning entirely new industries serving traveling Americans</a:t>
            </a:r>
            <a:endParaRPr lang="en-US" sz="1300" dirty="0"/>
          </a:p>
        </p:txBody>
      </p:sp>
      <p:sp>
        <p:nvSpPr>
          <p:cNvPr id="21" name="Text 19"/>
          <p:cNvSpPr/>
          <p:nvPr/>
        </p:nvSpPr>
        <p:spPr>
          <a:xfrm>
            <a:off x="10744200" y="460629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What impact did the 1960 Kennedy-Nixon debates have on the role of television in politics?</a:t>
            </a:r>
            <a:endParaRPr lang="en-US" sz="1550" dirty="0"/>
          </a:p>
        </p:txBody>
      </p:sp>
      <p:sp>
        <p:nvSpPr>
          <p:cNvPr id="9" name="Shape 7"/>
          <p:cNvSpPr/>
          <p:nvPr/>
        </p:nvSpPr>
        <p:spPr>
          <a:xfrm>
            <a:off x="548640" y="2651760"/>
            <a:ext cx="11091672" cy="560070"/>
          </a:xfrm>
          <a:prstGeom prst="rect">
            <a:avLst/>
          </a:prstGeom>
          <a:solidFill>
            <a:srgbClr val="E4F2E8"/>
          </a:solidFill>
          <a:ln w="25400">
            <a:solidFill>
              <a:srgbClr val="2E7D46"/>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The debates demonstrated TV's power to influence voters through visual appearance—radio listeners thought Nixon won, but TV viewers favored the telegenic Kennedy, transforming how candidates campaign</a:t>
            </a:r>
            <a:endParaRPr lang="en-US" sz="1300" dirty="0"/>
          </a:p>
        </p:txBody>
      </p:sp>
      <p:sp>
        <p:nvSpPr>
          <p:cNvPr id="12" name="Text 10"/>
          <p:cNvSpPr/>
          <p:nvPr/>
        </p:nvSpPr>
        <p:spPr>
          <a:xfrm>
            <a:off x="10744200" y="265176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3" name="Shape 11"/>
          <p:cNvSpPr/>
          <p:nvPr/>
        </p:nvSpPr>
        <p:spPr>
          <a:xfrm>
            <a:off x="548640" y="3303270"/>
            <a:ext cx="11091672" cy="560070"/>
          </a:xfrm>
          <a:prstGeom prst="rect">
            <a:avLst/>
          </a:prstGeom>
          <a:solidFill>
            <a:srgbClr val="F7F5EF"/>
          </a:solidFill>
          <a:ln w="12700">
            <a:solidFill>
              <a:srgbClr val="D9D5C8"/>
            </a:solidFill>
            <a:prstDash val="solid"/>
          </a:ln>
        </p:spPr>
      </p:sp>
      <p:sp>
        <p:nvSpPr>
          <p:cNvPr id="14" name="Text 12"/>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5" name="Text 13"/>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debates had no significant impact on political campaigns, but contemporary accounts suggest a different explanation, which does not align with the documented historical record</a:t>
            </a:r>
            <a:endParaRPr lang="en-US" sz="13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Both candidates were equally effective on television, despite limited evidence supporting this interpretation when examined alongside the available primary and secondary sources</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Television was not used for political debates until the 1970s, although historical sources do not support this conclusion, although historical sources do not support this conclusion</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Why did Tennessee become the center of American popular music development in the 1950s?</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Tennessee had no significant role in music history, but this fails to account for the broader historical context and fails to account for key developments in the broader context</a:t>
            </a:r>
            <a:endParaRPr lang="en-US" sz="1300" dirty="0"/>
          </a:p>
        </p:txBody>
      </p:sp>
      <p:sp>
        <p:nvSpPr>
          <p:cNvPr id="12" name="Shape 10"/>
          <p:cNvSpPr/>
          <p:nvPr/>
        </p:nvSpPr>
        <p:spPr>
          <a:xfrm>
            <a:off x="548640" y="3303270"/>
            <a:ext cx="11091672" cy="560070"/>
          </a:xfrm>
          <a:prstGeom prst="rect">
            <a:avLst/>
          </a:prstGeom>
          <a:solidFill>
            <a:srgbClr val="E4F2E8"/>
          </a:solidFill>
          <a:ln w="25400">
            <a:solidFill>
              <a:srgbClr val="2E7D46"/>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Sun Studio and Stax Records in Memphis combined African American and white musical traditions, while artists like Elvis and B.B. King crossed racial boundaries to create rock 'n' roll and soul music</a:t>
            </a:r>
            <a:endParaRPr lang="en-US" sz="1300" dirty="0"/>
          </a:p>
        </p:txBody>
      </p:sp>
      <p:sp>
        <p:nvSpPr>
          <p:cNvPr id="15" name="Text 13"/>
          <p:cNvSpPr/>
          <p:nvPr/>
        </p:nvSpPr>
        <p:spPr>
          <a:xfrm>
            <a:off x="10744200" y="330327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6" name="Shape 14"/>
          <p:cNvSpPr/>
          <p:nvPr/>
        </p:nvSpPr>
        <p:spPr>
          <a:xfrm>
            <a:off x="548640" y="3954780"/>
            <a:ext cx="11091672" cy="560070"/>
          </a:xfrm>
          <a:prstGeom prst="rect">
            <a:avLst/>
          </a:prstGeom>
          <a:solidFill>
            <a:srgbClr val="F7F5EF"/>
          </a:solidFill>
          <a:ln w="12700">
            <a:solidFill>
              <a:srgbClr val="D9D5C8"/>
            </a:solidFill>
            <a:prstDash val="solid"/>
          </a:ln>
        </p:spPr>
      </p:sp>
      <p:sp>
        <p:nvSpPr>
          <p:cNvPr id="17" name="Text 15"/>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C</a:t>
            </a:r>
            <a:endParaRPr lang="en-US" sz="1600" dirty="0"/>
          </a:p>
        </p:txBody>
      </p:sp>
      <p:sp>
        <p:nvSpPr>
          <p:cNvPr id="18" name="Text 16"/>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Tennessee only produced country music, but this fails to account for the broader historical context when examined alongside the available primary and secondary sources, although historical sources do not support this conclusion</a:t>
            </a:r>
            <a:endParaRPr lang="en-US" sz="13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Music development occurred primarily in New York and Los Angeles, but contemporary accounts suggest a different explanation, which represents a common misconception about this historical period</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TEACHER DECK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548640" y="914400"/>
            <a:ext cx="105156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7" name="Shape 5"/>
          <p:cNvSpPr/>
          <p:nvPr/>
        </p:nvSpPr>
        <p:spPr>
          <a:xfrm>
            <a:off x="548640" y="1572768"/>
            <a:ext cx="11091672" cy="914400"/>
          </a:xfrm>
          <a:prstGeom prst="rect">
            <a:avLst/>
          </a:prstGeom>
          <a:solidFill>
            <a:srgbClr val="1E2C4C"/>
          </a:solidFill>
          <a:ln w="12700">
            <a:solidFill>
              <a:srgbClr val="C89B3C"/>
            </a:solidFill>
            <a:prstDash val="solid"/>
          </a:ln>
        </p:spPr>
      </p:sp>
      <p:sp>
        <p:nvSpPr>
          <p:cNvPr id="8" name="Text 6"/>
          <p:cNvSpPr/>
          <p:nvPr/>
        </p:nvSpPr>
        <p:spPr>
          <a:xfrm>
            <a:off x="777240" y="1600200"/>
            <a:ext cx="10607040" cy="859536"/>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Why did Kennedy commit America to landing on the moon during the Cold War space race?</a:t>
            </a:r>
            <a:endParaRPr lang="en-US" sz="1550" dirty="0"/>
          </a:p>
        </p:txBody>
      </p:sp>
      <p:sp>
        <p:nvSpPr>
          <p:cNvPr id="9" name="Shape 7"/>
          <p:cNvSpPr/>
          <p:nvPr/>
        </p:nvSpPr>
        <p:spPr>
          <a:xfrm>
            <a:off x="548640" y="2651760"/>
            <a:ext cx="11091672" cy="560070"/>
          </a:xfrm>
          <a:prstGeom prst="rect">
            <a:avLst/>
          </a:prstGeom>
          <a:solidFill>
            <a:srgbClr val="F7F5EF"/>
          </a:solidFill>
          <a:ln w="12700">
            <a:solidFill>
              <a:srgbClr val="D9D5C8"/>
            </a:solidFill>
            <a:prstDash val="solid"/>
          </a:ln>
        </p:spPr>
      </p:sp>
      <p:sp>
        <p:nvSpPr>
          <p:cNvPr id="10" name="Text 8"/>
          <p:cNvSpPr/>
          <p:nvPr/>
        </p:nvSpPr>
        <p:spPr>
          <a:xfrm>
            <a:off x="685800" y="265176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A</a:t>
            </a:r>
            <a:endParaRPr lang="en-US" sz="1600" dirty="0"/>
          </a:p>
        </p:txBody>
      </p:sp>
      <p:sp>
        <p:nvSpPr>
          <p:cNvPr id="11" name="Text 9"/>
          <p:cNvSpPr/>
          <p:nvPr/>
        </p:nvSpPr>
        <p:spPr>
          <a:xfrm>
            <a:off x="1280160" y="265176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Kennedy had no interest in space exploration, which ignores key developments that shaped the outcome, but closer analysis reveals a more complicated historical reality</a:t>
            </a:r>
            <a:endParaRPr lang="en-US" sz="1300" dirty="0"/>
          </a:p>
        </p:txBody>
      </p:sp>
      <p:sp>
        <p:nvSpPr>
          <p:cNvPr id="12" name="Shape 10"/>
          <p:cNvSpPr/>
          <p:nvPr/>
        </p:nvSpPr>
        <p:spPr>
          <a:xfrm>
            <a:off x="548640" y="3303270"/>
            <a:ext cx="11091672" cy="560070"/>
          </a:xfrm>
          <a:prstGeom prst="rect">
            <a:avLst/>
          </a:prstGeom>
          <a:solidFill>
            <a:srgbClr val="F7F5EF"/>
          </a:solidFill>
          <a:ln w="12700">
            <a:solidFill>
              <a:srgbClr val="D9D5C8"/>
            </a:solidFill>
            <a:prstDash val="solid"/>
          </a:ln>
        </p:spPr>
      </p:sp>
      <p:sp>
        <p:nvSpPr>
          <p:cNvPr id="13" name="Text 11"/>
          <p:cNvSpPr/>
          <p:nvPr/>
        </p:nvSpPr>
        <p:spPr>
          <a:xfrm>
            <a:off x="685800" y="330327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B</a:t>
            </a:r>
            <a:endParaRPr lang="en-US" sz="1600" dirty="0"/>
          </a:p>
        </p:txBody>
      </p:sp>
      <p:sp>
        <p:nvSpPr>
          <p:cNvPr id="14" name="Text 12"/>
          <p:cNvSpPr/>
          <p:nvPr/>
        </p:nvSpPr>
        <p:spPr>
          <a:xfrm>
            <a:off x="1280160" y="330327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The moon landing was planned before Kennedy took office, although historical sources do not support this conclusion, though this interpretation lacks supporting historical evidence</a:t>
            </a:r>
            <a:endParaRPr lang="en-US" sz="1300" dirty="0"/>
          </a:p>
        </p:txBody>
      </p:sp>
      <p:sp>
        <p:nvSpPr>
          <p:cNvPr id="15" name="Shape 13"/>
          <p:cNvSpPr/>
          <p:nvPr/>
        </p:nvSpPr>
        <p:spPr>
          <a:xfrm>
            <a:off x="548640" y="3954780"/>
            <a:ext cx="11091672" cy="560070"/>
          </a:xfrm>
          <a:prstGeom prst="rect">
            <a:avLst/>
          </a:prstGeom>
          <a:solidFill>
            <a:srgbClr val="E4F2E8"/>
          </a:solidFill>
          <a:ln w="25400">
            <a:solidFill>
              <a:srgbClr val="2E7D46"/>
            </a:solidFill>
            <a:prstDash val="solid"/>
          </a:ln>
        </p:spPr>
      </p:sp>
      <p:sp>
        <p:nvSpPr>
          <p:cNvPr id="16" name="Text 14"/>
          <p:cNvSpPr/>
          <p:nvPr/>
        </p:nvSpPr>
        <p:spPr>
          <a:xfrm>
            <a:off x="685800" y="3954780"/>
            <a:ext cx="457200" cy="560070"/>
          </a:xfrm>
          <a:prstGeom prst="rect">
            <a:avLst/>
          </a:prstGeom>
          <a:noFill/>
          <a:ln/>
        </p:spPr>
        <p:txBody>
          <a:bodyPr wrap="square" lIns="0" tIns="0" rIns="0" bIns="0" rtlCol="0" anchor="ctr"/>
          <a:lstStyle/>
          <a:p>
            <a:pPr algn="ctr" indent="0" marL="0">
              <a:buNone/>
            </a:pPr>
            <a:r>
              <a:rPr lang="en-US" sz="1600" b="1" dirty="0">
                <a:solidFill>
                  <a:srgbClr val="2E7D46"/>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80160" y="3954780"/>
            <a:ext cx="9509760" cy="560070"/>
          </a:xfrm>
          <a:prstGeom prst="rect">
            <a:avLst/>
          </a:prstGeom>
          <a:noFill/>
          <a:ln/>
        </p:spPr>
        <p:txBody>
          <a:bodyPr wrap="square" lIns="0" tIns="0" rIns="0" bIns="0" rtlCol="0" anchor="ctr"/>
          <a:lstStyle/>
          <a:p>
            <a:pPr indent="0" marL="0">
              <a:buNone/>
            </a:pPr>
            <a:r>
              <a:rPr lang="en-US" sz="1300" b="1" dirty="0">
                <a:solidFill>
                  <a:srgbClr val="1A1A1A"/>
                </a:solidFill>
                <a:latin typeface="Arial" pitchFamily="34" charset="0"/>
                <a:ea typeface="Arial" pitchFamily="34" charset="-122"/>
                <a:cs typeface="Arial" pitchFamily="34" charset="-120"/>
              </a:rPr>
              <a:t>After Soviet successes with Sputnik and Gagarin's flight, Kennedy committed to the moon landing to demonstrate American technological superiority and prove democracy could achieve ambitious goals</a:t>
            </a:r>
            <a:endParaRPr lang="en-US" sz="1300" dirty="0"/>
          </a:p>
        </p:txBody>
      </p:sp>
      <p:sp>
        <p:nvSpPr>
          <p:cNvPr id="18" name="Text 16"/>
          <p:cNvSpPr/>
          <p:nvPr/>
        </p:nvSpPr>
        <p:spPr>
          <a:xfrm>
            <a:off x="10744200" y="3954780"/>
            <a:ext cx="868680" cy="560070"/>
          </a:xfrm>
          <a:prstGeom prst="rect">
            <a:avLst/>
          </a:prstGeom>
          <a:noFill/>
          <a:ln/>
        </p:spPr>
        <p:txBody>
          <a:bodyPr wrap="square" lIns="0" tIns="0" rIns="0" bIns="0" rtlCol="0" anchor="ctr"/>
          <a:lstStyle/>
          <a:p>
            <a:pPr algn="ctr" indent="0" marL="0">
              <a:buNone/>
            </a:pPr>
            <a:r>
              <a:rPr lang="en-US" sz="1100" b="1" dirty="0">
                <a:solidFill>
                  <a:srgbClr val="2E7D46"/>
                </a:solidFill>
                <a:latin typeface="Arial" pitchFamily="34" charset="0"/>
                <a:ea typeface="Arial" pitchFamily="34" charset="-122"/>
                <a:cs typeface="Arial" pitchFamily="34" charset="-120"/>
              </a:rPr>
              <a:t>✓ KEY</a:t>
            </a:r>
            <a:endParaRPr lang="en-US" sz="1100" dirty="0"/>
          </a:p>
        </p:txBody>
      </p:sp>
      <p:sp>
        <p:nvSpPr>
          <p:cNvPr id="19" name="Shape 17"/>
          <p:cNvSpPr/>
          <p:nvPr/>
        </p:nvSpPr>
        <p:spPr>
          <a:xfrm>
            <a:off x="548640" y="4606290"/>
            <a:ext cx="11091672" cy="560070"/>
          </a:xfrm>
          <a:prstGeom prst="rect">
            <a:avLst/>
          </a:prstGeom>
          <a:solidFill>
            <a:srgbClr val="F7F5EF"/>
          </a:solidFill>
          <a:ln w="12700">
            <a:solidFill>
              <a:srgbClr val="D9D5C8"/>
            </a:solidFill>
            <a:prstDash val="solid"/>
          </a:ln>
        </p:spPr>
      </p:sp>
      <p:sp>
        <p:nvSpPr>
          <p:cNvPr id="20" name="Text 18"/>
          <p:cNvSpPr/>
          <p:nvPr/>
        </p:nvSpPr>
        <p:spPr>
          <a:xfrm>
            <a:off x="685800" y="4606290"/>
            <a:ext cx="457200" cy="56007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1280160" y="4606290"/>
            <a:ext cx="9509760" cy="560070"/>
          </a:xfrm>
          <a:prstGeom prst="rect">
            <a:avLst/>
          </a:prstGeom>
          <a:noFill/>
          <a:ln/>
        </p:spPr>
        <p:txBody>
          <a:bodyPr wrap="square" lIns="0" tIns="0" rIns="0" bIns="0" rtlCol="0" anchor="ctr"/>
          <a:lstStyle/>
          <a:p>
            <a:pPr indent="0" marL="0">
              <a:buNone/>
            </a:pPr>
            <a:r>
              <a:rPr lang="en-US" sz="1300" dirty="0">
                <a:solidFill>
                  <a:srgbClr val="1A1A1A"/>
                </a:solidFill>
                <a:latin typeface="Arial" pitchFamily="34" charset="0"/>
                <a:ea typeface="Arial" pitchFamily="34" charset="-122"/>
                <a:cs typeface="Arial" pitchFamily="34" charset="-120"/>
              </a:rPr>
              <a:t>Kennedy's moon commitment was unpopular with Americans, although this overlooks critical economic and social factors, which contradicts the primary source evidence from this era</a:t>
            </a:r>
            <a:endParaRPr lang="en-US" sz="1300" dirty="0"/>
          </a:p>
        </p:txBody>
      </p:sp>
      <p:sp>
        <p:nvSpPr>
          <p:cNvPr id="22" name="Text 20"/>
          <p:cNvSpPr/>
          <p:nvPr/>
        </p:nvSpPr>
        <p:spPr>
          <a:xfrm>
            <a:off x="548640" y="5394960"/>
            <a:ext cx="5120640" cy="292608"/>
          </a:xfrm>
          <a:prstGeom prst="rect">
            <a:avLst/>
          </a:prstGeom>
          <a:solidFill>
            <a:srgbClr val="2E7D46"/>
          </a:solidFill>
          <a:ln/>
        </p:spPr>
        <p:txBody>
          <a:bodyPr wrap="square" lIns="38100" tIns="38100" rIns="38100" bIns="38100" rtlCol="0" anchor="ctr"/>
          <a:lstStyle/>
          <a:p>
            <a:pPr algn="ctr" indent="0" marL="0">
              <a:buNone/>
            </a:pPr>
            <a:r>
              <a:rPr lang="en-US" sz="1050" b="1" spc="50" kern="0" dirty="0">
                <a:solidFill>
                  <a:srgbClr val="FFFFFF"/>
                </a:solidFill>
                <a:latin typeface="Arial" pitchFamily="34" charset="0"/>
                <a:ea typeface="Arial" pitchFamily="34" charset="-122"/>
                <a:cs typeface="Arial" pitchFamily="34" charset="-120"/>
              </a:rPr>
              <a:t>UDL · ACTION &amp; EXPRESSION → STRATEGY DEVELOPMENT</a:t>
            </a:r>
            <a:endParaRPr lang="en-US" sz="1050" dirty="0"/>
          </a:p>
        </p:txBody>
      </p:sp>
      <p:sp>
        <p:nvSpPr>
          <p:cNvPr id="23" name="Text 21"/>
          <p:cNvSpPr/>
          <p:nvPr/>
        </p:nvSpPr>
        <p:spPr>
          <a:xfrm>
            <a:off x="5760720" y="5394960"/>
            <a:ext cx="5879592" cy="292608"/>
          </a:xfrm>
          <a:prstGeom prst="rect">
            <a:avLst/>
          </a:prstGeom>
          <a:noFill/>
          <a:ln/>
        </p:spPr>
        <p:txBody>
          <a:bodyPr wrap="square" lIns="0" tIns="0" rIns="0" bIns="0" rtlCol="0" anchor="ctr"/>
          <a:lstStyle/>
          <a:p>
            <a:pPr algn="r" indent="0" marL="0">
              <a:buNone/>
            </a:pPr>
            <a:r>
              <a:rPr lang="en-US" sz="1000" i="1" dirty="0">
                <a:solidFill>
                  <a:srgbClr val="9AA6BF"/>
                </a:solidFill>
                <a:latin typeface="Arial" pitchFamily="34" charset="0"/>
                <a:ea typeface="Arial" pitchFamily="34" charset="-122"/>
                <a:cs typeface="Arial" pitchFamily="34" charset="-120"/>
              </a:rPr>
              <a:t>MTSS: below mastery → targeted reteach (Tier 2); at/above → extension. The goal never lowers.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114</Slides>
  <Notes>114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114</vt:i4>
      </vt:variant>
    </vt:vector>
  </HeadingPairs>
  <TitlesOfParts>
    <vt:vector size="1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8 — Postwar Prosperity &amp; 1950s America (US.71–US.77)</dc:subject>
  <dc:creator>TroopToTeacher Technologies LLC</dc:creator>
  <cp:lastModifiedBy>TroopToTeacher Technologies LLC</cp:lastModifiedBy>
  <cp:revision>1</cp:revision>
  <dcterms:created xsi:type="dcterms:W3CDTF">2026-07-02T19:08:54Z</dcterms:created>
  <dcterms:modified xsi:type="dcterms:W3CDTF">2026-07-02T19:08:54Z</dcterms:modified>
</cp:coreProperties>
</file>
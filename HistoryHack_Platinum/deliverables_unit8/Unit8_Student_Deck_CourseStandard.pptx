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21-1.jpg" ContentType="image/jpg"/>
  <Override PartName="/ppt/media/image-26-1.jpg" ContentType="image/jpg"/>
  <Override PartName="/ppt/media/image-33-1.jpg" ContentType="image/jpg"/>
  <Override PartName="/ppt/media/image-4-1.jpg" ContentType="image/jpg"/>
  <Override PartName="/ppt/media/image-40-1.jpg" ContentType="image/jpg"/>
  <Override PartName="/ppt/media/image-8-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8" r:id="rId49"/>
    <p:sldId id="256" r:id="rId2"/>
    <p:sldId id="257" r:id="rId3"/>
    <p:sldId id="258" r:id="rId4"/>
    <p:sldId id="259" r:id="rId5"/>
    <p:sldId id="260" r:id="rId6"/>
    <p:sldId id="261" r:id="rId7"/>
    <p:sldId id="299" r:id="rId50"/>
    <p:sldId id="306" r:id="rId57"/>
    <p:sldId id="262" r:id="rId8"/>
    <p:sldId id="263" r:id="rId9"/>
    <p:sldId id="264" r:id="rId10"/>
    <p:sldId id="265" r:id="rId11"/>
    <p:sldId id="266" r:id="rId12"/>
    <p:sldId id="267" r:id="rId13"/>
    <p:sldId id="300" r:id="rId51"/>
    <p:sldId id="307" r:id="rId58"/>
    <p:sldId id="268" r:id="rId14"/>
    <p:sldId id="269" r:id="rId15"/>
    <p:sldId id="270" r:id="rId16"/>
    <p:sldId id="271" r:id="rId17"/>
    <p:sldId id="272" r:id="rId18"/>
    <p:sldId id="273" r:id="rId19"/>
    <p:sldId id="301" r:id="rId52"/>
    <p:sldId id="308" r:id="rId59"/>
    <p:sldId id="274" r:id="rId20"/>
    <p:sldId id="275" r:id="rId21"/>
    <p:sldId id="276" r:id="rId22"/>
    <p:sldId id="277" r:id="rId23"/>
    <p:sldId id="278" r:id="rId24"/>
    <p:sldId id="279" r:id="rId25"/>
    <p:sldId id="302" r:id="rId53"/>
    <p:sldId id="309" r:id="rId60"/>
    <p:sldId id="280" r:id="rId26"/>
    <p:sldId id="281" r:id="rId27"/>
    <p:sldId id="282" r:id="rId28"/>
    <p:sldId id="283" r:id="rId29"/>
    <p:sldId id="284" r:id="rId30"/>
    <p:sldId id="285" r:id="rId31"/>
    <p:sldId id="303" r:id="rId54"/>
    <p:sldId id="310" r:id="rId61"/>
    <p:sldId id="286" r:id="rId32"/>
    <p:sldId id="287" r:id="rId33"/>
    <p:sldId id="288" r:id="rId34"/>
    <p:sldId id="289" r:id="rId35"/>
    <p:sldId id="290" r:id="rId36"/>
    <p:sldId id="291" r:id="rId37"/>
    <p:sldId id="304" r:id="rId55"/>
    <p:sldId id="311" r:id="rId62"/>
    <p:sldId id="292" r:id="rId38"/>
    <p:sldId id="293" r:id="rId39"/>
    <p:sldId id="294" r:id="rId40"/>
    <p:sldId id="295" r:id="rId41"/>
    <p:sldId id="296" r:id="rId42"/>
    <p:sldId id="297" r:id="rId43"/>
    <p:sldId id="305" r:id="rId56"/>
    <p:sldId id="312" r:id="rId63"/>
  </p:sldIdLst>
  <p:notesMasterIdLst>
    <p:notesMasterId r:id="rId4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rchives.gov/milestone-documents/servicemens-readjustment-act"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census.gov/history/"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eisenhowerlibrary.gov/research/online-documents/interstate-highway-syste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loc.gov/collections/general-collections/"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jfklibrary.org/learn/about-jfk/jfk-in-history/campaign-of-1960"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www.loc.gov/collections/general-collections/"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www.jfklibrary.org/asset-viewer/archives/JFKPOF/034/JFKPOF-034-002" TargetMode="Externa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US.71</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1950s Prosperity &amp; Consumerism</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US.71 – Analyze the impact of prosperity and consumerism in the 1950s, including: the growth of white-collar jobs, the "suburban ideal", the impact of the G.I. Bill, and the increased reliance on foreign oil.</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impact of prosperity and consumerism in the 1950s, including the growth of white-collar jobs, the "suburban ideal," the impact of the G.I. Bill, and the increased reliance on foreign oil.</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Postwar prosperity remade daily life — in the 1950s U.S. GDP surged from $200 billion to $500 billion, and low unemployment, rising wages, and consumer spending built a broad new middle class.</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Postwar prosperity remade daily life — in the 1950s U.S. GDP surged from $200 billion to $500 billion, and low unemployment, rising wages, and consumer spending built a broad new middle class.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US.71 · Post-War Economic Boom</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economy shifted from factories to offices — white-collar workers—managers, professionals, clerks, and salespeople—outnumbered blue-collar factory workers for the first time, signaling a service-and-management economy.</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economy shifted from factories to offices — white-collar workers—managers, professionals, clerks, and salespeople—outnumbered blue-collar factory workers for the first time, signaling a service-and-management economy.</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US.71 · Growth of White-Collar Jobs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G.I. Bill and Levittown built the suburbs — the 1944 Servicemen’s Readjustment Act gave veterans tuition and low-interest home loans, and developers like William Levitt mass-produced affordable suburban homes.</a:t>
            </a:r>
            <a:endParaRPr lang="en-US" sz="1800" dirty="0"/>
          </a:p>
        </p:txBody>
      </p:sp>
      <p:pic>
        <p:nvPicPr>
          <p:cNvPr id="7" name="Image 0" descr="hh-web/public/images/textbook/unit-8/president-roosevelt-signs-gi-bill-1944.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US.71 · The G.I. Bill &amp; the Suburban Ideal</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US.71</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G.I. Bill — weigh who wrote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U.S. Congress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1944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Servicemen’s Readjustment Act (G.I. Bill)</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Congress · 1944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"Any person who served in the active military or naval service... shall be entitled to vocational rehabilitation... The Administrator shall pay the educational institution... tuition, fees, books, and supplies. Each eligible person shall be entitled to a subsistence allowance... while pursuing a full-time course of education."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US.71</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US.71:</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Millions of veterans and middle-class families who gained homes, college, and rising incomes, and the industries that supplied a booming consumer economy.</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US.71:</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Many Black veterans and families largely shut out of suburban home loans and neighborhoods, and city cores drained of residents and investment.</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US.71:</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Congress, which passed the G.I. Bill, and private developers, banks, and lenders whose rules shaped who could buy into the suburbs.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Servicemen’s Readjustment Act (G.I. Bill), U.S. Congress, 1944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US.72</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Baby Boomer Generation Impact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US.72 – Explain the impact of the baby boomer generation on the American economy and culture.</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explain the impact of the baby boomer generation on the American economy and culture.</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Birth rates exploded after the war — the Baby Boom was a dramatic rise in U.S. births from 1946 to 1964, driven by returning veterans starting families, postwar prosperity, and confidence in the future.</a:t>
            </a:r>
            <a:endParaRPr lang="en-US" sz="1950" dirty="0"/>
          </a:p>
        </p:txBody>
      </p:sp>
      <p:pic>
        <p:nvPicPr>
          <p:cNvPr id="7" name="Image 0" descr="hh-web/public/images/textbook/unit-8/mother-views-infant-hospital-nursery-195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US.72 · What Was the Baby Boom?</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A generation of children reshaped the economy — boomers created massive demand for baby products, toys, and children’s clothing, and later teenage goods, driving decades of economic growth.</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A generation of children reshaped the economy — boomers created massive demand for baby products, toys, and children’s clothing, and later teenage goods, driving decades of economic growth.</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US.72 · Reshaping the American Economy &amp; New Markets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Sheer numbers gave boomers lasting power — their size gave the generation enormous political and economic influence, shaping culture from the 1950s classroom boom through the 1960s counterculture and beyond.</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Sheer numbers gave boomers lasting power — their size gave the generation enormous political and economic influence, shaping culture from the 1950s classroom boom through the 1960s counterculture and beyond.</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US.72 · Long-Term Cultural Impact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US.72</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Census population report — identify who produced it and why before you read the numbers.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U.S. Census Bureau</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1955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Census Bureau Population Report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Census Bureau · 1955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"The birth rate has reached unprecedented levels since the end of World War II. Between 1946 and 1954, approximately 29 million babies were born in the United States, compared to 24 million in the preceding eight years. This surge in population is creating increased demand for schools, housing, and consumer goods targeted at families."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U.S. Census Bureau</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US.72</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US.72:</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Industries built around children and families—toys, housing, schools, and later teen culture—and a generation that gained outsized influence.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US.72:</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Schools, hospitals, and public services strained to keep pace, and later generations who inherited the economic and social pressures of the boom.</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US.72:</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Millions of individual families making private choices, and the businesses and governments that responded to the surge in population.</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Census Bureau Population Report, U.S. Census Bureau, 1955 (U.S. Census Bureau)</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US.73</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Eisenhower Administration Developments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US.73 – Describe domestic developments during President Dwight D. Eisenhower’s administration, including advances in medicine and the creation of the Interstate Highway System.</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domestic developments during President Eisenhower’s administration, including advances in medicine and the creation of the Interstate Highway System.</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Salk vaccine conquered a feared disease — the 1955 polio vaccine developed by Dr. Jonas Salk ended parents’ fear of a crippling disease and showed government’s role in advancing public health.</a:t>
            </a:r>
            <a:endParaRPr lang="en-US" sz="1950" dirty="0"/>
          </a:p>
        </p:txBody>
      </p:sp>
      <p:pic>
        <p:nvPicPr>
          <p:cNvPr id="7" name="Image 0" descr="hh-web/public/images/textbook/unit-8/jonas-salk-copenhagen-airport-195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US.73 · Medical Breakthroughs: The Polio Vaccine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Interstate Highway System transformed the nation — authorized by Eisenhower in 1956, the 41,000-mile network created construction jobs, sped the movement of goods, and fueled automobile-related industries.</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Interstate Highway System transformed the nation — authorized by Eisenhower in 1956, the 41,000-mile network created construction jobs, sped the movement of goods, and fueled automobile-related industries.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US.73 · Interstate Highway System: Economic Effects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US.73</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Highways carried unintended costs — they enabled suburban commuting but bypassed small towns and cut through urban—often minority—neighborhoods, draining downtowns and dividing communities.</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Highways carried unintended costs — they enabled suburban commuting but bypassed small towns and cut through urban—often minority—neighborhoods, draining downtowns and dividing communities.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US.73 · Social Effects &amp; Unintended Consequences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US.73</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Eisenhower’s highway message — note the speaker, date, and purpose before you weigh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Dwight D. Eisenhower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1955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Federal-Aid Highway Act Message</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Dwight D. Eisenhower · 1955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"Our unity as a nation is sustained by free communication of thought and by easy transportation of people and goods... Together, the united forces of our communication and transportation systems are dynamic elements in the very name we bear—United States. Without them, we would be a mere alliance of many separate parts."</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Dwight D. Eisenhower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US.73</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US.73:</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children spared from polio, suburban commuters and trucking industries served by new highways, and construction workers who built them.</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US.73:</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Urban, often minority, neighborhoods divided or destroyed by highway construction, and small towns bypassed and left behind by the interstates.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US.73:</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Eisenhower and Congress, who funded the highway system, and federal and state officials who chose the routes cutting through cities.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Federal-Aid Highway Act Message, President Dwight D. Eisenhower, 1955 (Dwight D. Eisenhower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US.74</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Automobile's Growing Influence</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US.74 – Describe the growing influence of the automobile on American society, including the growth of suburbia, fast food chains, and the hotel industry.</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growing influence of the automobile on American society, including the growth of suburbia, fast food chains, and the hotel industry.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Cars gave Americans unprecedented mobility — automobiles let people live far from work, shop at distant stores, and pursue leisure across wide areas, reshaping where and how Americans lived.</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Cars gave Americans unprecedented mobility — automobiles let people live far from work, shop at distant stores, and pursue leisure across wide areas, reshaping where and how Americans lived.</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US.74 · Transforming American Daily Life &amp; Suburban Growth</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automobile created whole new industries — car culture launched fast food, with Ray Kroc’s 1955 McDonald’s franchise pioneering drive-through service, and highway lodging chains like Holiday Inn.</a:t>
            </a:r>
            <a:endParaRPr lang="en-US" sz="1950" dirty="0"/>
          </a:p>
        </p:txBody>
      </p:sp>
      <p:pic>
        <p:nvPicPr>
          <p:cNvPr id="7" name="Image 0" descr="hh-web/public/images/textbook/unit-8/drive-in-restaurant-carhops-automobiles-1970s-1975.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US.74 · Fast Food &amp; Hospitality Industries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US.74</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Car culture reshaped social life — drive-in movies, drive-through restaurants, and shopping malls with vast parking lots transformed leisure, courtship, and community around the automobile.</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Car culture reshaped social life — drive-in movies, drive-through restaurants, and shopping malls with vast parking lots transformed leisure, courtship, and community around the automobile.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US.74 · Broader Social Changes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US.74</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McDonald’s franchise ad — consider who made it and why before you weigh the message.</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McDonald’s Corporation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1955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McDonald’s Franchise Advertisement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McDonald’s Corporation · 1955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"Join the McDonald’s System! Our revolutionary Speedee Service System serves customers in their automobiles in seconds, not minutes. Located on busy highways, our golden arches attract families on the go. Low prices, consistent quality, and fast service—the formula for success in the age of the automobile."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US.74</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US.74:</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Automakers, oil companies, and new fast-food and motel chains, and suburban families who gained mobility and convenience.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US.74:</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City centers and public transit left to decline, and Americans increasingly dependent on cars and foreign oil to reach work and services.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US.74:</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Business entrepreneurs like Ray Kroc who built car-centered industries, and governments that funded roads over public transportation.</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McDonald’s Franchise Advertisement, McDonald’s Corporation, 1955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US.75</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Television and Mass Media Impact</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US.75 – Analyze the increasing impact of television and mass media on the American home, politics, and economy.</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the increasing impact of television and mass media on the American home, politics, and economy.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Television became the center of the home — by the late 1950s TV replaced radio as the main entertainment, reduced movie attendance, and reshaped family routines around programs and shared shows.</a:t>
            </a:r>
            <a:endParaRPr lang="en-US" sz="1950" dirty="0"/>
          </a:p>
        </p:txBody>
      </p:sp>
      <p:pic>
        <p:nvPicPr>
          <p:cNvPr id="7" name="Image 0" descr="hh-web/public/images/textbook/unit-8/american-family-gathered-around-television-195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US.75 · Television Changes Family Life</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TV transformed American politics — it put a premium on appearance and communication; in the 1960 Kennedy-Nixon debates, TV viewers and radio listeners reached opposite conclusions about who won.</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TV transformed American politics — it put a premium on appearance and communication; in the 1960 Kennedy-Nixon debates, TV viewers and radio listeners reached opposite conclusions about who won.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US.75 · Television and Politics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US.75</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Mass media created a shared national culture — television advertising reached millions of homes at once, shaping consumer desire, while common programming promoted similar values across the country.</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Mass media created a shared national culture — television advertising reached millions of homes at once, shaping consumer desire, while common programming promoted similar values across the country.</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US.75 · Advertising &amp; Cultural Homogenization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US.75</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account of TV and the 1960 election — identify the source and purpose before you weigh the claim.</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Theodore White, journalist</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1961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Television and the 1960 Election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Theodore White, journalist · 1961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"Those who heard the debates on radio thought Nixon had won. But those who watched on television thought Kennedy had won. Nixon, recovering from illness, appeared pale, tired, and sweating under the studio lights. Kennedy, tanned and rested, projected youth, vigor, and confidence. Television had changed American politics forever."</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John F. Kennedy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US.75</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US.75:</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Advertisers and networks reaching mass audiences, telegenic politicians, and corporations selling to a national consumer market.</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US.75:</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Local and regional cultures flattened by national programming, and citizens whose politics were shaped by image over substance.</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US.75:</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Broadcast networks, advertisers, and sponsors who controlled programming, and political campaigns that mastered the new medium.</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Television and the 1960 Election, Theodore White, journalist, 1961 (John F. Kennedy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US.76</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Youth Culture and Tennessee Music</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US.76 – Describe the emergence of a youth culture, including beatniks and the progression of popular music (from swing to rhythm and blues to rock ’n’ roll), and the impact of Tennessee on the music industry, including the influence of B.B. King, Elvis Presley, Stax Records, and Sun Studio. (TCA)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emergence of a youth culture, including beatniks and the progression of popular music, and the impact of Tennessee on the music industry, including B.B. King, Elvis Presley, Stax Records, and Sun Studio.</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Beat Generation rejected conformity — beatniks turned away from 1950s materialism and conventional careers, embracing artistic expression, questioning authority, and inspiring a broader youth culture.</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Beat Generation rejected conformity — beatniks turned away from 1950s materialism and conventional careers, embracing artistic expression, questioning authority, and inspiring a broader youth culture.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US.76 · The Beat Generation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2100" b="1" dirty="0">
                <a:solidFill>
                  <a:srgbClr val="FFFFFF"/>
                </a:solidFill>
                <a:latin typeface="Georgia" pitchFamily="34" charset="0"/>
                <a:ea typeface="Georgia" pitchFamily="34" charset="-122"/>
                <a:cs typeface="Georgia" pitchFamily="34" charset="-120"/>
              </a:rPr>
              <a:t>Tennessee stood at the center of American music — Memphis and Nashville powered popular music through Sun Studio’s role in rock ’n’ roll and Stax Records’ leadership in soul.</a:t>
            </a:r>
            <a:endParaRPr lang="en-US" sz="2100" dirty="0"/>
          </a:p>
        </p:txBody>
      </p:sp>
      <p:pic>
        <p:nvPicPr>
          <p:cNvPr id="7" name="Image 0" descr="hh-web/public/images/textbook/unit-8/elvis-presley-sworn-u-s-1958.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US.76 · Tennessee’s Central Role in Music</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US.76</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Music crossed racial barriers — artists like Elvis Presley, recording at Sun Studio, brought African American musical styles to white audiences, while B.B. King and other blues artists shaped the sound.</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Music crossed racial barriers — artists like Elvis Presley, recording at Sun Studio, brought African American musical styles to white audiences, while B.B. King and other blues artists shaped the sound.</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US.76 · Breaking Racial Barriers Through Music</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US.76</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Sun Studio press release — weigh who issued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Sun Records, Memphis, Tennessee</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1954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Sun Studio Press Release</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Sun Records, Memphis, Tennessee · 1954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"Memphis-based Sun Records announces the release of “That’s All Right” by Elvis Presley, a young truck driver from Tupelo, Mississippi. The record combines elements of country music with rhythm and blues, creating a new sound that is sweeping the South. Radio stations from Memphis to Nashville are reporting unprecedented listener demand."</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US.76</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US.76:</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Tennessee studios and cities that became music capitals, and young artists—Black and white—who reached new national audiences.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US.76:</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Many Black musicians whose styles were popularized by white artists while they received less fame and pay, and communities kept segregated offstage.</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US.76:</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Producers like Sam Phillips and record labels who chose and marketed artists, and radio programmers who decided what audiences heard.</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Sun Studio Press Release, Sun Records, Memphis, Tennessee, 1954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US.77</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Kennedy's New Frontier</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US.77 – Describe President John F. Kennedy’s New Frontier programs to improve education, end racial discrimination, create the Peace Corps, and put a man on the moon.</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President John F. Kennedy’s New Frontier programs to improve education, end racial discrimination, create the Peace Corps, and put a man on the moon.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New Frontier set an ambitious agenda — Kennedy proposed federal aid for schools and affordable college, called for ending racial discrimination, and pushed economic growth at home and abroad.</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New Frontier set an ambitious agenda — Kennedy proposed federal aid for schools and affordable college, called for ending racial discrimination, and pushed economic growth at home and abroad.</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US.77 · New Frontier Goals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The Peace Corps sent Americans to serve abroad — created by executive order in March 1961, it sent trained volunteers to developing countries to help with education, health, and development.</a:t>
            </a:r>
            <a:endParaRPr lang="en-US" sz="195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Peace Corps sent Americans to serve abroad — created by executive order in March 1961, it sent trained volunteers to developing countries to help with education, health, and development.</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US.77 · The Peace Corps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US.77</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950" b="1" dirty="0">
                <a:solidFill>
                  <a:srgbClr val="FFFFFF"/>
                </a:solidFill>
                <a:latin typeface="Georgia" pitchFamily="34" charset="0"/>
                <a:ea typeface="Georgia" pitchFamily="34" charset="-122"/>
                <a:cs typeface="Georgia" pitchFamily="34" charset="-120"/>
              </a:rPr>
              <a:t>Kennedy made the moon a national goal — after Soviet launches of Sputnik (1957) and the first human in space (1961), he committed America to landing on the moon before the decade’s end.</a:t>
            </a:r>
            <a:endParaRPr lang="en-US" sz="1950" dirty="0"/>
          </a:p>
        </p:txBody>
      </p:sp>
      <p:pic>
        <p:nvPicPr>
          <p:cNvPr id="7" name="Image 0" descr="hh-web/public/images/textbook/unit-8/president-kennedy-speaks-rice-university-1962.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US.77 · The Space Race Priority</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US.77</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Kennedy’s Peace Corps message to Congress — note the speaker, date, and purpose before you analyze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President John F. Kennedy</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March 1, 1961</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reading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Special Message to Congress on the Peace Corps</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President John F. Kennedy · March 1, 1961</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 recommend to the Congress the establishment of a permanent Peace Corps—a pool of trained American men and women sent overseas by the U.S. Government to help foreign countries meet their urgent needs for skilled manpower... Life in the Peace Corps will not be easy... But if the life will not be easy, it will be rich and satisfying."</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John F. Kennedy Presidential Library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US.77</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US.77:</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Students, developing nations served by the Peace Corps, and the aerospace industry and scientists propelled by the space program.</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US.77:</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Taxpayers who funded costly programs, and Americans awaiting civil rights and education reforms stalled by Congress and cut short by Kennedy’s assassination.</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US.77:</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President Kennedy, who set the agenda by message and executive order, and Congress, which funded or blocked New Frontier proposals.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Special Message to Congress on the Peace Corps, President John F. Kennedy, March 1, 1961 (John F. Kennedy Presidential Library)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White-Collar Jobs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Empleos de Cuello Blanco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Office and professional occupations (managers, salespeople, clerks) that grew rapidly in the 1950s, outnumbering factory workers for the first time.</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Suburban Ideal</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Ideal Suburbano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1950s American dream of owning a single-family home in the suburbs with a yard, garage, and modern appliances, drawing families out of cities.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G.I. Bill</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G.I.</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Servicemen’s Readjustment Act of 1944, which gave veterans college tuition, home loans, and job training, creating a massive new middle class.</a:t>
            </a:r>
            <a:endParaRPr lang="en-US" sz="1300" dirty="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11091672"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10360152" cy="54864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Baby Boom</a:t>
            </a:r>
            <a:endParaRPr lang="en-US" sz="2200" dirty="0"/>
          </a:p>
        </p:txBody>
      </p:sp>
      <p:sp>
        <p:nvSpPr>
          <p:cNvPr id="10" name="Text 8"/>
          <p:cNvSpPr/>
          <p:nvPr/>
        </p:nvSpPr>
        <p:spPr>
          <a:xfrm>
            <a:off x="804672" y="2542032"/>
            <a:ext cx="10588752"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Explosión de Natalidad</a:t>
            </a:r>
            <a:endParaRPr lang="en-US" sz="1400" dirty="0"/>
          </a:p>
        </p:txBody>
      </p:sp>
      <p:sp>
        <p:nvSpPr>
          <p:cNvPr id="11" name="Text 9"/>
          <p:cNvSpPr/>
          <p:nvPr/>
        </p:nvSpPr>
        <p:spPr>
          <a:xfrm>
            <a:off x="804672" y="3108960"/>
            <a:ext cx="10588752"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74720"/>
            <a:ext cx="10588752" cy="2377440"/>
          </a:xfrm>
          <a:prstGeom prst="rect">
            <a:avLst/>
          </a:prstGeom>
          <a:noFill/>
          <a:ln/>
        </p:spPr>
        <p:txBody>
          <a:bodyPr wrap="square" lIns="0" tIns="0" rIns="0" bIns="0" rtlCol="0" anchor="t"/>
          <a:lstStyle/>
          <a:p>
            <a:pPr indent="0" marL="0">
              <a:lnSpc>
                <a:spcPct val="108000"/>
              </a:lnSpc>
              <a:buNone/>
            </a:pPr>
            <a:r>
              <a:rPr lang="en-US" sz="1500" dirty="0">
                <a:solidFill>
                  <a:srgbClr val="1A1A1A"/>
                </a:solidFill>
                <a:latin typeface="Arial" pitchFamily="34" charset="0"/>
                <a:ea typeface="Arial" pitchFamily="34" charset="-122"/>
                <a:cs typeface="Arial" pitchFamily="34" charset="-120"/>
              </a:rPr>
              <a:t>The dramatic increase in birth rates from 1946–1964, when 76 million babies were born, transforming the American economy and culture as they grew up.</a:t>
            </a:r>
            <a:endParaRPr lang="en-US" sz="15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5408676"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4677156" cy="54864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Interstate Highway System</a:t>
            </a:r>
            <a:endParaRPr lang="en-US" sz="2200" dirty="0"/>
          </a:p>
        </p:txBody>
      </p:sp>
      <p:sp>
        <p:nvSpPr>
          <p:cNvPr id="10" name="Text 8"/>
          <p:cNvSpPr/>
          <p:nvPr/>
        </p:nvSpPr>
        <p:spPr>
          <a:xfrm>
            <a:off x="804672" y="2542032"/>
            <a:ext cx="4905756"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Sistema de Autopistas Interestatales</a:t>
            </a:r>
            <a:endParaRPr lang="en-US" sz="1400" dirty="0"/>
          </a:p>
        </p:txBody>
      </p:sp>
      <p:sp>
        <p:nvSpPr>
          <p:cNvPr id="11" name="Text 9"/>
          <p:cNvSpPr/>
          <p:nvPr/>
        </p:nvSpPr>
        <p:spPr>
          <a:xfrm>
            <a:off x="804672" y="3108960"/>
            <a:ext cx="4905756"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74720"/>
            <a:ext cx="4905756" cy="2377440"/>
          </a:xfrm>
          <a:prstGeom prst="rect">
            <a:avLst/>
          </a:prstGeom>
          <a:noFill/>
          <a:ln/>
        </p:spPr>
        <p:txBody>
          <a:bodyPr wrap="square" lIns="0" tIns="0" rIns="0" bIns="0" rtlCol="0" anchor="t"/>
          <a:lstStyle/>
          <a:p>
            <a:pPr indent="0" marL="0">
              <a:lnSpc>
                <a:spcPct val="108000"/>
              </a:lnSpc>
              <a:buNone/>
            </a:pPr>
            <a:r>
              <a:rPr lang="en-US" sz="1500" dirty="0">
                <a:solidFill>
                  <a:srgbClr val="1A1A1A"/>
                </a:solidFill>
                <a:latin typeface="Arial" pitchFamily="34" charset="0"/>
                <a:ea typeface="Arial" pitchFamily="34" charset="-122"/>
                <a:cs typeface="Arial" pitchFamily="34" charset="-120"/>
              </a:rPr>
              <a:t>Massive 41,000-mile highway network authorized by President Eisenhower in 1956 that transformed American travel, commerce, and settlement patterns.</a:t>
            </a:r>
            <a:endParaRPr lang="en-US" sz="1500" dirty="0"/>
          </a:p>
        </p:txBody>
      </p:sp>
      <p:sp>
        <p:nvSpPr>
          <p:cNvPr id="13" name="Shape 11"/>
          <p:cNvSpPr/>
          <p:nvPr/>
        </p:nvSpPr>
        <p:spPr>
          <a:xfrm>
            <a:off x="6231636" y="1691640"/>
            <a:ext cx="5408676" cy="4297680"/>
          </a:xfrm>
          <a:prstGeom prst="rect">
            <a:avLst/>
          </a:prstGeom>
          <a:solidFill>
            <a:srgbClr val="F7F5EF"/>
          </a:solidFill>
          <a:ln w="12700">
            <a:solidFill>
              <a:srgbClr val="D9D5C8"/>
            </a:solidFill>
            <a:prstDash val="solid"/>
          </a:ln>
        </p:spPr>
      </p:sp>
      <p:sp>
        <p:nvSpPr>
          <p:cNvPr id="14" name="Shape 12"/>
          <p:cNvSpPr/>
          <p:nvPr/>
        </p:nvSpPr>
        <p:spPr>
          <a:xfrm>
            <a:off x="6487668" y="1938528"/>
            <a:ext cx="137160" cy="292608"/>
          </a:xfrm>
          <a:prstGeom prst="rect">
            <a:avLst/>
          </a:prstGeom>
          <a:solidFill>
            <a:srgbClr val="B22234"/>
          </a:solidFill>
          <a:ln/>
        </p:spPr>
      </p:sp>
      <p:sp>
        <p:nvSpPr>
          <p:cNvPr id="15" name="Text 13"/>
          <p:cNvSpPr/>
          <p:nvPr/>
        </p:nvSpPr>
        <p:spPr>
          <a:xfrm>
            <a:off x="6707124" y="1828800"/>
            <a:ext cx="4677156" cy="54864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Polio Vaccine</a:t>
            </a:r>
            <a:endParaRPr lang="en-US" sz="2200" dirty="0"/>
          </a:p>
        </p:txBody>
      </p:sp>
      <p:sp>
        <p:nvSpPr>
          <p:cNvPr id="16" name="Text 14"/>
          <p:cNvSpPr/>
          <p:nvPr/>
        </p:nvSpPr>
        <p:spPr>
          <a:xfrm>
            <a:off x="6487668" y="2542032"/>
            <a:ext cx="4905756"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Vacuna contra la Polio</a:t>
            </a:r>
            <a:endParaRPr lang="en-US" sz="1400" dirty="0"/>
          </a:p>
        </p:txBody>
      </p:sp>
      <p:sp>
        <p:nvSpPr>
          <p:cNvPr id="17" name="Text 15"/>
          <p:cNvSpPr/>
          <p:nvPr/>
        </p:nvSpPr>
        <p:spPr>
          <a:xfrm>
            <a:off x="6487668" y="3108960"/>
            <a:ext cx="4905756"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6487668" y="3474720"/>
            <a:ext cx="4905756" cy="2377440"/>
          </a:xfrm>
          <a:prstGeom prst="rect">
            <a:avLst/>
          </a:prstGeom>
          <a:noFill/>
          <a:ln/>
        </p:spPr>
        <p:txBody>
          <a:bodyPr wrap="square" lIns="0" tIns="0" rIns="0" bIns="0" rtlCol="0" anchor="t"/>
          <a:lstStyle/>
          <a:p>
            <a:pPr indent="0" marL="0">
              <a:lnSpc>
                <a:spcPct val="108000"/>
              </a:lnSpc>
              <a:buNone/>
            </a:pPr>
            <a:r>
              <a:rPr lang="en-US" sz="1500" dirty="0">
                <a:solidFill>
                  <a:srgbClr val="1A1A1A"/>
                </a:solidFill>
                <a:latin typeface="Arial" pitchFamily="34" charset="0"/>
                <a:ea typeface="Arial" pitchFamily="34" charset="-122"/>
                <a:cs typeface="Arial" pitchFamily="34" charset="-120"/>
              </a:rPr>
              <a:t>The vaccine developed by Dr. Jonas Salk, announced safe in April 1955, that ended the epidemic that had paralyzed or killed thousands of children yearly.</a:t>
            </a:r>
            <a:endParaRPr lang="en-US" sz="1500" dirty="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Suburban Ideal</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Ideal Suburbano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1950s American dream of owning a single-family home in the suburbs with a yard, garage, and modern appliances, drawing families out of cities.</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Interstate Highway System</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Sistema de Autopistas Interestatales</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Massive 41,000-mile highway network authorized by President Eisenhower in 1956 that transformed American travel, commerce, and settlement patterns.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Automobile Culture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Cultura del Automóvil</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1950s lifestyle centered on cars, which symbolized freedom and prosperity, reshaping cities, suburbs, and daily life across America.</a:t>
            </a:r>
            <a:endParaRPr lang="en-US" sz="13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5408676"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4677156" cy="54864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Television</a:t>
            </a:r>
            <a:endParaRPr lang="en-US" sz="2200" dirty="0"/>
          </a:p>
        </p:txBody>
      </p:sp>
      <p:sp>
        <p:nvSpPr>
          <p:cNvPr id="10" name="Text 8"/>
          <p:cNvSpPr/>
          <p:nvPr/>
        </p:nvSpPr>
        <p:spPr>
          <a:xfrm>
            <a:off x="804672" y="2542032"/>
            <a:ext cx="4905756"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Televisión</a:t>
            </a:r>
            <a:endParaRPr lang="en-US" sz="1400" dirty="0"/>
          </a:p>
        </p:txBody>
      </p:sp>
      <p:sp>
        <p:nvSpPr>
          <p:cNvPr id="11" name="Text 9"/>
          <p:cNvSpPr/>
          <p:nvPr/>
        </p:nvSpPr>
        <p:spPr>
          <a:xfrm>
            <a:off x="804672" y="3108960"/>
            <a:ext cx="4905756"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74720"/>
            <a:ext cx="4905756" cy="2377440"/>
          </a:xfrm>
          <a:prstGeom prst="rect">
            <a:avLst/>
          </a:prstGeom>
          <a:noFill/>
          <a:ln/>
        </p:spPr>
        <p:txBody>
          <a:bodyPr wrap="square" lIns="0" tIns="0" rIns="0" bIns="0" rtlCol="0" anchor="t"/>
          <a:lstStyle/>
          <a:p>
            <a:pPr indent="0" marL="0">
              <a:lnSpc>
                <a:spcPct val="108000"/>
              </a:lnSpc>
              <a:buNone/>
            </a:pPr>
            <a:r>
              <a:rPr lang="en-US" sz="1500" dirty="0">
                <a:solidFill>
                  <a:srgbClr val="1A1A1A"/>
                </a:solidFill>
                <a:latin typeface="Arial" pitchFamily="34" charset="0"/>
                <a:ea typeface="Arial" pitchFamily="34" charset="-122"/>
                <a:cs typeface="Arial" pitchFamily="34" charset="-120"/>
              </a:rPr>
              <a:t>The electronic medium that became the dominant form of American entertainment and information by the late 1950s, creating shared national experiences.</a:t>
            </a:r>
            <a:endParaRPr lang="en-US" sz="1500" dirty="0"/>
          </a:p>
        </p:txBody>
      </p:sp>
      <p:sp>
        <p:nvSpPr>
          <p:cNvPr id="13" name="Shape 11"/>
          <p:cNvSpPr/>
          <p:nvPr/>
        </p:nvSpPr>
        <p:spPr>
          <a:xfrm>
            <a:off x="6231636" y="1691640"/>
            <a:ext cx="5408676" cy="4297680"/>
          </a:xfrm>
          <a:prstGeom prst="rect">
            <a:avLst/>
          </a:prstGeom>
          <a:solidFill>
            <a:srgbClr val="F7F5EF"/>
          </a:solidFill>
          <a:ln w="12700">
            <a:solidFill>
              <a:srgbClr val="D9D5C8"/>
            </a:solidFill>
            <a:prstDash val="solid"/>
          </a:ln>
        </p:spPr>
      </p:sp>
      <p:sp>
        <p:nvSpPr>
          <p:cNvPr id="14" name="Shape 12"/>
          <p:cNvSpPr/>
          <p:nvPr/>
        </p:nvSpPr>
        <p:spPr>
          <a:xfrm>
            <a:off x="6487668" y="1938528"/>
            <a:ext cx="137160" cy="292608"/>
          </a:xfrm>
          <a:prstGeom prst="rect">
            <a:avLst/>
          </a:prstGeom>
          <a:solidFill>
            <a:srgbClr val="B22234"/>
          </a:solidFill>
          <a:ln/>
        </p:spPr>
      </p:sp>
      <p:sp>
        <p:nvSpPr>
          <p:cNvPr id="15" name="Text 13"/>
          <p:cNvSpPr/>
          <p:nvPr/>
        </p:nvSpPr>
        <p:spPr>
          <a:xfrm>
            <a:off x="6707124" y="1828800"/>
            <a:ext cx="4677156" cy="548640"/>
          </a:xfrm>
          <a:prstGeom prst="rect">
            <a:avLst/>
          </a:prstGeom>
          <a:noFill/>
          <a:ln/>
        </p:spPr>
        <p:txBody>
          <a:bodyPr wrap="square" lIns="0" tIns="0" rIns="0" bIns="0" rtlCol="0" anchor="t"/>
          <a:lstStyle/>
          <a:p>
            <a:pPr indent="0" marL="0">
              <a:buNone/>
            </a:pPr>
            <a:r>
              <a:rPr lang="en-US" sz="2200" b="1" dirty="0">
                <a:solidFill>
                  <a:srgbClr val="1B2A4A"/>
                </a:solidFill>
                <a:latin typeface="Cambria" pitchFamily="34" charset="0"/>
                <a:ea typeface="Cambria" pitchFamily="34" charset="-122"/>
                <a:cs typeface="Cambria" pitchFamily="34" charset="-120"/>
              </a:rPr>
              <a:t>Mass Media</a:t>
            </a:r>
            <a:endParaRPr lang="en-US" sz="2200" dirty="0"/>
          </a:p>
        </p:txBody>
      </p:sp>
      <p:sp>
        <p:nvSpPr>
          <p:cNvPr id="16" name="Text 14"/>
          <p:cNvSpPr/>
          <p:nvPr/>
        </p:nvSpPr>
        <p:spPr>
          <a:xfrm>
            <a:off x="6487668" y="2542032"/>
            <a:ext cx="4905756" cy="457200"/>
          </a:xfrm>
          <a:prstGeom prst="rect">
            <a:avLst/>
          </a:prstGeom>
          <a:noFill/>
          <a:ln/>
        </p:spPr>
        <p:txBody>
          <a:bodyPr wrap="square" lIns="0" tIns="0" rIns="0" bIns="0" rtlCol="0" anchor="t"/>
          <a:lstStyle/>
          <a:p>
            <a:pPr indent="0" marL="0">
              <a:buNone/>
            </a:pPr>
            <a:r>
              <a:rPr lang="en-US" sz="1400" b="1" dirty="0">
                <a:solidFill>
                  <a:srgbClr val="2F5FA6"/>
                </a:solidFill>
                <a:latin typeface="Arial" pitchFamily="34" charset="0"/>
                <a:ea typeface="Arial" pitchFamily="34" charset="-122"/>
                <a:cs typeface="Arial" pitchFamily="34" charset="-120"/>
              </a:rPr>
              <a:t>En español:  </a:t>
            </a:r>
            <a:pPr indent="0" marL="0">
              <a:buNone/>
            </a:pPr>
            <a:r>
              <a:rPr lang="en-US" sz="1400" i="1" dirty="0">
                <a:solidFill>
                  <a:srgbClr val="2F5FA6"/>
                </a:solidFill>
                <a:latin typeface="Arial" pitchFamily="34" charset="0"/>
                <a:ea typeface="Arial" pitchFamily="34" charset="-122"/>
                <a:cs typeface="Arial" pitchFamily="34" charset="-120"/>
              </a:rPr>
              <a:t>Medios Masivos</a:t>
            </a:r>
            <a:endParaRPr lang="en-US" sz="1400" dirty="0"/>
          </a:p>
        </p:txBody>
      </p:sp>
      <p:sp>
        <p:nvSpPr>
          <p:cNvPr id="17" name="Text 15"/>
          <p:cNvSpPr/>
          <p:nvPr/>
        </p:nvSpPr>
        <p:spPr>
          <a:xfrm>
            <a:off x="6487668" y="3108960"/>
            <a:ext cx="4905756"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6487668" y="3474720"/>
            <a:ext cx="4905756" cy="2377440"/>
          </a:xfrm>
          <a:prstGeom prst="rect">
            <a:avLst/>
          </a:prstGeom>
          <a:noFill/>
          <a:ln/>
        </p:spPr>
        <p:txBody>
          <a:bodyPr wrap="square" lIns="0" tIns="0" rIns="0" bIns="0" rtlCol="0" anchor="t"/>
          <a:lstStyle/>
          <a:p>
            <a:pPr indent="0" marL="0">
              <a:lnSpc>
                <a:spcPct val="108000"/>
              </a:lnSpc>
              <a:buNone/>
            </a:pPr>
            <a:r>
              <a:rPr lang="en-US" sz="1500" dirty="0">
                <a:solidFill>
                  <a:srgbClr val="1A1A1A"/>
                </a:solidFill>
                <a:latin typeface="Arial" pitchFamily="34" charset="0"/>
                <a:ea typeface="Arial" pitchFamily="34" charset="-122"/>
                <a:cs typeface="Arial" pitchFamily="34" charset="-120"/>
              </a:rPr>
              <a:t>Communication channels—TV, radio, newspapers, magazines—that reach large audiences at once; in the 1950s television became the most powerful medium.</a:t>
            </a:r>
            <a:endParaRPr lang="en-US" sz="1500" dirty="0"/>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Beatniks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Beatniks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Members of the 1950s Beat Generation—writers like Jack Kerouac and Allen Ginsberg—who rejected mainstream culture, materialism, and conformity.</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Rock ’n’ Roll</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Rock ’n’ Roll</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Revolutionary 1950s music genre combining rhythm and blues, country, and gospel; Elvis Presley became its “King,” representing youth rebellion.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Elvis Presley</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Elvis Presley</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Tennessee singer who became “The King of Rock ’n’ Roll” in the 1950s, revolutionizing popular culture and launching rock as a global phenomenon.</a:t>
            </a:r>
            <a:endParaRPr lang="en-US" sz="1300" dirty="0"/>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New Frontier</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Nueva Frontera</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John F. Kennedy’s 1960s domestic program promoting economic growth, education, civil rights, and space exploration; a symbol of optimism.</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Peace Corps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Cuerpo de Paz</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Volunteer program created by President Kennedy in 1961, sending Americans to developing countries to help with education, health, and economic development.</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Moon Landing Goal</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Objetivo de Aterrizaje Lunar</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President Kennedy’s 1961 pledge to land Americans on the moon before 1970, mobilizing national resources, advancing technology, and inspiring a generation.</a:t>
            </a:r>
            <a:endParaRPr lang="en-US" sz="1300" dirty="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"suburban ideal" both fulfill and contradict the American Dream during the 1950s?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Suburbs offered homeownership and prosperity for white families, but restrictive covenants and redlining excluded minorities, creating segregated communities that contradicted democratic ideals of equality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Suburbs perfectly fulfilled the American Dream for all Americans, though this interpretation lacks supporting historical evidence when examined alongside the available primary and secondary sources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Suburban development had no racial dimensions, which does not align with the documented historical record when examined alongside the available primary and secondary sources, although historical sources do not support this conclusion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All Americans had equal access to suburban housing, but this fails to account for the broader historical context, which contradicts the primary source evidence from this era and does not reflect the scholarly consensus on this topic</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baby boomers reshape American consumer culture and economic growth in the 1950s and 1960s?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had no significant economic impact due to their young age, which does not align with the documented historical record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Their massive numbers created huge demand for consumer goods, driving manufacturing growth, retail expansion, and new youth-targeted industries</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primarily affected only the housing market, although historical sources do not support this conclusion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Consumer culture declined during the baby boom years, which does not reflect the consensus among historians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US.73</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the Interstate Highway System contribute to suburban growth and urban decline?</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Highways had no effect on population distribution, which contradicts the primary source evidence from this era, though this interpretation lacks supporting historical evidence</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Highways strengthened urban centers, which contradicts the primary source evidence from this era, which does not align with the documented historical record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Highways enabled suburban commuting while bypassing small towns, dividing urban neighborhoods, and accelerating downtown decline as families moved to suburbs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Suburbs declined as highways made cities more accessible, yet the available evidence points to a different conclusion, which does not align with the documented historical record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US.74</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automobiles drive the expansion of fast food chains and the hotel industry?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Fast food and motels existed before car culture, though this interpretation lacks supporting historical evidence and does not reflect the scholarly consensus on this topic</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hospitality industry declined as car ownership increased, which does not align with the documented historical record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Fast food was only popular in urban areas, but this oversimplifies the complex factors at work, but the historical evidence paints a more nuanced picture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Car culture created demand for drive-in restaurants like McDonald's and roadside motels, spawning entirely new industries serving traveling Americans</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US.75</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What impact did the 1960 Kennedy-Nixon debates have on the role of television in politics?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debates demonstrated TV's power to influence voters through visual appearance—radio listeners thought Nixon won, but TV viewers favored the telegenic Kennedy, transforming how candidates campaign</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debates had no significant impact on political campaigns, but contemporary accounts suggest a different explanation, which does not align with the documented historical record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candidates were equally effective on television, despite limited evidence supporting this interpretation when examined alongside the available primary and secondary sources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Television was not used for political debates until the 1970s, although historical sources do not support this conclusion, although historical sources do not support this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US.76</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did Tennessee become the center of American popular music development in the 1950s?</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Tennessee had no significant role in music history, but this fails to account for the broader historical context and fails to account for key developments in the broader context</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Sun Studio and Stax Records in Memphis combined African American and white musical traditions, while artists like Elvis and B.B. King crossed racial boundaries to create rock 'n' roll and soul music</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Tennessee only produced country music, but this fails to account for the broader historical context when examined alongside the available primary and secondary sources, although historical sources do not support this conclusion</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Music development occurred primarily in New York and Los Angeles, but contemporary accounts suggest a different explanation, which represents a common misconception about this historical period</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US.77</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did Kennedy commit America to landing on the moon during the Cold War space race?</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Kennedy had no interest in space exploration, which ignores key developments that shaped the outcome, but closer analysis reveals a more complicated historical reality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moon landing was planned before Kennedy took office, although historical sources do not support this conclusion, though this interpretation lacks supporting historical evidence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After Soviet successes with Sputnik and Gagarin's flight, Kennedy committed to the moon landing to demonstrate American technological superiority and prove democracy could achieve ambitious goals</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Kennedy's moon commitment was unpopular with Americans, although this overlooks critical economic and social factors, which contradicts the primary source evidence from this era</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8 — Postwar Prosperity &amp; 1950s America (US.71–US.77)</dc:subject>
  <dc:creator>TroopToTeacher Technologies LLC</dc:creator>
  <cp:lastModifiedBy>TroopToTeacher Technologies LLC</cp:lastModifiedBy>
  <cp:revision>1</cp:revision>
  <dcterms:created xsi:type="dcterms:W3CDTF">2026-07-02T19:16:35Z</dcterms:created>
  <dcterms:modified xsi:type="dcterms:W3CDTF">2026-07-02T19:16:35Z</dcterms:modified>
</cp:coreProperties>
</file>
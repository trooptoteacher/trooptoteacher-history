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4-1.jpg" ContentType="image/jpg"/>
  <Override PartName="/ppt/media/image-15-1.jpg" ContentType="image/jpg"/>
  <Override PartName="/ppt/media/image-16-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32-1.jpg" ContentType="image/jpg"/>
  <Override PartName="/ppt/media/image-33-1.jpg" ContentType="image/jpg"/>
  <Override PartName="/ppt/media/image-34-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2" r:id="rId43"/>
    <p:sldId id="256" r:id="rId2"/>
    <p:sldId id="293" r:id="rId44"/>
    <p:sldId id="257" r:id="rId3"/>
    <p:sldId id="258" r:id="rId4"/>
    <p:sldId id="259" r:id="rId5"/>
    <p:sldId id="260" r:id="rId6"/>
    <p:sldId id="261" r:id="rId7"/>
    <p:sldId id="299" r:id="rId50"/>
    <p:sldId id="262" r:id="rId8"/>
    <p:sldId id="294" r:id="rId45"/>
    <p:sldId id="263" r:id="rId9"/>
    <p:sldId id="264" r:id="rId10"/>
    <p:sldId id="265" r:id="rId11"/>
    <p:sldId id="266" r:id="rId12"/>
    <p:sldId id="267" r:id="rId13"/>
    <p:sldId id="300" r:id="rId51"/>
    <p:sldId id="268" r:id="rId14"/>
    <p:sldId id="295" r:id="rId46"/>
    <p:sldId id="269" r:id="rId15"/>
    <p:sldId id="270" r:id="rId16"/>
    <p:sldId id="271" r:id="rId17"/>
    <p:sldId id="272" r:id="rId18"/>
    <p:sldId id="273" r:id="rId19"/>
    <p:sldId id="301" r:id="rId52"/>
    <p:sldId id="274" r:id="rId20"/>
    <p:sldId id="296" r:id="rId47"/>
    <p:sldId id="275" r:id="rId21"/>
    <p:sldId id="276" r:id="rId22"/>
    <p:sldId id="277" r:id="rId23"/>
    <p:sldId id="278" r:id="rId24"/>
    <p:sldId id="279" r:id="rId25"/>
    <p:sldId id="302" r:id="rId53"/>
    <p:sldId id="280" r:id="rId26"/>
    <p:sldId id="297" r:id="rId48"/>
    <p:sldId id="281" r:id="rId27"/>
    <p:sldId id="282" r:id="rId28"/>
    <p:sldId id="283" r:id="rId29"/>
    <p:sldId id="284" r:id="rId30"/>
    <p:sldId id="285" r:id="rId31"/>
    <p:sldId id="303" r:id="rId54"/>
    <p:sldId id="286" r:id="rId32"/>
    <p:sldId id="298" r:id="rId49"/>
    <p:sldId id="287" r:id="rId33"/>
    <p:sldId id="288" r:id="rId34"/>
    <p:sldId id="289" r:id="rId35"/>
    <p:sldId id="290" r:id="rId36"/>
    <p:sldId id="291" r:id="rId37"/>
    <p:sldId id="304" r:id="rId55"/>
    <p:sldId id="305" r:id="rId56"/>
  </p:sldIdLst>
  <p:notesMasterIdLst>
    <p:notesMasterId r:id="rId3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loc.gov/collections/chronicling-america/"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oc.gov/item/2018687273/"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loc.gov/collections/federal-writers-project/"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millercenter.org/the-presidency/presidential-speeches/october-22-1928-principles-and-ideals-united-states-government"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archives.gov/milestone-documents/tennessee-valley-authority-act"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senate.gov/artandhistory/history/resources/pdf/HueyLong.pdf"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US.39</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Causes of the Great Depression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US.39 – Analyze the causes of the Great Depression, including: bank failures, buying on margin, crash of the stock market, excess consumerism, high tariffs, laissez-faire politics, overextension of credit, overproduction in agriculture &amp; manufacturing, rising unemployment.</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causes of the Great Depression, including bank failures, buying on margin, the stock market crash, overproduction, high tariffs, laissez-faire politics, and rising unemployment.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US.39</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Banks failed and confidence collapsed — bank runs and over 9,000 failed banks between 1929-1933 wiped out uninsured savings and contracted the money supply by a third.</a:t>
            </a:r>
            <a:endParaRPr lang="en-US" sz="2300" dirty="0"/>
          </a:p>
        </p:txBody>
      </p:sp>
      <p:pic>
        <p:nvPicPr>
          <p:cNvPr id="7" name="Image 0" descr="Black-and-white photograph of a dense crowd of depositors outside the American Union Bank during a 1931 bank run.">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US.39 · Bank Failures &amp; the Banking Crisis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1931 — National Archives (NARA) / Wikimedia Commons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US.39</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Margin buying inflated a fragile market — stocks bought with only 10% down inflated prices, then the October 1929 crash erased $30 billion in a week as margin calls forced panic selling.</a:t>
            </a:r>
            <a:endParaRPr lang="en-US" sz="2300" dirty="0"/>
          </a:p>
        </p:txBody>
      </p:sp>
      <p:pic>
        <p:nvPicPr>
          <p:cNvPr id="7" name="Image 0" descr="Black-and-white photograph of a massive crowd of men filling Broad Street outside the New York Stock Exchange, October 1929.">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US.39 · Buying on Margin &amp; the Crash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U.S. Government, Oct 29 1929 —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US.39</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Structural weakness deepened the crisis — overproduction, income inequality, easy credit, laissez-faire government, and the Smoot-Hawley Tariff pushed unemployment from 3.2% to 23.6%.</a:t>
            </a:r>
            <a:endParaRPr lang="en-US" sz="23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txBody>
          <a:bodyPr/>
          <a:p/>
        </p:txBody>
      </p:sp>
      <p:sp>
        <p:nvSpPr>
          <p:cNvPr id="8" name="Shape 6"/>
          <p:cNvSpPr/>
          <p:nvPr/>
        </p:nvSpPr>
        <p:spPr>
          <a:xfrm>
            <a:off x="1463040" y="2377440"/>
            <a:ext cx="9262872" cy="502920"/>
          </a:xfrm>
          <a:prstGeom prst="rect">
            <a:avLst/>
          </a:prstGeom>
          <a:solidFill>
            <a:srgbClr val="002858"/>
          </a:solidFill>
          <a:ln/>
        </p:spPr>
        <p:txBody>
          <a:bodyPr/>
          <a:p/>
        </p:txBody>
      </p:sp>
      <p:sp>
        <p:nvSpPr>
          <p:cNvPr id="9" name="Text 7"/>
          <p:cNvSpPr/>
          <p:nvPr/>
        </p:nvSpPr>
        <p:spPr>
          <a:xfrm>
            <a:off x="1463040" y="2377440"/>
            <a:ext cx="9262872" cy="502920"/>
          </a:xfrm>
          <a:prstGeom prst="rect">
            <a:avLst/>
          </a:prstGeom>
          <a:noFill/>
          <a:ln/>
        </p:spPr>
        <p:txBody>
          <a:bodyPr wrap="square" rtlCol="0" anchor="ctr">
            <a:normAutofit/>
          </a:bodyP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normAutofit/>
          </a:bodyP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Even before the 1929 crash, the boom rested on shaky supports — too many goods, too much debt, and too little regulation — so joblessness climbed from 3.2% to 23.6%.</a:t>
            </a:r>
            <a:endParaRPr lang="en-US" sz="2200" dirty="0"/>
          </a:p>
        </p:txBody>
      </p:sp>
      <p:sp>
        <p:nvSpPr>
          <p:cNvPr id="11" name="Text 9"/>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US.39 · Overproduction, Tariffs &amp; Unemployment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US.39</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the New York Times crash report — weigh the author’s purpose and audience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New York Times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October 30, 1929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Stock Market Crash Newspaper Report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New York Times · October 30, 1929</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"STOCKS COLLAPSE IN 16,410,030-SHARE DAY. The most disastrous decline in the biggest and broadest stock market of history rocked the financial district yesterday. Billions of dollars in open market values were wiped out as prices crumbled under the pressure of liquidation of securities which had to be sold at any price."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US.39</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US.39:</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Speculators and insiders who sold before the collapse, and, later, reformers who used the crash to justify federal regulation of banking and securities.</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US.39: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Ordinary depositors who lost uninsured savings, investors ruined by margin calls, and the 12-15 million Americans thrown out of work.</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US.39: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Banks and brokers extending credit and margin, and laissez-faire Republican administrations that chose not to intervene as the crisis spread.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Stock Market Crash Newspaper Report, New York Times, October 30, 1929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US.40</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The Dust Bowl</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US.40 – Analyze the causes of the Dust Bowl, and explain the social, geographic, and economic impacts.</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causes of the Dust Bowl, and explain the social, geographic, and economic impacts.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US.40</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Over-farming stripped the land’s defenses — plowing up native prairie grasses, WWI-era wheat expansion, tractors, and monoculture left Plains soil exposed with no crop rotation or conservation.</a:t>
            </a:r>
            <a:endParaRPr lang="en-US" sz="2300" dirty="0"/>
          </a:p>
        </p:txBody>
      </p:sp>
      <p:pic>
        <p:nvPicPr>
          <p:cNvPr id="7" name="Image 0" descr="Black-and-white FSA photograph by Arthur Rothstein of a farmer raising a fence post from drifted Dust Bowl sand, 1936.">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US.40 · Causes: Over-farming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Arthur Rothstein / FSA, 1936 — Library of Congress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US.40</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Drought and wind created “black blizzards” — a 1931-1939 drought dropped rainfall 40% below normal, and strong winds blew away 75% of topsoil, darkening skies as far as Washington, D.C.</a:t>
            </a:r>
            <a:endParaRPr lang="en-US" sz="23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US.40 · Causes: Severe Drought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
        <p:nvSpPr>
          <p:cNvPr id="12" name="Rectangle 11"/>
          <p:cNvSpPr/>
          <p:nvPr/>
        </p:nvSpPr>
        <p:spPr>
          <a:xfrm>
            <a:off x="1463040" y="2377440"/>
            <a:ext cx="9262872" cy="33832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63040" y="2377440"/>
            <a:ext cx="9262872" cy="5029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2377440"/>
            <a:ext cx="8686800" cy="502920"/>
          </a:xfrm>
          <a:prstGeom prst="rect">
            <a:avLst/>
          </a:prstGeom>
          <a:noFill/>
        </p:spPr>
        <p:txBody>
          <a:bodyPr wrap="square" anchor="ctr" lIns="0" rIns="0" tIns="0" bIns="0">
            <a:normAutofit/>
          </a:bodyPr>
          <a:lstStyle/>
          <a:p>
            <a:pPr algn="l">
              <a:lnSpc>
                <a:spcPct val="100000"/>
              </a:lnSpc>
            </a:pPr>
            <a:r>
              <a:rPr sz="1300" b="1" i="0">
                <a:solidFill>
                  <a:srgbClr val="F9A825"/>
                </a:solidFill>
                <a:latin typeface="Trebuchet MS"/>
              </a:rPr>
              <a:t>KEY POINT</a:t>
            </a:r>
          </a:p>
        </p:txBody>
      </p:sp>
      <p:sp>
        <p:nvSpPr>
          <p:cNvPr id="15" name="TextBox 14"/>
          <p:cNvSpPr txBox="1"/>
          <p:nvPr/>
        </p:nvSpPr>
        <p:spPr>
          <a:xfrm>
            <a:off x="1920240" y="3063240"/>
            <a:ext cx="8348472" cy="2468880"/>
          </a:xfrm>
          <a:prstGeom prst="rect">
            <a:avLst/>
          </a:prstGeom>
          <a:noFill/>
        </p:spPr>
        <p:txBody>
          <a:bodyPr wrap="square" anchor="t" lIns="0" rIns="0" tIns="0" bIns="0">
            <a:normAutofit/>
          </a:bodyPr>
          <a:lstStyle/>
          <a:p>
            <a:pPr algn="l">
              <a:lnSpc>
                <a:spcPct val="112000"/>
              </a:lnSpc>
            </a:pPr>
            <a:r>
              <a:rPr sz="1600" b="0" i="0">
                <a:solidFill>
                  <a:srgbClr val="1F2430"/>
                </a:solidFill>
                <a:latin typeface="Calibri"/>
              </a:rPr>
              <a:t>A 1931–1939 drought dropped rainfall about 40% below normal, and strong winds stripped up to 75% of the topsoil, creating "black blizzards" that darkened skies as far east as Washington, D.C.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US.40</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Displacement uprooted millions — 3.5 million left the Plains as “Okies,” over 200,000 heading to California on Route 66, as farm income fell 60% and banks foreclosed on thousands of farms.</a:t>
            </a:r>
            <a:endParaRPr lang="en-US" sz="23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US.40 · Social &amp; Economic Impacts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
        <p:nvSpPr>
          <p:cNvPr id="12" name="Rectangle 11"/>
          <p:cNvSpPr/>
          <p:nvPr/>
        </p:nvSpPr>
        <p:spPr>
          <a:xfrm>
            <a:off x="1463040" y="2377440"/>
            <a:ext cx="9262872" cy="33832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63040" y="2377440"/>
            <a:ext cx="9262872" cy="5029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2377440"/>
            <a:ext cx="8686800" cy="502920"/>
          </a:xfrm>
          <a:prstGeom prst="rect">
            <a:avLst/>
          </a:prstGeom>
          <a:noFill/>
        </p:spPr>
        <p:txBody>
          <a:bodyPr wrap="square" anchor="ctr" lIns="0" rIns="0" tIns="0" bIns="0">
            <a:normAutofit/>
          </a:bodyPr>
          <a:lstStyle/>
          <a:p>
            <a:pPr algn="l">
              <a:lnSpc>
                <a:spcPct val="100000"/>
              </a:lnSpc>
            </a:pPr>
            <a:r>
              <a:rPr sz="1300" b="1" i="0">
                <a:solidFill>
                  <a:srgbClr val="F9A825"/>
                </a:solidFill>
                <a:latin typeface="Trebuchet MS"/>
              </a:rPr>
              <a:t>KEY POINT</a:t>
            </a:r>
          </a:p>
        </p:txBody>
      </p:sp>
      <p:sp>
        <p:nvSpPr>
          <p:cNvPr id="15" name="TextBox 14"/>
          <p:cNvSpPr txBox="1"/>
          <p:nvPr/>
        </p:nvSpPr>
        <p:spPr>
          <a:xfrm>
            <a:off x="1920240" y="3063240"/>
            <a:ext cx="8348472" cy="2468880"/>
          </a:xfrm>
          <a:prstGeom prst="rect">
            <a:avLst/>
          </a:prstGeom>
          <a:noFill/>
        </p:spPr>
        <p:txBody>
          <a:bodyPr wrap="square" anchor="t" lIns="0" rIns="0" tIns="0" bIns="0">
            <a:normAutofit/>
          </a:bodyPr>
          <a:lstStyle/>
          <a:p>
            <a:pPr algn="l">
              <a:lnSpc>
                <a:spcPct val="112000"/>
              </a:lnSpc>
            </a:pPr>
            <a:r>
              <a:rPr sz="1600" b="0" i="0">
                <a:solidFill>
                  <a:srgbClr val="1F2430"/>
                </a:solidFill>
                <a:latin typeface="Calibri"/>
              </a:rPr>
              <a:t>Displacement uprooted millions: about 3.5 million people left the Plains as "Okies," over 200,000 heading to California, as farm income fell roughly 60% and banks foreclosed on thousands of farms.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US.40</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Caroline Henderson’s letter from a Kansas farm — identify who is writing and when before you weigh her account.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Caroline Henderson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June 1935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Letter from Kansas Farm Woman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Caroline Henderson · June 1935</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"Wearing our shade hats, with handkerchiefs tied over our faces and vaseline in our nostrils, we have been trying to rescue our home from the accumulations of wind-blown dust which penetrates wherever air can go. It is almost a hopeless task, for those gritty, grayish clouds of dust seem never to end. The whole world seems to be one vast dust heap."</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US.40</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US.40:</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Little benefit came from the disaster itself; later, New Deal soil-conservation programs and California agribusiness gained from cheap migrant labor.</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Plains farm families who lost land and homes, “Okie” migrants who faced discrimination, and rural communities drained of population.</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Farmers and land policies that encouraged over-plowing, and nature’s drought cycle — later, the federal government stepped in with conservation programs.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Letter from Kansas Farm Woman, Caroline Henderson, June 1935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US.41</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Impact of the Great Depression on the American People</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US.41 – Describe the impact of the Great Depression on the American people, including mass unemployment, migration, and Hoovervilles.</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impact of the Great Depression on the American people, including mass unemployment, migration, and Hoovervilles.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US.41</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Mass unemployment scarred a generation — joblessness peaked at 25% in 1933 (50% among youth), lasting years and forcing role reversals as women and children became breadwinners.</a:t>
            </a:r>
            <a:endParaRPr lang="en-US" sz="2300" dirty="0"/>
          </a:p>
        </p:txBody>
      </p:sp>
      <p:pic>
        <p:nvPicPr>
          <p:cNvPr id="7" name="Image 0" descr="Black-and-white NARA photograph of a long line of unemployed men waiting to be fed at a New York City breadline, early 1930s.">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US.41 · Mass Unemployment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c. 1930–1935 — National Archives (NARA) / Wikimedia Commons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US.41</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Families and communities strained — divorce, desertion, and delayed marriage rose; families doubled up, gardened, bartered, and leaned on churches while shame drove social withdrawal.</a:t>
            </a:r>
            <a:endParaRPr lang="en-US" sz="2300" dirty="0"/>
          </a:p>
        </p:txBody>
      </p:sp>
      <p:pic>
        <p:nvPicPr>
          <p:cNvPr id="7" name="Image 0" descr="Black-and-white FSA photograph by Dorothea Lange, 'Migrant Mother,' a worried mother with two children turned away, 1936.">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US.41 · Effects on Families &amp; Migration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Dorothea Lange / FSA, 1936 — Library of Congress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US.41</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Hoovervilles marked the human cost — homeless Americans built shanty towns of cardboard, tin, and scrap on city outskirts, sarcastically named for the president many blamed.</a:t>
            </a:r>
            <a:endParaRPr lang="en-US" sz="2300" dirty="0"/>
          </a:p>
        </p:txBody>
      </p:sp>
      <p:pic>
        <p:nvPicPr>
          <p:cNvPr id="7" name="Image 0" descr="Black-and-white photograph of a Depression-era Hooverville — makeshift shacks of scrap wood and tin on the edge of a city.">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US.41 · Hoovervilles &amp; Social Change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Arthur Rothstein, 1936 — Library of Congress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US.41</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a Hooverville resident’s account — consider the writer’s purpose and audience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Unemployed Factory Worker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1932</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Hooverville Resident Account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Unemployed Factory Worker · 1932</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"We built our shack out of old packing crates and flattened tin cans. There must be a thousand families living here in this camp by the river. We call it Hooverville after the president who promised us prosperity. Men who used to have good jobs stand in bread lines for hours just to get a bowl of soup. I never thought I'd see Americans living like this."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US.41</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US.41:</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Few benefited; the shared suffering later fueled demand for a federal safety net that the New Deal would build.</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The unemployed, homeless Hooverville residents, displaced migrants, and middle-class families who fell into poverty and lost faith in the American Dream.</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Ordinary Americans making survival choices, and a federal government whose limited response left communities to rely on mutual aid and charity.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Hooverville Resident Account, Unemployed Factory Worker, 1932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US.42</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Herbert Hoover's Response</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US.42 – Describe the steps taken by President Herbert Hoover to address the depression, including his: philosophy of "Rugged Individualism", public works projects, the Reconstruction Finance Corporation, and response to the "Bonus Army".</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steps taken by President Herbert Hoover to address the depression, including his philosophy of "Rugged Individualism," public works projects, the Reconstruction Finance Corporation, and response to the "Bonus Army."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US.42</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“Rugged individualism” limited his response — Hoover believed people should solve their own problems and that direct federal relief would destroy initiative and violate constitutional principles.</a:t>
            </a:r>
            <a:endParaRPr lang="en-US" sz="2300" dirty="0"/>
          </a:p>
        </p:txBody>
      </p:sp>
      <p:pic>
        <p:nvPicPr>
          <p:cNvPr id="7" name="Image 0" descr="Formal studio portrait of President Herbert Hoover.">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US.42 · Philosophy of “Rugged Individualism”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Underwood &amp; Underwood, 1928 — Library of Congress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US.42</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Public works and the RFC came too small — the Hoover Dam and a $2 billion RFC lent to banks and businesses on “trickle-down” theory, but the scale was inadequate for the crisis.</a:t>
            </a:r>
            <a:endParaRPr lang="en-US" sz="2300" dirty="0"/>
          </a:p>
        </p:txBody>
      </p:sp>
      <p:pic>
        <p:nvPicPr>
          <p:cNvPr id="7" name="Image 0" descr="Black-and-white photograph of Hoover Dam under construction in the early 1930s, canyon walls and scaffolding visible.">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US.42 · Public Works &amp; the RFC</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U.S. Bureau of Reclamation, c. 1932–1934 — National Archives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US.42</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The Bonus Army destroyed his reputation — when 17,000 WWI veterans camped in Washington in 1932, the Army under MacArthur used tanks and tear gas, and images of the attack doomed Hoover’s 1932 campaign.</a:t>
            </a:r>
            <a:endParaRPr lang="en-US" sz="2300" dirty="0"/>
          </a:p>
        </p:txBody>
      </p:sp>
      <p:pic>
        <p:nvPicPr>
          <p:cNvPr id="7" name="Image 0" descr="Black-and-white Harris &amp; Ewing photograph of the Bonus Army camp at Anacostia Flats, Washington, D.C., 1932.">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US.42 · Bonus Army &amp; Political Consequences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Harris &amp; Ewing, 1932 — Library of Congress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US.42</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Hoover’s 1928 “Rugged Individualism” speech — note the speaker, date, and purpose before you read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President Herbert Hoover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1928</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Rugged Individualism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Herbert Hoover · 1928</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"During the war we necessarily turned to the Government to solve every difficult economic problem... However justified in time of war, if continued in peacetime it would destroy not only our American system but with it our progress and freedom as well. When the Federal Government undertakes to go into commercial business, it must at once set up the organization and administration of that business."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Miller Center, University of Virginia</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US.42</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US.42:</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Banks and large corporations that received RFC loans, and FDR, who won a landslide by defining himself against Hoover’s limited response.</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The unemployed who received little direct relief, and the WWI veterans of the Bonus Army driven out of Washington by force.</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President Hoover, bound by his philosophy; Congress, which rejected the bonus bill; and General MacArthur, who exceeded orders against the veterans.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Rugged Individualism Speech, President Herbert Hoover, 1928 (Miller Center, University of Virginia)</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US.43</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FDR's New Deal Programs</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US.43 – Analyze the impact of the relief, recovery, and reform efforts of President Franklin D. Roosevelt's New Deal programs, including: Agricultural Adjustment Act, Civilian Conservation Corps, Fair Labor Standards Act, FDIC, National Recovery Administration, Securities and Exchange Commission, Social Security, TVA, Works Progress Administration.</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impact of the relief, recovery, and reform efforts of FDR's New Deal programs, including the AAA, CCC, Fair Labor Standards Act, FDIC, NRA, SEC, Social Security, TVA, and WPA.</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US.43</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Relief put millions back to work — the CCC (1933) employed young men planting 3 billion trees, and the WPA (1935) put 8.5 million Americans to work building roads, schools, and airports.</a:t>
            </a:r>
            <a:endParaRPr lang="en-US" sz="2300" dirty="0"/>
          </a:p>
        </p:txBody>
      </p:sp>
      <p:pic>
        <p:nvPicPr>
          <p:cNvPr id="7" name="Image 0" descr="Black-and-white NARA photograph of Civilian Conservation Corps workers laying stone on a hillside, c. 1933.">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US.43 · Relief: CCC &amp; WPA</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c. 1933 — National Archives (NARA) / Wikimedia Commons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US.43</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Recovery and reform reshaped the economy — the AAA and NRA raised prices and set labor codes (both later struck down), while the FDIC, SEC, FLSA, and Social Security built a permanent safety net.</a:t>
            </a:r>
            <a:endParaRPr lang="en-US" sz="23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US.43 · Recovery &amp; Reform Programs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
        <p:nvSpPr>
          <p:cNvPr id="12" name="Rectangle 11"/>
          <p:cNvSpPr/>
          <p:nvPr/>
        </p:nvSpPr>
        <p:spPr>
          <a:xfrm>
            <a:off x="1463040" y="2377440"/>
            <a:ext cx="9262872" cy="33832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63040" y="2377440"/>
            <a:ext cx="9262872" cy="5029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2377440"/>
            <a:ext cx="8686800" cy="502920"/>
          </a:xfrm>
          <a:prstGeom prst="rect">
            <a:avLst/>
          </a:prstGeom>
          <a:noFill/>
        </p:spPr>
        <p:txBody>
          <a:bodyPr wrap="square" anchor="ctr" lIns="0" rIns="0" tIns="0" bIns="0">
            <a:normAutofit/>
          </a:bodyPr>
          <a:lstStyle/>
          <a:p>
            <a:pPr algn="l">
              <a:lnSpc>
                <a:spcPct val="100000"/>
              </a:lnSpc>
            </a:pPr>
            <a:r>
              <a:rPr sz="1300" b="1" i="0">
                <a:solidFill>
                  <a:srgbClr val="F9A825"/>
                </a:solidFill>
                <a:latin typeface="Trebuchet MS"/>
              </a:rPr>
              <a:t>KEY POINT</a:t>
            </a:r>
          </a:p>
        </p:txBody>
      </p:sp>
      <p:sp>
        <p:nvSpPr>
          <p:cNvPr id="15" name="TextBox 14"/>
          <p:cNvSpPr txBox="1"/>
          <p:nvPr/>
        </p:nvSpPr>
        <p:spPr>
          <a:xfrm>
            <a:off x="1920240" y="3063240"/>
            <a:ext cx="8348472" cy="2468880"/>
          </a:xfrm>
          <a:prstGeom prst="rect">
            <a:avLst/>
          </a:prstGeom>
          <a:noFill/>
        </p:spPr>
        <p:txBody>
          <a:bodyPr wrap="square" anchor="t" lIns="0" rIns="0" tIns="0" bIns="0">
            <a:normAutofit/>
          </a:bodyPr>
          <a:lstStyle/>
          <a:p>
            <a:pPr algn="l">
              <a:lnSpc>
                <a:spcPct val="112000"/>
              </a:lnSpc>
            </a:pPr>
            <a:r>
              <a:rPr sz="1600" b="0" i="0">
                <a:solidFill>
                  <a:srgbClr val="1F2430"/>
                </a:solidFill>
                <a:latin typeface="Calibri"/>
              </a:rPr>
              <a:t>The AAA and NRA raised prices and set labor codes (both later struck down by the Supreme Court), while the FDIC, SEC, the Fair Labor Standards Act, and the Social Security Act built a permanent safety net that outlasted the Depression.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US.43</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The TVA transformed Tennessee — the Tennessee Valley Authority (1933) built 16 dams for flood control, cheap electricity, and navigation, electrifying one of America’s poorest regions and still operating today.</a:t>
            </a:r>
            <a:endParaRPr lang="en-US" sz="2300" dirty="0"/>
          </a:p>
        </p:txBody>
      </p:sp>
      <p:pic>
        <p:nvPicPr>
          <p:cNvPr id="7" name="Image 0" descr="Color FSA/OWI photograph of Douglas Dam under construction in Tennessee, 1942, with a large crane marked US TVA.">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US.43 · Tennessee Valley Authority (TN)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FSA/OWI, 1942 — Library of Congress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US.43</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FDR’s description of the TVA — identify the author and date before you analyze the source.</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Franklin D. Roosevelt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1933</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TVA (Tennessee Valley Authority) Description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Franklin D. Roosevelt · 1933</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"It is clear that the Muscle Shoals development is but a small part of the potential public usefulness of the entire Tennessee River. Such use, if envisioned in its entirety, transcends mere power development: it enters the wide fields of flood control, soil erosion, afforestation, elimination from agricultural use of marginal lands, and distribution and diversification of industry."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US.43</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US.43:</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Unemployed workers who found jobs, farmers and depositors protected by new programs, and the Tennessee Valley, transformed by cheap TVA power.</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Sharecroppers displaced by the AAA, taxpayers funding the programs, and families relocated for TVA dams and reservoirs.</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FDR and Congress, who created the alphabet agencies, and the Supreme Court, which struck down the AAA and NRA as unconstitutional.</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TVA (Tennessee Valley Authority) Description, Franklin D. Roosevelt, 1933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normAutofit/>
          </a:bodyPr>
          <a:lstStyle/>
          <a:p>
            <a:pPr indent="0" marL="0">
              <a:buNone/>
            </a:pPr>
            <a:r>
              <a:rPr lang="en-US" sz="6000" b="1" dirty="0">
                <a:solidFill>
                  <a:srgbClr val="C9A84C"/>
                </a:solidFill>
                <a:latin typeface="Georgia" pitchFamily="34" charset="0"/>
                <a:ea typeface="Georgia" pitchFamily="34" charset="-122"/>
                <a:cs typeface="Georgia" pitchFamily="34" charset="-120"/>
              </a:rPr>
              <a:t>US.44</a:t>
            </a:r>
            <a:endParaRPr lang="en-US" sz="6000" dirty="0"/>
          </a:p>
        </p:txBody>
      </p:sp>
      <p:sp>
        <p:nvSpPr>
          <p:cNvPr id="4" name="Text 2"/>
          <p:cNvSpPr/>
          <p:nvPr/>
        </p:nvSpPr>
        <p:spPr>
          <a:xfrm>
            <a:off x="3474720" y="548640"/>
            <a:ext cx="8229600" cy="1188720"/>
          </a:xfrm>
          <a:prstGeom prst="rect">
            <a:avLst/>
          </a:prstGeom>
          <a:noFill/>
          <a:ln/>
        </p:spPr>
        <p:txBody>
          <a:bodyPr wrap="square" rtlCol="0" anchor="ctr">
            <a:normAutofit/>
          </a:bodyPr>
          <a:lstStyle/>
          <a:p>
            <a:pPr indent="0" marL="0">
              <a:buNone/>
            </a:pPr>
            <a:r>
              <a:rPr lang="en-US" sz="2600" b="1" dirty="0">
                <a:solidFill>
                  <a:srgbClr val="FFFFFF"/>
                </a:solidFill>
                <a:latin typeface="Georgia" pitchFamily="34" charset="0"/>
                <a:ea typeface="Georgia" pitchFamily="34" charset="-122"/>
                <a:cs typeface="Georgia" pitchFamily="34" charset="-120"/>
              </a:rPr>
              <a:t>Effects and Controversies of New Deal Policies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normAutofit/>
          </a:bodyP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normAutofit/>
          </a:bodyPr>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US.44 – Analyze the effects of and the controversies arising from New Deal economic policies, including charges of socialism and President Franklin D. Roosevelt's "court packing" attempt.</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p/>
        </p:txBody>
      </p:sp>
      <p:sp>
        <p:nvSpPr>
          <p:cNvPr id="8" name="Text 6"/>
          <p:cNvSpPr/>
          <p:nvPr/>
        </p:nvSpPr>
        <p:spPr>
          <a:xfrm>
            <a:off x="640080" y="5029200"/>
            <a:ext cx="10972800" cy="274320"/>
          </a:xfrm>
          <a:prstGeom prst="rect">
            <a:avLst/>
          </a:prstGeom>
          <a:noFill/>
          <a:ln/>
        </p:spPr>
        <p:txBody>
          <a:bodyPr wrap="square" rtlCol="0" anchor="ctr">
            <a:normAutofit/>
          </a:bodyP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normAutofit/>
          </a:bodyPr>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effects of and the controversies arising from New Deal economic policies, including charges of socialism and FDR's "court packing" attempt.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US.44</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The New Deal reshaped government’s role — unemployment fell from 25% to 14%, manufacturing rose 60%, and federal spending grew from 3% to 10% of GDP, permanently expanding Washington’s reach.</a:t>
            </a:r>
            <a:endParaRPr lang="en-US" sz="2300" dirty="0"/>
          </a:p>
        </p:txBody>
      </p:sp>
      <p:pic>
        <p:nvPicPr>
          <p:cNvPr id="7" name="Image 0" descr="Color WPA screenprint poster, 'Work Pays America! Prosperity,' with stylized figures of a farmer and worker.">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US.44 · Economic &amp; Structural Effects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Federal Art Project / WPA, c. 1936 — Library of Congress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US.44</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Critics charged socialism and overreach — business leaders said the New Deal regulated enterprise and redistributed income like socialism, though it preserved private ownership rather than nationalizing industry.</a:t>
            </a:r>
            <a:endParaRPr lang="en-US" sz="2300" dirty="0"/>
          </a:p>
        </p:txBody>
      </p:sp>
      <p:pic>
        <p:nvPicPr>
          <p:cNvPr id="7" name="Image 0" descr="Color 1935 federal poster promoting the new Social Security program.">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normAutofit/>
          </a:bodyP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US.44 · Charges of Socialism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
        <p:nvSpPr>
          <p:cNvPr id="12" name="TextBox 11"/>
          <p:cNvSpPr txBox="1"/>
          <p:nvPr/>
        </p:nvSpPr>
        <p:spPr>
          <a:xfrm>
            <a:off x="6720840" y="6217920"/>
            <a:ext cx="4983480" cy="237744"/>
          </a:xfrm>
          <a:prstGeom prst="rect">
            <a:avLst/>
          </a:prstGeom>
          <a:noFill/>
        </p:spPr>
        <p:txBody>
          <a:bodyPr wrap="square" anchor="t" lIns="0" rIns="0" tIns="0" bIns="0">
            <a:normAutofit/>
          </a:bodyPr>
          <a:lstStyle/>
          <a:p>
            <a:pPr algn="r">
              <a:lnSpc>
                <a:spcPct val="100000"/>
              </a:lnSpc>
            </a:pPr>
            <a:r>
              <a:rPr sz="900" b="0" i="0">
                <a:solidFill>
                  <a:srgbClr val="5C6470"/>
                </a:solidFill>
                <a:latin typeface="Calibri"/>
              </a:rPr>
              <a:t>Source: </a:t>
            </a:r>
            <a:r>
              <a:rPr sz="900" b="0" i="1">
                <a:solidFill>
                  <a:srgbClr val="002858"/>
                </a:solidFill>
                <a:latin typeface="Calibri"/>
              </a:rPr>
              <a:t>Newman (artist), 1935 — Library of Congress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US.44</a:t>
            </a:r>
            <a:endParaRPr lang="en-US" sz="1200" dirty="0"/>
          </a:p>
        </p:txBody>
      </p:sp>
      <p:sp>
        <p:nvSpPr>
          <p:cNvPr id="6" name="Text 4"/>
          <p:cNvSpPr/>
          <p:nvPr/>
        </p:nvSpPr>
        <p:spPr>
          <a:xfrm>
            <a:off x="457200" y="777240"/>
            <a:ext cx="11247120" cy="868680"/>
          </a:xfrm>
          <a:prstGeom prst="rect">
            <a:avLst/>
          </a:prstGeom>
          <a:noFill/>
          <a:ln/>
        </p:spPr>
        <p:txBody>
          <a:bodyPr wrap="square" rtlCol="0" anchor="ctr">
            <a:normAutofit/>
          </a:bodyPr>
          <a:lstStyle/>
          <a:p>
            <a:pPr algn="l" indent="0" marL="0">
              <a:buNone/>
            </a:pPr>
            <a:r>
              <a:rPr lang="en-US" sz="2300" b="1" dirty="0">
                <a:solidFill>
                  <a:srgbClr val="FFFFFF"/>
                </a:solidFill>
                <a:latin typeface="Georgia" pitchFamily="34" charset="0"/>
                <a:ea typeface="Georgia" pitchFamily="34" charset="-122"/>
                <a:cs typeface="Georgia" pitchFamily="34" charset="-120"/>
              </a:rPr>
              <a:t>Court-packing split the nation — after the Court struck down the AAA and NRA, FDR’s 1937 plan to add up to six justices failed in Congress and cost him political capital, though it pressured the Court.</a:t>
            </a:r>
            <a:endParaRPr lang="en-US" sz="2300" dirty="0"/>
          </a:p>
        </p:txBody>
      </p:sp>
      <p:sp>
        <p:nvSpPr>
          <p:cNvPr id="9" name="Text 6"/>
          <p:cNvSpPr/>
          <p:nvPr/>
        </p:nvSpPr>
        <p:spPr>
          <a:xfrm>
            <a:off x="457200" y="6263640"/>
            <a:ext cx="8229600" cy="274320"/>
          </a:xfrm>
          <a:prstGeom prst="rect">
            <a:avLst/>
          </a:prstGeom>
          <a:noFill/>
          <a:ln/>
        </p:spPr>
        <p:txBody>
          <a:bodyPr wrap="square" rtlCol="0" anchor="ctr">
            <a:normAutofit/>
          </a:bodyP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US.44 · Court-Packing &amp; Differing Perspectives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
        <p:nvSpPr>
          <p:cNvPr id="12" name="Rectangle 11"/>
          <p:cNvSpPr/>
          <p:nvPr/>
        </p:nvSpPr>
        <p:spPr>
          <a:xfrm>
            <a:off x="1463040" y="2377440"/>
            <a:ext cx="9262872" cy="33832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63040" y="2377440"/>
            <a:ext cx="9262872" cy="5029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2377440"/>
            <a:ext cx="8686800" cy="502920"/>
          </a:xfrm>
          <a:prstGeom prst="rect">
            <a:avLst/>
          </a:prstGeom>
          <a:noFill/>
        </p:spPr>
        <p:txBody>
          <a:bodyPr wrap="square" anchor="ctr" lIns="0" rIns="0" tIns="0" bIns="0">
            <a:normAutofit/>
          </a:bodyPr>
          <a:lstStyle/>
          <a:p>
            <a:pPr algn="l">
              <a:lnSpc>
                <a:spcPct val="100000"/>
              </a:lnSpc>
            </a:pPr>
            <a:r>
              <a:rPr sz="1300" b="1" i="0">
                <a:solidFill>
                  <a:srgbClr val="F9A825"/>
                </a:solidFill>
                <a:latin typeface="Trebuchet MS"/>
              </a:rPr>
              <a:t>KEY POINT</a:t>
            </a:r>
          </a:p>
        </p:txBody>
      </p:sp>
      <p:sp>
        <p:nvSpPr>
          <p:cNvPr id="15" name="TextBox 14"/>
          <p:cNvSpPr txBox="1"/>
          <p:nvPr/>
        </p:nvSpPr>
        <p:spPr>
          <a:xfrm>
            <a:off x="1920240" y="3063240"/>
            <a:ext cx="8348472" cy="2468880"/>
          </a:xfrm>
          <a:prstGeom prst="rect">
            <a:avLst/>
          </a:prstGeom>
          <a:noFill/>
        </p:spPr>
        <p:txBody>
          <a:bodyPr wrap="square" anchor="t" lIns="0" rIns="0" tIns="0" bIns="0">
            <a:normAutofit/>
          </a:bodyPr>
          <a:lstStyle/>
          <a:p>
            <a:pPr algn="l">
              <a:lnSpc>
                <a:spcPct val="112000"/>
              </a:lnSpc>
            </a:pPr>
            <a:r>
              <a:rPr sz="1600" b="0" i="0">
                <a:solidFill>
                  <a:srgbClr val="1F2430"/>
                </a:solidFill>
                <a:latin typeface="Calibri"/>
              </a:rPr>
              <a:t>After the Supreme Court struck down the AAA and NRA, FDR’s 1937 plan to add up to six justices — attacked as "court packing" — failed in Congress and cost him political capital, even among allies. Yet the pressure helped shift the Court toward upholding later New Deal laws ("the switch in time that saved nine").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US.44</a:t>
            </a:r>
            <a:endParaRPr lang="en-US" sz="1200" dirty="0"/>
          </a:p>
        </p:txBody>
      </p:sp>
      <p:sp>
        <p:nvSpPr>
          <p:cNvPr id="6" name="Text 4"/>
          <p:cNvSpPr/>
          <p:nvPr/>
        </p:nvSpPr>
        <p:spPr>
          <a:xfrm>
            <a:off x="457200" y="713232"/>
            <a:ext cx="11247120" cy="777240"/>
          </a:xfrm>
          <a:prstGeom prst="rect">
            <a:avLst/>
          </a:prstGeom>
          <a:noFill/>
          <a:ln/>
        </p:spPr>
        <p:txBody>
          <a:bodyPr wrap="square" rtlCol="0" anchor="ctr">
            <a:normAutofit/>
          </a:bodyPr>
          <a:lstStyle/>
          <a:p>
            <a:pPr indent="0" marL="0">
              <a:buNone/>
            </a:pPr>
            <a:r>
              <a:rPr lang="en-US" sz="2000" b="1" dirty="0">
                <a:solidFill>
                  <a:srgbClr val="FFFFFF"/>
                </a:solidFill>
                <a:latin typeface="Georgia" pitchFamily="34" charset="0"/>
                <a:ea typeface="Georgia" pitchFamily="34" charset="-122"/>
                <a:cs typeface="Georgia" pitchFamily="34" charset="-120"/>
              </a:rPr>
              <a:t>Read Huey Long’s “Share Our Wealth” program — weigh who is speaking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Senator Huey Long</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1934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normAutofit/>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normAutofit/>
          </a:bodyPr>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p/>
        </p:txBody>
      </p:sp>
      <p:sp>
        <p:nvSpPr>
          <p:cNvPr id="14" name="Text 12"/>
          <p:cNvSpPr/>
          <p:nvPr/>
        </p:nvSpPr>
        <p:spPr>
          <a:xfrm>
            <a:off x="594360" y="3291840"/>
            <a:ext cx="5257800" cy="320040"/>
          </a:xfrm>
          <a:prstGeom prst="rect">
            <a:avLst/>
          </a:prstGeom>
          <a:noFill/>
          <a:ln/>
        </p:spPr>
        <p:txBody>
          <a:bodyPr wrap="square" rtlCol="0" anchor="ctr">
            <a:normAutofit/>
          </a:bodyPr>
          <a:lstStyle/>
          <a:p>
            <a:pPr indent="0" marL="0">
              <a:buNone/>
            </a:pPr>
            <a:r>
              <a:rPr lang="en-US" sz="1400" b="1" dirty="0">
                <a:solidFill>
                  <a:srgbClr val="002858"/>
                </a:solidFill>
                <a:latin typeface="Georgia" pitchFamily="34" charset="0"/>
                <a:ea typeface="Georgia" pitchFamily="34" charset="-122"/>
                <a:cs typeface="Georgia" pitchFamily="34" charset="-120"/>
              </a:rPr>
              <a:t>Share Our Wealth Program</a:t>
            </a:r>
            <a:endParaRPr lang="en-US" sz="1400" dirty="0"/>
          </a:p>
        </p:txBody>
      </p:sp>
      <p:sp>
        <p:nvSpPr>
          <p:cNvPr id="15" name="Text 13"/>
          <p:cNvSpPr/>
          <p:nvPr/>
        </p:nvSpPr>
        <p:spPr>
          <a:xfrm>
            <a:off x="594360" y="3611880"/>
            <a:ext cx="5257800" cy="274320"/>
          </a:xfrm>
          <a:prstGeom prst="rect">
            <a:avLst/>
          </a:prstGeom>
          <a:noFill/>
          <a:ln/>
        </p:spPr>
        <p:txBody>
          <a:bodyPr wrap="square" rtlCol="0" anchor="ctr">
            <a:normAutofit/>
          </a:bodyP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Senator Huey Long · 1934</a:t>
            </a:r>
            <a:endParaRPr lang="en-US" sz="900" dirty="0"/>
          </a:p>
        </p:txBody>
      </p:sp>
      <p:sp>
        <p:nvSpPr>
          <p:cNvPr id="16" name="Text 14"/>
          <p:cNvSpPr/>
          <p:nvPr/>
        </p:nvSpPr>
        <p:spPr>
          <a:xfrm>
            <a:off x="594360" y="3931920"/>
            <a:ext cx="5257800" cy="1600200"/>
          </a:xfrm>
          <a:prstGeom prst="rect">
            <a:avLst/>
          </a:prstGeom>
          <a:noFill/>
          <a:ln/>
        </p:spPr>
        <p:txBody>
          <a:bodyPr wrap="square" rtlCol="0" anchor="t">
            <a:normAutofit/>
          </a:bodyPr>
          <a:lstStyle/>
          <a:p>
            <a:pPr indent="0" marL="0">
              <a:buNone/>
            </a:pPr>
            <a:r>
              <a:rPr lang="en-US" sz="1100" dirty="0">
                <a:solidFill>
                  <a:srgbClr val="1F2430"/>
                </a:solidFill>
                <a:latin typeface="Calibri" pitchFamily="34" charset="0"/>
                <a:ea typeface="Calibri" pitchFamily="34" charset="-122"/>
                <a:cs typeface="Calibri" pitchFamily="34" charset="-120"/>
              </a:rPr>
              <a:t>"We propose to limit the size of each fortune. No person shall own more than 3 or 4 million dollars. We will guarantee every family in America an annual income of $2,000 to $2,500 and a home worth $5,000. Every child shall have a free education from kindergarten through college. The hours of labor will be limited so as to give the masses more time for recreation."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normAutofit/>
          </a:bodyP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Senate Historical Office</a:t>
            </a:r>
            <a:endParaRPr lang="en-US" sz="900" dirty="0"/>
          </a:p>
        </p:txBody>
      </p:sp>
      <p:sp>
        <p:nvSpPr>
          <p:cNvPr id="18" name="Text 16"/>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normAutofit/>
          </a:bodyP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normAutofit/>
          </a:bodyP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US.44</a:t>
            </a:r>
            <a:endParaRPr lang="en-US" sz="1200" dirty="0"/>
          </a:p>
        </p:txBody>
      </p:sp>
      <p:sp>
        <p:nvSpPr>
          <p:cNvPr id="4" name="Text 2"/>
          <p:cNvSpPr/>
          <p:nvPr/>
        </p:nvSpPr>
        <p:spPr>
          <a:xfrm>
            <a:off x="457200" y="777240"/>
            <a:ext cx="11247120" cy="822960"/>
          </a:xfrm>
          <a:prstGeom prst="rect">
            <a:avLst/>
          </a:prstGeom>
          <a:noFill/>
          <a:ln/>
        </p:spPr>
        <p:txBody>
          <a:bodyPr wrap="square" rtlCol="0" anchor="ctr">
            <a:normAutofit/>
          </a:bodyP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p/>
        </p:txBody>
      </p:sp>
      <p:sp>
        <p:nvSpPr>
          <p:cNvPr id="6" name="Shape 4"/>
          <p:cNvSpPr/>
          <p:nvPr/>
        </p:nvSpPr>
        <p:spPr>
          <a:xfrm>
            <a:off x="457200" y="1783080"/>
            <a:ext cx="3566160" cy="548640"/>
          </a:xfrm>
          <a:prstGeom prst="rect">
            <a:avLst/>
          </a:prstGeom>
          <a:solidFill>
            <a:srgbClr val="1B5E20"/>
          </a:solidFill>
          <a:ln/>
        </p:spPr>
        <p:txBody>
          <a:bodyPr/>
          <a:p/>
        </p:txBody>
      </p:sp>
      <p:sp>
        <p:nvSpPr>
          <p:cNvPr id="7" name="Text 5"/>
          <p:cNvSpPr/>
          <p:nvPr/>
        </p:nvSpPr>
        <p:spPr>
          <a:xfrm>
            <a:off x="45720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US.44:</a:t>
            </a:r>
            <a:endParaRPr lang="en-US" sz="1000" dirty="0"/>
          </a:p>
        </p:txBody>
      </p:sp>
      <p:sp>
        <p:nvSpPr>
          <p:cNvPr id="10" name="Text 8"/>
          <p:cNvSpPr/>
          <p:nvPr/>
        </p:nvSpPr>
        <p:spPr>
          <a:xfrm>
            <a:off x="59436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Workers, the elderly, and depositors protected by lasting programs like Social Security and the FDIC, and the new Democratic political coalition.</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p/>
        </p:txBody>
      </p:sp>
      <p:sp>
        <p:nvSpPr>
          <p:cNvPr id="12" name="Shape 10"/>
          <p:cNvSpPr/>
          <p:nvPr/>
        </p:nvSpPr>
        <p:spPr>
          <a:xfrm>
            <a:off x="4251960" y="1783080"/>
            <a:ext cx="3566160" cy="548640"/>
          </a:xfrm>
          <a:prstGeom prst="rect">
            <a:avLst/>
          </a:prstGeom>
          <a:solidFill>
            <a:srgbClr val="C62828"/>
          </a:solidFill>
          <a:ln/>
        </p:spPr>
        <p:txBody>
          <a:bodyPr/>
          <a:p/>
        </p:txBody>
      </p:sp>
      <p:sp>
        <p:nvSpPr>
          <p:cNvPr id="13" name="Text 11"/>
          <p:cNvSpPr/>
          <p:nvPr/>
        </p:nvSpPr>
        <p:spPr>
          <a:xfrm>
            <a:off x="425196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Business owners who faced new regulation, states that lost power to Washington, and critics who warned of expanded federal and executive authority.</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p/>
        </p:txBody>
      </p:sp>
      <p:sp>
        <p:nvSpPr>
          <p:cNvPr id="18" name="Shape 16"/>
          <p:cNvSpPr/>
          <p:nvPr/>
        </p:nvSpPr>
        <p:spPr>
          <a:xfrm>
            <a:off x="8046720" y="1783080"/>
            <a:ext cx="3566160" cy="548640"/>
          </a:xfrm>
          <a:prstGeom prst="rect">
            <a:avLst/>
          </a:prstGeom>
          <a:solidFill>
            <a:srgbClr val="002858"/>
          </a:solidFill>
          <a:ln/>
        </p:spPr>
        <p:txBody>
          <a:bodyPr/>
          <a:p/>
        </p:txBody>
      </p:sp>
      <p:sp>
        <p:nvSpPr>
          <p:cNvPr id="19" name="Text 17"/>
          <p:cNvSpPr/>
          <p:nvPr/>
        </p:nvSpPr>
        <p:spPr>
          <a:xfrm>
            <a:off x="8046720" y="1783080"/>
            <a:ext cx="356616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normAutofit/>
          </a:bodyPr>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normAutofit/>
          </a:bodyP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US.44: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normAutofit/>
          </a:bodyPr>
          <a:lstStyle/>
          <a:p>
            <a:pPr indent="0" marL="0">
              <a:buNone/>
            </a:pPr>
            <a:r>
              <a:rPr lang="en-US" sz="1200" dirty="0">
                <a:solidFill>
                  <a:srgbClr val="1F2430"/>
                </a:solidFill>
                <a:latin typeface="Calibri" pitchFamily="34" charset="0"/>
                <a:ea typeface="Calibri" pitchFamily="34" charset="-122"/>
                <a:cs typeface="Calibri" pitchFamily="34" charset="-120"/>
              </a:rPr>
              <a:t>FDR and the Democratic Congress who passed the programs, the Supreme Court that limited them, and critics like Huey Long who pushed from the left.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normAutofit/>
          </a:bodyP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Share Our Wealth Program, Senator Huey Long, 1934 (U.S. Senate Historical Office)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normAutofit/>
          </a:bodyP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972800" cy="36576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UNIVERSAL DESIGN FOR LEARNING · MTSS</a:t>
            </a:r>
          </a:p>
        </p:txBody>
      </p:sp>
      <p:sp>
        <p:nvSpPr>
          <p:cNvPr id="5" name="TextBox 4"/>
          <p:cNvSpPr txBox="1"/>
          <p:nvPr/>
        </p:nvSpPr>
        <p:spPr>
          <a:xfrm>
            <a:off x="640080" y="868680"/>
            <a:ext cx="10972800" cy="731520"/>
          </a:xfrm>
          <a:prstGeom prst="rect">
            <a:avLst/>
          </a:prstGeom>
          <a:noFill/>
        </p:spPr>
        <p:txBody>
          <a:bodyPr wrap="square" anchor="t" lIns="0" rIns="0" tIns="0" bIns="0">
            <a:normAutofit/>
          </a:bodyPr>
          <a:lstStyle/>
          <a:p>
            <a:pPr algn="l">
              <a:lnSpc>
                <a:spcPct val="100000"/>
              </a:lnSpc>
            </a:pPr>
            <a:r>
              <a:rPr sz="3200" b="1" i="0">
                <a:solidFill>
                  <a:srgbClr val="FFFFFF"/>
                </a:solidFill>
                <a:latin typeface="Georgia"/>
              </a:rPr>
              <a:t>How This Unit Supports Every Learner</a:t>
            </a:r>
          </a:p>
        </p:txBody>
      </p:sp>
      <p:sp>
        <p:nvSpPr>
          <p:cNvPr id="6" name="Rounded Rectangle 5"/>
          <p:cNvSpPr/>
          <p:nvPr/>
        </p:nvSpPr>
        <p:spPr>
          <a:xfrm>
            <a:off x="640080" y="1828800"/>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38528"/>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CORE PATH</a:t>
            </a:r>
          </a:p>
        </p:txBody>
      </p:sp>
      <p:sp>
        <p:nvSpPr>
          <p:cNvPr id="8" name="TextBox 7"/>
          <p:cNvSpPr txBox="1"/>
          <p:nvPr/>
        </p:nvSpPr>
        <p:spPr>
          <a:xfrm>
            <a:off x="868680" y="2249424"/>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The grade-level lesson every student does — same TN standard, same rigor, same ceiling.</a:t>
            </a:r>
          </a:p>
        </p:txBody>
      </p:sp>
      <p:sp>
        <p:nvSpPr>
          <p:cNvPr id="9" name="Rounded Rectangle 8"/>
          <p:cNvSpPr/>
          <p:nvPr/>
        </p:nvSpPr>
        <p:spPr>
          <a:xfrm>
            <a:off x="6309360" y="1828800"/>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938528"/>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SUPPORT OPTION</a:t>
            </a:r>
          </a:p>
        </p:txBody>
      </p:sp>
      <p:sp>
        <p:nvSpPr>
          <p:cNvPr id="11" name="TextBox 10"/>
          <p:cNvSpPr txBox="1"/>
          <p:nvPr/>
        </p:nvSpPr>
        <p:spPr>
          <a:xfrm>
            <a:off x="6537960" y="2249424"/>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An optional scaffold that lowers a barrier, not the goal. Available to anyone.</a:t>
            </a:r>
          </a:p>
        </p:txBody>
      </p:sp>
      <p:sp>
        <p:nvSpPr>
          <p:cNvPr id="12" name="Rounded Rectangle 11"/>
          <p:cNvSpPr/>
          <p:nvPr/>
        </p:nvSpPr>
        <p:spPr>
          <a:xfrm>
            <a:off x="640080" y="3044952"/>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154680"/>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LANGUAGE SUPPORT</a:t>
            </a:r>
          </a:p>
        </p:txBody>
      </p:sp>
      <p:sp>
        <p:nvSpPr>
          <p:cNvPr id="14" name="TextBox 13"/>
          <p:cNvSpPr txBox="1"/>
          <p:nvPr/>
        </p:nvSpPr>
        <p:spPr>
          <a:xfrm>
            <a:off x="868680" y="3465576"/>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Vocabulary, pronunciation, Spanish, and sentence frames for multilingual learners — open to all.</a:t>
            </a:r>
          </a:p>
        </p:txBody>
      </p:sp>
      <p:sp>
        <p:nvSpPr>
          <p:cNvPr id="15" name="Rounded Rectangle 14"/>
          <p:cNvSpPr/>
          <p:nvPr/>
        </p:nvSpPr>
        <p:spPr>
          <a:xfrm>
            <a:off x="6309360" y="3044952"/>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154680"/>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RESPONSE CHOICE</a:t>
            </a:r>
          </a:p>
        </p:txBody>
      </p:sp>
      <p:sp>
        <p:nvSpPr>
          <p:cNvPr id="17" name="TextBox 16"/>
          <p:cNvSpPr txBox="1"/>
          <p:nvPr/>
        </p:nvSpPr>
        <p:spPr>
          <a:xfrm>
            <a:off x="6537960" y="3465576"/>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Show what you know your way: write it · say &amp; record it · diagram &amp; label it. Same learning target.</a:t>
            </a:r>
          </a:p>
        </p:txBody>
      </p:sp>
      <p:sp>
        <p:nvSpPr>
          <p:cNvPr id="18" name="Rounded Rectangle 17"/>
          <p:cNvSpPr/>
          <p:nvPr/>
        </p:nvSpPr>
        <p:spPr>
          <a:xfrm>
            <a:off x="640080" y="4261104"/>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70832"/>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PROGRESS CHECK</a:t>
            </a:r>
          </a:p>
        </p:txBody>
      </p:sp>
      <p:sp>
        <p:nvSpPr>
          <p:cNvPr id="20" name="TextBox 19"/>
          <p:cNvSpPr txBox="1"/>
          <p:nvPr/>
        </p:nvSpPr>
        <p:spPr>
          <a:xfrm>
            <a:off x="868680" y="4681728"/>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A quick DOK-2 check and confidence rating so you and your teacher see the next step.</a:t>
            </a:r>
          </a:p>
        </p:txBody>
      </p:sp>
      <p:sp>
        <p:nvSpPr>
          <p:cNvPr id="21" name="Rounded Rectangle 20"/>
          <p:cNvSpPr/>
          <p:nvPr/>
        </p:nvSpPr>
        <p:spPr>
          <a:xfrm>
            <a:off x="6309360" y="4261104"/>
            <a:ext cx="5440680" cy="1051560"/>
          </a:xfrm>
          <a:prstGeom prst="roundRect">
            <a:avLst/>
          </a:prstGeom>
          <a:solidFill>
            <a:srgbClr val="243047"/>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4370832"/>
            <a:ext cx="4983480" cy="274320"/>
          </a:xfrm>
          <a:prstGeom prst="rect">
            <a:avLst/>
          </a:prstGeom>
          <a:noFill/>
        </p:spPr>
        <p:txBody>
          <a:bodyPr wrap="square" anchor="t" lIns="0" rIns="0" tIns="0" bIns="0">
            <a:normAutofit/>
          </a:bodyPr>
          <a:lstStyle/>
          <a:p>
            <a:pPr algn="l">
              <a:lnSpc>
                <a:spcPct val="100000"/>
              </a:lnSpc>
            </a:pPr>
            <a:r>
              <a:rPr sz="1300" b="1" i="0">
                <a:solidFill>
                  <a:srgbClr val="F9A825"/>
                </a:solidFill>
                <a:latin typeface="Trebuchet MS"/>
              </a:rPr>
              <a:t>EXTENSION</a:t>
            </a:r>
          </a:p>
        </p:txBody>
      </p:sp>
      <p:sp>
        <p:nvSpPr>
          <p:cNvPr id="23" name="TextBox 22"/>
          <p:cNvSpPr txBox="1"/>
          <p:nvPr/>
        </p:nvSpPr>
        <p:spPr>
          <a:xfrm>
            <a:off x="6537960" y="4681728"/>
            <a:ext cx="4983480" cy="548639"/>
          </a:xfrm>
          <a:prstGeom prst="rect">
            <a:avLst/>
          </a:prstGeom>
          <a:noFill/>
        </p:spPr>
        <p:txBody>
          <a:bodyPr wrap="square" anchor="t" lIns="0" rIns="0" tIns="0" bIns="0">
            <a:normAutofit/>
          </a:bodyPr>
          <a:lstStyle/>
          <a:p>
            <a:pPr algn="l">
              <a:lnSpc>
                <a:spcPct val="103000"/>
              </a:lnSpc>
            </a:pPr>
            <a:r>
              <a:rPr sz="1150" b="0" i="0">
                <a:solidFill>
                  <a:srgbClr val="C7D4E0"/>
                </a:solidFill>
                <a:latin typeface="Calibri"/>
              </a:rPr>
              <a:t>An optional deeper challenge (higher DOK). The standard stays the same.</a:t>
            </a:r>
          </a:p>
        </p:txBody>
      </p:sp>
      <p:sp>
        <p:nvSpPr>
          <p:cNvPr id="24" name="Rounded Rectangle 23"/>
          <p:cNvSpPr/>
          <p:nvPr/>
        </p:nvSpPr>
        <p:spPr>
          <a:xfrm>
            <a:off x="640080" y="5440680"/>
            <a:ext cx="10972800" cy="868680"/>
          </a:xfrm>
          <a:prstGeom prst="roundRect">
            <a:avLst/>
          </a:prstGeom>
          <a:solidFill>
            <a:srgbClr val="11202F"/>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41264"/>
            <a:ext cx="10515600" cy="713232"/>
          </a:xfrm>
          <a:prstGeom prst="rect">
            <a:avLst/>
          </a:prstGeom>
          <a:noFill/>
        </p:spPr>
        <p:txBody>
          <a:bodyPr wrap="square" anchor="ctr" lIns="0" rIns="0" tIns="0" bIns="0">
            <a:normAutofit/>
          </a:bodyPr>
          <a:lstStyle/>
          <a:p>
            <a:pPr algn="l">
              <a:lnSpc>
                <a:spcPct val="105000"/>
              </a:lnSpc>
            </a:pPr>
            <a:r>
              <a:rPr sz="1300" b="1" i="0">
                <a:solidFill>
                  <a:srgbClr val="FFFFFF"/>
                </a:solidFill>
                <a:latin typeface="Calibri"/>
              </a:rPr>
              <a:t>Options are available by design and support access without lowering the learning goal.  </a:t>
            </a:r>
            <a:r>
              <a:rPr sz="1300" b="1" i="0">
                <a:solidFill>
                  <a:srgbClr val="F9A825"/>
                </a:solidFill>
                <a:latin typeface="Calibri"/>
              </a:rPr>
              <a:t>Supports work alongside, never in place of, required IEP or 504 accommodations.</a:t>
            </a:r>
          </a:p>
        </p:txBody>
      </p:sp>
      <p:sp>
        <p:nvSpPr>
          <p:cNvPr id="26" name="TextBox 25"/>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US.39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47228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87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Great Depression</a:t>
            </a:r>
          </a:p>
        </p:txBody>
      </p:sp>
      <p:sp>
        <p:nvSpPr>
          <p:cNvPr id="9" name="TextBox 8"/>
          <p:cNvSpPr txBox="1"/>
          <p:nvPr/>
        </p:nvSpPr>
        <p:spPr>
          <a:xfrm>
            <a:off x="63687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Gran Depresión</a:t>
            </a:r>
          </a:p>
        </p:txBody>
      </p:sp>
      <p:sp>
        <p:nvSpPr>
          <p:cNvPr id="10" name="TextBox 9"/>
          <p:cNvSpPr txBox="1"/>
          <p:nvPr/>
        </p:nvSpPr>
        <p:spPr>
          <a:xfrm>
            <a:off x="63687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grayt dee-PRESH-un</a:t>
            </a:r>
          </a:p>
        </p:txBody>
      </p:sp>
      <p:sp>
        <p:nvSpPr>
          <p:cNvPr id="11" name="TextBox 10"/>
          <p:cNvSpPr txBox="1"/>
          <p:nvPr/>
        </p:nvSpPr>
        <p:spPr>
          <a:xfrm>
            <a:off x="63687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The worst economic downturn in U.S. history (1929–early 1940s): mass unemployment, bank failures, and widespread poverty.</a:t>
            </a:r>
          </a:p>
        </p:txBody>
      </p:sp>
      <p:sp>
        <p:nvSpPr>
          <p:cNvPr id="12" name="Rectangle 11"/>
          <p:cNvSpPr/>
          <p:nvPr/>
        </p:nvSpPr>
        <p:spPr>
          <a:xfrm>
            <a:off x="431276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276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735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Stock Market Crash of 1929</a:t>
            </a:r>
          </a:p>
        </p:txBody>
      </p:sp>
      <p:sp>
        <p:nvSpPr>
          <p:cNvPr id="15" name="TextBox 14"/>
          <p:cNvSpPr txBox="1"/>
          <p:nvPr/>
        </p:nvSpPr>
        <p:spPr>
          <a:xfrm>
            <a:off x="447735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Crash del Mercado de Valores</a:t>
            </a:r>
          </a:p>
        </p:txBody>
      </p:sp>
      <p:sp>
        <p:nvSpPr>
          <p:cNvPr id="16" name="TextBox 15"/>
          <p:cNvSpPr txBox="1"/>
          <p:nvPr/>
        </p:nvSpPr>
        <p:spPr>
          <a:xfrm>
            <a:off x="447735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stok MAR-ket krash</a:t>
            </a:r>
          </a:p>
        </p:txBody>
      </p:sp>
      <p:sp>
        <p:nvSpPr>
          <p:cNvPr id="17" name="TextBox 16"/>
          <p:cNvSpPr txBox="1"/>
          <p:nvPr/>
        </p:nvSpPr>
        <p:spPr>
          <a:xfrm>
            <a:off x="447735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The sudden collapse of stock prices in October 1929 ("Black Tuesday") that signaled the start of the Depression.</a:t>
            </a:r>
          </a:p>
        </p:txBody>
      </p:sp>
      <p:sp>
        <p:nvSpPr>
          <p:cNvPr id="18" name="Rectangle 17"/>
          <p:cNvSpPr/>
          <p:nvPr/>
        </p:nvSpPr>
        <p:spPr>
          <a:xfrm>
            <a:off x="815324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24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83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Buying on Margin</a:t>
            </a:r>
          </a:p>
        </p:txBody>
      </p:sp>
      <p:sp>
        <p:nvSpPr>
          <p:cNvPr id="21" name="TextBox 20"/>
          <p:cNvSpPr txBox="1"/>
          <p:nvPr/>
        </p:nvSpPr>
        <p:spPr>
          <a:xfrm>
            <a:off x="831783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Comprar con Margen</a:t>
            </a:r>
          </a:p>
        </p:txBody>
      </p:sp>
      <p:sp>
        <p:nvSpPr>
          <p:cNvPr id="22" name="TextBox 21"/>
          <p:cNvSpPr txBox="1"/>
          <p:nvPr/>
        </p:nvSpPr>
        <p:spPr>
          <a:xfrm>
            <a:off x="831783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BY-ing on MAR-jin</a:t>
            </a:r>
          </a:p>
        </p:txBody>
      </p:sp>
      <p:sp>
        <p:nvSpPr>
          <p:cNvPr id="23" name="TextBox 22"/>
          <p:cNvSpPr txBox="1"/>
          <p:nvPr/>
        </p:nvSpPr>
        <p:spPr>
          <a:xfrm>
            <a:off x="831783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Buying stocks with mostly borrowed money (about 10% down); the bubble burst when prices fell and loans could not be repaid.</a:t>
            </a:r>
          </a:p>
        </p:txBody>
      </p:sp>
      <p:sp>
        <p:nvSpPr>
          <p:cNvPr id="24" name="TextBox 23"/>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25" name="TextBox 24"/>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US.40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1020927" y="1783080"/>
            <a:ext cx="49377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0927" y="1783080"/>
            <a:ext cx="49377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5519" y="1856231"/>
            <a:ext cx="46085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Dust Bowl</a:t>
            </a:r>
          </a:p>
        </p:txBody>
      </p:sp>
      <p:sp>
        <p:nvSpPr>
          <p:cNvPr id="9" name="TextBox 8"/>
          <p:cNvSpPr txBox="1"/>
          <p:nvPr/>
        </p:nvSpPr>
        <p:spPr>
          <a:xfrm>
            <a:off x="1185519" y="2350008"/>
            <a:ext cx="46085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Cuenca de Polvo</a:t>
            </a:r>
          </a:p>
        </p:txBody>
      </p:sp>
      <p:sp>
        <p:nvSpPr>
          <p:cNvPr id="10" name="TextBox 9"/>
          <p:cNvSpPr txBox="1"/>
          <p:nvPr/>
        </p:nvSpPr>
        <p:spPr>
          <a:xfrm>
            <a:off x="1185519" y="2542032"/>
            <a:ext cx="46085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dust bohl</a:t>
            </a:r>
          </a:p>
        </p:txBody>
      </p:sp>
      <p:sp>
        <p:nvSpPr>
          <p:cNvPr id="11" name="TextBox 10"/>
          <p:cNvSpPr txBox="1"/>
          <p:nvPr/>
        </p:nvSpPr>
        <p:spPr>
          <a:xfrm>
            <a:off x="1185519" y="2852928"/>
            <a:ext cx="46085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A 1930s drought-and-dust-storm disaster on the Great Plains, caused by severe drought plus over-plowing of the native grassland.</a:t>
            </a:r>
          </a:p>
        </p:txBody>
      </p:sp>
      <p:sp>
        <p:nvSpPr>
          <p:cNvPr id="12" name="Rectangle 11"/>
          <p:cNvSpPr/>
          <p:nvPr/>
        </p:nvSpPr>
        <p:spPr>
          <a:xfrm>
            <a:off x="6233007" y="1783080"/>
            <a:ext cx="49377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783080"/>
            <a:ext cx="49377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856231"/>
            <a:ext cx="46085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Okies</a:t>
            </a:r>
          </a:p>
        </p:txBody>
      </p:sp>
      <p:sp>
        <p:nvSpPr>
          <p:cNvPr id="15" name="TextBox 14"/>
          <p:cNvSpPr txBox="1"/>
          <p:nvPr/>
        </p:nvSpPr>
        <p:spPr>
          <a:xfrm>
            <a:off x="6397599" y="2350008"/>
            <a:ext cx="46085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Okies</a:t>
            </a:r>
          </a:p>
        </p:txBody>
      </p:sp>
      <p:sp>
        <p:nvSpPr>
          <p:cNvPr id="16" name="TextBox 15"/>
          <p:cNvSpPr txBox="1"/>
          <p:nvPr/>
        </p:nvSpPr>
        <p:spPr>
          <a:xfrm>
            <a:off x="6397599" y="2542032"/>
            <a:ext cx="46085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OH-keez</a:t>
            </a:r>
          </a:p>
        </p:txBody>
      </p:sp>
      <p:sp>
        <p:nvSpPr>
          <p:cNvPr id="17" name="TextBox 16"/>
          <p:cNvSpPr txBox="1"/>
          <p:nvPr/>
        </p:nvSpPr>
        <p:spPr>
          <a:xfrm>
            <a:off x="6397599" y="2852928"/>
            <a:ext cx="46085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A label — often used as an insult — for migrant farmers from Oklahoma, Texas, Arkansas, and Missouri who fled the Dust Bowl to California, facing discrimination and poverty.</a:t>
            </a:r>
          </a:p>
        </p:txBody>
      </p:sp>
      <p:sp>
        <p:nvSpPr>
          <p:cNvPr id="18" name="TextBox 17"/>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19" name="TextBox 18"/>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0" name="TextBox 19"/>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US.41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1020927" y="1783080"/>
            <a:ext cx="49377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0927" y="1783080"/>
            <a:ext cx="49377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5519" y="1856231"/>
            <a:ext cx="46085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Mass Unemployment</a:t>
            </a:r>
          </a:p>
        </p:txBody>
      </p:sp>
      <p:sp>
        <p:nvSpPr>
          <p:cNvPr id="9" name="TextBox 8"/>
          <p:cNvSpPr txBox="1"/>
          <p:nvPr/>
        </p:nvSpPr>
        <p:spPr>
          <a:xfrm>
            <a:off x="1185519" y="2350008"/>
            <a:ext cx="46085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Desempleo Masivo</a:t>
            </a:r>
          </a:p>
        </p:txBody>
      </p:sp>
      <p:sp>
        <p:nvSpPr>
          <p:cNvPr id="10" name="TextBox 9"/>
          <p:cNvSpPr txBox="1"/>
          <p:nvPr/>
        </p:nvSpPr>
        <p:spPr>
          <a:xfrm>
            <a:off x="1185519" y="2542032"/>
            <a:ext cx="46085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mass un-em-PLOY-ment</a:t>
            </a:r>
          </a:p>
        </p:txBody>
      </p:sp>
      <p:sp>
        <p:nvSpPr>
          <p:cNvPr id="11" name="TextBox 10"/>
          <p:cNvSpPr txBox="1"/>
          <p:nvPr/>
        </p:nvSpPr>
        <p:spPr>
          <a:xfrm>
            <a:off x="1185519" y="2852928"/>
            <a:ext cx="46085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Joblessness reached about 25% (roughly 15 million people) at its 1933 peak, creating widespread poverty and desperation.</a:t>
            </a:r>
          </a:p>
        </p:txBody>
      </p:sp>
      <p:sp>
        <p:nvSpPr>
          <p:cNvPr id="12" name="Rectangle 11"/>
          <p:cNvSpPr/>
          <p:nvPr/>
        </p:nvSpPr>
        <p:spPr>
          <a:xfrm>
            <a:off x="6233007" y="1783080"/>
            <a:ext cx="49377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783080"/>
            <a:ext cx="49377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7599" y="1856231"/>
            <a:ext cx="46085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Hoovervilles</a:t>
            </a:r>
          </a:p>
        </p:txBody>
      </p:sp>
      <p:sp>
        <p:nvSpPr>
          <p:cNvPr id="15" name="TextBox 14"/>
          <p:cNvSpPr txBox="1"/>
          <p:nvPr/>
        </p:nvSpPr>
        <p:spPr>
          <a:xfrm>
            <a:off x="6397599" y="2350008"/>
            <a:ext cx="46085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Hoovervilles</a:t>
            </a:r>
          </a:p>
        </p:txBody>
      </p:sp>
      <p:sp>
        <p:nvSpPr>
          <p:cNvPr id="16" name="TextBox 15"/>
          <p:cNvSpPr txBox="1"/>
          <p:nvPr/>
        </p:nvSpPr>
        <p:spPr>
          <a:xfrm>
            <a:off x="6397599" y="2542032"/>
            <a:ext cx="46085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HOO-ver-vilz</a:t>
            </a:r>
          </a:p>
        </p:txBody>
      </p:sp>
      <p:sp>
        <p:nvSpPr>
          <p:cNvPr id="17" name="TextBox 16"/>
          <p:cNvSpPr txBox="1"/>
          <p:nvPr/>
        </p:nvSpPr>
        <p:spPr>
          <a:xfrm>
            <a:off x="6397599" y="2852928"/>
            <a:ext cx="46085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Shantytown settlements of homeless people during the Depression, named mockingly after President Herbert Hoover.</a:t>
            </a:r>
          </a:p>
        </p:txBody>
      </p:sp>
      <p:sp>
        <p:nvSpPr>
          <p:cNvPr id="18" name="TextBox 17"/>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19" name="TextBox 18"/>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0" name="TextBox 19"/>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19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US.42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47228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87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Rugged Individualism</a:t>
            </a:r>
          </a:p>
        </p:txBody>
      </p:sp>
      <p:sp>
        <p:nvSpPr>
          <p:cNvPr id="9" name="TextBox 8"/>
          <p:cNvSpPr txBox="1"/>
          <p:nvPr/>
        </p:nvSpPr>
        <p:spPr>
          <a:xfrm>
            <a:off x="63687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Individualismo Robusto</a:t>
            </a:r>
          </a:p>
        </p:txBody>
      </p:sp>
      <p:sp>
        <p:nvSpPr>
          <p:cNvPr id="10" name="TextBox 9"/>
          <p:cNvSpPr txBox="1"/>
          <p:nvPr/>
        </p:nvSpPr>
        <p:spPr>
          <a:xfrm>
            <a:off x="63687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RUG-ed in-dih-VIJ-oo-uh-liz-um</a:t>
            </a:r>
          </a:p>
        </p:txBody>
      </p:sp>
      <p:sp>
        <p:nvSpPr>
          <p:cNvPr id="11" name="TextBox 10"/>
          <p:cNvSpPr txBox="1"/>
          <p:nvPr/>
        </p:nvSpPr>
        <p:spPr>
          <a:xfrm>
            <a:off x="63687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Hoover’s belief that people should succeed through their own efforts and private charity rather than direct federal aid.</a:t>
            </a:r>
          </a:p>
        </p:txBody>
      </p:sp>
      <p:sp>
        <p:nvSpPr>
          <p:cNvPr id="12" name="Rectangle 11"/>
          <p:cNvSpPr/>
          <p:nvPr/>
        </p:nvSpPr>
        <p:spPr>
          <a:xfrm>
            <a:off x="431276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276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735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Bonus Army</a:t>
            </a:r>
          </a:p>
        </p:txBody>
      </p:sp>
      <p:sp>
        <p:nvSpPr>
          <p:cNvPr id="15" name="TextBox 14"/>
          <p:cNvSpPr txBox="1"/>
          <p:nvPr/>
        </p:nvSpPr>
        <p:spPr>
          <a:xfrm>
            <a:off x="447735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Ejército del Bono</a:t>
            </a:r>
          </a:p>
        </p:txBody>
      </p:sp>
      <p:sp>
        <p:nvSpPr>
          <p:cNvPr id="16" name="TextBox 15"/>
          <p:cNvSpPr txBox="1"/>
          <p:nvPr/>
        </p:nvSpPr>
        <p:spPr>
          <a:xfrm>
            <a:off x="447735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BOH-nus AR-mee</a:t>
            </a:r>
          </a:p>
        </p:txBody>
      </p:sp>
      <p:sp>
        <p:nvSpPr>
          <p:cNvPr id="17" name="TextBox 16"/>
          <p:cNvSpPr txBox="1"/>
          <p:nvPr/>
        </p:nvSpPr>
        <p:spPr>
          <a:xfrm>
            <a:off x="447735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WWI veterans who marched on Washington in 1932 demanding early bonus payment; the Army dispersed them by force.</a:t>
            </a:r>
          </a:p>
        </p:txBody>
      </p:sp>
      <p:sp>
        <p:nvSpPr>
          <p:cNvPr id="18" name="Rectangle 17"/>
          <p:cNvSpPr/>
          <p:nvPr/>
        </p:nvSpPr>
        <p:spPr>
          <a:xfrm>
            <a:off x="815324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24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83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Reconstruction Finance Corp. (RFC)</a:t>
            </a:r>
          </a:p>
        </p:txBody>
      </p:sp>
      <p:sp>
        <p:nvSpPr>
          <p:cNvPr id="21" name="TextBox 20"/>
          <p:cNvSpPr txBox="1"/>
          <p:nvPr/>
        </p:nvSpPr>
        <p:spPr>
          <a:xfrm>
            <a:off x="831783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Corporación Financiera de Reconstrucción</a:t>
            </a:r>
          </a:p>
        </p:txBody>
      </p:sp>
      <p:sp>
        <p:nvSpPr>
          <p:cNvPr id="22" name="TextBox 21"/>
          <p:cNvSpPr txBox="1"/>
          <p:nvPr/>
        </p:nvSpPr>
        <p:spPr>
          <a:xfrm>
            <a:off x="831783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ree-kun-STRUK-shun fy-NANS</a:t>
            </a:r>
          </a:p>
        </p:txBody>
      </p:sp>
      <p:sp>
        <p:nvSpPr>
          <p:cNvPr id="23" name="TextBox 22"/>
          <p:cNvSpPr txBox="1"/>
          <p:nvPr/>
        </p:nvSpPr>
        <p:spPr>
          <a:xfrm>
            <a:off x="831783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A 1932 federal agency that lent money to banks, railroads, and businesses to prevent further collapse.</a:t>
            </a:r>
          </a:p>
        </p:txBody>
      </p:sp>
      <p:sp>
        <p:nvSpPr>
          <p:cNvPr id="24" name="TextBox 23"/>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25" name="TextBox 24"/>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27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US.43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47228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87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New Deal</a:t>
            </a:r>
          </a:p>
        </p:txBody>
      </p:sp>
      <p:sp>
        <p:nvSpPr>
          <p:cNvPr id="9" name="TextBox 8"/>
          <p:cNvSpPr txBox="1"/>
          <p:nvPr/>
        </p:nvSpPr>
        <p:spPr>
          <a:xfrm>
            <a:off x="63687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New Deal</a:t>
            </a:r>
          </a:p>
        </p:txBody>
      </p:sp>
      <p:sp>
        <p:nvSpPr>
          <p:cNvPr id="10" name="TextBox 9"/>
          <p:cNvSpPr txBox="1"/>
          <p:nvPr/>
        </p:nvSpPr>
        <p:spPr>
          <a:xfrm>
            <a:off x="63687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noo deel</a:t>
            </a:r>
          </a:p>
        </p:txBody>
      </p:sp>
      <p:sp>
        <p:nvSpPr>
          <p:cNvPr id="11" name="TextBox 10"/>
          <p:cNvSpPr txBox="1"/>
          <p:nvPr/>
        </p:nvSpPr>
        <p:spPr>
          <a:xfrm>
            <a:off x="63687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FDR’s relief, recovery, and reform programs that expanded federal power and established the social safety net.</a:t>
            </a:r>
          </a:p>
        </p:txBody>
      </p:sp>
      <p:sp>
        <p:nvSpPr>
          <p:cNvPr id="12" name="Rectangle 11"/>
          <p:cNvSpPr/>
          <p:nvPr/>
        </p:nvSpPr>
        <p:spPr>
          <a:xfrm>
            <a:off x="431276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276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735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Tennessee Valley Authority (TVA)</a:t>
            </a:r>
          </a:p>
        </p:txBody>
      </p:sp>
      <p:sp>
        <p:nvSpPr>
          <p:cNvPr id="15" name="TextBox 14"/>
          <p:cNvSpPr txBox="1"/>
          <p:nvPr/>
        </p:nvSpPr>
        <p:spPr>
          <a:xfrm>
            <a:off x="447735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Autoridad del Valle de Tennessee</a:t>
            </a:r>
          </a:p>
        </p:txBody>
      </p:sp>
      <p:sp>
        <p:nvSpPr>
          <p:cNvPr id="16" name="TextBox 15"/>
          <p:cNvSpPr txBox="1"/>
          <p:nvPr/>
        </p:nvSpPr>
        <p:spPr>
          <a:xfrm>
            <a:off x="447735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ten-eh-SEE VAL-ee aw-THOR-ih-tee</a:t>
            </a:r>
          </a:p>
        </p:txBody>
      </p:sp>
      <p:sp>
        <p:nvSpPr>
          <p:cNvPr id="17" name="TextBox 16"/>
          <p:cNvSpPr txBox="1"/>
          <p:nvPr/>
        </p:nvSpPr>
        <p:spPr>
          <a:xfrm>
            <a:off x="447735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Federal agency that built dams for flood control, cheap electricity, and development in the Tennessee Valley.</a:t>
            </a:r>
          </a:p>
        </p:txBody>
      </p:sp>
      <p:sp>
        <p:nvSpPr>
          <p:cNvPr id="18" name="Rectangle 17"/>
          <p:cNvSpPr/>
          <p:nvPr/>
        </p:nvSpPr>
        <p:spPr>
          <a:xfrm>
            <a:off x="815324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24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83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Social Security Act (1935)</a:t>
            </a:r>
          </a:p>
        </p:txBody>
      </p:sp>
      <p:sp>
        <p:nvSpPr>
          <p:cNvPr id="21" name="TextBox 20"/>
          <p:cNvSpPr txBox="1"/>
          <p:nvPr/>
        </p:nvSpPr>
        <p:spPr>
          <a:xfrm>
            <a:off x="831783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Ley de Seguridad Social</a:t>
            </a:r>
          </a:p>
        </p:txBody>
      </p:sp>
      <p:sp>
        <p:nvSpPr>
          <p:cNvPr id="22" name="TextBox 21"/>
          <p:cNvSpPr txBox="1"/>
          <p:nvPr/>
        </p:nvSpPr>
        <p:spPr>
          <a:xfrm>
            <a:off x="831783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SOH-shul sih-KYOOR-ih-tee</a:t>
            </a:r>
          </a:p>
        </p:txBody>
      </p:sp>
      <p:sp>
        <p:nvSpPr>
          <p:cNvPr id="23" name="TextBox 22"/>
          <p:cNvSpPr txBox="1"/>
          <p:nvPr/>
        </p:nvSpPr>
        <p:spPr>
          <a:xfrm>
            <a:off x="831783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Landmark law creating old-age pensions, unemployment insurance, and aid for dependent and disabled Americans.</a:t>
            </a:r>
          </a:p>
        </p:txBody>
      </p:sp>
      <p:sp>
        <p:nvSpPr>
          <p:cNvPr id="24" name="TextBox 23"/>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25" name="TextBox 24"/>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91440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US.44 · KEY VOCABULARY / LANGUAGE SUPPORT</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Key Vocabulary — Language Support</a:t>
            </a:r>
          </a:p>
        </p:txBody>
      </p:sp>
      <p:sp>
        <p:nvSpPr>
          <p:cNvPr id="6" name="Rectangle 5"/>
          <p:cNvSpPr/>
          <p:nvPr/>
        </p:nvSpPr>
        <p:spPr>
          <a:xfrm>
            <a:off x="47228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28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87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Court Packing Plan</a:t>
            </a:r>
          </a:p>
        </p:txBody>
      </p:sp>
      <p:sp>
        <p:nvSpPr>
          <p:cNvPr id="9" name="TextBox 8"/>
          <p:cNvSpPr txBox="1"/>
          <p:nvPr/>
        </p:nvSpPr>
        <p:spPr>
          <a:xfrm>
            <a:off x="63687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Plan de Empaquetar la Corte</a:t>
            </a:r>
          </a:p>
        </p:txBody>
      </p:sp>
      <p:sp>
        <p:nvSpPr>
          <p:cNvPr id="10" name="TextBox 9"/>
          <p:cNvSpPr txBox="1"/>
          <p:nvPr/>
        </p:nvSpPr>
        <p:spPr>
          <a:xfrm>
            <a:off x="63687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kort PAK-ing plan</a:t>
            </a:r>
          </a:p>
        </p:txBody>
      </p:sp>
      <p:sp>
        <p:nvSpPr>
          <p:cNvPr id="11" name="TextBox 10"/>
          <p:cNvSpPr txBox="1"/>
          <p:nvPr/>
        </p:nvSpPr>
        <p:spPr>
          <a:xfrm>
            <a:off x="63687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FDR’s 1937 plan to add up to six Supreme Court justices after it struck down New Deal laws; seen as a threat to judicial independence.</a:t>
            </a:r>
          </a:p>
        </p:txBody>
      </p:sp>
      <p:sp>
        <p:nvSpPr>
          <p:cNvPr id="12" name="Rectangle 11"/>
          <p:cNvSpPr/>
          <p:nvPr/>
        </p:nvSpPr>
        <p:spPr>
          <a:xfrm>
            <a:off x="431276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276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735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Socialism Accusations</a:t>
            </a:r>
          </a:p>
        </p:txBody>
      </p:sp>
      <p:sp>
        <p:nvSpPr>
          <p:cNvPr id="15" name="TextBox 14"/>
          <p:cNvSpPr txBox="1"/>
          <p:nvPr/>
        </p:nvSpPr>
        <p:spPr>
          <a:xfrm>
            <a:off x="447735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Acusaciones de Socialismo</a:t>
            </a:r>
          </a:p>
        </p:txBody>
      </p:sp>
      <p:sp>
        <p:nvSpPr>
          <p:cNvPr id="16" name="TextBox 15"/>
          <p:cNvSpPr txBox="1"/>
          <p:nvPr/>
        </p:nvSpPr>
        <p:spPr>
          <a:xfrm>
            <a:off x="447735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SOH-shuh-liz-um</a:t>
            </a:r>
          </a:p>
        </p:txBody>
      </p:sp>
      <p:sp>
        <p:nvSpPr>
          <p:cNvPr id="17" name="TextBox 16"/>
          <p:cNvSpPr txBox="1"/>
          <p:nvPr/>
        </p:nvSpPr>
        <p:spPr>
          <a:xfrm>
            <a:off x="447735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Critics charged that the New Deal was socialist for expanding government power, though it preserved private ownership.</a:t>
            </a:r>
          </a:p>
        </p:txBody>
      </p:sp>
      <p:sp>
        <p:nvSpPr>
          <p:cNvPr id="18" name="Rectangle 17"/>
          <p:cNvSpPr/>
          <p:nvPr/>
        </p:nvSpPr>
        <p:spPr>
          <a:xfrm>
            <a:off x="8153247" y="1783080"/>
            <a:ext cx="3566160" cy="379476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247" y="1783080"/>
            <a:ext cx="3566160" cy="96012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839" y="1856231"/>
            <a:ext cx="3236976" cy="512064"/>
          </a:xfrm>
          <a:prstGeom prst="rect">
            <a:avLst/>
          </a:prstGeom>
          <a:noFill/>
        </p:spPr>
        <p:txBody>
          <a:bodyPr wrap="square" anchor="t" lIns="0" rIns="0" tIns="0" bIns="0">
            <a:normAutofit/>
          </a:bodyPr>
          <a:lstStyle/>
          <a:p>
            <a:pPr algn="l">
              <a:lnSpc>
                <a:spcPct val="98000"/>
              </a:lnSpc>
            </a:pPr>
            <a:r>
              <a:rPr sz="1450" b="1" i="0">
                <a:solidFill>
                  <a:srgbClr val="FFFFFF"/>
                </a:solidFill>
                <a:latin typeface="Calibri"/>
              </a:rPr>
              <a:t>FDIC</a:t>
            </a:r>
          </a:p>
        </p:txBody>
      </p:sp>
      <p:sp>
        <p:nvSpPr>
          <p:cNvPr id="21" name="TextBox 20"/>
          <p:cNvSpPr txBox="1"/>
          <p:nvPr/>
        </p:nvSpPr>
        <p:spPr>
          <a:xfrm>
            <a:off x="8317839" y="2350008"/>
            <a:ext cx="3236976" cy="201168"/>
          </a:xfrm>
          <a:prstGeom prst="rect">
            <a:avLst/>
          </a:prstGeom>
          <a:noFill/>
        </p:spPr>
        <p:txBody>
          <a:bodyPr wrap="square" anchor="t" lIns="0" rIns="0" tIns="0" bIns="0">
            <a:normAutofit/>
          </a:bodyPr>
          <a:lstStyle/>
          <a:p>
            <a:pPr algn="l">
              <a:lnSpc>
                <a:spcPct val="100000"/>
              </a:lnSpc>
            </a:pPr>
            <a:r>
              <a:rPr sz="1050" b="0" i="1">
                <a:solidFill>
                  <a:srgbClr val="F9A825"/>
                </a:solidFill>
                <a:latin typeface="Calibri"/>
              </a:rPr>
              <a:t>Corp. Federal de Seguro de Depósitos</a:t>
            </a:r>
          </a:p>
        </p:txBody>
      </p:sp>
      <p:sp>
        <p:nvSpPr>
          <p:cNvPr id="22" name="TextBox 21"/>
          <p:cNvSpPr txBox="1"/>
          <p:nvPr/>
        </p:nvSpPr>
        <p:spPr>
          <a:xfrm>
            <a:off x="8317839" y="2542032"/>
            <a:ext cx="3236976" cy="182880"/>
          </a:xfrm>
          <a:prstGeom prst="rect">
            <a:avLst/>
          </a:prstGeom>
          <a:noFill/>
        </p:spPr>
        <p:txBody>
          <a:bodyPr wrap="square" anchor="t" lIns="0" rIns="0" tIns="0" bIns="0">
            <a:normAutofit/>
          </a:bodyPr>
          <a:lstStyle/>
          <a:p>
            <a:pPr algn="l">
              <a:lnSpc>
                <a:spcPct val="100000"/>
              </a:lnSpc>
            </a:pPr>
            <a:r>
              <a:rPr sz="1000" b="0" i="1">
                <a:solidFill>
                  <a:srgbClr val="C7D4E0"/>
                </a:solidFill>
                <a:latin typeface="Calibri"/>
              </a:rPr>
              <a:t>say:  FED-er-ul dee-POZ-it</a:t>
            </a:r>
          </a:p>
        </p:txBody>
      </p:sp>
      <p:sp>
        <p:nvSpPr>
          <p:cNvPr id="23" name="TextBox 22"/>
          <p:cNvSpPr txBox="1"/>
          <p:nvPr/>
        </p:nvSpPr>
        <p:spPr>
          <a:xfrm>
            <a:off x="8317839" y="2852928"/>
            <a:ext cx="3236976" cy="2615184"/>
          </a:xfrm>
          <a:prstGeom prst="rect">
            <a:avLst/>
          </a:prstGeom>
          <a:noFill/>
        </p:spPr>
        <p:txBody>
          <a:bodyPr wrap="square" anchor="t" lIns="0" rIns="0" tIns="0" bIns="0">
            <a:normAutofit/>
          </a:bodyPr>
          <a:lstStyle/>
          <a:p>
            <a:pPr algn="l">
              <a:lnSpc>
                <a:spcPct val="106000"/>
              </a:lnSpc>
            </a:pPr>
            <a:r>
              <a:rPr sz="1200" b="0" i="0">
                <a:solidFill>
                  <a:srgbClr val="1F2430"/>
                </a:solidFill>
                <a:latin typeface="Calibri"/>
              </a:rPr>
              <a:t>New Deal agency that insures bank deposits, preventing bank runs by guaranteeing savers will not lose their money.</a:t>
            </a:r>
          </a:p>
        </p:txBody>
      </p:sp>
      <p:sp>
        <p:nvSpPr>
          <p:cNvPr id="24" name="TextBox 23"/>
          <p:cNvSpPr txBox="1"/>
          <p:nvPr/>
        </p:nvSpPr>
        <p:spPr>
          <a:xfrm>
            <a:off x="548640" y="5897880"/>
            <a:ext cx="11064240" cy="411480"/>
          </a:xfrm>
          <a:prstGeom prst="rect">
            <a:avLst/>
          </a:prstGeom>
          <a:noFill/>
        </p:spPr>
        <p:txBody>
          <a:bodyPr wrap="square" anchor="t" lIns="0" rIns="0" tIns="0" bIns="0">
            <a:normAutofit/>
          </a:bodyPr>
          <a:lstStyle/>
          <a:p>
            <a:pPr algn="l">
              <a:lnSpc>
                <a:spcPct val="102000"/>
              </a:lnSpc>
            </a:pPr>
            <a:r>
              <a:rPr sz="1000" b="1" i="0">
                <a:solidFill>
                  <a:srgbClr val="C62828"/>
                </a:solidFill>
                <a:latin typeface="Trebuchet MS"/>
              </a:rPr>
              <a:t>LANGUAGE SUPPORT  </a:t>
            </a:r>
            <a:r>
              <a:rPr sz="1000" b="0" i="1">
                <a:solidFill>
                  <a:srgbClr val="5C6470"/>
                </a:solidFill>
                <a:latin typeface="Calibri"/>
              </a:rPr>
              <a:t>Spanish term, a "say:" pronunciation guide, and a plain-language definition support multilingual learners and are available to everyone. Full bilingual Frayer models are in the unit vocabulary set.</a:t>
            </a:r>
          </a:p>
        </p:txBody>
      </p:sp>
      <p:sp>
        <p:nvSpPr>
          <p:cNvPr id="25" name="TextBox 24"/>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US.39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What role did "buying on margin" and overextension of credit play in creating economic instability?</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Margin buying had no connection to the crash.</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Credit was carefully regulated in the 1920s.</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Margin buying inflated stock prices artificially, and when prices fell, margin calls forced panic selling that accelerated the collapse while widespread consumer debt created defaults.</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Only wealthy investors bought on margin.</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US.40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What combination of human farming practices and natural weather patterns created the Dust Bowl?</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Farmers plowed up native grasses, practiced monoculture without conservation, and severe drought combined with strong winds eroded the exposed topsoil.</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The Dust Bowl was entirely caused by natural drought.</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Modern farming techniques prevented soil erosion.</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The Dust Bowl only affected a small local area.</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17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US.41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How did mass unemployment during the Great Depression affect individuals, families, and communities?</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Unemployment had limited social effects.</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Government programs immediately solved unemployment.</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Only industrial workers experienced unemployment.</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With 25% unemployment, families faced psychological trauma, role reversals, increased divorce, child labor, and relied on mutual aid while communities experienced population loss and service decline.</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US.42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How did President Hoover’s philosophy of "Rugged Individualism" shape his response to the Great Depression?</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It led to aggressive government intervention.</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His belief that individuals should solve problems without government help led to limited federal response, reliance on voluntary cooperation, and opposition to direct relief programs.</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He immediately provided direct payments to unemployed workers.</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Rugged individualism had no impact on his policies.</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33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US.43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How did the "Three R’s" (Relief, Recovery, Reform) organize Roosevelt’s approach to ending the Great Depression?</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Relief provided immediate help to unemployed (CCC, WPA), Recovery programs restored economic activity (AAA, NRA), and Reform programs fixed underlying problems (FDIC, SEC, Social Security).</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FDR used only one approach throughout the New Deal.</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The Three R’s were unrelated programs.</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Roosevelt opposed the Three R’s approach.</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8229600" cy="274320"/>
          </a:xfrm>
          <a:prstGeom prst="rect">
            <a:avLst/>
          </a:prstGeom>
          <a:noFill/>
        </p:spPr>
        <p:txBody>
          <a:bodyPr wrap="square" anchor="t" lIns="0" rIns="0" tIns="0" bIns="0">
            <a:normAutofit/>
          </a:bodyPr>
          <a:lstStyle/>
          <a:p>
            <a:pPr algn="l">
              <a:lnSpc>
                <a:spcPct val="100000"/>
              </a:lnSpc>
            </a:pPr>
            <a:r>
              <a:rPr sz="1200" b="1" i="0">
                <a:solidFill>
                  <a:srgbClr val="F9A825"/>
                </a:solidFill>
                <a:latin typeface="Trebuchet MS"/>
              </a:rPr>
              <a:t>US.44 · PROGRESS CHECK</a:t>
            </a:r>
          </a:p>
        </p:txBody>
      </p:sp>
      <p:sp>
        <p:nvSpPr>
          <p:cNvPr id="5" name="TextBox 4"/>
          <p:cNvSpPr txBox="1"/>
          <p:nvPr/>
        </p:nvSpPr>
        <p:spPr>
          <a:xfrm>
            <a:off x="548640" y="749808"/>
            <a:ext cx="7772400" cy="548640"/>
          </a:xfrm>
          <a:prstGeom prst="rect">
            <a:avLst/>
          </a:prstGeom>
          <a:noFill/>
        </p:spPr>
        <p:txBody>
          <a:bodyPr wrap="square" anchor="t" lIns="0" rIns="0" tIns="0" bIns="0">
            <a:normAutofit/>
          </a:bodyPr>
          <a:lstStyle/>
          <a:p>
            <a:pPr algn="l">
              <a:lnSpc>
                <a:spcPct val="100000"/>
              </a:lnSpc>
            </a:pPr>
            <a:r>
              <a:rPr sz="2800" b="1" i="0">
                <a:solidFill>
                  <a:srgbClr val="FFFFFF"/>
                </a:solidFill>
                <a:latin typeface="Georgia"/>
              </a:rPr>
              <a:t>Progress Check</a:t>
            </a:r>
          </a:p>
        </p:txBody>
      </p:sp>
      <p:sp>
        <p:nvSpPr>
          <p:cNvPr id="6" name="Rounded Rectangle 5"/>
          <p:cNvSpPr/>
          <p:nvPr/>
        </p:nvSpPr>
        <p:spPr>
          <a:xfrm>
            <a:off x="9052560" y="822960"/>
            <a:ext cx="2560320" cy="457200"/>
          </a:xfrm>
          <a:prstGeom prst="roundRect">
            <a:avLst/>
          </a:prstGeom>
          <a:solidFill>
            <a:srgbClr val="2C384F"/>
          </a:solidFill>
          <a:ln w="9525">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0" y="822960"/>
            <a:ext cx="2560320" cy="457200"/>
          </a:xfrm>
          <a:prstGeom prst="rect">
            <a:avLst/>
          </a:prstGeom>
          <a:noFill/>
        </p:spPr>
        <p:txBody>
          <a:bodyPr wrap="square" anchor="ctr" lIns="0" rIns="0" tIns="0" bIns="0">
            <a:normAutofit/>
          </a:bodyPr>
          <a:lstStyle/>
          <a:p>
            <a:pPr algn="ctr">
              <a:lnSpc>
                <a:spcPct val="100000"/>
              </a:lnSpc>
            </a:pPr>
            <a:r>
              <a:rPr sz="1100" b="1" i="0">
                <a:solidFill>
                  <a:srgbClr val="F9A825"/>
                </a:solidFill>
                <a:latin typeface="Trebuchet MS"/>
              </a:rPr>
              <a:t>DOK 2 · SELF-CHECK</a:t>
            </a:r>
          </a:p>
        </p:txBody>
      </p:sp>
      <p:sp>
        <p:nvSpPr>
          <p:cNvPr id="8" name="Rounded Rectangle 7"/>
          <p:cNvSpPr/>
          <p:nvPr/>
        </p:nvSpPr>
        <p:spPr>
          <a:xfrm>
            <a:off x="548640" y="1481328"/>
            <a:ext cx="11064240" cy="960120"/>
          </a:xfrm>
          <a:prstGeom prst="roundRect">
            <a:avLst/>
          </a:prstGeom>
          <a:solidFill>
            <a:srgbClr val="243047"/>
          </a:solidFill>
          <a:ln w="6350">
            <a:solidFill>
              <a:srgbClr val="C7D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515600" cy="822960"/>
          </a:xfrm>
          <a:prstGeom prst="rect">
            <a:avLst/>
          </a:prstGeom>
          <a:noFill/>
        </p:spPr>
        <p:txBody>
          <a:bodyPr wrap="square" anchor="ctr" lIns="0" rIns="0" tIns="0" bIns="0">
            <a:normAutofit/>
          </a:bodyPr>
          <a:lstStyle/>
          <a:p>
            <a:pPr algn="l">
              <a:lnSpc>
                <a:spcPct val="103000"/>
              </a:lnSpc>
            </a:pPr>
            <a:r>
              <a:rPr sz="1600" b="1" i="0">
                <a:solidFill>
                  <a:srgbClr val="FFFFFF"/>
                </a:solidFill>
                <a:latin typeface="Calibri"/>
              </a:rPr>
              <a:t>What were the main economic effects of New Deal policies on employment, banking, and government spending?</a:t>
            </a:r>
          </a:p>
        </p:txBody>
      </p:sp>
      <p:sp>
        <p:nvSpPr>
          <p:cNvPr id="10" name="Rounded Rectangle 9"/>
          <p:cNvSpPr/>
          <p:nvPr/>
        </p:nvSpPr>
        <p:spPr>
          <a:xfrm>
            <a:off x="548640" y="2670048"/>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9776"/>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79776"/>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A</a:t>
            </a:r>
          </a:p>
        </p:txBody>
      </p:sp>
      <p:sp>
        <p:nvSpPr>
          <p:cNvPr id="13" name="TextBox 12"/>
          <p:cNvSpPr txBox="1"/>
          <p:nvPr/>
        </p:nvSpPr>
        <p:spPr>
          <a:xfrm>
            <a:off x="1216152" y="2670048"/>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New Deal policies had no measurable economic impact.</a:t>
            </a:r>
          </a:p>
        </p:txBody>
      </p:sp>
      <p:sp>
        <p:nvSpPr>
          <p:cNvPr id="14" name="Rounded Rectangle 13"/>
          <p:cNvSpPr/>
          <p:nvPr/>
        </p:nvSpPr>
        <p:spPr>
          <a:xfrm>
            <a:off x="548640" y="3328415"/>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438144"/>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438144"/>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B</a:t>
            </a:r>
          </a:p>
        </p:txBody>
      </p:sp>
      <p:sp>
        <p:nvSpPr>
          <p:cNvPr id="17" name="TextBox 16"/>
          <p:cNvSpPr txBox="1"/>
          <p:nvPr/>
        </p:nvSpPr>
        <p:spPr>
          <a:xfrm>
            <a:off x="1216152" y="3328415"/>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The economy worsened under New Deal policies.</a:t>
            </a:r>
          </a:p>
        </p:txBody>
      </p:sp>
      <p:sp>
        <p:nvSpPr>
          <p:cNvPr id="18" name="Rounded Rectangle 17"/>
          <p:cNvSpPr/>
          <p:nvPr/>
        </p:nvSpPr>
        <p:spPr>
          <a:xfrm>
            <a:off x="548640" y="3986783"/>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096511"/>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96511"/>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C</a:t>
            </a:r>
          </a:p>
        </p:txBody>
      </p:sp>
      <p:sp>
        <p:nvSpPr>
          <p:cNvPr id="21" name="TextBox 20"/>
          <p:cNvSpPr txBox="1"/>
          <p:nvPr/>
        </p:nvSpPr>
        <p:spPr>
          <a:xfrm>
            <a:off x="1216152" y="3986783"/>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Unemployment fell from 25% to 14%, bank runs ended with FDIC, manufacturing increased 60%, and government spending grew from 3% to 10% of GDP.</a:t>
            </a:r>
          </a:p>
        </p:txBody>
      </p:sp>
      <p:sp>
        <p:nvSpPr>
          <p:cNvPr id="22" name="Rounded Rectangle 21"/>
          <p:cNvSpPr/>
          <p:nvPr/>
        </p:nvSpPr>
        <p:spPr>
          <a:xfrm>
            <a:off x="548640" y="4645152"/>
            <a:ext cx="11064240" cy="566928"/>
          </a:xfrm>
          <a:prstGeom prst="roundRect">
            <a:avLst/>
          </a:prstGeom>
          <a:solidFill>
            <a:srgbClr val="2C384F"/>
          </a:solidFill>
          <a:ln w="12700">
            <a:solidFill>
              <a:srgbClr val="3A47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754880"/>
            <a:ext cx="347472" cy="347472"/>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54880"/>
            <a:ext cx="347472" cy="347472"/>
          </a:xfrm>
          <a:prstGeom prst="rect">
            <a:avLst/>
          </a:prstGeom>
          <a:noFill/>
        </p:spPr>
        <p:txBody>
          <a:bodyPr wrap="square" anchor="ctr" lIns="0" rIns="0" tIns="0" bIns="0">
            <a:normAutofit/>
          </a:bodyPr>
          <a:lstStyle/>
          <a:p>
            <a:pPr algn="ctr">
              <a:lnSpc>
                <a:spcPct val="100000"/>
              </a:lnSpc>
            </a:pPr>
            <a:r>
              <a:rPr sz="1300" b="1" i="0">
                <a:solidFill>
                  <a:srgbClr val="C7D4E0"/>
                </a:solidFill>
                <a:latin typeface="Trebuchet MS"/>
              </a:rPr>
              <a:t>D</a:t>
            </a:r>
          </a:p>
        </p:txBody>
      </p:sp>
      <p:sp>
        <p:nvSpPr>
          <p:cNvPr id="25" name="TextBox 24"/>
          <p:cNvSpPr txBox="1"/>
          <p:nvPr/>
        </p:nvSpPr>
        <p:spPr>
          <a:xfrm>
            <a:off x="1216152" y="4645152"/>
            <a:ext cx="9966960" cy="566928"/>
          </a:xfrm>
          <a:prstGeom prst="rect">
            <a:avLst/>
          </a:prstGeom>
          <a:noFill/>
        </p:spPr>
        <p:txBody>
          <a:bodyPr wrap="square" anchor="ctr" lIns="0" rIns="0" tIns="0" bIns="0">
            <a:normAutofit/>
          </a:bodyPr>
          <a:lstStyle/>
          <a:p>
            <a:pPr algn="l">
              <a:lnSpc>
                <a:spcPct val="100000"/>
              </a:lnSpc>
            </a:pPr>
            <a:r>
              <a:rPr sz="1250" b="0" i="0">
                <a:solidFill>
                  <a:srgbClr val="FFFFFF"/>
                </a:solidFill>
                <a:latin typeface="Calibri"/>
              </a:rPr>
              <a:t>Only banking was affected by New Deal programs.</a:t>
            </a:r>
          </a:p>
        </p:txBody>
      </p:sp>
      <p:sp>
        <p:nvSpPr>
          <p:cNvPr id="26" name="Rounded Rectangle 25"/>
          <p:cNvSpPr/>
          <p:nvPr/>
        </p:nvSpPr>
        <p:spPr>
          <a:xfrm>
            <a:off x="548640" y="5440680"/>
            <a:ext cx="11064240" cy="868680"/>
          </a:xfrm>
          <a:prstGeom prst="roundRect">
            <a:avLst/>
          </a:prstGeom>
          <a:solidFill>
            <a:srgbClr val="243047"/>
          </a:solidFill>
          <a:ln w="127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10607040" cy="731520"/>
          </a:xfrm>
          <a:prstGeom prst="rect">
            <a:avLst/>
          </a:prstGeom>
          <a:noFill/>
        </p:spPr>
        <p:txBody>
          <a:bodyPr wrap="square" anchor="ctr" lIns="0" rIns="0" tIns="0" bIns="0">
            <a:normAutofit/>
          </a:bodyPr>
          <a:lstStyle/>
          <a:p>
            <a:pPr algn="l">
              <a:lnSpc>
                <a:spcPct val="104000"/>
              </a:lnSpc>
            </a:pPr>
            <a:r>
              <a:rPr sz="1200" b="1" i="0">
                <a:solidFill>
                  <a:srgbClr val="F9A825"/>
                </a:solidFill>
                <a:latin typeface="Calibri"/>
              </a:rPr>
              <a:t>Commit your answer first</a:t>
            </a:r>
            <a:r>
              <a:rPr sz="1200" b="0" i="0">
                <a:solidFill>
                  <a:srgbClr val="C7D4E0"/>
                </a:solidFill>
                <a:latin typeface="Calibri"/>
              </a:rPr>
              <a:t> — then discuss. Your teacher has the answer key.   How sure are you?  </a:t>
            </a:r>
            <a:r>
              <a:rPr sz="1200" b="1" i="0">
                <a:solidFill>
                  <a:srgbClr val="FFFFFF"/>
                </a:solidFill>
                <a:latin typeface="Calibri"/>
              </a:rPr>
              <a:t>I’ve got this  ·  Mostly  ·  Still shaky  ·  Lost</a:t>
            </a:r>
          </a:p>
        </p:txBody>
      </p:sp>
      <p:sp>
        <p:nvSpPr>
          <p:cNvPr id="28" name="TextBox 27"/>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C7D4E0"/>
                </a:solidFill>
                <a:latin typeface="Trebuchet MS"/>
              </a:rPr>
              <a:t>U.S. History Hack  ·  TroopToTeacher Technologies LLC  ·  Aligned to TN Academic Standards &amp; TCAP EOC</a:t>
            </a:r>
          </a:p>
        </p:txBody>
      </p:sp>
      <p:sp>
        <p:nvSpPr>
          <p:cNvPr id="29" name="TextBox 28"/>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C7D4E0"/>
                </a:solidFill>
                <a:latin typeface="Trebuchet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0972800" cy="274320"/>
          </a:xfrm>
          <a:prstGeom prst="rect">
            <a:avLst/>
          </a:prstGeom>
          <a:noFill/>
        </p:spPr>
        <p:txBody>
          <a:bodyPr wrap="square" anchor="t" lIns="0" rIns="0" tIns="0" bIns="0">
            <a:normAutofit/>
          </a:bodyPr>
          <a:lstStyle/>
          <a:p>
            <a:pPr algn="l">
              <a:lnSpc>
                <a:spcPct val="100000"/>
              </a:lnSpc>
            </a:pPr>
            <a:r>
              <a:rPr sz="1200" b="1" i="0">
                <a:solidFill>
                  <a:srgbClr val="C62828"/>
                </a:solidFill>
                <a:latin typeface="Trebuchet MS"/>
              </a:rPr>
              <a:t>US.41 &amp; US.43 · WHOSE STORY THE NEW DEAL REACHED</a:t>
            </a:r>
          </a:p>
        </p:txBody>
      </p:sp>
      <p:sp>
        <p:nvSpPr>
          <p:cNvPr id="5" name="TextBox 4"/>
          <p:cNvSpPr txBox="1"/>
          <p:nvPr/>
        </p:nvSpPr>
        <p:spPr>
          <a:xfrm>
            <a:off x="548640" y="713232"/>
            <a:ext cx="11064240" cy="640080"/>
          </a:xfrm>
          <a:prstGeom prst="rect">
            <a:avLst/>
          </a:prstGeom>
          <a:noFill/>
        </p:spPr>
        <p:txBody>
          <a:bodyPr wrap="square" anchor="t" lIns="0" rIns="0" tIns="0" bIns="0">
            <a:normAutofit/>
          </a:bodyPr>
          <a:lstStyle/>
          <a:p>
            <a:pPr algn="l">
              <a:lnSpc>
                <a:spcPct val="100000"/>
              </a:lnSpc>
            </a:pPr>
            <a:r>
              <a:rPr sz="3000" b="1" i="0">
                <a:solidFill>
                  <a:srgbClr val="1A2332"/>
                </a:solidFill>
                <a:latin typeface="Georgia"/>
              </a:rPr>
              <a:t>Reached — and Left Out</a:t>
            </a:r>
          </a:p>
        </p:txBody>
      </p:sp>
      <p:sp>
        <p:nvSpPr>
          <p:cNvPr id="6" name="Rectangle 5"/>
          <p:cNvSpPr/>
          <p:nvPr/>
        </p:nvSpPr>
        <p:spPr>
          <a:xfrm>
            <a:off x="548640" y="1783080"/>
            <a:ext cx="3611880" cy="38404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611880" cy="4572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83080"/>
            <a:ext cx="3282696" cy="457200"/>
          </a:xfrm>
          <a:prstGeom prst="rect">
            <a:avLst/>
          </a:prstGeom>
          <a:noFill/>
        </p:spPr>
        <p:txBody>
          <a:bodyPr wrap="square" anchor="ctr" lIns="0" rIns="0" tIns="0" bIns="0">
            <a:normAutofit/>
          </a:bodyPr>
          <a:lstStyle/>
          <a:p>
            <a:pPr algn="l">
              <a:lnSpc>
                <a:spcPct val="100000"/>
              </a:lnSpc>
            </a:pPr>
            <a:r>
              <a:rPr sz="1400" b="1" i="0">
                <a:solidFill>
                  <a:srgbClr val="FFFFFF"/>
                </a:solidFill>
                <a:latin typeface="Calibri"/>
              </a:rPr>
              <a:t>Black Americans</a:t>
            </a:r>
          </a:p>
        </p:txBody>
      </p:sp>
      <p:sp>
        <p:nvSpPr>
          <p:cNvPr id="9" name="TextBox 8"/>
          <p:cNvSpPr txBox="1"/>
          <p:nvPr/>
        </p:nvSpPr>
        <p:spPr>
          <a:xfrm>
            <a:off x="713232" y="2368296"/>
            <a:ext cx="3282696" cy="3127248"/>
          </a:xfrm>
          <a:prstGeom prst="rect">
            <a:avLst/>
          </a:prstGeom>
          <a:noFill/>
        </p:spPr>
        <p:txBody>
          <a:bodyPr wrap="square" anchor="t" lIns="0" rIns="0" tIns="0" bIns="0">
            <a:normAutofit/>
          </a:bodyPr>
          <a:lstStyle/>
          <a:p>
            <a:pPr algn="l">
              <a:lnSpc>
                <a:spcPct val="106000"/>
              </a:lnSpc>
            </a:pPr>
            <a:r>
              <a:rPr sz="1150" b="0" i="0">
                <a:solidFill>
                  <a:srgbClr val="1F2430"/>
                </a:solidFill>
                <a:latin typeface="Calibri"/>
              </a:rPr>
              <a:t>The AAA’s crop-reduction payments went to landowners, pushing many Black sharecroppers and tenant farmers off the land, and Social Security (1935) at first excluded farm and domestic workers — jobs held by most Black workers. Yet FDR’s informal “Black Cabinet,” including Mary McLeod Bethune and Robert Weaver, advised the administration, and Black voters shifted toward the Democratic Party.</a:t>
            </a:r>
          </a:p>
        </p:txBody>
      </p:sp>
      <p:sp>
        <p:nvSpPr>
          <p:cNvPr id="10" name="Rectangle 9"/>
          <p:cNvSpPr/>
          <p:nvPr/>
        </p:nvSpPr>
        <p:spPr>
          <a:xfrm>
            <a:off x="4343400" y="1783080"/>
            <a:ext cx="3611880" cy="38404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83080"/>
            <a:ext cx="3611880" cy="4572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783080"/>
            <a:ext cx="3282696" cy="457200"/>
          </a:xfrm>
          <a:prstGeom prst="rect">
            <a:avLst/>
          </a:prstGeom>
          <a:noFill/>
        </p:spPr>
        <p:txBody>
          <a:bodyPr wrap="square" anchor="ctr" lIns="0" rIns="0" tIns="0" bIns="0">
            <a:normAutofit/>
          </a:bodyPr>
          <a:lstStyle/>
          <a:p>
            <a:pPr algn="l">
              <a:lnSpc>
                <a:spcPct val="100000"/>
              </a:lnSpc>
            </a:pPr>
            <a:r>
              <a:rPr sz="1400" b="1" i="0">
                <a:solidFill>
                  <a:srgbClr val="FFFFFF"/>
                </a:solidFill>
                <a:latin typeface="Calibri"/>
              </a:rPr>
              <a:t>Mexican Americans</a:t>
            </a:r>
          </a:p>
        </p:txBody>
      </p:sp>
      <p:sp>
        <p:nvSpPr>
          <p:cNvPr id="13" name="TextBox 12"/>
          <p:cNvSpPr txBox="1"/>
          <p:nvPr/>
        </p:nvSpPr>
        <p:spPr>
          <a:xfrm>
            <a:off x="4507992" y="2368296"/>
            <a:ext cx="3282696" cy="3127248"/>
          </a:xfrm>
          <a:prstGeom prst="rect">
            <a:avLst/>
          </a:prstGeom>
          <a:noFill/>
        </p:spPr>
        <p:txBody>
          <a:bodyPr wrap="square" anchor="t" lIns="0" rIns="0" tIns="0" bIns="0">
            <a:normAutofit/>
          </a:bodyPr>
          <a:lstStyle/>
          <a:p>
            <a:pPr algn="l">
              <a:lnSpc>
                <a:spcPct val="106000"/>
              </a:lnSpc>
            </a:pPr>
            <a:r>
              <a:rPr sz="1150" b="0" i="0">
                <a:solidFill>
                  <a:srgbClr val="1F2430"/>
                </a:solidFill>
                <a:latin typeface="Calibri"/>
              </a:rPr>
              <a:t>Amid Depression job competition, “Mexican Repatriation” (about 1929–1936) pressured an estimated 400,000 to more than one million people of Mexican descent — many of them U.S.-born citizens — to leave for Mexico. Mexican and Filipino farmworkers in California often faced lower pay and worse conditions than white “Okie” migrants.</a:t>
            </a:r>
          </a:p>
        </p:txBody>
      </p:sp>
      <p:sp>
        <p:nvSpPr>
          <p:cNvPr id="14" name="Rectangle 13"/>
          <p:cNvSpPr/>
          <p:nvPr/>
        </p:nvSpPr>
        <p:spPr>
          <a:xfrm>
            <a:off x="8138160" y="1783080"/>
            <a:ext cx="3611880" cy="3840480"/>
          </a:xfrm>
          <a:prstGeom prst="rect">
            <a:avLst/>
          </a:prstGeom>
          <a:solidFill>
            <a:srgbClr val="FFFFFF"/>
          </a:solidFill>
          <a:ln w="12700">
            <a:solidFill>
              <a:srgbClr val="DA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783080"/>
            <a:ext cx="3611880" cy="4572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783080"/>
            <a:ext cx="3282696" cy="457200"/>
          </a:xfrm>
          <a:prstGeom prst="rect">
            <a:avLst/>
          </a:prstGeom>
          <a:noFill/>
        </p:spPr>
        <p:txBody>
          <a:bodyPr wrap="square" anchor="ctr" lIns="0" rIns="0" tIns="0" bIns="0">
            <a:normAutofit/>
          </a:bodyPr>
          <a:lstStyle/>
          <a:p>
            <a:pPr algn="l">
              <a:lnSpc>
                <a:spcPct val="100000"/>
              </a:lnSpc>
            </a:pPr>
            <a:r>
              <a:rPr sz="1400" b="1" i="0">
                <a:solidFill>
                  <a:srgbClr val="FFFFFF"/>
                </a:solidFill>
                <a:latin typeface="Calibri"/>
              </a:rPr>
              <a:t>Indigenous Peoples</a:t>
            </a:r>
          </a:p>
        </p:txBody>
      </p:sp>
      <p:sp>
        <p:nvSpPr>
          <p:cNvPr id="17" name="TextBox 16"/>
          <p:cNvSpPr txBox="1"/>
          <p:nvPr/>
        </p:nvSpPr>
        <p:spPr>
          <a:xfrm>
            <a:off x="8302752" y="2368296"/>
            <a:ext cx="3282696" cy="3127248"/>
          </a:xfrm>
          <a:prstGeom prst="rect">
            <a:avLst/>
          </a:prstGeom>
          <a:noFill/>
        </p:spPr>
        <p:txBody>
          <a:bodyPr wrap="square" anchor="t" lIns="0" rIns="0" tIns="0" bIns="0">
            <a:normAutofit/>
          </a:bodyPr>
          <a:lstStyle/>
          <a:p>
            <a:pPr algn="l">
              <a:lnSpc>
                <a:spcPct val="106000"/>
              </a:lnSpc>
            </a:pPr>
            <a:r>
              <a:rPr sz="1150" b="0" i="0">
                <a:solidFill>
                  <a:srgbClr val="1F2430"/>
                </a:solidFill>
                <a:latin typeface="Calibri"/>
              </a:rPr>
              <a:t>The Indian Reorganization Act of 1934 (the “Indian New Deal”), led by John Collier, ended the Dawes-era allotment policy, restored some tribal self-government and land, and supported Native culture — a major reversal, though its results were mixed and debated. A CCC Indian Division employed thousands.</a:t>
            </a:r>
          </a:p>
        </p:txBody>
      </p:sp>
      <p:sp>
        <p:nvSpPr>
          <p:cNvPr id="18" name="TextBox 17"/>
          <p:cNvSpPr txBox="1"/>
          <p:nvPr/>
        </p:nvSpPr>
        <p:spPr>
          <a:xfrm>
            <a:off x="548640" y="5943600"/>
            <a:ext cx="11064240" cy="365760"/>
          </a:xfrm>
          <a:prstGeom prst="rect">
            <a:avLst/>
          </a:prstGeom>
          <a:noFill/>
        </p:spPr>
        <p:txBody>
          <a:bodyPr wrap="square" anchor="t" lIns="0" rIns="0" tIns="0" bIns="0">
            <a:normAutofit/>
          </a:bodyPr>
          <a:lstStyle/>
          <a:p>
            <a:pPr algn="l">
              <a:lnSpc>
                <a:spcPct val="100000"/>
              </a:lnSpc>
            </a:pPr>
            <a:r>
              <a:rPr sz="950" b="0" i="1">
                <a:solidFill>
                  <a:srgbClr val="5C6470"/>
                </a:solidFill>
                <a:latin typeface="Calibri"/>
              </a:rPr>
              <a:t>History Hack-authored instructional synthesis grounded in the standard historical record — not a primary source. </a:t>
            </a:r>
            <a:r>
              <a:rPr sz="950" b="0" i="1">
                <a:solidFill>
                  <a:srgbClr val="C62828"/>
                </a:solidFill>
                <a:latin typeface="Calibri"/>
              </a:rPr>
              <a:t>Verified public-domain images and primary sources for these histories are a pending content addition.</a:t>
            </a:r>
          </a:p>
        </p:txBody>
      </p:sp>
      <p:sp>
        <p:nvSpPr>
          <p:cNvPr id="19" name="TextBox 18"/>
          <p:cNvSpPr txBox="1"/>
          <p:nvPr/>
        </p:nvSpPr>
        <p:spPr>
          <a:xfrm>
            <a:off x="457200" y="6473952"/>
            <a:ext cx="10058400" cy="274320"/>
          </a:xfrm>
          <a:prstGeom prst="rect">
            <a:avLst/>
          </a:prstGeom>
          <a:noFill/>
        </p:spPr>
        <p:txBody>
          <a:bodyPr wrap="square" anchor="t" lIns="0" rIns="0" tIns="0" bIns="0">
            <a:normAutofit/>
          </a:bodyPr>
          <a:lstStyle/>
          <a:p>
            <a:pPr algn="l">
              <a:lnSpc>
                <a:spcPct val="100000"/>
              </a:lnSpc>
            </a:pPr>
            <a:r>
              <a:rPr sz="900" b="0" i="0">
                <a:solidFill>
                  <a:srgbClr val="5C6470"/>
                </a:solidFill>
                <a:latin typeface="Trebuchet MS"/>
              </a:rPr>
              <a:t>U.S. History Hack  ·  TroopToTeacher Technologies LLC  ·  Aligned to TN Academic Standards &amp; TCAP EOC</a:t>
            </a:r>
          </a:p>
        </p:txBody>
      </p:sp>
      <p:sp>
        <p:nvSpPr>
          <p:cNvPr id="20" name="TextBox 19"/>
          <p:cNvSpPr txBox="1"/>
          <p:nvPr/>
        </p:nvSpPr>
        <p:spPr>
          <a:xfrm>
            <a:off x="11183112" y="6473952"/>
            <a:ext cx="548640" cy="274320"/>
          </a:xfrm>
          <a:prstGeom prst="rect">
            <a:avLst/>
          </a:prstGeom>
          <a:noFill/>
        </p:spPr>
        <p:txBody>
          <a:bodyPr wrap="square" anchor="t" lIns="0" rIns="0" tIns="0" bIns="0">
            <a:spAutoFit/>
          </a:bodyPr>
          <a:lstStyle/>
          <a:p>
            <a:pPr algn="r">
              <a:lnSpc>
                <a:spcPct val="100000"/>
              </a:lnSpc>
            </a:pPr>
            <a:r>
              <a:rPr sz="900" b="0" i="0">
                <a:solidFill>
                  <a:srgbClr val="5C6470"/>
                </a:solidFill>
                <a:latin typeface="Trebuchet MS"/>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History Hack — Unit 5 Course Standard Student Deck</dc:title>
  <dc:subject>Unit 5 — The Great Depression &amp; the New Deal (US.39–US.44)</dc:subject>
  <dc:creator>TroopToTeacher Technologies LLC</dc:creator>
  <cp:lastModifiedBy>TroopToTeacher Technologies LLC</cp:lastModifiedBy>
  <cp:revision>1</cp:revision>
  <dcterms:created xsi:type="dcterms:W3CDTF">2026-07-02T16:07:32Z</dcterms:created>
  <dcterms:modified xsi:type="dcterms:W3CDTF">2026-07-02T16:07:32Z</dcterms:modified>
</cp:coreProperties>
</file>
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4-1.jpg" ContentType="image/jpg"/>
  <Override PartName="/ppt/media/image-15-1.jpg" ContentType="image/jpg"/>
  <Override PartName="/ppt/media/image-16-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7-1.jpg" ContentType="image/jpg"/>
  <Override PartName="/ppt/media/image-28-1.jpg" ContentType="image/jpg"/>
  <Override PartName="/ppt/media/image-33-1.jpg" ContentType="image/jpg"/>
  <Override PartName="/ppt/media/image-34-1.jpg" ContentType="image/jpg"/>
  <Override PartName="/ppt/media/image-38-1.jpg" ContentType="image/jpg"/>
  <Override PartName="/ppt/media/image-4-1.jpg" ContentType="image/jpg"/>
  <Override PartName="/ppt/media/image-40-1.jpg" ContentType="image/jpg"/>
  <Override PartName="/ppt/media/image-44-1.jpg" ContentType="image/jpg"/>
  <Override PartName="/ppt/media/image-45-1.jpg" ContentType="image/jpg"/>
  <Override PartName="/ppt/media/image-46-1.jpg" ContentType="image/jpg"/>
  <Override PartName="/ppt/media/image-50-1.jpg" ContentType="image/jpg"/>
  <Override PartName="/ppt/media/image-51-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0" r:id="rId61"/>
    <p:sldId id="256" r:id="rId2"/>
    <p:sldId id="257" r:id="rId3"/>
    <p:sldId id="258" r:id="rId4"/>
    <p:sldId id="259" r:id="rId5"/>
    <p:sldId id="260" r:id="rId6"/>
    <p:sldId id="261" r:id="rId7"/>
    <p:sldId id="311" r:id="rId62"/>
    <p:sldId id="320" r:id="rId71"/>
    <p:sldId id="262" r:id="rId8"/>
    <p:sldId id="263" r:id="rId9"/>
    <p:sldId id="264" r:id="rId10"/>
    <p:sldId id="265" r:id="rId11"/>
    <p:sldId id="266" r:id="rId12"/>
    <p:sldId id="267" r:id="rId13"/>
    <p:sldId id="312" r:id="rId63"/>
    <p:sldId id="321" r:id="rId72"/>
    <p:sldId id="268" r:id="rId14"/>
    <p:sldId id="269" r:id="rId15"/>
    <p:sldId id="270" r:id="rId16"/>
    <p:sldId id="271" r:id="rId17"/>
    <p:sldId id="272" r:id="rId18"/>
    <p:sldId id="273" r:id="rId19"/>
    <p:sldId id="313" r:id="rId64"/>
    <p:sldId id="322" r:id="rId73"/>
    <p:sldId id="274" r:id="rId20"/>
    <p:sldId id="275" r:id="rId21"/>
    <p:sldId id="276" r:id="rId22"/>
    <p:sldId id="277" r:id="rId23"/>
    <p:sldId id="278" r:id="rId24"/>
    <p:sldId id="279" r:id="rId25"/>
    <p:sldId id="314" r:id="rId65"/>
    <p:sldId id="323" r:id="rId74"/>
    <p:sldId id="280" r:id="rId26"/>
    <p:sldId id="281" r:id="rId27"/>
    <p:sldId id="282" r:id="rId28"/>
    <p:sldId id="283" r:id="rId29"/>
    <p:sldId id="284" r:id="rId30"/>
    <p:sldId id="285" r:id="rId31"/>
    <p:sldId id="315" r:id="rId66"/>
    <p:sldId id="324" r:id="rId75"/>
    <p:sldId id="286" r:id="rId32"/>
    <p:sldId id="287" r:id="rId33"/>
    <p:sldId id="288" r:id="rId34"/>
    <p:sldId id="289" r:id="rId35"/>
    <p:sldId id="290" r:id="rId36"/>
    <p:sldId id="291" r:id="rId37"/>
    <p:sldId id="316" r:id="rId67"/>
    <p:sldId id="325" r:id="rId76"/>
    <p:sldId id="292" r:id="rId38"/>
    <p:sldId id="293" r:id="rId39"/>
    <p:sldId id="294" r:id="rId40"/>
    <p:sldId id="295" r:id="rId41"/>
    <p:sldId id="296" r:id="rId42"/>
    <p:sldId id="297" r:id="rId43"/>
    <p:sldId id="317" r:id="rId68"/>
    <p:sldId id="326" r:id="rId77"/>
    <p:sldId id="298" r:id="rId44"/>
    <p:sldId id="299" r:id="rId45"/>
    <p:sldId id="300" r:id="rId46"/>
    <p:sldId id="301" r:id="rId47"/>
    <p:sldId id="302" r:id="rId48"/>
    <p:sldId id="303" r:id="rId49"/>
    <p:sldId id="318" r:id="rId69"/>
    <p:sldId id="327" r:id="rId78"/>
    <p:sldId id="304" r:id="rId50"/>
    <p:sldId id="305" r:id="rId51"/>
    <p:sldId id="306" r:id="rId52"/>
    <p:sldId id="307" r:id="rId53"/>
    <p:sldId id="308" r:id="rId54"/>
    <p:sldId id="309" r:id="rId55"/>
    <p:sldId id="319" r:id="rId70"/>
    <p:sldId id="328" r:id="rId79"/>
  </p:sldIdLst>
  <p:notesMasterIdLst>
    <p:notesMasterId r:id="rId5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rchives.gov/education/lessons/hawaii-petitio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senate.gov/artandhistory/history/resources/pdf/HoarPhilippines.pdf"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valon.law.yale.edu/19th_century/sp1898.asp"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loc.gov/collections/theodore-roosevelt-papers/"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loc.gov/resource/ppmsca.36603/"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www.archives.gov/milestone-documents/zimmermann-telegram"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www.archives.gov/research/military/ww1" TargetMode="Externa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www.loc.gov/item/usrep249047/" TargetMode="Externa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hyperlink" Target="https://www.archives.gov/milestone-documents/president-woodrow-wilsons-14-points" TargetMode="Externa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US.19</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Causes of American Imperialism</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US.19 – Assess the causes of American imperialism in the late 19th and early 20th centuries, including: the desire for raw materials and new markets, the desire to spread American democratic and moral ideals, and yellow journalism.</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assess the causes of American imperialism in the late 19th and early 20th centuries, including the desire for raw materials and new markets, the desire to spread American democratic and moral ideals, and yellow journalism.</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Economic hunger drove expansion — industry needed raw materials, overseas markets for surplus goods, and naval coaling stations to compete with Europe.</a:t>
            </a:r>
            <a:endParaRPr lang="en-US" sz="2300" dirty="0"/>
          </a:p>
        </p:txBody>
      </p:sp>
      <p:pic>
        <p:nvPicPr>
          <p:cNvPr id="7" name="Image 0" descr="hh-web/public/images/textbook/unit-3/mahan-alfred-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US.19 · Economic Motivations for Expansion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Ideology justified it — Manifest Destiny, Social Darwinism, missionary duty, and belief in American superiority framed empire as a duty to “civilize.”</a:t>
            </a:r>
            <a:endParaRPr lang="en-US" sz="2300" dirty="0"/>
          </a:p>
        </p:txBody>
      </p:sp>
      <p:pic>
        <p:nvPicPr>
          <p:cNvPr id="7" name="Image 0" descr="hh-web/public/images/textbook/unit-3/white-mans-burden-judge-1899.pn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US.19 · Spreading Democratic &amp; Moral Ideals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US.19</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Yellow journalism sold it — Hearst and Pulitzer used sensational headlines and exaggerated Spanish atrocities to push public opinion toward aggressive foreign policy.</a:t>
            </a:r>
            <a:endParaRPr lang="en-US" sz="2300" dirty="0"/>
          </a:p>
        </p:txBody>
      </p:sp>
      <p:pic>
        <p:nvPicPr>
          <p:cNvPr id="7" name="Image 0" descr="hh-web/public/images/textbook/unit-3/hearst-cartoon-1906.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US.19 · Yellow Journalism &amp; Public Opinion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US.19</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Queen Liliuokalani’s protest against annexation — weigh her authority and purpose before you read her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Queen Liliuokalani</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June 17, 1897</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Queen Liliuokalani's Protest to the Annexation of Hawaii</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Queen Liliuokalani · June 17, 1897</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 Liliuokalani, by the Grace of God and under the Constitution of the Hawaiian Kingdom, Queen, do hereby solemnly protest against any and all acts done against myself and the constitutional Government of the Hawaiian Kingdom... Because the official protests made by me on the seventeenth day of January, 1893, to the so-called Provisional Government was not combatted with armed forces, and because said Provisional Government has been combatted with armed forces, I yield my authority until such time as the Government of the United States shall... undo the action of its representatives and reinstate me in the authority which I claim as the constitutional sovereign of the Hawaiian Islands."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US.19</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US.19:</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industrialists, investors, and expansionists who gained new markets, raw materials, and strategic naval bases abroad.</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Native peoples like the Hawaiians under Queen Liliuokalani, whose sovereignty was overturned so the U.S. could annex their lands.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US.19: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Expansionist thinkers (Mahan), sensational publishers (Hearst, Pulitzer), and policymakers who translated economic and ideological pressure into empire.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Queen Liliuokalani, Protest to the Annexation of Hawaii, 1897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US.20</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Interventionists vs Non-Interventionists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US.20 – Compare and contrast the arguments of interventionists and non-interventionists of the period.</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compare and contrast the arguments of interventionists and non-interventionists of the period.</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Interventionists argued for empire — Roosevelt, Lodge, and Mahan said the U.S. needed markets, naval bases, and a duty to spread democracy or fall behind Europe.</a:t>
            </a:r>
            <a:endParaRPr lang="en-US" sz="2300" dirty="0"/>
          </a:p>
        </p:txBody>
      </p:sp>
      <p:pic>
        <p:nvPicPr>
          <p:cNvPr id="7" name="Image 0" descr="hh-web/public/images/textbook/unit-3/beveridge-albert-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US.20 · Interventionist Arguments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Non-interventionists pushed back — Bryan, Carnegie, and Mark Twain warned imperialism betrayed self-government and consent of the governed.</a:t>
            </a:r>
            <a:endParaRPr lang="en-US" sz="2300" dirty="0"/>
          </a:p>
        </p:txBody>
      </p:sp>
      <p:pic>
        <p:nvPicPr>
          <p:cNvPr id="7" name="Image 0" descr="hh-web/public/images/textbook/unit-3/mark-twain-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US.20 · Non-Interventionist Arguments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US.20</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debate split three ways — politically (power vs. limited government), economically (markets vs. costs), and morally (civilizing mission vs. self-determination).</a:t>
            </a:r>
            <a:endParaRPr lang="en-US" sz="2300" dirty="0"/>
          </a:p>
        </p:txBody>
      </p:sp>
      <p:pic>
        <p:nvPicPr>
          <p:cNvPr id="7" name="Image 0" descr="hh-web/public/images/textbook/unit-3/hoar-george-frisbie-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US.20 · Political, Economic &amp; Moral Factors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US.20</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Senator Hoar’s anti-imperialist argument — note who he speaks for and what principle he defends.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Senator George Frisbie Hoar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January 9, 1899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Speech Against Philippine Annexation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Senator George Frisbie Hoar · January 9, 1899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"You have no right at the cannon's mouth to impose on an unwilling people your Declaration of Independence and your Constitution and your notions of freedom and notions of what is good... If you undertake to govern without their consent, you may count upon resistance. The Malays are not fools. The inhabitants of the Philippine Islands are intelligent and warlike people."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 Senate Historical Office</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US.20</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US.20:</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Interventionists and industries positioned to profit from overseas markets, naval expansion, and new colonial possessions.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Peoples subjected to American rule without their consent — the very self-determination anti-imperialists like Hoar and Twain defended.</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Congress, the President, and public opinion — shaped by interventionists (Lodge, Beveridge) and the Anti-Imperialist League opposing them.</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George Frisbie Hoar, Anti-Imperialist Senate speech, 1902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US.21</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Spanish-American War &amp; Imperialism Outcomes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US.21 – Describe the causes of the Spanish-American War and the outcomes of American imperialism, including: Annexation of Hawaii, Philippine Insurrection, Roosevelt Corollary, Panama Canal, Access to Cuba.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causes of the Spanish-American War and the outcomes of American imperialism, including the annexation of Hawaii, Philippine Insurrection, Roosevelt Corollary, Panama Canal, and access to Cuba.</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War came from Cuba — the 1895 rebellion, the USS Maine explosion (266 dead), the de Lôme Letter, and “Remember the Maine!” headlines pushed America into war.</a:t>
            </a:r>
            <a:endParaRPr lang="en-US" sz="2300" dirty="0"/>
          </a:p>
        </p:txBody>
      </p:sp>
      <p:pic>
        <p:nvPicPr>
          <p:cNvPr id="7" name="Image 0" descr="hh-web/public/images/textbook/unit-3/uss-maine-wreck-189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US.21 · Causes of the Spanish-American War</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America gained an empire — Hawaii was annexed and the Treaty of Paris gave the U.S. Puerto Rico, Guam, and the Philippines, where 200,000+ Filipinos died resisting.</a:t>
            </a:r>
            <a:endParaRPr lang="en-US" sz="2300" dirty="0"/>
          </a:p>
        </p:txBody>
      </p:sp>
      <p:pic>
        <p:nvPicPr>
          <p:cNvPr id="7" name="Image 0" descr="hh-web/public/images/textbook/unit-3/peace-protocol-signing-189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US.21 · Territorial Outcomes of Imperialism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US.21</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Cuba stayed under U.S. control — the Platt Amendment limited its sovereignty and the Roosevelt Corollary made the U.S. an “international police power” in Latin America.</a:t>
            </a:r>
            <a:endParaRPr lang="en-US" sz="2300" dirty="0"/>
          </a:p>
        </p:txBody>
      </p:sp>
      <p:pic>
        <p:nvPicPr>
          <p:cNvPr id="7" name="Image 0" descr="hh-web/public/images/textbook/unit-3/rough-riders-189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US.21 · Cuba &amp; the Roosevelt Corollary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US.21</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Treaty of Paris that ended the war — identify its parties and moment before you judge what it settled.</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United States and Spain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December 10, 1898</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Treaty of Paris</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United States and Spain · December 10, 1898</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"Spain cedes to the United States the archipelago known as the Philippine Islands... Spain cedes to the United States the island of Porto Rico and other islands now under Spanish sovereignty in the West Indies, and the island of Guam in the Marianas... The United States will pay to Spain the sum of twenty million dollars within three months after the exchange of the ratifications of the present treaty."</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Avalon Project, Yale Law School</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US.21</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US.21:</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United States, which gained Puerto Rico, Guam, the Philippines, a Cuban protectorate, and hemispheric dominance.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Filipinos who lost 200,000+ lives resisting U.S. rule, and Cubans whose independence was curtailed by the Platt Amendment.</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McKinley, the U.S. Senate ratifying the Treaty of Paris, and Roosevelt extending the Monroe Doctrine through his Corollary.</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Treaty of Paris ending the Spanish-American War, 1898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US.22</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Diplomatic Policies: Big Stick, Dollar, and Moral Diplomacy</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US.22 – Compare and contrast President Theodore Roosevelt's Big Stick diplomacy, President William Howard Taft's Dollar Diplomacy, and President Woodrow Wilson's Moral Diplomacy.</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compare and contrast President Theodore Roosevelt's Big Stick diplomacy, President Taft's Dollar Diplomacy, and President Wilson's Moral Diplomacy.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Roosevelt used the Big Stick (1901–1909) — “speak softly and carry a big stick” meant diplomacy backed by a powerful navy, the Great White Fleet, and the Roosevelt Corollary.</a:t>
            </a:r>
            <a:endParaRPr lang="en-US" sz="2300" dirty="0"/>
          </a:p>
        </p:txBody>
      </p:sp>
      <p:pic>
        <p:nvPicPr>
          <p:cNvPr id="7" name="Image 0" descr="hh-web/public/images/textbook/unit-3/roosevelt-theodore-portrait-190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US.22 · Big Stick Diplomacy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Taft used Dollar Diplomacy (1909–1913) — he substituted American investment and financial leverage for military force, though it often required troops anyway.</a:t>
            </a:r>
            <a:endParaRPr lang="en-US" sz="2300" dirty="0"/>
          </a:p>
        </p:txBody>
      </p:sp>
      <p:pic>
        <p:nvPicPr>
          <p:cNvPr id="7" name="Image 0" descr="hh-web/public/images/textbook/unit-3/taft-william-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US.22 · Dollar Diplomacy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US.22</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Wilson used Moral Diplomacy (1913–1921) — he backed only democratic governments and moral persuasion, refusing to recognize Mexico’s Huerta and vowing to make the world “safe for democracy.”</a:t>
            </a:r>
            <a:endParaRPr lang="en-US" sz="2300" dirty="0"/>
          </a:p>
        </p:txBody>
      </p:sp>
      <p:pic>
        <p:nvPicPr>
          <p:cNvPr id="7" name="Image 0" descr="hh-web/public/images/textbook/unit-3/wilson-woodrow-portrait-191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US.22 · Moral Diplomacy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US.22</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Roosevelt’s Big Stick speech — fix its author, date, and purpose before analyzing it.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Theodore Roosevelt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1901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Big Stick Diplomacy Speech</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Theodore Roosevelt · 1901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"There is a homely adage which runs "Speak softly and carry a big stick; you will go far." If the American nation will speak softly and yet build and keep at a pitch of the highest training a thoroughly efficient navy, the Monroe Doctrine will go far... Right here let me make as strong a plea as I know how in favor of the Navy."</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US.22</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US.22:</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United States, which expanded its global influence through power (Roosevelt), profit (Taft), and principle (Wilson).</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Latin American nations repeatedly subject to U.S. intervention under all three approaches, regardless of the method used.</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Three presidents — Roosevelt, Taft, and Wilson — each defining American foreign policy through his own philosophy of power.</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Theodore Roosevelt, Big Stick / Roosevelt Corollary, 1904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US.23</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Causes of World War I &amp; U.S. Neutrality</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US.23 – Explain the causes of World War I and the reasons for the initial declaration of U.S. neutrality.</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causes of World War I and the reasons for the initial declaration of U.S. neutrality.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MAIN causes built the powder keg — Militarism, Alliances, Imperialism, and Nationalism divided Europe into two armed camps ready to escalate any local conflict.</a:t>
            </a:r>
            <a:endParaRPr lang="en-US" sz="2300" dirty="0"/>
          </a:p>
        </p:txBody>
      </p:sp>
      <p:pic>
        <p:nvPicPr>
          <p:cNvPr id="7" name="Image 0" descr="hh-web/public/images/textbook/unit-3/europe-alliances-1914-map.pn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US.23 · MAIN Causes of World War I</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One assassination lit the fuse — the killing of Archduke Franz Ferdinand (June 28, 1914) triggered the alliance system and turned a Balkan crisis into a world war within weeks.</a:t>
            </a:r>
            <a:endParaRPr lang="en-US" sz="2300" dirty="0"/>
          </a:p>
        </p:txBody>
      </p:sp>
      <p:pic>
        <p:nvPicPr>
          <p:cNvPr id="7" name="Image 0" descr="hh-web/public/images/textbook/unit-3/franz-ferdinand-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US.23 · The Spark &amp; Escalation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US.23</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America stayed neutral at first — Washington’s warning, divided immigrant populations, profitable trade with both sides, and Wilson’s hope to mediate “peace without victory.”</a:t>
            </a:r>
            <a:endParaRPr lang="en-US" sz="2300" dirty="0"/>
          </a:p>
        </p:txBody>
      </p:sp>
      <p:pic>
        <p:nvPicPr>
          <p:cNvPr id="7" name="Image 0" descr="hh-web/public/images/textbook/unit-3/wilson-woodrow-portrait-191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US.23 · Reasons for U.S. Neutrality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US.23</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Wilson’s Neutrality Proclamation — identify who issued it and why before you weigh it.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Woodrow Wilson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August 19, 1914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U.S. Neutrality Proclamation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Woodrow Wilson · August 19, 1914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United States must be neutral in fact, as well as in name, during these days that are to try men's souls. We must be impartial in thought, as well as action, must put a curb upon our sentiments, as well as upon every transaction that might be construed as a preference of one party to the struggle before another."</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US.23</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US.23:</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Early on, the neutral United States profited from trade with both warring sides while avoiding the fighting.</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Europe’s soldiers and civilians, drawn into mass slaughter by the alliance system after a single assassination in Sarajevo.</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Europe’s monarchs and generals bound by alliances; and President Wilson, who chose neutrality and offered to mediate.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Wilson, U.S. Neutrality Proclamation, 1914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US.24</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Reasons for American Entry into World War I</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US.24 – Explain the reasons for American entry into World War I, including: the use of unrestricted submarine warfare, the Zimmerman Telegram, the defense of democracy, and economic motivations.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reasons for American entry into World War I, including the use of unrestricted submarine warfare, the Zimmerman Telegram, the defense of democracy, and economic motivations.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Submarine warfare killed neutrals — German U-boats sank ships without warning; the Lusitania (1915) killed 128 Americans, and unrestricted attacks resumed in 1917.</a:t>
            </a:r>
            <a:endParaRPr lang="en-US" sz="2300" dirty="0"/>
          </a:p>
        </p:txBody>
      </p:sp>
      <p:pic>
        <p:nvPicPr>
          <p:cNvPr id="7" name="Image 0" descr="hh-web/public/images/textbook/unit-3/lusitania-nyt-1915.pn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US.24 · Unrestricted Submarine Warfare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Zimmermann Telegram alarmed America — Germany secretly offered Mexico the return of Texas, New Mexico, and Arizona, making the German threat seem direct and immediate.</a:t>
            </a:r>
            <a:endParaRPr lang="en-US" sz="2300" dirty="0"/>
          </a:p>
        </p:txBody>
      </p:sp>
      <p:pic>
        <p:nvPicPr>
          <p:cNvPr id="7" name="Image 0" descr="hh-web/public/images/textbook/unit-3/zimmermann-telegram.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US.24 · The Zimmermann Telegram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US.24</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Democracy and dollars pulled America in — Wilson framed war as making the world “safe for democracy,” while $2 billion in Allied loans and trade tied U.S. interests to Allied victory.</a:t>
            </a:r>
            <a:endParaRPr lang="en-US" sz="2300" dirty="0"/>
          </a:p>
        </p:txBody>
      </p:sp>
      <p:pic>
        <p:nvPicPr>
          <p:cNvPr id="7" name="Image 0" descr="hh-web/public/images/textbook/unit-3/wilson-war-message-congress-1917.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US.24 · Defense of Democracy &amp; Economics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US.24</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Zimmermann Telegram itself — note its author, date, and secret purpose before judging its impact.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German Foreign Minister Arthur Zimmermann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January 1917</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Zimmermann Telegram</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German Foreign Minister Arthur Zimmermann · January 1917</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"We intend to begin on the first of February unrestricted submarine warfare. We shall endeavor in spite of this to keep the United States of America neutral. In the event of this not succeeding, we make Mexico a proposal of alliance on the following basis: make war together, make peace together, generous financial support and an understanding on our part that Mexico is to reconquer the lost territory in Texas, New Mexico, and Arizona."</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US.24</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US.24:</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banks and industries with $2 billion loaned to the Allies, plus war producers who gained jobs and profits.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civilians killed by submarine warfare, and the soldiers who would be drafted and sent to fight in Europe.</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Wilson, who asked for war, and Congress, which declared it in April 1917 after the telegram and renewed U-boat attacks.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Zimmermann Telegram, 1917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US.25</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Key Figures and Developments in World War I</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US.25 – Identify and explain the impact of the following on World War I: Trench warfare, Use of new weapons and technology, Harlem Hellfighters, Herbert Hoover, John J. Pershing, Alvin C. York.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identify and explain the impact of trench warfare, new weapons and technology, the Harlem Hellfighters, Herbert Hoover, John J. Pershing, and Alvin C. York on World War I.</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Trench warfare created a killing stalemate — trenches ran from the Channel to Switzerland, and machine guns, poison gas, artillery, aircraft, and tanks made WWI uniquely destructive.</a:t>
            </a:r>
            <a:endParaRPr lang="en-US" sz="2300" dirty="0"/>
          </a:p>
        </p:txBody>
      </p:sp>
      <p:pic>
        <p:nvPicPr>
          <p:cNvPr id="7" name="Image 0" descr="hh-web/public/images/textbook/unit-3/wwi-trench-somme-1916.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US.25 · Trench Warfare &amp; New Technology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Hoover fed the war, Pershing led it — Herbert Hoover ran food relief and voluntary conservation; General Pershing commanded a separate American Expeditionary Force.</a:t>
            </a:r>
            <a:endParaRPr lang="en-US" sz="23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Hoover fed the war, Pershing led it — Herbert Hoover ran food relief and voluntary conservation; General Pershing commanded a separate American Expeditionary Force.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US.25 · Herbert Hoover &amp; John J. Pershing</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US.25</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Black soldiers and a Tennessee hero proved their valor — the Harlem Hellfighters served 191 combat days, and Alvin C. York captured 132 Germans in the Argonne.</a:t>
            </a:r>
            <a:endParaRPr lang="en-US" sz="2300" dirty="0"/>
          </a:p>
        </p:txBody>
      </p:sp>
      <p:pic>
        <p:nvPicPr>
          <p:cNvPr id="7" name="Image 0" descr="hh-web/public/images/textbook/unit-3/alvin-york-191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US.25 · Harlem Hellfighters &amp; Alvin C. York</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US.25</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Alvin C. York’s Medal of Honor citation — identify its author and moment before analysis.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U.S. War Department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1918</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Alvin C. York Medal of Honor Citation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War Department · 1918</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"After his platoon had suffered heavy casualties and 3 other noncommissioned officers had become casualties, Corporal York assumed command. Fearlessly leading 7 men, he charged with great daring a machine gun nest which was pouring deadly and incessant fire upon his platoon. In this heroic feat the machine gun nest was taken, together with 4 officers and 128 men and several guns."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US.25</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US.25:</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Allied cause, strengthened by fresh American troops, Pershing’s command, and Hoover’s organized food supply.</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US.25:</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Soldiers in the trenches facing gas, machine guns, and artillery — including segregated Black units like the Harlem Hellfighters.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US.25:</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Military leaders like Pershing and administrators like Hoover — while soldiers such as York earned the war’s highest honors.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Alvin C. York, Medal of Honor Citation, 1919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US.26</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World War I Home Front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US.26 – Analyze the political, economic, and social ramifications of World War I on the home front, including: Role played by women and minorities, Voluntary rationing, Committee on Public Information, Opposition by conscientious objectors, Schenck v. United States decision.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political, economic, and social ramifications of World War I on the home front, including the role of women and minorities, voluntary rationing, the Committee on Public Information, conscientious objectors, and the Schenck v. United States decision.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Federal power expanded dramatically — the War Industries Board, Selective Service (24 million registered), and the Espionage and Sedition Acts restricted speech and prosecuted dissent.</a:t>
            </a:r>
            <a:endParaRPr lang="en-US" sz="2300" dirty="0"/>
          </a:p>
        </p:txBody>
      </p:sp>
      <p:pic>
        <p:nvPicPr>
          <p:cNvPr id="7" name="Image 0" descr="hh-web/public/images/textbook/unit-3/uncle-sam-i-want-you-1917.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US.26 · Expanded Federal Power</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economy mobilized for war — Hoover’s “Meatless Mondays,” Victory Gardens, and $21 billion in Liberty Bonds financed and fed the war effort.</a:t>
            </a:r>
            <a:endParaRPr lang="en-US" sz="2300" dirty="0"/>
          </a:p>
        </p:txBody>
      </p:sp>
      <p:pic>
        <p:nvPicPr>
          <p:cNvPr id="7" name="Image 0" descr="hh-web/public/images/textbook/unit-3/food-will-win-war-poster-1917.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US.26 · Economic Effects &amp; Rationing</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US.26</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War reshaped society — women entered wartime jobs (strengthening the suffrage case) and the Great Migration brought 500,000 African Americans north for industrial work.</a:t>
            </a:r>
            <a:endParaRPr lang="en-US" sz="2300" dirty="0"/>
          </a:p>
        </p:txBody>
      </p:sp>
      <p:pic>
        <p:nvPicPr>
          <p:cNvPr id="7" name="Image 0" descr="hh-web/public/images/textbook/unit-3/harlem-hellfighters-parade-191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US.26 · Women &amp; Minorities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US.26</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Justice Holmes in Schenck v. United States — note the Court’s authority and moment before weighing the ruling.</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Justice Oliver Wendell Holmes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1919</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Schenck v. United States Decision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Justice Oliver Wendell Holmes · 1919</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question in every case is whether the words used are used in such circumstances and are of such a nature as to create a clear and present danger that they will bring about the substantive evils that Congress has a right to prevent. When a nation is at war, many things that might be said in time of peace are such a hindrance to its effort that their utterance will not be endured."</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US.26</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US.26:</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federal government, which gained unprecedented control; and women and Black migrants who gained new jobs and arguments for rights.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US.26:</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Anti-war activists, socialists, and German-Americans prosecuted under the Espionage and Sedition Acts and Schenck’s “clear and present danger” test.</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US.26:</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Congress and wartime agencies expanding federal power, and the Supreme Court (Holmes) upholding limits on free speech.</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Oliver Wendell Holmes, Schenck v. United States, 1919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US.27</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Wilson's Fourteen Points and League of Nations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US.27 – Analyze the significance of President Woodrow Wilson's Fourteen Points, the causes and effects of the U.S. rejection of the League of Nations, and the subsequent impact on world politics.</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significance of President Woodrow Wilson's Fourteen Points, the causes and effects of the U.S. rejection of the League of Nations, and the subsequent impact on world politics.</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Wilson offered a peace plan — his Fourteen Points (Jan. 1918) called for open diplomacy, freedom of the seas, self-determination, and a League of Nations to keep the peace.</a:t>
            </a:r>
            <a:endParaRPr lang="en-US" sz="2300" dirty="0"/>
          </a:p>
        </p:txBody>
      </p:sp>
      <p:pic>
        <p:nvPicPr>
          <p:cNvPr id="7" name="Image 0" descr="hh-web/public/images/textbook/unit-3/wilson-woodrow-portrait-191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US.27 · Wilson’s Fourteen Points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The Senate rejected the League — Lodge’s Reservationists feared Article X’s obligations, Irreconcilables opposed any membership, and Wilson refused to compromise.</a:t>
            </a:r>
            <a:endParaRPr lang="en-US" sz="2300" dirty="0"/>
          </a:p>
        </p:txBody>
      </p:sp>
      <p:pic>
        <p:nvPicPr>
          <p:cNvPr id="7" name="Image 0" descr="hh-web/public/images/textbook/unit-3/lodge-henry-cabot-portrait.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US.27 · Causes of U.S. Rejection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US.27</a:t>
            </a:r>
            <a:endParaRPr lang="en-US" sz="1200" dirty="0"/>
          </a:p>
        </p:txBody>
      </p:sp>
      <p:sp>
        <p:nvSpPr>
          <p:cNvPr id="6" name="Text 4"/>
          <p:cNvSpPr/>
          <p:nvPr/>
        </p:nvSpPr>
        <p:spPr>
          <a:xfrm>
            <a:off x="457200" y="777240"/>
            <a:ext cx="11247120" cy="868680"/>
          </a:xfrm>
          <a:prstGeom prst="rect">
            <a:avLst/>
          </a:prstGeom>
          <a:noFill/>
          <a:ln/>
        </p:spPr>
        <p:txBody>
          <a:bodyPr wrap="square" rtlCol="0" anchor="ctr"/>
          <a:lstStyle/>
          <a:p>
            <a:pPr algn="l" indent="0" marL="0">
              <a:buNone/>
            </a:pPr>
            <a:r>
              <a:rPr lang="en-US" sz="2300" b="1" dirty="0">
                <a:solidFill>
                  <a:srgbClr val="FFFFFF"/>
                </a:solidFill>
                <a:latin typeface="Georgia" pitchFamily="34" charset="0"/>
                <a:ea typeface="Georgia" pitchFamily="34" charset="-122"/>
                <a:cs typeface="Georgia" pitchFamily="34" charset="-120"/>
              </a:rPr>
              <a:t>American absence doomed the League — without U.S. power it could not stop Japan in Manchuria, Italy in Ethiopia, or Germany — helping set the stage for World War II.</a:t>
            </a:r>
            <a:endParaRPr lang="en-US" sz="2300" dirty="0"/>
          </a:p>
        </p:txBody>
      </p:sp>
      <p:pic>
        <p:nvPicPr>
          <p:cNvPr id="7" name="Image 0" descr="hh-web/public/images/textbook/unit-3/gap-in-the-bridge-cartoon-1919.pn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US.27 · Impact on World Politics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US.27</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Wilson’s Fourteen Points — identify its author, date, and purpose before judging it.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Woodrow Wilson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January 8, 1918</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The Fourteen Points</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Woodrow Wilson · January 8, 1918</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"A general association of nations must be formed under specific covenants for the purpose of affording mutual guarantees of political independence and territorial integrity to great and small states alike... Open covenants of peace, openly arrived at, after which there shall be no private international understandings of any kind."</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US.27</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US.27:</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Senate Reservationists and Irreconcilables who preserved American sovereignty and congressional war powers by rejecting the League.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US.27:</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Wilson, whose idealistic vision collapsed, and the world, left with a weakened League unable to prevent 1930s aggression.</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US.27:</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U.S. Senate, which rejected the Treaty of Versailles in 1919 and 1920, and Wilson, whose refusal to compromise sealed the outcome.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Treaty of Versailles / Fourteen Points, 1918–1919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Imperialism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Imperialismo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policy in which a stronger nation extends its economic, political, or military control over a weaker territory or nation.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Yellow Journalism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Periodismo Amarillo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Sensationalist newspaper reporting that exaggerates or fabricates stories to increase sales and influence public opinion.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Alfred Thayer Mahan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Alfred Thayer Mahan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U.S. naval officer and historian whose book "The Influence of Sea Power upon History" (1890) argued that national greatness depended on naval power, influencing American imperialism.</a:t>
            </a:r>
            <a:endParaRPr lang="en-US" sz="1300"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Imperialism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Imperialismo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policy in which a stronger nation extends its economic, political, or military control over a weaker territory or nation.</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Yellow Journalism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Periodismo Amarillo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Sensationalist newspaper reporting that exaggerates or fabricates stories to increase sales and influence public opinion.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Alfred Thayer Mahan</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Alfred Thayer Mahan</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U.S. naval officer and historian whose book "The Influence of Sea Power upon History" (1890) argued that national greatness depended on naval power, influencing American imperialism.</a:t>
            </a:r>
            <a:endParaRPr lang="en-US" sz="1300" dirty="0"/>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Spanish-American War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Hispano-Estadounidense</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1898 conflict between the United States and Spain, sparked by Cuban independence movements and the USS Maine explosion, resulting in American acquisition of overseas territories.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Philippine Insurrection</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Insurrección Filipina</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guerrilla war (1899-1902) fought by Filipino independence fighters against U.S. forces after the Spanish-American War, when Filipinos realized America intended to rule rather than liberate them.</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Panama Canal</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Canal de Panamá</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man-made waterway connecting the Atlantic and Pacific Oceans, built by the United States (1904-1914) after supporting Panama's independence from Colombia.</a:t>
            </a:r>
            <a:endParaRPr lang="en-US" sz="1300"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Big Stick Diplomacy</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Diplomacia del Gran Garrote</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Theodore Roosevelt's foreign policy approach summarized as "speak softly and carry a big stick," combining negotiation with the implicit threat of military force.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Dollar Diplomacy</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Diplomacia del Dólar</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William Howard Taft's foreign policy emphasizing American business investment and loans to extend influence abroad, especially in Latin America and East Asia.</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Moral Diplomacy</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Diplomacia Moral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Woodrow Wilson's foreign policy rejecting imperialism and emphasizing support for democratic governments and self-determination, though often inconsistently applied.</a:t>
            </a:r>
            <a:endParaRPr lang="en-US" sz="1300"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Militarism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Militarismo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belief that a nation should maintain a strong military and be prepared to use it to defend or promote national interests; one of the M.A.I.N. causes of World War I.</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Alliance System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Sistema de Alianzas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network of mutual defense agreements among European nations before WWI, creating two opposing blocs: Triple Alliance (Germany, Austria-Hungary, Italy) and Triple Entente (France, Russia, Britain).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Archduke Franz Ferdinand</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Archiduque Francisco Fernando</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Heir to the Austro-Hungarian throne whose assassination in Sarajevo on June 28, 1914, by Serbian nationalist Gavrilo Princip triggered the chain of events leading to World War I.</a:t>
            </a:r>
            <a:endParaRPr lang="en-US" sz="1300"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Unrestricted Submarine Warfare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Submarina Sin Restricciones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Germany's policy of attacking any ship—military or civilian—in the war zone around Britain without warning, which helped draw the United States into WWI.</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Zimmermann Telegram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Telegrama Zimmermann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1917 secret message from Germany to Mexico proposing a military alliance against the United States, intercepted by the British and used to justify American entry into WWI.</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RMS Lusitania</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RMS Lusitania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British passenger ship torpedoed by a German U-boat on May 7, 1915, killing 1,198 people including 128 Americans, turning American public opinion against Germany.</a:t>
            </a:r>
            <a:endParaRPr lang="en-US" sz="1300" dirty="0"/>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Trench Warfare</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Guerra de Trincheras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type of combat in which soldiers fight from elaborate systems of trenches, creating a stalemate where neither side could advance; characteristic of WWI's Western Front.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No Man's Land</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Tierra de Nadie</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dangerous, exposed ground between opposing trenches in WWI, filled with barbed wire, shell craters, and dead bodies.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John J. Pershing</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John J. Pershing</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Commander of the American Expeditionary Forces (AEF) in WWI, who insisted on keeping American troops together as an independent force rather than integrating them into Allied armies.</a:t>
            </a:r>
            <a:endParaRPr lang="en-US" sz="1300" dirty="0"/>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Committee on Public Information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Comité de Información Pública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government propaganda agency created in 1917 to build support for WWI through posters, films, speeches, and censorship of anti-war messages.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Espionage and Sedition Acts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Leyes de Espionaje y Sedición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Laws passed in 1917-1918 making it illegal to interfere with the draft, criticize the government or war effort, or encourage disloyalty, severely limiting free speech during WWI.</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Schenck v. United States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Schenck v. Estados Unidos</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 1919 Supreme Court case that upheld the Espionage Act, ruling that speech creating a "clear and present danger" could be restricted, even in peacetime.</a:t>
            </a:r>
            <a:endParaRPr lang="en-US" sz="1300"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Fourteen Points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Catorce Puntos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Woodrow Wilson's 1918 peace plan emphasizing self-determination, free trade, open diplomacy, disarmament, and the creation of a League of Nations.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Treaty of Versailles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Tratado de Versalles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1919 peace treaty ending WWI that blamed Germany for the war, imposed massive reparations, stripped Germany of territory, and created the League of Nations.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League of Nations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Liga de Naciones</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An international organization created after WWI to prevent future wars through collective security and diplomacy; the United States never joined due to Senate opposition.</a:t>
            </a:r>
            <a:endParaRPr lang="en-US" sz="1300" dirty="0"/>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US.19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economic, moral, and media factors combined to create support for American expansion overseas.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Economic interests created motivation, moral justifications provided legitimacy, and yellow journalism built popular support—together creating an irresistible push for imperialism</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one factor mattered; the others were irrelevant, despite the fact that multiple sources contradict this view, but the historical evidence paints a more nuanced picture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These factors worked against each other, although this overlooks critical economic and social factors, but contemporary accounts and primary sources suggest otherwise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Public opinion was never important for imperial policy, despite limited evidence supporting this interpretation,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Compare the political, economic, and moral factors that divided interventionists and non-interventionists.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sides agreed on all major points, though this interpretation lacks supporting historical evidence, though this interpretation lacks supporting historical evidence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Interventionists emphasized global power projection, economic opportunity, and civilizing mission while non-interventionists stressed limited government, costs, and self-determination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economic factors created disagreement, but this fails to account for the broader historical context despite the fact that multiple contemporary sources contradict this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Moral arguments were identical on both sides, although historical sources do not support this conclusion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whether the benefits of American imperialism outweighed the costs and controversies it created.</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Benefits clearly outweighed all costs, despite the fact that multiple sources contradict this view, which represents a common misconception about this historical period, although this overlooks critical economic and social factors involved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There were no benefits to American imperialism, but this fails to account for the broader historical context and does not reflect the scholarly consensus on this topic, which contradicts the primary source evidence from this era</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 gained strategic bases, markets, and global influence, but faced costly conflicts like the Philippine Insurrection, contradicted democratic ideals, and created lasting resentment—a complex legacy with both gains and significant moral and practical costs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Imperialism had no lasting consequences, which does not align with the documented historical record, though this interpretation lacks supporting historical evidence, which represents a common misconception about this historical period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the effectiveness of these three diplomatic approaches in advancing American interests.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All three approaches were equally effective, but this fails to account for the broader historical context, which contradicts the primary source evidence from this era and does not reflect the scholarly consensus on this topic</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None of the approaches achieved any goals, which does not reflect the consensus among historians, although historical sources do not support this conclusion, though this interpretation lacks supporting historical evidence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economic approaches were effective, which does not align with the documented historical record and oversimplifies the complex factors at work during this period, which contradicts the primary source evidence from this era</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Big Stick Diplomacy achieved clear results through credible force, Dollar Diplomacy struggled without military backup, and Moral Diplomacy inspired but sometimes proved unrealistic—each revealed different tools of statecraft with varying effectiveness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whether American neutrality was realistic given the country's economic and cultural ties to the belligerents.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Despite official neutrality, American trade increasingly favored the Allies due to the British blockade, American loans went primarily to Allied nations, and cultural ties to Britain made true neutrality difficult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Neutrality was easily maintained throughout the war, but contemporary accounts suggest a different explanation despite the fact that multiple contemporary sources contradict this, but contemporary accounts and primary sources suggest otherwise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 had no ties to any European nation, which contradicts the primary source evidence from this era, which represents a common misconception about this historical period, although this overlooks critical economic and social factors involved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Economic factors were irrelevant to neutrality, though this interpretation lacks supporting historical evidence, although historical sources do not support this conclusion despite the fact that multiple contemporary sources contradict this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the relative importance of economic interests versus idealistic goals in America's decision for war.</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economic factors mattered, but this fails to account for the broader historical context when examined alongside the available primary and secondary sources and does not reflect the scholarly consensus on this topic</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factors were important: economic ties to the Allies and threatened trade provided practical motivation, while democratic ideals gave moral justification—neither alone fully explains American entry</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Only idealism drove the decision, which contradicts the primary source evidence from this era and fails to account for key developments in the broader context and does not reflect the scholarly consensus on this topic</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Neither economic nor idealistic factors played any role, although this view has been largely discredited by scholars when examined alongside the available primary and secondary sources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technological innovations and individual heroism both shaped the American experience in WWI.</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Technology was irrelevant to the American experience, despite limited evidence supporting this interpretation, but contemporary accounts and primary sources suggest otherwise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Individual heroism was unimportant in modern war, which does not reflect the consensus among historians when examined alongside the available primary and secondary sources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New weapons created the brutal conditions Americans faced while individual heroes like York and the Hellfighters showed how Americans adapted and excelled despite the horrors of modern warfare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Americans were not affected by new technologies, despite limited evidence supporting this interpretation,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Analyze how the Schenck v. United States decision balanced national security needs with First Amendment rights.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Court fully protected free speech, which contradicts the primary source evidence from this era when examined alongside the available primary and secondary sources and does not reflect the scholarly consensus on this topic</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Court declared all wartime speech restrictions unconstitutional, which does not reflect the consensus among historians and does not reflect the scholarly consensus on this topic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case had no impact on free speech law, but the historical record tells a more complex story, which represents a common misconception about this historical period and does not reflect the scholarly consensus on this topic</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Court ruled speech creating "clear and present danger" could be restricted, upholding Schenck's conviction and establishing that First Amendment rights are not absolute during wartime emergencies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US.27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Evaluate whether Wilson's idealistic approach to international relations was realistic for the post-war world.</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Wilson's vision of collective security and self-determination was inspiring but faced practical obstacles including Senate opposition, European power politics, and the difficulty of enforcing peace without American commitment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Wilson's approach was completely realistic, although historical sources do not support this conclusion and does not reflect the scholarly consensus on this topic, which contradicts the primary source evidence from this era</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Idealism played no role in Wilson's thinking, which contradicts the primary source evidence from this era, which represents a common misconception about this historical period,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League succeeded despite American absence, although this view has been largely discredited by scholars, which contradicts the primary source evidence from this era,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3 — Imperialism &amp; World War I (US.19–US.27) · Lean Student Deck</dc:subject>
  <dc:creator>TroopToTeacher Technologies LLC</dc:creator>
  <cp:lastModifiedBy>TroopToTeacher Technologies LLC</cp:lastModifiedBy>
  <cp:revision>1</cp:revision>
  <dcterms:created xsi:type="dcterms:W3CDTF">2026-07-01T21:24:49Z</dcterms:created>
  <dcterms:modified xsi:type="dcterms:W3CDTF">2026-07-01T21:24:49Z</dcterms:modified>
</cp:coreProperties>
</file>
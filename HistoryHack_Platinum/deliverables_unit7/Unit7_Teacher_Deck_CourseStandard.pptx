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5-1.jpg" ContentType="image/jpg"/>
  <Override PartName="/ppt/media/image-11-1.jpg" ContentType="image/jpg"/>
  <Override PartName="/ppt/media/image-122-1.jpg" ContentType="image/jpg"/>
  <Override PartName="/ppt/media/image-152-1.jpg" ContentType="image/jpg"/>
  <Override PartName="/ppt/media/image-168-1.jpg" ContentType="image/jpg"/>
  <Override PartName="/ppt/media/image-186-1.jpg" ContentType="image/jpg"/>
  <Override PartName="/ppt/media/image-27-1.jpg" ContentType="image/jpg"/>
  <Override PartName="/ppt/media/image-41-1.jpg" ContentType="image/jpg"/>
  <Override PartName="/ppt/media/image-43-1.jpg" ContentType="image/jpg"/>
  <Override PartName="/ppt/media/image-59-1.jpg" ContentType="image/jpg"/>
  <Override PartName="/ppt/media/image-72-1.jpg" ContentType="image/jpg"/>
  <Override PartName="/ppt/media/image-8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451" r:id="rId202"/>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452" r:id="rId203"/>
    <p:sldId id="464" r:id="rId215"/>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453" r:id="rId204"/>
    <p:sldId id="465" r:id="rId216"/>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454" r:id="rId205"/>
    <p:sldId id="466" r:id="rId217"/>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455" r:id="rId206"/>
    <p:sldId id="467" r:id="rId218"/>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456" r:id="rId207"/>
    <p:sldId id="468" r:id="rId219"/>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457" r:id="rId208"/>
    <p:sldId id="469" r:id="rId22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458" r:id="rId209"/>
    <p:sldId id="470" r:id="rId221"/>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459" r:id="rId210"/>
    <p:sldId id="471" r:id="rId222"/>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60" r:id="rId211"/>
    <p:sldId id="472" r:id="rId223"/>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61" r:id="rId212"/>
    <p:sldId id="473" r:id="rId22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62" r:id="rId213"/>
    <p:sldId id="474" r:id="rId225"/>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63" r:id="rId214"/>
    <p:sldId id="475" r:id="rId226"/>
  </p:sldIdLst>
  <p:notesMasterIdLst>
    <p:notesMasterId r:id="rId19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notesMaster" Target="notesMasters/notesMaster1.xml"/><Relationship Id="rId198" Type="http://schemas.openxmlformats.org/officeDocument/2006/relationships/presProps" Target="presProps.xml"/><Relationship Id="rId199" Type="http://schemas.openxmlformats.org/officeDocument/2006/relationships/viewProps" Target="viewProps.xml"/><Relationship Id="rId200" Type="http://schemas.openxmlformats.org/officeDocument/2006/relationships/theme" Target="theme/theme1.xml"/><Relationship Id="rId201" Type="http://schemas.openxmlformats.org/officeDocument/2006/relationships/tableStyles" Target="tableStyles.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7 TCAP EOC lecture deck. Each standard runs as a full lesson: divider (standard + I Can), hook, direct instruction with a verified primary-source image, key figures, vocabulary, a student activity (paired to a printable worksheet), a TCAP-style check (question slide, then click to the reveal/answer-key slide), and a wrap-up with a teacher answer key in the speaker notes. All images are public-domain, captioned, and linked to the Library of Congress / National Archives.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Bell ringer (5 min). Ways to compete short of direct war students may name: an arms race (nuclear and conventional weapons), economic competition (capitalism vs. communism, aid programs like the Marshall Plan), a propaganda / ideology battle, proxy wars in other countries (Korea, Vietnam), the Space Race, spying and covert operations, and rival military alliances (NATO vs. the Warsaw Pact). Most dangerous: the nuclear arms race and moments like the Cuban Missile Crisis, when the world came closest to nuclear war. Collect lists; revisit on the closing slide after students can answer with evidence — from containment and the Red Scare, through Korea, Cuba, and Vietnam, to the Space Race, détente, and the fall of the Berlin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(US.59). Cold-call or whiteboards, 3-4 min, low stakes. Answers — 1) World War II. As it ended, the wartime allies, the U.S. and the Soviet Union, divided Germany and Eastern Europe at Yalta and Potsdam, and their growing distrust turned them into postwar rivals.  2) How did the Cold War rivalry between the U.S. and the Soviet Union shape American policy, society, and the wider world from the late 1940s through the fall of the Berlin Wall in 1989?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(US.59, DOK 1). 60-90 seconds. Have EVERY student commit (thumbs / whiteboard / choral) before revealing — this secures an early win and surfaces who is shaky before new content. Answer: The United States and the Soviet Union. Key term to listen for: Cold War.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(US.59).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(US.59). Put two words on the board - CAPITALISM and COMMUNISM - and ask what happens when two giants each think the other's system is dangerous.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(North Atlantic Treaty Organization) WHEN? (April 4, 1949) WHY does that matter? (Consider the author's purpose and audience before reading the words.) Only then move to the ANALYZE question. Suggested answer: See teacher key.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(US.59). Skill modeled: Compare two systems. Model the worked example aloud using the THINK ALOUD as your script, then release students to the activity ("With a partner, name the single difference you think mattered most, citing a line.").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US.59. Pair with the printable: cornell-notes/unit-7/us59-us-soviet-competition.pdf. Timing: 15. Deliverable: Completed four-arena chart (U.S. vs. USSR + one example each) AND a one-sentence evidence-based claim about the most dangerous arena.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(US.59, DOK 2). Have students commit to an answer (whiteboards, hand signal, or turn-and-talk) BEFORE advancing. Correct answer: A. The next slide reveals it. Why: NATO (1949) aligned Western democracies under U.S. leadership; the Warsaw Pact (1955) formalized Soviet bloc military cooperation, institutionalizing the ideological divide across Europe.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(US.59). Correct: A. NATO (1949) aligned Western democracies under U.S. leadership; the Warsaw Pact (1955) formalized Soviet bloc military cooperation, institutionalizing the ideological divide across Europe.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(US.59, DOK 2). Prompt: Explain how the U.S. and the Soviet Union competed during the Cold War. Identify at least two different areas of competition.  Model answer: The U.S. and USSR competed without direct war across several fronts. They ran an arms race, building ever-larger nuclear and conventional arsenals. They competed economically, with capitalism against communism, each claiming its system produced more prosperity and freedom. They clashed ideologically, over democracy versus one-party communist rule. And they built rival military alliances, NATO in the West and the Warsaw Pact in the East, dividing much of the world into two armed camps.  RETEACH TRIGGER — if a student misses this exit ticket: (1) &lt;50% of class miss → spiral it into the next standard’s Quick Review opener (see the US.59 review prompts). (2) Individual/small group → reteach with the "Arms Race Rivalry" direct-instruction slide + re-run the SOURCE IT FIRST routine on the US.59 primary source, then assign the paired printable: cornell-notes/unit-7/us59-us-soviet-competition.pdf. (3) Re-assess with the US.59 check-for-understanding reveal slide as a do-now the next day. Reteach anchors (this standard’s sections): Arms Race Rivalry; Economic Competition; Ideological Differences; Military Alliances. I Can objective: I can describe the competition between the U.S. and the Soviet Union in arms development, economic dominance, and ideology, including the roles of NATO, SEATO, and the Warsaw Pact.  HONORS / EXTENSION (DOK 3, for early finishers or advanced learners): Evaluate: Was the Cold War primarily a military rivalry, an economic one, or a battle of ideas? Argue your position with at least two pieces of evidence.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(US.60). Cold-call or whiteboards, 3-4 min, low stakes. Answers — 1) The United States and the Soviet Union competed through the arms race, economic systems (capitalism vs. communism), rival ideologies, and opposing military alliances such as NATO and the Warsaw Pact.  2) NATO, the North Atlantic Treaty Organization, a mutual-defense alliance in which an attack on one member is treated as an attack on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(US.60, DOK 1). 60-90 seconds. Have EVERY student commit (thumbs / whiteboard / choral) before revealing — this secures an early win and surfaces who is shaky before new content. Answer: Containment. Key term to listen for: Containment.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(US.60).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(US.60). Ask: if a fire is spreading house to house, how do you stop it? Then meet the U.S. strategy of 'containment.'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Harry S. Truman) WHEN? (March 12, 1947) WHY does that matter? (Consider the author's purpose and audience before reading the words.) Only then move to the ANALYZE question. Suggested answer: See teacher key.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(US.60). Skill modeled: Trace a policy in action. Model the worked example aloud using the THINK ALOUD as your script, then release students to the activity ("Pick the boldest containment move and defend your choice with evidence.").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US.60. Pair with the printable: cornell-notes/unit-7/us60-containment-early-cold-war.pdf. Timing: 15. Deliverable: Completed four-step timeline (purpose + how it contained communism each) AND a one-sentence evidence-based claim about the nature of containment.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(US.60, DOK 2). Have students commit to an answer (whiteboards, hand signal, or turn-and-talk) BEFORE advancing. Correct answer: B. The next slide reveals it. Why: The Marshall Plan used economic aid to rebuild Western European economies, betting that prosperous, stable democracies would resist communist political movements — an economic strategy to contain communism rather than military support. Choice A is wrong because it describes marshall Plan provided military equipment to threatened nations, while the Truman Doctrine offered only financial and advisory support, not marshall Plan used economic aid to rebuild Western European economies, betting that prosperous, stable democracies would resist communist political movements — an economic strategy to contain communism rather than military support. Containment committed the United States to long-term global leadership through aid, alliances, and military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(US.60). Correct: B. The Marshall Plan used economic aid to rebuild Western European economies, betting that prosperous, stable democracies would resist communist political movements — an economic strategy to contain communism rather than military support. Choice A is wrong because it describes marshall Plan provided military equipment to threatened nations, while the Truman Doctrine offered only financial and advisory support, not marshall Plan used economic aid to rebuild Western European economies, betting that prosperous, stable democracies would resist communist political movements — an economic strategy to contain communism rather than military support. Containment committed the United States to long-term global leadership through aid, alliances, and military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(US.60, DOK 2). Prompt: Explain the policy of containment and describe at least two actions the U.S. took to carry it out.  Model answer: Containment was the U.S. strategy of stopping communism from spreading beyond where it already existed. The Truman Doctrine (1947) pledged aid to Greece and Turkey to resist communist pressure. The Marshall Plan sent billions to rebuild Western Europe so struggling nations would not turn to communism. The Berlin Airlift (1948-49) flew food and fuel into West Berlin after the Soviets blockaded it. Together these actions defined how the early Cold War would be fought, with money and pressure rather than open war.  RETEACH TRIGGER — if a student misses this exit ticket: (1) &lt;50% of class miss → spiral it into the next standard’s Quick Review opener (see the US.60 review prompts). (2) Individual/small group → reteach with the "The Long Telegram and Containment" direct-instruction slide + re-run the SOURCE IT FIRST routine on the US.60 primary source, then assign the paired printable: cornell-notes/unit-7/us60-containment-early-cold-war.pdf. (3) Re-assess with the US.60 check-for-understanding reveal slide as a do-now the next day. Reteach anchors (this standard’s sections): The Long Telegram and Containment; The Truman Doctrine; The Marshall Plan; The Berlin Airlift. I Can objective: I can explain the Cold War policies of containment and the Truman Doctrine, Marshall Plan, and Berlin Airlift.  HONORS / EXTENSION (DOK 3, for early finishers or advanced learners): Evaluate: Was containment a wise, restrained strategy or one that overcommitted the U.S. around the globe? Argue with at least two pieces of evidence.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(US.61). Cold-call or whiteboards, 3-4 min, low stakes. Answers — 1) The U.S. strategy of stopping the spread of communism beyond where it already existed, rather than trying to roll it back directly.  2) The Truman Doctrine (aid to Greece and Turkey), the Marshall Plan (rebuilding Western Europe), or the Berlin Airlift (supplying blockaded West Berlin).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(US.61, DOK 1). 60-90 seconds. Have EVERY student commit (thumbs / whiteboard / choral) before revealing — this secures an early win and surfaces who is shaky before new content. Answer: McCarthyism. Key term to listen for: McCarthyism.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(US.61).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(US.61). Write 'Are you now, or have you ever been...' on the board and ask what it feels like to be accused with no proof.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(Senator Joseph McCarthy) WHEN? (February 9, 1950) WHY does that matter? (Consider the author's purpose and audience before reading the words.) Only then move to the ANALYZE question. Suggested answer: See teacher key.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(US.61). Skill modeled: Weigh evidence and fear. Model the worked example aloud using the THINK ALOUD as your script, then release students to the activity ("Take a position on whether the Scare was justified, citing both.").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US.61. Pair with the printable: cornell-notes/unit-7/us61-red-scare-mccarthyism.pdf. Timing: 15. Deliverable: Completed four-part organizer (causes / McCarthyism / blacklisting / Rosenbergs, one detail each) AND a one-sentence evidence-based claim about fear and freedom.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(US.61, DOK 3). Have students commit to an answer (whiteboards, hand signal, or turn-and-talk) BEFORE advancing. Correct answer: B. The next slide reveals it. Why: McCarthyism was enabled by institutional failures: the House Un-American Activities Committee (HUAC) had been conducting hearings and blacklists before McCarthy emerged; the FBI under Hoover actively supplied McCarthy with unverified information; and Congress, the press, and the legal system failed to challenge him effectively for years. This institutional complicity—not just McCarthy's personal charisma—explains the scope and duration of the Red Scare. McCarthy's eventual censure in 1954 illustrates that when institutions finally acted, the movement collapsed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(US.61). Correct: B. McCarthyism was enabled by institutional failures: the House Un-American Activities Committee (HUAC) had been conducting hearings and blacklists before McCarthy emerged; the FBI under Hoover actively supplied McCarthy with unverified information; and Congress, the press, and the legal system failed to challenge him effectively for years. This institutional complicity—not just McCarthy's personal charisma—explains the scope and duration of the Red Scare. McCarthy's eventual censure in 1954 illustrates that when institutions finally acted, the movement collapsed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(US.61, DOK 3). Prompt: Analyze the causes and effects of the Second Red Scare. What factors fueled it, and what were its consequences for Americans?  Model answer: The Second Red Scare grew from real events, the Soviet atomic bomb, the communist takeover of China, spy cases like the Rosenbergs, and from politicians who exploited fear. McCarthyism, named for Senator Joseph McCarthy, used unproven accusations to charge officials, artists, and ordinary people with disloyalty. The effects were severe: blacklists ended careers, congressional hearings ruined reputations, and fear of accusation silenced dissent. The era showed how genuine security concerns can slide into a climate that tramples civil liberties.  RETEACH TRIGGER — if a student misses this exit ticket: (1) &lt;50% of class miss → spiral it into the next standard’s Quick Review opener (see the US.61 review prompts). (2) Individual/small group → reteach with the "Factors Contributing to the Second Red Scare" direct-instruction slide + re-run the SOURCE IT FIRST routine on the US.61 primary source, then assign the paired printable: cornell-notes/unit-7/us61-red-scare-mccarthyism.pdf. (3) Re-assess with the US.61 check-for-understanding reveal slide as a do-now the next day. Reteach anchors (this standard’s sections): Factors Contributing to the Second Red Scare; McCarthyism; Blacklisting and Its Effects; The Rosenberg Case. I Can objective: I can analyze the causes and effects of the Second Red Scare, including Americans' attitudes toward McCarthyism, blacklisting, and the Rosenberg case.  HONORS / EXTENSION (DOK 3, for early finishers or advanced learners): Evaluate: Were the fears behind the Second Red Scare justified, or was it a dangerous overreaction? Defend your claim with evidence.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(US.62). Cold-call or whiteboards, 3-4 min, low stakes. Answers — 1) The widespread fear of communist infiltration in the U.S. in the late 1940s and 1950s, marked by loyalty investigations, accusations, and blacklisting.  2) The practice of making public accusations of disloyalty or communism without solid evidence, named for Senator Joseph McCarthy.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(US.62, DOK 1). 60-90 seconds. Have EVERY student commit (thumbs / whiteboard / choral) before revealing — this secures an early win and surfaces who is shaky before new content. Answer: The 38th parallel. Key term to listen for: 38th Parallel.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(US.62).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(US.62). Show a divided line on a map at the 38th parallel and ask what happens when one side crosses it.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Harry S. Truman) WHEN? (April 11, 1951) WHY does that matter? (Consider the author's purpose and audience before reading the words.) Only then move to the ANALYZE question. Suggested answer: See teacher key.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(US.62). Skill modeled: Explain a limited war. Model the worked example aloud using the THINK ALOUD as your script, then release students to the activity ("Explain whether Truman or MacArthur had the stronger case, citing the text.").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US.62. Pair with the printable: cornell-notes/unit-7/us62-korean-war.pdf. Timing: 15. Deliverable: Completed four-element chart (one-sentence significance each) AND a one-sentence evidence-based claim about the war's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(US.62, DOK 3). Have students commit to an answer (whiteboards, hand signal, or turn-and-talk) BEFORE advancing. Correct answer: D. The next slide reveals it. Why: The Inchon landing reversed the military situation in Korea dramatically: UN forces had been pushed into the Pusan Perimeter, and the landing cut North Korean supply lines and forced a rapid retreat northward, liberating Seoul. Its broader strategic significance was that it reinforced MacArthur's reputation and emboldened the decision to push past the 38th parallel toward the Yalu River—a decision that ultimately brought China into the war. In this sense, Inchon's very success created the conditions for the war's most dangerous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(US.62). Correct: D. The Inchon landing reversed the military situation in Korea dramatically: UN forces had been pushed into the Pusan Perimeter, and the landing cut North Korean supply lines and forced a rapid retreat northward, liberating Seoul. Its broader strategic significance was that it reinforced MacArthur's reputation and emboldened the decision to push past the 38th parallel toward the Yalu River—a decision that ultimately brought China into the war. In this sense, Inchon's very success created the conditions for the war's most dangerous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(US.62, DOK 3). Prompt: Analyze how the Korean War reflected the Cold War policy of containment, including its causes, course, and outcome.  Model answer: The Korean War put containment into action. When communist North Korea invaded the South in 1950, the U.S., citing the Domino Theory, led a UN force to stop the spread of communism. General MacArthur's daring Inchon landing pushed the North back, but China's entry drove the war into a bloody stalemate near the 38th parallel. The 1953 armistice left Korea divided almost exactly where the war began. It showed the U.S. willingness to fight limited 'hot' wars to contain communism, without seeking total victory.  RETEACH TRIGGER — if a student misses this exit ticket: (1) &lt;50% of class miss → spiral it into the next standard’s Quick Review opener (see the US.62 review prompts). (2) Individual/small group → reteach with the "The Domino Theory and Its Application" direct-instruction slide + re-run the SOURCE IT FIRST routine on the US.62 primary source, then assign the paired printable: cornell-notes/unit-7/us62-korean-war.pdf. (3) Re-assess with the US.62 check-for-understanding reveal slide as a do-now the next day. Reteach anchors (this standard’s sections): The Domino Theory and Its Application; Chinese Entry and Its Impact; The 38th Parallel; The Battle of Inchon. I Can objective: I can describe the causes, course, and consequences of the Korean War, including the Domino Theory, 38th parallel, Battle of Inchon, entry of communist China, and final divisions of the Koreas.  HONORS / EXTENSION (DOK 3, for early finishers or advanced learners): Evaluate: Was the Korean War a success or a failure for U.S. containment policy? Argue your position with evidence.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(US.63). Cold-call or whiteboards, 3-4 min, low stakes. Answers — 1) The Cold War belief that if one nation fell to communism, neighboring nations would fall one after another like a row of dominoes.  2) In 1953 with an armistice that left Korea divided near the 38th parallel, roughly where the war had begun, with no formal peace treaty.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(US.63, DOK 1). 60-90 seconds. Have EVERY student commit (thumbs / whiteboard / choral) before revealing — this secures an early win and surfaces who is shaky before new content. Answer: Dwight D. Eisenhower. Key term to listen for: Brinkmanship.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(US.63).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(US.63). Ask: how do you fight a superpower without going broke or going to war? Then meet Eisenhower's 'New Look.'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Dwight D. Eisenhower) WHEN? (January 12, 1954) WHY does that matter? (Consider the author's purpose and audience before reading the words.) Only then move to the ANALYZE question. Suggested answer: See teacher key.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(US.63). Skill modeled: Analyze a strategy. Model the worked example aloud using the THINK ALOUD as your script, then release students to the activity ("Explain one risk of relying on nuclear threats, citing the text.").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US.63. Pair with the printable: cornell-notes/unit-7/us63-eisenhower-cold-war-policies.pdf. Timing: 15. Deliverable: Completed two-approach chart (2+ features + one event each) AND a one-sentence evidence-based claim about Eisenhower's balancing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(US.63, DOK 3). Have students commit to an answer (whiteboards, hand signal, or turn-and-talk) BEFORE advancing. Correct answer: C. The next slide reveals it. Why: Eisenhower's warning was ironic because his own 'New Look' policy, which emphasized nuclear weapons and airpower over conventional forces, significantly expanded the defense industry and the influence of weapons contractors. By choosing massive retaliation over conventional defense, Eisenhower actually enlarged the aerospace and nuclear weapons sectors of the defense industry. His farewell warning acknowledged the systemic danger he had partly created—the warning reflected experience-based wisdom rather than hypocrisy, but it illustrates the tension between governing choices and prescient self-criticism.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(US.63). Correct: C. Eisenhower's warning was ironic because his own 'New Look' policy, which emphasized nuclear weapons and airpower over conventional forces, significantly expanded the defense industry and the influence of weapons contractors. By choosing massive retaliation over conventional defense, Eisenhower actually enlarged the aerospace and nuclear weapons sectors of the defense industry. His farewell warning acknowledged the systemic danger he had partly created—the warning reflected experience-based wisdom rather than hypocrisy, but it illustrates the tension between governing choices and prescient self-criticism.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(US.63, DOK 3). Prompt: Analyze Eisenhower's Cold War policies. How did brinkmanship and 'peaceful coexistence' shape his approach, and what tensions existed between them?  Model answer: Eisenhower relied on brinkmanship, threatening 'massive retaliation' with nuclear weapons to deter Soviet aggression cheaply, backed by covert CIA operations. At the same time, he explored 'peaceful coexistence,' cautious diplomacy and summit meetings with Soviet leaders to ease tensions. The two approaches were in tension: nuclear threats raised the stakes of any conflict, while coexistence sought stability. Eisenhower himself warned in his farewell address against the growing 'military-industrial complex,' revealing his unease with the very arms buildup his policies required.  RETEACH TRIGGER — if a student misses this exit ticket: (1) &lt;50% of class miss → spiral it into the next standard’s Quick Review opener (see the US.63 review prompts). (2) Individual/small group → reteach with the "Brinkmanship" direct-instruction slide + re-run the SOURCE IT FIRST routine on the US.63 primary source, then assign the paired printable: cornell-notes/unit-7/us63-eisenhower-cold-war-policies.pdf. (3) Re-assess with the US.63 check-for-understanding reveal slide as a do-now the next day. Reteach anchors (this standard’s sections): Brinkmanship; Peaceful Coexistence; Comparing Approaches. I Can objective: I can explain Cold War policies during President Eisenhower's administration, including brinkmanship and "peaceful coexistence."  HONORS / EXTENSION (DOK 3, for early finishers or advanced learners): Evaluate: Did Eisenhower's mix of brinkmanship and coexistence make the world safer or more dangerous? Defend your claim with evidence.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(US.64). Cold-call or whiteboards, 3-4 min, low stakes. Answers — 1) The strategy of threatening to use overwhelming force, including nuclear 'massive retaliation,' to push an enemy to back down without actually going to war.  2) He warned against the growing power of the 'military-industrial complex,' the close ties between the military and defense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(US.64, DOK 1). 60-90 seconds. Have EVERY student commit (thumbs / whiteboard / choral) before revealing — this secures an early win and surfaces who is shaky before new content. Answer: 'Duck and cover.' Key term to listen for: Fallout Shelter.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(US.64).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(US.64). Ask students to picture practicing to survive a bomb at school, then reveal the 1950s 'duck and cover' drills.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(Federal Civil Defense Administration) WHEN? (1951) WHY does that matter? (Consider the author's purpose and audience before reading the words.) Only then move to the ANALYZE question. Suggested answer: See teacher key.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(US.64). Skill modeled: Connect fear and society. Model the worked example aloud using the THINK ALOUD as your script, then release students to the activity ("Explain how both could exist at once, citing the text.").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US.64. Pair with the printable: cornell-notes/unit-7/us64-nuclear-fears-civil-defense.pdf. Timing: 15. Deliverable: Completed four-part organizer (fears / stockpiling debate / testing impact / Sputnik, one detail each) AND a one-sentence evidence-based claim about nuclear fear in daily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(US.64, DOK 2). Have students commit to an answer (whiteboards, hand signal, or turn-and-talk) BEFORE advancing. Correct answer: C. The next slide reveals it. Why: civil defense programs reflect Cold War anxieties because "Duck and cover" drills and fallout shelters showed pervasive fear of nuclear attack. Choice D is wrong because it describes teach children to protect themselves from nuclear blast, though with limited effect, not "Duck and cover" drills and fallout shelters showed pervasive fear of nuclear attack. These developments defined the Cold War as a global struggle over power, ideology, and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(US.64). Correct: C. civil defense programs reflect Cold War anxieties because "Duck and cover" drills and fallout shelters showed pervasive fear of nuclear attack. Choice D is wrong because it describes teach children to protect themselves from nuclear blast, though with limited effect, not "Duck and cover" drills and fallout shelters showed pervasive fear of nuclear attack. These developments defined the Cold War as a global struggle over power, ideology, and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(US.64, DOK 2). Prompt: Describe how the threat of nuclear war affected life in Cold War America. Give at least two specific examples.  Model answer: The nuclear threat reshaped everyday American life. Schoolchildren practiced 'duck and cover' drills, and families built backyard fallout shelters stocked with supplies. Public debate raged over whether stockpiling ever-more weapons made the nation safer or more endangered. Atomic testing spread fear about radioactive fallout. When the Soviets launched Sputnik in 1957, Americans feared falling behind in science and missiles, prompting new investment in education and defense. Nuclear anxiety became a constant backdrop to American culture.  RETEACH TRIGGER — if a student misses this exit ticket: (1) &lt;50% of class miss → spiral it into the next standard’s Quick Review opener (see the US.64 review prompts). (2) Individual/small group → reteach with the "American Fears of Nuclear Holocaust" direct-instruction slide + re-run the SOURCE IT FIRST routine on the US.64 primary source, then assign the paired printable: cornell-notes/unit-7/us64-nuclear-fears-civil-defense.pdf. (3) Re-assess with the US.64 check-for-understanding reveal slide as a do-now the next day. Reteach anchors (this standard’s sections): American Fears of Nuclear Holocaust; Debates Over Nuclear Stockpiling; Atomic Testing Impact; Sputnik's Significance. I Can objective: I can explain the fears of Americans surrounding nuclear holocaust and debates over stockpiling and the use of nuclear weapons, including atomic testing, civil defense, fallout shelters, Sputnik, and mutual assured destruction.  HONORS / EXTENSION (DOK 3, for early finishers or advanced learners): Evaluate: Did Cold War civil-defense measures genuinely protect Americans, or mainly manage their fear? Argue with evidence.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(US.65). Cold-call or whiteboards, 3-4 min, low stakes. Answers — 1) A nuclear-attack drill schoolchildren practiced; it reflected Americans' constant fear of nuclear war during the Cold War.  2) It showed the Soviets could launch objects, and possibly missiles, into space, suggesting they might be ahead of the U.S. in science and weapons.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(US.65, DOK 1). 60-90 seconds. Have EVERY student commit (thumbs / whiteboard / choral) before revealing — this secures an early win and surfaces who is shaky before new content. Answer: The Cuban Missile Crisis. Key term to listen for: Cuban Missile Crisis.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(US.65).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(US.65). Pose thirteen days when the world could have ended, then reveal: Soviet missiles in Cuba, 1962.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John F. Kennedy) WHEN? (October 22, 1962) WHY does that matter? (Consider the author's purpose and audience before reading the words.) Only then move to the ANALYZE question. Suggested answer: See teacher key. Practice skill: Argumentation.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(US.65). Skill modeled: Build an argument. Model the worked example aloud using the THINK ALOUD as your script, then release students to the activity ("State whether his choice was wise and support it with a quote.").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US.65. Pair with the printable: cornell-notes/unit-7/us65-us-cuba-relations.pdf. Timing: 15. Deliverable: Completed four-moment chart (one-sentence significance each) AND a one-sentence evidence-based claim about how nuclear war was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(US.65, DOK 3). Have students commit to an answer (whiteboards, hand signal, or turn-and-talk) BEFORE advancing. Correct answer: C. The next slide reveals it. Why: The Bay of Pigs failure had multiple compounding factors: Kennedy canceled the planned air strikes that would have neutralized Castro's air force, leaving the invasion force without air cover; the plan assumed a popular uprising that never materialized because Cubans did not rise against Castro; and CIA planners had not adequately communicated the operation's dependence on those air strikes to Kennedy. The most strategically damaging combination was the cancellation of air support (operational failure) combined with the false assumption of internal uprising (intelligence failure)—without either, the invasion was doomed. This also signaled to Khrushchev that Kennedy might be indecisive, contributing to the Cuban Missile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(US.65). Correct: C. The Bay of Pigs failure had multiple compounding factors: Kennedy canceled the planned air strikes that would have neutralized Castro's air force, leaving the invasion force without air cover; the plan assumed a popular uprising that never materialized because Cubans did not rise against Castro; and CIA planners had not adequately communicated the operation's dependence on those air strikes to Kennedy. The most strategically damaging combination was the cancellation of air support (operational failure) combined with the false assumption of internal uprising (intelligence failure)—without either, the invasion was doomed. This also signaled to Khrushchev that Kennedy might be indecisive, contributing to the Cuban Missile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(US.65, DOK 3). Prompt: Analyze the Cuban Missile Crisis. What caused it, how was it resolved, and why is it considered so significant?  Model answer: The crisis began when U.S. spy planes discovered Soviet nuclear missiles being installed in Cuba, ninety miles from Florida, following the failed Bay of Pigs invasion. For thirteen tense days in October 1962, President Kennedy imposed a naval 'quarantine' and demanded the missiles' removal while the world braced for nuclear war. It was resolved when the Soviets withdrew the missiles in exchange for a U.S. pledge not to invade Cuba and a secret deal to remove U.S. missiles from Turkey. It is significant as the closest the world came to nuclear war and as a lesson that pushed both sides toward arms control.  RETEACH TRIGGER — if a student misses this exit ticket: (1) &lt;50% of class miss → spiral it into the next standard’s Quick Review opener (see the US.65 review prompts). (2) Individual/small group → reteach with the "Historical Background" direct-instruction slide + re-run the SOURCE IT FIRST routine on the US.65 primary source, then assign the paired printable: cornell-notes/unit-7/us65-us-cuba-relations.pdf. (3) Re-assess with the US.65 check-for-understanding reveal slide as a do-now the next day. Reteach anchors (this standard’s sections): Historical Background; The Bay of Pigs Invasion; The Cuban Missile Crisis; Crisis Resolution and Aftermath. I Can objective: I can describe the relationship between Cuba and the U.S., including the Bay of Pigs Invasion and Cuban Missile Crisis.  HONORS / EXTENSION (DOK 3, for early finishers or advanced learners): Evaluate: Whose handling of the Cuban Missile Crisis, Kennedy's or Khrushchev's, better served the world? Defend your claim with evidence.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(US.66). Cold-call or whiteboards, 3-4 min, low stakes. Answers — 1) The thirteen-day 1962 standoff after the U.S. discovered Soviet nuclear missiles in Cuba, the closest the world came to nuclear war.  2) The Soviets removed the missiles in exchange for a U.S. pledge not to invade Cuba and a secret agreement to remove U.S. missiles from Turkey.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(US.66, DOK 1). 60-90 seconds. Have EVERY student commit (thumbs / whiteboard / choral) before revealing — this secures an early win and surfaces who is shaky before new content. Answer: The Vietnam War. Key term to listen for: Vietnam War.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(US.66).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(US.66). Ask why a distant, small country could pull in the world's strongest military - then meet Vietnam.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(U.S. Congress) WHEN? (August 7, 1964) WHY does that matter? (Consider the author's purpose and audience before reading the words.) Only then move to the ANALYZE question. Suggested answer: See teacher key.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(US.66). Skill modeled: Sort cause and consequence. Model the worked example aloud using the THINK ALOUD as your script, then release students to the activity ("Explain which consequence you think mattered most, citing the text.").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US.66. Pair with the printable: cornell-notes/unit-7/us66-vietnam-war-causes-course-consequences.pdf. Timing: 15. Deliverable: Completed five-step chart (one sentence each) AND a one-sentence evidence-based claim about the war's greatest turning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(US.66, DOK 2). Have students commit to an answer (whiteboards, hand signal, or turn-and-talk) BEFORE advancing. Correct answer: D. The next slide reveals it. Why: Congress's desire to limit presidential authority to commit U.S. forces to combat without congressional approval. Choice A is wrong because it describes failure of the Gulf of Tonkin Resolution to prevent escalation, not congress's desire to limit presidential authority to commit U.S. forces to combat without congressional approval. The Vietnam era deepened the credibility gap and made Americans more skeptical of presidential war-making.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(US.66). Correct: D. Congress's desire to limit presidential authority to commit U.S. forces to combat without congressional approval. Choice A is wrong because it describes failure of the Gulf of Tonkin Resolution to prevent escalation, not congress's desire to limit presidential authority to commit U.S. forces to combat without congressional approval. The Vietnam era deepened the credibility gap and made Americans more skeptical of presidential war-making.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(US.66, DOK 2). Prompt: Explain the causes, course, and consequences of the Vietnam War. Give at least one example from each.  Model answer: The war's causes lay in containment and the Domino Theory: the U.S. sought to stop communism in Southeast Asia after the Geneva Accords divided Vietnam. The course escalated after the Gulf of Tonkin Resolution (1964), leading to massive U.S. troop deployments; the Tet Offensive (1968) shocked Americans even though it was a military setback for the communists. The consequences were heavy, more than 58,000 American deaths, deep national division, and eventual U.S. withdrawal followed by South Vietnam's fall in 1975.  RETEACH TRIGGER — if a student misses this exit ticket: (1) &lt;50% of class miss → spiral it into the next standard’s Quick Review opener (see the US.66 review prompts). (2) Individual/small group → reteach with the "The Geneva Accords" direct-instruction slide + re-run the SOURCE IT FIRST routine on the US.66 primary source, then assign the paired printable: cornell-notes/unit-7/us66-vietnam-war-causes-course-consequences.pdf. (3) Re-assess with the US.66 check-for-understanding reveal slide as a do-now the next day. Reteach anchors (this standard’s sections): The Geneva Accords; Ho Chi Minh's Role; The Gulf of Tonkin Resolution; The Tet Offensive; Chemical Weapons and Vietnamization. I Can objective: I can describe the causes, course, and consequences of the Vietnam War, including the Geneva Accords, Gulf of Tonkin Resolution, Tet Offensive, Ho Chi Minh, bombing of Cambodia, napalm and Agent Orange, and Vietnamization.  HONORS / EXTENSION (DOK 3, for early finishers or advanced learners): Evaluate: Was the Vietnam War a justified application of containment or a costly mistake? Argue with at least two pieces of evidence.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(US.67). Cold-call or whiteboards, 3-4 min, low stakes. Answers — 1) A 1964 congressional resolution that gave President Johnson broad authority to escalate U.S. military involvement in Vietnam.  2) Although a military defeat for the communists, its scale shocked Americans, undermined official claims that the war was nearly won, and turned public opinion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(US.67, DOK 1). 60-90 seconds. Have EVERY student commit (thumbs / whiteboard / choral) before revealing — this secures an early win and surfaces who is shaky before new content. Answer: Kennedy, Johnson, or Nixon. Key term to listen for: Vietnamization.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(US.67).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(US.67). Show three presidents and ask: same war, but did they all fight it the same way? Hold the tension.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Richard Nixon) WHEN? (November 3, 1969) WHY does that matter? (Consider the author's purpose and audience before reading the words.) Only then move to the ANALYZE question. Suggested answer: See teacher key.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(US.67). Skill modeled: Compare leaders' choices. Model the worked example aloud using the THINK ALOUD as your script, then release students to the activity ("Argue which president's Vietnam policy was most defensible, with evidence.").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US.67. Pair with the printable: cornell-notes/unit-7/us67-presidential-vietnam-policies.pdf. Timing: 15. Deliverable: Completed three-president chart (policy + one effect each) AND a one-sentence evidence-based claim about the most consequential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(US.67, DOK 2). Have students commit to an answer (whiteboards, hand signal, or turn-and-talk) BEFORE advancing. Correct answer: A. The next slide reveals it. Why: Vietnamization transferred combat responsibility to ARVN forces and allowed gradual U.S. troop withdrawal, a stark contrast to Johnson's escalation to over 500,000 troops by 1968.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(US.67). Correct: A. Vietnamization transferred combat responsibility to ARVN forces and allowed gradual U.S. troop withdrawal, a stark contrast to Johnson's escalation to over 500,000 troops by 1968.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(US.67, DOK 2). Prompt: Compare how Kennedy, Johnson, and Nixon each approached the Vietnam War, and assess the effectiveness of one of their strategies.  Model answer: Each president tried a different approach. Kennedy used 'flexible response,' sending advisers and special forces to support South Vietnam. Johnson dramatically escalated, committing hundreds of thousands of ground troops after the Gulf of Tonkin Resolution. Nixon shifted to 'Vietnamization,' withdrawing U.S. troops while turning the fighting over to South Vietnamese forces, alongside expanded bombing and secret operations. None achieved lasting victory: Vietnamization allowed U.S. withdrawal but could not save South Vietnam, which fell to the North in 1975.  RETEACH TRIGGER — if a student misses this exit ticket: (1) &lt;50% of class miss → spiral it into the next standard’s Quick Review opener (see the US.67 review prompts). (2) Individual/small group → reteach with the "Kennedy's "Flexible Response"" direct-instruction slide + re-run the SOURCE IT FIRST routine on the US.67 primary source, then assign the paired printable: cornell-notes/unit-7/us67-presidential-vietnam-policies.pdf. (3) Re-assess with the US.67 check-for-understanding reveal slide as a do-now the next day. Reteach anchors (this standard’s sections): Kennedy's "Flexible Response"; Johnson's Escalation; Nixon's Vietnamization; Effectiveness Analysis. I Can objective: I can compare the policies and practices of Presidents Kennedy, Johnson, and Nixon and their impacts on the continuation of the Vietnam War.  HONORS / EXTENSION (DOK 3, for early finishers or advanced learners): Evaluate: Which president's Vietnam strategy was the most, or least, effective, and why? Defend your claim with evidence.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(US.68). Cold-call or whiteboards, 3-4 min, low stakes. Answers — 1) Kennedy ('flexible response' and advisers), Johnson (large-scale escalation of ground troops), and Nixon ('Vietnamization,' shifting combat to South Vietnamese forces).  2) Gradually withdrawing U.S. troops while training and equipping South Vietnamese forces to take over the fighting.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(US.68, DOK 1). 60-90 seconds. Have EVERY student commit (thumbs / whiteboard / choral) before revealing — this secures an early win and surfaces who is shaky before new content. Answer: The anti-war movement. Key term to listen for: Anti-War Movement.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(US.68).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(US.68). Play a clip of protest and rock 'n' roll in your mind and ask what happens when a generation pushes back.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(Students for a Democratic Society) WHEN? (1965) WHY does that matter? (Consider the author's purpose and audience before reading the words.) Only then move to the ANALYZE question. Suggested answer: See teacher key.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(US.68). Skill modeled: Analyze home-front change. Model the worked example aloud using the THINK ALOUD as your script, then release students to the activity ("Explain how the two were connected, citing the text.").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US.68. Pair with the printable: cornell-notes/unit-7/us68-vietnam-home-front-impact.pdf. Timing: 15. Deliverable: Completed three-part organizer (anti-war movement / draft lottery / television, 2+ each) AND a one-sentence evidence-based claim about the home front's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(US.68, DOK 2). Have students commit to an answer (whiteboards, hand signal, or turn-and-talk) BEFORE advancing. Correct answer: B. The next slide reveals it. Why: Vietnam became known as 'the living room war.' Tet Offensive footage in 1968 undercut official optimism, and media coverage of casualties, protests, and atrocities directly contributed to the antiwar movement's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(US.68). Correct: B. Vietnam became known as 'the living room war.' Tet Offensive footage in 1968 undercut official optimism, and media coverage of casualties, protests, and atrocities directly contributed to the antiwar movement's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(US.68, DOK 2). Prompt: Explain how the Vietnam War affected the American home front. Address the anti-war movement, the draft, and the media.  Model answer: The war deeply divided the home front. The anti-war movement, led largely by students and activists, staged marches, teach-ins, and draft-card burnings, including the huge 1967 March on the Pentagon. The draft, especially the lottery system, made the war personal for young men and their families and fueled protest over its fairness. Television, the first 'living-room war,' brought graphic combat footage into American homes nightly, eroding public trust in official optimism and deepening opposition to the war.  RETEACH TRIGGER — if a student misses this exit ticket: (1) &lt;50% of class miss → spiral it into the next standard’s Quick Review opener (see the US.68 review prompts). (2) Individual/small group → reteach with the "The Anti-War Movement" direct-instruction slide + re-run the SOURCE IT FIRST routine on the US.68 primary source, then assign the paired printable: cornell-notes/unit-7/us68-vietnam-home-front-impact.pdf. (3) Re-assess with the US.68 check-for-understanding reveal slide as a do-now the next day. Reteach anchors (this standard’s sections): The Anti-War Movement; Draft by Lottery; Role of Television and Media. I Can objective: I can evaluate the impact of the Vietnam War on the home front, including the anti-war movement, draft by lottery, and the role of television and the media.  HONORS / EXTENSION (DOK 3, for early finishers or advanced learners): Evaluate: Did the anti-war movement and media coverage shorten the Vietnam War, or simply divide the nation? Argue with evidence.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(US.69). Cold-call or whiteboards, 3-4 min, low stakes. Answers — 1) As the first 'living-room war,' TV brought graphic combat footage into homes nightly, fueling doubt and opposition to the war.  2) A broad protest movement, led largely by students and activists, that opposed the draft and U.S. involvement in Vietnam through marches, demonstrations, and civil disobedience.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(US.69, DOK 1). 60-90 seconds. Have EVERY student commit (thumbs / whiteboard / choral) before revealing — this secures an early win and surfaces who is shaky before new content. Answer: Sputnik. Key term to listen for: Sputnik.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(US.69).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(US.69). Ask: why would launching a small beeping satellite terrify a superpower? Then reveal Sputnik, 1957.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John F. Kennedy) WHEN? (May 25, 1961) WHY does that matter? (Consider the author's purpose and audience before reading the words.) Only then move to the ANALYZE question. Suggested answer: See teacher key. Practice skill: Contextualization.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(US.69). Skill modeled: Link competition to progress. Model the worked example aloud using the THINK ALOUD as your script, then release students to the activity ("Explain how competition, not curiosity, drove the race, citing the text.").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US.69. Pair with the printable: cornell-notes/unit-7/us69-space-race-competition.pdf. Timing: 15. Deliverable: Completed four-element chart (one sentence each) AND a one-sentence evidence-based claim linking the space race to the Cold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(US.69, DOK 3). Have students commit to an answer (whiteboards, hand signal, or turn-and-talk) BEFORE advancing. Correct answer: B. The next slide reveals it. Why: The space race was inseparably both ideological and military: rocket technology capable of launching satellites was identical to the technology needed to deliver nuclear warheads intercontinentally. Sputnik's military significance was that it demonstrated Soviet ICBMs could reach American territory. However, both superpowers also used space achievements to demonstrate the superiority of their respective political and economic systems—the first satellite, first human in space, first moon landing were all propaganda coups in the ideological competition for the allegiance of non-aligned nations. Categorizing it as purely one or the other misses this fusion; a sophisticated analysis recognizes that the space race served military strategic and ideological purposes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(US.69). Correct: B. The space race was inseparably both ideological and military: rocket technology capable of launching satellites was identical to the technology needed to deliver nuclear warheads intercontinentally. Sputnik's military significance was that it demonstrated Soviet ICBMs could reach American territory. However, both superpowers also used space achievements to demonstrate the superiority of their respective political and economic systems—the first satellite, first human in space, first moon landing were all propaganda coups in the ideological competition for the allegiance of non-aligned nations. Categorizing it as purely one or the other misses this fusion; a sophisticated analysis recognizes that the space race served military strategic and ideological purposes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(US.69, DOK 2). Prompt: Explain the causes and significance of the Space Race. Why did it matter so much during the Cold War?  Model answer: The Space Race grew out of Cold War competition after the Soviets launched Sputnik, the first satellite, in 1957, shocking Americans who feared falling behind in science and missile technology. The U.S. responded by creating NASA, boosting science education, and setting a goal of reaching the Moon. Milestones followed, from the first humans in orbit to the Apollo 11 Moon landing in 1969. It mattered because success in space symbolized the superiority of a nation's system, science, and military might in the eyes of the world.  RETEACH TRIGGER — if a student misses this exit ticket: (1) &lt;50% of class miss → spiral it into the next standard’s Quick Review opener (see the US.69 review prompts). (2) Individual/small group → reteach with the "Motivations for Space Competition" direct-instruction slide + re-run the SOURCE IT FIRST routine on the US.69 primary source, then assign the paired printable: cornell-notes/unit-7/us69-space-race-competition.pdf. (3) Re-assess with the US.69 check-for-understanding reveal slide as a do-now the next day. Reteach anchors (this standard’s sections): Motivations for Space Competition; Key Events and Milestones; Political Implications; American Response to Sputnik. I Can objective: I can describe the competition between the U.S. and Soviet Union for superiority in space.  HONORS / EXTENSION (DOK 3, for early finishers or advanced learners): Evaluate: Was the Space Race mainly about science and exploration, or about Cold War prestige and military power? Argue with evidence.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(US.70). Cold-call or whiteboards, 3-4 min, low stakes. Answers — 1) The Cold War competition between the U.S. and USSR to achieve firsts in spaceflight, triggered by the Soviet launch of Sputnik in 1957.  2) The Apollo 11 mission of July 1969, when American astronauts became the first humans to land on and walk on the Moon.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(US.70, DOK 1). 60-90 seconds. Have EVERY student commit (thumbs / whiteboard / choral) before revealing — this secures an early win and surfaces who is shaky before new content. Answer: The Berlin Wall. Key term to listen for: Détente.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(US.70).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(US.70). Show a wall dividing a city and ask what it would take to bring it down - then trace détente to 1989.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Ronald Reagan) WHEN? (June 12, 1987) WHY does that matter? (Consider the author's purpose and audience before reading the words.) Only then move to the ANALYZE question. Suggested answer: See teacher key.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(US.70). Skill modeled: Explain how a conflict ends. Model the worked example aloud using the THINK ALOUD as your script, then release students to the activity ("Explain which mattered more - easing tension or applying pressure - with evidence.").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US.70. Pair with the printable: cornell-notes/unit-7/us70-detente-fall-of-berlin-wall.pdf. Timing: 15. Deliverable: Completed four-step timeline (how it eased tension each) AND a one-sentence evidence-based claim about what ended the Cold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(US.70, DOK 3). Have students commit to an answer (whiteboards, hand signal, or turn-and-talk) BEFORE advancing. Correct answer: D. The next slide reveals it. Why: The Berlin Wall's fall was not simply the result of a spontaneous protest or even Gorbachev's reforms in isolation—it was enabled by the decades-long economic underperformance of the Soviet command economy, which made maintaining an extensive Eastern European empire increasingly untenable. By the late 1980s, the Soviet economy could no longer fund both its military competition with the West and the subsidies needed to sustain loyal Eastern Bloc governments. Gorbachev's reforms (glasnost and perestroika) were themselves a response to this economic crisis. The Wall fell because the Soviet Union could no longer afford to enforce it. This structural economic failure, not any single diplomatic event or U.S. pressure, was the deepest enabling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(US.70). Correct: D. The Berlin Wall's fall was not simply the result of a spontaneous protest or even Gorbachev's reforms in isolation—it was enabled by the decades-long economic underperformance of the Soviet command economy, which made maintaining an extensive Eastern European empire increasingly untenable. By the late 1980s, the Soviet economy could no longer fund both its military competition with the West and the subsidies needed to sustain loyal Eastern Bloc governments. Gorbachev's reforms (glasnost and perestroika) were themselves a response to this economic crisis. The Wall fell because the Soviet Union could no longer afford to enforce it. This structural economic failure, not any single diplomatic event or U.S. pressure, was the deepest enabling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(US.70, DOK 3). Prompt: Analyze how the Cold War came to an end. What role did détente, arms-control treaties, and leaders like Reagan and Gorbachev play?  Model answer: The Cold War thawed and then ended over two decades. Under Nixon, détente eased tensions through diplomacy and the SALT treaties, which limited nuclear arms. In the 1980s, President Reagan combined a military buildup and tough rhetoric ('tear down this wall') with negotiations, while Soviet leader Mikhail Gorbachev introduced reforms (glasnost and perestroika) and pursued arms agreements. Economic strain and reform loosened Soviet control, and in 1989 the Berlin Wall fell, followed by the collapse of the Soviet Union in 1991, ending the Cold War.  RETEACH TRIGGER — if a student misses this exit ticket: (1) &lt;50% of class miss → spiral it into the next standard’s Quick Review opener (see the US.70 review prompts). (2) Individual/small group → reteach with the "Nixon's Détente Policy" direct-instruction slide + re-run the SOURCE IT FIRST routine on the US.70 primary source, then assign the paired printable: cornell-notes/unit-7/us70-detente-fall-of-berlin-wall.pdf. (3) Re-assess with the US.70 check-for-understanding reveal slide as a do-now the next day. Reteach anchors (this standard’s sections): Nixon's Détente Policy; SALT Treaties Significance; Reagan-Gorbachev Contributions; Fall of the Berlin Wall. I Can objective: I can explain developments that eased tensions during the Cold War, including Nixon's détente, SALT Treaties, Reagan and Gorbachev's INF Treaty, and the fall of the Berlin Wall.  HONORS / EXTENSION (DOK 3, for early finishers or advanced learners): Evaluate: Who deserves the most credit for ending the Cold War, Reagan, Gorbachev, or larger forces beyond any leader? Defend your claim with at least two pieces of evidence.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hyperlink" Target="https://commons.wikimedia.org/wiki/File:Photograph_of_President_Truman_signing_the_document_implementing_the_North_Atlantic_Treaty_at_his_desk_in_the_Oval..._-_NARA_-_200163.jpg"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valon.law.yale.edu/20th_century/nato.asp"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hyperlink" Target="https://commons.wikimedia.org/wiki/File:C-47s_at_Tempelhof_Airport_Berlin_1948.jpg" TargetMode="External"/><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archives.gov/milestone-documents/truman-doctrine"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hyperlink" Target="https://commons.wikimedia.org/wiki/File:Joseph_McCarthy_adjusted.jpg" TargetMode="External"/><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hyperlink" Target="https://commons.wikimedia.org/wiki/File:Julius_and_Ethel_Rosenberg_NYWTS.jpg" TargetMode="External"/><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www.senate.gov/about/powers-procedures/investigations/mccarthy-hearings.htm" TargetMode="External"/><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hyperlink" Target="https://commons.wikimedia.org/wiki/File:Battle_of_Inchon.png" TargetMode="External"/><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hyperlink" Target="https://www.trumanlibrary.gov/library/public-papers/77/radio-report-american-people-korea-and-us-policy-far-east" TargetMode="External"/><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hyperlink" Target="https://commons.wikimedia.org/wiki/File:Dwight_D._Eisenhower,_official_photo_portrait,_May_29,_1959.jpg" TargetMode="External"/><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hyperlink" Target="https://www.eisenhowerlibrary.gov/research/online-documents" TargetMode="External"/><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hyperlink" Target="https://commons.wikimedia.org/wiki/File:Operation_Upshot-Knothole_-_Badger_001.jpg" TargetMode="External"/><Relationship Id="rId3" Type="http://schemas.openxmlformats.org/officeDocument/2006/relationships/slideLayout" Target="../slideLayouts/slideLayout1.xm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hyperlink" Target="https://www.loc.gov/collections/civil-defense/" TargetMode="External"/><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jpg"/><Relationship Id="rId2" Type="http://schemas.openxmlformats.org/officeDocument/2006/relationships/hyperlink" Target="https://commons.wikimedia.org/wiki/File:Aerial_Photograph_of_Medium_Range_Ballistic_Missile_Launch_Site_Two_at_San_Cristobal_-_NARA_-_193933.tif" TargetMode="External"/><Relationship Id="rId3" Type="http://schemas.openxmlformats.org/officeDocument/2006/relationships/slideLayout" Target="../slideLayouts/slideLayout1.xml"/><Relationship Id="rId4"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hyperlink" Target="https://www.jfklibrary.org/learn/about-jfk/historic-speeches/address-during-the-cuban-missile-crisis" TargetMode="External"/><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jpg"/><Relationship Id="rId2" Type="http://schemas.openxmlformats.org/officeDocument/2006/relationships/hyperlink" Target="https://commons.wikimedia.org/wiki/File:1st_Cavalry_Division,_(Airmobile)_soldiers_wait_for_a_helicopter_to_land_at_an_LZ.jpg" TargetMode="External"/><Relationship Id="rId3" Type="http://schemas.openxmlformats.org/officeDocument/2006/relationships/slideLayout" Target="../slideLayouts/slideLayout1.xml"/><Relationship Id="rId4"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hyperlink" Target="https://www.archives.gov/milestone-documents/tonkin-gulf-resolution" TargetMode="External"/><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hyperlink" Target="https://www.nixonlibrary.gov/silent-majority" TargetMode="External"/><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152-1.jpg"/><Relationship Id="rId2" Type="http://schemas.openxmlformats.org/officeDocument/2006/relationships/hyperlink" Target="https://commons.wikimedia.org/wiki/File:Vietnam_War_protestors_at_the_March_on_the_Pentagon.jpg" TargetMode="External"/><Relationship Id="rId3" Type="http://schemas.openxmlformats.org/officeDocument/2006/relationships/slideLayout" Target="../slideLayouts/slideLayout1.xml"/><Relationship Id="rId4"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hyperlink" Target="https://www.loc.gov/collections/veterans-history-project/" TargetMode="External"/><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image" Target="../media/image-168-1.jpg"/><Relationship Id="rId2" Type="http://schemas.openxmlformats.org/officeDocument/2006/relationships/hyperlink" Target="https://commons.wikimedia.org/wiki/File:USSR_Sputnik_I,_1957,_1st_Man-made_Satellite_(Replica)_(10437199454).jpg" TargetMode="External"/><Relationship Id="rId3" Type="http://schemas.openxmlformats.org/officeDocument/2006/relationships/slideLayout" Target="../slideLayouts/slideLayout1.xml"/><Relationship Id="rId4"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hyperlink" Target="https://www.jfklibrary.org/learn/about-jfk/historic-speeches/special-message-to-the-congress-on-urgent-national-needs" TargetMode="External"/><Relationship Id="rId2" Type="http://schemas.openxmlformats.org/officeDocument/2006/relationships/slideLayout" Target="../slideLayouts/slideLayout1.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image" Target="../media/image-186-1.jpg"/><Relationship Id="rId2" Type="http://schemas.openxmlformats.org/officeDocument/2006/relationships/hyperlink" Target="https://commons.wikimedia.org/wiki/File:Opening_Berlin_Wall_at_Potsdamer_Platz,_DF-ST-91-01388.jpg" TargetMode="External"/><Relationship Id="rId3" Type="http://schemas.openxmlformats.org/officeDocument/2006/relationships/slideLayout" Target="../slideLayouts/slideLayout1.xml"/><Relationship Id="rId4"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hyperlink" Target="https://www.reaganlibrary.gov/archives/speech/remarks-east-west-relations-brandenburg-gate-west-berlin-germany" TargetMode="External"/><Relationship Id="rId2" Type="http://schemas.openxmlformats.org/officeDocument/2006/relationships/slideLayout" Target="../slideLayouts/slideLayout1.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12045391" y="0"/>
            <a:ext cx="146304" cy="6858000"/>
          </a:xfrm>
          <a:prstGeom prst="rect">
            <a:avLst/>
          </a:prstGeom>
          <a:solidFill>
            <a:srgbClr val="C62828"/>
          </a:solidFill>
          <a:ln/>
        </p:spPr>
        <p:txBody>
          <a:bodyPr/>
          <a:p/>
        </p:txBody>
      </p:sp>
      <p:sp>
        <p:nvSpPr>
          <p:cNvPr id="3" name="Shape 1"/>
          <p:cNvSpPr/>
          <p:nvPr/>
        </p:nvSpPr>
        <p:spPr>
          <a:xfrm>
            <a:off x="0" y="0"/>
            <a:ext cx="12045391" cy="146304"/>
          </a:xfrm>
          <a:prstGeom prst="rect">
            <a:avLst/>
          </a:prstGeom>
          <a:solidFill>
            <a:srgbClr val="C9A84C"/>
          </a:solidFill>
          <a:ln/>
        </p:spPr>
        <p:txBody>
          <a:bodyPr/>
          <a:p/>
        </p:txBody>
      </p:sp>
      <p:sp>
        <p:nvSpPr>
          <p:cNvPr id="4" name="Text 2"/>
          <p:cNvSpPr/>
          <p:nvPr/>
        </p:nvSpPr>
        <p:spPr>
          <a:xfrm>
            <a:off x="822960" y="1371600"/>
            <a:ext cx="10058400" cy="457200"/>
          </a:xfrm>
          <a:prstGeom prst="rect">
            <a:avLst/>
          </a:prstGeom>
          <a:noFill/>
          <a:ln/>
        </p:spPr>
        <p:txBody>
          <a:bodyPr wrap="square" rtlCol="0" anchor="ctr"/>
          <a:lstStyle/>
          <a:p>
            <a:pPr indent="0" marL="0">
              <a:buNone/>
            </a:pPr>
            <a:r>
              <a:rPr lang="en-US" sz="1800" b="1" spc="500" kern="0" dirty="0">
                <a:solidFill>
                  <a:srgbClr val="F9A825"/>
                </a:solidFill>
                <a:latin typeface="Trebuchet MS" pitchFamily="34" charset="0"/>
                <a:ea typeface="Trebuchet MS" pitchFamily="34" charset="-122"/>
                <a:cs typeface="Trebuchet MS" pitchFamily="34" charset="-120"/>
              </a:rPr>
              <a:t>U.S. HISTORY HACK</a:t>
            </a:r>
            <a:endParaRPr lang="en-US" sz="1800" dirty="0"/>
          </a:p>
        </p:txBody>
      </p:sp>
      <p:sp>
        <p:nvSpPr>
          <p:cNvPr id="5" name="Text 3"/>
          <p:cNvSpPr/>
          <p:nvPr/>
        </p:nvSpPr>
        <p:spPr>
          <a:xfrm>
            <a:off x="822960" y="1828800"/>
            <a:ext cx="10058400" cy="822960"/>
          </a:xfrm>
          <a:prstGeom prst="rect">
            <a:avLst/>
          </a:prstGeom>
          <a:noFill/>
          <a:ln/>
        </p:spPr>
        <p:txBody>
          <a:bodyPr wrap="square" rtlCol="0" anchor="ctr"/>
          <a:lstStyle/>
          <a:p>
            <a:pPr indent="0" marL="0">
              <a:buNone/>
            </a:pPr>
            <a:r>
              <a:rPr lang="en-US" sz="6000" b="1" dirty="0">
                <a:solidFill>
                  <a:srgbClr val="FFFFFF"/>
                </a:solidFill>
                <a:latin typeface="Georgia" pitchFamily="34" charset="0"/>
                <a:ea typeface="Georgia" pitchFamily="34" charset="-122"/>
                <a:cs typeface="Georgia" pitchFamily="34" charset="-120"/>
              </a:rPr>
              <a:t>Unit 7</a:t>
            </a:r>
            <a:endParaRPr lang="en-US" sz="6000" dirty="0"/>
          </a:p>
        </p:txBody>
      </p:sp>
      <p:sp>
        <p:nvSpPr>
          <p:cNvPr id="6" name="Text 4"/>
          <p:cNvSpPr/>
          <p:nvPr/>
        </p:nvSpPr>
        <p:spPr>
          <a:xfrm>
            <a:off x="822960" y="2788920"/>
            <a:ext cx="10241280" cy="64008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Cold War &amp; Postwar America</a:t>
            </a:r>
            <a:endParaRPr lang="en-US" sz="3400" dirty="0"/>
          </a:p>
        </p:txBody>
      </p:sp>
      <p:sp>
        <p:nvSpPr>
          <p:cNvPr id="7" name="Text 5"/>
          <p:cNvSpPr/>
          <p:nvPr/>
        </p:nvSpPr>
        <p:spPr>
          <a:xfrm>
            <a:off x="822960" y="3456432"/>
            <a:ext cx="10424160" cy="457200"/>
          </a:xfrm>
          <a:prstGeom prst="rect">
            <a:avLst/>
          </a:prstGeom>
          <a:noFill/>
          <a:ln/>
        </p:spPr>
        <p:txBody>
          <a:bodyPr wrap="square" rtlCol="0" anchor="ctr"/>
          <a:lstStyle/>
          <a:p>
            <a:pPr indent="0" marL="0">
              <a:buNone/>
            </a:pPr>
            <a:r>
              <a:rPr lang="en-US" sz="1900" i="1" dirty="0">
                <a:solidFill>
                  <a:srgbClr val="C7D4E0"/>
                </a:solidFill>
                <a:latin typeface="Georgia" pitchFamily="34" charset="0"/>
                <a:ea typeface="Georgia" pitchFamily="34" charset="-122"/>
                <a:cs typeface="Georgia" pitchFamily="34" charset="-120"/>
              </a:rPr>
              <a:t>Superpower Rivalry · Containment · Korea &amp; Vietnam · Nuclear Fears · Space Race · Détente &amp; the Fall of the Wall   ·   1945–1991</a:t>
            </a:r>
            <a:endParaRPr lang="en-US" sz="1900" dirty="0"/>
          </a:p>
        </p:txBody>
      </p:sp>
      <p:sp>
        <p:nvSpPr>
          <p:cNvPr id="8" name="Text 6"/>
          <p:cNvSpPr/>
          <p:nvPr/>
        </p:nvSpPr>
        <p:spPr>
          <a:xfrm>
            <a:off x="822960" y="3931920"/>
            <a:ext cx="10058400" cy="411480"/>
          </a:xfrm>
          <a:prstGeom prst="rect">
            <a:avLst/>
          </a:prstGeom>
          <a:noFill/>
          <a:ln/>
        </p:spPr>
        <p:txBody>
          <a:bodyPr wrap="square" rtlCol="0" anchor="ctr"/>
          <a:lstStyle/>
          <a:p>
            <a:pPr indent="0" marL="0">
              <a:buNone/>
            </a:pPr>
            <a:r>
              <a:rPr lang="en-US" sz="1800" dirty="0">
                <a:solidFill>
                  <a:srgbClr val="A7BACB"/>
                </a:solidFill>
                <a:latin typeface="Calibri" pitchFamily="34" charset="0"/>
                <a:ea typeface="Calibri" pitchFamily="34" charset="-122"/>
                <a:cs typeface="Calibri" pitchFamily="34" charset="-120"/>
              </a:rPr>
              <a:t>Standards US.59 – US.70</a:t>
            </a:r>
            <a:endParaRPr lang="en-US" sz="1800" dirty="0"/>
          </a:p>
        </p:txBody>
      </p:sp>
      <p:sp>
        <p:nvSpPr>
          <p:cNvPr id="9" name="Shape 7"/>
          <p:cNvSpPr/>
          <p:nvPr/>
        </p:nvSpPr>
        <p:spPr>
          <a:xfrm>
            <a:off x="822960" y="4480560"/>
            <a:ext cx="1024128" cy="438912"/>
          </a:xfrm>
          <a:prstGeom prst="roundRect">
            <a:avLst>
              <a:gd name="adj" fmla="val 16667"/>
            </a:avLst>
          </a:prstGeom>
          <a:solidFill>
            <a:srgbClr val="243047"/>
          </a:solidFill>
          <a:ln w="12700">
            <a:solidFill>
              <a:srgbClr val="C9A84C"/>
            </a:solidFill>
            <a:prstDash val="solid"/>
          </a:ln>
        </p:spPr>
      </p:sp>
      <p:sp>
        <p:nvSpPr>
          <p:cNvPr id="10" name="Text 8"/>
          <p:cNvSpPr/>
          <p:nvPr/>
        </p:nvSpPr>
        <p:spPr>
          <a:xfrm>
            <a:off x="822960"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US.59</a:t>
            </a:r>
            <a:endParaRPr lang="en-US" sz="1250" dirty="0"/>
          </a:p>
        </p:txBody>
      </p:sp>
      <p:sp>
        <p:nvSpPr>
          <p:cNvPr id="11" name="Shape 9"/>
          <p:cNvSpPr/>
          <p:nvPr/>
        </p:nvSpPr>
        <p:spPr>
          <a:xfrm>
            <a:off x="1984248" y="4480560"/>
            <a:ext cx="1024128" cy="438912"/>
          </a:xfrm>
          <a:prstGeom prst="roundRect">
            <a:avLst>
              <a:gd name="adj" fmla="val 16667"/>
            </a:avLst>
          </a:prstGeom>
          <a:solidFill>
            <a:srgbClr val="243047"/>
          </a:solidFill>
          <a:ln w="12700">
            <a:solidFill>
              <a:srgbClr val="C9A84C"/>
            </a:solidFill>
            <a:prstDash val="solid"/>
          </a:ln>
        </p:spPr>
      </p:sp>
      <p:sp>
        <p:nvSpPr>
          <p:cNvPr id="12" name="Text 10"/>
          <p:cNvSpPr/>
          <p:nvPr/>
        </p:nvSpPr>
        <p:spPr>
          <a:xfrm>
            <a:off x="1984248"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US.60</a:t>
            </a:r>
            <a:endParaRPr lang="en-US" sz="1250" dirty="0"/>
          </a:p>
        </p:txBody>
      </p:sp>
      <p:sp>
        <p:nvSpPr>
          <p:cNvPr id="13" name="Shape 11"/>
          <p:cNvSpPr/>
          <p:nvPr/>
        </p:nvSpPr>
        <p:spPr>
          <a:xfrm>
            <a:off x="3145536" y="4480560"/>
            <a:ext cx="1024128" cy="438912"/>
          </a:xfrm>
          <a:prstGeom prst="roundRect">
            <a:avLst>
              <a:gd name="adj" fmla="val 16667"/>
            </a:avLst>
          </a:prstGeom>
          <a:solidFill>
            <a:srgbClr val="243047"/>
          </a:solidFill>
          <a:ln w="12700">
            <a:solidFill>
              <a:srgbClr val="C9A84C"/>
            </a:solidFill>
            <a:prstDash val="solid"/>
          </a:ln>
        </p:spPr>
      </p:sp>
      <p:sp>
        <p:nvSpPr>
          <p:cNvPr id="14" name="Text 12"/>
          <p:cNvSpPr/>
          <p:nvPr/>
        </p:nvSpPr>
        <p:spPr>
          <a:xfrm>
            <a:off x="3145536"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US.61</a:t>
            </a:r>
            <a:endParaRPr lang="en-US" sz="1250" dirty="0"/>
          </a:p>
        </p:txBody>
      </p:sp>
      <p:sp>
        <p:nvSpPr>
          <p:cNvPr id="15" name="Shape 13"/>
          <p:cNvSpPr/>
          <p:nvPr/>
        </p:nvSpPr>
        <p:spPr>
          <a:xfrm>
            <a:off x="4306824" y="4480560"/>
            <a:ext cx="1024128" cy="438912"/>
          </a:xfrm>
          <a:prstGeom prst="roundRect">
            <a:avLst>
              <a:gd name="adj" fmla="val 16667"/>
            </a:avLst>
          </a:prstGeom>
          <a:solidFill>
            <a:srgbClr val="243047"/>
          </a:solidFill>
          <a:ln w="12700">
            <a:solidFill>
              <a:srgbClr val="C9A84C"/>
            </a:solidFill>
            <a:prstDash val="solid"/>
          </a:ln>
        </p:spPr>
      </p:sp>
      <p:sp>
        <p:nvSpPr>
          <p:cNvPr id="16" name="Text 14"/>
          <p:cNvSpPr/>
          <p:nvPr/>
        </p:nvSpPr>
        <p:spPr>
          <a:xfrm>
            <a:off x="4306824"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US.62</a:t>
            </a:r>
            <a:endParaRPr lang="en-US" sz="1250" dirty="0"/>
          </a:p>
        </p:txBody>
      </p:sp>
      <p:sp>
        <p:nvSpPr>
          <p:cNvPr id="17" name="Shape 15"/>
          <p:cNvSpPr/>
          <p:nvPr/>
        </p:nvSpPr>
        <p:spPr>
          <a:xfrm>
            <a:off x="5468112" y="4480560"/>
            <a:ext cx="1024128" cy="438912"/>
          </a:xfrm>
          <a:prstGeom prst="roundRect">
            <a:avLst>
              <a:gd name="adj" fmla="val 16667"/>
            </a:avLst>
          </a:prstGeom>
          <a:solidFill>
            <a:srgbClr val="243047"/>
          </a:solidFill>
          <a:ln w="12700">
            <a:solidFill>
              <a:srgbClr val="C9A84C"/>
            </a:solidFill>
            <a:prstDash val="solid"/>
          </a:ln>
        </p:spPr>
      </p:sp>
      <p:sp>
        <p:nvSpPr>
          <p:cNvPr id="18" name="Text 16"/>
          <p:cNvSpPr/>
          <p:nvPr/>
        </p:nvSpPr>
        <p:spPr>
          <a:xfrm>
            <a:off x="5468112"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US.63</a:t>
            </a:r>
            <a:endParaRPr lang="en-US" sz="1250" dirty="0"/>
          </a:p>
        </p:txBody>
      </p:sp>
      <p:sp>
        <p:nvSpPr>
          <p:cNvPr id="19" name="Shape 17"/>
          <p:cNvSpPr/>
          <p:nvPr/>
        </p:nvSpPr>
        <p:spPr>
          <a:xfrm>
            <a:off x="6629400" y="4480560"/>
            <a:ext cx="1024128" cy="438912"/>
          </a:xfrm>
          <a:prstGeom prst="roundRect">
            <a:avLst>
              <a:gd name="adj" fmla="val 16667"/>
            </a:avLst>
          </a:prstGeom>
          <a:solidFill>
            <a:srgbClr val="243047"/>
          </a:solidFill>
          <a:ln w="12700">
            <a:solidFill>
              <a:srgbClr val="C9A84C"/>
            </a:solidFill>
            <a:prstDash val="solid"/>
          </a:ln>
        </p:spPr>
      </p:sp>
      <p:sp>
        <p:nvSpPr>
          <p:cNvPr id="20" name="Text 18"/>
          <p:cNvSpPr/>
          <p:nvPr/>
        </p:nvSpPr>
        <p:spPr>
          <a:xfrm>
            <a:off x="6629400"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US.64</a:t>
            </a:r>
            <a:endParaRPr lang="en-US" sz="1250" dirty="0"/>
          </a:p>
        </p:txBody>
      </p:sp>
      <p:sp>
        <p:nvSpPr>
          <p:cNvPr id="21" name="Shape 19"/>
          <p:cNvSpPr/>
          <p:nvPr/>
        </p:nvSpPr>
        <p:spPr>
          <a:xfrm>
            <a:off x="7790688" y="4480560"/>
            <a:ext cx="1024128" cy="438912"/>
          </a:xfrm>
          <a:prstGeom prst="roundRect">
            <a:avLst>
              <a:gd name="adj" fmla="val 16667"/>
            </a:avLst>
          </a:prstGeom>
          <a:solidFill>
            <a:srgbClr val="243047"/>
          </a:solidFill>
          <a:ln w="12700">
            <a:solidFill>
              <a:srgbClr val="C9A84C"/>
            </a:solidFill>
            <a:prstDash val="solid"/>
          </a:ln>
        </p:spPr>
      </p:sp>
      <p:sp>
        <p:nvSpPr>
          <p:cNvPr id="22" name="Text 20"/>
          <p:cNvSpPr/>
          <p:nvPr/>
        </p:nvSpPr>
        <p:spPr>
          <a:xfrm>
            <a:off x="7790688"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US.65</a:t>
            </a:r>
            <a:endParaRPr lang="en-US" sz="1250" dirty="0"/>
          </a:p>
        </p:txBody>
      </p:sp>
      <p:sp>
        <p:nvSpPr>
          <p:cNvPr id="23" name="Shape 21"/>
          <p:cNvSpPr/>
          <p:nvPr/>
        </p:nvSpPr>
        <p:spPr>
          <a:xfrm>
            <a:off x="8951976" y="4480560"/>
            <a:ext cx="1024128" cy="438912"/>
          </a:xfrm>
          <a:prstGeom prst="roundRect">
            <a:avLst>
              <a:gd name="adj" fmla="val 16667"/>
            </a:avLst>
          </a:prstGeom>
          <a:solidFill>
            <a:srgbClr val="243047"/>
          </a:solidFill>
          <a:ln w="12700">
            <a:solidFill>
              <a:srgbClr val="C9A84C"/>
            </a:solidFill>
            <a:prstDash val="solid"/>
          </a:ln>
        </p:spPr>
      </p:sp>
      <p:sp>
        <p:nvSpPr>
          <p:cNvPr id="24" name="Text 22"/>
          <p:cNvSpPr/>
          <p:nvPr/>
        </p:nvSpPr>
        <p:spPr>
          <a:xfrm>
            <a:off x="8951976"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US.66</a:t>
            </a:r>
            <a:endParaRPr lang="en-US" sz="1250" dirty="0"/>
          </a:p>
        </p:txBody>
      </p:sp>
      <p:sp>
        <p:nvSpPr>
          <p:cNvPr id="25" name="Shape 23"/>
          <p:cNvSpPr/>
          <p:nvPr/>
        </p:nvSpPr>
        <p:spPr>
          <a:xfrm>
            <a:off x="10113264" y="4480560"/>
            <a:ext cx="1024128" cy="438912"/>
          </a:xfrm>
          <a:prstGeom prst="roundRect">
            <a:avLst>
              <a:gd name="adj" fmla="val 16667"/>
            </a:avLst>
          </a:prstGeom>
          <a:solidFill>
            <a:srgbClr val="243047"/>
          </a:solidFill>
          <a:ln w="12700">
            <a:solidFill>
              <a:srgbClr val="C9A84C"/>
            </a:solidFill>
            <a:prstDash val="solid"/>
          </a:ln>
        </p:spPr>
      </p:sp>
      <p:sp>
        <p:nvSpPr>
          <p:cNvPr id="26" name="Text 24"/>
          <p:cNvSpPr/>
          <p:nvPr/>
        </p:nvSpPr>
        <p:spPr>
          <a:xfrm>
            <a:off x="10113264"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US.67</a:t>
            </a:r>
            <a:endParaRPr lang="en-US" sz="1250" dirty="0"/>
          </a:p>
        </p:txBody>
      </p:sp>
      <p:sp>
        <p:nvSpPr>
          <p:cNvPr id="27" name="Shape 25"/>
          <p:cNvSpPr/>
          <p:nvPr/>
        </p:nvSpPr>
        <p:spPr>
          <a:xfrm>
            <a:off x="822960" y="5047488"/>
            <a:ext cx="1024128" cy="438912"/>
          </a:xfrm>
          <a:prstGeom prst="roundRect">
            <a:avLst>
              <a:gd name="adj" fmla="val 16667"/>
            </a:avLst>
          </a:prstGeom>
          <a:solidFill>
            <a:srgbClr val="243047"/>
          </a:solidFill>
          <a:ln w="12700">
            <a:solidFill>
              <a:srgbClr val="C9A84C"/>
            </a:solidFill>
            <a:prstDash val="solid"/>
          </a:ln>
        </p:spPr>
      </p:sp>
      <p:sp>
        <p:nvSpPr>
          <p:cNvPr id="28" name="Text 26"/>
          <p:cNvSpPr/>
          <p:nvPr/>
        </p:nvSpPr>
        <p:spPr>
          <a:xfrm>
            <a:off x="822960" y="5047488"/>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US.68</a:t>
            </a:r>
            <a:endParaRPr lang="en-US" sz="1250" dirty="0"/>
          </a:p>
        </p:txBody>
      </p:sp>
      <p:sp>
        <p:nvSpPr>
          <p:cNvPr id="29" name="Shape 27"/>
          <p:cNvSpPr/>
          <p:nvPr/>
        </p:nvSpPr>
        <p:spPr>
          <a:xfrm>
            <a:off x="1984248" y="5047488"/>
            <a:ext cx="1024128" cy="438912"/>
          </a:xfrm>
          <a:prstGeom prst="roundRect">
            <a:avLst>
              <a:gd name="adj" fmla="val 16667"/>
            </a:avLst>
          </a:prstGeom>
          <a:solidFill>
            <a:srgbClr val="243047"/>
          </a:solidFill>
          <a:ln w="12700">
            <a:solidFill>
              <a:srgbClr val="C9A84C"/>
            </a:solidFill>
            <a:prstDash val="solid"/>
          </a:ln>
        </p:spPr>
      </p:sp>
      <p:sp>
        <p:nvSpPr>
          <p:cNvPr id="30" name="Text 28"/>
          <p:cNvSpPr/>
          <p:nvPr/>
        </p:nvSpPr>
        <p:spPr>
          <a:xfrm>
            <a:off x="1984248" y="5047488"/>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US.69</a:t>
            </a:r>
            <a:endParaRPr lang="en-US" sz="1250" dirty="0"/>
          </a:p>
        </p:txBody>
      </p:sp>
      <p:sp>
        <p:nvSpPr>
          <p:cNvPr id="31" name="Shape 29"/>
          <p:cNvSpPr/>
          <p:nvPr/>
        </p:nvSpPr>
        <p:spPr>
          <a:xfrm>
            <a:off x="3145536" y="5047488"/>
            <a:ext cx="1024128" cy="438912"/>
          </a:xfrm>
          <a:prstGeom prst="roundRect">
            <a:avLst>
              <a:gd name="adj" fmla="val 16667"/>
            </a:avLst>
          </a:prstGeom>
          <a:solidFill>
            <a:srgbClr val="243047"/>
          </a:solidFill>
          <a:ln w="12700">
            <a:solidFill>
              <a:srgbClr val="C9A84C"/>
            </a:solidFill>
            <a:prstDash val="solid"/>
          </a:ln>
        </p:spPr>
      </p:sp>
      <p:sp>
        <p:nvSpPr>
          <p:cNvPr id="32" name="Text 30"/>
          <p:cNvSpPr/>
          <p:nvPr/>
        </p:nvSpPr>
        <p:spPr>
          <a:xfrm>
            <a:off x="3145536" y="5047488"/>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US.70</a:t>
            </a:r>
            <a:endParaRPr lang="en-US" sz="1250" dirty="0"/>
          </a:p>
        </p:txBody>
      </p:sp>
      <p:sp>
        <p:nvSpPr>
          <p:cNvPr id="33" name="Text 31"/>
          <p:cNvSpPr/>
          <p:nvPr/>
        </p:nvSpPr>
        <p:spPr>
          <a:xfrm>
            <a:off x="822960" y="5852160"/>
            <a:ext cx="10515600" cy="365760"/>
          </a:xfrm>
          <a:prstGeom prst="rect">
            <a:avLst/>
          </a:prstGeom>
          <a:noFill/>
          <a:ln/>
        </p:spPr>
        <p:txBody>
          <a:bodyPr wrap="square" rtlCol="0" anchor="ctr"/>
          <a:lstStyle/>
          <a:p>
            <a:pPr indent="0" marL="0">
              <a:buNone/>
            </a:pPr>
            <a:r>
              <a:rPr lang="en-US" sz="1200" spc="100" kern="0" dirty="0">
                <a:solidFill>
                  <a:srgbClr val="A7BACB"/>
                </a:solidFill>
                <a:latin typeface="Trebuchet MS" pitchFamily="34" charset="0"/>
                <a:ea typeface="Trebuchet MS" pitchFamily="34" charset="-122"/>
                <a:cs typeface="Trebuchet MS" pitchFamily="34" charset="-120"/>
              </a:rPr>
              <a:t>TCAP EOC LECTURE DECK  ·  Tennessee Academic Standards for U.S. History</a:t>
            </a:r>
            <a:endParaRPr lang="en-US" sz="1200" dirty="0"/>
          </a:p>
        </p:txBody>
      </p:sp>
      <p:sp>
        <p:nvSpPr>
          <p:cNvPr id="34" name="Text 32"/>
          <p:cNvSpPr/>
          <p:nvPr/>
        </p:nvSpPr>
        <p:spPr>
          <a:xfrm>
            <a:off x="822960" y="6263640"/>
            <a:ext cx="10515600" cy="274320"/>
          </a:xfrm>
          <a:prstGeom prst="rect">
            <a:avLst/>
          </a:prstGeom>
          <a:noFill/>
          <a:ln/>
        </p:spPr>
        <p:txBody>
          <a:bodyPr wrap="square" rtlCol="0" anchor="ctr"/>
          <a:lstStyle/>
          <a:p>
            <a:pPr indent="0" marL="0">
              <a:buNone/>
            </a:pPr>
            <a:r>
              <a:rPr lang="en-US" sz="1100" dirty="0">
                <a:solidFill>
                  <a:srgbClr val="A7BACB"/>
                </a:solidFill>
                <a:latin typeface="Calibri" pitchFamily="34" charset="0"/>
                <a:ea typeface="Calibri" pitchFamily="34" charset="-122"/>
                <a:cs typeface="Calibri" pitchFamily="34" charset="-120"/>
              </a:rPr>
              <a:t>TroopToTeacher Technologies LLC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UNIT ROADMAP</a:t>
            </a:r>
            <a:endParaRPr lang="en-US" sz="1200" dirty="0"/>
          </a:p>
        </p:txBody>
      </p:sp>
      <p:sp>
        <p:nvSpPr>
          <p:cNvPr id="4" name="Text 2"/>
          <p:cNvSpPr/>
          <p:nvPr/>
        </p:nvSpPr>
        <p:spPr>
          <a:xfrm>
            <a:off x="548640" y="777240"/>
            <a:ext cx="10972800" cy="548640"/>
          </a:xfrm>
          <a:prstGeom prst="rect">
            <a:avLst/>
          </a:prstGeom>
          <a:noFill/>
          <a:ln/>
        </p:spPr>
        <p:txBody>
          <a:bodyPr wrap="square" rtlCol="0" anchor="ctr"/>
          <a:lstStyle/>
          <a:p>
            <a:pPr indent="0" marL="0">
              <a:buNone/>
            </a:pPr>
            <a:r>
              <a:rPr lang="en-US" sz="3400" b="1" dirty="0">
                <a:solidFill>
                  <a:srgbClr val="1A2332"/>
                </a:solidFill>
                <a:latin typeface="Georgia" pitchFamily="34" charset="0"/>
                <a:ea typeface="Georgia" pitchFamily="34" charset="-122"/>
                <a:cs typeface="Georgia" pitchFamily="34" charset="-120"/>
              </a:rPr>
              <a:t>Where We Are Headed</a:t>
            </a:r>
            <a:endParaRPr lang="en-US" sz="3400" dirty="0"/>
          </a:p>
        </p:txBody>
      </p:sp>
      <p:sp>
        <p:nvSpPr>
          <p:cNvPr id="5" name="Text 3"/>
          <p:cNvSpPr/>
          <p:nvPr/>
        </p:nvSpPr>
        <p:spPr>
          <a:xfrm>
            <a:off x="548640" y="1353312"/>
            <a:ext cx="11064240" cy="320040"/>
          </a:xfrm>
          <a:prstGeom prst="rect">
            <a:avLst/>
          </a:prstGeom>
          <a:noFill/>
          <a:ln/>
        </p:spPr>
        <p:txBody>
          <a:bodyPr wrap="square" rtlCol="0" anchor="ctr"/>
          <a:lstStyle/>
          <a:p>
            <a:pPr indent="0" marL="0">
              <a:buNone/>
            </a:pPr>
            <a:r>
              <a:rPr lang="en-US" sz="1300" i="1" dirty="0">
                <a:solidFill>
                  <a:srgbClr val="5C6470"/>
                </a:solidFill>
                <a:latin typeface="Calibri" pitchFamily="34" charset="0"/>
                <a:ea typeface="Calibri" pitchFamily="34" charset="-122"/>
                <a:cs typeface="Calibri" pitchFamily="34" charset="-120"/>
              </a:rPr>
              <a:t>Unit 7 · The Cold War &amp; Postwar America (1945–1991)  —  Superpower Rivalry, Containment, the Red Scare, Korea and Vietnam, Nuclear Fears, the Space Race, and the End of the Cold War</a:t>
            </a:r>
            <a:endParaRPr lang="en-US" sz="1300" dirty="0"/>
          </a:p>
        </p:txBody>
      </p:sp>
      <p:sp>
        <p:nvSpPr>
          <p:cNvPr id="6" name="Shape 4"/>
          <p:cNvSpPr/>
          <p:nvPr/>
        </p:nvSpPr>
        <p:spPr>
          <a:xfrm>
            <a:off x="548640" y="1828800"/>
            <a:ext cx="5349240" cy="583692"/>
          </a:xfrm>
          <a:prstGeom prst="rect">
            <a:avLst/>
          </a:prstGeom>
          <a:solidFill>
            <a:srgbClr val="FFFFFF"/>
          </a:solidFill>
          <a:ln w="12700">
            <a:solidFill>
              <a:srgbClr val="DAD3C2"/>
            </a:solidFill>
            <a:prstDash val="solid"/>
          </a:ln>
        </p:spPr>
      </p:sp>
      <p:sp>
        <p:nvSpPr>
          <p:cNvPr id="7" name="Shape 5"/>
          <p:cNvSpPr/>
          <p:nvPr/>
        </p:nvSpPr>
        <p:spPr>
          <a:xfrm>
            <a:off x="548640" y="1828800"/>
            <a:ext cx="1188720" cy="583692"/>
          </a:xfrm>
          <a:prstGeom prst="rect">
            <a:avLst/>
          </a:prstGeom>
          <a:solidFill>
            <a:srgbClr val="1A2332"/>
          </a:solidFill>
          <a:ln/>
        </p:spPr>
      </p:sp>
      <p:sp>
        <p:nvSpPr>
          <p:cNvPr id="8" name="Text 6"/>
          <p:cNvSpPr/>
          <p:nvPr/>
        </p:nvSpPr>
        <p:spPr>
          <a:xfrm>
            <a:off x="548640" y="182880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US.59</a:t>
            </a:r>
            <a:endParaRPr lang="en-US" sz="1600" dirty="0"/>
          </a:p>
        </p:txBody>
      </p:sp>
      <p:sp>
        <p:nvSpPr>
          <p:cNvPr id="9" name="Text 7"/>
          <p:cNvSpPr/>
          <p:nvPr/>
        </p:nvSpPr>
        <p:spPr>
          <a:xfrm>
            <a:off x="1920240" y="182880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U.S.-Soviet Competition</a:t>
            </a:r>
            <a:endParaRPr lang="en-US" sz="1200" dirty="0"/>
          </a:p>
        </p:txBody>
      </p:sp>
      <p:sp>
        <p:nvSpPr>
          <p:cNvPr id="10" name="Shape 8"/>
          <p:cNvSpPr/>
          <p:nvPr/>
        </p:nvSpPr>
        <p:spPr>
          <a:xfrm rot="10800000">
            <a:off x="1042416" y="2421636"/>
            <a:ext cx="182880" cy="137160"/>
          </a:xfrm>
          <a:prstGeom prst="triangle">
            <a:avLst/>
          </a:prstGeom>
          <a:solidFill>
            <a:srgbClr val="C9A84C"/>
          </a:solidFill>
          <a:ln/>
        </p:spPr>
      </p:sp>
      <p:sp>
        <p:nvSpPr>
          <p:cNvPr id="11" name="Shape 9"/>
          <p:cNvSpPr/>
          <p:nvPr/>
        </p:nvSpPr>
        <p:spPr>
          <a:xfrm>
            <a:off x="548640" y="2567940"/>
            <a:ext cx="5349240" cy="583692"/>
          </a:xfrm>
          <a:prstGeom prst="rect">
            <a:avLst/>
          </a:prstGeom>
          <a:solidFill>
            <a:srgbClr val="FFFFFF"/>
          </a:solidFill>
          <a:ln w="12700">
            <a:solidFill>
              <a:srgbClr val="DAD3C2"/>
            </a:solidFill>
            <a:prstDash val="solid"/>
          </a:ln>
        </p:spPr>
      </p:sp>
      <p:sp>
        <p:nvSpPr>
          <p:cNvPr id="12" name="Shape 10"/>
          <p:cNvSpPr/>
          <p:nvPr/>
        </p:nvSpPr>
        <p:spPr>
          <a:xfrm>
            <a:off x="548640" y="2567940"/>
            <a:ext cx="1188720" cy="583692"/>
          </a:xfrm>
          <a:prstGeom prst="rect">
            <a:avLst/>
          </a:prstGeom>
          <a:solidFill>
            <a:srgbClr val="1A2332"/>
          </a:solidFill>
          <a:ln/>
        </p:spPr>
      </p:sp>
      <p:sp>
        <p:nvSpPr>
          <p:cNvPr id="13" name="Text 11"/>
          <p:cNvSpPr/>
          <p:nvPr/>
        </p:nvSpPr>
        <p:spPr>
          <a:xfrm>
            <a:off x="548640" y="256794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US.60</a:t>
            </a:r>
            <a:endParaRPr lang="en-US" sz="1600" dirty="0"/>
          </a:p>
        </p:txBody>
      </p:sp>
      <p:sp>
        <p:nvSpPr>
          <p:cNvPr id="14" name="Text 12"/>
          <p:cNvSpPr/>
          <p:nvPr/>
        </p:nvSpPr>
        <p:spPr>
          <a:xfrm>
            <a:off x="1920240" y="256794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Containment and Early Cold War Policies</a:t>
            </a:r>
            <a:endParaRPr lang="en-US" sz="1200" dirty="0"/>
          </a:p>
        </p:txBody>
      </p:sp>
      <p:sp>
        <p:nvSpPr>
          <p:cNvPr id="15" name="Shape 13"/>
          <p:cNvSpPr/>
          <p:nvPr/>
        </p:nvSpPr>
        <p:spPr>
          <a:xfrm rot="10800000">
            <a:off x="1042416" y="3160776"/>
            <a:ext cx="182880" cy="137160"/>
          </a:xfrm>
          <a:prstGeom prst="triangle">
            <a:avLst/>
          </a:prstGeom>
          <a:solidFill>
            <a:srgbClr val="C9A84C"/>
          </a:solidFill>
          <a:ln/>
        </p:spPr>
      </p:sp>
      <p:sp>
        <p:nvSpPr>
          <p:cNvPr id="16" name="Shape 14"/>
          <p:cNvSpPr/>
          <p:nvPr/>
        </p:nvSpPr>
        <p:spPr>
          <a:xfrm>
            <a:off x="548640" y="3307080"/>
            <a:ext cx="5349240" cy="583692"/>
          </a:xfrm>
          <a:prstGeom prst="rect">
            <a:avLst/>
          </a:prstGeom>
          <a:solidFill>
            <a:srgbClr val="FFFFFF"/>
          </a:solidFill>
          <a:ln w="12700">
            <a:solidFill>
              <a:srgbClr val="DAD3C2"/>
            </a:solidFill>
            <a:prstDash val="solid"/>
          </a:ln>
        </p:spPr>
      </p:sp>
      <p:sp>
        <p:nvSpPr>
          <p:cNvPr id="17" name="Shape 15"/>
          <p:cNvSpPr/>
          <p:nvPr/>
        </p:nvSpPr>
        <p:spPr>
          <a:xfrm>
            <a:off x="548640" y="3307080"/>
            <a:ext cx="1188720" cy="583692"/>
          </a:xfrm>
          <a:prstGeom prst="rect">
            <a:avLst/>
          </a:prstGeom>
          <a:solidFill>
            <a:srgbClr val="1A2332"/>
          </a:solidFill>
          <a:ln/>
        </p:spPr>
      </p:sp>
      <p:sp>
        <p:nvSpPr>
          <p:cNvPr id="18" name="Text 16"/>
          <p:cNvSpPr/>
          <p:nvPr/>
        </p:nvSpPr>
        <p:spPr>
          <a:xfrm>
            <a:off x="548640" y="330708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US.61</a:t>
            </a:r>
            <a:endParaRPr lang="en-US" sz="1600" dirty="0"/>
          </a:p>
        </p:txBody>
      </p:sp>
      <p:sp>
        <p:nvSpPr>
          <p:cNvPr id="19" name="Text 17"/>
          <p:cNvSpPr/>
          <p:nvPr/>
        </p:nvSpPr>
        <p:spPr>
          <a:xfrm>
            <a:off x="1920240" y="330708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Second Red Scare &amp; McCarthyism</a:t>
            </a:r>
            <a:endParaRPr lang="en-US" sz="1200" dirty="0"/>
          </a:p>
        </p:txBody>
      </p:sp>
      <p:sp>
        <p:nvSpPr>
          <p:cNvPr id="20" name="Shape 18"/>
          <p:cNvSpPr/>
          <p:nvPr/>
        </p:nvSpPr>
        <p:spPr>
          <a:xfrm rot="10800000">
            <a:off x="1042416" y="3899916"/>
            <a:ext cx="182880" cy="137160"/>
          </a:xfrm>
          <a:prstGeom prst="triangle">
            <a:avLst/>
          </a:prstGeom>
          <a:solidFill>
            <a:srgbClr val="C9A84C"/>
          </a:solidFill>
          <a:ln/>
        </p:spPr>
      </p:sp>
      <p:sp>
        <p:nvSpPr>
          <p:cNvPr id="21" name="Shape 19"/>
          <p:cNvSpPr/>
          <p:nvPr/>
        </p:nvSpPr>
        <p:spPr>
          <a:xfrm>
            <a:off x="548640" y="4046220"/>
            <a:ext cx="5349240" cy="583692"/>
          </a:xfrm>
          <a:prstGeom prst="rect">
            <a:avLst/>
          </a:prstGeom>
          <a:solidFill>
            <a:srgbClr val="FFFFFF"/>
          </a:solidFill>
          <a:ln w="12700">
            <a:solidFill>
              <a:srgbClr val="DAD3C2"/>
            </a:solidFill>
            <a:prstDash val="solid"/>
          </a:ln>
        </p:spPr>
      </p:sp>
      <p:sp>
        <p:nvSpPr>
          <p:cNvPr id="22" name="Shape 20"/>
          <p:cNvSpPr/>
          <p:nvPr/>
        </p:nvSpPr>
        <p:spPr>
          <a:xfrm>
            <a:off x="548640" y="4046220"/>
            <a:ext cx="1188720" cy="583692"/>
          </a:xfrm>
          <a:prstGeom prst="rect">
            <a:avLst/>
          </a:prstGeom>
          <a:solidFill>
            <a:srgbClr val="1A2332"/>
          </a:solidFill>
          <a:ln/>
        </p:spPr>
      </p:sp>
      <p:sp>
        <p:nvSpPr>
          <p:cNvPr id="23" name="Text 21"/>
          <p:cNvSpPr/>
          <p:nvPr/>
        </p:nvSpPr>
        <p:spPr>
          <a:xfrm>
            <a:off x="548640" y="404622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US.62</a:t>
            </a:r>
            <a:endParaRPr lang="en-US" sz="1600" dirty="0"/>
          </a:p>
        </p:txBody>
      </p:sp>
      <p:sp>
        <p:nvSpPr>
          <p:cNvPr id="24" name="Text 22"/>
          <p:cNvSpPr/>
          <p:nvPr/>
        </p:nvSpPr>
        <p:spPr>
          <a:xfrm>
            <a:off x="1920240" y="404622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Korean War</a:t>
            </a:r>
            <a:endParaRPr lang="en-US" sz="1200" dirty="0"/>
          </a:p>
        </p:txBody>
      </p:sp>
      <p:sp>
        <p:nvSpPr>
          <p:cNvPr id="25" name="Shape 23"/>
          <p:cNvSpPr/>
          <p:nvPr/>
        </p:nvSpPr>
        <p:spPr>
          <a:xfrm rot="10800000">
            <a:off x="1042416" y="4639056"/>
            <a:ext cx="182880" cy="137160"/>
          </a:xfrm>
          <a:prstGeom prst="triangle">
            <a:avLst/>
          </a:prstGeom>
          <a:solidFill>
            <a:srgbClr val="C9A84C"/>
          </a:solidFill>
          <a:ln/>
        </p:spPr>
      </p:sp>
      <p:sp>
        <p:nvSpPr>
          <p:cNvPr id="26" name="Shape 24"/>
          <p:cNvSpPr/>
          <p:nvPr/>
        </p:nvSpPr>
        <p:spPr>
          <a:xfrm>
            <a:off x="548640" y="4785360"/>
            <a:ext cx="5349240" cy="583692"/>
          </a:xfrm>
          <a:prstGeom prst="rect">
            <a:avLst/>
          </a:prstGeom>
          <a:solidFill>
            <a:srgbClr val="FFFFFF"/>
          </a:solidFill>
          <a:ln w="12700">
            <a:solidFill>
              <a:srgbClr val="DAD3C2"/>
            </a:solidFill>
            <a:prstDash val="solid"/>
          </a:ln>
        </p:spPr>
      </p:sp>
      <p:sp>
        <p:nvSpPr>
          <p:cNvPr id="27" name="Shape 25"/>
          <p:cNvSpPr/>
          <p:nvPr/>
        </p:nvSpPr>
        <p:spPr>
          <a:xfrm>
            <a:off x="548640" y="4785360"/>
            <a:ext cx="1188720" cy="583692"/>
          </a:xfrm>
          <a:prstGeom prst="rect">
            <a:avLst/>
          </a:prstGeom>
          <a:solidFill>
            <a:srgbClr val="1A2332"/>
          </a:solidFill>
          <a:ln/>
        </p:spPr>
      </p:sp>
      <p:sp>
        <p:nvSpPr>
          <p:cNvPr id="28" name="Text 26"/>
          <p:cNvSpPr/>
          <p:nvPr/>
        </p:nvSpPr>
        <p:spPr>
          <a:xfrm>
            <a:off x="548640" y="478536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US.63</a:t>
            </a:r>
            <a:endParaRPr lang="en-US" sz="1600" dirty="0"/>
          </a:p>
        </p:txBody>
      </p:sp>
      <p:sp>
        <p:nvSpPr>
          <p:cNvPr id="29" name="Text 27"/>
          <p:cNvSpPr/>
          <p:nvPr/>
        </p:nvSpPr>
        <p:spPr>
          <a:xfrm>
            <a:off x="1920240" y="478536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Eisenhower's Cold War Policies</a:t>
            </a:r>
            <a:endParaRPr lang="en-US" sz="1200" dirty="0"/>
          </a:p>
        </p:txBody>
      </p:sp>
      <p:sp>
        <p:nvSpPr>
          <p:cNvPr id="30" name="Shape 28"/>
          <p:cNvSpPr/>
          <p:nvPr/>
        </p:nvSpPr>
        <p:spPr>
          <a:xfrm rot="10800000">
            <a:off x="1042416" y="5378196"/>
            <a:ext cx="182880" cy="137160"/>
          </a:xfrm>
          <a:prstGeom prst="triangle">
            <a:avLst/>
          </a:prstGeom>
          <a:solidFill>
            <a:srgbClr val="C9A84C"/>
          </a:solidFill>
          <a:ln/>
        </p:spPr>
      </p:sp>
      <p:sp>
        <p:nvSpPr>
          <p:cNvPr id="31" name="Shape 29"/>
          <p:cNvSpPr/>
          <p:nvPr/>
        </p:nvSpPr>
        <p:spPr>
          <a:xfrm>
            <a:off x="548640" y="5524500"/>
            <a:ext cx="5349240" cy="583692"/>
          </a:xfrm>
          <a:prstGeom prst="rect">
            <a:avLst/>
          </a:prstGeom>
          <a:solidFill>
            <a:srgbClr val="FFFFFF"/>
          </a:solidFill>
          <a:ln w="12700">
            <a:solidFill>
              <a:srgbClr val="DAD3C2"/>
            </a:solidFill>
            <a:prstDash val="solid"/>
          </a:ln>
        </p:spPr>
      </p:sp>
      <p:sp>
        <p:nvSpPr>
          <p:cNvPr id="32" name="Shape 30"/>
          <p:cNvSpPr/>
          <p:nvPr/>
        </p:nvSpPr>
        <p:spPr>
          <a:xfrm>
            <a:off x="548640" y="5524500"/>
            <a:ext cx="1188720" cy="583692"/>
          </a:xfrm>
          <a:prstGeom prst="rect">
            <a:avLst/>
          </a:prstGeom>
          <a:solidFill>
            <a:srgbClr val="1A2332"/>
          </a:solidFill>
          <a:ln/>
        </p:spPr>
      </p:sp>
      <p:sp>
        <p:nvSpPr>
          <p:cNvPr id="33" name="Text 31"/>
          <p:cNvSpPr/>
          <p:nvPr/>
        </p:nvSpPr>
        <p:spPr>
          <a:xfrm>
            <a:off x="548640" y="552450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US.64</a:t>
            </a:r>
            <a:endParaRPr lang="en-US" sz="1600" dirty="0"/>
          </a:p>
        </p:txBody>
      </p:sp>
      <p:sp>
        <p:nvSpPr>
          <p:cNvPr id="34" name="Text 32"/>
          <p:cNvSpPr/>
          <p:nvPr/>
        </p:nvSpPr>
        <p:spPr>
          <a:xfrm>
            <a:off x="1920240" y="552450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Nuclear Fears and Civil Defense</a:t>
            </a:r>
            <a:endParaRPr lang="en-US" sz="1200" dirty="0"/>
          </a:p>
        </p:txBody>
      </p:sp>
      <p:sp>
        <p:nvSpPr>
          <p:cNvPr id="35" name="Shape 33"/>
          <p:cNvSpPr/>
          <p:nvPr/>
        </p:nvSpPr>
        <p:spPr>
          <a:xfrm>
            <a:off x="6309360" y="1828800"/>
            <a:ext cx="5349240" cy="583692"/>
          </a:xfrm>
          <a:prstGeom prst="rect">
            <a:avLst/>
          </a:prstGeom>
          <a:solidFill>
            <a:srgbClr val="FFFFFF"/>
          </a:solidFill>
          <a:ln w="12700">
            <a:solidFill>
              <a:srgbClr val="DAD3C2"/>
            </a:solidFill>
            <a:prstDash val="solid"/>
          </a:ln>
        </p:spPr>
      </p:sp>
      <p:sp>
        <p:nvSpPr>
          <p:cNvPr id="36" name="Shape 34"/>
          <p:cNvSpPr/>
          <p:nvPr/>
        </p:nvSpPr>
        <p:spPr>
          <a:xfrm>
            <a:off x="6309360" y="1828800"/>
            <a:ext cx="1188720" cy="583692"/>
          </a:xfrm>
          <a:prstGeom prst="rect">
            <a:avLst/>
          </a:prstGeom>
          <a:solidFill>
            <a:srgbClr val="1A2332"/>
          </a:solidFill>
          <a:ln/>
        </p:spPr>
      </p:sp>
      <p:sp>
        <p:nvSpPr>
          <p:cNvPr id="37" name="Text 35"/>
          <p:cNvSpPr/>
          <p:nvPr/>
        </p:nvSpPr>
        <p:spPr>
          <a:xfrm>
            <a:off x="6309360" y="182880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US.65</a:t>
            </a:r>
            <a:endParaRPr lang="en-US" sz="1600" dirty="0"/>
          </a:p>
        </p:txBody>
      </p:sp>
      <p:sp>
        <p:nvSpPr>
          <p:cNvPr id="38" name="Text 36"/>
          <p:cNvSpPr/>
          <p:nvPr/>
        </p:nvSpPr>
        <p:spPr>
          <a:xfrm>
            <a:off x="7680960" y="182880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U.S.-Cuba Relations</a:t>
            </a:r>
            <a:endParaRPr lang="en-US" sz="1200" dirty="0"/>
          </a:p>
        </p:txBody>
      </p:sp>
      <p:sp>
        <p:nvSpPr>
          <p:cNvPr id="39" name="Shape 37"/>
          <p:cNvSpPr/>
          <p:nvPr/>
        </p:nvSpPr>
        <p:spPr>
          <a:xfrm rot="10800000">
            <a:off x="6803136" y="2421636"/>
            <a:ext cx="182880" cy="137160"/>
          </a:xfrm>
          <a:prstGeom prst="triangle">
            <a:avLst/>
          </a:prstGeom>
          <a:solidFill>
            <a:srgbClr val="C9A84C"/>
          </a:solidFill>
          <a:ln/>
        </p:spPr>
      </p:sp>
      <p:sp>
        <p:nvSpPr>
          <p:cNvPr id="40" name="Shape 38"/>
          <p:cNvSpPr/>
          <p:nvPr/>
        </p:nvSpPr>
        <p:spPr>
          <a:xfrm>
            <a:off x="6309360" y="2567940"/>
            <a:ext cx="5349240" cy="583692"/>
          </a:xfrm>
          <a:prstGeom prst="rect">
            <a:avLst/>
          </a:prstGeom>
          <a:solidFill>
            <a:srgbClr val="FFFFFF"/>
          </a:solidFill>
          <a:ln w="12700">
            <a:solidFill>
              <a:srgbClr val="DAD3C2"/>
            </a:solidFill>
            <a:prstDash val="solid"/>
          </a:ln>
        </p:spPr>
      </p:sp>
      <p:sp>
        <p:nvSpPr>
          <p:cNvPr id="41" name="Shape 39"/>
          <p:cNvSpPr/>
          <p:nvPr/>
        </p:nvSpPr>
        <p:spPr>
          <a:xfrm>
            <a:off x="6309360" y="2567940"/>
            <a:ext cx="1188720" cy="583692"/>
          </a:xfrm>
          <a:prstGeom prst="rect">
            <a:avLst/>
          </a:prstGeom>
          <a:solidFill>
            <a:srgbClr val="1A2332"/>
          </a:solidFill>
          <a:ln/>
        </p:spPr>
      </p:sp>
      <p:sp>
        <p:nvSpPr>
          <p:cNvPr id="42" name="Text 40"/>
          <p:cNvSpPr/>
          <p:nvPr/>
        </p:nvSpPr>
        <p:spPr>
          <a:xfrm>
            <a:off x="6309360" y="256794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US.66</a:t>
            </a:r>
            <a:endParaRPr lang="en-US" sz="1600" dirty="0"/>
          </a:p>
        </p:txBody>
      </p:sp>
      <p:sp>
        <p:nvSpPr>
          <p:cNvPr id="43" name="Text 41"/>
          <p:cNvSpPr/>
          <p:nvPr/>
        </p:nvSpPr>
        <p:spPr>
          <a:xfrm>
            <a:off x="7680960" y="256794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Vietnam War Causes, Course, and Consequences</a:t>
            </a:r>
            <a:endParaRPr lang="en-US" sz="1200" dirty="0"/>
          </a:p>
        </p:txBody>
      </p:sp>
      <p:sp>
        <p:nvSpPr>
          <p:cNvPr id="44" name="Shape 42"/>
          <p:cNvSpPr/>
          <p:nvPr/>
        </p:nvSpPr>
        <p:spPr>
          <a:xfrm rot="10800000">
            <a:off x="6803136" y="3160776"/>
            <a:ext cx="182880" cy="137160"/>
          </a:xfrm>
          <a:prstGeom prst="triangle">
            <a:avLst/>
          </a:prstGeom>
          <a:solidFill>
            <a:srgbClr val="C9A84C"/>
          </a:solidFill>
          <a:ln/>
        </p:spPr>
      </p:sp>
      <p:sp>
        <p:nvSpPr>
          <p:cNvPr id="45" name="Shape 43"/>
          <p:cNvSpPr/>
          <p:nvPr/>
        </p:nvSpPr>
        <p:spPr>
          <a:xfrm>
            <a:off x="6309360" y="3307080"/>
            <a:ext cx="5349240" cy="583692"/>
          </a:xfrm>
          <a:prstGeom prst="rect">
            <a:avLst/>
          </a:prstGeom>
          <a:solidFill>
            <a:srgbClr val="FFFFFF"/>
          </a:solidFill>
          <a:ln w="12700">
            <a:solidFill>
              <a:srgbClr val="DAD3C2"/>
            </a:solidFill>
            <a:prstDash val="solid"/>
          </a:ln>
        </p:spPr>
      </p:sp>
      <p:sp>
        <p:nvSpPr>
          <p:cNvPr id="46" name="Shape 44"/>
          <p:cNvSpPr/>
          <p:nvPr/>
        </p:nvSpPr>
        <p:spPr>
          <a:xfrm>
            <a:off x="6309360" y="3307080"/>
            <a:ext cx="1188720" cy="583692"/>
          </a:xfrm>
          <a:prstGeom prst="rect">
            <a:avLst/>
          </a:prstGeom>
          <a:solidFill>
            <a:srgbClr val="1A2332"/>
          </a:solidFill>
          <a:ln/>
        </p:spPr>
      </p:sp>
      <p:sp>
        <p:nvSpPr>
          <p:cNvPr id="47" name="Text 45"/>
          <p:cNvSpPr/>
          <p:nvPr/>
        </p:nvSpPr>
        <p:spPr>
          <a:xfrm>
            <a:off x="6309360" y="330708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US.67</a:t>
            </a:r>
            <a:endParaRPr lang="en-US" sz="1600" dirty="0"/>
          </a:p>
        </p:txBody>
      </p:sp>
      <p:sp>
        <p:nvSpPr>
          <p:cNvPr id="48" name="Text 46"/>
          <p:cNvSpPr/>
          <p:nvPr/>
        </p:nvSpPr>
        <p:spPr>
          <a:xfrm>
            <a:off x="7680960" y="330708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Presidential Vietnam Policies</a:t>
            </a:r>
            <a:endParaRPr lang="en-US" sz="1200" dirty="0"/>
          </a:p>
        </p:txBody>
      </p:sp>
      <p:sp>
        <p:nvSpPr>
          <p:cNvPr id="49" name="Shape 47"/>
          <p:cNvSpPr/>
          <p:nvPr/>
        </p:nvSpPr>
        <p:spPr>
          <a:xfrm rot="10800000">
            <a:off x="6803136" y="3899916"/>
            <a:ext cx="182880" cy="137160"/>
          </a:xfrm>
          <a:prstGeom prst="triangle">
            <a:avLst/>
          </a:prstGeom>
          <a:solidFill>
            <a:srgbClr val="C9A84C"/>
          </a:solidFill>
          <a:ln/>
        </p:spPr>
      </p:sp>
      <p:sp>
        <p:nvSpPr>
          <p:cNvPr id="50" name="Shape 48"/>
          <p:cNvSpPr/>
          <p:nvPr/>
        </p:nvSpPr>
        <p:spPr>
          <a:xfrm>
            <a:off x="6309360" y="4046220"/>
            <a:ext cx="5349240" cy="583692"/>
          </a:xfrm>
          <a:prstGeom prst="rect">
            <a:avLst/>
          </a:prstGeom>
          <a:solidFill>
            <a:srgbClr val="FFFFFF"/>
          </a:solidFill>
          <a:ln w="12700">
            <a:solidFill>
              <a:srgbClr val="DAD3C2"/>
            </a:solidFill>
            <a:prstDash val="solid"/>
          </a:ln>
        </p:spPr>
      </p:sp>
      <p:sp>
        <p:nvSpPr>
          <p:cNvPr id="51" name="Shape 49"/>
          <p:cNvSpPr/>
          <p:nvPr/>
        </p:nvSpPr>
        <p:spPr>
          <a:xfrm>
            <a:off x="6309360" y="4046220"/>
            <a:ext cx="1188720" cy="583692"/>
          </a:xfrm>
          <a:prstGeom prst="rect">
            <a:avLst/>
          </a:prstGeom>
          <a:solidFill>
            <a:srgbClr val="1A2332"/>
          </a:solidFill>
          <a:ln/>
        </p:spPr>
      </p:sp>
      <p:sp>
        <p:nvSpPr>
          <p:cNvPr id="52" name="Text 50"/>
          <p:cNvSpPr/>
          <p:nvPr/>
        </p:nvSpPr>
        <p:spPr>
          <a:xfrm>
            <a:off x="6309360" y="404622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US.68</a:t>
            </a:r>
            <a:endParaRPr lang="en-US" sz="1600" dirty="0"/>
          </a:p>
        </p:txBody>
      </p:sp>
      <p:sp>
        <p:nvSpPr>
          <p:cNvPr id="53" name="Text 51"/>
          <p:cNvSpPr/>
          <p:nvPr/>
        </p:nvSpPr>
        <p:spPr>
          <a:xfrm>
            <a:off x="7680960" y="404622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Vietnam War Home Front Impact</a:t>
            </a:r>
            <a:endParaRPr lang="en-US" sz="1200" dirty="0"/>
          </a:p>
        </p:txBody>
      </p:sp>
      <p:sp>
        <p:nvSpPr>
          <p:cNvPr id="54" name="Shape 52"/>
          <p:cNvSpPr/>
          <p:nvPr/>
        </p:nvSpPr>
        <p:spPr>
          <a:xfrm rot="10800000">
            <a:off x="6803136" y="4639056"/>
            <a:ext cx="182880" cy="137160"/>
          </a:xfrm>
          <a:prstGeom prst="triangle">
            <a:avLst/>
          </a:prstGeom>
          <a:solidFill>
            <a:srgbClr val="C9A84C"/>
          </a:solidFill>
          <a:ln/>
        </p:spPr>
      </p:sp>
      <p:sp>
        <p:nvSpPr>
          <p:cNvPr id="55" name="Shape 53"/>
          <p:cNvSpPr/>
          <p:nvPr/>
        </p:nvSpPr>
        <p:spPr>
          <a:xfrm>
            <a:off x="6309360" y="4785360"/>
            <a:ext cx="5349240" cy="583692"/>
          </a:xfrm>
          <a:prstGeom prst="rect">
            <a:avLst/>
          </a:prstGeom>
          <a:solidFill>
            <a:srgbClr val="FFFFFF"/>
          </a:solidFill>
          <a:ln w="12700">
            <a:solidFill>
              <a:srgbClr val="DAD3C2"/>
            </a:solidFill>
            <a:prstDash val="solid"/>
          </a:ln>
        </p:spPr>
      </p:sp>
      <p:sp>
        <p:nvSpPr>
          <p:cNvPr id="56" name="Shape 54"/>
          <p:cNvSpPr/>
          <p:nvPr/>
        </p:nvSpPr>
        <p:spPr>
          <a:xfrm>
            <a:off x="6309360" y="4785360"/>
            <a:ext cx="1188720" cy="583692"/>
          </a:xfrm>
          <a:prstGeom prst="rect">
            <a:avLst/>
          </a:prstGeom>
          <a:solidFill>
            <a:srgbClr val="1A2332"/>
          </a:solidFill>
          <a:ln/>
        </p:spPr>
      </p:sp>
      <p:sp>
        <p:nvSpPr>
          <p:cNvPr id="57" name="Text 55"/>
          <p:cNvSpPr/>
          <p:nvPr/>
        </p:nvSpPr>
        <p:spPr>
          <a:xfrm>
            <a:off x="6309360" y="478536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US.69</a:t>
            </a:r>
            <a:endParaRPr lang="en-US" sz="1600" dirty="0"/>
          </a:p>
        </p:txBody>
      </p:sp>
      <p:sp>
        <p:nvSpPr>
          <p:cNvPr id="58" name="Text 56"/>
          <p:cNvSpPr/>
          <p:nvPr/>
        </p:nvSpPr>
        <p:spPr>
          <a:xfrm>
            <a:off x="7680960" y="478536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Space Race Competition</a:t>
            </a:r>
            <a:endParaRPr lang="en-US" sz="1200" dirty="0"/>
          </a:p>
        </p:txBody>
      </p:sp>
      <p:sp>
        <p:nvSpPr>
          <p:cNvPr id="59" name="Shape 57"/>
          <p:cNvSpPr/>
          <p:nvPr/>
        </p:nvSpPr>
        <p:spPr>
          <a:xfrm rot="10800000">
            <a:off x="6803136" y="5378196"/>
            <a:ext cx="182880" cy="137160"/>
          </a:xfrm>
          <a:prstGeom prst="triangle">
            <a:avLst/>
          </a:prstGeom>
          <a:solidFill>
            <a:srgbClr val="C9A84C"/>
          </a:solidFill>
          <a:ln/>
        </p:spPr>
      </p:sp>
      <p:sp>
        <p:nvSpPr>
          <p:cNvPr id="60" name="Shape 58"/>
          <p:cNvSpPr/>
          <p:nvPr/>
        </p:nvSpPr>
        <p:spPr>
          <a:xfrm>
            <a:off x="6309360" y="5524500"/>
            <a:ext cx="5349240" cy="583692"/>
          </a:xfrm>
          <a:prstGeom prst="rect">
            <a:avLst/>
          </a:prstGeom>
          <a:solidFill>
            <a:srgbClr val="FFFFFF"/>
          </a:solidFill>
          <a:ln w="12700">
            <a:solidFill>
              <a:srgbClr val="DAD3C2"/>
            </a:solidFill>
            <a:prstDash val="solid"/>
          </a:ln>
        </p:spPr>
      </p:sp>
      <p:sp>
        <p:nvSpPr>
          <p:cNvPr id="61" name="Shape 59"/>
          <p:cNvSpPr/>
          <p:nvPr/>
        </p:nvSpPr>
        <p:spPr>
          <a:xfrm>
            <a:off x="6309360" y="5524500"/>
            <a:ext cx="1188720" cy="583692"/>
          </a:xfrm>
          <a:prstGeom prst="rect">
            <a:avLst/>
          </a:prstGeom>
          <a:solidFill>
            <a:srgbClr val="1A2332"/>
          </a:solidFill>
          <a:ln/>
        </p:spPr>
      </p:sp>
      <p:sp>
        <p:nvSpPr>
          <p:cNvPr id="62" name="Text 60"/>
          <p:cNvSpPr/>
          <p:nvPr/>
        </p:nvSpPr>
        <p:spPr>
          <a:xfrm>
            <a:off x="6309360" y="5524500"/>
            <a:ext cx="1188720" cy="583692"/>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US.70</a:t>
            </a:r>
            <a:endParaRPr lang="en-US" sz="1600" dirty="0"/>
          </a:p>
        </p:txBody>
      </p:sp>
      <p:sp>
        <p:nvSpPr>
          <p:cNvPr id="63" name="Text 61"/>
          <p:cNvSpPr/>
          <p:nvPr/>
        </p:nvSpPr>
        <p:spPr>
          <a:xfrm>
            <a:off x="7680960" y="5524500"/>
            <a:ext cx="3840480" cy="583692"/>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Cold War Détente &amp; the Fall of the Berlin Wall</a:t>
            </a:r>
            <a:endParaRPr lang="en-US" sz="1200" dirty="0"/>
          </a:p>
        </p:txBody>
      </p:sp>
      <p:sp>
        <p:nvSpPr>
          <p:cNvPr id="64" name="Shape 62"/>
          <p:cNvSpPr/>
          <p:nvPr/>
        </p:nvSpPr>
        <p:spPr>
          <a:xfrm>
            <a:off x="5532120" y="1856232"/>
            <a:ext cx="658368" cy="384048"/>
          </a:xfrm>
          <a:prstGeom prst="roundRect">
            <a:avLst>
              <a:gd name="adj" fmla="val 14286"/>
            </a:avLst>
          </a:prstGeom>
          <a:solidFill>
            <a:srgbClr val="1A2332"/>
          </a:solidFill>
          <a:ln/>
        </p:spPr>
      </p:sp>
      <p:sp>
        <p:nvSpPr>
          <p:cNvPr id="65" name="Text 63"/>
          <p:cNvSpPr/>
          <p:nvPr/>
        </p:nvSpPr>
        <p:spPr>
          <a:xfrm>
            <a:off x="5532120" y="1856232"/>
            <a:ext cx="658368" cy="384048"/>
          </a:xfrm>
          <a:prstGeom prst="rect">
            <a:avLst/>
          </a:prstGeom>
          <a:noFill/>
          <a:ln/>
        </p:spPr>
        <p:txBody>
          <a:bodyPr wrap="square" rtlCol="0" anchor="ctr"/>
          <a:lstStyle/>
          <a:p>
            <a:pPr algn="ctr" indent="0" marL="0">
              <a:buNone/>
            </a:pPr>
            <a:r>
              <a:rPr lang="en-US" sz="900" b="1" dirty="0">
                <a:solidFill>
                  <a:srgbClr val="F9A825"/>
                </a:solidFill>
                <a:latin typeface="Trebuchet MS" pitchFamily="34" charset="0"/>
                <a:ea typeface="Trebuchet MS" pitchFamily="34" charset="-122"/>
                <a:cs typeface="Trebuchet MS" pitchFamily="34" charset="-120"/>
              </a:rPr>
              <a:t>then</a:t>
            </a:r>
            <a:endParaRPr lang="en-US" sz="900" dirty="0"/>
          </a:p>
        </p:txBody>
      </p:sp>
      <p:sp>
        <p:nvSpPr>
          <p:cNvPr id="66" name="Shape 64"/>
          <p:cNvSpPr/>
          <p:nvPr/>
        </p:nvSpPr>
        <p:spPr>
          <a:xfrm rot="5400000">
            <a:off x="6199632" y="1984248"/>
            <a:ext cx="164592" cy="146304"/>
          </a:xfrm>
          <a:prstGeom prst="triangle">
            <a:avLst/>
          </a:prstGeom>
          <a:solidFill>
            <a:srgbClr val="C9A84C"/>
          </a:solidFill>
          <a:ln/>
        </p:spPr>
      </p:sp>
      <p:sp>
        <p:nvSpPr>
          <p:cNvPr id="67" name="Text 6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68" name="Text 6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858"/>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640080" y="64008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BELL RINGER · HOOK</a:t>
            </a:r>
            <a:endParaRPr lang="en-US" sz="1200" dirty="0"/>
          </a:p>
        </p:txBody>
      </p:sp>
      <p:sp>
        <p:nvSpPr>
          <p:cNvPr id="4" name="Text 2"/>
          <p:cNvSpPr/>
          <p:nvPr/>
        </p:nvSpPr>
        <p:spPr>
          <a:xfrm>
            <a:off x="640080" y="1234440"/>
            <a:ext cx="10789920" cy="1965960"/>
          </a:xfrm>
          <a:prstGeom prst="rect">
            <a:avLst/>
          </a:prstGeom>
          <a:noFill/>
          <a:ln/>
        </p:spPr>
        <p:txBody>
          <a:bodyPr wrap="square" rtlCol="0" anchor="t">
            <a:normAutofit/>
          </a:bodyPr>
          <a:lstStyle/>
          <a:p>
            <a:pPr indent="0" marL="0">
              <a:lnSpc>
                <a:spcPct val="105000"/>
              </a:lnSpc>
              <a:buNone/>
            </a:pPr>
            <a:r>
              <a:rPr lang="en-US" sz="3000" b="1" dirty="0">
                <a:solidFill>
                  <a:srgbClr val="FFFFFF"/>
                </a:solidFill>
                <a:latin typeface="Georgia" pitchFamily="34" charset="0"/>
                <a:ea typeface="Georgia" pitchFamily="34" charset="-122"/>
                <a:cs typeface="Georgia" pitchFamily="34" charset="-120"/>
              </a:rPr>
              <a:t>For nearly half a century after World War II, two superpowers — the United States and the Soviet Union — never fired a shot directly at each other, yet they built enough weapons to destroy the world many times over and pulled nearly every nation on Earth into their rivalry.</a:t>
            </a:r>
            <a:endParaRPr lang="en-US" sz="3000" dirty="0"/>
          </a:p>
          <a:p>
            <a:pPr indent="0" marL="0">
              <a:lnSpc>
                <a:spcPct val="105000"/>
              </a:lnSpc>
              <a:buNone/>
            </a:pPr>
            <a:r>
              <a:rPr lang="en-US" sz="3000" b="1" dirty="0">
                <a:solidFill>
                  <a:srgbClr val="FFFFFF"/>
                </a:solidFill>
                <a:latin typeface="Georgia" pitchFamily="34" charset="0"/>
                <a:ea typeface="Georgia" pitchFamily="34" charset="-122"/>
                <a:cs typeface="Georgia" pitchFamily="34" charset="-120"/>
              </a:rPr>
              <a:t>From Berlin to Korea, Cuba to Vietnam, and the surface of the Moon to the Berlin Wall, the Cold War shaped American policy, society, and daily life for two generations.</a:t>
            </a:r>
            <a:endParaRPr lang="en-US" sz="3000" dirty="0"/>
          </a:p>
        </p:txBody>
      </p:sp>
      <p:sp>
        <p:nvSpPr>
          <p:cNvPr id="5" name="Text 3"/>
          <p:cNvSpPr/>
          <p:nvPr/>
        </p:nvSpPr>
        <p:spPr>
          <a:xfrm>
            <a:off x="640080" y="3337560"/>
            <a:ext cx="10789920" cy="914400"/>
          </a:xfrm>
          <a:prstGeom prst="rect">
            <a:avLst/>
          </a:prstGeom>
          <a:noFill/>
          <a:ln/>
        </p:spPr>
        <p:txBody>
          <a:bodyPr wrap="square" rtlCol="0" anchor="t">
            <a:normAutofit/>
          </a:bodyPr>
          <a:lstStyle/>
          <a:p>
            <a:pPr indent="0" marL="0">
              <a:buNone/>
            </a:pPr>
            <a:r>
              <a:rPr lang="en-US" sz="2200" i="1" dirty="0">
                <a:solidFill>
                  <a:srgbClr val="F9A825"/>
                </a:solidFill>
                <a:latin typeface="Georgia" pitchFamily="34" charset="0"/>
                <a:ea typeface="Georgia" pitchFamily="34" charset="-122"/>
                <a:cs typeface="Georgia" pitchFamily="34" charset="-120"/>
              </a:rPr>
              <a:t>How could two nations wage a decades-long "war" without ever meeting on the battlefield — and how did that rivalry finally come to a peaceful end?</a:t>
            </a:r>
            <a:endParaRPr lang="en-US" sz="2200" dirty="0"/>
          </a:p>
        </p:txBody>
      </p:sp>
      <p:sp>
        <p:nvSpPr>
          <p:cNvPr id="6" name="Shape 4"/>
          <p:cNvSpPr/>
          <p:nvPr/>
        </p:nvSpPr>
        <p:spPr>
          <a:xfrm>
            <a:off x="640080" y="4434840"/>
            <a:ext cx="10881360" cy="1417320"/>
          </a:xfrm>
          <a:prstGeom prst="roundRect">
            <a:avLst>
              <a:gd name="adj" fmla="val 6452"/>
            </a:avLst>
          </a:prstGeom>
          <a:solidFill>
            <a:srgbClr val="243047"/>
          </a:solidFill>
          <a:ln w="12700">
            <a:solidFill>
              <a:srgbClr val="C9A84C"/>
            </a:solidFill>
            <a:prstDash val="solid"/>
          </a:ln>
        </p:spPr>
      </p:sp>
      <p:sp>
        <p:nvSpPr>
          <p:cNvPr id="7" name="Text 5"/>
          <p:cNvSpPr/>
          <p:nvPr/>
        </p:nvSpPr>
        <p:spPr>
          <a:xfrm>
            <a:off x="914400" y="4617720"/>
            <a:ext cx="2743200" cy="320040"/>
          </a:xfrm>
          <a:prstGeom prst="rect">
            <a:avLst/>
          </a:prstGeom>
          <a:noFill/>
          <a:ln/>
        </p:spPr>
        <p:txBody>
          <a:bodyPr wrap="square" rtlCol="0" anchor="ctr"/>
          <a:lstStyle/>
          <a:p>
            <a:pPr indent="0" marL="0">
              <a:buNone/>
            </a:pPr>
            <a:r>
              <a:rPr lang="en-US" sz="1300" b="1" spc="200" kern="0" dirty="0">
                <a:solidFill>
                  <a:srgbClr val="F9A825"/>
                </a:solidFill>
                <a:latin typeface="Trebuchet MS" pitchFamily="34" charset="0"/>
                <a:ea typeface="Trebuchet MS" pitchFamily="34" charset="-122"/>
                <a:cs typeface="Trebuchet MS" pitchFamily="34" charset="-120"/>
              </a:rPr>
              <a:t>TURN &amp; TALK</a:t>
            </a:r>
            <a:endParaRPr lang="en-US" sz="1300" dirty="0"/>
          </a:p>
        </p:txBody>
      </p:sp>
      <p:sp>
        <p:nvSpPr>
          <p:cNvPr id="8" name="Text 6"/>
          <p:cNvSpPr/>
          <p:nvPr/>
        </p:nvSpPr>
        <p:spPr>
          <a:xfrm>
            <a:off x="914400" y="4937760"/>
            <a:ext cx="10332720" cy="822960"/>
          </a:xfrm>
          <a:prstGeom prst="rect">
            <a:avLst/>
          </a:prstGeom>
          <a:noFill/>
          <a:ln/>
        </p:spPr>
        <p:txBody>
          <a:bodyPr wrap="square"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With a partner, list three ways two rival superpowers could compete WITHOUT going to war with each other directly. Then predict: which do you think would be most dangerous to the rest of the world? Keep your list; we will return to it at the end of the unit.</a:t>
            </a:r>
            <a:endParaRPr lang="en-US" sz="16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US.59</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U.S.-Soviet Competition</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Describe the competition between the U.S. and the Soviet Union in arms development, economic dominance, and ideology, including the roles of NATO, SEATO, and the Warsaw Pact.</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describe the competition between the U.S. and the Soviet Union in arms development, economic dominance, and ideology, including the roles of NATO, SEATO, and the Warsaw Pact.</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US.59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Unit 6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global war did we just finish studying, and how did its ending set the stage for the Cold War?</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Unit Hook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is the big question of Unit 7?</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US.59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Name the two superpowers whose rivalry defined the Cold War.</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United States and the Soviet Union.</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US.59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For nearly half a century after World War II, two superpowers, the United States and the Soviet Union, never fired a shot directly at each other, yet they raced to build enough weapons to destroy the world many times over and pulled nearly every nation on Earth into their rivalry.</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How could two nations wage a decades-long 'war' without ever meeting on the battlefield, and why did their competition threaten the entire planet?</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US.59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Arms Race Rivalry</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arms race began with nuclear weapons development—the U.S. had atomic bombs by 1945, the USSR by 1949.</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Both nations rapidly developed hydrogen bombs, intercontinental ballistic missiles (ICBMs), and submarine-launched missiles.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Each side sought nuclear superiority, leading to massive stockpiles that could destroy the world multiple times over, creating a "balance of terror."</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U.S. and the Soviet Union competed during the Cold War by ________ and ________, without ever fighting each other directly.</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US.59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Economic Competition</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U.S. promoted capitalism and free markets globally, while the USSR pushed communist planned economies.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Both competed to demonstrate their economic system's superiority through foreign aid, trade relationships, and development projects in developing nations.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Marshall Plan exemplified American economic diplomacy, rebuilding Western Europe while creating markets for American goods.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US.59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Ideological Differences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United States championed democracy, individual freedoms, free market capitalism, and religious liberty.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Soviet Union promoted communist authoritarianism, collective ownership, state-controlled economy, and atheism.</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These fundamentally incompatible worldviews drove competition in every arena from sports to space exploration.</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US.59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Military Alliances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NATO (1949) was a Western alliance led by the U.S. for mutual defense against Soviet expansion.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SEATO (1954) provided Southeast Asian collective defense against communist expansion.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Warsaw Pact (1955) was the Soviet-led Eastern European military alliance responding to NATO.</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These alliances divided the world into competing blocs.</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7-full/img/truman-nato-signing-1949.jpg">    </p:cNvPr>
          <p:cNvPicPr>
            <a:picLocks noChangeAspect="1"/>
          </p:cNvPicPr>
          <p:nvPr/>
        </p:nvPicPr>
        <p:blipFill>
          <a:blip r:embed="rId1"/>
          <a:stretch>
            <a:fillRect/>
          </a:stretch>
        </p:blipFill>
        <p:spPr>
          <a:xfrm>
            <a:off x="7589520" y="1896987"/>
            <a:ext cx="4069080" cy="3274338"/>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Abbie Rowe / National Park Service / Harry S. Truman Library; National Archives and Records Administration, 1949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US.59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sp>
      <p:sp>
        <p:nvSpPr>
          <p:cNvPr id="6" name="Shape 4"/>
          <p:cNvSpPr/>
          <p:nvPr/>
        </p:nvSpPr>
        <p:spPr>
          <a:xfrm>
            <a:off x="548640" y="1627632"/>
            <a:ext cx="5394960" cy="868680"/>
          </a:xfrm>
          <a:prstGeom prst="rect">
            <a:avLst/>
          </a:prstGeom>
          <a:solidFill>
            <a:srgbClr val="1A2332"/>
          </a:solidFill>
          <a:ln/>
        </p:spPr>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Harry S. Truman</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33rd President (1945-1953)</a:t>
            </a:r>
            <a:endParaRPr lang="en-US" sz="1100" dirty="0"/>
          </a:p>
        </p:txBody>
      </p:sp>
      <p:sp>
        <p:nvSpPr>
          <p:cNvPr id="9" name="Text 7"/>
          <p:cNvSpPr/>
          <p:nvPr/>
        </p:nvSpPr>
        <p:spPr>
          <a:xfrm>
            <a:off x="69494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Led the U.S. into the early Cold War against the Soviet Union</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Defined the American strategy of containment</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Backed NATO to unite Western democracies against Soviet power</a:t>
            </a:r>
            <a:endParaRPr lang="en-US" sz="1300" dirty="0"/>
          </a:p>
        </p:txBody>
      </p:sp>
      <p:sp>
        <p:nvSpPr>
          <p:cNvPr id="10" name="Shape 8"/>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Truman to personify the moment the U.S. accepted a permanent superpower role.</a:t>
            </a:r>
            <a:endParaRPr lang="en-US" sz="800" dirty="0"/>
          </a:p>
        </p:txBody>
      </p:sp>
      <p:sp>
        <p:nvSpPr>
          <p:cNvPr id="12" name="Shape 10"/>
          <p:cNvSpPr/>
          <p:nvPr/>
        </p:nvSpPr>
        <p:spPr>
          <a:xfrm>
            <a:off x="6217920" y="1627632"/>
            <a:ext cx="5394960" cy="4114800"/>
          </a:xfrm>
          <a:prstGeom prst="rect">
            <a:avLst/>
          </a:prstGeom>
          <a:solidFill>
            <a:srgbClr val="FFFFFF"/>
          </a:solidFill>
          <a:ln w="12700">
            <a:solidFill>
              <a:srgbClr val="DAD3C2"/>
            </a:solidFill>
            <a:prstDash val="solid"/>
          </a:ln>
        </p:spPr>
      </p:sp>
      <p:sp>
        <p:nvSpPr>
          <p:cNvPr id="13" name="Shape 11"/>
          <p:cNvSpPr/>
          <p:nvPr/>
        </p:nvSpPr>
        <p:spPr>
          <a:xfrm>
            <a:off x="6217920" y="1627632"/>
            <a:ext cx="5394960" cy="868680"/>
          </a:xfrm>
          <a:prstGeom prst="rect">
            <a:avLst/>
          </a:prstGeom>
          <a:solidFill>
            <a:srgbClr val="1A2332"/>
          </a:solidFill>
          <a:ln/>
        </p:spPr>
      </p:sp>
      <p:sp>
        <p:nvSpPr>
          <p:cNvPr id="14" name="Text 12"/>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Joseph Stalin</a:t>
            </a:r>
            <a:endParaRPr lang="en-US" sz="1800" dirty="0"/>
          </a:p>
        </p:txBody>
      </p:sp>
      <p:sp>
        <p:nvSpPr>
          <p:cNvPr id="15" name="Text 13"/>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Soviet dictator (1878-1953)</a:t>
            </a:r>
            <a:endParaRPr lang="en-US" sz="1100" dirty="0"/>
          </a:p>
        </p:txBody>
      </p:sp>
      <p:sp>
        <p:nvSpPr>
          <p:cNvPr id="16" name="Text 14"/>
          <p:cNvSpPr/>
          <p:nvPr/>
        </p:nvSpPr>
        <p:spPr>
          <a:xfrm>
            <a:off x="636422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Led the USSR as the rival superpower after WWII</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Imposed communist control across Eastern Europe</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Rejected Western democracy and capitalism</a:t>
            </a:r>
            <a:endParaRPr lang="en-US" sz="1300" dirty="0"/>
          </a:p>
        </p:txBody>
      </p:sp>
      <p:sp>
        <p:nvSpPr>
          <p:cNvPr id="17" name="Shape 15"/>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sp>
      <p:sp>
        <p:nvSpPr>
          <p:cNvPr id="18" name="Text 16"/>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Pair Stalin with Truman so students see the rivalry as two systems, not just two men.</a:t>
            </a:r>
            <a:endParaRPr lang="en-US" sz="800" dirty="0"/>
          </a:p>
        </p:txBody>
      </p:sp>
      <p:sp>
        <p:nvSpPr>
          <p:cNvPr id="19"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US.59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NATO Treaty (Article 5)</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North Atlantic Treaty Organization  ·  April 4, 1949</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"The Parties agree that an armed attack against one or more of them in Europe or North America shall be considered an attack against them all and consequently they agree that... each of them... will assist the Party or Parties so attacked by taking forthwith... such action as it deems necessary, including the use of armed force."</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In 1949, the Soviet Union had recently tested its first atomic bomb and Communist forces were about to complete their takeover of China. Western European nations feared Soviet expansion and sought American protection. NATO (North Atlantic Treaty Organization) was created in April 1949 as a mutual defense alliance of Western democracies—the first peacetime military alliance in American history—committing the U.S. to defend Europe against Soviet attack.</a:t>
            </a:r>
            <a:endParaRPr lang="en-US" sz="9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commitment does Article 5 of the NATO Treaty establish?</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North Atlantic Treaty Organization</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April 4, 1949</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Avalon Project, Yale Law School</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US.59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Cold War</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kohld wor</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Fría</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CW</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prolonged geopolitical, ideological, and military rivalry between the United States and the Soviet Union from 1945 to 1991, waged through alliances, proxy wars, and an arms race rather than direct combat.</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Superpower</a:t>
            </a:r>
            <a:endParaRPr lang="en-US" sz="13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Superpotencia</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8" name="Text 16"/>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S</a:t>
            </a:r>
            <a:endParaRPr lang="en-US" sz="1500" dirty="0"/>
          </a:p>
        </p:txBody>
      </p:sp>
      <p:sp>
        <p:nvSpPr>
          <p:cNvPr id="19" name="Text 17"/>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nation with overwhelming military, economic, and political power capable of projecting force globally; during the Cold War, only the United States and Soviet Union qualified as superpowers.</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sp>
      <p:sp>
        <p:nvSpPr>
          <p:cNvPr id="21" name="Shape 19"/>
          <p:cNvSpPr/>
          <p:nvPr/>
        </p:nvSpPr>
        <p:spPr>
          <a:xfrm>
            <a:off x="548640" y="3072384"/>
            <a:ext cx="5486400" cy="676656"/>
          </a:xfrm>
          <a:prstGeom prst="rect">
            <a:avLst/>
          </a:prstGeom>
          <a:solidFill>
            <a:srgbClr val="1A2332"/>
          </a:solidFill>
          <a:ln/>
        </p:spPr>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Capitalism</a:t>
            </a:r>
            <a:endParaRPr lang="en-US" sz="1350" dirty="0"/>
          </a:p>
        </p:txBody>
      </p:sp>
      <p:sp>
        <p:nvSpPr>
          <p:cNvPr id="23" name="Text 21"/>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KAP-ih-tul-iz-um</a:t>
            </a:r>
            <a:endParaRPr lang="en-US" sz="8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Capitalismo</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6" name="Text 24"/>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C</a:t>
            </a:r>
            <a:endParaRPr lang="en-US" sz="1500" dirty="0"/>
          </a:p>
        </p:txBody>
      </p:sp>
      <p:sp>
        <p:nvSpPr>
          <p:cNvPr id="27" name="Text 25"/>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economic system based on private ownership, free markets, and competition, where individuals and businesses operate for profit, championed by the United States as superior to Soviet communism.</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sp>
      <p:sp>
        <p:nvSpPr>
          <p:cNvPr id="29" name="Shape 27"/>
          <p:cNvSpPr/>
          <p:nvPr/>
        </p:nvSpPr>
        <p:spPr>
          <a:xfrm>
            <a:off x="6263640" y="3072384"/>
            <a:ext cx="5486400" cy="676656"/>
          </a:xfrm>
          <a:prstGeom prst="rect">
            <a:avLst/>
          </a:prstGeom>
          <a:solidFill>
            <a:srgbClr val="1A2332"/>
          </a:solidFill>
          <a:ln/>
        </p:spPr>
      </p:sp>
      <p:sp>
        <p:nvSpPr>
          <p:cNvPr id="30" name="Text 28"/>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Communism</a:t>
            </a:r>
            <a:endParaRPr lang="en-US" sz="1350" dirty="0"/>
          </a:p>
        </p:txBody>
      </p:sp>
      <p:sp>
        <p:nvSpPr>
          <p:cNvPr id="31" name="Text 29"/>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KOM-yoo-niz-um</a:t>
            </a:r>
            <a:endParaRPr lang="en-US" sz="850" dirty="0"/>
          </a:p>
        </p:txBody>
      </p:sp>
      <p:sp>
        <p:nvSpPr>
          <p:cNvPr id="32" name="Text 30"/>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Comunismo</a:t>
            </a:r>
            <a:endParaRPr lang="en-US" sz="1000" dirty="0"/>
          </a:p>
        </p:txBody>
      </p:sp>
      <p:sp>
        <p:nvSpPr>
          <p:cNvPr id="33" name="Shape 31"/>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4" name="Text 32"/>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C</a:t>
            </a:r>
            <a:endParaRPr lang="en-US" sz="1500" dirty="0"/>
          </a:p>
        </p:txBody>
      </p:sp>
      <p:sp>
        <p:nvSpPr>
          <p:cNvPr id="35" name="Text 33"/>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political and economic system where the government owns all property and means of production, theoretically distributing resources equally, practiced in the Soviet Union and opposed by the United States during…</a:t>
            </a:r>
            <a:endParaRPr lang="en-US" sz="1100" dirty="0"/>
          </a:p>
        </p:txBody>
      </p:sp>
      <p:sp>
        <p:nvSpPr>
          <p:cNvPr id="36" name="Shape 34"/>
          <p:cNvSpPr/>
          <p:nvPr/>
        </p:nvSpPr>
        <p:spPr>
          <a:xfrm>
            <a:off x="548640" y="4498848"/>
            <a:ext cx="5486400" cy="1261872"/>
          </a:xfrm>
          <a:prstGeom prst="rect">
            <a:avLst/>
          </a:prstGeom>
          <a:solidFill>
            <a:srgbClr val="FFFFFF"/>
          </a:solidFill>
          <a:ln w="12700">
            <a:solidFill>
              <a:srgbClr val="DAD3C2"/>
            </a:solidFill>
            <a:prstDash val="solid"/>
          </a:ln>
        </p:spPr>
      </p:sp>
      <p:sp>
        <p:nvSpPr>
          <p:cNvPr id="37" name="Shape 35"/>
          <p:cNvSpPr/>
          <p:nvPr/>
        </p:nvSpPr>
        <p:spPr>
          <a:xfrm>
            <a:off x="548640" y="4498848"/>
            <a:ext cx="5486400" cy="676656"/>
          </a:xfrm>
          <a:prstGeom prst="rect">
            <a:avLst/>
          </a:prstGeom>
          <a:solidFill>
            <a:srgbClr val="1A2332"/>
          </a:solidFill>
          <a:ln/>
        </p:spPr>
      </p:sp>
      <p:sp>
        <p:nvSpPr>
          <p:cNvPr id="38" name="Text 36"/>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Proxy War</a:t>
            </a:r>
            <a:endParaRPr lang="en-US" sz="1350" dirty="0"/>
          </a:p>
        </p:txBody>
      </p:sp>
      <p:sp>
        <p:nvSpPr>
          <p:cNvPr id="39" name="Text 37"/>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por Poder</a:t>
            </a:r>
            <a:endParaRPr lang="en-US" sz="1000" dirty="0"/>
          </a:p>
        </p:txBody>
      </p:sp>
      <p:sp>
        <p:nvSpPr>
          <p:cNvPr id="40" name="Shape 38"/>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1" name="Text 39"/>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PW</a:t>
            </a:r>
            <a:endParaRPr lang="en-US" sz="1300" dirty="0"/>
          </a:p>
        </p:txBody>
      </p:sp>
      <p:sp>
        <p:nvSpPr>
          <p:cNvPr id="42" name="Text 40"/>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Conflicts where the United States and Soviet Union supported opposing sides without directly fighting each other, allowing superpower competition while avoiding nuclear war.</a:t>
            </a:r>
            <a:endParaRPr lang="en-US" sz="1100" dirty="0"/>
          </a:p>
        </p:txBody>
      </p:sp>
      <p:sp>
        <p:nvSpPr>
          <p:cNvPr id="43" name="Shape 41"/>
          <p:cNvSpPr/>
          <p:nvPr/>
        </p:nvSpPr>
        <p:spPr>
          <a:xfrm>
            <a:off x="6263640" y="4498848"/>
            <a:ext cx="5486400" cy="1261872"/>
          </a:xfrm>
          <a:prstGeom prst="rect">
            <a:avLst/>
          </a:prstGeom>
          <a:solidFill>
            <a:srgbClr val="FFFFFF"/>
          </a:solidFill>
          <a:ln w="12700">
            <a:solidFill>
              <a:srgbClr val="DAD3C2"/>
            </a:solidFill>
            <a:prstDash val="solid"/>
          </a:ln>
        </p:spPr>
      </p:sp>
      <p:sp>
        <p:nvSpPr>
          <p:cNvPr id="44" name="Shape 42"/>
          <p:cNvSpPr/>
          <p:nvPr/>
        </p:nvSpPr>
        <p:spPr>
          <a:xfrm>
            <a:off x="6263640" y="4498848"/>
            <a:ext cx="5486400" cy="676656"/>
          </a:xfrm>
          <a:prstGeom prst="rect">
            <a:avLst/>
          </a:prstGeom>
          <a:solidFill>
            <a:srgbClr val="1A2332"/>
          </a:solidFill>
          <a:ln/>
        </p:spPr>
      </p:sp>
      <p:sp>
        <p:nvSpPr>
          <p:cNvPr id="45" name="Text 43"/>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Iron Curtain</a:t>
            </a:r>
            <a:endParaRPr lang="en-US" sz="1350" dirty="0"/>
          </a:p>
        </p:txBody>
      </p:sp>
      <p:sp>
        <p:nvSpPr>
          <p:cNvPr id="46" name="Text 44"/>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EYE-ern KUR-tun</a:t>
            </a:r>
            <a:endParaRPr lang="en-US" sz="850" dirty="0"/>
          </a:p>
        </p:txBody>
      </p:sp>
      <p:sp>
        <p:nvSpPr>
          <p:cNvPr id="47" name="Text 45"/>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Cortina de Hierro</a:t>
            </a:r>
            <a:endParaRPr lang="en-US" sz="1000" dirty="0"/>
          </a:p>
        </p:txBody>
      </p:sp>
      <p:sp>
        <p:nvSpPr>
          <p:cNvPr id="48" name="Shape 46"/>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9" name="Text 47"/>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IC</a:t>
            </a:r>
            <a:endParaRPr lang="en-US" sz="1300" dirty="0"/>
          </a:p>
        </p:txBody>
      </p:sp>
      <p:sp>
        <p:nvSpPr>
          <p:cNvPr id="50" name="Text 48"/>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Winston Churchill's metaphor for the political, military, and ideological barrier dividing Soviet-controlled Eastern Europe from Western Europe after World War II, symbolizing the split between communist and…</a:t>
            </a:r>
            <a:endParaRPr lang="en-US" sz="1100" dirty="0"/>
          </a:p>
        </p:txBody>
      </p:sp>
      <p:sp>
        <p:nvSpPr>
          <p:cNvPr id="51" name="Text 49"/>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2" name="Text 5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3" name="Text 5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US.59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Compare two systems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How did the U.S. and Soviet systems differ, and why did that cause conflict?</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The U.S. defended capitalism and democracy; the USSR imposed communism and one-party rule. Each saw the other's model as a threat to spread, so their rivalry became global.</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In the section, underline one U.S. value and one Soviet value that clashed.</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With a partner, name the single difference you think mattered most, citing a line.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US.59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Two Superpowers, Four Arenas — Mapping U.S.-Soviet Competition</a:t>
            </a:r>
            <a:endParaRPr lang="en-US" sz="22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the NATO Treaty (Article 5) excerpt, build a four-column chart labeled ARMS RACE, ECONOMIC, IDEOLOGICAL, and ALLIANCES. For each arena, record how the United States and the Soviet Union competed and one concrete example (nuclear stockpiles, capitalism vs. command economy, democracy vs. communism, NATO vs. the Warsaw Pact). Finish with a one-sentence claim, backed by evidence, on which arena of competition posed the greatest danger to world peace.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four-arena chart (U.S. vs. USSR + one example each) AND a one-sentence evidence-based claim about the most dangerous arena.</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Chart with the four arenas pre-labeled and a word bank of examples to sort. Honors: Write a paragraph using Article 5 to explain how a mutual-defense alliance could make a wider war both less and more likely.</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cornell-notes/unit-7/us59-us-soviet-competition.pdf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US.59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did the formation of NATO and the Warsaw Pact reflect the ideological competition between the United States and the Soviet Union during the Cold War?</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They divided Europe into opposing military blocs aligned with either American capitalism or Soviet communism.</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Both alliances were formed primarily for economic cooperation rather than military defense.</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NATO and the Warsaw Pact were created jointly to prevent a third world war between smaller nations.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alliances reflected agreement between superpowers on the need for collective disarmament.</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US.59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did the formation of NATO and the Warsaw Pact reflect the ideological competition between the United States and the Soviet Union during the Cold War?</a:t>
            </a:r>
            <a:endParaRPr lang="en-US" sz="1500" dirty="0"/>
          </a:p>
        </p:txBody>
      </p:sp>
      <p:sp>
        <p:nvSpPr>
          <p:cNvPr id="9" name="Shape 7"/>
          <p:cNvSpPr/>
          <p:nvPr/>
        </p:nvSpPr>
        <p:spPr>
          <a:xfrm>
            <a:off x="548640" y="2651760"/>
            <a:ext cx="11064240" cy="566928"/>
          </a:xfrm>
          <a:prstGeom prst="roundRect">
            <a:avLst>
              <a:gd name="adj" fmla="val 9677"/>
            </a:avLst>
          </a:prstGeom>
          <a:solidFill>
            <a:srgbClr val="C9A84C"/>
          </a:solidFill>
          <a:ln w="12700">
            <a:solidFill>
              <a:srgbClr val="F9A825"/>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They divided Europe into opposing military blocs aligned with either American capitalism or Soviet communism.</a:t>
            </a:r>
            <a:endParaRPr lang="en-US" sz="1300" dirty="0"/>
          </a:p>
        </p:txBody>
      </p:sp>
      <p:sp>
        <p:nvSpPr>
          <p:cNvPr id="13" name="Text 11"/>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5" name="Shape 13"/>
          <p:cNvSpPr/>
          <p:nvPr/>
        </p:nvSpPr>
        <p:spPr>
          <a:xfrm>
            <a:off x="713232" y="3419856"/>
            <a:ext cx="347472" cy="347472"/>
          </a:xfrm>
          <a:prstGeom prst="ellipse">
            <a:avLst/>
          </a:prstGeom>
          <a:solidFill>
            <a:srgbClr val="1A2332"/>
          </a:solidFill>
          <a:ln/>
        </p:spPr>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Both alliances were formed primarily for economic cooperation rather than military defense.</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NATO and the Warsaw Pact were created jointly to prevent a third world war between smaller nations.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alliances reflected agreement between superpowers on the need for collective disarmament.</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NATO (1949) aligned Western democracies under U.S. leadership; the Warsaw Pact (1955) formalized Soviet bloc military cooperation, institutionalizing the ideological divide across Europe.</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US.59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Arms Race Rivalry</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Economic Competition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Ideological Differences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Military Alliances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Evaluate: Was the Cold War primarily a military rivalry, an economic one, or a battle of ideas? Argue your position with at least two pieces of evidence.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how the U.S. and the Soviet Union competed during the Cold War. Identify at least two different areas of competition.</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US.60</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Containment and Early Cold War Policies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Explain the Cold War policies of containment and the Truman Doctrine, Marshall Plan, and Berlin Airlift.</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explain the Cold War policies of containment and the Truman Doctrine, Marshall Plan, and Berlin Airlift.</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US.60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US.59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Name the two superpowers of the Cold War and one way they competed.</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US.59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military alliance did the U.S. and Western Europe form in 1949?</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US.60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U.S. policy aimed to stop the spread of communism?</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Containment.</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US.60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As World War II ended, Soviet armies stayed in Eastern Europe and an 'iron curtain' fell across the continent; in response, the United States pledged to hold the line against the spread of communism, spending billions to rebuild Europe and flying supplies into a blockaded Berlin.</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When a rival power expands, should a nation confront it everywhere at once, or pick its battles, and what did the American policy of containment actually require?</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Long Telegram and Containment</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George Kennan's 1946 "Long Telegram" argued that the USSR was inherently expansionist and must be contained through firm resistance.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became the foundation for containment policy—preventing Soviet expansion without direct military confrontation.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Kennan believed that if confined, the Soviet system would eventually collapse from internal weaknesses.</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Containment meant ________, and the U.S. carried it out through ________ and ________.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Truman Doctrine</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Announced in 1947, the Truman Doctrine committed the U.S. to supporting free peoples resisting communist subjugation.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Initially applied to Greece and Turkey facing communist pressures, it became the framework for global anti-communist intervention.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represented a major shift from American isolationism to global engagement.</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Marshall Plan</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Objectives: Rebuild Western European economies, create markets for American goods, and prevent communist takeover of war-torn nations.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Outcomes: The Marshall Plan successfully rebuilt Europe, strengthened NATO allies, and demonstrated American commitment to European recovery.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It provided over $13 billion in aid and is considered one of the most successful foreign policy initiatives in American history.</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Berlin Airlift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When Soviets blocked land access to West Berlin (1948-49), the U.S. and Britain airlifted supplies for 11 months.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At its peak, planes landed every few minutes, delivering food, fuel, and medicine to over 2 million West Berliners.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This demonstrated Western resolve without military confrontation and established Berlin as a Cold War symbol of freedom versus oppression.</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7-full/img/berlin-airlift-tempelhof-1948.jpg">    </p:cNvPr>
          <p:cNvPicPr>
            <a:picLocks noChangeAspect="1"/>
          </p:cNvPicPr>
          <p:nvPr/>
        </p:nvPicPr>
        <p:blipFill>
          <a:blip r:embed="rId1"/>
          <a:stretch>
            <a:fillRect/>
          </a:stretch>
        </p:blipFill>
        <p:spPr>
          <a:xfrm>
            <a:off x="7589520" y="1908785"/>
            <a:ext cx="4069080" cy="3250743"/>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U.S. Air Force / U.S. Federal Government, 1948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US.60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sp>
      <p:sp>
        <p:nvSpPr>
          <p:cNvPr id="6" name="Shape 4"/>
          <p:cNvSpPr/>
          <p:nvPr/>
        </p:nvSpPr>
        <p:spPr>
          <a:xfrm>
            <a:off x="548640" y="1627632"/>
            <a:ext cx="5394960" cy="868680"/>
          </a:xfrm>
          <a:prstGeom prst="rect">
            <a:avLst/>
          </a:prstGeom>
          <a:solidFill>
            <a:srgbClr val="1A2332"/>
          </a:solidFill>
          <a:ln/>
        </p:spPr>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Harry S. Truman</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33rd President; author of containment</a:t>
            </a:r>
            <a:endParaRPr lang="en-US" sz="1100" dirty="0"/>
          </a:p>
        </p:txBody>
      </p:sp>
      <p:sp>
        <p:nvSpPr>
          <p:cNvPr id="9" name="Text 7"/>
          <p:cNvSpPr/>
          <p:nvPr/>
        </p:nvSpPr>
        <p:spPr>
          <a:xfrm>
            <a:off x="69494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Announced the Truman Doctrine (1947) to aid Greece and Turkey</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Backed the Marshall Plan to rebuild Western Europe</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Ordered the Berlin Airlift to break the Soviet blockade</a:t>
            </a:r>
            <a:endParaRPr lang="en-US" sz="1300" dirty="0"/>
          </a:p>
        </p:txBody>
      </p:sp>
      <p:sp>
        <p:nvSpPr>
          <p:cNvPr id="10" name="Shape 8"/>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Trace Truman's steps - Doctrine, Plan, Airlift - as containment moving from words to action.</a:t>
            </a:r>
            <a:endParaRPr lang="en-US" sz="800" dirty="0"/>
          </a:p>
        </p:txBody>
      </p:sp>
      <p:sp>
        <p:nvSpPr>
          <p:cNvPr id="12" name="Shape 10"/>
          <p:cNvSpPr/>
          <p:nvPr/>
        </p:nvSpPr>
        <p:spPr>
          <a:xfrm>
            <a:off x="6217920" y="1627632"/>
            <a:ext cx="5394960" cy="4114800"/>
          </a:xfrm>
          <a:prstGeom prst="rect">
            <a:avLst/>
          </a:prstGeom>
          <a:solidFill>
            <a:srgbClr val="FFFFFF"/>
          </a:solidFill>
          <a:ln w="12700">
            <a:solidFill>
              <a:srgbClr val="DAD3C2"/>
            </a:solidFill>
            <a:prstDash val="solid"/>
          </a:ln>
        </p:spPr>
      </p:sp>
      <p:sp>
        <p:nvSpPr>
          <p:cNvPr id="13" name="Shape 11"/>
          <p:cNvSpPr/>
          <p:nvPr/>
        </p:nvSpPr>
        <p:spPr>
          <a:xfrm>
            <a:off x="6217920" y="1627632"/>
            <a:ext cx="5394960" cy="868680"/>
          </a:xfrm>
          <a:prstGeom prst="rect">
            <a:avLst/>
          </a:prstGeom>
          <a:solidFill>
            <a:srgbClr val="1A2332"/>
          </a:solidFill>
          <a:ln/>
        </p:spPr>
      </p:sp>
      <p:sp>
        <p:nvSpPr>
          <p:cNvPr id="14" name="Text 12"/>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George C. Marshall</a:t>
            </a:r>
            <a:endParaRPr lang="en-US" sz="1800" dirty="0"/>
          </a:p>
        </p:txBody>
      </p:sp>
      <p:sp>
        <p:nvSpPr>
          <p:cNvPr id="15" name="Text 13"/>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Secretary of State (1947-1949)</a:t>
            </a:r>
            <a:endParaRPr lang="en-US" sz="1100" dirty="0"/>
          </a:p>
        </p:txBody>
      </p:sp>
      <p:sp>
        <p:nvSpPr>
          <p:cNvPr id="16" name="Text 14"/>
          <p:cNvSpPr/>
          <p:nvPr/>
        </p:nvSpPr>
        <p:spPr>
          <a:xfrm>
            <a:off x="636422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Proposed the European Recovery Program (Marshall Plan)</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Aimed to rebuild Europe and block communism with aid, not arms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Won the 1953 Nobel Peace Prize for the plan</a:t>
            </a:r>
            <a:endParaRPr lang="en-US" sz="1300" dirty="0"/>
          </a:p>
        </p:txBody>
      </p:sp>
      <p:sp>
        <p:nvSpPr>
          <p:cNvPr id="17" name="Shape 15"/>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sp>
      <p:sp>
        <p:nvSpPr>
          <p:cNvPr id="18" name="Text 16"/>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Marshall to show containment's economic side, not just its military side.</a:t>
            </a:r>
            <a:endParaRPr lang="en-US" sz="800" dirty="0"/>
          </a:p>
        </p:txBody>
      </p:sp>
      <p:sp>
        <p:nvSpPr>
          <p:cNvPr id="19"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US.60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The Truman Doctrine Speech</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Harry S. Truman  ·  March 12, 1947</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"I believe that it must be the policy of the United States to support free peoples who are resisting attempted subjugation by armed minorities or by outside pressures. I believe that we must assist free peoples to work out their own destinies in their own way. I believe that our help should be primarily through economic and financial aid."</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After World War II, Greece was torn by civil war between government forces and Communist guerrillas, and Turkey faced Soviet pressure for territorial concessions. Britain, which had previously supported Greece, told the U.S. in early 1947 that it could no longer afford to do so. President Truman responded by asking Congress for aid to both countries and establishing what became known as the Truman Doctrine—a commitment to support free peoples resisting Communist takeover.</a:t>
            </a:r>
            <a:endParaRPr lang="en-US" sz="9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policy does Truman advocate in this speech?</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Harry S. Truman</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March 12, 1947</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US.60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Containment Policy</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Política de Contención</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CP</a:t>
            </a:r>
            <a:endParaRPr lang="en-US" sz="13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U.S. foreign policy strategy developed by George Kennan in 1947 to prevent the spread of communism by supporting nations threatened by Soviet expansion, forming the basis of Cold War strategy.</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Truman Doctrine</a:t>
            </a:r>
            <a:endParaRPr lang="en-US" sz="1350" dirty="0"/>
          </a:p>
        </p:txBody>
      </p:sp>
      <p:sp>
        <p:nvSpPr>
          <p:cNvPr id="15" name="Text 13"/>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TROO-mun DOK-trin</a:t>
            </a:r>
            <a:endParaRPr lang="en-US" sz="8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Doctrina Truman</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8" name="Text 16"/>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TD</a:t>
            </a:r>
            <a:endParaRPr lang="en-US" sz="1300" dirty="0"/>
          </a:p>
        </p:txBody>
      </p:sp>
      <p:sp>
        <p:nvSpPr>
          <p:cNvPr id="19" name="Text 17"/>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Truman's 1947 policy pledging U.S. support for nations threatened by Soviet communism, beginning with military and economic aid to Greece and Turkey, marking America's commitment to containing communist…</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sp>
      <p:sp>
        <p:nvSpPr>
          <p:cNvPr id="21" name="Shape 19"/>
          <p:cNvSpPr/>
          <p:nvPr/>
        </p:nvSpPr>
        <p:spPr>
          <a:xfrm>
            <a:off x="548640" y="3072384"/>
            <a:ext cx="5486400" cy="676656"/>
          </a:xfrm>
          <a:prstGeom prst="rect">
            <a:avLst/>
          </a:prstGeom>
          <a:solidFill>
            <a:srgbClr val="1A2332"/>
          </a:solidFill>
          <a:ln/>
        </p:spPr>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Marshall Plan</a:t>
            </a:r>
            <a:endParaRPr lang="en-US" sz="1350" dirty="0"/>
          </a:p>
        </p:txBody>
      </p:sp>
      <p:sp>
        <p:nvSpPr>
          <p:cNvPr id="23" name="Text 21"/>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MAR-shul plan</a:t>
            </a:r>
            <a:endParaRPr lang="en-US" sz="8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Plan Marshall</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6" name="Text 24"/>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MP</a:t>
            </a:r>
            <a:endParaRPr lang="en-US" sz="1300" dirty="0"/>
          </a:p>
        </p:txBody>
      </p:sp>
      <p:sp>
        <p:nvSpPr>
          <p:cNvPr id="27" name="Text 25"/>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massive U.S. program providing over $13 billion in economic aid to rebuild Western European economies after World War II (1948-1952), designed to prevent communist expansion by fostering prosperity and…</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sp>
      <p:sp>
        <p:nvSpPr>
          <p:cNvPr id="29" name="Shape 27"/>
          <p:cNvSpPr/>
          <p:nvPr/>
        </p:nvSpPr>
        <p:spPr>
          <a:xfrm>
            <a:off x="6263640" y="3072384"/>
            <a:ext cx="5486400" cy="676656"/>
          </a:xfrm>
          <a:prstGeom prst="rect">
            <a:avLst/>
          </a:prstGeom>
          <a:solidFill>
            <a:srgbClr val="1A2332"/>
          </a:solidFill>
          <a:ln/>
        </p:spPr>
      </p:sp>
      <p:sp>
        <p:nvSpPr>
          <p:cNvPr id="30" name="Text 28"/>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NATO (North Atlantic Treaty Organization)</a:t>
            </a:r>
            <a:endParaRPr lang="en-US" sz="1350" dirty="0"/>
          </a:p>
        </p:txBody>
      </p:sp>
      <p:sp>
        <p:nvSpPr>
          <p:cNvPr id="31" name="Text 29"/>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OTAN (Organización del Tratado del Atlántico Norte)</a:t>
            </a:r>
            <a:endParaRPr lang="en-US" sz="1000" dirty="0"/>
          </a:p>
        </p:txBody>
      </p:sp>
      <p:sp>
        <p:nvSpPr>
          <p:cNvPr id="32" name="Shape 30"/>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3" name="Text 31"/>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N</a:t>
            </a:r>
            <a:endParaRPr lang="en-US" sz="1500" dirty="0"/>
          </a:p>
        </p:txBody>
      </p:sp>
      <p:sp>
        <p:nvSpPr>
          <p:cNvPr id="34" name="Text 32"/>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military alliance formed in 1949 by the United States, Canada, and Western European nations pledging mutual defense against Soviet aggression, embodying the principle that "an attack on one is an attack on all."</a:t>
            </a:r>
            <a:endParaRPr lang="en-US" sz="1100" dirty="0"/>
          </a:p>
        </p:txBody>
      </p:sp>
      <p:sp>
        <p:nvSpPr>
          <p:cNvPr id="35" name="Shape 33"/>
          <p:cNvSpPr/>
          <p:nvPr/>
        </p:nvSpPr>
        <p:spPr>
          <a:xfrm>
            <a:off x="548640" y="4498848"/>
            <a:ext cx="5486400" cy="1261872"/>
          </a:xfrm>
          <a:prstGeom prst="rect">
            <a:avLst/>
          </a:prstGeom>
          <a:solidFill>
            <a:srgbClr val="FFFFFF"/>
          </a:solidFill>
          <a:ln w="12700">
            <a:solidFill>
              <a:srgbClr val="DAD3C2"/>
            </a:solidFill>
            <a:prstDash val="solid"/>
          </a:ln>
        </p:spPr>
      </p:sp>
      <p:sp>
        <p:nvSpPr>
          <p:cNvPr id="36" name="Shape 34"/>
          <p:cNvSpPr/>
          <p:nvPr/>
        </p:nvSpPr>
        <p:spPr>
          <a:xfrm>
            <a:off x="548640" y="4498848"/>
            <a:ext cx="5486400" cy="676656"/>
          </a:xfrm>
          <a:prstGeom prst="rect">
            <a:avLst/>
          </a:prstGeom>
          <a:solidFill>
            <a:srgbClr val="1A2332"/>
          </a:solidFill>
          <a:ln/>
        </p:spPr>
      </p:sp>
      <p:sp>
        <p:nvSpPr>
          <p:cNvPr id="37" name="Text 35"/>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Iron Curtain</a:t>
            </a:r>
            <a:endParaRPr lang="en-US" sz="1350" dirty="0"/>
          </a:p>
        </p:txBody>
      </p:sp>
      <p:sp>
        <p:nvSpPr>
          <p:cNvPr id="38" name="Text 36"/>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EYE-ern KUR-tun</a:t>
            </a:r>
            <a:endParaRPr lang="en-US" sz="850" dirty="0"/>
          </a:p>
        </p:txBody>
      </p:sp>
      <p:sp>
        <p:nvSpPr>
          <p:cNvPr id="39" name="Text 37"/>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Cortina de Hierro</a:t>
            </a:r>
            <a:endParaRPr lang="en-US" sz="1000" dirty="0"/>
          </a:p>
        </p:txBody>
      </p:sp>
      <p:sp>
        <p:nvSpPr>
          <p:cNvPr id="40" name="Shape 38"/>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1" name="Text 39"/>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IC</a:t>
            </a:r>
            <a:endParaRPr lang="en-US" sz="1300" dirty="0"/>
          </a:p>
        </p:txBody>
      </p:sp>
      <p:sp>
        <p:nvSpPr>
          <p:cNvPr id="42" name="Text 40"/>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Winston Churchill's metaphor for the political, military, and ideological barrier dividing Soviet-controlled Eastern Europe from Western Europe after World War II, symbolizing the split between communist and…</a:t>
            </a:r>
            <a:endParaRPr lang="en-US" sz="1100" dirty="0"/>
          </a:p>
        </p:txBody>
      </p:sp>
      <p:sp>
        <p:nvSpPr>
          <p:cNvPr id="43" name="Shape 41"/>
          <p:cNvSpPr/>
          <p:nvPr/>
        </p:nvSpPr>
        <p:spPr>
          <a:xfrm>
            <a:off x="6263640" y="4498848"/>
            <a:ext cx="5486400" cy="1261872"/>
          </a:xfrm>
          <a:prstGeom prst="rect">
            <a:avLst/>
          </a:prstGeom>
          <a:solidFill>
            <a:srgbClr val="FFFFFF"/>
          </a:solidFill>
          <a:ln w="12700">
            <a:solidFill>
              <a:srgbClr val="DAD3C2"/>
            </a:solidFill>
            <a:prstDash val="solid"/>
          </a:ln>
        </p:spPr>
      </p:sp>
      <p:sp>
        <p:nvSpPr>
          <p:cNvPr id="44" name="Shape 42"/>
          <p:cNvSpPr/>
          <p:nvPr/>
        </p:nvSpPr>
        <p:spPr>
          <a:xfrm>
            <a:off x="6263640" y="4498848"/>
            <a:ext cx="5486400" cy="676656"/>
          </a:xfrm>
          <a:prstGeom prst="rect">
            <a:avLst/>
          </a:prstGeom>
          <a:solidFill>
            <a:srgbClr val="1A2332"/>
          </a:solidFill>
          <a:ln/>
        </p:spPr>
      </p:sp>
      <p:sp>
        <p:nvSpPr>
          <p:cNvPr id="45" name="Text 43"/>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Warsaw Pact</a:t>
            </a:r>
            <a:endParaRPr lang="en-US" sz="1350" dirty="0"/>
          </a:p>
        </p:txBody>
      </p:sp>
      <p:sp>
        <p:nvSpPr>
          <p:cNvPr id="46" name="Text 44"/>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WOR-saw pakt</a:t>
            </a:r>
            <a:endParaRPr lang="en-US" sz="850" dirty="0"/>
          </a:p>
        </p:txBody>
      </p:sp>
      <p:sp>
        <p:nvSpPr>
          <p:cNvPr id="47" name="Text 45"/>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Pacto de Varsovia</a:t>
            </a:r>
            <a:endParaRPr lang="en-US" sz="1000" dirty="0"/>
          </a:p>
        </p:txBody>
      </p:sp>
      <p:sp>
        <p:nvSpPr>
          <p:cNvPr id="48" name="Shape 46"/>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9" name="Text 47"/>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WP</a:t>
            </a:r>
            <a:endParaRPr lang="en-US" sz="1300" dirty="0"/>
          </a:p>
        </p:txBody>
      </p:sp>
      <p:sp>
        <p:nvSpPr>
          <p:cNvPr id="50" name="Text 48"/>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Soviet Union's military alliance formed in 1955 with communist Eastern European nations in response to NATO, creating two opposing military blocs that defined Cold War Europe.</a:t>
            </a:r>
            <a:endParaRPr lang="en-US" sz="1100" dirty="0"/>
          </a:p>
        </p:txBody>
      </p:sp>
      <p:sp>
        <p:nvSpPr>
          <p:cNvPr id="51" name="Text 49"/>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2" name="Text 5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3" name="Text 5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US.60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Trace a policy in action</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How did containment move from an idea to real programs?</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The Truman Doctrine named the goal, the Marshall Plan funded recovery, and the Berlin Airlift proved U.S. resolve. Each step turned containment into action.</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List the Doctrine, Plan, and Airlift and label each 'words' or 'action.'</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Pick the boldest containment move and defend your choice with evidence.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US.60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Four Tools of Containment — Truman's Early Cold War Playbook</a:t>
            </a:r>
            <a:endParaRPr lang="en-US" sz="22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Read the Truman Doctrine speech excerpt and use your notes to build a timeline of four containment tools: the Long Telegram / containment idea, the Truman Doctrine (1947), the Marshall Plan (1948), and the Berlin Airlift (1948-49). For each, write one sentence on what it did and how it aimed to stop the spread of communism. Finish with a one-sentence claim on whether containment was mainly a military or an economic strategy, with evidence.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four-step timeline (purpose + how it contained communism each) AND a one-sentence evidence-based claim about the nature of containment.</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Timeline with the four tools pre-placed and a word bank of descriptions to match. Honors: Write a paragraph using the Truman Doctrine to explain how the U.S. justified aiding distant nations as a defense of freedom everywhere.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cornell-notes/unit-7/us60-containment-early-cold-war.pdf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US.60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The Marshall Plan (1948-1952) differed from the Truman Doctrine primarily in that —</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Marshall Plan provided military equipment to threatened nations, while the Truman Doctrine offered only financial and advisory support.</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Marshall Plan used economic aid to rebuild Western European economies, betting that prosperous, stable democracies would resist communist political movements.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Marshall Plan was offered to all European nations including the Soviet Union, while the Truman Doctrine explicitly excluded communist states from eligibility.</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Marshall Plan was a multilateral program administered by the UN, while the Truman Doctrine was unilateral American policy.</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US.60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The Marshall Plan (1948-1952) differed from the Truman Doctrine primarily in that —</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Marshall Plan provided military equipment to threatened nations, while the Truman Doctrine offered only financial and advisory support.</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The Marshall Plan used economic aid to rebuild Western European economies, betting that prosperous, stable democracies would resist communist political movements.</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Marshall Plan was offered to all European nations including the Soviet Union, while the Truman Doctrine explicitly excluded communist states from eligibility.</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Marshall Plan was a multilateral program administered by the UN, while the Truman Doctrine was unilateral American policy.</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Marshall Plan used economic aid to rebuild Western European economies, betting that prosperous, stable democracies would resist communist political movements — an economic strategy to contain communism rather than military support. Choice A is wrong because it describes marshall Plan provided…</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US.60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Long Telegram and Containment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Truman Doctrine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Marshall Plan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Berlin Airlift</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Evaluate: Was containment a wise, restrained strategy or one that overcommitted the U.S. around the globe? Argue with at least two pieces of evidence.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the policy of containment and describe at least two actions the U.S. took to carry it out.</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US.61</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Second Red Scare &amp; McCarthyism</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Analyze the causes and effects of the Second Red Scare, including: Americans' attitudes toward McCarthyism, blacklisting, and Julius and Ethel Rosenberg.</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analyze the causes and effects of the Second Red Scare, including Americans' attitudes toward McCarthyism, blacklisting, and the Rosenberg case.</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US.61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US.60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policy of containment?</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US.60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Name one program or action that put containment into practice.</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US.61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term describes making reckless accusations of disloyalty without evidence?</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McCarthyism.</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US.61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the early 1950s, a fear of hidden communists gripped the United States: neighbors informed on neighbors, careers were destroyed by accusation alone, and a single senator claimed to hold secret lists of traitors inside the government.</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When a nation is afraid, how do we tell the difference between real threats and a witch hunt, and what happens to freedom when fear takes over?</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Factors Contributing to the Second Red Scare</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Several events fueled American fears of communist infiltration: Soviet nuclear weapons development (1949), communist victory in China (1949), the Korean War (1950-53), and discovery of Soviet spy rings including the Rosenbergs and Alger Hiss.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Senator Joseph McCarthy's accusations of communist infiltration in government intensified these fears into widespread paranoia.</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Second Red Scare was caused by ________, and it affected Americans by ________.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McCarthyism</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Initially, many Americans supported McCarthy's anti-communist crusade due to genuine security fears.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However, his reckless accusations, bullying tactics, and attack on the Army eventually turned public opinion against him.</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1954 Army-McCarthy hearings exposed his methods as destructive when attorney Joseph Welch famously asked, "Have you no sense of decency?"</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7-full/img/senator-joseph-mccarthy-1954.jpg">    </p:cNvPr>
          <p:cNvPicPr>
            <a:picLocks noChangeAspect="1"/>
          </p:cNvPicPr>
          <p:nvPr/>
        </p:nvPicPr>
        <p:blipFill>
          <a:blip r:embed="rId1"/>
          <a:stretch>
            <a:fillRect/>
          </a:stretch>
        </p:blipFill>
        <p:spPr>
          <a:xfrm>
            <a:off x="8310753" y="1783080"/>
            <a:ext cx="2626614" cy="3502152"/>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United Press / U.S. Senate (public record portrait), c. 1954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Blacklisting and Its Effects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Hollywood studios blacklisted suspected communists, destroying careers of writers, directors, and actors.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"Hollywood Ten" were imprisoned for refusing to testify before HUAC (House Un-American Activities Committee).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created a climate of fear that stifled creative expression and political dissent across American society.</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Rosenberg Case</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Julius and Ethel Rosenberg were executed in 1953 for allegedly passing atomic secrets to the USSR.</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Their case became highly controversial—supporters claimed they were scapegoats, while others saw them as traitors.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case symbolized Cold War paranoia about internal communist threats and raised questions about justice during times of fear.</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7-full/img/rosenbergs-espionage-trial-1951.jpg">    </p:cNvPr>
          <p:cNvPicPr>
            <a:picLocks noChangeAspect="1"/>
          </p:cNvPicPr>
          <p:nvPr/>
        </p:nvPicPr>
        <p:blipFill>
          <a:blip r:embed="rId1"/>
          <a:stretch>
            <a:fillRect/>
          </a:stretch>
        </p:blipFill>
        <p:spPr>
          <a:xfrm>
            <a:off x="7700681" y="1783080"/>
            <a:ext cx="3846757" cy="3502152"/>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Roger Higgins, World Telegram staff photographer / New York World-Telegram and the Sun, 1951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US.61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sp>
      <p:sp>
        <p:nvSpPr>
          <p:cNvPr id="6" name="Shape 4"/>
          <p:cNvSpPr/>
          <p:nvPr/>
        </p:nvSpPr>
        <p:spPr>
          <a:xfrm>
            <a:off x="548640" y="1627632"/>
            <a:ext cx="5394960" cy="868680"/>
          </a:xfrm>
          <a:prstGeom prst="rect">
            <a:avLst/>
          </a:prstGeom>
          <a:solidFill>
            <a:srgbClr val="1A2332"/>
          </a:solidFill>
          <a:ln/>
        </p:spPr>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Senator Joseph McCarthy</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U.S. Senator, Wisconsin (1908-1957)</a:t>
            </a:r>
            <a:endParaRPr lang="en-US" sz="1100" dirty="0"/>
          </a:p>
        </p:txBody>
      </p:sp>
      <p:sp>
        <p:nvSpPr>
          <p:cNvPr id="9" name="Text 7"/>
          <p:cNvSpPr/>
          <p:nvPr/>
        </p:nvSpPr>
        <p:spPr>
          <a:xfrm>
            <a:off x="69494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Claimed to hold lists of communists in the government</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Led sensational hearings that ruined reputations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Was censured by the Senate in 1954 after overreaching</a:t>
            </a:r>
            <a:endParaRPr lang="en-US" sz="1300" dirty="0"/>
          </a:p>
        </p:txBody>
      </p:sp>
      <p:sp>
        <p:nvSpPr>
          <p:cNvPr id="10" name="Shape 8"/>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McCarthy to define McCarthyism from a real figure - accusation without evidence.</a:t>
            </a:r>
            <a:endParaRPr lang="en-US" sz="800" dirty="0"/>
          </a:p>
        </p:txBody>
      </p:sp>
      <p:sp>
        <p:nvSpPr>
          <p:cNvPr id="12" name="Shape 10"/>
          <p:cNvSpPr/>
          <p:nvPr/>
        </p:nvSpPr>
        <p:spPr>
          <a:xfrm>
            <a:off x="6217920" y="1627632"/>
            <a:ext cx="5394960" cy="4114800"/>
          </a:xfrm>
          <a:prstGeom prst="rect">
            <a:avLst/>
          </a:prstGeom>
          <a:solidFill>
            <a:srgbClr val="FFFFFF"/>
          </a:solidFill>
          <a:ln w="12700">
            <a:solidFill>
              <a:srgbClr val="DAD3C2"/>
            </a:solidFill>
            <a:prstDash val="solid"/>
          </a:ln>
        </p:spPr>
      </p:sp>
      <p:sp>
        <p:nvSpPr>
          <p:cNvPr id="13" name="Shape 11"/>
          <p:cNvSpPr/>
          <p:nvPr/>
        </p:nvSpPr>
        <p:spPr>
          <a:xfrm>
            <a:off x="6217920" y="1627632"/>
            <a:ext cx="5394960" cy="868680"/>
          </a:xfrm>
          <a:prstGeom prst="rect">
            <a:avLst/>
          </a:prstGeom>
          <a:solidFill>
            <a:srgbClr val="1A2332"/>
          </a:solidFill>
          <a:ln/>
        </p:spPr>
      </p:sp>
      <p:sp>
        <p:nvSpPr>
          <p:cNvPr id="14" name="Text 12"/>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Julius &amp; Ethel Rosenberg</a:t>
            </a:r>
            <a:endParaRPr lang="en-US" sz="1800" dirty="0"/>
          </a:p>
        </p:txBody>
      </p:sp>
      <p:sp>
        <p:nvSpPr>
          <p:cNvPr id="15" name="Text 13"/>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Convicted of atomic espionage</a:t>
            </a:r>
            <a:endParaRPr lang="en-US" sz="1100" dirty="0"/>
          </a:p>
        </p:txBody>
      </p:sp>
      <p:sp>
        <p:nvSpPr>
          <p:cNvPr id="16" name="Text 14"/>
          <p:cNvSpPr/>
          <p:nvPr/>
        </p:nvSpPr>
        <p:spPr>
          <a:xfrm>
            <a:off x="636422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Accused of passing atomic secrets to the Soviet Union</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Convicted and executed in 1953 amid the Red Scare</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Their case fueled and reflected the fear of the era</a:t>
            </a:r>
            <a:endParaRPr lang="en-US" sz="1300" dirty="0"/>
          </a:p>
        </p:txBody>
      </p:sp>
      <p:sp>
        <p:nvSpPr>
          <p:cNvPr id="17" name="Shape 15"/>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sp>
      <p:sp>
        <p:nvSpPr>
          <p:cNvPr id="18" name="Text 16"/>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the Rosenberg case to weigh real espionage fears against the era's excesses.</a:t>
            </a:r>
            <a:endParaRPr lang="en-US" sz="800" dirty="0"/>
          </a:p>
        </p:txBody>
      </p:sp>
      <p:sp>
        <p:nvSpPr>
          <p:cNvPr id="19"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US.61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Wheeling Speech</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Senator Joseph McCarthy  ·  February 9, 1950</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300" i="1" dirty="0">
                <a:solidFill>
                  <a:srgbClr val="1F2430"/>
                </a:solidFill>
                <a:latin typeface="Georgia" pitchFamily="34" charset="0"/>
                <a:ea typeface="Georgia" pitchFamily="34" charset="-122"/>
                <a:cs typeface="Georgia" pitchFamily="34" charset="-120"/>
              </a:rPr>
              <a:t>"I have here in my hand a list of 205—a list of names that were made known to the Secretary of State as being members of the Communist Party and who nevertheless are still working and shaping policy in the State Department... The reason why we find ourselves in a position of impotency is not because our only powerful potential enemy has sent men to invade our shores, but rather because of the traitorous actions of those who have been treated so well by this Nation."</a:t>
            </a:r>
            <a:endParaRPr lang="en-US" sz="13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Senator Joseph McCarthy delivered his famous speech in Wheeling, West Virginia in February 1950, claiming to have a list of known Communists working in the State Department. Coming just months after the Soviet Union tested its first atomic bomb and weeks after the conviction of spy Alger Hiss, his charges struck a nerve in a fearful nation. The era that followed—known as McCarthyism—saw thousands of Americans accused of Communist sympathies, often without evidence.</a:t>
            </a:r>
            <a:endParaRPr lang="en-US" sz="9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accusation does McCarthy make in this speech?</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Senator Joseph McCarthy</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February 9, 1950</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U.S. Senate Historical Office</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US.61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McCarthyism</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muh-KAR-thee-iz-um</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Macartismo</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M</a:t>
            </a:r>
            <a:endParaRPr lang="en-US" sz="15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practice of making accusations of subversion or treason without proper evidence, named after Senator Joseph McCarthy who led aggressive investigations of suspected communists in the 1950s.</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Second Red Scare</a:t>
            </a:r>
            <a:endParaRPr lang="en-US" sz="13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Segundo Miedo Rojo</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8" name="Text 16"/>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SR</a:t>
            </a:r>
            <a:endParaRPr lang="en-US" sz="1300" dirty="0"/>
          </a:p>
        </p:txBody>
      </p:sp>
      <p:sp>
        <p:nvSpPr>
          <p:cNvPr id="19" name="Text 17"/>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period of intense fear and persecution of suspected communists in America during the late 1940s and 1950s, driven by Cold War tensions and events like the Soviet atomic bomb and Korean War.</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sp>
      <p:sp>
        <p:nvSpPr>
          <p:cNvPr id="21" name="Shape 19"/>
          <p:cNvSpPr/>
          <p:nvPr/>
        </p:nvSpPr>
        <p:spPr>
          <a:xfrm>
            <a:off x="548640" y="3072384"/>
            <a:ext cx="5486400" cy="676656"/>
          </a:xfrm>
          <a:prstGeom prst="rect">
            <a:avLst/>
          </a:prstGeom>
          <a:solidFill>
            <a:srgbClr val="1A2332"/>
          </a:solidFill>
          <a:ln/>
        </p:spPr>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HUAC (House Un-American Activities Committee)</a:t>
            </a:r>
            <a:endParaRPr lang="en-US" sz="13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HUAC (Comité de Actividades Antiamericanas)</a:t>
            </a:r>
            <a:endParaRPr lang="en-US" sz="1000" dirty="0"/>
          </a:p>
        </p:txBody>
      </p:sp>
      <p:sp>
        <p:nvSpPr>
          <p:cNvPr id="24" name="Shape 22"/>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5" name="Text 23"/>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H</a:t>
            </a:r>
            <a:endParaRPr lang="en-US" sz="1500" dirty="0"/>
          </a:p>
        </p:txBody>
      </p:sp>
      <p:sp>
        <p:nvSpPr>
          <p:cNvPr id="26" name="Text 24"/>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congressional committee established in 1938 to investigate alleged disloyalty and subversive activities, becoming especially aggressive in investigating suspected communists in the 1940s-1950s.</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sp>
      <p:sp>
        <p:nvSpPr>
          <p:cNvPr id="28" name="Shape 26"/>
          <p:cNvSpPr/>
          <p:nvPr/>
        </p:nvSpPr>
        <p:spPr>
          <a:xfrm>
            <a:off x="6263640" y="3072384"/>
            <a:ext cx="5486400" cy="676656"/>
          </a:xfrm>
          <a:prstGeom prst="rect">
            <a:avLst/>
          </a:prstGeom>
          <a:solidFill>
            <a:srgbClr val="1A2332"/>
          </a:solidFill>
          <a:ln/>
        </p:spPr>
      </p:sp>
      <p:sp>
        <p:nvSpPr>
          <p:cNvPr id="29" name="Text 27"/>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Blacklisting</a:t>
            </a:r>
            <a:endParaRPr lang="en-US" sz="1350" dirty="0"/>
          </a:p>
        </p:txBody>
      </p:sp>
      <p:sp>
        <p:nvSpPr>
          <p:cNvPr id="30" name="Text 28"/>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BLAK-list-ing</a:t>
            </a:r>
            <a:endParaRPr lang="en-US" sz="850" dirty="0"/>
          </a:p>
        </p:txBody>
      </p:sp>
      <p:sp>
        <p:nvSpPr>
          <p:cNvPr id="31" name="Text 29"/>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Listas Negras</a:t>
            </a:r>
            <a:endParaRPr lang="en-US" sz="1000" dirty="0"/>
          </a:p>
        </p:txBody>
      </p:sp>
      <p:sp>
        <p:nvSpPr>
          <p:cNvPr id="32" name="Shape 30"/>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3" name="Text 31"/>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B</a:t>
            </a:r>
            <a:endParaRPr lang="en-US" sz="1500" dirty="0"/>
          </a:p>
        </p:txBody>
      </p:sp>
      <p:sp>
        <p:nvSpPr>
          <p:cNvPr id="34" name="Text 32"/>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practice of denying employment to people suspected of communist sympathies or refusing to cooperate with anti-communist investigations, particularly prevalent in the entertainment industry.</a:t>
            </a:r>
            <a:endParaRPr lang="en-US" sz="1100" dirty="0"/>
          </a:p>
        </p:txBody>
      </p:sp>
      <p:sp>
        <p:nvSpPr>
          <p:cNvPr id="35" name="Shape 33"/>
          <p:cNvSpPr/>
          <p:nvPr/>
        </p:nvSpPr>
        <p:spPr>
          <a:xfrm>
            <a:off x="548640" y="4498848"/>
            <a:ext cx="5486400" cy="1261872"/>
          </a:xfrm>
          <a:prstGeom prst="rect">
            <a:avLst/>
          </a:prstGeom>
          <a:solidFill>
            <a:srgbClr val="FFFFFF"/>
          </a:solidFill>
          <a:ln w="12700">
            <a:solidFill>
              <a:srgbClr val="DAD3C2"/>
            </a:solidFill>
            <a:prstDash val="solid"/>
          </a:ln>
        </p:spPr>
      </p:sp>
      <p:sp>
        <p:nvSpPr>
          <p:cNvPr id="36" name="Shape 34"/>
          <p:cNvSpPr/>
          <p:nvPr/>
        </p:nvSpPr>
        <p:spPr>
          <a:xfrm>
            <a:off x="548640" y="4498848"/>
            <a:ext cx="5486400" cy="676656"/>
          </a:xfrm>
          <a:prstGeom prst="rect">
            <a:avLst/>
          </a:prstGeom>
          <a:solidFill>
            <a:srgbClr val="1A2332"/>
          </a:solidFill>
          <a:ln/>
        </p:spPr>
      </p:sp>
      <p:sp>
        <p:nvSpPr>
          <p:cNvPr id="37" name="Text 35"/>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Julius and Ethel Rosenberg</a:t>
            </a:r>
            <a:endParaRPr lang="en-US" sz="1350" dirty="0"/>
          </a:p>
        </p:txBody>
      </p:sp>
      <p:sp>
        <p:nvSpPr>
          <p:cNvPr id="38" name="Text 36"/>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JOOL-yus and ETH-ul ROH-zen-berg</a:t>
            </a:r>
            <a:endParaRPr lang="en-US" sz="850" dirty="0"/>
          </a:p>
        </p:txBody>
      </p:sp>
      <p:sp>
        <p:nvSpPr>
          <p:cNvPr id="39" name="Text 37"/>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Julius y Ethel Rosenberg</a:t>
            </a:r>
            <a:endParaRPr lang="en-US" sz="1000" dirty="0"/>
          </a:p>
        </p:txBody>
      </p:sp>
      <p:sp>
        <p:nvSpPr>
          <p:cNvPr id="40" name="Shape 38"/>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1" name="Text 39"/>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JA</a:t>
            </a:r>
            <a:endParaRPr lang="en-US" sz="1300" dirty="0"/>
          </a:p>
        </p:txBody>
      </p:sp>
      <p:sp>
        <p:nvSpPr>
          <p:cNvPr id="42" name="Text 40"/>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American couple convicted of espionage in 1951 for allegedly passing atomic secrets to the Soviet Union and executed in 1953, the only civilians executed for espionage during the Cold War.</a:t>
            </a:r>
            <a:endParaRPr lang="en-US" sz="1100" dirty="0"/>
          </a:p>
        </p:txBody>
      </p:sp>
      <p:sp>
        <p:nvSpPr>
          <p:cNvPr id="43" name="Shape 41"/>
          <p:cNvSpPr/>
          <p:nvPr/>
        </p:nvSpPr>
        <p:spPr>
          <a:xfrm>
            <a:off x="6263640" y="4498848"/>
            <a:ext cx="5486400" cy="1261872"/>
          </a:xfrm>
          <a:prstGeom prst="rect">
            <a:avLst/>
          </a:prstGeom>
          <a:solidFill>
            <a:srgbClr val="FFFFFF"/>
          </a:solidFill>
          <a:ln w="12700">
            <a:solidFill>
              <a:srgbClr val="DAD3C2"/>
            </a:solidFill>
            <a:prstDash val="solid"/>
          </a:ln>
        </p:spPr>
      </p:sp>
      <p:sp>
        <p:nvSpPr>
          <p:cNvPr id="44" name="Shape 42"/>
          <p:cNvSpPr/>
          <p:nvPr/>
        </p:nvSpPr>
        <p:spPr>
          <a:xfrm>
            <a:off x="6263640" y="4498848"/>
            <a:ext cx="5486400" cy="676656"/>
          </a:xfrm>
          <a:prstGeom prst="rect">
            <a:avLst/>
          </a:prstGeom>
          <a:solidFill>
            <a:srgbClr val="1A2332"/>
          </a:solidFill>
          <a:ln/>
        </p:spPr>
      </p:sp>
      <p:sp>
        <p:nvSpPr>
          <p:cNvPr id="45" name="Text 43"/>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Containment Policy</a:t>
            </a:r>
            <a:endParaRPr lang="en-US" sz="1350" dirty="0"/>
          </a:p>
        </p:txBody>
      </p:sp>
      <p:sp>
        <p:nvSpPr>
          <p:cNvPr id="46" name="Text 44"/>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Política de Contención</a:t>
            </a:r>
            <a:endParaRPr lang="en-US" sz="1000" dirty="0"/>
          </a:p>
        </p:txBody>
      </p:sp>
      <p:sp>
        <p:nvSpPr>
          <p:cNvPr id="47" name="Shape 45"/>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8" name="Text 46"/>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CP</a:t>
            </a:r>
            <a:endParaRPr lang="en-US" sz="1300" dirty="0"/>
          </a:p>
        </p:txBody>
      </p:sp>
      <p:sp>
        <p:nvSpPr>
          <p:cNvPr id="49" name="Text 47"/>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U.S. foreign policy strategy developed by George Kennan in 1947 to prevent the spread of communism by supporting nations threatened by Soviet expansion, forming the basis of Cold War strategy.</a:t>
            </a:r>
            <a:endParaRPr lang="en-US" sz="1100" dirty="0"/>
          </a:p>
        </p:txBody>
      </p:sp>
      <p:sp>
        <p:nvSpPr>
          <p:cNvPr id="50" name="Text 48"/>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1" name="Text 4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2" name="Text 5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US.61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Weigh evidence and fear</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Was the Second Red Scare based on real threats, exaggeration, or both?</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Real espionage (like the Rosenberg case) fed genuine fear, but McCarthy's baseless lists and blacklists went far beyond the evidence. Judge each claim against proof.</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Find one detail showing a real threat and one showing an excess.</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Take a position on whether the Scare was justified, citing both.</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US.61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Fear on Trial — Anatomy of the Second Red Scare</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Read Senator McCarthy's Wheeling speech excerpt and study the McCarthy hearings photograph. Complete a four-part organizer: (1) the FACTORS that fueled the Second Red Scare; (2) how MCCARTHYISM worked and what tactics it used; (3) the effects of BLACKLISTING on ordinary Americans; (4) the ROSENBERG case and espionage fears. Add one detail per section. Finish with a one-sentence claim, backed by evidence, on when fear of an enemy becomes a threat to a nation's own freedoms.</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four-part organizer (causes / McCarthyism / blacklisting / Rosenbergs, one detail each) AND a one-sentence evidence-based claim about fear and freedom.</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Organizer with the four parts pre-labeled and a fact bank to sort. Honors: Write a paragraph using the Wheeling speech to analyze how McCarthy used unproven accusations to build political power.</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cornell-notes/unit-7/us61-red-scare-mccarthyism.pdf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US.61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During the Second Red Scare, McCarthyism damaged the careers of thousands of Americans. A political scientist argues that McCarthyism was more a symptom of institutional failure than of individual demagoguery. Which of the following pieces of evidence BEST supports this structural argument?</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McCarthy's uniquely persuasive speaking style allowed him to intimidate even experienced politicians into public silence and cooperation.</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HUAC had generated anti-communist blacklists before McCarthy's rise, and Hoover's FBI supplied unverified accusations — showing multiple institutions enabled the Red Scare.</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Soviet espionage successes like the Rosenberg atomic spy case provided strong evidence that McCarthy's general concerns were entirely valid.</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American fear of nuclear annihilation made the public uniquely vulnerable to McCarthy's demagoguery in ways not seen before in U.S. politics.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US.61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During the Second Red Scare, McCarthyism damaged the careers of thousands of Americans. A political scientist argues that McCarthyism was more a symptom of institutional failure than of individual demagoguery. Which of the following pieces of evidence BEST supports this structural argument?</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McCarthy's uniquely persuasive speaking style allowed him to intimidate even experienced politicians into public silence and cooperation.</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HUAC had generated anti-communist blacklists before McCarthy's rise, and Hoover's FBI supplied unverified accusations — showing multiple institutions enabled the Red Scare.</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Soviet espionage successes like the Rosenberg atomic spy case provided strong evidence that McCarthy's general concerns were entirely valid.</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American fear of nuclear annihilation made the public uniquely vulnerable to McCarthy's demagoguery in ways not seen before in U.S. politics.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McCarthyism was enabled by institutional failures: the House Un-American Activities Committee (HUAC) had been conducting hearings and blacklists before McCarthy emerged; the FBI under Hoover actively supplied McCarthy with unverified information; and Congress, the press, and the legal system failed…</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US.61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Factors Contributing to the Second Red Scare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McCarthyism</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Blacklisting and Its Effects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Rosenberg Case</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Were the fears behind the Second Red Scare justified, or was it a dangerous overreaction? Defend your claim with evidence. (SSP.04)</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Analyze the causes and effects of the Second Red Scare. What factors fueled it, and what were its consequences for Americans?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US.62</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Korean War</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Describe the causes, course, and consequences of the Korean War, including: Domino Theory, 38th parallel, Battle of Inchon, Entry of the communist Chinese, Final divisions of the Koreas.</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describe the causes, course, and consequences of the Korean War, including the Domino Theory, 38th parallel, Battle of Inchon, entry of communist China, and final divisions of the Koreas.</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US.62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US.61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Second Red Scare?</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US.61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is McCarthyism?</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US.62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line divided North and South Korea?</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38th parallel.</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US.62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1950, communist North Korea poured across the 38th parallel into the South, and for the first time the United States sent troops to fight a hot war to stop the spread of communism, a war that would end almost exactly where it began.</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Why would the United States fight and lose tens of thousands of lives in a distant country, only to end the war where it started?</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Domino Theory and Its Application</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domino theory held that if one country fell to communism, neighboring countries would follow like falling dominoes.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Applied to Korea, it justified American intervention to prevent communist control of the entire peninsula and potential spread to Japan and Southeast Asia.</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theory would later drive American involvement in Vietnam.</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Korean War showed containment in action because ________, and it ended with ________.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Chinese Entry and Its Impact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When UN forces under General MacArthur approached the Chinese border after the successful Inchon landing, China sent 300,000 "volunteers" into Korea.</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dramatically changed the war's course, forcing UN retreat and extending the conflict.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It demonstrated the limits of American power in Asia and the risks of overreach.</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38th Parallel</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line divided Korea after WWII, with the Soviet Union occupying the north and the U.S. the south.</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It became the invasion route when North Korea attacked South Korea in June 1950.</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After three years of fighting with over 36,000 American deaths, the armistice line roughly followed the original 38th parallel, showing the war's ultimate stalemate.</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Battle of Inchon</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MacArthur's surprise amphibious landing at Inchon (September 1950) cut off North Korean forces and nearly ended the war quickly.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However, this success led to overconfidence, with MacArthur pushing toward China and triggering Chinese intervention that prolonged the conflict for two more years.</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7-full/img/battle-of-inchon-1950.jpg">    </p:cNvPr>
          <p:cNvPicPr>
            <a:picLocks noChangeAspect="1"/>
          </p:cNvPicPr>
          <p:nvPr/>
        </p:nvPicPr>
        <p:blipFill>
          <a:blip r:embed="rId1"/>
          <a:stretch>
            <a:fillRect/>
          </a:stretch>
        </p:blipFill>
        <p:spPr>
          <a:xfrm>
            <a:off x="7589520" y="1886391"/>
            <a:ext cx="4069080" cy="3295531"/>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U.S. military / U.S. Federal Government, September 1950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US.62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sp>
      <p:sp>
        <p:nvSpPr>
          <p:cNvPr id="6" name="Shape 4"/>
          <p:cNvSpPr/>
          <p:nvPr/>
        </p:nvSpPr>
        <p:spPr>
          <a:xfrm>
            <a:off x="548640" y="1627632"/>
            <a:ext cx="5394960" cy="868680"/>
          </a:xfrm>
          <a:prstGeom prst="rect">
            <a:avLst/>
          </a:prstGeom>
          <a:solidFill>
            <a:srgbClr val="1A2332"/>
          </a:solidFill>
          <a:ln/>
        </p:spPr>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Harry S. Truman</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33rd President; commander in chief in Korea</a:t>
            </a:r>
            <a:endParaRPr lang="en-US" sz="1100" dirty="0"/>
          </a:p>
        </p:txBody>
      </p:sp>
      <p:sp>
        <p:nvSpPr>
          <p:cNvPr id="9" name="Text 7"/>
          <p:cNvSpPr/>
          <p:nvPr/>
        </p:nvSpPr>
        <p:spPr>
          <a:xfrm>
            <a:off x="69494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Committed U.S. forces to defend South Korea in 1950</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Fought the war as a UN 'police action' to contain communism</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Fired Gen. MacArthur to keep the war limited</a:t>
            </a:r>
            <a:endParaRPr lang="en-US" sz="1300" dirty="0"/>
          </a:p>
        </p:txBody>
      </p:sp>
      <p:sp>
        <p:nvSpPr>
          <p:cNvPr id="10" name="Shape 8"/>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Truman's clash with MacArthur to show civilian control and the logic of limited war.</a:t>
            </a:r>
            <a:endParaRPr lang="en-US" sz="800" dirty="0"/>
          </a:p>
        </p:txBody>
      </p:sp>
      <p:sp>
        <p:nvSpPr>
          <p:cNvPr id="12" name="Shape 10"/>
          <p:cNvSpPr/>
          <p:nvPr/>
        </p:nvSpPr>
        <p:spPr>
          <a:xfrm>
            <a:off x="6217920" y="1627632"/>
            <a:ext cx="5394960" cy="4114800"/>
          </a:xfrm>
          <a:prstGeom prst="rect">
            <a:avLst/>
          </a:prstGeom>
          <a:solidFill>
            <a:srgbClr val="FFFFFF"/>
          </a:solidFill>
          <a:ln w="12700">
            <a:solidFill>
              <a:srgbClr val="DAD3C2"/>
            </a:solidFill>
            <a:prstDash val="solid"/>
          </a:ln>
        </p:spPr>
      </p:sp>
      <p:sp>
        <p:nvSpPr>
          <p:cNvPr id="13" name="Shape 11"/>
          <p:cNvSpPr/>
          <p:nvPr/>
        </p:nvSpPr>
        <p:spPr>
          <a:xfrm>
            <a:off x="6217920" y="1627632"/>
            <a:ext cx="5394960" cy="868680"/>
          </a:xfrm>
          <a:prstGeom prst="rect">
            <a:avLst/>
          </a:prstGeom>
          <a:solidFill>
            <a:srgbClr val="1A2332"/>
          </a:solidFill>
          <a:ln/>
        </p:spPr>
      </p:sp>
      <p:sp>
        <p:nvSpPr>
          <p:cNvPr id="14" name="Text 12"/>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Gen. Douglas MacArthur</a:t>
            </a:r>
            <a:endParaRPr lang="en-US" sz="1800" dirty="0"/>
          </a:p>
        </p:txBody>
      </p:sp>
      <p:sp>
        <p:nvSpPr>
          <p:cNvPr id="15" name="Text 13"/>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UN commander in Korea (1880-1964)</a:t>
            </a:r>
            <a:endParaRPr lang="en-US" sz="1100" dirty="0"/>
          </a:p>
        </p:txBody>
      </p:sp>
      <p:sp>
        <p:nvSpPr>
          <p:cNvPr id="16" name="Text 14"/>
          <p:cNvSpPr/>
          <p:nvPr/>
        </p:nvSpPr>
        <p:spPr>
          <a:xfrm>
            <a:off x="636422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Led the daring Inchon landing that reversed the war</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Pushed to expand the war into China</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Was removed by Truman for defying policy</a:t>
            </a:r>
            <a:endParaRPr lang="en-US" sz="1300" dirty="0"/>
          </a:p>
        </p:txBody>
      </p:sp>
      <p:sp>
        <p:nvSpPr>
          <p:cNvPr id="17" name="Shape 15"/>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sp>
      <p:sp>
        <p:nvSpPr>
          <p:cNvPr id="18" name="Text 16"/>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MacArthur vs. Truman to argue over how far containment should go.</a:t>
            </a:r>
            <a:endParaRPr lang="en-US" sz="800" dirty="0"/>
          </a:p>
        </p:txBody>
      </p:sp>
      <p:sp>
        <p:nvSpPr>
          <p:cNvPr id="19"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US.62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Address on the Korean War</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Harry S. Truman  ·  April 11, 1951</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"The Communists in the Kremlin are engaged in a monstrous conspiracy to stamp out freedom all over the world. If they were to succeed, the United States would be numbered among their principal victims. It must be clear to everyone that the United States cannot—and will not—sit idly by and await foreign conquest."</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The Korean War began in June 1950 when Communist North Korea invaded South Korea. The United States, leading a United Nations coalition, intervened to defend South Korea. By late 1950, after American forces nearly reached the Chinese border, China entered the war, pushing the UN forces back. The war eventually settled into a bloody stalemate near the original border, raising difficult questions about America's Cold War strategy and the limits of military force.</a:t>
            </a:r>
            <a:endParaRPr lang="en-US" sz="9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How does Truman justify American involvement in Korea?</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Harry S. Truman</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April 11, 1951</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Harry S. Truman Presidential Library</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US.62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Korean War</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de Corea</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KW</a:t>
            </a:r>
            <a:endParaRPr lang="en-US" sz="13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1950-1953 conflict in which communist North Korea (backed by China and the Soviet Union) invaded South Korea, prompting U.S.-led UN intervention in the first major "hot war" of the Cold War era.</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Containment Policy</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Política de Contención</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7" name="Text 15"/>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CP</a:t>
            </a:r>
            <a:endParaRPr lang="en-US" sz="1300" dirty="0"/>
          </a:p>
        </p:txBody>
      </p:sp>
      <p:sp>
        <p:nvSpPr>
          <p:cNvPr id="18" name="Text 16"/>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U.S. foreign policy strategy developed by George Kennan in 1947 to prevent the spread of communism by supporting nations threatened by Soviet expansion, forming the basis of Cold War strategy.</a:t>
            </a:r>
            <a:endParaRPr lang="en-US" sz="1100" dirty="0"/>
          </a:p>
        </p:txBody>
      </p:sp>
      <p:sp>
        <p:nvSpPr>
          <p:cNvPr id="19" name="Shape 17"/>
          <p:cNvSpPr/>
          <p:nvPr/>
        </p:nvSpPr>
        <p:spPr>
          <a:xfrm>
            <a:off x="548640" y="3072384"/>
            <a:ext cx="5486400" cy="1261872"/>
          </a:xfrm>
          <a:prstGeom prst="rect">
            <a:avLst/>
          </a:prstGeom>
          <a:solidFill>
            <a:srgbClr val="FFFFFF"/>
          </a:solidFill>
          <a:ln w="12700">
            <a:solidFill>
              <a:srgbClr val="DAD3C2"/>
            </a:solidFill>
            <a:prstDash val="solid"/>
          </a:ln>
        </p:spPr>
      </p:sp>
      <p:sp>
        <p:nvSpPr>
          <p:cNvPr id="20" name="Shape 18"/>
          <p:cNvSpPr/>
          <p:nvPr/>
        </p:nvSpPr>
        <p:spPr>
          <a:xfrm>
            <a:off x="548640" y="3072384"/>
            <a:ext cx="5486400" cy="676656"/>
          </a:xfrm>
          <a:prstGeom prst="rect">
            <a:avLst/>
          </a:prstGeom>
          <a:solidFill>
            <a:srgbClr val="1A2332"/>
          </a:solidFill>
          <a:ln/>
        </p:spPr>
      </p:sp>
      <p:sp>
        <p:nvSpPr>
          <p:cNvPr id="21" name="Text 19"/>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Domino Theory</a:t>
            </a:r>
            <a:endParaRPr lang="en-US" sz="1350" dirty="0"/>
          </a:p>
        </p:txBody>
      </p:sp>
      <p:sp>
        <p:nvSpPr>
          <p:cNvPr id="22" name="Text 20"/>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DOM-ih-noh THEER-ee</a:t>
            </a:r>
            <a:endParaRPr lang="en-US" sz="8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Teoría del Dominó</a:t>
            </a:r>
            <a:endParaRPr lang="en-US" sz="1000" dirty="0"/>
          </a:p>
        </p:txBody>
      </p:sp>
      <p:sp>
        <p:nvSpPr>
          <p:cNvPr id="24" name="Shape 22"/>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5" name="Text 23"/>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DT</a:t>
            </a:r>
            <a:endParaRPr lang="en-US" sz="1300" dirty="0"/>
          </a:p>
        </p:txBody>
      </p:sp>
      <p:sp>
        <p:nvSpPr>
          <p:cNvPr id="26" name="Text 24"/>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Cold War belief that if one country fell to communism, neighboring countries would also fall like a row of dominoes, justifying U.S. intervention to prevent communist expansion anywhere in the world.</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sp>
      <p:sp>
        <p:nvSpPr>
          <p:cNvPr id="28" name="Shape 26"/>
          <p:cNvSpPr/>
          <p:nvPr/>
        </p:nvSpPr>
        <p:spPr>
          <a:xfrm>
            <a:off x="6263640" y="3072384"/>
            <a:ext cx="5486400" cy="676656"/>
          </a:xfrm>
          <a:prstGeom prst="rect">
            <a:avLst/>
          </a:prstGeom>
          <a:solidFill>
            <a:srgbClr val="1A2332"/>
          </a:solidFill>
          <a:ln/>
        </p:spPr>
      </p:sp>
      <p:sp>
        <p:nvSpPr>
          <p:cNvPr id="29" name="Text 27"/>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Superpower</a:t>
            </a:r>
            <a:endParaRPr lang="en-US" sz="1350" dirty="0"/>
          </a:p>
        </p:txBody>
      </p:sp>
      <p:sp>
        <p:nvSpPr>
          <p:cNvPr id="30" name="Text 28"/>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Superpotencia</a:t>
            </a:r>
            <a:endParaRPr lang="en-US" sz="1000" dirty="0"/>
          </a:p>
        </p:txBody>
      </p:sp>
      <p:sp>
        <p:nvSpPr>
          <p:cNvPr id="31" name="Shape 29"/>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2" name="Text 30"/>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S</a:t>
            </a:r>
            <a:endParaRPr lang="en-US" sz="1500" dirty="0"/>
          </a:p>
        </p:txBody>
      </p:sp>
      <p:sp>
        <p:nvSpPr>
          <p:cNvPr id="33" name="Text 31"/>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nation with overwhelming military, economic, and political power capable of projecting force globally; during the Cold War, only the United States and Soviet Union qualified as superpowers.</a:t>
            </a:r>
            <a:endParaRPr lang="en-US" sz="1100" dirty="0"/>
          </a:p>
        </p:txBody>
      </p:sp>
      <p:sp>
        <p:nvSpPr>
          <p:cNvPr id="34" name="Shape 32"/>
          <p:cNvSpPr/>
          <p:nvPr/>
        </p:nvSpPr>
        <p:spPr>
          <a:xfrm>
            <a:off x="548640" y="4498848"/>
            <a:ext cx="5486400" cy="1261872"/>
          </a:xfrm>
          <a:prstGeom prst="rect">
            <a:avLst/>
          </a:prstGeom>
          <a:solidFill>
            <a:srgbClr val="FFFFFF"/>
          </a:solidFill>
          <a:ln w="12700">
            <a:solidFill>
              <a:srgbClr val="DAD3C2"/>
            </a:solidFill>
            <a:prstDash val="solid"/>
          </a:ln>
        </p:spPr>
      </p:sp>
      <p:sp>
        <p:nvSpPr>
          <p:cNvPr id="35" name="Shape 33"/>
          <p:cNvSpPr/>
          <p:nvPr/>
        </p:nvSpPr>
        <p:spPr>
          <a:xfrm>
            <a:off x="548640" y="4498848"/>
            <a:ext cx="5486400" cy="676656"/>
          </a:xfrm>
          <a:prstGeom prst="rect">
            <a:avLst/>
          </a:prstGeom>
          <a:solidFill>
            <a:srgbClr val="1A2332"/>
          </a:solidFill>
          <a:ln/>
        </p:spPr>
      </p:sp>
      <p:sp>
        <p:nvSpPr>
          <p:cNvPr id="36" name="Text 34"/>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Proxy War</a:t>
            </a:r>
            <a:endParaRPr lang="en-US" sz="1350" dirty="0"/>
          </a:p>
        </p:txBody>
      </p:sp>
      <p:sp>
        <p:nvSpPr>
          <p:cNvPr id="37" name="Text 35"/>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por Poder</a:t>
            </a:r>
            <a:endParaRPr lang="en-US" sz="1000" dirty="0"/>
          </a:p>
        </p:txBody>
      </p:sp>
      <p:sp>
        <p:nvSpPr>
          <p:cNvPr id="38" name="Shape 36"/>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39" name="Text 37"/>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PW</a:t>
            </a:r>
            <a:endParaRPr lang="en-US" sz="1300" dirty="0"/>
          </a:p>
        </p:txBody>
      </p:sp>
      <p:sp>
        <p:nvSpPr>
          <p:cNvPr id="40" name="Text 38"/>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Conflicts where the United States and Soviet Union supported opposing sides without directly fighting each other, allowing superpower competition while avoiding nuclear war.</a:t>
            </a:r>
            <a:endParaRPr lang="en-US" sz="1100" dirty="0"/>
          </a:p>
        </p:txBody>
      </p:sp>
      <p:sp>
        <p:nvSpPr>
          <p:cNvPr id="41" name="Shape 39"/>
          <p:cNvSpPr/>
          <p:nvPr/>
        </p:nvSpPr>
        <p:spPr>
          <a:xfrm>
            <a:off x="6263640" y="4498848"/>
            <a:ext cx="5486400" cy="1261872"/>
          </a:xfrm>
          <a:prstGeom prst="rect">
            <a:avLst/>
          </a:prstGeom>
          <a:solidFill>
            <a:srgbClr val="FFFFFF"/>
          </a:solidFill>
          <a:ln w="12700">
            <a:solidFill>
              <a:srgbClr val="DAD3C2"/>
            </a:solidFill>
            <a:prstDash val="solid"/>
          </a:ln>
        </p:spPr>
      </p:sp>
      <p:sp>
        <p:nvSpPr>
          <p:cNvPr id="42" name="Shape 40"/>
          <p:cNvSpPr/>
          <p:nvPr/>
        </p:nvSpPr>
        <p:spPr>
          <a:xfrm>
            <a:off x="6263640" y="4498848"/>
            <a:ext cx="5486400" cy="676656"/>
          </a:xfrm>
          <a:prstGeom prst="rect">
            <a:avLst/>
          </a:prstGeom>
          <a:solidFill>
            <a:srgbClr val="1A2332"/>
          </a:solidFill>
          <a:ln/>
        </p:spPr>
      </p:sp>
      <p:sp>
        <p:nvSpPr>
          <p:cNvPr id="43" name="Text 41"/>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NATO (North Atlantic Treaty Organization)</a:t>
            </a:r>
            <a:endParaRPr lang="en-US" sz="1350" dirty="0"/>
          </a:p>
        </p:txBody>
      </p:sp>
      <p:sp>
        <p:nvSpPr>
          <p:cNvPr id="44" name="Text 42"/>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OTAN (Organización del Tratado del Atlántico Norte)</a:t>
            </a:r>
            <a:endParaRPr lang="en-US" sz="1000" dirty="0"/>
          </a:p>
        </p:txBody>
      </p:sp>
      <p:sp>
        <p:nvSpPr>
          <p:cNvPr id="45" name="Shape 43"/>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6" name="Text 44"/>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N</a:t>
            </a:r>
            <a:endParaRPr lang="en-US" sz="1500" dirty="0"/>
          </a:p>
        </p:txBody>
      </p:sp>
      <p:sp>
        <p:nvSpPr>
          <p:cNvPr id="47" name="Text 45"/>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military alliance formed in 1949 by the United States, Canada, and Western European nations pledging mutual defense against Soviet aggression, embodying the principle that "an attack on one is an attack on all."</a:t>
            </a:r>
            <a:endParaRPr lang="en-US" sz="1100" dirty="0"/>
          </a:p>
        </p:txBody>
      </p:sp>
      <p:sp>
        <p:nvSpPr>
          <p:cNvPr id="48" name="Text 46"/>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49" name="Text 4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0" name="Text 4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US.62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Explain a limited war</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Why did Truman keep the Korean War 'limited' and fire MacArthur?</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Truman wanted to contain communism without triggering WWIII with China or the USSR. MacArthur wanted to widen the war, so Truman removed him to keep civilian control.</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Underline the reason Truman gave for limiting the war.</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Explain whether Truman or MacArthur had the stronger case, citing the text.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US.62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The First Hot War of the Cold War — Korea</a:t>
            </a:r>
            <a:endParaRPr lang="en-US" sz="24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Read Truman's Address on the Korean War and review the Battle of Inchon photograph. Build a chart tracking four elements: the DOMINO THEORY behind U.S. intervention, CHINESE ENTRY and its impact, the 38TH PARALLEL as a dividing line, and the BATTLE OF INCHON as a turning point. Write one sentence on the significance of each. Finish with a one-sentence claim on why the Korean War is often called a 'stalemate' or 'forgotten war,' supported by evidence.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250" dirty="0">
                <a:solidFill>
                  <a:srgbClr val="FFFFFF"/>
                </a:solidFill>
                <a:latin typeface="Calibri" pitchFamily="34" charset="0"/>
                <a:ea typeface="Calibri" pitchFamily="34" charset="-122"/>
                <a:cs typeface="Calibri" pitchFamily="34" charset="-120"/>
              </a:rPr>
              <a:t>Completed four-element chart (one-sentence significance each) AND a one-sentence evidence-based claim about the war's outcome.</a:t>
            </a:r>
            <a:endParaRPr lang="en-US" sz="12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Chart with the four elements pre-labeled and a word bank of details to place. Honors: Write a paragraph using Truman's address to explain how containment turned a civil war in Korea into a U.S. military commitment.</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cornell-notes/unit-7/us62-korean-war.pdf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US.62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The Battle of Inchon (September 1950) is considered one of the most daring amphibious operations of the twentieth century. Which of the following BEST explains why the Inchon landing was strategically significant beyond its immediate military success?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Inchon landing demonstrated that amphibious warfare was superior to conventional ground assault, fundamentally changing U.S. military doctrine for future conflicts.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Inchon landing convinced China that the United States planned to invade the Chinese mainland, directly triggering Chinese entry into the Korean War.</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success at Inchon persuaded the Soviet Union to withdraw its military advisors from North Korea, reducing the risk of direct superpower confrontation.</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Inchon's success emboldened the advance past the 38th parallel toward China's border, triggering Chinese intervention and transforming a containment success into a far more costly conflict.</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US.62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The Battle of Inchon (September 1950) is considered one of the most daring amphibious operations of the twentieth century. Which of the following BEST explains why the Inchon landing was strategically significant beyond its immediate military success?</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Inchon landing demonstrated that amphibious warfare was superior to conventional ground assault, fundamentally changing U.S. military doctrine for future conflicts.</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Inchon landing convinced China that the United States planned to invade the Chinese mainland, directly triggering Chinese entry into the Korean War.</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success at Inchon persuaded the Soviet Union to withdraw its military advisors from North Korea, reducing the risk of direct superpower confrontation.</a:t>
            </a:r>
            <a:endParaRPr lang="en-US" sz="1300" dirty="0"/>
          </a:p>
        </p:txBody>
      </p:sp>
      <p:sp>
        <p:nvSpPr>
          <p:cNvPr id="21" name="Shape 19"/>
          <p:cNvSpPr/>
          <p:nvPr/>
        </p:nvSpPr>
        <p:spPr>
          <a:xfrm>
            <a:off x="548640" y="4626864"/>
            <a:ext cx="11064240" cy="566928"/>
          </a:xfrm>
          <a:prstGeom prst="roundRect">
            <a:avLst>
              <a:gd name="adj" fmla="val 9677"/>
            </a:avLst>
          </a:prstGeom>
          <a:solidFill>
            <a:srgbClr val="C9A84C"/>
          </a:solidFill>
          <a:ln w="12700">
            <a:solidFill>
              <a:srgbClr val="F9A825"/>
            </a:solidFill>
            <a:prstDash val="solid"/>
          </a:ln>
        </p:spPr>
      </p:sp>
      <p:sp>
        <p:nvSpPr>
          <p:cNvPr id="22" name="Shape 20"/>
          <p:cNvSpPr/>
          <p:nvPr/>
        </p:nvSpPr>
        <p:spPr>
          <a:xfrm>
            <a:off x="713232" y="4736592"/>
            <a:ext cx="347472" cy="347472"/>
          </a:xfrm>
          <a:prstGeom prst="ellipse">
            <a:avLst/>
          </a:prstGeom>
          <a:solidFill>
            <a:srgbClr val="1A2332"/>
          </a:solidFill>
          <a:ln/>
        </p:spPr>
      </p:sp>
      <p:sp>
        <p:nvSpPr>
          <p:cNvPr id="23" name="Text 21"/>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D</a:t>
            </a:r>
            <a:endParaRPr lang="en-US" sz="1300" dirty="0"/>
          </a:p>
        </p:txBody>
      </p:sp>
      <p:sp>
        <p:nvSpPr>
          <p:cNvPr id="24" name="Text 22"/>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Inchon's success emboldened the advance past the 38th parallel toward China's border, triggering Chinese intervention and transforming a containment success into a far more costly conflict.</a:t>
            </a:r>
            <a:endParaRPr lang="en-US" sz="1300" dirty="0"/>
          </a:p>
        </p:txBody>
      </p:sp>
      <p:sp>
        <p:nvSpPr>
          <p:cNvPr id="25" name="Text 23"/>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Inchon landing reversed the military situation in Korea dramatically: UN forces had been pushed into the Pusan Perimeter, and the landing cut North Korean supply lines and forced a rapid retreat northward, liberating Seoul. Its broader strategic significance was that it reinforced MacArthur's…</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US.62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Domino Theory and Its Application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Chinese Entry and Its Impact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38th Parallel</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Battle of Inchon</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Was the Korean War a success or a failure for U.S. containment policy? Argue your position with evidence. (SSP.04)</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Analyze how the Korean War reflected the Cold War policy of containment, including its causes, course, and outcome.</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US.63</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Eisenhower's Cold War Policies</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SSP.03</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Explain Cold War policies during President Dwight D. Eisenhower's administration, including brinkmanship and "peaceful coexistence".</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explain Cold War policies during President Eisenhower's administration, including brinkmanship and "peaceful coexistence."</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US.63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US.62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Domino Theory?</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US.62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How did the Korean War end?</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US.63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Which WWII general became president and led the U.S. through much of the 1950s Cold War?</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Dwight D. Eisenhower.</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US.63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President Eisenhower, the general who had won World War II, now led the nation through the most dangerous years of the Cold War, threatening 'massive retaliation' with nuclear weapons while quietly warning Americans against the dangers of a permanent 'military-industrial complex.'</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How does a leader keep the peace by threatening total war, and what did Eisenhower fear even his own nation was becoming?</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Brinkmanship</a:t>
            </a:r>
            <a:endParaRPr lang="en-US" sz="3000" dirty="0"/>
          </a:p>
        </p:txBody>
      </p:sp>
      <p:sp>
        <p:nvSpPr>
          <p:cNvPr id="5" name="Shape 3"/>
          <p:cNvSpPr/>
          <p:nvPr/>
        </p:nvSpPr>
        <p:spPr>
          <a:xfrm>
            <a:off x="10765231" y="502920"/>
            <a:ext cx="146304" cy="146304"/>
          </a:xfrm>
          <a:prstGeom prst="ellipse">
            <a:avLst/>
          </a:prstGeom>
          <a:solidFill>
            <a:srgbClr val="C62828"/>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6766560" cy="4069080"/>
          </a:xfrm>
          <a:prstGeom prst="rect">
            <a:avLst/>
          </a:prstGeom>
          <a:solidFill>
            <a:srgbClr val="FFFFFF"/>
          </a:solidFill>
          <a:ln w="12700">
            <a:solidFill>
              <a:srgbClr val="DAD3C2"/>
            </a:solidFill>
            <a:prstDash val="solid"/>
          </a:ln>
        </p:spPr>
      </p:sp>
      <p:sp>
        <p:nvSpPr>
          <p:cNvPr id="10" name="Text 8"/>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Secretary of State John Foster Dulles advocated pushing dangerous situations to the brink of war to force opponents to back down.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This strategy relied on nuclear deterrence and superior American resolve.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Applied during the Suez Crisis (1956) and Berlin Crisis (1958), brinkmanship assumed that the threat of nuclear war would make enemies capitulate.</a:t>
            </a:r>
            <a:endParaRPr lang="en-US" sz="1550" dirty="0"/>
          </a:p>
        </p:txBody>
      </p:sp>
      <p:sp>
        <p:nvSpPr>
          <p:cNvPr id="11" name="Shape 9"/>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2" name="Text 10"/>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3" name="Text 11"/>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Eisenhower used brinkmanship to ________, but he also warned Americans about ________.</a:t>
            </a:r>
            <a:endParaRPr lang="en-US" sz="1050" dirty="0"/>
          </a:p>
        </p:txBody>
      </p:sp>
      <p:sp>
        <p:nvSpPr>
          <p:cNvPr id="14" name="Shape 12"/>
          <p:cNvSpPr/>
          <p:nvPr/>
        </p:nvSpPr>
        <p:spPr>
          <a:xfrm>
            <a:off x="7552944" y="1746504"/>
            <a:ext cx="4142232" cy="2935224"/>
          </a:xfrm>
          <a:prstGeom prst="rect">
            <a:avLst/>
          </a:prstGeom>
          <a:solidFill>
            <a:srgbClr val="FFFFFF"/>
          </a:solidFill>
          <a:ln w="12700">
            <a:solidFill>
              <a:srgbClr val="DAD3C2"/>
            </a:solidFill>
            <a:prstDash val="solid"/>
          </a:ln>
        </p:spPr>
      </p:sp>
      <p:pic>
        <p:nvPicPr>
          <p:cNvPr id="15" name="Image 0" descr="unit7-full/img/eisenhower-official-portrait-1959.jpg">    </p:cNvPr>
          <p:cNvPicPr>
            <a:picLocks noChangeAspect="1"/>
          </p:cNvPicPr>
          <p:nvPr/>
        </p:nvPicPr>
        <p:blipFill>
          <a:blip r:embed="rId1"/>
          <a:stretch>
            <a:fillRect/>
          </a:stretch>
        </p:blipFill>
        <p:spPr>
          <a:xfrm>
            <a:off x="8478276" y="1783080"/>
            <a:ext cx="2291567" cy="2862072"/>
          </a:xfrm>
          <a:prstGeom prst="rect">
            <a:avLst/>
          </a:prstGeom>
        </p:spPr>
      </p:pic>
      <p:sp>
        <p:nvSpPr>
          <p:cNvPr id="16" name="Text 13"/>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White House / U.S. Federal Government, May 29, 1959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7" name="Shape 14"/>
          <p:cNvSpPr/>
          <p:nvPr/>
        </p:nvSpPr>
        <p:spPr>
          <a:xfrm>
            <a:off x="7589520" y="5440680"/>
            <a:ext cx="4069080" cy="713232"/>
          </a:xfrm>
          <a:prstGeom prst="roundRect">
            <a:avLst>
              <a:gd name="adj" fmla="val 7692"/>
            </a:avLst>
          </a:prstGeom>
          <a:solidFill>
            <a:srgbClr val="1A2332"/>
          </a:solidFill>
          <a:ln/>
        </p:spPr>
      </p:sp>
      <p:sp>
        <p:nvSpPr>
          <p:cNvPr id="18" name="Text 15"/>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0"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Peaceful Coexistence</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C62828"/>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concept, promoted by Soviet leader Nikita Khrushchev after Stalin's death, suggested that capitalist and communist nations could coexist without war while competing economically and ideologically.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It represented a shift from Stalin's more aggressive approach and opened possibilities for diplomacy while maintaining fundamental competition.</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Comparing Approaches</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C62828"/>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Brinkmanship was an aggressive, risk-taking approach using the threat of nuclear war to achieve goals.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Peaceful coexistence was a more diplomatic approach emphasizing competition over confrontation.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Both sought to avoid actual nuclear war while maintaining ideological competition—brinkmanship through deterrence, peaceful coexistence through negotiation.</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US.63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Dwight D. Eisenhower</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34th President (1953-1961)</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Adopted the 'New Look' relying on nuclear deterrence</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Used brinkmanship and the CIA to fight the Cold War cheaply</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Warned in his farewell of the 'military-industrial complex'</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Eisenhower to show a general-turned-president managing Cold War risk and cost.</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US.63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200" b="1" dirty="0">
                <a:solidFill>
                  <a:srgbClr val="1A2332"/>
                </a:solidFill>
                <a:latin typeface="Georgia" pitchFamily="34" charset="0"/>
                <a:ea typeface="Georgia" pitchFamily="34" charset="-122"/>
                <a:cs typeface="Georgia" pitchFamily="34" charset="-120"/>
              </a:rPr>
              <a:t>Eisenhower's "New Look" Policy Speech</a:t>
            </a:r>
            <a:endParaRPr lang="en-US" sz="22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Dwight D. Eisenhower  ·  January 12, 1954</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"The basic decision was to depend primarily upon a great capacity to retaliate, instantly, by means and at places of our choosing... The way to deter aggression is for the free community to be willing and able to respond vigorously at places and with means of its own choosing."</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President Eisenhower came to office in 1953 facing a difficult strategic problem: maintaining American security against the Soviet threat while cutting the enormous military budgets of the Korean War era. His answer was the 'New Look' defense policy—relying more heavily on nuclear weapons and air power (which were cheaper than large conventional armies) and using the threat of 'massive retaliation' against Soviet aggression to deter attacks.</a:t>
            </a:r>
            <a:endParaRPr lang="en-US" sz="9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military strategy does Eisenhower describe in this speech?</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Dwight D. Eisenhower</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January 12, 1954</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Dwight D. Eisenhower Presidential Library</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US.63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Brinkmanship</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BRINGK-mun-ship</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Política al Borde del Abismo</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B</a:t>
            </a:r>
            <a:endParaRPr lang="en-US" sz="15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Cold War diplomatic strategy of pushing dangerous situations to the edge of war to force the other side to back down, associated with Secretary of State John Foster Dulles in the 1950s.</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Domino Theory</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DOM-ih-noh THEER-ee</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Teoría del Dominó</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DT</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Cold War belief that if one country fell to communism, neighboring countries would also fall like a row of dominoes, justifying U.S. intervention to prevent communist expansion anywhere in the world.</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Eisenhower Doctrine</a:t>
            </a:r>
            <a:endParaRPr lang="en-US" sz="13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Doctrina Eisenhower</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6" name="Text 24"/>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ED</a:t>
            </a:r>
            <a:endParaRPr lang="en-US" sz="1300" dirty="0"/>
          </a:p>
        </p:txBody>
      </p:sp>
      <p:sp>
        <p:nvSpPr>
          <p:cNvPr id="27" name="Text 25"/>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Eisenhower's 1957 policy pledging U.S. military and economic aid to Middle Eastern countries resisting communist aggression, extending containment policy to protect oil supplies and strategic interests.</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sp>
      <p:sp>
        <p:nvSpPr>
          <p:cNvPr id="29" name="Shape 27"/>
          <p:cNvSpPr/>
          <p:nvPr/>
        </p:nvSpPr>
        <p:spPr>
          <a:xfrm>
            <a:off x="6263640" y="3072384"/>
            <a:ext cx="5486400" cy="676656"/>
          </a:xfrm>
          <a:prstGeom prst="rect">
            <a:avLst/>
          </a:prstGeom>
          <a:solidFill>
            <a:srgbClr val="1A2332"/>
          </a:solidFill>
          <a:ln/>
        </p:spPr>
      </p:sp>
      <p:sp>
        <p:nvSpPr>
          <p:cNvPr id="30" name="Text 28"/>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Warsaw Pact</a:t>
            </a:r>
            <a:endParaRPr lang="en-US" sz="1350" dirty="0"/>
          </a:p>
        </p:txBody>
      </p:sp>
      <p:sp>
        <p:nvSpPr>
          <p:cNvPr id="31" name="Text 29"/>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WOR-saw pakt</a:t>
            </a:r>
            <a:endParaRPr lang="en-US" sz="850" dirty="0"/>
          </a:p>
        </p:txBody>
      </p:sp>
      <p:sp>
        <p:nvSpPr>
          <p:cNvPr id="32" name="Text 30"/>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Pacto de Varsovia</a:t>
            </a:r>
            <a:endParaRPr lang="en-US" sz="1000" dirty="0"/>
          </a:p>
        </p:txBody>
      </p:sp>
      <p:sp>
        <p:nvSpPr>
          <p:cNvPr id="33" name="Shape 31"/>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4" name="Text 32"/>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WP</a:t>
            </a:r>
            <a:endParaRPr lang="en-US" sz="1300" dirty="0"/>
          </a:p>
        </p:txBody>
      </p:sp>
      <p:sp>
        <p:nvSpPr>
          <p:cNvPr id="35" name="Text 33"/>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Soviet Union's military alliance formed in 1955 with communist Eastern European nations in response to NATO, creating two opposing military blocs that defined Cold War Europe.</a:t>
            </a:r>
            <a:endParaRPr lang="en-US" sz="1100" dirty="0"/>
          </a:p>
        </p:txBody>
      </p:sp>
      <p:sp>
        <p:nvSpPr>
          <p:cNvPr id="36" name="Shape 34"/>
          <p:cNvSpPr/>
          <p:nvPr/>
        </p:nvSpPr>
        <p:spPr>
          <a:xfrm>
            <a:off x="548640" y="4498848"/>
            <a:ext cx="5486400" cy="1261872"/>
          </a:xfrm>
          <a:prstGeom prst="rect">
            <a:avLst/>
          </a:prstGeom>
          <a:solidFill>
            <a:srgbClr val="FFFFFF"/>
          </a:solidFill>
          <a:ln w="12700">
            <a:solidFill>
              <a:srgbClr val="DAD3C2"/>
            </a:solidFill>
            <a:prstDash val="solid"/>
          </a:ln>
        </p:spPr>
      </p:sp>
      <p:sp>
        <p:nvSpPr>
          <p:cNvPr id="37" name="Shape 35"/>
          <p:cNvSpPr/>
          <p:nvPr/>
        </p:nvSpPr>
        <p:spPr>
          <a:xfrm>
            <a:off x="548640" y="4498848"/>
            <a:ext cx="5486400" cy="676656"/>
          </a:xfrm>
          <a:prstGeom prst="rect">
            <a:avLst/>
          </a:prstGeom>
          <a:solidFill>
            <a:srgbClr val="1A2332"/>
          </a:solidFill>
          <a:ln/>
        </p:spPr>
      </p:sp>
      <p:sp>
        <p:nvSpPr>
          <p:cNvPr id="38" name="Text 36"/>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Military-Industrial Complex</a:t>
            </a:r>
            <a:endParaRPr lang="en-US" sz="1350" dirty="0"/>
          </a:p>
        </p:txBody>
      </p:sp>
      <p:sp>
        <p:nvSpPr>
          <p:cNvPr id="39" name="Text 37"/>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MIL-ih-tair-ee in-DUS-tree-ul KOM-pleks</a:t>
            </a:r>
            <a:endParaRPr lang="en-US" sz="850" dirty="0"/>
          </a:p>
        </p:txBody>
      </p:sp>
      <p:sp>
        <p:nvSpPr>
          <p:cNvPr id="40" name="Text 38"/>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Complejo Militar-Industrial</a:t>
            </a:r>
            <a:endParaRPr lang="en-US" sz="1000" dirty="0"/>
          </a:p>
        </p:txBody>
      </p:sp>
      <p:sp>
        <p:nvSpPr>
          <p:cNvPr id="41" name="Shape 39"/>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2" name="Text 40"/>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MC</a:t>
            </a:r>
            <a:endParaRPr lang="en-US" sz="1300" dirty="0"/>
          </a:p>
        </p:txBody>
      </p:sp>
      <p:sp>
        <p:nvSpPr>
          <p:cNvPr id="43" name="Text 41"/>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close relationship between the military, defense contractors, and government that President Eisenhower warned about in 1961, concerned that this alliance could drive unnecessary military spending and influence…</a:t>
            </a:r>
            <a:endParaRPr lang="en-US" sz="1100" dirty="0"/>
          </a:p>
        </p:txBody>
      </p:sp>
      <p:sp>
        <p:nvSpPr>
          <p:cNvPr id="44" name="Shape 42"/>
          <p:cNvSpPr/>
          <p:nvPr/>
        </p:nvSpPr>
        <p:spPr>
          <a:xfrm>
            <a:off x="6263640" y="4498848"/>
            <a:ext cx="5486400" cy="1261872"/>
          </a:xfrm>
          <a:prstGeom prst="rect">
            <a:avLst/>
          </a:prstGeom>
          <a:solidFill>
            <a:srgbClr val="FFFFFF"/>
          </a:solidFill>
          <a:ln w="12700">
            <a:solidFill>
              <a:srgbClr val="DAD3C2"/>
            </a:solidFill>
            <a:prstDash val="solid"/>
          </a:ln>
        </p:spPr>
      </p:sp>
      <p:sp>
        <p:nvSpPr>
          <p:cNvPr id="45" name="Shape 43"/>
          <p:cNvSpPr/>
          <p:nvPr/>
        </p:nvSpPr>
        <p:spPr>
          <a:xfrm>
            <a:off x="6263640" y="4498848"/>
            <a:ext cx="5486400" cy="676656"/>
          </a:xfrm>
          <a:prstGeom prst="rect">
            <a:avLst/>
          </a:prstGeom>
          <a:solidFill>
            <a:srgbClr val="1A2332"/>
          </a:solidFill>
          <a:ln/>
        </p:spPr>
      </p:sp>
      <p:sp>
        <p:nvSpPr>
          <p:cNvPr id="46" name="Text 44"/>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Interstate Highway System</a:t>
            </a:r>
            <a:endParaRPr lang="en-US" sz="1350" dirty="0"/>
          </a:p>
        </p:txBody>
      </p:sp>
      <p:sp>
        <p:nvSpPr>
          <p:cNvPr id="47" name="Text 45"/>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Sistema de Autopistas Interestatales</a:t>
            </a:r>
            <a:endParaRPr lang="en-US" sz="1000" dirty="0"/>
          </a:p>
        </p:txBody>
      </p:sp>
      <p:sp>
        <p:nvSpPr>
          <p:cNvPr id="48" name="Shape 46"/>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9" name="Text 47"/>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IH</a:t>
            </a:r>
            <a:endParaRPr lang="en-US" sz="1300" dirty="0"/>
          </a:p>
        </p:txBody>
      </p:sp>
      <p:sp>
        <p:nvSpPr>
          <p:cNvPr id="50" name="Text 48"/>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massive network of limited-access highways authorized by President Eisenhower in 1956, connecting American cities and transforming transportation, commerce, and development patterns.</a:t>
            </a:r>
            <a:endParaRPr lang="en-US" sz="1100" dirty="0"/>
          </a:p>
        </p:txBody>
      </p:sp>
      <p:sp>
        <p:nvSpPr>
          <p:cNvPr id="51" name="Text 49"/>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2" name="Text 5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3" name="Text 5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US.63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Analyze a strategy</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How did Eisenhower fight the Cold War more cheaply?</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The 'New Look' leaned on nuclear deterrence, alliances, and the CIA instead of large armies. Brinkmanship threatened massive retaliation to deter the Soviets at lower cost.</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Circle one tool of the 'New Look' named in the source.</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Explain one risk of relying on nuclear threats, citing the text.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US.63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Peace Through Fear — Eisenhower's Cold War Balance</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Read Eisenhower's 'New Look' policy speech and use your notes to compare two approaches in a two-column chart: BRINKMANSHIP (massive retaliation, threat of nuclear force) and PEACEFUL COEXISTENCE (diplomacy, avoiding direct war). List at least two features of each. Then note one event that shows each approach in action. Finish with a one-sentence claim on how Eisenhower tried to hold these opposite strategies together, with evidence.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two-approach chart (2+ features + one event each) AND a one-sentence evidence-based claim about Eisenhower's balancing act.</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Chart pre-labeled 'Brinkmanship' and 'Peaceful Coexistence' with a word bank to sort. Honors: Write a paragraph using the 'New Look' speech to argue whether threatening nuclear war made the world safer or more dangerous.</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cornell-notes/unit-7/us63-eisenhower-cold-war-policies.pdf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US.63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Eisenhower's farewell address warned of the 'military-industrial complex.' Which of the following MOST accurately explains the internal tension between this warning and Eisenhower's own defense policies during his presidency?</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Eisenhower's farewell address was purely rhetorical because he never actually spent significant money on defense during his presidency.</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There was no real tension because Eisenhower's 'New Look' policy reduced overall defense spending, making his warning about the military-industrial complex prophetic rather than self-contradictory.</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Eisenhower's 'New Look' policy actually expanded the nuclear and aerospace defense industries, meaning he contributed to building the very military-industrial complex he warned against in his farewell address.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Eisenhower directed his warning specifically at his successor Kennedy, whose proposed conventional military buildup he feared would enrich weapons manufacturers.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US.63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Eisenhower's farewell address warned of the 'military-industrial complex.' Which of the following MOST accurately explains the internal tension between this warning and Eisenhower's own defense policies during his presidency?</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Eisenhower's farewell address was purely rhetorical because he never actually spent significant money on defense during his presidency.</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There was no real tension because Eisenhower's 'New Look' policy reduced overall defense spending, making his warning about the military-industrial complex prophetic rather than self-contradictory.</a:t>
            </a:r>
            <a:endParaRPr lang="en-US" sz="1300" dirty="0"/>
          </a:p>
        </p:txBody>
      </p:sp>
      <p:sp>
        <p:nvSpPr>
          <p:cNvPr id="17" name="Shape 15"/>
          <p:cNvSpPr/>
          <p:nvPr/>
        </p:nvSpPr>
        <p:spPr>
          <a:xfrm>
            <a:off x="548640" y="3968496"/>
            <a:ext cx="11064240" cy="566928"/>
          </a:xfrm>
          <a:prstGeom prst="roundRect">
            <a:avLst>
              <a:gd name="adj" fmla="val 9677"/>
            </a:avLst>
          </a:prstGeom>
          <a:solidFill>
            <a:srgbClr val="C9A84C"/>
          </a:solidFill>
          <a:ln w="12700">
            <a:solidFill>
              <a:srgbClr val="F9A825"/>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Eisenhower's 'New Look' policy actually expanded the nuclear and aerospace defense industries, meaning he contributed to building the very military-industrial complex he warned against in his farewell address.</a:t>
            </a:r>
            <a:endParaRPr lang="en-US" sz="1300" dirty="0"/>
          </a:p>
        </p:txBody>
      </p:sp>
      <p:sp>
        <p:nvSpPr>
          <p:cNvPr id="21" name="Text 19"/>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Eisenhower directed his warning specifically at his successor Kennedy, whose proposed conventional military buildup he feared would enrich weapons manufacturers.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Eisenhower's warning was ironic because his own 'New Look' policy, which emphasized nuclear weapons and airpower over conventional forces, significantly expanded the defense industry and the influence of weapons contractors. By choosing massive retaliation over conventional defense, Eisenhower…</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US.63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Brinkmanship</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Peaceful Coexistence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Comparing Approaches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Did Eisenhower's mix of brinkmanship and coexistence make the world safer or more dangerous? Defend your claim with evidence. (SSP.04)</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Analyze Eisenhower's Cold War policies. How did brinkmanship and 'peaceful coexistence' shape his approach, and what tensions existed between them?</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US.64</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Nuclear Fears and Civil Defense</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SSP.03</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Explain the fears of Americans surrounding nuclear holocaust and debates over stockpiling and the use of nuclear weapons, including: Atomic testing, Civil defense, Fallout shelters, Impact of Sputnik, Mutual assured destruction.</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A2332"/>
                </a:solidFill>
                <a:latin typeface="Calibri" pitchFamily="34" charset="0"/>
                <a:ea typeface="Calibri" pitchFamily="34" charset="-122"/>
                <a:cs typeface="Calibri" pitchFamily="34" charset="-120"/>
              </a:rPr>
              <a:t>I can explain the fears of Americans surrounding nuclear holocaust and debates over stockpiling and the use of nuclear weapons, including atomic testing, civil defense, fallout shelters, Sputnik, and mutual assured destruction.</a:t>
            </a:r>
            <a:endParaRPr lang="en-US" sz="11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US.64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US.63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Eisenhower's policy of brinkmanship?</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US.63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did Eisenhower warn about in his farewell address?</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US.64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nuclear-attack drill did American schoolchildren practice in the Cold War?</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'Duck and cover.'</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US.64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American schoolchildren practiced 'duck and cover' drills under their desks, families built backyard fallout shelters, and a single Soviet satellite beeping overhead convinced millions that the enemy might soon rain nuclear fire from space.</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How did the constant threat of nuclear annihilation reshape the everyday lives, fears, and choices of ordinary Americans?</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American Fears of Nuclear Holocaust</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Americans lived with constant anxiety about nuclear attack.</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"Duck and cover" drills in schools, fallout shelter construction, and civil defense programs reflected deep fears about nuclear annihilation.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Mutual Assured Destruction (MAD) paradoxically provided security through the promise of mutual annihilation—neither side would attack knowing both would be destroyed.</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threat of nuclear war changed American life by ________, for example ________.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Debates Over Nuclear Stockpiling</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Hawks argued for nuclear superiority to deter Soviet aggression, while doves worried about accidental war and escalating arms race costs.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debate intensified with hydrogen bomb development and ICBM deployment.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Some questioned whether building more weapons enhanced security or simply increased the risk of catastrophic accident.</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Atomic Testing Impact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Above-ground nuclear tests created public health concerns about radioactive fallout.</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1954 Bravo test contaminated Japanese fishermen and Pacific islanders, increasing international pressure for test bans and raising awareness of nuclear weapons' environmental dangers.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These concerns eventually led to the Limited Test Ban Treaty of 1963.</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7-full/img/operation-upshot-knothole-atomic-test-1953.jpg">    </p:cNvPr>
          <p:cNvPicPr>
            <a:picLocks noChangeAspect="1"/>
          </p:cNvPicPr>
          <p:nvPr/>
        </p:nvPicPr>
        <p:blipFill>
          <a:blip r:embed="rId1"/>
          <a:stretch>
            <a:fillRect/>
          </a:stretch>
        </p:blipFill>
        <p:spPr>
          <a:xfrm>
            <a:off x="7589520" y="1804797"/>
            <a:ext cx="4069080" cy="3458718"/>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National Nuclear Security Administration / Nevada Site Office / U.S. Federal Government, April 18, 1953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Sputnik's Significance</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1957 Soviet satellite launch shocked Americans, suggesting Soviet technological superiority and ICBM capability.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If the Soviets could launch a satellite, they could deliver nuclear warheads to American cities.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intensified the space race, led to increased science education funding through the National Defense Education Act, and created fears about American vulnerability.</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US.64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The American Family, 1950s</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Postwar suburban households</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Practiced 'duck and cover' drills and built fallout shelters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Rode the baby boom, G.I. Bill, and suburban growth</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Lived with both prosperity and nuclear dread</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Keep it concrete: one family, one shelter, one new suburban home.</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US.64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Civil Defense Pamphlet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Federal Civil Defense Administration  ·  1951</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"You can survive an atomic bomb attack! But you must know what to do. Duck and cover at the flash of light. Stay away from windows. If outdoors, lie flat on the ground. Have an emergency kit ready. Build a fallout shelter in your basement or backyard. With proper preparation, you and your family can survive."</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2011680"/>
          </a:xfrm>
          <a:prstGeom prst="roundRect">
            <a:avLst>
              <a:gd name="adj" fmla="val 3636"/>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49961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During the Cold War, the U.S. government created extensive civil defense programs to prepare the public for a potential nuclear attack. Duck-and-cover drills in schools, bomb shelter construction guides, and government pamphlets on nuclear survival became part of everyday American life in the 1950s. While these measures provided false security against the actual effects of nuclear weapons, they reflected genuine fear of Soviet nuclear attack and served to keep Americans informed about—and supportive of—Cold War policies.</a:t>
            </a:r>
            <a:endParaRPr lang="en-US" sz="950" dirty="0"/>
          </a:p>
        </p:txBody>
      </p:sp>
      <p:sp>
        <p:nvSpPr>
          <p:cNvPr id="16" name="Shape 14"/>
          <p:cNvSpPr/>
          <p:nvPr/>
        </p:nvSpPr>
        <p:spPr>
          <a:xfrm>
            <a:off x="7589520" y="3931920"/>
            <a:ext cx="4023360" cy="1051560"/>
          </a:xfrm>
          <a:prstGeom prst="roundRect">
            <a:avLst>
              <a:gd name="adj" fmla="val 6957"/>
            </a:avLst>
          </a:prstGeom>
          <a:solidFill>
            <a:srgbClr val="C9A84C"/>
          </a:solidFill>
          <a:ln/>
        </p:spPr>
      </p:sp>
      <p:sp>
        <p:nvSpPr>
          <p:cNvPr id="17" name="Text 15"/>
          <p:cNvSpPr/>
          <p:nvPr/>
        </p:nvSpPr>
        <p:spPr>
          <a:xfrm>
            <a:off x="7818120" y="40507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352544"/>
            <a:ext cx="3611880" cy="5212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does this pamphlet reveal about American attitudes toward nuclear war in the 1950s?</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Federal Civil Defense Administration</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1951</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US.64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Nuclear Fears</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Miedos Nucleares</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NF</a:t>
            </a:r>
            <a:endParaRPr lang="en-US" sz="13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widespread anxiety in 1950s America about nuclear war with the Soviet Union, driven by atomic bomb tests, the arms race, and fear of sudden nuclear annihilation.</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Fallout Shelters</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Refugios Antibombas</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7" name="Text 15"/>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FS</a:t>
            </a:r>
            <a:endParaRPr lang="en-US" sz="1300" dirty="0"/>
          </a:p>
        </p:txBody>
      </p:sp>
      <p:sp>
        <p:nvSpPr>
          <p:cNvPr id="18" name="Text 16"/>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Underground or reinforced structures designed to protect people from radioactive fallout after a nuclear explosion, widely promoted and built during the 1950s as Cold War tensions escalated.</a:t>
            </a:r>
            <a:endParaRPr lang="en-US" sz="1100" dirty="0"/>
          </a:p>
        </p:txBody>
      </p:sp>
      <p:sp>
        <p:nvSpPr>
          <p:cNvPr id="19" name="Shape 17"/>
          <p:cNvSpPr/>
          <p:nvPr/>
        </p:nvSpPr>
        <p:spPr>
          <a:xfrm>
            <a:off x="548640" y="3072384"/>
            <a:ext cx="5486400" cy="1261872"/>
          </a:xfrm>
          <a:prstGeom prst="rect">
            <a:avLst/>
          </a:prstGeom>
          <a:solidFill>
            <a:srgbClr val="FFFFFF"/>
          </a:solidFill>
          <a:ln w="12700">
            <a:solidFill>
              <a:srgbClr val="DAD3C2"/>
            </a:solidFill>
            <a:prstDash val="solid"/>
          </a:ln>
        </p:spPr>
      </p:sp>
      <p:sp>
        <p:nvSpPr>
          <p:cNvPr id="20" name="Shape 18"/>
          <p:cNvSpPr/>
          <p:nvPr/>
        </p:nvSpPr>
        <p:spPr>
          <a:xfrm>
            <a:off x="548640" y="3072384"/>
            <a:ext cx="5486400" cy="676656"/>
          </a:xfrm>
          <a:prstGeom prst="rect">
            <a:avLst/>
          </a:prstGeom>
          <a:solidFill>
            <a:srgbClr val="1A2332"/>
          </a:solidFill>
          <a:ln/>
        </p:spPr>
      </p:sp>
      <p:sp>
        <p:nvSpPr>
          <p:cNvPr id="21" name="Text 19"/>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Mutual Assured Destruction (MAD)</a:t>
            </a:r>
            <a:endParaRPr lang="en-US" sz="1350" dirty="0"/>
          </a:p>
        </p:txBody>
      </p:sp>
      <p:sp>
        <p:nvSpPr>
          <p:cNvPr id="22" name="Text 20"/>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Destrucción Mutua Asegurada</a:t>
            </a:r>
            <a:endParaRPr lang="en-US" sz="1000" dirty="0"/>
          </a:p>
        </p:txBody>
      </p:sp>
      <p:sp>
        <p:nvSpPr>
          <p:cNvPr id="23" name="Shape 21"/>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4" name="Text 22"/>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MA</a:t>
            </a:r>
            <a:endParaRPr lang="en-US" sz="1300" dirty="0"/>
          </a:p>
        </p:txBody>
      </p:sp>
      <p:sp>
        <p:nvSpPr>
          <p:cNvPr id="25" name="Text 23"/>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Cold War doctrine that nuclear war between the U.S. and Soviet Union would result in complete annihilation of both sides, theoretically preventing either from starting a war.</a:t>
            </a:r>
            <a:endParaRPr lang="en-US" sz="1100" dirty="0"/>
          </a:p>
        </p:txBody>
      </p:sp>
      <p:sp>
        <p:nvSpPr>
          <p:cNvPr id="26" name="Shape 24"/>
          <p:cNvSpPr/>
          <p:nvPr/>
        </p:nvSpPr>
        <p:spPr>
          <a:xfrm>
            <a:off x="6263640" y="3072384"/>
            <a:ext cx="5486400" cy="1261872"/>
          </a:xfrm>
          <a:prstGeom prst="rect">
            <a:avLst/>
          </a:prstGeom>
          <a:solidFill>
            <a:srgbClr val="FFFFFF"/>
          </a:solidFill>
          <a:ln w="12700">
            <a:solidFill>
              <a:srgbClr val="DAD3C2"/>
            </a:solidFill>
            <a:prstDash val="solid"/>
          </a:ln>
        </p:spPr>
      </p:sp>
      <p:sp>
        <p:nvSpPr>
          <p:cNvPr id="27" name="Shape 25"/>
          <p:cNvSpPr/>
          <p:nvPr/>
        </p:nvSpPr>
        <p:spPr>
          <a:xfrm>
            <a:off x="6263640" y="3072384"/>
            <a:ext cx="5486400" cy="676656"/>
          </a:xfrm>
          <a:prstGeom prst="rect">
            <a:avLst/>
          </a:prstGeom>
          <a:solidFill>
            <a:srgbClr val="1A2332"/>
          </a:solidFill>
          <a:ln/>
        </p:spPr>
      </p:sp>
      <p:sp>
        <p:nvSpPr>
          <p:cNvPr id="28" name="Text 26"/>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Baby Boom</a:t>
            </a:r>
            <a:endParaRPr lang="en-US" sz="1350" dirty="0"/>
          </a:p>
        </p:txBody>
      </p:sp>
      <p:sp>
        <p:nvSpPr>
          <p:cNvPr id="29" name="Text 27"/>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Baby Boom</a:t>
            </a:r>
            <a:endParaRPr lang="en-US" sz="1000" dirty="0"/>
          </a:p>
        </p:txBody>
      </p:sp>
      <p:sp>
        <p:nvSpPr>
          <p:cNvPr id="30" name="Shape 28"/>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1" name="Text 29"/>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BB</a:t>
            </a:r>
            <a:endParaRPr lang="en-US" sz="1300" dirty="0"/>
          </a:p>
        </p:txBody>
      </p:sp>
      <p:sp>
        <p:nvSpPr>
          <p:cNvPr id="32" name="Text 30"/>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dramatic increase in birth rates from 1946-1964, with 76 million babies born in the U.S., as returning World War II veterans started families in prosperous post-war America.</a:t>
            </a:r>
            <a:endParaRPr lang="en-US" sz="1100" dirty="0"/>
          </a:p>
        </p:txBody>
      </p:sp>
      <p:sp>
        <p:nvSpPr>
          <p:cNvPr id="33" name="Shape 31"/>
          <p:cNvSpPr/>
          <p:nvPr/>
        </p:nvSpPr>
        <p:spPr>
          <a:xfrm>
            <a:off x="548640" y="4498848"/>
            <a:ext cx="5486400" cy="1261872"/>
          </a:xfrm>
          <a:prstGeom prst="rect">
            <a:avLst/>
          </a:prstGeom>
          <a:solidFill>
            <a:srgbClr val="FFFFFF"/>
          </a:solidFill>
          <a:ln w="12700">
            <a:solidFill>
              <a:srgbClr val="DAD3C2"/>
            </a:solidFill>
            <a:prstDash val="solid"/>
          </a:ln>
        </p:spPr>
      </p:sp>
      <p:sp>
        <p:nvSpPr>
          <p:cNvPr id="34" name="Shape 32"/>
          <p:cNvSpPr/>
          <p:nvPr/>
        </p:nvSpPr>
        <p:spPr>
          <a:xfrm>
            <a:off x="548640" y="4498848"/>
            <a:ext cx="5486400" cy="676656"/>
          </a:xfrm>
          <a:prstGeom prst="rect">
            <a:avLst/>
          </a:prstGeom>
          <a:solidFill>
            <a:srgbClr val="1A2332"/>
          </a:solidFill>
          <a:ln/>
        </p:spPr>
      </p:sp>
      <p:sp>
        <p:nvSpPr>
          <p:cNvPr id="35" name="Text 33"/>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G.I. Bill</a:t>
            </a:r>
            <a:endParaRPr lang="en-US" sz="1350" dirty="0"/>
          </a:p>
        </p:txBody>
      </p:sp>
      <p:sp>
        <p:nvSpPr>
          <p:cNvPr id="36" name="Text 34"/>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G.I.</a:t>
            </a:r>
            <a:endParaRPr lang="en-US" sz="1000" dirty="0"/>
          </a:p>
        </p:txBody>
      </p:sp>
      <p:sp>
        <p:nvSpPr>
          <p:cNvPr id="37" name="Shape 35"/>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38" name="Text 36"/>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GB</a:t>
            </a:r>
            <a:endParaRPr lang="en-US" sz="1300" dirty="0"/>
          </a:p>
        </p:txBody>
      </p:sp>
      <p:sp>
        <p:nvSpPr>
          <p:cNvPr id="39" name="Text 37"/>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Servicemen's Readjustment Act of 1944 that provided World War II veterans with benefits including college tuition, low-interest home loans, and unemployment benefits, transforming American society.</a:t>
            </a:r>
            <a:endParaRPr lang="en-US" sz="1100" dirty="0"/>
          </a:p>
        </p:txBody>
      </p:sp>
      <p:sp>
        <p:nvSpPr>
          <p:cNvPr id="40" name="Shape 38"/>
          <p:cNvSpPr/>
          <p:nvPr/>
        </p:nvSpPr>
        <p:spPr>
          <a:xfrm>
            <a:off x="6263640" y="4498848"/>
            <a:ext cx="5486400" cy="1261872"/>
          </a:xfrm>
          <a:prstGeom prst="rect">
            <a:avLst/>
          </a:prstGeom>
          <a:solidFill>
            <a:srgbClr val="FFFFFF"/>
          </a:solidFill>
          <a:ln w="12700">
            <a:solidFill>
              <a:srgbClr val="DAD3C2"/>
            </a:solidFill>
            <a:prstDash val="solid"/>
          </a:ln>
        </p:spPr>
      </p:sp>
      <p:sp>
        <p:nvSpPr>
          <p:cNvPr id="41" name="Shape 39"/>
          <p:cNvSpPr/>
          <p:nvPr/>
        </p:nvSpPr>
        <p:spPr>
          <a:xfrm>
            <a:off x="6263640" y="4498848"/>
            <a:ext cx="5486400" cy="676656"/>
          </a:xfrm>
          <a:prstGeom prst="rect">
            <a:avLst/>
          </a:prstGeom>
          <a:solidFill>
            <a:srgbClr val="1A2332"/>
          </a:solidFill>
          <a:ln/>
        </p:spPr>
      </p:sp>
      <p:sp>
        <p:nvSpPr>
          <p:cNvPr id="42" name="Text 40"/>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Growth of Suburbia</a:t>
            </a:r>
            <a:endParaRPr lang="en-US" sz="1350" dirty="0"/>
          </a:p>
        </p:txBody>
      </p:sp>
      <p:sp>
        <p:nvSpPr>
          <p:cNvPr id="43" name="Text 41"/>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Crecimiento de los Suburbios</a:t>
            </a:r>
            <a:endParaRPr lang="en-US" sz="1000" dirty="0"/>
          </a:p>
        </p:txBody>
      </p:sp>
      <p:sp>
        <p:nvSpPr>
          <p:cNvPr id="44" name="Shape 42"/>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5" name="Text 43"/>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GO</a:t>
            </a:r>
            <a:endParaRPr lang="en-US" sz="1300" dirty="0"/>
          </a:p>
        </p:txBody>
      </p:sp>
      <p:sp>
        <p:nvSpPr>
          <p:cNvPr id="46" name="Text 44"/>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explosive expansion of residential communities outside city centers during the 1950s, enabled by highways, affordable housing, and the desire for space and safety.</a:t>
            </a:r>
            <a:endParaRPr lang="en-US" sz="1100" dirty="0"/>
          </a:p>
        </p:txBody>
      </p:sp>
      <p:sp>
        <p:nvSpPr>
          <p:cNvPr id="47" name="Text 45"/>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48" name="Text 4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9" name="Text 4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93</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US.64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Connect fear and society</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How did nuclear fear shape everyday American life in the 1950s?</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Families practiced 'duck and cover' and built fallout shelters even as they enjoyed suburbs, cars, and TV. Prosperity and dread grew side by side.</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List one sign of fear and one sign of prosperity from the section.</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Explain how both could exist at once, citing the text.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94</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US.64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700" b="1" dirty="0">
                <a:solidFill>
                  <a:srgbClr val="1A2332"/>
                </a:solidFill>
                <a:latin typeface="Georgia" pitchFamily="34" charset="0"/>
                <a:ea typeface="Georgia" pitchFamily="34" charset="-122"/>
                <a:cs typeface="Georgia" pitchFamily="34" charset="-120"/>
              </a:rPr>
              <a:t>Duck and Cover — Living With the Bomb</a:t>
            </a:r>
            <a:endParaRPr lang="en-US" sz="27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Study the Civil Defense pamphlet excerpt and the atomic-test photograph. Complete a four-part organizer: (1) the FEARS Americans felt about nuclear holocaust; (2) the DEBATES over stockpiling and using nuclear weapons; (3) the IMPACT of atomic testing; (4) how SPUTNIK deepened these fears. Add one detail per section. Finish with a one-sentence claim, backed by evidence, on how nuclear fear reshaped everyday American life in the 1950s.</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four-part organizer (fears / stockpiling debate / testing impact / Sputnik, one detail each) AND a one-sentence evidence-based claim about nuclear fear in daily life.</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Organizer with the four parts pre-labeled and a fact bank to sort. Honors: Write a paragraph using the Civil Defense pamphlet to analyze how the government tried to calm, and also to prepare, a frightened public.</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cornell-notes/unit-7/us64-nuclear-fears-civil-defense.pdf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95</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US.64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did civil defense programs reflect Cold War anxieties?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expanded the war without congressional knowledge and violated Cambodian neutrality.</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Soviet satellite launch in 1957 that shocked Americans and intensified the space race.</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"Duck and cover" drills and fallout shelters showed pervasive fear of nuclear attack.</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Teach children to protect themselves from nuclear blast, though with limited effect.</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US.64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did civil defense programs reflect Cold War anxieties?</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expanded the war without congressional knowledge and violated Cambodian neutrality.</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Soviet satellite launch in 1957 that shocked Americans and intensified the space race.</a:t>
            </a:r>
            <a:endParaRPr lang="en-US" sz="1300" dirty="0"/>
          </a:p>
        </p:txBody>
      </p:sp>
      <p:sp>
        <p:nvSpPr>
          <p:cNvPr id="17" name="Shape 15"/>
          <p:cNvSpPr/>
          <p:nvPr/>
        </p:nvSpPr>
        <p:spPr>
          <a:xfrm>
            <a:off x="548640" y="3968496"/>
            <a:ext cx="11064240" cy="566928"/>
          </a:xfrm>
          <a:prstGeom prst="roundRect">
            <a:avLst>
              <a:gd name="adj" fmla="val 9677"/>
            </a:avLst>
          </a:prstGeom>
          <a:solidFill>
            <a:srgbClr val="C9A84C"/>
          </a:solidFill>
          <a:ln w="12700">
            <a:solidFill>
              <a:srgbClr val="F9A825"/>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"Duck and cover" drills and fallout shelters showed pervasive fear of nuclear attack.</a:t>
            </a:r>
            <a:endParaRPr lang="en-US" sz="1300" dirty="0"/>
          </a:p>
        </p:txBody>
      </p:sp>
      <p:sp>
        <p:nvSpPr>
          <p:cNvPr id="21" name="Text 19"/>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Teach children to protect themselves from nuclear blast, though with limited effect.</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civil defense programs reflect Cold War anxieties because "Duck and cover" drills and fallout shelters showed pervasive fear of nuclear attack. Choice D is wrong because it describes teach children to protect themselves from nuclear blast, though with limited effect, not "Duck and cover" drills and…</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97</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US.64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American Fears of Nuclear Holocaust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Debates Over Nuclear Stockpiling</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Atomic Testing Impact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Sputnik's Significance</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Did Cold War civil-defense measures genuinely protect Americans, or mainly manage their fear? Argue with evidence. (SSP.04)</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Describe how the threat of nuclear war affected life in Cold War America. Give at least two specific examples.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98</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US.65</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U.S.-Cuba Relations</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Describe the relationship between Cuba and the U.S., including the Bay of Pigs Invasion and Cuban Missile Crisis.</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describe the relationship between Cuba and the U.S., including the Bay of Pigs Invasion and Cuban Missile Crisis.</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99</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US.65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US.64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'duck and cover,' and what did it reveal about the era?</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US.64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Why did the launch of Sputnik alarm the United States in 1957?</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100</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US.65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1962 standoff brought the U.S. and USSR closest to nuclear war?</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Cuban Missile Crisis.</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101</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US.65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For thirteen days in October 1962, the world stood closer to nuclear war than ever before or since, as American spy planes photographed Soviet missiles ninety miles from Florida and two superpowers stared each other down over the island of Cuba.</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When the fate of the world hangs on a single decision, how do leaders step back from the brink, and what did the Cuban Missile Crisis teach both sides?</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102</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Historical Background</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U.S. had dominated Cuba economically since the Spanish-American War of 1898, supporting dictator Fulgencio Batista.</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Fidel Castro's 1959 revolution initially received mixed American reaction, but his communist alignment, property nationalization, and alliance with the Soviet Union quickly soured relations and created a Cold War flashpoint 90 miles from Florida.</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Cuban Missile Crisis began when ________, and it was resolved when ________.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103</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Bay of Pigs Invasion</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CIA-planned 1961 invasion used Cuban exiles to overthrow Castro.</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operation failed disastrously when President Kennedy withdrew air support at the last moment, leaving the invasion force stranded on the beach.</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humiliating failure embarrassed the U.S. internationally and pushed Castro closer to the Soviet Union for protection.</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104</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Cuban Missile Crisis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In October 1962, Soviet missiles discovered in Cuba brought the world to the brink of nuclear war.</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For thirteen days, Kennedy and Khrushchev engaged in the most dangerous confrontation of the Cold War.</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Kennedy's naval quarantine and secret negotiations led to Soviet withdrawal in exchange for U.S. promises not to invade Cuba and quietly remove missiles from Turkey.</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7-full/img/cuban-missile-recon-san-cristobal-1962.jpg">    </p:cNvPr>
          <p:cNvPicPr>
            <a:picLocks noChangeAspect="1"/>
          </p:cNvPicPr>
          <p:nvPr/>
        </p:nvPicPr>
        <p:blipFill>
          <a:blip r:embed="rId1"/>
          <a:stretch>
            <a:fillRect/>
          </a:stretch>
        </p:blipFill>
        <p:spPr>
          <a:xfrm>
            <a:off x="7589520" y="1820692"/>
            <a:ext cx="4069080" cy="3426928"/>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U.S. Air Force / Central Intelligence Agency reconnaissance; National Archives and Records Administration, October 1962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105</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Crisis Resolution and Aftermath</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Cuban Missile Crisis demonstrated brinkmanship's dangers and led to improved U.S.-Soviet communication, including a direct "hotline" between Washington and Moscow.</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Both sides, having stared into nuclear abyss, became more cautious about direct confrontation while continuing competition through other means.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106</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US.65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sp>
      <p:sp>
        <p:nvSpPr>
          <p:cNvPr id="6" name="Shape 4"/>
          <p:cNvSpPr/>
          <p:nvPr/>
        </p:nvSpPr>
        <p:spPr>
          <a:xfrm>
            <a:off x="548640" y="1627632"/>
            <a:ext cx="5394960" cy="868680"/>
          </a:xfrm>
          <a:prstGeom prst="rect">
            <a:avLst/>
          </a:prstGeom>
          <a:solidFill>
            <a:srgbClr val="1A2332"/>
          </a:solidFill>
          <a:ln/>
        </p:spPr>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John F. Kennedy</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35th President (1961-1963)</a:t>
            </a:r>
            <a:endParaRPr lang="en-US" sz="1100" dirty="0"/>
          </a:p>
        </p:txBody>
      </p:sp>
      <p:sp>
        <p:nvSpPr>
          <p:cNvPr id="9" name="Text 7"/>
          <p:cNvSpPr/>
          <p:nvPr/>
        </p:nvSpPr>
        <p:spPr>
          <a:xfrm>
            <a:off x="69494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Faced the failed Bay of Pigs invasion of Cuba</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Confronted Soviet missiles in Cuba in October 1962</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Chose a naval quarantine over an invasion, avoiding nuclear war</a:t>
            </a:r>
            <a:endParaRPr lang="en-US" sz="1300" dirty="0"/>
          </a:p>
        </p:txBody>
      </p:sp>
      <p:sp>
        <p:nvSpPr>
          <p:cNvPr id="10" name="Shape 8"/>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JFK to show a president managing the closest brush with nuclear war.</a:t>
            </a:r>
            <a:endParaRPr lang="en-US" sz="800" dirty="0"/>
          </a:p>
        </p:txBody>
      </p:sp>
      <p:sp>
        <p:nvSpPr>
          <p:cNvPr id="12" name="Shape 10"/>
          <p:cNvSpPr/>
          <p:nvPr/>
        </p:nvSpPr>
        <p:spPr>
          <a:xfrm>
            <a:off x="6217920" y="1627632"/>
            <a:ext cx="5394960" cy="4114800"/>
          </a:xfrm>
          <a:prstGeom prst="rect">
            <a:avLst/>
          </a:prstGeom>
          <a:solidFill>
            <a:srgbClr val="FFFFFF"/>
          </a:solidFill>
          <a:ln w="12700">
            <a:solidFill>
              <a:srgbClr val="DAD3C2"/>
            </a:solidFill>
            <a:prstDash val="solid"/>
          </a:ln>
        </p:spPr>
      </p:sp>
      <p:sp>
        <p:nvSpPr>
          <p:cNvPr id="13" name="Shape 11"/>
          <p:cNvSpPr/>
          <p:nvPr/>
        </p:nvSpPr>
        <p:spPr>
          <a:xfrm>
            <a:off x="6217920" y="1627632"/>
            <a:ext cx="5394960" cy="868680"/>
          </a:xfrm>
          <a:prstGeom prst="rect">
            <a:avLst/>
          </a:prstGeom>
          <a:solidFill>
            <a:srgbClr val="1A2332"/>
          </a:solidFill>
          <a:ln/>
        </p:spPr>
      </p:sp>
      <p:sp>
        <p:nvSpPr>
          <p:cNvPr id="14" name="Text 12"/>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Nikita Khrushchev</a:t>
            </a:r>
            <a:endParaRPr lang="en-US" sz="1800" dirty="0"/>
          </a:p>
        </p:txBody>
      </p:sp>
      <p:sp>
        <p:nvSpPr>
          <p:cNvPr id="15" name="Text 13"/>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Soviet Premier (1894-1971)</a:t>
            </a:r>
            <a:endParaRPr lang="en-US" sz="1100" dirty="0"/>
          </a:p>
        </p:txBody>
      </p:sp>
      <p:sp>
        <p:nvSpPr>
          <p:cNvPr id="16" name="Text 14"/>
          <p:cNvSpPr/>
          <p:nvPr/>
        </p:nvSpPr>
        <p:spPr>
          <a:xfrm>
            <a:off x="636422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Placed nuclear missiles in Cuba in 1962</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Negotiated their removal with Kennedy to end the crisis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Agreed to a hotline to reduce future risk</a:t>
            </a:r>
            <a:endParaRPr lang="en-US" sz="1300" dirty="0"/>
          </a:p>
        </p:txBody>
      </p:sp>
      <p:sp>
        <p:nvSpPr>
          <p:cNvPr id="17" name="Shape 15"/>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sp>
      <p:sp>
        <p:nvSpPr>
          <p:cNvPr id="18" name="Text 16"/>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Pair Khrushchev with JFK so students see the crisis as two leaders stepping back from the brink.</a:t>
            </a:r>
            <a:endParaRPr lang="en-US" sz="800" dirty="0"/>
          </a:p>
        </p:txBody>
      </p:sp>
      <p:sp>
        <p:nvSpPr>
          <p:cNvPr id="19"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107</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US.65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Cuban Missile Crisis Address</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Argumentation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John F. Kennedy  ·  October 22, 1962</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300" i="1" dirty="0">
                <a:solidFill>
                  <a:srgbClr val="1F2430"/>
                </a:solidFill>
                <a:latin typeface="Georgia" pitchFamily="34" charset="0"/>
                <a:ea typeface="Georgia" pitchFamily="34" charset="-122"/>
                <a:cs typeface="Georgia" pitchFamily="34" charset="-120"/>
              </a:rPr>
              <a:t>"Within the past week, unmistakable evidence has established the fact that a series of offensive missile sites is now in preparation on that imprisoned island. The purpose of these bases can be none other than to provide a nuclear strike capability against the Western Hemisphere... It shall be the policy of this Nation to regard any nuclear missile launched from Cuba against any nation in the Western Hemisphere as an attack by the Soviet Union on the United States, requiring a full retaliatory response upon the Soviet Union."</a:t>
            </a:r>
            <a:endParaRPr lang="en-US" sz="13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2011680"/>
          </a:xfrm>
          <a:prstGeom prst="roundRect">
            <a:avLst>
              <a:gd name="adj" fmla="val 3636"/>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49961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In October 1962, American spy planes discovered Soviet nuclear missile installations being built in Cuba—just 90 miles from Florida. For 13 days, the world stood on the brink of nuclear war as President Kennedy demanded the Soviets remove the missiles. Kennedy chose a naval blockade rather than airstrikes, giving Soviet leader Khrushchev time to back down. The crisis ended when the Soviets agreed to remove the missiles in exchange for an American pledge not to invade Cuba and a secret agreement to remove American missiles from Turkey.</a:t>
            </a:r>
            <a:endParaRPr lang="en-US" sz="950" dirty="0"/>
          </a:p>
        </p:txBody>
      </p:sp>
      <p:sp>
        <p:nvSpPr>
          <p:cNvPr id="16" name="Shape 14"/>
          <p:cNvSpPr/>
          <p:nvPr/>
        </p:nvSpPr>
        <p:spPr>
          <a:xfrm>
            <a:off x="7589520" y="3931920"/>
            <a:ext cx="4023360" cy="1051560"/>
          </a:xfrm>
          <a:prstGeom prst="roundRect">
            <a:avLst>
              <a:gd name="adj" fmla="val 6957"/>
            </a:avLst>
          </a:prstGeom>
          <a:solidFill>
            <a:srgbClr val="C9A84C"/>
          </a:solidFill>
          <a:ln/>
        </p:spPr>
      </p:sp>
      <p:sp>
        <p:nvSpPr>
          <p:cNvPr id="17" name="Text 15"/>
          <p:cNvSpPr/>
          <p:nvPr/>
        </p:nvSpPr>
        <p:spPr>
          <a:xfrm>
            <a:off x="7818120" y="40507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352544"/>
            <a:ext cx="3611880" cy="5212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warning does Kennedy issue to the Soviet Union?</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John F. Kennedy</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October 22, 1962</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John F. Kennedy Presidential Library</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108</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US.65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Cuban Missile Crisis</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KYOO-bun MIS-ul KRY-sis</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Cuban Missile Crisis</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CM</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thirteen-day 1962 confrontation between the United States and the Soviet Union over Soviet nuclear missiles installed in Cuba, widely regarded as the closest the Cold War came to full-scale nuclear war.</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Brinkmanship</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BRINGK-mun-ship</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Política al Borde del Abismo</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B</a:t>
            </a:r>
            <a:endParaRPr lang="en-US" sz="15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Cold War diplomatic strategy of pushing dangerous situations to the edge of war to force the other side to back down, associated with Secretary of State John Foster Dulles in the 1950s.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Mutual Assured Destruction (MAD)</a:t>
            </a:r>
            <a:endParaRPr lang="en-US" sz="13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Destrucción Mutua Asegurada</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6" name="Text 24"/>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MA</a:t>
            </a:r>
            <a:endParaRPr lang="en-US" sz="1300" dirty="0"/>
          </a:p>
        </p:txBody>
      </p:sp>
      <p:sp>
        <p:nvSpPr>
          <p:cNvPr id="27" name="Text 25"/>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Cold War doctrine that nuclear war between the U.S. and Soviet Union would result in complete annihilation of both sides, theoretically preventing either from starting a war.</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sp>
      <p:sp>
        <p:nvSpPr>
          <p:cNvPr id="29" name="Shape 27"/>
          <p:cNvSpPr/>
          <p:nvPr/>
        </p:nvSpPr>
        <p:spPr>
          <a:xfrm>
            <a:off x="6263640" y="3072384"/>
            <a:ext cx="5486400" cy="676656"/>
          </a:xfrm>
          <a:prstGeom prst="rect">
            <a:avLst/>
          </a:prstGeom>
          <a:solidFill>
            <a:srgbClr val="1A2332"/>
          </a:solidFill>
          <a:ln/>
        </p:spPr>
      </p:sp>
      <p:sp>
        <p:nvSpPr>
          <p:cNvPr id="30" name="Text 28"/>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Containment Policy</a:t>
            </a:r>
            <a:endParaRPr lang="en-US" sz="1350" dirty="0"/>
          </a:p>
        </p:txBody>
      </p:sp>
      <p:sp>
        <p:nvSpPr>
          <p:cNvPr id="31" name="Text 29"/>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Política de Contención</a:t>
            </a:r>
            <a:endParaRPr lang="en-US" sz="1000" dirty="0"/>
          </a:p>
        </p:txBody>
      </p:sp>
      <p:sp>
        <p:nvSpPr>
          <p:cNvPr id="32" name="Shape 30"/>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3" name="Text 31"/>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CP</a:t>
            </a:r>
            <a:endParaRPr lang="en-US" sz="1300" dirty="0"/>
          </a:p>
        </p:txBody>
      </p:sp>
      <p:sp>
        <p:nvSpPr>
          <p:cNvPr id="34" name="Text 32"/>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U.S. foreign policy strategy developed by George Kennan in 1947 to prevent the spread of communism by supporting nations threatened by Soviet expansion, forming the basis of Cold War strategy.</a:t>
            </a:r>
            <a:endParaRPr lang="en-US" sz="1100" dirty="0"/>
          </a:p>
        </p:txBody>
      </p:sp>
      <p:sp>
        <p:nvSpPr>
          <p:cNvPr id="35" name="Shape 33"/>
          <p:cNvSpPr/>
          <p:nvPr/>
        </p:nvSpPr>
        <p:spPr>
          <a:xfrm>
            <a:off x="548640" y="4498848"/>
            <a:ext cx="5486400" cy="1261872"/>
          </a:xfrm>
          <a:prstGeom prst="rect">
            <a:avLst/>
          </a:prstGeom>
          <a:solidFill>
            <a:srgbClr val="FFFFFF"/>
          </a:solidFill>
          <a:ln w="12700">
            <a:solidFill>
              <a:srgbClr val="DAD3C2"/>
            </a:solidFill>
            <a:prstDash val="solid"/>
          </a:ln>
        </p:spPr>
      </p:sp>
      <p:sp>
        <p:nvSpPr>
          <p:cNvPr id="36" name="Shape 34"/>
          <p:cNvSpPr/>
          <p:nvPr/>
        </p:nvSpPr>
        <p:spPr>
          <a:xfrm>
            <a:off x="548640" y="4498848"/>
            <a:ext cx="5486400" cy="676656"/>
          </a:xfrm>
          <a:prstGeom prst="rect">
            <a:avLst/>
          </a:prstGeom>
          <a:solidFill>
            <a:srgbClr val="1A2332"/>
          </a:solidFill>
          <a:ln/>
        </p:spPr>
      </p:sp>
      <p:sp>
        <p:nvSpPr>
          <p:cNvPr id="37" name="Text 35"/>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Nuclear Fears</a:t>
            </a:r>
            <a:endParaRPr lang="en-US" sz="13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Miedos Nucleares</a:t>
            </a:r>
            <a:endParaRPr lang="en-US" sz="1000" dirty="0"/>
          </a:p>
        </p:txBody>
      </p:sp>
      <p:sp>
        <p:nvSpPr>
          <p:cNvPr id="39" name="Shape 37"/>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0" name="Text 38"/>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NF</a:t>
            </a:r>
            <a:endParaRPr lang="en-US" sz="1300" dirty="0"/>
          </a:p>
        </p:txBody>
      </p:sp>
      <p:sp>
        <p:nvSpPr>
          <p:cNvPr id="41" name="Text 39"/>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widespread anxiety in 1950s America about nuclear war with the Soviet Union, driven by atomic bomb tests, the arms race, and fear of sudden nuclear annihilation.</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sp>
      <p:sp>
        <p:nvSpPr>
          <p:cNvPr id="43" name="Shape 41"/>
          <p:cNvSpPr/>
          <p:nvPr/>
        </p:nvSpPr>
        <p:spPr>
          <a:xfrm>
            <a:off x="6263640" y="4498848"/>
            <a:ext cx="5486400" cy="676656"/>
          </a:xfrm>
          <a:prstGeom prst="rect">
            <a:avLst/>
          </a:prstGeom>
          <a:solidFill>
            <a:srgbClr val="1A2332"/>
          </a:solidFill>
          <a:ln/>
        </p:spPr>
      </p:sp>
      <p:sp>
        <p:nvSpPr>
          <p:cNvPr id="44" name="Text 42"/>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Superpower</a:t>
            </a:r>
            <a:endParaRPr lang="en-US" sz="1350" dirty="0"/>
          </a:p>
        </p:txBody>
      </p:sp>
      <p:sp>
        <p:nvSpPr>
          <p:cNvPr id="45" name="Text 43"/>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Superpotencia</a:t>
            </a:r>
            <a:endParaRPr lang="en-US" sz="1000" dirty="0"/>
          </a:p>
        </p:txBody>
      </p:sp>
      <p:sp>
        <p:nvSpPr>
          <p:cNvPr id="46" name="Shape 44"/>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7" name="Text 45"/>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S</a:t>
            </a:r>
            <a:endParaRPr lang="en-US" sz="1500" dirty="0"/>
          </a:p>
        </p:txBody>
      </p:sp>
      <p:sp>
        <p:nvSpPr>
          <p:cNvPr id="48" name="Text 46"/>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nation with overwhelming military, economic, and political power capable of projecting force globally; during the Cold War, only the United States and Soviet Union qualified as superpowers.</a:t>
            </a:r>
            <a:endParaRPr lang="en-US" sz="1100" dirty="0"/>
          </a:p>
        </p:txBody>
      </p:sp>
      <p:sp>
        <p:nvSpPr>
          <p:cNvPr id="49" name="Text 47"/>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0" name="Text 4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1" name="Text 4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109</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US.65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Build an argument</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Did Kennedy handle the Cuban Missile Crisis wisely? What does the evidence show?</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JFK chose a naval quarantine over an invasion, giving Khrushchev room to remove the missiles without war. Weigh the risk of firmness against the risk of backing down.</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Find one line showing Kennedy's firmness and one showing restraint.</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State whether his choice was wise and support it with a quote.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110</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US.65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Thirteen Days on the Brink — The U.S. and Cuba</a:t>
            </a:r>
            <a:endParaRPr lang="en-US" sz="24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Read President Kennedy's Cuban Missile Crisis Address and review the U-2 reconnaissance photograph. Build a chart tracking four moments: the HISTORICAL BACKGROUND of U.S.-Cuba relations, the BAY OF PIGS invasion, the CUBAN MISSILE CRISIS itself, and the RESOLUTION and aftermath (naval quarantine, missile removal, hotline). Write one sentence on the significance of each. Finish with a one-sentence claim on how the crisis was resolved without war, with evidence.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four-moment chart (one-sentence significance each) AND a one-sentence evidence-based claim about how nuclear war was avoided.</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Chart with the four moments pre-labeled and a word bank of details to place. Honors: Write a paragraph using Kennedy's address to argue whether the naval 'quarantine' was a wise middle path between doing nothing and launching an attack.</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cornell-notes/unit-7/us65-us-cuba-relations.pdf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111</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US.65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The Bay of Pigs invasion (April 1961) failed militarily and damaged U.S. credibility internationally. Which COMBINATION of factors MOST explains the strategic magnitude of the failure?</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Cuban exile brigade was too small and lacked sufficient military training, making failure inevitable regardless of the air support or uprising assumptions.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Soviet intelligence had warned Castro about the invasion plan months in advance, allowing Cuba to prepare a defense that U.S. planners had not anticipated.</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Kennedy cancelled the planned air strikes and the CIA's false assumption of a popular uprising proved wrong — removing both the military and political foundations of the operation simultaneously.</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UN Security Council condemned the invasion before it began, stripping the operation of international legitimacy and leading Kennedy to suspend the military operation.</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112</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US.65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The Bay of Pigs invasion (April 1961) failed militarily and damaged U.S. credibility internationally. Which COMBINATION of factors MOST explains the strategic magnitude of the failure?</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Cuban exile brigade was too small and lacked sufficient military training, making failure inevitable regardless of the air support or uprising assumptions.</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Soviet intelligence had warned Castro about the invasion plan months in advance, allowing Cuba to prepare a defense that U.S. planners had not anticipated.</a:t>
            </a:r>
            <a:endParaRPr lang="en-US" sz="1300" dirty="0"/>
          </a:p>
        </p:txBody>
      </p:sp>
      <p:sp>
        <p:nvSpPr>
          <p:cNvPr id="17" name="Shape 15"/>
          <p:cNvSpPr/>
          <p:nvPr/>
        </p:nvSpPr>
        <p:spPr>
          <a:xfrm>
            <a:off x="548640" y="3968496"/>
            <a:ext cx="11064240" cy="566928"/>
          </a:xfrm>
          <a:prstGeom prst="roundRect">
            <a:avLst>
              <a:gd name="adj" fmla="val 9677"/>
            </a:avLst>
          </a:prstGeom>
          <a:solidFill>
            <a:srgbClr val="C9A84C"/>
          </a:solidFill>
          <a:ln w="12700">
            <a:solidFill>
              <a:srgbClr val="F9A825"/>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Kennedy cancelled the planned air strikes and the CIA's false assumption of a popular uprising proved wrong — removing both the military and political foundations of the operation simultaneously.</a:t>
            </a:r>
            <a:endParaRPr lang="en-US" sz="1300" dirty="0"/>
          </a:p>
        </p:txBody>
      </p:sp>
      <p:sp>
        <p:nvSpPr>
          <p:cNvPr id="21" name="Text 19"/>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UN Security Council condemned the invasion before it began, stripping the operation of international legitimacy and leading Kennedy to suspend the military operation.</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Bay of Pigs failure had multiple compounding factors: Kennedy canceled the planned air strikes that would have neutralized Castro's air force, leaving the invasion force without air cover; the plan assumed a popular uprising that never materialized because Cubans did not rise against Castro…</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113</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US.65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Historical Background</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Bay of Pigs Invasion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Cuban Missile Crisis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Crisis Resolution and Aftermath</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Whose handling of the Cuban Missile Crisis, Kennedy's or Khrushchev's, better served the world? Defend your claim with evidence. (SSP.04)</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Analyze the Cuban Missile Crisis. What caused it, how was it resolved, and why is it considered so significant?</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114</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US.66</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Vietnam War Causes, Course, and Consequences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Describe the causes, course, and consequences of the Vietnam War, including: Geneva Accords, Gulf of Tonkin Resolution, Tet Offensive, Ho Chi Minh, Bombing of Cambodia, Napalm and Agent Orange, Vietnamization.</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A2332"/>
                </a:solidFill>
                <a:latin typeface="Calibri" pitchFamily="34" charset="0"/>
                <a:ea typeface="Calibri" pitchFamily="34" charset="-122"/>
                <a:cs typeface="Calibri" pitchFamily="34" charset="-120"/>
              </a:rPr>
              <a:t>I can describe the causes, course, and consequences of the Vietnam War, including the Geneva Accords, Gulf of Tonkin Resolution, Tet Offensive, Ho Chi Minh, bombing of Cambodia, napalm and Agent Orange, and Vietnamization.</a:t>
            </a:r>
            <a:endParaRPr lang="en-US" sz="11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115</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US.66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US.65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Cuban Missile Crisis?</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US.65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How was the Cuban Missile Crisis resolved?</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116</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US.66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Southeast Asian war became the longest, most divisive of the era?</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Vietnam War.</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117</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US.66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What began as a small commitment of advisers in a faraway jungle grew into a war that killed more than 58,000 Americans, divided the nation, and ended without the victory that had been promised, all in the name of stopping communism.</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How did the United States become trapped in the longest, most divisive war of its century, and why did the world's most powerful military fail to win it?</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118</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Geneva Accords</a:t>
            </a:r>
            <a:endParaRPr lang="en-US" sz="3000" dirty="0"/>
          </a:p>
        </p:txBody>
      </p:sp>
      <p:sp>
        <p:nvSpPr>
          <p:cNvPr id="5" name="Shape 3"/>
          <p:cNvSpPr/>
          <p:nvPr/>
        </p:nvSpPr>
        <p:spPr>
          <a:xfrm>
            <a:off x="10180015" y="502920"/>
            <a:ext cx="146304" cy="146304"/>
          </a:xfrm>
          <a:prstGeom prst="ellipse">
            <a:avLst/>
          </a:prstGeom>
          <a:solidFill>
            <a:srgbClr val="C62828"/>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1954 Geneva Accords temporarily divided Vietnam at the 17th parallel after French defeat at Dien Bien Phu.</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Elections were planned for 1956 to reunify the country.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When South Vietnam, with American support, refused elections (fearing Ho Chi Minh would win), the division became permanent, setting the stage for decades of conflict.</a:t>
            </a:r>
            <a:endParaRPr lang="en-US" sz="1700" dirty="0"/>
          </a:p>
        </p:txBody>
      </p:sp>
      <p:sp>
        <p:nvSpPr>
          <p:cNvPr id="13" name="Shape 11"/>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4" name="Text 12"/>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5" name="Text 13"/>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Vietnam War was caused by ________, escalated after ________, and resulted in ________.</a:t>
            </a:r>
            <a:endParaRPr lang="en-US" sz="115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119</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Ho Chi Minh's Role</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C62828"/>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Ho Chi Minh led Vietnamese independence movements against French colonial rule and later American intervention.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nationalist-communist ideology appealed to many Vietnamese seeking independence and unification.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To North Vietnamese, he was a liberator; to Americans, he represented communist expansion that must be contained.</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120</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Gulf of Tonkin Resolution</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C62828"/>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Following alleged attacks on U.S. destroyers in August 1964, Congress authorized President Johnson to use military force in Vietnam.</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resolution effectively gave Johnson a blank check for escalation without a formal war declaration.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Later evidence suggested the attacks were exaggerated or misrepresented.</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121</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Tet Offensive</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C62828"/>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1968 coordinated North Vietnamese attack on South Vietnamese cities during the Tet holiday militarily failed but psychologically succeeded.</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Television coverage showed the war's brutality and contradicted official claims of progress, turning American public opinion against the war and contributing to Johnson's decision not to seek reelection.</a:t>
            </a:r>
            <a:endParaRPr lang="en-US" sz="1550" dirty="0"/>
          </a:p>
        </p:txBody>
      </p:sp>
      <p:sp>
        <p:nvSpPr>
          <p:cNvPr id="13" name="Shape 11"/>
          <p:cNvSpPr/>
          <p:nvPr/>
        </p:nvSpPr>
        <p:spPr>
          <a:xfrm>
            <a:off x="7552944" y="1746504"/>
            <a:ext cx="4142232" cy="3575304"/>
          </a:xfrm>
          <a:prstGeom prst="rect">
            <a:avLst/>
          </a:prstGeom>
          <a:solidFill>
            <a:srgbClr val="FFFFFF"/>
          </a:solidFill>
          <a:ln w="12700">
            <a:solidFill>
              <a:srgbClr val="DAD3C2"/>
            </a:solidFill>
            <a:prstDash val="solid"/>
          </a:ln>
        </p:spPr>
      </p:sp>
      <p:pic>
        <p:nvPicPr>
          <p:cNvPr id="14" name="Image 0" descr="unit7-full/img/first-cavalry-airmobile-vietnam-1965.jpg">    </p:cNvPr>
          <p:cNvPicPr>
            <a:picLocks noChangeAspect="1"/>
          </p:cNvPicPr>
          <p:nvPr/>
        </p:nvPicPr>
        <p:blipFill>
          <a:blip r:embed="rId1"/>
          <a:stretch>
            <a:fillRect/>
          </a:stretch>
        </p:blipFill>
        <p:spPr>
          <a:xfrm>
            <a:off x="7589520" y="1812742"/>
            <a:ext cx="4069080" cy="3442828"/>
          </a:xfrm>
          <a:prstGeom prst="rect">
            <a:avLst/>
          </a:prstGeom>
        </p:spPr>
      </p:pic>
      <p:sp>
        <p:nvSpPr>
          <p:cNvPr id="15" name="Text 12"/>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U.S. Army / U.S. Federal Government, c. 1966–1968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122</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Chemical Weapons and Vietnamization</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C62828"/>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Napalm and Agent Orange caused immediate casualties and long-term environmental damage.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Agent Orange's health effects on veterans and Vietnamese civilians created lasting controversy.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Nixon's Vietnamization policy gradually transferred fighting responsibility to South Vietnamese forces while withdrawing American troops, aiming to end American involvement while maintaining South Vietnam.</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123</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US.66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sp>
      <p:sp>
        <p:nvSpPr>
          <p:cNvPr id="6" name="Shape 4"/>
          <p:cNvSpPr/>
          <p:nvPr/>
        </p:nvSpPr>
        <p:spPr>
          <a:xfrm>
            <a:off x="548640" y="1627632"/>
            <a:ext cx="5394960" cy="868680"/>
          </a:xfrm>
          <a:prstGeom prst="rect">
            <a:avLst/>
          </a:prstGeom>
          <a:solidFill>
            <a:srgbClr val="1A2332"/>
          </a:solidFill>
          <a:ln/>
        </p:spPr>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Lyndon B. Johnson</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36th President; escalated in Vietnam</a:t>
            </a:r>
            <a:endParaRPr lang="en-US" sz="1100" dirty="0"/>
          </a:p>
        </p:txBody>
      </p:sp>
      <p:sp>
        <p:nvSpPr>
          <p:cNvPr id="9" name="Text 7"/>
          <p:cNvSpPr/>
          <p:nvPr/>
        </p:nvSpPr>
        <p:spPr>
          <a:xfrm>
            <a:off x="69494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Used the Gulf of Tonkin Resolution to widen the war</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Sent hundreds of thousands of U.S. troops to Vietnam</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Saw the war undermine his Great Society and presidency</a:t>
            </a:r>
            <a:endParaRPr lang="en-US" sz="1300" dirty="0"/>
          </a:p>
        </p:txBody>
      </p:sp>
      <p:sp>
        <p:nvSpPr>
          <p:cNvPr id="10" name="Shape 8"/>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LBJ to show how containment logic pulled the U.S. deeper into Vietnam.</a:t>
            </a:r>
            <a:endParaRPr lang="en-US" sz="800" dirty="0"/>
          </a:p>
        </p:txBody>
      </p:sp>
      <p:sp>
        <p:nvSpPr>
          <p:cNvPr id="12" name="Shape 10"/>
          <p:cNvSpPr/>
          <p:nvPr/>
        </p:nvSpPr>
        <p:spPr>
          <a:xfrm>
            <a:off x="6217920" y="1627632"/>
            <a:ext cx="5394960" cy="4114800"/>
          </a:xfrm>
          <a:prstGeom prst="rect">
            <a:avLst/>
          </a:prstGeom>
          <a:solidFill>
            <a:srgbClr val="FFFFFF"/>
          </a:solidFill>
          <a:ln w="12700">
            <a:solidFill>
              <a:srgbClr val="DAD3C2"/>
            </a:solidFill>
            <a:prstDash val="solid"/>
          </a:ln>
        </p:spPr>
      </p:sp>
      <p:sp>
        <p:nvSpPr>
          <p:cNvPr id="13" name="Shape 11"/>
          <p:cNvSpPr/>
          <p:nvPr/>
        </p:nvSpPr>
        <p:spPr>
          <a:xfrm>
            <a:off x="6217920" y="1627632"/>
            <a:ext cx="5394960" cy="868680"/>
          </a:xfrm>
          <a:prstGeom prst="rect">
            <a:avLst/>
          </a:prstGeom>
          <a:solidFill>
            <a:srgbClr val="1A2332"/>
          </a:solidFill>
          <a:ln/>
        </p:spPr>
      </p:sp>
      <p:sp>
        <p:nvSpPr>
          <p:cNvPr id="14" name="Text 12"/>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Ho Chi Minh</a:t>
            </a:r>
            <a:endParaRPr lang="en-US" sz="1800" dirty="0"/>
          </a:p>
        </p:txBody>
      </p:sp>
      <p:sp>
        <p:nvSpPr>
          <p:cNvPr id="15" name="Text 13"/>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North Vietnamese leader (1890-1969)</a:t>
            </a:r>
            <a:endParaRPr lang="en-US" sz="1100" dirty="0"/>
          </a:p>
        </p:txBody>
      </p:sp>
      <p:sp>
        <p:nvSpPr>
          <p:cNvPr id="16" name="Text 14"/>
          <p:cNvSpPr/>
          <p:nvPr/>
        </p:nvSpPr>
        <p:spPr>
          <a:xfrm>
            <a:off x="636422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Led the communist fight for a unified Vietnam</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Framed the war as anti-colonial independence</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Outlasted U.S. escalation through persistence</a:t>
            </a:r>
            <a:endParaRPr lang="en-US" sz="1300" dirty="0"/>
          </a:p>
        </p:txBody>
      </p:sp>
      <p:sp>
        <p:nvSpPr>
          <p:cNvPr id="17" name="Shape 15"/>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sp>
      <p:sp>
        <p:nvSpPr>
          <p:cNvPr id="18" name="Text 16"/>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Ho Chi Minh to show the U.S. faced nationalism, not just communism.</a:t>
            </a:r>
            <a:endParaRPr lang="en-US" sz="800" dirty="0"/>
          </a:p>
        </p:txBody>
      </p:sp>
      <p:sp>
        <p:nvSpPr>
          <p:cNvPr id="19"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124</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US.66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Gulf of Tonkin Resolution</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Congress  ·  August 7, 1964</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300" i="1" dirty="0">
                <a:solidFill>
                  <a:srgbClr val="1F2430"/>
                </a:solidFill>
                <a:latin typeface="Georgia" pitchFamily="34" charset="0"/>
                <a:ea typeface="Georgia" pitchFamily="34" charset="-122"/>
                <a:cs typeface="Georgia" pitchFamily="34" charset="-120"/>
              </a:rPr>
              <a:t>"The Congress approves and supports the determination of the President, as Commander in Chief, to take all necessary measures to repel any armed attack against the forces of the United States and to prevent further aggression... The United States is, therefore, prepared, as the President determines, to take all necessary steps, including the use of armed force."</a:t>
            </a:r>
            <a:endParaRPr lang="en-US" sz="13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2011680"/>
          </a:xfrm>
          <a:prstGeom prst="roundRect">
            <a:avLst>
              <a:gd name="adj" fmla="val 3636"/>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49961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In August 1964, President Johnson reported that North Vietnamese torpedo boats had attacked U.S. destroyers in the Gulf of Tonkin. Congress passed the Gulf of Tonkin Resolution, giving Johnson broad authority to escalate American military involvement in Vietnam. Later investigations revealed that the second 'attack' on August 4 almost certainly never occurred, and that the resolution was used to justify a massive escalation that eventually brought over 500,000 American troops to Vietnam.</a:t>
            </a:r>
            <a:endParaRPr lang="en-US" sz="950" dirty="0"/>
          </a:p>
        </p:txBody>
      </p:sp>
      <p:sp>
        <p:nvSpPr>
          <p:cNvPr id="16" name="Shape 14"/>
          <p:cNvSpPr/>
          <p:nvPr/>
        </p:nvSpPr>
        <p:spPr>
          <a:xfrm>
            <a:off x="7589520" y="3931920"/>
            <a:ext cx="4023360" cy="1051560"/>
          </a:xfrm>
          <a:prstGeom prst="roundRect">
            <a:avLst>
              <a:gd name="adj" fmla="val 6957"/>
            </a:avLst>
          </a:prstGeom>
          <a:solidFill>
            <a:srgbClr val="C9A84C"/>
          </a:solidFill>
          <a:ln/>
        </p:spPr>
      </p:sp>
      <p:sp>
        <p:nvSpPr>
          <p:cNvPr id="17" name="Text 15"/>
          <p:cNvSpPr/>
          <p:nvPr/>
        </p:nvSpPr>
        <p:spPr>
          <a:xfrm>
            <a:off x="7818120" y="40507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352544"/>
            <a:ext cx="3611880" cy="5212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authority did the Gulf of Tonkin Resolution grant to the President?</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U.S. Congress</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August 7, 1964</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125</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US.66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Korean War</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de Corea</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KW</a:t>
            </a:r>
            <a:endParaRPr lang="en-US" sz="13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1950-1953 conflict in which communist North Korea (backed by China and the Soviet Union) invaded South Korea, prompting U.S.-led UN intervention in the first major "hot war" of the Cold War era.</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Domino Theory</a:t>
            </a:r>
            <a:endParaRPr lang="en-US" sz="1350" dirty="0"/>
          </a:p>
        </p:txBody>
      </p:sp>
      <p:sp>
        <p:nvSpPr>
          <p:cNvPr id="15" name="Text 13"/>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DOM-ih-noh THEER-ee</a:t>
            </a:r>
            <a:endParaRPr lang="en-US" sz="8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Teoría del Dominó</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8" name="Text 16"/>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DT</a:t>
            </a:r>
            <a:endParaRPr lang="en-US" sz="1300" dirty="0"/>
          </a:p>
        </p:txBody>
      </p:sp>
      <p:sp>
        <p:nvSpPr>
          <p:cNvPr id="19" name="Text 17"/>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Cold War belief that if one country fell to communism, neighboring countries would also fall like a row of dominoes, justifying U.S. intervention to prevent communist expansion anywhere in the world.</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sp>
      <p:sp>
        <p:nvSpPr>
          <p:cNvPr id="21" name="Shape 19"/>
          <p:cNvSpPr/>
          <p:nvPr/>
        </p:nvSpPr>
        <p:spPr>
          <a:xfrm>
            <a:off x="548640" y="3072384"/>
            <a:ext cx="5486400" cy="676656"/>
          </a:xfrm>
          <a:prstGeom prst="rect">
            <a:avLst/>
          </a:prstGeom>
          <a:solidFill>
            <a:srgbClr val="1A2332"/>
          </a:solidFill>
          <a:ln/>
        </p:spPr>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Containment Policy</a:t>
            </a:r>
            <a:endParaRPr lang="en-US" sz="13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Política de Contención</a:t>
            </a:r>
            <a:endParaRPr lang="en-US" sz="1000" dirty="0"/>
          </a:p>
        </p:txBody>
      </p:sp>
      <p:sp>
        <p:nvSpPr>
          <p:cNvPr id="24" name="Shape 22"/>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5" name="Text 23"/>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CP</a:t>
            </a:r>
            <a:endParaRPr lang="en-US" sz="1300" dirty="0"/>
          </a:p>
        </p:txBody>
      </p:sp>
      <p:sp>
        <p:nvSpPr>
          <p:cNvPr id="26" name="Text 24"/>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U.S. foreign policy strategy developed by George Kennan in 1947 to prevent the spread of communism by supporting nations threatened by Soviet expansion, forming the basis of Cold War strategy.</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sp>
      <p:sp>
        <p:nvSpPr>
          <p:cNvPr id="28" name="Shape 26"/>
          <p:cNvSpPr/>
          <p:nvPr/>
        </p:nvSpPr>
        <p:spPr>
          <a:xfrm>
            <a:off x="6263640" y="3072384"/>
            <a:ext cx="5486400" cy="676656"/>
          </a:xfrm>
          <a:prstGeom prst="rect">
            <a:avLst/>
          </a:prstGeom>
          <a:solidFill>
            <a:srgbClr val="1A2332"/>
          </a:solidFill>
          <a:ln/>
        </p:spPr>
      </p:sp>
      <p:sp>
        <p:nvSpPr>
          <p:cNvPr id="29" name="Text 27"/>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Proxy War</a:t>
            </a:r>
            <a:endParaRPr lang="en-US" sz="1350" dirty="0"/>
          </a:p>
        </p:txBody>
      </p:sp>
      <p:sp>
        <p:nvSpPr>
          <p:cNvPr id="30" name="Text 28"/>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por Poder</a:t>
            </a:r>
            <a:endParaRPr lang="en-US" sz="1000" dirty="0"/>
          </a:p>
        </p:txBody>
      </p:sp>
      <p:sp>
        <p:nvSpPr>
          <p:cNvPr id="31" name="Shape 29"/>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2" name="Text 30"/>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PW</a:t>
            </a:r>
            <a:endParaRPr lang="en-US" sz="1300" dirty="0"/>
          </a:p>
        </p:txBody>
      </p:sp>
      <p:sp>
        <p:nvSpPr>
          <p:cNvPr id="33" name="Text 31"/>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Conflicts where the United States and Soviet Union supported opposing sides without directly fighting each other, allowing superpower competition while avoiding nuclear war.</a:t>
            </a:r>
            <a:endParaRPr lang="en-US" sz="1100" dirty="0"/>
          </a:p>
        </p:txBody>
      </p:sp>
      <p:sp>
        <p:nvSpPr>
          <p:cNvPr id="34" name="Shape 32"/>
          <p:cNvSpPr/>
          <p:nvPr/>
        </p:nvSpPr>
        <p:spPr>
          <a:xfrm>
            <a:off x="548640" y="4498848"/>
            <a:ext cx="5486400" cy="1261872"/>
          </a:xfrm>
          <a:prstGeom prst="rect">
            <a:avLst/>
          </a:prstGeom>
          <a:solidFill>
            <a:srgbClr val="FFFFFF"/>
          </a:solidFill>
          <a:ln w="12700">
            <a:solidFill>
              <a:srgbClr val="DAD3C2"/>
            </a:solidFill>
            <a:prstDash val="solid"/>
          </a:ln>
        </p:spPr>
      </p:sp>
      <p:sp>
        <p:nvSpPr>
          <p:cNvPr id="35" name="Shape 33"/>
          <p:cNvSpPr/>
          <p:nvPr/>
        </p:nvSpPr>
        <p:spPr>
          <a:xfrm>
            <a:off x="548640" y="4498848"/>
            <a:ext cx="5486400" cy="676656"/>
          </a:xfrm>
          <a:prstGeom prst="rect">
            <a:avLst/>
          </a:prstGeom>
          <a:solidFill>
            <a:srgbClr val="1A2332"/>
          </a:solidFill>
          <a:ln/>
        </p:spPr>
      </p:sp>
      <p:sp>
        <p:nvSpPr>
          <p:cNvPr id="36" name="Text 34"/>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Communism</a:t>
            </a:r>
            <a:endParaRPr lang="en-US" sz="1350" dirty="0"/>
          </a:p>
        </p:txBody>
      </p:sp>
      <p:sp>
        <p:nvSpPr>
          <p:cNvPr id="37" name="Text 35"/>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KOM-yoo-niz-um</a:t>
            </a:r>
            <a:endParaRPr lang="en-US" sz="8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Comunismo</a:t>
            </a:r>
            <a:endParaRPr lang="en-US" sz="1000" dirty="0"/>
          </a:p>
        </p:txBody>
      </p:sp>
      <p:sp>
        <p:nvSpPr>
          <p:cNvPr id="39" name="Shape 37"/>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0" name="Text 38"/>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C</a:t>
            </a:r>
            <a:endParaRPr lang="en-US" sz="1500" dirty="0"/>
          </a:p>
        </p:txBody>
      </p:sp>
      <p:sp>
        <p:nvSpPr>
          <p:cNvPr id="41" name="Text 39"/>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political and economic system where the government owns all property and means of production, theoretically distributing resources equally, practiced in the Soviet Union and opposed by the United States during…</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sp>
      <p:sp>
        <p:nvSpPr>
          <p:cNvPr id="43" name="Shape 41"/>
          <p:cNvSpPr/>
          <p:nvPr/>
        </p:nvSpPr>
        <p:spPr>
          <a:xfrm>
            <a:off x="6263640" y="4498848"/>
            <a:ext cx="5486400" cy="676656"/>
          </a:xfrm>
          <a:prstGeom prst="rect">
            <a:avLst/>
          </a:prstGeom>
          <a:solidFill>
            <a:srgbClr val="1A2332"/>
          </a:solidFill>
          <a:ln/>
        </p:spPr>
      </p:sp>
      <p:sp>
        <p:nvSpPr>
          <p:cNvPr id="44" name="Text 42"/>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Cold War</a:t>
            </a:r>
            <a:endParaRPr lang="en-US" sz="1350" dirty="0"/>
          </a:p>
        </p:txBody>
      </p:sp>
      <p:sp>
        <p:nvSpPr>
          <p:cNvPr id="45" name="Text 43"/>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kohld wor</a:t>
            </a:r>
            <a:endParaRPr lang="en-US" sz="850" dirty="0"/>
          </a:p>
        </p:txBody>
      </p:sp>
      <p:sp>
        <p:nvSpPr>
          <p:cNvPr id="46" name="Text 44"/>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Fría</a:t>
            </a:r>
            <a:endParaRPr lang="en-US" sz="1000" dirty="0"/>
          </a:p>
        </p:txBody>
      </p:sp>
      <p:sp>
        <p:nvSpPr>
          <p:cNvPr id="47" name="Shape 45"/>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8" name="Text 46"/>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CW</a:t>
            </a:r>
            <a:endParaRPr lang="en-US" sz="1300" dirty="0"/>
          </a:p>
        </p:txBody>
      </p:sp>
      <p:sp>
        <p:nvSpPr>
          <p:cNvPr id="49" name="Text 47"/>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prolonged geopolitical, ideological, and military rivalry between the United States and the Soviet Union from 1945 to 1991, waged through alliances, proxy wars, and an arms race rather than direct combat.</a:t>
            </a:r>
            <a:endParaRPr lang="en-US" sz="1100" dirty="0"/>
          </a:p>
        </p:txBody>
      </p:sp>
      <p:sp>
        <p:nvSpPr>
          <p:cNvPr id="50" name="Text 48"/>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1" name="Text 4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2" name="Text 5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126</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US.66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Sort cause and consequence</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Why did the U.S. fight in Vietnam, and what did it cost?</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Containment and the domino theory drew the U.S. in; the Gulf of Tonkin Resolution widened the war. The cost was heavy casualties, division at home, and eventual withdrawal.</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Underline one cause and one consequence of the war.</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Explain which consequence you think mattered most, citing the text.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127</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US.66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700" b="1" dirty="0">
                <a:solidFill>
                  <a:srgbClr val="1A2332"/>
                </a:solidFill>
                <a:latin typeface="Georgia" pitchFamily="34" charset="0"/>
                <a:ea typeface="Georgia" pitchFamily="34" charset="-122"/>
                <a:cs typeface="Georgia" pitchFamily="34" charset="-120"/>
              </a:rPr>
              <a:t>How America Went to War in Vietnam</a:t>
            </a:r>
            <a:endParaRPr lang="en-US" sz="27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Read the Gulf of Tonkin Resolution and use your notes to build a five-step chart of the war's course: the GENEVA ACCORDS and a divided Vietnam, HO CHI MINH's role, the GULF OF TONKIN RESOLUTION, the TET OFFENSIVE, and CHEMICAL WEAPONS / Vietnamization. Write one sentence on each. Finish with a one-sentence claim, backed by evidence, on which step marked the biggest turning point in the war.</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250" dirty="0">
                <a:solidFill>
                  <a:srgbClr val="FFFFFF"/>
                </a:solidFill>
                <a:latin typeface="Calibri" pitchFamily="34" charset="0"/>
                <a:ea typeface="Calibri" pitchFamily="34" charset="-122"/>
                <a:cs typeface="Calibri" pitchFamily="34" charset="-120"/>
              </a:rPr>
              <a:t>Completed five-step chart (one sentence each) AND a one-sentence evidence-based claim about the war's greatest turning point.</a:t>
            </a:r>
            <a:endParaRPr lang="en-US" sz="12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Chart with the five steps pre-placed and a word bank of descriptions to match. Honors: Write a paragraph using the Gulf of Tonkin Resolution to explain how Congress handed the President broad war powers with little debate.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cornell-notes/unit-7/us66-vietnam-war-causes-course-consequences.pdf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128</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US.66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The War Powers Resolution (1973) was passed primarily in response to —</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Frustration over the Gulf of Tonkin Resolution's failure to prevent further military escalation in Southeast Asia.</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Widespread public opposition to the draft lottery system that had supplied troops throughout the Vietnam War.</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Nixon's secret and unauthorized bombing of Cambodia revealed in the Pentagon Papers and news reports.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Congress's desire to limit presidential authority to commit U.S. forces to combat without congressional approval.</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129</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US.66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The War Powers Resolution (1973) was passed primarily in response to —</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Frustration over the Gulf of Tonkin Resolution's failure to prevent further military escalation in Southeast Asia.</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Widespread public opposition to the draft lottery system that had supplied troops throughout the Vietnam War.</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Nixon's secret and unauthorized bombing of Cambodia revealed in the Pentagon Papers and news reports.</a:t>
            </a:r>
            <a:endParaRPr lang="en-US" sz="1300" dirty="0"/>
          </a:p>
        </p:txBody>
      </p:sp>
      <p:sp>
        <p:nvSpPr>
          <p:cNvPr id="21" name="Shape 19"/>
          <p:cNvSpPr/>
          <p:nvPr/>
        </p:nvSpPr>
        <p:spPr>
          <a:xfrm>
            <a:off x="548640" y="4626864"/>
            <a:ext cx="11064240" cy="566928"/>
          </a:xfrm>
          <a:prstGeom prst="roundRect">
            <a:avLst>
              <a:gd name="adj" fmla="val 9677"/>
            </a:avLst>
          </a:prstGeom>
          <a:solidFill>
            <a:srgbClr val="C9A84C"/>
          </a:solidFill>
          <a:ln w="12700">
            <a:solidFill>
              <a:srgbClr val="F9A825"/>
            </a:solidFill>
            <a:prstDash val="solid"/>
          </a:ln>
        </p:spPr>
      </p:sp>
      <p:sp>
        <p:nvSpPr>
          <p:cNvPr id="22" name="Shape 20"/>
          <p:cNvSpPr/>
          <p:nvPr/>
        </p:nvSpPr>
        <p:spPr>
          <a:xfrm>
            <a:off x="713232" y="4736592"/>
            <a:ext cx="347472" cy="347472"/>
          </a:xfrm>
          <a:prstGeom prst="ellipse">
            <a:avLst/>
          </a:prstGeom>
          <a:solidFill>
            <a:srgbClr val="1A2332"/>
          </a:solidFill>
          <a:ln/>
        </p:spPr>
      </p:sp>
      <p:sp>
        <p:nvSpPr>
          <p:cNvPr id="23" name="Text 21"/>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D</a:t>
            </a:r>
            <a:endParaRPr lang="en-US" sz="1300" dirty="0"/>
          </a:p>
        </p:txBody>
      </p:sp>
      <p:sp>
        <p:nvSpPr>
          <p:cNvPr id="24" name="Text 22"/>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Congress's desire to limit presidential authority to commit U.S. forces to combat without congressional approval.</a:t>
            </a:r>
            <a:endParaRPr lang="en-US" sz="1300" dirty="0"/>
          </a:p>
        </p:txBody>
      </p:sp>
      <p:sp>
        <p:nvSpPr>
          <p:cNvPr id="25" name="Text 23"/>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Congress's desire to limit presidential authority to commit U.S. forces to combat without congressional approval. Choice A is wrong because it describes failure of the Gulf of Tonkin Resolution to prevent escalation, not congress's desire to limit presidential authority to commit U.S. forces to…</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130</a:t>
            </a:r>
            <a:endParaRPr lang="en-US" sz="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US.66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Geneva Accords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Ho Chi Minh's Role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Gulf of Tonkin Resolution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Tet Offensive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Chemical Weapons and Vietnamization</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Was the Vietnam War a justified application of containment or a costly mistake? Argue with at least two pieces of evidence. (SSP.04)</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the causes, course, and consequences of the Vietnam War. Give at least one example from each.</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131</a:t>
            </a:r>
            <a:endParaRPr lang="en-US" sz="9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US.67</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Presidential Vietnam Policies</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Compare the policies and practices of Presidents John F. Kennedy, Lyndon Johnson, and Richard Nixon and their impacts on the continuation of the Vietnam War.</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compare the policies and practices of Presidents Kennedy, Johnson, and Nixon and their impacts on the continuation of the Vietnam War.</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132</a:t>
            </a:r>
            <a:endParaRPr lang="en-US" sz="9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US.67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US.66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Gulf of Tonkin Resolution?</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US.66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Why was the Tet Offensive (1968) a turning point?</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133</a:t>
            </a:r>
            <a:endParaRPr lang="en-US" sz="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US.67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Name one of the three presidents who directed the Vietnam War.</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Kennedy, Johnson, or Nixon.</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134</a:t>
            </a:r>
            <a:endParaRPr lang="en-US" sz="9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US.67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Three presidents, Kennedy, Johnson, and Nixon, each inherited the Vietnam War and each tried a different strategy, from 'flexible response' to massive escalation to 'Vietnamization,' yet each in turn was defeated by the same stubborn conflict.</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Why did three very different presidents, using three very different strategies, all fail to end the Vietnam War on American terms?</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135</a:t>
            </a:r>
            <a:endParaRPr lang="en-US" sz="9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Kennedy's "Flexible Response"</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President Kennedy increased military advisors from 700 to 16,000 and supported the South Vietnamese government through counterinsurgency efforts.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"flexible response" doctrine emphasized varied military options rather than relying solely on nuclear deterrence.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Kennedy avoided large-scale combat deployment, though his increases set the stage for later escalation.</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President ________ approached Vietnam by ________, while President ________ instead ________.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136</a:t>
            </a:r>
            <a:endParaRPr lang="en-US" sz="9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Johnson's Escalation</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President Johnson used the Gulf of Tonkin Resolution to deploy combat troops, eventually reaching 543,000 by 1969.</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pursued military victory through overwhelming force, including extensive bombing campaigns against North Vietnam.</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Despite massive commitment, military victory proved elusive, and Johnson chose not to seek reelection amid growing opposition.</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137</a:t>
            </a:r>
            <a:endParaRPr lang="en-US" sz="9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Nixon's Vietnamization</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President Nixon gradually withdrew American forces while increasing bombing of Cambodia and Laos and transferring combat responsibility to South Vietnamese forces.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negotiated the Paris Peace Accords (1973), allowing American withdrawal with "peace with honor." However, South Vietnam fell to communist forces in 1975, two years after American withdrawal.</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138</a:t>
            </a:r>
            <a:endParaRPr lang="en-US" sz="9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Effectiveness Analysis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All three presidents failed to achieve lasting South Vietnamese independence.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Each escalated American involvement despite growing domestic opposition and limited military success.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war demonstrated the limits of American military power against determined guerrilla opposition and the political costs of prolonged, inconclusive warfare.</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139</a:t>
            </a:r>
            <a:endParaRPr lang="en-US" sz="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US.67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3505200" cy="4114800"/>
          </a:xfrm>
          <a:prstGeom prst="rect">
            <a:avLst/>
          </a:prstGeom>
          <a:solidFill>
            <a:srgbClr val="FFFFFF"/>
          </a:solidFill>
          <a:ln w="12700">
            <a:solidFill>
              <a:srgbClr val="DAD3C2"/>
            </a:solidFill>
            <a:prstDash val="solid"/>
          </a:ln>
        </p:spPr>
      </p:sp>
      <p:sp>
        <p:nvSpPr>
          <p:cNvPr id="6" name="Shape 4"/>
          <p:cNvSpPr/>
          <p:nvPr/>
        </p:nvSpPr>
        <p:spPr>
          <a:xfrm>
            <a:off x="548640" y="1627632"/>
            <a:ext cx="3505200" cy="868680"/>
          </a:xfrm>
          <a:prstGeom prst="rect">
            <a:avLst/>
          </a:prstGeom>
          <a:solidFill>
            <a:srgbClr val="1A2332"/>
          </a:solidFill>
          <a:ln/>
        </p:spPr>
      </p:sp>
      <p:sp>
        <p:nvSpPr>
          <p:cNvPr id="7" name="Text 5"/>
          <p:cNvSpPr/>
          <p:nvPr/>
        </p:nvSpPr>
        <p:spPr>
          <a:xfrm>
            <a:off x="667512" y="1627632"/>
            <a:ext cx="3267456" cy="63093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John F. Kennedy</a:t>
            </a:r>
            <a:endParaRPr lang="en-US" sz="1600" dirty="0"/>
          </a:p>
        </p:txBody>
      </p:sp>
      <p:sp>
        <p:nvSpPr>
          <p:cNvPr id="8" name="Text 6"/>
          <p:cNvSpPr/>
          <p:nvPr/>
        </p:nvSpPr>
        <p:spPr>
          <a:xfrm>
            <a:off x="667512" y="2221992"/>
            <a:ext cx="326745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35th President; sent advisers</a:t>
            </a:r>
            <a:endParaRPr lang="en-US" sz="1100" dirty="0"/>
          </a:p>
        </p:txBody>
      </p:sp>
      <p:sp>
        <p:nvSpPr>
          <p:cNvPr id="9" name="Text 7"/>
          <p:cNvSpPr/>
          <p:nvPr/>
        </p:nvSpPr>
        <p:spPr>
          <a:xfrm>
            <a:off x="694944" y="2606040"/>
            <a:ext cx="321259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Expanded the number of U.S. military advisers in Vietnam</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Framed Vietnam as a Cold War test of containment</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Left the deepening commitment to Johnson after 1963</a:t>
            </a:r>
            <a:endParaRPr lang="en-US" sz="1200" dirty="0"/>
          </a:p>
        </p:txBody>
      </p:sp>
      <p:sp>
        <p:nvSpPr>
          <p:cNvPr id="10" name="Shape 8"/>
          <p:cNvSpPr/>
          <p:nvPr/>
        </p:nvSpPr>
        <p:spPr>
          <a:xfrm>
            <a:off x="667512" y="5148072"/>
            <a:ext cx="326745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312115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Begin the presidential arc with JFK's limited but growing involvement.</a:t>
            </a:r>
            <a:endParaRPr lang="en-US" sz="800" dirty="0"/>
          </a:p>
        </p:txBody>
      </p:sp>
      <p:sp>
        <p:nvSpPr>
          <p:cNvPr id="12" name="Shape 10"/>
          <p:cNvSpPr/>
          <p:nvPr/>
        </p:nvSpPr>
        <p:spPr>
          <a:xfrm>
            <a:off x="4328160" y="1627632"/>
            <a:ext cx="3505200" cy="4114800"/>
          </a:xfrm>
          <a:prstGeom prst="rect">
            <a:avLst/>
          </a:prstGeom>
          <a:solidFill>
            <a:srgbClr val="FFFFFF"/>
          </a:solidFill>
          <a:ln w="12700">
            <a:solidFill>
              <a:srgbClr val="DAD3C2"/>
            </a:solidFill>
            <a:prstDash val="solid"/>
          </a:ln>
        </p:spPr>
      </p:sp>
      <p:sp>
        <p:nvSpPr>
          <p:cNvPr id="13" name="Shape 11"/>
          <p:cNvSpPr/>
          <p:nvPr/>
        </p:nvSpPr>
        <p:spPr>
          <a:xfrm>
            <a:off x="4328160" y="1627632"/>
            <a:ext cx="3505200" cy="868680"/>
          </a:xfrm>
          <a:prstGeom prst="rect">
            <a:avLst/>
          </a:prstGeom>
          <a:solidFill>
            <a:srgbClr val="1A2332"/>
          </a:solidFill>
          <a:ln/>
        </p:spPr>
      </p:sp>
      <p:sp>
        <p:nvSpPr>
          <p:cNvPr id="14" name="Text 12"/>
          <p:cNvSpPr/>
          <p:nvPr/>
        </p:nvSpPr>
        <p:spPr>
          <a:xfrm>
            <a:off x="4447032" y="1627632"/>
            <a:ext cx="3267456" cy="63093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Lyndon B. Johnson</a:t>
            </a:r>
            <a:endParaRPr lang="en-US" sz="1600" dirty="0"/>
          </a:p>
        </p:txBody>
      </p:sp>
      <p:sp>
        <p:nvSpPr>
          <p:cNvPr id="15" name="Text 13"/>
          <p:cNvSpPr/>
          <p:nvPr/>
        </p:nvSpPr>
        <p:spPr>
          <a:xfrm>
            <a:off x="4447032" y="2221992"/>
            <a:ext cx="326745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36th President; Americanized the war</a:t>
            </a:r>
            <a:endParaRPr lang="en-US" sz="1100" dirty="0"/>
          </a:p>
        </p:txBody>
      </p:sp>
      <p:sp>
        <p:nvSpPr>
          <p:cNvPr id="16" name="Text 14"/>
          <p:cNvSpPr/>
          <p:nvPr/>
        </p:nvSpPr>
        <p:spPr>
          <a:xfrm>
            <a:off x="4474464" y="2606040"/>
            <a:ext cx="321259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Escalated to a large ground and air war after 1965</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Justified it in the Johns Hopkins 'peace without conquest' address</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Chose not to seek reelection as the war divided the country</a:t>
            </a:r>
            <a:endParaRPr lang="en-US" sz="1200" dirty="0"/>
          </a:p>
        </p:txBody>
      </p:sp>
      <p:sp>
        <p:nvSpPr>
          <p:cNvPr id="17" name="Shape 15"/>
          <p:cNvSpPr/>
          <p:nvPr/>
        </p:nvSpPr>
        <p:spPr>
          <a:xfrm>
            <a:off x="4447032" y="5148072"/>
            <a:ext cx="3267456" cy="512064"/>
          </a:xfrm>
          <a:prstGeom prst="roundRect">
            <a:avLst>
              <a:gd name="adj" fmla="val 10714"/>
            </a:avLst>
          </a:prstGeom>
          <a:solidFill>
            <a:srgbClr val="FBEFD0"/>
          </a:solidFill>
          <a:ln w="15875">
            <a:solidFill>
              <a:srgbClr val="C9A84C"/>
            </a:solidFill>
            <a:prstDash val="solid"/>
          </a:ln>
        </p:spPr>
      </p:sp>
      <p:sp>
        <p:nvSpPr>
          <p:cNvPr id="18" name="Text 16"/>
          <p:cNvSpPr/>
          <p:nvPr/>
        </p:nvSpPr>
        <p:spPr>
          <a:xfrm>
            <a:off x="4529328" y="5175504"/>
            <a:ext cx="312115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Contrast LBJ's escalation with JFK's caution and Nixon's withdrawal.</a:t>
            </a:r>
            <a:endParaRPr lang="en-US" sz="800" dirty="0"/>
          </a:p>
        </p:txBody>
      </p:sp>
      <p:sp>
        <p:nvSpPr>
          <p:cNvPr id="19" name="Shape 17"/>
          <p:cNvSpPr/>
          <p:nvPr/>
        </p:nvSpPr>
        <p:spPr>
          <a:xfrm>
            <a:off x="8107680" y="1627632"/>
            <a:ext cx="3505200" cy="4114800"/>
          </a:xfrm>
          <a:prstGeom prst="rect">
            <a:avLst/>
          </a:prstGeom>
          <a:solidFill>
            <a:srgbClr val="FFFFFF"/>
          </a:solidFill>
          <a:ln w="12700">
            <a:solidFill>
              <a:srgbClr val="DAD3C2"/>
            </a:solidFill>
            <a:prstDash val="solid"/>
          </a:ln>
        </p:spPr>
      </p:sp>
      <p:sp>
        <p:nvSpPr>
          <p:cNvPr id="20" name="Shape 18"/>
          <p:cNvSpPr/>
          <p:nvPr/>
        </p:nvSpPr>
        <p:spPr>
          <a:xfrm>
            <a:off x="8107680" y="1627632"/>
            <a:ext cx="3505200" cy="868680"/>
          </a:xfrm>
          <a:prstGeom prst="rect">
            <a:avLst/>
          </a:prstGeom>
          <a:solidFill>
            <a:srgbClr val="1A2332"/>
          </a:solidFill>
          <a:ln/>
        </p:spPr>
      </p:sp>
      <p:sp>
        <p:nvSpPr>
          <p:cNvPr id="21" name="Text 19"/>
          <p:cNvSpPr/>
          <p:nvPr/>
        </p:nvSpPr>
        <p:spPr>
          <a:xfrm>
            <a:off x="8226552" y="1627632"/>
            <a:ext cx="3267456" cy="63093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Richard Nixon</a:t>
            </a:r>
            <a:endParaRPr lang="en-US" sz="1600" dirty="0"/>
          </a:p>
        </p:txBody>
      </p:sp>
      <p:sp>
        <p:nvSpPr>
          <p:cNvPr id="22" name="Text 20"/>
          <p:cNvSpPr/>
          <p:nvPr/>
        </p:nvSpPr>
        <p:spPr>
          <a:xfrm>
            <a:off x="8226552" y="2221992"/>
            <a:ext cx="326745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37th President; Vietnamization</a:t>
            </a:r>
            <a:endParaRPr lang="en-US" sz="1100" dirty="0"/>
          </a:p>
        </p:txBody>
      </p:sp>
      <p:sp>
        <p:nvSpPr>
          <p:cNvPr id="23" name="Text 21"/>
          <p:cNvSpPr/>
          <p:nvPr/>
        </p:nvSpPr>
        <p:spPr>
          <a:xfrm>
            <a:off x="8253984" y="2606040"/>
            <a:ext cx="321259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Pursued 'Vietnamization' to shift fighting to South Vietnam</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Appealed to the 'silent majority' for patience</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Signed the 1973 ceasefire ending U.S. combat</a:t>
            </a:r>
            <a:endParaRPr lang="en-US" sz="1200" dirty="0"/>
          </a:p>
        </p:txBody>
      </p:sp>
      <p:sp>
        <p:nvSpPr>
          <p:cNvPr id="24" name="Shape 22"/>
          <p:cNvSpPr/>
          <p:nvPr/>
        </p:nvSpPr>
        <p:spPr>
          <a:xfrm>
            <a:off x="8226552" y="5148072"/>
            <a:ext cx="3267456" cy="512064"/>
          </a:xfrm>
          <a:prstGeom prst="roundRect">
            <a:avLst>
              <a:gd name="adj" fmla="val 10714"/>
            </a:avLst>
          </a:prstGeom>
          <a:solidFill>
            <a:srgbClr val="FBEFD0"/>
          </a:solidFill>
          <a:ln w="15875">
            <a:solidFill>
              <a:srgbClr val="C9A84C"/>
            </a:solidFill>
            <a:prstDash val="solid"/>
          </a:ln>
        </p:spPr>
      </p:sp>
      <p:sp>
        <p:nvSpPr>
          <p:cNvPr id="25" name="Text 23"/>
          <p:cNvSpPr/>
          <p:nvPr/>
        </p:nvSpPr>
        <p:spPr>
          <a:xfrm>
            <a:off x="8308848" y="5175504"/>
            <a:ext cx="312115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Close the arc with Nixon turning the war back over to the Vietnamese.</a:t>
            </a:r>
            <a:endParaRPr lang="en-US" sz="800" dirty="0"/>
          </a:p>
        </p:txBody>
      </p:sp>
      <p:sp>
        <p:nvSpPr>
          <p:cNvPr id="26" name="Text 2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7" name="Text 2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140</a:t>
            </a:r>
            <a:endParaRPr lang="en-US" sz="9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US.67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Nixon's "Silent Majority" Speech</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Richard Nixon  ·  November 3, 1969</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"We have adopted a plan which we have worked out in cooperation with the South Vietnamese for the complete withdrawal of all U.S. combat ground forces... As South Vietnamese forces become stronger, the rate of American withdrawal can become greater... I call it the Nixon Doctrine."</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Nixon's November 1969 'Silent Majority' speech came at a moment of intense anti-war protest—the Vietnam Moratorium of October 1969 had drawn millions of protesters nationwide. Nixon needed to buy time for his plan to gradually withdraw American troops while turning the fighting over to South Vietnamese forces (a strategy he called 'Vietnamization'). His speech was directed at Americans who supported the war but weren't marching in the streets.</a:t>
            </a:r>
            <a:endParaRPr lang="en-US" sz="9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How did Nixon's Vietnam policy differ from Johnson's?</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Richard Nixon</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November 3, 1969</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Richard Nixon Presidential Library</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141</a:t>
            </a:r>
            <a:endParaRPr lang="en-US" sz="9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US.67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Domino Theory</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DOM-ih-noh THEER-ee</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Teoría del Dominó</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DT</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Cold War belief that if one country fell to communism, neighboring countries would also fall like a row of dominoes, justifying U.S. intervention to prevent communist expansion anywhere in the world.</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Containment Policy</a:t>
            </a:r>
            <a:endParaRPr lang="en-US" sz="13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Política de Contención</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8" name="Text 16"/>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CP</a:t>
            </a:r>
            <a:endParaRPr lang="en-US" sz="1300" dirty="0"/>
          </a:p>
        </p:txBody>
      </p:sp>
      <p:sp>
        <p:nvSpPr>
          <p:cNvPr id="19" name="Text 17"/>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U.S. foreign policy strategy developed by George Kennan in 1947 to prevent the spread of communism by supporting nations threatened by Soviet expansion, forming the basis of Cold War strategy.</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sp>
      <p:sp>
        <p:nvSpPr>
          <p:cNvPr id="21" name="Shape 19"/>
          <p:cNvSpPr/>
          <p:nvPr/>
        </p:nvSpPr>
        <p:spPr>
          <a:xfrm>
            <a:off x="548640" y="3072384"/>
            <a:ext cx="5486400" cy="676656"/>
          </a:xfrm>
          <a:prstGeom prst="rect">
            <a:avLst/>
          </a:prstGeom>
          <a:solidFill>
            <a:srgbClr val="1A2332"/>
          </a:solidFill>
          <a:ln/>
        </p:spPr>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Cold War</a:t>
            </a:r>
            <a:endParaRPr lang="en-US" sz="1350" dirty="0"/>
          </a:p>
        </p:txBody>
      </p:sp>
      <p:sp>
        <p:nvSpPr>
          <p:cNvPr id="23" name="Text 21"/>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kohld wor</a:t>
            </a:r>
            <a:endParaRPr lang="en-US" sz="8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Fría</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6" name="Text 24"/>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CW</a:t>
            </a:r>
            <a:endParaRPr lang="en-US" sz="1300" dirty="0"/>
          </a:p>
        </p:txBody>
      </p:sp>
      <p:sp>
        <p:nvSpPr>
          <p:cNvPr id="27" name="Text 25"/>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prolonged geopolitical, ideological, and military rivalry between the United States and the Soviet Union from 1945 to 1991, waged through alliances, proxy wars, and an arms race rather than direct combat.</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sp>
      <p:sp>
        <p:nvSpPr>
          <p:cNvPr id="29" name="Shape 27"/>
          <p:cNvSpPr/>
          <p:nvPr/>
        </p:nvSpPr>
        <p:spPr>
          <a:xfrm>
            <a:off x="6263640" y="3072384"/>
            <a:ext cx="5486400" cy="676656"/>
          </a:xfrm>
          <a:prstGeom prst="rect">
            <a:avLst/>
          </a:prstGeom>
          <a:solidFill>
            <a:srgbClr val="1A2332"/>
          </a:solidFill>
          <a:ln/>
        </p:spPr>
      </p:sp>
      <p:sp>
        <p:nvSpPr>
          <p:cNvPr id="30" name="Text 28"/>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Communism</a:t>
            </a:r>
            <a:endParaRPr lang="en-US" sz="1350" dirty="0"/>
          </a:p>
        </p:txBody>
      </p:sp>
      <p:sp>
        <p:nvSpPr>
          <p:cNvPr id="31" name="Text 29"/>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KOM-yoo-niz-um</a:t>
            </a:r>
            <a:endParaRPr lang="en-US" sz="850" dirty="0"/>
          </a:p>
        </p:txBody>
      </p:sp>
      <p:sp>
        <p:nvSpPr>
          <p:cNvPr id="32" name="Text 30"/>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Comunismo</a:t>
            </a:r>
            <a:endParaRPr lang="en-US" sz="1000" dirty="0"/>
          </a:p>
        </p:txBody>
      </p:sp>
      <p:sp>
        <p:nvSpPr>
          <p:cNvPr id="33" name="Shape 31"/>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4" name="Text 32"/>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C</a:t>
            </a:r>
            <a:endParaRPr lang="en-US" sz="1500" dirty="0"/>
          </a:p>
        </p:txBody>
      </p:sp>
      <p:sp>
        <p:nvSpPr>
          <p:cNvPr id="35" name="Text 33"/>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political and economic system where the government owns all property and means of production, theoretically distributing resources equally, practiced in the Soviet Union and opposed by the United States during…</a:t>
            </a:r>
            <a:endParaRPr lang="en-US" sz="1100" dirty="0"/>
          </a:p>
        </p:txBody>
      </p:sp>
      <p:sp>
        <p:nvSpPr>
          <p:cNvPr id="36" name="Shape 34"/>
          <p:cNvSpPr/>
          <p:nvPr/>
        </p:nvSpPr>
        <p:spPr>
          <a:xfrm>
            <a:off x="548640" y="4498848"/>
            <a:ext cx="5486400" cy="1261872"/>
          </a:xfrm>
          <a:prstGeom prst="rect">
            <a:avLst/>
          </a:prstGeom>
          <a:solidFill>
            <a:srgbClr val="FFFFFF"/>
          </a:solidFill>
          <a:ln w="12700">
            <a:solidFill>
              <a:srgbClr val="DAD3C2"/>
            </a:solidFill>
            <a:prstDash val="solid"/>
          </a:ln>
        </p:spPr>
      </p:sp>
      <p:sp>
        <p:nvSpPr>
          <p:cNvPr id="37" name="Shape 35"/>
          <p:cNvSpPr/>
          <p:nvPr/>
        </p:nvSpPr>
        <p:spPr>
          <a:xfrm>
            <a:off x="548640" y="4498848"/>
            <a:ext cx="5486400" cy="676656"/>
          </a:xfrm>
          <a:prstGeom prst="rect">
            <a:avLst/>
          </a:prstGeom>
          <a:solidFill>
            <a:srgbClr val="1A2332"/>
          </a:solidFill>
          <a:ln/>
        </p:spPr>
      </p:sp>
      <p:sp>
        <p:nvSpPr>
          <p:cNvPr id="38" name="Text 36"/>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Proxy War</a:t>
            </a:r>
            <a:endParaRPr lang="en-US" sz="1350" dirty="0"/>
          </a:p>
        </p:txBody>
      </p:sp>
      <p:sp>
        <p:nvSpPr>
          <p:cNvPr id="39" name="Text 37"/>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por Poder</a:t>
            </a:r>
            <a:endParaRPr lang="en-US" sz="1000" dirty="0"/>
          </a:p>
        </p:txBody>
      </p:sp>
      <p:sp>
        <p:nvSpPr>
          <p:cNvPr id="40" name="Shape 38"/>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1" name="Text 39"/>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PW</a:t>
            </a:r>
            <a:endParaRPr lang="en-US" sz="1300" dirty="0"/>
          </a:p>
        </p:txBody>
      </p:sp>
      <p:sp>
        <p:nvSpPr>
          <p:cNvPr id="42" name="Text 40"/>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Conflicts where the United States and Soviet Union supported opposing sides without directly fighting each other, allowing superpower competition while avoiding nuclear war.</a:t>
            </a:r>
            <a:endParaRPr lang="en-US" sz="1100" dirty="0"/>
          </a:p>
        </p:txBody>
      </p:sp>
      <p:sp>
        <p:nvSpPr>
          <p:cNvPr id="43" name="Shape 41"/>
          <p:cNvSpPr/>
          <p:nvPr/>
        </p:nvSpPr>
        <p:spPr>
          <a:xfrm>
            <a:off x="6263640" y="4498848"/>
            <a:ext cx="5486400" cy="1261872"/>
          </a:xfrm>
          <a:prstGeom prst="rect">
            <a:avLst/>
          </a:prstGeom>
          <a:solidFill>
            <a:srgbClr val="FFFFFF"/>
          </a:solidFill>
          <a:ln w="12700">
            <a:solidFill>
              <a:srgbClr val="DAD3C2"/>
            </a:solidFill>
            <a:prstDash val="solid"/>
          </a:ln>
        </p:spPr>
      </p:sp>
      <p:sp>
        <p:nvSpPr>
          <p:cNvPr id="44" name="Shape 42"/>
          <p:cNvSpPr/>
          <p:nvPr/>
        </p:nvSpPr>
        <p:spPr>
          <a:xfrm>
            <a:off x="6263640" y="4498848"/>
            <a:ext cx="5486400" cy="676656"/>
          </a:xfrm>
          <a:prstGeom prst="rect">
            <a:avLst/>
          </a:prstGeom>
          <a:solidFill>
            <a:srgbClr val="1A2332"/>
          </a:solidFill>
          <a:ln/>
        </p:spPr>
      </p:sp>
      <p:sp>
        <p:nvSpPr>
          <p:cNvPr id="45" name="Text 43"/>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Superpower</a:t>
            </a:r>
            <a:endParaRPr lang="en-US" sz="1350" dirty="0"/>
          </a:p>
        </p:txBody>
      </p:sp>
      <p:sp>
        <p:nvSpPr>
          <p:cNvPr id="46" name="Text 44"/>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Superpotencia</a:t>
            </a:r>
            <a:endParaRPr lang="en-US" sz="1000" dirty="0"/>
          </a:p>
        </p:txBody>
      </p:sp>
      <p:sp>
        <p:nvSpPr>
          <p:cNvPr id="47" name="Shape 45"/>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8" name="Text 46"/>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S</a:t>
            </a:r>
            <a:endParaRPr lang="en-US" sz="1500" dirty="0"/>
          </a:p>
        </p:txBody>
      </p:sp>
      <p:sp>
        <p:nvSpPr>
          <p:cNvPr id="49" name="Text 47"/>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nation with overwhelming military, economic, and political power capable of projecting force globally; during the Cold War, only the United States and Soviet Union qualified as superpowers.</a:t>
            </a:r>
            <a:endParaRPr lang="en-US" sz="1100" dirty="0"/>
          </a:p>
        </p:txBody>
      </p:sp>
      <p:sp>
        <p:nvSpPr>
          <p:cNvPr id="50" name="Text 48"/>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1" name="Text 4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2" name="Text 5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142</a:t>
            </a:r>
            <a:endParaRPr lang="en-US" sz="9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US.67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Compare leaders' choices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How did Kennedy, Johnson, and Nixon each handle Vietnam differently?</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JFK sent advisers, LBJ Americanized the war with huge troop numbers, and Nixon pursued Vietnamization and withdrawal. Same war, three different strategies.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Assign each president a one-word policy (advisers / escalate / withdraw).</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Argue which president's Vietnam policy was most defensible, with evidence.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143</a:t>
            </a:r>
            <a:endParaRPr lang="en-US" sz="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US.67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Three Presidents, One War — Kennedy, Johnson, Nixon</a:t>
            </a:r>
            <a:endParaRPr lang="en-US" sz="24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Read Nixon's 'Silent Majority' speech and use your notes to build a three-column chart: KENNEDY (flexible response, advisers), JOHNSON (escalation, ground troops), and NIXON (Vietnamization, gradual withdrawal). For each president, record his main Vietnam policy and one effect it had on the war's continuation. Finish with a one-sentence claim on which president's policy most changed the course of the war, supported by evidence.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three-president chart (policy + one effect each) AND a one-sentence evidence-based claim about the most consequential policy.</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Chart with the three presidents pre-labeled and a bank of policies and effects to match. Honors: Write a paragraph using the 'Silent Majority' speech to explain how Nixon tried to rebuild public support for a war Americans were tired of fighting.</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cornell-notes/unit-7/us67-presidential-vietnam-policies.pdf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144</a:t>
            </a:r>
            <a:endParaRPr lang="en-US" sz="9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US.67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did Nixon's policy of Vietnamization differ from Johnson's approach to the Vietnam War?</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Nixon sought to gradually withdraw U.S. combat troops by transferring military responsibility to South Vietnamese forces, while Johnson had steadily increased American troop levels.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Nixon expanded the ground war into North Vietnam while Johnson had kept fighting limited to South Vietnam.</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Nixon negotiated a complete North Vietnamese surrender while Johnson had pursued only a stalemate.</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Nixon ended all bombing campaigns in Vietnam while Johnson had relied entirely on air power rather than ground troops.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145</a:t>
            </a:r>
            <a:endParaRPr lang="en-US" sz="9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US.67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did Nixon's policy of Vietnamization differ from Johnson's approach to the Vietnam War?</a:t>
            </a:r>
            <a:endParaRPr lang="en-US" sz="1500" dirty="0"/>
          </a:p>
        </p:txBody>
      </p:sp>
      <p:sp>
        <p:nvSpPr>
          <p:cNvPr id="9" name="Shape 7"/>
          <p:cNvSpPr/>
          <p:nvPr/>
        </p:nvSpPr>
        <p:spPr>
          <a:xfrm>
            <a:off x="548640" y="2651760"/>
            <a:ext cx="11064240" cy="566928"/>
          </a:xfrm>
          <a:prstGeom prst="roundRect">
            <a:avLst>
              <a:gd name="adj" fmla="val 9677"/>
            </a:avLst>
          </a:prstGeom>
          <a:solidFill>
            <a:srgbClr val="C9A84C"/>
          </a:solidFill>
          <a:ln w="12700">
            <a:solidFill>
              <a:srgbClr val="F9A825"/>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Nixon sought to gradually withdraw U.S. combat troops by transferring military responsibility to South Vietnamese forces, while Johnson had steadily increased American troop levels.</a:t>
            </a:r>
            <a:endParaRPr lang="en-US" sz="1300" dirty="0"/>
          </a:p>
        </p:txBody>
      </p:sp>
      <p:sp>
        <p:nvSpPr>
          <p:cNvPr id="13" name="Text 11"/>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5" name="Shape 13"/>
          <p:cNvSpPr/>
          <p:nvPr/>
        </p:nvSpPr>
        <p:spPr>
          <a:xfrm>
            <a:off x="713232" y="3419856"/>
            <a:ext cx="347472" cy="347472"/>
          </a:xfrm>
          <a:prstGeom prst="ellipse">
            <a:avLst/>
          </a:prstGeom>
          <a:solidFill>
            <a:srgbClr val="1A2332"/>
          </a:solidFill>
          <a:ln/>
        </p:spPr>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Nixon expanded the ground war into North Vietnam while Johnson had kept fighting limited to South Vietnam.</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Nixon negotiated a complete North Vietnamese surrender while Johnson had pursued only a stalemate.</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Nixon ended all bombing campaigns in Vietnam while Johnson had relied entirely on air power rather than ground troops.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Vietnamization transferred combat responsibility to ARVN forces and allowed gradual U.S. troop withdrawal, a stark contrast to Johnson's escalation to over 500,000 troops by 1968.</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146</a:t>
            </a:r>
            <a:endParaRPr lang="en-US" sz="9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US.67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Kennedy's "Flexible Response"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Johnson's Escalation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Nixon's Vietnamization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Effectiveness Analysis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Which president's Vietnam strategy was the most, or least, effective, and why? Defend your claim with evidence. (SSP.04)</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Compare how Kennedy, Johnson, and Nixon each approached the Vietnam War, and assess the effectiveness of one of their strategies.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147</a:t>
            </a:r>
            <a:endParaRPr lang="en-US" sz="9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US.68</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Vietnam War Home Front Impact</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Evaluate the impact of the Vietnam War on the home front, including: the anti-war movement, draft by lottery, and the role of television and the media.</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evaluate the impact of the Vietnam War on the home front, including the anti-war movement, draft by lottery, and the role of television and the media.</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148</a:t>
            </a:r>
            <a:endParaRPr lang="en-US" sz="9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US.68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US.67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Name the three presidents who directed the Vietnam War and one strategy each used.</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US.67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Nixon's policy of Vietnamization?</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149</a:t>
            </a:r>
            <a:endParaRPr lang="en-US" sz="9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US.68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movement opposed the draft and U.S. involvement in Vietnam?</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anti-war movement.</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150</a:t>
            </a:r>
            <a:endParaRPr lang="en-US" sz="9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US.68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As body counts climbed and draft notices arrived, the war came home: students burned draft cards, hundreds of thousands marched on Washington, and for the first time Americans watched the brutal reality of war on the evening news in their living rooms.</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How did television, the draft, and a protest movement turn the Vietnam War into a war fought on the American home front as much as in Vietnam?</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151</a:t>
            </a:r>
            <a:endParaRPr lang="en-US" sz="9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Anti-War Movement</a:t>
            </a:r>
            <a:endParaRPr lang="en-US" sz="3000" dirty="0"/>
          </a:p>
        </p:txBody>
      </p:sp>
      <p:sp>
        <p:nvSpPr>
          <p:cNvPr id="5" name="Shape 3"/>
          <p:cNvSpPr/>
          <p:nvPr/>
        </p:nvSpPr>
        <p:spPr>
          <a:xfrm>
            <a:off x="10765231" y="502920"/>
            <a:ext cx="146304" cy="146304"/>
          </a:xfrm>
          <a:prstGeom prst="ellipse">
            <a:avLst/>
          </a:prstGeom>
          <a:solidFill>
            <a:srgbClr val="C62828"/>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6766560" cy="4069080"/>
          </a:xfrm>
          <a:prstGeom prst="rect">
            <a:avLst/>
          </a:prstGeom>
          <a:solidFill>
            <a:srgbClr val="FFFFFF"/>
          </a:solidFill>
          <a:ln w="12700">
            <a:solidFill>
              <a:srgbClr val="DAD3C2"/>
            </a:solidFill>
            <a:prstDash val="solid"/>
          </a:ln>
        </p:spPr>
      </p:sp>
      <p:sp>
        <p:nvSpPr>
          <p:cNvPr id="10" name="Text 8"/>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movement grew from small protests to massive demonstrations involving millions.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It included diverse groups: students (SDS), religious leaders, Vietnam veterans, and civil rights activists.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movement helped end the war but also created deep social divisions that affected American politics for decades.</a:t>
            </a:r>
            <a:endParaRPr lang="en-US" sz="1550" dirty="0"/>
          </a:p>
        </p:txBody>
      </p:sp>
      <p:sp>
        <p:nvSpPr>
          <p:cNvPr id="11" name="Shape 9"/>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2" name="Text 10"/>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3" name="Text 11"/>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The Vietnam War divided the home front because ________, ________, and ________.</a:t>
            </a:r>
            <a:endParaRPr lang="en-US" sz="1050" dirty="0"/>
          </a:p>
        </p:txBody>
      </p:sp>
      <p:sp>
        <p:nvSpPr>
          <p:cNvPr id="14" name="Shape 12"/>
          <p:cNvSpPr/>
          <p:nvPr/>
        </p:nvSpPr>
        <p:spPr>
          <a:xfrm>
            <a:off x="7552944" y="1746504"/>
            <a:ext cx="4142232" cy="2935224"/>
          </a:xfrm>
          <a:prstGeom prst="rect">
            <a:avLst/>
          </a:prstGeom>
          <a:solidFill>
            <a:srgbClr val="FFFFFF"/>
          </a:solidFill>
          <a:ln w="12700">
            <a:solidFill>
              <a:srgbClr val="DAD3C2"/>
            </a:solidFill>
            <a:prstDash val="solid"/>
          </a:ln>
        </p:spPr>
      </p:sp>
      <p:pic>
        <p:nvPicPr>
          <p:cNvPr id="15" name="Image 0" descr="unit7-full/img/march-on-pentagon-antiwar-1967.jpg">    </p:cNvPr>
          <p:cNvPicPr>
            <a:picLocks noChangeAspect="1"/>
          </p:cNvPicPr>
          <p:nvPr/>
        </p:nvPicPr>
        <p:blipFill>
          <a:blip r:embed="rId1"/>
          <a:stretch>
            <a:fillRect/>
          </a:stretch>
        </p:blipFill>
        <p:spPr>
          <a:xfrm>
            <a:off x="8668377" y="1783080"/>
            <a:ext cx="1911366" cy="2862072"/>
          </a:xfrm>
          <a:prstGeom prst="rect">
            <a:avLst/>
          </a:prstGeom>
        </p:spPr>
      </p:pic>
      <p:sp>
        <p:nvSpPr>
          <p:cNvPr id="16" name="Text 13"/>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U.S. Dept. of Defense, October 21, 1967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a:t>
            </a:r>
            <a:endParaRPr lang="en-US" sz="800" dirty="0"/>
          </a:p>
        </p:txBody>
      </p:sp>
      <p:sp>
        <p:nvSpPr>
          <p:cNvPr id="17" name="Shape 14"/>
          <p:cNvSpPr/>
          <p:nvPr/>
        </p:nvSpPr>
        <p:spPr>
          <a:xfrm>
            <a:off x="7589520" y="5440680"/>
            <a:ext cx="4069080" cy="713232"/>
          </a:xfrm>
          <a:prstGeom prst="roundRect">
            <a:avLst>
              <a:gd name="adj" fmla="val 7692"/>
            </a:avLst>
          </a:prstGeom>
          <a:solidFill>
            <a:srgbClr val="1A2332"/>
          </a:solidFill>
          <a:ln/>
        </p:spPr>
      </p:sp>
      <p:sp>
        <p:nvSpPr>
          <p:cNvPr id="18" name="Text 15"/>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0"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152</a:t>
            </a:r>
            <a:endParaRPr lang="en-US" sz="9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Draft by Lottery</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C62828"/>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1969 lottery system replaced local draft boards' discretionary decisions with random selection based on birthdates.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reduced some inequities but maintained class bias since college deferments protected middle-class youth.</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Opposition to the draft contributed to the 26th Amendment lowering the voting age to 18—if old enough to fight, old enough to vote.</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153</a:t>
            </a:r>
            <a:endParaRPr lang="en-US" sz="9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Role of Television and Media</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C62828"/>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Vietnam became the first "living room war" with nightly television coverage showing combat footage.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Graphic images of casualties and destruction contradicted official optimism about the war's progress.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Walter Cronkite's 1968 editorial calling the war a stalemate significantly influenced public opinion, reportedly prompting Johnson to say, "If I've lost Cronkite, I've lost Middle America."</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154</a:t>
            </a:r>
            <a:endParaRPr lang="en-US" sz="9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US.68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sp>
      <p:sp>
        <p:nvSpPr>
          <p:cNvPr id="6" name="Shape 4"/>
          <p:cNvSpPr/>
          <p:nvPr/>
        </p:nvSpPr>
        <p:spPr>
          <a:xfrm>
            <a:off x="548640" y="1627632"/>
            <a:ext cx="5394960" cy="868680"/>
          </a:xfrm>
          <a:prstGeom prst="rect">
            <a:avLst/>
          </a:prstGeom>
          <a:solidFill>
            <a:srgbClr val="1A2332"/>
          </a:solidFill>
          <a:ln/>
        </p:spPr>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The Antiwar Movement</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Students, veterans, and citizens</a:t>
            </a:r>
            <a:endParaRPr lang="en-US" sz="1100" dirty="0"/>
          </a:p>
        </p:txBody>
      </p:sp>
      <p:sp>
        <p:nvSpPr>
          <p:cNvPr id="9" name="Text 7"/>
          <p:cNvSpPr/>
          <p:nvPr/>
        </p:nvSpPr>
        <p:spPr>
          <a:xfrm>
            <a:off x="69494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Held teach-ins, marches, and the 1967 March on the Pentagon</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Included veterans like John Kerry testifying against the war</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Helped turn public opinion against continued fighting</a:t>
            </a:r>
            <a:endParaRPr lang="en-US" sz="1300" dirty="0"/>
          </a:p>
        </p:txBody>
      </p:sp>
      <p:sp>
        <p:nvSpPr>
          <p:cNvPr id="10" name="Shape 8"/>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the movement to show citizens shaping policy from outside government.</a:t>
            </a:r>
            <a:endParaRPr lang="en-US" sz="800" dirty="0"/>
          </a:p>
        </p:txBody>
      </p:sp>
      <p:sp>
        <p:nvSpPr>
          <p:cNvPr id="12" name="Shape 10"/>
          <p:cNvSpPr/>
          <p:nvPr/>
        </p:nvSpPr>
        <p:spPr>
          <a:xfrm>
            <a:off x="6217920" y="1627632"/>
            <a:ext cx="5394960" cy="4114800"/>
          </a:xfrm>
          <a:prstGeom prst="rect">
            <a:avLst/>
          </a:prstGeom>
          <a:solidFill>
            <a:srgbClr val="FFFFFF"/>
          </a:solidFill>
          <a:ln w="12700">
            <a:solidFill>
              <a:srgbClr val="DAD3C2"/>
            </a:solidFill>
            <a:prstDash val="solid"/>
          </a:ln>
        </p:spPr>
      </p:sp>
      <p:sp>
        <p:nvSpPr>
          <p:cNvPr id="13" name="Shape 11"/>
          <p:cNvSpPr/>
          <p:nvPr/>
        </p:nvSpPr>
        <p:spPr>
          <a:xfrm>
            <a:off x="6217920" y="1627632"/>
            <a:ext cx="5394960" cy="868680"/>
          </a:xfrm>
          <a:prstGeom prst="rect">
            <a:avLst/>
          </a:prstGeom>
          <a:solidFill>
            <a:srgbClr val="1A2332"/>
          </a:solidFill>
          <a:ln/>
        </p:spPr>
      </p:sp>
      <p:sp>
        <p:nvSpPr>
          <p:cNvPr id="14" name="Text 12"/>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Elvis Presley</a:t>
            </a:r>
            <a:endParaRPr lang="en-US" sz="1800" dirty="0"/>
          </a:p>
        </p:txBody>
      </p:sp>
      <p:sp>
        <p:nvSpPr>
          <p:cNvPr id="15" name="Text 13"/>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Rock 'n' roll icon (1935-1977)</a:t>
            </a:r>
            <a:endParaRPr lang="en-US" sz="1100" dirty="0"/>
          </a:p>
        </p:txBody>
      </p:sp>
      <p:sp>
        <p:nvSpPr>
          <p:cNvPr id="16" name="Text 14"/>
          <p:cNvSpPr/>
          <p:nvPr/>
        </p:nvSpPr>
        <p:spPr>
          <a:xfrm>
            <a:off x="636422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Recorded early hits at Memphis's Sun Studio</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Helped launch rock 'n' roll and 1950s-60s youth culture</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Symbolized a new, distinct teenage identity</a:t>
            </a:r>
            <a:endParaRPr lang="en-US" sz="1300" dirty="0"/>
          </a:p>
        </p:txBody>
      </p:sp>
      <p:sp>
        <p:nvSpPr>
          <p:cNvPr id="17" name="Shape 15"/>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sp>
      <p:sp>
        <p:nvSpPr>
          <p:cNvPr id="18" name="Text 16"/>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Elvis and Memphis's Sun Studio/Stax to tie the era's culture to Tennessee.</a:t>
            </a:r>
            <a:endParaRPr lang="en-US" sz="800" dirty="0"/>
          </a:p>
        </p:txBody>
      </p:sp>
      <p:sp>
        <p:nvSpPr>
          <p:cNvPr id="19"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155</a:t>
            </a:r>
            <a:endParaRPr lang="en-US" sz="9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US.68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Anti-War Protest Statement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Students for a Democratic Society  ·  1965</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"We are here today to protest a war that is immoral, illegal, and unjust. Our government sends young men to die in a country they cannot find on a map, for reasons that have never been honestly explained. We demand an end to the draft. We demand that our government bring our brothers home. This is not our war."</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2011680"/>
          </a:xfrm>
          <a:prstGeom prst="roundRect">
            <a:avLst>
              <a:gd name="adj" fmla="val 3636"/>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49961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As the Vietnam War escalated in the mid-1960s, a massive anti-war movement emerged on college campuses and in cities across America. The Students for a Democratic Society (SDS), draft resisters, Vietnam Veterans Against the War, and peace marchers challenged the government's justifications for the conflict. By 1967, the anti-war movement included figures like Dr. Martin Luther King Jr., who publicly denounced the war as a moral wrong that drained resources from domestic anti-poverty programs.</a:t>
            </a:r>
            <a:endParaRPr lang="en-US" sz="950" dirty="0"/>
          </a:p>
        </p:txBody>
      </p:sp>
      <p:sp>
        <p:nvSpPr>
          <p:cNvPr id="16" name="Shape 14"/>
          <p:cNvSpPr/>
          <p:nvPr/>
        </p:nvSpPr>
        <p:spPr>
          <a:xfrm>
            <a:off x="7589520" y="3931920"/>
            <a:ext cx="4023360" cy="1051560"/>
          </a:xfrm>
          <a:prstGeom prst="roundRect">
            <a:avLst>
              <a:gd name="adj" fmla="val 6957"/>
            </a:avLst>
          </a:prstGeom>
          <a:solidFill>
            <a:srgbClr val="C9A84C"/>
          </a:solidFill>
          <a:ln/>
        </p:spPr>
      </p:sp>
      <p:sp>
        <p:nvSpPr>
          <p:cNvPr id="17" name="Text 15"/>
          <p:cNvSpPr/>
          <p:nvPr/>
        </p:nvSpPr>
        <p:spPr>
          <a:xfrm>
            <a:off x="7818120" y="40507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352544"/>
            <a:ext cx="3611880" cy="5212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arguments do these protestors make against the Vietnam War?</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Students for a Democratic Society</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1965</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156</a:t>
            </a:r>
            <a:endParaRPr lang="en-US" sz="9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US.68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Youth Culture</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Cultura Juvenil</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YC</a:t>
            </a:r>
            <a:endParaRPr lang="en-US" sz="13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distinct set of tastes, music, fashion, and attitudes that emerged among American teenagers in the 1950s and 1960s, marking youth as a powerful new social and economic force.</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Rock 'n' Roll</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Rock 'n' Roll</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7" name="Text 15"/>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RR</a:t>
            </a:r>
            <a:endParaRPr lang="en-US" sz="1300" dirty="0"/>
          </a:p>
        </p:txBody>
      </p:sp>
      <p:sp>
        <p:nvSpPr>
          <p:cNvPr id="18" name="Text 16"/>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revolutionary music genre that emerged in the 1950s, blending rhythm and blues with country music, challenging racial barriers and traditional values while becoming the soundtrack of youth rebellion.</a:t>
            </a:r>
            <a:endParaRPr lang="en-US" sz="1100" dirty="0"/>
          </a:p>
        </p:txBody>
      </p:sp>
      <p:sp>
        <p:nvSpPr>
          <p:cNvPr id="19" name="Shape 17"/>
          <p:cNvSpPr/>
          <p:nvPr/>
        </p:nvSpPr>
        <p:spPr>
          <a:xfrm>
            <a:off x="548640" y="3072384"/>
            <a:ext cx="5486400" cy="1261872"/>
          </a:xfrm>
          <a:prstGeom prst="rect">
            <a:avLst/>
          </a:prstGeom>
          <a:solidFill>
            <a:srgbClr val="FFFFFF"/>
          </a:solidFill>
          <a:ln w="12700">
            <a:solidFill>
              <a:srgbClr val="DAD3C2"/>
            </a:solidFill>
            <a:prstDash val="solid"/>
          </a:ln>
        </p:spPr>
      </p:sp>
      <p:sp>
        <p:nvSpPr>
          <p:cNvPr id="20" name="Shape 18"/>
          <p:cNvSpPr/>
          <p:nvPr/>
        </p:nvSpPr>
        <p:spPr>
          <a:xfrm>
            <a:off x="548640" y="3072384"/>
            <a:ext cx="5486400" cy="676656"/>
          </a:xfrm>
          <a:prstGeom prst="rect">
            <a:avLst/>
          </a:prstGeom>
          <a:solidFill>
            <a:srgbClr val="1A2332"/>
          </a:solidFill>
          <a:ln/>
        </p:spPr>
      </p:sp>
      <p:sp>
        <p:nvSpPr>
          <p:cNvPr id="21" name="Text 19"/>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Elvis Presley</a:t>
            </a:r>
            <a:endParaRPr lang="en-US" sz="1350" dirty="0"/>
          </a:p>
        </p:txBody>
      </p:sp>
      <p:sp>
        <p:nvSpPr>
          <p:cNvPr id="22" name="Text 20"/>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Elvis Presley</a:t>
            </a:r>
            <a:endParaRPr lang="en-US" sz="1000" dirty="0"/>
          </a:p>
        </p:txBody>
      </p:sp>
      <p:sp>
        <p:nvSpPr>
          <p:cNvPr id="23" name="Shape 21"/>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4" name="Text 22"/>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EP</a:t>
            </a:r>
            <a:endParaRPr lang="en-US" sz="1300" dirty="0"/>
          </a:p>
        </p:txBody>
      </p:sp>
      <p:sp>
        <p:nvSpPr>
          <p:cNvPr id="25" name="Text 23"/>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Tennessee-born musician who became the "King of Rock 'n' Roll" in the 1950s, bringing Black rhythm and blues to white mainstream audiences and revolutionizing popular music and youth culture.</a:t>
            </a:r>
            <a:endParaRPr lang="en-US" sz="1100" dirty="0"/>
          </a:p>
        </p:txBody>
      </p:sp>
      <p:sp>
        <p:nvSpPr>
          <p:cNvPr id="26" name="Shape 24"/>
          <p:cNvSpPr/>
          <p:nvPr/>
        </p:nvSpPr>
        <p:spPr>
          <a:xfrm>
            <a:off x="6263640" y="3072384"/>
            <a:ext cx="5486400" cy="1261872"/>
          </a:xfrm>
          <a:prstGeom prst="rect">
            <a:avLst/>
          </a:prstGeom>
          <a:solidFill>
            <a:srgbClr val="FFFFFF"/>
          </a:solidFill>
          <a:ln w="12700">
            <a:solidFill>
              <a:srgbClr val="DAD3C2"/>
            </a:solidFill>
            <a:prstDash val="solid"/>
          </a:ln>
        </p:spPr>
      </p:sp>
      <p:sp>
        <p:nvSpPr>
          <p:cNvPr id="27" name="Shape 25"/>
          <p:cNvSpPr/>
          <p:nvPr/>
        </p:nvSpPr>
        <p:spPr>
          <a:xfrm>
            <a:off x="6263640" y="3072384"/>
            <a:ext cx="5486400" cy="676656"/>
          </a:xfrm>
          <a:prstGeom prst="rect">
            <a:avLst/>
          </a:prstGeom>
          <a:solidFill>
            <a:srgbClr val="1A2332"/>
          </a:solidFill>
          <a:ln/>
        </p:spPr>
      </p:sp>
      <p:sp>
        <p:nvSpPr>
          <p:cNvPr id="28" name="Text 26"/>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Sun Studio</a:t>
            </a:r>
            <a:endParaRPr lang="en-US" sz="1350" dirty="0"/>
          </a:p>
        </p:txBody>
      </p:sp>
      <p:sp>
        <p:nvSpPr>
          <p:cNvPr id="29" name="Text 27"/>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Sun Studio</a:t>
            </a:r>
            <a:endParaRPr lang="en-US" sz="1000" dirty="0"/>
          </a:p>
        </p:txBody>
      </p:sp>
      <p:sp>
        <p:nvSpPr>
          <p:cNvPr id="30" name="Shape 28"/>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1" name="Text 29"/>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SS</a:t>
            </a:r>
            <a:endParaRPr lang="en-US" sz="1300" dirty="0"/>
          </a:p>
        </p:txBody>
      </p:sp>
      <p:sp>
        <p:nvSpPr>
          <p:cNvPr id="32" name="Text 30"/>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legendary Memphis recording studio where Sam Phillips produced groundbreaking recordings by Elvis Presley, Johnny Cash, B.B. King, and others, helping create rock 'n' roll and shaping American music.</a:t>
            </a:r>
            <a:endParaRPr lang="en-US" sz="1100" dirty="0"/>
          </a:p>
        </p:txBody>
      </p:sp>
      <p:sp>
        <p:nvSpPr>
          <p:cNvPr id="33" name="Shape 31"/>
          <p:cNvSpPr/>
          <p:nvPr/>
        </p:nvSpPr>
        <p:spPr>
          <a:xfrm>
            <a:off x="548640" y="4498848"/>
            <a:ext cx="5486400" cy="1261872"/>
          </a:xfrm>
          <a:prstGeom prst="rect">
            <a:avLst/>
          </a:prstGeom>
          <a:solidFill>
            <a:srgbClr val="FFFFFF"/>
          </a:solidFill>
          <a:ln w="12700">
            <a:solidFill>
              <a:srgbClr val="DAD3C2"/>
            </a:solidFill>
            <a:prstDash val="solid"/>
          </a:ln>
        </p:spPr>
      </p:sp>
      <p:sp>
        <p:nvSpPr>
          <p:cNvPr id="34" name="Shape 32"/>
          <p:cNvSpPr/>
          <p:nvPr/>
        </p:nvSpPr>
        <p:spPr>
          <a:xfrm>
            <a:off x="548640" y="4498848"/>
            <a:ext cx="5486400" cy="676656"/>
          </a:xfrm>
          <a:prstGeom prst="rect">
            <a:avLst/>
          </a:prstGeom>
          <a:solidFill>
            <a:srgbClr val="1A2332"/>
          </a:solidFill>
          <a:ln/>
        </p:spPr>
      </p:sp>
      <p:sp>
        <p:nvSpPr>
          <p:cNvPr id="35" name="Text 33"/>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Stax Records</a:t>
            </a:r>
            <a:endParaRPr lang="en-US" sz="1350" dirty="0"/>
          </a:p>
        </p:txBody>
      </p:sp>
      <p:sp>
        <p:nvSpPr>
          <p:cNvPr id="36" name="Text 34"/>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Stax Records</a:t>
            </a:r>
            <a:endParaRPr lang="en-US" sz="1000" dirty="0"/>
          </a:p>
        </p:txBody>
      </p:sp>
      <p:sp>
        <p:nvSpPr>
          <p:cNvPr id="37" name="Shape 35"/>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38" name="Text 36"/>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SR</a:t>
            </a:r>
            <a:endParaRPr lang="en-US" sz="1300" dirty="0"/>
          </a:p>
        </p:txBody>
      </p:sp>
      <p:sp>
        <p:nvSpPr>
          <p:cNvPr id="39" name="Text 37"/>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influential Memphis record label founded in 1957 that became a leading producer of soul and R&amp;B music, featuring integrated musicians and promoting racial harmony through music.</a:t>
            </a:r>
            <a:endParaRPr lang="en-US" sz="1100" dirty="0"/>
          </a:p>
        </p:txBody>
      </p:sp>
      <p:sp>
        <p:nvSpPr>
          <p:cNvPr id="40" name="Shape 38"/>
          <p:cNvSpPr/>
          <p:nvPr/>
        </p:nvSpPr>
        <p:spPr>
          <a:xfrm>
            <a:off x="6263640" y="4498848"/>
            <a:ext cx="5486400" cy="1261872"/>
          </a:xfrm>
          <a:prstGeom prst="rect">
            <a:avLst/>
          </a:prstGeom>
          <a:solidFill>
            <a:srgbClr val="FFFFFF"/>
          </a:solidFill>
          <a:ln w="12700">
            <a:solidFill>
              <a:srgbClr val="DAD3C2"/>
            </a:solidFill>
            <a:prstDash val="solid"/>
          </a:ln>
        </p:spPr>
      </p:sp>
      <p:sp>
        <p:nvSpPr>
          <p:cNvPr id="41" name="Shape 39"/>
          <p:cNvSpPr/>
          <p:nvPr/>
        </p:nvSpPr>
        <p:spPr>
          <a:xfrm>
            <a:off x="6263640" y="4498848"/>
            <a:ext cx="5486400" cy="676656"/>
          </a:xfrm>
          <a:prstGeom prst="rect">
            <a:avLst/>
          </a:prstGeom>
          <a:solidFill>
            <a:srgbClr val="1A2332"/>
          </a:solidFill>
          <a:ln/>
        </p:spPr>
      </p:sp>
      <p:sp>
        <p:nvSpPr>
          <p:cNvPr id="42" name="Text 40"/>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Television and Mass Media</a:t>
            </a:r>
            <a:endParaRPr lang="en-US" sz="1350" dirty="0"/>
          </a:p>
        </p:txBody>
      </p:sp>
      <p:sp>
        <p:nvSpPr>
          <p:cNvPr id="43" name="Text 41"/>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Televisión y Medios Masivos</a:t>
            </a:r>
            <a:endParaRPr lang="en-US" sz="1000" dirty="0"/>
          </a:p>
        </p:txBody>
      </p:sp>
      <p:sp>
        <p:nvSpPr>
          <p:cNvPr id="44" name="Shape 42"/>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5" name="Text 43"/>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TA</a:t>
            </a:r>
            <a:endParaRPr lang="en-US" sz="1300" dirty="0"/>
          </a:p>
        </p:txBody>
      </p:sp>
      <p:sp>
        <p:nvSpPr>
          <p:cNvPr id="46" name="Text 44"/>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rapid spread of television in the 1950s that transformed American culture, politics, and consumer habits, creating shared national experiences and powerful advertising platforms.</a:t>
            </a:r>
            <a:endParaRPr lang="en-US" sz="1100" dirty="0"/>
          </a:p>
        </p:txBody>
      </p:sp>
      <p:sp>
        <p:nvSpPr>
          <p:cNvPr id="47" name="Text 45"/>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48" name="Text 4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9" name="Text 4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157</a:t>
            </a:r>
            <a:endParaRPr lang="en-US" sz="9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US.68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Analyze home-front change</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How did the Vietnam War and youth culture change American society?</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Televised combat and rising casualties fueled antiwar protest, while rock 'n' roll and youth culture reshaped identity. The war split the country between generations and views.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Identify one protest and one cultural change from the section.</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Explain how the two were connected, citing the text.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158</a:t>
            </a:r>
            <a:endParaRPr lang="en-US" sz="9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US.68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The War Comes Home — Vietnam on the Home Front</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Read the Students for a Democratic Society anti-war statement and study the March on the Pentagon photograph. Complete a three-part organizer: (1) the ANTI-WAR MOVEMENT and who joined it; (2) the DRAFT BY LOTTERY and why it fueled protest; (3) the ROLE OF TELEVISION and media in shaping opinion. Add two details per section. Finish with a one-sentence claim, backed by evidence, on how the home front changed the way the war was fought and ended.</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three-part organizer (anti-war movement / draft lottery / television, 2+ each) AND a one-sentence evidence-based claim about the home front's impact.</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Organizer with the three sections pre-labeled and a word bank of details to place. Honors: Write a paragraph using the SDS statement to analyze why so many young Americans came to see the war as unjust.</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cornell-notes/unit-7/us68-vietnam-home-front-impact.pdf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159</a:t>
            </a:r>
            <a:endParaRPr lang="en-US" sz="9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US.68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did television coverage of the Vietnam War affect public opinion in the United States?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Television coverage consistently presented the war favorably, boosting public support throughout the conflict.</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Graphic images of battlefield casualties and the Tet Offensive brought the realities of war into American living rooms and fueled growing anti-war sentiment.</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Television coverage had little effect on public opinion because most Americans did not own televisions in the 1960s.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Television coverage focused exclusively on diplomatic negotiations and avoided showing any combat footage.</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160</a:t>
            </a:r>
            <a:endParaRPr lang="en-US" sz="9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US.68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did television coverage of the Vietnam War affect public opinion in the United States?</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Television coverage consistently presented the war favorably, boosting public support throughout the conflict.</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Graphic images of battlefield casualties and the Tet Offensive brought the realities of war into American living rooms and fueled growing anti-war sentiment.</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Television coverage had little effect on public opinion because most Americans did not own televisions in the 1960s.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Television coverage focused exclusively on diplomatic negotiations and avoided showing any combat footage.</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Vietnam became known as 'the living room war.' Tet Offensive footage in 1968 undercut official optimism, and media coverage of casualties, protests, and atrocities directly contributed to the antiwar movement's growth.</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161</a:t>
            </a:r>
            <a:endParaRPr lang="en-US" sz="9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US.68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Anti-War Movement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Draft by Lottery</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Role of Television and Media</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Did the anti-war movement and media coverage shorten the Vietnam War, or simply divide the nation? Argue with evidence. (SSP.04)</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how the Vietnam War affected the American home front. Address the anti-war movement, the draft, and the media.</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162</a:t>
            </a:r>
            <a:endParaRPr lang="en-US" sz="9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US.69</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Space Race Competition</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Describe the competition between the U.S. and Soviet Union for superiority in space.</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describe the competition between the U.S. and Soviet Union for superiority in space.</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163</a:t>
            </a:r>
            <a:endParaRPr lang="en-US" sz="9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US.69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US.68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How did television change Americans' view of the Vietnam War?</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US.68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anti-war movement?</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164</a:t>
            </a:r>
            <a:endParaRPr lang="en-US" sz="9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US.69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Soviet satellite launch in 1957 started the Space Race?</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Sputnik.</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165</a:t>
            </a:r>
            <a:endParaRPr lang="en-US" sz="9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US.69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Shocked when the Soviets launched Sputnik, the first satellite, in 1957, the United States poured its money and genius into a race to space, culminating in July 1969 when an American became the first human to walk on the Moon.</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Why did reaching the Moon become a matter of national survival, and what did the Space Race reveal about the Cold War competition itself?</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166</a:t>
            </a:r>
            <a:endParaRPr lang="en-US" sz="9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Motivations for Space Competition</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Both superpowers sought to demonstrate technological superiority, military capability (ICBMs used space technology), and ideological system effectiveness.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Space achievements provided international prestige and propaganda value, showing the world which system—capitalism or communism—could better harness technology for great achievements.</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Space Race began because ________, and it mattered in the Cold War because ________.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167</a:t>
            </a:r>
            <a:endParaRPr lang="en-US" sz="9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Key Events and Milestones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Soviet achievements: Sputnik satellite (1957) and Yuri Gagarin becoming first human in space (1961).</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American achievements: John Glenn orbiting Earth (1962) and Apollo 11 moon landing (1969).</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Key figures included Wernher von Braun (American program) and Sergei Korolev (Soviet program).</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moon landing represented America's decisive victory in the space race.</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7-full/img/sputnik-1-replica.jpg">    </p:cNvPr>
          <p:cNvPicPr>
            <a:picLocks noChangeAspect="1"/>
          </p:cNvPicPr>
          <p:nvPr/>
        </p:nvPicPr>
        <p:blipFill>
          <a:blip r:embed="rId1"/>
          <a:stretch>
            <a:fillRect/>
          </a:stretch>
        </p:blipFill>
        <p:spPr>
          <a:xfrm>
            <a:off x="7589520" y="2177796"/>
            <a:ext cx="4069080" cy="2712720"/>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NSSDC / NASA (replica photographed); donor image released CC0, Replica; original launched October 4, 1957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Smithsonian</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168</a:t>
            </a:r>
            <a:endParaRPr lang="en-US" sz="9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Political Implications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Early Soviet successes suggested communist system superiority, shocking Americans and prompting increased science education funding.</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Kennedy's commitment to land a man on the moon mobilized national resources.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successful moon landing restored American prestige and demonstrated democratic capitalism's capability to achieve great goals.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169</a:t>
            </a:r>
            <a:endParaRPr lang="en-US" sz="9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American Response to Sputnik</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Sputnik prompted creation of NASA (1958), increased science education funding through the National Defense Education Act, and implementation of "duck and cover" drills reflecting fears about Soviet ICBM capability.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"Sputnik crisis" transformed American education and accelerated technological development.</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170</a:t>
            </a:r>
            <a:endParaRPr lang="en-US" sz="9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US.69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John F. Kennedy</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35th President; set the Moon goal</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Challenged the U.S. to land a man on the Moon by 1969</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Framed the space race as Cold War competition with the USSR</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Boosted NASA funding after the shock of Sputnik and Gagarin</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JFK's Moon pledge to show the space race as an arm of the Cold War.</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171</a:t>
            </a:r>
            <a:endParaRPr lang="en-US" sz="9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US.69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Moon Landing Speech</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Contextualization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John F. Kennedy  ·  May 25, 1961</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"I believe that this nation should commit itself to achieving the goal, before this decade is out, of landing a man on the Moon and returning him safely to the Earth. No single space project in this period will be more impressive to mankind, or more important for the long-range exploration of space; and none will be so difficult or expensive to accomplish."</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On July 20, 1969, American astronaut Neil Armstrong became the first human to walk on the moon, fulfilling Kennedy's 1961 challenge. The Apollo 11 mission was the culmination of an eight-year, $25 billion program employing 400,000 engineers, scientists, and technicians. The moon landing is considered one of the greatest technological achievements in human history and was a decisive victory in the Space Race against the Soviet Union.</a:t>
            </a:r>
            <a:endParaRPr lang="en-US" sz="10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does Kennedy acknowledge about the moon mission?</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John F. Kennedy</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May 25, 1961</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John F. Kennedy Presidential Library</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172</a:t>
            </a:r>
            <a:endParaRPr lang="en-US" sz="9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US.69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Space Race</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spays rays</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Carrera Espacial</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SR</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Cold War competition between the United States and Soviet Union for supremacy in space exploration, driven by national pride, technological advancement, and military implications of rocket technology.</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Sputnik</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SPUUT-nik</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Sputnik</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S</a:t>
            </a:r>
            <a:endParaRPr lang="en-US" sz="15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world's first artificial satellite, launched by the Soviet Union on October 4, 1957, shocking Americans and triggering fears about Soviet technological superiority and the "missile gap."</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Arms Race</a:t>
            </a:r>
            <a:endParaRPr lang="en-US" sz="13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Carrera Armamentista</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6" name="Text 24"/>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AR</a:t>
            </a:r>
            <a:endParaRPr lang="en-US" sz="1300" dirty="0"/>
          </a:p>
        </p:txBody>
      </p:sp>
      <p:sp>
        <p:nvSpPr>
          <p:cNvPr id="27" name="Text 25"/>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Cold War competition between the United States and Soviet Union to develop increasingly powerful nuclear weapons and delivery systems, with each side trying to achieve military superiority.</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sp>
      <p:sp>
        <p:nvSpPr>
          <p:cNvPr id="29" name="Shape 27"/>
          <p:cNvSpPr/>
          <p:nvPr/>
        </p:nvSpPr>
        <p:spPr>
          <a:xfrm>
            <a:off x="6263640" y="3072384"/>
            <a:ext cx="5486400" cy="676656"/>
          </a:xfrm>
          <a:prstGeom prst="rect">
            <a:avLst/>
          </a:prstGeom>
          <a:solidFill>
            <a:srgbClr val="1A2332"/>
          </a:solidFill>
          <a:ln/>
        </p:spPr>
      </p:sp>
      <p:sp>
        <p:nvSpPr>
          <p:cNvPr id="30" name="Text 28"/>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Mutual Assured Destruction (MAD)</a:t>
            </a:r>
            <a:endParaRPr lang="en-US" sz="1350" dirty="0"/>
          </a:p>
        </p:txBody>
      </p:sp>
      <p:sp>
        <p:nvSpPr>
          <p:cNvPr id="31" name="Text 29"/>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Destrucción Mutua Asegurada</a:t>
            </a:r>
            <a:endParaRPr lang="en-US" sz="1000" dirty="0"/>
          </a:p>
        </p:txBody>
      </p:sp>
      <p:sp>
        <p:nvSpPr>
          <p:cNvPr id="32" name="Shape 30"/>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3" name="Text 31"/>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MA</a:t>
            </a:r>
            <a:endParaRPr lang="en-US" sz="1300" dirty="0"/>
          </a:p>
        </p:txBody>
      </p:sp>
      <p:sp>
        <p:nvSpPr>
          <p:cNvPr id="34" name="Text 32"/>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Cold War doctrine that nuclear war between the U.S. and Soviet Union would result in complete annihilation of both sides, theoretically preventing either from starting a war.</a:t>
            </a:r>
            <a:endParaRPr lang="en-US" sz="1100" dirty="0"/>
          </a:p>
        </p:txBody>
      </p:sp>
      <p:sp>
        <p:nvSpPr>
          <p:cNvPr id="35" name="Shape 33"/>
          <p:cNvSpPr/>
          <p:nvPr/>
        </p:nvSpPr>
        <p:spPr>
          <a:xfrm>
            <a:off x="548640" y="4498848"/>
            <a:ext cx="5486400" cy="1261872"/>
          </a:xfrm>
          <a:prstGeom prst="rect">
            <a:avLst/>
          </a:prstGeom>
          <a:solidFill>
            <a:srgbClr val="FFFFFF"/>
          </a:solidFill>
          <a:ln w="12700">
            <a:solidFill>
              <a:srgbClr val="DAD3C2"/>
            </a:solidFill>
            <a:prstDash val="solid"/>
          </a:ln>
        </p:spPr>
      </p:sp>
      <p:sp>
        <p:nvSpPr>
          <p:cNvPr id="36" name="Shape 34"/>
          <p:cNvSpPr/>
          <p:nvPr/>
        </p:nvSpPr>
        <p:spPr>
          <a:xfrm>
            <a:off x="548640" y="4498848"/>
            <a:ext cx="5486400" cy="676656"/>
          </a:xfrm>
          <a:prstGeom prst="rect">
            <a:avLst/>
          </a:prstGeom>
          <a:solidFill>
            <a:srgbClr val="1A2332"/>
          </a:solidFill>
          <a:ln/>
        </p:spPr>
      </p:sp>
      <p:sp>
        <p:nvSpPr>
          <p:cNvPr id="37" name="Text 35"/>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Military-Industrial Complex</a:t>
            </a:r>
            <a:endParaRPr lang="en-US" sz="1350" dirty="0"/>
          </a:p>
        </p:txBody>
      </p:sp>
      <p:sp>
        <p:nvSpPr>
          <p:cNvPr id="38" name="Text 36"/>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MIL-ih-tair-ee in-DUS-tree-ul KOM-pleks</a:t>
            </a:r>
            <a:endParaRPr lang="en-US" sz="850" dirty="0"/>
          </a:p>
        </p:txBody>
      </p:sp>
      <p:sp>
        <p:nvSpPr>
          <p:cNvPr id="39" name="Text 37"/>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Complejo Militar-Industrial</a:t>
            </a:r>
            <a:endParaRPr lang="en-US" sz="1000" dirty="0"/>
          </a:p>
        </p:txBody>
      </p:sp>
      <p:sp>
        <p:nvSpPr>
          <p:cNvPr id="40" name="Shape 38"/>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1" name="Text 39"/>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MC</a:t>
            </a:r>
            <a:endParaRPr lang="en-US" sz="1300" dirty="0"/>
          </a:p>
        </p:txBody>
      </p:sp>
      <p:sp>
        <p:nvSpPr>
          <p:cNvPr id="42" name="Text 40"/>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close ties among the military, defense contractors, and government that President Eisenhower warned about in 1961 as a driver of unnecessary military spending.</a:t>
            </a:r>
            <a:endParaRPr lang="en-US" sz="1100" dirty="0"/>
          </a:p>
        </p:txBody>
      </p:sp>
      <p:sp>
        <p:nvSpPr>
          <p:cNvPr id="43" name="Shape 41"/>
          <p:cNvSpPr/>
          <p:nvPr/>
        </p:nvSpPr>
        <p:spPr>
          <a:xfrm>
            <a:off x="6263640" y="4498848"/>
            <a:ext cx="5486400" cy="1261872"/>
          </a:xfrm>
          <a:prstGeom prst="rect">
            <a:avLst/>
          </a:prstGeom>
          <a:solidFill>
            <a:srgbClr val="FFFFFF"/>
          </a:solidFill>
          <a:ln w="12700">
            <a:solidFill>
              <a:srgbClr val="DAD3C2"/>
            </a:solidFill>
            <a:prstDash val="solid"/>
          </a:ln>
        </p:spPr>
      </p:sp>
      <p:sp>
        <p:nvSpPr>
          <p:cNvPr id="44" name="Shape 42"/>
          <p:cNvSpPr/>
          <p:nvPr/>
        </p:nvSpPr>
        <p:spPr>
          <a:xfrm>
            <a:off x="6263640" y="4498848"/>
            <a:ext cx="5486400" cy="676656"/>
          </a:xfrm>
          <a:prstGeom prst="rect">
            <a:avLst/>
          </a:prstGeom>
          <a:solidFill>
            <a:srgbClr val="1A2332"/>
          </a:solidFill>
          <a:ln/>
        </p:spPr>
      </p:sp>
      <p:sp>
        <p:nvSpPr>
          <p:cNvPr id="45" name="Text 43"/>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Superpower</a:t>
            </a:r>
            <a:endParaRPr lang="en-US" sz="1350" dirty="0"/>
          </a:p>
        </p:txBody>
      </p:sp>
      <p:sp>
        <p:nvSpPr>
          <p:cNvPr id="46" name="Text 44"/>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Superpotencia</a:t>
            </a:r>
            <a:endParaRPr lang="en-US" sz="1000" dirty="0"/>
          </a:p>
        </p:txBody>
      </p:sp>
      <p:sp>
        <p:nvSpPr>
          <p:cNvPr id="47" name="Shape 45"/>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8" name="Text 46"/>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S</a:t>
            </a:r>
            <a:endParaRPr lang="en-US" sz="1500" dirty="0"/>
          </a:p>
        </p:txBody>
      </p:sp>
      <p:sp>
        <p:nvSpPr>
          <p:cNvPr id="49" name="Text 47"/>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nation with overwhelming military, economic, and political power able to project force globally; during the Cold War, only the U.S. and Soviet Union qualified.</a:t>
            </a:r>
            <a:endParaRPr lang="en-US" sz="1100" dirty="0"/>
          </a:p>
        </p:txBody>
      </p:sp>
      <p:sp>
        <p:nvSpPr>
          <p:cNvPr id="50" name="Text 48"/>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1" name="Text 4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2" name="Text 5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173</a:t>
            </a:r>
            <a:endParaRPr lang="en-US" sz="9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US.69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Link competition to progress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How did Cold War rivalry drive the space race?</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Sputnik's 1957 launch shocked the U.S. into funding NASA and education. Kennedy's Moon pledge turned fear of falling behind into a national goal.</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Circle the event that pushed the U.S. to act.</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Explain how competition, not curiosity, drove the race, citing the text.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174</a:t>
            </a:r>
            <a:endParaRPr lang="en-US" sz="9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US.69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700" b="1" dirty="0">
                <a:solidFill>
                  <a:srgbClr val="1A2332"/>
                </a:solidFill>
                <a:latin typeface="Georgia" pitchFamily="34" charset="0"/>
                <a:ea typeface="Georgia" pitchFamily="34" charset="-122"/>
                <a:cs typeface="Georgia" pitchFamily="34" charset="-120"/>
              </a:rPr>
              <a:t>Reaching for the Moon — The Space Race</a:t>
            </a:r>
            <a:endParaRPr lang="en-US" sz="27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Read President Kennedy's Moon Landing (Rice University) speech and review the Sputnik photograph. Build a chart tracking four elements: the MOTIVATIONS for the space race, KEY MILESTONES (Sputnik, Explorer I, Gagarin, Apollo 11), the POLITICAL IMPLICATIONS of leading in space, and the AMERICAN RESPONSE to Sputnik (NASA, science education). Write one sentence on each. Finish with a one-sentence claim on how the space race was really an extension of the Cold War, with evidence.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250" dirty="0">
                <a:solidFill>
                  <a:srgbClr val="FFFFFF"/>
                </a:solidFill>
                <a:latin typeface="Calibri" pitchFamily="34" charset="0"/>
                <a:ea typeface="Calibri" pitchFamily="34" charset="-122"/>
                <a:cs typeface="Calibri" pitchFamily="34" charset="-120"/>
              </a:rPr>
              <a:t>Completed four-element chart (one sentence each) AND a one-sentence evidence-based claim linking the space race to the Cold War.</a:t>
            </a:r>
            <a:endParaRPr lang="en-US" sz="12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Chart with the four elements pre-labeled and a word bank of milestones to sort. Honors: Write a paragraph using Kennedy's Rice University speech to explain how he framed a costly, risky moon mission as a national necessity.</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cornell-notes/unit-7/us69-space-race-competition.pdf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175</a:t>
            </a:r>
            <a:endParaRPr lang="en-US" sz="9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US.69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The United States and Soviet Union competed in the space race throughout the late 1950s and 1960s. Which evaluation of the argument that the space race was primarily an ideological contest rather than a military one is best supported?</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space race was purely ideological because NASA and Soviet space programs were explicitly civilian agencies with no connection to military weapons development.</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space race was simultaneously ideological and military: rocket technology directly advanced ICBM capability, while space achievements served as propaganda demonstrations of systemic superiority for non-aligned nations' benefit.</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space race was primarily military because both superpowers measured success exclusively by advances in satellite reconnaissance technology rather than by human spaceflight achievements.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space race had neither military nor ideological significance; it was primarily a scientific competition driven by the curiosity of engineers and scientists on both sides, not by government strategic planning.</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176</a:t>
            </a:r>
            <a:endParaRPr lang="en-US" sz="9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US.69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The United States and Soviet Union competed in the space race throughout the late 1950s and 1960s. Which evaluation of the argument that the space race was primarily an ideological contest rather than a military one is best supported?</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space race was purely ideological because NASA and Soviet space programs were explicitly civilian agencies with no connection to military weapons development.</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The space race was simultaneously ideological and military: rocket technology directly advanced ICBM capability, while space achievements served as propaganda demonstrations of systemic superiority for non-aligned nations' benefit.</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space race was primarily military because both superpowers measured success exclusively by advances in satellite reconnaissance technology rather than by human spaceflight achievements.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space race had neither military nor ideological significance; it was primarily a scientific competition driven by the curiosity of engineers and scientists on both sides, not by government strategic planning.</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space race was inseparably both ideological and military: rocket technology capable of launching satellites was identical to the technology needed to deliver nuclear warheads intercontinentally. Sputnik's military significance was that it demonstrated Soviet ICBMs could reach American…</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177</a:t>
            </a:r>
            <a:endParaRPr lang="en-US" sz="9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US.69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Motivations for Space Competition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Key Events and Milestones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Political Implications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American Response to Sputnik</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Was the Space Race mainly about science and exploration, or about Cold War prestige and military power? Argue with evidence. (SSP.04)</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the causes and significance of the Space Race. Why did it matter so much during the Cold War?</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178</a:t>
            </a:r>
            <a:endParaRPr lang="en-US" sz="9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US.70</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Cold War Détente &amp; the Fall of the Berlin Wall</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SSP.03</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Explain developments that eased tensions during the Cold War, including: President Richard Nixon's détente, SALT Treaties, President Ronald Reagan and Mikhail Gorbachev's INF Treaty, The fall of the Berlin Wall.</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explain developments that eased tensions during the Cold War, including Nixon's détente, SALT Treaties, Reagan and Gorbachev's INF Treaty, and the fall of the Berlin Wall.</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179</a:t>
            </a:r>
            <a:endParaRPr lang="en-US" sz="9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US.70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US.69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Space Race, and what triggered it?</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US.69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climax of the American effort in the Space Race?</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180</a:t>
            </a:r>
            <a:endParaRPr lang="en-US" sz="9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US.70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barrier's 1989 fall symbolized the end of the Cold War?</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Berlin Wall.</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181</a:t>
            </a:r>
            <a:endParaRPr lang="en-US" sz="9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US.70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After decades of terror and confrontation, the Cold War thawed: leaders signed arms-control treaties, an American president stood at the Berlin Wall and demanded 'tear down this wall,' and in 1989 the wall, and soon the Soviet empire itself, came crashing down.</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How did a conflict that seemed permanent finally come to a peaceful end, and who, or what, brought down the Berlin Wall?</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182</a:t>
            </a:r>
            <a:endParaRPr lang="en-US" sz="9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Nixon's Détente Policy</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President Nixon pursued relaxed tensions through diplomatic engagement, cultural exchanges, and arms control negotiations with the Soviet Union.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policy, known as détente, resulted in the SALT I Treaty (1972) and improved U.S.-Soviet relations.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Nixon also opened relations with China, using triangular diplomacy to gain leverage over the Soviets.</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Cold War ended as ________ and ________, symbolized by the fall of ________.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183</a:t>
            </a:r>
            <a:endParaRPr lang="en-US" sz="9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SALT Treaties Significance</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Strategic Arms Limitation Treaties (SALT I &amp; II) represented the first successful nuclear arms control agreements.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They limited missile deployments and established verification procedures, demonstrating both nations' interest in avoiding nuclear war.</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While not reducing arsenals, they capped the arms race and created frameworks for future negotiations.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184</a:t>
            </a:r>
            <a:endParaRPr lang="en-US" sz="9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Reagan-Gorbachev Contributions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Despite initial tensions—Reagan called the USSR an "evil empire"—Reagan and Soviet leader Mikhail Gorbachev developed a personal relationship that led to the Intermediate-Range Nuclear Forces (INF) Treaty (1987).</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treaty eliminated an entire class of nuclear weapons and established precedent for nuclear reductions, not just limitations.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185</a:t>
            </a:r>
            <a:endParaRPr lang="en-US" sz="9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Fall of the Berlin Wall</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1989 wall's destruction symbolized communism's collapse and the Cold War's end.</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East German government's inability to maintain control demonstrated the Soviet system's fundamental weakness.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wall's fall marked the beginning of German reunification and the Soviet empire's dissolution, ending four decades of Cold War division.</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7-full/img/fall-of-berlin-wall-potsdamer-platz-1989.jpg">    </p:cNvPr>
          <p:cNvPicPr>
            <a:picLocks noChangeAspect="1"/>
          </p:cNvPicPr>
          <p:nvPr/>
        </p:nvPicPr>
        <p:blipFill>
          <a:blip r:embed="rId1"/>
          <a:stretch>
            <a:fillRect/>
          </a:stretch>
        </p:blipFill>
        <p:spPr>
          <a:xfrm>
            <a:off x="7589520" y="2184684"/>
            <a:ext cx="4069080" cy="2698944"/>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U.S. Dept. of Defense, November 1989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186</a:t>
            </a:r>
            <a:endParaRPr lang="en-US" sz="9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US.70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sp>
      <p:sp>
        <p:nvSpPr>
          <p:cNvPr id="6" name="Shape 4"/>
          <p:cNvSpPr/>
          <p:nvPr/>
        </p:nvSpPr>
        <p:spPr>
          <a:xfrm>
            <a:off x="548640" y="1627632"/>
            <a:ext cx="5394960" cy="868680"/>
          </a:xfrm>
          <a:prstGeom prst="rect">
            <a:avLst/>
          </a:prstGeom>
          <a:solidFill>
            <a:srgbClr val="1A2332"/>
          </a:solidFill>
          <a:ln/>
        </p:spPr>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Ronald Reagan</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40th President (1981-1989)</a:t>
            </a:r>
            <a:endParaRPr lang="en-US" sz="1100" dirty="0"/>
          </a:p>
        </p:txBody>
      </p:sp>
      <p:sp>
        <p:nvSpPr>
          <p:cNvPr id="9" name="Text 7"/>
          <p:cNvSpPr/>
          <p:nvPr/>
        </p:nvSpPr>
        <p:spPr>
          <a:xfrm>
            <a:off x="69494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Pressed the USSR with military buildup and firm rhetoric</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Demanded 'tear down this wall' at the Brandenburg Gate (1987)</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Negotiated arms cuts with Gorbachev as the Cold War thawed</a:t>
            </a:r>
            <a:endParaRPr lang="en-US" sz="1300" dirty="0"/>
          </a:p>
        </p:txBody>
      </p:sp>
      <p:sp>
        <p:nvSpPr>
          <p:cNvPr id="10" name="Shape 8"/>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Reagan at the Wall to mark the Cold War's turn toward its end.</a:t>
            </a:r>
            <a:endParaRPr lang="en-US" sz="800" dirty="0"/>
          </a:p>
        </p:txBody>
      </p:sp>
      <p:sp>
        <p:nvSpPr>
          <p:cNvPr id="12" name="Shape 10"/>
          <p:cNvSpPr/>
          <p:nvPr/>
        </p:nvSpPr>
        <p:spPr>
          <a:xfrm>
            <a:off x="6217920" y="1627632"/>
            <a:ext cx="5394960" cy="4114800"/>
          </a:xfrm>
          <a:prstGeom prst="rect">
            <a:avLst/>
          </a:prstGeom>
          <a:solidFill>
            <a:srgbClr val="FFFFFF"/>
          </a:solidFill>
          <a:ln w="12700">
            <a:solidFill>
              <a:srgbClr val="DAD3C2"/>
            </a:solidFill>
            <a:prstDash val="solid"/>
          </a:ln>
        </p:spPr>
      </p:sp>
      <p:sp>
        <p:nvSpPr>
          <p:cNvPr id="13" name="Shape 11"/>
          <p:cNvSpPr/>
          <p:nvPr/>
        </p:nvSpPr>
        <p:spPr>
          <a:xfrm>
            <a:off x="6217920" y="1627632"/>
            <a:ext cx="5394960" cy="868680"/>
          </a:xfrm>
          <a:prstGeom prst="rect">
            <a:avLst/>
          </a:prstGeom>
          <a:solidFill>
            <a:srgbClr val="1A2332"/>
          </a:solidFill>
          <a:ln/>
        </p:spPr>
      </p:sp>
      <p:sp>
        <p:nvSpPr>
          <p:cNvPr id="14" name="Text 12"/>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Richard Nixon</a:t>
            </a:r>
            <a:endParaRPr lang="en-US" sz="1800" dirty="0"/>
          </a:p>
        </p:txBody>
      </p:sp>
      <p:sp>
        <p:nvSpPr>
          <p:cNvPr id="15" name="Text 13"/>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37th President; architect of détente</a:t>
            </a:r>
            <a:endParaRPr lang="en-US" sz="1100" dirty="0"/>
          </a:p>
        </p:txBody>
      </p:sp>
      <p:sp>
        <p:nvSpPr>
          <p:cNvPr id="16" name="Text 14"/>
          <p:cNvSpPr/>
          <p:nvPr/>
        </p:nvSpPr>
        <p:spPr>
          <a:xfrm>
            <a:off x="636422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Opened relations with communist China in 1972</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Signed the SALT I arms-limitation treaty with the USSR</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Eased Cold War tensions through 'détente'</a:t>
            </a:r>
            <a:endParaRPr lang="en-US" sz="1300" dirty="0"/>
          </a:p>
        </p:txBody>
      </p:sp>
      <p:sp>
        <p:nvSpPr>
          <p:cNvPr id="17" name="Shape 15"/>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sp>
      <p:sp>
        <p:nvSpPr>
          <p:cNvPr id="18" name="Text 16"/>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Nixon's détente to show the Cold War could cool without ending.</a:t>
            </a:r>
            <a:endParaRPr lang="en-US" sz="800" dirty="0"/>
          </a:p>
        </p:txBody>
      </p:sp>
      <p:sp>
        <p:nvSpPr>
          <p:cNvPr id="19"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187</a:t>
            </a:r>
            <a:endParaRPr lang="en-US" sz="9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US.70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Remarks at the Brandenburg Gate</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Ronald Reagan  ·  June 12, 1987</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"General Secretary Gorbachev, if you seek peace, if you seek prosperity for the Soviet Union and Eastern Europe, if you seek liberalization: Come here to this gate! Mr. Gorbachev, open this gate! Mr. Gorbachev, tear down this wall!"</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Ronald Reagan's June 1987 speech at the Brandenburg Gate in West Berlin was a defining moment of the late Cold War. The Berlin Wall had divided the city since 1961, symbolizing the Iron Curtain separating Communist Eastern Europe from the democratic West. Reagan's call for Gorbachev to 'tear down this wall' came at a moment of Soviet reform under Gorbachev's glasnost and perestroika policies, signaling that Reagan believed fundamental change in the Soviet empire was possible.</a:t>
            </a:r>
            <a:endParaRPr lang="en-US" sz="9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challenge does Reagan issue to the Soviet leader?</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Ronald Reagan</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June 12, 1987</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Ronald Reagan Presidential Library</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188</a:t>
            </a:r>
            <a:endParaRPr lang="en-US" sz="9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US.70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Iron Curtain</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EYE-ern KUR-tun</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Cortina de Hierro</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IC</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Winston Churchill's metaphor for the political and military barrier dividing Soviet-controlled Eastern Europe from Western Europe after World War II.</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Containment Policy</a:t>
            </a:r>
            <a:endParaRPr lang="en-US" sz="13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Política de Contención</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8" name="Text 16"/>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CP</a:t>
            </a:r>
            <a:endParaRPr lang="en-US" sz="1300" dirty="0"/>
          </a:p>
        </p:txBody>
      </p:sp>
      <p:sp>
        <p:nvSpPr>
          <p:cNvPr id="19" name="Text 17"/>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U.S. foreign policy strategy developed by George Kennan in 1947 to prevent the spread of communism by supporting nations threatened by Soviet expansion, forming the basis of Cold War strategy.</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sp>
      <p:sp>
        <p:nvSpPr>
          <p:cNvPr id="21" name="Shape 19"/>
          <p:cNvSpPr/>
          <p:nvPr/>
        </p:nvSpPr>
        <p:spPr>
          <a:xfrm>
            <a:off x="548640" y="3072384"/>
            <a:ext cx="5486400" cy="676656"/>
          </a:xfrm>
          <a:prstGeom prst="rect">
            <a:avLst/>
          </a:prstGeom>
          <a:solidFill>
            <a:srgbClr val="1A2332"/>
          </a:solidFill>
          <a:ln/>
        </p:spPr>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Cold War</a:t>
            </a:r>
            <a:endParaRPr lang="en-US" sz="1350" dirty="0"/>
          </a:p>
        </p:txBody>
      </p:sp>
      <p:sp>
        <p:nvSpPr>
          <p:cNvPr id="23" name="Text 21"/>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kohld wor</a:t>
            </a:r>
            <a:endParaRPr lang="en-US" sz="8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Fría</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6" name="Text 24"/>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CW</a:t>
            </a:r>
            <a:endParaRPr lang="en-US" sz="1300" dirty="0"/>
          </a:p>
        </p:txBody>
      </p:sp>
      <p:sp>
        <p:nvSpPr>
          <p:cNvPr id="27" name="Text 25"/>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prolonged geopolitical, ideological, and military rivalry between the United States and the Soviet Union from 1945 to 1991, waged through alliances, proxy wars, and an arms race rather than direct combat.</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sp>
      <p:sp>
        <p:nvSpPr>
          <p:cNvPr id="29" name="Shape 27"/>
          <p:cNvSpPr/>
          <p:nvPr/>
        </p:nvSpPr>
        <p:spPr>
          <a:xfrm>
            <a:off x="6263640" y="3072384"/>
            <a:ext cx="5486400" cy="676656"/>
          </a:xfrm>
          <a:prstGeom prst="rect">
            <a:avLst/>
          </a:prstGeom>
          <a:solidFill>
            <a:srgbClr val="1A2332"/>
          </a:solidFill>
          <a:ln/>
        </p:spPr>
      </p:sp>
      <p:sp>
        <p:nvSpPr>
          <p:cNvPr id="30" name="Text 28"/>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Arms Race</a:t>
            </a:r>
            <a:endParaRPr lang="en-US" sz="1350" dirty="0"/>
          </a:p>
        </p:txBody>
      </p:sp>
      <p:sp>
        <p:nvSpPr>
          <p:cNvPr id="31" name="Text 29"/>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Carrera Armamentista</a:t>
            </a:r>
            <a:endParaRPr lang="en-US" sz="1000" dirty="0"/>
          </a:p>
        </p:txBody>
      </p:sp>
      <p:sp>
        <p:nvSpPr>
          <p:cNvPr id="32" name="Shape 30"/>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3" name="Text 31"/>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AR</a:t>
            </a:r>
            <a:endParaRPr lang="en-US" sz="1300" dirty="0"/>
          </a:p>
        </p:txBody>
      </p:sp>
      <p:sp>
        <p:nvSpPr>
          <p:cNvPr id="34" name="Text 32"/>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Cold War competition between the United States and Soviet Union to develop increasingly powerful nuclear weapons and delivery systems, with each side trying to achieve military superiority.</a:t>
            </a:r>
            <a:endParaRPr lang="en-US" sz="1100" dirty="0"/>
          </a:p>
        </p:txBody>
      </p:sp>
      <p:sp>
        <p:nvSpPr>
          <p:cNvPr id="35" name="Shape 33"/>
          <p:cNvSpPr/>
          <p:nvPr/>
        </p:nvSpPr>
        <p:spPr>
          <a:xfrm>
            <a:off x="548640" y="4498848"/>
            <a:ext cx="5486400" cy="1261872"/>
          </a:xfrm>
          <a:prstGeom prst="rect">
            <a:avLst/>
          </a:prstGeom>
          <a:solidFill>
            <a:srgbClr val="FFFFFF"/>
          </a:solidFill>
          <a:ln w="12700">
            <a:solidFill>
              <a:srgbClr val="DAD3C2"/>
            </a:solidFill>
            <a:prstDash val="solid"/>
          </a:ln>
        </p:spPr>
      </p:sp>
      <p:sp>
        <p:nvSpPr>
          <p:cNvPr id="36" name="Shape 34"/>
          <p:cNvSpPr/>
          <p:nvPr/>
        </p:nvSpPr>
        <p:spPr>
          <a:xfrm>
            <a:off x="548640" y="4498848"/>
            <a:ext cx="5486400" cy="676656"/>
          </a:xfrm>
          <a:prstGeom prst="rect">
            <a:avLst/>
          </a:prstGeom>
          <a:solidFill>
            <a:srgbClr val="1A2332"/>
          </a:solidFill>
          <a:ln/>
        </p:spPr>
      </p:sp>
      <p:sp>
        <p:nvSpPr>
          <p:cNvPr id="37" name="Text 35"/>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Communism</a:t>
            </a:r>
            <a:endParaRPr lang="en-US" sz="1350" dirty="0"/>
          </a:p>
        </p:txBody>
      </p:sp>
      <p:sp>
        <p:nvSpPr>
          <p:cNvPr id="38" name="Text 36"/>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KOM-yoo-niz-um</a:t>
            </a:r>
            <a:endParaRPr lang="en-US" sz="850" dirty="0"/>
          </a:p>
        </p:txBody>
      </p:sp>
      <p:sp>
        <p:nvSpPr>
          <p:cNvPr id="39" name="Text 37"/>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Comunismo</a:t>
            </a:r>
            <a:endParaRPr lang="en-US" sz="1000" dirty="0"/>
          </a:p>
        </p:txBody>
      </p:sp>
      <p:sp>
        <p:nvSpPr>
          <p:cNvPr id="40" name="Shape 38"/>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1" name="Text 39"/>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C</a:t>
            </a:r>
            <a:endParaRPr lang="en-US" sz="1500" dirty="0"/>
          </a:p>
        </p:txBody>
      </p:sp>
      <p:sp>
        <p:nvSpPr>
          <p:cNvPr id="42" name="Text 40"/>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political and economic system in which the government owns all property and means of production; practiced in the Soviet Union and opposed by the U.S.</a:t>
            </a:r>
            <a:endParaRPr lang="en-US" sz="1100" dirty="0"/>
          </a:p>
        </p:txBody>
      </p:sp>
      <p:sp>
        <p:nvSpPr>
          <p:cNvPr id="43" name="Shape 41"/>
          <p:cNvSpPr/>
          <p:nvPr/>
        </p:nvSpPr>
        <p:spPr>
          <a:xfrm>
            <a:off x="6263640" y="4498848"/>
            <a:ext cx="5486400" cy="1261872"/>
          </a:xfrm>
          <a:prstGeom prst="rect">
            <a:avLst/>
          </a:prstGeom>
          <a:solidFill>
            <a:srgbClr val="FFFFFF"/>
          </a:solidFill>
          <a:ln w="12700">
            <a:solidFill>
              <a:srgbClr val="DAD3C2"/>
            </a:solidFill>
            <a:prstDash val="solid"/>
          </a:ln>
        </p:spPr>
      </p:sp>
      <p:sp>
        <p:nvSpPr>
          <p:cNvPr id="44" name="Shape 42"/>
          <p:cNvSpPr/>
          <p:nvPr/>
        </p:nvSpPr>
        <p:spPr>
          <a:xfrm>
            <a:off x="6263640" y="4498848"/>
            <a:ext cx="5486400" cy="676656"/>
          </a:xfrm>
          <a:prstGeom prst="rect">
            <a:avLst/>
          </a:prstGeom>
          <a:solidFill>
            <a:srgbClr val="1A2332"/>
          </a:solidFill>
          <a:ln/>
        </p:spPr>
      </p:sp>
      <p:sp>
        <p:nvSpPr>
          <p:cNvPr id="45" name="Text 43"/>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NATO (North Atlantic Treaty Organization)</a:t>
            </a:r>
            <a:endParaRPr lang="en-US" sz="1350" dirty="0"/>
          </a:p>
        </p:txBody>
      </p:sp>
      <p:sp>
        <p:nvSpPr>
          <p:cNvPr id="46" name="Text 44"/>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OTAN (Organización del Tratado del Atlántico Norte)</a:t>
            </a:r>
            <a:endParaRPr lang="en-US" sz="1000" dirty="0"/>
          </a:p>
        </p:txBody>
      </p:sp>
      <p:sp>
        <p:nvSpPr>
          <p:cNvPr id="47" name="Shape 45"/>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48" name="Text 46"/>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N</a:t>
            </a:r>
            <a:endParaRPr lang="en-US" sz="1500" dirty="0"/>
          </a:p>
        </p:txBody>
      </p:sp>
      <p:sp>
        <p:nvSpPr>
          <p:cNvPr id="49" name="Text 47"/>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military alliance formed in 1949 by the United States, Canada, and Western European nations pledging mutual defense against Soviet aggression, embodying the principle that "an attack on one is an attack on all."</a:t>
            </a:r>
            <a:endParaRPr lang="en-US" sz="1100" dirty="0"/>
          </a:p>
        </p:txBody>
      </p:sp>
      <p:sp>
        <p:nvSpPr>
          <p:cNvPr id="50" name="Text 48"/>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1" name="Text 4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2" name="Text 5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189</a:t>
            </a:r>
            <a:endParaRPr lang="en-US" sz="9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US.70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Explain how a conflict ends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How did détente and 1989 bring the Cold War toward its end?</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Nixon's détente eased tensions through arms treaties and opening China; later, Reagan's pressure and Gorbachev's reforms led to the Berlin Wall's fall in 1989.</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List one step of détente and one sign of the Cold War ending.</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Explain which mattered more - easing tension or applying pressure - with evidence.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190</a:t>
            </a:r>
            <a:endParaRPr lang="en-US" sz="9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US.70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Thawing the Cold War — Détente to the Fall of the Wall</a:t>
            </a:r>
            <a:endParaRPr lang="en-US" sz="24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Read President Reagan's Remarks at the Brandenburg Gate and use your notes to build a timeline of four developments that eased and then ended Cold War tensions: NIXON's DÉTENTE, the SALT TREATIES, the REAGAN-GORBACHEV relationship, and the FALL OF THE BERLIN WALL (1989). For each, write one sentence on what it did to reduce tension. Finish with a one-sentence claim, backed by evidence, on what mattered most in bringing the Cold War to a peaceful end.</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250" dirty="0">
                <a:solidFill>
                  <a:srgbClr val="FFFFFF"/>
                </a:solidFill>
                <a:latin typeface="Calibri" pitchFamily="34" charset="0"/>
                <a:ea typeface="Calibri" pitchFamily="34" charset="-122"/>
                <a:cs typeface="Calibri" pitchFamily="34" charset="-120"/>
              </a:rPr>
              <a:t>Completed four-step timeline (how it eased tension each) AND a one-sentence evidence-based claim about what ended the Cold War.</a:t>
            </a:r>
            <a:endParaRPr lang="en-US" sz="12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Timeline with the four developments pre-placed and a word bank of descriptions to match. Honors: Write a paragraph using Reagan's 'Tear down this wall' speech to argue how words and diplomacy, not just military strength, helped end the Cold War.</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cornell-notes/unit-7/us70-detente-fall-of-berlin-wall.pdf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191</a:t>
            </a:r>
            <a:endParaRPr lang="en-US" sz="9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US.70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The fall of the Berlin Wall in November 1989 is often presented as a sudden and unpredictable event. Which UNDERLYING CONDITION most enabled the Wall's fall?</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Reagan's 'tear down this wall' speech in 1987 directly inspired East German citizens to organize the mass protests that forced the East German government to open the border.</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Wall fell primarily because East German border guards independently decided to allow citizens to cross, acting against the East German government's explicit orders.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Gorbachev's specific decision to allow Eastern Bloc nations to choose their own political systems was the singular cause that made the Wall's fall both possible and inevitable.</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Soviet command economy's chronic underperformance made maintaining Eastern Bloc subsidies unaffordable, creating structural conditions that Gorbachev's reforms and the 1989 protests triggered into collapse.</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192</a:t>
            </a:r>
            <a:endParaRPr lang="en-US" sz="9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US.70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The fall of the Berlin Wall in November 1989 is often presented as a sudden and unpredictable event. Which UNDERLYING CONDITION most enabled the Wall's fall?</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Reagan's 'tear down this wall' speech in 1987 directly inspired East German citizens to organize the mass protests that forced the East German government to open the border.</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Wall fell primarily because East German border guards independently decided to allow citizens to cross, acting against the East German government's explicit orders.</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Gorbachev's specific decision to allow Eastern Bloc nations to choose their own political systems was the singular cause that made the Wall's fall both possible and inevitable.</a:t>
            </a:r>
            <a:endParaRPr lang="en-US" sz="1300" dirty="0"/>
          </a:p>
        </p:txBody>
      </p:sp>
      <p:sp>
        <p:nvSpPr>
          <p:cNvPr id="21" name="Shape 19"/>
          <p:cNvSpPr/>
          <p:nvPr/>
        </p:nvSpPr>
        <p:spPr>
          <a:xfrm>
            <a:off x="548640" y="4626864"/>
            <a:ext cx="11064240" cy="566928"/>
          </a:xfrm>
          <a:prstGeom prst="roundRect">
            <a:avLst>
              <a:gd name="adj" fmla="val 9677"/>
            </a:avLst>
          </a:prstGeom>
          <a:solidFill>
            <a:srgbClr val="C9A84C"/>
          </a:solidFill>
          <a:ln w="12700">
            <a:solidFill>
              <a:srgbClr val="F9A825"/>
            </a:solidFill>
            <a:prstDash val="solid"/>
          </a:ln>
        </p:spPr>
      </p:sp>
      <p:sp>
        <p:nvSpPr>
          <p:cNvPr id="22" name="Shape 20"/>
          <p:cNvSpPr/>
          <p:nvPr/>
        </p:nvSpPr>
        <p:spPr>
          <a:xfrm>
            <a:off x="713232" y="4736592"/>
            <a:ext cx="347472" cy="347472"/>
          </a:xfrm>
          <a:prstGeom prst="ellipse">
            <a:avLst/>
          </a:prstGeom>
          <a:solidFill>
            <a:srgbClr val="1A2332"/>
          </a:solidFill>
          <a:ln/>
        </p:spPr>
      </p:sp>
      <p:sp>
        <p:nvSpPr>
          <p:cNvPr id="23" name="Text 21"/>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D</a:t>
            </a:r>
            <a:endParaRPr lang="en-US" sz="1300" dirty="0"/>
          </a:p>
        </p:txBody>
      </p:sp>
      <p:sp>
        <p:nvSpPr>
          <p:cNvPr id="24" name="Text 22"/>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The Soviet command economy's chronic underperformance made maintaining Eastern Bloc subsidies unaffordable, creating structural conditions that Gorbachev's reforms and the 1989 protests triggered into collapse.</a:t>
            </a:r>
            <a:endParaRPr lang="en-US" sz="1300" dirty="0"/>
          </a:p>
        </p:txBody>
      </p:sp>
      <p:sp>
        <p:nvSpPr>
          <p:cNvPr id="25" name="Text 23"/>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Berlin Wall's fall was not simply the result of a spontaneous protest or even Gorbachev's reforms in isolation—it was enabled by the decades-long economic underperformance of the Soviet command economy, which made maintaining an extensive Eastern European empire increasingly untenable. By the…</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193</a:t>
            </a:r>
            <a:endParaRPr lang="en-US" sz="9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US.70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Nixon's Détente Policy</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SALT Treaties Significance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Reagan-Gorbachev Contributions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Fall of the Berlin Wall</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Evaluate: Who deserves the most credit for ending the Cold War, Reagan, Gorbachev, or larger forces beyond any leader? Defend your claim with at least two pieces of evidence.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Analyze how the Cold War came to an end. What role did détente, arms-control treaties, and leaders like Reagan and Gorbachev play?</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194</a:t>
            </a:r>
            <a:endParaRPr lang="en-US" sz="9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Shape 1"/>
          <p:cNvSpPr/>
          <p:nvPr/>
        </p:nvSpPr>
        <p:spPr>
          <a:xfrm>
            <a:off x="0" y="6711696"/>
            <a:ext cx="12191695" cy="146304"/>
          </a:xfrm>
          <a:prstGeom prst="rect">
            <a:avLst/>
          </a:prstGeom>
          <a:solidFill>
            <a:srgbClr val="C62828"/>
          </a:solidFill>
          <a:ln/>
        </p:spPr>
        <p:txBody>
          <a:bodyPr/>
          <a:p/>
        </p:txBody>
      </p:sp>
      <p:sp>
        <p:nvSpPr>
          <p:cNvPr id="4" name="Text 2"/>
          <p:cNvSpPr/>
          <p:nvPr/>
        </p:nvSpPr>
        <p:spPr>
          <a:xfrm>
            <a:off x="822960" y="1463040"/>
            <a:ext cx="10515600" cy="91440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Unit 7 Complete</a:t>
            </a:r>
            <a:endParaRPr lang="en-US" sz="4800" dirty="0"/>
          </a:p>
        </p:txBody>
      </p:sp>
      <p:sp>
        <p:nvSpPr>
          <p:cNvPr id="5" name="Text 3"/>
          <p:cNvSpPr/>
          <p:nvPr/>
        </p:nvSpPr>
        <p:spPr>
          <a:xfrm>
            <a:off x="822960" y="2560320"/>
            <a:ext cx="10515600" cy="1005840"/>
          </a:xfrm>
          <a:prstGeom prst="rect">
            <a:avLst/>
          </a:prstGeom>
          <a:noFill/>
          <a:ln/>
        </p:spPr>
        <p:txBody>
          <a:bodyPr wrap="square" rtlCol="0" anchor="ctr"/>
          <a:lstStyle/>
          <a:p>
            <a:pPr indent="0" marL="0">
              <a:lnSpc>
                <a:spcPct val="110000"/>
              </a:lnSpc>
              <a:buNone/>
            </a:pPr>
            <a:r>
              <a:rPr lang="en-US" sz="2100" i="1" dirty="0">
                <a:solidFill>
                  <a:srgbClr val="F9A825"/>
                </a:solidFill>
                <a:latin typeface="Georgia" pitchFamily="34" charset="0"/>
                <a:ea typeface="Georgia" pitchFamily="34" charset="-122"/>
                <a:cs typeface="Georgia" pitchFamily="34" charset="-120"/>
              </a:rPr>
              <a:t>The Cold War &amp; Postwar America (1945–1991) · from superpower rivalry, containment, and the Red Scare, through Korea, Cuba, and Vietnam, to nuclear fear, the Space Race, détente, and the fall of the Berlin Wall.</a:t>
            </a:r>
            <a:endParaRPr lang="en-US" sz="2100" dirty="0"/>
          </a:p>
        </p:txBody>
      </p:sp>
      <p:sp>
        <p:nvSpPr>
          <p:cNvPr id="6" name="Text 4"/>
          <p:cNvSpPr/>
          <p:nvPr/>
        </p:nvSpPr>
        <p:spPr>
          <a:xfrm>
            <a:off x="822960" y="3566160"/>
            <a:ext cx="10515600" cy="1097280"/>
          </a:xfrm>
          <a:prstGeom prst="rect">
            <a:avLst/>
          </a:prstGeom>
          <a:noFill/>
          <a:ln/>
        </p:spPr>
        <p:txBody>
          <a:bodyPr wrap="square" rtlCol="0" anchor="t"/>
          <a:lstStyle/>
          <a:p>
            <a:pPr indent="0" marL="0">
              <a:lnSpc>
                <a:spcPct val="115000"/>
              </a:lnSpc>
              <a:buNone/>
            </a:pPr>
            <a:r>
              <a:rPr lang="en-US" sz="1600" b="1" dirty="0">
                <a:solidFill>
                  <a:srgbClr val="FFFFFF"/>
                </a:solidFill>
                <a:latin typeface="Calibri" pitchFamily="34" charset="0"/>
                <a:ea typeface="Calibri" pitchFamily="34" charset="-122"/>
                <a:cs typeface="Calibri" pitchFamily="34" charset="-120"/>
              </a:rPr>
              <a:t>Revisit your unit hook: </a:t>
            </a:r>
            <a:pPr indent="0" marL="0">
              <a:lnSpc>
                <a:spcPct val="115000"/>
              </a:lnSpc>
              <a:buNone/>
            </a:pPr>
            <a:r>
              <a:rPr lang="en-US" sz="1600" dirty="0">
                <a:solidFill>
                  <a:srgbClr val="C7D4E0"/>
                </a:solidFill>
                <a:latin typeface="Calibri" pitchFamily="34" charset="0"/>
                <a:ea typeface="Calibri" pitchFamily="34" charset="-122"/>
                <a:cs typeface="Calibri" pitchFamily="34" charset="-120"/>
              </a:rPr>
              <a:t>How could two nations wage a decades-long "war" without ever meeting on the battlefield, and how did it finally end? You can now answer with evidence — from NATO, the Truman Doctrine, and the Berlin Airlift, through McCarthyism, Korea, and the Cuban Missile Crisis, to Vietnam, the anti-war movement, the Space Race, and Reagan, Gorbachev, and the fall of the Wall.</a:t>
            </a:r>
            <a:endParaRPr lang="en-US" sz="1600" dirty="0"/>
          </a:p>
        </p:txBody>
      </p:sp>
      <p:sp>
        <p:nvSpPr>
          <p:cNvPr id="7" name="Text 5"/>
          <p:cNvSpPr/>
          <p:nvPr/>
        </p:nvSpPr>
        <p:spPr>
          <a:xfrm>
            <a:off x="822960" y="4937760"/>
            <a:ext cx="10515600" cy="457200"/>
          </a:xfrm>
          <a:prstGeom prst="rect">
            <a:avLst/>
          </a:prstGeom>
          <a:noFill/>
          <a:ln/>
        </p:spPr>
        <p:txBody>
          <a:bodyPr wrap="square" rtlCol="0" anchor="ctr"/>
          <a:lstStyle/>
          <a:p>
            <a:pPr indent="0" marL="0">
              <a:buNone/>
            </a:pPr>
            <a:r>
              <a:rPr lang="en-US" sz="1400" b="1" spc="100" kern="0" dirty="0">
                <a:solidFill>
                  <a:srgbClr val="F9A825"/>
                </a:solidFill>
                <a:latin typeface="Trebuchet MS" pitchFamily="34" charset="0"/>
                <a:ea typeface="Trebuchet MS" pitchFamily="34" charset="-122"/>
                <a:cs typeface="Trebuchet MS" pitchFamily="34" charset="-120"/>
              </a:rPr>
              <a:t>Next: Unit 8 — Postwar Prosperity &amp; 1950s America</a:t>
            </a:r>
            <a:endParaRPr lang="en-US" sz="1400" dirty="0"/>
          </a:p>
        </p:txBody>
      </p:sp>
      <p:sp>
        <p:nvSpPr>
          <p:cNvPr id="8" name="Text 6"/>
          <p:cNvSpPr/>
          <p:nvPr/>
        </p:nvSpPr>
        <p:spPr>
          <a:xfrm>
            <a:off x="822960" y="5943600"/>
            <a:ext cx="10607040" cy="457200"/>
          </a:xfrm>
          <a:prstGeom prst="rect">
            <a:avLst/>
          </a:prstGeom>
          <a:noFill/>
          <a:ln/>
        </p:spPr>
        <p:txBody>
          <a:bodyPr wrap="square" rtlCol="0" anchor="ctr"/>
          <a:lstStyle/>
          <a:p>
            <a:pPr indent="0" marL="0">
              <a:buNone/>
            </a:pPr>
            <a:r>
              <a:rPr lang="en-US" sz="1000" dirty="0">
                <a:solidFill>
                  <a:srgbClr val="5C6470"/>
                </a:solidFill>
                <a:latin typeface="Calibri" pitchFamily="34" charset="0"/>
                <a:ea typeface="Calibri" pitchFamily="34" charset="-122"/>
                <a:cs typeface="Calibri" pitchFamily="34" charset="-120"/>
              </a:rPr>
              <a:t>U.S. History Hack  ·  TroopToTeacher Technologies LLC  ·  All primary sources verified against National Archives, Library of Congress, and U.S. Senate records. All images public domain.</a:t>
            </a:r>
            <a:endParaRPr lang="en-US" sz="1000" dirty="0"/>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502920"/>
            <a:ext cx="111556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How This Deck Works — UDL 3.0 &amp; MTSS</a:t>
            </a:r>
            <a:endParaRPr lang="en-US" sz="3200" dirty="0"/>
          </a:p>
        </p:txBody>
      </p:sp>
      <p:sp>
        <p:nvSpPr>
          <p:cNvPr id="3" name="Text 1"/>
          <p:cNvSpPr/>
          <p:nvPr/>
        </p:nvSpPr>
        <p:spPr>
          <a:xfrm>
            <a:off x="566928" y="1115568"/>
            <a:ext cx="10972800" cy="320040"/>
          </a:xfrm>
          <a:prstGeom prst="rect">
            <a:avLst/>
          </a:prstGeom>
          <a:noFill/>
          <a:ln/>
        </p:spPr>
        <p:txBody>
          <a:bodyPr wrap="square" lIns="0" tIns="0" rIns="0" bIns="0" rtlCol="0" anchor="ctr"/>
          <a:lstStyle/>
          <a:p>
            <a:pPr indent="0" marL="0">
              <a:buNone/>
            </a:pPr>
            <a:r>
              <a:rPr lang="en-US" sz="1400" i="1" dirty="0">
                <a:solidFill>
                  <a:srgbClr val="C89B3C"/>
                </a:solidFill>
                <a:latin typeface="Arial" pitchFamily="34" charset="0"/>
                <a:ea typeface="Arial" pitchFamily="34" charset="-122"/>
                <a:cs typeface="Arial" pitchFamily="34" charset="-120"/>
              </a:rPr>
              <a:t>Teacher reference · CAST UDL 3.0 guidelines designed into every standard</a:t>
            </a:r>
            <a:endParaRPr lang="en-US" sz="1400" dirty="0"/>
          </a:p>
        </p:txBody>
      </p:sp>
      <p:sp>
        <p:nvSpPr>
          <p:cNvPr id="4" name="Shape 2"/>
          <p:cNvSpPr/>
          <p:nvPr/>
        </p:nvSpPr>
        <p:spPr>
          <a:xfrm>
            <a:off x="548640" y="1600200"/>
            <a:ext cx="3566160" cy="3246120"/>
          </a:xfrm>
          <a:prstGeom prst="rect">
            <a:avLst/>
          </a:prstGeom>
          <a:solidFill>
            <a:srgbClr val="1E2C4C"/>
          </a:solidFill>
          <a:ln w="12700">
            <a:solidFill>
              <a:srgbClr val="C89B3C"/>
            </a:solidFill>
            <a:prstDash val="solid"/>
          </a:ln>
        </p:spPr>
      </p:sp>
      <p:sp>
        <p:nvSpPr>
          <p:cNvPr id="5" name="Text 3"/>
          <p:cNvSpPr/>
          <p:nvPr/>
        </p:nvSpPr>
        <p:spPr>
          <a:xfrm>
            <a:off x="777240"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ENGAGEMENT</a:t>
            </a:r>
            <a:endParaRPr lang="en-US" sz="1400" dirty="0"/>
          </a:p>
        </p:txBody>
      </p:sp>
      <p:sp>
        <p:nvSpPr>
          <p:cNvPr id="6" name="Text 4"/>
          <p:cNvSpPr/>
          <p:nvPr/>
        </p:nvSpPr>
        <p:spPr>
          <a:xfrm>
            <a:off x="777240"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“why”</a:t>
            </a:r>
            <a:endParaRPr lang="en-US" sz="1100" dirty="0"/>
          </a:p>
        </p:txBody>
      </p:sp>
      <p:sp>
        <p:nvSpPr>
          <p:cNvPr id="7" name="Text 5"/>
          <p:cNvSpPr/>
          <p:nvPr/>
        </p:nvSpPr>
        <p:spPr>
          <a:xfrm>
            <a:off x="777240"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Welcoming Interests &amp; Identities</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Sustaining Effort &amp; Persistence</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Emotional Capacity</a:t>
            </a:r>
            <a:endParaRPr lang="en-US" sz="1300" dirty="0"/>
          </a:p>
        </p:txBody>
      </p:sp>
      <p:sp>
        <p:nvSpPr>
          <p:cNvPr id="8" name="Shape 6"/>
          <p:cNvSpPr/>
          <p:nvPr/>
        </p:nvSpPr>
        <p:spPr>
          <a:xfrm>
            <a:off x="4315968" y="1600200"/>
            <a:ext cx="3566160" cy="3246120"/>
          </a:xfrm>
          <a:prstGeom prst="rect">
            <a:avLst/>
          </a:prstGeom>
          <a:solidFill>
            <a:srgbClr val="1E2C4C"/>
          </a:solidFill>
          <a:ln w="12700">
            <a:solidFill>
              <a:srgbClr val="C89B3C"/>
            </a:solidFill>
            <a:prstDash val="solid"/>
          </a:ln>
        </p:spPr>
      </p:sp>
      <p:sp>
        <p:nvSpPr>
          <p:cNvPr id="9" name="Text 7"/>
          <p:cNvSpPr/>
          <p:nvPr/>
        </p:nvSpPr>
        <p:spPr>
          <a:xfrm>
            <a:off x="4544568"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REPRESENTATION</a:t>
            </a:r>
            <a:endParaRPr lang="en-US" sz="1400" dirty="0"/>
          </a:p>
        </p:txBody>
      </p:sp>
      <p:sp>
        <p:nvSpPr>
          <p:cNvPr id="10" name="Text 8"/>
          <p:cNvSpPr/>
          <p:nvPr/>
        </p:nvSpPr>
        <p:spPr>
          <a:xfrm>
            <a:off x="4544568"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“what”</a:t>
            </a:r>
            <a:endParaRPr lang="en-US" sz="1100" dirty="0"/>
          </a:p>
        </p:txBody>
      </p:sp>
      <p:sp>
        <p:nvSpPr>
          <p:cNvPr id="11" name="Text 9"/>
          <p:cNvSpPr/>
          <p:nvPr/>
        </p:nvSpPr>
        <p:spPr>
          <a:xfrm>
            <a:off x="4544568"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Perception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Language &amp; Symbols</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Building Knowledge</a:t>
            </a:r>
            <a:endParaRPr lang="en-US" sz="1300" dirty="0"/>
          </a:p>
        </p:txBody>
      </p:sp>
      <p:sp>
        <p:nvSpPr>
          <p:cNvPr id="12" name="Shape 10"/>
          <p:cNvSpPr/>
          <p:nvPr/>
        </p:nvSpPr>
        <p:spPr>
          <a:xfrm>
            <a:off x="8083296" y="1600200"/>
            <a:ext cx="3566160" cy="3246120"/>
          </a:xfrm>
          <a:prstGeom prst="rect">
            <a:avLst/>
          </a:prstGeom>
          <a:solidFill>
            <a:srgbClr val="1E2C4C"/>
          </a:solidFill>
          <a:ln w="12700">
            <a:solidFill>
              <a:srgbClr val="C89B3C"/>
            </a:solidFill>
            <a:prstDash val="solid"/>
          </a:ln>
        </p:spPr>
      </p:sp>
      <p:sp>
        <p:nvSpPr>
          <p:cNvPr id="13" name="Text 11"/>
          <p:cNvSpPr/>
          <p:nvPr/>
        </p:nvSpPr>
        <p:spPr>
          <a:xfrm>
            <a:off x="8311896"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ACTION &amp; EXPRESSION</a:t>
            </a:r>
            <a:endParaRPr lang="en-US" sz="1400" dirty="0"/>
          </a:p>
        </p:txBody>
      </p:sp>
      <p:sp>
        <p:nvSpPr>
          <p:cNvPr id="14" name="Text 12"/>
          <p:cNvSpPr/>
          <p:nvPr/>
        </p:nvSpPr>
        <p:spPr>
          <a:xfrm>
            <a:off x="8311896"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“how”</a:t>
            </a:r>
            <a:endParaRPr lang="en-US" sz="1100" dirty="0"/>
          </a:p>
        </p:txBody>
      </p:sp>
      <p:sp>
        <p:nvSpPr>
          <p:cNvPr id="15" name="Text 13"/>
          <p:cNvSpPr/>
          <p:nvPr/>
        </p:nvSpPr>
        <p:spPr>
          <a:xfrm>
            <a:off x="8311896"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Interaction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Expression &amp; Communication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Strategy Development</a:t>
            </a:r>
            <a:endParaRPr lang="en-US" sz="1300" dirty="0"/>
          </a:p>
        </p:txBody>
      </p:sp>
      <p:sp>
        <p:nvSpPr>
          <p:cNvPr id="16" name="Text 14"/>
          <p:cNvSpPr/>
          <p:nvPr/>
        </p:nvSpPr>
        <p:spPr>
          <a:xfrm>
            <a:off x="8522208" y="1170432"/>
            <a:ext cx="3108960" cy="274320"/>
          </a:xfrm>
          <a:prstGeom prst="rect">
            <a:avLst/>
          </a:prstGeom>
          <a:solidFill>
            <a:srgbClr val="B22234"/>
          </a:solidFill>
          <a:ln/>
        </p:spPr>
        <p:txBody>
          <a:bodyPr wrap="square" lIns="25400" tIns="25400" rIns="25400" bIns="254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EVERY LEARNER  ·  SAME FIRM GOAL</a:t>
            </a:r>
            <a:endParaRPr lang="en-US" sz="1050" dirty="0"/>
          </a:p>
        </p:txBody>
      </p:sp>
      <p:sp>
        <p:nvSpPr>
          <p:cNvPr id="17" name="Shape 15"/>
          <p:cNvSpPr/>
          <p:nvPr/>
        </p:nvSpPr>
        <p:spPr>
          <a:xfrm>
            <a:off x="548640" y="5074920"/>
            <a:ext cx="11091672" cy="960120"/>
          </a:xfrm>
          <a:prstGeom prst="rect">
            <a:avLst/>
          </a:prstGeom>
          <a:solidFill>
            <a:srgbClr val="24345A"/>
          </a:solidFill>
          <a:ln w="19050">
            <a:solidFill>
              <a:srgbClr val="B22234"/>
            </a:solidFill>
            <a:prstDash val="solid"/>
          </a:ln>
        </p:spPr>
      </p:sp>
      <p:sp>
        <p:nvSpPr>
          <p:cNvPr id="18" name="Text 16"/>
          <p:cNvSpPr/>
          <p:nvPr/>
        </p:nvSpPr>
        <p:spPr>
          <a:xfrm>
            <a:off x="777240" y="5120640"/>
            <a:ext cx="10607040" cy="868680"/>
          </a:xfrm>
          <a:prstGeom prst="rect">
            <a:avLst/>
          </a:prstGeom>
          <a:noFill/>
          <a:ln/>
        </p:spPr>
        <p:txBody>
          <a:bodyPr wrap="square" lIns="0" tIns="0" rIns="0" bIns="0" rtlCol="0" anchor="ctr"/>
          <a:lstStyle/>
          <a:p>
            <a:pPr indent="0" marL="0">
              <a:lnSpc>
                <a:spcPct val="105000"/>
              </a:lnSpc>
              <a:buNone/>
            </a:pPr>
            <a:r>
              <a:rPr lang="en-US" sz="1350" b="1" dirty="0">
                <a:solidFill>
                  <a:srgbClr val="C89B3C"/>
                </a:solidFill>
                <a:latin typeface="Arial" pitchFamily="34" charset="0"/>
                <a:ea typeface="Arial" pitchFamily="34" charset="-122"/>
                <a:cs typeface="Arial" pitchFamily="34" charset="-120"/>
              </a:rPr>
              <a:t>MTSS decision cycle:  </a:t>
            </a:r>
            <a:pPr indent="0" marL="0">
              <a:lnSpc>
                <a:spcPct val="105000"/>
              </a:lnSpc>
              <a:buNone/>
            </a:pPr>
            <a:r>
              <a:rPr lang="en-US" sz="1350" dirty="0">
                <a:solidFill>
                  <a:srgbClr val="FFFFFF"/>
                </a:solidFill>
                <a:latin typeface="Arial" pitchFamily="34" charset="0"/>
                <a:ea typeface="Arial" pitchFamily="34" charset="-122"/>
                <a:cs typeface="Arial" pitchFamily="34" charset="-120"/>
              </a:rPr>
              <a:t>Tier 1 core for all → the Progress Check yields evidence → below mastery routes to targeted reteach (Tier 2, Teacher Guide §16); at/above mastery routes to extension. </a:t>
            </a:r>
            <a:pPr indent="0" marL="0">
              <a:lnSpc>
                <a:spcPct val="105000"/>
              </a:lnSpc>
              <a:buNone/>
            </a:pPr>
            <a:r>
              <a:rPr lang="en-US" sz="1350" b="1" dirty="0">
                <a:solidFill>
                  <a:srgbClr val="FF6B7A"/>
                </a:solidFill>
                <a:latin typeface="Arial" pitchFamily="34" charset="0"/>
                <a:ea typeface="Arial" pitchFamily="34" charset="-122"/>
                <a:cs typeface="Arial" pitchFamily="34" charset="-120"/>
              </a:rPr>
              <a:t>The goal never lowers.</a:t>
            </a:r>
            <a:endParaRPr lang="en-US" sz="1350" dirty="0"/>
          </a:p>
        </p:txBody>
      </p:sp>
      <p:sp>
        <p:nvSpPr>
          <p:cNvPr id="19" name="Text 17"/>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20" name="Text 18"/>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Cold War</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Fría</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prolonged geopolitical, ideological, and military rivalry between the United States and the Soviet Union from 1945 to 1991, waged through alliances, proxy wars, and an arms race rather than direct combat.</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Superpower</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Superpotencia</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nation with overwhelming military, economic, and political power capable of projecting force globally; during the Cold War, only the United States and Soviet Union qualified as superpowers.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Capitalism</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Capitalismo</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An economic system based on private ownership, free markets, and competition, where individuals and businesses operate for profit, championed by the United States as superior to Soviet communism.</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Containment Policy</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Política de Contención</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U.S. foreign policy strategy developed by George Kennan in 1947 to prevent the spread of communism by supporting nations threatened by Soviet expansion, forming the basis of Cold War strategy.</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Truman Doctrine</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Doctrina Truman</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President Truman's 1947 policy pledging U.S. support for nations threatened by Soviet communism, beginning with military and economic aid to Greece and Turkey, marking America's commitment to containing communist…</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Marshall Plan</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Plan Marshall</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massive U.S. program providing over $13 billion in economic aid to rebuild Western European economies after World War II (1948-1952), designed to prevent communist expansion by fostering prosperity and…</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McCarthyism</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Macartismo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practice of making accusations of subversion or treason without proper evidence, named after Senator Joseph McCarthy who led aggressive investigations of suspected communists in the 1950s.</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Second Red Scare</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Segundo Miedo Rojo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period of intense fear and persecution of suspected communists in America during the late 1940s and 1950s, driven by Cold War tensions and events like the Soviet atomic bomb and Korean War.</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Blacklisting</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Listas Negras</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practice of denying employment to people suspected of communist sympathies or refusing to cooperate with anti-communist investigations, particularly prevalent in the entertainment industry.</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Korean War</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de Corea</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1950-1953 conflict in which communist North Korea (backed by China and the Soviet Union) invaded South Korea, prompting U.S.-led UN intervention in the first major "hot war" of the Cold War era.</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Containment Policy</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Política de Contención</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U.S. foreign policy strategy developed by George Kennan in 1947 to prevent the spread of communism by supporting nations threatened by Soviet expansion, forming the basis of Cold War strategy.</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Domino Theory</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Teoría del Dominó</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Cold War belief that if one country fell to communism, neighboring countries would also fall like a row of dominoes, justifying U.S. intervention to prevent communist expansion anywhere in the world.</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Brinkmanship</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Política al Borde del Abismo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Cold War diplomatic strategy of pushing dangerous situations to the edge of war to force the other side to back down, associated with Secretary of State John Foster Dulles in the 1950s.</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Domino Theory</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Teoría del Dominó</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Cold War belief that if one country fell to communism, neighboring countries would also fall like a row of dominoes, justifying U.S. intervention to prevent communist expansion anywhere in the world.</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Eisenhower Doctrine</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Doctrina Eisenhower</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President Eisenhower's 1957 policy pledging U.S. military and economic aid to Middle Eastern countries resisting communist aggression, extending containment policy to protect oil supplies and strategic interests.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Nuclear Fears</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Miedos Nucleares</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widespread anxiety in 1950s America about nuclear war with the Soviet Union, driven by atomic bomb tests, the arms race, and fear of sudden nuclear annihilation.</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Fallout Shelters</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Refugios Antibombas</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Underground or reinforced structures designed to protect people from radioactive fallout after a nuclear explosion, widely promoted and built during the 1950s as Cold War tensions escalated.</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Mutual Assured Destruction (MAD)</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Destrucción Mutua Asegurada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Cold War doctrine that nuclear war between the U.S. and Soviet Union would result in complete annihilation of both sides, theoretically preventing either from starting a war.</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Cuban Missile Crisis</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Cuban Missile Crisis</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thirteen-day 1962 confrontation between the United States and the Soviet Union over Soviet nuclear missiles installed in Cuba, widely regarded as the closest the Cold War came to full-scale nuclear war.</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Brinkmanship</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Política al Borde del Abismo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Cold War diplomatic strategy of pushing dangerous situations to the edge of war to force the other side to back down, associated with Secretary of State John Foster Dulles in the 1950s.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Mutual Assured Destruction (MAD)</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Destrucción Mutua Asegurada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Cold War doctrine that nuclear war between the U.S. and Soviet Union would result in complete annihilation of both sides, theoretically preventing either from starting a war.</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16</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Korean War</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de Corea</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1950-1953 conflict in which communist North Korea (backed by China and the Soviet Union) invaded South Korea, prompting U.S.-led UN intervention in the first major "hot war" of the Cold War era.</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Domino Theory</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Teoría del Dominó</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Cold War belief that if one country fell to communism, neighboring countries would also fall like a row of dominoes, justifying U.S. intervention to prevent communist expansion anywhere in the world.</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Containment Policy</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Política de Contención</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U.S. foreign policy strategy developed by George Kennan in 1947 to prevent the spread of communism by supporting nations threatened by Soviet expansion, forming the basis of Cold War strategy.</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18</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Domino Theory</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Teoría del Dominó</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Cold War belief that if one country fell to communism, neighboring countries would also fall like a row of dominoes, justifying U.S. intervention to prevent communist expansion anywhere in the world.</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Containment Policy</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Política de Contención</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U.S. foreign policy strategy developed by George Kennan in 1947 to prevent the spread of communism by supporting nations threatened by Soviet expansion, forming the basis of Cold War strategy.</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Cold War</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Fría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prolonged geopolitical, ideological, and military rivalry between the United States and the Soviet Union from 1945 to 1991, waged through alliances, proxy wars, and an arms race rather than direct combat.</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20</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Youth Culture</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Cultura Juvenil</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distinct set of tastes, music, fashion, and attitudes that emerged among American teenagers in the 1950s and 1960s, marking youth as a powerful new social and economic force.</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Rock 'n' Roll</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Rock 'n' Roll</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revolutionary music genre that emerged in the 1950s, blending rhythm and blues with country music, challenging racial barriers and traditional values while becoming the soundtrack of youth rebellion.</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Elvis Presley</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Elvis Presley</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Tennessee-born musician who became the "King of Rock 'n' Roll" in the 1950s, bringing Black rhythm and blues to white mainstream audiences and revolutionizing popular music and youth culture.</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Space Race</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Carrera Espacial</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Cold War competition between the United States and Soviet Union for supremacy in space exploration, driven by national pride, technological advancement, and military implications of rocket technology.</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Sputnik</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Sputnik</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world's first artificial satellite, launched by the Soviet Union on October 4, 1957, shocking Americans and triggering fears about Soviet technological superiority and the "missile gap."</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Arms Race</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Carrera Armamentista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Cold War competition between the United States and Soviet Union to develop increasingly powerful nuclear weapons and delivery systems, with each side trying to achieve military superiority.</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Iron Curtain</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Cortina de Hierro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Winston Churchill's metaphor for the political and military barrier dividing Soviet-controlled Eastern Europe from Western Europe after World War II.</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Containment Policy</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Política de Contención</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U.S. foreign policy strategy developed by George Kennan in 1947 to prevent the spread of communism by supporting nations threatened by Soviet expansion, forming the basis of Cold War strategy.</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Cold War</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Fría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prolonged geopolitical, ideological, and military rivalry between the United States and the Soviet Union from 1945 to 1991, waged through alliances, proxy wars, and an arms race rather than direct combat.</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Compare how the U.S. and USSR used economic aid and trade to compete for global influence during the Cold War.</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Both nations used economic assistance—like the U.S. Marshall Plan—to win allies, demonstrate their system's superiority, and expand their spheres of influence</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the U.S. provided economic aid to other nations, though this interpretation lacks supporting historical evidence, which does not align with the documented historical record</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Economic competition was not part of the Cold War, but this oversimplifies the complex factors at work, but contemporary accounts and primary sources suggest otherwise</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USSR provided more economic aid than the U.S, which does not reflect the consensus among historians when examined alongside the available primary and secondary sources</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Why was the Marshall Plan successful in rebuilding Europe and preventing communist expansion?</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provided only military assistance, but this oversimplifies the complex factors at work, which contradicts the primary source evidence from this era</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It invested over $13 billion in European recovery, strengthening economies, creating American trade partners, and reducing the appeal of communism in struggling nations</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was a failure that weakened European economies, but the historical record tells a more complex story and oversimplifies the complex factors at work during this period</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focused only on Eastern European nations, which contradicts the primary source evidence from this era, and this view has been largely revised by modern historical research</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Senator Joseph McCarthy's tactics initially gain support but eventually backfire?</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McCarthy never gained significant public support, which represents a common misconception about the period and fails to account for key developments in the broader context</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McCarthy maintained support throughout his career, though this interpretation lacks supporting historical evidence, but the historical evidence paints a more nuanced picture</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His accusations resonated with genuine fears, but his bullying tactics and baseless attacks on the Army exposed his methods as reckless and destructive</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His tactics were always viewed as inappropriate, but this fails to account for the broader historical context, which contradicts the primary source evidence from this era</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Why did Chinese entry into the Korean War change the conflict's course and duration?</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Chinese involvement had no significant impact, but the historical record tells a more complex story</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China supported UN forces against North Korea, but the historical record tells a more complex story</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Chinese entry quickly ended the war, but this oversimplifies the complex factors at work</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China's 300,000 troops forced UN retreat, transformed a near-victory into stalemate, and extended the war by two years</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Compare brinkmanship and peaceful coexistence as Cold War strategies.</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Brinkmanship used nuclear threats aggressively while peaceful coexistence emphasized diplomatic competition—both aimed to avoid actual war while continuing ideological struggle</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Both strategies were identical in approach, but contemporary accounts suggest a different explanation and does not reflect the scholarly consensus on this topic</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Neither strategy addressed nuclear weapons, but contemporary accounts suggest a different explanation, but closer analysis reveals a more complicated historical reality</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Peaceful coexistence was more aggressive than brinkmanship, which ignores key developments that shaped the outcome, though this interpretation lacks supporting historical evidence</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Why did Sputnik shock Americans and change U.S. education and defense policies?</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Sputnik had no significant impact on American policy, despite limited evidence supporting this interpretation, which does not align with the documented historical record</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It demonstrated Soviet technological capability and potential ICBM threat, spurring the space race, increased science education funding, and heightened fears of nuclear vulnerability</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Americans celebrated Soviet space achievements, but contemporary accounts suggest a different explanation, though this interpretation lacks supporting historical evidence</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Sputnik only affected the space program, not other policies, although historical sources do not support this conclusion and oversimplifies the complex factors at work during this period</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Why did the Bay of Pigs invasion fail and what were its consequences?</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invasion succeeded in overthrowing Castro, but this fails to account for the broader historical context</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invasion was never actually attempted, though this interpretation lacks supporting historical evidence</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Kennedy's withdrawal of air support doomed the invasion, humiliating the U.S. and pushing Castro closer to Soviet protection</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failure had no long-term consequences, which does not align with the documented historical record</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17</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Why did the Gulf of Tonkin Resolution give President Johnson broad war powers without a formal declaration?</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Congress formally declared war on North Vietnam, although this overlooks critical economic and social factors, although this overlooks critical economic and social factors involved</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Johnson never received congressional authorization, although historical sources do not support this conclusion, but contemporary accounts and primary sources suggest otherwise</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resolution only authorized economic sanctions, which represents a common misconception about the period, but the historical evidence paints a more nuanced picture</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resolution authorized the president to use military force to assist Southeast Asian nations, effectively bypassing the constitutional requirement for a war declaration</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19</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Why did Johnson's massive escalation fail to achieve victory in Vietnam?</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Despite 543,000 troops and extensive bombing, conventional military power proved ineffective against guerrilla warfare and a determined enemy fighting on their homeland</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Johnson never significantly escalated American involvement, despite limited evidence supporting this interpretation, but contemporary accounts and primary sources suggest otherwise</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American forces won every major engagement, despite the fact that multiple sources contradict this view, which does not align with the documented historical record</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Congress prevented Johnson from adequate escalation, but contemporary accounts suggest a different explanation, which represents a common misconception about this historical period</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21</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What changes did the draft lottery system make and how did it contribute to the 26th Amendment?</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lottery eliminated all draft inequities, despite the fact that multiple sources contradict this view, which contradicts the primary source evidence from this era</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While the lottery added some fairness, class bias remained through deferments, and opposition to drafting 18-year-olds who couldn't vote led to the 26th Amendment</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draft had no connection to voting rights, but the historical record tells a more complex story and fails to account for key developments in the broader context</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lottery was never actually implemented, which does not align with the documented historical record when examined alongside the available primary and secondary sources</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US.69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early Soviet successes like Sputnik and Gagarin shock Americans and change education policy?</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Soviet achievements had no impact on American policy, which does not align with the documented historical record, although historical sources do not support this conclusion</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Americans were not concerned about Soviet space achievements, which does not reflect the consensus among historians and does not reflect the scholarly consensus on this topic</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They suggested Soviet technological superiority, prompting NASA's creation, the National Defense Education Act, and massive investment in science education</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Education policy remained unchanged after Sputnik, yet the available evidence points to a different conclusion and fails to account for key developments in the broader context</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What significance did the SALT Treaties have for nuclear arms control?</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SALT treaties had no practical effect, though this interpretation lacks supporting historical evidence, although this overlooks critical economic and social factors involved</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SALT treaties eliminated all nuclear weapons, but this oversimplifies the complex factors at work, and this view has been largely revised by modern historical research</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the Soviet Union agreed to limitations, but this oversimplifies the complex factors at work, but contemporary accounts and primary sources suggest otherwise</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They were the first successful nuclear arms agreements, limiting missiles and establishing verification procedures that demonstrated both nations wanted to avoid nuclear war</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195</Slides>
  <Notes>195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195</vt:i4>
      </vt:variant>
    </vt:vector>
  </HeadingPairs>
  <TitlesOfParts>
    <vt:vector size="19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7 — The Cold War &amp; Postwar America (US.59–US.70)</dc:subject>
  <dc:creator>TroopToTeacher Technologies LLC</dc:creator>
  <cp:lastModifiedBy>TroopToTeacher Technologies LLC</cp:lastModifiedBy>
  <cp:revision>1</cp:revision>
  <dcterms:created xsi:type="dcterms:W3CDTF">2026-07-02T17:51:15Z</dcterms:created>
  <dcterms:modified xsi:type="dcterms:W3CDTF">2026-07-02T17:51:15Z</dcterms:modified>
</cp:coreProperties>
</file>
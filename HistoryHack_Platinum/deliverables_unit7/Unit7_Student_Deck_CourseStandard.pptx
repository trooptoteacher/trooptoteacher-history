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5-1.jpg" ContentType="image/jpg"/>
  <Override PartName="/ppt/media/image-16-1.jpg" ContentType="image/jpg"/>
  <Override PartName="/ppt/media/image-21-1.jpg" ContentType="image/jpg"/>
  <Override PartName="/ppt/media/image-26-1.jpg" ContentType="image/jpg"/>
  <Override PartName="/ppt/media/image-33-1.jpg" ContentType="image/jpg"/>
  <Override PartName="/ppt/media/image-4-1.jpg" ContentType="image/jpg"/>
  <Override PartName="/ppt/media/image-40-1.jpg" ContentType="image/jpg"/>
  <Override PartName="/ppt/media/image-45-1.jpg" ContentType="image/jpg"/>
  <Override PartName="/ppt/media/image-56-1.jpg" ContentType="image/jpg"/>
  <Override PartName="/ppt/media/image-62-1.jpg" ContentType="image/jpg"/>
  <Override PartName="/ppt/media/image-70-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28" r:id="rId79"/>
    <p:sldId id="256" r:id="rId2"/>
    <p:sldId id="257" r:id="rId3"/>
    <p:sldId id="258" r:id="rId4"/>
    <p:sldId id="259" r:id="rId5"/>
    <p:sldId id="260" r:id="rId6"/>
    <p:sldId id="261" r:id="rId7"/>
    <p:sldId id="329" r:id="rId80"/>
    <p:sldId id="341" r:id="rId92"/>
    <p:sldId id="262" r:id="rId8"/>
    <p:sldId id="263" r:id="rId9"/>
    <p:sldId id="264" r:id="rId10"/>
    <p:sldId id="265" r:id="rId11"/>
    <p:sldId id="266" r:id="rId12"/>
    <p:sldId id="267" r:id="rId13"/>
    <p:sldId id="330" r:id="rId81"/>
    <p:sldId id="342" r:id="rId93"/>
    <p:sldId id="268" r:id="rId14"/>
    <p:sldId id="269" r:id="rId15"/>
    <p:sldId id="270" r:id="rId16"/>
    <p:sldId id="271" r:id="rId17"/>
    <p:sldId id="272" r:id="rId18"/>
    <p:sldId id="273" r:id="rId19"/>
    <p:sldId id="331" r:id="rId82"/>
    <p:sldId id="343" r:id="rId94"/>
    <p:sldId id="274" r:id="rId20"/>
    <p:sldId id="275" r:id="rId21"/>
    <p:sldId id="276" r:id="rId22"/>
    <p:sldId id="277" r:id="rId23"/>
    <p:sldId id="278" r:id="rId24"/>
    <p:sldId id="279" r:id="rId25"/>
    <p:sldId id="332" r:id="rId83"/>
    <p:sldId id="344" r:id="rId95"/>
    <p:sldId id="280" r:id="rId26"/>
    <p:sldId id="281" r:id="rId27"/>
    <p:sldId id="282" r:id="rId28"/>
    <p:sldId id="283" r:id="rId29"/>
    <p:sldId id="284" r:id="rId30"/>
    <p:sldId id="285" r:id="rId31"/>
    <p:sldId id="333" r:id="rId84"/>
    <p:sldId id="345" r:id="rId96"/>
    <p:sldId id="286" r:id="rId32"/>
    <p:sldId id="287" r:id="rId33"/>
    <p:sldId id="288" r:id="rId34"/>
    <p:sldId id="289" r:id="rId35"/>
    <p:sldId id="290" r:id="rId36"/>
    <p:sldId id="291" r:id="rId37"/>
    <p:sldId id="334" r:id="rId85"/>
    <p:sldId id="346" r:id="rId97"/>
    <p:sldId id="292" r:id="rId38"/>
    <p:sldId id="293" r:id="rId39"/>
    <p:sldId id="294" r:id="rId40"/>
    <p:sldId id="295" r:id="rId41"/>
    <p:sldId id="296" r:id="rId42"/>
    <p:sldId id="297" r:id="rId43"/>
    <p:sldId id="335" r:id="rId86"/>
    <p:sldId id="347" r:id="rId98"/>
    <p:sldId id="298" r:id="rId44"/>
    <p:sldId id="299" r:id="rId45"/>
    <p:sldId id="300" r:id="rId46"/>
    <p:sldId id="301" r:id="rId47"/>
    <p:sldId id="302" r:id="rId48"/>
    <p:sldId id="303" r:id="rId49"/>
    <p:sldId id="336" r:id="rId87"/>
    <p:sldId id="348" r:id="rId99"/>
    <p:sldId id="304" r:id="rId50"/>
    <p:sldId id="305" r:id="rId51"/>
    <p:sldId id="306" r:id="rId52"/>
    <p:sldId id="307" r:id="rId53"/>
    <p:sldId id="308" r:id="rId54"/>
    <p:sldId id="309" r:id="rId55"/>
    <p:sldId id="337" r:id="rId88"/>
    <p:sldId id="349" r:id="rId100"/>
    <p:sldId id="310" r:id="rId56"/>
    <p:sldId id="311" r:id="rId57"/>
    <p:sldId id="312" r:id="rId58"/>
    <p:sldId id="313" r:id="rId59"/>
    <p:sldId id="314" r:id="rId60"/>
    <p:sldId id="315" r:id="rId61"/>
    <p:sldId id="338" r:id="rId89"/>
    <p:sldId id="350" r:id="rId101"/>
    <p:sldId id="316" r:id="rId62"/>
    <p:sldId id="317" r:id="rId63"/>
    <p:sldId id="318" r:id="rId64"/>
    <p:sldId id="319" r:id="rId65"/>
    <p:sldId id="320" r:id="rId66"/>
    <p:sldId id="321" r:id="rId67"/>
    <p:sldId id="339" r:id="rId90"/>
    <p:sldId id="351" r:id="rId102"/>
    <p:sldId id="322" r:id="rId68"/>
    <p:sldId id="323" r:id="rId69"/>
    <p:sldId id="324" r:id="rId70"/>
    <p:sldId id="325" r:id="rId71"/>
    <p:sldId id="326" r:id="rId72"/>
    <p:sldId id="327" r:id="rId73"/>
    <p:sldId id="340" r:id="rId91"/>
    <p:sldId id="352" r:id="rId103"/>
  </p:sldIdLst>
  <p:notesMasterIdLst>
    <p:notesMasterId r:id="rId7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valon.law.yale.edu/20th_century/nato.asp"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archives.gov/milestone-documents/truman-doctrine"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senate.gov/about/powers-procedures/investigations/mccarthy-hearings.ht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trumanlibrary.gov/library/public-papers/77/radio-report-american-people-korea-and-us-policy-far-east"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eisenhowerlibrary.gov/research/online-documents"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loc.gov/collections/civil-defense/"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www.jfklibrary.org/learn/about-jfk/historic-speeches/address-during-the-cuban-missile-crisis"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www.archives.gov/milestone-documents/tonkin-gulf-resolution" TargetMode="Externa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www.nixonlibrary.gov/silent-majority" TargetMode="Externa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www.loc.gov/collections/veterans-history-project/" TargetMode="External"/><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www.jfklibrary.org/learn/about-jfk/historic-speeches/special-message-to-the-congress-on-urgent-national-needs" TargetMode="External"/><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hyperlink" Target="https://www.reaganlibrary.gov/archives/speech/remarks-east-west-relations-brandenburg-gate-west-berlin-germany" TargetMode="External"/><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US.59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U.S.-Soviet Competition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US.59 – Describe the competition between the U.S. and the Soviet Union in arms development, economic dominance, and ideology, including the roles of NATO, SEATO, and the Warsaw Pact.</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competition between the U.S. and the Soviet Union in arms development, economic dominance, and ideology, including the roles of NATO, SEATO, and the Warsaw Pact.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US.59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superpowers competed without direct war — after 1945 the United States and the Soviet Union entered a decades-long rivalry through an arms race, economic competition, and proxy conflicts rather than open combat.</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superpowers competed without direct war — after 1945 the United States and the Soviet Union entered a decades-long rivalry through an arms race, economic competition, and proxy conflicts rather than open combat.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US.59 · Arms Race &amp; Economic Competition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US.59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Two systems clashed over how to organize society — American capitalism and democracy stood against Soviet communism and one-party control, and each side worked to spread its model across the postwar world.</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Two systems clashed over how to organize society — American capitalism and democracy stood against Soviet communism and one-party control, and each side worked to spread its model across the postwar world.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US.59 · Ideological Differences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US.59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Rival alliances divided the globe — the U.S.-led NATO and the Soviet-led Warsaw Pact split much of the world into two armed camps, formalizing the confrontation that defined the Cold War.</a:t>
            </a:r>
            <a:endParaRPr lang="en-US" sz="1950" dirty="0"/>
          </a:p>
        </p:txBody>
      </p:sp>
      <p:pic>
        <p:nvPicPr>
          <p:cNvPr id="7" name="Image 0" descr="hh-web/public/images/textbook/unit-7/truman-nato-signing-194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US.59 · Military Alliances: NATO &amp; the Warsaw Pact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US.59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Article 5 of the NATO Treaty — weigh who wrote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North Atlantic Treaty Organization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April 4, 1949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NATO Treaty (Article 5)</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North Atlantic Treaty Organization · April 4, 1949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Parties agree that an armed attack against one or more of them in Europe or North America shall be considered an attack against them all and consequently they agree that... each of them... will assist the Party or Parties so attacked by taking forthwith... such action as it deems necessary, including the use of armed force."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Avalon Project, Yale Law School</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US.59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US.59: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United States and its NATO allies, who gained collective security, and defense industries on both sides fueled by decades of arms spending.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US.59: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Taxpayers who funded a massive arms race, and peoples of smaller nations turned into battlegrounds for superpower proxy conflicts.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US.59: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governments of the United States and the Soviet Union, whose leaders set alliance, arms, and foreign policy for two rival blocs.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NATO Treaty (Article 5), North Atlantic Treaty Organization, April 4, 1949 (Avalon Project, Yale Law School)</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Containment and Early Cold War Policies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US.60 – Explain the Cold War policies of containment and the Truman Doctrine, Marshall Plan, and Berlin Airlift.</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Cold War policies of containment and the Truman Doctrine, Marshall Plan, and Berlin Airlift.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Kennan's Long Telegram defined the strategy — diplomat George Kennan argued Soviet expansion had to be met with firm, patient “containment,” giving the early Cold War its guiding policy.</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Kennan's Long Telegram defined the strategy — diplomat George Kennan argued Soviet expansion had to be met with firm, patient “containment,” giving the early Cold War its guiding policy.</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US.60 · The Long Telegram &amp; Containment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Truman Doctrine and Marshall Plan put containment into action — the 1947 Truman Doctrine pledged aid to nations resisting communism, and the Marshall Plan rebuilt Western Europe’s economies to keep them out of Soviet reach.</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Truman Doctrine and Marshall Plan put containment into action — the 1947 Truman Doctrine pledged aid to nations resisting communism, and the Marshall Plan rebuilt Western Europe’s economies to keep them out of Soviet reach.</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US.60 · Truman Doctrine &amp; Marshall Plan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Berlin Airlift held the line without firing a shot — when the Soviets blockaded West Berlin in 1948, the U.S. and allies flew in food and fuel for nearly a year, showing containment in action.</a:t>
            </a:r>
            <a:endParaRPr lang="en-US" sz="1950" dirty="0"/>
          </a:p>
        </p:txBody>
      </p:sp>
      <p:pic>
        <p:nvPicPr>
          <p:cNvPr id="7" name="Image 0" descr="hh-web/public/images/textbook/unit-7/berlin-airlift-tempelhof-194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US.60 · The Berlin Airlift (1948-1949)</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Truman Doctrine Speech — identify the speaker, date, and purpose before you weigh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Harry S. Truman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March 12, 1947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The Truman Doctrine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Harry S. Truman · March 12, 1947</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 believe that it must be the policy of the United States to support free peoples who are resisting attempted subjugation by armed minorities or by outside pressures. I believe that we must assist free peoples to work out their own destinies in their own way. I believe that our help should be primarily through economic and financial aid."</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Western European nations rebuilt by the Marshall Plan and shielded by U.S. commitment, and West Berliners sustained through the airlift.</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Peoples of Eastern Europe left under Soviet domination, and Americans who took on the burden of funding global containment.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Truman and his advisers, who set containment policy, and Congress, which funded the Truman Doctrine and Marshall Plan.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The Truman Doctrine Speech, President Harry S. Truman, March 12, 1947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Second Red Scare &amp; McCarthyism</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US.61 – Analyze the causes and effects of the Second Red Scare, including: Americans' attitudes toward McCarthyism, blacklisting, and Julius and Ethel Rosenberg.</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causes and effects of the Second Red Scare, including Americans' attitudes toward McCarthyism, blacklisting, and the Rosenberg case.</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Postwar fears fueled a hunt for domestic subversion — Soviet spying, the fall of China to communism, and the Soviet atomic bomb convinced many Americans that communists had infiltrated the U.S. government and society.</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Postwar fears fueled a hunt for domestic subversion — Soviet spying, the fall of China to communism, and the Soviet atomic bomb convinced many Americans that communists had infiltrated the U.S. government and society.</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US.61 · Factors Behind the Second Red Scare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McCarthy made unproven accusations a political weapon — Senator Joseph McCarthy claimed to hold lists of hidden communists, and “McCarthyism” came to mean reckless charges of disloyalty made without solid evidence.</a:t>
            </a:r>
            <a:endParaRPr lang="en-US" sz="1800" dirty="0"/>
          </a:p>
        </p:txBody>
      </p:sp>
      <p:pic>
        <p:nvPicPr>
          <p:cNvPr id="7" name="Image 0" descr="hh-web/public/images/textbook/unit-7/senator-joseph-mccarthy-195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US.61 · McCarthyism &amp; Blacklisting</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Rosenberg case brought the fear to a peak — Julius and Ethel Rosenberg were convicted of passing atomic secrets to the Soviets and executed in 1953, in a trial that still fuels debate over guilt and Cold War hysteria.</a:t>
            </a:r>
            <a:endParaRPr lang="en-US" sz="1800" dirty="0"/>
          </a:p>
        </p:txBody>
      </p:sp>
      <p:pic>
        <p:nvPicPr>
          <p:cNvPr id="7" name="Image 0" descr="hh-web/public/images/textbook/unit-7/rosenbergs-espionage-trial-1951.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US.61 · The Rosenberg Case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McCarthy’s Wheeling Speech — consider who spoke it and why before you weigh the claims.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Senator Joseph McCarthy</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February 9, 1950</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Wheeling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Senator Joseph McCarthy · February 9, 1950</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 have here in my hand a list of 205—a list of names that were made known to the Secretary of State as being members of the Communist Party and who nevertheless are still working and shaping policy in the State Department... The reason why we find ourselves in a position of impotency is not because our only powerful potential enemy has sent men to invade our shores, but rather because of the traitorous actions of those who have been treated so well by this Nation."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Senate Historical Office</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Politicians like McCarthy who gained fame and power by exploiting fear, and those who used anticommunism to attack rivals and dissenters.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Thousands who lost jobs and reputations to blacklists on flimsy evidence, and the Rosenbergs, executed amid the era’s hysteria.</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Congressional committees, the FBI, and courts that pursued suspected communists, and Senator McCarthy, who drove the accusations.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Wheeling Speech, Senator Joseph McCarthy, February 9, 1950 (U.S. Senate Historical Office)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Korean War</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US.62 – Describe the causes, course, and consequences of the Korean War, including: Domino Theory, 38th parallel, Battle of Inchon, Entry of the communist Chinese, Final divisions of the Koreas.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causes, course, and consequences of the Korean War, including the Domino Theory, 38th parallel, Battle of Inchon, entry of communist China, and final divisions of the Koreas.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domino theory drew the U.S. into Korea — fearing that one nation falling to communism would topple its neighbors, the United States led a UN force to repel North Korea’s 1950 invasion of the South.</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domino theory drew the U.S. into Korea — fearing that one nation falling to communism would topple its neighbors, the United States led a UN force to repel North Korea’s 1950 invasion of the South.</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US.62 · Domino Theory &amp; U.S. Intervention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2100" b="1" dirty="0">
                <a:solidFill>
                  <a:srgbClr val="FFFFFF"/>
                </a:solidFill>
                <a:latin typeface="Georgia" pitchFamily="34" charset="0"/>
                <a:ea typeface="Georgia" pitchFamily="34" charset="-122"/>
                <a:cs typeface="Georgia" pitchFamily="34" charset="-120"/>
              </a:rPr>
              <a:t>MacArthur’s Inchon landing reversed the war — a bold September 1950 amphibious assault at Inchon cut off North Korean forces and pushed the front back toward the Chinese border.</a:t>
            </a:r>
            <a:endParaRPr lang="en-US" sz="2100" dirty="0"/>
          </a:p>
        </p:txBody>
      </p:sp>
      <p:pic>
        <p:nvPicPr>
          <p:cNvPr id="7" name="Image 0" descr="hh-web/public/images/textbook/unit-7/battle-of-inchon-1950.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US.62 · Battle of Inchon (September 1950)</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Chinese entry produced a bloody stalemate — when U.S. forces neared its border, China entered the war, and the fighting ground back to the 38th Parallel, ending in a 1953 armistice near the prewar line.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Chinese entry produced a bloody stalemate — when U.S. forces neared its border, China entered the war, and the fighting ground back to the 38th Parallel, ending in a 1953 armistice near the prewar line.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US.62 · Chinese Entry &amp; the 38th Parallel</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Truman’s Address on the Korean War — note the speaker, date, and purpose before you read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Harry S. Truman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April 11, 1951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Address on the Korean War</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Harry S. Truman · April 11, 1951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Communists in the Kremlin are engaged in a monstrous conspiracy to stamp out freedom all over the world. If they were to succeed, the United States would be numbered among their principal victims. It must be clear to everyone that the United States cannot—and will not—sit idly by and await foreign conquest."</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Harry S. Truman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South Korea, which survived as a non-communist state, and the U.S. containment strategy, which held the line in Asia.</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millions of Korean civilians and soldiers killed, and American and allied troops who fought a costly, inconclusive war.</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Truman and the United Nations, who committed forces; and Truman, who relieved MacArthur to keep the war limited.</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Address on the Korean War, President Harry S. Truman, April 11, 1951 (Harry S. Truman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Eisenhower's Cold War Policies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US.63 – Explain Cold War policies during President Dwight D. Eisenhower's administration, including brinkmanship and "peaceful coexistence".</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Cold War policies during President Eisenhower's administration, including brinkmanship and "peaceful coexistence."</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Brinkmanship threatened massive retaliation — Eisenhower’s “New Look” relied on the threat of overwhelming nuclear response to deter Soviet aggression while holding down the cost of large standing armies.</a:t>
            </a:r>
            <a:endParaRPr lang="en-US" sz="1950" dirty="0"/>
          </a:p>
        </p:txBody>
      </p:sp>
      <p:pic>
        <p:nvPicPr>
          <p:cNvPr id="7" name="Image 0" descr="hh-web/public/images/textbook/unit-7/eisenhower-official-portrait-195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US.63 · Brinkmanship &amp; the “New Look”</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Peaceful coexistence eased tensions at times — alongside nuclear threats, Eisenhower pursued cautious diplomacy and summit meetings, seeking to manage the rivalry and avoid direct war with the Soviet Union.</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Peaceful coexistence eased tensions at times — alongside nuclear threats, Eisenhower pursued cautious diplomacy and summit meetings, seeking to manage the rivalry and avoid direct war with the Soviet Union.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US.63 · Peaceful Coexistence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Two tools defined his approach to the Cold War — comparing brinkmanship with peaceful coexistence shows a president balancing deterrence and diplomacy to contain communism without full-scale war.</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Two tools defined his approach to the Cold War — comparing brinkmanship with peaceful coexistence shows a president balancing deterrence and diplomacy to contain communism without full-scale war.</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US.63 · Comparing Eisenhower’s Approaches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Eisenhower’s “New Look” Policy Speech — identify the speaker, date, and purpose before you analyze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Dwight D. Eisenhower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12, 1954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Eisenhower's "New Look" Policy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Dwight D. Eisenhower · January 12, 1954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basic decision was to depend primarily upon a great capacity to retaliate, instantly, by means and at places of our choosing... The way to deter aggression is for the free community to be willing and able to respond vigorously at places and with means of its own choosing."</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Dwight D. Eisenhower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United States, which deterred Soviet aggression while limiting military spending, and taxpayers spared the cost of huge conventional forces.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 world placed under constant threat of nuclear annihilation, and populations of nations caught in Cold War brinkmanship.</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Eisenhower and his Secretary of State, John Foster Dulles, who set nuclear-deterrence and coexistence policy.</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Eisenhower's "New Look" Policy Speech, President Dwight D. Eisenhower, January 12, 1954 (Dwight D. Eisenhower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Nuclear Fears and Civil Defense</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US.64 – Explain the fears of Americans surrounding nuclear holocaust and debates over stockpiling and the use of nuclear weapons, including: Atomic testing, Civil defense, Fallout shelters, Impact of Sputnik, Mutual assured destruction.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fears of Americans surrounding nuclear holocaust and debates over stockpiling and the use of nuclear weapons, including atomic testing, civil defense, fallout shelters, Sputnik, and mutual assured destruction.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Fear of nuclear war reshaped American life — as both superpowers built atomic arsenals, Americans lived under the shadow of sudden annihilation, and “duck and cover” drills brought the fear into schools.</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Fear of nuclear war reshaped American life — as both superpowers built atomic arsenals, Americans lived under the shadow of sudden annihilation, and “duck and cover” drills brought the fear into schools.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US.64 · American Fears of Nuclear War</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Stockpiling and testing fueled debate — the growing nuclear arsenal and open-air atomic testing raised alarm over fallout and safety, sparking arguments over how far the arms race should go.</a:t>
            </a:r>
            <a:endParaRPr lang="en-US" sz="1950" dirty="0"/>
          </a:p>
        </p:txBody>
      </p:sp>
      <p:pic>
        <p:nvPicPr>
          <p:cNvPr id="7" name="Image 0" descr="hh-web/public/images/textbook/unit-7/operation-upshot-knothole-atomic-test-195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US.64 · Stockpiling &amp; Atomic Testing</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Sputnik turned fear into a technology race — the 1957 Soviet launch of Sputnik, the first satellite, shocked Americans into fearing they had fallen behind, spurring new investment in science and defense.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Sputnik turned fear into a technology race — the 1957 Soviet launch of Sputnik, the first satellite, shocked Americans into fearing they had fallen behind, spurring new investment in science and defense.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US.64 · Sputnik’s Significance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Federal Civil Defense pamphlet — weigh who produced it and why before you read the message.</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Federal Civil Defense Administration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1951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Civil Defense Pamphlet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Federal Civil Defense Administration · 1951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"You can survive an atomic bomb attack! But you must know what to do. Duck and cover at the flash of light. Stay away from windows. If outdoors, lie flat on the ground. Have an emergency kit ready. Build a fallout shelter in your basement or backyard. With proper preparation, you and your family can survive."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Defense and science industries funded by the arms and space race, and the government, which used civil defense to rally the public.</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Ordinary Americans living in constant fear of nuclear war, and communities exposed to fallout from open-air atomic testing.</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federal government and civil-defense agencies that set testing, stockpiling, and preparedness policy for the nuclear age.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Civil Defense Pamphlet, Federal Civil Defense Administration, 1951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U.S.-Cuba Relations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US.65 – Describe the relationship between Cuba and the U.S., including the Bay of Pigs Invasion and Cuban Missile Crisis.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relationship between Cuba and the U.S., including the Bay of Pigs Invasion and Cuban Missile Crisis.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A communist Cuba emerged 90 miles away — Fidel Castro’s 1959 revolution created a Soviet-aligned communist state close to U.S. shores, alarming Washington and reshaping Cold War strategy in the hemisphere.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A communist Cuba emerged 90 miles away — Fidel Castro’s 1959 revolution created a Soviet-aligned communist state close to U.S. shores, alarming Washington and reshaping Cold War strategy in the hemisphere.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US.65 · Historical Background &amp; the Cuban Revolution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2100" b="1" dirty="0">
                <a:solidFill>
                  <a:srgbClr val="FFFFFF"/>
                </a:solidFill>
                <a:latin typeface="Georgia" pitchFamily="34" charset="0"/>
                <a:ea typeface="Georgia" pitchFamily="34" charset="-122"/>
                <a:cs typeface="Georgia" pitchFamily="34" charset="-120"/>
              </a:rPr>
              <a:t>The Bay of Pigs invasion failed badly — a 1961 CIA-backed landing of Cuban exiles collapsed, humiliating the Kennedy administration and pushing Cuba even closer to the Soviet Union.</a:t>
            </a:r>
            <a:endParaRPr lang="en-US" sz="21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Bay of Pigs invasion failed badly — a 1961 CIA-backed landing of Cuban exiles collapsed, humiliating the Kennedy administration and pushing Cuba even closer to the Soviet Union.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US.65 · Bay of Pigs (1961)</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Cuban Missile Crisis brought the world to the brink — the 1962 discovery of Soviet nuclear missiles in Cuba triggered a tense standoff that ended when the USSR withdrew the missiles and the U.S. pledged not to invade Cuba.</a:t>
            </a:r>
            <a:endParaRPr lang="en-US" sz="1800" dirty="0"/>
          </a:p>
        </p:txBody>
      </p:sp>
      <p:pic>
        <p:nvPicPr>
          <p:cNvPr id="7" name="Image 0" descr="hh-web/public/images/textbook/unit-7/cuban-missile-recon-san-cristobal-196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US.65 · Cuban Missile Crisis (1962)</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Kennedy’s Cuban Missile Crisis Address — note the speaker, date, and purpose before you weigh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John F. Kennedy</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October 22, 1962</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Cuban Missile Crisis Address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John F. Kennedy · October 22, 1962</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"Within the past week, unmistakable evidence has established the fact that a series of offensive missile sites is now in preparation on that imprisoned island. The purpose of these bases can be none other than to provide a nuclear strike capability against the Western Hemisphere... It shall be the policy of this Nation to regard any nuclear missile launched from Cuba against any nation in the Western Hemisphere as an attack by the Soviet Union on the United States, requiring a full retaliatory response upon the Soviet Union."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United States, which forced the missiles’ removal, and Cuba, which won a U.S. pledge not to invade the island.</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 world brought to the edge of nuclear war, and Cuban exiles abandoned at the Bay of Pigs during the failed invasion.</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Kennedy and Soviet Premier Khrushchev, whose negotiations resolved the standoff, and Castro, who allied Cuba with the USSR.</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Cuban Missile Crisis Address, President John F. Kennedy, October 22, 1962 (John F. Kennedy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US.66</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Vietnam War Causes, Course, and Consequences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US.66 – Describe the causes, course, and consequences of the Vietnam War, including: Geneva Accords, Gulf of Tonkin Resolution, Tet Offensive, Ho Chi Minh, Bombing of Cambodia, Napalm and Agent Orange, Vietnamization.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causes, course, and consequences of the Vietnam War, including the Geneva Accords, Gulf of Tonkin Resolution, Tet Offensive, Ho Chi Minh, bombing of Cambodia, napalm and Agent Orange, and Vietnamization.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Geneva Accords split Vietnam and set the stage — the 1954 accords divided Vietnam at the 17th Parallel after French defeat, and Ho Chi Minh’s communist North faced a U.S.-backed South.</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Geneva Accords split Vietnam and set the stage — the 1954 accords divided Vietnam at the 17th Parallel after French defeat, and Ho Chi Minh’s communist North faced a U.S.-backed South.</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US.66 · Geneva Accords &amp; Ho Chi Minh</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Gulf of Tonkin opened the door to escalation — the 1964 Gulf of Tonkin Resolution gave President Johnson broad authority to expand U.S. involvement, leading to a massive commitment of American troops.</a:t>
            </a:r>
            <a:endParaRPr lang="en-US" sz="1950" dirty="0"/>
          </a:p>
        </p:txBody>
      </p:sp>
      <p:pic>
        <p:nvPicPr>
          <p:cNvPr id="7" name="Image 0" descr="hh-web/public/images/textbook/unit-7/first-cavalry-airmobile-vietnam-1965.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US.66 · Gulf of Tonkin &amp; U.S. Escalation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Tet Offensive shattered confidence in the war — the 1968 surprise attacks by North Vietnam and the Viet Cong, though militarily repelled, turned American public opinion sharply against a war that seemed unwinnable.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Tet Offensive shattered confidence in the war — the 1968 surprise attacks by North Vietnam and the Viet Cong, though militarily repelled, turned American public opinion sharply against a war that seemed unwinnable.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US.66 · Tet Offensive, Chemical Weapons &amp; Vietnamization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US.66</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Gulf of Tonkin Resolution — identify who passed it, when, and why before you analyze the source.</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Congress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August 7, 1964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Gulf of Tonkin Resolution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Congress · August 7, 1964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Congress approves and supports the determination of the President, as Commander in Chief, to take all necessary measures to repel any armed attack against the forces of the United States and to prevent further aggression... The United States is, therefore, prepared, as the President determines, to take all necessary steps, including the use of armed force."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US.66</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US.66:</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North Vietnam, which ultimately unified the country under communism, and defense contractors who profited from the long war.</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US.66:</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Millions of Vietnamese and over 58,000 American troops killed, and a divided American public scarred by a costly, controversial war.</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US.66:</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Presidents Johnson and Nixon and Congress, whose Gulf of Tonkin Resolution authorized the escalation of U.S. involvement.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Gulf of Tonkin Resolution, U.S. Congress, August 7, 1964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US.67</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Presidential Vietnam Policies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US.67 – Compare the policies and practices of Presidents John F. Kennedy, Lyndon Johnson, and Richard Nixon and their impacts on the continuation of the Vietnam War.</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compare the policies and practices of Presidents Kennedy, Johnson, and Nixon and their impacts on the continuation of the Vietnam War.</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Kennedy answered with “flexible response” — rejecting all-or-nothing nuclear threats, Kennedy sent military advisers and Special Forces to South Vietnam, expanding U.S. commitment through limited, adaptable intervention.</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Kennedy answered with “flexible response” — rejecting all-or-nothing nuclear threats, Kennedy sent military advisers and Special Forces to South Vietnam, expanding U.S. commitment through limited, adaptable intervention.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US.67 · Kennedy’s “Flexible Response”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Johnson escalated to a full American war — after the Gulf of Tonkin, Johnson committed hundreds of thousands of ground troops and launched sustained bombing, Americanizing the conflict in Vietnam.</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Johnson escalated to a full American war — after the Gulf of Tonkin, Johnson committed hundreds of thousands of ground troops and launched sustained bombing, Americanizing the conflict in Vietnam.</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US.67 · Johnson’s Escalation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Nixon’s Vietnamization sought an exit — Nixon shifted combat to South Vietnamese forces while withdrawing U.S. troops, aiming for “peace with honor” as the war wound down amid mounting protest.</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Nixon’s Vietnamization sought an exit — Nixon shifted combat to South Vietnamese forces while withdrawing U.S. troops, aiming for “peace with honor” as the war wound down amid mounting protest.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US.67 · Nixon’s Vietnamization &amp; Effectiveness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US.67</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Nixon’s “Silent Majority” Speech — note the speaker, date, and purpose before you weigh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Richard Nixon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November 3, 1969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Nixon's "Silent Majority"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Richard Nixon · November 3, 1969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have adopted a plan which we have worked out in cooperation with the South Vietnamese for the complete withdrawal of all U.S. combat ground forces... As South Vietnamese forces become stronger, the rate of American withdrawal can become greater... I call it the Nixon Doctrine."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Richard Nixon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US.67</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US.67:</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Presidents who used Vietnam policy to project resolve, and, in the end, North Vietnam, which outlasted successive U.S. strategies.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US.67:</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soldiers and Vietnamese civilians caught in escalating war, and a public increasingly distrustful of its leaders.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US.67:</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Presidents Kennedy, Johnson, and Nixon, whose differing strategies — flexible response, escalation, and Vietnamization — directed the war.</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Nixon's "Silent Majority" Speech, President Richard Nixon, November 3, 1969 (Richard Nixon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Vietnam War Home Front Impact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US.68 – Evaluate the impact of the Vietnam War on the home front, including: the anti-war movement, draft by lottery, and the role of television and the media.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evaluate the impact of the Vietnam War on the home front, including the anti-war movement, draft by lottery, and the role of television and the media.</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An anti-war movement swept campuses and cities — as casualties mounted, students, activists, and eventually much of the public protested the war, dividing the nation and challenging government policy.</a:t>
            </a:r>
            <a:endParaRPr lang="en-US" sz="1950" dirty="0"/>
          </a:p>
        </p:txBody>
      </p:sp>
      <p:pic>
        <p:nvPicPr>
          <p:cNvPr id="7" name="Image 0" descr="hh-web/public/images/textbook/unit-7/march-on-pentagon-antiwar-196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US.68 · The Anti-War Movement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draft lottery deepened resentment — the draft, run by lottery, fell heavily on young and poorer Americans, fueling anger, resistance, and debate over who bore the burden of the war.</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draft lottery deepened resentment — the draft, run by lottery, fell heavily on young and poorer Americans, fueling anger, resistance, and debate over who bore the burden of the war.</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US.68 · The Draft by Lottery</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Television made Vietnam the “living-room war” — nightly TV coverage brought the war’s violence into American homes, widening the “credibility gap” between official claims and what the public could see.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Television made Vietnam the “living-room war” — nightly TV coverage brought the war’s violence into American homes, widening the “credibility gap” between official claims and what the public could see.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US.68 · Television &amp; the Media</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SDS Anti-War Protest Statement — consider who wrote it and why before you weigh its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Students for a Democratic Society</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1965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Anti-War Protest Statement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Students for a Democratic Society · 1965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are here today to protest a war that is immoral, illegal, and unjust. Our government sends young men to die in a country they cannot find on a map, for reasons that have never been honestly explained. We demand an end to the draft. We demand that our government bring our brothers home. This is not our war."</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anti-war and youth movements that gained political voice, and journalists whose coverage shaped public understanding of the war.</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Draftees, especially the young and poor, sent to fight, and a nation deeply divided between supporters and opponents of the war.</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federal government, which ran the draft and set war policy, and citizens and the press, who shaped opinion through protest and coverage.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Anti-War Protest Statement, Students for a Democratic Society, 1965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US.69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Space Race Competition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US.69 – Describe the competition between the U.S. and Soviet Union for superiority in space.</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competition between the U.S. and Soviet Union for superiority in space.</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Cold War rivalry launched the Space Race — the superpowers competed to prove the superiority of their systems through spaceflight, making rockets and satellites a front in the larger Cold War contest.</a:t>
            </a:r>
            <a:endParaRPr lang="en-US" sz="1950" dirty="0"/>
          </a:p>
        </p:txBody>
      </p:sp>
      <p:pic>
        <p:nvPicPr>
          <p:cNvPr id="7" name="Image 0" descr="hh-web/public/images/textbook/unit-7/sputnik-1-replica.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US.69 · Motivations &amp; Response to Sputnik</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Each side raced past new milestones — the Soviets launched Sputnik and the first human into orbit, spurring the U.S. to create NASA and pour resources into catching up and pulling ahead.</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Each side raced past new milestones — the Soviets launched Sputnik and the first human into orbit, spurring the U.S. to create NASA and pour resources into catching up and pulling ahead.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US.69 · Milestones of the Space Race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Moon landing proved American leadership — the 1969 Apollo 11 landing fulfilled Kennedy’s pledge, giving the U.S. a symbolic Cold War victory and a lasting demonstration of its scientific power.</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Moon landing proved American leadership — the 1969 Apollo 11 landing fulfilled Kennedy’s pledge, giving the U.S. a symbolic Cold War victory and a lasting demonstration of its scientific power.</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US.69 · Political Implications &amp; the Moon Landing</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Kennedy’s Moon Landing Speech — identify the speaker, date, and purpose before you analyze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John F. Kennedy</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May 25, 1961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Moon Landing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John F. Kennedy · May 25, 1961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 believe that this nation should commit itself to achieving the goal, before this decade is out, of landing a man on the Moon and returning him safely to the Earth. No single space project in this period will be more impressive to mankind, or more important for the long-range exploration of space; and none will be so difficult or expensive to accomplish."</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US.69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United States, which won prestige with the Moon landing, and science, education, and technology industries funded by the race.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Taxpayers who funded enormous space programs, and critics who argued the money could have addressed pressing problems at home.</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US.69: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Presidents Kennedy and Johnson and Congress, who committed the nation to NASA and the goal of landing on the Moon.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Moon Landing Speech, President John F. Kennedy, May 25, 1961 (John F. Kennedy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Cold War Détente &amp; the Fall of the Berlin Wall</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US.70 – Explain developments that eased tensions during the Cold War, including: President Richard Nixon's détente, SALT Treaties, President Ronald Reagan and Mikhail Gorbachev's INF Treaty, The fall of the Berlin Wall.</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developments that eased tensions during the Cold War, including Nixon's détente, SALT Treaties, Reagan and Gorbachev's INF Treaty, and the fall of the Berlin Wall.</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Nixon’s détente eased Cold War tensions — through diplomacy with the Soviet Union and China, Nixon sought to reduce the risk of nuclear war and manage the superpower rivalry through negotiation.</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Nixon’s détente eased Cold War tensions — through diplomacy with the Soviet Union and China, Nixon sought to reduce the risk of nuclear war and manage the superpower rivalry through negotiation.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US.70 · Nixon’s Détente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SALT treaties limited nuclear arms — the Strategic Arms Limitation Talks produced the first agreements capping the superpowers’ nuclear arsenals, a landmark step in slowing the arms race.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SALT treaties limited nuclear arms — the Strategic Arms Limitation Talks produced the first agreements capping the superpowers’ nuclear arsenals, a landmark step in slowing the arms race.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US.70 · SALT Treaties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Reagan, Gorbachev, and the Wall’s fall ended the era — renewed U.S. pressure and Gorbachev’s reforms led to the 1989 fall of the Berlin Wall, symbolizing the collapse of communist control in Eastern Europe.</a:t>
            </a:r>
            <a:endParaRPr lang="en-US" sz="1950" dirty="0"/>
          </a:p>
        </p:txBody>
      </p:sp>
      <p:pic>
        <p:nvPicPr>
          <p:cNvPr id="7" name="Image 0" descr="hh-web/public/images/textbook/unit-7/fall-of-berlin-wall-potsdamer-platz-198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US.70 · Reagan-Gorbachev &amp; the Fall of the Berlin Wall</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Reagan’s Remarks at the Brandenburg Gate — note the speaker, date, and purpose before you weigh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Ronald Reagan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June 12, 1987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Remarks at the Brandenburg Gate</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Ronald Reagan · June 12, 1987</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"General Secretary Gorbachev, if you seek peace, if you seek prosperity for the Soviet Union and Eastern Europe, if you seek liberalization: Come here to this gate! Mr. Gorbachev, open this gate! Mr. Gorbachev, tear down this wall!"</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Ronald Reagan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peoples of Eastern Europe freed from communist control, and the United States, which emerged as the sole superpower as the Cold War ended.</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Soviet Union, which collapsed as its bloc dissolved, and populations facing upheaval as communist economies and states broke apart.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Leaders like Nixon, Reagan, and Gorbachev, whose détente, arms treaties, and reforms steered the Cold War toward its end.</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Remarks at the Brandenburg Gate, President Ronald Reagan, June 12, 1987 (Ronald Reagan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Cold War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Fría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prolonged geopolitical, ideological, and military rivalry between the United States and the Soviet Union from 1945 to 1991, waged through alliances, proxy wars, and an arms race rather than direct combat.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Superpower</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Superpotencia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nation with overwhelming military, economic, and political power capable of projecting force globally; during the Cold War, only the United States and Soviet Union qualified as superpowers.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Capitalism</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Capitalismo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economic system based on private ownership, free markets, and competition, where individuals and businesses operate for profit, championed by the United States as superior to Soviet communism.</a:t>
            </a:r>
            <a:endParaRPr lang="en-US" sz="1300"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Truman Doctrine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Doctrina Truman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Truman's 1947 policy pledging U.S. support for nations threatened by Soviet communism, beginning with military and economic aid to Greece and Turkey, marking America's commitment to containing communist…</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Marshall Plan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Plan Marshall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massive U.S. program providing over $13 billion in economic aid to rebuild Western European economies after World War II (1948-1952), designed to prevent communist expansion by fostering prosperity and…</a:t>
            </a:r>
            <a:endParaRPr lang="en-US" sz="13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McCarthyism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Macartismo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practice of making accusations of subversion or treason without proper evidence, named after Senator Joseph McCarthy who led aggressive investigations of suspected communists in the 1950s.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Second Red Scare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Segundo Miedo Rojo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period of intense fear and persecution of suspected communists in America during the late 1940s and 1950s, driven by Cold War tensions and events like the Soviet atomic bomb and Korean War.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Blacklisting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Listas Negras</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practice of denying employment to people suspected of communist sympathies or refusing to cooperate with anti-communist investigations, particularly prevalent in the entertainment industry.</a:t>
            </a:r>
            <a:endParaRPr lang="en-US" sz="1300"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Korean War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de Corea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1950-1953 conflict in which communist North Korea (backed by China and the Soviet Union) invaded South Korea, prompting U.S.-led UN intervention in the first major "hot war" of the Cold War era.</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300" dirty="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Brinkmanship</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al Borde del Abismo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diplomatic strategy of pushing dangerous situations to the edge of war to force the other side to back down, associated with Secretary of State John Foster Dulles in the 1950s.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Eisenhower Doctrine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Doctrina Eisenhower</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Eisenhower's 1957 policy pledging U.S. military and economic aid to Middle Eastern countries resisting communist aggression, extending containment policy to protect oil supplies and strategic interests.</a:t>
            </a:r>
            <a:endParaRPr lang="en-US" sz="13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Nuclear Fears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Miedos Nucleares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widespread anxiety in 1950s America about nuclear war with the Soviet Union, driven by atomic bomb tests, the arms race, and fear of sudden nuclear annihilation.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Fallout Shelters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Refugios Antibombas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Underground or reinforced structures designed to protect people from radioactive fallout after a nuclear explosion, widely promoted and built during the 1950s as Cold War tensions escalated.</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Mutual Assured Destruction (MAD)</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Destrucción Mutua Asegurada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doctrine that nuclear war between the U.S. and Soviet Union would result in complete annihilation of both sides, theoretically preventing either from starting a war.</a:t>
            </a:r>
            <a:endParaRPr lang="en-US" sz="1300" dirty="0"/>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Cuban Missile Crisis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Cuban Missile Crisis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thirteen-day 1962 confrontation between the United States and the Soviet Union over Soviet nuclear missiles installed in Cuba, widely regarded as the closest the Cold War came to full-scale nuclear war.</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Brinkmanship</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al Borde del Abismo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diplomatic strategy of pushing dangerous situations to the edge of war to force the other side to back down, associated with Secretary of State John Foster Dulles in the 1950s.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Mutual Assured Destruction (MAD)</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Destrucción Mutua Asegurada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doctrine that nuclear war between the U.S. and Soviet Union would result in complete annihilation of both sides, theoretically preventing either from starting a war.</a:t>
            </a:r>
            <a:endParaRPr lang="en-US" sz="13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Korean War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de Corea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1950-1953 conflict in which communist North Korea (backed by China and the Soviet Union) invaded South Korea, prompting U.S.-led UN intervention in the first major "hot war" of the Cold War era.</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3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Cold War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Fría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prolonged geopolitical, ideological, and military rivalry between the United States and the Soviet Union from 1945 to 1991, waged through alliances, proxy wars, and an arms race rather than direct combat.</a:t>
            </a:r>
            <a:endParaRPr lang="en-US" sz="1300" dirty="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Youth Culture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Cultura Juvenil</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distinct set of tastes, music, fashion, and attitudes that emerged among American teenagers in the 1950s and 1960s, marking youth as a powerful new social and economic force.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Rock 'n' Roll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Rock 'n' Roll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revolutionary music genre that emerged in the 1950s, blending rhythm and blues with country music, challenging racial barriers and traditional values while becoming the soundtrack of youth rebellion.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Elvis Presley</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Elvis Presley</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Tennessee-born musician who became the "King of Rock 'n' Roll" in the 1950s, bringing Black rhythm and blues to white mainstream audiences and revolutionizing popular music and youth culture.</a:t>
            </a:r>
            <a:endParaRPr lang="en-US" sz="13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Space Race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Carrera Espacial</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competition between the United States and Soviet Union for supremacy in space exploration, driven by national pride, technological advancement, and military implications of rocket technology.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Sputnik</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Sputnik</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world's first artificial satellite, launched by the Soviet Union on October 4, 1957, shocking Americans and triggering fears about Soviet technological superiority and the "missile gap."</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Arms Race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Carrera Armamentista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Cold War competition between the United States and Soviet Union to develop increasingly powerful nuclear weapons and delivery systems, with each side trying to achieve military superiority.</a:t>
            </a:r>
            <a:endParaRPr lang="en-US" sz="13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Iron Curtain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Cortina de Hierro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Winston Churchill's metaphor for the political and military barrier dividing Soviet-controlled Eastern Europe from Western Europe after World War II.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Cold War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Fría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prolonged geopolitical, ideological, and military rivalry between the United States and the Soviet Union from 1945 to 1991, waged through alliances, proxy wars, and an arms race rather than direct combat.</a:t>
            </a:r>
            <a:endParaRPr lang="en-US" sz="1300"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Compare how the U.S. and USSR used economic aid and trade to compete for global influence during the Cold War.</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nations used economic assistance—like the U.S. Marshall Plan—to win allies, demonstrate their system's superiority, and expand their spheres of influence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the U.S. provided economic aid to other nations, though this interpretation lacks supporting historical evidence,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Economic competition was not part of the Cold War, but this oversimplifies the complex factors at work, but contemporary accounts and primary sources suggest otherwise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USSR provided more economic aid than the U.S, which does not reflect the consensus among historians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was the Marshall Plan successful in rebuilding Europe and preventing communist expansion?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provided only military assistance, but this oversimplifies the complex factors at work, which contradicts the primary source evidence from this era</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invested over $13 billion in European recovery, strengthening economies, creating American trade partners, and reducing the appeal of communism in struggling nations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was a failure that weakened European economies, but the historical record tells a more complex story and oversimplifies the complex factors at work during this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focused only on Eastern European nations, which contradicts the primary source evidence from this era, and this view has been largely revised by modern historical research</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Senator Joseph McCarthy's tactics initially gain support but eventually backfire?</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McCarthy never gained significant public support, which represents a common misconception about the period and fails to account for key developments in the broader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McCarthy maintained support throughout his career, though this interpretation lacks supporting historical evidence,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His accusations resonated with genuine fears, but his bullying tactics and baseless attacks on the Army exposed his methods as reckless and destructive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His tactics were always viewed as inappropriate, but this fails to account for the broader historical context,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Chinese entry into the Korean War change the conflict's course and duration?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Chinese involvement had no significant impact, but the historical record tells a more complex story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China supported UN forces against North Korea, but the historical record tells a more complex story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Chinese entry quickly ended the war, but this oversimplifies the complex factors at work</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China's 300,000 troops forced UN retreat, transformed a near-victory into stalemate, and extended the war by two years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Compare brinkmanship and peaceful coexistence as Cold War strategies.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Brinkmanship used nuclear threats aggressively while peaceful coexistence emphasized diplomatic competition—both aimed to avoid actual war while continuing ideological struggle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strategies were identical in approach, but contemporary accounts suggest a different explanation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strategy addressed nuclear weapons, but contemporary accounts suggest a different explanation,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Peaceful coexistence was more aggressive than brinkmanship, which ignores key developments that shaped the outcome, though this interpretation lacks supporting historical evidence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Sputnik shock Americans and change U.S. education and defense policies?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Sputnik had no significant impact on American policy, despite limited evidence supporting this interpretation,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demonstrated Soviet technological capability and potential ICBM threat, spurring the space race, increased science education funding, and heightened fears of nuclear vulnerability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Americans celebrated Soviet space achievements, but contemporary accounts suggest a different explanation, though this interpretation lacks supporting historical evidence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Sputnik only affected the space program, not other policies, although historical sources do not support this conclusion and oversimplifies the complex factors at work during this period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the Bay of Pigs invasion fail and what were its consequences?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invasion succeeded in overthrowing Castro, but this fails to account for the broader historical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invasion was never actually attempted, though this interpretation lacks supporting historical evidence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Kennedy's withdrawal of air support doomed the invasion, humiliating the U.S. and pushing Castro closer to Soviet protection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failure had no long-term consequences, which does not align with the documented historical record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the Gulf of Tonkin Resolution give President Johnson broad war powers without a formal declaration?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Congress formally declared war on North Vietnam, although this overlooks critical economic and social factors, although this overlooks critical economic and social factors involved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Johnson never received congressional authorization, although historical sources do not support this conclusion, but contemporary accounts and primary sources suggest otherwise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resolution only authorized economic sanctions, which represents a common misconception about the period, but the historical evidence paints a more nuanced picture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resolution authorized the president to use military force to assist Southeast Asian nations, effectively bypassing the constitutional requirement for a war declaration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Johnson's massive escalation fail to achieve victory in Vietnam?</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Despite 543,000 troops and extensive bombing, conventional military power proved ineffective against guerrilla warfare and a determined enemy fighting on their homeland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Johnson never significantly escalated American involvement, despite limited evidence supporting this interpretation, but contemporary accounts and primary sources suggest otherwise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 forces won every major engagement, despite the fact that multiple sources contradict this view,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Congress prevented Johnson from adequate escalation, but contemporary accounts suggest a different explanation, which represents a common misconception about this historical period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changes did the draft lottery system make and how did it contribute to the 26th Amendment?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lottery eliminated all draft inequities, despite the fact that multiple sources contradict this view, which contradicts the primary source evidence from this era</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While the lottery added some fairness, class bias remained through deferments, and opposition to drafting 18-year-olds who couldn't vote led to the 26th Amendment</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draft had no connection to voting rights, but the historical record tells a more complex story and fails to account for key developments in the broader context</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lottery was never actually implemented, which does not align with the documented historical record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early Soviet successes like Sputnik and Gagarin shock Americans and change education policy?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Soviet achievements had no impact on American policy, which does not align with the documented historical record, although historical sources do not support this conclusion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Americans were not concerned about Soviet space achievements, which does not reflect the consensus among historians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suggested Soviet technological superiority, prompting NASA's creation, the National Defense Education Act, and massive investment in science education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Education policy remained unchanged after Sputnik, yet the available evidence points to a different conclusion and fails to account for key developments in the broader context</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significance did the SALT Treaties have for nuclear arms control?</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SALT treaties had no practical effect, though this interpretation lacks supporting historical evidence, although this overlooks critical economic and social factors involved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SALT treaties eliminated all nuclear weapons, but this oversimplifies the complex factors at work, and this view has been largely revised by modern historical research</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the Soviet Union agreed to limitations, but this oversimplifies the complex factors at work, but contemporary accounts and primary sources suggest otherwise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were the first successful nuclear arms agreements, limiting missiles and establishing verification procedures that demonstrated both nations wanted to avoid nuclear war</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7 — Lean Student Deck (US.59–US.70) — The Cold War &amp; Postwar America</dc:subject>
  <dc:creator>TroopToTeacher Technologies LLC</dc:creator>
  <cp:lastModifiedBy>TroopToTeacher Technologies LLC</cp:lastModifiedBy>
  <cp:revision>1</cp:revision>
  <dcterms:created xsi:type="dcterms:W3CDTF">2026-07-02T18:00:06Z</dcterms:created>
  <dcterms:modified xsi:type="dcterms:W3CDTF">2026-07-02T18:00:06Z</dcterms:modified>
</cp:coreProperties>
</file>
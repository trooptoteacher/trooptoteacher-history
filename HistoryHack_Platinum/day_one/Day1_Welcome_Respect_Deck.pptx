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5-1.jpg" ContentType="image/jpg"/>
  <Override PartName="/ppt/media/image-11-1.jpg" ContentType="image/jpg"/>
  <Override PartName="/ppt/media/image-14-1.jpg" ContentType="image/jpg"/>
  <Override PartName="/ppt/media/image-23-1.jpg" ContentType="image/jpg"/>
  <Override PartName="/ppt/media/image-36-1.jpg" ContentType="image/jpg"/>
  <Override PartName="/ppt/media/image-37-1.jpg" ContentType="image/jpg"/>
  <Override PartName="/ppt/media/image-41-1.jpg" ContentType="image/jpg"/>
  <Override PartName="/ppt/media/image-44-1.jpg" ContentType="image/jpg"/>
  <Override PartName="/ppt/media/image-52-1.jpg" ContentType="image/jpg"/>
  <Override PartName="/ppt/media/image-59-1.jpg" ContentType="image/jpg"/>
  <Override PartName="/ppt/media/image-68-1.jpg" ContentType="image/jpg"/>
  <Override PartName="/ppt/media/image-71-1.jpg" ContentType="image/jpg"/>
  <Override PartName="/ppt/media/image-74-1.jpg" ContentType="image/jpg"/>
  <Override PartName="/ppt/media/image-8-1.jpg" ContentType="image/jpg"/>
  <Override PartName="/ppt/media/image-82-1.jpg" ContentType="image/jpg"/>
  <Override PartName="/ppt/media/image-84-1.jpg" ContentType="image/jpg"/>
  <Override PartName="/ppt/media/image-86-1.jpg" ContentType="image/jpg"/>
  <Override PartName="/ppt/media/image-89-1.jpg" ContentType="image/jpg"/>
  <Override PartName="/ppt/media/image-9-1.jpg" ContentType="image/jpg"/>
  <Override PartName="/ppt/media/image-97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16"/>
    <p:sldId id="257" r:id="rId117"/>
    <p:sldId id="258" r:id="rId118"/>
    <p:sldId id="259" r:id="rId119"/>
    <p:sldId id="260" r:id="rId120"/>
    <p:sldId id="261" r:id="rId121"/>
    <p:sldId id="262" r:id="rId122"/>
    <p:sldId id="263" r:id="rId123"/>
    <p:sldId id="264" r:id="rId124"/>
    <p:sldId id="265" r:id="rId125"/>
    <p:sldId id="266" r:id="rId126"/>
  </p:sldIdLst>
  <p:notesMasterIdLst>
    <p:notesMasterId r:id="rId1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11" Type="http://schemas.openxmlformats.org/officeDocument/2006/relationships/notesMaster" Target="notesMasters/notesMaster1.xml"/><Relationship Id="rId112" Type="http://schemas.openxmlformats.org/officeDocument/2006/relationships/presProps" Target="presProps.xml"/><Relationship Id="rId113" Type="http://schemas.openxmlformats.org/officeDocument/2006/relationships/viewProps" Target="viewProps.xml"/><Relationship Id="rId114" Type="http://schemas.openxmlformats.org/officeDocument/2006/relationships/theme" Target="theme/theme1.xml"/><Relationship Id="rId115" Type="http://schemas.openxmlformats.org/officeDocument/2006/relationships/tableStyles" Target="tableStyles.xml"/><Relationship Id="rId116" Type="http://schemas.openxmlformats.org/officeDocument/2006/relationships/slide" Target="slides/slide1.xml"/><Relationship Id="rId117" Type="http://schemas.openxmlformats.org/officeDocument/2006/relationships/slide" Target="slides/slide2.xml"/><Relationship Id="rId118" Type="http://schemas.openxmlformats.org/officeDocument/2006/relationships/slide" Target="slides/slide3.xml"/><Relationship Id="rId119" Type="http://schemas.openxmlformats.org/officeDocument/2006/relationships/slide" Target="slides/slide4.xml"/><Relationship Id="rId120" Type="http://schemas.openxmlformats.org/officeDocument/2006/relationships/slide" Target="slides/slide5.xml"/><Relationship Id="rId121" Type="http://schemas.openxmlformats.org/officeDocument/2006/relationships/slide" Target="slides/slide6.xml"/><Relationship Id="rId122" Type="http://schemas.openxmlformats.org/officeDocument/2006/relationships/slide" Target="slides/slide7.xml"/><Relationship Id="rId123" Type="http://schemas.openxmlformats.org/officeDocument/2006/relationships/slide" Target="slides/slide8.xml"/><Relationship Id="rId124" Type="http://schemas.openxmlformats.org/officeDocument/2006/relationships/slide" Target="slides/slide9.xml"/><Relationship Id="rId125" Type="http://schemas.openxmlformats.org/officeDocument/2006/relationships/slide" Target="slides/slide10.xml"/><Relationship Id="rId12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U.S. HISTORY HACK · DAY ONE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3400" b="0" i="0" dirty="0">
                <a:solidFill>
                  <a:srgbClr val="1F3A5F"/>
                </a:solidFill>
                <a:latin typeface="Georgia"/>
              </a:rPr>
              <a:t>Welcome aboard.</a:t>
            </a:r>
          </a:p>
        </p:txBody>
      </p:sp>
      <p:sp>
        <p:nvSpPr>
          <p:cNvPr id="5" name="t5"/>
          <p:cNvSpPr/>
          <p:nvPr/>
        </p:nvSpPr>
        <p:spPr>
          <a:xfrm>
            <a:off x="666750" y="1762125"/>
            <a:ext cx="10001250" cy="762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500" b="0" i="0" dirty="0">
                <a:solidFill>
                  <a:srgbClr val="33475B"/>
                </a:solidFill>
                <a:latin typeface="Calibri"/>
              </a:rPr>
              <a:t>Find your seat, open your Chromebook, and take a breath.</a:t>
            </a:r>
          </a:p>
          <a:p>
            <a:pPr algn="l">
              <a:lnSpc>
                <a:spcPct val="108000"/>
              </a:lnSpc>
              <a:buNone/>
            </a:pPr>
            <a:r>
              <a:rPr lang="en-US" sz="1500" b="0" i="0" dirty="0">
                <a:solidFill>
                  <a:srgbClr val="33475B"/>
                </a:solidFill>
                <a:latin typeface="Calibri"/>
              </a:rPr>
              <a:t>We're about to hack a whole century — together.</a:t>
            </a:r>
          </a:p>
        </p:txBody>
      </p:sp>
      <p:sp>
        <p:nvSpPr>
          <p:cNvPr id="6" name="r6"/>
          <p:cNvSpPr/>
          <p:nvPr/>
        </p:nvSpPr>
        <p:spPr>
          <a:xfrm>
            <a:off x="666750" y="2857500"/>
            <a:ext cx="10858500" cy="114300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7" name="r7"/>
          <p:cNvSpPr/>
          <p:nvPr/>
        </p:nvSpPr>
        <p:spPr>
          <a:xfrm>
            <a:off x="666750" y="2857500"/>
            <a:ext cx="66675" cy="1143000"/>
          </a:xfrm>
          <a:prstGeom prst="rect">
            <a:avLst/>
          </a:prstGeom>
          <a:solidFill>
            <a:srgbClr val="C9A227"/>
          </a:solidFill>
        </p:spPr>
        <p:txBody>
          <a:bodyPr/>
          <a:lstStyle/>
          <a:p/>
        </p:txBody>
      </p:sp>
      <p:sp>
        <p:nvSpPr>
          <p:cNvPr id="8" name="t8"/>
          <p:cNvSpPr/>
          <p:nvPr/>
        </p:nvSpPr>
        <p:spPr>
          <a:xfrm>
            <a:off x="914400" y="2971800"/>
            <a:ext cx="10382250" cy="9525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>
              <a:lnSpc>
                <a:spcPct val="108000"/>
              </a:lnSpc>
              <a:buNone/>
            </a:pPr>
            <a:r>
              <a:rPr lang="en-US" sz="1500" b="1" i="0" dirty="0">
                <a:solidFill>
                  <a:srgbClr val="1F3A5F"/>
                </a:solidFill>
                <a:latin typeface="Calibri"/>
              </a:rPr>
              <a:t>Bell-ringer: </a:t>
            </a:r>
            <a:r>
              <a:rPr lang="en-US" sz="1500" b="0" i="0" dirty="0">
                <a:solidFill>
                  <a:srgbClr val="1F2430"/>
                </a:solidFill>
                <a:latin typeface="Calibri"/>
              </a:rPr>
              <a:t>On the sticky note at your seat, write one word for how you feel about history right now. Stick it on the board on your way in.</a:t>
            </a:r>
          </a:p>
        </p:txBody>
      </p:sp>
      <p:sp>
        <p:nvSpPr>
          <p:cNvPr id="9" name="t9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10" name="t10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as you enter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AGENDA · 20 MINUTES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3400" b="0" i="0" dirty="0">
                <a:solidFill>
                  <a:srgbClr val="1F3A5F"/>
                </a:solidFill>
                <a:latin typeface="Georgia"/>
              </a:rPr>
              <a:t>Today's flight plan</a:t>
            </a:r>
          </a:p>
        </p:txBody>
      </p:sp>
      <p:sp>
        <p:nvSpPr>
          <p:cNvPr id="5" name="r5"/>
          <p:cNvSpPr/>
          <p:nvPr/>
        </p:nvSpPr>
        <p:spPr>
          <a:xfrm>
            <a:off x="666750" y="1666875"/>
            <a:ext cx="10858500" cy="685800"/>
          </a:xfrm>
          <a:prstGeom prst="roundRect">
            <a:avLst/>
          </a:prstGeom>
          <a:solidFill>
            <a:srgbClr val="EAF0F7"/>
          </a:solidFill>
        </p:spPr>
        <p:txBody>
          <a:bodyPr/>
          <a:lstStyle/>
          <a:p/>
        </p:txBody>
      </p:sp>
      <p:sp>
        <p:nvSpPr>
          <p:cNvPr id="6" name="r6"/>
          <p:cNvSpPr/>
          <p:nvPr/>
        </p:nvSpPr>
        <p:spPr>
          <a:xfrm>
            <a:off x="876300" y="1800225"/>
            <a:ext cx="419100" cy="419100"/>
          </a:xfrm>
          <a:prstGeom prst="ellipse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7" name="t7"/>
          <p:cNvSpPr/>
          <p:nvPr/>
        </p:nvSpPr>
        <p:spPr>
          <a:xfrm>
            <a:off x="876300" y="1800225"/>
            <a:ext cx="419100" cy="4191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8"/>
          <p:cNvSpPr/>
          <p:nvPr/>
        </p:nvSpPr>
        <p:spPr>
          <a:xfrm>
            <a:off x="1428750" y="1666875"/>
            <a:ext cx="72390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>
              <a:lnSpc>
                <a:spcPct val="108000"/>
              </a:lnSpc>
              <a:buNone/>
            </a:pPr>
            <a:r>
              <a:rPr lang="en-US" sz="1700" b="0" i="0" dirty="0">
                <a:solidFill>
                  <a:srgbClr val="1F2430"/>
                </a:solidFill>
                <a:latin typeface="Calibri"/>
              </a:rPr>
              <a:t>Log into Schoology</a:t>
            </a:r>
          </a:p>
        </p:txBody>
      </p:sp>
      <p:sp>
        <p:nvSpPr>
          <p:cNvPr id="9" name="t9"/>
          <p:cNvSpPr/>
          <p:nvPr/>
        </p:nvSpPr>
        <p:spPr>
          <a:xfrm>
            <a:off x="9620250" y="1666875"/>
            <a:ext cx="17145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r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846009"/>
                </a:solidFill>
                <a:latin typeface="Calibri"/>
              </a:rPr>
              <a:t>4 min</a:t>
            </a:r>
          </a:p>
        </p:txBody>
      </p:sp>
      <p:sp>
        <p:nvSpPr>
          <p:cNvPr id="10" name="r10"/>
          <p:cNvSpPr/>
          <p:nvPr/>
        </p:nvSpPr>
        <p:spPr>
          <a:xfrm>
            <a:off x="666750" y="2505075"/>
            <a:ext cx="10858500" cy="685800"/>
          </a:xfrm>
          <a:prstGeom prst="roundRect">
            <a:avLst/>
          </a:prstGeom>
          <a:solidFill>
            <a:srgbClr val="EAF0F7"/>
          </a:solidFill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876300" y="2638425"/>
            <a:ext cx="419100" cy="419100"/>
          </a:xfrm>
          <a:prstGeom prst="ellipse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2" name="t12"/>
          <p:cNvSpPr/>
          <p:nvPr/>
        </p:nvSpPr>
        <p:spPr>
          <a:xfrm>
            <a:off x="876300" y="2638425"/>
            <a:ext cx="419100" cy="4191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13"/>
          <p:cNvSpPr/>
          <p:nvPr/>
        </p:nvSpPr>
        <p:spPr>
          <a:xfrm>
            <a:off x="1428750" y="2505075"/>
            <a:ext cx="72390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>
              <a:lnSpc>
                <a:spcPct val="108000"/>
              </a:lnSpc>
              <a:buNone/>
            </a:pPr>
            <a:r>
              <a:rPr lang="en-US" sz="1700" b="0" i="0" dirty="0">
                <a:solidFill>
                  <a:srgbClr val="1F2430"/>
                </a:solidFill>
                <a:latin typeface="Calibri"/>
              </a:rPr>
              <a:t>Quick tour — where everything lives</a:t>
            </a:r>
          </a:p>
        </p:txBody>
      </p:sp>
      <p:sp>
        <p:nvSpPr>
          <p:cNvPr id="14" name="t14"/>
          <p:cNvSpPr/>
          <p:nvPr/>
        </p:nvSpPr>
        <p:spPr>
          <a:xfrm>
            <a:off x="9620250" y="2505075"/>
            <a:ext cx="17145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r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846009"/>
                </a:solidFill>
                <a:latin typeface="Calibri"/>
              </a:rPr>
              <a:t>3 min</a:t>
            </a:r>
          </a:p>
        </p:txBody>
      </p:sp>
      <p:sp>
        <p:nvSpPr>
          <p:cNvPr id="15" name="r15"/>
          <p:cNvSpPr/>
          <p:nvPr/>
        </p:nvSpPr>
        <p:spPr>
          <a:xfrm>
            <a:off x="666750" y="3343275"/>
            <a:ext cx="10858500" cy="685800"/>
          </a:xfrm>
          <a:prstGeom prst="roundRect">
            <a:avLst/>
          </a:prstGeom>
          <a:solidFill>
            <a:srgbClr val="EAF0F7"/>
          </a:solidFill>
        </p:spPr>
        <p:txBody>
          <a:bodyPr/>
          <a:lstStyle/>
          <a:p/>
        </p:txBody>
      </p:sp>
      <p:sp>
        <p:nvSpPr>
          <p:cNvPr id="16" name="r16"/>
          <p:cNvSpPr/>
          <p:nvPr/>
        </p:nvSpPr>
        <p:spPr>
          <a:xfrm>
            <a:off x="876300" y="3476625"/>
            <a:ext cx="419100" cy="419100"/>
          </a:xfrm>
          <a:prstGeom prst="ellipse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7" name="t17"/>
          <p:cNvSpPr/>
          <p:nvPr/>
        </p:nvSpPr>
        <p:spPr>
          <a:xfrm>
            <a:off x="876300" y="3476625"/>
            <a:ext cx="419100" cy="4191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18"/>
          <p:cNvSpPr/>
          <p:nvPr/>
        </p:nvSpPr>
        <p:spPr>
          <a:xfrm>
            <a:off x="1428750" y="3343275"/>
            <a:ext cx="72390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>
              <a:lnSpc>
                <a:spcPct val="108000"/>
              </a:lnSpc>
              <a:buNone/>
            </a:pPr>
            <a:r>
              <a:rPr lang="en-US" sz="1700" b="0" i="0" dirty="0">
                <a:solidFill>
                  <a:srgbClr val="1F2430"/>
                </a:solidFill>
                <a:latin typeface="Calibri"/>
              </a:rPr>
              <a:t>Syllabus</a:t>
            </a:r>
          </a:p>
        </p:txBody>
      </p:sp>
      <p:sp>
        <p:nvSpPr>
          <p:cNvPr id="19" name="t19"/>
          <p:cNvSpPr/>
          <p:nvPr/>
        </p:nvSpPr>
        <p:spPr>
          <a:xfrm>
            <a:off x="9620250" y="3343275"/>
            <a:ext cx="17145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r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846009"/>
                </a:solidFill>
                <a:latin typeface="Calibri"/>
              </a:rPr>
              <a:t>2 min</a:t>
            </a:r>
          </a:p>
        </p:txBody>
      </p:sp>
      <p:sp>
        <p:nvSpPr>
          <p:cNvPr id="20" name="r20"/>
          <p:cNvSpPr/>
          <p:nvPr/>
        </p:nvSpPr>
        <p:spPr>
          <a:xfrm>
            <a:off x="666750" y="4181475"/>
            <a:ext cx="10858500" cy="685800"/>
          </a:xfrm>
          <a:prstGeom prst="roundRect">
            <a:avLst/>
          </a:prstGeom>
          <a:solidFill>
            <a:srgbClr val="EAF0F7"/>
          </a:solidFill>
        </p:spPr>
        <p:txBody>
          <a:bodyPr/>
          <a:lstStyle/>
          <a:p/>
        </p:txBody>
      </p:sp>
      <p:sp>
        <p:nvSpPr>
          <p:cNvPr id="21" name="r21"/>
          <p:cNvSpPr/>
          <p:nvPr/>
        </p:nvSpPr>
        <p:spPr>
          <a:xfrm>
            <a:off x="876300" y="4314825"/>
            <a:ext cx="419100" cy="419100"/>
          </a:xfrm>
          <a:prstGeom prst="ellipse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22" name="t22"/>
          <p:cNvSpPr/>
          <p:nvPr/>
        </p:nvSpPr>
        <p:spPr>
          <a:xfrm>
            <a:off x="876300" y="4314825"/>
            <a:ext cx="419100" cy="4191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23"/>
          <p:cNvSpPr/>
          <p:nvPr/>
        </p:nvSpPr>
        <p:spPr>
          <a:xfrm>
            <a:off x="1428750" y="4181475"/>
            <a:ext cx="72390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>
              <a:lnSpc>
                <a:spcPct val="108000"/>
              </a:lnSpc>
              <a:buNone/>
            </a:pPr>
            <a:r>
              <a:rPr lang="en-US" sz="1700" b="0" i="0" dirty="0">
                <a:solidFill>
                  <a:srgbClr val="1F2430"/>
                </a:solidFill>
                <a:latin typeface="Calibri"/>
              </a:rPr>
              <a:t>Our one rule</a:t>
            </a:r>
          </a:p>
        </p:txBody>
      </p:sp>
      <p:sp>
        <p:nvSpPr>
          <p:cNvPr id="24" name="t24"/>
          <p:cNvSpPr/>
          <p:nvPr/>
        </p:nvSpPr>
        <p:spPr>
          <a:xfrm>
            <a:off x="9620250" y="4181475"/>
            <a:ext cx="17145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r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846009"/>
                </a:solidFill>
                <a:latin typeface="Calibri"/>
              </a:rPr>
              <a:t>1 min</a:t>
            </a:r>
          </a:p>
        </p:txBody>
      </p:sp>
      <p:sp>
        <p:nvSpPr>
          <p:cNvPr id="25" name="r25"/>
          <p:cNvSpPr/>
          <p:nvPr/>
        </p:nvSpPr>
        <p:spPr>
          <a:xfrm>
            <a:off x="666750" y="5019675"/>
            <a:ext cx="10858500" cy="685800"/>
          </a:xfrm>
          <a:prstGeom prst="roundRect">
            <a:avLst/>
          </a:prstGeom>
          <a:solidFill>
            <a:srgbClr val="EAF0F7"/>
          </a:solidFill>
        </p:spPr>
        <p:txBody>
          <a:bodyPr/>
          <a:lstStyle/>
          <a:p/>
        </p:txBody>
      </p:sp>
      <p:sp>
        <p:nvSpPr>
          <p:cNvPr id="26" name="r26"/>
          <p:cNvSpPr/>
          <p:nvPr/>
        </p:nvSpPr>
        <p:spPr>
          <a:xfrm>
            <a:off x="876300" y="5153025"/>
            <a:ext cx="419100" cy="419100"/>
          </a:xfrm>
          <a:prstGeom prst="ellipse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27" name="t27"/>
          <p:cNvSpPr/>
          <p:nvPr/>
        </p:nvSpPr>
        <p:spPr>
          <a:xfrm>
            <a:off x="876300" y="5153025"/>
            <a:ext cx="419100" cy="4191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28"/>
          <p:cNvSpPr/>
          <p:nvPr/>
        </p:nvSpPr>
        <p:spPr>
          <a:xfrm>
            <a:off x="1428750" y="5019675"/>
            <a:ext cx="72390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>
              <a:lnSpc>
                <a:spcPct val="108000"/>
              </a:lnSpc>
              <a:buNone/>
            </a:pPr>
            <a:r>
              <a:rPr lang="en-US" sz="1700" b="0" i="0" dirty="0">
                <a:solidFill>
                  <a:srgbClr val="1F2430"/>
                </a:solidFill>
                <a:latin typeface="Calibri"/>
              </a:rPr>
              <a:t>You write the rules</a:t>
            </a:r>
          </a:p>
        </p:txBody>
      </p:sp>
      <p:sp>
        <p:nvSpPr>
          <p:cNvPr id="29" name="t29"/>
          <p:cNvSpPr/>
          <p:nvPr/>
        </p:nvSpPr>
        <p:spPr>
          <a:xfrm>
            <a:off x="9620250" y="5019675"/>
            <a:ext cx="17145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r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846009"/>
                </a:solidFill>
                <a:latin typeface="Calibri"/>
              </a:rPr>
              <a:t>3 min</a:t>
            </a:r>
          </a:p>
        </p:txBody>
      </p:sp>
      <p:sp>
        <p:nvSpPr>
          <p:cNvPr id="30" name="t30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31" name="t31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1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MEET YOUR PILOT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3000" b="0" i="0" dirty="0">
                <a:solidFill>
                  <a:srgbClr val="1F3A5F"/>
                </a:solidFill>
                <a:latin typeface="Georgia"/>
              </a:rPr>
              <a:t>Mr. Reynolds — Two Truths &amp; a Lie</a:t>
            </a:r>
          </a:p>
        </p:txBody>
      </p:sp>
      <p:sp>
        <p:nvSpPr>
          <p:cNvPr id="5" name="t5"/>
          <p:cNvSpPr/>
          <p:nvPr/>
        </p:nvSpPr>
        <p:spPr>
          <a:xfrm>
            <a:off x="666750" y="1666875"/>
            <a:ext cx="10668000" cy="4191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0" i="0" dirty="0">
                <a:solidFill>
                  <a:srgbClr val="33475B"/>
                </a:solidFill>
                <a:latin typeface="Calibri"/>
              </a:rPr>
              <a:t>Two of these are true. One is a bald-faced lie. </a:t>
            </a:r>
            <a:r>
              <a:rPr lang="en-US" sz="1400" b="1" i="0" dirty="0">
                <a:solidFill>
                  <a:srgbClr val="33475B"/>
                </a:solidFill>
                <a:latin typeface="Calibri"/>
              </a:rPr>
              <a:t>Vote with your hands.</a:t>
            </a:r>
          </a:p>
        </p:txBody>
      </p:sp>
      <p:sp>
        <p:nvSpPr>
          <p:cNvPr id="6" name="r6"/>
          <p:cNvSpPr/>
          <p:nvPr/>
        </p:nvSpPr>
        <p:spPr>
          <a:xfrm>
            <a:off x="666750" y="2238375"/>
            <a:ext cx="3429000" cy="1809750"/>
          </a:xfrm>
          <a:prstGeom prst="roundRect">
            <a:avLst/>
          </a:prstGeom>
          <a:solidFill>
            <a:srgbClr val="EAF0F7"/>
          </a:solidFill>
        </p:spPr>
        <p:txBody>
          <a:bodyPr/>
          <a:lstStyle/>
          <a:p/>
        </p:txBody>
      </p:sp>
      <p:sp>
        <p:nvSpPr>
          <p:cNvPr id="7" name="t7"/>
          <p:cNvSpPr/>
          <p:nvPr/>
        </p:nvSpPr>
        <p:spPr>
          <a:xfrm>
            <a:off x="857250" y="2381250"/>
            <a:ext cx="3048000" cy="476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2600" b="1" i="0" dirty="0">
                <a:solidFill>
                  <a:srgbClr val="B22234"/>
                </a:solidFill>
                <a:latin typeface="Georgia"/>
              </a:rPr>
              <a:t>1</a:t>
            </a:r>
          </a:p>
        </p:txBody>
      </p:sp>
      <p:sp>
        <p:nvSpPr>
          <p:cNvPr id="8" name="t8"/>
          <p:cNvSpPr/>
          <p:nvPr/>
        </p:nvSpPr>
        <p:spPr>
          <a:xfrm>
            <a:off x="857250" y="3048000"/>
            <a:ext cx="3048000" cy="857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0" i="1" dirty="0">
                <a:solidFill>
                  <a:srgbClr val="94794F"/>
                </a:solidFill>
                <a:latin typeface="Calibri"/>
              </a:rPr>
              <a:t>[ write something true about you ]</a:t>
            </a:r>
          </a:p>
        </p:txBody>
      </p:sp>
      <p:sp>
        <p:nvSpPr>
          <p:cNvPr id="9" name="r9"/>
          <p:cNvSpPr/>
          <p:nvPr/>
        </p:nvSpPr>
        <p:spPr>
          <a:xfrm>
            <a:off x="4381500" y="2238375"/>
            <a:ext cx="3429000" cy="1809750"/>
          </a:xfrm>
          <a:prstGeom prst="roundRect">
            <a:avLst/>
          </a:prstGeom>
          <a:solidFill>
            <a:srgbClr val="EAF0F7"/>
          </a:solidFill>
        </p:spPr>
        <p:txBody>
          <a:bodyPr/>
          <a:lstStyle/>
          <a:p/>
        </p:txBody>
      </p:sp>
      <p:sp>
        <p:nvSpPr>
          <p:cNvPr id="10" name="t10"/>
          <p:cNvSpPr/>
          <p:nvPr/>
        </p:nvSpPr>
        <p:spPr>
          <a:xfrm>
            <a:off x="4572000" y="2381250"/>
            <a:ext cx="3048000" cy="476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2600" b="1" i="0" dirty="0">
                <a:solidFill>
                  <a:srgbClr val="B22234"/>
                </a:solidFill>
                <a:latin typeface="Georgia"/>
              </a:rPr>
              <a:t>2</a:t>
            </a:r>
          </a:p>
        </p:txBody>
      </p:sp>
      <p:sp>
        <p:nvSpPr>
          <p:cNvPr id="11" name="t11"/>
          <p:cNvSpPr/>
          <p:nvPr/>
        </p:nvSpPr>
        <p:spPr>
          <a:xfrm>
            <a:off x="4572000" y="3048000"/>
            <a:ext cx="3048000" cy="857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0" i="1" dirty="0">
                <a:solidFill>
                  <a:srgbClr val="94794F"/>
                </a:solidFill>
                <a:latin typeface="Calibri"/>
              </a:rPr>
              <a:t>[ write the lie — make it believable ]</a:t>
            </a:r>
          </a:p>
        </p:txBody>
      </p:sp>
      <p:sp>
        <p:nvSpPr>
          <p:cNvPr id="12" name="r12"/>
          <p:cNvSpPr/>
          <p:nvPr/>
        </p:nvSpPr>
        <p:spPr>
          <a:xfrm>
            <a:off x="8096250" y="2238375"/>
            <a:ext cx="3429000" cy="1809750"/>
          </a:xfrm>
          <a:prstGeom prst="roundRect">
            <a:avLst/>
          </a:prstGeom>
          <a:solidFill>
            <a:srgbClr val="EAF0F7"/>
          </a:solidFill>
        </p:spPr>
        <p:txBody>
          <a:bodyPr/>
          <a:lstStyle/>
          <a:p/>
        </p:txBody>
      </p:sp>
      <p:sp>
        <p:nvSpPr>
          <p:cNvPr id="13" name="t13"/>
          <p:cNvSpPr/>
          <p:nvPr/>
        </p:nvSpPr>
        <p:spPr>
          <a:xfrm>
            <a:off x="8286750" y="2381250"/>
            <a:ext cx="3048000" cy="476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2600" b="1" i="0" dirty="0">
                <a:solidFill>
                  <a:srgbClr val="B22234"/>
                </a:solidFill>
                <a:latin typeface="Georgia"/>
              </a:rPr>
              <a:t>3</a:t>
            </a:r>
          </a:p>
        </p:txBody>
      </p:sp>
      <p:sp>
        <p:nvSpPr>
          <p:cNvPr id="14" name="t14"/>
          <p:cNvSpPr/>
          <p:nvPr/>
        </p:nvSpPr>
        <p:spPr>
          <a:xfrm>
            <a:off x="8286750" y="3048000"/>
            <a:ext cx="3048000" cy="857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0" i="1" dirty="0">
                <a:solidFill>
                  <a:srgbClr val="94794F"/>
                </a:solidFill>
                <a:latin typeface="Calibri"/>
              </a:rPr>
              <a:t>[ write something true about you ]</a:t>
            </a:r>
          </a:p>
        </p:txBody>
      </p:sp>
      <p:sp>
        <p:nvSpPr>
          <p:cNvPr id="15" name="t15"/>
          <p:cNvSpPr/>
          <p:nvPr/>
        </p:nvSpPr>
        <p:spPr>
          <a:xfrm>
            <a:off x="666750" y="4191000"/>
            <a:ext cx="10668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200" b="0" i="1" dirty="0">
                <a:solidFill>
                  <a:srgbClr val="5A6675"/>
                </a:solidFill>
                <a:latin typeface="Calibri"/>
              </a:rPr>
              <a:t>Teacher: fill these three in with your real facts before class.</a:t>
            </a:r>
          </a:p>
        </p:txBody>
      </p:sp>
      <p:sp>
        <p:nvSpPr>
          <p:cNvPr id="16" name="t16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17" name="t17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3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THE YEAR AHEAD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4200" b="0" i="0" dirty="0">
                <a:solidFill>
                  <a:srgbClr val="1F3A5F"/>
                </a:solidFill>
                <a:latin typeface="Georgia"/>
              </a:rPr>
              <a:t>Don't just learn history. Hack it.</a:t>
            </a:r>
          </a:p>
        </p:txBody>
      </p:sp>
      <p:sp>
        <p:nvSpPr>
          <p:cNvPr id="5" name="r5"/>
          <p:cNvSpPr/>
          <p:nvPr/>
        </p:nvSpPr>
        <p:spPr>
          <a:xfrm>
            <a:off x="666750" y="1952625"/>
            <a:ext cx="3429000" cy="2047875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6" name="r6"/>
          <p:cNvSpPr/>
          <p:nvPr/>
        </p:nvSpPr>
        <p:spPr>
          <a:xfrm>
            <a:off x="666750" y="1952625"/>
            <a:ext cx="66675" cy="2047875"/>
          </a:xfrm>
          <a:prstGeom prst="rect">
            <a:avLst/>
          </a:prstGeom>
          <a:solidFill>
            <a:srgbClr val="C9A227"/>
          </a:solidFill>
        </p:spPr>
        <p:txBody>
          <a:bodyPr/>
          <a:lstStyle/>
          <a:p/>
        </p:txBody>
      </p:sp>
      <p:sp>
        <p:nvSpPr>
          <p:cNvPr id="7" name="t7"/>
          <p:cNvSpPr/>
          <p:nvPr/>
        </p:nvSpPr>
        <p:spPr>
          <a:xfrm>
            <a:off x="876300" y="2114550"/>
            <a:ext cx="3048000" cy="476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550" b="1" i="0" dirty="0">
                <a:solidFill>
                  <a:srgbClr val="1F3A5F"/>
                </a:solidFill>
                <a:latin typeface="Calibri"/>
              </a:rPr>
              <a:t>You're the historian.</a:t>
            </a:r>
          </a:p>
        </p:txBody>
      </p:sp>
      <p:sp>
        <p:nvSpPr>
          <p:cNvPr id="8" name="t8"/>
          <p:cNvSpPr/>
          <p:nvPr/>
        </p:nvSpPr>
        <p:spPr>
          <a:xfrm>
            <a:off x="876300" y="2647950"/>
            <a:ext cx="3048000" cy="1238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50" b="0" i="0" dirty="0">
                <a:solidFill>
                  <a:srgbClr val="1F2430"/>
                </a:solidFill>
                <a:latin typeface="Calibri"/>
              </a:rPr>
              <a:t>You'll weigh real primary sources and make your own call — there's no answer key.</a:t>
            </a:r>
          </a:p>
        </p:txBody>
      </p:sp>
      <p:sp>
        <p:nvSpPr>
          <p:cNvPr id="9" name="r9"/>
          <p:cNvSpPr/>
          <p:nvPr/>
        </p:nvSpPr>
        <p:spPr>
          <a:xfrm>
            <a:off x="4381500" y="1952625"/>
            <a:ext cx="3429000" cy="2047875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4381500" y="1952625"/>
            <a:ext cx="66675" cy="2047875"/>
          </a:xfrm>
          <a:prstGeom prst="rect">
            <a:avLst/>
          </a:prstGeom>
          <a:solidFill>
            <a:srgbClr val="C9A227"/>
          </a:solidFill>
        </p:spPr>
        <p:txBody>
          <a:bodyPr/>
          <a:lstStyle/>
          <a:p/>
        </p:txBody>
      </p:sp>
      <p:sp>
        <p:nvSpPr>
          <p:cNvPr id="11" name="t11"/>
          <p:cNvSpPr/>
          <p:nvPr/>
        </p:nvSpPr>
        <p:spPr>
          <a:xfrm>
            <a:off x="4591050" y="2114550"/>
            <a:ext cx="3048000" cy="476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550" b="1" i="0" dirty="0">
                <a:solidFill>
                  <a:srgbClr val="1F3A5F"/>
                </a:solidFill>
                <a:latin typeface="Calibri"/>
              </a:rPr>
              <a:t>1877 to today.</a:t>
            </a:r>
          </a:p>
        </p:txBody>
      </p:sp>
      <p:sp>
        <p:nvSpPr>
          <p:cNvPr id="12" name="t12"/>
          <p:cNvSpPr/>
          <p:nvPr/>
        </p:nvSpPr>
        <p:spPr>
          <a:xfrm>
            <a:off x="4591050" y="2647950"/>
            <a:ext cx="3048000" cy="1238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50" b="0" i="0" dirty="0">
                <a:solidFill>
                  <a:srgbClr val="1F2430"/>
                </a:solidFill>
                <a:latin typeface="Calibri"/>
              </a:rPr>
              <a:t>Ten stops, one flight across modern America — every unit builds on the last.</a:t>
            </a:r>
          </a:p>
        </p:txBody>
      </p:sp>
      <p:sp>
        <p:nvSpPr>
          <p:cNvPr id="13" name="r13"/>
          <p:cNvSpPr/>
          <p:nvPr/>
        </p:nvSpPr>
        <p:spPr>
          <a:xfrm>
            <a:off x="8096250" y="1952625"/>
            <a:ext cx="3429000" cy="2047875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4" name="r14"/>
          <p:cNvSpPr/>
          <p:nvPr/>
        </p:nvSpPr>
        <p:spPr>
          <a:xfrm>
            <a:off x="8096250" y="1952625"/>
            <a:ext cx="66675" cy="2047875"/>
          </a:xfrm>
          <a:prstGeom prst="rect">
            <a:avLst/>
          </a:prstGeom>
          <a:solidFill>
            <a:srgbClr val="C9A227"/>
          </a:solidFill>
        </p:spPr>
        <p:txBody>
          <a:bodyPr/>
          <a:lstStyle/>
          <a:p/>
        </p:txBody>
      </p:sp>
      <p:sp>
        <p:nvSpPr>
          <p:cNvPr id="15" name="t15"/>
          <p:cNvSpPr/>
          <p:nvPr/>
        </p:nvSpPr>
        <p:spPr>
          <a:xfrm>
            <a:off x="8305800" y="2114550"/>
            <a:ext cx="3048000" cy="476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550" b="1" i="0" dirty="0">
                <a:solidFill>
                  <a:srgbClr val="1F3A5F"/>
                </a:solidFill>
                <a:latin typeface="Calibri"/>
              </a:rPr>
              <a:t>It's about you.</a:t>
            </a:r>
          </a:p>
        </p:txBody>
      </p:sp>
      <p:sp>
        <p:nvSpPr>
          <p:cNvPr id="16" name="t16"/>
          <p:cNvSpPr/>
          <p:nvPr/>
        </p:nvSpPr>
        <p:spPr>
          <a:xfrm>
            <a:off x="8305800" y="2647950"/>
            <a:ext cx="3048000" cy="1238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50" b="0" i="0" dirty="0">
                <a:solidFill>
                  <a:srgbClr val="1F2430"/>
                </a:solidFill>
                <a:latin typeface="Calibri"/>
              </a:rPr>
              <a:t>Different experiences, same journey. Your voice is part of the story.</a:t>
            </a:r>
          </a:p>
        </p:txBody>
      </p:sp>
      <p:sp>
        <p:nvSpPr>
          <p:cNvPr id="17" name="t17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18" name="t18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1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REAL TALK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857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4200" b="0" i="0" dirty="0">
                <a:solidFill>
                  <a:srgbClr val="1F3A5F"/>
                </a:solidFill>
                <a:latin typeface="Georgia"/>
              </a:rPr>
              <a:t>Think you hate history? </a:t>
            </a:r>
            <a:r>
              <a:rPr lang="en-US" sz="4200" b="1" i="0" dirty="0">
                <a:solidFill>
                  <a:srgbClr val="B22234"/>
                </a:solidFill>
                <a:latin typeface="Georgia"/>
              </a:rPr>
              <a:t>Good.</a:t>
            </a:r>
          </a:p>
        </p:txBody>
      </p:sp>
      <p:sp>
        <p:nvSpPr>
          <p:cNvPr id="5" name="t5"/>
          <p:cNvSpPr/>
          <p:nvPr/>
        </p:nvSpPr>
        <p:spPr>
          <a:xfrm>
            <a:off x="666750" y="1714500"/>
            <a:ext cx="10858500" cy="666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500" b="0" i="0" dirty="0">
                <a:solidFill>
                  <a:srgbClr val="33475B"/>
                </a:solidFill>
                <a:latin typeface="Calibri"/>
              </a:rPr>
              <a:t>If history meant memorizing names and dates for a test you'd forget by Friday — yeah, that's boring. </a:t>
            </a:r>
            <a:r>
              <a:rPr lang="en-US" sz="1500" b="1" i="0" dirty="0">
                <a:solidFill>
                  <a:srgbClr val="1F3A5F"/>
                </a:solidFill>
                <a:latin typeface="Calibri"/>
              </a:rPr>
              <a:t>We don't do that here.</a:t>
            </a:r>
          </a:p>
        </p:txBody>
      </p:sp>
      <p:sp>
        <p:nvSpPr>
          <p:cNvPr id="6" name="r6"/>
          <p:cNvSpPr/>
          <p:nvPr/>
        </p:nvSpPr>
        <p:spPr>
          <a:xfrm>
            <a:off x="666750" y="2571750"/>
            <a:ext cx="5429250" cy="2000250"/>
          </a:xfrm>
          <a:prstGeom prst="roundRect">
            <a:avLst/>
          </a:prstGeom>
          <a:solidFill>
            <a:srgbClr val="F4ECEC"/>
          </a:solidFill>
        </p:spPr>
        <p:txBody>
          <a:bodyPr/>
          <a:lstStyle/>
          <a:p/>
        </p:txBody>
      </p:sp>
      <p:sp>
        <p:nvSpPr>
          <p:cNvPr id="7" name="r7"/>
          <p:cNvSpPr/>
          <p:nvPr/>
        </p:nvSpPr>
        <p:spPr>
          <a:xfrm>
            <a:off x="6096000" y="2571750"/>
            <a:ext cx="5429250" cy="2000250"/>
          </a:xfrm>
          <a:prstGeom prst="round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8" name="t8"/>
          <p:cNvSpPr/>
          <p:nvPr/>
        </p:nvSpPr>
        <p:spPr>
          <a:xfrm>
            <a:off x="876300" y="2714625"/>
            <a:ext cx="504825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200" b="1" i="0" dirty="0">
                <a:solidFill>
                  <a:srgbClr val="B22234"/>
                </a:solidFill>
                <a:latin typeface="Calibri"/>
              </a:rPr>
              <a:t>WHAT MADE IT BORING</a:t>
            </a:r>
          </a:p>
        </p:txBody>
      </p:sp>
      <p:sp>
        <p:nvSpPr>
          <p:cNvPr id="9" name="t9"/>
          <p:cNvSpPr/>
          <p:nvPr/>
        </p:nvSpPr>
        <p:spPr>
          <a:xfrm>
            <a:off x="6305550" y="2714625"/>
            <a:ext cx="504825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200" b="1" i="0" dirty="0">
                <a:solidFill>
                  <a:srgbClr val="C9A227"/>
                </a:solidFill>
                <a:latin typeface="Calibri"/>
              </a:rPr>
              <a:t>WHAT WE ACTUALLY DO</a:t>
            </a:r>
          </a:p>
        </p:txBody>
      </p:sp>
      <p:sp>
        <p:nvSpPr>
          <p:cNvPr id="10" name="t10"/>
          <p:cNvSpPr/>
          <p:nvPr/>
        </p:nvSpPr>
        <p:spPr>
          <a:xfrm>
            <a:off x="876300" y="3095625"/>
            <a:ext cx="5048250" cy="3238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B22234"/>
                </a:solidFill>
                <a:latin typeface="Calibri"/>
              </a:rPr>
              <a:t>×  </a:t>
            </a:r>
            <a:r>
              <a:rPr lang="en-US" sz="1400" b="0" i="0" dirty="0">
                <a:solidFill>
                  <a:srgbClr val="7A5B5B"/>
                </a:solidFill>
                <a:latin typeface="Calibri"/>
              </a:rPr>
              <a:t>Memorize dates</a:t>
            </a:r>
          </a:p>
        </p:txBody>
      </p:sp>
      <p:sp>
        <p:nvSpPr>
          <p:cNvPr id="11" name="t11"/>
          <p:cNvSpPr/>
          <p:nvPr/>
        </p:nvSpPr>
        <p:spPr>
          <a:xfrm>
            <a:off x="6305550" y="3095625"/>
            <a:ext cx="5048250" cy="3238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C9A227"/>
                </a:solidFill>
                <a:latin typeface="Calibri"/>
              </a:rPr>
              <a:t>→  </a:t>
            </a: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Investigate real evidence</a:t>
            </a:r>
          </a:p>
        </p:txBody>
      </p:sp>
      <p:sp>
        <p:nvSpPr>
          <p:cNvPr id="12" name="t12"/>
          <p:cNvSpPr/>
          <p:nvPr/>
        </p:nvSpPr>
        <p:spPr>
          <a:xfrm>
            <a:off x="876300" y="3457575"/>
            <a:ext cx="5048250" cy="3238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B22234"/>
                </a:solidFill>
                <a:latin typeface="Calibri"/>
              </a:rPr>
              <a:t>×  </a:t>
            </a:r>
            <a:r>
              <a:rPr lang="en-US" sz="1400" b="0" i="0" dirty="0">
                <a:solidFill>
                  <a:srgbClr val="7A5B5B"/>
                </a:solidFill>
                <a:latin typeface="Calibri"/>
              </a:rPr>
              <a:t>Copy the textbook</a:t>
            </a:r>
          </a:p>
        </p:txBody>
      </p:sp>
      <p:sp>
        <p:nvSpPr>
          <p:cNvPr id="13" name="t13"/>
          <p:cNvSpPr/>
          <p:nvPr/>
        </p:nvSpPr>
        <p:spPr>
          <a:xfrm>
            <a:off x="6305550" y="3457575"/>
            <a:ext cx="5048250" cy="3238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C9A227"/>
                </a:solidFill>
                <a:latin typeface="Calibri"/>
              </a:rPr>
              <a:t>→  </a:t>
            </a: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Make your own call</a:t>
            </a:r>
          </a:p>
        </p:txBody>
      </p:sp>
      <p:sp>
        <p:nvSpPr>
          <p:cNvPr id="14" name="t14"/>
          <p:cNvSpPr/>
          <p:nvPr/>
        </p:nvSpPr>
        <p:spPr>
          <a:xfrm>
            <a:off x="876300" y="3819525"/>
            <a:ext cx="5048250" cy="3238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B22234"/>
                </a:solidFill>
                <a:latin typeface="Calibri"/>
              </a:rPr>
              <a:t>×  </a:t>
            </a:r>
            <a:r>
              <a:rPr lang="en-US" sz="1400" b="0" i="0" dirty="0">
                <a:solidFill>
                  <a:srgbClr val="7A5B5B"/>
                </a:solidFill>
                <a:latin typeface="Calibri"/>
              </a:rPr>
              <a:t>One "right" answer</a:t>
            </a:r>
          </a:p>
        </p:txBody>
      </p:sp>
      <p:sp>
        <p:nvSpPr>
          <p:cNvPr id="15" name="t15"/>
          <p:cNvSpPr/>
          <p:nvPr/>
        </p:nvSpPr>
        <p:spPr>
          <a:xfrm>
            <a:off x="6305550" y="3819525"/>
            <a:ext cx="5048250" cy="3238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C9A227"/>
                </a:solidFill>
                <a:latin typeface="Calibri"/>
              </a:rPr>
              <a:t>→  </a:t>
            </a: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Argue it — and back it up</a:t>
            </a:r>
          </a:p>
        </p:txBody>
      </p:sp>
      <p:sp>
        <p:nvSpPr>
          <p:cNvPr id="16" name="t16"/>
          <p:cNvSpPr/>
          <p:nvPr/>
        </p:nvSpPr>
        <p:spPr>
          <a:xfrm>
            <a:off x="876300" y="4181475"/>
            <a:ext cx="5048250" cy="3238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B22234"/>
                </a:solidFill>
                <a:latin typeface="Calibri"/>
              </a:rPr>
              <a:t>×  </a:t>
            </a:r>
            <a:r>
              <a:rPr lang="en-US" sz="1400" b="0" i="0" dirty="0">
                <a:solidFill>
                  <a:srgbClr val="7A5B5B"/>
                </a:solidFill>
                <a:latin typeface="Calibri"/>
              </a:rPr>
              <a:t>Forget it by Friday</a:t>
            </a:r>
          </a:p>
        </p:txBody>
      </p:sp>
      <p:sp>
        <p:nvSpPr>
          <p:cNvPr id="17" name="t17"/>
          <p:cNvSpPr/>
          <p:nvPr/>
        </p:nvSpPr>
        <p:spPr>
          <a:xfrm>
            <a:off x="6305550" y="4181475"/>
            <a:ext cx="5048250" cy="3238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C9A227"/>
                </a:solidFill>
                <a:latin typeface="Calibri"/>
              </a:rPr>
              <a:t>→  </a:t>
            </a:r>
            <a:r>
              <a:rPr lang="en-US" sz="1400" b="0" i="0" dirty="0">
                <a:solidFill>
                  <a:srgbClr val="FFFFFF"/>
                </a:solidFill>
                <a:latin typeface="Calibri"/>
              </a:rPr>
              <a:t>Use it to decode today</a:t>
            </a:r>
          </a:p>
        </p:txBody>
      </p:sp>
      <p:sp>
        <p:nvSpPr>
          <p:cNvPr id="18" name="t18"/>
          <p:cNvSpPr/>
          <p:nvPr/>
        </p:nvSpPr>
        <p:spPr>
          <a:xfrm>
            <a:off x="666750" y="4762500"/>
            <a:ext cx="10858500" cy="571500"/>
          </a:xfrm>
          <a:prstGeom prst="roundRect">
            <a:avLst/>
          </a:prstGeom>
          <a:solidFill>
            <a:srgbClr val="F3ECD6"/>
          </a:solidFill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846009"/>
                </a:solidFill>
                <a:latin typeface="Calibri"/>
              </a:rPr>
              <a:t>Every fight you care about now — money, power, who gets a say — started here. This is the origin story.</a:t>
            </a:r>
          </a:p>
        </p:txBody>
      </p:sp>
      <p:sp>
        <p:nvSpPr>
          <p:cNvPr id="19" name="t19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20" name="t20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1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STEP 1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3400" b="0" i="0" dirty="0">
                <a:solidFill>
                  <a:srgbClr val="1F3A5F"/>
                </a:solidFill>
                <a:latin typeface="Georgia"/>
              </a:rPr>
              <a:t>Log into Schoology</a:t>
            </a:r>
          </a:p>
        </p:txBody>
      </p:sp>
      <p:sp>
        <p:nvSpPr>
          <p:cNvPr id="5" name="t5"/>
          <p:cNvSpPr/>
          <p:nvPr/>
        </p:nvSpPr>
        <p:spPr>
          <a:xfrm>
            <a:off x="666750" y="1762125"/>
            <a:ext cx="10858500" cy="20955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spcBef>
                <a:spcPts val="600"/>
              </a:spcBef>
              <a:buNone/>
            </a:pPr>
            <a:r>
              <a:rPr lang="en-US" sz="1800" b="0" i="0" dirty="0">
                <a:solidFill>
                  <a:srgbClr val="1F2430"/>
                </a:solidFill>
                <a:latin typeface="Calibri"/>
              </a:rPr>
              <a:t>1.  Go to </a:t>
            </a: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[ app.schoology.com ]</a:t>
            </a:r>
            <a:r>
              <a:rPr lang="en-US" sz="1400" b="0" i="1" dirty="0">
                <a:solidFill>
                  <a:srgbClr val="94794F"/>
                </a:solidFill>
                <a:latin typeface="Calibri"/>
              </a:rPr>
              <a:t>  (or your district portal)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buNone/>
            </a:pPr>
            <a:r>
              <a:rPr lang="en-US" sz="1800" b="0" i="0" dirty="0">
                <a:solidFill>
                  <a:srgbClr val="1F2430"/>
                </a:solidFill>
                <a:latin typeface="Calibri"/>
              </a:rPr>
              <a:t>2.  Sign in with your </a:t>
            </a:r>
            <a:r>
              <a:rPr lang="en-US" sz="1800" b="1" i="0" dirty="0">
                <a:solidFill>
                  <a:srgbClr val="1F3A5F"/>
                </a:solidFill>
                <a:latin typeface="Calibri"/>
              </a:rPr>
              <a:t>school Google account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buNone/>
            </a:pPr>
            <a:r>
              <a:rPr lang="en-US" sz="1800" b="0" i="0" dirty="0">
                <a:solidFill>
                  <a:srgbClr val="1F2430"/>
                </a:solidFill>
                <a:latin typeface="Calibri"/>
              </a:rPr>
              <a:t>3.  Join our class with the access code:</a:t>
            </a:r>
          </a:p>
        </p:txBody>
      </p:sp>
      <p:sp>
        <p:nvSpPr>
          <p:cNvPr id="6" name="t6"/>
          <p:cNvSpPr/>
          <p:nvPr/>
        </p:nvSpPr>
        <p:spPr>
          <a:xfrm>
            <a:off x="4095750" y="4095750"/>
            <a:ext cx="4000500" cy="762000"/>
          </a:xfrm>
          <a:prstGeom prst="roundRect">
            <a:avLst/>
          </a:prstGeom>
          <a:noFill/>
          <a:ln w="28575">
            <a:solidFill>
              <a:srgbClr val="B22234"/>
            </a:solidFill>
            <a:prstDash val="dash"/>
          </a:ln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2600" b="1" i="0" dirty="0">
                <a:solidFill>
                  <a:srgbClr val="B22234"/>
                </a:solidFill>
                <a:latin typeface="Calibri"/>
              </a:rPr>
              <a:t>[ ____ – ____ ]</a:t>
            </a:r>
          </a:p>
        </p:txBody>
      </p:sp>
      <p:sp>
        <p:nvSpPr>
          <p:cNvPr id="7" name="t7"/>
          <p:cNvSpPr/>
          <p:nvPr/>
        </p:nvSpPr>
        <p:spPr>
          <a:xfrm>
            <a:off x="666750" y="5143500"/>
            <a:ext cx="108585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0" i="1" dirty="0">
                <a:solidFill>
                  <a:srgbClr val="5A6675"/>
                </a:solidFill>
                <a:latin typeface="Calibri"/>
              </a:rPr>
              <a:t>We'll do this together — thumbs up when you're in.</a:t>
            </a:r>
          </a:p>
        </p:txBody>
      </p:sp>
      <p:sp>
        <p:nvSpPr>
          <p:cNvPr id="8" name="t8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9" name="t9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4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STEP 2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3400" b="0" i="0" dirty="0">
                <a:solidFill>
                  <a:srgbClr val="1F3A5F"/>
                </a:solidFill>
                <a:latin typeface="Georgia"/>
              </a:rPr>
              <a:t>Where everything lives</a:t>
            </a:r>
          </a:p>
        </p:txBody>
      </p:sp>
      <p:sp>
        <p:nvSpPr>
          <p:cNvPr id="5" name="r5"/>
          <p:cNvSpPr/>
          <p:nvPr/>
        </p:nvSpPr>
        <p:spPr>
          <a:xfrm>
            <a:off x="666750" y="1905000"/>
            <a:ext cx="2571750" cy="1809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6" name="r6"/>
          <p:cNvSpPr/>
          <p:nvPr/>
        </p:nvSpPr>
        <p:spPr>
          <a:xfrm>
            <a:off x="666750" y="1905000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7" name="t7"/>
          <p:cNvSpPr/>
          <p:nvPr/>
        </p:nvSpPr>
        <p:spPr>
          <a:xfrm>
            <a:off x="819150" y="203835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Materials</a:t>
            </a:r>
          </a:p>
        </p:txBody>
      </p:sp>
      <p:sp>
        <p:nvSpPr>
          <p:cNvPr id="8" name="t8"/>
          <p:cNvSpPr/>
          <p:nvPr/>
        </p:nvSpPr>
        <p:spPr>
          <a:xfrm>
            <a:off x="819150" y="2457450"/>
            <a:ext cx="2286000" cy="1143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200" b="0" i="0" dirty="0">
                <a:solidFill>
                  <a:srgbClr val="1F2430"/>
                </a:solidFill>
                <a:latin typeface="Calibri"/>
              </a:rPr>
              <a:t>Lessons + your Flight Log (where all your writing goes)</a:t>
            </a:r>
          </a:p>
        </p:txBody>
      </p:sp>
      <p:sp>
        <p:nvSpPr>
          <p:cNvPr id="9" name="r9"/>
          <p:cNvSpPr/>
          <p:nvPr/>
        </p:nvSpPr>
        <p:spPr>
          <a:xfrm>
            <a:off x="3409950" y="1905000"/>
            <a:ext cx="2571750" cy="1809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3409950" y="1905000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1" name="t11"/>
          <p:cNvSpPr/>
          <p:nvPr/>
        </p:nvSpPr>
        <p:spPr>
          <a:xfrm>
            <a:off x="3562350" y="203835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Calendar</a:t>
            </a:r>
          </a:p>
        </p:txBody>
      </p:sp>
      <p:sp>
        <p:nvSpPr>
          <p:cNvPr id="12" name="t12"/>
          <p:cNvSpPr/>
          <p:nvPr/>
        </p:nvSpPr>
        <p:spPr>
          <a:xfrm>
            <a:off x="3562350" y="2457450"/>
            <a:ext cx="2286000" cy="1143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200" b="0" i="0" dirty="0">
                <a:solidFill>
                  <a:srgbClr val="1F2430"/>
                </a:solidFill>
                <a:latin typeface="Calibri"/>
              </a:rPr>
              <a:t>What's due, and when</a:t>
            </a:r>
          </a:p>
        </p:txBody>
      </p:sp>
      <p:sp>
        <p:nvSpPr>
          <p:cNvPr id="13" name="r13"/>
          <p:cNvSpPr/>
          <p:nvPr/>
        </p:nvSpPr>
        <p:spPr>
          <a:xfrm>
            <a:off x="6153150" y="1905000"/>
            <a:ext cx="2571750" cy="1809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4" name="r14"/>
          <p:cNvSpPr/>
          <p:nvPr/>
        </p:nvSpPr>
        <p:spPr>
          <a:xfrm>
            <a:off x="6153150" y="1905000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5" name="t15"/>
          <p:cNvSpPr/>
          <p:nvPr/>
        </p:nvSpPr>
        <p:spPr>
          <a:xfrm>
            <a:off x="6305550" y="203835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Grades</a:t>
            </a:r>
          </a:p>
        </p:txBody>
      </p:sp>
      <p:sp>
        <p:nvSpPr>
          <p:cNvPr id="16" name="t16"/>
          <p:cNvSpPr/>
          <p:nvPr/>
        </p:nvSpPr>
        <p:spPr>
          <a:xfrm>
            <a:off x="6305550" y="2457450"/>
            <a:ext cx="2286000" cy="1143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200" b="0" i="0" dirty="0">
                <a:solidFill>
                  <a:srgbClr val="1F2430"/>
                </a:solidFill>
                <a:latin typeface="Calibri"/>
              </a:rPr>
              <a:t>How you're doing — check it weekly</a:t>
            </a:r>
          </a:p>
        </p:txBody>
      </p:sp>
      <p:sp>
        <p:nvSpPr>
          <p:cNvPr id="17" name="r17"/>
          <p:cNvSpPr/>
          <p:nvPr/>
        </p:nvSpPr>
        <p:spPr>
          <a:xfrm>
            <a:off x="8896350" y="1905000"/>
            <a:ext cx="2571750" cy="1809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8896350" y="1905000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9" name="t19"/>
          <p:cNvSpPr/>
          <p:nvPr/>
        </p:nvSpPr>
        <p:spPr>
          <a:xfrm>
            <a:off x="9048750" y="203835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Messages</a:t>
            </a:r>
          </a:p>
        </p:txBody>
      </p:sp>
      <p:sp>
        <p:nvSpPr>
          <p:cNvPr id="20" name="t20"/>
          <p:cNvSpPr/>
          <p:nvPr/>
        </p:nvSpPr>
        <p:spPr>
          <a:xfrm>
            <a:off x="9048750" y="2457450"/>
            <a:ext cx="2286000" cy="1143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200" b="0" i="0" dirty="0">
                <a:solidFill>
                  <a:srgbClr val="1F2430"/>
                </a:solidFill>
                <a:latin typeface="Calibri"/>
              </a:rPr>
              <a:t>The fastest way to reach me</a:t>
            </a:r>
          </a:p>
        </p:txBody>
      </p:sp>
      <p:sp>
        <p:nvSpPr>
          <p:cNvPr id="21" name="t21"/>
          <p:cNvSpPr/>
          <p:nvPr/>
        </p:nvSpPr>
        <p:spPr>
          <a:xfrm>
            <a:off x="666750" y="3952875"/>
            <a:ext cx="10858500" cy="666750"/>
          </a:xfrm>
          <a:prstGeom prst="roundRect">
            <a:avLst/>
          </a:prstGeom>
          <a:solidFill>
            <a:srgbClr val="F3ECD6"/>
          </a:solidFill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500" b="1" i="0" dirty="0">
                <a:solidFill>
                  <a:srgbClr val="846009"/>
                </a:solidFill>
                <a:latin typeface="Calibri"/>
              </a:rPr>
              <a:t>Challenge: find the Unit 1 folder and open the Flight Log. Thumbs up when you see it.</a:t>
            </a:r>
          </a:p>
        </p:txBody>
      </p:sp>
      <p:sp>
        <p:nvSpPr>
          <p:cNvPr id="22" name="t22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23" name="t23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3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STEP 3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3400" b="0" i="0" dirty="0">
                <a:solidFill>
                  <a:srgbClr val="1F3A5F"/>
                </a:solidFill>
                <a:latin typeface="Georgia"/>
              </a:rPr>
              <a:t>The syllabus</a:t>
            </a:r>
          </a:p>
        </p:txBody>
      </p:sp>
      <p:sp>
        <p:nvSpPr>
          <p:cNvPr id="5" name="r5"/>
          <p:cNvSpPr/>
          <p:nvPr/>
        </p:nvSpPr>
        <p:spPr>
          <a:xfrm>
            <a:off x="666750" y="1905000"/>
            <a:ext cx="3429000" cy="1666875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6" name="r6"/>
          <p:cNvSpPr/>
          <p:nvPr/>
        </p:nvSpPr>
        <p:spPr>
          <a:xfrm>
            <a:off x="666750" y="1905000"/>
            <a:ext cx="66675" cy="1666875"/>
          </a:xfrm>
          <a:prstGeom prst="rect">
            <a:avLst/>
          </a:prstGeom>
          <a:solidFill>
            <a:srgbClr val="C9A227"/>
          </a:solidFill>
        </p:spPr>
        <p:txBody>
          <a:bodyPr/>
          <a:lstStyle/>
          <a:p/>
        </p:txBody>
      </p:sp>
      <p:sp>
        <p:nvSpPr>
          <p:cNvPr id="7" name="t7"/>
          <p:cNvSpPr/>
          <p:nvPr/>
        </p:nvSpPr>
        <p:spPr>
          <a:xfrm>
            <a:off x="876300" y="2038350"/>
            <a:ext cx="3048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Bring every day</a:t>
            </a:r>
          </a:p>
        </p:txBody>
      </p:sp>
      <p:sp>
        <p:nvSpPr>
          <p:cNvPr id="8" name="t8"/>
          <p:cNvSpPr/>
          <p:nvPr/>
        </p:nvSpPr>
        <p:spPr>
          <a:xfrm>
            <a:off x="876300" y="2457450"/>
            <a:ext cx="304800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0" i="0" dirty="0">
                <a:solidFill>
                  <a:srgbClr val="1F2430"/>
                </a:solidFill>
                <a:latin typeface="Calibri"/>
              </a:rPr>
              <a:t>Charged Chromebook · something to write with · your brain</a:t>
            </a:r>
          </a:p>
        </p:txBody>
      </p:sp>
      <p:sp>
        <p:nvSpPr>
          <p:cNvPr id="9" name="r9"/>
          <p:cNvSpPr/>
          <p:nvPr/>
        </p:nvSpPr>
        <p:spPr>
          <a:xfrm>
            <a:off x="4381500" y="1905000"/>
            <a:ext cx="3429000" cy="1666875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4381500" y="1905000"/>
            <a:ext cx="66675" cy="1666875"/>
          </a:xfrm>
          <a:prstGeom prst="rect">
            <a:avLst/>
          </a:prstGeom>
          <a:solidFill>
            <a:srgbClr val="C9A227"/>
          </a:solidFill>
        </p:spPr>
        <p:txBody>
          <a:bodyPr/>
          <a:lstStyle/>
          <a:p/>
        </p:txBody>
      </p:sp>
      <p:sp>
        <p:nvSpPr>
          <p:cNvPr id="11" name="t11"/>
          <p:cNvSpPr/>
          <p:nvPr/>
        </p:nvSpPr>
        <p:spPr>
          <a:xfrm>
            <a:off x="4591050" y="2038350"/>
            <a:ext cx="3048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How grades work</a:t>
            </a:r>
          </a:p>
        </p:txBody>
      </p:sp>
      <p:sp>
        <p:nvSpPr>
          <p:cNvPr id="12" name="t12"/>
          <p:cNvSpPr/>
          <p:nvPr/>
        </p:nvSpPr>
        <p:spPr>
          <a:xfrm>
            <a:off x="4591050" y="2457450"/>
            <a:ext cx="304800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0" i="0" dirty="0">
                <a:solidFill>
                  <a:srgbClr val="1F2430"/>
                </a:solidFill>
                <a:latin typeface="Calibri"/>
              </a:rPr>
              <a:t>[ grading + redo/retake policy — edit ]</a:t>
            </a:r>
          </a:p>
        </p:txBody>
      </p:sp>
      <p:sp>
        <p:nvSpPr>
          <p:cNvPr id="13" name="r13"/>
          <p:cNvSpPr/>
          <p:nvPr/>
        </p:nvSpPr>
        <p:spPr>
          <a:xfrm>
            <a:off x="8096250" y="1905000"/>
            <a:ext cx="3429000" cy="1666875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4" name="r14"/>
          <p:cNvSpPr/>
          <p:nvPr/>
        </p:nvSpPr>
        <p:spPr>
          <a:xfrm>
            <a:off x="8096250" y="1905000"/>
            <a:ext cx="66675" cy="1666875"/>
          </a:xfrm>
          <a:prstGeom prst="rect">
            <a:avLst/>
          </a:prstGeom>
          <a:solidFill>
            <a:srgbClr val="C9A227"/>
          </a:solidFill>
        </p:spPr>
        <p:txBody>
          <a:bodyPr/>
          <a:lstStyle/>
          <a:p/>
        </p:txBody>
      </p:sp>
      <p:sp>
        <p:nvSpPr>
          <p:cNvPr id="15" name="t15"/>
          <p:cNvSpPr/>
          <p:nvPr/>
        </p:nvSpPr>
        <p:spPr>
          <a:xfrm>
            <a:off x="8305800" y="2038350"/>
            <a:ext cx="3048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Reach me</a:t>
            </a:r>
          </a:p>
        </p:txBody>
      </p:sp>
      <p:sp>
        <p:nvSpPr>
          <p:cNvPr id="16" name="t16"/>
          <p:cNvSpPr/>
          <p:nvPr/>
        </p:nvSpPr>
        <p:spPr>
          <a:xfrm>
            <a:off x="8305800" y="2457450"/>
            <a:ext cx="304800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0" i="0" dirty="0">
                <a:solidFill>
                  <a:srgbClr val="1F2430"/>
                </a:solidFill>
                <a:latin typeface="Calibri"/>
              </a:rPr>
              <a:t>[ email / Schoology message / room # — edit ]</a:t>
            </a:r>
          </a:p>
        </p:txBody>
      </p:sp>
      <p:sp>
        <p:nvSpPr>
          <p:cNvPr id="17" name="t17"/>
          <p:cNvSpPr/>
          <p:nvPr/>
        </p:nvSpPr>
        <p:spPr>
          <a:xfrm>
            <a:off x="666750" y="3810000"/>
            <a:ext cx="10858500" cy="571500"/>
          </a:xfrm>
          <a:prstGeom prst="roundRect">
            <a:avLst/>
          </a:prstGeom>
          <a:solidFill>
            <a:srgbClr val="F3ECD6"/>
          </a:solidFill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500" b="1" i="0" dirty="0">
                <a:solidFill>
                  <a:srgbClr val="846009"/>
                </a:solidFill>
                <a:latin typeface="Calibri"/>
              </a:rPr>
              <a:t>Skim it now and star ONE question you want answered before you leave.</a:t>
            </a:r>
          </a:p>
        </p:txBody>
      </p:sp>
      <p:sp>
        <p:nvSpPr>
          <p:cNvPr id="18" name="t18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19" name="t19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2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0" y="1809750"/>
            <a:ext cx="12192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>
              <a:lnSpc>
                <a:spcPct val="108000"/>
              </a:lnSpc>
              <a:buNone/>
            </a:pPr>
            <a:r>
              <a:rPr lang="en-US" sz="1700" b="1" i="0" dirty="0">
                <a:solidFill>
                  <a:srgbClr val="C9A227"/>
                </a:solidFill>
                <a:latin typeface="Calibri"/>
              </a:rPr>
              <a:t>OUR ONE RULE</a:t>
            </a:r>
          </a:p>
        </p:txBody>
      </p:sp>
      <p:sp>
        <p:nvSpPr>
          <p:cNvPr id="4" name="t4"/>
          <p:cNvSpPr/>
          <p:nvPr/>
        </p:nvSpPr>
        <p:spPr>
          <a:xfrm>
            <a:off x="0" y="2238375"/>
            <a:ext cx="12192000" cy="17145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>
              <a:lnSpc>
                <a:spcPct val="108000"/>
              </a:lnSpc>
              <a:buNone/>
            </a:pPr>
            <a:r>
              <a:rPr lang="en-US" sz="9600" b="1" i="0" dirty="0">
                <a:solidFill>
                  <a:srgbClr val="C9A227"/>
                </a:solidFill>
                <a:latin typeface="Georgia"/>
              </a:rPr>
              <a:t>RESPECT</a:t>
            </a:r>
          </a:p>
        </p:txBody>
      </p:sp>
      <p:sp>
        <p:nvSpPr>
          <p:cNvPr id="5" name="t5"/>
          <p:cNvSpPr/>
          <p:nvPr/>
        </p:nvSpPr>
        <p:spPr>
          <a:xfrm>
            <a:off x="0" y="4095750"/>
            <a:ext cx="12192000" cy="4762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>
              <a:lnSpc>
                <a:spcPct val="108000"/>
              </a:lnSpc>
              <a:buNone/>
            </a:pPr>
            <a:r>
              <a:rPr lang="en-US" sz="2200" b="0" i="0" dirty="0">
                <a:solidFill>
                  <a:srgbClr val="F8F5EF"/>
                </a:solidFill>
                <a:latin typeface="Calibri"/>
              </a:rPr>
              <a:t>We have exactly one rule. </a:t>
            </a:r>
            <a:r>
              <a:rPr lang="en-US" sz="2200" b="1" i="0" dirty="0">
                <a:solidFill>
                  <a:srgbClr val="F8F5EF"/>
                </a:solidFill>
                <a:latin typeface="Calibri"/>
              </a:rPr>
              <a:t>Everything else fits under it.</a:t>
            </a:r>
          </a:p>
        </p:txBody>
      </p:sp>
      <p:sp>
        <p:nvSpPr>
          <p:cNvPr id="6" name="t6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noFill/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C9A227"/>
                </a:solidFill>
                <a:latin typeface="Calibri"/>
              </a:rPr>
              <a:t>1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TURN &amp; TALK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3400" b="0" i="0" dirty="0">
                <a:solidFill>
                  <a:srgbClr val="1F3A5F"/>
                </a:solidFill>
                <a:latin typeface="Georgia"/>
              </a:rPr>
              <a:t>What does respect look like — here?</a:t>
            </a:r>
          </a:p>
        </p:txBody>
      </p:sp>
      <p:sp>
        <p:nvSpPr>
          <p:cNvPr id="5" name="r5"/>
          <p:cNvSpPr/>
          <p:nvPr/>
        </p:nvSpPr>
        <p:spPr>
          <a:xfrm>
            <a:off x="666750" y="1952625"/>
            <a:ext cx="2571750" cy="1428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6" name="r6"/>
          <p:cNvSpPr/>
          <p:nvPr/>
        </p:nvSpPr>
        <p:spPr>
          <a:xfrm>
            <a:off x="666750" y="1952625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7" name="t7"/>
          <p:cNvSpPr/>
          <p:nvPr/>
        </p:nvSpPr>
        <p:spPr>
          <a:xfrm>
            <a:off x="819150" y="209550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Yourself</a:t>
            </a:r>
          </a:p>
        </p:txBody>
      </p:sp>
      <p:sp>
        <p:nvSpPr>
          <p:cNvPr id="8" name="r8"/>
          <p:cNvSpPr/>
          <p:nvPr/>
        </p:nvSpPr>
        <p:spPr>
          <a:xfrm>
            <a:off x="3409950" y="1952625"/>
            <a:ext cx="2571750" cy="1428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9" name="r9"/>
          <p:cNvSpPr/>
          <p:nvPr/>
        </p:nvSpPr>
        <p:spPr>
          <a:xfrm>
            <a:off x="3409950" y="1952625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0" name="t10"/>
          <p:cNvSpPr/>
          <p:nvPr/>
        </p:nvSpPr>
        <p:spPr>
          <a:xfrm>
            <a:off x="3562350" y="209550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Each other</a:t>
            </a:r>
          </a:p>
        </p:txBody>
      </p:sp>
      <p:sp>
        <p:nvSpPr>
          <p:cNvPr id="11" name="r11"/>
          <p:cNvSpPr/>
          <p:nvPr/>
        </p:nvSpPr>
        <p:spPr>
          <a:xfrm>
            <a:off x="6153150" y="1952625"/>
            <a:ext cx="2571750" cy="1428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6153150" y="1952625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3" name="t13"/>
          <p:cNvSpPr/>
          <p:nvPr/>
        </p:nvSpPr>
        <p:spPr>
          <a:xfrm>
            <a:off x="6305550" y="209550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This room</a:t>
            </a:r>
          </a:p>
        </p:txBody>
      </p:sp>
      <p:sp>
        <p:nvSpPr>
          <p:cNvPr id="14" name="r14"/>
          <p:cNvSpPr/>
          <p:nvPr/>
        </p:nvSpPr>
        <p:spPr>
          <a:xfrm>
            <a:off x="8896350" y="1952625"/>
            <a:ext cx="2571750" cy="1428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5" name="r15"/>
          <p:cNvSpPr/>
          <p:nvPr/>
        </p:nvSpPr>
        <p:spPr>
          <a:xfrm>
            <a:off x="8896350" y="1952625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6" name="t16"/>
          <p:cNvSpPr/>
          <p:nvPr/>
        </p:nvSpPr>
        <p:spPr>
          <a:xfrm>
            <a:off x="9048750" y="209550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50" b="1" i="0" dirty="0">
                <a:solidFill>
                  <a:srgbClr val="1F3A5F"/>
                </a:solidFill>
                <a:latin typeface="Calibri"/>
              </a:rPr>
              <a:t>Our learning</a:t>
            </a:r>
          </a:p>
        </p:txBody>
      </p:sp>
      <p:sp>
        <p:nvSpPr>
          <p:cNvPr id="17" name="t17"/>
          <p:cNvSpPr/>
          <p:nvPr/>
        </p:nvSpPr>
        <p:spPr>
          <a:xfrm>
            <a:off x="666750" y="3667125"/>
            <a:ext cx="10858500" cy="571500"/>
          </a:xfrm>
          <a:prstGeom prst="roundRect">
            <a:avLst/>
          </a:prstGeom>
          <a:solidFill>
            <a:srgbClr val="F3ECD6"/>
          </a:solidFill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500" b="1" i="0" dirty="0">
                <a:solidFill>
                  <a:srgbClr val="846009"/>
                </a:solidFill>
                <a:latin typeface="Calibri"/>
              </a:rPr>
              <a:t>With your partner (60 sec): "Respect looks like ______ and sounds like ______."</a:t>
            </a:r>
          </a:p>
        </p:txBody>
      </p:sp>
      <p:sp>
        <p:nvSpPr>
          <p:cNvPr id="18" name="t18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19" name="t19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2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3" name="t3"/>
          <p:cNvSpPr/>
          <p:nvPr/>
        </p:nvSpPr>
        <p:spPr>
          <a:xfrm>
            <a:off x="666750" y="419100"/>
            <a:ext cx="8572500" cy="285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300" b="1" i="0" dirty="0">
                <a:solidFill>
                  <a:srgbClr val="B22234"/>
                </a:solidFill>
                <a:latin typeface="Calibri"/>
              </a:rPr>
              <a:t>YOU MAKE THE CALL</a:t>
            </a:r>
          </a:p>
        </p:txBody>
      </p:sp>
      <p:sp>
        <p:nvSpPr>
          <p:cNvPr id="4" name="t4"/>
          <p:cNvSpPr/>
          <p:nvPr/>
        </p:nvSpPr>
        <p:spPr>
          <a:xfrm>
            <a:off x="628650" y="685800"/>
            <a:ext cx="10953750" cy="10477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3200" b="0" i="0" dirty="0">
                <a:solidFill>
                  <a:srgbClr val="1F3A5F"/>
                </a:solidFill>
                <a:latin typeface="Georgia"/>
              </a:rPr>
              <a:t>You write the rules — under RESPECT</a:t>
            </a:r>
          </a:p>
        </p:txBody>
      </p:sp>
      <p:sp>
        <p:nvSpPr>
          <p:cNvPr id="5" name="t5"/>
          <p:cNvSpPr/>
          <p:nvPr/>
        </p:nvSpPr>
        <p:spPr>
          <a:xfrm>
            <a:off x="666750" y="1619250"/>
            <a:ext cx="10858500" cy="5715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500" b="0" i="0" dirty="0">
                <a:solidFill>
                  <a:srgbClr val="33475B"/>
                </a:solidFill>
                <a:latin typeface="Calibri"/>
              </a:rPr>
              <a:t>Every rule we keep has to pass one test: </a:t>
            </a:r>
            <a:r>
              <a:rPr lang="en-US" sz="1500" b="1" i="0" dirty="0">
                <a:solidFill>
                  <a:srgbClr val="1F3A5F"/>
                </a:solidFill>
                <a:latin typeface="Calibri"/>
              </a:rPr>
              <a:t>does it show respect?</a:t>
            </a:r>
            <a:r>
              <a:rPr lang="en-US" sz="1500" b="0" i="0" dirty="0">
                <a:solidFill>
                  <a:srgbClr val="33475B"/>
                </a:solidFill>
                <a:latin typeface="Calibri"/>
              </a:rPr>
              <a:t> You propose them. We adopt them. They're ours.</a:t>
            </a:r>
          </a:p>
        </p:txBody>
      </p:sp>
      <p:sp>
        <p:nvSpPr>
          <p:cNvPr id="6" name="r6"/>
          <p:cNvSpPr/>
          <p:nvPr/>
        </p:nvSpPr>
        <p:spPr>
          <a:xfrm>
            <a:off x="666750" y="2286000"/>
            <a:ext cx="2571750" cy="1809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7" name="r7"/>
          <p:cNvSpPr/>
          <p:nvPr/>
        </p:nvSpPr>
        <p:spPr>
          <a:xfrm>
            <a:off x="666750" y="2286000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8" name="t8"/>
          <p:cNvSpPr/>
          <p:nvPr/>
        </p:nvSpPr>
        <p:spPr>
          <a:xfrm>
            <a:off x="819150" y="241935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1F3A5F"/>
                </a:solidFill>
                <a:latin typeface="Calibri"/>
              </a:rPr>
              <a:t>Yourself</a:t>
            </a:r>
          </a:p>
        </p:txBody>
      </p:sp>
      <p:sp>
        <p:nvSpPr>
          <p:cNvPr id="9" name="r9"/>
          <p:cNvSpPr/>
          <p:nvPr/>
        </p:nvSpPr>
        <p:spPr>
          <a:xfrm>
            <a:off x="819150" y="3048000"/>
            <a:ext cx="2266950" cy="19050"/>
          </a:xfrm>
          <a:prstGeom prst="rect">
            <a:avLst/>
          </a:prstGeom>
          <a:solidFill>
            <a:srgbClr val="B9C2CF"/>
          </a:solidFill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819150" y="3476625"/>
            <a:ext cx="2266950" cy="19050"/>
          </a:xfrm>
          <a:prstGeom prst="rect">
            <a:avLst/>
          </a:prstGeom>
          <a:solidFill>
            <a:srgbClr val="B9C2CF"/>
          </a:solidFill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3409950" y="2286000"/>
            <a:ext cx="2571750" cy="1809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3409950" y="2286000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3" name="t13"/>
          <p:cNvSpPr/>
          <p:nvPr/>
        </p:nvSpPr>
        <p:spPr>
          <a:xfrm>
            <a:off x="3562350" y="241935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1F3A5F"/>
                </a:solidFill>
                <a:latin typeface="Calibri"/>
              </a:rPr>
              <a:t>Each other</a:t>
            </a:r>
          </a:p>
        </p:txBody>
      </p:sp>
      <p:sp>
        <p:nvSpPr>
          <p:cNvPr id="14" name="r14"/>
          <p:cNvSpPr/>
          <p:nvPr/>
        </p:nvSpPr>
        <p:spPr>
          <a:xfrm>
            <a:off x="3562350" y="3048000"/>
            <a:ext cx="2266950" cy="19050"/>
          </a:xfrm>
          <a:prstGeom prst="rect">
            <a:avLst/>
          </a:prstGeom>
          <a:solidFill>
            <a:srgbClr val="B9C2CF"/>
          </a:solidFill>
        </p:spPr>
        <p:txBody>
          <a:bodyPr/>
          <a:lstStyle/>
          <a:p/>
        </p:txBody>
      </p:sp>
      <p:sp>
        <p:nvSpPr>
          <p:cNvPr id="15" name="r15"/>
          <p:cNvSpPr/>
          <p:nvPr/>
        </p:nvSpPr>
        <p:spPr>
          <a:xfrm>
            <a:off x="3562350" y="3476625"/>
            <a:ext cx="2266950" cy="19050"/>
          </a:xfrm>
          <a:prstGeom prst="rect">
            <a:avLst/>
          </a:prstGeom>
          <a:solidFill>
            <a:srgbClr val="B9C2CF"/>
          </a:solidFill>
        </p:spPr>
        <p:txBody>
          <a:bodyPr/>
          <a:lstStyle/>
          <a:p/>
        </p:txBody>
      </p:sp>
      <p:sp>
        <p:nvSpPr>
          <p:cNvPr id="16" name="r16"/>
          <p:cNvSpPr/>
          <p:nvPr/>
        </p:nvSpPr>
        <p:spPr>
          <a:xfrm>
            <a:off x="6153150" y="2286000"/>
            <a:ext cx="2571750" cy="1809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17" name="r17"/>
          <p:cNvSpPr/>
          <p:nvPr/>
        </p:nvSpPr>
        <p:spPr>
          <a:xfrm>
            <a:off x="6153150" y="2286000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18" name="t18"/>
          <p:cNvSpPr/>
          <p:nvPr/>
        </p:nvSpPr>
        <p:spPr>
          <a:xfrm>
            <a:off x="6305550" y="241935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1F3A5F"/>
                </a:solidFill>
                <a:latin typeface="Calibri"/>
              </a:rPr>
              <a:t>This room</a:t>
            </a:r>
          </a:p>
        </p:txBody>
      </p:sp>
      <p:sp>
        <p:nvSpPr>
          <p:cNvPr id="19" name="r19"/>
          <p:cNvSpPr/>
          <p:nvPr/>
        </p:nvSpPr>
        <p:spPr>
          <a:xfrm>
            <a:off x="6305550" y="3048000"/>
            <a:ext cx="2266950" cy="19050"/>
          </a:xfrm>
          <a:prstGeom prst="rect">
            <a:avLst/>
          </a:prstGeom>
          <a:solidFill>
            <a:srgbClr val="B9C2CF"/>
          </a:solidFill>
        </p:spPr>
        <p:txBody>
          <a:bodyPr/>
          <a:lstStyle/>
          <a:p/>
        </p:txBody>
      </p:sp>
      <p:sp>
        <p:nvSpPr>
          <p:cNvPr id="20" name="r20"/>
          <p:cNvSpPr/>
          <p:nvPr/>
        </p:nvSpPr>
        <p:spPr>
          <a:xfrm>
            <a:off x="6305550" y="3476625"/>
            <a:ext cx="2266950" cy="19050"/>
          </a:xfrm>
          <a:prstGeom prst="rect">
            <a:avLst/>
          </a:prstGeom>
          <a:solidFill>
            <a:srgbClr val="B9C2CF"/>
          </a:solidFill>
        </p:spPr>
        <p:txBody>
          <a:bodyPr/>
          <a:lstStyle/>
          <a:p/>
        </p:txBody>
      </p:sp>
      <p:sp>
        <p:nvSpPr>
          <p:cNvPr id="21" name="r21"/>
          <p:cNvSpPr/>
          <p:nvPr/>
        </p:nvSpPr>
        <p:spPr>
          <a:xfrm>
            <a:off x="8896350" y="2286000"/>
            <a:ext cx="2571750" cy="1809750"/>
          </a:xfrm>
          <a:prstGeom prst="roundRect">
            <a:avLst/>
          </a:prstGeom>
          <a:solidFill>
            <a:srgbClr val="F8F5EF"/>
          </a:solidFill>
          <a:ln w="12700">
            <a:solidFill>
              <a:srgbClr val="E4DCC6"/>
            </a:solidFill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8896350" y="2286000"/>
            <a:ext cx="2571750" cy="57150"/>
          </a:xfrm>
          <a:prstGeom prst="rect">
            <a:avLst/>
          </a:prstGeom>
          <a:solidFill>
            <a:srgbClr val="1F3A5F"/>
          </a:solidFill>
        </p:spPr>
        <p:txBody>
          <a:bodyPr/>
          <a:lstStyle/>
          <a:p/>
        </p:txBody>
      </p:sp>
      <p:sp>
        <p:nvSpPr>
          <p:cNvPr id="23" name="t23"/>
          <p:cNvSpPr/>
          <p:nvPr/>
        </p:nvSpPr>
        <p:spPr>
          <a:xfrm>
            <a:off x="9048750" y="2419350"/>
            <a:ext cx="2286000" cy="381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1400" b="1" i="0" dirty="0">
                <a:solidFill>
                  <a:srgbClr val="1F3A5F"/>
                </a:solidFill>
                <a:latin typeface="Calibri"/>
              </a:rPr>
              <a:t>Our learning</a:t>
            </a:r>
          </a:p>
        </p:txBody>
      </p:sp>
      <p:sp>
        <p:nvSpPr>
          <p:cNvPr id="24" name="r24"/>
          <p:cNvSpPr/>
          <p:nvPr/>
        </p:nvSpPr>
        <p:spPr>
          <a:xfrm>
            <a:off x="9048750" y="3048000"/>
            <a:ext cx="2266950" cy="19050"/>
          </a:xfrm>
          <a:prstGeom prst="rect">
            <a:avLst/>
          </a:prstGeom>
          <a:solidFill>
            <a:srgbClr val="B9C2CF"/>
          </a:solidFill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9048750" y="3476625"/>
            <a:ext cx="2266950" cy="19050"/>
          </a:xfrm>
          <a:prstGeom prst="rect">
            <a:avLst/>
          </a:prstGeom>
          <a:solidFill>
            <a:srgbClr val="B9C2CF"/>
          </a:solidFill>
        </p:spPr>
        <p:txBody>
          <a:bodyPr/>
          <a:lstStyle/>
          <a:p/>
        </p:txBody>
      </p:sp>
      <p:sp>
        <p:nvSpPr>
          <p:cNvPr id="26" name="t26"/>
          <p:cNvSpPr/>
          <p:nvPr/>
        </p:nvSpPr>
        <p:spPr>
          <a:xfrm>
            <a:off x="666750" y="4286250"/>
            <a:ext cx="10858500" cy="514350"/>
          </a:xfrm>
          <a:prstGeom prst="roundRect">
            <a:avLst/>
          </a:prstGeom>
          <a:solidFill>
            <a:srgbClr val="F3ECD6"/>
          </a:solidFill>
        </p:spPr>
        <p:txBody>
          <a:bodyPr wrap="square" lIns="91440" tIns="45720" rIns="91440" bIns="4572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700" b="1" i="0" dirty="0">
                <a:solidFill>
                  <a:srgbClr val="846009"/>
                </a:solidFill>
                <a:latin typeface="Calibri"/>
              </a:rPr>
              <a:t>Wheels up. Welcome to the year.</a:t>
            </a:r>
          </a:p>
        </p:txBody>
      </p:sp>
      <p:sp>
        <p:nvSpPr>
          <p:cNvPr id="27" name="t27"/>
          <p:cNvSpPr/>
          <p:nvPr/>
        </p:nvSpPr>
        <p:spPr>
          <a:xfrm>
            <a:off x="666750" y="6400800"/>
            <a:ext cx="7239000" cy="24765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ct val="108000"/>
              </a:lnSpc>
              <a:buNone/>
            </a:pPr>
            <a:r>
              <a:rPr lang="en-US" sz="950" b="0" i="0" dirty="0">
                <a:solidFill>
                  <a:srgbClr val="8A94A3"/>
                </a:solidFill>
                <a:latin typeface="Calibri"/>
              </a:rPr>
              <a:t>U.S. History Hack · Don't just learn history. Hack it.</a:t>
            </a:r>
          </a:p>
        </p:txBody>
      </p:sp>
      <p:sp>
        <p:nvSpPr>
          <p:cNvPr id="28" name="t28"/>
          <p:cNvSpPr/>
          <p:nvPr/>
        </p:nvSpPr>
        <p:spPr>
          <a:xfrm>
            <a:off x="9810750" y="6362700"/>
            <a:ext cx="1714500" cy="323850"/>
          </a:xfrm>
          <a:prstGeom prst="roundRect">
            <a:avLst/>
          </a:prstGeom>
          <a:solidFill>
            <a:srgbClr val="F3ECD6"/>
          </a:solidFill>
          <a:ln w="9525">
            <a:solidFill>
              <a:srgbClr val="C9A227"/>
            </a:solidFill>
          </a:ln>
        </p:spPr>
        <p:txBody>
          <a:bodyPr wrap="square" lIns="91440" tIns="9144" rIns="91440" bIns="9144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000" b="1" i="0" dirty="0">
                <a:solidFill>
                  <a:srgbClr val="846009"/>
                </a:solidFill>
                <a:latin typeface="Calibri"/>
              </a:rPr>
              <a:t>3 min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111</Slides>
  <Notes>109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</vt:vector>
  </TitlesOfParts>
  <Company>U.S. History Hack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Unit 1 — The Rise of Industrialization, 1877–1900 (US.01–US.07)</dc:subject>
  <dc:creator>TroopToTeacher Technologies LLC</dc:creator>
  <cp:lastModifiedBy>TroopToTeacher Technologies LLC</cp:lastModifiedBy>
  <cp:revision>1</cp:revision>
  <dcterms:created xsi:type="dcterms:W3CDTF">2026-07-01T14:27:53Z</dcterms:created>
  <dcterms:modified xsi:type="dcterms:W3CDTF">2026-07-01T14:27:53Z</dcterms:modified>
</cp:coreProperties>
</file>
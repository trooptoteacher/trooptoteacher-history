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3-1.jpg" ContentType="image/jpg"/>
  <Override PartName="/ppt/media/image-109-1.jpg" ContentType="image/jpg"/>
  <Override PartName="/ppt/media/image-121-1.jpg" ContentType="image/jpg"/>
  <Override PartName="/ppt/media/image-122-1.jpg" ContentType="image/jpg"/>
  <Override PartName="/ppt/media/image-140-1.jpg" ContentType="image/jpg"/>
  <Override PartName="/ppt/media/image-151-1.jpg" ContentType="image/jpg"/>
  <Override PartName="/ppt/media/image-172-1.jpg" ContentType="image/jpg"/>
  <Override PartName="/ppt/media/image-184-1.jpg" ContentType="image/jpg"/>
  <Override PartName="/ppt/media/image-203-1.jpg" ContentType="image/jpg"/>
  <Override PartName="/ppt/media/image-24-1.jpg" ContentType="image/jpg"/>
  <Override PartName="/ppt/media/image-26-1.jpg" ContentType="image/jpg"/>
  <Override PartName="/ppt/media/image-43-1.jpg" ContentType="image/jpg"/>
  <Override PartName="/ppt/media/image-57-1.jpg" ContentType="image/jpg"/>
  <Override PartName="/ppt/media/image-70-1.jpg" ContentType="image/jpg"/>
  <Override PartName="/ppt/media/image-9-1.jpg" ContentType="image/jpg"/>
  <Override PartName="/ppt/media/image-90-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466" r:id="rId217"/>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467" r:id="rId218"/>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468" r:id="rId219"/>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469" r:id="rId220"/>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470" r:id="rId221"/>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471" r:id="rId222"/>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472" r:id="rId223"/>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473" r:id="rId224"/>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474" r:id="rId225"/>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75" r:id="rId226"/>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76" r:id="rId227"/>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77" r:id="rId228"/>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78" r:id="rId229"/>
    <p:sldId id="460" r:id="rId206"/>
    <p:sldId id="461" r:id="rId207"/>
    <p:sldId id="462" r:id="rId208"/>
    <p:sldId id="463" r:id="rId209"/>
    <p:sldId id="464" r:id="rId210"/>
    <p:sldId id="465" r:id="rId211"/>
  </p:sldIdLst>
  <p:notesMasterIdLst>
    <p:notesMasterId r:id="rId2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notesMaster" Target="notesMasters/notesMaster1.xml"/><Relationship Id="rId213" Type="http://schemas.openxmlformats.org/officeDocument/2006/relationships/presProps" Target="presProps.xml"/><Relationship Id="rId214" Type="http://schemas.openxmlformats.org/officeDocument/2006/relationships/viewProps" Target="viewProps.xml"/><Relationship Id="rId215" Type="http://schemas.openxmlformats.org/officeDocument/2006/relationships/theme" Target="theme/theme1.xml"/><Relationship Id="rId216" Type="http://schemas.openxmlformats.org/officeDocument/2006/relationships/tableStyles" Target="tableStyles.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10 TCAP EOC lecture deck. Each standard runs as a full lesson: divider (standard + I Can), hook, direct instruction with a verified primary-source image, key figures, vocabulary, a student activity (paired to a printable worksheet), a TCAP-style check (question slide, then click to the reveal/answer-key slide), and a wrap-up with a teacher answer key in the speaker notes. All images are public-domain, captioned, and linked to the Library of Congress / National Archives.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Bell ringer (5 min). Changes students may name: instant digital communication (the personal computer, the Internet, cell phones, social media); a broader sharing of power (the first woman on the Supreme Court, the first Black president, more women and minorities in high office); and a larger, more contested role for the federal government (Medicare and the Great Society, environmental regulation, the Affordable Care Act). Push students to connect each change to a specific event or figure in this unit. Collect lists; revisit on the closing slide after students can answer with evidence — from the Great Society, through Vietnam-era activism, Watergate, environmentalism, the Reagan era and the end of the Cold War, to 9/11, the digital revolution, and the Obama presidency.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(US.83). Cold-call or whiteboards, 3-4 min, low stakes. Answers — 1) The Civil Rights Act of 1964 banned segregation and discrimination in public places, schools, and jobs; the Voting Rights Act of 1965 protected the right to vote by banning literacy tests and adding federal oversight. Together they dismantled legal segregation and opened the door to fuller participation — setting the stage for the Great Society's broader push against poverty and inequality.  2) How the federal government's role expanded to address poverty, health care, civil rights, and the economy — and how presidents from Johnson to Obama each shaped that role in different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(US.83, DOK 1). 60-90 seconds. Have EVERY student commit (thumbs / whiteboard / choral) before revealing — this secures an early win and surfaces who is shaky before new content. Answer: The Great Society. Key term to listen for: Great Society.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(US.83).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(US.83). Ask: can the government end poverty by passing laws and funding programs? What evidence would tell us if it worked?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(President Lyndon B. Johnson) WHEN? (May 22, 1964) WHY does that matter? (Consider the author's purpose and audience before you interpret the words.) Only then move to the ANALYZE question. Suggested answer: Johnson states the Great Society "demands an end to poverty and racial injustice" and envisions a place "where every child can find knowledge to enrich his mind."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(US.83). Skill modeled: Evaluate the impact of a government program. Model the worked example aloud using the THINK ALOUD as your script, then release students to the activity ("Now you: name one Great Society program and one measurable result (positive or negative) that lets us judge its impact.").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US.83. Pair with the printable: printables/unit-10/unit-10-cause-effect.html. Timing: 15. Deliverable: Completed Causes &amp; Consequences organizer (3+ causes, 3+ consequences) plus a one-sentence evidence-based claim on the Great Society's lasting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(US.83, DOK 3). Have students commit to an answer (whiteboards, hand signal, or turn-and-talk) BEFORE advancing. Correct answer: C. The next slide reveals it. Why: Johnson emphasizes that the Act "charts a new course" and "strikes at the causes, not just the consequences of poverty," distinguishing it from previous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(US.83). Correct: C. Johnson emphasizes that the Act "charts a new course" and "strikes at the causes, not just the consequences of poverty," distinguishing it from previous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(US.83, DOK 2). Prompt: Explain what the Great Society was and describe two programs it created. Why is it considered a major expansion of the federal government?  Model answer: The Great Society was President Johnson's set of programs to fight poverty and improve life for all Americans. Two examples: Medicare gave health insurance to Americans 65 and older, and Medicaid provided health care for low-income families (others include Head Start and the War on Poverty). It was a major expansion because the federal government took direct responsibility for health care, poverty, and education — roles states, charities, and families had mostly handled before.  RETEACH TRIGGER — if a student misses this exit ticket: (1) &lt;50% of class miss → spiral it into the next standard’s Quick Review opener (see the US.83 review prompts). (2) Individual/small group → reteach with the "Great Society Programs Overview" direct-instruction slide + re-run the SOURCE IT FIRST routine on the US.83 primary source, then assign the paired printable: printables/unit-10/unit-10-cause-effect.html. (3) Re-assess with the US.83 check-for-understanding reveal slide as a do-now the next day. Reteach anchors (this standard’s sections): Great Society Programs Overview; Medicare's Effect on Healthcare; Urban Renewal Consequences; War on Poverty Effectiveness. I Can objective: I can evaluate the impact of President Lyndon Johnson's Great Society programs, including Medicare, urban renewal, and the War on Poverty.  HONORS / EXTENSION (DOK 3, for early finishers or advanced learners): Evaluate the long-term significance of the Great Society. Which program most changed American life, and does it still matter today? Defend your answer with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(US.84). Cold-call or whiteboards, 3-4 min, low stakes. Answers — 1) Medicare (health insurance for Americans 65+), Medicaid (health care for low-income families), Head Start (early education), and the War on Poverty. They dramatically expanded the federal government's role in fighting poverty and providing health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(US.84, DOK 1). 60-90 seconds. Have EVERY student commit (thumbs / whiteboard / choral) before revealing — this secures an early win and surfaces who is shaky before new content. Answer: The Vietnam War. Key term to listen for: counterculture.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(US.84).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(US.84). Ask: when young Americans challenged their parents' values in the 1960s, was that patriotism or rebellion? Can it be both?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(U.S. Congress) WHEN? (August 7, 1964) WHY does that matter? (Consider who wrote this and why before you decide what power it really granted.) Only then move to the ANALYZE question. Suggested answer: The resolution authorized the President "to take all necessary measures" and "all necessary steps, including the use of armed force" without a formal declaration of war.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(US.84). Skill modeled: Analyze competing points of view. Model the worked example aloud using the THINK ALOUD as your script, then release students to the activity ("Now you: pick one counterculture symbol (hippies, Woodstock, or protest) and explain how a supporter and a critic would each describe it.").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US.84. Pair with the printable: printables/unit-10/unit-10-sapa.html. Timing: 18. Deliverable: Completed SAPA chart for three movements, each with all four columns filled, plus one sentence on which movement had the biggest effect on public opinion about Vietnam.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(US.84, DOK 3). Have students commit to an answer (whiteboards, hand signal, or turn-and-talk) BEFORE advancing. Correct answer: C. The next slide reveals it. Why: Cronkite concluded the war was "mired in stalemate" and that "the only rational way out then will be to negotiate" — a turning point in public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(US.84). Correct: C. Cronkite concluded the war was "mired in stalemate" and that "the only rational way out then will be to negotiate" — a turning point in public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(US.84, DOK 2). Prompt: Describe the counterculture and the “generation gap” of the 1960s. What did young Americans protest, and how did older Americans react?  Model answer: The counterculture was a 1960s youth movement that rejected traditional values and embraced new music, styles, and ideas. The “generation gap” was the deep divide between these youth and their parents. Young Americans protested the Vietnam War, racial injustice, and conformity. Many older Americans — the “silent majority” — saw the protests and counterculture as a threat to law, order, and traditional values.  RETEACH TRIGGER — if a student misses this exit ticket: (1) &lt;50% of class miss → spiral it into the next standard’s Quick Review opener (see the US.84 review prompts). (2) Individual/small group → reteach with the "Different Viewpoints on Social Activism" direct-instruction slide + re-run the SOURCE IT FIRST routine on the US.84 primary source, then assign the paired printable: printables/unit-10/unit-10-sapa.html. (3) Re-assess with the US.84 check-for-understanding reveal slide as a do-now the next day. Reteach anchors (this standard’s sections): Different Viewpoints on Social Activism; The Generation Gap; The Hippie Movement; Woodstock's Significance. I Can objective: I can analyze different points of view that reflect the rise of social activism and the growth of counterculture, including the generation gap, hippies, and Woodstock.  HONORS / EXTENSION (DOK 3, for early finishers or advanced learners): Analyze how the counterculture and anti-war movements changed American society. What did they change permanently, and what backlash did they trigger? Argue with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(US.85). Cold-call or whiteboards, 3-4 min, low stakes. Answers — 1) The generation gap was the sharp divide in values between 1960s youth and their parents. Young Americans protested the Vietnam War, questioned authority, and embraced a counterculture of new music, styles, and ideas — clashing with older, more traditional Americans.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(US.85, DOK 1). 60-90 seconds. Have EVERY student commit (thumbs / whiteboard / choral) before revealing — this secures an early win and surfaces who is shaky before new content. Answer: China. Key term to listen for: Silent Majority.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(US.85).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(US.85). Ask: how could a president known for creating the EPA and opening China also become the center of a scandal that forced him to resign? What does that tell us about judging a presidency?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(President Richard Nixon) WHEN? (November 3, 1969) WHY does that matter? (Consider who Nixon is addressing and why before you judge the speech.) Only then move to the ANALYZE question. Suggested answer: Nixon directly addresses "the great silent majority of my fellow Americans," seeking support from those who did not join vocal protests but supported his approach. Practice skill: Argumentation.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(US.85). Skill modeled: Explain a leader's political strategy. Model the worked example aloud using the THINK ALOUD as your script, then release students to the activity ("Now you: explain in one sentence how the "silent majority" appeal helped Nixon build a lasting political coalition.").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US.85. Pair with the printable: printables/unit-10/unit-10-cause-effect.html. Timing: 15. Deliverable: Completed Cause &amp; Effect organizer (3+ causes, 3+ effects) plus a one-sentence claim on how Nixon's China opening changed the balance of the Cold War.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(US.85, DOK 3). Have students commit to an answer (whiteboards, hand signal, or turn-and-talk) BEFORE advancing. Correct answer: C. The next slide reveals it. Why: Nixon directly addresses "the great silent majority of my fellow Americans," seeking support from those who did not join vocal protests but supported his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(US.85). Correct: C. Nixon directly addresses "the great silent majority of my fellow Americans," seeking support from those who did not join vocal protests but supported his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(US.85, DOK 3). Prompt: Explain who Nixon meant by the “silent majority,” and describe his two major foreign-policy achievements.  Model answer: The “silent majority” meant the many Americans who did not protest but, Nixon argued, quietly supported him and traditional values. His two biggest foreign-policy achievements were opening relations with communist China (his 1972 visit) and pursuing détente with the Soviet Union, including the SALT I arms-control treaty. Together these eased Cold War tensions by playing the two communist powers against each other.  RETEACH TRIGGER — if a student misses this exit ticket: (1) &lt;50% of class miss → spiral it into the next standard’s Quick Review opener (see the US.85 review prompts). (2) Individual/small group → reteach with the "Significant Achievements" direct-instruction slide + re-run the SOURCE IT FIRST routine on the US.85 primary source, then assign the paired printable: printables/unit-10/unit-10-cause-effect.html. (3) Re-assess with the US.85 check-for-understanding reveal slide as a do-now the next day. Reteach anchors (this standard’s sections): Significant Achievements; The "Silent Majority" Concept; Major Foreign Policy Initiatives. I Can objective: I can explain significant achievements of President Richard Nixon's administration, including his appeal to the "silent majority" and his major foreign policy actions.  HONORS / EXTENSION (DOK 3, for early finishers or advanced learners): Evaluate whether Nixon's foreign-policy achievements outweigh the damage of Watergate to his legacy. Defend your position with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(US.86). Cold-call or whiteboards, 3-4 min, low stakes. Answers — 1) Nixon opened relations with communist China with his historic 1972 visit and pursued détente with the Soviet Union, signing the SALT I arms-control treaty — easing Cold War tensions by playing the two communist powers against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(US.86, DOK 1). 60-90 seconds. Have EVERY student commit (thumbs / whiteboard / choral) before revealing — this secures an early win and surfaces who is shaky before new content. Answer: The Watergate scandal. Key term to listen for: Watergate Scandal.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(US.86).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(US.86). Ask: the phrase "no one is above the law" comes from Watergate. Why does that idea still matter for how we judge presidents today?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(President Richard Nixon) WHEN? (August 8, 1974) WHY does that matter? (Consider the author's purpose — a resignation speech is meant to shape how history remembers him.) Only then move to the ANALYZE question. Suggested answer: Nixon states he "must put the interest of America first" as his reason for resigning, framing it as a sacrifice despite it being "abhorrent" to him. Practice skill: Sourcing.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(US.86). Skill modeled: Corroborate evidence across sources. Model the worked example aloud using the THINK ALOUD as your script, then release students to the activity ("Now you: explain which source better reveals Nixon's actual role in Watergate, and why.").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US.86. Pair with the printable: printables/unit-10/unit-10-timeline.html. Timing: 15. Deliverable: Completed timeline (5+ ordered events, each with a why-it-mattered note) plus a one-sentence claim on how the system of checks and balances responded to a president who broke the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(US.86, DOK 3). Have students commit to an answer (whiteboards, hand signal, or turn-and-talk) BEFORE advancing. Correct answer: D. The next slide reveals it. Why: Nixon states he "must put the interest of America first" as his reason for resigning, framing it as a sacrifice despite it being "abhorrent" to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(US.86). Correct: D. Nixon states he "must put the interest of America first" as his reason for resigning, framing it as a sacrifice despite it being "abhorrent" to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(US.86, DOK 2). Prompt: Explain the Watergate scandal and why it led to Nixon's resignation. What did United States v. Nixon establish?  Model answer: Watergate began with a 1972 break-in at the Democratic Party headquarters, which the Nixon White House then tried to cover up. Investigations and secret tapes revealed Nixon's involvement in the cover-up. In United States v. Nixon (1974), the Supreme Court ruled unanimously that he had to hand over the tapes, rejecting his claim of executive privilege. Facing certain impeachment, Nixon resigned on August 9, 1974. The case established that not even the president is above the law.  RETEACH TRIGGER — if a student misses this exit ticket: (1) &lt;50% of class miss → spiral it into the next standard’s Quick Review opener (see the US.86 review prompts). (2) Individual/small group → reteach with the "The Break-in Circumstances" direct-instruction slide + re-run the SOURCE IT FIRST routine on the US.86 primary source, then assign the paired printable: printables/unit-10/unit-10-timeline.html. (3) Re-assess with the US.86 check-for-understanding reveal slide as a do-now the next day. Reteach anchors (this standard’s sections): The Break-in Circumstances; Media's Changing Role; United States v. Nixon; Ford's Pardon and Legacy of Distrust. I Can objective: I can examine the Watergate scandal, including the background of the break-in, the changing role of media, President Ford's pardon controversy, the legacy of distrust, and United States v. Nixon.  HONORS / EXTENSION (DOK 3, for early finishers or advanced learners): Analyze which check on power did the most to hold Nixon accountable — the courts, Congress, the press, or public opinion? Defend your answer with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(US.87). Cold-call or whiteboards, 3-4 min, low stakes. Answers — 1) Nixon resigned in 1974 to avoid impeachment after evidence tied him to covering up the Watergate break-in. In United States v. Nixon (1974), the Court ruled unanimously that he had to turn over the White House tapes — proving no one, not even the president, is above the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(US.87, DOK 1). 60-90 seconds. Have EVERY student commit (thumbs / whiteboard / choral) before revealing — this secures an early win and surfaces who is shaky before new content. Answer: The Environmental Protection Agency (EPA). Key term to listen for: Environmental Protection Agency (EPA).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(US.87).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(US.87). Ask: why did it take disasters like Love Canal and Three Mile Island to convince Americans that pollution was a serious national problem?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(President Richard Nixon) WHEN? (July 9, 1970) WHY does that matter? (Consider that Nixon is announcing a new federal agency to Congress — how does that official purpose shape what the message emphasizes?) Only then move to the ANALYZE question. Suggested answer: Nixon identifies the need for "a coordinated attack on the pollutants which debase the air we breathe, the water we drink, and the land that grows our food."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(US.87). Skill modeled: Explain cause and effect in a movement. Model the worked example aloud using the THINK ALOUD as your script, then release students to the activity ("Now you: name one cause of the environmental movement and one effect it produced, and connect them.").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US.87. Pair with the printable: printables/unit-10/unit-10-cause-effect.html. Timing: 15. Deliverable: Completed Cause &amp; Effect organizer (3+ causes, 3+ effects) plus a one-sentence claim on why the environmental movement grew into national law so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(US.87, DOK 3). Have students commit to an answer (whiteboards, hand signal, or turn-and-talk) BEFORE advancing. Correct answer: B. The next slide reveals it. Why: Nelson described Earth Day as "dramatic evidence of a broad new national concern that cuts across generations and ideologies," uniting diverse Americans.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(US.87). Correct: B. Nelson described Earth Day as "dramatic evidence of a broad new national concern that cuts across generations and ideologies," uniting diverse Americans.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(US.87, DOK 2). Prompt: Explain what caused the modern environmental movement and describe two government responses to it.  Model answer: Causes included Rachel Carson's book Silent Spring (1962), which warned about pesticides, plus visible pollution, oil spills, and burning rivers. Government responses included the first Earth Day (1970), the creation of the Environmental Protection Agency (EPA), and laws like the Clean Air Act, Clean Water Act, and Endangered Species Act. Public awareness pushed the federal government to act.  RETEACH TRIGGER — if a student misses this exit ticket: (1) &lt;50% of class miss → spiral it into the next standard’s Quick Review opener (see the US.87 review prompts). (2) Individual/small group → reteach with the "Factors Leading to the Environmental Movement" direct-instruction slide + re-run the SOURCE IT FIRST routine on the US.87 primary source, then assign the paired printable: printables/unit-10/unit-10-cause-effect.html. (3) Re-assess with the US.87 check-for-understanding reveal slide as a do-now the next day. Reteach anchors (this standard’s sections): Factors Leading to the Environmental Movement; EPA's Purpose and Functions; Love Canal Disaster; Three Mile Island Accident. I Can objective: I can explain the emergence of environmentalism, including the creation of the Environmental Protection Agency and disasters such as Love Canal and Three Mile Island.  HONORS / EXTENSION (DOK 3, for early finishers or advanced learners): Evaluate whether public pressure or government action did more to protect the environment in the 1970s. Argue with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(US.88). Cold-call or whiteboards, 3-4 min, low stakes. Answers — 1) The first Earth Day in 1970 drew about 20 million Americans, and the Environmental Protection Agency (EPA) was created that year to enforce new anti-pollution laws like the Clean Air Act and Clean Water Act. Rachel Carson's book Silent Spring had helped spark public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(US.88, DOK 1). 60-90 seconds. Have EVERY student commit (thumbs / whiteboard / choral) before revealing — this secures an early win and surfaces who is shaky before new content. Answer: The Camp David Accords. Key term to listen for: Camp David Accords.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(US.88).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(US.88). Ask: is it fair that a president who achieved a historic peace treaty is often remembered mainly for a hostage crisis he could not control?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(President Jimmy Carter) WHEN? (September 17, 1978) WHY does that matter? (Consider the setting — a signing ceremony is meant to celebrate and frame an achievement.) Only then move to the ANALYZE question. Suggested answer: Carter describes resolving "problems that have divided their people for 30 years" and achieving "a framework for peace" between Israel and Egypt. Practice skill: Contextualization.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(US.88). Skill modeled: Weigh successes against setbacks. Model the worked example aloud using the THINK ALOUD as your script, then release students to the activity ("Now you: name Carter's biggest success and biggest setback, and explain which mattered more for his presidency.").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US.88. Pair with the printable: printables/unit-10/hippo-primary-source-organizer.html. Timing: 15. Deliverable: Completed HIPP[O] organizer for one source, a labeled list of Carter's key events (success vs. setback), and a one-sentence claim on why the Camp David Accords are remembered as his greatest achievement.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(US.88, DOK 3). Have students commit to an answer (whiteboards, hand signal, or turn-and-talk) BEFORE advancing. Correct answer: B. The next slide reveals it. Why: Carter describes "a crisis of confidence" that "strikes at the very heart and soul and spirit of our national will" and a "loss of a unity of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(US.88). Correct: B. Carter describes "a crisis of confidence" that "strikes at the very heart and soul and spirit of our national will" and a "loss of a unity of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(US.88, DOK 2). Prompt: Describe Carter's greatest foreign-policy success and the crisis that most damaged his presidency.  Model answer: Carter's greatest success was the Camp David Accords (1978), a historic peace agreement between Egypt and Israel that he personally brokered. The Iran Hostage Crisis — in which 52 Americans were held for 444 days after Iranian revolutionaries seized the U.S. embassy — most damaged his presidency, along with high inflation, gas shortages, and a sense of national “malaise.”  RETEACH TRIGGER — if a student misses this exit ticket: (1) &lt;50% of class miss → spiral it into the next standard’s Quick Review opener (see the US.88 review prompts). (2) Individual/small group → reteach with the "Economic Difficulties" direct-instruction slide + re-run the SOURCE IT FIRST routine on the US.88 primary source, then assign the paired printable: printables/unit-10/hippo-primary-source-organizer.html. (3) Re-assess with the US.88 check-for-understanding reveal slide as a do-now the next day. Reteach anchors (this standard’s sections): Economic Difficulties; Energy Crisis Implications; Panama Canal Treaty; Iran Hostage Crisis; Camp David Accords. I Can objective: I can identify and explain the significant events of President Jimmy Carter's administration, including the poor economy, Panama Canal Treaty, Camp David Accords, energy crisis, and Iran Hostage Crisis.  HONORS / EXTENSION (DOK 3, for early finishers or advanced learners): Evaluate whether Carter should be judged more by his foreign-policy successes or his domestic struggles. Defend with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(US.89). Cold-call or whiteboards, 3-4 min, low stakes. Answers — 1) His greatest success was the Camp David Accords (1978), a peace agreement between Egypt and Israel. The Iran Hostage Crisis — in which 52 Americans were held for 444 days — along with high inflation and gas shortages, badly damaged his presidency.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(US.89, DOK 1). 60-90 seconds. Have EVERY student commit (thumbs / whiteboard / choral) before revealing — this secures an early win and surfaces who is shaky before new content. Answer: Reaganomics. Key term to listen for: Reaganomics.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(US.89).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(US.89). Ask: Reagan is one of the most admired and most criticized modern presidents. How can historians hold both views at once?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(President Ronald Reagan) WHEN? (January 20, 1981) WHY does that matter? (Consider that an inaugural address is designed to set the tone and philosophy for a whole presidency.) Only then move to the ANALYZE question. Suggested answer: Reagan explicitly states "government is not the solution to our problem; government is the problem," expressing his conservative philosophy of limited government. Practice skill: Argumentation.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(US.89). Skill modeled: Analyze significance from multiple angles. Model the worked example aloud using the THINK ALOUD as your script, then release students to the activity ("Now you: name one Reagan achievement and one criticism, and explain how both shape his historical significance.").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US.89. Pair with the printable: printables/unit-10/unit-10-cause-effect.html. Timing: 18. Deliverable: Completed Cause &amp; Effect organizer (3+ causes, 3+ effects) plus a one-sentence claim on Reagan's most significant legacy.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(US.89, DOK 3). Have students commit to an answer (whiteboards, hand signal, or turn-and-talk) BEFORE advancing. Correct answer: D. The next slide reveals it. Why: Reagan explicitly states "government is not the solution to our problem; government is the problem," expressing his conservative philosophy of limited government.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(US.89). Correct: D. Reagan explicitly states "government is not the solution to our problem; government is the problem," expressing his conservative philosophy of limited government.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(US.89, DOK 3). Prompt: Explain the main ideas of Reaganomics and describe how Reagan approached the Cold War.  Model answer: Reaganomics was a supply-side policy: cut taxes and regulations to encourage investment and growth, while increasing military spending. Toward the Cold War, Reagan built up the military, funded new defense programs (the Strategic Defense Initiative), and publicly pressured the Soviet Union — famously demanding at the Berlin Wall, “Mr. Gorbachev, tear down this wall!” This pressure, combined with Soviet weakness, helped bring the Cold War toward its end.  RETEACH TRIGGER — if a student misses this exit ticket: (1) &lt;50% of class miss → spiral it into the next standard’s Quick Review opener (see the US.89 review prompts). (2) Individual/small group → reteach with the "Strategies for Enhancing National Pride" direct-instruction slide + re-run the SOURCE IT FIRST routine on the US.89 primary source, then assign the paired printable: printables/unit-10/unit-10-cause-effect.html. (3) Re-assess with the US.89 check-for-understanding reveal slide as a do-now the next day. Reteach anchors (this standard’s sections): Strategies for Enhancing National Pride; Reaganomics Principles and Impacts; Strategic Defense Initiative; Iran-Contra Affair; AIDS Epidemic Response. I Can objective: I can analyze the significance of President Ronald Reagan's administration, including the revitalization of national pride, Reaganomics, Iran-Contra affair, "War on Drugs," Strategic Defense Initiative, and the AIDS epidemic.  HONORS / EXTENSION (DOK 3, for early finishers or advanced learners): Evaluate whether Reagan's economic policy or his Cold War strategy had the greater long-term impact on the United States. Argue with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(US.90). Cold-call or whiteboards, 3-4 min, low stakes. Answers — 1) Reaganomics cut taxes and regulations to spur economic growth (supply-side economics). Reagan also built up the U.S. military and challenged the Soviets directly — as in his “Tear down this wall” speech — adding pressure that helped bring the Cold War toward its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(US.90, DOK 1). 60-90 seconds. Have EVERY student commit (thumbs / whiteboard / choral) before revealing — this secures an early win and surfaces who is shaky before new content. Answer: The Persian Gulf War (Operation Desert Storm). Key term to listen for: Gulf War (1991).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(US.90).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(US.90). Ask: Bush chose to push Iraq out of Kuwait but not remove Saddam Hussein. Was that restraint wise, or a missed chance? Why is it still debated?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(President George H.W. Bush) WHEN? (January 16, 1991) WHY does that matter? (Consider that a wartime address is meant to justify military action and rally the public.) Only then move to the ANALYZE question. Suggested answer: Bush states the objectives: "Saddam Hussein's forces will leave Kuwait" and "The legitimate government of Kuwait will be restored." Practice skill: Contextualization.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(US.90). Skill modeled: Place events in historical context. Model the worked example aloud using the THINK ALOUD as your script, then release students to the activity ("Now you: explain how the end of the Cold War changed America's role in the world during Bush's presidency.").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US.90. Pair with the printable: printables/unit-10/unit-10-timeline.html. Timing: 15. Deliverable: Completed timeline (4+ ordered events, each with a significance note) plus a one-sentence claim on how the end of the Cold War changed America's role in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(US.90, DOK 3). Have students commit to an answer (whiteboards, hand signal, or turn-and-talk) BEFORE advancing. Correct answer: B. The next slide reveals it. Why: Bush called it "a victory for democracy and freedom" and "a victory for the moral force of our values" that every American should take pride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(US.90). Correct: B. Bush called it "a victory for democracy and freedom" and "a victory for the moral force of our values" that every American should take pride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(US.90, DOK 2). Prompt: Describe two major events of the George H.W. Bush presidency and explain their significance.  Model answer: First, the Cold War ended — the Berlin Wall fell in 1989 and the Soviet Union collapsed in 1991 — leaving the United States as the world's only superpower. Second, Bush led an international coalition to victory in the Persian Gulf War (Operation Desert Storm, 1991), driving Iraq out of Kuwait. Both events reshaped America's role and responsibilities in the world.  RETEACH TRIGGER — if a student misses this exit ticket: (1) &lt;50% of class miss → spiral it into the next standard’s Quick Review opener (see the US.90 review prompts). (2) Individual/small group → reteach with the "Panama Invasion" direct-instruction slide + re-run the SOURCE IT FIRST routine on the US.90 primary source, then assign the paired printable: printables/unit-10/unit-10-timeline.html. (3) Re-assess with the US.90 check-for-understanding reveal slide as a do-now the next day. Reteach anchors (this standard’s sections): Panama Invasion; Gulf War Context and Outcomes; Fall of Berlin Wall and Soviet Collapse (Honors). I Can objective: I can describe the significant events of President George H.W. Bush's administration, including the invasion of Panama and the Gulf War.  HONORS / EXTENSION (DOK 3, for early finishers or advanced learners): Analyze whether the peaceful end of the Cold War or the swift Gulf War victory did more to define Bush's presidency. Defend with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(US.91). Cold-call or whiteboards, 3-4 min, low stakes. Answers — 1) The Cold War ended — the Berlin Wall fell (1989) and the Soviet Union collapsed (1991) — and the United States led a coalition to victory in the Persian Gulf War (Operation Desert Storm, 1991), leaving America as the world's only superpower.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(US.91, DOK 1). 60-90 seconds. Have EVERY student commit (thumbs / whiteboard / choral) before revealing — this secures an early win and surfaces who is shaky before new content. Answer: NAFTA (the North American Free Trade Agreement). Key term to listen for: NAFTA.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(US.91).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(US.91). Ask: Clinton remained popular even after being impeached. What does that tell us about how Americans separate a leader's personal conduct from their job performance?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(President Bill Clinton) WHEN? (December 8, 1993) WHY does that matter? (Consider the author's purpose — a signing statement is meant to sell the benefits of a policy.) Only then move to the ANALYZE question. Suggested answer: Clinton states "NAFTA means jobs. American jobs, and good-paying American jobs" and that it "will generate these jobs by opening the largest, richest market." Practice skill: Sourcing.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(US.91). Skill modeled: Summarize a presidency's key events. Model the worked example aloud using the THINK ALOUD as your script, then release students to the activity ("Now you: write a one-sentence summary of the Clinton presidency that includes both an achievement and a controversy.").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US.91. Pair with the printable: printables/unit-10/unit-10-cause-effect.html. Timing: 15. Deliverable: Completed Cause &amp; Effect organizer (3+ causes, 3+ effects) plus a one-sentence claim on whether free trade helped or hurt American workers in the 1990s.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(US.91, DOK 3). Have students commit to an answer (whiteboards, hand signal, or turn-and-talk) BEFORE advancing. Correct answer: C. The next slide reveals it. Why: Clinton states "NAFTA means jobs. American jobs, and good-paying American jobs" and that it "will generate these jobs by opening the largest, richest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(US.91). Correct: C. Clinton states "NAFTA means jobs. American jobs, and good-paying American jobs" and that it "will generate these jobs by opening the largest, richest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(US.91, DOK 2). Prompt: Explain what NAFTA was and describe the state of the U.S. economy in the 1990s under Clinton.  Model answer: NAFTA (the North American Free Trade Agreement, 1993) removed most trade barriers among the United States, Canada, and Mexico. Under Clinton the 1990s economy boomed — with low unemployment, strong growth, and a balanced federal budget that produced a surplus. The era also included welfare reform and Clinton's impeachment (from which he was acquitted).  RETEACH TRIGGER — if a student misses this exit ticket: (1) &lt;50% of class miss → spiral it into the next standard’s Quick Review opener (see the US.91 review prompts). (2) Individual/small group → reteach with the "NAFTA Goals and Outcomes" direct-instruction slide + re-run the SOURCE IT FIRST routine on the US.91 primary source, then assign the paired printable: printables/unit-10/unit-10-cause-effect.html. (3) Re-assess with the US.91 check-for-understanding reveal slide as a do-now the next day. Reteach anchors (this standard’s sections): NAFTA Goals and Outcomes; Welfare-to-Work Transition; Scandals and Impeachment; Balanced Budget Significance. I Can objective: I can summarize the events of President Bill Clinton's administration, including welfare-to-work, balanced budget, NAFTA, and scandals and subsequent impeachment hearings.  HONORS / EXTENSION (DOK 3, for early finishers or advanced learners): Evaluate whether the prosperity of the 1990s or the political battles of the era better defines the Clinton presidency. Argue with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(US.92). Cold-call or whiteboards, 3-4 min, low stakes. Answers — 1) NAFTA (1993) was a free-trade agreement linking the U.S., Canada, and Mexico. The 1990s saw a strong economy, low unemployment, and a balanced federal budget with a surplus — alongside welfare reform and Clinton's impeachment.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(US.92, DOK 1). 60-90 seconds. Have EVERY student commit (thumbs / whiteboard / choral) before revealing — this secures an early win and surfaces who is shaky before new content. Answer: September 11, 2001. Key term to listen for: September 11, 2001 Attacks.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(US.92).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(US.92). Ask: after 9/11, the government expanded surveillance to improve security. How should a democracy balance safety against civil liberties?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(President George W. Bush) WHEN? (September 11, 2001) WHY does that matter? (Consider that a president speaking hours after a tragedy is trying to reassure and unite a frightened nation.) Only then move to the ANALYZE question. Suggested answer: Bush describes "deliberate and deadly terrorist acts" where "our very freedom came under attack," causing "terrible sadness, and a quiet, unyielding anger." Practice skill: Contextualization.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(US.92). Skill modeled: Trace the impact of a single event. Model the worked example aloud using the THINK ALOUD as your script, then release students to the activity ("Now you: name one domestic and one international way 9/11 changed the United States.").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US.92. Pair with the printable: printables/unit-10/venn-pre-9-11-vs-post-9-11-america.html. Timing: 18. Deliverable: Completed Venn diagram (2+ items per section, including the shared overlap) plus a one-sentence claim on the biggest lasting change 9/11 brought to daily American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(US.92, DOK 2). Have students commit to an answer (whiteboards, hand signal, or turn-and-talk) BEFORE advancing. Correct answer: A. The next slide reveals it. Why: Bush describes "deliberate and deadly terrorist acts" where "our very freedom came under attack," causing "terrible sadness, and a quiet, unyielding 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(US.92). Correct: A. Bush describes "deliberate and deadly terrorist acts" where "our very freedom came under attack," causing "terrible sadness, and a quiet, unyielding 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(US.92, DOK 3). Prompt: Explain how the September 11th attacks changed American security and foreign policy. Give at least two specific changes.  Model answer: After 9/11, the United States created the Department of Homeland Security and passed the Patriot Act, expanding surveillance and law-enforcement powers. It launched the War on Terror, including wars in Afghanistan and Iraq, and greatly increased airport and border security. These changes reshaped daily life and raised lasting debate over the balance between security and civil liberties.  RETEACH TRIGGER — if a student misses this exit ticket: (1) &lt;50% of class miss → spiral it into the next standard’s Quick Review opener (see the US.92 review prompts). (2) Individual/small group → reteach with the "Bush's Domestic and International Response" direct-instruction slide + re-run the SOURCE IT FIRST routine on the US.92 primary source, then assign the paired printable: printables/unit-10/venn-pre-9-11-vs-post-9-11-america.html. (3) Re-assess with the US.92 check-for-understanding reveal slide as a do-now the next day. Reteach anchors (this standard’s sections): Bush's Domestic and International Response; Afghanistan War; Iraq War; Global Counter-terrorism Efforts. I Can objective: I can describe the impact of the September 11, 2001 terrorist attacks on the World Trade Center and the Pentagon, including the response of President George W. Bush, wars in Afghanistan and Iraq, and continued efforts to combat terrorism globally.  HONORS / EXTENSION (DOK 3, for early finishers or advanced learners): Analyze whether the security measures adopted after 9/11 protected Americans or went too far in limiting freedoms. Defend your position with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(US.93). Cold-call or whiteboards, 3-4 min, low stakes. Answers — 1) The U.S. created the Department of Homeland Security and passed the Patriot Act, launched the War on Terror with wars in Afghanistan and Iraq, and greatly increased airport and border security — reshaping the balance between security and civil liberties.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(US.93, DOK 1). 60-90 seconds. Have EVERY student commit (thumbs / whiteboard / choral) before revealing — this secures an early win and surfaces who is shaky before new content. Answer: Sandra Day O'Connor (1981). Key term to listen for: Sandra Day O'Connor.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(US.93).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(US.93). Ask: why do "firsts" like the first woman on the Supreme Court matter for people who will never hold that job themselves?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(Sandra Day O'Connor) WHEN? (September 1981) WHY does that matter? (Consider that O'Connor is speaking as a barrier-breaker aware her words will be heard by women nationwide.) Only then move to the ANALYZE question. Suggested answer: O'Connor states "I hope that my appointment will serve to inspire other women to aspire to positions of leadership." Practice skill: Argumentation.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(US.93). Skill modeled: Explain historical significance of individuals. Model the worked example aloud using the THINK ALOUD as your script, then release students to the activity ("Now you: pick one leader from this standard and explain what barrier they broke and why it mattered.").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US.93. Pair with the printable: printables/unit-10/unit-10-cause-effect.html. Timing: 18. Deliverable: Completed Cause &amp; Effect organizer (3+ causes, 3+ effects) plus a one-sentence claim on the most significant breakthrough for women and minorities in this 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(US.93, DOK 3). Have students commit to an answer (whiteboards, hand signal, or turn-and-talk) BEFORE advancing. Correct answer: B. The next slide reveals it. Why: O'Connor states "I hope that my appointment will serve to inspire other women to aspire to positions of leadership."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(US.93). Correct: B. O'Connor states "I hope that my appointment will serve to inspire other women to aspire to positions of leadership."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(US.93, DOK 2). Prompt: Describe two women or minority leaders from this era and explain why their achievements were significant.  Model answer: Sandra Day O'Connor became the first woman on the U.S. Supreme Court (1981); Colin Powell became the first African American Secretary of State (and earlier Chairman of the Joint Chiefs). Others include Condoleezza Rice and Nancy Pelosi. Their achievements were significant because they broke barriers that had stood for the nation's entire history, opening top offices to groups long excluded from them.  RETEACH TRIGGER — if a student misses this exit ticket: (1) &lt;50% of class miss → spiral it into the next standard’s Quick Review opener (see the US.93 review prompts). (2) Individual/small group → reteach with the "Hillary Clinton's Contributions" direct-instruction slide + re-run the SOURCE IT FIRST routine on the US.93 primary source, then assign the paired printable: printables/unit-10/unit-10-cause-effect.html. (3) Re-assess with the US.93 check-for-understanding reveal slide as a do-now the next day. Reteach anchors (this standard’s sections): Hillary Clinton's Contributions; Colin Powell's Leadership; Sandra Day O'Connor's Pioneering Impact; Condoleezza Rice's Foreign Policy Role; Nancy Pelosi's Political Leadership. I Can objective: I can describe the increasing role of women and minorities in the American military, politics, and economy, including Hillary Clinton, Sandra Day O'Connor, Nancy Pelosi, Colin Powell, and Condoleezza Rice.  HONORS / EXTENSION (DOK 3, for early finishers or advanced learners): Evaluate whether laws (like Title IX and affirmative action) or individual trailblazers did more to expand opportunity for women and minorities. Argue with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(US.94). Cold-call or whiteboards, 3-4 min, low stakes. Answers — 1) Sandra Day O'Connor (first woman on the Supreme Court), Colin Powell and Condoleezza Rice (Secretaries of State), or Nancy Pelosi (first woman Speaker of the House). Each broke a barrier that had stood for the nation's entire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(US.94, DOK 1). 60-90 seconds. Have EVERY student commit (thumbs / whiteboard / choral) before revealing — this secures an early win and surfaces who is shaky before new content. Answer: The Internet. Key term to listen for: Internet Revolution.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(US.94).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(US.94). Ask: we can now reach anyone instantly, yet many people feel more isolated. How can communication improve and harm relationships at the same time?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(Pew Research Center) WHEN? (2005) WHY does that matter? (Consider that a research organization aims to describe trends with evidence, not to sell a product.) Only then move to the ANALYZE question. Suggested answer: The source states "The internet has fundamentally changed how Americans communicate, work, and access information" and "has transformed everything from commerce to politics."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(US.94). Skill modeled: Compare and contrast across time. Model the worked example aloud using the THINK ALOUD as your script, then release students to the activity ("Now you: name one advantage and one drawback of today's communication compared with the 1970s.").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US.94. Pair with the printable: printables/unit-10/unit-10-venn.html. Timing: 15. Deliverable: Completed Venn diagram (2+ items per section, including the shared overlap) plus a one-sentence claim on the single technology that changed communication the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(US.94, DOK 3). Have students commit to an answer (whiteboards, hand signal, or turn-and-talk) BEFORE advancing. Correct answer: C. The next slide reveals it. Why: The testimony notes benefits like "instant communication across continents" but also "concerns about privacy, misinformation, and the decline of face-to-face interaction."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(US.94). Correct: C. The testimony notes benefits like "instant communication across continents" but also "concerns about privacy, misinformation, and the decline of face-to-face interaction."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(US.94, DOK 2). Prompt: Compare how Americans communicated in the 1970s with how they communicate today. Name at least two changes and one effect on society.  Model answer: In the 1970s, Americans relied on letters, landline telephones, and printed newspapers. Today they use the Internet, email, cell phones, and social media, making communication instant, global, and constant. Effects include faster access to information and new ways to work and organize — but also concerns about privacy, misinformation, and less face-to-face contact.  RETEACH TRIGGER — if a student misses this exit ticket: (1) &lt;50% of class miss → spiral it into the next standard’s Quick Review opener (see the US.94 review prompts). (2) Individual/small group → reteach with the "1970s Communication Technologies" direct-instruction slide + re-run the SOURCE IT FIRST routine on the US.94 primary source, then assign the paired printable: printables/unit-10/unit-10-venn.html. (3) Re-assess with the US.94 check-for-understanding reveal slide as a do-now the next day. Reteach anchors (this standard’s sections): 1970s Communication Technologies; Present-Day Communication Methods; Comparing Characteristics and Limitations; Societal Impact. I Can objective: I can compare and contrast commonly used methods of communication from 1970 to today, and analyze the impact they have had on society.  HONORS / EXTENSION (DOK 3, for early finishers or advanced learners): Analyze how the digital revolution changed not just communication but also work, politics, and privacy. Defend your answer with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(US.95). Cold-call or whiteboards, 3-4 min, low stakes. Answers — 1) In the 1970s people relied on letters, landline phones, and printed news. The personal computer, the Internet, email, cell phones, and social media made communication instant, global, and constant — transforming work, politics, and everyday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(US.95, DOK 1). 60-90 seconds. Have EVERY student commit (thumbs / whiteboard / choral) before revealing — this secures an early win and surfaces who is shaky before new content. Answer: Barack Obama. Key term to listen for: Affordable Care Act (Obamacare).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(US.95).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(US.95). Ask: Unit 10 ends with the first Black president. Looking back across all of U.S. History, what does Obama's election show about how far the country had come — and what challenges remained?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(President Barack Obama) WHEN? (January 20, 2009) WHY does that matter? (Consider that an inaugural address is meant to set the tone and priorities for a new presidency at a moment of national crisis.) Only then move to the ANALYZE question. Suggested answer: Obama identifies being "at war, against a far-reaching network of violence and hatred" and that "Our economy is badly weakened" as the major challenges. Practice skill: Contextualization.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(US.95). Skill modeled: Balance achievements against setbacks. Model the worked example aloud using the THINK ALOUD as your script, then release students to the activity ("Now you: name one Obama achievement and one setback, and explain why both belong in a fair description of his presidency.").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US.95. Pair with the printable: printables/unit-10/unit-10-cause-effect.html. Timing: 15. Deliverable: Completed Cause &amp; Effect organizer (3+ causes, 3+ effects, labeled achievement or setback) plus a one-sentence claim on Obama's most lasting legacy.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(US.95, DOK 3). Have students commit to an answer (whiteboards, hand signal, or turn-and-talk) BEFORE advancing. Correct answer: D. The next slide reveals it. Why: Obama describes it as coming "after almost a century of trying" and establishing "the core principle that everybody should have some basic security when it comes to their health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(US.95). Correct: D. Obama describes it as coming "after almost a century of trying" and establishing "the core principle that everybody should have some basic security when it comes to their health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(US.95, DOK 3). Prompt: Describe two achievements and one setback of the Obama administration. Why is his presidency historically significant?  Model answer: Achievements included the Affordable Care Act (which expanded health coverage), the economic stimulus and auto rescue that helped end the Great Recession, and the operation that killed Osama bin Laden. A major setback was persistent political gridlock and a slow economic recovery. His presidency is historically significant above all because he was the first African American president of the United States.  RETEACH TRIGGER — if a student misses this exit ticket: (1) &lt;50% of class miss → spiral it into the next standard’s Quick Review opener (see the US.95 review prompts). (2) Individual/small group → reteach with the "Major Achievements" direct-instruction slide + re-run the SOURCE IT FIRST routine on the US.95 primary source, then assign the paired printable: printables/unit-10/unit-10-cause-effect.html. (3) Re-assess with the US.95 check-for-understanding reveal slide as a do-now the next day. Reteach anchors (this standard’s sections): Major Achievements; Significant Setbacks; Partisan Conflicts. I Can objective: I can describe the achievements and setbacks of President Barack Obama's administration.  HONORS / EXTENSION (DOK 3, for early finishers or advanced learners): Evaluate whether Obama should be judged more by his response to the Great Recession or by the Affordable Care Act. Argue with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hyperlink" Target="https://commons.wikimedia.org/wiki/File:Lyndon_Johnson_signing_Medicare_bill,_with_Harry_Truman,_July_30,_1965.jpg"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millercenter.org/the-presidency/presidential-speeches/may-22-1964-remarks-university-michigan"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hyperlink" Target="https://commons.wikimedia.org/wiki/File:NARA_111-CCV-569-CC44324_4th_Infantry_Division_helicopter_assault_from_UH-1_1967.jpg" TargetMode="External"/><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hyperlink" Target="https://commons.wikimedia.org/wiki/File:Public_Reactions,_The_March_on_the_Pentagon_-_NARA_-_192605.tif" TargetMode="External"/><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www.archives.gov/milestone-documents/tonkin-gulf-resolution" TargetMode="Externa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hyperlink" Target="https://commons.wikimedia.org/wiki/File:President_Nixon_meets_with_China%27s_Communist_Party_Leader,_Mao_Tse-_Tung,_02-29-1972_-_NARA_-_194759.tif" TargetMode="External"/><Relationship Id="rId3" Type="http://schemas.openxmlformats.org/officeDocument/2006/relationships/hyperlink" Target="https://www.nixonlibrary.gov/silent-majority" TargetMode="External"/><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hyperlink" Target="https://commons.wikimedia.org/wiki/File:Nixon-depart.png" TargetMode="External"/><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hyperlink" Target="https://www.archives.gov/exhibits/american_originals/nixon2.html" TargetMode="External"/><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hyperlink" Target="https://commons.wikimedia.org/wiki/File:Demonstrations._Flag_raising_at_the_National_Capital_Region_Earth_Day_flag_ceremony_at_the_Washington_Monument._(b478598b4bb140b6a4ff6e61b7a0226c).jpg" TargetMode="External"/><Relationship Id="rId3" Type="http://schemas.openxmlformats.org/officeDocument/2006/relationships/slideLayout" Target="../slideLayouts/slideLayout1.xm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hyperlink" Target="https://www.nixonlibrary.gov/epa" TargetMode="External"/><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hyperlink" Target="https://commons.wikimedia.org/wiki/File:Anwar_Sadat_Jimmy_Carter_Menachem_Begin_sign_Camp_David_Accords-1978_(cropped).jpg" TargetMode="External"/><Relationship Id="rId3" Type="http://schemas.openxmlformats.org/officeDocument/2006/relationships/slideLayout" Target="../slideLayouts/slideLayout1.xml"/><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hyperlink" Target="https://www.jimmycarterlibrary.gov/research/camp_david_accords" TargetMode="External"/><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jpg"/><Relationship Id="rId2" Type="http://schemas.openxmlformats.org/officeDocument/2006/relationships/hyperlink" Target="https://commons.wikimedia.org/wiki/File:Challenger_explosion.jpg" TargetMode="External"/><Relationship Id="rId3" Type="http://schemas.openxmlformats.org/officeDocument/2006/relationships/slideLayout" Target="../slideLayouts/slideLayout1.xml"/><Relationship Id="rId4"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jpg"/><Relationship Id="rId2" Type="http://schemas.openxmlformats.org/officeDocument/2006/relationships/hyperlink" Target="https://commons.wikimedia.org/wiki/File:President_Reagan_giving_a_speech_at_the_Berlin_Wall,_Brandenburg_Gate,_Federal_Republic_of_Germany._June_12,_1987.jpg" TargetMode="External"/><Relationship Id="rId3" Type="http://schemas.openxmlformats.org/officeDocument/2006/relationships/hyperlink" Target="https://www.reaganlibrary.gov/archives/speech/inaugural-address-1981" TargetMode="External"/><Relationship Id="rId4" Type="http://schemas.openxmlformats.org/officeDocument/2006/relationships/slideLayout" Target="../slideLayouts/slideLayout1.xml"/><Relationship Id="rId5"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jpg"/><Relationship Id="rId2" Type="http://schemas.openxmlformats.org/officeDocument/2006/relationships/hyperlink" Target="https://commons.wikimedia.org/wiki/File:Operation_Desert_Storm_22.jpg" TargetMode="External"/><Relationship Id="rId3" Type="http://schemas.openxmlformats.org/officeDocument/2006/relationships/slideLayout" Target="../slideLayouts/slideLayout1.xml"/><Relationship Id="rId4"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jpg"/><Relationship Id="rId2" Type="http://schemas.openxmlformats.org/officeDocument/2006/relationships/hyperlink" Target="https://commons.wikimedia.org/wiki/File:President_Bush_is_presented_with_a_piece_of_the_Berlin_Wall_by_West_German_Foreign_Minister_Hans-Dietrich_Genscher_in..._-_NARA_-_186404.tif" TargetMode="External"/><Relationship Id="rId3" Type="http://schemas.openxmlformats.org/officeDocument/2006/relationships/slideLayout" Target="../slideLayouts/slideLayout1.xml"/><Relationship Id="rId4"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hyperlink" Target="https://millercenter.org/the-presidency/presidential-speeches/january-16-1991-address-nation-operation-desert-storm" TargetMode="External"/><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jpg"/><Relationship Id="rId2" Type="http://schemas.openxmlformats.org/officeDocument/2006/relationships/hyperlink" Target="https://commons.wikimedia.org/wiki/File:President_Bill_Clinton_signs_NAFTA.jpg" TargetMode="External"/><Relationship Id="rId3" Type="http://schemas.openxmlformats.org/officeDocument/2006/relationships/hyperlink" Target="https://www.loc.gov/item/2016879745/" TargetMode="External"/><Relationship Id="rId4" Type="http://schemas.openxmlformats.org/officeDocument/2006/relationships/slideLayout" Target="../slideLayouts/slideLayout1.xml"/><Relationship Id="rId5"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image-151-1.jpg"/><Relationship Id="rId2" Type="http://schemas.openxmlformats.org/officeDocument/2006/relationships/hyperlink" Target="https://commons.wikimedia.org/wiki/File:FEMA_-_5399_-_Photograph_by_Andrea_Booher_taken_on_09-28-2001_in_New_York.jpg" TargetMode="External"/><Relationship Id="rId3" Type="http://schemas.openxmlformats.org/officeDocument/2006/relationships/slideLayout" Target="../slideLayouts/slideLayout1.xml"/><Relationship Id="rId4"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hyperlink" Target="https://www.loc.gov/item/2002736689/" TargetMode="External"/><Relationship Id="rId2" Type="http://schemas.openxmlformats.org/officeDocument/2006/relationships/slideLayout" Target="../slideLayouts/slideLayout1.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image" Target="../media/image-172-1.jpg"/><Relationship Id="rId2" Type="http://schemas.openxmlformats.org/officeDocument/2006/relationships/hyperlink" Target="https://commons.wikimedia.org/wiki/File:Sandra_Day_O%27Connor_Official_Portrait.jpg" TargetMode="External"/><Relationship Id="rId3" Type="http://schemas.openxmlformats.org/officeDocument/2006/relationships/slideLayout" Target="../slideLayouts/slideLayout1.xml"/><Relationship Id="rId4"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hyperlink" Target="https://www.loc.gov/item/2010712045/" TargetMode="External"/><Relationship Id="rId2" Type="http://schemas.openxmlformats.org/officeDocument/2006/relationships/slideLayout" Target="../slideLayouts/slideLayout1.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image" Target="../media/image-184-1.jpg"/><Relationship Id="rId2" Type="http://schemas.openxmlformats.org/officeDocument/2006/relationships/hyperlink" Target="https://commons.wikimedia.org/wiki/File:IBM_PC_1981_makffm.jpg" TargetMode="External"/><Relationship Id="rId3" Type="http://schemas.openxmlformats.org/officeDocument/2006/relationships/slideLayout" Target="../slideLayouts/slideLayout1.xml"/><Relationship Id="rId4"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hyperlink" Target="https://www.loc.gov/collections/general-collections/" TargetMode="External"/><Relationship Id="rId2" Type="http://schemas.openxmlformats.org/officeDocument/2006/relationships/slideLayout" Target="../slideLayouts/slideLayout1.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image" Target="../media/image-203-1.jpg"/><Relationship Id="rId2" Type="http://schemas.openxmlformats.org/officeDocument/2006/relationships/hyperlink" Target="https://commons.wikimedia.org/wiki/File:Barack_Obama_after_inaugural_address_1-20-09_hires_090120-N-0696M-327a.jpg" TargetMode="External"/><Relationship Id="rId3" Type="http://schemas.openxmlformats.org/officeDocument/2006/relationships/hyperlink" Target="https://obamawhitehouse.archives.gov/" TargetMode="External"/><Relationship Id="rId4" Type="http://schemas.openxmlformats.org/officeDocument/2006/relationships/slideLayout" Target="../slideLayouts/slideLayout1.xml"/><Relationship Id="rId5"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12045391" y="0"/>
            <a:ext cx="146304" cy="6858000"/>
          </a:xfrm>
          <a:prstGeom prst="rect">
            <a:avLst/>
          </a:prstGeom>
          <a:solidFill>
            <a:srgbClr val="C62828"/>
          </a:solidFill>
          <a:ln/>
        </p:spPr>
        <p:txBody>
          <a:bodyPr/>
          <a:p/>
        </p:txBody>
      </p:sp>
      <p:sp>
        <p:nvSpPr>
          <p:cNvPr id="3" name="Shape 1"/>
          <p:cNvSpPr/>
          <p:nvPr/>
        </p:nvSpPr>
        <p:spPr>
          <a:xfrm>
            <a:off x="0" y="0"/>
            <a:ext cx="12045391" cy="146304"/>
          </a:xfrm>
          <a:prstGeom prst="rect">
            <a:avLst/>
          </a:prstGeom>
          <a:solidFill>
            <a:srgbClr val="C9A84C"/>
          </a:solidFill>
          <a:ln/>
        </p:spPr>
        <p:txBody>
          <a:bodyPr/>
          <a:p/>
        </p:txBody>
      </p:sp>
      <p:sp>
        <p:nvSpPr>
          <p:cNvPr id="4" name="Text 2"/>
          <p:cNvSpPr/>
          <p:nvPr/>
        </p:nvSpPr>
        <p:spPr>
          <a:xfrm>
            <a:off x="822960" y="1371600"/>
            <a:ext cx="10058400" cy="457200"/>
          </a:xfrm>
          <a:prstGeom prst="rect">
            <a:avLst/>
          </a:prstGeom>
          <a:noFill/>
          <a:ln/>
        </p:spPr>
        <p:txBody>
          <a:bodyPr wrap="square" rtlCol="0" anchor="ctr"/>
          <a:lstStyle/>
          <a:p>
            <a:pPr indent="0" marL="0">
              <a:buNone/>
            </a:pPr>
            <a:r>
              <a:rPr lang="en-US" sz="1800" b="1" spc="500" kern="0" dirty="0">
                <a:solidFill>
                  <a:srgbClr val="F9A825"/>
                </a:solidFill>
                <a:latin typeface="Trebuchet MS" pitchFamily="34" charset="0"/>
                <a:ea typeface="Trebuchet MS" pitchFamily="34" charset="-122"/>
                <a:cs typeface="Trebuchet MS" pitchFamily="34" charset="-120"/>
              </a:rPr>
              <a:t>U.S. HISTORY HACK</a:t>
            </a:r>
            <a:endParaRPr lang="en-US" sz="1800" dirty="0"/>
          </a:p>
        </p:txBody>
      </p:sp>
      <p:sp>
        <p:nvSpPr>
          <p:cNvPr id="5" name="Text 3"/>
          <p:cNvSpPr/>
          <p:nvPr/>
        </p:nvSpPr>
        <p:spPr>
          <a:xfrm>
            <a:off x="822960" y="1828800"/>
            <a:ext cx="10058400" cy="822960"/>
          </a:xfrm>
          <a:prstGeom prst="rect">
            <a:avLst/>
          </a:prstGeom>
          <a:noFill/>
          <a:ln/>
        </p:spPr>
        <p:txBody>
          <a:bodyPr wrap="square" rtlCol="0" anchor="ctr"/>
          <a:lstStyle/>
          <a:p>
            <a:pPr indent="0" marL="0">
              <a:buNone/>
            </a:pPr>
            <a:r>
              <a:rPr lang="en-US" sz="6000" b="1" dirty="0">
                <a:solidFill>
                  <a:srgbClr val="FFFFFF"/>
                </a:solidFill>
                <a:latin typeface="Georgia" pitchFamily="34" charset="0"/>
                <a:ea typeface="Georgia" pitchFamily="34" charset="-122"/>
                <a:cs typeface="Georgia" pitchFamily="34" charset="-120"/>
              </a:rPr>
              <a:t>Unit 10</a:t>
            </a:r>
            <a:endParaRPr lang="en-US" sz="6000" dirty="0"/>
          </a:p>
        </p:txBody>
      </p:sp>
      <p:sp>
        <p:nvSpPr>
          <p:cNvPr id="6" name="Text 4"/>
          <p:cNvSpPr/>
          <p:nvPr/>
        </p:nvSpPr>
        <p:spPr>
          <a:xfrm>
            <a:off x="822960" y="2788920"/>
            <a:ext cx="10241280" cy="64008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The Modern Era</a:t>
            </a:r>
            <a:endParaRPr lang="en-US" sz="3400" dirty="0"/>
          </a:p>
        </p:txBody>
      </p:sp>
      <p:sp>
        <p:nvSpPr>
          <p:cNvPr id="7" name="Text 5"/>
          <p:cNvSpPr/>
          <p:nvPr/>
        </p:nvSpPr>
        <p:spPr>
          <a:xfrm>
            <a:off x="822960" y="3456432"/>
            <a:ext cx="10424160" cy="457200"/>
          </a:xfrm>
          <a:prstGeom prst="rect">
            <a:avLst/>
          </a:prstGeom>
          <a:noFill/>
          <a:ln/>
        </p:spPr>
        <p:txBody>
          <a:bodyPr wrap="square" rtlCol="0" anchor="ctr"/>
          <a:lstStyle/>
          <a:p>
            <a:pPr indent="0" marL="0">
              <a:buNone/>
            </a:pPr>
            <a:r>
              <a:rPr lang="en-US" sz="1900" i="1" dirty="0">
                <a:solidFill>
                  <a:srgbClr val="C7D4E0"/>
                </a:solidFill>
                <a:latin typeface="Georgia" pitchFamily="34" charset="0"/>
                <a:ea typeface="Georgia" pitchFamily="34" charset="-122"/>
                <a:cs typeface="Georgia" pitchFamily="34" charset="-120"/>
              </a:rPr>
              <a:t>The Great Society · Vietnam-Era Activism · Watergate · The Reagan Era &amp; the End of the Cold War · 9/11 · The Digital Revolution   ·   1964–2016</a:t>
            </a:r>
            <a:endParaRPr lang="en-US" sz="1900" dirty="0"/>
          </a:p>
        </p:txBody>
      </p:sp>
      <p:sp>
        <p:nvSpPr>
          <p:cNvPr id="8" name="Text 6"/>
          <p:cNvSpPr/>
          <p:nvPr/>
        </p:nvSpPr>
        <p:spPr>
          <a:xfrm>
            <a:off x="822960" y="3931920"/>
            <a:ext cx="10058400" cy="411480"/>
          </a:xfrm>
          <a:prstGeom prst="rect">
            <a:avLst/>
          </a:prstGeom>
          <a:noFill/>
          <a:ln/>
        </p:spPr>
        <p:txBody>
          <a:bodyPr wrap="square" rtlCol="0" anchor="ctr"/>
          <a:lstStyle/>
          <a:p>
            <a:pPr indent="0" marL="0">
              <a:buNone/>
            </a:pPr>
            <a:r>
              <a:rPr lang="en-US" sz="1800" dirty="0">
                <a:solidFill>
                  <a:srgbClr val="A7BACB"/>
                </a:solidFill>
                <a:latin typeface="Calibri" pitchFamily="34" charset="0"/>
                <a:ea typeface="Calibri" pitchFamily="34" charset="-122"/>
                <a:cs typeface="Calibri" pitchFamily="34" charset="-120"/>
              </a:rPr>
              <a:t>Standards US.83 – US.95</a:t>
            </a:r>
            <a:endParaRPr lang="en-US" sz="1800" dirty="0"/>
          </a:p>
        </p:txBody>
      </p:sp>
      <p:sp>
        <p:nvSpPr>
          <p:cNvPr id="9" name="Shape 7"/>
          <p:cNvSpPr/>
          <p:nvPr/>
        </p:nvSpPr>
        <p:spPr>
          <a:xfrm>
            <a:off x="822960" y="4480560"/>
            <a:ext cx="1024128" cy="438912"/>
          </a:xfrm>
          <a:prstGeom prst="roundRect">
            <a:avLst>
              <a:gd name="adj" fmla="val 16667"/>
            </a:avLst>
          </a:prstGeom>
          <a:solidFill>
            <a:srgbClr val="243047"/>
          </a:solidFill>
          <a:ln w="12700">
            <a:solidFill>
              <a:srgbClr val="C9A84C"/>
            </a:solidFill>
            <a:prstDash val="solid"/>
          </a:ln>
        </p:spPr>
      </p:sp>
      <p:sp>
        <p:nvSpPr>
          <p:cNvPr id="10" name="Text 8"/>
          <p:cNvSpPr/>
          <p:nvPr/>
        </p:nvSpPr>
        <p:spPr>
          <a:xfrm>
            <a:off x="822960"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US.83</a:t>
            </a:r>
            <a:endParaRPr lang="en-US" sz="1250" dirty="0"/>
          </a:p>
        </p:txBody>
      </p:sp>
      <p:sp>
        <p:nvSpPr>
          <p:cNvPr id="11" name="Shape 9"/>
          <p:cNvSpPr/>
          <p:nvPr/>
        </p:nvSpPr>
        <p:spPr>
          <a:xfrm>
            <a:off x="1984248" y="4480560"/>
            <a:ext cx="1024128" cy="438912"/>
          </a:xfrm>
          <a:prstGeom prst="roundRect">
            <a:avLst>
              <a:gd name="adj" fmla="val 16667"/>
            </a:avLst>
          </a:prstGeom>
          <a:solidFill>
            <a:srgbClr val="243047"/>
          </a:solidFill>
          <a:ln w="12700">
            <a:solidFill>
              <a:srgbClr val="C9A84C"/>
            </a:solidFill>
            <a:prstDash val="solid"/>
          </a:ln>
        </p:spPr>
      </p:sp>
      <p:sp>
        <p:nvSpPr>
          <p:cNvPr id="12" name="Text 10"/>
          <p:cNvSpPr/>
          <p:nvPr/>
        </p:nvSpPr>
        <p:spPr>
          <a:xfrm>
            <a:off x="1984248"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US.84</a:t>
            </a:r>
            <a:endParaRPr lang="en-US" sz="1250" dirty="0"/>
          </a:p>
        </p:txBody>
      </p:sp>
      <p:sp>
        <p:nvSpPr>
          <p:cNvPr id="13" name="Shape 11"/>
          <p:cNvSpPr/>
          <p:nvPr/>
        </p:nvSpPr>
        <p:spPr>
          <a:xfrm>
            <a:off x="3145536" y="4480560"/>
            <a:ext cx="1024128" cy="438912"/>
          </a:xfrm>
          <a:prstGeom prst="roundRect">
            <a:avLst>
              <a:gd name="adj" fmla="val 16667"/>
            </a:avLst>
          </a:prstGeom>
          <a:solidFill>
            <a:srgbClr val="243047"/>
          </a:solidFill>
          <a:ln w="12700">
            <a:solidFill>
              <a:srgbClr val="C9A84C"/>
            </a:solidFill>
            <a:prstDash val="solid"/>
          </a:ln>
        </p:spPr>
      </p:sp>
      <p:sp>
        <p:nvSpPr>
          <p:cNvPr id="14" name="Text 12"/>
          <p:cNvSpPr/>
          <p:nvPr/>
        </p:nvSpPr>
        <p:spPr>
          <a:xfrm>
            <a:off x="3145536"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US.85</a:t>
            </a:r>
            <a:endParaRPr lang="en-US" sz="1250" dirty="0"/>
          </a:p>
        </p:txBody>
      </p:sp>
      <p:sp>
        <p:nvSpPr>
          <p:cNvPr id="15" name="Shape 13"/>
          <p:cNvSpPr/>
          <p:nvPr/>
        </p:nvSpPr>
        <p:spPr>
          <a:xfrm>
            <a:off x="4306824" y="4480560"/>
            <a:ext cx="1024128" cy="438912"/>
          </a:xfrm>
          <a:prstGeom prst="roundRect">
            <a:avLst>
              <a:gd name="adj" fmla="val 16667"/>
            </a:avLst>
          </a:prstGeom>
          <a:solidFill>
            <a:srgbClr val="243047"/>
          </a:solidFill>
          <a:ln w="12700">
            <a:solidFill>
              <a:srgbClr val="C9A84C"/>
            </a:solidFill>
            <a:prstDash val="solid"/>
          </a:ln>
        </p:spPr>
      </p:sp>
      <p:sp>
        <p:nvSpPr>
          <p:cNvPr id="16" name="Text 14"/>
          <p:cNvSpPr/>
          <p:nvPr/>
        </p:nvSpPr>
        <p:spPr>
          <a:xfrm>
            <a:off x="4306824"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US.86</a:t>
            </a:r>
            <a:endParaRPr lang="en-US" sz="1250" dirty="0"/>
          </a:p>
        </p:txBody>
      </p:sp>
      <p:sp>
        <p:nvSpPr>
          <p:cNvPr id="17" name="Shape 15"/>
          <p:cNvSpPr/>
          <p:nvPr/>
        </p:nvSpPr>
        <p:spPr>
          <a:xfrm>
            <a:off x="5468112" y="4480560"/>
            <a:ext cx="1024128" cy="438912"/>
          </a:xfrm>
          <a:prstGeom prst="roundRect">
            <a:avLst>
              <a:gd name="adj" fmla="val 16667"/>
            </a:avLst>
          </a:prstGeom>
          <a:solidFill>
            <a:srgbClr val="243047"/>
          </a:solidFill>
          <a:ln w="12700">
            <a:solidFill>
              <a:srgbClr val="C9A84C"/>
            </a:solidFill>
            <a:prstDash val="solid"/>
          </a:ln>
        </p:spPr>
      </p:sp>
      <p:sp>
        <p:nvSpPr>
          <p:cNvPr id="18" name="Text 16"/>
          <p:cNvSpPr/>
          <p:nvPr/>
        </p:nvSpPr>
        <p:spPr>
          <a:xfrm>
            <a:off x="5468112"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US.87</a:t>
            </a:r>
            <a:endParaRPr lang="en-US" sz="1250" dirty="0"/>
          </a:p>
        </p:txBody>
      </p:sp>
      <p:sp>
        <p:nvSpPr>
          <p:cNvPr id="19" name="Shape 17"/>
          <p:cNvSpPr/>
          <p:nvPr/>
        </p:nvSpPr>
        <p:spPr>
          <a:xfrm>
            <a:off x="6629400" y="4480560"/>
            <a:ext cx="1024128" cy="438912"/>
          </a:xfrm>
          <a:prstGeom prst="roundRect">
            <a:avLst>
              <a:gd name="adj" fmla="val 16667"/>
            </a:avLst>
          </a:prstGeom>
          <a:solidFill>
            <a:srgbClr val="243047"/>
          </a:solidFill>
          <a:ln w="12700">
            <a:solidFill>
              <a:srgbClr val="C9A84C"/>
            </a:solidFill>
            <a:prstDash val="solid"/>
          </a:ln>
        </p:spPr>
      </p:sp>
      <p:sp>
        <p:nvSpPr>
          <p:cNvPr id="20" name="Text 18"/>
          <p:cNvSpPr/>
          <p:nvPr/>
        </p:nvSpPr>
        <p:spPr>
          <a:xfrm>
            <a:off x="6629400"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US.88</a:t>
            </a:r>
            <a:endParaRPr lang="en-US" sz="1250" dirty="0"/>
          </a:p>
        </p:txBody>
      </p:sp>
      <p:sp>
        <p:nvSpPr>
          <p:cNvPr id="21" name="Shape 19"/>
          <p:cNvSpPr/>
          <p:nvPr/>
        </p:nvSpPr>
        <p:spPr>
          <a:xfrm>
            <a:off x="7790688" y="4480560"/>
            <a:ext cx="1024128" cy="438912"/>
          </a:xfrm>
          <a:prstGeom prst="roundRect">
            <a:avLst>
              <a:gd name="adj" fmla="val 16667"/>
            </a:avLst>
          </a:prstGeom>
          <a:solidFill>
            <a:srgbClr val="243047"/>
          </a:solidFill>
          <a:ln w="12700">
            <a:solidFill>
              <a:srgbClr val="C9A84C"/>
            </a:solidFill>
            <a:prstDash val="solid"/>
          </a:ln>
        </p:spPr>
      </p:sp>
      <p:sp>
        <p:nvSpPr>
          <p:cNvPr id="22" name="Text 20"/>
          <p:cNvSpPr/>
          <p:nvPr/>
        </p:nvSpPr>
        <p:spPr>
          <a:xfrm>
            <a:off x="7790688"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US.89</a:t>
            </a:r>
            <a:endParaRPr lang="en-US" sz="1250" dirty="0"/>
          </a:p>
        </p:txBody>
      </p:sp>
      <p:sp>
        <p:nvSpPr>
          <p:cNvPr id="23" name="Shape 21"/>
          <p:cNvSpPr/>
          <p:nvPr/>
        </p:nvSpPr>
        <p:spPr>
          <a:xfrm>
            <a:off x="8951976" y="4480560"/>
            <a:ext cx="1024128" cy="438912"/>
          </a:xfrm>
          <a:prstGeom prst="roundRect">
            <a:avLst>
              <a:gd name="adj" fmla="val 16667"/>
            </a:avLst>
          </a:prstGeom>
          <a:solidFill>
            <a:srgbClr val="243047"/>
          </a:solidFill>
          <a:ln w="12700">
            <a:solidFill>
              <a:srgbClr val="C9A84C"/>
            </a:solidFill>
            <a:prstDash val="solid"/>
          </a:ln>
        </p:spPr>
      </p:sp>
      <p:sp>
        <p:nvSpPr>
          <p:cNvPr id="24" name="Text 22"/>
          <p:cNvSpPr/>
          <p:nvPr/>
        </p:nvSpPr>
        <p:spPr>
          <a:xfrm>
            <a:off x="8951976"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US.90</a:t>
            </a:r>
            <a:endParaRPr lang="en-US" sz="1250" dirty="0"/>
          </a:p>
        </p:txBody>
      </p:sp>
      <p:sp>
        <p:nvSpPr>
          <p:cNvPr id="25" name="Shape 23"/>
          <p:cNvSpPr/>
          <p:nvPr/>
        </p:nvSpPr>
        <p:spPr>
          <a:xfrm>
            <a:off x="10113264" y="4480560"/>
            <a:ext cx="1024128" cy="438912"/>
          </a:xfrm>
          <a:prstGeom prst="roundRect">
            <a:avLst>
              <a:gd name="adj" fmla="val 16667"/>
            </a:avLst>
          </a:prstGeom>
          <a:solidFill>
            <a:srgbClr val="243047"/>
          </a:solidFill>
          <a:ln w="12700">
            <a:solidFill>
              <a:srgbClr val="C9A84C"/>
            </a:solidFill>
            <a:prstDash val="solid"/>
          </a:ln>
        </p:spPr>
      </p:sp>
      <p:sp>
        <p:nvSpPr>
          <p:cNvPr id="26" name="Text 24"/>
          <p:cNvSpPr/>
          <p:nvPr/>
        </p:nvSpPr>
        <p:spPr>
          <a:xfrm>
            <a:off x="10113264"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US.91</a:t>
            </a:r>
            <a:endParaRPr lang="en-US" sz="1250" dirty="0"/>
          </a:p>
        </p:txBody>
      </p:sp>
      <p:sp>
        <p:nvSpPr>
          <p:cNvPr id="27" name="Shape 25"/>
          <p:cNvSpPr/>
          <p:nvPr/>
        </p:nvSpPr>
        <p:spPr>
          <a:xfrm>
            <a:off x="822960" y="5047488"/>
            <a:ext cx="1024128" cy="438912"/>
          </a:xfrm>
          <a:prstGeom prst="roundRect">
            <a:avLst>
              <a:gd name="adj" fmla="val 16667"/>
            </a:avLst>
          </a:prstGeom>
          <a:solidFill>
            <a:srgbClr val="243047"/>
          </a:solidFill>
          <a:ln w="12700">
            <a:solidFill>
              <a:srgbClr val="C9A84C"/>
            </a:solidFill>
            <a:prstDash val="solid"/>
          </a:ln>
        </p:spPr>
      </p:sp>
      <p:sp>
        <p:nvSpPr>
          <p:cNvPr id="28" name="Text 26"/>
          <p:cNvSpPr/>
          <p:nvPr/>
        </p:nvSpPr>
        <p:spPr>
          <a:xfrm>
            <a:off x="822960" y="5047488"/>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US.92</a:t>
            </a:r>
            <a:endParaRPr lang="en-US" sz="1250" dirty="0"/>
          </a:p>
        </p:txBody>
      </p:sp>
      <p:sp>
        <p:nvSpPr>
          <p:cNvPr id="29" name="Shape 27"/>
          <p:cNvSpPr/>
          <p:nvPr/>
        </p:nvSpPr>
        <p:spPr>
          <a:xfrm>
            <a:off x="1984248" y="5047488"/>
            <a:ext cx="1024128" cy="438912"/>
          </a:xfrm>
          <a:prstGeom prst="roundRect">
            <a:avLst>
              <a:gd name="adj" fmla="val 16667"/>
            </a:avLst>
          </a:prstGeom>
          <a:solidFill>
            <a:srgbClr val="243047"/>
          </a:solidFill>
          <a:ln w="12700">
            <a:solidFill>
              <a:srgbClr val="C9A84C"/>
            </a:solidFill>
            <a:prstDash val="solid"/>
          </a:ln>
        </p:spPr>
      </p:sp>
      <p:sp>
        <p:nvSpPr>
          <p:cNvPr id="30" name="Text 28"/>
          <p:cNvSpPr/>
          <p:nvPr/>
        </p:nvSpPr>
        <p:spPr>
          <a:xfrm>
            <a:off x="1984248" y="5047488"/>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US.93</a:t>
            </a:r>
            <a:endParaRPr lang="en-US" sz="1250" dirty="0"/>
          </a:p>
        </p:txBody>
      </p:sp>
      <p:sp>
        <p:nvSpPr>
          <p:cNvPr id="31" name="Shape 29"/>
          <p:cNvSpPr/>
          <p:nvPr/>
        </p:nvSpPr>
        <p:spPr>
          <a:xfrm>
            <a:off x="3145536" y="5047488"/>
            <a:ext cx="1024128" cy="438912"/>
          </a:xfrm>
          <a:prstGeom prst="roundRect">
            <a:avLst>
              <a:gd name="adj" fmla="val 16667"/>
            </a:avLst>
          </a:prstGeom>
          <a:solidFill>
            <a:srgbClr val="243047"/>
          </a:solidFill>
          <a:ln w="12700">
            <a:solidFill>
              <a:srgbClr val="C9A84C"/>
            </a:solidFill>
            <a:prstDash val="solid"/>
          </a:ln>
        </p:spPr>
      </p:sp>
      <p:sp>
        <p:nvSpPr>
          <p:cNvPr id="32" name="Text 30"/>
          <p:cNvSpPr/>
          <p:nvPr/>
        </p:nvSpPr>
        <p:spPr>
          <a:xfrm>
            <a:off x="3145536" y="5047488"/>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US.94</a:t>
            </a:r>
            <a:endParaRPr lang="en-US" sz="1250" dirty="0"/>
          </a:p>
        </p:txBody>
      </p:sp>
      <p:sp>
        <p:nvSpPr>
          <p:cNvPr id="33" name="Shape 31"/>
          <p:cNvSpPr/>
          <p:nvPr/>
        </p:nvSpPr>
        <p:spPr>
          <a:xfrm>
            <a:off x="4306824" y="5047488"/>
            <a:ext cx="1024128" cy="438912"/>
          </a:xfrm>
          <a:prstGeom prst="roundRect">
            <a:avLst>
              <a:gd name="adj" fmla="val 16667"/>
            </a:avLst>
          </a:prstGeom>
          <a:solidFill>
            <a:srgbClr val="243047"/>
          </a:solidFill>
          <a:ln w="12700">
            <a:solidFill>
              <a:srgbClr val="C9A84C"/>
            </a:solidFill>
            <a:prstDash val="solid"/>
          </a:ln>
        </p:spPr>
      </p:sp>
      <p:sp>
        <p:nvSpPr>
          <p:cNvPr id="34" name="Text 32"/>
          <p:cNvSpPr/>
          <p:nvPr/>
        </p:nvSpPr>
        <p:spPr>
          <a:xfrm>
            <a:off x="4306824" y="5047488"/>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US.95</a:t>
            </a:r>
            <a:endParaRPr lang="en-US" sz="1250" dirty="0"/>
          </a:p>
        </p:txBody>
      </p:sp>
      <p:sp>
        <p:nvSpPr>
          <p:cNvPr id="35" name="Text 33"/>
          <p:cNvSpPr/>
          <p:nvPr/>
        </p:nvSpPr>
        <p:spPr>
          <a:xfrm>
            <a:off x="822960" y="5852160"/>
            <a:ext cx="10515600" cy="365760"/>
          </a:xfrm>
          <a:prstGeom prst="rect">
            <a:avLst/>
          </a:prstGeom>
          <a:noFill/>
          <a:ln/>
        </p:spPr>
        <p:txBody>
          <a:bodyPr wrap="square" rtlCol="0" anchor="ctr"/>
          <a:lstStyle/>
          <a:p>
            <a:pPr indent="0" marL="0">
              <a:buNone/>
            </a:pPr>
            <a:r>
              <a:rPr lang="en-US" sz="1200" spc="100" kern="0" dirty="0">
                <a:solidFill>
                  <a:srgbClr val="A7BACB"/>
                </a:solidFill>
                <a:latin typeface="Trebuchet MS" pitchFamily="34" charset="0"/>
                <a:ea typeface="Trebuchet MS" pitchFamily="34" charset="-122"/>
                <a:cs typeface="Trebuchet MS" pitchFamily="34" charset="-120"/>
              </a:rPr>
              <a:t>TCAP EOC LECTURE DECK  ·  Tennessee Academic Standards for U.S. History</a:t>
            </a:r>
            <a:endParaRPr lang="en-US" sz="1200" dirty="0"/>
          </a:p>
        </p:txBody>
      </p:sp>
      <p:sp>
        <p:nvSpPr>
          <p:cNvPr id="36" name="Text 34"/>
          <p:cNvSpPr/>
          <p:nvPr/>
        </p:nvSpPr>
        <p:spPr>
          <a:xfrm>
            <a:off x="822960" y="6263640"/>
            <a:ext cx="10515600" cy="274320"/>
          </a:xfrm>
          <a:prstGeom prst="rect">
            <a:avLst/>
          </a:prstGeom>
          <a:noFill/>
          <a:ln/>
        </p:spPr>
        <p:txBody>
          <a:bodyPr wrap="square" rtlCol="0" anchor="ctr"/>
          <a:lstStyle/>
          <a:p>
            <a:pPr indent="0" marL="0">
              <a:buNone/>
            </a:pPr>
            <a:r>
              <a:rPr lang="en-US" sz="1100" dirty="0">
                <a:solidFill>
                  <a:srgbClr val="A7BACB"/>
                </a:solidFill>
                <a:latin typeface="Calibri" pitchFamily="34" charset="0"/>
                <a:ea typeface="Calibri" pitchFamily="34" charset="-122"/>
                <a:cs typeface="Calibri" pitchFamily="34" charset="-120"/>
              </a:rPr>
              <a:t>TroopToTeacher Technologies LLC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UNIT ROADMAP</a:t>
            </a:r>
            <a:endParaRPr lang="en-US" sz="1200" dirty="0"/>
          </a:p>
        </p:txBody>
      </p:sp>
      <p:sp>
        <p:nvSpPr>
          <p:cNvPr id="4" name="Text 2"/>
          <p:cNvSpPr/>
          <p:nvPr/>
        </p:nvSpPr>
        <p:spPr>
          <a:xfrm>
            <a:off x="548640" y="777240"/>
            <a:ext cx="10972800" cy="548640"/>
          </a:xfrm>
          <a:prstGeom prst="rect">
            <a:avLst/>
          </a:prstGeom>
          <a:noFill/>
          <a:ln/>
        </p:spPr>
        <p:txBody>
          <a:bodyPr wrap="square" rtlCol="0" anchor="ctr"/>
          <a:lstStyle/>
          <a:p>
            <a:pPr indent="0" marL="0">
              <a:buNone/>
            </a:pPr>
            <a:r>
              <a:rPr lang="en-US" sz="3400" b="1" dirty="0">
                <a:solidFill>
                  <a:srgbClr val="1A2332"/>
                </a:solidFill>
                <a:latin typeface="Georgia" pitchFamily="34" charset="0"/>
                <a:ea typeface="Georgia" pitchFamily="34" charset="-122"/>
                <a:cs typeface="Georgia" pitchFamily="34" charset="-120"/>
              </a:rPr>
              <a:t>Where We Are Headed</a:t>
            </a:r>
            <a:endParaRPr lang="en-US" sz="3400" dirty="0"/>
          </a:p>
        </p:txBody>
      </p:sp>
      <p:sp>
        <p:nvSpPr>
          <p:cNvPr id="5" name="Text 3"/>
          <p:cNvSpPr/>
          <p:nvPr/>
        </p:nvSpPr>
        <p:spPr>
          <a:xfrm>
            <a:off x="548640" y="1353312"/>
            <a:ext cx="11064240" cy="320040"/>
          </a:xfrm>
          <a:prstGeom prst="rect">
            <a:avLst/>
          </a:prstGeom>
          <a:noFill/>
          <a:ln/>
        </p:spPr>
        <p:txBody>
          <a:bodyPr wrap="square" rtlCol="0" anchor="ctr"/>
          <a:lstStyle/>
          <a:p>
            <a:pPr indent="0" marL="0">
              <a:buNone/>
            </a:pPr>
            <a:r>
              <a:rPr lang="en-US" sz="1300" i="1" dirty="0">
                <a:solidFill>
                  <a:srgbClr val="5C6470"/>
                </a:solidFill>
                <a:latin typeface="Calibri" pitchFamily="34" charset="0"/>
                <a:ea typeface="Calibri" pitchFamily="34" charset="-122"/>
                <a:cs typeface="Calibri" pitchFamily="34" charset="-120"/>
              </a:rPr>
              <a:t>Unit 10 · The Modern Era (1964–2016)  —  from Johnson's Great Society, the social activism and counterculture of the 1960s, and Nixon and Watergate, through environmentalism, the Reagan era and the end of the Cold War, to Clinton and the 1990s, September 11th, the digital revolution, and the Obama years</a:t>
            </a:r>
            <a:endParaRPr lang="en-US" sz="1300" dirty="0"/>
          </a:p>
        </p:txBody>
      </p:sp>
      <p:sp>
        <p:nvSpPr>
          <p:cNvPr id="6" name="Shape 4"/>
          <p:cNvSpPr/>
          <p:nvPr/>
        </p:nvSpPr>
        <p:spPr>
          <a:xfrm>
            <a:off x="548640" y="1828800"/>
            <a:ext cx="5349240" cy="548640"/>
          </a:xfrm>
          <a:prstGeom prst="rect">
            <a:avLst/>
          </a:prstGeom>
          <a:solidFill>
            <a:srgbClr val="FFFFFF"/>
          </a:solidFill>
          <a:ln w="12700">
            <a:solidFill>
              <a:srgbClr val="DAD3C2"/>
            </a:solidFill>
            <a:prstDash val="solid"/>
          </a:ln>
        </p:spPr>
      </p:sp>
      <p:sp>
        <p:nvSpPr>
          <p:cNvPr id="7" name="Shape 5"/>
          <p:cNvSpPr/>
          <p:nvPr/>
        </p:nvSpPr>
        <p:spPr>
          <a:xfrm>
            <a:off x="548640" y="1828800"/>
            <a:ext cx="1188720" cy="548640"/>
          </a:xfrm>
          <a:prstGeom prst="rect">
            <a:avLst/>
          </a:prstGeom>
          <a:solidFill>
            <a:srgbClr val="1A2332"/>
          </a:solidFill>
          <a:ln/>
        </p:spPr>
      </p:sp>
      <p:sp>
        <p:nvSpPr>
          <p:cNvPr id="8" name="Text 6"/>
          <p:cNvSpPr/>
          <p:nvPr/>
        </p:nvSpPr>
        <p:spPr>
          <a:xfrm>
            <a:off x="548640" y="1828800"/>
            <a:ext cx="1188720" cy="548640"/>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US.83</a:t>
            </a:r>
            <a:endParaRPr lang="en-US" sz="1600" dirty="0"/>
          </a:p>
        </p:txBody>
      </p:sp>
      <p:sp>
        <p:nvSpPr>
          <p:cNvPr id="9" name="Text 7"/>
          <p:cNvSpPr/>
          <p:nvPr/>
        </p:nvSpPr>
        <p:spPr>
          <a:xfrm>
            <a:off x="1920240" y="1828800"/>
            <a:ext cx="3840480" cy="548640"/>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Johnson's Great Society Programs</a:t>
            </a:r>
            <a:endParaRPr lang="en-US" sz="1200" dirty="0"/>
          </a:p>
        </p:txBody>
      </p:sp>
      <p:sp>
        <p:nvSpPr>
          <p:cNvPr id="10" name="Shape 8"/>
          <p:cNvSpPr/>
          <p:nvPr/>
        </p:nvSpPr>
        <p:spPr>
          <a:xfrm rot="10800000">
            <a:off x="1042416" y="2386584"/>
            <a:ext cx="182880" cy="66621"/>
          </a:xfrm>
          <a:prstGeom prst="triangle">
            <a:avLst/>
          </a:prstGeom>
          <a:solidFill>
            <a:srgbClr val="C9A84C"/>
          </a:solidFill>
          <a:ln/>
        </p:spPr>
      </p:sp>
      <p:sp>
        <p:nvSpPr>
          <p:cNvPr id="11" name="Shape 9"/>
          <p:cNvSpPr/>
          <p:nvPr/>
        </p:nvSpPr>
        <p:spPr>
          <a:xfrm>
            <a:off x="548640" y="2462349"/>
            <a:ext cx="5349240" cy="548640"/>
          </a:xfrm>
          <a:prstGeom prst="rect">
            <a:avLst/>
          </a:prstGeom>
          <a:solidFill>
            <a:srgbClr val="FFFFFF"/>
          </a:solidFill>
          <a:ln w="12700">
            <a:solidFill>
              <a:srgbClr val="DAD3C2"/>
            </a:solidFill>
            <a:prstDash val="solid"/>
          </a:ln>
        </p:spPr>
      </p:sp>
      <p:sp>
        <p:nvSpPr>
          <p:cNvPr id="12" name="Shape 10"/>
          <p:cNvSpPr/>
          <p:nvPr/>
        </p:nvSpPr>
        <p:spPr>
          <a:xfrm>
            <a:off x="548640" y="2462349"/>
            <a:ext cx="1188720" cy="548640"/>
          </a:xfrm>
          <a:prstGeom prst="rect">
            <a:avLst/>
          </a:prstGeom>
          <a:solidFill>
            <a:srgbClr val="1A2332"/>
          </a:solidFill>
          <a:ln/>
        </p:spPr>
      </p:sp>
      <p:sp>
        <p:nvSpPr>
          <p:cNvPr id="13" name="Text 11"/>
          <p:cNvSpPr/>
          <p:nvPr/>
        </p:nvSpPr>
        <p:spPr>
          <a:xfrm>
            <a:off x="548640" y="2462349"/>
            <a:ext cx="1188720" cy="548640"/>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US.84</a:t>
            </a:r>
            <a:endParaRPr lang="en-US" sz="1600" dirty="0"/>
          </a:p>
        </p:txBody>
      </p:sp>
      <p:sp>
        <p:nvSpPr>
          <p:cNvPr id="14" name="Text 12"/>
          <p:cNvSpPr/>
          <p:nvPr/>
        </p:nvSpPr>
        <p:spPr>
          <a:xfrm>
            <a:off x="1920240" y="2462349"/>
            <a:ext cx="3840480" cy="548640"/>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Social Activism and Counterculture</a:t>
            </a:r>
            <a:endParaRPr lang="en-US" sz="1200" dirty="0"/>
          </a:p>
        </p:txBody>
      </p:sp>
      <p:sp>
        <p:nvSpPr>
          <p:cNvPr id="15" name="Shape 13"/>
          <p:cNvSpPr/>
          <p:nvPr/>
        </p:nvSpPr>
        <p:spPr>
          <a:xfrm rot="10800000">
            <a:off x="1042416" y="3020133"/>
            <a:ext cx="182880" cy="66621"/>
          </a:xfrm>
          <a:prstGeom prst="triangle">
            <a:avLst/>
          </a:prstGeom>
          <a:solidFill>
            <a:srgbClr val="C9A84C"/>
          </a:solidFill>
          <a:ln/>
        </p:spPr>
      </p:sp>
      <p:sp>
        <p:nvSpPr>
          <p:cNvPr id="16" name="Shape 14"/>
          <p:cNvSpPr/>
          <p:nvPr/>
        </p:nvSpPr>
        <p:spPr>
          <a:xfrm>
            <a:off x="548640" y="3095897"/>
            <a:ext cx="5349240" cy="548640"/>
          </a:xfrm>
          <a:prstGeom prst="rect">
            <a:avLst/>
          </a:prstGeom>
          <a:solidFill>
            <a:srgbClr val="FFFFFF"/>
          </a:solidFill>
          <a:ln w="12700">
            <a:solidFill>
              <a:srgbClr val="DAD3C2"/>
            </a:solidFill>
            <a:prstDash val="solid"/>
          </a:ln>
        </p:spPr>
      </p:sp>
      <p:sp>
        <p:nvSpPr>
          <p:cNvPr id="17" name="Shape 15"/>
          <p:cNvSpPr/>
          <p:nvPr/>
        </p:nvSpPr>
        <p:spPr>
          <a:xfrm>
            <a:off x="548640" y="3095897"/>
            <a:ext cx="1188720" cy="548640"/>
          </a:xfrm>
          <a:prstGeom prst="rect">
            <a:avLst/>
          </a:prstGeom>
          <a:solidFill>
            <a:srgbClr val="1A2332"/>
          </a:solidFill>
          <a:ln/>
        </p:spPr>
      </p:sp>
      <p:sp>
        <p:nvSpPr>
          <p:cNvPr id="18" name="Text 16"/>
          <p:cNvSpPr/>
          <p:nvPr/>
        </p:nvSpPr>
        <p:spPr>
          <a:xfrm>
            <a:off x="548640" y="3095897"/>
            <a:ext cx="1188720" cy="548640"/>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US.85</a:t>
            </a:r>
            <a:endParaRPr lang="en-US" sz="1600" dirty="0"/>
          </a:p>
        </p:txBody>
      </p:sp>
      <p:sp>
        <p:nvSpPr>
          <p:cNvPr id="19" name="Text 17"/>
          <p:cNvSpPr/>
          <p:nvPr/>
        </p:nvSpPr>
        <p:spPr>
          <a:xfrm>
            <a:off x="1920240" y="3095897"/>
            <a:ext cx="3840480" cy="548640"/>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Nixon Administration Achievements</a:t>
            </a:r>
            <a:endParaRPr lang="en-US" sz="1200" dirty="0"/>
          </a:p>
        </p:txBody>
      </p:sp>
      <p:sp>
        <p:nvSpPr>
          <p:cNvPr id="20" name="Shape 18"/>
          <p:cNvSpPr/>
          <p:nvPr/>
        </p:nvSpPr>
        <p:spPr>
          <a:xfrm rot="10800000">
            <a:off x="1042416" y="3653681"/>
            <a:ext cx="182880" cy="66621"/>
          </a:xfrm>
          <a:prstGeom prst="triangle">
            <a:avLst/>
          </a:prstGeom>
          <a:solidFill>
            <a:srgbClr val="C9A84C"/>
          </a:solidFill>
          <a:ln/>
        </p:spPr>
      </p:sp>
      <p:sp>
        <p:nvSpPr>
          <p:cNvPr id="21" name="Shape 19"/>
          <p:cNvSpPr/>
          <p:nvPr/>
        </p:nvSpPr>
        <p:spPr>
          <a:xfrm>
            <a:off x="548640" y="3729446"/>
            <a:ext cx="5349240" cy="548640"/>
          </a:xfrm>
          <a:prstGeom prst="rect">
            <a:avLst/>
          </a:prstGeom>
          <a:solidFill>
            <a:srgbClr val="FFFFFF"/>
          </a:solidFill>
          <a:ln w="12700">
            <a:solidFill>
              <a:srgbClr val="DAD3C2"/>
            </a:solidFill>
            <a:prstDash val="solid"/>
          </a:ln>
        </p:spPr>
      </p:sp>
      <p:sp>
        <p:nvSpPr>
          <p:cNvPr id="22" name="Shape 20"/>
          <p:cNvSpPr/>
          <p:nvPr/>
        </p:nvSpPr>
        <p:spPr>
          <a:xfrm>
            <a:off x="548640" y="3729446"/>
            <a:ext cx="1188720" cy="548640"/>
          </a:xfrm>
          <a:prstGeom prst="rect">
            <a:avLst/>
          </a:prstGeom>
          <a:solidFill>
            <a:srgbClr val="1A2332"/>
          </a:solidFill>
          <a:ln/>
        </p:spPr>
      </p:sp>
      <p:sp>
        <p:nvSpPr>
          <p:cNvPr id="23" name="Text 21"/>
          <p:cNvSpPr/>
          <p:nvPr/>
        </p:nvSpPr>
        <p:spPr>
          <a:xfrm>
            <a:off x="548640" y="3729446"/>
            <a:ext cx="1188720" cy="548640"/>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US.86</a:t>
            </a:r>
            <a:endParaRPr lang="en-US" sz="1600" dirty="0"/>
          </a:p>
        </p:txBody>
      </p:sp>
      <p:sp>
        <p:nvSpPr>
          <p:cNvPr id="24" name="Text 22"/>
          <p:cNvSpPr/>
          <p:nvPr/>
        </p:nvSpPr>
        <p:spPr>
          <a:xfrm>
            <a:off x="1920240" y="3729446"/>
            <a:ext cx="3840480" cy="548640"/>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Watergate Scandal</a:t>
            </a:r>
            <a:endParaRPr lang="en-US" sz="1200" dirty="0"/>
          </a:p>
        </p:txBody>
      </p:sp>
      <p:sp>
        <p:nvSpPr>
          <p:cNvPr id="25" name="Shape 23"/>
          <p:cNvSpPr/>
          <p:nvPr/>
        </p:nvSpPr>
        <p:spPr>
          <a:xfrm rot="10800000">
            <a:off x="1042416" y="4287230"/>
            <a:ext cx="182880" cy="66621"/>
          </a:xfrm>
          <a:prstGeom prst="triangle">
            <a:avLst/>
          </a:prstGeom>
          <a:solidFill>
            <a:srgbClr val="C9A84C"/>
          </a:solidFill>
          <a:ln/>
        </p:spPr>
      </p:sp>
      <p:sp>
        <p:nvSpPr>
          <p:cNvPr id="26" name="Shape 24"/>
          <p:cNvSpPr/>
          <p:nvPr/>
        </p:nvSpPr>
        <p:spPr>
          <a:xfrm>
            <a:off x="548640" y="4362994"/>
            <a:ext cx="5349240" cy="548640"/>
          </a:xfrm>
          <a:prstGeom prst="rect">
            <a:avLst/>
          </a:prstGeom>
          <a:solidFill>
            <a:srgbClr val="FFFFFF"/>
          </a:solidFill>
          <a:ln w="12700">
            <a:solidFill>
              <a:srgbClr val="DAD3C2"/>
            </a:solidFill>
            <a:prstDash val="solid"/>
          </a:ln>
        </p:spPr>
      </p:sp>
      <p:sp>
        <p:nvSpPr>
          <p:cNvPr id="27" name="Shape 25"/>
          <p:cNvSpPr/>
          <p:nvPr/>
        </p:nvSpPr>
        <p:spPr>
          <a:xfrm>
            <a:off x="548640" y="4362994"/>
            <a:ext cx="1188720" cy="548640"/>
          </a:xfrm>
          <a:prstGeom prst="rect">
            <a:avLst/>
          </a:prstGeom>
          <a:solidFill>
            <a:srgbClr val="1A2332"/>
          </a:solidFill>
          <a:ln/>
        </p:spPr>
      </p:sp>
      <p:sp>
        <p:nvSpPr>
          <p:cNvPr id="28" name="Text 26"/>
          <p:cNvSpPr/>
          <p:nvPr/>
        </p:nvSpPr>
        <p:spPr>
          <a:xfrm>
            <a:off x="548640" y="4362994"/>
            <a:ext cx="1188720" cy="548640"/>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US.87</a:t>
            </a:r>
            <a:endParaRPr lang="en-US" sz="1600" dirty="0"/>
          </a:p>
        </p:txBody>
      </p:sp>
      <p:sp>
        <p:nvSpPr>
          <p:cNvPr id="29" name="Text 27"/>
          <p:cNvSpPr/>
          <p:nvPr/>
        </p:nvSpPr>
        <p:spPr>
          <a:xfrm>
            <a:off x="1920240" y="4362994"/>
            <a:ext cx="3840480" cy="548640"/>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Emergence of Environmentalism</a:t>
            </a:r>
            <a:endParaRPr lang="en-US" sz="1200" dirty="0"/>
          </a:p>
        </p:txBody>
      </p:sp>
      <p:sp>
        <p:nvSpPr>
          <p:cNvPr id="30" name="Shape 28"/>
          <p:cNvSpPr/>
          <p:nvPr/>
        </p:nvSpPr>
        <p:spPr>
          <a:xfrm rot="10800000">
            <a:off x="1042416" y="4920778"/>
            <a:ext cx="182880" cy="66621"/>
          </a:xfrm>
          <a:prstGeom prst="triangle">
            <a:avLst/>
          </a:prstGeom>
          <a:solidFill>
            <a:srgbClr val="C9A84C"/>
          </a:solidFill>
          <a:ln/>
        </p:spPr>
      </p:sp>
      <p:sp>
        <p:nvSpPr>
          <p:cNvPr id="31" name="Shape 29"/>
          <p:cNvSpPr/>
          <p:nvPr/>
        </p:nvSpPr>
        <p:spPr>
          <a:xfrm>
            <a:off x="548640" y="4996543"/>
            <a:ext cx="5349240" cy="548640"/>
          </a:xfrm>
          <a:prstGeom prst="rect">
            <a:avLst/>
          </a:prstGeom>
          <a:solidFill>
            <a:srgbClr val="FFFFFF"/>
          </a:solidFill>
          <a:ln w="12700">
            <a:solidFill>
              <a:srgbClr val="DAD3C2"/>
            </a:solidFill>
            <a:prstDash val="solid"/>
          </a:ln>
        </p:spPr>
      </p:sp>
      <p:sp>
        <p:nvSpPr>
          <p:cNvPr id="32" name="Shape 30"/>
          <p:cNvSpPr/>
          <p:nvPr/>
        </p:nvSpPr>
        <p:spPr>
          <a:xfrm>
            <a:off x="548640" y="4996543"/>
            <a:ext cx="1188720" cy="548640"/>
          </a:xfrm>
          <a:prstGeom prst="rect">
            <a:avLst/>
          </a:prstGeom>
          <a:solidFill>
            <a:srgbClr val="1A2332"/>
          </a:solidFill>
          <a:ln/>
        </p:spPr>
      </p:sp>
      <p:sp>
        <p:nvSpPr>
          <p:cNvPr id="33" name="Text 31"/>
          <p:cNvSpPr/>
          <p:nvPr/>
        </p:nvSpPr>
        <p:spPr>
          <a:xfrm>
            <a:off x="548640" y="4996543"/>
            <a:ext cx="1188720" cy="548640"/>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US.88</a:t>
            </a:r>
            <a:endParaRPr lang="en-US" sz="1600" dirty="0"/>
          </a:p>
        </p:txBody>
      </p:sp>
      <p:sp>
        <p:nvSpPr>
          <p:cNvPr id="34" name="Text 32"/>
          <p:cNvSpPr/>
          <p:nvPr/>
        </p:nvSpPr>
        <p:spPr>
          <a:xfrm>
            <a:off x="1920240" y="4996543"/>
            <a:ext cx="3840480" cy="548640"/>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Carter Administration Events</a:t>
            </a:r>
            <a:endParaRPr lang="en-US" sz="1200" dirty="0"/>
          </a:p>
        </p:txBody>
      </p:sp>
      <p:sp>
        <p:nvSpPr>
          <p:cNvPr id="35" name="Shape 33"/>
          <p:cNvSpPr/>
          <p:nvPr/>
        </p:nvSpPr>
        <p:spPr>
          <a:xfrm rot="10800000">
            <a:off x="1042416" y="5554327"/>
            <a:ext cx="182880" cy="66621"/>
          </a:xfrm>
          <a:prstGeom prst="triangle">
            <a:avLst/>
          </a:prstGeom>
          <a:solidFill>
            <a:srgbClr val="C9A84C"/>
          </a:solidFill>
          <a:ln/>
        </p:spPr>
      </p:sp>
      <p:sp>
        <p:nvSpPr>
          <p:cNvPr id="36" name="Shape 34"/>
          <p:cNvSpPr/>
          <p:nvPr/>
        </p:nvSpPr>
        <p:spPr>
          <a:xfrm>
            <a:off x="548640" y="5630091"/>
            <a:ext cx="5349240" cy="548640"/>
          </a:xfrm>
          <a:prstGeom prst="rect">
            <a:avLst/>
          </a:prstGeom>
          <a:solidFill>
            <a:srgbClr val="FFFFFF"/>
          </a:solidFill>
          <a:ln w="12700">
            <a:solidFill>
              <a:srgbClr val="DAD3C2"/>
            </a:solidFill>
            <a:prstDash val="solid"/>
          </a:ln>
        </p:spPr>
      </p:sp>
      <p:sp>
        <p:nvSpPr>
          <p:cNvPr id="37" name="Shape 35"/>
          <p:cNvSpPr/>
          <p:nvPr/>
        </p:nvSpPr>
        <p:spPr>
          <a:xfrm>
            <a:off x="548640" y="5630091"/>
            <a:ext cx="1188720" cy="548640"/>
          </a:xfrm>
          <a:prstGeom prst="rect">
            <a:avLst/>
          </a:prstGeom>
          <a:solidFill>
            <a:srgbClr val="1A2332"/>
          </a:solidFill>
          <a:ln/>
        </p:spPr>
      </p:sp>
      <p:sp>
        <p:nvSpPr>
          <p:cNvPr id="38" name="Text 36"/>
          <p:cNvSpPr/>
          <p:nvPr/>
        </p:nvSpPr>
        <p:spPr>
          <a:xfrm>
            <a:off x="548640" y="5630091"/>
            <a:ext cx="1188720" cy="548640"/>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US.89</a:t>
            </a:r>
            <a:endParaRPr lang="en-US" sz="1600" dirty="0"/>
          </a:p>
        </p:txBody>
      </p:sp>
      <p:sp>
        <p:nvSpPr>
          <p:cNvPr id="39" name="Text 37"/>
          <p:cNvSpPr/>
          <p:nvPr/>
        </p:nvSpPr>
        <p:spPr>
          <a:xfrm>
            <a:off x="1920240" y="5630091"/>
            <a:ext cx="3840480" cy="548640"/>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Reagan Administration Significance</a:t>
            </a:r>
            <a:endParaRPr lang="en-US" sz="1200" dirty="0"/>
          </a:p>
        </p:txBody>
      </p:sp>
      <p:sp>
        <p:nvSpPr>
          <p:cNvPr id="40" name="Shape 38"/>
          <p:cNvSpPr/>
          <p:nvPr/>
        </p:nvSpPr>
        <p:spPr>
          <a:xfrm>
            <a:off x="6309360" y="1828800"/>
            <a:ext cx="5349240" cy="548640"/>
          </a:xfrm>
          <a:prstGeom prst="rect">
            <a:avLst/>
          </a:prstGeom>
          <a:solidFill>
            <a:srgbClr val="FFFFFF"/>
          </a:solidFill>
          <a:ln w="12700">
            <a:solidFill>
              <a:srgbClr val="DAD3C2"/>
            </a:solidFill>
            <a:prstDash val="solid"/>
          </a:ln>
        </p:spPr>
      </p:sp>
      <p:sp>
        <p:nvSpPr>
          <p:cNvPr id="41" name="Shape 39"/>
          <p:cNvSpPr/>
          <p:nvPr/>
        </p:nvSpPr>
        <p:spPr>
          <a:xfrm>
            <a:off x="6309360" y="1828800"/>
            <a:ext cx="1188720" cy="548640"/>
          </a:xfrm>
          <a:prstGeom prst="rect">
            <a:avLst/>
          </a:prstGeom>
          <a:solidFill>
            <a:srgbClr val="1A2332"/>
          </a:solidFill>
          <a:ln/>
        </p:spPr>
      </p:sp>
      <p:sp>
        <p:nvSpPr>
          <p:cNvPr id="42" name="Text 40"/>
          <p:cNvSpPr/>
          <p:nvPr/>
        </p:nvSpPr>
        <p:spPr>
          <a:xfrm>
            <a:off x="6309360" y="1828800"/>
            <a:ext cx="1188720" cy="548640"/>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US.90</a:t>
            </a:r>
            <a:endParaRPr lang="en-US" sz="1600" dirty="0"/>
          </a:p>
        </p:txBody>
      </p:sp>
      <p:sp>
        <p:nvSpPr>
          <p:cNvPr id="43" name="Text 41"/>
          <p:cNvSpPr/>
          <p:nvPr/>
        </p:nvSpPr>
        <p:spPr>
          <a:xfrm>
            <a:off x="7680960" y="1828800"/>
            <a:ext cx="3840480" cy="548640"/>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George H.W. Bush Administration</a:t>
            </a:r>
            <a:endParaRPr lang="en-US" sz="1200" dirty="0"/>
          </a:p>
        </p:txBody>
      </p:sp>
      <p:sp>
        <p:nvSpPr>
          <p:cNvPr id="44" name="Shape 42"/>
          <p:cNvSpPr/>
          <p:nvPr/>
        </p:nvSpPr>
        <p:spPr>
          <a:xfrm rot="10800000">
            <a:off x="6803136" y="2386584"/>
            <a:ext cx="182880" cy="66621"/>
          </a:xfrm>
          <a:prstGeom prst="triangle">
            <a:avLst/>
          </a:prstGeom>
          <a:solidFill>
            <a:srgbClr val="C9A84C"/>
          </a:solidFill>
          <a:ln/>
        </p:spPr>
      </p:sp>
      <p:sp>
        <p:nvSpPr>
          <p:cNvPr id="45" name="Shape 43"/>
          <p:cNvSpPr/>
          <p:nvPr/>
        </p:nvSpPr>
        <p:spPr>
          <a:xfrm>
            <a:off x="6309360" y="2462349"/>
            <a:ext cx="5349240" cy="548640"/>
          </a:xfrm>
          <a:prstGeom prst="rect">
            <a:avLst/>
          </a:prstGeom>
          <a:solidFill>
            <a:srgbClr val="FFFFFF"/>
          </a:solidFill>
          <a:ln w="12700">
            <a:solidFill>
              <a:srgbClr val="DAD3C2"/>
            </a:solidFill>
            <a:prstDash val="solid"/>
          </a:ln>
        </p:spPr>
      </p:sp>
      <p:sp>
        <p:nvSpPr>
          <p:cNvPr id="46" name="Shape 44"/>
          <p:cNvSpPr/>
          <p:nvPr/>
        </p:nvSpPr>
        <p:spPr>
          <a:xfrm>
            <a:off x="6309360" y="2462349"/>
            <a:ext cx="1188720" cy="548640"/>
          </a:xfrm>
          <a:prstGeom prst="rect">
            <a:avLst/>
          </a:prstGeom>
          <a:solidFill>
            <a:srgbClr val="1A2332"/>
          </a:solidFill>
          <a:ln/>
        </p:spPr>
      </p:sp>
      <p:sp>
        <p:nvSpPr>
          <p:cNvPr id="47" name="Text 45"/>
          <p:cNvSpPr/>
          <p:nvPr/>
        </p:nvSpPr>
        <p:spPr>
          <a:xfrm>
            <a:off x="6309360" y="2462349"/>
            <a:ext cx="1188720" cy="548640"/>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US.91</a:t>
            </a:r>
            <a:endParaRPr lang="en-US" sz="1600" dirty="0"/>
          </a:p>
        </p:txBody>
      </p:sp>
      <p:sp>
        <p:nvSpPr>
          <p:cNvPr id="48" name="Text 46"/>
          <p:cNvSpPr/>
          <p:nvPr/>
        </p:nvSpPr>
        <p:spPr>
          <a:xfrm>
            <a:off x="7680960" y="2462349"/>
            <a:ext cx="3840480" cy="548640"/>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Clinton Administration Events</a:t>
            </a:r>
            <a:endParaRPr lang="en-US" sz="1200" dirty="0"/>
          </a:p>
        </p:txBody>
      </p:sp>
      <p:sp>
        <p:nvSpPr>
          <p:cNvPr id="49" name="Shape 47"/>
          <p:cNvSpPr/>
          <p:nvPr/>
        </p:nvSpPr>
        <p:spPr>
          <a:xfrm rot="10800000">
            <a:off x="6803136" y="3020133"/>
            <a:ext cx="182880" cy="66621"/>
          </a:xfrm>
          <a:prstGeom prst="triangle">
            <a:avLst/>
          </a:prstGeom>
          <a:solidFill>
            <a:srgbClr val="C9A84C"/>
          </a:solidFill>
          <a:ln/>
        </p:spPr>
      </p:sp>
      <p:sp>
        <p:nvSpPr>
          <p:cNvPr id="50" name="Shape 48"/>
          <p:cNvSpPr/>
          <p:nvPr/>
        </p:nvSpPr>
        <p:spPr>
          <a:xfrm>
            <a:off x="6309360" y="3095897"/>
            <a:ext cx="5349240" cy="548640"/>
          </a:xfrm>
          <a:prstGeom prst="rect">
            <a:avLst/>
          </a:prstGeom>
          <a:solidFill>
            <a:srgbClr val="FFFFFF"/>
          </a:solidFill>
          <a:ln w="12700">
            <a:solidFill>
              <a:srgbClr val="DAD3C2"/>
            </a:solidFill>
            <a:prstDash val="solid"/>
          </a:ln>
        </p:spPr>
      </p:sp>
      <p:sp>
        <p:nvSpPr>
          <p:cNvPr id="51" name="Shape 49"/>
          <p:cNvSpPr/>
          <p:nvPr/>
        </p:nvSpPr>
        <p:spPr>
          <a:xfrm>
            <a:off x="6309360" y="3095897"/>
            <a:ext cx="1188720" cy="548640"/>
          </a:xfrm>
          <a:prstGeom prst="rect">
            <a:avLst/>
          </a:prstGeom>
          <a:solidFill>
            <a:srgbClr val="1A2332"/>
          </a:solidFill>
          <a:ln/>
        </p:spPr>
      </p:sp>
      <p:sp>
        <p:nvSpPr>
          <p:cNvPr id="52" name="Text 50"/>
          <p:cNvSpPr/>
          <p:nvPr/>
        </p:nvSpPr>
        <p:spPr>
          <a:xfrm>
            <a:off x="6309360" y="3095897"/>
            <a:ext cx="1188720" cy="548640"/>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US.92</a:t>
            </a:r>
            <a:endParaRPr lang="en-US" sz="1600" dirty="0"/>
          </a:p>
        </p:txBody>
      </p:sp>
      <p:sp>
        <p:nvSpPr>
          <p:cNvPr id="53" name="Text 51"/>
          <p:cNvSpPr/>
          <p:nvPr/>
        </p:nvSpPr>
        <p:spPr>
          <a:xfrm>
            <a:off x="7680960" y="3095897"/>
            <a:ext cx="3840480" cy="548640"/>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September 11th Impact</a:t>
            </a:r>
            <a:endParaRPr lang="en-US" sz="1200" dirty="0"/>
          </a:p>
        </p:txBody>
      </p:sp>
      <p:sp>
        <p:nvSpPr>
          <p:cNvPr id="54" name="Shape 52"/>
          <p:cNvSpPr/>
          <p:nvPr/>
        </p:nvSpPr>
        <p:spPr>
          <a:xfrm rot="10800000">
            <a:off x="6803136" y="3653681"/>
            <a:ext cx="182880" cy="66621"/>
          </a:xfrm>
          <a:prstGeom prst="triangle">
            <a:avLst/>
          </a:prstGeom>
          <a:solidFill>
            <a:srgbClr val="C9A84C"/>
          </a:solidFill>
          <a:ln/>
        </p:spPr>
      </p:sp>
      <p:sp>
        <p:nvSpPr>
          <p:cNvPr id="55" name="Shape 53"/>
          <p:cNvSpPr/>
          <p:nvPr/>
        </p:nvSpPr>
        <p:spPr>
          <a:xfrm>
            <a:off x="6309360" y="3729446"/>
            <a:ext cx="5349240" cy="548640"/>
          </a:xfrm>
          <a:prstGeom prst="rect">
            <a:avLst/>
          </a:prstGeom>
          <a:solidFill>
            <a:srgbClr val="FFFFFF"/>
          </a:solidFill>
          <a:ln w="12700">
            <a:solidFill>
              <a:srgbClr val="DAD3C2"/>
            </a:solidFill>
            <a:prstDash val="solid"/>
          </a:ln>
        </p:spPr>
      </p:sp>
      <p:sp>
        <p:nvSpPr>
          <p:cNvPr id="56" name="Shape 54"/>
          <p:cNvSpPr/>
          <p:nvPr/>
        </p:nvSpPr>
        <p:spPr>
          <a:xfrm>
            <a:off x="6309360" y="3729446"/>
            <a:ext cx="1188720" cy="548640"/>
          </a:xfrm>
          <a:prstGeom prst="rect">
            <a:avLst/>
          </a:prstGeom>
          <a:solidFill>
            <a:srgbClr val="1A2332"/>
          </a:solidFill>
          <a:ln/>
        </p:spPr>
      </p:sp>
      <p:sp>
        <p:nvSpPr>
          <p:cNvPr id="57" name="Text 55"/>
          <p:cNvSpPr/>
          <p:nvPr/>
        </p:nvSpPr>
        <p:spPr>
          <a:xfrm>
            <a:off x="6309360" y="3729446"/>
            <a:ext cx="1188720" cy="548640"/>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US.93</a:t>
            </a:r>
            <a:endParaRPr lang="en-US" sz="1600" dirty="0"/>
          </a:p>
        </p:txBody>
      </p:sp>
      <p:sp>
        <p:nvSpPr>
          <p:cNvPr id="58" name="Text 56"/>
          <p:cNvSpPr/>
          <p:nvPr/>
        </p:nvSpPr>
        <p:spPr>
          <a:xfrm>
            <a:off x="7680960" y="3729446"/>
            <a:ext cx="3840480" cy="548640"/>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Increasing Role of Women and Minorities</a:t>
            </a:r>
            <a:endParaRPr lang="en-US" sz="1200" dirty="0"/>
          </a:p>
        </p:txBody>
      </p:sp>
      <p:sp>
        <p:nvSpPr>
          <p:cNvPr id="59" name="Shape 57"/>
          <p:cNvSpPr/>
          <p:nvPr/>
        </p:nvSpPr>
        <p:spPr>
          <a:xfrm rot="10800000">
            <a:off x="6803136" y="4287230"/>
            <a:ext cx="182880" cy="66621"/>
          </a:xfrm>
          <a:prstGeom prst="triangle">
            <a:avLst/>
          </a:prstGeom>
          <a:solidFill>
            <a:srgbClr val="C9A84C"/>
          </a:solidFill>
          <a:ln/>
        </p:spPr>
      </p:sp>
      <p:sp>
        <p:nvSpPr>
          <p:cNvPr id="60" name="Shape 58"/>
          <p:cNvSpPr/>
          <p:nvPr/>
        </p:nvSpPr>
        <p:spPr>
          <a:xfrm>
            <a:off x="6309360" y="4362994"/>
            <a:ext cx="5349240" cy="548640"/>
          </a:xfrm>
          <a:prstGeom prst="rect">
            <a:avLst/>
          </a:prstGeom>
          <a:solidFill>
            <a:srgbClr val="FFFFFF"/>
          </a:solidFill>
          <a:ln w="12700">
            <a:solidFill>
              <a:srgbClr val="DAD3C2"/>
            </a:solidFill>
            <a:prstDash val="solid"/>
          </a:ln>
        </p:spPr>
      </p:sp>
      <p:sp>
        <p:nvSpPr>
          <p:cNvPr id="61" name="Shape 59"/>
          <p:cNvSpPr/>
          <p:nvPr/>
        </p:nvSpPr>
        <p:spPr>
          <a:xfrm>
            <a:off x="6309360" y="4362994"/>
            <a:ext cx="1188720" cy="548640"/>
          </a:xfrm>
          <a:prstGeom prst="rect">
            <a:avLst/>
          </a:prstGeom>
          <a:solidFill>
            <a:srgbClr val="1A2332"/>
          </a:solidFill>
          <a:ln/>
        </p:spPr>
      </p:sp>
      <p:sp>
        <p:nvSpPr>
          <p:cNvPr id="62" name="Text 60"/>
          <p:cNvSpPr/>
          <p:nvPr/>
        </p:nvSpPr>
        <p:spPr>
          <a:xfrm>
            <a:off x="6309360" y="4362994"/>
            <a:ext cx="1188720" cy="548640"/>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US.94</a:t>
            </a:r>
            <a:endParaRPr lang="en-US" sz="1600" dirty="0"/>
          </a:p>
        </p:txBody>
      </p:sp>
      <p:sp>
        <p:nvSpPr>
          <p:cNvPr id="63" name="Text 61"/>
          <p:cNvSpPr/>
          <p:nvPr/>
        </p:nvSpPr>
        <p:spPr>
          <a:xfrm>
            <a:off x="7680960" y="4362994"/>
            <a:ext cx="3840480" cy="548640"/>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Communication Methods Evolution</a:t>
            </a:r>
            <a:endParaRPr lang="en-US" sz="1200" dirty="0"/>
          </a:p>
        </p:txBody>
      </p:sp>
      <p:sp>
        <p:nvSpPr>
          <p:cNvPr id="64" name="Shape 62"/>
          <p:cNvSpPr/>
          <p:nvPr/>
        </p:nvSpPr>
        <p:spPr>
          <a:xfrm rot="10800000">
            <a:off x="6803136" y="4920778"/>
            <a:ext cx="182880" cy="66621"/>
          </a:xfrm>
          <a:prstGeom prst="triangle">
            <a:avLst/>
          </a:prstGeom>
          <a:solidFill>
            <a:srgbClr val="C9A84C"/>
          </a:solidFill>
          <a:ln/>
        </p:spPr>
      </p:sp>
      <p:sp>
        <p:nvSpPr>
          <p:cNvPr id="65" name="Shape 63"/>
          <p:cNvSpPr/>
          <p:nvPr/>
        </p:nvSpPr>
        <p:spPr>
          <a:xfrm>
            <a:off x="6309360" y="4996543"/>
            <a:ext cx="5349240" cy="548640"/>
          </a:xfrm>
          <a:prstGeom prst="rect">
            <a:avLst/>
          </a:prstGeom>
          <a:solidFill>
            <a:srgbClr val="FFFFFF"/>
          </a:solidFill>
          <a:ln w="12700">
            <a:solidFill>
              <a:srgbClr val="DAD3C2"/>
            </a:solidFill>
            <a:prstDash val="solid"/>
          </a:ln>
        </p:spPr>
      </p:sp>
      <p:sp>
        <p:nvSpPr>
          <p:cNvPr id="66" name="Shape 64"/>
          <p:cNvSpPr/>
          <p:nvPr/>
        </p:nvSpPr>
        <p:spPr>
          <a:xfrm>
            <a:off x="6309360" y="4996543"/>
            <a:ext cx="1188720" cy="548640"/>
          </a:xfrm>
          <a:prstGeom prst="rect">
            <a:avLst/>
          </a:prstGeom>
          <a:solidFill>
            <a:srgbClr val="1A2332"/>
          </a:solidFill>
          <a:ln/>
        </p:spPr>
      </p:sp>
      <p:sp>
        <p:nvSpPr>
          <p:cNvPr id="67" name="Text 65"/>
          <p:cNvSpPr/>
          <p:nvPr/>
        </p:nvSpPr>
        <p:spPr>
          <a:xfrm>
            <a:off x="6309360" y="4996543"/>
            <a:ext cx="1188720" cy="548640"/>
          </a:xfrm>
          <a:prstGeom prst="rect">
            <a:avLst/>
          </a:prstGeom>
          <a:noFill/>
          <a:ln/>
        </p:spPr>
        <p:txBody>
          <a:bodyPr wrap="square" rtlCol="0" anchor="ctr"/>
          <a:lstStyle/>
          <a:p>
            <a:pPr algn="ctr" indent="0" marL="0">
              <a:buNone/>
            </a:pPr>
            <a:r>
              <a:rPr lang="en-US" sz="1600" b="1" dirty="0">
                <a:solidFill>
                  <a:srgbClr val="F9A825"/>
                </a:solidFill>
                <a:latin typeface="Georgia" pitchFamily="34" charset="0"/>
                <a:ea typeface="Georgia" pitchFamily="34" charset="-122"/>
                <a:cs typeface="Georgia" pitchFamily="34" charset="-120"/>
              </a:rPr>
              <a:t>US.95</a:t>
            </a:r>
            <a:endParaRPr lang="en-US" sz="1600" dirty="0"/>
          </a:p>
        </p:txBody>
      </p:sp>
      <p:sp>
        <p:nvSpPr>
          <p:cNvPr id="68" name="Text 66"/>
          <p:cNvSpPr/>
          <p:nvPr/>
        </p:nvSpPr>
        <p:spPr>
          <a:xfrm>
            <a:off x="7680960" y="4996543"/>
            <a:ext cx="3840480" cy="548640"/>
          </a:xfrm>
          <a:prstGeom prst="rect">
            <a:avLst/>
          </a:prstGeom>
          <a:noFill/>
          <a:ln/>
        </p:spPr>
        <p:txBody>
          <a:bodyPr wrap="square" rtlCol="0" anchor="ctr">
            <a:normAutofit/>
          </a:bodyPr>
          <a:lstStyle/>
          <a:p>
            <a:pPr indent="0" marL="0">
              <a:buNone/>
            </a:pPr>
            <a:r>
              <a:rPr lang="en-US" sz="1200" b="1" dirty="0">
                <a:solidFill>
                  <a:srgbClr val="1F2430"/>
                </a:solidFill>
                <a:latin typeface="Calibri" pitchFamily="34" charset="0"/>
                <a:ea typeface="Calibri" pitchFamily="34" charset="-122"/>
                <a:cs typeface="Calibri" pitchFamily="34" charset="-120"/>
              </a:rPr>
              <a:t>Obama Administration Achievements and Setbacks</a:t>
            </a:r>
            <a:endParaRPr lang="en-US" sz="1200" dirty="0"/>
          </a:p>
        </p:txBody>
      </p:sp>
      <p:sp>
        <p:nvSpPr>
          <p:cNvPr id="69" name="Shape 67"/>
          <p:cNvSpPr/>
          <p:nvPr/>
        </p:nvSpPr>
        <p:spPr>
          <a:xfrm>
            <a:off x="5532120" y="1856232"/>
            <a:ext cx="658368" cy="384048"/>
          </a:xfrm>
          <a:prstGeom prst="roundRect">
            <a:avLst>
              <a:gd name="adj" fmla="val 14286"/>
            </a:avLst>
          </a:prstGeom>
          <a:solidFill>
            <a:srgbClr val="1A2332"/>
          </a:solidFill>
          <a:ln/>
        </p:spPr>
      </p:sp>
      <p:sp>
        <p:nvSpPr>
          <p:cNvPr id="70" name="Text 68"/>
          <p:cNvSpPr/>
          <p:nvPr/>
        </p:nvSpPr>
        <p:spPr>
          <a:xfrm>
            <a:off x="5532120" y="1856232"/>
            <a:ext cx="658368" cy="384048"/>
          </a:xfrm>
          <a:prstGeom prst="rect">
            <a:avLst/>
          </a:prstGeom>
          <a:noFill/>
          <a:ln/>
        </p:spPr>
        <p:txBody>
          <a:bodyPr wrap="square" rtlCol="0" anchor="ctr"/>
          <a:lstStyle/>
          <a:p>
            <a:pPr algn="ctr" indent="0" marL="0">
              <a:buNone/>
            </a:pPr>
            <a:r>
              <a:rPr lang="en-US" sz="900" b="1" dirty="0">
                <a:solidFill>
                  <a:srgbClr val="F9A825"/>
                </a:solidFill>
                <a:latin typeface="Trebuchet MS" pitchFamily="34" charset="0"/>
                <a:ea typeface="Trebuchet MS" pitchFamily="34" charset="-122"/>
                <a:cs typeface="Trebuchet MS" pitchFamily="34" charset="-120"/>
              </a:rPr>
              <a:t>then</a:t>
            </a:r>
            <a:endParaRPr lang="en-US" sz="900" dirty="0"/>
          </a:p>
        </p:txBody>
      </p:sp>
      <p:sp>
        <p:nvSpPr>
          <p:cNvPr id="71" name="Shape 69"/>
          <p:cNvSpPr/>
          <p:nvPr/>
        </p:nvSpPr>
        <p:spPr>
          <a:xfrm rot="5400000">
            <a:off x="6199632" y="1984248"/>
            <a:ext cx="164592" cy="146304"/>
          </a:xfrm>
          <a:prstGeom prst="triangle">
            <a:avLst/>
          </a:prstGeom>
          <a:solidFill>
            <a:srgbClr val="C9A84C"/>
          </a:solidFill>
          <a:ln/>
        </p:spPr>
      </p:sp>
      <p:sp>
        <p:nvSpPr>
          <p:cNvPr id="72" name="Text 7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73" name="Text 7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2858"/>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640080" y="64008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BELL RINGER · HOOK</a:t>
            </a:r>
            <a:endParaRPr lang="en-US" sz="1200" dirty="0"/>
          </a:p>
        </p:txBody>
      </p:sp>
      <p:sp>
        <p:nvSpPr>
          <p:cNvPr id="4" name="Text 2"/>
          <p:cNvSpPr/>
          <p:nvPr/>
        </p:nvSpPr>
        <p:spPr>
          <a:xfrm>
            <a:off x="640080" y="1234440"/>
            <a:ext cx="10789920" cy="1965960"/>
          </a:xfrm>
          <a:prstGeom prst="rect">
            <a:avLst/>
          </a:prstGeom>
          <a:noFill/>
          <a:ln/>
        </p:spPr>
        <p:txBody>
          <a:bodyPr wrap="square" rtlCol="0" anchor="t">
            <a:normAutofit/>
          </a:bodyPr>
          <a:lstStyle/>
          <a:p>
            <a:pPr indent="0" marL="0">
              <a:lnSpc>
                <a:spcPct val="105000"/>
              </a:lnSpc>
              <a:buNone/>
            </a:pPr>
            <a:r>
              <a:rPr lang="en-US" sz="3000" b="1" dirty="0">
                <a:solidFill>
                  <a:srgbClr val="FFFFFF"/>
                </a:solidFill>
                <a:latin typeface="Georgia" pitchFamily="34" charset="0"/>
                <a:ea typeface="Georgia" pitchFamily="34" charset="-122"/>
                <a:cs typeface="Georgia" pitchFamily="34" charset="-120"/>
              </a:rPr>
              <a:t>In 1964, President Johnson promised to build a "Great Society" that would end poverty and racial injustice.</a:t>
            </a:r>
            <a:endParaRPr lang="en-US" sz="3000" dirty="0"/>
          </a:p>
          <a:p>
            <a:pPr indent="0" marL="0">
              <a:lnSpc>
                <a:spcPct val="105000"/>
              </a:lnSpc>
              <a:buNone/>
            </a:pPr>
            <a:r>
              <a:rPr lang="en-US" sz="3000" b="1" dirty="0">
                <a:solidFill>
                  <a:srgbClr val="FFFFFF"/>
                </a:solidFill>
                <a:latin typeface="Georgia" pitchFamily="34" charset="0"/>
                <a:ea typeface="Georgia" pitchFamily="34" charset="-122"/>
                <a:cs typeface="Georgia" pitchFamily="34" charset="-120"/>
              </a:rPr>
              <a:t>Over the next half century, the nation moved through the turmoil of Vietnam and Watergate, the end of the Cold War, the shock of September 11th, a digital revolution, and the election of its first Black president.</a:t>
            </a:r>
            <a:endParaRPr lang="en-US" sz="3000" dirty="0"/>
          </a:p>
        </p:txBody>
      </p:sp>
      <p:sp>
        <p:nvSpPr>
          <p:cNvPr id="5" name="Text 3"/>
          <p:cNvSpPr/>
          <p:nvPr/>
        </p:nvSpPr>
        <p:spPr>
          <a:xfrm>
            <a:off x="640080" y="3337560"/>
            <a:ext cx="10789920" cy="914400"/>
          </a:xfrm>
          <a:prstGeom prst="rect">
            <a:avLst/>
          </a:prstGeom>
          <a:noFill/>
          <a:ln/>
        </p:spPr>
        <p:txBody>
          <a:bodyPr wrap="square" rtlCol="0" anchor="t">
            <a:normAutofit/>
          </a:bodyPr>
          <a:lstStyle/>
          <a:p>
            <a:pPr indent="0" marL="0">
              <a:buNone/>
            </a:pPr>
            <a:r>
              <a:rPr lang="en-US" sz="2200" i="1" dirty="0">
                <a:solidFill>
                  <a:srgbClr val="F9A825"/>
                </a:solidFill>
                <a:latin typeface="Georgia" pitchFamily="34" charset="0"/>
                <a:ea typeface="Georgia" pitchFamily="34" charset="-122"/>
                <a:cs typeface="Georgia" pitchFamily="34" charset="-120"/>
              </a:rPr>
              <a:t>How did the United States move from the confidence of the Great Society in 1964 to the challenges and transformations of the twenty-first century — and what forces reshaped American life along the way?</a:t>
            </a:r>
            <a:endParaRPr lang="en-US" sz="2200" dirty="0"/>
          </a:p>
        </p:txBody>
      </p:sp>
      <p:sp>
        <p:nvSpPr>
          <p:cNvPr id="6" name="Shape 4"/>
          <p:cNvSpPr/>
          <p:nvPr/>
        </p:nvSpPr>
        <p:spPr>
          <a:xfrm>
            <a:off x="640080" y="4434840"/>
            <a:ext cx="10881360" cy="1417320"/>
          </a:xfrm>
          <a:prstGeom prst="roundRect">
            <a:avLst>
              <a:gd name="adj" fmla="val 6452"/>
            </a:avLst>
          </a:prstGeom>
          <a:solidFill>
            <a:srgbClr val="243047"/>
          </a:solidFill>
          <a:ln w="12700">
            <a:solidFill>
              <a:srgbClr val="C9A84C"/>
            </a:solidFill>
            <a:prstDash val="solid"/>
          </a:ln>
        </p:spPr>
      </p:sp>
      <p:sp>
        <p:nvSpPr>
          <p:cNvPr id="7" name="Text 5"/>
          <p:cNvSpPr/>
          <p:nvPr/>
        </p:nvSpPr>
        <p:spPr>
          <a:xfrm>
            <a:off x="914400" y="4617720"/>
            <a:ext cx="2743200" cy="320040"/>
          </a:xfrm>
          <a:prstGeom prst="rect">
            <a:avLst/>
          </a:prstGeom>
          <a:noFill/>
          <a:ln/>
        </p:spPr>
        <p:txBody>
          <a:bodyPr wrap="square" rtlCol="0" anchor="ctr"/>
          <a:lstStyle/>
          <a:p>
            <a:pPr indent="0" marL="0">
              <a:buNone/>
            </a:pPr>
            <a:r>
              <a:rPr lang="en-US" sz="1300" b="1" spc="200" kern="0" dirty="0">
                <a:solidFill>
                  <a:srgbClr val="F9A825"/>
                </a:solidFill>
                <a:latin typeface="Trebuchet MS" pitchFamily="34" charset="0"/>
                <a:ea typeface="Trebuchet MS" pitchFamily="34" charset="-122"/>
                <a:cs typeface="Trebuchet MS" pitchFamily="34" charset="-120"/>
              </a:rPr>
              <a:t>TURN &amp; TALK</a:t>
            </a:r>
            <a:endParaRPr lang="en-US" sz="1300" dirty="0"/>
          </a:p>
        </p:txBody>
      </p:sp>
      <p:sp>
        <p:nvSpPr>
          <p:cNvPr id="8" name="Text 6"/>
          <p:cNvSpPr/>
          <p:nvPr/>
        </p:nvSpPr>
        <p:spPr>
          <a:xfrm>
            <a:off x="914400" y="4937760"/>
            <a:ext cx="10332720" cy="822960"/>
          </a:xfrm>
          <a:prstGeom prst="rect">
            <a:avLst/>
          </a:prstGeom>
          <a:noFill/>
          <a:ln/>
        </p:spPr>
        <p:txBody>
          <a:bodyPr wrap="square"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With a partner, list three ways American life today — how people communicate, who holds power, and the role of government — is different from the way it was in 1964. Then predict which event in this unit did the most to create each change. Keep your list; we will return to it at the end of the unit.</a:t>
            </a:r>
            <a:endParaRPr lang="en-US" sz="16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US.83</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Johnson's Great Society Programs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Evaluate the impact of President Lyndon Johnson's Great Society programs, including: Medicare, urban renewal, and the War on Poverty.</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A2332"/>
                </a:solidFill>
                <a:latin typeface="Calibri" pitchFamily="34" charset="0"/>
                <a:ea typeface="Calibri" pitchFamily="34" charset="-122"/>
                <a:cs typeface="Calibri" pitchFamily="34" charset="-120"/>
              </a:rPr>
              <a:t>I can evaluate the impact of President Lyndon Johnson's Great Society programs, including Medicare, urban renewal, and the War on Poverty.</a:t>
            </a:r>
            <a:endParaRPr lang="en-US" sz="13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US.83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Unit 9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We just finished Unit 9 on the Civil Rights Movement. What did major laws like the Civil Rights Act of 1964 and the Voting Rights Act of 1965 accomplish?</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Unit Hook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Look back at our unit hook. What big question about the modern era are we going to keep returning to?</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US.83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was President Johnson's name for his set of anti-poverty and social programs?</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The Great Society.</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US.83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In just a few years, President Lyndon Johnson pushed Congress to create Medicare, Medicaid, Head Start, and a “War on Poverty” — the largest expansion of government help since the New Deal, all under one banner: the Great Society.</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Should the federal government be responsible for fighting poverty and providing health care — or should that be left to states, charities, and families? What did the Great Society decide?</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Great Society Programs Overview</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President Johnson's Great Society (1964-1969) created an ambitious domestic agenda aimed at eliminating poverty and racial injustice.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Key programs included: Medicare (health insurance for Americans over 65), Medicaid (health coverage for low-income families), Head Start (early childhood education for disadvantaged children), VISTA (Volunteers in Service to America — domestic Peace Corps), the Elementary and Secondary Education Act (federal funding for schools), Urban Renewal (federal programs to rebuild inner cities), and the War on Poverty (a comprehensive anti-poverty initiative).</a:t>
            </a:r>
            <a:endParaRPr lang="en-US" sz="1700" dirty="0"/>
          </a:p>
        </p:txBody>
      </p:sp>
      <p:sp>
        <p:nvSpPr>
          <p:cNvPr id="12" name="Shape 10"/>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The Great Society created ___ in order to ___, which expanded the federal government's role in ___.</a:t>
            </a:r>
            <a:endParaRPr lang="en-US" sz="115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Medicare's Effect on Healthcare</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Medicare dramatically improved healthcare access for elderly Americans, who previously faced insurance discrimination due to age and pre-existing conditions.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It reduced medical bankruptcies among seniors and established the principle of government-guaranteed healthcare.</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However, costs escalated beyond projections, creating long-term fiscal challenges and debates about healthcare spending that continue today.</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10-full/img/lbj-signs-medicare-bill-harry-1965.jpg">    </p:cNvPr>
          <p:cNvPicPr>
            <a:picLocks noChangeAspect="1"/>
          </p:cNvPicPr>
          <p:nvPr/>
        </p:nvPicPr>
        <p:blipFill>
          <a:blip r:embed="rId1"/>
          <a:stretch>
            <a:fillRect/>
          </a:stretch>
        </p:blipFill>
        <p:spPr>
          <a:xfrm>
            <a:off x="7589520" y="2173557"/>
            <a:ext cx="4069080" cy="2721197"/>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White House Press Office, 1965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LBJ Presidential Library (Austin</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Urban Renewal Consequences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Urban renewal projects often displaced low-income, predominantly minority communities to build highways, shopping centers, and middle-class housing.</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While intended to eliminate "slums," these programs frequently destroyed established neighborhoods, disrupted social networks, and contributed to racial segregation by concentrating displaced residents in public housing projects.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War on Poverty Effectiveness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poverty rate fell from 22.4% in 1959 to 12.6% in 1970, suggesting initial success.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Programs like Head Start and food stamps provided crucial support.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However, poverty rates plateaued in the 1970s, and critics argued that welfare dependency increased.</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initiative's mixed results sparked ongoing debates about government's role in addressing inequality.</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US.83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President Lyndon B. Johnson</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36th President of the United States</a:t>
            </a:r>
            <a:endParaRPr lang="en-US" sz="1100" dirty="0"/>
          </a:p>
        </p:txBody>
      </p:sp>
      <p:sp>
        <p:nvSpPr>
          <p:cNvPr id="9" name="Text 7"/>
          <p:cNvSpPr/>
          <p:nvPr/>
        </p:nvSpPr>
        <p:spPr>
          <a:xfrm>
            <a:off x="694944" y="2606040"/>
            <a:ext cx="1077163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Launched the Great Society and the War on Poverty (1964)</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Signed Medicare and Medicaid into law (1965)</a:t>
            </a:r>
            <a:endParaRPr lang="en-US" sz="1300" dirty="0"/>
          </a:p>
        </p:txBody>
      </p:sp>
      <p:sp>
        <p:nvSpPr>
          <p:cNvPr id="10" name="Shape 8"/>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Legislative reform (federal social programs)</a:t>
            </a:r>
            <a:endParaRPr lang="en-US" sz="8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US.83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Great Society Speech</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Lyndon B. Johnson  ·  May 22, 1964</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"The Great Society rests on abundance and liberty for all. It demands an end to poverty and racial injustice, to which we are totally committed in our time. But that is just the beginning. The Great Society is a place where every child can find knowledge to enrich his mind and to enlarge his talents."</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37360"/>
          </a:xfrm>
          <a:prstGeom prst="roundRect">
            <a:avLst>
              <a:gd name="adj" fmla="val 4211"/>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25296"/>
          </a:xfrm>
          <a:prstGeom prst="rect">
            <a:avLst/>
          </a:prstGeom>
          <a:noFill/>
          <a:ln/>
        </p:spPr>
        <p:txBody>
          <a:bodyPr wrap="square" rtlCol="0" anchor="t">
            <a:normAutofit/>
          </a:bodyPr>
          <a:lstStyle/>
          <a:p>
            <a:pPr indent="0" marL="0">
              <a:lnSpc>
                <a:spcPct val="96000"/>
              </a:lnSpc>
              <a:buNone/>
            </a:pPr>
            <a:r>
              <a:rPr lang="en-US" sz="1050" dirty="0">
                <a:solidFill>
                  <a:srgbClr val="FFFFFF"/>
                </a:solidFill>
                <a:latin typeface="Calibri" pitchFamily="34" charset="0"/>
                <a:ea typeface="Calibri" pitchFamily="34" charset="-122"/>
                <a:cs typeface="Calibri" pitchFamily="34" charset="-120"/>
              </a:rPr>
              <a:t>In May 1964, President Johnson used a commencement address at the University of Michigan to unveil his vision of a "Great Society." Coming just months after taking office following Kennedy's assassination, Johnson laid out an ambitious agenda to use federal power to end poverty and racial injustice and to expand education and opportunity for all Americans.</a:t>
            </a:r>
            <a:endParaRPr lang="en-US" sz="1050" dirty="0"/>
          </a:p>
        </p:txBody>
      </p:sp>
      <p:sp>
        <p:nvSpPr>
          <p:cNvPr id="16" name="Shape 14"/>
          <p:cNvSpPr/>
          <p:nvPr/>
        </p:nvSpPr>
        <p:spPr>
          <a:xfrm>
            <a:off x="7589520" y="3657600"/>
            <a:ext cx="4023360" cy="1325880"/>
          </a:xfrm>
          <a:prstGeom prst="roundRect">
            <a:avLst>
              <a:gd name="adj" fmla="val 5517"/>
            </a:avLst>
          </a:prstGeom>
          <a:solidFill>
            <a:srgbClr val="C9A84C"/>
          </a:solidFill>
          <a:ln/>
        </p:spPr>
      </p:sp>
      <p:sp>
        <p:nvSpPr>
          <p:cNvPr id="17" name="Text 15"/>
          <p:cNvSpPr/>
          <p:nvPr/>
        </p:nvSpPr>
        <p:spPr>
          <a:xfrm>
            <a:off x="7818120" y="377647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078224"/>
            <a:ext cx="3611880" cy="79552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were the goals of Johnson's Great Society?</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President Lyndon B. Johnson</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May 22, 1964</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you interpret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US.83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874520"/>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Great Society</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Gran Sociedad</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GS</a:t>
            </a:r>
            <a:endParaRPr lang="en-US" sz="1300" dirty="0"/>
          </a:p>
        </p:txBody>
      </p:sp>
      <p:sp>
        <p:nvSpPr>
          <p:cNvPr id="11" name="Text 9"/>
          <p:cNvSpPr/>
          <p:nvPr/>
        </p:nvSpPr>
        <p:spPr>
          <a:xfrm>
            <a:off x="1225296" y="2395728"/>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President Lyndon B. Johnson's domestic policy agenda aimed at eliminating poverty and racial injustice through sweeping social programs including Medicare, Medicaid, urban renewal, and the War on Poverty.</a:t>
            </a:r>
            <a:endParaRPr lang="en-US" sz="1100" dirty="0"/>
          </a:p>
        </p:txBody>
      </p:sp>
      <p:sp>
        <p:nvSpPr>
          <p:cNvPr id="12" name="Shape 10"/>
          <p:cNvSpPr/>
          <p:nvPr/>
        </p:nvSpPr>
        <p:spPr>
          <a:xfrm>
            <a:off x="6263640" y="1645920"/>
            <a:ext cx="5486400" cy="1874520"/>
          </a:xfrm>
          <a:prstGeom prst="rect">
            <a:avLst/>
          </a:prstGeom>
          <a:solidFill>
            <a:srgbClr val="FFFFFF"/>
          </a:solidFill>
          <a:ln w="12700">
            <a:solidFill>
              <a:srgbClr val="DAD3C2"/>
            </a:solidFill>
            <a:prstDash val="solid"/>
          </a:ln>
        </p:spPr>
      </p:sp>
      <p:sp>
        <p:nvSpPr>
          <p:cNvPr id="13" name="Shape 11"/>
          <p:cNvSpPr/>
          <p:nvPr/>
        </p:nvSpPr>
        <p:spPr>
          <a:xfrm>
            <a:off x="6263640" y="1645920"/>
            <a:ext cx="5486400" cy="676656"/>
          </a:xfrm>
          <a:prstGeom prst="rect">
            <a:avLst/>
          </a:prstGeom>
          <a:solidFill>
            <a:srgbClr val="1A2332"/>
          </a:solidFill>
          <a:ln/>
        </p:spPr>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Medicare and Medicaid</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Medicare y Medicaid</a:t>
            </a:r>
            <a:endParaRPr lang="en-US" sz="1000" dirty="0"/>
          </a:p>
        </p:txBody>
      </p:sp>
      <p:sp>
        <p:nvSpPr>
          <p:cNvPr id="16" name="Shape 14"/>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7" name="Text 15"/>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MA</a:t>
            </a:r>
            <a:endParaRPr lang="en-US" sz="1300" dirty="0"/>
          </a:p>
        </p:txBody>
      </p:sp>
      <p:sp>
        <p:nvSpPr>
          <p:cNvPr id="18" name="Text 16"/>
          <p:cNvSpPr/>
          <p:nvPr/>
        </p:nvSpPr>
        <p:spPr>
          <a:xfrm>
            <a:off x="6940296" y="2395728"/>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Federal health insurance programs created in 1965 as part of the Great Society. Medicare provides coverage for seniors 65+, while Medicaid provides coverage for low-income Americans.</a:t>
            </a:r>
            <a:endParaRPr lang="en-US" sz="1100" dirty="0"/>
          </a:p>
        </p:txBody>
      </p:sp>
      <p:sp>
        <p:nvSpPr>
          <p:cNvPr id="19" name="Text 17"/>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20" name="Text 1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US.83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Evaluate the impact of a government program</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Read Johnson's Great Society speech. What outcome does he promise, and how would we measure whether it worked?</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Johnson promises "an end to poverty and racial injustice" and opportunity for "every child."</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To evaluate impact, I would look for evidence — like the poverty rate falling from 22.4% to 12.6% — and also for unintended consequences, like urban renewal displacing communities.</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name one Great Society program and one measurable result (positive or negative) that lets us judge its impact.</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US.83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The Great Society — Causes &amp; Consequences Chart</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Johnson's “Great Society” speech excerpt, complete the Causes &amp; Consequences organizer. In the CAUSES column, list the conditions Johnson wanted to fix (poverty, lack of health care for the elderly, unequal education). In the CONSEQUENCES column, trace the programs that followed — Medicare, Medicaid, the War on Poverty, Head Start, and federal education aid — and what each one did. Finish with a one-sentence claim about whether the Great Society succeeded in building Johnson's vision.</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Causes &amp; Consequences organizer (3+ causes, 3+ consequences) plus a one-sentence evidence-based claim on the Great Society's lasting impact.</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Organizer pre-seeded with a word bank (Medicare, Medicaid, War on Poverty, Head Start, Great Society) to sort into Causes vs. Consequences. Honors: Evaluate the long-term significance of the Great Society — which program most changed American life, and does it still matter today? Defend with evidence.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printables/unit-10/unit-10-cause-effect.html</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US.83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How did Johnson describe his approach to fighting poverty?</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Simply expanding existing charity programs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Leaving poverty reduction to state governments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 new approach that strikes at the causes of poverty, not just consequences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Reducing government involvement in social programs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US.83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How did Johnson describe his approach to fighting poverty?</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Simply expanding existing charity programs</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Leaving poverty reduction to state governments</a:t>
            </a:r>
            <a:endParaRPr lang="en-US" sz="1300" dirty="0"/>
          </a:p>
        </p:txBody>
      </p:sp>
      <p:sp>
        <p:nvSpPr>
          <p:cNvPr id="17" name="Shape 15"/>
          <p:cNvSpPr/>
          <p:nvPr/>
        </p:nvSpPr>
        <p:spPr>
          <a:xfrm>
            <a:off x="548640" y="3968496"/>
            <a:ext cx="11064240" cy="566928"/>
          </a:xfrm>
          <a:prstGeom prst="roundRect">
            <a:avLst>
              <a:gd name="adj" fmla="val 9677"/>
            </a:avLst>
          </a:prstGeom>
          <a:solidFill>
            <a:srgbClr val="C9A84C"/>
          </a:solidFill>
          <a:ln w="12700">
            <a:solidFill>
              <a:srgbClr val="F9A825"/>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A new approach that strikes at the causes of poverty, not just consequences</a:t>
            </a:r>
            <a:endParaRPr lang="en-US" sz="1300" dirty="0"/>
          </a:p>
        </p:txBody>
      </p:sp>
      <p:sp>
        <p:nvSpPr>
          <p:cNvPr id="21" name="Text 19"/>
          <p:cNvSpPr/>
          <p:nvPr/>
        </p:nvSpPr>
        <p:spPr>
          <a:xfrm>
            <a:off x="11018520" y="3968496"/>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Reducing government involvement in social programs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C.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Johnson emphasizes that the Act "charts a new course" and "strikes at the causes, not just the consequences of poverty," distinguishing it from previous programs.</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US.83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Great Society Programs Overview</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Medicare's Effect on Healthcare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Urban Renewal Consequences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War on Poverty Effectiveness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Evaluate the long-term significance of the Great Society. Which program most changed American life, and does it still matter today? Defend your answer with evidence.</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what the Great Society was and describe two programs it created. Why is it considered a major expansion of the federal government?</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US.84</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Social Activism and Counterculture</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Analyze different points of view that reflect the rise of social activism and the growth of counterculture, including generation gap, hippies, and Woodstock.</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analyze different points of view that reflect the rise of social activism and the growth of counterculture, including the generation gap, hippies, and Woodstock.</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US.84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US.83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In the last standard we studied Johnson's Great Society. Name two programs it created and what they did.</a:t>
            </a:r>
            <a:endParaRPr lang="en-US" sz="1350" dirty="0"/>
          </a:p>
        </p:txBody>
      </p:sp>
      <p:sp>
        <p:nvSpPr>
          <p:cNvPr id="11"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US.84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war did most 1960s youth protests oppose?</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The Vietnam War.</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US.84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While their parents celebrated 1950s prosperity, millions of young Americans in the 1960s marched against the Vietnam War, questioned authority, and built a “counterculture” — opening a “generation gap” that split families and the nation.</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When a whole generation rejects the values of the one before it, is that a sign of a society breaking down — or of a society changing and growing?</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Different Viewpoints on Social Activism</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Supporters saw activism as necessary democratic participation addressing social injustices like civil rights, poverty, and unjust wars.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Critics viewed protesters as unpatriotic radicals undermining American institutions, values, and military morale.</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This divide reflected fundamental disagreements about patriotism, authority, and social change.</a:t>
            </a:r>
            <a:endParaRPr lang="en-US" sz="1550" dirty="0"/>
          </a:p>
        </p:txBody>
      </p:sp>
      <p:sp>
        <p:nvSpPr>
          <p:cNvPr id="12" name="Shape 10"/>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In the 1960s, young Americans in the counterculture protested ___ by ___, which caused older Americans to ___.</a:t>
            </a:r>
            <a:endParaRPr lang="en-US" sz="1050" dirty="0"/>
          </a:p>
        </p:txBody>
      </p:sp>
      <p:sp>
        <p:nvSpPr>
          <p:cNvPr id="15" name="Shape 13"/>
          <p:cNvSpPr/>
          <p:nvPr/>
        </p:nvSpPr>
        <p:spPr>
          <a:xfrm>
            <a:off x="7552944" y="1746504"/>
            <a:ext cx="4142232" cy="2935224"/>
          </a:xfrm>
          <a:prstGeom prst="rect">
            <a:avLst/>
          </a:prstGeom>
          <a:solidFill>
            <a:srgbClr val="FFFFFF"/>
          </a:solidFill>
          <a:ln w="12700">
            <a:solidFill>
              <a:srgbClr val="DAD3C2"/>
            </a:solidFill>
            <a:prstDash val="solid"/>
          </a:ln>
        </p:spPr>
      </p:sp>
      <p:pic>
        <p:nvPicPr>
          <p:cNvPr id="16" name="Image 0" descr="unit10-full/img/4th-infantry-division-helicopter-assault-1967.jpg">    </p:cNvPr>
          <p:cNvPicPr>
            <a:picLocks noChangeAspect="1"/>
          </p:cNvPicPr>
          <p:nvPr/>
        </p:nvPicPr>
        <p:blipFill>
          <a:blip r:embed="rId1"/>
          <a:stretch>
            <a:fillRect/>
          </a:stretch>
        </p:blipFill>
        <p:spPr>
          <a:xfrm>
            <a:off x="7589520" y="1855107"/>
            <a:ext cx="4069080" cy="2718018"/>
          </a:xfrm>
          <a:prstGeom prst="rect">
            <a:avLst/>
          </a:prstGeom>
        </p:spPr>
      </p:pic>
      <p:sp>
        <p:nvSpPr>
          <p:cNvPr id="17" name="Text 14"/>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SP5 Robert C. Lafoon, Department of the Army Special Photo Office (DASPO), 1967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National Archives and Records Administration (NARA)</a:t>
            </a:r>
            <a:endParaRPr lang="en-US" sz="800" dirty="0"/>
          </a:p>
        </p:txBody>
      </p:sp>
      <p:sp>
        <p:nvSpPr>
          <p:cNvPr id="18" name="Shape 15"/>
          <p:cNvSpPr/>
          <p:nvPr/>
        </p:nvSpPr>
        <p:spPr>
          <a:xfrm>
            <a:off x="7589520" y="5440680"/>
            <a:ext cx="4069080" cy="713232"/>
          </a:xfrm>
          <a:prstGeom prst="roundRect">
            <a:avLst>
              <a:gd name="adj" fmla="val 7692"/>
            </a:avLst>
          </a:prstGeom>
          <a:solidFill>
            <a:srgbClr val="1A2332"/>
          </a:solidFill>
          <a:ln/>
        </p:spPr>
      </p:sp>
      <p:sp>
        <p:nvSpPr>
          <p:cNvPr id="19" name="Text 16"/>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1"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2"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Generation Gap</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gap reflected fundamental differences between older Americans who experienced the Depression and World War II and younger Americans questioning authority, traditional values, and foreign policy.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Younger Americans who had grown up in postwar prosperity felt freer to challenge the establishment their parents had built and defended.</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Hippie Movement</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Hippies rejected materialism, embraced peace and love, experimented with drugs, and created alternative communities.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They opposed the Vietnam War and promoted environmental awareness, influencing music, fashion, and social attitudes.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Their lifestyle challenged middle-class conformity and sparked both admiration and outrage.</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10-full/img/anti-war-march-pentagon-protest-october-1967.jpg">    </p:cNvPr>
          <p:cNvPicPr>
            <a:picLocks noChangeAspect="1"/>
          </p:cNvPicPr>
          <p:nvPr/>
        </p:nvPicPr>
        <p:blipFill>
          <a:blip r:embed="rId1"/>
          <a:stretch>
            <a:fillRect/>
          </a:stretch>
        </p:blipFill>
        <p:spPr>
          <a:xfrm>
            <a:off x="7589520" y="2014609"/>
            <a:ext cx="4069080" cy="3039094"/>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Johnson White House Photo Office, October 21, 1967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National Archives and Records Administration (NARA)</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Woodstock's Significance</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1969 music festival symbolized counterculture values of peace, music, and community.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Despite logistical problems — rain, inadequate facilities, massive crowds — it demonstrated young Americans' desire for alternative social arrangements.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Woodstock became an iconic moment of 1960s idealism, even as the decade's optimism soon gave way to disillusionment.</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US.84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Dr. Martin Luther King Jr.</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Civil rights leader and anti-war voice</a:t>
            </a:r>
            <a:endParaRPr lang="en-US" sz="1100" dirty="0"/>
          </a:p>
        </p:txBody>
      </p:sp>
      <p:sp>
        <p:nvSpPr>
          <p:cNvPr id="9" name="Text 7"/>
          <p:cNvSpPr/>
          <p:nvPr/>
        </p:nvSpPr>
        <p:spPr>
          <a:xfrm>
            <a:off x="694944" y="2606040"/>
            <a:ext cx="1077163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Publicly opposed the Vietnam War in his 1967 "Beyond Vietnam" speech</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Linked the struggle against poverty at home to the cost of war abroad</a:t>
            </a:r>
            <a:endParaRPr lang="en-US" sz="1300" dirty="0"/>
          </a:p>
        </p:txBody>
      </p:sp>
      <p:sp>
        <p:nvSpPr>
          <p:cNvPr id="10" name="Shape 8"/>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Moral persuasion (nonviolent protest)</a:t>
            </a:r>
            <a:endParaRPr lang="en-US" sz="8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US.84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Gulf of Tonkin Resolution</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U.S. Congress  ·  August 7, 1964</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300" i="1" dirty="0">
                <a:solidFill>
                  <a:srgbClr val="1F2430"/>
                </a:solidFill>
                <a:latin typeface="Georgia" pitchFamily="34" charset="0"/>
                <a:ea typeface="Georgia" pitchFamily="34" charset="-122"/>
                <a:cs typeface="Georgia" pitchFamily="34" charset="-120"/>
              </a:rPr>
              <a:t>"The Congress approves and supports the determination of the President, as Commander in Chief, to take all necessary measures to repel any armed attack against the forces of the United States and to prevent further aggression... The United States is, therefore, prepared, as the President determines, to take all necessary steps, including the use of armed force."</a:t>
            </a:r>
            <a:endParaRPr lang="en-US" sz="13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37360"/>
          </a:xfrm>
          <a:prstGeom prst="roundRect">
            <a:avLst>
              <a:gd name="adj" fmla="val 4211"/>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25296"/>
          </a:xfrm>
          <a:prstGeom prst="rect">
            <a:avLst/>
          </a:prstGeom>
          <a:noFill/>
          <a:ln/>
        </p:spPr>
        <p:txBody>
          <a:bodyPr wrap="square" rtlCol="0" anchor="t">
            <a:normAutofit/>
          </a:bodyPr>
          <a:lstStyle/>
          <a:p>
            <a:pPr indent="0" marL="0">
              <a:lnSpc>
                <a:spcPct val="96000"/>
              </a:lnSpc>
              <a:buNone/>
            </a:pPr>
            <a:r>
              <a:rPr lang="en-US" sz="1050" dirty="0">
                <a:solidFill>
                  <a:srgbClr val="FFFFFF"/>
                </a:solidFill>
                <a:latin typeface="Calibri" pitchFamily="34" charset="0"/>
                <a:ea typeface="Calibri" pitchFamily="34" charset="-122"/>
                <a:cs typeface="Calibri" pitchFamily="34" charset="-120"/>
              </a:rPr>
              <a:t>After reported attacks on U.S. Navy ships in the Gulf of Tonkin, Congress passed this resolution in August 1964. It gave President Johnson broad authority to expand American military involvement in Vietnam without a formal declaration of war — fueling the anti-war activism that helped define the counterculture era.</a:t>
            </a:r>
            <a:endParaRPr lang="en-US" sz="1050" dirty="0"/>
          </a:p>
        </p:txBody>
      </p:sp>
      <p:sp>
        <p:nvSpPr>
          <p:cNvPr id="16" name="Shape 14"/>
          <p:cNvSpPr/>
          <p:nvPr/>
        </p:nvSpPr>
        <p:spPr>
          <a:xfrm>
            <a:off x="7589520" y="3657600"/>
            <a:ext cx="4023360" cy="1325880"/>
          </a:xfrm>
          <a:prstGeom prst="roundRect">
            <a:avLst>
              <a:gd name="adj" fmla="val 5517"/>
            </a:avLst>
          </a:prstGeom>
          <a:solidFill>
            <a:srgbClr val="C9A84C"/>
          </a:solidFill>
          <a:ln/>
        </p:spPr>
      </p:sp>
      <p:sp>
        <p:nvSpPr>
          <p:cNvPr id="17" name="Text 15"/>
          <p:cNvSpPr/>
          <p:nvPr/>
        </p:nvSpPr>
        <p:spPr>
          <a:xfrm>
            <a:off x="7818120" y="377647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078224"/>
            <a:ext cx="3611880" cy="79552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power did the Gulf of Tonkin Resolution grant to the President?</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U.S. Congress</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August 7, 1964</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who wrote this and why before you decide what power it really granted.</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US.84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Analyze competing points of view</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Two Americans watch the same anti-war march in 1967. One sees patriots; one sees traitors. How do I analyze both views fairly?</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Supporters framed protest as democratic participation; critics framed it as undermining the country and the troops.</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To analyze a point of view, I ask what experiences and values shape it — Depression-and-WWII elders valued authority and sacrifice, while postwar youth felt free to question it.</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pick one counterculture symbol (hippies, Woodstock, or protest) and explain how a supporter and a critic would each describe it.</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US.84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700" b="1" dirty="0">
                <a:solidFill>
                  <a:srgbClr val="1A2332"/>
                </a:solidFill>
                <a:latin typeface="Georgia" pitchFamily="34" charset="0"/>
                <a:ea typeface="Georgia" pitchFamily="34" charset="-122"/>
                <a:cs typeface="Georgia" pitchFamily="34" charset="-120"/>
              </a:rPr>
              <a:t>Protest &amp; Counterculture — SAPA Chart</a:t>
            </a:r>
            <a:endParaRPr lang="en-US" sz="2700" dirty="0"/>
          </a:p>
        </p:txBody>
      </p:sp>
      <p:sp>
        <p:nvSpPr>
          <p:cNvPr id="5" name="Shape 3"/>
          <p:cNvSpPr/>
          <p:nvPr/>
        </p:nvSpPr>
        <p:spPr>
          <a:xfrm>
            <a:off x="548640" y="1591056"/>
            <a:ext cx="1199693" cy="365760"/>
          </a:xfrm>
          <a:prstGeom prst="roundRect">
            <a:avLst>
              <a:gd name="adj" fmla="val 20000"/>
            </a:avLst>
          </a:prstGeom>
          <a:solidFill>
            <a:srgbClr val="1A2332"/>
          </a:solidFill>
          <a:ln/>
        </p:spPr>
      </p:sp>
      <p:sp>
        <p:nvSpPr>
          <p:cNvPr id="6" name="Text 4"/>
          <p:cNvSpPr/>
          <p:nvPr/>
        </p:nvSpPr>
        <p:spPr>
          <a:xfrm>
            <a:off x="548640" y="1591056"/>
            <a:ext cx="119969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sp>
      <p:sp>
        <p:nvSpPr>
          <p:cNvPr id="8" name="Text 6"/>
          <p:cNvSpPr/>
          <p:nvPr/>
        </p:nvSpPr>
        <p:spPr>
          <a:xfrm>
            <a:off x="1912925"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18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complete the SAPA chart (Situation — Action — Problem — Action) for THREE forms of 1960s activism: the anti-war movement, the student movement, and the counterculture. For each, identify the Situation (what they opposed), the Action taken (the tactic — marches, teach-ins, sit-ins), the Problem/backlash it met, and the further Action or outcome. Note how the “silent majority” reacted to these movements.</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SAPA chart for three movements, each with all four columns filled, plus one sentence on which movement had the biggest effect on public opinion about Vietnam.</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SAPA chart with one movement pre-filled as a model and a word bank of tactics (teach-in, march, draft-card burning, sit-in). Honors: Analyze how the counterculture and anti-war movements reshaped American culture and politics — what did they change permanently, and what backlash did they trigger?</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printables/unit-10/unit-10-sapa.html</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US.84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What conclusion did Walter Cronkite reach about the Vietnam War?</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America was winning and should continue fighting</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America was losing and should surrender immediately</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war was a stalemate and the only way out was negotiation</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war would be over within weeks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US.84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What conclusion did Walter Cronkite reach about the Vietnam War?</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America was winning and should continue fighting</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America was losing and should surrender immediately</a:t>
            </a:r>
            <a:endParaRPr lang="en-US" sz="1300" dirty="0"/>
          </a:p>
        </p:txBody>
      </p:sp>
      <p:sp>
        <p:nvSpPr>
          <p:cNvPr id="17" name="Shape 15"/>
          <p:cNvSpPr/>
          <p:nvPr/>
        </p:nvSpPr>
        <p:spPr>
          <a:xfrm>
            <a:off x="548640" y="3968496"/>
            <a:ext cx="11064240" cy="566928"/>
          </a:xfrm>
          <a:prstGeom prst="roundRect">
            <a:avLst>
              <a:gd name="adj" fmla="val 9677"/>
            </a:avLst>
          </a:prstGeom>
          <a:solidFill>
            <a:srgbClr val="C9A84C"/>
          </a:solidFill>
          <a:ln w="12700">
            <a:solidFill>
              <a:srgbClr val="F9A825"/>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The war was a stalemate and the only way out was negotiation</a:t>
            </a:r>
            <a:endParaRPr lang="en-US" sz="1300" dirty="0"/>
          </a:p>
        </p:txBody>
      </p:sp>
      <p:sp>
        <p:nvSpPr>
          <p:cNvPr id="21" name="Text 19"/>
          <p:cNvSpPr/>
          <p:nvPr/>
        </p:nvSpPr>
        <p:spPr>
          <a:xfrm>
            <a:off x="11018520" y="3968496"/>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war would be over within weeks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C.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Cronkite concluded the war was "mired in stalemate" and that "the only rational way out then will be to negotiate" — a turning point in public opinion.</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US.84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Different Viewpoints on Social Activism</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Generation Gap</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Hippie Movement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Woodstock's Significance</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Analyze how the counterculture and anti-war movements changed American society. What did they change permanently, and what backlash did they trigger? Argue with evidence.</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Describe the counterculture and the “generation gap” of the 1960s. What did young Americans protest, and how did older Americans react?</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US.85</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Nixon Administration Achievements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Explain significant achievements of President Richard Nixon's administration, including his appeal to the "silent majority" and his major foreign policy actions.</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explain significant achievements of President Richard Nixon's administration, including his appeal to the "silent majority" and his major foreign policy actions.</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US.85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US.84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We just studied 1960s social activism and the counterculture. What was the “generation gap,” and what did young protesters oppose?</a:t>
            </a:r>
            <a:endParaRPr lang="en-US" sz="1350" dirty="0"/>
          </a:p>
        </p:txBody>
      </p:sp>
      <p:sp>
        <p:nvSpPr>
          <p:cNvPr id="11"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US.85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Which communist country did Nixon famously visit in 1972?</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China.</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US.85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The same president who was forced to resign in disgrace also opened relations with communist China, eased tensions with the Soviet Union, and won a landslide by appealing to what he called the “silent majority.”</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Nixon appealed to the “silent majority” — Americans who did not protest but felt unheard. Why can the people who stay quiet sometimes matter more in an election than the ones in the streets?</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Significant Achievements</a:t>
            </a:r>
            <a:endParaRPr lang="en-US" sz="3000" dirty="0"/>
          </a:p>
        </p:txBody>
      </p:sp>
      <p:sp>
        <p:nvSpPr>
          <p:cNvPr id="5" name="Shape 3"/>
          <p:cNvSpPr/>
          <p:nvPr/>
        </p:nvSpPr>
        <p:spPr>
          <a:xfrm>
            <a:off x="10765231" y="502920"/>
            <a:ext cx="146304" cy="146304"/>
          </a:xfrm>
          <a:prstGeom prst="ellipse">
            <a:avLst/>
          </a:prstGeom>
          <a:solidFill>
            <a:srgbClr val="C62828"/>
          </a:solidFill>
          <a:ln/>
        </p:spPr>
      </p:sp>
      <p:sp>
        <p:nvSpPr>
          <p:cNvPr id="6" name="Shape 4"/>
          <p:cNvSpPr/>
          <p:nvPr/>
        </p:nvSpPr>
        <p:spPr>
          <a:xfrm>
            <a:off x="11057839" y="502920"/>
            <a:ext cx="146304" cy="146304"/>
          </a:xfrm>
          <a:prstGeom prst="ellipse">
            <a:avLst/>
          </a:prstGeom>
          <a:solidFill>
            <a:srgbClr val="A7BACB"/>
          </a:solidFill>
          <a:ln/>
        </p:spPr>
      </p:sp>
      <p:sp>
        <p:nvSpPr>
          <p:cNvPr id="7" name="Shape 5"/>
          <p:cNvSpPr/>
          <p:nvPr/>
        </p:nvSpPr>
        <p:spPr>
          <a:xfrm>
            <a:off x="11350447" y="502920"/>
            <a:ext cx="146304" cy="146304"/>
          </a:xfrm>
          <a:prstGeom prst="ellipse">
            <a:avLst/>
          </a:prstGeom>
          <a:solidFill>
            <a:srgbClr val="A7BACB"/>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sp>
      <p:sp>
        <p:nvSpPr>
          <p:cNvPr id="10" name="Text 8"/>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Nixon's achievements spanned multiple areas.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In foreign policy, he pursued détente with the Soviet Union, opened relations with China, and signed the SALT I Treaty.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In domestic policy, he created the Environmental Protection Agency, saw Title IX passed for gender equality in education, and enforced desegregation.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In economic policy, he imposed temporary wage and price controls and ended the gold standard.</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In social policy, the 26th Amendment lowered the voting age to 18.</a:t>
            </a:r>
            <a:endParaRPr lang="en-US" sz="1700" dirty="0"/>
          </a:p>
        </p:txBody>
      </p:sp>
      <p:sp>
        <p:nvSpPr>
          <p:cNvPr id="11" name="Shape 9"/>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2" name="Text 10"/>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3" name="Text 11"/>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President Nixon appealed to the “silent majority” by ___, and in foreign policy he ___ in order to ___.</a:t>
            </a:r>
            <a:endParaRPr lang="en-US" sz="11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"Silent Majority" Concept</a:t>
            </a:r>
            <a:endParaRPr lang="en-US" sz="3000" dirty="0"/>
          </a:p>
        </p:txBody>
      </p:sp>
      <p:sp>
        <p:nvSpPr>
          <p:cNvPr id="5" name="Shape 3"/>
          <p:cNvSpPr/>
          <p:nvPr/>
        </p:nvSpPr>
        <p:spPr>
          <a:xfrm>
            <a:off x="10765231" y="502920"/>
            <a:ext cx="146304" cy="146304"/>
          </a:xfrm>
          <a:prstGeom prst="ellipse">
            <a:avLst/>
          </a:prstGeom>
          <a:solidFill>
            <a:srgbClr val="A7BACB"/>
          </a:solidFill>
          <a:ln/>
        </p:spPr>
      </p:sp>
      <p:sp>
        <p:nvSpPr>
          <p:cNvPr id="6" name="Shape 4"/>
          <p:cNvSpPr/>
          <p:nvPr/>
        </p:nvSpPr>
        <p:spPr>
          <a:xfrm>
            <a:off x="11057839" y="502920"/>
            <a:ext cx="146304" cy="146304"/>
          </a:xfrm>
          <a:prstGeom prst="ellipse">
            <a:avLst/>
          </a:prstGeom>
          <a:solidFill>
            <a:srgbClr val="C62828"/>
          </a:solidFill>
          <a:ln/>
        </p:spPr>
      </p:sp>
      <p:sp>
        <p:nvSpPr>
          <p:cNvPr id="7" name="Shape 5"/>
          <p:cNvSpPr/>
          <p:nvPr/>
        </p:nvSpPr>
        <p:spPr>
          <a:xfrm>
            <a:off x="11350447" y="502920"/>
            <a:ext cx="146304" cy="146304"/>
          </a:xfrm>
          <a:prstGeom prst="ellipse">
            <a:avLst/>
          </a:prstGeom>
          <a:solidFill>
            <a:srgbClr val="A7BACB"/>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sp>
      <p:sp>
        <p:nvSpPr>
          <p:cNvPr id="10" name="Text 8"/>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Nixon appealed to Americans who didn't participate in protests but supported traditional values and law and order.</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strategy targeted middle-class voters frustrated with civil rights demonstrations, antiwar protests, and counterculture movements.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It helped Nixon win working-class Democratic voters and reshape Republican electoral strategy for decades, creating a coalition that would dominate American politics.</a:t>
            </a:r>
            <a:endParaRPr lang="en-US" sz="1700" dirty="0"/>
          </a:p>
        </p:txBody>
      </p:sp>
      <p:sp>
        <p:nvSpPr>
          <p:cNvPr id="11" name="Text 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1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Major Foreign Policy Initiatives</a:t>
            </a:r>
            <a:endParaRPr lang="en-US" sz="3000" dirty="0"/>
          </a:p>
        </p:txBody>
      </p:sp>
      <p:sp>
        <p:nvSpPr>
          <p:cNvPr id="5" name="Shape 3"/>
          <p:cNvSpPr/>
          <p:nvPr/>
        </p:nvSpPr>
        <p:spPr>
          <a:xfrm>
            <a:off x="10765231" y="502920"/>
            <a:ext cx="146304" cy="146304"/>
          </a:xfrm>
          <a:prstGeom prst="ellipse">
            <a:avLst/>
          </a:prstGeom>
          <a:solidFill>
            <a:srgbClr val="A7BACB"/>
          </a:solidFill>
          <a:ln/>
        </p:spPr>
      </p:sp>
      <p:sp>
        <p:nvSpPr>
          <p:cNvPr id="6" name="Shape 4"/>
          <p:cNvSpPr/>
          <p:nvPr/>
        </p:nvSpPr>
        <p:spPr>
          <a:xfrm>
            <a:off x="11057839" y="502920"/>
            <a:ext cx="146304" cy="146304"/>
          </a:xfrm>
          <a:prstGeom prst="ellipse">
            <a:avLst/>
          </a:prstGeom>
          <a:solidFill>
            <a:srgbClr val="A7BACB"/>
          </a:solidFill>
          <a:ln/>
        </p:spPr>
      </p:sp>
      <p:sp>
        <p:nvSpPr>
          <p:cNvPr id="7" name="Shape 5"/>
          <p:cNvSpPr/>
          <p:nvPr/>
        </p:nvSpPr>
        <p:spPr>
          <a:xfrm>
            <a:off x="11350447" y="502920"/>
            <a:ext cx="146304" cy="146304"/>
          </a:xfrm>
          <a:prstGeom prst="ellipse">
            <a:avLst/>
          </a:prstGeom>
          <a:solidFill>
            <a:srgbClr val="C62828"/>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sp>
      <p:sp>
        <p:nvSpPr>
          <p:cNvPr id="10" name="Text 8"/>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China Opening: Secret diplomacy led to Nixon's historic 1972 China visit, establishing diplomatic relations and strategically isolating the Soviet Union.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Détente: Reduced tensions with the USSR through arms control negotiations and increased trade.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Vietnam: The Vietnamization policy gradually withdrew American troops while maintaining support for South Vietnam, though the country ultimately fell in 1975.</a:t>
            </a:r>
            <a:endParaRPr lang="en-US" sz="1700" dirty="0"/>
          </a:p>
        </p:txBody>
      </p:sp>
      <p:sp>
        <p:nvSpPr>
          <p:cNvPr id="11" name="Text 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1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US.85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President Richard Nixon</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37th President of the United States</a:t>
            </a:r>
            <a:endParaRPr lang="en-US" sz="1100" dirty="0"/>
          </a:p>
        </p:txBody>
      </p:sp>
      <p:sp>
        <p:nvSpPr>
          <p:cNvPr id="9" name="Text 7"/>
          <p:cNvSpPr/>
          <p:nvPr/>
        </p:nvSpPr>
        <p:spPr>
          <a:xfrm>
            <a:off x="694944" y="2606040"/>
            <a:ext cx="1077163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Opened diplomatic relations with China with his historic 1972 visit</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Pursued détente and signed the SALT I arms-control treaty with the USSR</a:t>
            </a:r>
            <a:endParaRPr lang="en-US" sz="1300" dirty="0"/>
          </a:p>
        </p:txBody>
      </p:sp>
      <p:sp>
        <p:nvSpPr>
          <p:cNvPr id="10" name="Shape 8"/>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Diplomacy (Cold War realpolitik)</a:t>
            </a:r>
            <a:endParaRPr lang="en-US" sz="8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US.85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Silent Majority Speech</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Argumentation</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Richard Nixon  ·  November 3, 1969</a:t>
            </a:r>
            <a:endParaRPr lang="en-US" sz="1200" dirty="0"/>
          </a:p>
        </p:txBody>
      </p:sp>
      <p:sp>
        <p:nvSpPr>
          <p:cNvPr id="8" name="Shape 6"/>
          <p:cNvSpPr/>
          <p:nvPr/>
        </p:nvSpPr>
        <p:spPr>
          <a:xfrm>
            <a:off x="512064" y="1700784"/>
            <a:ext cx="3273552" cy="2606040"/>
          </a:xfrm>
          <a:prstGeom prst="rect">
            <a:avLst/>
          </a:prstGeom>
          <a:solidFill>
            <a:srgbClr val="FFFFFF"/>
          </a:solidFill>
          <a:ln w="12700">
            <a:solidFill>
              <a:srgbClr val="DAD3C2"/>
            </a:solidFill>
            <a:prstDash val="solid"/>
          </a:ln>
        </p:spPr>
      </p:sp>
      <p:pic>
        <p:nvPicPr>
          <p:cNvPr id="9" name="Image 0" descr="unit10-full/img/nixon-meets-mao-zedong-beijing-1972.jpg">    </p:cNvPr>
          <p:cNvPicPr>
            <a:picLocks noChangeAspect="1"/>
          </p:cNvPicPr>
          <p:nvPr/>
        </p:nvPicPr>
        <p:blipFill>
          <a:blip r:embed="rId1"/>
          <a:stretch>
            <a:fillRect/>
          </a:stretch>
        </p:blipFill>
        <p:spPr>
          <a:xfrm>
            <a:off x="548640" y="1758648"/>
            <a:ext cx="3200400" cy="2490311"/>
          </a:xfrm>
          <a:prstGeom prst="rect">
            <a:avLst/>
          </a:prstGeom>
        </p:spPr>
      </p:pic>
      <p:sp>
        <p:nvSpPr>
          <p:cNvPr id="10" name="Text 7"/>
          <p:cNvSpPr/>
          <p:nvPr/>
        </p:nvSpPr>
        <p:spPr>
          <a:xfrm>
            <a:off x="548640" y="4325112"/>
            <a:ext cx="3200400" cy="658368"/>
          </a:xfrm>
          <a:prstGeom prst="rect">
            <a:avLst/>
          </a:prstGeom>
          <a:noFill/>
          <a:ln/>
        </p:spPr>
        <p:txBody>
          <a:bodyPr wrap="square" rtlCol="0" anchor="t"/>
          <a:lstStyle/>
          <a:p>
            <a:pPr algn="l" indent="0" marL="0">
              <a:lnSpc>
                <a:spcPct val="100000"/>
              </a:lnSpc>
              <a:buNone/>
            </a:pPr>
            <a:pPr algn="l" indent="0" marL="0">
              <a:lnSpc>
                <a:spcPct val="100000"/>
              </a:lnSpc>
              <a:buNone/>
            </a:pPr>
            <a:r>
              <a:rPr lang="en-US" sz="700" i="1" dirty="0">
                <a:solidFill>
                  <a:srgbClr val="5C6470"/>
                </a:solidFill>
                <a:latin typeface="Calibri" pitchFamily="34" charset="0"/>
                <a:ea typeface="Calibri" pitchFamily="34" charset="-122"/>
                <a:cs typeface="Calibri" pitchFamily="34" charset="-120"/>
              </a:rPr>
              <a:t>Nixon White House Photographic Office, February 21, 1972  </a:t>
            </a:r>
            <a:pPr algn="l" indent="0" marL="0">
              <a:lnSpc>
                <a:spcPct val="100000"/>
              </a:lnSpc>
              <a:buNone/>
            </a:pPr>
            <a:r>
              <a:rPr lang="en-US" sz="7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National Archives and Records Administration (NARA 194759); via Wikimedia Commons</a:t>
            </a:r>
            <a:endParaRPr lang="en-US" sz="70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sp>
      <p:sp>
        <p:nvSpPr>
          <p:cNvPr id="12" name="Text 9"/>
          <p:cNvSpPr/>
          <p:nvPr/>
        </p:nvSpPr>
        <p:spPr>
          <a:xfrm>
            <a:off x="768096" y="1865376"/>
            <a:ext cx="2761488" cy="438912"/>
          </a:xfrm>
          <a:prstGeom prst="rect">
            <a:avLst/>
          </a:prstGeom>
          <a:noFill/>
          <a:ln/>
        </p:spPr>
        <p:txBody>
          <a:bodyPr wrap="square" rtlCol="0" anchor="ctr"/>
          <a:lstStyle/>
          <a:p>
            <a:pPr indent="0" marL="0">
              <a:lnSpc>
                <a:spcPct val="95000"/>
              </a:lnSpc>
              <a:buNone/>
            </a:pPr>
            <a:r>
              <a:rPr lang="en-US" sz="950" b="1" spc="150" kern="0" dirty="0">
                <a:solidFill>
                  <a:srgbClr val="1A2332"/>
                </a:solidFill>
                <a:latin typeface="Trebuchet MS" pitchFamily="34" charset="0"/>
                <a:ea typeface="Trebuchet MS" pitchFamily="34" charset="-122"/>
                <a:cs typeface="Trebuchet MS" pitchFamily="34" charset="-120"/>
              </a:rPr>
              <a:t>ZOOM IN  </a:t>
            </a:r>
            <a:pPr indent="0" marL="0">
              <a:lnSpc>
                <a:spcPct val="95000"/>
              </a:lnSpc>
              <a:buNone/>
            </a:pP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sp>
      <p:sp>
        <p:nvSpPr>
          <p:cNvPr id="14" name="Shape 11"/>
          <p:cNvSpPr/>
          <p:nvPr/>
        </p:nvSpPr>
        <p:spPr>
          <a:xfrm>
            <a:off x="3931920" y="1737360"/>
            <a:ext cx="91440" cy="3246120"/>
          </a:xfrm>
          <a:prstGeom prst="rect">
            <a:avLst/>
          </a:prstGeom>
          <a:solidFill>
            <a:srgbClr val="C9A84C"/>
          </a:solidFill>
          <a:ln/>
        </p:spPr>
      </p:sp>
      <p:sp>
        <p:nvSpPr>
          <p:cNvPr id="15" name="Text 12"/>
          <p:cNvSpPr/>
          <p:nvPr/>
        </p:nvSpPr>
        <p:spPr>
          <a:xfrm>
            <a:off x="4160520" y="1920240"/>
            <a:ext cx="3200400" cy="2880360"/>
          </a:xfrm>
          <a:prstGeom prst="rect">
            <a:avLst/>
          </a:prstGeom>
          <a:noFill/>
          <a:ln/>
        </p:spPr>
        <p:txBody>
          <a:bodyPr wrap="square" rtlCol="0" anchor="t"/>
          <a:lstStyle/>
          <a:p>
            <a:pPr indent="0" marL="0">
              <a:lnSpc>
                <a:spcPct val="112000"/>
              </a:lnSpc>
              <a:buNone/>
            </a:pPr>
            <a:r>
              <a:rPr lang="en-US" sz="1250" i="1" dirty="0">
                <a:solidFill>
                  <a:srgbClr val="1F2430"/>
                </a:solidFill>
                <a:latin typeface="Georgia" pitchFamily="34" charset="0"/>
                <a:ea typeface="Georgia" pitchFamily="34" charset="-122"/>
                <a:cs typeface="Georgia" pitchFamily="34" charset="-120"/>
              </a:rPr>
              <a:t>"And so tonight — to you, the great silent majority of my fellow Americans — I ask for your support. I pledged in my campaign for the Presidency to end the war in a way that we could win the peace. I have initiated a plan of action which will enable me to keep that pledge."</a:t>
            </a:r>
            <a:endParaRPr lang="en-US" sz="1250" dirty="0"/>
          </a:p>
        </p:txBody>
      </p:sp>
      <p:sp>
        <p:nvSpPr>
          <p:cNvPr id="16" name="Shape 13"/>
          <p:cNvSpPr/>
          <p:nvPr/>
        </p:nvSpPr>
        <p:spPr>
          <a:xfrm>
            <a:off x="7589520" y="1737360"/>
            <a:ext cx="4023360" cy="1463040"/>
          </a:xfrm>
          <a:prstGeom prst="roundRect">
            <a:avLst>
              <a:gd name="adj" fmla="val 5000"/>
            </a:avLst>
          </a:prstGeom>
          <a:solidFill>
            <a:srgbClr val="1A2332"/>
          </a:solidFill>
          <a:ln/>
        </p:spPr>
      </p:sp>
      <p:sp>
        <p:nvSpPr>
          <p:cNvPr id="17" name="Text 14"/>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950976"/>
          </a:xfrm>
          <a:prstGeom prst="rect">
            <a:avLst/>
          </a:prstGeom>
          <a:noFill/>
          <a:ln/>
        </p:spPr>
        <p:txBody>
          <a:bodyPr wrap="square" rtlCol="0" anchor="t">
            <a:normAutofit/>
          </a:bodyPr>
          <a:lstStyle/>
          <a:p>
            <a:pPr indent="0" marL="0">
              <a:lnSpc>
                <a:spcPct val="96000"/>
              </a:lnSpc>
              <a:buNone/>
            </a:pPr>
            <a:r>
              <a:rPr lang="en-US" sz="1050" dirty="0">
                <a:solidFill>
                  <a:srgbClr val="FFFFFF"/>
                </a:solidFill>
                <a:latin typeface="Calibri" pitchFamily="34" charset="0"/>
                <a:ea typeface="Calibri" pitchFamily="34" charset="-122"/>
                <a:cs typeface="Calibri" pitchFamily="34" charset="-120"/>
              </a:rPr>
              <a:t>In November 1969, with anti-war protests growing, Nixon addressed the nation to defend his Vietnam policy. Rather than speak to the protesters, he appealed to what he called the "great silent majority" — ordinary Americans who did not march but, he claimed, quietly supported him.</a:t>
            </a:r>
            <a:endParaRPr lang="en-US" sz="1050" dirty="0"/>
          </a:p>
        </p:txBody>
      </p:sp>
      <p:sp>
        <p:nvSpPr>
          <p:cNvPr id="19" name="Shape 16"/>
          <p:cNvSpPr/>
          <p:nvPr/>
        </p:nvSpPr>
        <p:spPr>
          <a:xfrm>
            <a:off x="7589520" y="3383280"/>
            <a:ext cx="4023360" cy="1600200"/>
          </a:xfrm>
          <a:prstGeom prst="roundRect">
            <a:avLst>
              <a:gd name="adj" fmla="val 4571"/>
            </a:avLst>
          </a:prstGeom>
          <a:solidFill>
            <a:srgbClr val="C9A84C"/>
          </a:solidFill>
          <a:ln/>
        </p:spPr>
      </p:sp>
      <p:sp>
        <p:nvSpPr>
          <p:cNvPr id="20" name="Text 17"/>
          <p:cNvSpPr/>
          <p:nvPr/>
        </p:nvSpPr>
        <p:spPr>
          <a:xfrm>
            <a:off x="7818120" y="350215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3803904"/>
            <a:ext cx="3611880" cy="106984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Who was Nixon appealing to in this speech?</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sp>
      <p:sp>
        <p:nvSpPr>
          <p:cNvPr id="23" name="Shape 20"/>
          <p:cNvSpPr/>
          <p:nvPr/>
        </p:nvSpPr>
        <p:spPr>
          <a:xfrm>
            <a:off x="548640" y="5120640"/>
            <a:ext cx="2423160" cy="841248"/>
          </a:xfrm>
          <a:prstGeom prst="rect">
            <a:avLst/>
          </a:prstGeom>
          <a:solidFill>
            <a:srgbClr val="002858"/>
          </a:solidFill>
          <a:ln/>
        </p:spPr>
      </p:sp>
      <p:sp>
        <p:nvSpPr>
          <p:cNvPr id="24" name="Text 21"/>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President Richard Nixon</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November 3, 1969</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who Nixon is addressing and why before you judge the speech.</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US.85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3352648" y="1645920"/>
            <a:ext cx="5486400" cy="1874520"/>
          </a:xfrm>
          <a:prstGeom prst="rect">
            <a:avLst/>
          </a:prstGeom>
          <a:solidFill>
            <a:srgbClr val="FFFFFF"/>
          </a:solidFill>
          <a:ln w="12700">
            <a:solidFill>
              <a:srgbClr val="DAD3C2"/>
            </a:solidFill>
            <a:prstDash val="solid"/>
          </a:ln>
        </p:spPr>
      </p:sp>
      <p:sp>
        <p:nvSpPr>
          <p:cNvPr id="6" name="Shape 4"/>
          <p:cNvSpPr/>
          <p:nvPr/>
        </p:nvSpPr>
        <p:spPr>
          <a:xfrm>
            <a:off x="3352648" y="1645920"/>
            <a:ext cx="5486400" cy="676656"/>
          </a:xfrm>
          <a:prstGeom prst="rect">
            <a:avLst/>
          </a:prstGeom>
          <a:solidFill>
            <a:srgbClr val="1A2332"/>
          </a:solidFill>
          <a:ln/>
        </p:spPr>
      </p:sp>
      <p:sp>
        <p:nvSpPr>
          <p:cNvPr id="7" name="Text 5"/>
          <p:cNvSpPr/>
          <p:nvPr/>
        </p:nvSpPr>
        <p:spPr>
          <a:xfrm>
            <a:off x="3489808"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Silent Majority</a:t>
            </a:r>
            <a:endParaRPr lang="en-US" sz="1350" dirty="0"/>
          </a:p>
        </p:txBody>
      </p:sp>
      <p:sp>
        <p:nvSpPr>
          <p:cNvPr id="8" name="Text 6"/>
          <p:cNvSpPr/>
          <p:nvPr/>
        </p:nvSpPr>
        <p:spPr>
          <a:xfrm>
            <a:off x="6507328"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Mayoría Silenciosa</a:t>
            </a:r>
            <a:endParaRPr lang="en-US" sz="1000" dirty="0"/>
          </a:p>
        </p:txBody>
      </p:sp>
      <p:sp>
        <p:nvSpPr>
          <p:cNvPr id="9" name="Shape 7"/>
          <p:cNvSpPr/>
          <p:nvPr/>
        </p:nvSpPr>
        <p:spPr>
          <a:xfrm>
            <a:off x="3471520"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3380080"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SM</a:t>
            </a:r>
            <a:endParaRPr lang="en-US" sz="1300" dirty="0"/>
          </a:p>
        </p:txBody>
      </p:sp>
      <p:sp>
        <p:nvSpPr>
          <p:cNvPr id="11" name="Text 9"/>
          <p:cNvSpPr/>
          <p:nvPr/>
        </p:nvSpPr>
        <p:spPr>
          <a:xfrm>
            <a:off x="4029304" y="2395728"/>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Term used by President Nixon to describe mainstream, middle-class Americans who he claimed supported his policies but were less vocal than anti-war protesters and counterculture activists.</a:t>
            </a:r>
            <a:endParaRPr lang="en-US" sz="1100" dirty="0"/>
          </a:p>
        </p:txBody>
      </p:sp>
      <p:sp>
        <p:nvSpPr>
          <p:cNvPr id="12" name="Text 10"/>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US.85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Explain a leader's political strategy</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Nixon says he speaks for a "silent majority." How do I explain what that strategy was and why it worked?</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Nixon appealed to Americans who did not protest but valued law, order, and tradition.</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To explain a strategy, I identify the audience Nixon targeted (frustrated middle-class voters) and the goal (winning support without answering the protesters directly).</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explain in one sentence how the "silent majority" appeal helped Nixon build a lasting political coalition.</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US.85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Nixon's Foreign Policy — Cause &amp; Effect Chart</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Nixon's Silent Majority speech excerpt, complete the Cause &amp; Effect organizer for Nixon's major foreign-policy moves. In CAUSES, list the Cold War problems Nixon faced (the Vietnam War, tension with the USSR, an isolated China). In EFFECTS, trace his responses — the 1972 opening to China, détente and SALT I with the Soviets, and Vietnamization. Finish with a claim about how Nixon used one communist power against another.</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Cause &amp; Effect organizer (3+ causes, 3+ effects) plus a one-sentence claim on how Nixon's China opening changed the balance of the Cold War.</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Organizer with a word bank (détente, SALT I, China visit, Vietnamization, silent majority) to place. Honors: Evaluate whether Nixon's foreign policy achievements outweigh the damage of Watergate. Argue with evidence.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printables/unit-10/unit-10-cause-effect.html</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US.85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Who was Nixon appealing to in this speech?</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Anti-war protestors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Military leaders only</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Ordinary Americans who quietly supported his Vietnam policies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Foreign governments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US.85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Who was Nixon appealing to in this speech?</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Anti-war protestors</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Military leaders only</a:t>
            </a:r>
            <a:endParaRPr lang="en-US" sz="1300" dirty="0"/>
          </a:p>
        </p:txBody>
      </p:sp>
      <p:sp>
        <p:nvSpPr>
          <p:cNvPr id="17" name="Shape 15"/>
          <p:cNvSpPr/>
          <p:nvPr/>
        </p:nvSpPr>
        <p:spPr>
          <a:xfrm>
            <a:off x="548640" y="3968496"/>
            <a:ext cx="11064240" cy="566928"/>
          </a:xfrm>
          <a:prstGeom prst="roundRect">
            <a:avLst>
              <a:gd name="adj" fmla="val 9677"/>
            </a:avLst>
          </a:prstGeom>
          <a:solidFill>
            <a:srgbClr val="C9A84C"/>
          </a:solidFill>
          <a:ln w="12700">
            <a:solidFill>
              <a:srgbClr val="F9A825"/>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Ordinary Americans who quietly supported his Vietnam policies</a:t>
            </a:r>
            <a:endParaRPr lang="en-US" sz="1300" dirty="0"/>
          </a:p>
        </p:txBody>
      </p:sp>
      <p:sp>
        <p:nvSpPr>
          <p:cNvPr id="21" name="Text 19"/>
          <p:cNvSpPr/>
          <p:nvPr/>
        </p:nvSpPr>
        <p:spPr>
          <a:xfrm>
            <a:off x="11018520" y="3968496"/>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Foreign governments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C.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Nixon directly addresses "the great silent majority of my fellow Americans," seeking support from those who did not join vocal protests but supported his approach.</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US.85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Significant Achievements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"Silent Majority" Concept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Major Foreign Policy Initiatives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150" i="1" dirty="0">
                <a:solidFill>
                  <a:srgbClr val="1F2430"/>
                </a:solidFill>
                <a:latin typeface="Calibri" pitchFamily="34" charset="0"/>
                <a:ea typeface="Calibri" pitchFamily="34" charset="-122"/>
                <a:cs typeface="Calibri" pitchFamily="34" charset="-120"/>
              </a:rPr>
              <a:t>Evaluate whether Nixon's foreign-policy achievements outweigh the damage of Watergate to his legacy. Defend your position with evidence.</a:t>
            </a:r>
            <a:endParaRPr lang="en-US" sz="11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3</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who Nixon meant by the “silent majority,” and describe his two major foreign-policy achievements.</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US.86</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Watergate Scandal</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Examine the Watergate scandal, including: Background of the break-in, Changing role of media and journalism, Controversy surrounding President Gerald Ford's pardon, Legacy of distrust, United States v. Nixon.</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examine the Watergate scandal, including the background of the break-in, the changing role of media, President Ford's pardon controversy, the legacy of distrust, and United States v. Nixon.</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US.86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US.85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In the last standard we studied Nixon's achievements. What were his two biggest foreign-policy moves?</a:t>
            </a:r>
            <a:endParaRPr lang="en-US" sz="1350" dirty="0"/>
          </a:p>
        </p:txBody>
      </p:sp>
      <p:sp>
        <p:nvSpPr>
          <p:cNvPr id="11"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US.86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scandal forced President Nixon to resign in 1974?</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The Watergate scandal.</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US.86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A break-in at an office building led, step by step, to the only resignation of a U.S. president in history — and proved that in America, not even the president is above the law.</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When a president breaks the law, who is powerful enough to hold him accountable — the courts, Congress, the press, or the voters? Watergate tested all four.</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Break-in Circumstances</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On June 17, 1972, five men were arrested breaking into Democratic National Committee headquarters at the Watergate complex.</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Initial investigations revealed connections to Nixon's reelection campaign (CREEP) and White House officials, suggesting political espionage rather than a simple burglary.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cover-up that followed would prove more damaging than the original crime.</a:t>
            </a:r>
            <a:endParaRPr lang="en-US" sz="1700" dirty="0"/>
          </a:p>
        </p:txBody>
      </p:sp>
      <p:sp>
        <p:nvSpPr>
          <p:cNvPr id="12" name="Shape 10"/>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The Watergate scandal began when ___, and it ended Nixon's presidency because ___.</a:t>
            </a:r>
            <a:endParaRPr lang="en-US" sz="115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Media's Changing Role</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Washington Post reporters Bob Woodward and Carl Bernstein conducted persistent investigative journalism, following money trails and cultivating sources (including "Deep Throat," later revealed as FBI Deputy Director Mark Felt).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Television coverage brought congressional hearings into American homes, demonstrating the media's power to hold government accountable and establishing investigative journalism as a crucial democratic institution.</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United States v. Nixon</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Supreme Court unanimously ruled that executive privilege couldn't override judicial subpoenas for criminal proceedings.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Nixon had to surrender White House tapes to prosecutors.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landmark decision established limits on presidential power and affirmed that no one, including the president, is above the law — a fundamental principle of American constitutional government.</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Ford's Pardon and Legacy of Distrust</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President Ford's unconditional pardon of Nixon (September 1974) sparked outrage among Americans seeking accountability.</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Supporters argued it was necessary to heal the nation; critics claimed it established double standards of justice.</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Watergate fundamentally altered Americans' relationship with government, creating lasting cynicism.</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Public trust fell from 73% in 1958 to 36% by 1974, influencing political culture for generations.</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10-full/img/nixon-boards-army-one-helicopter-1974.jpg">    </p:cNvPr>
          <p:cNvPicPr>
            <a:picLocks noChangeAspect="1"/>
          </p:cNvPicPr>
          <p:nvPr/>
        </p:nvPicPr>
        <p:blipFill>
          <a:blip r:embed="rId1"/>
          <a:stretch>
            <a:fillRect/>
          </a:stretch>
        </p:blipFill>
        <p:spPr>
          <a:xfrm>
            <a:off x="8446866" y="1783080"/>
            <a:ext cx="2354388" cy="3502152"/>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Ollie Atkins, White House Chief Photographer, August 9, 1974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Executive Office of the President of the United States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US.86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Bob Woodward and Carl Bernstein</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Washington Post investigative reporters</a:t>
            </a:r>
            <a:endParaRPr lang="en-US" sz="1100" dirty="0"/>
          </a:p>
        </p:txBody>
      </p:sp>
      <p:sp>
        <p:nvSpPr>
          <p:cNvPr id="9" name="Text 7"/>
          <p:cNvSpPr/>
          <p:nvPr/>
        </p:nvSpPr>
        <p:spPr>
          <a:xfrm>
            <a:off x="694944" y="2606040"/>
            <a:ext cx="1077163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Exposed the Watergate cover-up through persistent investigative reporting</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Cultivated the secret source "Deep Throat" (FBI official Mark Felt)</a:t>
            </a:r>
            <a:endParaRPr lang="en-US" sz="1300" dirty="0"/>
          </a:p>
        </p:txBody>
      </p:sp>
      <p:sp>
        <p:nvSpPr>
          <p:cNvPr id="10" name="Shape 8"/>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Investigative journalism (accountability reporting)</a:t>
            </a:r>
            <a:endParaRPr lang="en-US" sz="8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US.86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Resignation Speech</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Sourcing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Richard Nixon  ·  August 8, 1974</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"I have never been a quitter. To leave office before my term is completed is abhorrent to every instinct in my body. But as President, I must put the interest of America first... Therefore, I shall resign the Presidency effective at noon tomorrow. Vice President Ford will be sworn in as President."</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463040"/>
          </a:xfrm>
          <a:prstGeom prst="roundRect">
            <a:avLst>
              <a:gd name="adj" fmla="val 5000"/>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950976"/>
          </a:xfrm>
          <a:prstGeom prst="rect">
            <a:avLst/>
          </a:prstGeom>
          <a:noFill/>
          <a:ln/>
        </p:spPr>
        <p:txBody>
          <a:bodyPr wrap="square" rtlCol="0" anchor="t">
            <a:normAutofit/>
          </a:bodyPr>
          <a:lstStyle/>
          <a:p>
            <a:pPr indent="0" marL="0">
              <a:lnSpc>
                <a:spcPct val="96000"/>
              </a:lnSpc>
              <a:buNone/>
            </a:pPr>
            <a:r>
              <a:rPr lang="en-US" sz="1050" dirty="0">
                <a:solidFill>
                  <a:srgbClr val="FFFFFF"/>
                </a:solidFill>
                <a:latin typeface="Calibri" pitchFamily="34" charset="0"/>
                <a:ea typeface="Calibri" pitchFamily="34" charset="-122"/>
                <a:cs typeface="Calibri" pitchFamily="34" charset="-120"/>
              </a:rPr>
              <a:t>Facing near-certain impeachment after the release of the "smoking gun" tape, Nixon became the first U.S. president to resign. In this televised address, he explained his decision to the nation while insisting he had acted in the country's interest.</a:t>
            </a:r>
            <a:endParaRPr lang="en-US" sz="1050" dirty="0"/>
          </a:p>
        </p:txBody>
      </p:sp>
      <p:sp>
        <p:nvSpPr>
          <p:cNvPr id="16" name="Shape 14"/>
          <p:cNvSpPr/>
          <p:nvPr/>
        </p:nvSpPr>
        <p:spPr>
          <a:xfrm>
            <a:off x="7589520" y="3383280"/>
            <a:ext cx="4023360" cy="1600200"/>
          </a:xfrm>
          <a:prstGeom prst="roundRect">
            <a:avLst>
              <a:gd name="adj" fmla="val 4571"/>
            </a:avLst>
          </a:prstGeom>
          <a:solidFill>
            <a:srgbClr val="C9A84C"/>
          </a:solidFill>
          <a:ln/>
        </p:spPr>
      </p:sp>
      <p:sp>
        <p:nvSpPr>
          <p:cNvPr id="17" name="Text 15"/>
          <p:cNvSpPr/>
          <p:nvPr/>
        </p:nvSpPr>
        <p:spPr>
          <a:xfrm>
            <a:off x="7818120" y="350215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3803904"/>
            <a:ext cx="3611880" cy="106984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Why does Nixon say he is resigning?</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President Richard Nixon</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August 8, 1974</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 a resignation speech is meant to shape how history remembers him.</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US.86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874520"/>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Watergate Scandal</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Escándalo Watergate</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WS</a:t>
            </a:r>
            <a:endParaRPr lang="en-US" sz="1300" dirty="0"/>
          </a:p>
        </p:txBody>
      </p:sp>
      <p:sp>
        <p:nvSpPr>
          <p:cNvPr id="11" name="Text 9"/>
          <p:cNvSpPr/>
          <p:nvPr/>
        </p:nvSpPr>
        <p:spPr>
          <a:xfrm>
            <a:off x="1225296" y="2395728"/>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Political scandal in which Nixon administration officials broke into Democratic National Committee headquarters and Nixon attempted to cover it up, leading to his resignation in 1974.</a:t>
            </a:r>
            <a:endParaRPr lang="en-US" sz="1100" dirty="0"/>
          </a:p>
        </p:txBody>
      </p:sp>
      <p:sp>
        <p:nvSpPr>
          <p:cNvPr id="12" name="Shape 10"/>
          <p:cNvSpPr/>
          <p:nvPr/>
        </p:nvSpPr>
        <p:spPr>
          <a:xfrm>
            <a:off x="6263640" y="1645920"/>
            <a:ext cx="5486400" cy="1874520"/>
          </a:xfrm>
          <a:prstGeom prst="rect">
            <a:avLst/>
          </a:prstGeom>
          <a:solidFill>
            <a:srgbClr val="FFFFFF"/>
          </a:solidFill>
          <a:ln w="12700">
            <a:solidFill>
              <a:srgbClr val="DAD3C2"/>
            </a:solidFill>
            <a:prstDash val="solid"/>
          </a:ln>
        </p:spPr>
      </p:sp>
      <p:sp>
        <p:nvSpPr>
          <p:cNvPr id="13" name="Shape 11"/>
          <p:cNvSpPr/>
          <p:nvPr/>
        </p:nvSpPr>
        <p:spPr>
          <a:xfrm>
            <a:off x="6263640" y="1645920"/>
            <a:ext cx="5486400" cy="676656"/>
          </a:xfrm>
          <a:prstGeom prst="rect">
            <a:avLst/>
          </a:prstGeom>
          <a:solidFill>
            <a:srgbClr val="1A2332"/>
          </a:solidFill>
          <a:ln/>
        </p:spPr>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United States v. Nixon</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Estados Unidos contra Nixon</a:t>
            </a:r>
            <a:endParaRPr lang="en-US" sz="1000" dirty="0"/>
          </a:p>
        </p:txBody>
      </p:sp>
      <p:sp>
        <p:nvSpPr>
          <p:cNvPr id="16" name="Shape 14"/>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7" name="Text 15"/>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US</a:t>
            </a:r>
            <a:endParaRPr lang="en-US" sz="1300" dirty="0"/>
          </a:p>
        </p:txBody>
      </p:sp>
      <p:sp>
        <p:nvSpPr>
          <p:cNvPr id="18" name="Text 16"/>
          <p:cNvSpPr/>
          <p:nvPr/>
        </p:nvSpPr>
        <p:spPr>
          <a:xfrm>
            <a:off x="6940296" y="2395728"/>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Landmark 1974 Supreme Court case that unanimously ruled the President is not above the law and must comply with judicial orders, forcing Nixon to release incriminating tapes.</a:t>
            </a:r>
            <a:endParaRPr lang="en-US" sz="1100" dirty="0"/>
          </a:p>
        </p:txBody>
      </p:sp>
      <p:sp>
        <p:nvSpPr>
          <p:cNvPr id="19" name="Shape 17"/>
          <p:cNvSpPr/>
          <p:nvPr/>
        </p:nvSpPr>
        <p:spPr>
          <a:xfrm>
            <a:off x="3352648" y="3685032"/>
            <a:ext cx="5486400" cy="1874520"/>
          </a:xfrm>
          <a:prstGeom prst="rect">
            <a:avLst/>
          </a:prstGeom>
          <a:solidFill>
            <a:srgbClr val="FFFFFF"/>
          </a:solidFill>
          <a:ln w="12700">
            <a:solidFill>
              <a:srgbClr val="DAD3C2"/>
            </a:solidFill>
            <a:prstDash val="solid"/>
          </a:ln>
        </p:spPr>
      </p:sp>
      <p:sp>
        <p:nvSpPr>
          <p:cNvPr id="20" name="Shape 18"/>
          <p:cNvSpPr/>
          <p:nvPr/>
        </p:nvSpPr>
        <p:spPr>
          <a:xfrm>
            <a:off x="3352648" y="3685032"/>
            <a:ext cx="5486400" cy="676656"/>
          </a:xfrm>
          <a:prstGeom prst="rect">
            <a:avLst/>
          </a:prstGeom>
          <a:solidFill>
            <a:srgbClr val="1A2332"/>
          </a:solidFill>
          <a:ln/>
        </p:spPr>
      </p:sp>
      <p:sp>
        <p:nvSpPr>
          <p:cNvPr id="21" name="Text 19"/>
          <p:cNvSpPr/>
          <p:nvPr/>
        </p:nvSpPr>
        <p:spPr>
          <a:xfrm>
            <a:off x="3489808" y="3739896"/>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Ford's Pardon of Nixon</a:t>
            </a:r>
            <a:endParaRPr lang="en-US" sz="1350" dirty="0"/>
          </a:p>
        </p:txBody>
      </p:sp>
      <p:sp>
        <p:nvSpPr>
          <p:cNvPr id="22" name="Text 20"/>
          <p:cNvSpPr/>
          <p:nvPr/>
        </p:nvSpPr>
        <p:spPr>
          <a:xfrm>
            <a:off x="6507328" y="3685032"/>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Perdón de Ford a Nixon</a:t>
            </a:r>
            <a:endParaRPr lang="en-US" sz="1000" dirty="0"/>
          </a:p>
        </p:txBody>
      </p:sp>
      <p:sp>
        <p:nvSpPr>
          <p:cNvPr id="23" name="Shape 21"/>
          <p:cNvSpPr/>
          <p:nvPr/>
        </p:nvSpPr>
        <p:spPr>
          <a:xfrm>
            <a:off x="3471520" y="4434840"/>
            <a:ext cx="457200" cy="457200"/>
          </a:xfrm>
          <a:prstGeom prst="roundRect">
            <a:avLst>
              <a:gd name="adj" fmla="val 16000"/>
            </a:avLst>
          </a:prstGeom>
          <a:solidFill>
            <a:srgbClr val="F3EAD0"/>
          </a:solidFill>
          <a:ln w="12700">
            <a:solidFill>
              <a:srgbClr val="C9A84C"/>
            </a:solidFill>
            <a:prstDash val="solid"/>
          </a:ln>
        </p:spPr>
      </p:sp>
      <p:sp>
        <p:nvSpPr>
          <p:cNvPr id="24" name="Text 22"/>
          <p:cNvSpPr/>
          <p:nvPr/>
        </p:nvSpPr>
        <p:spPr>
          <a:xfrm>
            <a:off x="3380080" y="4434840"/>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FP</a:t>
            </a:r>
            <a:endParaRPr lang="en-US" sz="1300" dirty="0"/>
          </a:p>
        </p:txBody>
      </p:sp>
      <p:sp>
        <p:nvSpPr>
          <p:cNvPr id="25" name="Text 23"/>
          <p:cNvSpPr/>
          <p:nvPr/>
        </p:nvSpPr>
        <p:spPr>
          <a:xfrm>
            <a:off x="4029304" y="4434840"/>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President Gerald Ford's controversial 1974 decision to grant Richard Nixon a full pardon for any crimes committed during his presidency, preventing prosecution.</a:t>
            </a:r>
            <a:endParaRPr lang="en-US" sz="1100" dirty="0"/>
          </a:p>
        </p:txBody>
      </p:sp>
      <p:sp>
        <p:nvSpPr>
          <p:cNvPr id="26" name="Text 24"/>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27" name="Text 2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8" name="Text 2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US.86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Corroborate evidence across sources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One source is Nixon's resignation speech; another is the "smoking gun" tape. How do I use both to judge his guilt?</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The speech says he acted for America's good; the tape shows him directing a cover-up.</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To corroborate, I compare what different sources say — when the tape contradicts the speech, the tape is stronger evidence because it was recorded at the time and not meant to be public.</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explain which source better reveals Nixon's actual role in Watergate, and why.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US.86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Watergate — Timeline of a Constitutional Crisis</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the primary source excerpts, build a timeline of the Watergate scandal in order: the 1972 break-in at the Democratic headquarters, the cover-up, the Senate hearings and discovery of the White House tapes, United States v. Nixon (1974), and Nixon's resignation on August 9, 1974. For each event, add one sentence on why it mattered. Finish with a claim about what Watergate proved about the rule of law and the phrase “no one is above the law.”</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timeline (5+ ordered events, each with a why-it-mattered note) plus a one-sentence claim on how the system of checks and balances responded to a president who broke the law.</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Timeline with events pre-listed to place in order and a word bank (break-in, cover-up, tapes, United States v. Nixon, resignation). Honors: Analyze which branch of government did the most to hold Nixon accountable — the courts, Congress, the press, or public opinion? Defend with evidence.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printables/unit-10/unit-10-timeline.html</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US.86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Why does Nixon say he is resigning?</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He was found guilty of crimes in court</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He wants to spend more time with his family</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He was forced out by the military</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He believes it is in the best interest of America</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US.86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Why does Nixon say he is resigning?</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He was found guilty of crimes in court</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He wants to spend more time with his family</a:t>
            </a:r>
            <a:endParaRPr lang="en-US" sz="1300" dirty="0"/>
          </a:p>
        </p:txBody>
      </p:sp>
      <p:sp>
        <p:nvSpPr>
          <p:cNvPr id="17" name="Shape 15"/>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He was forced out by the military</a:t>
            </a:r>
            <a:endParaRPr lang="en-US" sz="1300" dirty="0"/>
          </a:p>
        </p:txBody>
      </p:sp>
      <p:sp>
        <p:nvSpPr>
          <p:cNvPr id="21" name="Shape 19"/>
          <p:cNvSpPr/>
          <p:nvPr/>
        </p:nvSpPr>
        <p:spPr>
          <a:xfrm>
            <a:off x="548640" y="4626864"/>
            <a:ext cx="11064240" cy="566928"/>
          </a:xfrm>
          <a:prstGeom prst="roundRect">
            <a:avLst>
              <a:gd name="adj" fmla="val 9677"/>
            </a:avLst>
          </a:prstGeom>
          <a:solidFill>
            <a:srgbClr val="C9A84C"/>
          </a:solidFill>
          <a:ln w="12700">
            <a:solidFill>
              <a:srgbClr val="F9A825"/>
            </a:solidFill>
            <a:prstDash val="solid"/>
          </a:ln>
        </p:spPr>
      </p:sp>
      <p:sp>
        <p:nvSpPr>
          <p:cNvPr id="22" name="Shape 20"/>
          <p:cNvSpPr/>
          <p:nvPr/>
        </p:nvSpPr>
        <p:spPr>
          <a:xfrm>
            <a:off x="713232" y="4736592"/>
            <a:ext cx="347472" cy="347472"/>
          </a:xfrm>
          <a:prstGeom prst="ellipse">
            <a:avLst/>
          </a:prstGeom>
          <a:solidFill>
            <a:srgbClr val="1A2332"/>
          </a:solidFill>
          <a:ln/>
        </p:spPr>
      </p:sp>
      <p:sp>
        <p:nvSpPr>
          <p:cNvPr id="23" name="Text 21"/>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D</a:t>
            </a:r>
            <a:endParaRPr lang="en-US" sz="1300" dirty="0"/>
          </a:p>
        </p:txBody>
      </p:sp>
      <p:sp>
        <p:nvSpPr>
          <p:cNvPr id="24" name="Text 22"/>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He believes it is in the best interest of America</a:t>
            </a:r>
            <a:endParaRPr lang="en-US" sz="1300" dirty="0"/>
          </a:p>
        </p:txBody>
      </p:sp>
      <p:sp>
        <p:nvSpPr>
          <p:cNvPr id="25" name="Text 23"/>
          <p:cNvSpPr/>
          <p:nvPr/>
        </p:nvSpPr>
        <p:spPr>
          <a:xfrm>
            <a:off x="11018520" y="4626864"/>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D.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Nixon states he "must put the interest of America first" as his reason for resigning, framing it as a sacrifice despite it being "abhorrent" to him.</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US.86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Break-in Circumstances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Media's Changing Role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United States v. Nixon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Ford's Pardon and Legacy of Distrust</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Analyze which check on power did the most to hold Nixon accountable — the courts, Congress, the press, or public opinion? Defend your answer with evidence.</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the Watergate scandal and why it led to Nixon's resignation. What did United States v. Nixon establish?</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US.87</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Emergence of Environmentalism</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Explain the emergence of environmentalism, including the creation of the Environmental Protection Agency and disasters such as Love Canal and Three Mile Island.</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explain the emergence of environmentalism, including the creation of the Environmental Protection Agency and disasters such as Love Canal and Three Mile Island.</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US.87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US.86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We just studied Watergate. Why did President Nixon resign, and what did the Supreme Court decide in United States v. Nixon?</a:t>
            </a:r>
            <a:endParaRPr lang="en-US" sz="1350" dirty="0"/>
          </a:p>
        </p:txBody>
      </p:sp>
      <p:sp>
        <p:nvSpPr>
          <p:cNvPr id="11"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US.87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federal agency was created in 1970 to protect the environment?</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The Environmental Protection Agency (EPA).</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US.87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A single book about pesticides, rivers so polluted they caught fire, and 20 million Americans marching on the first Earth Day — within a few years the United States created the EPA and passed sweeping laws to protect the air, water, and wildlife.</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How does a nation go from ignoring pollution to passing major environmental laws in just a few years? What has to change first — the science, or the public's attention?</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Factors Leading to the Environmental Movement</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Several factors sparked environmental awareness: Rachel Carson's "Silent Spring" (1962) exposed pesticide dangers and their ecological impact.</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Visible pollution plagued cities with smog, rivers with contamination, and coastlines with oil spills.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Earth Day 1970 brought massive public demonstrations supporting environmental protection.</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Growing scientific understanding of ecological interconnections raised alarm about long-term consequences.</a:t>
            </a:r>
            <a:endParaRPr lang="en-US" sz="1550" dirty="0"/>
          </a:p>
        </p:txBody>
      </p:sp>
      <p:sp>
        <p:nvSpPr>
          <p:cNvPr id="12" name="Shape 10"/>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The environmental movement grew because ___, which led the government to ___.</a:t>
            </a:r>
            <a:endParaRPr lang="en-US" sz="1050" dirty="0"/>
          </a:p>
        </p:txBody>
      </p:sp>
      <p:sp>
        <p:nvSpPr>
          <p:cNvPr id="15" name="Shape 13"/>
          <p:cNvSpPr/>
          <p:nvPr/>
        </p:nvSpPr>
        <p:spPr>
          <a:xfrm>
            <a:off x="7552944" y="1746504"/>
            <a:ext cx="4142232" cy="2935224"/>
          </a:xfrm>
          <a:prstGeom prst="rect">
            <a:avLst/>
          </a:prstGeom>
          <a:solidFill>
            <a:srgbClr val="FFFFFF"/>
          </a:solidFill>
          <a:ln w="12700">
            <a:solidFill>
              <a:srgbClr val="DAD3C2"/>
            </a:solidFill>
            <a:prstDash val="solid"/>
          </a:ln>
        </p:spPr>
      </p:sp>
      <p:pic>
        <p:nvPicPr>
          <p:cNvPr id="16" name="Image 0" descr="unit10-full/img/first-earth-day-flag-raising-ceremony-1970.jpg">    </p:cNvPr>
          <p:cNvPicPr>
            <a:picLocks noChangeAspect="1"/>
          </p:cNvPicPr>
          <p:nvPr/>
        </p:nvPicPr>
        <p:blipFill>
          <a:blip r:embed="rId1"/>
          <a:stretch>
            <a:fillRect/>
          </a:stretch>
        </p:blipFill>
        <p:spPr>
          <a:xfrm>
            <a:off x="8689188" y="1783080"/>
            <a:ext cx="1869744" cy="2862072"/>
          </a:xfrm>
          <a:prstGeom prst="rect">
            <a:avLst/>
          </a:prstGeom>
        </p:spPr>
      </p:pic>
      <p:sp>
        <p:nvSpPr>
          <p:cNvPr id="17" name="Text 14"/>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Cecil W. Stoughton, U.S. National Park Service, April 22, 1970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 National Park Service (NPGallery); via Wikimedia Commons</a:t>
            </a:r>
            <a:endParaRPr lang="en-US" sz="800" dirty="0"/>
          </a:p>
        </p:txBody>
      </p:sp>
      <p:sp>
        <p:nvSpPr>
          <p:cNvPr id="18" name="Shape 15"/>
          <p:cNvSpPr/>
          <p:nvPr/>
        </p:nvSpPr>
        <p:spPr>
          <a:xfrm>
            <a:off x="7589520" y="5440680"/>
            <a:ext cx="4069080" cy="713232"/>
          </a:xfrm>
          <a:prstGeom prst="roundRect">
            <a:avLst>
              <a:gd name="adj" fmla="val 7692"/>
            </a:avLst>
          </a:prstGeom>
          <a:solidFill>
            <a:srgbClr val="1A2332"/>
          </a:solidFill>
          <a:ln/>
        </p:spPr>
      </p:sp>
      <p:sp>
        <p:nvSpPr>
          <p:cNvPr id="19" name="Text 16"/>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1"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2"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EPA's Purpose and Functions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Created in 1970, the Environmental Protection Agency consolidated federal environmental responsibilities.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Its functions include setting pollution standards, enforcing environmental laws, conducting research, and regulating toxic substances.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EPA marked the federal government's commitment to environmental protection as a national priority, establishing America's framework for environmental regulation.</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Love Canal Disaster</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In Niagara Falls, New York, a school and homes were built on a former chemical waste dump.</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By the 1970s, residents experienced high rates of birth defects and cancer.</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federal government relocated 239 families and declared the area uninhabitable.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disaster led to the Superfund program for cleaning up toxic waste sites, demonstrating the long-term consequences of industrial pollution.</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Three Mile Island Accident</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1979 nuclear accident in Pennsylvania involved a partial reactor meltdown, radiation release, and evacuation recommendations.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While health impacts were limited, the incident heightened public fears about nuclear power safety, effectively ending nuclear plant construction in the United States for decades and strengthening arguments for alternative energy sources.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73</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US.87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Rachel Carson</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Marine biologist and author of "Silent Spring"</a:t>
            </a:r>
            <a:endParaRPr lang="en-US" sz="1100" dirty="0"/>
          </a:p>
        </p:txBody>
      </p:sp>
      <p:sp>
        <p:nvSpPr>
          <p:cNvPr id="9" name="Text 7"/>
          <p:cNvSpPr/>
          <p:nvPr/>
        </p:nvSpPr>
        <p:spPr>
          <a:xfrm>
            <a:off x="694944" y="2606040"/>
            <a:ext cx="1077163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Published "Silent Spring" (1962), exposing the dangers of pesticides like DDT</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Helped launch the modern environmental movement</a:t>
            </a:r>
            <a:endParaRPr lang="en-US" sz="1300" dirty="0"/>
          </a:p>
        </p:txBody>
      </p:sp>
      <p:sp>
        <p:nvSpPr>
          <p:cNvPr id="10" name="Shape 8"/>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Public awareness (science writing)</a:t>
            </a:r>
            <a:endParaRPr lang="en-US" sz="8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US.87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EPA Establishment Message</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Richard Nixon  ·  July 9, 1970</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"Our national government today is not structured to make a coordinated attack on the pollutants which debase the air we breathe, the water we drink, and the land that grows our food... The Environmental Protection Agency would be charged with protecting and enhancing the physical environment of the Nation."</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463040"/>
          </a:xfrm>
          <a:prstGeom prst="roundRect">
            <a:avLst>
              <a:gd name="adj" fmla="val 5000"/>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950976"/>
          </a:xfrm>
          <a:prstGeom prst="rect">
            <a:avLst/>
          </a:prstGeom>
          <a:noFill/>
          <a:ln/>
        </p:spPr>
        <p:txBody>
          <a:bodyPr wrap="square" rtlCol="0" anchor="t">
            <a:normAutofit/>
          </a:bodyPr>
          <a:lstStyle/>
          <a:p>
            <a:pPr indent="0" marL="0">
              <a:lnSpc>
                <a:spcPct val="96000"/>
              </a:lnSpc>
              <a:buNone/>
            </a:pPr>
            <a:r>
              <a:rPr lang="en-US" sz="1050" dirty="0">
                <a:solidFill>
                  <a:srgbClr val="FFFFFF"/>
                </a:solidFill>
                <a:latin typeface="Calibri" pitchFamily="34" charset="0"/>
                <a:ea typeface="Calibri" pitchFamily="34" charset="-122"/>
                <a:cs typeface="Calibri" pitchFamily="34" charset="-120"/>
              </a:rPr>
              <a:t>In July 1970, President Nixon sent Congress a message proposing a new Environmental Protection Agency to pull together pollution-control programs scattered across the federal government. It reflected the surging public demand for environmental action seen at the first Earth Day that April.</a:t>
            </a:r>
            <a:endParaRPr lang="en-US" sz="1050" dirty="0"/>
          </a:p>
        </p:txBody>
      </p:sp>
      <p:sp>
        <p:nvSpPr>
          <p:cNvPr id="16" name="Shape 14"/>
          <p:cNvSpPr/>
          <p:nvPr/>
        </p:nvSpPr>
        <p:spPr>
          <a:xfrm>
            <a:off x="7589520" y="3383280"/>
            <a:ext cx="4023360" cy="1600200"/>
          </a:xfrm>
          <a:prstGeom prst="roundRect">
            <a:avLst>
              <a:gd name="adj" fmla="val 4571"/>
            </a:avLst>
          </a:prstGeom>
          <a:solidFill>
            <a:srgbClr val="C9A84C"/>
          </a:solidFill>
          <a:ln/>
        </p:spPr>
      </p:sp>
      <p:sp>
        <p:nvSpPr>
          <p:cNvPr id="17" name="Text 15"/>
          <p:cNvSpPr/>
          <p:nvPr/>
        </p:nvSpPr>
        <p:spPr>
          <a:xfrm>
            <a:off x="7818120" y="350215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3803904"/>
            <a:ext cx="3611880" cy="106984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problem was the EPA created to address?</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President Richard Nixon</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July 9, 1970</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860" dirty="0">
                <a:solidFill>
                  <a:srgbClr val="1F2430"/>
                </a:solidFill>
                <a:latin typeface="Calibri" pitchFamily="34" charset="0"/>
                <a:ea typeface="Calibri" pitchFamily="34" charset="-122"/>
                <a:cs typeface="Calibri" pitchFamily="34" charset="-120"/>
              </a:rPr>
              <a:t>Consider that Nixon is announcing a new federal agency to Congress — how does that official purpose shape what the message emphasizes?</a:t>
            </a:r>
            <a:endParaRPr lang="en-US" sz="86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75</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US.87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874520"/>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Environmental Protection Agency (EPA)</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Agencia de Protección Ambiental (EPA)</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EP</a:t>
            </a:r>
            <a:endParaRPr lang="en-US" sz="1300" dirty="0"/>
          </a:p>
        </p:txBody>
      </p:sp>
      <p:sp>
        <p:nvSpPr>
          <p:cNvPr id="11" name="Text 9"/>
          <p:cNvSpPr/>
          <p:nvPr/>
        </p:nvSpPr>
        <p:spPr>
          <a:xfrm>
            <a:off x="1225296" y="2395728"/>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Federal agency created in 1970 to protect human health and the environment by enforcing regulations passed by Congress, marking the rise of environmentalism.</a:t>
            </a:r>
            <a:endParaRPr lang="en-US" sz="1100" dirty="0"/>
          </a:p>
        </p:txBody>
      </p:sp>
      <p:sp>
        <p:nvSpPr>
          <p:cNvPr id="12" name="Shape 10"/>
          <p:cNvSpPr/>
          <p:nvPr/>
        </p:nvSpPr>
        <p:spPr>
          <a:xfrm>
            <a:off x="6263640" y="1645920"/>
            <a:ext cx="5486400" cy="1874520"/>
          </a:xfrm>
          <a:prstGeom prst="rect">
            <a:avLst/>
          </a:prstGeom>
          <a:solidFill>
            <a:srgbClr val="FFFFFF"/>
          </a:solidFill>
          <a:ln w="12700">
            <a:solidFill>
              <a:srgbClr val="DAD3C2"/>
            </a:solidFill>
            <a:prstDash val="solid"/>
          </a:ln>
        </p:spPr>
      </p:sp>
      <p:sp>
        <p:nvSpPr>
          <p:cNvPr id="13" name="Shape 11"/>
          <p:cNvSpPr/>
          <p:nvPr/>
        </p:nvSpPr>
        <p:spPr>
          <a:xfrm>
            <a:off x="6263640" y="1645920"/>
            <a:ext cx="5486400" cy="676656"/>
          </a:xfrm>
          <a:prstGeom prst="rect">
            <a:avLst/>
          </a:prstGeom>
          <a:solidFill>
            <a:srgbClr val="1A2332"/>
          </a:solidFill>
          <a:ln/>
        </p:spPr>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Love Canal</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Love Canal</a:t>
            </a:r>
            <a:endParaRPr lang="en-US" sz="1000" dirty="0"/>
          </a:p>
        </p:txBody>
      </p:sp>
      <p:sp>
        <p:nvSpPr>
          <p:cNvPr id="16" name="Shape 14"/>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7" name="Text 15"/>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LC</a:t>
            </a:r>
            <a:endParaRPr lang="en-US" sz="1300" dirty="0"/>
          </a:p>
        </p:txBody>
      </p:sp>
      <p:sp>
        <p:nvSpPr>
          <p:cNvPr id="18" name="Text 16"/>
          <p:cNvSpPr/>
          <p:nvPr/>
        </p:nvSpPr>
        <p:spPr>
          <a:xfrm>
            <a:off x="6940296" y="2395728"/>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Neighborhood in Niagara Falls, NY built on a toxic waste dump, where residents suffered high rates of illness. The 1978 disaster led to Superfund legislation for cleaning up hazardous waste sites.</a:t>
            </a:r>
            <a:endParaRPr lang="en-US" sz="1100" dirty="0"/>
          </a:p>
        </p:txBody>
      </p:sp>
      <p:sp>
        <p:nvSpPr>
          <p:cNvPr id="19" name="Shape 17"/>
          <p:cNvSpPr/>
          <p:nvPr/>
        </p:nvSpPr>
        <p:spPr>
          <a:xfrm>
            <a:off x="3352648" y="3685032"/>
            <a:ext cx="5486400" cy="1874520"/>
          </a:xfrm>
          <a:prstGeom prst="rect">
            <a:avLst/>
          </a:prstGeom>
          <a:solidFill>
            <a:srgbClr val="FFFFFF"/>
          </a:solidFill>
          <a:ln w="12700">
            <a:solidFill>
              <a:srgbClr val="DAD3C2"/>
            </a:solidFill>
            <a:prstDash val="solid"/>
          </a:ln>
        </p:spPr>
      </p:sp>
      <p:sp>
        <p:nvSpPr>
          <p:cNvPr id="20" name="Shape 18"/>
          <p:cNvSpPr/>
          <p:nvPr/>
        </p:nvSpPr>
        <p:spPr>
          <a:xfrm>
            <a:off x="3352648" y="3685032"/>
            <a:ext cx="5486400" cy="676656"/>
          </a:xfrm>
          <a:prstGeom prst="rect">
            <a:avLst/>
          </a:prstGeom>
          <a:solidFill>
            <a:srgbClr val="1A2332"/>
          </a:solidFill>
          <a:ln/>
        </p:spPr>
      </p:sp>
      <p:sp>
        <p:nvSpPr>
          <p:cNvPr id="21" name="Text 19"/>
          <p:cNvSpPr/>
          <p:nvPr/>
        </p:nvSpPr>
        <p:spPr>
          <a:xfrm>
            <a:off x="3489808" y="3739896"/>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Three Mile Island</a:t>
            </a:r>
            <a:endParaRPr lang="en-US" sz="1350" dirty="0"/>
          </a:p>
        </p:txBody>
      </p:sp>
      <p:sp>
        <p:nvSpPr>
          <p:cNvPr id="22" name="Text 20"/>
          <p:cNvSpPr/>
          <p:nvPr/>
        </p:nvSpPr>
        <p:spPr>
          <a:xfrm>
            <a:off x="6507328" y="3685032"/>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Three Mile Island</a:t>
            </a:r>
            <a:endParaRPr lang="en-US" sz="1000" dirty="0"/>
          </a:p>
        </p:txBody>
      </p:sp>
      <p:sp>
        <p:nvSpPr>
          <p:cNvPr id="23" name="Shape 21"/>
          <p:cNvSpPr/>
          <p:nvPr/>
        </p:nvSpPr>
        <p:spPr>
          <a:xfrm>
            <a:off x="3471520" y="4434840"/>
            <a:ext cx="457200" cy="457200"/>
          </a:xfrm>
          <a:prstGeom prst="roundRect">
            <a:avLst>
              <a:gd name="adj" fmla="val 16000"/>
            </a:avLst>
          </a:prstGeom>
          <a:solidFill>
            <a:srgbClr val="F3EAD0"/>
          </a:solidFill>
          <a:ln w="12700">
            <a:solidFill>
              <a:srgbClr val="C9A84C"/>
            </a:solidFill>
            <a:prstDash val="solid"/>
          </a:ln>
        </p:spPr>
      </p:sp>
      <p:sp>
        <p:nvSpPr>
          <p:cNvPr id="24" name="Text 22"/>
          <p:cNvSpPr/>
          <p:nvPr/>
        </p:nvSpPr>
        <p:spPr>
          <a:xfrm>
            <a:off x="3380080" y="4434840"/>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TM</a:t>
            </a:r>
            <a:endParaRPr lang="en-US" sz="1300" dirty="0"/>
          </a:p>
        </p:txBody>
      </p:sp>
      <p:sp>
        <p:nvSpPr>
          <p:cNvPr id="25" name="Text 23"/>
          <p:cNvSpPr/>
          <p:nvPr/>
        </p:nvSpPr>
        <p:spPr>
          <a:xfrm>
            <a:off x="4029304" y="4434840"/>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Nuclear power plant near Harrisburg, PA where a partial meltdown occurred in 1979, the worst nuclear accident in U.S. history, increasing public fears about nuclear energy.</a:t>
            </a:r>
            <a:endParaRPr lang="en-US" sz="1100" dirty="0"/>
          </a:p>
        </p:txBody>
      </p:sp>
      <p:sp>
        <p:nvSpPr>
          <p:cNvPr id="26" name="Text 24"/>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27" name="Text 2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8" name="Text 2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US.87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Explain cause and effect in a movement</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Rachel Carson writes about vanishing birds. How do I connect that book to the creation of the EPA in 1970?</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"Silent Spring" raised public alarm about pollution, which built pressure for government action.</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To explain cause and effect, I trace the chain: a warning book raised awareness, awareness created public demand (Earth Day), and demand pushed government to act (the EPA).</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name one cause of the environmental movement and one effect it produced, and connect them.</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US.87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The Rise of Environmentalism — Cause &amp; Effect Chart</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the primary source excerpt, complete the Cause &amp; Effect organizer for the modern environmental movement. In CAUSES, list what raised alarm (Rachel Carson's Silent Spring, polluted rivers and air, oil spills). In EFFECTS, trace the response — the first Earth Day in 1970, the creation of the EPA, the Clean Air Act and Clean Water Act, and the Endangered Species Act. Finish with a claim about how public awareness led to federal action.</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Cause &amp; Effect organizer (3+ causes, 3+ effects) plus a one-sentence claim on why the environmental movement grew into national law so quickly.</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Organizer with a word bank (Silent Spring, Earth Day, EPA, Clean Air Act, Endangered Species Act) to sort. Honors: Evaluate whether public pressure or government action did more to protect the environment in the 1970s. Argue with evidence.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printables/unit-10/unit-10-cause-effect.html</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78</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US.87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How did Senator Nelson describe the significance of Earth Day?</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 one-time event with limited impact</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Evidence of a broad new national concern cutting across generations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 movement only for young people</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 political event for one party only</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79</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US.87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How did Senator Nelson describe the significance of Earth Day?</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 one-time event with limited impact</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Evidence of a broad new national concern cutting across generations</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 movement only for young people</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 political event for one party only</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Nelson described Earth Day as "dramatic evidence of a broad new national concern that cuts across generations and ideologies," uniting diverse Americans.</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80</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US.87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Factors Leading to the Environmental Movement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EPA's Purpose and Functions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Love Canal Disaster</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Three Mile Island Accident</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150" i="1" dirty="0">
                <a:solidFill>
                  <a:srgbClr val="1F2430"/>
                </a:solidFill>
                <a:latin typeface="Calibri" pitchFamily="34" charset="0"/>
                <a:ea typeface="Calibri" pitchFamily="34" charset="-122"/>
                <a:cs typeface="Calibri" pitchFamily="34" charset="-120"/>
              </a:rPr>
              <a:t>Evaluate whether public pressure or government action did more to protect the environment in the 1970s. Argue with evidence.</a:t>
            </a:r>
            <a:endParaRPr lang="en-US" sz="11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what caused the modern environmental movement and describe two government responses to it.</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US.88</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Carter Administration Events</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Identify and explain the significant events of President Jimmy Carter's administration, including: Poor economy, Panama Canal Treaty, Camp David Accords, Energy crisis, Iran Hostage Crisis.</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identify and explain the significant events of President Jimmy Carter's administration, including the poor economy, Panama Canal Treaty, Camp David Accords, energy crisis, and Iran Hostage Crisis.</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82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US.88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US.87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In the last standard we studied the rise of environmentalism. What agency and what event helped launch the movement?</a:t>
            </a:r>
            <a:endParaRPr lang="en-US" sz="1350" dirty="0"/>
          </a:p>
        </p:txBody>
      </p:sp>
      <p:sp>
        <p:nvSpPr>
          <p:cNvPr id="11"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83</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US.88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1978 agreement, brokered by Carter, made peace between Egypt and Israel?</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The Camp David Accords.</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84</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US.88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President Carter brokered a historic peace between Egypt and Israel at Camp David — yet is often remembered for gas lines, high inflation, and 444 days in which 52 Americans were held hostage in Iran.</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Can a president achieve a great foreign-policy success and still lose the public's confidence? What matters more to voters — events abroad, or problems they feel at home?</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85</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Economic Difficulties</a:t>
            </a:r>
            <a:endParaRPr lang="en-US" sz="3000" dirty="0"/>
          </a:p>
        </p:txBody>
      </p:sp>
      <p:sp>
        <p:nvSpPr>
          <p:cNvPr id="5" name="Shape 3"/>
          <p:cNvSpPr/>
          <p:nvPr/>
        </p:nvSpPr>
        <p:spPr>
          <a:xfrm>
            <a:off x="10180015" y="502920"/>
            <a:ext cx="146304" cy="146304"/>
          </a:xfrm>
          <a:prstGeom prst="ellipse">
            <a:avLst/>
          </a:prstGeom>
          <a:solidFill>
            <a:srgbClr val="C62828"/>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Carter faced "stagflation" — simultaneous high inflation (13.5% by 1980) and unemployment (7.6%).</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Energy costs soared, interest rates reached 20%, and economic growth stagnated.</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Carter's response included voluntary wage-price guidelines and Federal Reserve monetary tightening, but these measures proved insufficient to solve the complex economic crisis.</a:t>
            </a:r>
            <a:endParaRPr lang="en-US" sz="1700" dirty="0"/>
          </a:p>
        </p:txBody>
      </p:sp>
      <p:sp>
        <p:nvSpPr>
          <p:cNvPr id="13" name="Shape 11"/>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4" name="Text 12"/>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5" name="Text 13"/>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President Carter's greatest success was ___, but his presidency was damaged by ___.</a:t>
            </a:r>
            <a:endParaRPr lang="en-US" sz="115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86</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Energy Crisis Implications</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C62828"/>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Two oil crises (1973-74, 1979) created gas shortages, long lines at stations, and economic disruption.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Carter promoted energy conservation, created the Department of Energy, and called for reduced dependence on foreign oil.</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However, public frustration with gas lines and heating oil costs damaged his political standing and raised questions about American vulnerability to foreign energy suppliers.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87</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Panama Canal Treaty</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C62828"/>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1977 treaties gradually transferred canal control to Panama by 1999, ending the American colonial presence in Central America.</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While strategically sound (the canal was becoming militarily obsolete), the treaties faced fierce domestic opposition from conservatives who viewed them as signs of American weakness and retreat from global commitments.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88</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Iran Hostage Crisis</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C62828"/>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After the Shah's overthrow in 1979, Iranian revolutionaries seized the U.S. Embassy, holding 52 Americans hostage for 444 days.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Carter's failed rescue mission and inability to secure release dominated his presidency's final year, contributing to perceptions of American weakness and his 1980 electoral defeat to Ronald Reagan.</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89</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US.88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Camp David Accords</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C62828"/>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5 of 5</a:t>
            </a:r>
            <a:endParaRPr lang="en-US" sz="1000" dirty="0"/>
          </a:p>
        </p:txBody>
      </p:sp>
      <p:sp>
        <p:nvSpPr>
          <p:cNvPr id="11" name="Shape 9"/>
          <p:cNvSpPr/>
          <p:nvPr/>
        </p:nvSpPr>
        <p:spPr>
          <a:xfrm>
            <a:off x="548640" y="1783080"/>
            <a:ext cx="676656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Carter mediated 13 days of negotiations between Egypt's Sadat and Israel's Begin, producing a framework for Middle East peace.</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Egypt recognized Israel and regained the Sinai Peninsula, while Israel withdrew from occupied Egyptian territory.</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This represented the first Arab-Israeli peace agreement and Carter's greatest foreign policy achievement.</a:t>
            </a:r>
            <a:endParaRPr lang="en-US" sz="1550" dirty="0"/>
          </a:p>
        </p:txBody>
      </p:sp>
      <p:sp>
        <p:nvSpPr>
          <p:cNvPr id="13" name="Shape 11"/>
          <p:cNvSpPr/>
          <p:nvPr/>
        </p:nvSpPr>
        <p:spPr>
          <a:xfrm>
            <a:off x="7552944" y="1746504"/>
            <a:ext cx="4142232" cy="3575304"/>
          </a:xfrm>
          <a:prstGeom prst="rect">
            <a:avLst/>
          </a:prstGeom>
          <a:solidFill>
            <a:srgbClr val="FFFFFF"/>
          </a:solidFill>
          <a:ln w="12700">
            <a:solidFill>
              <a:srgbClr val="DAD3C2"/>
            </a:solidFill>
            <a:prstDash val="solid"/>
          </a:ln>
        </p:spPr>
      </p:sp>
      <p:pic>
        <p:nvPicPr>
          <p:cNvPr id="14" name="Image 0" descr="unit10-full/img/carter-sadat-begin-camp-david-1978.jpg">    </p:cNvPr>
          <p:cNvPicPr>
            <a:picLocks noChangeAspect="1"/>
          </p:cNvPicPr>
          <p:nvPr/>
        </p:nvPicPr>
        <p:blipFill>
          <a:blip r:embed="rId1"/>
          <a:stretch>
            <a:fillRect/>
          </a:stretch>
        </p:blipFill>
        <p:spPr>
          <a:xfrm>
            <a:off x="7589520" y="2159252"/>
            <a:ext cx="4069080" cy="2749808"/>
          </a:xfrm>
          <a:prstGeom prst="rect">
            <a:avLst/>
          </a:prstGeom>
        </p:spPr>
      </p:pic>
      <p:sp>
        <p:nvSpPr>
          <p:cNvPr id="15" name="Text 12"/>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Unknown; U.S. National Archives and Records Administration, September 17, 1978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National Archives and Records Administration (NARA); via Wikimedia Commons</a:t>
            </a:r>
            <a:endParaRPr lang="en-US" sz="80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90</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US.88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President Jimmy Carter</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39th President of the United States</a:t>
            </a:r>
            <a:endParaRPr lang="en-US" sz="1100" dirty="0"/>
          </a:p>
        </p:txBody>
      </p:sp>
      <p:sp>
        <p:nvSpPr>
          <p:cNvPr id="9" name="Text 7"/>
          <p:cNvSpPr/>
          <p:nvPr/>
        </p:nvSpPr>
        <p:spPr>
          <a:xfrm>
            <a:off x="694944" y="2606040"/>
            <a:ext cx="1077163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Brokered the 1978 Camp David Accords between Egypt and Israel</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Created the Department of Energy and promoted energy conservation</a:t>
            </a:r>
            <a:endParaRPr lang="en-US" sz="1300" dirty="0"/>
          </a:p>
        </p:txBody>
      </p:sp>
      <p:sp>
        <p:nvSpPr>
          <p:cNvPr id="10" name="Shape 8"/>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Diplomacy (personal mediation)</a:t>
            </a:r>
            <a:endParaRPr lang="en-US" sz="8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91</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US.88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Camp David Accords Signing Statement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Contextualization</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Jimmy Carter  ·  September 17, 1978</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"During the last two weeks, the members of all three delegations have spent endless hours, day and night, talking, negotiating, grappling with problems that have divided their people for 30 years. Whenever there was a deadlock, they found new ways to break the barrier."</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463040"/>
          </a:xfrm>
          <a:prstGeom prst="roundRect">
            <a:avLst>
              <a:gd name="adj" fmla="val 5000"/>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950976"/>
          </a:xfrm>
          <a:prstGeom prst="rect">
            <a:avLst/>
          </a:prstGeom>
          <a:noFill/>
          <a:ln/>
        </p:spPr>
        <p:txBody>
          <a:bodyPr wrap="square" rtlCol="0" anchor="t">
            <a:normAutofit/>
          </a:bodyPr>
          <a:lstStyle/>
          <a:p>
            <a:pPr indent="0" marL="0">
              <a:lnSpc>
                <a:spcPct val="96000"/>
              </a:lnSpc>
              <a:buNone/>
            </a:pPr>
            <a:r>
              <a:rPr lang="en-US" sz="1050" dirty="0">
                <a:solidFill>
                  <a:srgbClr val="FFFFFF"/>
                </a:solidFill>
                <a:latin typeface="Calibri" pitchFamily="34" charset="0"/>
                <a:ea typeface="Calibri" pitchFamily="34" charset="-122"/>
                <a:cs typeface="Calibri" pitchFamily="34" charset="-120"/>
              </a:rPr>
              <a:t>In September 1978, Carter invited Egyptian President Anwar Sadat and Israeli Prime Minister Menachem Begin to the presidential retreat at Camp David for 13 days of intense, secret negotiations. The resulting framework led to the first peace treaty between Israel and an Arab nation.</a:t>
            </a:r>
            <a:endParaRPr lang="en-US" sz="1050" dirty="0"/>
          </a:p>
        </p:txBody>
      </p:sp>
      <p:sp>
        <p:nvSpPr>
          <p:cNvPr id="16" name="Shape 14"/>
          <p:cNvSpPr/>
          <p:nvPr/>
        </p:nvSpPr>
        <p:spPr>
          <a:xfrm>
            <a:off x="7589520" y="3383280"/>
            <a:ext cx="4023360" cy="1600200"/>
          </a:xfrm>
          <a:prstGeom prst="roundRect">
            <a:avLst>
              <a:gd name="adj" fmla="val 4571"/>
            </a:avLst>
          </a:prstGeom>
          <a:solidFill>
            <a:srgbClr val="C9A84C"/>
          </a:solidFill>
          <a:ln/>
        </p:spPr>
      </p:sp>
      <p:sp>
        <p:nvSpPr>
          <p:cNvPr id="17" name="Text 15"/>
          <p:cNvSpPr/>
          <p:nvPr/>
        </p:nvSpPr>
        <p:spPr>
          <a:xfrm>
            <a:off x="7818120" y="350215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3803904"/>
            <a:ext cx="3611880" cy="106984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did the Camp David Accords achieve?</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President Jimmy Carter</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September 17, 1978</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setting — a signing ceremony is meant to celebrate and frame an achievement.</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92</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US.88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874520"/>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Iran Hostage Crisis</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Crisis de Rehenes de Irán</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IH</a:t>
            </a:r>
            <a:endParaRPr lang="en-US" sz="1300" dirty="0"/>
          </a:p>
        </p:txBody>
      </p:sp>
      <p:sp>
        <p:nvSpPr>
          <p:cNvPr id="11" name="Text 9"/>
          <p:cNvSpPr/>
          <p:nvPr/>
        </p:nvSpPr>
        <p:spPr>
          <a:xfrm>
            <a:off x="1225296" y="2395728"/>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444-day crisis (1979-1981) in which Iranian revolutionaries held 52 American diplomats hostage after the U.S. allowed the deposed Shah into America for medical treatment.</a:t>
            </a:r>
            <a:endParaRPr lang="en-US" sz="1100" dirty="0"/>
          </a:p>
        </p:txBody>
      </p:sp>
      <p:sp>
        <p:nvSpPr>
          <p:cNvPr id="12" name="Shape 10"/>
          <p:cNvSpPr/>
          <p:nvPr/>
        </p:nvSpPr>
        <p:spPr>
          <a:xfrm>
            <a:off x="6263640" y="1645920"/>
            <a:ext cx="5486400" cy="1874520"/>
          </a:xfrm>
          <a:prstGeom prst="rect">
            <a:avLst/>
          </a:prstGeom>
          <a:solidFill>
            <a:srgbClr val="FFFFFF"/>
          </a:solidFill>
          <a:ln w="12700">
            <a:solidFill>
              <a:srgbClr val="DAD3C2"/>
            </a:solidFill>
            <a:prstDash val="solid"/>
          </a:ln>
        </p:spPr>
      </p:sp>
      <p:sp>
        <p:nvSpPr>
          <p:cNvPr id="13" name="Shape 11"/>
          <p:cNvSpPr/>
          <p:nvPr/>
        </p:nvSpPr>
        <p:spPr>
          <a:xfrm>
            <a:off x="6263640" y="1645920"/>
            <a:ext cx="5486400" cy="676656"/>
          </a:xfrm>
          <a:prstGeom prst="rect">
            <a:avLst/>
          </a:prstGeom>
          <a:solidFill>
            <a:srgbClr val="1A2332"/>
          </a:solidFill>
          <a:ln/>
        </p:spPr>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Camp David Accords</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Acuerdos de Camp David</a:t>
            </a:r>
            <a:endParaRPr lang="en-US" sz="1000" dirty="0"/>
          </a:p>
        </p:txBody>
      </p:sp>
      <p:sp>
        <p:nvSpPr>
          <p:cNvPr id="16" name="Shape 14"/>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7" name="Text 15"/>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CD</a:t>
            </a:r>
            <a:endParaRPr lang="en-US" sz="1300" dirty="0"/>
          </a:p>
        </p:txBody>
      </p:sp>
      <p:sp>
        <p:nvSpPr>
          <p:cNvPr id="18" name="Text 16"/>
          <p:cNvSpPr/>
          <p:nvPr/>
        </p:nvSpPr>
        <p:spPr>
          <a:xfrm>
            <a:off x="6940296" y="2395728"/>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Historic 1978 peace agreements brokered by President Carter between Israeli Prime Minister Begin and Egyptian President Sadat, leading to the first peace treaty between Israel and an Arab nation.</a:t>
            </a:r>
            <a:endParaRPr lang="en-US" sz="1100" dirty="0"/>
          </a:p>
        </p:txBody>
      </p:sp>
      <p:sp>
        <p:nvSpPr>
          <p:cNvPr id="19" name="Text 17"/>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20" name="Text 1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93</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US.88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Weigh successes against setbacks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Carter brokered the Camp David Accords but was hurt by the Iran Hostage Crisis. How do I weigh these against each other?</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Camp David was a historic diplomatic success; the hostage crisis was a prolonged failure that made him look weak.</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To weigh events, I judge each by its impact and how long it lasted — a lasting peace treaty versus a 444-day crisis that helped cost him reelection.</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name Carter's biggest success and biggest setback, and explain which mattered more for his presidency.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94</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US.88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The Carter Years — HIPP[O] Source Analysis</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a Carter-era primary source, complete the HIPP[O] organizer: Historical context, Intended audience, Purpose, Point of view, and Overall significance. Then list the major events of Carter's presidency — the Camp David Accords (1978), the energy crisis and “malaise,” and the Iran Hostage Crisis — and note whether each was a success or a setback. Finish with a claim on how the hostage crisis affected Americans' confidence.</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HIPP[O] organizer for one source, a labeled list of Carter's key events (success vs. setback), and a one-sentence claim on why the Camp David Accords are remembered as his greatest achievement.</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HIPP[O] organizer with guiding questions and a matching activity linking each event to success or setback. Honors: Evaluate whether Carter should be judged more by his foreign-policy successes or his domestic struggles. Defend with evidence.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printables/unit-10/hippo-primary-source-organizer.html</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95</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US.88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What crisis does Carter identify as threatening America?</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 military threat from the Soviet Union</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 crisis of confidence and loss of national unity and purpose</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An economic depression</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 constitutional crisis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96</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US.88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What crisis does Carter identify as threatening America?</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 military threat from the Soviet Union</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A crisis of confidence and loss of national unity and purpose</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An economic depression</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 constitutional crisis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Carter describes "a crisis of confidence" that "strikes at the very heart and soul and spirit of our national will" and a "loss of a unity of purpose."</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97</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US.88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Economic Difficulties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Energy Crisis Implications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Panama Canal Treaty</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Iran Hostage Crisis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Camp David Accords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150" i="1" dirty="0">
                <a:solidFill>
                  <a:srgbClr val="1F2430"/>
                </a:solidFill>
                <a:latin typeface="Calibri" pitchFamily="34" charset="0"/>
                <a:ea typeface="Calibri" pitchFamily="34" charset="-122"/>
                <a:cs typeface="Calibri" pitchFamily="34" charset="-120"/>
              </a:rPr>
              <a:t>Evaluate whether Carter should be judged more by his foreign-policy successes or his domestic struggles. Defend with evidence.</a:t>
            </a:r>
            <a:endParaRPr lang="en-US" sz="11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Describe Carter's greatest foreign-policy success and the crisis that most damaged his presidency.</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98</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US.89</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Reagan Administration Significance</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Analyze the significance of President Ronald Reagan's administration, including: Revitalization of national pride, Reaganomics, Iran-Contra affair, "War on Drugs", Strategic Defense Initiative, AIDS epidemic.</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150" b="1" dirty="0">
                <a:solidFill>
                  <a:srgbClr val="1A2332"/>
                </a:solidFill>
                <a:latin typeface="Calibri" pitchFamily="34" charset="0"/>
                <a:ea typeface="Calibri" pitchFamily="34" charset="-122"/>
                <a:cs typeface="Calibri" pitchFamily="34" charset="-120"/>
              </a:rPr>
              <a:t>I can analyze the significance of President Ronald Reagan's administration, including the revitalization of national pride, Reaganomics, Iran-Contra affair, "War on Drugs," Strategic Defense Initiative, and the AIDS epidemic.</a:t>
            </a:r>
            <a:endParaRPr lang="en-US" sz="11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99</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US.89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US.88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We just studied the Carter years. What was his greatest foreign-policy success, and what crisis hurt his presidency?</a:t>
            </a:r>
            <a:endParaRPr lang="en-US" sz="1350" dirty="0"/>
          </a:p>
        </p:txBody>
      </p:sp>
      <p:sp>
        <p:nvSpPr>
          <p:cNvPr id="11"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100</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US.89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was the name for Reagan's tax-cutting, supply-side economic policy?</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Reaganomics.</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101</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US.89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Standing at the Berlin Wall, President Reagan demanded, “Mr. Gorbachev, tear down this wall!” — two years later it fell. Reagan cut taxes, built up the military, and restored a sense of national confidence, while critics pointed to deficits and the Iran-Contra affair.</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Reagan believed lower taxes and a stronger military would revive America. How do you judge whether a president's economic and foreign policies actually worked — by the results at the time, or years later?</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102</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Strategies for Enhancing National Pride</a:t>
            </a:r>
            <a:endParaRPr lang="en-US" sz="3000" dirty="0"/>
          </a:p>
        </p:txBody>
      </p:sp>
      <p:sp>
        <p:nvSpPr>
          <p:cNvPr id="5" name="Shape 3"/>
          <p:cNvSpPr/>
          <p:nvPr/>
        </p:nvSpPr>
        <p:spPr>
          <a:xfrm>
            <a:off x="10180015" y="502920"/>
            <a:ext cx="146304" cy="146304"/>
          </a:xfrm>
          <a:prstGeom prst="ellipse">
            <a:avLst/>
          </a:prstGeom>
          <a:solidFill>
            <a:srgbClr val="C62828"/>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5</a:t>
            </a:r>
            <a:endParaRPr lang="en-US" sz="1000" dirty="0"/>
          </a:p>
        </p:txBody>
      </p:sp>
      <p:sp>
        <p:nvSpPr>
          <p:cNvPr id="11" name="Shape 9"/>
          <p:cNvSpPr/>
          <p:nvPr/>
        </p:nvSpPr>
        <p:spPr>
          <a:xfrm>
            <a:off x="548640" y="1783080"/>
            <a:ext cx="676656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612648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Reagan restored American confidence through optimistic rhetoric ("Morning in America"), a military buildup demonstrating strength, and successful foreign interventions (Grenada).</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His communication skills and personal charisma helped Americans feel proud of their country again after Vietnam, Watergate, and the Iran hostage crisis had damaged national morale.</a:t>
            </a:r>
            <a:endParaRPr lang="en-US" sz="1550" dirty="0"/>
          </a:p>
        </p:txBody>
      </p:sp>
      <p:sp>
        <p:nvSpPr>
          <p:cNvPr id="13" name="Shape 11"/>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sp>
      <p:sp>
        <p:nvSpPr>
          <p:cNvPr id="14" name="Text 12"/>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5" name="Text 13"/>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Reaganomics tried to help the economy by ___, while Reagan pressured the Soviet Union by ___.</a:t>
            </a:r>
            <a:endParaRPr lang="en-US" sz="1050" dirty="0"/>
          </a:p>
        </p:txBody>
      </p:sp>
      <p:sp>
        <p:nvSpPr>
          <p:cNvPr id="16" name="Shape 14"/>
          <p:cNvSpPr/>
          <p:nvPr/>
        </p:nvSpPr>
        <p:spPr>
          <a:xfrm>
            <a:off x="7552944" y="1746504"/>
            <a:ext cx="4142232" cy="2935224"/>
          </a:xfrm>
          <a:prstGeom prst="rect">
            <a:avLst/>
          </a:prstGeom>
          <a:solidFill>
            <a:srgbClr val="FFFFFF"/>
          </a:solidFill>
          <a:ln w="12700">
            <a:solidFill>
              <a:srgbClr val="DAD3C2"/>
            </a:solidFill>
            <a:prstDash val="solid"/>
          </a:ln>
        </p:spPr>
      </p:sp>
      <p:pic>
        <p:nvPicPr>
          <p:cNvPr id="17" name="Image 0" descr="unit10-full/img/space-shuttle-challenger-explosion-january-1986.jpg">    </p:cNvPr>
          <p:cNvPicPr>
            <a:picLocks noChangeAspect="1"/>
          </p:cNvPicPr>
          <p:nvPr/>
        </p:nvPicPr>
        <p:blipFill>
          <a:blip r:embed="rId1"/>
          <a:stretch>
            <a:fillRect/>
          </a:stretch>
        </p:blipFill>
        <p:spPr>
          <a:xfrm>
            <a:off x="7857690" y="1783080"/>
            <a:ext cx="3532741" cy="2862072"/>
          </a:xfrm>
          <a:prstGeom prst="rect">
            <a:avLst/>
          </a:prstGeom>
        </p:spPr>
      </p:pic>
      <p:sp>
        <p:nvSpPr>
          <p:cNvPr id="18" name="Text 15"/>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Kennedy Space Center, NASA, January 28, 1986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NASA (Photo GPN-2004-00012); via Wikimedia Commons</a:t>
            </a:r>
            <a:endParaRPr lang="en-US" sz="800" dirty="0"/>
          </a:p>
        </p:txBody>
      </p:sp>
      <p:sp>
        <p:nvSpPr>
          <p:cNvPr id="19" name="Shape 16"/>
          <p:cNvSpPr/>
          <p:nvPr/>
        </p:nvSpPr>
        <p:spPr>
          <a:xfrm>
            <a:off x="7589520" y="5440680"/>
            <a:ext cx="4069080" cy="713232"/>
          </a:xfrm>
          <a:prstGeom prst="roundRect">
            <a:avLst>
              <a:gd name="adj" fmla="val 7692"/>
            </a:avLst>
          </a:prstGeom>
          <a:solidFill>
            <a:srgbClr val="1A2332"/>
          </a:solidFill>
          <a:ln/>
        </p:spPr>
      </p:sp>
      <p:sp>
        <p:nvSpPr>
          <p:cNvPr id="20" name="Text 17"/>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2" name="Text 1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3" name="Text 1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103</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Reaganomics Principles and Impacts</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C62828"/>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Principles: Supply-side economics emphasizing tax cuts, deregulation, and reduced government spending (except defense).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Impacts: Economic growth resumed and inflation fell, but income inequality increased and federal deficits soared.</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Tax cuts primarily benefited wealthy Americans, while social program cuts affected the poor, creating debates about fairness that continue today.</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104</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Strategic Defense Initiative</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C62828"/>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"Star Wars" proposed a space-based missile defense system to protect against nuclear attack.</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Reagan believed this would make nuclear weapons "impotent and obsolete" while demonstrating American technological superiority.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Critics argued it was technologically unfeasible and destabilizing to arms control, though some credit it with pressuring the Soviet Union.</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105</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Iran-Contra Affair</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C62828"/>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Reagan administration secretly sold arms to Iran to fund Nicaraguan Contras, violating congressional prohibitions.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When exposed, it revealed illegal activities, damaged Reagan's credibility, and led to criminal convictions of several officials.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scandal raised questions about presidential knowledge and adherence to constitutional limits on executive power.</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106</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US.89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AIDS Epidemic Response</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C62828"/>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5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Reagan's delayed and inadequate response to AIDS reflected social prejudices and conservative values.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administration initially ignored the crisis, providing minimal funding for research or prevention.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delayed response contributed to the epidemic's spread and thousands of preventable deaths, creating lasting criticism of Reagan's public health leadership.</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107</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US.89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President Ronald Reagan</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40th President of the United States</a:t>
            </a:r>
            <a:endParaRPr lang="en-US" sz="1100" dirty="0"/>
          </a:p>
        </p:txBody>
      </p:sp>
      <p:sp>
        <p:nvSpPr>
          <p:cNvPr id="9" name="Text 7"/>
          <p:cNvSpPr/>
          <p:nvPr/>
        </p:nvSpPr>
        <p:spPr>
          <a:xfrm>
            <a:off x="694944" y="2606040"/>
            <a:ext cx="1077163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Cut taxes and increased military spending under "Reaganomics"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Challenged Soviet leader Gorbachev to "tear down this wall" (1987)</a:t>
            </a:r>
            <a:endParaRPr lang="en-US" sz="1300" dirty="0"/>
          </a:p>
        </p:txBody>
      </p:sp>
      <p:sp>
        <p:nvSpPr>
          <p:cNvPr id="10" name="Shape 8"/>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Communication ("the Great Communicator")</a:t>
            </a:r>
            <a:endParaRPr lang="en-US" sz="8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108</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US.89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First Inaugural Address</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Argumentation</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Ronald Reagan  ·  January 20, 1981</a:t>
            </a:r>
            <a:endParaRPr lang="en-US" sz="1200" dirty="0"/>
          </a:p>
        </p:txBody>
      </p:sp>
      <p:sp>
        <p:nvSpPr>
          <p:cNvPr id="8" name="Shape 6"/>
          <p:cNvSpPr/>
          <p:nvPr/>
        </p:nvSpPr>
        <p:spPr>
          <a:xfrm>
            <a:off x="512064" y="1700784"/>
            <a:ext cx="3273552" cy="2606040"/>
          </a:xfrm>
          <a:prstGeom prst="rect">
            <a:avLst/>
          </a:prstGeom>
          <a:solidFill>
            <a:srgbClr val="FFFFFF"/>
          </a:solidFill>
          <a:ln w="12700">
            <a:solidFill>
              <a:srgbClr val="DAD3C2"/>
            </a:solidFill>
            <a:prstDash val="solid"/>
          </a:ln>
        </p:spPr>
      </p:sp>
      <p:pic>
        <p:nvPicPr>
          <p:cNvPr id="9" name="Image 0" descr="unit10-full/img/reagan-tear-down-this-wall-1987.jpg">    </p:cNvPr>
          <p:cNvPicPr>
            <a:picLocks noChangeAspect="1"/>
          </p:cNvPicPr>
          <p:nvPr/>
        </p:nvPicPr>
        <p:blipFill>
          <a:blip r:embed="rId1"/>
          <a:stretch>
            <a:fillRect/>
          </a:stretch>
        </p:blipFill>
        <p:spPr>
          <a:xfrm>
            <a:off x="548640" y="1741146"/>
            <a:ext cx="3200400" cy="2525316"/>
          </a:xfrm>
          <a:prstGeom prst="rect">
            <a:avLst/>
          </a:prstGeom>
        </p:spPr>
      </p:pic>
      <p:sp>
        <p:nvSpPr>
          <p:cNvPr id="10" name="Text 7"/>
          <p:cNvSpPr/>
          <p:nvPr/>
        </p:nvSpPr>
        <p:spPr>
          <a:xfrm>
            <a:off x="548640" y="4325112"/>
            <a:ext cx="3200400" cy="658368"/>
          </a:xfrm>
          <a:prstGeom prst="rect">
            <a:avLst/>
          </a:prstGeom>
          <a:noFill/>
          <a:ln/>
        </p:spPr>
        <p:txBody>
          <a:bodyPr wrap="square" rtlCol="0" anchor="t"/>
          <a:lstStyle/>
          <a:p>
            <a:pPr algn="l" indent="0" marL="0">
              <a:lnSpc>
                <a:spcPct val="100000"/>
              </a:lnSpc>
              <a:buNone/>
            </a:pPr>
            <a:pPr algn="l" indent="0" marL="0">
              <a:lnSpc>
                <a:spcPct val="100000"/>
              </a:lnSpc>
              <a:buNone/>
            </a:pPr>
            <a:r>
              <a:rPr lang="en-US" sz="700" i="1" dirty="0">
                <a:solidFill>
                  <a:srgbClr val="5C6470"/>
                </a:solidFill>
                <a:latin typeface="Calibri" pitchFamily="34" charset="0"/>
                <a:ea typeface="Calibri" pitchFamily="34" charset="-122"/>
                <a:cs typeface="Calibri" pitchFamily="34" charset="-120"/>
              </a:rPr>
              <a:t>Reagan White House Photographic Office, June 12, 1987  </a:t>
            </a:r>
            <a:pPr algn="l" indent="0" marL="0">
              <a:lnSpc>
                <a:spcPct val="100000"/>
              </a:lnSpc>
              <a:buNone/>
            </a:pPr>
            <a:r>
              <a:rPr lang="en-US" sz="7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National Archives and Records Administration (NARA)</a:t>
            </a:r>
            <a:endParaRPr lang="en-US" sz="70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sp>
      <p:sp>
        <p:nvSpPr>
          <p:cNvPr id="12" name="Text 9"/>
          <p:cNvSpPr/>
          <p:nvPr/>
        </p:nvSpPr>
        <p:spPr>
          <a:xfrm>
            <a:off x="768096" y="1865376"/>
            <a:ext cx="2761488" cy="438912"/>
          </a:xfrm>
          <a:prstGeom prst="rect">
            <a:avLst/>
          </a:prstGeom>
          <a:noFill/>
          <a:ln/>
        </p:spPr>
        <p:txBody>
          <a:bodyPr wrap="square" rtlCol="0" anchor="ctr"/>
          <a:lstStyle/>
          <a:p>
            <a:pPr indent="0" marL="0">
              <a:lnSpc>
                <a:spcPct val="95000"/>
              </a:lnSpc>
              <a:buNone/>
            </a:pPr>
            <a:r>
              <a:rPr lang="en-US" sz="950" b="1" spc="150" kern="0" dirty="0">
                <a:solidFill>
                  <a:srgbClr val="1A2332"/>
                </a:solidFill>
                <a:latin typeface="Trebuchet MS" pitchFamily="34" charset="0"/>
                <a:ea typeface="Trebuchet MS" pitchFamily="34" charset="-122"/>
                <a:cs typeface="Trebuchet MS" pitchFamily="34" charset="-120"/>
              </a:rPr>
              <a:t>ZOOM IN  </a:t>
            </a:r>
            <a:pPr indent="0" marL="0">
              <a:lnSpc>
                <a:spcPct val="95000"/>
              </a:lnSpc>
              <a:buNone/>
            </a:pP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sp>
      <p:sp>
        <p:nvSpPr>
          <p:cNvPr id="14" name="Shape 11"/>
          <p:cNvSpPr/>
          <p:nvPr/>
        </p:nvSpPr>
        <p:spPr>
          <a:xfrm>
            <a:off x="3931920" y="1737360"/>
            <a:ext cx="91440" cy="3246120"/>
          </a:xfrm>
          <a:prstGeom prst="rect">
            <a:avLst/>
          </a:prstGeom>
          <a:solidFill>
            <a:srgbClr val="C9A84C"/>
          </a:solidFill>
          <a:ln/>
        </p:spPr>
      </p:sp>
      <p:sp>
        <p:nvSpPr>
          <p:cNvPr id="15" name="Text 12"/>
          <p:cNvSpPr/>
          <p:nvPr/>
        </p:nvSpPr>
        <p:spPr>
          <a:xfrm>
            <a:off x="4160520" y="1920240"/>
            <a:ext cx="3200400" cy="2880360"/>
          </a:xfrm>
          <a:prstGeom prst="rect">
            <a:avLst/>
          </a:prstGeom>
          <a:noFill/>
          <a:ln/>
        </p:spPr>
        <p:txBody>
          <a:bodyPr wrap="square" rtlCol="0" anchor="t"/>
          <a:lstStyle/>
          <a:p>
            <a:pPr indent="0" marL="0">
              <a:lnSpc>
                <a:spcPct val="112000"/>
              </a:lnSpc>
              <a:buNone/>
            </a:pPr>
            <a:r>
              <a:rPr lang="en-US" sz="1250" i="1" dirty="0">
                <a:solidFill>
                  <a:srgbClr val="1F2430"/>
                </a:solidFill>
                <a:latin typeface="Georgia" pitchFamily="34" charset="0"/>
                <a:ea typeface="Georgia" pitchFamily="34" charset="-122"/>
                <a:cs typeface="Georgia" pitchFamily="34" charset="-120"/>
              </a:rPr>
              <a:t>"In this present crisis, government is not the solution to our problem; government is the problem. From time to time we've been tempted to believe that society has become too complex to be managed by self-rule... But if no one among us is capable of governing himself, then who among us has the capacity to govern someone else?"</a:t>
            </a:r>
            <a:endParaRPr lang="en-US" sz="1250" dirty="0"/>
          </a:p>
        </p:txBody>
      </p:sp>
      <p:sp>
        <p:nvSpPr>
          <p:cNvPr id="16" name="Shape 13"/>
          <p:cNvSpPr/>
          <p:nvPr/>
        </p:nvSpPr>
        <p:spPr>
          <a:xfrm>
            <a:off x="7589520" y="1737360"/>
            <a:ext cx="4023360" cy="1463040"/>
          </a:xfrm>
          <a:prstGeom prst="roundRect">
            <a:avLst>
              <a:gd name="adj" fmla="val 5000"/>
            </a:avLst>
          </a:prstGeom>
          <a:solidFill>
            <a:srgbClr val="1A2332"/>
          </a:solidFill>
          <a:ln/>
        </p:spPr>
      </p:sp>
      <p:sp>
        <p:nvSpPr>
          <p:cNvPr id="17" name="Text 14"/>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950976"/>
          </a:xfrm>
          <a:prstGeom prst="rect">
            <a:avLst/>
          </a:prstGeom>
          <a:noFill/>
          <a:ln/>
        </p:spPr>
        <p:txBody>
          <a:bodyPr wrap="square" rtlCol="0" anchor="t">
            <a:normAutofit/>
          </a:bodyPr>
          <a:lstStyle/>
          <a:p>
            <a:pPr indent="0" marL="0">
              <a:lnSpc>
                <a:spcPct val="96000"/>
              </a:lnSpc>
              <a:buNone/>
            </a:pPr>
            <a:r>
              <a:rPr lang="en-US" sz="1050" dirty="0">
                <a:solidFill>
                  <a:srgbClr val="FFFFFF"/>
                </a:solidFill>
                <a:latin typeface="Calibri" pitchFamily="34" charset="0"/>
                <a:ea typeface="Calibri" pitchFamily="34" charset="-122"/>
                <a:cs typeface="Calibri" pitchFamily="34" charset="-120"/>
              </a:rPr>
              <a:t>Reagan took office in January 1981 during high inflation and unemployment. His inaugural address announced a sharp turn away from the New Deal and Great Society tradition of activist government, summarizing his conservative philosophy in a single famous line.</a:t>
            </a:r>
            <a:endParaRPr lang="en-US" sz="1050" dirty="0"/>
          </a:p>
        </p:txBody>
      </p:sp>
      <p:sp>
        <p:nvSpPr>
          <p:cNvPr id="19" name="Shape 16"/>
          <p:cNvSpPr/>
          <p:nvPr/>
        </p:nvSpPr>
        <p:spPr>
          <a:xfrm>
            <a:off x="7589520" y="3383280"/>
            <a:ext cx="4023360" cy="1600200"/>
          </a:xfrm>
          <a:prstGeom prst="roundRect">
            <a:avLst>
              <a:gd name="adj" fmla="val 4571"/>
            </a:avLst>
          </a:prstGeom>
          <a:solidFill>
            <a:srgbClr val="C9A84C"/>
          </a:solidFill>
          <a:ln/>
        </p:spPr>
      </p:sp>
      <p:sp>
        <p:nvSpPr>
          <p:cNvPr id="20" name="Text 17"/>
          <p:cNvSpPr/>
          <p:nvPr/>
        </p:nvSpPr>
        <p:spPr>
          <a:xfrm>
            <a:off x="7818120" y="350215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3803904"/>
            <a:ext cx="3611880" cy="106984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is Reagan's view of government according to this speech?</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sp>
      <p:sp>
        <p:nvSpPr>
          <p:cNvPr id="23" name="Shape 20"/>
          <p:cNvSpPr/>
          <p:nvPr/>
        </p:nvSpPr>
        <p:spPr>
          <a:xfrm>
            <a:off x="548640" y="5120640"/>
            <a:ext cx="2423160" cy="841248"/>
          </a:xfrm>
          <a:prstGeom prst="rect">
            <a:avLst/>
          </a:prstGeom>
          <a:solidFill>
            <a:srgbClr val="002858"/>
          </a:solidFill>
          <a:ln/>
        </p:spPr>
      </p:sp>
      <p:sp>
        <p:nvSpPr>
          <p:cNvPr id="24" name="Text 21"/>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President Ronald Reagan</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January 20, 1981</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that an inaugural address is designed to set the tone and philosophy for a whole presidency.</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109</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US.89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874520"/>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Reaganomics</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Reaganomics</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R</a:t>
            </a:r>
            <a:endParaRPr lang="en-US" sz="1500" dirty="0"/>
          </a:p>
        </p:txBody>
      </p:sp>
      <p:sp>
        <p:nvSpPr>
          <p:cNvPr id="11" name="Text 9"/>
          <p:cNvSpPr/>
          <p:nvPr/>
        </p:nvSpPr>
        <p:spPr>
          <a:xfrm>
            <a:off x="1225296" y="2395728"/>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President Reagan's economic policy combining tax cuts (especially for the wealthy), reduced government spending on social programs, increased military spending, and deregulation, based on "supply-side" economics.</a:t>
            </a:r>
            <a:endParaRPr lang="en-US" sz="1100" dirty="0"/>
          </a:p>
        </p:txBody>
      </p:sp>
      <p:sp>
        <p:nvSpPr>
          <p:cNvPr id="12" name="Shape 10"/>
          <p:cNvSpPr/>
          <p:nvPr/>
        </p:nvSpPr>
        <p:spPr>
          <a:xfrm>
            <a:off x="6263640" y="1645920"/>
            <a:ext cx="5486400" cy="1874520"/>
          </a:xfrm>
          <a:prstGeom prst="rect">
            <a:avLst/>
          </a:prstGeom>
          <a:solidFill>
            <a:srgbClr val="FFFFFF"/>
          </a:solidFill>
          <a:ln w="12700">
            <a:solidFill>
              <a:srgbClr val="DAD3C2"/>
            </a:solidFill>
            <a:prstDash val="solid"/>
          </a:ln>
        </p:spPr>
      </p:sp>
      <p:sp>
        <p:nvSpPr>
          <p:cNvPr id="13" name="Shape 11"/>
          <p:cNvSpPr/>
          <p:nvPr/>
        </p:nvSpPr>
        <p:spPr>
          <a:xfrm>
            <a:off x="6263640" y="1645920"/>
            <a:ext cx="5486400" cy="676656"/>
          </a:xfrm>
          <a:prstGeom prst="rect">
            <a:avLst/>
          </a:prstGeom>
          <a:solidFill>
            <a:srgbClr val="1A2332"/>
          </a:solidFill>
          <a:ln/>
        </p:spPr>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Iran-Contra Affair</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Asunto Irán-Contra</a:t>
            </a:r>
            <a:endParaRPr lang="en-US" sz="1000" dirty="0"/>
          </a:p>
        </p:txBody>
      </p:sp>
      <p:sp>
        <p:nvSpPr>
          <p:cNvPr id="16" name="Shape 14"/>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7" name="Text 15"/>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IA</a:t>
            </a:r>
            <a:endParaRPr lang="en-US" sz="1300" dirty="0"/>
          </a:p>
        </p:txBody>
      </p:sp>
      <p:sp>
        <p:nvSpPr>
          <p:cNvPr id="18" name="Text 16"/>
          <p:cNvSpPr/>
          <p:nvPr/>
        </p:nvSpPr>
        <p:spPr>
          <a:xfrm>
            <a:off x="6940296" y="2395728"/>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Reagan administration scandal in which officials secretly sold weapons to Iran and illegally diverted profits to fund Contra rebels in Nicaragua, violating Congressional restrictions.</a:t>
            </a:r>
            <a:endParaRPr lang="en-US" sz="1100" dirty="0"/>
          </a:p>
        </p:txBody>
      </p:sp>
      <p:sp>
        <p:nvSpPr>
          <p:cNvPr id="19" name="Shape 17"/>
          <p:cNvSpPr/>
          <p:nvPr/>
        </p:nvSpPr>
        <p:spPr>
          <a:xfrm>
            <a:off x="548640" y="3685032"/>
            <a:ext cx="5486400" cy="1874520"/>
          </a:xfrm>
          <a:prstGeom prst="rect">
            <a:avLst/>
          </a:prstGeom>
          <a:solidFill>
            <a:srgbClr val="FFFFFF"/>
          </a:solidFill>
          <a:ln w="12700">
            <a:solidFill>
              <a:srgbClr val="DAD3C2"/>
            </a:solidFill>
            <a:prstDash val="solid"/>
          </a:ln>
        </p:spPr>
      </p:sp>
      <p:sp>
        <p:nvSpPr>
          <p:cNvPr id="20" name="Shape 18"/>
          <p:cNvSpPr/>
          <p:nvPr/>
        </p:nvSpPr>
        <p:spPr>
          <a:xfrm>
            <a:off x="548640" y="3685032"/>
            <a:ext cx="5486400" cy="676656"/>
          </a:xfrm>
          <a:prstGeom prst="rect">
            <a:avLst/>
          </a:prstGeom>
          <a:solidFill>
            <a:srgbClr val="1A2332"/>
          </a:solidFill>
          <a:ln/>
        </p:spPr>
      </p:sp>
      <p:sp>
        <p:nvSpPr>
          <p:cNvPr id="21" name="Text 19"/>
          <p:cNvSpPr/>
          <p:nvPr/>
        </p:nvSpPr>
        <p:spPr>
          <a:xfrm>
            <a:off x="685800" y="3739896"/>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War on Drugs</a:t>
            </a:r>
            <a:endParaRPr lang="en-US" sz="1350" dirty="0"/>
          </a:p>
        </p:txBody>
      </p:sp>
      <p:sp>
        <p:nvSpPr>
          <p:cNvPr id="22" name="Text 20"/>
          <p:cNvSpPr/>
          <p:nvPr/>
        </p:nvSpPr>
        <p:spPr>
          <a:xfrm>
            <a:off x="3703320" y="3685032"/>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Guerra contra las Drogas</a:t>
            </a:r>
            <a:endParaRPr lang="en-US" sz="1000" dirty="0"/>
          </a:p>
        </p:txBody>
      </p:sp>
      <p:sp>
        <p:nvSpPr>
          <p:cNvPr id="23" name="Shape 21"/>
          <p:cNvSpPr/>
          <p:nvPr/>
        </p:nvSpPr>
        <p:spPr>
          <a:xfrm>
            <a:off x="667512" y="4434840"/>
            <a:ext cx="457200" cy="457200"/>
          </a:xfrm>
          <a:prstGeom prst="roundRect">
            <a:avLst>
              <a:gd name="adj" fmla="val 16000"/>
            </a:avLst>
          </a:prstGeom>
          <a:solidFill>
            <a:srgbClr val="F3EAD0"/>
          </a:solidFill>
          <a:ln w="12700">
            <a:solidFill>
              <a:srgbClr val="C9A84C"/>
            </a:solidFill>
            <a:prstDash val="solid"/>
          </a:ln>
        </p:spPr>
      </p:sp>
      <p:sp>
        <p:nvSpPr>
          <p:cNvPr id="24" name="Text 22"/>
          <p:cNvSpPr/>
          <p:nvPr/>
        </p:nvSpPr>
        <p:spPr>
          <a:xfrm>
            <a:off x="576072" y="4434840"/>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WO</a:t>
            </a:r>
            <a:endParaRPr lang="en-US" sz="1300" dirty="0"/>
          </a:p>
        </p:txBody>
      </p:sp>
      <p:sp>
        <p:nvSpPr>
          <p:cNvPr id="25" name="Text 23"/>
          <p:cNvSpPr/>
          <p:nvPr/>
        </p:nvSpPr>
        <p:spPr>
          <a:xfrm>
            <a:off x="1225296" y="4434840"/>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Reagan administration's intensified campaign against illegal drug use through mandatory minimum sentences, expanded law enforcement, and mass incarceration, disproportionately affecting minority communities.</a:t>
            </a:r>
            <a:endParaRPr lang="en-US" sz="1100" dirty="0"/>
          </a:p>
        </p:txBody>
      </p:sp>
      <p:sp>
        <p:nvSpPr>
          <p:cNvPr id="26" name="Shape 24"/>
          <p:cNvSpPr/>
          <p:nvPr/>
        </p:nvSpPr>
        <p:spPr>
          <a:xfrm>
            <a:off x="6263640" y="3685032"/>
            <a:ext cx="5486400" cy="1874520"/>
          </a:xfrm>
          <a:prstGeom prst="rect">
            <a:avLst/>
          </a:prstGeom>
          <a:solidFill>
            <a:srgbClr val="FFFFFF"/>
          </a:solidFill>
          <a:ln w="12700">
            <a:solidFill>
              <a:srgbClr val="DAD3C2"/>
            </a:solidFill>
            <a:prstDash val="solid"/>
          </a:ln>
        </p:spPr>
      </p:sp>
      <p:sp>
        <p:nvSpPr>
          <p:cNvPr id="27" name="Shape 25"/>
          <p:cNvSpPr/>
          <p:nvPr/>
        </p:nvSpPr>
        <p:spPr>
          <a:xfrm>
            <a:off x="6263640" y="3685032"/>
            <a:ext cx="5486400" cy="676656"/>
          </a:xfrm>
          <a:prstGeom prst="rect">
            <a:avLst/>
          </a:prstGeom>
          <a:solidFill>
            <a:srgbClr val="1A2332"/>
          </a:solidFill>
          <a:ln/>
        </p:spPr>
      </p:sp>
      <p:sp>
        <p:nvSpPr>
          <p:cNvPr id="28" name="Text 26"/>
          <p:cNvSpPr/>
          <p:nvPr/>
        </p:nvSpPr>
        <p:spPr>
          <a:xfrm>
            <a:off x="6400800" y="3739896"/>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AIDS Epidemic</a:t>
            </a:r>
            <a:endParaRPr lang="en-US" sz="1350" dirty="0"/>
          </a:p>
        </p:txBody>
      </p:sp>
      <p:sp>
        <p:nvSpPr>
          <p:cNvPr id="29" name="Text 27"/>
          <p:cNvSpPr/>
          <p:nvPr/>
        </p:nvSpPr>
        <p:spPr>
          <a:xfrm>
            <a:off x="9418320" y="3685032"/>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Epidemia de SIDA</a:t>
            </a:r>
            <a:endParaRPr lang="en-US" sz="1000" dirty="0"/>
          </a:p>
        </p:txBody>
      </p:sp>
      <p:sp>
        <p:nvSpPr>
          <p:cNvPr id="30" name="Shape 28"/>
          <p:cNvSpPr/>
          <p:nvPr/>
        </p:nvSpPr>
        <p:spPr>
          <a:xfrm>
            <a:off x="6382512" y="4434840"/>
            <a:ext cx="457200" cy="457200"/>
          </a:xfrm>
          <a:prstGeom prst="roundRect">
            <a:avLst>
              <a:gd name="adj" fmla="val 16000"/>
            </a:avLst>
          </a:prstGeom>
          <a:solidFill>
            <a:srgbClr val="F3EAD0"/>
          </a:solidFill>
          <a:ln w="12700">
            <a:solidFill>
              <a:srgbClr val="C9A84C"/>
            </a:solidFill>
            <a:prstDash val="solid"/>
          </a:ln>
        </p:spPr>
      </p:sp>
      <p:sp>
        <p:nvSpPr>
          <p:cNvPr id="31" name="Text 29"/>
          <p:cNvSpPr/>
          <p:nvPr/>
        </p:nvSpPr>
        <p:spPr>
          <a:xfrm>
            <a:off x="6291072" y="4434840"/>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AE</a:t>
            </a:r>
            <a:endParaRPr lang="en-US" sz="1300" dirty="0"/>
          </a:p>
        </p:txBody>
      </p:sp>
      <p:sp>
        <p:nvSpPr>
          <p:cNvPr id="32" name="Text 30"/>
          <p:cNvSpPr/>
          <p:nvPr/>
        </p:nvSpPr>
        <p:spPr>
          <a:xfrm>
            <a:off x="6940296" y="4434840"/>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Public health crisis beginning in the 1980s caused by HIV/AIDS, killing hundreds of thousands. Reagan was criticized for a slow federal response, particularly as the disease initially affected gay men.</a:t>
            </a:r>
            <a:endParaRPr lang="en-US" sz="1100" dirty="0"/>
          </a:p>
        </p:txBody>
      </p:sp>
      <p:sp>
        <p:nvSpPr>
          <p:cNvPr id="33" name="Text 3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34" name="Text 3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5" name="Text 3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110</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US.89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Analyze significance from multiple angles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Reagan is praised for national pride and criticized for the AIDS response. How do I analyze his significance fairly?</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Reagan restored confidence and pressured the USSR, but his AIDS and Iran-Contra records drew serious criticism.</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To analyze significance, I look at both achievements and failures rather than picking only one side — a president can be transformative and flawed at the same time.</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name one Reagan achievement and one criticism, and explain how both shape his historical significance.</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111</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US.89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700" b="1" dirty="0">
                <a:solidFill>
                  <a:srgbClr val="1A2332"/>
                </a:solidFill>
                <a:latin typeface="Georgia" pitchFamily="34" charset="0"/>
                <a:ea typeface="Georgia" pitchFamily="34" charset="-122"/>
                <a:cs typeface="Georgia" pitchFamily="34" charset="-120"/>
              </a:rPr>
              <a:t>The Reagan Era — Cause &amp; Effect Chart</a:t>
            </a:r>
            <a:endParaRPr lang="en-US" sz="2700" dirty="0"/>
          </a:p>
        </p:txBody>
      </p:sp>
      <p:sp>
        <p:nvSpPr>
          <p:cNvPr id="5" name="Shape 3"/>
          <p:cNvSpPr/>
          <p:nvPr/>
        </p:nvSpPr>
        <p:spPr>
          <a:xfrm>
            <a:off x="548640" y="1591056"/>
            <a:ext cx="1199693" cy="365760"/>
          </a:xfrm>
          <a:prstGeom prst="roundRect">
            <a:avLst>
              <a:gd name="adj" fmla="val 20000"/>
            </a:avLst>
          </a:prstGeom>
          <a:solidFill>
            <a:srgbClr val="1A2332"/>
          </a:solidFill>
          <a:ln/>
        </p:spPr>
      </p:sp>
      <p:sp>
        <p:nvSpPr>
          <p:cNvPr id="6" name="Text 4"/>
          <p:cNvSpPr/>
          <p:nvPr/>
        </p:nvSpPr>
        <p:spPr>
          <a:xfrm>
            <a:off x="548640" y="1591056"/>
            <a:ext cx="119969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sp>
      <p:sp>
        <p:nvSpPr>
          <p:cNvPr id="8" name="Text 6"/>
          <p:cNvSpPr/>
          <p:nvPr/>
        </p:nvSpPr>
        <p:spPr>
          <a:xfrm>
            <a:off x="1912925"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18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Reagan's “Tear Down This Wall” speech excerpt, complete the Cause &amp; Effect organizer. In CAUSES, list the conditions Reagan responded to (high inflation and unemployment, the ongoing Cold War). In EFFECTS, trace his policies and their results — Reaganomics and tax cuts, the military buildup, and increased pressure on the Soviet Union that helped bring the Cold War toward its end. Finish with a claim about how Reagan's policies reshaped the economy and the Cold War.</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250" dirty="0">
                <a:solidFill>
                  <a:srgbClr val="FFFFFF"/>
                </a:solidFill>
                <a:latin typeface="Calibri" pitchFamily="34" charset="0"/>
                <a:ea typeface="Calibri" pitchFamily="34" charset="-122"/>
                <a:cs typeface="Calibri" pitchFamily="34" charset="-120"/>
              </a:rPr>
              <a:t>Completed Cause &amp; Effect organizer (3+ causes, 3+ effects) plus a one-sentence claim on Reagan's most significant legacy.</a:t>
            </a:r>
            <a:endParaRPr lang="en-US" sz="12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Organizer with a word bank (Reaganomics, tax cuts, military buildup, Cold War pressure, Berlin Wall) to place. Honors: Evaluate whether Reagan's economic policy or his Cold War strategy had the greater long-term impact. Argue with evidence.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printables/unit-10/unit-10-cause-effect.html</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112</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US.89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What is Reagan's view of government according to this speech?</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Government should expand its role in society</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Government and business should be partners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Government expertise is needed for complex problems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Government itself is the problem, not the solution</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113</a:t>
            </a:r>
            <a:endParaRPr lang="en-US"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US.89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What is Reagan's view of government according to this speech?</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Government should expand its role in society</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Government and business should be partners</a:t>
            </a:r>
            <a:endParaRPr lang="en-US" sz="1300" dirty="0"/>
          </a:p>
        </p:txBody>
      </p:sp>
      <p:sp>
        <p:nvSpPr>
          <p:cNvPr id="17" name="Shape 15"/>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Government expertise is needed for complex problems</a:t>
            </a:r>
            <a:endParaRPr lang="en-US" sz="1300" dirty="0"/>
          </a:p>
        </p:txBody>
      </p:sp>
      <p:sp>
        <p:nvSpPr>
          <p:cNvPr id="21" name="Shape 19"/>
          <p:cNvSpPr/>
          <p:nvPr/>
        </p:nvSpPr>
        <p:spPr>
          <a:xfrm>
            <a:off x="548640" y="4626864"/>
            <a:ext cx="11064240" cy="566928"/>
          </a:xfrm>
          <a:prstGeom prst="roundRect">
            <a:avLst>
              <a:gd name="adj" fmla="val 9677"/>
            </a:avLst>
          </a:prstGeom>
          <a:solidFill>
            <a:srgbClr val="C9A84C"/>
          </a:solidFill>
          <a:ln w="12700">
            <a:solidFill>
              <a:srgbClr val="F9A825"/>
            </a:solidFill>
            <a:prstDash val="solid"/>
          </a:ln>
        </p:spPr>
      </p:sp>
      <p:sp>
        <p:nvSpPr>
          <p:cNvPr id="22" name="Shape 20"/>
          <p:cNvSpPr/>
          <p:nvPr/>
        </p:nvSpPr>
        <p:spPr>
          <a:xfrm>
            <a:off x="713232" y="4736592"/>
            <a:ext cx="347472" cy="347472"/>
          </a:xfrm>
          <a:prstGeom prst="ellipse">
            <a:avLst/>
          </a:prstGeom>
          <a:solidFill>
            <a:srgbClr val="1A2332"/>
          </a:solidFill>
          <a:ln/>
        </p:spPr>
      </p:sp>
      <p:sp>
        <p:nvSpPr>
          <p:cNvPr id="23" name="Text 21"/>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D</a:t>
            </a:r>
            <a:endParaRPr lang="en-US" sz="1300" dirty="0"/>
          </a:p>
        </p:txBody>
      </p:sp>
      <p:sp>
        <p:nvSpPr>
          <p:cNvPr id="24" name="Text 22"/>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Government itself is the problem, not the solution</a:t>
            </a:r>
            <a:endParaRPr lang="en-US" sz="1300" dirty="0"/>
          </a:p>
        </p:txBody>
      </p:sp>
      <p:sp>
        <p:nvSpPr>
          <p:cNvPr id="25" name="Text 23"/>
          <p:cNvSpPr/>
          <p:nvPr/>
        </p:nvSpPr>
        <p:spPr>
          <a:xfrm>
            <a:off x="11018520" y="4626864"/>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D.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Reagan explicitly states "government is not the solution to our problem; government is the problem," expressing his conservative philosophy of limited government.</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114</a:t>
            </a:r>
            <a:endParaRPr lang="en-US" sz="9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US.89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Strategies for Enhancing National Pride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Reaganomics Principles and Impacts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Strategic Defense Initiative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Iran-Contra Affair</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AIDS Epidemic Response</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150" i="1" dirty="0">
                <a:solidFill>
                  <a:srgbClr val="1F2430"/>
                </a:solidFill>
                <a:latin typeface="Calibri" pitchFamily="34" charset="0"/>
                <a:ea typeface="Calibri" pitchFamily="34" charset="-122"/>
                <a:cs typeface="Calibri" pitchFamily="34" charset="-120"/>
              </a:rPr>
              <a:t>Evaluate whether Reagan's economic policy or his Cold War strategy had the greater long-term impact on the United States. Argue with evidence.</a:t>
            </a:r>
            <a:endParaRPr lang="en-US" sz="11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3</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the main ideas of Reaganomics and describe how Reagan approached the Cold War.</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115</a:t>
            </a:r>
            <a:endParaRPr lang="en-US" sz="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US.90</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George H.W. Bush Administration</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Describe the significant events of President George H.W. Bush's administration, including the invasion of Panama and the Gulf War.</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A2332"/>
                </a:solidFill>
                <a:latin typeface="Calibri" pitchFamily="34" charset="0"/>
                <a:ea typeface="Calibri" pitchFamily="34" charset="-122"/>
                <a:cs typeface="Calibri" pitchFamily="34" charset="-120"/>
              </a:rPr>
              <a:t>I can describe the significant events of President George H.W. Bush's administration, including the invasion of Panama and the Gulf War.</a:t>
            </a:r>
            <a:endParaRPr lang="en-US" sz="13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116</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US.90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US.89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In the last standard we studied the Reagan era. What was “Reaganomics,” and how did Reagan pressure the Soviet Union?</a:t>
            </a:r>
            <a:endParaRPr lang="en-US" sz="1350" dirty="0"/>
          </a:p>
        </p:txBody>
      </p:sp>
      <p:sp>
        <p:nvSpPr>
          <p:cNvPr id="11"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117</a:t>
            </a:r>
            <a:endParaRPr lang="en-US" sz="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US.90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1991 war did George H.W. Bush lead a coalition to win?</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The Persian Gulf War (Operation Desert Storm).</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118</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US.90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In a single presidency, George H.W. Bush watched the Berlin Wall fall, the Soviet Union collapse, and led a global coalition to victory in the Persian Gulf War — leaving the United States as the world's only superpower.</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When the Cold War ended and America became the world's only superpower, what new responsibilities — and new dangers — came with standing alone at the top?</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119</a:t>
            </a:r>
            <a:endParaRPr lang="en-US" sz="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Panama Invasion</a:t>
            </a:r>
            <a:endParaRPr lang="en-US" sz="3000" dirty="0"/>
          </a:p>
        </p:txBody>
      </p:sp>
      <p:sp>
        <p:nvSpPr>
          <p:cNvPr id="5" name="Shape 3"/>
          <p:cNvSpPr/>
          <p:nvPr/>
        </p:nvSpPr>
        <p:spPr>
          <a:xfrm>
            <a:off x="10765231" y="502920"/>
            <a:ext cx="146304" cy="146304"/>
          </a:xfrm>
          <a:prstGeom prst="ellipse">
            <a:avLst/>
          </a:prstGeom>
          <a:solidFill>
            <a:srgbClr val="C62828"/>
          </a:solidFill>
          <a:ln/>
        </p:spPr>
      </p:sp>
      <p:sp>
        <p:nvSpPr>
          <p:cNvPr id="6" name="Shape 4"/>
          <p:cNvSpPr/>
          <p:nvPr/>
        </p:nvSpPr>
        <p:spPr>
          <a:xfrm>
            <a:off x="11057839" y="502920"/>
            <a:ext cx="146304" cy="146304"/>
          </a:xfrm>
          <a:prstGeom prst="ellipse">
            <a:avLst/>
          </a:prstGeom>
          <a:solidFill>
            <a:srgbClr val="A7BACB"/>
          </a:solidFill>
          <a:ln/>
        </p:spPr>
      </p:sp>
      <p:sp>
        <p:nvSpPr>
          <p:cNvPr id="7" name="Shape 5"/>
          <p:cNvSpPr/>
          <p:nvPr/>
        </p:nvSpPr>
        <p:spPr>
          <a:xfrm>
            <a:off x="11350447" y="502920"/>
            <a:ext cx="146304" cy="146304"/>
          </a:xfrm>
          <a:prstGeom prst="ellipse">
            <a:avLst/>
          </a:prstGeom>
          <a:solidFill>
            <a:srgbClr val="A7BACB"/>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sp>
      <p:sp>
        <p:nvSpPr>
          <p:cNvPr id="10" name="Text 8"/>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Operation Just Cause (1989) removed dictator Manuel Noriega, who had been indicted for drug trafficking and was threatening American citizens.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invasion demonstrated post-Cold War American willingness to use military force for law enforcement and humanitarian purposes, establishing precedents for future interventions.</a:t>
            </a:r>
            <a:endParaRPr lang="en-US" sz="1700" dirty="0"/>
          </a:p>
        </p:txBody>
      </p:sp>
      <p:sp>
        <p:nvSpPr>
          <p:cNvPr id="11" name="Shape 9"/>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2" name="Text 10"/>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3" name="Text 11"/>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During the Bush presidency, ___ happened, which meant that the United States ___.</a:t>
            </a:r>
            <a:endParaRPr lang="en-US" sz="11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120</a:t>
            </a:r>
            <a:endParaRPr lang="en-US" sz="9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Gulf War Context and Outcomes</a:t>
            </a:r>
            <a:endParaRPr lang="en-US" sz="3000" dirty="0"/>
          </a:p>
        </p:txBody>
      </p:sp>
      <p:sp>
        <p:nvSpPr>
          <p:cNvPr id="5" name="Shape 3"/>
          <p:cNvSpPr/>
          <p:nvPr/>
        </p:nvSpPr>
        <p:spPr>
          <a:xfrm>
            <a:off x="10765231" y="502920"/>
            <a:ext cx="146304" cy="146304"/>
          </a:xfrm>
          <a:prstGeom prst="ellipse">
            <a:avLst/>
          </a:prstGeom>
          <a:solidFill>
            <a:srgbClr val="A7BACB"/>
          </a:solidFill>
          <a:ln/>
        </p:spPr>
      </p:sp>
      <p:sp>
        <p:nvSpPr>
          <p:cNvPr id="6" name="Shape 4"/>
          <p:cNvSpPr/>
          <p:nvPr/>
        </p:nvSpPr>
        <p:spPr>
          <a:xfrm>
            <a:off x="11057839" y="502920"/>
            <a:ext cx="146304" cy="146304"/>
          </a:xfrm>
          <a:prstGeom prst="ellipse">
            <a:avLst/>
          </a:prstGeom>
          <a:solidFill>
            <a:srgbClr val="C62828"/>
          </a:solidFill>
          <a:ln/>
        </p:spPr>
      </p:sp>
      <p:sp>
        <p:nvSpPr>
          <p:cNvPr id="7" name="Shape 5"/>
          <p:cNvSpPr/>
          <p:nvPr/>
        </p:nvSpPr>
        <p:spPr>
          <a:xfrm>
            <a:off x="11350447" y="502920"/>
            <a:ext cx="146304" cy="146304"/>
          </a:xfrm>
          <a:prstGeom prst="ellipse">
            <a:avLst/>
          </a:prstGeom>
          <a:solidFill>
            <a:srgbClr val="A7BACB"/>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3</a:t>
            </a:r>
            <a:endParaRPr lang="en-US" sz="1000" dirty="0"/>
          </a:p>
        </p:txBody>
      </p:sp>
      <p:sp>
        <p:nvSpPr>
          <p:cNvPr id="9" name="Shape 7"/>
          <p:cNvSpPr/>
          <p:nvPr/>
        </p:nvSpPr>
        <p:spPr>
          <a:xfrm>
            <a:off x="548640" y="1783080"/>
            <a:ext cx="6766560" cy="4069080"/>
          </a:xfrm>
          <a:prstGeom prst="rect">
            <a:avLst/>
          </a:prstGeom>
          <a:solidFill>
            <a:srgbClr val="FFFFFF"/>
          </a:solidFill>
          <a:ln w="12700">
            <a:solidFill>
              <a:srgbClr val="DAD3C2"/>
            </a:solidFill>
            <a:prstDash val="solid"/>
          </a:ln>
        </p:spPr>
      </p:sp>
      <p:sp>
        <p:nvSpPr>
          <p:cNvPr id="10" name="Text 8"/>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When Iraq invaded Kuwait (1990), Bush assembled an international coalition and obtained UN authorization for military action.</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Operation Desert Storm (1991) quickly liberated Kuwait with minimal coalition casualties, demonstrating American military superiority, effective international diplomacy, and the potential for multilateral action in the post-Cold War world.</a:t>
            </a:r>
            <a:endParaRPr lang="en-US" sz="1550" dirty="0"/>
          </a:p>
        </p:txBody>
      </p:sp>
      <p:sp>
        <p:nvSpPr>
          <p:cNvPr id="11" name="Shape 9"/>
          <p:cNvSpPr/>
          <p:nvPr/>
        </p:nvSpPr>
        <p:spPr>
          <a:xfrm>
            <a:off x="7552944" y="1746504"/>
            <a:ext cx="4142232" cy="3575304"/>
          </a:xfrm>
          <a:prstGeom prst="rect">
            <a:avLst/>
          </a:prstGeom>
          <a:solidFill>
            <a:srgbClr val="FFFFFF"/>
          </a:solidFill>
          <a:ln w="12700">
            <a:solidFill>
              <a:srgbClr val="DAD3C2"/>
            </a:solidFill>
            <a:prstDash val="solid"/>
          </a:ln>
        </p:spPr>
      </p:sp>
      <p:pic>
        <p:nvPicPr>
          <p:cNvPr id="12" name="Image 0" descr="unit10-full/img/operation-desert-storm-kuwait-oil-field-1991.jpg">    </p:cNvPr>
          <p:cNvPicPr>
            <a:picLocks noChangeAspect="1"/>
          </p:cNvPicPr>
          <p:nvPr/>
        </p:nvPicPr>
        <p:blipFill>
          <a:blip r:embed="rId1"/>
          <a:stretch>
            <a:fillRect/>
          </a:stretch>
        </p:blipFill>
        <p:spPr>
          <a:xfrm>
            <a:off x="7589520" y="2173557"/>
            <a:ext cx="4069080" cy="2721197"/>
          </a:xfrm>
          <a:prstGeom prst="rect">
            <a:avLst/>
          </a:prstGeom>
        </p:spPr>
      </p:pic>
      <p:sp>
        <p:nvSpPr>
          <p:cNvPr id="13" name="Text 10"/>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Tech. Sgt. David McLeod, U.S. Air Force, 1991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 Department of Defense</a:t>
            </a:r>
            <a:endParaRPr lang="en-US" sz="800" dirty="0"/>
          </a:p>
        </p:txBody>
      </p:sp>
      <p:sp>
        <p:nvSpPr>
          <p:cNvPr id="14"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5"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121</a:t>
            </a:r>
            <a:endParaRPr lang="en-US" sz="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US.90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Fall of Berlin Wall and Soviet Collapse (Honors)</a:t>
            </a:r>
            <a:endParaRPr lang="en-US" sz="3000" dirty="0"/>
          </a:p>
        </p:txBody>
      </p:sp>
      <p:sp>
        <p:nvSpPr>
          <p:cNvPr id="5" name="Shape 3"/>
          <p:cNvSpPr/>
          <p:nvPr/>
        </p:nvSpPr>
        <p:spPr>
          <a:xfrm>
            <a:off x="10765231" y="502920"/>
            <a:ext cx="146304" cy="146304"/>
          </a:xfrm>
          <a:prstGeom prst="ellipse">
            <a:avLst/>
          </a:prstGeom>
          <a:solidFill>
            <a:srgbClr val="A7BACB"/>
          </a:solidFill>
          <a:ln/>
        </p:spPr>
      </p:sp>
      <p:sp>
        <p:nvSpPr>
          <p:cNvPr id="6" name="Shape 4"/>
          <p:cNvSpPr/>
          <p:nvPr/>
        </p:nvSpPr>
        <p:spPr>
          <a:xfrm>
            <a:off x="11057839" y="502920"/>
            <a:ext cx="146304" cy="146304"/>
          </a:xfrm>
          <a:prstGeom prst="ellipse">
            <a:avLst/>
          </a:prstGeom>
          <a:solidFill>
            <a:srgbClr val="A7BACB"/>
          </a:solidFill>
          <a:ln/>
        </p:spPr>
      </p:sp>
      <p:sp>
        <p:nvSpPr>
          <p:cNvPr id="7" name="Shape 5"/>
          <p:cNvSpPr/>
          <p:nvPr/>
        </p:nvSpPr>
        <p:spPr>
          <a:xfrm>
            <a:off x="11350447" y="502920"/>
            <a:ext cx="146304" cy="146304"/>
          </a:xfrm>
          <a:prstGeom prst="ellipse">
            <a:avLst/>
          </a:prstGeom>
          <a:solidFill>
            <a:srgbClr val="C62828"/>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3</a:t>
            </a:r>
            <a:endParaRPr lang="en-US" sz="1000" dirty="0"/>
          </a:p>
        </p:txBody>
      </p:sp>
      <p:sp>
        <p:nvSpPr>
          <p:cNvPr id="9" name="Shape 7"/>
          <p:cNvSpPr/>
          <p:nvPr/>
        </p:nvSpPr>
        <p:spPr>
          <a:xfrm>
            <a:off x="548640" y="1783080"/>
            <a:ext cx="6766560" cy="4069080"/>
          </a:xfrm>
          <a:prstGeom prst="rect">
            <a:avLst/>
          </a:prstGeom>
          <a:solidFill>
            <a:srgbClr val="FFFFFF"/>
          </a:solidFill>
          <a:ln w="12700">
            <a:solidFill>
              <a:srgbClr val="DAD3C2"/>
            </a:solidFill>
            <a:prstDash val="solid"/>
          </a:ln>
        </p:spPr>
      </p:sp>
      <p:sp>
        <p:nvSpPr>
          <p:cNvPr id="10" name="Text 8"/>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Berlin Wall's fall (1989) symbolized communism's collapse and the Cold War's end.</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Bush managed this transition carefully, avoiding triumphalism that might provoke Soviet hardliners while supporting German reunification.</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Soviet Union's dissolution (1991) left America as the world's sole superpower, creating new global responsibilities and challenges for American foreign policy.</a:t>
            </a:r>
            <a:endParaRPr lang="en-US" sz="1550" dirty="0"/>
          </a:p>
        </p:txBody>
      </p:sp>
      <p:sp>
        <p:nvSpPr>
          <p:cNvPr id="11" name="Shape 9"/>
          <p:cNvSpPr/>
          <p:nvPr/>
        </p:nvSpPr>
        <p:spPr>
          <a:xfrm>
            <a:off x="7552944" y="1746504"/>
            <a:ext cx="4142232" cy="3575304"/>
          </a:xfrm>
          <a:prstGeom prst="rect">
            <a:avLst/>
          </a:prstGeom>
          <a:solidFill>
            <a:srgbClr val="FFFFFF"/>
          </a:solidFill>
          <a:ln w="12700">
            <a:solidFill>
              <a:srgbClr val="DAD3C2"/>
            </a:solidFill>
            <a:prstDash val="solid"/>
          </a:ln>
        </p:spPr>
      </p:sp>
      <p:pic>
        <p:nvPicPr>
          <p:cNvPr id="12" name="Image 0" descr="unit10-full/img/president-bush-receives-piece-berlin-1989.jpg">    </p:cNvPr>
          <p:cNvPicPr>
            <a:picLocks noChangeAspect="1"/>
          </p:cNvPicPr>
          <p:nvPr/>
        </p:nvPicPr>
        <p:blipFill>
          <a:blip r:embed="rId1"/>
          <a:stretch>
            <a:fillRect/>
          </a:stretch>
        </p:blipFill>
        <p:spPr>
          <a:xfrm>
            <a:off x="7589520" y="2149715"/>
            <a:ext cx="4069080" cy="2768882"/>
          </a:xfrm>
          <a:prstGeom prst="rect">
            <a:avLst/>
          </a:prstGeom>
        </p:spPr>
      </p:pic>
      <p:sp>
        <p:nvSpPr>
          <p:cNvPr id="13" name="Text 10"/>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Bush White House Photographic Office, November 21, 1989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National Archives and Records Administration (NARA 186404); via Wikimedia Commons</a:t>
            </a:r>
            <a:endParaRPr lang="en-US" sz="800" dirty="0"/>
          </a:p>
        </p:txBody>
      </p:sp>
      <p:sp>
        <p:nvSpPr>
          <p:cNvPr id="14"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5"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122</a:t>
            </a:r>
            <a:endParaRPr lang="en-US" sz="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US.90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President George H.W. Bush</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41st President of the United States</a:t>
            </a:r>
            <a:endParaRPr lang="en-US" sz="1100" dirty="0"/>
          </a:p>
        </p:txBody>
      </p:sp>
      <p:sp>
        <p:nvSpPr>
          <p:cNvPr id="9" name="Text 7"/>
          <p:cNvSpPr/>
          <p:nvPr/>
        </p:nvSpPr>
        <p:spPr>
          <a:xfrm>
            <a:off x="694944" y="2606040"/>
            <a:ext cx="1077163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Assembled an international coalition to liberate Kuwait in the Gulf War (1991)</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Guided U.S. policy through the fall of the Berlin Wall and Soviet collapse</a:t>
            </a:r>
            <a:endParaRPr lang="en-US" sz="1300" dirty="0"/>
          </a:p>
        </p:txBody>
      </p:sp>
      <p:sp>
        <p:nvSpPr>
          <p:cNvPr id="10" name="Shape 8"/>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Coalition-building (multilateral diplomacy)</a:t>
            </a:r>
            <a:endParaRPr lang="en-US" sz="8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123</a:t>
            </a:r>
            <a:endParaRPr lang="en-US" sz="9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US.90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Address on the Gulf War</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Contextualization</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George H.W. Bush  ·  January 16, 1991</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"Five months ago, Saddam Hussein started this cruel war against Kuwait. Tonight, the battle has been joined... Our objectives are clear: Saddam Hussein's forces will leave Kuwait. The legitimate government of Kuwait will be restored to its rightful place, and Kuwait will once again be free."</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463040"/>
          </a:xfrm>
          <a:prstGeom prst="roundRect">
            <a:avLst>
              <a:gd name="adj" fmla="val 5000"/>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950976"/>
          </a:xfrm>
          <a:prstGeom prst="rect">
            <a:avLst/>
          </a:prstGeom>
          <a:noFill/>
          <a:ln/>
        </p:spPr>
        <p:txBody>
          <a:bodyPr wrap="square" rtlCol="0" anchor="t">
            <a:normAutofit/>
          </a:bodyPr>
          <a:lstStyle/>
          <a:p>
            <a:pPr indent="0" marL="0">
              <a:lnSpc>
                <a:spcPct val="96000"/>
              </a:lnSpc>
              <a:buNone/>
            </a:pPr>
            <a:r>
              <a:rPr lang="en-US" sz="1050" dirty="0">
                <a:solidFill>
                  <a:srgbClr val="FFFFFF"/>
                </a:solidFill>
                <a:latin typeface="Calibri" pitchFamily="34" charset="0"/>
                <a:ea typeface="Calibri" pitchFamily="34" charset="-122"/>
                <a:cs typeface="Calibri" pitchFamily="34" charset="-120"/>
              </a:rPr>
              <a:t>After Iraq invaded Kuwait in August 1990, Bush built a broad international coalition and secured UN backing. On January 16, 1991, as Operation Desert Storm began, he addressed the nation to explain the war's limited and specific goals.</a:t>
            </a:r>
            <a:endParaRPr lang="en-US" sz="1050" dirty="0"/>
          </a:p>
        </p:txBody>
      </p:sp>
      <p:sp>
        <p:nvSpPr>
          <p:cNvPr id="16" name="Shape 14"/>
          <p:cNvSpPr/>
          <p:nvPr/>
        </p:nvSpPr>
        <p:spPr>
          <a:xfrm>
            <a:off x="7589520" y="3383280"/>
            <a:ext cx="4023360" cy="1600200"/>
          </a:xfrm>
          <a:prstGeom prst="roundRect">
            <a:avLst>
              <a:gd name="adj" fmla="val 4571"/>
            </a:avLst>
          </a:prstGeom>
          <a:solidFill>
            <a:srgbClr val="C9A84C"/>
          </a:solidFill>
          <a:ln/>
        </p:spPr>
      </p:sp>
      <p:sp>
        <p:nvSpPr>
          <p:cNvPr id="17" name="Text 15"/>
          <p:cNvSpPr/>
          <p:nvPr/>
        </p:nvSpPr>
        <p:spPr>
          <a:xfrm>
            <a:off x="7818120" y="350215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3803904"/>
            <a:ext cx="3611880" cy="106984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were the stated objectives of the Gulf War?</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President George H.W. Bush</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January 16, 1991</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that a wartime address is meant to justify military action and rally the public.</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124</a:t>
            </a:r>
            <a:endParaRPr lang="en-US" sz="9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US.90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3352648" y="1645920"/>
            <a:ext cx="5486400" cy="1874520"/>
          </a:xfrm>
          <a:prstGeom prst="rect">
            <a:avLst/>
          </a:prstGeom>
          <a:solidFill>
            <a:srgbClr val="FFFFFF"/>
          </a:solidFill>
          <a:ln w="12700">
            <a:solidFill>
              <a:srgbClr val="DAD3C2"/>
            </a:solidFill>
            <a:prstDash val="solid"/>
          </a:ln>
        </p:spPr>
      </p:sp>
      <p:sp>
        <p:nvSpPr>
          <p:cNvPr id="6" name="Shape 4"/>
          <p:cNvSpPr/>
          <p:nvPr/>
        </p:nvSpPr>
        <p:spPr>
          <a:xfrm>
            <a:off x="3352648" y="1645920"/>
            <a:ext cx="5486400" cy="676656"/>
          </a:xfrm>
          <a:prstGeom prst="rect">
            <a:avLst/>
          </a:prstGeom>
          <a:solidFill>
            <a:srgbClr val="1A2332"/>
          </a:solidFill>
          <a:ln/>
        </p:spPr>
      </p:sp>
      <p:sp>
        <p:nvSpPr>
          <p:cNvPr id="7" name="Text 5"/>
          <p:cNvSpPr/>
          <p:nvPr/>
        </p:nvSpPr>
        <p:spPr>
          <a:xfrm>
            <a:off x="3489808"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Gulf War (1991)</a:t>
            </a:r>
            <a:endParaRPr lang="en-US" sz="1350" dirty="0"/>
          </a:p>
        </p:txBody>
      </p:sp>
      <p:sp>
        <p:nvSpPr>
          <p:cNvPr id="8" name="Text 6"/>
          <p:cNvSpPr/>
          <p:nvPr/>
        </p:nvSpPr>
        <p:spPr>
          <a:xfrm>
            <a:off x="6507328"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Guerra del Golfo (1991)</a:t>
            </a:r>
            <a:endParaRPr lang="en-US" sz="1000" dirty="0"/>
          </a:p>
        </p:txBody>
      </p:sp>
      <p:sp>
        <p:nvSpPr>
          <p:cNvPr id="9" name="Shape 7"/>
          <p:cNvSpPr/>
          <p:nvPr/>
        </p:nvSpPr>
        <p:spPr>
          <a:xfrm>
            <a:off x="3471520"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3380080"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GW</a:t>
            </a:r>
            <a:endParaRPr lang="en-US" sz="1300" dirty="0"/>
          </a:p>
        </p:txBody>
      </p:sp>
      <p:sp>
        <p:nvSpPr>
          <p:cNvPr id="11" name="Text 9"/>
          <p:cNvSpPr/>
          <p:nvPr/>
        </p:nvSpPr>
        <p:spPr>
          <a:xfrm>
            <a:off x="4029304" y="2395728"/>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U.S.-led international coalition's military operation to liberate Kuwait after Iraq's invasion, demonstrating American military superiority and beginning long U.S. involvement in the Middle East.</a:t>
            </a:r>
            <a:endParaRPr lang="en-US" sz="1100" dirty="0"/>
          </a:p>
        </p:txBody>
      </p:sp>
      <p:sp>
        <p:nvSpPr>
          <p:cNvPr id="12" name="Text 10"/>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125</a:t>
            </a:r>
            <a:endParaRPr lang="en-US" sz="9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US.90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Place events in historical context</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The Gulf War and the Soviet collapse both happened under Bush. How do I explain why they mark a new era?</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Both events came right after the Cold War ended, leaving the U.S. as the world's only superpower.</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To place events in context, I ask what came before — the Cold War shaped 40 years, so its end changed how America used its power abroad.</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explain how the end of the Cold War changed America's role in the world during Bush's presidency.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126</a:t>
            </a:r>
            <a:endParaRPr lang="en-US" sz="9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US.90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700" b="1" dirty="0">
                <a:solidFill>
                  <a:srgbClr val="1A2332"/>
                </a:solidFill>
                <a:latin typeface="Georgia" pitchFamily="34" charset="0"/>
                <a:ea typeface="Georgia" pitchFamily="34" charset="-122"/>
                <a:cs typeface="Georgia" pitchFamily="34" charset="-120"/>
              </a:rPr>
              <a:t>The End of the Cold War — Timeline</a:t>
            </a:r>
            <a:endParaRPr lang="en-US" sz="27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build a timeline of the George H.W. Bush years in order: the fall of the Berlin Wall (1989), the reunification of Germany, the collapse of the Soviet Union (1991), and the Persian Gulf War / Operation Desert Storm (1991). For each event, add one sentence on its significance. Finish with a claim about what it meant for the United States to become the world's only superpower.</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timeline (4+ ordered events, each with a significance note) plus a one-sentence claim on how the end of the Cold War changed America's role in the world.</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Timeline with events pre-listed to place in order and a word bank (Berlin Wall, German reunification, Soviet collapse, Desert Storm). Honors: Analyze whether the peaceful end of the Cold War or the swift victory in the Gulf War did more to define Bush's presidency. Defend with evidence.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printables/unit-10/unit-10-timeline.html</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127</a:t>
            </a:r>
            <a:endParaRPr lang="en-US" sz="9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US.90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How did Bush describe the end of the Soviet Union?</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As a dangerous development for the world</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As a victory for democracy, freedom, and American values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As having no significance for America</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As the beginning of a new war</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128</a:t>
            </a:r>
            <a:endParaRPr lang="en-US" sz="9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US.90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How did Bush describe the end of the Soviet Union?</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As a dangerous development for the world</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As a victory for democracy, freedom, and American values</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As having no significance for America</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As the beginning of a new war</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Bush called it "a victory for democracy and freedom" and "a victory for the moral force of our values" that every American should take pride in.</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129</a:t>
            </a:r>
            <a:endParaRPr lang="en-US" sz="9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US.90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Panama Invasion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Gulf War Context and Outcomes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Fall of Berlin Wall and Soviet Collapse (Honors)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150" i="1" dirty="0">
                <a:solidFill>
                  <a:srgbClr val="1F2430"/>
                </a:solidFill>
                <a:latin typeface="Calibri" pitchFamily="34" charset="0"/>
                <a:ea typeface="Calibri" pitchFamily="34" charset="-122"/>
                <a:cs typeface="Calibri" pitchFamily="34" charset="-120"/>
              </a:rPr>
              <a:t>Analyze whether the peaceful end of the Cold War or the swift Gulf War victory did more to define Bush's presidency. Defend with evidence.</a:t>
            </a:r>
            <a:endParaRPr lang="en-US" sz="11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Describe two major events of the George H.W. Bush presidency and explain their significance.</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130</a:t>
            </a:r>
            <a:endParaRPr lang="en-US" sz="9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US.91</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Clinton Administration Events</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Summarize the events of President Bill Clinton's administration, including: Welfare-to-work, Balanced budget, NAFTA, Scandals and subsequent impeachment hearings.</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summarize the events of President Bill Clinton's administration, including welfare-to-work, balanced budget, NAFTA, and scandals and subsequent impeachment hearings.</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131</a:t>
            </a:r>
            <a:endParaRPr lang="en-US" sz="9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US.91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US.90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We just studied George H.W. Bush. What two world-changing events happened during his presidency?</a:t>
            </a:r>
            <a:endParaRPr lang="en-US" sz="1350" dirty="0"/>
          </a:p>
        </p:txBody>
      </p:sp>
      <p:sp>
        <p:nvSpPr>
          <p:cNvPr id="11"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132</a:t>
            </a:r>
            <a:endParaRPr lang="en-US" sz="9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US.91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1993 free-trade agreement linked the U.S., Canada, and Mexico?</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NAFTA (the North American Free Trade Agreement).</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133</a:t>
            </a:r>
            <a:endParaRPr lang="en-US" sz="9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US.91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The 1990s brought a booming economy, a balanced budget, and free-trade deals like NAFTA — alongside welfare reform and only the second presidential impeachment in American history.</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Free-trade agreements like NAFTA promised cheaper goods and new markets, but also sent some jobs overseas. When a policy helps the country as a whole but hurts some workers, is it worth it?</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134</a:t>
            </a:r>
            <a:endParaRPr lang="en-US" sz="9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NAFTA Goals and Outcomes</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North American Free Trade Agreement (1994) eliminated trade barriers between the U.S., Canada, and Mexico.</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Supporters argued it would increase trade and economic growth.</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Critics claimed it would cost American jobs and exploit Mexican workers.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Results were mixed — trade increased significantly, but manufacturing jobs moved to Mexico, intensifying debates about globalization.</a:t>
            </a:r>
            <a:endParaRPr lang="en-US" sz="1700" dirty="0"/>
          </a:p>
        </p:txBody>
      </p:sp>
      <p:sp>
        <p:nvSpPr>
          <p:cNvPr id="12" name="Shape 10"/>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NAFTA was created to ___, and in the 1990s the U.S. economy ___.</a:t>
            </a:r>
            <a:endParaRPr lang="en-US" sz="115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135</a:t>
            </a:r>
            <a:endParaRPr lang="en-US" sz="9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Welfare-to-Work Transition</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1996 Personal Responsibility and Work Opportunity Act replaced Aid to Families with Dependent Children (AFDC) with Temporary Assistance for Needy Families (TANF).</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new system required work or job training and imposed time limits on benefits.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Welfare rolls declined dramatically, but poverty reduction was limited, raising questions about whether people left poverty or just left welfare.</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136</a:t>
            </a:r>
            <a:endParaRPr lang="en-US" sz="9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Scandals and Impeachment</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Clinton faced multiple scandals, including Whitewater real estate investments and sexual harassment allegations.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Monica Lewinsky affair led to impeachment charges for perjury and obstruction of justice.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House impeached Clinton, but the Senate acquitted him, reflecting partisan divisions and debates about whether personal conduct should determine political consequences.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137</a:t>
            </a:r>
            <a:endParaRPr lang="en-US" sz="9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Balanced Budget Significance</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Clinton achieved the first balanced federal budget since 1969, aided by economic growth, tax increases on high earners, and spending restraint.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Budget surpluses in the late 1990s reduced national debt and demonstrated fiscal responsibility, though this achievement proved temporary as surpluses disappeared under subsequent administrations.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138</a:t>
            </a:r>
            <a:endParaRPr lang="en-US" sz="9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US.91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President Bill Clinton</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42nd President of the United States</a:t>
            </a:r>
            <a:endParaRPr lang="en-US" sz="1100" dirty="0"/>
          </a:p>
        </p:txBody>
      </p:sp>
      <p:sp>
        <p:nvSpPr>
          <p:cNvPr id="9" name="Text 7"/>
          <p:cNvSpPr/>
          <p:nvPr/>
        </p:nvSpPr>
        <p:spPr>
          <a:xfrm>
            <a:off x="694944" y="2606040"/>
            <a:ext cx="1077163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Signed NAFTA and achieved the first balanced federal budget since 1969</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Was impeached by the House but acquitted by the Senate (1998-1999)</a:t>
            </a:r>
            <a:endParaRPr lang="en-US" sz="1300" dirty="0"/>
          </a:p>
        </p:txBody>
      </p:sp>
      <p:sp>
        <p:nvSpPr>
          <p:cNvPr id="10" name="Shape 8"/>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Centrist politics ("triangulation")</a:t>
            </a:r>
            <a:endParaRPr lang="en-US" sz="8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139</a:t>
            </a:r>
            <a:endParaRPr lang="en-US" sz="9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US.91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NAFTA Signing Statement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Sourcing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Bill Clinton  ·  December 8, 1993</a:t>
            </a:r>
            <a:endParaRPr lang="en-US" sz="1200" dirty="0"/>
          </a:p>
        </p:txBody>
      </p:sp>
      <p:sp>
        <p:nvSpPr>
          <p:cNvPr id="8" name="Shape 6"/>
          <p:cNvSpPr/>
          <p:nvPr/>
        </p:nvSpPr>
        <p:spPr>
          <a:xfrm>
            <a:off x="512064" y="1700784"/>
            <a:ext cx="3273552" cy="2606040"/>
          </a:xfrm>
          <a:prstGeom prst="rect">
            <a:avLst/>
          </a:prstGeom>
          <a:solidFill>
            <a:srgbClr val="FFFFFF"/>
          </a:solidFill>
          <a:ln w="12700">
            <a:solidFill>
              <a:srgbClr val="DAD3C2"/>
            </a:solidFill>
            <a:prstDash val="solid"/>
          </a:ln>
        </p:spPr>
      </p:sp>
      <p:pic>
        <p:nvPicPr>
          <p:cNvPr id="9" name="Image 0" descr="unit10-full/img/clinton-signs-nafta-bipartisan-leaders-1993.jpg">    </p:cNvPr>
          <p:cNvPicPr>
            <a:picLocks noChangeAspect="1"/>
          </p:cNvPicPr>
          <p:nvPr/>
        </p:nvPicPr>
        <p:blipFill>
          <a:blip r:embed="rId1"/>
          <a:stretch>
            <a:fillRect/>
          </a:stretch>
        </p:blipFill>
        <p:spPr>
          <a:xfrm>
            <a:off x="548640" y="1952423"/>
            <a:ext cx="3200400" cy="2102763"/>
          </a:xfrm>
          <a:prstGeom prst="rect">
            <a:avLst/>
          </a:prstGeom>
        </p:spPr>
      </p:pic>
      <p:sp>
        <p:nvSpPr>
          <p:cNvPr id="10" name="Text 7"/>
          <p:cNvSpPr/>
          <p:nvPr/>
        </p:nvSpPr>
        <p:spPr>
          <a:xfrm>
            <a:off x="548640" y="4325112"/>
            <a:ext cx="3200400" cy="658368"/>
          </a:xfrm>
          <a:prstGeom prst="rect">
            <a:avLst/>
          </a:prstGeom>
          <a:noFill/>
          <a:ln/>
        </p:spPr>
        <p:txBody>
          <a:bodyPr wrap="square" rtlCol="0" anchor="t"/>
          <a:lstStyle/>
          <a:p>
            <a:pPr algn="l" indent="0" marL="0">
              <a:lnSpc>
                <a:spcPct val="100000"/>
              </a:lnSpc>
              <a:buNone/>
            </a:pPr>
            <a:pPr algn="l" indent="0" marL="0">
              <a:lnSpc>
                <a:spcPct val="100000"/>
              </a:lnSpc>
              <a:buNone/>
            </a:pPr>
            <a:r>
              <a:rPr lang="en-US" sz="700" i="1" dirty="0">
                <a:solidFill>
                  <a:srgbClr val="5C6470"/>
                </a:solidFill>
                <a:latin typeface="Calibri" pitchFamily="34" charset="0"/>
                <a:ea typeface="Calibri" pitchFamily="34" charset="-122"/>
                <a:cs typeface="Calibri" pitchFamily="34" charset="-120"/>
              </a:rPr>
              <a:t>Ralph Alswang, White House Photographic Office, September 14, 1993  </a:t>
            </a:r>
            <a:pPr algn="l" indent="0" marL="0">
              <a:lnSpc>
                <a:spcPct val="100000"/>
              </a:lnSpc>
              <a:buNone/>
            </a:pPr>
            <a:r>
              <a:rPr lang="en-US" sz="7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Clinton White House</a:t>
            </a:r>
            <a:endParaRPr lang="en-US" sz="70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sp>
      <p:sp>
        <p:nvSpPr>
          <p:cNvPr id="12" name="Text 9"/>
          <p:cNvSpPr/>
          <p:nvPr/>
        </p:nvSpPr>
        <p:spPr>
          <a:xfrm>
            <a:off x="768096" y="1865376"/>
            <a:ext cx="2761488" cy="438912"/>
          </a:xfrm>
          <a:prstGeom prst="rect">
            <a:avLst/>
          </a:prstGeom>
          <a:noFill/>
          <a:ln/>
        </p:spPr>
        <p:txBody>
          <a:bodyPr wrap="square" rtlCol="0" anchor="ctr"/>
          <a:lstStyle/>
          <a:p>
            <a:pPr indent="0" marL="0">
              <a:lnSpc>
                <a:spcPct val="95000"/>
              </a:lnSpc>
              <a:buNone/>
            </a:pPr>
            <a:r>
              <a:rPr lang="en-US" sz="950" b="1" spc="150" kern="0" dirty="0">
                <a:solidFill>
                  <a:srgbClr val="1A2332"/>
                </a:solidFill>
                <a:latin typeface="Trebuchet MS" pitchFamily="34" charset="0"/>
                <a:ea typeface="Trebuchet MS" pitchFamily="34" charset="-122"/>
                <a:cs typeface="Trebuchet MS" pitchFamily="34" charset="-120"/>
              </a:rPr>
              <a:t>ZOOM IN  </a:t>
            </a:r>
            <a:pPr indent="0" marL="0">
              <a:lnSpc>
                <a:spcPct val="95000"/>
              </a:lnSpc>
              <a:buNone/>
            </a:pP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sp>
      <p:sp>
        <p:nvSpPr>
          <p:cNvPr id="14" name="Shape 11"/>
          <p:cNvSpPr/>
          <p:nvPr/>
        </p:nvSpPr>
        <p:spPr>
          <a:xfrm>
            <a:off x="3931920" y="1737360"/>
            <a:ext cx="91440" cy="3246120"/>
          </a:xfrm>
          <a:prstGeom prst="rect">
            <a:avLst/>
          </a:prstGeom>
          <a:solidFill>
            <a:srgbClr val="C9A84C"/>
          </a:solidFill>
          <a:ln/>
        </p:spPr>
      </p:sp>
      <p:sp>
        <p:nvSpPr>
          <p:cNvPr id="15" name="Text 12"/>
          <p:cNvSpPr/>
          <p:nvPr/>
        </p:nvSpPr>
        <p:spPr>
          <a:xfrm>
            <a:off x="4160520" y="1920240"/>
            <a:ext cx="3200400" cy="2880360"/>
          </a:xfrm>
          <a:prstGeom prst="rect">
            <a:avLst/>
          </a:prstGeom>
          <a:noFill/>
          <a:ln/>
        </p:spPr>
        <p:txBody>
          <a:bodyPr wrap="square" rtlCol="0" anchor="t"/>
          <a:lstStyle/>
          <a:p>
            <a:pPr indent="0" marL="0">
              <a:lnSpc>
                <a:spcPct val="112000"/>
              </a:lnSpc>
              <a:buNone/>
            </a:pPr>
            <a:r>
              <a:rPr lang="en-US" sz="1250" i="1" dirty="0">
                <a:solidFill>
                  <a:srgbClr val="1F2430"/>
                </a:solidFill>
                <a:latin typeface="Georgia" pitchFamily="34" charset="0"/>
                <a:ea typeface="Georgia" pitchFamily="34" charset="-122"/>
                <a:cs typeface="Georgia" pitchFamily="34" charset="-120"/>
              </a:rPr>
              <a:t>"NAFTA means jobs. American jobs, and good-paying American jobs. If I didn't believe that, I wouldn't support this agreement... NAFTA will generate these jobs by opening the largest, richest market in the world — right in our own hemisphere, right next door."</a:t>
            </a:r>
            <a:endParaRPr lang="en-US" sz="1250" dirty="0"/>
          </a:p>
        </p:txBody>
      </p:sp>
      <p:sp>
        <p:nvSpPr>
          <p:cNvPr id="16" name="Shape 13"/>
          <p:cNvSpPr/>
          <p:nvPr/>
        </p:nvSpPr>
        <p:spPr>
          <a:xfrm>
            <a:off x="7589520" y="1737360"/>
            <a:ext cx="4023360" cy="1463040"/>
          </a:xfrm>
          <a:prstGeom prst="roundRect">
            <a:avLst>
              <a:gd name="adj" fmla="val 5000"/>
            </a:avLst>
          </a:prstGeom>
          <a:solidFill>
            <a:srgbClr val="1A2332"/>
          </a:solidFill>
          <a:ln/>
        </p:spPr>
      </p:sp>
      <p:sp>
        <p:nvSpPr>
          <p:cNvPr id="17" name="Text 14"/>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950976"/>
          </a:xfrm>
          <a:prstGeom prst="rect">
            <a:avLst/>
          </a:prstGeom>
          <a:noFill/>
          <a:ln/>
        </p:spPr>
        <p:txBody>
          <a:bodyPr wrap="square" rtlCol="0" anchor="t">
            <a:normAutofit/>
          </a:bodyPr>
          <a:lstStyle/>
          <a:p>
            <a:pPr indent="0" marL="0">
              <a:lnSpc>
                <a:spcPct val="96000"/>
              </a:lnSpc>
              <a:buNone/>
            </a:pPr>
            <a:r>
              <a:rPr lang="en-US" sz="1050" dirty="0">
                <a:solidFill>
                  <a:srgbClr val="FFFFFF"/>
                </a:solidFill>
                <a:latin typeface="Calibri" pitchFamily="34" charset="0"/>
                <a:ea typeface="Calibri" pitchFamily="34" charset="-122"/>
                <a:cs typeface="Calibri" pitchFamily="34" charset="-120"/>
              </a:rPr>
              <a:t>In December 1993, Clinton signed legislation implementing NAFTA, a free-trade agreement that had divided both parties. He argued the deal would create American jobs by opening new markets, though critics warned it would send manufacturing jobs abroad.</a:t>
            </a:r>
            <a:endParaRPr lang="en-US" sz="1050" dirty="0"/>
          </a:p>
        </p:txBody>
      </p:sp>
      <p:sp>
        <p:nvSpPr>
          <p:cNvPr id="19" name="Shape 16"/>
          <p:cNvSpPr/>
          <p:nvPr/>
        </p:nvSpPr>
        <p:spPr>
          <a:xfrm>
            <a:off x="7589520" y="3383280"/>
            <a:ext cx="4023360" cy="1600200"/>
          </a:xfrm>
          <a:prstGeom prst="roundRect">
            <a:avLst>
              <a:gd name="adj" fmla="val 4571"/>
            </a:avLst>
          </a:prstGeom>
          <a:solidFill>
            <a:srgbClr val="C9A84C"/>
          </a:solidFill>
          <a:ln/>
        </p:spPr>
      </p:sp>
      <p:sp>
        <p:nvSpPr>
          <p:cNvPr id="20" name="Text 17"/>
          <p:cNvSpPr/>
          <p:nvPr/>
        </p:nvSpPr>
        <p:spPr>
          <a:xfrm>
            <a:off x="7818120" y="350215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3803904"/>
            <a:ext cx="3611880" cy="106984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How did Clinton justify supporting NAFTA?</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sp>
      <p:sp>
        <p:nvSpPr>
          <p:cNvPr id="23" name="Shape 20"/>
          <p:cNvSpPr/>
          <p:nvPr/>
        </p:nvSpPr>
        <p:spPr>
          <a:xfrm>
            <a:off x="548640" y="5120640"/>
            <a:ext cx="2423160" cy="841248"/>
          </a:xfrm>
          <a:prstGeom prst="rect">
            <a:avLst/>
          </a:prstGeom>
          <a:solidFill>
            <a:srgbClr val="002858"/>
          </a:solidFill>
          <a:ln/>
        </p:spPr>
      </p:sp>
      <p:sp>
        <p:nvSpPr>
          <p:cNvPr id="24" name="Text 21"/>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President Bill Clinton</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December 8, 1993</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 a signing statement is meant to sell the benefits of a policy.</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140</a:t>
            </a:r>
            <a:endParaRPr lang="en-US" sz="9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US.91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874520"/>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NAFTA</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TLCAN</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500" b="1" dirty="0">
                <a:solidFill>
                  <a:srgbClr val="002858"/>
                </a:solidFill>
                <a:latin typeface="Georgia" pitchFamily="34" charset="0"/>
                <a:ea typeface="Georgia" pitchFamily="34" charset="-122"/>
                <a:cs typeface="Georgia" pitchFamily="34" charset="-120"/>
              </a:rPr>
              <a:t>N</a:t>
            </a:r>
            <a:endParaRPr lang="en-US" sz="1500" dirty="0"/>
          </a:p>
        </p:txBody>
      </p:sp>
      <p:sp>
        <p:nvSpPr>
          <p:cNvPr id="11" name="Text 9"/>
          <p:cNvSpPr/>
          <p:nvPr/>
        </p:nvSpPr>
        <p:spPr>
          <a:xfrm>
            <a:off x="1225296" y="2395728"/>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North American Free Trade Agreement (1994) eliminating tariffs between the U.S., Canada, and Mexico, creating the world's largest free trade zone but controversial for its effects on American manufacturing jobs.</a:t>
            </a:r>
            <a:endParaRPr lang="en-US" sz="1100" dirty="0"/>
          </a:p>
        </p:txBody>
      </p:sp>
      <p:sp>
        <p:nvSpPr>
          <p:cNvPr id="12" name="Shape 10"/>
          <p:cNvSpPr/>
          <p:nvPr/>
        </p:nvSpPr>
        <p:spPr>
          <a:xfrm>
            <a:off x="6263640" y="1645920"/>
            <a:ext cx="5486400" cy="1874520"/>
          </a:xfrm>
          <a:prstGeom prst="rect">
            <a:avLst/>
          </a:prstGeom>
          <a:solidFill>
            <a:srgbClr val="FFFFFF"/>
          </a:solidFill>
          <a:ln w="12700">
            <a:solidFill>
              <a:srgbClr val="DAD3C2"/>
            </a:solidFill>
            <a:prstDash val="solid"/>
          </a:ln>
        </p:spPr>
      </p:sp>
      <p:sp>
        <p:nvSpPr>
          <p:cNvPr id="13" name="Shape 11"/>
          <p:cNvSpPr/>
          <p:nvPr/>
        </p:nvSpPr>
        <p:spPr>
          <a:xfrm>
            <a:off x="6263640" y="1645920"/>
            <a:ext cx="5486400" cy="676656"/>
          </a:xfrm>
          <a:prstGeom prst="rect">
            <a:avLst/>
          </a:prstGeom>
          <a:solidFill>
            <a:srgbClr val="1A2332"/>
          </a:solidFill>
          <a:ln/>
        </p:spPr>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Clinton Impeachment</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Juicio Político de Clinton</a:t>
            </a:r>
            <a:endParaRPr lang="en-US" sz="1000" dirty="0"/>
          </a:p>
        </p:txBody>
      </p:sp>
      <p:sp>
        <p:nvSpPr>
          <p:cNvPr id="16" name="Shape 14"/>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7" name="Text 15"/>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CI</a:t>
            </a:r>
            <a:endParaRPr lang="en-US" sz="1300" dirty="0"/>
          </a:p>
        </p:txBody>
      </p:sp>
      <p:sp>
        <p:nvSpPr>
          <p:cNvPr id="18" name="Text 16"/>
          <p:cNvSpPr/>
          <p:nvPr/>
        </p:nvSpPr>
        <p:spPr>
          <a:xfrm>
            <a:off x="6940296" y="2395728"/>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President Clinton's 1998 impeachment by the House for perjury and obstruction of justice related to an affair with White House intern Monica Lewinsky; the Senate acquitted him in 1999.</a:t>
            </a:r>
            <a:endParaRPr lang="en-US" sz="1100" dirty="0"/>
          </a:p>
        </p:txBody>
      </p:sp>
      <p:sp>
        <p:nvSpPr>
          <p:cNvPr id="19" name="Text 17"/>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20" name="Text 1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141</a:t>
            </a:r>
            <a:endParaRPr lang="en-US" sz="9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US.91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Summarize a presidency's key events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Clinton's years included a balanced budget, NAFTA, and impeachment. How do I summarize them clearly?</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Clinton oversaw prosperity and a balanced budget, expanded free trade, and was impeached but acquitted.</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To summarize, I group events by theme — economic policy (budget, NAFTA, welfare) and political controversy (scandals, impeachment) — instead of just listing them.</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write a one-sentence summary of the Clinton presidency that includes both an achievement and a controversy.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142</a:t>
            </a:r>
            <a:endParaRPr lang="en-US" sz="9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US.91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700" b="1" dirty="0">
                <a:solidFill>
                  <a:srgbClr val="1A2332"/>
                </a:solidFill>
                <a:latin typeface="Georgia" pitchFamily="34" charset="0"/>
                <a:ea typeface="Georgia" pitchFamily="34" charset="-122"/>
                <a:cs typeface="Georgia" pitchFamily="34" charset="-120"/>
              </a:rPr>
              <a:t>The Clinton Years — Cause &amp; Effect Chart</a:t>
            </a:r>
            <a:endParaRPr lang="en-US" sz="27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the NAFTA primary source, complete the Cause &amp; Effect organizer for the Clinton presidency. In CAUSES, list the issues Clinton faced (a globalizing economy, budget deficits, debate over trade). In EFFECTS, trace the results — NAFTA and expanded free trade, the 1990s economic boom and budget surplus, welfare reform, and the political conflict that led to impeachment. Finish with a claim about globalization's effect on American workers.</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Cause &amp; Effect organizer (3+ causes, 3+ effects) plus a one-sentence claim on whether free trade helped or hurt American workers in the 1990s.</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Organizer with a word bank (NAFTA, free trade, budget surplus, welfare reform, globalization) to sort. Honors: Evaluate whether the economic prosperity of the 1990s or the political battles of the era better defines the Clinton presidency. Argue with evidence.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printables/unit-10/unit-10-cause-effect.html</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143</a:t>
            </a:r>
            <a:endParaRPr lang="en-US" sz="9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US.91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How did Clinton justify supporting NAFTA?</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would reduce immigration from Mexico</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would weaken Canada economically</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would create American jobs by opening new markets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would eliminate all trade barriers worldwide</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144</a:t>
            </a:r>
            <a:endParaRPr lang="en-US" sz="9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US.91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How did Clinton justify supporting NAFTA?</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would reduce immigration from Mexico</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would weaken Canada economically</a:t>
            </a:r>
            <a:endParaRPr lang="en-US" sz="1300" dirty="0"/>
          </a:p>
        </p:txBody>
      </p:sp>
      <p:sp>
        <p:nvSpPr>
          <p:cNvPr id="17" name="Shape 15"/>
          <p:cNvSpPr/>
          <p:nvPr/>
        </p:nvSpPr>
        <p:spPr>
          <a:xfrm>
            <a:off x="548640" y="3968496"/>
            <a:ext cx="11064240" cy="566928"/>
          </a:xfrm>
          <a:prstGeom prst="roundRect">
            <a:avLst>
              <a:gd name="adj" fmla="val 9677"/>
            </a:avLst>
          </a:prstGeom>
          <a:solidFill>
            <a:srgbClr val="C9A84C"/>
          </a:solidFill>
          <a:ln w="12700">
            <a:solidFill>
              <a:srgbClr val="F9A825"/>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It would create American jobs by opening new markets</a:t>
            </a:r>
            <a:endParaRPr lang="en-US" sz="1300" dirty="0"/>
          </a:p>
        </p:txBody>
      </p:sp>
      <p:sp>
        <p:nvSpPr>
          <p:cNvPr id="21" name="Text 19"/>
          <p:cNvSpPr/>
          <p:nvPr/>
        </p:nvSpPr>
        <p:spPr>
          <a:xfrm>
            <a:off x="11018520" y="3968496"/>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would eliminate all trade barriers worldwide</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C.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Clinton states "NAFTA means jobs. American jobs, and good-paying American jobs" and that it "will generate these jobs by opening the largest, richest market."</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145</a:t>
            </a:r>
            <a:endParaRPr lang="en-US" sz="9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US.91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NAFTA Goals and Outcomes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Welfare-to-Work Transition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Scandals and Impeachment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Balanced Budget Significance</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150" i="1" dirty="0">
                <a:solidFill>
                  <a:srgbClr val="1F2430"/>
                </a:solidFill>
                <a:latin typeface="Calibri" pitchFamily="34" charset="0"/>
                <a:ea typeface="Calibri" pitchFamily="34" charset="-122"/>
                <a:cs typeface="Calibri" pitchFamily="34" charset="-120"/>
              </a:rPr>
              <a:t>Evaluate whether the prosperity of the 1990s or the political battles of the era better defines the Clinton presidency. Argue with evidence.</a:t>
            </a:r>
            <a:endParaRPr lang="en-US" sz="11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what NAFTA was and describe the state of the U.S. economy in the 1990s under Clinton.</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146</a:t>
            </a:r>
            <a:endParaRPr lang="en-US" sz="9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US.92</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September 11th Impact</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150" dirty="0">
                <a:solidFill>
                  <a:srgbClr val="FFFFFF"/>
                </a:solidFill>
                <a:latin typeface="Calibri" pitchFamily="34" charset="0"/>
                <a:ea typeface="Calibri" pitchFamily="34" charset="-122"/>
                <a:cs typeface="Calibri" pitchFamily="34" charset="-120"/>
              </a:rPr>
              <a:t>Describe the impact of the September 11, 2001 terrorist attacks on the World Trade Center and the Pentagon, including: the response of President George W. Bush, wars in Afghanistan and Iraq, and continued efforts to combat terrorism globally.</a:t>
            </a:r>
            <a:endParaRPr lang="en-US" sz="115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150" b="1" dirty="0">
                <a:solidFill>
                  <a:srgbClr val="1A2332"/>
                </a:solidFill>
                <a:latin typeface="Calibri" pitchFamily="34" charset="0"/>
                <a:ea typeface="Calibri" pitchFamily="34" charset="-122"/>
                <a:cs typeface="Calibri" pitchFamily="34" charset="-120"/>
              </a:rPr>
              <a:t>I can describe the impact of the September 11, 2001 terrorist attacks on the World Trade Center and the Pentagon, including the response of President George W. Bush, wars in Afghanistan and Iraq, and continued efforts to combat terrorism globally.</a:t>
            </a:r>
            <a:endParaRPr lang="en-US" sz="11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147</a:t>
            </a:r>
            <a:endParaRPr lang="en-US" sz="9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US.92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US.91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In the last standard we studied the Clinton years. What was NAFTA, and what economic milestone did the 1990s reach?</a:t>
            </a:r>
            <a:endParaRPr lang="en-US" sz="1350" dirty="0"/>
          </a:p>
        </p:txBody>
      </p:sp>
      <p:sp>
        <p:nvSpPr>
          <p:cNvPr id="11"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148</a:t>
            </a:r>
            <a:endParaRPr lang="en-US" sz="9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US.92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On what date did terrorists attack the World Trade Center and the Pentagon?</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September 11, 2001.</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149</a:t>
            </a:r>
            <a:endParaRPr lang="en-US" sz="9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US.92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On the morning of September 11, 2001, hijacked planes struck the World Trade Center and the Pentagon, killing nearly 3,000 people — and changing American security, foreign policy, and daily life in ways that still shape the country today.</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After 9/11, Americans accepted new security measures — airport screening, the Patriot Act, expanded surveillance. How does a free society decide how much liberty to trade for safety?</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150</a:t>
            </a:r>
            <a:endParaRPr lang="en-US" sz="9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Bush's Domestic and International Response</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Domestically, Bush created the Department of Homeland Security, signed the USA PATRIOT Act expanding surveillance powers, increased airport security, and launched domestic surveillance programs.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Internationally, he declared a "War on Terror," demanded the Taliban surrender Osama bin Laden, and assembled an international coalition for the Afghanistan invasion to destroy al-Qaeda and remove the Taliban.</a:t>
            </a:r>
            <a:endParaRPr lang="en-US" sz="1550" dirty="0"/>
          </a:p>
        </p:txBody>
      </p:sp>
      <p:sp>
        <p:nvSpPr>
          <p:cNvPr id="12" name="Shape 10"/>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After the September 11th attacks, the United States responded by ___, in order to ___.</a:t>
            </a:r>
            <a:endParaRPr lang="en-US" sz="1050" dirty="0"/>
          </a:p>
        </p:txBody>
      </p:sp>
      <p:sp>
        <p:nvSpPr>
          <p:cNvPr id="15" name="Shape 13"/>
          <p:cNvSpPr/>
          <p:nvPr/>
        </p:nvSpPr>
        <p:spPr>
          <a:xfrm>
            <a:off x="7552944" y="1746504"/>
            <a:ext cx="4142232" cy="2935224"/>
          </a:xfrm>
          <a:prstGeom prst="rect">
            <a:avLst/>
          </a:prstGeom>
          <a:solidFill>
            <a:srgbClr val="FFFFFF"/>
          </a:solidFill>
          <a:ln w="12700">
            <a:solidFill>
              <a:srgbClr val="DAD3C2"/>
            </a:solidFill>
            <a:prstDash val="solid"/>
          </a:ln>
        </p:spPr>
      </p:sp>
      <p:pic>
        <p:nvPicPr>
          <p:cNvPr id="16" name="Image 0" descr="unit10-full/img/world-trade-center-ground-zero-2001.jpg">    </p:cNvPr>
          <p:cNvPicPr>
            <a:picLocks noChangeAspect="1"/>
          </p:cNvPicPr>
          <p:nvPr/>
        </p:nvPicPr>
        <p:blipFill>
          <a:blip r:embed="rId1"/>
          <a:stretch>
            <a:fillRect/>
          </a:stretch>
        </p:blipFill>
        <p:spPr>
          <a:xfrm>
            <a:off x="7589520" y="1888486"/>
            <a:ext cx="4069080" cy="2651260"/>
          </a:xfrm>
          <a:prstGeom prst="rect">
            <a:avLst/>
          </a:prstGeom>
        </p:spPr>
      </p:pic>
      <p:sp>
        <p:nvSpPr>
          <p:cNvPr id="17" name="Text 14"/>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Andrea Booher, FEMA News Photo, September 28, 2001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Federal Emergency Management Agency (FEMA)</a:t>
            </a:r>
            <a:endParaRPr lang="en-US" sz="800" dirty="0"/>
          </a:p>
        </p:txBody>
      </p:sp>
      <p:sp>
        <p:nvSpPr>
          <p:cNvPr id="18" name="Shape 15"/>
          <p:cNvSpPr/>
          <p:nvPr/>
        </p:nvSpPr>
        <p:spPr>
          <a:xfrm>
            <a:off x="7589520" y="5440680"/>
            <a:ext cx="4069080" cy="713232"/>
          </a:xfrm>
          <a:prstGeom prst="roundRect">
            <a:avLst>
              <a:gd name="adj" fmla="val 7692"/>
            </a:avLst>
          </a:prstGeom>
          <a:solidFill>
            <a:srgbClr val="1A2332"/>
          </a:solidFill>
          <a:ln/>
        </p:spPr>
      </p:sp>
      <p:sp>
        <p:nvSpPr>
          <p:cNvPr id="19" name="Text 16"/>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1"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2"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151</a:t>
            </a:r>
            <a:endParaRPr lang="en-US" sz="9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Afghanistan War</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Justified as self-defense against al-Qaeda and the Taliban harboring terrorists, the Afghanistan invasion initially succeeded in removing the Taliban from power.</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However, it evolved into the longest war in American history with limited success in nation-building.</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Questions persisted about exit strategies and whether military force could transform Afghan society.</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152</a:t>
            </a:r>
            <a:endParaRPr lang="en-US" sz="9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Iraq War</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Bush claimed Saddam Hussein possessed weapons of mass destruction and supported terrorism.</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invasion succeeded militarily but created regional instability, sectarian violence, and damaged American credibility when the WMD claims proved false.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war raised fundamental questions about intelligence, justification for preemptive war, and occupation strategies.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153</a:t>
            </a:r>
            <a:endParaRPr lang="en-US" sz="9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Global Counter-terrorism Efforts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"War on Terror" included military operations in multiple countries, intelligence sharing with allies, financial tracking of terrorist organizations, and diplomatic pressure on nations supporting terrorism.</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Success in preventing major attacks on American soil was offset by concerns about civil liberties, international law violations, and whether military approaches address terrorism's root causes.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154</a:t>
            </a:r>
            <a:endParaRPr lang="en-US" sz="9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US.92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President George W. Bush</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43rd President of the United States</a:t>
            </a:r>
            <a:endParaRPr lang="en-US" sz="1100" dirty="0"/>
          </a:p>
        </p:txBody>
      </p:sp>
      <p:sp>
        <p:nvSpPr>
          <p:cNvPr id="9" name="Text 7"/>
          <p:cNvSpPr/>
          <p:nvPr/>
        </p:nvSpPr>
        <p:spPr>
          <a:xfrm>
            <a:off x="694944" y="2606040"/>
            <a:ext cx="1077163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Led the U.S. response to the September 11, 2001 terrorist attacks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Launched the "War on Terror" and wars in Afghanistan and Iraq</a:t>
            </a:r>
            <a:endParaRPr lang="en-US" sz="1300" dirty="0"/>
          </a:p>
        </p:txBody>
      </p:sp>
      <p:sp>
        <p:nvSpPr>
          <p:cNvPr id="10" name="Shape 8"/>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Assertive foreign policy (War on Terror)</a:t>
            </a:r>
            <a:endParaRPr lang="en-US" sz="8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155</a:t>
            </a:r>
            <a:endParaRPr lang="en-US" sz="9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US.92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Address to the Nation</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Contextualization</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George W. Bush  ·  September 11, 2001</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300" i="1" dirty="0">
                <a:solidFill>
                  <a:srgbClr val="1F2430"/>
                </a:solidFill>
                <a:latin typeface="Georgia" pitchFamily="34" charset="0"/>
                <a:ea typeface="Georgia" pitchFamily="34" charset="-122"/>
                <a:cs typeface="Georgia" pitchFamily="34" charset="-120"/>
              </a:rPr>
              <a:t>"Today, our fellow citizens, our way of life, our very freedom came under attack in a series of deliberate and deadly terrorist acts... Thousands of lives were suddenly ended by evil, despicable acts of terror. The pictures of airplanes flying into buildings, fires burning, huge structures collapsing, have filled us with disbelief, terrible sadness, and a quiet, unyielding anger."</a:t>
            </a:r>
            <a:endParaRPr lang="en-US" sz="13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463040"/>
          </a:xfrm>
          <a:prstGeom prst="roundRect">
            <a:avLst>
              <a:gd name="adj" fmla="val 5000"/>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950976"/>
          </a:xfrm>
          <a:prstGeom prst="rect">
            <a:avLst/>
          </a:prstGeom>
          <a:noFill/>
          <a:ln/>
        </p:spPr>
        <p:txBody>
          <a:bodyPr wrap="square" rtlCol="0" anchor="t">
            <a:normAutofit/>
          </a:bodyPr>
          <a:lstStyle/>
          <a:p>
            <a:pPr indent="0" marL="0">
              <a:lnSpc>
                <a:spcPct val="96000"/>
              </a:lnSpc>
              <a:buNone/>
            </a:pPr>
            <a:r>
              <a:rPr lang="en-US" sz="1050" dirty="0">
                <a:solidFill>
                  <a:srgbClr val="FFFFFF"/>
                </a:solidFill>
                <a:latin typeface="Calibri" pitchFamily="34" charset="0"/>
                <a:ea typeface="Calibri" pitchFamily="34" charset="-122"/>
                <a:cs typeface="Calibri" pitchFamily="34" charset="-120"/>
              </a:rPr>
              <a:t>On the evening of September 11, 2001, hours after hijacked planes destroyed the World Trade Center and struck the Pentagon, Bush addressed a shaken nation from the Oval Office. His words framed the attacks as an assault on American freedom itself.</a:t>
            </a:r>
            <a:endParaRPr lang="en-US" sz="1050" dirty="0"/>
          </a:p>
        </p:txBody>
      </p:sp>
      <p:sp>
        <p:nvSpPr>
          <p:cNvPr id="16" name="Shape 14"/>
          <p:cNvSpPr/>
          <p:nvPr/>
        </p:nvSpPr>
        <p:spPr>
          <a:xfrm>
            <a:off x="7589520" y="3383280"/>
            <a:ext cx="4023360" cy="1600200"/>
          </a:xfrm>
          <a:prstGeom prst="roundRect">
            <a:avLst>
              <a:gd name="adj" fmla="val 4571"/>
            </a:avLst>
          </a:prstGeom>
          <a:solidFill>
            <a:srgbClr val="C9A84C"/>
          </a:solidFill>
          <a:ln/>
        </p:spPr>
      </p:sp>
      <p:sp>
        <p:nvSpPr>
          <p:cNvPr id="17" name="Text 15"/>
          <p:cNvSpPr/>
          <p:nvPr/>
        </p:nvSpPr>
        <p:spPr>
          <a:xfrm>
            <a:off x="7818120" y="350215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3803904"/>
            <a:ext cx="3611880" cy="106984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How does Bush describe the September 11 attacks?</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President George W. Bush</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September 11, 2001</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that a president speaking hours after a tragedy is trying to reassure and unite a frightened nation.</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156</a:t>
            </a:r>
            <a:endParaRPr lang="en-US" sz="9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US.92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874520"/>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September 11, 2001 Attacks</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Ataques del 11 de Septiembre de 2001</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SA</a:t>
            </a:r>
            <a:endParaRPr lang="en-US" sz="1300" dirty="0"/>
          </a:p>
        </p:txBody>
      </p:sp>
      <p:sp>
        <p:nvSpPr>
          <p:cNvPr id="11" name="Text 9"/>
          <p:cNvSpPr/>
          <p:nvPr/>
        </p:nvSpPr>
        <p:spPr>
          <a:xfrm>
            <a:off x="1225296" y="2395728"/>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Terrorist attacks by al-Qaeda that killed nearly 3,000 people when hijacked planes struck the World Trade Center, Pentagon, and crashed in Pennsylvania, transforming American foreign policy and domestic security.</a:t>
            </a:r>
            <a:endParaRPr lang="en-US" sz="1100" dirty="0"/>
          </a:p>
        </p:txBody>
      </p:sp>
      <p:sp>
        <p:nvSpPr>
          <p:cNvPr id="12" name="Shape 10"/>
          <p:cNvSpPr/>
          <p:nvPr/>
        </p:nvSpPr>
        <p:spPr>
          <a:xfrm>
            <a:off x="6263640" y="1645920"/>
            <a:ext cx="5486400" cy="1874520"/>
          </a:xfrm>
          <a:prstGeom prst="rect">
            <a:avLst/>
          </a:prstGeom>
          <a:solidFill>
            <a:srgbClr val="FFFFFF"/>
          </a:solidFill>
          <a:ln w="12700">
            <a:solidFill>
              <a:srgbClr val="DAD3C2"/>
            </a:solidFill>
            <a:prstDash val="solid"/>
          </a:ln>
        </p:spPr>
      </p:sp>
      <p:sp>
        <p:nvSpPr>
          <p:cNvPr id="13" name="Shape 11"/>
          <p:cNvSpPr/>
          <p:nvPr/>
        </p:nvSpPr>
        <p:spPr>
          <a:xfrm>
            <a:off x="6263640" y="1645920"/>
            <a:ext cx="5486400" cy="676656"/>
          </a:xfrm>
          <a:prstGeom prst="rect">
            <a:avLst/>
          </a:prstGeom>
          <a:solidFill>
            <a:srgbClr val="1A2332"/>
          </a:solidFill>
          <a:ln/>
        </p:spPr>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War on Terror</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Guerra contra el Terror</a:t>
            </a:r>
            <a:endParaRPr lang="en-US" sz="1000" dirty="0"/>
          </a:p>
        </p:txBody>
      </p:sp>
      <p:sp>
        <p:nvSpPr>
          <p:cNvPr id="16" name="Shape 14"/>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7" name="Text 15"/>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WO</a:t>
            </a:r>
            <a:endParaRPr lang="en-US" sz="1300" dirty="0"/>
          </a:p>
        </p:txBody>
      </p:sp>
      <p:sp>
        <p:nvSpPr>
          <p:cNvPr id="18" name="Text 16"/>
          <p:cNvSpPr/>
          <p:nvPr/>
        </p:nvSpPr>
        <p:spPr>
          <a:xfrm>
            <a:off x="6940296" y="2395728"/>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U.S.-led international military campaign launched after 9/11 to eliminate terrorist groups, particularly al-Qaeda and the Taliban, including wars in Afghanistan (2001) and Iraq (2003).</a:t>
            </a:r>
            <a:endParaRPr lang="en-US" sz="1100" dirty="0"/>
          </a:p>
        </p:txBody>
      </p:sp>
      <p:sp>
        <p:nvSpPr>
          <p:cNvPr id="19" name="Text 17"/>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20" name="Text 1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157</a:t>
            </a:r>
            <a:endParaRPr lang="en-US" sz="9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US.92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Trace the impact of a single event</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9/11 was one day. How do I trace its impact across security, wars, and civil liberties?</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9/11 led to new security agencies, the PATRIOT Act, and wars in Afghanistan and Iraq.</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To trace impact, I follow the consequences outward from the event — one attack reshaped domestic security, foreign policy, and debates over privacy.</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name one domestic and one international way 9/11 changed the United States.</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158</a:t>
            </a:r>
            <a:endParaRPr lang="en-US" sz="9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US.92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September 11th — Pre-9/11 vs. Post-9/11 America Venn</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18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the primary source, complete the Venn diagram comparing America BEFORE and AFTER September 11, 2001. In the outer circles, record what was distinct to each period (open airports and looser security before; the Department of Homeland Security, the Patriot Act, airport screening, and the War on Terror after). In the overlap, record what stayed the same (American resilience, national unity). Finish with a claim about how 9/11 changed the balance between security and civil liberties.</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Venn diagram (2+ items per section, including the shared overlap) plus a one-sentence claim on the biggest lasting change 9/11 brought to daily American life.</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Venn diagram with sentence stems and a word bank (Homeland Security, Patriot Act, airport security, War on Terror, national unity) to place. Honors: Analyze whether the security measures adopted after 9/11 protected Americans or went too far in limiting freedoms. Defend with evidence.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printables/unit-10/venn-pre-9-11-vs-post-9-11-america.html</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159</a:t>
            </a:r>
            <a:endParaRPr lang="en-US" sz="9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US.92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How does Bush describe the September 11 attacks?</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As deliberate attacks on American freedom that caused sadness and anger</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As accidents caused by mechanical failures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As minor incidents requiring limited response</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As actions by a specific foreign government</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160</a:t>
            </a:r>
            <a:endParaRPr lang="en-US" sz="9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US.92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How does Bush describe the September 11 attacks?</a:t>
            </a:r>
            <a:endParaRPr lang="en-US" sz="1500" dirty="0"/>
          </a:p>
        </p:txBody>
      </p:sp>
      <p:sp>
        <p:nvSpPr>
          <p:cNvPr id="9" name="Shape 7"/>
          <p:cNvSpPr/>
          <p:nvPr/>
        </p:nvSpPr>
        <p:spPr>
          <a:xfrm>
            <a:off x="548640" y="2651760"/>
            <a:ext cx="11064240" cy="566928"/>
          </a:xfrm>
          <a:prstGeom prst="roundRect">
            <a:avLst>
              <a:gd name="adj" fmla="val 9677"/>
            </a:avLst>
          </a:prstGeom>
          <a:solidFill>
            <a:srgbClr val="C9A84C"/>
          </a:solidFill>
          <a:ln w="12700">
            <a:solidFill>
              <a:srgbClr val="F9A825"/>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As deliberate attacks on American freedom that caused sadness and anger</a:t>
            </a:r>
            <a:endParaRPr lang="en-US" sz="1300" dirty="0"/>
          </a:p>
        </p:txBody>
      </p:sp>
      <p:sp>
        <p:nvSpPr>
          <p:cNvPr id="13" name="Text 11"/>
          <p:cNvSpPr/>
          <p:nvPr/>
        </p:nvSpPr>
        <p:spPr>
          <a:xfrm>
            <a:off x="11018520" y="2651760"/>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5" name="Shape 13"/>
          <p:cNvSpPr/>
          <p:nvPr/>
        </p:nvSpPr>
        <p:spPr>
          <a:xfrm>
            <a:off x="713232" y="3419856"/>
            <a:ext cx="347472" cy="347472"/>
          </a:xfrm>
          <a:prstGeom prst="ellipse">
            <a:avLst/>
          </a:prstGeom>
          <a:solidFill>
            <a:srgbClr val="1A2332"/>
          </a:solidFill>
          <a:ln/>
        </p:spPr>
      </p:sp>
      <p:sp>
        <p:nvSpPr>
          <p:cNvPr id="16" name="Text 14"/>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As accidents caused by mechanical failures</a:t>
            </a:r>
            <a:endParaRPr lang="en-US" sz="13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As minor incidents requiring limited response</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As actions by a specific foreign government</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A.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Bush describes "deliberate and deadly terrorist acts" where "our very freedom came under attack," causing "terrible sadness, and a quiet, unyielding anger."</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161</a:t>
            </a:r>
            <a:endParaRPr lang="en-US" sz="9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US.92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Bush's Domestic and International Response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Afghanistan War</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Iraq War</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Global Counter-terrorism Efforts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150" i="1" dirty="0">
                <a:solidFill>
                  <a:srgbClr val="1F2430"/>
                </a:solidFill>
                <a:latin typeface="Calibri" pitchFamily="34" charset="0"/>
                <a:ea typeface="Calibri" pitchFamily="34" charset="-122"/>
                <a:cs typeface="Calibri" pitchFamily="34" charset="-120"/>
              </a:rPr>
              <a:t>Analyze whether the security measures adopted after 9/11 protected Americans or went too far in limiting freedoms. Defend your position with evidence.</a:t>
            </a:r>
            <a:endParaRPr lang="en-US" sz="11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3</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how the September 11th attacks changed American security and foreign policy. Give at least two specific changes.</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162</a:t>
            </a:r>
            <a:endParaRPr lang="en-US" sz="9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US.93</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Increasing Role of Women and Minorities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Describe the increasing role of women and minorities in the American military, politics, and economy, including: Hillary Clinton, Sandra Day O'Connor, Nancy Pelosi, Colin Powell, Condoleezza Rice. (TCA)</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describe the increasing role of women and minorities in the American military, politics, and economy, including Hillary Clinton, Sandra Day O'Connor, Nancy Pelosi, Colin Powell, and Condoleezza Rice.</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163</a:t>
            </a:r>
            <a:endParaRPr lang="en-US" sz="9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US.93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US.92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We just studied the September 11th attacks. Name two ways the U.S. government responded.</a:t>
            </a:r>
            <a:endParaRPr lang="en-US" sz="1350" dirty="0"/>
          </a:p>
        </p:txBody>
      </p:sp>
      <p:sp>
        <p:nvSpPr>
          <p:cNvPr id="11"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164</a:t>
            </a:r>
            <a:endParaRPr lang="en-US" sz="9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US.93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Who was the first woman appointed to the U.S. Supreme Court?</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Sandra Day O'Connor (1981).</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165</a:t>
            </a:r>
            <a:endParaRPr lang="en-US" sz="9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US.93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Sandra Day O'Connor became the first woman on the Supreme Court, Colin Powell and Condoleezza Rice led American foreign policy, and Nancy Pelosi became the first woman Speaker of the House — breaking barriers that had stood for the entire history of the republic.</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When someone becomes the “first” to hold a powerful office, why does that matter beyond just one person's career? What does it change for everyone who comes after?</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166</a:t>
            </a:r>
            <a:endParaRPr lang="en-US" sz="9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Hillary Clinton's Contributions</a:t>
            </a:r>
            <a:endParaRPr lang="en-US" sz="3000" dirty="0"/>
          </a:p>
        </p:txBody>
      </p:sp>
      <p:sp>
        <p:nvSpPr>
          <p:cNvPr id="5" name="Shape 3"/>
          <p:cNvSpPr/>
          <p:nvPr/>
        </p:nvSpPr>
        <p:spPr>
          <a:xfrm>
            <a:off x="10180015" y="502920"/>
            <a:ext cx="146304" cy="146304"/>
          </a:xfrm>
          <a:prstGeom prst="ellipse">
            <a:avLst/>
          </a:prstGeom>
          <a:solidFill>
            <a:srgbClr val="C62828"/>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First Lady (1993-2001), U.S. Senator from New York (2001-2009), Secretary of State (2009-2013), and the first woman nominated for president by a major party (2016).</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She advocated for healthcare reform, women's rights, and children's issues while breaking gender barriers in American politics at the highest levels.</a:t>
            </a:r>
            <a:endParaRPr lang="en-US" sz="1700" dirty="0"/>
          </a:p>
        </p:txBody>
      </p:sp>
      <p:sp>
        <p:nvSpPr>
          <p:cNvPr id="13" name="Shape 11"/>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4" name="Text 12"/>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5" name="Text 13"/>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___ broke a barrier by becoming the first ___ to ___, which was significant because ___.</a:t>
            </a:r>
            <a:endParaRPr lang="en-US" sz="115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167</a:t>
            </a:r>
            <a:endParaRPr lang="en-US" sz="9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Colin Powell's Leadership</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C62828"/>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First Black Chairman of the Joint Chiefs of Staff (1989-1993), he oversaw Gulf War success and served as Secretary of State (2001-2005).</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His military leadership and diplomatic service demonstrated minority advancement in national security positions while maintaining broad public respect across political lines.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168</a:t>
            </a:r>
            <a:endParaRPr lang="en-US" sz="9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Sandra Day O'Connor's Pioneering Impact</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C62828"/>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First woman Supreme Court Justice (1981-2006), appointed by Reagan.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Her moderate conservative positions often provided swing votes on crucial cases.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She opened the door for women in the legal profession's highest position and demonstrated that gender need not determine judicial philosophy.</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169</a:t>
            </a:r>
            <a:endParaRPr lang="en-US" sz="9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Condoleezza Rice's Foreign Policy Role</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C62828"/>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First Black woman National Security Advisor (2001-2005) and Secretary of State (2005-2009).</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Her expertise in Soviet/Russian affairs and close relationship with President Bush made her influential in post-9/11 foreign policy, particularly regarding Iraq and democracy promotion.</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170</a:t>
            </a:r>
            <a:endParaRPr lang="en-US" sz="9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Nancy Pelosi's Political Leadership</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C62828"/>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5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First woman Speaker of the House (2007-2011, 2019-2023), the highest-ranking woman in American government.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She led Democratic opposition to Bush policies, shepherded Obama's legislative agenda including healthcare reform, and managed Trump's impeachment proceedings, demonstrating women's leadership in legislative politics.</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171</a:t>
            </a:r>
            <a:endParaRPr lang="en-US" sz="9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US.93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4114800"/>
          </a:xfrm>
          <a:prstGeom prst="rect">
            <a:avLst/>
          </a:prstGeom>
          <a:solidFill>
            <a:srgbClr val="FFFFFF"/>
          </a:solidFill>
          <a:ln w="12700">
            <a:solidFill>
              <a:srgbClr val="DAD3C2"/>
            </a:solidFill>
            <a:prstDash val="solid"/>
          </a:ln>
        </p:spPr>
      </p:sp>
      <p:sp>
        <p:nvSpPr>
          <p:cNvPr id="6" name="Shape 4"/>
          <p:cNvSpPr/>
          <p:nvPr/>
        </p:nvSpPr>
        <p:spPr>
          <a:xfrm>
            <a:off x="548640" y="1627632"/>
            <a:ext cx="5394960" cy="868680"/>
          </a:xfrm>
          <a:prstGeom prst="rect">
            <a:avLst/>
          </a:prstGeom>
          <a:solidFill>
            <a:srgbClr val="1A2332"/>
          </a:solidFill>
          <a:ln/>
        </p:spPr>
      </p:sp>
      <p:sp>
        <p:nvSpPr>
          <p:cNvPr id="7" name="Text 5"/>
          <p:cNvSpPr/>
          <p:nvPr/>
        </p:nvSpPr>
        <p:spPr>
          <a:xfrm>
            <a:off x="66751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Sandra Day O'Connor</a:t>
            </a:r>
            <a:endParaRPr lang="en-US" sz="1800" dirty="0"/>
          </a:p>
        </p:txBody>
      </p:sp>
      <p:sp>
        <p:nvSpPr>
          <p:cNvPr id="8" name="Text 6"/>
          <p:cNvSpPr/>
          <p:nvPr/>
        </p:nvSpPr>
        <p:spPr>
          <a:xfrm>
            <a:off x="66751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First woman U.S. Supreme Court Justice</a:t>
            </a:r>
            <a:endParaRPr lang="en-US" sz="1100" dirty="0"/>
          </a:p>
        </p:txBody>
      </p:sp>
      <p:sp>
        <p:nvSpPr>
          <p:cNvPr id="9" name="Shape 7"/>
          <p:cNvSpPr/>
          <p:nvPr/>
        </p:nvSpPr>
        <p:spPr>
          <a:xfrm>
            <a:off x="667512" y="2578608"/>
            <a:ext cx="1750217" cy="2212848"/>
          </a:xfrm>
          <a:prstGeom prst="rect">
            <a:avLst/>
          </a:prstGeom>
          <a:solidFill>
            <a:srgbClr val="FFFFFF"/>
          </a:solidFill>
          <a:ln w="12700">
            <a:solidFill>
              <a:srgbClr val="DAD3C2"/>
            </a:solidFill>
            <a:prstDash val="solid"/>
          </a:ln>
        </p:spPr>
      </p:sp>
      <p:pic>
        <p:nvPicPr>
          <p:cNvPr id="10" name="Image 0" descr="unit10-full/img/sandra-day-oconnor-portrait.jpg">    </p:cNvPr>
          <p:cNvPicPr>
            <a:picLocks noChangeAspect="1"/>
          </p:cNvPicPr>
          <p:nvPr/>
        </p:nvPicPr>
        <p:blipFill>
          <a:blip r:embed="rId1"/>
          <a:srcRect l="0" r="0" t="0" b="0"/>
          <a:stretch/>
        </p:blipFill>
        <p:spPr>
          <a:xfrm>
            <a:off x="694944" y="2606040"/>
            <a:ext cx="1695353" cy="2157984"/>
          </a:xfrm>
          <a:prstGeom prst="rect">
            <a:avLst/>
          </a:prstGeom>
        </p:spPr>
      </p:pic>
      <p:sp>
        <p:nvSpPr>
          <p:cNvPr id="11" name="Text 8"/>
          <p:cNvSpPr/>
          <p:nvPr/>
        </p:nvSpPr>
        <p:spPr>
          <a:xfrm>
            <a:off x="694944" y="4800600"/>
            <a:ext cx="2198273" cy="365760"/>
          </a:xfrm>
          <a:prstGeom prst="rect">
            <a:avLst/>
          </a:prstGeom>
          <a:noFill/>
          <a:ln/>
        </p:spPr>
        <p:txBody>
          <a:bodyPr wrap="square" rtlCol="0" anchor="t"/>
          <a:lstStyle/>
          <a:p>
            <a:pPr indent="0" marL="0">
              <a:lnSpc>
                <a:spcPct val="95000"/>
              </a:lnSpc>
              <a:buNone/>
            </a:pPr>
            <a:r>
              <a:rPr lang="en-US" sz="600" i="1" dirty="0">
                <a:solidFill>
                  <a:srgbClr val="5C6470"/>
                </a:solidFill>
                <a:latin typeface="Calibri" pitchFamily="34" charset="0"/>
                <a:ea typeface="Calibri" pitchFamily="34" charset="-122"/>
                <a:cs typeface="Calibri" pitchFamily="34" charset="-120"/>
              </a:rPr>
              <a:t>Unknown; U.S. federal government, 1994  </a:t>
            </a:r>
            <a:pPr indent="0" marL="0">
              <a:lnSpc>
                <a:spcPct val="95000"/>
              </a:lnSpc>
              <a:buNone/>
            </a:pPr>
            <a:r>
              <a:rPr lang="en-US" sz="6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 Supreme Court</a:t>
            </a:r>
            <a:endParaRPr lang="en-US" sz="600" dirty="0"/>
          </a:p>
        </p:txBody>
      </p:sp>
      <p:sp>
        <p:nvSpPr>
          <p:cNvPr id="12" name="Text 9"/>
          <p:cNvSpPr/>
          <p:nvPr/>
        </p:nvSpPr>
        <p:spPr>
          <a:xfrm>
            <a:off x="2573177" y="2606040"/>
            <a:ext cx="3224119" cy="2542032"/>
          </a:xfrm>
          <a:prstGeom prst="rect">
            <a:avLst/>
          </a:prstGeom>
          <a:noFill/>
          <a:ln/>
        </p:spPr>
        <p:txBody>
          <a:bodyPr wrap="square" rtlCol="0" anchor="ctr">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Became the first woman appointed to the Supreme Court (1981)</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Often cast the deciding swing vote on major cases</a:t>
            </a:r>
            <a:endParaRPr lang="en-US" sz="1300" dirty="0"/>
          </a:p>
        </p:txBody>
      </p:sp>
      <p:sp>
        <p:nvSpPr>
          <p:cNvPr id="13" name="Shape 10"/>
          <p:cNvSpPr/>
          <p:nvPr/>
        </p:nvSpPr>
        <p:spPr>
          <a:xfrm>
            <a:off x="667512" y="5148072"/>
            <a:ext cx="5157216" cy="512064"/>
          </a:xfrm>
          <a:prstGeom prst="roundRect">
            <a:avLst>
              <a:gd name="adj" fmla="val 10714"/>
            </a:avLst>
          </a:prstGeom>
          <a:solidFill>
            <a:srgbClr val="FBEFD0"/>
          </a:solidFill>
          <a:ln w="15875">
            <a:solidFill>
              <a:srgbClr val="C9A84C"/>
            </a:solidFill>
            <a:prstDash val="solid"/>
          </a:ln>
        </p:spPr>
      </p:sp>
      <p:sp>
        <p:nvSpPr>
          <p:cNvPr id="14" name="Text 11"/>
          <p:cNvSpPr/>
          <p:nvPr/>
        </p:nvSpPr>
        <p:spPr>
          <a:xfrm>
            <a:off x="74980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Institutional leadership (breaking barriers)</a:t>
            </a:r>
            <a:endParaRPr lang="en-US" sz="800" dirty="0"/>
          </a:p>
        </p:txBody>
      </p:sp>
      <p:sp>
        <p:nvSpPr>
          <p:cNvPr id="15" name="Shape 12"/>
          <p:cNvSpPr/>
          <p:nvPr/>
        </p:nvSpPr>
        <p:spPr>
          <a:xfrm>
            <a:off x="6217920" y="1627632"/>
            <a:ext cx="5394960" cy="4114800"/>
          </a:xfrm>
          <a:prstGeom prst="rect">
            <a:avLst/>
          </a:prstGeom>
          <a:solidFill>
            <a:srgbClr val="FFFFFF"/>
          </a:solidFill>
          <a:ln w="12700">
            <a:solidFill>
              <a:srgbClr val="DAD3C2"/>
            </a:solidFill>
            <a:prstDash val="solid"/>
          </a:ln>
        </p:spPr>
      </p:sp>
      <p:sp>
        <p:nvSpPr>
          <p:cNvPr id="16" name="Shape 13"/>
          <p:cNvSpPr/>
          <p:nvPr/>
        </p:nvSpPr>
        <p:spPr>
          <a:xfrm>
            <a:off x="6217920" y="1627632"/>
            <a:ext cx="5394960" cy="868680"/>
          </a:xfrm>
          <a:prstGeom prst="rect">
            <a:avLst/>
          </a:prstGeom>
          <a:solidFill>
            <a:srgbClr val="1A2332"/>
          </a:solidFill>
          <a:ln/>
        </p:spPr>
      </p:sp>
      <p:sp>
        <p:nvSpPr>
          <p:cNvPr id="17" name="Text 14"/>
          <p:cNvSpPr/>
          <p:nvPr/>
        </p:nvSpPr>
        <p:spPr>
          <a:xfrm>
            <a:off x="633679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Colin Powell</a:t>
            </a:r>
            <a:endParaRPr lang="en-US" sz="1800" dirty="0"/>
          </a:p>
        </p:txBody>
      </p:sp>
      <p:sp>
        <p:nvSpPr>
          <p:cNvPr id="18" name="Text 15"/>
          <p:cNvSpPr/>
          <p:nvPr/>
        </p:nvSpPr>
        <p:spPr>
          <a:xfrm>
            <a:off x="633679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First Black Chairman of the Joint Chiefs and Secretary of State</a:t>
            </a:r>
            <a:endParaRPr lang="en-US" sz="1100" dirty="0"/>
          </a:p>
        </p:txBody>
      </p:sp>
      <p:sp>
        <p:nvSpPr>
          <p:cNvPr id="19" name="Text 16"/>
          <p:cNvSpPr/>
          <p:nvPr/>
        </p:nvSpPr>
        <p:spPr>
          <a:xfrm>
            <a:off x="636422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First African American Chairman of the Joint Chiefs of Staff (1989)</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First African American Secretary of State (2001)</a:t>
            </a:r>
            <a:endParaRPr lang="en-US" sz="1300" dirty="0"/>
          </a:p>
        </p:txBody>
      </p:sp>
      <p:sp>
        <p:nvSpPr>
          <p:cNvPr id="20" name="Shape 17"/>
          <p:cNvSpPr/>
          <p:nvPr/>
        </p:nvSpPr>
        <p:spPr>
          <a:xfrm>
            <a:off x="6336792" y="5148072"/>
            <a:ext cx="5157216" cy="512064"/>
          </a:xfrm>
          <a:prstGeom prst="roundRect">
            <a:avLst>
              <a:gd name="adj" fmla="val 10714"/>
            </a:avLst>
          </a:prstGeom>
          <a:solidFill>
            <a:srgbClr val="FBEFD0"/>
          </a:solidFill>
          <a:ln w="15875">
            <a:solidFill>
              <a:srgbClr val="C9A84C"/>
            </a:solidFill>
            <a:prstDash val="solid"/>
          </a:ln>
        </p:spPr>
      </p:sp>
      <p:sp>
        <p:nvSpPr>
          <p:cNvPr id="21" name="Text 18"/>
          <p:cNvSpPr/>
          <p:nvPr/>
        </p:nvSpPr>
        <p:spPr>
          <a:xfrm>
            <a:off x="641908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Public service (military and diplomacy)</a:t>
            </a:r>
            <a:endParaRPr lang="en-US" sz="800" dirty="0"/>
          </a:p>
        </p:txBody>
      </p:sp>
      <p:sp>
        <p:nvSpPr>
          <p:cNvPr id="22" name="Text 1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3" name="Text 2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172</a:t>
            </a:r>
            <a:endParaRPr lang="en-US" sz="9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US.93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200" b="1" dirty="0">
                <a:solidFill>
                  <a:srgbClr val="1A2332"/>
                </a:solidFill>
                <a:latin typeface="Georgia" pitchFamily="34" charset="0"/>
                <a:ea typeface="Georgia" pitchFamily="34" charset="-122"/>
                <a:cs typeface="Georgia" pitchFamily="34" charset="-120"/>
              </a:rPr>
              <a:t>Sandra Day O'Connor Confirmation Statement</a:t>
            </a:r>
            <a:endParaRPr lang="en-US" sz="22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Argumentation</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Sandra Day O'Connor  ·  September 1981</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"It is a great honor for me to be the first woman to be nominated for a place on the Supreme Court. It is an honor to be selected by the President of the United States and an honor to be confirmed by the Senate... I hope that my appointment will serve to inspire other women to aspire to positions of leadership."</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463040"/>
          </a:xfrm>
          <a:prstGeom prst="roundRect">
            <a:avLst>
              <a:gd name="adj" fmla="val 5000"/>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950976"/>
          </a:xfrm>
          <a:prstGeom prst="rect">
            <a:avLst/>
          </a:prstGeom>
          <a:noFill/>
          <a:ln/>
        </p:spPr>
        <p:txBody>
          <a:bodyPr wrap="square" rtlCol="0" anchor="t">
            <a:normAutofit/>
          </a:bodyPr>
          <a:lstStyle/>
          <a:p>
            <a:pPr indent="0" marL="0">
              <a:lnSpc>
                <a:spcPct val="96000"/>
              </a:lnSpc>
              <a:buNone/>
            </a:pPr>
            <a:r>
              <a:rPr lang="en-US" sz="1050" dirty="0">
                <a:solidFill>
                  <a:srgbClr val="FFFFFF"/>
                </a:solidFill>
                <a:latin typeface="Calibri" pitchFamily="34" charset="0"/>
                <a:ea typeface="Calibri" pitchFamily="34" charset="-122"/>
                <a:cs typeface="Calibri" pitchFamily="34" charset="-120"/>
              </a:rPr>
              <a:t>When President Reagan nominated Sandra Day O'Connor in 1981, she became the first woman ever named to the Supreme Court. In her confirmation statement she reflected on the meaning of the milestone for women across the country.</a:t>
            </a:r>
            <a:endParaRPr lang="en-US" sz="1050" dirty="0"/>
          </a:p>
        </p:txBody>
      </p:sp>
      <p:sp>
        <p:nvSpPr>
          <p:cNvPr id="16" name="Shape 14"/>
          <p:cNvSpPr/>
          <p:nvPr/>
        </p:nvSpPr>
        <p:spPr>
          <a:xfrm>
            <a:off x="7589520" y="3383280"/>
            <a:ext cx="4023360" cy="1600200"/>
          </a:xfrm>
          <a:prstGeom prst="roundRect">
            <a:avLst>
              <a:gd name="adj" fmla="val 4571"/>
            </a:avLst>
          </a:prstGeom>
          <a:solidFill>
            <a:srgbClr val="C9A84C"/>
          </a:solidFill>
          <a:ln/>
        </p:spPr>
      </p:sp>
      <p:sp>
        <p:nvSpPr>
          <p:cNvPr id="17" name="Text 15"/>
          <p:cNvSpPr/>
          <p:nvPr/>
        </p:nvSpPr>
        <p:spPr>
          <a:xfrm>
            <a:off x="7818120" y="350215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3803904"/>
            <a:ext cx="3611880" cy="106984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significance did O'Connor attach to her appointment?</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Sandra Day O'Connor</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September 1981</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that O'Connor is speaking as a barrier-breaker aware her words will be heard by women nationwide.</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173</a:t>
            </a:r>
            <a:endParaRPr lang="en-US" sz="9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US.93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874520"/>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Sandra Day O'Connor</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Sandra Day O'Connor</a:t>
            </a:r>
            <a:endParaRPr lang="en-US" sz="1000" dirty="0"/>
          </a:p>
        </p:txBody>
      </p:sp>
      <p:sp>
        <p:nvSpPr>
          <p:cNvPr id="9" name="Shape 7"/>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SD</a:t>
            </a:r>
            <a:endParaRPr lang="en-US" sz="1300" dirty="0"/>
          </a:p>
        </p:txBody>
      </p:sp>
      <p:sp>
        <p:nvSpPr>
          <p:cNvPr id="11" name="Text 9"/>
          <p:cNvSpPr/>
          <p:nvPr/>
        </p:nvSpPr>
        <p:spPr>
          <a:xfrm>
            <a:off x="1225296" y="2395728"/>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First woman appointed to the U.S. Supreme Court (1981) by President Reagan, serving until 2006 and often providing the swing vote on contentious cases.</a:t>
            </a:r>
            <a:endParaRPr lang="en-US" sz="1100" dirty="0"/>
          </a:p>
        </p:txBody>
      </p:sp>
      <p:sp>
        <p:nvSpPr>
          <p:cNvPr id="12" name="Shape 10"/>
          <p:cNvSpPr/>
          <p:nvPr/>
        </p:nvSpPr>
        <p:spPr>
          <a:xfrm>
            <a:off x="6263640" y="1645920"/>
            <a:ext cx="5486400" cy="1874520"/>
          </a:xfrm>
          <a:prstGeom prst="rect">
            <a:avLst/>
          </a:prstGeom>
          <a:solidFill>
            <a:srgbClr val="FFFFFF"/>
          </a:solidFill>
          <a:ln w="12700">
            <a:solidFill>
              <a:srgbClr val="DAD3C2"/>
            </a:solidFill>
            <a:prstDash val="solid"/>
          </a:ln>
        </p:spPr>
      </p:sp>
      <p:sp>
        <p:nvSpPr>
          <p:cNvPr id="13" name="Shape 11"/>
          <p:cNvSpPr/>
          <p:nvPr/>
        </p:nvSpPr>
        <p:spPr>
          <a:xfrm>
            <a:off x="6263640" y="1645920"/>
            <a:ext cx="5486400" cy="676656"/>
          </a:xfrm>
          <a:prstGeom prst="rect">
            <a:avLst/>
          </a:prstGeom>
          <a:solidFill>
            <a:srgbClr val="1A2332"/>
          </a:solidFill>
          <a:ln/>
        </p:spPr>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Colin Powell</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Colin Powell</a:t>
            </a:r>
            <a:endParaRPr lang="en-US" sz="1000" dirty="0"/>
          </a:p>
        </p:txBody>
      </p:sp>
      <p:sp>
        <p:nvSpPr>
          <p:cNvPr id="16" name="Shape 14"/>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7" name="Text 15"/>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CP</a:t>
            </a:r>
            <a:endParaRPr lang="en-US" sz="1300" dirty="0"/>
          </a:p>
        </p:txBody>
      </p:sp>
      <p:sp>
        <p:nvSpPr>
          <p:cNvPr id="18" name="Text 16"/>
          <p:cNvSpPr/>
          <p:nvPr/>
        </p:nvSpPr>
        <p:spPr>
          <a:xfrm>
            <a:off x="6940296" y="2395728"/>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First African American Chairman of the Joint Chiefs of Staff (1989) and Secretary of State (2001), playing key roles in Gulf War planning and post-9/11 foreign policy.</a:t>
            </a:r>
            <a:endParaRPr lang="en-US" sz="1100" dirty="0"/>
          </a:p>
        </p:txBody>
      </p:sp>
      <p:sp>
        <p:nvSpPr>
          <p:cNvPr id="19" name="Text 17"/>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20" name="Text 1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174</a:t>
            </a:r>
            <a:endParaRPr lang="en-US" sz="9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US.93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Explain historical significance of individuals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O'Connor, Powell, and Rice all achieved "firsts." How do I explain why these firsts matter?</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Each broke a barrier — first woman on the Court, first Black Secretary of State — opening doors for others.</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To explain significance, I ask what changed because of the person — a "first" matters because it proves a role is open to groups once excluded.</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pick one leader from this standard and explain what barrier they broke and why it mattered.</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175</a:t>
            </a:r>
            <a:endParaRPr lang="en-US" sz="9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US.93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200" b="1" dirty="0">
                <a:solidFill>
                  <a:srgbClr val="1A2332"/>
                </a:solidFill>
                <a:latin typeface="Georgia" pitchFamily="34" charset="0"/>
                <a:ea typeface="Georgia" pitchFamily="34" charset="-122"/>
                <a:cs typeface="Georgia" pitchFamily="34" charset="-120"/>
              </a:rPr>
              <a:t>Expanding Opportunity — Women &amp; Minorities Cause &amp; Effect</a:t>
            </a:r>
            <a:endParaRPr lang="en-US" sz="2200" dirty="0"/>
          </a:p>
        </p:txBody>
      </p:sp>
      <p:sp>
        <p:nvSpPr>
          <p:cNvPr id="5" name="Shape 3"/>
          <p:cNvSpPr/>
          <p:nvPr/>
        </p:nvSpPr>
        <p:spPr>
          <a:xfrm>
            <a:off x="548640" y="1591056"/>
            <a:ext cx="1199693" cy="365760"/>
          </a:xfrm>
          <a:prstGeom prst="roundRect">
            <a:avLst>
              <a:gd name="adj" fmla="val 20000"/>
            </a:avLst>
          </a:prstGeom>
          <a:solidFill>
            <a:srgbClr val="1A2332"/>
          </a:solidFill>
          <a:ln/>
        </p:spPr>
      </p:sp>
      <p:sp>
        <p:nvSpPr>
          <p:cNvPr id="6" name="Text 4"/>
          <p:cNvSpPr/>
          <p:nvPr/>
        </p:nvSpPr>
        <p:spPr>
          <a:xfrm>
            <a:off x="548640" y="1591056"/>
            <a:ext cx="119969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sp>
      <p:sp>
        <p:nvSpPr>
          <p:cNvPr id="8" name="Text 6"/>
          <p:cNvSpPr/>
          <p:nvPr/>
        </p:nvSpPr>
        <p:spPr>
          <a:xfrm>
            <a:off x="1912925"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18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complete the Cause &amp; Effect organizer for the expanding roles of women and minorities. In CAUSES, list the barriers and the movements that challenged them (Title IX, affirmative action, the women's and civil-rights movements). In EFFECTS, trace the breakthroughs — Sandra Day O'Connor as the first woman on the Supreme Court, Colin Powell and other minority leaders, and rising participation in politics, business, and the professions. Finish with a claim about how these breakthroughs changed who holds power in America.</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Cause &amp; Effect organizer (3+ causes, 3+ effects) plus a one-sentence claim on the most significant breakthrough for women and minorities in this era.</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Organizer with a word bank (Title IX, affirmative action, Sandra Day O'Connor, Colin Powell, glass ceiling) to sort. Honors: Evaluate whether laws or individual trailblazers did more to expand opportunity for women and minorities. Argue with evidence.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printables/unit-10/unit-10-cause-effect.html</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176</a:t>
            </a:r>
            <a:endParaRPr lang="en-US" sz="9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US.93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What significance did O'Connor attach to her appointment?</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would change the court's political balance</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could inspire other women to seek leadership positions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would lead to more conservative rulings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was purely a personal achievement</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177</a:t>
            </a:r>
            <a:endParaRPr lang="en-US" sz="9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US.93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What significance did O'Connor attach to her appointment?</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would change the court's political balance</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It could inspire other women to seek leadership positions</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would lead to more conservative rulings</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was purely a personal achievement</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O'Connor states "I hope that my appointment will serve to inspire other women to aspire to positions of leadership."</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178</a:t>
            </a:r>
            <a:endParaRPr lang="en-US" sz="90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US.93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Hillary Clinton's Contributions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Colin Powell's Leadership</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Sandra Day O'Connor's Pioneering Impact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Condoleezza Rice's Foreign Policy Role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Nancy Pelosi's Political Leadership</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Evaluate whether laws (like Title IX and affirmative action) or individual trailblazers did more to expand opportunity for women and minorities. Argue with evidence.</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Describe two women or minority leaders from this era and explain why their achievements were significant.</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179</a:t>
            </a:r>
            <a:endParaRPr lang="en-US" sz="9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US.94</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Communication Methods Evolution</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Compare and contrast commonly used methods of communication from 1970 to today, and analyze the impact they have had on society.</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A2332"/>
                </a:solidFill>
                <a:latin typeface="Calibri" pitchFamily="34" charset="0"/>
                <a:ea typeface="Calibri" pitchFamily="34" charset="-122"/>
                <a:cs typeface="Calibri" pitchFamily="34" charset="-120"/>
              </a:rPr>
              <a:t>I can compare and contrast commonly used methods of communication from 1970 to today, and analyze the impact they have had on society.</a:t>
            </a:r>
            <a:endParaRPr lang="en-US" sz="13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180</a:t>
            </a:r>
            <a:endParaRPr lang="en-US" sz="90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US.94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US.93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In the last standard we studied expanding roles for women and minorities. Name one barrier-breaking leader and what office they held.</a:t>
            </a:r>
            <a:endParaRPr lang="en-US" sz="1350" dirty="0"/>
          </a:p>
        </p:txBody>
      </p:sp>
      <p:sp>
        <p:nvSpPr>
          <p:cNvPr id="11"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181</a:t>
            </a:r>
            <a:endParaRPr lang="en-US" sz="9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US.94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global computer network transformed communication starting in the 1990s?</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The Internet.</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182</a:t>
            </a:r>
            <a:endParaRPr lang="en-US" sz="9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US.94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In the 1970s, Americans communicated by letters, landline phones, and printed newspapers. Within a generation, the personal computer, the Internet, email, cell phones, and social media transformed how people talk, work, shop, and share information.</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The digital revolution made communication instant and global. What did society gain from that speed — and what, like privacy or face-to-face connection, might it have lost?</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183</a:t>
            </a:r>
            <a:endParaRPr lang="en-US" sz="9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1970s Communication Technologies</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Landline telephones were the primary voice communication method.</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Television, dominated by three major networks, provided news and entertainment.</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Radio remained important for music and local news.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Newspapers were the primary source for detailed news coverage.</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Mail served as the standard written communication method.</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Communication was slower, more deliberate, and geographically constrained.</a:t>
            </a:r>
            <a:endParaRPr lang="en-US" sz="1550" dirty="0"/>
          </a:p>
        </p:txBody>
      </p:sp>
      <p:sp>
        <p:nvSpPr>
          <p:cNvPr id="12" name="Shape 10"/>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In the 1970s Americans communicated by ___, but today they use ___, which changed society by ___.</a:t>
            </a:r>
            <a:endParaRPr lang="en-US" sz="1050" dirty="0"/>
          </a:p>
        </p:txBody>
      </p:sp>
      <p:sp>
        <p:nvSpPr>
          <p:cNvPr id="15" name="Shape 13"/>
          <p:cNvSpPr/>
          <p:nvPr/>
        </p:nvSpPr>
        <p:spPr>
          <a:xfrm>
            <a:off x="7552944" y="1746504"/>
            <a:ext cx="4142232" cy="2935224"/>
          </a:xfrm>
          <a:prstGeom prst="rect">
            <a:avLst/>
          </a:prstGeom>
          <a:solidFill>
            <a:srgbClr val="FFFFFF"/>
          </a:solidFill>
          <a:ln w="12700">
            <a:solidFill>
              <a:srgbClr val="DAD3C2"/>
            </a:solidFill>
            <a:prstDash val="solid"/>
          </a:ln>
        </p:spPr>
      </p:sp>
      <p:pic>
        <p:nvPicPr>
          <p:cNvPr id="16" name="Image 0" descr="unit10-full/img/ibm-personal-computer-1981.jpg">    </p:cNvPr>
          <p:cNvPicPr>
            <a:picLocks noChangeAspect="1"/>
          </p:cNvPicPr>
          <p:nvPr/>
        </p:nvPicPr>
        <p:blipFill>
          <a:blip r:embed="rId1"/>
          <a:stretch>
            <a:fillRect/>
          </a:stretch>
        </p:blipFill>
        <p:spPr>
          <a:xfrm>
            <a:off x="7589520" y="2247710"/>
            <a:ext cx="4069080" cy="1932813"/>
          </a:xfrm>
          <a:prstGeom prst="rect">
            <a:avLst/>
          </a:prstGeom>
        </p:spPr>
      </p:pic>
      <p:sp>
        <p:nvSpPr>
          <p:cNvPr id="17" name="Text 14"/>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FA2010 (photographer); rights holder released into public domain, 1981 (photographed c. 2011)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Museum für Angewandte Kunst</a:t>
            </a:r>
            <a:endParaRPr lang="en-US" sz="800" dirty="0"/>
          </a:p>
        </p:txBody>
      </p:sp>
      <p:sp>
        <p:nvSpPr>
          <p:cNvPr id="18" name="Shape 15"/>
          <p:cNvSpPr/>
          <p:nvPr/>
        </p:nvSpPr>
        <p:spPr>
          <a:xfrm>
            <a:off x="7589520" y="5440680"/>
            <a:ext cx="4069080" cy="713232"/>
          </a:xfrm>
          <a:prstGeom prst="roundRect">
            <a:avLst>
              <a:gd name="adj" fmla="val 7692"/>
            </a:avLst>
          </a:prstGeom>
          <a:solidFill>
            <a:srgbClr val="1A2332"/>
          </a:solidFill>
          <a:ln/>
        </p:spPr>
      </p:sp>
      <p:sp>
        <p:nvSpPr>
          <p:cNvPr id="19" name="Text 16"/>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1"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2"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184</a:t>
            </a:r>
            <a:endParaRPr lang="en-US" sz="90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Present-Day Communication Methods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Smartphones integrate voice, text, internet, and multimedia capabilities.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Social media platforms like Facebook, Twitter, and Instagram enable instant global communication.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Email is the primary business and formal communication method.</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Video conferencing through Zoom and similar platforms allows face-to-face remote communication.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Streaming services have replaced traditional television viewing patterns.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185</a:t>
            </a:r>
            <a:endParaRPr lang="en-US" sz="9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Comparing Characteristics and Limitations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1970s advantages: more face-to-face interaction, deeper news analysis, less information overload. 1970s limitations: slower communication, limited information access, geographic barriers.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Present advantages: instant global communication, unlimited information access, multimedia capabilities.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Present limitations: information overload, privacy concerns, reduced attention spans, and cybersecurity threats.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186</a:t>
            </a:r>
            <a:endParaRPr lang="en-US" sz="9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Societal Impact</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Communication evolution has transformed culture (global connectivity, viral content), the economy (e-commerce, remote work), governance (social media campaigns, digital democracy), and relationships (online dating, long-distance connections, but also reduced face-to-face interaction and increased isolation).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These changes continue to reshape American society in profound ways.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187</a:t>
            </a:r>
            <a:endParaRPr lang="en-US" sz="9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US.94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The Internet and Society</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Pew Research Center  ·  2005</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"The internet has fundamentally changed how Americans communicate, work, and access information. Email has largely replaced letter writing for personal and business correspondence. Social networking sites allow people to maintain hundreds of relationships simultaneously."</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463040"/>
          </a:xfrm>
          <a:prstGeom prst="roundRect">
            <a:avLst>
              <a:gd name="adj" fmla="val 5000"/>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950976"/>
          </a:xfrm>
          <a:prstGeom prst="rect">
            <a:avLst/>
          </a:prstGeom>
          <a:noFill/>
          <a:ln/>
        </p:spPr>
        <p:txBody>
          <a:bodyPr wrap="square" rtlCol="0" anchor="t">
            <a:normAutofit/>
          </a:bodyPr>
          <a:lstStyle/>
          <a:p>
            <a:pPr indent="0" marL="0">
              <a:lnSpc>
                <a:spcPct val="96000"/>
              </a:lnSpc>
              <a:buNone/>
            </a:pPr>
            <a:r>
              <a:rPr lang="en-US" sz="1050" dirty="0">
                <a:solidFill>
                  <a:srgbClr val="FFFFFF"/>
                </a:solidFill>
                <a:latin typeface="Calibri" pitchFamily="34" charset="0"/>
                <a:ea typeface="Calibri" pitchFamily="34" charset="-122"/>
                <a:cs typeface="Calibri" pitchFamily="34" charset="-120"/>
              </a:rPr>
              <a:t>By 2005, the internet had moved from novelty to necessity for many Americans. Research organizations like the Pew Research Center began documenting how digital tools were reshaping the way people communicated, worked, and found information.</a:t>
            </a:r>
            <a:endParaRPr lang="en-US" sz="1050" dirty="0"/>
          </a:p>
        </p:txBody>
      </p:sp>
      <p:sp>
        <p:nvSpPr>
          <p:cNvPr id="16" name="Shape 14"/>
          <p:cNvSpPr/>
          <p:nvPr/>
        </p:nvSpPr>
        <p:spPr>
          <a:xfrm>
            <a:off x="7589520" y="3383280"/>
            <a:ext cx="4023360" cy="1600200"/>
          </a:xfrm>
          <a:prstGeom prst="roundRect">
            <a:avLst>
              <a:gd name="adj" fmla="val 4571"/>
            </a:avLst>
          </a:prstGeom>
          <a:solidFill>
            <a:srgbClr val="C9A84C"/>
          </a:solidFill>
          <a:ln/>
        </p:spPr>
      </p:sp>
      <p:sp>
        <p:nvSpPr>
          <p:cNvPr id="17" name="Text 15"/>
          <p:cNvSpPr/>
          <p:nvPr/>
        </p:nvSpPr>
        <p:spPr>
          <a:xfrm>
            <a:off x="7818120" y="350215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3803904"/>
            <a:ext cx="3611880" cy="106984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According to this source, how has the internet changed American life?</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Pew Research Center</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2005</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that a research organization aims to describe trends with evidence, not to sell a product.</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188</a:t>
            </a:r>
            <a:endParaRPr lang="en-US" sz="9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US.94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3352648" y="1645920"/>
            <a:ext cx="5486400" cy="1874520"/>
          </a:xfrm>
          <a:prstGeom prst="rect">
            <a:avLst/>
          </a:prstGeom>
          <a:solidFill>
            <a:srgbClr val="FFFFFF"/>
          </a:solidFill>
          <a:ln w="12700">
            <a:solidFill>
              <a:srgbClr val="DAD3C2"/>
            </a:solidFill>
            <a:prstDash val="solid"/>
          </a:ln>
        </p:spPr>
      </p:sp>
      <p:sp>
        <p:nvSpPr>
          <p:cNvPr id="6" name="Shape 4"/>
          <p:cNvSpPr/>
          <p:nvPr/>
        </p:nvSpPr>
        <p:spPr>
          <a:xfrm>
            <a:off x="3352648" y="1645920"/>
            <a:ext cx="5486400" cy="676656"/>
          </a:xfrm>
          <a:prstGeom prst="rect">
            <a:avLst/>
          </a:prstGeom>
          <a:solidFill>
            <a:srgbClr val="1A2332"/>
          </a:solidFill>
          <a:ln/>
        </p:spPr>
      </p:sp>
      <p:sp>
        <p:nvSpPr>
          <p:cNvPr id="7" name="Text 5"/>
          <p:cNvSpPr/>
          <p:nvPr/>
        </p:nvSpPr>
        <p:spPr>
          <a:xfrm>
            <a:off x="3489808"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Internet Revolution</a:t>
            </a:r>
            <a:endParaRPr lang="en-US" sz="1350" dirty="0"/>
          </a:p>
        </p:txBody>
      </p:sp>
      <p:sp>
        <p:nvSpPr>
          <p:cNvPr id="8" name="Text 6"/>
          <p:cNvSpPr/>
          <p:nvPr/>
        </p:nvSpPr>
        <p:spPr>
          <a:xfrm>
            <a:off x="6507328"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Revolución de Internet</a:t>
            </a:r>
            <a:endParaRPr lang="en-US" sz="1000" dirty="0"/>
          </a:p>
        </p:txBody>
      </p:sp>
      <p:sp>
        <p:nvSpPr>
          <p:cNvPr id="9" name="Shape 7"/>
          <p:cNvSpPr/>
          <p:nvPr/>
        </p:nvSpPr>
        <p:spPr>
          <a:xfrm>
            <a:off x="3471520"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3380080"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IR</a:t>
            </a:r>
            <a:endParaRPr lang="en-US" sz="1300" dirty="0"/>
          </a:p>
        </p:txBody>
      </p:sp>
      <p:sp>
        <p:nvSpPr>
          <p:cNvPr id="11" name="Text 9"/>
          <p:cNvSpPr/>
          <p:nvPr/>
        </p:nvSpPr>
        <p:spPr>
          <a:xfrm>
            <a:off x="4029304" y="2395728"/>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Transformation of communication, commerce, and society from the 1990s onward as the World Wide Web and internet became mainstream, fundamentally changing how Americans work, shop, and interact.</a:t>
            </a:r>
            <a:endParaRPr lang="en-US" sz="1100" dirty="0"/>
          </a:p>
        </p:txBody>
      </p:sp>
      <p:sp>
        <p:nvSpPr>
          <p:cNvPr id="12" name="Text 10"/>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189</a:t>
            </a:r>
            <a:endParaRPr lang="en-US" sz="9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US.94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Compare and contrast across time</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How do I compare how a 1975 teenager and a teenager today would stay in touch with a friend?</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In 1975 they wrote letters and made rare phone calls; today they text and use social media instantly.</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To compare and contrast, I identify what is similar (both want to connect) and what is different (speed, cost, and how personal it feels).</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name one advantage and one drawback of today's communication compared with the 1970s.</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190</a:t>
            </a:r>
            <a:endParaRPr lang="en-US" sz="90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US.94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The Digital Revolution — Then vs. Now Venn</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complete the Venn diagram comparing communication BEFORE and AFTER the digital revolution. In the outer circles, record what was distinct to each era (letters, landline phones, and printed newspapers before; the personal computer, the Internet, email, cell phones, and social media after). In the overlap, record what stayed the same (people's need to connect and share information). Finish with a claim about how faster communication changed everyday life and the economy.</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Venn diagram (2+ items per section, including the shared overlap) plus a one-sentence claim on the single technology that changed communication the most.</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Venn diagram with sentence stems and a word bank (personal computer, Internet, email, cell phone, social media) to place. Honors: Analyze how the digital revolution changed not just communication but also work, politics, and privacy. Defend with evidence.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printables/unit-10/unit-10-venn.html</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191</a:t>
            </a:r>
            <a:endParaRPr lang="en-US" sz="9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US.94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What benefits and concerns does this source identify about modern communication?</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Only benefits — instant global connection with no drawbacks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Only concerns — technology has made communication worse</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Global connection and instant communication, but also privacy concerns, misinformation, and less face-to-face interaction</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No significant changes from earlier communication methods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192</a:t>
            </a:r>
            <a:endParaRPr lang="en-US" sz="90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US.94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What benefits and concerns does this source identify about modern communication?</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Only benefits — instant global connection with no drawbacks</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Only concerns — technology has made communication worse</a:t>
            </a:r>
            <a:endParaRPr lang="en-US" sz="1300" dirty="0"/>
          </a:p>
        </p:txBody>
      </p:sp>
      <p:sp>
        <p:nvSpPr>
          <p:cNvPr id="17" name="Shape 15"/>
          <p:cNvSpPr/>
          <p:nvPr/>
        </p:nvSpPr>
        <p:spPr>
          <a:xfrm>
            <a:off x="548640" y="3968496"/>
            <a:ext cx="11064240" cy="566928"/>
          </a:xfrm>
          <a:prstGeom prst="roundRect">
            <a:avLst>
              <a:gd name="adj" fmla="val 9677"/>
            </a:avLst>
          </a:prstGeom>
          <a:solidFill>
            <a:srgbClr val="C9A84C"/>
          </a:solidFill>
          <a:ln w="12700">
            <a:solidFill>
              <a:srgbClr val="F9A825"/>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Global connection and instant communication, but also privacy concerns, misinformation, and less face-to-face interaction</a:t>
            </a:r>
            <a:endParaRPr lang="en-US" sz="1300" dirty="0"/>
          </a:p>
        </p:txBody>
      </p:sp>
      <p:sp>
        <p:nvSpPr>
          <p:cNvPr id="21" name="Text 19"/>
          <p:cNvSpPr/>
          <p:nvPr/>
        </p:nvSpPr>
        <p:spPr>
          <a:xfrm>
            <a:off x="11018520" y="3968496"/>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No significant changes from earlier communication methods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C.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The testimony notes benefits like "instant communication across continents" but also "concerns about privacy, misinformation, and the decline of face-to-face interaction."</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193</a:t>
            </a:r>
            <a:endParaRPr lang="en-US" sz="9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US.94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1970s Communication Technologies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Present-Day Communication Methods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Comparing Characteristics and Limitations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Societal Impact</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150" i="1" dirty="0">
                <a:solidFill>
                  <a:srgbClr val="1F2430"/>
                </a:solidFill>
                <a:latin typeface="Calibri" pitchFamily="34" charset="0"/>
                <a:ea typeface="Calibri" pitchFamily="34" charset="-122"/>
                <a:cs typeface="Calibri" pitchFamily="34" charset="-120"/>
              </a:rPr>
              <a:t>Analyze how the digital revolution changed not just communication but also work, politics, and privacy. Defend your answer with evidence.</a:t>
            </a:r>
            <a:endParaRPr lang="en-US" sz="11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Compare how Americans communicated in the 1970s with how they communicate today. Name at least two changes and one effect on society.</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194</a:t>
            </a:r>
            <a:endParaRPr lang="en-US" sz="90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US.95</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Obama Administration Achievements and Setbacks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Describe the achievements and setbacks of President Barack Obama's administration.</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A2332"/>
                </a:solidFill>
                <a:latin typeface="Calibri" pitchFamily="34" charset="0"/>
                <a:ea typeface="Calibri" pitchFamily="34" charset="-122"/>
                <a:cs typeface="Calibri" pitchFamily="34" charset="-120"/>
              </a:rPr>
              <a:t>I can describe the achievements and setbacks of President Barack Obama's administration.</a:t>
            </a:r>
            <a:endParaRPr lang="en-US" sz="13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195</a:t>
            </a:r>
            <a:endParaRPr lang="en-US" sz="9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US.95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US.94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We just studied the evolution of communication. How did communication change from the 1970s to today?</a:t>
            </a:r>
            <a:endParaRPr lang="en-US" sz="1350" dirty="0"/>
          </a:p>
        </p:txBody>
      </p:sp>
      <p:sp>
        <p:nvSpPr>
          <p:cNvPr id="11"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196</a:t>
            </a:r>
            <a:endParaRPr lang="en-US" sz="90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US.95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Who became the first African American president of the United States, in 2009?</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Barack Obama.</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197</a:t>
            </a:r>
            <a:endParaRPr lang="en-US" sz="90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US.95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In 2009, Barack Obama took office as the first African American president — facing the worst economic crisis since the Great Depression, two wars, and a health-care system he set out to reform, all amid deep political division.</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Obama entered office promising “hope” and “change” during a national crisis. When a leader inherits enormous problems, how should we measure success — by what they fixed, or by what they attempted?</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198</a:t>
            </a:r>
            <a:endParaRPr lang="en-US" sz="90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Major Achievements</a:t>
            </a:r>
            <a:endParaRPr lang="en-US" sz="3000" dirty="0"/>
          </a:p>
        </p:txBody>
      </p:sp>
      <p:sp>
        <p:nvSpPr>
          <p:cNvPr id="5" name="Shape 3"/>
          <p:cNvSpPr/>
          <p:nvPr/>
        </p:nvSpPr>
        <p:spPr>
          <a:xfrm>
            <a:off x="10765231" y="502920"/>
            <a:ext cx="146304" cy="146304"/>
          </a:xfrm>
          <a:prstGeom prst="ellipse">
            <a:avLst/>
          </a:prstGeom>
          <a:solidFill>
            <a:srgbClr val="C62828"/>
          </a:solidFill>
          <a:ln/>
        </p:spPr>
      </p:sp>
      <p:sp>
        <p:nvSpPr>
          <p:cNvPr id="6" name="Shape 4"/>
          <p:cNvSpPr/>
          <p:nvPr/>
        </p:nvSpPr>
        <p:spPr>
          <a:xfrm>
            <a:off x="11057839" y="502920"/>
            <a:ext cx="146304" cy="146304"/>
          </a:xfrm>
          <a:prstGeom prst="ellipse">
            <a:avLst/>
          </a:prstGeom>
          <a:solidFill>
            <a:srgbClr val="A7BACB"/>
          </a:solidFill>
          <a:ln/>
        </p:spPr>
      </p:sp>
      <p:sp>
        <p:nvSpPr>
          <p:cNvPr id="7" name="Shape 5"/>
          <p:cNvSpPr/>
          <p:nvPr/>
        </p:nvSpPr>
        <p:spPr>
          <a:xfrm>
            <a:off x="11350447" y="502920"/>
            <a:ext cx="146304" cy="146304"/>
          </a:xfrm>
          <a:prstGeom prst="ellipse">
            <a:avLst/>
          </a:prstGeom>
          <a:solidFill>
            <a:srgbClr val="A7BACB"/>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sp>
      <p:sp>
        <p:nvSpPr>
          <p:cNvPr id="10" name="Text 8"/>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Healthcare: The Affordable Care Act (Obamacare) expanded health insurance to millions of uninsured Americans.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Economic Recovery: The American Recovery and Reinvestment Act helped end the Great Recession, with unemployment falling from 10% to 4.7%.</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Foreign Policy: the Paris Climate Agreement, the Iran nuclear deal, normalized relations with Cuba, and the killing of Osama bin Laden.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Social Progress: marriage equality advancement and the DACA program for young immigrants.</a:t>
            </a:r>
            <a:endParaRPr lang="en-US" sz="1700" dirty="0"/>
          </a:p>
        </p:txBody>
      </p:sp>
      <p:sp>
        <p:nvSpPr>
          <p:cNvPr id="11" name="Shape 9"/>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2" name="Text 10"/>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3" name="Text 11"/>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The Obama administration achieved ___, but faced the setback of ___, because ___.</a:t>
            </a:r>
            <a:endParaRPr lang="en-US" sz="11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199</a:t>
            </a:r>
            <a:endParaRPr lang="en-US" sz="90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Significant Setbacks</a:t>
            </a:r>
            <a:endParaRPr lang="en-US" sz="3000" dirty="0"/>
          </a:p>
        </p:txBody>
      </p:sp>
      <p:sp>
        <p:nvSpPr>
          <p:cNvPr id="5" name="Shape 3"/>
          <p:cNvSpPr/>
          <p:nvPr/>
        </p:nvSpPr>
        <p:spPr>
          <a:xfrm>
            <a:off x="10765231" y="502920"/>
            <a:ext cx="146304" cy="146304"/>
          </a:xfrm>
          <a:prstGeom prst="ellipse">
            <a:avLst/>
          </a:prstGeom>
          <a:solidFill>
            <a:srgbClr val="A7BACB"/>
          </a:solidFill>
          <a:ln/>
        </p:spPr>
      </p:sp>
      <p:sp>
        <p:nvSpPr>
          <p:cNvPr id="6" name="Shape 4"/>
          <p:cNvSpPr/>
          <p:nvPr/>
        </p:nvSpPr>
        <p:spPr>
          <a:xfrm>
            <a:off x="11057839" y="502920"/>
            <a:ext cx="146304" cy="146304"/>
          </a:xfrm>
          <a:prstGeom prst="ellipse">
            <a:avLst/>
          </a:prstGeom>
          <a:solidFill>
            <a:srgbClr val="C62828"/>
          </a:solidFill>
          <a:ln/>
        </p:spPr>
      </p:sp>
      <p:sp>
        <p:nvSpPr>
          <p:cNvPr id="7" name="Shape 5"/>
          <p:cNvSpPr/>
          <p:nvPr/>
        </p:nvSpPr>
        <p:spPr>
          <a:xfrm>
            <a:off x="11350447" y="502920"/>
            <a:ext cx="146304" cy="146304"/>
          </a:xfrm>
          <a:prstGeom prst="ellipse">
            <a:avLst/>
          </a:prstGeom>
          <a:solidFill>
            <a:srgbClr val="A7BACB"/>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sp>
      <p:sp>
        <p:nvSpPr>
          <p:cNvPr id="10" name="Text 8"/>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Legislative battles: Republican opposition limited Obama's agenda after 2010 midterm losses, leading to government shutdowns and debt ceiling crises.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Foreign policy challenges: the Syrian civil war response, ISIS emergence, Russian aggression in Ukraine, and the Benghazi attack created difficult situations without clear solutions.</a:t>
            </a:r>
            <a:endParaRPr lang="en-US" sz="1700" dirty="0"/>
          </a:p>
        </p:txBody>
      </p:sp>
      <p:sp>
        <p:nvSpPr>
          <p:cNvPr id="11" name="Text 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1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200</a:t>
            </a:r>
            <a:endParaRPr lang="en-US" sz="90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Partisan Conflicts</a:t>
            </a:r>
            <a:endParaRPr lang="en-US" sz="3000" dirty="0"/>
          </a:p>
        </p:txBody>
      </p:sp>
      <p:sp>
        <p:nvSpPr>
          <p:cNvPr id="5" name="Shape 3"/>
          <p:cNvSpPr/>
          <p:nvPr/>
        </p:nvSpPr>
        <p:spPr>
          <a:xfrm>
            <a:off x="10765231" y="502920"/>
            <a:ext cx="146304" cy="146304"/>
          </a:xfrm>
          <a:prstGeom prst="ellipse">
            <a:avLst/>
          </a:prstGeom>
          <a:solidFill>
            <a:srgbClr val="A7BACB"/>
          </a:solidFill>
          <a:ln/>
        </p:spPr>
      </p:sp>
      <p:sp>
        <p:nvSpPr>
          <p:cNvPr id="6" name="Shape 4"/>
          <p:cNvSpPr/>
          <p:nvPr/>
        </p:nvSpPr>
        <p:spPr>
          <a:xfrm>
            <a:off x="11057839" y="502920"/>
            <a:ext cx="146304" cy="146304"/>
          </a:xfrm>
          <a:prstGeom prst="ellipse">
            <a:avLst/>
          </a:prstGeom>
          <a:solidFill>
            <a:srgbClr val="A7BACB"/>
          </a:solidFill>
          <a:ln/>
        </p:spPr>
      </p:sp>
      <p:sp>
        <p:nvSpPr>
          <p:cNvPr id="7" name="Shape 5"/>
          <p:cNvSpPr/>
          <p:nvPr/>
        </p:nvSpPr>
        <p:spPr>
          <a:xfrm>
            <a:off x="11350447" y="502920"/>
            <a:ext cx="146304" cy="146304"/>
          </a:xfrm>
          <a:prstGeom prst="ellipse">
            <a:avLst/>
          </a:prstGeom>
          <a:solidFill>
            <a:srgbClr val="C62828"/>
          </a:solidFill>
          <a:ln/>
        </p:spPr>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sp>
      <p:sp>
        <p:nvSpPr>
          <p:cNvPr id="10" name="Text 8"/>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Obama faced unprecedented Republican obstruction, including blocking his Supreme Court nomination of Merrick Garland for nearly a year.</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Racial tensions persisted despite — and sometimes because of — having the first Black president.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His presidency demonstrated both the possibilities and limitations of presidential power in an increasingly polarized political environment.</a:t>
            </a:r>
            <a:endParaRPr lang="en-US" sz="1700" dirty="0"/>
          </a:p>
        </p:txBody>
      </p:sp>
      <p:sp>
        <p:nvSpPr>
          <p:cNvPr id="11" name="Text 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1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201</a:t>
            </a:r>
            <a:endParaRPr lang="en-US" sz="90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US.95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President Barack Obama</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44th President of the United States</a:t>
            </a:r>
            <a:endParaRPr lang="en-US" sz="1100" dirty="0"/>
          </a:p>
        </p:txBody>
      </p:sp>
      <p:sp>
        <p:nvSpPr>
          <p:cNvPr id="9" name="Text 7"/>
          <p:cNvSpPr/>
          <p:nvPr/>
        </p:nvSpPr>
        <p:spPr>
          <a:xfrm>
            <a:off x="694944" y="2606040"/>
            <a:ext cx="1077163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First African American president of the United States (2009)</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Signed the Affordable Care Act (2010) and ordered the operation that killed Osama bin Laden (2011)</a:t>
            </a:r>
            <a:endParaRPr lang="en-US" sz="1300" dirty="0"/>
          </a:p>
        </p:txBody>
      </p:sp>
      <p:sp>
        <p:nvSpPr>
          <p:cNvPr id="10" name="Shape 8"/>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Coalition politics ("hope and change")</a:t>
            </a:r>
            <a:endParaRPr lang="en-US" sz="8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202</a:t>
            </a:r>
            <a:endParaRPr lang="en-US" sz="90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US.95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First Inaugural Address</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Contextualization</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Barack Obama  ·  January 20, 2009</a:t>
            </a:r>
            <a:endParaRPr lang="en-US" sz="1200" dirty="0"/>
          </a:p>
        </p:txBody>
      </p:sp>
      <p:sp>
        <p:nvSpPr>
          <p:cNvPr id="8" name="Shape 6"/>
          <p:cNvSpPr/>
          <p:nvPr/>
        </p:nvSpPr>
        <p:spPr>
          <a:xfrm>
            <a:off x="512064" y="1700784"/>
            <a:ext cx="3273552" cy="2606040"/>
          </a:xfrm>
          <a:prstGeom prst="rect">
            <a:avLst/>
          </a:prstGeom>
          <a:solidFill>
            <a:srgbClr val="FFFFFF"/>
          </a:solidFill>
          <a:ln w="12700">
            <a:solidFill>
              <a:srgbClr val="DAD3C2"/>
            </a:solidFill>
            <a:prstDash val="solid"/>
          </a:ln>
        </p:spPr>
      </p:sp>
      <p:pic>
        <p:nvPicPr>
          <p:cNvPr id="9" name="Image 0" descr="unit10-full/img/barack-obama-inaugural-address-january-2009.jpg">    </p:cNvPr>
          <p:cNvPicPr>
            <a:picLocks noChangeAspect="1"/>
          </p:cNvPicPr>
          <p:nvPr/>
        </p:nvPicPr>
        <p:blipFill>
          <a:blip r:embed="rId1"/>
          <a:stretch>
            <a:fillRect/>
          </a:stretch>
        </p:blipFill>
        <p:spPr>
          <a:xfrm>
            <a:off x="548640" y="1936171"/>
            <a:ext cx="3200400" cy="2135267"/>
          </a:xfrm>
          <a:prstGeom prst="rect">
            <a:avLst/>
          </a:prstGeom>
        </p:spPr>
      </p:pic>
      <p:sp>
        <p:nvSpPr>
          <p:cNvPr id="10" name="Text 7"/>
          <p:cNvSpPr/>
          <p:nvPr/>
        </p:nvSpPr>
        <p:spPr>
          <a:xfrm>
            <a:off x="548640" y="4325112"/>
            <a:ext cx="3200400" cy="658368"/>
          </a:xfrm>
          <a:prstGeom prst="rect">
            <a:avLst/>
          </a:prstGeom>
          <a:noFill/>
          <a:ln/>
        </p:spPr>
        <p:txBody>
          <a:bodyPr wrap="square" rtlCol="0" anchor="t"/>
          <a:lstStyle/>
          <a:p>
            <a:pPr algn="l" indent="0" marL="0">
              <a:lnSpc>
                <a:spcPct val="100000"/>
              </a:lnSpc>
              <a:buNone/>
            </a:pPr>
            <a:pPr algn="l" indent="0" marL="0">
              <a:lnSpc>
                <a:spcPct val="100000"/>
              </a:lnSpc>
              <a:buNone/>
            </a:pPr>
            <a:r>
              <a:rPr lang="en-US" sz="700" i="1" dirty="0">
                <a:solidFill>
                  <a:srgbClr val="5C6470"/>
                </a:solidFill>
                <a:latin typeface="Calibri" pitchFamily="34" charset="0"/>
                <a:ea typeface="Calibri" pitchFamily="34" charset="-122"/>
                <a:cs typeface="Calibri" pitchFamily="34" charset="-120"/>
              </a:rPr>
              <a:t>U.S. Navy (photo 090120-N-0696M-327), January 20, 2009  </a:t>
            </a:r>
            <a:pPr algn="l" indent="0" marL="0">
              <a:lnSpc>
                <a:spcPct val="100000"/>
              </a:lnSpc>
              <a:buNone/>
            </a:pPr>
            <a:r>
              <a:rPr lang="en-US" sz="7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 Department of Defense</a:t>
            </a:r>
            <a:endParaRPr lang="en-US" sz="70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sp>
      <p:sp>
        <p:nvSpPr>
          <p:cNvPr id="12" name="Text 9"/>
          <p:cNvSpPr/>
          <p:nvPr/>
        </p:nvSpPr>
        <p:spPr>
          <a:xfrm>
            <a:off x="768096" y="1865376"/>
            <a:ext cx="2761488" cy="438912"/>
          </a:xfrm>
          <a:prstGeom prst="rect">
            <a:avLst/>
          </a:prstGeom>
          <a:noFill/>
          <a:ln/>
        </p:spPr>
        <p:txBody>
          <a:bodyPr wrap="square" rtlCol="0" anchor="ctr"/>
          <a:lstStyle/>
          <a:p>
            <a:pPr indent="0" marL="0">
              <a:lnSpc>
                <a:spcPct val="95000"/>
              </a:lnSpc>
              <a:buNone/>
            </a:pPr>
            <a:r>
              <a:rPr lang="en-US" sz="950" b="1" spc="150" kern="0" dirty="0">
                <a:solidFill>
                  <a:srgbClr val="1A2332"/>
                </a:solidFill>
                <a:latin typeface="Trebuchet MS" pitchFamily="34" charset="0"/>
                <a:ea typeface="Trebuchet MS" pitchFamily="34" charset="-122"/>
                <a:cs typeface="Trebuchet MS" pitchFamily="34" charset="-120"/>
              </a:rPr>
              <a:t>ZOOM IN  </a:t>
            </a:r>
            <a:pPr indent="0" marL="0">
              <a:lnSpc>
                <a:spcPct val="95000"/>
              </a:lnSpc>
              <a:buNone/>
            </a:pP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sp>
      <p:sp>
        <p:nvSpPr>
          <p:cNvPr id="14" name="Shape 11"/>
          <p:cNvSpPr/>
          <p:nvPr/>
        </p:nvSpPr>
        <p:spPr>
          <a:xfrm>
            <a:off x="3931920" y="1737360"/>
            <a:ext cx="91440" cy="3246120"/>
          </a:xfrm>
          <a:prstGeom prst="rect">
            <a:avLst/>
          </a:prstGeom>
          <a:solidFill>
            <a:srgbClr val="C9A84C"/>
          </a:solidFill>
          <a:ln/>
        </p:spPr>
      </p:sp>
      <p:sp>
        <p:nvSpPr>
          <p:cNvPr id="15" name="Text 12"/>
          <p:cNvSpPr/>
          <p:nvPr/>
        </p:nvSpPr>
        <p:spPr>
          <a:xfrm>
            <a:off x="4160520" y="1920240"/>
            <a:ext cx="3200400" cy="2880360"/>
          </a:xfrm>
          <a:prstGeom prst="rect">
            <a:avLst/>
          </a:prstGeom>
          <a:noFill/>
          <a:ln/>
        </p:spPr>
        <p:txBody>
          <a:bodyPr wrap="square" rtlCol="0" anchor="t"/>
          <a:lstStyle/>
          <a:p>
            <a:pPr indent="0" marL="0">
              <a:lnSpc>
                <a:spcPct val="112000"/>
              </a:lnSpc>
              <a:buNone/>
            </a:pPr>
            <a:r>
              <a:rPr lang="en-US" sz="1250" i="1" dirty="0">
                <a:solidFill>
                  <a:srgbClr val="1F2430"/>
                </a:solidFill>
                <a:latin typeface="Georgia" pitchFamily="34" charset="0"/>
                <a:ea typeface="Georgia" pitchFamily="34" charset="-122"/>
                <a:cs typeface="Georgia" pitchFamily="34" charset="-120"/>
              </a:rPr>
              <a:t>"That we are in the midst of crisis is now well understood. Our nation is at war, against a far-reaching network of violence and hatred. Our economy is badly weakened, a consequence of greed and irresponsibility on the part of some... Today I say to you that the challenges we face are real."</a:t>
            </a:r>
            <a:endParaRPr lang="en-US" sz="1250" dirty="0"/>
          </a:p>
        </p:txBody>
      </p:sp>
      <p:sp>
        <p:nvSpPr>
          <p:cNvPr id="16" name="Shape 13"/>
          <p:cNvSpPr/>
          <p:nvPr/>
        </p:nvSpPr>
        <p:spPr>
          <a:xfrm>
            <a:off x="7589520" y="1737360"/>
            <a:ext cx="4023360" cy="1463040"/>
          </a:xfrm>
          <a:prstGeom prst="roundRect">
            <a:avLst>
              <a:gd name="adj" fmla="val 5000"/>
            </a:avLst>
          </a:prstGeom>
          <a:solidFill>
            <a:srgbClr val="1A2332"/>
          </a:solidFill>
          <a:ln/>
        </p:spPr>
      </p:sp>
      <p:sp>
        <p:nvSpPr>
          <p:cNvPr id="17" name="Text 14"/>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950976"/>
          </a:xfrm>
          <a:prstGeom prst="rect">
            <a:avLst/>
          </a:prstGeom>
          <a:noFill/>
          <a:ln/>
        </p:spPr>
        <p:txBody>
          <a:bodyPr wrap="square" rtlCol="0" anchor="t">
            <a:normAutofit/>
          </a:bodyPr>
          <a:lstStyle/>
          <a:p>
            <a:pPr indent="0" marL="0">
              <a:lnSpc>
                <a:spcPct val="96000"/>
              </a:lnSpc>
              <a:buNone/>
            </a:pPr>
            <a:r>
              <a:rPr lang="en-US" sz="1050" dirty="0">
                <a:solidFill>
                  <a:srgbClr val="FFFFFF"/>
                </a:solidFill>
                <a:latin typeface="Calibri" pitchFamily="34" charset="0"/>
                <a:ea typeface="Calibri" pitchFamily="34" charset="-122"/>
                <a:cs typeface="Calibri" pitchFamily="34" charset="-120"/>
              </a:rPr>
              <a:t>Barack Obama took office in January 2009 as the first African American president, amid the worst economic crisis since the Great Depression and two ongoing wars. His inaugural address candidly named the crises the nation faced.</a:t>
            </a:r>
            <a:endParaRPr lang="en-US" sz="1050" dirty="0"/>
          </a:p>
        </p:txBody>
      </p:sp>
      <p:sp>
        <p:nvSpPr>
          <p:cNvPr id="19" name="Shape 16"/>
          <p:cNvSpPr/>
          <p:nvPr/>
        </p:nvSpPr>
        <p:spPr>
          <a:xfrm>
            <a:off x="7589520" y="3383280"/>
            <a:ext cx="4023360" cy="1600200"/>
          </a:xfrm>
          <a:prstGeom prst="roundRect">
            <a:avLst>
              <a:gd name="adj" fmla="val 4571"/>
            </a:avLst>
          </a:prstGeom>
          <a:solidFill>
            <a:srgbClr val="C9A84C"/>
          </a:solidFill>
          <a:ln/>
        </p:spPr>
      </p:sp>
      <p:sp>
        <p:nvSpPr>
          <p:cNvPr id="20" name="Text 17"/>
          <p:cNvSpPr/>
          <p:nvPr/>
        </p:nvSpPr>
        <p:spPr>
          <a:xfrm>
            <a:off x="7818120" y="350215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3803904"/>
            <a:ext cx="3611880" cy="106984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challenges does Obama acknowledge America faces?</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sp>
      <p:sp>
        <p:nvSpPr>
          <p:cNvPr id="23" name="Shape 20"/>
          <p:cNvSpPr/>
          <p:nvPr/>
        </p:nvSpPr>
        <p:spPr>
          <a:xfrm>
            <a:off x="548640" y="5120640"/>
            <a:ext cx="2423160" cy="841248"/>
          </a:xfrm>
          <a:prstGeom prst="rect">
            <a:avLst/>
          </a:prstGeom>
          <a:solidFill>
            <a:srgbClr val="002858"/>
          </a:solidFill>
          <a:ln/>
        </p:spPr>
      </p:sp>
      <p:sp>
        <p:nvSpPr>
          <p:cNvPr id="24" name="Text 21"/>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President Barack Obama</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January 20, 2009</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860" dirty="0">
                <a:solidFill>
                  <a:srgbClr val="1F2430"/>
                </a:solidFill>
                <a:latin typeface="Calibri" pitchFamily="34" charset="0"/>
                <a:ea typeface="Calibri" pitchFamily="34" charset="-122"/>
                <a:cs typeface="Calibri" pitchFamily="34" charset="-120"/>
              </a:rPr>
              <a:t>Consider that an inaugural address is meant to set the tone and priorities for a new presidency at a moment of national crisis.</a:t>
            </a:r>
            <a:endParaRPr lang="en-US" sz="860" dirty="0"/>
          </a:p>
        </p:txBody>
      </p:sp>
      <p:sp>
        <p:nvSpPr>
          <p:cNvPr id="33" name="Text 30"/>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203</a:t>
            </a:r>
            <a:endParaRPr lang="en-US" sz="90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US.95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3352648" y="1645920"/>
            <a:ext cx="5486400" cy="1874520"/>
          </a:xfrm>
          <a:prstGeom prst="rect">
            <a:avLst/>
          </a:prstGeom>
          <a:solidFill>
            <a:srgbClr val="FFFFFF"/>
          </a:solidFill>
          <a:ln w="12700">
            <a:solidFill>
              <a:srgbClr val="DAD3C2"/>
            </a:solidFill>
            <a:prstDash val="solid"/>
          </a:ln>
        </p:spPr>
      </p:sp>
      <p:sp>
        <p:nvSpPr>
          <p:cNvPr id="6" name="Shape 4"/>
          <p:cNvSpPr/>
          <p:nvPr/>
        </p:nvSpPr>
        <p:spPr>
          <a:xfrm>
            <a:off x="3352648" y="1645920"/>
            <a:ext cx="5486400" cy="676656"/>
          </a:xfrm>
          <a:prstGeom prst="rect">
            <a:avLst/>
          </a:prstGeom>
          <a:solidFill>
            <a:srgbClr val="1A2332"/>
          </a:solidFill>
          <a:ln/>
        </p:spPr>
      </p:sp>
      <p:sp>
        <p:nvSpPr>
          <p:cNvPr id="7" name="Text 5"/>
          <p:cNvSpPr/>
          <p:nvPr/>
        </p:nvSpPr>
        <p:spPr>
          <a:xfrm>
            <a:off x="3489808"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Affordable Care Act (Obamacare)</a:t>
            </a:r>
            <a:endParaRPr lang="en-US" sz="1350" dirty="0"/>
          </a:p>
        </p:txBody>
      </p:sp>
      <p:sp>
        <p:nvSpPr>
          <p:cNvPr id="8" name="Text 6"/>
          <p:cNvSpPr/>
          <p:nvPr/>
        </p:nvSpPr>
        <p:spPr>
          <a:xfrm>
            <a:off x="6507328"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de Cuidado de Salud Asequible (Obamacare)</a:t>
            </a:r>
            <a:endParaRPr lang="en-US" sz="1000" dirty="0"/>
          </a:p>
        </p:txBody>
      </p:sp>
      <p:sp>
        <p:nvSpPr>
          <p:cNvPr id="9" name="Shape 7"/>
          <p:cNvSpPr/>
          <p:nvPr/>
        </p:nvSpPr>
        <p:spPr>
          <a:xfrm>
            <a:off x="3471520" y="2395728"/>
            <a:ext cx="457200" cy="457200"/>
          </a:xfrm>
          <a:prstGeom prst="roundRect">
            <a:avLst>
              <a:gd name="adj" fmla="val 16000"/>
            </a:avLst>
          </a:prstGeom>
          <a:solidFill>
            <a:srgbClr val="F3EAD0"/>
          </a:solidFill>
          <a:ln w="12700">
            <a:solidFill>
              <a:srgbClr val="C9A84C"/>
            </a:solidFill>
            <a:prstDash val="solid"/>
          </a:ln>
        </p:spPr>
      </p:sp>
      <p:sp>
        <p:nvSpPr>
          <p:cNvPr id="10" name="Text 8"/>
          <p:cNvSpPr/>
          <p:nvPr/>
        </p:nvSpPr>
        <p:spPr>
          <a:xfrm>
            <a:off x="3380080"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AC</a:t>
            </a:r>
            <a:endParaRPr lang="en-US" sz="1300" dirty="0"/>
          </a:p>
        </p:txBody>
      </p:sp>
      <p:sp>
        <p:nvSpPr>
          <p:cNvPr id="11" name="Text 9"/>
          <p:cNvSpPr/>
          <p:nvPr/>
        </p:nvSpPr>
        <p:spPr>
          <a:xfrm>
            <a:off x="4029304" y="2395728"/>
            <a:ext cx="4681728" cy="1033272"/>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President Obama's 2010 healthcare reform expanding insurance coverage to millions through insurance exchanges, Medicaid expansion, and prohibiting denial for pre-existing conditions.</a:t>
            </a:r>
            <a:endParaRPr lang="en-US" sz="1100" dirty="0"/>
          </a:p>
        </p:txBody>
      </p:sp>
      <p:sp>
        <p:nvSpPr>
          <p:cNvPr id="12" name="Text 10"/>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204</a:t>
            </a:r>
            <a:endParaRPr lang="en-US" sz="90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US.95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Balance achievements against setbacks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Obama passed the ACA but faced heavy opposition. How do I describe both his achievements and setbacks?</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He expanded healthcare and led an economic recovery, but faced gridlock and foreign-policy challenges.</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To balance a record, I list achievements and setbacks side by side and judge each on its lasting impact, rather than deciding he only succeeded or only failed.</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name one Obama achievement and one setback, and explain why both belong in a fair description of his presidency.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205</a:t>
            </a:r>
            <a:endParaRPr lang="en-US" sz="90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US.95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400" b="1" dirty="0">
                <a:solidFill>
                  <a:srgbClr val="1A2332"/>
                </a:solidFill>
                <a:latin typeface="Georgia" pitchFamily="34" charset="0"/>
                <a:ea typeface="Georgia" pitchFamily="34" charset="-122"/>
                <a:cs typeface="Georgia" pitchFamily="34" charset="-120"/>
              </a:rPr>
              <a:t>The Obama Years — Achievements &amp; Setbacks Chart</a:t>
            </a:r>
            <a:endParaRPr lang="en-US" sz="2400" dirty="0"/>
          </a:p>
        </p:txBody>
      </p:sp>
      <p:sp>
        <p:nvSpPr>
          <p:cNvPr id="5" name="Shape 3"/>
          <p:cNvSpPr/>
          <p:nvPr/>
        </p:nvSpPr>
        <p:spPr>
          <a:xfrm>
            <a:off x="548640" y="1591056"/>
            <a:ext cx="694944" cy="365760"/>
          </a:xfrm>
          <a:prstGeom prst="roundRect">
            <a:avLst>
              <a:gd name="adj" fmla="val 20000"/>
            </a:avLst>
          </a:prstGeom>
          <a:solidFill>
            <a:srgbClr val="1A2332"/>
          </a:solidFill>
          <a:ln/>
        </p:spPr>
      </p:sp>
      <p:sp>
        <p:nvSpPr>
          <p:cNvPr id="6" name="Text 4"/>
          <p:cNvSpPr/>
          <p:nvPr/>
        </p:nvSpPr>
        <p:spPr>
          <a:xfrm>
            <a:off x="548640" y="1591056"/>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591056"/>
            <a:ext cx="779069" cy="365760"/>
          </a:xfrm>
          <a:prstGeom prst="roundRect">
            <a:avLst>
              <a:gd name="adj" fmla="val 20000"/>
            </a:avLst>
          </a:prstGeom>
          <a:solidFill>
            <a:srgbClr val="1A2332"/>
          </a:solidFill>
          <a:ln/>
        </p:spPr>
      </p:sp>
      <p:sp>
        <p:nvSpPr>
          <p:cNvPr id="8" name="Text 6"/>
          <p:cNvSpPr/>
          <p:nvPr/>
        </p:nvSpPr>
        <p:spPr>
          <a:xfrm>
            <a:off x="1408176"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Obama's inaugural address excerpt, complete the Cause &amp; Effect organizer for the Obama presidency. In CAUSES, list the challenges he inherited (the 2008 Great Recession, wars abroad, a divided health-care system). In EFFECTS, trace the responses — the economic stimulus and auto rescue, the Affordable Care Act, the killing of Osama bin Laden, and being the first African American president — along with the setbacks of political gridlock and a slow recovery. Finish with a claim about Obama's most significant achievement.</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Cause &amp; Effect organizer (3+ causes, 3+ effects, labeled achievement or setback) plus a one-sentence claim on Obama's most lasting legacy.</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Organizer with a word bank (Great Recession, stimulus, Affordable Care Act, bin Laden, first Black president) to sort into achievements vs. setbacks. Honors: Evaluate whether Obama should be judged more by his response to the Great Recession or by the Affordable Care Act. Argue with evidence.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printables/unit-10/unit-10-cause-effect.html</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206</a:t>
            </a:r>
            <a:endParaRPr lang="en-US" sz="90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US.95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How does Obama describe the significance of the Affordable Care Act?</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As a minor adjustment to existing healthcare laws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As a temporary measure until a better solution was found</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As a compromise that satisfied no one</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As a historic achievement ensuring basic health security for all Americans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207</a:t>
            </a:r>
            <a:endParaRPr lang="en-US" sz="90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US.95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How does Obama describe the significance of the Affordable Care Act?</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As a minor adjustment to existing healthcare laws</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As a temporary measure until a better solution was found</a:t>
            </a:r>
            <a:endParaRPr lang="en-US" sz="1300" dirty="0"/>
          </a:p>
        </p:txBody>
      </p:sp>
      <p:sp>
        <p:nvSpPr>
          <p:cNvPr id="17" name="Shape 15"/>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As a compromise that satisfied no one</a:t>
            </a:r>
            <a:endParaRPr lang="en-US" sz="1300" dirty="0"/>
          </a:p>
        </p:txBody>
      </p:sp>
      <p:sp>
        <p:nvSpPr>
          <p:cNvPr id="21" name="Shape 19"/>
          <p:cNvSpPr/>
          <p:nvPr/>
        </p:nvSpPr>
        <p:spPr>
          <a:xfrm>
            <a:off x="548640" y="4626864"/>
            <a:ext cx="11064240" cy="566928"/>
          </a:xfrm>
          <a:prstGeom prst="roundRect">
            <a:avLst>
              <a:gd name="adj" fmla="val 9677"/>
            </a:avLst>
          </a:prstGeom>
          <a:solidFill>
            <a:srgbClr val="C9A84C"/>
          </a:solidFill>
          <a:ln w="12700">
            <a:solidFill>
              <a:srgbClr val="F9A825"/>
            </a:solidFill>
            <a:prstDash val="solid"/>
          </a:ln>
        </p:spPr>
      </p:sp>
      <p:sp>
        <p:nvSpPr>
          <p:cNvPr id="22" name="Shape 20"/>
          <p:cNvSpPr/>
          <p:nvPr/>
        </p:nvSpPr>
        <p:spPr>
          <a:xfrm>
            <a:off x="713232" y="4736592"/>
            <a:ext cx="347472" cy="347472"/>
          </a:xfrm>
          <a:prstGeom prst="ellipse">
            <a:avLst/>
          </a:prstGeom>
          <a:solidFill>
            <a:srgbClr val="1A2332"/>
          </a:solidFill>
          <a:ln/>
        </p:spPr>
      </p:sp>
      <p:sp>
        <p:nvSpPr>
          <p:cNvPr id="23" name="Text 21"/>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D</a:t>
            </a:r>
            <a:endParaRPr lang="en-US" sz="1300" dirty="0"/>
          </a:p>
        </p:txBody>
      </p:sp>
      <p:sp>
        <p:nvSpPr>
          <p:cNvPr id="24" name="Text 22"/>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As a historic achievement ensuring basic health security for all Americans</a:t>
            </a:r>
            <a:endParaRPr lang="en-US" sz="1300" dirty="0"/>
          </a:p>
        </p:txBody>
      </p:sp>
      <p:sp>
        <p:nvSpPr>
          <p:cNvPr id="25" name="Text 23"/>
          <p:cNvSpPr/>
          <p:nvPr/>
        </p:nvSpPr>
        <p:spPr>
          <a:xfrm>
            <a:off x="11018520" y="4626864"/>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D.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Obama describes it as coming "after almost a century of trying" and establishing "the core principle that everybody should have some basic security when it comes to their health care."</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208</a:t>
            </a:r>
            <a:endParaRPr lang="en-US" sz="90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US.95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Major Achievements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Significant Setbacks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Partisan Conflicts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150" i="1" dirty="0">
                <a:solidFill>
                  <a:srgbClr val="1F2430"/>
                </a:solidFill>
                <a:latin typeface="Calibri" pitchFamily="34" charset="0"/>
                <a:ea typeface="Calibri" pitchFamily="34" charset="-122"/>
                <a:cs typeface="Calibri" pitchFamily="34" charset="-120"/>
              </a:rPr>
              <a:t>Evaluate whether Obama should be judged more by his response to the Great Recession or by the Affordable Care Act. Argue with evidence.</a:t>
            </a:r>
            <a:endParaRPr lang="en-US" sz="11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3</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Describe two achievements and one setback of the Obama administration. Why is his presidency historically significant?</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209</a:t>
            </a:r>
            <a:endParaRPr lang="en-US" sz="90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Shape 1"/>
          <p:cNvSpPr/>
          <p:nvPr/>
        </p:nvSpPr>
        <p:spPr>
          <a:xfrm>
            <a:off x="0" y="6711696"/>
            <a:ext cx="12191695" cy="146304"/>
          </a:xfrm>
          <a:prstGeom prst="rect">
            <a:avLst/>
          </a:prstGeom>
          <a:solidFill>
            <a:srgbClr val="C62828"/>
          </a:solidFill>
          <a:ln/>
        </p:spPr>
        <p:txBody>
          <a:bodyPr/>
          <a:p/>
        </p:txBody>
      </p:sp>
      <p:sp>
        <p:nvSpPr>
          <p:cNvPr id="4" name="Text 2"/>
          <p:cNvSpPr/>
          <p:nvPr/>
        </p:nvSpPr>
        <p:spPr>
          <a:xfrm>
            <a:off x="822960" y="1463040"/>
            <a:ext cx="10515600" cy="91440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Unit 10 Complete</a:t>
            </a:r>
            <a:endParaRPr lang="en-US" sz="4800" dirty="0"/>
          </a:p>
        </p:txBody>
      </p:sp>
      <p:sp>
        <p:nvSpPr>
          <p:cNvPr id="5" name="Text 3"/>
          <p:cNvSpPr/>
          <p:nvPr/>
        </p:nvSpPr>
        <p:spPr>
          <a:xfrm>
            <a:off x="822960" y="2560320"/>
            <a:ext cx="10515600" cy="1005840"/>
          </a:xfrm>
          <a:prstGeom prst="rect">
            <a:avLst/>
          </a:prstGeom>
          <a:noFill/>
          <a:ln/>
        </p:spPr>
        <p:txBody>
          <a:bodyPr wrap="square" rtlCol="0" anchor="ctr"/>
          <a:lstStyle/>
          <a:p>
            <a:pPr indent="0" marL="0">
              <a:lnSpc>
                <a:spcPct val="110000"/>
              </a:lnSpc>
              <a:buNone/>
            </a:pPr>
            <a:r>
              <a:rPr lang="en-US" sz="2100" i="1" dirty="0">
                <a:solidFill>
                  <a:srgbClr val="F9A825"/>
                </a:solidFill>
                <a:latin typeface="Georgia" pitchFamily="34" charset="0"/>
                <a:ea typeface="Georgia" pitchFamily="34" charset="-122"/>
                <a:cs typeface="Georgia" pitchFamily="34" charset="-120"/>
              </a:rPr>
              <a:t>The Modern Era (1964–2016) · from the Great Society and 1960s activism, through Watergate and the end of the Cold War, to 9/11, the digital revolution, and the Obama years.</a:t>
            </a:r>
            <a:endParaRPr lang="en-US" sz="2100" dirty="0"/>
          </a:p>
        </p:txBody>
      </p:sp>
      <p:sp>
        <p:nvSpPr>
          <p:cNvPr id="6" name="Text 4"/>
          <p:cNvSpPr/>
          <p:nvPr/>
        </p:nvSpPr>
        <p:spPr>
          <a:xfrm>
            <a:off x="822960" y="3566160"/>
            <a:ext cx="10515600" cy="1097280"/>
          </a:xfrm>
          <a:prstGeom prst="rect">
            <a:avLst/>
          </a:prstGeom>
          <a:noFill/>
          <a:ln/>
        </p:spPr>
        <p:txBody>
          <a:bodyPr wrap="square" rtlCol="0" anchor="t"/>
          <a:lstStyle/>
          <a:p>
            <a:pPr indent="0" marL="0">
              <a:lnSpc>
                <a:spcPct val="115000"/>
              </a:lnSpc>
              <a:buNone/>
            </a:pPr>
            <a:r>
              <a:rPr lang="en-US" sz="1600" b="1" dirty="0">
                <a:solidFill>
                  <a:srgbClr val="FFFFFF"/>
                </a:solidFill>
                <a:latin typeface="Calibri" pitchFamily="34" charset="0"/>
                <a:ea typeface="Calibri" pitchFamily="34" charset="-122"/>
                <a:cs typeface="Calibri" pitchFamily="34" charset="-120"/>
              </a:rPr>
              <a:t>Revisit your unit hook: </a:t>
            </a:r>
            <a:pPr indent="0" marL="0">
              <a:lnSpc>
                <a:spcPct val="115000"/>
              </a:lnSpc>
              <a:buNone/>
            </a:pPr>
            <a:r>
              <a:rPr lang="en-US" sz="1600" dirty="0">
                <a:solidFill>
                  <a:srgbClr val="C7D4E0"/>
                </a:solidFill>
                <a:latin typeface="Calibri" pitchFamily="34" charset="0"/>
                <a:ea typeface="Calibri" pitchFamily="34" charset="-122"/>
                <a:cs typeface="Calibri" pitchFamily="34" charset="-120"/>
              </a:rPr>
              <a:t>How did the United States move from the confidence of the Great Society in 1964 to the challenges and transformations of the twenty-first century? You can now answer with evidence — from Medicare and the War on Poverty, through Vietnam-era protest and Watergate, Reagan and the fall of the Berlin Wall, 9/11 and the digital revolution, to the election of the first African American president.</a:t>
            </a:r>
            <a:endParaRPr lang="en-US" sz="1600" dirty="0"/>
          </a:p>
        </p:txBody>
      </p:sp>
      <p:sp>
        <p:nvSpPr>
          <p:cNvPr id="7" name="Text 5"/>
          <p:cNvSpPr/>
          <p:nvPr/>
        </p:nvSpPr>
        <p:spPr>
          <a:xfrm>
            <a:off x="822960" y="4937760"/>
            <a:ext cx="10515600" cy="457200"/>
          </a:xfrm>
          <a:prstGeom prst="rect">
            <a:avLst/>
          </a:prstGeom>
          <a:noFill/>
          <a:ln/>
        </p:spPr>
        <p:txBody>
          <a:bodyPr wrap="square" rtlCol="0" anchor="ctr"/>
          <a:lstStyle/>
          <a:p>
            <a:pPr indent="0" marL="0">
              <a:buNone/>
            </a:pPr>
            <a:r>
              <a:rPr lang="en-US" sz="1400" b="1" spc="100" kern="0" dirty="0">
                <a:solidFill>
                  <a:srgbClr val="F9A825"/>
                </a:solidFill>
                <a:latin typeface="Trebuchet MS" pitchFamily="34" charset="0"/>
                <a:ea typeface="Trebuchet MS" pitchFamily="34" charset="-122"/>
                <a:cs typeface="Trebuchet MS" pitchFamily="34" charset="-120"/>
              </a:rPr>
              <a:t>U.S. History Hack · The complete TCAP EOC course, Units 1–10</a:t>
            </a:r>
            <a:endParaRPr lang="en-US" sz="1400" dirty="0"/>
          </a:p>
        </p:txBody>
      </p:sp>
      <p:sp>
        <p:nvSpPr>
          <p:cNvPr id="8" name="Text 6"/>
          <p:cNvSpPr/>
          <p:nvPr/>
        </p:nvSpPr>
        <p:spPr>
          <a:xfrm>
            <a:off x="822960" y="5943600"/>
            <a:ext cx="10607040" cy="457200"/>
          </a:xfrm>
          <a:prstGeom prst="rect">
            <a:avLst/>
          </a:prstGeom>
          <a:noFill/>
          <a:ln/>
        </p:spPr>
        <p:txBody>
          <a:bodyPr wrap="square" rtlCol="0" anchor="ctr"/>
          <a:lstStyle/>
          <a:p>
            <a:pPr indent="0" marL="0">
              <a:buNone/>
            </a:pPr>
            <a:r>
              <a:rPr lang="en-US" sz="1000" dirty="0">
                <a:solidFill>
                  <a:srgbClr val="5C6470"/>
                </a:solidFill>
                <a:latin typeface="Calibri" pitchFamily="34" charset="0"/>
                <a:ea typeface="Calibri" pitchFamily="34" charset="-122"/>
                <a:cs typeface="Calibri" pitchFamily="34" charset="-120"/>
              </a:rPr>
              <a:t>U.S. History Hack  ·  TroopToTeacher Technologies LLC  ·  All primary sources verified against National Archives, Library of Congress, and U.S. Senate records. All images public domain.</a:t>
            </a:r>
            <a:endParaRPr lang="en-US" sz="1000" dirty="0"/>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US.83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Great Society</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grayt soh-SY-eh-tee</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Gran Sociedad</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GS</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President Lyndon B. Johnson's 1960s domestic program to end poverty and racial injustice and expand education, health care, and civil rights.</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War on Poverty</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wor on POV-er-tee</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Guerra contra la Pobreza</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WO</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LBJ's set of Great Society programs — including Head Start and Job Corps — created in 1964 to reduce poverty in the United States.</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Medicare and Medicaid</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MED-ih-kair and MED-ih-kaid</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Medicare y Medicaid</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MA</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Federal health-insurance programs created in 1965: Medicare for Americans 65 and older, Medicaid for low-income families.</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Head Start</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hed START</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Head Start (Programa Preescolar)</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HS</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1965 Great Society program providing early childhood education, health, and nutrition services to low-income children.</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Urban Renewal</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UR-bin ree-NOO-ul</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Renovación Urbana</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UR</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Federal programs that cleared and rebuilt city neighborhoods; often displaced poor and minority residents despite new housing and highways.</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Voting Rights Act of 1965</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VOH-ting ryts akt</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de Derecho al Voto de 1965</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VR</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Great Society law that banned literacy tests and other barriers used to deny African Americans the right to vote.</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a:t>
            </a:r>
            <a:endParaRPr lang="en-US" sz="900" dirty="0"/>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US.84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Counterculture</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KOWN-ter-kul-cher</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Contracultura</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CO</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1960s youth movement that rejected mainstream values, embracing new music, dress, and views on peace, freedom, and social change.</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Generation Gap</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jen-er-AY-shun gap</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Brecha Generacional</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GG</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sharp differences in values, politics, and culture between 1960s youth and their parents' generation.</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Hippie Movement</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HIP-ee MOOV-ment</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Movimiento Hippie</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HM</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counterculture group of the 1960s that promoted peace, love, communal living, and opposition to the Vietnam War.</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Woodstock</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WOOD-stok</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Woodstock</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WO</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1969 music festival in New York that drew 400,000 people and became a symbol of the counterculture and antiwar spirit.</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Antiwar Movement</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AN-tee-wor MOOV-ment</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Movimiento contra la Guerra</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AM</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Widespread 1960s-70s protests, especially on college campuses, against U.S. involvement in the Vietnam War.</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New Left</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noo LEFT</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Nueva Izquierda</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NL</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1960s political movement of young activists who pushed for civil rights, free speech, and an end to the Vietnam War.</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US.85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Silent Majority</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SY-lent muh-JOR-ih-tee</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Mayoría Silenciosa</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SM</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President Nixon's term for the many Americans who quietly supported his policies but did not join loud public protests.</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Détente</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day-TAHNT</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Distensión</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DT</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Nixon's policy of easing Cold War tensions with the Soviet Union and China through diplomacy and treaties.</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Nixon Visits China</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NIK-sun VIZ-its CHY-nuh</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Visita de Nixon a China</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NV</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Nixon's historic 1972 trip that reopened U.S. relations with Communist China after more than 20 years of hostility.</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SALT I</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salt WUN</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SALT I (Tratado de Armas)</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SI</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1972 Strategic Arms Limitation Talks treaty that limited U.S. and Soviet nuclear missiles, a key result of détente.</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Revenue Sharing</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REV-en-yoo SHAIR-ing</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Distribución de Ingresos Federales</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RS</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Nixon program returning federal tax money to state and local governments to spend on their own priorities.</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Environmental Protection Agency (EPA)</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en-vy-run-MEN-tul pro-TEK-shun</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Agencia de Protección Ambiental</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EP</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federal agency created under Nixon in 1970 to write and enforce laws protecting air, water, and land.</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US.86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Watergate Scandal</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WAW-ter-gayt SKAN-dul</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Escándalo de Watergate</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WS</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political scandal beginning with a 1972 break-in at Democratic headquarters that exposed abuses of power and forced Nixon to resign in 1974.</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United States v. Nixon</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yoo-NY-ted stayts VER-sus NIK-sun</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Estados Unidos vs. Nixon</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US</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1974 Supreme Court ruling that the president is not above the law and must release the Watergate tapes.</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Executive Privilege</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eg-ZEK-yoo-tiv PRIV-ul-ij</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Privilegio Ejecutivo</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EP</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president's claimed right to keep some communications secret — rejected by the Court in the Watergate tapes case.</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Ford's Pardon of Nixon</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fordz PAR-dun</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Indulto de Ford a Nixon</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FS</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President Gerald Ford's 1974 decision to pardon Nixon for any crimes, a choice that deepened public distrust of government.</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Impeachment</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im-PEECH-ment</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Juicio Político</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IM</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constitutional process for charging a president with serious wrongdoing; Nixon resigned before the House could impeach him.</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Investigative Journalism</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in-VES-tih-gay-tiv JUR-nul-izm</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Periodismo de Investigación</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IJ</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In-depth reporting — like the Washington Post's Watergate coverage — that uncovers hidden wrongdoing by those in power.</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a:t>
            </a:r>
            <a:endParaRPr lang="en-US" sz="900" dirty="0"/>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US.87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Environmentalism</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en-vy-run-MEN-tul-izm</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Ambientalismo</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EN</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movement that grew in the 1960s-70s to protect nature and public health from pollution and industrial harm.</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Environmental Protection Agency (EPA)</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en-vy-run-MEN-tul pro-TEK-shun</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Agencia de Protección Ambiental</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EP</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federal agency created in 1970 to set and enforce standards for clean air, water, and land.</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Earth Day</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URTH day</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Día de la Tierra</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ED</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First held April 22, 1970, a nationwide event that raised public awareness and support for protecting the environment.</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Love Canal</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luv kuh-NAL</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Love Canal</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LC</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New York neighborhood built on buried toxic waste; its 1978 health crisis spurred federal cleanup laws like Superfund.</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Three Mile Island</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three myl EYE-lund</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Three Mile Island</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TM</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1979 partial nuclear meltdown in Pennsylvania that heightened fears about nuclear power safety.</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Clean Air Act</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kleen AIR akt</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de Aire Limpio</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CA</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landmark law (expanded 1970) authorizing the federal government to limit air pollution from industry and vehicles.</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US.88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Stagflation</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stag-FLAY-shun</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Estanflación</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ST</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unusual 1970s economy combining high inflation, high unemployment, and slow growth at the same time.</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Energy Crisis</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EN-er-jee KRY-sis</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Crisis Energética</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EC</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1970s fuel shortages and soaring gas prices, worsened by an OPEC oil embargo, that strained the U.S. economy.</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Camp David Accords</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kamp DAY-vid uh-KORDZ</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Acuerdos de Camp David</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CD</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1978 peace agreement between Egypt and Israel brokered by President Carter, a major diplomatic success.</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Panama Canal Treaty</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PAN-uh-mah kuh-NAL</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Tratado del Canal de Panamá</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PC</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Carter-era treaties (1977) agreeing to hand control of the Panama Canal over to Panama by the year 2000.</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Iran Hostage Crisis</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ih-RAN HOS-tij KRY-sis</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Crisis de los Rehenes en Irán</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IH</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1979-81 seizure of 52 Americans at the U.S. embassy in Iran for 444 days, which damaged Carter's presidency.</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Human Rights Diplomacy</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HYOO-mun ryts dih-PLOH-muh-see</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Diplomacia de Derechos Humanos</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HR</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Carter's foreign policy of pressuring other nations to respect their citizens' basic rights.</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US.89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Reaganomics</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ray-gun-OM-iks</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Reaganomía</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RE</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President Reagan's economic plan of tax cuts, reduced regulation, and lower domestic spending to spur growth (supply-side economics).</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Supply-Side Economics</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suh-PLY syd ee-kuh-NOM-iks</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Economía de la Oferta</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SS</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theory behind Reaganomics that cutting taxes on businesses and the wealthy encourages investment and benefits the whole economy.</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Strategic Defense Initiative</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struh-TEE-jik dee-FENS</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Iniciativa de Defensa Estratégica</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SD</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Reagan's proposed 1983 space-based missile-defense system, nicknamed 'Star Wars,' to intercept Soviet nuclear attacks.</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Iran-Contra Affair</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ih-RAN KON-truh uh-FAIR</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Caso Irán-Contra</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IC</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1980s scandal in which officials secretly sold arms to Iran and used the money to fund rebels in Nicaragua.</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War on Drugs</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wor on DRUGZ</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Guerra contra las Drogas</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WO</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Expanded 1980s federal efforts to stop drug use and trafficking through tougher laws and enforcement.</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AIDS Epidemic</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aydz ep-ih-DEM-ik</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Epidemia del SIDA</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AE</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public-health crisis of the 1980s from a deadly new disease; the government's slow response drew wide criticism.</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US.90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Persian Gulf War</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PER-zhun gulf WOR</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Guerra del Golfo Pérsico</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PG</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1991 U.S.-led coalition war that drove Iraqi forces out of Kuwait after Iraq's 1990 invasion.</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Operation Desert Storm</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op-er-AY-shun DEZ-ert storm</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Operación Tormenta del Desierto</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OD</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1991 military campaign that quickly liberated Kuwait from Iraqi occupation.</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Fall of the Berlin Wall</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fawl of ber-LIN WAWL</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Caída del Muro de Berlín</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FO</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1989 opening of the wall dividing East and West Berlin, a symbol of the Cold War's end.</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Collapse of the Soviet Union</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kuh-LAPS of SOH-vee-et</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Colapso de la Unión Soviética</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CO</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1991 breakup of the USSR into independent nations, ending the Cold War.</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Panama Invasion</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PAN-uh-mah in-VAY-zhun</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Invasión de Panamá</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PI</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1989 U.S. military action that removed Panamanian dictator Manuel Noriega from power.</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Americans with Disabilities Act</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uh-MER-ih-kunz with dis-uh-BIL-ih-teez</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de Estadounidenses con Discapacidades</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AW</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1990 law signed by President Bush banning discrimination against people with disabilities.</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a:t>
            </a:r>
            <a:endParaRPr lang="en-US" sz="900" dirty="0"/>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US.91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NAFTA</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NAF-tuh</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TLCAN</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NA</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1994 North American Free Trade Agreement removing most trade barriers among the U.S., Canada, and Mexico.</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Welfare-to-Work Reform</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WEL-fair to wurk ree-FORM</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Reforma de Asistencia Social</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WT</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1996 Clinton-era law that limited welfare benefits and required recipients to find work.</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Balanced Budget</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BAL-unst BUJ-it</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Presupuesto Equilibrado</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BB</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federal budget in which spending does not exceed revenue; achieved in the late 1990s under Clinton.</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Clinton Impeachment</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KLIN-tun im-PEECH-ment</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Juicio Político a Clinton</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CI</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1998 House impeachment of President Clinton for perjury and obstruction; the Senate acquitted him in 1999.</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Contract with America</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KON-trakt with uh-MER-ih-kuh</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Contrato con América</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CW</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1994 Republican campaign plan led by Newt Gingrich promising smaller government and balanced budgets.</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Dot-com Boom</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dot-KOM boom</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Auge de las Puntocom</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DC</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late-1990s surge in internet-based businesses and stock values, which later crashed in 2000-01.</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a:t>
            </a:r>
            <a:endParaRPr lang="en-US" sz="900" dirty="0"/>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US.92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September 11, 2001 Attacks</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sep-TEM-ber ee-LEV-en uh-TAKS</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Ataques del 11 de Septiembre</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SA</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Coordinated al-Qaeda terrorist attacks that destroyed the World Trade Center and struck the Pentagon, killing nearly 3,000 people.</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War on Terror</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wor on TER-er</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Guerra contra el Terrorismo</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WO</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U.S. global campaign after 9/11 to defeat terrorist groups and the nations that harbored them.</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USA PATRIOT Act</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yoo-es-AY PAY-tree-ut akt</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Patriota</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UP</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2001 law expanding government surveillance powers to prevent terrorism, criticized by some as a threat to civil liberties.</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Department of Homeland Security</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dee-PART-ment of HOHM-land</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Departamento de Seguridad Nacional</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DO</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federal department created in 2002 to coordinate protection of the U.S. against terrorism and disasters.</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War in Afghanistan</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wor in af-GAN-ih-stan</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Guerra en Afganistán</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WI</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U.S. war begun in 2001 to remove the Taliban and destroy al-Qaeda bases after the 9/11 attacks.</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Iraq War</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ih-RAK wor</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Guerra de Irak</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IW</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2003 U.S.-led invasion that toppled Saddam Hussein, launched on claims of weapons of mass destruction.</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a:t>
            </a:r>
            <a:endParaRPr lang="en-US" sz="900" dirty="0"/>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US.93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Sandra Day O'Connor</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SAN-druh day oh-KON-er</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Sandra Day O'Connor</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SD</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first woman to serve on the U.S. Supreme Court, appointed in 1981.</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Colin Powell</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KOH-lin POW-ul</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Colin Powell</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CP</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first African American U.S. Secretary of State (2001) and Chairman of the Joint Chiefs of Staff.</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Condoleezza Rice</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kon-duh-LEE-zuh RYS</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Condoleezza Rice</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CR</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first African American woman U.S. Secretary of State (2005), a key foreign-policy leader.</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Hillary Clinton</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HIL-uh-ree KLIN-tun</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Hillary Clinton</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HC</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U.S. Senator, Secretary of State, and the first woman to win a major party's presidential nomination (2016).</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Nancy Pelosi</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NAN-see puh-LOH-see</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Nancy Pelosi</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NP</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first woman elected Speaker of the U.S. House of Representatives (2007).</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Glass Ceiling</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glas SEE-ling</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Techo de Cristal</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GC</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invisible barrier that has kept women and minorities from reaching the highest positions in business and government.</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a:t>
            </a:r>
            <a:endParaRPr lang="en-US" sz="900" dirty="0"/>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US.94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Internet Revolution</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IN-ter-net rev-uh-LOO-shun</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Revolución de Internet</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IR</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rapid late-20th-century spread of the internet, transforming how people communicate, work, and access information.</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World Wide Web</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wurld wyd WEB</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Red Informática Mundial</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WW</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system of linked web pages, opened to the public in the 1990s, that made the internet easy to use.</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Personal Computer</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PER-sun-ul kum-PYOO-ter</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Computadora Personal</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PC</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affordable home computer that became common in the 1980s-90s, changing work, school, and daily life.</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Social Media</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SOH-shul MEE-dee-uh</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Redes Sociales</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SM</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Online platforms of the 2000s that let people share content and connect instantly around the world.</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Smartphone</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SMART-fohn</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Teléfono Inteligente</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SM</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mobile phone with internet and computer features, widespread after 2007, that put communication in every pocket.</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Digital Divide</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DIJ-ih-tul dih-VYD</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Brecha Digital</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DD</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gap between those who have reliable access to computers and the internet and those who do not.</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a:t>
            </a:r>
            <a:endParaRPr lang="en-US" sz="900" dirty="0"/>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US.95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Affordable Care Act</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uh-FOR-duh-bul KAIR akt</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de Cuidado de Salud Asequible</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AC</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President Obama's 2010 health-care law ('Obamacare') expanding insurance coverage to millions of Americans.</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Great Recession</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grayt ree-SESH-un</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Gran Recesión</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GR</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severe 2007-09 economic downturn — the worst since the Great Depression — marked by a housing and banking crisis.</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American Recovery and Reinvestment Act</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uh-MER-ih-kun ree-KUV-er-ee</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de Recuperación y Reinversión</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AR</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2009 stimulus law that used federal spending and tax cuts to fight the Great Recession.</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First African American President</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furst AF-rih-kun uh-MER-ih-kun</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Primer Presidente Afroamericano</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FA</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Barack Obama, elected in 2008, whose presidency was a historic milestone in U.S. history.</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Death of Osama bin Laden</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deth of oh-SAH-muh bin LAH-den</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Muerte de Osama bin Laden</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DO</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2011 U.S. special-forces raid that killed the al-Qaeda leader behind the 9/11 attacks.</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Partisan Gridlock</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PAR-tih-zun GRID-lok</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Estancamiento Partidista</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PG</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Sharp division between Democrats and Republicans that blocked lawmaking during much of Obama's presidency.</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210</Slides>
  <Notes>210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210</vt:i4>
      </vt:variant>
    </vt:vector>
  </HeadingPairs>
  <TitlesOfParts>
    <vt:vector size="2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vector>
  </TitlesOfParts>
  <Company>U.S. History Hack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Unit 10 — The Modern Era (US.83–US.95)</dc:subject>
  <dc:creator>TroopToTeacher Technologies LLC</dc:creator>
  <cp:lastModifiedBy>TroopToTeacher Technologies LLC</cp:lastModifiedBy>
  <cp:revision>1</cp:revision>
  <dcterms:created xsi:type="dcterms:W3CDTF">2026-07-02T20:51:40Z</dcterms:created>
  <dcterms:modified xsi:type="dcterms:W3CDTF">2026-07-02T20:51:40Z</dcterms:modified>
</cp:coreProperties>
</file>
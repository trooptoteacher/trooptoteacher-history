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485" r:id="rId235"/>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486" r:id="rId236"/>
    <p:sldId id="500" r:id="rId250"/>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487" r:id="rId237"/>
    <p:sldId id="501" r:id="rId251"/>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488" r:id="rId238"/>
    <p:sldId id="502" r:id="rId252"/>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489" r:id="rId239"/>
    <p:sldId id="503" r:id="rId253"/>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490" r:id="rId240"/>
    <p:sldId id="504" r:id="rId254"/>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491" r:id="rId241"/>
    <p:sldId id="505" r:id="rId255"/>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492" r:id="rId242"/>
    <p:sldId id="506" r:id="rId256"/>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493" r:id="rId243"/>
    <p:sldId id="507" r:id="rId25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94" r:id="rId244"/>
    <p:sldId id="508" r:id="rId258"/>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95" r:id="rId245"/>
    <p:sldId id="509" r:id="rId25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96" r:id="rId246"/>
    <p:sldId id="510" r:id="rId260"/>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97" r:id="rId247"/>
    <p:sldId id="511" r:id="rId26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98" r:id="rId248"/>
    <p:sldId id="512" r:id="rId262"/>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99" r:id="rId249"/>
    <p:sldId id="513" r:id="rId26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4" roundtripDataSignature="AMtx7mjCkuMYoolTtrdhSEdimTdHhFiV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1.xml"/><Relationship Id="rId77" Type="http://schemas.openxmlformats.org/officeDocument/2006/relationships/slide" Target="slides/slide82.xml"/><Relationship Id="rId78" Type="http://schemas.openxmlformats.org/officeDocument/2006/relationships/slide" Target="slides/slide83.xml"/><Relationship Id="rId79" Type="http://schemas.openxmlformats.org/officeDocument/2006/relationships/slide" Target="slides/slide84.xml"/><Relationship Id="rId80" Type="http://schemas.openxmlformats.org/officeDocument/2006/relationships/slide" Target="slides/slide85.xml"/><Relationship Id="rId81" Type="http://schemas.openxmlformats.org/officeDocument/2006/relationships/slide" Target="slides/slide86.xml"/><Relationship Id="rId82" Type="http://schemas.openxmlformats.org/officeDocument/2006/relationships/slide" Target="slides/slide87.xml"/><Relationship Id="rId83" Type="http://schemas.openxmlformats.org/officeDocument/2006/relationships/slide" Target="slides/slide88.xml"/><Relationship Id="rId84" Type="http://schemas.openxmlformats.org/officeDocument/2006/relationships/slide" Target="slides/slide89.xml"/><Relationship Id="rId85" Type="http://schemas.openxmlformats.org/officeDocument/2006/relationships/slide" Target="slides/slide90.xml"/><Relationship Id="rId86" Type="http://schemas.openxmlformats.org/officeDocument/2006/relationships/slide" Target="slides/slide91.xml"/><Relationship Id="rId87" Type="http://schemas.openxmlformats.org/officeDocument/2006/relationships/slide" Target="slides/slide92.xml"/><Relationship Id="rId88" Type="http://schemas.openxmlformats.org/officeDocument/2006/relationships/slide" Target="slides/slide93.xml"/><Relationship Id="rId89" Type="http://schemas.openxmlformats.org/officeDocument/2006/relationships/slide" Target="slides/slide96.xml"/><Relationship Id="rId90" Type="http://schemas.openxmlformats.org/officeDocument/2006/relationships/slide" Target="slides/slide97.xml"/><Relationship Id="rId91" Type="http://schemas.openxmlformats.org/officeDocument/2006/relationships/slide" Target="slides/slide98.xml"/><Relationship Id="rId92" Type="http://schemas.openxmlformats.org/officeDocument/2006/relationships/slide" Target="slides/slide99.xml"/><Relationship Id="rId93" Type="http://schemas.openxmlformats.org/officeDocument/2006/relationships/slide" Target="slides/slide100.xml"/><Relationship Id="rId94" Type="http://schemas.openxmlformats.org/officeDocument/2006/relationships/slide" Target="slides/slide101.xml"/><Relationship Id="rId95" Type="http://schemas.openxmlformats.org/officeDocument/2006/relationships/slide" Target="slides/slide102.xml"/><Relationship Id="rId96" Type="http://schemas.openxmlformats.org/officeDocument/2006/relationships/slide" Target="slides/slide103.xml"/><Relationship Id="rId97" Type="http://schemas.openxmlformats.org/officeDocument/2006/relationships/slide" Target="slides/slide104.xml"/><Relationship Id="rId98" Type="http://schemas.openxmlformats.org/officeDocument/2006/relationships/slide" Target="slides/slide105.xml"/><Relationship Id="rId99" Type="http://schemas.openxmlformats.org/officeDocument/2006/relationships/slide" Target="slides/slide106.xml"/><Relationship Id="rId100" Type="http://schemas.openxmlformats.org/officeDocument/2006/relationships/slide" Target="slides/slide107.xml"/><Relationship Id="rId101" Type="http://schemas.openxmlformats.org/officeDocument/2006/relationships/slide" Target="slides/slide108.xml"/><Relationship Id="rId102" Type="http://schemas.openxmlformats.org/officeDocument/2006/relationships/slide" Target="slides/slide109.xml"/><Relationship Id="rId103" Type="http://schemas.openxmlformats.org/officeDocument/2006/relationships/slide" Target="slides/slide110.xml"/><Relationship Id="rId104" Type="http://schemas.openxmlformats.org/officeDocument/2006/relationships/slide" Target="slides/slide111.xml"/><Relationship Id="rId105" Type="http://schemas.openxmlformats.org/officeDocument/2006/relationships/slide" Target="slides/slide114.xml"/><Relationship Id="rId106" Type="http://schemas.openxmlformats.org/officeDocument/2006/relationships/slide" Target="slides/slide115.xml"/><Relationship Id="rId107" Type="http://schemas.openxmlformats.org/officeDocument/2006/relationships/slide" Target="slides/slide116.xml"/><Relationship Id="rId108" Type="http://schemas.openxmlformats.org/officeDocument/2006/relationships/slide" Target="slides/slide117.xml"/><Relationship Id="rId109" Type="http://schemas.openxmlformats.org/officeDocument/2006/relationships/slide" Target="slides/slide118.xml"/><Relationship Id="rId110" Type="http://schemas.openxmlformats.org/officeDocument/2006/relationships/slide" Target="slides/slide119.xml"/><Relationship Id="rId111" Type="http://schemas.openxmlformats.org/officeDocument/2006/relationships/slide" Target="slides/slide120.xml"/><Relationship Id="rId112" Type="http://schemas.openxmlformats.org/officeDocument/2006/relationships/slide" Target="slides/slide121.xml"/><Relationship Id="rId113" Type="http://schemas.openxmlformats.org/officeDocument/2006/relationships/slide" Target="slides/slide122.xml"/><Relationship Id="rId114" Type="http://schemas.openxmlformats.org/officeDocument/2006/relationships/slide" Target="slides/slide123.xml"/><Relationship Id="rId115" Type="http://schemas.openxmlformats.org/officeDocument/2006/relationships/slide" Target="slides/slide124.xml"/><Relationship Id="rId116" Type="http://schemas.openxmlformats.org/officeDocument/2006/relationships/slide" Target="slides/slide125.xml"/><Relationship Id="rId117" Type="http://schemas.openxmlformats.org/officeDocument/2006/relationships/slide" Target="slides/slide126.xml"/><Relationship Id="rId118" Type="http://schemas.openxmlformats.org/officeDocument/2006/relationships/slide" Target="slides/slide127.xml"/><Relationship Id="rId119" Type="http://schemas.openxmlformats.org/officeDocument/2006/relationships/slide" Target="slides/slide128.xml"/><Relationship Id="rId120" Type="http://schemas.openxmlformats.org/officeDocument/2006/relationships/slide" Target="slides/slide129.xml"/><Relationship Id="rId121" Type="http://schemas.openxmlformats.org/officeDocument/2006/relationships/slide" Target="slides/slide130.xml"/><Relationship Id="rId122" Type="http://schemas.openxmlformats.org/officeDocument/2006/relationships/slide" Target="slides/slide133.xml"/><Relationship Id="rId123" Type="http://schemas.openxmlformats.org/officeDocument/2006/relationships/slide" Target="slides/slide134.xml"/><Relationship Id="rId124" Type="http://schemas.openxmlformats.org/officeDocument/2006/relationships/slide" Target="slides/slide135.xml"/><Relationship Id="rId125" Type="http://schemas.openxmlformats.org/officeDocument/2006/relationships/slide" Target="slides/slide136.xml"/><Relationship Id="rId126" Type="http://schemas.openxmlformats.org/officeDocument/2006/relationships/slide" Target="slides/slide137.xml"/><Relationship Id="rId127" Type="http://schemas.openxmlformats.org/officeDocument/2006/relationships/slide" Target="slides/slide138.xml"/><Relationship Id="rId128" Type="http://schemas.openxmlformats.org/officeDocument/2006/relationships/slide" Target="slides/slide139.xml"/><Relationship Id="rId129" Type="http://schemas.openxmlformats.org/officeDocument/2006/relationships/slide" Target="slides/slide140.xml"/><Relationship Id="rId130" Type="http://schemas.openxmlformats.org/officeDocument/2006/relationships/slide" Target="slides/slide141.xml"/><Relationship Id="rId131" Type="http://schemas.openxmlformats.org/officeDocument/2006/relationships/slide" Target="slides/slide142.xml"/><Relationship Id="rId132" Type="http://schemas.openxmlformats.org/officeDocument/2006/relationships/slide" Target="slides/slide143.xml"/><Relationship Id="rId133" Type="http://schemas.openxmlformats.org/officeDocument/2006/relationships/slide" Target="slides/slide144.xml"/><Relationship Id="rId134" Type="http://schemas.openxmlformats.org/officeDocument/2006/relationships/slide" Target="slides/slide145.xml"/><Relationship Id="rId135" Type="http://schemas.openxmlformats.org/officeDocument/2006/relationships/slide" Target="slides/slide146.xml"/><Relationship Id="rId136" Type="http://schemas.openxmlformats.org/officeDocument/2006/relationships/slide" Target="slides/slide147.xml"/><Relationship Id="rId137" Type="http://schemas.openxmlformats.org/officeDocument/2006/relationships/slide" Target="slides/slide148.xml"/><Relationship Id="rId138" Type="http://schemas.openxmlformats.org/officeDocument/2006/relationships/slide" Target="slides/slide151.xml"/><Relationship Id="rId139" Type="http://schemas.openxmlformats.org/officeDocument/2006/relationships/slide" Target="slides/slide152.xml"/><Relationship Id="rId140" Type="http://schemas.openxmlformats.org/officeDocument/2006/relationships/slide" Target="slides/slide153.xml"/><Relationship Id="rId141" Type="http://schemas.openxmlformats.org/officeDocument/2006/relationships/slide" Target="slides/slide154.xml"/><Relationship Id="rId142" Type="http://schemas.openxmlformats.org/officeDocument/2006/relationships/slide" Target="slides/slide155.xml"/><Relationship Id="rId143" Type="http://schemas.openxmlformats.org/officeDocument/2006/relationships/slide" Target="slides/slide156.xml"/><Relationship Id="rId144" Type="http://schemas.openxmlformats.org/officeDocument/2006/relationships/slide" Target="slides/slide157.xml"/><Relationship Id="rId145" Type="http://schemas.openxmlformats.org/officeDocument/2006/relationships/slide" Target="slides/slide158.xml"/><Relationship Id="rId146" Type="http://schemas.openxmlformats.org/officeDocument/2006/relationships/slide" Target="slides/slide159.xml"/><Relationship Id="rId147" Type="http://schemas.openxmlformats.org/officeDocument/2006/relationships/slide" Target="slides/slide160.xml"/><Relationship Id="rId148" Type="http://schemas.openxmlformats.org/officeDocument/2006/relationships/slide" Target="slides/slide161.xml"/><Relationship Id="rId149" Type="http://schemas.openxmlformats.org/officeDocument/2006/relationships/slide" Target="slides/slide162.xml"/><Relationship Id="rId150" Type="http://schemas.openxmlformats.org/officeDocument/2006/relationships/slide" Target="slides/slide163.xml"/><Relationship Id="rId151" Type="http://schemas.openxmlformats.org/officeDocument/2006/relationships/slide" Target="slides/slide164.xml"/><Relationship Id="rId152" Type="http://schemas.openxmlformats.org/officeDocument/2006/relationships/slide" Target="slides/slide165.xml"/><Relationship Id="rId153" Type="http://schemas.openxmlformats.org/officeDocument/2006/relationships/slide" Target="slides/slide166.xml"/><Relationship Id="rId154" Type="http://schemas.openxmlformats.org/officeDocument/2006/relationships/slide" Target="slides/slide169.xml"/><Relationship Id="rId155" Type="http://schemas.openxmlformats.org/officeDocument/2006/relationships/slide" Target="slides/slide170.xml"/><Relationship Id="rId156" Type="http://schemas.openxmlformats.org/officeDocument/2006/relationships/slide" Target="slides/slide171.xml"/><Relationship Id="rId157" Type="http://schemas.openxmlformats.org/officeDocument/2006/relationships/slide" Target="slides/slide172.xml"/><Relationship Id="rId158" Type="http://schemas.openxmlformats.org/officeDocument/2006/relationships/slide" Target="slides/slide173.xml"/><Relationship Id="rId159" Type="http://schemas.openxmlformats.org/officeDocument/2006/relationships/slide" Target="slides/slide174.xml"/><Relationship Id="rId160" Type="http://schemas.openxmlformats.org/officeDocument/2006/relationships/slide" Target="slides/slide175.xml"/><Relationship Id="rId161" Type="http://schemas.openxmlformats.org/officeDocument/2006/relationships/slide" Target="slides/slide176.xml"/><Relationship Id="rId162" Type="http://schemas.openxmlformats.org/officeDocument/2006/relationships/slide" Target="slides/slide177.xml"/><Relationship Id="rId163" Type="http://schemas.openxmlformats.org/officeDocument/2006/relationships/slide" Target="slides/slide178.xml"/><Relationship Id="rId164" Type="http://schemas.openxmlformats.org/officeDocument/2006/relationships/slide" Target="slides/slide179.xml"/><Relationship Id="rId165" Type="http://schemas.openxmlformats.org/officeDocument/2006/relationships/slide" Target="slides/slide180.xml"/><Relationship Id="rId166" Type="http://schemas.openxmlformats.org/officeDocument/2006/relationships/slide" Target="slides/slide181.xml"/><Relationship Id="rId167" Type="http://schemas.openxmlformats.org/officeDocument/2006/relationships/slide" Target="slides/slide182.xml"/><Relationship Id="rId168" Type="http://schemas.openxmlformats.org/officeDocument/2006/relationships/slide" Target="slides/slide183.xml"/><Relationship Id="rId169" Type="http://schemas.openxmlformats.org/officeDocument/2006/relationships/slide" Target="slides/slide184.xml"/><Relationship Id="rId170" Type="http://schemas.openxmlformats.org/officeDocument/2006/relationships/slide" Target="slides/slide187.xml"/><Relationship Id="rId171" Type="http://schemas.openxmlformats.org/officeDocument/2006/relationships/slide" Target="slides/slide188.xml"/><Relationship Id="rId172" Type="http://schemas.openxmlformats.org/officeDocument/2006/relationships/slide" Target="slides/slide189.xml"/><Relationship Id="rId173" Type="http://schemas.openxmlformats.org/officeDocument/2006/relationships/slide" Target="slides/slide190.xml"/><Relationship Id="rId174" Type="http://schemas.openxmlformats.org/officeDocument/2006/relationships/slide" Target="slides/slide191.xml"/><Relationship Id="rId175" Type="http://schemas.openxmlformats.org/officeDocument/2006/relationships/slide" Target="slides/slide192.xml"/><Relationship Id="rId176" Type="http://schemas.openxmlformats.org/officeDocument/2006/relationships/slide" Target="slides/slide193.xml"/><Relationship Id="rId177" Type="http://schemas.openxmlformats.org/officeDocument/2006/relationships/slide" Target="slides/slide194.xml"/><Relationship Id="rId178" Type="http://schemas.openxmlformats.org/officeDocument/2006/relationships/slide" Target="slides/slide195.xml"/><Relationship Id="rId179" Type="http://schemas.openxmlformats.org/officeDocument/2006/relationships/slide" Target="slides/slide196.xml"/><Relationship Id="rId180" Type="http://schemas.openxmlformats.org/officeDocument/2006/relationships/slide" Target="slides/slide197.xml"/><Relationship Id="rId181" Type="http://schemas.openxmlformats.org/officeDocument/2006/relationships/slide" Target="slides/slide198.xml"/><Relationship Id="rId182" Type="http://schemas.openxmlformats.org/officeDocument/2006/relationships/slide" Target="slides/slide199.xml"/><Relationship Id="rId183" Type="http://schemas.openxmlformats.org/officeDocument/2006/relationships/slide" Target="slides/slide200.xml"/><Relationship Id="rId184" Type="http://schemas.openxmlformats.org/officeDocument/2006/relationships/slide" Target="slides/slide201.xml"/><Relationship Id="rId185" Type="http://schemas.openxmlformats.org/officeDocument/2006/relationships/slide" Target="slides/slide202.xml"/><Relationship Id="rId186" Type="http://schemas.openxmlformats.org/officeDocument/2006/relationships/slide" Target="slides/slide205.xml"/><Relationship Id="rId187" Type="http://schemas.openxmlformats.org/officeDocument/2006/relationships/slide" Target="slides/slide206.xml"/><Relationship Id="rId188" Type="http://schemas.openxmlformats.org/officeDocument/2006/relationships/slide" Target="slides/slide207.xml"/><Relationship Id="rId189" Type="http://schemas.openxmlformats.org/officeDocument/2006/relationships/slide" Target="slides/slide208.xml"/><Relationship Id="rId190" Type="http://schemas.openxmlformats.org/officeDocument/2006/relationships/slide" Target="slides/slide209.xml"/><Relationship Id="rId191" Type="http://schemas.openxmlformats.org/officeDocument/2006/relationships/slide" Target="slides/slide210.xml"/><Relationship Id="rId192" Type="http://schemas.openxmlformats.org/officeDocument/2006/relationships/slide" Target="slides/slide211.xml"/><Relationship Id="rId193" Type="http://schemas.openxmlformats.org/officeDocument/2006/relationships/slide" Target="slides/slide212.xml"/><Relationship Id="rId194" Type="http://schemas.openxmlformats.org/officeDocument/2006/relationships/slide" Target="slides/slide213.xml"/><Relationship Id="rId195" Type="http://schemas.openxmlformats.org/officeDocument/2006/relationships/slide" Target="slides/slide214.xml"/><Relationship Id="rId196" Type="http://schemas.openxmlformats.org/officeDocument/2006/relationships/slide" Target="slides/slide215.xml"/><Relationship Id="rId197" Type="http://schemas.openxmlformats.org/officeDocument/2006/relationships/slide" Target="slides/slide216.xml"/><Relationship Id="rId198" Type="http://schemas.openxmlformats.org/officeDocument/2006/relationships/slide" Target="slides/slide217.xml"/><Relationship Id="rId199" Type="http://schemas.openxmlformats.org/officeDocument/2006/relationships/slide" Target="slides/slide218.xml"/><Relationship Id="rId200" Type="http://schemas.openxmlformats.org/officeDocument/2006/relationships/slide" Target="slides/slide219.xml"/><Relationship Id="rId201" Type="http://schemas.openxmlformats.org/officeDocument/2006/relationships/slide" Target="slides/slide220.xml"/><Relationship Id="rId202" Type="http://schemas.openxmlformats.org/officeDocument/2006/relationships/slide" Target="slides/slide223.xml"/><Relationship Id="rId203" Type="http://schemas.openxmlformats.org/officeDocument/2006/relationships/slide" Target="slides/slide224.xml"/><Relationship Id="rId204" Type="http://schemas.openxmlformats.org/officeDocument/2006/relationships/slide" Target="slides/slide225.xml"/><Relationship Id="rId205" Type="http://schemas.openxmlformats.org/officeDocument/2006/relationships/slide" Target="slides/slide226.xml"/><Relationship Id="rId206" Type="http://schemas.openxmlformats.org/officeDocument/2006/relationships/slide" Target="slides/slide227.xml"/><Relationship Id="rId207" Type="http://schemas.openxmlformats.org/officeDocument/2006/relationships/slide" Target="slides/slide228.xml"/><Relationship Id="rId208" Type="http://schemas.openxmlformats.org/officeDocument/2006/relationships/slide" Target="slides/slide229.xml"/><Relationship Id="rId209" Type="http://schemas.openxmlformats.org/officeDocument/2006/relationships/slide" Target="slides/slide230.xml"/><Relationship Id="rId210" Type="http://schemas.openxmlformats.org/officeDocument/2006/relationships/slide" Target="slides/slide231.xml"/><Relationship Id="rId211" Type="http://schemas.openxmlformats.org/officeDocument/2006/relationships/slide" Target="slides/slide232.xml"/><Relationship Id="rId212" Type="http://schemas.openxmlformats.org/officeDocument/2006/relationships/slide" Target="slides/slide233.xml"/><Relationship Id="rId213" Type="http://schemas.openxmlformats.org/officeDocument/2006/relationships/slide" Target="slides/slide234.xml"/><Relationship Id="rId214" Type="http://schemas.openxmlformats.org/officeDocument/2006/relationships/slide" Target="slides/slide235.xml"/><Relationship Id="rId215" Type="http://schemas.openxmlformats.org/officeDocument/2006/relationships/slide" Target="slides/slide236.xml"/><Relationship Id="rId216" Type="http://schemas.openxmlformats.org/officeDocument/2006/relationships/slide" Target="slides/slide237.xml"/><Relationship Id="rId217" Type="http://schemas.openxmlformats.org/officeDocument/2006/relationships/slide" Target="slides/slide238.xml"/><Relationship Id="rId218" Type="http://schemas.openxmlformats.org/officeDocument/2006/relationships/slide" Target="slides/slide241.xml"/><Relationship Id="rId219" Type="http://schemas.openxmlformats.org/officeDocument/2006/relationships/slide" Target="slides/slide242.xml"/><Relationship Id="rId220" Type="http://schemas.openxmlformats.org/officeDocument/2006/relationships/slide" Target="slides/slide243.xml"/><Relationship Id="rId221" Type="http://schemas.openxmlformats.org/officeDocument/2006/relationships/slide" Target="slides/slide244.xml"/><Relationship Id="rId222" Type="http://schemas.openxmlformats.org/officeDocument/2006/relationships/slide" Target="slides/slide245.xml"/><Relationship Id="rId223" Type="http://schemas.openxmlformats.org/officeDocument/2006/relationships/slide" Target="slides/slide246.xml"/><Relationship Id="rId224" Type="http://schemas.openxmlformats.org/officeDocument/2006/relationships/slide" Target="slides/slide247.xml"/><Relationship Id="rId225" Type="http://schemas.openxmlformats.org/officeDocument/2006/relationships/slide" Target="slides/slide248.xml"/><Relationship Id="rId226" Type="http://schemas.openxmlformats.org/officeDocument/2006/relationships/slide" Target="slides/slide249.xml"/><Relationship Id="rId227" Type="http://schemas.openxmlformats.org/officeDocument/2006/relationships/slide" Target="slides/slide250.xml"/><Relationship Id="rId228" Type="http://schemas.openxmlformats.org/officeDocument/2006/relationships/slide" Target="slides/slide251.xml"/><Relationship Id="rId229" Type="http://schemas.openxmlformats.org/officeDocument/2006/relationships/slide" Target="slides/slide252.xml"/><Relationship Id="rId230" Type="http://schemas.openxmlformats.org/officeDocument/2006/relationships/slide" Target="slides/slide253.xml"/><Relationship Id="rId231" Type="http://schemas.openxmlformats.org/officeDocument/2006/relationships/slide" Target="slides/slide254.xml"/><Relationship Id="rId232" Type="http://schemas.openxmlformats.org/officeDocument/2006/relationships/slide" Target="slides/slide255.xml"/><Relationship Id="rId233" Type="http://schemas.openxmlformats.org/officeDocument/2006/relationships/slide" Target="slides/slide256.xml"/><Relationship Id="rId234" Type="http://customschemas.google.com/relationships/presentationmetadata" Target="metadata"/><Relationship Id="rId235" Type="http://schemas.openxmlformats.org/officeDocument/2006/relationships/slide" Target="slides/slide5.xml"/><Relationship Id="rId236" Type="http://schemas.openxmlformats.org/officeDocument/2006/relationships/slide" Target="slides/slide22.xml"/><Relationship Id="rId237" Type="http://schemas.openxmlformats.org/officeDocument/2006/relationships/slide" Target="slides/slide40.xml"/><Relationship Id="rId238" Type="http://schemas.openxmlformats.org/officeDocument/2006/relationships/slide" Target="slides/slide58.xml"/><Relationship Id="rId239" Type="http://schemas.openxmlformats.org/officeDocument/2006/relationships/slide" Target="slides/slide76.xml"/><Relationship Id="rId240" Type="http://schemas.openxmlformats.org/officeDocument/2006/relationships/slide" Target="slides/slide94.xml"/><Relationship Id="rId241" Type="http://schemas.openxmlformats.org/officeDocument/2006/relationships/slide" Target="slides/slide112.xml"/><Relationship Id="rId242" Type="http://schemas.openxmlformats.org/officeDocument/2006/relationships/slide" Target="slides/slide131.xml"/><Relationship Id="rId243" Type="http://schemas.openxmlformats.org/officeDocument/2006/relationships/slide" Target="slides/slide149.xml"/><Relationship Id="rId244" Type="http://schemas.openxmlformats.org/officeDocument/2006/relationships/slide" Target="slides/slide167.xml"/><Relationship Id="rId245" Type="http://schemas.openxmlformats.org/officeDocument/2006/relationships/slide" Target="slides/slide185.xml"/><Relationship Id="rId246" Type="http://schemas.openxmlformats.org/officeDocument/2006/relationships/slide" Target="slides/slide203.xml"/><Relationship Id="rId247" Type="http://schemas.openxmlformats.org/officeDocument/2006/relationships/slide" Target="slides/slide221.xml"/><Relationship Id="rId248" Type="http://schemas.openxmlformats.org/officeDocument/2006/relationships/slide" Target="slides/slide239.xml"/><Relationship Id="rId249" Type="http://schemas.openxmlformats.org/officeDocument/2006/relationships/slide" Target="slides/slide257.xml"/><Relationship Id="rId250" Type="http://schemas.openxmlformats.org/officeDocument/2006/relationships/slide" Target="slides/slide23.xml"/><Relationship Id="rId251" Type="http://schemas.openxmlformats.org/officeDocument/2006/relationships/slide" Target="slides/slide41.xml"/><Relationship Id="rId252" Type="http://schemas.openxmlformats.org/officeDocument/2006/relationships/slide" Target="slides/slide59.xml"/><Relationship Id="rId253" Type="http://schemas.openxmlformats.org/officeDocument/2006/relationships/slide" Target="slides/slide77.xml"/><Relationship Id="rId254" Type="http://schemas.openxmlformats.org/officeDocument/2006/relationships/slide" Target="slides/slide95.xml"/><Relationship Id="rId255" Type="http://schemas.openxmlformats.org/officeDocument/2006/relationships/slide" Target="slides/slide113.xml"/><Relationship Id="rId256" Type="http://schemas.openxmlformats.org/officeDocument/2006/relationships/slide" Target="slides/slide132.xml"/><Relationship Id="rId257" Type="http://schemas.openxmlformats.org/officeDocument/2006/relationships/slide" Target="slides/slide150.xml"/><Relationship Id="rId258" Type="http://schemas.openxmlformats.org/officeDocument/2006/relationships/slide" Target="slides/slide168.xml"/><Relationship Id="rId259" Type="http://schemas.openxmlformats.org/officeDocument/2006/relationships/slide" Target="slides/slide186.xml"/><Relationship Id="rId260" Type="http://schemas.openxmlformats.org/officeDocument/2006/relationships/slide" Target="slides/slide204.xml"/><Relationship Id="rId261" Type="http://schemas.openxmlformats.org/officeDocument/2006/relationships/slide" Target="slides/slide222.xml"/><Relationship Id="rId262" Type="http://schemas.openxmlformats.org/officeDocument/2006/relationships/slide" Target="slides/slide240.xml"/><Relationship Id="rId263" Type="http://schemas.openxmlformats.org/officeDocument/2006/relationships/slide" Target="slides/slide2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Unit 6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Bell ringer (5 min). Reasons to stay neutral students may name: distance/oceans, memory of WWI losses, the Great Depression at home, isolationism, the Neutrality Acts. Forcing events: Pearl Harbor, attacks on U.S. shipping, alliances/treaty obligations, threats to democracy. Lives changed at home: women entering war work (Rosie the Riveter), African Americans (Double V, Second Great Migration), Japanese Americans (internment under EO 9066), families rationing and buying war bonds, Tennessee\x27s Oak Ridge and Camp Forrest. Collect lists; revisit on the closing slide after students can answer with evidence — from totalitarianism and Pearl Harbor to D-Day, the home front, the atomic bomb, and the United Nations.</a:t>
            </a:r>
            <a:endParaRPr/>
          </a:p>
        </p:txBody>
      </p:sp>
      <p:sp>
        <p:nvSpPr>
          <p:cNvPr id="138" name="Google Shape;1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(US.45). Cold-call or whiteboards, 3-4 min, low stakes. Answers — 1) The Great Depression and the New Deal, a worldwide economic collapse that left millions desperate and made extreme dictators look appealing in struggling nations.  2) How did fascism and totalitarianism rise, how and why did the U.S. enter World War II, how was the war fought and won, and how did it reshape America and the world?</a:t>
            </a:r>
            <a:endParaRPr/>
          </a:p>
        </p:txBody>
      </p:sp>
      <p:sp>
        <p:nvSpPr>
          <p:cNvPr id="180" name="Google Shape;18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(US.45, DOK 1). 60-90 seconds. Have EVERY student commit (thumbs / whiteboard / choral) before revealing — this secures an early win and surfaces who is shaky before new content. Answer: Adolf Hitler (Germany), Benito Mussolini (Italy), or Joseph Stalin (Soviet Union). Key term to listen for: Totalitarianism. This is the low-floor entry; the graded Check for Understanding later in the standard rises to DOK 2–3.</a:t>
            </a:r>
            <a:endParaRPr/>
          </a:p>
        </p:txBody>
      </p:sp>
      <p:sp>
        <p:nvSpPr>
          <p:cNvPr id="199" name="Google Shape;1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(US.45). Put the words FASCISM and COMMUNISM on the board and ask what a government looks like when one person controls everything - before defining either. Teach in small steps; pause and check for understanding before the next chunk (aim 80%+ before moving on).</a:t>
            </a:r>
          </a:p>
          <a:p>
            <a:r>
              <a:t>✍ Students: Cornell Notes &amp; Close Read (Act 3–4) in the workbook.</a:t>
            </a:r>
          </a:p>
        </p:txBody>
      </p:sp>
      <p:sp>
        <p:nvSpPr>
          <p:cNvPr id="238" name="Google Shape;2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58" name="Google Shape;2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 name="Google Shape;2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95" name="Google Shape;29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(Benito Mussolini) WHEN? (1932)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(US.45). Skill modeled: Compare authoritarian systems. Model the worked example aloud using the THINK ALOUD as your script, then release students to the activity ("With a partner, name the single feature that makes a government 'totalitarian,' citing a line."). This is the I Do → We Do → You Do bridge — do not skip it; aim for 80%+ success before independent work.</a:t>
            </a:r>
            <a:endParaRPr/>
          </a:p>
        </p:txBody>
      </p:sp>
      <p:sp>
        <p:nvSpPr>
          <p:cNvPr id="431" name="Google Shape;43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US.45. Pair with the printable: cornell-notes/unit-6/us45-fascism-communism-totalitarianism.pdf. Timing: 15. Deliverable: Completed three-column comparison chart (belief, leader, method of control, plus one spread factor) AND a one-sentence evidence-based claim about their shared features.</a:t>
            </a:r>
          </a:p>
          <a:p>
            <a:r>
              <a:t>✍ Students: Constructed Response (Act 7) in the workbook.</a:t>
            </a:r>
          </a:p>
        </p:txBody>
      </p:sp>
      <p:sp>
        <p:nvSpPr>
          <p:cNvPr id="452" name="Google Shape;4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(US.45, DOK 2). Have students commit to an answer (whiteboards, hand signal, or turn-and-talk) BEFORE advancing. Correct answer: A. The next slide reveals it. Why: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p>
          <a:p>
            <a:r>
              <a:t>✍ Students: Practice Quiz (Act 6) in the workbook.</a:t>
            </a:r>
          </a:p>
        </p:txBody>
      </p:sp>
      <p:sp>
        <p:nvSpPr>
          <p:cNvPr id="476" name="Google Shape;47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(US.45). Correct: A.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510" name="Google Shape;5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2" name="Google Shape;54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(US.45, DOK 2). Prompt: Explain how fascism, communism, and totalitarianism are alike and different, and name one factor that helped them spread after World War I.  Model answer: All three were forms of dictatorship that crushed opposition and demanded total loyalty to the state. Fascism (Mussolini, Hitler) glorified the nation and race and kept private property under state control; communism (Stalin) claimed to represent workers and abolished private ownership. Totalitarianism describes the total government control common to all of them. They spread because economic depression, resentment over World War I, fear, and weak democracies made desperate people willing to trade freedom for order and strong leadership.  RETEACH TRIGGER — if a student misses this exit ticket: (1) &lt;50% of class miss → spiral it into the next standard’s Quick Review opener (see the US.45 review prompts). (2) Individual/small group → reteach with the "Key Characteristics of Fascism" direct-instruction slide + re-run the SOURCE IT FIRST routine on the US.45 primary source, then assign the paired printable: cornell-notes/unit-6/us45-fascism-communism-totalitarianism.pdf. (3) Re-assess with the US.45 check-for-understanding reveal slide as a do-now the next day. Reteach anchors (this standard’s sections): Key Characteristics of Fascism; Fundamental Tenets of Communism; Totalitarianism in Italy, Germany, and Soviet Union; Factors Facilitating International Spread. I Can objective: I can explain the rise and spread of fascism, communism, and totalitarianism internationally, including the key characteristics and leaders of each system.  HONORS / EXTENSION (DOK 3, for early finishers or advanced learners): Evaluate: Were fascism and communism true opposites or mirror images of each other? Argue your position with at least two pieces of evidence. (SSP.04) — look for a clear claim plus two specific pieces of evidence.</a:t>
            </a:r>
            <a:endParaRPr/>
          </a:p>
        </p:txBody>
      </p:sp>
      <p:sp>
        <p:nvSpPr>
          <p:cNvPr id="543" name="Google Shape;54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(US.46). Cold-call or whiteboards, 3-4 min, low stakes. Answers — 1) Fascism (Mussolini in Italy, Hitler in Germany) and communism (Stalin in the Soviet Union), all forms of totalitarianism.  2) A system in which the government controls nearly every part of public and private life and crushes all opposition.</a:t>
            </a:r>
            <a:endParaRPr/>
          </a:p>
        </p:txBody>
      </p:sp>
      <p:sp>
        <p:nvSpPr>
          <p:cNvPr id="595" name="Google Shape;59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(US.46, DOK 1). 60-90 seconds. Have EVERY student commit (thumbs / whiteboard / choral) before revealing — this secures an early win and surfaces who is shaky before new content. Answer: The Lend-Lease Act of 1941. Key term to listen for: Lend-Lease Act (1941). This is the low-floor entry; the graded Check for Understanding later in the standard rises to DOK 2–3.</a:t>
            </a:r>
            <a:endParaRPr/>
          </a:p>
        </p:txBody>
      </p:sp>
      <p:sp>
        <p:nvSpPr>
          <p:cNvPr id="614" name="Google Shape;61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636" name="Google Shape;6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(US.46). Ask: if a fire is burning in your neighbor's house, do you wait until it reaches yours? Then meet FDR deciding how much to help the Allies. Teach in small steps; pause and check for understanding before the next chunk (aim 80%+ before moving on).</a:t>
            </a:r>
          </a:p>
          <a:p>
            <a:r>
              <a:t>✍ Students: Cornell Notes &amp; Close Read (Act 3–4) in the workbook.</a:t>
            </a:r>
          </a:p>
        </p:txBody>
      </p:sp>
      <p:sp>
        <p:nvSpPr>
          <p:cNvPr id="653" name="Google Shape;65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73" name="Google Shape;6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93" name="Google Shape;6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710" name="Google Shape;71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1" name="Shape 741"/>
        <p:cNvGrpSpPr/>
        <p:nvPr/>
      </p:nvGrpSpPr>
      <p:grpSpPr>
        <a:xfrm>
          <a:off x="0" y="0"/>
          <a:ext cx="0" cy="0"/>
          <a:chOff x="0" y="0"/>
          <a:chExt cx="0" cy="0"/>
        </a:xfrm>
      </p:grpSpPr>
      <p:sp>
        <p:nvSpPr>
          <p:cNvPr id="742" name="Google Shape;74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3" name="Google Shape;74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(January 6,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744" name="Google Shape;74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780" name="Google Shape;78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(US.46). Skill modeled: Trace a leader's shifting policy. Model the worked example aloud using the THINK ALOUD as your script, then release students to the activity ("Pick the boldest step short of war and defend your choice with evidence."). This is the I Do → We Do → You Do bridge — do not skip it; aim for 80%+ success before independent work.</a:t>
            </a:r>
            <a:endParaRPr/>
          </a:p>
        </p:txBody>
      </p:sp>
      <p:sp>
        <p:nvSpPr>
          <p:cNvPr id="839" name="Google Shape;83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US.46. Pair with the printable: cornell-notes/unit-6/us46-fdr-response-world-crises.pdf. Timing: 15. Deliverable: Completed four-step timeline (one sentence each on purpose + move away from neutrality) AND a one-sentence evidence-based claim about FDR's intent.</a:t>
            </a:r>
          </a:p>
          <a:p>
            <a:r>
              <a:t>✍ Students: Constructed Response (Act 7) in the workbook.</a:t>
            </a: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(US.46, DOK 2). Have students commit to an answer (whiteboards, hand signal, or turn-and-talk) BEFORE advancing. Correct answer: B. The next slide reveals it. Why: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p>
          <a:p>
            <a:r>
              <a:t>✍ Students: Practice Quiz (Act 6) in the workbook.</a:t>
            </a:r>
          </a:p>
        </p:txBody>
      </p:sp>
      <p:sp>
        <p:nvSpPr>
          <p:cNvPr id="884" name="Google Shape;88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(US.46). Correct: B.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918" name="Google Shape;918;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 name="Google Shape;95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(US.46, DOK 2). Prompt: Explain how FDR moved the U.S. from neutrality toward supporting the Allies. Give at least two specific actions.  Model answer: FDR gradually shifted the U.S. from isolation to active support. In the Quarantine Speech (1937) he warned against aggressor nations. In the Four Freedoms speech (1941) he framed the coming struggle as a defense of universal freedoms. The Lend-Lease Act (1941) let the U.S. supply Britain and the Allies with weapons, and the Atlantic Charter (1941) set shared war aims with Churchill. Together these steps made America the 'arsenal of democracy' before Pearl Harbor.  RETEACH TRIGGER — if a student misses this exit ticket: (1) &lt;50% of class miss → spiral it into the next standard’s Quick Review opener (see the US.46 review prompts). (2) Individual/small group → reteach with the "Quarantine Speech (October 5, 1937)" direct-instruction slide + re-run the SOURCE IT FIRST routine on the US.46 primary source, then assign the paired printable: cornell-notes/unit-6/us46-fdr-response-world-crises.pdf. (3) Re-assess with the US.46 check-for-understanding reveal slide as a do-now the next day. Reteach anchors (this standard’s sections): Quarantine Speech (October 5, 1937); Four Freedoms Speech (January 6, 1941); Atlantic Charter (August 14, 1941); Lend-Lease Act (March 11, 1941). I Can objective: I can explain President Franklin D. Roosevelt's response to world crises, including the Quarantine Speech, the Four Freedoms speech, the Atlantic Charter, and the Lend-Lease Act.  HONORS / EXTENSION (DOK 3, for early finishers or advanced learners): Evaluate: Was FDR leading the nation toward war or genuinely trying to keep it out? Argue with at least two pieces of evidence. (SSP.04) — look for a clear claim plus two specific pieces of evidence.</a:t>
            </a:r>
            <a:endParaRPr/>
          </a:p>
        </p:txBody>
      </p:sp>
      <p:sp>
        <p:nvSpPr>
          <p:cNvPr id="951" name="Google Shape;95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5" name="Google Shape;97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(US.47). Cold-call or whiteboards, 3-4 min, low stakes. Answers — 1) A 1941 law letting the U.S. send weapons and supplies to Britain and other Allies before it officially entered the war, making America the 'arsenal of democracy.'  2) Freedom of speech, freedom of worship, freedom from want, and freedom from fear, the values he said the Allies were defending.</a:t>
            </a:r>
            <a:endParaRPr/>
          </a:p>
        </p:txBody>
      </p:sp>
      <p:sp>
        <p:nvSpPr>
          <p:cNvPr id="1003" name="Google Shape;100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1" name="Google Shape;102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(US.47, DOK 1). 60-90 seconds. Have EVERY student commit (thumbs / whiteboard / choral) before revealing — this secures an early win and surfaces who is shaky before new content. Answer: The Holocaust. Key term to listen for: Holocaust. This is the low-floor entry; the graded Check for Understanding later in the standard rises to DOK 2–3.</a:t>
            </a:r>
            <a:endParaRPr/>
          </a:p>
        </p:txBody>
      </p:sp>
      <p:sp>
        <p:nvSpPr>
          <p:cNvPr id="1022" name="Google Shape;102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3" name="Google Shape;104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044" name="Google Shape;104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0" name="Google Shape;106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(US.47). Show the phrase 'the world knew' and ask what responsibility knowledge creates - before revealing what U.S. officials knew about the Holocaust. Teach in small steps; pause and check for understanding before the next chunk (aim 80%+ before moving on).</a:t>
            </a:r>
          </a:p>
          <a:p>
            <a:r>
              <a:t>✍ Students: Cornell Notes &amp; Close Read (Act 3–4) in the workbook.</a:t>
            </a:r>
          </a:p>
        </p:txBody>
      </p:sp>
      <p:sp>
        <p:nvSpPr>
          <p:cNvPr id="1061" name="Google Shape;106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0" name="Google Shape;108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081" name="Google Shape;108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01" name="Google Shape;110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18" name="Google Shape;11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5" name="Google Shape;11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(Elie Wiesel) WHEN? (1945 (describing liberation))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1152" name="Google Shape;11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188" name="Google Shape;118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6" name="Google Shape;1246;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(US.47). Skill modeled: Weigh evidence of a response. Model the worked example aloud using the THINK ALOUD as your script, then release students to the activity ("Take a position on whether the response was adequate, citing both sources."). This is the I Do → We Do → You Do bridge — do not skip it; aim for 80%+ success before independent work.</a:t>
            </a:r>
            <a:endParaRPr/>
          </a:p>
        </p:txBody>
      </p:sp>
      <p:sp>
        <p:nvSpPr>
          <p:cNvPr id="1247" name="Google Shape;1247;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US.47. Pair with the printable: cornell-notes/unit-6/us47-us-response-holocaust.pdf. Timing: 15. Deliverable: Completed three-part organizer (before / during / after, one detail each) AND a one-sentence evidence-based claim about national responsibility.</a:t>
            </a:r>
          </a:p>
          <a:p>
            <a:r>
              <a:t>✍ Students: Constructed Response (Act 7) in the workbook.</a:t>
            </a:r>
          </a:p>
        </p:txBody>
      </p:sp>
      <p:sp>
        <p:nvSpPr>
          <p:cNvPr id="1268" name="Google Shape;126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(US.47, DOK 2). Have students commit to an answer (whiteboards, hand signal, or turn-and-talk) BEFORE advancing. Correct answer: A. The next slide reveals it. Why: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p>
          <a:p>
            <a:r>
              <a:t>✍ Students: Practice Quiz (Act 6) in the workbook.</a:t>
            </a:r>
          </a:p>
        </p:txBody>
      </p:sp>
      <p:sp>
        <p:nvSpPr>
          <p:cNvPr id="1292" name="Google Shape;1292;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(US.47). Correct: A.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326" name="Google Shape;132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(US.47, DOK 2). Prompt: Describe the U.S. response to the Holocaust before, during, and after the war. Give one specific example from each period.  Model answer: Before the war, the U.S. limited immigration and turned away many Jewish refugees fleeing Nazi persecution. During the war, Allied forces liberated concentration camps in 1945 and documented the genocide, though critics argue more could have been done sooner. After the war, the U.S. helped resettle Holocaust survivors and supported the Nuremberg trials of Nazi leaders. The full horror shaped postwar human-rights commitments.  RETEACH TRIGGER — if a student misses this exit ticket: (1) &lt;50% of class miss → spiral it into the next standard’s Quick Review opener (see the US.47 review prompts). (2) Individual/small group → reteach with the "U.S. Response Before the War" direct-instruction slide + re-run the SOURCE IT FIRST routine on the US.47 primary source, then assign the paired printable: cornell-notes/unit-6/us47-us-response-holocaust.pdf. (3) Re-assess with the US.47 check-for-understanding reveal slide as a do-now the next day. Reteach anchors (this standard’s sections): U.S. Response Before the War; Liberation of Concentration Camps; Post-War Immigration of Holocaust Survivors; Moral and Ethical Implications (Honors). I Can objective: I can analyze the response of the U.S. to the plight of European Jews before the war, the liberation of concentration camps during the war, and the immigration of Holocaust survivors after the war.  HONORS / EXTENSION (DOK 3, for early finishers or advanced learners): Evaluate: Given what the U.S. knew, did it do enough to respond to the Holocaust? Defend your claim with evidence. (SSP.04) — look for a clear claim plus two specific pieces of evidence.</a:t>
            </a:r>
            <a:endParaRPr/>
          </a:p>
        </p:txBody>
      </p:sp>
      <p:sp>
        <p:nvSpPr>
          <p:cNvPr id="1359" name="Google Shape;135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0" name="Shape 1380"/>
        <p:cNvGrpSpPr/>
        <p:nvPr/>
      </p:nvGrpSpPr>
      <p:grpSpPr>
        <a:xfrm>
          <a:off x="0" y="0"/>
          <a:ext cx="0" cy="0"/>
          <a:chOff x="0" y="0"/>
          <a:chExt cx="0" cy="0"/>
        </a:xfrm>
      </p:grpSpPr>
      <p:sp>
        <p:nvSpPr>
          <p:cNvPr id="1381" name="Google Shape;138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2" name="Google Shape;138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3" name="Google Shape;138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(US.48). Cold-call or whiteboards, 3-4 min, low stakes. Answers — 1) The Nazi state's systematic, organized murder of six million Jews and millions of others during World War II.  2) Allied soldiers liberated the concentration camps in 1945 and documented the horrors they found with photographs and film.</a:t>
            </a:r>
            <a:endParaRPr/>
          </a:p>
        </p:txBody>
      </p:sp>
      <p:sp>
        <p:nvSpPr>
          <p:cNvPr id="1411" name="Google Shape;141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(US.48, DOK 1). 60-90 seconds. Have EVERY student commit (thumbs / whiteboard / choral) before revealing — this secures an early win and surfaces who is shaky before new content. Answer: The attack on Pearl Harbor, December 7, 1941. Key term to listen for: Pearl Harbor. This is the low-floor entry; the graded Check for Understanding later in the standard rises to DOK 2–3.</a:t>
            </a:r>
            <a:endParaRPr/>
          </a:p>
        </p:txBody>
      </p:sp>
      <p:sp>
        <p:nvSpPr>
          <p:cNvPr id="1430" name="Google Shape;143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1" name="Google Shape;145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452" name="Google Shape;1452;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6" name="Shape 1466"/>
        <p:cNvGrpSpPr/>
        <p:nvPr/>
      </p:nvGrpSpPr>
      <p:grpSpPr>
        <a:xfrm>
          <a:off x="0" y="0"/>
          <a:ext cx="0" cy="0"/>
          <a:chOff x="0" y="0"/>
          <a:chExt cx="0" cy="0"/>
        </a:xfrm>
      </p:grpSpPr>
      <p:sp>
        <p:nvSpPr>
          <p:cNvPr id="1467" name="Google Shape;14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8" name="Google Shape;14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(US.48). Play the idea of a single morning that changed everything, then reveal the date: December 7, 1941. Teach in small steps; pause and check for understanding before the next chunk (aim 80%+ before moving on).</a:t>
            </a:r>
          </a:p>
          <a:p>
            <a:r>
              <a:t>✍ Students: Cornell Notes &amp; Close Read (Act 3–4) in the workbook.</a:t>
            </a:r>
          </a:p>
        </p:txBody>
      </p:sp>
      <p:sp>
        <p:nvSpPr>
          <p:cNvPr id="1469" name="Google Shape;14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489" name="Google Shape;1489;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06" name="Google Shape;1506;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26" name="Google Shape;152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2" name="Google Shape;154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3" name="Google Shape;154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9" name="Google Shape;155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(December 8,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560" name="Google Shape;156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5" name="Google Shape;1595;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596" name="Google Shape;1596;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(US.48). Skill modeled: Explain causes of a decision. Model the worked example aloud using the THINK ALOUD as your script, then release students to the activity ("Explain how one word choice moved public opinion, citing the text."). This is the I Do → We Do → You Do bridge — do not skip it; aim for 80%+ success before independent work.</a:t>
            </a:r>
            <a:endParaRPr/>
          </a:p>
        </p:txBody>
      </p:sp>
      <p:sp>
        <p:nvSpPr>
          <p:cNvPr id="1655" name="Google Shape;1655;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US.48. Pair with the printable: cornell-notes/unit-6/us48-american-entry-wwii.pdf. Timing: 15. Deliverable: Completed two-theater factors chart (2+ per column) AND a one-sentence evidence-based claim about the cause of U.S. entry.</a:t>
            </a:r>
          </a:p>
          <a:p>
            <a:r>
              <a:t>✍ Students: Constructed Response (Act 7) in the workbook.</a:t>
            </a:r>
          </a:p>
        </p:txBody>
      </p:sp>
      <p:sp>
        <p:nvSpPr>
          <p:cNvPr id="1676" name="Google Shape;167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(US.48, DOK 2). Have students commit to an answer (whiteboards, hand signal, or turn-and-talk) BEFORE advancing. Correct answer: A. The next slide reveals it. Why: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1700" name="Google Shape;170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1" name="Shape 1731"/>
        <p:cNvGrpSpPr/>
        <p:nvPr/>
      </p:nvGrpSpPr>
      <p:grpSpPr>
        <a:xfrm>
          <a:off x="0" y="0"/>
          <a:ext cx="0" cy="0"/>
          <a:chOff x="0" y="0"/>
          <a:chExt cx="0" cy="0"/>
        </a:xfrm>
      </p:grpSpPr>
      <p:sp>
        <p:nvSpPr>
          <p:cNvPr id="1732" name="Google Shape;173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3" name="Google Shape;173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(US.48). Correct: A.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34" name="Google Shape;173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(US.48, DOK 2). Prompt: Explain the reasons the United States entered World War II. Address both the European and Pacific theaters.  Model answer: The U.S. entered for reasons in both theaters. In Europe, Axis aggression, the fall of France, and the threat to Britain drew America into supplying the Allies. In the Pacific, Japanese expansion collided with U.S. interests, and the American oil embargo pushed Japan toward war. The immediate trigger was the surprise attack on Pearl Harbor on December 7, 1941, which killed thousands and united Americans behind a declaration of war on Japan, and then Germany.  RETEACH TRIGGER — if a student misses this exit ticket: (1) &lt;50% of class miss → spiral it into the next standard’s Quick Review opener (see the US.48 review prompts). (2) Individual/small group → reteach with the "Factors in the European Theater" direct-instruction slide + re-run the SOURCE IT FIRST routine on the US.48 primary source, then assign the paired printable: cornell-notes/unit-6/us48-american-entry-wwii.pdf. (3) Re-assess with the US.48 check-for-understanding reveal slide as a do-now the next day. Reteach anchors (this standard’s sections): Factors in the European Theater; Factors in the Pacific Theater; Attack on Pearl Harbor (December 7, 1941); Consequences of American Entry. I Can objective: I can explain the reasons for American entry into World War II, including the attack on Pearl Harbor.  HONORS / EXTENSION (DOK 3, for early finishers or advanced learners): Evaluate: Did Pearl Harbor cause U.S. entry into WWII, or simply trigger a decision that was already coming? Argue with evidence. (SSP.04) — look for a clear claim plus two specific pieces of evidence.</a:t>
            </a:r>
            <a:endParaRPr/>
          </a:p>
        </p:txBody>
      </p:sp>
      <p:sp>
        <p:nvSpPr>
          <p:cNvPr id="1767" name="Google Shape;1767;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8" name="Shape 1788"/>
        <p:cNvGrpSpPr/>
        <p:nvPr/>
      </p:nvGrpSpPr>
      <p:grpSpPr>
        <a:xfrm>
          <a:off x="0" y="0"/>
          <a:ext cx="0" cy="0"/>
          <a:chOff x="0" y="0"/>
          <a:chExt cx="0" cy="0"/>
        </a:xfrm>
      </p:grpSpPr>
      <p:sp>
        <p:nvSpPr>
          <p:cNvPr id="1789" name="Google Shape;178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0" name="Google Shape;179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1" name="Google Shape;179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(US.49). Cold-call or whiteboards, 3-4 min, low stakes. Answers — 1) Japan attacked the U.S. naval base at Pearl Harbor, Hawaii, bringing the United States into World War II.  2) The surprise attack killed thousands and destroyed much of the Pacific fleet, uniting Americans behind FDR's call for a declaration of war.</a:t>
            </a:r>
            <a:endParaRPr/>
          </a:p>
        </p:txBody>
      </p:sp>
      <p:sp>
        <p:nvSpPr>
          <p:cNvPr id="1819" name="Google Shape;181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7" name="Google Shape;183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(US.49, DOK 1). 60-90 seconds. Have EVERY student commit (thumbs / whiteboard / choral) before revealing — this secures an early win and surfaces who is shaky before new content. Answer: Franklin D. Roosevelt (Harry S. Truman took over in April 1945). Key term to listen for: Allied Powers. This is the low-floor entry; the graded Check for Understanding later in the standard rises to DOK 2–3.</a:t>
            </a:r>
            <a:endParaRPr/>
          </a:p>
        </p:txBody>
      </p:sp>
      <p:sp>
        <p:nvSpPr>
          <p:cNvPr id="1838" name="Google Shape;183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860" name="Google Shape;186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(US.49). Ask: does history turn on great leaders or on millions of ordinary people? Hold the tension, then meet the leaders of WWII. Teach in small steps; pause and check for understanding before the next chunk (aim 80%+ before moving on).</a:t>
            </a:r>
          </a:p>
          <a:p>
            <a:r>
              <a:t>✍ Students: Cornell Notes &amp; Close Read (Act 3–4) in the workbook.</a:t>
            </a:r>
          </a:p>
        </p:txBody>
      </p:sp>
      <p:sp>
        <p:nvSpPr>
          <p:cNvPr id="1877" name="Google Shape;1877;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4" name="Shape 1894"/>
        <p:cNvGrpSpPr/>
        <p:nvPr/>
      </p:nvGrpSpPr>
      <p:grpSpPr>
        <a:xfrm>
          <a:off x="0" y="0"/>
          <a:ext cx="0" cy="0"/>
          <a:chOff x="0" y="0"/>
          <a:chExt cx="0" cy="0"/>
        </a:xfrm>
      </p:grpSpPr>
      <p:sp>
        <p:nvSpPr>
          <p:cNvPr id="1895" name="Google Shape;1895;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6" name="Google Shape;1896;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897" name="Google Shape;1897;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1" name="Shape 1911"/>
        <p:cNvGrpSpPr/>
        <p:nvPr/>
      </p:nvGrpSpPr>
      <p:grpSpPr>
        <a:xfrm>
          <a:off x="0" y="0"/>
          <a:ext cx="0" cy="0"/>
          <a:chOff x="0" y="0"/>
          <a:chExt cx="0" cy="0"/>
        </a:xfrm>
      </p:grpSpPr>
      <p:sp>
        <p:nvSpPr>
          <p:cNvPr id="1912" name="Google Shape;191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3" name="Google Shape;191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14" name="Google Shape;191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0" name="Google Shape;193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31" name="Google Shape;193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7" name="Google Shape;19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8" name="Google Shape;19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(Winston Churchill) WHEN? (June 4, 1940)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979" name="Google Shape;197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2" name="Shape 2012"/>
        <p:cNvGrpSpPr/>
        <p:nvPr/>
      </p:nvGrpSpPr>
      <p:grpSpPr>
        <a:xfrm>
          <a:off x="0" y="0"/>
          <a:ext cx="0" cy="0"/>
          <a:chOff x="0" y="0"/>
          <a:chExt cx="0" cy="0"/>
        </a:xfrm>
      </p:grpSpPr>
      <p:sp>
        <p:nvSpPr>
          <p:cNvPr id="2013" name="Google Shape;2013;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4" name="Google Shape;2014;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015" name="Google Shape;2015;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(US.49). Skill modeled: Match individuals to their roles. Model the worked example aloud using the THINK ALOUD as your script, then release students to the activity ("Argue which role mattered most at a turning point, with evidence."). This is the I Do → We Do → You Do bridge — do not skip it; aim for 80%+ success before independent work.</a:t>
            </a:r>
            <a:endParaRPr/>
          </a:p>
        </p:txBody>
      </p:sp>
      <p:sp>
        <p:nvSpPr>
          <p:cNvPr id="2074" name="Google Shape;20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4" name="Google Shape;2094;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US.49. Pair with the printable: cornell-notes/unit-6/us49-wwii-leaders.pdf. Timing: 15. Deliverable: Completed leaders chart (one significant action per leader across the three columns) AND a one-sentence evidence-based claim about the most decisive leader.</a:t>
            </a:r>
          </a:p>
          <a:p>
            <a:r>
              <a:t>✍ Students: Constructed Response (Act 7) in the workbook.</a:t>
            </a:r>
          </a:p>
        </p:txBody>
      </p:sp>
      <p:sp>
        <p:nvSpPr>
          <p:cNvPr id="2095" name="Google Shape;2095;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8" name="Google Shape;211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(US.49, DOK 2). Have students commit to an answer (whiteboards, hand signal, or turn-and-talk) BEFORE advancing. Correct answer: A. The next slide reveals it. Why: Eisenhower served as Supreme Commander of Allied Expeditionary Forces in Europe, overseeing operations including D-Day, while MacArthur commanded Allied forces in the Southwest Pacific, directing the island-hopping campaign and eventually accepting Japan's surrender.</a:t>
            </a:r>
          </a:p>
          <a:p>
            <a:r>
              <a:t>✍ Students: Practice Quiz (Act 6) in the workbook.</a:t>
            </a:r>
          </a:p>
        </p:txBody>
      </p:sp>
      <p:sp>
        <p:nvSpPr>
          <p:cNvPr id="2119" name="Google Shape;211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(US.49). Correct: A.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53" name="Google Shape;2153;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(US.49, DOK 2). Prompt: Identify two key WWII leaders (one Allied, one Axis) and explain one significant action of each.  Model answer: Allied leaders shaped the path to victory: FDR mobilized U.S. industry and forged the alliance; Churchill rallied Britain to hold out against Germany; Stalin's Soviet Union absorbed and then reversed the German invasion; Eisenhower commanded the D-Day invasion. Axis leaders drove the aggression: Hitler launched the conquest of Europe and the Holocaust; Mussolini allied fascist Italy with Germany; Tojo directed Japan's expansion and the attack on Pearl Harbor.  RETEACH TRIGGER — if a student misses this exit ticket: (1) &lt;50% of class miss → spiral it into the next standard’s Quick Review opener (see the US.49 review prompts). (2) Individual/small group → reteach with the "Allied Political Leaders" direct-instruction slide + re-run the SOURCE IT FIRST routine on the US.49 primary source, then assign the paired printable: cornell-notes/unit-6/us49-wwii-leaders.pdf. (3) Re-assess with the US.49 check-for-understanding reveal slide as a do-now the next day. Reteach anchors (this standard’s sections): Allied Political Leaders; Allied Military Leaders; Axis Leaders; Comparing Leadership Approaches. I Can objective: I can identify the roles and the significant actions of key individuals in World War II, including Churchill, Eisenhower, Hitler, MacArthur, Marshall, Mussolini, FDR, Stalin, Tojo, and Truman.  HONORS / EXTENSION (DOK 3, for early finishers or advanced learners): Evaluate: Which single leader's actions most changed the outcome of World War II? Defend your choice with at least two pieces of evidence. (SSP.04) — look for a clear claim plus two specific pieces of evidence.</a:t>
            </a:r>
            <a:endParaRPr/>
          </a:p>
        </p:txBody>
      </p:sp>
      <p:sp>
        <p:nvSpPr>
          <p:cNvPr id="2186" name="Google Shape;218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0" name="Google Shape;2210;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(US.50). Cold-call or whiteboards, 3-4 min, low stakes. Answers — 1) Allied: FDR, Churchill, Stalin, Truman, Eisenhower, MacArthur, or Marshall. Axis: Hitler, Mussolini, or Tojo.  2) General Dwight D. Eisenhower.</a:t>
            </a:r>
            <a:endParaRPr/>
          </a:p>
        </p:txBody>
      </p:sp>
      <p:sp>
        <p:nvSpPr>
          <p:cNvPr id="2238" name="Google Shape;223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(US.50, DOK 1). 60-90 seconds. Have EVERY student commit (thumbs / whiteboard / choral) before revealing — this secures an early win and surfaces who is shaky before new content. Answer: D-Day, the Normandy invasion. Key term to listen for: D-Day (Normandy Invasion). This is the low-floor entry; the graded Check for Understanding later in the standard rises to DOK 2–3.</a:t>
            </a:r>
            <a:endParaRPr/>
          </a:p>
        </p:txBody>
      </p:sp>
      <p:sp>
        <p:nvSpPr>
          <p:cNvPr id="2257" name="Google Shape;2257;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79" name="Google Shape;2279;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3" name="Shape 2293"/>
        <p:cNvGrpSpPr/>
        <p:nvPr/>
      </p:nvGrpSpPr>
      <p:grpSpPr>
        <a:xfrm>
          <a:off x="0" y="0"/>
          <a:ext cx="0" cy="0"/>
          <a:chOff x="0" y="0"/>
          <a:chExt cx="0" cy="0"/>
        </a:xfrm>
      </p:grpSpPr>
      <p:sp>
        <p:nvSpPr>
          <p:cNvPr id="2294" name="Google Shape;2294;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5" name="Google Shape;2295;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(US.50). Put a map of a coastline on the board and ask what makes one beach easy to defend and another easy to invade. Teach in small steps; pause and check for understanding before the next chunk (aim 80%+ before moving on).</a:t>
            </a:r>
          </a:p>
          <a:p>
            <a:r>
              <a:t>✍ Students: Cornell Notes &amp; Close Read (Act 3–4) in the workbook.</a:t>
            </a:r>
          </a:p>
        </p:txBody>
      </p:sp>
      <p:sp>
        <p:nvSpPr>
          <p:cNvPr id="2296" name="Google Shape;2296;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3" name="Shape 2313"/>
        <p:cNvGrpSpPr/>
        <p:nvPr/>
      </p:nvGrpSpPr>
      <p:grpSpPr>
        <a:xfrm>
          <a:off x="0" y="0"/>
          <a:ext cx="0" cy="0"/>
          <a:chOff x="0" y="0"/>
          <a:chExt cx="0" cy="0"/>
        </a:xfrm>
      </p:grpSpPr>
      <p:sp>
        <p:nvSpPr>
          <p:cNvPr id="2314" name="Google Shape;2314;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5" name="Google Shape;2315;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16" name="Google Shape;2316;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3" name="Shape 2333"/>
        <p:cNvGrpSpPr/>
        <p:nvPr/>
      </p:nvGrpSpPr>
      <p:grpSpPr>
        <a:xfrm>
          <a:off x="0" y="0"/>
          <a:ext cx="0" cy="0"/>
          <a:chOff x="0" y="0"/>
          <a:chExt cx="0" cy="0"/>
        </a:xfrm>
      </p:grpSpPr>
      <p:sp>
        <p:nvSpPr>
          <p:cNvPr id="2334" name="Google Shape;233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5" name="Google Shape;2335;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36" name="Google Shape;2336;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0" name="Shape 2350"/>
        <p:cNvGrpSpPr/>
        <p:nvPr/>
      </p:nvGrpSpPr>
      <p:grpSpPr>
        <a:xfrm>
          <a:off x="0" y="0"/>
          <a:ext cx="0" cy="0"/>
          <a:chOff x="0" y="0"/>
          <a:chExt cx="0" cy="0"/>
        </a:xfrm>
      </p:grpSpPr>
      <p:sp>
        <p:nvSpPr>
          <p:cNvPr id="2351" name="Google Shape;2351;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2" name="Google Shape;2352;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53" name="Google Shape;2353;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0" name="Shape 2370"/>
        <p:cNvGrpSpPr/>
        <p:nvPr/>
      </p:nvGrpSpPr>
      <p:grpSpPr>
        <a:xfrm>
          <a:off x="0" y="0"/>
          <a:ext cx="0" cy="0"/>
          <a:chOff x="0" y="0"/>
          <a:chExt cx="0" cy="0"/>
        </a:xfrm>
      </p:grpSpPr>
      <p:sp>
        <p:nvSpPr>
          <p:cNvPr id="2371" name="Google Shape;2371;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2" name="Google Shape;2372;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3" name="Google Shape;2373;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7" name="Shape 2387"/>
        <p:cNvGrpSpPr/>
        <p:nvPr/>
      </p:nvGrpSpPr>
      <p:grpSpPr>
        <a:xfrm>
          <a:off x="0" y="0"/>
          <a:ext cx="0" cy="0"/>
          <a:chOff x="0" y="0"/>
          <a:chExt cx="0" cy="0"/>
        </a:xfrm>
      </p:grpSpPr>
      <p:sp>
        <p:nvSpPr>
          <p:cNvPr id="2388" name="Google Shape;2388;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9" name="Google Shape;2389;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(General Dwight D. Eisenhower) WHEN? (June 6, 1944)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2390" name="Google Shape;2390;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3" name="Shape 2423"/>
        <p:cNvGrpSpPr/>
        <p:nvPr/>
      </p:nvGrpSpPr>
      <p:grpSpPr>
        <a:xfrm>
          <a:off x="0" y="0"/>
          <a:ext cx="0" cy="0"/>
          <a:chOff x="0" y="0"/>
          <a:chExt cx="0" cy="0"/>
        </a:xfrm>
      </p:grpSpPr>
      <p:sp>
        <p:nvSpPr>
          <p:cNvPr id="2424" name="Google Shape;2424;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5" name="Google Shape;2425;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426" name="Google Shape;2426;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(US.50). Skill modeled: Link geography to military outcome. Model the worked example aloud using the THINK ALOUD as your script, then release students to the activity ("Explain how that factor changed the battle's outcome, citing the text."). This is the I Do → We Do → You Do bridge — do not skip it; aim for 80%+ success before independent work.</a:t>
            </a:r>
            <a:endParaRPr/>
          </a:p>
        </p:txBody>
      </p:sp>
      <p:sp>
        <p:nvSpPr>
          <p:cNvPr id="2485" name="Google Shape;2485;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3" name="Shape 2503"/>
        <p:cNvGrpSpPr/>
        <p:nvPr/>
      </p:nvGrpSpPr>
      <p:grpSpPr>
        <a:xfrm>
          <a:off x="0" y="0"/>
          <a:ext cx="0" cy="0"/>
          <a:chOff x="0" y="0"/>
          <a:chExt cx="0" cy="0"/>
        </a:xfrm>
      </p:grpSpPr>
      <p:sp>
        <p:nvSpPr>
          <p:cNvPr id="2504" name="Google Shape;250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5" name="Google Shape;2505;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US.50. Pair with the printable: cornell-notes/unit-6/us50-major-wwii-battles.pdf. Timing: 15. Deliverable: Completed four-battle chart (theater, geographic/military factor, result) AND a one-sentence evidence-based claim about geography's role.</a:t>
            </a:r>
          </a:p>
          <a:p>
            <a:r>
              <a:t>✍ Students: Constructed Response (Act 7) in the workbook.</a:t>
            </a:r>
          </a:p>
        </p:txBody>
      </p:sp>
      <p:sp>
        <p:nvSpPr>
          <p:cNvPr id="2506" name="Google Shape;2506;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(US.50, DOK 2). Have students commit to an answer (whiteboards, hand signal, or turn-and-talk) BEFORE advancing. Correct answer: B. The next slide reveals it. Why: At Midway, U.S. naval intelligence cracked Japanese codes, enabling American carrier aircraft to surprise and sink four Japanese fleet carriers — the core of Japan's offensive capacity. This irreplaceable loss shifted the strategic initiative in the Pacific to the United States.</a:t>
            </a:r>
          </a:p>
          <a:p>
            <a:r>
              <a:t>✍ Students: Practice Quiz (Act 6) in the workbook.</a:t>
            </a:r>
          </a:p>
        </p:txBody>
      </p:sp>
      <p:sp>
        <p:nvSpPr>
          <p:cNvPr id="2530" name="Google Shape;2530;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(US.50). Correct: B.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64" name="Google Shape;2564;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(US.50, DOK 2). Prompt: Explain how geographic and military factors shaped the outcome of two major WWII battles.  Model answer: Geography and strategy decided key battles. At Midway (1942), U.S. code-breaking and control of a vital Pacific island let a smaller fleet ambush and sink four Japanese carriers, turning the Pacific war. At Iwo Jima and Okinawa, island geography made for costly assaults that brought the U.S. within striking range of Japan. D-Day (1944) required crossing the English Channel to seize the Normandy beaches, opening the Western Front and squeezing Germany between the Allies and the Soviets.  RETEACH TRIGGER — if a student misses this exit ticket: (1) &lt;50% of class miss → spiral it into the next standard’s Quick Review opener (see the US.50 review prompts). (2) Individual/small group → reteach with the "Battle of Midway (June 1942)" direct-instruction slide + re-run the SOURCE IT FIRST routine on the US.50 primary source, then assign the paired printable: cornell-notes/unit-6/us50-major-wwii-battles.pdf. (3) Re-assess with the US.50 check-for-understanding reveal slide as a do-now the next day. Reteach anchors (this standard’s sections): Battle of Midway (June 1942); Battle of Iwo Jima (February-March 1945); Battle of Okinawa (April-June 1945); D-Day: Normandy Invasion (June 6, 1944). I Can objective: I can explain the role of geographic and military factors on the outcomes of battles in the Pacific and European theaters, including Midway, Iwo Jima, Okinawa, and D-Day.  HONORS / EXTENSION (DOK 3, for early finishers or advanced learners): Evaluate: In WWII, did geography or leadership matter more in deciding battles? Argue your position with evidence. (SSP.04) — look for a clear claim plus two specific pieces of evidence.</a:t>
            </a:r>
            <a:endParaRPr/>
          </a:p>
        </p:txBody>
      </p:sp>
      <p:sp>
        <p:nvSpPr>
          <p:cNvPr id="2597" name="Google Shape;2597;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8" name="Shape 2618"/>
        <p:cNvGrpSpPr/>
        <p:nvPr/>
      </p:nvGrpSpPr>
      <p:grpSpPr>
        <a:xfrm>
          <a:off x="0" y="0"/>
          <a:ext cx="0" cy="0"/>
          <a:chOff x="0" y="0"/>
          <a:chExt cx="0" cy="0"/>
        </a:xfrm>
      </p:grpSpPr>
      <p:sp>
        <p:nvSpPr>
          <p:cNvPr id="2619" name="Google Shape;2619;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0" name="Google Shape;2620;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1" name="Google Shape;2621;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(US.51). Cold-call or whiteboards, 3-4 min, low stakes. Answers — 1) The U.S. destroyed four Japanese aircraft carriers, halting Japan's advance and shifting the Pacific war in the Allies' favor.  2) The June 6, 1944 Allied invasion of Normandy, France, the largest seaborne invasion in history, that opened the Western Front against Germany.</a:t>
            </a:r>
            <a:endParaRPr/>
          </a:p>
        </p:txBody>
      </p:sp>
      <p:sp>
        <p:nvSpPr>
          <p:cNvPr id="2649" name="Google Shape;2649;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5" name="Shape 2665"/>
        <p:cNvGrpSpPr/>
        <p:nvPr/>
      </p:nvGrpSpPr>
      <p:grpSpPr>
        <a:xfrm>
          <a:off x="0" y="0"/>
          <a:ext cx="0" cy="0"/>
          <a:chOff x="0" y="0"/>
          <a:chExt cx="0" cy="0"/>
        </a:xfrm>
      </p:grpSpPr>
      <p:sp>
        <p:nvSpPr>
          <p:cNvPr id="2666" name="Google Shape;266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7" name="Google Shape;2667;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(US.51, DOK 1). 60-90 seconds. Have EVERY student commit (thumbs / whiteboard / choral) before revealing — this secures an early win and surfaces who is shaky before new content. Answer: The Tuskegee Airmen, the 442nd Regimental Combat Team, or the Navajo Code Talkers. Key term to listen for: Tuskegee Airmen. This is the low-floor entry; the graded Check for Understanding later in the standard rises to DOK 2–3.</a:t>
            </a:r>
            <a:endParaRPr/>
          </a:p>
        </p:txBody>
      </p:sp>
      <p:sp>
        <p:nvSpPr>
          <p:cNvPr id="2668" name="Google Shape;2668;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7" name="Shape 2687"/>
        <p:cNvGrpSpPr/>
        <p:nvPr/>
      </p:nvGrpSpPr>
      <p:grpSpPr>
        <a:xfrm>
          <a:off x="0" y="0"/>
          <a:ext cx="0" cy="0"/>
          <a:chOff x="0" y="0"/>
          <a:chExt cx="0" cy="0"/>
        </a:xfrm>
      </p:grpSpPr>
      <p:sp>
        <p:nvSpPr>
          <p:cNvPr id="2688" name="Google Shape;2688;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9" name="Google Shape;2689;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690" name="Google Shape;2690;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4" name="Shape 2704"/>
        <p:cNvGrpSpPr/>
        <p:nvPr/>
      </p:nvGrpSpPr>
      <p:grpSpPr>
        <a:xfrm>
          <a:off x="0" y="0"/>
          <a:ext cx="0" cy="0"/>
          <a:chOff x="0" y="0"/>
          <a:chExt cx="0" cy="0"/>
        </a:xfrm>
      </p:grpSpPr>
      <p:sp>
        <p:nvSpPr>
          <p:cNvPr id="2705" name="Google Shape;2705;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6" name="Google Shape;2706;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(US.51). Ask: why would someone fight for a country that treats them as second-class - then meet the Tuskegee Airmen and the 442nd. Teach in small steps; pause and check for understanding before the next chunk (aim 80%+ before moving on).</a:t>
            </a:r>
          </a:p>
          <a:p>
            <a:r>
              <a:t>✍ Students: Cornell Notes &amp; Close Read (Act 3–4) in the workbook.</a:t>
            </a:r>
          </a:p>
        </p:txBody>
      </p:sp>
      <p:sp>
        <p:nvSpPr>
          <p:cNvPr id="2707" name="Google Shape;2707;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0" name="Shape 2730"/>
        <p:cNvGrpSpPr/>
        <p:nvPr/>
      </p:nvGrpSpPr>
      <p:grpSpPr>
        <a:xfrm>
          <a:off x="0" y="0"/>
          <a:ext cx="0" cy="0"/>
          <a:chOff x="0" y="0"/>
          <a:chExt cx="0" cy="0"/>
        </a:xfrm>
      </p:grpSpPr>
      <p:sp>
        <p:nvSpPr>
          <p:cNvPr id="2731" name="Google Shape;2731;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2" name="Google Shape;2732;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33" name="Google Shape;2733;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1" name="Google Shape;2751;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9" name="Shape 2769"/>
        <p:cNvGrpSpPr/>
        <p:nvPr/>
      </p:nvGrpSpPr>
      <p:grpSpPr>
        <a:xfrm>
          <a:off x="0" y="0"/>
          <a:ext cx="0" cy="0"/>
          <a:chOff x="0" y="0"/>
          <a:chExt cx="0" cy="0"/>
        </a:xfrm>
      </p:grpSpPr>
      <p:sp>
        <p:nvSpPr>
          <p:cNvPr id="2770" name="Google Shape;2770;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1" name="Google Shape;2771;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72" name="Google Shape;2772;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90" name="Google Shape;2790;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5" name="Shape 2805"/>
        <p:cNvGrpSpPr/>
        <p:nvPr/>
      </p:nvGrpSpPr>
      <p:grpSpPr>
        <a:xfrm>
          <a:off x="0" y="0"/>
          <a:ext cx="0" cy="0"/>
          <a:chOff x="0" y="0"/>
          <a:chExt cx="0" cy="0"/>
        </a:xfrm>
      </p:grpSpPr>
      <p:sp>
        <p:nvSpPr>
          <p:cNvPr id="2806" name="Google Shape;2806;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7" name="Google Shape;2807;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8" name="Google Shape;2808;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6" name="Shape 2836"/>
        <p:cNvGrpSpPr/>
        <p:nvPr/>
      </p:nvGrpSpPr>
      <p:grpSpPr>
        <a:xfrm>
          <a:off x="0" y="0"/>
          <a:ext cx="0" cy="0"/>
          <a:chOff x="0" y="0"/>
          <a:chExt cx="0" cy="0"/>
        </a:xfrm>
      </p:grpSpPr>
      <p:sp>
        <p:nvSpPr>
          <p:cNvPr id="2837" name="Google Shape;2837;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8" name="Google Shape;2838;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Army Air Forces) WHEN? (1945) WHY does that matter? (Consider the author's purpose and audience before reading the words.) Only then move to the ANALYZE question. Suggested answer: See teacher key. Practice skill: Corroboration.</a:t>
            </a:r>
          </a:p>
          <a:p>
            <a:r>
              <a:t>✍ Students: Primary Source &amp; HIPPO (Act 5) in the workbook.</a:t>
            </a:r>
          </a:p>
        </p:txBody>
      </p:sp>
      <p:sp>
        <p:nvSpPr>
          <p:cNvPr id="2839" name="Google Shape;2839;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2" name="Shape 2872"/>
        <p:cNvGrpSpPr/>
        <p:nvPr/>
      </p:nvGrpSpPr>
      <p:grpSpPr>
        <a:xfrm>
          <a:off x="0" y="0"/>
          <a:ext cx="0" cy="0"/>
          <a:chOff x="0" y="0"/>
          <a:chExt cx="0" cy="0"/>
        </a:xfrm>
      </p:grpSpPr>
      <p:sp>
        <p:nvSpPr>
          <p:cNvPr id="2873" name="Google Shape;2873;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4" name="Google Shape;2874;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875" name="Google Shape;2875;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1" name="Shape 2931"/>
        <p:cNvGrpSpPr/>
        <p:nvPr/>
      </p:nvGrpSpPr>
      <p:grpSpPr>
        <a:xfrm>
          <a:off x="0" y="0"/>
          <a:ext cx="0" cy="0"/>
          <a:chOff x="0" y="0"/>
          <a:chExt cx="0" cy="0"/>
        </a:xfrm>
      </p:grpSpPr>
      <p:sp>
        <p:nvSpPr>
          <p:cNvPr id="2932" name="Google Shape;2932;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3" name="Google Shape;2933;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(US.51). Skill modeled: Evaluate contributions under injustice. Model the worked example aloud using the THINK ALOUD as your script, then release students to the activity ("Explain how their service became an argument for change at home."). This is the I Do → We Do → You Do bridge — do not skip it; aim for 80%+ success before independent work.</a:t>
            </a:r>
            <a:endParaRPr/>
          </a:p>
        </p:txBody>
      </p:sp>
      <p:sp>
        <p:nvSpPr>
          <p:cNvPr id="2934" name="Google Shape;2934;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2" name="Shape 2952"/>
        <p:cNvGrpSpPr/>
        <p:nvPr/>
      </p:nvGrpSpPr>
      <p:grpSpPr>
        <a:xfrm>
          <a:off x="0" y="0"/>
          <a:ext cx="0" cy="0"/>
          <a:chOff x="0" y="0"/>
          <a:chExt cx="0" cy="0"/>
        </a:xfrm>
      </p:grpSpPr>
      <p:sp>
        <p:nvSpPr>
          <p:cNvPr id="2953" name="Google Shape;2953;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4" name="Google Shape;2954;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US.51. Pair with the printable: cornell-notes/unit-6/us51-special-fighting-forces.pdf. Timing: 15. Deliverable: Completed four-unit chart (contribution + obstacle/sacrifice each) AND a one-sentence evidence-based claim about the 'two wars' these soldiers fought.</a:t>
            </a:r>
          </a:p>
          <a:p>
            <a:r>
              <a:t>✍ Students: Constructed Response (Act 7) in the workbook.</a:t>
            </a:r>
          </a:p>
        </p:txBody>
      </p:sp>
      <p:sp>
        <p:nvSpPr>
          <p:cNvPr id="2955" name="Google Shape;2955;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6" name="Shape 2976"/>
        <p:cNvGrpSpPr/>
        <p:nvPr/>
      </p:nvGrpSpPr>
      <p:grpSpPr>
        <a:xfrm>
          <a:off x="0" y="0"/>
          <a:ext cx="0" cy="0"/>
          <a:chOff x="0" y="0"/>
          <a:chExt cx="0" cy="0"/>
        </a:xfrm>
      </p:grpSpPr>
      <p:sp>
        <p:nvSpPr>
          <p:cNvPr id="2977" name="Google Shape;2977;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8" name="Google Shape;2978;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(US.51, DOK 2). Have students commit to an answer (whiteboards, hand signal, or turn-and-talk) BEFORE advancing. Correct answer: B. The next slide reveals it. Why: Used Navajo language to create unbreakable military codes in the Pacific theater. D is incorrect because it describes a different program, event, or idea than the topic in the question. It connects wartime change to the longer struggle for civil rights and equal treatment.</a:t>
            </a:r>
          </a:p>
          <a:p>
            <a:r>
              <a:t>✍ Students: Practice Quiz (Act 6) in the workbook.</a:t>
            </a:r>
          </a:p>
        </p:txBody>
      </p:sp>
      <p:sp>
        <p:nvSpPr>
          <p:cNvPr id="2979" name="Google Shape;2979;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0" name="Shape 3010"/>
        <p:cNvGrpSpPr/>
        <p:nvPr/>
      </p:nvGrpSpPr>
      <p:grpSpPr>
        <a:xfrm>
          <a:off x="0" y="0"/>
          <a:ext cx="0" cy="0"/>
          <a:chOff x="0" y="0"/>
          <a:chExt cx="0" cy="0"/>
        </a:xfrm>
      </p:grpSpPr>
      <p:sp>
        <p:nvSpPr>
          <p:cNvPr id="3011" name="Google Shape;3011;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2" name="Google Shape;3012;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(US.51). Correct: B.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3013" name="Google Shape;3013;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5" name="Google Shape;3045;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(US.51, DOK 2). Prompt: Describe the contributions of two special fighting forces in WWII and one obstacle they overcame.  Model answer: Special units made vital contributions despite discrimination. The Tuskegee Airmen, the first Black military pilots, flew successful escort missions while facing segregation. The Japanese American 442nd Regimental Combat Team became one of the most decorated units in U.S. history even as their families were interned at home. The 101st Airborne parachuted behind enemy lines on D-Day. The Navajo Code Talkers created an unbreakable code from their language, saving countless lives.  RETEACH TRIGGER — if a student misses this exit ticket: (1) &lt;50% of class miss → spiral it into the next standard’s Quick Review opener (see the US.51 review prompts). (2) Individual/small group → reteach with the "Tuskegee Airmen" direct-instruction slide + re-run the SOURCE IT FIRST routine on the US.51 primary source, then assign the paired printable: cornell-notes/unit-6/us51-special-fighting-forces.pdf. (3) Re-assess with the US.51 check-for-understanding reveal slide as a do-now the next day. Reteach anchors (this standard’s sections): Tuskegee Airmen; 442nd Regimental Combat Team; 101st Airborne Division; Navajo Code Talkers; Individual Sacrifice and Legacy. I Can objective: I can identify the roles and sacrifices of individual American soldiers and the unique contributions of special fighting forces such as the Tuskegee Airmen, the 442nd Regimental Combat Team, the 101st Airborne, and the Navajo Code Talkers.  HONORS / EXTENSION (DOK 3, for early finishers or advanced learners): Evaluate: What did the service of these units prove about the injustice of discrimination at home? Argue with evidence. (SSP.04) — look for a clear claim plus two specific pieces of evidence.</a:t>
            </a:r>
            <a:endParaRPr/>
          </a:p>
        </p:txBody>
      </p:sp>
      <p:sp>
        <p:nvSpPr>
          <p:cNvPr id="3046" name="Google Shape;3046;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7" name="Shape 3067"/>
        <p:cNvGrpSpPr/>
        <p:nvPr/>
      </p:nvGrpSpPr>
      <p:grpSpPr>
        <a:xfrm>
          <a:off x="0" y="0"/>
          <a:ext cx="0" cy="0"/>
          <a:chOff x="0" y="0"/>
          <a:chExt cx="0" cy="0"/>
        </a:xfrm>
      </p:grpSpPr>
      <p:sp>
        <p:nvSpPr>
          <p:cNvPr id="3068" name="Google Shape;3068;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9" name="Google Shape;3069;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0" name="Google Shape;3070;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5" name="Shape 3095"/>
        <p:cNvGrpSpPr/>
        <p:nvPr/>
      </p:nvGrpSpPr>
      <p:grpSpPr>
        <a:xfrm>
          <a:off x="0" y="0"/>
          <a:ext cx="0" cy="0"/>
          <a:chOff x="0" y="0"/>
          <a:chExt cx="0" cy="0"/>
        </a:xfrm>
      </p:grpSpPr>
      <p:sp>
        <p:nvSpPr>
          <p:cNvPr id="3096" name="Google Shape;3096;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7" name="Google Shape;3097;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(US.52). Cold-call or whiteboards, 3-4 min, low stakes. Answers — 1) The first African American military pilots, who flew with distinction in WWII and helped prove the case for integrating the armed forces.  2) They used the Navajo language to create an unbreakable battlefield code that the Japanese never deciphered.</a:t>
            </a:r>
            <a:endParaRPr/>
          </a:p>
        </p:txBody>
      </p:sp>
      <p:sp>
        <p:nvSpPr>
          <p:cNvPr id="3098" name="Google Shape;3098;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6" name="Google Shape;3116;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(US.52, DOK 1). 60-90 seconds. Have EVERY student commit (thumbs / whiteboard / choral) before revealing — this secures an early win and surfaces who is shaky before new content. Answer: Rosie the Riveter. Key term to listen for: Rosie the Riveter. This is the low-floor entry; the graded Check for Understanding later in the standard rises to DOK 2–3.</a:t>
            </a:r>
            <a:endParaRPr/>
          </a:p>
        </p:txBody>
      </p:sp>
      <p:sp>
        <p:nvSpPr>
          <p:cNvPr id="3117" name="Google Shape;3117;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6" name="Shape 3136"/>
        <p:cNvGrpSpPr/>
        <p:nvPr/>
      </p:nvGrpSpPr>
      <p:grpSpPr>
        <a:xfrm>
          <a:off x="0" y="0"/>
          <a:ext cx="0" cy="0"/>
          <a:chOff x="0" y="0"/>
          <a:chExt cx="0" cy="0"/>
        </a:xfrm>
      </p:grpSpPr>
      <p:sp>
        <p:nvSpPr>
          <p:cNvPr id="3137" name="Google Shape;313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8" name="Google Shape;3138;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139" name="Google Shape;3139;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3" name="Shape 3153"/>
        <p:cNvGrpSpPr/>
        <p:nvPr/>
      </p:nvGrpSpPr>
      <p:grpSpPr>
        <a:xfrm>
          <a:off x="0" y="0"/>
          <a:ext cx="0" cy="0"/>
          <a:chOff x="0" y="0"/>
          <a:chExt cx="0" cy="0"/>
        </a:xfrm>
      </p:grpSpPr>
      <p:sp>
        <p:nvSpPr>
          <p:cNvPr id="3154" name="Google Shape;3154;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5" name="Google Shape;3155;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(US.52). Show a 'We Can Do It!' style prompt and ask what happens to a workforce when millions of men leave for war. Teach in small steps; pause and check for understanding before the next chunk (aim 80%+ before moving on).</a:t>
            </a:r>
          </a:p>
          <a:p>
            <a:r>
              <a:t>✍ Students: Cornell Notes &amp; Close Read (Act 3–4) in the workbook.</a:t>
            </a:r>
          </a:p>
        </p:txBody>
      </p:sp>
      <p:sp>
        <p:nvSpPr>
          <p:cNvPr id="3156" name="Google Shape;3156;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3" name="Shape 3173"/>
        <p:cNvGrpSpPr/>
        <p:nvPr/>
      </p:nvGrpSpPr>
      <p:grpSpPr>
        <a:xfrm>
          <a:off x="0" y="0"/>
          <a:ext cx="0" cy="0"/>
          <a:chOff x="0" y="0"/>
          <a:chExt cx="0" cy="0"/>
        </a:xfrm>
      </p:grpSpPr>
      <p:sp>
        <p:nvSpPr>
          <p:cNvPr id="3174" name="Google Shape;3174;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5" name="Google Shape;3175;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76" name="Google Shape;3176;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0" name="Shape 3190"/>
        <p:cNvGrpSpPr/>
        <p:nvPr/>
      </p:nvGrpSpPr>
      <p:grpSpPr>
        <a:xfrm>
          <a:off x="0" y="0"/>
          <a:ext cx="0" cy="0"/>
          <a:chOff x="0" y="0"/>
          <a:chExt cx="0" cy="0"/>
        </a:xfrm>
      </p:grpSpPr>
      <p:sp>
        <p:nvSpPr>
          <p:cNvPr id="3191" name="Google Shape;3191;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2" name="Google Shape;3192;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93" name="Google Shape;3193;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0" name="Shape 3210"/>
        <p:cNvGrpSpPr/>
        <p:nvPr/>
      </p:nvGrpSpPr>
      <p:grpSpPr>
        <a:xfrm>
          <a:off x="0" y="0"/>
          <a:ext cx="0" cy="0"/>
          <a:chOff x="0" y="0"/>
          <a:chExt cx="0" cy="0"/>
        </a:xfrm>
      </p:grpSpPr>
      <p:sp>
        <p:nvSpPr>
          <p:cNvPr id="3211" name="Google Shape;3211;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2" name="Google Shape;3212;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213" name="Google Shape;3213;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7" name="Shape 3227"/>
        <p:cNvGrpSpPr/>
        <p:nvPr/>
      </p:nvGrpSpPr>
      <p:grpSpPr>
        <a:xfrm>
          <a:off x="0" y="0"/>
          <a:ext cx="0" cy="0"/>
          <a:chOff x="0" y="0"/>
          <a:chExt cx="0" cy="0"/>
        </a:xfrm>
      </p:grpSpPr>
      <p:sp>
        <p:nvSpPr>
          <p:cNvPr id="3228" name="Google Shape;322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9" name="Google Shape;322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0" name="Google Shape;323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4" name="Shape 3244"/>
        <p:cNvGrpSpPr/>
        <p:nvPr/>
      </p:nvGrpSpPr>
      <p:grpSpPr>
        <a:xfrm>
          <a:off x="0" y="0"/>
          <a:ext cx="0" cy="0"/>
          <a:chOff x="0" y="0"/>
          <a:chExt cx="0" cy="0"/>
        </a:xfrm>
      </p:grpSpPr>
      <p:sp>
        <p:nvSpPr>
          <p:cNvPr id="3245" name="Google Shape;3245;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6" name="Google Shape;3246;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War Production Board) WHEN? (1943)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247" name="Google Shape;3247;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0" name="Shape 3280"/>
        <p:cNvGrpSpPr/>
        <p:nvPr/>
      </p:nvGrpSpPr>
      <p:grpSpPr>
        <a:xfrm>
          <a:off x="0" y="0"/>
          <a:ext cx="0" cy="0"/>
          <a:chOff x="0" y="0"/>
          <a:chExt cx="0" cy="0"/>
        </a:xfrm>
      </p:grpSpPr>
      <p:sp>
        <p:nvSpPr>
          <p:cNvPr id="3281" name="Google Shape;3281;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2" name="Google Shape;3282;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283" name="Google Shape;3283;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9" name="Shape 3339"/>
        <p:cNvGrpSpPr/>
        <p:nvPr/>
      </p:nvGrpSpPr>
      <p:grpSpPr>
        <a:xfrm>
          <a:off x="0" y="0"/>
          <a:ext cx="0" cy="0"/>
          <a:chOff x="0" y="0"/>
          <a:chExt cx="0" cy="0"/>
        </a:xfrm>
      </p:grpSpPr>
      <p:sp>
        <p:nvSpPr>
          <p:cNvPr id="3340" name="Google Shape;3340;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1" name="Google Shape;3341;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(US.52). Skill modeled: Analyze wartime social change. Model the worked example aloud using the THINK ALOUD as your script, then release students to the activity ("Predict one lasting effect of this change and support it with the text."). This is the I Do → We Do → You Do bridge — do not skip it; aim for 80%+ success before independent work.</a:t>
            </a:r>
            <a:endParaRPr/>
          </a:p>
        </p:txBody>
      </p:sp>
      <p:sp>
        <p:nvSpPr>
          <p:cNvPr id="3342" name="Google Shape;3342;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0" name="Shape 3360"/>
        <p:cNvGrpSpPr/>
        <p:nvPr/>
      </p:nvGrpSpPr>
      <p:grpSpPr>
        <a:xfrm>
          <a:off x="0" y="0"/>
          <a:ext cx="0" cy="0"/>
          <a:chOff x="0" y="0"/>
          <a:chExt cx="0" cy="0"/>
        </a:xfrm>
      </p:grpSpPr>
      <p:sp>
        <p:nvSpPr>
          <p:cNvPr id="3361" name="Google Shape;3361;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2" name="Google Shape;3362;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US.52. Pair with the printable: cornell-notes/unit-6/us52-women-in-wwii.pdf. Timing: 15. Deliverable: Completed three-part organizer (why / challenges-opportunities / long-term effects, 2+ each) AND a one-sentence evidence-based claim about lasting change.</a:t>
            </a:r>
          </a:p>
          <a:p>
            <a:r>
              <a:t>✍ Students: Constructed Response (Act 7) in the workbook.</a:t>
            </a:r>
          </a:p>
        </p:txBody>
      </p:sp>
      <p:sp>
        <p:nvSpPr>
          <p:cNvPr id="3363" name="Google Shape;3363;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4" name="Shape 3384"/>
        <p:cNvGrpSpPr/>
        <p:nvPr/>
      </p:nvGrpSpPr>
      <p:grpSpPr>
        <a:xfrm>
          <a:off x="0" y="0"/>
          <a:ext cx="0" cy="0"/>
          <a:chOff x="0" y="0"/>
          <a:chExt cx="0" cy="0"/>
        </a:xfrm>
      </p:grpSpPr>
      <p:sp>
        <p:nvSpPr>
          <p:cNvPr id="3385" name="Google Shape;3385;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6" name="Google Shape;3386;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(US.52, DOK 2). Have students commit to an answer (whiteboards, hand signal, or turn-and-talk) BEFORE advancing. Correct answer: D. The next slide reveals it. Why: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p>
          <a:p>
            <a:r>
              <a:t>✍ Students: Practice Quiz (Act 6) in the workbook.</a:t>
            </a:r>
          </a:p>
        </p:txBody>
      </p:sp>
      <p:sp>
        <p:nvSpPr>
          <p:cNvPr id="3387" name="Google Shape;3387;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8" name="Shape 3418"/>
        <p:cNvGrpSpPr/>
        <p:nvPr/>
      </p:nvGrpSpPr>
      <p:grpSpPr>
        <a:xfrm>
          <a:off x="0" y="0"/>
          <a:ext cx="0" cy="0"/>
          <a:chOff x="0" y="0"/>
          <a:chExt cx="0" cy="0"/>
        </a:xfrm>
      </p:grpSpPr>
      <p:sp>
        <p:nvSpPr>
          <p:cNvPr id="3419" name="Google Shape;3419;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0" name="Google Shape;3420;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(US.52). Correct: D.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421" name="Google Shape;3421;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1" name="Shape 3451"/>
        <p:cNvGrpSpPr/>
        <p:nvPr/>
      </p:nvGrpSpPr>
      <p:grpSpPr>
        <a:xfrm>
          <a:off x="0" y="0"/>
          <a:ext cx="0" cy="0"/>
          <a:chOff x="0" y="0"/>
          <a:chExt cx="0" cy="0"/>
        </a:xfrm>
      </p:grpSpPr>
      <p:sp>
        <p:nvSpPr>
          <p:cNvPr id="3452" name="Google Shape;3452;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3" name="Google Shape;3453;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(US.52, DOK 2). Prompt: Explain why large numbers of women entered the workforce during WWII and one lasting effect.  Model answer: As millions of men joined the military, industry faced a labor shortage, so women were recruited into factories, shipyards, and defense plants, symbolized by 'Rosie the Riveter,' and many joined the armed forces in support roles. Their work was essential to war production. Although many were pushed out when the men returned, the experience challenged old ideas about women's abilities and helped lay the groundwork for later movements for women's rights and workplace equality.  RETEACH TRIGGER — if a student misses this exit ticket: (1) &lt;50% of class miss → spiral it into the next standard’s Quick Review opener (see the US.52 review prompts). (2) Individual/small group → reteach with the "Factors Leading to Women's Participation" direct-instruction slide + re-run the SOURCE IT FIRST routine on the US.52 primary source, then assign the paired printable: cornell-notes/unit-6/us52-women-in-wwii.pdf. (3) Re-assess with the US.52 check-for-understanding reveal slide as a do-now the next day. Reteach anchors (this standard’s sections): Factors Leading to Women's Participation; Challenges and Opportunities; Impact on Production and Economy; Long-term Effects on Society. I Can objective: I can examine and explain the entry of large numbers of women into the workforce and armed forces during World War II and the subsequent impact on American society.  HONORS / EXTENSION (DOK 3, for early finishers or advanced learners): Evaluate: Did WWII permanently change women's place in American society, or only temporarily? Argue with evidence. (SSP.04) — look for a clear claim plus two specific pieces of evidence.</a:t>
            </a:r>
            <a:endParaRPr/>
          </a:p>
        </p:txBody>
      </p:sp>
      <p:sp>
        <p:nvSpPr>
          <p:cNvPr id="3454" name="Google Shape;3454;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5" name="Shape 3475"/>
        <p:cNvGrpSpPr/>
        <p:nvPr/>
      </p:nvGrpSpPr>
      <p:grpSpPr>
        <a:xfrm>
          <a:off x="0" y="0"/>
          <a:ext cx="0" cy="0"/>
          <a:chOff x="0" y="0"/>
          <a:chExt cx="0" cy="0"/>
        </a:xfrm>
      </p:grpSpPr>
      <p:sp>
        <p:nvSpPr>
          <p:cNvPr id="3476" name="Google Shape;3476;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7" name="Google Shape;3477;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8" name="Google Shape;3478;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3" name="Shape 3503"/>
        <p:cNvGrpSpPr/>
        <p:nvPr/>
      </p:nvGrpSpPr>
      <p:grpSpPr>
        <a:xfrm>
          <a:off x="0" y="0"/>
          <a:ext cx="0" cy="0"/>
          <a:chOff x="0" y="0"/>
          <a:chExt cx="0" cy="0"/>
        </a:xfrm>
      </p:grpSpPr>
      <p:sp>
        <p:nvSpPr>
          <p:cNvPr id="3504" name="Google Shape;3504;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5" name="Google Shape;3505;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(US.53). Cold-call or whiteboards, 3-4 min, low stakes. Answers — 1) The millions of American women who took factory and defense jobs during WWII, symbolizing women's vital wartime work.  2) It challenged old ideas about women's roles and helped lay groundwork for later movements for women's rights and workplace equality.</a:t>
            </a:r>
            <a:endParaRPr/>
          </a:p>
        </p:txBody>
      </p:sp>
      <p:sp>
        <p:nvSpPr>
          <p:cNvPr id="3506" name="Google Shape;3506;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2" name="Shape 3522"/>
        <p:cNvGrpSpPr/>
        <p:nvPr/>
      </p:nvGrpSpPr>
      <p:grpSpPr>
        <a:xfrm>
          <a:off x="0" y="0"/>
          <a:ext cx="0" cy="0"/>
          <a:chOff x="0" y="0"/>
          <a:chExt cx="0" cy="0"/>
        </a:xfrm>
      </p:grpSpPr>
      <p:sp>
        <p:nvSpPr>
          <p:cNvPr id="3523" name="Google Shape;3523;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4" name="Google Shape;3524;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(US.53, DOK 1). 60-90 seconds. Have EVERY student commit (thumbs / whiteboard / choral) before revealing — this secures an early win and surfaces who is shaky before new content. Answer: Executive Order 8802. Key term to listen for: Executive Order 8802. This is the low-floor entry; the graded Check for Understanding later in the standard rises to DOK 2–3.</a:t>
            </a:r>
            <a:endParaRPr/>
          </a:p>
        </p:txBody>
      </p:sp>
      <p:sp>
        <p:nvSpPr>
          <p:cNvPr id="3525" name="Google Shape;3525;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4" name="Shape 3544"/>
        <p:cNvGrpSpPr/>
        <p:nvPr/>
      </p:nvGrpSpPr>
      <p:grpSpPr>
        <a:xfrm>
          <a:off x="0" y="0"/>
          <a:ext cx="0" cy="0"/>
          <a:chOff x="0" y="0"/>
          <a:chExt cx="0" cy="0"/>
        </a:xfrm>
      </p:grpSpPr>
      <p:sp>
        <p:nvSpPr>
          <p:cNvPr id="3545" name="Google Shape;3545;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6" name="Google Shape;3546;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547" name="Google Shape;3547;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1" name="Shape 3561"/>
        <p:cNvGrpSpPr/>
        <p:nvPr/>
      </p:nvGrpSpPr>
      <p:grpSpPr>
        <a:xfrm>
          <a:off x="0" y="0"/>
          <a:ext cx="0" cy="0"/>
          <a:chOff x="0" y="0"/>
          <a:chExt cx="0" cy="0"/>
        </a:xfrm>
      </p:grpSpPr>
      <p:sp>
        <p:nvSpPr>
          <p:cNvPr id="3562" name="Google Shape;3562;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3" name="Google Shape;3563;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(US.53). Write 'Double V' on the board and ask: two victories - over what, and where? Teach in small steps; pause and check for understanding before the next chunk (aim 80%+ before moving on).</a:t>
            </a:r>
          </a:p>
          <a:p>
            <a:r>
              <a:t>✍ Students: Cornell Notes &amp; Close Read (Act 3–4) in the workbook.</a:t>
            </a:r>
          </a:p>
        </p:txBody>
      </p:sp>
      <p:sp>
        <p:nvSpPr>
          <p:cNvPr id="3564" name="Google Shape;3564;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6" name="Shape 3586"/>
        <p:cNvGrpSpPr/>
        <p:nvPr/>
      </p:nvGrpSpPr>
      <p:grpSpPr>
        <a:xfrm>
          <a:off x="0" y="0"/>
          <a:ext cx="0" cy="0"/>
          <a:chOff x="0" y="0"/>
          <a:chExt cx="0" cy="0"/>
        </a:xfrm>
      </p:grpSpPr>
      <p:sp>
        <p:nvSpPr>
          <p:cNvPr id="3587" name="Google Shape;3587;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8" name="Google Shape;3588;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589" name="Google Shape;3589;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3" name="Shape 3603"/>
        <p:cNvGrpSpPr/>
        <p:nvPr/>
      </p:nvGrpSpPr>
      <p:grpSpPr>
        <a:xfrm>
          <a:off x="0" y="0"/>
          <a:ext cx="0" cy="0"/>
          <a:chOff x="0" y="0"/>
          <a:chExt cx="0" cy="0"/>
        </a:xfrm>
      </p:grpSpPr>
      <p:sp>
        <p:nvSpPr>
          <p:cNvPr id="3604" name="Google Shape;3604;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5" name="Google Shape;3605;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06" name="Google Shape;3606;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0" name="Shape 3620"/>
        <p:cNvGrpSpPr/>
        <p:nvPr/>
      </p:nvGrpSpPr>
      <p:grpSpPr>
        <a:xfrm>
          <a:off x="0" y="0"/>
          <a:ext cx="0" cy="0"/>
          <a:chOff x="0" y="0"/>
          <a:chExt cx="0" cy="0"/>
        </a:xfrm>
      </p:grpSpPr>
      <p:sp>
        <p:nvSpPr>
          <p:cNvPr id="3621" name="Google Shape;3621;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2" name="Google Shape;3622;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23" name="Google Shape;3623;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7" name="Shape 3637"/>
        <p:cNvGrpSpPr/>
        <p:nvPr/>
      </p:nvGrpSpPr>
      <p:grpSpPr>
        <a:xfrm>
          <a:off x="0" y="0"/>
          <a:ext cx="0" cy="0"/>
          <a:chOff x="0" y="0"/>
          <a:chExt cx="0" cy="0"/>
        </a:xfrm>
      </p:grpSpPr>
      <p:sp>
        <p:nvSpPr>
          <p:cNvPr id="3638" name="Google Shape;3638;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9" name="Google Shape;3639;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40" name="Google Shape;3640;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1" name="Shape 3661"/>
        <p:cNvGrpSpPr/>
        <p:nvPr/>
      </p:nvGrpSpPr>
      <p:grpSpPr>
        <a:xfrm>
          <a:off x="0" y="0"/>
          <a:ext cx="0" cy="0"/>
          <a:chOff x="0" y="0"/>
          <a:chExt cx="0" cy="0"/>
        </a:xfrm>
      </p:grpSpPr>
      <p:sp>
        <p:nvSpPr>
          <p:cNvPr id="3662" name="Google Shape;3662;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3" name="Google Shape;3663;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(June 25,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664" name="Google Shape;3664;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7" name="Shape 3697"/>
        <p:cNvGrpSpPr/>
        <p:nvPr/>
      </p:nvGrpSpPr>
      <p:grpSpPr>
        <a:xfrm>
          <a:off x="0" y="0"/>
          <a:ext cx="0" cy="0"/>
          <a:chOff x="0" y="0"/>
          <a:chExt cx="0" cy="0"/>
        </a:xfrm>
      </p:grpSpPr>
      <p:sp>
        <p:nvSpPr>
          <p:cNvPr id="3698" name="Google Shape;3698;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9" name="Google Shape;3699;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00" name="Google Shape;3700;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6" name="Shape 3756"/>
        <p:cNvGrpSpPr/>
        <p:nvPr/>
      </p:nvGrpSpPr>
      <p:grpSpPr>
        <a:xfrm>
          <a:off x="0" y="0"/>
          <a:ext cx="0" cy="0"/>
          <a:chOff x="0" y="0"/>
          <a:chExt cx="0" cy="0"/>
        </a:xfrm>
      </p:grpSpPr>
      <p:sp>
        <p:nvSpPr>
          <p:cNvPr id="3757" name="Google Shape;3757;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8" name="Google Shape;3758;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(US.53). Skill modeled: Connect service to civil-rights claims. Model the worked example aloud using the THINK ALOUD as your script, then release students to the activity ("Explain how wartime service strengthened postwar civil-rights arguments."). This is the I Do → We Do → You Do bridge — do not skip it; aim for 80%+ success before independent work.</a:t>
            </a:r>
            <a:endParaRPr/>
          </a:p>
        </p:txBody>
      </p:sp>
      <p:sp>
        <p:nvSpPr>
          <p:cNvPr id="3759" name="Google Shape;3759;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7" name="Shape 3777"/>
        <p:cNvGrpSpPr/>
        <p:nvPr/>
      </p:nvGrpSpPr>
      <p:grpSpPr>
        <a:xfrm>
          <a:off x="0" y="0"/>
          <a:ext cx="0" cy="0"/>
          <a:chOff x="0" y="0"/>
          <a:chExt cx="0" cy="0"/>
        </a:xfrm>
      </p:grpSpPr>
      <p:sp>
        <p:nvSpPr>
          <p:cNvPr id="3778" name="Google Shape;3778;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9" name="Google Shape;3779;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US.53. Pair with the printable: cornell-notes/unit-6/us53-african-americans-wwii.pdf. Timing: 15. Deliverable: Completed four-development chart (one-sentence significance each) AND a one-sentence evidence-based claim linking WWII to civil rights.</a:t>
            </a:r>
          </a:p>
          <a:p>
            <a:r>
              <a:t>✍ Students: Constructed Response (Act 7) in the workbook.</a:t>
            </a:r>
          </a:p>
        </p:txBody>
      </p:sp>
      <p:sp>
        <p:nvSpPr>
          <p:cNvPr id="3780" name="Google Shape;3780;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1" name="Shape 3801"/>
        <p:cNvGrpSpPr/>
        <p:nvPr/>
      </p:nvGrpSpPr>
      <p:grpSpPr>
        <a:xfrm>
          <a:off x="0" y="0"/>
          <a:ext cx="0" cy="0"/>
          <a:chOff x="0" y="0"/>
          <a:chExt cx="0" cy="0"/>
        </a:xfrm>
      </p:grpSpPr>
      <p:sp>
        <p:nvSpPr>
          <p:cNvPr id="3802" name="Google Shape;3802;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3" name="Google Shape;3803;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(US.53, DOK 2). Have students commit to an answer (whiteboards, hand signal, or turn-and-talk) BEFORE advancing. Correct answer: A. The next slide reveals it. Why: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p>
          <a:p>
            <a:r>
              <a:t>✍ Students: Practice Quiz (Act 6) in the workbook.</a:t>
            </a:r>
          </a:p>
        </p:txBody>
      </p:sp>
      <p:sp>
        <p:nvSpPr>
          <p:cNvPr id="3804" name="Google Shape;3804;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5" name="Shape 3835"/>
        <p:cNvGrpSpPr/>
        <p:nvPr/>
      </p:nvGrpSpPr>
      <p:grpSpPr>
        <a:xfrm>
          <a:off x="0" y="0"/>
          <a:ext cx="0" cy="0"/>
          <a:chOff x="0" y="0"/>
          <a:chExt cx="0" cy="0"/>
        </a:xfrm>
      </p:grpSpPr>
      <p:sp>
        <p:nvSpPr>
          <p:cNvPr id="3836" name="Google Shape;383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7" name="Google Shape;383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(US.53). Correct: A.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38" name="Google Shape;383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8" name="Shape 3868"/>
        <p:cNvGrpSpPr/>
        <p:nvPr/>
      </p:nvGrpSpPr>
      <p:grpSpPr>
        <a:xfrm>
          <a:off x="0" y="0"/>
          <a:ext cx="0" cy="0"/>
          <a:chOff x="0" y="0"/>
          <a:chExt cx="0" cy="0"/>
        </a:xfrm>
      </p:grpSpPr>
      <p:sp>
        <p:nvSpPr>
          <p:cNvPr id="3869" name="Google Shape;3869;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0" name="Google Shape;3870;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(US.53, DOK 2). Prompt: Explain how WWII changed economic and social conditions for African Americans. Give at least two specific examples.  Model answer: WWII opened new opportunities and fueled activism. The Second Great Migration drew millions of African Americans north and west for defense jobs. The Double V campaign demanded victory over the Axis abroad and racism at home. Pressure led FDR to issue Executive Order 8802, banning discrimination in defense industries and creating the FEPC. In 1948, President Truman ordered the integration of the armed forces, a major step toward civil rights.  RETEACH TRIGGER — if a student misses this exit ticket: (1) &lt;50% of class miss → spiral it into the next standard’s Quick Review opener (see the US.53 review prompts). (2) Individual/small group → reteach with the "Second Great Migration and Economic Opportunities" direct-instruction slide + re-run the SOURCE IT FIRST routine on the US.53 primary source, then assign the paired printable: cornell-notes/unit-6/us53-african-americans-wwii.pdf. (3) Re-assess with the US.53 check-for-understanding reveal slide as a do-now the next day. Reteach anchors (this standard’s sections): Second Great Migration and Economic Opportunities; Double V Campaign and Wartime Experiences; Fair Employment Practices Committee (FEPC); Integration of Armed Forces. I Can objective: I can examine the impact of World War II on economic and social conditions for African Americans, including the Fair Employment Practices Committee and the eventual integration of the armed forces by President Truman.  HONORS / EXTENSION (DOK 3, for early finishers or advanced learners): Evaluate: How did fighting Nazi racism abroad push the U.S. to confront racism at home? Argue with evidence. (SSP.04) — look for a clear claim plus two specific pieces of evidence.</a:t>
            </a:r>
            <a:endParaRPr/>
          </a:p>
        </p:txBody>
      </p:sp>
      <p:sp>
        <p:nvSpPr>
          <p:cNvPr id="3871" name="Google Shape;3871;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2" name="Shape 3892"/>
        <p:cNvGrpSpPr/>
        <p:nvPr/>
      </p:nvGrpSpPr>
      <p:grpSpPr>
        <a:xfrm>
          <a:off x="0" y="0"/>
          <a:ext cx="0" cy="0"/>
          <a:chOff x="0" y="0"/>
          <a:chExt cx="0" cy="0"/>
        </a:xfrm>
      </p:grpSpPr>
      <p:sp>
        <p:nvSpPr>
          <p:cNvPr id="3893" name="Google Shape;3893;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4" name="Google Shape;3894;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5" name="Google Shape;3895;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0" name="Shape 3920"/>
        <p:cNvGrpSpPr/>
        <p:nvPr/>
      </p:nvGrpSpPr>
      <p:grpSpPr>
        <a:xfrm>
          <a:off x="0" y="0"/>
          <a:ext cx="0" cy="0"/>
          <a:chOff x="0" y="0"/>
          <a:chExt cx="0" cy="0"/>
        </a:xfrm>
      </p:grpSpPr>
      <p:sp>
        <p:nvSpPr>
          <p:cNvPr id="3921" name="Google Shape;3921;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2" name="Google Shape;3922;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(US.54). Cold-call or whiteboards, 3-4 min, low stakes. Answers — 1) An African American wartime campaign for two victories, over the Axis abroad and over racism and discrimination at home.  2) It banned racial discrimination in defense industries and created the Fair Employment Practices Committee (FEPC).</a:t>
            </a:r>
            <a:endParaRPr/>
          </a:p>
        </p:txBody>
      </p:sp>
      <p:sp>
        <p:nvSpPr>
          <p:cNvPr id="3923" name="Google Shape;3923;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9" name="Shape 3939"/>
        <p:cNvGrpSpPr/>
        <p:nvPr/>
      </p:nvGrpSpPr>
      <p:grpSpPr>
        <a:xfrm>
          <a:off x="0" y="0"/>
          <a:ext cx="0" cy="0"/>
          <a:chOff x="0" y="0"/>
          <a:chExt cx="0" cy="0"/>
        </a:xfrm>
      </p:grpSpPr>
      <p:sp>
        <p:nvSpPr>
          <p:cNvPr id="3940" name="Google Shape;3940;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1" name="Google Shape;3941;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(US.54, DOK 1). 60-90 seconds. Have EVERY student commit (thumbs / whiteboard / choral) before revealing — this secures an early win and surfaces who is shaky before new content. Answer: Japanese Americans, most of them U.S. citizens. Key term to listen for: Japanese Internment. This is the low-floor entry; the graded Check for Understanding later in the standard rises to DOK 2–3.</a:t>
            </a:r>
            <a:endParaRPr/>
          </a:p>
        </p:txBody>
      </p:sp>
      <p:sp>
        <p:nvSpPr>
          <p:cNvPr id="3942" name="Google Shape;3942;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1" name="Shape 3961"/>
        <p:cNvGrpSpPr/>
        <p:nvPr/>
      </p:nvGrpSpPr>
      <p:grpSpPr>
        <a:xfrm>
          <a:off x="0" y="0"/>
          <a:ext cx="0" cy="0"/>
          <a:chOff x="0" y="0"/>
          <a:chExt cx="0" cy="0"/>
        </a:xfrm>
      </p:grpSpPr>
      <p:sp>
        <p:nvSpPr>
          <p:cNvPr id="3962" name="Google Shape;3962;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3" name="Google Shape;3963;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964" name="Google Shape;3964;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8" name="Shape 3978"/>
        <p:cNvGrpSpPr/>
        <p:nvPr/>
      </p:nvGrpSpPr>
      <p:grpSpPr>
        <a:xfrm>
          <a:off x="0" y="0"/>
          <a:ext cx="0" cy="0"/>
          <a:chOff x="0" y="0"/>
          <a:chExt cx="0" cy="0"/>
        </a:xfrm>
      </p:grpSpPr>
      <p:sp>
        <p:nvSpPr>
          <p:cNvPr id="3979" name="Google Shape;3979;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0" name="Google Shape;3980;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(US.54). Ask: in a national emergency, can the government suspend the rights of its own citizens? Then meet Executive Order 9066. Teach in small steps; pause and check for understanding before the next chunk (aim 80%+ before moving on).</a:t>
            </a:r>
          </a:p>
          <a:p>
            <a:r>
              <a:t>✍ Students: Cornell Notes &amp; Close Read (Act 3–4) in the workbook.</a:t>
            </a:r>
          </a:p>
        </p:txBody>
      </p:sp>
      <p:sp>
        <p:nvSpPr>
          <p:cNvPr id="3981" name="Google Shape;3981;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3" name="Shape 4003"/>
        <p:cNvGrpSpPr/>
        <p:nvPr/>
      </p:nvGrpSpPr>
      <p:grpSpPr>
        <a:xfrm>
          <a:off x="0" y="0"/>
          <a:ext cx="0" cy="0"/>
          <a:chOff x="0" y="0"/>
          <a:chExt cx="0" cy="0"/>
        </a:xfrm>
      </p:grpSpPr>
      <p:sp>
        <p:nvSpPr>
          <p:cNvPr id="4004" name="Google Shape;4004;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5" name="Google Shape;4005;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06" name="Google Shape;4006;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0" name="Shape 4020"/>
        <p:cNvGrpSpPr/>
        <p:nvPr/>
      </p:nvGrpSpPr>
      <p:grpSpPr>
        <a:xfrm>
          <a:off x="0" y="0"/>
          <a:ext cx="0" cy="0"/>
          <a:chOff x="0" y="0"/>
          <a:chExt cx="0" cy="0"/>
        </a:xfrm>
      </p:grpSpPr>
      <p:sp>
        <p:nvSpPr>
          <p:cNvPr id="4021" name="Google Shape;4021;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2" name="Google Shape;4022;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23" name="Google Shape;4023;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7" name="Shape 4037"/>
        <p:cNvGrpSpPr/>
        <p:nvPr/>
      </p:nvGrpSpPr>
      <p:grpSpPr>
        <a:xfrm>
          <a:off x="0" y="0"/>
          <a:ext cx="0" cy="0"/>
          <a:chOff x="0" y="0"/>
          <a:chExt cx="0" cy="0"/>
        </a:xfrm>
      </p:grpSpPr>
      <p:sp>
        <p:nvSpPr>
          <p:cNvPr id="4038" name="Google Shape;4038;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9" name="Google Shape;4039;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40" name="Google Shape;4040;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4" name="Shape 4054"/>
        <p:cNvGrpSpPr/>
        <p:nvPr/>
      </p:nvGrpSpPr>
      <p:grpSpPr>
        <a:xfrm>
          <a:off x="0" y="0"/>
          <a:ext cx="0" cy="0"/>
          <a:chOff x="0" y="0"/>
          <a:chExt cx="0" cy="0"/>
        </a:xfrm>
      </p:grpSpPr>
      <p:sp>
        <p:nvSpPr>
          <p:cNvPr id="4055" name="Google Shape;4055;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6" name="Google Shape;4056;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7" name="Google Shape;4057;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8" name="Shape 4078"/>
        <p:cNvGrpSpPr/>
        <p:nvPr/>
      </p:nvGrpSpPr>
      <p:grpSpPr>
        <a:xfrm>
          <a:off x="0" y="0"/>
          <a:ext cx="0" cy="0"/>
          <a:chOff x="0" y="0"/>
          <a:chExt cx="0" cy="0"/>
        </a:xfrm>
      </p:grpSpPr>
      <p:sp>
        <p:nvSpPr>
          <p:cNvPr id="4079" name="Google Shape;407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0" name="Google Shape;408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(February 19, 1942)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081" name="Google Shape;408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4" name="Shape 4114"/>
        <p:cNvGrpSpPr/>
        <p:nvPr/>
      </p:nvGrpSpPr>
      <p:grpSpPr>
        <a:xfrm>
          <a:off x="0" y="0"/>
          <a:ext cx="0" cy="0"/>
          <a:chOff x="0" y="0"/>
          <a:chExt cx="0" cy="0"/>
        </a:xfrm>
      </p:grpSpPr>
      <p:sp>
        <p:nvSpPr>
          <p:cNvPr id="4115" name="Google Shape;4115;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6" name="Google Shape;4116;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117" name="Google Shape;4117;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3" name="Shape 4173"/>
        <p:cNvGrpSpPr/>
        <p:nvPr/>
      </p:nvGrpSpPr>
      <p:grpSpPr>
        <a:xfrm>
          <a:off x="0" y="0"/>
          <a:ext cx="0" cy="0"/>
          <a:chOff x="0" y="0"/>
          <a:chExt cx="0" cy="0"/>
        </a:xfrm>
      </p:grpSpPr>
      <p:sp>
        <p:nvSpPr>
          <p:cNvPr id="4174" name="Google Shape;4174;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5" name="Google Shape;4175;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(US.54). Skill modeled: Build a constitutional argument. Model the worked example aloud using the THINK ALOUD as your script, then release students to the activity ("State your position and support it with a specific quote."). This is the I Do → We Do → You Do bridge — do not skip it; aim for 80%+ success before independent work.</a:t>
            </a:r>
            <a:endParaRPr/>
          </a:p>
        </p:txBody>
      </p:sp>
      <p:sp>
        <p:nvSpPr>
          <p:cNvPr id="4176" name="Google Shape;4176;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4" name="Shape 4194"/>
        <p:cNvGrpSpPr/>
        <p:nvPr/>
      </p:nvGrpSpPr>
      <p:grpSpPr>
        <a:xfrm>
          <a:off x="0" y="0"/>
          <a:ext cx="0" cy="0"/>
          <a:chOff x="0" y="0"/>
          <a:chExt cx="0" cy="0"/>
        </a:xfrm>
      </p:grpSpPr>
      <p:sp>
        <p:nvSpPr>
          <p:cNvPr id="4195" name="Google Shape;4195;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6" name="Google Shape;4196;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US.54. Pair with the printable: cornell-notes/unit-6/us54-japanese-internment-korematsu.pdf. Timing: 15. Deliverable: Completed four-part organizer (order / constitutional issues / Korematsu ruling / impact, one detail each) AND a one-sentence evidence-based claim about rights and security.</a:t>
            </a:r>
          </a:p>
          <a:p>
            <a:r>
              <a:t>✍ Students: Constructed Response (Act 7) in the workbook.</a:t>
            </a:r>
          </a:p>
        </p:txBody>
      </p:sp>
      <p:sp>
        <p:nvSpPr>
          <p:cNvPr id="4197" name="Google Shape;4197;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8" name="Shape 4218"/>
        <p:cNvGrpSpPr/>
        <p:nvPr/>
      </p:nvGrpSpPr>
      <p:grpSpPr>
        <a:xfrm>
          <a:off x="0" y="0"/>
          <a:ext cx="0" cy="0"/>
          <a:chOff x="0" y="0"/>
          <a:chExt cx="0" cy="0"/>
        </a:xfrm>
      </p:grpSpPr>
      <p:sp>
        <p:nvSpPr>
          <p:cNvPr id="4219" name="Google Shape;4219;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0" name="Google Shape;4220;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(US.54, DOK 2). Have students commit to an answer (whiteboards, hand signal, or turn-and-talk) BEFORE advancing. Correct answer: C. The next slide reveals it. Why: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p>
          <a:p>
            <a:r>
              <a:t>✍ Students: Practice Quiz (Act 6) in the workbook.</a:t>
            </a:r>
          </a:p>
        </p:txBody>
      </p:sp>
      <p:sp>
        <p:nvSpPr>
          <p:cNvPr id="4221" name="Google Shape;4221;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2" name="Shape 4252"/>
        <p:cNvGrpSpPr/>
        <p:nvPr/>
      </p:nvGrpSpPr>
      <p:grpSpPr>
        <a:xfrm>
          <a:off x="0" y="0"/>
          <a:ext cx="0" cy="0"/>
          <a:chOff x="0" y="0"/>
          <a:chExt cx="0" cy="0"/>
        </a:xfrm>
      </p:grpSpPr>
      <p:sp>
        <p:nvSpPr>
          <p:cNvPr id="4253" name="Google Shape;4253;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4" name="Google Shape;4254;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(US.54). Correct: C.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55" name="Google Shape;4255;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5" name="Shape 4285"/>
        <p:cNvGrpSpPr/>
        <p:nvPr/>
      </p:nvGrpSpPr>
      <p:grpSpPr>
        <a:xfrm>
          <a:off x="0" y="0"/>
          <a:ext cx="0" cy="0"/>
          <a:chOff x="0" y="0"/>
          <a:chExt cx="0" cy="0"/>
        </a:xfrm>
      </p:grpSpPr>
      <p:sp>
        <p:nvSpPr>
          <p:cNvPr id="4286" name="Google Shape;4286;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7" name="Google Shape;4287;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(US.54, DOK 2). Prompt: Describe the internment of Japanese Americans and the constitutional issues it raised, including Korematsu v. United States.  Model answer: After Pearl Harbor, Executive Order 9066 authorized the forced removal of more than 110,000 Japanese Americans, most U.S. citizens, into internment camps, without trials or evidence of disloyalty. This raised grave constitutional issues about due process and equal protection. In Korematsu v. United States (1944), the Supreme Court upheld the internment as a wartime necessity, a ruling later condemned as a serious injustice; in 1988 the government formally apologized and paid reparations.  RETEACH TRIGGER — if a student misses this exit ticket: (1) &lt;50% of class miss → spiral it into the next standard’s Quick Review opener (see the US.54 review prompts). (2) Individual/small group → reteach with the "Executive Order 9066 and Internment" direct-instruction slide + re-run the SOURCE IT FIRST routine on the US.54 primary source, then assign the paired printable: cornell-notes/unit-6/us54-japanese-internment-korematsu.pdf. (3) Re-assess with the US.54 check-for-understanding reveal slide as a do-now the next day. Reteach anchors (this standard’s sections): Executive Order 9066 and Internment; Constitutional Issues; Korematsu v. United States (1944); Impact and Historical Lessons. I Can objective: I can describe the constitutional issues and impact of the internment of Japanese Americans on the U.S., including the Fred Korematsu v. United States of America decision.  HONORS / EXTENSION (DOK 3, for early finishers or advanced learners): Evaluate: When, if ever, can national security justify limiting the rights of citizens? Defend your position with evidence. (SSP.04) — look for a clear claim plus two specific pieces of evidence.</a:t>
            </a:r>
            <a:endParaRPr/>
          </a:p>
        </p:txBody>
      </p:sp>
      <p:sp>
        <p:nvSpPr>
          <p:cNvPr id="4288" name="Google Shape;4288;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9" name="Shape 4309"/>
        <p:cNvGrpSpPr/>
        <p:nvPr/>
      </p:nvGrpSpPr>
      <p:grpSpPr>
        <a:xfrm>
          <a:off x="0" y="0"/>
          <a:ext cx="0" cy="0"/>
          <a:chOff x="0" y="0"/>
          <a:chExt cx="0" cy="0"/>
        </a:xfrm>
      </p:grpSpPr>
      <p:sp>
        <p:nvSpPr>
          <p:cNvPr id="4310" name="Google Shape;4310;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1" name="Google Shape;4311;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2" name="Google Shape;4312;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7" name="Shape 4337"/>
        <p:cNvGrpSpPr/>
        <p:nvPr/>
      </p:nvGrpSpPr>
      <p:grpSpPr>
        <a:xfrm>
          <a:off x="0" y="0"/>
          <a:ext cx="0" cy="0"/>
          <a:chOff x="0" y="0"/>
          <a:chExt cx="0" cy="0"/>
        </a:xfrm>
      </p:grpSpPr>
      <p:sp>
        <p:nvSpPr>
          <p:cNvPr id="4338" name="Google Shape;4338;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9" name="Google Shape;4339;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(US.55). Cold-call or whiteboards, 3-4 min, low stakes. Answers — 1) The forced removal and internment of more than 110,000 Japanese Americans, most of them U.S. citizens, from the West Coast.  2) It upheld the internment as a wartime necessity, a decision later widely condemned as a grave injustice.</a:t>
            </a:r>
            <a:endParaRPr/>
          </a:p>
        </p:txBody>
      </p:sp>
      <p:sp>
        <p:nvSpPr>
          <p:cNvPr id="4340" name="Google Shape;4340;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6" name="Shape 4356"/>
        <p:cNvGrpSpPr/>
        <p:nvPr/>
      </p:nvGrpSpPr>
      <p:grpSpPr>
        <a:xfrm>
          <a:off x="0" y="0"/>
          <a:ext cx="0" cy="0"/>
          <a:chOff x="0" y="0"/>
          <a:chExt cx="0" cy="0"/>
        </a:xfrm>
      </p:grpSpPr>
      <p:sp>
        <p:nvSpPr>
          <p:cNvPr id="4357" name="Google Shape;4357;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8" name="Google Shape;4358;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(US.55, DOK 1). 60-90 seconds. Have EVERY student commit (thumbs / whiteboard / choral) before revealing — this secures an early win and surfaces who is shaky before new content. Answer: Rationing (or victory gardens, scrap drives, or buying war bonds). Key term to listen for: Rationing. This is the low-floor entry; the graded Check for Understanding later in the standard rises to DOK 2–3.</a:t>
            </a:r>
            <a:endParaRPr/>
          </a:p>
        </p:txBody>
      </p:sp>
      <p:sp>
        <p:nvSpPr>
          <p:cNvPr id="4359" name="Google Shape;4359;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8" name="Shape 4378"/>
        <p:cNvGrpSpPr/>
        <p:nvPr/>
      </p:nvGrpSpPr>
      <p:grpSpPr>
        <a:xfrm>
          <a:off x="0" y="0"/>
          <a:ext cx="0" cy="0"/>
          <a:chOff x="0" y="0"/>
          <a:chExt cx="0" cy="0"/>
        </a:xfrm>
      </p:grpSpPr>
      <p:sp>
        <p:nvSpPr>
          <p:cNvPr id="4379" name="Google Shape;4379;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0" name="Google Shape;4380;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381" name="Google Shape;4381;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5" name="Shape 4395"/>
        <p:cNvGrpSpPr/>
        <p:nvPr/>
      </p:nvGrpSpPr>
      <p:grpSpPr>
        <a:xfrm>
          <a:off x="0" y="0"/>
          <a:ext cx="0" cy="0"/>
          <a:chOff x="0" y="0"/>
          <a:chExt cx="0" cy="0"/>
        </a:xfrm>
      </p:grpSpPr>
      <p:sp>
        <p:nvSpPr>
          <p:cNvPr id="4396" name="Google Shape;4396;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7" name="Google Shape;4397;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(US.55). Ask students what they'd give up for a year to help win a war, then reveal what Americans actually rationed. Teach in small steps; pause and check for understanding before the next chunk (aim 80%+ before moving on).</a:t>
            </a:r>
          </a:p>
          <a:p>
            <a:r>
              <a:t>✍ Students: Cornell Notes &amp; Close Read (Act 3–4) in the workbook.</a:t>
            </a:r>
          </a:p>
        </p:txBody>
      </p:sp>
      <p:sp>
        <p:nvSpPr>
          <p:cNvPr id="4398" name="Google Shape;4398;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0" name="Shape 4420"/>
        <p:cNvGrpSpPr/>
        <p:nvPr/>
      </p:nvGrpSpPr>
      <p:grpSpPr>
        <a:xfrm>
          <a:off x="0" y="0"/>
          <a:ext cx="0" cy="0"/>
          <a:chOff x="0" y="0"/>
          <a:chExt cx="0" cy="0"/>
        </a:xfrm>
      </p:grpSpPr>
      <p:sp>
        <p:nvSpPr>
          <p:cNvPr id="4421" name="Google Shape;4421;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2" name="Google Shape;4422;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23" name="Google Shape;4423;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7" name="Shape 4437"/>
        <p:cNvGrpSpPr/>
        <p:nvPr/>
      </p:nvGrpSpPr>
      <p:grpSpPr>
        <a:xfrm>
          <a:off x="0" y="0"/>
          <a:ext cx="0" cy="0"/>
          <a:chOff x="0" y="0"/>
          <a:chExt cx="0" cy="0"/>
        </a:xfrm>
      </p:grpSpPr>
      <p:sp>
        <p:nvSpPr>
          <p:cNvPr id="4438" name="Google Shape;4438;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9" name="Google Shape;4439;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40" name="Google Shape;4440;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4" name="Shape 4454"/>
        <p:cNvGrpSpPr/>
        <p:nvPr/>
      </p:nvGrpSpPr>
      <p:grpSpPr>
        <a:xfrm>
          <a:off x="0" y="0"/>
          <a:ext cx="0" cy="0"/>
          <a:chOff x="0" y="0"/>
          <a:chExt cx="0" cy="0"/>
        </a:xfrm>
      </p:grpSpPr>
      <p:sp>
        <p:nvSpPr>
          <p:cNvPr id="4455" name="Google Shape;445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6" name="Google Shape;445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57" name="Google Shape;445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4" name="Shape 4474"/>
        <p:cNvGrpSpPr/>
        <p:nvPr/>
      </p:nvGrpSpPr>
      <p:grpSpPr>
        <a:xfrm>
          <a:off x="0" y="0"/>
          <a:ext cx="0" cy="0"/>
          <a:chOff x="0" y="0"/>
          <a:chExt cx="0" cy="0"/>
        </a:xfrm>
      </p:grpSpPr>
      <p:sp>
        <p:nvSpPr>
          <p:cNvPr id="4475" name="Google Shape;4475;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6" name="Google Shape;4476;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7" name="Google Shape;4477;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1" name="Shape 4491"/>
        <p:cNvGrpSpPr/>
        <p:nvPr/>
      </p:nvGrpSpPr>
      <p:grpSpPr>
        <a:xfrm>
          <a:off x="0" y="0"/>
          <a:ext cx="0" cy="0"/>
          <a:chOff x="0" y="0"/>
          <a:chExt cx="0" cy="0"/>
        </a:xfrm>
      </p:grpSpPr>
      <p:sp>
        <p:nvSpPr>
          <p:cNvPr id="4492" name="Google Shape;4492;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3" name="Google Shape;4493;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(Office of Price Administration) WHEN? (1943) WHY does that matter? (Consider the author's purpose and audience before reading the words.) Only then move to the ANALYZE question. Suggested answer: See teacher key. Practice skill: Sourcing.</a:t>
            </a:r>
          </a:p>
          <a:p>
            <a:r>
              <a:t>✍ Students: Primary Source &amp; HIPPO (Act 5) in the workbook.</a:t>
            </a:r>
          </a:p>
        </p:txBody>
      </p:sp>
      <p:sp>
        <p:nvSpPr>
          <p:cNvPr id="4494" name="Google Shape;4494;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7" name="Shape 4527"/>
        <p:cNvGrpSpPr/>
        <p:nvPr/>
      </p:nvGrpSpPr>
      <p:grpSpPr>
        <a:xfrm>
          <a:off x="0" y="0"/>
          <a:ext cx="0" cy="0"/>
          <a:chOff x="0" y="0"/>
          <a:chExt cx="0" cy="0"/>
        </a:xfrm>
      </p:grpSpPr>
      <p:sp>
        <p:nvSpPr>
          <p:cNvPr id="4528" name="Google Shape;4528;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9" name="Google Shape;4529;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530" name="Google Shape;4530;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6" name="Shape 4586"/>
        <p:cNvGrpSpPr/>
        <p:nvPr/>
      </p:nvGrpSpPr>
      <p:grpSpPr>
        <a:xfrm>
          <a:off x="0" y="0"/>
          <a:ext cx="0" cy="0"/>
          <a:chOff x="0" y="0"/>
          <a:chExt cx="0" cy="0"/>
        </a:xfrm>
      </p:grpSpPr>
      <p:sp>
        <p:nvSpPr>
          <p:cNvPr id="4587" name="Google Shape;4587;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8" name="Google Shape;4588;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(US.55). Skill modeled: Explain home-front mobilization. Model the worked example aloud using the THINK ALOUD as your script, then release students to the activity ("Rank them by impact and defend your top choice with evidence."). This is the I Do → We Do → You Do bridge — do not skip it; aim for 80%+ success before independent work.</a:t>
            </a:r>
            <a:endParaRPr/>
          </a:p>
        </p:txBody>
      </p:sp>
      <p:sp>
        <p:nvSpPr>
          <p:cNvPr id="4589" name="Google Shape;4589;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7" name="Shape 4607"/>
        <p:cNvGrpSpPr/>
        <p:nvPr/>
      </p:nvGrpSpPr>
      <p:grpSpPr>
        <a:xfrm>
          <a:off x="0" y="0"/>
          <a:ext cx="0" cy="0"/>
          <a:chOff x="0" y="0"/>
          <a:chExt cx="0" cy="0"/>
        </a:xfrm>
      </p:grpSpPr>
      <p:sp>
        <p:nvSpPr>
          <p:cNvPr id="4608" name="Google Shape;4608;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9" name="Google Shape;4609;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US.55. Pair with the printable: cornell-notes/unit-6/us55-home-front-mobilization.pdf. Timing: 15. Deliverable: Completed home-front chart (one-sentence contribution each) AND a one-sentence evidence-based claim about the war's reach into daily life.</a:t>
            </a:r>
          </a:p>
          <a:p>
            <a:r>
              <a:t>✍ Students: Constructed Response (Act 7) in the workbook.</a:t>
            </a:r>
          </a:p>
        </p:txBody>
      </p:sp>
      <p:sp>
        <p:nvSpPr>
          <p:cNvPr id="4610" name="Google Shape;4610;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1" name="Shape 4631"/>
        <p:cNvGrpSpPr/>
        <p:nvPr/>
      </p:nvGrpSpPr>
      <p:grpSpPr>
        <a:xfrm>
          <a:off x="0" y="0"/>
          <a:ext cx="0" cy="0"/>
          <a:chOff x="0" y="0"/>
          <a:chExt cx="0" cy="0"/>
        </a:xfrm>
      </p:grpSpPr>
      <p:sp>
        <p:nvSpPr>
          <p:cNvPr id="4632" name="Google Shape;4632;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3" name="Google Shape;4633;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(US.55, DOK 2). Have students commit to an answer (whiteboards, hand signal, or turn-and-talk) BEFORE advancing. Correct answer: B. The next slide reveals it. Why: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p>
          <a:p>
            <a:r>
              <a:t>✍ Students: Practice Quiz (Act 6) in the workbook.</a:t>
            </a:r>
          </a:p>
        </p:txBody>
      </p:sp>
      <p:sp>
        <p:nvSpPr>
          <p:cNvPr id="4634" name="Google Shape;4634;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5" name="Shape 4665"/>
        <p:cNvGrpSpPr/>
        <p:nvPr/>
      </p:nvGrpSpPr>
      <p:grpSpPr>
        <a:xfrm>
          <a:off x="0" y="0"/>
          <a:ext cx="0" cy="0"/>
          <a:chOff x="0" y="0"/>
          <a:chExt cx="0" cy="0"/>
        </a:xfrm>
      </p:grpSpPr>
      <p:sp>
        <p:nvSpPr>
          <p:cNvPr id="4666" name="Google Shape;46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7" name="Google Shape;46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(US.55). Correct: B.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68" name="Google Shape;46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8" name="Shape 4698"/>
        <p:cNvGrpSpPr/>
        <p:nvPr/>
      </p:nvGrpSpPr>
      <p:grpSpPr>
        <a:xfrm>
          <a:off x="0" y="0"/>
          <a:ext cx="0" cy="0"/>
          <a:chOff x="0" y="0"/>
          <a:chExt cx="0" cy="0"/>
        </a:xfrm>
      </p:grpSpPr>
      <p:sp>
        <p:nvSpPr>
          <p:cNvPr id="4699" name="Google Shape;4699;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0" name="Google Shape;4700;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(US.55, DOK 2). Prompt: Describe how the war mobilized the American home front. Give at least three specific examples.  Model answer: The war transformed civilian life. Families rationed scarce goods like sugar, meat, and gasoline, and planted victory gardens to grow their own food. Americans bought war bonds to fund the effort and answered propaganda calls to conserve and produce. Factories converted from making cars to making tanks and planes, workers migrated to industrial cities, and the Bracero program brought in labor. Tennessee hosted training bases, POW camps, and the secret work at Oak Ridge.  RETEACH TRIGGER — if a student misses this exit ticket: (1) &lt;50% of class miss → spiral it into the next standard’s Quick Review opener (see the US.55 review prompts). (2) Individual/small group → reteach with the "Rationing and Conservation" direct-instruction slide + re-run the SOURCE IT FIRST routine on the US.55 primary source, then assign the paired printable: cornell-notes/unit-6/us55-home-front-mobilization.pdf. (3) Re-assess with the US.55 check-for-understanding reveal slide as a do-now the next day. Reteach anchors (this standard’s sections): Rationing and Conservation; War Bonds and Propaganda; Migration, Factory Conversion, and Bracero Program; Tennessee's Wartime Role. I Can objective: I can describe the war's impact on the home front, including rationing, bond drives, propaganda, movement to cities, the Bracero program, conversion of factories, and prisoner of war camps in Tennessee.  HONORS / EXTENSION (DOK 3, for early finishers or advanced learners): Evaluate: How much did the home front's effort contribute to Allied victory compared with the fighting itself? Argue with evidence. (SSP.04) — look for a clear claim plus two specific pieces of evidence.</a:t>
            </a:r>
            <a:endParaRPr/>
          </a:p>
        </p:txBody>
      </p:sp>
      <p:sp>
        <p:nvSpPr>
          <p:cNvPr id="4701" name="Google Shape;4701;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2" name="Shape 4722"/>
        <p:cNvGrpSpPr/>
        <p:nvPr/>
      </p:nvGrpSpPr>
      <p:grpSpPr>
        <a:xfrm>
          <a:off x="0" y="0"/>
          <a:ext cx="0" cy="0"/>
          <a:chOff x="0" y="0"/>
          <a:chExt cx="0" cy="0"/>
        </a:xfrm>
      </p:grpSpPr>
      <p:sp>
        <p:nvSpPr>
          <p:cNvPr id="4723" name="Google Shape;472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4" name="Google Shape;4724;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5" name="Google Shape;4725;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0" name="Shape 4750"/>
        <p:cNvGrpSpPr/>
        <p:nvPr/>
      </p:nvGrpSpPr>
      <p:grpSpPr>
        <a:xfrm>
          <a:off x="0" y="0"/>
          <a:ext cx="0" cy="0"/>
          <a:chOff x="0" y="0"/>
          <a:chExt cx="0" cy="0"/>
        </a:xfrm>
      </p:grpSpPr>
      <p:sp>
        <p:nvSpPr>
          <p:cNvPr id="4751" name="Google Shape;4751;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2" name="Google Shape;4752;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(US.56). Cold-call or whiteboards, 3-4 min, low stakes. Answers — 1) Any two of: rationing scarce goods, buying war bonds, planting victory gardens, scrap drives, or converting factories to war production.  2) Tennessee hosted war facilities and POW camps and, at Oak Ridge, played a secret key role in producing material for the atomic bomb.</a:t>
            </a:r>
            <a:endParaRPr/>
          </a:p>
        </p:txBody>
      </p:sp>
      <p:sp>
        <p:nvSpPr>
          <p:cNvPr id="4753" name="Google Shape;4753;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9" name="Shape 4769"/>
        <p:cNvGrpSpPr/>
        <p:nvPr/>
      </p:nvGrpSpPr>
      <p:grpSpPr>
        <a:xfrm>
          <a:off x="0" y="0"/>
          <a:ext cx="0" cy="0"/>
          <a:chOff x="0" y="0"/>
          <a:chExt cx="0" cy="0"/>
        </a:xfrm>
      </p:grpSpPr>
      <p:sp>
        <p:nvSpPr>
          <p:cNvPr id="4770" name="Google Shape;4770;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1" name="Google Shape;4771;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(US.56, DOK 1). 60-90 seconds. Have EVERY student commit (thumbs / whiteboard / choral) before revealing — this secures an early win and surfaces who is shaky before new content. Answer: The Manhattan Project, with a major site at Oak Ridge. Key term to listen for: Manhattan Project. This is the low-floor entry; the graded Check for Understanding later in the standard rises to DOK 2–3.</a:t>
            </a:r>
            <a:endParaRPr/>
          </a:p>
        </p:txBody>
      </p:sp>
      <p:sp>
        <p:nvSpPr>
          <p:cNvPr id="4772" name="Google Shape;4772;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1" name="Shape 4791"/>
        <p:cNvGrpSpPr/>
        <p:nvPr/>
      </p:nvGrpSpPr>
      <p:grpSpPr>
        <a:xfrm>
          <a:off x="0" y="0"/>
          <a:ext cx="0" cy="0"/>
          <a:chOff x="0" y="0"/>
          <a:chExt cx="0" cy="0"/>
        </a:xfrm>
      </p:grpSpPr>
      <p:sp>
        <p:nvSpPr>
          <p:cNvPr id="4792" name="Google Shape;4792;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3" name="Google Shape;4793;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794" name="Google Shape;4794;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8" name="Shape 4808"/>
        <p:cNvGrpSpPr/>
        <p:nvPr/>
      </p:nvGrpSpPr>
      <p:grpSpPr>
        <a:xfrm>
          <a:off x="0" y="0"/>
          <a:ext cx="0" cy="0"/>
          <a:chOff x="0" y="0"/>
          <a:chExt cx="0" cy="0"/>
        </a:xfrm>
      </p:grpSpPr>
      <p:sp>
        <p:nvSpPr>
          <p:cNvPr id="4809" name="Google Shape;4809;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0" name="Google Shape;4810;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(US.56). Pose Truman's dilemma without the answer: invade Japan at huge cost, or use a terrible new weapon. Let them sit with it. Teach in small steps; pause and check for understanding before the next chunk (aim 80%+ before moving on).</a:t>
            </a:r>
          </a:p>
          <a:p>
            <a:r>
              <a:t>✍ Students: Cornell Notes &amp; Close Read (Act 3–4) in the workbook.</a:t>
            </a:r>
          </a:p>
        </p:txBody>
      </p:sp>
      <p:sp>
        <p:nvSpPr>
          <p:cNvPr id="4811" name="Google Shape;4811;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1" name="Shape 4831"/>
        <p:cNvGrpSpPr/>
        <p:nvPr/>
      </p:nvGrpSpPr>
      <p:grpSpPr>
        <a:xfrm>
          <a:off x="0" y="0"/>
          <a:ext cx="0" cy="0"/>
          <a:chOff x="0" y="0"/>
          <a:chExt cx="0" cy="0"/>
        </a:xfrm>
      </p:grpSpPr>
      <p:sp>
        <p:nvSpPr>
          <p:cNvPr id="4832" name="Google Shape;4832;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3" name="Google Shape;4833;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34" name="Google Shape;4834;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8" name="Shape 4848"/>
        <p:cNvGrpSpPr/>
        <p:nvPr/>
      </p:nvGrpSpPr>
      <p:grpSpPr>
        <a:xfrm>
          <a:off x="0" y="0"/>
          <a:ext cx="0" cy="0"/>
          <a:chOff x="0" y="0"/>
          <a:chExt cx="0" cy="0"/>
        </a:xfrm>
      </p:grpSpPr>
      <p:sp>
        <p:nvSpPr>
          <p:cNvPr id="4849" name="Google Shape;4849;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0" name="Google Shape;4850;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51" name="Google Shape;4851;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8" name="Shape 4868"/>
        <p:cNvGrpSpPr/>
        <p:nvPr/>
      </p:nvGrpSpPr>
      <p:grpSpPr>
        <a:xfrm>
          <a:off x="0" y="0"/>
          <a:ext cx="0" cy="0"/>
          <a:chOff x="0" y="0"/>
          <a:chExt cx="0" cy="0"/>
        </a:xfrm>
      </p:grpSpPr>
      <p:sp>
        <p:nvSpPr>
          <p:cNvPr id="4869" name="Google Shape;4869;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0" name="Google Shape;4870;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71" name="Google Shape;4871;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5" name="Shape 4885"/>
        <p:cNvGrpSpPr/>
        <p:nvPr/>
      </p:nvGrpSpPr>
      <p:grpSpPr>
        <a:xfrm>
          <a:off x="0" y="0"/>
          <a:ext cx="0" cy="0"/>
          <a:chOff x="0" y="0"/>
          <a:chExt cx="0" cy="0"/>
        </a:xfrm>
      </p:grpSpPr>
      <p:sp>
        <p:nvSpPr>
          <p:cNvPr id="4886" name="Google Shape;4886;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7" name="Google Shape;4887;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8" name="Google Shape;4888;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2" name="Shape 4902"/>
        <p:cNvGrpSpPr/>
        <p:nvPr/>
      </p:nvGrpSpPr>
      <p:grpSpPr>
        <a:xfrm>
          <a:off x="0" y="0"/>
          <a:ext cx="0" cy="0"/>
          <a:chOff x="0" y="0"/>
          <a:chExt cx="0" cy="0"/>
        </a:xfrm>
      </p:grpSpPr>
      <p:sp>
        <p:nvSpPr>
          <p:cNvPr id="4903" name="Google Shape;4903;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4" name="Google Shape;4904;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Harry S. Truman) WHEN? (August 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905" name="Google Shape;4905;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8" name="Shape 4938"/>
        <p:cNvGrpSpPr/>
        <p:nvPr/>
      </p:nvGrpSpPr>
      <p:grpSpPr>
        <a:xfrm>
          <a:off x="0" y="0"/>
          <a:ext cx="0" cy="0"/>
          <a:chOff x="0" y="0"/>
          <a:chExt cx="0" cy="0"/>
        </a:xfrm>
      </p:grpSpPr>
      <p:sp>
        <p:nvSpPr>
          <p:cNvPr id="4939" name="Google Shape;4939;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0" name="Google Shape;4940;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941" name="Google Shape;4941;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7" name="Shape 4997"/>
        <p:cNvGrpSpPr/>
        <p:nvPr/>
      </p:nvGrpSpPr>
      <p:grpSpPr>
        <a:xfrm>
          <a:off x="0" y="0"/>
          <a:ext cx="0" cy="0"/>
          <a:chOff x="0" y="0"/>
          <a:chExt cx="0" cy="0"/>
        </a:xfrm>
      </p:grpSpPr>
      <p:sp>
        <p:nvSpPr>
          <p:cNvPr id="4998" name="Google Shape;4998;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9" name="Google Shape;4999;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(US.56). Skill modeled: Evaluate a high-stakes decision. Model the worked example aloud using the THINK ALOUD as your script, then release students to the activity ("Judge whether the rationale justified the decision, citing evidence."). This is the I Do → We Do → You Do bridge — do not skip it; aim for 80%+ success before independent work.</a:t>
            </a:r>
            <a:endParaRPr/>
          </a:p>
        </p:txBody>
      </p:sp>
      <p:sp>
        <p:nvSpPr>
          <p:cNvPr id="5000" name="Google Shape;5000;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8" name="Shape 5018"/>
        <p:cNvGrpSpPr/>
        <p:nvPr/>
      </p:nvGrpSpPr>
      <p:grpSpPr>
        <a:xfrm>
          <a:off x="0" y="0"/>
          <a:ext cx="0" cy="0"/>
          <a:chOff x="0" y="0"/>
          <a:chExt cx="0" cy="0"/>
        </a:xfrm>
      </p:grpSpPr>
      <p:sp>
        <p:nvSpPr>
          <p:cNvPr id="5019" name="Google Shape;5019;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0" name="Google Shape;5020;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US.56. Pair with the printable: cornell-notes/unit-6/us56-manhattan-project-atomic-bomb.pdf. Timing: 15. Deliverable: Completed four-part organizer (Oak Ridge / project overview / rationale / ethical debate, one detail each) AND a one-sentence evidence-based claim about the decision.</a:t>
            </a:r>
          </a:p>
          <a:p>
            <a:r>
              <a:t>✍ Students: Constructed Response (Act 7) in the workbook.</a:t>
            </a:r>
          </a:p>
        </p:txBody>
      </p:sp>
      <p:sp>
        <p:nvSpPr>
          <p:cNvPr id="5021" name="Google Shape;5021;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2" name="Shape 5042"/>
        <p:cNvGrpSpPr/>
        <p:nvPr/>
      </p:nvGrpSpPr>
      <p:grpSpPr>
        <a:xfrm>
          <a:off x="0" y="0"/>
          <a:ext cx="0" cy="0"/>
          <a:chOff x="0" y="0"/>
          <a:chExt cx="0" cy="0"/>
        </a:xfrm>
      </p:grpSpPr>
      <p:sp>
        <p:nvSpPr>
          <p:cNvPr id="5043" name="Google Shape;5043;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44" name="Google Shape;5044;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(US.56, DOK 2). Have students commit to an answer (whiteboards, hand signal, or turn-and-talk) BEFORE advancing. Correct answer: D. The next slide reveals it. Why: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5045" name="Google Shape;5045;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6" name="Shape 5076"/>
        <p:cNvGrpSpPr/>
        <p:nvPr/>
      </p:nvGrpSpPr>
      <p:grpSpPr>
        <a:xfrm>
          <a:off x="0" y="0"/>
          <a:ext cx="0" cy="0"/>
          <a:chOff x="0" y="0"/>
          <a:chExt cx="0" cy="0"/>
        </a:xfrm>
      </p:grpSpPr>
      <p:sp>
        <p:nvSpPr>
          <p:cNvPr id="5077" name="Google Shape;5077;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8" name="Google Shape;5078;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(US.56). Correct: D.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79" name="Google Shape;5079;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9" name="Shape 5109"/>
        <p:cNvGrpSpPr/>
        <p:nvPr/>
      </p:nvGrpSpPr>
      <p:grpSpPr>
        <a:xfrm>
          <a:off x="0" y="0"/>
          <a:ext cx="0" cy="0"/>
          <a:chOff x="0" y="0"/>
          <a:chExt cx="0" cy="0"/>
        </a:xfrm>
      </p:grpSpPr>
      <p:sp>
        <p:nvSpPr>
          <p:cNvPr id="5110" name="Google Shape;5110;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1" name="Google Shape;5111;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(US.56, DOK 2). Prompt: Describe the Manhattan Project and explain the rationale for using the atomic bomb.  Model answer: The Manhattan Project was the secret, multi-site U.S. program that built the first atomic bombs, with uranium enrichment at Oak Ridge, Tennessee, plutonium at Hanford, and weapon design at Los Alamos. President Truman decided to use the bombs on Hiroshima and Nagasaki in August 1945, arguing that they would force Japan's rapid surrender and avoid a costly invasion expected to cost hundreds of thousands of lives. The bombs ended the war but opened a dangerous nuclear age.  RETEACH TRIGGER — if a student misses this exit ticket: (1) &lt;50% of class miss → spiral it into the next standard’s Quick Review opener (see the US.56 review prompts). (2) Individual/small group → reteach with the "Oak Ridge, Tennessee Selection" direct-instruction slide + re-run the SOURCE IT FIRST routine on the US.56 primary source, then assign the paired printable: cornell-notes/unit-6/us56-manhattan-project-atomic-bomb.pdf. (3) Re-assess with the US.56 check-for-understanding reveal slide as a do-now the next day. Reteach anchors (this standard’s sections): Oak Ridge, Tennessee Selection; Manhattan Project Overview; Rationale for Using Atomic Weapons; Ethical Debate. I Can objective: I can describe the Manhattan Project and explain the rationale for using the atomic bomb to end the war.  HONORS / EXTENSION (DOK 3, for early finishers or advanced learners): Evaluate: Was the decision to drop the atomic bomb justified? Defend your position with at least two pieces of evidence. (SSP.04) — look for a clear claim plus two specific pieces of evidence.</a:t>
            </a:r>
            <a:endParaRPr/>
          </a:p>
        </p:txBody>
      </p:sp>
      <p:sp>
        <p:nvSpPr>
          <p:cNvPr id="5112" name="Google Shape;5112;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3" name="Shape 5133"/>
        <p:cNvGrpSpPr/>
        <p:nvPr/>
      </p:nvGrpSpPr>
      <p:grpSpPr>
        <a:xfrm>
          <a:off x="0" y="0"/>
          <a:ext cx="0" cy="0"/>
          <a:chOff x="0" y="0"/>
          <a:chExt cx="0" cy="0"/>
        </a:xfrm>
      </p:grpSpPr>
      <p:sp>
        <p:nvSpPr>
          <p:cNvPr id="5134" name="Google Shape;5134;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5" name="Google Shape;5135;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6" name="Google Shape;5136;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1" name="Shape 5161"/>
        <p:cNvGrpSpPr/>
        <p:nvPr/>
      </p:nvGrpSpPr>
      <p:grpSpPr>
        <a:xfrm>
          <a:off x="0" y="0"/>
          <a:ext cx="0" cy="0"/>
          <a:chOff x="0" y="0"/>
          <a:chExt cx="0" cy="0"/>
        </a:xfrm>
      </p:grpSpPr>
      <p:sp>
        <p:nvSpPr>
          <p:cNvPr id="5162" name="Google Shape;5162;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3" name="Google Shape;5163;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(US.57). Cold-call or whiteboards, 3-4 min, low stakes. Answers — 1) The secret U.S. program that developed the first atomic bombs, with a major site at Oak Ridge, Tennessee.  2) President Truman argued it would force Japan's surrender quickly and avoid a costly invasion that could kill hundreds of thousands.</a:t>
            </a:r>
            <a:endParaRPr/>
          </a:p>
        </p:txBody>
      </p:sp>
      <p:sp>
        <p:nvSpPr>
          <p:cNvPr id="5164" name="Google Shape;5164;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0" name="Shape 5180"/>
        <p:cNvGrpSpPr/>
        <p:nvPr/>
      </p:nvGrpSpPr>
      <p:grpSpPr>
        <a:xfrm>
          <a:off x="0" y="0"/>
          <a:ext cx="0" cy="0"/>
          <a:chOff x="0" y="0"/>
          <a:chExt cx="0" cy="0"/>
        </a:xfrm>
      </p:grpSpPr>
      <p:sp>
        <p:nvSpPr>
          <p:cNvPr id="5181" name="Google Shape;5181;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2" name="Google Shape;5182;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(US.57, DOK 1). 60-90 seconds. Have EVERY student commit (thumbs / whiteboard / choral) before revealing — this secures an early win and surfaces who is shaky before new content. Answer: The Yalta Conference or the Potsdam Conference (both 1945). Key term to listen for: Yalta Conference. This is the low-floor entry; the graded Check for Understanding later in the standard rises to DOK 2–3.</a:t>
            </a:r>
            <a:endParaRPr/>
          </a:p>
        </p:txBody>
      </p:sp>
      <p:sp>
        <p:nvSpPr>
          <p:cNvPr id="5183" name="Google Shape;5183;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2" name="Shape 5202"/>
        <p:cNvGrpSpPr/>
        <p:nvPr/>
      </p:nvGrpSpPr>
      <p:grpSpPr>
        <a:xfrm>
          <a:off x="0" y="0"/>
          <a:ext cx="0" cy="0"/>
          <a:chOff x="0" y="0"/>
          <a:chExt cx="0" cy="0"/>
        </a:xfrm>
      </p:grpSpPr>
      <p:sp>
        <p:nvSpPr>
          <p:cNvPr id="5203" name="Google Shape;5203;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4" name="Google Shape;5204;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205" name="Google Shape;5205;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9" name="Shape 5219"/>
        <p:cNvGrpSpPr/>
        <p:nvPr/>
      </p:nvGrpSpPr>
      <p:grpSpPr>
        <a:xfrm>
          <a:off x="0" y="0"/>
          <a:ext cx="0" cy="0"/>
          <a:chOff x="0" y="0"/>
          <a:chExt cx="0" cy="0"/>
        </a:xfrm>
      </p:grpSpPr>
      <p:sp>
        <p:nvSpPr>
          <p:cNvPr id="5220" name="Google Shape;5220;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1" name="Google Shape;5221;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(US.57). Show three leaders seated together and ask what they'd argue about once the common enemy was nearly beaten. Teach in small steps; pause and check for understanding before the next chunk (aim 80%+ before moving on).</a:t>
            </a:r>
          </a:p>
          <a:p>
            <a:r>
              <a:t>✍ Students: Cornell Notes &amp; Close Read (Act 3–4) in the workbook.</a:t>
            </a:r>
          </a:p>
        </p:txBody>
      </p:sp>
      <p:sp>
        <p:nvSpPr>
          <p:cNvPr id="5222" name="Google Shape;5222;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4" name="Shape 5244"/>
        <p:cNvGrpSpPr/>
        <p:nvPr/>
      </p:nvGrpSpPr>
      <p:grpSpPr>
        <a:xfrm>
          <a:off x="0" y="0"/>
          <a:ext cx="0" cy="0"/>
          <a:chOff x="0" y="0"/>
          <a:chExt cx="0" cy="0"/>
        </a:xfrm>
      </p:grpSpPr>
      <p:sp>
        <p:nvSpPr>
          <p:cNvPr id="5245" name="Google Shape;5245;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6" name="Google Shape;5246;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47" name="Google Shape;5247;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1" name="Shape 5261"/>
        <p:cNvGrpSpPr/>
        <p:nvPr/>
      </p:nvGrpSpPr>
      <p:grpSpPr>
        <a:xfrm>
          <a:off x="0" y="0"/>
          <a:ext cx="0" cy="0"/>
          <a:chOff x="0" y="0"/>
          <a:chExt cx="0" cy="0"/>
        </a:xfrm>
      </p:grpSpPr>
      <p:sp>
        <p:nvSpPr>
          <p:cNvPr id="5262" name="Google Shape;5262;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3" name="Google Shape;5263;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64" name="Google Shape;5264;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8" name="Shape 5278"/>
        <p:cNvGrpSpPr/>
        <p:nvPr/>
      </p:nvGrpSpPr>
      <p:grpSpPr>
        <a:xfrm>
          <a:off x="0" y="0"/>
          <a:ext cx="0" cy="0"/>
          <a:chOff x="0" y="0"/>
          <a:chExt cx="0" cy="0"/>
        </a:xfrm>
      </p:grpSpPr>
      <p:sp>
        <p:nvSpPr>
          <p:cNvPr id="5279" name="Google Shape;5279;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0" name="Google Shape;5280;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81" name="Google Shape;5281;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5" name="Shape 5295"/>
        <p:cNvGrpSpPr/>
        <p:nvPr/>
      </p:nvGrpSpPr>
      <p:grpSpPr>
        <a:xfrm>
          <a:off x="0" y="0"/>
          <a:ext cx="0" cy="0"/>
          <a:chOff x="0" y="0"/>
          <a:chExt cx="0" cy="0"/>
        </a:xfrm>
      </p:grpSpPr>
      <p:sp>
        <p:nvSpPr>
          <p:cNvPr id="5296" name="Google Shape;529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7" name="Google Shape;5297;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8" name="Google Shape;5298;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9" name="Shape 5319"/>
        <p:cNvGrpSpPr/>
        <p:nvPr/>
      </p:nvGrpSpPr>
      <p:grpSpPr>
        <a:xfrm>
          <a:off x="0" y="0"/>
          <a:ext cx="0" cy="0"/>
          <a:chOff x="0" y="0"/>
          <a:chExt cx="0" cy="0"/>
        </a:xfrm>
      </p:grpSpPr>
      <p:sp>
        <p:nvSpPr>
          <p:cNvPr id="5320" name="Google Shape;5320;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1" name="Google Shape;5321;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(Roosevelt, Churchill, and Stalin) WHEN? (February 1945)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5322" name="Google Shape;5322;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5" name="Shape 5355"/>
        <p:cNvGrpSpPr/>
        <p:nvPr/>
      </p:nvGrpSpPr>
      <p:grpSpPr>
        <a:xfrm>
          <a:off x="0" y="0"/>
          <a:ext cx="0" cy="0"/>
          <a:chOff x="0" y="0"/>
          <a:chExt cx="0" cy="0"/>
        </a:xfrm>
      </p:grpSpPr>
      <p:sp>
        <p:nvSpPr>
          <p:cNvPr id="5356" name="Google Shape;535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7" name="Google Shape;5357;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358" name="Google Shape;5358;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4" name="Shape 5414"/>
        <p:cNvGrpSpPr/>
        <p:nvPr/>
      </p:nvGrpSpPr>
      <p:grpSpPr>
        <a:xfrm>
          <a:off x="0" y="0"/>
          <a:ext cx="0" cy="0"/>
          <a:chOff x="0" y="0"/>
          <a:chExt cx="0" cy="0"/>
        </a:xfrm>
      </p:grpSpPr>
      <p:sp>
        <p:nvSpPr>
          <p:cNvPr id="5415" name="Google Shape;5415;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6" name="Google Shape;5416;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(US.57). Skill modeled: Summarize diplomatic outcomes. Model the worked example aloud using the THINK ALOUD as your script, then release students to the activity ("Explain one seed of the coming Cold War planted at these meetings."). This is the I Do → We Do → You Do bridge — do not skip it; aim for 80%+ success before independent work.</a:t>
            </a:r>
            <a:endParaRPr/>
          </a:p>
        </p:txBody>
      </p:sp>
      <p:sp>
        <p:nvSpPr>
          <p:cNvPr id="5417" name="Google Shape;5417;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5" name="Shape 5435"/>
        <p:cNvGrpSpPr/>
        <p:nvPr/>
      </p:nvGrpSpPr>
      <p:grpSpPr>
        <a:xfrm>
          <a:off x="0" y="0"/>
          <a:ext cx="0" cy="0"/>
          <a:chOff x="0" y="0"/>
          <a:chExt cx="0" cy="0"/>
        </a:xfrm>
      </p:grpSpPr>
      <p:sp>
        <p:nvSpPr>
          <p:cNvPr id="5436" name="Google Shape;5436;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7" name="Google Shape;5437;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US.57. Pair with the printable: cornell-notes/unit-6/us57-yalta-potsdam.pdf. Timing: 15. Deliverable: Completed two-conference chart (leaders + 2 decisions each, plus one Cold War seed) AND a one-sentence evidence-based claim about Allied unity.</a:t>
            </a:r>
          </a:p>
          <a:p>
            <a:r>
              <a:t>✍ Students: Constructed Response (Act 7) in the workbook.</a:t>
            </a:r>
          </a:p>
        </p:txBody>
      </p:sp>
      <p:sp>
        <p:nvSpPr>
          <p:cNvPr id="5438" name="Google Shape;5438;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1" name="Google Shape;5461;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(US.57, DOK 2). Have students commit to an answer (whiteboards, hand signal, or turn-and-talk) BEFORE advancing. Correct answer: A. The next slide reveals it. Why: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p>
          <a:p>
            <a:r>
              <a:t>✍ Students: Practice Quiz (Act 6) in the workbook.</a:t>
            </a:r>
          </a:p>
        </p:txBody>
      </p:sp>
      <p:sp>
        <p:nvSpPr>
          <p:cNvPr id="5462" name="Google Shape;5462;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3" name="Shape 5493"/>
        <p:cNvGrpSpPr/>
        <p:nvPr/>
      </p:nvGrpSpPr>
      <p:grpSpPr>
        <a:xfrm>
          <a:off x="0" y="0"/>
          <a:ext cx="0" cy="0"/>
          <a:chOff x="0" y="0"/>
          <a:chExt cx="0" cy="0"/>
        </a:xfrm>
      </p:grpSpPr>
      <p:sp>
        <p:nvSpPr>
          <p:cNvPr id="5494" name="Google Shape;5494;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5" name="Google Shape;5495;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(US.57). Correct: A.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96" name="Google Shape;5496;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6" name="Shape 5526"/>
        <p:cNvGrpSpPr/>
        <p:nvPr/>
      </p:nvGrpSpPr>
      <p:grpSpPr>
        <a:xfrm>
          <a:off x="0" y="0"/>
          <a:ext cx="0" cy="0"/>
          <a:chOff x="0" y="0"/>
          <a:chExt cx="0" cy="0"/>
        </a:xfrm>
      </p:grpSpPr>
      <p:sp>
        <p:nvSpPr>
          <p:cNvPr id="5527" name="Google Shape;5527;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8" name="Google Shape;5528;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(US.57, DOK 2). Prompt: Explain the major outcomes of the Yalta and Potsdam Conferences and how they contributed to the Cold War.  Model answer: At Yalta (February 1945), the Big Three, Roosevelt, Churchill, and Stalin, agreed to divide Germany, hold elections in liberated Europe, and create the United Nations, but disagreed over the fate of Poland. At Potsdam (July-August 1945), Truman, now president, faced Stalin over Eastern Europe and issued an ultimatum to Japan. Soviet control of Eastern Europe and mutual distrust between the superpowers turned wartime allies into Cold War rivals.  RETEACH TRIGGER — if a student misses this exit ticket: (1) &lt;50% of class miss → spiral it into the next standard’s Quick Review opener (see the US.57 review prompts). (2) Individual/small group → reteach with the "Yalta Conference (February 1945)" direct-instruction slide + re-run the SOURCE IT FIRST routine on the US.57 primary source, then assign the paired printable: cornell-notes/unit-6/us57-yalta-potsdam.pdf. (3) Re-assess with the US.57 check-for-understanding reveal slide as a do-now the next day. Reteach anchors (this standard’s sections): Yalta Conference (February 1945); Potsdam Conference (July-August 1945); Cold War Origins; Assessment of Allied Diplomacy. I Can objective: I can explain the major outcomes of the Yalta and Potsdam Conferences.  HONORS / EXTENSION (DOK 3, for early finishers or advanced learners): Evaluate: Did the Allies genuinely cooperate at Yalta and Potsdam, or had the Cold War already begun? Argue with evidence. (SSP.04) — look for a clear claim plus two specific pieces of evidence.</a:t>
            </a:r>
            <a:endParaRPr/>
          </a:p>
        </p:txBody>
      </p:sp>
      <p:sp>
        <p:nvSpPr>
          <p:cNvPr id="5529" name="Google Shape;5529;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0" name="Shape 5550"/>
        <p:cNvGrpSpPr/>
        <p:nvPr/>
      </p:nvGrpSpPr>
      <p:grpSpPr>
        <a:xfrm>
          <a:off x="0" y="0"/>
          <a:ext cx="0" cy="0"/>
          <a:chOff x="0" y="0"/>
          <a:chExt cx="0" cy="0"/>
        </a:xfrm>
      </p:grpSpPr>
      <p:sp>
        <p:nvSpPr>
          <p:cNvPr id="5551" name="Google Shape;5551;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2" name="Google Shape;5552;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3" name="Google Shape;5553;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8" name="Shape 5578"/>
        <p:cNvGrpSpPr/>
        <p:nvPr/>
      </p:nvGrpSpPr>
      <p:grpSpPr>
        <a:xfrm>
          <a:off x="0" y="0"/>
          <a:ext cx="0" cy="0"/>
          <a:chOff x="0" y="0"/>
          <a:chExt cx="0" cy="0"/>
        </a:xfrm>
      </p:grpSpPr>
      <p:sp>
        <p:nvSpPr>
          <p:cNvPr id="5579" name="Google Shape;5579;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0" name="Google Shape;5580;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(US.58). Cold-call or whiteboards, 3-4 min, low stakes. Answers — 1) At the Yalta Conference (February 1945), attended by Roosevelt, Churchill, and Stalin.  2) Disagreements over the fate of Poland and Eastern Europe, and growing distrust between the U.S. and the Soviet Union, divided the former allies.</a:t>
            </a:r>
            <a:endParaRPr/>
          </a:p>
        </p:txBody>
      </p:sp>
      <p:sp>
        <p:nvSpPr>
          <p:cNvPr id="5581" name="Google Shape;5581;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7" name="Shape 5597"/>
        <p:cNvGrpSpPr/>
        <p:nvPr/>
      </p:nvGrpSpPr>
      <p:grpSpPr>
        <a:xfrm>
          <a:off x="0" y="0"/>
          <a:ext cx="0" cy="0"/>
          <a:chOff x="0" y="0"/>
          <a:chExt cx="0" cy="0"/>
        </a:xfrm>
      </p:grpSpPr>
      <p:sp>
        <p:nvSpPr>
          <p:cNvPr id="5598" name="Google Shape;559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9" name="Google Shape;559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(US.58, DOK 1). 60-90 seconds. Have EVERY student commit (thumbs / whiteboard / choral) before revealing — this secures an early win and surfaces who is shaky before new content. Answer: The United Nations. Key term to listen for: United Nations. This is the low-floor entry; the graded Check for Understanding later in the standard rises to DOK 2–3.</a:t>
            </a:r>
            <a:endParaRPr/>
          </a:p>
        </p:txBody>
      </p:sp>
      <p:sp>
        <p:nvSpPr>
          <p:cNvPr id="5600" name="Google Shape;560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9" name="Shape 5619"/>
        <p:cNvGrpSpPr/>
        <p:nvPr/>
      </p:nvGrpSpPr>
      <p:grpSpPr>
        <a:xfrm>
          <a:off x="0" y="0"/>
          <a:ext cx="0" cy="0"/>
          <a:chOff x="0" y="0"/>
          <a:chExt cx="0" cy="0"/>
        </a:xfrm>
      </p:grpSpPr>
      <p:sp>
        <p:nvSpPr>
          <p:cNvPr id="5620" name="Google Shape;5620;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1" name="Google Shape;5621;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622" name="Google Shape;5622;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6" name="Shape 5636"/>
        <p:cNvGrpSpPr/>
        <p:nvPr/>
      </p:nvGrpSpPr>
      <p:grpSpPr>
        <a:xfrm>
          <a:off x="0" y="0"/>
          <a:ext cx="0" cy="0"/>
          <a:chOff x="0" y="0"/>
          <a:chExt cx="0" cy="0"/>
        </a:xfrm>
      </p:grpSpPr>
      <p:sp>
        <p:nvSpPr>
          <p:cNvPr id="5637" name="Google Shape;5637;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8" name="Google Shape;5638;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(US.58). Ask: after two world wars in thirty years, what could actually keep the peace? Then reveal the founding of the UN. Teach in small steps; pause and check for understanding before the next chunk (aim 80%+ before moving on).</a:t>
            </a:r>
          </a:p>
          <a:p>
            <a:r>
              <a:t>✍ Students: Cornell Notes &amp; Close Read (Act 3–4) in the workbook.</a:t>
            </a:r>
          </a:p>
        </p:txBody>
      </p:sp>
      <p:sp>
        <p:nvSpPr>
          <p:cNvPr id="5639" name="Google Shape;5639;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6" name="Shape 5656"/>
        <p:cNvGrpSpPr/>
        <p:nvPr/>
      </p:nvGrpSpPr>
      <p:grpSpPr>
        <a:xfrm>
          <a:off x="0" y="0"/>
          <a:ext cx="0" cy="0"/>
          <a:chOff x="0" y="0"/>
          <a:chExt cx="0" cy="0"/>
        </a:xfrm>
      </p:grpSpPr>
      <p:sp>
        <p:nvSpPr>
          <p:cNvPr id="5657" name="Google Shape;5657;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8" name="Google Shape;5658;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59" name="Google Shape;5659;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6" name="Shape 5676"/>
        <p:cNvGrpSpPr/>
        <p:nvPr/>
      </p:nvGrpSpPr>
      <p:grpSpPr>
        <a:xfrm>
          <a:off x="0" y="0"/>
          <a:ext cx="0" cy="0"/>
          <a:chOff x="0" y="0"/>
          <a:chExt cx="0" cy="0"/>
        </a:xfrm>
      </p:grpSpPr>
      <p:sp>
        <p:nvSpPr>
          <p:cNvPr id="5677" name="Google Shape;5677;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8" name="Google Shape;5678;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79" name="Google Shape;5679;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6" name="Shape 5696"/>
        <p:cNvGrpSpPr/>
        <p:nvPr/>
      </p:nvGrpSpPr>
      <p:grpSpPr>
        <a:xfrm>
          <a:off x="0" y="0"/>
          <a:ext cx="0" cy="0"/>
          <a:chOff x="0" y="0"/>
          <a:chExt cx="0" cy="0"/>
        </a:xfrm>
      </p:grpSpPr>
      <p:sp>
        <p:nvSpPr>
          <p:cNvPr id="5697" name="Google Shape;5697;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8" name="Google Shape;5698;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99" name="Google Shape;5699;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3" name="Shape 5713"/>
        <p:cNvGrpSpPr/>
        <p:nvPr/>
      </p:nvGrpSpPr>
      <p:grpSpPr>
        <a:xfrm>
          <a:off x="0" y="0"/>
          <a:ext cx="0" cy="0"/>
          <a:chOff x="0" y="0"/>
          <a:chExt cx="0" cy="0"/>
        </a:xfrm>
      </p:grpSpPr>
      <p:sp>
        <p:nvSpPr>
          <p:cNvPr id="5714" name="Google Shape;5714;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5" name="Google Shape;5715;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6" name="Google Shape;5716;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0" name="Shape 5730"/>
        <p:cNvGrpSpPr/>
        <p:nvPr/>
      </p:nvGrpSpPr>
      <p:grpSpPr>
        <a:xfrm>
          <a:off x="0" y="0"/>
          <a:ext cx="0" cy="0"/>
          <a:chOff x="0" y="0"/>
          <a:chExt cx="0" cy="0"/>
        </a:xfrm>
      </p:grpSpPr>
      <p:sp>
        <p:nvSpPr>
          <p:cNvPr id="5731" name="Google Shape;5731;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2" name="Google Shape;5732;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(United Nations) WHEN? (June 26,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5733" name="Google Shape;5733;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6" name="Shape 5766"/>
        <p:cNvGrpSpPr/>
        <p:nvPr/>
      </p:nvGrpSpPr>
      <p:grpSpPr>
        <a:xfrm>
          <a:off x="0" y="0"/>
          <a:ext cx="0" cy="0"/>
          <a:chOff x="0" y="0"/>
          <a:chExt cx="0" cy="0"/>
        </a:xfrm>
      </p:grpSpPr>
      <p:sp>
        <p:nvSpPr>
          <p:cNvPr id="5767" name="Google Shape;5767;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8" name="Google Shape;5768;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769" name="Google Shape;5769;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5" name="Shape 5825"/>
        <p:cNvGrpSpPr/>
        <p:nvPr/>
      </p:nvGrpSpPr>
      <p:grpSpPr>
        <a:xfrm>
          <a:off x="0" y="0"/>
          <a:ext cx="0" cy="0"/>
          <a:chOff x="0" y="0"/>
          <a:chExt cx="0" cy="0"/>
        </a:xfrm>
      </p:grpSpPr>
      <p:sp>
        <p:nvSpPr>
          <p:cNvPr id="5826" name="Google Shape;5826;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7" name="Google Shape;5827;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(US.58). Skill modeled: Explain the purpose of an institution. Model the worked example aloud using the THINK ALOUD as your script, then release students to the activity ("Explain how the UN was meant to fix what the 1930s got wrong."). This is the I Do → We Do → You Do bridge — do not skip it; aim for 80%+ success before independent work.</a:t>
            </a:r>
            <a:endParaRPr/>
          </a:p>
        </p:txBody>
      </p:sp>
      <p:sp>
        <p:nvSpPr>
          <p:cNvPr id="5828" name="Google Shape;5828;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6" name="Shape 5846"/>
        <p:cNvGrpSpPr/>
        <p:nvPr/>
      </p:nvGrpSpPr>
      <p:grpSpPr>
        <a:xfrm>
          <a:off x="0" y="0"/>
          <a:ext cx="0" cy="0"/>
          <a:chOff x="0" y="0"/>
          <a:chExt cx="0" cy="0"/>
        </a:xfrm>
      </p:grpSpPr>
      <p:sp>
        <p:nvSpPr>
          <p:cNvPr id="5847" name="Google Shape;584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8" name="Google Shape;584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US.58. Pair with the printable: cornell-notes/unit-6/us58-united-nations-cordell-hull.pdf. Timing: 15. Deliverable: Completed four-part organizer (League lessons / Hull's role / goals-structure / legacy-limits, one detail each) AND a one-sentence evidence-based claim comparing the UN to the League.</a:t>
            </a:r>
          </a:p>
          <a:p>
            <a:r>
              <a:t>✍ Students: Constructed Response (Act 7) in the workbook.</a:t>
            </a:r>
          </a:p>
        </p:txBody>
      </p:sp>
      <p:sp>
        <p:nvSpPr>
          <p:cNvPr id="5849" name="Google Shape;584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0" name="Shape 5870"/>
        <p:cNvGrpSpPr/>
        <p:nvPr/>
      </p:nvGrpSpPr>
      <p:grpSpPr>
        <a:xfrm>
          <a:off x="0" y="0"/>
          <a:ext cx="0" cy="0"/>
          <a:chOff x="0" y="0"/>
          <a:chExt cx="0" cy="0"/>
        </a:xfrm>
      </p:grpSpPr>
      <p:sp>
        <p:nvSpPr>
          <p:cNvPr id="5871" name="Google Shape;5871;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2" name="Google Shape;5872;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(US.58, DOK 2). Have students commit to an answer (whiteboards, hand signal, or turn-and-talk) BEFORE advancing. Correct answer: B. The next slide reveals it. Why: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p>
          <a:p>
            <a:r>
              <a:t>✍ Students: Practice Quiz (Act 6) in the workbook.</a:t>
            </a:r>
          </a:p>
        </p:txBody>
      </p:sp>
      <p:sp>
        <p:nvSpPr>
          <p:cNvPr id="5873" name="Google Shape;5873;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4" name="Shape 5904"/>
        <p:cNvGrpSpPr/>
        <p:nvPr/>
      </p:nvGrpSpPr>
      <p:grpSpPr>
        <a:xfrm>
          <a:off x="0" y="0"/>
          <a:ext cx="0" cy="0"/>
          <a:chOff x="0" y="0"/>
          <a:chExt cx="0" cy="0"/>
        </a:xfrm>
      </p:grpSpPr>
      <p:sp>
        <p:nvSpPr>
          <p:cNvPr id="5905" name="Google Shape;5905;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6" name="Google Shape;5906;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(US.58). Correct: B.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907" name="Google Shape;5907;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7" name="Shape 5937"/>
        <p:cNvGrpSpPr/>
        <p:nvPr/>
      </p:nvGrpSpPr>
      <p:grpSpPr>
        <a:xfrm>
          <a:off x="0" y="0"/>
          <a:ext cx="0" cy="0"/>
          <a:chOff x="0" y="0"/>
          <a:chExt cx="0" cy="0"/>
        </a:xfrm>
      </p:grpSpPr>
      <p:sp>
        <p:nvSpPr>
          <p:cNvPr id="5938" name="Google Shape;5938;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9" name="Google Shape;5939;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(US.58, DOK 2). Prompt: Explain why the United Nations was founded and how it aimed to avoid the failures of the League of Nations.  Model answer: The United Nations was founded in 1945 to prevent another world war after the League of Nations had failed, largely because the U.S. never joined and it had no power to enforce decisions. Cordell Hull, FDR's Tennessean Secretary of State, helped plan it and is called a 'Father of the United Nations.' The UN gave major powers permanent Security Council seats and enforcement tools the League lacked, though it still faces limits on its power.  RETEACH TRIGGER — if a student misses this exit ticket: (1) &lt;50% of class miss → spiral it into the next standard’s Quick Review opener (see the US.58 review prompts). (2) Individual/small group → reteach with the "Lessons from League of Nations Failure" direct-instruction slide + re-run the SOURCE IT FIRST routine on the US.58 primary source, then assign the paired printable: cornell-notes/unit-6/us58-united-nations-cordell-hull.pdf. (3) Re-assess with the US.58 check-for-understanding reveal slide as a do-now the next day. Reteach anchors (this standard’s sections): Lessons from League of Nations Failure; Cordell Hull's Role; UN Goals and Structure; UN Legacy and Limitations. I Can objective: I can identify and explain the reasons for the founding of the United Nations, including the role of Cordell Hull.  HONORS / EXTENSION (DOK 3, for early finishers or advanced learners): Evaluate: Did the UN's design truly fix the flaws that doomed the League of Nations? Argue with at least two pieces of evidence. (SSP.04) — look for a clear claim plus two specific pieces of evidence.</a:t>
            </a:r>
            <a:endParaRPr/>
          </a:p>
        </p:txBody>
      </p:sp>
      <p:sp>
        <p:nvSpPr>
          <p:cNvPr id="5940" name="Google Shape;5940;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1" name="Shape 5961"/>
        <p:cNvGrpSpPr/>
        <p:nvPr/>
      </p:nvGrpSpPr>
      <p:grpSpPr>
        <a:xfrm>
          <a:off x="0" y="0"/>
          <a:ext cx="0" cy="0"/>
          <a:chOff x="0" y="0"/>
          <a:chExt cx="0" cy="0"/>
        </a:xfrm>
      </p:grpSpPr>
      <p:sp>
        <p:nvSpPr>
          <p:cNvPr id="5962" name="Google Shape;5962;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3" name="Google Shape;5963;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Primary Source &amp; HIPPO (Act 5) in the workbook.</a:t>
            </a:r>
          </a:p>
        </p:txBody>
      </p:sp>
      <p:sp>
        <p:nvSpPr>
          <p:cNvPr id="5964" name="Google Shape;5964;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 Id="rId4" Type="http://schemas.openxmlformats.org/officeDocument/2006/relationships/hyperlink" Target="https://commons.wikimedia.org/wiki/File:Reichsparteitag_of_the_NSDAP_in_Nuremberg,_SA_troops_march_past_Adolf_Hitler,_Sept._1935.jpg"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rchive.org/details/doctrineoffascis00mus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hyperlink" Target="https://commons.wikimedia.org/wiki/Category:Fireside_chat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chives.gov/milestone-documents/president-franklin-roosevelts-annual-message-to-congres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hyperlink" Target="https://commons.wikimedia.org/wiki/File:Buchenwald_Slave_Laborers_Liberation.jpg"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https://www.ushmm.org/collections/bibliography/elie-wiese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jpg"/><Relationship Id="rId4" Type="http://schemas.openxmlformats.org/officeDocument/2006/relationships/hyperlink" Target="https://commons.wikimedia.org/wiki/File:USS_SHAW_exploding_Pearl_Harbor_Nara_80-G-16871_2.jpg"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hyperlink" Target="https://www.archives.gov/legislative/features/day-of-infamy"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winstonchurchill.org/resources/speeches/1940-the-finest-hour/we-shall-fight-on-the-beaches/"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5.jpg"/><Relationship Id="rId4" Type="http://schemas.openxmlformats.org/officeDocument/2006/relationships/hyperlink" Target="https://commons.wikimedia.org/wiki/File:Raising_the_Flag_on_Iwo_Jima,_by_Joe_Rosenthal.jpg"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7.jpg"/><Relationship Id="rId4" Type="http://schemas.openxmlformats.org/officeDocument/2006/relationships/hyperlink" Target="https://commons.wikimedia.org/wiki/File:Into_the_Jaws_of_Death_23-0455M_edit.jpg"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hyperlink" Target="https://www.archives.gov/historical-docs/todays-doc/?dod-date=606"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jpg"/><Relationship Id="rId4" Type="http://schemas.openxmlformats.org/officeDocument/2006/relationships/hyperlink" Target="https://commons.wikimedia.org/wiki/File:Tuskegee_airmen_2_original.jpg"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hyperlink" Target="https://www.archives.gov/research/military/ww2/tuskegee-airmen"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8.jpg"/><Relationship Id="rId4" Type="http://schemas.openxmlformats.org/officeDocument/2006/relationships/hyperlink" Target="https://www.loc.gov/item/2017878540/"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hyperlink" Target="https://www.loc.gov/collections/world-war-ii-posters/" TargetMode="Externa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11.jpg"/><Relationship Id="rId4" Type="http://schemas.openxmlformats.org/officeDocument/2006/relationships/hyperlink" Target="https://commons.wikimedia.org/wiki/File:%22White%22_%26_%22Black%22_work_side_by_side_-_North_American_Aviation_Co._Plant_-_NARA_-_195477.jpg"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hyperlink" Target="https://www.archives.gov/milestone-documents/executive-order-8802"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9.jpg"/><Relationship Id="rId4" Type="http://schemas.openxmlformats.org/officeDocument/2006/relationships/hyperlink" Target="https://commons.wikimedia.org/wiki/File:Photograph_of_Members_of_the_Mochida_Family_Awaiting_Evacuation_-_NARA_-_537505.jpg"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hyperlink" Target="https://www.archives.gov/milestone-documents/executive-order-9066" TargetMode="Externa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jpg"/><Relationship Id="rId4" Type="http://schemas.openxmlformats.org/officeDocument/2006/relationships/hyperlink" Target="https://www.loc.gov/pictures/collection/fsa/" TargetMode="Externa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hyperlink" Target="https://www.archives.gov/education/lessons/wwii-rationing" TargetMode="Externa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jpg"/><Relationship Id="rId4" Type="http://schemas.openxmlformats.org/officeDocument/2006/relationships/hyperlink" Target="https://commons.wikimedia.org/wiki/File:Nagasakibomb.jpg" TargetMode="Externa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hyperlink" Target="https://www.trumanlibrary.gov/library/public-papers/93/statement-president-announcing-use-bomb-hiroshima" TargetMode="Externa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jpg"/><Relationship Id="rId4" Type="http://schemas.openxmlformats.org/officeDocument/2006/relationships/hyperlink" Target="https://commons.wikimedia.org/wiki/File:Yalta_Conference_(Churchill,_Roosevelt,_Stalin)_(B%26W).jpg"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hyperlink" Target="https://avalon.law.yale.edu/wwii/yalta.asp" TargetMode="Externa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4.jpg"/><Relationship Id="rId4" Type="http://schemas.openxmlformats.org/officeDocument/2006/relationships/hyperlink" Target="https://commons.wikimedia.org/wiki/File:Signing_Declaration_by_United_Nations.jpg" TargetMode="Externa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hyperlink" Target="https://www.un.org/en/about-us/un-charter/preamble" TargetMode="Externa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12045391" y="0"/>
            <a:ext cx="146304"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0"/>
            <a:ext cx="12045391"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371600"/>
            <a:ext cx="10058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800"/>
              <a:buFont typeface="Trebuchet MS"/>
              <a:buNone/>
            </a:pPr>
            <a:r>
              <a:rPr b="1" i="0" lang="en-US" sz="1800" u="none" cap="none" strike="noStrike">
                <a:solidFill>
                  <a:srgbClr val="C89B3C"/>
                </a:solidFill>
                <a:latin typeface="Trebuchet MS"/>
                <a:ea typeface="Trebuchet MS"/>
                <a:cs typeface="Trebuchet MS"/>
                <a:sym typeface="Trebuchet MS"/>
              </a:rPr>
              <a:t>U.S. HISTORY HACK</a:t>
            </a:r>
            <a:endParaRPr b="0" i="0" sz="1800" u="none" cap="none" strike="noStrike">
              <a:solidFill>
                <a:schemeClr val="dk1"/>
              </a:solidFill>
              <a:latin typeface="Calibri"/>
              <a:ea typeface="Calibri"/>
              <a:cs typeface="Calibri"/>
              <a:sym typeface="Calibri"/>
            </a:endParaRPr>
          </a:p>
        </p:txBody>
      </p:sp>
      <p:sp>
        <p:nvSpPr>
          <p:cNvPr id="19" name="Google Shape;19;p1"/>
          <p:cNvSpPr/>
          <p:nvPr/>
        </p:nvSpPr>
        <p:spPr>
          <a:xfrm>
            <a:off x="822960" y="182880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000"/>
              <a:buFont typeface="Georgia"/>
              <a:buNone/>
            </a:pPr>
            <a:r>
              <a:rPr b="1" i="0" lang="en-US" sz="6000" u="none" cap="none" strike="noStrike">
                <a:solidFill>
                  <a:srgbClr val="FFFFFF"/>
                </a:solidFill>
                <a:latin typeface="Georgia"/>
                <a:ea typeface="Georgia"/>
                <a:cs typeface="Georgia"/>
                <a:sym typeface="Georgia"/>
              </a:rPr>
              <a:t>Unit 6</a:t>
            </a:r>
            <a:endParaRPr b="0" i="0" sz="6000" u="none" cap="none" strike="noStrike">
              <a:solidFill>
                <a:schemeClr val="dk1"/>
              </a:solidFill>
              <a:latin typeface="Calibri"/>
              <a:ea typeface="Calibri"/>
              <a:cs typeface="Calibri"/>
              <a:sym typeface="Calibri"/>
            </a:endParaRPr>
          </a:p>
        </p:txBody>
      </p:sp>
      <p:sp>
        <p:nvSpPr>
          <p:cNvPr id="20" name="Google Shape;20;p1"/>
          <p:cNvSpPr/>
          <p:nvPr/>
        </p:nvSpPr>
        <p:spPr>
          <a:xfrm>
            <a:off x="822960" y="2788920"/>
            <a:ext cx="1024128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Georgia"/>
              <a:buNone/>
            </a:pPr>
            <a:r>
              <a:rPr b="1" i="0" lang="en-US" sz="3400" u="none" cap="none" strike="noStrike">
                <a:solidFill>
                  <a:srgbClr val="FFFFFF"/>
                </a:solidFill>
                <a:latin typeface="Georgia"/>
                <a:ea typeface="Georgia"/>
                <a:cs typeface="Georgia"/>
                <a:sym typeface="Georgia"/>
              </a:rPr>
              <a:t>World War II</a:t>
            </a:r>
            <a:endParaRPr b="0" i="0" sz="3400" u="none" cap="none" strike="noStrike">
              <a:solidFill>
                <a:schemeClr val="dk1"/>
              </a:solidFill>
              <a:latin typeface="Calibri"/>
              <a:ea typeface="Calibri"/>
              <a:cs typeface="Calibri"/>
              <a:sym typeface="Calibri"/>
            </a:endParaRPr>
          </a:p>
        </p:txBody>
      </p:sp>
      <p:sp>
        <p:nvSpPr>
          <p:cNvPr id="21" name="Google Shape;21;p1"/>
          <p:cNvSpPr/>
          <p:nvPr/>
        </p:nvSpPr>
        <p:spPr>
          <a:xfrm>
            <a:off x="822960" y="3456432"/>
            <a:ext cx="104241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900"/>
              <a:buFont typeface="Georgia"/>
              <a:buNone/>
            </a:pPr>
            <a:r>
              <a:rPr b="0" i="1" lang="en-US" sz="1900" u="none" cap="none" strike="noStrike">
                <a:solidFill>
                  <a:srgbClr val="C7D4E0"/>
                </a:solidFill>
                <a:latin typeface="Georgia"/>
                <a:ea typeface="Georgia"/>
                <a:cs typeface="Georgia"/>
                <a:sym typeface="Georgia"/>
              </a:rPr>
              <a:t>Totalitarianism · American Entry · Battles &amp; Leaders · Home Front · Atomic Bomb · Postwar Order   ·   1919–1945</a:t>
            </a:r>
            <a:endParaRPr b="0" i="0" sz="1900" u="none" cap="none" strike="noStrike">
              <a:solidFill>
                <a:schemeClr val="dk1"/>
              </a:solidFill>
              <a:latin typeface="Calibri"/>
              <a:ea typeface="Calibri"/>
              <a:cs typeface="Calibri"/>
              <a:sym typeface="Calibri"/>
            </a:endParaRPr>
          </a:p>
        </p:txBody>
      </p:sp>
      <p:sp>
        <p:nvSpPr>
          <p:cNvPr id="22" name="Google Shape;22;p1"/>
          <p:cNvSpPr/>
          <p:nvPr/>
        </p:nvSpPr>
        <p:spPr>
          <a:xfrm>
            <a:off x="822960" y="3931920"/>
            <a:ext cx="100584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800"/>
              <a:buFont typeface="Calibri"/>
              <a:buNone/>
            </a:pPr>
            <a:r>
              <a:rPr b="0" i="0" lang="en-US" sz="1800" u="none" cap="none" strike="noStrike">
                <a:solidFill>
                  <a:srgbClr val="A7BACB"/>
                </a:solidFill>
                <a:latin typeface="Calibri"/>
                <a:ea typeface="Calibri"/>
                <a:cs typeface="Calibri"/>
                <a:sym typeface="Calibri"/>
              </a:rPr>
              <a:t>Standards US.45 – US.58</a:t>
            </a:r>
            <a:endParaRPr b="0" i="0" sz="1800" u="none" cap="none" strike="noStrike">
              <a:solidFill>
                <a:schemeClr val="dk1"/>
              </a:solidFill>
              <a:latin typeface="Calibri"/>
              <a:ea typeface="Calibri"/>
              <a:cs typeface="Calibri"/>
              <a:sym typeface="Calibri"/>
            </a:endParaRPr>
          </a:p>
        </p:txBody>
      </p:sp>
      <p:sp>
        <p:nvSpPr>
          <p:cNvPr id="23" name="Google Shape;23;p1"/>
          <p:cNvSpPr/>
          <p:nvPr/>
        </p:nvSpPr>
        <p:spPr>
          <a:xfrm>
            <a:off x="82296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82296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US.45</a:t>
            </a:r>
            <a:endParaRPr b="0" i="0" sz="1250" u="none" cap="none" strike="noStrike">
              <a:solidFill>
                <a:schemeClr val="dk1"/>
              </a:solidFill>
              <a:latin typeface="Calibri"/>
              <a:ea typeface="Calibri"/>
              <a:cs typeface="Calibri"/>
              <a:sym typeface="Calibri"/>
            </a:endParaRPr>
          </a:p>
        </p:txBody>
      </p:sp>
      <p:sp>
        <p:nvSpPr>
          <p:cNvPr id="25" name="Google Shape;25;p1"/>
          <p:cNvSpPr/>
          <p:nvPr/>
        </p:nvSpPr>
        <p:spPr>
          <a:xfrm>
            <a:off x="198424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98424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US.46</a:t>
            </a:r>
            <a:endParaRPr b="0" i="0" sz="1250" u="none" cap="none" strike="noStrike">
              <a:solidFill>
                <a:schemeClr val="dk1"/>
              </a:solidFill>
              <a:latin typeface="Calibri"/>
              <a:ea typeface="Calibri"/>
              <a:cs typeface="Calibri"/>
              <a:sym typeface="Calibri"/>
            </a:endParaRPr>
          </a:p>
        </p:txBody>
      </p:sp>
      <p:sp>
        <p:nvSpPr>
          <p:cNvPr id="27" name="Google Shape;27;p1"/>
          <p:cNvSpPr/>
          <p:nvPr/>
        </p:nvSpPr>
        <p:spPr>
          <a:xfrm>
            <a:off x="314553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314553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US.47</a:t>
            </a:r>
            <a:endParaRPr b="0" i="0" sz="1250" u="none" cap="none" strike="noStrike">
              <a:solidFill>
                <a:schemeClr val="dk1"/>
              </a:solidFill>
              <a:latin typeface="Calibri"/>
              <a:ea typeface="Calibri"/>
              <a:cs typeface="Calibri"/>
              <a:sym typeface="Calibri"/>
            </a:endParaRPr>
          </a:p>
        </p:txBody>
      </p:sp>
      <p:sp>
        <p:nvSpPr>
          <p:cNvPr id="29" name="Google Shape;29;p1"/>
          <p:cNvSpPr/>
          <p:nvPr/>
        </p:nvSpPr>
        <p:spPr>
          <a:xfrm>
            <a:off x="430682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p:nvPr/>
        </p:nvSpPr>
        <p:spPr>
          <a:xfrm>
            <a:off x="430682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US.48</a:t>
            </a:r>
            <a:endParaRPr b="0" i="0" sz="1250" u="none" cap="none" strike="noStrike">
              <a:solidFill>
                <a:schemeClr val="dk1"/>
              </a:solidFill>
              <a:latin typeface="Calibri"/>
              <a:ea typeface="Calibri"/>
              <a:cs typeface="Calibri"/>
              <a:sym typeface="Calibri"/>
            </a:endParaRPr>
          </a:p>
        </p:txBody>
      </p:sp>
      <p:sp>
        <p:nvSpPr>
          <p:cNvPr id="31" name="Google Shape;31;p1"/>
          <p:cNvSpPr/>
          <p:nvPr/>
        </p:nvSpPr>
        <p:spPr>
          <a:xfrm>
            <a:off x="5468112"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p:nvPr/>
        </p:nvSpPr>
        <p:spPr>
          <a:xfrm>
            <a:off x="5468112"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US.49</a:t>
            </a:r>
            <a:endParaRPr b="0" i="0" sz="1250" u="none" cap="none" strike="noStrike">
              <a:solidFill>
                <a:schemeClr val="dk1"/>
              </a:solidFill>
              <a:latin typeface="Calibri"/>
              <a:ea typeface="Calibri"/>
              <a:cs typeface="Calibri"/>
              <a:sym typeface="Calibri"/>
            </a:endParaRPr>
          </a:p>
        </p:txBody>
      </p:sp>
      <p:sp>
        <p:nvSpPr>
          <p:cNvPr id="33" name="Google Shape;33;p1"/>
          <p:cNvSpPr/>
          <p:nvPr/>
        </p:nvSpPr>
        <p:spPr>
          <a:xfrm>
            <a:off x="662940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662940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US.50</a:t>
            </a:r>
            <a:endParaRPr b="0" i="0" sz="1250" u="none" cap="none" strike="noStrike">
              <a:solidFill>
                <a:schemeClr val="dk1"/>
              </a:solidFill>
              <a:latin typeface="Calibri"/>
              <a:ea typeface="Calibri"/>
              <a:cs typeface="Calibri"/>
              <a:sym typeface="Calibri"/>
            </a:endParaRPr>
          </a:p>
        </p:txBody>
      </p:sp>
      <p:sp>
        <p:nvSpPr>
          <p:cNvPr id="35" name="Google Shape;35;p1"/>
          <p:cNvSpPr/>
          <p:nvPr/>
        </p:nvSpPr>
        <p:spPr>
          <a:xfrm>
            <a:off x="779068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p:nvPr/>
        </p:nvSpPr>
        <p:spPr>
          <a:xfrm>
            <a:off x="779068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US.51</a:t>
            </a:r>
            <a:endParaRPr b="0" i="0" sz="1250" u="none" cap="none" strike="noStrike">
              <a:solidFill>
                <a:schemeClr val="dk1"/>
              </a:solidFill>
              <a:latin typeface="Calibri"/>
              <a:ea typeface="Calibri"/>
              <a:cs typeface="Calibri"/>
              <a:sym typeface="Calibri"/>
            </a:endParaRPr>
          </a:p>
        </p:txBody>
      </p:sp>
      <p:sp>
        <p:nvSpPr>
          <p:cNvPr id="37" name="Google Shape;37;p1"/>
          <p:cNvSpPr/>
          <p:nvPr/>
        </p:nvSpPr>
        <p:spPr>
          <a:xfrm>
            <a:off x="895197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p:nvPr/>
        </p:nvSpPr>
        <p:spPr>
          <a:xfrm>
            <a:off x="895197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US.52</a:t>
            </a:r>
            <a:endParaRPr b="0" i="0" sz="1250" u="none" cap="none" strike="noStrike">
              <a:solidFill>
                <a:schemeClr val="dk1"/>
              </a:solidFill>
              <a:latin typeface="Calibri"/>
              <a:ea typeface="Calibri"/>
              <a:cs typeface="Calibri"/>
              <a:sym typeface="Calibri"/>
            </a:endParaRPr>
          </a:p>
        </p:txBody>
      </p:sp>
      <p:sp>
        <p:nvSpPr>
          <p:cNvPr id="39" name="Google Shape;39;p1"/>
          <p:cNvSpPr/>
          <p:nvPr/>
        </p:nvSpPr>
        <p:spPr>
          <a:xfrm>
            <a:off x="1011326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p:nvPr/>
        </p:nvSpPr>
        <p:spPr>
          <a:xfrm>
            <a:off x="1011326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US.53</a:t>
            </a:r>
            <a:endParaRPr b="0" i="0" sz="1250" u="none" cap="none" strike="noStrike">
              <a:solidFill>
                <a:schemeClr val="dk1"/>
              </a:solidFill>
              <a:latin typeface="Calibri"/>
              <a:ea typeface="Calibri"/>
              <a:cs typeface="Calibri"/>
              <a:sym typeface="Calibri"/>
            </a:endParaRPr>
          </a:p>
        </p:txBody>
      </p:sp>
      <p:sp>
        <p:nvSpPr>
          <p:cNvPr id="41" name="Google Shape;41;p1"/>
          <p:cNvSpPr/>
          <p:nvPr/>
        </p:nvSpPr>
        <p:spPr>
          <a:xfrm>
            <a:off x="822960"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
          <p:cNvSpPr/>
          <p:nvPr/>
        </p:nvSpPr>
        <p:spPr>
          <a:xfrm>
            <a:off x="822960"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US.54</a:t>
            </a:r>
            <a:endParaRPr b="0" i="0" sz="1250" u="none" cap="none" strike="noStrike">
              <a:solidFill>
                <a:schemeClr val="dk1"/>
              </a:solidFill>
              <a:latin typeface="Calibri"/>
              <a:ea typeface="Calibri"/>
              <a:cs typeface="Calibri"/>
              <a:sym typeface="Calibri"/>
            </a:endParaRPr>
          </a:p>
        </p:txBody>
      </p:sp>
      <p:sp>
        <p:nvSpPr>
          <p:cNvPr id="43" name="Google Shape;43;p1"/>
          <p:cNvSpPr/>
          <p:nvPr/>
        </p:nvSpPr>
        <p:spPr>
          <a:xfrm>
            <a:off x="1984248"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1"/>
          <p:cNvSpPr/>
          <p:nvPr/>
        </p:nvSpPr>
        <p:spPr>
          <a:xfrm>
            <a:off x="1984248"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US.55</a:t>
            </a:r>
            <a:endParaRPr b="0" i="0" sz="1250" u="none" cap="none" strike="noStrike">
              <a:solidFill>
                <a:schemeClr val="dk1"/>
              </a:solidFill>
              <a:latin typeface="Calibri"/>
              <a:ea typeface="Calibri"/>
              <a:cs typeface="Calibri"/>
              <a:sym typeface="Calibri"/>
            </a:endParaRPr>
          </a:p>
        </p:txBody>
      </p:sp>
      <p:sp>
        <p:nvSpPr>
          <p:cNvPr id="45" name="Google Shape;45;p1"/>
          <p:cNvSpPr/>
          <p:nvPr/>
        </p:nvSpPr>
        <p:spPr>
          <a:xfrm>
            <a:off x="3145536"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1"/>
          <p:cNvSpPr/>
          <p:nvPr/>
        </p:nvSpPr>
        <p:spPr>
          <a:xfrm>
            <a:off x="3145536"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US.56</a:t>
            </a:r>
            <a:endParaRPr b="0" i="0" sz="1250" u="none" cap="none" strike="noStrike">
              <a:solidFill>
                <a:schemeClr val="dk1"/>
              </a:solidFill>
              <a:latin typeface="Calibri"/>
              <a:ea typeface="Calibri"/>
              <a:cs typeface="Calibri"/>
              <a:sym typeface="Calibri"/>
            </a:endParaRPr>
          </a:p>
        </p:txBody>
      </p:sp>
      <p:sp>
        <p:nvSpPr>
          <p:cNvPr id="47" name="Google Shape;47;p1"/>
          <p:cNvSpPr/>
          <p:nvPr/>
        </p:nvSpPr>
        <p:spPr>
          <a:xfrm>
            <a:off x="4306824"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1"/>
          <p:cNvSpPr/>
          <p:nvPr/>
        </p:nvSpPr>
        <p:spPr>
          <a:xfrm>
            <a:off x="4306824"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US.57</a:t>
            </a:r>
            <a:endParaRPr b="0" i="0" sz="1250" u="none" cap="none" strike="noStrike">
              <a:solidFill>
                <a:schemeClr val="dk1"/>
              </a:solidFill>
              <a:latin typeface="Calibri"/>
              <a:ea typeface="Calibri"/>
              <a:cs typeface="Calibri"/>
              <a:sym typeface="Calibri"/>
            </a:endParaRPr>
          </a:p>
        </p:txBody>
      </p:sp>
      <p:sp>
        <p:nvSpPr>
          <p:cNvPr id="49" name="Google Shape;49;p1"/>
          <p:cNvSpPr/>
          <p:nvPr/>
        </p:nvSpPr>
        <p:spPr>
          <a:xfrm>
            <a:off x="5468112"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
          <p:cNvSpPr/>
          <p:nvPr/>
        </p:nvSpPr>
        <p:spPr>
          <a:xfrm>
            <a:off x="5468112"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US.58</a:t>
            </a:r>
            <a:endParaRPr b="0" i="0" sz="1250" u="none" cap="none" strike="noStrike">
              <a:solidFill>
                <a:schemeClr val="dk1"/>
              </a:solidFill>
              <a:latin typeface="Calibri"/>
              <a:ea typeface="Calibri"/>
              <a:cs typeface="Calibri"/>
              <a:sym typeface="Calibri"/>
            </a:endParaRPr>
          </a:p>
        </p:txBody>
      </p:sp>
      <p:sp>
        <p:nvSpPr>
          <p:cNvPr id="51" name="Google Shape;51;p1"/>
          <p:cNvSpPr/>
          <p:nvPr/>
        </p:nvSpPr>
        <p:spPr>
          <a:xfrm>
            <a:off x="822960" y="585216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200"/>
              <a:buFont typeface="Trebuchet MS"/>
              <a:buNone/>
            </a:pPr>
            <a:r>
              <a:rPr b="0" i="0" lang="en-US" sz="1200" u="none" cap="none" strike="noStrike">
                <a:solidFill>
                  <a:srgbClr val="A7BACB"/>
                </a:solidFill>
                <a:latin typeface="Trebuchet MS"/>
                <a:ea typeface="Trebuchet MS"/>
                <a:cs typeface="Trebuchet MS"/>
                <a:sym typeface="Trebuchet MS"/>
              </a:rPr>
              <a:t>TCAP EOC LECTURE DECK  ·  Tennessee Academic Standards for U.S. History</a:t>
            </a:r>
            <a:endParaRPr b="0" i="0" sz="1200" u="none" cap="none" strike="noStrike">
              <a:solidFill>
                <a:schemeClr val="dk1"/>
              </a:solidFill>
              <a:latin typeface="Calibri"/>
              <a:ea typeface="Calibri"/>
              <a:cs typeface="Calibri"/>
              <a:sym typeface="Calibri"/>
            </a:endParaRPr>
          </a:p>
        </p:txBody>
      </p:sp>
      <p:sp>
        <p:nvSpPr>
          <p:cNvPr id="52" name="Google Shape;52;p1"/>
          <p:cNvSpPr/>
          <p:nvPr/>
        </p:nvSpPr>
        <p:spPr>
          <a:xfrm>
            <a:off x="822960" y="6263640"/>
            <a:ext cx="10515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Calibri"/>
              <a:buNone/>
            </a:pPr>
            <a:r>
              <a:rPr b="0" i="0" lang="en-US" sz="1100" u="none" cap="none" strike="noStrike">
                <a:solidFill>
                  <a:srgbClr val="A7BACB"/>
                </a:solidFill>
                <a:latin typeface="Calibri"/>
                <a:ea typeface="Calibri"/>
                <a:cs typeface="Calibri"/>
                <a:sym typeface="Calibri"/>
              </a:rPr>
              <a:t>TroopToTeacher Technologies LLC</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 name="Shape 57"/>
        <p:cNvGrpSpPr/>
        <p:nvPr/>
      </p:nvGrpSpPr>
      <p:grpSpPr>
        <a:xfrm>
          <a:off x="0" y="0"/>
          <a:ext cx="0" cy="0"/>
          <a:chOff x="0" y="0"/>
          <a:chExt cx="0" cy="0"/>
        </a:xfrm>
      </p:grpSpPr>
      <p:sp>
        <p:nvSpPr>
          <p:cNvPr id="58" name="Google Shape;58;p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UNIT ROADMAP</a:t>
            </a:r>
            <a:endParaRPr b="0" i="0" sz="1200" u="none" cap="none" strike="noStrike">
              <a:solidFill>
                <a:schemeClr val="dk1"/>
              </a:solidFill>
              <a:latin typeface="Calibri"/>
              <a:ea typeface="Calibri"/>
              <a:cs typeface="Calibri"/>
              <a:sym typeface="Calibri"/>
            </a:endParaRPr>
          </a:p>
        </p:txBody>
      </p:sp>
      <p:sp>
        <p:nvSpPr>
          <p:cNvPr id="60" name="Google Shape;60;p2"/>
          <p:cNvSpPr/>
          <p:nvPr/>
        </p:nvSpPr>
        <p:spPr>
          <a:xfrm>
            <a:off x="548640" y="777240"/>
            <a:ext cx="10972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400"/>
              <a:buFont typeface="Georgia"/>
              <a:buNone/>
            </a:pPr>
            <a:r>
              <a:rPr b="1" i="0" lang="en-US" sz="3400" u="none" cap="none" strike="noStrike">
                <a:solidFill>
                  <a:srgbClr val="1B2A4A"/>
                </a:solidFill>
                <a:latin typeface="Georgia"/>
                <a:ea typeface="Georgia"/>
                <a:cs typeface="Georgia"/>
                <a:sym typeface="Georgia"/>
              </a:rPr>
              <a:t>Where We Are Headed</a:t>
            </a:r>
            <a:endParaRPr b="0" i="0" sz="3400" u="none" cap="none" strike="noStrike">
              <a:solidFill>
                <a:schemeClr val="dk1"/>
              </a:solidFill>
              <a:latin typeface="Calibri"/>
              <a:ea typeface="Calibri"/>
              <a:cs typeface="Calibri"/>
              <a:sym typeface="Calibri"/>
            </a:endParaRPr>
          </a:p>
        </p:txBody>
      </p:sp>
      <p:sp>
        <p:nvSpPr>
          <p:cNvPr id="61" name="Google Shape;61;p2"/>
          <p:cNvSpPr/>
          <p:nvPr/>
        </p:nvSpPr>
        <p:spPr>
          <a:xfrm>
            <a:off x="548640" y="1353312"/>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300"/>
              <a:buFont typeface="Calibri"/>
              <a:buNone/>
            </a:pPr>
            <a:r>
              <a:rPr b="0" i="1" lang="en-US" sz="1300" u="none" cap="none" strike="noStrike">
                <a:solidFill>
                  <a:srgbClr val="5C6470"/>
                </a:solidFill>
                <a:latin typeface="Calibri"/>
                <a:ea typeface="Calibri"/>
                <a:cs typeface="Calibri"/>
                <a:sym typeface="Calibri"/>
              </a:rPr>
              <a:t>Unit 6 · World War II (1919–1945)  —  the Rise of Totalitarianism, American Entry, the War Fronts, the Home Front, and the Postwar Order</a:t>
            </a:r>
            <a:endParaRPr b="0" i="0" sz="1300" u="none" cap="none" strike="noStrike">
              <a:solidFill>
                <a:schemeClr val="dk1"/>
              </a:solidFill>
              <a:latin typeface="Calibri"/>
              <a:ea typeface="Calibri"/>
              <a:cs typeface="Calibri"/>
              <a:sym typeface="Calibri"/>
            </a:endParaRPr>
          </a:p>
        </p:txBody>
      </p:sp>
      <p:sp>
        <p:nvSpPr>
          <p:cNvPr id="62" name="Google Shape;62;p2"/>
          <p:cNvSpPr/>
          <p:nvPr/>
        </p:nvSpPr>
        <p:spPr>
          <a:xfrm>
            <a:off x="54864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54864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54864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US.45</a:t>
            </a:r>
            <a:endParaRPr b="0" i="0" sz="1600" u="none" cap="none" strike="noStrike">
              <a:solidFill>
                <a:schemeClr val="dk1"/>
              </a:solidFill>
              <a:latin typeface="Calibri"/>
              <a:ea typeface="Calibri"/>
              <a:cs typeface="Calibri"/>
              <a:sym typeface="Calibri"/>
            </a:endParaRPr>
          </a:p>
        </p:txBody>
      </p:sp>
      <p:sp>
        <p:nvSpPr>
          <p:cNvPr id="65" name="Google Shape;65;p2"/>
          <p:cNvSpPr/>
          <p:nvPr/>
        </p:nvSpPr>
        <p:spPr>
          <a:xfrm>
            <a:off x="192024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Rise and Spread of Fascism, Communism, and Totalitarianism</a:t>
            </a:r>
            <a:endParaRPr b="0" i="0" sz="1200" u="none" cap="none" strike="noStrike">
              <a:solidFill>
                <a:schemeClr val="dk1"/>
              </a:solidFill>
              <a:latin typeface="Calibri"/>
              <a:ea typeface="Calibri"/>
              <a:cs typeface="Calibri"/>
              <a:sym typeface="Calibri"/>
            </a:endParaRPr>
          </a:p>
        </p:txBody>
      </p:sp>
      <p:sp>
        <p:nvSpPr>
          <p:cNvPr id="66" name="Google Shape;66;p2"/>
          <p:cNvSpPr/>
          <p:nvPr/>
        </p:nvSpPr>
        <p:spPr>
          <a:xfrm rot="10800000">
            <a:off x="104241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54864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54864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54864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US.46</a:t>
            </a:r>
            <a:endParaRPr b="0" i="0" sz="1600" u="none" cap="none" strike="noStrike">
              <a:solidFill>
                <a:schemeClr val="dk1"/>
              </a:solidFill>
              <a:latin typeface="Calibri"/>
              <a:ea typeface="Calibri"/>
              <a:cs typeface="Calibri"/>
              <a:sym typeface="Calibri"/>
            </a:endParaRPr>
          </a:p>
        </p:txBody>
      </p:sp>
      <p:sp>
        <p:nvSpPr>
          <p:cNvPr id="70" name="Google Shape;70;p2"/>
          <p:cNvSpPr/>
          <p:nvPr/>
        </p:nvSpPr>
        <p:spPr>
          <a:xfrm>
            <a:off x="192024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FDR's Response to World Crises</a:t>
            </a:r>
            <a:endParaRPr b="0" i="0" sz="1200" u="none" cap="none" strike="noStrike">
              <a:solidFill>
                <a:schemeClr val="dk1"/>
              </a:solidFill>
              <a:latin typeface="Calibri"/>
              <a:ea typeface="Calibri"/>
              <a:cs typeface="Calibri"/>
              <a:sym typeface="Calibri"/>
            </a:endParaRPr>
          </a:p>
        </p:txBody>
      </p:sp>
      <p:sp>
        <p:nvSpPr>
          <p:cNvPr id="71" name="Google Shape;71;p2"/>
          <p:cNvSpPr/>
          <p:nvPr/>
        </p:nvSpPr>
        <p:spPr>
          <a:xfrm rot="10800000">
            <a:off x="104241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54864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54864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4864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US.47</a:t>
            </a:r>
            <a:endParaRPr b="0" i="0" sz="1600" u="none" cap="none" strike="noStrike">
              <a:solidFill>
                <a:schemeClr val="dk1"/>
              </a:solidFill>
              <a:latin typeface="Calibri"/>
              <a:ea typeface="Calibri"/>
              <a:cs typeface="Calibri"/>
              <a:sym typeface="Calibri"/>
            </a:endParaRPr>
          </a:p>
        </p:txBody>
      </p:sp>
      <p:sp>
        <p:nvSpPr>
          <p:cNvPr id="75" name="Google Shape;75;p2"/>
          <p:cNvSpPr/>
          <p:nvPr/>
        </p:nvSpPr>
        <p:spPr>
          <a:xfrm>
            <a:off x="192024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U.S. Response to the Holocaust</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rot="10800000">
            <a:off x="104241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54864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54864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54864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US.48</a:t>
            </a:r>
            <a:endParaRPr b="0" i="0" sz="1600" u="none" cap="none" strike="noStrike">
              <a:solidFill>
                <a:schemeClr val="dk1"/>
              </a:solidFill>
              <a:latin typeface="Calibri"/>
              <a:ea typeface="Calibri"/>
              <a:cs typeface="Calibri"/>
              <a:sym typeface="Calibri"/>
            </a:endParaRPr>
          </a:p>
        </p:txBody>
      </p:sp>
      <p:sp>
        <p:nvSpPr>
          <p:cNvPr id="80" name="Google Shape;80;p2"/>
          <p:cNvSpPr/>
          <p:nvPr/>
        </p:nvSpPr>
        <p:spPr>
          <a:xfrm>
            <a:off x="192024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American Entry into World War II</a:t>
            </a:r>
            <a:endParaRPr b="0" i="0" sz="1200" u="none" cap="none" strike="noStrike">
              <a:solidFill>
                <a:schemeClr val="dk1"/>
              </a:solidFill>
              <a:latin typeface="Calibri"/>
              <a:ea typeface="Calibri"/>
              <a:cs typeface="Calibri"/>
              <a:sym typeface="Calibri"/>
            </a:endParaRPr>
          </a:p>
        </p:txBody>
      </p:sp>
      <p:sp>
        <p:nvSpPr>
          <p:cNvPr id="81" name="Google Shape;81;p2"/>
          <p:cNvSpPr/>
          <p:nvPr/>
        </p:nvSpPr>
        <p:spPr>
          <a:xfrm rot="10800000">
            <a:off x="104241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54864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54864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54864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US.49</a:t>
            </a:r>
            <a:endParaRPr b="0" i="0" sz="1600" u="none" cap="none" strike="noStrike">
              <a:solidFill>
                <a:schemeClr val="dk1"/>
              </a:solidFill>
              <a:latin typeface="Calibri"/>
              <a:ea typeface="Calibri"/>
              <a:cs typeface="Calibri"/>
              <a:sym typeface="Calibri"/>
            </a:endParaRPr>
          </a:p>
        </p:txBody>
      </p:sp>
      <p:sp>
        <p:nvSpPr>
          <p:cNvPr id="85" name="Google Shape;85;p2"/>
          <p:cNvSpPr/>
          <p:nvPr/>
        </p:nvSpPr>
        <p:spPr>
          <a:xfrm>
            <a:off x="192024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WWII Leaders &amp; Key Figures</a:t>
            </a:r>
            <a:endParaRPr b="0" i="0" sz="1200" u="none" cap="none" strike="noStrike">
              <a:solidFill>
                <a:schemeClr val="dk1"/>
              </a:solidFill>
              <a:latin typeface="Calibri"/>
              <a:ea typeface="Calibri"/>
              <a:cs typeface="Calibri"/>
              <a:sym typeface="Calibri"/>
            </a:endParaRPr>
          </a:p>
        </p:txBody>
      </p:sp>
      <p:sp>
        <p:nvSpPr>
          <p:cNvPr id="86" name="Google Shape;86;p2"/>
          <p:cNvSpPr/>
          <p:nvPr/>
        </p:nvSpPr>
        <p:spPr>
          <a:xfrm rot="10800000">
            <a:off x="104241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864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4864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4864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US.50</a:t>
            </a:r>
            <a:endParaRPr b="0" i="0" sz="1600" u="none" cap="none" strike="noStrike">
              <a:solidFill>
                <a:schemeClr val="dk1"/>
              </a:solidFill>
              <a:latin typeface="Calibri"/>
              <a:ea typeface="Calibri"/>
              <a:cs typeface="Calibri"/>
              <a:sym typeface="Calibri"/>
            </a:endParaRPr>
          </a:p>
        </p:txBody>
      </p:sp>
      <p:sp>
        <p:nvSpPr>
          <p:cNvPr id="90" name="Google Shape;90;p2"/>
          <p:cNvSpPr/>
          <p:nvPr/>
        </p:nvSpPr>
        <p:spPr>
          <a:xfrm>
            <a:off x="192024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Major WWII Battles: Midway, Iwo Jima, Okinawa &amp; D-Day</a:t>
            </a:r>
            <a:endParaRPr b="0" i="0" sz="1200" u="none" cap="none" strike="noStrike">
              <a:solidFill>
                <a:schemeClr val="dk1"/>
              </a:solidFill>
              <a:latin typeface="Calibri"/>
              <a:ea typeface="Calibri"/>
              <a:cs typeface="Calibri"/>
              <a:sym typeface="Calibri"/>
            </a:endParaRPr>
          </a:p>
        </p:txBody>
      </p:sp>
      <p:sp>
        <p:nvSpPr>
          <p:cNvPr id="91" name="Google Shape;91;p2"/>
          <p:cNvSpPr/>
          <p:nvPr/>
        </p:nvSpPr>
        <p:spPr>
          <a:xfrm rot="10800000">
            <a:off x="104241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4864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4864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4864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US.51</a:t>
            </a:r>
            <a:endParaRPr b="0" i="0" sz="1600" u="none" cap="none" strike="noStrike">
              <a:solidFill>
                <a:schemeClr val="dk1"/>
              </a:solidFill>
              <a:latin typeface="Calibri"/>
              <a:ea typeface="Calibri"/>
              <a:cs typeface="Calibri"/>
              <a:sym typeface="Calibri"/>
            </a:endParaRPr>
          </a:p>
        </p:txBody>
      </p:sp>
      <p:sp>
        <p:nvSpPr>
          <p:cNvPr id="95" name="Google Shape;95;p2"/>
          <p:cNvSpPr/>
          <p:nvPr/>
        </p:nvSpPr>
        <p:spPr>
          <a:xfrm>
            <a:off x="192024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Special Fighting Forces in WWII</a:t>
            </a:r>
            <a:endParaRPr b="0" i="0" sz="1200" u="none" cap="none" strike="noStrike">
              <a:solidFill>
                <a:schemeClr val="dk1"/>
              </a:solidFill>
              <a:latin typeface="Calibri"/>
              <a:ea typeface="Calibri"/>
              <a:cs typeface="Calibri"/>
              <a:sym typeface="Calibri"/>
            </a:endParaRPr>
          </a:p>
        </p:txBody>
      </p:sp>
      <p:sp>
        <p:nvSpPr>
          <p:cNvPr id="96" name="Google Shape;96;p2"/>
          <p:cNvSpPr/>
          <p:nvPr/>
        </p:nvSpPr>
        <p:spPr>
          <a:xfrm>
            <a:off x="630936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630936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630936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US.52</a:t>
            </a:r>
            <a:endParaRPr b="0" i="0" sz="1600" u="none" cap="none" strike="noStrike">
              <a:solidFill>
                <a:schemeClr val="dk1"/>
              </a:solidFill>
              <a:latin typeface="Calibri"/>
              <a:ea typeface="Calibri"/>
              <a:cs typeface="Calibri"/>
              <a:sym typeface="Calibri"/>
            </a:endParaRPr>
          </a:p>
        </p:txBody>
      </p:sp>
      <p:sp>
        <p:nvSpPr>
          <p:cNvPr id="99" name="Google Shape;99;p2"/>
          <p:cNvSpPr/>
          <p:nvPr/>
        </p:nvSpPr>
        <p:spPr>
          <a:xfrm>
            <a:off x="768096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Women in World War II</a:t>
            </a:r>
            <a:endParaRPr b="0" i="0" sz="1200" u="none" cap="none" strike="noStrike">
              <a:solidFill>
                <a:schemeClr val="dk1"/>
              </a:solidFill>
              <a:latin typeface="Calibri"/>
              <a:ea typeface="Calibri"/>
              <a:cs typeface="Calibri"/>
              <a:sym typeface="Calibri"/>
            </a:endParaRPr>
          </a:p>
        </p:txBody>
      </p:sp>
      <p:sp>
        <p:nvSpPr>
          <p:cNvPr id="100" name="Google Shape;100;p2"/>
          <p:cNvSpPr/>
          <p:nvPr/>
        </p:nvSpPr>
        <p:spPr>
          <a:xfrm rot="10800000">
            <a:off x="680313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630936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630936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630936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US.53</a:t>
            </a:r>
            <a:endParaRPr b="0" i="0" sz="1600" u="none" cap="none" strike="noStrike">
              <a:solidFill>
                <a:schemeClr val="dk1"/>
              </a:solidFill>
              <a:latin typeface="Calibri"/>
              <a:ea typeface="Calibri"/>
              <a:cs typeface="Calibri"/>
              <a:sym typeface="Calibri"/>
            </a:endParaRPr>
          </a:p>
        </p:txBody>
      </p:sp>
      <p:sp>
        <p:nvSpPr>
          <p:cNvPr id="104" name="Google Shape;104;p2"/>
          <p:cNvSpPr/>
          <p:nvPr/>
        </p:nvSpPr>
        <p:spPr>
          <a:xfrm>
            <a:off x="768096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African Americans in WWII</a:t>
            </a:r>
            <a:endParaRPr b="0" i="0" sz="1200" u="none" cap="none" strike="noStrike">
              <a:solidFill>
                <a:schemeClr val="dk1"/>
              </a:solidFill>
              <a:latin typeface="Calibri"/>
              <a:ea typeface="Calibri"/>
              <a:cs typeface="Calibri"/>
              <a:sym typeface="Calibri"/>
            </a:endParaRPr>
          </a:p>
        </p:txBody>
      </p:sp>
      <p:sp>
        <p:nvSpPr>
          <p:cNvPr id="105" name="Google Shape;105;p2"/>
          <p:cNvSpPr/>
          <p:nvPr/>
        </p:nvSpPr>
        <p:spPr>
          <a:xfrm rot="10800000">
            <a:off x="680313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630936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630936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630936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US.54</a:t>
            </a:r>
            <a:endParaRPr b="0" i="0" sz="1600" u="none" cap="none" strike="noStrike">
              <a:solidFill>
                <a:schemeClr val="dk1"/>
              </a:solidFill>
              <a:latin typeface="Calibri"/>
              <a:ea typeface="Calibri"/>
              <a:cs typeface="Calibri"/>
              <a:sym typeface="Calibri"/>
            </a:endParaRPr>
          </a:p>
        </p:txBody>
      </p:sp>
      <p:sp>
        <p:nvSpPr>
          <p:cNvPr id="109" name="Google Shape;109;p2"/>
          <p:cNvSpPr/>
          <p:nvPr/>
        </p:nvSpPr>
        <p:spPr>
          <a:xfrm>
            <a:off x="768096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Japanese American Internment &amp; Korematsu</a:t>
            </a:r>
            <a:endParaRPr b="0" i="0" sz="1200" u="none" cap="none" strike="noStrike">
              <a:solidFill>
                <a:schemeClr val="dk1"/>
              </a:solidFill>
              <a:latin typeface="Calibri"/>
              <a:ea typeface="Calibri"/>
              <a:cs typeface="Calibri"/>
              <a:sym typeface="Calibri"/>
            </a:endParaRPr>
          </a:p>
        </p:txBody>
      </p:sp>
      <p:sp>
        <p:nvSpPr>
          <p:cNvPr id="110" name="Google Shape;110;p2"/>
          <p:cNvSpPr/>
          <p:nvPr/>
        </p:nvSpPr>
        <p:spPr>
          <a:xfrm rot="10800000">
            <a:off x="680313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630936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630936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630936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US.55</a:t>
            </a:r>
            <a:endParaRPr b="0" i="0" sz="1600" u="none" cap="none" strike="noStrike">
              <a:solidFill>
                <a:schemeClr val="dk1"/>
              </a:solidFill>
              <a:latin typeface="Calibri"/>
              <a:ea typeface="Calibri"/>
              <a:cs typeface="Calibri"/>
              <a:sym typeface="Calibri"/>
            </a:endParaRPr>
          </a:p>
        </p:txBody>
      </p:sp>
      <p:sp>
        <p:nvSpPr>
          <p:cNvPr id="114" name="Google Shape;114;p2"/>
          <p:cNvSpPr/>
          <p:nvPr/>
        </p:nvSpPr>
        <p:spPr>
          <a:xfrm>
            <a:off x="768096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Home Front Mobilization</a:t>
            </a:r>
            <a:endParaRPr b="0" i="0" sz="1200" u="none" cap="none" strike="noStrike">
              <a:solidFill>
                <a:schemeClr val="dk1"/>
              </a:solidFill>
              <a:latin typeface="Calibri"/>
              <a:ea typeface="Calibri"/>
              <a:cs typeface="Calibri"/>
              <a:sym typeface="Calibri"/>
            </a:endParaRPr>
          </a:p>
        </p:txBody>
      </p:sp>
      <p:sp>
        <p:nvSpPr>
          <p:cNvPr id="115" name="Google Shape;115;p2"/>
          <p:cNvSpPr/>
          <p:nvPr/>
        </p:nvSpPr>
        <p:spPr>
          <a:xfrm rot="10800000">
            <a:off x="680313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630936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630936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630936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US.56</a:t>
            </a:r>
            <a:endParaRPr b="0" i="0" sz="1600" u="none" cap="none" strike="noStrike">
              <a:solidFill>
                <a:schemeClr val="dk1"/>
              </a:solidFill>
              <a:latin typeface="Calibri"/>
              <a:ea typeface="Calibri"/>
              <a:cs typeface="Calibri"/>
              <a:sym typeface="Calibri"/>
            </a:endParaRPr>
          </a:p>
        </p:txBody>
      </p:sp>
      <p:sp>
        <p:nvSpPr>
          <p:cNvPr id="119" name="Google Shape;119;p2"/>
          <p:cNvSpPr/>
          <p:nvPr/>
        </p:nvSpPr>
        <p:spPr>
          <a:xfrm>
            <a:off x="768096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Manhattan Project &amp; Atomic Bomb</a:t>
            </a:r>
            <a:endParaRPr b="0" i="0" sz="1200" u="none" cap="none" strike="noStrike">
              <a:solidFill>
                <a:schemeClr val="dk1"/>
              </a:solidFill>
              <a:latin typeface="Calibri"/>
              <a:ea typeface="Calibri"/>
              <a:cs typeface="Calibri"/>
              <a:sym typeface="Calibri"/>
            </a:endParaRPr>
          </a:p>
        </p:txBody>
      </p:sp>
      <p:sp>
        <p:nvSpPr>
          <p:cNvPr id="120" name="Google Shape;120;p2"/>
          <p:cNvSpPr/>
          <p:nvPr/>
        </p:nvSpPr>
        <p:spPr>
          <a:xfrm rot="10800000">
            <a:off x="680313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630936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630936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630936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US.57</a:t>
            </a:r>
            <a:endParaRPr b="0" i="0" sz="1600" u="none" cap="none" strike="noStrike">
              <a:solidFill>
                <a:schemeClr val="dk1"/>
              </a:solidFill>
              <a:latin typeface="Calibri"/>
              <a:ea typeface="Calibri"/>
              <a:cs typeface="Calibri"/>
              <a:sym typeface="Calibri"/>
            </a:endParaRPr>
          </a:p>
        </p:txBody>
      </p:sp>
      <p:sp>
        <p:nvSpPr>
          <p:cNvPr id="124" name="Google Shape;124;p2"/>
          <p:cNvSpPr/>
          <p:nvPr/>
        </p:nvSpPr>
        <p:spPr>
          <a:xfrm>
            <a:off x="768096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Yalta and Potsdam Conferences</a:t>
            </a:r>
            <a:endParaRPr b="0" i="0" sz="1200" u="none" cap="none" strike="noStrike">
              <a:solidFill>
                <a:schemeClr val="dk1"/>
              </a:solidFill>
              <a:latin typeface="Calibri"/>
              <a:ea typeface="Calibri"/>
              <a:cs typeface="Calibri"/>
              <a:sym typeface="Calibri"/>
            </a:endParaRPr>
          </a:p>
        </p:txBody>
      </p:sp>
      <p:sp>
        <p:nvSpPr>
          <p:cNvPr id="125" name="Google Shape;125;p2"/>
          <p:cNvSpPr/>
          <p:nvPr/>
        </p:nvSpPr>
        <p:spPr>
          <a:xfrm rot="10800000">
            <a:off x="680313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630936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630936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630936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US.58</a:t>
            </a:r>
            <a:endParaRPr b="0" i="0" sz="1600" u="none" cap="none" strike="noStrike">
              <a:solidFill>
                <a:schemeClr val="dk1"/>
              </a:solidFill>
              <a:latin typeface="Calibri"/>
              <a:ea typeface="Calibri"/>
              <a:cs typeface="Calibri"/>
              <a:sym typeface="Calibri"/>
            </a:endParaRPr>
          </a:p>
        </p:txBody>
      </p:sp>
      <p:sp>
        <p:nvSpPr>
          <p:cNvPr id="129" name="Google Shape;129;p2"/>
          <p:cNvSpPr/>
          <p:nvPr/>
        </p:nvSpPr>
        <p:spPr>
          <a:xfrm>
            <a:off x="768096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Founding of the United Nations &amp; Cordell Hull</a:t>
            </a:r>
            <a:endParaRPr b="0" i="0" sz="1200" u="none" cap="none" strike="noStrike">
              <a:solidFill>
                <a:schemeClr val="dk1"/>
              </a:solidFill>
              <a:latin typeface="Calibri"/>
              <a:ea typeface="Calibri"/>
              <a:cs typeface="Calibri"/>
              <a:sym typeface="Calibri"/>
            </a:endParaRPr>
          </a:p>
        </p:txBody>
      </p:sp>
      <p:sp>
        <p:nvSpPr>
          <p:cNvPr id="130" name="Google Shape;130;p2"/>
          <p:cNvSpPr/>
          <p:nvPr/>
        </p:nvSpPr>
        <p:spPr>
          <a:xfrm>
            <a:off x="5532120" y="1856232"/>
            <a:ext cx="658368" cy="384048"/>
          </a:xfrm>
          <a:prstGeom prst="roundRect">
            <a:avLst>
              <a:gd fmla="val 1428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5532120" y="1856232"/>
            <a:ext cx="65836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900"/>
              <a:buFont typeface="Trebuchet MS"/>
              <a:buNone/>
            </a:pPr>
            <a:r>
              <a:rPr b="1" i="0" lang="en-US" sz="900" u="none" cap="none" strike="noStrike">
                <a:solidFill>
                  <a:srgbClr val="C89B3C"/>
                </a:solidFill>
                <a:latin typeface="Trebuchet MS"/>
                <a:ea typeface="Trebuchet MS"/>
                <a:cs typeface="Trebuchet MS"/>
                <a:sym typeface="Trebuchet MS"/>
              </a:rPr>
              <a:t>then</a:t>
            </a:r>
            <a:endParaRPr b="0" i="0" sz="900" u="none" cap="none" strike="noStrike">
              <a:solidFill>
                <a:schemeClr val="dk1"/>
              </a:solidFill>
              <a:latin typeface="Calibri"/>
              <a:ea typeface="Calibri"/>
              <a:cs typeface="Calibri"/>
              <a:sym typeface="Calibri"/>
            </a:endParaRPr>
          </a:p>
        </p:txBody>
      </p:sp>
      <p:sp>
        <p:nvSpPr>
          <p:cNvPr id="132" name="Google Shape;132;p2"/>
          <p:cNvSpPr/>
          <p:nvPr/>
        </p:nvSpPr>
        <p:spPr>
          <a:xfrm rot="5400000">
            <a:off x="6199632" y="1984248"/>
            <a:ext cx="164592" cy="146304"/>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 name="Google Shape;134;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858"/>
        </a:solidFill>
      </p:bgPr>
    </p:bg>
    <p:spTree>
      <p:nvGrpSpPr>
        <p:cNvPr id="139" name="Shape 139"/>
        <p:cNvGrpSpPr/>
        <p:nvPr/>
      </p:nvGrpSpPr>
      <p:grpSpPr>
        <a:xfrm>
          <a:off x="0" y="0"/>
          <a:ext cx="0" cy="0"/>
          <a:chOff x="0" y="0"/>
          <a:chExt cx="0" cy="0"/>
        </a:xfrm>
      </p:grpSpPr>
      <p:sp>
        <p:nvSpPr>
          <p:cNvPr id="140" name="Google Shape;140;p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640080" y="6400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BELL RINGER · HOOK</a:t>
            </a:r>
            <a:endParaRPr b="0" i="0" sz="1200" u="none" cap="none" strike="noStrike">
              <a:solidFill>
                <a:schemeClr val="dk1"/>
              </a:solidFill>
              <a:latin typeface="Calibri"/>
              <a:ea typeface="Calibri"/>
              <a:cs typeface="Calibri"/>
              <a:sym typeface="Calibri"/>
            </a:endParaRPr>
          </a:p>
        </p:txBody>
      </p:sp>
      <p:sp>
        <p:nvSpPr>
          <p:cNvPr id="142" name="Google Shape;142;p3"/>
          <p:cNvSpPr/>
          <p:nvPr/>
        </p:nvSpPr>
        <p:spPr>
          <a:xfrm>
            <a:off x="640080" y="1234440"/>
            <a:ext cx="10789920" cy="1965960"/>
          </a:xfrm>
          <a:prstGeom prst="rect">
            <a:avLst/>
          </a:prstGeom>
          <a:noFill/>
          <a:ln>
            <a:noFill/>
          </a:ln>
        </p:spPr>
        <p:txBody>
          <a:bodyPr anchorCtr="0" anchor="t" bIns="45700" lIns="91425" spcFirstLastPara="1" rIns="91425" wrap="square" tIns="45700">
            <a:normAutofit/>
          </a:bodyPr>
          <a:lstStyle/>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On December 7, 1941, Japanese planes struck the U.S. fleet at Pearl Harbor, and a nation that had tried to stay out of Europe's war was pulled fully into the largest conflict in human history.</a:t>
            </a:r>
            <a:endParaRPr b="0" i="0" sz="30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Across the next four years the United States would mobilize its factories, its people, and its science — and confront choices about freedom, sacrifice, and power that still shape the world today.</a:t>
            </a:r>
            <a:endParaRPr b="0" i="0" sz="3000" u="none" cap="none" strike="noStrike">
              <a:solidFill>
                <a:schemeClr val="dk1"/>
              </a:solidFill>
              <a:latin typeface="Calibri"/>
              <a:ea typeface="Calibri"/>
              <a:cs typeface="Calibri"/>
              <a:sym typeface="Calibri"/>
            </a:endParaRPr>
          </a:p>
        </p:txBody>
      </p:sp>
      <p:sp>
        <p:nvSpPr>
          <p:cNvPr id="143" name="Google Shape;143;p3"/>
          <p:cNvSpPr/>
          <p:nvPr/>
        </p:nvSpPr>
        <p:spPr>
          <a:xfrm>
            <a:off x="2590325" y="320025"/>
            <a:ext cx="8656800" cy="9144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How did the United States move from neutrality to total war — and what did victory cost, both abroad and at home?</a:t>
            </a:r>
            <a:endParaRPr b="0" i="0" sz="2200" u="none" cap="none" strike="noStrike">
              <a:solidFill>
                <a:schemeClr val="dk1"/>
              </a:solidFill>
              <a:latin typeface="Calibri"/>
              <a:ea typeface="Calibri"/>
              <a:cs typeface="Calibri"/>
              <a:sym typeface="Calibri"/>
            </a:endParaRPr>
          </a:p>
        </p:txBody>
      </p:sp>
      <p:sp>
        <p:nvSpPr>
          <p:cNvPr id="144" name="Google Shape;144;p3"/>
          <p:cNvSpPr/>
          <p:nvPr/>
        </p:nvSpPr>
        <p:spPr>
          <a:xfrm>
            <a:off x="594375" y="5236699"/>
            <a:ext cx="10881300" cy="1350900"/>
          </a:xfrm>
          <a:prstGeom prst="roundRect">
            <a:avLst>
              <a:gd fmla="val 6452"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929500" y="5236695"/>
            <a:ext cx="274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TURN &amp; TALK</a:t>
            </a:r>
            <a:endParaRPr b="0" i="0" sz="1300" u="none" cap="none" strike="noStrike">
              <a:solidFill>
                <a:schemeClr val="dk1"/>
              </a:solidFill>
              <a:latin typeface="Calibri"/>
              <a:ea typeface="Calibri"/>
              <a:cs typeface="Calibri"/>
              <a:sym typeface="Calibri"/>
            </a:endParaRPr>
          </a:p>
        </p:txBody>
      </p:sp>
      <p:sp>
        <p:nvSpPr>
          <p:cNvPr id="146" name="Google Shape;146;p3"/>
          <p:cNvSpPr/>
          <p:nvPr/>
        </p:nvSpPr>
        <p:spPr>
          <a:xfrm>
            <a:off x="929538" y="5556798"/>
            <a:ext cx="103326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With a partner, list three reasons a country might try to stay out of a foreign war, and one thing that could force it to fight anyway. Then predict: once the U.S. entered WWII, whose lives at home would change the most? Keep your list; we will return to it at the end of the unit.</a:t>
            </a:r>
            <a:endParaRPr b="0" i="0" sz="1600" u="none" cap="none" strike="noStrike">
              <a:solidFill>
                <a:schemeClr val="dk1"/>
              </a:solidFill>
              <a:latin typeface="Calibri"/>
              <a:ea typeface="Calibri"/>
              <a:cs typeface="Calibri"/>
              <a:sym typeface="Calibri"/>
            </a:endParaRPr>
          </a:p>
        </p:txBody>
      </p:sp>
      <p:sp>
        <p:nvSpPr>
          <p:cNvPr id="147" name="Google Shape;147;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 name="Google Shape;148;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3" name="Shape 153"/>
        <p:cNvGrpSpPr/>
        <p:nvPr/>
      </p:nvGrpSpPr>
      <p:grpSpPr>
        <a:xfrm>
          <a:off x="0" y="0"/>
          <a:ext cx="0" cy="0"/>
          <a:chOff x="0" y="0"/>
          <a:chExt cx="0" cy="0"/>
        </a:xfrm>
      </p:grpSpPr>
      <p:sp>
        <p:nvSpPr>
          <p:cNvPr id="154" name="Google Shape;154;p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US.45</a:t>
            </a:r>
            <a:endParaRPr b="0" i="0" sz="8800" u="none" cap="none" strike="noStrike">
              <a:solidFill>
                <a:schemeClr val="dk1"/>
              </a:solidFill>
              <a:latin typeface="Calibri"/>
              <a:ea typeface="Calibri"/>
              <a:cs typeface="Calibri"/>
              <a:sym typeface="Calibri"/>
            </a:endParaRPr>
          </a:p>
        </p:txBody>
      </p:sp>
      <p:sp>
        <p:nvSpPr>
          <p:cNvPr id="158" name="Google Shape;158;p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Rise and Spread of Fascism, Communism, and Totalitarianism</a:t>
            </a:r>
            <a:endParaRPr b="0" i="0" sz="2200" u="none" cap="none" strike="noStrike">
              <a:solidFill>
                <a:schemeClr val="dk1"/>
              </a:solidFill>
              <a:latin typeface="Calibri"/>
              <a:ea typeface="Calibri"/>
              <a:cs typeface="Calibri"/>
              <a:sym typeface="Calibri"/>
            </a:endParaRPr>
          </a:p>
        </p:txBody>
      </p:sp>
      <p:sp>
        <p:nvSpPr>
          <p:cNvPr id="159" name="Google Shape;159;p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60" name="Google Shape;160;p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62" name="Google Shape;162;p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63" name="Google Shape;163;p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165" name="Google Shape;165;p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166" name="Google Shape;166;p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68" name="Google Shape;168;p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69" name="Google Shape;169;p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71" name="Google Shape;171;p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rise and spread of fascism, communism, and totalitarianism internationally.</a:t>
            </a:r>
            <a:endParaRPr b="0" i="0" sz="1300" u="none" cap="none" strike="noStrike">
              <a:solidFill>
                <a:schemeClr val="dk1"/>
              </a:solidFill>
              <a:latin typeface="Calibri"/>
              <a:ea typeface="Calibri"/>
              <a:cs typeface="Calibri"/>
              <a:sym typeface="Calibri"/>
            </a:endParaRPr>
          </a:p>
        </p:txBody>
      </p:sp>
      <p:sp>
        <p:nvSpPr>
          <p:cNvPr id="172" name="Google Shape;172;p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74" name="Google Shape;174;p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350" u="none" cap="none" strike="noStrike">
              <a:solidFill>
                <a:schemeClr val="dk1"/>
              </a:solidFill>
              <a:latin typeface="Calibri"/>
              <a:ea typeface="Calibri"/>
              <a:cs typeface="Calibri"/>
              <a:sym typeface="Calibri"/>
            </a:endParaRPr>
          </a:p>
        </p:txBody>
      </p:sp>
      <p:sp>
        <p:nvSpPr>
          <p:cNvPr id="175" name="Google Shape;175;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 name="Google Shape;176;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txBody>
          <a:bodyPr/>
          <a:p/>
        </p:txBody>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txBody>
          <a:bodyPr/>
          <a:p/>
        </p:txBody>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txBody>
          <a:bodyPr/>
          <a:p/>
        </p:txBody>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1" name="Shape 181"/>
        <p:cNvGrpSpPr/>
        <p:nvPr/>
      </p:nvGrpSpPr>
      <p:grpSpPr>
        <a:xfrm>
          <a:off x="0" y="0"/>
          <a:ext cx="0" cy="0"/>
          <a:chOff x="0" y="0"/>
          <a:chExt cx="0" cy="0"/>
        </a:xfrm>
      </p:grpSpPr>
      <p:sp>
        <p:nvSpPr>
          <p:cNvPr id="182" name="Google Shape;182;p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QUICK REVIEW</a:t>
            </a:r>
            <a:endParaRPr b="0" i="0" sz="1200" u="none" cap="none" strike="noStrike">
              <a:solidFill>
                <a:schemeClr val="dk1"/>
              </a:solidFill>
              <a:latin typeface="Calibri"/>
              <a:ea typeface="Calibri"/>
              <a:cs typeface="Calibri"/>
              <a:sym typeface="Calibri"/>
            </a:endParaRPr>
          </a:p>
        </p:txBody>
      </p:sp>
      <p:sp>
        <p:nvSpPr>
          <p:cNvPr id="184" name="Google Shape;184;p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5" name="Google Shape;185;p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6" name="Google Shape;186;p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9" name="Google Shape;189;p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5  </a:t>
            </a:r>
            <a:r>
              <a:rPr b="0" i="0" lang="en-US" sz="1350" u="none" cap="none" strike="noStrike">
                <a:solidFill>
                  <a:srgbClr val="1F2430"/>
                </a:solidFill>
                <a:latin typeface="Calibri"/>
                <a:ea typeface="Calibri"/>
                <a:cs typeface="Calibri"/>
                <a:sym typeface="Calibri"/>
              </a:rPr>
              <a:t>What era did we just finish, and how did it set the stage for the 1930s?</a:t>
            </a:r>
            <a:endParaRPr b="0" i="0" sz="1350" u="none" cap="none" strike="noStrike">
              <a:solidFill>
                <a:schemeClr val="dk1"/>
              </a:solidFill>
              <a:latin typeface="Calibri"/>
              <a:ea typeface="Calibri"/>
              <a:cs typeface="Calibri"/>
              <a:sym typeface="Calibri"/>
            </a:endParaRPr>
          </a:p>
        </p:txBody>
      </p:sp>
      <p:sp>
        <p:nvSpPr>
          <p:cNvPr id="190" name="Google Shape;190;p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93" name="Google Shape;193;p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Hook  </a:t>
            </a:r>
            <a:r>
              <a:rPr b="0" i="0" lang="en-US" sz="1350" u="none" cap="none" strike="noStrike">
                <a:solidFill>
                  <a:srgbClr val="1F2430"/>
                </a:solidFill>
                <a:latin typeface="Calibri"/>
                <a:ea typeface="Calibri"/>
                <a:cs typeface="Calibri"/>
                <a:sym typeface="Calibri"/>
              </a:rPr>
              <a:t>What is the big question of Unit 6?</a:t>
            </a:r>
            <a:endParaRPr b="0" i="0" sz="1350" u="none" cap="none" strike="noStrike">
              <a:solidFill>
                <a:schemeClr val="dk1"/>
              </a:solidFill>
              <a:latin typeface="Calibri"/>
              <a:ea typeface="Calibri"/>
              <a:cs typeface="Calibri"/>
              <a:sym typeface="Calibri"/>
            </a:endParaRPr>
          </a:p>
        </p:txBody>
      </p:sp>
      <p:sp>
        <p:nvSpPr>
          <p:cNvPr id="194" name="Google Shape;1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5" name="Google Shape;1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0" name="Shape 200"/>
        <p:cNvGrpSpPr/>
        <p:nvPr/>
      </p:nvGrpSpPr>
      <p:grpSpPr>
        <a:xfrm>
          <a:off x="0" y="0"/>
          <a:ext cx="0" cy="0"/>
          <a:chOff x="0" y="0"/>
          <a:chExt cx="0" cy="0"/>
        </a:xfrm>
      </p:grpSpPr>
      <p:sp>
        <p:nvSpPr>
          <p:cNvPr id="201" name="Google Shape;201;p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CONFIDENCE CHECK</a:t>
            </a:r>
            <a:endParaRPr b="0" i="0" sz="1200" u="none" cap="none" strike="noStrike">
              <a:solidFill>
                <a:schemeClr val="dk1"/>
              </a:solidFill>
              <a:latin typeface="Calibri"/>
              <a:ea typeface="Calibri"/>
              <a:cs typeface="Calibri"/>
              <a:sym typeface="Calibri"/>
            </a:endParaRPr>
          </a:p>
        </p:txBody>
      </p:sp>
      <p:sp>
        <p:nvSpPr>
          <p:cNvPr id="203" name="Google Shape;203;p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04" name="Google Shape;204;p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06" name="Google Shape;206;p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08" name="Google Shape;208;p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09" name="Google Shape;209;p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totalitarian dictator who rose to power before World War II.</a:t>
            </a:r>
            <a:endParaRPr b="0" i="0" sz="2400" u="none" cap="none" strike="noStrike">
              <a:solidFill>
                <a:schemeClr val="dk1"/>
              </a:solidFill>
              <a:latin typeface="Calibri"/>
              <a:ea typeface="Calibri"/>
              <a:cs typeface="Calibri"/>
              <a:sym typeface="Calibri"/>
            </a:endParaRPr>
          </a:p>
        </p:txBody>
      </p:sp>
      <p:sp>
        <p:nvSpPr>
          <p:cNvPr id="211" name="Google Shape;211;p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13" name="Google Shape;213;p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Adolf Hitler (Germany), Benito Mussolini (Italy), or Joseph Stalin (Soviet Union).</a:t>
            </a:r>
            <a:endParaRPr b="0" i="0" sz="1600" u="none" cap="none" strike="noStrike">
              <a:solidFill>
                <a:schemeClr val="dk1"/>
              </a:solidFill>
              <a:latin typeface="Calibri"/>
              <a:ea typeface="Calibri"/>
              <a:cs typeface="Calibri"/>
              <a:sym typeface="Calibri"/>
            </a:endParaRPr>
          </a:p>
        </p:txBody>
      </p:sp>
      <p:sp>
        <p:nvSpPr>
          <p:cNvPr id="214" name="Google Shape;214;p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16" name="Google Shape;216;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7" name="Google Shape;217;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2" name="Shape 222"/>
        <p:cNvGrpSpPr/>
        <p:nvPr/>
      </p:nvGrpSpPr>
      <p:grpSpPr>
        <a:xfrm>
          <a:off x="0" y="0"/>
          <a:ext cx="0" cy="0"/>
          <a:chOff x="0" y="0"/>
          <a:chExt cx="0" cy="0"/>
        </a:xfrm>
      </p:grpSpPr>
      <p:sp>
        <p:nvSpPr>
          <p:cNvPr id="223" name="Google Shape;223;p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HOOK</a:t>
            </a:r>
            <a:endParaRPr b="0" i="0" sz="1200" u="none" cap="none" strike="noStrike">
              <a:solidFill>
                <a:schemeClr val="dk1"/>
              </a:solidFill>
              <a:latin typeface="Calibri"/>
              <a:ea typeface="Calibri"/>
              <a:cs typeface="Calibri"/>
              <a:sym typeface="Calibri"/>
            </a:endParaRPr>
          </a:p>
        </p:txBody>
      </p:sp>
      <p:sp>
        <p:nvSpPr>
          <p:cNvPr id="225" name="Google Shape;225;p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6" name="Google Shape;226;p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1920s and 1930s, as democracies struggled with depression and the wreckage of World War I, new dictators, Mussolini, Hitler, and Stalin, promised order, glory, and revenge, and millions of desperate people handed them total power.</a:t>
            </a:r>
            <a:endParaRPr b="0" i="0" sz="2600" u="none" cap="none" strike="noStrike">
              <a:solidFill>
                <a:schemeClr val="dk1"/>
              </a:solidFill>
              <a:latin typeface="Calibri"/>
              <a:ea typeface="Calibri"/>
              <a:cs typeface="Calibri"/>
              <a:sym typeface="Calibri"/>
            </a:endParaRPr>
          </a:p>
        </p:txBody>
      </p:sp>
      <p:sp>
        <p:nvSpPr>
          <p:cNvPr id="228" name="Google Shape;228;p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30" name="Google Shape;230;p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free people willingly give up their liberty to a dictator, and what makes fascism, communism, and totalitarianism so dangerous?</a:t>
            </a:r>
            <a:endParaRPr b="0" i="0" sz="1600" u="none" cap="none" strike="noStrike">
              <a:solidFill>
                <a:schemeClr val="dk1"/>
              </a:solidFill>
              <a:latin typeface="Calibri"/>
              <a:ea typeface="Calibri"/>
              <a:cs typeface="Calibri"/>
              <a:sym typeface="Calibri"/>
            </a:endParaRPr>
          </a:p>
        </p:txBody>
      </p:sp>
      <p:sp>
        <p:nvSpPr>
          <p:cNvPr id="233" name="Google Shape;233;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 name="Google Shape;234;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 name="Shape 239"/>
        <p:cNvGrpSpPr/>
        <p:nvPr/>
      </p:nvGrpSpPr>
      <p:grpSpPr>
        <a:xfrm>
          <a:off x="0" y="0"/>
          <a:ext cx="0" cy="0"/>
          <a:chOff x="0" y="0"/>
          <a:chExt cx="0" cy="0"/>
        </a:xfrm>
      </p:grpSpPr>
      <p:sp>
        <p:nvSpPr>
          <p:cNvPr id="240" name="Google Shape;240;p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42" name="Google Shape;242;p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Characteristics of Fascism</a:t>
            </a:r>
            <a:endParaRPr b="0" i="0" sz="3000" u="none" cap="none" strike="noStrike">
              <a:solidFill>
                <a:schemeClr val="dk1"/>
              </a:solidFill>
              <a:latin typeface="Calibri"/>
              <a:ea typeface="Calibri"/>
              <a:cs typeface="Calibri"/>
              <a:sym typeface="Calibri"/>
            </a:endParaRPr>
          </a:p>
        </p:txBody>
      </p:sp>
      <p:sp>
        <p:nvSpPr>
          <p:cNvPr id="243" name="Google Shape;243;p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48" name="Google Shape;248;p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Fascism is characterized by ultranationalism (extreme devotion to nation above individual rights), authoritarian leadership with dictatorial power concentrated in a single leader (Führer, Duce), and militarism glorifying war and aggressive expansion.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Fascists violently opposed communism and socialism, used mass mobilization through rallies and propaganda, and created a cult of personality around their leaders.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They also scapegoated minority groups for national problems while maintaining a corporate state with government control of the economy.</a:t>
            </a:r>
            <a:endParaRPr b="0" i="0" sz="1700" u="none" cap="none" strike="noStrike">
              <a:solidFill>
                <a:schemeClr val="dk1"/>
              </a:solidFill>
              <a:latin typeface="Calibri"/>
              <a:ea typeface="Calibri"/>
              <a:cs typeface="Calibri"/>
              <a:sym typeface="Calibri"/>
            </a:endParaRPr>
          </a:p>
        </p:txBody>
      </p:sp>
      <p:sp>
        <p:nvSpPr>
          <p:cNvPr id="250" name="Google Shape;250;p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52" name="Google Shape;252;p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Fascism, communism, and totalitarianism were alike because ________, but they differed in ________.</a:t>
            </a:r>
            <a:endParaRPr b="0" i="0" sz="1150" u="none" cap="none" strike="noStrike">
              <a:solidFill>
                <a:schemeClr val="dk1"/>
              </a:solidFill>
              <a:latin typeface="Calibri"/>
              <a:ea typeface="Calibri"/>
              <a:cs typeface="Calibri"/>
              <a:sym typeface="Calibri"/>
            </a:endParaRPr>
          </a:p>
        </p:txBody>
      </p:sp>
      <p:sp>
        <p:nvSpPr>
          <p:cNvPr id="253" name="Google Shape;2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4" name="Google Shape;2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 name="Shape 259"/>
        <p:cNvGrpSpPr/>
        <p:nvPr/>
      </p:nvGrpSpPr>
      <p:grpSpPr>
        <a:xfrm>
          <a:off x="0" y="0"/>
          <a:ext cx="0" cy="0"/>
          <a:chOff x="0" y="0"/>
          <a:chExt cx="0" cy="0"/>
        </a:xfrm>
      </p:grpSpPr>
      <p:sp>
        <p:nvSpPr>
          <p:cNvPr id="260" name="Google Shape;260;p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62" name="Google Shape;262;p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Fundamental Tenets of Communism</a:t>
            </a:r>
            <a:endParaRPr b="0" i="0" sz="3000" u="none" cap="none" strike="noStrike">
              <a:solidFill>
                <a:schemeClr val="dk1"/>
              </a:solidFill>
              <a:latin typeface="Calibri"/>
              <a:ea typeface="Calibri"/>
              <a:cs typeface="Calibri"/>
              <a:sym typeface="Calibri"/>
            </a:endParaRPr>
          </a:p>
        </p:txBody>
      </p:sp>
      <p:sp>
        <p:nvSpPr>
          <p:cNvPr id="263" name="Google Shape;263;p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68" name="Google Shape;268;p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Communism is based on class struggle as the driving force of history, requiring a proletarian revolution where the working class overthrows capitalism.</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 promotes collective ownership with state control of production and property, aiming for a classless society.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Communists viewed their revolution as an international movement, led by a vanguard Communist Party governing on behalf of workers.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system relies on central planning where government directs all economic activity, and historically promoted atheism, opposing organized religion.</a:t>
            </a:r>
            <a:endParaRPr b="0" i="0" sz="1700" u="none" cap="none" strike="noStrike">
              <a:solidFill>
                <a:schemeClr val="dk1"/>
              </a:solidFill>
              <a:latin typeface="Calibri"/>
              <a:ea typeface="Calibri"/>
              <a:cs typeface="Calibri"/>
              <a:sym typeface="Calibri"/>
            </a:endParaRPr>
          </a:p>
        </p:txBody>
      </p:sp>
      <p:sp>
        <p:nvSpPr>
          <p:cNvPr id="270" name="Google Shape;2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1" name="Google Shape;2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6" name="Shape 276"/>
        <p:cNvGrpSpPr/>
        <p:nvPr/>
      </p:nvGrpSpPr>
      <p:grpSpPr>
        <a:xfrm>
          <a:off x="0" y="0"/>
          <a:ext cx="0" cy="0"/>
          <a:chOff x="0" y="0"/>
          <a:chExt cx="0" cy="0"/>
        </a:xfrm>
      </p:grpSpPr>
      <p:sp>
        <p:nvSpPr>
          <p:cNvPr id="277" name="Google Shape;277;p1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Totalitarianism in Italy, Germany, and Soviet Union</a:t>
            </a:r>
            <a:endParaRPr b="0" i="0" sz="3000" u="none" cap="none" strike="noStrike">
              <a:solidFill>
                <a:schemeClr val="dk1"/>
              </a:solidFill>
              <a:latin typeface="Calibri"/>
              <a:ea typeface="Calibri"/>
              <a:cs typeface="Calibri"/>
              <a:sym typeface="Calibri"/>
            </a:endParaRPr>
          </a:p>
        </p:txBody>
      </p:sp>
      <p:sp>
        <p:nvSpPr>
          <p:cNvPr id="280" name="Google Shape;280;p1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85" name="Google Shape;285;p10"/>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Totalitarianism is a political system where government exercises complete control over all public and private life.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Italy, Benito Mussolini ("Il Duce") established fascist dictatorship (1922-1943), using Blackshirts to intimidate opponents.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the Soviet Union, Joseph Stalin consolidated power after Lenin's death, implementing Five-Year Plans, forced collectivization causing famine, and the Great Purge eliminating millions.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Germany, Adolf Hitler ("Führer") established Nazi dictatorship (1933-1945), promoting Aryan supremacy and anti-Semitism, using the Gestapo secret police, and seeking "Lebensraum" through territorial expansion.</a:t>
            </a:r>
            <a:endParaRPr b="0" i="0" sz="1550" u="none" cap="none" strike="noStrike">
              <a:solidFill>
                <a:schemeClr val="dk1"/>
              </a:solidFill>
              <a:latin typeface="Calibri"/>
              <a:ea typeface="Calibri"/>
              <a:cs typeface="Calibri"/>
              <a:sym typeface="Calibri"/>
            </a:endParaRPr>
          </a:p>
        </p:txBody>
      </p:sp>
      <p:sp>
        <p:nvSpPr>
          <p:cNvPr id="287" name="Google Shape;287;p10"/>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uremberg-nazi-rally-1935.jpg" id="288" name="Google Shape;288;p10"/>
          <p:cNvPicPr preferRelativeResize="0"/>
          <p:nvPr/>
        </p:nvPicPr>
        <p:blipFill rotWithShape="1">
          <a:blip r:embed="rId3">
            <a:alphaModFix/>
          </a:blip>
          <a:srcRect b="0" l="0" r="0" t="0"/>
          <a:stretch/>
        </p:blipFill>
        <p:spPr>
          <a:xfrm>
            <a:off x="8127835" y="1783080"/>
            <a:ext cx="2992449" cy="3502152"/>
          </a:xfrm>
          <a:prstGeom prst="rect">
            <a:avLst/>
          </a:prstGeom>
          <a:noFill/>
          <a:ln>
            <a:noFill/>
          </a:ln>
        </p:spPr>
      </p:pic>
      <p:sp>
        <p:nvSpPr>
          <p:cNvPr id="289" name="Google Shape;289;p10"/>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Russell (donor) / National Archives and Records Administration (NARA), September 1935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90" name="Google Shape;290;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1" name="Google Shape;291;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6" name="Shape 296"/>
        <p:cNvGrpSpPr/>
        <p:nvPr/>
      </p:nvGrpSpPr>
      <p:grpSpPr>
        <a:xfrm>
          <a:off x="0" y="0"/>
          <a:ext cx="0" cy="0"/>
          <a:chOff x="0" y="0"/>
          <a:chExt cx="0" cy="0"/>
        </a:xfrm>
      </p:grpSpPr>
      <p:sp>
        <p:nvSpPr>
          <p:cNvPr id="297" name="Google Shape;297;p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99" name="Google Shape;299;p1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Facilitating International Spread</a:t>
            </a:r>
            <a:endParaRPr b="0" i="0" sz="3000" u="none" cap="none" strike="noStrike">
              <a:solidFill>
                <a:schemeClr val="dk1"/>
              </a:solidFill>
              <a:latin typeface="Calibri"/>
              <a:ea typeface="Calibri"/>
              <a:cs typeface="Calibri"/>
              <a:sym typeface="Calibri"/>
            </a:endParaRPr>
          </a:p>
        </p:txBody>
      </p:sp>
      <p:sp>
        <p:nvSpPr>
          <p:cNvPr id="300" name="Google Shape;300;p1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05" name="Google Shape;305;p1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Common factors enabling totalitarianism included the Great Depression creating conditions for radical solutions, political instability with weak democratic governments, social upheaval from war and revolution, charismatic leaders promising simple solutions, and mass communication enabling propaganda.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weakness, Western appeasement policies, and economic nationalism allowed aggression to go unchallenged.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rearmament, Italian conquest of Ethiopia, and Japanese expansion in Asia demonstrated international system breakdown.</a:t>
            </a:r>
            <a:endParaRPr b="0" i="0" sz="1700" u="none" cap="none" strike="noStrike">
              <a:solidFill>
                <a:schemeClr val="dk1"/>
              </a:solidFill>
              <a:latin typeface="Calibri"/>
              <a:ea typeface="Calibri"/>
              <a:cs typeface="Calibri"/>
              <a:sym typeface="Calibri"/>
            </a:endParaRPr>
          </a:p>
        </p:txBody>
      </p:sp>
      <p:sp>
        <p:nvSpPr>
          <p:cNvPr id="307" name="Google Shape;307;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8" name="Google Shape;308;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3" name="Shape 313"/>
        <p:cNvGrpSpPr/>
        <p:nvPr/>
      </p:nvGrpSpPr>
      <p:grpSpPr>
        <a:xfrm>
          <a:off x="0" y="0"/>
          <a:ext cx="0" cy="0"/>
          <a:chOff x="0" y="0"/>
          <a:chExt cx="0" cy="0"/>
        </a:xfrm>
      </p:grpSpPr>
      <p:sp>
        <p:nvSpPr>
          <p:cNvPr id="314" name="Google Shape;314;p1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PEOPLE WHO SHAPED THE ERA</a:t>
            </a:r>
            <a:endParaRPr b="0" i="0" sz="1200" u="none" cap="none" strike="noStrike">
              <a:solidFill>
                <a:schemeClr val="dk1"/>
              </a:solidFill>
              <a:latin typeface="Calibri"/>
              <a:ea typeface="Calibri"/>
              <a:cs typeface="Calibri"/>
              <a:sym typeface="Calibri"/>
            </a:endParaRPr>
          </a:p>
        </p:txBody>
      </p:sp>
      <p:sp>
        <p:nvSpPr>
          <p:cNvPr id="316" name="Google Shape;316;p1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17" name="Google Shape;317;p12"/>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2"/>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2"/>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Adolf Hitler</a:t>
            </a:r>
            <a:endParaRPr b="0" i="0" sz="1800" u="none" cap="none" strike="noStrike">
              <a:solidFill>
                <a:schemeClr val="dk1"/>
              </a:solidFill>
              <a:latin typeface="Calibri"/>
              <a:ea typeface="Calibri"/>
              <a:cs typeface="Calibri"/>
              <a:sym typeface="Calibri"/>
            </a:endParaRPr>
          </a:p>
        </p:txBody>
      </p:sp>
      <p:sp>
        <p:nvSpPr>
          <p:cNvPr id="320" name="Google Shape;320;p12"/>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Nazi dictator of Germany (1889-1945)</a:t>
            </a:r>
            <a:endParaRPr b="0" i="0" sz="1100" u="none" cap="none" strike="noStrike">
              <a:solidFill>
                <a:schemeClr val="dk1"/>
              </a:solidFill>
              <a:latin typeface="Calibri"/>
              <a:ea typeface="Calibri"/>
              <a:cs typeface="Calibri"/>
              <a:sym typeface="Calibri"/>
            </a:endParaRPr>
          </a:p>
        </p:txBody>
      </p:sp>
      <p:sp>
        <p:nvSpPr>
          <p:cNvPr id="321" name="Google Shape;321;p12"/>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Built a totalitarian one-party state after 1933</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Preached ultranationalism, racism, and endless expansion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Launched the aggression that started WWII in Europe</a:t>
            </a:r>
            <a:endParaRPr b="0" i="0" sz="1300" u="none" cap="none" strike="noStrike">
              <a:solidFill>
                <a:schemeClr val="dk1"/>
              </a:solidFill>
              <a:latin typeface="Calibri"/>
              <a:ea typeface="Calibri"/>
              <a:cs typeface="Calibri"/>
              <a:sym typeface="Calibri"/>
            </a:endParaRPr>
          </a:p>
        </p:txBody>
      </p:sp>
      <p:sp>
        <p:nvSpPr>
          <p:cNvPr id="322" name="Google Shape;322;p12"/>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Hitler to define fascism/totalitarianism from a real regime, not an abstraction.</a:t>
            </a:r>
            <a:endParaRPr b="0" i="0" sz="800" u="none" cap="none" strike="noStrike">
              <a:solidFill>
                <a:schemeClr val="dk1"/>
              </a:solidFill>
              <a:latin typeface="Calibri"/>
              <a:ea typeface="Calibri"/>
              <a:cs typeface="Calibri"/>
              <a:sym typeface="Calibri"/>
            </a:endParaRPr>
          </a:p>
        </p:txBody>
      </p:sp>
      <p:sp>
        <p:nvSpPr>
          <p:cNvPr id="324" name="Google Shape;324;p12"/>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2"/>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Joseph Stalin</a:t>
            </a:r>
            <a:endParaRPr b="0" i="0" sz="1800" u="none" cap="none" strike="noStrike">
              <a:solidFill>
                <a:schemeClr val="dk1"/>
              </a:solidFill>
              <a:latin typeface="Calibri"/>
              <a:ea typeface="Calibri"/>
              <a:cs typeface="Calibri"/>
              <a:sym typeface="Calibri"/>
            </a:endParaRPr>
          </a:p>
        </p:txBody>
      </p:sp>
      <p:sp>
        <p:nvSpPr>
          <p:cNvPr id="327" name="Google Shape;327;p12"/>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Soviet dictator (1878-1953)</a:t>
            </a:r>
            <a:endParaRPr b="0" i="0" sz="1100" u="none" cap="none" strike="noStrike">
              <a:solidFill>
                <a:schemeClr val="dk1"/>
              </a:solidFill>
              <a:latin typeface="Calibri"/>
              <a:ea typeface="Calibri"/>
              <a:cs typeface="Calibri"/>
              <a:sym typeface="Calibri"/>
            </a:endParaRPr>
          </a:p>
        </p:txBody>
      </p:sp>
      <p:sp>
        <p:nvSpPr>
          <p:cNvPr id="328" name="Google Shape;328;p12"/>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Turned the USSR into a totalitarian communist state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Used purges, gulags, and terror to hold power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Later joined the Allies against Hitler</a:t>
            </a:r>
            <a:endParaRPr b="0" i="0" sz="1300" u="none" cap="none" strike="noStrike">
              <a:solidFill>
                <a:schemeClr val="dk1"/>
              </a:solidFill>
              <a:latin typeface="Calibri"/>
              <a:ea typeface="Calibri"/>
              <a:cs typeface="Calibri"/>
              <a:sym typeface="Calibri"/>
            </a:endParaRPr>
          </a:p>
        </p:txBody>
      </p:sp>
      <p:sp>
        <p:nvSpPr>
          <p:cNvPr id="329" name="Google Shape;329;p12"/>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Stalin with Hitler so students see totalitarianism on both the far left and far right.</a:t>
            </a:r>
            <a:endParaRPr b="0" i="0" sz="800" u="none" cap="none" strike="noStrike">
              <a:solidFill>
                <a:schemeClr val="dk1"/>
              </a:solidFill>
              <a:latin typeface="Calibri"/>
              <a:ea typeface="Calibri"/>
              <a:cs typeface="Calibri"/>
              <a:sym typeface="Calibri"/>
            </a:endParaRPr>
          </a:p>
        </p:txBody>
      </p:sp>
      <p:sp>
        <p:nvSpPr>
          <p:cNvPr id="331" name="Google Shape;331;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2" name="Google Shape;332;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7" name="Shape 337"/>
        <p:cNvGrpSpPr/>
        <p:nvPr/>
      </p:nvGrpSpPr>
      <p:grpSpPr>
        <a:xfrm>
          <a:off x="0" y="0"/>
          <a:ext cx="0" cy="0"/>
          <a:chOff x="0" y="0"/>
          <a:chExt cx="0" cy="0"/>
        </a:xfrm>
      </p:grpSpPr>
      <p:sp>
        <p:nvSpPr>
          <p:cNvPr id="338" name="Google Shape;338;p1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US.45 · PRIMARY SOURCE ANALYSIS</a:t>
            </a:r>
            <a:endParaRPr b="0" i="0" sz="1200" u="none" cap="none" strike="noStrike">
              <a:solidFill>
                <a:schemeClr val="dk1"/>
              </a:solidFill>
              <a:latin typeface="Calibri"/>
              <a:ea typeface="Calibri"/>
              <a:cs typeface="Calibri"/>
              <a:sym typeface="Calibri"/>
            </a:endParaRPr>
          </a:p>
        </p:txBody>
      </p:sp>
      <p:sp>
        <p:nvSpPr>
          <p:cNvPr id="340" name="Google Shape;340;p1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Doctrine of Fascism</a:t>
            </a:r>
            <a:endParaRPr b="0" i="0" sz="2500" u="none" cap="none" strike="noStrike">
              <a:solidFill>
                <a:schemeClr val="dk1"/>
              </a:solidFill>
              <a:latin typeface="Calibri"/>
              <a:ea typeface="Calibri"/>
              <a:cs typeface="Calibri"/>
              <a:sym typeface="Calibri"/>
            </a:endParaRPr>
          </a:p>
        </p:txBody>
      </p:sp>
      <p:sp>
        <p:nvSpPr>
          <p:cNvPr id="341" name="Google Shape;341;p1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Benito Mussolini  ·  1932</a:t>
            </a:r>
            <a:endParaRPr b="0" i="0" sz="1200" u="none" cap="none" strike="noStrike">
              <a:solidFill>
                <a:schemeClr val="dk1"/>
              </a:solidFill>
              <a:latin typeface="Calibri"/>
              <a:ea typeface="Calibri"/>
              <a:cs typeface="Calibri"/>
              <a:sym typeface="Calibri"/>
            </a:endParaRPr>
          </a:p>
        </p:txBody>
      </p:sp>
      <p:sp>
        <p:nvSpPr>
          <p:cNvPr id="344" name="Google Shape;344;p1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300" u="none" cap="none" strike="noStrike">
              <a:solidFill>
                <a:schemeClr val="dk1"/>
              </a:solidFill>
              <a:latin typeface="Calibri"/>
              <a:ea typeface="Calibri"/>
              <a:cs typeface="Calibri"/>
              <a:sym typeface="Calibri"/>
            </a:endParaRPr>
          </a:p>
        </p:txBody>
      </p:sp>
      <p:sp>
        <p:nvSpPr>
          <p:cNvPr id="347" name="Google Shape;347;p1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49" name="Google Shape;349;p1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1932, Europe was in political turmoil as the Great Depression shook democratic governments to their foundations. Mussolini had already seized power in Italy in 1922 and was building a new kind of authoritarian state called fascism, which prioritized the nation and state above all individual rights. His ideas were spreading, influencing Hitler's rise in Germany and threatening democratic values worldwide.</a:t>
            </a:r>
            <a:endParaRPr b="0" i="0" sz="1050" u="none" cap="none" strike="noStrike">
              <a:solidFill>
                <a:schemeClr val="dk1"/>
              </a:solidFill>
              <a:latin typeface="Calibri"/>
              <a:ea typeface="Calibri"/>
              <a:cs typeface="Calibri"/>
              <a:sym typeface="Calibri"/>
            </a:endParaRPr>
          </a:p>
        </p:txBody>
      </p:sp>
      <p:sp>
        <p:nvSpPr>
          <p:cNvPr id="352" name="Google Shape;352;p1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54" name="Google Shape;354;p1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excerpt, what is the Fascist view of the relationship between the individual and the State?</a:t>
            </a:r>
            <a:endParaRPr b="0" i="0" sz="1250" u="none" cap="none" strike="noStrike">
              <a:solidFill>
                <a:schemeClr val="dk1"/>
              </a:solidFill>
              <a:latin typeface="Calibri"/>
              <a:ea typeface="Calibri"/>
              <a:cs typeface="Calibri"/>
              <a:sym typeface="Calibri"/>
            </a:endParaRPr>
          </a:p>
        </p:txBody>
      </p:sp>
      <p:sp>
        <p:nvSpPr>
          <p:cNvPr id="355" name="Google Shape;355;p1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58" name="Google Shape;358;p1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59" name="Google Shape;359;p1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0" name="Google Shape;360;p1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1" name="Google Shape;361;p1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Benito Mussolini</a:t>
            </a:r>
            <a:endParaRPr b="0" i="0" sz="950" u="none" cap="none" strike="noStrike">
              <a:solidFill>
                <a:schemeClr val="dk1"/>
              </a:solidFill>
              <a:latin typeface="Calibri"/>
              <a:ea typeface="Calibri"/>
              <a:cs typeface="Calibri"/>
              <a:sym typeface="Calibri"/>
            </a:endParaRPr>
          </a:p>
        </p:txBody>
      </p:sp>
      <p:sp>
        <p:nvSpPr>
          <p:cNvPr id="362" name="Google Shape;362;p1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3" name="Google Shape;363;p1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1932</a:t>
            </a:r>
            <a:endParaRPr b="0" i="0" sz="950" u="none" cap="none" strike="noStrike">
              <a:solidFill>
                <a:schemeClr val="dk1"/>
              </a:solidFill>
              <a:latin typeface="Calibri"/>
              <a:ea typeface="Calibri"/>
              <a:cs typeface="Calibri"/>
              <a:sym typeface="Calibri"/>
            </a:endParaRPr>
          </a:p>
        </p:txBody>
      </p:sp>
      <p:sp>
        <p:nvSpPr>
          <p:cNvPr id="364" name="Google Shape;364;p1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5" name="Google Shape;365;p1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6" name="Google Shape;366;p1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367" name="Google Shape;367;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8" name="Google Shape;368;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3" name="Shape 373"/>
        <p:cNvGrpSpPr/>
        <p:nvPr/>
      </p:nvGrpSpPr>
      <p:grpSpPr>
        <a:xfrm>
          <a:off x="0" y="0"/>
          <a:ext cx="0" cy="0"/>
          <a:chOff x="0" y="0"/>
          <a:chExt cx="0" cy="0"/>
        </a:xfrm>
      </p:grpSpPr>
      <p:sp>
        <p:nvSpPr>
          <p:cNvPr id="374" name="Google Shape;374;p1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KEY VOCABULARY</a:t>
            </a:r>
            <a:endParaRPr b="0" i="0" sz="1200" u="none" cap="none" strike="noStrike">
              <a:solidFill>
                <a:schemeClr val="dk1"/>
              </a:solidFill>
              <a:latin typeface="Calibri"/>
              <a:ea typeface="Calibri"/>
              <a:cs typeface="Calibri"/>
              <a:sym typeface="Calibri"/>
            </a:endParaRPr>
          </a:p>
        </p:txBody>
      </p:sp>
      <p:sp>
        <p:nvSpPr>
          <p:cNvPr id="376" name="Google Shape;376;p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7" name="Google Shape;377;p1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Fascism</a:t>
            </a:r>
            <a:endParaRPr b="0" i="0" sz="1350" u="none" cap="none" strike="noStrike">
              <a:solidFill>
                <a:schemeClr val="dk1"/>
              </a:solidFill>
              <a:latin typeface="Calibri"/>
              <a:ea typeface="Calibri"/>
              <a:cs typeface="Calibri"/>
              <a:sym typeface="Calibri"/>
            </a:endParaRPr>
          </a:p>
        </p:txBody>
      </p:sp>
      <p:sp>
        <p:nvSpPr>
          <p:cNvPr id="380" name="Google Shape;380;p1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FASH-iz-um</a:t>
            </a:r>
            <a:endParaRPr b="0" i="0" sz="850" u="none" cap="none" strike="noStrike">
              <a:solidFill>
                <a:schemeClr val="dk1"/>
              </a:solidFill>
              <a:latin typeface="Calibri"/>
              <a:ea typeface="Calibri"/>
              <a:cs typeface="Calibri"/>
              <a:sym typeface="Calibri"/>
            </a:endParaRPr>
          </a:p>
        </p:txBody>
      </p:sp>
      <p:sp>
        <p:nvSpPr>
          <p:cNvPr id="381" name="Google Shape;381;p1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Fascismo</a:t>
            </a:r>
            <a:endParaRPr b="0" i="0" sz="1000" u="none" cap="none" strike="noStrike">
              <a:solidFill>
                <a:schemeClr val="dk1"/>
              </a:solidFill>
              <a:latin typeface="Calibri"/>
              <a:ea typeface="Calibri"/>
              <a:cs typeface="Calibri"/>
              <a:sym typeface="Calibri"/>
            </a:endParaRPr>
          </a:p>
        </p:txBody>
      </p:sp>
      <p:sp>
        <p:nvSpPr>
          <p:cNvPr id="382" name="Google Shape;382;p14"/>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4"/>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F</a:t>
            </a:r>
            <a:endParaRPr b="0" i="0" sz="1500" u="none" cap="none" strike="noStrike">
              <a:solidFill>
                <a:schemeClr val="dk1"/>
              </a:solidFill>
              <a:latin typeface="Calibri"/>
              <a:ea typeface="Calibri"/>
              <a:cs typeface="Calibri"/>
              <a:sym typeface="Calibri"/>
            </a:endParaRPr>
          </a:p>
        </p:txBody>
      </p:sp>
      <p:sp>
        <p:nvSpPr>
          <p:cNvPr id="384" name="Google Shape;384;p14"/>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authoritarian political ideology that emphasizes extreme nationalism, militarism, totalitarian control, and a dictatorial leader. Suppresses opposition and glorifies the state above individual rights.</a:t>
            </a:r>
            <a:endParaRPr b="0" i="0" sz="1100" u="none" cap="none" strike="noStrike">
              <a:solidFill>
                <a:schemeClr val="dk1"/>
              </a:solidFill>
              <a:latin typeface="Calibri"/>
              <a:ea typeface="Calibri"/>
              <a:cs typeface="Calibri"/>
              <a:sym typeface="Calibri"/>
            </a:endParaRPr>
          </a:p>
        </p:txBody>
      </p:sp>
      <p:sp>
        <p:nvSpPr>
          <p:cNvPr id="385" name="Google Shape;385;p1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388" name="Google Shape;388;p1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389" name="Google Shape;389;p1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390" name="Google Shape;390;p14"/>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4"/>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392" name="Google Shape;392;p14"/>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393" name="Google Shape;393;p1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Communism</a:t>
            </a:r>
            <a:endParaRPr b="0" i="0" sz="1350" u="none" cap="none" strike="noStrike">
              <a:solidFill>
                <a:schemeClr val="dk1"/>
              </a:solidFill>
              <a:latin typeface="Calibri"/>
              <a:ea typeface="Calibri"/>
              <a:cs typeface="Calibri"/>
              <a:sym typeface="Calibri"/>
            </a:endParaRPr>
          </a:p>
        </p:txBody>
      </p:sp>
      <p:sp>
        <p:nvSpPr>
          <p:cNvPr id="396" name="Google Shape;396;p1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KOM-yoo-niz-um</a:t>
            </a:r>
            <a:endParaRPr b="0" i="0" sz="850" u="none" cap="none" strike="noStrike">
              <a:solidFill>
                <a:schemeClr val="dk1"/>
              </a:solidFill>
              <a:latin typeface="Calibri"/>
              <a:ea typeface="Calibri"/>
              <a:cs typeface="Calibri"/>
              <a:sym typeface="Calibri"/>
            </a:endParaRPr>
          </a:p>
        </p:txBody>
      </p:sp>
      <p:sp>
        <p:nvSpPr>
          <p:cNvPr id="397" name="Google Shape;397;p1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Comunismo</a:t>
            </a:r>
            <a:endParaRPr b="0" i="0" sz="1000" u="none" cap="none" strike="noStrike">
              <a:solidFill>
                <a:schemeClr val="dk1"/>
              </a:solidFill>
              <a:latin typeface="Calibri"/>
              <a:ea typeface="Calibri"/>
              <a:cs typeface="Calibri"/>
              <a:sym typeface="Calibri"/>
            </a:endParaRPr>
          </a:p>
        </p:txBody>
      </p:sp>
      <p:sp>
        <p:nvSpPr>
          <p:cNvPr id="398" name="Google Shape;398;p14"/>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4"/>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C</a:t>
            </a:r>
            <a:endParaRPr b="0" i="0" sz="1500" u="none" cap="none" strike="noStrike">
              <a:solidFill>
                <a:schemeClr val="dk1"/>
              </a:solidFill>
              <a:latin typeface="Calibri"/>
              <a:ea typeface="Calibri"/>
              <a:cs typeface="Calibri"/>
              <a:sym typeface="Calibri"/>
            </a:endParaRPr>
          </a:p>
        </p:txBody>
      </p:sp>
      <p:sp>
        <p:nvSpPr>
          <p:cNvPr id="400" name="Google Shape;400;p14"/>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political and economic system in which the state owns property and the means of production in the name of the working class; in the 20th century it took the form of one-party dictatorship under leaders like…</a:t>
            </a:r>
            <a:endParaRPr b="0" i="0" sz="1100" u="none" cap="none" strike="noStrike">
              <a:solidFill>
                <a:schemeClr val="dk1"/>
              </a:solidFill>
              <a:latin typeface="Calibri"/>
              <a:ea typeface="Calibri"/>
              <a:cs typeface="Calibri"/>
              <a:sym typeface="Calibri"/>
            </a:endParaRPr>
          </a:p>
        </p:txBody>
      </p:sp>
      <p:sp>
        <p:nvSpPr>
          <p:cNvPr id="401" name="Google Shape;401;p1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4"/>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404" name="Google Shape;404;p1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405" name="Google Shape;405;p1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406" name="Google Shape;406;p14"/>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4"/>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408" name="Google Shape;408;p14"/>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409" name="Google Shape;409;p1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4"/>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Benito Mussolini</a:t>
            </a:r>
            <a:endParaRPr b="0" i="0" sz="1350" u="none" cap="none" strike="noStrike">
              <a:solidFill>
                <a:schemeClr val="dk1"/>
              </a:solidFill>
              <a:latin typeface="Calibri"/>
              <a:ea typeface="Calibri"/>
              <a:cs typeface="Calibri"/>
              <a:sym typeface="Calibri"/>
            </a:endParaRPr>
          </a:p>
        </p:txBody>
      </p:sp>
      <p:sp>
        <p:nvSpPr>
          <p:cNvPr id="412" name="Google Shape;412;p1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beh-NEE-toh moo-suh-LEE-nee</a:t>
            </a:r>
            <a:endParaRPr b="0" i="0" sz="850" u="none" cap="none" strike="noStrike">
              <a:solidFill>
                <a:schemeClr val="dk1"/>
              </a:solidFill>
              <a:latin typeface="Calibri"/>
              <a:ea typeface="Calibri"/>
              <a:cs typeface="Calibri"/>
              <a:sym typeface="Calibri"/>
            </a:endParaRPr>
          </a:p>
        </p:txBody>
      </p:sp>
      <p:sp>
        <p:nvSpPr>
          <p:cNvPr id="413" name="Google Shape;413;p1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Benito Mussolini</a:t>
            </a:r>
            <a:endParaRPr b="0" i="0" sz="1000" u="none" cap="none" strike="noStrike">
              <a:solidFill>
                <a:schemeClr val="dk1"/>
              </a:solidFill>
              <a:latin typeface="Calibri"/>
              <a:ea typeface="Calibri"/>
              <a:cs typeface="Calibri"/>
              <a:sym typeface="Calibri"/>
            </a:endParaRPr>
          </a:p>
        </p:txBody>
      </p:sp>
      <p:sp>
        <p:nvSpPr>
          <p:cNvPr id="414" name="Google Shape;414;p14"/>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4"/>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BM</a:t>
            </a:r>
            <a:endParaRPr b="0" i="0" sz="1300" u="none" cap="none" strike="noStrike">
              <a:solidFill>
                <a:schemeClr val="dk1"/>
              </a:solidFill>
              <a:latin typeface="Calibri"/>
              <a:ea typeface="Calibri"/>
              <a:cs typeface="Calibri"/>
              <a:sym typeface="Calibri"/>
            </a:endParaRPr>
          </a:p>
        </p:txBody>
      </p:sp>
      <p:sp>
        <p:nvSpPr>
          <p:cNvPr id="416" name="Google Shape;416;p14"/>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Fascist dictator of Italy (1922-1943) who created the first fascist state, formed the Axis alliance with Hitler, and led Italy into World War II.</a:t>
            </a:r>
            <a:endParaRPr b="0" i="0" sz="1100" u="none" cap="none" strike="noStrike">
              <a:solidFill>
                <a:schemeClr val="dk1"/>
              </a:solidFill>
              <a:latin typeface="Calibri"/>
              <a:ea typeface="Calibri"/>
              <a:cs typeface="Calibri"/>
              <a:sym typeface="Calibri"/>
            </a:endParaRPr>
          </a:p>
        </p:txBody>
      </p:sp>
      <p:sp>
        <p:nvSpPr>
          <p:cNvPr id="417" name="Google Shape;417;p1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420" name="Google Shape;420;p1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421" name="Google Shape;421;p1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422" name="Google Shape;422;p14"/>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4"/>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424" name="Google Shape;424;p14"/>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425" name="Google Shape;425;p1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26" name="Google Shape;426;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7" name="Google Shape;427;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2" name="Shape 432"/>
        <p:cNvGrpSpPr/>
        <p:nvPr/>
      </p:nvGrpSpPr>
      <p:grpSpPr>
        <a:xfrm>
          <a:off x="0" y="0"/>
          <a:ext cx="0" cy="0"/>
          <a:chOff x="0" y="0"/>
          <a:chExt cx="0" cy="0"/>
        </a:xfrm>
      </p:grpSpPr>
      <p:sp>
        <p:nvSpPr>
          <p:cNvPr id="433" name="Google Shape;433;p1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GUIDED PRACTICE — WE DO IT TOGETHER</a:t>
            </a:r>
            <a:endParaRPr b="0" i="0" sz="1200" u="none" cap="none" strike="noStrike">
              <a:solidFill>
                <a:schemeClr val="dk1"/>
              </a:solidFill>
              <a:latin typeface="Calibri"/>
              <a:ea typeface="Calibri"/>
              <a:cs typeface="Calibri"/>
              <a:sym typeface="Calibri"/>
            </a:endParaRPr>
          </a:p>
        </p:txBody>
      </p:sp>
      <p:sp>
        <p:nvSpPr>
          <p:cNvPr id="435" name="Google Shape;435;p1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36" name="Google Shape;436;p1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Compare authoritarian systems</a:t>
            </a:r>
            <a:endParaRPr b="0" i="0" sz="1100" u="none" cap="none" strike="noStrike">
              <a:solidFill>
                <a:schemeClr val="dk1"/>
              </a:solidFill>
              <a:latin typeface="Calibri"/>
              <a:ea typeface="Calibri"/>
              <a:cs typeface="Calibri"/>
              <a:sym typeface="Calibri"/>
            </a:endParaRPr>
          </a:p>
        </p:txBody>
      </p:sp>
      <p:sp>
        <p:nvSpPr>
          <p:cNvPr id="438" name="Google Shape;438;p1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do fascism and communism share, and where do they split?</a:t>
            </a:r>
            <a:endParaRPr b="0" i="0" sz="1500" u="none" cap="none" strike="noStrike">
              <a:solidFill>
                <a:schemeClr val="dk1"/>
              </a:solidFill>
              <a:latin typeface="Calibri"/>
              <a:ea typeface="Calibri"/>
              <a:cs typeface="Calibri"/>
              <a:sym typeface="Calibri"/>
            </a:endParaRPr>
          </a:p>
        </p:txBody>
      </p:sp>
      <p:sp>
        <p:nvSpPr>
          <p:cNvPr id="440" name="Google Shape;440;p1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42" name="Google Shape;442;p1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Both crush individual rights and opposition under one party. They split on economics: fascism keeps private property under state control; communism abolishes it. The tool - total control - is the same.</a:t>
            </a:r>
            <a:endParaRPr b="0" i="0" sz="1450" u="none" cap="none" strike="noStrike">
              <a:solidFill>
                <a:schemeClr val="dk1"/>
              </a:solidFill>
              <a:latin typeface="Calibri"/>
              <a:ea typeface="Calibri"/>
              <a:cs typeface="Calibri"/>
              <a:sym typeface="Calibri"/>
            </a:endParaRPr>
          </a:p>
        </p:txBody>
      </p:sp>
      <p:sp>
        <p:nvSpPr>
          <p:cNvPr id="443" name="Google Shape;443;p1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45" name="Google Shape;445;p1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In the section, underline one shared trait and one difference.</a:t>
            </a:r>
            <a:endParaRPr b="0" i="0" sz="1300" u="none" cap="none" strike="noStrike">
              <a:solidFill>
                <a:schemeClr val="dk1"/>
              </a:solidFill>
              <a:latin typeface="Calibri"/>
              <a:ea typeface="Calibri"/>
              <a:cs typeface="Calibri"/>
              <a:sym typeface="Calibri"/>
            </a:endParaRPr>
          </a:p>
        </p:txBody>
      </p:sp>
      <p:sp>
        <p:nvSpPr>
          <p:cNvPr id="446" name="Google Shape;446;p1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With a partner, name the single feature that makes a government 'totalitarian,' citing a line.</a:t>
            </a:r>
            <a:endParaRPr b="0" i="0" sz="1200" u="none" cap="none" strike="noStrike">
              <a:solidFill>
                <a:schemeClr val="dk1"/>
              </a:solidFill>
              <a:latin typeface="Calibri"/>
              <a:ea typeface="Calibri"/>
              <a:cs typeface="Calibri"/>
              <a:sym typeface="Calibri"/>
            </a:endParaRPr>
          </a:p>
        </p:txBody>
      </p:sp>
      <p:sp>
        <p:nvSpPr>
          <p:cNvPr id="447" name="Google Shape;447;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 name="Shape 453"/>
        <p:cNvGrpSpPr/>
        <p:nvPr/>
      </p:nvGrpSpPr>
      <p:grpSpPr>
        <a:xfrm>
          <a:off x="0" y="0"/>
          <a:ext cx="0" cy="0"/>
          <a:chOff x="0" y="0"/>
          <a:chExt cx="0" cy="0"/>
        </a:xfrm>
      </p:grpSpPr>
      <p:sp>
        <p:nvSpPr>
          <p:cNvPr id="454" name="Google Shape;454;p1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STUDENT ACTIVITY</a:t>
            </a:r>
            <a:endParaRPr b="0" i="0" sz="1200" u="none" cap="none" strike="noStrike">
              <a:solidFill>
                <a:schemeClr val="dk1"/>
              </a:solidFill>
              <a:latin typeface="Calibri"/>
              <a:ea typeface="Calibri"/>
              <a:cs typeface="Calibri"/>
              <a:sym typeface="Calibri"/>
            </a:endParaRPr>
          </a:p>
        </p:txBody>
      </p:sp>
      <p:sp>
        <p:nvSpPr>
          <p:cNvPr id="456" name="Google Shape;456;p1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Three Roads to Dictatorship — Comparing Fascism, Communism, and Totalitarianism</a:t>
            </a:r>
            <a:endParaRPr b="0" i="0" sz="2200" u="none" cap="none" strike="noStrike">
              <a:solidFill>
                <a:schemeClr val="dk1"/>
              </a:solidFill>
              <a:latin typeface="Calibri"/>
              <a:ea typeface="Calibri"/>
              <a:cs typeface="Calibri"/>
              <a:sym typeface="Calibri"/>
            </a:endParaRPr>
          </a:p>
        </p:txBody>
      </p:sp>
      <p:sp>
        <p:nvSpPr>
          <p:cNvPr id="457" name="Google Shape;457;p16"/>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6"/>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 name="Google Shape;461;p1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3" name="Google Shape;463;p1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your Cornell notes and Mussolini's 'Doctrine of Fascism' excerpt, build a comparison chart with three columns: FASCISM, COMMUNISM, and TOTALITARIANISM. For each, record its core belief, one leader (Mussolini, Hitler, Stalin), and how it controlled its people. Add one factor that helped these systems spread after World War I (economic depression, fear, nationalism, weak democracies). Finish with a one-sentence claim naming what all three systems had in common.</a:t>
            </a:r>
            <a:endParaRPr b="0" i="0" sz="1350" u="none" cap="none" strike="noStrike">
              <a:solidFill>
                <a:schemeClr val="dk1"/>
              </a:solidFill>
              <a:latin typeface="Calibri"/>
              <a:ea typeface="Calibri"/>
              <a:cs typeface="Calibri"/>
              <a:sym typeface="Calibri"/>
            </a:endParaRPr>
          </a:p>
        </p:txBody>
      </p:sp>
      <p:sp>
        <p:nvSpPr>
          <p:cNvPr id="464" name="Google Shape;464;p1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6" name="Google Shape;466;p1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three-column comparison chart (belief, leader, method of control, plus one spread factor) AND a one-sentence evidence-based claim about their shared features.</a:t>
            </a:r>
            <a:endParaRPr b="0" i="0" sz="1050" u="none" cap="none" strike="noStrike">
              <a:solidFill>
                <a:schemeClr val="dk1"/>
              </a:solidFill>
              <a:latin typeface="Calibri"/>
              <a:ea typeface="Calibri"/>
              <a:cs typeface="Calibri"/>
              <a:sym typeface="Calibri"/>
            </a:endParaRPr>
          </a:p>
        </p:txBody>
      </p:sp>
      <p:sp>
        <p:nvSpPr>
          <p:cNvPr id="467" name="Google Shape;467;p1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9" name="Google Shape;469;p1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three systems pre-labeled and a word bank of beliefs, leaders, and control methods to sort. Honors: Write a paragraph arguing whether fascism and communism were opposites or mirror images, using Mussolini's words as evidence.</a:t>
            </a:r>
            <a:endParaRPr b="0" i="0" sz="1000" u="none" cap="none" strike="noStrike">
              <a:solidFill>
                <a:schemeClr val="dk1"/>
              </a:solidFill>
              <a:latin typeface="Calibri"/>
              <a:ea typeface="Calibri"/>
              <a:cs typeface="Calibri"/>
              <a:sym typeface="Calibri"/>
            </a:endParaRPr>
          </a:p>
        </p:txBody>
      </p:sp>
      <p:sp>
        <p:nvSpPr>
          <p:cNvPr id="470" name="Google Shape;470;p1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cornell-notes/unit-6/us45-fascism-communism-totalitarianism.pdf</a:t>
            </a:r>
            <a:endParaRPr b="0" i="0" sz="1050" u="none" cap="none" strike="noStrike">
              <a:solidFill>
                <a:schemeClr val="dk1"/>
              </a:solidFill>
              <a:latin typeface="Calibri"/>
              <a:ea typeface="Calibri"/>
              <a:cs typeface="Calibri"/>
              <a:sym typeface="Calibri"/>
            </a:endParaRPr>
          </a:p>
        </p:txBody>
      </p:sp>
      <p:sp>
        <p:nvSpPr>
          <p:cNvPr id="471" name="Google Shape;471;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1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CHECK FOR UNDERSTANDING</a:t>
            </a:r>
            <a:endParaRPr b="0" i="0" sz="1200" u="none" cap="none" strike="noStrike">
              <a:solidFill>
                <a:schemeClr val="dk1"/>
              </a:solidFill>
              <a:latin typeface="Calibri"/>
              <a:ea typeface="Calibri"/>
              <a:cs typeface="Calibri"/>
              <a:sym typeface="Calibri"/>
            </a:endParaRPr>
          </a:p>
        </p:txBody>
      </p:sp>
      <p:sp>
        <p:nvSpPr>
          <p:cNvPr id="480" name="Google Shape;480;p1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81" name="Google Shape;481;p1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83" name="Google Shape;483;p1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600" u="none" cap="none" strike="noStrike">
              <a:solidFill>
                <a:schemeClr val="dk1"/>
              </a:solidFill>
              <a:latin typeface="Calibri"/>
              <a:ea typeface="Calibri"/>
              <a:cs typeface="Calibri"/>
              <a:sym typeface="Calibri"/>
            </a:endParaRPr>
          </a:p>
        </p:txBody>
      </p:sp>
      <p:sp>
        <p:nvSpPr>
          <p:cNvPr id="487" name="Google Shape;487;p1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90" name="Google Shape;490;p1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50" u="none" cap="none" strike="noStrike">
              <a:solidFill>
                <a:schemeClr val="dk1"/>
              </a:solidFill>
              <a:latin typeface="Calibri"/>
              <a:ea typeface="Calibri"/>
              <a:cs typeface="Calibri"/>
              <a:sym typeface="Calibri"/>
            </a:endParaRPr>
          </a:p>
        </p:txBody>
      </p:sp>
      <p:sp>
        <p:nvSpPr>
          <p:cNvPr id="491" name="Google Shape;491;p1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94" name="Google Shape;494;p1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50" u="none" cap="none" strike="noStrike">
              <a:solidFill>
                <a:schemeClr val="dk1"/>
              </a:solidFill>
              <a:latin typeface="Calibri"/>
              <a:ea typeface="Calibri"/>
              <a:cs typeface="Calibri"/>
              <a:sym typeface="Calibri"/>
            </a:endParaRPr>
          </a:p>
        </p:txBody>
      </p:sp>
      <p:sp>
        <p:nvSpPr>
          <p:cNvPr id="495" name="Google Shape;495;p1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98" name="Google Shape;498;p1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50" u="none" cap="none" strike="noStrike">
              <a:solidFill>
                <a:schemeClr val="dk1"/>
              </a:solidFill>
              <a:latin typeface="Calibri"/>
              <a:ea typeface="Calibri"/>
              <a:cs typeface="Calibri"/>
              <a:sym typeface="Calibri"/>
            </a:endParaRPr>
          </a:p>
        </p:txBody>
      </p:sp>
      <p:sp>
        <p:nvSpPr>
          <p:cNvPr id="499" name="Google Shape;499;p1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2" name="Google Shape;502;p1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50" u="none" cap="none" strike="noStrike">
              <a:solidFill>
                <a:schemeClr val="dk1"/>
              </a:solidFill>
              <a:latin typeface="Calibri"/>
              <a:ea typeface="Calibri"/>
              <a:cs typeface="Calibri"/>
              <a:sym typeface="Calibri"/>
            </a:endParaRPr>
          </a:p>
        </p:txBody>
      </p:sp>
      <p:sp>
        <p:nvSpPr>
          <p:cNvPr id="503" name="Google Shape;503;p1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5" name="Google Shape;505;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6" name="Google Shape;506;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1" name="Shape 511"/>
        <p:cNvGrpSpPr/>
        <p:nvPr/>
      </p:nvGrpSpPr>
      <p:grpSpPr>
        <a:xfrm>
          <a:off x="0" y="0"/>
          <a:ext cx="0" cy="0"/>
          <a:chOff x="0" y="0"/>
          <a:chExt cx="0" cy="0"/>
        </a:xfrm>
      </p:grpSpPr>
      <p:sp>
        <p:nvSpPr>
          <p:cNvPr id="512" name="Google Shape;512;p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ANSWER REVEAL</a:t>
            </a:r>
            <a:endParaRPr b="0" i="0" sz="1200" u="none" cap="none" strike="noStrike">
              <a:solidFill>
                <a:schemeClr val="dk1"/>
              </a:solidFill>
              <a:latin typeface="Calibri"/>
              <a:ea typeface="Calibri"/>
              <a:cs typeface="Calibri"/>
              <a:sym typeface="Calibri"/>
            </a:endParaRPr>
          </a:p>
        </p:txBody>
      </p:sp>
      <p:sp>
        <p:nvSpPr>
          <p:cNvPr id="514" name="Google Shape;514;p1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15" name="Google Shape;515;p1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17" name="Google Shape;517;p1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500" u="none" cap="none" strike="noStrike">
              <a:solidFill>
                <a:schemeClr val="dk1"/>
              </a:solidFill>
              <a:latin typeface="Calibri"/>
              <a:ea typeface="Calibri"/>
              <a:cs typeface="Calibri"/>
              <a:sym typeface="Calibri"/>
            </a:endParaRPr>
          </a:p>
        </p:txBody>
      </p:sp>
      <p:sp>
        <p:nvSpPr>
          <p:cNvPr id="519" name="Google Shape;519;p18"/>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22" name="Google Shape;522;p1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00" u="none" cap="none" strike="noStrike">
              <a:solidFill>
                <a:schemeClr val="dk1"/>
              </a:solidFill>
              <a:latin typeface="Calibri"/>
              <a:ea typeface="Calibri"/>
              <a:cs typeface="Calibri"/>
              <a:sym typeface="Calibri"/>
            </a:endParaRPr>
          </a:p>
        </p:txBody>
      </p:sp>
      <p:sp>
        <p:nvSpPr>
          <p:cNvPr id="523" name="Google Shape;523;p18"/>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24" name="Google Shape;524;p18"/>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27" name="Google Shape;527;p1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00" u="none" cap="none" strike="noStrike">
              <a:solidFill>
                <a:schemeClr val="dk1"/>
              </a:solidFill>
              <a:latin typeface="Calibri"/>
              <a:ea typeface="Calibri"/>
              <a:cs typeface="Calibri"/>
              <a:sym typeface="Calibri"/>
            </a:endParaRPr>
          </a:p>
        </p:txBody>
      </p:sp>
      <p:sp>
        <p:nvSpPr>
          <p:cNvPr id="528" name="Google Shape;528;p1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31" name="Google Shape;531;p1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00" u="none" cap="none" strike="noStrike">
              <a:solidFill>
                <a:schemeClr val="dk1"/>
              </a:solidFill>
              <a:latin typeface="Calibri"/>
              <a:ea typeface="Calibri"/>
              <a:cs typeface="Calibri"/>
              <a:sym typeface="Calibri"/>
            </a:endParaRPr>
          </a:p>
        </p:txBody>
      </p:sp>
      <p:sp>
        <p:nvSpPr>
          <p:cNvPr id="532" name="Google Shape;532;p1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35" name="Google Shape;535;p1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00" u="none" cap="none" strike="noStrike">
              <a:solidFill>
                <a:schemeClr val="dk1"/>
              </a:solidFill>
              <a:latin typeface="Calibri"/>
              <a:ea typeface="Calibri"/>
              <a:cs typeface="Calibri"/>
              <a:sym typeface="Calibri"/>
            </a:endParaRPr>
          </a:p>
        </p:txBody>
      </p:sp>
      <p:sp>
        <p:nvSpPr>
          <p:cNvPr id="536" name="Google Shape;536;p1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a:t>
            </a:r>
            <a:endParaRPr b="0" i="0" sz="1150" u="none" cap="none" strike="noStrike">
              <a:solidFill>
                <a:schemeClr val="dk1"/>
              </a:solidFill>
              <a:latin typeface="Calibri"/>
              <a:ea typeface="Calibri"/>
              <a:cs typeface="Calibri"/>
              <a:sym typeface="Calibri"/>
            </a:endParaRPr>
          </a:p>
        </p:txBody>
      </p:sp>
      <p:sp>
        <p:nvSpPr>
          <p:cNvPr id="538" name="Google Shape;538;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9" name="Google Shape;539;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4" name="Shape 544"/>
        <p:cNvGrpSpPr/>
        <p:nvPr/>
      </p:nvGrpSpPr>
      <p:grpSpPr>
        <a:xfrm>
          <a:off x="0" y="0"/>
          <a:ext cx="0" cy="0"/>
          <a:chOff x="0" y="0"/>
          <a:chExt cx="0" cy="0"/>
        </a:xfrm>
      </p:grpSpPr>
      <p:sp>
        <p:nvSpPr>
          <p:cNvPr id="545" name="Google Shape;545;p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WRAP-UP</a:t>
            </a:r>
            <a:endParaRPr b="0" i="0" sz="1200" u="none" cap="none" strike="noStrike">
              <a:solidFill>
                <a:schemeClr val="dk1"/>
              </a:solidFill>
              <a:latin typeface="Calibri"/>
              <a:ea typeface="Calibri"/>
              <a:cs typeface="Calibri"/>
              <a:sym typeface="Calibri"/>
            </a:endParaRPr>
          </a:p>
        </p:txBody>
      </p:sp>
      <p:sp>
        <p:nvSpPr>
          <p:cNvPr id="547" name="Google Shape;547;p1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48" name="Google Shape;548;p1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0" name="Google Shape;550;p1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Key Characteristics of Fascism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Fundamental Tenets of Communism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Totalitarianism in Italy, Germany, and Soviet Union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Facilitating International Spread</a:t>
            </a:r>
            <a:endParaRPr b="0" i="0" sz="1500" u="none" cap="none" strike="noStrike">
              <a:solidFill>
                <a:schemeClr val="dk1"/>
              </a:solidFill>
              <a:latin typeface="Calibri"/>
              <a:ea typeface="Calibri"/>
              <a:cs typeface="Calibri"/>
              <a:sym typeface="Calibri"/>
            </a:endParaRPr>
          </a:p>
        </p:txBody>
      </p:sp>
      <p:sp>
        <p:nvSpPr>
          <p:cNvPr id="551" name="Google Shape;551;p1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 name="Google Shape;553;p1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Were fascism and communism true opposites or mirror images of each other? Argue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54" name="Google Shape;554;p1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6" name="Google Shape;556;p1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8" name="Google Shape;558;p1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fascism, communism, and totalitarianism are alike and different, and name one factor that helped them spread after World War I.</a:t>
            </a:r>
            <a:endParaRPr b="0" i="0" sz="1350" u="none" cap="none" strike="noStrike">
              <a:solidFill>
                <a:schemeClr val="dk1"/>
              </a:solidFill>
              <a:latin typeface="Calibri"/>
              <a:ea typeface="Calibri"/>
              <a:cs typeface="Calibri"/>
              <a:sym typeface="Calibri"/>
            </a:endParaRPr>
          </a:p>
        </p:txBody>
      </p:sp>
      <p:cxnSp>
        <p:nvCxnSpPr>
          <p:cNvPr id="559" name="Google Shape;559;p1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0" name="Google Shape;560;p1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1" name="Google Shape;561;p1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62" name="Google Shape;562;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 name="Google Shape;563;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8" name="Shape 568"/>
        <p:cNvGrpSpPr/>
        <p:nvPr/>
      </p:nvGrpSpPr>
      <p:grpSpPr>
        <a:xfrm>
          <a:off x="0" y="0"/>
          <a:ext cx="0" cy="0"/>
          <a:chOff x="0" y="0"/>
          <a:chExt cx="0" cy="0"/>
        </a:xfrm>
      </p:grpSpPr>
      <p:sp>
        <p:nvSpPr>
          <p:cNvPr id="569" name="Google Shape;569;p2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72" name="Google Shape;572;p2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US.46</a:t>
            </a:r>
            <a:endParaRPr b="0" i="0" sz="8800" u="none" cap="none" strike="noStrike">
              <a:solidFill>
                <a:schemeClr val="dk1"/>
              </a:solidFill>
              <a:latin typeface="Calibri"/>
              <a:ea typeface="Calibri"/>
              <a:cs typeface="Calibri"/>
              <a:sym typeface="Calibri"/>
            </a:endParaRPr>
          </a:p>
        </p:txBody>
      </p:sp>
      <p:sp>
        <p:nvSpPr>
          <p:cNvPr id="573" name="Google Shape;573;p2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FDR's Response to World Crises</a:t>
            </a:r>
            <a:endParaRPr b="0" i="0" sz="3000" u="none" cap="none" strike="noStrike">
              <a:solidFill>
                <a:schemeClr val="dk1"/>
              </a:solidFill>
              <a:latin typeface="Calibri"/>
              <a:ea typeface="Calibri"/>
              <a:cs typeface="Calibri"/>
              <a:sym typeface="Calibri"/>
            </a:endParaRPr>
          </a:p>
        </p:txBody>
      </p:sp>
      <p:sp>
        <p:nvSpPr>
          <p:cNvPr id="574" name="Google Shape;574;p2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75" name="Google Shape;575;p2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77" name="Google Shape;577;p2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78" name="Google Shape;578;p2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80" name="Google Shape;580;p2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81" name="Google Shape;581;p2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83" name="Google Shape;583;p2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84" name="Google Shape;584;p2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86" name="Google Shape;586;p2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President Franklin D. Roosevelt's response to world crises, including: The Quarantine Speech, the Four Freedoms speech, the Atlantic Charter, and the Lend-Lease Act.</a:t>
            </a:r>
            <a:endParaRPr b="0" i="0" sz="1300" u="none" cap="none" strike="noStrike">
              <a:solidFill>
                <a:schemeClr val="dk1"/>
              </a:solidFill>
              <a:latin typeface="Calibri"/>
              <a:ea typeface="Calibri"/>
              <a:cs typeface="Calibri"/>
              <a:sym typeface="Calibri"/>
            </a:endParaRPr>
          </a:p>
        </p:txBody>
      </p:sp>
      <p:sp>
        <p:nvSpPr>
          <p:cNvPr id="587" name="Google Shape;587;p2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89" name="Google Shape;589;p2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250" u="none" cap="none" strike="noStrike">
              <a:solidFill>
                <a:schemeClr val="dk1"/>
              </a:solidFill>
              <a:latin typeface="Calibri"/>
              <a:ea typeface="Calibri"/>
              <a:cs typeface="Calibri"/>
              <a:sym typeface="Calibri"/>
            </a:endParaRPr>
          </a:p>
        </p:txBody>
      </p:sp>
      <p:sp>
        <p:nvSpPr>
          <p:cNvPr id="590" name="Google Shape;590;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1" name="Google Shape;591;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6" name="Shape 596"/>
        <p:cNvGrpSpPr/>
        <p:nvPr/>
      </p:nvGrpSpPr>
      <p:grpSpPr>
        <a:xfrm>
          <a:off x="0" y="0"/>
          <a:ext cx="0" cy="0"/>
          <a:chOff x="0" y="0"/>
          <a:chExt cx="0" cy="0"/>
        </a:xfrm>
      </p:grpSpPr>
      <p:sp>
        <p:nvSpPr>
          <p:cNvPr id="597" name="Google Shape;597;p2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QUICK REVIEW</a:t>
            </a:r>
            <a:endParaRPr b="0" i="0" sz="1200" u="none" cap="none" strike="noStrike">
              <a:solidFill>
                <a:schemeClr val="dk1"/>
              </a:solidFill>
              <a:latin typeface="Calibri"/>
              <a:ea typeface="Calibri"/>
              <a:cs typeface="Calibri"/>
              <a:sym typeface="Calibri"/>
            </a:endParaRPr>
          </a:p>
        </p:txBody>
      </p:sp>
      <p:sp>
        <p:nvSpPr>
          <p:cNvPr id="599" name="Google Shape;599;p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600" name="Google Shape;600;p2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601" name="Google Shape;601;p2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604" name="Google Shape;604;p2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Name the three totalitarian systems and one leader of each.</a:t>
            </a:r>
            <a:endParaRPr b="0" i="0" sz="1350" u="none" cap="none" strike="noStrike">
              <a:solidFill>
                <a:schemeClr val="dk1"/>
              </a:solidFill>
              <a:latin typeface="Calibri"/>
              <a:ea typeface="Calibri"/>
              <a:cs typeface="Calibri"/>
              <a:sym typeface="Calibri"/>
            </a:endParaRPr>
          </a:p>
        </p:txBody>
      </p:sp>
      <p:sp>
        <p:nvSpPr>
          <p:cNvPr id="605" name="Google Shape;605;p2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608" name="Google Shape;608;p2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What is totalitarianism?</a:t>
            </a:r>
            <a:endParaRPr b="0" i="0" sz="1350" u="none" cap="none" strike="noStrike">
              <a:solidFill>
                <a:schemeClr val="dk1"/>
              </a:solidFill>
              <a:latin typeface="Calibri"/>
              <a:ea typeface="Calibri"/>
              <a:cs typeface="Calibri"/>
              <a:sym typeface="Calibri"/>
            </a:endParaRPr>
          </a:p>
        </p:txBody>
      </p:sp>
      <p:sp>
        <p:nvSpPr>
          <p:cNvPr id="609" name="Google Shape;609;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15" name="Shape 615"/>
        <p:cNvGrpSpPr/>
        <p:nvPr/>
      </p:nvGrpSpPr>
      <p:grpSpPr>
        <a:xfrm>
          <a:off x="0" y="0"/>
          <a:ext cx="0" cy="0"/>
          <a:chOff x="0" y="0"/>
          <a:chExt cx="0" cy="0"/>
        </a:xfrm>
      </p:grpSpPr>
      <p:sp>
        <p:nvSpPr>
          <p:cNvPr id="616" name="Google Shape;616;p2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CONFIDENCE CHECK</a:t>
            </a:r>
            <a:endParaRPr b="0" i="0" sz="1200" u="none" cap="none" strike="noStrike">
              <a:solidFill>
                <a:schemeClr val="dk1"/>
              </a:solidFill>
              <a:latin typeface="Calibri"/>
              <a:ea typeface="Calibri"/>
              <a:cs typeface="Calibri"/>
              <a:sym typeface="Calibri"/>
            </a:endParaRPr>
          </a:p>
        </p:txBody>
      </p:sp>
      <p:sp>
        <p:nvSpPr>
          <p:cNvPr id="618" name="Google Shape;618;p2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619" name="Google Shape;619;p2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621" name="Google Shape;621;p2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624" name="Google Shape;624;p2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Before entering the war, what policy did the U.S. use to aid the Allies with weapons and supplies?</a:t>
            </a:r>
            <a:endParaRPr b="0" i="0" sz="2400" u="none" cap="none" strike="noStrike">
              <a:solidFill>
                <a:schemeClr val="dk1"/>
              </a:solidFill>
              <a:latin typeface="Calibri"/>
              <a:ea typeface="Calibri"/>
              <a:cs typeface="Calibri"/>
              <a:sym typeface="Calibri"/>
            </a:endParaRPr>
          </a:p>
        </p:txBody>
      </p:sp>
      <p:sp>
        <p:nvSpPr>
          <p:cNvPr id="626" name="Google Shape;626;p2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628" name="Google Shape;628;p2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Lend-Lease Act of 1941.</a:t>
            </a:r>
            <a:endParaRPr b="0" i="0" sz="1600" u="none" cap="none" strike="noStrike">
              <a:solidFill>
                <a:schemeClr val="dk1"/>
              </a:solidFill>
              <a:latin typeface="Calibri"/>
              <a:ea typeface="Calibri"/>
              <a:cs typeface="Calibri"/>
              <a:sym typeface="Calibri"/>
            </a:endParaRPr>
          </a:p>
        </p:txBody>
      </p:sp>
      <p:sp>
        <p:nvSpPr>
          <p:cNvPr id="629" name="Google Shape;629;p2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631" name="Google Shape;631;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2" name="Google Shape;632;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37" name="Shape 637"/>
        <p:cNvGrpSpPr/>
        <p:nvPr/>
      </p:nvGrpSpPr>
      <p:grpSpPr>
        <a:xfrm>
          <a:off x="0" y="0"/>
          <a:ext cx="0" cy="0"/>
          <a:chOff x="0" y="0"/>
          <a:chExt cx="0" cy="0"/>
        </a:xfrm>
      </p:grpSpPr>
      <p:sp>
        <p:nvSpPr>
          <p:cNvPr id="638" name="Google Shape;638;p2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HOOK</a:t>
            </a:r>
            <a:endParaRPr b="0" i="0" sz="1200" u="none" cap="none" strike="noStrike">
              <a:solidFill>
                <a:schemeClr val="dk1"/>
              </a:solidFill>
              <a:latin typeface="Calibri"/>
              <a:ea typeface="Calibri"/>
              <a:cs typeface="Calibri"/>
              <a:sym typeface="Calibri"/>
            </a:endParaRPr>
          </a:p>
        </p:txBody>
      </p:sp>
      <p:sp>
        <p:nvSpPr>
          <p:cNvPr id="640" name="Google Shape;640;p2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641" name="Google Shape;641;p2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Europe fell to Hitler and Japan expanded across the Pacific, a still-neutral United States watched, until President Roosevelt began step by step to turn the nation into what he called the 'great arsenal of democracy.'</a:t>
            </a:r>
            <a:endParaRPr b="0" i="0" sz="2600" u="none" cap="none" strike="noStrike">
              <a:solidFill>
                <a:schemeClr val="dk1"/>
              </a:solidFill>
              <a:latin typeface="Calibri"/>
              <a:ea typeface="Calibri"/>
              <a:cs typeface="Calibri"/>
              <a:sym typeface="Calibri"/>
            </a:endParaRPr>
          </a:p>
        </p:txBody>
      </p:sp>
      <p:sp>
        <p:nvSpPr>
          <p:cNvPr id="643" name="Google Shape;643;p2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645" name="Google Shape;645;p2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647" name="Google Shape;647;p2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does a president move a reluctant, isolationist nation toward war without ever firing a shot?</a:t>
            </a:r>
            <a:endParaRPr b="0" i="0" sz="1600" u="none" cap="none" strike="noStrike">
              <a:solidFill>
                <a:schemeClr val="dk1"/>
              </a:solidFill>
              <a:latin typeface="Calibri"/>
              <a:ea typeface="Calibri"/>
              <a:cs typeface="Calibri"/>
              <a:sym typeface="Calibri"/>
            </a:endParaRPr>
          </a:p>
        </p:txBody>
      </p:sp>
      <p:sp>
        <p:nvSpPr>
          <p:cNvPr id="648" name="Google Shape;648;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49" name="Google Shape;649;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4" name="Shape 654"/>
        <p:cNvGrpSpPr/>
        <p:nvPr/>
      </p:nvGrpSpPr>
      <p:grpSpPr>
        <a:xfrm>
          <a:off x="0" y="0"/>
          <a:ext cx="0" cy="0"/>
          <a:chOff x="0" y="0"/>
          <a:chExt cx="0" cy="0"/>
        </a:xfrm>
      </p:grpSpPr>
      <p:sp>
        <p:nvSpPr>
          <p:cNvPr id="655" name="Google Shape;655;p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57" name="Google Shape;657;p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Quarantine Speech (October 5, 1937)</a:t>
            </a:r>
            <a:endParaRPr b="0" i="0" sz="3000" u="none" cap="none" strike="noStrike">
              <a:solidFill>
                <a:schemeClr val="dk1"/>
              </a:solidFill>
              <a:latin typeface="Calibri"/>
              <a:ea typeface="Calibri"/>
              <a:cs typeface="Calibri"/>
              <a:sym typeface="Calibri"/>
            </a:endParaRPr>
          </a:p>
        </p:txBody>
      </p:sp>
      <p:sp>
        <p:nvSpPr>
          <p:cNvPr id="658" name="Google Shape;658;p24"/>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663" name="Google Shape;663;p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4"/>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As Japan invaded China and European tensions grew, Roosevelt faced strong isolationist sentiment reflected in the Neutrality Acts (1935-1937).</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his Quarantine Speech, FDR compared aggressor nations to a disease requiring quarantine, suggesting peace-loving nations should cooperate against aggressors.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was the first major departure from strict isolationism, laying groundwork for later interventionist policies, though public reaction was mixed and no immediate policy changes resulted.</a:t>
            </a:r>
            <a:endParaRPr b="0" i="0" sz="1700" u="none" cap="none" strike="noStrike">
              <a:solidFill>
                <a:schemeClr val="dk1"/>
              </a:solidFill>
              <a:latin typeface="Calibri"/>
              <a:ea typeface="Calibri"/>
              <a:cs typeface="Calibri"/>
              <a:sym typeface="Calibri"/>
            </a:endParaRPr>
          </a:p>
        </p:txBody>
      </p:sp>
      <p:sp>
        <p:nvSpPr>
          <p:cNvPr id="665" name="Google Shape;665;p24"/>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4"/>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667" name="Google Shape;667;p24"/>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FDR moved the U.S. away from neutrality by ________ and ________, which helped the Allies because ________.</a:t>
            </a:r>
            <a:endParaRPr b="0" i="0" sz="1150" u="none" cap="none" strike="noStrike">
              <a:solidFill>
                <a:schemeClr val="dk1"/>
              </a:solidFill>
              <a:latin typeface="Calibri"/>
              <a:ea typeface="Calibri"/>
              <a:cs typeface="Calibri"/>
              <a:sym typeface="Calibri"/>
            </a:endParaRPr>
          </a:p>
        </p:txBody>
      </p:sp>
      <p:sp>
        <p:nvSpPr>
          <p:cNvPr id="668" name="Google Shape;668;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69" name="Google Shape;669;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74" name="Shape 674"/>
        <p:cNvGrpSpPr/>
        <p:nvPr/>
      </p:nvGrpSpPr>
      <p:grpSpPr>
        <a:xfrm>
          <a:off x="0" y="0"/>
          <a:ext cx="0" cy="0"/>
          <a:chOff x="0" y="0"/>
          <a:chExt cx="0" cy="0"/>
        </a:xfrm>
      </p:grpSpPr>
      <p:sp>
        <p:nvSpPr>
          <p:cNvPr id="675" name="Google Shape;675;p2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77" name="Google Shape;677;p2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Four Freedoms Speech (January 6, 1941)</a:t>
            </a:r>
            <a:endParaRPr b="0" i="0" sz="3000" u="none" cap="none" strike="noStrike">
              <a:solidFill>
                <a:schemeClr val="dk1"/>
              </a:solidFill>
              <a:latin typeface="Calibri"/>
              <a:ea typeface="Calibri"/>
              <a:cs typeface="Calibri"/>
              <a:sym typeface="Calibri"/>
            </a:endParaRPr>
          </a:p>
        </p:txBody>
      </p:sp>
      <p:sp>
        <p:nvSpPr>
          <p:cNvPr id="678" name="Google Shape;678;p2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5"/>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683" name="Google Shape;683;p25"/>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5"/>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outlined four essential freedoms that should exist "everywhere in the world": Freedom of Speech and Expression, Freedom of Worship, Freedom from Want (economic security), and Freedom from Fear (reduction of armaments).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freedoms provided moral justification for U.S. involvement in war, defined what America would fight for, and outlined goals for post-war international order.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Four Freedoms contrasted democratic values with fascist oppression and later influenced the Universal Declaration of Human Rights.</a:t>
            </a:r>
            <a:endParaRPr b="0" i="0" sz="1550" u="none" cap="none" strike="noStrike">
              <a:solidFill>
                <a:schemeClr val="dk1"/>
              </a:solidFill>
              <a:latin typeface="Calibri"/>
              <a:ea typeface="Calibri"/>
              <a:cs typeface="Calibri"/>
              <a:sym typeface="Calibri"/>
            </a:endParaRPr>
          </a:p>
        </p:txBody>
      </p:sp>
      <p:sp>
        <p:nvSpPr>
          <p:cNvPr id="685" name="Google Shape;685;p25"/>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fdr-fireside-chat-1941.jpg" id="686" name="Google Shape;686;p25"/>
          <p:cNvPicPr preferRelativeResize="0"/>
          <p:nvPr/>
        </p:nvPicPr>
        <p:blipFill rotWithShape="1">
          <a:blip r:embed="rId3">
            <a:alphaModFix/>
          </a:blip>
          <a:srcRect b="0" l="0" r="0" t="0"/>
          <a:stretch/>
        </p:blipFill>
        <p:spPr>
          <a:xfrm>
            <a:off x="7589520" y="2056470"/>
            <a:ext cx="4069080" cy="2955372"/>
          </a:xfrm>
          <a:prstGeom prst="rect">
            <a:avLst/>
          </a:prstGeom>
          <a:noFill/>
          <a:ln>
            <a:noFill/>
          </a:ln>
        </p:spPr>
      </p:pic>
      <p:sp>
        <p:nvSpPr>
          <p:cNvPr id="687" name="Google Shape;687;p25"/>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OWI / U.S. Government, September 11,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688" name="Google Shape;688;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9" name="Google Shape;689;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94" name="Shape 694"/>
        <p:cNvGrpSpPr/>
        <p:nvPr/>
      </p:nvGrpSpPr>
      <p:grpSpPr>
        <a:xfrm>
          <a:off x="0" y="0"/>
          <a:ext cx="0" cy="0"/>
          <a:chOff x="0" y="0"/>
          <a:chExt cx="0" cy="0"/>
        </a:xfrm>
      </p:grpSpPr>
      <p:sp>
        <p:nvSpPr>
          <p:cNvPr id="695" name="Google Shape;695;p2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97" name="Google Shape;697;p2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Atlantic Charter (August 14, 1941)</a:t>
            </a:r>
            <a:endParaRPr b="0" i="0" sz="3000" u="none" cap="none" strike="noStrike">
              <a:solidFill>
                <a:schemeClr val="dk1"/>
              </a:solidFill>
              <a:latin typeface="Calibri"/>
              <a:ea typeface="Calibri"/>
              <a:cs typeface="Calibri"/>
              <a:sym typeface="Calibri"/>
            </a:endParaRPr>
          </a:p>
        </p:txBody>
      </p:sp>
      <p:sp>
        <p:nvSpPr>
          <p:cNvPr id="698" name="Google Shape;698;p2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703" name="Google Shape;703;p2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Meeting secretly with Winston Churchill off Newfoundland, Roosevelt established war aims and post-war principles: no territorial aggrandizement, self-determination for peoples, economic cooperation and free trade, freedom of the seas, disarmament after war, and collective security through international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Charter became the foundation for the United Nations, encouraged decolonization movements, and established precedents for international human rights law.</a:t>
            </a:r>
            <a:endParaRPr b="0" i="0" sz="1700" u="none" cap="none" strike="noStrike">
              <a:solidFill>
                <a:schemeClr val="dk1"/>
              </a:solidFill>
              <a:latin typeface="Calibri"/>
              <a:ea typeface="Calibri"/>
              <a:cs typeface="Calibri"/>
              <a:sym typeface="Calibri"/>
            </a:endParaRPr>
          </a:p>
        </p:txBody>
      </p:sp>
      <p:sp>
        <p:nvSpPr>
          <p:cNvPr id="705" name="Google Shape;705;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6" name="Google Shape;706;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11" name="Shape 711"/>
        <p:cNvGrpSpPr/>
        <p:nvPr/>
      </p:nvGrpSpPr>
      <p:grpSpPr>
        <a:xfrm>
          <a:off x="0" y="0"/>
          <a:ext cx="0" cy="0"/>
          <a:chOff x="0" y="0"/>
          <a:chExt cx="0" cy="0"/>
        </a:xfrm>
      </p:grpSpPr>
      <p:sp>
        <p:nvSpPr>
          <p:cNvPr id="712" name="Google Shape;712;p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714" name="Google Shape;714;p2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Lend-Lease Act (March 11, 1941)</a:t>
            </a:r>
            <a:endParaRPr b="0" i="0" sz="3000" u="none" cap="none" strike="noStrike">
              <a:solidFill>
                <a:schemeClr val="dk1"/>
              </a:solidFill>
              <a:latin typeface="Calibri"/>
              <a:ea typeface="Calibri"/>
              <a:cs typeface="Calibri"/>
              <a:sym typeface="Calibri"/>
            </a:endParaRPr>
          </a:p>
        </p:txBody>
      </p:sp>
      <p:sp>
        <p:nvSpPr>
          <p:cNvPr id="715" name="Google Shape;715;p2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720" name="Google Shape;720;p2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Lend-Lease Act allowed the U.S. to provide military equipment to Britain without requiring immediate payment, circumventing neutrality while making America the "Arsenal of Democracy." Eventually totaling $50 billion, aid went primarily to Britain (60%), Soviet Union (20%), and China.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program enabled British survival, supported Soviet resistance to German invasion, and stimulated U.S. industrial production while effectively ending true American neutrality.</a:t>
            </a:r>
            <a:endParaRPr b="0" i="0" sz="1700" u="none" cap="none" strike="noStrike">
              <a:solidFill>
                <a:schemeClr val="dk1"/>
              </a:solidFill>
              <a:latin typeface="Calibri"/>
              <a:ea typeface="Calibri"/>
              <a:cs typeface="Calibri"/>
              <a:sym typeface="Calibri"/>
            </a:endParaRPr>
          </a:p>
        </p:txBody>
      </p:sp>
      <p:sp>
        <p:nvSpPr>
          <p:cNvPr id="722" name="Google Shape;722;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3" name="Google Shape;723;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8" name="Shape 728"/>
        <p:cNvGrpSpPr/>
        <p:nvPr/>
      </p:nvGrpSpPr>
      <p:grpSpPr>
        <a:xfrm>
          <a:off x="0" y="0"/>
          <a:ext cx="0" cy="0"/>
          <a:chOff x="0" y="0"/>
          <a:chExt cx="0" cy="0"/>
        </a:xfrm>
      </p:grpSpPr>
      <p:sp>
        <p:nvSpPr>
          <p:cNvPr id="729" name="Google Shape;729;p2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PEOPLE WHO SHAPED THE ERA</a:t>
            </a:r>
            <a:endParaRPr b="0" i="0" sz="1200" u="none" cap="none" strike="noStrike">
              <a:solidFill>
                <a:schemeClr val="dk1"/>
              </a:solidFill>
              <a:latin typeface="Calibri"/>
              <a:ea typeface="Calibri"/>
              <a:cs typeface="Calibri"/>
              <a:sym typeface="Calibri"/>
            </a:endParaRPr>
          </a:p>
        </p:txBody>
      </p:sp>
      <p:sp>
        <p:nvSpPr>
          <p:cNvPr id="731" name="Google Shape;731;p2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732" name="Google Shape;732;p28"/>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735" name="Google Shape;735;p28"/>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responding to world crises</a:t>
            </a:r>
            <a:endParaRPr b="0" i="0" sz="1100" u="none" cap="none" strike="noStrike">
              <a:solidFill>
                <a:schemeClr val="dk1"/>
              </a:solidFill>
              <a:latin typeface="Calibri"/>
              <a:ea typeface="Calibri"/>
              <a:cs typeface="Calibri"/>
              <a:sym typeface="Calibri"/>
            </a:endParaRPr>
          </a:p>
        </p:txBody>
      </p:sp>
      <p:sp>
        <p:nvSpPr>
          <p:cNvPr id="736" name="Google Shape;736;p28"/>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the 1937 Quarantine Speech warning against aggressors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Lend-Lease (1941) to arm Britain short of war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the fight as defending the 'Four Freedoms'</a:t>
            </a:r>
            <a:endParaRPr b="0" i="0" sz="1300" u="none" cap="none" strike="noStrike">
              <a:solidFill>
                <a:schemeClr val="dk1"/>
              </a:solidFill>
              <a:latin typeface="Calibri"/>
              <a:ea typeface="Calibri"/>
              <a:cs typeface="Calibri"/>
              <a:sym typeface="Calibri"/>
            </a:endParaRPr>
          </a:p>
        </p:txBody>
      </p:sp>
      <p:sp>
        <p:nvSpPr>
          <p:cNvPr id="737" name="Google Shape;737;p28"/>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Trace FDR's steps from neutrality toward intervention - each speech and law moves the line.</a:t>
            </a:r>
            <a:endParaRPr b="0" i="0" sz="800" u="none" cap="none" strike="noStrike">
              <a:solidFill>
                <a:schemeClr val="dk1"/>
              </a:solidFill>
              <a:latin typeface="Calibri"/>
              <a:ea typeface="Calibri"/>
              <a:cs typeface="Calibri"/>
              <a:sym typeface="Calibri"/>
            </a:endParaRPr>
          </a:p>
        </p:txBody>
      </p:sp>
      <p:sp>
        <p:nvSpPr>
          <p:cNvPr id="739" name="Google Shape;739;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0" name="Google Shape;740;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45" name="Shape 745"/>
        <p:cNvGrpSpPr/>
        <p:nvPr/>
      </p:nvGrpSpPr>
      <p:grpSpPr>
        <a:xfrm>
          <a:off x="0" y="0"/>
          <a:ext cx="0" cy="0"/>
          <a:chOff x="0" y="0"/>
          <a:chExt cx="0" cy="0"/>
        </a:xfrm>
      </p:grpSpPr>
      <p:sp>
        <p:nvSpPr>
          <p:cNvPr id="746" name="Google Shape;746;p29"/>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US.46 · PRIMARY SOURCE ANALYSIS</a:t>
            </a:r>
            <a:endParaRPr b="0" i="0" sz="1200" u="none" cap="none" strike="noStrike">
              <a:solidFill>
                <a:schemeClr val="dk1"/>
              </a:solidFill>
              <a:latin typeface="Calibri"/>
              <a:ea typeface="Calibri"/>
              <a:cs typeface="Calibri"/>
              <a:sym typeface="Calibri"/>
            </a:endParaRPr>
          </a:p>
        </p:txBody>
      </p:sp>
      <p:sp>
        <p:nvSpPr>
          <p:cNvPr id="748" name="Google Shape;748;p29"/>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Four Freedoms Speech</a:t>
            </a:r>
            <a:endParaRPr b="0" i="0" sz="2500" u="none" cap="none" strike="noStrike">
              <a:solidFill>
                <a:schemeClr val="dk1"/>
              </a:solidFill>
              <a:latin typeface="Calibri"/>
              <a:ea typeface="Calibri"/>
              <a:cs typeface="Calibri"/>
              <a:sym typeface="Calibri"/>
            </a:endParaRPr>
          </a:p>
        </p:txBody>
      </p:sp>
      <p:sp>
        <p:nvSpPr>
          <p:cNvPr id="749" name="Google Shape;749;p29"/>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9"/>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751" name="Google Shape;751;p29"/>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January 6, 1941</a:t>
            </a:r>
            <a:endParaRPr b="0" i="0" sz="1200" u="none" cap="none" strike="noStrike">
              <a:solidFill>
                <a:schemeClr val="dk1"/>
              </a:solidFill>
              <a:latin typeface="Calibri"/>
              <a:ea typeface="Calibri"/>
              <a:cs typeface="Calibri"/>
              <a:sym typeface="Calibri"/>
            </a:endParaRPr>
          </a:p>
        </p:txBody>
      </p:sp>
      <p:sp>
        <p:nvSpPr>
          <p:cNvPr id="752" name="Google Shape;752;p29"/>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29"/>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9"/>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400" u="none" cap="none" strike="noStrike">
              <a:solidFill>
                <a:schemeClr val="dk1"/>
              </a:solidFill>
              <a:latin typeface="Calibri"/>
              <a:ea typeface="Calibri"/>
              <a:cs typeface="Calibri"/>
              <a:sym typeface="Calibri"/>
            </a:endParaRPr>
          </a:p>
        </p:txBody>
      </p:sp>
      <p:sp>
        <p:nvSpPr>
          <p:cNvPr id="755" name="Google Shape;755;p29"/>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29"/>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757" name="Google Shape;757;p29"/>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29"/>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759" name="Google Shape;759;p29"/>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January 1941, World War II was raging in Europe and Asia, but the United States had not yet entered the conflict. Many Americans wanted to stay out of foreign wars, a position called isolationism. Roosevelt used this address—his annual State of the Union—to argue that America had a stake in a free world and to prepare the public for a more active role in supporting democracies under attack.</a:t>
            </a:r>
            <a:endParaRPr b="0" i="0" sz="1050" u="none" cap="none" strike="noStrike">
              <a:solidFill>
                <a:schemeClr val="dk1"/>
              </a:solidFill>
              <a:latin typeface="Calibri"/>
              <a:ea typeface="Calibri"/>
              <a:cs typeface="Calibri"/>
              <a:sym typeface="Calibri"/>
            </a:endParaRPr>
          </a:p>
        </p:txBody>
      </p:sp>
      <p:sp>
        <p:nvSpPr>
          <p:cNvPr id="760" name="Google Shape;760;p29"/>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9"/>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762" name="Google Shape;762;p29"/>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is the main argument President Roosevelt makes in this excerpt?</a:t>
            </a:r>
            <a:endParaRPr b="0" i="0" sz="1250" u="none" cap="none" strike="noStrike">
              <a:solidFill>
                <a:schemeClr val="dk1"/>
              </a:solidFill>
              <a:latin typeface="Calibri"/>
              <a:ea typeface="Calibri"/>
              <a:cs typeface="Calibri"/>
              <a:sym typeface="Calibri"/>
            </a:endParaRPr>
          </a:p>
        </p:txBody>
      </p:sp>
      <p:sp>
        <p:nvSpPr>
          <p:cNvPr id="763" name="Google Shape;763;p29"/>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9"/>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9"/>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766" name="Google Shape;766;p29"/>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767" name="Google Shape;767;p29"/>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768" name="Google Shape;768;p29"/>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769" name="Google Shape;769;p29"/>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770" name="Google Shape;770;p29"/>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771" name="Google Shape;771;p29"/>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January 6, 1941</a:t>
            </a:r>
            <a:endParaRPr b="0" i="0" sz="950" u="none" cap="none" strike="noStrike">
              <a:solidFill>
                <a:schemeClr val="dk1"/>
              </a:solidFill>
              <a:latin typeface="Calibri"/>
              <a:ea typeface="Calibri"/>
              <a:cs typeface="Calibri"/>
              <a:sym typeface="Calibri"/>
            </a:endParaRPr>
          </a:p>
        </p:txBody>
      </p:sp>
      <p:sp>
        <p:nvSpPr>
          <p:cNvPr id="772" name="Google Shape;772;p29"/>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773" name="Google Shape;773;p29"/>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774" name="Google Shape;774;p29"/>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75" name="Google Shape;775;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6" name="Google Shape;776;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KEY VOCABULARY</a:t>
            </a:r>
            <a:endParaRPr b="0" i="0" sz="1200" u="none" cap="none" strike="noStrike">
              <a:solidFill>
                <a:schemeClr val="dk1"/>
              </a:solidFill>
              <a:latin typeface="Calibri"/>
              <a:ea typeface="Calibri"/>
              <a:cs typeface="Calibri"/>
              <a:sym typeface="Calibri"/>
            </a:endParaRPr>
          </a:p>
        </p:txBody>
      </p:sp>
      <p:sp>
        <p:nvSpPr>
          <p:cNvPr id="784" name="Google Shape;784;p3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785" name="Google Shape;785;p30"/>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0"/>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0"/>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Quarantine Speech</a:t>
            </a:r>
            <a:endParaRPr b="0" i="0" sz="1350" u="none" cap="none" strike="noStrike">
              <a:solidFill>
                <a:schemeClr val="dk1"/>
              </a:solidFill>
              <a:latin typeface="Calibri"/>
              <a:ea typeface="Calibri"/>
              <a:cs typeface="Calibri"/>
              <a:sym typeface="Calibri"/>
            </a:endParaRPr>
          </a:p>
        </p:txBody>
      </p:sp>
      <p:sp>
        <p:nvSpPr>
          <p:cNvPr id="788" name="Google Shape;788;p30"/>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KWOR-un-teen speech</a:t>
            </a:r>
            <a:endParaRPr b="0" i="0" sz="850" u="none" cap="none" strike="noStrike">
              <a:solidFill>
                <a:schemeClr val="dk1"/>
              </a:solidFill>
              <a:latin typeface="Calibri"/>
              <a:ea typeface="Calibri"/>
              <a:cs typeface="Calibri"/>
              <a:sym typeface="Calibri"/>
            </a:endParaRPr>
          </a:p>
        </p:txBody>
      </p:sp>
      <p:sp>
        <p:nvSpPr>
          <p:cNvPr id="789" name="Google Shape;789;p30"/>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 Cuarentena</a:t>
            </a:r>
            <a:endParaRPr b="0" i="0" sz="1000" u="none" cap="none" strike="noStrike">
              <a:solidFill>
                <a:schemeClr val="dk1"/>
              </a:solidFill>
              <a:latin typeface="Calibri"/>
              <a:ea typeface="Calibri"/>
              <a:cs typeface="Calibri"/>
              <a:sym typeface="Calibri"/>
            </a:endParaRPr>
          </a:p>
        </p:txBody>
      </p:sp>
      <p:sp>
        <p:nvSpPr>
          <p:cNvPr id="790" name="Google Shape;790;p30"/>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30"/>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QS</a:t>
            </a:r>
            <a:endParaRPr b="0" i="0" sz="1300" u="none" cap="none" strike="noStrike">
              <a:solidFill>
                <a:schemeClr val="dk1"/>
              </a:solidFill>
              <a:latin typeface="Calibri"/>
              <a:ea typeface="Calibri"/>
              <a:cs typeface="Calibri"/>
              <a:sym typeface="Calibri"/>
            </a:endParaRPr>
          </a:p>
        </p:txBody>
      </p:sp>
      <p:sp>
        <p:nvSpPr>
          <p:cNvPr id="792" name="Google Shape;792;p30"/>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1937 address proposing that peace-loving nations 'quarantine' aggressor states to halt the spread of international lawlessness.</a:t>
            </a:r>
            <a:endParaRPr b="0" i="0" sz="1100" u="none" cap="none" strike="noStrike">
              <a:solidFill>
                <a:schemeClr val="dk1"/>
              </a:solidFill>
              <a:latin typeface="Calibri"/>
              <a:ea typeface="Calibri"/>
              <a:cs typeface="Calibri"/>
              <a:sym typeface="Calibri"/>
            </a:endParaRPr>
          </a:p>
        </p:txBody>
      </p:sp>
      <p:sp>
        <p:nvSpPr>
          <p:cNvPr id="793" name="Google Shape;793;p30"/>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0"/>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0"/>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796" name="Google Shape;796;p30"/>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797" name="Google Shape;797;p30"/>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798" name="Google Shape;798;p30"/>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30"/>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FF</a:t>
            </a:r>
            <a:endParaRPr b="0" i="0" sz="1300" u="none" cap="none" strike="noStrike">
              <a:solidFill>
                <a:schemeClr val="dk1"/>
              </a:solidFill>
              <a:latin typeface="Calibri"/>
              <a:ea typeface="Calibri"/>
              <a:cs typeface="Calibri"/>
              <a:sym typeface="Calibri"/>
            </a:endParaRPr>
          </a:p>
        </p:txBody>
      </p:sp>
      <p:sp>
        <p:nvSpPr>
          <p:cNvPr id="800" name="Google Shape;800;p30"/>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801" name="Google Shape;801;p30"/>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0"/>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0"/>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804" name="Google Shape;804;p30"/>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805" name="Google Shape;805;p30"/>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806" name="Google Shape;806;p30"/>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0"/>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LA</a:t>
            </a:r>
            <a:endParaRPr b="0" i="0" sz="1300" u="none" cap="none" strike="noStrike">
              <a:solidFill>
                <a:schemeClr val="dk1"/>
              </a:solidFill>
              <a:latin typeface="Calibri"/>
              <a:ea typeface="Calibri"/>
              <a:cs typeface="Calibri"/>
              <a:sym typeface="Calibri"/>
            </a:endParaRPr>
          </a:p>
        </p:txBody>
      </p:sp>
      <p:sp>
        <p:nvSpPr>
          <p:cNvPr id="808" name="Google Shape;808;p30"/>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809" name="Google Shape;809;p30"/>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0"/>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0"/>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812" name="Google Shape;812;p30"/>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813" name="Google Shape;813;p30"/>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814" name="Google Shape;814;p30"/>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0"/>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A</a:t>
            </a:r>
            <a:endParaRPr b="0" i="0" sz="1500" u="none" cap="none" strike="noStrike">
              <a:solidFill>
                <a:schemeClr val="dk1"/>
              </a:solidFill>
              <a:latin typeface="Calibri"/>
              <a:ea typeface="Calibri"/>
              <a:cs typeface="Calibri"/>
              <a:sym typeface="Calibri"/>
            </a:endParaRPr>
          </a:p>
        </p:txBody>
      </p:sp>
      <p:sp>
        <p:nvSpPr>
          <p:cNvPr id="816" name="Google Shape;816;p30"/>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a:t>
            </a:r>
            <a:endParaRPr b="0" i="0" sz="1100" u="none" cap="none" strike="noStrike">
              <a:solidFill>
                <a:schemeClr val="dk1"/>
              </a:solidFill>
              <a:latin typeface="Calibri"/>
              <a:ea typeface="Calibri"/>
              <a:cs typeface="Calibri"/>
              <a:sym typeface="Calibri"/>
            </a:endParaRPr>
          </a:p>
        </p:txBody>
      </p:sp>
      <p:sp>
        <p:nvSpPr>
          <p:cNvPr id="817" name="Google Shape;817;p30"/>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0"/>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0"/>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820" name="Google Shape;820;p30"/>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821" name="Google Shape;821;p30"/>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822" name="Google Shape;822;p30"/>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0"/>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824" name="Google Shape;824;p30"/>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825" name="Google Shape;825;p30"/>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0"/>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0"/>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828" name="Google Shape;828;p30"/>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829" name="Google Shape;829;p30"/>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830" name="Google Shape;830;p30"/>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30"/>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832" name="Google Shape;832;p30"/>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833" name="Google Shape;833;p30"/>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834" name="Google Shape;834;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5" name="Google Shape;835;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40" name="Shape 840"/>
        <p:cNvGrpSpPr/>
        <p:nvPr/>
      </p:nvGrpSpPr>
      <p:grpSpPr>
        <a:xfrm>
          <a:off x="0" y="0"/>
          <a:ext cx="0" cy="0"/>
          <a:chOff x="0" y="0"/>
          <a:chExt cx="0" cy="0"/>
        </a:xfrm>
      </p:grpSpPr>
      <p:sp>
        <p:nvSpPr>
          <p:cNvPr id="841" name="Google Shape;841;p3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GUIDED PRACTICE — WE DO IT TOGETHER</a:t>
            </a:r>
            <a:endParaRPr b="0" i="0" sz="1200" u="none" cap="none" strike="noStrike">
              <a:solidFill>
                <a:schemeClr val="dk1"/>
              </a:solidFill>
              <a:latin typeface="Calibri"/>
              <a:ea typeface="Calibri"/>
              <a:cs typeface="Calibri"/>
              <a:sym typeface="Calibri"/>
            </a:endParaRPr>
          </a:p>
        </p:txBody>
      </p:sp>
      <p:sp>
        <p:nvSpPr>
          <p:cNvPr id="843" name="Google Shape;843;p31"/>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844" name="Google Shape;844;p31"/>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Trace a leader's shifting policy</a:t>
            </a:r>
            <a:endParaRPr b="0" i="0" sz="1100" u="none" cap="none" strike="noStrike">
              <a:solidFill>
                <a:schemeClr val="dk1"/>
              </a:solidFill>
              <a:latin typeface="Calibri"/>
              <a:ea typeface="Calibri"/>
              <a:cs typeface="Calibri"/>
              <a:sym typeface="Calibri"/>
            </a:endParaRPr>
          </a:p>
        </p:txBody>
      </p:sp>
      <p:sp>
        <p:nvSpPr>
          <p:cNvPr id="846" name="Google Shape;846;p31"/>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1"/>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FDR move America closer to war without declaring it?</a:t>
            </a:r>
            <a:endParaRPr b="0" i="0" sz="1500" u="none" cap="none" strike="noStrike">
              <a:solidFill>
                <a:schemeClr val="dk1"/>
              </a:solidFill>
              <a:latin typeface="Calibri"/>
              <a:ea typeface="Calibri"/>
              <a:cs typeface="Calibri"/>
              <a:sym typeface="Calibri"/>
            </a:endParaRPr>
          </a:p>
        </p:txBody>
      </p:sp>
      <p:sp>
        <p:nvSpPr>
          <p:cNvPr id="848" name="Google Shape;848;p31"/>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1"/>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850" name="Google Shape;850;p31"/>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Step by step: the Quarantine Speech named the danger, Lend-Lease armed the Allies, and the Four Freedoms defined the cause. Each move edged past neutrality.</a:t>
            </a:r>
            <a:endParaRPr b="0" i="0" sz="1450" u="none" cap="none" strike="noStrike">
              <a:solidFill>
                <a:schemeClr val="dk1"/>
              </a:solidFill>
              <a:latin typeface="Calibri"/>
              <a:ea typeface="Calibri"/>
              <a:cs typeface="Calibri"/>
              <a:sym typeface="Calibri"/>
            </a:endParaRPr>
          </a:p>
        </p:txBody>
      </p:sp>
      <p:sp>
        <p:nvSpPr>
          <p:cNvPr id="851" name="Google Shape;851;p31"/>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1"/>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853" name="Google Shape;853;p31"/>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FDR's actions in order and label each 'more neutral' or 'more involved.'</a:t>
            </a:r>
            <a:endParaRPr b="0" i="0" sz="1300" u="none" cap="none" strike="noStrike">
              <a:solidFill>
                <a:schemeClr val="dk1"/>
              </a:solidFill>
              <a:latin typeface="Calibri"/>
              <a:ea typeface="Calibri"/>
              <a:cs typeface="Calibri"/>
              <a:sym typeface="Calibri"/>
            </a:endParaRPr>
          </a:p>
        </p:txBody>
      </p:sp>
      <p:sp>
        <p:nvSpPr>
          <p:cNvPr id="854" name="Google Shape;854;p31"/>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Pick the boldest step short of war and defend your choice with evidence.</a:t>
            </a:r>
            <a:endParaRPr b="0" i="0" sz="1200" u="none" cap="none" strike="noStrike">
              <a:solidFill>
                <a:schemeClr val="dk1"/>
              </a:solidFill>
              <a:latin typeface="Calibri"/>
              <a:ea typeface="Calibri"/>
              <a:cs typeface="Calibri"/>
              <a:sym typeface="Calibri"/>
            </a:endParaRPr>
          </a:p>
        </p:txBody>
      </p:sp>
      <p:sp>
        <p:nvSpPr>
          <p:cNvPr id="855" name="Google Shape;855;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6" name="Google Shape;856;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61" name="Shape 861"/>
        <p:cNvGrpSpPr/>
        <p:nvPr/>
      </p:nvGrpSpPr>
      <p:grpSpPr>
        <a:xfrm>
          <a:off x="0" y="0"/>
          <a:ext cx="0" cy="0"/>
          <a:chOff x="0" y="0"/>
          <a:chExt cx="0" cy="0"/>
        </a:xfrm>
      </p:grpSpPr>
      <p:sp>
        <p:nvSpPr>
          <p:cNvPr id="862" name="Google Shape;862;p3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STUDENT ACTIVITY</a:t>
            </a:r>
            <a:endParaRPr b="0" i="0" sz="1200" u="none" cap="none" strike="noStrike">
              <a:solidFill>
                <a:schemeClr val="dk1"/>
              </a:solidFill>
              <a:latin typeface="Calibri"/>
              <a:ea typeface="Calibri"/>
              <a:cs typeface="Calibri"/>
              <a:sym typeface="Calibri"/>
            </a:endParaRPr>
          </a:p>
        </p:txBody>
      </p:sp>
      <p:sp>
        <p:nvSpPr>
          <p:cNvPr id="864" name="Google Shape;864;p32"/>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From Neutral to Arsenal — Tracking FDR's Response</a:t>
            </a:r>
            <a:endParaRPr b="0" i="0" sz="2400" u="none" cap="none" strike="noStrike">
              <a:solidFill>
                <a:schemeClr val="dk1"/>
              </a:solidFill>
              <a:latin typeface="Calibri"/>
              <a:ea typeface="Calibri"/>
              <a:cs typeface="Calibri"/>
              <a:sym typeface="Calibri"/>
            </a:endParaRPr>
          </a:p>
        </p:txBody>
      </p:sp>
      <p:sp>
        <p:nvSpPr>
          <p:cNvPr id="865" name="Google Shape;865;p32"/>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2"/>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867" name="Google Shape;867;p32"/>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2"/>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869" name="Google Shape;869;p32"/>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2"/>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871" name="Google Shape;871;p32"/>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Four Freedoms speech excerpt and use your notes to build a timeline of FDR's four key responses to the world crisis: the Quarantine Speech (1937), the Four Freedoms speech (Jan 1941), the Lend-Lease Act (March 1941), and the Atlantic Charter (Aug 1941). For each, write one sentence on what it did and how it moved the U.S. away from strict neutrality. Finish with a one-sentence claim on whether FDR was leading the nation toward war or trying to keep it out.</a:t>
            </a:r>
            <a:endParaRPr b="0" i="0" sz="1350" u="none" cap="none" strike="noStrike">
              <a:solidFill>
                <a:schemeClr val="dk1"/>
              </a:solidFill>
              <a:latin typeface="Calibri"/>
              <a:ea typeface="Calibri"/>
              <a:cs typeface="Calibri"/>
              <a:sym typeface="Calibri"/>
            </a:endParaRPr>
          </a:p>
        </p:txBody>
      </p:sp>
      <p:sp>
        <p:nvSpPr>
          <p:cNvPr id="872" name="Google Shape;872;p32"/>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2"/>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874" name="Google Shape;874;p32"/>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four-step timeline (one sentence each on purpose + move away from neutrality) AND a one-sentence evidence-based claim about FDR's intent.</a:t>
            </a:r>
            <a:endParaRPr b="0" i="0" sz="1050" u="none" cap="none" strike="noStrike">
              <a:solidFill>
                <a:schemeClr val="dk1"/>
              </a:solidFill>
              <a:latin typeface="Calibri"/>
              <a:ea typeface="Calibri"/>
              <a:cs typeface="Calibri"/>
              <a:sym typeface="Calibri"/>
            </a:endParaRPr>
          </a:p>
        </p:txBody>
      </p:sp>
      <p:sp>
        <p:nvSpPr>
          <p:cNvPr id="875" name="Google Shape;875;p32"/>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2"/>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877" name="Google Shape;877;p32"/>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Timeline with the four events pre-placed and a word bank of descriptions to match. Honors: Write a paragraph using the Four Freedoms speech to explain how FDR framed aid to the Allies as a defense of democracy itself.</a:t>
            </a:r>
            <a:endParaRPr b="0" i="0" sz="1000" u="none" cap="none" strike="noStrike">
              <a:solidFill>
                <a:schemeClr val="dk1"/>
              </a:solidFill>
              <a:latin typeface="Calibri"/>
              <a:ea typeface="Calibri"/>
              <a:cs typeface="Calibri"/>
              <a:sym typeface="Calibri"/>
            </a:endParaRPr>
          </a:p>
        </p:txBody>
      </p:sp>
      <p:sp>
        <p:nvSpPr>
          <p:cNvPr id="878" name="Google Shape;878;p32"/>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cornell-notes/unit-6/us46-fdr-response-world-crises.pdf</a:t>
            </a:r>
            <a:endParaRPr b="0" i="0" sz="1050" u="none" cap="none" strike="noStrike">
              <a:solidFill>
                <a:schemeClr val="dk1"/>
              </a:solidFill>
              <a:latin typeface="Calibri"/>
              <a:ea typeface="Calibri"/>
              <a:cs typeface="Calibri"/>
              <a:sym typeface="Calibri"/>
            </a:endParaRPr>
          </a:p>
        </p:txBody>
      </p:sp>
      <p:sp>
        <p:nvSpPr>
          <p:cNvPr id="879" name="Google Shape;87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0" name="Google Shape;88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85" name="Shape 885"/>
        <p:cNvGrpSpPr/>
        <p:nvPr/>
      </p:nvGrpSpPr>
      <p:grpSpPr>
        <a:xfrm>
          <a:off x="0" y="0"/>
          <a:ext cx="0" cy="0"/>
          <a:chOff x="0" y="0"/>
          <a:chExt cx="0" cy="0"/>
        </a:xfrm>
      </p:grpSpPr>
      <p:sp>
        <p:nvSpPr>
          <p:cNvPr id="886" name="Google Shape;886;p3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CHECK FOR UNDERSTANDING</a:t>
            </a:r>
            <a:endParaRPr b="0" i="0" sz="1200" u="none" cap="none" strike="noStrike">
              <a:solidFill>
                <a:schemeClr val="dk1"/>
              </a:solidFill>
              <a:latin typeface="Calibri"/>
              <a:ea typeface="Calibri"/>
              <a:cs typeface="Calibri"/>
              <a:sym typeface="Calibri"/>
            </a:endParaRPr>
          </a:p>
        </p:txBody>
      </p:sp>
      <p:sp>
        <p:nvSpPr>
          <p:cNvPr id="888" name="Google Shape;888;p33"/>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889" name="Google Shape;889;p33"/>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3"/>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891" name="Google Shape;891;p33"/>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893" name="Google Shape;893;p33"/>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600" u="none" cap="none" strike="noStrike">
              <a:solidFill>
                <a:schemeClr val="dk1"/>
              </a:solidFill>
              <a:latin typeface="Calibri"/>
              <a:ea typeface="Calibri"/>
              <a:cs typeface="Calibri"/>
              <a:sym typeface="Calibri"/>
            </a:endParaRPr>
          </a:p>
        </p:txBody>
      </p:sp>
      <p:sp>
        <p:nvSpPr>
          <p:cNvPr id="895" name="Google Shape;895;p33"/>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3"/>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3"/>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898" name="Google Shape;898;p33"/>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committed the United States to immediately entering the war against Nazi Germany.</a:t>
            </a:r>
            <a:endParaRPr b="0" i="0" sz="1350" u="none" cap="none" strike="noStrike">
              <a:solidFill>
                <a:schemeClr val="dk1"/>
              </a:solidFill>
              <a:latin typeface="Calibri"/>
              <a:ea typeface="Calibri"/>
              <a:cs typeface="Calibri"/>
              <a:sym typeface="Calibri"/>
            </a:endParaRPr>
          </a:p>
        </p:txBody>
      </p:sp>
      <p:sp>
        <p:nvSpPr>
          <p:cNvPr id="899" name="Google Shape;899;p33"/>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33"/>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33"/>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902" name="Google Shape;902;p33"/>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suggested that aggressive nations should be isolated, signaling a possible shift away from strict neutrality.</a:t>
            </a:r>
            <a:endParaRPr b="0" i="0" sz="1350" u="none" cap="none" strike="noStrike">
              <a:solidFill>
                <a:schemeClr val="dk1"/>
              </a:solidFill>
              <a:latin typeface="Calibri"/>
              <a:ea typeface="Calibri"/>
              <a:cs typeface="Calibri"/>
              <a:sym typeface="Calibri"/>
            </a:endParaRPr>
          </a:p>
        </p:txBody>
      </p:sp>
      <p:sp>
        <p:nvSpPr>
          <p:cNvPr id="903" name="Google Shape;903;p33"/>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3"/>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3"/>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906" name="Google Shape;906;p33"/>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announced the creation of the Lend-Lease program to supply weapons to Allied nations.</a:t>
            </a:r>
            <a:endParaRPr b="0" i="0" sz="1350" u="none" cap="none" strike="noStrike">
              <a:solidFill>
                <a:schemeClr val="dk1"/>
              </a:solidFill>
              <a:latin typeface="Calibri"/>
              <a:ea typeface="Calibri"/>
              <a:cs typeface="Calibri"/>
              <a:sym typeface="Calibri"/>
            </a:endParaRPr>
          </a:p>
        </p:txBody>
      </p:sp>
      <p:sp>
        <p:nvSpPr>
          <p:cNvPr id="907" name="Google Shape;907;p33"/>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3"/>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3"/>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910" name="Google Shape;910;p33"/>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declared that the U.S. would defend any nation attacked by a foreign aggressor.</a:t>
            </a:r>
            <a:endParaRPr b="0" i="0" sz="1350" u="none" cap="none" strike="noStrike">
              <a:solidFill>
                <a:schemeClr val="dk1"/>
              </a:solidFill>
              <a:latin typeface="Calibri"/>
              <a:ea typeface="Calibri"/>
              <a:cs typeface="Calibri"/>
              <a:sym typeface="Calibri"/>
            </a:endParaRPr>
          </a:p>
        </p:txBody>
      </p:sp>
      <p:sp>
        <p:nvSpPr>
          <p:cNvPr id="911" name="Google Shape;911;p33"/>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3"/>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913" name="Google Shape;913;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14" name="Google Shape;914;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ANSWER REVEAL</a:t>
            </a:r>
            <a:endParaRPr b="0" i="0" sz="1200" u="none" cap="none" strike="noStrike">
              <a:solidFill>
                <a:schemeClr val="dk1"/>
              </a:solidFill>
              <a:latin typeface="Calibri"/>
              <a:ea typeface="Calibri"/>
              <a:cs typeface="Calibri"/>
              <a:sym typeface="Calibri"/>
            </a:endParaRPr>
          </a:p>
        </p:txBody>
      </p:sp>
      <p:sp>
        <p:nvSpPr>
          <p:cNvPr id="922" name="Google Shape;922;p34"/>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923" name="Google Shape;923;p34"/>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925" name="Google Shape;925;p34"/>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500" u="none" cap="none" strike="noStrike">
              <a:solidFill>
                <a:schemeClr val="dk1"/>
              </a:solidFill>
              <a:latin typeface="Calibri"/>
              <a:ea typeface="Calibri"/>
              <a:cs typeface="Calibri"/>
              <a:sym typeface="Calibri"/>
            </a:endParaRPr>
          </a:p>
        </p:txBody>
      </p:sp>
      <p:sp>
        <p:nvSpPr>
          <p:cNvPr id="927" name="Google Shape;927;p34"/>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4"/>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4"/>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930" name="Google Shape;930;p34"/>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committed the United States to immediately entering the war against Nazi Germany.</a:t>
            </a:r>
            <a:endParaRPr b="0" i="0" sz="1300" u="none" cap="none" strike="noStrike">
              <a:solidFill>
                <a:schemeClr val="dk1"/>
              </a:solidFill>
              <a:latin typeface="Calibri"/>
              <a:ea typeface="Calibri"/>
              <a:cs typeface="Calibri"/>
              <a:sym typeface="Calibri"/>
            </a:endParaRPr>
          </a:p>
        </p:txBody>
      </p:sp>
      <p:sp>
        <p:nvSpPr>
          <p:cNvPr id="931" name="Google Shape;931;p34"/>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4"/>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4"/>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934" name="Google Shape;934;p34"/>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suggested that aggressive nations should be isolated, signaling a possible shift away from strict neutrality.</a:t>
            </a:r>
            <a:endParaRPr b="0" i="0" sz="1300" u="none" cap="none" strike="noStrike">
              <a:solidFill>
                <a:schemeClr val="dk1"/>
              </a:solidFill>
              <a:latin typeface="Calibri"/>
              <a:ea typeface="Calibri"/>
              <a:cs typeface="Calibri"/>
              <a:sym typeface="Calibri"/>
            </a:endParaRPr>
          </a:p>
        </p:txBody>
      </p:sp>
      <p:sp>
        <p:nvSpPr>
          <p:cNvPr id="935" name="Google Shape;935;p34"/>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36" name="Google Shape;936;p34"/>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4"/>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4"/>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939" name="Google Shape;939;p34"/>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announced the creation of the Lend-Lease program to supply weapons to Allied nations.</a:t>
            </a:r>
            <a:endParaRPr b="0" i="0" sz="1300" u="none" cap="none" strike="noStrike">
              <a:solidFill>
                <a:schemeClr val="dk1"/>
              </a:solidFill>
              <a:latin typeface="Calibri"/>
              <a:ea typeface="Calibri"/>
              <a:cs typeface="Calibri"/>
              <a:sym typeface="Calibri"/>
            </a:endParaRPr>
          </a:p>
        </p:txBody>
      </p:sp>
      <p:sp>
        <p:nvSpPr>
          <p:cNvPr id="940" name="Google Shape;940;p34"/>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4"/>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943" name="Google Shape;943;p34"/>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declared that the U.S. would defend any nation attacked by a foreign aggressor.</a:t>
            </a:r>
            <a:endParaRPr b="0" i="0" sz="1300" u="none" cap="none" strike="noStrike">
              <a:solidFill>
                <a:schemeClr val="dk1"/>
              </a:solidFill>
              <a:latin typeface="Calibri"/>
              <a:ea typeface="Calibri"/>
              <a:cs typeface="Calibri"/>
              <a:sym typeface="Calibri"/>
            </a:endParaRPr>
          </a:p>
        </p:txBody>
      </p:sp>
      <p:sp>
        <p:nvSpPr>
          <p:cNvPr id="944" name="Google Shape;944;p34"/>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4"/>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a:t>
            </a:r>
            <a:endParaRPr b="0" i="0" sz="1150" u="none" cap="none" strike="noStrike">
              <a:solidFill>
                <a:schemeClr val="dk1"/>
              </a:solidFill>
              <a:latin typeface="Calibri"/>
              <a:ea typeface="Calibri"/>
              <a:cs typeface="Calibri"/>
              <a:sym typeface="Calibri"/>
            </a:endParaRPr>
          </a:p>
        </p:txBody>
      </p:sp>
      <p:sp>
        <p:nvSpPr>
          <p:cNvPr id="946" name="Google Shape;946;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7" name="Google Shape;947;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2" name="Shape 952"/>
        <p:cNvGrpSpPr/>
        <p:nvPr/>
      </p:nvGrpSpPr>
      <p:grpSpPr>
        <a:xfrm>
          <a:off x="0" y="0"/>
          <a:ext cx="0" cy="0"/>
          <a:chOff x="0" y="0"/>
          <a:chExt cx="0" cy="0"/>
        </a:xfrm>
      </p:grpSpPr>
      <p:sp>
        <p:nvSpPr>
          <p:cNvPr id="953" name="Google Shape;953;p3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WRAP-UP</a:t>
            </a:r>
            <a:endParaRPr b="0" i="0" sz="1200" u="none" cap="none" strike="noStrike">
              <a:solidFill>
                <a:schemeClr val="dk1"/>
              </a:solidFill>
              <a:latin typeface="Calibri"/>
              <a:ea typeface="Calibri"/>
              <a:cs typeface="Calibri"/>
              <a:sym typeface="Calibri"/>
            </a:endParaRPr>
          </a:p>
        </p:txBody>
      </p:sp>
      <p:sp>
        <p:nvSpPr>
          <p:cNvPr id="955" name="Google Shape;955;p35"/>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956" name="Google Shape;956;p35"/>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958" name="Google Shape;958;p35"/>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Quarantine Speech (October 5, 1937)</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Four Freedoms Speech (January 6,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Atlantic Charter (August 14,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Lend-Lease Act (March 11, 1941)</a:t>
            </a:r>
            <a:endParaRPr b="0" i="0" sz="1500" u="none" cap="none" strike="noStrike">
              <a:solidFill>
                <a:schemeClr val="dk1"/>
              </a:solidFill>
              <a:latin typeface="Calibri"/>
              <a:ea typeface="Calibri"/>
              <a:cs typeface="Calibri"/>
              <a:sym typeface="Calibri"/>
            </a:endParaRPr>
          </a:p>
        </p:txBody>
      </p:sp>
      <p:sp>
        <p:nvSpPr>
          <p:cNvPr id="959" name="Google Shape;959;p35"/>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961" name="Google Shape;961;p35"/>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FDR leading the nation toward war or genuinely trying to keep it out?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962" name="Google Shape;962;p35"/>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964" name="Google Shape;964;p35"/>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966" name="Google Shape;966;p35"/>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FDR moved the U.S. from neutrality toward supporting the Allies. Give at least two specific actions.</a:t>
            </a:r>
            <a:endParaRPr b="0" i="0" sz="1350" u="none" cap="none" strike="noStrike">
              <a:solidFill>
                <a:schemeClr val="dk1"/>
              </a:solidFill>
              <a:latin typeface="Calibri"/>
              <a:ea typeface="Calibri"/>
              <a:cs typeface="Calibri"/>
              <a:sym typeface="Calibri"/>
            </a:endParaRPr>
          </a:p>
        </p:txBody>
      </p:sp>
      <p:cxnSp>
        <p:nvCxnSpPr>
          <p:cNvPr id="967" name="Google Shape;967;p35"/>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8" name="Google Shape;968;p35"/>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9" name="Google Shape;969;p35"/>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970" name="Google Shape;970;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71" name="Google Shape;971;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76" name="Shape 976"/>
        <p:cNvGrpSpPr/>
        <p:nvPr/>
      </p:nvGrpSpPr>
      <p:grpSpPr>
        <a:xfrm>
          <a:off x="0" y="0"/>
          <a:ext cx="0" cy="0"/>
          <a:chOff x="0" y="0"/>
          <a:chExt cx="0" cy="0"/>
        </a:xfrm>
      </p:grpSpPr>
      <p:sp>
        <p:nvSpPr>
          <p:cNvPr id="977" name="Google Shape;977;p36"/>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6"/>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6"/>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980" name="Google Shape;980;p36"/>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US.47</a:t>
            </a:r>
            <a:endParaRPr b="0" i="0" sz="8800" u="none" cap="none" strike="noStrike">
              <a:solidFill>
                <a:schemeClr val="dk1"/>
              </a:solidFill>
              <a:latin typeface="Calibri"/>
              <a:ea typeface="Calibri"/>
              <a:cs typeface="Calibri"/>
              <a:sym typeface="Calibri"/>
            </a:endParaRPr>
          </a:p>
        </p:txBody>
      </p:sp>
      <p:sp>
        <p:nvSpPr>
          <p:cNvPr id="981" name="Google Shape;981;p36"/>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U.S. Response to the Holocaust</a:t>
            </a:r>
            <a:endParaRPr b="0" i="0" sz="3000" u="none" cap="none" strike="noStrike">
              <a:solidFill>
                <a:schemeClr val="dk1"/>
              </a:solidFill>
              <a:latin typeface="Calibri"/>
              <a:ea typeface="Calibri"/>
              <a:cs typeface="Calibri"/>
              <a:sym typeface="Calibri"/>
            </a:endParaRPr>
          </a:p>
        </p:txBody>
      </p:sp>
      <p:sp>
        <p:nvSpPr>
          <p:cNvPr id="982" name="Google Shape;982;p36"/>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983" name="Google Shape;983;p36"/>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6"/>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985" name="Google Shape;985;p36"/>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986" name="Google Shape;986;p36"/>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6"/>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988" name="Google Shape;988;p36"/>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989" name="Google Shape;989;p36"/>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6"/>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991" name="Google Shape;991;p36"/>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992" name="Google Shape;992;p36"/>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6"/>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994" name="Google Shape;994;p36"/>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Analyze the response of the U.S. to the plight of European Jews before the start of the war, the U.S. liberation of concentration camps during the war, and the immigration of Holocaust survivors after the war.</a:t>
            </a:r>
            <a:endParaRPr b="0" i="0" sz="1300" u="none" cap="none" strike="noStrike">
              <a:solidFill>
                <a:schemeClr val="dk1"/>
              </a:solidFill>
              <a:latin typeface="Calibri"/>
              <a:ea typeface="Calibri"/>
              <a:cs typeface="Calibri"/>
              <a:sym typeface="Calibri"/>
            </a:endParaRPr>
          </a:p>
        </p:txBody>
      </p:sp>
      <p:sp>
        <p:nvSpPr>
          <p:cNvPr id="995" name="Google Shape;995;p36"/>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6"/>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997" name="Google Shape;997;p36"/>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250" u="none" cap="none" strike="noStrike">
              <a:solidFill>
                <a:schemeClr val="dk1"/>
              </a:solidFill>
              <a:latin typeface="Calibri"/>
              <a:ea typeface="Calibri"/>
              <a:cs typeface="Calibri"/>
              <a:sym typeface="Calibri"/>
            </a:endParaRPr>
          </a:p>
        </p:txBody>
      </p:sp>
      <p:sp>
        <p:nvSpPr>
          <p:cNvPr id="998" name="Google Shape;998;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9" name="Google Shape;999;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QUICK REVIEW</a:t>
            </a:r>
            <a:endParaRPr b="0" i="0" sz="1200" u="none" cap="none" strike="noStrike">
              <a:solidFill>
                <a:schemeClr val="dk1"/>
              </a:solidFill>
              <a:latin typeface="Calibri"/>
              <a:ea typeface="Calibri"/>
              <a:cs typeface="Calibri"/>
              <a:sym typeface="Calibri"/>
            </a:endParaRPr>
          </a:p>
        </p:txBody>
      </p:sp>
      <p:sp>
        <p:nvSpPr>
          <p:cNvPr id="1007" name="Google Shape;1007;p3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008" name="Google Shape;1008;p37"/>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009" name="Google Shape;1009;p37"/>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7"/>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012" name="Google Shape;1012;p37"/>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was the Lend-Lease Act?</a:t>
            </a:r>
            <a:endParaRPr b="0" i="0" sz="1350" u="none" cap="none" strike="noStrike">
              <a:solidFill>
                <a:schemeClr val="dk1"/>
              </a:solidFill>
              <a:latin typeface="Calibri"/>
              <a:ea typeface="Calibri"/>
              <a:cs typeface="Calibri"/>
              <a:sym typeface="Calibri"/>
            </a:endParaRPr>
          </a:p>
        </p:txBody>
      </p:sp>
      <p:sp>
        <p:nvSpPr>
          <p:cNvPr id="1013" name="Google Shape;1013;p37"/>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7"/>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016" name="Google Shape;1016;p37"/>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were the 'Four Freedoms' FDR named?</a:t>
            </a:r>
            <a:endParaRPr b="0" i="0" sz="1350" u="none" cap="none" strike="noStrike">
              <a:solidFill>
                <a:schemeClr val="dk1"/>
              </a:solidFill>
              <a:latin typeface="Calibri"/>
              <a:ea typeface="Calibri"/>
              <a:cs typeface="Calibri"/>
              <a:sym typeface="Calibri"/>
            </a:endParaRPr>
          </a:p>
        </p:txBody>
      </p:sp>
      <p:sp>
        <p:nvSpPr>
          <p:cNvPr id="1017" name="Google Shape;1017;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18" name="Google Shape;1018;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23" name="Shape 1023"/>
        <p:cNvGrpSpPr/>
        <p:nvPr/>
      </p:nvGrpSpPr>
      <p:grpSpPr>
        <a:xfrm>
          <a:off x="0" y="0"/>
          <a:ext cx="0" cy="0"/>
          <a:chOff x="0" y="0"/>
          <a:chExt cx="0" cy="0"/>
        </a:xfrm>
      </p:grpSpPr>
      <p:sp>
        <p:nvSpPr>
          <p:cNvPr id="1024" name="Google Shape;1024;p3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CONFIDENCE CHECK</a:t>
            </a:r>
            <a:endParaRPr b="0" i="0" sz="1200" u="none" cap="none" strike="noStrike">
              <a:solidFill>
                <a:schemeClr val="dk1"/>
              </a:solidFill>
              <a:latin typeface="Calibri"/>
              <a:ea typeface="Calibri"/>
              <a:cs typeface="Calibri"/>
              <a:sym typeface="Calibri"/>
            </a:endParaRPr>
          </a:p>
        </p:txBody>
      </p:sp>
      <p:sp>
        <p:nvSpPr>
          <p:cNvPr id="1026" name="Google Shape;1026;p38"/>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027" name="Google Shape;1027;p38"/>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8"/>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029" name="Google Shape;1029;p38"/>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8"/>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031" name="Google Shape;1031;p38"/>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032" name="Google Shape;1032;p38"/>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8"/>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name is given to the Nazi genocide of six million Jews?</a:t>
            </a:r>
            <a:endParaRPr b="0" i="0" sz="2400" u="none" cap="none" strike="noStrike">
              <a:solidFill>
                <a:schemeClr val="dk1"/>
              </a:solidFill>
              <a:latin typeface="Calibri"/>
              <a:ea typeface="Calibri"/>
              <a:cs typeface="Calibri"/>
              <a:sym typeface="Calibri"/>
            </a:endParaRPr>
          </a:p>
        </p:txBody>
      </p:sp>
      <p:sp>
        <p:nvSpPr>
          <p:cNvPr id="1034" name="Google Shape;1034;p38"/>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8"/>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036" name="Google Shape;1036;p38"/>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Holocaust.</a:t>
            </a:r>
            <a:endParaRPr b="0" i="0" sz="1600" u="none" cap="none" strike="noStrike">
              <a:solidFill>
                <a:schemeClr val="dk1"/>
              </a:solidFill>
              <a:latin typeface="Calibri"/>
              <a:ea typeface="Calibri"/>
              <a:cs typeface="Calibri"/>
              <a:sym typeface="Calibri"/>
            </a:endParaRPr>
          </a:p>
        </p:txBody>
      </p:sp>
      <p:sp>
        <p:nvSpPr>
          <p:cNvPr id="1037" name="Google Shape;1037;p38"/>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8"/>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039" name="Google Shape;1039;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40" name="Google Shape;1040;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45" name="Shape 1045"/>
        <p:cNvGrpSpPr/>
        <p:nvPr/>
      </p:nvGrpSpPr>
      <p:grpSpPr>
        <a:xfrm>
          <a:off x="0" y="0"/>
          <a:ext cx="0" cy="0"/>
          <a:chOff x="0" y="0"/>
          <a:chExt cx="0" cy="0"/>
        </a:xfrm>
      </p:grpSpPr>
      <p:sp>
        <p:nvSpPr>
          <p:cNvPr id="1046" name="Google Shape;1046;p3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HOOK</a:t>
            </a:r>
            <a:endParaRPr b="0" i="0" sz="1200" u="none" cap="none" strike="noStrike">
              <a:solidFill>
                <a:schemeClr val="dk1"/>
              </a:solidFill>
              <a:latin typeface="Calibri"/>
              <a:ea typeface="Calibri"/>
              <a:cs typeface="Calibri"/>
              <a:sym typeface="Calibri"/>
            </a:endParaRPr>
          </a:p>
        </p:txBody>
      </p:sp>
      <p:sp>
        <p:nvSpPr>
          <p:cNvPr id="1048" name="Google Shape;1048;p39"/>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049" name="Google Shape;1049;p39"/>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By 1945, Allied soldiers opening the gates of Nazi concentration camps found horrors almost beyond belief, six million Jews and millions of others murdered in a state-organized genocide the world had failed to stop.</a:t>
            </a:r>
            <a:endParaRPr b="0" i="0" sz="2600" u="none" cap="none" strike="noStrike">
              <a:solidFill>
                <a:schemeClr val="dk1"/>
              </a:solidFill>
              <a:latin typeface="Calibri"/>
              <a:ea typeface="Calibri"/>
              <a:cs typeface="Calibri"/>
              <a:sym typeface="Calibri"/>
            </a:endParaRPr>
          </a:p>
        </p:txBody>
      </p:sp>
      <p:sp>
        <p:nvSpPr>
          <p:cNvPr id="1051" name="Google Shape;1051;p39"/>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9"/>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053" name="Google Shape;1053;p39"/>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9"/>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055" name="Google Shape;1055;p39"/>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What did the United States and the world know about the Holocaust, when did they know it, and what did they do, or fail to do, about it?</a:t>
            </a:r>
            <a:endParaRPr b="0" i="0" sz="1600" u="none" cap="none" strike="noStrike">
              <a:solidFill>
                <a:schemeClr val="dk1"/>
              </a:solidFill>
              <a:latin typeface="Calibri"/>
              <a:ea typeface="Calibri"/>
              <a:cs typeface="Calibri"/>
              <a:sym typeface="Calibri"/>
            </a:endParaRPr>
          </a:p>
        </p:txBody>
      </p:sp>
      <p:sp>
        <p:nvSpPr>
          <p:cNvPr id="1056" name="Google Shape;1056;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7" name="Google Shape;1057;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62" name="Shape 1062"/>
        <p:cNvGrpSpPr/>
        <p:nvPr/>
      </p:nvGrpSpPr>
      <p:grpSpPr>
        <a:xfrm>
          <a:off x="0" y="0"/>
          <a:ext cx="0" cy="0"/>
          <a:chOff x="0" y="0"/>
          <a:chExt cx="0" cy="0"/>
        </a:xfrm>
      </p:grpSpPr>
      <p:sp>
        <p:nvSpPr>
          <p:cNvPr id="1063" name="Google Shape;1063;p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65" name="Google Shape;1065;p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U.S. Response Before the War</a:t>
            </a:r>
            <a:endParaRPr b="0" i="0" sz="3000" u="none" cap="none" strike="noStrike">
              <a:solidFill>
                <a:schemeClr val="dk1"/>
              </a:solidFill>
              <a:latin typeface="Calibri"/>
              <a:ea typeface="Calibri"/>
              <a:cs typeface="Calibri"/>
              <a:sym typeface="Calibri"/>
            </a:endParaRPr>
          </a:p>
        </p:txBody>
      </p:sp>
      <p:sp>
        <p:nvSpPr>
          <p:cNvPr id="1066" name="Google Shape;1066;p40"/>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071" name="Google Shape;1071;p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0"/>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National Origins Act (1924) limited immigration from Eastern and Southern Europe where most Jews lived.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quota system severely restricted Jewish immigration, and U.S. consuls often denied visas.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St. Louis incident (1939) saw a ship carrying 937 Jewish refugees turned away from U.S. ports.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Evian Conference (1938) failed to increase refugee admissions.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anti-Semitism, isolationism, economic concerns during the Depression, and security fears all limited response.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War Refugee Board wasn't created until 1944.</a:t>
            </a:r>
            <a:endParaRPr b="0" i="0" sz="1700" u="none" cap="none" strike="noStrike">
              <a:solidFill>
                <a:schemeClr val="dk1"/>
              </a:solidFill>
              <a:latin typeface="Calibri"/>
              <a:ea typeface="Calibri"/>
              <a:cs typeface="Calibri"/>
              <a:sym typeface="Calibri"/>
            </a:endParaRPr>
          </a:p>
        </p:txBody>
      </p:sp>
      <p:sp>
        <p:nvSpPr>
          <p:cNvPr id="1073" name="Google Shape;1073;p40"/>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075" name="Google Shape;1075;p40"/>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Before the war the U.S. responded to the Holocaust by ________, and during the war it ________.</a:t>
            </a:r>
            <a:endParaRPr b="0" i="0" sz="1150" u="none" cap="none" strike="noStrike">
              <a:solidFill>
                <a:schemeClr val="dk1"/>
              </a:solidFill>
              <a:latin typeface="Calibri"/>
              <a:ea typeface="Calibri"/>
              <a:cs typeface="Calibri"/>
              <a:sym typeface="Calibri"/>
            </a:endParaRPr>
          </a:p>
        </p:txBody>
      </p:sp>
      <p:sp>
        <p:nvSpPr>
          <p:cNvPr id="1076" name="Google Shape;1076;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77" name="Google Shape;1077;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2" name="Shape 1082"/>
        <p:cNvGrpSpPr/>
        <p:nvPr/>
      </p:nvGrpSpPr>
      <p:grpSpPr>
        <a:xfrm>
          <a:off x="0" y="0"/>
          <a:ext cx="0" cy="0"/>
          <a:chOff x="0" y="0"/>
          <a:chExt cx="0" cy="0"/>
        </a:xfrm>
      </p:grpSpPr>
      <p:sp>
        <p:nvSpPr>
          <p:cNvPr id="1083" name="Google Shape;1083;p4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85" name="Google Shape;1085;p4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Liberation of Concentration Camps</a:t>
            </a:r>
            <a:endParaRPr b="0" i="0" sz="3000" u="none" cap="none" strike="noStrike">
              <a:solidFill>
                <a:schemeClr val="dk1"/>
              </a:solidFill>
              <a:latin typeface="Calibri"/>
              <a:ea typeface="Calibri"/>
              <a:cs typeface="Calibri"/>
              <a:sym typeface="Calibri"/>
            </a:endParaRPr>
          </a:p>
        </p:txBody>
      </p:sp>
      <p:sp>
        <p:nvSpPr>
          <p:cNvPr id="1086" name="Google Shape;1086;p4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41"/>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4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4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4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091" name="Google Shape;1091;p4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4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Soviet forces liberated Majdanek (1944) and Auschwitz (1945), while U.S. forces liberated Buchenwald, Dachau, and Mauthausen.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American soldiers were unprepared for the extent of Nazi atrocities.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Military photographers documented evidence while medical personnel treated survivors.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Army provided food, medical care, and shelter, forced local German civilians to view camps, and established displaced persons camps.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Liberation footage shocked the American public and provided evidence for the Nuremberg trials.</a:t>
            </a:r>
            <a:endParaRPr b="0" i="0" sz="1550" u="none" cap="none" strike="noStrike">
              <a:solidFill>
                <a:schemeClr val="dk1"/>
              </a:solidFill>
              <a:latin typeface="Calibri"/>
              <a:ea typeface="Calibri"/>
              <a:cs typeface="Calibri"/>
              <a:sym typeface="Calibri"/>
            </a:endParaRPr>
          </a:p>
        </p:txBody>
      </p:sp>
      <p:sp>
        <p:nvSpPr>
          <p:cNvPr id="1093" name="Google Shape;1093;p4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buchenwald-liberation-1945.jpg" id="1094" name="Google Shape;1094;p41"/>
          <p:cNvPicPr preferRelativeResize="0"/>
          <p:nvPr/>
        </p:nvPicPr>
        <p:blipFill rotWithShape="1">
          <a:blip r:embed="rId3">
            <a:alphaModFix/>
          </a:blip>
          <a:srcRect b="0" l="0" r="0" t="0"/>
          <a:stretch/>
        </p:blipFill>
        <p:spPr>
          <a:xfrm>
            <a:off x="7589520" y="1883307"/>
            <a:ext cx="4069080" cy="3301699"/>
          </a:xfrm>
          <a:prstGeom prst="rect">
            <a:avLst/>
          </a:prstGeom>
          <a:noFill/>
          <a:ln>
            <a:noFill/>
          </a:ln>
        </p:spPr>
      </p:pic>
      <p:sp>
        <p:nvSpPr>
          <p:cNvPr id="1095" name="Google Shape;1095;p4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Private H. Miller / U.S. Army Signal Corps, April 16,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096" name="Google Shape;1096;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4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05" name="Google Shape;1105;p4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Post-War Immigration of Holocaust Survivors</a:t>
            </a:r>
            <a:endParaRPr b="0" i="0" sz="3000" u="none" cap="none" strike="noStrike">
              <a:solidFill>
                <a:schemeClr val="dk1"/>
              </a:solidFill>
              <a:latin typeface="Calibri"/>
              <a:ea typeface="Calibri"/>
              <a:cs typeface="Calibri"/>
              <a:sym typeface="Calibri"/>
            </a:endParaRPr>
          </a:p>
        </p:txBody>
      </p:sp>
      <p:sp>
        <p:nvSpPr>
          <p:cNvPr id="1106" name="Google Shape;1106;p4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4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42"/>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4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111" name="Google Shape;1111;p4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Displaced Persons Act (1948) initially admitted 205,000 displaced persons but gave preference to Baltic refugees over Jews.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Amendments in 1950 expanded the program, eventually admitting about 80,000 Jewish survivors.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Survivors faced bureaucratic delays, quota limitations, and anti-Semitic opposition.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Jewish organizations provided financial and social support, helping survivors integrate into American society, rebuild careers, and preserve Holocaust memory through testimonies.</a:t>
            </a:r>
            <a:endParaRPr b="0" i="0" sz="1700" u="none" cap="none" strike="noStrike">
              <a:solidFill>
                <a:schemeClr val="dk1"/>
              </a:solidFill>
              <a:latin typeface="Calibri"/>
              <a:ea typeface="Calibri"/>
              <a:cs typeface="Calibri"/>
              <a:sym typeface="Calibri"/>
            </a:endParaRPr>
          </a:p>
        </p:txBody>
      </p:sp>
      <p:sp>
        <p:nvSpPr>
          <p:cNvPr id="1113" name="Google Shape;11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22" name="Google Shape;1122;p4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Moral and Ethical Implications (Honors)</a:t>
            </a:r>
            <a:endParaRPr b="0" i="0" sz="3000" u="none" cap="none" strike="noStrike">
              <a:solidFill>
                <a:schemeClr val="dk1"/>
              </a:solidFill>
              <a:latin typeface="Calibri"/>
              <a:ea typeface="Calibri"/>
              <a:cs typeface="Calibri"/>
              <a:sym typeface="Calibri"/>
            </a:endParaRPr>
          </a:p>
        </p:txBody>
      </p:sp>
      <p:sp>
        <p:nvSpPr>
          <p:cNvPr id="1123" name="Google Shape;1123;p4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3"/>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128" name="Google Shape;1128;p4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Kristallnacht (November 9-10, 1938) was a coordinated Nazi attack on Jewish businesses and synagogues.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U.S. recalled its ambassador and extended tourist visas but maintained immigration quotas.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raises questions about whether the U.S. should have done more to help Jewish refugees, the responsibility of bystander nations during genocide, and the tension between moral obligations and national security concerns.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events contributed to the development of genocide prevention and international human rights law.</a:t>
            </a:r>
            <a:endParaRPr b="0" i="0" sz="1700" u="none" cap="none" strike="noStrike">
              <a:solidFill>
                <a:schemeClr val="dk1"/>
              </a:solidFill>
              <a:latin typeface="Calibri"/>
              <a:ea typeface="Calibri"/>
              <a:cs typeface="Calibri"/>
              <a:sym typeface="Calibri"/>
            </a:endParaRPr>
          </a:p>
        </p:txBody>
      </p:sp>
      <p:sp>
        <p:nvSpPr>
          <p:cNvPr id="1130" name="Google Shape;1130;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1" name="Google Shape;1131;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36" name="Shape 1136"/>
        <p:cNvGrpSpPr/>
        <p:nvPr/>
      </p:nvGrpSpPr>
      <p:grpSpPr>
        <a:xfrm>
          <a:off x="0" y="0"/>
          <a:ext cx="0" cy="0"/>
          <a:chOff x="0" y="0"/>
          <a:chExt cx="0" cy="0"/>
        </a:xfrm>
      </p:grpSpPr>
      <p:sp>
        <p:nvSpPr>
          <p:cNvPr id="1137" name="Google Shape;1137;p4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PEOPLE WHO SHAPED THE ERA</a:t>
            </a:r>
            <a:endParaRPr b="0" i="0" sz="1200" u="none" cap="none" strike="noStrike">
              <a:solidFill>
                <a:schemeClr val="dk1"/>
              </a:solidFill>
              <a:latin typeface="Calibri"/>
              <a:ea typeface="Calibri"/>
              <a:cs typeface="Calibri"/>
              <a:sym typeface="Calibri"/>
            </a:endParaRPr>
          </a:p>
        </p:txBody>
      </p:sp>
      <p:sp>
        <p:nvSpPr>
          <p:cNvPr id="1139" name="Google Shape;1139;p4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140" name="Google Shape;1140;p44"/>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Elie Wiesel</a:t>
            </a:r>
            <a:endParaRPr b="0" i="0" sz="1800" u="none" cap="none" strike="noStrike">
              <a:solidFill>
                <a:schemeClr val="dk1"/>
              </a:solidFill>
              <a:latin typeface="Calibri"/>
              <a:ea typeface="Calibri"/>
              <a:cs typeface="Calibri"/>
              <a:sym typeface="Calibri"/>
            </a:endParaRPr>
          </a:p>
        </p:txBody>
      </p:sp>
      <p:sp>
        <p:nvSpPr>
          <p:cNvPr id="1143" name="Google Shape;1143;p44"/>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Holocaust survivor &amp; witness (1928-2016)</a:t>
            </a:r>
            <a:endParaRPr b="0" i="0" sz="1100" u="none" cap="none" strike="noStrike">
              <a:solidFill>
                <a:schemeClr val="dk1"/>
              </a:solidFill>
              <a:latin typeface="Calibri"/>
              <a:ea typeface="Calibri"/>
              <a:cs typeface="Calibri"/>
              <a:sym typeface="Calibri"/>
            </a:endParaRPr>
          </a:p>
        </p:txBody>
      </p:sp>
      <p:sp>
        <p:nvSpPr>
          <p:cNvPr id="1144" name="Google Shape;1144;p44"/>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Survived Auschwitz and Buchenwald as a teenager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Bore witness so the genocide could not be denied</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testimony makes the Holocaust a human, documented reality</a:t>
            </a:r>
            <a:endParaRPr b="0" i="0" sz="1300" u="none" cap="none" strike="noStrike">
              <a:solidFill>
                <a:schemeClr val="dk1"/>
              </a:solidFill>
              <a:latin typeface="Calibri"/>
              <a:ea typeface="Calibri"/>
              <a:cs typeface="Calibri"/>
              <a:sym typeface="Calibri"/>
            </a:endParaRPr>
          </a:p>
        </p:txBody>
      </p:sp>
      <p:sp>
        <p:nvSpPr>
          <p:cNvPr id="1145" name="Google Shape;1145;p44"/>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4"/>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survivor testimony to move from statistics to individual human evidence.</a:t>
            </a:r>
            <a:endParaRPr b="0" i="0" sz="800" u="none" cap="none" strike="noStrike">
              <a:solidFill>
                <a:schemeClr val="dk1"/>
              </a:solidFill>
              <a:latin typeface="Calibri"/>
              <a:ea typeface="Calibri"/>
              <a:cs typeface="Calibri"/>
              <a:sym typeface="Calibri"/>
            </a:endParaRPr>
          </a:p>
        </p:txBody>
      </p:sp>
      <p:sp>
        <p:nvSpPr>
          <p:cNvPr id="1147" name="Google Shape;11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48" name="Google Shape;11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53" name="Shape 1153"/>
        <p:cNvGrpSpPr/>
        <p:nvPr/>
      </p:nvGrpSpPr>
      <p:grpSpPr>
        <a:xfrm>
          <a:off x="0" y="0"/>
          <a:ext cx="0" cy="0"/>
          <a:chOff x="0" y="0"/>
          <a:chExt cx="0" cy="0"/>
        </a:xfrm>
      </p:grpSpPr>
      <p:sp>
        <p:nvSpPr>
          <p:cNvPr id="1154" name="Google Shape;1154;p45"/>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US.47 · PRIMARY SOURCE ANALYSIS</a:t>
            </a:r>
            <a:endParaRPr b="0" i="0" sz="1200" u="none" cap="none" strike="noStrike">
              <a:solidFill>
                <a:schemeClr val="dk1"/>
              </a:solidFill>
              <a:latin typeface="Calibri"/>
              <a:ea typeface="Calibri"/>
              <a:cs typeface="Calibri"/>
              <a:sym typeface="Calibri"/>
            </a:endParaRPr>
          </a:p>
        </p:txBody>
      </p:sp>
      <p:sp>
        <p:nvSpPr>
          <p:cNvPr id="1156" name="Google Shape;1156;p45"/>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Testimony of Holocaust Survivor</a:t>
            </a:r>
            <a:endParaRPr b="0" i="0" sz="2500" u="none" cap="none" strike="noStrike">
              <a:solidFill>
                <a:schemeClr val="dk1"/>
              </a:solidFill>
              <a:latin typeface="Calibri"/>
              <a:ea typeface="Calibri"/>
              <a:cs typeface="Calibri"/>
              <a:sym typeface="Calibri"/>
            </a:endParaRPr>
          </a:p>
        </p:txBody>
      </p:sp>
      <p:sp>
        <p:nvSpPr>
          <p:cNvPr id="1157" name="Google Shape;1157;p45"/>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5"/>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1159" name="Google Shape;1159;p45"/>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Elie Wiesel  ·  1945 (describing liberation)</a:t>
            </a:r>
            <a:endParaRPr b="0" i="0" sz="1200" u="none" cap="none" strike="noStrike">
              <a:solidFill>
                <a:schemeClr val="dk1"/>
              </a:solidFill>
              <a:latin typeface="Calibri"/>
              <a:ea typeface="Calibri"/>
              <a:cs typeface="Calibri"/>
              <a:sym typeface="Calibri"/>
            </a:endParaRPr>
          </a:p>
        </p:txBody>
      </p:sp>
      <p:sp>
        <p:nvSpPr>
          <p:cNvPr id="1160" name="Google Shape;1160;p45"/>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5"/>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5"/>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300" u="none" cap="none" strike="noStrike">
              <a:solidFill>
                <a:schemeClr val="dk1"/>
              </a:solidFill>
              <a:latin typeface="Calibri"/>
              <a:ea typeface="Calibri"/>
              <a:cs typeface="Calibri"/>
              <a:sym typeface="Calibri"/>
            </a:endParaRPr>
          </a:p>
        </p:txBody>
      </p:sp>
      <p:sp>
        <p:nvSpPr>
          <p:cNvPr id="1163" name="Google Shape;1163;p45"/>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165" name="Google Shape;1165;p45"/>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45"/>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167" name="Google Shape;1167;p45"/>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The Holocaust was Nazi Germany's systematic murder of six million Jews and millions of others during World War II. By April 1945, Allied armies were liberating concentration camps like Buchenwald and discovering the horrific conditions inside. Elie Wiesel, a Holocaust survivor who would later win the Nobel Peace Prize, was one of the survivors liberated at Buchenwald on April 11, 1945.</a:t>
            </a:r>
            <a:endParaRPr b="0" i="0" sz="1050" u="none" cap="none" strike="noStrike">
              <a:solidFill>
                <a:schemeClr val="dk1"/>
              </a:solidFill>
              <a:latin typeface="Calibri"/>
              <a:ea typeface="Calibri"/>
              <a:cs typeface="Calibri"/>
              <a:sym typeface="Calibri"/>
            </a:endParaRPr>
          </a:p>
        </p:txBody>
      </p:sp>
      <p:sp>
        <p:nvSpPr>
          <p:cNvPr id="1168" name="Google Shape;1168;p45"/>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170" name="Google Shape;1170;p45"/>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does this excerpt reveal about the condition of concentration camp prisoners at liberation?</a:t>
            </a:r>
            <a:endParaRPr b="0" i="0" sz="1250" u="none" cap="none" strike="noStrike">
              <a:solidFill>
                <a:schemeClr val="dk1"/>
              </a:solidFill>
              <a:latin typeface="Calibri"/>
              <a:ea typeface="Calibri"/>
              <a:cs typeface="Calibri"/>
              <a:sym typeface="Calibri"/>
            </a:endParaRPr>
          </a:p>
        </p:txBody>
      </p:sp>
      <p:sp>
        <p:nvSpPr>
          <p:cNvPr id="1171" name="Google Shape;1171;p45"/>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45"/>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174" name="Google Shape;1174;p45"/>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175" name="Google Shape;1175;p45"/>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176" name="Google Shape;1176;p45"/>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177" name="Google Shape;1177;p45"/>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Elie Wiesel</a:t>
            </a:r>
            <a:endParaRPr b="0" i="0" sz="950" u="none" cap="none" strike="noStrike">
              <a:solidFill>
                <a:schemeClr val="dk1"/>
              </a:solidFill>
              <a:latin typeface="Calibri"/>
              <a:ea typeface="Calibri"/>
              <a:cs typeface="Calibri"/>
              <a:sym typeface="Calibri"/>
            </a:endParaRPr>
          </a:p>
        </p:txBody>
      </p:sp>
      <p:sp>
        <p:nvSpPr>
          <p:cNvPr id="1178" name="Google Shape;1178;p45"/>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179" name="Google Shape;1179;p45"/>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 (describing liberation)</a:t>
            </a:r>
            <a:endParaRPr b="0" i="0" sz="950" u="none" cap="none" strike="noStrike">
              <a:solidFill>
                <a:schemeClr val="dk1"/>
              </a:solidFill>
              <a:latin typeface="Calibri"/>
              <a:ea typeface="Calibri"/>
              <a:cs typeface="Calibri"/>
              <a:sym typeface="Calibri"/>
            </a:endParaRPr>
          </a:p>
        </p:txBody>
      </p:sp>
      <p:sp>
        <p:nvSpPr>
          <p:cNvPr id="1180" name="Google Shape;1180;p45"/>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181" name="Google Shape;1181;p45"/>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182" name="Google Shape;1182;p45"/>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1183" name="Google Shape;1183;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4" name="Google Shape;1184;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9" name="Shape 1189"/>
        <p:cNvGrpSpPr/>
        <p:nvPr/>
      </p:nvGrpSpPr>
      <p:grpSpPr>
        <a:xfrm>
          <a:off x="0" y="0"/>
          <a:ext cx="0" cy="0"/>
          <a:chOff x="0" y="0"/>
          <a:chExt cx="0" cy="0"/>
        </a:xfrm>
      </p:grpSpPr>
      <p:sp>
        <p:nvSpPr>
          <p:cNvPr id="1190" name="Google Shape;1190;p4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KEY VOCABULARY</a:t>
            </a:r>
            <a:endParaRPr b="0" i="0" sz="1200" u="none" cap="none" strike="noStrike">
              <a:solidFill>
                <a:schemeClr val="dk1"/>
              </a:solidFill>
              <a:latin typeface="Calibri"/>
              <a:ea typeface="Calibri"/>
              <a:cs typeface="Calibri"/>
              <a:sym typeface="Calibri"/>
            </a:endParaRPr>
          </a:p>
        </p:txBody>
      </p:sp>
      <p:sp>
        <p:nvSpPr>
          <p:cNvPr id="1192" name="Google Shape;1192;p4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193" name="Google Shape;1193;p46"/>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46"/>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46"/>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1196" name="Google Shape;1196;p46"/>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1197" name="Google Shape;1197;p46"/>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1198" name="Google Shape;1198;p46"/>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46"/>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1200" name="Google Shape;1200;p46"/>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1201" name="Google Shape;1201;p46"/>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46"/>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6"/>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Nuremberg Laws (1935)</a:t>
            </a:r>
            <a:endParaRPr b="0" i="0" sz="1350" u="none" cap="none" strike="noStrike">
              <a:solidFill>
                <a:schemeClr val="dk1"/>
              </a:solidFill>
              <a:latin typeface="Calibri"/>
              <a:ea typeface="Calibri"/>
              <a:cs typeface="Calibri"/>
              <a:sym typeface="Calibri"/>
            </a:endParaRPr>
          </a:p>
        </p:txBody>
      </p:sp>
      <p:sp>
        <p:nvSpPr>
          <p:cNvPr id="1204" name="Google Shape;1204;p46"/>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NOOR-em-berg lawz</a:t>
            </a:r>
            <a:endParaRPr b="0" i="0" sz="850" u="none" cap="none" strike="noStrike">
              <a:solidFill>
                <a:schemeClr val="dk1"/>
              </a:solidFill>
              <a:latin typeface="Calibri"/>
              <a:ea typeface="Calibri"/>
              <a:cs typeface="Calibri"/>
              <a:sym typeface="Calibri"/>
            </a:endParaRPr>
          </a:p>
        </p:txBody>
      </p:sp>
      <p:sp>
        <p:nvSpPr>
          <p:cNvPr id="1205" name="Google Shape;1205;p46"/>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Leyes de Nuremberg (1935)</a:t>
            </a:r>
            <a:endParaRPr b="0" i="0" sz="1000" u="none" cap="none" strike="noStrike">
              <a:solidFill>
                <a:schemeClr val="dk1"/>
              </a:solidFill>
              <a:latin typeface="Calibri"/>
              <a:ea typeface="Calibri"/>
              <a:cs typeface="Calibri"/>
              <a:sym typeface="Calibri"/>
            </a:endParaRPr>
          </a:p>
        </p:txBody>
      </p:sp>
      <p:sp>
        <p:nvSpPr>
          <p:cNvPr id="1206" name="Google Shape;1206;p46"/>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46"/>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NL</a:t>
            </a:r>
            <a:endParaRPr b="0" i="0" sz="1300" u="none" cap="none" strike="noStrike">
              <a:solidFill>
                <a:schemeClr val="dk1"/>
              </a:solidFill>
              <a:latin typeface="Calibri"/>
              <a:ea typeface="Calibri"/>
              <a:cs typeface="Calibri"/>
              <a:sym typeface="Calibri"/>
            </a:endParaRPr>
          </a:p>
        </p:txBody>
      </p:sp>
      <p:sp>
        <p:nvSpPr>
          <p:cNvPr id="1208" name="Google Shape;1208;p46"/>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racial laws that stripped Jews of German citizenship, banned intermarriage between Jews and non-Jews, and defined "Jewishness" by ancestry. They institutionalized anti-Semitic persecution.</a:t>
            </a:r>
            <a:endParaRPr b="0" i="0" sz="1100" u="none" cap="none" strike="noStrike">
              <a:solidFill>
                <a:schemeClr val="dk1"/>
              </a:solidFill>
              <a:latin typeface="Calibri"/>
              <a:ea typeface="Calibri"/>
              <a:cs typeface="Calibri"/>
              <a:sym typeface="Calibri"/>
            </a:endParaRPr>
          </a:p>
        </p:txBody>
      </p:sp>
      <p:sp>
        <p:nvSpPr>
          <p:cNvPr id="1209" name="Google Shape;1209;p46"/>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1212" name="Google Shape;1212;p46"/>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1213" name="Google Shape;1213;p46"/>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1214" name="Google Shape;1214;p46"/>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46"/>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1216" name="Google Shape;1216;p46"/>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1217" name="Google Shape;1217;p46"/>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46"/>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6"/>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1220" name="Google Shape;1220;p46"/>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1221" name="Google Shape;1221;p46"/>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1222" name="Google Shape;1222;p46"/>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6"/>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1224" name="Google Shape;1224;p46"/>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1225" name="Google Shape;1225;p46"/>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46"/>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46"/>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1228" name="Google Shape;1228;p46"/>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1229" name="Google Shape;1229;p46"/>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1230" name="Google Shape;1230;p46"/>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46"/>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A</a:t>
            </a:r>
            <a:endParaRPr b="0" i="0" sz="1500" u="none" cap="none" strike="noStrike">
              <a:solidFill>
                <a:schemeClr val="dk1"/>
              </a:solidFill>
              <a:latin typeface="Calibri"/>
              <a:ea typeface="Calibri"/>
              <a:cs typeface="Calibri"/>
              <a:sym typeface="Calibri"/>
            </a:endParaRPr>
          </a:p>
        </p:txBody>
      </p:sp>
      <p:sp>
        <p:nvSpPr>
          <p:cNvPr id="1232" name="Google Shape;1232;p46"/>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a:t>
            </a:r>
            <a:endParaRPr b="0" i="0" sz="1100" u="none" cap="none" strike="noStrike">
              <a:solidFill>
                <a:schemeClr val="dk1"/>
              </a:solidFill>
              <a:latin typeface="Calibri"/>
              <a:ea typeface="Calibri"/>
              <a:cs typeface="Calibri"/>
              <a:sym typeface="Calibri"/>
            </a:endParaRPr>
          </a:p>
        </p:txBody>
      </p:sp>
      <p:sp>
        <p:nvSpPr>
          <p:cNvPr id="1233" name="Google Shape;1233;p46"/>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46"/>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46"/>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236" name="Google Shape;1236;p46"/>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237" name="Google Shape;1237;p46"/>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238" name="Google Shape;1238;p46"/>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6"/>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240" name="Google Shape;1240;p46"/>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241" name="Google Shape;1241;p46"/>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242" name="Google Shape;1242;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3" name="Google Shape;1243;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48" name="Shape 1248"/>
        <p:cNvGrpSpPr/>
        <p:nvPr/>
      </p:nvGrpSpPr>
      <p:grpSpPr>
        <a:xfrm>
          <a:off x="0" y="0"/>
          <a:ext cx="0" cy="0"/>
          <a:chOff x="0" y="0"/>
          <a:chExt cx="0" cy="0"/>
        </a:xfrm>
      </p:grpSpPr>
      <p:sp>
        <p:nvSpPr>
          <p:cNvPr id="1249" name="Google Shape;1249;p4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4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GUIDED PRACTICE — WE DO IT TOGETHER</a:t>
            </a:r>
            <a:endParaRPr b="0" i="0" sz="1200" u="none" cap="none" strike="noStrike">
              <a:solidFill>
                <a:schemeClr val="dk1"/>
              </a:solidFill>
              <a:latin typeface="Calibri"/>
              <a:ea typeface="Calibri"/>
              <a:cs typeface="Calibri"/>
              <a:sym typeface="Calibri"/>
            </a:endParaRPr>
          </a:p>
        </p:txBody>
      </p:sp>
      <p:sp>
        <p:nvSpPr>
          <p:cNvPr id="1251" name="Google Shape;1251;p47"/>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252" name="Google Shape;1252;p47"/>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Weigh evidence of a response</a:t>
            </a:r>
            <a:endParaRPr b="0" i="0" sz="1100" u="none" cap="none" strike="noStrike">
              <a:solidFill>
                <a:schemeClr val="dk1"/>
              </a:solidFill>
              <a:latin typeface="Calibri"/>
              <a:ea typeface="Calibri"/>
              <a:cs typeface="Calibri"/>
              <a:sym typeface="Calibri"/>
            </a:endParaRPr>
          </a:p>
        </p:txBody>
      </p:sp>
      <p:sp>
        <p:nvSpPr>
          <p:cNvPr id="1254" name="Google Shape;1254;p47"/>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7"/>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Did the U.S. do enough for Europe's Jews before and during the war?</a:t>
            </a:r>
            <a:endParaRPr b="0" i="0" sz="1500" u="none" cap="none" strike="noStrike">
              <a:solidFill>
                <a:schemeClr val="dk1"/>
              </a:solidFill>
              <a:latin typeface="Calibri"/>
              <a:ea typeface="Calibri"/>
              <a:cs typeface="Calibri"/>
              <a:sym typeface="Calibri"/>
            </a:endParaRPr>
          </a:p>
        </p:txBody>
      </p:sp>
      <p:sp>
        <p:nvSpPr>
          <p:cNvPr id="1256" name="Google Shape;1256;p47"/>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7"/>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258" name="Google Shape;1258;p47"/>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 survivor testimony shows the horror; the Treasury report shows officials knew and delayed. Judge the response against what was known at the time, not only hindsight.</a:t>
            </a:r>
            <a:endParaRPr b="0" i="0" sz="1450" u="none" cap="none" strike="noStrike">
              <a:solidFill>
                <a:schemeClr val="dk1"/>
              </a:solidFill>
              <a:latin typeface="Calibri"/>
              <a:ea typeface="Calibri"/>
              <a:cs typeface="Calibri"/>
              <a:sym typeface="Calibri"/>
            </a:endParaRPr>
          </a:p>
        </p:txBody>
      </p:sp>
      <p:sp>
        <p:nvSpPr>
          <p:cNvPr id="1259" name="Google Shape;1259;p47"/>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7"/>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261" name="Google Shape;1261;p47"/>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detail showing what U.S. officials knew and one showing what they did.</a:t>
            </a:r>
            <a:endParaRPr b="0" i="0" sz="1300" u="none" cap="none" strike="noStrike">
              <a:solidFill>
                <a:schemeClr val="dk1"/>
              </a:solidFill>
              <a:latin typeface="Calibri"/>
              <a:ea typeface="Calibri"/>
              <a:cs typeface="Calibri"/>
              <a:sym typeface="Calibri"/>
            </a:endParaRPr>
          </a:p>
        </p:txBody>
      </p:sp>
      <p:sp>
        <p:nvSpPr>
          <p:cNvPr id="1262" name="Google Shape;1262;p47"/>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Take a position on whether the response was adequate, citing both sources.</a:t>
            </a:r>
            <a:endParaRPr b="0" i="0" sz="1200" u="none" cap="none" strike="noStrike">
              <a:solidFill>
                <a:schemeClr val="dk1"/>
              </a:solidFill>
              <a:latin typeface="Calibri"/>
              <a:ea typeface="Calibri"/>
              <a:cs typeface="Calibri"/>
              <a:sym typeface="Calibri"/>
            </a:endParaRPr>
          </a:p>
        </p:txBody>
      </p:sp>
      <p:sp>
        <p:nvSpPr>
          <p:cNvPr id="1263" name="Google Shape;1263;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64" name="Google Shape;1264;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69" name="Shape 1269"/>
        <p:cNvGrpSpPr/>
        <p:nvPr/>
      </p:nvGrpSpPr>
      <p:grpSpPr>
        <a:xfrm>
          <a:off x="0" y="0"/>
          <a:ext cx="0" cy="0"/>
          <a:chOff x="0" y="0"/>
          <a:chExt cx="0" cy="0"/>
        </a:xfrm>
      </p:grpSpPr>
      <p:sp>
        <p:nvSpPr>
          <p:cNvPr id="1270" name="Google Shape;1270;p4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STUDENT ACTIVITY</a:t>
            </a:r>
            <a:endParaRPr b="0" i="0" sz="1200" u="none" cap="none" strike="noStrike">
              <a:solidFill>
                <a:schemeClr val="dk1"/>
              </a:solidFill>
              <a:latin typeface="Calibri"/>
              <a:ea typeface="Calibri"/>
              <a:cs typeface="Calibri"/>
              <a:sym typeface="Calibri"/>
            </a:endParaRPr>
          </a:p>
        </p:txBody>
      </p:sp>
      <p:sp>
        <p:nvSpPr>
          <p:cNvPr id="1272" name="Google Shape;1272;p48"/>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Knowledge and Response — The U.S. and the Holocaust</a:t>
            </a:r>
            <a:endParaRPr b="0" i="0" sz="2400" u="none" cap="none" strike="noStrike">
              <a:solidFill>
                <a:schemeClr val="dk1"/>
              </a:solidFill>
              <a:latin typeface="Calibri"/>
              <a:ea typeface="Calibri"/>
              <a:cs typeface="Calibri"/>
              <a:sym typeface="Calibri"/>
            </a:endParaRPr>
          </a:p>
        </p:txBody>
      </p:sp>
      <p:sp>
        <p:nvSpPr>
          <p:cNvPr id="1273" name="Google Shape;1273;p48"/>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8"/>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275" name="Google Shape;1275;p48"/>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8"/>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277" name="Google Shape;1277;p48"/>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8"/>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279" name="Google Shape;1279;p48"/>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survivor testimony excerpt and study the Buchenwald liberation photograph. Complete a three-part organizer: (1) BEFORE THE WAR, how the U.S. responded to European Jews seeking refuge; (2) DURING THE WAR, the liberation of the concentration camps; (3) AFTER THE WAR, the immigration of survivors. Add one specific detail per section. Finish with a one-sentence claim, supported by evidence, on what responsibility nations have when they learn of genocide.</a:t>
            </a:r>
            <a:endParaRPr b="0" i="0" sz="1350" u="none" cap="none" strike="noStrike">
              <a:solidFill>
                <a:schemeClr val="dk1"/>
              </a:solidFill>
              <a:latin typeface="Calibri"/>
              <a:ea typeface="Calibri"/>
              <a:cs typeface="Calibri"/>
              <a:sym typeface="Calibri"/>
            </a:endParaRPr>
          </a:p>
        </p:txBody>
      </p:sp>
      <p:sp>
        <p:nvSpPr>
          <p:cNvPr id="1280" name="Google Shape;1280;p48"/>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48"/>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282" name="Google Shape;1282;p48"/>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(before / during / after, one detail each) AND a one-sentence evidence-based claim about national responsibility.</a:t>
            </a:r>
            <a:endParaRPr b="0" i="0" sz="1050" u="none" cap="none" strike="noStrike">
              <a:solidFill>
                <a:schemeClr val="dk1"/>
              </a:solidFill>
              <a:latin typeface="Calibri"/>
              <a:ea typeface="Calibri"/>
              <a:cs typeface="Calibri"/>
              <a:sym typeface="Calibri"/>
            </a:endParaRPr>
          </a:p>
        </p:txBody>
      </p:sp>
      <p:sp>
        <p:nvSpPr>
          <p:cNvPr id="1283" name="Google Shape;1283;p48"/>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8"/>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285" name="Google Shape;1285;p48"/>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time periods pre-labeled and a fact bank to sort. Honors: Write a paragraph analyzing why the liberation photographs became such powerful evidence, using details you can see in the image.</a:t>
            </a:r>
            <a:endParaRPr b="0" i="0" sz="1000" u="none" cap="none" strike="noStrike">
              <a:solidFill>
                <a:schemeClr val="dk1"/>
              </a:solidFill>
              <a:latin typeface="Calibri"/>
              <a:ea typeface="Calibri"/>
              <a:cs typeface="Calibri"/>
              <a:sym typeface="Calibri"/>
            </a:endParaRPr>
          </a:p>
        </p:txBody>
      </p:sp>
      <p:sp>
        <p:nvSpPr>
          <p:cNvPr id="1286" name="Google Shape;1286;p48"/>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cornell-notes/unit-6/us47-us-response-holocaust.pdf</a:t>
            </a:r>
            <a:endParaRPr b="0" i="0" sz="1050" u="none" cap="none" strike="noStrike">
              <a:solidFill>
                <a:schemeClr val="dk1"/>
              </a:solidFill>
              <a:latin typeface="Calibri"/>
              <a:ea typeface="Calibri"/>
              <a:cs typeface="Calibri"/>
              <a:sym typeface="Calibri"/>
            </a:endParaRPr>
          </a:p>
        </p:txBody>
      </p:sp>
      <p:sp>
        <p:nvSpPr>
          <p:cNvPr id="1287" name="Google Shape;1287;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8" name="Google Shape;1288;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3" name="Shape 1293"/>
        <p:cNvGrpSpPr/>
        <p:nvPr/>
      </p:nvGrpSpPr>
      <p:grpSpPr>
        <a:xfrm>
          <a:off x="0" y="0"/>
          <a:ext cx="0" cy="0"/>
          <a:chOff x="0" y="0"/>
          <a:chExt cx="0" cy="0"/>
        </a:xfrm>
      </p:grpSpPr>
      <p:sp>
        <p:nvSpPr>
          <p:cNvPr id="1294" name="Google Shape;1294;p4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CHECK FOR UNDERSTANDING</a:t>
            </a:r>
            <a:endParaRPr b="0" i="0" sz="1200" u="none" cap="none" strike="noStrike">
              <a:solidFill>
                <a:schemeClr val="dk1"/>
              </a:solidFill>
              <a:latin typeface="Calibri"/>
              <a:ea typeface="Calibri"/>
              <a:cs typeface="Calibri"/>
              <a:sym typeface="Calibri"/>
            </a:endParaRPr>
          </a:p>
        </p:txBody>
      </p:sp>
      <p:sp>
        <p:nvSpPr>
          <p:cNvPr id="1296" name="Google Shape;1296;p49"/>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297" name="Google Shape;1297;p49"/>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49"/>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299" name="Google Shape;1299;p49"/>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4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301" name="Google Shape;1301;p49"/>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49"/>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respond to the Holocaust before entering World War II?</a:t>
            </a:r>
            <a:endParaRPr b="0" i="0" sz="1600" u="none" cap="none" strike="noStrike">
              <a:solidFill>
                <a:schemeClr val="dk1"/>
              </a:solidFill>
              <a:latin typeface="Calibri"/>
              <a:ea typeface="Calibri"/>
              <a:cs typeface="Calibri"/>
              <a:sym typeface="Calibri"/>
            </a:endParaRPr>
          </a:p>
        </p:txBody>
      </p:sp>
      <p:sp>
        <p:nvSpPr>
          <p:cNvPr id="1303" name="Google Shape;1303;p49"/>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49"/>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306" name="Google Shape;1306;p49"/>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Maintained strict immigration quotas and turned away refugee ships like St. Louis.</a:t>
            </a:r>
            <a:endParaRPr b="0" i="0" sz="1350" u="none" cap="none" strike="noStrike">
              <a:solidFill>
                <a:schemeClr val="dk1"/>
              </a:solidFill>
              <a:latin typeface="Calibri"/>
              <a:ea typeface="Calibri"/>
              <a:cs typeface="Calibri"/>
              <a:sym typeface="Calibri"/>
            </a:endParaRPr>
          </a:p>
        </p:txBody>
      </p:sp>
      <p:sp>
        <p:nvSpPr>
          <p:cNvPr id="1307" name="Google Shape;1307;p49"/>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49"/>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310" name="Google Shape;1310;p49"/>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Military alliance between fascist and militarist powers Italy, Germany, and Japan.</a:t>
            </a:r>
            <a:endParaRPr b="0" i="0" sz="1350" u="none" cap="none" strike="noStrike">
              <a:solidFill>
                <a:schemeClr val="dk1"/>
              </a:solidFill>
              <a:latin typeface="Calibri"/>
              <a:ea typeface="Calibri"/>
              <a:cs typeface="Calibri"/>
              <a:sym typeface="Calibri"/>
            </a:endParaRPr>
          </a:p>
        </p:txBody>
      </p:sp>
      <p:sp>
        <p:nvSpPr>
          <p:cNvPr id="1311" name="Google Shape;1311;p49"/>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9"/>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9"/>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314" name="Google Shape;1314;p49"/>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Establish German racial supremacy and expand living space (Lebensraum) eastward.</a:t>
            </a:r>
            <a:endParaRPr b="0" i="0" sz="1350" u="none" cap="none" strike="noStrike">
              <a:solidFill>
                <a:schemeClr val="dk1"/>
              </a:solidFill>
              <a:latin typeface="Calibri"/>
              <a:ea typeface="Calibri"/>
              <a:cs typeface="Calibri"/>
              <a:sym typeface="Calibri"/>
            </a:endParaRPr>
          </a:p>
        </p:txBody>
      </p:sp>
      <p:sp>
        <p:nvSpPr>
          <p:cNvPr id="1315" name="Google Shape;1315;p49"/>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9"/>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9"/>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318" name="Google Shape;1318;p49"/>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1934 Nazi purge eliminating Hitler's political rivals and consolidating power.</a:t>
            </a:r>
            <a:endParaRPr b="0" i="0" sz="1350" u="none" cap="none" strike="noStrike">
              <a:solidFill>
                <a:schemeClr val="dk1"/>
              </a:solidFill>
              <a:latin typeface="Calibri"/>
              <a:ea typeface="Calibri"/>
              <a:cs typeface="Calibri"/>
              <a:sym typeface="Calibri"/>
            </a:endParaRPr>
          </a:p>
        </p:txBody>
      </p:sp>
      <p:sp>
        <p:nvSpPr>
          <p:cNvPr id="1319" name="Google Shape;1319;p49"/>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49"/>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321" name="Google Shape;1321;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22" name="Google Shape;1322;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27" name="Shape 1327"/>
        <p:cNvGrpSpPr/>
        <p:nvPr/>
      </p:nvGrpSpPr>
      <p:grpSpPr>
        <a:xfrm>
          <a:off x="0" y="0"/>
          <a:ext cx="0" cy="0"/>
          <a:chOff x="0" y="0"/>
          <a:chExt cx="0" cy="0"/>
        </a:xfrm>
      </p:grpSpPr>
      <p:sp>
        <p:nvSpPr>
          <p:cNvPr id="1328" name="Google Shape;1328;p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5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ANSWER REVEAL</a:t>
            </a:r>
            <a:endParaRPr b="0" i="0" sz="1200" u="none" cap="none" strike="noStrike">
              <a:solidFill>
                <a:schemeClr val="dk1"/>
              </a:solidFill>
              <a:latin typeface="Calibri"/>
              <a:ea typeface="Calibri"/>
              <a:cs typeface="Calibri"/>
              <a:sym typeface="Calibri"/>
            </a:endParaRPr>
          </a:p>
        </p:txBody>
      </p:sp>
      <p:sp>
        <p:nvSpPr>
          <p:cNvPr id="1330" name="Google Shape;1330;p50"/>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331" name="Google Shape;1331;p50"/>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50"/>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333" name="Google Shape;1333;p50"/>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50"/>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respond to the Holocaust before entering World War II?</a:t>
            </a:r>
            <a:endParaRPr b="0" i="0" sz="1500" u="none" cap="none" strike="noStrike">
              <a:solidFill>
                <a:schemeClr val="dk1"/>
              </a:solidFill>
              <a:latin typeface="Calibri"/>
              <a:ea typeface="Calibri"/>
              <a:cs typeface="Calibri"/>
              <a:sym typeface="Calibri"/>
            </a:endParaRPr>
          </a:p>
        </p:txBody>
      </p:sp>
      <p:sp>
        <p:nvSpPr>
          <p:cNvPr id="1335" name="Google Shape;1335;p50"/>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50"/>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50"/>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338" name="Google Shape;1338;p50"/>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Maintained strict immigration quotas and turned away refugee ships like St. Louis.</a:t>
            </a:r>
            <a:endParaRPr b="0" i="0" sz="1300" u="none" cap="none" strike="noStrike">
              <a:solidFill>
                <a:schemeClr val="dk1"/>
              </a:solidFill>
              <a:latin typeface="Calibri"/>
              <a:ea typeface="Calibri"/>
              <a:cs typeface="Calibri"/>
              <a:sym typeface="Calibri"/>
            </a:endParaRPr>
          </a:p>
        </p:txBody>
      </p:sp>
      <p:sp>
        <p:nvSpPr>
          <p:cNvPr id="1339" name="Google Shape;1339;p50"/>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340" name="Google Shape;1340;p50"/>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50"/>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0"/>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343" name="Google Shape;1343;p50"/>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Military alliance between fascist and militarist powers Italy, Germany, and Japan.</a:t>
            </a:r>
            <a:endParaRPr b="0" i="0" sz="1300" u="none" cap="none" strike="noStrike">
              <a:solidFill>
                <a:schemeClr val="dk1"/>
              </a:solidFill>
              <a:latin typeface="Calibri"/>
              <a:ea typeface="Calibri"/>
              <a:cs typeface="Calibri"/>
              <a:sym typeface="Calibri"/>
            </a:endParaRPr>
          </a:p>
        </p:txBody>
      </p:sp>
      <p:sp>
        <p:nvSpPr>
          <p:cNvPr id="1344" name="Google Shape;1344;p50"/>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50"/>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0"/>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347" name="Google Shape;1347;p50"/>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Establish German racial supremacy and expand living space (Lebensraum) eastward.</a:t>
            </a:r>
            <a:endParaRPr b="0" i="0" sz="1300" u="none" cap="none" strike="noStrike">
              <a:solidFill>
                <a:schemeClr val="dk1"/>
              </a:solidFill>
              <a:latin typeface="Calibri"/>
              <a:ea typeface="Calibri"/>
              <a:cs typeface="Calibri"/>
              <a:sym typeface="Calibri"/>
            </a:endParaRPr>
          </a:p>
        </p:txBody>
      </p:sp>
      <p:sp>
        <p:nvSpPr>
          <p:cNvPr id="1348" name="Google Shape;1348;p50"/>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50"/>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0"/>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351" name="Google Shape;1351;p50"/>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1934 Nazi purge eliminating Hitler's political rivals and consolidating power.</a:t>
            </a:r>
            <a:endParaRPr b="0" i="0" sz="1300" u="none" cap="none" strike="noStrike">
              <a:solidFill>
                <a:schemeClr val="dk1"/>
              </a:solidFill>
              <a:latin typeface="Calibri"/>
              <a:ea typeface="Calibri"/>
              <a:cs typeface="Calibri"/>
              <a:sym typeface="Calibri"/>
            </a:endParaRPr>
          </a:p>
        </p:txBody>
      </p:sp>
      <p:sp>
        <p:nvSpPr>
          <p:cNvPr id="1352" name="Google Shape;1352;p50"/>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0"/>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a:t>
            </a:r>
            <a:endParaRPr b="0" i="0" sz="1150" u="none" cap="none" strike="noStrike">
              <a:solidFill>
                <a:schemeClr val="dk1"/>
              </a:solidFill>
              <a:latin typeface="Calibri"/>
              <a:ea typeface="Calibri"/>
              <a:cs typeface="Calibri"/>
              <a:sym typeface="Calibri"/>
            </a:endParaRPr>
          </a:p>
        </p:txBody>
      </p:sp>
      <p:sp>
        <p:nvSpPr>
          <p:cNvPr id="1354" name="Google Shape;1354;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55" name="Google Shape;1355;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60" name="Shape 1360"/>
        <p:cNvGrpSpPr/>
        <p:nvPr/>
      </p:nvGrpSpPr>
      <p:grpSpPr>
        <a:xfrm>
          <a:off x="0" y="0"/>
          <a:ext cx="0" cy="0"/>
          <a:chOff x="0" y="0"/>
          <a:chExt cx="0" cy="0"/>
        </a:xfrm>
      </p:grpSpPr>
      <p:sp>
        <p:nvSpPr>
          <p:cNvPr id="1361" name="Google Shape;1361;p5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WRAP-UP</a:t>
            </a:r>
            <a:endParaRPr b="0" i="0" sz="1200" u="none" cap="none" strike="noStrike">
              <a:solidFill>
                <a:schemeClr val="dk1"/>
              </a:solidFill>
              <a:latin typeface="Calibri"/>
              <a:ea typeface="Calibri"/>
              <a:cs typeface="Calibri"/>
              <a:sym typeface="Calibri"/>
            </a:endParaRPr>
          </a:p>
        </p:txBody>
      </p:sp>
      <p:sp>
        <p:nvSpPr>
          <p:cNvPr id="1363" name="Google Shape;1363;p51"/>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364" name="Google Shape;1364;p51"/>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1"/>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366" name="Google Shape;1366;p51"/>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U.S. Response Before the War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Liberation of Concentration Camps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Post-War Immigration of Holocaust Survivors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Moral and Ethical Implications (Honors)</a:t>
            </a:r>
            <a:endParaRPr b="0" i="0" sz="1500" u="none" cap="none" strike="noStrike">
              <a:solidFill>
                <a:schemeClr val="dk1"/>
              </a:solidFill>
              <a:latin typeface="Calibri"/>
              <a:ea typeface="Calibri"/>
              <a:cs typeface="Calibri"/>
              <a:sym typeface="Calibri"/>
            </a:endParaRPr>
          </a:p>
        </p:txBody>
      </p:sp>
      <p:sp>
        <p:nvSpPr>
          <p:cNvPr id="1367" name="Google Shape;1367;p51"/>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51"/>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369" name="Google Shape;1369;p51"/>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Given what the U.S. knew, did it do enough to respond to the Holocaust? Defend your claim with evidence. (SSP.04)</a:t>
            </a:r>
            <a:endParaRPr b="0" i="0" sz="1150" u="none" cap="none" strike="noStrike">
              <a:solidFill>
                <a:schemeClr val="dk1"/>
              </a:solidFill>
              <a:latin typeface="Calibri"/>
              <a:ea typeface="Calibri"/>
              <a:cs typeface="Calibri"/>
              <a:sym typeface="Calibri"/>
            </a:endParaRPr>
          </a:p>
        </p:txBody>
      </p:sp>
      <p:sp>
        <p:nvSpPr>
          <p:cNvPr id="1370" name="Google Shape;1370;p51"/>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1"/>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372" name="Google Shape;1372;p51"/>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51"/>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374" name="Google Shape;1374;p51"/>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U.S. response to the Holocaust before, during, and after the war. Give one specific example from each period.</a:t>
            </a:r>
            <a:endParaRPr b="0" i="0" sz="1350" u="none" cap="none" strike="noStrike">
              <a:solidFill>
                <a:schemeClr val="dk1"/>
              </a:solidFill>
              <a:latin typeface="Calibri"/>
              <a:ea typeface="Calibri"/>
              <a:cs typeface="Calibri"/>
              <a:sym typeface="Calibri"/>
            </a:endParaRPr>
          </a:p>
        </p:txBody>
      </p:sp>
      <p:cxnSp>
        <p:nvCxnSpPr>
          <p:cNvPr id="1375" name="Google Shape;1375;p51"/>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6" name="Google Shape;1376;p51"/>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7" name="Google Shape;1377;p51"/>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378" name="Google Shape;1378;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79" name="Google Shape;1379;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84" name="Shape 1384"/>
        <p:cNvGrpSpPr/>
        <p:nvPr/>
      </p:nvGrpSpPr>
      <p:grpSpPr>
        <a:xfrm>
          <a:off x="0" y="0"/>
          <a:ext cx="0" cy="0"/>
          <a:chOff x="0" y="0"/>
          <a:chExt cx="0" cy="0"/>
        </a:xfrm>
      </p:grpSpPr>
      <p:sp>
        <p:nvSpPr>
          <p:cNvPr id="1385" name="Google Shape;1385;p52"/>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52"/>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388" name="Google Shape;1388;p52"/>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US.48</a:t>
            </a:r>
            <a:endParaRPr b="0" i="0" sz="8800" u="none" cap="none" strike="noStrike">
              <a:solidFill>
                <a:schemeClr val="dk1"/>
              </a:solidFill>
              <a:latin typeface="Calibri"/>
              <a:ea typeface="Calibri"/>
              <a:cs typeface="Calibri"/>
              <a:sym typeface="Calibri"/>
            </a:endParaRPr>
          </a:p>
        </p:txBody>
      </p:sp>
      <p:sp>
        <p:nvSpPr>
          <p:cNvPr id="1389" name="Google Shape;1389;p52"/>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American Entry into World War II</a:t>
            </a:r>
            <a:endParaRPr b="0" i="0" sz="2400" u="none" cap="none" strike="noStrike">
              <a:solidFill>
                <a:schemeClr val="dk1"/>
              </a:solidFill>
              <a:latin typeface="Calibri"/>
              <a:ea typeface="Calibri"/>
              <a:cs typeface="Calibri"/>
              <a:sym typeface="Calibri"/>
            </a:endParaRPr>
          </a:p>
        </p:txBody>
      </p:sp>
      <p:sp>
        <p:nvSpPr>
          <p:cNvPr id="1390" name="Google Shape;1390;p52"/>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391" name="Google Shape;1391;p52"/>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52"/>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393" name="Google Shape;1393;p52"/>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394" name="Google Shape;1394;p52"/>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52"/>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396" name="Google Shape;1396;p52"/>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397" name="Google Shape;1397;p52"/>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52"/>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399" name="Google Shape;1399;p52"/>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400" name="Google Shape;1400;p52"/>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52"/>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402" name="Google Shape;1402;p52"/>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reasons for American entry into World War II, including the attack on Pearl Harbor.</a:t>
            </a:r>
            <a:endParaRPr b="0" i="0" sz="1300" u="none" cap="none" strike="noStrike">
              <a:solidFill>
                <a:schemeClr val="dk1"/>
              </a:solidFill>
              <a:latin typeface="Calibri"/>
              <a:ea typeface="Calibri"/>
              <a:cs typeface="Calibri"/>
              <a:sym typeface="Calibri"/>
            </a:endParaRPr>
          </a:p>
        </p:txBody>
      </p:sp>
      <p:sp>
        <p:nvSpPr>
          <p:cNvPr id="1403" name="Google Shape;1403;p52"/>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52"/>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405" name="Google Shape;1405;p52"/>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350" u="none" cap="none" strike="noStrike">
              <a:solidFill>
                <a:schemeClr val="dk1"/>
              </a:solidFill>
              <a:latin typeface="Calibri"/>
              <a:ea typeface="Calibri"/>
              <a:cs typeface="Calibri"/>
              <a:sym typeface="Calibri"/>
            </a:endParaRPr>
          </a:p>
        </p:txBody>
      </p:sp>
      <p:sp>
        <p:nvSpPr>
          <p:cNvPr id="1406" name="Google Shape;1406;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07" name="Google Shape;1407;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2" name="Shape 1412"/>
        <p:cNvGrpSpPr/>
        <p:nvPr/>
      </p:nvGrpSpPr>
      <p:grpSpPr>
        <a:xfrm>
          <a:off x="0" y="0"/>
          <a:ext cx="0" cy="0"/>
          <a:chOff x="0" y="0"/>
          <a:chExt cx="0" cy="0"/>
        </a:xfrm>
      </p:grpSpPr>
      <p:sp>
        <p:nvSpPr>
          <p:cNvPr id="1413" name="Google Shape;1413;p5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QUICK REVIEW</a:t>
            </a:r>
            <a:endParaRPr b="0" i="0" sz="1200" u="none" cap="none" strike="noStrike">
              <a:solidFill>
                <a:schemeClr val="dk1"/>
              </a:solidFill>
              <a:latin typeface="Calibri"/>
              <a:ea typeface="Calibri"/>
              <a:cs typeface="Calibri"/>
              <a:sym typeface="Calibri"/>
            </a:endParaRPr>
          </a:p>
        </p:txBody>
      </p:sp>
      <p:sp>
        <p:nvSpPr>
          <p:cNvPr id="1415" name="Google Shape;1415;p5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416" name="Google Shape;1416;p53"/>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417" name="Google Shape;1417;p53"/>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53"/>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53"/>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420" name="Google Shape;1420;p53"/>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What was the Holocaust?</a:t>
            </a:r>
            <a:endParaRPr b="0" i="0" sz="1350" u="none" cap="none" strike="noStrike">
              <a:solidFill>
                <a:schemeClr val="dk1"/>
              </a:solidFill>
              <a:latin typeface="Calibri"/>
              <a:ea typeface="Calibri"/>
              <a:cs typeface="Calibri"/>
              <a:sym typeface="Calibri"/>
            </a:endParaRPr>
          </a:p>
        </p:txBody>
      </p:sp>
      <p:sp>
        <p:nvSpPr>
          <p:cNvPr id="1421" name="Google Shape;1421;p53"/>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53"/>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53"/>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424" name="Google Shape;1424;p53"/>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How did Americans confirm the full scale of the Holocaust?</a:t>
            </a:r>
            <a:endParaRPr b="0" i="0" sz="1350" u="none" cap="none" strike="noStrike">
              <a:solidFill>
                <a:schemeClr val="dk1"/>
              </a:solidFill>
              <a:latin typeface="Calibri"/>
              <a:ea typeface="Calibri"/>
              <a:cs typeface="Calibri"/>
              <a:sym typeface="Calibri"/>
            </a:endParaRPr>
          </a:p>
        </p:txBody>
      </p:sp>
      <p:sp>
        <p:nvSpPr>
          <p:cNvPr id="1425" name="Google Shape;1425;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6" name="Google Shape;1426;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1" name="Shape 1431"/>
        <p:cNvGrpSpPr/>
        <p:nvPr/>
      </p:nvGrpSpPr>
      <p:grpSpPr>
        <a:xfrm>
          <a:off x="0" y="0"/>
          <a:ext cx="0" cy="0"/>
          <a:chOff x="0" y="0"/>
          <a:chExt cx="0" cy="0"/>
        </a:xfrm>
      </p:grpSpPr>
      <p:sp>
        <p:nvSpPr>
          <p:cNvPr id="1432" name="Google Shape;1432;p5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CONFIDENCE CHECK</a:t>
            </a:r>
            <a:endParaRPr b="0" i="0" sz="1200" u="none" cap="none" strike="noStrike">
              <a:solidFill>
                <a:schemeClr val="dk1"/>
              </a:solidFill>
              <a:latin typeface="Calibri"/>
              <a:ea typeface="Calibri"/>
              <a:cs typeface="Calibri"/>
              <a:sym typeface="Calibri"/>
            </a:endParaRPr>
          </a:p>
        </p:txBody>
      </p:sp>
      <p:sp>
        <p:nvSpPr>
          <p:cNvPr id="1434" name="Google Shape;1434;p54"/>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435" name="Google Shape;1435;p54"/>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54"/>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437" name="Google Shape;1437;p54"/>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54"/>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439" name="Google Shape;1439;p54"/>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440" name="Google Shape;1440;p54"/>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54"/>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Japanese attack brought the United States into World War II?</a:t>
            </a:r>
            <a:endParaRPr b="0" i="0" sz="2400" u="none" cap="none" strike="noStrike">
              <a:solidFill>
                <a:schemeClr val="dk1"/>
              </a:solidFill>
              <a:latin typeface="Calibri"/>
              <a:ea typeface="Calibri"/>
              <a:cs typeface="Calibri"/>
              <a:sym typeface="Calibri"/>
            </a:endParaRPr>
          </a:p>
        </p:txBody>
      </p:sp>
      <p:sp>
        <p:nvSpPr>
          <p:cNvPr id="1442" name="Google Shape;1442;p54"/>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4"/>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444" name="Google Shape;1444;p54"/>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attack on Pearl Harbor, December 7, 1941.</a:t>
            </a:r>
            <a:endParaRPr b="0" i="0" sz="1600" u="none" cap="none" strike="noStrike">
              <a:solidFill>
                <a:schemeClr val="dk1"/>
              </a:solidFill>
              <a:latin typeface="Calibri"/>
              <a:ea typeface="Calibri"/>
              <a:cs typeface="Calibri"/>
              <a:sym typeface="Calibri"/>
            </a:endParaRPr>
          </a:p>
        </p:txBody>
      </p:sp>
      <p:sp>
        <p:nvSpPr>
          <p:cNvPr id="1445" name="Google Shape;1445;p54"/>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54"/>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447" name="Google Shape;1447;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8" name="Google Shape;1448;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3" name="Shape 1453"/>
        <p:cNvGrpSpPr/>
        <p:nvPr/>
      </p:nvGrpSpPr>
      <p:grpSpPr>
        <a:xfrm>
          <a:off x="0" y="0"/>
          <a:ext cx="0" cy="0"/>
          <a:chOff x="0" y="0"/>
          <a:chExt cx="0" cy="0"/>
        </a:xfrm>
      </p:grpSpPr>
      <p:sp>
        <p:nvSpPr>
          <p:cNvPr id="1454" name="Google Shape;1454;p5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5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HOOK</a:t>
            </a:r>
            <a:endParaRPr b="0" i="0" sz="1200" u="none" cap="none" strike="noStrike">
              <a:solidFill>
                <a:schemeClr val="dk1"/>
              </a:solidFill>
              <a:latin typeface="Calibri"/>
              <a:ea typeface="Calibri"/>
              <a:cs typeface="Calibri"/>
              <a:sym typeface="Calibri"/>
            </a:endParaRPr>
          </a:p>
        </p:txBody>
      </p:sp>
      <p:sp>
        <p:nvSpPr>
          <p:cNvPr id="1456" name="Google Shape;1456;p55"/>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457" name="Google Shape;1457;p55"/>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55"/>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On the morning of December 7, 1941, Japanese planes struck the U.S. naval base at Pearl Harbor, killing more than 2,400 Americans and sinking or damaging much of the Pacific fleet in under two hours.</a:t>
            </a:r>
            <a:endParaRPr b="0" i="0" sz="2600" u="none" cap="none" strike="noStrike">
              <a:solidFill>
                <a:schemeClr val="dk1"/>
              </a:solidFill>
              <a:latin typeface="Calibri"/>
              <a:ea typeface="Calibri"/>
              <a:cs typeface="Calibri"/>
              <a:sym typeface="Calibri"/>
            </a:endParaRPr>
          </a:p>
        </p:txBody>
      </p:sp>
      <p:sp>
        <p:nvSpPr>
          <p:cNvPr id="1459" name="Google Shape;1459;p55"/>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55"/>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461" name="Google Shape;1461;p55"/>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55"/>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463" name="Google Shape;1463;p55"/>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Pearl Harbor the cause of American entry into World War II, or the spark that lit a fire already waiting to burn?</a:t>
            </a:r>
            <a:endParaRPr b="0" i="0" sz="1600" u="none" cap="none" strike="noStrike">
              <a:solidFill>
                <a:schemeClr val="dk1"/>
              </a:solidFill>
              <a:latin typeface="Calibri"/>
              <a:ea typeface="Calibri"/>
              <a:cs typeface="Calibri"/>
              <a:sym typeface="Calibri"/>
            </a:endParaRPr>
          </a:p>
        </p:txBody>
      </p:sp>
      <p:sp>
        <p:nvSpPr>
          <p:cNvPr id="1464" name="Google Shape;14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5" name="Google Shape;14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70" name="Shape 1470"/>
        <p:cNvGrpSpPr/>
        <p:nvPr/>
      </p:nvGrpSpPr>
      <p:grpSpPr>
        <a:xfrm>
          <a:off x="0" y="0"/>
          <a:ext cx="0" cy="0"/>
          <a:chOff x="0" y="0"/>
          <a:chExt cx="0" cy="0"/>
        </a:xfrm>
      </p:grpSpPr>
      <p:sp>
        <p:nvSpPr>
          <p:cNvPr id="1471" name="Google Shape;1471;p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73" name="Google Shape;1473;p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European Theater</a:t>
            </a:r>
            <a:endParaRPr b="0" i="0" sz="3000" u="none" cap="none" strike="noStrike">
              <a:solidFill>
                <a:schemeClr val="dk1"/>
              </a:solidFill>
              <a:latin typeface="Calibri"/>
              <a:ea typeface="Calibri"/>
              <a:cs typeface="Calibri"/>
              <a:sym typeface="Calibri"/>
            </a:endParaRPr>
          </a:p>
        </p:txBody>
      </p:sp>
      <p:sp>
        <p:nvSpPr>
          <p:cNvPr id="1474" name="Google Shape;1474;p56"/>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5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479" name="Google Shape;1479;p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56"/>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U-boats attacked U.S. ships carrying Lend-Lease supplies, leading to an undeclared naval war with the U.S. Navy escorting convoys and engaging German submarines.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Atlantic Charter created moral and strategic partnership with Britain.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Destroyer Deal exchanged U.S. destroyers for British bases, and U.S. forces occupied Iceland to prevent German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actions increasingly moved America toward war despite isolationist opposition.</a:t>
            </a:r>
            <a:endParaRPr b="0" i="0" sz="1700" u="none" cap="none" strike="noStrike">
              <a:solidFill>
                <a:schemeClr val="dk1"/>
              </a:solidFill>
              <a:latin typeface="Calibri"/>
              <a:ea typeface="Calibri"/>
              <a:cs typeface="Calibri"/>
              <a:sym typeface="Calibri"/>
            </a:endParaRPr>
          </a:p>
        </p:txBody>
      </p:sp>
      <p:sp>
        <p:nvSpPr>
          <p:cNvPr id="1481" name="Google Shape;1481;p56"/>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56"/>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483" name="Google Shape;1483;p56"/>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U.S. entered World War II because of ________ in Europe and ________ in the Pacific, but the immediate trigger was ________.</a:t>
            </a:r>
            <a:endParaRPr b="0" i="0" sz="1150" u="none" cap="none" strike="noStrike">
              <a:solidFill>
                <a:schemeClr val="dk1"/>
              </a:solidFill>
              <a:latin typeface="Calibri"/>
              <a:ea typeface="Calibri"/>
              <a:cs typeface="Calibri"/>
              <a:sym typeface="Calibri"/>
            </a:endParaRPr>
          </a:p>
        </p:txBody>
      </p:sp>
      <p:sp>
        <p:nvSpPr>
          <p:cNvPr id="1484" name="Google Shape;1484;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90" name="Shape 1490"/>
        <p:cNvGrpSpPr/>
        <p:nvPr/>
      </p:nvGrpSpPr>
      <p:grpSpPr>
        <a:xfrm>
          <a:off x="0" y="0"/>
          <a:ext cx="0" cy="0"/>
          <a:chOff x="0" y="0"/>
          <a:chExt cx="0" cy="0"/>
        </a:xfrm>
      </p:grpSpPr>
      <p:sp>
        <p:nvSpPr>
          <p:cNvPr id="1491" name="Google Shape;1491;p5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93" name="Google Shape;1493;p5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Pacific Theater</a:t>
            </a:r>
            <a:endParaRPr b="0" i="0" sz="3000" u="none" cap="none" strike="noStrike">
              <a:solidFill>
                <a:schemeClr val="dk1"/>
              </a:solidFill>
              <a:latin typeface="Calibri"/>
              <a:ea typeface="Calibri"/>
              <a:cs typeface="Calibri"/>
              <a:sym typeface="Calibri"/>
            </a:endParaRPr>
          </a:p>
        </p:txBody>
      </p:sp>
      <p:sp>
        <p:nvSpPr>
          <p:cNvPr id="1494" name="Google Shape;1494;p5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57"/>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5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5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499" name="Google Shape;1499;p5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5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 conquered much of China and Southeast Asia, threatening U.S. territories and interests.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response, the U.S. imposed economic sanctions including an oil embargo and froze Japanese assets (July 1941).</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Hull Note demanded Japanese withdrawal from China and Indochina, but negotiations failed to resolve differences.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Japan's military leaders saw war with America as inevitable given the economic pressure.</a:t>
            </a:r>
            <a:endParaRPr b="0" i="0" sz="1700" u="none" cap="none" strike="noStrike">
              <a:solidFill>
                <a:schemeClr val="dk1"/>
              </a:solidFill>
              <a:latin typeface="Calibri"/>
              <a:ea typeface="Calibri"/>
              <a:cs typeface="Calibri"/>
              <a:sym typeface="Calibri"/>
            </a:endParaRPr>
          </a:p>
        </p:txBody>
      </p:sp>
      <p:sp>
        <p:nvSpPr>
          <p:cNvPr id="1501" name="Google Shape;1501;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02" name="Google Shape;1502;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07" name="Shape 1507"/>
        <p:cNvGrpSpPr/>
        <p:nvPr/>
      </p:nvGrpSpPr>
      <p:grpSpPr>
        <a:xfrm>
          <a:off x="0" y="0"/>
          <a:ext cx="0" cy="0"/>
          <a:chOff x="0" y="0"/>
          <a:chExt cx="0" cy="0"/>
        </a:xfrm>
      </p:grpSpPr>
      <p:sp>
        <p:nvSpPr>
          <p:cNvPr id="1508" name="Google Shape;1508;p5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10" name="Google Shape;1510;p5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Attack on Pearl Harbor (December 7, 1941)</a:t>
            </a:r>
            <a:endParaRPr b="0" i="0" sz="3000" u="none" cap="none" strike="noStrike">
              <a:solidFill>
                <a:schemeClr val="dk1"/>
              </a:solidFill>
              <a:latin typeface="Calibri"/>
              <a:ea typeface="Calibri"/>
              <a:cs typeface="Calibri"/>
              <a:sym typeface="Calibri"/>
            </a:endParaRPr>
          </a:p>
        </p:txBody>
      </p:sp>
      <p:sp>
        <p:nvSpPr>
          <p:cNvPr id="1511" name="Google Shape;1511;p5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5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58"/>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5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5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516" name="Google Shape;1516;p58"/>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58"/>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Japan planned to eliminate the U.S. Pacific Fleet to prevent interference with expansion.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Six aircraft carriers launched 353 planes in two waves on Sunday morning when defenses were relaxed.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attack sank or damaged 8 battleships, destroyed 188 planes, and killed 2,403 Americans.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Intelligence failures left U.S. forces completely unprepared.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Roosevelt's "Date of Infamy" speech galvanized the nation, and Congress declared war with only one dissenting vote.</a:t>
            </a:r>
            <a:endParaRPr b="0" i="0" sz="1550" u="none" cap="none" strike="noStrike">
              <a:solidFill>
                <a:schemeClr val="dk1"/>
              </a:solidFill>
              <a:latin typeface="Calibri"/>
              <a:ea typeface="Calibri"/>
              <a:cs typeface="Calibri"/>
              <a:sym typeface="Calibri"/>
            </a:endParaRPr>
          </a:p>
        </p:txBody>
      </p:sp>
      <p:sp>
        <p:nvSpPr>
          <p:cNvPr id="1518" name="Google Shape;1518;p58"/>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pearl-harbor-uss-shaw-1941.jpg" id="1519" name="Google Shape;1519;p58"/>
          <p:cNvPicPr preferRelativeResize="0"/>
          <p:nvPr/>
        </p:nvPicPr>
        <p:blipFill rotWithShape="1">
          <a:blip r:embed="rId3">
            <a:alphaModFix/>
          </a:blip>
          <a:srcRect b="0" l="0" r="0" t="0"/>
          <a:stretch/>
        </p:blipFill>
        <p:spPr>
          <a:xfrm>
            <a:off x="7589520" y="1907338"/>
            <a:ext cx="4069080" cy="3253636"/>
          </a:xfrm>
          <a:prstGeom prst="rect">
            <a:avLst/>
          </a:prstGeom>
          <a:noFill/>
          <a:ln>
            <a:noFill/>
          </a:ln>
        </p:spPr>
      </p:pic>
      <p:sp>
        <p:nvSpPr>
          <p:cNvPr id="1520" name="Google Shape;1520;p58"/>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U.S. Navy photographer / U.S. Navy, December 7,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521" name="Google Shape;1521;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2" name="Google Shape;1522;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27" name="Shape 1527"/>
        <p:cNvGrpSpPr/>
        <p:nvPr/>
      </p:nvGrpSpPr>
      <p:grpSpPr>
        <a:xfrm>
          <a:off x="0" y="0"/>
          <a:ext cx="0" cy="0"/>
          <a:chOff x="0" y="0"/>
          <a:chExt cx="0" cy="0"/>
        </a:xfrm>
      </p:grpSpPr>
      <p:sp>
        <p:nvSpPr>
          <p:cNvPr id="1528" name="Google Shape;1528;p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30" name="Google Shape;1530;p5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Consequences of American Entry</a:t>
            </a:r>
            <a:endParaRPr b="0" i="0" sz="3000" u="none" cap="none" strike="noStrike">
              <a:solidFill>
                <a:schemeClr val="dk1"/>
              </a:solidFill>
              <a:latin typeface="Calibri"/>
              <a:ea typeface="Calibri"/>
              <a:cs typeface="Calibri"/>
              <a:sym typeface="Calibri"/>
            </a:endParaRPr>
          </a:p>
        </p:txBody>
      </p:sp>
      <p:sp>
        <p:nvSpPr>
          <p:cNvPr id="1531" name="Google Shape;1531;p5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5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5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59"/>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536" name="Google Shape;1536;p5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5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Pearl Harbor destroyed isolationist opposition and unified American public opinion.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Germany and Italy declared war on the U.S. (December 11), making the conflict worldwide.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Domestically, war ended the Great Depression and created full employment, while the government gained unprecedented powers.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Internationally, U.S. entry provided resources necessary to defeat the Axis, established America as the dominant world power, and led to the creation of the United Nations.</a:t>
            </a:r>
            <a:endParaRPr b="0" i="0" sz="1700" u="none" cap="none" strike="noStrike">
              <a:solidFill>
                <a:schemeClr val="dk1"/>
              </a:solidFill>
              <a:latin typeface="Calibri"/>
              <a:ea typeface="Calibri"/>
              <a:cs typeface="Calibri"/>
              <a:sym typeface="Calibri"/>
            </a:endParaRPr>
          </a:p>
        </p:txBody>
      </p:sp>
      <p:sp>
        <p:nvSpPr>
          <p:cNvPr id="1538" name="Google Shape;1538;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39" name="Google Shape;1539;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44" name="Shape 1544"/>
        <p:cNvGrpSpPr/>
        <p:nvPr/>
      </p:nvGrpSpPr>
      <p:grpSpPr>
        <a:xfrm>
          <a:off x="0" y="0"/>
          <a:ext cx="0" cy="0"/>
          <a:chOff x="0" y="0"/>
          <a:chExt cx="0" cy="0"/>
        </a:xfrm>
      </p:grpSpPr>
      <p:sp>
        <p:nvSpPr>
          <p:cNvPr id="1545" name="Google Shape;1545;p6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PEOPLE WHO SHAPED THE ERA</a:t>
            </a:r>
            <a:endParaRPr b="0" i="0" sz="1200" u="none" cap="none" strike="noStrike">
              <a:solidFill>
                <a:schemeClr val="dk1"/>
              </a:solidFill>
              <a:latin typeface="Calibri"/>
              <a:ea typeface="Calibri"/>
              <a:cs typeface="Calibri"/>
              <a:sym typeface="Calibri"/>
            </a:endParaRPr>
          </a:p>
        </p:txBody>
      </p:sp>
      <p:sp>
        <p:nvSpPr>
          <p:cNvPr id="1547" name="Google Shape;1547;p6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548" name="Google Shape;1548;p60"/>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60"/>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60"/>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1551" name="Google Shape;1551;p60"/>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asked Congress to declare war</a:t>
            </a:r>
            <a:endParaRPr b="0" i="0" sz="1100" u="none" cap="none" strike="noStrike">
              <a:solidFill>
                <a:schemeClr val="dk1"/>
              </a:solidFill>
              <a:latin typeface="Calibri"/>
              <a:ea typeface="Calibri"/>
              <a:cs typeface="Calibri"/>
              <a:sym typeface="Calibri"/>
            </a:endParaRPr>
          </a:p>
        </p:txBody>
      </p:sp>
      <p:sp>
        <p:nvSpPr>
          <p:cNvPr id="1552" name="Google Shape;1552;p60"/>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Dec 7, 1941 'a date which will live in infamy'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Secured a declaration of war on Japan within a day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Led the mobilization of the 'Arsenal of Democracy'</a:t>
            </a:r>
            <a:endParaRPr b="0" i="0" sz="1300" u="none" cap="none" strike="noStrike">
              <a:solidFill>
                <a:schemeClr val="dk1"/>
              </a:solidFill>
              <a:latin typeface="Calibri"/>
              <a:ea typeface="Calibri"/>
              <a:cs typeface="Calibri"/>
              <a:sym typeface="Calibri"/>
            </a:endParaRPr>
          </a:p>
        </p:txBody>
      </p:sp>
      <p:sp>
        <p:nvSpPr>
          <p:cNvPr id="1553" name="Google Shape;1553;p60"/>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0"/>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FDR's Infamy speech to show how leadership turns a shock into a national war effort.</a:t>
            </a:r>
            <a:endParaRPr b="0" i="0" sz="800" u="none" cap="none" strike="noStrike">
              <a:solidFill>
                <a:schemeClr val="dk1"/>
              </a:solidFill>
              <a:latin typeface="Calibri"/>
              <a:ea typeface="Calibri"/>
              <a:cs typeface="Calibri"/>
              <a:sym typeface="Calibri"/>
            </a:endParaRPr>
          </a:p>
        </p:txBody>
      </p:sp>
      <p:sp>
        <p:nvSpPr>
          <p:cNvPr id="1555" name="Google Shape;155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56" name="Google Shape;155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1" name="Shape 1561"/>
        <p:cNvGrpSpPr/>
        <p:nvPr/>
      </p:nvGrpSpPr>
      <p:grpSpPr>
        <a:xfrm>
          <a:off x="0" y="0"/>
          <a:ext cx="0" cy="0"/>
          <a:chOff x="0" y="0"/>
          <a:chExt cx="0" cy="0"/>
        </a:xfrm>
      </p:grpSpPr>
      <p:sp>
        <p:nvSpPr>
          <p:cNvPr id="1562" name="Google Shape;1562;p61"/>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US.48 · PRIMARY SOURCE ANALYSIS</a:t>
            </a:r>
            <a:endParaRPr b="0" i="0" sz="1200" u="none" cap="none" strike="noStrike">
              <a:solidFill>
                <a:schemeClr val="dk1"/>
              </a:solidFill>
              <a:latin typeface="Calibri"/>
              <a:ea typeface="Calibri"/>
              <a:cs typeface="Calibri"/>
              <a:sym typeface="Calibri"/>
            </a:endParaRPr>
          </a:p>
        </p:txBody>
      </p:sp>
      <p:sp>
        <p:nvSpPr>
          <p:cNvPr id="1564" name="Google Shape;1564;p61"/>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Day of Infamy Speech</a:t>
            </a:r>
            <a:endParaRPr b="0" i="0" sz="2500" u="none" cap="none" strike="noStrike">
              <a:solidFill>
                <a:schemeClr val="dk1"/>
              </a:solidFill>
              <a:latin typeface="Calibri"/>
              <a:ea typeface="Calibri"/>
              <a:cs typeface="Calibri"/>
              <a:sym typeface="Calibri"/>
            </a:endParaRPr>
          </a:p>
        </p:txBody>
      </p:sp>
      <p:sp>
        <p:nvSpPr>
          <p:cNvPr id="1565" name="Google Shape;1565;p61"/>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1"/>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567" name="Google Shape;1567;p61"/>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December 8, 1941</a:t>
            </a:r>
            <a:endParaRPr b="0" i="0" sz="1200" u="none" cap="none" strike="noStrike">
              <a:solidFill>
                <a:schemeClr val="dk1"/>
              </a:solidFill>
              <a:latin typeface="Calibri"/>
              <a:ea typeface="Calibri"/>
              <a:cs typeface="Calibri"/>
              <a:sym typeface="Calibri"/>
            </a:endParaRPr>
          </a:p>
        </p:txBody>
      </p:sp>
      <p:sp>
        <p:nvSpPr>
          <p:cNvPr id="1568" name="Google Shape;1568;p61"/>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1"/>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1"/>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300" u="none" cap="none" strike="noStrike">
              <a:solidFill>
                <a:schemeClr val="dk1"/>
              </a:solidFill>
              <a:latin typeface="Calibri"/>
              <a:ea typeface="Calibri"/>
              <a:cs typeface="Calibri"/>
              <a:sym typeface="Calibri"/>
            </a:endParaRPr>
          </a:p>
        </p:txBody>
      </p:sp>
      <p:sp>
        <p:nvSpPr>
          <p:cNvPr id="1571" name="Google Shape;1571;p61"/>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1"/>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573" name="Google Shape;1573;p61"/>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1"/>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575" name="Google Shape;1575;p61"/>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On December 7, 1941, Japan launched a surprise attack on the U.S. naval base at Pearl Harbor, Hawaii, killing more than 2,400 Americans and destroying or damaging much of the Pacific Fleet. The next day, President Roosevelt addressed Congress to ask for a declaration of war. His speech—delivered in just six minutes—is one of the most famous in American history and helped unite a divided country behind the war effort.</a:t>
            </a:r>
            <a:endParaRPr b="0" i="0" sz="1050" u="none" cap="none" strike="noStrike">
              <a:solidFill>
                <a:schemeClr val="dk1"/>
              </a:solidFill>
              <a:latin typeface="Calibri"/>
              <a:ea typeface="Calibri"/>
              <a:cs typeface="Calibri"/>
              <a:sym typeface="Calibri"/>
            </a:endParaRPr>
          </a:p>
        </p:txBody>
      </p:sp>
      <p:sp>
        <p:nvSpPr>
          <p:cNvPr id="1576" name="Google Shape;1576;p61"/>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1"/>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578" name="Google Shape;1578;p61"/>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Roosevelt, why was the Japanese attack particularly treacherous?</a:t>
            </a:r>
            <a:endParaRPr b="0" i="0" sz="1250" u="none" cap="none" strike="noStrike">
              <a:solidFill>
                <a:schemeClr val="dk1"/>
              </a:solidFill>
              <a:latin typeface="Calibri"/>
              <a:ea typeface="Calibri"/>
              <a:cs typeface="Calibri"/>
              <a:sym typeface="Calibri"/>
            </a:endParaRPr>
          </a:p>
        </p:txBody>
      </p:sp>
      <p:sp>
        <p:nvSpPr>
          <p:cNvPr id="1579" name="Google Shape;1579;p61"/>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1"/>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1"/>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582" name="Google Shape;1582;p61"/>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583" name="Google Shape;1583;p61"/>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584" name="Google Shape;1584;p61"/>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585" name="Google Shape;1585;p61"/>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1586" name="Google Shape;1586;p61"/>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587" name="Google Shape;1587;p61"/>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December 8, 1941</a:t>
            </a:r>
            <a:endParaRPr b="0" i="0" sz="950" u="none" cap="none" strike="noStrike">
              <a:solidFill>
                <a:schemeClr val="dk1"/>
              </a:solidFill>
              <a:latin typeface="Calibri"/>
              <a:ea typeface="Calibri"/>
              <a:cs typeface="Calibri"/>
              <a:sym typeface="Calibri"/>
            </a:endParaRPr>
          </a:p>
        </p:txBody>
      </p:sp>
      <p:sp>
        <p:nvSpPr>
          <p:cNvPr id="1588" name="Google Shape;1588;p61"/>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589" name="Google Shape;1589;p61"/>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590" name="Google Shape;1590;p61"/>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591" name="Google Shape;1591;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92" name="Google Shape;1592;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7" name="Shape 1597"/>
        <p:cNvGrpSpPr/>
        <p:nvPr/>
      </p:nvGrpSpPr>
      <p:grpSpPr>
        <a:xfrm>
          <a:off x="0" y="0"/>
          <a:ext cx="0" cy="0"/>
          <a:chOff x="0" y="0"/>
          <a:chExt cx="0" cy="0"/>
        </a:xfrm>
      </p:grpSpPr>
      <p:sp>
        <p:nvSpPr>
          <p:cNvPr id="1598" name="Google Shape;1598;p6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KEY VOCABULARY</a:t>
            </a:r>
            <a:endParaRPr b="0" i="0" sz="1200" u="none" cap="none" strike="noStrike">
              <a:solidFill>
                <a:schemeClr val="dk1"/>
              </a:solidFill>
              <a:latin typeface="Calibri"/>
              <a:ea typeface="Calibri"/>
              <a:cs typeface="Calibri"/>
              <a:sym typeface="Calibri"/>
            </a:endParaRPr>
          </a:p>
        </p:txBody>
      </p:sp>
      <p:sp>
        <p:nvSpPr>
          <p:cNvPr id="1600" name="Google Shape;1600;p6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601" name="Google Shape;1601;p62"/>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62"/>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62"/>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1604" name="Google Shape;1604;p62"/>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1605" name="Google Shape;1605;p62"/>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1606" name="Google Shape;1606;p62"/>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 name="Google Shape;1607;p62"/>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1608" name="Google Shape;1608;p62"/>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1609" name="Google Shape;1609;p62"/>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2"/>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62"/>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1612" name="Google Shape;1612;p62"/>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1613" name="Google Shape;1613;p62"/>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1614" name="Google Shape;1614;p62"/>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62"/>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1616" name="Google Shape;1616;p62"/>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1617" name="Google Shape;1617;p62"/>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2"/>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2"/>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620" name="Google Shape;1620;p62"/>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621" name="Google Shape;1621;p62"/>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622" name="Google Shape;1622;p62"/>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62"/>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624" name="Google Shape;1624;p62"/>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625" name="Google Shape;1625;p62"/>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62"/>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62"/>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1628" name="Google Shape;1628;p62"/>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1629" name="Google Shape;1629;p62"/>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1630" name="Google Shape;1630;p62"/>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62"/>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632" name="Google Shape;1632;p62"/>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1633" name="Google Shape;1633;p62"/>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2"/>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2"/>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1636" name="Google Shape;1636;p62"/>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1637" name="Google Shape;1637;p62"/>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1638" name="Google Shape;1638;p62"/>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62"/>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LA</a:t>
            </a:r>
            <a:endParaRPr b="0" i="0" sz="1300" u="none" cap="none" strike="noStrike">
              <a:solidFill>
                <a:schemeClr val="dk1"/>
              </a:solidFill>
              <a:latin typeface="Calibri"/>
              <a:ea typeface="Calibri"/>
              <a:cs typeface="Calibri"/>
              <a:sym typeface="Calibri"/>
            </a:endParaRPr>
          </a:p>
        </p:txBody>
      </p:sp>
      <p:sp>
        <p:nvSpPr>
          <p:cNvPr id="1640" name="Google Shape;1640;p62"/>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1641" name="Google Shape;1641;p62"/>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62"/>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62"/>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Nazi-Soviet Pact (1939)</a:t>
            </a:r>
            <a:endParaRPr b="0" i="0" sz="1350" u="none" cap="none" strike="noStrike">
              <a:solidFill>
                <a:schemeClr val="dk1"/>
              </a:solidFill>
              <a:latin typeface="Calibri"/>
              <a:ea typeface="Calibri"/>
              <a:cs typeface="Calibri"/>
              <a:sym typeface="Calibri"/>
            </a:endParaRPr>
          </a:p>
        </p:txBody>
      </p:sp>
      <p:sp>
        <p:nvSpPr>
          <p:cNvPr id="1644" name="Google Shape;1644;p62"/>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NOT-see SOH-vee-et pakt</a:t>
            </a:r>
            <a:endParaRPr b="0" i="0" sz="850" u="none" cap="none" strike="noStrike">
              <a:solidFill>
                <a:schemeClr val="dk1"/>
              </a:solidFill>
              <a:latin typeface="Calibri"/>
              <a:ea typeface="Calibri"/>
              <a:cs typeface="Calibri"/>
              <a:sym typeface="Calibri"/>
            </a:endParaRPr>
          </a:p>
        </p:txBody>
      </p:sp>
      <p:sp>
        <p:nvSpPr>
          <p:cNvPr id="1645" name="Google Shape;1645;p62"/>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Pacto Nazi-Soviético (1939)</a:t>
            </a:r>
            <a:endParaRPr b="0" i="0" sz="1000" u="none" cap="none" strike="noStrike">
              <a:solidFill>
                <a:schemeClr val="dk1"/>
              </a:solidFill>
              <a:latin typeface="Calibri"/>
              <a:ea typeface="Calibri"/>
              <a:cs typeface="Calibri"/>
              <a:sym typeface="Calibri"/>
            </a:endParaRPr>
          </a:p>
        </p:txBody>
      </p:sp>
      <p:sp>
        <p:nvSpPr>
          <p:cNvPr id="1646" name="Google Shape;1646;p62"/>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62"/>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NP</a:t>
            </a:r>
            <a:endParaRPr b="0" i="0" sz="1300" u="none" cap="none" strike="noStrike">
              <a:solidFill>
                <a:schemeClr val="dk1"/>
              </a:solidFill>
              <a:latin typeface="Calibri"/>
              <a:ea typeface="Calibri"/>
              <a:cs typeface="Calibri"/>
              <a:sym typeface="Calibri"/>
            </a:endParaRPr>
          </a:p>
        </p:txBody>
      </p:sp>
      <p:sp>
        <p:nvSpPr>
          <p:cNvPr id="1648" name="Google Shape;1648;p62"/>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Non-aggression agreement between Hitler and Stalin (August 1939) that shocked the world. Secret provisions divided Poland and Eastern Europe between Germany and the Soviet Union.</a:t>
            </a:r>
            <a:endParaRPr b="0" i="0" sz="1100" u="none" cap="none" strike="noStrike">
              <a:solidFill>
                <a:schemeClr val="dk1"/>
              </a:solidFill>
              <a:latin typeface="Calibri"/>
              <a:ea typeface="Calibri"/>
              <a:cs typeface="Calibri"/>
              <a:sym typeface="Calibri"/>
            </a:endParaRPr>
          </a:p>
        </p:txBody>
      </p:sp>
      <p:sp>
        <p:nvSpPr>
          <p:cNvPr id="1649" name="Google Shape;1649;p62"/>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650" name="Google Shape;1650;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51" name="Google Shape;1651;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56" name="Shape 1656"/>
        <p:cNvGrpSpPr/>
        <p:nvPr/>
      </p:nvGrpSpPr>
      <p:grpSpPr>
        <a:xfrm>
          <a:off x="0" y="0"/>
          <a:ext cx="0" cy="0"/>
          <a:chOff x="0" y="0"/>
          <a:chExt cx="0" cy="0"/>
        </a:xfrm>
      </p:grpSpPr>
      <p:sp>
        <p:nvSpPr>
          <p:cNvPr id="1657" name="Google Shape;1657;p6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6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GUIDED PRACTICE — WE DO IT TOGETHER</a:t>
            </a:r>
            <a:endParaRPr b="0" i="0" sz="1200" u="none" cap="none" strike="noStrike">
              <a:solidFill>
                <a:schemeClr val="dk1"/>
              </a:solidFill>
              <a:latin typeface="Calibri"/>
              <a:ea typeface="Calibri"/>
              <a:cs typeface="Calibri"/>
              <a:sym typeface="Calibri"/>
            </a:endParaRPr>
          </a:p>
        </p:txBody>
      </p:sp>
      <p:sp>
        <p:nvSpPr>
          <p:cNvPr id="1659" name="Google Shape;1659;p63"/>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660" name="Google Shape;1660;p63"/>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6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causes of a decision</a:t>
            </a:r>
            <a:endParaRPr b="0" i="0" sz="1100" u="none" cap="none" strike="noStrike">
              <a:solidFill>
                <a:schemeClr val="dk1"/>
              </a:solidFill>
              <a:latin typeface="Calibri"/>
              <a:ea typeface="Calibri"/>
              <a:cs typeface="Calibri"/>
              <a:sym typeface="Calibri"/>
            </a:endParaRPr>
          </a:p>
        </p:txBody>
      </p:sp>
      <p:sp>
        <p:nvSpPr>
          <p:cNvPr id="1662" name="Google Shape;1662;p63"/>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3"/>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Pearl Harbor unite Americans behind war?</a:t>
            </a:r>
            <a:endParaRPr b="0" i="0" sz="1500" u="none" cap="none" strike="noStrike">
              <a:solidFill>
                <a:schemeClr val="dk1"/>
              </a:solidFill>
              <a:latin typeface="Calibri"/>
              <a:ea typeface="Calibri"/>
              <a:cs typeface="Calibri"/>
              <a:sym typeface="Calibri"/>
            </a:endParaRPr>
          </a:p>
        </p:txBody>
      </p:sp>
      <p:sp>
        <p:nvSpPr>
          <p:cNvPr id="1664" name="Google Shape;1664;p63"/>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63"/>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666" name="Google Shape;1666;p63"/>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 surprise attack on U.S. soil ended the debate over neutrality. FDR's 'infamy' framing turned shock into resolve, and Congress declared war almost unanimously.</a:t>
            </a:r>
            <a:endParaRPr b="0" i="0" sz="1450" u="none" cap="none" strike="noStrike">
              <a:solidFill>
                <a:schemeClr val="dk1"/>
              </a:solidFill>
              <a:latin typeface="Calibri"/>
              <a:ea typeface="Calibri"/>
              <a:cs typeface="Calibri"/>
              <a:sym typeface="Calibri"/>
            </a:endParaRPr>
          </a:p>
        </p:txBody>
      </p:sp>
      <p:sp>
        <p:nvSpPr>
          <p:cNvPr id="1667" name="Google Shape;1667;p63"/>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3"/>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669" name="Google Shape;1669;p63"/>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the phrase in the speech built to unify the country.</a:t>
            </a:r>
            <a:endParaRPr b="0" i="0" sz="1300" u="none" cap="none" strike="noStrike">
              <a:solidFill>
                <a:schemeClr val="dk1"/>
              </a:solidFill>
              <a:latin typeface="Calibri"/>
              <a:ea typeface="Calibri"/>
              <a:cs typeface="Calibri"/>
              <a:sym typeface="Calibri"/>
            </a:endParaRPr>
          </a:p>
        </p:txBody>
      </p:sp>
      <p:sp>
        <p:nvSpPr>
          <p:cNvPr id="1670" name="Google Shape;1670;p63"/>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one word choice moved public opinion, citing the text.</a:t>
            </a:r>
            <a:endParaRPr b="0" i="0" sz="1200" u="none" cap="none" strike="noStrike">
              <a:solidFill>
                <a:schemeClr val="dk1"/>
              </a:solidFill>
              <a:latin typeface="Calibri"/>
              <a:ea typeface="Calibri"/>
              <a:cs typeface="Calibri"/>
              <a:sym typeface="Calibri"/>
            </a:endParaRPr>
          </a:p>
        </p:txBody>
      </p:sp>
      <p:sp>
        <p:nvSpPr>
          <p:cNvPr id="1671" name="Google Shape;1671;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72" name="Google Shape;1672;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77" name="Shape 1677"/>
        <p:cNvGrpSpPr/>
        <p:nvPr/>
      </p:nvGrpSpPr>
      <p:grpSpPr>
        <a:xfrm>
          <a:off x="0" y="0"/>
          <a:ext cx="0" cy="0"/>
          <a:chOff x="0" y="0"/>
          <a:chExt cx="0" cy="0"/>
        </a:xfrm>
      </p:grpSpPr>
      <p:sp>
        <p:nvSpPr>
          <p:cNvPr id="1678" name="Google Shape;1678;p6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STUDENT ACTIVITY</a:t>
            </a:r>
            <a:endParaRPr b="0" i="0" sz="1200" u="none" cap="none" strike="noStrike">
              <a:solidFill>
                <a:schemeClr val="dk1"/>
              </a:solidFill>
              <a:latin typeface="Calibri"/>
              <a:ea typeface="Calibri"/>
              <a:cs typeface="Calibri"/>
              <a:sym typeface="Calibri"/>
            </a:endParaRPr>
          </a:p>
        </p:txBody>
      </p:sp>
      <p:sp>
        <p:nvSpPr>
          <p:cNvPr id="1680" name="Google Shape;1680;p64"/>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Two Theaters, One War — Why America Entered</a:t>
            </a:r>
            <a:endParaRPr b="0" i="0" sz="2400" u="none" cap="none" strike="noStrike">
              <a:solidFill>
                <a:schemeClr val="dk1"/>
              </a:solidFill>
              <a:latin typeface="Calibri"/>
              <a:ea typeface="Calibri"/>
              <a:cs typeface="Calibri"/>
              <a:sym typeface="Calibri"/>
            </a:endParaRPr>
          </a:p>
        </p:txBody>
      </p:sp>
      <p:sp>
        <p:nvSpPr>
          <p:cNvPr id="1681" name="Google Shape;1681;p64"/>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64"/>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683" name="Google Shape;1683;p64"/>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685" name="Google Shape;1685;p64"/>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687" name="Google Shape;1687;p64"/>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FDR's 'Day of Infamy' speech excerpt and review the Pearl Harbor photograph. Build a two-column chart: EUROPEAN THEATER FACTORS (Axis aggression, fall of France, threat to Britain, aid to Allies) and PACIFIC THEATER FACTORS (Japanese expansion, U.S. embargo, the attack on Pearl Harbor). List at least two per column. Then write a one-sentence claim on whether Pearl Harbor caused U.S. entry or simply triggered a decision that was already coming.</a:t>
            </a:r>
            <a:endParaRPr b="0" i="0" sz="1350" u="none" cap="none" strike="noStrike">
              <a:solidFill>
                <a:schemeClr val="dk1"/>
              </a:solidFill>
              <a:latin typeface="Calibri"/>
              <a:ea typeface="Calibri"/>
              <a:cs typeface="Calibri"/>
              <a:sym typeface="Calibri"/>
            </a:endParaRPr>
          </a:p>
        </p:txBody>
      </p:sp>
      <p:sp>
        <p:nvSpPr>
          <p:cNvPr id="1688" name="Google Shape;1688;p64"/>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64"/>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690" name="Google Shape;1690;p64"/>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250"/>
              <a:buFont typeface="Calibri"/>
              <a:buNone/>
            </a:pPr>
            <a:r>
              <a:rPr b="0" i="0" lang="en-US" sz="1250" u="none" cap="none" strike="noStrike">
                <a:solidFill>
                  <a:srgbClr val="FFFFFF"/>
                </a:solidFill>
                <a:latin typeface="Calibri"/>
                <a:ea typeface="Calibri"/>
                <a:cs typeface="Calibri"/>
                <a:sym typeface="Calibri"/>
              </a:rPr>
              <a:t>Completed two-theater factors chart (2+ per column) AND a one-sentence evidence-based claim about the cause of U.S. entry.</a:t>
            </a:r>
            <a:endParaRPr b="0" i="0" sz="1250" u="none" cap="none" strike="noStrike">
              <a:solidFill>
                <a:schemeClr val="dk1"/>
              </a:solidFill>
              <a:latin typeface="Calibri"/>
              <a:ea typeface="Calibri"/>
              <a:cs typeface="Calibri"/>
              <a:sym typeface="Calibri"/>
            </a:endParaRPr>
          </a:p>
        </p:txBody>
      </p:sp>
      <p:sp>
        <p:nvSpPr>
          <p:cNvPr id="1691" name="Google Shape;1691;p64"/>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64"/>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693" name="Google Shape;1693;p64"/>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'European Theater' and 'Pacific Theater' with a word bank of factors to sort. Honors: Write a paragraph using the 'Day of Infamy' speech to explain how FDR united the country behind a declaration of war.</a:t>
            </a:r>
            <a:endParaRPr b="0" i="0" sz="1000" u="none" cap="none" strike="noStrike">
              <a:solidFill>
                <a:schemeClr val="dk1"/>
              </a:solidFill>
              <a:latin typeface="Calibri"/>
              <a:ea typeface="Calibri"/>
              <a:cs typeface="Calibri"/>
              <a:sym typeface="Calibri"/>
            </a:endParaRPr>
          </a:p>
        </p:txBody>
      </p:sp>
      <p:sp>
        <p:nvSpPr>
          <p:cNvPr id="1694" name="Google Shape;1694;p64"/>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cornell-notes/unit-6/us48-american-entry-wwii.pdf</a:t>
            </a:r>
            <a:endParaRPr b="0" i="0" sz="1050" u="none" cap="none" strike="noStrike">
              <a:solidFill>
                <a:schemeClr val="dk1"/>
              </a:solidFill>
              <a:latin typeface="Calibri"/>
              <a:ea typeface="Calibri"/>
              <a:cs typeface="Calibri"/>
              <a:sym typeface="Calibri"/>
            </a:endParaRPr>
          </a:p>
        </p:txBody>
      </p:sp>
      <p:sp>
        <p:nvSpPr>
          <p:cNvPr id="1695" name="Google Shape;1695;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96" name="Google Shape;1696;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01" name="Shape 1701"/>
        <p:cNvGrpSpPr/>
        <p:nvPr/>
      </p:nvGrpSpPr>
      <p:grpSpPr>
        <a:xfrm>
          <a:off x="0" y="0"/>
          <a:ext cx="0" cy="0"/>
          <a:chOff x="0" y="0"/>
          <a:chExt cx="0" cy="0"/>
        </a:xfrm>
      </p:grpSpPr>
      <p:sp>
        <p:nvSpPr>
          <p:cNvPr id="1702" name="Google Shape;1702;p6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CHECK FOR UNDERSTANDING</a:t>
            </a:r>
            <a:endParaRPr b="0" i="0" sz="1200" u="none" cap="none" strike="noStrike">
              <a:solidFill>
                <a:schemeClr val="dk1"/>
              </a:solidFill>
              <a:latin typeface="Calibri"/>
              <a:ea typeface="Calibri"/>
              <a:cs typeface="Calibri"/>
              <a:sym typeface="Calibri"/>
            </a:endParaRPr>
          </a:p>
        </p:txBody>
      </p:sp>
      <p:sp>
        <p:nvSpPr>
          <p:cNvPr id="1704" name="Google Shape;1704;p65"/>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05" name="Google Shape;1705;p65"/>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5"/>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707" name="Google Shape;1707;p65"/>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709" name="Google Shape;1709;p65"/>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5"/>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policy of neutrality evolve before Pearl Harbor?</a:t>
            </a:r>
            <a:endParaRPr b="0" i="0" sz="1600" u="none" cap="none" strike="noStrike">
              <a:solidFill>
                <a:schemeClr val="dk1"/>
              </a:solidFill>
              <a:latin typeface="Calibri"/>
              <a:ea typeface="Calibri"/>
              <a:cs typeface="Calibri"/>
              <a:sym typeface="Calibri"/>
            </a:endParaRPr>
          </a:p>
        </p:txBody>
      </p:sp>
      <p:sp>
        <p:nvSpPr>
          <p:cNvPr id="1711" name="Google Shape;1711;p65"/>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65"/>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65"/>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714" name="Google Shape;1714;p65"/>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From strict isolationism to "Arsenal of Democracy" providing aid to the Allies.</a:t>
            </a:r>
            <a:endParaRPr b="0" i="0" sz="1350" u="none" cap="none" strike="noStrike">
              <a:solidFill>
                <a:schemeClr val="dk1"/>
              </a:solidFill>
              <a:latin typeface="Calibri"/>
              <a:ea typeface="Calibri"/>
              <a:cs typeface="Calibri"/>
              <a:sym typeface="Calibri"/>
            </a:endParaRPr>
          </a:p>
        </p:txBody>
      </p:sp>
      <p:sp>
        <p:nvSpPr>
          <p:cNvPr id="1715" name="Google Shape;1715;p65"/>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5"/>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5"/>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718" name="Google Shape;1718;p65"/>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As a sudden, deliberate, and premeditated attack requiring righteous response.</a:t>
            </a:r>
            <a:endParaRPr b="0" i="0" sz="1350" u="none" cap="none" strike="noStrike">
              <a:solidFill>
                <a:schemeClr val="dk1"/>
              </a:solidFill>
              <a:latin typeface="Calibri"/>
              <a:ea typeface="Calibri"/>
              <a:cs typeface="Calibri"/>
              <a:sym typeface="Calibri"/>
            </a:endParaRPr>
          </a:p>
        </p:txBody>
      </p:sp>
      <p:sp>
        <p:nvSpPr>
          <p:cNvPr id="1719" name="Google Shape;1719;p65"/>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65"/>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65"/>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722" name="Google Shape;1722;p65"/>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Isolationist organization opposing U.S. entry into WWII before Pearl Harbor.</a:t>
            </a:r>
            <a:endParaRPr b="0" i="0" sz="1350" u="none" cap="none" strike="noStrike">
              <a:solidFill>
                <a:schemeClr val="dk1"/>
              </a:solidFill>
              <a:latin typeface="Calibri"/>
              <a:ea typeface="Calibri"/>
              <a:cs typeface="Calibri"/>
              <a:sym typeface="Calibri"/>
            </a:endParaRPr>
          </a:p>
        </p:txBody>
      </p:sp>
      <p:sp>
        <p:nvSpPr>
          <p:cNvPr id="1723" name="Google Shape;1723;p65"/>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65"/>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5"/>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726" name="Google Shape;1726;p65"/>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Unified Americans behind the war effort and ended isolationist sentiment overnight.</a:t>
            </a:r>
            <a:endParaRPr b="0" i="0" sz="1350" u="none" cap="none" strike="noStrike">
              <a:solidFill>
                <a:schemeClr val="dk1"/>
              </a:solidFill>
              <a:latin typeface="Calibri"/>
              <a:ea typeface="Calibri"/>
              <a:cs typeface="Calibri"/>
              <a:sym typeface="Calibri"/>
            </a:endParaRPr>
          </a:p>
        </p:txBody>
      </p:sp>
      <p:sp>
        <p:nvSpPr>
          <p:cNvPr id="1727" name="Google Shape;1727;p65"/>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65"/>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729" name="Google Shape;1729;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30" name="Google Shape;1730;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35" name="Shape 1735"/>
        <p:cNvGrpSpPr/>
        <p:nvPr/>
      </p:nvGrpSpPr>
      <p:grpSpPr>
        <a:xfrm>
          <a:off x="0" y="0"/>
          <a:ext cx="0" cy="0"/>
          <a:chOff x="0" y="0"/>
          <a:chExt cx="0" cy="0"/>
        </a:xfrm>
      </p:grpSpPr>
      <p:sp>
        <p:nvSpPr>
          <p:cNvPr id="1736" name="Google Shape;1736;p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ANSWER REVEAL</a:t>
            </a:r>
            <a:endParaRPr b="0" i="0" sz="1200" u="none" cap="none" strike="noStrike">
              <a:solidFill>
                <a:schemeClr val="dk1"/>
              </a:solidFill>
              <a:latin typeface="Calibri"/>
              <a:ea typeface="Calibri"/>
              <a:cs typeface="Calibri"/>
              <a:sym typeface="Calibri"/>
            </a:endParaRPr>
          </a:p>
        </p:txBody>
      </p:sp>
      <p:sp>
        <p:nvSpPr>
          <p:cNvPr id="1738" name="Google Shape;1738;p66"/>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39" name="Google Shape;1739;p66"/>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6"/>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741" name="Google Shape;1741;p66"/>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6"/>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policy of neutrality evolve before Pearl Harbor?</a:t>
            </a:r>
            <a:endParaRPr b="0" i="0" sz="1500" u="none" cap="none" strike="noStrike">
              <a:solidFill>
                <a:schemeClr val="dk1"/>
              </a:solidFill>
              <a:latin typeface="Calibri"/>
              <a:ea typeface="Calibri"/>
              <a:cs typeface="Calibri"/>
              <a:sym typeface="Calibri"/>
            </a:endParaRPr>
          </a:p>
        </p:txBody>
      </p:sp>
      <p:sp>
        <p:nvSpPr>
          <p:cNvPr id="1743" name="Google Shape;1743;p66"/>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6"/>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6"/>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746" name="Google Shape;1746;p66"/>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From strict isolationism to "Arsenal of Democracy" providing aid to the Allies.</a:t>
            </a:r>
            <a:endParaRPr b="0" i="0" sz="1300" u="none" cap="none" strike="noStrike">
              <a:solidFill>
                <a:schemeClr val="dk1"/>
              </a:solidFill>
              <a:latin typeface="Calibri"/>
              <a:ea typeface="Calibri"/>
              <a:cs typeface="Calibri"/>
              <a:sym typeface="Calibri"/>
            </a:endParaRPr>
          </a:p>
        </p:txBody>
      </p:sp>
      <p:sp>
        <p:nvSpPr>
          <p:cNvPr id="1747" name="Google Shape;1747;p66"/>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48" name="Google Shape;1748;p66"/>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6"/>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6"/>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751" name="Google Shape;1751;p66"/>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As a sudden, deliberate, and premeditated attack requiring righteous response.</a:t>
            </a:r>
            <a:endParaRPr b="0" i="0" sz="1300" u="none" cap="none" strike="noStrike">
              <a:solidFill>
                <a:schemeClr val="dk1"/>
              </a:solidFill>
              <a:latin typeface="Calibri"/>
              <a:ea typeface="Calibri"/>
              <a:cs typeface="Calibri"/>
              <a:sym typeface="Calibri"/>
            </a:endParaRPr>
          </a:p>
        </p:txBody>
      </p:sp>
      <p:sp>
        <p:nvSpPr>
          <p:cNvPr id="1752" name="Google Shape;1752;p66"/>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66"/>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66"/>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755" name="Google Shape;1755;p66"/>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Isolationist organization opposing U.S. entry into WWII before Pearl Harbor.</a:t>
            </a:r>
            <a:endParaRPr b="0" i="0" sz="1300" u="none" cap="none" strike="noStrike">
              <a:solidFill>
                <a:schemeClr val="dk1"/>
              </a:solidFill>
              <a:latin typeface="Calibri"/>
              <a:ea typeface="Calibri"/>
              <a:cs typeface="Calibri"/>
              <a:sym typeface="Calibri"/>
            </a:endParaRPr>
          </a:p>
        </p:txBody>
      </p:sp>
      <p:sp>
        <p:nvSpPr>
          <p:cNvPr id="1756" name="Google Shape;1756;p66"/>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6"/>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6"/>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759" name="Google Shape;1759;p66"/>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Unified Americans behind the war effort and ended isolationist sentiment overnight.</a:t>
            </a:r>
            <a:endParaRPr b="0" i="0" sz="1300" u="none" cap="none" strike="noStrike">
              <a:solidFill>
                <a:schemeClr val="dk1"/>
              </a:solidFill>
              <a:latin typeface="Calibri"/>
              <a:ea typeface="Calibri"/>
              <a:cs typeface="Calibri"/>
              <a:sym typeface="Calibri"/>
            </a:endParaRPr>
          </a:p>
        </p:txBody>
      </p:sp>
      <p:sp>
        <p:nvSpPr>
          <p:cNvPr id="1760" name="Google Shape;1760;p66"/>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6"/>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a:t>
            </a:r>
            <a:endParaRPr b="0" i="0" sz="1150" u="none" cap="none" strike="noStrike">
              <a:solidFill>
                <a:schemeClr val="dk1"/>
              </a:solidFill>
              <a:latin typeface="Calibri"/>
              <a:ea typeface="Calibri"/>
              <a:cs typeface="Calibri"/>
              <a:sym typeface="Calibri"/>
            </a:endParaRPr>
          </a:p>
        </p:txBody>
      </p:sp>
      <p:sp>
        <p:nvSpPr>
          <p:cNvPr id="1762" name="Google Shape;1762;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3" name="Google Shape;1763;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8" name="Shape 1768"/>
        <p:cNvGrpSpPr/>
        <p:nvPr/>
      </p:nvGrpSpPr>
      <p:grpSpPr>
        <a:xfrm>
          <a:off x="0" y="0"/>
          <a:ext cx="0" cy="0"/>
          <a:chOff x="0" y="0"/>
          <a:chExt cx="0" cy="0"/>
        </a:xfrm>
      </p:grpSpPr>
      <p:sp>
        <p:nvSpPr>
          <p:cNvPr id="1769" name="Google Shape;1769;p6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WRAP-UP</a:t>
            </a:r>
            <a:endParaRPr b="0" i="0" sz="1200" u="none" cap="none" strike="noStrike">
              <a:solidFill>
                <a:schemeClr val="dk1"/>
              </a:solidFill>
              <a:latin typeface="Calibri"/>
              <a:ea typeface="Calibri"/>
              <a:cs typeface="Calibri"/>
              <a:sym typeface="Calibri"/>
            </a:endParaRPr>
          </a:p>
        </p:txBody>
      </p:sp>
      <p:sp>
        <p:nvSpPr>
          <p:cNvPr id="1771" name="Google Shape;1771;p67"/>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772" name="Google Shape;1772;p67"/>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7"/>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774" name="Google Shape;1774;p67"/>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European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Pacific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Attack on Pearl Harbor (December 7,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Consequences of American Entry</a:t>
            </a:r>
            <a:endParaRPr b="0" i="0" sz="1500" u="none" cap="none" strike="noStrike">
              <a:solidFill>
                <a:schemeClr val="dk1"/>
              </a:solidFill>
              <a:latin typeface="Calibri"/>
              <a:ea typeface="Calibri"/>
              <a:cs typeface="Calibri"/>
              <a:sym typeface="Calibri"/>
            </a:endParaRPr>
          </a:p>
        </p:txBody>
      </p:sp>
      <p:sp>
        <p:nvSpPr>
          <p:cNvPr id="1775" name="Google Shape;1775;p67"/>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7"/>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777" name="Google Shape;1777;p67"/>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Pearl Harbor cause U.S. entry into WWII, or simply trigger a decision that was already coming? Argue with evidence. (SSP.04)</a:t>
            </a:r>
            <a:endParaRPr b="0" i="0" sz="1150" u="none" cap="none" strike="noStrike">
              <a:solidFill>
                <a:schemeClr val="dk1"/>
              </a:solidFill>
              <a:latin typeface="Calibri"/>
              <a:ea typeface="Calibri"/>
              <a:cs typeface="Calibri"/>
              <a:sym typeface="Calibri"/>
            </a:endParaRPr>
          </a:p>
        </p:txBody>
      </p:sp>
      <p:sp>
        <p:nvSpPr>
          <p:cNvPr id="1778" name="Google Shape;1778;p67"/>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7"/>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780" name="Google Shape;1780;p67"/>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7"/>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782" name="Google Shape;1782;p67"/>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reasons the United States entered World War II. Address both the European and Pacific theaters.</a:t>
            </a:r>
            <a:endParaRPr b="0" i="0" sz="1350" u="none" cap="none" strike="noStrike">
              <a:solidFill>
                <a:schemeClr val="dk1"/>
              </a:solidFill>
              <a:latin typeface="Calibri"/>
              <a:ea typeface="Calibri"/>
              <a:cs typeface="Calibri"/>
              <a:sym typeface="Calibri"/>
            </a:endParaRPr>
          </a:p>
        </p:txBody>
      </p:sp>
      <p:cxnSp>
        <p:nvCxnSpPr>
          <p:cNvPr id="1783" name="Google Shape;1783;p67"/>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4" name="Google Shape;1784;p67"/>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5" name="Google Shape;1785;p67"/>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786" name="Google Shape;178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87" name="Google Shape;178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92" name="Shape 1792"/>
        <p:cNvGrpSpPr/>
        <p:nvPr/>
      </p:nvGrpSpPr>
      <p:grpSpPr>
        <a:xfrm>
          <a:off x="0" y="0"/>
          <a:ext cx="0" cy="0"/>
          <a:chOff x="0" y="0"/>
          <a:chExt cx="0" cy="0"/>
        </a:xfrm>
      </p:grpSpPr>
      <p:sp>
        <p:nvSpPr>
          <p:cNvPr id="1793" name="Google Shape;1793;p68"/>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8"/>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8"/>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796" name="Google Shape;1796;p68"/>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US.49</a:t>
            </a:r>
            <a:endParaRPr b="0" i="0" sz="8800" u="none" cap="none" strike="noStrike">
              <a:solidFill>
                <a:schemeClr val="dk1"/>
              </a:solidFill>
              <a:latin typeface="Calibri"/>
              <a:ea typeface="Calibri"/>
              <a:cs typeface="Calibri"/>
              <a:sym typeface="Calibri"/>
            </a:endParaRPr>
          </a:p>
        </p:txBody>
      </p:sp>
      <p:sp>
        <p:nvSpPr>
          <p:cNvPr id="1797" name="Google Shape;1797;p68"/>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WWII Leaders &amp; Key Figures</a:t>
            </a:r>
            <a:endParaRPr b="0" i="0" sz="3000" u="none" cap="none" strike="noStrike">
              <a:solidFill>
                <a:schemeClr val="dk1"/>
              </a:solidFill>
              <a:latin typeface="Calibri"/>
              <a:ea typeface="Calibri"/>
              <a:cs typeface="Calibri"/>
              <a:sym typeface="Calibri"/>
            </a:endParaRPr>
          </a:p>
        </p:txBody>
      </p:sp>
      <p:sp>
        <p:nvSpPr>
          <p:cNvPr id="1798" name="Google Shape;1798;p68"/>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799" name="Google Shape;1799;p68"/>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8"/>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801" name="Google Shape;1801;p68"/>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802" name="Google Shape;1802;p68"/>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8"/>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804" name="Google Shape;1804;p68"/>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805" name="Google Shape;1805;p68"/>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8"/>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1807" name="Google Shape;1807;p68"/>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1808" name="Google Shape;1808;p68"/>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8"/>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810" name="Google Shape;1810;p68"/>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150" u="none" cap="none" strike="noStrike">
              <a:solidFill>
                <a:schemeClr val="dk1"/>
              </a:solidFill>
              <a:latin typeface="Calibri"/>
              <a:ea typeface="Calibri"/>
              <a:cs typeface="Calibri"/>
              <a:sym typeface="Calibri"/>
            </a:endParaRPr>
          </a:p>
        </p:txBody>
      </p:sp>
      <p:sp>
        <p:nvSpPr>
          <p:cNvPr id="1811" name="Google Shape;1811;p68"/>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8"/>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813" name="Google Shape;1813;p68"/>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250" u="none" cap="none" strike="noStrike">
              <a:solidFill>
                <a:schemeClr val="dk1"/>
              </a:solidFill>
              <a:latin typeface="Calibri"/>
              <a:ea typeface="Calibri"/>
              <a:cs typeface="Calibri"/>
              <a:sym typeface="Calibri"/>
            </a:endParaRPr>
          </a:p>
        </p:txBody>
      </p:sp>
      <p:sp>
        <p:nvSpPr>
          <p:cNvPr id="1814" name="Google Shape;1814;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15" name="Google Shape;1815;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20" name="Shape 1820"/>
        <p:cNvGrpSpPr/>
        <p:nvPr/>
      </p:nvGrpSpPr>
      <p:grpSpPr>
        <a:xfrm>
          <a:off x="0" y="0"/>
          <a:ext cx="0" cy="0"/>
          <a:chOff x="0" y="0"/>
          <a:chExt cx="0" cy="0"/>
        </a:xfrm>
      </p:grpSpPr>
      <p:sp>
        <p:nvSpPr>
          <p:cNvPr id="1821" name="Google Shape;1821;p6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QUICK REVIEW</a:t>
            </a:r>
            <a:endParaRPr b="0" i="0" sz="1200" u="none" cap="none" strike="noStrike">
              <a:solidFill>
                <a:schemeClr val="dk1"/>
              </a:solidFill>
              <a:latin typeface="Calibri"/>
              <a:ea typeface="Calibri"/>
              <a:cs typeface="Calibri"/>
              <a:sym typeface="Calibri"/>
            </a:endParaRPr>
          </a:p>
        </p:txBody>
      </p:sp>
      <p:sp>
        <p:nvSpPr>
          <p:cNvPr id="1823" name="Google Shape;1823;p6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24" name="Google Shape;1824;p69"/>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25" name="Google Shape;1825;p69"/>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69"/>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69"/>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28" name="Google Shape;1828;p69"/>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What happened on December 7, 1941?</a:t>
            </a:r>
            <a:endParaRPr b="0" i="0" sz="1350" u="none" cap="none" strike="noStrike">
              <a:solidFill>
                <a:schemeClr val="dk1"/>
              </a:solidFill>
              <a:latin typeface="Calibri"/>
              <a:ea typeface="Calibri"/>
              <a:cs typeface="Calibri"/>
              <a:sym typeface="Calibri"/>
            </a:endParaRPr>
          </a:p>
        </p:txBody>
      </p:sp>
      <p:sp>
        <p:nvSpPr>
          <p:cNvPr id="1829" name="Google Shape;1829;p69"/>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69"/>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9"/>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832" name="Google Shape;1832;p69"/>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Why did the U.S. declare war after Pearl Harbor?</a:t>
            </a:r>
            <a:endParaRPr b="0" i="0" sz="1350" u="none" cap="none" strike="noStrike">
              <a:solidFill>
                <a:schemeClr val="dk1"/>
              </a:solidFill>
              <a:latin typeface="Calibri"/>
              <a:ea typeface="Calibri"/>
              <a:cs typeface="Calibri"/>
              <a:sym typeface="Calibri"/>
            </a:endParaRPr>
          </a:p>
        </p:txBody>
      </p:sp>
      <p:sp>
        <p:nvSpPr>
          <p:cNvPr id="1833" name="Google Shape;1833;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34" name="Google Shape;1834;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39" name="Shape 1839"/>
        <p:cNvGrpSpPr/>
        <p:nvPr/>
      </p:nvGrpSpPr>
      <p:grpSpPr>
        <a:xfrm>
          <a:off x="0" y="0"/>
          <a:ext cx="0" cy="0"/>
          <a:chOff x="0" y="0"/>
          <a:chExt cx="0" cy="0"/>
        </a:xfrm>
      </p:grpSpPr>
      <p:sp>
        <p:nvSpPr>
          <p:cNvPr id="1840" name="Google Shape;1840;p7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CONFIDENCE CHECK</a:t>
            </a:r>
            <a:endParaRPr b="0" i="0" sz="1200" u="none" cap="none" strike="noStrike">
              <a:solidFill>
                <a:schemeClr val="dk1"/>
              </a:solidFill>
              <a:latin typeface="Calibri"/>
              <a:ea typeface="Calibri"/>
              <a:cs typeface="Calibri"/>
              <a:sym typeface="Calibri"/>
            </a:endParaRPr>
          </a:p>
        </p:txBody>
      </p:sp>
      <p:sp>
        <p:nvSpPr>
          <p:cNvPr id="1842" name="Google Shape;1842;p70"/>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843" name="Google Shape;1843;p70"/>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70"/>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845" name="Google Shape;1845;p70"/>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70"/>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847" name="Google Shape;1847;p70"/>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848" name="Google Shape;1848;p70"/>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70"/>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Who was the U.S. president for most of World War II?</a:t>
            </a:r>
            <a:endParaRPr b="0" i="0" sz="2400" u="none" cap="none" strike="noStrike">
              <a:solidFill>
                <a:schemeClr val="dk1"/>
              </a:solidFill>
              <a:latin typeface="Calibri"/>
              <a:ea typeface="Calibri"/>
              <a:cs typeface="Calibri"/>
              <a:sym typeface="Calibri"/>
            </a:endParaRPr>
          </a:p>
        </p:txBody>
      </p:sp>
      <p:sp>
        <p:nvSpPr>
          <p:cNvPr id="1850" name="Google Shape;1850;p70"/>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70"/>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852" name="Google Shape;1852;p70"/>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Franklin D. Roosevelt (Harry S. Truman took over in April 1945).</a:t>
            </a:r>
            <a:endParaRPr b="0" i="0" sz="1600" u="none" cap="none" strike="noStrike">
              <a:solidFill>
                <a:schemeClr val="dk1"/>
              </a:solidFill>
              <a:latin typeface="Calibri"/>
              <a:ea typeface="Calibri"/>
              <a:cs typeface="Calibri"/>
              <a:sym typeface="Calibri"/>
            </a:endParaRPr>
          </a:p>
        </p:txBody>
      </p:sp>
      <p:sp>
        <p:nvSpPr>
          <p:cNvPr id="1853" name="Google Shape;1853;p70"/>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70"/>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855" name="Google Shape;185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56" name="Google Shape;185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61" name="Shape 1861"/>
        <p:cNvGrpSpPr/>
        <p:nvPr/>
      </p:nvGrpSpPr>
      <p:grpSpPr>
        <a:xfrm>
          <a:off x="0" y="0"/>
          <a:ext cx="0" cy="0"/>
          <a:chOff x="0" y="0"/>
          <a:chExt cx="0" cy="0"/>
        </a:xfrm>
      </p:grpSpPr>
      <p:sp>
        <p:nvSpPr>
          <p:cNvPr id="1862" name="Google Shape;1862;p7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7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HOOK</a:t>
            </a:r>
            <a:endParaRPr b="0" i="0" sz="1200" u="none" cap="none" strike="noStrike">
              <a:solidFill>
                <a:schemeClr val="dk1"/>
              </a:solidFill>
              <a:latin typeface="Calibri"/>
              <a:ea typeface="Calibri"/>
              <a:cs typeface="Calibri"/>
              <a:sym typeface="Calibri"/>
            </a:endParaRPr>
          </a:p>
        </p:txBody>
      </p:sp>
      <p:sp>
        <p:nvSpPr>
          <p:cNvPr id="1864" name="Google Shape;1864;p71"/>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865" name="Google Shape;1865;p71"/>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71"/>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was shaped by a handful of towering figures, Roosevelt, Churchill, and Stalin against Hitler, Mussolini, and Tojo, whose decisions sent tens of millions to war and reshaped the world.</a:t>
            </a:r>
            <a:endParaRPr b="0" i="0" sz="2600" u="none" cap="none" strike="noStrike">
              <a:solidFill>
                <a:schemeClr val="dk1"/>
              </a:solidFill>
              <a:latin typeface="Calibri"/>
              <a:ea typeface="Calibri"/>
              <a:cs typeface="Calibri"/>
              <a:sym typeface="Calibri"/>
            </a:endParaRPr>
          </a:p>
        </p:txBody>
      </p:sp>
      <p:sp>
        <p:nvSpPr>
          <p:cNvPr id="1867" name="Google Shape;1867;p71"/>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71"/>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869" name="Google Shape;1869;p71"/>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71"/>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871" name="Google Shape;1871;p71"/>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much does history depend on individual leaders, and which of these figures most changed the outcome of the war?</a:t>
            </a:r>
            <a:endParaRPr b="0" i="0" sz="1600" u="none" cap="none" strike="noStrike">
              <a:solidFill>
                <a:schemeClr val="dk1"/>
              </a:solidFill>
              <a:latin typeface="Calibri"/>
              <a:ea typeface="Calibri"/>
              <a:cs typeface="Calibri"/>
              <a:sym typeface="Calibri"/>
            </a:endParaRPr>
          </a:p>
        </p:txBody>
      </p:sp>
      <p:sp>
        <p:nvSpPr>
          <p:cNvPr id="1872" name="Google Shape;1872;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73" name="Google Shape;1873;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78" name="Shape 1878"/>
        <p:cNvGrpSpPr/>
        <p:nvPr/>
      </p:nvGrpSpPr>
      <p:grpSpPr>
        <a:xfrm>
          <a:off x="0" y="0"/>
          <a:ext cx="0" cy="0"/>
          <a:chOff x="0" y="0"/>
          <a:chExt cx="0" cy="0"/>
        </a:xfrm>
      </p:grpSpPr>
      <p:sp>
        <p:nvSpPr>
          <p:cNvPr id="1879" name="Google Shape;1879;p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881" name="Google Shape;1881;p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Political Leaders</a:t>
            </a:r>
            <a:endParaRPr b="0" i="0" sz="3000" u="none" cap="none" strike="noStrike">
              <a:solidFill>
                <a:schemeClr val="dk1"/>
              </a:solidFill>
              <a:latin typeface="Calibri"/>
              <a:ea typeface="Calibri"/>
              <a:cs typeface="Calibri"/>
              <a:sym typeface="Calibri"/>
            </a:endParaRPr>
          </a:p>
        </p:txBody>
      </p:sp>
      <p:sp>
        <p:nvSpPr>
          <p:cNvPr id="1882" name="Google Shape;1882;p72"/>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7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887" name="Google Shape;1887;p7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72"/>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Winston Churchill served as British Prime Minister (1940-1945), inspiring British resistance during the Battle of Britain and partnering with FDR on the Atlantic Charter.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Franklin D. Roosevelt led America as President, implementing Lend-Lease, maintaining the Grand Alliance with Churchill and Stalin, and supporting the "Europe First" strategy.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Joseph Stalin defended the Soviet Union against German invasion, achieved victory at Stalingrad, and led the massive Soviet advance that captured Berlin.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Harry S. Truman became President in 1945, making the atomic bomb decision and overseeing Japanese surrender.</a:t>
            </a:r>
            <a:endParaRPr b="0" i="0" sz="1700" u="none" cap="none" strike="noStrike">
              <a:solidFill>
                <a:schemeClr val="dk1"/>
              </a:solidFill>
              <a:latin typeface="Calibri"/>
              <a:ea typeface="Calibri"/>
              <a:cs typeface="Calibri"/>
              <a:sym typeface="Calibri"/>
            </a:endParaRPr>
          </a:p>
        </p:txBody>
      </p:sp>
      <p:sp>
        <p:nvSpPr>
          <p:cNvPr id="1889" name="Google Shape;1889;p72"/>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72"/>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891" name="Google Shape;1891;p72"/>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One important Allied leader was ________, who ________, while an Axis leader, ________, ________.</a:t>
            </a:r>
            <a:endParaRPr b="0" i="0" sz="1150" u="none" cap="none" strike="noStrike">
              <a:solidFill>
                <a:schemeClr val="dk1"/>
              </a:solidFill>
              <a:latin typeface="Calibri"/>
              <a:ea typeface="Calibri"/>
              <a:cs typeface="Calibri"/>
              <a:sym typeface="Calibri"/>
            </a:endParaRPr>
          </a:p>
        </p:txBody>
      </p:sp>
      <p:sp>
        <p:nvSpPr>
          <p:cNvPr id="1892" name="Google Shape;1892;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93" name="Google Shape;1893;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98" name="Shape 1898"/>
        <p:cNvGrpSpPr/>
        <p:nvPr/>
      </p:nvGrpSpPr>
      <p:grpSpPr>
        <a:xfrm>
          <a:off x="0" y="0"/>
          <a:ext cx="0" cy="0"/>
          <a:chOff x="0" y="0"/>
          <a:chExt cx="0" cy="0"/>
        </a:xfrm>
      </p:grpSpPr>
      <p:sp>
        <p:nvSpPr>
          <p:cNvPr id="1899" name="Google Shape;1899;p7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01" name="Google Shape;1901;p7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Military Leaders</a:t>
            </a:r>
            <a:endParaRPr b="0" i="0" sz="3000" u="none" cap="none" strike="noStrike">
              <a:solidFill>
                <a:schemeClr val="dk1"/>
              </a:solidFill>
              <a:latin typeface="Calibri"/>
              <a:ea typeface="Calibri"/>
              <a:cs typeface="Calibri"/>
              <a:sym typeface="Calibri"/>
            </a:endParaRPr>
          </a:p>
        </p:txBody>
      </p:sp>
      <p:sp>
        <p:nvSpPr>
          <p:cNvPr id="1902" name="Google Shape;1902;p7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3"/>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7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7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907" name="Google Shape;1907;p7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Dwight D. Eisenhower served as Supreme Allied Commander in Europe, planning D-Day and successfully managing the multinational Allied command.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Douglas MacArthur commanded Allied forces in the Southwest Pacific, developing the island-hopping strategy and accepting Japanese surrender aboard USS Missouri.</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George C. Marshall, as Army Chief of Staff, organized the expansion of the U.S. Army from 200,000 to 8 million, developed the "Europe First" strategy, and coordinated global logistics.</a:t>
            </a:r>
            <a:endParaRPr b="0" i="0" sz="1700" u="none" cap="none" strike="noStrike">
              <a:solidFill>
                <a:schemeClr val="dk1"/>
              </a:solidFill>
              <a:latin typeface="Calibri"/>
              <a:ea typeface="Calibri"/>
              <a:cs typeface="Calibri"/>
              <a:sym typeface="Calibri"/>
            </a:endParaRPr>
          </a:p>
        </p:txBody>
      </p:sp>
      <p:sp>
        <p:nvSpPr>
          <p:cNvPr id="1909" name="Google Shape;1909;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10" name="Google Shape;1910;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15" name="Shape 1915"/>
        <p:cNvGrpSpPr/>
        <p:nvPr/>
      </p:nvGrpSpPr>
      <p:grpSpPr>
        <a:xfrm>
          <a:off x="0" y="0"/>
          <a:ext cx="0" cy="0"/>
          <a:chOff x="0" y="0"/>
          <a:chExt cx="0" cy="0"/>
        </a:xfrm>
      </p:grpSpPr>
      <p:sp>
        <p:nvSpPr>
          <p:cNvPr id="1916" name="Google Shape;1916;p7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18" name="Google Shape;1918;p7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Axis Leaders</a:t>
            </a:r>
            <a:endParaRPr b="0" i="0" sz="3000" u="none" cap="none" strike="noStrike">
              <a:solidFill>
                <a:schemeClr val="dk1"/>
              </a:solidFill>
              <a:latin typeface="Calibri"/>
              <a:ea typeface="Calibri"/>
              <a:cs typeface="Calibri"/>
              <a:sym typeface="Calibri"/>
            </a:endParaRPr>
          </a:p>
        </p:txBody>
      </p:sp>
      <p:sp>
        <p:nvSpPr>
          <p:cNvPr id="1919" name="Google Shape;1919;p7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74"/>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7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924" name="Google Shape;1924;p7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Adolf Hitler, as Führer of Nazi Germany, developed blitzkrieg tactics, launched Operation Barbarossa against the Soviet Union, and orchestrated the Holocaust before committing suicide as Berlin fell.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Benito Mussolini established fascist Italy and formed the Axis alliance, but Italian military failures required German rescue before he was captured and executed by partisans.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Hideki Tojo, Japanese Prime Minister, authorized the Pearl Harbor attack and led Japan's Pacific conquest before being executed as a war criminal.</a:t>
            </a:r>
            <a:endParaRPr b="0" i="0" sz="1700" u="none" cap="none" strike="noStrike">
              <a:solidFill>
                <a:schemeClr val="dk1"/>
              </a:solidFill>
              <a:latin typeface="Calibri"/>
              <a:ea typeface="Calibri"/>
              <a:cs typeface="Calibri"/>
              <a:sym typeface="Calibri"/>
            </a:endParaRPr>
          </a:p>
        </p:txBody>
      </p:sp>
      <p:sp>
        <p:nvSpPr>
          <p:cNvPr id="1926" name="Google Shape;1926;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27" name="Google Shape;1927;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2" name="Shape 1932"/>
        <p:cNvGrpSpPr/>
        <p:nvPr/>
      </p:nvGrpSpPr>
      <p:grpSpPr>
        <a:xfrm>
          <a:off x="0" y="0"/>
          <a:ext cx="0" cy="0"/>
          <a:chOff x="0" y="0"/>
          <a:chExt cx="0" cy="0"/>
        </a:xfrm>
      </p:grpSpPr>
      <p:sp>
        <p:nvSpPr>
          <p:cNvPr id="1933" name="Google Shape;1933;p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35" name="Google Shape;1935;p7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Comparing Leadership Approaches</a:t>
            </a:r>
            <a:endParaRPr b="0" i="0" sz="3000" u="none" cap="none" strike="noStrike">
              <a:solidFill>
                <a:schemeClr val="dk1"/>
              </a:solidFill>
              <a:latin typeface="Calibri"/>
              <a:ea typeface="Calibri"/>
              <a:cs typeface="Calibri"/>
              <a:sym typeface="Calibri"/>
            </a:endParaRPr>
          </a:p>
        </p:txBody>
      </p:sp>
      <p:sp>
        <p:nvSpPr>
          <p:cNvPr id="1936" name="Google Shape;1936;p7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7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5"/>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941" name="Google Shape;1941;p7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Churchill provided inspirational leadership through rhetoric and determination.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Eisenhower excelled at diplomatic coalition management.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Hitler's dictatorial style led to strategic mistakes like fighting a two-front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MacArthur was dramatic and media-conscious.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Marshall demonstrated exceptional organizational 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Roosevelt and Churchill maintained a "special relationship" while managing the difficult alliance with Stalin.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contrast between Allied cooperation and Axis failures in coordination contributed significantly to the war's outcome.</a:t>
            </a:r>
            <a:endParaRPr b="0" i="0" sz="1700" u="none" cap="none" strike="noStrike">
              <a:solidFill>
                <a:schemeClr val="dk1"/>
              </a:solidFill>
              <a:latin typeface="Calibri"/>
              <a:ea typeface="Calibri"/>
              <a:cs typeface="Calibri"/>
              <a:sym typeface="Calibri"/>
            </a:endParaRPr>
          </a:p>
        </p:txBody>
      </p:sp>
      <p:sp>
        <p:nvSpPr>
          <p:cNvPr id="1943" name="Google Shape;1943;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44" name="Google Shape;1944;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49" name="Shape 1949"/>
        <p:cNvGrpSpPr/>
        <p:nvPr/>
      </p:nvGrpSpPr>
      <p:grpSpPr>
        <a:xfrm>
          <a:off x="0" y="0"/>
          <a:ext cx="0" cy="0"/>
          <a:chOff x="0" y="0"/>
          <a:chExt cx="0" cy="0"/>
        </a:xfrm>
      </p:grpSpPr>
      <p:sp>
        <p:nvSpPr>
          <p:cNvPr id="1950" name="Google Shape;1950;p7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PEOPLE WHO SHAPED THE ERA</a:t>
            </a:r>
            <a:endParaRPr b="0" i="0" sz="1200" u="none" cap="none" strike="noStrike">
              <a:solidFill>
                <a:schemeClr val="dk1"/>
              </a:solidFill>
              <a:latin typeface="Calibri"/>
              <a:ea typeface="Calibri"/>
              <a:cs typeface="Calibri"/>
              <a:sym typeface="Calibri"/>
            </a:endParaRPr>
          </a:p>
        </p:txBody>
      </p:sp>
      <p:sp>
        <p:nvSpPr>
          <p:cNvPr id="1952" name="Google Shape;1952;p7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1953" name="Google Shape;1953;p76"/>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6"/>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6"/>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Winston Churchill</a:t>
            </a:r>
            <a:endParaRPr b="0" i="0" sz="1600" u="none" cap="none" strike="noStrike">
              <a:solidFill>
                <a:schemeClr val="dk1"/>
              </a:solidFill>
              <a:latin typeface="Calibri"/>
              <a:ea typeface="Calibri"/>
              <a:cs typeface="Calibri"/>
              <a:sym typeface="Calibri"/>
            </a:endParaRPr>
          </a:p>
        </p:txBody>
      </p:sp>
      <p:sp>
        <p:nvSpPr>
          <p:cNvPr id="1956" name="Google Shape;1956;p76"/>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British Prime Minister (1874-1965)</a:t>
            </a:r>
            <a:endParaRPr b="0" i="0" sz="1100" u="none" cap="none" strike="noStrike">
              <a:solidFill>
                <a:schemeClr val="dk1"/>
              </a:solidFill>
              <a:latin typeface="Calibri"/>
              <a:ea typeface="Calibri"/>
              <a:cs typeface="Calibri"/>
              <a:sym typeface="Calibri"/>
            </a:endParaRPr>
          </a:p>
        </p:txBody>
      </p:sp>
      <p:sp>
        <p:nvSpPr>
          <p:cNvPr id="1957" name="Google Shape;1957;p76"/>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Rallied Britain to fight on alone in 1940</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Forged the alliance with FDR and Stalin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Symbolized Allied resolve with his defiant speeches</a:t>
            </a:r>
            <a:endParaRPr b="0" i="0" sz="1200" u="none" cap="none" strike="noStrike">
              <a:solidFill>
                <a:schemeClr val="dk1"/>
              </a:solidFill>
              <a:latin typeface="Calibri"/>
              <a:ea typeface="Calibri"/>
              <a:cs typeface="Calibri"/>
              <a:sym typeface="Calibri"/>
            </a:endParaRPr>
          </a:p>
        </p:txBody>
      </p:sp>
      <p:sp>
        <p:nvSpPr>
          <p:cNvPr id="1958" name="Google Shape;1958;p76"/>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6"/>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Churchill to represent Allied leadership and the power of wartime rhetoric.</a:t>
            </a:r>
            <a:endParaRPr b="0" i="0" sz="800" u="none" cap="none" strike="noStrike">
              <a:solidFill>
                <a:schemeClr val="dk1"/>
              </a:solidFill>
              <a:latin typeface="Calibri"/>
              <a:ea typeface="Calibri"/>
              <a:cs typeface="Calibri"/>
              <a:sym typeface="Calibri"/>
            </a:endParaRPr>
          </a:p>
        </p:txBody>
      </p:sp>
      <p:sp>
        <p:nvSpPr>
          <p:cNvPr id="1960" name="Google Shape;1960;p76"/>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76"/>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6"/>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Dwight D. Eisenhower</a:t>
            </a:r>
            <a:endParaRPr b="0" i="0" sz="1600" u="none" cap="none" strike="noStrike">
              <a:solidFill>
                <a:schemeClr val="dk1"/>
              </a:solidFill>
              <a:latin typeface="Calibri"/>
              <a:ea typeface="Calibri"/>
              <a:cs typeface="Calibri"/>
              <a:sym typeface="Calibri"/>
            </a:endParaRPr>
          </a:p>
        </p:txBody>
      </p:sp>
      <p:sp>
        <p:nvSpPr>
          <p:cNvPr id="1963" name="Google Shape;1963;p76"/>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Allied Commander, Europe (1890-1969)</a:t>
            </a:r>
            <a:endParaRPr b="0" i="0" sz="1100" u="none" cap="none" strike="noStrike">
              <a:solidFill>
                <a:schemeClr val="dk1"/>
              </a:solidFill>
              <a:latin typeface="Calibri"/>
              <a:ea typeface="Calibri"/>
              <a:cs typeface="Calibri"/>
              <a:sym typeface="Calibri"/>
            </a:endParaRPr>
          </a:p>
        </p:txBody>
      </p:sp>
      <p:sp>
        <p:nvSpPr>
          <p:cNvPr id="1964" name="Google Shape;1964;p76"/>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Planned and commanded the D-Day invasion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Held the multinational Allied force together</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Later became the 34th U.S. president</a:t>
            </a:r>
            <a:endParaRPr b="0" i="0" sz="1200" u="none" cap="none" strike="noStrike">
              <a:solidFill>
                <a:schemeClr val="dk1"/>
              </a:solidFill>
              <a:latin typeface="Calibri"/>
              <a:ea typeface="Calibri"/>
              <a:cs typeface="Calibri"/>
              <a:sym typeface="Calibri"/>
            </a:endParaRPr>
          </a:p>
        </p:txBody>
      </p:sp>
      <p:sp>
        <p:nvSpPr>
          <p:cNvPr id="1965" name="Google Shape;1965;p76"/>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6"/>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Eisenhower to show the organizational genius behind Allied victory.</a:t>
            </a:r>
            <a:endParaRPr b="0" i="0" sz="800" u="none" cap="none" strike="noStrike">
              <a:solidFill>
                <a:schemeClr val="dk1"/>
              </a:solidFill>
              <a:latin typeface="Calibri"/>
              <a:ea typeface="Calibri"/>
              <a:cs typeface="Calibri"/>
              <a:sym typeface="Calibri"/>
            </a:endParaRPr>
          </a:p>
        </p:txBody>
      </p:sp>
      <p:sp>
        <p:nvSpPr>
          <p:cNvPr id="1967" name="Google Shape;1967;p76"/>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76"/>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76"/>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Franklin D. Roosevelt</a:t>
            </a:r>
            <a:endParaRPr b="0" i="0" sz="1600" u="none" cap="none" strike="noStrike">
              <a:solidFill>
                <a:schemeClr val="dk1"/>
              </a:solidFill>
              <a:latin typeface="Calibri"/>
              <a:ea typeface="Calibri"/>
              <a:cs typeface="Calibri"/>
              <a:sym typeface="Calibri"/>
            </a:endParaRPr>
          </a:p>
        </p:txBody>
      </p:sp>
      <p:sp>
        <p:nvSpPr>
          <p:cNvPr id="1970" name="Google Shape;1970;p76"/>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commander in chief</a:t>
            </a:r>
            <a:endParaRPr b="0" i="0" sz="1100" u="none" cap="none" strike="noStrike">
              <a:solidFill>
                <a:schemeClr val="dk1"/>
              </a:solidFill>
              <a:latin typeface="Calibri"/>
              <a:ea typeface="Calibri"/>
              <a:cs typeface="Calibri"/>
              <a:sym typeface="Calibri"/>
            </a:endParaRPr>
          </a:p>
        </p:txBody>
      </p:sp>
      <p:sp>
        <p:nvSpPr>
          <p:cNvPr id="1971" name="Google Shape;1971;p76"/>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Directed U.S. grand strategy across two theaters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Kept the Grand Alliance together through tension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Defined Allied war aims from the Atlantic Charter on</a:t>
            </a:r>
            <a:endParaRPr b="0" i="0" sz="1200" u="none" cap="none" strike="noStrike">
              <a:solidFill>
                <a:schemeClr val="dk1"/>
              </a:solidFill>
              <a:latin typeface="Calibri"/>
              <a:ea typeface="Calibri"/>
              <a:cs typeface="Calibri"/>
              <a:sym typeface="Calibri"/>
            </a:endParaRPr>
          </a:p>
        </p:txBody>
      </p:sp>
      <p:sp>
        <p:nvSpPr>
          <p:cNvPr id="1972" name="Google Shape;1972;p76"/>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76"/>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Anchor the Allied leaders around FDR as the coalition's political center.</a:t>
            </a:r>
            <a:endParaRPr b="0" i="0" sz="800" u="none" cap="none" strike="noStrike">
              <a:solidFill>
                <a:schemeClr val="dk1"/>
              </a:solidFill>
              <a:latin typeface="Calibri"/>
              <a:ea typeface="Calibri"/>
              <a:cs typeface="Calibri"/>
              <a:sym typeface="Calibri"/>
            </a:endParaRPr>
          </a:p>
        </p:txBody>
      </p:sp>
      <p:sp>
        <p:nvSpPr>
          <p:cNvPr id="1974" name="Google Shape;1974;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75" name="Google Shape;1975;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80" name="Shape 1980"/>
        <p:cNvGrpSpPr/>
        <p:nvPr/>
      </p:nvGrpSpPr>
      <p:grpSpPr>
        <a:xfrm>
          <a:off x="0" y="0"/>
          <a:ext cx="0" cy="0"/>
          <a:chOff x="0" y="0"/>
          <a:chExt cx="0" cy="0"/>
        </a:xfrm>
      </p:grpSpPr>
      <p:sp>
        <p:nvSpPr>
          <p:cNvPr id="1981" name="Google Shape;1981;p77"/>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US.49 · PRIMARY SOURCE ANALYSIS</a:t>
            </a:r>
            <a:endParaRPr b="0" i="0" sz="1200" u="none" cap="none" strike="noStrike">
              <a:solidFill>
                <a:schemeClr val="dk1"/>
              </a:solidFill>
              <a:latin typeface="Calibri"/>
              <a:ea typeface="Calibri"/>
              <a:cs typeface="Calibri"/>
              <a:sym typeface="Calibri"/>
            </a:endParaRPr>
          </a:p>
        </p:txBody>
      </p:sp>
      <p:sp>
        <p:nvSpPr>
          <p:cNvPr id="1983" name="Google Shape;1983;p77"/>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We Shall Fight on the Beaches Speech</a:t>
            </a:r>
            <a:endParaRPr b="0" i="0" sz="2500" u="none" cap="none" strike="noStrike">
              <a:solidFill>
                <a:schemeClr val="dk1"/>
              </a:solidFill>
              <a:latin typeface="Calibri"/>
              <a:ea typeface="Calibri"/>
              <a:cs typeface="Calibri"/>
              <a:sym typeface="Calibri"/>
            </a:endParaRPr>
          </a:p>
        </p:txBody>
      </p:sp>
      <p:sp>
        <p:nvSpPr>
          <p:cNvPr id="1984" name="Google Shape;1984;p77"/>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7"/>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986" name="Google Shape;1986;p77"/>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Winston Churchill  ·  June 4, 1940</a:t>
            </a:r>
            <a:endParaRPr b="0" i="0" sz="1200" u="none" cap="none" strike="noStrike">
              <a:solidFill>
                <a:schemeClr val="dk1"/>
              </a:solidFill>
              <a:latin typeface="Calibri"/>
              <a:ea typeface="Calibri"/>
              <a:cs typeface="Calibri"/>
              <a:sym typeface="Calibri"/>
            </a:endParaRPr>
          </a:p>
        </p:txBody>
      </p:sp>
      <p:sp>
        <p:nvSpPr>
          <p:cNvPr id="1987" name="Google Shape;1987;p77"/>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7"/>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7"/>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400" u="none" cap="none" strike="noStrike">
              <a:solidFill>
                <a:schemeClr val="dk1"/>
              </a:solidFill>
              <a:latin typeface="Calibri"/>
              <a:ea typeface="Calibri"/>
              <a:cs typeface="Calibri"/>
              <a:sym typeface="Calibri"/>
            </a:endParaRPr>
          </a:p>
        </p:txBody>
      </p:sp>
      <p:sp>
        <p:nvSpPr>
          <p:cNvPr id="1990" name="Google Shape;1990;p77"/>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7"/>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992" name="Google Shape;1992;p77"/>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7"/>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994" name="Google Shape;1994;p77"/>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June 1940, Nazi Germany had just defeated France and driven British forces off the European continent at Dunkirk. Britain stood almost alone against Hitler's military machine, and many feared German invasion was imminent. Churchill had just become Prime Minister weeks earlier and used this speech to the House of Commons to steel the British people's resolve and signal to America and the world that Britain would not surrender.</a:t>
            </a:r>
            <a:endParaRPr b="0" i="0" sz="1050" u="none" cap="none" strike="noStrike">
              <a:solidFill>
                <a:schemeClr val="dk1"/>
              </a:solidFill>
              <a:latin typeface="Calibri"/>
              <a:ea typeface="Calibri"/>
              <a:cs typeface="Calibri"/>
              <a:sym typeface="Calibri"/>
            </a:endParaRPr>
          </a:p>
        </p:txBody>
      </p:sp>
      <p:sp>
        <p:nvSpPr>
          <p:cNvPr id="1995" name="Google Shape;1995;p77"/>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7"/>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997" name="Google Shape;1997;p77"/>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message was Churchill conveying to the British people in this speech?</a:t>
            </a:r>
            <a:endParaRPr b="0" i="0" sz="1250" u="none" cap="none" strike="noStrike">
              <a:solidFill>
                <a:schemeClr val="dk1"/>
              </a:solidFill>
              <a:latin typeface="Calibri"/>
              <a:ea typeface="Calibri"/>
              <a:cs typeface="Calibri"/>
              <a:sym typeface="Calibri"/>
            </a:endParaRPr>
          </a:p>
        </p:txBody>
      </p:sp>
      <p:sp>
        <p:nvSpPr>
          <p:cNvPr id="1998" name="Google Shape;1998;p77"/>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77"/>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7"/>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001" name="Google Shape;2001;p77"/>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002" name="Google Shape;2002;p77"/>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003" name="Google Shape;2003;p77"/>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004" name="Google Shape;2004;p77"/>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Winston Churchill</a:t>
            </a:r>
            <a:endParaRPr b="0" i="0" sz="950" u="none" cap="none" strike="noStrike">
              <a:solidFill>
                <a:schemeClr val="dk1"/>
              </a:solidFill>
              <a:latin typeface="Calibri"/>
              <a:ea typeface="Calibri"/>
              <a:cs typeface="Calibri"/>
              <a:sym typeface="Calibri"/>
            </a:endParaRPr>
          </a:p>
        </p:txBody>
      </p:sp>
      <p:sp>
        <p:nvSpPr>
          <p:cNvPr id="2005" name="Google Shape;2005;p77"/>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006" name="Google Shape;2006;p77"/>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4, 1940</a:t>
            </a:r>
            <a:endParaRPr b="0" i="0" sz="950" u="none" cap="none" strike="noStrike">
              <a:solidFill>
                <a:schemeClr val="dk1"/>
              </a:solidFill>
              <a:latin typeface="Calibri"/>
              <a:ea typeface="Calibri"/>
              <a:cs typeface="Calibri"/>
              <a:sym typeface="Calibri"/>
            </a:endParaRPr>
          </a:p>
        </p:txBody>
      </p:sp>
      <p:sp>
        <p:nvSpPr>
          <p:cNvPr id="2007" name="Google Shape;2007;p77"/>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008" name="Google Shape;2008;p77"/>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009" name="Google Shape;2009;p77"/>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2010" name="Google Shape;2010;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11" name="Google Shape;2011;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16" name="Shape 2016"/>
        <p:cNvGrpSpPr/>
        <p:nvPr/>
      </p:nvGrpSpPr>
      <p:grpSpPr>
        <a:xfrm>
          <a:off x="0" y="0"/>
          <a:ext cx="0" cy="0"/>
          <a:chOff x="0" y="0"/>
          <a:chExt cx="0" cy="0"/>
        </a:xfrm>
      </p:grpSpPr>
      <p:sp>
        <p:nvSpPr>
          <p:cNvPr id="2017" name="Google Shape;2017;p7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KEY VOCABULARY</a:t>
            </a:r>
            <a:endParaRPr b="0" i="0" sz="1200" u="none" cap="none" strike="noStrike">
              <a:solidFill>
                <a:schemeClr val="dk1"/>
              </a:solidFill>
              <a:latin typeface="Calibri"/>
              <a:ea typeface="Calibri"/>
              <a:cs typeface="Calibri"/>
              <a:sym typeface="Calibri"/>
            </a:endParaRPr>
          </a:p>
        </p:txBody>
      </p:sp>
      <p:sp>
        <p:nvSpPr>
          <p:cNvPr id="2019" name="Google Shape;2019;p7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020" name="Google Shape;2020;p78"/>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78"/>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8"/>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023" name="Google Shape;2023;p78"/>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024" name="Google Shape;2024;p78"/>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025" name="Google Shape;2025;p78"/>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78"/>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DD</a:t>
            </a:r>
            <a:endParaRPr b="0" i="0" sz="1300" u="none" cap="none" strike="noStrike">
              <a:solidFill>
                <a:schemeClr val="dk1"/>
              </a:solidFill>
              <a:latin typeface="Calibri"/>
              <a:ea typeface="Calibri"/>
              <a:cs typeface="Calibri"/>
              <a:sym typeface="Calibri"/>
            </a:endParaRPr>
          </a:p>
        </p:txBody>
      </p:sp>
      <p:sp>
        <p:nvSpPr>
          <p:cNvPr id="2027" name="Google Shape;2027;p78"/>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028" name="Google Shape;2028;p78"/>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8"/>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8"/>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2031" name="Google Shape;2031;p78"/>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2032" name="Google Shape;2032;p78"/>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2033" name="Google Shape;2033;p78"/>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78"/>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2035" name="Google Shape;2035;p78"/>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2036" name="Google Shape;2036;p78"/>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8"/>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78"/>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2039" name="Google Shape;2039;p78"/>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2040" name="Google Shape;2040;p78"/>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2041" name="Google Shape;2041;p78"/>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78"/>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2043" name="Google Shape;2043;p78"/>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2044" name="Google Shape;2044;p78"/>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78"/>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8"/>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2047" name="Google Shape;2047;p78"/>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2048" name="Google Shape;2048;p78"/>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2049" name="Google Shape;2049;p78"/>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78"/>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2051" name="Google Shape;2051;p78"/>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2052" name="Google Shape;2052;p78"/>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78"/>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8"/>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055" name="Google Shape;2055;p78"/>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056" name="Google Shape;2056;p78"/>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057" name="Google Shape;2057;p78"/>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78"/>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059" name="Google Shape;2059;p78"/>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060" name="Google Shape;2060;p78"/>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78"/>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78"/>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2063" name="Google Shape;2063;p78"/>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2064" name="Google Shape;2064;p78"/>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2065" name="Google Shape;2065;p78"/>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 name="Google Shape;2066;p78"/>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067" name="Google Shape;2067;p78"/>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2068" name="Google Shape;2068;p78"/>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069" name="Google Shape;2069;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70" name="Google Shape;2070;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75" name="Shape 2075"/>
        <p:cNvGrpSpPr/>
        <p:nvPr/>
      </p:nvGrpSpPr>
      <p:grpSpPr>
        <a:xfrm>
          <a:off x="0" y="0"/>
          <a:ext cx="0" cy="0"/>
          <a:chOff x="0" y="0"/>
          <a:chExt cx="0" cy="0"/>
        </a:xfrm>
      </p:grpSpPr>
      <p:sp>
        <p:nvSpPr>
          <p:cNvPr id="2076" name="Google Shape;2076;p7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GUIDED PRACTICE — WE DO IT TOGETHER</a:t>
            </a:r>
            <a:endParaRPr b="0" i="0" sz="1200" u="none" cap="none" strike="noStrike">
              <a:solidFill>
                <a:schemeClr val="dk1"/>
              </a:solidFill>
              <a:latin typeface="Calibri"/>
              <a:ea typeface="Calibri"/>
              <a:cs typeface="Calibri"/>
              <a:sym typeface="Calibri"/>
            </a:endParaRPr>
          </a:p>
        </p:txBody>
      </p:sp>
      <p:sp>
        <p:nvSpPr>
          <p:cNvPr id="2078" name="Google Shape;2078;p79"/>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079" name="Google Shape;2079;p79"/>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Match individuals to their roles</a:t>
            </a:r>
            <a:endParaRPr b="0" i="0" sz="1100" u="none" cap="none" strike="noStrike">
              <a:solidFill>
                <a:schemeClr val="dk1"/>
              </a:solidFill>
              <a:latin typeface="Calibri"/>
              <a:ea typeface="Calibri"/>
              <a:cs typeface="Calibri"/>
              <a:sym typeface="Calibri"/>
            </a:endParaRPr>
          </a:p>
        </p:txBody>
      </p:sp>
      <p:sp>
        <p:nvSpPr>
          <p:cNvPr id="2081" name="Google Shape;2081;p79"/>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79"/>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Churchill, Eisenhower, and FDR each shape the Allied effort?</a:t>
            </a:r>
            <a:endParaRPr b="0" i="0" sz="1500" u="none" cap="none" strike="noStrike">
              <a:solidFill>
                <a:schemeClr val="dk1"/>
              </a:solidFill>
              <a:latin typeface="Calibri"/>
              <a:ea typeface="Calibri"/>
              <a:cs typeface="Calibri"/>
              <a:sym typeface="Calibri"/>
            </a:endParaRPr>
          </a:p>
        </p:txBody>
      </p:sp>
      <p:sp>
        <p:nvSpPr>
          <p:cNvPr id="2083" name="Google Shape;2083;p79"/>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9"/>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085" name="Google Shape;2085;p79"/>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Churchill supplied resolve and rhetoric, Eisenhower supplied military planning, FDR supplied strategy and the alliance. Different roles, one coalition.</a:t>
            </a:r>
            <a:endParaRPr b="0" i="0" sz="1450" u="none" cap="none" strike="noStrike">
              <a:solidFill>
                <a:schemeClr val="dk1"/>
              </a:solidFill>
              <a:latin typeface="Calibri"/>
              <a:ea typeface="Calibri"/>
              <a:cs typeface="Calibri"/>
              <a:sym typeface="Calibri"/>
            </a:endParaRPr>
          </a:p>
        </p:txBody>
      </p:sp>
      <p:sp>
        <p:nvSpPr>
          <p:cNvPr id="2086" name="Google Shape;2086;p79"/>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79"/>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088" name="Google Shape;2088;p79"/>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Assign each leader a one-word role (resolve / planning / strategy).</a:t>
            </a:r>
            <a:endParaRPr b="0" i="0" sz="1300" u="none" cap="none" strike="noStrike">
              <a:solidFill>
                <a:schemeClr val="dk1"/>
              </a:solidFill>
              <a:latin typeface="Calibri"/>
              <a:ea typeface="Calibri"/>
              <a:cs typeface="Calibri"/>
              <a:sym typeface="Calibri"/>
            </a:endParaRPr>
          </a:p>
        </p:txBody>
      </p:sp>
      <p:sp>
        <p:nvSpPr>
          <p:cNvPr id="2089" name="Google Shape;2089;p79"/>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Argue which role mattered most at a turning point, with evidence.</a:t>
            </a:r>
            <a:endParaRPr b="0" i="0" sz="1200" u="none" cap="none" strike="noStrike">
              <a:solidFill>
                <a:schemeClr val="dk1"/>
              </a:solidFill>
              <a:latin typeface="Calibri"/>
              <a:ea typeface="Calibri"/>
              <a:cs typeface="Calibri"/>
              <a:sym typeface="Calibri"/>
            </a:endParaRPr>
          </a:p>
        </p:txBody>
      </p:sp>
      <p:sp>
        <p:nvSpPr>
          <p:cNvPr id="2090" name="Google Shape;2090;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91" name="Google Shape;2091;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96" name="Shape 2096"/>
        <p:cNvGrpSpPr/>
        <p:nvPr/>
      </p:nvGrpSpPr>
      <p:grpSpPr>
        <a:xfrm>
          <a:off x="0" y="0"/>
          <a:ext cx="0" cy="0"/>
          <a:chOff x="0" y="0"/>
          <a:chExt cx="0" cy="0"/>
        </a:xfrm>
      </p:grpSpPr>
      <p:sp>
        <p:nvSpPr>
          <p:cNvPr id="2097" name="Google Shape;2097;p8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STUDENT ACTIVITY</a:t>
            </a:r>
            <a:endParaRPr b="0" i="0" sz="1200" u="none" cap="none" strike="noStrike">
              <a:solidFill>
                <a:schemeClr val="dk1"/>
              </a:solidFill>
              <a:latin typeface="Calibri"/>
              <a:ea typeface="Calibri"/>
              <a:cs typeface="Calibri"/>
              <a:sym typeface="Calibri"/>
            </a:endParaRPr>
          </a:p>
        </p:txBody>
      </p:sp>
      <p:sp>
        <p:nvSpPr>
          <p:cNvPr id="2099" name="Google Shape;2099;p80"/>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Who Led the World at War — Allied and Axis Leaders</a:t>
            </a:r>
            <a:endParaRPr b="0" i="0" sz="2400" u="none" cap="none" strike="noStrike">
              <a:solidFill>
                <a:schemeClr val="dk1"/>
              </a:solidFill>
              <a:latin typeface="Calibri"/>
              <a:ea typeface="Calibri"/>
              <a:cs typeface="Calibri"/>
              <a:sym typeface="Calibri"/>
            </a:endParaRPr>
          </a:p>
        </p:txBody>
      </p:sp>
      <p:sp>
        <p:nvSpPr>
          <p:cNvPr id="2100" name="Google Shape;2100;p80"/>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80"/>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102" name="Google Shape;2102;p80"/>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80"/>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104" name="Google Shape;2104;p80"/>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80"/>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106" name="Google Shape;2106;p80"/>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Churchill's 'We Shall Fight on the Beaches' excerpt and your notes, build a leaders chart with three columns: ALLIED POLITICAL (FDR, Churchill, Stalin, Truman), ALLIED MILITARY (Eisenhower, MacArthur, Marshall), and AXIS (Hitler, Mussolini, Tojo). For each leader, write one significant action. Finish with a one-sentence claim on which single leader's actions most changed the war's outcome, with evidence.</a:t>
            </a:r>
            <a:endParaRPr b="0" i="0" sz="1350" u="none" cap="none" strike="noStrike">
              <a:solidFill>
                <a:schemeClr val="dk1"/>
              </a:solidFill>
              <a:latin typeface="Calibri"/>
              <a:ea typeface="Calibri"/>
              <a:cs typeface="Calibri"/>
              <a:sym typeface="Calibri"/>
            </a:endParaRPr>
          </a:p>
        </p:txBody>
      </p:sp>
      <p:sp>
        <p:nvSpPr>
          <p:cNvPr id="2107" name="Google Shape;2107;p80"/>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80"/>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109" name="Google Shape;2109;p80"/>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leaders chart (one significant action per leader across the three columns) AND a one-sentence evidence-based claim about the most decisive leader.</a:t>
            </a:r>
            <a:endParaRPr b="0" i="0" sz="1050" u="none" cap="none" strike="noStrike">
              <a:solidFill>
                <a:schemeClr val="dk1"/>
              </a:solidFill>
              <a:latin typeface="Calibri"/>
              <a:ea typeface="Calibri"/>
              <a:cs typeface="Calibri"/>
              <a:sym typeface="Calibri"/>
            </a:endParaRPr>
          </a:p>
        </p:txBody>
      </p:sp>
      <p:sp>
        <p:nvSpPr>
          <p:cNvPr id="2110" name="Google Shape;2110;p80"/>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80"/>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112" name="Google Shape;2112;p80"/>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leaders pre-listed and a bank of actions to match. Honors: Write a paragraph using Churchill's speech to explain how wartime leaders used words, not just armies, as weapons.</a:t>
            </a:r>
            <a:endParaRPr b="0" i="0" sz="1000" u="none" cap="none" strike="noStrike">
              <a:solidFill>
                <a:schemeClr val="dk1"/>
              </a:solidFill>
              <a:latin typeface="Calibri"/>
              <a:ea typeface="Calibri"/>
              <a:cs typeface="Calibri"/>
              <a:sym typeface="Calibri"/>
            </a:endParaRPr>
          </a:p>
        </p:txBody>
      </p:sp>
      <p:sp>
        <p:nvSpPr>
          <p:cNvPr id="2113" name="Google Shape;2113;p80"/>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cornell-notes/unit-6/us49-wwii-leaders.pdf</a:t>
            </a:r>
            <a:endParaRPr b="0" i="0" sz="1050" u="none" cap="none" strike="noStrike">
              <a:solidFill>
                <a:schemeClr val="dk1"/>
              </a:solidFill>
              <a:latin typeface="Calibri"/>
              <a:ea typeface="Calibri"/>
              <a:cs typeface="Calibri"/>
              <a:sym typeface="Calibri"/>
            </a:endParaRPr>
          </a:p>
        </p:txBody>
      </p:sp>
      <p:sp>
        <p:nvSpPr>
          <p:cNvPr id="2114" name="Google Shape;2114;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5" name="Google Shape;2115;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20" name="Shape 2120"/>
        <p:cNvGrpSpPr/>
        <p:nvPr/>
      </p:nvGrpSpPr>
      <p:grpSpPr>
        <a:xfrm>
          <a:off x="0" y="0"/>
          <a:ext cx="0" cy="0"/>
          <a:chOff x="0" y="0"/>
          <a:chExt cx="0" cy="0"/>
        </a:xfrm>
      </p:grpSpPr>
      <p:sp>
        <p:nvSpPr>
          <p:cNvPr id="2121" name="Google Shape;2121;p8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8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CHECK FOR UNDERSTANDING</a:t>
            </a:r>
            <a:endParaRPr b="0" i="0" sz="1200" u="none" cap="none" strike="noStrike">
              <a:solidFill>
                <a:schemeClr val="dk1"/>
              </a:solidFill>
              <a:latin typeface="Calibri"/>
              <a:ea typeface="Calibri"/>
              <a:cs typeface="Calibri"/>
              <a:sym typeface="Calibri"/>
            </a:endParaRPr>
          </a:p>
        </p:txBody>
      </p:sp>
      <p:sp>
        <p:nvSpPr>
          <p:cNvPr id="2123" name="Google Shape;2123;p81"/>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24" name="Google Shape;2124;p81"/>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81"/>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126" name="Google Shape;2126;p81"/>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8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128" name="Google Shape;2128;p81"/>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81"/>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600" u="none" cap="none" strike="noStrike">
              <a:solidFill>
                <a:schemeClr val="dk1"/>
              </a:solidFill>
              <a:latin typeface="Calibri"/>
              <a:ea typeface="Calibri"/>
              <a:cs typeface="Calibri"/>
              <a:sym typeface="Calibri"/>
            </a:endParaRPr>
          </a:p>
        </p:txBody>
      </p:sp>
      <p:sp>
        <p:nvSpPr>
          <p:cNvPr id="2130" name="Google Shape;2130;p81"/>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81"/>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81"/>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133" name="Google Shape;2133;p81"/>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served as Supreme Allied Commander in Europe while MacArthur commanded Allied forces in the Pacific.</a:t>
            </a:r>
            <a:endParaRPr b="0" i="0" sz="1350" u="none" cap="none" strike="noStrike">
              <a:solidFill>
                <a:schemeClr val="dk1"/>
              </a:solidFill>
              <a:latin typeface="Calibri"/>
              <a:ea typeface="Calibri"/>
              <a:cs typeface="Calibri"/>
              <a:sym typeface="Calibri"/>
            </a:endParaRPr>
          </a:p>
        </p:txBody>
      </p:sp>
      <p:sp>
        <p:nvSpPr>
          <p:cNvPr id="2134" name="Google Shape;2134;p81"/>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81"/>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81"/>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137" name="Google Shape;2137;p81"/>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50" u="none" cap="none" strike="noStrike">
              <a:solidFill>
                <a:schemeClr val="dk1"/>
              </a:solidFill>
              <a:latin typeface="Calibri"/>
              <a:ea typeface="Calibri"/>
              <a:cs typeface="Calibri"/>
              <a:sym typeface="Calibri"/>
            </a:endParaRPr>
          </a:p>
        </p:txBody>
      </p:sp>
      <p:sp>
        <p:nvSpPr>
          <p:cNvPr id="2138" name="Google Shape;2138;p81"/>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81"/>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81"/>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141" name="Google Shape;2141;p81"/>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50" u="none" cap="none" strike="noStrike">
              <a:solidFill>
                <a:schemeClr val="dk1"/>
              </a:solidFill>
              <a:latin typeface="Calibri"/>
              <a:ea typeface="Calibri"/>
              <a:cs typeface="Calibri"/>
              <a:sym typeface="Calibri"/>
            </a:endParaRPr>
          </a:p>
        </p:txBody>
      </p:sp>
      <p:sp>
        <p:nvSpPr>
          <p:cNvPr id="2142" name="Google Shape;2142;p81"/>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81"/>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81"/>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145" name="Google Shape;2145;p81"/>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50" u="none" cap="none" strike="noStrike">
              <a:solidFill>
                <a:schemeClr val="dk1"/>
              </a:solidFill>
              <a:latin typeface="Calibri"/>
              <a:ea typeface="Calibri"/>
              <a:cs typeface="Calibri"/>
              <a:sym typeface="Calibri"/>
            </a:endParaRPr>
          </a:p>
        </p:txBody>
      </p:sp>
      <p:sp>
        <p:nvSpPr>
          <p:cNvPr id="2146" name="Google Shape;2146;p81"/>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81"/>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148" name="Google Shape;2148;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9" name="Google Shape;2149;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54" name="Shape 2154"/>
        <p:cNvGrpSpPr/>
        <p:nvPr/>
      </p:nvGrpSpPr>
      <p:grpSpPr>
        <a:xfrm>
          <a:off x="0" y="0"/>
          <a:ext cx="0" cy="0"/>
          <a:chOff x="0" y="0"/>
          <a:chExt cx="0" cy="0"/>
        </a:xfrm>
      </p:grpSpPr>
      <p:sp>
        <p:nvSpPr>
          <p:cNvPr id="2155" name="Google Shape;2155;p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8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ANSWER REVEAL</a:t>
            </a:r>
            <a:endParaRPr b="0" i="0" sz="1200" u="none" cap="none" strike="noStrike">
              <a:solidFill>
                <a:schemeClr val="dk1"/>
              </a:solidFill>
              <a:latin typeface="Calibri"/>
              <a:ea typeface="Calibri"/>
              <a:cs typeface="Calibri"/>
              <a:sym typeface="Calibri"/>
            </a:endParaRPr>
          </a:p>
        </p:txBody>
      </p:sp>
      <p:sp>
        <p:nvSpPr>
          <p:cNvPr id="2157" name="Google Shape;2157;p82"/>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58" name="Google Shape;2158;p82"/>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82"/>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160" name="Google Shape;2160;p82"/>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82"/>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500" u="none" cap="none" strike="noStrike">
              <a:solidFill>
                <a:schemeClr val="dk1"/>
              </a:solidFill>
              <a:latin typeface="Calibri"/>
              <a:ea typeface="Calibri"/>
              <a:cs typeface="Calibri"/>
              <a:sym typeface="Calibri"/>
            </a:endParaRPr>
          </a:p>
        </p:txBody>
      </p:sp>
      <p:sp>
        <p:nvSpPr>
          <p:cNvPr id="2162" name="Google Shape;2162;p82"/>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82"/>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82"/>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165" name="Google Shape;2165;p82"/>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Eisenhower served as Supreme Allied Commander in Europe while MacArthur commanded Allied forces in the Pacific.</a:t>
            </a:r>
            <a:endParaRPr b="0" i="0" sz="1300" u="none" cap="none" strike="noStrike">
              <a:solidFill>
                <a:schemeClr val="dk1"/>
              </a:solidFill>
              <a:latin typeface="Calibri"/>
              <a:ea typeface="Calibri"/>
              <a:cs typeface="Calibri"/>
              <a:sym typeface="Calibri"/>
            </a:endParaRPr>
          </a:p>
        </p:txBody>
      </p:sp>
      <p:sp>
        <p:nvSpPr>
          <p:cNvPr id="2166" name="Google Shape;2166;p82"/>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167" name="Google Shape;2167;p82"/>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82"/>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82"/>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170" name="Google Shape;2170;p82"/>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00" u="none" cap="none" strike="noStrike">
              <a:solidFill>
                <a:schemeClr val="dk1"/>
              </a:solidFill>
              <a:latin typeface="Calibri"/>
              <a:ea typeface="Calibri"/>
              <a:cs typeface="Calibri"/>
              <a:sym typeface="Calibri"/>
            </a:endParaRPr>
          </a:p>
        </p:txBody>
      </p:sp>
      <p:sp>
        <p:nvSpPr>
          <p:cNvPr id="2171" name="Google Shape;2171;p82"/>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82"/>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82"/>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174" name="Google Shape;2174;p82"/>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00" u="none" cap="none" strike="noStrike">
              <a:solidFill>
                <a:schemeClr val="dk1"/>
              </a:solidFill>
              <a:latin typeface="Calibri"/>
              <a:ea typeface="Calibri"/>
              <a:cs typeface="Calibri"/>
              <a:sym typeface="Calibri"/>
            </a:endParaRPr>
          </a:p>
        </p:txBody>
      </p:sp>
      <p:sp>
        <p:nvSpPr>
          <p:cNvPr id="2175" name="Google Shape;2175;p82"/>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82"/>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82"/>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178" name="Google Shape;2178;p82"/>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00" u="none" cap="none" strike="noStrike">
              <a:solidFill>
                <a:schemeClr val="dk1"/>
              </a:solidFill>
              <a:latin typeface="Calibri"/>
              <a:ea typeface="Calibri"/>
              <a:cs typeface="Calibri"/>
              <a:sym typeface="Calibri"/>
            </a:endParaRPr>
          </a:p>
        </p:txBody>
      </p:sp>
      <p:sp>
        <p:nvSpPr>
          <p:cNvPr id="2179" name="Google Shape;2179;p82"/>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82"/>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Eisenhower served as Supreme Commander of Allied Expeditionary Forces in Europe, overseeing operations including D-Day, while MacArthur commanded Allied forces in the Southwest Pacific, directing the island-hopping campaign and eventually accepting Japan's surrender.</a:t>
            </a:r>
            <a:endParaRPr b="0" i="0" sz="1150" u="none" cap="none" strike="noStrike">
              <a:solidFill>
                <a:schemeClr val="dk1"/>
              </a:solidFill>
              <a:latin typeface="Calibri"/>
              <a:ea typeface="Calibri"/>
              <a:cs typeface="Calibri"/>
              <a:sym typeface="Calibri"/>
            </a:endParaRPr>
          </a:p>
        </p:txBody>
      </p:sp>
      <p:sp>
        <p:nvSpPr>
          <p:cNvPr id="2181" name="Google Shape;2181;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82" name="Google Shape;2182;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187" name="Shape 2187"/>
        <p:cNvGrpSpPr/>
        <p:nvPr/>
      </p:nvGrpSpPr>
      <p:grpSpPr>
        <a:xfrm>
          <a:off x="0" y="0"/>
          <a:ext cx="0" cy="0"/>
          <a:chOff x="0" y="0"/>
          <a:chExt cx="0" cy="0"/>
        </a:xfrm>
      </p:grpSpPr>
      <p:sp>
        <p:nvSpPr>
          <p:cNvPr id="2188" name="Google Shape;2188;p8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WRAP-UP</a:t>
            </a:r>
            <a:endParaRPr b="0" i="0" sz="1200" u="none" cap="none" strike="noStrike">
              <a:solidFill>
                <a:schemeClr val="dk1"/>
              </a:solidFill>
              <a:latin typeface="Calibri"/>
              <a:ea typeface="Calibri"/>
              <a:cs typeface="Calibri"/>
              <a:sym typeface="Calibri"/>
            </a:endParaRPr>
          </a:p>
        </p:txBody>
      </p:sp>
      <p:sp>
        <p:nvSpPr>
          <p:cNvPr id="2190" name="Google Shape;2190;p83"/>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191" name="Google Shape;2191;p83"/>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83"/>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193" name="Google Shape;2193;p83"/>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Political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Military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Axis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Comparing Leadership Approaches</a:t>
            </a:r>
            <a:endParaRPr b="0" i="0" sz="1500" u="none" cap="none" strike="noStrike">
              <a:solidFill>
                <a:schemeClr val="dk1"/>
              </a:solidFill>
              <a:latin typeface="Calibri"/>
              <a:ea typeface="Calibri"/>
              <a:cs typeface="Calibri"/>
              <a:sym typeface="Calibri"/>
            </a:endParaRPr>
          </a:p>
        </p:txBody>
      </p:sp>
      <p:sp>
        <p:nvSpPr>
          <p:cNvPr id="2194" name="Google Shape;2194;p83"/>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83"/>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196" name="Google Shape;2196;p83"/>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Which single leader's actions most changed the outcome of World War II? Defend your choice with at least two pieces of evidence. (SSP.04)</a:t>
            </a:r>
            <a:endParaRPr b="0" i="0" sz="1150" u="none" cap="none" strike="noStrike">
              <a:solidFill>
                <a:schemeClr val="dk1"/>
              </a:solidFill>
              <a:latin typeface="Calibri"/>
              <a:ea typeface="Calibri"/>
              <a:cs typeface="Calibri"/>
              <a:sym typeface="Calibri"/>
            </a:endParaRPr>
          </a:p>
        </p:txBody>
      </p:sp>
      <p:sp>
        <p:nvSpPr>
          <p:cNvPr id="2197" name="Google Shape;2197;p83"/>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83"/>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199" name="Google Shape;2199;p83"/>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83"/>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201" name="Google Shape;2201;p83"/>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Identify two key WWII leaders (one Allied, one Axis) and explain one significant action of each.</a:t>
            </a:r>
            <a:endParaRPr b="0" i="0" sz="1350" u="none" cap="none" strike="noStrike">
              <a:solidFill>
                <a:schemeClr val="dk1"/>
              </a:solidFill>
              <a:latin typeface="Calibri"/>
              <a:ea typeface="Calibri"/>
              <a:cs typeface="Calibri"/>
              <a:sym typeface="Calibri"/>
            </a:endParaRPr>
          </a:p>
        </p:txBody>
      </p:sp>
      <p:cxnSp>
        <p:nvCxnSpPr>
          <p:cNvPr id="2202" name="Google Shape;2202;p83"/>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3" name="Google Shape;2203;p83"/>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4" name="Google Shape;2204;p83"/>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205" name="Google Shape;2205;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06" name="Google Shape;2206;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211" name="Shape 2211"/>
        <p:cNvGrpSpPr/>
        <p:nvPr/>
      </p:nvGrpSpPr>
      <p:grpSpPr>
        <a:xfrm>
          <a:off x="0" y="0"/>
          <a:ext cx="0" cy="0"/>
          <a:chOff x="0" y="0"/>
          <a:chExt cx="0" cy="0"/>
        </a:xfrm>
      </p:grpSpPr>
      <p:sp>
        <p:nvSpPr>
          <p:cNvPr id="2212" name="Google Shape;2212;p8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8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8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215" name="Google Shape;2215;p8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US.50</a:t>
            </a:r>
            <a:endParaRPr b="0" i="0" sz="8800" u="none" cap="none" strike="noStrike">
              <a:solidFill>
                <a:schemeClr val="dk1"/>
              </a:solidFill>
              <a:latin typeface="Calibri"/>
              <a:ea typeface="Calibri"/>
              <a:cs typeface="Calibri"/>
              <a:sym typeface="Calibri"/>
            </a:endParaRPr>
          </a:p>
        </p:txBody>
      </p:sp>
      <p:sp>
        <p:nvSpPr>
          <p:cNvPr id="2216" name="Google Shape;2216;p8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Major WWII Battles: Midway, Iwo Jima, Okinawa &amp; D-Day</a:t>
            </a:r>
            <a:endParaRPr b="0" i="0" sz="2200" u="none" cap="none" strike="noStrike">
              <a:solidFill>
                <a:schemeClr val="dk1"/>
              </a:solidFill>
              <a:latin typeface="Calibri"/>
              <a:ea typeface="Calibri"/>
              <a:cs typeface="Calibri"/>
              <a:sym typeface="Calibri"/>
            </a:endParaRPr>
          </a:p>
        </p:txBody>
      </p:sp>
      <p:sp>
        <p:nvSpPr>
          <p:cNvPr id="2217" name="Google Shape;2217;p8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218" name="Google Shape;2218;p8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8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2220" name="Google Shape;2220;p8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2221" name="Google Shape;2221;p8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8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2223" name="Google Shape;2223;p8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2224" name="Google Shape;2224;p8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8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226" name="Google Shape;2226;p8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227" name="Google Shape;2227;p8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8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229" name="Google Shape;2229;p8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role of geographic and military factors on the outcomes of battles in the Pacific and European theaters of war, including the Battles of Midway, Iwo Jima, Okinawa, and D-Day.</a:t>
            </a:r>
            <a:endParaRPr b="0" i="0" sz="1300" u="none" cap="none" strike="noStrike">
              <a:solidFill>
                <a:schemeClr val="dk1"/>
              </a:solidFill>
              <a:latin typeface="Calibri"/>
              <a:ea typeface="Calibri"/>
              <a:cs typeface="Calibri"/>
              <a:sym typeface="Calibri"/>
            </a:endParaRPr>
          </a:p>
        </p:txBody>
      </p:sp>
      <p:sp>
        <p:nvSpPr>
          <p:cNvPr id="2230" name="Google Shape;2230;p8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8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232" name="Google Shape;2232;p8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250" u="none" cap="none" strike="noStrike">
              <a:solidFill>
                <a:schemeClr val="dk1"/>
              </a:solidFill>
              <a:latin typeface="Calibri"/>
              <a:ea typeface="Calibri"/>
              <a:cs typeface="Calibri"/>
              <a:sym typeface="Calibri"/>
            </a:endParaRPr>
          </a:p>
        </p:txBody>
      </p:sp>
      <p:sp>
        <p:nvSpPr>
          <p:cNvPr id="2233" name="Google Shape;2233;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34" name="Google Shape;2234;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39" name="Shape 2239"/>
        <p:cNvGrpSpPr/>
        <p:nvPr/>
      </p:nvGrpSpPr>
      <p:grpSpPr>
        <a:xfrm>
          <a:off x="0" y="0"/>
          <a:ext cx="0" cy="0"/>
          <a:chOff x="0" y="0"/>
          <a:chExt cx="0" cy="0"/>
        </a:xfrm>
      </p:grpSpPr>
      <p:sp>
        <p:nvSpPr>
          <p:cNvPr id="2240" name="Google Shape;2240;p8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QUICK REVIEW</a:t>
            </a:r>
            <a:endParaRPr b="0" i="0" sz="1200" u="none" cap="none" strike="noStrike">
              <a:solidFill>
                <a:schemeClr val="dk1"/>
              </a:solidFill>
              <a:latin typeface="Calibri"/>
              <a:ea typeface="Calibri"/>
              <a:cs typeface="Calibri"/>
              <a:sym typeface="Calibri"/>
            </a:endParaRPr>
          </a:p>
        </p:txBody>
      </p:sp>
      <p:sp>
        <p:nvSpPr>
          <p:cNvPr id="2242" name="Google Shape;2242;p8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243" name="Google Shape;2243;p8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244" name="Google Shape;2244;p8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8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8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247" name="Google Shape;2247;p8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Name one Allied leader and one Axis leader.</a:t>
            </a:r>
            <a:endParaRPr b="0" i="0" sz="1350" u="none" cap="none" strike="noStrike">
              <a:solidFill>
                <a:schemeClr val="dk1"/>
              </a:solidFill>
              <a:latin typeface="Calibri"/>
              <a:ea typeface="Calibri"/>
              <a:cs typeface="Calibri"/>
              <a:sym typeface="Calibri"/>
            </a:endParaRPr>
          </a:p>
        </p:txBody>
      </p:sp>
      <p:sp>
        <p:nvSpPr>
          <p:cNvPr id="2248" name="Google Shape;2248;p8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8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8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251" name="Google Shape;2251;p8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Who was the Supreme Allied Commander for the D-Day invasion?</a:t>
            </a:r>
            <a:endParaRPr b="0" i="0" sz="1350" u="none" cap="none" strike="noStrike">
              <a:solidFill>
                <a:schemeClr val="dk1"/>
              </a:solidFill>
              <a:latin typeface="Calibri"/>
              <a:ea typeface="Calibri"/>
              <a:cs typeface="Calibri"/>
              <a:sym typeface="Calibri"/>
            </a:endParaRPr>
          </a:p>
        </p:txBody>
      </p:sp>
      <p:sp>
        <p:nvSpPr>
          <p:cNvPr id="2252" name="Google Shape;2252;p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53" name="Google Shape;2253;p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58" name="Shape 2258"/>
        <p:cNvGrpSpPr/>
        <p:nvPr/>
      </p:nvGrpSpPr>
      <p:grpSpPr>
        <a:xfrm>
          <a:off x="0" y="0"/>
          <a:ext cx="0" cy="0"/>
          <a:chOff x="0" y="0"/>
          <a:chExt cx="0" cy="0"/>
        </a:xfrm>
      </p:grpSpPr>
      <p:sp>
        <p:nvSpPr>
          <p:cNvPr id="2259" name="Google Shape;2259;p8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CONFIDENCE CHECK</a:t>
            </a:r>
            <a:endParaRPr b="0" i="0" sz="1200" u="none" cap="none" strike="noStrike">
              <a:solidFill>
                <a:schemeClr val="dk1"/>
              </a:solidFill>
              <a:latin typeface="Calibri"/>
              <a:ea typeface="Calibri"/>
              <a:cs typeface="Calibri"/>
              <a:sym typeface="Calibri"/>
            </a:endParaRPr>
          </a:p>
        </p:txBody>
      </p:sp>
      <p:sp>
        <p:nvSpPr>
          <p:cNvPr id="2261" name="Google Shape;2261;p8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262" name="Google Shape;2262;p8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8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264" name="Google Shape;2264;p8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8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266" name="Google Shape;2266;p8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267" name="Google Shape;2267;p8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8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was the June 6, 1944 Allied invasion of France called?</a:t>
            </a:r>
            <a:endParaRPr b="0" i="0" sz="2400" u="none" cap="none" strike="noStrike">
              <a:solidFill>
                <a:schemeClr val="dk1"/>
              </a:solidFill>
              <a:latin typeface="Calibri"/>
              <a:ea typeface="Calibri"/>
              <a:cs typeface="Calibri"/>
              <a:sym typeface="Calibri"/>
            </a:endParaRPr>
          </a:p>
        </p:txBody>
      </p:sp>
      <p:sp>
        <p:nvSpPr>
          <p:cNvPr id="2269" name="Google Shape;2269;p8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8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271" name="Google Shape;2271;p8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D-Day, the Normandy invasion.</a:t>
            </a:r>
            <a:endParaRPr b="0" i="0" sz="1600" u="none" cap="none" strike="noStrike">
              <a:solidFill>
                <a:schemeClr val="dk1"/>
              </a:solidFill>
              <a:latin typeface="Calibri"/>
              <a:ea typeface="Calibri"/>
              <a:cs typeface="Calibri"/>
              <a:sym typeface="Calibri"/>
            </a:endParaRPr>
          </a:p>
        </p:txBody>
      </p:sp>
      <p:sp>
        <p:nvSpPr>
          <p:cNvPr id="2272" name="Google Shape;2272;p8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8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274" name="Google Shape;2274;p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75" name="Google Shape;2275;p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80" name="Shape 2280"/>
        <p:cNvGrpSpPr/>
        <p:nvPr/>
      </p:nvGrpSpPr>
      <p:grpSpPr>
        <a:xfrm>
          <a:off x="0" y="0"/>
          <a:ext cx="0" cy="0"/>
          <a:chOff x="0" y="0"/>
          <a:chExt cx="0" cy="0"/>
        </a:xfrm>
      </p:grpSpPr>
      <p:sp>
        <p:nvSpPr>
          <p:cNvPr id="2281" name="Google Shape;2281;p8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8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HOOK</a:t>
            </a:r>
            <a:endParaRPr b="0" i="0" sz="1200" u="none" cap="none" strike="noStrike">
              <a:solidFill>
                <a:schemeClr val="dk1"/>
              </a:solidFill>
              <a:latin typeface="Calibri"/>
              <a:ea typeface="Calibri"/>
              <a:cs typeface="Calibri"/>
              <a:sym typeface="Calibri"/>
            </a:endParaRPr>
          </a:p>
        </p:txBody>
      </p:sp>
      <p:sp>
        <p:nvSpPr>
          <p:cNvPr id="2283" name="Google Shape;2283;p8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84" name="Google Shape;2284;p8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8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From a tiny Pacific atoll called Midway to the storm-tossed beaches of Normandy, the outcome of World War II turned on a few decisive battles where geography, timing, and courage decided the fate of nations.</a:t>
            </a:r>
            <a:endParaRPr b="0" i="0" sz="2600" u="none" cap="none" strike="noStrike">
              <a:solidFill>
                <a:schemeClr val="dk1"/>
              </a:solidFill>
              <a:latin typeface="Calibri"/>
              <a:ea typeface="Calibri"/>
              <a:cs typeface="Calibri"/>
              <a:sym typeface="Calibri"/>
            </a:endParaRPr>
          </a:p>
        </p:txBody>
      </p:sp>
      <p:sp>
        <p:nvSpPr>
          <p:cNvPr id="2286" name="Google Shape;2286;p8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8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288" name="Google Shape;2288;p8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8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290" name="Google Shape;2290;p8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geography and military strategy turn the tide of World War II in both the Pacific and Europe?</a:t>
            </a:r>
            <a:endParaRPr b="0" i="0" sz="1600" u="none" cap="none" strike="noStrike">
              <a:solidFill>
                <a:schemeClr val="dk1"/>
              </a:solidFill>
              <a:latin typeface="Calibri"/>
              <a:ea typeface="Calibri"/>
              <a:cs typeface="Calibri"/>
              <a:sym typeface="Calibri"/>
            </a:endParaRPr>
          </a:p>
        </p:txBody>
      </p:sp>
      <p:sp>
        <p:nvSpPr>
          <p:cNvPr id="2291" name="Google Shape;2291;p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2" name="Google Shape;2292;p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97" name="Shape 2297"/>
        <p:cNvGrpSpPr/>
        <p:nvPr/>
      </p:nvGrpSpPr>
      <p:grpSpPr>
        <a:xfrm>
          <a:off x="0" y="0"/>
          <a:ext cx="0" cy="0"/>
          <a:chOff x="0" y="0"/>
          <a:chExt cx="0" cy="0"/>
        </a:xfrm>
      </p:grpSpPr>
      <p:sp>
        <p:nvSpPr>
          <p:cNvPr id="2298" name="Google Shape;2298;p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00" name="Google Shape;2300;p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Midway (June 1942)</a:t>
            </a:r>
            <a:endParaRPr b="0" i="0" sz="3000" u="none" cap="none" strike="noStrike">
              <a:solidFill>
                <a:schemeClr val="dk1"/>
              </a:solidFill>
              <a:latin typeface="Calibri"/>
              <a:ea typeface="Calibri"/>
              <a:cs typeface="Calibri"/>
              <a:sym typeface="Calibri"/>
            </a:endParaRPr>
          </a:p>
        </p:txBody>
      </p:sp>
      <p:sp>
        <p:nvSpPr>
          <p:cNvPr id="2301" name="Google Shape;2301;p8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8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306" name="Google Shape;2306;p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8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Midway Atoll's strategic location in the central Pacific made it crucial for both Japanese expansion and American defense.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U.S. codebreakers broke Japanese naval codes, revealing attack plans.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carriers ambushed the Japanese fleet, sinking four aircraft carriers and destroying Japan's offensive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"Miracle at Midway" shifted the Pacific war's momentum permanently to the Allies, demonstrating the critical importance of intelligence in modern warfare.</a:t>
            </a:r>
            <a:endParaRPr b="0" i="0" sz="1700" u="none" cap="none" strike="noStrike">
              <a:solidFill>
                <a:schemeClr val="dk1"/>
              </a:solidFill>
              <a:latin typeface="Calibri"/>
              <a:ea typeface="Calibri"/>
              <a:cs typeface="Calibri"/>
              <a:sym typeface="Calibri"/>
            </a:endParaRPr>
          </a:p>
        </p:txBody>
      </p:sp>
      <p:sp>
        <p:nvSpPr>
          <p:cNvPr id="2308" name="Google Shape;2308;p8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8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310" name="Google Shape;2310;p8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Battle of ________ mattered because ________, showing how geography shaped the war.</a:t>
            </a:r>
            <a:endParaRPr b="0" i="0" sz="1150" u="none" cap="none" strike="noStrike">
              <a:solidFill>
                <a:schemeClr val="dk1"/>
              </a:solidFill>
              <a:latin typeface="Calibri"/>
              <a:ea typeface="Calibri"/>
              <a:cs typeface="Calibri"/>
              <a:sym typeface="Calibri"/>
            </a:endParaRPr>
          </a:p>
        </p:txBody>
      </p:sp>
      <p:sp>
        <p:nvSpPr>
          <p:cNvPr id="2311" name="Google Shape;2311;p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12" name="Google Shape;2312;p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17" name="Shape 2317"/>
        <p:cNvGrpSpPr/>
        <p:nvPr/>
      </p:nvGrpSpPr>
      <p:grpSpPr>
        <a:xfrm>
          <a:off x="0" y="0"/>
          <a:ext cx="0" cy="0"/>
          <a:chOff x="0" y="0"/>
          <a:chExt cx="0" cy="0"/>
        </a:xfrm>
      </p:grpSpPr>
      <p:sp>
        <p:nvSpPr>
          <p:cNvPr id="2318" name="Google Shape;2318;p8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20" name="Google Shape;2320;p8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Iwo Jima (February-March 1945)</a:t>
            </a:r>
            <a:endParaRPr b="0" i="0" sz="3000" u="none" cap="none" strike="noStrike">
              <a:solidFill>
                <a:schemeClr val="dk1"/>
              </a:solidFill>
              <a:latin typeface="Calibri"/>
              <a:ea typeface="Calibri"/>
              <a:cs typeface="Calibri"/>
              <a:sym typeface="Calibri"/>
            </a:endParaRPr>
          </a:p>
        </p:txBody>
      </p:sp>
      <p:sp>
        <p:nvSpPr>
          <p:cNvPr id="2321" name="Google Shape;2321;p8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8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8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8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8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326" name="Google Shape;2326;p8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8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Iwo Jima's volcanic terrain created natural fortifications that Japanese defenders exploited through an extensive tunnel system.</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island's airfields were needed for emergency landings by B-29 bombers attacking Japan and for fighter escorts.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knowing the location of Japanese defenses, Marines suffered nearly 7,000 killed and 20,000 wounded in 36 days of fighting.</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iconic flag raising on Mount Suribachi became a symbol of American determination.</a:t>
            </a:r>
            <a:endParaRPr b="0" i="0" sz="1550" u="none" cap="none" strike="noStrike">
              <a:solidFill>
                <a:schemeClr val="dk1"/>
              </a:solidFill>
              <a:latin typeface="Calibri"/>
              <a:ea typeface="Calibri"/>
              <a:cs typeface="Calibri"/>
              <a:sym typeface="Calibri"/>
            </a:endParaRPr>
          </a:p>
        </p:txBody>
      </p:sp>
      <p:sp>
        <p:nvSpPr>
          <p:cNvPr id="2328" name="Google Shape;2328;p8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iwo-jima-flag-raising-1945.jpg" id="2329" name="Google Shape;2329;p89"/>
          <p:cNvPicPr preferRelativeResize="0"/>
          <p:nvPr/>
        </p:nvPicPr>
        <p:blipFill rotWithShape="1">
          <a:blip r:embed="rId3">
            <a:alphaModFix/>
          </a:blip>
          <a:srcRect b="0" l="0" r="0" t="0"/>
          <a:stretch/>
        </p:blipFill>
        <p:spPr>
          <a:xfrm>
            <a:off x="7589520" y="1892748"/>
            <a:ext cx="4069080" cy="3282815"/>
          </a:xfrm>
          <a:prstGeom prst="rect">
            <a:avLst/>
          </a:prstGeom>
          <a:noFill/>
          <a:ln>
            <a:noFill/>
          </a:ln>
        </p:spPr>
      </p:pic>
      <p:sp>
        <p:nvSpPr>
          <p:cNvPr id="2330" name="Google Shape;2330;p8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Joe Rosenthal / Associated Press (remade from NARA File 520748), February 23,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31" name="Google Shape;2331;p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32" name="Google Shape;2332;p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37" name="Shape 2337"/>
        <p:cNvGrpSpPr/>
        <p:nvPr/>
      </p:nvGrpSpPr>
      <p:grpSpPr>
        <a:xfrm>
          <a:off x="0" y="0"/>
          <a:ext cx="0" cy="0"/>
          <a:chOff x="0" y="0"/>
          <a:chExt cx="0" cy="0"/>
        </a:xfrm>
      </p:grpSpPr>
      <p:sp>
        <p:nvSpPr>
          <p:cNvPr id="2338" name="Google Shape;2338;p9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40" name="Google Shape;2340;p9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Okinawa (April-June 1945)</a:t>
            </a:r>
            <a:endParaRPr b="0" i="0" sz="3000" u="none" cap="none" strike="noStrike">
              <a:solidFill>
                <a:schemeClr val="dk1"/>
              </a:solidFill>
              <a:latin typeface="Calibri"/>
              <a:ea typeface="Calibri"/>
              <a:cs typeface="Calibri"/>
              <a:sym typeface="Calibri"/>
            </a:endParaRPr>
          </a:p>
        </p:txBody>
      </p:sp>
      <p:sp>
        <p:nvSpPr>
          <p:cNvPr id="2341" name="Google Shape;2341;p9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346" name="Google Shape;2346;p9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Okinawa's proximity to Japan (340 miles) made it essential as a staging base for invasion.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82-day battle was the bloodiest Pacific campaign, with over 12,000 Americans killed and 110,000 Japanese military deaths.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Mass kamikaze attacks damaged or sank hundreds of ships.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horrific casualties influenced American decisions about invading Japan versus using atomic weapons, as projected invasion casualties ran into the hundreds of thousands.</a:t>
            </a:r>
            <a:endParaRPr b="0" i="0" sz="1700" u="none" cap="none" strike="noStrike">
              <a:solidFill>
                <a:schemeClr val="dk1"/>
              </a:solidFill>
              <a:latin typeface="Calibri"/>
              <a:ea typeface="Calibri"/>
              <a:cs typeface="Calibri"/>
              <a:sym typeface="Calibri"/>
            </a:endParaRPr>
          </a:p>
        </p:txBody>
      </p:sp>
      <p:sp>
        <p:nvSpPr>
          <p:cNvPr id="2348" name="Google Shape;2348;p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9" name="Google Shape;2349;p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54" name="Shape 2354"/>
        <p:cNvGrpSpPr/>
        <p:nvPr/>
      </p:nvGrpSpPr>
      <p:grpSpPr>
        <a:xfrm>
          <a:off x="0" y="0"/>
          <a:ext cx="0" cy="0"/>
          <a:chOff x="0" y="0"/>
          <a:chExt cx="0" cy="0"/>
        </a:xfrm>
      </p:grpSpPr>
      <p:sp>
        <p:nvSpPr>
          <p:cNvPr id="2355" name="Google Shape;2355;p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57" name="Google Shape;2357;p9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D-Day: Normandy Invasion (June 6, 1944)</a:t>
            </a:r>
            <a:endParaRPr b="0" i="0" sz="3000" u="none" cap="none" strike="noStrike">
              <a:solidFill>
                <a:schemeClr val="dk1"/>
              </a:solidFill>
              <a:latin typeface="Calibri"/>
              <a:ea typeface="Calibri"/>
              <a:cs typeface="Calibri"/>
              <a:sym typeface="Calibri"/>
            </a:endParaRPr>
          </a:p>
        </p:txBody>
      </p:sp>
      <p:sp>
        <p:nvSpPr>
          <p:cNvPr id="2358" name="Google Shape;2358;p9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2363" name="Google Shape;2363;p9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Normandy coast was chosen for its beaches suitable for landing craft, proximity to English ports, and weaker defenses than Pas-de-Calais.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Allied deception operations convinced Germans the main attack would come elsewhere.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heavy casualties at Omaha Beach, Allied forces established beachheads and broke through German defenses.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largest amphibious invasion in history required unprecedented coordination of land, sea, and air forces, opening the Western Front that would ultimately liberate Western Europe.</a:t>
            </a:r>
            <a:endParaRPr b="0" i="0" sz="1550" u="none" cap="none" strike="noStrike">
              <a:solidFill>
                <a:schemeClr val="dk1"/>
              </a:solidFill>
              <a:latin typeface="Calibri"/>
              <a:ea typeface="Calibri"/>
              <a:cs typeface="Calibri"/>
              <a:sym typeface="Calibri"/>
            </a:endParaRPr>
          </a:p>
        </p:txBody>
      </p:sp>
      <p:sp>
        <p:nvSpPr>
          <p:cNvPr id="2365" name="Google Shape;2365;p9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day-omaha-beach-1944.jpg" id="2366" name="Google Shape;2366;p91"/>
          <p:cNvPicPr preferRelativeResize="0"/>
          <p:nvPr/>
        </p:nvPicPr>
        <p:blipFill rotWithShape="1">
          <a:blip r:embed="rId3">
            <a:alphaModFix/>
          </a:blip>
          <a:srcRect b="0" l="0" r="0" t="0"/>
          <a:stretch/>
        </p:blipFill>
        <p:spPr>
          <a:xfrm>
            <a:off x="7589520" y="1896987"/>
            <a:ext cx="4069080" cy="3274338"/>
          </a:xfrm>
          <a:prstGeom prst="rect">
            <a:avLst/>
          </a:prstGeom>
          <a:noFill/>
          <a:ln>
            <a:noFill/>
          </a:ln>
        </p:spPr>
      </p:pic>
      <p:sp>
        <p:nvSpPr>
          <p:cNvPr id="2367" name="Google Shape;2367;p9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Chief Photographer’s Mate Robert F. Sargent / U.S. Coast Guard, June 6, 1944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68" name="Google Shape;2368;p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69" name="Google Shape;2369;p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74" name="Shape 2374"/>
        <p:cNvGrpSpPr/>
        <p:nvPr/>
      </p:nvGrpSpPr>
      <p:grpSpPr>
        <a:xfrm>
          <a:off x="0" y="0"/>
          <a:ext cx="0" cy="0"/>
          <a:chOff x="0" y="0"/>
          <a:chExt cx="0" cy="0"/>
        </a:xfrm>
      </p:grpSpPr>
      <p:sp>
        <p:nvSpPr>
          <p:cNvPr id="2375" name="Google Shape;2375;p9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PEOPLE WHO SHAPED THE ERA</a:t>
            </a:r>
            <a:endParaRPr b="0" i="0" sz="1200" u="none" cap="none" strike="noStrike">
              <a:solidFill>
                <a:schemeClr val="dk1"/>
              </a:solidFill>
              <a:latin typeface="Calibri"/>
              <a:ea typeface="Calibri"/>
              <a:cs typeface="Calibri"/>
              <a:sym typeface="Calibri"/>
            </a:endParaRPr>
          </a:p>
        </p:txBody>
      </p:sp>
      <p:sp>
        <p:nvSpPr>
          <p:cNvPr id="2377" name="Google Shape;2377;p9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2378" name="Google Shape;2378;p92"/>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2"/>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2"/>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Gen. Dwight D. Eisenhower</a:t>
            </a:r>
            <a:endParaRPr b="0" i="0" sz="1800" u="none" cap="none" strike="noStrike">
              <a:solidFill>
                <a:schemeClr val="dk1"/>
              </a:solidFill>
              <a:latin typeface="Calibri"/>
              <a:ea typeface="Calibri"/>
              <a:cs typeface="Calibri"/>
              <a:sym typeface="Calibri"/>
            </a:endParaRPr>
          </a:p>
        </p:txBody>
      </p:sp>
      <p:sp>
        <p:nvSpPr>
          <p:cNvPr id="2381" name="Google Shape;2381;p92"/>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Commander of D-Day (1890-1969)</a:t>
            </a:r>
            <a:endParaRPr b="0" i="0" sz="1100" u="none" cap="none" strike="noStrike">
              <a:solidFill>
                <a:schemeClr val="dk1"/>
              </a:solidFill>
              <a:latin typeface="Calibri"/>
              <a:ea typeface="Calibri"/>
              <a:cs typeface="Calibri"/>
              <a:sym typeface="Calibri"/>
            </a:endParaRPr>
          </a:p>
        </p:txBody>
      </p:sp>
      <p:sp>
        <p:nvSpPr>
          <p:cNvPr id="2382" name="Google Shape;2382;p92"/>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Chose June 6, 1944 despite risky weather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Coordinated air, sea, and land forces at Normandy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Opened the Western front that doomed Nazi Germany</a:t>
            </a:r>
            <a:endParaRPr b="0" i="0" sz="1300" u="none" cap="none" strike="noStrike">
              <a:solidFill>
                <a:schemeClr val="dk1"/>
              </a:solidFill>
              <a:latin typeface="Calibri"/>
              <a:ea typeface="Calibri"/>
              <a:cs typeface="Calibri"/>
              <a:sym typeface="Calibri"/>
            </a:endParaRPr>
          </a:p>
        </p:txBody>
      </p:sp>
      <p:sp>
        <p:nvSpPr>
          <p:cNvPr id="2383" name="Google Shape;2383;p92"/>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2"/>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Tie Eisenhower's decisions to the geographic and logistical factors driving each battle.</a:t>
            </a:r>
            <a:endParaRPr b="0" i="0" sz="800" u="none" cap="none" strike="noStrike">
              <a:solidFill>
                <a:schemeClr val="dk1"/>
              </a:solidFill>
              <a:latin typeface="Calibri"/>
              <a:ea typeface="Calibri"/>
              <a:cs typeface="Calibri"/>
              <a:sym typeface="Calibri"/>
            </a:endParaRPr>
          </a:p>
        </p:txBody>
      </p:sp>
      <p:sp>
        <p:nvSpPr>
          <p:cNvPr id="2385" name="Google Shape;2385;p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86" name="Google Shape;2386;p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1" name="Shape 2391"/>
        <p:cNvGrpSpPr/>
        <p:nvPr/>
      </p:nvGrpSpPr>
      <p:grpSpPr>
        <a:xfrm>
          <a:off x="0" y="0"/>
          <a:ext cx="0" cy="0"/>
          <a:chOff x="0" y="0"/>
          <a:chExt cx="0" cy="0"/>
        </a:xfrm>
      </p:grpSpPr>
      <p:sp>
        <p:nvSpPr>
          <p:cNvPr id="2392" name="Google Shape;2392;p9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US.50 · PRIMARY SOURCE ANALYSIS</a:t>
            </a:r>
            <a:endParaRPr b="0" i="0" sz="1200" u="none" cap="none" strike="noStrike">
              <a:solidFill>
                <a:schemeClr val="dk1"/>
              </a:solidFill>
              <a:latin typeface="Calibri"/>
              <a:ea typeface="Calibri"/>
              <a:cs typeface="Calibri"/>
              <a:sym typeface="Calibri"/>
            </a:endParaRPr>
          </a:p>
        </p:txBody>
      </p:sp>
      <p:sp>
        <p:nvSpPr>
          <p:cNvPr id="2394" name="Google Shape;2394;p9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Order of the Day - D-Day</a:t>
            </a:r>
            <a:endParaRPr b="0" i="0" sz="2500" u="none" cap="none" strike="noStrike">
              <a:solidFill>
                <a:schemeClr val="dk1"/>
              </a:solidFill>
              <a:latin typeface="Calibri"/>
              <a:ea typeface="Calibri"/>
              <a:cs typeface="Calibri"/>
              <a:sym typeface="Calibri"/>
            </a:endParaRPr>
          </a:p>
        </p:txBody>
      </p:sp>
      <p:sp>
        <p:nvSpPr>
          <p:cNvPr id="2395" name="Google Shape;2395;p9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2397" name="Google Shape;2397;p9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General Dwight D. Eisenhower  ·  June 6, 1944</a:t>
            </a:r>
            <a:endParaRPr b="0" i="0" sz="1200" u="none" cap="none" strike="noStrike">
              <a:solidFill>
                <a:schemeClr val="dk1"/>
              </a:solidFill>
              <a:latin typeface="Calibri"/>
              <a:ea typeface="Calibri"/>
              <a:cs typeface="Calibri"/>
              <a:sym typeface="Calibri"/>
            </a:endParaRPr>
          </a:p>
        </p:txBody>
      </p:sp>
      <p:sp>
        <p:nvSpPr>
          <p:cNvPr id="2398" name="Google Shape;2398;p9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400" u="none" cap="none" strike="noStrike">
              <a:solidFill>
                <a:schemeClr val="dk1"/>
              </a:solidFill>
              <a:latin typeface="Calibri"/>
              <a:ea typeface="Calibri"/>
              <a:cs typeface="Calibri"/>
              <a:sym typeface="Calibri"/>
            </a:endParaRPr>
          </a:p>
        </p:txBody>
      </p:sp>
      <p:sp>
        <p:nvSpPr>
          <p:cNvPr id="2401" name="Google Shape;2401;p9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403" name="Google Shape;2403;p9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405" name="Google Shape;2405;p9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June 1944, the Allies had been fighting Nazi Germany for nearly five years. The D-Day invasion of Normandy, France was the largest amphibious military operation in history, involving nearly 160,000 Allied troops crossing the English Channel to open a western front against Hitler. General Eisenhower issued this order to boost morale and convey the historic significance of what soldiers were about to attempt.</a:t>
            </a:r>
            <a:endParaRPr b="0" i="0" sz="1050" u="none" cap="none" strike="noStrike">
              <a:solidFill>
                <a:schemeClr val="dk1"/>
              </a:solidFill>
              <a:latin typeface="Calibri"/>
              <a:ea typeface="Calibri"/>
              <a:cs typeface="Calibri"/>
              <a:sym typeface="Calibri"/>
            </a:endParaRPr>
          </a:p>
        </p:txBody>
      </p:sp>
      <p:sp>
        <p:nvSpPr>
          <p:cNvPr id="2406" name="Google Shape;2406;p9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408" name="Google Shape;2408;p9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How does Eisenhower describe the significance of the D-Day invasion?</a:t>
            </a:r>
            <a:endParaRPr b="0" i="0" sz="1250" u="none" cap="none" strike="noStrike">
              <a:solidFill>
                <a:schemeClr val="dk1"/>
              </a:solidFill>
              <a:latin typeface="Calibri"/>
              <a:ea typeface="Calibri"/>
              <a:cs typeface="Calibri"/>
              <a:sym typeface="Calibri"/>
            </a:endParaRPr>
          </a:p>
        </p:txBody>
      </p:sp>
      <p:sp>
        <p:nvSpPr>
          <p:cNvPr id="2409" name="Google Shape;2409;p9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412" name="Google Shape;2412;p9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413" name="Google Shape;2413;p9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414" name="Google Shape;2414;p9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415" name="Google Shape;2415;p9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General Dwight D. Eisenhower</a:t>
            </a:r>
            <a:endParaRPr b="0" i="0" sz="950" u="none" cap="none" strike="noStrike">
              <a:solidFill>
                <a:schemeClr val="dk1"/>
              </a:solidFill>
              <a:latin typeface="Calibri"/>
              <a:ea typeface="Calibri"/>
              <a:cs typeface="Calibri"/>
              <a:sym typeface="Calibri"/>
            </a:endParaRPr>
          </a:p>
        </p:txBody>
      </p:sp>
      <p:sp>
        <p:nvSpPr>
          <p:cNvPr id="2416" name="Google Shape;2416;p9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417" name="Google Shape;2417;p9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6, 1944</a:t>
            </a:r>
            <a:endParaRPr b="0" i="0" sz="950" u="none" cap="none" strike="noStrike">
              <a:solidFill>
                <a:schemeClr val="dk1"/>
              </a:solidFill>
              <a:latin typeface="Calibri"/>
              <a:ea typeface="Calibri"/>
              <a:cs typeface="Calibri"/>
              <a:sym typeface="Calibri"/>
            </a:endParaRPr>
          </a:p>
        </p:txBody>
      </p:sp>
      <p:sp>
        <p:nvSpPr>
          <p:cNvPr id="2418" name="Google Shape;2418;p9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419" name="Google Shape;2419;p9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420" name="Google Shape;2420;p9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421" name="Google Shape;2421;p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22" name="Google Shape;2422;p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27" name="Shape 2427"/>
        <p:cNvGrpSpPr/>
        <p:nvPr/>
      </p:nvGrpSpPr>
      <p:grpSpPr>
        <a:xfrm>
          <a:off x="0" y="0"/>
          <a:ext cx="0" cy="0"/>
          <a:chOff x="0" y="0"/>
          <a:chExt cx="0" cy="0"/>
        </a:xfrm>
      </p:grpSpPr>
      <p:sp>
        <p:nvSpPr>
          <p:cNvPr id="2428" name="Google Shape;2428;p9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KEY VOCABULARY</a:t>
            </a:r>
            <a:endParaRPr b="0" i="0" sz="1200" u="none" cap="none" strike="noStrike">
              <a:solidFill>
                <a:schemeClr val="dk1"/>
              </a:solidFill>
              <a:latin typeface="Calibri"/>
              <a:ea typeface="Calibri"/>
              <a:cs typeface="Calibri"/>
              <a:sym typeface="Calibri"/>
            </a:endParaRPr>
          </a:p>
        </p:txBody>
      </p:sp>
      <p:sp>
        <p:nvSpPr>
          <p:cNvPr id="2430" name="Google Shape;2430;p9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431" name="Google Shape;2431;p9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4"/>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D-Day (Normandy Invasion)</a:t>
            </a:r>
            <a:endParaRPr b="0" i="0" sz="1350" u="none" cap="none" strike="noStrike">
              <a:solidFill>
                <a:schemeClr val="dk1"/>
              </a:solidFill>
              <a:latin typeface="Calibri"/>
              <a:ea typeface="Calibri"/>
              <a:cs typeface="Calibri"/>
              <a:sym typeface="Calibri"/>
            </a:endParaRPr>
          </a:p>
        </p:txBody>
      </p:sp>
      <p:sp>
        <p:nvSpPr>
          <p:cNvPr id="2434" name="Google Shape;2434;p9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dee-day NOR-mun-dee</a:t>
            </a:r>
            <a:endParaRPr b="0" i="0" sz="850" u="none" cap="none" strike="noStrike">
              <a:solidFill>
                <a:schemeClr val="dk1"/>
              </a:solidFill>
              <a:latin typeface="Calibri"/>
              <a:ea typeface="Calibri"/>
              <a:cs typeface="Calibri"/>
              <a:sym typeface="Calibri"/>
            </a:endParaRPr>
          </a:p>
        </p:txBody>
      </p:sp>
      <p:sp>
        <p:nvSpPr>
          <p:cNvPr id="2435" name="Google Shape;2435;p9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Día D (Invasión de Normandía)</a:t>
            </a:r>
            <a:endParaRPr b="0" i="0" sz="1000" u="none" cap="none" strike="noStrike">
              <a:solidFill>
                <a:schemeClr val="dk1"/>
              </a:solidFill>
              <a:latin typeface="Calibri"/>
              <a:ea typeface="Calibri"/>
              <a:cs typeface="Calibri"/>
              <a:sym typeface="Calibri"/>
            </a:endParaRPr>
          </a:p>
        </p:txBody>
      </p:sp>
      <p:sp>
        <p:nvSpPr>
          <p:cNvPr id="2436" name="Google Shape;2436;p94"/>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94"/>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D</a:t>
            </a:r>
            <a:endParaRPr b="0" i="0" sz="1500" u="none" cap="none" strike="noStrike">
              <a:solidFill>
                <a:schemeClr val="dk1"/>
              </a:solidFill>
              <a:latin typeface="Calibri"/>
              <a:ea typeface="Calibri"/>
              <a:cs typeface="Calibri"/>
              <a:sym typeface="Calibri"/>
            </a:endParaRPr>
          </a:p>
        </p:txBody>
      </p:sp>
      <p:sp>
        <p:nvSpPr>
          <p:cNvPr id="2438" name="Google Shape;2438;p94"/>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6, 1944 Allied invasion of Nazi-occupied France across the beaches of Normandy, the largest amphibious assault in history, turning point of the war in Europe.</a:t>
            </a:r>
            <a:endParaRPr b="0" i="0" sz="1100" u="none" cap="none" strike="noStrike">
              <a:solidFill>
                <a:schemeClr val="dk1"/>
              </a:solidFill>
              <a:latin typeface="Calibri"/>
              <a:ea typeface="Calibri"/>
              <a:cs typeface="Calibri"/>
              <a:sym typeface="Calibri"/>
            </a:endParaRPr>
          </a:p>
        </p:txBody>
      </p:sp>
      <p:sp>
        <p:nvSpPr>
          <p:cNvPr id="2439" name="Google Shape;2439;p9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4"/>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Midway</a:t>
            </a:r>
            <a:endParaRPr b="0" i="0" sz="1350" u="none" cap="none" strike="noStrike">
              <a:solidFill>
                <a:schemeClr val="dk1"/>
              </a:solidFill>
              <a:latin typeface="Calibri"/>
              <a:ea typeface="Calibri"/>
              <a:cs typeface="Calibri"/>
              <a:sym typeface="Calibri"/>
            </a:endParaRPr>
          </a:p>
        </p:txBody>
      </p:sp>
      <p:sp>
        <p:nvSpPr>
          <p:cNvPr id="2442" name="Google Shape;2442;p9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MID-way</a:t>
            </a:r>
            <a:endParaRPr b="0" i="0" sz="850" u="none" cap="none" strike="noStrike">
              <a:solidFill>
                <a:schemeClr val="dk1"/>
              </a:solidFill>
              <a:latin typeface="Calibri"/>
              <a:ea typeface="Calibri"/>
              <a:cs typeface="Calibri"/>
              <a:sym typeface="Calibri"/>
            </a:endParaRPr>
          </a:p>
        </p:txBody>
      </p:sp>
      <p:sp>
        <p:nvSpPr>
          <p:cNvPr id="2443" name="Google Shape;2443;p9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Midway</a:t>
            </a:r>
            <a:endParaRPr b="0" i="0" sz="1000" u="none" cap="none" strike="noStrike">
              <a:solidFill>
                <a:schemeClr val="dk1"/>
              </a:solidFill>
              <a:latin typeface="Calibri"/>
              <a:ea typeface="Calibri"/>
              <a:cs typeface="Calibri"/>
              <a:sym typeface="Calibri"/>
            </a:endParaRPr>
          </a:p>
        </p:txBody>
      </p:sp>
      <p:sp>
        <p:nvSpPr>
          <p:cNvPr id="2444" name="Google Shape;2444;p94"/>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94"/>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46" name="Google Shape;2446;p94"/>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1942 decisive U.S. naval victory that stopped Japanese expansion in the Pacific and marked the turning point of the Pacific War.</a:t>
            </a:r>
            <a:endParaRPr b="0" i="0" sz="1100" u="none" cap="none" strike="noStrike">
              <a:solidFill>
                <a:schemeClr val="dk1"/>
              </a:solidFill>
              <a:latin typeface="Calibri"/>
              <a:ea typeface="Calibri"/>
              <a:cs typeface="Calibri"/>
              <a:sym typeface="Calibri"/>
            </a:endParaRPr>
          </a:p>
        </p:txBody>
      </p:sp>
      <p:sp>
        <p:nvSpPr>
          <p:cNvPr id="2447" name="Google Shape;2447;p9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4"/>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450" name="Google Shape;2450;p9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451" name="Google Shape;2451;p9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452" name="Google Shape;2452;p94"/>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94"/>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54" name="Google Shape;2454;p94"/>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455" name="Google Shape;2455;p9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4"/>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the Bulge</a:t>
            </a:r>
            <a:endParaRPr b="0" i="0" sz="1350" u="none" cap="none" strike="noStrike">
              <a:solidFill>
                <a:schemeClr val="dk1"/>
              </a:solidFill>
              <a:latin typeface="Calibri"/>
              <a:ea typeface="Calibri"/>
              <a:cs typeface="Calibri"/>
              <a:sym typeface="Calibri"/>
            </a:endParaRPr>
          </a:p>
        </p:txBody>
      </p:sp>
      <p:sp>
        <p:nvSpPr>
          <p:cNvPr id="2458" name="Google Shape;2458;p9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thuh bulj</a:t>
            </a:r>
            <a:endParaRPr b="0" i="0" sz="850" u="none" cap="none" strike="noStrike">
              <a:solidFill>
                <a:schemeClr val="dk1"/>
              </a:solidFill>
              <a:latin typeface="Calibri"/>
              <a:ea typeface="Calibri"/>
              <a:cs typeface="Calibri"/>
              <a:sym typeface="Calibri"/>
            </a:endParaRPr>
          </a:p>
        </p:txBody>
      </p:sp>
      <p:sp>
        <p:nvSpPr>
          <p:cNvPr id="2459" name="Google Shape;2459;p9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las Ardenas</a:t>
            </a:r>
            <a:endParaRPr b="0" i="0" sz="1000" u="none" cap="none" strike="noStrike">
              <a:solidFill>
                <a:schemeClr val="dk1"/>
              </a:solidFill>
              <a:latin typeface="Calibri"/>
              <a:ea typeface="Calibri"/>
              <a:cs typeface="Calibri"/>
              <a:sym typeface="Calibri"/>
            </a:endParaRPr>
          </a:p>
        </p:txBody>
      </p:sp>
      <p:sp>
        <p:nvSpPr>
          <p:cNvPr id="2460" name="Google Shape;2460;p94"/>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94"/>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62" name="Google Shape;2462;p94"/>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Germany's last major offensive (December 1944-January 1945) in the Ardennes forest, creating a "bulge" in Allied lines before being defeated.</a:t>
            </a:r>
            <a:endParaRPr b="0" i="0" sz="1100" u="none" cap="none" strike="noStrike">
              <a:solidFill>
                <a:schemeClr val="dk1"/>
              </a:solidFill>
              <a:latin typeface="Calibri"/>
              <a:ea typeface="Calibri"/>
              <a:cs typeface="Calibri"/>
              <a:sym typeface="Calibri"/>
            </a:endParaRPr>
          </a:p>
        </p:txBody>
      </p:sp>
      <p:sp>
        <p:nvSpPr>
          <p:cNvPr id="2463" name="Google Shape;2463;p9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4"/>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466" name="Google Shape;2466;p9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467" name="Google Shape;2467;p9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468" name="Google Shape;2468;p94"/>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94"/>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DD</a:t>
            </a:r>
            <a:endParaRPr b="0" i="0" sz="1300" u="none" cap="none" strike="noStrike">
              <a:solidFill>
                <a:schemeClr val="dk1"/>
              </a:solidFill>
              <a:latin typeface="Calibri"/>
              <a:ea typeface="Calibri"/>
              <a:cs typeface="Calibri"/>
              <a:sym typeface="Calibri"/>
            </a:endParaRPr>
          </a:p>
        </p:txBody>
      </p:sp>
      <p:sp>
        <p:nvSpPr>
          <p:cNvPr id="2470" name="Google Shape;2470;p94"/>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471" name="Google Shape;2471;p9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4"/>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474" name="Google Shape;2474;p9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475" name="Google Shape;2475;p9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476" name="Google Shape;2476;p94"/>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94"/>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478" name="Google Shape;2478;p94"/>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479" name="Google Shape;2479;p9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480" name="Google Shape;2480;p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81" name="Google Shape;2481;p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86" name="Shape 2486"/>
        <p:cNvGrpSpPr/>
        <p:nvPr/>
      </p:nvGrpSpPr>
      <p:grpSpPr>
        <a:xfrm>
          <a:off x="0" y="0"/>
          <a:ext cx="0" cy="0"/>
          <a:chOff x="0" y="0"/>
          <a:chExt cx="0" cy="0"/>
        </a:xfrm>
      </p:grpSpPr>
      <p:sp>
        <p:nvSpPr>
          <p:cNvPr id="2487" name="Google Shape;2487;p9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GUIDED PRACTICE — WE DO IT TOGETHER</a:t>
            </a:r>
            <a:endParaRPr b="0" i="0" sz="1200" u="none" cap="none" strike="noStrike">
              <a:solidFill>
                <a:schemeClr val="dk1"/>
              </a:solidFill>
              <a:latin typeface="Calibri"/>
              <a:ea typeface="Calibri"/>
              <a:cs typeface="Calibri"/>
              <a:sym typeface="Calibri"/>
            </a:endParaRPr>
          </a:p>
        </p:txBody>
      </p:sp>
      <p:sp>
        <p:nvSpPr>
          <p:cNvPr id="2489" name="Google Shape;2489;p9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490" name="Google Shape;2490;p9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Link geography to military outcome</a:t>
            </a:r>
            <a:endParaRPr b="0" i="0" sz="1100" u="none" cap="none" strike="noStrike">
              <a:solidFill>
                <a:schemeClr val="dk1"/>
              </a:solidFill>
              <a:latin typeface="Calibri"/>
              <a:ea typeface="Calibri"/>
              <a:cs typeface="Calibri"/>
              <a:sym typeface="Calibri"/>
            </a:endParaRPr>
          </a:p>
        </p:txBody>
      </p:sp>
      <p:sp>
        <p:nvSpPr>
          <p:cNvPr id="2492" name="Google Shape;2492;p9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geography decide the outcome at Normandy and Midway?</a:t>
            </a:r>
            <a:endParaRPr b="0" i="0" sz="1500" u="none" cap="none" strike="noStrike">
              <a:solidFill>
                <a:schemeClr val="dk1"/>
              </a:solidFill>
              <a:latin typeface="Calibri"/>
              <a:ea typeface="Calibri"/>
              <a:cs typeface="Calibri"/>
              <a:sym typeface="Calibri"/>
            </a:endParaRPr>
          </a:p>
        </p:txBody>
      </p:sp>
      <p:sp>
        <p:nvSpPr>
          <p:cNvPr id="2494" name="Google Shape;2494;p9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496" name="Google Shape;2496;p9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At Normandy, beaches, tides, and surprise shaped the landing; at Midway, distance and carrier range decided the battle. Terrain and logistics, not just courage, drove results.</a:t>
            </a:r>
            <a:endParaRPr b="0" i="0" sz="1450" u="none" cap="none" strike="noStrike">
              <a:solidFill>
                <a:schemeClr val="dk1"/>
              </a:solidFill>
              <a:latin typeface="Calibri"/>
              <a:ea typeface="Calibri"/>
              <a:cs typeface="Calibri"/>
              <a:sym typeface="Calibri"/>
            </a:endParaRPr>
          </a:p>
        </p:txBody>
      </p:sp>
      <p:sp>
        <p:nvSpPr>
          <p:cNvPr id="2497" name="Google Shape;2497;p9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499" name="Google Shape;2499;p9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Circle one geographic factor named in the source.</a:t>
            </a:r>
            <a:endParaRPr b="0" i="0" sz="1300" u="none" cap="none" strike="noStrike">
              <a:solidFill>
                <a:schemeClr val="dk1"/>
              </a:solidFill>
              <a:latin typeface="Calibri"/>
              <a:ea typeface="Calibri"/>
              <a:cs typeface="Calibri"/>
              <a:sym typeface="Calibri"/>
            </a:endParaRPr>
          </a:p>
        </p:txBody>
      </p:sp>
      <p:sp>
        <p:nvSpPr>
          <p:cNvPr id="2500" name="Google Shape;2500;p9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that factor changed the battle's outcome, citing the text.</a:t>
            </a:r>
            <a:endParaRPr b="0" i="0" sz="1200" u="none" cap="none" strike="noStrike">
              <a:solidFill>
                <a:schemeClr val="dk1"/>
              </a:solidFill>
              <a:latin typeface="Calibri"/>
              <a:ea typeface="Calibri"/>
              <a:cs typeface="Calibri"/>
              <a:sym typeface="Calibri"/>
            </a:endParaRPr>
          </a:p>
        </p:txBody>
      </p:sp>
      <p:sp>
        <p:nvSpPr>
          <p:cNvPr id="2501" name="Google Shape;2501;p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02" name="Google Shape;2502;p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07" name="Shape 2507"/>
        <p:cNvGrpSpPr/>
        <p:nvPr/>
      </p:nvGrpSpPr>
      <p:grpSpPr>
        <a:xfrm>
          <a:off x="0" y="0"/>
          <a:ext cx="0" cy="0"/>
          <a:chOff x="0" y="0"/>
          <a:chExt cx="0" cy="0"/>
        </a:xfrm>
      </p:grpSpPr>
      <p:sp>
        <p:nvSpPr>
          <p:cNvPr id="2508" name="Google Shape;2508;p9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STUDENT ACTIVITY</a:t>
            </a:r>
            <a:endParaRPr b="0" i="0" sz="1200" u="none" cap="none" strike="noStrike">
              <a:solidFill>
                <a:schemeClr val="dk1"/>
              </a:solidFill>
              <a:latin typeface="Calibri"/>
              <a:ea typeface="Calibri"/>
              <a:cs typeface="Calibri"/>
              <a:sym typeface="Calibri"/>
            </a:endParaRPr>
          </a:p>
        </p:txBody>
      </p:sp>
      <p:sp>
        <p:nvSpPr>
          <p:cNvPr id="2510" name="Google Shape;2510;p9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Terrain and Turning Points — Geography of the Great Battles</a:t>
            </a:r>
            <a:endParaRPr b="0" i="0" sz="2200" u="none" cap="none" strike="noStrike">
              <a:solidFill>
                <a:schemeClr val="dk1"/>
              </a:solidFill>
              <a:latin typeface="Calibri"/>
              <a:ea typeface="Calibri"/>
              <a:cs typeface="Calibri"/>
              <a:sym typeface="Calibri"/>
            </a:endParaRPr>
          </a:p>
        </p:txBody>
      </p:sp>
      <p:sp>
        <p:nvSpPr>
          <p:cNvPr id="2511" name="Google Shape;2511;p96"/>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6"/>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2513" name="Google Shape;2513;p96"/>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6"/>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515" name="Google Shape;2515;p9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517" name="Google Shape;2517;p9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Eisenhower's D-Day 'Order of the Day' and review the Normandy photograph. For four battles, Midway, Iwo Jima, Okinawa, and D-Day, record the theater (Pacific or European), one geographic or military factor that shaped the outcome, and the result. Finish with a one-sentence claim on how geography decided one of these battles, supported by evidence.</a:t>
            </a:r>
            <a:endParaRPr b="0" i="0" sz="1350" u="none" cap="none" strike="noStrike">
              <a:solidFill>
                <a:schemeClr val="dk1"/>
              </a:solidFill>
              <a:latin typeface="Calibri"/>
              <a:ea typeface="Calibri"/>
              <a:cs typeface="Calibri"/>
              <a:sym typeface="Calibri"/>
            </a:endParaRPr>
          </a:p>
        </p:txBody>
      </p:sp>
      <p:sp>
        <p:nvSpPr>
          <p:cNvPr id="2518" name="Google Shape;2518;p9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520" name="Google Shape;2520;p9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four-battle chart (theater, geographic/military factor, result) AND a one-sentence evidence-based claim about geography's role.</a:t>
            </a:r>
            <a:endParaRPr b="0" i="0" sz="1050" u="none" cap="none" strike="noStrike">
              <a:solidFill>
                <a:schemeClr val="dk1"/>
              </a:solidFill>
              <a:latin typeface="Calibri"/>
              <a:ea typeface="Calibri"/>
              <a:cs typeface="Calibri"/>
              <a:sym typeface="Calibri"/>
            </a:endParaRPr>
          </a:p>
        </p:txBody>
      </p:sp>
      <p:sp>
        <p:nvSpPr>
          <p:cNvPr id="2521" name="Google Shape;2521;p9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523" name="Google Shape;2523;p9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battles pre-labeled and a word bank of factors and results to place. Honors: Write a paragraph using Eisenhower's order to explain the enormous risk and planning behind the D-Day invasion.</a:t>
            </a:r>
            <a:endParaRPr b="0" i="0" sz="1000" u="none" cap="none" strike="noStrike">
              <a:solidFill>
                <a:schemeClr val="dk1"/>
              </a:solidFill>
              <a:latin typeface="Calibri"/>
              <a:ea typeface="Calibri"/>
              <a:cs typeface="Calibri"/>
              <a:sym typeface="Calibri"/>
            </a:endParaRPr>
          </a:p>
        </p:txBody>
      </p:sp>
      <p:sp>
        <p:nvSpPr>
          <p:cNvPr id="2524" name="Google Shape;2524;p9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cornell-notes/unit-6/us50-major-wwii-battles.pdf</a:t>
            </a:r>
            <a:endParaRPr b="0" i="0" sz="1050" u="none" cap="none" strike="noStrike">
              <a:solidFill>
                <a:schemeClr val="dk1"/>
              </a:solidFill>
              <a:latin typeface="Calibri"/>
              <a:ea typeface="Calibri"/>
              <a:cs typeface="Calibri"/>
              <a:sym typeface="Calibri"/>
            </a:endParaRPr>
          </a:p>
        </p:txBody>
      </p:sp>
      <p:sp>
        <p:nvSpPr>
          <p:cNvPr id="2525" name="Google Shape;2525;p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26" name="Google Shape;2526;p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31" name="Shape 2531"/>
        <p:cNvGrpSpPr/>
        <p:nvPr/>
      </p:nvGrpSpPr>
      <p:grpSpPr>
        <a:xfrm>
          <a:off x="0" y="0"/>
          <a:ext cx="0" cy="0"/>
          <a:chOff x="0" y="0"/>
          <a:chExt cx="0" cy="0"/>
        </a:xfrm>
      </p:grpSpPr>
      <p:sp>
        <p:nvSpPr>
          <p:cNvPr id="2532" name="Google Shape;2532;p9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CHECK FOR UNDERSTANDING</a:t>
            </a:r>
            <a:endParaRPr b="0" i="0" sz="1200" u="none" cap="none" strike="noStrike">
              <a:solidFill>
                <a:schemeClr val="dk1"/>
              </a:solidFill>
              <a:latin typeface="Calibri"/>
              <a:ea typeface="Calibri"/>
              <a:cs typeface="Calibri"/>
              <a:sym typeface="Calibri"/>
            </a:endParaRPr>
          </a:p>
        </p:txBody>
      </p:sp>
      <p:sp>
        <p:nvSpPr>
          <p:cNvPr id="2534" name="Google Shape;2534;p9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35" name="Google Shape;2535;p9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537" name="Google Shape;2537;p9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539" name="Google Shape;2539;p9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600" u="none" cap="none" strike="noStrike">
              <a:solidFill>
                <a:schemeClr val="dk1"/>
              </a:solidFill>
              <a:latin typeface="Calibri"/>
              <a:ea typeface="Calibri"/>
              <a:cs typeface="Calibri"/>
              <a:sym typeface="Calibri"/>
            </a:endParaRPr>
          </a:p>
        </p:txBody>
      </p:sp>
      <p:sp>
        <p:nvSpPr>
          <p:cNvPr id="2541" name="Google Shape;2541;p9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544" name="Google Shape;2544;p9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50" u="none" cap="none" strike="noStrike">
              <a:solidFill>
                <a:schemeClr val="dk1"/>
              </a:solidFill>
              <a:latin typeface="Calibri"/>
              <a:ea typeface="Calibri"/>
              <a:cs typeface="Calibri"/>
              <a:sym typeface="Calibri"/>
            </a:endParaRPr>
          </a:p>
        </p:txBody>
      </p:sp>
      <p:sp>
        <p:nvSpPr>
          <p:cNvPr id="2545" name="Google Shape;2545;p9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548" name="Google Shape;2548;p9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U.S. destroyed four Japanese aircraft carriers, permanently crippling Japan's offensive naval power.</a:t>
            </a:r>
            <a:endParaRPr b="0" i="0" sz="1350" u="none" cap="none" strike="noStrike">
              <a:solidFill>
                <a:schemeClr val="dk1"/>
              </a:solidFill>
              <a:latin typeface="Calibri"/>
              <a:ea typeface="Calibri"/>
              <a:cs typeface="Calibri"/>
              <a:sym typeface="Calibri"/>
            </a:endParaRPr>
          </a:p>
        </p:txBody>
      </p:sp>
      <p:sp>
        <p:nvSpPr>
          <p:cNvPr id="2549" name="Google Shape;2549;p9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552" name="Google Shape;2552;p9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50" u="none" cap="none" strike="noStrike">
              <a:solidFill>
                <a:schemeClr val="dk1"/>
              </a:solidFill>
              <a:latin typeface="Calibri"/>
              <a:ea typeface="Calibri"/>
              <a:cs typeface="Calibri"/>
              <a:sym typeface="Calibri"/>
            </a:endParaRPr>
          </a:p>
        </p:txBody>
      </p:sp>
      <p:sp>
        <p:nvSpPr>
          <p:cNvPr id="2553" name="Google Shape;2553;p9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556" name="Google Shape;2556;p9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50" u="none" cap="none" strike="noStrike">
              <a:solidFill>
                <a:schemeClr val="dk1"/>
              </a:solidFill>
              <a:latin typeface="Calibri"/>
              <a:ea typeface="Calibri"/>
              <a:cs typeface="Calibri"/>
              <a:sym typeface="Calibri"/>
            </a:endParaRPr>
          </a:p>
        </p:txBody>
      </p:sp>
      <p:sp>
        <p:nvSpPr>
          <p:cNvPr id="2557" name="Google Shape;2557;p9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559" name="Google Shape;2559;p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60" name="Google Shape;2560;p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65" name="Shape 2565"/>
        <p:cNvGrpSpPr/>
        <p:nvPr/>
      </p:nvGrpSpPr>
      <p:grpSpPr>
        <a:xfrm>
          <a:off x="0" y="0"/>
          <a:ext cx="0" cy="0"/>
          <a:chOff x="0" y="0"/>
          <a:chExt cx="0" cy="0"/>
        </a:xfrm>
      </p:grpSpPr>
      <p:sp>
        <p:nvSpPr>
          <p:cNvPr id="2566" name="Google Shape;2566;p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ANSWER REVEAL</a:t>
            </a:r>
            <a:endParaRPr b="0" i="0" sz="1200" u="none" cap="none" strike="noStrike">
              <a:solidFill>
                <a:schemeClr val="dk1"/>
              </a:solidFill>
              <a:latin typeface="Calibri"/>
              <a:ea typeface="Calibri"/>
              <a:cs typeface="Calibri"/>
              <a:sym typeface="Calibri"/>
            </a:endParaRPr>
          </a:p>
        </p:txBody>
      </p:sp>
      <p:sp>
        <p:nvSpPr>
          <p:cNvPr id="2568" name="Google Shape;2568;p9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69" name="Google Shape;2569;p9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571" name="Google Shape;2571;p9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500" u="none" cap="none" strike="noStrike">
              <a:solidFill>
                <a:schemeClr val="dk1"/>
              </a:solidFill>
              <a:latin typeface="Calibri"/>
              <a:ea typeface="Calibri"/>
              <a:cs typeface="Calibri"/>
              <a:sym typeface="Calibri"/>
            </a:endParaRPr>
          </a:p>
        </p:txBody>
      </p:sp>
      <p:sp>
        <p:nvSpPr>
          <p:cNvPr id="2573" name="Google Shape;2573;p98"/>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576" name="Google Shape;2576;p9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00" u="none" cap="none" strike="noStrike">
              <a:solidFill>
                <a:schemeClr val="dk1"/>
              </a:solidFill>
              <a:latin typeface="Calibri"/>
              <a:ea typeface="Calibri"/>
              <a:cs typeface="Calibri"/>
              <a:sym typeface="Calibri"/>
            </a:endParaRPr>
          </a:p>
        </p:txBody>
      </p:sp>
      <p:sp>
        <p:nvSpPr>
          <p:cNvPr id="2577" name="Google Shape;2577;p98"/>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580" name="Google Shape;2580;p9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Because the U.S. destroyed four Japanese aircraft carriers, permanently crippling Japan's offensive naval power.</a:t>
            </a:r>
            <a:endParaRPr b="0" i="0" sz="1300" u="none" cap="none" strike="noStrike">
              <a:solidFill>
                <a:schemeClr val="dk1"/>
              </a:solidFill>
              <a:latin typeface="Calibri"/>
              <a:ea typeface="Calibri"/>
              <a:cs typeface="Calibri"/>
              <a:sym typeface="Calibri"/>
            </a:endParaRPr>
          </a:p>
        </p:txBody>
      </p:sp>
      <p:sp>
        <p:nvSpPr>
          <p:cNvPr id="2581" name="Google Shape;2581;p98"/>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582" name="Google Shape;2582;p9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585" name="Google Shape;2585;p9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00" u="none" cap="none" strike="noStrike">
              <a:solidFill>
                <a:schemeClr val="dk1"/>
              </a:solidFill>
              <a:latin typeface="Calibri"/>
              <a:ea typeface="Calibri"/>
              <a:cs typeface="Calibri"/>
              <a:sym typeface="Calibri"/>
            </a:endParaRPr>
          </a:p>
        </p:txBody>
      </p:sp>
      <p:sp>
        <p:nvSpPr>
          <p:cNvPr id="2586" name="Google Shape;2586;p9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589" name="Google Shape;2589;p9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00" u="none" cap="none" strike="noStrike">
              <a:solidFill>
                <a:schemeClr val="dk1"/>
              </a:solidFill>
              <a:latin typeface="Calibri"/>
              <a:ea typeface="Calibri"/>
              <a:cs typeface="Calibri"/>
              <a:sym typeface="Calibri"/>
            </a:endParaRPr>
          </a:p>
        </p:txBody>
      </p:sp>
      <p:sp>
        <p:nvSpPr>
          <p:cNvPr id="2590" name="Google Shape;2590;p9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b="0" i="0" sz="1150" u="none" cap="none" strike="noStrike">
              <a:solidFill>
                <a:schemeClr val="dk1"/>
              </a:solidFill>
              <a:latin typeface="Calibri"/>
              <a:ea typeface="Calibri"/>
              <a:cs typeface="Calibri"/>
              <a:sym typeface="Calibri"/>
            </a:endParaRPr>
          </a:p>
        </p:txBody>
      </p:sp>
      <p:sp>
        <p:nvSpPr>
          <p:cNvPr id="2592" name="Google Shape;2592;p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93" name="Google Shape;2593;p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8" name="Shape 2598"/>
        <p:cNvGrpSpPr/>
        <p:nvPr/>
      </p:nvGrpSpPr>
      <p:grpSpPr>
        <a:xfrm>
          <a:off x="0" y="0"/>
          <a:ext cx="0" cy="0"/>
          <a:chOff x="0" y="0"/>
          <a:chExt cx="0" cy="0"/>
        </a:xfrm>
      </p:grpSpPr>
      <p:sp>
        <p:nvSpPr>
          <p:cNvPr id="2599" name="Google Shape;2599;p9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WRAP-UP</a:t>
            </a:r>
            <a:endParaRPr b="0" i="0" sz="1200" u="none" cap="none" strike="noStrike">
              <a:solidFill>
                <a:schemeClr val="dk1"/>
              </a:solidFill>
              <a:latin typeface="Calibri"/>
              <a:ea typeface="Calibri"/>
              <a:cs typeface="Calibri"/>
              <a:sym typeface="Calibri"/>
            </a:endParaRPr>
          </a:p>
        </p:txBody>
      </p:sp>
      <p:sp>
        <p:nvSpPr>
          <p:cNvPr id="2601" name="Google Shape;2601;p9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602" name="Google Shape;2602;p9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604" name="Google Shape;2604;p9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Midway (June 1942)</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Iwo Jima (February-March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Okinawa (April-June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D-Day: Normandy Invasion (June 6, 1944)</a:t>
            </a:r>
            <a:endParaRPr b="0" i="0" sz="1500" u="none" cap="none" strike="noStrike">
              <a:solidFill>
                <a:schemeClr val="dk1"/>
              </a:solidFill>
              <a:latin typeface="Calibri"/>
              <a:ea typeface="Calibri"/>
              <a:cs typeface="Calibri"/>
              <a:sym typeface="Calibri"/>
            </a:endParaRPr>
          </a:p>
        </p:txBody>
      </p:sp>
      <p:sp>
        <p:nvSpPr>
          <p:cNvPr id="2605" name="Google Shape;2605;p9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607" name="Google Shape;2607;p9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In WWII, did geography or leadership matter more in deciding battles? Argue your position with evidence. (SSP.04)</a:t>
            </a:r>
            <a:endParaRPr b="0" i="0" sz="1150" u="none" cap="none" strike="noStrike">
              <a:solidFill>
                <a:schemeClr val="dk1"/>
              </a:solidFill>
              <a:latin typeface="Calibri"/>
              <a:ea typeface="Calibri"/>
              <a:cs typeface="Calibri"/>
              <a:sym typeface="Calibri"/>
            </a:endParaRPr>
          </a:p>
        </p:txBody>
      </p:sp>
      <p:sp>
        <p:nvSpPr>
          <p:cNvPr id="2608" name="Google Shape;2608;p9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610" name="Google Shape;2610;p9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612" name="Google Shape;2612;p9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geographic and military factors shaped the outcome of two major WWII battles.</a:t>
            </a:r>
            <a:endParaRPr b="0" i="0" sz="1350" u="none" cap="none" strike="noStrike">
              <a:solidFill>
                <a:schemeClr val="dk1"/>
              </a:solidFill>
              <a:latin typeface="Calibri"/>
              <a:ea typeface="Calibri"/>
              <a:cs typeface="Calibri"/>
              <a:sym typeface="Calibri"/>
            </a:endParaRPr>
          </a:p>
        </p:txBody>
      </p:sp>
      <p:cxnSp>
        <p:nvCxnSpPr>
          <p:cNvPr id="2613" name="Google Shape;2613;p9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4" name="Google Shape;2614;p9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5" name="Google Shape;2615;p9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616" name="Google Shape;2616;p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17" name="Google Shape;2617;p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622" name="Shape 2622"/>
        <p:cNvGrpSpPr/>
        <p:nvPr/>
      </p:nvGrpSpPr>
      <p:grpSpPr>
        <a:xfrm>
          <a:off x="0" y="0"/>
          <a:ext cx="0" cy="0"/>
          <a:chOff x="0" y="0"/>
          <a:chExt cx="0" cy="0"/>
        </a:xfrm>
      </p:grpSpPr>
      <p:sp>
        <p:nvSpPr>
          <p:cNvPr id="2623" name="Google Shape;2623;p10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0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0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626" name="Google Shape;2626;p10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US.51</a:t>
            </a:r>
            <a:endParaRPr b="0" i="0" sz="8800" u="none" cap="none" strike="noStrike">
              <a:solidFill>
                <a:schemeClr val="dk1"/>
              </a:solidFill>
              <a:latin typeface="Calibri"/>
              <a:ea typeface="Calibri"/>
              <a:cs typeface="Calibri"/>
              <a:sym typeface="Calibri"/>
            </a:endParaRPr>
          </a:p>
        </p:txBody>
      </p:sp>
      <p:sp>
        <p:nvSpPr>
          <p:cNvPr id="2627" name="Google Shape;2627;p10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Special Fighting Forces in WWII</a:t>
            </a:r>
            <a:endParaRPr b="0" i="0" sz="2400" u="none" cap="none" strike="noStrike">
              <a:solidFill>
                <a:schemeClr val="dk1"/>
              </a:solidFill>
              <a:latin typeface="Calibri"/>
              <a:ea typeface="Calibri"/>
              <a:cs typeface="Calibri"/>
              <a:sym typeface="Calibri"/>
            </a:endParaRPr>
          </a:p>
        </p:txBody>
      </p:sp>
      <p:sp>
        <p:nvSpPr>
          <p:cNvPr id="2628" name="Google Shape;2628;p10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629" name="Google Shape;2629;p10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0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2631" name="Google Shape;2631;p10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2632" name="Google Shape;2632;p10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0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634" name="Google Shape;2634;p10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635" name="Google Shape;2635;p10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0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2637" name="Google Shape;2637;p10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2638" name="Google Shape;2638;p10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0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640" name="Google Shape;2640;p10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sacrifices of individual American soldiers, as well as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1" name="Google Shape;2641;p10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0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643" name="Google Shape;2643;p10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150"/>
              <a:buFont typeface="Calibri"/>
              <a:buNone/>
            </a:pPr>
            <a:r>
              <a:rPr b="1" i="0" lang="en-US" sz="115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4" name="Google Shape;2644;p1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45" name="Google Shape;2645;p1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50" name="Shape 2650"/>
        <p:cNvGrpSpPr/>
        <p:nvPr/>
      </p:nvGrpSpPr>
      <p:grpSpPr>
        <a:xfrm>
          <a:off x="0" y="0"/>
          <a:ext cx="0" cy="0"/>
          <a:chOff x="0" y="0"/>
          <a:chExt cx="0" cy="0"/>
        </a:xfrm>
      </p:grpSpPr>
      <p:sp>
        <p:nvSpPr>
          <p:cNvPr id="2651" name="Google Shape;2651;p10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QUICK REVIEW</a:t>
            </a:r>
            <a:endParaRPr b="0" i="0" sz="1200" u="none" cap="none" strike="noStrike">
              <a:solidFill>
                <a:schemeClr val="dk1"/>
              </a:solidFill>
              <a:latin typeface="Calibri"/>
              <a:ea typeface="Calibri"/>
              <a:cs typeface="Calibri"/>
              <a:sym typeface="Calibri"/>
            </a:endParaRPr>
          </a:p>
        </p:txBody>
      </p:sp>
      <p:sp>
        <p:nvSpPr>
          <p:cNvPr id="2653" name="Google Shape;2653;p10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654" name="Google Shape;2654;p10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655" name="Google Shape;2655;p10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0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0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658" name="Google Shape;2658;p10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Why was the Battle of Midway (1942) a turning point?</a:t>
            </a:r>
            <a:endParaRPr b="0" i="0" sz="1350" u="none" cap="none" strike="noStrike">
              <a:solidFill>
                <a:schemeClr val="dk1"/>
              </a:solidFill>
              <a:latin typeface="Calibri"/>
              <a:ea typeface="Calibri"/>
              <a:cs typeface="Calibri"/>
              <a:sym typeface="Calibri"/>
            </a:endParaRPr>
          </a:p>
        </p:txBody>
      </p:sp>
      <p:sp>
        <p:nvSpPr>
          <p:cNvPr id="2659" name="Google Shape;2659;p10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0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0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662" name="Google Shape;2662;p10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What was D-Day?</a:t>
            </a:r>
            <a:endParaRPr b="0" i="0" sz="1350" u="none" cap="none" strike="noStrike">
              <a:solidFill>
                <a:schemeClr val="dk1"/>
              </a:solidFill>
              <a:latin typeface="Calibri"/>
              <a:ea typeface="Calibri"/>
              <a:cs typeface="Calibri"/>
              <a:sym typeface="Calibri"/>
            </a:endParaRPr>
          </a:p>
        </p:txBody>
      </p:sp>
      <p:sp>
        <p:nvSpPr>
          <p:cNvPr id="2663" name="Google Shape;2663;p1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64" name="Google Shape;2664;p1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69" name="Shape 2669"/>
        <p:cNvGrpSpPr/>
        <p:nvPr/>
      </p:nvGrpSpPr>
      <p:grpSpPr>
        <a:xfrm>
          <a:off x="0" y="0"/>
          <a:ext cx="0" cy="0"/>
          <a:chOff x="0" y="0"/>
          <a:chExt cx="0" cy="0"/>
        </a:xfrm>
      </p:grpSpPr>
      <p:sp>
        <p:nvSpPr>
          <p:cNvPr id="2670" name="Google Shape;2670;p10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CONFIDENCE CHECK</a:t>
            </a:r>
            <a:endParaRPr b="0" i="0" sz="1200" u="none" cap="none" strike="noStrike">
              <a:solidFill>
                <a:schemeClr val="dk1"/>
              </a:solidFill>
              <a:latin typeface="Calibri"/>
              <a:ea typeface="Calibri"/>
              <a:cs typeface="Calibri"/>
              <a:sym typeface="Calibri"/>
            </a:endParaRPr>
          </a:p>
        </p:txBody>
      </p:sp>
      <p:sp>
        <p:nvSpPr>
          <p:cNvPr id="2672" name="Google Shape;2672;p10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673" name="Google Shape;2673;p10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0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675" name="Google Shape;2675;p10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0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677" name="Google Shape;2677;p10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678" name="Google Shape;2678;p10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0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special fighting force made up of a minority group in WWII.</a:t>
            </a:r>
            <a:endParaRPr b="0" i="0" sz="2400" u="none" cap="none" strike="noStrike">
              <a:solidFill>
                <a:schemeClr val="dk1"/>
              </a:solidFill>
              <a:latin typeface="Calibri"/>
              <a:ea typeface="Calibri"/>
              <a:cs typeface="Calibri"/>
              <a:sym typeface="Calibri"/>
            </a:endParaRPr>
          </a:p>
        </p:txBody>
      </p:sp>
      <p:sp>
        <p:nvSpPr>
          <p:cNvPr id="2680" name="Google Shape;2680;p10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0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682" name="Google Shape;2682;p10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Tuskegee Airmen, the 442nd Regimental Combat Team, or the Navajo Code Talkers.</a:t>
            </a:r>
            <a:endParaRPr b="0" i="0" sz="1600" u="none" cap="none" strike="noStrike">
              <a:solidFill>
                <a:schemeClr val="dk1"/>
              </a:solidFill>
              <a:latin typeface="Calibri"/>
              <a:ea typeface="Calibri"/>
              <a:cs typeface="Calibri"/>
              <a:sym typeface="Calibri"/>
            </a:endParaRPr>
          </a:p>
        </p:txBody>
      </p:sp>
      <p:sp>
        <p:nvSpPr>
          <p:cNvPr id="2683" name="Google Shape;2683;p10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0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685" name="Google Shape;2685;p1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86" name="Google Shape;2686;p1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91" name="Shape 2691"/>
        <p:cNvGrpSpPr/>
        <p:nvPr/>
      </p:nvGrpSpPr>
      <p:grpSpPr>
        <a:xfrm>
          <a:off x="0" y="0"/>
          <a:ext cx="0" cy="0"/>
          <a:chOff x="0" y="0"/>
          <a:chExt cx="0" cy="0"/>
        </a:xfrm>
      </p:grpSpPr>
      <p:sp>
        <p:nvSpPr>
          <p:cNvPr id="2692" name="Google Shape;2692;p10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0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HOOK</a:t>
            </a:r>
            <a:endParaRPr b="0" i="0" sz="1200" u="none" cap="none" strike="noStrike">
              <a:solidFill>
                <a:schemeClr val="dk1"/>
              </a:solidFill>
              <a:latin typeface="Calibri"/>
              <a:ea typeface="Calibri"/>
              <a:cs typeface="Calibri"/>
              <a:sym typeface="Calibri"/>
            </a:endParaRPr>
          </a:p>
        </p:txBody>
      </p:sp>
      <p:sp>
        <p:nvSpPr>
          <p:cNvPr id="2694" name="Google Shape;2694;p10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695" name="Google Shape;2695;p10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0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They fought two wars at once, one against the Axis abroad and one against prejudice at home: the Tuskegee Airmen, the Japanese American 442nd, the paratroopers of the 101st Airborne, and the Navajo Code Talkers whose language the enemy never broke.</a:t>
            </a:r>
            <a:endParaRPr b="0" i="0" sz="2600" u="none" cap="none" strike="noStrike">
              <a:solidFill>
                <a:schemeClr val="dk1"/>
              </a:solidFill>
              <a:latin typeface="Calibri"/>
              <a:ea typeface="Calibri"/>
              <a:cs typeface="Calibri"/>
              <a:sym typeface="Calibri"/>
            </a:endParaRPr>
          </a:p>
        </p:txBody>
      </p:sp>
      <p:sp>
        <p:nvSpPr>
          <p:cNvPr id="2697" name="Google Shape;2697;p10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0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699" name="Google Shape;2699;p10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0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701" name="Google Shape;2701;p10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Americans risk their lives for a country that did not yet grant them equal rights, and what did their service prove?</a:t>
            </a:r>
            <a:endParaRPr b="0" i="0" sz="1600" u="none" cap="none" strike="noStrike">
              <a:solidFill>
                <a:schemeClr val="dk1"/>
              </a:solidFill>
              <a:latin typeface="Calibri"/>
              <a:ea typeface="Calibri"/>
              <a:cs typeface="Calibri"/>
              <a:sym typeface="Calibri"/>
            </a:endParaRPr>
          </a:p>
        </p:txBody>
      </p:sp>
      <p:sp>
        <p:nvSpPr>
          <p:cNvPr id="2702" name="Google Shape;2702;p1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03" name="Google Shape;2703;p1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08" name="Shape 2708"/>
        <p:cNvGrpSpPr/>
        <p:nvPr/>
      </p:nvGrpSpPr>
      <p:grpSpPr>
        <a:xfrm>
          <a:off x="0" y="0"/>
          <a:ext cx="0" cy="0"/>
          <a:chOff x="0" y="0"/>
          <a:chExt cx="0" cy="0"/>
        </a:xfrm>
      </p:grpSpPr>
      <p:sp>
        <p:nvSpPr>
          <p:cNvPr id="2709" name="Google Shape;2709;p1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11" name="Google Shape;2711;p1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Tuskegee Airmen</a:t>
            </a:r>
            <a:endParaRPr b="0" i="0" sz="3000" u="none" cap="none" strike="noStrike">
              <a:solidFill>
                <a:schemeClr val="dk1"/>
              </a:solidFill>
              <a:latin typeface="Calibri"/>
              <a:ea typeface="Calibri"/>
              <a:cs typeface="Calibri"/>
              <a:sym typeface="Calibri"/>
            </a:endParaRPr>
          </a:p>
        </p:txBody>
      </p:sp>
      <p:sp>
        <p:nvSpPr>
          <p:cNvPr id="2712" name="Google Shape;2712;p104"/>
          <p:cNvSpPr/>
          <p:nvPr/>
        </p:nvSpPr>
        <p:spPr>
          <a:xfrm>
            <a:off x="10180015"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0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04"/>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5</a:t>
            </a:r>
            <a:endParaRPr b="0" i="0" sz="1000" u="none" cap="none" strike="noStrike">
              <a:solidFill>
                <a:schemeClr val="dk1"/>
              </a:solidFill>
              <a:latin typeface="Calibri"/>
              <a:ea typeface="Calibri"/>
              <a:cs typeface="Calibri"/>
              <a:sym typeface="Calibri"/>
            </a:endParaRPr>
          </a:p>
        </p:txBody>
      </p:sp>
      <p:sp>
        <p:nvSpPr>
          <p:cNvPr id="2718" name="Google Shape;2718;p104"/>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04"/>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Tuskegee Airmen were the first African American military aviators in the U.S. Armed Forces.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Trained at Tuskegee Army Air Field in Alabama, the 332nd Fighter Group flew over 15,000 sorties in Europe and North Africa.</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earned over 150 Distinguished Flying Crosses and a Presidential Unit Citation.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facing racism and segregation within the military, they compiled an outstanding combat record, helping to pave the way for the desegregation of the armed forces in 1948.</a:t>
            </a:r>
            <a:endParaRPr b="0" i="0" sz="1550" u="none" cap="none" strike="noStrike">
              <a:solidFill>
                <a:schemeClr val="dk1"/>
              </a:solidFill>
              <a:latin typeface="Calibri"/>
              <a:ea typeface="Calibri"/>
              <a:cs typeface="Calibri"/>
              <a:sym typeface="Calibri"/>
            </a:endParaRPr>
          </a:p>
        </p:txBody>
      </p:sp>
      <p:sp>
        <p:nvSpPr>
          <p:cNvPr id="2720" name="Google Shape;2720;p104"/>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04"/>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722" name="Google Shape;2722;p104"/>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The ________ contributed to the war by ________, even though they faced ________ at home.</a:t>
            </a:r>
            <a:endParaRPr b="0" i="0" sz="1050" u="none" cap="none" strike="noStrike">
              <a:solidFill>
                <a:schemeClr val="dk1"/>
              </a:solidFill>
              <a:latin typeface="Calibri"/>
              <a:ea typeface="Calibri"/>
              <a:cs typeface="Calibri"/>
              <a:sym typeface="Calibri"/>
            </a:endParaRPr>
          </a:p>
        </p:txBody>
      </p:sp>
      <p:sp>
        <p:nvSpPr>
          <p:cNvPr id="2723" name="Google Shape;2723;p104"/>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tuskegee-airmen-1945.jpg" id="2724" name="Google Shape;2724;p104"/>
          <p:cNvPicPr preferRelativeResize="0"/>
          <p:nvPr/>
        </p:nvPicPr>
        <p:blipFill rotWithShape="1">
          <a:blip r:embed="rId3">
            <a:alphaModFix/>
          </a:blip>
          <a:srcRect b="0" l="0" r="0" t="0"/>
          <a:stretch/>
        </p:blipFill>
        <p:spPr>
          <a:xfrm>
            <a:off x="8253008" y="1783080"/>
            <a:ext cx="2742105" cy="2862072"/>
          </a:xfrm>
          <a:prstGeom prst="rect">
            <a:avLst/>
          </a:prstGeom>
          <a:noFill/>
          <a:ln>
            <a:noFill/>
          </a:ln>
        </p:spPr>
      </p:pic>
      <p:sp>
        <p:nvSpPr>
          <p:cNvPr id="2725" name="Google Shape;2725;p104"/>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Toni Frissell / Library of Congress, Toni Frissell Collection, March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2726" name="Google Shape;2726;p104"/>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04"/>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2728" name="Google Shape;2728;p1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9" name="Google Shape;2729;p1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34" name="Shape 2734"/>
        <p:cNvGrpSpPr/>
        <p:nvPr/>
      </p:nvGrpSpPr>
      <p:grpSpPr>
        <a:xfrm>
          <a:off x="0" y="0"/>
          <a:ext cx="0" cy="0"/>
          <a:chOff x="0" y="0"/>
          <a:chExt cx="0" cy="0"/>
        </a:xfrm>
      </p:grpSpPr>
      <p:sp>
        <p:nvSpPr>
          <p:cNvPr id="2735" name="Google Shape;2735;p10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37" name="Google Shape;2737;p10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442nd Regimental Combat Team</a:t>
            </a:r>
            <a:endParaRPr b="0" i="0" sz="3000" u="none" cap="none" strike="noStrike">
              <a:solidFill>
                <a:schemeClr val="dk1"/>
              </a:solidFill>
              <a:latin typeface="Calibri"/>
              <a:ea typeface="Calibri"/>
              <a:cs typeface="Calibri"/>
              <a:sym typeface="Calibri"/>
            </a:endParaRPr>
          </a:p>
        </p:txBody>
      </p:sp>
      <p:sp>
        <p:nvSpPr>
          <p:cNvPr id="2738" name="Google Shape;2738;p105"/>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0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0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0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0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05"/>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5</a:t>
            </a:r>
            <a:endParaRPr b="0" i="0" sz="1000" u="none" cap="none" strike="noStrike">
              <a:solidFill>
                <a:schemeClr val="dk1"/>
              </a:solidFill>
              <a:latin typeface="Calibri"/>
              <a:ea typeface="Calibri"/>
              <a:cs typeface="Calibri"/>
              <a:sym typeface="Calibri"/>
            </a:endParaRPr>
          </a:p>
        </p:txBody>
      </p:sp>
      <p:sp>
        <p:nvSpPr>
          <p:cNvPr id="2744" name="Google Shape;2744;p10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0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442nd was composed almost entirely of Japanese American volunteers, many of whose families were confined in internment camps.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Fighting in Europe, they became the most decorated unit of their size in U.S. military history, earning over 18,000 individual decorations including 21 Medals of Honor.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motto "Go for Broke" reflected their determination to prove their loyalty to America despite the government's unjust treatment of their families.</a:t>
            </a:r>
            <a:endParaRPr b="0" i="0" sz="1700" u="none" cap="none" strike="noStrike">
              <a:solidFill>
                <a:schemeClr val="dk1"/>
              </a:solidFill>
              <a:latin typeface="Calibri"/>
              <a:ea typeface="Calibri"/>
              <a:cs typeface="Calibri"/>
              <a:sym typeface="Calibri"/>
            </a:endParaRPr>
          </a:p>
        </p:txBody>
      </p:sp>
      <p:sp>
        <p:nvSpPr>
          <p:cNvPr id="2746" name="Google Shape;2746;p1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47" name="Google Shape;2747;p1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52" name="Shape 2752"/>
        <p:cNvGrpSpPr/>
        <p:nvPr/>
      </p:nvGrpSpPr>
      <p:grpSpPr>
        <a:xfrm>
          <a:off x="0" y="0"/>
          <a:ext cx="0" cy="0"/>
          <a:chOff x="0" y="0"/>
          <a:chExt cx="0" cy="0"/>
        </a:xfrm>
      </p:grpSpPr>
      <p:sp>
        <p:nvSpPr>
          <p:cNvPr id="2753" name="Google Shape;2753;p10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55" name="Google Shape;2755;p10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101st Airborne Division</a:t>
            </a:r>
            <a:endParaRPr b="0" i="0" sz="3000" u="none" cap="none" strike="noStrike">
              <a:solidFill>
                <a:schemeClr val="dk1"/>
              </a:solidFill>
              <a:latin typeface="Calibri"/>
              <a:ea typeface="Calibri"/>
              <a:cs typeface="Calibri"/>
              <a:sym typeface="Calibri"/>
            </a:endParaRPr>
          </a:p>
        </p:txBody>
      </p:sp>
      <p:sp>
        <p:nvSpPr>
          <p:cNvPr id="2756" name="Google Shape;2756;p106"/>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0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0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0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0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06"/>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5</a:t>
            </a:r>
            <a:endParaRPr b="0" i="0" sz="1000" u="none" cap="none" strike="noStrike">
              <a:solidFill>
                <a:schemeClr val="dk1"/>
              </a:solidFill>
              <a:latin typeface="Calibri"/>
              <a:ea typeface="Calibri"/>
              <a:cs typeface="Calibri"/>
              <a:sym typeface="Calibri"/>
            </a:endParaRPr>
          </a:p>
        </p:txBody>
      </p:sp>
      <p:sp>
        <p:nvSpPr>
          <p:cNvPr id="2762" name="Google Shape;2762;p106"/>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06"/>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 "Screaming Eagles" of the 101st Airborne Division parachuted into Normandy on D-Day, June 6, 1944, securing key bridges and crossroads behind enemy lines to support the beach landings.</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They later defended Bastogne during the Battle of the Bulge, where Acting Commander General Anthony McAuliffe famously replied "Nuts!" to a German surrender demand.</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Their elite training and courage under fire made them one of the most celebrated units in American military history.</a:t>
            </a:r>
            <a:endParaRPr b="0" i="0" sz="1350" u="none" cap="none" strike="noStrike">
              <a:solidFill>
                <a:schemeClr val="dk1"/>
              </a:solidFill>
              <a:latin typeface="Calibri"/>
              <a:ea typeface="Calibri"/>
              <a:cs typeface="Calibri"/>
              <a:sym typeface="Calibri"/>
            </a:endParaRPr>
          </a:p>
        </p:txBody>
      </p:sp>
      <p:sp>
        <p:nvSpPr>
          <p:cNvPr id="2764" name="Google Shape;2764;p106"/>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06"/>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2766" name="Google Shape;2766;p106"/>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The 101st Airborne Division, the 'Screaming Eagles,' has deep Tennessee ties: the division is headquartered at Fort Campbell on the Tennessee-Kentucky border. In WWII its paratroopers dropped behind enemy lines on D-Day to secure bridges and crossroads and later held the line at Bastogne during the Battle of the Bulge.</a:t>
            </a:r>
            <a:endParaRPr b="0" i="0" sz="1300" u="none" cap="none" strike="noStrike">
              <a:solidFill>
                <a:schemeClr val="dk1"/>
              </a:solidFill>
              <a:latin typeface="Calibri"/>
              <a:ea typeface="Calibri"/>
              <a:cs typeface="Calibri"/>
              <a:sym typeface="Calibri"/>
            </a:endParaRPr>
          </a:p>
        </p:txBody>
      </p:sp>
      <p:sp>
        <p:nvSpPr>
          <p:cNvPr id="2767" name="Google Shape;2767;p1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68" name="Google Shape;2768;p1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3" name="Shape 2773"/>
        <p:cNvGrpSpPr/>
        <p:nvPr/>
      </p:nvGrpSpPr>
      <p:grpSpPr>
        <a:xfrm>
          <a:off x="0" y="0"/>
          <a:ext cx="0" cy="0"/>
          <a:chOff x="0" y="0"/>
          <a:chExt cx="0" cy="0"/>
        </a:xfrm>
      </p:grpSpPr>
      <p:sp>
        <p:nvSpPr>
          <p:cNvPr id="2774" name="Google Shape;2774;p1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76" name="Google Shape;2776;p10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Navajo Code Talkers</a:t>
            </a:r>
            <a:endParaRPr b="0" i="0" sz="3000" u="none" cap="none" strike="noStrike">
              <a:solidFill>
                <a:schemeClr val="dk1"/>
              </a:solidFill>
              <a:latin typeface="Calibri"/>
              <a:ea typeface="Calibri"/>
              <a:cs typeface="Calibri"/>
              <a:sym typeface="Calibri"/>
            </a:endParaRPr>
          </a:p>
        </p:txBody>
      </p:sp>
      <p:sp>
        <p:nvSpPr>
          <p:cNvPr id="2777" name="Google Shape;2777;p107"/>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0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0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0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0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07"/>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5</a:t>
            </a:r>
            <a:endParaRPr b="0" i="0" sz="1000" u="none" cap="none" strike="noStrike">
              <a:solidFill>
                <a:schemeClr val="dk1"/>
              </a:solidFill>
              <a:latin typeface="Calibri"/>
              <a:ea typeface="Calibri"/>
              <a:cs typeface="Calibri"/>
              <a:sym typeface="Calibri"/>
            </a:endParaRPr>
          </a:p>
        </p:txBody>
      </p:sp>
      <p:sp>
        <p:nvSpPr>
          <p:cNvPr id="2783" name="Google Shape;2783;p10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0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Navajo Marines developed an unbreakable military code based on their native language, which had no written form and was virtually unknown outside the Navajo 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Code Talkers served in every major Marine operation in the Pacific from 1942-1945, transmitting battlefield communications that the Japanese never deciphered.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contributions were so vital that commanders credited them with the success at Iwo Jima.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service remained classified until 1968 and was formally recognized with Congressional Gold Medals in 2001.</a:t>
            </a:r>
            <a:endParaRPr b="0" i="0" sz="1700" u="none" cap="none" strike="noStrike">
              <a:solidFill>
                <a:schemeClr val="dk1"/>
              </a:solidFill>
              <a:latin typeface="Calibri"/>
              <a:ea typeface="Calibri"/>
              <a:cs typeface="Calibri"/>
              <a:sym typeface="Calibri"/>
            </a:endParaRPr>
          </a:p>
        </p:txBody>
      </p:sp>
      <p:sp>
        <p:nvSpPr>
          <p:cNvPr id="2785" name="Google Shape;2785;p1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86" name="Google Shape;2786;p1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91" name="Shape 2791"/>
        <p:cNvGrpSpPr/>
        <p:nvPr/>
      </p:nvGrpSpPr>
      <p:grpSpPr>
        <a:xfrm>
          <a:off x="0" y="0"/>
          <a:ext cx="0" cy="0"/>
          <a:chOff x="0" y="0"/>
          <a:chExt cx="0" cy="0"/>
        </a:xfrm>
      </p:grpSpPr>
      <p:sp>
        <p:nvSpPr>
          <p:cNvPr id="2792" name="Google Shape;2792;p1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94" name="Google Shape;2794;p10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Individual Sacrifice and Legacy</a:t>
            </a:r>
            <a:endParaRPr b="0" i="0" sz="3000" u="none" cap="none" strike="noStrike">
              <a:solidFill>
                <a:schemeClr val="dk1"/>
              </a:solidFill>
              <a:latin typeface="Calibri"/>
              <a:ea typeface="Calibri"/>
              <a:cs typeface="Calibri"/>
              <a:sym typeface="Calibri"/>
            </a:endParaRPr>
          </a:p>
        </p:txBody>
      </p:sp>
      <p:sp>
        <p:nvSpPr>
          <p:cNvPr id="2795" name="Google Shape;2795;p108"/>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0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0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0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0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08"/>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5 of 5</a:t>
            </a:r>
            <a:endParaRPr b="0" i="0" sz="1000" u="none" cap="none" strike="noStrike">
              <a:solidFill>
                <a:schemeClr val="dk1"/>
              </a:solidFill>
              <a:latin typeface="Calibri"/>
              <a:ea typeface="Calibri"/>
              <a:cs typeface="Calibri"/>
              <a:sym typeface="Calibri"/>
            </a:endParaRPr>
          </a:p>
        </p:txBody>
      </p:sp>
      <p:sp>
        <p:nvSpPr>
          <p:cNvPr id="2801" name="Google Shape;2801;p10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0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special fighting forces demonstrated extraordinary courage while often fighting two wars—one against foreign enemies and another against discrimination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sacrifices challenged racial prejudices, proved that patriotism transcended race and ethnicity, and contributed to post-war civil rights advances.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Veterans of these units became leaders in their communities and advocates for equality, using their military records to demand the rights they had fought to defend.</a:t>
            </a:r>
            <a:endParaRPr b="0" i="0" sz="1700" u="none" cap="none" strike="noStrike">
              <a:solidFill>
                <a:schemeClr val="dk1"/>
              </a:solidFill>
              <a:latin typeface="Calibri"/>
              <a:ea typeface="Calibri"/>
              <a:cs typeface="Calibri"/>
              <a:sym typeface="Calibri"/>
            </a:endParaRPr>
          </a:p>
        </p:txBody>
      </p:sp>
      <p:sp>
        <p:nvSpPr>
          <p:cNvPr id="2803" name="Google Shape;2803;p1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04" name="Google Shape;2804;p1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09" name="Shape 2809"/>
        <p:cNvGrpSpPr/>
        <p:nvPr/>
      </p:nvGrpSpPr>
      <p:grpSpPr>
        <a:xfrm>
          <a:off x="0" y="0"/>
          <a:ext cx="0" cy="0"/>
          <a:chOff x="0" y="0"/>
          <a:chExt cx="0" cy="0"/>
        </a:xfrm>
      </p:grpSpPr>
      <p:sp>
        <p:nvSpPr>
          <p:cNvPr id="2810" name="Google Shape;2810;p10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PEOPLE WHO SHAPED THE ERA</a:t>
            </a:r>
            <a:endParaRPr b="0" i="0" sz="1200" u="none" cap="none" strike="noStrike">
              <a:solidFill>
                <a:schemeClr val="dk1"/>
              </a:solidFill>
              <a:latin typeface="Calibri"/>
              <a:ea typeface="Calibri"/>
              <a:cs typeface="Calibri"/>
              <a:sym typeface="Calibri"/>
            </a:endParaRPr>
          </a:p>
        </p:txBody>
      </p:sp>
      <p:sp>
        <p:nvSpPr>
          <p:cNvPr id="2812" name="Google Shape;2812;p10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2813" name="Google Shape;2813;p109"/>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09"/>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09"/>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Tuskegee Airmen</a:t>
            </a:r>
            <a:endParaRPr b="0" i="0" sz="1600" u="none" cap="none" strike="noStrike">
              <a:solidFill>
                <a:schemeClr val="dk1"/>
              </a:solidFill>
              <a:latin typeface="Calibri"/>
              <a:ea typeface="Calibri"/>
              <a:cs typeface="Calibri"/>
              <a:sym typeface="Calibri"/>
            </a:endParaRPr>
          </a:p>
        </p:txBody>
      </p:sp>
      <p:sp>
        <p:nvSpPr>
          <p:cNvPr id="2816" name="Google Shape;2816;p109"/>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First Black U.S. military pilots</a:t>
            </a:r>
            <a:endParaRPr b="0" i="0" sz="1100" u="none" cap="none" strike="noStrike">
              <a:solidFill>
                <a:schemeClr val="dk1"/>
              </a:solidFill>
              <a:latin typeface="Calibri"/>
              <a:ea typeface="Calibri"/>
              <a:cs typeface="Calibri"/>
              <a:sym typeface="Calibri"/>
            </a:endParaRPr>
          </a:p>
        </p:txBody>
      </p:sp>
      <p:sp>
        <p:nvSpPr>
          <p:cNvPr id="2817" name="Google Shape;2817;p109"/>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Flew hundreds of bomber-escort missions in Europe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Earned an outstanding combat record despite segregation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Proved the case against a segregated military</a:t>
            </a:r>
            <a:endParaRPr b="0" i="0" sz="1200" u="none" cap="none" strike="noStrike">
              <a:solidFill>
                <a:schemeClr val="dk1"/>
              </a:solidFill>
              <a:latin typeface="Calibri"/>
              <a:ea typeface="Calibri"/>
              <a:cs typeface="Calibri"/>
              <a:sym typeface="Calibri"/>
            </a:endParaRPr>
          </a:p>
        </p:txBody>
      </p:sp>
      <p:sp>
        <p:nvSpPr>
          <p:cNvPr id="2818" name="Google Shape;2818;p109"/>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09"/>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Airmen to connect battlefield sacrifice to the fight for civil rights at home.</a:t>
            </a:r>
            <a:endParaRPr b="0" i="0" sz="800" u="none" cap="none" strike="noStrike">
              <a:solidFill>
                <a:schemeClr val="dk1"/>
              </a:solidFill>
              <a:latin typeface="Calibri"/>
              <a:ea typeface="Calibri"/>
              <a:cs typeface="Calibri"/>
              <a:sym typeface="Calibri"/>
            </a:endParaRPr>
          </a:p>
        </p:txBody>
      </p:sp>
      <p:sp>
        <p:nvSpPr>
          <p:cNvPr id="2820" name="Google Shape;2820;p109"/>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09"/>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09"/>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442nd Regimental Combat Team</a:t>
            </a:r>
            <a:endParaRPr b="0" i="0" sz="1600" u="none" cap="none" strike="noStrike">
              <a:solidFill>
                <a:schemeClr val="dk1"/>
              </a:solidFill>
              <a:latin typeface="Calibri"/>
              <a:ea typeface="Calibri"/>
              <a:cs typeface="Calibri"/>
              <a:sym typeface="Calibri"/>
            </a:endParaRPr>
          </a:p>
        </p:txBody>
      </p:sp>
      <p:sp>
        <p:nvSpPr>
          <p:cNvPr id="2823" name="Google Shape;2823;p109"/>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Japanese American Army unit</a:t>
            </a:r>
            <a:endParaRPr b="0" i="0" sz="1100" u="none" cap="none" strike="noStrike">
              <a:solidFill>
                <a:schemeClr val="dk1"/>
              </a:solidFill>
              <a:latin typeface="Calibri"/>
              <a:ea typeface="Calibri"/>
              <a:cs typeface="Calibri"/>
              <a:sym typeface="Calibri"/>
            </a:endParaRPr>
          </a:p>
        </p:txBody>
      </p:sp>
      <p:sp>
        <p:nvSpPr>
          <p:cNvPr id="2824" name="Google Shape;2824;p109"/>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Became the most decorated unit of its size in U.S. history</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Fought in Italy and France while families sat in camps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Embodied 'Go for Broke' loyalty under injustice</a:t>
            </a:r>
            <a:endParaRPr b="0" i="0" sz="1200" u="none" cap="none" strike="noStrike">
              <a:solidFill>
                <a:schemeClr val="dk1"/>
              </a:solidFill>
              <a:latin typeface="Calibri"/>
              <a:ea typeface="Calibri"/>
              <a:cs typeface="Calibri"/>
              <a:sym typeface="Calibri"/>
            </a:endParaRPr>
          </a:p>
        </p:txBody>
      </p:sp>
      <p:sp>
        <p:nvSpPr>
          <p:cNvPr id="2825" name="Google Shape;2825;p109"/>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09"/>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the 442nd with internment (US.54) so students hold sacrifice and injustice together.</a:t>
            </a:r>
            <a:endParaRPr b="0" i="0" sz="800" u="none" cap="none" strike="noStrike">
              <a:solidFill>
                <a:schemeClr val="dk1"/>
              </a:solidFill>
              <a:latin typeface="Calibri"/>
              <a:ea typeface="Calibri"/>
              <a:cs typeface="Calibri"/>
              <a:sym typeface="Calibri"/>
            </a:endParaRPr>
          </a:p>
        </p:txBody>
      </p:sp>
      <p:sp>
        <p:nvSpPr>
          <p:cNvPr id="2827" name="Google Shape;2827;p109"/>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09"/>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09"/>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Navajo Code Talkers</a:t>
            </a:r>
            <a:endParaRPr b="0" i="0" sz="1600" u="none" cap="none" strike="noStrike">
              <a:solidFill>
                <a:schemeClr val="dk1"/>
              </a:solidFill>
              <a:latin typeface="Calibri"/>
              <a:ea typeface="Calibri"/>
              <a:cs typeface="Calibri"/>
              <a:sym typeface="Calibri"/>
            </a:endParaRPr>
          </a:p>
        </p:txBody>
      </p:sp>
      <p:sp>
        <p:nvSpPr>
          <p:cNvPr id="2830" name="Google Shape;2830;p109"/>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Marine communications specialists</a:t>
            </a:r>
            <a:endParaRPr b="0" i="0" sz="1100" u="none" cap="none" strike="noStrike">
              <a:solidFill>
                <a:schemeClr val="dk1"/>
              </a:solidFill>
              <a:latin typeface="Calibri"/>
              <a:ea typeface="Calibri"/>
              <a:cs typeface="Calibri"/>
              <a:sym typeface="Calibri"/>
            </a:endParaRPr>
          </a:p>
        </p:txBody>
      </p:sp>
      <p:sp>
        <p:nvSpPr>
          <p:cNvPr id="2831" name="Google Shape;2831;p109"/>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Turned the Navajo language into an unbreakable code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Transmitted vital orders in Pacific battles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Gave the U.S. a decisive communications edge</a:t>
            </a:r>
            <a:endParaRPr b="0" i="0" sz="1200" u="none" cap="none" strike="noStrike">
              <a:solidFill>
                <a:schemeClr val="dk1"/>
              </a:solidFill>
              <a:latin typeface="Calibri"/>
              <a:ea typeface="Calibri"/>
              <a:cs typeface="Calibri"/>
              <a:sym typeface="Calibri"/>
            </a:endParaRPr>
          </a:p>
        </p:txBody>
      </p:sp>
      <p:sp>
        <p:nvSpPr>
          <p:cNvPr id="2832" name="Google Shape;2832;p109"/>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09"/>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Code Talkers to show how diverse Americans made unique, decisive contributions.</a:t>
            </a:r>
            <a:endParaRPr b="0" i="0" sz="800" u="none" cap="none" strike="noStrike">
              <a:solidFill>
                <a:schemeClr val="dk1"/>
              </a:solidFill>
              <a:latin typeface="Calibri"/>
              <a:ea typeface="Calibri"/>
              <a:cs typeface="Calibri"/>
              <a:sym typeface="Calibri"/>
            </a:endParaRPr>
          </a:p>
        </p:txBody>
      </p:sp>
      <p:sp>
        <p:nvSpPr>
          <p:cNvPr id="2834" name="Google Shape;2834;p1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35" name="Google Shape;2835;p1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40" name="Shape 2840"/>
        <p:cNvGrpSpPr/>
        <p:nvPr/>
      </p:nvGrpSpPr>
      <p:grpSpPr>
        <a:xfrm>
          <a:off x="0" y="0"/>
          <a:ext cx="0" cy="0"/>
          <a:chOff x="0" y="0"/>
          <a:chExt cx="0" cy="0"/>
        </a:xfrm>
      </p:grpSpPr>
      <p:sp>
        <p:nvSpPr>
          <p:cNvPr id="2841" name="Google Shape;2841;p11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US.51 · PRIMARY SOURCE ANALYSIS</a:t>
            </a:r>
            <a:endParaRPr b="0" i="0" sz="1200" u="none" cap="none" strike="noStrike">
              <a:solidFill>
                <a:schemeClr val="dk1"/>
              </a:solidFill>
              <a:latin typeface="Calibri"/>
              <a:ea typeface="Calibri"/>
              <a:cs typeface="Calibri"/>
              <a:sym typeface="Calibri"/>
            </a:endParaRPr>
          </a:p>
        </p:txBody>
      </p:sp>
      <p:sp>
        <p:nvSpPr>
          <p:cNvPr id="2843" name="Google Shape;2843;p11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Tuskegee Airmen Commendation</a:t>
            </a:r>
            <a:endParaRPr b="0" i="0" sz="2500" u="none" cap="none" strike="noStrike">
              <a:solidFill>
                <a:schemeClr val="dk1"/>
              </a:solidFill>
              <a:latin typeface="Calibri"/>
              <a:ea typeface="Calibri"/>
              <a:cs typeface="Calibri"/>
              <a:sym typeface="Calibri"/>
            </a:endParaRPr>
          </a:p>
        </p:txBody>
      </p:sp>
      <p:sp>
        <p:nvSpPr>
          <p:cNvPr id="2844" name="Google Shape;2844;p11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Corroboration</a:t>
            </a:r>
            <a:endParaRPr b="0" i="0" sz="1200" u="none" cap="none" strike="noStrike">
              <a:solidFill>
                <a:schemeClr val="dk1"/>
              </a:solidFill>
              <a:latin typeface="Calibri"/>
              <a:ea typeface="Calibri"/>
              <a:cs typeface="Calibri"/>
              <a:sym typeface="Calibri"/>
            </a:endParaRPr>
          </a:p>
        </p:txBody>
      </p:sp>
      <p:sp>
        <p:nvSpPr>
          <p:cNvPr id="2846" name="Google Shape;2846;p11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Army Air Forces  ·  1945</a:t>
            </a:r>
            <a:endParaRPr b="0" i="0" sz="1200" u="none" cap="none" strike="noStrike">
              <a:solidFill>
                <a:schemeClr val="dk1"/>
              </a:solidFill>
              <a:latin typeface="Calibri"/>
              <a:ea typeface="Calibri"/>
              <a:cs typeface="Calibri"/>
              <a:sym typeface="Calibri"/>
            </a:endParaRPr>
          </a:p>
        </p:txBody>
      </p:sp>
      <p:sp>
        <p:nvSpPr>
          <p:cNvPr id="2847" name="Google Shape;2847;p11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400" u="none" cap="none" strike="noStrike">
              <a:solidFill>
                <a:schemeClr val="dk1"/>
              </a:solidFill>
              <a:latin typeface="Calibri"/>
              <a:ea typeface="Calibri"/>
              <a:cs typeface="Calibri"/>
              <a:sym typeface="Calibri"/>
            </a:endParaRPr>
          </a:p>
        </p:txBody>
      </p:sp>
      <p:sp>
        <p:nvSpPr>
          <p:cNvPr id="2850" name="Google Shape;2850;p11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852" name="Google Shape;2852;p110"/>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854" name="Google Shape;2854;p110"/>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Tuskegee Airmen were the first African American military aviators in the U.S. armed forces, trained at Tuskegee Army Air Field in Alabama during World War II. They served in a racially segregated military that many believed African Americans were unfit to be combat pilots. Their outstanding record as escort fighters—protecting bombers on missions over Europe—helped challenge racial stereotypes and laid the groundwork for military desegregation.</a:t>
            </a:r>
            <a:endParaRPr b="0" i="0" sz="950" u="none" cap="none" strike="noStrike">
              <a:solidFill>
                <a:schemeClr val="dk1"/>
              </a:solidFill>
              <a:latin typeface="Calibri"/>
              <a:ea typeface="Calibri"/>
              <a:cs typeface="Calibri"/>
              <a:sym typeface="Calibri"/>
            </a:endParaRPr>
          </a:p>
        </p:txBody>
      </p:sp>
      <p:sp>
        <p:nvSpPr>
          <p:cNvPr id="2855" name="Google Shape;2855;p110"/>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0"/>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857" name="Google Shape;2857;p110"/>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evidence does this document provide about the Tuskegee Airmen's military effectiveness?</a:t>
            </a:r>
            <a:endParaRPr b="0" i="0" sz="1250" u="none" cap="none" strike="noStrike">
              <a:solidFill>
                <a:schemeClr val="dk1"/>
              </a:solidFill>
              <a:latin typeface="Calibri"/>
              <a:ea typeface="Calibri"/>
              <a:cs typeface="Calibri"/>
              <a:sym typeface="Calibri"/>
            </a:endParaRPr>
          </a:p>
        </p:txBody>
      </p:sp>
      <p:sp>
        <p:nvSpPr>
          <p:cNvPr id="2858" name="Google Shape;2858;p11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861" name="Google Shape;2861;p11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862" name="Google Shape;2862;p11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863" name="Google Shape;2863;p11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864" name="Google Shape;2864;p11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Army Air Forces</a:t>
            </a:r>
            <a:endParaRPr b="0" i="0" sz="950" u="none" cap="none" strike="noStrike">
              <a:solidFill>
                <a:schemeClr val="dk1"/>
              </a:solidFill>
              <a:latin typeface="Calibri"/>
              <a:ea typeface="Calibri"/>
              <a:cs typeface="Calibri"/>
              <a:sym typeface="Calibri"/>
            </a:endParaRPr>
          </a:p>
        </p:txBody>
      </p:sp>
      <p:sp>
        <p:nvSpPr>
          <p:cNvPr id="2865" name="Google Shape;2865;p11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866" name="Google Shape;2866;p11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a:t>
            </a:r>
            <a:endParaRPr b="0" i="0" sz="950" u="none" cap="none" strike="noStrike">
              <a:solidFill>
                <a:schemeClr val="dk1"/>
              </a:solidFill>
              <a:latin typeface="Calibri"/>
              <a:ea typeface="Calibri"/>
              <a:cs typeface="Calibri"/>
              <a:sym typeface="Calibri"/>
            </a:endParaRPr>
          </a:p>
        </p:txBody>
      </p:sp>
      <p:sp>
        <p:nvSpPr>
          <p:cNvPr id="2867" name="Google Shape;2867;p11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868" name="Google Shape;2868;p11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869" name="Google Shape;2869;p11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870" name="Google Shape;2870;p1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1" name="Google Shape;2871;p1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76" name="Shape 2876"/>
        <p:cNvGrpSpPr/>
        <p:nvPr/>
      </p:nvGrpSpPr>
      <p:grpSpPr>
        <a:xfrm>
          <a:off x="0" y="0"/>
          <a:ext cx="0" cy="0"/>
          <a:chOff x="0" y="0"/>
          <a:chExt cx="0" cy="0"/>
        </a:xfrm>
      </p:grpSpPr>
      <p:sp>
        <p:nvSpPr>
          <p:cNvPr id="2877" name="Google Shape;2877;p1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KEY VOCABULARY</a:t>
            </a:r>
            <a:endParaRPr b="0" i="0" sz="1200" u="none" cap="none" strike="noStrike">
              <a:solidFill>
                <a:schemeClr val="dk1"/>
              </a:solidFill>
              <a:latin typeface="Calibri"/>
              <a:ea typeface="Calibri"/>
              <a:cs typeface="Calibri"/>
              <a:sym typeface="Calibri"/>
            </a:endParaRPr>
          </a:p>
        </p:txBody>
      </p:sp>
      <p:sp>
        <p:nvSpPr>
          <p:cNvPr id="2879" name="Google Shape;2879;p11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880" name="Google Shape;2880;p11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1"/>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2883" name="Google Shape;2883;p11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2884" name="Google Shape;2884;p11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2885" name="Google Shape;2885;p111"/>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111"/>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2887" name="Google Shape;2887;p111"/>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2888" name="Google Shape;2888;p11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1"/>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2891" name="Google Shape;2891;p11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2892" name="Google Shape;2892;p11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2893" name="Google Shape;2893;p111"/>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111"/>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2895" name="Google Shape;2895;p111"/>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2896" name="Google Shape;2896;p11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1"/>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Navajo Code Talkers</a:t>
            </a:r>
            <a:endParaRPr b="0" i="0" sz="1350" u="none" cap="none" strike="noStrike">
              <a:solidFill>
                <a:schemeClr val="dk1"/>
              </a:solidFill>
              <a:latin typeface="Calibri"/>
              <a:ea typeface="Calibri"/>
              <a:cs typeface="Calibri"/>
              <a:sym typeface="Calibri"/>
            </a:endParaRPr>
          </a:p>
        </p:txBody>
      </p:sp>
      <p:sp>
        <p:nvSpPr>
          <p:cNvPr id="2899" name="Google Shape;2899;p11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NAV-uh-hoh kohd TAWK-erz</a:t>
            </a:r>
            <a:endParaRPr b="0" i="0" sz="850" u="none" cap="none" strike="noStrike">
              <a:solidFill>
                <a:schemeClr val="dk1"/>
              </a:solidFill>
              <a:latin typeface="Calibri"/>
              <a:ea typeface="Calibri"/>
              <a:cs typeface="Calibri"/>
              <a:sym typeface="Calibri"/>
            </a:endParaRPr>
          </a:p>
        </p:txBody>
      </p:sp>
      <p:sp>
        <p:nvSpPr>
          <p:cNvPr id="2900" name="Google Shape;2900;p11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Descifradores de Código Navajo</a:t>
            </a:r>
            <a:endParaRPr b="0" i="0" sz="1000" u="none" cap="none" strike="noStrike">
              <a:solidFill>
                <a:schemeClr val="dk1"/>
              </a:solidFill>
              <a:latin typeface="Calibri"/>
              <a:ea typeface="Calibri"/>
              <a:cs typeface="Calibri"/>
              <a:sym typeface="Calibri"/>
            </a:endParaRPr>
          </a:p>
        </p:txBody>
      </p:sp>
      <p:sp>
        <p:nvSpPr>
          <p:cNvPr id="2901" name="Google Shape;2901;p111"/>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111"/>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NC</a:t>
            </a:r>
            <a:endParaRPr b="0" i="0" sz="1300" u="none" cap="none" strike="noStrike">
              <a:solidFill>
                <a:schemeClr val="dk1"/>
              </a:solidFill>
              <a:latin typeface="Calibri"/>
              <a:ea typeface="Calibri"/>
              <a:cs typeface="Calibri"/>
              <a:sym typeface="Calibri"/>
            </a:endParaRPr>
          </a:p>
        </p:txBody>
      </p:sp>
      <p:sp>
        <p:nvSpPr>
          <p:cNvPr id="2903" name="Google Shape;2903;p111"/>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Navajo Marines who used their native language to create an unbreakable code for military communications in the Pacific theater.</a:t>
            </a:r>
            <a:endParaRPr b="0" i="0" sz="1100" u="none" cap="none" strike="noStrike">
              <a:solidFill>
                <a:schemeClr val="dk1"/>
              </a:solidFill>
              <a:latin typeface="Calibri"/>
              <a:ea typeface="Calibri"/>
              <a:cs typeface="Calibri"/>
              <a:sym typeface="Calibri"/>
            </a:endParaRPr>
          </a:p>
        </p:txBody>
      </p:sp>
      <p:sp>
        <p:nvSpPr>
          <p:cNvPr id="2904" name="Google Shape;2904;p11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1"/>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907" name="Google Shape;2907;p11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908" name="Google Shape;2908;p11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909" name="Google Shape;2909;p111"/>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111"/>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911" name="Google Shape;2911;p111"/>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912" name="Google Shape;2912;p11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1"/>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915" name="Google Shape;2915;p11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916" name="Google Shape;2916;p11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917" name="Google Shape;2917;p111"/>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111"/>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919" name="Google Shape;2919;p111"/>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920" name="Google Shape;2920;p11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1"/>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2923" name="Google Shape;2923;p11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2924" name="Google Shape;2924;p11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2925" name="Google Shape;2925;p111"/>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111"/>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2927" name="Google Shape;2927;p111"/>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2928" name="Google Shape;2928;p11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929" name="Google Shape;2929;p1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30" name="Google Shape;2930;p1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35" name="Shape 2935"/>
        <p:cNvGrpSpPr/>
        <p:nvPr/>
      </p:nvGrpSpPr>
      <p:grpSpPr>
        <a:xfrm>
          <a:off x="0" y="0"/>
          <a:ext cx="0" cy="0"/>
          <a:chOff x="0" y="0"/>
          <a:chExt cx="0" cy="0"/>
        </a:xfrm>
      </p:grpSpPr>
      <p:sp>
        <p:nvSpPr>
          <p:cNvPr id="2936" name="Google Shape;2936;p1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GUIDED PRACTICE — WE DO IT TOGETHER</a:t>
            </a:r>
            <a:endParaRPr b="0" i="0" sz="1200" u="none" cap="none" strike="noStrike">
              <a:solidFill>
                <a:schemeClr val="dk1"/>
              </a:solidFill>
              <a:latin typeface="Calibri"/>
              <a:ea typeface="Calibri"/>
              <a:cs typeface="Calibri"/>
              <a:sym typeface="Calibri"/>
            </a:endParaRPr>
          </a:p>
        </p:txBody>
      </p:sp>
      <p:sp>
        <p:nvSpPr>
          <p:cNvPr id="2938" name="Google Shape;2938;p11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939" name="Google Shape;2939;p11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contributions under injustice</a:t>
            </a:r>
            <a:endParaRPr b="0" i="0" sz="1100" u="none" cap="none" strike="noStrike">
              <a:solidFill>
                <a:schemeClr val="dk1"/>
              </a:solidFill>
              <a:latin typeface="Calibri"/>
              <a:ea typeface="Calibri"/>
              <a:cs typeface="Calibri"/>
              <a:sym typeface="Calibri"/>
            </a:endParaRPr>
          </a:p>
        </p:txBody>
      </p:sp>
      <p:sp>
        <p:nvSpPr>
          <p:cNvPr id="2941" name="Google Shape;2941;p11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made the Tuskegee Airmen's record so significant?</a:t>
            </a:r>
            <a:endParaRPr b="0" i="0" sz="1500" u="none" cap="none" strike="noStrike">
              <a:solidFill>
                <a:schemeClr val="dk1"/>
              </a:solidFill>
              <a:latin typeface="Calibri"/>
              <a:ea typeface="Calibri"/>
              <a:cs typeface="Calibri"/>
              <a:sym typeface="Calibri"/>
            </a:endParaRPr>
          </a:p>
        </p:txBody>
      </p:sp>
      <p:sp>
        <p:nvSpPr>
          <p:cNvPr id="2943" name="Google Shape;2943;p11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945" name="Google Shape;2945;p11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They fought and excelled while serving in a segregated military. Their record was evidence, not just valor - it refuted the claim that Black pilots couldn't perform.</a:t>
            </a:r>
            <a:endParaRPr b="0" i="0" sz="1450" u="none" cap="none" strike="noStrike">
              <a:solidFill>
                <a:schemeClr val="dk1"/>
              </a:solidFill>
              <a:latin typeface="Calibri"/>
              <a:ea typeface="Calibri"/>
              <a:cs typeface="Calibri"/>
              <a:sym typeface="Calibri"/>
            </a:endParaRPr>
          </a:p>
        </p:txBody>
      </p:sp>
      <p:sp>
        <p:nvSpPr>
          <p:cNvPr id="2946" name="Google Shape;2946;p11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948" name="Google Shape;2948;p11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sentence naming their combat achievement.</a:t>
            </a:r>
            <a:endParaRPr b="0" i="0" sz="1300" u="none" cap="none" strike="noStrike">
              <a:solidFill>
                <a:schemeClr val="dk1"/>
              </a:solidFill>
              <a:latin typeface="Calibri"/>
              <a:ea typeface="Calibri"/>
              <a:cs typeface="Calibri"/>
              <a:sym typeface="Calibri"/>
            </a:endParaRPr>
          </a:p>
        </p:txBody>
      </p:sp>
      <p:sp>
        <p:nvSpPr>
          <p:cNvPr id="2949" name="Google Shape;2949;p11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their service became an argument for change at home.</a:t>
            </a:r>
            <a:endParaRPr b="0" i="0" sz="1200" u="none" cap="none" strike="noStrike">
              <a:solidFill>
                <a:schemeClr val="dk1"/>
              </a:solidFill>
              <a:latin typeface="Calibri"/>
              <a:ea typeface="Calibri"/>
              <a:cs typeface="Calibri"/>
              <a:sym typeface="Calibri"/>
            </a:endParaRPr>
          </a:p>
        </p:txBody>
      </p:sp>
      <p:sp>
        <p:nvSpPr>
          <p:cNvPr id="2950" name="Google Shape;2950;p1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51" name="Google Shape;2951;p1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56" name="Shape 2956"/>
        <p:cNvGrpSpPr/>
        <p:nvPr/>
      </p:nvGrpSpPr>
      <p:grpSpPr>
        <a:xfrm>
          <a:off x="0" y="0"/>
          <a:ext cx="0" cy="0"/>
          <a:chOff x="0" y="0"/>
          <a:chExt cx="0" cy="0"/>
        </a:xfrm>
      </p:grpSpPr>
      <p:sp>
        <p:nvSpPr>
          <p:cNvPr id="2957" name="Google Shape;2957;p11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STUDENT ACTIVITY</a:t>
            </a:r>
            <a:endParaRPr b="0" i="0" sz="1200" u="none" cap="none" strike="noStrike">
              <a:solidFill>
                <a:schemeClr val="dk1"/>
              </a:solidFill>
              <a:latin typeface="Calibri"/>
              <a:ea typeface="Calibri"/>
              <a:cs typeface="Calibri"/>
              <a:sym typeface="Calibri"/>
            </a:endParaRPr>
          </a:p>
        </p:txBody>
      </p:sp>
      <p:sp>
        <p:nvSpPr>
          <p:cNvPr id="2959" name="Google Shape;2959;p11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Fighting Two Wars — Special Forces and Individual Sacrifice</a:t>
            </a:r>
            <a:endParaRPr b="0" i="0" sz="2200" u="none" cap="none" strike="noStrike">
              <a:solidFill>
                <a:schemeClr val="dk1"/>
              </a:solidFill>
              <a:latin typeface="Calibri"/>
              <a:ea typeface="Calibri"/>
              <a:cs typeface="Calibri"/>
              <a:sym typeface="Calibri"/>
            </a:endParaRPr>
          </a:p>
        </p:txBody>
      </p:sp>
      <p:sp>
        <p:nvSpPr>
          <p:cNvPr id="2960" name="Google Shape;2960;p113"/>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3"/>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962" name="Google Shape;2962;p113"/>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3"/>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964" name="Google Shape;2964;p11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966" name="Google Shape;2966;p11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Tuskegee Airmen commendation and study the photograph. Build a chart for four special forces, the Tuskegee Airmen, the 442nd Regimental Combat Team, the 101st Airborne, and the Navajo Code Talkers, recording their unique contribution and one obstacle or sacrifice each faced. Finish with a one-sentence claim on how these groups fought discrimination at home while fighting the enemy abroad, with evidence.</a:t>
            </a:r>
            <a:endParaRPr b="0" i="0" sz="1350" u="none" cap="none" strike="noStrike">
              <a:solidFill>
                <a:schemeClr val="dk1"/>
              </a:solidFill>
              <a:latin typeface="Calibri"/>
              <a:ea typeface="Calibri"/>
              <a:cs typeface="Calibri"/>
              <a:sym typeface="Calibri"/>
            </a:endParaRPr>
          </a:p>
        </p:txBody>
      </p:sp>
      <p:sp>
        <p:nvSpPr>
          <p:cNvPr id="2967" name="Google Shape;2967;p11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969" name="Google Shape;2969;p11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four-unit chart (contribution + obstacle/sacrifice each) AND a one-sentence evidence-based claim about the 'two wars' these soldiers fought.</a:t>
            </a:r>
            <a:endParaRPr b="0" i="0" sz="1050" u="none" cap="none" strike="noStrike">
              <a:solidFill>
                <a:schemeClr val="dk1"/>
              </a:solidFill>
              <a:latin typeface="Calibri"/>
              <a:ea typeface="Calibri"/>
              <a:cs typeface="Calibri"/>
              <a:sym typeface="Calibri"/>
            </a:endParaRPr>
          </a:p>
        </p:txBody>
      </p:sp>
      <p:sp>
        <p:nvSpPr>
          <p:cNvPr id="2970" name="Google Shape;2970;p11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972" name="Google Shape;2972;p11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units pre-labeled and a fact bank of contributions to sort. Honors: Write a paragraph using the Tuskegee Airmen commendation to argue how their record challenged racist assumptions of the era.</a:t>
            </a:r>
            <a:endParaRPr b="0" i="0" sz="1000" u="none" cap="none" strike="noStrike">
              <a:solidFill>
                <a:schemeClr val="dk1"/>
              </a:solidFill>
              <a:latin typeface="Calibri"/>
              <a:ea typeface="Calibri"/>
              <a:cs typeface="Calibri"/>
              <a:sym typeface="Calibri"/>
            </a:endParaRPr>
          </a:p>
        </p:txBody>
      </p:sp>
      <p:sp>
        <p:nvSpPr>
          <p:cNvPr id="2973" name="Google Shape;2973;p11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cornell-notes/unit-6/us51-special-fighting-forces.pdf</a:t>
            </a:r>
            <a:endParaRPr b="0" i="0" sz="1050" u="none" cap="none" strike="noStrike">
              <a:solidFill>
                <a:schemeClr val="dk1"/>
              </a:solidFill>
              <a:latin typeface="Calibri"/>
              <a:ea typeface="Calibri"/>
              <a:cs typeface="Calibri"/>
              <a:sym typeface="Calibri"/>
            </a:endParaRPr>
          </a:p>
        </p:txBody>
      </p:sp>
      <p:sp>
        <p:nvSpPr>
          <p:cNvPr id="2974" name="Google Shape;2974;p1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75" name="Google Shape;2975;p1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980" name="Shape 2980"/>
        <p:cNvGrpSpPr/>
        <p:nvPr/>
      </p:nvGrpSpPr>
      <p:grpSpPr>
        <a:xfrm>
          <a:off x="0" y="0"/>
          <a:ext cx="0" cy="0"/>
          <a:chOff x="0" y="0"/>
          <a:chExt cx="0" cy="0"/>
        </a:xfrm>
      </p:grpSpPr>
      <p:sp>
        <p:nvSpPr>
          <p:cNvPr id="2981" name="Google Shape;2981;p1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CHECK FOR UNDERSTANDING</a:t>
            </a:r>
            <a:endParaRPr b="0" i="0" sz="1200" u="none" cap="none" strike="noStrike">
              <a:solidFill>
                <a:schemeClr val="dk1"/>
              </a:solidFill>
              <a:latin typeface="Calibri"/>
              <a:ea typeface="Calibri"/>
              <a:cs typeface="Calibri"/>
              <a:sym typeface="Calibri"/>
            </a:endParaRPr>
          </a:p>
        </p:txBody>
      </p:sp>
      <p:sp>
        <p:nvSpPr>
          <p:cNvPr id="2983" name="Google Shape;2983;p11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984" name="Google Shape;2984;p11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986" name="Google Shape;2986;p11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988" name="Google Shape;2988;p11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role did Navajo Code Talkers play in WWII?</a:t>
            </a:r>
            <a:endParaRPr b="0" i="0" sz="1600" u="none" cap="none" strike="noStrike">
              <a:solidFill>
                <a:schemeClr val="dk1"/>
              </a:solidFill>
              <a:latin typeface="Calibri"/>
              <a:ea typeface="Calibri"/>
              <a:cs typeface="Calibri"/>
              <a:sym typeface="Calibri"/>
            </a:endParaRPr>
          </a:p>
        </p:txBody>
      </p:sp>
      <p:sp>
        <p:nvSpPr>
          <p:cNvPr id="2990" name="Google Shape;2990;p11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993" name="Google Shape;2993;p11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Served as translators helping communicate with Japanese prisoners of war in camps.</a:t>
            </a:r>
            <a:endParaRPr b="0" i="0" sz="1350" u="none" cap="none" strike="noStrike">
              <a:solidFill>
                <a:schemeClr val="dk1"/>
              </a:solidFill>
              <a:latin typeface="Calibri"/>
              <a:ea typeface="Calibri"/>
              <a:cs typeface="Calibri"/>
              <a:sym typeface="Calibri"/>
            </a:endParaRPr>
          </a:p>
        </p:txBody>
      </p:sp>
      <p:sp>
        <p:nvSpPr>
          <p:cNvPr id="2994" name="Google Shape;2994;p11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997" name="Google Shape;2997;p11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Used Navajo language to create unbreakable military codes in the Pacific theater.</a:t>
            </a:r>
            <a:endParaRPr b="0" i="0" sz="1350" u="none" cap="none" strike="noStrike">
              <a:solidFill>
                <a:schemeClr val="dk1"/>
              </a:solidFill>
              <a:latin typeface="Calibri"/>
              <a:ea typeface="Calibri"/>
              <a:cs typeface="Calibri"/>
              <a:sym typeface="Calibri"/>
            </a:endParaRPr>
          </a:p>
        </p:txBody>
      </p:sp>
      <p:sp>
        <p:nvSpPr>
          <p:cNvPr id="2998" name="Google Shape;2998;p11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001" name="Google Shape;3001;p11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Fought exclusively in the European theater as specialized infantry scout units.</a:t>
            </a:r>
            <a:endParaRPr b="0" i="0" sz="1350" u="none" cap="none" strike="noStrike">
              <a:solidFill>
                <a:schemeClr val="dk1"/>
              </a:solidFill>
              <a:latin typeface="Calibri"/>
              <a:ea typeface="Calibri"/>
              <a:cs typeface="Calibri"/>
              <a:sym typeface="Calibri"/>
            </a:endParaRPr>
          </a:p>
        </p:txBody>
      </p:sp>
      <p:sp>
        <p:nvSpPr>
          <p:cNvPr id="3002" name="Google Shape;3002;p11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005" name="Google Shape;3005;p11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Worked as intelligence analysts decoding Japanese military radio transmissions at bases.</a:t>
            </a:r>
            <a:endParaRPr b="0" i="0" sz="1350" u="none" cap="none" strike="noStrike">
              <a:solidFill>
                <a:schemeClr val="dk1"/>
              </a:solidFill>
              <a:latin typeface="Calibri"/>
              <a:ea typeface="Calibri"/>
              <a:cs typeface="Calibri"/>
              <a:sym typeface="Calibri"/>
            </a:endParaRPr>
          </a:p>
        </p:txBody>
      </p:sp>
      <p:sp>
        <p:nvSpPr>
          <p:cNvPr id="3006" name="Google Shape;3006;p11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008" name="Google Shape;3008;p1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09" name="Google Shape;3009;p1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14" name="Shape 3014"/>
        <p:cNvGrpSpPr/>
        <p:nvPr/>
      </p:nvGrpSpPr>
      <p:grpSpPr>
        <a:xfrm>
          <a:off x="0" y="0"/>
          <a:ext cx="0" cy="0"/>
          <a:chOff x="0" y="0"/>
          <a:chExt cx="0" cy="0"/>
        </a:xfrm>
      </p:grpSpPr>
      <p:sp>
        <p:nvSpPr>
          <p:cNvPr id="3015" name="Google Shape;3015;p1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ANSWER REVEAL</a:t>
            </a:r>
            <a:endParaRPr b="0" i="0" sz="1200" u="none" cap="none" strike="noStrike">
              <a:solidFill>
                <a:schemeClr val="dk1"/>
              </a:solidFill>
              <a:latin typeface="Calibri"/>
              <a:ea typeface="Calibri"/>
              <a:cs typeface="Calibri"/>
              <a:sym typeface="Calibri"/>
            </a:endParaRPr>
          </a:p>
        </p:txBody>
      </p:sp>
      <p:sp>
        <p:nvSpPr>
          <p:cNvPr id="3017" name="Google Shape;3017;p11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018" name="Google Shape;3018;p11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020" name="Google Shape;3020;p11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role did Navajo Code Talkers play in WWII?</a:t>
            </a:r>
            <a:endParaRPr b="0" i="0" sz="1500" u="none" cap="none" strike="noStrike">
              <a:solidFill>
                <a:schemeClr val="dk1"/>
              </a:solidFill>
              <a:latin typeface="Calibri"/>
              <a:ea typeface="Calibri"/>
              <a:cs typeface="Calibri"/>
              <a:sym typeface="Calibri"/>
            </a:endParaRPr>
          </a:p>
        </p:txBody>
      </p:sp>
      <p:sp>
        <p:nvSpPr>
          <p:cNvPr id="3022" name="Google Shape;3022;p11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025" name="Google Shape;3025;p11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Served as translators helping communicate with Japanese prisoners of war in camps.</a:t>
            </a:r>
            <a:endParaRPr b="0" i="0" sz="1300" u="none" cap="none" strike="noStrike">
              <a:solidFill>
                <a:schemeClr val="dk1"/>
              </a:solidFill>
              <a:latin typeface="Calibri"/>
              <a:ea typeface="Calibri"/>
              <a:cs typeface="Calibri"/>
              <a:sym typeface="Calibri"/>
            </a:endParaRPr>
          </a:p>
        </p:txBody>
      </p:sp>
      <p:sp>
        <p:nvSpPr>
          <p:cNvPr id="3026" name="Google Shape;3026;p115"/>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029" name="Google Shape;3029;p11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Used Navajo language to create unbreakable military codes in the Pacific theater.</a:t>
            </a:r>
            <a:endParaRPr b="0" i="0" sz="1300" u="none" cap="none" strike="noStrike">
              <a:solidFill>
                <a:schemeClr val="dk1"/>
              </a:solidFill>
              <a:latin typeface="Calibri"/>
              <a:ea typeface="Calibri"/>
              <a:cs typeface="Calibri"/>
              <a:sym typeface="Calibri"/>
            </a:endParaRPr>
          </a:p>
        </p:txBody>
      </p:sp>
      <p:sp>
        <p:nvSpPr>
          <p:cNvPr id="3030" name="Google Shape;3030;p115"/>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31" name="Google Shape;3031;p11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1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1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034" name="Google Shape;3034;p11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Fought exclusively in the European theater as specialized infantry scout units.</a:t>
            </a:r>
            <a:endParaRPr b="0" i="0" sz="1300" u="none" cap="none" strike="noStrike">
              <a:solidFill>
                <a:schemeClr val="dk1"/>
              </a:solidFill>
              <a:latin typeface="Calibri"/>
              <a:ea typeface="Calibri"/>
              <a:cs typeface="Calibri"/>
              <a:sym typeface="Calibri"/>
            </a:endParaRPr>
          </a:p>
        </p:txBody>
      </p:sp>
      <p:sp>
        <p:nvSpPr>
          <p:cNvPr id="3035" name="Google Shape;3035;p115"/>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1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1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038" name="Google Shape;3038;p11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Worked as intelligence analysts decoding Japanese military radio transmissions at bases.</a:t>
            </a:r>
            <a:endParaRPr b="0" i="0" sz="1300" u="none" cap="none" strike="noStrike">
              <a:solidFill>
                <a:schemeClr val="dk1"/>
              </a:solidFill>
              <a:latin typeface="Calibri"/>
              <a:ea typeface="Calibri"/>
              <a:cs typeface="Calibri"/>
              <a:sym typeface="Calibri"/>
            </a:endParaRPr>
          </a:p>
        </p:txBody>
      </p:sp>
      <p:sp>
        <p:nvSpPr>
          <p:cNvPr id="3039" name="Google Shape;3039;p11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1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b="0" i="0" sz="1150" u="none" cap="none" strike="noStrike">
              <a:solidFill>
                <a:schemeClr val="dk1"/>
              </a:solidFill>
              <a:latin typeface="Calibri"/>
              <a:ea typeface="Calibri"/>
              <a:cs typeface="Calibri"/>
              <a:sym typeface="Calibri"/>
            </a:endParaRPr>
          </a:p>
        </p:txBody>
      </p:sp>
      <p:sp>
        <p:nvSpPr>
          <p:cNvPr id="3041" name="Google Shape;3041;p1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2" name="Google Shape;3042;p1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47" name="Shape 3047"/>
        <p:cNvGrpSpPr/>
        <p:nvPr/>
      </p:nvGrpSpPr>
      <p:grpSpPr>
        <a:xfrm>
          <a:off x="0" y="0"/>
          <a:ext cx="0" cy="0"/>
          <a:chOff x="0" y="0"/>
          <a:chExt cx="0" cy="0"/>
        </a:xfrm>
      </p:grpSpPr>
      <p:sp>
        <p:nvSpPr>
          <p:cNvPr id="3048" name="Google Shape;3048;p11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WRAP-UP</a:t>
            </a:r>
            <a:endParaRPr b="0" i="0" sz="1200" u="none" cap="none" strike="noStrike">
              <a:solidFill>
                <a:schemeClr val="dk1"/>
              </a:solidFill>
              <a:latin typeface="Calibri"/>
              <a:ea typeface="Calibri"/>
              <a:cs typeface="Calibri"/>
              <a:sym typeface="Calibri"/>
            </a:endParaRPr>
          </a:p>
        </p:txBody>
      </p:sp>
      <p:sp>
        <p:nvSpPr>
          <p:cNvPr id="3050" name="Google Shape;3050;p11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051" name="Google Shape;3051;p11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1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053" name="Google Shape;3053;p11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Tuskegee Airmen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442nd Regimental Combat Team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101st Airborne Division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Navajo Code Talkers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Individual Sacrifice and Legacy</a:t>
            </a:r>
            <a:endParaRPr b="0" i="0" sz="1500" u="none" cap="none" strike="noStrike">
              <a:solidFill>
                <a:schemeClr val="dk1"/>
              </a:solidFill>
              <a:latin typeface="Calibri"/>
              <a:ea typeface="Calibri"/>
              <a:cs typeface="Calibri"/>
              <a:sym typeface="Calibri"/>
            </a:endParaRPr>
          </a:p>
        </p:txBody>
      </p:sp>
      <p:sp>
        <p:nvSpPr>
          <p:cNvPr id="3054" name="Google Shape;3054;p11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1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056" name="Google Shape;3056;p11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What did the service of these units prove about the injustice of discrimination at home? Argue with evidence. (SSP.04)</a:t>
            </a:r>
            <a:endParaRPr b="0" i="0" sz="1150" u="none" cap="none" strike="noStrike">
              <a:solidFill>
                <a:schemeClr val="dk1"/>
              </a:solidFill>
              <a:latin typeface="Calibri"/>
              <a:ea typeface="Calibri"/>
              <a:cs typeface="Calibri"/>
              <a:sym typeface="Calibri"/>
            </a:endParaRPr>
          </a:p>
        </p:txBody>
      </p:sp>
      <p:sp>
        <p:nvSpPr>
          <p:cNvPr id="3057" name="Google Shape;3057;p11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1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059" name="Google Shape;3059;p11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1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061" name="Google Shape;3061;p11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contributions of two special fighting forces in WWII and one obstacle they overcame.</a:t>
            </a:r>
            <a:endParaRPr b="0" i="0" sz="1350" u="none" cap="none" strike="noStrike">
              <a:solidFill>
                <a:schemeClr val="dk1"/>
              </a:solidFill>
              <a:latin typeface="Calibri"/>
              <a:ea typeface="Calibri"/>
              <a:cs typeface="Calibri"/>
              <a:sym typeface="Calibri"/>
            </a:endParaRPr>
          </a:p>
        </p:txBody>
      </p:sp>
      <p:cxnSp>
        <p:nvCxnSpPr>
          <p:cNvPr id="3062" name="Google Shape;3062;p11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3" name="Google Shape;3063;p11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4" name="Google Shape;3064;p11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065" name="Google Shape;3065;p1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66" name="Google Shape;3066;p1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71" name="Shape 3071"/>
        <p:cNvGrpSpPr/>
        <p:nvPr/>
      </p:nvGrpSpPr>
      <p:grpSpPr>
        <a:xfrm>
          <a:off x="0" y="0"/>
          <a:ext cx="0" cy="0"/>
          <a:chOff x="0" y="0"/>
          <a:chExt cx="0" cy="0"/>
        </a:xfrm>
      </p:grpSpPr>
      <p:sp>
        <p:nvSpPr>
          <p:cNvPr id="3072" name="Google Shape;3072;p11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1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1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075" name="Google Shape;3075;p11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US.52</a:t>
            </a:r>
            <a:endParaRPr b="0" i="0" sz="8800" u="none" cap="none" strike="noStrike">
              <a:solidFill>
                <a:schemeClr val="dk1"/>
              </a:solidFill>
              <a:latin typeface="Calibri"/>
              <a:ea typeface="Calibri"/>
              <a:cs typeface="Calibri"/>
              <a:sym typeface="Calibri"/>
            </a:endParaRPr>
          </a:p>
        </p:txBody>
      </p:sp>
      <p:sp>
        <p:nvSpPr>
          <p:cNvPr id="3076" name="Google Shape;3076;p11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Women in World War II</a:t>
            </a:r>
            <a:endParaRPr b="0" i="0" sz="3000" u="none" cap="none" strike="noStrike">
              <a:solidFill>
                <a:schemeClr val="dk1"/>
              </a:solidFill>
              <a:latin typeface="Calibri"/>
              <a:ea typeface="Calibri"/>
              <a:cs typeface="Calibri"/>
              <a:sym typeface="Calibri"/>
            </a:endParaRPr>
          </a:p>
        </p:txBody>
      </p:sp>
      <p:sp>
        <p:nvSpPr>
          <p:cNvPr id="3077" name="Google Shape;3077;p11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078" name="Google Shape;3078;p11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1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080" name="Google Shape;3080;p11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081" name="Google Shape;3081;p11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1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3083" name="Google Shape;3083;p11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3084" name="Google Shape;3084;p11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1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086" name="Google Shape;3086;p11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087" name="Google Shape;3087;p11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1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089" name="Google Shape;3089;p11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and explain the entry of large numbers of women into the workforce and armed forces during World War II and the subsequent impact on American society.</a:t>
            </a:r>
            <a:endParaRPr b="0" i="0" sz="1300" u="none" cap="none" strike="noStrike">
              <a:solidFill>
                <a:schemeClr val="dk1"/>
              </a:solidFill>
              <a:latin typeface="Calibri"/>
              <a:ea typeface="Calibri"/>
              <a:cs typeface="Calibri"/>
              <a:sym typeface="Calibri"/>
            </a:endParaRPr>
          </a:p>
        </p:txBody>
      </p:sp>
      <p:sp>
        <p:nvSpPr>
          <p:cNvPr id="3090" name="Google Shape;3090;p11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1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092" name="Google Shape;3092;p11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250" u="none" cap="none" strike="noStrike">
              <a:solidFill>
                <a:schemeClr val="dk1"/>
              </a:solidFill>
              <a:latin typeface="Calibri"/>
              <a:ea typeface="Calibri"/>
              <a:cs typeface="Calibri"/>
              <a:sym typeface="Calibri"/>
            </a:endParaRPr>
          </a:p>
        </p:txBody>
      </p:sp>
      <p:sp>
        <p:nvSpPr>
          <p:cNvPr id="3093" name="Google Shape;3093;p1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94" name="Google Shape;3094;p1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9" name="Shape 3099"/>
        <p:cNvGrpSpPr/>
        <p:nvPr/>
      </p:nvGrpSpPr>
      <p:grpSpPr>
        <a:xfrm>
          <a:off x="0" y="0"/>
          <a:ext cx="0" cy="0"/>
          <a:chOff x="0" y="0"/>
          <a:chExt cx="0" cy="0"/>
        </a:xfrm>
      </p:grpSpPr>
      <p:sp>
        <p:nvSpPr>
          <p:cNvPr id="3100" name="Google Shape;3100;p1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QUICK REVIEW</a:t>
            </a:r>
            <a:endParaRPr b="0" i="0" sz="1200" u="none" cap="none" strike="noStrike">
              <a:solidFill>
                <a:schemeClr val="dk1"/>
              </a:solidFill>
              <a:latin typeface="Calibri"/>
              <a:ea typeface="Calibri"/>
              <a:cs typeface="Calibri"/>
              <a:sym typeface="Calibri"/>
            </a:endParaRPr>
          </a:p>
        </p:txBody>
      </p:sp>
      <p:sp>
        <p:nvSpPr>
          <p:cNvPr id="3102" name="Google Shape;3102;p11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103" name="Google Shape;3103;p11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104" name="Google Shape;3104;p11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1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1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107" name="Google Shape;3107;p11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Who were the Tuskegee Airmen?</a:t>
            </a:r>
            <a:endParaRPr b="0" i="0" sz="1350" u="none" cap="none" strike="noStrike">
              <a:solidFill>
                <a:schemeClr val="dk1"/>
              </a:solidFill>
              <a:latin typeface="Calibri"/>
              <a:ea typeface="Calibri"/>
              <a:cs typeface="Calibri"/>
              <a:sym typeface="Calibri"/>
            </a:endParaRPr>
          </a:p>
        </p:txBody>
      </p:sp>
      <p:sp>
        <p:nvSpPr>
          <p:cNvPr id="3108" name="Google Shape;3108;p11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1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1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111" name="Google Shape;3111;p11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What did the Navajo Code Talkers do?</a:t>
            </a:r>
            <a:endParaRPr b="0" i="0" sz="1350" u="none" cap="none" strike="noStrike">
              <a:solidFill>
                <a:schemeClr val="dk1"/>
              </a:solidFill>
              <a:latin typeface="Calibri"/>
              <a:ea typeface="Calibri"/>
              <a:cs typeface="Calibri"/>
              <a:sym typeface="Calibri"/>
            </a:endParaRPr>
          </a:p>
        </p:txBody>
      </p:sp>
      <p:sp>
        <p:nvSpPr>
          <p:cNvPr id="3112" name="Google Shape;3112;p1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13" name="Google Shape;3113;p1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18" name="Shape 3118"/>
        <p:cNvGrpSpPr/>
        <p:nvPr/>
      </p:nvGrpSpPr>
      <p:grpSpPr>
        <a:xfrm>
          <a:off x="0" y="0"/>
          <a:ext cx="0" cy="0"/>
          <a:chOff x="0" y="0"/>
          <a:chExt cx="0" cy="0"/>
        </a:xfrm>
      </p:grpSpPr>
      <p:sp>
        <p:nvSpPr>
          <p:cNvPr id="3119" name="Google Shape;3119;p11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CONFIDENCE CHECK</a:t>
            </a:r>
            <a:endParaRPr b="0" i="0" sz="1200" u="none" cap="none" strike="noStrike">
              <a:solidFill>
                <a:schemeClr val="dk1"/>
              </a:solidFill>
              <a:latin typeface="Calibri"/>
              <a:ea typeface="Calibri"/>
              <a:cs typeface="Calibri"/>
              <a:sym typeface="Calibri"/>
            </a:endParaRPr>
          </a:p>
        </p:txBody>
      </p:sp>
      <p:sp>
        <p:nvSpPr>
          <p:cNvPr id="3121" name="Google Shape;3121;p11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122" name="Google Shape;3122;p11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1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124" name="Google Shape;3124;p11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1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126" name="Google Shape;3126;p11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127" name="Google Shape;3127;p11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1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nickname symbolized women who took factory jobs during WWII?</a:t>
            </a:r>
            <a:endParaRPr b="0" i="0" sz="2400" u="none" cap="none" strike="noStrike">
              <a:solidFill>
                <a:schemeClr val="dk1"/>
              </a:solidFill>
              <a:latin typeface="Calibri"/>
              <a:ea typeface="Calibri"/>
              <a:cs typeface="Calibri"/>
              <a:sym typeface="Calibri"/>
            </a:endParaRPr>
          </a:p>
        </p:txBody>
      </p:sp>
      <p:sp>
        <p:nvSpPr>
          <p:cNvPr id="3129" name="Google Shape;3129;p11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1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131" name="Google Shape;3131;p11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Rosie the Riveter.</a:t>
            </a:r>
            <a:endParaRPr b="0" i="0" sz="1600" u="none" cap="none" strike="noStrike">
              <a:solidFill>
                <a:schemeClr val="dk1"/>
              </a:solidFill>
              <a:latin typeface="Calibri"/>
              <a:ea typeface="Calibri"/>
              <a:cs typeface="Calibri"/>
              <a:sym typeface="Calibri"/>
            </a:endParaRPr>
          </a:p>
        </p:txBody>
      </p:sp>
      <p:sp>
        <p:nvSpPr>
          <p:cNvPr id="3132" name="Google Shape;3132;p11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1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134" name="Google Shape;3134;p1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35" name="Google Shape;3135;p1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40" name="Shape 3140"/>
        <p:cNvGrpSpPr/>
        <p:nvPr/>
      </p:nvGrpSpPr>
      <p:grpSpPr>
        <a:xfrm>
          <a:off x="0" y="0"/>
          <a:ext cx="0" cy="0"/>
          <a:chOff x="0" y="0"/>
          <a:chExt cx="0" cy="0"/>
        </a:xfrm>
      </p:grpSpPr>
      <p:sp>
        <p:nvSpPr>
          <p:cNvPr id="3141" name="Google Shape;3141;p12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HOOK</a:t>
            </a:r>
            <a:endParaRPr b="0" i="0" sz="1200" u="none" cap="none" strike="noStrike">
              <a:solidFill>
                <a:schemeClr val="dk1"/>
              </a:solidFill>
              <a:latin typeface="Calibri"/>
              <a:ea typeface="Calibri"/>
              <a:cs typeface="Calibri"/>
              <a:sym typeface="Calibri"/>
            </a:endParaRPr>
          </a:p>
        </p:txBody>
      </p:sp>
      <p:sp>
        <p:nvSpPr>
          <p:cNvPr id="3143" name="Google Shape;3143;p12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144" name="Google Shape;3144;p12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millions of men shipped out to war, American women poured into shipyards and aircraft plants, riveting bombers and welding warships, while others joined the armed forces, changing forever the idea of what women could do.</a:t>
            </a:r>
            <a:endParaRPr b="0" i="0" sz="2600" u="none" cap="none" strike="noStrike">
              <a:solidFill>
                <a:schemeClr val="dk1"/>
              </a:solidFill>
              <a:latin typeface="Calibri"/>
              <a:ea typeface="Calibri"/>
              <a:cs typeface="Calibri"/>
              <a:sym typeface="Calibri"/>
            </a:endParaRPr>
          </a:p>
        </p:txBody>
      </p:sp>
      <p:sp>
        <p:nvSpPr>
          <p:cNvPr id="3146" name="Google Shape;3146;p12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148" name="Google Shape;3148;p12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150" name="Google Shape;3150;p12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Did World War II permanently transform women's place in American society, or was 'Rosie the Riveter' only welcome until the men came home?</a:t>
            </a:r>
            <a:endParaRPr b="0" i="0" sz="1600" u="none" cap="none" strike="noStrike">
              <a:solidFill>
                <a:schemeClr val="dk1"/>
              </a:solidFill>
              <a:latin typeface="Calibri"/>
              <a:ea typeface="Calibri"/>
              <a:cs typeface="Calibri"/>
              <a:sym typeface="Calibri"/>
            </a:endParaRPr>
          </a:p>
        </p:txBody>
      </p:sp>
      <p:sp>
        <p:nvSpPr>
          <p:cNvPr id="3151" name="Google Shape;3151;p1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52" name="Google Shape;3152;p1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57" name="Shape 3157"/>
        <p:cNvGrpSpPr/>
        <p:nvPr/>
      </p:nvGrpSpPr>
      <p:grpSpPr>
        <a:xfrm>
          <a:off x="0" y="0"/>
          <a:ext cx="0" cy="0"/>
          <a:chOff x="0" y="0"/>
          <a:chExt cx="0" cy="0"/>
        </a:xfrm>
      </p:grpSpPr>
      <p:sp>
        <p:nvSpPr>
          <p:cNvPr id="3158" name="Google Shape;3158;p12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60" name="Google Shape;3160;p12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Leading to Women's Participation</a:t>
            </a:r>
            <a:endParaRPr b="0" i="0" sz="3000" u="none" cap="none" strike="noStrike">
              <a:solidFill>
                <a:schemeClr val="dk1"/>
              </a:solidFill>
              <a:latin typeface="Calibri"/>
              <a:ea typeface="Calibri"/>
              <a:cs typeface="Calibri"/>
              <a:sym typeface="Calibri"/>
            </a:endParaRPr>
          </a:p>
        </p:txBody>
      </p:sp>
      <p:sp>
        <p:nvSpPr>
          <p:cNvPr id="3161" name="Google Shape;3161;p12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166" name="Google Shape;3166;p12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1"/>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With 16 million men serving in the armed forces, a massive labor shortage emerged as war production required doubling the manufacturing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Government campaigns like "Rosie the Riveter" recruited women, while economic necessity pushed many families to rely on women's income.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in the workforce grew from 12 million (1940) to 20 million (1945), comprising 36% of the civilian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made up 65% of aircraft industry workers by war's end.</a:t>
            </a:r>
            <a:endParaRPr b="0" i="0" sz="1700" u="none" cap="none" strike="noStrike">
              <a:solidFill>
                <a:schemeClr val="dk1"/>
              </a:solidFill>
              <a:latin typeface="Calibri"/>
              <a:ea typeface="Calibri"/>
              <a:cs typeface="Calibri"/>
              <a:sym typeface="Calibri"/>
            </a:endParaRPr>
          </a:p>
        </p:txBody>
      </p:sp>
      <p:sp>
        <p:nvSpPr>
          <p:cNvPr id="3168" name="Google Shape;3168;p121"/>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1"/>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170" name="Google Shape;3170;p121"/>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Women entered the workforce during WWII because ________, and one lasting effect was ________.</a:t>
            </a:r>
            <a:endParaRPr b="0" i="0" sz="1150" u="none" cap="none" strike="noStrike">
              <a:solidFill>
                <a:schemeClr val="dk1"/>
              </a:solidFill>
              <a:latin typeface="Calibri"/>
              <a:ea typeface="Calibri"/>
              <a:cs typeface="Calibri"/>
              <a:sym typeface="Calibri"/>
            </a:endParaRPr>
          </a:p>
        </p:txBody>
      </p:sp>
      <p:sp>
        <p:nvSpPr>
          <p:cNvPr id="3171" name="Google Shape;3171;p1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72" name="Google Shape;3172;p1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77" name="Shape 3177"/>
        <p:cNvGrpSpPr/>
        <p:nvPr/>
      </p:nvGrpSpPr>
      <p:grpSpPr>
        <a:xfrm>
          <a:off x="0" y="0"/>
          <a:ext cx="0" cy="0"/>
          <a:chOff x="0" y="0"/>
          <a:chExt cx="0" cy="0"/>
        </a:xfrm>
      </p:grpSpPr>
      <p:sp>
        <p:nvSpPr>
          <p:cNvPr id="3178" name="Google Shape;3178;p12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80" name="Google Shape;3180;p12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Challenges and Opportunities</a:t>
            </a:r>
            <a:endParaRPr b="0" i="0" sz="3000" u="none" cap="none" strike="noStrike">
              <a:solidFill>
                <a:schemeClr val="dk1"/>
              </a:solidFill>
              <a:latin typeface="Calibri"/>
              <a:ea typeface="Calibri"/>
              <a:cs typeface="Calibri"/>
              <a:sym typeface="Calibri"/>
            </a:endParaRPr>
          </a:p>
        </p:txBody>
      </p:sp>
      <p:sp>
        <p:nvSpPr>
          <p:cNvPr id="3181" name="Google Shape;3181;p12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186" name="Google Shape;3186;p12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faced discrimination including lower pay (about 65% of men's wages), dangerous conditions, long hours, and inadequate facilities.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Social challenges included limited childcare, expectations to maintain domestic duties, and criticism for abandoning traditional roles.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 gained economic independence, learned technical skills, some achieved supervisory positions, and military service provided professional training in communications, mechanics, and aviation.</a:t>
            </a:r>
            <a:endParaRPr b="0" i="0" sz="1700" u="none" cap="none" strike="noStrike">
              <a:solidFill>
                <a:schemeClr val="dk1"/>
              </a:solidFill>
              <a:latin typeface="Calibri"/>
              <a:ea typeface="Calibri"/>
              <a:cs typeface="Calibri"/>
              <a:sym typeface="Calibri"/>
            </a:endParaRPr>
          </a:p>
        </p:txBody>
      </p:sp>
      <p:sp>
        <p:nvSpPr>
          <p:cNvPr id="3188" name="Google Shape;3188;p1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89" name="Google Shape;3189;p1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94" name="Shape 3194"/>
        <p:cNvGrpSpPr/>
        <p:nvPr/>
      </p:nvGrpSpPr>
      <p:grpSpPr>
        <a:xfrm>
          <a:off x="0" y="0"/>
          <a:ext cx="0" cy="0"/>
          <a:chOff x="0" y="0"/>
          <a:chExt cx="0" cy="0"/>
        </a:xfrm>
      </p:grpSpPr>
      <p:sp>
        <p:nvSpPr>
          <p:cNvPr id="3195" name="Google Shape;3195;p1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97" name="Google Shape;3197;p12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on Production and Economy</a:t>
            </a:r>
            <a:endParaRPr b="0" i="0" sz="3000" u="none" cap="none" strike="noStrike">
              <a:solidFill>
                <a:schemeClr val="dk1"/>
              </a:solidFill>
              <a:latin typeface="Calibri"/>
              <a:ea typeface="Calibri"/>
              <a:cs typeface="Calibri"/>
              <a:sym typeface="Calibri"/>
            </a:endParaRPr>
          </a:p>
        </p:txBody>
      </p:sp>
      <p:sp>
        <p:nvSpPr>
          <p:cNvPr id="3198" name="Google Shape;3198;p12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203" name="Google Shape;3203;p12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3"/>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 built bombers, fighters, and transport planes; constructed Liberty ships; manufactured ammunition and explosives; and assembled radios and radar equipment.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Women's entry helped achieve record production levels—296,000 aircraft, 86,000 tanks, 2.3 million trucks.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contribution was essential to Allied victory, demonstrating women's capabilities in technical and leadership roles previously reserved for men.</a:t>
            </a:r>
            <a:endParaRPr b="0" i="0" sz="1550" u="none" cap="none" strike="noStrike">
              <a:solidFill>
                <a:schemeClr val="dk1"/>
              </a:solidFill>
              <a:latin typeface="Calibri"/>
              <a:ea typeface="Calibri"/>
              <a:cs typeface="Calibri"/>
              <a:sym typeface="Calibri"/>
            </a:endParaRPr>
          </a:p>
        </p:txBody>
      </p:sp>
      <p:sp>
        <p:nvSpPr>
          <p:cNvPr id="3205" name="Google Shape;3205;p123"/>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rosie-riveter-vultee-nashville-1943.jpg" id="3206" name="Google Shape;3206;p123"/>
          <p:cNvPicPr preferRelativeResize="0"/>
          <p:nvPr/>
        </p:nvPicPr>
        <p:blipFill rotWithShape="1">
          <a:blip r:embed="rId3">
            <a:alphaModFix/>
          </a:blip>
          <a:srcRect b="0" l="0" r="0" t="0"/>
          <a:stretch/>
        </p:blipFill>
        <p:spPr>
          <a:xfrm>
            <a:off x="7589520" y="1908643"/>
            <a:ext cx="4069080" cy="3251025"/>
          </a:xfrm>
          <a:prstGeom prst="rect">
            <a:avLst/>
          </a:prstGeom>
          <a:noFill/>
          <a:ln>
            <a:noFill/>
          </a:ln>
        </p:spPr>
      </p:pic>
      <p:sp>
        <p:nvSpPr>
          <p:cNvPr id="3207" name="Google Shape;3207;p123"/>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Alfred T. Palmer / U.S. OWI (OWI) / FSA, February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3208" name="Google Shape;3208;p1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09" name="Google Shape;3209;p1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14" name="Shape 3214"/>
        <p:cNvGrpSpPr/>
        <p:nvPr/>
      </p:nvGrpSpPr>
      <p:grpSpPr>
        <a:xfrm>
          <a:off x="0" y="0"/>
          <a:ext cx="0" cy="0"/>
          <a:chOff x="0" y="0"/>
          <a:chExt cx="0" cy="0"/>
        </a:xfrm>
      </p:grpSpPr>
      <p:sp>
        <p:nvSpPr>
          <p:cNvPr id="3215" name="Google Shape;3215;p1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217" name="Google Shape;3217;p1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Long-term Effects on Society</a:t>
            </a:r>
            <a:endParaRPr b="0" i="0" sz="3000" u="none" cap="none" strike="noStrike">
              <a:solidFill>
                <a:schemeClr val="dk1"/>
              </a:solidFill>
              <a:latin typeface="Calibri"/>
              <a:ea typeface="Calibri"/>
              <a:cs typeface="Calibri"/>
              <a:sym typeface="Calibri"/>
            </a:endParaRPr>
          </a:p>
        </p:txBody>
      </p:sp>
      <p:sp>
        <p:nvSpPr>
          <p:cNvPr id="3218" name="Google Shape;3218;p12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223" name="Google Shape;3223;p1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After the war, many women were laid off to make room for returning veterans, and social pressure emphasized homemaking and motherhood.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women's labor force participation never returned to pre-war levels.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experience provided foundation for the women's rights movement of the 1960s-70s, established precedents for equal employment opportunities, and created pathways for women in previously male professions.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services became permanent parts of armed forces.</a:t>
            </a:r>
            <a:endParaRPr b="0" i="0" sz="1700" u="none" cap="none" strike="noStrike">
              <a:solidFill>
                <a:schemeClr val="dk1"/>
              </a:solidFill>
              <a:latin typeface="Calibri"/>
              <a:ea typeface="Calibri"/>
              <a:cs typeface="Calibri"/>
              <a:sym typeface="Calibri"/>
            </a:endParaRPr>
          </a:p>
        </p:txBody>
      </p:sp>
      <p:sp>
        <p:nvSpPr>
          <p:cNvPr id="3225" name="Google Shape;3225;p1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26" name="Google Shape;3226;p1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31" name="Shape 3231"/>
        <p:cNvGrpSpPr/>
        <p:nvPr/>
      </p:nvGrpSpPr>
      <p:grpSpPr>
        <a:xfrm>
          <a:off x="0" y="0"/>
          <a:ext cx="0" cy="0"/>
          <a:chOff x="0" y="0"/>
          <a:chExt cx="0" cy="0"/>
        </a:xfrm>
      </p:grpSpPr>
      <p:sp>
        <p:nvSpPr>
          <p:cNvPr id="3232" name="Google Shape;3232;p12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PEOPLE WHO SHAPED THE ERA</a:t>
            </a:r>
            <a:endParaRPr b="0" i="0" sz="1200" u="none" cap="none" strike="noStrike">
              <a:solidFill>
                <a:schemeClr val="dk1"/>
              </a:solidFill>
              <a:latin typeface="Calibri"/>
              <a:ea typeface="Calibri"/>
              <a:cs typeface="Calibri"/>
              <a:sym typeface="Calibri"/>
            </a:endParaRPr>
          </a:p>
        </p:txBody>
      </p:sp>
      <p:sp>
        <p:nvSpPr>
          <p:cNvPr id="3234" name="Google Shape;3234;p12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3235" name="Google Shape;3235;p125"/>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5"/>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5"/>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Rosie the Riveter</a:t>
            </a:r>
            <a:endParaRPr b="0" i="0" sz="1800" u="none" cap="none" strike="noStrike">
              <a:solidFill>
                <a:schemeClr val="dk1"/>
              </a:solidFill>
              <a:latin typeface="Calibri"/>
              <a:ea typeface="Calibri"/>
              <a:cs typeface="Calibri"/>
              <a:sym typeface="Calibri"/>
            </a:endParaRPr>
          </a:p>
        </p:txBody>
      </p:sp>
      <p:sp>
        <p:nvSpPr>
          <p:cNvPr id="3238" name="Google Shape;3238;p125"/>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Symbol of women war workers</a:t>
            </a:r>
            <a:endParaRPr b="0" i="0" sz="1100" u="none" cap="none" strike="noStrike">
              <a:solidFill>
                <a:schemeClr val="dk1"/>
              </a:solidFill>
              <a:latin typeface="Calibri"/>
              <a:ea typeface="Calibri"/>
              <a:cs typeface="Calibri"/>
              <a:sym typeface="Calibri"/>
            </a:endParaRPr>
          </a:p>
        </p:txBody>
      </p:sp>
      <p:sp>
        <p:nvSpPr>
          <p:cNvPr id="3239" name="Google Shape;3239;p125"/>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millions of women in defense plants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Filled skilled industrial jobs once closed to women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Reshaped ideas about what women could do</a:t>
            </a:r>
            <a:endParaRPr b="0" i="0" sz="1300" u="none" cap="none" strike="noStrike">
              <a:solidFill>
                <a:schemeClr val="dk1"/>
              </a:solidFill>
              <a:latin typeface="Calibri"/>
              <a:ea typeface="Calibri"/>
              <a:cs typeface="Calibri"/>
              <a:sym typeface="Calibri"/>
            </a:endParaRPr>
          </a:p>
        </p:txBody>
      </p:sp>
      <p:sp>
        <p:nvSpPr>
          <p:cNvPr id="3240" name="Google Shape;3240;p125"/>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5"/>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Rosie as an entry point, then move to the real women (like the Nashville plant workers) behind the icon.</a:t>
            </a:r>
            <a:endParaRPr b="0" i="0" sz="800" u="none" cap="none" strike="noStrike">
              <a:solidFill>
                <a:schemeClr val="dk1"/>
              </a:solidFill>
              <a:latin typeface="Calibri"/>
              <a:ea typeface="Calibri"/>
              <a:cs typeface="Calibri"/>
              <a:sym typeface="Calibri"/>
            </a:endParaRPr>
          </a:p>
        </p:txBody>
      </p:sp>
      <p:sp>
        <p:nvSpPr>
          <p:cNvPr id="3242" name="Google Shape;3242;p1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43" name="Google Shape;3243;p1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48" name="Shape 3248"/>
        <p:cNvGrpSpPr/>
        <p:nvPr/>
      </p:nvGrpSpPr>
      <p:grpSpPr>
        <a:xfrm>
          <a:off x="0" y="0"/>
          <a:ext cx="0" cy="0"/>
          <a:chOff x="0" y="0"/>
          <a:chExt cx="0" cy="0"/>
        </a:xfrm>
      </p:grpSpPr>
      <p:sp>
        <p:nvSpPr>
          <p:cNvPr id="3249" name="Google Shape;3249;p12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US.52 · PRIMARY SOURCE ANALYSIS</a:t>
            </a:r>
            <a:endParaRPr b="0" i="0" sz="1200" u="none" cap="none" strike="noStrike">
              <a:solidFill>
                <a:schemeClr val="dk1"/>
              </a:solidFill>
              <a:latin typeface="Calibri"/>
              <a:ea typeface="Calibri"/>
              <a:cs typeface="Calibri"/>
              <a:sym typeface="Calibri"/>
            </a:endParaRPr>
          </a:p>
        </p:txBody>
      </p:sp>
      <p:sp>
        <p:nvSpPr>
          <p:cNvPr id="3251" name="Google Shape;3251;p12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Production Board Poster Text</a:t>
            </a:r>
            <a:endParaRPr b="0" i="0" sz="2500" u="none" cap="none" strike="noStrike">
              <a:solidFill>
                <a:schemeClr val="dk1"/>
              </a:solidFill>
              <a:latin typeface="Calibri"/>
              <a:ea typeface="Calibri"/>
              <a:cs typeface="Calibri"/>
              <a:sym typeface="Calibri"/>
            </a:endParaRPr>
          </a:p>
        </p:txBody>
      </p:sp>
      <p:sp>
        <p:nvSpPr>
          <p:cNvPr id="3252" name="Google Shape;3252;p12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254" name="Google Shape;3254;p12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War Production Board  ·  1943</a:t>
            </a:r>
            <a:endParaRPr b="0" i="0" sz="1200" u="none" cap="none" strike="noStrike">
              <a:solidFill>
                <a:schemeClr val="dk1"/>
              </a:solidFill>
              <a:latin typeface="Calibri"/>
              <a:ea typeface="Calibri"/>
              <a:cs typeface="Calibri"/>
              <a:sym typeface="Calibri"/>
            </a:endParaRPr>
          </a:p>
        </p:txBody>
      </p:sp>
      <p:sp>
        <p:nvSpPr>
          <p:cNvPr id="3255" name="Google Shape;3255;p12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400" u="none" cap="none" strike="noStrike">
              <a:solidFill>
                <a:schemeClr val="dk1"/>
              </a:solidFill>
              <a:latin typeface="Calibri"/>
              <a:ea typeface="Calibri"/>
              <a:cs typeface="Calibri"/>
              <a:sym typeface="Calibri"/>
            </a:endParaRPr>
          </a:p>
        </p:txBody>
      </p:sp>
      <p:sp>
        <p:nvSpPr>
          <p:cNvPr id="3258" name="Google Shape;3258;p12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260" name="Google Shape;3260;p126"/>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262" name="Google Shape;3262;p126"/>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When millions of American men went to war after Pearl Harbor, the industrial workforce had a massive labor shortage. The War Production Board recruited women to fill factory jobs in defense industries, producing ships, aircraft, tanks, and ammunition. This wartime mobilization fundamentally shifted gender roles in America—by 1944, nearly 20 million women were working, many for the first time in industrial jobs.</a:t>
            </a:r>
            <a:endParaRPr b="0" i="0" sz="1050" u="none" cap="none" strike="noStrike">
              <a:solidFill>
                <a:schemeClr val="dk1"/>
              </a:solidFill>
              <a:latin typeface="Calibri"/>
              <a:ea typeface="Calibri"/>
              <a:cs typeface="Calibri"/>
              <a:sym typeface="Calibri"/>
            </a:endParaRPr>
          </a:p>
        </p:txBody>
      </p:sp>
      <p:sp>
        <p:nvSpPr>
          <p:cNvPr id="3263" name="Google Shape;3263;p126"/>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6"/>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265" name="Google Shape;3265;p126"/>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argument does this poster make to encourage women to work?</a:t>
            </a:r>
            <a:endParaRPr b="0" i="0" sz="1250" u="none" cap="none" strike="noStrike">
              <a:solidFill>
                <a:schemeClr val="dk1"/>
              </a:solidFill>
              <a:latin typeface="Calibri"/>
              <a:ea typeface="Calibri"/>
              <a:cs typeface="Calibri"/>
              <a:sym typeface="Calibri"/>
            </a:endParaRPr>
          </a:p>
        </p:txBody>
      </p:sp>
      <p:sp>
        <p:nvSpPr>
          <p:cNvPr id="3266" name="Google Shape;3266;p12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269" name="Google Shape;3269;p12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270" name="Google Shape;3270;p12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271" name="Google Shape;3271;p12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272" name="Google Shape;3272;p12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War Production Board</a:t>
            </a:r>
            <a:endParaRPr b="0" i="0" sz="950" u="none" cap="none" strike="noStrike">
              <a:solidFill>
                <a:schemeClr val="dk1"/>
              </a:solidFill>
              <a:latin typeface="Calibri"/>
              <a:ea typeface="Calibri"/>
              <a:cs typeface="Calibri"/>
              <a:sym typeface="Calibri"/>
            </a:endParaRPr>
          </a:p>
        </p:txBody>
      </p:sp>
      <p:sp>
        <p:nvSpPr>
          <p:cNvPr id="3273" name="Google Shape;3273;p12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274" name="Google Shape;3274;p12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3275" name="Google Shape;3275;p12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276" name="Google Shape;3276;p12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277" name="Google Shape;3277;p12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3278" name="Google Shape;3278;p1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9" name="Google Shape;3279;p1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84" name="Shape 3284"/>
        <p:cNvGrpSpPr/>
        <p:nvPr/>
      </p:nvGrpSpPr>
      <p:grpSpPr>
        <a:xfrm>
          <a:off x="0" y="0"/>
          <a:ext cx="0" cy="0"/>
          <a:chOff x="0" y="0"/>
          <a:chExt cx="0" cy="0"/>
        </a:xfrm>
      </p:grpSpPr>
      <p:sp>
        <p:nvSpPr>
          <p:cNvPr id="3285" name="Google Shape;3285;p1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KEY VOCABULARY</a:t>
            </a:r>
            <a:endParaRPr b="0" i="0" sz="1200" u="none" cap="none" strike="noStrike">
              <a:solidFill>
                <a:schemeClr val="dk1"/>
              </a:solidFill>
              <a:latin typeface="Calibri"/>
              <a:ea typeface="Calibri"/>
              <a:cs typeface="Calibri"/>
              <a:sym typeface="Calibri"/>
            </a:endParaRPr>
          </a:p>
        </p:txBody>
      </p:sp>
      <p:sp>
        <p:nvSpPr>
          <p:cNvPr id="3287" name="Google Shape;3287;p12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288" name="Google Shape;3288;p12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7"/>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291" name="Google Shape;3291;p12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292" name="Google Shape;3292;p12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293" name="Google Shape;3293;p127"/>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127"/>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3295" name="Google Shape;3295;p127"/>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296" name="Google Shape;3296;p12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7"/>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299" name="Google Shape;3299;p12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300" name="Google Shape;3300;p12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301" name="Google Shape;3301;p127"/>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127"/>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3303" name="Google Shape;3303;p127"/>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304" name="Google Shape;3304;p12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7"/>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307" name="Google Shape;3307;p12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308" name="Google Shape;3308;p12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309" name="Google Shape;3309;p127"/>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127"/>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3311" name="Google Shape;3311;p127"/>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312" name="Google Shape;3312;p12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7"/>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315" name="Google Shape;3315;p12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316" name="Google Shape;3316;p12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317" name="Google Shape;3317;p127"/>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127"/>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3319" name="Google Shape;3319;p127"/>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320" name="Google Shape;3320;p12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7"/>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3323" name="Google Shape;3323;p12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3324" name="Google Shape;3324;p12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3325" name="Google Shape;3325;p127"/>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127"/>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3327" name="Google Shape;3327;p127"/>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3328" name="Google Shape;3328;p12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7"/>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3331" name="Google Shape;3331;p12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3332" name="Google Shape;3332;p12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3333" name="Google Shape;3333;p127"/>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127"/>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3335" name="Google Shape;3335;p127"/>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3336" name="Google Shape;3336;p12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337" name="Google Shape;3337;p1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38" name="Google Shape;3338;p1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43" name="Shape 3343"/>
        <p:cNvGrpSpPr/>
        <p:nvPr/>
      </p:nvGrpSpPr>
      <p:grpSpPr>
        <a:xfrm>
          <a:off x="0" y="0"/>
          <a:ext cx="0" cy="0"/>
          <a:chOff x="0" y="0"/>
          <a:chExt cx="0" cy="0"/>
        </a:xfrm>
      </p:grpSpPr>
      <p:sp>
        <p:nvSpPr>
          <p:cNvPr id="3344" name="Google Shape;3344;p1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GUIDED PRACTICE — WE DO IT TOGETHER</a:t>
            </a:r>
            <a:endParaRPr b="0" i="0" sz="1200" u="none" cap="none" strike="noStrike">
              <a:solidFill>
                <a:schemeClr val="dk1"/>
              </a:solidFill>
              <a:latin typeface="Calibri"/>
              <a:ea typeface="Calibri"/>
              <a:cs typeface="Calibri"/>
              <a:sym typeface="Calibri"/>
            </a:endParaRPr>
          </a:p>
        </p:txBody>
      </p:sp>
      <p:sp>
        <p:nvSpPr>
          <p:cNvPr id="3346" name="Google Shape;3346;p12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347" name="Google Shape;3347;p12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Analyze wartime social change</a:t>
            </a:r>
            <a:endParaRPr b="0" i="0" sz="1100" u="none" cap="none" strike="noStrike">
              <a:solidFill>
                <a:schemeClr val="dk1"/>
              </a:solidFill>
              <a:latin typeface="Calibri"/>
              <a:ea typeface="Calibri"/>
              <a:cs typeface="Calibri"/>
              <a:sym typeface="Calibri"/>
            </a:endParaRPr>
          </a:p>
        </p:txBody>
      </p:sp>
      <p:sp>
        <p:nvSpPr>
          <p:cNvPr id="3349" name="Google Shape;3349;p12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the war change women's place in the workforce?</a:t>
            </a:r>
            <a:endParaRPr b="0" i="0" sz="1500" u="none" cap="none" strike="noStrike">
              <a:solidFill>
                <a:schemeClr val="dk1"/>
              </a:solidFill>
              <a:latin typeface="Calibri"/>
              <a:ea typeface="Calibri"/>
              <a:cs typeface="Calibri"/>
              <a:sym typeface="Calibri"/>
            </a:endParaRPr>
          </a:p>
        </p:txBody>
      </p:sp>
      <p:sp>
        <p:nvSpPr>
          <p:cNvPr id="3351" name="Google Shape;3351;p12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353" name="Google Shape;3353;p12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Labor shortages opened skilled defense jobs to millions of women. Propaganda like Rosie recruited them; the experience reshaped expectations even after the war.</a:t>
            </a:r>
            <a:endParaRPr b="0" i="0" sz="1450" u="none" cap="none" strike="noStrike">
              <a:solidFill>
                <a:schemeClr val="dk1"/>
              </a:solidFill>
              <a:latin typeface="Calibri"/>
              <a:ea typeface="Calibri"/>
              <a:cs typeface="Calibri"/>
              <a:sym typeface="Calibri"/>
            </a:endParaRPr>
          </a:p>
        </p:txBody>
      </p:sp>
      <p:sp>
        <p:nvSpPr>
          <p:cNvPr id="3354" name="Google Shape;3354;p12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356" name="Google Shape;3356;p12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one job or industry women entered.</a:t>
            </a:r>
            <a:endParaRPr b="0" i="0" sz="1300" u="none" cap="none" strike="noStrike">
              <a:solidFill>
                <a:schemeClr val="dk1"/>
              </a:solidFill>
              <a:latin typeface="Calibri"/>
              <a:ea typeface="Calibri"/>
              <a:cs typeface="Calibri"/>
              <a:sym typeface="Calibri"/>
            </a:endParaRPr>
          </a:p>
        </p:txBody>
      </p:sp>
      <p:sp>
        <p:nvSpPr>
          <p:cNvPr id="3357" name="Google Shape;3357;p12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Predict one lasting effect of this change and support it with the text.</a:t>
            </a:r>
            <a:endParaRPr b="0" i="0" sz="1200" u="none" cap="none" strike="noStrike">
              <a:solidFill>
                <a:schemeClr val="dk1"/>
              </a:solidFill>
              <a:latin typeface="Calibri"/>
              <a:ea typeface="Calibri"/>
              <a:cs typeface="Calibri"/>
              <a:sym typeface="Calibri"/>
            </a:endParaRPr>
          </a:p>
        </p:txBody>
      </p:sp>
      <p:sp>
        <p:nvSpPr>
          <p:cNvPr id="3358" name="Google Shape;3358;p1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59" name="Google Shape;3359;p1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64" name="Shape 3364"/>
        <p:cNvGrpSpPr/>
        <p:nvPr/>
      </p:nvGrpSpPr>
      <p:grpSpPr>
        <a:xfrm>
          <a:off x="0" y="0"/>
          <a:ext cx="0" cy="0"/>
          <a:chOff x="0" y="0"/>
          <a:chExt cx="0" cy="0"/>
        </a:xfrm>
      </p:grpSpPr>
      <p:sp>
        <p:nvSpPr>
          <p:cNvPr id="3365" name="Google Shape;3365;p1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STUDENT ACTIVITY</a:t>
            </a:r>
            <a:endParaRPr b="0" i="0" sz="1200" u="none" cap="none" strike="noStrike">
              <a:solidFill>
                <a:schemeClr val="dk1"/>
              </a:solidFill>
              <a:latin typeface="Calibri"/>
              <a:ea typeface="Calibri"/>
              <a:cs typeface="Calibri"/>
              <a:sym typeface="Calibri"/>
            </a:endParaRPr>
          </a:p>
        </p:txBody>
      </p:sp>
      <p:sp>
        <p:nvSpPr>
          <p:cNvPr id="3367" name="Google Shape;3367;p12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Rosie Goes to Work — Women and the War Effort</a:t>
            </a:r>
            <a:endParaRPr b="0" i="0" sz="2400" u="none" cap="none" strike="noStrike">
              <a:solidFill>
                <a:schemeClr val="dk1"/>
              </a:solidFill>
              <a:latin typeface="Calibri"/>
              <a:ea typeface="Calibri"/>
              <a:cs typeface="Calibri"/>
              <a:sym typeface="Calibri"/>
            </a:endParaRPr>
          </a:p>
        </p:txBody>
      </p:sp>
      <p:sp>
        <p:nvSpPr>
          <p:cNvPr id="3368" name="Google Shape;3368;p12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3370" name="Google Shape;3370;p12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372" name="Google Shape;3372;p12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374" name="Google Shape;3374;p12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Vultee-Nashville 'Rosie' photograph and the War Production Board poster. Complete a three-part organizer: (1) WHY women entered the workforce and armed forces in large numbers; (2) the CHALLENGES and OPPORTUNITIES they faced; (3) the LONG-TERM EFFECTS on American society. Add two items per section. Finish with a one-sentence claim on whether wartime work permanently changed women's place in society.</a:t>
            </a:r>
            <a:endParaRPr b="0" i="0" sz="1350" u="none" cap="none" strike="noStrike">
              <a:solidFill>
                <a:schemeClr val="dk1"/>
              </a:solidFill>
              <a:latin typeface="Calibri"/>
              <a:ea typeface="Calibri"/>
              <a:cs typeface="Calibri"/>
              <a:sym typeface="Calibri"/>
            </a:endParaRPr>
          </a:p>
        </p:txBody>
      </p:sp>
      <p:sp>
        <p:nvSpPr>
          <p:cNvPr id="3375" name="Google Shape;3375;p12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377" name="Google Shape;3377;p12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(why / challenges-opportunities / long-term effects, 2+ each) AND a one-sentence evidence-based claim about lasting change.</a:t>
            </a:r>
            <a:endParaRPr b="0" i="0" sz="1050" u="none" cap="none" strike="noStrike">
              <a:solidFill>
                <a:schemeClr val="dk1"/>
              </a:solidFill>
              <a:latin typeface="Calibri"/>
              <a:ea typeface="Calibri"/>
              <a:cs typeface="Calibri"/>
              <a:sym typeface="Calibri"/>
            </a:endParaRPr>
          </a:p>
        </p:txBody>
      </p:sp>
      <p:sp>
        <p:nvSpPr>
          <p:cNvPr id="3378" name="Google Shape;3378;p12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380" name="Google Shape;3380;p12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sections pre-labeled and a word bank of details to place. Honors: Write a paragraph using the 'Rosie' photograph to analyze how wartime propaganda both empowered and limited women workers.</a:t>
            </a:r>
            <a:endParaRPr b="0" i="0" sz="1000" u="none" cap="none" strike="noStrike">
              <a:solidFill>
                <a:schemeClr val="dk1"/>
              </a:solidFill>
              <a:latin typeface="Calibri"/>
              <a:ea typeface="Calibri"/>
              <a:cs typeface="Calibri"/>
              <a:sym typeface="Calibri"/>
            </a:endParaRPr>
          </a:p>
        </p:txBody>
      </p:sp>
      <p:sp>
        <p:nvSpPr>
          <p:cNvPr id="3381" name="Google Shape;3381;p12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cornell-notes/unit-6/us52-women-in-wwii.pdf</a:t>
            </a:r>
            <a:endParaRPr b="0" i="0" sz="1050" u="none" cap="none" strike="noStrike">
              <a:solidFill>
                <a:schemeClr val="dk1"/>
              </a:solidFill>
              <a:latin typeface="Calibri"/>
              <a:ea typeface="Calibri"/>
              <a:cs typeface="Calibri"/>
              <a:sym typeface="Calibri"/>
            </a:endParaRPr>
          </a:p>
        </p:txBody>
      </p:sp>
      <p:sp>
        <p:nvSpPr>
          <p:cNvPr id="3382" name="Google Shape;3382;p1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83" name="Google Shape;3383;p1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88" name="Shape 3388"/>
        <p:cNvGrpSpPr/>
        <p:nvPr/>
      </p:nvGrpSpPr>
      <p:grpSpPr>
        <a:xfrm>
          <a:off x="0" y="0"/>
          <a:ext cx="0" cy="0"/>
          <a:chOff x="0" y="0"/>
          <a:chExt cx="0" cy="0"/>
        </a:xfrm>
      </p:grpSpPr>
      <p:sp>
        <p:nvSpPr>
          <p:cNvPr id="3389" name="Google Shape;3389;p13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3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CHECK FOR UNDERSTANDING</a:t>
            </a:r>
            <a:endParaRPr b="0" i="0" sz="1200" u="none" cap="none" strike="noStrike">
              <a:solidFill>
                <a:schemeClr val="dk1"/>
              </a:solidFill>
              <a:latin typeface="Calibri"/>
              <a:ea typeface="Calibri"/>
              <a:cs typeface="Calibri"/>
              <a:sym typeface="Calibri"/>
            </a:endParaRPr>
          </a:p>
        </p:txBody>
      </p:sp>
      <p:sp>
        <p:nvSpPr>
          <p:cNvPr id="3391" name="Google Shape;3391;p13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392" name="Google Shape;3392;p13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3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394" name="Google Shape;3394;p13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3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396" name="Google Shape;3396;p13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3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600" u="none" cap="none" strike="noStrike">
              <a:solidFill>
                <a:schemeClr val="dk1"/>
              </a:solidFill>
              <a:latin typeface="Calibri"/>
              <a:ea typeface="Calibri"/>
              <a:cs typeface="Calibri"/>
              <a:sym typeface="Calibri"/>
            </a:endParaRPr>
          </a:p>
        </p:txBody>
      </p:sp>
      <p:sp>
        <p:nvSpPr>
          <p:cNvPr id="3398" name="Google Shape;3398;p13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3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3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401" name="Google Shape;3401;p13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50" u="none" cap="none" strike="noStrike">
              <a:solidFill>
                <a:schemeClr val="dk1"/>
              </a:solidFill>
              <a:latin typeface="Calibri"/>
              <a:ea typeface="Calibri"/>
              <a:cs typeface="Calibri"/>
              <a:sym typeface="Calibri"/>
            </a:endParaRPr>
          </a:p>
        </p:txBody>
      </p:sp>
      <p:sp>
        <p:nvSpPr>
          <p:cNvPr id="3402" name="Google Shape;3402;p13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3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3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405" name="Google Shape;3405;p13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50" u="none" cap="none" strike="noStrike">
              <a:solidFill>
                <a:schemeClr val="dk1"/>
              </a:solidFill>
              <a:latin typeface="Calibri"/>
              <a:ea typeface="Calibri"/>
              <a:cs typeface="Calibri"/>
              <a:sym typeface="Calibri"/>
            </a:endParaRPr>
          </a:p>
        </p:txBody>
      </p:sp>
      <p:sp>
        <p:nvSpPr>
          <p:cNvPr id="3406" name="Google Shape;3406;p13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3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3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409" name="Google Shape;3409;p13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50" u="none" cap="none" strike="noStrike">
              <a:solidFill>
                <a:schemeClr val="dk1"/>
              </a:solidFill>
              <a:latin typeface="Calibri"/>
              <a:ea typeface="Calibri"/>
              <a:cs typeface="Calibri"/>
              <a:sym typeface="Calibri"/>
            </a:endParaRPr>
          </a:p>
        </p:txBody>
      </p:sp>
      <p:sp>
        <p:nvSpPr>
          <p:cNvPr id="3410" name="Google Shape;3410;p13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3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3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413" name="Google Shape;3413;p13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50" u="none" cap="none" strike="noStrike">
              <a:solidFill>
                <a:schemeClr val="dk1"/>
              </a:solidFill>
              <a:latin typeface="Calibri"/>
              <a:ea typeface="Calibri"/>
              <a:cs typeface="Calibri"/>
              <a:sym typeface="Calibri"/>
            </a:endParaRPr>
          </a:p>
        </p:txBody>
      </p:sp>
      <p:sp>
        <p:nvSpPr>
          <p:cNvPr id="3414" name="Google Shape;3414;p13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3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416" name="Google Shape;3416;p1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17" name="Google Shape;3417;p1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22" name="Shape 3422"/>
        <p:cNvGrpSpPr/>
        <p:nvPr/>
      </p:nvGrpSpPr>
      <p:grpSpPr>
        <a:xfrm>
          <a:off x="0" y="0"/>
          <a:ext cx="0" cy="0"/>
          <a:chOff x="0" y="0"/>
          <a:chExt cx="0" cy="0"/>
        </a:xfrm>
      </p:grpSpPr>
      <p:sp>
        <p:nvSpPr>
          <p:cNvPr id="3423" name="Google Shape;3423;p13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3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ANSWER REVEAL</a:t>
            </a:r>
            <a:endParaRPr b="0" i="0" sz="1200" u="none" cap="none" strike="noStrike">
              <a:solidFill>
                <a:schemeClr val="dk1"/>
              </a:solidFill>
              <a:latin typeface="Calibri"/>
              <a:ea typeface="Calibri"/>
              <a:cs typeface="Calibri"/>
              <a:sym typeface="Calibri"/>
            </a:endParaRPr>
          </a:p>
        </p:txBody>
      </p:sp>
      <p:sp>
        <p:nvSpPr>
          <p:cNvPr id="3425" name="Google Shape;3425;p13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426" name="Google Shape;3426;p13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3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428" name="Google Shape;3428;p13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3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500" u="none" cap="none" strike="noStrike">
              <a:solidFill>
                <a:schemeClr val="dk1"/>
              </a:solidFill>
              <a:latin typeface="Calibri"/>
              <a:ea typeface="Calibri"/>
              <a:cs typeface="Calibri"/>
              <a:sym typeface="Calibri"/>
            </a:endParaRPr>
          </a:p>
        </p:txBody>
      </p:sp>
      <p:sp>
        <p:nvSpPr>
          <p:cNvPr id="3430" name="Google Shape;3430;p131"/>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3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3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433" name="Google Shape;3433;p13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00" u="none" cap="none" strike="noStrike">
              <a:solidFill>
                <a:schemeClr val="dk1"/>
              </a:solidFill>
              <a:latin typeface="Calibri"/>
              <a:ea typeface="Calibri"/>
              <a:cs typeface="Calibri"/>
              <a:sym typeface="Calibri"/>
            </a:endParaRPr>
          </a:p>
        </p:txBody>
      </p:sp>
      <p:sp>
        <p:nvSpPr>
          <p:cNvPr id="3434" name="Google Shape;3434;p13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3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3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437" name="Google Shape;3437;p13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00" u="none" cap="none" strike="noStrike">
              <a:solidFill>
                <a:schemeClr val="dk1"/>
              </a:solidFill>
              <a:latin typeface="Calibri"/>
              <a:ea typeface="Calibri"/>
              <a:cs typeface="Calibri"/>
              <a:sym typeface="Calibri"/>
            </a:endParaRPr>
          </a:p>
        </p:txBody>
      </p:sp>
      <p:sp>
        <p:nvSpPr>
          <p:cNvPr id="3438" name="Google Shape;3438;p13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3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3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441" name="Google Shape;3441;p13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00" u="none" cap="none" strike="noStrike">
              <a:solidFill>
                <a:schemeClr val="dk1"/>
              </a:solidFill>
              <a:latin typeface="Calibri"/>
              <a:ea typeface="Calibri"/>
              <a:cs typeface="Calibri"/>
              <a:sym typeface="Calibri"/>
            </a:endParaRPr>
          </a:p>
        </p:txBody>
      </p:sp>
      <p:sp>
        <p:nvSpPr>
          <p:cNvPr id="3442" name="Google Shape;3442;p131"/>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3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3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445" name="Google Shape;3445;p13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00" u="none" cap="none" strike="noStrike">
              <a:solidFill>
                <a:schemeClr val="dk1"/>
              </a:solidFill>
              <a:latin typeface="Calibri"/>
              <a:ea typeface="Calibri"/>
              <a:cs typeface="Calibri"/>
              <a:sym typeface="Calibri"/>
            </a:endParaRPr>
          </a:p>
        </p:txBody>
      </p:sp>
      <p:sp>
        <p:nvSpPr>
          <p:cNvPr id="3446" name="Google Shape;3446;p131"/>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447" name="Google Shape;3447;p13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3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Wartime labor needs brought millions of women — symbolized by 'Rosie the Riveter' — into factories, shipyards, and offices doing work previously deemed unsuitable for women, proving their competence in industrial roles and planting seeds for later challenges to gender-based employment…</a:t>
            </a:r>
            <a:endParaRPr b="0" i="0" sz="1150" u="none" cap="none" strike="noStrike">
              <a:solidFill>
                <a:schemeClr val="dk1"/>
              </a:solidFill>
              <a:latin typeface="Calibri"/>
              <a:ea typeface="Calibri"/>
              <a:cs typeface="Calibri"/>
              <a:sym typeface="Calibri"/>
            </a:endParaRPr>
          </a:p>
        </p:txBody>
      </p:sp>
      <p:sp>
        <p:nvSpPr>
          <p:cNvPr id="3449" name="Google Shape;3449;p1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50" name="Google Shape;3450;p1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455" name="Shape 3455"/>
        <p:cNvGrpSpPr/>
        <p:nvPr/>
      </p:nvGrpSpPr>
      <p:grpSpPr>
        <a:xfrm>
          <a:off x="0" y="0"/>
          <a:ext cx="0" cy="0"/>
          <a:chOff x="0" y="0"/>
          <a:chExt cx="0" cy="0"/>
        </a:xfrm>
      </p:grpSpPr>
      <p:sp>
        <p:nvSpPr>
          <p:cNvPr id="3456" name="Google Shape;3456;p13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WRAP-UP</a:t>
            </a:r>
            <a:endParaRPr b="0" i="0" sz="1200" u="none" cap="none" strike="noStrike">
              <a:solidFill>
                <a:schemeClr val="dk1"/>
              </a:solidFill>
              <a:latin typeface="Calibri"/>
              <a:ea typeface="Calibri"/>
              <a:cs typeface="Calibri"/>
              <a:sym typeface="Calibri"/>
            </a:endParaRPr>
          </a:p>
        </p:txBody>
      </p:sp>
      <p:sp>
        <p:nvSpPr>
          <p:cNvPr id="3458" name="Google Shape;3458;p13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459" name="Google Shape;3459;p13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3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461" name="Google Shape;3461;p13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Leading to Women's Participation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Challenges and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on Production and Economy</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Long-term Effects on Society</a:t>
            </a:r>
            <a:endParaRPr b="0" i="0" sz="1500" u="none" cap="none" strike="noStrike">
              <a:solidFill>
                <a:schemeClr val="dk1"/>
              </a:solidFill>
              <a:latin typeface="Calibri"/>
              <a:ea typeface="Calibri"/>
              <a:cs typeface="Calibri"/>
              <a:sym typeface="Calibri"/>
            </a:endParaRPr>
          </a:p>
        </p:txBody>
      </p:sp>
      <p:sp>
        <p:nvSpPr>
          <p:cNvPr id="3462" name="Google Shape;3462;p13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3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464" name="Google Shape;3464;p13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WWII permanently change women's place in American society, or only temporarily? Argue with evidence. (SSP.04)</a:t>
            </a:r>
            <a:endParaRPr b="0" i="0" sz="1150" u="none" cap="none" strike="noStrike">
              <a:solidFill>
                <a:schemeClr val="dk1"/>
              </a:solidFill>
              <a:latin typeface="Calibri"/>
              <a:ea typeface="Calibri"/>
              <a:cs typeface="Calibri"/>
              <a:sym typeface="Calibri"/>
            </a:endParaRPr>
          </a:p>
        </p:txBody>
      </p:sp>
      <p:sp>
        <p:nvSpPr>
          <p:cNvPr id="3465" name="Google Shape;3465;p13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3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467" name="Google Shape;3467;p13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3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469" name="Google Shape;3469;p13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large numbers of women entered the workforce during WWII and one lasting effect.</a:t>
            </a:r>
            <a:endParaRPr b="0" i="0" sz="1350" u="none" cap="none" strike="noStrike">
              <a:solidFill>
                <a:schemeClr val="dk1"/>
              </a:solidFill>
              <a:latin typeface="Calibri"/>
              <a:ea typeface="Calibri"/>
              <a:cs typeface="Calibri"/>
              <a:sym typeface="Calibri"/>
            </a:endParaRPr>
          </a:p>
        </p:txBody>
      </p:sp>
      <p:cxnSp>
        <p:nvCxnSpPr>
          <p:cNvPr id="3470" name="Google Shape;3470;p13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1" name="Google Shape;3471;p13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2" name="Google Shape;3472;p13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473" name="Google Shape;3473;p1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74" name="Google Shape;3474;p1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79" name="Shape 3479"/>
        <p:cNvGrpSpPr/>
        <p:nvPr/>
      </p:nvGrpSpPr>
      <p:grpSpPr>
        <a:xfrm>
          <a:off x="0" y="0"/>
          <a:ext cx="0" cy="0"/>
          <a:chOff x="0" y="0"/>
          <a:chExt cx="0" cy="0"/>
        </a:xfrm>
      </p:grpSpPr>
      <p:sp>
        <p:nvSpPr>
          <p:cNvPr id="3480" name="Google Shape;3480;p13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3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3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483" name="Google Shape;3483;p13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US.53</a:t>
            </a:r>
            <a:endParaRPr b="0" i="0" sz="8800" u="none" cap="none" strike="noStrike">
              <a:solidFill>
                <a:schemeClr val="dk1"/>
              </a:solidFill>
              <a:latin typeface="Calibri"/>
              <a:ea typeface="Calibri"/>
              <a:cs typeface="Calibri"/>
              <a:sym typeface="Calibri"/>
            </a:endParaRPr>
          </a:p>
        </p:txBody>
      </p:sp>
      <p:sp>
        <p:nvSpPr>
          <p:cNvPr id="3484" name="Google Shape;3484;p13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African Americans in WWII</a:t>
            </a:r>
            <a:endParaRPr b="0" i="0" sz="3000" u="none" cap="none" strike="noStrike">
              <a:solidFill>
                <a:schemeClr val="dk1"/>
              </a:solidFill>
              <a:latin typeface="Calibri"/>
              <a:ea typeface="Calibri"/>
              <a:cs typeface="Calibri"/>
              <a:sym typeface="Calibri"/>
            </a:endParaRPr>
          </a:p>
        </p:txBody>
      </p:sp>
      <p:sp>
        <p:nvSpPr>
          <p:cNvPr id="3485" name="Google Shape;3485;p13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486" name="Google Shape;3486;p13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3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488" name="Google Shape;3488;p13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489" name="Google Shape;3489;p13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3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491" name="Google Shape;3491;p13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492" name="Google Shape;3492;p13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3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494" name="Google Shape;3494;p13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495" name="Google Shape;3495;p13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3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497" name="Google Shape;3497;p13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the impact of World War II on economic and social conditions for African Americans, including the Fair Employment Practices Committee and the eventual integration of the armed forces by President Harry S. Truman. (TCA)</a:t>
            </a:r>
            <a:endParaRPr b="0" i="0" sz="1300" u="none" cap="none" strike="noStrike">
              <a:solidFill>
                <a:schemeClr val="dk1"/>
              </a:solidFill>
              <a:latin typeface="Calibri"/>
              <a:ea typeface="Calibri"/>
              <a:cs typeface="Calibri"/>
              <a:sym typeface="Calibri"/>
            </a:endParaRPr>
          </a:p>
        </p:txBody>
      </p:sp>
      <p:sp>
        <p:nvSpPr>
          <p:cNvPr id="3498" name="Google Shape;3498;p13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3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500" name="Google Shape;3500;p13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250" u="none" cap="none" strike="noStrike">
              <a:solidFill>
                <a:schemeClr val="dk1"/>
              </a:solidFill>
              <a:latin typeface="Calibri"/>
              <a:ea typeface="Calibri"/>
              <a:cs typeface="Calibri"/>
              <a:sym typeface="Calibri"/>
            </a:endParaRPr>
          </a:p>
        </p:txBody>
      </p:sp>
      <p:sp>
        <p:nvSpPr>
          <p:cNvPr id="3501" name="Google Shape;3501;p1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02" name="Google Shape;3502;p1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07" name="Shape 3507"/>
        <p:cNvGrpSpPr/>
        <p:nvPr/>
      </p:nvGrpSpPr>
      <p:grpSpPr>
        <a:xfrm>
          <a:off x="0" y="0"/>
          <a:ext cx="0" cy="0"/>
          <a:chOff x="0" y="0"/>
          <a:chExt cx="0" cy="0"/>
        </a:xfrm>
      </p:grpSpPr>
      <p:sp>
        <p:nvSpPr>
          <p:cNvPr id="3508" name="Google Shape;3508;p1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3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QUICK REVIEW</a:t>
            </a:r>
            <a:endParaRPr b="0" i="0" sz="1200" u="none" cap="none" strike="noStrike">
              <a:solidFill>
                <a:schemeClr val="dk1"/>
              </a:solidFill>
              <a:latin typeface="Calibri"/>
              <a:ea typeface="Calibri"/>
              <a:cs typeface="Calibri"/>
              <a:sym typeface="Calibri"/>
            </a:endParaRPr>
          </a:p>
        </p:txBody>
      </p:sp>
      <p:sp>
        <p:nvSpPr>
          <p:cNvPr id="3510" name="Google Shape;3510;p13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511" name="Google Shape;3511;p13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512" name="Google Shape;3512;p13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3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3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515" name="Google Shape;3515;p13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What does 'Rosie the Riveter' represent?</a:t>
            </a:r>
            <a:endParaRPr b="0" i="0" sz="1350" u="none" cap="none" strike="noStrike">
              <a:solidFill>
                <a:schemeClr val="dk1"/>
              </a:solidFill>
              <a:latin typeface="Calibri"/>
              <a:ea typeface="Calibri"/>
              <a:cs typeface="Calibri"/>
              <a:sym typeface="Calibri"/>
            </a:endParaRPr>
          </a:p>
        </p:txBody>
      </p:sp>
      <p:sp>
        <p:nvSpPr>
          <p:cNvPr id="3516" name="Google Shape;3516;p13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3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3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519" name="Google Shape;3519;p13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Name one long-term effect of women's WWII work.</a:t>
            </a:r>
            <a:endParaRPr b="0" i="0" sz="1350" u="none" cap="none" strike="noStrike">
              <a:solidFill>
                <a:schemeClr val="dk1"/>
              </a:solidFill>
              <a:latin typeface="Calibri"/>
              <a:ea typeface="Calibri"/>
              <a:cs typeface="Calibri"/>
              <a:sym typeface="Calibri"/>
            </a:endParaRPr>
          </a:p>
        </p:txBody>
      </p:sp>
      <p:sp>
        <p:nvSpPr>
          <p:cNvPr id="3520" name="Google Shape;3520;p1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21" name="Google Shape;3521;p1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26" name="Shape 3526"/>
        <p:cNvGrpSpPr/>
        <p:nvPr/>
      </p:nvGrpSpPr>
      <p:grpSpPr>
        <a:xfrm>
          <a:off x="0" y="0"/>
          <a:ext cx="0" cy="0"/>
          <a:chOff x="0" y="0"/>
          <a:chExt cx="0" cy="0"/>
        </a:xfrm>
      </p:grpSpPr>
      <p:sp>
        <p:nvSpPr>
          <p:cNvPr id="3527" name="Google Shape;3527;p13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CONFIDENCE CHECK</a:t>
            </a:r>
            <a:endParaRPr b="0" i="0" sz="1200" u="none" cap="none" strike="noStrike">
              <a:solidFill>
                <a:schemeClr val="dk1"/>
              </a:solidFill>
              <a:latin typeface="Calibri"/>
              <a:ea typeface="Calibri"/>
              <a:cs typeface="Calibri"/>
              <a:sym typeface="Calibri"/>
            </a:endParaRPr>
          </a:p>
        </p:txBody>
      </p:sp>
      <p:sp>
        <p:nvSpPr>
          <p:cNvPr id="3529" name="Google Shape;3529;p13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530" name="Google Shape;3530;p13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3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532" name="Google Shape;3532;p13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3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534" name="Google Shape;3534;p13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535" name="Google Shape;3535;p13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3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order banned racial discrimination in WWII defense industries?</a:t>
            </a:r>
            <a:endParaRPr b="0" i="0" sz="2400" u="none" cap="none" strike="noStrike">
              <a:solidFill>
                <a:schemeClr val="dk1"/>
              </a:solidFill>
              <a:latin typeface="Calibri"/>
              <a:ea typeface="Calibri"/>
              <a:cs typeface="Calibri"/>
              <a:sym typeface="Calibri"/>
            </a:endParaRPr>
          </a:p>
        </p:txBody>
      </p:sp>
      <p:sp>
        <p:nvSpPr>
          <p:cNvPr id="3537" name="Google Shape;3537;p13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3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539" name="Google Shape;3539;p13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Executive Order 8802.</a:t>
            </a:r>
            <a:endParaRPr b="0" i="0" sz="1600" u="none" cap="none" strike="noStrike">
              <a:solidFill>
                <a:schemeClr val="dk1"/>
              </a:solidFill>
              <a:latin typeface="Calibri"/>
              <a:ea typeface="Calibri"/>
              <a:cs typeface="Calibri"/>
              <a:sym typeface="Calibri"/>
            </a:endParaRPr>
          </a:p>
        </p:txBody>
      </p:sp>
      <p:sp>
        <p:nvSpPr>
          <p:cNvPr id="3540" name="Google Shape;3540;p13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3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542" name="Google Shape;3542;p1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43" name="Google Shape;3543;p1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48" name="Shape 3548"/>
        <p:cNvGrpSpPr/>
        <p:nvPr/>
      </p:nvGrpSpPr>
      <p:grpSpPr>
        <a:xfrm>
          <a:off x="0" y="0"/>
          <a:ext cx="0" cy="0"/>
          <a:chOff x="0" y="0"/>
          <a:chExt cx="0" cy="0"/>
        </a:xfrm>
      </p:grpSpPr>
      <p:sp>
        <p:nvSpPr>
          <p:cNvPr id="3549" name="Google Shape;3549;p13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3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HOOK</a:t>
            </a:r>
            <a:endParaRPr b="0" i="0" sz="1200" u="none" cap="none" strike="noStrike">
              <a:solidFill>
                <a:schemeClr val="dk1"/>
              </a:solidFill>
              <a:latin typeface="Calibri"/>
              <a:ea typeface="Calibri"/>
              <a:cs typeface="Calibri"/>
              <a:sym typeface="Calibri"/>
            </a:endParaRPr>
          </a:p>
        </p:txBody>
      </p:sp>
      <p:sp>
        <p:nvSpPr>
          <p:cNvPr id="3551" name="Google Shape;3551;p13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552" name="Google Shape;3552;p13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3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African Americans left the South by the millions for wartime factory jobs, launched a 'Double V' campaign for victory abroad and at home, and by 1948 had won a presidential order integrating the armed forces.</a:t>
            </a:r>
            <a:endParaRPr b="0" i="0" sz="2600" u="none" cap="none" strike="noStrike">
              <a:solidFill>
                <a:schemeClr val="dk1"/>
              </a:solidFill>
              <a:latin typeface="Calibri"/>
              <a:ea typeface="Calibri"/>
              <a:cs typeface="Calibri"/>
              <a:sym typeface="Calibri"/>
            </a:endParaRPr>
          </a:p>
        </p:txBody>
      </p:sp>
      <p:sp>
        <p:nvSpPr>
          <p:cNvPr id="3554" name="Google Shape;3554;p13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3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556" name="Google Shape;3556;p13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3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558" name="Google Shape;3558;p13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fighting a war against Nazi racism abroad push African Americans, and the nation, toward confronting racism at home?</a:t>
            </a:r>
            <a:endParaRPr b="0" i="0" sz="1600" u="none" cap="none" strike="noStrike">
              <a:solidFill>
                <a:schemeClr val="dk1"/>
              </a:solidFill>
              <a:latin typeface="Calibri"/>
              <a:ea typeface="Calibri"/>
              <a:cs typeface="Calibri"/>
              <a:sym typeface="Calibri"/>
            </a:endParaRPr>
          </a:p>
        </p:txBody>
      </p:sp>
      <p:sp>
        <p:nvSpPr>
          <p:cNvPr id="3559" name="Google Shape;3559;p1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0" name="Google Shape;3560;p1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65" name="Shape 3565"/>
        <p:cNvGrpSpPr/>
        <p:nvPr/>
      </p:nvGrpSpPr>
      <p:grpSpPr>
        <a:xfrm>
          <a:off x="0" y="0"/>
          <a:ext cx="0" cy="0"/>
          <a:chOff x="0" y="0"/>
          <a:chExt cx="0" cy="0"/>
        </a:xfrm>
      </p:grpSpPr>
      <p:sp>
        <p:nvSpPr>
          <p:cNvPr id="3566" name="Google Shape;3566;p13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68" name="Google Shape;3568;p13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Second Great Migration and Economic Opportunities</a:t>
            </a:r>
            <a:endParaRPr b="0" i="0" sz="3000" u="none" cap="none" strike="noStrike">
              <a:solidFill>
                <a:schemeClr val="dk1"/>
              </a:solidFill>
              <a:latin typeface="Calibri"/>
              <a:ea typeface="Calibri"/>
              <a:cs typeface="Calibri"/>
              <a:sym typeface="Calibri"/>
            </a:endParaRPr>
          </a:p>
        </p:txBody>
      </p:sp>
      <p:sp>
        <p:nvSpPr>
          <p:cNvPr id="3569" name="Google Shape;3569;p13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3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3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3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3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574" name="Google Shape;3574;p13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37"/>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1.5 million African Americans moved North and West during the 1940s to cities like Detroit, Chicago, and Los Angeles.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Defense industries offered higher wages than Southern agriculture, and average Black family income doubled during the war.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However, discrimination persisted—many employers refused to hire African Americans, job segregation confined Black workers to lowest-paying positions, and limited advancement opportunities existed.</a:t>
            </a:r>
            <a:endParaRPr b="0" i="0" sz="1550" u="none" cap="none" strike="noStrike">
              <a:solidFill>
                <a:schemeClr val="dk1"/>
              </a:solidFill>
              <a:latin typeface="Calibri"/>
              <a:ea typeface="Calibri"/>
              <a:cs typeface="Calibri"/>
              <a:sym typeface="Calibri"/>
            </a:endParaRPr>
          </a:p>
        </p:txBody>
      </p:sp>
      <p:sp>
        <p:nvSpPr>
          <p:cNvPr id="3576" name="Google Shape;3576;p137"/>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37"/>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578" name="Google Shape;3578;p137"/>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World War II changed conditions for African Americans by ________, for example ________.</a:t>
            </a:r>
            <a:endParaRPr b="0" i="0" sz="1050" u="none" cap="none" strike="noStrike">
              <a:solidFill>
                <a:schemeClr val="dk1"/>
              </a:solidFill>
              <a:latin typeface="Calibri"/>
              <a:ea typeface="Calibri"/>
              <a:cs typeface="Calibri"/>
              <a:sym typeface="Calibri"/>
            </a:endParaRPr>
          </a:p>
        </p:txBody>
      </p:sp>
      <p:sp>
        <p:nvSpPr>
          <p:cNvPr id="3579" name="Google Shape;3579;p137"/>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orth-american-aviation-integrated-workers-1942.jpg" id="3580" name="Google Shape;3580;p137"/>
          <p:cNvPicPr preferRelativeResize="0"/>
          <p:nvPr/>
        </p:nvPicPr>
        <p:blipFill rotWithShape="1">
          <a:blip r:embed="rId3">
            <a:alphaModFix/>
          </a:blip>
          <a:srcRect b="0" l="0" r="0" t="0"/>
          <a:stretch/>
        </p:blipFill>
        <p:spPr>
          <a:xfrm>
            <a:off x="7859391" y="1783080"/>
            <a:ext cx="3529337" cy="2862072"/>
          </a:xfrm>
          <a:prstGeom prst="rect">
            <a:avLst/>
          </a:prstGeom>
          <a:noFill/>
          <a:ln>
            <a:noFill/>
          </a:ln>
        </p:spPr>
      </p:pic>
      <p:sp>
        <p:nvSpPr>
          <p:cNvPr id="3581" name="Google Shape;3581;p137"/>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 U.S. Army Signal Corps / OWI, c.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582" name="Google Shape;3582;p137"/>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37"/>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3584" name="Google Shape;3584;p1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85" name="Google Shape;3585;p1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90" name="Shape 3590"/>
        <p:cNvGrpSpPr/>
        <p:nvPr/>
      </p:nvGrpSpPr>
      <p:grpSpPr>
        <a:xfrm>
          <a:off x="0" y="0"/>
          <a:ext cx="0" cy="0"/>
          <a:chOff x="0" y="0"/>
          <a:chExt cx="0" cy="0"/>
        </a:xfrm>
      </p:grpSpPr>
      <p:sp>
        <p:nvSpPr>
          <p:cNvPr id="3591" name="Google Shape;3591;p13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93" name="Google Shape;3593;p13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Double V Campaign and Wartime Experiences</a:t>
            </a:r>
            <a:endParaRPr b="0" i="0" sz="3000" u="none" cap="none" strike="noStrike">
              <a:solidFill>
                <a:schemeClr val="dk1"/>
              </a:solidFill>
              <a:latin typeface="Calibri"/>
              <a:ea typeface="Calibri"/>
              <a:cs typeface="Calibri"/>
              <a:sym typeface="Calibri"/>
            </a:endParaRPr>
          </a:p>
        </p:txBody>
      </p:sp>
      <p:sp>
        <p:nvSpPr>
          <p:cNvPr id="3594" name="Google Shape;3594;p13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3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3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3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3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599" name="Google Shape;3599;p13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3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Pittsburgh Courier promoted the "Double V" campaign—victory against fascism abroad and racism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One million African Americans served in segregated armed forces, facing prejudice and unequal treatment even while fighting for democracy.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NAACP membership grew from 50,000 to 450,000 during the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War rhetoric about democracy and freedom raised consciousness about civil rights contradictions in American society.</a:t>
            </a:r>
            <a:endParaRPr b="0" i="0" sz="1700" u="none" cap="none" strike="noStrike">
              <a:solidFill>
                <a:schemeClr val="dk1"/>
              </a:solidFill>
              <a:latin typeface="Calibri"/>
              <a:ea typeface="Calibri"/>
              <a:cs typeface="Calibri"/>
              <a:sym typeface="Calibri"/>
            </a:endParaRPr>
          </a:p>
        </p:txBody>
      </p:sp>
      <p:sp>
        <p:nvSpPr>
          <p:cNvPr id="3601" name="Google Shape;3601;p1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02" name="Google Shape;3602;p1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07" name="Shape 3607"/>
        <p:cNvGrpSpPr/>
        <p:nvPr/>
      </p:nvGrpSpPr>
      <p:grpSpPr>
        <a:xfrm>
          <a:off x="0" y="0"/>
          <a:ext cx="0" cy="0"/>
          <a:chOff x="0" y="0"/>
          <a:chExt cx="0" cy="0"/>
        </a:xfrm>
      </p:grpSpPr>
      <p:sp>
        <p:nvSpPr>
          <p:cNvPr id="3608" name="Google Shape;3608;p13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3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10" name="Google Shape;3610;p13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Fair Employment Practices Committee (FEPC)</a:t>
            </a:r>
            <a:endParaRPr b="0" i="0" sz="3000" u="none" cap="none" strike="noStrike">
              <a:solidFill>
                <a:schemeClr val="dk1"/>
              </a:solidFill>
              <a:latin typeface="Calibri"/>
              <a:ea typeface="Calibri"/>
              <a:cs typeface="Calibri"/>
              <a:sym typeface="Calibri"/>
            </a:endParaRPr>
          </a:p>
        </p:txBody>
      </p:sp>
      <p:sp>
        <p:nvSpPr>
          <p:cNvPr id="3611" name="Google Shape;3611;p13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3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3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3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3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616" name="Google Shape;3616;p13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3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 Philip Randolph threatened a 100,000-person march on Washington, pressuring FDR to issue Executive Order 8802 (June 25, 1941) creating the FEPC.</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committee investigated discrimination complaints from defense workers and held public hearings exposing discriminatory practices.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Though it could only make recommendations without enforcement power, the FEPC established the principle of federal intervention in employment discrimination and laid groundwork for later civil rights agencies.</a:t>
            </a:r>
            <a:endParaRPr b="0" i="0" sz="1700" u="none" cap="none" strike="noStrike">
              <a:solidFill>
                <a:schemeClr val="dk1"/>
              </a:solidFill>
              <a:latin typeface="Calibri"/>
              <a:ea typeface="Calibri"/>
              <a:cs typeface="Calibri"/>
              <a:sym typeface="Calibri"/>
            </a:endParaRPr>
          </a:p>
        </p:txBody>
      </p:sp>
      <p:sp>
        <p:nvSpPr>
          <p:cNvPr id="3618" name="Google Shape;3618;p1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9" name="Google Shape;3619;p1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24" name="Shape 3624"/>
        <p:cNvGrpSpPr/>
        <p:nvPr/>
      </p:nvGrpSpPr>
      <p:grpSpPr>
        <a:xfrm>
          <a:off x="0" y="0"/>
          <a:ext cx="0" cy="0"/>
          <a:chOff x="0" y="0"/>
          <a:chExt cx="0" cy="0"/>
        </a:xfrm>
      </p:grpSpPr>
      <p:sp>
        <p:nvSpPr>
          <p:cNvPr id="3625" name="Google Shape;3625;p1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27" name="Google Shape;3627;p1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Integration of Armed Forces</a:t>
            </a:r>
            <a:endParaRPr b="0" i="0" sz="3000" u="none" cap="none" strike="noStrike">
              <a:solidFill>
                <a:schemeClr val="dk1"/>
              </a:solidFill>
              <a:latin typeface="Calibri"/>
              <a:ea typeface="Calibri"/>
              <a:cs typeface="Calibri"/>
              <a:sym typeface="Calibri"/>
            </a:endParaRPr>
          </a:p>
        </p:txBody>
      </p:sp>
      <p:sp>
        <p:nvSpPr>
          <p:cNvPr id="3628" name="Google Shape;3628;p14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4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633" name="Google Shape;3633;p1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4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Executive Order 9981 (1948) by President Truman ordered desegregation of the armed forces, citing merit and fairness.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Implementation was gradual but historic, representing the first major federal civil rights action of the post-war era.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order built on WWII service records of units like the Tuskegee Airmen and 761st Tank Battalion, which had proven African American military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integration became a model for later civilian desegregation efforts.</a:t>
            </a:r>
            <a:endParaRPr b="0" i="0" sz="1700" u="none" cap="none" strike="noStrike">
              <a:solidFill>
                <a:schemeClr val="dk1"/>
              </a:solidFill>
              <a:latin typeface="Calibri"/>
              <a:ea typeface="Calibri"/>
              <a:cs typeface="Calibri"/>
              <a:sym typeface="Calibri"/>
            </a:endParaRPr>
          </a:p>
        </p:txBody>
      </p:sp>
      <p:sp>
        <p:nvSpPr>
          <p:cNvPr id="3635" name="Google Shape;3635;p1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36" name="Google Shape;3636;p1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41" name="Shape 3641"/>
        <p:cNvGrpSpPr/>
        <p:nvPr/>
      </p:nvGrpSpPr>
      <p:grpSpPr>
        <a:xfrm>
          <a:off x="0" y="0"/>
          <a:ext cx="0" cy="0"/>
          <a:chOff x="0" y="0"/>
          <a:chExt cx="0" cy="0"/>
        </a:xfrm>
      </p:grpSpPr>
      <p:sp>
        <p:nvSpPr>
          <p:cNvPr id="3642" name="Google Shape;3642;p14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PEOPLE WHO SHAPED THE ERA</a:t>
            </a:r>
            <a:endParaRPr b="0" i="0" sz="1200" u="none" cap="none" strike="noStrike">
              <a:solidFill>
                <a:schemeClr val="dk1"/>
              </a:solidFill>
              <a:latin typeface="Calibri"/>
              <a:ea typeface="Calibri"/>
              <a:cs typeface="Calibri"/>
              <a:sym typeface="Calibri"/>
            </a:endParaRPr>
          </a:p>
        </p:txBody>
      </p:sp>
      <p:sp>
        <p:nvSpPr>
          <p:cNvPr id="3644" name="Google Shape;3644;p14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645" name="Google Shape;3645;p141"/>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41"/>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41"/>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3648" name="Google Shape;3648;p141"/>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issued EO 8802</a:t>
            </a:r>
            <a:endParaRPr b="0" i="0" sz="1100" u="none" cap="none" strike="noStrike">
              <a:solidFill>
                <a:schemeClr val="dk1"/>
              </a:solidFill>
              <a:latin typeface="Calibri"/>
              <a:ea typeface="Calibri"/>
              <a:cs typeface="Calibri"/>
              <a:sym typeface="Calibri"/>
            </a:endParaRPr>
          </a:p>
        </p:txBody>
      </p:sp>
      <p:sp>
        <p:nvSpPr>
          <p:cNvPr id="3649" name="Google Shape;3649;p141"/>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8802 (1941) banning defense-job discrimination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Created the Fair Employment Practices Committee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Acted under pressure from the threatened March on Washington</a:t>
            </a:r>
            <a:endParaRPr b="0" i="0" sz="1300" u="none" cap="none" strike="noStrike">
              <a:solidFill>
                <a:schemeClr val="dk1"/>
              </a:solidFill>
              <a:latin typeface="Calibri"/>
              <a:ea typeface="Calibri"/>
              <a:cs typeface="Calibri"/>
              <a:sym typeface="Calibri"/>
            </a:endParaRPr>
          </a:p>
        </p:txBody>
      </p:sp>
      <p:sp>
        <p:nvSpPr>
          <p:cNvPr id="3650" name="Google Shape;3650;p141"/>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41"/>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EO 8802 to show wartime pressure producing the first federal fair-employment action.</a:t>
            </a:r>
            <a:endParaRPr b="0" i="0" sz="800" u="none" cap="none" strike="noStrike">
              <a:solidFill>
                <a:schemeClr val="dk1"/>
              </a:solidFill>
              <a:latin typeface="Calibri"/>
              <a:ea typeface="Calibri"/>
              <a:cs typeface="Calibri"/>
              <a:sym typeface="Calibri"/>
            </a:endParaRPr>
          </a:p>
        </p:txBody>
      </p:sp>
      <p:sp>
        <p:nvSpPr>
          <p:cNvPr id="3652" name="Google Shape;3652;p141"/>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41"/>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41"/>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James G. Thompson / 'Double V'</a:t>
            </a:r>
            <a:endParaRPr b="0" i="0" sz="1800" u="none" cap="none" strike="noStrike">
              <a:solidFill>
                <a:schemeClr val="dk1"/>
              </a:solidFill>
              <a:latin typeface="Calibri"/>
              <a:ea typeface="Calibri"/>
              <a:cs typeface="Calibri"/>
              <a:sym typeface="Calibri"/>
            </a:endParaRPr>
          </a:p>
        </p:txBody>
      </p:sp>
      <p:sp>
        <p:nvSpPr>
          <p:cNvPr id="3655" name="Google Shape;3655;p141"/>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Voice of the Double V Campaign</a:t>
            </a:r>
            <a:endParaRPr b="0" i="0" sz="1100" u="none" cap="none" strike="noStrike">
              <a:solidFill>
                <a:schemeClr val="dk1"/>
              </a:solidFill>
              <a:latin typeface="Calibri"/>
              <a:ea typeface="Calibri"/>
              <a:cs typeface="Calibri"/>
              <a:sym typeface="Calibri"/>
            </a:endParaRPr>
          </a:p>
        </p:txBody>
      </p:sp>
      <p:sp>
        <p:nvSpPr>
          <p:cNvPr id="3656" name="Google Shape;3656;p141"/>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for victory over fascism abroad AND racism at home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letter launched the Pittsburgh Courier's Double V drive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Black service as a claim on full citizenship</a:t>
            </a:r>
            <a:endParaRPr b="0" i="0" sz="1300" u="none" cap="none" strike="noStrike">
              <a:solidFill>
                <a:schemeClr val="dk1"/>
              </a:solidFill>
              <a:latin typeface="Calibri"/>
              <a:ea typeface="Calibri"/>
              <a:cs typeface="Calibri"/>
              <a:sym typeface="Calibri"/>
            </a:endParaRPr>
          </a:p>
        </p:txBody>
      </p:sp>
      <p:sp>
        <p:nvSpPr>
          <p:cNvPr id="3657" name="Google Shape;3657;p141"/>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41"/>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Double V to connect wartime service directly to postwar civil-rights arguments.</a:t>
            </a:r>
            <a:endParaRPr b="0" i="0" sz="800" u="none" cap="none" strike="noStrike">
              <a:solidFill>
                <a:schemeClr val="dk1"/>
              </a:solidFill>
              <a:latin typeface="Calibri"/>
              <a:ea typeface="Calibri"/>
              <a:cs typeface="Calibri"/>
              <a:sym typeface="Calibri"/>
            </a:endParaRPr>
          </a:p>
        </p:txBody>
      </p:sp>
      <p:sp>
        <p:nvSpPr>
          <p:cNvPr id="3659" name="Google Shape;3659;p1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60" name="Google Shape;3660;p1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65" name="Shape 3665"/>
        <p:cNvGrpSpPr/>
        <p:nvPr/>
      </p:nvGrpSpPr>
      <p:grpSpPr>
        <a:xfrm>
          <a:off x="0" y="0"/>
          <a:ext cx="0" cy="0"/>
          <a:chOff x="0" y="0"/>
          <a:chExt cx="0" cy="0"/>
        </a:xfrm>
      </p:grpSpPr>
      <p:sp>
        <p:nvSpPr>
          <p:cNvPr id="3666" name="Google Shape;3666;p14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US.53 · PRIMARY SOURCE ANALYSIS</a:t>
            </a:r>
            <a:endParaRPr b="0" i="0" sz="1200" u="none" cap="none" strike="noStrike">
              <a:solidFill>
                <a:schemeClr val="dk1"/>
              </a:solidFill>
              <a:latin typeface="Calibri"/>
              <a:ea typeface="Calibri"/>
              <a:cs typeface="Calibri"/>
              <a:sym typeface="Calibri"/>
            </a:endParaRPr>
          </a:p>
        </p:txBody>
      </p:sp>
      <p:sp>
        <p:nvSpPr>
          <p:cNvPr id="3668" name="Google Shape;3668;p14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8802</a:t>
            </a:r>
            <a:endParaRPr b="0" i="0" sz="2500" u="none" cap="none" strike="noStrike">
              <a:solidFill>
                <a:schemeClr val="dk1"/>
              </a:solidFill>
              <a:latin typeface="Calibri"/>
              <a:ea typeface="Calibri"/>
              <a:cs typeface="Calibri"/>
              <a:sym typeface="Calibri"/>
            </a:endParaRPr>
          </a:p>
        </p:txBody>
      </p:sp>
      <p:sp>
        <p:nvSpPr>
          <p:cNvPr id="3669" name="Google Shape;3669;p14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4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671" name="Google Shape;3671;p14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June 25, 1941</a:t>
            </a:r>
            <a:endParaRPr b="0" i="0" sz="1200" u="none" cap="none" strike="noStrike">
              <a:solidFill>
                <a:schemeClr val="dk1"/>
              </a:solidFill>
              <a:latin typeface="Calibri"/>
              <a:ea typeface="Calibri"/>
              <a:cs typeface="Calibri"/>
              <a:sym typeface="Calibri"/>
            </a:endParaRPr>
          </a:p>
        </p:txBody>
      </p:sp>
      <p:sp>
        <p:nvSpPr>
          <p:cNvPr id="3672" name="Google Shape;3672;p14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4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4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400" u="none" cap="none" strike="noStrike">
              <a:solidFill>
                <a:schemeClr val="dk1"/>
              </a:solidFill>
              <a:latin typeface="Calibri"/>
              <a:ea typeface="Calibri"/>
              <a:cs typeface="Calibri"/>
              <a:sym typeface="Calibri"/>
            </a:endParaRPr>
          </a:p>
        </p:txBody>
      </p:sp>
      <p:sp>
        <p:nvSpPr>
          <p:cNvPr id="3675" name="Google Shape;3675;p14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4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677" name="Google Shape;3677;p14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4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679" name="Google Shape;3679;p14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Before World War II, African Americans were systematically excluded from many defense industry jobs due to racial discrimination. Civil rights leader A. Philip Randolph threatened to organize a march of 100,000 Black Americans on Washington unless the government acted. Faced with this pressure, Roosevelt issued Executive Order 8802 in June 1941—the first federal action since Reconstruction to promote racial equality in employment.</a:t>
            </a:r>
            <a:endParaRPr b="0" i="0" sz="1050" u="none" cap="none" strike="noStrike">
              <a:solidFill>
                <a:schemeClr val="dk1"/>
              </a:solidFill>
              <a:latin typeface="Calibri"/>
              <a:ea typeface="Calibri"/>
              <a:cs typeface="Calibri"/>
              <a:sym typeface="Calibri"/>
            </a:endParaRPr>
          </a:p>
        </p:txBody>
      </p:sp>
      <p:sp>
        <p:nvSpPr>
          <p:cNvPr id="3680" name="Google Shape;3680;p14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4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682" name="Google Shape;3682;p14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purpose of Executive Order 8802?</a:t>
            </a:r>
            <a:endParaRPr b="0" i="0" sz="1250" u="none" cap="none" strike="noStrike">
              <a:solidFill>
                <a:schemeClr val="dk1"/>
              </a:solidFill>
              <a:latin typeface="Calibri"/>
              <a:ea typeface="Calibri"/>
              <a:cs typeface="Calibri"/>
              <a:sym typeface="Calibri"/>
            </a:endParaRPr>
          </a:p>
        </p:txBody>
      </p:sp>
      <p:sp>
        <p:nvSpPr>
          <p:cNvPr id="3683" name="Google Shape;3683;p14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4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4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686" name="Google Shape;3686;p14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687" name="Google Shape;3687;p14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88" name="Google Shape;3688;p14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89" name="Google Shape;3689;p14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3690" name="Google Shape;3690;p14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91" name="Google Shape;3691;p14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25, 1941</a:t>
            </a:r>
            <a:endParaRPr b="0" i="0" sz="950" u="none" cap="none" strike="noStrike">
              <a:solidFill>
                <a:schemeClr val="dk1"/>
              </a:solidFill>
              <a:latin typeface="Calibri"/>
              <a:ea typeface="Calibri"/>
              <a:cs typeface="Calibri"/>
              <a:sym typeface="Calibri"/>
            </a:endParaRPr>
          </a:p>
        </p:txBody>
      </p:sp>
      <p:sp>
        <p:nvSpPr>
          <p:cNvPr id="3692" name="Google Shape;3692;p14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93" name="Google Shape;3693;p14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94" name="Google Shape;3694;p14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3695" name="Google Shape;3695;p1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96" name="Google Shape;3696;p1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01" name="Shape 3701"/>
        <p:cNvGrpSpPr/>
        <p:nvPr/>
      </p:nvGrpSpPr>
      <p:grpSpPr>
        <a:xfrm>
          <a:off x="0" y="0"/>
          <a:ext cx="0" cy="0"/>
          <a:chOff x="0" y="0"/>
          <a:chExt cx="0" cy="0"/>
        </a:xfrm>
      </p:grpSpPr>
      <p:sp>
        <p:nvSpPr>
          <p:cNvPr id="3702" name="Google Shape;3702;p1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KEY VOCABULARY</a:t>
            </a:r>
            <a:endParaRPr b="0" i="0" sz="1200" u="none" cap="none" strike="noStrike">
              <a:solidFill>
                <a:schemeClr val="dk1"/>
              </a:solidFill>
              <a:latin typeface="Calibri"/>
              <a:ea typeface="Calibri"/>
              <a:cs typeface="Calibri"/>
              <a:sym typeface="Calibri"/>
            </a:endParaRPr>
          </a:p>
        </p:txBody>
      </p:sp>
      <p:sp>
        <p:nvSpPr>
          <p:cNvPr id="3704" name="Google Shape;3704;p14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05" name="Google Shape;3705;p14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43"/>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4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3708" name="Google Shape;3708;p14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3709" name="Google Shape;3709;p14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3710" name="Google Shape;3710;p143"/>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143"/>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3712" name="Google Shape;3712;p143"/>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3713" name="Google Shape;3713;p14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43"/>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4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Double V Campaign</a:t>
            </a:r>
            <a:endParaRPr b="0" i="0" sz="1350" u="none" cap="none" strike="noStrike">
              <a:solidFill>
                <a:schemeClr val="dk1"/>
              </a:solidFill>
              <a:latin typeface="Calibri"/>
              <a:ea typeface="Calibri"/>
              <a:cs typeface="Calibri"/>
              <a:sym typeface="Calibri"/>
            </a:endParaRPr>
          </a:p>
        </p:txBody>
      </p:sp>
      <p:sp>
        <p:nvSpPr>
          <p:cNvPr id="3716" name="Google Shape;3716;p14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DUB-ul vee kam-PAYN</a:t>
            </a:r>
            <a:endParaRPr b="0" i="0" sz="850" u="none" cap="none" strike="noStrike">
              <a:solidFill>
                <a:schemeClr val="dk1"/>
              </a:solidFill>
              <a:latin typeface="Calibri"/>
              <a:ea typeface="Calibri"/>
              <a:cs typeface="Calibri"/>
              <a:sym typeface="Calibri"/>
            </a:endParaRPr>
          </a:p>
        </p:txBody>
      </p:sp>
      <p:sp>
        <p:nvSpPr>
          <p:cNvPr id="3717" name="Google Shape;3717;p14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Campaña de la Doble V</a:t>
            </a:r>
            <a:endParaRPr b="0" i="0" sz="1000" u="none" cap="none" strike="noStrike">
              <a:solidFill>
                <a:schemeClr val="dk1"/>
              </a:solidFill>
              <a:latin typeface="Calibri"/>
              <a:ea typeface="Calibri"/>
              <a:cs typeface="Calibri"/>
              <a:sym typeface="Calibri"/>
            </a:endParaRPr>
          </a:p>
        </p:txBody>
      </p:sp>
      <p:sp>
        <p:nvSpPr>
          <p:cNvPr id="3718" name="Google Shape;3718;p143"/>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143"/>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DV</a:t>
            </a:r>
            <a:endParaRPr b="0" i="0" sz="1300" u="none" cap="none" strike="noStrike">
              <a:solidFill>
                <a:schemeClr val="dk1"/>
              </a:solidFill>
              <a:latin typeface="Calibri"/>
              <a:ea typeface="Calibri"/>
              <a:cs typeface="Calibri"/>
              <a:sym typeface="Calibri"/>
            </a:endParaRPr>
          </a:p>
        </p:txBody>
      </p:sp>
      <p:sp>
        <p:nvSpPr>
          <p:cNvPr id="3720" name="Google Shape;3720;p143"/>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World War II campaign led by the Black press calling for a 'Double Victory' - over fascism abroad and racial discrimination at home.</a:t>
            </a:r>
            <a:endParaRPr b="0" i="0" sz="1100" u="none" cap="none" strike="noStrike">
              <a:solidFill>
                <a:schemeClr val="dk1"/>
              </a:solidFill>
              <a:latin typeface="Calibri"/>
              <a:ea typeface="Calibri"/>
              <a:cs typeface="Calibri"/>
              <a:sym typeface="Calibri"/>
            </a:endParaRPr>
          </a:p>
        </p:txBody>
      </p:sp>
      <p:sp>
        <p:nvSpPr>
          <p:cNvPr id="3721" name="Google Shape;3721;p14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43"/>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4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724" name="Google Shape;3724;p14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725" name="Google Shape;3725;p14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726" name="Google Shape;3726;p143"/>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143"/>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3728" name="Google Shape;3728;p143"/>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729" name="Google Shape;3729;p14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43"/>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4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732" name="Google Shape;3732;p14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733" name="Google Shape;3733;p14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734" name="Google Shape;3734;p143"/>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143"/>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3736" name="Google Shape;3736;p143"/>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737" name="Google Shape;3737;p14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43"/>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4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740" name="Google Shape;3740;p14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741" name="Google Shape;3741;p14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742" name="Google Shape;3742;p143"/>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143"/>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3744" name="Google Shape;3744;p143"/>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745" name="Google Shape;3745;p14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43"/>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4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748" name="Google Shape;3748;p14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749" name="Google Shape;3749;p14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750" name="Google Shape;3750;p143"/>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143"/>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3752" name="Google Shape;3752;p143"/>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753" name="Google Shape;3753;p14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754" name="Google Shape;3754;p1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55" name="Google Shape;3755;p1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0" name="Shape 3760"/>
        <p:cNvGrpSpPr/>
        <p:nvPr/>
      </p:nvGrpSpPr>
      <p:grpSpPr>
        <a:xfrm>
          <a:off x="0" y="0"/>
          <a:ext cx="0" cy="0"/>
          <a:chOff x="0" y="0"/>
          <a:chExt cx="0" cy="0"/>
        </a:xfrm>
      </p:grpSpPr>
      <p:sp>
        <p:nvSpPr>
          <p:cNvPr id="3761" name="Google Shape;3761;p14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GUIDED PRACTICE — WE DO IT TOGETHER</a:t>
            </a:r>
            <a:endParaRPr b="0" i="0" sz="1200" u="none" cap="none" strike="noStrike">
              <a:solidFill>
                <a:schemeClr val="dk1"/>
              </a:solidFill>
              <a:latin typeface="Calibri"/>
              <a:ea typeface="Calibri"/>
              <a:cs typeface="Calibri"/>
              <a:sym typeface="Calibri"/>
            </a:endParaRPr>
          </a:p>
        </p:txBody>
      </p:sp>
      <p:sp>
        <p:nvSpPr>
          <p:cNvPr id="3763" name="Google Shape;3763;p14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764" name="Google Shape;3764;p14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4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Connect service to civil-rights claims</a:t>
            </a:r>
            <a:endParaRPr b="0" i="0" sz="1100" u="none" cap="none" strike="noStrike">
              <a:solidFill>
                <a:schemeClr val="dk1"/>
              </a:solidFill>
              <a:latin typeface="Calibri"/>
              <a:ea typeface="Calibri"/>
              <a:cs typeface="Calibri"/>
              <a:sym typeface="Calibri"/>
            </a:endParaRPr>
          </a:p>
        </p:txBody>
      </p:sp>
      <p:sp>
        <p:nvSpPr>
          <p:cNvPr id="3766" name="Google Shape;3766;p14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4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'Double V' link the war to the fight for equality?</a:t>
            </a:r>
            <a:endParaRPr b="0" i="0" sz="1500" u="none" cap="none" strike="noStrike">
              <a:solidFill>
                <a:schemeClr val="dk1"/>
              </a:solidFill>
              <a:latin typeface="Calibri"/>
              <a:ea typeface="Calibri"/>
              <a:cs typeface="Calibri"/>
              <a:sym typeface="Calibri"/>
            </a:endParaRPr>
          </a:p>
        </p:txBody>
      </p:sp>
      <p:sp>
        <p:nvSpPr>
          <p:cNvPr id="3768" name="Google Shape;3768;p14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4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770" name="Google Shape;3770;p14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Black Americans demanded victory over fascism abroad AND racism at home. EO 8802 and wartime service became evidence in a larger argument for citizenship.</a:t>
            </a:r>
            <a:endParaRPr b="0" i="0" sz="1450" u="none" cap="none" strike="noStrike">
              <a:solidFill>
                <a:schemeClr val="dk1"/>
              </a:solidFill>
              <a:latin typeface="Calibri"/>
              <a:ea typeface="Calibri"/>
              <a:cs typeface="Calibri"/>
              <a:sym typeface="Calibri"/>
            </a:endParaRPr>
          </a:p>
        </p:txBody>
      </p:sp>
      <p:sp>
        <p:nvSpPr>
          <p:cNvPr id="3771" name="Google Shape;3771;p14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4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773" name="Google Shape;3773;p14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Identify the two 'victories' the campaign demanded.</a:t>
            </a:r>
            <a:endParaRPr b="0" i="0" sz="1300" u="none" cap="none" strike="noStrike">
              <a:solidFill>
                <a:schemeClr val="dk1"/>
              </a:solidFill>
              <a:latin typeface="Calibri"/>
              <a:ea typeface="Calibri"/>
              <a:cs typeface="Calibri"/>
              <a:sym typeface="Calibri"/>
            </a:endParaRPr>
          </a:p>
        </p:txBody>
      </p:sp>
      <p:sp>
        <p:nvSpPr>
          <p:cNvPr id="3774" name="Google Shape;3774;p14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wartime service strengthened postwar civil-rights arguments.</a:t>
            </a:r>
            <a:endParaRPr b="0" i="0" sz="1200" u="none" cap="none" strike="noStrike">
              <a:solidFill>
                <a:schemeClr val="dk1"/>
              </a:solidFill>
              <a:latin typeface="Calibri"/>
              <a:ea typeface="Calibri"/>
              <a:cs typeface="Calibri"/>
              <a:sym typeface="Calibri"/>
            </a:endParaRPr>
          </a:p>
        </p:txBody>
      </p:sp>
      <p:sp>
        <p:nvSpPr>
          <p:cNvPr id="3775" name="Google Shape;3775;p1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76" name="Google Shape;3776;p1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81" name="Shape 3781"/>
        <p:cNvGrpSpPr/>
        <p:nvPr/>
      </p:nvGrpSpPr>
      <p:grpSpPr>
        <a:xfrm>
          <a:off x="0" y="0"/>
          <a:ext cx="0" cy="0"/>
          <a:chOff x="0" y="0"/>
          <a:chExt cx="0" cy="0"/>
        </a:xfrm>
      </p:grpSpPr>
      <p:sp>
        <p:nvSpPr>
          <p:cNvPr id="3782" name="Google Shape;3782;p14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STUDENT ACTIVITY</a:t>
            </a:r>
            <a:endParaRPr b="0" i="0" sz="1200" u="none" cap="none" strike="noStrike">
              <a:solidFill>
                <a:schemeClr val="dk1"/>
              </a:solidFill>
              <a:latin typeface="Calibri"/>
              <a:ea typeface="Calibri"/>
              <a:cs typeface="Calibri"/>
              <a:sym typeface="Calibri"/>
            </a:endParaRPr>
          </a:p>
        </p:txBody>
      </p:sp>
      <p:sp>
        <p:nvSpPr>
          <p:cNvPr id="3784" name="Google Shape;3784;p14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700"/>
              <a:buFont typeface="Georgia"/>
              <a:buNone/>
            </a:pPr>
            <a:r>
              <a:rPr b="1" i="0" lang="en-US" sz="2700" u="none" cap="none" strike="noStrike">
                <a:solidFill>
                  <a:srgbClr val="1B2A4A"/>
                </a:solidFill>
                <a:latin typeface="Georgia"/>
                <a:ea typeface="Georgia"/>
                <a:cs typeface="Georgia"/>
                <a:sym typeface="Georgia"/>
              </a:rPr>
              <a:t>The Double V — African Americans in WWII</a:t>
            </a:r>
            <a:endParaRPr b="0" i="0" sz="2700" u="none" cap="none" strike="noStrike">
              <a:solidFill>
                <a:schemeClr val="dk1"/>
              </a:solidFill>
              <a:latin typeface="Calibri"/>
              <a:ea typeface="Calibri"/>
              <a:cs typeface="Calibri"/>
              <a:sym typeface="Calibri"/>
            </a:endParaRPr>
          </a:p>
        </p:txBody>
      </p:sp>
      <p:sp>
        <p:nvSpPr>
          <p:cNvPr id="3785" name="Google Shape;3785;p145"/>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45"/>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3787" name="Google Shape;3787;p145"/>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45"/>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789" name="Google Shape;3789;p14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4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791" name="Google Shape;3791;p14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8802 and study the integrated-workers photograph. Build a chart tracking four developments: the Second Great Migration and new jobs, the Double V campaign, the Fair Employment Practices Committee (FEPC), and Truman's integration of the armed forces. Write one sentence on the significance of each. Finish with a one-sentence claim on how WWII advanced the later civil rights movement, with evidence.</a:t>
            </a:r>
            <a:endParaRPr b="0" i="0" sz="1350" u="none" cap="none" strike="noStrike">
              <a:solidFill>
                <a:schemeClr val="dk1"/>
              </a:solidFill>
              <a:latin typeface="Calibri"/>
              <a:ea typeface="Calibri"/>
              <a:cs typeface="Calibri"/>
              <a:sym typeface="Calibri"/>
            </a:endParaRPr>
          </a:p>
        </p:txBody>
      </p:sp>
      <p:sp>
        <p:nvSpPr>
          <p:cNvPr id="3792" name="Google Shape;3792;p14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4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794" name="Google Shape;3794;p14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four-development chart (one-sentence significance each) AND a one-sentence evidence-based claim linking WWII to civil rights.</a:t>
            </a:r>
            <a:endParaRPr b="0" i="0" sz="1050" u="none" cap="none" strike="noStrike">
              <a:solidFill>
                <a:schemeClr val="dk1"/>
              </a:solidFill>
              <a:latin typeface="Calibri"/>
              <a:ea typeface="Calibri"/>
              <a:cs typeface="Calibri"/>
              <a:sym typeface="Calibri"/>
            </a:endParaRPr>
          </a:p>
        </p:txBody>
      </p:sp>
      <p:sp>
        <p:nvSpPr>
          <p:cNvPr id="3795" name="Google Shape;3795;p14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4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797" name="Google Shape;3797;p14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developments pre-labeled and a fact bank to sort. Honors: Write a paragraph using Executive Order 8802 to explain what the 'Double V' (victory abroad and at home) meant to Black Americans.</a:t>
            </a:r>
            <a:endParaRPr b="0" i="0" sz="1000" u="none" cap="none" strike="noStrike">
              <a:solidFill>
                <a:schemeClr val="dk1"/>
              </a:solidFill>
              <a:latin typeface="Calibri"/>
              <a:ea typeface="Calibri"/>
              <a:cs typeface="Calibri"/>
              <a:sym typeface="Calibri"/>
            </a:endParaRPr>
          </a:p>
        </p:txBody>
      </p:sp>
      <p:sp>
        <p:nvSpPr>
          <p:cNvPr id="3798" name="Google Shape;3798;p14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cornell-notes/unit-6/us53-african-americans-wwii.pdf</a:t>
            </a:r>
            <a:endParaRPr b="0" i="0" sz="1050" u="none" cap="none" strike="noStrike">
              <a:solidFill>
                <a:schemeClr val="dk1"/>
              </a:solidFill>
              <a:latin typeface="Calibri"/>
              <a:ea typeface="Calibri"/>
              <a:cs typeface="Calibri"/>
              <a:sym typeface="Calibri"/>
            </a:endParaRPr>
          </a:p>
        </p:txBody>
      </p:sp>
      <p:sp>
        <p:nvSpPr>
          <p:cNvPr id="3799" name="Google Shape;3799;p1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00" name="Google Shape;3800;p1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05" name="Shape 3805"/>
        <p:cNvGrpSpPr/>
        <p:nvPr/>
      </p:nvGrpSpPr>
      <p:grpSpPr>
        <a:xfrm>
          <a:off x="0" y="0"/>
          <a:ext cx="0" cy="0"/>
          <a:chOff x="0" y="0"/>
          <a:chExt cx="0" cy="0"/>
        </a:xfrm>
      </p:grpSpPr>
      <p:sp>
        <p:nvSpPr>
          <p:cNvPr id="3806" name="Google Shape;3806;p14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4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CHECK FOR UNDERSTANDING</a:t>
            </a:r>
            <a:endParaRPr b="0" i="0" sz="1200" u="none" cap="none" strike="noStrike">
              <a:solidFill>
                <a:schemeClr val="dk1"/>
              </a:solidFill>
              <a:latin typeface="Calibri"/>
              <a:ea typeface="Calibri"/>
              <a:cs typeface="Calibri"/>
              <a:sym typeface="Calibri"/>
            </a:endParaRPr>
          </a:p>
        </p:txBody>
      </p:sp>
      <p:sp>
        <p:nvSpPr>
          <p:cNvPr id="3808" name="Google Shape;3808;p14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09" name="Google Shape;3809;p14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4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811" name="Google Shape;3811;p14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4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813" name="Google Shape;3813;p14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4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Double V campaign connect the war abroad to civil rights at home?</a:t>
            </a:r>
            <a:endParaRPr b="0" i="0" sz="1600" u="none" cap="none" strike="noStrike">
              <a:solidFill>
                <a:schemeClr val="dk1"/>
              </a:solidFill>
              <a:latin typeface="Calibri"/>
              <a:ea typeface="Calibri"/>
              <a:cs typeface="Calibri"/>
              <a:sym typeface="Calibri"/>
            </a:endParaRPr>
          </a:p>
        </p:txBody>
      </p:sp>
      <p:sp>
        <p:nvSpPr>
          <p:cNvPr id="3815" name="Google Shape;3815;p14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4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4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818" name="Google Shape;3818;p14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linked victory over fascism overseas with demands for racial equality in the United States.</a:t>
            </a:r>
            <a:endParaRPr b="0" i="0" sz="1350" u="none" cap="none" strike="noStrike">
              <a:solidFill>
                <a:schemeClr val="dk1"/>
              </a:solidFill>
              <a:latin typeface="Calibri"/>
              <a:ea typeface="Calibri"/>
              <a:cs typeface="Calibri"/>
              <a:sym typeface="Calibri"/>
            </a:endParaRPr>
          </a:p>
        </p:txBody>
      </p:sp>
      <p:sp>
        <p:nvSpPr>
          <p:cNvPr id="3819" name="Google Shape;3819;p14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4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4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822" name="Google Shape;3822;p14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50" u="none" cap="none" strike="noStrike">
              <a:solidFill>
                <a:schemeClr val="dk1"/>
              </a:solidFill>
              <a:latin typeface="Calibri"/>
              <a:ea typeface="Calibri"/>
              <a:cs typeface="Calibri"/>
              <a:sym typeface="Calibri"/>
            </a:endParaRPr>
          </a:p>
        </p:txBody>
      </p:sp>
      <p:sp>
        <p:nvSpPr>
          <p:cNvPr id="3823" name="Google Shape;3823;p14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4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4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826" name="Google Shape;3826;p14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50" u="none" cap="none" strike="noStrike">
              <a:solidFill>
                <a:schemeClr val="dk1"/>
              </a:solidFill>
              <a:latin typeface="Calibri"/>
              <a:ea typeface="Calibri"/>
              <a:cs typeface="Calibri"/>
              <a:sym typeface="Calibri"/>
            </a:endParaRPr>
          </a:p>
        </p:txBody>
      </p:sp>
      <p:sp>
        <p:nvSpPr>
          <p:cNvPr id="3827" name="Google Shape;3827;p14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4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4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830" name="Google Shape;3830;p14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Entered workforce in record numbers, gained independence, and challenged gender roles.</a:t>
            </a:r>
            <a:endParaRPr b="0" i="0" sz="1350" u="none" cap="none" strike="noStrike">
              <a:solidFill>
                <a:schemeClr val="dk1"/>
              </a:solidFill>
              <a:latin typeface="Calibri"/>
              <a:ea typeface="Calibri"/>
              <a:cs typeface="Calibri"/>
              <a:sym typeface="Calibri"/>
            </a:endParaRPr>
          </a:p>
        </p:txBody>
      </p:sp>
      <p:sp>
        <p:nvSpPr>
          <p:cNvPr id="3831" name="Google Shape;3831;p14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4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833" name="Google Shape;3833;p1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34" name="Google Shape;3834;p1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39" name="Shape 3839"/>
        <p:cNvGrpSpPr/>
        <p:nvPr/>
      </p:nvGrpSpPr>
      <p:grpSpPr>
        <a:xfrm>
          <a:off x="0" y="0"/>
          <a:ext cx="0" cy="0"/>
          <a:chOff x="0" y="0"/>
          <a:chExt cx="0" cy="0"/>
        </a:xfrm>
      </p:grpSpPr>
      <p:sp>
        <p:nvSpPr>
          <p:cNvPr id="3840" name="Google Shape;3840;p14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4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ANSWER REVEAL</a:t>
            </a:r>
            <a:endParaRPr b="0" i="0" sz="1200" u="none" cap="none" strike="noStrike">
              <a:solidFill>
                <a:schemeClr val="dk1"/>
              </a:solidFill>
              <a:latin typeface="Calibri"/>
              <a:ea typeface="Calibri"/>
              <a:cs typeface="Calibri"/>
              <a:sym typeface="Calibri"/>
            </a:endParaRPr>
          </a:p>
        </p:txBody>
      </p:sp>
      <p:sp>
        <p:nvSpPr>
          <p:cNvPr id="3842" name="Google Shape;3842;p14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43" name="Google Shape;3843;p14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4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845" name="Google Shape;3845;p14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4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Double V campaign connect the war abroad to civil rights at home?</a:t>
            </a:r>
            <a:endParaRPr b="0" i="0" sz="1500" u="none" cap="none" strike="noStrike">
              <a:solidFill>
                <a:schemeClr val="dk1"/>
              </a:solidFill>
              <a:latin typeface="Calibri"/>
              <a:ea typeface="Calibri"/>
              <a:cs typeface="Calibri"/>
              <a:sym typeface="Calibri"/>
            </a:endParaRPr>
          </a:p>
        </p:txBody>
      </p:sp>
      <p:sp>
        <p:nvSpPr>
          <p:cNvPr id="3847" name="Google Shape;3847;p147"/>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4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4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850" name="Google Shape;3850;p14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linked victory over fascism overseas with demands for racial equality in the United States.</a:t>
            </a:r>
            <a:endParaRPr b="0" i="0" sz="1300" u="none" cap="none" strike="noStrike">
              <a:solidFill>
                <a:schemeClr val="dk1"/>
              </a:solidFill>
              <a:latin typeface="Calibri"/>
              <a:ea typeface="Calibri"/>
              <a:cs typeface="Calibri"/>
              <a:sym typeface="Calibri"/>
            </a:endParaRPr>
          </a:p>
        </p:txBody>
      </p:sp>
      <p:sp>
        <p:nvSpPr>
          <p:cNvPr id="3851" name="Google Shape;3851;p147"/>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852" name="Google Shape;3852;p147"/>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4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4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855" name="Google Shape;3855;p14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00" u="none" cap="none" strike="noStrike">
              <a:solidFill>
                <a:schemeClr val="dk1"/>
              </a:solidFill>
              <a:latin typeface="Calibri"/>
              <a:ea typeface="Calibri"/>
              <a:cs typeface="Calibri"/>
              <a:sym typeface="Calibri"/>
            </a:endParaRPr>
          </a:p>
        </p:txBody>
      </p:sp>
      <p:sp>
        <p:nvSpPr>
          <p:cNvPr id="3856" name="Google Shape;3856;p14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4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4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859" name="Google Shape;3859;p14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00" u="none" cap="none" strike="noStrike">
              <a:solidFill>
                <a:schemeClr val="dk1"/>
              </a:solidFill>
              <a:latin typeface="Calibri"/>
              <a:ea typeface="Calibri"/>
              <a:cs typeface="Calibri"/>
              <a:sym typeface="Calibri"/>
            </a:endParaRPr>
          </a:p>
        </p:txBody>
      </p:sp>
      <p:sp>
        <p:nvSpPr>
          <p:cNvPr id="3860" name="Google Shape;3860;p14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4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4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863" name="Google Shape;3863;p14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Entered workforce in record numbers, gained independence, and challenged gender roles.</a:t>
            </a:r>
            <a:endParaRPr b="0" i="0" sz="1300" u="none" cap="none" strike="noStrike">
              <a:solidFill>
                <a:schemeClr val="dk1"/>
              </a:solidFill>
              <a:latin typeface="Calibri"/>
              <a:ea typeface="Calibri"/>
              <a:cs typeface="Calibri"/>
              <a:sym typeface="Calibri"/>
            </a:endParaRPr>
          </a:p>
        </p:txBody>
      </p:sp>
      <p:sp>
        <p:nvSpPr>
          <p:cNvPr id="3864" name="Google Shape;3864;p14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4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a:t>
            </a:r>
            <a:endParaRPr b="0" i="0" sz="1150" u="none" cap="none" strike="noStrike">
              <a:solidFill>
                <a:schemeClr val="dk1"/>
              </a:solidFill>
              <a:latin typeface="Calibri"/>
              <a:ea typeface="Calibri"/>
              <a:cs typeface="Calibri"/>
              <a:sym typeface="Calibri"/>
            </a:endParaRPr>
          </a:p>
        </p:txBody>
      </p:sp>
      <p:sp>
        <p:nvSpPr>
          <p:cNvPr id="3866" name="Google Shape;3866;p1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67" name="Google Shape;3867;p1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872" name="Shape 3872"/>
        <p:cNvGrpSpPr/>
        <p:nvPr/>
      </p:nvGrpSpPr>
      <p:grpSpPr>
        <a:xfrm>
          <a:off x="0" y="0"/>
          <a:ext cx="0" cy="0"/>
          <a:chOff x="0" y="0"/>
          <a:chExt cx="0" cy="0"/>
        </a:xfrm>
      </p:grpSpPr>
      <p:sp>
        <p:nvSpPr>
          <p:cNvPr id="3873" name="Google Shape;3873;p14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WRAP-UP</a:t>
            </a:r>
            <a:endParaRPr b="0" i="0" sz="1200" u="none" cap="none" strike="noStrike">
              <a:solidFill>
                <a:schemeClr val="dk1"/>
              </a:solidFill>
              <a:latin typeface="Calibri"/>
              <a:ea typeface="Calibri"/>
              <a:cs typeface="Calibri"/>
              <a:sym typeface="Calibri"/>
            </a:endParaRPr>
          </a:p>
        </p:txBody>
      </p:sp>
      <p:sp>
        <p:nvSpPr>
          <p:cNvPr id="3875" name="Google Shape;3875;p14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876" name="Google Shape;3876;p14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4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878" name="Google Shape;3878;p14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Second Great Migration and Economic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Double V Campaign and Wartime Experiences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Fair Employment Practices Committee (FEPC)</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Integration of Armed Forces</a:t>
            </a:r>
            <a:endParaRPr b="0" i="0" sz="1500" u="none" cap="none" strike="noStrike">
              <a:solidFill>
                <a:schemeClr val="dk1"/>
              </a:solidFill>
              <a:latin typeface="Calibri"/>
              <a:ea typeface="Calibri"/>
              <a:cs typeface="Calibri"/>
              <a:sym typeface="Calibri"/>
            </a:endParaRPr>
          </a:p>
        </p:txBody>
      </p:sp>
      <p:sp>
        <p:nvSpPr>
          <p:cNvPr id="3879" name="Google Shape;3879;p14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4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881" name="Google Shape;3881;p14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did fighting Nazi racism abroad push the U.S. to confront racism at home? Argue with evidence. (SSP.04)</a:t>
            </a:r>
            <a:endParaRPr b="0" i="0" sz="1150" u="none" cap="none" strike="noStrike">
              <a:solidFill>
                <a:schemeClr val="dk1"/>
              </a:solidFill>
              <a:latin typeface="Calibri"/>
              <a:ea typeface="Calibri"/>
              <a:cs typeface="Calibri"/>
              <a:sym typeface="Calibri"/>
            </a:endParaRPr>
          </a:p>
        </p:txBody>
      </p:sp>
      <p:sp>
        <p:nvSpPr>
          <p:cNvPr id="3882" name="Google Shape;3882;p14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4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884" name="Google Shape;3884;p14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4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886" name="Google Shape;3886;p14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WWII changed economic and social conditions for African Americans. Give at least two specific examples.</a:t>
            </a:r>
            <a:endParaRPr b="0" i="0" sz="1350" u="none" cap="none" strike="noStrike">
              <a:solidFill>
                <a:schemeClr val="dk1"/>
              </a:solidFill>
              <a:latin typeface="Calibri"/>
              <a:ea typeface="Calibri"/>
              <a:cs typeface="Calibri"/>
              <a:sym typeface="Calibri"/>
            </a:endParaRPr>
          </a:p>
        </p:txBody>
      </p:sp>
      <p:cxnSp>
        <p:nvCxnSpPr>
          <p:cNvPr id="3887" name="Google Shape;3887;p14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8" name="Google Shape;3888;p14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9" name="Google Shape;3889;p14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890" name="Google Shape;3890;p1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91" name="Google Shape;3891;p1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96" name="Shape 3896"/>
        <p:cNvGrpSpPr/>
        <p:nvPr/>
      </p:nvGrpSpPr>
      <p:grpSpPr>
        <a:xfrm>
          <a:off x="0" y="0"/>
          <a:ext cx="0" cy="0"/>
          <a:chOff x="0" y="0"/>
          <a:chExt cx="0" cy="0"/>
        </a:xfrm>
      </p:grpSpPr>
      <p:sp>
        <p:nvSpPr>
          <p:cNvPr id="3897" name="Google Shape;3897;p149"/>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49"/>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49"/>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900" name="Google Shape;3900;p149"/>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US.54</a:t>
            </a:r>
            <a:endParaRPr b="0" i="0" sz="8800" u="none" cap="none" strike="noStrike">
              <a:solidFill>
                <a:schemeClr val="dk1"/>
              </a:solidFill>
              <a:latin typeface="Calibri"/>
              <a:ea typeface="Calibri"/>
              <a:cs typeface="Calibri"/>
              <a:sym typeface="Calibri"/>
            </a:endParaRPr>
          </a:p>
        </p:txBody>
      </p:sp>
      <p:sp>
        <p:nvSpPr>
          <p:cNvPr id="3901" name="Google Shape;3901;p149"/>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Japanese American Internment &amp; Korematsu</a:t>
            </a:r>
            <a:endParaRPr b="0" i="0" sz="2400" u="none" cap="none" strike="noStrike">
              <a:solidFill>
                <a:schemeClr val="dk1"/>
              </a:solidFill>
              <a:latin typeface="Calibri"/>
              <a:ea typeface="Calibri"/>
              <a:cs typeface="Calibri"/>
              <a:sym typeface="Calibri"/>
            </a:endParaRPr>
          </a:p>
        </p:txBody>
      </p:sp>
      <p:sp>
        <p:nvSpPr>
          <p:cNvPr id="3902" name="Google Shape;3902;p149"/>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903" name="Google Shape;3903;p149"/>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49"/>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905" name="Google Shape;3905;p149"/>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906" name="Google Shape;3906;p149"/>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49"/>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908" name="Google Shape;3908;p149"/>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909" name="Google Shape;3909;p149"/>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49"/>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911" name="Google Shape;3911;p149"/>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912" name="Google Shape;3912;p149"/>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49"/>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914" name="Google Shape;3914;p149"/>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constitutional issues and impact of the internment of Japanese Americans on the U.S., including the Fred Korematsu v. United States of America decision.</a:t>
            </a:r>
            <a:endParaRPr b="0" i="0" sz="1300" u="none" cap="none" strike="noStrike">
              <a:solidFill>
                <a:schemeClr val="dk1"/>
              </a:solidFill>
              <a:latin typeface="Calibri"/>
              <a:ea typeface="Calibri"/>
              <a:cs typeface="Calibri"/>
              <a:sym typeface="Calibri"/>
            </a:endParaRPr>
          </a:p>
        </p:txBody>
      </p:sp>
      <p:sp>
        <p:nvSpPr>
          <p:cNvPr id="3915" name="Google Shape;3915;p149"/>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49"/>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917" name="Google Shape;3917;p149"/>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250" u="none" cap="none" strike="noStrike">
              <a:solidFill>
                <a:schemeClr val="dk1"/>
              </a:solidFill>
              <a:latin typeface="Calibri"/>
              <a:ea typeface="Calibri"/>
              <a:cs typeface="Calibri"/>
              <a:sym typeface="Calibri"/>
            </a:endParaRPr>
          </a:p>
        </p:txBody>
      </p:sp>
      <p:sp>
        <p:nvSpPr>
          <p:cNvPr id="3918" name="Google Shape;3918;p1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19" name="Google Shape;3919;p1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24" name="Shape 3924"/>
        <p:cNvGrpSpPr/>
        <p:nvPr/>
      </p:nvGrpSpPr>
      <p:grpSpPr>
        <a:xfrm>
          <a:off x="0" y="0"/>
          <a:ext cx="0" cy="0"/>
          <a:chOff x="0" y="0"/>
          <a:chExt cx="0" cy="0"/>
        </a:xfrm>
      </p:grpSpPr>
      <p:sp>
        <p:nvSpPr>
          <p:cNvPr id="3925" name="Google Shape;3925;p1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QUICK REVIEW</a:t>
            </a:r>
            <a:endParaRPr b="0" i="0" sz="1200" u="none" cap="none" strike="noStrike">
              <a:solidFill>
                <a:schemeClr val="dk1"/>
              </a:solidFill>
              <a:latin typeface="Calibri"/>
              <a:ea typeface="Calibri"/>
              <a:cs typeface="Calibri"/>
              <a:sym typeface="Calibri"/>
            </a:endParaRPr>
          </a:p>
        </p:txBody>
      </p:sp>
      <p:sp>
        <p:nvSpPr>
          <p:cNvPr id="3927" name="Google Shape;3927;p15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928" name="Google Shape;3928;p150"/>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929" name="Google Shape;3929;p150"/>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0"/>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0"/>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932" name="Google Shape;3932;p150"/>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was the 'Double V' campaign?</a:t>
            </a:r>
            <a:endParaRPr b="0" i="0" sz="1350" u="none" cap="none" strike="noStrike">
              <a:solidFill>
                <a:schemeClr val="dk1"/>
              </a:solidFill>
              <a:latin typeface="Calibri"/>
              <a:ea typeface="Calibri"/>
              <a:cs typeface="Calibri"/>
              <a:sym typeface="Calibri"/>
            </a:endParaRPr>
          </a:p>
        </p:txBody>
      </p:sp>
      <p:sp>
        <p:nvSpPr>
          <p:cNvPr id="3933" name="Google Shape;3933;p150"/>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0"/>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0"/>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936" name="Google Shape;3936;p150"/>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did Executive Order 8802 do?</a:t>
            </a:r>
            <a:endParaRPr b="0" i="0" sz="1350" u="none" cap="none" strike="noStrike">
              <a:solidFill>
                <a:schemeClr val="dk1"/>
              </a:solidFill>
              <a:latin typeface="Calibri"/>
              <a:ea typeface="Calibri"/>
              <a:cs typeface="Calibri"/>
              <a:sym typeface="Calibri"/>
            </a:endParaRPr>
          </a:p>
        </p:txBody>
      </p:sp>
      <p:sp>
        <p:nvSpPr>
          <p:cNvPr id="3937" name="Google Shape;3937;p1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38" name="Google Shape;3938;p1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43" name="Shape 3943"/>
        <p:cNvGrpSpPr/>
        <p:nvPr/>
      </p:nvGrpSpPr>
      <p:grpSpPr>
        <a:xfrm>
          <a:off x="0" y="0"/>
          <a:ext cx="0" cy="0"/>
          <a:chOff x="0" y="0"/>
          <a:chExt cx="0" cy="0"/>
        </a:xfrm>
      </p:grpSpPr>
      <p:sp>
        <p:nvSpPr>
          <p:cNvPr id="3944" name="Google Shape;3944;p15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CONFIDENCE CHECK</a:t>
            </a:r>
            <a:endParaRPr b="0" i="0" sz="1200" u="none" cap="none" strike="noStrike">
              <a:solidFill>
                <a:schemeClr val="dk1"/>
              </a:solidFill>
              <a:latin typeface="Calibri"/>
              <a:ea typeface="Calibri"/>
              <a:cs typeface="Calibri"/>
              <a:sym typeface="Calibri"/>
            </a:endParaRPr>
          </a:p>
        </p:txBody>
      </p:sp>
      <p:sp>
        <p:nvSpPr>
          <p:cNvPr id="3946" name="Google Shape;3946;p151"/>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947" name="Google Shape;3947;p151"/>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1"/>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949" name="Google Shape;3949;p151"/>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1"/>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951" name="Google Shape;3951;p151"/>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952" name="Google Shape;3952;p151"/>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1"/>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group was forced into internment camps after Pearl Harbor?</a:t>
            </a:r>
            <a:endParaRPr b="0" i="0" sz="2400" u="none" cap="none" strike="noStrike">
              <a:solidFill>
                <a:schemeClr val="dk1"/>
              </a:solidFill>
              <a:latin typeface="Calibri"/>
              <a:ea typeface="Calibri"/>
              <a:cs typeface="Calibri"/>
              <a:sym typeface="Calibri"/>
            </a:endParaRPr>
          </a:p>
        </p:txBody>
      </p:sp>
      <p:sp>
        <p:nvSpPr>
          <p:cNvPr id="3954" name="Google Shape;3954;p151"/>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1"/>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956" name="Google Shape;3956;p151"/>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Japanese Americans, most of them U.S. citizens.</a:t>
            </a:r>
            <a:endParaRPr b="0" i="0" sz="1600" u="none" cap="none" strike="noStrike">
              <a:solidFill>
                <a:schemeClr val="dk1"/>
              </a:solidFill>
              <a:latin typeface="Calibri"/>
              <a:ea typeface="Calibri"/>
              <a:cs typeface="Calibri"/>
              <a:sym typeface="Calibri"/>
            </a:endParaRPr>
          </a:p>
        </p:txBody>
      </p:sp>
      <p:sp>
        <p:nvSpPr>
          <p:cNvPr id="3957" name="Google Shape;3957;p151"/>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1"/>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959" name="Google Shape;3959;p1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60" name="Google Shape;3960;p1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65" name="Shape 3965"/>
        <p:cNvGrpSpPr/>
        <p:nvPr/>
      </p:nvGrpSpPr>
      <p:grpSpPr>
        <a:xfrm>
          <a:off x="0" y="0"/>
          <a:ext cx="0" cy="0"/>
          <a:chOff x="0" y="0"/>
          <a:chExt cx="0" cy="0"/>
        </a:xfrm>
      </p:grpSpPr>
      <p:sp>
        <p:nvSpPr>
          <p:cNvPr id="3966" name="Google Shape;3966;p15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HOOK</a:t>
            </a:r>
            <a:endParaRPr b="0" i="0" sz="1200" u="none" cap="none" strike="noStrike">
              <a:solidFill>
                <a:schemeClr val="dk1"/>
              </a:solidFill>
              <a:latin typeface="Calibri"/>
              <a:ea typeface="Calibri"/>
              <a:cs typeface="Calibri"/>
              <a:sym typeface="Calibri"/>
            </a:endParaRPr>
          </a:p>
        </p:txBody>
      </p:sp>
      <p:sp>
        <p:nvSpPr>
          <p:cNvPr id="3968" name="Google Shape;3968;p152"/>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969" name="Google Shape;3969;p152"/>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2"/>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After Pearl Harbor, the U.S. government forced more than 110,000 Japanese Americans, most of them U.S. citizens, from their homes into remote internment camps, and the Supreme Court said it was legal.</a:t>
            </a:r>
            <a:endParaRPr b="0" i="0" sz="2600" u="none" cap="none" strike="noStrike">
              <a:solidFill>
                <a:schemeClr val="dk1"/>
              </a:solidFill>
              <a:latin typeface="Calibri"/>
              <a:ea typeface="Calibri"/>
              <a:cs typeface="Calibri"/>
              <a:sym typeface="Calibri"/>
            </a:endParaRPr>
          </a:p>
        </p:txBody>
      </p:sp>
      <p:sp>
        <p:nvSpPr>
          <p:cNvPr id="3971" name="Google Shape;3971;p152"/>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2"/>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973" name="Google Shape;3973;p152"/>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2"/>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975" name="Google Shape;3975;p152"/>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the nation is at war, how far can the government go in taking away the rights of its own citizens?</a:t>
            </a:r>
            <a:endParaRPr b="0" i="0" sz="1600" u="none" cap="none" strike="noStrike">
              <a:solidFill>
                <a:schemeClr val="dk1"/>
              </a:solidFill>
              <a:latin typeface="Calibri"/>
              <a:ea typeface="Calibri"/>
              <a:cs typeface="Calibri"/>
              <a:sym typeface="Calibri"/>
            </a:endParaRPr>
          </a:p>
        </p:txBody>
      </p:sp>
      <p:sp>
        <p:nvSpPr>
          <p:cNvPr id="3976" name="Google Shape;3976;p1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77" name="Google Shape;3977;p1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82" name="Shape 3982"/>
        <p:cNvGrpSpPr/>
        <p:nvPr/>
      </p:nvGrpSpPr>
      <p:grpSpPr>
        <a:xfrm>
          <a:off x="0" y="0"/>
          <a:ext cx="0" cy="0"/>
          <a:chOff x="0" y="0"/>
          <a:chExt cx="0" cy="0"/>
        </a:xfrm>
      </p:grpSpPr>
      <p:sp>
        <p:nvSpPr>
          <p:cNvPr id="3983" name="Google Shape;3983;p15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3985" name="Google Shape;3985;p15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Executive Order 9066 and Internment</a:t>
            </a:r>
            <a:endParaRPr b="0" i="0" sz="3000" u="none" cap="none" strike="noStrike">
              <a:solidFill>
                <a:schemeClr val="dk1"/>
              </a:solidFill>
              <a:latin typeface="Calibri"/>
              <a:ea typeface="Calibri"/>
              <a:cs typeface="Calibri"/>
              <a:sym typeface="Calibri"/>
            </a:endParaRPr>
          </a:p>
        </p:txBody>
      </p:sp>
      <p:sp>
        <p:nvSpPr>
          <p:cNvPr id="3986" name="Google Shape;3986;p153"/>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991" name="Google Shape;3991;p15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3"/>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Following Pearl Harbor, Executive Order 9066 (February 1942) authorized removal of persons from designated military areas, leading to internment of approximately 120,000 Japanese Americans—two-thirds of whom were U.S. citizens.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Families were forced to abandon homes, businesses, and property, often selling possessions at severe losses.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were transported to remote internment camps surrounded by barbed wire and guard towers, losing their civil liberties based solely on ancestry.</a:t>
            </a:r>
            <a:endParaRPr b="0" i="0" sz="1550" u="none" cap="none" strike="noStrike">
              <a:solidFill>
                <a:schemeClr val="dk1"/>
              </a:solidFill>
              <a:latin typeface="Calibri"/>
              <a:ea typeface="Calibri"/>
              <a:cs typeface="Calibri"/>
              <a:sym typeface="Calibri"/>
            </a:endParaRPr>
          </a:p>
        </p:txBody>
      </p:sp>
      <p:sp>
        <p:nvSpPr>
          <p:cNvPr id="3993" name="Google Shape;3993;p153"/>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3"/>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995" name="Google Shape;3995;p153"/>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Executive Order 9066 led to ________, which raised the constitutional issue of ________.</a:t>
            </a:r>
            <a:endParaRPr b="0" i="0" sz="1050" u="none" cap="none" strike="noStrike">
              <a:solidFill>
                <a:schemeClr val="dk1"/>
              </a:solidFill>
              <a:latin typeface="Calibri"/>
              <a:ea typeface="Calibri"/>
              <a:cs typeface="Calibri"/>
              <a:sym typeface="Calibri"/>
            </a:endParaRPr>
          </a:p>
        </p:txBody>
      </p:sp>
      <p:sp>
        <p:nvSpPr>
          <p:cNvPr id="3996" name="Google Shape;3996;p153"/>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japanese-internment-mochida-family-1942.jpg" id="3997" name="Google Shape;3997;p153"/>
          <p:cNvPicPr preferRelativeResize="0"/>
          <p:nvPr/>
        </p:nvPicPr>
        <p:blipFill rotWithShape="1">
          <a:blip r:embed="rId3">
            <a:alphaModFix/>
          </a:blip>
          <a:srcRect b="0" l="0" r="0" t="0"/>
          <a:stretch/>
        </p:blipFill>
        <p:spPr>
          <a:xfrm>
            <a:off x="7821180" y="1783080"/>
            <a:ext cx="3605760" cy="2862072"/>
          </a:xfrm>
          <a:prstGeom prst="rect">
            <a:avLst/>
          </a:prstGeom>
          <a:noFill/>
          <a:ln>
            <a:noFill/>
          </a:ln>
        </p:spPr>
      </p:pic>
      <p:sp>
        <p:nvSpPr>
          <p:cNvPr id="3998" name="Google Shape;3998;p153"/>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Dorothea Lange / War Relocation Authority / National Archives and Records Administration, May 8,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999" name="Google Shape;3999;p153"/>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3"/>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001" name="Google Shape;4001;p1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02" name="Google Shape;4002;p1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07" name="Shape 4007"/>
        <p:cNvGrpSpPr/>
        <p:nvPr/>
      </p:nvGrpSpPr>
      <p:grpSpPr>
        <a:xfrm>
          <a:off x="0" y="0"/>
          <a:ext cx="0" cy="0"/>
          <a:chOff x="0" y="0"/>
          <a:chExt cx="0" cy="0"/>
        </a:xfrm>
      </p:grpSpPr>
      <p:sp>
        <p:nvSpPr>
          <p:cNvPr id="4008" name="Google Shape;4008;p15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10" name="Google Shape;4010;p15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Constitutional Issues</a:t>
            </a:r>
            <a:endParaRPr b="0" i="0" sz="3000" u="none" cap="none" strike="noStrike">
              <a:solidFill>
                <a:schemeClr val="dk1"/>
              </a:solidFill>
              <a:latin typeface="Calibri"/>
              <a:ea typeface="Calibri"/>
              <a:cs typeface="Calibri"/>
              <a:sym typeface="Calibri"/>
            </a:endParaRPr>
          </a:p>
        </p:txBody>
      </p:sp>
      <p:sp>
        <p:nvSpPr>
          <p:cNvPr id="4011" name="Google Shape;4011;p15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4"/>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15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5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016" name="Google Shape;4016;p15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5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Internment violated fundamental constitutional principles: due process (no individual hearings or evidence of disloyalty), equal protection (restrictive racial classification treating all Japanese Americans as suspects), and arguably habeas corpus (detention without charges).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No similar mass detention was imposed on German or Italian Americans, highlighting the racial basis of the policy.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Civil liberties groups protested, but wartime hysteria and racism overcame constitutional protections.</a:t>
            </a:r>
            <a:endParaRPr b="0" i="0" sz="1700" u="none" cap="none" strike="noStrike">
              <a:solidFill>
                <a:schemeClr val="dk1"/>
              </a:solidFill>
              <a:latin typeface="Calibri"/>
              <a:ea typeface="Calibri"/>
              <a:cs typeface="Calibri"/>
              <a:sym typeface="Calibri"/>
            </a:endParaRPr>
          </a:p>
        </p:txBody>
      </p:sp>
      <p:sp>
        <p:nvSpPr>
          <p:cNvPr id="4018" name="Google Shape;4018;p1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19" name="Google Shape;4019;p1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24" name="Shape 4024"/>
        <p:cNvGrpSpPr/>
        <p:nvPr/>
      </p:nvGrpSpPr>
      <p:grpSpPr>
        <a:xfrm>
          <a:off x="0" y="0"/>
          <a:ext cx="0" cy="0"/>
          <a:chOff x="0" y="0"/>
          <a:chExt cx="0" cy="0"/>
        </a:xfrm>
      </p:grpSpPr>
      <p:sp>
        <p:nvSpPr>
          <p:cNvPr id="4025" name="Google Shape;4025;p15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5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27" name="Google Shape;4027;p15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Korematsu v. United States (1944)</a:t>
            </a:r>
            <a:endParaRPr b="0" i="0" sz="3000" u="none" cap="none" strike="noStrike">
              <a:solidFill>
                <a:schemeClr val="dk1"/>
              </a:solidFill>
              <a:latin typeface="Calibri"/>
              <a:ea typeface="Calibri"/>
              <a:cs typeface="Calibri"/>
              <a:sym typeface="Calibri"/>
            </a:endParaRPr>
          </a:p>
        </p:txBody>
      </p:sp>
      <p:sp>
        <p:nvSpPr>
          <p:cNvPr id="4028" name="Google Shape;4028;p15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5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55"/>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5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5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033" name="Google Shape;4033;p15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5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Fred Korematsu refused to report for internment and was arrested.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Supreme Court upheld the exclusion order 6-3, ruling that wartime necessity justified the racial classification.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Justice Frank Murphy's dissent called the decision "legalization of racism." The decision was widely criticized and formally repudiated decades later.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1983, Korematsu's conviction was vacated after evidence emerged that the government had suppressed evidence contradicting military necessity claims.</a:t>
            </a:r>
            <a:endParaRPr b="0" i="0" sz="1700" u="none" cap="none" strike="noStrike">
              <a:solidFill>
                <a:schemeClr val="dk1"/>
              </a:solidFill>
              <a:latin typeface="Calibri"/>
              <a:ea typeface="Calibri"/>
              <a:cs typeface="Calibri"/>
              <a:sym typeface="Calibri"/>
            </a:endParaRPr>
          </a:p>
        </p:txBody>
      </p:sp>
      <p:sp>
        <p:nvSpPr>
          <p:cNvPr id="4035" name="Google Shape;4035;p1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36" name="Google Shape;4036;p1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41" name="Shape 4041"/>
        <p:cNvGrpSpPr/>
        <p:nvPr/>
      </p:nvGrpSpPr>
      <p:grpSpPr>
        <a:xfrm>
          <a:off x="0" y="0"/>
          <a:ext cx="0" cy="0"/>
          <a:chOff x="0" y="0"/>
          <a:chExt cx="0" cy="0"/>
        </a:xfrm>
      </p:grpSpPr>
      <p:sp>
        <p:nvSpPr>
          <p:cNvPr id="4042" name="Google Shape;4042;p1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44" name="Google Shape;4044;p1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and Historical Lessons</a:t>
            </a:r>
            <a:endParaRPr b="0" i="0" sz="3000" u="none" cap="none" strike="noStrike">
              <a:solidFill>
                <a:schemeClr val="dk1"/>
              </a:solidFill>
              <a:latin typeface="Calibri"/>
              <a:ea typeface="Calibri"/>
              <a:cs typeface="Calibri"/>
              <a:sym typeface="Calibri"/>
            </a:endParaRPr>
          </a:p>
        </p:txBody>
      </p:sp>
      <p:sp>
        <p:nvSpPr>
          <p:cNvPr id="4045" name="Google Shape;4045;p15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56"/>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050" name="Google Shape;4050;p1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5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Internees lost an estimated $400 million in property and suffered lasting psychological trauma.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Civil Liberties Act of 1988 formally apologized and provided $20,000 reparations to surviving internees.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Historical lessons emphasize the danger of racial profiling during wartime, the importance of judicial review protecting civil liberties, and how fear can override constitutional protections.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internment serves as a cautionary example still invoked in contemporary civil liberties debates.</a:t>
            </a:r>
            <a:endParaRPr b="0" i="0" sz="1700" u="none" cap="none" strike="noStrike">
              <a:solidFill>
                <a:schemeClr val="dk1"/>
              </a:solidFill>
              <a:latin typeface="Calibri"/>
              <a:ea typeface="Calibri"/>
              <a:cs typeface="Calibri"/>
              <a:sym typeface="Calibri"/>
            </a:endParaRPr>
          </a:p>
        </p:txBody>
      </p:sp>
      <p:sp>
        <p:nvSpPr>
          <p:cNvPr id="4052" name="Google Shape;4052;p1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3" name="Google Shape;4053;p1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58" name="Shape 4058"/>
        <p:cNvGrpSpPr/>
        <p:nvPr/>
      </p:nvGrpSpPr>
      <p:grpSpPr>
        <a:xfrm>
          <a:off x="0" y="0"/>
          <a:ext cx="0" cy="0"/>
          <a:chOff x="0" y="0"/>
          <a:chExt cx="0" cy="0"/>
        </a:xfrm>
      </p:grpSpPr>
      <p:sp>
        <p:nvSpPr>
          <p:cNvPr id="4059" name="Google Shape;4059;p15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PEOPLE WHO SHAPED THE ERA</a:t>
            </a:r>
            <a:endParaRPr b="0" i="0" sz="1200" u="none" cap="none" strike="noStrike">
              <a:solidFill>
                <a:schemeClr val="dk1"/>
              </a:solidFill>
              <a:latin typeface="Calibri"/>
              <a:ea typeface="Calibri"/>
              <a:cs typeface="Calibri"/>
              <a:sym typeface="Calibri"/>
            </a:endParaRPr>
          </a:p>
        </p:txBody>
      </p:sp>
      <p:sp>
        <p:nvSpPr>
          <p:cNvPr id="4061" name="Google Shape;4061;p15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4062" name="Google Shape;4062;p157"/>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57"/>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57"/>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4065" name="Google Shape;4065;p157"/>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signed EO 9066</a:t>
            </a:r>
            <a:endParaRPr b="0" i="0" sz="1100" u="none" cap="none" strike="noStrike">
              <a:solidFill>
                <a:schemeClr val="dk1"/>
              </a:solidFill>
              <a:latin typeface="Calibri"/>
              <a:ea typeface="Calibri"/>
              <a:cs typeface="Calibri"/>
              <a:sym typeface="Calibri"/>
            </a:endParaRPr>
          </a:p>
        </p:txBody>
      </p:sp>
      <p:sp>
        <p:nvSpPr>
          <p:cNvPr id="4066" name="Google Shape;4066;p157"/>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9066 (1942)</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Authorized removal of ~120,000 Japanese Americans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Most were U.S. citizens never charged with any crime</a:t>
            </a:r>
            <a:endParaRPr b="0" i="0" sz="1300" u="none" cap="none" strike="noStrike">
              <a:solidFill>
                <a:schemeClr val="dk1"/>
              </a:solidFill>
              <a:latin typeface="Calibri"/>
              <a:ea typeface="Calibri"/>
              <a:cs typeface="Calibri"/>
              <a:sym typeface="Calibri"/>
            </a:endParaRPr>
          </a:p>
        </p:txBody>
      </p:sp>
      <p:sp>
        <p:nvSpPr>
          <p:cNvPr id="4067" name="Google Shape;4067;p157"/>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57"/>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Present EO 9066 as documented action, then let the Murphy dissent supply the constitutional counter-argument.</a:t>
            </a:r>
            <a:endParaRPr b="0" i="0" sz="800" u="none" cap="none" strike="noStrike">
              <a:solidFill>
                <a:schemeClr val="dk1"/>
              </a:solidFill>
              <a:latin typeface="Calibri"/>
              <a:ea typeface="Calibri"/>
              <a:cs typeface="Calibri"/>
              <a:sym typeface="Calibri"/>
            </a:endParaRPr>
          </a:p>
        </p:txBody>
      </p:sp>
      <p:sp>
        <p:nvSpPr>
          <p:cNvPr id="4069" name="Google Shape;4069;p157"/>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57"/>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57"/>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Justice Frank Murphy</a:t>
            </a:r>
            <a:endParaRPr b="0" i="0" sz="1800" u="none" cap="none" strike="noStrike">
              <a:solidFill>
                <a:schemeClr val="dk1"/>
              </a:solidFill>
              <a:latin typeface="Calibri"/>
              <a:ea typeface="Calibri"/>
              <a:cs typeface="Calibri"/>
              <a:sym typeface="Calibri"/>
            </a:endParaRPr>
          </a:p>
        </p:txBody>
      </p:sp>
      <p:sp>
        <p:nvSpPr>
          <p:cNvPr id="4072" name="Google Shape;4072;p157"/>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Court dissenter in Korematsu</a:t>
            </a:r>
            <a:endParaRPr b="0" i="0" sz="1100" u="none" cap="none" strike="noStrike">
              <a:solidFill>
                <a:schemeClr val="dk1"/>
              </a:solidFill>
              <a:latin typeface="Calibri"/>
              <a:ea typeface="Calibri"/>
              <a:cs typeface="Calibri"/>
              <a:sym typeface="Calibri"/>
            </a:endParaRPr>
          </a:p>
        </p:txBody>
      </p:sp>
      <p:sp>
        <p:nvSpPr>
          <p:cNvPr id="4073" name="Google Shape;4073;p157"/>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Dissented forcefully in Korematsu v. U.S. (1944)</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internment a descent into 'the ugly abyss of racism'</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students the constitutional case against internment</a:t>
            </a:r>
            <a:endParaRPr b="0" i="0" sz="1300" u="none" cap="none" strike="noStrike">
              <a:solidFill>
                <a:schemeClr val="dk1"/>
              </a:solidFill>
              <a:latin typeface="Calibri"/>
              <a:ea typeface="Calibri"/>
              <a:cs typeface="Calibri"/>
              <a:sym typeface="Calibri"/>
            </a:endParaRPr>
          </a:p>
        </p:txBody>
      </p:sp>
      <p:sp>
        <p:nvSpPr>
          <p:cNvPr id="4074" name="Google Shape;4074;p157"/>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57"/>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Murphy's dissent to model evidence-based constitutional argument.</a:t>
            </a:r>
            <a:endParaRPr b="0" i="0" sz="800" u="none" cap="none" strike="noStrike">
              <a:solidFill>
                <a:schemeClr val="dk1"/>
              </a:solidFill>
              <a:latin typeface="Calibri"/>
              <a:ea typeface="Calibri"/>
              <a:cs typeface="Calibri"/>
              <a:sym typeface="Calibri"/>
            </a:endParaRPr>
          </a:p>
        </p:txBody>
      </p:sp>
      <p:sp>
        <p:nvSpPr>
          <p:cNvPr id="4076" name="Google Shape;4076;p1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77" name="Google Shape;4077;p1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82" name="Shape 4082"/>
        <p:cNvGrpSpPr/>
        <p:nvPr/>
      </p:nvGrpSpPr>
      <p:grpSpPr>
        <a:xfrm>
          <a:off x="0" y="0"/>
          <a:ext cx="0" cy="0"/>
          <a:chOff x="0" y="0"/>
          <a:chExt cx="0" cy="0"/>
        </a:xfrm>
      </p:grpSpPr>
      <p:sp>
        <p:nvSpPr>
          <p:cNvPr id="4083" name="Google Shape;4083;p158"/>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US.54 · PRIMARY SOURCE ANALYSIS</a:t>
            </a:r>
            <a:endParaRPr b="0" i="0" sz="1200" u="none" cap="none" strike="noStrike">
              <a:solidFill>
                <a:schemeClr val="dk1"/>
              </a:solidFill>
              <a:latin typeface="Calibri"/>
              <a:ea typeface="Calibri"/>
              <a:cs typeface="Calibri"/>
              <a:sym typeface="Calibri"/>
            </a:endParaRPr>
          </a:p>
        </p:txBody>
      </p:sp>
      <p:sp>
        <p:nvSpPr>
          <p:cNvPr id="4085" name="Google Shape;4085;p158"/>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9066</a:t>
            </a:r>
            <a:endParaRPr b="0" i="0" sz="2500" u="none" cap="none" strike="noStrike">
              <a:solidFill>
                <a:schemeClr val="dk1"/>
              </a:solidFill>
              <a:latin typeface="Calibri"/>
              <a:ea typeface="Calibri"/>
              <a:cs typeface="Calibri"/>
              <a:sym typeface="Calibri"/>
            </a:endParaRPr>
          </a:p>
        </p:txBody>
      </p:sp>
      <p:sp>
        <p:nvSpPr>
          <p:cNvPr id="4086" name="Google Shape;4086;p158"/>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58"/>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088" name="Google Shape;4088;p158"/>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February 19, 1942</a:t>
            </a:r>
            <a:endParaRPr b="0" i="0" sz="1200" u="none" cap="none" strike="noStrike">
              <a:solidFill>
                <a:schemeClr val="dk1"/>
              </a:solidFill>
              <a:latin typeface="Calibri"/>
              <a:ea typeface="Calibri"/>
              <a:cs typeface="Calibri"/>
              <a:sym typeface="Calibri"/>
            </a:endParaRPr>
          </a:p>
        </p:txBody>
      </p:sp>
      <p:sp>
        <p:nvSpPr>
          <p:cNvPr id="4089" name="Google Shape;4089;p158"/>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58"/>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58"/>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400" u="none" cap="none" strike="noStrike">
              <a:solidFill>
                <a:schemeClr val="dk1"/>
              </a:solidFill>
              <a:latin typeface="Calibri"/>
              <a:ea typeface="Calibri"/>
              <a:cs typeface="Calibri"/>
              <a:sym typeface="Calibri"/>
            </a:endParaRPr>
          </a:p>
        </p:txBody>
      </p:sp>
      <p:sp>
        <p:nvSpPr>
          <p:cNvPr id="4092" name="Google Shape;4092;p158"/>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58"/>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094" name="Google Shape;4094;p158"/>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58"/>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096" name="Google Shape;4096;p158"/>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After Japan attacked Pearl Harbor in December 1941, anti-Japanese sentiment surged on the West Coast of the United States. Military leaders and politicians claimed Japanese Americans could not be trusted and might commit acts of sabotage. Executive Order 9066 authorized the military to relocate and intern approximately 120,000 people of Japanese ancestry—most of them American citizens—in camps throughout the interior of the country.</a:t>
            </a:r>
            <a:endParaRPr b="0" i="0" sz="1050" u="none" cap="none" strike="noStrike">
              <a:solidFill>
                <a:schemeClr val="dk1"/>
              </a:solidFill>
              <a:latin typeface="Calibri"/>
              <a:ea typeface="Calibri"/>
              <a:cs typeface="Calibri"/>
              <a:sym typeface="Calibri"/>
            </a:endParaRPr>
          </a:p>
        </p:txBody>
      </p:sp>
      <p:sp>
        <p:nvSpPr>
          <p:cNvPr id="4097" name="Google Shape;4097;p158"/>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58"/>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099" name="Google Shape;4099;p158"/>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power did Executive Order 9066 grant to military authorities?</a:t>
            </a:r>
            <a:endParaRPr b="0" i="0" sz="1250" u="none" cap="none" strike="noStrike">
              <a:solidFill>
                <a:schemeClr val="dk1"/>
              </a:solidFill>
              <a:latin typeface="Calibri"/>
              <a:ea typeface="Calibri"/>
              <a:cs typeface="Calibri"/>
              <a:sym typeface="Calibri"/>
            </a:endParaRPr>
          </a:p>
        </p:txBody>
      </p:sp>
      <p:sp>
        <p:nvSpPr>
          <p:cNvPr id="4100" name="Google Shape;4100;p158"/>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58"/>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58"/>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103" name="Google Shape;4103;p158"/>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104" name="Google Shape;4104;p158"/>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105" name="Google Shape;4105;p158"/>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106" name="Google Shape;4106;p158"/>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4107" name="Google Shape;4107;p158"/>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108" name="Google Shape;4108;p158"/>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 1942</a:t>
            </a:r>
            <a:endParaRPr b="0" i="0" sz="950" u="none" cap="none" strike="noStrike">
              <a:solidFill>
                <a:schemeClr val="dk1"/>
              </a:solidFill>
              <a:latin typeface="Calibri"/>
              <a:ea typeface="Calibri"/>
              <a:cs typeface="Calibri"/>
              <a:sym typeface="Calibri"/>
            </a:endParaRPr>
          </a:p>
        </p:txBody>
      </p:sp>
      <p:sp>
        <p:nvSpPr>
          <p:cNvPr id="4109" name="Google Shape;4109;p158"/>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110" name="Google Shape;4110;p158"/>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111" name="Google Shape;4111;p158"/>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112" name="Google Shape;4112;p1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13" name="Google Shape;4113;p1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18" name="Shape 4118"/>
        <p:cNvGrpSpPr/>
        <p:nvPr/>
      </p:nvGrpSpPr>
      <p:grpSpPr>
        <a:xfrm>
          <a:off x="0" y="0"/>
          <a:ext cx="0" cy="0"/>
          <a:chOff x="0" y="0"/>
          <a:chExt cx="0" cy="0"/>
        </a:xfrm>
      </p:grpSpPr>
      <p:sp>
        <p:nvSpPr>
          <p:cNvPr id="4119" name="Google Shape;4119;p1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KEY VOCABULARY</a:t>
            </a:r>
            <a:endParaRPr b="0" i="0" sz="1200" u="none" cap="none" strike="noStrike">
              <a:solidFill>
                <a:schemeClr val="dk1"/>
              </a:solidFill>
              <a:latin typeface="Calibri"/>
              <a:ea typeface="Calibri"/>
              <a:cs typeface="Calibri"/>
              <a:sym typeface="Calibri"/>
            </a:endParaRPr>
          </a:p>
        </p:txBody>
      </p:sp>
      <p:sp>
        <p:nvSpPr>
          <p:cNvPr id="4121" name="Google Shape;4121;p15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122" name="Google Shape;4122;p159"/>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59"/>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59"/>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Japanese Internment</a:t>
            </a:r>
            <a:endParaRPr b="0" i="0" sz="1350" u="none" cap="none" strike="noStrike">
              <a:solidFill>
                <a:schemeClr val="dk1"/>
              </a:solidFill>
              <a:latin typeface="Calibri"/>
              <a:ea typeface="Calibri"/>
              <a:cs typeface="Calibri"/>
              <a:sym typeface="Calibri"/>
            </a:endParaRPr>
          </a:p>
        </p:txBody>
      </p:sp>
      <p:sp>
        <p:nvSpPr>
          <p:cNvPr id="4125" name="Google Shape;4125;p159"/>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jap-uh-NEEZ in-TERN-ment</a:t>
            </a:r>
            <a:endParaRPr b="0" i="0" sz="850" u="none" cap="none" strike="noStrike">
              <a:solidFill>
                <a:schemeClr val="dk1"/>
              </a:solidFill>
              <a:latin typeface="Calibri"/>
              <a:ea typeface="Calibri"/>
              <a:cs typeface="Calibri"/>
              <a:sym typeface="Calibri"/>
            </a:endParaRPr>
          </a:p>
        </p:txBody>
      </p:sp>
      <p:sp>
        <p:nvSpPr>
          <p:cNvPr id="4126" name="Google Shape;4126;p159"/>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Internamiento Japonés</a:t>
            </a:r>
            <a:endParaRPr b="0" i="0" sz="1000" u="none" cap="none" strike="noStrike">
              <a:solidFill>
                <a:schemeClr val="dk1"/>
              </a:solidFill>
              <a:latin typeface="Calibri"/>
              <a:ea typeface="Calibri"/>
              <a:cs typeface="Calibri"/>
              <a:sym typeface="Calibri"/>
            </a:endParaRPr>
          </a:p>
        </p:txBody>
      </p:sp>
      <p:sp>
        <p:nvSpPr>
          <p:cNvPr id="4127" name="Google Shape;4127;p159"/>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159"/>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JI</a:t>
            </a:r>
            <a:endParaRPr b="0" i="0" sz="1300" u="none" cap="none" strike="noStrike">
              <a:solidFill>
                <a:schemeClr val="dk1"/>
              </a:solidFill>
              <a:latin typeface="Calibri"/>
              <a:ea typeface="Calibri"/>
              <a:cs typeface="Calibri"/>
              <a:sym typeface="Calibri"/>
            </a:endParaRPr>
          </a:p>
        </p:txBody>
      </p:sp>
      <p:sp>
        <p:nvSpPr>
          <p:cNvPr id="4129" name="Google Shape;4129;p159"/>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forced relocation and incarceration of 120,000 Japanese Americans (two-thirds U.S. citizens) in concentration camps during WWII, based on racial prejudice, not evidence of disloyalty.</a:t>
            </a:r>
            <a:endParaRPr b="0" i="0" sz="1100" u="none" cap="none" strike="noStrike">
              <a:solidFill>
                <a:schemeClr val="dk1"/>
              </a:solidFill>
              <a:latin typeface="Calibri"/>
              <a:ea typeface="Calibri"/>
              <a:cs typeface="Calibri"/>
              <a:sym typeface="Calibri"/>
            </a:endParaRPr>
          </a:p>
        </p:txBody>
      </p:sp>
      <p:sp>
        <p:nvSpPr>
          <p:cNvPr id="4130" name="Google Shape;4130;p159"/>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59"/>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59"/>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Korematsu v. United States</a:t>
            </a:r>
            <a:endParaRPr b="0" i="0" sz="1350" u="none" cap="none" strike="noStrike">
              <a:solidFill>
                <a:schemeClr val="dk1"/>
              </a:solidFill>
              <a:latin typeface="Calibri"/>
              <a:ea typeface="Calibri"/>
              <a:cs typeface="Calibri"/>
              <a:sym typeface="Calibri"/>
            </a:endParaRPr>
          </a:p>
        </p:txBody>
      </p:sp>
      <p:sp>
        <p:nvSpPr>
          <p:cNvPr id="4133" name="Google Shape;4133;p159"/>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kor-eh-MAT-soo</a:t>
            </a:r>
            <a:endParaRPr b="0" i="0" sz="850" u="none" cap="none" strike="noStrike">
              <a:solidFill>
                <a:schemeClr val="dk1"/>
              </a:solidFill>
              <a:latin typeface="Calibri"/>
              <a:ea typeface="Calibri"/>
              <a:cs typeface="Calibri"/>
              <a:sym typeface="Calibri"/>
            </a:endParaRPr>
          </a:p>
        </p:txBody>
      </p:sp>
      <p:sp>
        <p:nvSpPr>
          <p:cNvPr id="4134" name="Google Shape;4134;p159"/>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Korematsu contra Estados Unidos</a:t>
            </a:r>
            <a:endParaRPr b="0" i="0" sz="1000" u="none" cap="none" strike="noStrike">
              <a:solidFill>
                <a:schemeClr val="dk1"/>
              </a:solidFill>
              <a:latin typeface="Calibri"/>
              <a:ea typeface="Calibri"/>
              <a:cs typeface="Calibri"/>
              <a:sym typeface="Calibri"/>
            </a:endParaRPr>
          </a:p>
        </p:txBody>
      </p:sp>
      <p:sp>
        <p:nvSpPr>
          <p:cNvPr id="4135" name="Google Shape;4135;p159"/>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6" name="Google Shape;4136;p159"/>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KV</a:t>
            </a:r>
            <a:endParaRPr b="0" i="0" sz="1300" u="none" cap="none" strike="noStrike">
              <a:solidFill>
                <a:schemeClr val="dk1"/>
              </a:solidFill>
              <a:latin typeface="Calibri"/>
              <a:ea typeface="Calibri"/>
              <a:cs typeface="Calibri"/>
              <a:sym typeface="Calibri"/>
            </a:endParaRPr>
          </a:p>
        </p:txBody>
      </p:sp>
      <p:sp>
        <p:nvSpPr>
          <p:cNvPr id="4137" name="Google Shape;4137;p159"/>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1944 Supreme Court decision upholding Japanese internment as a wartime necessity, later widely condemned as one of the Court's worst decisions.</a:t>
            </a:r>
            <a:endParaRPr b="0" i="0" sz="1100" u="none" cap="none" strike="noStrike">
              <a:solidFill>
                <a:schemeClr val="dk1"/>
              </a:solidFill>
              <a:latin typeface="Calibri"/>
              <a:ea typeface="Calibri"/>
              <a:cs typeface="Calibri"/>
              <a:sym typeface="Calibri"/>
            </a:endParaRPr>
          </a:p>
        </p:txBody>
      </p:sp>
      <p:sp>
        <p:nvSpPr>
          <p:cNvPr id="4138" name="Google Shape;4138;p159"/>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59"/>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59"/>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9066</a:t>
            </a:r>
            <a:endParaRPr b="0" i="0" sz="1350" u="none" cap="none" strike="noStrike">
              <a:solidFill>
                <a:schemeClr val="dk1"/>
              </a:solidFill>
              <a:latin typeface="Calibri"/>
              <a:ea typeface="Calibri"/>
              <a:cs typeface="Calibri"/>
              <a:sym typeface="Calibri"/>
            </a:endParaRPr>
          </a:p>
        </p:txBody>
      </p:sp>
      <p:sp>
        <p:nvSpPr>
          <p:cNvPr id="4141" name="Google Shape;4141;p159"/>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142" name="Google Shape;4142;p159"/>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9066</a:t>
            </a:r>
            <a:endParaRPr b="0" i="0" sz="1000" u="none" cap="none" strike="noStrike">
              <a:solidFill>
                <a:schemeClr val="dk1"/>
              </a:solidFill>
              <a:latin typeface="Calibri"/>
              <a:ea typeface="Calibri"/>
              <a:cs typeface="Calibri"/>
              <a:sym typeface="Calibri"/>
            </a:endParaRPr>
          </a:p>
        </p:txBody>
      </p:sp>
      <p:sp>
        <p:nvSpPr>
          <p:cNvPr id="4143" name="Google Shape;4143;p159"/>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159"/>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4145" name="Google Shape;4145;p159"/>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February 1942 order signed by President Roosevelt authorizing the military to exclude and relocate Japanese Americans from the West Coast.</a:t>
            </a:r>
            <a:endParaRPr b="0" i="0" sz="1100" u="none" cap="none" strike="noStrike">
              <a:solidFill>
                <a:schemeClr val="dk1"/>
              </a:solidFill>
              <a:latin typeface="Calibri"/>
              <a:ea typeface="Calibri"/>
              <a:cs typeface="Calibri"/>
              <a:sym typeface="Calibri"/>
            </a:endParaRPr>
          </a:p>
        </p:txBody>
      </p:sp>
      <p:sp>
        <p:nvSpPr>
          <p:cNvPr id="4146" name="Google Shape;4146;p159"/>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59"/>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59"/>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4149" name="Google Shape;4149;p159"/>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4150" name="Google Shape;4150;p159"/>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4151" name="Google Shape;4151;p159"/>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159"/>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4153" name="Google Shape;4153;p159"/>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4154" name="Google Shape;4154;p159"/>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59"/>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59"/>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157" name="Google Shape;4157;p159"/>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158" name="Google Shape;4158;p159"/>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159" name="Google Shape;4159;p159"/>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159"/>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4161" name="Google Shape;4161;p159"/>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162" name="Google Shape;4162;p159"/>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59"/>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59"/>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4165" name="Google Shape;4165;p159"/>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4166" name="Google Shape;4166;p159"/>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4167" name="Google Shape;4167;p159"/>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159"/>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4169" name="Google Shape;4169;p159"/>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4170" name="Google Shape;4170;p159"/>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171" name="Google Shape;4171;p1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72" name="Google Shape;4172;p1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77" name="Shape 4177"/>
        <p:cNvGrpSpPr/>
        <p:nvPr/>
      </p:nvGrpSpPr>
      <p:grpSpPr>
        <a:xfrm>
          <a:off x="0" y="0"/>
          <a:ext cx="0" cy="0"/>
          <a:chOff x="0" y="0"/>
          <a:chExt cx="0" cy="0"/>
        </a:xfrm>
      </p:grpSpPr>
      <p:sp>
        <p:nvSpPr>
          <p:cNvPr id="4178" name="Google Shape;4178;p16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GUIDED PRACTICE — WE DO IT TOGETHER</a:t>
            </a:r>
            <a:endParaRPr b="0" i="0" sz="1200" u="none" cap="none" strike="noStrike">
              <a:solidFill>
                <a:schemeClr val="dk1"/>
              </a:solidFill>
              <a:latin typeface="Calibri"/>
              <a:ea typeface="Calibri"/>
              <a:cs typeface="Calibri"/>
              <a:sym typeface="Calibri"/>
            </a:endParaRPr>
          </a:p>
        </p:txBody>
      </p:sp>
      <p:sp>
        <p:nvSpPr>
          <p:cNvPr id="4180" name="Google Shape;4180;p160"/>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181" name="Google Shape;4181;p160"/>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Build a constitutional argument</a:t>
            </a:r>
            <a:endParaRPr b="0" i="0" sz="1100" u="none" cap="none" strike="noStrike">
              <a:solidFill>
                <a:schemeClr val="dk1"/>
              </a:solidFill>
              <a:latin typeface="Calibri"/>
              <a:ea typeface="Calibri"/>
              <a:cs typeface="Calibri"/>
              <a:sym typeface="Calibri"/>
            </a:endParaRPr>
          </a:p>
        </p:txBody>
      </p:sp>
      <p:sp>
        <p:nvSpPr>
          <p:cNvPr id="4183" name="Google Shape;4183;p160"/>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0"/>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Was internment constitutional? What does the evidence show?</a:t>
            </a:r>
            <a:endParaRPr b="0" i="0" sz="1500" u="none" cap="none" strike="noStrike">
              <a:solidFill>
                <a:schemeClr val="dk1"/>
              </a:solidFill>
              <a:latin typeface="Calibri"/>
              <a:ea typeface="Calibri"/>
              <a:cs typeface="Calibri"/>
              <a:sym typeface="Calibri"/>
            </a:endParaRPr>
          </a:p>
        </p:txBody>
      </p:sp>
      <p:sp>
        <p:nvSpPr>
          <p:cNvPr id="4185" name="Google Shape;4185;p160"/>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0"/>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187" name="Google Shape;4187;p160"/>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EO 9066 authorized removal; Korematsu upheld it; Murphy's dissent called it racism. Weigh the wartime-necessity claim against the rights of citizens never charged.</a:t>
            </a:r>
            <a:endParaRPr b="0" i="0" sz="1450" u="none" cap="none" strike="noStrike">
              <a:solidFill>
                <a:schemeClr val="dk1"/>
              </a:solidFill>
              <a:latin typeface="Calibri"/>
              <a:ea typeface="Calibri"/>
              <a:cs typeface="Calibri"/>
              <a:sym typeface="Calibri"/>
            </a:endParaRPr>
          </a:p>
        </p:txBody>
      </p:sp>
      <p:sp>
        <p:nvSpPr>
          <p:cNvPr id="4188" name="Google Shape;4188;p160"/>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0"/>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190" name="Google Shape;4190;p160"/>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line defending internment and one line attacking it.</a:t>
            </a:r>
            <a:endParaRPr b="0" i="0" sz="1300" u="none" cap="none" strike="noStrike">
              <a:solidFill>
                <a:schemeClr val="dk1"/>
              </a:solidFill>
              <a:latin typeface="Calibri"/>
              <a:ea typeface="Calibri"/>
              <a:cs typeface="Calibri"/>
              <a:sym typeface="Calibri"/>
            </a:endParaRPr>
          </a:p>
        </p:txBody>
      </p:sp>
      <p:sp>
        <p:nvSpPr>
          <p:cNvPr id="4191" name="Google Shape;4191;p160"/>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State your position and support it with a specific quote.</a:t>
            </a:r>
            <a:endParaRPr b="0" i="0" sz="1200" u="none" cap="none" strike="noStrike">
              <a:solidFill>
                <a:schemeClr val="dk1"/>
              </a:solidFill>
              <a:latin typeface="Calibri"/>
              <a:ea typeface="Calibri"/>
              <a:cs typeface="Calibri"/>
              <a:sym typeface="Calibri"/>
            </a:endParaRPr>
          </a:p>
        </p:txBody>
      </p:sp>
      <p:sp>
        <p:nvSpPr>
          <p:cNvPr id="4192" name="Google Shape;4192;p1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93" name="Google Shape;4193;p1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98" name="Shape 4198"/>
        <p:cNvGrpSpPr/>
        <p:nvPr/>
      </p:nvGrpSpPr>
      <p:grpSpPr>
        <a:xfrm>
          <a:off x="0" y="0"/>
          <a:ext cx="0" cy="0"/>
          <a:chOff x="0" y="0"/>
          <a:chExt cx="0" cy="0"/>
        </a:xfrm>
      </p:grpSpPr>
      <p:sp>
        <p:nvSpPr>
          <p:cNvPr id="4199" name="Google Shape;4199;p16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STUDENT ACTIVITY</a:t>
            </a:r>
            <a:endParaRPr b="0" i="0" sz="1200" u="none" cap="none" strike="noStrike">
              <a:solidFill>
                <a:schemeClr val="dk1"/>
              </a:solidFill>
              <a:latin typeface="Calibri"/>
              <a:ea typeface="Calibri"/>
              <a:cs typeface="Calibri"/>
              <a:sym typeface="Calibri"/>
            </a:endParaRPr>
          </a:p>
        </p:txBody>
      </p:sp>
      <p:sp>
        <p:nvSpPr>
          <p:cNvPr id="4201" name="Google Shape;4201;p161"/>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Liberty on Trial — Japanese American Internment and Korematsu</a:t>
            </a:r>
            <a:endParaRPr b="0" i="0" sz="2200" u="none" cap="none" strike="noStrike">
              <a:solidFill>
                <a:schemeClr val="dk1"/>
              </a:solidFill>
              <a:latin typeface="Calibri"/>
              <a:ea typeface="Calibri"/>
              <a:cs typeface="Calibri"/>
              <a:sym typeface="Calibri"/>
            </a:endParaRPr>
          </a:p>
        </p:txBody>
      </p:sp>
      <p:sp>
        <p:nvSpPr>
          <p:cNvPr id="4202" name="Google Shape;4202;p161"/>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1"/>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4204" name="Google Shape;4204;p161"/>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1"/>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206" name="Google Shape;4206;p161"/>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1"/>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208" name="Google Shape;4208;p161"/>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9066 and study the Mochida family photograph. Complete a four-part organizer: (1) what EO 9066 ordered; (2) the CONSTITUTIONAL ISSUES it raised; (3) the ruling in Korematsu v. United States (1944); (4) the IMPACT and later lessons (the 1988 apology and reparations). Add one detail per section. Finish with a one-sentence claim on when, if ever, national security can justify limiting citizens' rights.</a:t>
            </a:r>
            <a:endParaRPr b="0" i="0" sz="1350" u="none" cap="none" strike="noStrike">
              <a:solidFill>
                <a:schemeClr val="dk1"/>
              </a:solidFill>
              <a:latin typeface="Calibri"/>
              <a:ea typeface="Calibri"/>
              <a:cs typeface="Calibri"/>
              <a:sym typeface="Calibri"/>
            </a:endParaRPr>
          </a:p>
        </p:txBody>
      </p:sp>
      <p:sp>
        <p:nvSpPr>
          <p:cNvPr id="4209" name="Google Shape;4209;p161"/>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1"/>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211" name="Google Shape;4211;p161"/>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(order / constitutional issues / Korematsu ruling / impact, one detail each) AND a one-sentence evidence-based claim about rights and security.</a:t>
            </a:r>
            <a:endParaRPr b="0" i="0" sz="1050" u="none" cap="none" strike="noStrike">
              <a:solidFill>
                <a:schemeClr val="dk1"/>
              </a:solidFill>
              <a:latin typeface="Calibri"/>
              <a:ea typeface="Calibri"/>
              <a:cs typeface="Calibri"/>
              <a:sym typeface="Calibri"/>
            </a:endParaRPr>
          </a:p>
        </p:txBody>
      </p:sp>
      <p:sp>
        <p:nvSpPr>
          <p:cNvPr id="4212" name="Google Shape;4212;p161"/>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1"/>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214" name="Google Shape;4214;p161"/>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Mochida family photograph and EO 9066 to argue whether the Korematsu decision protected or betrayed the Constitution.</a:t>
            </a:r>
            <a:endParaRPr b="0" i="0" sz="1000" u="none" cap="none" strike="noStrike">
              <a:solidFill>
                <a:schemeClr val="dk1"/>
              </a:solidFill>
              <a:latin typeface="Calibri"/>
              <a:ea typeface="Calibri"/>
              <a:cs typeface="Calibri"/>
              <a:sym typeface="Calibri"/>
            </a:endParaRPr>
          </a:p>
        </p:txBody>
      </p:sp>
      <p:sp>
        <p:nvSpPr>
          <p:cNvPr id="4215" name="Google Shape;4215;p161"/>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cornell-notes/unit-6/us54-japanese-internment-korematsu.pdf</a:t>
            </a:r>
            <a:endParaRPr b="0" i="0" sz="1050" u="none" cap="none" strike="noStrike">
              <a:solidFill>
                <a:schemeClr val="dk1"/>
              </a:solidFill>
              <a:latin typeface="Calibri"/>
              <a:ea typeface="Calibri"/>
              <a:cs typeface="Calibri"/>
              <a:sym typeface="Calibri"/>
            </a:endParaRPr>
          </a:p>
        </p:txBody>
      </p:sp>
      <p:sp>
        <p:nvSpPr>
          <p:cNvPr id="4216" name="Google Shape;4216;p1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17" name="Google Shape;4217;p1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22" name="Shape 4222"/>
        <p:cNvGrpSpPr/>
        <p:nvPr/>
      </p:nvGrpSpPr>
      <p:grpSpPr>
        <a:xfrm>
          <a:off x="0" y="0"/>
          <a:ext cx="0" cy="0"/>
          <a:chOff x="0" y="0"/>
          <a:chExt cx="0" cy="0"/>
        </a:xfrm>
      </p:grpSpPr>
      <p:sp>
        <p:nvSpPr>
          <p:cNvPr id="4223" name="Google Shape;4223;p16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CHECK FOR UNDERSTANDING</a:t>
            </a:r>
            <a:endParaRPr b="0" i="0" sz="1200" u="none" cap="none" strike="noStrike">
              <a:solidFill>
                <a:schemeClr val="dk1"/>
              </a:solidFill>
              <a:latin typeface="Calibri"/>
              <a:ea typeface="Calibri"/>
              <a:cs typeface="Calibri"/>
              <a:sym typeface="Calibri"/>
            </a:endParaRPr>
          </a:p>
        </p:txBody>
      </p:sp>
      <p:sp>
        <p:nvSpPr>
          <p:cNvPr id="4225" name="Google Shape;4225;p162"/>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26" name="Google Shape;4226;p162"/>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2"/>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228" name="Google Shape;4228;p162"/>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230" name="Google Shape;4230;p162"/>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2"/>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600" u="none" cap="none" strike="noStrike">
              <a:solidFill>
                <a:schemeClr val="dk1"/>
              </a:solidFill>
              <a:latin typeface="Calibri"/>
              <a:ea typeface="Calibri"/>
              <a:cs typeface="Calibri"/>
              <a:sym typeface="Calibri"/>
            </a:endParaRPr>
          </a:p>
        </p:txBody>
      </p:sp>
      <p:sp>
        <p:nvSpPr>
          <p:cNvPr id="4232" name="Google Shape;4232;p162"/>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162"/>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2"/>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235" name="Google Shape;4235;p162"/>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50" u="none" cap="none" strike="noStrike">
              <a:solidFill>
                <a:schemeClr val="dk1"/>
              </a:solidFill>
              <a:latin typeface="Calibri"/>
              <a:ea typeface="Calibri"/>
              <a:cs typeface="Calibri"/>
              <a:sym typeface="Calibri"/>
            </a:endParaRPr>
          </a:p>
        </p:txBody>
      </p:sp>
      <p:sp>
        <p:nvSpPr>
          <p:cNvPr id="4236" name="Google Shape;4236;p162"/>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2"/>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2"/>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239" name="Google Shape;4239;p162"/>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50" u="none" cap="none" strike="noStrike">
              <a:solidFill>
                <a:schemeClr val="dk1"/>
              </a:solidFill>
              <a:latin typeface="Calibri"/>
              <a:ea typeface="Calibri"/>
              <a:cs typeface="Calibri"/>
              <a:sym typeface="Calibri"/>
            </a:endParaRPr>
          </a:p>
        </p:txBody>
      </p:sp>
      <p:sp>
        <p:nvSpPr>
          <p:cNvPr id="4240" name="Google Shape;4240;p162"/>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2"/>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2"/>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243" name="Google Shape;4243;p162"/>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Approximately 120,000 Japanese Americans, most of them citizens, were forcibly removed from their homes and confined to internment camps.</a:t>
            </a:r>
            <a:endParaRPr b="0" i="0" sz="1350" u="none" cap="none" strike="noStrike">
              <a:solidFill>
                <a:schemeClr val="dk1"/>
              </a:solidFill>
              <a:latin typeface="Calibri"/>
              <a:ea typeface="Calibri"/>
              <a:cs typeface="Calibri"/>
              <a:sym typeface="Calibri"/>
            </a:endParaRPr>
          </a:p>
        </p:txBody>
      </p:sp>
      <p:sp>
        <p:nvSpPr>
          <p:cNvPr id="4244" name="Google Shape;4244;p162"/>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2"/>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2"/>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247" name="Google Shape;4247;p162"/>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50" u="none" cap="none" strike="noStrike">
              <a:solidFill>
                <a:schemeClr val="dk1"/>
              </a:solidFill>
              <a:latin typeface="Calibri"/>
              <a:ea typeface="Calibri"/>
              <a:cs typeface="Calibri"/>
              <a:sym typeface="Calibri"/>
            </a:endParaRPr>
          </a:p>
        </p:txBody>
      </p:sp>
      <p:sp>
        <p:nvSpPr>
          <p:cNvPr id="4248" name="Google Shape;4248;p162"/>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2"/>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250" name="Google Shape;4250;p1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51" name="Google Shape;4251;p1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56" name="Shape 4256"/>
        <p:cNvGrpSpPr/>
        <p:nvPr/>
      </p:nvGrpSpPr>
      <p:grpSpPr>
        <a:xfrm>
          <a:off x="0" y="0"/>
          <a:ext cx="0" cy="0"/>
          <a:chOff x="0" y="0"/>
          <a:chExt cx="0" cy="0"/>
        </a:xfrm>
      </p:grpSpPr>
      <p:sp>
        <p:nvSpPr>
          <p:cNvPr id="4257" name="Google Shape;4257;p16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ANSWER REVEAL</a:t>
            </a:r>
            <a:endParaRPr b="0" i="0" sz="1200" u="none" cap="none" strike="noStrike">
              <a:solidFill>
                <a:schemeClr val="dk1"/>
              </a:solidFill>
              <a:latin typeface="Calibri"/>
              <a:ea typeface="Calibri"/>
              <a:cs typeface="Calibri"/>
              <a:sym typeface="Calibri"/>
            </a:endParaRPr>
          </a:p>
        </p:txBody>
      </p:sp>
      <p:sp>
        <p:nvSpPr>
          <p:cNvPr id="4259" name="Google Shape;4259;p163"/>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60" name="Google Shape;4260;p163"/>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3"/>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262" name="Google Shape;4262;p163"/>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3"/>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500" u="none" cap="none" strike="noStrike">
              <a:solidFill>
                <a:schemeClr val="dk1"/>
              </a:solidFill>
              <a:latin typeface="Calibri"/>
              <a:ea typeface="Calibri"/>
              <a:cs typeface="Calibri"/>
              <a:sym typeface="Calibri"/>
            </a:endParaRPr>
          </a:p>
        </p:txBody>
      </p:sp>
      <p:sp>
        <p:nvSpPr>
          <p:cNvPr id="4264" name="Google Shape;4264;p163"/>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3"/>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3"/>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267" name="Google Shape;4267;p163"/>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00" u="none" cap="none" strike="noStrike">
              <a:solidFill>
                <a:schemeClr val="dk1"/>
              </a:solidFill>
              <a:latin typeface="Calibri"/>
              <a:ea typeface="Calibri"/>
              <a:cs typeface="Calibri"/>
              <a:sym typeface="Calibri"/>
            </a:endParaRPr>
          </a:p>
        </p:txBody>
      </p:sp>
      <p:sp>
        <p:nvSpPr>
          <p:cNvPr id="4268" name="Google Shape;4268;p163"/>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3"/>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3"/>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271" name="Google Shape;4271;p163"/>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00" u="none" cap="none" strike="noStrike">
              <a:solidFill>
                <a:schemeClr val="dk1"/>
              </a:solidFill>
              <a:latin typeface="Calibri"/>
              <a:ea typeface="Calibri"/>
              <a:cs typeface="Calibri"/>
              <a:sym typeface="Calibri"/>
            </a:endParaRPr>
          </a:p>
        </p:txBody>
      </p:sp>
      <p:sp>
        <p:nvSpPr>
          <p:cNvPr id="4272" name="Google Shape;4272;p163"/>
          <p:cNvSpPr/>
          <p:nvPr/>
        </p:nvSpPr>
        <p:spPr>
          <a:xfrm>
            <a:off x="548640" y="3968496"/>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3"/>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3"/>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275" name="Google Shape;4275;p163"/>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Approximately 120,000 Japanese Americans, most of them citizens, were forcibly removed from their homes and confined to internment camps.</a:t>
            </a:r>
            <a:endParaRPr b="0" i="0" sz="1300" u="none" cap="none" strike="noStrike">
              <a:solidFill>
                <a:schemeClr val="dk1"/>
              </a:solidFill>
              <a:latin typeface="Calibri"/>
              <a:ea typeface="Calibri"/>
              <a:cs typeface="Calibri"/>
              <a:sym typeface="Calibri"/>
            </a:endParaRPr>
          </a:p>
        </p:txBody>
      </p:sp>
      <p:sp>
        <p:nvSpPr>
          <p:cNvPr id="4276" name="Google Shape;4276;p163"/>
          <p:cNvSpPr/>
          <p:nvPr/>
        </p:nvSpPr>
        <p:spPr>
          <a:xfrm>
            <a:off x="11018520" y="3968496"/>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277" name="Google Shape;4277;p163"/>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3"/>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3"/>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280" name="Google Shape;4280;p163"/>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00" u="none" cap="none" strike="noStrike">
              <a:solidFill>
                <a:schemeClr val="dk1"/>
              </a:solidFill>
              <a:latin typeface="Calibri"/>
              <a:ea typeface="Calibri"/>
              <a:cs typeface="Calibri"/>
              <a:sym typeface="Calibri"/>
            </a:endParaRPr>
          </a:p>
        </p:txBody>
      </p:sp>
      <p:sp>
        <p:nvSpPr>
          <p:cNvPr id="4281" name="Google Shape;4281;p163"/>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3"/>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C.  Why: </a:t>
            </a:r>
            <a:r>
              <a:rPr b="0" i="0" lang="en-US" sz="1150" u="none" cap="none" strike="noStrike">
                <a:solidFill>
                  <a:srgbClr val="C7D4E0"/>
                </a:solidFill>
                <a:latin typeface="Calibri"/>
                <a:ea typeface="Calibri"/>
                <a:cs typeface="Calibri"/>
                <a:sym typeface="Calibri"/>
              </a:rPr>
              <a:t>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a:t>
            </a:r>
            <a:endParaRPr b="0" i="0" sz="1150" u="none" cap="none" strike="noStrike">
              <a:solidFill>
                <a:schemeClr val="dk1"/>
              </a:solidFill>
              <a:latin typeface="Calibri"/>
              <a:ea typeface="Calibri"/>
              <a:cs typeface="Calibri"/>
              <a:sym typeface="Calibri"/>
            </a:endParaRPr>
          </a:p>
        </p:txBody>
      </p:sp>
      <p:sp>
        <p:nvSpPr>
          <p:cNvPr id="4283" name="Google Shape;4283;p1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84" name="Google Shape;4284;p1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89" name="Shape 4289"/>
        <p:cNvGrpSpPr/>
        <p:nvPr/>
      </p:nvGrpSpPr>
      <p:grpSpPr>
        <a:xfrm>
          <a:off x="0" y="0"/>
          <a:ext cx="0" cy="0"/>
          <a:chOff x="0" y="0"/>
          <a:chExt cx="0" cy="0"/>
        </a:xfrm>
      </p:grpSpPr>
      <p:sp>
        <p:nvSpPr>
          <p:cNvPr id="4290" name="Google Shape;4290;p16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WRAP-UP</a:t>
            </a:r>
            <a:endParaRPr b="0" i="0" sz="1200" u="none" cap="none" strike="noStrike">
              <a:solidFill>
                <a:schemeClr val="dk1"/>
              </a:solidFill>
              <a:latin typeface="Calibri"/>
              <a:ea typeface="Calibri"/>
              <a:cs typeface="Calibri"/>
              <a:sym typeface="Calibri"/>
            </a:endParaRPr>
          </a:p>
        </p:txBody>
      </p:sp>
      <p:sp>
        <p:nvSpPr>
          <p:cNvPr id="4292" name="Google Shape;4292;p164"/>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293" name="Google Shape;4293;p164"/>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4"/>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295" name="Google Shape;4295;p164"/>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Executive Order 9066 and Internment</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Constitutional Issues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Korematsu v. United States (1944)</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and Historical Lessons</a:t>
            </a:r>
            <a:endParaRPr b="0" i="0" sz="1500" u="none" cap="none" strike="noStrike">
              <a:solidFill>
                <a:schemeClr val="dk1"/>
              </a:solidFill>
              <a:latin typeface="Calibri"/>
              <a:ea typeface="Calibri"/>
              <a:cs typeface="Calibri"/>
              <a:sym typeface="Calibri"/>
            </a:endParaRPr>
          </a:p>
        </p:txBody>
      </p:sp>
      <p:sp>
        <p:nvSpPr>
          <p:cNvPr id="4296" name="Google Shape;4296;p164"/>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4"/>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298" name="Google Shape;4298;p164"/>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When, if ever, can national security justify limiting the rights of citizens? Defend your position with evidence. (SSP.04)</a:t>
            </a:r>
            <a:endParaRPr b="0" i="0" sz="1150" u="none" cap="none" strike="noStrike">
              <a:solidFill>
                <a:schemeClr val="dk1"/>
              </a:solidFill>
              <a:latin typeface="Calibri"/>
              <a:ea typeface="Calibri"/>
              <a:cs typeface="Calibri"/>
              <a:sym typeface="Calibri"/>
            </a:endParaRPr>
          </a:p>
        </p:txBody>
      </p:sp>
      <p:sp>
        <p:nvSpPr>
          <p:cNvPr id="4299" name="Google Shape;4299;p164"/>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4"/>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301" name="Google Shape;4301;p164"/>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4"/>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303" name="Google Shape;4303;p164"/>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internment of Japanese Americans and the constitutional issues it raised, including Korematsu v. United States.</a:t>
            </a:r>
            <a:endParaRPr b="0" i="0" sz="1350" u="none" cap="none" strike="noStrike">
              <a:solidFill>
                <a:schemeClr val="dk1"/>
              </a:solidFill>
              <a:latin typeface="Calibri"/>
              <a:ea typeface="Calibri"/>
              <a:cs typeface="Calibri"/>
              <a:sym typeface="Calibri"/>
            </a:endParaRPr>
          </a:p>
        </p:txBody>
      </p:sp>
      <p:cxnSp>
        <p:nvCxnSpPr>
          <p:cNvPr id="4304" name="Google Shape;4304;p164"/>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5" name="Google Shape;4305;p164"/>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6" name="Google Shape;4306;p164"/>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307" name="Google Shape;4307;p1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08" name="Google Shape;4308;p1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313" name="Shape 4313"/>
        <p:cNvGrpSpPr/>
        <p:nvPr/>
      </p:nvGrpSpPr>
      <p:grpSpPr>
        <a:xfrm>
          <a:off x="0" y="0"/>
          <a:ext cx="0" cy="0"/>
          <a:chOff x="0" y="0"/>
          <a:chExt cx="0" cy="0"/>
        </a:xfrm>
      </p:grpSpPr>
      <p:sp>
        <p:nvSpPr>
          <p:cNvPr id="4314" name="Google Shape;4314;p165"/>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65"/>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65"/>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317" name="Google Shape;4317;p165"/>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US.55</a:t>
            </a:r>
            <a:endParaRPr b="0" i="0" sz="8800" u="none" cap="none" strike="noStrike">
              <a:solidFill>
                <a:schemeClr val="dk1"/>
              </a:solidFill>
              <a:latin typeface="Calibri"/>
              <a:ea typeface="Calibri"/>
              <a:cs typeface="Calibri"/>
              <a:sym typeface="Calibri"/>
            </a:endParaRPr>
          </a:p>
        </p:txBody>
      </p:sp>
      <p:sp>
        <p:nvSpPr>
          <p:cNvPr id="4318" name="Google Shape;4318;p165"/>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Home Front Mobilization</a:t>
            </a:r>
            <a:endParaRPr b="0" i="0" sz="3000" u="none" cap="none" strike="noStrike">
              <a:solidFill>
                <a:schemeClr val="dk1"/>
              </a:solidFill>
              <a:latin typeface="Calibri"/>
              <a:ea typeface="Calibri"/>
              <a:cs typeface="Calibri"/>
              <a:sym typeface="Calibri"/>
            </a:endParaRPr>
          </a:p>
        </p:txBody>
      </p:sp>
      <p:sp>
        <p:nvSpPr>
          <p:cNvPr id="4319" name="Google Shape;4319;p165"/>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320" name="Google Shape;4320;p165"/>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65"/>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4322" name="Google Shape;4322;p165"/>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4323" name="Google Shape;4323;p165"/>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65"/>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325" name="Google Shape;4325;p165"/>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326" name="Google Shape;4326;p165"/>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65"/>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4328" name="Google Shape;4328;p165"/>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4329" name="Google Shape;4329;p165"/>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65"/>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331" name="Google Shape;4331;p165"/>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Describe the war's impact on the home front, including: rationing, bond drives, propaganda, movement to cities and industrial centers, Bracero program, conversion of factories for wartime production, location of prisoner of war camps in Tennessee.</a:t>
            </a:r>
            <a:endParaRPr b="0" i="0" sz="1150" u="none" cap="none" strike="noStrike">
              <a:solidFill>
                <a:schemeClr val="dk1"/>
              </a:solidFill>
              <a:latin typeface="Calibri"/>
              <a:ea typeface="Calibri"/>
              <a:cs typeface="Calibri"/>
              <a:sym typeface="Calibri"/>
            </a:endParaRPr>
          </a:p>
        </p:txBody>
      </p:sp>
      <p:sp>
        <p:nvSpPr>
          <p:cNvPr id="4332" name="Google Shape;4332;p165"/>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65"/>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334" name="Google Shape;4334;p165"/>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250" u="none" cap="none" strike="noStrike">
              <a:solidFill>
                <a:schemeClr val="dk1"/>
              </a:solidFill>
              <a:latin typeface="Calibri"/>
              <a:ea typeface="Calibri"/>
              <a:cs typeface="Calibri"/>
              <a:sym typeface="Calibri"/>
            </a:endParaRPr>
          </a:p>
        </p:txBody>
      </p:sp>
      <p:sp>
        <p:nvSpPr>
          <p:cNvPr id="4335" name="Google Shape;4335;p1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6" name="Google Shape;4336;p1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41" name="Shape 4341"/>
        <p:cNvGrpSpPr/>
        <p:nvPr/>
      </p:nvGrpSpPr>
      <p:grpSpPr>
        <a:xfrm>
          <a:off x="0" y="0"/>
          <a:ext cx="0" cy="0"/>
          <a:chOff x="0" y="0"/>
          <a:chExt cx="0" cy="0"/>
        </a:xfrm>
      </p:grpSpPr>
      <p:sp>
        <p:nvSpPr>
          <p:cNvPr id="4342" name="Google Shape;4342;p1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6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QUICK REVIEW</a:t>
            </a:r>
            <a:endParaRPr b="0" i="0" sz="1200" u="none" cap="none" strike="noStrike">
              <a:solidFill>
                <a:schemeClr val="dk1"/>
              </a:solidFill>
              <a:latin typeface="Calibri"/>
              <a:ea typeface="Calibri"/>
              <a:cs typeface="Calibri"/>
              <a:sym typeface="Calibri"/>
            </a:endParaRPr>
          </a:p>
        </p:txBody>
      </p:sp>
      <p:sp>
        <p:nvSpPr>
          <p:cNvPr id="4344" name="Google Shape;4344;p16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345" name="Google Shape;4345;p166"/>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346" name="Google Shape;4346;p166"/>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66"/>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66"/>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349" name="Google Shape;4349;p166"/>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Executive Order 9066 authorize?</a:t>
            </a:r>
            <a:endParaRPr b="0" i="0" sz="1350" u="none" cap="none" strike="noStrike">
              <a:solidFill>
                <a:schemeClr val="dk1"/>
              </a:solidFill>
              <a:latin typeface="Calibri"/>
              <a:ea typeface="Calibri"/>
              <a:cs typeface="Calibri"/>
              <a:sym typeface="Calibri"/>
            </a:endParaRPr>
          </a:p>
        </p:txBody>
      </p:sp>
      <p:sp>
        <p:nvSpPr>
          <p:cNvPr id="4350" name="Google Shape;4350;p166"/>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66"/>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66"/>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353" name="Google Shape;4353;p166"/>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the Supreme Court rule in Korematsu v. United States (1944)?</a:t>
            </a:r>
            <a:endParaRPr b="0" i="0" sz="1350" u="none" cap="none" strike="noStrike">
              <a:solidFill>
                <a:schemeClr val="dk1"/>
              </a:solidFill>
              <a:latin typeface="Calibri"/>
              <a:ea typeface="Calibri"/>
              <a:cs typeface="Calibri"/>
              <a:sym typeface="Calibri"/>
            </a:endParaRPr>
          </a:p>
        </p:txBody>
      </p:sp>
      <p:sp>
        <p:nvSpPr>
          <p:cNvPr id="4354" name="Google Shape;4354;p1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55" name="Google Shape;4355;p1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60" name="Shape 4360"/>
        <p:cNvGrpSpPr/>
        <p:nvPr/>
      </p:nvGrpSpPr>
      <p:grpSpPr>
        <a:xfrm>
          <a:off x="0" y="0"/>
          <a:ext cx="0" cy="0"/>
          <a:chOff x="0" y="0"/>
          <a:chExt cx="0" cy="0"/>
        </a:xfrm>
      </p:grpSpPr>
      <p:sp>
        <p:nvSpPr>
          <p:cNvPr id="4361" name="Google Shape;4361;p16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CONFIDENCE CHECK</a:t>
            </a:r>
            <a:endParaRPr b="0" i="0" sz="1200" u="none" cap="none" strike="noStrike">
              <a:solidFill>
                <a:schemeClr val="dk1"/>
              </a:solidFill>
              <a:latin typeface="Calibri"/>
              <a:ea typeface="Calibri"/>
              <a:cs typeface="Calibri"/>
              <a:sym typeface="Calibri"/>
            </a:endParaRPr>
          </a:p>
        </p:txBody>
      </p:sp>
      <p:sp>
        <p:nvSpPr>
          <p:cNvPr id="4363" name="Google Shape;4363;p167"/>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364" name="Google Shape;4364;p167"/>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67"/>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366" name="Google Shape;4366;p167"/>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67"/>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368" name="Google Shape;4368;p167"/>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369" name="Google Shape;4369;p167"/>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67"/>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way American civilians conserved resources for the war.</a:t>
            </a:r>
            <a:endParaRPr b="0" i="0" sz="2400" u="none" cap="none" strike="noStrike">
              <a:solidFill>
                <a:schemeClr val="dk1"/>
              </a:solidFill>
              <a:latin typeface="Calibri"/>
              <a:ea typeface="Calibri"/>
              <a:cs typeface="Calibri"/>
              <a:sym typeface="Calibri"/>
            </a:endParaRPr>
          </a:p>
        </p:txBody>
      </p:sp>
      <p:sp>
        <p:nvSpPr>
          <p:cNvPr id="4371" name="Google Shape;4371;p167"/>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67"/>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373" name="Google Shape;4373;p167"/>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Rationing (or victory gardens, scrap drives, or buying war bonds).</a:t>
            </a:r>
            <a:endParaRPr b="0" i="0" sz="1600" u="none" cap="none" strike="noStrike">
              <a:solidFill>
                <a:schemeClr val="dk1"/>
              </a:solidFill>
              <a:latin typeface="Calibri"/>
              <a:ea typeface="Calibri"/>
              <a:cs typeface="Calibri"/>
              <a:sym typeface="Calibri"/>
            </a:endParaRPr>
          </a:p>
        </p:txBody>
      </p:sp>
      <p:sp>
        <p:nvSpPr>
          <p:cNvPr id="4374" name="Google Shape;4374;p167"/>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67"/>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376" name="Google Shape;4376;p1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77" name="Google Shape;4377;p1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82" name="Shape 4382"/>
        <p:cNvGrpSpPr/>
        <p:nvPr/>
      </p:nvGrpSpPr>
      <p:grpSpPr>
        <a:xfrm>
          <a:off x="0" y="0"/>
          <a:ext cx="0" cy="0"/>
          <a:chOff x="0" y="0"/>
          <a:chExt cx="0" cy="0"/>
        </a:xfrm>
      </p:grpSpPr>
      <p:sp>
        <p:nvSpPr>
          <p:cNvPr id="4383" name="Google Shape;4383;p16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6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HOOK</a:t>
            </a:r>
            <a:endParaRPr b="0" i="0" sz="1200" u="none" cap="none" strike="noStrike">
              <a:solidFill>
                <a:schemeClr val="dk1"/>
              </a:solidFill>
              <a:latin typeface="Calibri"/>
              <a:ea typeface="Calibri"/>
              <a:cs typeface="Calibri"/>
              <a:sym typeface="Calibri"/>
            </a:endParaRPr>
          </a:p>
        </p:txBody>
      </p:sp>
      <p:sp>
        <p:nvSpPr>
          <p:cNvPr id="4385" name="Google Shape;4385;p168"/>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386" name="Google Shape;4386;p168"/>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68"/>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reached into every American kitchen and back yard: families rationed sugar and gas, bought war bonds, planted victory gardens, and turned car factories into tank factories almost overnight.</a:t>
            </a:r>
            <a:endParaRPr b="0" i="0" sz="2600" u="none" cap="none" strike="noStrike">
              <a:solidFill>
                <a:schemeClr val="dk1"/>
              </a:solidFill>
              <a:latin typeface="Calibri"/>
              <a:ea typeface="Calibri"/>
              <a:cs typeface="Calibri"/>
              <a:sym typeface="Calibri"/>
            </a:endParaRPr>
          </a:p>
        </p:txBody>
      </p:sp>
      <p:sp>
        <p:nvSpPr>
          <p:cNvPr id="4388" name="Google Shape;4388;p168"/>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68"/>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390" name="Google Shape;4390;p168"/>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68"/>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392" name="Google Shape;4392;p168"/>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a war fought on other continents transform daily life for ordinary Americans on the home front?</a:t>
            </a:r>
            <a:endParaRPr b="0" i="0" sz="1600" u="none" cap="none" strike="noStrike">
              <a:solidFill>
                <a:schemeClr val="dk1"/>
              </a:solidFill>
              <a:latin typeface="Calibri"/>
              <a:ea typeface="Calibri"/>
              <a:cs typeface="Calibri"/>
              <a:sym typeface="Calibri"/>
            </a:endParaRPr>
          </a:p>
        </p:txBody>
      </p:sp>
      <p:sp>
        <p:nvSpPr>
          <p:cNvPr id="4393" name="Google Shape;4393;p1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94" name="Google Shape;4394;p1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99" name="Shape 4399"/>
        <p:cNvGrpSpPr/>
        <p:nvPr/>
      </p:nvGrpSpPr>
      <p:grpSpPr>
        <a:xfrm>
          <a:off x="0" y="0"/>
          <a:ext cx="0" cy="0"/>
          <a:chOff x="0" y="0"/>
          <a:chExt cx="0" cy="0"/>
        </a:xfrm>
      </p:grpSpPr>
      <p:sp>
        <p:nvSpPr>
          <p:cNvPr id="4400" name="Google Shape;4400;p16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02" name="Google Shape;4402;p16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Rationing and Conservation</a:t>
            </a:r>
            <a:endParaRPr b="0" i="0" sz="3000" u="none" cap="none" strike="noStrike">
              <a:solidFill>
                <a:schemeClr val="dk1"/>
              </a:solidFill>
              <a:latin typeface="Calibri"/>
              <a:ea typeface="Calibri"/>
              <a:cs typeface="Calibri"/>
              <a:sym typeface="Calibri"/>
            </a:endParaRPr>
          </a:p>
        </p:txBody>
      </p:sp>
      <p:sp>
        <p:nvSpPr>
          <p:cNvPr id="4403" name="Google Shape;4403;p169"/>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6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6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6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6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408" name="Google Shape;4408;p16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69"/>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Ration books with coupons controlled civilian access to gasoline, tires, sugar, meat, coffee, and other commodities.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ensured military supplies while distributing scarce goods fairly.</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Victory gardens encouraged citizens to grow their own vegetables, while scrap drives collected metal, rubber, and other materials.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programs fostered civilian investment in the war effort and created shared sacrifice that built national unity.</a:t>
            </a:r>
            <a:endParaRPr b="0" i="0" sz="1550" u="none" cap="none" strike="noStrike">
              <a:solidFill>
                <a:schemeClr val="dk1"/>
              </a:solidFill>
              <a:latin typeface="Calibri"/>
              <a:ea typeface="Calibri"/>
              <a:cs typeface="Calibri"/>
              <a:sym typeface="Calibri"/>
            </a:endParaRPr>
          </a:p>
        </p:txBody>
      </p:sp>
      <p:sp>
        <p:nvSpPr>
          <p:cNvPr id="4410" name="Google Shape;4410;p169"/>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69"/>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412" name="Google Shape;4412;p169"/>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On the home front, Americans supported the war by ________, ________, and ________.</a:t>
            </a:r>
            <a:endParaRPr b="0" i="0" sz="1050" u="none" cap="none" strike="noStrike">
              <a:solidFill>
                <a:schemeClr val="dk1"/>
              </a:solidFill>
              <a:latin typeface="Calibri"/>
              <a:ea typeface="Calibri"/>
              <a:cs typeface="Calibri"/>
              <a:sym typeface="Calibri"/>
            </a:endParaRPr>
          </a:p>
        </p:txBody>
      </p:sp>
      <p:sp>
        <p:nvSpPr>
          <p:cNvPr id="4413" name="Google Shape;4413;p169"/>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victory-garden-home-front-1943.jpg" id="4414" name="Google Shape;4414;p169"/>
          <p:cNvPicPr preferRelativeResize="0"/>
          <p:nvPr/>
        </p:nvPicPr>
        <p:blipFill rotWithShape="1">
          <a:blip r:embed="rId3">
            <a:alphaModFix/>
          </a:blip>
          <a:srcRect b="0" l="0" r="0" t="0"/>
          <a:stretch/>
        </p:blipFill>
        <p:spPr>
          <a:xfrm>
            <a:off x="8243334" y="1783080"/>
            <a:ext cx="2761452" cy="2862072"/>
          </a:xfrm>
          <a:prstGeom prst="rect">
            <a:avLst/>
          </a:prstGeom>
          <a:noFill/>
          <a:ln>
            <a:noFill/>
          </a:ln>
        </p:spPr>
      </p:pic>
      <p:sp>
        <p:nvSpPr>
          <p:cNvPr id="4415" name="Google Shape;4415;p169"/>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Marjory Collins / U.S. OWI, June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4416" name="Google Shape;4416;p169"/>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69"/>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418" name="Google Shape;4418;p1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19" name="Google Shape;4419;p1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24" name="Shape 4424"/>
        <p:cNvGrpSpPr/>
        <p:nvPr/>
      </p:nvGrpSpPr>
      <p:grpSpPr>
        <a:xfrm>
          <a:off x="0" y="0"/>
          <a:ext cx="0" cy="0"/>
          <a:chOff x="0" y="0"/>
          <a:chExt cx="0" cy="0"/>
        </a:xfrm>
      </p:grpSpPr>
      <p:sp>
        <p:nvSpPr>
          <p:cNvPr id="4425" name="Google Shape;4425;p17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27" name="Google Shape;4427;p17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 Bonds and Propaganda</a:t>
            </a:r>
            <a:endParaRPr b="0" i="0" sz="3000" u="none" cap="none" strike="noStrike">
              <a:solidFill>
                <a:schemeClr val="dk1"/>
              </a:solidFill>
              <a:latin typeface="Calibri"/>
              <a:ea typeface="Calibri"/>
              <a:cs typeface="Calibri"/>
              <a:sym typeface="Calibri"/>
            </a:endParaRPr>
          </a:p>
        </p:txBody>
      </p:sp>
      <p:sp>
        <p:nvSpPr>
          <p:cNvPr id="4428" name="Google Shape;4428;p17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70"/>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433" name="Google Shape;4433;p17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Liberty and Victory bonds financed the war while giving civilians a direct stake in victory.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Bond drives featured celebrities and patriotic appeals, raising billions of dollars.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Office of War Information coordinated propaganda through films, posters, and radio, boosting morale and labor recruitment.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Propaganda portrayed the enemy as evil while celebrating American values and workers' contributions.</a:t>
            </a:r>
            <a:endParaRPr b="0" i="0" sz="1700" u="none" cap="none" strike="noStrike">
              <a:solidFill>
                <a:schemeClr val="dk1"/>
              </a:solidFill>
              <a:latin typeface="Calibri"/>
              <a:ea typeface="Calibri"/>
              <a:cs typeface="Calibri"/>
              <a:sym typeface="Calibri"/>
            </a:endParaRPr>
          </a:p>
        </p:txBody>
      </p:sp>
      <p:sp>
        <p:nvSpPr>
          <p:cNvPr id="4435" name="Google Shape;4435;p1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6" name="Google Shape;4436;p1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41" name="Shape 4441"/>
        <p:cNvGrpSpPr/>
        <p:nvPr/>
      </p:nvGrpSpPr>
      <p:grpSpPr>
        <a:xfrm>
          <a:off x="0" y="0"/>
          <a:ext cx="0" cy="0"/>
          <a:chOff x="0" y="0"/>
          <a:chExt cx="0" cy="0"/>
        </a:xfrm>
      </p:grpSpPr>
      <p:sp>
        <p:nvSpPr>
          <p:cNvPr id="4442" name="Google Shape;4442;p17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44" name="Google Shape;4444;p17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Migration, Factory Conversion, and Bracero Program</a:t>
            </a:r>
            <a:endParaRPr b="0" i="0" sz="3000" u="none" cap="none" strike="noStrike">
              <a:solidFill>
                <a:schemeClr val="dk1"/>
              </a:solidFill>
              <a:latin typeface="Calibri"/>
              <a:ea typeface="Calibri"/>
              <a:cs typeface="Calibri"/>
              <a:sym typeface="Calibri"/>
            </a:endParaRPr>
          </a:p>
        </p:txBody>
      </p:sp>
      <p:sp>
        <p:nvSpPr>
          <p:cNvPr id="4445" name="Google Shape;4445;p17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1"/>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450" name="Google Shape;4450;p17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Millions migrated to defense industry centers, creating housing shortages and demographic shifts that reshaped American cities.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Auto plants converted to tank and aircraft factories through rapid retooling that enabled massive production increases.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Bracero Program (1942) brought contract labor from Mexico to fill agricultural shortages, providing economic benefits while creating exploitation issues that would persist for decades.</a:t>
            </a:r>
            <a:endParaRPr b="0" i="0" sz="1700" u="none" cap="none" strike="noStrike">
              <a:solidFill>
                <a:schemeClr val="dk1"/>
              </a:solidFill>
              <a:latin typeface="Calibri"/>
              <a:ea typeface="Calibri"/>
              <a:cs typeface="Calibri"/>
              <a:sym typeface="Calibri"/>
            </a:endParaRPr>
          </a:p>
        </p:txBody>
      </p:sp>
      <p:sp>
        <p:nvSpPr>
          <p:cNvPr id="4452" name="Google Shape;4452;p1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53" name="Google Shape;4453;p1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58" name="Shape 4458"/>
        <p:cNvGrpSpPr/>
        <p:nvPr/>
      </p:nvGrpSpPr>
      <p:grpSpPr>
        <a:xfrm>
          <a:off x="0" y="0"/>
          <a:ext cx="0" cy="0"/>
          <a:chOff x="0" y="0"/>
          <a:chExt cx="0" cy="0"/>
        </a:xfrm>
      </p:grpSpPr>
      <p:sp>
        <p:nvSpPr>
          <p:cNvPr id="4459" name="Google Shape;4459;p1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61" name="Google Shape;4461;p1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Tennessee's Wartime Role</a:t>
            </a:r>
            <a:endParaRPr b="0" i="0" sz="3000" u="none" cap="none" strike="noStrike">
              <a:solidFill>
                <a:schemeClr val="dk1"/>
              </a:solidFill>
              <a:latin typeface="Calibri"/>
              <a:ea typeface="Calibri"/>
              <a:cs typeface="Calibri"/>
              <a:sym typeface="Calibri"/>
            </a:endParaRPr>
          </a:p>
        </p:txBody>
      </p:sp>
      <p:sp>
        <p:nvSpPr>
          <p:cNvPr id="4462" name="Google Shape;4462;p17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2"/>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467" name="Google Shape;4467;p172"/>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2"/>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Tennessee hosted significant wartime facilities including POW camps that housed Axis prisoners, providing labor for local agriculture and industry.</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Camp Forrest and other installations trained troops and processed prisoners.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Most significantly, Oak Ridge was secretly built to enrich uranium for the Manhattan Project, making Tennessee crucial to developing the atomic bomb.</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These facilities transformed Tennessee's economy and population.</a:t>
            </a:r>
            <a:endParaRPr b="0" i="0" sz="1450" u="none" cap="none" strike="noStrike">
              <a:solidFill>
                <a:schemeClr val="dk1"/>
              </a:solidFill>
              <a:latin typeface="Calibri"/>
              <a:ea typeface="Calibri"/>
              <a:cs typeface="Calibri"/>
              <a:sym typeface="Calibri"/>
            </a:endParaRPr>
          </a:p>
        </p:txBody>
      </p:sp>
      <p:sp>
        <p:nvSpPr>
          <p:cNvPr id="4469" name="Google Shape;4469;p172"/>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2"/>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471" name="Google Shape;4471;p172"/>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Tennessee played a major home-front role in World War II. The state hosted large training installations such as Camp Forrest and prisoner-of-war camps that held Axis prisoners, whose labor supported local agriculture and industry, tying communities across Tennessee directly to the war effort.</a:t>
            </a:r>
            <a:endParaRPr b="0" i="0" sz="1300" u="none" cap="none" strike="noStrike">
              <a:solidFill>
                <a:schemeClr val="dk1"/>
              </a:solidFill>
              <a:latin typeface="Calibri"/>
              <a:ea typeface="Calibri"/>
              <a:cs typeface="Calibri"/>
              <a:sym typeface="Calibri"/>
            </a:endParaRPr>
          </a:p>
        </p:txBody>
      </p:sp>
      <p:sp>
        <p:nvSpPr>
          <p:cNvPr id="4472" name="Google Shape;4472;p1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73" name="Google Shape;4473;p1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78" name="Shape 4478"/>
        <p:cNvGrpSpPr/>
        <p:nvPr/>
      </p:nvGrpSpPr>
      <p:grpSpPr>
        <a:xfrm>
          <a:off x="0" y="0"/>
          <a:ext cx="0" cy="0"/>
          <a:chOff x="0" y="0"/>
          <a:chExt cx="0" cy="0"/>
        </a:xfrm>
      </p:grpSpPr>
      <p:sp>
        <p:nvSpPr>
          <p:cNvPr id="4479" name="Google Shape;4479;p17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PEOPLE WHO SHAPED THE ERA</a:t>
            </a:r>
            <a:endParaRPr b="0" i="0" sz="1200" u="none" cap="none" strike="noStrike">
              <a:solidFill>
                <a:schemeClr val="dk1"/>
              </a:solidFill>
              <a:latin typeface="Calibri"/>
              <a:ea typeface="Calibri"/>
              <a:cs typeface="Calibri"/>
              <a:sym typeface="Calibri"/>
            </a:endParaRPr>
          </a:p>
        </p:txBody>
      </p:sp>
      <p:sp>
        <p:nvSpPr>
          <p:cNvPr id="4481" name="Google Shape;4481;p17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482" name="Google Shape;4482;p173"/>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3"/>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3"/>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The American Home Front</a:t>
            </a:r>
            <a:endParaRPr b="0" i="0" sz="1800" u="none" cap="none" strike="noStrike">
              <a:solidFill>
                <a:schemeClr val="dk1"/>
              </a:solidFill>
              <a:latin typeface="Calibri"/>
              <a:ea typeface="Calibri"/>
              <a:cs typeface="Calibri"/>
              <a:sym typeface="Calibri"/>
            </a:endParaRPr>
          </a:p>
        </p:txBody>
      </p:sp>
      <p:sp>
        <p:nvSpPr>
          <p:cNvPr id="4485" name="Google Shape;4485;p173"/>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Civilians, 1941-1945</a:t>
            </a:r>
            <a:endParaRPr b="0" i="0" sz="1100" u="none" cap="none" strike="noStrike">
              <a:solidFill>
                <a:schemeClr val="dk1"/>
              </a:solidFill>
              <a:latin typeface="Calibri"/>
              <a:ea typeface="Calibri"/>
              <a:cs typeface="Calibri"/>
              <a:sym typeface="Calibri"/>
            </a:endParaRPr>
          </a:p>
        </p:txBody>
      </p:sp>
      <p:sp>
        <p:nvSpPr>
          <p:cNvPr id="4486" name="Google Shape;4486;p173"/>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Accepted rationing of gas, sugar, meat, and rubber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Bought war bonds and planted victory gardens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Moved to boomtowns for defense work</a:t>
            </a:r>
            <a:endParaRPr b="0" i="0" sz="1300" u="none" cap="none" strike="noStrike">
              <a:solidFill>
                <a:schemeClr val="dk1"/>
              </a:solidFill>
              <a:latin typeface="Calibri"/>
              <a:ea typeface="Calibri"/>
              <a:cs typeface="Calibri"/>
              <a:sym typeface="Calibri"/>
            </a:endParaRPr>
          </a:p>
        </p:txBody>
      </p:sp>
      <p:sp>
        <p:nvSpPr>
          <p:cNvPr id="4487" name="Google Shape;4487;p173"/>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3"/>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Keep the home front concrete: one ration book, one victory garden, one defense paycheck.</a:t>
            </a:r>
            <a:endParaRPr b="0" i="0" sz="800" u="none" cap="none" strike="noStrike">
              <a:solidFill>
                <a:schemeClr val="dk1"/>
              </a:solidFill>
              <a:latin typeface="Calibri"/>
              <a:ea typeface="Calibri"/>
              <a:cs typeface="Calibri"/>
              <a:sym typeface="Calibri"/>
            </a:endParaRPr>
          </a:p>
        </p:txBody>
      </p:sp>
      <p:sp>
        <p:nvSpPr>
          <p:cNvPr id="4489" name="Google Shape;4489;p1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90" name="Google Shape;4490;p1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95" name="Shape 4495"/>
        <p:cNvGrpSpPr/>
        <p:nvPr/>
      </p:nvGrpSpPr>
      <p:grpSpPr>
        <a:xfrm>
          <a:off x="0" y="0"/>
          <a:ext cx="0" cy="0"/>
          <a:chOff x="0" y="0"/>
          <a:chExt cx="0" cy="0"/>
        </a:xfrm>
      </p:grpSpPr>
      <p:sp>
        <p:nvSpPr>
          <p:cNvPr id="4496" name="Google Shape;4496;p174"/>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US.55 · PRIMARY SOURCE ANALYSIS</a:t>
            </a:r>
            <a:endParaRPr b="0" i="0" sz="1200" u="none" cap="none" strike="noStrike">
              <a:solidFill>
                <a:schemeClr val="dk1"/>
              </a:solidFill>
              <a:latin typeface="Calibri"/>
              <a:ea typeface="Calibri"/>
              <a:cs typeface="Calibri"/>
              <a:sym typeface="Calibri"/>
            </a:endParaRPr>
          </a:p>
        </p:txBody>
      </p:sp>
      <p:sp>
        <p:nvSpPr>
          <p:cNvPr id="4498" name="Google Shape;4498;p174"/>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Ration Book Instructions</a:t>
            </a:r>
            <a:endParaRPr b="0" i="0" sz="2500" u="none" cap="none" strike="noStrike">
              <a:solidFill>
                <a:schemeClr val="dk1"/>
              </a:solidFill>
              <a:latin typeface="Calibri"/>
              <a:ea typeface="Calibri"/>
              <a:cs typeface="Calibri"/>
              <a:sym typeface="Calibri"/>
            </a:endParaRPr>
          </a:p>
        </p:txBody>
      </p:sp>
      <p:sp>
        <p:nvSpPr>
          <p:cNvPr id="4499" name="Google Shape;4499;p174"/>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4"/>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Sourcing</a:t>
            </a:r>
            <a:endParaRPr b="0" i="0" sz="1200" u="none" cap="none" strike="noStrike">
              <a:solidFill>
                <a:schemeClr val="dk1"/>
              </a:solidFill>
              <a:latin typeface="Calibri"/>
              <a:ea typeface="Calibri"/>
              <a:cs typeface="Calibri"/>
              <a:sym typeface="Calibri"/>
            </a:endParaRPr>
          </a:p>
        </p:txBody>
      </p:sp>
      <p:sp>
        <p:nvSpPr>
          <p:cNvPr id="4501" name="Google Shape;4501;p174"/>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Office of Price Administration  ·  1943</a:t>
            </a:r>
            <a:endParaRPr b="0" i="0" sz="1200" u="none" cap="none" strike="noStrike">
              <a:solidFill>
                <a:schemeClr val="dk1"/>
              </a:solidFill>
              <a:latin typeface="Calibri"/>
              <a:ea typeface="Calibri"/>
              <a:cs typeface="Calibri"/>
              <a:sym typeface="Calibri"/>
            </a:endParaRPr>
          </a:p>
        </p:txBody>
      </p:sp>
      <p:sp>
        <p:nvSpPr>
          <p:cNvPr id="4502" name="Google Shape;4502;p174"/>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4"/>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4"/>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400" u="none" cap="none" strike="noStrike">
              <a:solidFill>
                <a:schemeClr val="dk1"/>
              </a:solidFill>
              <a:latin typeface="Calibri"/>
              <a:ea typeface="Calibri"/>
              <a:cs typeface="Calibri"/>
              <a:sym typeface="Calibri"/>
            </a:endParaRPr>
          </a:p>
        </p:txBody>
      </p:sp>
      <p:sp>
        <p:nvSpPr>
          <p:cNvPr id="4505" name="Google Shape;4505;p174"/>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4"/>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507" name="Google Shape;4507;p174"/>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4"/>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509" name="Google Shape;4509;p174"/>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During World War II, the U.S. government managed shortages of everyday goods by introducing rationing. Items like meat, butter, sugar, gasoline, and rubber were in short supply because they were needed for the war effort. The Office of Price Administration issued ration books to ensure that every American family received a fair share, and it became a symbol of the home front sacrifice that civilians were asked to make.</a:t>
            </a:r>
            <a:endParaRPr b="0" i="0" sz="1050" u="none" cap="none" strike="noStrike">
              <a:solidFill>
                <a:schemeClr val="dk1"/>
              </a:solidFill>
              <a:latin typeface="Calibri"/>
              <a:ea typeface="Calibri"/>
              <a:cs typeface="Calibri"/>
              <a:sym typeface="Calibri"/>
            </a:endParaRPr>
          </a:p>
        </p:txBody>
      </p:sp>
      <p:sp>
        <p:nvSpPr>
          <p:cNvPr id="4510" name="Google Shape;4510;p174"/>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4"/>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512" name="Google Shape;4512;p174"/>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document, why did the government implement rationing?</a:t>
            </a:r>
            <a:endParaRPr b="0" i="0" sz="1250" u="none" cap="none" strike="noStrike">
              <a:solidFill>
                <a:schemeClr val="dk1"/>
              </a:solidFill>
              <a:latin typeface="Calibri"/>
              <a:ea typeface="Calibri"/>
              <a:cs typeface="Calibri"/>
              <a:sym typeface="Calibri"/>
            </a:endParaRPr>
          </a:p>
        </p:txBody>
      </p:sp>
      <p:sp>
        <p:nvSpPr>
          <p:cNvPr id="4513" name="Google Shape;4513;p174"/>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4"/>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4"/>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516" name="Google Shape;4516;p174"/>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517" name="Google Shape;4517;p174"/>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518" name="Google Shape;4518;p174"/>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519" name="Google Shape;4519;p174"/>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Office of Price Administration</a:t>
            </a:r>
            <a:endParaRPr b="0" i="0" sz="950" u="none" cap="none" strike="noStrike">
              <a:solidFill>
                <a:schemeClr val="dk1"/>
              </a:solidFill>
              <a:latin typeface="Calibri"/>
              <a:ea typeface="Calibri"/>
              <a:cs typeface="Calibri"/>
              <a:sym typeface="Calibri"/>
            </a:endParaRPr>
          </a:p>
        </p:txBody>
      </p:sp>
      <p:sp>
        <p:nvSpPr>
          <p:cNvPr id="4520" name="Google Shape;4520;p174"/>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521" name="Google Shape;4521;p174"/>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4522" name="Google Shape;4522;p174"/>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523" name="Google Shape;4523;p174"/>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524" name="Google Shape;4524;p174"/>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525" name="Google Shape;4525;p1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26" name="Google Shape;4526;p1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1" name="Shape 4531"/>
        <p:cNvGrpSpPr/>
        <p:nvPr/>
      </p:nvGrpSpPr>
      <p:grpSpPr>
        <a:xfrm>
          <a:off x="0" y="0"/>
          <a:ext cx="0" cy="0"/>
          <a:chOff x="0" y="0"/>
          <a:chExt cx="0" cy="0"/>
        </a:xfrm>
      </p:grpSpPr>
      <p:sp>
        <p:nvSpPr>
          <p:cNvPr id="4532" name="Google Shape;4532;p1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KEY VOCABULARY</a:t>
            </a:r>
            <a:endParaRPr b="0" i="0" sz="1200" u="none" cap="none" strike="noStrike">
              <a:solidFill>
                <a:schemeClr val="dk1"/>
              </a:solidFill>
              <a:latin typeface="Calibri"/>
              <a:ea typeface="Calibri"/>
              <a:cs typeface="Calibri"/>
              <a:sym typeface="Calibri"/>
            </a:endParaRPr>
          </a:p>
        </p:txBody>
      </p:sp>
      <p:sp>
        <p:nvSpPr>
          <p:cNvPr id="4534" name="Google Shape;4534;p17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535" name="Google Shape;4535;p175"/>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75"/>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75"/>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4538" name="Google Shape;4538;p175"/>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4539" name="Google Shape;4539;p175"/>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4540" name="Google Shape;4540;p175"/>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175"/>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4542" name="Google Shape;4542;p175"/>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4543" name="Google Shape;4543;p175"/>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75"/>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75"/>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4546" name="Google Shape;4546;p175"/>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4547" name="Google Shape;4547;p175"/>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4548" name="Google Shape;4548;p175"/>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175"/>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4550" name="Google Shape;4550;p175"/>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4551" name="Google Shape;4551;p175"/>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75"/>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75"/>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4554" name="Google Shape;4554;p175"/>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4555" name="Google Shape;4555;p175"/>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4556" name="Google Shape;4556;p175"/>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7" name="Google Shape;4557;p175"/>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4558" name="Google Shape;4558;p175"/>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4559" name="Google Shape;4559;p175"/>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75"/>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75"/>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562" name="Google Shape;4562;p175"/>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563" name="Google Shape;4563;p175"/>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564" name="Google Shape;4564;p175"/>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5" name="Google Shape;4565;p175"/>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MP</a:t>
            </a:r>
            <a:endParaRPr b="0" i="0" sz="1300" u="none" cap="none" strike="noStrike">
              <a:solidFill>
                <a:schemeClr val="dk1"/>
              </a:solidFill>
              <a:latin typeface="Calibri"/>
              <a:ea typeface="Calibri"/>
              <a:cs typeface="Calibri"/>
              <a:sym typeface="Calibri"/>
            </a:endParaRPr>
          </a:p>
        </p:txBody>
      </p:sp>
      <p:sp>
        <p:nvSpPr>
          <p:cNvPr id="4566" name="Google Shape;4566;p175"/>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567" name="Google Shape;4567;p175"/>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75"/>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75"/>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570" name="Google Shape;4570;p175"/>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571" name="Google Shape;4571;p175"/>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572" name="Google Shape;4572;p175"/>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175"/>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4574" name="Google Shape;4574;p175"/>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575" name="Google Shape;4575;p175"/>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75"/>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75"/>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4578" name="Google Shape;4578;p175"/>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579" name="Google Shape;4579;p175"/>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4580" name="Google Shape;4580;p175"/>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1" name="Google Shape;4581;p175"/>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4582" name="Google Shape;4582;p175"/>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4583" name="Google Shape;4583;p175"/>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584" name="Google Shape;4584;p1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85" name="Google Shape;4585;p1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90" name="Shape 4590"/>
        <p:cNvGrpSpPr/>
        <p:nvPr/>
      </p:nvGrpSpPr>
      <p:grpSpPr>
        <a:xfrm>
          <a:off x="0" y="0"/>
          <a:ext cx="0" cy="0"/>
          <a:chOff x="0" y="0"/>
          <a:chExt cx="0" cy="0"/>
        </a:xfrm>
      </p:grpSpPr>
      <p:sp>
        <p:nvSpPr>
          <p:cNvPr id="4591" name="Google Shape;4591;p17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GUIDED PRACTICE — WE DO IT TOGETHER</a:t>
            </a:r>
            <a:endParaRPr b="0" i="0" sz="1200" u="none" cap="none" strike="noStrike">
              <a:solidFill>
                <a:schemeClr val="dk1"/>
              </a:solidFill>
              <a:latin typeface="Calibri"/>
              <a:ea typeface="Calibri"/>
              <a:cs typeface="Calibri"/>
              <a:sym typeface="Calibri"/>
            </a:endParaRPr>
          </a:p>
        </p:txBody>
      </p:sp>
      <p:sp>
        <p:nvSpPr>
          <p:cNvPr id="4593" name="Google Shape;4593;p176"/>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594" name="Google Shape;4594;p176"/>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7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home-front mobilization</a:t>
            </a:r>
            <a:endParaRPr b="0" i="0" sz="1100" u="none" cap="none" strike="noStrike">
              <a:solidFill>
                <a:schemeClr val="dk1"/>
              </a:solidFill>
              <a:latin typeface="Calibri"/>
              <a:ea typeface="Calibri"/>
              <a:cs typeface="Calibri"/>
              <a:sym typeface="Calibri"/>
            </a:endParaRPr>
          </a:p>
        </p:txBody>
      </p:sp>
      <p:sp>
        <p:nvSpPr>
          <p:cNvPr id="4596" name="Google Shape;4596;p176"/>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76"/>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ordinary civilians help win the war?</a:t>
            </a:r>
            <a:endParaRPr b="0" i="0" sz="1500" u="none" cap="none" strike="noStrike">
              <a:solidFill>
                <a:schemeClr val="dk1"/>
              </a:solidFill>
              <a:latin typeface="Calibri"/>
              <a:ea typeface="Calibri"/>
              <a:cs typeface="Calibri"/>
              <a:sym typeface="Calibri"/>
            </a:endParaRPr>
          </a:p>
        </p:txBody>
      </p:sp>
      <p:sp>
        <p:nvSpPr>
          <p:cNvPr id="4598" name="Google Shape;4598;p176"/>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76"/>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600" name="Google Shape;4600;p176"/>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Rationing freed supplies for the military, war bonds funded the effort, and victory gardens eased shortages. Small daily choices scaled up to national power.</a:t>
            </a:r>
            <a:endParaRPr b="0" i="0" sz="1450" u="none" cap="none" strike="noStrike">
              <a:solidFill>
                <a:schemeClr val="dk1"/>
              </a:solidFill>
              <a:latin typeface="Calibri"/>
              <a:ea typeface="Calibri"/>
              <a:cs typeface="Calibri"/>
              <a:sym typeface="Calibri"/>
            </a:endParaRPr>
          </a:p>
        </p:txBody>
      </p:sp>
      <p:sp>
        <p:nvSpPr>
          <p:cNvPr id="4601" name="Google Shape;4601;p176"/>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76"/>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603" name="Google Shape;4603;p176"/>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three specific home-front sacrifices from the section.</a:t>
            </a:r>
            <a:endParaRPr b="0" i="0" sz="1300" u="none" cap="none" strike="noStrike">
              <a:solidFill>
                <a:schemeClr val="dk1"/>
              </a:solidFill>
              <a:latin typeface="Calibri"/>
              <a:ea typeface="Calibri"/>
              <a:cs typeface="Calibri"/>
              <a:sym typeface="Calibri"/>
            </a:endParaRPr>
          </a:p>
        </p:txBody>
      </p:sp>
      <p:sp>
        <p:nvSpPr>
          <p:cNvPr id="4604" name="Google Shape;4604;p176"/>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Rank them by impact and defend your top choice with evidence.</a:t>
            </a:r>
            <a:endParaRPr b="0" i="0" sz="1200" u="none" cap="none" strike="noStrike">
              <a:solidFill>
                <a:schemeClr val="dk1"/>
              </a:solidFill>
              <a:latin typeface="Calibri"/>
              <a:ea typeface="Calibri"/>
              <a:cs typeface="Calibri"/>
              <a:sym typeface="Calibri"/>
            </a:endParaRPr>
          </a:p>
        </p:txBody>
      </p:sp>
      <p:sp>
        <p:nvSpPr>
          <p:cNvPr id="4605" name="Google Shape;4605;p1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06" name="Google Shape;4606;p1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611" name="Shape 4611"/>
        <p:cNvGrpSpPr/>
        <p:nvPr/>
      </p:nvGrpSpPr>
      <p:grpSpPr>
        <a:xfrm>
          <a:off x="0" y="0"/>
          <a:ext cx="0" cy="0"/>
          <a:chOff x="0" y="0"/>
          <a:chExt cx="0" cy="0"/>
        </a:xfrm>
      </p:grpSpPr>
      <p:sp>
        <p:nvSpPr>
          <p:cNvPr id="4612" name="Google Shape;4612;p17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STUDENT ACTIVITY</a:t>
            </a:r>
            <a:endParaRPr b="0" i="0" sz="1200" u="none" cap="none" strike="noStrike">
              <a:solidFill>
                <a:schemeClr val="dk1"/>
              </a:solidFill>
              <a:latin typeface="Calibri"/>
              <a:ea typeface="Calibri"/>
              <a:cs typeface="Calibri"/>
              <a:sym typeface="Calibri"/>
            </a:endParaRPr>
          </a:p>
        </p:txBody>
      </p:sp>
      <p:sp>
        <p:nvSpPr>
          <p:cNvPr id="4614" name="Google Shape;4614;p177"/>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Everyone Serves — Mobilizing the Home Front</a:t>
            </a:r>
            <a:endParaRPr b="0" i="0" sz="2400" u="none" cap="none" strike="noStrike">
              <a:solidFill>
                <a:schemeClr val="dk1"/>
              </a:solidFill>
              <a:latin typeface="Calibri"/>
              <a:ea typeface="Calibri"/>
              <a:cs typeface="Calibri"/>
              <a:sym typeface="Calibri"/>
            </a:endParaRPr>
          </a:p>
        </p:txBody>
      </p:sp>
      <p:sp>
        <p:nvSpPr>
          <p:cNvPr id="4615" name="Google Shape;4615;p177"/>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77"/>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617" name="Google Shape;4617;p177"/>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77"/>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9" name="Google Shape;4619;p177"/>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77"/>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21" name="Google Shape;4621;p177"/>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War Ration Book and the victory-garden photograph. Build a chart of home-front mobilization covering rationing and conservation, war bonds and propaganda, migration and factory conversion and the Bracero program, and Tennessee's wartime role (including POW camps). Write one sentence on how each helped the war effort. Finish with a one-sentence claim on how the war reached into the daily lives of ordinary Americans, with evidence.</a:t>
            </a:r>
            <a:endParaRPr b="0" i="0" sz="1350" u="none" cap="none" strike="noStrike">
              <a:solidFill>
                <a:schemeClr val="dk1"/>
              </a:solidFill>
              <a:latin typeface="Calibri"/>
              <a:ea typeface="Calibri"/>
              <a:cs typeface="Calibri"/>
              <a:sym typeface="Calibri"/>
            </a:endParaRPr>
          </a:p>
        </p:txBody>
      </p:sp>
      <p:sp>
        <p:nvSpPr>
          <p:cNvPr id="4622" name="Google Shape;4622;p177"/>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77"/>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24" name="Google Shape;4624;p177"/>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home-front chart (one-sentence contribution each) AND a one-sentence evidence-based claim about the war's reach into daily life.</a:t>
            </a:r>
            <a:endParaRPr b="0" i="0" sz="1050" u="none" cap="none" strike="noStrike">
              <a:solidFill>
                <a:schemeClr val="dk1"/>
              </a:solidFill>
              <a:latin typeface="Calibri"/>
              <a:ea typeface="Calibri"/>
              <a:cs typeface="Calibri"/>
              <a:sym typeface="Calibri"/>
            </a:endParaRPr>
          </a:p>
        </p:txBody>
      </p:sp>
      <p:sp>
        <p:nvSpPr>
          <p:cNvPr id="4625" name="Google Shape;4625;p177"/>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77"/>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27" name="Google Shape;4627;p177"/>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mobilization categories pre-labeled and a word bank to sort. Honors: Write a paragraph using the ration book and victory-garden image to explain how the government turned civilians into active participants in the war.</a:t>
            </a:r>
            <a:endParaRPr b="0" i="0" sz="1000" u="none" cap="none" strike="noStrike">
              <a:solidFill>
                <a:schemeClr val="dk1"/>
              </a:solidFill>
              <a:latin typeface="Calibri"/>
              <a:ea typeface="Calibri"/>
              <a:cs typeface="Calibri"/>
              <a:sym typeface="Calibri"/>
            </a:endParaRPr>
          </a:p>
        </p:txBody>
      </p:sp>
      <p:sp>
        <p:nvSpPr>
          <p:cNvPr id="4628" name="Google Shape;4628;p177"/>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cornell-notes/unit-6/us55-home-front-mobilization.pdf</a:t>
            </a:r>
            <a:endParaRPr b="0" i="0" sz="1050" u="none" cap="none" strike="noStrike">
              <a:solidFill>
                <a:schemeClr val="dk1"/>
              </a:solidFill>
              <a:latin typeface="Calibri"/>
              <a:ea typeface="Calibri"/>
              <a:cs typeface="Calibri"/>
              <a:sym typeface="Calibri"/>
            </a:endParaRPr>
          </a:p>
        </p:txBody>
      </p:sp>
      <p:sp>
        <p:nvSpPr>
          <p:cNvPr id="4629" name="Google Shape;4629;p1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0" name="Google Shape;4630;p1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35" name="Shape 4635"/>
        <p:cNvGrpSpPr/>
        <p:nvPr/>
      </p:nvGrpSpPr>
      <p:grpSpPr>
        <a:xfrm>
          <a:off x="0" y="0"/>
          <a:ext cx="0" cy="0"/>
          <a:chOff x="0" y="0"/>
          <a:chExt cx="0" cy="0"/>
        </a:xfrm>
      </p:grpSpPr>
      <p:sp>
        <p:nvSpPr>
          <p:cNvPr id="4636" name="Google Shape;4636;p17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7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CHECK FOR UNDERSTANDING</a:t>
            </a:r>
            <a:endParaRPr b="0" i="0" sz="1200" u="none" cap="none" strike="noStrike">
              <a:solidFill>
                <a:schemeClr val="dk1"/>
              </a:solidFill>
              <a:latin typeface="Calibri"/>
              <a:ea typeface="Calibri"/>
              <a:cs typeface="Calibri"/>
              <a:sym typeface="Calibri"/>
            </a:endParaRPr>
          </a:p>
        </p:txBody>
      </p:sp>
      <p:sp>
        <p:nvSpPr>
          <p:cNvPr id="4638" name="Google Shape;4638;p178"/>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39" name="Google Shape;4639;p178"/>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78"/>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641" name="Google Shape;4641;p178"/>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7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643" name="Google Shape;4643;p178"/>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78"/>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600" u="none" cap="none" strike="noStrike">
              <a:solidFill>
                <a:schemeClr val="dk1"/>
              </a:solidFill>
              <a:latin typeface="Calibri"/>
              <a:ea typeface="Calibri"/>
              <a:cs typeface="Calibri"/>
              <a:sym typeface="Calibri"/>
            </a:endParaRPr>
          </a:p>
        </p:txBody>
      </p:sp>
      <p:sp>
        <p:nvSpPr>
          <p:cNvPr id="4645" name="Google Shape;4645;p178"/>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78"/>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78"/>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648" name="Google Shape;4648;p178"/>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50" u="none" cap="none" strike="noStrike">
              <a:solidFill>
                <a:schemeClr val="dk1"/>
              </a:solidFill>
              <a:latin typeface="Calibri"/>
              <a:ea typeface="Calibri"/>
              <a:cs typeface="Calibri"/>
              <a:sym typeface="Calibri"/>
            </a:endParaRPr>
          </a:p>
        </p:txBody>
      </p:sp>
      <p:sp>
        <p:nvSpPr>
          <p:cNvPr id="4649" name="Google Shape;4649;p178"/>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78"/>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78"/>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652" name="Google Shape;4652;p178"/>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redirect essential resources to the military effort and build civilian morale by involving all Americans in the war effort.</a:t>
            </a:r>
            <a:endParaRPr b="0" i="0" sz="1350" u="none" cap="none" strike="noStrike">
              <a:solidFill>
                <a:schemeClr val="dk1"/>
              </a:solidFill>
              <a:latin typeface="Calibri"/>
              <a:ea typeface="Calibri"/>
              <a:cs typeface="Calibri"/>
              <a:sym typeface="Calibri"/>
            </a:endParaRPr>
          </a:p>
        </p:txBody>
      </p:sp>
      <p:sp>
        <p:nvSpPr>
          <p:cNvPr id="4653" name="Google Shape;4653;p178"/>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78"/>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78"/>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656" name="Google Shape;4656;p178"/>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50" u="none" cap="none" strike="noStrike">
              <a:solidFill>
                <a:schemeClr val="dk1"/>
              </a:solidFill>
              <a:latin typeface="Calibri"/>
              <a:ea typeface="Calibri"/>
              <a:cs typeface="Calibri"/>
              <a:sym typeface="Calibri"/>
            </a:endParaRPr>
          </a:p>
        </p:txBody>
      </p:sp>
      <p:sp>
        <p:nvSpPr>
          <p:cNvPr id="4657" name="Google Shape;4657;p178"/>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78"/>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78"/>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660" name="Google Shape;4660;p178"/>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reduce dependence on imports from Europe by encouraging domestic food production.</a:t>
            </a:r>
            <a:endParaRPr b="0" i="0" sz="1350" u="none" cap="none" strike="noStrike">
              <a:solidFill>
                <a:schemeClr val="dk1"/>
              </a:solidFill>
              <a:latin typeface="Calibri"/>
              <a:ea typeface="Calibri"/>
              <a:cs typeface="Calibri"/>
              <a:sym typeface="Calibri"/>
            </a:endParaRPr>
          </a:p>
        </p:txBody>
      </p:sp>
      <p:sp>
        <p:nvSpPr>
          <p:cNvPr id="4661" name="Google Shape;4661;p178"/>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78"/>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663" name="Google Shape;4663;p1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64" name="Google Shape;4664;p1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69" name="Shape 4669"/>
        <p:cNvGrpSpPr/>
        <p:nvPr/>
      </p:nvGrpSpPr>
      <p:grpSpPr>
        <a:xfrm>
          <a:off x="0" y="0"/>
          <a:ext cx="0" cy="0"/>
          <a:chOff x="0" y="0"/>
          <a:chExt cx="0" cy="0"/>
        </a:xfrm>
      </p:grpSpPr>
      <p:sp>
        <p:nvSpPr>
          <p:cNvPr id="4670" name="Google Shape;4670;p17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7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ANSWER REVEAL</a:t>
            </a:r>
            <a:endParaRPr b="0" i="0" sz="1200" u="none" cap="none" strike="noStrike">
              <a:solidFill>
                <a:schemeClr val="dk1"/>
              </a:solidFill>
              <a:latin typeface="Calibri"/>
              <a:ea typeface="Calibri"/>
              <a:cs typeface="Calibri"/>
              <a:sym typeface="Calibri"/>
            </a:endParaRPr>
          </a:p>
        </p:txBody>
      </p:sp>
      <p:sp>
        <p:nvSpPr>
          <p:cNvPr id="4672" name="Google Shape;4672;p179"/>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73" name="Google Shape;4673;p179"/>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79"/>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675" name="Google Shape;4675;p179"/>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79"/>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500" u="none" cap="none" strike="noStrike">
              <a:solidFill>
                <a:schemeClr val="dk1"/>
              </a:solidFill>
              <a:latin typeface="Calibri"/>
              <a:ea typeface="Calibri"/>
              <a:cs typeface="Calibri"/>
              <a:sym typeface="Calibri"/>
            </a:endParaRPr>
          </a:p>
        </p:txBody>
      </p:sp>
      <p:sp>
        <p:nvSpPr>
          <p:cNvPr id="4677" name="Google Shape;4677;p179"/>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79"/>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79"/>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680" name="Google Shape;4680;p179"/>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00" u="none" cap="none" strike="noStrike">
              <a:solidFill>
                <a:schemeClr val="dk1"/>
              </a:solidFill>
              <a:latin typeface="Calibri"/>
              <a:ea typeface="Calibri"/>
              <a:cs typeface="Calibri"/>
              <a:sym typeface="Calibri"/>
            </a:endParaRPr>
          </a:p>
        </p:txBody>
      </p:sp>
      <p:sp>
        <p:nvSpPr>
          <p:cNvPr id="4681" name="Google Shape;4681;p179"/>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79"/>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79"/>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684" name="Google Shape;4684;p179"/>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To redirect essential resources to the military effort and build civilian morale by involving all Americans in the war effort.</a:t>
            </a:r>
            <a:endParaRPr b="0" i="0" sz="1300" u="none" cap="none" strike="noStrike">
              <a:solidFill>
                <a:schemeClr val="dk1"/>
              </a:solidFill>
              <a:latin typeface="Calibri"/>
              <a:ea typeface="Calibri"/>
              <a:cs typeface="Calibri"/>
              <a:sym typeface="Calibri"/>
            </a:endParaRPr>
          </a:p>
        </p:txBody>
      </p:sp>
      <p:sp>
        <p:nvSpPr>
          <p:cNvPr id="4685" name="Google Shape;4685;p179"/>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686" name="Google Shape;4686;p179"/>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79"/>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79"/>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689" name="Google Shape;4689;p179"/>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00" u="none" cap="none" strike="noStrike">
              <a:solidFill>
                <a:schemeClr val="dk1"/>
              </a:solidFill>
              <a:latin typeface="Calibri"/>
              <a:ea typeface="Calibri"/>
              <a:cs typeface="Calibri"/>
              <a:sym typeface="Calibri"/>
            </a:endParaRPr>
          </a:p>
        </p:txBody>
      </p:sp>
      <p:sp>
        <p:nvSpPr>
          <p:cNvPr id="4690" name="Google Shape;4690;p179"/>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79"/>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79"/>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693" name="Google Shape;4693;p179"/>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reduce dependence on imports from Europe by encouraging domestic food production.</a:t>
            </a:r>
            <a:endParaRPr b="0" i="0" sz="1300" u="none" cap="none" strike="noStrike">
              <a:solidFill>
                <a:schemeClr val="dk1"/>
              </a:solidFill>
              <a:latin typeface="Calibri"/>
              <a:ea typeface="Calibri"/>
              <a:cs typeface="Calibri"/>
              <a:sym typeface="Calibri"/>
            </a:endParaRPr>
          </a:p>
        </p:txBody>
      </p:sp>
      <p:sp>
        <p:nvSpPr>
          <p:cNvPr id="4694" name="Google Shape;4694;p179"/>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79"/>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a:t>
            </a:r>
            <a:endParaRPr b="0" i="0" sz="1150" u="none" cap="none" strike="noStrike">
              <a:solidFill>
                <a:schemeClr val="dk1"/>
              </a:solidFill>
              <a:latin typeface="Calibri"/>
              <a:ea typeface="Calibri"/>
              <a:cs typeface="Calibri"/>
              <a:sym typeface="Calibri"/>
            </a:endParaRPr>
          </a:p>
        </p:txBody>
      </p:sp>
      <p:sp>
        <p:nvSpPr>
          <p:cNvPr id="4696" name="Google Shape;4696;p1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97" name="Google Shape;4697;p1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02" name="Shape 4702"/>
        <p:cNvGrpSpPr/>
        <p:nvPr/>
      </p:nvGrpSpPr>
      <p:grpSpPr>
        <a:xfrm>
          <a:off x="0" y="0"/>
          <a:ext cx="0" cy="0"/>
          <a:chOff x="0" y="0"/>
          <a:chExt cx="0" cy="0"/>
        </a:xfrm>
      </p:grpSpPr>
      <p:sp>
        <p:nvSpPr>
          <p:cNvPr id="4703" name="Google Shape;4703;p18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WRAP-UP</a:t>
            </a:r>
            <a:endParaRPr b="0" i="0" sz="1200" u="none" cap="none" strike="noStrike">
              <a:solidFill>
                <a:schemeClr val="dk1"/>
              </a:solidFill>
              <a:latin typeface="Calibri"/>
              <a:ea typeface="Calibri"/>
              <a:cs typeface="Calibri"/>
              <a:sym typeface="Calibri"/>
            </a:endParaRPr>
          </a:p>
        </p:txBody>
      </p:sp>
      <p:sp>
        <p:nvSpPr>
          <p:cNvPr id="4705" name="Google Shape;4705;p180"/>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706" name="Google Shape;4706;p180"/>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0"/>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708" name="Google Shape;4708;p180"/>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Rationing and Conservation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War Bonds and Propaganda</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Migration, Factory Conversion, and Bracero Program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Tennessee's Wartime Role</a:t>
            </a:r>
            <a:endParaRPr b="0" i="0" sz="1500" u="none" cap="none" strike="noStrike">
              <a:solidFill>
                <a:schemeClr val="dk1"/>
              </a:solidFill>
              <a:latin typeface="Calibri"/>
              <a:ea typeface="Calibri"/>
              <a:cs typeface="Calibri"/>
              <a:sym typeface="Calibri"/>
            </a:endParaRPr>
          </a:p>
        </p:txBody>
      </p:sp>
      <p:sp>
        <p:nvSpPr>
          <p:cNvPr id="4709" name="Google Shape;4709;p180"/>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0"/>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711" name="Google Shape;4711;p180"/>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much did the home front's effort contribute to Allied victory compared with the fighting itself? Argue with evidence. (SSP.04)</a:t>
            </a:r>
            <a:endParaRPr b="0" i="0" sz="1150" u="none" cap="none" strike="noStrike">
              <a:solidFill>
                <a:schemeClr val="dk1"/>
              </a:solidFill>
              <a:latin typeface="Calibri"/>
              <a:ea typeface="Calibri"/>
              <a:cs typeface="Calibri"/>
              <a:sym typeface="Calibri"/>
            </a:endParaRPr>
          </a:p>
        </p:txBody>
      </p:sp>
      <p:sp>
        <p:nvSpPr>
          <p:cNvPr id="4712" name="Google Shape;4712;p180"/>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0"/>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714" name="Google Shape;4714;p180"/>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0"/>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716" name="Google Shape;4716;p180"/>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how the war mobilized the American home front. Give at least three specific examples.</a:t>
            </a:r>
            <a:endParaRPr b="0" i="0" sz="1350" u="none" cap="none" strike="noStrike">
              <a:solidFill>
                <a:schemeClr val="dk1"/>
              </a:solidFill>
              <a:latin typeface="Calibri"/>
              <a:ea typeface="Calibri"/>
              <a:cs typeface="Calibri"/>
              <a:sym typeface="Calibri"/>
            </a:endParaRPr>
          </a:p>
        </p:txBody>
      </p:sp>
      <p:cxnSp>
        <p:nvCxnSpPr>
          <p:cNvPr id="4717" name="Google Shape;4717;p180"/>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8" name="Google Shape;4718;p180"/>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9" name="Google Shape;4719;p180"/>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720" name="Google Shape;4720;p1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1" name="Google Shape;4721;p1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26" name="Shape 4726"/>
        <p:cNvGrpSpPr/>
        <p:nvPr/>
      </p:nvGrpSpPr>
      <p:grpSpPr>
        <a:xfrm>
          <a:off x="0" y="0"/>
          <a:ext cx="0" cy="0"/>
          <a:chOff x="0" y="0"/>
          <a:chExt cx="0" cy="0"/>
        </a:xfrm>
      </p:grpSpPr>
      <p:sp>
        <p:nvSpPr>
          <p:cNvPr id="4727" name="Google Shape;4727;p181"/>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1"/>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1"/>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730" name="Google Shape;4730;p181"/>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US.56</a:t>
            </a:r>
            <a:endParaRPr b="0" i="0" sz="8800" u="none" cap="none" strike="noStrike">
              <a:solidFill>
                <a:schemeClr val="dk1"/>
              </a:solidFill>
              <a:latin typeface="Calibri"/>
              <a:ea typeface="Calibri"/>
              <a:cs typeface="Calibri"/>
              <a:sym typeface="Calibri"/>
            </a:endParaRPr>
          </a:p>
        </p:txBody>
      </p:sp>
      <p:sp>
        <p:nvSpPr>
          <p:cNvPr id="4731" name="Google Shape;4731;p181"/>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Manhattan Project &amp; Atomic Bomb</a:t>
            </a:r>
            <a:endParaRPr b="0" i="0" sz="2400" u="none" cap="none" strike="noStrike">
              <a:solidFill>
                <a:schemeClr val="dk1"/>
              </a:solidFill>
              <a:latin typeface="Calibri"/>
              <a:ea typeface="Calibri"/>
              <a:cs typeface="Calibri"/>
              <a:sym typeface="Calibri"/>
            </a:endParaRPr>
          </a:p>
        </p:txBody>
      </p:sp>
      <p:sp>
        <p:nvSpPr>
          <p:cNvPr id="4732" name="Google Shape;4732;p181"/>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733" name="Google Shape;4733;p181"/>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1"/>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4735" name="Google Shape;4735;p181"/>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4736" name="Google Shape;4736;p181"/>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1"/>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738" name="Google Shape;4738;p181"/>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739" name="Google Shape;4739;p181"/>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1"/>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4741" name="Google Shape;4741;p181"/>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4742" name="Google Shape;4742;p181"/>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1"/>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744" name="Google Shape;4744;p181"/>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Manhattan Project and explain the rationale for using the atomic bomb to end the war.</a:t>
            </a:r>
            <a:endParaRPr b="0" i="0" sz="1300" u="none" cap="none" strike="noStrike">
              <a:solidFill>
                <a:schemeClr val="dk1"/>
              </a:solidFill>
              <a:latin typeface="Calibri"/>
              <a:ea typeface="Calibri"/>
              <a:cs typeface="Calibri"/>
              <a:sym typeface="Calibri"/>
            </a:endParaRPr>
          </a:p>
        </p:txBody>
      </p:sp>
      <p:sp>
        <p:nvSpPr>
          <p:cNvPr id="4745" name="Google Shape;4745;p181"/>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1"/>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747" name="Google Shape;4747;p181"/>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350" u="none" cap="none" strike="noStrike">
              <a:solidFill>
                <a:schemeClr val="dk1"/>
              </a:solidFill>
              <a:latin typeface="Calibri"/>
              <a:ea typeface="Calibri"/>
              <a:cs typeface="Calibri"/>
              <a:sym typeface="Calibri"/>
            </a:endParaRPr>
          </a:p>
        </p:txBody>
      </p:sp>
      <p:sp>
        <p:nvSpPr>
          <p:cNvPr id="4748" name="Google Shape;4748;p1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49" name="Google Shape;4749;p1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54" name="Shape 4754"/>
        <p:cNvGrpSpPr/>
        <p:nvPr/>
      </p:nvGrpSpPr>
      <p:grpSpPr>
        <a:xfrm>
          <a:off x="0" y="0"/>
          <a:ext cx="0" cy="0"/>
          <a:chOff x="0" y="0"/>
          <a:chExt cx="0" cy="0"/>
        </a:xfrm>
      </p:grpSpPr>
      <p:sp>
        <p:nvSpPr>
          <p:cNvPr id="4755" name="Google Shape;4755;p1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QUICK REVIEW</a:t>
            </a:r>
            <a:endParaRPr b="0" i="0" sz="1200" u="none" cap="none" strike="noStrike">
              <a:solidFill>
                <a:schemeClr val="dk1"/>
              </a:solidFill>
              <a:latin typeface="Calibri"/>
              <a:ea typeface="Calibri"/>
              <a:cs typeface="Calibri"/>
              <a:sym typeface="Calibri"/>
            </a:endParaRPr>
          </a:p>
        </p:txBody>
      </p:sp>
      <p:sp>
        <p:nvSpPr>
          <p:cNvPr id="4757" name="Google Shape;4757;p18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758" name="Google Shape;4758;p182"/>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759" name="Google Shape;4759;p182"/>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2"/>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2"/>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762" name="Google Shape;4762;p182"/>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Name two ways Americans supported the war on the home front.</a:t>
            </a:r>
            <a:endParaRPr b="0" i="0" sz="1350" u="none" cap="none" strike="noStrike">
              <a:solidFill>
                <a:schemeClr val="dk1"/>
              </a:solidFill>
              <a:latin typeface="Calibri"/>
              <a:ea typeface="Calibri"/>
              <a:cs typeface="Calibri"/>
              <a:sym typeface="Calibri"/>
            </a:endParaRPr>
          </a:p>
        </p:txBody>
      </p:sp>
      <p:sp>
        <p:nvSpPr>
          <p:cNvPr id="4763" name="Google Shape;4763;p182"/>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2"/>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2"/>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766" name="Google Shape;4766;p182"/>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What was one of Tennessee's wartime roles?</a:t>
            </a:r>
            <a:endParaRPr b="0" i="0" sz="1350" u="none" cap="none" strike="noStrike">
              <a:solidFill>
                <a:schemeClr val="dk1"/>
              </a:solidFill>
              <a:latin typeface="Calibri"/>
              <a:ea typeface="Calibri"/>
              <a:cs typeface="Calibri"/>
              <a:sym typeface="Calibri"/>
            </a:endParaRPr>
          </a:p>
        </p:txBody>
      </p:sp>
      <p:sp>
        <p:nvSpPr>
          <p:cNvPr id="4767" name="Google Shape;4767;p1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68" name="Google Shape;4768;p1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73" name="Shape 4773"/>
        <p:cNvGrpSpPr/>
        <p:nvPr/>
      </p:nvGrpSpPr>
      <p:grpSpPr>
        <a:xfrm>
          <a:off x="0" y="0"/>
          <a:ext cx="0" cy="0"/>
          <a:chOff x="0" y="0"/>
          <a:chExt cx="0" cy="0"/>
        </a:xfrm>
      </p:grpSpPr>
      <p:sp>
        <p:nvSpPr>
          <p:cNvPr id="4774" name="Google Shape;4774;p18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CONFIDENCE CHECK</a:t>
            </a:r>
            <a:endParaRPr b="0" i="0" sz="1200" u="none" cap="none" strike="noStrike">
              <a:solidFill>
                <a:schemeClr val="dk1"/>
              </a:solidFill>
              <a:latin typeface="Calibri"/>
              <a:ea typeface="Calibri"/>
              <a:cs typeface="Calibri"/>
              <a:sym typeface="Calibri"/>
            </a:endParaRPr>
          </a:p>
        </p:txBody>
      </p:sp>
      <p:sp>
        <p:nvSpPr>
          <p:cNvPr id="4776" name="Google Shape;4776;p183"/>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777" name="Google Shape;4777;p183"/>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83"/>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779" name="Google Shape;4779;p183"/>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83"/>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781" name="Google Shape;4781;p183"/>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782" name="Google Shape;4782;p183"/>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83"/>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secret project built the atomic bomb, with a key site in Tennessee?</a:t>
            </a:r>
            <a:endParaRPr b="0" i="0" sz="2400" u="none" cap="none" strike="noStrike">
              <a:solidFill>
                <a:schemeClr val="dk1"/>
              </a:solidFill>
              <a:latin typeface="Calibri"/>
              <a:ea typeface="Calibri"/>
              <a:cs typeface="Calibri"/>
              <a:sym typeface="Calibri"/>
            </a:endParaRPr>
          </a:p>
        </p:txBody>
      </p:sp>
      <p:sp>
        <p:nvSpPr>
          <p:cNvPr id="4784" name="Google Shape;4784;p183"/>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83"/>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786" name="Google Shape;4786;p183"/>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Manhattan Project, with a major site at Oak Ridge.</a:t>
            </a:r>
            <a:endParaRPr b="0" i="0" sz="1600" u="none" cap="none" strike="noStrike">
              <a:solidFill>
                <a:schemeClr val="dk1"/>
              </a:solidFill>
              <a:latin typeface="Calibri"/>
              <a:ea typeface="Calibri"/>
              <a:cs typeface="Calibri"/>
              <a:sym typeface="Calibri"/>
            </a:endParaRPr>
          </a:p>
        </p:txBody>
      </p:sp>
      <p:sp>
        <p:nvSpPr>
          <p:cNvPr id="4787" name="Google Shape;4787;p183"/>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83"/>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789" name="Google Shape;4789;p1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90" name="Google Shape;4790;p1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95" name="Shape 4795"/>
        <p:cNvGrpSpPr/>
        <p:nvPr/>
      </p:nvGrpSpPr>
      <p:grpSpPr>
        <a:xfrm>
          <a:off x="0" y="0"/>
          <a:ext cx="0" cy="0"/>
          <a:chOff x="0" y="0"/>
          <a:chExt cx="0" cy="0"/>
        </a:xfrm>
      </p:grpSpPr>
      <p:sp>
        <p:nvSpPr>
          <p:cNvPr id="4796" name="Google Shape;4796;p18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8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HOOK</a:t>
            </a:r>
            <a:endParaRPr b="0" i="0" sz="1200" u="none" cap="none" strike="noStrike">
              <a:solidFill>
                <a:schemeClr val="dk1"/>
              </a:solidFill>
              <a:latin typeface="Calibri"/>
              <a:ea typeface="Calibri"/>
              <a:cs typeface="Calibri"/>
              <a:sym typeface="Calibri"/>
            </a:endParaRPr>
          </a:p>
        </p:txBody>
      </p:sp>
      <p:sp>
        <p:nvSpPr>
          <p:cNvPr id="4798" name="Google Shape;4798;p184"/>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799" name="Google Shape;4799;p184"/>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84"/>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hills of Oak Ridge, Tennessee, and the deserts of New Mexico, tens of thousands of workers built the most powerful, and most terrifying, weapon in human history, most of them never knowing what they were making.</a:t>
            </a:r>
            <a:endParaRPr b="0" i="0" sz="2600" u="none" cap="none" strike="noStrike">
              <a:solidFill>
                <a:schemeClr val="dk1"/>
              </a:solidFill>
              <a:latin typeface="Calibri"/>
              <a:ea typeface="Calibri"/>
              <a:cs typeface="Calibri"/>
              <a:sym typeface="Calibri"/>
            </a:endParaRPr>
          </a:p>
        </p:txBody>
      </p:sp>
      <p:sp>
        <p:nvSpPr>
          <p:cNvPr id="4801" name="Google Shape;4801;p184"/>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84"/>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803" name="Google Shape;4803;p184"/>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84"/>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805" name="Google Shape;4805;p184"/>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dropping the atomic bomb a justified way to end the war and save lives, or the opening of a dangerous new age?</a:t>
            </a:r>
            <a:endParaRPr b="0" i="0" sz="1600" u="none" cap="none" strike="noStrike">
              <a:solidFill>
                <a:schemeClr val="dk1"/>
              </a:solidFill>
              <a:latin typeface="Calibri"/>
              <a:ea typeface="Calibri"/>
              <a:cs typeface="Calibri"/>
              <a:sym typeface="Calibri"/>
            </a:endParaRPr>
          </a:p>
        </p:txBody>
      </p:sp>
      <p:sp>
        <p:nvSpPr>
          <p:cNvPr id="4806" name="Google Shape;4806;p1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07" name="Google Shape;4807;p1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12" name="Shape 4812"/>
        <p:cNvGrpSpPr/>
        <p:nvPr/>
      </p:nvGrpSpPr>
      <p:grpSpPr>
        <a:xfrm>
          <a:off x="0" y="0"/>
          <a:ext cx="0" cy="0"/>
          <a:chOff x="0" y="0"/>
          <a:chExt cx="0" cy="0"/>
        </a:xfrm>
      </p:grpSpPr>
      <p:sp>
        <p:nvSpPr>
          <p:cNvPr id="4813" name="Google Shape;4813;p18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15" name="Google Shape;4815;p18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Oak Ridge, Tennessee Selection</a:t>
            </a:r>
            <a:endParaRPr b="0" i="0" sz="3000" u="none" cap="none" strike="noStrike">
              <a:solidFill>
                <a:schemeClr val="dk1"/>
              </a:solidFill>
              <a:latin typeface="Calibri"/>
              <a:ea typeface="Calibri"/>
              <a:cs typeface="Calibri"/>
              <a:sym typeface="Calibri"/>
            </a:endParaRPr>
          </a:p>
        </p:txBody>
      </p:sp>
      <p:sp>
        <p:nvSpPr>
          <p:cNvPr id="4816" name="Google Shape;4816;p18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8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8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8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8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821" name="Google Shape;4821;p185"/>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85"/>
          <p:cNvSpPr/>
          <p:nvPr/>
        </p:nvSpPr>
        <p:spPr>
          <a:xfrm>
            <a:off x="914400" y="2057400"/>
            <a:ext cx="10424160" cy="9692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was selected for uranium enrichment because of its remote location providing security isolation, abundant electrical power from TVA, good transportation access, and available land.</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 "Secret City" grew to 75,000 residents, most unaware of their work's purpose.</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produced enriched uranium for the "Little Boy" bomb dropped on Hiroshima, making Tennessee crucial to the atomic bomb's development.</a:t>
            </a:r>
            <a:endParaRPr b="0" i="0" sz="1450" u="none" cap="none" strike="noStrike">
              <a:solidFill>
                <a:schemeClr val="dk1"/>
              </a:solidFill>
              <a:latin typeface="Calibri"/>
              <a:ea typeface="Calibri"/>
              <a:cs typeface="Calibri"/>
              <a:sym typeface="Calibri"/>
            </a:endParaRPr>
          </a:p>
        </p:txBody>
      </p:sp>
      <p:sp>
        <p:nvSpPr>
          <p:cNvPr id="4823" name="Google Shape;4823;p185"/>
          <p:cNvSpPr/>
          <p:nvPr/>
        </p:nvSpPr>
        <p:spPr>
          <a:xfrm>
            <a:off x="868680" y="32552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85"/>
          <p:cNvSpPr/>
          <p:nvPr/>
        </p:nvSpPr>
        <p:spPr>
          <a:xfrm>
            <a:off x="1024128" y="33101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825" name="Google Shape;4825;p185"/>
          <p:cNvSpPr/>
          <p:nvPr/>
        </p:nvSpPr>
        <p:spPr>
          <a:xfrm>
            <a:off x="1024128" y="35661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Manhattan Project ________, and Truman used the atomic bomb because ________.</a:t>
            </a:r>
            <a:endParaRPr b="0" i="0" sz="1150" u="none" cap="none" strike="noStrike">
              <a:solidFill>
                <a:schemeClr val="dk1"/>
              </a:solidFill>
              <a:latin typeface="Calibri"/>
              <a:ea typeface="Calibri"/>
              <a:cs typeface="Calibri"/>
              <a:sym typeface="Calibri"/>
            </a:endParaRPr>
          </a:p>
        </p:txBody>
      </p:sp>
      <p:sp>
        <p:nvSpPr>
          <p:cNvPr id="4826" name="Google Shape;4826;p185"/>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85"/>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828" name="Google Shape;4828;p185"/>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Oak Ridge, Tennessee was chosen as a secret Manhattan Project site for uranium enrichment because of its remote, secure location, abundant TVA electrical power, good rail access, and available land. The 'Secret City' grew almost overnight to tens of thousands of workers, most of whom never knew they were helping build the atomic bomb.</a:t>
            </a:r>
            <a:endParaRPr b="0" i="0" sz="1300" u="none" cap="none" strike="noStrike">
              <a:solidFill>
                <a:schemeClr val="dk1"/>
              </a:solidFill>
              <a:latin typeface="Calibri"/>
              <a:ea typeface="Calibri"/>
              <a:cs typeface="Calibri"/>
              <a:sym typeface="Calibri"/>
            </a:endParaRPr>
          </a:p>
        </p:txBody>
      </p:sp>
      <p:sp>
        <p:nvSpPr>
          <p:cNvPr id="4829" name="Google Shape;4829;p1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30" name="Google Shape;4830;p1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35" name="Shape 4835"/>
        <p:cNvGrpSpPr/>
        <p:nvPr/>
      </p:nvGrpSpPr>
      <p:grpSpPr>
        <a:xfrm>
          <a:off x="0" y="0"/>
          <a:ext cx="0" cy="0"/>
          <a:chOff x="0" y="0"/>
          <a:chExt cx="0" cy="0"/>
        </a:xfrm>
      </p:grpSpPr>
      <p:sp>
        <p:nvSpPr>
          <p:cNvPr id="4836" name="Google Shape;4836;p18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38" name="Google Shape;4838;p18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Manhattan Project Overview</a:t>
            </a:r>
            <a:endParaRPr b="0" i="0" sz="3000" u="none" cap="none" strike="noStrike">
              <a:solidFill>
                <a:schemeClr val="dk1"/>
              </a:solidFill>
              <a:latin typeface="Calibri"/>
              <a:ea typeface="Calibri"/>
              <a:cs typeface="Calibri"/>
              <a:sym typeface="Calibri"/>
            </a:endParaRPr>
          </a:p>
        </p:txBody>
      </p:sp>
      <p:sp>
        <p:nvSpPr>
          <p:cNvPr id="4839" name="Google Shape;4839;p18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8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8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8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8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844" name="Google Shape;4844;p18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8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secret multi-site program included Los Alamos (weapon design), Oak Ridge (uranium enrichment), and Hanford (plutonium production).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Led by General Leslie Groves and scientist J. Robert Oppenheimer, the project employed over 125,000 people and cost nearly $2 billion.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Trinity test (July 16, 1945) successfully demonstrated the first nuclear explosion in New Mexico, proving the concept worked.</a:t>
            </a:r>
            <a:endParaRPr b="0" i="0" sz="1700" u="none" cap="none" strike="noStrike">
              <a:solidFill>
                <a:schemeClr val="dk1"/>
              </a:solidFill>
              <a:latin typeface="Calibri"/>
              <a:ea typeface="Calibri"/>
              <a:cs typeface="Calibri"/>
              <a:sym typeface="Calibri"/>
            </a:endParaRPr>
          </a:p>
        </p:txBody>
      </p:sp>
      <p:sp>
        <p:nvSpPr>
          <p:cNvPr id="4846" name="Google Shape;4846;p1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47" name="Google Shape;4847;p1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52" name="Shape 4852"/>
        <p:cNvGrpSpPr/>
        <p:nvPr/>
      </p:nvGrpSpPr>
      <p:grpSpPr>
        <a:xfrm>
          <a:off x="0" y="0"/>
          <a:ext cx="0" cy="0"/>
          <a:chOff x="0" y="0"/>
          <a:chExt cx="0" cy="0"/>
        </a:xfrm>
      </p:grpSpPr>
      <p:sp>
        <p:nvSpPr>
          <p:cNvPr id="4853" name="Google Shape;4853;p18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8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55" name="Google Shape;4855;p18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Rationale for Using Atomic Weapons</a:t>
            </a:r>
            <a:endParaRPr b="0" i="0" sz="3000" u="none" cap="none" strike="noStrike">
              <a:solidFill>
                <a:schemeClr val="dk1"/>
              </a:solidFill>
              <a:latin typeface="Calibri"/>
              <a:ea typeface="Calibri"/>
              <a:cs typeface="Calibri"/>
              <a:sym typeface="Calibri"/>
            </a:endParaRPr>
          </a:p>
        </p:txBody>
      </p:sp>
      <p:sp>
        <p:nvSpPr>
          <p:cNvPr id="4856" name="Google Shape;4856;p18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8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8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8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8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861" name="Google Shape;4861;p18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87"/>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President Truman authorized atomic bombs to end the war quickly, avoiding a costly invasion of Japan projected to cause hundreds of thousands of American casualties based on Okinawa experience.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Additional factors included forcing rapid Japanese surrender, demonstrating American power to the Soviet Union, and justifying the massive investment in the Manhattan Project.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bombs on Hiroshima (August 6) and Nagasaki (August 9) killed over 100,000 immediately, with more dying later from radiation.</a:t>
            </a:r>
            <a:endParaRPr b="0" i="0" sz="1550" u="none" cap="none" strike="noStrike">
              <a:solidFill>
                <a:schemeClr val="dk1"/>
              </a:solidFill>
              <a:latin typeface="Calibri"/>
              <a:ea typeface="Calibri"/>
              <a:cs typeface="Calibri"/>
              <a:sym typeface="Calibri"/>
            </a:endParaRPr>
          </a:p>
        </p:txBody>
      </p:sp>
      <p:sp>
        <p:nvSpPr>
          <p:cNvPr id="4863" name="Google Shape;4863;p187"/>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agasaki-atomic-bomb-1945.jpg" id="4864" name="Google Shape;4864;p187"/>
          <p:cNvPicPr preferRelativeResize="0"/>
          <p:nvPr/>
        </p:nvPicPr>
        <p:blipFill rotWithShape="1">
          <a:blip r:embed="rId3">
            <a:alphaModFix/>
          </a:blip>
          <a:srcRect b="0" l="0" r="0" t="0"/>
          <a:stretch/>
        </p:blipFill>
        <p:spPr>
          <a:xfrm>
            <a:off x="8158469" y="1783080"/>
            <a:ext cx="2931182" cy="3502152"/>
          </a:xfrm>
          <a:prstGeom prst="rect">
            <a:avLst/>
          </a:prstGeom>
          <a:noFill/>
          <a:ln>
            <a:noFill/>
          </a:ln>
        </p:spPr>
      </p:pic>
      <p:sp>
        <p:nvSpPr>
          <p:cNvPr id="4865" name="Google Shape;4865;p187"/>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Levy / U.S. Army Air Forces / National Archives and Records Administration, August 9,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4866" name="Google Shape;4866;p1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67" name="Google Shape;4867;p1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72" name="Shape 4872"/>
        <p:cNvGrpSpPr/>
        <p:nvPr/>
      </p:nvGrpSpPr>
      <p:grpSpPr>
        <a:xfrm>
          <a:off x="0" y="0"/>
          <a:ext cx="0" cy="0"/>
          <a:chOff x="0" y="0"/>
          <a:chExt cx="0" cy="0"/>
        </a:xfrm>
      </p:grpSpPr>
      <p:sp>
        <p:nvSpPr>
          <p:cNvPr id="4873" name="Google Shape;4873;p1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75" name="Google Shape;4875;p1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Ethical Debate</a:t>
            </a:r>
            <a:endParaRPr b="0" i="0" sz="3000" u="none" cap="none" strike="noStrike">
              <a:solidFill>
                <a:schemeClr val="dk1"/>
              </a:solidFill>
              <a:latin typeface="Calibri"/>
              <a:ea typeface="Calibri"/>
              <a:cs typeface="Calibri"/>
              <a:sym typeface="Calibri"/>
            </a:endParaRPr>
          </a:p>
        </p:txBody>
      </p:sp>
      <p:sp>
        <p:nvSpPr>
          <p:cNvPr id="4876" name="Google Shape;4876;p18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8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881" name="Google Shape;4881;p1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8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for use included ending the war quickly, saving lives on both sides that invasion would cost, and Japanese refusal to surrender despite conventional bombing.</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against included the targeting of civilians, long-term radiation effects, potential alternatives like demonstration or modified surrender terms, and the precedent of nuclear warfare.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debate continues among historians and ethicists, with no consensus on whether the decision was justified.</a:t>
            </a:r>
            <a:endParaRPr b="0" i="0" sz="1700" u="none" cap="none" strike="noStrike">
              <a:solidFill>
                <a:schemeClr val="dk1"/>
              </a:solidFill>
              <a:latin typeface="Calibri"/>
              <a:ea typeface="Calibri"/>
              <a:cs typeface="Calibri"/>
              <a:sym typeface="Calibri"/>
            </a:endParaRPr>
          </a:p>
        </p:txBody>
      </p:sp>
      <p:sp>
        <p:nvSpPr>
          <p:cNvPr id="4883" name="Google Shape;4883;p1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84" name="Google Shape;4884;p1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89" name="Shape 4889"/>
        <p:cNvGrpSpPr/>
        <p:nvPr/>
      </p:nvGrpSpPr>
      <p:grpSpPr>
        <a:xfrm>
          <a:off x="0" y="0"/>
          <a:ext cx="0" cy="0"/>
          <a:chOff x="0" y="0"/>
          <a:chExt cx="0" cy="0"/>
        </a:xfrm>
      </p:grpSpPr>
      <p:sp>
        <p:nvSpPr>
          <p:cNvPr id="4890" name="Google Shape;4890;p18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PEOPLE WHO SHAPED THE ERA</a:t>
            </a:r>
            <a:endParaRPr b="0" i="0" sz="1200" u="none" cap="none" strike="noStrike">
              <a:solidFill>
                <a:schemeClr val="dk1"/>
              </a:solidFill>
              <a:latin typeface="Calibri"/>
              <a:ea typeface="Calibri"/>
              <a:cs typeface="Calibri"/>
              <a:sym typeface="Calibri"/>
            </a:endParaRPr>
          </a:p>
        </p:txBody>
      </p:sp>
      <p:sp>
        <p:nvSpPr>
          <p:cNvPr id="4892" name="Google Shape;4892;p18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893" name="Google Shape;4893;p189"/>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89"/>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89"/>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4896" name="Google Shape;4896;p189"/>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(1945-1953)</a:t>
            </a:r>
            <a:endParaRPr b="0" i="0" sz="1100" u="none" cap="none" strike="noStrike">
              <a:solidFill>
                <a:schemeClr val="dk1"/>
              </a:solidFill>
              <a:latin typeface="Calibri"/>
              <a:ea typeface="Calibri"/>
              <a:cs typeface="Calibri"/>
              <a:sym typeface="Calibri"/>
            </a:endParaRPr>
          </a:p>
        </p:txBody>
      </p:sp>
      <p:sp>
        <p:nvSpPr>
          <p:cNvPr id="4897" name="Google Shape;4897;p189"/>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Took office in April 1945 after FDR's death</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Learned of the atomic bomb only as president</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Ordered the bombings of Hiroshima and Nagasaki</a:t>
            </a:r>
            <a:endParaRPr b="0" i="0" sz="1300" u="none" cap="none" strike="noStrike">
              <a:solidFill>
                <a:schemeClr val="dk1"/>
              </a:solidFill>
              <a:latin typeface="Calibri"/>
              <a:ea typeface="Calibri"/>
              <a:cs typeface="Calibri"/>
              <a:sym typeface="Calibri"/>
            </a:endParaRPr>
          </a:p>
        </p:txBody>
      </p:sp>
      <p:sp>
        <p:nvSpPr>
          <p:cNvPr id="4898" name="Google Shape;4898;p189"/>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89"/>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Truman to frame the atomic decision as a real leader weighing invasion casualties against the bomb.</a:t>
            </a:r>
            <a:endParaRPr b="0" i="0" sz="800" u="none" cap="none" strike="noStrike">
              <a:solidFill>
                <a:schemeClr val="dk1"/>
              </a:solidFill>
              <a:latin typeface="Calibri"/>
              <a:ea typeface="Calibri"/>
              <a:cs typeface="Calibri"/>
              <a:sym typeface="Calibri"/>
            </a:endParaRPr>
          </a:p>
        </p:txBody>
      </p:sp>
      <p:sp>
        <p:nvSpPr>
          <p:cNvPr id="4900" name="Google Shape;4900;p1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01" name="Google Shape;4901;p1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06" name="Shape 4906"/>
        <p:cNvGrpSpPr/>
        <p:nvPr/>
      </p:nvGrpSpPr>
      <p:grpSpPr>
        <a:xfrm>
          <a:off x="0" y="0"/>
          <a:ext cx="0" cy="0"/>
          <a:chOff x="0" y="0"/>
          <a:chExt cx="0" cy="0"/>
        </a:xfrm>
      </p:grpSpPr>
      <p:sp>
        <p:nvSpPr>
          <p:cNvPr id="4907" name="Google Shape;4907;p19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US.56 · PRIMARY SOURCE ANALYSIS</a:t>
            </a:r>
            <a:endParaRPr b="0" i="0" sz="1200" u="none" cap="none" strike="noStrike">
              <a:solidFill>
                <a:schemeClr val="dk1"/>
              </a:solidFill>
              <a:latin typeface="Calibri"/>
              <a:ea typeface="Calibri"/>
              <a:cs typeface="Calibri"/>
              <a:sym typeface="Calibri"/>
            </a:endParaRPr>
          </a:p>
        </p:txBody>
      </p:sp>
      <p:sp>
        <p:nvSpPr>
          <p:cNvPr id="4909" name="Google Shape;4909;p19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Statement on the Atomic Bomb</a:t>
            </a:r>
            <a:endParaRPr b="0" i="0" sz="2500" u="none" cap="none" strike="noStrike">
              <a:solidFill>
                <a:schemeClr val="dk1"/>
              </a:solidFill>
              <a:latin typeface="Calibri"/>
              <a:ea typeface="Calibri"/>
              <a:cs typeface="Calibri"/>
              <a:sym typeface="Calibri"/>
            </a:endParaRPr>
          </a:p>
        </p:txBody>
      </p:sp>
      <p:sp>
        <p:nvSpPr>
          <p:cNvPr id="4910" name="Google Shape;4910;p19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912" name="Google Shape;4912;p19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Harry S. Truman  ·  August 6, 1945</a:t>
            </a:r>
            <a:endParaRPr b="0" i="0" sz="1200" u="none" cap="none" strike="noStrike">
              <a:solidFill>
                <a:schemeClr val="dk1"/>
              </a:solidFill>
              <a:latin typeface="Calibri"/>
              <a:ea typeface="Calibri"/>
              <a:cs typeface="Calibri"/>
              <a:sym typeface="Calibri"/>
            </a:endParaRPr>
          </a:p>
        </p:txBody>
      </p:sp>
      <p:sp>
        <p:nvSpPr>
          <p:cNvPr id="4913" name="Google Shape;4913;p19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300" u="none" cap="none" strike="noStrike">
              <a:solidFill>
                <a:schemeClr val="dk1"/>
              </a:solidFill>
              <a:latin typeface="Calibri"/>
              <a:ea typeface="Calibri"/>
              <a:cs typeface="Calibri"/>
              <a:sym typeface="Calibri"/>
            </a:endParaRPr>
          </a:p>
        </p:txBody>
      </p:sp>
      <p:sp>
        <p:nvSpPr>
          <p:cNvPr id="4916" name="Google Shape;4916;p19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918" name="Google Shape;4918;p190"/>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920" name="Google Shape;4920;p190"/>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By August 1945, World War II in Europe had ended but fierce fighting continued in the Pacific. Estimates projected that a land invasion of Japan could cost hundreds of thousands of American and Japanese lives. President Truman made the decision to use the newly developed atomic bomb—the product of the secret Manhattan Project—hoping to force Japan's surrender without an invasion. The first bomb was dropped on Hiroshima on August 6, 1945, killing approximately 80,000 people instantly.</a:t>
            </a:r>
            <a:endParaRPr b="0" i="0" sz="950" u="none" cap="none" strike="noStrike">
              <a:solidFill>
                <a:schemeClr val="dk1"/>
              </a:solidFill>
              <a:latin typeface="Calibri"/>
              <a:ea typeface="Calibri"/>
              <a:cs typeface="Calibri"/>
              <a:sym typeface="Calibri"/>
            </a:endParaRPr>
          </a:p>
        </p:txBody>
      </p:sp>
      <p:sp>
        <p:nvSpPr>
          <p:cNvPr id="4921" name="Google Shape;4921;p190"/>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0"/>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923" name="Google Shape;4923;p190"/>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ultimatum does Truman issue to Japan in this statement?</a:t>
            </a:r>
            <a:endParaRPr b="0" i="0" sz="1250" u="none" cap="none" strike="noStrike">
              <a:solidFill>
                <a:schemeClr val="dk1"/>
              </a:solidFill>
              <a:latin typeface="Calibri"/>
              <a:ea typeface="Calibri"/>
              <a:cs typeface="Calibri"/>
              <a:sym typeface="Calibri"/>
            </a:endParaRPr>
          </a:p>
        </p:txBody>
      </p:sp>
      <p:sp>
        <p:nvSpPr>
          <p:cNvPr id="4924" name="Google Shape;4924;p19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927" name="Google Shape;4927;p19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928" name="Google Shape;4928;p19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929" name="Google Shape;4929;p19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930" name="Google Shape;4930;p19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Harry S. Truman</a:t>
            </a:r>
            <a:endParaRPr b="0" i="0" sz="950" u="none" cap="none" strike="noStrike">
              <a:solidFill>
                <a:schemeClr val="dk1"/>
              </a:solidFill>
              <a:latin typeface="Calibri"/>
              <a:ea typeface="Calibri"/>
              <a:cs typeface="Calibri"/>
              <a:sym typeface="Calibri"/>
            </a:endParaRPr>
          </a:p>
        </p:txBody>
      </p:sp>
      <p:sp>
        <p:nvSpPr>
          <p:cNvPr id="4931" name="Google Shape;4931;p19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932" name="Google Shape;4932;p19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August 6, 1945</a:t>
            </a:r>
            <a:endParaRPr b="0" i="0" sz="950" u="none" cap="none" strike="noStrike">
              <a:solidFill>
                <a:schemeClr val="dk1"/>
              </a:solidFill>
              <a:latin typeface="Calibri"/>
              <a:ea typeface="Calibri"/>
              <a:cs typeface="Calibri"/>
              <a:sym typeface="Calibri"/>
            </a:endParaRPr>
          </a:p>
        </p:txBody>
      </p:sp>
      <p:sp>
        <p:nvSpPr>
          <p:cNvPr id="4933" name="Google Shape;4933;p19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934" name="Google Shape;4934;p19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935" name="Google Shape;4935;p19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4936" name="Google Shape;4936;p1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7" name="Google Shape;4937;p1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42" name="Shape 4942"/>
        <p:cNvGrpSpPr/>
        <p:nvPr/>
      </p:nvGrpSpPr>
      <p:grpSpPr>
        <a:xfrm>
          <a:off x="0" y="0"/>
          <a:ext cx="0" cy="0"/>
          <a:chOff x="0" y="0"/>
          <a:chExt cx="0" cy="0"/>
        </a:xfrm>
      </p:grpSpPr>
      <p:sp>
        <p:nvSpPr>
          <p:cNvPr id="4943" name="Google Shape;4943;p1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KEY VOCABULARY</a:t>
            </a:r>
            <a:endParaRPr b="0" i="0" sz="1200" u="none" cap="none" strike="noStrike">
              <a:solidFill>
                <a:schemeClr val="dk1"/>
              </a:solidFill>
              <a:latin typeface="Calibri"/>
              <a:ea typeface="Calibri"/>
              <a:cs typeface="Calibri"/>
              <a:sym typeface="Calibri"/>
            </a:endParaRPr>
          </a:p>
        </p:txBody>
      </p:sp>
      <p:sp>
        <p:nvSpPr>
          <p:cNvPr id="4945" name="Google Shape;4945;p19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946" name="Google Shape;4946;p19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1"/>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949" name="Google Shape;4949;p19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950" name="Google Shape;4950;p19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951" name="Google Shape;4951;p191"/>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2" name="Google Shape;4952;p191"/>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MP</a:t>
            </a:r>
            <a:endParaRPr b="0" i="0" sz="1300" u="none" cap="none" strike="noStrike">
              <a:solidFill>
                <a:schemeClr val="dk1"/>
              </a:solidFill>
              <a:latin typeface="Calibri"/>
              <a:ea typeface="Calibri"/>
              <a:cs typeface="Calibri"/>
              <a:sym typeface="Calibri"/>
            </a:endParaRPr>
          </a:p>
        </p:txBody>
      </p:sp>
      <p:sp>
        <p:nvSpPr>
          <p:cNvPr id="4953" name="Google Shape;4953;p191"/>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954" name="Google Shape;4954;p19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1"/>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4957" name="Google Shape;4957;p19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4958" name="Google Shape;4958;p19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4959" name="Google Shape;4959;p191"/>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191"/>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AB</a:t>
            </a:r>
            <a:endParaRPr b="0" i="0" sz="1300" u="none" cap="none" strike="noStrike">
              <a:solidFill>
                <a:schemeClr val="dk1"/>
              </a:solidFill>
              <a:latin typeface="Calibri"/>
              <a:ea typeface="Calibri"/>
              <a:cs typeface="Calibri"/>
              <a:sym typeface="Calibri"/>
            </a:endParaRPr>
          </a:p>
        </p:txBody>
      </p:sp>
      <p:sp>
        <p:nvSpPr>
          <p:cNvPr id="4961" name="Google Shape;4961;p191"/>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4962" name="Google Shape;4962;p19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1"/>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4965" name="Google Shape;4965;p19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4966" name="Google Shape;4966;p19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4967" name="Google Shape;4967;p191"/>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191"/>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4969" name="Google Shape;4969;p191"/>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4970" name="Google Shape;4970;p19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1"/>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973" name="Google Shape;4973;p19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974" name="Google Shape;4974;p19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975" name="Google Shape;4975;p191"/>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191"/>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4977" name="Google Shape;4977;p191"/>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978" name="Google Shape;4978;p19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1"/>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4981" name="Google Shape;4981;p19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4982" name="Google Shape;4982;p19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4983" name="Google Shape;4983;p191"/>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191"/>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4985" name="Google Shape;4985;p191"/>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4986" name="Google Shape;4986;p19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1"/>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9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989" name="Google Shape;4989;p19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990" name="Google Shape;4990;p19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991" name="Google Shape;4991;p191"/>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191"/>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4993" name="Google Shape;4993;p191"/>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994" name="Google Shape;4994;p19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995" name="Google Shape;4995;p1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96" name="Google Shape;4996;p1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01" name="Shape 5001"/>
        <p:cNvGrpSpPr/>
        <p:nvPr/>
      </p:nvGrpSpPr>
      <p:grpSpPr>
        <a:xfrm>
          <a:off x="0" y="0"/>
          <a:ext cx="0" cy="0"/>
          <a:chOff x="0" y="0"/>
          <a:chExt cx="0" cy="0"/>
        </a:xfrm>
      </p:grpSpPr>
      <p:sp>
        <p:nvSpPr>
          <p:cNvPr id="5002" name="Google Shape;5002;p19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GUIDED PRACTICE — WE DO IT TOGETHER</a:t>
            </a:r>
            <a:endParaRPr b="0" i="0" sz="1200" u="none" cap="none" strike="noStrike">
              <a:solidFill>
                <a:schemeClr val="dk1"/>
              </a:solidFill>
              <a:latin typeface="Calibri"/>
              <a:ea typeface="Calibri"/>
              <a:cs typeface="Calibri"/>
              <a:sym typeface="Calibri"/>
            </a:endParaRPr>
          </a:p>
        </p:txBody>
      </p:sp>
      <p:sp>
        <p:nvSpPr>
          <p:cNvPr id="5004" name="Google Shape;5004;p19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005" name="Google Shape;5005;p19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9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a high-stakes decision</a:t>
            </a:r>
            <a:endParaRPr b="0" i="0" sz="1100" u="none" cap="none" strike="noStrike">
              <a:solidFill>
                <a:schemeClr val="dk1"/>
              </a:solidFill>
              <a:latin typeface="Calibri"/>
              <a:ea typeface="Calibri"/>
              <a:cs typeface="Calibri"/>
              <a:sym typeface="Calibri"/>
            </a:endParaRPr>
          </a:p>
        </p:txBody>
      </p:sp>
      <p:sp>
        <p:nvSpPr>
          <p:cNvPr id="5007" name="Google Shape;5007;p19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9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was Truman's rationale for using the atomic bomb?</a:t>
            </a:r>
            <a:endParaRPr b="0" i="0" sz="1500" u="none" cap="none" strike="noStrike">
              <a:solidFill>
                <a:schemeClr val="dk1"/>
              </a:solidFill>
              <a:latin typeface="Calibri"/>
              <a:ea typeface="Calibri"/>
              <a:cs typeface="Calibri"/>
              <a:sym typeface="Calibri"/>
            </a:endParaRPr>
          </a:p>
        </p:txBody>
      </p:sp>
      <p:sp>
        <p:nvSpPr>
          <p:cNvPr id="5009" name="Google Shape;5009;p19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9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011" name="Google Shape;5011;p19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Truman argued the bomb would end the war fast and avoid a costly invasion of Japan. Weigh that stated rationale against the human cost of Hiroshima and Nagasaki.</a:t>
            </a:r>
            <a:endParaRPr b="0" i="0" sz="1450" u="none" cap="none" strike="noStrike">
              <a:solidFill>
                <a:schemeClr val="dk1"/>
              </a:solidFill>
              <a:latin typeface="Calibri"/>
              <a:ea typeface="Calibri"/>
              <a:cs typeface="Calibri"/>
              <a:sym typeface="Calibri"/>
            </a:endParaRPr>
          </a:p>
        </p:txBody>
      </p:sp>
      <p:sp>
        <p:nvSpPr>
          <p:cNvPr id="5012" name="Google Shape;5012;p19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9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014" name="Google Shape;5014;p19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Truman's stated reason in the source.</a:t>
            </a:r>
            <a:endParaRPr b="0" i="0" sz="1300" u="none" cap="none" strike="noStrike">
              <a:solidFill>
                <a:schemeClr val="dk1"/>
              </a:solidFill>
              <a:latin typeface="Calibri"/>
              <a:ea typeface="Calibri"/>
              <a:cs typeface="Calibri"/>
              <a:sym typeface="Calibri"/>
            </a:endParaRPr>
          </a:p>
        </p:txBody>
      </p:sp>
      <p:sp>
        <p:nvSpPr>
          <p:cNvPr id="5015" name="Google Shape;5015;p19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Judge whether the rationale justified the decision, citing evidence.</a:t>
            </a:r>
            <a:endParaRPr b="0" i="0" sz="1200" u="none" cap="none" strike="noStrike">
              <a:solidFill>
                <a:schemeClr val="dk1"/>
              </a:solidFill>
              <a:latin typeface="Calibri"/>
              <a:ea typeface="Calibri"/>
              <a:cs typeface="Calibri"/>
              <a:sym typeface="Calibri"/>
            </a:endParaRPr>
          </a:p>
        </p:txBody>
      </p:sp>
      <p:sp>
        <p:nvSpPr>
          <p:cNvPr id="5016" name="Google Shape;5016;p1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17" name="Google Shape;5017;p1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22" name="Shape 5022"/>
        <p:cNvGrpSpPr/>
        <p:nvPr/>
      </p:nvGrpSpPr>
      <p:grpSpPr>
        <a:xfrm>
          <a:off x="0" y="0"/>
          <a:ext cx="0" cy="0"/>
          <a:chOff x="0" y="0"/>
          <a:chExt cx="0" cy="0"/>
        </a:xfrm>
      </p:grpSpPr>
      <p:sp>
        <p:nvSpPr>
          <p:cNvPr id="5023" name="Google Shape;5023;p19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STUDENT ACTIVITY</a:t>
            </a:r>
            <a:endParaRPr b="0" i="0" sz="1200" u="none" cap="none" strike="noStrike">
              <a:solidFill>
                <a:schemeClr val="dk1"/>
              </a:solidFill>
              <a:latin typeface="Calibri"/>
              <a:ea typeface="Calibri"/>
              <a:cs typeface="Calibri"/>
              <a:sym typeface="Calibri"/>
            </a:endParaRPr>
          </a:p>
        </p:txBody>
      </p:sp>
      <p:sp>
        <p:nvSpPr>
          <p:cNvPr id="5025" name="Google Shape;5025;p19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The Weight of the Decision — The Manhattan Project and the Bomb</a:t>
            </a:r>
            <a:endParaRPr b="0" i="0" sz="2200" u="none" cap="none" strike="noStrike">
              <a:solidFill>
                <a:schemeClr val="dk1"/>
              </a:solidFill>
              <a:latin typeface="Calibri"/>
              <a:ea typeface="Calibri"/>
              <a:cs typeface="Calibri"/>
              <a:sym typeface="Calibri"/>
            </a:endParaRPr>
          </a:p>
        </p:txBody>
      </p:sp>
      <p:sp>
        <p:nvSpPr>
          <p:cNvPr id="5026" name="Google Shape;5026;p193"/>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93"/>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028" name="Google Shape;5028;p193"/>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93"/>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030" name="Google Shape;5030;p19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9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032" name="Google Shape;5032;p19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Truman's statement on the atomic bomb and use your notes to complete a four-part organizer: (1) why OAK RIDGE, TENNESSEE was selected; (2) an overview of the MANHATTAN PROJECT; (3) the RATIONALE for using the bomb to end the war; (4) the ETHICAL DEBATE that followed. Add one detail per section. Finish with a one-sentence claim, backed by evidence, on whether the decision to drop the bomb was justified.</a:t>
            </a:r>
            <a:endParaRPr b="0" i="0" sz="1350" u="none" cap="none" strike="noStrike">
              <a:solidFill>
                <a:schemeClr val="dk1"/>
              </a:solidFill>
              <a:latin typeface="Calibri"/>
              <a:ea typeface="Calibri"/>
              <a:cs typeface="Calibri"/>
              <a:sym typeface="Calibri"/>
            </a:endParaRPr>
          </a:p>
        </p:txBody>
      </p:sp>
      <p:sp>
        <p:nvSpPr>
          <p:cNvPr id="5033" name="Google Shape;5033;p19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9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035" name="Google Shape;5035;p19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(Oak Ridge / project overview / rationale / ethical debate, one detail each) AND a one-sentence evidence-based claim about the decision.</a:t>
            </a:r>
            <a:endParaRPr b="0" i="0" sz="1050" u="none" cap="none" strike="noStrike">
              <a:solidFill>
                <a:schemeClr val="dk1"/>
              </a:solidFill>
              <a:latin typeface="Calibri"/>
              <a:ea typeface="Calibri"/>
              <a:cs typeface="Calibri"/>
              <a:sym typeface="Calibri"/>
            </a:endParaRPr>
          </a:p>
        </p:txBody>
      </p:sp>
      <p:sp>
        <p:nvSpPr>
          <p:cNvPr id="5036" name="Google Shape;5036;p19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9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038" name="Google Shape;5038;p19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Truman's statement to weigh the argument that the bomb saved lives against the argument that it caused unjustifiable civilian deaths.</a:t>
            </a:r>
            <a:endParaRPr b="0" i="0" sz="1000" u="none" cap="none" strike="noStrike">
              <a:solidFill>
                <a:schemeClr val="dk1"/>
              </a:solidFill>
              <a:latin typeface="Calibri"/>
              <a:ea typeface="Calibri"/>
              <a:cs typeface="Calibri"/>
              <a:sym typeface="Calibri"/>
            </a:endParaRPr>
          </a:p>
        </p:txBody>
      </p:sp>
      <p:sp>
        <p:nvSpPr>
          <p:cNvPr id="5039" name="Google Shape;5039;p19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cornell-notes/unit-6/us56-manhattan-project-atomic-bomb.pdf</a:t>
            </a:r>
            <a:endParaRPr b="0" i="0" sz="1050" u="none" cap="none" strike="noStrike">
              <a:solidFill>
                <a:schemeClr val="dk1"/>
              </a:solidFill>
              <a:latin typeface="Calibri"/>
              <a:ea typeface="Calibri"/>
              <a:cs typeface="Calibri"/>
              <a:sym typeface="Calibri"/>
            </a:endParaRPr>
          </a:p>
        </p:txBody>
      </p:sp>
      <p:sp>
        <p:nvSpPr>
          <p:cNvPr id="5040" name="Google Shape;5040;p1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1" name="Google Shape;5041;p1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46" name="Shape 5046"/>
        <p:cNvGrpSpPr/>
        <p:nvPr/>
      </p:nvGrpSpPr>
      <p:grpSpPr>
        <a:xfrm>
          <a:off x="0" y="0"/>
          <a:ext cx="0" cy="0"/>
          <a:chOff x="0" y="0"/>
          <a:chExt cx="0" cy="0"/>
        </a:xfrm>
      </p:grpSpPr>
      <p:sp>
        <p:nvSpPr>
          <p:cNvPr id="5047" name="Google Shape;5047;p19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9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CHECK FOR UNDERSTANDING</a:t>
            </a:r>
            <a:endParaRPr b="0" i="0" sz="1200" u="none" cap="none" strike="noStrike">
              <a:solidFill>
                <a:schemeClr val="dk1"/>
              </a:solidFill>
              <a:latin typeface="Calibri"/>
              <a:ea typeface="Calibri"/>
              <a:cs typeface="Calibri"/>
              <a:sym typeface="Calibri"/>
            </a:endParaRPr>
          </a:p>
        </p:txBody>
      </p:sp>
      <p:sp>
        <p:nvSpPr>
          <p:cNvPr id="5049" name="Google Shape;5049;p19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50" name="Google Shape;5050;p19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9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052" name="Google Shape;5052;p19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9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054" name="Google Shape;5054;p19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9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600" u="none" cap="none" strike="noStrike">
              <a:solidFill>
                <a:schemeClr val="dk1"/>
              </a:solidFill>
              <a:latin typeface="Calibri"/>
              <a:ea typeface="Calibri"/>
              <a:cs typeface="Calibri"/>
              <a:sym typeface="Calibri"/>
            </a:endParaRPr>
          </a:p>
        </p:txBody>
      </p:sp>
      <p:sp>
        <p:nvSpPr>
          <p:cNvPr id="5056" name="Google Shape;5056;p19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9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9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059" name="Google Shape;5059;p19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 housed the scientists who designed the bomb's explosive mechanism.</a:t>
            </a:r>
            <a:endParaRPr b="0" i="0" sz="1350" u="none" cap="none" strike="noStrike">
              <a:solidFill>
                <a:schemeClr val="dk1"/>
              </a:solidFill>
              <a:latin typeface="Calibri"/>
              <a:ea typeface="Calibri"/>
              <a:cs typeface="Calibri"/>
              <a:sym typeface="Calibri"/>
            </a:endParaRPr>
          </a:p>
        </p:txBody>
      </p:sp>
      <p:sp>
        <p:nvSpPr>
          <p:cNvPr id="5060" name="Google Shape;5060;p19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9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9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063" name="Google Shape;5063;p19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the site of the Trinity test where the bomb was first detonated.</a:t>
            </a:r>
            <a:endParaRPr b="0" i="0" sz="1350" u="none" cap="none" strike="noStrike">
              <a:solidFill>
                <a:schemeClr val="dk1"/>
              </a:solidFill>
              <a:latin typeface="Calibri"/>
              <a:ea typeface="Calibri"/>
              <a:cs typeface="Calibri"/>
              <a:sym typeface="Calibri"/>
            </a:endParaRPr>
          </a:p>
        </p:txBody>
      </p:sp>
      <p:sp>
        <p:nvSpPr>
          <p:cNvPr id="5064" name="Google Shape;5064;p19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9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9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067" name="Google Shape;5067;p19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where the bombs were assembled and tested.</a:t>
            </a:r>
            <a:endParaRPr b="0" i="0" sz="1350" u="none" cap="none" strike="noStrike">
              <a:solidFill>
                <a:schemeClr val="dk1"/>
              </a:solidFill>
              <a:latin typeface="Calibri"/>
              <a:ea typeface="Calibri"/>
              <a:cs typeface="Calibri"/>
              <a:sym typeface="Calibri"/>
            </a:endParaRPr>
          </a:p>
        </p:txBody>
      </p:sp>
      <p:sp>
        <p:nvSpPr>
          <p:cNvPr id="5068" name="Google Shape;5068;p19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9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9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71" name="Google Shape;5071;p19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Ridge's Y-12 and K-25 plants enriched uranium.</a:t>
            </a:r>
            <a:endParaRPr b="0" i="0" sz="1350" u="none" cap="none" strike="noStrike">
              <a:solidFill>
                <a:schemeClr val="dk1"/>
              </a:solidFill>
              <a:latin typeface="Calibri"/>
              <a:ea typeface="Calibri"/>
              <a:cs typeface="Calibri"/>
              <a:sym typeface="Calibri"/>
            </a:endParaRPr>
          </a:p>
        </p:txBody>
      </p:sp>
      <p:sp>
        <p:nvSpPr>
          <p:cNvPr id="5072" name="Google Shape;5072;p19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9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74" name="Google Shape;5074;p1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75" name="Google Shape;5075;p1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80" name="Shape 5080"/>
        <p:cNvGrpSpPr/>
        <p:nvPr/>
      </p:nvGrpSpPr>
      <p:grpSpPr>
        <a:xfrm>
          <a:off x="0" y="0"/>
          <a:ext cx="0" cy="0"/>
          <a:chOff x="0" y="0"/>
          <a:chExt cx="0" cy="0"/>
        </a:xfrm>
      </p:grpSpPr>
      <p:sp>
        <p:nvSpPr>
          <p:cNvPr id="5081" name="Google Shape;5081;p19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9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ANSWER REVEAL</a:t>
            </a:r>
            <a:endParaRPr b="0" i="0" sz="1200" u="none" cap="none" strike="noStrike">
              <a:solidFill>
                <a:schemeClr val="dk1"/>
              </a:solidFill>
              <a:latin typeface="Calibri"/>
              <a:ea typeface="Calibri"/>
              <a:cs typeface="Calibri"/>
              <a:sym typeface="Calibri"/>
            </a:endParaRPr>
          </a:p>
        </p:txBody>
      </p:sp>
      <p:sp>
        <p:nvSpPr>
          <p:cNvPr id="5083" name="Google Shape;5083;p19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84" name="Google Shape;5084;p19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9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086" name="Google Shape;5086;p19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9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500" u="none" cap="none" strike="noStrike">
              <a:solidFill>
                <a:schemeClr val="dk1"/>
              </a:solidFill>
              <a:latin typeface="Calibri"/>
              <a:ea typeface="Calibri"/>
              <a:cs typeface="Calibri"/>
              <a:sym typeface="Calibri"/>
            </a:endParaRPr>
          </a:p>
        </p:txBody>
      </p:sp>
      <p:sp>
        <p:nvSpPr>
          <p:cNvPr id="5088" name="Google Shape;5088;p19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9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9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091" name="Google Shape;5091;p19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Oak Ridge housed the scientists who designed the bomb's explosive mechanism.</a:t>
            </a:r>
            <a:endParaRPr b="0" i="0" sz="1300" u="none" cap="none" strike="noStrike">
              <a:solidFill>
                <a:schemeClr val="dk1"/>
              </a:solidFill>
              <a:latin typeface="Calibri"/>
              <a:ea typeface="Calibri"/>
              <a:cs typeface="Calibri"/>
              <a:sym typeface="Calibri"/>
            </a:endParaRPr>
          </a:p>
        </p:txBody>
      </p:sp>
      <p:sp>
        <p:nvSpPr>
          <p:cNvPr id="5092" name="Google Shape;5092;p195"/>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9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9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095" name="Google Shape;5095;p19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the site of the Trinity test where the bomb was first detonated.</a:t>
            </a:r>
            <a:endParaRPr b="0" i="0" sz="1300" u="none" cap="none" strike="noStrike">
              <a:solidFill>
                <a:schemeClr val="dk1"/>
              </a:solidFill>
              <a:latin typeface="Calibri"/>
              <a:ea typeface="Calibri"/>
              <a:cs typeface="Calibri"/>
              <a:sym typeface="Calibri"/>
            </a:endParaRPr>
          </a:p>
        </p:txBody>
      </p:sp>
      <p:sp>
        <p:nvSpPr>
          <p:cNvPr id="5096" name="Google Shape;5096;p19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9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9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099" name="Google Shape;5099;p19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where the bombs were assembled and tested.</a:t>
            </a:r>
            <a:endParaRPr b="0" i="0" sz="1300" u="none" cap="none" strike="noStrike">
              <a:solidFill>
                <a:schemeClr val="dk1"/>
              </a:solidFill>
              <a:latin typeface="Calibri"/>
              <a:ea typeface="Calibri"/>
              <a:cs typeface="Calibri"/>
              <a:sym typeface="Calibri"/>
            </a:endParaRPr>
          </a:p>
        </p:txBody>
      </p:sp>
      <p:sp>
        <p:nvSpPr>
          <p:cNvPr id="5100" name="Google Shape;5100;p195"/>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9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9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103" name="Google Shape;5103;p19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Oak Ridge's Y-12 and K-25 plants enriched uranium.</a:t>
            </a:r>
            <a:endParaRPr b="0" i="0" sz="1300" u="none" cap="none" strike="noStrike">
              <a:solidFill>
                <a:schemeClr val="dk1"/>
              </a:solidFill>
              <a:latin typeface="Calibri"/>
              <a:ea typeface="Calibri"/>
              <a:cs typeface="Calibri"/>
              <a:sym typeface="Calibri"/>
            </a:endParaRPr>
          </a:p>
        </p:txBody>
      </p:sp>
      <p:sp>
        <p:nvSpPr>
          <p:cNvPr id="5104" name="Google Shape;5104;p195"/>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105" name="Google Shape;5105;p19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9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a:t>
            </a:r>
            <a:endParaRPr b="0" i="0" sz="1150" u="none" cap="none" strike="noStrike">
              <a:solidFill>
                <a:schemeClr val="dk1"/>
              </a:solidFill>
              <a:latin typeface="Calibri"/>
              <a:ea typeface="Calibri"/>
              <a:cs typeface="Calibri"/>
              <a:sym typeface="Calibri"/>
            </a:endParaRPr>
          </a:p>
        </p:txBody>
      </p:sp>
      <p:sp>
        <p:nvSpPr>
          <p:cNvPr id="5107" name="Google Shape;5107;p1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08" name="Google Shape;5108;p1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13" name="Shape 5113"/>
        <p:cNvGrpSpPr/>
        <p:nvPr/>
      </p:nvGrpSpPr>
      <p:grpSpPr>
        <a:xfrm>
          <a:off x="0" y="0"/>
          <a:ext cx="0" cy="0"/>
          <a:chOff x="0" y="0"/>
          <a:chExt cx="0" cy="0"/>
        </a:xfrm>
      </p:grpSpPr>
      <p:sp>
        <p:nvSpPr>
          <p:cNvPr id="5114" name="Google Shape;5114;p19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WRAP-UP</a:t>
            </a:r>
            <a:endParaRPr b="0" i="0" sz="1200" u="none" cap="none" strike="noStrike">
              <a:solidFill>
                <a:schemeClr val="dk1"/>
              </a:solidFill>
              <a:latin typeface="Calibri"/>
              <a:ea typeface="Calibri"/>
              <a:cs typeface="Calibri"/>
              <a:sym typeface="Calibri"/>
            </a:endParaRPr>
          </a:p>
        </p:txBody>
      </p:sp>
      <p:sp>
        <p:nvSpPr>
          <p:cNvPr id="5116" name="Google Shape;5116;p19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117" name="Google Shape;5117;p19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9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119" name="Google Shape;5119;p19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Oak Ridge, Tennessee Selection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Manhattan Project Overview</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Rationale for Using Atomic Weapons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Ethical Debate</a:t>
            </a:r>
            <a:endParaRPr b="0" i="0" sz="1500" u="none" cap="none" strike="noStrike">
              <a:solidFill>
                <a:schemeClr val="dk1"/>
              </a:solidFill>
              <a:latin typeface="Calibri"/>
              <a:ea typeface="Calibri"/>
              <a:cs typeface="Calibri"/>
              <a:sym typeface="Calibri"/>
            </a:endParaRPr>
          </a:p>
        </p:txBody>
      </p:sp>
      <p:sp>
        <p:nvSpPr>
          <p:cNvPr id="5120" name="Google Shape;5120;p19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9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122" name="Google Shape;5122;p19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the decision to drop the atomic bomb justified? Defend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123" name="Google Shape;5123;p19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9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125" name="Google Shape;5125;p19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9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127" name="Google Shape;5127;p19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Manhattan Project and explain the rationale for using the atomic bomb.</a:t>
            </a:r>
            <a:endParaRPr b="0" i="0" sz="1350" u="none" cap="none" strike="noStrike">
              <a:solidFill>
                <a:schemeClr val="dk1"/>
              </a:solidFill>
              <a:latin typeface="Calibri"/>
              <a:ea typeface="Calibri"/>
              <a:cs typeface="Calibri"/>
              <a:sym typeface="Calibri"/>
            </a:endParaRPr>
          </a:p>
        </p:txBody>
      </p:sp>
      <p:cxnSp>
        <p:nvCxnSpPr>
          <p:cNvPr id="5128" name="Google Shape;5128;p19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29" name="Google Shape;5129;p19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30" name="Google Shape;5130;p19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131" name="Google Shape;5131;p1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32" name="Google Shape;5132;p1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37" name="Shape 5137"/>
        <p:cNvGrpSpPr/>
        <p:nvPr/>
      </p:nvGrpSpPr>
      <p:grpSpPr>
        <a:xfrm>
          <a:off x="0" y="0"/>
          <a:ext cx="0" cy="0"/>
          <a:chOff x="0" y="0"/>
          <a:chExt cx="0" cy="0"/>
        </a:xfrm>
      </p:grpSpPr>
      <p:sp>
        <p:nvSpPr>
          <p:cNvPr id="5138" name="Google Shape;5138;p19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9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9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141" name="Google Shape;5141;p19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US.57</a:t>
            </a:r>
            <a:endParaRPr b="0" i="0" sz="8800" u="none" cap="none" strike="noStrike">
              <a:solidFill>
                <a:schemeClr val="dk1"/>
              </a:solidFill>
              <a:latin typeface="Calibri"/>
              <a:ea typeface="Calibri"/>
              <a:cs typeface="Calibri"/>
              <a:sym typeface="Calibri"/>
            </a:endParaRPr>
          </a:p>
        </p:txBody>
      </p:sp>
      <p:sp>
        <p:nvSpPr>
          <p:cNvPr id="5142" name="Google Shape;5142;p19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Yalta and Potsdam Conferences</a:t>
            </a:r>
            <a:endParaRPr b="0" i="0" sz="3000" u="none" cap="none" strike="noStrike">
              <a:solidFill>
                <a:schemeClr val="dk1"/>
              </a:solidFill>
              <a:latin typeface="Calibri"/>
              <a:ea typeface="Calibri"/>
              <a:cs typeface="Calibri"/>
              <a:sym typeface="Calibri"/>
            </a:endParaRPr>
          </a:p>
        </p:txBody>
      </p:sp>
      <p:sp>
        <p:nvSpPr>
          <p:cNvPr id="5143" name="Google Shape;5143;p19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144" name="Google Shape;5144;p19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9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146" name="Google Shape;5146;p19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147" name="Google Shape;5147;p19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9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149" name="Google Shape;5149;p19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150" name="Google Shape;5150;p19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9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152" name="Google Shape;5152;p19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153" name="Google Shape;5153;p19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9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155" name="Google Shape;5155;p19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major outcomes of the Yalta and Potsdam Conferences.</a:t>
            </a:r>
            <a:endParaRPr b="0" i="0" sz="1300" u="none" cap="none" strike="noStrike">
              <a:solidFill>
                <a:schemeClr val="dk1"/>
              </a:solidFill>
              <a:latin typeface="Calibri"/>
              <a:ea typeface="Calibri"/>
              <a:cs typeface="Calibri"/>
              <a:sym typeface="Calibri"/>
            </a:endParaRPr>
          </a:p>
        </p:txBody>
      </p:sp>
      <p:sp>
        <p:nvSpPr>
          <p:cNvPr id="5156" name="Google Shape;5156;p19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9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158" name="Google Shape;5158;p19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major outcomes of the Yalta and Potsdam Conferences.</a:t>
            </a:r>
            <a:endParaRPr b="0" i="0" sz="1350" u="none" cap="none" strike="noStrike">
              <a:solidFill>
                <a:schemeClr val="dk1"/>
              </a:solidFill>
              <a:latin typeface="Calibri"/>
              <a:ea typeface="Calibri"/>
              <a:cs typeface="Calibri"/>
              <a:sym typeface="Calibri"/>
            </a:endParaRPr>
          </a:p>
        </p:txBody>
      </p:sp>
      <p:sp>
        <p:nvSpPr>
          <p:cNvPr id="5159" name="Google Shape;5159;p1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60" name="Google Shape;5160;p1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65" name="Shape 5165"/>
        <p:cNvGrpSpPr/>
        <p:nvPr/>
      </p:nvGrpSpPr>
      <p:grpSpPr>
        <a:xfrm>
          <a:off x="0" y="0"/>
          <a:ext cx="0" cy="0"/>
          <a:chOff x="0" y="0"/>
          <a:chExt cx="0" cy="0"/>
        </a:xfrm>
      </p:grpSpPr>
      <p:sp>
        <p:nvSpPr>
          <p:cNvPr id="5166" name="Google Shape;5166;p1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9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QUICK REVIEW</a:t>
            </a:r>
            <a:endParaRPr b="0" i="0" sz="1200" u="none" cap="none" strike="noStrike">
              <a:solidFill>
                <a:schemeClr val="dk1"/>
              </a:solidFill>
              <a:latin typeface="Calibri"/>
              <a:ea typeface="Calibri"/>
              <a:cs typeface="Calibri"/>
              <a:sym typeface="Calibri"/>
            </a:endParaRPr>
          </a:p>
        </p:txBody>
      </p:sp>
      <p:sp>
        <p:nvSpPr>
          <p:cNvPr id="5168" name="Google Shape;5168;p19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169" name="Google Shape;5169;p19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170" name="Google Shape;5170;p19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9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9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173" name="Google Shape;5173;p19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Manhattan Project?</a:t>
            </a:r>
            <a:endParaRPr b="0" i="0" sz="1350" u="none" cap="none" strike="noStrike">
              <a:solidFill>
                <a:schemeClr val="dk1"/>
              </a:solidFill>
              <a:latin typeface="Calibri"/>
              <a:ea typeface="Calibri"/>
              <a:cs typeface="Calibri"/>
              <a:sym typeface="Calibri"/>
            </a:endParaRPr>
          </a:p>
        </p:txBody>
      </p:sp>
      <p:sp>
        <p:nvSpPr>
          <p:cNvPr id="5174" name="Google Shape;5174;p19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9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9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177" name="Google Shape;5177;p19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main rationale for using the atomic bomb?</a:t>
            </a:r>
            <a:endParaRPr b="0" i="0" sz="1350" u="none" cap="none" strike="noStrike">
              <a:solidFill>
                <a:schemeClr val="dk1"/>
              </a:solidFill>
              <a:latin typeface="Calibri"/>
              <a:ea typeface="Calibri"/>
              <a:cs typeface="Calibri"/>
              <a:sym typeface="Calibri"/>
            </a:endParaRPr>
          </a:p>
        </p:txBody>
      </p:sp>
      <p:sp>
        <p:nvSpPr>
          <p:cNvPr id="5178" name="Google Shape;5178;p1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79" name="Google Shape;5179;p1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84" name="Shape 5184"/>
        <p:cNvGrpSpPr/>
        <p:nvPr/>
      </p:nvGrpSpPr>
      <p:grpSpPr>
        <a:xfrm>
          <a:off x="0" y="0"/>
          <a:ext cx="0" cy="0"/>
          <a:chOff x="0" y="0"/>
          <a:chExt cx="0" cy="0"/>
        </a:xfrm>
      </p:grpSpPr>
      <p:sp>
        <p:nvSpPr>
          <p:cNvPr id="5185" name="Google Shape;5185;p19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CONFIDENCE CHECK</a:t>
            </a:r>
            <a:endParaRPr b="0" i="0" sz="1200" u="none" cap="none" strike="noStrike">
              <a:solidFill>
                <a:schemeClr val="dk1"/>
              </a:solidFill>
              <a:latin typeface="Calibri"/>
              <a:ea typeface="Calibri"/>
              <a:cs typeface="Calibri"/>
              <a:sym typeface="Calibri"/>
            </a:endParaRPr>
          </a:p>
        </p:txBody>
      </p:sp>
      <p:sp>
        <p:nvSpPr>
          <p:cNvPr id="5187" name="Google Shape;5187;p19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188" name="Google Shape;5188;p19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9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190" name="Google Shape;5190;p19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9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192" name="Google Shape;5192;p19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193" name="Google Shape;5193;p19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9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of the two major Allied conferences that planned the postwar world.</a:t>
            </a:r>
            <a:endParaRPr b="0" i="0" sz="2400" u="none" cap="none" strike="noStrike">
              <a:solidFill>
                <a:schemeClr val="dk1"/>
              </a:solidFill>
              <a:latin typeface="Calibri"/>
              <a:ea typeface="Calibri"/>
              <a:cs typeface="Calibri"/>
              <a:sym typeface="Calibri"/>
            </a:endParaRPr>
          </a:p>
        </p:txBody>
      </p:sp>
      <p:sp>
        <p:nvSpPr>
          <p:cNvPr id="5195" name="Google Shape;5195;p19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9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197" name="Google Shape;5197;p19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Yalta Conference or the Potsdam Conference (both 1945).</a:t>
            </a:r>
            <a:endParaRPr b="0" i="0" sz="1600" u="none" cap="none" strike="noStrike">
              <a:solidFill>
                <a:schemeClr val="dk1"/>
              </a:solidFill>
              <a:latin typeface="Calibri"/>
              <a:ea typeface="Calibri"/>
              <a:cs typeface="Calibri"/>
              <a:sym typeface="Calibri"/>
            </a:endParaRPr>
          </a:p>
        </p:txBody>
      </p:sp>
      <p:sp>
        <p:nvSpPr>
          <p:cNvPr id="5198" name="Google Shape;5198;p19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9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200" name="Google Shape;5200;p1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01" name="Google Shape;5201;p1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06" name="Shape 5206"/>
        <p:cNvGrpSpPr/>
        <p:nvPr/>
      </p:nvGrpSpPr>
      <p:grpSpPr>
        <a:xfrm>
          <a:off x="0" y="0"/>
          <a:ext cx="0" cy="0"/>
          <a:chOff x="0" y="0"/>
          <a:chExt cx="0" cy="0"/>
        </a:xfrm>
      </p:grpSpPr>
      <p:sp>
        <p:nvSpPr>
          <p:cNvPr id="5207" name="Google Shape;5207;p20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HOOK</a:t>
            </a:r>
            <a:endParaRPr b="0" i="0" sz="1200" u="none" cap="none" strike="noStrike">
              <a:solidFill>
                <a:schemeClr val="dk1"/>
              </a:solidFill>
              <a:latin typeface="Calibri"/>
              <a:ea typeface="Calibri"/>
              <a:cs typeface="Calibri"/>
              <a:sym typeface="Calibri"/>
            </a:endParaRPr>
          </a:p>
        </p:txBody>
      </p:sp>
      <p:sp>
        <p:nvSpPr>
          <p:cNvPr id="5209" name="Google Shape;5209;p20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210" name="Google Shape;5210;p20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20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victory neared, the leaders of the United States, Britain, and the Soviet Union met at Yalta and Potsdam to divide up the postwar world, and in the process planted the seeds of the Cold War.</a:t>
            </a:r>
            <a:endParaRPr b="0" i="0" sz="2600" u="none" cap="none" strike="noStrike">
              <a:solidFill>
                <a:schemeClr val="dk1"/>
              </a:solidFill>
              <a:latin typeface="Calibri"/>
              <a:ea typeface="Calibri"/>
              <a:cs typeface="Calibri"/>
              <a:sym typeface="Calibri"/>
            </a:endParaRPr>
          </a:p>
        </p:txBody>
      </p:sp>
      <p:sp>
        <p:nvSpPr>
          <p:cNvPr id="5212" name="Google Shape;5212;p20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214" name="Google Shape;5214;p20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216" name="Google Shape;5216;p20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allies win a war together but distrust one another, how do the peace they make and the lines they draw shape the decades that follow?</a:t>
            </a:r>
            <a:endParaRPr b="0" i="0" sz="1600" u="none" cap="none" strike="noStrike">
              <a:solidFill>
                <a:schemeClr val="dk1"/>
              </a:solidFill>
              <a:latin typeface="Calibri"/>
              <a:ea typeface="Calibri"/>
              <a:cs typeface="Calibri"/>
              <a:sym typeface="Calibri"/>
            </a:endParaRPr>
          </a:p>
        </p:txBody>
      </p:sp>
      <p:sp>
        <p:nvSpPr>
          <p:cNvPr id="5217" name="Google Shape;5217;p2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18" name="Google Shape;5218;p2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23" name="Shape 5223"/>
        <p:cNvGrpSpPr/>
        <p:nvPr/>
      </p:nvGrpSpPr>
      <p:grpSpPr>
        <a:xfrm>
          <a:off x="0" y="0"/>
          <a:ext cx="0" cy="0"/>
          <a:chOff x="0" y="0"/>
          <a:chExt cx="0" cy="0"/>
        </a:xfrm>
      </p:grpSpPr>
      <p:sp>
        <p:nvSpPr>
          <p:cNvPr id="5224" name="Google Shape;5224;p20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26" name="Google Shape;5226;p20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Yalta Conference (February 1945)</a:t>
            </a:r>
            <a:endParaRPr b="0" i="0" sz="3000" u="none" cap="none" strike="noStrike">
              <a:solidFill>
                <a:schemeClr val="dk1"/>
              </a:solidFill>
              <a:latin typeface="Calibri"/>
              <a:ea typeface="Calibri"/>
              <a:cs typeface="Calibri"/>
              <a:sym typeface="Calibri"/>
            </a:endParaRPr>
          </a:p>
        </p:txBody>
      </p:sp>
      <p:sp>
        <p:nvSpPr>
          <p:cNvPr id="5227" name="Google Shape;5227;p20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232" name="Google Shape;5232;p20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1"/>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Churchill, and Stalin met as Allied victory approached.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Major agreements included UN formation plans, division of Germany into occupation zones, and Soviet entry into the war against Japan.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Controversially, Stalin promised "free elections" in liberated Eastern Europe—a promise he would break.</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conference also addressed reparations from Germany and arrangements for post-war Poland.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sought Soviet cooperation for the post-war order.</a:t>
            </a:r>
            <a:endParaRPr b="0" i="0" sz="1550" u="none" cap="none" strike="noStrike">
              <a:solidFill>
                <a:schemeClr val="dk1"/>
              </a:solidFill>
              <a:latin typeface="Calibri"/>
              <a:ea typeface="Calibri"/>
              <a:cs typeface="Calibri"/>
              <a:sym typeface="Calibri"/>
            </a:endParaRPr>
          </a:p>
        </p:txBody>
      </p:sp>
      <p:sp>
        <p:nvSpPr>
          <p:cNvPr id="5234" name="Google Shape;5234;p201"/>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1"/>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236" name="Google Shape;5236;p201"/>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At Yalta and Potsdam the Allies agreed to ________, but disagreed over ________, which helped start the Cold War.</a:t>
            </a:r>
            <a:endParaRPr b="0" i="0" sz="1050" u="none" cap="none" strike="noStrike">
              <a:solidFill>
                <a:schemeClr val="dk1"/>
              </a:solidFill>
              <a:latin typeface="Calibri"/>
              <a:ea typeface="Calibri"/>
              <a:cs typeface="Calibri"/>
              <a:sym typeface="Calibri"/>
            </a:endParaRPr>
          </a:p>
        </p:txBody>
      </p:sp>
      <p:sp>
        <p:nvSpPr>
          <p:cNvPr id="5237" name="Google Shape;5237;p201"/>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yalta-conference-big-three-1945.jpg" id="5238" name="Google Shape;5238;p201"/>
          <p:cNvPicPr preferRelativeResize="0"/>
          <p:nvPr/>
        </p:nvPicPr>
        <p:blipFill rotWithShape="1">
          <a:blip r:embed="rId3">
            <a:alphaModFix/>
          </a:blip>
          <a:srcRect b="0" l="0" r="0" t="0"/>
          <a:stretch/>
        </p:blipFill>
        <p:spPr>
          <a:xfrm>
            <a:off x="7886179" y="1783080"/>
            <a:ext cx="3475761" cy="2862072"/>
          </a:xfrm>
          <a:prstGeom prst="rect">
            <a:avLst/>
          </a:prstGeom>
          <a:noFill/>
          <a:ln>
            <a:noFill/>
          </a:ln>
        </p:spPr>
      </p:pic>
      <p:sp>
        <p:nvSpPr>
          <p:cNvPr id="5239" name="Google Shape;5239;p201"/>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U.S. Army Signal Corps / U.S. Federal Government, February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5240" name="Google Shape;5240;p201"/>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1"/>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5242" name="Google Shape;5242;p2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43" name="Google Shape;5243;p2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8" name="Shape 5248"/>
        <p:cNvGrpSpPr/>
        <p:nvPr/>
      </p:nvGrpSpPr>
      <p:grpSpPr>
        <a:xfrm>
          <a:off x="0" y="0"/>
          <a:ext cx="0" cy="0"/>
          <a:chOff x="0" y="0"/>
          <a:chExt cx="0" cy="0"/>
        </a:xfrm>
      </p:grpSpPr>
      <p:sp>
        <p:nvSpPr>
          <p:cNvPr id="5249" name="Google Shape;5249;p20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51" name="Google Shape;5251;p20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Potsdam Conference (July-August 1945)</a:t>
            </a:r>
            <a:endParaRPr b="0" i="0" sz="3000" u="none" cap="none" strike="noStrike">
              <a:solidFill>
                <a:schemeClr val="dk1"/>
              </a:solidFill>
              <a:latin typeface="Calibri"/>
              <a:ea typeface="Calibri"/>
              <a:cs typeface="Calibri"/>
              <a:sym typeface="Calibri"/>
            </a:endParaRPr>
          </a:p>
        </p:txBody>
      </p:sp>
      <p:sp>
        <p:nvSpPr>
          <p:cNvPr id="5252" name="Google Shape;5252;p20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20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257" name="Google Shape;5257;p20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(replacing the deceased Roosevelt), Churchill (replaced mid-conference by Attlee), and Stalin met as Germany surrendered.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conference confirmed occupation zones, issued the Potsdam Declaration ultimatum to Japan demanding unconditional surrender, and agreed on German demilitarization and denazification.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Tensions over Eastern Europe and reparations surfaced, revealing the growing divide between Soviet and Western visions for post-war Europe.</a:t>
            </a:r>
            <a:endParaRPr b="0" i="0" sz="1700" u="none" cap="none" strike="noStrike">
              <a:solidFill>
                <a:schemeClr val="dk1"/>
              </a:solidFill>
              <a:latin typeface="Calibri"/>
              <a:ea typeface="Calibri"/>
              <a:cs typeface="Calibri"/>
              <a:sym typeface="Calibri"/>
            </a:endParaRPr>
          </a:p>
        </p:txBody>
      </p:sp>
      <p:sp>
        <p:nvSpPr>
          <p:cNvPr id="5259" name="Google Shape;5259;p2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60" name="Google Shape;5260;p2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65" name="Shape 5265"/>
        <p:cNvGrpSpPr/>
        <p:nvPr/>
      </p:nvGrpSpPr>
      <p:grpSpPr>
        <a:xfrm>
          <a:off x="0" y="0"/>
          <a:ext cx="0" cy="0"/>
          <a:chOff x="0" y="0"/>
          <a:chExt cx="0" cy="0"/>
        </a:xfrm>
      </p:grpSpPr>
      <p:sp>
        <p:nvSpPr>
          <p:cNvPr id="5266" name="Google Shape;5266;p20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68" name="Google Shape;5268;p20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Cold War Origins</a:t>
            </a:r>
            <a:endParaRPr b="0" i="0" sz="3000" u="none" cap="none" strike="noStrike">
              <a:solidFill>
                <a:schemeClr val="dk1"/>
              </a:solidFill>
              <a:latin typeface="Calibri"/>
              <a:ea typeface="Calibri"/>
              <a:cs typeface="Calibri"/>
              <a:sym typeface="Calibri"/>
            </a:endParaRPr>
          </a:p>
        </p:txBody>
      </p:sp>
      <p:sp>
        <p:nvSpPr>
          <p:cNvPr id="5269" name="Google Shape;5269;p20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274" name="Google Shape;5274;p20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Disagreements over Eastern Europe proved irreconcilable.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Stalin's interpretation of "free elections" meant communist-controlled governments, while the West expected genuine democratic choice.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Soviet occupation of Eastern Europe created what Churchill would call the "Iron Curtain." German reparations disputes, with the Soviets stripping their zone of industrial equipment, deepened mistrust.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wartime conferences set the stage for the Cold War division of Europe.</a:t>
            </a:r>
            <a:endParaRPr b="0" i="0" sz="1700" u="none" cap="none" strike="noStrike">
              <a:solidFill>
                <a:schemeClr val="dk1"/>
              </a:solidFill>
              <a:latin typeface="Calibri"/>
              <a:ea typeface="Calibri"/>
              <a:cs typeface="Calibri"/>
              <a:sym typeface="Calibri"/>
            </a:endParaRPr>
          </a:p>
        </p:txBody>
      </p:sp>
      <p:sp>
        <p:nvSpPr>
          <p:cNvPr id="5276" name="Google Shape;5276;p2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77" name="Google Shape;5277;p2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82" name="Shape 5282"/>
        <p:cNvGrpSpPr/>
        <p:nvPr/>
      </p:nvGrpSpPr>
      <p:grpSpPr>
        <a:xfrm>
          <a:off x="0" y="0"/>
          <a:ext cx="0" cy="0"/>
          <a:chOff x="0" y="0"/>
          <a:chExt cx="0" cy="0"/>
        </a:xfrm>
      </p:grpSpPr>
      <p:sp>
        <p:nvSpPr>
          <p:cNvPr id="5283" name="Google Shape;5283;p2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85" name="Google Shape;5285;p2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Assessment of Allied Diplomacy</a:t>
            </a:r>
            <a:endParaRPr b="0" i="0" sz="3000" u="none" cap="none" strike="noStrike">
              <a:solidFill>
                <a:schemeClr val="dk1"/>
              </a:solidFill>
              <a:latin typeface="Calibri"/>
              <a:ea typeface="Calibri"/>
              <a:cs typeface="Calibri"/>
              <a:sym typeface="Calibri"/>
            </a:endParaRPr>
          </a:p>
        </p:txBody>
      </p:sp>
      <p:sp>
        <p:nvSpPr>
          <p:cNvPr id="5286" name="Google Shape;5286;p2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291" name="Google Shape;5291;p20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Critics argue Roosevelt conceded too much to Stalin at Yalta, though defenders note Soviet armies already occupied Eastern Europe and FDR sought Soviet help against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took a harder line at Potsdam but faced the same reality of Soviet military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Whether better outcomes were possible remains debated—the fundamental conflict between Soviet security concerns and Western democratic values may have made Cold War inevitable regardless of conference diplomacy.</a:t>
            </a:r>
            <a:endParaRPr b="0" i="0" sz="1700" u="none" cap="none" strike="noStrike">
              <a:solidFill>
                <a:schemeClr val="dk1"/>
              </a:solidFill>
              <a:latin typeface="Calibri"/>
              <a:ea typeface="Calibri"/>
              <a:cs typeface="Calibri"/>
              <a:sym typeface="Calibri"/>
            </a:endParaRPr>
          </a:p>
        </p:txBody>
      </p:sp>
      <p:sp>
        <p:nvSpPr>
          <p:cNvPr id="5293" name="Google Shape;5293;p2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94" name="Google Shape;5294;p2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99" name="Shape 5299"/>
        <p:cNvGrpSpPr/>
        <p:nvPr/>
      </p:nvGrpSpPr>
      <p:grpSpPr>
        <a:xfrm>
          <a:off x="0" y="0"/>
          <a:ext cx="0" cy="0"/>
          <a:chOff x="0" y="0"/>
          <a:chExt cx="0" cy="0"/>
        </a:xfrm>
      </p:grpSpPr>
      <p:sp>
        <p:nvSpPr>
          <p:cNvPr id="5300" name="Google Shape;5300;p20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PEOPLE WHO SHAPED THE ERA</a:t>
            </a:r>
            <a:endParaRPr b="0" i="0" sz="1200" u="none" cap="none" strike="noStrike">
              <a:solidFill>
                <a:schemeClr val="dk1"/>
              </a:solidFill>
              <a:latin typeface="Calibri"/>
              <a:ea typeface="Calibri"/>
              <a:cs typeface="Calibri"/>
              <a:sym typeface="Calibri"/>
            </a:endParaRPr>
          </a:p>
        </p:txBody>
      </p:sp>
      <p:sp>
        <p:nvSpPr>
          <p:cNvPr id="5302" name="Google Shape;5302;p20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5303" name="Google Shape;5303;p205"/>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5"/>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5"/>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5306" name="Google Shape;5306;p205"/>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at Yalta</a:t>
            </a:r>
            <a:endParaRPr b="0" i="0" sz="1100" u="none" cap="none" strike="noStrike">
              <a:solidFill>
                <a:schemeClr val="dk1"/>
              </a:solidFill>
              <a:latin typeface="Calibri"/>
              <a:ea typeface="Calibri"/>
              <a:cs typeface="Calibri"/>
              <a:sym typeface="Calibri"/>
            </a:endParaRPr>
          </a:p>
        </p:txBody>
      </p:sp>
      <p:sp>
        <p:nvSpPr>
          <p:cNvPr id="5307" name="Google Shape;5307;p205"/>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Met Churchill and Stalin at Yalta (Feb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Sought Soviet help against Japan and a postwar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Died before the Potsdam Conference</a:t>
            </a:r>
            <a:endParaRPr b="0" i="0" sz="1300" u="none" cap="none" strike="noStrike">
              <a:solidFill>
                <a:schemeClr val="dk1"/>
              </a:solidFill>
              <a:latin typeface="Calibri"/>
              <a:ea typeface="Calibri"/>
              <a:cs typeface="Calibri"/>
              <a:sym typeface="Calibri"/>
            </a:endParaRPr>
          </a:p>
        </p:txBody>
      </p:sp>
      <p:sp>
        <p:nvSpPr>
          <p:cNvPr id="5308" name="Google Shape;5308;p205"/>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5"/>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 at Yalta and Truman at Potsdam to show continuity and change in Allied diplomacy.</a:t>
            </a:r>
            <a:endParaRPr b="0" i="0" sz="800" u="none" cap="none" strike="noStrike">
              <a:solidFill>
                <a:schemeClr val="dk1"/>
              </a:solidFill>
              <a:latin typeface="Calibri"/>
              <a:ea typeface="Calibri"/>
              <a:cs typeface="Calibri"/>
              <a:sym typeface="Calibri"/>
            </a:endParaRPr>
          </a:p>
        </p:txBody>
      </p:sp>
      <p:sp>
        <p:nvSpPr>
          <p:cNvPr id="5310" name="Google Shape;5310;p205"/>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5"/>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5"/>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5313" name="Google Shape;5313;p205"/>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at Potsdam</a:t>
            </a:r>
            <a:endParaRPr b="0" i="0" sz="1100" u="none" cap="none" strike="noStrike">
              <a:solidFill>
                <a:schemeClr val="dk1"/>
              </a:solidFill>
              <a:latin typeface="Calibri"/>
              <a:ea typeface="Calibri"/>
              <a:cs typeface="Calibri"/>
              <a:sym typeface="Calibri"/>
            </a:endParaRPr>
          </a:p>
        </p:txBody>
      </p:sp>
      <p:sp>
        <p:nvSpPr>
          <p:cNvPr id="5314" name="Google Shape;5314;p205"/>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the U.S. at Potsdam (July-Aug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Issued the Potsdam Declaration demanding Japan's surrender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Faced rising tension with Stalin over postwar Europe</a:t>
            </a:r>
            <a:endParaRPr b="0" i="0" sz="1300" u="none" cap="none" strike="noStrike">
              <a:solidFill>
                <a:schemeClr val="dk1"/>
              </a:solidFill>
              <a:latin typeface="Calibri"/>
              <a:ea typeface="Calibri"/>
              <a:cs typeface="Calibri"/>
              <a:sym typeface="Calibri"/>
            </a:endParaRPr>
          </a:p>
        </p:txBody>
      </p:sp>
      <p:sp>
        <p:nvSpPr>
          <p:cNvPr id="5315" name="Google Shape;5315;p205"/>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5"/>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Contrast Potsdam's hardening tone with Yalta to preview the coming Cold War.</a:t>
            </a:r>
            <a:endParaRPr b="0" i="0" sz="800" u="none" cap="none" strike="noStrike">
              <a:solidFill>
                <a:schemeClr val="dk1"/>
              </a:solidFill>
              <a:latin typeface="Calibri"/>
              <a:ea typeface="Calibri"/>
              <a:cs typeface="Calibri"/>
              <a:sym typeface="Calibri"/>
            </a:endParaRPr>
          </a:p>
        </p:txBody>
      </p:sp>
      <p:sp>
        <p:nvSpPr>
          <p:cNvPr id="5317" name="Google Shape;5317;p2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18" name="Google Shape;5318;p2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23" name="Shape 5323"/>
        <p:cNvGrpSpPr/>
        <p:nvPr/>
      </p:nvGrpSpPr>
      <p:grpSpPr>
        <a:xfrm>
          <a:off x="0" y="0"/>
          <a:ext cx="0" cy="0"/>
          <a:chOff x="0" y="0"/>
          <a:chExt cx="0" cy="0"/>
        </a:xfrm>
      </p:grpSpPr>
      <p:sp>
        <p:nvSpPr>
          <p:cNvPr id="5324" name="Google Shape;5324;p20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US.57 · PRIMARY SOURCE ANALYSIS</a:t>
            </a:r>
            <a:endParaRPr b="0" i="0" sz="1200" u="none" cap="none" strike="noStrike">
              <a:solidFill>
                <a:schemeClr val="dk1"/>
              </a:solidFill>
              <a:latin typeface="Calibri"/>
              <a:ea typeface="Calibri"/>
              <a:cs typeface="Calibri"/>
              <a:sym typeface="Calibri"/>
            </a:endParaRPr>
          </a:p>
        </p:txBody>
      </p:sp>
      <p:sp>
        <p:nvSpPr>
          <p:cNvPr id="5326" name="Google Shape;5326;p20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Yalta Conference Communiqué</a:t>
            </a:r>
            <a:endParaRPr b="0" i="0" sz="2500" u="none" cap="none" strike="noStrike">
              <a:solidFill>
                <a:schemeClr val="dk1"/>
              </a:solidFill>
              <a:latin typeface="Calibri"/>
              <a:ea typeface="Calibri"/>
              <a:cs typeface="Calibri"/>
              <a:sym typeface="Calibri"/>
            </a:endParaRPr>
          </a:p>
        </p:txBody>
      </p:sp>
      <p:sp>
        <p:nvSpPr>
          <p:cNvPr id="5327" name="Google Shape;5327;p20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5329" name="Google Shape;5329;p20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Roosevelt, Churchill, and Stalin  ·  February 1945</a:t>
            </a:r>
            <a:endParaRPr b="0" i="0" sz="1200" u="none" cap="none" strike="noStrike">
              <a:solidFill>
                <a:schemeClr val="dk1"/>
              </a:solidFill>
              <a:latin typeface="Calibri"/>
              <a:ea typeface="Calibri"/>
              <a:cs typeface="Calibri"/>
              <a:sym typeface="Calibri"/>
            </a:endParaRPr>
          </a:p>
        </p:txBody>
      </p:sp>
      <p:sp>
        <p:nvSpPr>
          <p:cNvPr id="5330" name="Google Shape;5330;p20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400" u="none" cap="none" strike="noStrike">
              <a:solidFill>
                <a:schemeClr val="dk1"/>
              </a:solidFill>
              <a:latin typeface="Calibri"/>
              <a:ea typeface="Calibri"/>
              <a:cs typeface="Calibri"/>
              <a:sym typeface="Calibri"/>
            </a:endParaRPr>
          </a:p>
        </p:txBody>
      </p:sp>
      <p:sp>
        <p:nvSpPr>
          <p:cNvPr id="5333" name="Google Shape;5333;p20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335" name="Google Shape;5335;p206"/>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337" name="Google Shape;5337;p206"/>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In February 1945, with Germany's defeat approaching, the leaders of the three main Allied powers—Roosevelt, Churchill, and Stalin—met at Yalta in Soviet Crimea to plan the post-war world. They made key decisions about Germany's defeat and occupation, the establishment of the United Nations, and the future of Eastern Europe. Many historians see Yalta as marking the beginning of tensions that would become the Cold War, as Stalin soon violated promises about free elections in Eastern Europe.</a:t>
            </a:r>
            <a:endParaRPr b="0" i="0" sz="950" u="none" cap="none" strike="noStrike">
              <a:solidFill>
                <a:schemeClr val="dk1"/>
              </a:solidFill>
              <a:latin typeface="Calibri"/>
              <a:ea typeface="Calibri"/>
              <a:cs typeface="Calibri"/>
              <a:sym typeface="Calibri"/>
            </a:endParaRPr>
          </a:p>
        </p:txBody>
      </p:sp>
      <p:sp>
        <p:nvSpPr>
          <p:cNvPr id="5338" name="Google Shape;5338;p206"/>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6"/>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340" name="Google Shape;5340;p206"/>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shared goal of the Allied leaders at Yalta regarding Germany?</a:t>
            </a:r>
            <a:endParaRPr b="0" i="0" sz="1250" u="none" cap="none" strike="noStrike">
              <a:solidFill>
                <a:schemeClr val="dk1"/>
              </a:solidFill>
              <a:latin typeface="Calibri"/>
              <a:ea typeface="Calibri"/>
              <a:cs typeface="Calibri"/>
              <a:sym typeface="Calibri"/>
            </a:endParaRPr>
          </a:p>
        </p:txBody>
      </p:sp>
      <p:sp>
        <p:nvSpPr>
          <p:cNvPr id="5341" name="Google Shape;5341;p20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344" name="Google Shape;5344;p20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345" name="Google Shape;5345;p20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346" name="Google Shape;5346;p20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347" name="Google Shape;5347;p20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Roosevelt, Churchill, and Stalin</a:t>
            </a:r>
            <a:endParaRPr b="0" i="0" sz="950" u="none" cap="none" strike="noStrike">
              <a:solidFill>
                <a:schemeClr val="dk1"/>
              </a:solidFill>
              <a:latin typeface="Calibri"/>
              <a:ea typeface="Calibri"/>
              <a:cs typeface="Calibri"/>
              <a:sym typeface="Calibri"/>
            </a:endParaRPr>
          </a:p>
        </p:txBody>
      </p:sp>
      <p:sp>
        <p:nvSpPr>
          <p:cNvPr id="5348" name="Google Shape;5348;p20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349" name="Google Shape;5349;p20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1945</a:t>
            </a:r>
            <a:endParaRPr b="0" i="0" sz="950" u="none" cap="none" strike="noStrike">
              <a:solidFill>
                <a:schemeClr val="dk1"/>
              </a:solidFill>
              <a:latin typeface="Calibri"/>
              <a:ea typeface="Calibri"/>
              <a:cs typeface="Calibri"/>
              <a:sym typeface="Calibri"/>
            </a:endParaRPr>
          </a:p>
        </p:txBody>
      </p:sp>
      <p:sp>
        <p:nvSpPr>
          <p:cNvPr id="5350" name="Google Shape;5350;p20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351" name="Google Shape;5351;p20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352" name="Google Shape;5352;p20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5353" name="Google Shape;5353;p2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54" name="Google Shape;5354;p2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59" name="Shape 5359"/>
        <p:cNvGrpSpPr/>
        <p:nvPr/>
      </p:nvGrpSpPr>
      <p:grpSpPr>
        <a:xfrm>
          <a:off x="0" y="0"/>
          <a:ext cx="0" cy="0"/>
          <a:chOff x="0" y="0"/>
          <a:chExt cx="0" cy="0"/>
        </a:xfrm>
      </p:grpSpPr>
      <p:sp>
        <p:nvSpPr>
          <p:cNvPr id="5360" name="Google Shape;5360;p2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KEY VOCABULARY</a:t>
            </a:r>
            <a:endParaRPr b="0" i="0" sz="1200" u="none" cap="none" strike="noStrike">
              <a:solidFill>
                <a:schemeClr val="dk1"/>
              </a:solidFill>
              <a:latin typeface="Calibri"/>
              <a:ea typeface="Calibri"/>
              <a:cs typeface="Calibri"/>
              <a:sym typeface="Calibri"/>
            </a:endParaRPr>
          </a:p>
        </p:txBody>
      </p:sp>
      <p:sp>
        <p:nvSpPr>
          <p:cNvPr id="5362" name="Google Shape;5362;p20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363" name="Google Shape;5363;p20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7"/>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366" name="Google Shape;5366;p20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367" name="Google Shape;5367;p20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368" name="Google Shape;5368;p207"/>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207"/>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YC</a:t>
            </a:r>
            <a:endParaRPr b="0" i="0" sz="1300" u="none" cap="none" strike="noStrike">
              <a:solidFill>
                <a:schemeClr val="dk1"/>
              </a:solidFill>
              <a:latin typeface="Calibri"/>
              <a:ea typeface="Calibri"/>
              <a:cs typeface="Calibri"/>
              <a:sym typeface="Calibri"/>
            </a:endParaRPr>
          </a:p>
        </p:txBody>
      </p:sp>
      <p:sp>
        <p:nvSpPr>
          <p:cNvPr id="5370" name="Google Shape;5370;p207"/>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371" name="Google Shape;5371;p20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7"/>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Potsdam Conference</a:t>
            </a:r>
            <a:endParaRPr b="0" i="0" sz="1350" u="none" cap="none" strike="noStrike">
              <a:solidFill>
                <a:schemeClr val="dk1"/>
              </a:solidFill>
              <a:latin typeface="Calibri"/>
              <a:ea typeface="Calibri"/>
              <a:cs typeface="Calibri"/>
              <a:sym typeface="Calibri"/>
            </a:endParaRPr>
          </a:p>
        </p:txBody>
      </p:sp>
      <p:sp>
        <p:nvSpPr>
          <p:cNvPr id="5374" name="Google Shape;5374;p20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POTS-dam KON-fer-ens</a:t>
            </a:r>
            <a:endParaRPr b="0" i="0" sz="850" u="none" cap="none" strike="noStrike">
              <a:solidFill>
                <a:schemeClr val="dk1"/>
              </a:solidFill>
              <a:latin typeface="Calibri"/>
              <a:ea typeface="Calibri"/>
              <a:cs typeface="Calibri"/>
              <a:sym typeface="Calibri"/>
            </a:endParaRPr>
          </a:p>
        </p:txBody>
      </p:sp>
      <p:sp>
        <p:nvSpPr>
          <p:cNvPr id="5375" name="Google Shape;5375;p20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Potsdam</a:t>
            </a:r>
            <a:endParaRPr b="0" i="0" sz="1000" u="none" cap="none" strike="noStrike">
              <a:solidFill>
                <a:schemeClr val="dk1"/>
              </a:solidFill>
              <a:latin typeface="Calibri"/>
              <a:ea typeface="Calibri"/>
              <a:cs typeface="Calibri"/>
              <a:sym typeface="Calibri"/>
            </a:endParaRPr>
          </a:p>
        </p:txBody>
      </p:sp>
      <p:sp>
        <p:nvSpPr>
          <p:cNvPr id="5376" name="Google Shape;5376;p207"/>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207"/>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PC</a:t>
            </a:r>
            <a:endParaRPr b="0" i="0" sz="1300" u="none" cap="none" strike="noStrike">
              <a:solidFill>
                <a:schemeClr val="dk1"/>
              </a:solidFill>
              <a:latin typeface="Calibri"/>
              <a:ea typeface="Calibri"/>
              <a:cs typeface="Calibri"/>
              <a:sym typeface="Calibri"/>
            </a:endParaRPr>
          </a:p>
        </p:txBody>
      </p:sp>
      <p:sp>
        <p:nvSpPr>
          <p:cNvPr id="5378" name="Google Shape;5378;p207"/>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July-August 1945 meeting of Truman, Churchill/Attlee, and Stalin finalizing plans for occupied Germany and issuing surrender terms to Japan.</a:t>
            </a:r>
            <a:endParaRPr b="0" i="0" sz="1100" u="none" cap="none" strike="noStrike">
              <a:solidFill>
                <a:schemeClr val="dk1"/>
              </a:solidFill>
              <a:latin typeface="Calibri"/>
              <a:ea typeface="Calibri"/>
              <a:cs typeface="Calibri"/>
              <a:sym typeface="Calibri"/>
            </a:endParaRPr>
          </a:p>
        </p:txBody>
      </p:sp>
      <p:sp>
        <p:nvSpPr>
          <p:cNvPr id="5379" name="Google Shape;5379;p20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7"/>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5382" name="Google Shape;5382;p20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5383" name="Google Shape;5383;p20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5384" name="Google Shape;5384;p207"/>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207"/>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5386" name="Google Shape;5386;p207"/>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5387" name="Google Shape;5387;p20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7"/>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5390" name="Google Shape;5390;p20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5391" name="Google Shape;5391;p20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5392" name="Google Shape;5392;p207"/>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207"/>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AB</a:t>
            </a:r>
            <a:endParaRPr b="0" i="0" sz="1300" u="none" cap="none" strike="noStrike">
              <a:solidFill>
                <a:schemeClr val="dk1"/>
              </a:solidFill>
              <a:latin typeface="Calibri"/>
              <a:ea typeface="Calibri"/>
              <a:cs typeface="Calibri"/>
              <a:sym typeface="Calibri"/>
            </a:endParaRPr>
          </a:p>
        </p:txBody>
      </p:sp>
      <p:sp>
        <p:nvSpPr>
          <p:cNvPr id="5394" name="Google Shape;5394;p207"/>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5395" name="Google Shape;5395;p20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7"/>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398" name="Google Shape;5398;p20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399" name="Google Shape;5399;p20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400" name="Google Shape;5400;p207"/>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207"/>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402" name="Google Shape;5402;p207"/>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403" name="Google Shape;5403;p20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7"/>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5406" name="Google Shape;5406;p20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5407" name="Google Shape;5407;p20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5408" name="Google Shape;5408;p207"/>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207"/>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410" name="Google Shape;5410;p207"/>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5411" name="Google Shape;5411;p20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412" name="Google Shape;5412;p2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13" name="Google Shape;5413;p2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8" name="Shape 5418"/>
        <p:cNvGrpSpPr/>
        <p:nvPr/>
      </p:nvGrpSpPr>
      <p:grpSpPr>
        <a:xfrm>
          <a:off x="0" y="0"/>
          <a:ext cx="0" cy="0"/>
          <a:chOff x="0" y="0"/>
          <a:chExt cx="0" cy="0"/>
        </a:xfrm>
      </p:grpSpPr>
      <p:sp>
        <p:nvSpPr>
          <p:cNvPr id="5419" name="Google Shape;5419;p2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GUIDED PRACTICE — WE DO IT TOGETHER</a:t>
            </a:r>
            <a:endParaRPr b="0" i="0" sz="1200" u="none" cap="none" strike="noStrike">
              <a:solidFill>
                <a:schemeClr val="dk1"/>
              </a:solidFill>
              <a:latin typeface="Calibri"/>
              <a:ea typeface="Calibri"/>
              <a:cs typeface="Calibri"/>
              <a:sym typeface="Calibri"/>
            </a:endParaRPr>
          </a:p>
        </p:txBody>
      </p:sp>
      <p:sp>
        <p:nvSpPr>
          <p:cNvPr id="5421" name="Google Shape;5421;p20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422" name="Google Shape;5422;p20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Summarize diplomatic outcomes</a:t>
            </a:r>
            <a:endParaRPr b="0" i="0" sz="1100" u="none" cap="none" strike="noStrike">
              <a:solidFill>
                <a:schemeClr val="dk1"/>
              </a:solidFill>
              <a:latin typeface="Calibri"/>
              <a:ea typeface="Calibri"/>
              <a:cs typeface="Calibri"/>
              <a:sym typeface="Calibri"/>
            </a:endParaRPr>
          </a:p>
        </p:txBody>
      </p:sp>
      <p:sp>
        <p:nvSpPr>
          <p:cNvPr id="5424" name="Google Shape;5424;p20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did the Allies decide at Yalta and Potsdam?</a:t>
            </a:r>
            <a:endParaRPr b="0" i="0" sz="1500" u="none" cap="none" strike="noStrike">
              <a:solidFill>
                <a:schemeClr val="dk1"/>
              </a:solidFill>
              <a:latin typeface="Calibri"/>
              <a:ea typeface="Calibri"/>
              <a:cs typeface="Calibri"/>
              <a:sym typeface="Calibri"/>
            </a:endParaRPr>
          </a:p>
        </p:txBody>
      </p:sp>
      <p:sp>
        <p:nvSpPr>
          <p:cNvPr id="5426" name="Google Shape;5426;p20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428" name="Google Shape;5428;p20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Yalta planned the UN, Soviet entry against Japan, and a divided Germany; Potsdam hardened terms and demanded Japan's surrender. Cooperation was already fraying into rivalry.</a:t>
            </a:r>
            <a:endParaRPr b="0" i="0" sz="1450" u="none" cap="none" strike="noStrike">
              <a:solidFill>
                <a:schemeClr val="dk1"/>
              </a:solidFill>
              <a:latin typeface="Calibri"/>
              <a:ea typeface="Calibri"/>
              <a:cs typeface="Calibri"/>
              <a:sym typeface="Calibri"/>
            </a:endParaRPr>
          </a:p>
        </p:txBody>
      </p:sp>
      <p:sp>
        <p:nvSpPr>
          <p:cNvPr id="5429" name="Google Shape;5429;p20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431" name="Google Shape;5431;p20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one outcome from each conference.</a:t>
            </a:r>
            <a:endParaRPr b="0" i="0" sz="1300" u="none" cap="none" strike="noStrike">
              <a:solidFill>
                <a:schemeClr val="dk1"/>
              </a:solidFill>
              <a:latin typeface="Calibri"/>
              <a:ea typeface="Calibri"/>
              <a:cs typeface="Calibri"/>
              <a:sym typeface="Calibri"/>
            </a:endParaRPr>
          </a:p>
        </p:txBody>
      </p:sp>
      <p:sp>
        <p:nvSpPr>
          <p:cNvPr id="5432" name="Google Shape;5432;p20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one seed of the coming Cold War planted at these meetings.</a:t>
            </a:r>
            <a:endParaRPr b="0" i="0" sz="1200" u="none" cap="none" strike="noStrike">
              <a:solidFill>
                <a:schemeClr val="dk1"/>
              </a:solidFill>
              <a:latin typeface="Calibri"/>
              <a:ea typeface="Calibri"/>
              <a:cs typeface="Calibri"/>
              <a:sym typeface="Calibri"/>
            </a:endParaRPr>
          </a:p>
        </p:txBody>
      </p:sp>
      <p:sp>
        <p:nvSpPr>
          <p:cNvPr id="5433" name="Google Shape;5433;p2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34" name="Google Shape;5434;p2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39" name="Shape 5439"/>
        <p:cNvGrpSpPr/>
        <p:nvPr/>
      </p:nvGrpSpPr>
      <p:grpSpPr>
        <a:xfrm>
          <a:off x="0" y="0"/>
          <a:ext cx="0" cy="0"/>
          <a:chOff x="0" y="0"/>
          <a:chExt cx="0" cy="0"/>
        </a:xfrm>
      </p:grpSpPr>
      <p:sp>
        <p:nvSpPr>
          <p:cNvPr id="5440" name="Google Shape;5440;p20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STUDENT ACTIVITY</a:t>
            </a:r>
            <a:endParaRPr b="0" i="0" sz="1200" u="none" cap="none" strike="noStrike">
              <a:solidFill>
                <a:schemeClr val="dk1"/>
              </a:solidFill>
              <a:latin typeface="Calibri"/>
              <a:ea typeface="Calibri"/>
              <a:cs typeface="Calibri"/>
              <a:sym typeface="Calibri"/>
            </a:endParaRPr>
          </a:p>
        </p:txBody>
      </p:sp>
      <p:sp>
        <p:nvSpPr>
          <p:cNvPr id="5442" name="Google Shape;5442;p20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Dividing the Postwar World — Yalta and Potsdam</a:t>
            </a:r>
            <a:endParaRPr b="0" i="0" sz="2400" u="none" cap="none" strike="noStrike">
              <a:solidFill>
                <a:schemeClr val="dk1"/>
              </a:solidFill>
              <a:latin typeface="Calibri"/>
              <a:ea typeface="Calibri"/>
              <a:cs typeface="Calibri"/>
              <a:sym typeface="Calibri"/>
            </a:endParaRPr>
          </a:p>
        </p:txBody>
      </p:sp>
      <p:sp>
        <p:nvSpPr>
          <p:cNvPr id="5443" name="Google Shape;5443;p20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445" name="Google Shape;5445;p20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20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447" name="Google Shape;5447;p20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0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449" name="Google Shape;5449;p20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Yalta Communique and review the Big Three photograph. Build a two-column chart: YALTA (Feb 1945) outcomes and POTSDAM (July-Aug 1945) outcomes, listing the leaders present and at least two decisions from each. Then note one way these conferences planted seeds of the Cold War. Finish with a one-sentence claim on whether the Allies cooperated or already distrusted one another, with evidence.</a:t>
            </a:r>
            <a:endParaRPr b="0" i="0" sz="1350" u="none" cap="none" strike="noStrike">
              <a:solidFill>
                <a:schemeClr val="dk1"/>
              </a:solidFill>
              <a:latin typeface="Calibri"/>
              <a:ea typeface="Calibri"/>
              <a:cs typeface="Calibri"/>
              <a:sym typeface="Calibri"/>
            </a:endParaRPr>
          </a:p>
        </p:txBody>
      </p:sp>
      <p:sp>
        <p:nvSpPr>
          <p:cNvPr id="5450" name="Google Shape;5450;p20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0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452" name="Google Shape;5452;p20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two-conference chart (leaders + 2 decisions each, plus one Cold War seed) AND a one-sentence evidence-based claim about Allied unity.</a:t>
            </a:r>
            <a:endParaRPr b="0" i="0" sz="1050" u="none" cap="none" strike="noStrike">
              <a:solidFill>
                <a:schemeClr val="dk1"/>
              </a:solidFill>
              <a:latin typeface="Calibri"/>
              <a:ea typeface="Calibri"/>
              <a:cs typeface="Calibri"/>
              <a:sym typeface="Calibri"/>
            </a:endParaRPr>
          </a:p>
        </p:txBody>
      </p:sp>
      <p:sp>
        <p:nvSpPr>
          <p:cNvPr id="5453" name="Google Shape;5453;p20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0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455" name="Google Shape;5455;p20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'Yalta' and 'Potsdam' with a word bank of decisions and leaders to sort. Honors: Write a paragraph using the Yalta Communique to explain how wartime agreements over Poland and Eastern Europe helped spark the Cold War.</a:t>
            </a:r>
            <a:endParaRPr b="0" i="0" sz="1000" u="none" cap="none" strike="noStrike">
              <a:solidFill>
                <a:schemeClr val="dk1"/>
              </a:solidFill>
              <a:latin typeface="Calibri"/>
              <a:ea typeface="Calibri"/>
              <a:cs typeface="Calibri"/>
              <a:sym typeface="Calibri"/>
            </a:endParaRPr>
          </a:p>
        </p:txBody>
      </p:sp>
      <p:sp>
        <p:nvSpPr>
          <p:cNvPr id="5456" name="Google Shape;5456;p20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cornell-notes/unit-6/us57-yalta-potsdam.pdf</a:t>
            </a:r>
            <a:endParaRPr b="0" i="0" sz="1050" u="none" cap="none" strike="noStrike">
              <a:solidFill>
                <a:schemeClr val="dk1"/>
              </a:solidFill>
              <a:latin typeface="Calibri"/>
              <a:ea typeface="Calibri"/>
              <a:cs typeface="Calibri"/>
              <a:sym typeface="Calibri"/>
            </a:endParaRPr>
          </a:p>
        </p:txBody>
      </p:sp>
      <p:sp>
        <p:nvSpPr>
          <p:cNvPr id="5457" name="Google Shape;5457;p2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58" name="Google Shape;5458;p2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63" name="Shape 5463"/>
        <p:cNvGrpSpPr/>
        <p:nvPr/>
      </p:nvGrpSpPr>
      <p:grpSpPr>
        <a:xfrm>
          <a:off x="0" y="0"/>
          <a:ext cx="0" cy="0"/>
          <a:chOff x="0" y="0"/>
          <a:chExt cx="0" cy="0"/>
        </a:xfrm>
      </p:grpSpPr>
      <p:sp>
        <p:nvSpPr>
          <p:cNvPr id="5464" name="Google Shape;5464;p21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CHECK FOR UNDERSTANDING</a:t>
            </a:r>
            <a:endParaRPr b="0" i="0" sz="1200" u="none" cap="none" strike="noStrike">
              <a:solidFill>
                <a:schemeClr val="dk1"/>
              </a:solidFill>
              <a:latin typeface="Calibri"/>
              <a:ea typeface="Calibri"/>
              <a:cs typeface="Calibri"/>
              <a:sym typeface="Calibri"/>
            </a:endParaRPr>
          </a:p>
        </p:txBody>
      </p:sp>
      <p:sp>
        <p:nvSpPr>
          <p:cNvPr id="5466" name="Google Shape;5466;p21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467" name="Google Shape;5467;p21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469" name="Google Shape;5469;p21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471" name="Google Shape;5471;p21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600" u="none" cap="none" strike="noStrike">
              <a:solidFill>
                <a:schemeClr val="dk1"/>
              </a:solidFill>
              <a:latin typeface="Calibri"/>
              <a:ea typeface="Calibri"/>
              <a:cs typeface="Calibri"/>
              <a:sym typeface="Calibri"/>
            </a:endParaRPr>
          </a:p>
        </p:txBody>
      </p:sp>
      <p:sp>
        <p:nvSpPr>
          <p:cNvPr id="5473" name="Google Shape;5473;p21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476" name="Google Shape;5476;p21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Plans for dividing Germany into occupation zones, establishing the United Nations, and the Soviet Union's entry into the Pacific War.</a:t>
            </a:r>
            <a:endParaRPr b="0" i="0" sz="1350" u="none" cap="none" strike="noStrike">
              <a:solidFill>
                <a:schemeClr val="dk1"/>
              </a:solidFill>
              <a:latin typeface="Calibri"/>
              <a:ea typeface="Calibri"/>
              <a:cs typeface="Calibri"/>
              <a:sym typeface="Calibri"/>
            </a:endParaRPr>
          </a:p>
        </p:txBody>
      </p:sp>
      <p:sp>
        <p:nvSpPr>
          <p:cNvPr id="5477" name="Google Shape;5477;p21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480" name="Google Shape;5480;p21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decision to use atomic bombs on Japan to force a rapid end to the Pacific War.</a:t>
            </a:r>
            <a:endParaRPr b="0" i="0" sz="1350" u="none" cap="none" strike="noStrike">
              <a:solidFill>
                <a:schemeClr val="dk1"/>
              </a:solidFill>
              <a:latin typeface="Calibri"/>
              <a:ea typeface="Calibri"/>
              <a:cs typeface="Calibri"/>
              <a:sym typeface="Calibri"/>
            </a:endParaRPr>
          </a:p>
        </p:txBody>
      </p:sp>
      <p:sp>
        <p:nvSpPr>
          <p:cNvPr id="5481" name="Google Shape;5481;p21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484" name="Google Shape;5484;p21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50" u="none" cap="none" strike="noStrike">
              <a:solidFill>
                <a:schemeClr val="dk1"/>
              </a:solidFill>
              <a:latin typeface="Calibri"/>
              <a:ea typeface="Calibri"/>
              <a:cs typeface="Calibri"/>
              <a:sym typeface="Calibri"/>
            </a:endParaRPr>
          </a:p>
        </p:txBody>
      </p:sp>
      <p:sp>
        <p:nvSpPr>
          <p:cNvPr id="5485" name="Google Shape;5485;p21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488" name="Google Shape;5488;p21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division of Korea at the 38th parallel into Soviet and American spheres of influence.</a:t>
            </a:r>
            <a:endParaRPr b="0" i="0" sz="1350" u="none" cap="none" strike="noStrike">
              <a:solidFill>
                <a:schemeClr val="dk1"/>
              </a:solidFill>
              <a:latin typeface="Calibri"/>
              <a:ea typeface="Calibri"/>
              <a:cs typeface="Calibri"/>
              <a:sym typeface="Calibri"/>
            </a:endParaRPr>
          </a:p>
        </p:txBody>
      </p:sp>
      <p:sp>
        <p:nvSpPr>
          <p:cNvPr id="5489" name="Google Shape;5489;p21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491" name="Google Shape;5491;p2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92" name="Google Shape;5492;p2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97" name="Shape 5497"/>
        <p:cNvGrpSpPr/>
        <p:nvPr/>
      </p:nvGrpSpPr>
      <p:grpSpPr>
        <a:xfrm>
          <a:off x="0" y="0"/>
          <a:ext cx="0" cy="0"/>
          <a:chOff x="0" y="0"/>
          <a:chExt cx="0" cy="0"/>
        </a:xfrm>
      </p:grpSpPr>
      <p:sp>
        <p:nvSpPr>
          <p:cNvPr id="5498" name="Google Shape;5498;p21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ANSWER REVEAL</a:t>
            </a:r>
            <a:endParaRPr b="0" i="0" sz="1200" u="none" cap="none" strike="noStrike">
              <a:solidFill>
                <a:schemeClr val="dk1"/>
              </a:solidFill>
              <a:latin typeface="Calibri"/>
              <a:ea typeface="Calibri"/>
              <a:cs typeface="Calibri"/>
              <a:sym typeface="Calibri"/>
            </a:endParaRPr>
          </a:p>
        </p:txBody>
      </p:sp>
      <p:sp>
        <p:nvSpPr>
          <p:cNvPr id="5500" name="Google Shape;5500;p21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501" name="Google Shape;5501;p21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503" name="Google Shape;5503;p21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500" u="none" cap="none" strike="noStrike">
              <a:solidFill>
                <a:schemeClr val="dk1"/>
              </a:solidFill>
              <a:latin typeface="Calibri"/>
              <a:ea typeface="Calibri"/>
              <a:cs typeface="Calibri"/>
              <a:sym typeface="Calibri"/>
            </a:endParaRPr>
          </a:p>
        </p:txBody>
      </p:sp>
      <p:sp>
        <p:nvSpPr>
          <p:cNvPr id="5505" name="Google Shape;5505;p211"/>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508" name="Google Shape;5508;p21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Plans for dividing Germany into occupation zones, establishing the United Nations, and the Soviet Union's entry into the Pacific War.</a:t>
            </a:r>
            <a:endParaRPr b="0" i="0" sz="1300" u="none" cap="none" strike="noStrike">
              <a:solidFill>
                <a:schemeClr val="dk1"/>
              </a:solidFill>
              <a:latin typeface="Calibri"/>
              <a:ea typeface="Calibri"/>
              <a:cs typeface="Calibri"/>
              <a:sym typeface="Calibri"/>
            </a:endParaRPr>
          </a:p>
        </p:txBody>
      </p:sp>
      <p:sp>
        <p:nvSpPr>
          <p:cNvPr id="5509" name="Google Shape;5509;p211"/>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510" name="Google Shape;5510;p21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513" name="Google Shape;5513;p21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decision to use atomic bombs on Japan to force a rapid end to the Pacific War.</a:t>
            </a:r>
            <a:endParaRPr b="0" i="0" sz="1300" u="none" cap="none" strike="noStrike">
              <a:solidFill>
                <a:schemeClr val="dk1"/>
              </a:solidFill>
              <a:latin typeface="Calibri"/>
              <a:ea typeface="Calibri"/>
              <a:cs typeface="Calibri"/>
              <a:sym typeface="Calibri"/>
            </a:endParaRPr>
          </a:p>
        </p:txBody>
      </p:sp>
      <p:sp>
        <p:nvSpPr>
          <p:cNvPr id="5514" name="Google Shape;5514;p21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517" name="Google Shape;5517;p21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00" u="none" cap="none" strike="noStrike">
              <a:solidFill>
                <a:schemeClr val="dk1"/>
              </a:solidFill>
              <a:latin typeface="Calibri"/>
              <a:ea typeface="Calibri"/>
              <a:cs typeface="Calibri"/>
              <a:sym typeface="Calibri"/>
            </a:endParaRPr>
          </a:p>
        </p:txBody>
      </p:sp>
      <p:sp>
        <p:nvSpPr>
          <p:cNvPr id="5518" name="Google Shape;5518;p211"/>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521" name="Google Shape;5521;p21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division of Korea at the 38th parallel into Soviet and American spheres of influence.</a:t>
            </a:r>
            <a:endParaRPr b="0" i="0" sz="1300" u="none" cap="none" strike="noStrike">
              <a:solidFill>
                <a:schemeClr val="dk1"/>
              </a:solidFill>
              <a:latin typeface="Calibri"/>
              <a:ea typeface="Calibri"/>
              <a:cs typeface="Calibri"/>
              <a:sym typeface="Calibri"/>
            </a:endParaRPr>
          </a:p>
        </p:txBody>
      </p:sp>
      <p:sp>
        <p:nvSpPr>
          <p:cNvPr id="5522" name="Google Shape;5522;p21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a:t>
            </a:r>
            <a:endParaRPr b="0" i="0" sz="1150" u="none" cap="none" strike="noStrike">
              <a:solidFill>
                <a:schemeClr val="dk1"/>
              </a:solidFill>
              <a:latin typeface="Calibri"/>
              <a:ea typeface="Calibri"/>
              <a:cs typeface="Calibri"/>
              <a:sym typeface="Calibri"/>
            </a:endParaRPr>
          </a:p>
        </p:txBody>
      </p:sp>
      <p:sp>
        <p:nvSpPr>
          <p:cNvPr id="5524" name="Google Shape;5524;p2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25" name="Google Shape;5525;p2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30" name="Shape 5530"/>
        <p:cNvGrpSpPr/>
        <p:nvPr/>
      </p:nvGrpSpPr>
      <p:grpSpPr>
        <a:xfrm>
          <a:off x="0" y="0"/>
          <a:ext cx="0" cy="0"/>
          <a:chOff x="0" y="0"/>
          <a:chExt cx="0" cy="0"/>
        </a:xfrm>
      </p:grpSpPr>
      <p:sp>
        <p:nvSpPr>
          <p:cNvPr id="5531" name="Google Shape;5531;p2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WRAP-UP</a:t>
            </a:r>
            <a:endParaRPr b="0" i="0" sz="1200" u="none" cap="none" strike="noStrike">
              <a:solidFill>
                <a:schemeClr val="dk1"/>
              </a:solidFill>
              <a:latin typeface="Calibri"/>
              <a:ea typeface="Calibri"/>
              <a:cs typeface="Calibri"/>
              <a:sym typeface="Calibri"/>
            </a:endParaRPr>
          </a:p>
        </p:txBody>
      </p:sp>
      <p:sp>
        <p:nvSpPr>
          <p:cNvPr id="5533" name="Google Shape;5533;p21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534" name="Google Shape;5534;p21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36" name="Google Shape;5536;p21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Yalta Conference (February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Potsdam Conference (July-August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Cold War Origins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Assessment of Allied Diplomacy</a:t>
            </a:r>
            <a:endParaRPr b="0" i="0" sz="1500" u="none" cap="none" strike="noStrike">
              <a:solidFill>
                <a:schemeClr val="dk1"/>
              </a:solidFill>
              <a:latin typeface="Calibri"/>
              <a:ea typeface="Calibri"/>
              <a:cs typeface="Calibri"/>
              <a:sym typeface="Calibri"/>
            </a:endParaRPr>
          </a:p>
        </p:txBody>
      </p:sp>
      <p:sp>
        <p:nvSpPr>
          <p:cNvPr id="5537" name="Google Shape;5537;p21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9" name="Google Shape;5539;p21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Allies genuinely cooperate at Yalta and Potsdam, or had the Cold War already begun? Argue with evidence. (SSP.04)</a:t>
            </a:r>
            <a:endParaRPr b="0" i="0" sz="1150" u="none" cap="none" strike="noStrike">
              <a:solidFill>
                <a:schemeClr val="dk1"/>
              </a:solidFill>
              <a:latin typeface="Calibri"/>
              <a:ea typeface="Calibri"/>
              <a:cs typeface="Calibri"/>
              <a:sym typeface="Calibri"/>
            </a:endParaRPr>
          </a:p>
        </p:txBody>
      </p:sp>
      <p:sp>
        <p:nvSpPr>
          <p:cNvPr id="5540" name="Google Shape;5540;p21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42" name="Google Shape;5542;p21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44" name="Google Shape;5544;p21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major outcomes of the Yalta and Potsdam Conferences and how they contributed to the Cold War.</a:t>
            </a:r>
            <a:endParaRPr b="0" i="0" sz="1350" u="none" cap="none" strike="noStrike">
              <a:solidFill>
                <a:schemeClr val="dk1"/>
              </a:solidFill>
              <a:latin typeface="Calibri"/>
              <a:ea typeface="Calibri"/>
              <a:cs typeface="Calibri"/>
              <a:sym typeface="Calibri"/>
            </a:endParaRPr>
          </a:p>
        </p:txBody>
      </p:sp>
      <p:cxnSp>
        <p:nvCxnSpPr>
          <p:cNvPr id="5545" name="Google Shape;5545;p21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6" name="Google Shape;5546;p21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7" name="Google Shape;5547;p21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548" name="Google Shape;5548;p2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49" name="Google Shape;5549;p2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554" name="Shape 5554"/>
        <p:cNvGrpSpPr/>
        <p:nvPr/>
      </p:nvGrpSpPr>
      <p:grpSpPr>
        <a:xfrm>
          <a:off x="0" y="0"/>
          <a:ext cx="0" cy="0"/>
          <a:chOff x="0" y="0"/>
          <a:chExt cx="0" cy="0"/>
        </a:xfrm>
      </p:grpSpPr>
      <p:sp>
        <p:nvSpPr>
          <p:cNvPr id="5555" name="Google Shape;5555;p21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558" name="Google Shape;5558;p21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US.58</a:t>
            </a:r>
            <a:endParaRPr b="0" i="0" sz="8800" u="none" cap="none" strike="noStrike">
              <a:solidFill>
                <a:schemeClr val="dk1"/>
              </a:solidFill>
              <a:latin typeface="Calibri"/>
              <a:ea typeface="Calibri"/>
              <a:cs typeface="Calibri"/>
              <a:sym typeface="Calibri"/>
            </a:endParaRPr>
          </a:p>
        </p:txBody>
      </p:sp>
      <p:sp>
        <p:nvSpPr>
          <p:cNvPr id="5559" name="Google Shape;5559;p21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Founding of the United Nations &amp; Cordell Hull</a:t>
            </a:r>
            <a:endParaRPr b="0" i="0" sz="2400" u="none" cap="none" strike="noStrike">
              <a:solidFill>
                <a:schemeClr val="dk1"/>
              </a:solidFill>
              <a:latin typeface="Calibri"/>
              <a:ea typeface="Calibri"/>
              <a:cs typeface="Calibri"/>
              <a:sym typeface="Calibri"/>
            </a:endParaRPr>
          </a:p>
        </p:txBody>
      </p:sp>
      <p:sp>
        <p:nvSpPr>
          <p:cNvPr id="5560" name="Google Shape;5560;p21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561" name="Google Shape;5561;p21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563" name="Google Shape;5563;p21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564" name="Google Shape;5564;p21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566" name="Google Shape;5566;p21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567" name="Google Shape;5567;p21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21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569" name="Google Shape;5569;p21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570" name="Google Shape;5570;p21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572" name="Google Shape;5572;p21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Identify and explain the reasons for the founding of the United Nations, including the role of Cordell Hull.</a:t>
            </a:r>
            <a:endParaRPr b="0" i="0" sz="1300" u="none" cap="none" strike="noStrike">
              <a:solidFill>
                <a:schemeClr val="dk1"/>
              </a:solidFill>
              <a:latin typeface="Calibri"/>
              <a:ea typeface="Calibri"/>
              <a:cs typeface="Calibri"/>
              <a:sym typeface="Calibri"/>
            </a:endParaRPr>
          </a:p>
        </p:txBody>
      </p:sp>
      <p:sp>
        <p:nvSpPr>
          <p:cNvPr id="5573" name="Google Shape;5573;p21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575" name="Google Shape;5575;p21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350" u="none" cap="none" strike="noStrike">
              <a:solidFill>
                <a:schemeClr val="dk1"/>
              </a:solidFill>
              <a:latin typeface="Calibri"/>
              <a:ea typeface="Calibri"/>
              <a:cs typeface="Calibri"/>
              <a:sym typeface="Calibri"/>
            </a:endParaRPr>
          </a:p>
        </p:txBody>
      </p:sp>
      <p:sp>
        <p:nvSpPr>
          <p:cNvPr id="5576" name="Google Shape;5576;p2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77" name="Google Shape;5577;p2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82" name="Shape 5582"/>
        <p:cNvGrpSpPr/>
        <p:nvPr/>
      </p:nvGrpSpPr>
      <p:grpSpPr>
        <a:xfrm>
          <a:off x="0" y="0"/>
          <a:ext cx="0" cy="0"/>
          <a:chOff x="0" y="0"/>
          <a:chExt cx="0" cy="0"/>
        </a:xfrm>
      </p:grpSpPr>
      <p:sp>
        <p:nvSpPr>
          <p:cNvPr id="5583" name="Google Shape;5583;p2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QUICK REVIEW</a:t>
            </a:r>
            <a:endParaRPr b="0" i="0" sz="1200" u="none" cap="none" strike="noStrike">
              <a:solidFill>
                <a:schemeClr val="dk1"/>
              </a:solidFill>
              <a:latin typeface="Calibri"/>
              <a:ea typeface="Calibri"/>
              <a:cs typeface="Calibri"/>
              <a:sym typeface="Calibri"/>
            </a:endParaRPr>
          </a:p>
        </p:txBody>
      </p:sp>
      <p:sp>
        <p:nvSpPr>
          <p:cNvPr id="5585" name="Google Shape;5585;p2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586" name="Google Shape;5586;p21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587" name="Google Shape;5587;p21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590" name="Google Shape;5590;p21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Where did the 'Big Three' meet in early 1945 to plan the postwar world?</a:t>
            </a:r>
            <a:endParaRPr b="0" i="0" sz="1350" u="none" cap="none" strike="noStrike">
              <a:solidFill>
                <a:schemeClr val="dk1"/>
              </a:solidFill>
              <a:latin typeface="Calibri"/>
              <a:ea typeface="Calibri"/>
              <a:cs typeface="Calibri"/>
              <a:sym typeface="Calibri"/>
            </a:endParaRPr>
          </a:p>
        </p:txBody>
      </p:sp>
      <p:sp>
        <p:nvSpPr>
          <p:cNvPr id="5591" name="Google Shape;5591;p21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594" name="Google Shape;5594;p21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How did Yalta and Potsdam help start the Cold War?</a:t>
            </a:r>
            <a:endParaRPr b="0" i="0" sz="1350" u="none" cap="none" strike="noStrike">
              <a:solidFill>
                <a:schemeClr val="dk1"/>
              </a:solidFill>
              <a:latin typeface="Calibri"/>
              <a:ea typeface="Calibri"/>
              <a:cs typeface="Calibri"/>
              <a:sym typeface="Calibri"/>
            </a:endParaRPr>
          </a:p>
        </p:txBody>
      </p:sp>
      <p:sp>
        <p:nvSpPr>
          <p:cNvPr id="5595" name="Google Shape;5595;p2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6" name="Google Shape;5596;p2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01" name="Shape 5601"/>
        <p:cNvGrpSpPr/>
        <p:nvPr/>
      </p:nvGrpSpPr>
      <p:grpSpPr>
        <a:xfrm>
          <a:off x="0" y="0"/>
          <a:ext cx="0" cy="0"/>
          <a:chOff x="0" y="0"/>
          <a:chExt cx="0" cy="0"/>
        </a:xfrm>
      </p:grpSpPr>
      <p:sp>
        <p:nvSpPr>
          <p:cNvPr id="5602" name="Google Shape;5602;p2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CONFIDENCE CHECK</a:t>
            </a:r>
            <a:endParaRPr b="0" i="0" sz="1200" u="none" cap="none" strike="noStrike">
              <a:solidFill>
                <a:schemeClr val="dk1"/>
              </a:solidFill>
              <a:latin typeface="Calibri"/>
              <a:ea typeface="Calibri"/>
              <a:cs typeface="Calibri"/>
              <a:sym typeface="Calibri"/>
            </a:endParaRPr>
          </a:p>
        </p:txBody>
      </p:sp>
      <p:sp>
        <p:nvSpPr>
          <p:cNvPr id="5604" name="Google Shape;5604;p21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605" name="Google Shape;5605;p21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21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607" name="Google Shape;5607;p21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609" name="Google Shape;5609;p21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610" name="Google Shape;5610;p21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international organization was founded in 1945 to keep the peace?</a:t>
            </a:r>
            <a:endParaRPr b="0" i="0" sz="2400" u="none" cap="none" strike="noStrike">
              <a:solidFill>
                <a:schemeClr val="dk1"/>
              </a:solidFill>
              <a:latin typeface="Calibri"/>
              <a:ea typeface="Calibri"/>
              <a:cs typeface="Calibri"/>
              <a:sym typeface="Calibri"/>
            </a:endParaRPr>
          </a:p>
        </p:txBody>
      </p:sp>
      <p:sp>
        <p:nvSpPr>
          <p:cNvPr id="5612" name="Google Shape;5612;p21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614" name="Google Shape;5614;p21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United Nations.</a:t>
            </a:r>
            <a:endParaRPr b="0" i="0" sz="1600" u="none" cap="none" strike="noStrike">
              <a:solidFill>
                <a:schemeClr val="dk1"/>
              </a:solidFill>
              <a:latin typeface="Calibri"/>
              <a:ea typeface="Calibri"/>
              <a:cs typeface="Calibri"/>
              <a:sym typeface="Calibri"/>
            </a:endParaRPr>
          </a:p>
        </p:txBody>
      </p:sp>
      <p:sp>
        <p:nvSpPr>
          <p:cNvPr id="5615" name="Google Shape;5615;p21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617" name="Google Shape;5617;p2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18" name="Google Shape;5618;p2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23" name="Shape 5623"/>
        <p:cNvGrpSpPr/>
        <p:nvPr/>
      </p:nvGrpSpPr>
      <p:grpSpPr>
        <a:xfrm>
          <a:off x="0" y="0"/>
          <a:ext cx="0" cy="0"/>
          <a:chOff x="0" y="0"/>
          <a:chExt cx="0" cy="0"/>
        </a:xfrm>
      </p:grpSpPr>
      <p:sp>
        <p:nvSpPr>
          <p:cNvPr id="5624" name="Google Shape;5624;p21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HOOK</a:t>
            </a:r>
            <a:endParaRPr b="0" i="0" sz="1200" u="none" cap="none" strike="noStrike">
              <a:solidFill>
                <a:schemeClr val="dk1"/>
              </a:solidFill>
              <a:latin typeface="Calibri"/>
              <a:ea typeface="Calibri"/>
              <a:cs typeface="Calibri"/>
              <a:sym typeface="Calibri"/>
            </a:endParaRPr>
          </a:p>
        </p:txBody>
      </p:sp>
      <p:sp>
        <p:nvSpPr>
          <p:cNvPr id="5626" name="Google Shape;5626;p21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627" name="Google Shape;5627;p21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Determined not to repeat the failure of the League of Nations, the Allies, led in part by Tennessean Cordell Hull, built a new global organization, the United Nations, to keep the peace after the deadliest war in history.</a:t>
            </a:r>
            <a:endParaRPr b="0" i="0" sz="2600" u="none" cap="none" strike="noStrike">
              <a:solidFill>
                <a:schemeClr val="dk1"/>
              </a:solidFill>
              <a:latin typeface="Calibri"/>
              <a:ea typeface="Calibri"/>
              <a:cs typeface="Calibri"/>
              <a:sym typeface="Calibri"/>
            </a:endParaRPr>
          </a:p>
        </p:txBody>
      </p:sp>
      <p:sp>
        <p:nvSpPr>
          <p:cNvPr id="5629" name="Google Shape;5629;p21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631" name="Google Shape;5631;p21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633" name="Google Shape;5633;p21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did the League of Nations fail, and could a new United Nations succeed where it had not?</a:t>
            </a:r>
            <a:endParaRPr b="0" i="0" sz="1600" u="none" cap="none" strike="noStrike">
              <a:solidFill>
                <a:schemeClr val="dk1"/>
              </a:solidFill>
              <a:latin typeface="Calibri"/>
              <a:ea typeface="Calibri"/>
              <a:cs typeface="Calibri"/>
              <a:sym typeface="Calibri"/>
            </a:endParaRPr>
          </a:p>
        </p:txBody>
      </p:sp>
      <p:sp>
        <p:nvSpPr>
          <p:cNvPr id="5634" name="Google Shape;5634;p2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5" name="Google Shape;5635;p2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40" name="Shape 5640"/>
        <p:cNvGrpSpPr/>
        <p:nvPr/>
      </p:nvGrpSpPr>
      <p:grpSpPr>
        <a:xfrm>
          <a:off x="0" y="0"/>
          <a:ext cx="0" cy="0"/>
          <a:chOff x="0" y="0"/>
          <a:chExt cx="0" cy="0"/>
        </a:xfrm>
      </p:grpSpPr>
      <p:sp>
        <p:nvSpPr>
          <p:cNvPr id="5641" name="Google Shape;5641;p21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43" name="Google Shape;5643;p21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Lessons from League of Nations Failure</a:t>
            </a:r>
            <a:endParaRPr b="0" i="0" sz="3000" u="none" cap="none" strike="noStrike">
              <a:solidFill>
                <a:schemeClr val="dk1"/>
              </a:solidFill>
              <a:latin typeface="Calibri"/>
              <a:ea typeface="Calibri"/>
              <a:cs typeface="Calibri"/>
              <a:sym typeface="Calibri"/>
            </a:endParaRPr>
          </a:p>
        </p:txBody>
      </p:sp>
      <p:sp>
        <p:nvSpPr>
          <p:cNvPr id="5644" name="Google Shape;5644;p21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649" name="Google Shape;5649;p21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7"/>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failed because the United States never joined, it lacked enforcement mechanisms, major powers could ignore it, and it couldn't prevent aggression by Germany, Italy, and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Planners sought to avoid these weaknesses in a new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participation would be essential, and the new organization needed stronger enforcement authority, particularly through the Security Council with major power veto and potential for military action.</a:t>
            </a:r>
            <a:endParaRPr b="0" i="0" sz="1700" u="none" cap="none" strike="noStrike">
              <a:solidFill>
                <a:schemeClr val="dk1"/>
              </a:solidFill>
              <a:latin typeface="Calibri"/>
              <a:ea typeface="Calibri"/>
              <a:cs typeface="Calibri"/>
              <a:sym typeface="Calibri"/>
            </a:endParaRPr>
          </a:p>
        </p:txBody>
      </p:sp>
      <p:sp>
        <p:nvSpPr>
          <p:cNvPr id="5651" name="Google Shape;5651;p217"/>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7"/>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653" name="Google Shape;5653;p217"/>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United Nations was founded to ________, and it tried to avoid the League of Nations' failure by ________.</a:t>
            </a:r>
            <a:endParaRPr b="0" i="0" sz="1150" u="none" cap="none" strike="noStrike">
              <a:solidFill>
                <a:schemeClr val="dk1"/>
              </a:solidFill>
              <a:latin typeface="Calibri"/>
              <a:ea typeface="Calibri"/>
              <a:cs typeface="Calibri"/>
              <a:sym typeface="Calibri"/>
            </a:endParaRPr>
          </a:p>
        </p:txBody>
      </p:sp>
      <p:sp>
        <p:nvSpPr>
          <p:cNvPr id="5654" name="Google Shape;5654;p2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5" name="Google Shape;5655;p2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60" name="Shape 5660"/>
        <p:cNvGrpSpPr/>
        <p:nvPr/>
      </p:nvGrpSpPr>
      <p:grpSpPr>
        <a:xfrm>
          <a:off x="0" y="0"/>
          <a:ext cx="0" cy="0"/>
          <a:chOff x="0" y="0"/>
          <a:chExt cx="0" cy="0"/>
        </a:xfrm>
      </p:grpSpPr>
      <p:sp>
        <p:nvSpPr>
          <p:cNvPr id="5661" name="Google Shape;5661;p21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63" name="Google Shape;5663;p21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Cordell Hull's Role</a:t>
            </a:r>
            <a:endParaRPr b="0" i="0" sz="3000" u="none" cap="none" strike="noStrike">
              <a:solidFill>
                <a:schemeClr val="dk1"/>
              </a:solidFill>
              <a:latin typeface="Calibri"/>
              <a:ea typeface="Calibri"/>
              <a:cs typeface="Calibri"/>
              <a:sym typeface="Calibri"/>
            </a:endParaRPr>
          </a:p>
        </p:txBody>
      </p:sp>
      <p:sp>
        <p:nvSpPr>
          <p:cNvPr id="5664" name="Google Shape;5664;p21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669" name="Google Shape;5669;p218"/>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8"/>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Cordell Hull, FDR's Secretary of State and a Tennessean, was instrumental in planning the United Nations.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He advocated for international organization throughout the war, led U.S. delegation efforts in preliminary planning, and helped shape UN principles.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His decades of work promoting international cooperation earned him the Nobel Peace Prize in 1945, making him one of Tennessee's most significant contributions to world history.</a:t>
            </a:r>
            <a:endParaRPr b="0" i="0" sz="1450" u="none" cap="none" strike="noStrike">
              <a:solidFill>
                <a:schemeClr val="dk1"/>
              </a:solidFill>
              <a:latin typeface="Calibri"/>
              <a:ea typeface="Calibri"/>
              <a:cs typeface="Calibri"/>
              <a:sym typeface="Calibri"/>
            </a:endParaRPr>
          </a:p>
        </p:txBody>
      </p:sp>
      <p:sp>
        <p:nvSpPr>
          <p:cNvPr id="5671" name="Google Shape;5671;p218"/>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8"/>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5673" name="Google Shape;5673;p218"/>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Cordell Hull, a Tennessean and FDR's long-serving Secretary of State, was so central to planning the postwar peace organization that he is often called the 'Father of the United Nations.' He won the 1945 Nobel Peace Prize for his work, a lasting Tennessee connection to the founding of the UN.</a:t>
            </a:r>
            <a:endParaRPr b="0" i="0" sz="1300" u="none" cap="none" strike="noStrike">
              <a:solidFill>
                <a:schemeClr val="dk1"/>
              </a:solidFill>
              <a:latin typeface="Calibri"/>
              <a:ea typeface="Calibri"/>
              <a:cs typeface="Calibri"/>
              <a:sym typeface="Calibri"/>
            </a:endParaRPr>
          </a:p>
        </p:txBody>
      </p:sp>
      <p:sp>
        <p:nvSpPr>
          <p:cNvPr id="5674" name="Google Shape;5674;p2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75" name="Google Shape;5675;p2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80" name="Shape 5680"/>
        <p:cNvGrpSpPr/>
        <p:nvPr/>
      </p:nvGrpSpPr>
      <p:grpSpPr>
        <a:xfrm>
          <a:off x="0" y="0"/>
          <a:ext cx="0" cy="0"/>
          <a:chOff x="0" y="0"/>
          <a:chExt cx="0" cy="0"/>
        </a:xfrm>
      </p:grpSpPr>
      <p:sp>
        <p:nvSpPr>
          <p:cNvPr id="5681" name="Google Shape;5681;p2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83" name="Google Shape;5683;p21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Goals and Structure</a:t>
            </a:r>
            <a:endParaRPr b="0" i="0" sz="3000" u="none" cap="none" strike="noStrike">
              <a:solidFill>
                <a:schemeClr val="dk1"/>
              </a:solidFill>
              <a:latin typeface="Calibri"/>
              <a:ea typeface="Calibri"/>
              <a:cs typeface="Calibri"/>
              <a:sym typeface="Calibri"/>
            </a:endParaRPr>
          </a:p>
        </p:txBody>
      </p:sp>
      <p:sp>
        <p:nvSpPr>
          <p:cNvPr id="5684" name="Google Shape;5684;p21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689" name="Google Shape;5689;p21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United Nations was designed to maintain international peace and security through collective action, develop friendly relations among nations based on equal rights and self-determination, promote social progress and human rights, and facilitate international cooperation on economic and humanitarian issues.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Security Council with five permanent members (US, UK, France, China, USSR) had primary responsibility for peace and security, with veto power ensuring major power buy-in.</a:t>
            </a:r>
            <a:endParaRPr b="0" i="0" sz="1550" u="none" cap="none" strike="noStrike">
              <a:solidFill>
                <a:schemeClr val="dk1"/>
              </a:solidFill>
              <a:latin typeface="Calibri"/>
              <a:ea typeface="Calibri"/>
              <a:cs typeface="Calibri"/>
              <a:sym typeface="Calibri"/>
            </a:endParaRPr>
          </a:p>
        </p:txBody>
      </p:sp>
      <p:sp>
        <p:nvSpPr>
          <p:cNvPr id="5691" name="Google Shape;5691;p21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eclaration-by-united-nations-1942.jpg" id="5692" name="Google Shape;5692;p219"/>
          <p:cNvPicPr preferRelativeResize="0"/>
          <p:nvPr/>
        </p:nvPicPr>
        <p:blipFill rotWithShape="1">
          <a:blip r:embed="rId3">
            <a:alphaModFix/>
          </a:blip>
          <a:srcRect b="0" l="0" r="0" t="0"/>
          <a:stretch/>
        </p:blipFill>
        <p:spPr>
          <a:xfrm>
            <a:off x="7589520" y="2037921"/>
            <a:ext cx="4069080" cy="2992469"/>
          </a:xfrm>
          <a:prstGeom prst="rect">
            <a:avLst/>
          </a:prstGeom>
          <a:noFill/>
          <a:ln>
            <a:noFill/>
          </a:ln>
        </p:spPr>
      </p:pic>
      <p:sp>
        <p:nvSpPr>
          <p:cNvPr id="5693" name="Google Shape;5693;p21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photographer / United Nations, January 1,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Wikimedia Commons</a:t>
            </a:r>
            <a:endParaRPr b="0" i="0" sz="800" u="none" cap="none" strike="noStrike">
              <a:solidFill>
                <a:schemeClr val="dk1"/>
              </a:solidFill>
              <a:latin typeface="Calibri"/>
              <a:ea typeface="Calibri"/>
              <a:cs typeface="Calibri"/>
              <a:sym typeface="Calibri"/>
            </a:endParaRPr>
          </a:p>
        </p:txBody>
      </p:sp>
      <p:sp>
        <p:nvSpPr>
          <p:cNvPr id="5694" name="Google Shape;5694;p2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95" name="Google Shape;5695;p2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00" name="Shape 5700"/>
        <p:cNvGrpSpPr/>
        <p:nvPr/>
      </p:nvGrpSpPr>
      <p:grpSpPr>
        <a:xfrm>
          <a:off x="0" y="0"/>
          <a:ext cx="0" cy="0"/>
          <a:chOff x="0" y="0"/>
          <a:chExt cx="0" cy="0"/>
        </a:xfrm>
      </p:grpSpPr>
      <p:sp>
        <p:nvSpPr>
          <p:cNvPr id="5701" name="Google Shape;5701;p22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2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703" name="Google Shape;5703;p22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Legacy and Limitations</a:t>
            </a:r>
            <a:endParaRPr b="0" i="0" sz="3000" u="none" cap="none" strike="noStrike">
              <a:solidFill>
                <a:schemeClr val="dk1"/>
              </a:solidFill>
              <a:latin typeface="Calibri"/>
              <a:ea typeface="Calibri"/>
              <a:cs typeface="Calibri"/>
              <a:sym typeface="Calibri"/>
            </a:endParaRPr>
          </a:p>
        </p:txBody>
      </p:sp>
      <p:sp>
        <p:nvSpPr>
          <p:cNvPr id="5704" name="Google Shape;5704;p22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2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2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2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2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709" name="Google Shape;5709;p22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2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successfully avoided the League's fate—American membership was secured, and the organization has survived.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Cold War rivalry often paralyzed the Security Council through vetoes.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has been most effective in humanitarian work, peacekeeping in conflicts where major powers agree, and establishing international norms through declarations and treaties.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Its limitations in preventing great power conflicts reflect the inherent challenges of international organization.</a:t>
            </a:r>
            <a:endParaRPr b="0" i="0" sz="1700" u="none" cap="none" strike="noStrike">
              <a:solidFill>
                <a:schemeClr val="dk1"/>
              </a:solidFill>
              <a:latin typeface="Calibri"/>
              <a:ea typeface="Calibri"/>
              <a:cs typeface="Calibri"/>
              <a:sym typeface="Calibri"/>
            </a:endParaRPr>
          </a:p>
        </p:txBody>
      </p:sp>
      <p:sp>
        <p:nvSpPr>
          <p:cNvPr id="5711" name="Google Shape;5711;p2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12" name="Google Shape;5712;p2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17" name="Shape 5717"/>
        <p:cNvGrpSpPr/>
        <p:nvPr/>
      </p:nvGrpSpPr>
      <p:grpSpPr>
        <a:xfrm>
          <a:off x="0" y="0"/>
          <a:ext cx="0" cy="0"/>
          <a:chOff x="0" y="0"/>
          <a:chExt cx="0" cy="0"/>
        </a:xfrm>
      </p:grpSpPr>
      <p:sp>
        <p:nvSpPr>
          <p:cNvPr id="5718" name="Google Shape;5718;p22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PEOPLE WHO SHAPED THE ERA</a:t>
            </a:r>
            <a:endParaRPr b="0" i="0" sz="1200" u="none" cap="none" strike="noStrike">
              <a:solidFill>
                <a:schemeClr val="dk1"/>
              </a:solidFill>
              <a:latin typeface="Calibri"/>
              <a:ea typeface="Calibri"/>
              <a:cs typeface="Calibri"/>
              <a:sym typeface="Calibri"/>
            </a:endParaRPr>
          </a:p>
        </p:txBody>
      </p:sp>
      <p:sp>
        <p:nvSpPr>
          <p:cNvPr id="5720" name="Google Shape;5720;p2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5721" name="Google Shape;5721;p221"/>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21"/>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21"/>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Cordell Hull</a:t>
            </a:r>
            <a:endParaRPr b="0" i="0" sz="1800" u="none" cap="none" strike="noStrike">
              <a:solidFill>
                <a:schemeClr val="dk1"/>
              </a:solidFill>
              <a:latin typeface="Calibri"/>
              <a:ea typeface="Calibri"/>
              <a:cs typeface="Calibri"/>
              <a:sym typeface="Calibri"/>
            </a:endParaRPr>
          </a:p>
        </p:txBody>
      </p:sp>
      <p:sp>
        <p:nvSpPr>
          <p:cNvPr id="5724" name="Google Shape;5724;p221"/>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Secretary of State (1933-1944)</a:t>
            </a:r>
            <a:endParaRPr b="0" i="0" sz="1100" u="none" cap="none" strike="noStrike">
              <a:solidFill>
                <a:schemeClr val="dk1"/>
              </a:solidFill>
              <a:latin typeface="Calibri"/>
              <a:ea typeface="Calibri"/>
              <a:cs typeface="Calibri"/>
              <a:sym typeface="Calibri"/>
            </a:endParaRPr>
          </a:p>
        </p:txBody>
      </p:sp>
      <p:sp>
        <p:nvSpPr>
          <p:cNvPr id="5725" name="Google Shape;5725;p221"/>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the 'Father of the United Nations'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Laid the diplomatic groundwork for the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the 1945 Nobel Peace Prize</a:t>
            </a:r>
            <a:endParaRPr b="0" i="0" sz="1300" u="none" cap="none" strike="noStrike">
              <a:solidFill>
                <a:schemeClr val="dk1"/>
              </a:solidFill>
              <a:latin typeface="Calibri"/>
              <a:ea typeface="Calibri"/>
              <a:cs typeface="Calibri"/>
              <a:sym typeface="Calibri"/>
            </a:endParaRPr>
          </a:p>
        </p:txBody>
      </p:sp>
      <p:sp>
        <p:nvSpPr>
          <p:cNvPr id="5726" name="Google Shape;5726;p221"/>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21"/>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Hull to show that the UN grew out of deliberate American planning, not accident.</a:t>
            </a:r>
            <a:endParaRPr b="0" i="0" sz="800" u="none" cap="none" strike="noStrike">
              <a:solidFill>
                <a:schemeClr val="dk1"/>
              </a:solidFill>
              <a:latin typeface="Calibri"/>
              <a:ea typeface="Calibri"/>
              <a:cs typeface="Calibri"/>
              <a:sym typeface="Calibri"/>
            </a:endParaRPr>
          </a:p>
        </p:txBody>
      </p:sp>
      <p:sp>
        <p:nvSpPr>
          <p:cNvPr id="5728" name="Google Shape;5728;p2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29" name="Google Shape;5729;p2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34" name="Shape 5734"/>
        <p:cNvGrpSpPr/>
        <p:nvPr/>
      </p:nvGrpSpPr>
      <p:grpSpPr>
        <a:xfrm>
          <a:off x="0" y="0"/>
          <a:ext cx="0" cy="0"/>
          <a:chOff x="0" y="0"/>
          <a:chExt cx="0" cy="0"/>
        </a:xfrm>
      </p:grpSpPr>
      <p:sp>
        <p:nvSpPr>
          <p:cNvPr id="5735" name="Google Shape;5735;p22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US.58 · PRIMARY SOURCE ANALYSIS</a:t>
            </a:r>
            <a:endParaRPr b="0" i="0" sz="1200" u="none" cap="none" strike="noStrike">
              <a:solidFill>
                <a:schemeClr val="dk1"/>
              </a:solidFill>
              <a:latin typeface="Calibri"/>
              <a:ea typeface="Calibri"/>
              <a:cs typeface="Calibri"/>
              <a:sym typeface="Calibri"/>
            </a:endParaRPr>
          </a:p>
        </p:txBody>
      </p:sp>
      <p:sp>
        <p:nvSpPr>
          <p:cNvPr id="5737" name="Google Shape;5737;p22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United Nations Charter Preamble</a:t>
            </a:r>
            <a:endParaRPr b="0" i="0" sz="2500" u="none" cap="none" strike="noStrike">
              <a:solidFill>
                <a:schemeClr val="dk1"/>
              </a:solidFill>
              <a:latin typeface="Calibri"/>
              <a:ea typeface="Calibri"/>
              <a:cs typeface="Calibri"/>
              <a:sym typeface="Calibri"/>
            </a:endParaRPr>
          </a:p>
        </p:txBody>
      </p:sp>
      <p:sp>
        <p:nvSpPr>
          <p:cNvPr id="5738" name="Google Shape;5738;p22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2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5740" name="Google Shape;5740;p22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United Nations  ·  June 26, 1945</a:t>
            </a:r>
            <a:endParaRPr b="0" i="0" sz="1200" u="none" cap="none" strike="noStrike">
              <a:solidFill>
                <a:schemeClr val="dk1"/>
              </a:solidFill>
              <a:latin typeface="Calibri"/>
              <a:ea typeface="Calibri"/>
              <a:cs typeface="Calibri"/>
              <a:sym typeface="Calibri"/>
            </a:endParaRPr>
          </a:p>
        </p:txBody>
      </p:sp>
      <p:sp>
        <p:nvSpPr>
          <p:cNvPr id="5741" name="Google Shape;5741;p22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2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2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400" u="none" cap="none" strike="noStrike">
              <a:solidFill>
                <a:schemeClr val="dk1"/>
              </a:solidFill>
              <a:latin typeface="Calibri"/>
              <a:ea typeface="Calibri"/>
              <a:cs typeface="Calibri"/>
              <a:sym typeface="Calibri"/>
            </a:endParaRPr>
          </a:p>
        </p:txBody>
      </p:sp>
      <p:sp>
        <p:nvSpPr>
          <p:cNvPr id="5744" name="Google Shape;5744;p22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2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746" name="Google Shape;5746;p22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2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748" name="Google Shape;5748;p22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United Nations was founded in June 1945, just weeks after Germany's surrender and before Japan's. The world had just survived two devastating world wars in thirty years, and world leaders were determined to create an international body that could prevent future conflicts. Representatives of 50 nations signed the UN Charter in San Francisco, establishing an organization designed to promote peace, human rights, and international cooperation.</a:t>
            </a:r>
            <a:endParaRPr b="0" i="0" sz="950" u="none" cap="none" strike="noStrike">
              <a:solidFill>
                <a:schemeClr val="dk1"/>
              </a:solidFill>
              <a:latin typeface="Calibri"/>
              <a:ea typeface="Calibri"/>
              <a:cs typeface="Calibri"/>
              <a:sym typeface="Calibri"/>
            </a:endParaRPr>
          </a:p>
        </p:txBody>
      </p:sp>
      <p:sp>
        <p:nvSpPr>
          <p:cNvPr id="5749" name="Google Shape;5749;p22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2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751" name="Google Shape;5751;p22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the UN Charter, what was the primary motivation for creating the United Nations?</a:t>
            </a:r>
            <a:endParaRPr b="0" i="0" sz="1250" u="none" cap="none" strike="noStrike">
              <a:solidFill>
                <a:schemeClr val="dk1"/>
              </a:solidFill>
              <a:latin typeface="Calibri"/>
              <a:ea typeface="Calibri"/>
              <a:cs typeface="Calibri"/>
              <a:sym typeface="Calibri"/>
            </a:endParaRPr>
          </a:p>
        </p:txBody>
      </p:sp>
      <p:sp>
        <p:nvSpPr>
          <p:cNvPr id="5752" name="Google Shape;5752;p22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2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2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755" name="Google Shape;5755;p22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756" name="Google Shape;5756;p22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757" name="Google Shape;5757;p22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758" name="Google Shape;5758;p22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United Nations</a:t>
            </a:r>
            <a:endParaRPr b="0" i="0" sz="950" u="none" cap="none" strike="noStrike">
              <a:solidFill>
                <a:schemeClr val="dk1"/>
              </a:solidFill>
              <a:latin typeface="Calibri"/>
              <a:ea typeface="Calibri"/>
              <a:cs typeface="Calibri"/>
              <a:sym typeface="Calibri"/>
            </a:endParaRPr>
          </a:p>
        </p:txBody>
      </p:sp>
      <p:sp>
        <p:nvSpPr>
          <p:cNvPr id="5759" name="Google Shape;5759;p22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760" name="Google Shape;5760;p22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26, 1945</a:t>
            </a:r>
            <a:endParaRPr b="0" i="0" sz="950" u="none" cap="none" strike="noStrike">
              <a:solidFill>
                <a:schemeClr val="dk1"/>
              </a:solidFill>
              <a:latin typeface="Calibri"/>
              <a:ea typeface="Calibri"/>
              <a:cs typeface="Calibri"/>
              <a:sym typeface="Calibri"/>
            </a:endParaRPr>
          </a:p>
        </p:txBody>
      </p:sp>
      <p:sp>
        <p:nvSpPr>
          <p:cNvPr id="5761" name="Google Shape;5761;p22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762" name="Google Shape;5762;p22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763" name="Google Shape;5763;p22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5764" name="Google Shape;5764;p2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65" name="Google Shape;5765;p2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70" name="Shape 5770"/>
        <p:cNvGrpSpPr/>
        <p:nvPr/>
      </p:nvGrpSpPr>
      <p:grpSpPr>
        <a:xfrm>
          <a:off x="0" y="0"/>
          <a:ext cx="0" cy="0"/>
          <a:chOff x="0" y="0"/>
          <a:chExt cx="0" cy="0"/>
        </a:xfrm>
      </p:grpSpPr>
      <p:sp>
        <p:nvSpPr>
          <p:cNvPr id="5771" name="Google Shape;5771;p2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KEY VOCABULARY</a:t>
            </a:r>
            <a:endParaRPr b="0" i="0" sz="1200" u="none" cap="none" strike="noStrike">
              <a:solidFill>
                <a:schemeClr val="dk1"/>
              </a:solidFill>
              <a:latin typeface="Calibri"/>
              <a:ea typeface="Calibri"/>
              <a:cs typeface="Calibri"/>
              <a:sym typeface="Calibri"/>
            </a:endParaRPr>
          </a:p>
        </p:txBody>
      </p:sp>
      <p:sp>
        <p:nvSpPr>
          <p:cNvPr id="5773" name="Google Shape;5773;p22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774" name="Google Shape;5774;p22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3"/>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United Nations</a:t>
            </a:r>
            <a:endParaRPr b="0" i="0" sz="1350" u="none" cap="none" strike="noStrike">
              <a:solidFill>
                <a:schemeClr val="dk1"/>
              </a:solidFill>
              <a:latin typeface="Calibri"/>
              <a:ea typeface="Calibri"/>
              <a:cs typeface="Calibri"/>
              <a:sym typeface="Calibri"/>
            </a:endParaRPr>
          </a:p>
        </p:txBody>
      </p:sp>
      <p:sp>
        <p:nvSpPr>
          <p:cNvPr id="5777" name="Google Shape;5777;p22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yoo-NY-ted NAY-shunz</a:t>
            </a:r>
            <a:endParaRPr b="0" i="0" sz="850" u="none" cap="none" strike="noStrike">
              <a:solidFill>
                <a:schemeClr val="dk1"/>
              </a:solidFill>
              <a:latin typeface="Calibri"/>
              <a:ea typeface="Calibri"/>
              <a:cs typeface="Calibri"/>
              <a:sym typeface="Calibri"/>
            </a:endParaRPr>
          </a:p>
        </p:txBody>
      </p:sp>
      <p:sp>
        <p:nvSpPr>
          <p:cNvPr id="5778" name="Google Shape;5778;p22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United Nations</a:t>
            </a:r>
            <a:endParaRPr b="0" i="0" sz="1000" u="none" cap="none" strike="noStrike">
              <a:solidFill>
                <a:schemeClr val="dk1"/>
              </a:solidFill>
              <a:latin typeface="Calibri"/>
              <a:ea typeface="Calibri"/>
              <a:cs typeface="Calibri"/>
              <a:sym typeface="Calibri"/>
            </a:endParaRPr>
          </a:p>
        </p:txBody>
      </p:sp>
      <p:sp>
        <p:nvSpPr>
          <p:cNvPr id="5779" name="Google Shape;5779;p223"/>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223"/>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UN</a:t>
            </a:r>
            <a:endParaRPr b="0" i="0" sz="1300" u="none" cap="none" strike="noStrike">
              <a:solidFill>
                <a:schemeClr val="dk1"/>
              </a:solidFill>
              <a:latin typeface="Calibri"/>
              <a:ea typeface="Calibri"/>
              <a:cs typeface="Calibri"/>
              <a:sym typeface="Calibri"/>
            </a:endParaRPr>
          </a:p>
        </p:txBody>
      </p:sp>
      <p:sp>
        <p:nvSpPr>
          <p:cNvPr id="5781" name="Google Shape;5781;p223"/>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international organization founded in 1945 by 50 nations to maintain global peace, security, and cooperation and to prevent another world war through collective diplomacy.</a:t>
            </a:r>
            <a:endParaRPr b="0" i="0" sz="1100" u="none" cap="none" strike="noStrike">
              <a:solidFill>
                <a:schemeClr val="dk1"/>
              </a:solidFill>
              <a:latin typeface="Calibri"/>
              <a:ea typeface="Calibri"/>
              <a:cs typeface="Calibri"/>
              <a:sym typeface="Calibri"/>
            </a:endParaRPr>
          </a:p>
        </p:txBody>
      </p:sp>
      <p:sp>
        <p:nvSpPr>
          <p:cNvPr id="5782" name="Google Shape;5782;p22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3"/>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Cordell Hull</a:t>
            </a:r>
            <a:endParaRPr b="0" i="0" sz="1350" u="none" cap="none" strike="noStrike">
              <a:solidFill>
                <a:schemeClr val="dk1"/>
              </a:solidFill>
              <a:latin typeface="Calibri"/>
              <a:ea typeface="Calibri"/>
              <a:cs typeface="Calibri"/>
              <a:sym typeface="Calibri"/>
            </a:endParaRPr>
          </a:p>
        </p:txBody>
      </p:sp>
      <p:sp>
        <p:nvSpPr>
          <p:cNvPr id="5785" name="Google Shape;5785;p22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kor-DEL hul</a:t>
            </a:r>
            <a:endParaRPr b="0" i="0" sz="850" u="none" cap="none" strike="noStrike">
              <a:solidFill>
                <a:schemeClr val="dk1"/>
              </a:solidFill>
              <a:latin typeface="Calibri"/>
              <a:ea typeface="Calibri"/>
              <a:cs typeface="Calibri"/>
              <a:sym typeface="Calibri"/>
            </a:endParaRPr>
          </a:p>
        </p:txBody>
      </p:sp>
      <p:sp>
        <p:nvSpPr>
          <p:cNvPr id="5786" name="Google Shape;5786;p22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Cordell Hull</a:t>
            </a:r>
            <a:endParaRPr b="0" i="0" sz="1000" u="none" cap="none" strike="noStrike">
              <a:solidFill>
                <a:schemeClr val="dk1"/>
              </a:solidFill>
              <a:latin typeface="Calibri"/>
              <a:ea typeface="Calibri"/>
              <a:cs typeface="Calibri"/>
              <a:sym typeface="Calibri"/>
            </a:endParaRPr>
          </a:p>
        </p:txBody>
      </p:sp>
      <p:sp>
        <p:nvSpPr>
          <p:cNvPr id="5787" name="Google Shape;5787;p223"/>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223"/>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CH</a:t>
            </a:r>
            <a:endParaRPr b="0" i="0" sz="1300" u="none" cap="none" strike="noStrike">
              <a:solidFill>
                <a:schemeClr val="dk1"/>
              </a:solidFill>
              <a:latin typeface="Calibri"/>
              <a:ea typeface="Calibri"/>
              <a:cs typeface="Calibri"/>
              <a:sym typeface="Calibri"/>
            </a:endParaRPr>
          </a:p>
        </p:txBody>
      </p:sp>
      <p:sp>
        <p:nvSpPr>
          <p:cNvPr id="5789" name="Google Shape;5789;p223"/>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Secretary of State under Franklin D. Roosevelt (1933-1944), awarded the 1945 Nobel Peace Prize for his role in creating the United Nations.</a:t>
            </a:r>
            <a:endParaRPr b="0" i="0" sz="1100" u="none" cap="none" strike="noStrike">
              <a:solidFill>
                <a:schemeClr val="dk1"/>
              </a:solidFill>
              <a:latin typeface="Calibri"/>
              <a:ea typeface="Calibri"/>
              <a:cs typeface="Calibri"/>
              <a:sym typeface="Calibri"/>
            </a:endParaRPr>
          </a:p>
        </p:txBody>
      </p:sp>
      <p:sp>
        <p:nvSpPr>
          <p:cNvPr id="5790" name="Google Shape;5790;p22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3"/>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793" name="Google Shape;5793;p22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794" name="Google Shape;5794;p22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795" name="Google Shape;5795;p223"/>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223"/>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YC</a:t>
            </a:r>
            <a:endParaRPr b="0" i="0" sz="1300" u="none" cap="none" strike="noStrike">
              <a:solidFill>
                <a:schemeClr val="dk1"/>
              </a:solidFill>
              <a:latin typeface="Calibri"/>
              <a:ea typeface="Calibri"/>
              <a:cs typeface="Calibri"/>
              <a:sym typeface="Calibri"/>
            </a:endParaRPr>
          </a:p>
        </p:txBody>
      </p:sp>
      <p:sp>
        <p:nvSpPr>
          <p:cNvPr id="5797" name="Google Shape;5797;p223"/>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798" name="Google Shape;5798;p22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3"/>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801" name="Google Shape;5801;p22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802" name="Google Shape;5802;p22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803" name="Google Shape;5803;p223"/>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223"/>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805" name="Google Shape;5805;p223"/>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806" name="Google Shape;5806;p22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3"/>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5809" name="Google Shape;5809;p22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5810" name="Google Shape;5810;p22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5811" name="Google Shape;5811;p223"/>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223"/>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FF</a:t>
            </a:r>
            <a:endParaRPr b="0" i="0" sz="1300" u="none" cap="none" strike="noStrike">
              <a:solidFill>
                <a:schemeClr val="dk1"/>
              </a:solidFill>
              <a:latin typeface="Calibri"/>
              <a:ea typeface="Calibri"/>
              <a:cs typeface="Calibri"/>
              <a:sym typeface="Calibri"/>
            </a:endParaRPr>
          </a:p>
        </p:txBody>
      </p:sp>
      <p:sp>
        <p:nvSpPr>
          <p:cNvPr id="5813" name="Google Shape;5813;p223"/>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5814" name="Google Shape;5814;p22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3"/>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5817" name="Google Shape;5817;p22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5818" name="Google Shape;5818;p22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5819" name="Google Shape;5819;p223"/>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223"/>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5821" name="Google Shape;5821;p223"/>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5822" name="Google Shape;5822;p22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823" name="Google Shape;5823;p2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24" name="Google Shape;5824;p2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29" name="Shape 5829"/>
        <p:cNvGrpSpPr/>
        <p:nvPr/>
      </p:nvGrpSpPr>
      <p:grpSpPr>
        <a:xfrm>
          <a:off x="0" y="0"/>
          <a:ext cx="0" cy="0"/>
          <a:chOff x="0" y="0"/>
          <a:chExt cx="0" cy="0"/>
        </a:xfrm>
      </p:grpSpPr>
      <p:sp>
        <p:nvSpPr>
          <p:cNvPr id="5830" name="Google Shape;5830;p2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GUIDED PRACTICE — WE DO IT TOGETHER</a:t>
            </a:r>
            <a:endParaRPr b="0" i="0" sz="1200" u="none" cap="none" strike="noStrike">
              <a:solidFill>
                <a:schemeClr val="dk1"/>
              </a:solidFill>
              <a:latin typeface="Calibri"/>
              <a:ea typeface="Calibri"/>
              <a:cs typeface="Calibri"/>
              <a:sym typeface="Calibri"/>
            </a:endParaRPr>
          </a:p>
        </p:txBody>
      </p:sp>
      <p:sp>
        <p:nvSpPr>
          <p:cNvPr id="5832" name="Google Shape;5832;p22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833" name="Google Shape;5833;p22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the purpose of an institution</a:t>
            </a:r>
            <a:endParaRPr b="0" i="0" sz="1100" u="none" cap="none" strike="noStrike">
              <a:solidFill>
                <a:schemeClr val="dk1"/>
              </a:solidFill>
              <a:latin typeface="Calibri"/>
              <a:ea typeface="Calibri"/>
              <a:cs typeface="Calibri"/>
              <a:sym typeface="Calibri"/>
            </a:endParaRPr>
          </a:p>
        </p:txBody>
      </p:sp>
      <p:sp>
        <p:nvSpPr>
          <p:cNvPr id="5835" name="Google Shape;5835;p22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the Allies build the United Nations?</a:t>
            </a:r>
            <a:endParaRPr b="0" i="0" sz="1500" u="none" cap="none" strike="noStrike">
              <a:solidFill>
                <a:schemeClr val="dk1"/>
              </a:solidFill>
              <a:latin typeface="Calibri"/>
              <a:ea typeface="Calibri"/>
              <a:cs typeface="Calibri"/>
              <a:sym typeface="Calibri"/>
            </a:endParaRPr>
          </a:p>
        </p:txBody>
      </p:sp>
      <p:sp>
        <p:nvSpPr>
          <p:cNvPr id="5837" name="Google Shape;5837;p22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839" name="Google Shape;5839;p22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Having seen appeasement and total war fail to keep peace, leaders wanted a permanent forum to resolve disputes. The UN Charter's preamble states that goal directly.</a:t>
            </a:r>
            <a:endParaRPr b="0" i="0" sz="1450" u="none" cap="none" strike="noStrike">
              <a:solidFill>
                <a:schemeClr val="dk1"/>
              </a:solidFill>
              <a:latin typeface="Calibri"/>
              <a:ea typeface="Calibri"/>
              <a:cs typeface="Calibri"/>
              <a:sym typeface="Calibri"/>
            </a:endParaRPr>
          </a:p>
        </p:txBody>
      </p:sp>
      <p:sp>
        <p:nvSpPr>
          <p:cNvPr id="5840" name="Google Shape;5840;p22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842" name="Google Shape;5842;p22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preamble's stated purpose for the UN.</a:t>
            </a:r>
            <a:endParaRPr b="0" i="0" sz="1300" u="none" cap="none" strike="noStrike">
              <a:solidFill>
                <a:schemeClr val="dk1"/>
              </a:solidFill>
              <a:latin typeface="Calibri"/>
              <a:ea typeface="Calibri"/>
              <a:cs typeface="Calibri"/>
              <a:sym typeface="Calibri"/>
            </a:endParaRPr>
          </a:p>
        </p:txBody>
      </p:sp>
      <p:sp>
        <p:nvSpPr>
          <p:cNvPr id="5843" name="Google Shape;5843;p22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 UN was meant to fix what the 1930s got wrong.</a:t>
            </a:r>
            <a:endParaRPr b="0" i="0" sz="1200" u="none" cap="none" strike="noStrike">
              <a:solidFill>
                <a:schemeClr val="dk1"/>
              </a:solidFill>
              <a:latin typeface="Calibri"/>
              <a:ea typeface="Calibri"/>
              <a:cs typeface="Calibri"/>
              <a:sym typeface="Calibri"/>
            </a:endParaRPr>
          </a:p>
        </p:txBody>
      </p:sp>
      <p:sp>
        <p:nvSpPr>
          <p:cNvPr id="5844" name="Google Shape;5844;p2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45" name="Google Shape;5845;p2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50" name="Shape 5850"/>
        <p:cNvGrpSpPr/>
        <p:nvPr/>
      </p:nvGrpSpPr>
      <p:grpSpPr>
        <a:xfrm>
          <a:off x="0" y="0"/>
          <a:ext cx="0" cy="0"/>
          <a:chOff x="0" y="0"/>
          <a:chExt cx="0" cy="0"/>
        </a:xfrm>
      </p:grpSpPr>
      <p:sp>
        <p:nvSpPr>
          <p:cNvPr id="5851" name="Google Shape;5851;p22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STUDENT ACTIVITY</a:t>
            </a:r>
            <a:endParaRPr b="0" i="0" sz="1200" u="none" cap="none" strike="noStrike">
              <a:solidFill>
                <a:schemeClr val="dk1"/>
              </a:solidFill>
              <a:latin typeface="Calibri"/>
              <a:ea typeface="Calibri"/>
              <a:cs typeface="Calibri"/>
              <a:sym typeface="Calibri"/>
            </a:endParaRPr>
          </a:p>
        </p:txBody>
      </p:sp>
      <p:sp>
        <p:nvSpPr>
          <p:cNvPr id="5853" name="Google Shape;5853;p22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Never Again — Building the United Nations</a:t>
            </a:r>
            <a:endParaRPr b="0" i="0" sz="2400" u="none" cap="none" strike="noStrike">
              <a:solidFill>
                <a:schemeClr val="dk1"/>
              </a:solidFill>
              <a:latin typeface="Calibri"/>
              <a:ea typeface="Calibri"/>
              <a:cs typeface="Calibri"/>
              <a:sym typeface="Calibri"/>
            </a:endParaRPr>
          </a:p>
        </p:txBody>
      </p:sp>
      <p:sp>
        <p:nvSpPr>
          <p:cNvPr id="5854" name="Google Shape;5854;p225"/>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5"/>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856" name="Google Shape;5856;p225"/>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5"/>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858" name="Google Shape;5858;p22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860" name="Google Shape;5860;p22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UN Charter Preamble and study the Declaration by United Nations photograph. Complete a four-part organizer: (1) the LESSONS learned from the League of Nations' failure; (2) CORDELL HULL's role as 'Father of the United Nations'; (3) the UN's GOALS and basic STRUCTURE; (4) the UN's LEGACY and LIMITATIONS. Add one detail per section. Finish with a one-sentence claim on whether the UN corrected the weaknesses that doomed the League, with evidence.</a:t>
            </a:r>
            <a:endParaRPr b="0" i="0" sz="1350" u="none" cap="none" strike="noStrike">
              <a:solidFill>
                <a:schemeClr val="dk1"/>
              </a:solidFill>
              <a:latin typeface="Calibri"/>
              <a:ea typeface="Calibri"/>
              <a:cs typeface="Calibri"/>
              <a:sym typeface="Calibri"/>
            </a:endParaRPr>
          </a:p>
        </p:txBody>
      </p:sp>
      <p:sp>
        <p:nvSpPr>
          <p:cNvPr id="5861" name="Google Shape;5861;p22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863" name="Google Shape;5863;p22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(League lessons / Hull's role / goals-structure / legacy-limits, one detail each) AND a one-sentence evidence-based claim comparing the UN to the League.</a:t>
            </a:r>
            <a:endParaRPr b="0" i="0" sz="1050" u="none" cap="none" strike="noStrike">
              <a:solidFill>
                <a:schemeClr val="dk1"/>
              </a:solidFill>
              <a:latin typeface="Calibri"/>
              <a:ea typeface="Calibri"/>
              <a:cs typeface="Calibri"/>
              <a:sym typeface="Calibri"/>
            </a:endParaRPr>
          </a:p>
        </p:txBody>
      </p:sp>
      <p:sp>
        <p:nvSpPr>
          <p:cNvPr id="5864" name="Google Shape;5864;p22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866" name="Google Shape;5866;p22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UN Charter Preamble to argue whether the UN's design fixed the specific flaws that made the League of Nations powerless.</a:t>
            </a:r>
            <a:endParaRPr b="0" i="0" sz="1000" u="none" cap="none" strike="noStrike">
              <a:solidFill>
                <a:schemeClr val="dk1"/>
              </a:solidFill>
              <a:latin typeface="Calibri"/>
              <a:ea typeface="Calibri"/>
              <a:cs typeface="Calibri"/>
              <a:sym typeface="Calibri"/>
            </a:endParaRPr>
          </a:p>
        </p:txBody>
      </p:sp>
      <p:sp>
        <p:nvSpPr>
          <p:cNvPr id="5867" name="Google Shape;5867;p22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cornell-notes/unit-6/us58-united-nations-cordell-hull.pdf</a:t>
            </a:r>
            <a:endParaRPr b="0" i="0" sz="1050" u="none" cap="none" strike="noStrike">
              <a:solidFill>
                <a:schemeClr val="dk1"/>
              </a:solidFill>
              <a:latin typeface="Calibri"/>
              <a:ea typeface="Calibri"/>
              <a:cs typeface="Calibri"/>
              <a:sym typeface="Calibri"/>
            </a:endParaRPr>
          </a:p>
        </p:txBody>
      </p:sp>
      <p:sp>
        <p:nvSpPr>
          <p:cNvPr id="5868" name="Google Shape;5868;p2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69" name="Google Shape;5869;p2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874" name="Shape 5874"/>
        <p:cNvGrpSpPr/>
        <p:nvPr/>
      </p:nvGrpSpPr>
      <p:grpSpPr>
        <a:xfrm>
          <a:off x="0" y="0"/>
          <a:ext cx="0" cy="0"/>
          <a:chOff x="0" y="0"/>
          <a:chExt cx="0" cy="0"/>
        </a:xfrm>
      </p:grpSpPr>
      <p:sp>
        <p:nvSpPr>
          <p:cNvPr id="5875" name="Google Shape;5875;p22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CHECK FOR UNDERSTANDING</a:t>
            </a:r>
            <a:endParaRPr b="0" i="0" sz="1200" u="none" cap="none" strike="noStrike">
              <a:solidFill>
                <a:schemeClr val="dk1"/>
              </a:solidFill>
              <a:latin typeface="Calibri"/>
              <a:ea typeface="Calibri"/>
              <a:cs typeface="Calibri"/>
              <a:sym typeface="Calibri"/>
            </a:endParaRPr>
          </a:p>
        </p:txBody>
      </p:sp>
      <p:sp>
        <p:nvSpPr>
          <p:cNvPr id="5877" name="Google Shape;5877;p22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878" name="Google Shape;5878;p22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22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880" name="Google Shape;5880;p22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22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882" name="Google Shape;5882;p22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600" u="none" cap="none" strike="noStrike">
              <a:solidFill>
                <a:schemeClr val="dk1"/>
              </a:solidFill>
              <a:latin typeface="Calibri"/>
              <a:ea typeface="Calibri"/>
              <a:cs typeface="Calibri"/>
              <a:sym typeface="Calibri"/>
            </a:endParaRPr>
          </a:p>
        </p:txBody>
      </p:sp>
      <p:sp>
        <p:nvSpPr>
          <p:cNvPr id="5884" name="Google Shape;5884;p22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887" name="Google Shape;5887;p22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50" u="none" cap="none" strike="noStrike">
              <a:solidFill>
                <a:schemeClr val="dk1"/>
              </a:solidFill>
              <a:latin typeface="Calibri"/>
              <a:ea typeface="Calibri"/>
              <a:cs typeface="Calibri"/>
              <a:sym typeface="Calibri"/>
            </a:endParaRPr>
          </a:p>
        </p:txBody>
      </p:sp>
      <p:sp>
        <p:nvSpPr>
          <p:cNvPr id="5888" name="Google Shape;5888;p22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891" name="Google Shape;5891;p22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failure of the League of Nations and the devastation of WWII showed the need for a stronger international organization to maintain peace.</a:t>
            </a:r>
            <a:endParaRPr b="0" i="0" sz="1350" u="none" cap="none" strike="noStrike">
              <a:solidFill>
                <a:schemeClr val="dk1"/>
              </a:solidFill>
              <a:latin typeface="Calibri"/>
              <a:ea typeface="Calibri"/>
              <a:cs typeface="Calibri"/>
              <a:sym typeface="Calibri"/>
            </a:endParaRPr>
          </a:p>
        </p:txBody>
      </p:sp>
      <p:sp>
        <p:nvSpPr>
          <p:cNvPr id="5892" name="Google Shape;5892;p22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895" name="Google Shape;5895;p22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50" u="none" cap="none" strike="noStrike">
              <a:solidFill>
                <a:schemeClr val="dk1"/>
              </a:solidFill>
              <a:latin typeface="Calibri"/>
              <a:ea typeface="Calibri"/>
              <a:cs typeface="Calibri"/>
              <a:sym typeface="Calibri"/>
            </a:endParaRPr>
          </a:p>
        </p:txBody>
      </p:sp>
      <p:sp>
        <p:nvSpPr>
          <p:cNvPr id="5896" name="Google Shape;5896;p22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899" name="Google Shape;5899;p22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50" u="none" cap="none" strike="noStrike">
              <a:solidFill>
                <a:schemeClr val="dk1"/>
              </a:solidFill>
              <a:latin typeface="Calibri"/>
              <a:ea typeface="Calibri"/>
              <a:cs typeface="Calibri"/>
              <a:sym typeface="Calibri"/>
            </a:endParaRPr>
          </a:p>
        </p:txBody>
      </p:sp>
      <p:sp>
        <p:nvSpPr>
          <p:cNvPr id="5900" name="Google Shape;5900;p22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902" name="Google Shape;5902;p2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03" name="Google Shape;5903;p2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08" name="Shape 5908"/>
        <p:cNvGrpSpPr/>
        <p:nvPr/>
      </p:nvGrpSpPr>
      <p:grpSpPr>
        <a:xfrm>
          <a:off x="0" y="0"/>
          <a:ext cx="0" cy="0"/>
          <a:chOff x="0" y="0"/>
          <a:chExt cx="0" cy="0"/>
        </a:xfrm>
      </p:grpSpPr>
      <p:sp>
        <p:nvSpPr>
          <p:cNvPr id="5909" name="Google Shape;5909;p22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ANSWER REVEAL</a:t>
            </a:r>
            <a:endParaRPr b="0" i="0" sz="1200" u="none" cap="none" strike="noStrike">
              <a:solidFill>
                <a:schemeClr val="dk1"/>
              </a:solidFill>
              <a:latin typeface="Calibri"/>
              <a:ea typeface="Calibri"/>
              <a:cs typeface="Calibri"/>
              <a:sym typeface="Calibri"/>
            </a:endParaRPr>
          </a:p>
        </p:txBody>
      </p:sp>
      <p:sp>
        <p:nvSpPr>
          <p:cNvPr id="5911" name="Google Shape;5911;p22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912" name="Google Shape;5912;p22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914" name="Google Shape;5914;p22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500" u="none" cap="none" strike="noStrike">
              <a:solidFill>
                <a:schemeClr val="dk1"/>
              </a:solidFill>
              <a:latin typeface="Calibri"/>
              <a:ea typeface="Calibri"/>
              <a:cs typeface="Calibri"/>
              <a:sym typeface="Calibri"/>
            </a:endParaRPr>
          </a:p>
        </p:txBody>
      </p:sp>
      <p:sp>
        <p:nvSpPr>
          <p:cNvPr id="5916" name="Google Shape;5916;p227"/>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22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919" name="Google Shape;5919;p22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00" u="none" cap="none" strike="noStrike">
              <a:solidFill>
                <a:schemeClr val="dk1"/>
              </a:solidFill>
              <a:latin typeface="Calibri"/>
              <a:ea typeface="Calibri"/>
              <a:cs typeface="Calibri"/>
              <a:sym typeface="Calibri"/>
            </a:endParaRPr>
          </a:p>
        </p:txBody>
      </p:sp>
      <p:sp>
        <p:nvSpPr>
          <p:cNvPr id="5920" name="Google Shape;5920;p227"/>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923" name="Google Shape;5923;p22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The failure of the League of Nations and the devastation of WWII showed the need for a stronger international organization to maintain peace.</a:t>
            </a:r>
            <a:endParaRPr b="0" i="0" sz="1300" u="none" cap="none" strike="noStrike">
              <a:solidFill>
                <a:schemeClr val="dk1"/>
              </a:solidFill>
              <a:latin typeface="Calibri"/>
              <a:ea typeface="Calibri"/>
              <a:cs typeface="Calibri"/>
              <a:sym typeface="Calibri"/>
            </a:endParaRPr>
          </a:p>
        </p:txBody>
      </p:sp>
      <p:sp>
        <p:nvSpPr>
          <p:cNvPr id="5924" name="Google Shape;5924;p227"/>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925" name="Google Shape;5925;p22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928" name="Google Shape;5928;p22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00" u="none" cap="none" strike="noStrike">
              <a:solidFill>
                <a:schemeClr val="dk1"/>
              </a:solidFill>
              <a:latin typeface="Calibri"/>
              <a:ea typeface="Calibri"/>
              <a:cs typeface="Calibri"/>
              <a:sym typeface="Calibri"/>
            </a:endParaRPr>
          </a:p>
        </p:txBody>
      </p:sp>
      <p:sp>
        <p:nvSpPr>
          <p:cNvPr id="5929" name="Google Shape;5929;p22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932" name="Google Shape;5932;p22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00" u="none" cap="none" strike="noStrike">
              <a:solidFill>
                <a:schemeClr val="dk1"/>
              </a:solidFill>
              <a:latin typeface="Calibri"/>
              <a:ea typeface="Calibri"/>
              <a:cs typeface="Calibri"/>
              <a:sym typeface="Calibri"/>
            </a:endParaRPr>
          </a:p>
        </p:txBody>
      </p:sp>
      <p:sp>
        <p:nvSpPr>
          <p:cNvPr id="5933" name="Google Shape;5933;p22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22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a:t>
            </a:r>
            <a:endParaRPr b="0" i="0" sz="1150" u="none" cap="none" strike="noStrike">
              <a:solidFill>
                <a:schemeClr val="dk1"/>
              </a:solidFill>
              <a:latin typeface="Calibri"/>
              <a:ea typeface="Calibri"/>
              <a:cs typeface="Calibri"/>
              <a:sym typeface="Calibri"/>
            </a:endParaRPr>
          </a:p>
        </p:txBody>
      </p:sp>
      <p:sp>
        <p:nvSpPr>
          <p:cNvPr id="5935" name="Google Shape;5935;p2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36" name="Google Shape;5936;p2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41" name="Shape 5941"/>
        <p:cNvGrpSpPr/>
        <p:nvPr/>
      </p:nvGrpSpPr>
      <p:grpSpPr>
        <a:xfrm>
          <a:off x="0" y="0"/>
          <a:ext cx="0" cy="0"/>
          <a:chOff x="0" y="0"/>
          <a:chExt cx="0" cy="0"/>
        </a:xfrm>
      </p:grpSpPr>
      <p:sp>
        <p:nvSpPr>
          <p:cNvPr id="5942" name="Google Shape;5942;p2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WRAP-UP</a:t>
            </a:r>
            <a:endParaRPr b="0" i="0" sz="1200" u="none" cap="none" strike="noStrike">
              <a:solidFill>
                <a:schemeClr val="dk1"/>
              </a:solidFill>
              <a:latin typeface="Calibri"/>
              <a:ea typeface="Calibri"/>
              <a:cs typeface="Calibri"/>
              <a:sym typeface="Calibri"/>
            </a:endParaRPr>
          </a:p>
        </p:txBody>
      </p:sp>
      <p:sp>
        <p:nvSpPr>
          <p:cNvPr id="5944" name="Google Shape;5944;p22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945" name="Google Shape;5945;p22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947" name="Google Shape;5947;p22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Lessons from League of Nations Failure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Cordell Hull's Role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Goals and Structure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Legacy and Limitations</a:t>
            </a:r>
            <a:endParaRPr b="0" i="0" sz="1500" u="none" cap="none" strike="noStrike">
              <a:solidFill>
                <a:schemeClr val="dk1"/>
              </a:solidFill>
              <a:latin typeface="Calibri"/>
              <a:ea typeface="Calibri"/>
              <a:cs typeface="Calibri"/>
              <a:sym typeface="Calibri"/>
            </a:endParaRPr>
          </a:p>
        </p:txBody>
      </p:sp>
      <p:sp>
        <p:nvSpPr>
          <p:cNvPr id="5948" name="Google Shape;5948;p22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950" name="Google Shape;5950;p22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UN's design truly fix the flaws that doomed the League of Nations?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5951" name="Google Shape;5951;p22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953" name="Google Shape;5953;p22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955" name="Google Shape;5955;p22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the United Nations was founded and how it aimed to avoid the failures of the League of Nations.</a:t>
            </a:r>
            <a:endParaRPr b="0" i="0" sz="1350" u="none" cap="none" strike="noStrike">
              <a:solidFill>
                <a:schemeClr val="dk1"/>
              </a:solidFill>
              <a:latin typeface="Calibri"/>
              <a:ea typeface="Calibri"/>
              <a:cs typeface="Calibri"/>
              <a:sym typeface="Calibri"/>
            </a:endParaRPr>
          </a:p>
        </p:txBody>
      </p:sp>
      <p:cxnSp>
        <p:nvCxnSpPr>
          <p:cNvPr id="5956" name="Google Shape;5956;p22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7" name="Google Shape;5957;p22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8" name="Google Shape;5958;p22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959" name="Google Shape;5959;p2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60" name="Google Shape;5960;p2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65" name="Shape 5965"/>
        <p:cNvGrpSpPr/>
        <p:nvPr/>
      </p:nvGrpSpPr>
      <p:grpSpPr>
        <a:xfrm>
          <a:off x="0" y="0"/>
          <a:ext cx="0" cy="0"/>
          <a:chOff x="0" y="0"/>
          <a:chExt cx="0" cy="0"/>
        </a:xfrm>
      </p:grpSpPr>
      <p:sp>
        <p:nvSpPr>
          <p:cNvPr id="5966" name="Google Shape;5966;p2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9"/>
          <p:cNvSpPr/>
          <p:nvPr/>
        </p:nvSpPr>
        <p:spPr>
          <a:xfrm>
            <a:off x="0" y="6711696"/>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9"/>
          <p:cNvSpPr/>
          <p:nvPr/>
        </p:nvSpPr>
        <p:spPr>
          <a:xfrm>
            <a:off x="822960" y="1463040"/>
            <a:ext cx="10515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Unit 6 Complete</a:t>
            </a:r>
            <a:endParaRPr b="0" i="0" sz="4800" u="none" cap="none" strike="noStrike">
              <a:solidFill>
                <a:schemeClr val="dk1"/>
              </a:solidFill>
              <a:latin typeface="Calibri"/>
              <a:ea typeface="Calibri"/>
              <a:cs typeface="Calibri"/>
              <a:sym typeface="Calibri"/>
            </a:endParaRPr>
          </a:p>
        </p:txBody>
      </p:sp>
      <p:sp>
        <p:nvSpPr>
          <p:cNvPr id="5969" name="Google Shape;5969;p229"/>
          <p:cNvSpPr/>
          <p:nvPr/>
        </p:nvSpPr>
        <p:spPr>
          <a:xfrm>
            <a:off x="822960" y="2560320"/>
            <a:ext cx="10515600" cy="100584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C89B3C"/>
              </a:buClr>
              <a:buSzPts val="2100"/>
              <a:buFont typeface="Georgia"/>
              <a:buNone/>
            </a:pPr>
            <a:r>
              <a:rPr b="0" i="1" lang="en-US" sz="2100" u="none" cap="none" strike="noStrike">
                <a:solidFill>
                  <a:srgbClr val="C89B3C"/>
                </a:solidFill>
                <a:latin typeface="Georgia"/>
                <a:ea typeface="Georgia"/>
                <a:cs typeface="Georgia"/>
                <a:sym typeface="Georgia"/>
              </a:rPr>
              <a:t>World War II (1919–1945) · from the rise of fascism, communism, and totalitarianism and the attack on Pearl Harbor to the war fronts, the home front, the atomic bomb, and the founding of the United Nations.</a:t>
            </a:r>
            <a:endParaRPr b="0" i="0" sz="2100" u="none" cap="none" strike="noStrike">
              <a:solidFill>
                <a:schemeClr val="dk1"/>
              </a:solidFill>
              <a:latin typeface="Calibri"/>
              <a:ea typeface="Calibri"/>
              <a:cs typeface="Calibri"/>
              <a:sym typeface="Calibri"/>
            </a:endParaRPr>
          </a:p>
        </p:txBody>
      </p:sp>
      <p:sp>
        <p:nvSpPr>
          <p:cNvPr id="5970" name="Google Shape;5970;p229"/>
          <p:cNvSpPr/>
          <p:nvPr/>
        </p:nvSpPr>
        <p:spPr>
          <a:xfrm>
            <a:off x="822960" y="3566160"/>
            <a:ext cx="1051560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Revisit your unit hook: </a:t>
            </a:r>
            <a:r>
              <a:rPr b="0" i="0" lang="en-US" sz="1600" u="none" cap="none" strike="noStrike">
                <a:solidFill>
                  <a:srgbClr val="C7D4E0"/>
                </a:solidFill>
                <a:latin typeface="Calibri"/>
                <a:ea typeface="Calibri"/>
                <a:cs typeface="Calibri"/>
                <a:sym typeface="Calibri"/>
              </a:rPr>
              <a:t>How did the U.S. move from neutrality to total war, and what did victory cost? You can now answer with evidence — from the Neutrality Acts and Pearl Harbor to D-Day and Midway, from Rosie the Riveter and the Double V campaign to Japanese American internment, and from the Manhattan Project to Yalta, Potsdam, and the UN.</a:t>
            </a:r>
            <a:endParaRPr b="0" i="0" sz="1600" u="none" cap="none" strike="noStrike">
              <a:solidFill>
                <a:schemeClr val="dk1"/>
              </a:solidFill>
              <a:latin typeface="Calibri"/>
              <a:ea typeface="Calibri"/>
              <a:cs typeface="Calibri"/>
              <a:sym typeface="Calibri"/>
            </a:endParaRPr>
          </a:p>
        </p:txBody>
      </p:sp>
      <p:sp>
        <p:nvSpPr>
          <p:cNvPr id="5971" name="Google Shape;5971;p229"/>
          <p:cNvSpPr/>
          <p:nvPr/>
        </p:nvSpPr>
        <p:spPr>
          <a:xfrm>
            <a:off x="822960" y="49377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400"/>
              <a:buFont typeface="Trebuchet MS"/>
              <a:buNone/>
            </a:pPr>
            <a:r>
              <a:rPr b="1" i="0" lang="en-US" sz="1400" u="none" cap="none" strike="noStrike">
                <a:solidFill>
                  <a:srgbClr val="C89B3C"/>
                </a:solidFill>
                <a:latin typeface="Trebuchet MS"/>
                <a:ea typeface="Trebuchet MS"/>
                <a:cs typeface="Trebuchet MS"/>
                <a:sym typeface="Trebuchet MS"/>
              </a:rPr>
              <a:t>Next: Unit 7 — The Cold War &amp; Postwar America</a:t>
            </a:r>
            <a:endParaRPr b="0" i="0" sz="1400" u="none" cap="none" strike="noStrike">
              <a:solidFill>
                <a:schemeClr val="dk1"/>
              </a:solidFill>
              <a:latin typeface="Calibri"/>
              <a:ea typeface="Calibri"/>
              <a:cs typeface="Calibri"/>
              <a:sym typeface="Calibri"/>
            </a:endParaRPr>
          </a:p>
        </p:txBody>
      </p:sp>
      <p:sp>
        <p:nvSpPr>
          <p:cNvPr id="5972" name="Google Shape;5972;p229"/>
          <p:cNvSpPr/>
          <p:nvPr/>
        </p:nvSpPr>
        <p:spPr>
          <a:xfrm>
            <a:off x="822960" y="5943600"/>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0" lang="en-US" sz="1000" u="none" cap="none" strike="noStrike">
                <a:solidFill>
                  <a:srgbClr val="5C6470"/>
                </a:solidFill>
                <a:latin typeface="Calibri"/>
                <a:ea typeface="Calibri"/>
                <a:cs typeface="Calibri"/>
                <a:sym typeface="Calibri"/>
              </a:rPr>
              <a:t>U.S. History Hack  ·  TroopToTeacher Technologies LLC  ·  All primary sources verified against National Archives, Library of Congress, and U.S. Senate records. All images public domain.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2026-07-02T17:04:10Z</dcterms:created>
  <dc:creator>TroopToTeacher Technologies LLC</dc:creator>
</cp:coreProperties>
</file>
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340" r:id="rId90"/>
    <p:sldId id="256" r:id="rId5"/>
    <p:sldId id="341" r:id="rId91"/>
    <p:sldId id="369" r:id="rId119"/>
    <p:sldId id="370" r:id="rId120"/>
    <p:sldId id="258" r:id="rId7"/>
    <p:sldId id="259" r:id="rId8"/>
    <p:sldId id="260" r:id="rId9"/>
    <p:sldId id="261" r:id="rId10"/>
    <p:sldId id="355" r:id="rId105"/>
    <p:sldId id="262" r:id="rId11"/>
    <p:sldId id="342" r:id="rId92"/>
    <p:sldId id="263" r:id="rId12"/>
    <p:sldId id="371" r:id="rId121"/>
    <p:sldId id="264" r:id="rId13"/>
    <p:sldId id="265" r:id="rId14"/>
    <p:sldId id="266" r:id="rId15"/>
    <p:sldId id="267" r:id="rId16"/>
    <p:sldId id="356" r:id="rId106"/>
    <p:sldId id="268" r:id="rId17"/>
    <p:sldId id="343" r:id="rId93"/>
    <p:sldId id="269" r:id="rId18"/>
    <p:sldId id="270" r:id="rId19"/>
    <p:sldId id="271" r:id="rId20"/>
    <p:sldId id="372" r:id="rId122"/>
    <p:sldId id="272" r:id="rId21"/>
    <p:sldId id="273" r:id="rId22"/>
    <p:sldId id="357" r:id="rId107"/>
    <p:sldId id="274" r:id="rId23"/>
    <p:sldId id="344" r:id="rId94"/>
    <p:sldId id="275" r:id="rId24"/>
    <p:sldId id="276" r:id="rId25"/>
    <p:sldId id="277" r:id="rId26"/>
    <p:sldId id="373" r:id="rId123"/>
    <p:sldId id="278" r:id="rId27"/>
    <p:sldId id="279" r:id="rId28"/>
    <p:sldId id="358" r:id="rId108"/>
    <p:sldId id="280" r:id="rId29"/>
    <p:sldId id="345" r:id="rId95"/>
    <p:sldId id="281" r:id="rId30"/>
    <p:sldId id="282" r:id="rId31"/>
    <p:sldId id="283" r:id="rId32"/>
    <p:sldId id="374" r:id="rId124"/>
    <p:sldId id="284" r:id="rId33"/>
    <p:sldId id="285" r:id="rId34"/>
    <p:sldId id="359" r:id="rId109"/>
    <p:sldId id="286" r:id="rId35"/>
    <p:sldId id="346" r:id="rId96"/>
    <p:sldId id="287" r:id="rId36"/>
    <p:sldId id="288" r:id="rId37"/>
    <p:sldId id="375" r:id="rId125"/>
    <p:sldId id="289" r:id="rId38"/>
    <p:sldId id="290" r:id="rId39"/>
    <p:sldId id="291" r:id="rId40"/>
    <p:sldId id="360" r:id="rId110"/>
    <p:sldId id="292" r:id="rId41"/>
    <p:sldId id="347" r:id="rId97"/>
    <p:sldId id="293" r:id="rId42"/>
    <p:sldId id="376" r:id="rId126"/>
    <p:sldId id="294" r:id="rId43"/>
    <p:sldId id="295" r:id="rId44"/>
    <p:sldId id="377" r:id="rId127"/>
    <p:sldId id="296" r:id="rId45"/>
    <p:sldId id="297" r:id="rId46"/>
    <p:sldId id="361" r:id="rId111"/>
    <p:sldId id="298" r:id="rId47"/>
    <p:sldId id="348" r:id="rId98"/>
    <p:sldId id="299" r:id="rId48"/>
    <p:sldId id="300" r:id="rId49"/>
    <p:sldId id="378" r:id="rId128"/>
    <p:sldId id="301" r:id="rId50"/>
    <p:sldId id="302" r:id="rId51"/>
    <p:sldId id="303" r:id="rId52"/>
    <p:sldId id="362" r:id="rId112"/>
    <p:sldId id="304" r:id="rId53"/>
    <p:sldId id="349" r:id="rId99"/>
    <p:sldId id="305" r:id="rId54"/>
    <p:sldId id="306" r:id="rId55"/>
    <p:sldId id="307" r:id="rId56"/>
    <p:sldId id="379" r:id="rId129"/>
    <p:sldId id="308" r:id="rId57"/>
    <p:sldId id="309" r:id="rId58"/>
    <p:sldId id="363" r:id="rId113"/>
    <p:sldId id="310" r:id="rId59"/>
    <p:sldId id="350" r:id="rId100"/>
    <p:sldId id="311" r:id="rId60"/>
    <p:sldId id="312" r:id="rId61"/>
    <p:sldId id="313" r:id="rId62"/>
    <p:sldId id="380" r:id="rId130"/>
    <p:sldId id="314" r:id="rId63"/>
    <p:sldId id="315" r:id="rId64"/>
    <p:sldId id="364" r:id="rId114"/>
    <p:sldId id="316" r:id="rId65"/>
    <p:sldId id="351" r:id="rId101"/>
    <p:sldId id="317" r:id="rId66"/>
    <p:sldId id="318" r:id="rId67"/>
    <p:sldId id="319" r:id="rId68"/>
    <p:sldId id="381" r:id="rId131"/>
    <p:sldId id="320" r:id="rId69"/>
    <p:sldId id="321" r:id="rId70"/>
    <p:sldId id="365" r:id="rId115"/>
    <p:sldId id="322" r:id="rId71"/>
    <p:sldId id="352" r:id="rId102"/>
    <p:sldId id="323" r:id="rId72"/>
    <p:sldId id="324" r:id="rId73"/>
    <p:sldId id="325" r:id="rId74"/>
    <p:sldId id="382" r:id="rId132"/>
    <p:sldId id="326" r:id="rId75"/>
    <p:sldId id="327" r:id="rId76"/>
    <p:sldId id="366" r:id="rId116"/>
    <p:sldId id="328" r:id="rId77"/>
    <p:sldId id="353" r:id="rId103"/>
    <p:sldId id="329" r:id="rId78"/>
    <p:sldId id="330" r:id="rId79"/>
    <p:sldId id="331" r:id="rId80"/>
    <p:sldId id="383" r:id="rId133"/>
    <p:sldId id="332" r:id="rId81"/>
    <p:sldId id="333" r:id="rId82"/>
    <p:sldId id="367" r:id="rId117"/>
    <p:sldId id="334" r:id="rId83"/>
    <p:sldId id="354" r:id="rId104"/>
    <p:sldId id="335" r:id="rId84"/>
    <p:sldId id="336" r:id="rId85"/>
    <p:sldId id="337" r:id="rId86"/>
    <p:sldId id="384" r:id="rId134"/>
    <p:sldId id="338" r:id="rId87"/>
    <p:sldId id="339" r:id="rId88"/>
    <p:sldId id="368" r:id="rId118"/>
  </p:sldIdLst>
  <p:sldSz cy="6858000" cx="12191675"/>
  <p:notesSz cx="6858000" cy="121916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9" roundtripDataSignature="AMtx7mhq6xuQsAld53z1LCShz4YH34bK/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8.xml"/><Relationship Id="rId18" Type="http://schemas.openxmlformats.org/officeDocument/2006/relationships/slide" Target="slides/slide19.xml"/><Relationship Id="rId19" Type="http://schemas.openxmlformats.org/officeDocument/2006/relationships/slide" Target="slides/slide20.xml"/><Relationship Id="rId20" Type="http://schemas.openxmlformats.org/officeDocument/2006/relationships/slide" Target="slides/slide21.xml"/><Relationship Id="rId21" Type="http://schemas.openxmlformats.org/officeDocument/2006/relationships/slide" Target="slides/slide22.xml"/><Relationship Id="rId22" Type="http://schemas.openxmlformats.org/officeDocument/2006/relationships/slide" Target="slides/slide23.xml"/><Relationship Id="rId23" Type="http://schemas.openxmlformats.org/officeDocument/2006/relationships/slide" Target="slides/slide26.xml"/><Relationship Id="rId24" Type="http://schemas.openxmlformats.org/officeDocument/2006/relationships/slide" Target="slides/slide27.xml"/><Relationship Id="rId25" Type="http://schemas.openxmlformats.org/officeDocument/2006/relationships/slide" Target="slides/slide28.xml"/><Relationship Id="rId26" Type="http://schemas.openxmlformats.org/officeDocument/2006/relationships/slide" Target="slides/slide29.xml"/><Relationship Id="rId27" Type="http://schemas.openxmlformats.org/officeDocument/2006/relationships/slide" Target="slides/slide30.xml"/><Relationship Id="rId28" Type="http://schemas.openxmlformats.org/officeDocument/2006/relationships/slide" Target="slides/slide31.xml"/><Relationship Id="rId29" Type="http://schemas.openxmlformats.org/officeDocument/2006/relationships/slide" Target="slides/slide34.xml"/><Relationship Id="rId30" Type="http://schemas.openxmlformats.org/officeDocument/2006/relationships/slide" Target="slides/slide35.xml"/><Relationship Id="rId31" Type="http://schemas.openxmlformats.org/officeDocument/2006/relationships/slide" Target="slides/slide36.xml"/><Relationship Id="rId32" Type="http://schemas.openxmlformats.org/officeDocument/2006/relationships/slide" Target="slides/slide37.xml"/><Relationship Id="rId33" Type="http://schemas.openxmlformats.org/officeDocument/2006/relationships/slide" Target="slides/slide38.xml"/><Relationship Id="rId34" Type="http://schemas.openxmlformats.org/officeDocument/2006/relationships/slide" Target="slides/slide39.xml"/><Relationship Id="rId35" Type="http://schemas.openxmlformats.org/officeDocument/2006/relationships/slide" Target="slides/slide42.xml"/><Relationship Id="rId36" Type="http://schemas.openxmlformats.org/officeDocument/2006/relationships/slide" Target="slides/slide43.xml"/><Relationship Id="rId37" Type="http://schemas.openxmlformats.org/officeDocument/2006/relationships/slide" Target="slides/slide44.xml"/><Relationship Id="rId38" Type="http://schemas.openxmlformats.org/officeDocument/2006/relationships/slide" Target="slides/slide45.xml"/><Relationship Id="rId39" Type="http://schemas.openxmlformats.org/officeDocument/2006/relationships/slide" Target="slides/slide46.xml"/><Relationship Id="rId40" Type="http://schemas.openxmlformats.org/officeDocument/2006/relationships/slide" Target="slides/slide47.xml"/><Relationship Id="rId41" Type="http://schemas.openxmlformats.org/officeDocument/2006/relationships/slide" Target="slides/slide50.xml"/><Relationship Id="rId42" Type="http://schemas.openxmlformats.org/officeDocument/2006/relationships/slide" Target="slides/slide51.xml"/><Relationship Id="rId43" Type="http://schemas.openxmlformats.org/officeDocument/2006/relationships/slide" Target="slides/slide52.xml"/><Relationship Id="rId44" Type="http://schemas.openxmlformats.org/officeDocument/2006/relationships/slide" Target="slides/slide53.xml"/><Relationship Id="rId45" Type="http://schemas.openxmlformats.org/officeDocument/2006/relationships/slide" Target="slides/slide54.xml"/><Relationship Id="rId46" Type="http://schemas.openxmlformats.org/officeDocument/2006/relationships/slide" Target="slides/slide55.xml"/><Relationship Id="rId47" Type="http://schemas.openxmlformats.org/officeDocument/2006/relationships/slide" Target="slides/slide58.xml"/><Relationship Id="rId48" Type="http://schemas.openxmlformats.org/officeDocument/2006/relationships/slide" Target="slides/slide59.xml"/><Relationship Id="rId49" Type="http://schemas.openxmlformats.org/officeDocument/2006/relationships/slide" Target="slides/slide60.xml"/><Relationship Id="rId50" Type="http://schemas.openxmlformats.org/officeDocument/2006/relationships/slide" Target="slides/slide61.xml"/><Relationship Id="rId51" Type="http://schemas.openxmlformats.org/officeDocument/2006/relationships/slide" Target="slides/slide62.xml"/><Relationship Id="rId52" Type="http://schemas.openxmlformats.org/officeDocument/2006/relationships/slide" Target="slides/slide63.xml"/><Relationship Id="rId53" Type="http://schemas.openxmlformats.org/officeDocument/2006/relationships/slide" Target="slides/slide66.xml"/><Relationship Id="rId54" Type="http://schemas.openxmlformats.org/officeDocument/2006/relationships/slide" Target="slides/slide67.xml"/><Relationship Id="rId55" Type="http://schemas.openxmlformats.org/officeDocument/2006/relationships/slide" Target="slides/slide68.xml"/><Relationship Id="rId56" Type="http://schemas.openxmlformats.org/officeDocument/2006/relationships/slide" Target="slides/slide69.xml"/><Relationship Id="rId57" Type="http://schemas.openxmlformats.org/officeDocument/2006/relationships/slide" Target="slides/slide70.xml"/><Relationship Id="rId58" Type="http://schemas.openxmlformats.org/officeDocument/2006/relationships/slide" Target="slides/slide71.xml"/><Relationship Id="rId59" Type="http://schemas.openxmlformats.org/officeDocument/2006/relationships/slide" Target="slides/slide74.xml"/><Relationship Id="rId60" Type="http://schemas.openxmlformats.org/officeDocument/2006/relationships/slide" Target="slides/slide75.xml"/><Relationship Id="rId61" Type="http://schemas.openxmlformats.org/officeDocument/2006/relationships/slide" Target="slides/slide76.xml"/><Relationship Id="rId62" Type="http://schemas.openxmlformats.org/officeDocument/2006/relationships/slide" Target="slides/slide77.xml"/><Relationship Id="rId63" Type="http://schemas.openxmlformats.org/officeDocument/2006/relationships/slide" Target="slides/slide78.xml"/><Relationship Id="rId64" Type="http://schemas.openxmlformats.org/officeDocument/2006/relationships/slide" Target="slides/slide79.xml"/><Relationship Id="rId65" Type="http://schemas.openxmlformats.org/officeDocument/2006/relationships/slide" Target="slides/slide82.xml"/><Relationship Id="rId66" Type="http://schemas.openxmlformats.org/officeDocument/2006/relationships/slide" Target="slides/slide83.xml"/><Relationship Id="rId67" Type="http://schemas.openxmlformats.org/officeDocument/2006/relationships/slide" Target="slides/slide84.xml"/><Relationship Id="rId68" Type="http://schemas.openxmlformats.org/officeDocument/2006/relationships/slide" Target="slides/slide85.xml"/><Relationship Id="rId69" Type="http://schemas.openxmlformats.org/officeDocument/2006/relationships/slide" Target="slides/slide86.xml"/><Relationship Id="rId70" Type="http://schemas.openxmlformats.org/officeDocument/2006/relationships/slide" Target="slides/slide87.xml"/><Relationship Id="rId71" Type="http://schemas.openxmlformats.org/officeDocument/2006/relationships/slide" Target="slides/slide90.xml"/><Relationship Id="rId72" Type="http://schemas.openxmlformats.org/officeDocument/2006/relationships/slide" Target="slides/slide91.xml"/><Relationship Id="rId73" Type="http://schemas.openxmlformats.org/officeDocument/2006/relationships/slide" Target="slides/slide92.xml"/><Relationship Id="rId74" Type="http://schemas.openxmlformats.org/officeDocument/2006/relationships/slide" Target="slides/slide93.xml"/><Relationship Id="rId75" Type="http://schemas.openxmlformats.org/officeDocument/2006/relationships/slide" Target="slides/slide94.xml"/><Relationship Id="rId76" Type="http://schemas.openxmlformats.org/officeDocument/2006/relationships/slide" Target="slides/slide95.xml"/><Relationship Id="rId77" Type="http://schemas.openxmlformats.org/officeDocument/2006/relationships/slide" Target="slides/slide98.xml"/><Relationship Id="rId78" Type="http://schemas.openxmlformats.org/officeDocument/2006/relationships/slide" Target="slides/slide99.xml"/><Relationship Id="rId79" Type="http://schemas.openxmlformats.org/officeDocument/2006/relationships/slide" Target="slides/slide100.xml"/><Relationship Id="rId80" Type="http://schemas.openxmlformats.org/officeDocument/2006/relationships/slide" Target="slides/slide101.xml"/><Relationship Id="rId81" Type="http://schemas.openxmlformats.org/officeDocument/2006/relationships/slide" Target="slides/slide102.xml"/><Relationship Id="rId82" Type="http://schemas.openxmlformats.org/officeDocument/2006/relationships/slide" Target="slides/slide103.xml"/><Relationship Id="rId83" Type="http://schemas.openxmlformats.org/officeDocument/2006/relationships/slide" Target="slides/slide106.xml"/><Relationship Id="rId84" Type="http://schemas.openxmlformats.org/officeDocument/2006/relationships/slide" Target="slides/slide107.xml"/><Relationship Id="rId85" Type="http://schemas.openxmlformats.org/officeDocument/2006/relationships/slide" Target="slides/slide108.xml"/><Relationship Id="rId86" Type="http://schemas.openxmlformats.org/officeDocument/2006/relationships/slide" Target="slides/slide109.xml"/><Relationship Id="rId87" Type="http://schemas.openxmlformats.org/officeDocument/2006/relationships/slide" Target="slides/slide110.xml"/><Relationship Id="rId88" Type="http://schemas.openxmlformats.org/officeDocument/2006/relationships/slide" Target="slides/slide111.xml"/><Relationship Id="rId89" Type="http://customschemas.google.com/relationships/presentationmetadata" Target="metadata"/><Relationship Id="rId90" Type="http://schemas.openxmlformats.org/officeDocument/2006/relationships/slide" Target="slides/slide1.xml"/><Relationship Id="rId91" Type="http://schemas.openxmlformats.org/officeDocument/2006/relationships/slide" Target="slides/slide8.xml"/><Relationship Id="rId92" Type="http://schemas.openxmlformats.org/officeDocument/2006/relationships/slide" Target="slides/slide16.xml"/><Relationship Id="rId93" Type="http://schemas.openxmlformats.org/officeDocument/2006/relationships/slide" Target="slides/slide24.xml"/><Relationship Id="rId94" Type="http://schemas.openxmlformats.org/officeDocument/2006/relationships/slide" Target="slides/slide32.xml"/><Relationship Id="rId95" Type="http://schemas.openxmlformats.org/officeDocument/2006/relationships/slide" Target="slides/slide40.xml"/><Relationship Id="rId96" Type="http://schemas.openxmlformats.org/officeDocument/2006/relationships/slide" Target="slides/slide48.xml"/><Relationship Id="rId97" Type="http://schemas.openxmlformats.org/officeDocument/2006/relationships/slide" Target="slides/slide56.xml"/><Relationship Id="rId98" Type="http://schemas.openxmlformats.org/officeDocument/2006/relationships/slide" Target="slides/slide64.xml"/><Relationship Id="rId99" Type="http://schemas.openxmlformats.org/officeDocument/2006/relationships/slide" Target="slides/slide72.xml"/><Relationship Id="rId100" Type="http://schemas.openxmlformats.org/officeDocument/2006/relationships/slide" Target="slides/slide80.xml"/><Relationship Id="rId101" Type="http://schemas.openxmlformats.org/officeDocument/2006/relationships/slide" Target="slides/slide88.xml"/><Relationship Id="rId102" Type="http://schemas.openxmlformats.org/officeDocument/2006/relationships/slide" Target="slides/slide96.xml"/><Relationship Id="rId103" Type="http://schemas.openxmlformats.org/officeDocument/2006/relationships/slide" Target="slides/slide104.xml"/><Relationship Id="rId104" Type="http://schemas.openxmlformats.org/officeDocument/2006/relationships/slide" Target="slides/slide112.xml"/><Relationship Id="rId105" Type="http://schemas.openxmlformats.org/officeDocument/2006/relationships/slide" Target="slides/slide9.xml"/><Relationship Id="rId106" Type="http://schemas.openxmlformats.org/officeDocument/2006/relationships/slide" Target="slides/slide17.xml"/><Relationship Id="rId107" Type="http://schemas.openxmlformats.org/officeDocument/2006/relationships/slide" Target="slides/slide25.xml"/><Relationship Id="rId108" Type="http://schemas.openxmlformats.org/officeDocument/2006/relationships/slide" Target="slides/slide33.xml"/><Relationship Id="rId109" Type="http://schemas.openxmlformats.org/officeDocument/2006/relationships/slide" Target="slides/slide41.xml"/><Relationship Id="rId110" Type="http://schemas.openxmlformats.org/officeDocument/2006/relationships/slide" Target="slides/slide49.xml"/><Relationship Id="rId111" Type="http://schemas.openxmlformats.org/officeDocument/2006/relationships/slide" Target="slides/slide57.xml"/><Relationship Id="rId112" Type="http://schemas.openxmlformats.org/officeDocument/2006/relationships/slide" Target="slides/slide65.xml"/><Relationship Id="rId113" Type="http://schemas.openxmlformats.org/officeDocument/2006/relationships/slide" Target="slides/slide73.xml"/><Relationship Id="rId114" Type="http://schemas.openxmlformats.org/officeDocument/2006/relationships/slide" Target="slides/slide81.xml"/><Relationship Id="rId115" Type="http://schemas.openxmlformats.org/officeDocument/2006/relationships/slide" Target="slides/slide89.xml"/><Relationship Id="rId116" Type="http://schemas.openxmlformats.org/officeDocument/2006/relationships/slide" Target="slides/slide97.xml"/><Relationship Id="rId117" Type="http://schemas.openxmlformats.org/officeDocument/2006/relationships/slide" Target="slides/slide105.xml"/><Relationship Id="rId118" Type="http://schemas.openxmlformats.org/officeDocument/2006/relationships/slide" Target="slides/slide113.xml"/><Relationship Id="rId119" Type="http://schemas.openxmlformats.org/officeDocument/2006/relationships/slide" Target="slides/slide114.xml"/><Relationship Id="rId120" Type="http://schemas.openxmlformats.org/officeDocument/2006/relationships/slide" Target="slides/slide115.xml"/><Relationship Id="rId121" Type="http://schemas.openxmlformats.org/officeDocument/2006/relationships/slide" Target="slides/slide116.xml"/><Relationship Id="rId122" Type="http://schemas.openxmlformats.org/officeDocument/2006/relationships/slide" Target="slides/slide117.xml"/><Relationship Id="rId123" Type="http://schemas.openxmlformats.org/officeDocument/2006/relationships/slide" Target="slides/slide118.xml"/><Relationship Id="rId124" Type="http://schemas.openxmlformats.org/officeDocument/2006/relationships/slide" Target="slides/slide119.xml"/><Relationship Id="rId125" Type="http://schemas.openxmlformats.org/officeDocument/2006/relationships/slide" Target="slides/slide120.xml"/><Relationship Id="rId126" Type="http://schemas.openxmlformats.org/officeDocument/2006/relationships/slide" Target="slides/slide121.xml"/><Relationship Id="rId127" Type="http://schemas.openxmlformats.org/officeDocument/2006/relationships/slide" Target="slides/slide122.xml"/><Relationship Id="rId128" Type="http://schemas.openxmlformats.org/officeDocument/2006/relationships/slide" Target="slides/slide123.xml"/><Relationship Id="rId129" Type="http://schemas.openxmlformats.org/officeDocument/2006/relationships/slide" Target="slides/slide124.xml"/><Relationship Id="rId130" Type="http://schemas.openxmlformats.org/officeDocument/2006/relationships/slide" Target="slides/slide125.xml"/><Relationship Id="rId131" Type="http://schemas.openxmlformats.org/officeDocument/2006/relationships/slide" Target="slides/slide126.xml"/><Relationship Id="rId132" Type="http://schemas.openxmlformats.org/officeDocument/2006/relationships/slide" Target="slides/slide127.xml"/><Relationship Id="rId133" Type="http://schemas.openxmlformats.org/officeDocument/2006/relationships/slide" Target="slides/slide128.xml"/><Relationship Id="rId134" Type="http://schemas.openxmlformats.org/officeDocument/2006/relationships/slide" Target="slides/slide1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 name="Google Shape;2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 name="Google Shape;4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 name="Google Shape;7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1" name="Google Shape;391;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 name="Google Shape;423;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 name="Google Shape;424;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6" name="Google Shape;446;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7" name="Google Shape;447;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0" name="Google Shape;490;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1" name="Google Shape;491;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7" name="Google Shape;507;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8" name="Google Shape;508;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2" name="Google Shape;522;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3" name="Google Shape;523;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9" name="Google Shape;539;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0" name="Google Shape;540;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3" name="Google Shape;563;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 name="Google Shape;591;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2" name="Google Shape;592;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6" name="Google Shape;606;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7" name="Google Shape;607;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3" name="Google Shape;623;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4" name="Google Shape;624;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8" name="Google Shape;638;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9" name="Google Shape;639;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3" name="Google Shape;653;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4" name="Google Shape;654;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6" name="Google Shape;676;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7" name="Google Shape;677;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5" name="Google Shape;705;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6" name="Google Shape;706;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0" name="Google Shape;720;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1" name="Google Shape;721;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5" name="Google Shape;735;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6" name="Google Shape;736;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2" name="Google Shape;752;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3" name="Google Shape;753;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9" name="Google Shape;769;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0" name="Google Shape;770;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2" name="Google Shape;792;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3" name="Google Shape;793;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1" name="Google Shape;821;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2" name="Google Shape;822;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6" name="Google Shape;836;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7" name="Google Shape;837;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1" name="Google Shape;851;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2" name="Google Shape;852;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8" name="Google Shape;868;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9" name="Google Shape;869;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5" name="Google Shape;885;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6" name="Google Shape;886;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8" name="Google Shape;908;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9" name="Google Shape;909;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7" name="Google Shape;937;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8" name="Google Shape;938;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2" name="Google Shape;952;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3" name="Google Shape;953;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7" name="Google Shape;967;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8" name="Google Shape;968;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4" name="Google Shape;984;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5" name="Google Shape;985;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1" name="Google Shape;1001;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2" name="Google Shape;1002;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4" name="Google Shape;1024;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5" name="Google Shape;1025;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3" name="Google Shape;1053;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4" name="Google Shape;1054;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8" name="Google Shape;1068;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9" name="Google Shape;1069;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3" name="Google Shape;1083;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4" name="Google Shape;1084;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0" name="Google Shape;1100;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1" name="Google Shape;1101;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7" name="Google Shape;1117;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8" name="Google Shape;1118;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0" name="Google Shape;1140;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1" name="Google Shape;1141;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9" name="Google Shape;1169;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0" name="Google Shape;1170;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4" name="Google Shape;1184;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5" name="Google Shape;1185;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9" name="Google Shape;1199;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0" name="Google Shape;1200;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6" name="Google Shape;1216;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7" name="Google Shape;1217;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1" name="Shape 1231"/>
        <p:cNvGrpSpPr/>
        <p:nvPr/>
      </p:nvGrpSpPr>
      <p:grpSpPr>
        <a:xfrm>
          <a:off x="0" y="0"/>
          <a:ext cx="0" cy="0"/>
          <a:chOff x="0" y="0"/>
          <a:chExt cx="0" cy="0"/>
        </a:xfrm>
      </p:grpSpPr>
      <p:sp>
        <p:nvSpPr>
          <p:cNvPr id="1232" name="Google Shape;1232;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3" name="Google Shape;1233;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4" name="Google Shape;1234;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6" name="Google Shape;1256;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7" name="Google Shape;1257;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5" name="Google Shape;1285;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6" name="Google Shape;1286;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8" name="Shape 1298"/>
        <p:cNvGrpSpPr/>
        <p:nvPr/>
      </p:nvGrpSpPr>
      <p:grpSpPr>
        <a:xfrm>
          <a:off x="0" y="0"/>
          <a:ext cx="0" cy="0"/>
          <a:chOff x="0" y="0"/>
          <a:chExt cx="0" cy="0"/>
        </a:xfrm>
      </p:grpSpPr>
      <p:sp>
        <p:nvSpPr>
          <p:cNvPr id="1299" name="Google Shape;1299;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0" name="Google Shape;1300;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1" name="Google Shape;1301;p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5" name="Shape 1315"/>
        <p:cNvGrpSpPr/>
        <p:nvPr/>
      </p:nvGrpSpPr>
      <p:grpSpPr>
        <a:xfrm>
          <a:off x="0" y="0"/>
          <a:ext cx="0" cy="0"/>
          <a:chOff x="0" y="0"/>
          <a:chExt cx="0" cy="0"/>
        </a:xfrm>
      </p:grpSpPr>
      <p:sp>
        <p:nvSpPr>
          <p:cNvPr id="1316" name="Google Shape;1316;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7" name="Google Shape;1317;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8" name="Google Shape;1318;p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2" name="Shape 1332"/>
        <p:cNvGrpSpPr/>
        <p:nvPr/>
      </p:nvGrpSpPr>
      <p:grpSpPr>
        <a:xfrm>
          <a:off x="0" y="0"/>
          <a:ext cx="0" cy="0"/>
          <a:chOff x="0" y="0"/>
          <a:chExt cx="0" cy="0"/>
        </a:xfrm>
      </p:grpSpPr>
      <p:sp>
        <p:nvSpPr>
          <p:cNvPr id="1333" name="Google Shape;1333;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4" name="Google Shape;1334;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5" name="Google Shape;1335;p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7" name="Shape 1347"/>
        <p:cNvGrpSpPr/>
        <p:nvPr/>
      </p:nvGrpSpPr>
      <p:grpSpPr>
        <a:xfrm>
          <a:off x="0" y="0"/>
          <a:ext cx="0" cy="0"/>
          <a:chOff x="0" y="0"/>
          <a:chExt cx="0" cy="0"/>
        </a:xfrm>
      </p:grpSpPr>
      <p:sp>
        <p:nvSpPr>
          <p:cNvPr id="1348" name="Google Shape;1348;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9" name="Google Shape;1349;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0" name="Google Shape;1350;p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0" name="Shape 1370"/>
        <p:cNvGrpSpPr/>
        <p:nvPr/>
      </p:nvGrpSpPr>
      <p:grpSpPr>
        <a:xfrm>
          <a:off x="0" y="0"/>
          <a:ext cx="0" cy="0"/>
          <a:chOff x="0" y="0"/>
          <a:chExt cx="0" cy="0"/>
        </a:xfrm>
      </p:grpSpPr>
      <p:sp>
        <p:nvSpPr>
          <p:cNvPr id="1371" name="Google Shape;1371;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2" name="Google Shape;1372;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3" name="Google Shape;1373;p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9" name="Shape 1399"/>
        <p:cNvGrpSpPr/>
        <p:nvPr/>
      </p:nvGrpSpPr>
      <p:grpSpPr>
        <a:xfrm>
          <a:off x="0" y="0"/>
          <a:ext cx="0" cy="0"/>
          <a:chOff x="0" y="0"/>
          <a:chExt cx="0" cy="0"/>
        </a:xfrm>
      </p:grpSpPr>
      <p:sp>
        <p:nvSpPr>
          <p:cNvPr id="1400" name="Google Shape;1400;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1" name="Google Shape;1401;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2" name="Google Shape;1402;p7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4" name="Shape 1414"/>
        <p:cNvGrpSpPr/>
        <p:nvPr/>
      </p:nvGrpSpPr>
      <p:grpSpPr>
        <a:xfrm>
          <a:off x="0" y="0"/>
          <a:ext cx="0" cy="0"/>
          <a:chOff x="0" y="0"/>
          <a:chExt cx="0" cy="0"/>
        </a:xfrm>
      </p:grpSpPr>
      <p:sp>
        <p:nvSpPr>
          <p:cNvPr id="1415" name="Google Shape;1415;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6" name="Google Shape;1416;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7" name="Google Shape;1417;p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9" name="Shape 1429"/>
        <p:cNvGrpSpPr/>
        <p:nvPr/>
      </p:nvGrpSpPr>
      <p:grpSpPr>
        <a:xfrm>
          <a:off x="0" y="0"/>
          <a:ext cx="0" cy="0"/>
          <a:chOff x="0" y="0"/>
          <a:chExt cx="0" cy="0"/>
        </a:xfrm>
      </p:grpSpPr>
      <p:sp>
        <p:nvSpPr>
          <p:cNvPr id="1430" name="Google Shape;1430;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1" name="Google Shape;1431;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2" name="Google Shape;1432;p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6" name="Shape 1446"/>
        <p:cNvGrpSpPr/>
        <p:nvPr/>
      </p:nvGrpSpPr>
      <p:grpSpPr>
        <a:xfrm>
          <a:off x="0" y="0"/>
          <a:ext cx="0" cy="0"/>
          <a:chOff x="0" y="0"/>
          <a:chExt cx="0" cy="0"/>
        </a:xfrm>
      </p:grpSpPr>
      <p:sp>
        <p:nvSpPr>
          <p:cNvPr id="1447" name="Google Shape;1447;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8" name="Google Shape;1448;p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9" name="Google Shape;1449;p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3" name="Shape 1463"/>
        <p:cNvGrpSpPr/>
        <p:nvPr/>
      </p:nvGrpSpPr>
      <p:grpSpPr>
        <a:xfrm>
          <a:off x="0" y="0"/>
          <a:ext cx="0" cy="0"/>
          <a:chOff x="0" y="0"/>
          <a:chExt cx="0" cy="0"/>
        </a:xfrm>
      </p:grpSpPr>
      <p:sp>
        <p:nvSpPr>
          <p:cNvPr id="1464" name="Google Shape;1464;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5" name="Google Shape;1465;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6" name="Google Shape;1466;p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6" name="Shape 1486"/>
        <p:cNvGrpSpPr/>
        <p:nvPr/>
      </p:nvGrpSpPr>
      <p:grpSpPr>
        <a:xfrm>
          <a:off x="0" y="0"/>
          <a:ext cx="0" cy="0"/>
          <a:chOff x="0" y="0"/>
          <a:chExt cx="0" cy="0"/>
        </a:xfrm>
      </p:grpSpPr>
      <p:sp>
        <p:nvSpPr>
          <p:cNvPr id="1487" name="Google Shape;1487;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8" name="Google Shape;1488;p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9" name="Google Shape;1489;p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5" name="Shape 1515"/>
        <p:cNvGrpSpPr/>
        <p:nvPr/>
      </p:nvGrpSpPr>
      <p:grpSpPr>
        <a:xfrm>
          <a:off x="0" y="0"/>
          <a:ext cx="0" cy="0"/>
          <a:chOff x="0" y="0"/>
          <a:chExt cx="0" cy="0"/>
        </a:xfrm>
      </p:grpSpPr>
      <p:sp>
        <p:nvSpPr>
          <p:cNvPr id="1516" name="Google Shape;1516;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7" name="Google Shape;1517;p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8" name="Google Shape;1518;p7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0" name="Shape 1530"/>
        <p:cNvGrpSpPr/>
        <p:nvPr/>
      </p:nvGrpSpPr>
      <p:grpSpPr>
        <a:xfrm>
          <a:off x="0" y="0"/>
          <a:ext cx="0" cy="0"/>
          <a:chOff x="0" y="0"/>
          <a:chExt cx="0" cy="0"/>
        </a:xfrm>
      </p:grpSpPr>
      <p:sp>
        <p:nvSpPr>
          <p:cNvPr id="1531" name="Google Shape;1531;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2" name="Google Shape;1532;p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3" name="Google Shape;1533;p8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7" name="Shape 1547"/>
        <p:cNvGrpSpPr/>
        <p:nvPr/>
      </p:nvGrpSpPr>
      <p:grpSpPr>
        <a:xfrm>
          <a:off x="0" y="0"/>
          <a:ext cx="0" cy="0"/>
          <a:chOff x="0" y="0"/>
          <a:chExt cx="0" cy="0"/>
        </a:xfrm>
      </p:grpSpPr>
      <p:sp>
        <p:nvSpPr>
          <p:cNvPr id="1548" name="Google Shape;1548;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9" name="Google Shape;1549;p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0" name="Google Shape;1550;p8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4" name="Shape 1564"/>
        <p:cNvGrpSpPr/>
        <p:nvPr/>
      </p:nvGrpSpPr>
      <p:grpSpPr>
        <a:xfrm>
          <a:off x="0" y="0"/>
          <a:ext cx="0" cy="0"/>
          <a:chOff x="0" y="0"/>
          <a:chExt cx="0" cy="0"/>
        </a:xfrm>
      </p:grpSpPr>
      <p:sp>
        <p:nvSpPr>
          <p:cNvPr id="1565" name="Google Shape;1565;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6" name="Google Shape;1566;p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7" name="Google Shape;1567;p8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9" name="Shape 1579"/>
        <p:cNvGrpSpPr/>
        <p:nvPr/>
      </p:nvGrpSpPr>
      <p:grpSpPr>
        <a:xfrm>
          <a:off x="0" y="0"/>
          <a:ext cx="0" cy="0"/>
          <a:chOff x="0" y="0"/>
          <a:chExt cx="0" cy="0"/>
        </a:xfrm>
      </p:grpSpPr>
      <p:sp>
        <p:nvSpPr>
          <p:cNvPr id="1580" name="Google Shape;1580;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1" name="Google Shape;1581;p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2" name="Google Shape;1582;p8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2" name="Shape 1602"/>
        <p:cNvGrpSpPr/>
        <p:nvPr/>
      </p:nvGrpSpPr>
      <p:grpSpPr>
        <a:xfrm>
          <a:off x="0" y="0"/>
          <a:ext cx="0" cy="0"/>
          <a:chOff x="0" y="0"/>
          <a:chExt cx="0" cy="0"/>
        </a:xfrm>
      </p:grpSpPr>
      <p:sp>
        <p:nvSpPr>
          <p:cNvPr id="1603" name="Google Shape;1603;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4" name="Google Shape;1604;p8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5" name="Google Shape;1605;p8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archive.org/details/doctrineoffascis00muss" TargetMode="External"/><Relationship Id="rId4" Type="http://schemas.openxmlformats.org/officeDocument/2006/relationships/hyperlink" Target="https://archive.org/details/doctrineoffascis00mus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www.archives.gov/milestone-documents/president-franklin-roosevelts-annual-message-to-congress" TargetMode="External"/><Relationship Id="rId4" Type="http://schemas.openxmlformats.org/officeDocument/2006/relationships/hyperlink" Target="https://www.archives.gov/milestone-documents/president-franklin-roosevelts-annual-message-to-congres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www.ushmm.org/collections/bibliography/elie-wiesel" TargetMode="External"/><Relationship Id="rId4" Type="http://schemas.openxmlformats.org/officeDocument/2006/relationships/hyperlink" Target="https://www.ushmm.org/collections/bibliography/elie-wiese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6.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s://www.archives.gov/legislative/features/day-of-infamy" TargetMode="External"/><Relationship Id="rId4" Type="http://schemas.openxmlformats.org/officeDocument/2006/relationships/hyperlink" Target="https://www.archives.gov/legislative/features/day-of-infamy"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5.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hyperlink" Target="https://winstonchurchill.org/resources/speeches/1940-the-finest-hour/we-shall-fight-on-the-beaches/" TargetMode="External"/><Relationship Id="rId4" Type="http://schemas.openxmlformats.org/officeDocument/2006/relationships/hyperlink" Target="https://winstonchurchill.org/resources/speeches/1940-the-finest-hour/we-shall-fight-on-the-beaches/"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5.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4.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hyperlink" Target="https://www.archives.gov/historical-docs/todays-doc/?dod-date=606" TargetMode="External"/><Relationship Id="rId4" Type="http://schemas.openxmlformats.org/officeDocument/2006/relationships/hyperlink" Target="https://www.archives.gov/historical-docs/todays-doc/?dod-date=606"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9.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hyperlink" Target="https://www.archives.gov/research/military/ww2/tuskegee-airmen" TargetMode="External"/><Relationship Id="rId4" Type="http://schemas.openxmlformats.org/officeDocument/2006/relationships/hyperlink" Target="https://www.archives.gov/research/military/ww2/tuskegee-airmen"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8.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hyperlink" Target="https://www.loc.gov/collections/world-war-ii-posters/" TargetMode="External"/><Relationship Id="rId4" Type="http://schemas.openxmlformats.org/officeDocument/2006/relationships/hyperlink" Target="https://www.loc.gov/collections/world-war-ii-posters/"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1.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hyperlink" Target="https://www.archives.gov/milestone-documents/executive-order-8802" TargetMode="External"/><Relationship Id="rId4" Type="http://schemas.openxmlformats.org/officeDocument/2006/relationships/hyperlink" Target="https://www.archives.gov/milestone-documents/executive-order-8802"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0.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hyperlink" Target="https://www.archives.gov/milestone-documents/executive-order-9066" TargetMode="External"/><Relationship Id="rId4" Type="http://schemas.openxmlformats.org/officeDocument/2006/relationships/hyperlink" Target="https://www.archives.gov/milestone-documents/executive-order-9066"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13.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hyperlink" Target="https://www.archives.gov/education/lessons/wwii-rationing" TargetMode="External"/><Relationship Id="rId4" Type="http://schemas.openxmlformats.org/officeDocument/2006/relationships/hyperlink" Target="https://www.archives.gov/education/lessons/wwii-rationing" TargetMode="Externa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15.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hyperlink" Target="https://www.trumanlibrary.gov/library/public-papers/93/statement-president-announcing-use-bomb-hiroshima" TargetMode="External"/><Relationship Id="rId4" Type="http://schemas.openxmlformats.org/officeDocument/2006/relationships/hyperlink" Target="https://www.trumanlibrary.gov/library/public-papers/93/statement-president-announcing-use-bomb-hiroshima" TargetMode="Externa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12.jp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hyperlink" Target="https://avalon.law.yale.edu/wwii/yalta.asp" TargetMode="External"/><Relationship Id="rId4" Type="http://schemas.openxmlformats.org/officeDocument/2006/relationships/hyperlink" Target="https://avalon.law.yale.edu/wwii/yalta.asp" TargetMode="Externa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3" Type="http://schemas.openxmlformats.org/officeDocument/2006/relationships/image" Target="../media/image14.jp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hyperlink" Target="https://www.un.org/en/about-us/un-charter/preamble" TargetMode="External"/><Relationship Id="rId4" Type="http://schemas.openxmlformats.org/officeDocument/2006/relationships/hyperlink" Target="https://www.un.org/en/about-us/un-charter/preamble" TargetMode="Externa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548640" y="640080"/>
            <a:ext cx="10972800" cy="6400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How This Deck Works</a:t>
            </a:r>
            <a:endParaRPr lang="en-US" sz="3800" dirty="0"/>
          </a:p>
        </p:txBody>
      </p:sp>
      <p:sp>
        <p:nvSpPr>
          <p:cNvPr id="3" name="Text 1"/>
          <p:cNvSpPr/>
          <p:nvPr/>
        </p:nvSpPr>
        <p:spPr>
          <a:xfrm>
            <a:off x="566928" y="1371600"/>
            <a:ext cx="10972800" cy="365760"/>
          </a:xfrm>
          <a:prstGeom prst="rect">
            <a:avLst/>
          </a:prstGeom>
          <a:noFill/>
          <a:ln/>
        </p:spPr>
        <p:txBody>
          <a:bodyPr wrap="square" lIns="0" tIns="0" rIns="0" bIns="0" rtlCol="0" anchor="ctr"/>
          <a:lstStyle/>
          <a:p>
            <a:pPr indent="0" marL="0">
              <a:buNone/>
            </a:pPr>
            <a:r>
              <a:rPr lang="en-US" sz="1600" i="1" dirty="0">
                <a:solidFill>
                  <a:srgbClr val="C89B3C"/>
                </a:solidFill>
                <a:latin typeface="Arial" pitchFamily="34" charset="0"/>
                <a:ea typeface="Arial" pitchFamily="34" charset="-122"/>
                <a:cs typeface="Arial" pitchFamily="34" charset="-120"/>
              </a:rPr>
              <a:t>Universal Design for Learning · Multi-Tiered System of Supports</a:t>
            </a:r>
            <a:endParaRPr lang="en-US" sz="1600" dirty="0"/>
          </a:p>
        </p:txBody>
      </p:sp>
      <p:sp>
        <p:nvSpPr>
          <p:cNvPr id="4" name="Text 2"/>
          <p:cNvSpPr/>
          <p:nvPr/>
        </p:nvSpPr>
        <p:spPr>
          <a:xfrm>
            <a:off x="548640" y="1847088"/>
            <a:ext cx="3657600" cy="292608"/>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EVERY LEARNER  ·  SAME FIRM GOAL</a:t>
            </a:r>
            <a:endParaRPr lang="en-US" sz="1100" dirty="0"/>
          </a:p>
        </p:txBody>
      </p:sp>
      <p:sp>
        <p:nvSpPr>
          <p:cNvPr id="5" name="Shape 3"/>
          <p:cNvSpPr/>
          <p:nvPr/>
        </p:nvSpPr>
        <p:spPr>
          <a:xfrm>
            <a:off x="548640" y="2148840"/>
            <a:ext cx="3566160" cy="2926080"/>
          </a:xfrm>
          <a:prstGeom prst="rect">
            <a:avLst/>
          </a:prstGeom>
          <a:solidFill>
            <a:srgbClr val="1E2C4C"/>
          </a:solidFill>
          <a:ln w="12700">
            <a:solidFill>
              <a:srgbClr val="C89B3C"/>
            </a:solidFill>
            <a:prstDash val="solid"/>
          </a:ln>
        </p:spPr>
        <p:txBody>
          <a:bodyPr/>
          <a:p/>
        </p:txBody>
      </p:sp>
      <p:sp>
        <p:nvSpPr>
          <p:cNvPr id="6" name="Text 4"/>
          <p:cNvSpPr/>
          <p:nvPr/>
        </p:nvSpPr>
        <p:spPr>
          <a:xfrm>
            <a:off x="777240" y="2377440"/>
            <a:ext cx="3108960" cy="640080"/>
          </a:xfrm>
          <a:prstGeom prst="rect">
            <a:avLst/>
          </a:prstGeom>
          <a:noFill/>
          <a:ln/>
        </p:spPr>
        <p:txBody>
          <a:bodyPr wrap="square" lIns="0" tIns="0" rIns="0" bIns="0" rtlCol="0" anchor="t"/>
          <a:lstStyle/>
          <a:p>
            <a:pPr indent="0" marL="0">
              <a:buNone/>
            </a:pPr>
            <a:r>
              <a:rPr lang="en-US" sz="1900" b="1" dirty="0">
                <a:solidFill>
                  <a:srgbClr val="C89B3C"/>
                </a:solidFill>
                <a:latin typeface="Cambria" pitchFamily="34" charset="0"/>
                <a:ea typeface="Cambria" pitchFamily="34" charset="-122"/>
                <a:cs typeface="Cambria" pitchFamily="34" charset="-120"/>
              </a:rPr>
              <a:t>Multiple ways in</a:t>
            </a:r>
            <a:endParaRPr lang="en-US" sz="1900" dirty="0"/>
          </a:p>
        </p:txBody>
      </p:sp>
      <p:sp>
        <p:nvSpPr>
          <p:cNvPr id="7" name="Text 5"/>
          <p:cNvSpPr/>
          <p:nvPr/>
        </p:nvSpPr>
        <p:spPr>
          <a:xfrm>
            <a:off x="777240" y="3200400"/>
            <a:ext cx="3108960" cy="1737360"/>
          </a:xfrm>
          <a:prstGeom prst="rect">
            <a:avLst/>
          </a:prstGeom>
          <a:noFill/>
          <a:ln/>
        </p:spPr>
        <p:txBody>
          <a:bodyPr wrap="square" lIns="0" tIns="0" rIns="0" bIns="0" rtlCol="0" anchor="t"/>
          <a:lstStyle/>
          <a:p>
            <a:pPr indent="0" marL="0">
              <a:lnSpc>
                <a:spcPct val="105000"/>
              </a:lnSpc>
              <a:buNone/>
            </a:pPr>
            <a:r>
              <a:rPr lang="en-US" sz="1350" dirty="0">
                <a:solidFill>
                  <a:srgbClr val="E7EAF2"/>
                </a:solidFill>
                <a:latin typeface="Arial" pitchFamily="34" charset="0"/>
                <a:ea typeface="Arial" pitchFamily="34" charset="-122"/>
                <a:cs typeface="Arial" pitchFamily="34" charset="-120"/>
              </a:rPr>
              <a:t>Every lesson opens with a real question and a clear “I can” goal, so you know why it matters and where you’re headed.</a:t>
            </a:r>
            <a:endParaRPr lang="en-US" sz="1350" dirty="0"/>
          </a:p>
        </p:txBody>
      </p:sp>
      <p:sp>
        <p:nvSpPr>
          <p:cNvPr id="8" name="Shape 6"/>
          <p:cNvSpPr/>
          <p:nvPr/>
        </p:nvSpPr>
        <p:spPr>
          <a:xfrm>
            <a:off x="4315968" y="2148840"/>
            <a:ext cx="3566160" cy="2926080"/>
          </a:xfrm>
          <a:prstGeom prst="rect">
            <a:avLst/>
          </a:prstGeom>
          <a:solidFill>
            <a:srgbClr val="1E2C4C"/>
          </a:solidFill>
          <a:ln w="12700">
            <a:solidFill>
              <a:srgbClr val="C89B3C"/>
            </a:solidFill>
            <a:prstDash val="solid"/>
          </a:ln>
        </p:spPr>
        <p:txBody>
          <a:bodyPr/>
          <a:p/>
        </p:txBody>
      </p:sp>
      <p:sp>
        <p:nvSpPr>
          <p:cNvPr id="9" name="Text 7"/>
          <p:cNvSpPr/>
          <p:nvPr/>
        </p:nvSpPr>
        <p:spPr>
          <a:xfrm>
            <a:off x="4544568" y="2377440"/>
            <a:ext cx="3108960" cy="640080"/>
          </a:xfrm>
          <a:prstGeom prst="rect">
            <a:avLst/>
          </a:prstGeom>
          <a:noFill/>
          <a:ln/>
        </p:spPr>
        <p:txBody>
          <a:bodyPr wrap="square" lIns="0" tIns="0" rIns="0" bIns="0" rtlCol="0" anchor="t"/>
          <a:lstStyle/>
          <a:p>
            <a:pPr indent="0" marL="0">
              <a:buNone/>
            </a:pPr>
            <a:r>
              <a:rPr lang="en-US" sz="1900" b="1" dirty="0">
                <a:solidFill>
                  <a:srgbClr val="C89B3C"/>
                </a:solidFill>
                <a:latin typeface="Cambria" pitchFamily="34" charset="0"/>
                <a:ea typeface="Cambria" pitchFamily="34" charset="-122"/>
                <a:cs typeface="Cambria" pitchFamily="34" charset="-120"/>
              </a:rPr>
              <a:t>Multiple ways to see it</a:t>
            </a:r>
            <a:endParaRPr lang="en-US" sz="1900" dirty="0"/>
          </a:p>
        </p:txBody>
      </p:sp>
      <p:sp>
        <p:nvSpPr>
          <p:cNvPr id="10" name="Text 8"/>
          <p:cNvSpPr/>
          <p:nvPr/>
        </p:nvSpPr>
        <p:spPr>
          <a:xfrm>
            <a:off x="4544568" y="3200400"/>
            <a:ext cx="3108960" cy="1737360"/>
          </a:xfrm>
          <a:prstGeom prst="rect">
            <a:avLst/>
          </a:prstGeom>
          <a:noFill/>
          <a:ln/>
        </p:spPr>
        <p:txBody>
          <a:bodyPr wrap="square" lIns="0" tIns="0" rIns="0" bIns="0" rtlCol="0" anchor="t"/>
          <a:lstStyle/>
          <a:p>
            <a:pPr indent="0" marL="0">
              <a:lnSpc>
                <a:spcPct val="105000"/>
              </a:lnSpc>
              <a:buNone/>
            </a:pPr>
            <a:r>
              <a:rPr lang="en-US" sz="1350" dirty="0">
                <a:solidFill>
                  <a:srgbClr val="E7EAF2"/>
                </a:solidFill>
                <a:latin typeface="Arial" pitchFamily="34" charset="0"/>
                <a:ea typeface="Arial" pitchFamily="34" charset="-122"/>
                <a:cs typeface="Arial" pitchFamily="34" charset="-120"/>
              </a:rPr>
              <a:t>Direct instruction, primary sources, maps, and bilingual key vocabulary — the same ideas shown more than one way.</a:t>
            </a:r>
            <a:endParaRPr lang="en-US" sz="1350" dirty="0"/>
          </a:p>
        </p:txBody>
      </p:sp>
      <p:sp>
        <p:nvSpPr>
          <p:cNvPr id="11" name="Shape 9"/>
          <p:cNvSpPr/>
          <p:nvPr/>
        </p:nvSpPr>
        <p:spPr>
          <a:xfrm>
            <a:off x="8083296" y="2148840"/>
            <a:ext cx="3566160" cy="2926080"/>
          </a:xfrm>
          <a:prstGeom prst="rect">
            <a:avLst/>
          </a:prstGeom>
          <a:solidFill>
            <a:srgbClr val="1E2C4C"/>
          </a:solidFill>
          <a:ln w="12700">
            <a:solidFill>
              <a:srgbClr val="C89B3C"/>
            </a:solidFill>
            <a:prstDash val="solid"/>
          </a:ln>
        </p:spPr>
        <p:txBody>
          <a:bodyPr/>
          <a:p/>
        </p:txBody>
      </p:sp>
      <p:sp>
        <p:nvSpPr>
          <p:cNvPr id="12" name="Text 10"/>
          <p:cNvSpPr/>
          <p:nvPr/>
        </p:nvSpPr>
        <p:spPr>
          <a:xfrm>
            <a:off x="8311896" y="2377440"/>
            <a:ext cx="3108960" cy="640080"/>
          </a:xfrm>
          <a:prstGeom prst="rect">
            <a:avLst/>
          </a:prstGeom>
          <a:noFill/>
          <a:ln/>
        </p:spPr>
        <p:txBody>
          <a:bodyPr wrap="square" lIns="0" tIns="0" rIns="0" bIns="0" rtlCol="0" anchor="t"/>
          <a:lstStyle/>
          <a:p>
            <a:pPr indent="0" marL="0">
              <a:buNone/>
            </a:pPr>
            <a:r>
              <a:rPr lang="en-US" sz="1900" b="1" dirty="0">
                <a:solidFill>
                  <a:srgbClr val="C89B3C"/>
                </a:solidFill>
                <a:latin typeface="Cambria" pitchFamily="34" charset="0"/>
                <a:ea typeface="Cambria" pitchFamily="34" charset="-122"/>
                <a:cs typeface="Cambria" pitchFamily="34" charset="-120"/>
              </a:rPr>
              <a:t>Multiple ways to show it</a:t>
            </a:r>
            <a:endParaRPr lang="en-US" sz="1900" dirty="0"/>
          </a:p>
        </p:txBody>
      </p:sp>
      <p:sp>
        <p:nvSpPr>
          <p:cNvPr id="13" name="Text 11"/>
          <p:cNvSpPr/>
          <p:nvPr/>
        </p:nvSpPr>
        <p:spPr>
          <a:xfrm>
            <a:off x="8311896" y="3200400"/>
            <a:ext cx="3108960" cy="1737360"/>
          </a:xfrm>
          <a:prstGeom prst="rect">
            <a:avLst/>
          </a:prstGeom>
          <a:noFill/>
          <a:ln/>
        </p:spPr>
        <p:txBody>
          <a:bodyPr wrap="square" lIns="0" tIns="0" rIns="0" bIns="0" rtlCol="0" anchor="t"/>
          <a:lstStyle/>
          <a:p>
            <a:pPr indent="0" marL="0">
              <a:lnSpc>
                <a:spcPct val="105000"/>
              </a:lnSpc>
              <a:buNone/>
            </a:pPr>
            <a:r>
              <a:rPr lang="en-US" sz="1350" dirty="0">
                <a:solidFill>
                  <a:srgbClr val="E7EAF2"/>
                </a:solidFill>
                <a:latin typeface="Arial" pitchFamily="34" charset="0"/>
                <a:ea typeface="Arial" pitchFamily="34" charset="-122"/>
                <a:cs typeface="Arial" pitchFamily="34" charset="-120"/>
              </a:rPr>
              <a:t>Model-with-me, sentence frames, and choices in how you respond — you reach the same goal by the route that works for you.</a:t>
            </a:r>
            <a:endParaRPr lang="en-US" sz="1350" dirty="0"/>
          </a:p>
        </p:txBody>
      </p:sp>
      <p:sp>
        <p:nvSpPr>
          <p:cNvPr id="14" name="Text 12"/>
          <p:cNvSpPr/>
          <p:nvPr/>
        </p:nvSpPr>
        <p:spPr>
          <a:xfrm>
            <a:off x="548640" y="5394960"/>
            <a:ext cx="11064240" cy="640080"/>
          </a:xfrm>
          <a:prstGeom prst="rect">
            <a:avLst/>
          </a:prstGeom>
          <a:solidFill>
            <a:srgbClr val="1E2C4C"/>
          </a:solidFill>
          <a:ln/>
        </p:spPr>
        <p:txBody>
          <a:bodyPr wrap="square" lIns="76200" tIns="76200" rIns="76200" bIns="76200" rtlCol="0" anchor="ctr"/>
          <a:lstStyle/>
          <a:p>
            <a:pPr algn="ctr" indent="0" marL="0">
              <a:buNone/>
            </a:pPr>
            <a:r>
              <a:rPr lang="en-US" sz="1400" i="1" dirty="0">
                <a:solidFill>
                  <a:srgbClr val="FFFFFF"/>
                </a:solidFill>
                <a:latin typeface="Arial" pitchFamily="34" charset="0"/>
                <a:ea typeface="Arial" pitchFamily="34" charset="-122"/>
                <a:cs typeface="Arial" pitchFamily="34" charset="-120"/>
              </a:rPr>
              <a:t>Your teacher checks your progress along the way and gives you another path if you need one — </a:t>
            </a:r>
            <a:pPr algn="ctr" indent="0" marL="0">
              <a:buNone/>
            </a:pPr>
            <a:r>
              <a:rPr lang="en-US" sz="1400" b="1" i="1" dirty="0">
                <a:solidFill>
                  <a:srgbClr val="FF6B7A"/>
                </a:solidFill>
                <a:latin typeface="Arial" pitchFamily="34" charset="0"/>
                <a:ea typeface="Arial" pitchFamily="34" charset="-122"/>
                <a:cs typeface="Arial" pitchFamily="34" charset="-120"/>
              </a:rPr>
              <a:t>the goal never lowers.</a:t>
            </a:r>
            <a:endParaRPr lang="en-US" sz="1400" dirty="0"/>
          </a:p>
        </p:txBody>
      </p:sp>
      <p:sp>
        <p:nvSpPr>
          <p:cNvPr id="15" name="Text 13"/>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16" name="Text 14"/>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a:t>
            </a:r>
            <a:endParaRPr lang="en-US" sz="900" dirty="0"/>
          </a:p>
        </p:txBody>
      </p:sp>
      <p:sp>
        <p:nvSpPr>
          <p:cNvPr id="17" name="TextBox 16"/>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Vocabulary (Act 1–2)</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15" name="Shape 15"/>
        <p:cNvGrpSpPr/>
        <p:nvPr/>
      </p:nvGrpSpPr>
      <p:grpSpPr>
        <a:xfrm>
          <a:off x="0" y="0"/>
          <a:ext cx="0" cy="0"/>
          <a:chOff x="0" y="0"/>
          <a:chExt cx="0" cy="0"/>
        </a:xfrm>
      </p:grpSpPr>
      <p:sp>
        <p:nvSpPr>
          <p:cNvPr id="16" name="Google Shape;16;p1"/>
          <p:cNvSpPr/>
          <p:nvPr/>
        </p:nvSpPr>
        <p:spPr>
          <a:xfrm>
            <a:off x="0" y="2331720"/>
            <a:ext cx="12191695" cy="73152"/>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6000"/>
              <a:buFont typeface="Georgia"/>
              <a:buNone/>
            </a:pPr>
            <a:r>
              <a:rPr b="1" i="0" lang="en-US" sz="6000" u="none" cap="none" strike="noStrike">
                <a:solidFill>
                  <a:srgbClr val="C89B3C"/>
                </a:solidFill>
                <a:latin typeface="Georgia"/>
                <a:ea typeface="Georgia"/>
                <a:cs typeface="Georgia"/>
                <a:sym typeface="Georgia"/>
              </a:rPr>
              <a:t>US.45</a:t>
            </a:r>
            <a:endParaRPr b="0" i="0" sz="6000" u="none" cap="none" strike="noStrike">
              <a:solidFill>
                <a:schemeClr val="dk1"/>
              </a:solidFill>
              <a:latin typeface="Calibri"/>
              <a:ea typeface="Calibri"/>
              <a:cs typeface="Calibri"/>
              <a:sym typeface="Calibri"/>
            </a:endParaRPr>
          </a:p>
        </p:txBody>
      </p:sp>
      <p:sp>
        <p:nvSpPr>
          <p:cNvPr id="18" name="Google Shape;18;p1"/>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Rise and Spread of Fascism, Communism, and Totalitarianism</a:t>
            </a:r>
            <a:endParaRPr b="0" i="0" sz="2600" u="none" cap="none" strike="noStrike">
              <a:solidFill>
                <a:schemeClr val="dk1"/>
              </a:solidFill>
              <a:latin typeface="Calibri"/>
              <a:ea typeface="Calibri"/>
              <a:cs typeface="Calibri"/>
              <a:sym typeface="Calibri"/>
            </a:endParaRPr>
          </a:p>
        </p:txBody>
      </p:sp>
      <p:sp>
        <p:nvSpPr>
          <p:cNvPr id="19" name="Google Shape;19;p1"/>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20" name="Google Shape;20;p1"/>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C7D4E0"/>
                </a:solidFill>
                <a:latin typeface="Calibri"/>
                <a:ea typeface="Calibri"/>
                <a:cs typeface="Calibri"/>
                <a:sym typeface="Calibri"/>
              </a:rPr>
              <a:t>US.45 – Explain the rise and spread of fascism, communism, and totalitarianism internationally.</a:t>
            </a:r>
            <a:endParaRPr b="0" i="0" sz="1600" u="none" cap="none" strike="noStrike">
              <a:solidFill>
                <a:schemeClr val="dk1"/>
              </a:solidFill>
              <a:latin typeface="Calibri"/>
              <a:ea typeface="Calibri"/>
              <a:cs typeface="Calibri"/>
              <a:sym typeface="Calibri"/>
            </a:endParaRPr>
          </a:p>
        </p:txBody>
      </p:sp>
      <p:sp>
        <p:nvSpPr>
          <p:cNvPr id="21" name="Google Shape;21;p1"/>
          <p:cNvSpPr/>
          <p:nvPr/>
        </p:nvSpPr>
        <p:spPr>
          <a:xfrm>
            <a:off x="457200" y="4892040"/>
            <a:ext cx="11247120" cy="123444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23" name="Google Shape;23;p1"/>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1400"/>
              <a:buFont typeface="Calibri"/>
              <a:buNone/>
            </a:pPr>
            <a:r>
              <a:rPr b="1" i="0" lang="en-US" sz="1400" u="none" cap="none" strike="noStrike">
                <a:solidFill>
                  <a:srgbClr val="1B2A4A"/>
                </a:solidFill>
                <a:latin typeface="Calibri"/>
                <a:ea typeface="Calibri"/>
                <a:cs typeface="Calibri"/>
                <a:sym typeface="Calibri"/>
              </a:rPr>
              <a:t>I can explain the rise and spread of fascism, communism, and totalitarianism internationally, including the key characteristics and leaders of each system.</a:t>
            </a:r>
            <a:endParaRPr b="0" i="0" sz="1400" u="none" cap="none" strike="noStrike">
              <a:solidFill>
                <a:schemeClr val="dk1"/>
              </a:solidFill>
              <a:latin typeface="Calibri"/>
              <a:ea typeface="Calibri"/>
              <a:cs typeface="Calibri"/>
              <a:sym typeface="Calibri"/>
            </a:endParaRPr>
          </a:p>
        </p:txBody>
      </p:sp>
      <p:sp>
        <p:nvSpPr>
          <p:cNvPr id="24" name="Google Shape;24;p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5" name="Google Shape;25;p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0" name="Shape 30"/>
        <p:cNvGrpSpPr/>
        <p:nvPr/>
      </p:nvGrpSpPr>
      <p:grpSpPr>
        <a:xfrm>
          <a:off x="0" y="0"/>
          <a:ext cx="0" cy="0"/>
          <a:chOff x="0" y="0"/>
          <a:chExt cx="0" cy="0"/>
        </a:xfrm>
      </p:grpSpPr>
      <p:sp>
        <p:nvSpPr>
          <p:cNvPr id="31" name="Google Shape;31;p2"/>
          <p:cNvSpPr/>
          <p:nvPr/>
        </p:nvSpPr>
        <p:spPr>
          <a:xfrm>
            <a:off x="28725" y="247900"/>
            <a:ext cx="12191700" cy="173730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149100" y="247900"/>
            <a:ext cx="12042600" cy="1485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Georgia"/>
              <a:buNone/>
            </a:pPr>
            <a:r>
              <a:rPr b="1" i="0" lang="en-US" sz="2300" u="none" cap="none" strike="noStrike">
                <a:solidFill>
                  <a:srgbClr val="FFFFFF"/>
                </a:solidFill>
                <a:latin typeface="Georgia"/>
                <a:ea typeface="Georgia"/>
                <a:cs typeface="Georgia"/>
                <a:sym typeface="Georgia"/>
              </a:rPr>
              <a:t>Fascism and communism rose as rival extremes — fascism preached ultranationalism, dictatorship, and militarism, while communism preached class struggle, proletarian revolution, and state ownership of the means of production.</a:t>
            </a:r>
            <a:endParaRPr b="0" i="0" sz="2300" u="none" cap="none" strike="noStrike">
              <a:solidFill>
                <a:schemeClr val="dk1"/>
              </a:solidFill>
              <a:latin typeface="Calibri"/>
              <a:ea typeface="Calibri"/>
              <a:cs typeface="Calibri"/>
              <a:sym typeface="Calibri"/>
            </a:endParaRPr>
          </a:p>
        </p:txBody>
      </p:sp>
      <p:sp>
        <p:nvSpPr>
          <p:cNvPr id="34" name="Google Shape;34;p2"/>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37" name="Google Shape;37;p2"/>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Fascism and communism rose as rival extremes — fascism preached ultranationalism, dictatorship, and militarism, while communism preached class struggle, proletarian revolution, and state ownership of the means of production.</a:t>
            </a:r>
            <a:endParaRPr b="0" i="0" sz="2200" u="none" cap="none" strike="noStrike">
              <a:solidFill>
                <a:schemeClr val="dk1"/>
              </a:solidFill>
              <a:latin typeface="Calibri"/>
              <a:ea typeface="Calibri"/>
              <a:cs typeface="Calibri"/>
              <a:sym typeface="Calibri"/>
            </a:endParaRPr>
          </a:p>
        </p:txBody>
      </p:sp>
      <p:sp>
        <p:nvSpPr>
          <p:cNvPr id="38" name="Google Shape;38;p2"/>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US.45 · Fascism vs. Communism</a:t>
            </a:r>
            <a:endParaRPr b="0" i="0" sz="1000" u="none" cap="none" strike="noStrike">
              <a:solidFill>
                <a:schemeClr val="dk1"/>
              </a:solidFill>
              <a:latin typeface="Calibri"/>
              <a:ea typeface="Calibri"/>
              <a:cs typeface="Calibri"/>
              <a:sym typeface="Calibri"/>
            </a:endParaRPr>
          </a:p>
        </p:txBody>
      </p:sp>
      <p:sp>
        <p:nvSpPr>
          <p:cNvPr id="39" name="Google Shape;39;p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0" name="Google Shape;40;p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5" name="Shape 45"/>
        <p:cNvGrpSpPr/>
        <p:nvPr/>
      </p:nvGrpSpPr>
      <p:grpSpPr>
        <a:xfrm>
          <a:off x="0" y="0"/>
          <a:ext cx="0" cy="0"/>
          <a:chOff x="0" y="0"/>
          <a:chExt cx="0" cy="0"/>
        </a:xfrm>
      </p:grpSpPr>
      <p:sp>
        <p:nvSpPr>
          <p:cNvPr id="46" name="Google Shape;46;p3"/>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3"/>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3"/>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49" name="Google Shape;49;p3"/>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US.45</a:t>
            </a:r>
            <a:endParaRPr b="0" i="0" sz="1200" u="none" cap="none" strike="noStrike">
              <a:solidFill>
                <a:schemeClr val="dk1"/>
              </a:solidFill>
              <a:latin typeface="Calibri"/>
              <a:ea typeface="Calibri"/>
              <a:cs typeface="Calibri"/>
              <a:sym typeface="Calibri"/>
            </a:endParaRPr>
          </a:p>
        </p:txBody>
      </p:sp>
      <p:sp>
        <p:nvSpPr>
          <p:cNvPr id="50" name="Google Shape;50;p3"/>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Totalitarian states seized total control of public and private life — Mussolini's Italy, Hitler's Germany, and Stalin's USSR used propaganda, secret police, and terror to crush all opposition.</a:t>
            </a:r>
            <a:endParaRPr b="0" i="0" sz="2300" u="none" cap="none" strike="noStrike">
              <a:solidFill>
                <a:schemeClr val="dk1"/>
              </a:solidFill>
              <a:latin typeface="Calibri"/>
              <a:ea typeface="Calibri"/>
              <a:cs typeface="Calibri"/>
              <a:sym typeface="Calibri"/>
            </a:endParaRPr>
          </a:p>
        </p:txBody>
      </p:sp>
      <p:pic>
        <p:nvPicPr>
          <p:cNvPr descr="hh-web/public/images/textbook/unit-6/nuremberg-nazi-rally-1935.jpg" id="51" name="Google Shape;51;p3"/>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52" name="Google Shape;52;p3"/>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900"/>
              <a:buFont typeface="Trebuchet MS"/>
              <a:buNone/>
            </a:pPr>
            <a:r>
              <a:rPr b="1" i="0" lang="en-US" sz="900" u="none" cap="none" strike="noStrike">
                <a:solidFill>
                  <a:srgbClr val="1B2A4A"/>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53" name="Google Shape;53;p3"/>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US.45 · DI 3 of 4 · Totalitarianism in Italy, Germany &amp; USSR</a:t>
            </a:r>
            <a:endParaRPr b="0" i="0" sz="1000" u="none" cap="none" strike="noStrike">
              <a:solidFill>
                <a:schemeClr val="dk1"/>
              </a:solidFill>
              <a:latin typeface="Calibri"/>
              <a:ea typeface="Calibri"/>
              <a:cs typeface="Calibri"/>
              <a:sym typeface="Calibri"/>
            </a:endParaRPr>
          </a:p>
        </p:txBody>
      </p:sp>
      <p:sp>
        <p:nvSpPr>
          <p:cNvPr id="54" name="Google Shape;54;p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5" name="Google Shape;55;p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a:t>
            </a:r>
            <a:endParaRPr b="0" i="0" sz="900" u="none" cap="none" strike="noStrike">
              <a:solidFill>
                <a:schemeClr val="dk1"/>
              </a:solidFill>
              <a:latin typeface="Calibri"/>
              <a:ea typeface="Calibri"/>
              <a:cs typeface="Calibri"/>
              <a:sym typeface="Calibri"/>
            </a:endParaRPr>
          </a:p>
        </p:txBody>
      </p:sp>
      <p:sp>
        <p:nvSpPr>
          <p:cNvPr id="56" name="TextBox 55"/>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60" name="Shape 60"/>
        <p:cNvGrpSpPr/>
        <p:nvPr/>
      </p:nvGrpSpPr>
      <p:grpSpPr>
        <a:xfrm>
          <a:off x="0" y="0"/>
          <a:ext cx="0" cy="0"/>
          <a:chOff x="0" y="0"/>
          <a:chExt cx="0" cy="0"/>
        </a:xfrm>
      </p:grpSpPr>
      <p:sp>
        <p:nvSpPr>
          <p:cNvPr id="61" name="Google Shape;61;p4"/>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64" name="Google Shape;64;p4"/>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US.45</a:t>
            </a:r>
            <a:endParaRPr b="0" i="0" sz="1200" u="none" cap="none" strike="noStrike">
              <a:solidFill>
                <a:schemeClr val="dk1"/>
              </a:solidFill>
              <a:latin typeface="Calibri"/>
              <a:ea typeface="Calibri"/>
              <a:cs typeface="Calibri"/>
              <a:sym typeface="Calibri"/>
            </a:endParaRPr>
          </a:p>
        </p:txBody>
      </p:sp>
      <p:sp>
        <p:nvSpPr>
          <p:cNvPr id="65" name="Google Shape;65;p4"/>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The Great Depression, weak democracies, resentment over the Treaty of Versailles, and fear of communism pushed desperate populations toward radical, authoritarian solutions after WWI.</a:t>
            </a:r>
            <a:endParaRPr b="0" i="0" sz="2300" u="none" cap="none" strike="noStrike">
              <a:solidFill>
                <a:schemeClr val="dk1"/>
              </a:solidFill>
              <a:latin typeface="Calibri"/>
              <a:ea typeface="Calibri"/>
              <a:cs typeface="Calibri"/>
              <a:sym typeface="Calibri"/>
            </a:endParaRPr>
          </a:p>
        </p:txBody>
      </p:sp>
      <p:sp>
        <p:nvSpPr>
          <p:cNvPr id="66" name="Google Shape;66;p4"/>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4"/>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69" name="Google Shape;69;p4"/>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The Great Depression, weak democracies, resentment over the Treaty of Versailles, and fear of communism pushed desperate populations toward radical, authoritarian solutions after WWI.</a:t>
            </a:r>
            <a:endParaRPr b="0" i="0" sz="2200" u="none" cap="none" strike="noStrike">
              <a:solidFill>
                <a:schemeClr val="dk1"/>
              </a:solidFill>
              <a:latin typeface="Calibri"/>
              <a:ea typeface="Calibri"/>
              <a:cs typeface="Calibri"/>
              <a:sym typeface="Calibri"/>
            </a:endParaRPr>
          </a:p>
        </p:txBody>
      </p:sp>
      <p:sp>
        <p:nvSpPr>
          <p:cNvPr id="70" name="Google Shape;70;p4"/>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US.45 · DI 4 of 4 · Factors in Its International Spread</a:t>
            </a:r>
            <a:endParaRPr b="0" i="0" sz="1000" u="none" cap="none" strike="noStrike">
              <a:solidFill>
                <a:schemeClr val="dk1"/>
              </a:solidFill>
              <a:latin typeface="Calibri"/>
              <a:ea typeface="Calibri"/>
              <a:cs typeface="Calibri"/>
              <a:sym typeface="Calibri"/>
            </a:endParaRPr>
          </a:p>
        </p:txBody>
      </p:sp>
      <p:sp>
        <p:nvSpPr>
          <p:cNvPr id="71" name="Google Shape;71;p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2" name="Google Shape;72;p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a:t>
            </a:r>
            <a:endParaRPr b="0" i="0" sz="900" u="none" cap="none" strike="noStrike">
              <a:solidFill>
                <a:schemeClr val="dk1"/>
              </a:solidFill>
              <a:latin typeface="Calibri"/>
              <a:ea typeface="Calibri"/>
              <a:cs typeface="Calibri"/>
              <a:sym typeface="Calibri"/>
            </a:endParaRPr>
          </a:p>
        </p:txBody>
      </p:sp>
      <p:sp>
        <p:nvSpPr>
          <p:cNvPr id="73" name="TextBox 72"/>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77" name="Shape 77"/>
        <p:cNvGrpSpPr/>
        <p:nvPr/>
      </p:nvGrpSpPr>
      <p:grpSpPr>
        <a:xfrm>
          <a:off x="0" y="0"/>
          <a:ext cx="0" cy="0"/>
          <a:chOff x="0" y="0"/>
          <a:chExt cx="0" cy="0"/>
        </a:xfrm>
      </p:grpSpPr>
      <p:sp>
        <p:nvSpPr>
          <p:cNvPr id="78" name="Google Shape;78;p5"/>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5"/>
          <p:cNvSpPr/>
          <p:nvPr/>
        </p:nvSpPr>
        <p:spPr>
          <a:xfrm>
            <a:off x="0" y="155448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5"/>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81" name="Google Shape;81;p5"/>
          <p:cNvSpPr/>
          <p:nvPr/>
        </p:nvSpPr>
        <p:spPr>
          <a:xfrm>
            <a:off x="3886200" y="27432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US.45</a:t>
            </a:r>
            <a:endParaRPr b="0" i="0" sz="1200" u="none" cap="none" strike="noStrike">
              <a:solidFill>
                <a:schemeClr val="dk1"/>
              </a:solidFill>
              <a:latin typeface="Calibri"/>
              <a:ea typeface="Calibri"/>
              <a:cs typeface="Calibri"/>
              <a:sym typeface="Calibri"/>
            </a:endParaRPr>
          </a:p>
        </p:txBody>
      </p:sp>
      <p:sp>
        <p:nvSpPr>
          <p:cNvPr id="82" name="Google Shape;82;p5"/>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Read Mussolini’s “The Doctrine of Fascism” — weigh who wrote it and why before you read the words.</a:t>
            </a:r>
            <a:endParaRPr b="0" i="0" sz="2000" u="none" cap="none" strike="noStrike">
              <a:solidFill>
                <a:schemeClr val="dk1"/>
              </a:solidFill>
              <a:latin typeface="Calibri"/>
              <a:ea typeface="Calibri"/>
              <a:cs typeface="Calibri"/>
              <a:sym typeface="Calibri"/>
            </a:endParaRPr>
          </a:p>
        </p:txBody>
      </p:sp>
      <p:sp>
        <p:nvSpPr>
          <p:cNvPr id="83" name="Google Shape;83;p5"/>
          <p:cNvSpPr/>
          <p:nvPr/>
        </p:nvSpPr>
        <p:spPr>
          <a:xfrm>
            <a:off x="45720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84" name="Google Shape;84;p5"/>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Benito Mussolini</a:t>
            </a:r>
            <a:endParaRPr b="0" i="0" sz="1200" u="none" cap="none" strike="noStrike">
              <a:solidFill>
                <a:schemeClr val="dk1"/>
              </a:solidFill>
              <a:latin typeface="Calibri"/>
              <a:ea typeface="Calibri"/>
              <a:cs typeface="Calibri"/>
              <a:sym typeface="Calibri"/>
            </a:endParaRPr>
          </a:p>
        </p:txBody>
      </p:sp>
      <p:sp>
        <p:nvSpPr>
          <p:cNvPr id="85" name="Google Shape;85;p5"/>
          <p:cNvSpPr/>
          <p:nvPr/>
        </p:nvSpPr>
        <p:spPr>
          <a:xfrm>
            <a:off x="425196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86" name="Google Shape;86;p5"/>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1932</a:t>
            </a:r>
            <a:endParaRPr b="0" i="0" sz="1200" u="none" cap="none" strike="noStrike">
              <a:solidFill>
                <a:schemeClr val="dk1"/>
              </a:solidFill>
              <a:latin typeface="Calibri"/>
              <a:ea typeface="Calibri"/>
              <a:cs typeface="Calibri"/>
              <a:sym typeface="Calibri"/>
            </a:endParaRPr>
          </a:p>
        </p:txBody>
      </p:sp>
      <p:sp>
        <p:nvSpPr>
          <p:cNvPr id="87" name="Google Shape;87;p5"/>
          <p:cNvSpPr/>
          <p:nvPr/>
        </p:nvSpPr>
        <p:spPr>
          <a:xfrm>
            <a:off x="804672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88" name="Google Shape;88;p5"/>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Consider the author's purpose and audience before reading the words.</a:t>
            </a:r>
            <a:endParaRPr b="0" i="0" sz="1200" u="none" cap="none" strike="noStrike">
              <a:solidFill>
                <a:schemeClr val="dk1"/>
              </a:solidFill>
              <a:latin typeface="Calibri"/>
              <a:ea typeface="Calibri"/>
              <a:cs typeface="Calibri"/>
              <a:sym typeface="Calibri"/>
            </a:endParaRPr>
          </a:p>
        </p:txBody>
      </p:sp>
      <p:sp>
        <p:nvSpPr>
          <p:cNvPr id="89" name="Google Shape;89;p5"/>
          <p:cNvSpPr/>
          <p:nvPr/>
        </p:nvSpPr>
        <p:spPr>
          <a:xfrm>
            <a:off x="457200" y="3200400"/>
            <a:ext cx="5532120" cy="2651760"/>
          </a:xfrm>
          <a:prstGeom prst="rect">
            <a:avLst/>
          </a:prstGeom>
          <a:solidFill>
            <a:srgbClr val="FFFFFF"/>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5"/>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The Doctrine of Fascism</a:t>
            </a:r>
            <a:endParaRPr b="0" i="0" sz="1400" u="none" cap="none" strike="noStrike">
              <a:solidFill>
                <a:schemeClr val="dk1"/>
              </a:solidFill>
              <a:latin typeface="Calibri"/>
              <a:ea typeface="Calibri"/>
              <a:cs typeface="Calibri"/>
              <a:sym typeface="Calibri"/>
            </a:endParaRPr>
          </a:p>
        </p:txBody>
      </p:sp>
      <p:sp>
        <p:nvSpPr>
          <p:cNvPr id="91" name="Google Shape;91;p5"/>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Benito Mussolini · 1932</a:t>
            </a:r>
            <a:endParaRPr b="0" i="0" sz="900" u="none" cap="none" strike="noStrike">
              <a:solidFill>
                <a:schemeClr val="dk1"/>
              </a:solidFill>
              <a:latin typeface="Calibri"/>
              <a:ea typeface="Calibri"/>
              <a:cs typeface="Calibri"/>
              <a:sym typeface="Calibri"/>
            </a:endParaRPr>
          </a:p>
        </p:txBody>
      </p:sp>
      <p:sp>
        <p:nvSpPr>
          <p:cNvPr id="92" name="Google Shape;92;p5"/>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Fascist State organizes the nation, but leaves a sufficient margin of liberty to the individual; the latter is deprived of all useless and possibly harmful freedom, but retains what is essential; the deciding power in this question cannot be the individual, but the State alone... The Fascist conception of the State is all-embracing; outside of it no human or spiritual values can exist, much less have value."</a:t>
            </a:r>
            <a:endParaRPr b="0" i="0" sz="1100" u="none" cap="none" strike="noStrike">
              <a:solidFill>
                <a:schemeClr val="dk1"/>
              </a:solidFill>
              <a:latin typeface="Calibri"/>
              <a:ea typeface="Calibri"/>
              <a:cs typeface="Calibri"/>
              <a:sym typeface="Calibri"/>
            </a:endParaRPr>
          </a:p>
        </p:txBody>
      </p:sp>
      <p:sp>
        <p:nvSpPr>
          <p:cNvPr id="93" name="Google Shape;93;p5">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Internet Archive</a:t>
            </a:r>
            <a:endParaRPr b="0" i="0" sz="900" u="none" cap="none" strike="noStrike">
              <a:solidFill>
                <a:schemeClr val="dk1"/>
              </a:solidFill>
              <a:latin typeface="Calibri"/>
              <a:ea typeface="Calibri"/>
              <a:cs typeface="Calibri"/>
              <a:sym typeface="Calibri"/>
            </a:endParaRPr>
          </a:p>
        </p:txBody>
      </p:sp>
      <p:sp>
        <p:nvSpPr>
          <p:cNvPr id="94" name="Google Shape;94;p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95" name="Google Shape;95;p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7</a:t>
            </a:r>
            <a:endParaRPr b="0" i="0" sz="900" u="none" cap="none" strike="noStrike">
              <a:solidFill>
                <a:schemeClr val="dk1"/>
              </a:solidFill>
              <a:latin typeface="Calibri"/>
              <a:ea typeface="Calibri"/>
              <a:cs typeface="Calibri"/>
              <a:sym typeface="Calibri"/>
            </a:endParaRPr>
          </a:p>
        </p:txBody>
      </p:sp>
      <p:sp>
        <p:nvSpPr>
          <p:cNvPr id="96" name="TextBox 95"/>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Primary Source &amp; HIPPO (Act 5)</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100" name="Shape 100"/>
        <p:cNvGrpSpPr/>
        <p:nvPr/>
      </p:nvGrpSpPr>
      <p:grpSpPr>
        <a:xfrm>
          <a:off x="0" y="0"/>
          <a:ext cx="0" cy="0"/>
          <a:chOff x="0" y="0"/>
          <a:chExt cx="0" cy="0"/>
        </a:xfrm>
      </p:grpSpPr>
      <p:sp>
        <p:nvSpPr>
          <p:cNvPr id="101" name="Google Shape;101;p6"/>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102" name="Google Shape;102;p6"/>
          <p:cNvSpPr/>
          <p:nvPr/>
        </p:nvSpPr>
        <p:spPr>
          <a:xfrm>
            <a:off x="3886200" y="27432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US.45</a:t>
            </a:r>
            <a:endParaRPr b="0" i="0" sz="1200" u="none" cap="none" strike="noStrike">
              <a:solidFill>
                <a:schemeClr val="dk1"/>
              </a:solidFill>
              <a:latin typeface="Calibri"/>
              <a:ea typeface="Calibri"/>
              <a:cs typeface="Calibri"/>
              <a:sym typeface="Calibri"/>
            </a:endParaRPr>
          </a:p>
        </p:txBody>
      </p:sp>
      <p:sp>
        <p:nvSpPr>
          <p:cNvPr id="103" name="Google Shape;103;p6"/>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C7D4E0"/>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104" name="Google Shape;104;p6"/>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6"/>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6"/>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107" name="Google Shape;107;p6"/>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108" name="Google Shape;108;p6"/>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US.45:</a:t>
            </a:r>
            <a:endParaRPr b="0" i="0" sz="1000" u="none" cap="none" strike="noStrike">
              <a:solidFill>
                <a:schemeClr val="dk1"/>
              </a:solidFill>
              <a:latin typeface="Calibri"/>
              <a:ea typeface="Calibri"/>
              <a:cs typeface="Calibri"/>
              <a:sym typeface="Calibri"/>
            </a:endParaRPr>
          </a:p>
        </p:txBody>
      </p:sp>
      <p:sp>
        <p:nvSpPr>
          <p:cNvPr id="109" name="Google Shape;109;p6"/>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Dictators and their parties who seized total power, and industrialists and elites who backed strongmen to crush labor movements and communism.</a:t>
            </a:r>
            <a:endParaRPr b="0" i="0" sz="1200" u="none" cap="none" strike="noStrike">
              <a:solidFill>
                <a:schemeClr val="dk1"/>
              </a:solidFill>
              <a:latin typeface="Calibri"/>
              <a:ea typeface="Calibri"/>
              <a:cs typeface="Calibri"/>
              <a:sym typeface="Calibri"/>
            </a:endParaRPr>
          </a:p>
        </p:txBody>
      </p:sp>
      <p:sp>
        <p:nvSpPr>
          <p:cNvPr id="110" name="Google Shape;110;p6"/>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6"/>
          <p:cNvSpPr/>
          <p:nvPr/>
        </p:nvSpPr>
        <p:spPr>
          <a:xfrm>
            <a:off x="4251960" y="1783080"/>
            <a:ext cx="3566160" cy="54864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113" name="Google Shape;113;p6"/>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114" name="Google Shape;114;p6"/>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US.45:</a:t>
            </a:r>
            <a:endParaRPr b="0" i="0" sz="1000" u="none" cap="none" strike="noStrike">
              <a:solidFill>
                <a:schemeClr val="dk1"/>
              </a:solidFill>
              <a:latin typeface="Calibri"/>
              <a:ea typeface="Calibri"/>
              <a:cs typeface="Calibri"/>
              <a:sym typeface="Calibri"/>
            </a:endParaRPr>
          </a:p>
        </p:txBody>
      </p:sp>
      <p:sp>
        <p:nvSpPr>
          <p:cNvPr id="115" name="Google Shape;115;p6"/>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Political dissidents, ethnic and religious minorities, and ordinary citizens who lost civil liberties, free press, and eventually their lives under state terror.</a:t>
            </a:r>
            <a:endParaRPr b="0" i="0" sz="1200" u="none" cap="none" strike="noStrike">
              <a:solidFill>
                <a:schemeClr val="dk1"/>
              </a:solidFill>
              <a:latin typeface="Calibri"/>
              <a:ea typeface="Calibri"/>
              <a:cs typeface="Calibri"/>
              <a:sym typeface="Calibri"/>
            </a:endParaRPr>
          </a:p>
        </p:txBody>
      </p:sp>
      <p:sp>
        <p:nvSpPr>
          <p:cNvPr id="116" name="Google Shape;116;p6"/>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6"/>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119" name="Google Shape;119;p6"/>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120" name="Google Shape;120;p6"/>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US.45:</a:t>
            </a:r>
            <a:endParaRPr b="0" i="0" sz="1000" u="none" cap="none" strike="noStrike">
              <a:solidFill>
                <a:schemeClr val="dk1"/>
              </a:solidFill>
              <a:latin typeface="Calibri"/>
              <a:ea typeface="Calibri"/>
              <a:cs typeface="Calibri"/>
              <a:sym typeface="Calibri"/>
            </a:endParaRPr>
          </a:p>
        </p:txBody>
      </p:sp>
      <p:sp>
        <p:nvSpPr>
          <p:cNvPr id="121" name="Google Shape;121;p6"/>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Single-party dictatorships that abolished checks on power — Mussolini, Hitler, and Stalin ruling through propaganda, secret police, and force.</a:t>
            </a:r>
            <a:endParaRPr b="0" i="0" sz="1200" u="none" cap="none" strike="noStrike">
              <a:solidFill>
                <a:schemeClr val="dk1"/>
              </a:solidFill>
              <a:latin typeface="Calibri"/>
              <a:ea typeface="Calibri"/>
              <a:cs typeface="Calibri"/>
              <a:sym typeface="Calibri"/>
            </a:endParaRPr>
          </a:p>
        </p:txBody>
      </p:sp>
      <p:sp>
        <p:nvSpPr>
          <p:cNvPr id="122" name="Google Shape;122;p6"/>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C7D4E0"/>
                </a:solidFill>
                <a:latin typeface="Trebuchet MS"/>
                <a:ea typeface="Trebuchet MS"/>
                <a:cs typeface="Trebuchet MS"/>
                <a:sym typeface="Trebuchet MS"/>
              </a:rPr>
              <a:t>Anchor: The Doctrine of Fascism, Benito Mussolini, 1932 (Internet Archive)</a:t>
            </a:r>
            <a:endParaRPr b="0" i="0" sz="1000" u="none" cap="none" strike="noStrike">
              <a:solidFill>
                <a:schemeClr val="dk1"/>
              </a:solidFill>
              <a:latin typeface="Calibri"/>
              <a:ea typeface="Calibri"/>
              <a:cs typeface="Calibri"/>
              <a:sym typeface="Calibri"/>
            </a:endParaRPr>
          </a:p>
        </p:txBody>
      </p:sp>
      <p:sp>
        <p:nvSpPr>
          <p:cNvPr id="123" name="Google Shape;123;p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24" name="Google Shape;124;p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8</a:t>
            </a:r>
            <a:endParaRPr b="0" i="0" sz="900" u="none" cap="none" strike="noStrike">
              <a:solidFill>
                <a:schemeClr val="dk1"/>
              </a:solidFill>
              <a:latin typeface="Calibri"/>
              <a:ea typeface="Calibri"/>
              <a:cs typeface="Calibri"/>
              <a:sym typeface="Calibri"/>
            </a:endParaRPr>
          </a:p>
        </p:txBody>
      </p:sp>
      <p:sp>
        <p:nvSpPr>
          <p:cNvPr id="125" name="TextBox 124"/>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Constructed Response (Act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938528"/>
            <a:ext cx="137160" cy="292608"/>
          </a:xfrm>
          <a:prstGeom prst="rect">
            <a:avLst/>
          </a:prstGeom>
          <a:solidFill>
            <a:srgbClr val="B22234"/>
          </a:solidFill>
          <a:ln/>
        </p:spPr>
        <p:txBody>
          <a:bodyPr/>
          <a:p/>
        </p:txBody>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Fascism</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Fascismo</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An authoritarian political ideology that emphasizes extreme nationalism, militarism, totalitarian control, and a dictatorial leader. Suppresses opposition and glorifies the state above individual rights.</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938528"/>
            <a:ext cx="137160" cy="292608"/>
          </a:xfrm>
          <a:prstGeom prst="rect">
            <a:avLst/>
          </a:prstGeom>
          <a:solidFill>
            <a:srgbClr val="B22234"/>
          </a:solidFill>
          <a:ln/>
        </p:spPr>
        <p:txBody>
          <a:bodyPr/>
          <a:p/>
        </p:txBody>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Totalitarianism</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Totalitarismo</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system of government where the state controls every aspect of public and private life, using propaganda, secret police, and terror to eliminate opposition.</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938528"/>
            <a:ext cx="137160" cy="292608"/>
          </a:xfrm>
          <a:prstGeom prst="rect">
            <a:avLst/>
          </a:prstGeom>
          <a:solidFill>
            <a:srgbClr val="B22234"/>
          </a:solidFill>
          <a:ln/>
        </p:spPr>
        <p:txBody>
          <a:bodyPr/>
          <a:p/>
        </p:txBody>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Communism</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Comunismo</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political and economic system in which the state owns property and the means of production in the name of the working class; in the 20th century it took the form of one-party dictatorship under leaders like…</a:t>
            </a:r>
            <a:endParaRPr lang="en-US" sz="1300" dirty="0"/>
          </a:p>
        </p:txBody>
      </p:sp>
      <p:sp>
        <p:nvSpPr>
          <p:cNvPr id="25" name="TextBox 24"/>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Vocabulary (Act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9</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How did economic crisis and political instability enable the rise of totalitarian regimes in Italy, Germany, and the Soviet Union?</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Great Depression, post-WWI disappointment, and political chaos created conditions where people accepted radical solutions and strong leaders promising stability</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txBody>
          <a:bodyPr/>
          <a:p/>
        </p:txBody>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Economic prosperity led people to seek stronger government control, although this view has been largely discredited by scholars, which does not align with the documented historical record</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txBody>
          <a:bodyPr/>
          <a:p/>
        </p:txBody>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Totalitarian regimes rose during periods of peace and prosperity, despite the fact that multiple sources contradict this view, which does not align with the documented historical record</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txBody>
          <a:bodyPr/>
          <a:p/>
        </p:txBody>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Democratic governments actively promoted totalitarianism, which does not align with the documented historical record, but the historical evidence paints a more nuanced picture</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
        <p:nvSpPr>
          <p:cNvPr id="22" name="TextBox 21"/>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Practice Quiz (Act 6)</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129" name="Shape 129"/>
        <p:cNvGrpSpPr/>
        <p:nvPr/>
      </p:nvGrpSpPr>
      <p:grpSpPr>
        <a:xfrm>
          <a:off x="0" y="0"/>
          <a:ext cx="0" cy="0"/>
          <a:chOff x="0" y="0"/>
          <a:chExt cx="0" cy="0"/>
        </a:xfrm>
      </p:grpSpPr>
      <p:sp>
        <p:nvSpPr>
          <p:cNvPr id="130" name="Google Shape;130;p7"/>
          <p:cNvSpPr/>
          <p:nvPr/>
        </p:nvSpPr>
        <p:spPr>
          <a:xfrm>
            <a:off x="0" y="2331720"/>
            <a:ext cx="12191695" cy="73152"/>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7"/>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6000"/>
              <a:buFont typeface="Georgia"/>
              <a:buNone/>
            </a:pPr>
            <a:r>
              <a:rPr b="1" i="0" lang="en-US" sz="6000" u="none" cap="none" strike="noStrike">
                <a:solidFill>
                  <a:srgbClr val="C89B3C"/>
                </a:solidFill>
                <a:latin typeface="Georgia"/>
                <a:ea typeface="Georgia"/>
                <a:cs typeface="Georgia"/>
                <a:sym typeface="Georgia"/>
              </a:rPr>
              <a:t>US.46</a:t>
            </a:r>
            <a:endParaRPr b="0" i="0" sz="6000" u="none" cap="none" strike="noStrike">
              <a:solidFill>
                <a:schemeClr val="dk1"/>
              </a:solidFill>
              <a:latin typeface="Calibri"/>
              <a:ea typeface="Calibri"/>
              <a:cs typeface="Calibri"/>
              <a:sym typeface="Calibri"/>
            </a:endParaRPr>
          </a:p>
        </p:txBody>
      </p:sp>
      <p:sp>
        <p:nvSpPr>
          <p:cNvPr id="132" name="Google Shape;132;p7"/>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FDR's Response to World Crises</a:t>
            </a:r>
            <a:endParaRPr b="0" i="0" sz="2600" u="none" cap="none" strike="noStrike">
              <a:solidFill>
                <a:schemeClr val="dk1"/>
              </a:solidFill>
              <a:latin typeface="Calibri"/>
              <a:ea typeface="Calibri"/>
              <a:cs typeface="Calibri"/>
              <a:sym typeface="Calibri"/>
            </a:endParaRPr>
          </a:p>
        </p:txBody>
      </p:sp>
      <p:sp>
        <p:nvSpPr>
          <p:cNvPr id="133" name="Google Shape;133;p7"/>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134" name="Google Shape;134;p7"/>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C7D4E0"/>
                </a:solidFill>
                <a:latin typeface="Calibri"/>
                <a:ea typeface="Calibri"/>
                <a:cs typeface="Calibri"/>
                <a:sym typeface="Calibri"/>
              </a:rPr>
              <a:t>US.46 – Explain President Franklin D. Roosevelt's response to world crises, including: The Quarantine Speech, the Four Freedoms speech, the Atlantic Charter, and the Lend-Lease Act.</a:t>
            </a:r>
            <a:endParaRPr b="0" i="0" sz="1600" u="none" cap="none" strike="noStrike">
              <a:solidFill>
                <a:schemeClr val="dk1"/>
              </a:solidFill>
              <a:latin typeface="Calibri"/>
              <a:ea typeface="Calibri"/>
              <a:cs typeface="Calibri"/>
              <a:sym typeface="Calibri"/>
            </a:endParaRPr>
          </a:p>
        </p:txBody>
      </p:sp>
      <p:sp>
        <p:nvSpPr>
          <p:cNvPr id="135" name="Google Shape;135;p7"/>
          <p:cNvSpPr/>
          <p:nvPr/>
        </p:nvSpPr>
        <p:spPr>
          <a:xfrm>
            <a:off x="457200" y="4892040"/>
            <a:ext cx="11247120" cy="123444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7"/>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137" name="Google Shape;137;p7"/>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1400"/>
              <a:buFont typeface="Calibri"/>
              <a:buNone/>
            </a:pPr>
            <a:r>
              <a:rPr b="1" i="0" lang="en-US" sz="1400" u="none" cap="none" strike="noStrike">
                <a:solidFill>
                  <a:srgbClr val="1B2A4A"/>
                </a:solidFill>
                <a:latin typeface="Calibri"/>
                <a:ea typeface="Calibri"/>
                <a:cs typeface="Calibri"/>
                <a:sym typeface="Calibri"/>
              </a:rPr>
              <a:t>I can explain President Franklin D. Roosevelt's response to world crises, including the Quarantine Speech, the Four Freedoms speech, the Atlantic Charter, and the Lend-Lease Act.</a:t>
            </a:r>
            <a:endParaRPr b="0" i="0" sz="1400" u="none" cap="none" strike="noStrike">
              <a:solidFill>
                <a:schemeClr val="dk1"/>
              </a:solidFill>
              <a:latin typeface="Calibri"/>
              <a:ea typeface="Calibri"/>
              <a:cs typeface="Calibri"/>
              <a:sym typeface="Calibri"/>
            </a:endParaRPr>
          </a:p>
        </p:txBody>
      </p:sp>
      <p:sp>
        <p:nvSpPr>
          <p:cNvPr id="138" name="Google Shape;138;p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39" name="Google Shape;139;p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44" name="Shape 144"/>
        <p:cNvGrpSpPr/>
        <p:nvPr/>
      </p:nvGrpSpPr>
      <p:grpSpPr>
        <a:xfrm>
          <a:off x="0" y="0"/>
          <a:ext cx="0" cy="0"/>
          <a:chOff x="0" y="0"/>
          <a:chExt cx="0" cy="0"/>
        </a:xfrm>
      </p:grpSpPr>
      <p:sp>
        <p:nvSpPr>
          <p:cNvPr id="145" name="Google Shape;145;p8"/>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8"/>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48" name="Google Shape;148;p8"/>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US.46</a:t>
            </a:r>
            <a:endParaRPr b="0" i="0" sz="1200" u="none" cap="none" strike="noStrike">
              <a:solidFill>
                <a:schemeClr val="dk1"/>
              </a:solidFill>
              <a:latin typeface="Calibri"/>
              <a:ea typeface="Calibri"/>
              <a:cs typeface="Calibri"/>
              <a:sym typeface="Calibri"/>
            </a:endParaRPr>
          </a:p>
        </p:txBody>
      </p:sp>
      <p:sp>
        <p:nvSpPr>
          <p:cNvPr id="149" name="Google Shape;149;p8"/>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Amid strong isolationism (the Neutrality Acts), FDR's 1937 Quarantine Speech urged democracies to “quarantine” aggressor nations like a disease to stop the spread of war.</a:t>
            </a:r>
            <a:endParaRPr b="0" i="0" sz="2300" u="none" cap="none" strike="noStrike">
              <a:solidFill>
                <a:schemeClr val="dk1"/>
              </a:solidFill>
              <a:latin typeface="Calibri"/>
              <a:ea typeface="Calibri"/>
              <a:cs typeface="Calibri"/>
              <a:sym typeface="Calibri"/>
            </a:endParaRPr>
          </a:p>
        </p:txBody>
      </p:sp>
      <p:pic>
        <p:nvPicPr>
          <p:cNvPr descr="hh-web/public/images/textbook/unit-6/fdr-fireside-chat-1941.jpg" id="150" name="Google Shape;150;p8"/>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151" name="Google Shape;151;p8"/>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900"/>
              <a:buFont typeface="Trebuchet MS"/>
              <a:buNone/>
            </a:pPr>
            <a:r>
              <a:rPr b="1" i="0" lang="en-US" sz="900" u="none" cap="none" strike="noStrike">
                <a:solidFill>
                  <a:srgbClr val="1B2A4A"/>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152" name="Google Shape;152;p8"/>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US.46 · DI 1 of 4 · Quarantine Speech (Oct 5, 1937)</a:t>
            </a:r>
            <a:endParaRPr b="0" i="0" sz="1000" u="none" cap="none" strike="noStrike">
              <a:solidFill>
                <a:schemeClr val="dk1"/>
              </a:solidFill>
              <a:latin typeface="Calibri"/>
              <a:ea typeface="Calibri"/>
              <a:cs typeface="Calibri"/>
              <a:sym typeface="Calibri"/>
            </a:endParaRPr>
          </a:p>
        </p:txBody>
      </p:sp>
      <p:sp>
        <p:nvSpPr>
          <p:cNvPr id="153" name="Google Shape;153;p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54" name="Google Shape;154;p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12</a:t>
            </a:r>
            <a:endParaRPr b="0" i="0" sz="900" u="none" cap="none" strike="noStrike">
              <a:solidFill>
                <a:schemeClr val="dk1"/>
              </a:solidFill>
              <a:latin typeface="Calibri"/>
              <a:ea typeface="Calibri"/>
              <a:cs typeface="Calibri"/>
              <a:sym typeface="Calibri"/>
            </a:endParaRPr>
          </a:p>
        </p:txBody>
      </p:sp>
      <p:sp>
        <p:nvSpPr>
          <p:cNvPr id="155" name="TextBox 154"/>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59" name="Shape 159"/>
        <p:cNvGrpSpPr/>
        <p:nvPr/>
      </p:nvGrpSpPr>
      <p:grpSpPr>
        <a:xfrm>
          <a:off x="0" y="0"/>
          <a:ext cx="0" cy="0"/>
          <a:chOff x="0" y="0"/>
          <a:chExt cx="0" cy="0"/>
        </a:xfrm>
      </p:grpSpPr>
      <p:sp>
        <p:nvSpPr>
          <p:cNvPr id="160" name="Google Shape;160;p9"/>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9"/>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9"/>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63" name="Google Shape;163;p9"/>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US.46</a:t>
            </a:r>
            <a:endParaRPr b="0" i="0" sz="1200" u="none" cap="none" strike="noStrike">
              <a:solidFill>
                <a:schemeClr val="dk1"/>
              </a:solidFill>
              <a:latin typeface="Calibri"/>
              <a:ea typeface="Calibri"/>
              <a:cs typeface="Calibri"/>
              <a:sym typeface="Calibri"/>
            </a:endParaRPr>
          </a:p>
        </p:txBody>
      </p:sp>
      <p:sp>
        <p:nvSpPr>
          <p:cNvPr id="164" name="Google Shape;164;p9"/>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Meeting secretly with Churchill off Newfoundland (Aug 1941), FDR set postwar aims: no territorial gains, self-government, and free trade — a blueprint for the Allied cause.</a:t>
            </a:r>
            <a:endParaRPr b="0" i="0" sz="2300" u="none" cap="none" strike="noStrike">
              <a:solidFill>
                <a:schemeClr val="dk1"/>
              </a:solidFill>
              <a:latin typeface="Calibri"/>
              <a:ea typeface="Calibri"/>
              <a:cs typeface="Calibri"/>
              <a:sym typeface="Calibri"/>
            </a:endParaRPr>
          </a:p>
        </p:txBody>
      </p:sp>
      <p:sp>
        <p:nvSpPr>
          <p:cNvPr id="165" name="Google Shape;165;p9"/>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9"/>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9"/>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168" name="Google Shape;168;p9"/>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Meeting secretly with Churchill off Newfoundland (Aug 1941), FDR set postwar aims: no territorial gains, self-government, and free trade — a blueprint for the Allied cause.</a:t>
            </a:r>
            <a:endParaRPr b="0" i="0" sz="2200" u="none" cap="none" strike="noStrike">
              <a:solidFill>
                <a:schemeClr val="dk1"/>
              </a:solidFill>
              <a:latin typeface="Calibri"/>
              <a:ea typeface="Calibri"/>
              <a:cs typeface="Calibri"/>
              <a:sym typeface="Calibri"/>
            </a:endParaRPr>
          </a:p>
        </p:txBody>
      </p:sp>
      <p:sp>
        <p:nvSpPr>
          <p:cNvPr id="169" name="Google Shape;169;p9"/>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US.46 · DI 3 of 4 · Atlantic Charter (Aug 14, 1941)</a:t>
            </a:r>
            <a:endParaRPr b="0" i="0" sz="1000" u="none" cap="none" strike="noStrike">
              <a:solidFill>
                <a:schemeClr val="dk1"/>
              </a:solidFill>
              <a:latin typeface="Calibri"/>
              <a:ea typeface="Calibri"/>
              <a:cs typeface="Calibri"/>
              <a:sym typeface="Calibri"/>
            </a:endParaRPr>
          </a:p>
        </p:txBody>
      </p:sp>
      <p:sp>
        <p:nvSpPr>
          <p:cNvPr id="170" name="Google Shape;170;p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71" name="Google Shape;171;p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14</a:t>
            </a:r>
            <a:endParaRPr b="0" i="0" sz="900" u="none" cap="none" strike="noStrike">
              <a:solidFill>
                <a:schemeClr val="dk1"/>
              </a:solidFill>
              <a:latin typeface="Calibri"/>
              <a:ea typeface="Calibri"/>
              <a:cs typeface="Calibri"/>
              <a:sym typeface="Calibri"/>
            </a:endParaRPr>
          </a:p>
        </p:txBody>
      </p:sp>
      <p:sp>
        <p:nvSpPr>
          <p:cNvPr id="172" name="TextBox 171"/>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76" name="Shape 176"/>
        <p:cNvGrpSpPr/>
        <p:nvPr/>
      </p:nvGrpSpPr>
      <p:grpSpPr>
        <a:xfrm>
          <a:off x="0" y="0"/>
          <a:ext cx="0" cy="0"/>
          <a:chOff x="0" y="0"/>
          <a:chExt cx="0" cy="0"/>
        </a:xfrm>
      </p:grpSpPr>
      <p:sp>
        <p:nvSpPr>
          <p:cNvPr id="177" name="Google Shape;177;p10"/>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0"/>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0"/>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80" name="Google Shape;180;p10"/>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US.46</a:t>
            </a:r>
            <a:endParaRPr b="0" i="0" sz="1200" u="none" cap="none" strike="noStrike">
              <a:solidFill>
                <a:schemeClr val="dk1"/>
              </a:solidFill>
              <a:latin typeface="Calibri"/>
              <a:ea typeface="Calibri"/>
              <a:cs typeface="Calibri"/>
              <a:sym typeface="Calibri"/>
            </a:endParaRPr>
          </a:p>
        </p:txBody>
      </p:sp>
      <p:sp>
        <p:nvSpPr>
          <p:cNvPr id="181" name="Google Shape;181;p10"/>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The March 1941 Lend-Lease Act let the U.S. supply Britain and the Allies with weapons without immediate payment — making America the “arsenal of democracy” while still officially neutral.</a:t>
            </a:r>
            <a:endParaRPr b="0" i="0" sz="2300" u="none" cap="none" strike="noStrike">
              <a:solidFill>
                <a:schemeClr val="dk1"/>
              </a:solidFill>
              <a:latin typeface="Calibri"/>
              <a:ea typeface="Calibri"/>
              <a:cs typeface="Calibri"/>
              <a:sym typeface="Calibri"/>
            </a:endParaRPr>
          </a:p>
        </p:txBody>
      </p:sp>
      <p:sp>
        <p:nvSpPr>
          <p:cNvPr id="182" name="Google Shape;182;p10"/>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0"/>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0"/>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185" name="Google Shape;185;p10"/>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The March 1941 Lend-Lease Act let the U.S. supply Britain and the Allies with weapons without immediate payment — making America the “arsenal of democracy” while still officially neutral.</a:t>
            </a:r>
            <a:endParaRPr b="0" i="0" sz="2200" u="none" cap="none" strike="noStrike">
              <a:solidFill>
                <a:schemeClr val="dk1"/>
              </a:solidFill>
              <a:latin typeface="Calibri"/>
              <a:ea typeface="Calibri"/>
              <a:cs typeface="Calibri"/>
              <a:sym typeface="Calibri"/>
            </a:endParaRPr>
          </a:p>
        </p:txBody>
      </p:sp>
      <p:sp>
        <p:nvSpPr>
          <p:cNvPr id="186" name="Google Shape;186;p10"/>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US.46 · DI 4 of 4 · Lend-Lease Act (Mar 11, 1941)</a:t>
            </a:r>
            <a:endParaRPr b="0" i="0" sz="1000" u="none" cap="none" strike="noStrike">
              <a:solidFill>
                <a:schemeClr val="dk1"/>
              </a:solidFill>
              <a:latin typeface="Calibri"/>
              <a:ea typeface="Calibri"/>
              <a:cs typeface="Calibri"/>
              <a:sym typeface="Calibri"/>
            </a:endParaRPr>
          </a:p>
        </p:txBody>
      </p:sp>
      <p:sp>
        <p:nvSpPr>
          <p:cNvPr id="187" name="Google Shape;187;p1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88" name="Google Shape;188;p1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15</a:t>
            </a:r>
            <a:endParaRPr b="0" i="0" sz="900" u="none" cap="none" strike="noStrike">
              <a:solidFill>
                <a:schemeClr val="dk1"/>
              </a:solidFill>
              <a:latin typeface="Calibri"/>
              <a:ea typeface="Calibri"/>
              <a:cs typeface="Calibri"/>
              <a:sym typeface="Calibri"/>
            </a:endParaRPr>
          </a:p>
        </p:txBody>
      </p:sp>
      <p:sp>
        <p:nvSpPr>
          <p:cNvPr id="189" name="TextBox 188"/>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93" name="Shape 193"/>
        <p:cNvGrpSpPr/>
        <p:nvPr/>
      </p:nvGrpSpPr>
      <p:grpSpPr>
        <a:xfrm>
          <a:off x="0" y="0"/>
          <a:ext cx="0" cy="0"/>
          <a:chOff x="0" y="0"/>
          <a:chExt cx="0" cy="0"/>
        </a:xfrm>
      </p:grpSpPr>
      <p:sp>
        <p:nvSpPr>
          <p:cNvPr id="194" name="Google Shape;194;p11"/>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1"/>
          <p:cNvSpPr/>
          <p:nvPr/>
        </p:nvSpPr>
        <p:spPr>
          <a:xfrm>
            <a:off x="0" y="155448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197" name="Google Shape;197;p11"/>
          <p:cNvSpPr/>
          <p:nvPr/>
        </p:nvSpPr>
        <p:spPr>
          <a:xfrm>
            <a:off x="3886200" y="27432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US.46</a:t>
            </a:r>
            <a:endParaRPr b="0" i="0" sz="1200" u="none" cap="none" strike="noStrike">
              <a:solidFill>
                <a:schemeClr val="dk1"/>
              </a:solidFill>
              <a:latin typeface="Calibri"/>
              <a:ea typeface="Calibri"/>
              <a:cs typeface="Calibri"/>
              <a:sym typeface="Calibri"/>
            </a:endParaRPr>
          </a:p>
        </p:txBody>
      </p:sp>
      <p:sp>
        <p:nvSpPr>
          <p:cNvPr id="198" name="Google Shape;198;p11"/>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Read FDR’s Four Freedoms Speech — identify the speaker, date, and purpose before you weigh his words.</a:t>
            </a:r>
            <a:endParaRPr b="0" i="0" sz="2000" u="none" cap="none" strike="noStrike">
              <a:solidFill>
                <a:schemeClr val="dk1"/>
              </a:solidFill>
              <a:latin typeface="Calibri"/>
              <a:ea typeface="Calibri"/>
              <a:cs typeface="Calibri"/>
              <a:sym typeface="Calibri"/>
            </a:endParaRPr>
          </a:p>
        </p:txBody>
      </p:sp>
      <p:sp>
        <p:nvSpPr>
          <p:cNvPr id="199" name="Google Shape;199;p11"/>
          <p:cNvSpPr/>
          <p:nvPr/>
        </p:nvSpPr>
        <p:spPr>
          <a:xfrm>
            <a:off x="45720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200" name="Google Shape;200;p11"/>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President Franklin D. Roosevelt</a:t>
            </a:r>
            <a:endParaRPr b="0" i="0" sz="1200" u="none" cap="none" strike="noStrike">
              <a:solidFill>
                <a:schemeClr val="dk1"/>
              </a:solidFill>
              <a:latin typeface="Calibri"/>
              <a:ea typeface="Calibri"/>
              <a:cs typeface="Calibri"/>
              <a:sym typeface="Calibri"/>
            </a:endParaRPr>
          </a:p>
        </p:txBody>
      </p:sp>
      <p:sp>
        <p:nvSpPr>
          <p:cNvPr id="201" name="Google Shape;201;p11"/>
          <p:cNvSpPr/>
          <p:nvPr/>
        </p:nvSpPr>
        <p:spPr>
          <a:xfrm>
            <a:off x="425196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202" name="Google Shape;202;p11"/>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January 6, 1941</a:t>
            </a:r>
            <a:endParaRPr b="0" i="0" sz="1200" u="none" cap="none" strike="noStrike">
              <a:solidFill>
                <a:schemeClr val="dk1"/>
              </a:solidFill>
              <a:latin typeface="Calibri"/>
              <a:ea typeface="Calibri"/>
              <a:cs typeface="Calibri"/>
              <a:sym typeface="Calibri"/>
            </a:endParaRPr>
          </a:p>
        </p:txBody>
      </p:sp>
      <p:sp>
        <p:nvSpPr>
          <p:cNvPr id="203" name="Google Shape;203;p11"/>
          <p:cNvSpPr/>
          <p:nvPr/>
        </p:nvSpPr>
        <p:spPr>
          <a:xfrm>
            <a:off x="804672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204" name="Google Shape;204;p11"/>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Consider the author's purpose and audience before reading the words.</a:t>
            </a:r>
            <a:endParaRPr b="0" i="0" sz="1200" u="none" cap="none" strike="noStrike">
              <a:solidFill>
                <a:schemeClr val="dk1"/>
              </a:solidFill>
              <a:latin typeface="Calibri"/>
              <a:ea typeface="Calibri"/>
              <a:cs typeface="Calibri"/>
              <a:sym typeface="Calibri"/>
            </a:endParaRPr>
          </a:p>
        </p:txBody>
      </p:sp>
      <p:sp>
        <p:nvSpPr>
          <p:cNvPr id="205" name="Google Shape;205;p11"/>
          <p:cNvSpPr/>
          <p:nvPr/>
        </p:nvSpPr>
        <p:spPr>
          <a:xfrm>
            <a:off x="457200" y="3200400"/>
            <a:ext cx="5532120" cy="2651760"/>
          </a:xfrm>
          <a:prstGeom prst="rect">
            <a:avLst/>
          </a:prstGeom>
          <a:solidFill>
            <a:srgbClr val="FFFFFF"/>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The Four Freedoms Speech</a:t>
            </a:r>
            <a:endParaRPr b="0" i="0" sz="1400" u="none" cap="none" strike="noStrike">
              <a:solidFill>
                <a:schemeClr val="dk1"/>
              </a:solidFill>
              <a:latin typeface="Calibri"/>
              <a:ea typeface="Calibri"/>
              <a:cs typeface="Calibri"/>
              <a:sym typeface="Calibri"/>
            </a:endParaRPr>
          </a:p>
        </p:txBody>
      </p:sp>
      <p:sp>
        <p:nvSpPr>
          <p:cNvPr id="207" name="Google Shape;207;p11"/>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President Franklin D. Roosevelt · January 6, 1941</a:t>
            </a:r>
            <a:endParaRPr b="0" i="0" sz="900" u="none" cap="none" strike="noStrike">
              <a:solidFill>
                <a:schemeClr val="dk1"/>
              </a:solidFill>
              <a:latin typeface="Calibri"/>
              <a:ea typeface="Calibri"/>
              <a:cs typeface="Calibri"/>
              <a:sym typeface="Calibri"/>
            </a:endParaRPr>
          </a:p>
        </p:txBody>
      </p:sp>
      <p:sp>
        <p:nvSpPr>
          <p:cNvPr id="208" name="Google Shape;208;p11"/>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"In the future days, which we seek to make secure, we look forward to a world founded upon four essential human freedoms. The first is freedom of speech and expression—everywhere in the world. The second is freedom of every person to worship God in his own way—everywhere in the world. The third is freedom from want... The fourth is freedom from fear."</a:t>
            </a:r>
            <a:endParaRPr b="0" i="0" sz="1100" u="none" cap="none" strike="noStrike">
              <a:solidFill>
                <a:schemeClr val="dk1"/>
              </a:solidFill>
              <a:latin typeface="Calibri"/>
              <a:ea typeface="Calibri"/>
              <a:cs typeface="Calibri"/>
              <a:sym typeface="Calibri"/>
            </a:endParaRPr>
          </a:p>
        </p:txBody>
      </p:sp>
      <p:sp>
        <p:nvSpPr>
          <p:cNvPr id="209" name="Google Shape;209;p11">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National Archives</a:t>
            </a:r>
            <a:endParaRPr b="0" i="0" sz="900" u="none" cap="none" strike="noStrike">
              <a:solidFill>
                <a:schemeClr val="dk1"/>
              </a:solidFill>
              <a:latin typeface="Calibri"/>
              <a:ea typeface="Calibri"/>
              <a:cs typeface="Calibri"/>
              <a:sym typeface="Calibri"/>
            </a:endParaRPr>
          </a:p>
        </p:txBody>
      </p:sp>
      <p:sp>
        <p:nvSpPr>
          <p:cNvPr id="210" name="Google Shape;210;p1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11" name="Google Shape;211;p1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16</a:t>
            </a:r>
            <a:endParaRPr b="0" i="0" sz="900" u="none" cap="none" strike="noStrike">
              <a:solidFill>
                <a:schemeClr val="dk1"/>
              </a:solidFill>
              <a:latin typeface="Calibri"/>
              <a:ea typeface="Calibri"/>
              <a:cs typeface="Calibri"/>
              <a:sym typeface="Calibri"/>
            </a:endParaRPr>
          </a:p>
        </p:txBody>
      </p:sp>
      <p:sp>
        <p:nvSpPr>
          <p:cNvPr id="212" name="TextBox 211"/>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Primary Source &amp; HIPPO (Act 5)</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216" name="Shape 216"/>
        <p:cNvGrpSpPr/>
        <p:nvPr/>
      </p:nvGrpSpPr>
      <p:grpSpPr>
        <a:xfrm>
          <a:off x="0" y="0"/>
          <a:ext cx="0" cy="0"/>
          <a:chOff x="0" y="0"/>
          <a:chExt cx="0" cy="0"/>
        </a:xfrm>
      </p:grpSpPr>
      <p:sp>
        <p:nvSpPr>
          <p:cNvPr id="217" name="Google Shape;217;p12"/>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218" name="Google Shape;218;p12"/>
          <p:cNvSpPr/>
          <p:nvPr/>
        </p:nvSpPr>
        <p:spPr>
          <a:xfrm>
            <a:off x="3886200" y="27432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US.46</a:t>
            </a:r>
            <a:endParaRPr b="0" i="0" sz="1200" u="none" cap="none" strike="noStrike">
              <a:solidFill>
                <a:schemeClr val="dk1"/>
              </a:solidFill>
              <a:latin typeface="Calibri"/>
              <a:ea typeface="Calibri"/>
              <a:cs typeface="Calibri"/>
              <a:sym typeface="Calibri"/>
            </a:endParaRPr>
          </a:p>
        </p:txBody>
      </p:sp>
      <p:sp>
        <p:nvSpPr>
          <p:cNvPr id="219" name="Google Shape;219;p12"/>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C7D4E0"/>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220" name="Google Shape;220;p12"/>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2"/>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2"/>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223" name="Google Shape;223;p12"/>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224" name="Google Shape;224;p12"/>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US.46:</a:t>
            </a:r>
            <a:endParaRPr b="0" i="0" sz="1000" u="none" cap="none" strike="noStrike">
              <a:solidFill>
                <a:schemeClr val="dk1"/>
              </a:solidFill>
              <a:latin typeface="Calibri"/>
              <a:ea typeface="Calibri"/>
              <a:cs typeface="Calibri"/>
              <a:sym typeface="Calibri"/>
            </a:endParaRPr>
          </a:p>
        </p:txBody>
      </p:sp>
      <p:sp>
        <p:nvSpPr>
          <p:cNvPr id="225" name="Google Shape;225;p12"/>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Britain and the Allies, kept in the war by American supplies, and U.S. defense industries that expanded under Lend-Lease production.</a:t>
            </a:r>
            <a:endParaRPr b="0" i="0" sz="1200" u="none" cap="none" strike="noStrike">
              <a:solidFill>
                <a:schemeClr val="dk1"/>
              </a:solidFill>
              <a:latin typeface="Calibri"/>
              <a:ea typeface="Calibri"/>
              <a:cs typeface="Calibri"/>
              <a:sym typeface="Calibri"/>
            </a:endParaRPr>
          </a:p>
        </p:txBody>
      </p:sp>
      <p:sp>
        <p:nvSpPr>
          <p:cNvPr id="226" name="Google Shape;226;p12"/>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2"/>
          <p:cNvSpPr/>
          <p:nvPr/>
        </p:nvSpPr>
        <p:spPr>
          <a:xfrm>
            <a:off x="4251960" y="1783080"/>
            <a:ext cx="3566160" cy="54864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2"/>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229" name="Google Shape;229;p12"/>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230" name="Google Shape;230;p12"/>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US.46:</a:t>
            </a:r>
            <a:endParaRPr b="0" i="0" sz="1000" u="none" cap="none" strike="noStrike">
              <a:solidFill>
                <a:schemeClr val="dk1"/>
              </a:solidFill>
              <a:latin typeface="Calibri"/>
              <a:ea typeface="Calibri"/>
              <a:cs typeface="Calibri"/>
              <a:sym typeface="Calibri"/>
            </a:endParaRPr>
          </a:p>
        </p:txBody>
      </p:sp>
      <p:sp>
        <p:nvSpPr>
          <p:cNvPr id="231" name="Google Shape;231;p12"/>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Isolationists whose influence FDR steadily eroded, and Axis powers whose enemies were now backed by American industrial might.</a:t>
            </a:r>
            <a:endParaRPr b="0" i="0" sz="1200" u="none" cap="none" strike="noStrike">
              <a:solidFill>
                <a:schemeClr val="dk1"/>
              </a:solidFill>
              <a:latin typeface="Calibri"/>
              <a:ea typeface="Calibri"/>
              <a:cs typeface="Calibri"/>
              <a:sym typeface="Calibri"/>
            </a:endParaRPr>
          </a:p>
        </p:txBody>
      </p:sp>
      <p:sp>
        <p:nvSpPr>
          <p:cNvPr id="232" name="Google Shape;232;p12"/>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2"/>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2"/>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235" name="Google Shape;235;p12"/>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236" name="Google Shape;236;p12"/>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US.46:</a:t>
            </a:r>
            <a:endParaRPr b="0" i="0" sz="1000" u="none" cap="none" strike="noStrike">
              <a:solidFill>
                <a:schemeClr val="dk1"/>
              </a:solidFill>
              <a:latin typeface="Calibri"/>
              <a:ea typeface="Calibri"/>
              <a:cs typeface="Calibri"/>
              <a:sym typeface="Calibri"/>
            </a:endParaRPr>
          </a:p>
        </p:txBody>
      </p:sp>
      <p:sp>
        <p:nvSpPr>
          <p:cNvPr id="237" name="Google Shape;237;p12"/>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President Roosevelt, who steered a neutral nation toward the Allies, and Congress, which passed Lend-Lease over isolationist objection.</a:t>
            </a:r>
            <a:endParaRPr b="0" i="0" sz="1200" u="none" cap="none" strike="noStrike">
              <a:solidFill>
                <a:schemeClr val="dk1"/>
              </a:solidFill>
              <a:latin typeface="Calibri"/>
              <a:ea typeface="Calibri"/>
              <a:cs typeface="Calibri"/>
              <a:sym typeface="Calibri"/>
            </a:endParaRPr>
          </a:p>
        </p:txBody>
      </p:sp>
      <p:sp>
        <p:nvSpPr>
          <p:cNvPr id="238" name="Google Shape;238;p12"/>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C7D4E0"/>
                </a:solidFill>
                <a:latin typeface="Trebuchet MS"/>
                <a:ea typeface="Trebuchet MS"/>
                <a:cs typeface="Trebuchet MS"/>
                <a:sym typeface="Trebuchet MS"/>
              </a:rPr>
              <a:t>Anchor: The Four Freedoms Speech, President Franklin D. Roosevelt, January 6, 1941 (National Archives)</a:t>
            </a:r>
            <a:endParaRPr b="0" i="0" sz="1000" u="none" cap="none" strike="noStrike">
              <a:solidFill>
                <a:schemeClr val="dk1"/>
              </a:solidFill>
              <a:latin typeface="Calibri"/>
              <a:ea typeface="Calibri"/>
              <a:cs typeface="Calibri"/>
              <a:sym typeface="Calibri"/>
            </a:endParaRPr>
          </a:p>
        </p:txBody>
      </p:sp>
      <p:sp>
        <p:nvSpPr>
          <p:cNvPr id="239" name="Google Shape;239;p1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40" name="Google Shape;240;p1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17</a:t>
            </a:r>
            <a:endParaRPr b="0" i="0" sz="900" u="none" cap="none" strike="noStrike">
              <a:solidFill>
                <a:schemeClr val="dk1"/>
              </a:solidFill>
              <a:latin typeface="Calibri"/>
              <a:ea typeface="Calibri"/>
              <a:cs typeface="Calibri"/>
              <a:sym typeface="Calibri"/>
            </a:endParaRPr>
          </a:p>
        </p:txBody>
      </p:sp>
      <p:sp>
        <p:nvSpPr>
          <p:cNvPr id="241" name="TextBox 240"/>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Constructed Response (Act 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11</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938528"/>
            <a:ext cx="137160" cy="292608"/>
          </a:xfrm>
          <a:prstGeom prst="rect">
            <a:avLst/>
          </a:prstGeom>
          <a:solidFill>
            <a:srgbClr val="B22234"/>
          </a:solidFill>
          <a:ln/>
        </p:spPr>
        <p:txBody>
          <a:bodyPr/>
          <a:p/>
        </p:txBody>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Quarantine Speech</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Discurso de la Cuarentena</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FDR's 1937 address proposing that peace-loving nations 'quarantine' aggressor states to halt the spread of international lawlessness.</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938528"/>
            <a:ext cx="137160" cy="292608"/>
          </a:xfrm>
          <a:prstGeom prst="rect">
            <a:avLst/>
          </a:prstGeom>
          <a:solidFill>
            <a:srgbClr val="B22234"/>
          </a:solidFill>
          <a:ln/>
        </p:spPr>
        <p:txBody>
          <a:bodyPr/>
          <a:p/>
        </p:txBody>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Four Freedoms Speech</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Discurso de las Cuatro Libertades</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FDR's 1941 speech defining American war aims: freedom of speech, freedom of worship, freedom from want, and freedom from fear.</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938528"/>
            <a:ext cx="137160" cy="292608"/>
          </a:xfrm>
          <a:prstGeom prst="rect">
            <a:avLst/>
          </a:prstGeom>
          <a:solidFill>
            <a:srgbClr val="B22234"/>
          </a:solidFill>
          <a:ln/>
        </p:spPr>
        <p:txBody>
          <a:bodyPr/>
          <a:p/>
        </p:txBody>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Lend-Lease Act (1941)</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Ley de Préstamo y Arriendo (1941)</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U.S. program allowing the President to lend or lease war supplies to any nation deemed vital to American defense, primarily Britain and the Soviet Union.</a:t>
            </a:r>
            <a:endParaRPr lang="en-US" sz="1300" dirty="0"/>
          </a:p>
        </p:txBody>
      </p:sp>
      <p:sp>
        <p:nvSpPr>
          <p:cNvPr id="25" name="TextBox 24"/>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Vocabulary (Act 1–2)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18</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How did the Atlantic Charter establish principles for the post-war international order?</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It focused only on immediate military strategy, yet the available evidence points to a different conclusion, which contradicts the primary source evidence from this era</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txBody>
          <a:bodyPr/>
          <a:p/>
        </p:txBody>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It established principles including self-determination, free trade, collective security, and disarmament that became the foundation for the United Nations and post-war international law</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txBody>
          <a:bodyPr/>
          <a:p/>
        </p:txBody>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It divided the world into American and British spheres of influence, despite the fact that multiple sources contradict this view, but closer analysis reveals a more complicated historical reality</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txBody>
          <a:bodyPr/>
          <a:p/>
        </p:txBody>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It had no lasting impact on international relations, though this interpretation lacks supporting historical evidence, although historical sources do not support this conclusion</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
        <p:nvSpPr>
          <p:cNvPr id="22" name="TextBox 21"/>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Practice Quiz (Act 6)</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245" name="Shape 245"/>
        <p:cNvGrpSpPr/>
        <p:nvPr/>
      </p:nvGrpSpPr>
      <p:grpSpPr>
        <a:xfrm>
          <a:off x="0" y="0"/>
          <a:ext cx="0" cy="0"/>
          <a:chOff x="0" y="0"/>
          <a:chExt cx="0" cy="0"/>
        </a:xfrm>
      </p:grpSpPr>
      <p:sp>
        <p:nvSpPr>
          <p:cNvPr id="246" name="Google Shape;246;p13"/>
          <p:cNvSpPr/>
          <p:nvPr/>
        </p:nvSpPr>
        <p:spPr>
          <a:xfrm>
            <a:off x="0" y="2331720"/>
            <a:ext cx="12191695" cy="73152"/>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3"/>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6000"/>
              <a:buFont typeface="Georgia"/>
              <a:buNone/>
            </a:pPr>
            <a:r>
              <a:rPr b="1" i="0" lang="en-US" sz="6000" u="none" cap="none" strike="noStrike">
                <a:solidFill>
                  <a:srgbClr val="C89B3C"/>
                </a:solidFill>
                <a:latin typeface="Georgia"/>
                <a:ea typeface="Georgia"/>
                <a:cs typeface="Georgia"/>
                <a:sym typeface="Georgia"/>
              </a:rPr>
              <a:t>US.47</a:t>
            </a:r>
            <a:endParaRPr b="0" i="0" sz="6000" u="none" cap="none" strike="noStrike">
              <a:solidFill>
                <a:schemeClr val="dk1"/>
              </a:solidFill>
              <a:latin typeface="Calibri"/>
              <a:ea typeface="Calibri"/>
              <a:cs typeface="Calibri"/>
              <a:sym typeface="Calibri"/>
            </a:endParaRPr>
          </a:p>
        </p:txBody>
      </p:sp>
      <p:sp>
        <p:nvSpPr>
          <p:cNvPr id="248" name="Google Shape;248;p13"/>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U.S. Response to the Holocaust</a:t>
            </a:r>
            <a:endParaRPr b="0" i="0" sz="2600" u="none" cap="none" strike="noStrike">
              <a:solidFill>
                <a:schemeClr val="dk1"/>
              </a:solidFill>
              <a:latin typeface="Calibri"/>
              <a:ea typeface="Calibri"/>
              <a:cs typeface="Calibri"/>
              <a:sym typeface="Calibri"/>
            </a:endParaRPr>
          </a:p>
        </p:txBody>
      </p:sp>
      <p:sp>
        <p:nvSpPr>
          <p:cNvPr id="249" name="Google Shape;249;p13"/>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250" name="Google Shape;250;p13"/>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C7D4E0"/>
                </a:solidFill>
                <a:latin typeface="Calibri"/>
                <a:ea typeface="Calibri"/>
                <a:cs typeface="Calibri"/>
                <a:sym typeface="Calibri"/>
              </a:rPr>
              <a:t>US.47 – Analyze the response of the U.S. to the plight of European Jews before the start of the war, the U.S. liberation of concentration camps during the war, and the immigration of Holocaust survivors after the war.</a:t>
            </a:r>
            <a:endParaRPr b="0" i="0" sz="1600" u="none" cap="none" strike="noStrike">
              <a:solidFill>
                <a:schemeClr val="dk1"/>
              </a:solidFill>
              <a:latin typeface="Calibri"/>
              <a:ea typeface="Calibri"/>
              <a:cs typeface="Calibri"/>
              <a:sym typeface="Calibri"/>
            </a:endParaRPr>
          </a:p>
        </p:txBody>
      </p:sp>
      <p:sp>
        <p:nvSpPr>
          <p:cNvPr id="251" name="Google Shape;251;p13"/>
          <p:cNvSpPr/>
          <p:nvPr/>
        </p:nvSpPr>
        <p:spPr>
          <a:xfrm>
            <a:off x="457200" y="4892040"/>
            <a:ext cx="11247120" cy="123444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3"/>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253" name="Google Shape;253;p13"/>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1400"/>
              <a:buFont typeface="Calibri"/>
              <a:buNone/>
            </a:pPr>
            <a:r>
              <a:rPr b="1" i="0" lang="en-US" sz="1400" u="none" cap="none" strike="noStrike">
                <a:solidFill>
                  <a:srgbClr val="1B2A4A"/>
                </a:solidFill>
                <a:latin typeface="Calibri"/>
                <a:ea typeface="Calibri"/>
                <a:cs typeface="Calibri"/>
                <a:sym typeface="Calibri"/>
              </a:rPr>
              <a:t>I can analyze the response of the U.S. to the plight of European Jews before the war, the liberation of concentration camps during the war, and the immigration of Holocaust survivors after the war.</a:t>
            </a:r>
            <a:endParaRPr b="0" i="0" sz="1400" u="none" cap="none" strike="noStrike">
              <a:solidFill>
                <a:schemeClr val="dk1"/>
              </a:solidFill>
              <a:latin typeface="Calibri"/>
              <a:ea typeface="Calibri"/>
              <a:cs typeface="Calibri"/>
              <a:sym typeface="Calibri"/>
            </a:endParaRPr>
          </a:p>
        </p:txBody>
      </p:sp>
      <p:sp>
        <p:nvSpPr>
          <p:cNvPr id="254" name="Google Shape;254;p1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55" name="Google Shape;255;p1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60" name="Shape 260"/>
        <p:cNvGrpSpPr/>
        <p:nvPr/>
      </p:nvGrpSpPr>
      <p:grpSpPr>
        <a:xfrm>
          <a:off x="0" y="0"/>
          <a:ext cx="0" cy="0"/>
          <a:chOff x="0" y="0"/>
          <a:chExt cx="0" cy="0"/>
        </a:xfrm>
      </p:grpSpPr>
      <p:sp>
        <p:nvSpPr>
          <p:cNvPr id="261" name="Google Shape;261;p14"/>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4"/>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4"/>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264" name="Google Shape;264;p14"/>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US.47</a:t>
            </a:r>
            <a:endParaRPr b="0" i="0" sz="1200" u="none" cap="none" strike="noStrike">
              <a:solidFill>
                <a:schemeClr val="dk1"/>
              </a:solidFill>
              <a:latin typeface="Calibri"/>
              <a:ea typeface="Calibri"/>
              <a:cs typeface="Calibri"/>
              <a:sym typeface="Calibri"/>
            </a:endParaRPr>
          </a:p>
        </p:txBody>
      </p:sp>
      <p:sp>
        <p:nvSpPr>
          <p:cNvPr id="265" name="Google Shape;265;p14"/>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Before the war, the National Origins Act (1924) quota system sharply limited immigration from where most Jews lived, and the U.S. turned away refugees — famously the ship the St. Louis (1939).</a:t>
            </a:r>
            <a:endParaRPr b="0" i="0" sz="2300" u="none" cap="none" strike="noStrike">
              <a:solidFill>
                <a:schemeClr val="dk1"/>
              </a:solidFill>
              <a:latin typeface="Calibri"/>
              <a:ea typeface="Calibri"/>
              <a:cs typeface="Calibri"/>
              <a:sym typeface="Calibri"/>
            </a:endParaRPr>
          </a:p>
        </p:txBody>
      </p:sp>
      <p:sp>
        <p:nvSpPr>
          <p:cNvPr id="266" name="Google Shape;266;p14"/>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4"/>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4"/>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269" name="Google Shape;269;p14"/>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Before the war, the National Origins Act (1924) quota system sharply limited immigration from where most Jews lived, and the U.S. turned away refugees — famously the ship the St. Louis (1939).</a:t>
            </a:r>
            <a:endParaRPr b="0" i="0" sz="2200" u="none" cap="none" strike="noStrike">
              <a:solidFill>
                <a:schemeClr val="dk1"/>
              </a:solidFill>
              <a:latin typeface="Calibri"/>
              <a:ea typeface="Calibri"/>
              <a:cs typeface="Calibri"/>
              <a:sym typeface="Calibri"/>
            </a:endParaRPr>
          </a:p>
        </p:txBody>
      </p:sp>
      <p:sp>
        <p:nvSpPr>
          <p:cNvPr id="270" name="Google Shape;270;p14"/>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US.47 · DI 1 of 4 · U.S. Response Before the War</a:t>
            </a:r>
            <a:endParaRPr b="0" i="0" sz="1000" u="none" cap="none" strike="noStrike">
              <a:solidFill>
                <a:schemeClr val="dk1"/>
              </a:solidFill>
              <a:latin typeface="Calibri"/>
              <a:ea typeface="Calibri"/>
              <a:cs typeface="Calibri"/>
              <a:sym typeface="Calibri"/>
            </a:endParaRPr>
          </a:p>
        </p:txBody>
      </p:sp>
      <p:sp>
        <p:nvSpPr>
          <p:cNvPr id="271" name="Google Shape;271;p1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72" name="Google Shape;272;p1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21</a:t>
            </a:r>
            <a:endParaRPr b="0" i="0" sz="900" u="none" cap="none" strike="noStrike">
              <a:solidFill>
                <a:schemeClr val="dk1"/>
              </a:solidFill>
              <a:latin typeface="Calibri"/>
              <a:ea typeface="Calibri"/>
              <a:cs typeface="Calibri"/>
              <a:sym typeface="Calibri"/>
            </a:endParaRPr>
          </a:p>
        </p:txBody>
      </p:sp>
      <p:sp>
        <p:nvSpPr>
          <p:cNvPr id="273" name="TextBox 272"/>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77" name="Shape 277"/>
        <p:cNvGrpSpPr/>
        <p:nvPr/>
      </p:nvGrpSpPr>
      <p:grpSpPr>
        <a:xfrm>
          <a:off x="0" y="0"/>
          <a:ext cx="0" cy="0"/>
          <a:chOff x="0" y="0"/>
          <a:chExt cx="0" cy="0"/>
        </a:xfrm>
      </p:grpSpPr>
      <p:sp>
        <p:nvSpPr>
          <p:cNvPr id="278" name="Google Shape;278;p15"/>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5"/>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5"/>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281" name="Google Shape;281;p15"/>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US.47</a:t>
            </a:r>
            <a:endParaRPr b="0" i="0" sz="1200" u="none" cap="none" strike="noStrike">
              <a:solidFill>
                <a:schemeClr val="dk1"/>
              </a:solidFill>
              <a:latin typeface="Calibri"/>
              <a:ea typeface="Calibri"/>
              <a:cs typeface="Calibri"/>
              <a:sym typeface="Calibri"/>
            </a:endParaRPr>
          </a:p>
        </p:txBody>
      </p:sp>
      <p:sp>
        <p:nvSpPr>
          <p:cNvPr id="282" name="Google Shape;282;p15"/>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In 1944–45 Allied troops liberated the camps; U.S. forces reached Buchenwald, Dachau, and Mauthausen, finding mass death, disease, and survivors — evidence of the Holocaust's horror.</a:t>
            </a:r>
            <a:endParaRPr b="0" i="0" sz="2300" u="none" cap="none" strike="noStrike">
              <a:solidFill>
                <a:schemeClr val="dk1"/>
              </a:solidFill>
              <a:latin typeface="Calibri"/>
              <a:ea typeface="Calibri"/>
              <a:cs typeface="Calibri"/>
              <a:sym typeface="Calibri"/>
            </a:endParaRPr>
          </a:p>
        </p:txBody>
      </p:sp>
      <p:pic>
        <p:nvPicPr>
          <p:cNvPr descr="hh-web/public/images/textbook/unit-6/buchenwald-liberation-1945.jpg" id="283" name="Google Shape;283;p15"/>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284" name="Google Shape;284;p15"/>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900"/>
              <a:buFont typeface="Trebuchet MS"/>
              <a:buNone/>
            </a:pPr>
            <a:r>
              <a:rPr b="1" i="0" lang="en-US" sz="900" u="none" cap="none" strike="noStrike">
                <a:solidFill>
                  <a:srgbClr val="1B2A4A"/>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285" name="Google Shape;285;p15"/>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US.47 · DI 2 of 4 · Liberation of the Concentration Camps</a:t>
            </a:r>
            <a:endParaRPr b="0" i="0" sz="1000" u="none" cap="none" strike="noStrike">
              <a:solidFill>
                <a:schemeClr val="dk1"/>
              </a:solidFill>
              <a:latin typeface="Calibri"/>
              <a:ea typeface="Calibri"/>
              <a:cs typeface="Calibri"/>
              <a:sym typeface="Calibri"/>
            </a:endParaRPr>
          </a:p>
        </p:txBody>
      </p:sp>
      <p:sp>
        <p:nvSpPr>
          <p:cNvPr id="286" name="Google Shape;286;p1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87" name="Google Shape;287;p1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22</a:t>
            </a:r>
            <a:endParaRPr b="0" i="0" sz="900" u="none" cap="none" strike="noStrike">
              <a:solidFill>
                <a:schemeClr val="dk1"/>
              </a:solidFill>
              <a:latin typeface="Calibri"/>
              <a:ea typeface="Calibri"/>
              <a:cs typeface="Calibri"/>
              <a:sym typeface="Calibri"/>
            </a:endParaRPr>
          </a:p>
        </p:txBody>
      </p:sp>
      <p:sp>
        <p:nvSpPr>
          <p:cNvPr id="288" name="TextBox 287"/>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92" name="Shape 292"/>
        <p:cNvGrpSpPr/>
        <p:nvPr/>
      </p:nvGrpSpPr>
      <p:grpSpPr>
        <a:xfrm>
          <a:off x="0" y="0"/>
          <a:ext cx="0" cy="0"/>
          <a:chOff x="0" y="0"/>
          <a:chExt cx="0" cy="0"/>
        </a:xfrm>
      </p:grpSpPr>
      <p:sp>
        <p:nvSpPr>
          <p:cNvPr id="293" name="Google Shape;293;p16"/>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6"/>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6"/>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296" name="Google Shape;296;p16"/>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US.47</a:t>
            </a:r>
            <a:endParaRPr b="0" i="0" sz="1200" u="none" cap="none" strike="noStrike">
              <a:solidFill>
                <a:schemeClr val="dk1"/>
              </a:solidFill>
              <a:latin typeface="Calibri"/>
              <a:ea typeface="Calibri"/>
              <a:cs typeface="Calibri"/>
              <a:sym typeface="Calibri"/>
            </a:endParaRPr>
          </a:p>
        </p:txBody>
      </p:sp>
      <p:sp>
        <p:nvSpPr>
          <p:cNvPr id="297" name="Google Shape;297;p16"/>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The Displaced Persons Act (1948, expanded 1950) admitted survivors and other displaced persons, though early quotas favored some refugees over Jews.</a:t>
            </a:r>
            <a:endParaRPr b="0" i="0" sz="2300" u="none" cap="none" strike="noStrike">
              <a:solidFill>
                <a:schemeClr val="dk1"/>
              </a:solidFill>
              <a:latin typeface="Calibri"/>
              <a:ea typeface="Calibri"/>
              <a:cs typeface="Calibri"/>
              <a:sym typeface="Calibri"/>
            </a:endParaRPr>
          </a:p>
        </p:txBody>
      </p:sp>
      <p:sp>
        <p:nvSpPr>
          <p:cNvPr id="298" name="Google Shape;298;p16"/>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6"/>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6"/>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301" name="Google Shape;301;p16"/>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The Displaced Persons Act (1948, expanded 1950) admitted survivors and other displaced persons, though early quotas favored some refugees over Jews.</a:t>
            </a:r>
            <a:endParaRPr b="0" i="0" sz="2200" u="none" cap="none" strike="noStrike">
              <a:solidFill>
                <a:schemeClr val="dk1"/>
              </a:solidFill>
              <a:latin typeface="Calibri"/>
              <a:ea typeface="Calibri"/>
              <a:cs typeface="Calibri"/>
              <a:sym typeface="Calibri"/>
            </a:endParaRPr>
          </a:p>
        </p:txBody>
      </p:sp>
      <p:sp>
        <p:nvSpPr>
          <p:cNvPr id="302" name="Google Shape;302;p16"/>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US.47 · DI 3 of 4 · Post-War Immigration of Survivors</a:t>
            </a:r>
            <a:endParaRPr b="0" i="0" sz="1000" u="none" cap="none" strike="noStrike">
              <a:solidFill>
                <a:schemeClr val="dk1"/>
              </a:solidFill>
              <a:latin typeface="Calibri"/>
              <a:ea typeface="Calibri"/>
              <a:cs typeface="Calibri"/>
              <a:sym typeface="Calibri"/>
            </a:endParaRPr>
          </a:p>
        </p:txBody>
      </p:sp>
      <p:sp>
        <p:nvSpPr>
          <p:cNvPr id="303" name="Google Shape;303;p1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04" name="Google Shape;304;p1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23</a:t>
            </a:r>
            <a:endParaRPr b="0" i="0" sz="900" u="none" cap="none" strike="noStrike">
              <a:solidFill>
                <a:schemeClr val="dk1"/>
              </a:solidFill>
              <a:latin typeface="Calibri"/>
              <a:ea typeface="Calibri"/>
              <a:cs typeface="Calibri"/>
              <a:sym typeface="Calibri"/>
            </a:endParaRPr>
          </a:p>
        </p:txBody>
      </p:sp>
      <p:sp>
        <p:nvSpPr>
          <p:cNvPr id="305" name="TextBox 304"/>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09" name="Shape 309"/>
        <p:cNvGrpSpPr/>
        <p:nvPr/>
      </p:nvGrpSpPr>
      <p:grpSpPr>
        <a:xfrm>
          <a:off x="0" y="0"/>
          <a:ext cx="0" cy="0"/>
          <a:chOff x="0" y="0"/>
          <a:chExt cx="0" cy="0"/>
        </a:xfrm>
      </p:grpSpPr>
      <p:sp>
        <p:nvSpPr>
          <p:cNvPr id="310" name="Google Shape;310;p17"/>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7"/>
          <p:cNvSpPr/>
          <p:nvPr/>
        </p:nvSpPr>
        <p:spPr>
          <a:xfrm>
            <a:off x="0" y="155448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7"/>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313" name="Google Shape;313;p17"/>
          <p:cNvSpPr/>
          <p:nvPr/>
        </p:nvSpPr>
        <p:spPr>
          <a:xfrm>
            <a:off x="3886200" y="27432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US.47</a:t>
            </a:r>
            <a:endParaRPr b="0" i="0" sz="1200" u="none" cap="none" strike="noStrike">
              <a:solidFill>
                <a:schemeClr val="dk1"/>
              </a:solidFill>
              <a:latin typeface="Calibri"/>
              <a:ea typeface="Calibri"/>
              <a:cs typeface="Calibri"/>
              <a:sym typeface="Calibri"/>
            </a:endParaRPr>
          </a:p>
        </p:txBody>
      </p:sp>
      <p:sp>
        <p:nvSpPr>
          <p:cNvPr id="314" name="Google Shape;314;p17"/>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Read Elie Wiesel’s testimony of liberation — consider the witness, the moment, and the purpose before you read the account.</a:t>
            </a:r>
            <a:endParaRPr b="0" i="0" sz="2000" u="none" cap="none" strike="noStrike">
              <a:solidFill>
                <a:schemeClr val="dk1"/>
              </a:solidFill>
              <a:latin typeface="Calibri"/>
              <a:ea typeface="Calibri"/>
              <a:cs typeface="Calibri"/>
              <a:sym typeface="Calibri"/>
            </a:endParaRPr>
          </a:p>
        </p:txBody>
      </p:sp>
      <p:sp>
        <p:nvSpPr>
          <p:cNvPr id="315" name="Google Shape;315;p17"/>
          <p:cNvSpPr/>
          <p:nvPr/>
        </p:nvSpPr>
        <p:spPr>
          <a:xfrm>
            <a:off x="45720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316" name="Google Shape;316;p17"/>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Elie Wiesel</a:t>
            </a:r>
            <a:endParaRPr b="0" i="0" sz="1200" u="none" cap="none" strike="noStrike">
              <a:solidFill>
                <a:schemeClr val="dk1"/>
              </a:solidFill>
              <a:latin typeface="Calibri"/>
              <a:ea typeface="Calibri"/>
              <a:cs typeface="Calibri"/>
              <a:sym typeface="Calibri"/>
            </a:endParaRPr>
          </a:p>
        </p:txBody>
      </p:sp>
      <p:sp>
        <p:nvSpPr>
          <p:cNvPr id="317" name="Google Shape;317;p17"/>
          <p:cNvSpPr/>
          <p:nvPr/>
        </p:nvSpPr>
        <p:spPr>
          <a:xfrm>
            <a:off x="425196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318" name="Google Shape;318;p17"/>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1945 (describing liberation)</a:t>
            </a:r>
            <a:endParaRPr b="0" i="0" sz="1200" u="none" cap="none" strike="noStrike">
              <a:solidFill>
                <a:schemeClr val="dk1"/>
              </a:solidFill>
              <a:latin typeface="Calibri"/>
              <a:ea typeface="Calibri"/>
              <a:cs typeface="Calibri"/>
              <a:sym typeface="Calibri"/>
            </a:endParaRPr>
          </a:p>
        </p:txBody>
      </p:sp>
      <p:sp>
        <p:nvSpPr>
          <p:cNvPr id="319" name="Google Shape;319;p17"/>
          <p:cNvSpPr/>
          <p:nvPr/>
        </p:nvSpPr>
        <p:spPr>
          <a:xfrm>
            <a:off x="804672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320" name="Google Shape;320;p17"/>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Consider the author's purpose and audience before reading the words.</a:t>
            </a:r>
            <a:endParaRPr b="0" i="0" sz="1200" u="none" cap="none" strike="noStrike">
              <a:solidFill>
                <a:schemeClr val="dk1"/>
              </a:solidFill>
              <a:latin typeface="Calibri"/>
              <a:ea typeface="Calibri"/>
              <a:cs typeface="Calibri"/>
              <a:sym typeface="Calibri"/>
            </a:endParaRPr>
          </a:p>
        </p:txBody>
      </p:sp>
      <p:sp>
        <p:nvSpPr>
          <p:cNvPr id="321" name="Google Shape;321;p17"/>
          <p:cNvSpPr/>
          <p:nvPr/>
        </p:nvSpPr>
        <p:spPr>
          <a:xfrm>
            <a:off x="457200" y="3200400"/>
            <a:ext cx="5532120" cy="2651760"/>
          </a:xfrm>
          <a:prstGeom prst="rect">
            <a:avLst/>
          </a:prstGeom>
          <a:solidFill>
            <a:srgbClr val="FFFFFF"/>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7"/>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Testimony of Holocaust Survivor</a:t>
            </a:r>
            <a:endParaRPr b="0" i="0" sz="1400" u="none" cap="none" strike="noStrike">
              <a:solidFill>
                <a:schemeClr val="dk1"/>
              </a:solidFill>
              <a:latin typeface="Calibri"/>
              <a:ea typeface="Calibri"/>
              <a:cs typeface="Calibri"/>
              <a:sym typeface="Calibri"/>
            </a:endParaRPr>
          </a:p>
        </p:txBody>
      </p:sp>
      <p:sp>
        <p:nvSpPr>
          <p:cNvPr id="323" name="Google Shape;323;p17"/>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Elie Wiesel · 1945 (describing liberation)</a:t>
            </a:r>
            <a:endParaRPr b="0" i="0" sz="900" u="none" cap="none" strike="noStrike">
              <a:solidFill>
                <a:schemeClr val="dk1"/>
              </a:solidFill>
              <a:latin typeface="Calibri"/>
              <a:ea typeface="Calibri"/>
              <a:cs typeface="Calibri"/>
              <a:sym typeface="Calibri"/>
            </a:endParaRPr>
          </a:p>
        </p:txBody>
      </p:sp>
      <p:sp>
        <p:nvSpPr>
          <p:cNvPr id="324" name="Google Shape;324;p17"/>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"On April 10, there were still some 20,000 prisoners in the camp, including several hundred children. It was decided to evacuate all of us at once... On April 11, at about six o'clock in the evening, the first American tanks stood at the gates of Buchenwald. Our first act as free men was to throw ourselves onto the provisions. That's all we thought about. Nothing else mattered."</a:t>
            </a:r>
            <a:endParaRPr b="0" i="0" sz="1100" u="none" cap="none" strike="noStrike">
              <a:solidFill>
                <a:schemeClr val="dk1"/>
              </a:solidFill>
              <a:latin typeface="Calibri"/>
              <a:ea typeface="Calibri"/>
              <a:cs typeface="Calibri"/>
              <a:sym typeface="Calibri"/>
            </a:endParaRPr>
          </a:p>
        </p:txBody>
      </p:sp>
      <p:sp>
        <p:nvSpPr>
          <p:cNvPr id="325" name="Google Shape;325;p17">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United States Holocaust Memorial Museum</a:t>
            </a:r>
            <a:endParaRPr b="0" i="0" sz="900" u="none" cap="none" strike="noStrike">
              <a:solidFill>
                <a:schemeClr val="dk1"/>
              </a:solidFill>
              <a:latin typeface="Calibri"/>
              <a:ea typeface="Calibri"/>
              <a:cs typeface="Calibri"/>
              <a:sym typeface="Calibri"/>
            </a:endParaRPr>
          </a:p>
        </p:txBody>
      </p:sp>
      <p:sp>
        <p:nvSpPr>
          <p:cNvPr id="326" name="Google Shape;326;p1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27" name="Google Shape;327;p1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25</a:t>
            </a:r>
            <a:endParaRPr b="0" i="0" sz="900" u="none" cap="none" strike="noStrike">
              <a:solidFill>
                <a:schemeClr val="dk1"/>
              </a:solidFill>
              <a:latin typeface="Calibri"/>
              <a:ea typeface="Calibri"/>
              <a:cs typeface="Calibri"/>
              <a:sym typeface="Calibri"/>
            </a:endParaRPr>
          </a:p>
        </p:txBody>
      </p:sp>
      <p:sp>
        <p:nvSpPr>
          <p:cNvPr id="328" name="TextBox 327"/>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Primary Source &amp; HIPPO (Act 5)</a:t>
            </a: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332" name="Shape 332"/>
        <p:cNvGrpSpPr/>
        <p:nvPr/>
      </p:nvGrpSpPr>
      <p:grpSpPr>
        <a:xfrm>
          <a:off x="0" y="0"/>
          <a:ext cx="0" cy="0"/>
          <a:chOff x="0" y="0"/>
          <a:chExt cx="0" cy="0"/>
        </a:xfrm>
      </p:grpSpPr>
      <p:sp>
        <p:nvSpPr>
          <p:cNvPr id="333" name="Google Shape;333;p18"/>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334" name="Google Shape;334;p18"/>
          <p:cNvSpPr/>
          <p:nvPr/>
        </p:nvSpPr>
        <p:spPr>
          <a:xfrm>
            <a:off x="3886200" y="27432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US.47</a:t>
            </a:r>
            <a:endParaRPr b="0" i="0" sz="1200" u="none" cap="none" strike="noStrike">
              <a:solidFill>
                <a:schemeClr val="dk1"/>
              </a:solidFill>
              <a:latin typeface="Calibri"/>
              <a:ea typeface="Calibri"/>
              <a:cs typeface="Calibri"/>
              <a:sym typeface="Calibri"/>
            </a:endParaRPr>
          </a:p>
        </p:txBody>
      </p:sp>
      <p:sp>
        <p:nvSpPr>
          <p:cNvPr id="335" name="Google Shape;335;p18"/>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C7D4E0"/>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336" name="Google Shape;336;p18"/>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8"/>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8"/>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339" name="Google Shape;339;p18"/>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340" name="Google Shape;340;p18"/>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US.47:</a:t>
            </a:r>
            <a:endParaRPr b="0" i="0" sz="1000" u="none" cap="none" strike="noStrike">
              <a:solidFill>
                <a:schemeClr val="dk1"/>
              </a:solidFill>
              <a:latin typeface="Calibri"/>
              <a:ea typeface="Calibri"/>
              <a:cs typeface="Calibri"/>
              <a:sym typeface="Calibri"/>
            </a:endParaRPr>
          </a:p>
        </p:txBody>
      </p:sp>
      <p:sp>
        <p:nvSpPr>
          <p:cNvPr id="341" name="Google Shape;341;p18"/>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Survivors eventually admitted after the war, and postwar human-rights and refugee efforts that grew from the world’s reckoning with the Holocaust.</a:t>
            </a:r>
            <a:endParaRPr b="0" i="0" sz="1200" u="none" cap="none" strike="noStrike">
              <a:solidFill>
                <a:schemeClr val="dk1"/>
              </a:solidFill>
              <a:latin typeface="Calibri"/>
              <a:ea typeface="Calibri"/>
              <a:cs typeface="Calibri"/>
              <a:sym typeface="Calibri"/>
            </a:endParaRPr>
          </a:p>
        </p:txBody>
      </p:sp>
      <p:sp>
        <p:nvSpPr>
          <p:cNvPr id="342" name="Google Shape;342;p18"/>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8"/>
          <p:cNvSpPr/>
          <p:nvPr/>
        </p:nvSpPr>
        <p:spPr>
          <a:xfrm>
            <a:off x="4251960" y="1783080"/>
            <a:ext cx="3566160" cy="54864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8"/>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345" name="Google Shape;345;p18"/>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346" name="Google Shape;346;p18"/>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US.47:</a:t>
            </a:r>
            <a:endParaRPr b="0" i="0" sz="1000" u="none" cap="none" strike="noStrike">
              <a:solidFill>
                <a:schemeClr val="dk1"/>
              </a:solidFill>
              <a:latin typeface="Calibri"/>
              <a:ea typeface="Calibri"/>
              <a:cs typeface="Calibri"/>
              <a:sym typeface="Calibri"/>
            </a:endParaRPr>
          </a:p>
        </p:txBody>
      </p:sp>
      <p:sp>
        <p:nvSpPr>
          <p:cNvPr id="347" name="Google Shape;347;p18"/>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Six million murdered European Jews and millions of other victims, and refugees turned away by restrictive prewar immigration quotas.</a:t>
            </a:r>
            <a:endParaRPr b="0" i="0" sz="1200" u="none" cap="none" strike="noStrike">
              <a:solidFill>
                <a:schemeClr val="dk1"/>
              </a:solidFill>
              <a:latin typeface="Calibri"/>
              <a:ea typeface="Calibri"/>
              <a:cs typeface="Calibri"/>
              <a:sym typeface="Calibri"/>
            </a:endParaRPr>
          </a:p>
        </p:txBody>
      </p:sp>
      <p:sp>
        <p:nvSpPr>
          <p:cNvPr id="348" name="Google Shape;348;p18"/>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8"/>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8"/>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351" name="Google Shape;351;p18"/>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352" name="Google Shape;352;p18"/>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US.47:</a:t>
            </a:r>
            <a:endParaRPr b="0" i="0" sz="1000" u="none" cap="none" strike="noStrike">
              <a:solidFill>
                <a:schemeClr val="dk1"/>
              </a:solidFill>
              <a:latin typeface="Calibri"/>
              <a:ea typeface="Calibri"/>
              <a:cs typeface="Calibri"/>
              <a:sym typeface="Calibri"/>
            </a:endParaRPr>
          </a:p>
        </p:txBody>
      </p:sp>
      <p:sp>
        <p:nvSpPr>
          <p:cNvPr id="353" name="Google Shape;353;p18"/>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Nazi Germany, which carried out genocide; and the U.S. government, whose immigration quotas and wartime priorities shaped a limited response.</a:t>
            </a:r>
            <a:endParaRPr b="0" i="0" sz="1200" u="none" cap="none" strike="noStrike">
              <a:solidFill>
                <a:schemeClr val="dk1"/>
              </a:solidFill>
              <a:latin typeface="Calibri"/>
              <a:ea typeface="Calibri"/>
              <a:cs typeface="Calibri"/>
              <a:sym typeface="Calibri"/>
            </a:endParaRPr>
          </a:p>
        </p:txBody>
      </p:sp>
      <p:sp>
        <p:nvSpPr>
          <p:cNvPr id="354" name="Google Shape;354;p18"/>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C7D4E0"/>
                </a:solidFill>
                <a:latin typeface="Trebuchet MS"/>
                <a:ea typeface="Trebuchet MS"/>
                <a:cs typeface="Trebuchet MS"/>
                <a:sym typeface="Trebuchet MS"/>
              </a:rPr>
              <a:t>Anchor: Testimony of Holocaust Survivor, Elie Wiesel, 1945 (describing liberation) (United States Holocaust Memorial Museum)</a:t>
            </a:r>
            <a:endParaRPr b="0" i="0" sz="1000" u="none" cap="none" strike="noStrike">
              <a:solidFill>
                <a:schemeClr val="dk1"/>
              </a:solidFill>
              <a:latin typeface="Calibri"/>
              <a:ea typeface="Calibri"/>
              <a:cs typeface="Calibri"/>
              <a:sym typeface="Calibri"/>
            </a:endParaRPr>
          </a:p>
        </p:txBody>
      </p:sp>
      <p:sp>
        <p:nvSpPr>
          <p:cNvPr id="355" name="Google Shape;355;p1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56" name="Google Shape;356;p1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26</a:t>
            </a:r>
            <a:endParaRPr b="0" i="0" sz="900" u="none" cap="none" strike="noStrike">
              <a:solidFill>
                <a:schemeClr val="dk1"/>
              </a:solidFill>
              <a:latin typeface="Calibri"/>
              <a:ea typeface="Calibri"/>
              <a:cs typeface="Calibri"/>
              <a:sym typeface="Calibri"/>
            </a:endParaRPr>
          </a:p>
        </p:txBody>
      </p:sp>
      <p:sp>
        <p:nvSpPr>
          <p:cNvPr id="357" name="TextBox 356"/>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Constructed Response (Act 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20</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938528"/>
            <a:ext cx="137160" cy="292608"/>
          </a:xfrm>
          <a:prstGeom prst="rect">
            <a:avLst/>
          </a:prstGeom>
          <a:solidFill>
            <a:srgbClr val="B22234"/>
          </a:solidFill>
          <a:ln/>
        </p:spPr>
        <p:txBody>
          <a:bodyPr/>
          <a:p/>
        </p:txBody>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Holocaust</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Holocausto</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Nazi Germany's systematic genocide of 6 million Jews and millions of others (Roma, disabled, homosexuals, political opponents) during World War II.</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938528"/>
            <a:ext cx="137160" cy="292608"/>
          </a:xfrm>
          <a:prstGeom prst="rect">
            <a:avLst/>
          </a:prstGeom>
          <a:solidFill>
            <a:srgbClr val="B22234"/>
          </a:solidFill>
          <a:ln/>
        </p:spPr>
        <p:txBody>
          <a:bodyPr/>
          <a:p/>
        </p:txBody>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Nuremberg Laws (1935)</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Leyes de Nuremberg (1935)</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Nazi racial laws that stripped Jews of German citizenship, banned intermarriage between Jews and non-Jews, and defined "Jewishness" by ancestry. They institutionalized anti-Semitic persecution.</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938528"/>
            <a:ext cx="137160" cy="292608"/>
          </a:xfrm>
          <a:prstGeom prst="rect">
            <a:avLst/>
          </a:prstGeom>
          <a:solidFill>
            <a:srgbClr val="B22234"/>
          </a:solidFill>
          <a:ln/>
        </p:spPr>
        <p:txBody>
          <a:bodyPr/>
          <a:p/>
        </p:txBody>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Adolf Hitler</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Adolf Hitler</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Nazi dictator of Germany (1933-1945) who led Germany into World War II and orchestrated the Holocaust, resulting in the deaths of 6 million Jews and millions of others.</a:t>
            </a:r>
            <a:endParaRPr lang="en-US" sz="1300" dirty="0"/>
          </a:p>
        </p:txBody>
      </p:sp>
      <p:sp>
        <p:nvSpPr>
          <p:cNvPr id="25" name="TextBox 24"/>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Vocabulary (Act 1–2)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27</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How did U.S. immigration restrictions and public attitudes limit American response to Jewish refugees before WWII?</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U.S. welcomed all Jewish refugees without restriction, which ignores key developments that shaped the outcome, but closer analysis reveals a more complicated historical reality</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txBody>
          <a:bodyPr/>
          <a:p/>
        </p:txBody>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Only economic factors affected refugee policy, which does not reflect the consensus among historians and fails to account for key developments in the broader context</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txBody>
          <a:bodyPr/>
          <a:p/>
        </p:txBody>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National Origins Act quotas, consular obstruction, anti-Semitism, isolationism, and economic fears during the Depression combined to severely limit Jewish immigration</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txBody>
          <a:bodyPr/>
          <a:p/>
        </p:txBody>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U.S. had no immigration restrictions in the 1930s, but this oversimplifies the complex factors at work, although historical sources do not support this conclusion</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
        <p:nvSpPr>
          <p:cNvPr id="22" name="TextBox 21"/>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Practice Quiz (Act 6)</a:t>
            </a: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361" name="Shape 361"/>
        <p:cNvGrpSpPr/>
        <p:nvPr/>
      </p:nvGrpSpPr>
      <p:grpSpPr>
        <a:xfrm>
          <a:off x="0" y="0"/>
          <a:ext cx="0" cy="0"/>
          <a:chOff x="0" y="0"/>
          <a:chExt cx="0" cy="0"/>
        </a:xfrm>
      </p:grpSpPr>
      <p:sp>
        <p:nvSpPr>
          <p:cNvPr id="362" name="Google Shape;362;p19"/>
          <p:cNvSpPr/>
          <p:nvPr/>
        </p:nvSpPr>
        <p:spPr>
          <a:xfrm>
            <a:off x="0" y="2331720"/>
            <a:ext cx="12191695" cy="73152"/>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9"/>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6000"/>
              <a:buFont typeface="Georgia"/>
              <a:buNone/>
            </a:pPr>
            <a:r>
              <a:rPr b="1" i="0" lang="en-US" sz="6000" u="none" cap="none" strike="noStrike">
                <a:solidFill>
                  <a:srgbClr val="C89B3C"/>
                </a:solidFill>
                <a:latin typeface="Georgia"/>
                <a:ea typeface="Georgia"/>
                <a:cs typeface="Georgia"/>
                <a:sym typeface="Georgia"/>
              </a:rPr>
              <a:t>US.48</a:t>
            </a:r>
            <a:endParaRPr b="0" i="0" sz="6000" u="none" cap="none" strike="noStrike">
              <a:solidFill>
                <a:schemeClr val="dk1"/>
              </a:solidFill>
              <a:latin typeface="Calibri"/>
              <a:ea typeface="Calibri"/>
              <a:cs typeface="Calibri"/>
              <a:sym typeface="Calibri"/>
            </a:endParaRPr>
          </a:p>
        </p:txBody>
      </p:sp>
      <p:sp>
        <p:nvSpPr>
          <p:cNvPr id="364" name="Google Shape;364;p19"/>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American Entry into World War II</a:t>
            </a:r>
            <a:endParaRPr b="0" i="0" sz="2600" u="none" cap="none" strike="noStrike">
              <a:solidFill>
                <a:schemeClr val="dk1"/>
              </a:solidFill>
              <a:latin typeface="Calibri"/>
              <a:ea typeface="Calibri"/>
              <a:cs typeface="Calibri"/>
              <a:sym typeface="Calibri"/>
            </a:endParaRPr>
          </a:p>
        </p:txBody>
      </p:sp>
      <p:sp>
        <p:nvSpPr>
          <p:cNvPr id="365" name="Google Shape;365;p19"/>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366" name="Google Shape;366;p19"/>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C7D4E0"/>
                </a:solidFill>
                <a:latin typeface="Calibri"/>
                <a:ea typeface="Calibri"/>
                <a:cs typeface="Calibri"/>
                <a:sym typeface="Calibri"/>
              </a:rPr>
              <a:t>US.48 – Explain the reasons for American entry into World War II, including the attack on Pearl Harbor.</a:t>
            </a:r>
            <a:endParaRPr b="0" i="0" sz="1600" u="none" cap="none" strike="noStrike">
              <a:solidFill>
                <a:schemeClr val="dk1"/>
              </a:solidFill>
              <a:latin typeface="Calibri"/>
              <a:ea typeface="Calibri"/>
              <a:cs typeface="Calibri"/>
              <a:sym typeface="Calibri"/>
            </a:endParaRPr>
          </a:p>
        </p:txBody>
      </p:sp>
      <p:sp>
        <p:nvSpPr>
          <p:cNvPr id="367" name="Google Shape;367;p19"/>
          <p:cNvSpPr/>
          <p:nvPr/>
        </p:nvSpPr>
        <p:spPr>
          <a:xfrm>
            <a:off x="457200" y="4892040"/>
            <a:ext cx="11247120" cy="123444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9"/>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369" name="Google Shape;369;p19"/>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1400"/>
              <a:buFont typeface="Calibri"/>
              <a:buNone/>
            </a:pPr>
            <a:r>
              <a:rPr b="1" i="0" lang="en-US" sz="1400" u="none" cap="none" strike="noStrike">
                <a:solidFill>
                  <a:srgbClr val="1B2A4A"/>
                </a:solidFill>
                <a:latin typeface="Calibri"/>
                <a:ea typeface="Calibri"/>
                <a:cs typeface="Calibri"/>
                <a:sym typeface="Calibri"/>
              </a:rPr>
              <a:t>I can explain the reasons for American entry into World War II, including the attack on Pearl Harbor.</a:t>
            </a:r>
            <a:endParaRPr b="0" i="0" sz="1400" u="none" cap="none" strike="noStrike">
              <a:solidFill>
                <a:schemeClr val="dk1"/>
              </a:solidFill>
              <a:latin typeface="Calibri"/>
              <a:ea typeface="Calibri"/>
              <a:cs typeface="Calibri"/>
              <a:sym typeface="Calibri"/>
            </a:endParaRPr>
          </a:p>
        </p:txBody>
      </p:sp>
      <p:sp>
        <p:nvSpPr>
          <p:cNvPr id="370" name="Google Shape;370;p1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71" name="Google Shape;371;p1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28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76" name="Shape 376"/>
        <p:cNvGrpSpPr/>
        <p:nvPr/>
      </p:nvGrpSpPr>
      <p:grpSpPr>
        <a:xfrm>
          <a:off x="0" y="0"/>
          <a:ext cx="0" cy="0"/>
          <a:chOff x="0" y="0"/>
          <a:chExt cx="0" cy="0"/>
        </a:xfrm>
      </p:grpSpPr>
      <p:sp>
        <p:nvSpPr>
          <p:cNvPr id="377" name="Google Shape;377;p20"/>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0"/>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0"/>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380" name="Google Shape;380;p20"/>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US.48</a:t>
            </a:r>
            <a:endParaRPr b="0" i="0" sz="1200" u="none" cap="none" strike="noStrike">
              <a:solidFill>
                <a:schemeClr val="dk1"/>
              </a:solidFill>
              <a:latin typeface="Calibri"/>
              <a:ea typeface="Calibri"/>
              <a:cs typeface="Calibri"/>
              <a:sym typeface="Calibri"/>
            </a:endParaRPr>
          </a:p>
        </p:txBody>
      </p:sp>
      <p:sp>
        <p:nvSpPr>
          <p:cNvPr id="381" name="Google Shape;381;p20"/>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German U-boats attacked U.S. ships carrying Lend-Lease supplies, pulling America into an undeclared naval war in the Atlantic before formal entry.</a:t>
            </a:r>
            <a:endParaRPr b="0" i="0" sz="2300" u="none" cap="none" strike="noStrike">
              <a:solidFill>
                <a:schemeClr val="dk1"/>
              </a:solidFill>
              <a:latin typeface="Calibri"/>
              <a:ea typeface="Calibri"/>
              <a:cs typeface="Calibri"/>
              <a:sym typeface="Calibri"/>
            </a:endParaRPr>
          </a:p>
        </p:txBody>
      </p:sp>
      <p:sp>
        <p:nvSpPr>
          <p:cNvPr id="382" name="Google Shape;382;p20"/>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0"/>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0"/>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385" name="Google Shape;385;p20"/>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German U-boats attacked U.S. ships carrying Lend-Lease supplies, pulling America into an undeclared naval war in the Atlantic before formal entry.</a:t>
            </a:r>
            <a:endParaRPr b="0" i="0" sz="2200" u="none" cap="none" strike="noStrike">
              <a:solidFill>
                <a:schemeClr val="dk1"/>
              </a:solidFill>
              <a:latin typeface="Calibri"/>
              <a:ea typeface="Calibri"/>
              <a:cs typeface="Calibri"/>
              <a:sym typeface="Calibri"/>
            </a:endParaRPr>
          </a:p>
        </p:txBody>
      </p:sp>
      <p:sp>
        <p:nvSpPr>
          <p:cNvPr id="386" name="Google Shape;386;p20"/>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US.48 · DI 1 of 4 · Factors in the European Theater</a:t>
            </a:r>
            <a:endParaRPr b="0" i="0" sz="1000" u="none" cap="none" strike="noStrike">
              <a:solidFill>
                <a:schemeClr val="dk1"/>
              </a:solidFill>
              <a:latin typeface="Calibri"/>
              <a:ea typeface="Calibri"/>
              <a:cs typeface="Calibri"/>
              <a:sym typeface="Calibri"/>
            </a:endParaRPr>
          </a:p>
        </p:txBody>
      </p:sp>
      <p:sp>
        <p:nvSpPr>
          <p:cNvPr id="387" name="Google Shape;387;p2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88" name="Google Shape;388;p2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30</a:t>
            </a:r>
            <a:endParaRPr b="0" i="0" sz="900" u="none" cap="none" strike="noStrike">
              <a:solidFill>
                <a:schemeClr val="dk1"/>
              </a:solidFill>
              <a:latin typeface="Calibri"/>
              <a:ea typeface="Calibri"/>
              <a:cs typeface="Calibri"/>
              <a:sym typeface="Calibri"/>
            </a:endParaRPr>
          </a:p>
        </p:txBody>
      </p:sp>
      <p:sp>
        <p:nvSpPr>
          <p:cNvPr id="389" name="TextBox 388"/>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93" name="Shape 393"/>
        <p:cNvGrpSpPr/>
        <p:nvPr/>
      </p:nvGrpSpPr>
      <p:grpSpPr>
        <a:xfrm>
          <a:off x="0" y="0"/>
          <a:ext cx="0" cy="0"/>
          <a:chOff x="0" y="0"/>
          <a:chExt cx="0" cy="0"/>
        </a:xfrm>
      </p:grpSpPr>
      <p:sp>
        <p:nvSpPr>
          <p:cNvPr id="394" name="Google Shape;394;p21"/>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1"/>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1"/>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397" name="Google Shape;397;p21"/>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US.48</a:t>
            </a:r>
            <a:endParaRPr b="0" i="0" sz="1200" u="none" cap="none" strike="noStrike">
              <a:solidFill>
                <a:schemeClr val="dk1"/>
              </a:solidFill>
              <a:latin typeface="Calibri"/>
              <a:ea typeface="Calibri"/>
              <a:cs typeface="Calibri"/>
              <a:sym typeface="Calibri"/>
            </a:endParaRPr>
          </a:p>
        </p:txBody>
      </p:sp>
      <p:sp>
        <p:nvSpPr>
          <p:cNvPr id="398" name="Google Shape;398;p21"/>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As Japan conquered China and Southeast Asia, the U.S. answered with economic sanctions — including an oil embargo — raising tensions toward war in the Pacific.</a:t>
            </a:r>
            <a:endParaRPr b="0" i="0" sz="2300" u="none" cap="none" strike="noStrike">
              <a:solidFill>
                <a:schemeClr val="dk1"/>
              </a:solidFill>
              <a:latin typeface="Calibri"/>
              <a:ea typeface="Calibri"/>
              <a:cs typeface="Calibri"/>
              <a:sym typeface="Calibri"/>
            </a:endParaRPr>
          </a:p>
        </p:txBody>
      </p:sp>
      <p:sp>
        <p:nvSpPr>
          <p:cNvPr id="399" name="Google Shape;399;p21"/>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1"/>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1"/>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402" name="Google Shape;402;p21"/>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As Japan conquered China and Southeast Asia, the U.S. answered with economic sanctions — including an oil embargo — raising tensions toward war in the Pacific.</a:t>
            </a:r>
            <a:endParaRPr b="0" i="0" sz="2200" u="none" cap="none" strike="noStrike">
              <a:solidFill>
                <a:schemeClr val="dk1"/>
              </a:solidFill>
              <a:latin typeface="Calibri"/>
              <a:ea typeface="Calibri"/>
              <a:cs typeface="Calibri"/>
              <a:sym typeface="Calibri"/>
            </a:endParaRPr>
          </a:p>
        </p:txBody>
      </p:sp>
      <p:sp>
        <p:nvSpPr>
          <p:cNvPr id="403" name="Google Shape;403;p21"/>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US.48 · DI 2 of 4 · Factors in the Pacific Theater</a:t>
            </a:r>
            <a:endParaRPr b="0" i="0" sz="1000" u="none" cap="none" strike="noStrike">
              <a:solidFill>
                <a:schemeClr val="dk1"/>
              </a:solidFill>
              <a:latin typeface="Calibri"/>
              <a:ea typeface="Calibri"/>
              <a:cs typeface="Calibri"/>
              <a:sym typeface="Calibri"/>
            </a:endParaRPr>
          </a:p>
        </p:txBody>
      </p:sp>
      <p:sp>
        <p:nvSpPr>
          <p:cNvPr id="404" name="Google Shape;404;p2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05" name="Google Shape;405;p2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31</a:t>
            </a:r>
            <a:endParaRPr b="0" i="0" sz="900" u="none" cap="none" strike="noStrike">
              <a:solidFill>
                <a:schemeClr val="dk1"/>
              </a:solidFill>
              <a:latin typeface="Calibri"/>
              <a:ea typeface="Calibri"/>
              <a:cs typeface="Calibri"/>
              <a:sym typeface="Calibri"/>
            </a:endParaRPr>
          </a:p>
        </p:txBody>
      </p:sp>
      <p:sp>
        <p:nvSpPr>
          <p:cNvPr id="406" name="TextBox 405"/>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10" name="Shape 410"/>
        <p:cNvGrpSpPr/>
        <p:nvPr/>
      </p:nvGrpSpPr>
      <p:grpSpPr>
        <a:xfrm>
          <a:off x="0" y="0"/>
          <a:ext cx="0" cy="0"/>
          <a:chOff x="0" y="0"/>
          <a:chExt cx="0" cy="0"/>
        </a:xfrm>
      </p:grpSpPr>
      <p:sp>
        <p:nvSpPr>
          <p:cNvPr id="411" name="Google Shape;411;p22"/>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2"/>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2"/>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414" name="Google Shape;414;p22"/>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US.48</a:t>
            </a:r>
            <a:endParaRPr b="0" i="0" sz="1200" u="none" cap="none" strike="noStrike">
              <a:solidFill>
                <a:schemeClr val="dk1"/>
              </a:solidFill>
              <a:latin typeface="Calibri"/>
              <a:ea typeface="Calibri"/>
              <a:cs typeface="Calibri"/>
              <a:sym typeface="Calibri"/>
            </a:endParaRPr>
          </a:p>
        </p:txBody>
      </p:sp>
      <p:sp>
        <p:nvSpPr>
          <p:cNvPr id="415" name="Google Shape;415;p22"/>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On December 7, 1941, six Japanese carriers launched 353 planes against the U.S. Pacific Fleet at Pearl Harbor; FDR called it “a date which will live in infamy” and the U.S. declared war.</a:t>
            </a:r>
            <a:endParaRPr b="0" i="0" sz="2300" u="none" cap="none" strike="noStrike">
              <a:solidFill>
                <a:schemeClr val="dk1"/>
              </a:solidFill>
              <a:latin typeface="Calibri"/>
              <a:ea typeface="Calibri"/>
              <a:cs typeface="Calibri"/>
              <a:sym typeface="Calibri"/>
            </a:endParaRPr>
          </a:p>
        </p:txBody>
      </p:sp>
      <p:pic>
        <p:nvPicPr>
          <p:cNvPr descr="hh-web/public/images/textbook/unit-6/pearl-harbor-uss-shaw-1941.jpg" id="416" name="Google Shape;416;p22"/>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417" name="Google Shape;417;p22"/>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900"/>
              <a:buFont typeface="Trebuchet MS"/>
              <a:buNone/>
            </a:pPr>
            <a:r>
              <a:rPr b="1" i="0" lang="en-US" sz="900" u="none" cap="none" strike="noStrike">
                <a:solidFill>
                  <a:srgbClr val="1B2A4A"/>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418" name="Google Shape;418;p22"/>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US.48 · DI 3 of 4 · Attack on Pearl Harbor (Dec 7, 1941)</a:t>
            </a:r>
            <a:endParaRPr b="0" i="0" sz="1000" u="none" cap="none" strike="noStrike">
              <a:solidFill>
                <a:schemeClr val="dk1"/>
              </a:solidFill>
              <a:latin typeface="Calibri"/>
              <a:ea typeface="Calibri"/>
              <a:cs typeface="Calibri"/>
              <a:sym typeface="Calibri"/>
            </a:endParaRPr>
          </a:p>
        </p:txBody>
      </p:sp>
      <p:sp>
        <p:nvSpPr>
          <p:cNvPr id="419" name="Google Shape;419;p2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20" name="Google Shape;420;p2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32</a:t>
            </a:r>
            <a:endParaRPr b="0" i="0" sz="900" u="none" cap="none" strike="noStrike">
              <a:solidFill>
                <a:schemeClr val="dk1"/>
              </a:solidFill>
              <a:latin typeface="Calibri"/>
              <a:ea typeface="Calibri"/>
              <a:cs typeface="Calibri"/>
              <a:sym typeface="Calibri"/>
            </a:endParaRPr>
          </a:p>
        </p:txBody>
      </p:sp>
      <p:sp>
        <p:nvSpPr>
          <p:cNvPr id="421" name="TextBox 420"/>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25" name="Shape 425"/>
        <p:cNvGrpSpPr/>
        <p:nvPr/>
      </p:nvGrpSpPr>
      <p:grpSpPr>
        <a:xfrm>
          <a:off x="0" y="0"/>
          <a:ext cx="0" cy="0"/>
          <a:chOff x="0" y="0"/>
          <a:chExt cx="0" cy="0"/>
        </a:xfrm>
      </p:grpSpPr>
      <p:sp>
        <p:nvSpPr>
          <p:cNvPr id="426" name="Google Shape;426;p23"/>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3"/>
          <p:cNvSpPr/>
          <p:nvPr/>
        </p:nvSpPr>
        <p:spPr>
          <a:xfrm>
            <a:off x="0" y="155448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3"/>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429" name="Google Shape;429;p23"/>
          <p:cNvSpPr/>
          <p:nvPr/>
        </p:nvSpPr>
        <p:spPr>
          <a:xfrm>
            <a:off x="3886200" y="27432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US.48</a:t>
            </a:r>
            <a:endParaRPr b="0" i="0" sz="1200" u="none" cap="none" strike="noStrike">
              <a:solidFill>
                <a:schemeClr val="dk1"/>
              </a:solidFill>
              <a:latin typeface="Calibri"/>
              <a:ea typeface="Calibri"/>
              <a:cs typeface="Calibri"/>
              <a:sym typeface="Calibri"/>
            </a:endParaRPr>
          </a:p>
        </p:txBody>
      </p:sp>
      <p:sp>
        <p:nvSpPr>
          <p:cNvPr id="430" name="Google Shape;430;p23"/>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Read FDR’s “Day of Infamy” Speech — note the speaker, date, and purpose before you read his words.</a:t>
            </a:r>
            <a:endParaRPr b="0" i="0" sz="2000" u="none" cap="none" strike="noStrike">
              <a:solidFill>
                <a:schemeClr val="dk1"/>
              </a:solidFill>
              <a:latin typeface="Calibri"/>
              <a:ea typeface="Calibri"/>
              <a:cs typeface="Calibri"/>
              <a:sym typeface="Calibri"/>
            </a:endParaRPr>
          </a:p>
        </p:txBody>
      </p:sp>
      <p:sp>
        <p:nvSpPr>
          <p:cNvPr id="431" name="Google Shape;431;p23"/>
          <p:cNvSpPr/>
          <p:nvPr/>
        </p:nvSpPr>
        <p:spPr>
          <a:xfrm>
            <a:off x="45720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432" name="Google Shape;432;p23"/>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President Franklin D. Roosevelt</a:t>
            </a:r>
            <a:endParaRPr b="0" i="0" sz="1200" u="none" cap="none" strike="noStrike">
              <a:solidFill>
                <a:schemeClr val="dk1"/>
              </a:solidFill>
              <a:latin typeface="Calibri"/>
              <a:ea typeface="Calibri"/>
              <a:cs typeface="Calibri"/>
              <a:sym typeface="Calibri"/>
            </a:endParaRPr>
          </a:p>
        </p:txBody>
      </p:sp>
      <p:sp>
        <p:nvSpPr>
          <p:cNvPr id="433" name="Google Shape;433;p23"/>
          <p:cNvSpPr/>
          <p:nvPr/>
        </p:nvSpPr>
        <p:spPr>
          <a:xfrm>
            <a:off x="425196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434" name="Google Shape;434;p23"/>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December 8, 1941</a:t>
            </a:r>
            <a:endParaRPr b="0" i="0" sz="1200" u="none" cap="none" strike="noStrike">
              <a:solidFill>
                <a:schemeClr val="dk1"/>
              </a:solidFill>
              <a:latin typeface="Calibri"/>
              <a:ea typeface="Calibri"/>
              <a:cs typeface="Calibri"/>
              <a:sym typeface="Calibri"/>
            </a:endParaRPr>
          </a:p>
        </p:txBody>
      </p:sp>
      <p:sp>
        <p:nvSpPr>
          <p:cNvPr id="435" name="Google Shape;435;p23"/>
          <p:cNvSpPr/>
          <p:nvPr/>
        </p:nvSpPr>
        <p:spPr>
          <a:xfrm>
            <a:off x="804672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436" name="Google Shape;436;p23"/>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Consider the author's purpose and audience before reading the words.</a:t>
            </a:r>
            <a:endParaRPr b="0" i="0" sz="1200" u="none" cap="none" strike="noStrike">
              <a:solidFill>
                <a:schemeClr val="dk1"/>
              </a:solidFill>
              <a:latin typeface="Calibri"/>
              <a:ea typeface="Calibri"/>
              <a:cs typeface="Calibri"/>
              <a:sym typeface="Calibri"/>
            </a:endParaRPr>
          </a:p>
        </p:txBody>
      </p:sp>
      <p:sp>
        <p:nvSpPr>
          <p:cNvPr id="437" name="Google Shape;437;p23"/>
          <p:cNvSpPr/>
          <p:nvPr/>
        </p:nvSpPr>
        <p:spPr>
          <a:xfrm>
            <a:off x="457200" y="3200400"/>
            <a:ext cx="5532120" cy="2651760"/>
          </a:xfrm>
          <a:prstGeom prst="rect">
            <a:avLst/>
          </a:prstGeom>
          <a:solidFill>
            <a:srgbClr val="FFFFFF"/>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3"/>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Day of Infamy Speech</a:t>
            </a:r>
            <a:endParaRPr b="0" i="0" sz="1400" u="none" cap="none" strike="noStrike">
              <a:solidFill>
                <a:schemeClr val="dk1"/>
              </a:solidFill>
              <a:latin typeface="Calibri"/>
              <a:ea typeface="Calibri"/>
              <a:cs typeface="Calibri"/>
              <a:sym typeface="Calibri"/>
            </a:endParaRPr>
          </a:p>
        </p:txBody>
      </p:sp>
      <p:sp>
        <p:nvSpPr>
          <p:cNvPr id="439" name="Google Shape;439;p23"/>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President Franklin D. Roosevelt · December 8, 1941</a:t>
            </a:r>
            <a:endParaRPr b="0" i="0" sz="900" u="none" cap="none" strike="noStrike">
              <a:solidFill>
                <a:schemeClr val="dk1"/>
              </a:solidFill>
              <a:latin typeface="Calibri"/>
              <a:ea typeface="Calibri"/>
              <a:cs typeface="Calibri"/>
              <a:sym typeface="Calibri"/>
            </a:endParaRPr>
          </a:p>
        </p:txBody>
      </p:sp>
      <p:sp>
        <p:nvSpPr>
          <p:cNvPr id="440" name="Google Shape;440;p23"/>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"Yesterday, December 7th, 1941—a date which will live in infamy—the United States of America was suddenly and deliberately attacked by naval and air forces of the Empire of Japan. The United States was at peace with that nation and, at the solicitation of Japan, was still in conversation with its government and its Emperor looking toward the maintenance of peace in the Pacific."</a:t>
            </a:r>
            <a:endParaRPr b="0" i="0" sz="1100" u="none" cap="none" strike="noStrike">
              <a:solidFill>
                <a:schemeClr val="dk1"/>
              </a:solidFill>
              <a:latin typeface="Calibri"/>
              <a:ea typeface="Calibri"/>
              <a:cs typeface="Calibri"/>
              <a:sym typeface="Calibri"/>
            </a:endParaRPr>
          </a:p>
        </p:txBody>
      </p:sp>
      <p:sp>
        <p:nvSpPr>
          <p:cNvPr id="441" name="Google Shape;441;p23">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National Archives</a:t>
            </a:r>
            <a:endParaRPr b="0" i="0" sz="900" u="none" cap="none" strike="noStrike">
              <a:solidFill>
                <a:schemeClr val="dk1"/>
              </a:solidFill>
              <a:latin typeface="Calibri"/>
              <a:ea typeface="Calibri"/>
              <a:cs typeface="Calibri"/>
              <a:sym typeface="Calibri"/>
            </a:endParaRPr>
          </a:p>
        </p:txBody>
      </p:sp>
      <p:sp>
        <p:nvSpPr>
          <p:cNvPr id="442" name="Google Shape;442;p2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43" name="Google Shape;443;p2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34</a:t>
            </a:r>
            <a:endParaRPr b="0" i="0" sz="900" u="none" cap="none" strike="noStrike">
              <a:solidFill>
                <a:schemeClr val="dk1"/>
              </a:solidFill>
              <a:latin typeface="Calibri"/>
              <a:ea typeface="Calibri"/>
              <a:cs typeface="Calibri"/>
              <a:sym typeface="Calibri"/>
            </a:endParaRPr>
          </a:p>
        </p:txBody>
      </p:sp>
      <p:sp>
        <p:nvSpPr>
          <p:cNvPr id="444" name="TextBox 443"/>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Primary Source &amp; HIPPO (Act 5)</a:t>
            </a: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448" name="Shape 448"/>
        <p:cNvGrpSpPr/>
        <p:nvPr/>
      </p:nvGrpSpPr>
      <p:grpSpPr>
        <a:xfrm>
          <a:off x="0" y="0"/>
          <a:ext cx="0" cy="0"/>
          <a:chOff x="0" y="0"/>
          <a:chExt cx="0" cy="0"/>
        </a:xfrm>
      </p:grpSpPr>
      <p:sp>
        <p:nvSpPr>
          <p:cNvPr id="449" name="Google Shape;449;p24"/>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450" name="Google Shape;450;p24"/>
          <p:cNvSpPr/>
          <p:nvPr/>
        </p:nvSpPr>
        <p:spPr>
          <a:xfrm>
            <a:off x="3886200" y="27432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US.48</a:t>
            </a:r>
            <a:endParaRPr b="0" i="0" sz="1200" u="none" cap="none" strike="noStrike">
              <a:solidFill>
                <a:schemeClr val="dk1"/>
              </a:solidFill>
              <a:latin typeface="Calibri"/>
              <a:ea typeface="Calibri"/>
              <a:cs typeface="Calibri"/>
              <a:sym typeface="Calibri"/>
            </a:endParaRPr>
          </a:p>
        </p:txBody>
      </p:sp>
      <p:sp>
        <p:nvSpPr>
          <p:cNvPr id="451" name="Google Shape;451;p24"/>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C7D4E0"/>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452" name="Google Shape;452;p24"/>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4"/>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4"/>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455" name="Google Shape;455;p24"/>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456" name="Google Shape;456;p24"/>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US.48:</a:t>
            </a:r>
            <a:endParaRPr b="0" i="0" sz="1000" u="none" cap="none" strike="noStrike">
              <a:solidFill>
                <a:schemeClr val="dk1"/>
              </a:solidFill>
              <a:latin typeface="Calibri"/>
              <a:ea typeface="Calibri"/>
              <a:cs typeface="Calibri"/>
              <a:sym typeface="Calibri"/>
            </a:endParaRPr>
          </a:p>
        </p:txBody>
      </p:sp>
      <p:sp>
        <p:nvSpPr>
          <p:cNvPr id="457" name="Google Shape;457;p24"/>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Allied cause, joined by America’s full industrial and military power, and interventionists whose warnings were vindicated by the attack.</a:t>
            </a:r>
            <a:endParaRPr b="0" i="0" sz="1200" u="none" cap="none" strike="noStrike">
              <a:solidFill>
                <a:schemeClr val="dk1"/>
              </a:solidFill>
              <a:latin typeface="Calibri"/>
              <a:ea typeface="Calibri"/>
              <a:cs typeface="Calibri"/>
              <a:sym typeface="Calibri"/>
            </a:endParaRPr>
          </a:p>
        </p:txBody>
      </p:sp>
      <p:sp>
        <p:nvSpPr>
          <p:cNvPr id="458" name="Google Shape;458;p24"/>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4"/>
          <p:cNvSpPr/>
          <p:nvPr/>
        </p:nvSpPr>
        <p:spPr>
          <a:xfrm>
            <a:off x="4251960" y="1783080"/>
            <a:ext cx="3566160" cy="54864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4"/>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461" name="Google Shape;461;p24"/>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462" name="Google Shape;462;p24"/>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US.48:</a:t>
            </a:r>
            <a:endParaRPr b="0" i="0" sz="1000" u="none" cap="none" strike="noStrike">
              <a:solidFill>
                <a:schemeClr val="dk1"/>
              </a:solidFill>
              <a:latin typeface="Calibri"/>
              <a:ea typeface="Calibri"/>
              <a:cs typeface="Calibri"/>
              <a:sym typeface="Calibri"/>
            </a:endParaRPr>
          </a:p>
        </p:txBody>
      </p:sp>
      <p:sp>
        <p:nvSpPr>
          <p:cNvPr id="463" name="Google Shape;463;p24"/>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2,400 killed at Pearl Harbor, the sailors and civilians of the Pacific Fleet, and the millions of Americans soon sent to war.</a:t>
            </a:r>
            <a:endParaRPr b="0" i="0" sz="1200" u="none" cap="none" strike="noStrike">
              <a:solidFill>
                <a:schemeClr val="dk1"/>
              </a:solidFill>
              <a:latin typeface="Calibri"/>
              <a:ea typeface="Calibri"/>
              <a:cs typeface="Calibri"/>
              <a:sym typeface="Calibri"/>
            </a:endParaRPr>
          </a:p>
        </p:txBody>
      </p:sp>
      <p:sp>
        <p:nvSpPr>
          <p:cNvPr id="464" name="Google Shape;464;p24"/>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4"/>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4"/>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467" name="Google Shape;467;p24"/>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468" name="Google Shape;468;p24"/>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US.48:</a:t>
            </a:r>
            <a:endParaRPr b="0" i="0" sz="1000" u="none" cap="none" strike="noStrike">
              <a:solidFill>
                <a:schemeClr val="dk1"/>
              </a:solidFill>
              <a:latin typeface="Calibri"/>
              <a:ea typeface="Calibri"/>
              <a:cs typeface="Calibri"/>
              <a:sym typeface="Calibri"/>
            </a:endParaRPr>
          </a:p>
        </p:txBody>
      </p:sp>
      <p:sp>
        <p:nvSpPr>
          <p:cNvPr id="469" name="Google Shape;469;p24"/>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Japan’s military leaders, who ordered the attack; and President Roosevelt and Congress, who declared war the next day.</a:t>
            </a:r>
            <a:endParaRPr b="0" i="0" sz="1200" u="none" cap="none" strike="noStrike">
              <a:solidFill>
                <a:schemeClr val="dk1"/>
              </a:solidFill>
              <a:latin typeface="Calibri"/>
              <a:ea typeface="Calibri"/>
              <a:cs typeface="Calibri"/>
              <a:sym typeface="Calibri"/>
            </a:endParaRPr>
          </a:p>
        </p:txBody>
      </p:sp>
      <p:sp>
        <p:nvSpPr>
          <p:cNvPr id="470" name="Google Shape;470;p24"/>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C7D4E0"/>
                </a:solidFill>
                <a:latin typeface="Trebuchet MS"/>
                <a:ea typeface="Trebuchet MS"/>
                <a:cs typeface="Trebuchet MS"/>
                <a:sym typeface="Trebuchet MS"/>
              </a:rPr>
              <a:t>Anchor: Day of Infamy Speech, President Franklin D. Roosevelt, December 8, 1941 (National Archives)</a:t>
            </a:r>
            <a:endParaRPr b="0" i="0" sz="1000" u="none" cap="none" strike="noStrike">
              <a:solidFill>
                <a:schemeClr val="dk1"/>
              </a:solidFill>
              <a:latin typeface="Calibri"/>
              <a:ea typeface="Calibri"/>
              <a:cs typeface="Calibri"/>
              <a:sym typeface="Calibri"/>
            </a:endParaRPr>
          </a:p>
        </p:txBody>
      </p:sp>
      <p:sp>
        <p:nvSpPr>
          <p:cNvPr id="471" name="Google Shape;471;p2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72" name="Google Shape;472;p2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35</a:t>
            </a:r>
            <a:endParaRPr b="0" i="0" sz="900" u="none" cap="none" strike="noStrike">
              <a:solidFill>
                <a:schemeClr val="dk1"/>
              </a:solidFill>
              <a:latin typeface="Calibri"/>
              <a:ea typeface="Calibri"/>
              <a:cs typeface="Calibri"/>
              <a:sym typeface="Calibri"/>
            </a:endParaRPr>
          </a:p>
        </p:txBody>
      </p:sp>
      <p:sp>
        <p:nvSpPr>
          <p:cNvPr id="473" name="TextBox 472"/>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Constructed Response (Act 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29</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938528"/>
            <a:ext cx="137160" cy="292608"/>
          </a:xfrm>
          <a:prstGeom prst="rect">
            <a:avLst/>
          </a:prstGeom>
          <a:solidFill>
            <a:srgbClr val="B22234"/>
          </a:solidFill>
          <a:ln/>
        </p:spPr>
        <p:txBody>
          <a:bodyPr/>
          <a:p/>
        </p:txBody>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Pearl Harbor</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Pearl Harbor</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Japan's surprise attack on the U.S. naval base in Hawaii on December 7, 1941, killing over 2,400 Americans and bringing the United States into World War II.</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938528"/>
            <a:ext cx="137160" cy="292608"/>
          </a:xfrm>
          <a:prstGeom prst="rect">
            <a:avLst/>
          </a:prstGeom>
          <a:solidFill>
            <a:srgbClr val="B22234"/>
          </a:solidFill>
          <a:ln/>
        </p:spPr>
        <p:txBody>
          <a:bodyPr/>
          <a:p/>
        </p:txBody>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Hideki Tojo</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Hideki Tojo</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Japanese military leader and Prime Minister (1941-1944) who led Japan into World War II and authorized the attack on Pearl Harbor.</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938528"/>
            <a:ext cx="137160" cy="292608"/>
          </a:xfrm>
          <a:prstGeom prst="rect">
            <a:avLst/>
          </a:prstGeom>
          <a:solidFill>
            <a:srgbClr val="B22234"/>
          </a:solidFill>
          <a:ln/>
        </p:spPr>
        <p:txBody>
          <a:bodyPr/>
          <a:p/>
        </p:txBody>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Axis Powers</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Potencias del Eje</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Military alliance of Germany, Italy, and Japan during World War II. United by shared goals of territorial expansion, militarism, and opposition to democratic nations.</a:t>
            </a:r>
            <a:endParaRPr lang="en-US" sz="1300" dirty="0"/>
          </a:p>
        </p:txBody>
      </p:sp>
      <p:sp>
        <p:nvSpPr>
          <p:cNvPr id="25" name="TextBox 24"/>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Vocabulary (Act 1–2)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36</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How did the Pearl Harbor attack unite American public opinion and end isolationism?</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Public opinion remained divided after Pearl Harbor, which contradicts the primary source evidence from this era, but the historical evidence paints a more nuanced picture</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txBody>
          <a:bodyPr/>
          <a:p/>
        </p:txBody>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Isolationism continued throughout the war, but the historical record tells a more complex story and oversimplifies the complex factors at work during this period</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txBody>
          <a:bodyPr/>
          <a:p/>
        </p:txBody>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Pearl Harbor had no effect on public opinion, but the historical record tells a more complex story and oversimplifies the complex factors at work during this period</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txBody>
          <a:bodyPr/>
          <a:p/>
        </p:txBody>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surprise attack shocked Americans, Roosevelt's "Date of Infamy" speech galvanized the nation, and Congress declared war with only one dissenting vote, destroying isolationist opposition</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
        <p:nvSpPr>
          <p:cNvPr id="22" name="TextBox 21"/>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Practice Quiz (Act 6)</a:t>
            </a: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477" name="Shape 477"/>
        <p:cNvGrpSpPr/>
        <p:nvPr/>
      </p:nvGrpSpPr>
      <p:grpSpPr>
        <a:xfrm>
          <a:off x="0" y="0"/>
          <a:ext cx="0" cy="0"/>
          <a:chOff x="0" y="0"/>
          <a:chExt cx="0" cy="0"/>
        </a:xfrm>
      </p:grpSpPr>
      <p:sp>
        <p:nvSpPr>
          <p:cNvPr id="478" name="Google Shape;478;p25"/>
          <p:cNvSpPr/>
          <p:nvPr/>
        </p:nvSpPr>
        <p:spPr>
          <a:xfrm>
            <a:off x="0" y="2331720"/>
            <a:ext cx="12191695" cy="73152"/>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5"/>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6000"/>
              <a:buFont typeface="Georgia"/>
              <a:buNone/>
            </a:pPr>
            <a:r>
              <a:rPr b="1" i="0" lang="en-US" sz="6000" u="none" cap="none" strike="noStrike">
                <a:solidFill>
                  <a:srgbClr val="C89B3C"/>
                </a:solidFill>
                <a:latin typeface="Georgia"/>
                <a:ea typeface="Georgia"/>
                <a:cs typeface="Georgia"/>
                <a:sym typeface="Georgia"/>
              </a:rPr>
              <a:t>US.49</a:t>
            </a:r>
            <a:endParaRPr b="0" i="0" sz="6000" u="none" cap="none" strike="noStrike">
              <a:solidFill>
                <a:schemeClr val="dk1"/>
              </a:solidFill>
              <a:latin typeface="Calibri"/>
              <a:ea typeface="Calibri"/>
              <a:cs typeface="Calibri"/>
              <a:sym typeface="Calibri"/>
            </a:endParaRPr>
          </a:p>
        </p:txBody>
      </p:sp>
      <p:sp>
        <p:nvSpPr>
          <p:cNvPr id="480" name="Google Shape;480;p25"/>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WWII Leaders &amp; Key Figures</a:t>
            </a:r>
            <a:endParaRPr b="0" i="0" sz="2600" u="none" cap="none" strike="noStrike">
              <a:solidFill>
                <a:schemeClr val="dk1"/>
              </a:solidFill>
              <a:latin typeface="Calibri"/>
              <a:ea typeface="Calibri"/>
              <a:cs typeface="Calibri"/>
              <a:sym typeface="Calibri"/>
            </a:endParaRPr>
          </a:p>
        </p:txBody>
      </p:sp>
      <p:sp>
        <p:nvSpPr>
          <p:cNvPr id="481" name="Google Shape;481;p25"/>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482" name="Google Shape;482;p25"/>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C7D4E0"/>
                </a:solidFill>
                <a:latin typeface="Calibri"/>
                <a:ea typeface="Calibri"/>
                <a:cs typeface="Calibri"/>
                <a:sym typeface="Calibri"/>
              </a:rPr>
              <a:t>US.49 – Identify the roles and the significant actions of the following individuals in World War II: Winston Churchill, Dwight D. Eisenhower, Adolf Hitler, Douglas MacArthur, George C. Marshall, Benito Mussolini, President Franklin D. Roosevelt, Joseph Stalin, Hideki Tojo, President Harry S. Truman.</a:t>
            </a:r>
            <a:endParaRPr b="0" i="0" sz="1600" u="none" cap="none" strike="noStrike">
              <a:solidFill>
                <a:schemeClr val="dk1"/>
              </a:solidFill>
              <a:latin typeface="Calibri"/>
              <a:ea typeface="Calibri"/>
              <a:cs typeface="Calibri"/>
              <a:sym typeface="Calibri"/>
            </a:endParaRPr>
          </a:p>
        </p:txBody>
      </p:sp>
      <p:sp>
        <p:nvSpPr>
          <p:cNvPr id="483" name="Google Shape;483;p25"/>
          <p:cNvSpPr/>
          <p:nvPr/>
        </p:nvSpPr>
        <p:spPr>
          <a:xfrm>
            <a:off x="457200" y="4892040"/>
            <a:ext cx="11247120" cy="123444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5"/>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485" name="Google Shape;485;p25"/>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1400"/>
              <a:buFont typeface="Calibri"/>
              <a:buNone/>
            </a:pPr>
            <a:r>
              <a:rPr b="1" i="0" lang="en-US" sz="1400" u="none" cap="none" strike="noStrike">
                <a:solidFill>
                  <a:srgbClr val="1B2A4A"/>
                </a:solidFill>
                <a:latin typeface="Calibri"/>
                <a:ea typeface="Calibri"/>
                <a:cs typeface="Calibri"/>
                <a:sym typeface="Calibri"/>
              </a:rPr>
              <a:t>I can identify the roles and the significant actions of key individuals in World War II, including Churchill, Eisenhower, Hitler, MacArthur, Marshall, Mussolini, FDR, Stalin, Tojo, and Truman.</a:t>
            </a:r>
            <a:endParaRPr b="0" i="0" sz="1400" u="none" cap="none" strike="noStrike">
              <a:solidFill>
                <a:schemeClr val="dk1"/>
              </a:solidFill>
              <a:latin typeface="Calibri"/>
              <a:ea typeface="Calibri"/>
              <a:cs typeface="Calibri"/>
              <a:sym typeface="Calibri"/>
            </a:endParaRPr>
          </a:p>
        </p:txBody>
      </p:sp>
      <p:sp>
        <p:nvSpPr>
          <p:cNvPr id="486" name="Google Shape;486;p2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87" name="Google Shape;487;p2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37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92" name="Shape 492"/>
        <p:cNvGrpSpPr/>
        <p:nvPr/>
      </p:nvGrpSpPr>
      <p:grpSpPr>
        <a:xfrm>
          <a:off x="0" y="0"/>
          <a:ext cx="0" cy="0"/>
          <a:chOff x="0" y="0"/>
          <a:chExt cx="0" cy="0"/>
        </a:xfrm>
      </p:grpSpPr>
      <p:sp>
        <p:nvSpPr>
          <p:cNvPr id="493" name="Google Shape;493;p26"/>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26"/>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6"/>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496" name="Google Shape;496;p26"/>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US.49</a:t>
            </a:r>
            <a:endParaRPr b="0" i="0" sz="1200" u="none" cap="none" strike="noStrike">
              <a:solidFill>
                <a:schemeClr val="dk1"/>
              </a:solidFill>
              <a:latin typeface="Calibri"/>
              <a:ea typeface="Calibri"/>
              <a:cs typeface="Calibri"/>
              <a:sym typeface="Calibri"/>
            </a:endParaRPr>
          </a:p>
        </p:txBody>
      </p:sp>
      <p:sp>
        <p:nvSpPr>
          <p:cNvPr id="497" name="Google Shape;497;p26"/>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Allied political leaders — FDR (U.S.), Churchill (Britain), and Stalin (USSR) — formed the “Big Three” who set strategy and planned the postwar world.</a:t>
            </a:r>
            <a:endParaRPr b="0" i="0" sz="2300" u="none" cap="none" strike="noStrike">
              <a:solidFill>
                <a:schemeClr val="dk1"/>
              </a:solidFill>
              <a:latin typeface="Calibri"/>
              <a:ea typeface="Calibri"/>
              <a:cs typeface="Calibri"/>
              <a:sym typeface="Calibri"/>
            </a:endParaRPr>
          </a:p>
        </p:txBody>
      </p:sp>
      <p:sp>
        <p:nvSpPr>
          <p:cNvPr id="498" name="Google Shape;498;p26"/>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6"/>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6"/>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501" name="Google Shape;501;p26"/>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Allied political leaders — FDR (U.S.), Churchill (Britain), and Stalin (USSR) — formed the “Big Three” who set strategy and planned the postwar world.</a:t>
            </a:r>
            <a:endParaRPr b="0" i="0" sz="2200" u="none" cap="none" strike="noStrike">
              <a:solidFill>
                <a:schemeClr val="dk1"/>
              </a:solidFill>
              <a:latin typeface="Calibri"/>
              <a:ea typeface="Calibri"/>
              <a:cs typeface="Calibri"/>
              <a:sym typeface="Calibri"/>
            </a:endParaRPr>
          </a:p>
        </p:txBody>
      </p:sp>
      <p:sp>
        <p:nvSpPr>
          <p:cNvPr id="502" name="Google Shape;502;p26"/>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US.49 · DI 1 of 4 · Allied Political Leaders</a:t>
            </a:r>
            <a:endParaRPr b="0" i="0" sz="1000" u="none" cap="none" strike="noStrike">
              <a:solidFill>
                <a:schemeClr val="dk1"/>
              </a:solidFill>
              <a:latin typeface="Calibri"/>
              <a:ea typeface="Calibri"/>
              <a:cs typeface="Calibri"/>
              <a:sym typeface="Calibri"/>
            </a:endParaRPr>
          </a:p>
        </p:txBody>
      </p:sp>
      <p:sp>
        <p:nvSpPr>
          <p:cNvPr id="503" name="Google Shape;503;p2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04" name="Google Shape;504;p2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39</a:t>
            </a:r>
            <a:endParaRPr b="0" i="0" sz="900" u="none" cap="none" strike="noStrike">
              <a:solidFill>
                <a:schemeClr val="dk1"/>
              </a:solidFill>
              <a:latin typeface="Calibri"/>
              <a:ea typeface="Calibri"/>
              <a:cs typeface="Calibri"/>
              <a:sym typeface="Calibri"/>
            </a:endParaRPr>
          </a:p>
        </p:txBody>
      </p:sp>
      <p:sp>
        <p:nvSpPr>
          <p:cNvPr id="505" name="TextBox 504"/>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09" name="Shape 509"/>
        <p:cNvGrpSpPr/>
        <p:nvPr/>
      </p:nvGrpSpPr>
      <p:grpSpPr>
        <a:xfrm>
          <a:off x="0" y="0"/>
          <a:ext cx="0" cy="0"/>
          <a:chOff x="0" y="0"/>
          <a:chExt cx="0" cy="0"/>
        </a:xfrm>
      </p:grpSpPr>
      <p:sp>
        <p:nvSpPr>
          <p:cNvPr id="510" name="Google Shape;510;p27"/>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7"/>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7"/>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513" name="Google Shape;513;p27"/>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US.49</a:t>
            </a:r>
            <a:endParaRPr b="0" i="0" sz="1200" u="none" cap="none" strike="noStrike">
              <a:solidFill>
                <a:schemeClr val="dk1"/>
              </a:solidFill>
              <a:latin typeface="Calibri"/>
              <a:ea typeface="Calibri"/>
              <a:cs typeface="Calibri"/>
              <a:sym typeface="Calibri"/>
            </a:endParaRPr>
          </a:p>
        </p:txBody>
      </p:sp>
      <p:sp>
        <p:nvSpPr>
          <p:cNvPr id="514" name="Google Shape;514;p27"/>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Allied commanders included Dwight D. Eisenhower, Supreme Allied Commander in Europe (D-Day), and Douglas MacArthur and George Patton, who led major campaigns.</a:t>
            </a:r>
            <a:endParaRPr b="0" i="0" sz="2300" u="none" cap="none" strike="noStrike">
              <a:solidFill>
                <a:schemeClr val="dk1"/>
              </a:solidFill>
              <a:latin typeface="Calibri"/>
              <a:ea typeface="Calibri"/>
              <a:cs typeface="Calibri"/>
              <a:sym typeface="Calibri"/>
            </a:endParaRPr>
          </a:p>
        </p:txBody>
      </p:sp>
      <p:pic>
        <p:nvPicPr>
          <p:cNvPr descr="hh-web/public/images/textbook/unit-6/iwo-jima-flag-raising-1945.jpg" id="515" name="Google Shape;515;p27"/>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516" name="Google Shape;516;p27"/>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900"/>
              <a:buFont typeface="Trebuchet MS"/>
              <a:buNone/>
            </a:pPr>
            <a:r>
              <a:rPr b="1" i="0" lang="en-US" sz="900" u="none" cap="none" strike="noStrike">
                <a:solidFill>
                  <a:srgbClr val="1B2A4A"/>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517" name="Google Shape;517;p27"/>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US.49 · DI 2 of 4 · Allied Military Leaders</a:t>
            </a:r>
            <a:endParaRPr b="0" i="0" sz="1000" u="none" cap="none" strike="noStrike">
              <a:solidFill>
                <a:schemeClr val="dk1"/>
              </a:solidFill>
              <a:latin typeface="Calibri"/>
              <a:ea typeface="Calibri"/>
              <a:cs typeface="Calibri"/>
              <a:sym typeface="Calibri"/>
            </a:endParaRPr>
          </a:p>
        </p:txBody>
      </p:sp>
      <p:sp>
        <p:nvSpPr>
          <p:cNvPr id="518" name="Google Shape;518;p2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19" name="Google Shape;519;p2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40</a:t>
            </a:r>
            <a:endParaRPr b="0" i="0" sz="900" u="none" cap="none" strike="noStrike">
              <a:solidFill>
                <a:schemeClr val="dk1"/>
              </a:solidFill>
              <a:latin typeface="Calibri"/>
              <a:ea typeface="Calibri"/>
              <a:cs typeface="Calibri"/>
              <a:sym typeface="Calibri"/>
            </a:endParaRPr>
          </a:p>
        </p:txBody>
      </p:sp>
      <p:sp>
        <p:nvSpPr>
          <p:cNvPr id="520" name="TextBox 519"/>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24" name="Shape 524"/>
        <p:cNvGrpSpPr/>
        <p:nvPr/>
      </p:nvGrpSpPr>
      <p:grpSpPr>
        <a:xfrm>
          <a:off x="0" y="0"/>
          <a:ext cx="0" cy="0"/>
          <a:chOff x="0" y="0"/>
          <a:chExt cx="0" cy="0"/>
        </a:xfrm>
      </p:grpSpPr>
      <p:sp>
        <p:nvSpPr>
          <p:cNvPr id="525" name="Google Shape;525;p28"/>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8"/>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8"/>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528" name="Google Shape;528;p28"/>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US.49</a:t>
            </a:r>
            <a:endParaRPr b="0" i="0" sz="1200" u="none" cap="none" strike="noStrike">
              <a:solidFill>
                <a:schemeClr val="dk1"/>
              </a:solidFill>
              <a:latin typeface="Calibri"/>
              <a:ea typeface="Calibri"/>
              <a:cs typeface="Calibri"/>
              <a:sym typeface="Calibri"/>
            </a:endParaRPr>
          </a:p>
        </p:txBody>
      </p:sp>
      <p:sp>
        <p:nvSpPr>
          <p:cNvPr id="529" name="Google Shape;529;p28"/>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Axis leaders — Hitler (Germany), Mussolini (Italy), and Tojo (Japan) — ruled as dictators, launching aggression and, in Hitler's case, the Holocaust.</a:t>
            </a:r>
            <a:endParaRPr b="0" i="0" sz="2300" u="none" cap="none" strike="noStrike">
              <a:solidFill>
                <a:schemeClr val="dk1"/>
              </a:solidFill>
              <a:latin typeface="Calibri"/>
              <a:ea typeface="Calibri"/>
              <a:cs typeface="Calibri"/>
              <a:sym typeface="Calibri"/>
            </a:endParaRPr>
          </a:p>
        </p:txBody>
      </p:sp>
      <p:sp>
        <p:nvSpPr>
          <p:cNvPr id="530" name="Google Shape;530;p28"/>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8"/>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8"/>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533" name="Google Shape;533;p28"/>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Axis leaders — Hitler (Germany), Mussolini (Italy), and Tojo (Japan) — ruled as dictators, launching aggression and, in Hitler's case, the Holocaust.</a:t>
            </a:r>
            <a:endParaRPr b="0" i="0" sz="2200" u="none" cap="none" strike="noStrike">
              <a:solidFill>
                <a:schemeClr val="dk1"/>
              </a:solidFill>
              <a:latin typeface="Calibri"/>
              <a:ea typeface="Calibri"/>
              <a:cs typeface="Calibri"/>
              <a:sym typeface="Calibri"/>
            </a:endParaRPr>
          </a:p>
        </p:txBody>
      </p:sp>
      <p:sp>
        <p:nvSpPr>
          <p:cNvPr id="534" name="Google Shape;534;p28"/>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US.49 · DI 3 of 4 · Axis Leaders</a:t>
            </a:r>
            <a:endParaRPr b="0" i="0" sz="1000" u="none" cap="none" strike="noStrike">
              <a:solidFill>
                <a:schemeClr val="dk1"/>
              </a:solidFill>
              <a:latin typeface="Calibri"/>
              <a:ea typeface="Calibri"/>
              <a:cs typeface="Calibri"/>
              <a:sym typeface="Calibri"/>
            </a:endParaRPr>
          </a:p>
        </p:txBody>
      </p:sp>
      <p:sp>
        <p:nvSpPr>
          <p:cNvPr id="535" name="Google Shape;535;p2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36" name="Google Shape;536;p2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41</a:t>
            </a:r>
            <a:endParaRPr b="0" i="0" sz="900" u="none" cap="none" strike="noStrike">
              <a:solidFill>
                <a:schemeClr val="dk1"/>
              </a:solidFill>
              <a:latin typeface="Calibri"/>
              <a:ea typeface="Calibri"/>
              <a:cs typeface="Calibri"/>
              <a:sym typeface="Calibri"/>
            </a:endParaRPr>
          </a:p>
        </p:txBody>
      </p:sp>
      <p:sp>
        <p:nvSpPr>
          <p:cNvPr id="537" name="TextBox 536"/>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41" name="Shape 541"/>
        <p:cNvGrpSpPr/>
        <p:nvPr/>
      </p:nvGrpSpPr>
      <p:grpSpPr>
        <a:xfrm>
          <a:off x="0" y="0"/>
          <a:ext cx="0" cy="0"/>
          <a:chOff x="0" y="0"/>
          <a:chExt cx="0" cy="0"/>
        </a:xfrm>
      </p:grpSpPr>
      <p:sp>
        <p:nvSpPr>
          <p:cNvPr id="542" name="Google Shape;542;p29"/>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9"/>
          <p:cNvSpPr/>
          <p:nvPr/>
        </p:nvSpPr>
        <p:spPr>
          <a:xfrm>
            <a:off x="0" y="155448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9"/>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545" name="Google Shape;545;p29"/>
          <p:cNvSpPr/>
          <p:nvPr/>
        </p:nvSpPr>
        <p:spPr>
          <a:xfrm>
            <a:off x="3886200" y="27432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US.49</a:t>
            </a:r>
            <a:endParaRPr b="0" i="0" sz="1200" u="none" cap="none" strike="noStrike">
              <a:solidFill>
                <a:schemeClr val="dk1"/>
              </a:solidFill>
              <a:latin typeface="Calibri"/>
              <a:ea typeface="Calibri"/>
              <a:cs typeface="Calibri"/>
              <a:sym typeface="Calibri"/>
            </a:endParaRPr>
          </a:p>
        </p:txBody>
      </p:sp>
      <p:sp>
        <p:nvSpPr>
          <p:cNvPr id="546" name="Google Shape;546;p29"/>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Read Churchill’s “We Shall Fight on the Beaches” Speech — weigh the speaker, moment, and audience before you read the words.</a:t>
            </a:r>
            <a:endParaRPr b="0" i="0" sz="2000" u="none" cap="none" strike="noStrike">
              <a:solidFill>
                <a:schemeClr val="dk1"/>
              </a:solidFill>
              <a:latin typeface="Calibri"/>
              <a:ea typeface="Calibri"/>
              <a:cs typeface="Calibri"/>
              <a:sym typeface="Calibri"/>
            </a:endParaRPr>
          </a:p>
        </p:txBody>
      </p:sp>
      <p:sp>
        <p:nvSpPr>
          <p:cNvPr id="547" name="Google Shape;547;p29"/>
          <p:cNvSpPr/>
          <p:nvPr/>
        </p:nvSpPr>
        <p:spPr>
          <a:xfrm>
            <a:off x="45720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548" name="Google Shape;548;p29"/>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Winston Churchill</a:t>
            </a:r>
            <a:endParaRPr b="0" i="0" sz="1200" u="none" cap="none" strike="noStrike">
              <a:solidFill>
                <a:schemeClr val="dk1"/>
              </a:solidFill>
              <a:latin typeface="Calibri"/>
              <a:ea typeface="Calibri"/>
              <a:cs typeface="Calibri"/>
              <a:sym typeface="Calibri"/>
            </a:endParaRPr>
          </a:p>
        </p:txBody>
      </p:sp>
      <p:sp>
        <p:nvSpPr>
          <p:cNvPr id="549" name="Google Shape;549;p29"/>
          <p:cNvSpPr/>
          <p:nvPr/>
        </p:nvSpPr>
        <p:spPr>
          <a:xfrm>
            <a:off x="425196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550" name="Google Shape;550;p29"/>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June 4, 1940</a:t>
            </a:r>
            <a:endParaRPr b="0" i="0" sz="1200" u="none" cap="none" strike="noStrike">
              <a:solidFill>
                <a:schemeClr val="dk1"/>
              </a:solidFill>
              <a:latin typeface="Calibri"/>
              <a:ea typeface="Calibri"/>
              <a:cs typeface="Calibri"/>
              <a:sym typeface="Calibri"/>
            </a:endParaRPr>
          </a:p>
        </p:txBody>
      </p:sp>
      <p:sp>
        <p:nvSpPr>
          <p:cNvPr id="551" name="Google Shape;551;p29"/>
          <p:cNvSpPr/>
          <p:nvPr/>
        </p:nvSpPr>
        <p:spPr>
          <a:xfrm>
            <a:off x="804672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552" name="Google Shape;552;p29"/>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Consider the author's purpose and audience before reading the words.</a:t>
            </a:r>
            <a:endParaRPr b="0" i="0" sz="1200" u="none" cap="none" strike="noStrike">
              <a:solidFill>
                <a:schemeClr val="dk1"/>
              </a:solidFill>
              <a:latin typeface="Calibri"/>
              <a:ea typeface="Calibri"/>
              <a:cs typeface="Calibri"/>
              <a:sym typeface="Calibri"/>
            </a:endParaRPr>
          </a:p>
        </p:txBody>
      </p:sp>
      <p:sp>
        <p:nvSpPr>
          <p:cNvPr id="553" name="Google Shape;553;p29"/>
          <p:cNvSpPr/>
          <p:nvPr/>
        </p:nvSpPr>
        <p:spPr>
          <a:xfrm>
            <a:off x="457200" y="3200400"/>
            <a:ext cx="5532120" cy="2651760"/>
          </a:xfrm>
          <a:prstGeom prst="rect">
            <a:avLst/>
          </a:prstGeom>
          <a:solidFill>
            <a:srgbClr val="FFFFFF"/>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9"/>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We Shall Fight on the Beaches Speech</a:t>
            </a:r>
            <a:endParaRPr b="0" i="0" sz="1400" u="none" cap="none" strike="noStrike">
              <a:solidFill>
                <a:schemeClr val="dk1"/>
              </a:solidFill>
              <a:latin typeface="Calibri"/>
              <a:ea typeface="Calibri"/>
              <a:cs typeface="Calibri"/>
              <a:sym typeface="Calibri"/>
            </a:endParaRPr>
          </a:p>
        </p:txBody>
      </p:sp>
      <p:sp>
        <p:nvSpPr>
          <p:cNvPr id="555" name="Google Shape;555;p29"/>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Winston Churchill · June 4, 1940</a:t>
            </a:r>
            <a:endParaRPr b="0" i="0" sz="900" u="none" cap="none" strike="noStrike">
              <a:solidFill>
                <a:schemeClr val="dk1"/>
              </a:solidFill>
              <a:latin typeface="Calibri"/>
              <a:ea typeface="Calibri"/>
              <a:cs typeface="Calibri"/>
              <a:sym typeface="Calibri"/>
            </a:endParaRPr>
          </a:p>
        </p:txBody>
      </p:sp>
      <p:sp>
        <p:nvSpPr>
          <p:cNvPr id="556" name="Google Shape;556;p29"/>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"We shall fight on the beaches, we shall fight on the landing grounds, we shall fight in the fields and in the streets, we shall fight in the hills; we shall never surrender, and even if, which I do not for a moment believe, this Island or a large part of it were subjugated and starving, then our Empire beyond the seas... would carry on the struggle."</a:t>
            </a:r>
            <a:endParaRPr b="0" i="0" sz="1100" u="none" cap="none" strike="noStrike">
              <a:solidFill>
                <a:schemeClr val="dk1"/>
              </a:solidFill>
              <a:latin typeface="Calibri"/>
              <a:ea typeface="Calibri"/>
              <a:cs typeface="Calibri"/>
              <a:sym typeface="Calibri"/>
            </a:endParaRPr>
          </a:p>
        </p:txBody>
      </p:sp>
      <p:sp>
        <p:nvSpPr>
          <p:cNvPr id="557" name="Google Shape;557;p29">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International Churchill Society</a:t>
            </a:r>
            <a:endParaRPr b="0" i="0" sz="900" u="none" cap="none" strike="noStrike">
              <a:solidFill>
                <a:schemeClr val="dk1"/>
              </a:solidFill>
              <a:latin typeface="Calibri"/>
              <a:ea typeface="Calibri"/>
              <a:cs typeface="Calibri"/>
              <a:sym typeface="Calibri"/>
            </a:endParaRPr>
          </a:p>
        </p:txBody>
      </p:sp>
      <p:sp>
        <p:nvSpPr>
          <p:cNvPr id="558" name="Google Shape;558;p2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59" name="Google Shape;559;p2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43</a:t>
            </a:r>
            <a:endParaRPr b="0" i="0" sz="900" u="none" cap="none" strike="noStrike">
              <a:solidFill>
                <a:schemeClr val="dk1"/>
              </a:solidFill>
              <a:latin typeface="Calibri"/>
              <a:ea typeface="Calibri"/>
              <a:cs typeface="Calibri"/>
              <a:sym typeface="Calibri"/>
            </a:endParaRPr>
          </a:p>
        </p:txBody>
      </p:sp>
      <p:sp>
        <p:nvSpPr>
          <p:cNvPr id="560" name="TextBox 559"/>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Primary Source &amp; HIPPO (Act 5)</a:t>
            </a: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564" name="Shape 564"/>
        <p:cNvGrpSpPr/>
        <p:nvPr/>
      </p:nvGrpSpPr>
      <p:grpSpPr>
        <a:xfrm>
          <a:off x="0" y="0"/>
          <a:ext cx="0" cy="0"/>
          <a:chOff x="0" y="0"/>
          <a:chExt cx="0" cy="0"/>
        </a:xfrm>
      </p:grpSpPr>
      <p:sp>
        <p:nvSpPr>
          <p:cNvPr id="565" name="Google Shape;565;p30"/>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566" name="Google Shape;566;p30"/>
          <p:cNvSpPr/>
          <p:nvPr/>
        </p:nvSpPr>
        <p:spPr>
          <a:xfrm>
            <a:off x="3886200" y="27432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US.49</a:t>
            </a:r>
            <a:endParaRPr b="0" i="0" sz="1200" u="none" cap="none" strike="noStrike">
              <a:solidFill>
                <a:schemeClr val="dk1"/>
              </a:solidFill>
              <a:latin typeface="Calibri"/>
              <a:ea typeface="Calibri"/>
              <a:cs typeface="Calibri"/>
              <a:sym typeface="Calibri"/>
            </a:endParaRPr>
          </a:p>
        </p:txBody>
      </p:sp>
      <p:sp>
        <p:nvSpPr>
          <p:cNvPr id="567" name="Google Shape;567;p30"/>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C7D4E0"/>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568" name="Google Shape;568;p30"/>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30"/>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30"/>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571" name="Google Shape;571;p30"/>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572" name="Google Shape;572;p30"/>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US.49:</a:t>
            </a:r>
            <a:endParaRPr b="0" i="0" sz="1000" u="none" cap="none" strike="noStrike">
              <a:solidFill>
                <a:schemeClr val="dk1"/>
              </a:solidFill>
              <a:latin typeface="Calibri"/>
              <a:ea typeface="Calibri"/>
              <a:cs typeface="Calibri"/>
              <a:sym typeface="Calibri"/>
            </a:endParaRPr>
          </a:p>
        </p:txBody>
      </p:sp>
      <p:sp>
        <p:nvSpPr>
          <p:cNvPr id="573" name="Google Shape;573;p30"/>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Allied nations and their peoples, freed from Axis conquest, and leaders like Churchill and Eisenhower whose reputations were cemented by victory.</a:t>
            </a:r>
            <a:endParaRPr b="0" i="0" sz="1200" u="none" cap="none" strike="noStrike">
              <a:solidFill>
                <a:schemeClr val="dk1"/>
              </a:solidFill>
              <a:latin typeface="Calibri"/>
              <a:ea typeface="Calibri"/>
              <a:cs typeface="Calibri"/>
              <a:sym typeface="Calibri"/>
            </a:endParaRPr>
          </a:p>
        </p:txBody>
      </p:sp>
      <p:sp>
        <p:nvSpPr>
          <p:cNvPr id="574" name="Google Shape;574;p30"/>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30"/>
          <p:cNvSpPr/>
          <p:nvPr/>
        </p:nvSpPr>
        <p:spPr>
          <a:xfrm>
            <a:off x="4251960" y="1783080"/>
            <a:ext cx="3566160" cy="54864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30"/>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577" name="Google Shape;577;p30"/>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578" name="Google Shape;578;p30"/>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US.49:</a:t>
            </a:r>
            <a:endParaRPr b="0" i="0" sz="1000" u="none" cap="none" strike="noStrike">
              <a:solidFill>
                <a:schemeClr val="dk1"/>
              </a:solidFill>
              <a:latin typeface="Calibri"/>
              <a:ea typeface="Calibri"/>
              <a:cs typeface="Calibri"/>
              <a:sym typeface="Calibri"/>
            </a:endParaRPr>
          </a:p>
        </p:txBody>
      </p:sp>
      <p:sp>
        <p:nvSpPr>
          <p:cNvPr id="579" name="Google Shape;579;p30"/>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tens of millions of soldiers and civilians killed worldwide, and the populations subjected to Axis occupation and total war.</a:t>
            </a:r>
            <a:endParaRPr b="0" i="0" sz="1200" u="none" cap="none" strike="noStrike">
              <a:solidFill>
                <a:schemeClr val="dk1"/>
              </a:solidFill>
              <a:latin typeface="Calibri"/>
              <a:ea typeface="Calibri"/>
              <a:cs typeface="Calibri"/>
              <a:sym typeface="Calibri"/>
            </a:endParaRPr>
          </a:p>
        </p:txBody>
      </p:sp>
      <p:sp>
        <p:nvSpPr>
          <p:cNvPr id="580" name="Google Shape;580;p30"/>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30"/>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30"/>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583" name="Google Shape;583;p30"/>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584" name="Google Shape;584;p30"/>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US.49:</a:t>
            </a:r>
            <a:endParaRPr b="0" i="0" sz="1000" u="none" cap="none" strike="noStrike">
              <a:solidFill>
                <a:schemeClr val="dk1"/>
              </a:solidFill>
              <a:latin typeface="Calibri"/>
              <a:ea typeface="Calibri"/>
              <a:cs typeface="Calibri"/>
              <a:sym typeface="Calibri"/>
            </a:endParaRPr>
          </a:p>
        </p:txBody>
      </p:sp>
      <p:sp>
        <p:nvSpPr>
          <p:cNvPr id="585" name="Google Shape;585;p30"/>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Allied and Axis heads of state and their top commanders, whose strategic decisions directed the movements of entire armies.</a:t>
            </a:r>
            <a:endParaRPr b="0" i="0" sz="1200" u="none" cap="none" strike="noStrike">
              <a:solidFill>
                <a:schemeClr val="dk1"/>
              </a:solidFill>
              <a:latin typeface="Calibri"/>
              <a:ea typeface="Calibri"/>
              <a:cs typeface="Calibri"/>
              <a:sym typeface="Calibri"/>
            </a:endParaRPr>
          </a:p>
        </p:txBody>
      </p:sp>
      <p:sp>
        <p:nvSpPr>
          <p:cNvPr id="586" name="Google Shape;586;p30"/>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C7D4E0"/>
                </a:solidFill>
                <a:latin typeface="Trebuchet MS"/>
                <a:ea typeface="Trebuchet MS"/>
                <a:cs typeface="Trebuchet MS"/>
                <a:sym typeface="Trebuchet MS"/>
              </a:rPr>
              <a:t>Anchor: We Shall Fight on the Beaches Speech, Winston Churchill, June 4, 1940 (International Churchill Society)</a:t>
            </a:r>
            <a:endParaRPr b="0" i="0" sz="1000" u="none" cap="none" strike="noStrike">
              <a:solidFill>
                <a:schemeClr val="dk1"/>
              </a:solidFill>
              <a:latin typeface="Calibri"/>
              <a:ea typeface="Calibri"/>
              <a:cs typeface="Calibri"/>
              <a:sym typeface="Calibri"/>
            </a:endParaRPr>
          </a:p>
        </p:txBody>
      </p:sp>
      <p:sp>
        <p:nvSpPr>
          <p:cNvPr id="587" name="Google Shape;587;p3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88" name="Google Shape;588;p3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44</a:t>
            </a:r>
            <a:endParaRPr b="0" i="0" sz="900" u="none" cap="none" strike="noStrike">
              <a:solidFill>
                <a:schemeClr val="dk1"/>
              </a:solidFill>
              <a:latin typeface="Calibri"/>
              <a:ea typeface="Calibri"/>
              <a:cs typeface="Calibri"/>
              <a:sym typeface="Calibri"/>
            </a:endParaRPr>
          </a:p>
        </p:txBody>
      </p:sp>
      <p:sp>
        <p:nvSpPr>
          <p:cNvPr id="589" name="TextBox 588"/>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Constructed Response (Act 7)</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US.49</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38</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938528"/>
            <a:ext cx="137160" cy="292608"/>
          </a:xfrm>
          <a:prstGeom prst="rect">
            <a:avLst/>
          </a:prstGeom>
          <a:solidFill>
            <a:srgbClr val="B22234"/>
          </a:solidFill>
          <a:ln/>
        </p:spPr>
        <p:txBody>
          <a:bodyPr/>
          <a:p/>
        </p:txBody>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Dwight D. Eisenhower</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Dwight D. Eisenhower</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Supreme Commander of Allied Forces in Europe who planned and led the D-Day invasion and coordinated Allied victory in Europe. Later became 34th President.</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938528"/>
            <a:ext cx="137160" cy="292608"/>
          </a:xfrm>
          <a:prstGeom prst="rect">
            <a:avLst/>
          </a:prstGeom>
          <a:solidFill>
            <a:srgbClr val="B22234"/>
          </a:solidFill>
          <a:ln/>
        </p:spPr>
        <p:txBody>
          <a:bodyPr/>
          <a:p/>
        </p:txBody>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Adolf Hitler</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Adolf Hitler</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Nazi dictator of Germany (1933-1945) who led Germany into World War II and orchestrated the Holocaust, resulting in the deaths of 6 million Jews and millions of others.</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938528"/>
            <a:ext cx="137160" cy="292608"/>
          </a:xfrm>
          <a:prstGeom prst="rect">
            <a:avLst/>
          </a:prstGeom>
          <a:solidFill>
            <a:srgbClr val="B22234"/>
          </a:solidFill>
          <a:ln/>
        </p:spPr>
        <p:txBody>
          <a:bodyPr/>
          <a:p/>
        </p:txBody>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Joseph Stalin</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Joseph Stalin</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Communist dictator of the Soviet Union (1924-1953) who ruled through terror, forced collectivization, and purges, resulting in millions of deaths.</a:t>
            </a:r>
            <a:endParaRPr lang="en-US" sz="1300" dirty="0"/>
          </a:p>
        </p:txBody>
      </p:sp>
      <p:sp>
        <p:nvSpPr>
          <p:cNvPr id="25" name="TextBox 24"/>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Vocabulary (Act 1–2)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US.49</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45</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How did Allied leaders like Roosevelt, Churchill, and Stalin coordinate their war efforts despite different goals?</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Through conferences at Tehran and Yalta, the "Europe First" strategy, and division of responsibilities, they maintained cooperation despite tensions over post-war Europe and different ideological systems</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txBody>
          <a:bodyPr/>
          <a:p/>
        </p:txBody>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They never coordinated their efforts, which does not align with the documented historical record and oversimplifies the complex factors at work during this period despite the fact that multiple contemporary sources contradict this</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txBody>
          <a:bodyPr/>
          <a:p/>
        </p:txBody>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Stalin made all decisions for the alliance, though this interpretation lacks supporting historical evidence, although this overlooks critical economic and social factors involved</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txBody>
          <a:bodyPr/>
          <a:p/>
        </p:txBody>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They fought completely separate wars, although historical sources do not support this conclusion and oversimplifies the complex factors at work during this period when examined alongside the available primary and secondary sources</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
        <p:nvSpPr>
          <p:cNvPr id="22" name="TextBox 21"/>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Practice Quiz (Act 6)</a:t>
            </a: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593" name="Shape 593"/>
        <p:cNvGrpSpPr/>
        <p:nvPr/>
      </p:nvGrpSpPr>
      <p:grpSpPr>
        <a:xfrm>
          <a:off x="0" y="0"/>
          <a:ext cx="0" cy="0"/>
          <a:chOff x="0" y="0"/>
          <a:chExt cx="0" cy="0"/>
        </a:xfrm>
      </p:grpSpPr>
      <p:sp>
        <p:nvSpPr>
          <p:cNvPr id="594" name="Google Shape;594;p31"/>
          <p:cNvSpPr/>
          <p:nvPr/>
        </p:nvSpPr>
        <p:spPr>
          <a:xfrm>
            <a:off x="0" y="2331720"/>
            <a:ext cx="12191695" cy="73152"/>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31"/>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6000"/>
              <a:buFont typeface="Georgia"/>
              <a:buNone/>
            </a:pPr>
            <a:r>
              <a:rPr b="1" i="0" lang="en-US" sz="6000" u="none" cap="none" strike="noStrike">
                <a:solidFill>
                  <a:srgbClr val="C89B3C"/>
                </a:solidFill>
                <a:latin typeface="Georgia"/>
                <a:ea typeface="Georgia"/>
                <a:cs typeface="Georgia"/>
                <a:sym typeface="Georgia"/>
              </a:rPr>
              <a:t>US.50</a:t>
            </a:r>
            <a:endParaRPr b="0" i="0" sz="6000" u="none" cap="none" strike="noStrike">
              <a:solidFill>
                <a:schemeClr val="dk1"/>
              </a:solidFill>
              <a:latin typeface="Calibri"/>
              <a:ea typeface="Calibri"/>
              <a:cs typeface="Calibri"/>
              <a:sym typeface="Calibri"/>
            </a:endParaRPr>
          </a:p>
        </p:txBody>
      </p:sp>
      <p:sp>
        <p:nvSpPr>
          <p:cNvPr id="596" name="Google Shape;596;p31"/>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Major WWII Battles: Midway, Iwo Jima, Okinawa &amp; D-Day</a:t>
            </a:r>
            <a:endParaRPr b="0" i="0" sz="2600" u="none" cap="none" strike="noStrike">
              <a:solidFill>
                <a:schemeClr val="dk1"/>
              </a:solidFill>
              <a:latin typeface="Calibri"/>
              <a:ea typeface="Calibri"/>
              <a:cs typeface="Calibri"/>
              <a:sym typeface="Calibri"/>
            </a:endParaRPr>
          </a:p>
        </p:txBody>
      </p:sp>
      <p:sp>
        <p:nvSpPr>
          <p:cNvPr id="597" name="Google Shape;597;p31"/>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598" name="Google Shape;598;p31"/>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C7D4E0"/>
                </a:solidFill>
                <a:latin typeface="Calibri"/>
                <a:ea typeface="Calibri"/>
                <a:cs typeface="Calibri"/>
                <a:sym typeface="Calibri"/>
              </a:rPr>
              <a:t>US.50 – Explain the role of geographic and military factors on the outcomes of battles in the Pacific and European theaters of war, including the Battles of Midway, Iwo Jima, Okinawa, and D-Day.</a:t>
            </a:r>
            <a:endParaRPr b="0" i="0" sz="1600" u="none" cap="none" strike="noStrike">
              <a:solidFill>
                <a:schemeClr val="dk1"/>
              </a:solidFill>
              <a:latin typeface="Calibri"/>
              <a:ea typeface="Calibri"/>
              <a:cs typeface="Calibri"/>
              <a:sym typeface="Calibri"/>
            </a:endParaRPr>
          </a:p>
        </p:txBody>
      </p:sp>
      <p:sp>
        <p:nvSpPr>
          <p:cNvPr id="599" name="Google Shape;599;p31"/>
          <p:cNvSpPr/>
          <p:nvPr/>
        </p:nvSpPr>
        <p:spPr>
          <a:xfrm>
            <a:off x="457200" y="4892040"/>
            <a:ext cx="11247120" cy="123444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31"/>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601" name="Google Shape;601;p31"/>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1400"/>
              <a:buFont typeface="Calibri"/>
              <a:buNone/>
            </a:pPr>
            <a:r>
              <a:rPr b="1" i="0" lang="en-US" sz="1400" u="none" cap="none" strike="noStrike">
                <a:solidFill>
                  <a:srgbClr val="1B2A4A"/>
                </a:solidFill>
                <a:latin typeface="Calibri"/>
                <a:ea typeface="Calibri"/>
                <a:cs typeface="Calibri"/>
                <a:sym typeface="Calibri"/>
              </a:rPr>
              <a:t>I can explain the role of geographic and military factors on the outcomes of battles in the Pacific and European theaters, including Midway, Iwo Jima, Okinawa, and D-Day.</a:t>
            </a:r>
            <a:endParaRPr b="0" i="0" sz="1400" u="none" cap="none" strike="noStrike">
              <a:solidFill>
                <a:schemeClr val="dk1"/>
              </a:solidFill>
              <a:latin typeface="Calibri"/>
              <a:ea typeface="Calibri"/>
              <a:cs typeface="Calibri"/>
              <a:sym typeface="Calibri"/>
            </a:endParaRPr>
          </a:p>
        </p:txBody>
      </p:sp>
      <p:sp>
        <p:nvSpPr>
          <p:cNvPr id="602" name="Google Shape;602;p3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603" name="Google Shape;603;p3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46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608" name="Shape 608"/>
        <p:cNvGrpSpPr/>
        <p:nvPr/>
      </p:nvGrpSpPr>
      <p:grpSpPr>
        <a:xfrm>
          <a:off x="0" y="0"/>
          <a:ext cx="0" cy="0"/>
          <a:chOff x="0" y="0"/>
          <a:chExt cx="0" cy="0"/>
        </a:xfrm>
      </p:grpSpPr>
      <p:sp>
        <p:nvSpPr>
          <p:cNvPr id="609" name="Google Shape;609;p32"/>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32"/>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32"/>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612" name="Google Shape;612;p32"/>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US.50</a:t>
            </a:r>
            <a:endParaRPr b="0" i="0" sz="1200" u="none" cap="none" strike="noStrike">
              <a:solidFill>
                <a:schemeClr val="dk1"/>
              </a:solidFill>
              <a:latin typeface="Calibri"/>
              <a:ea typeface="Calibri"/>
              <a:cs typeface="Calibri"/>
              <a:sym typeface="Calibri"/>
            </a:endParaRPr>
          </a:p>
        </p:txBody>
      </p:sp>
      <p:sp>
        <p:nvSpPr>
          <p:cNvPr id="613" name="Google Shape;613;p32"/>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At Midway (June 1942), U.S. codebreakers set an ambush that sank four Japanese carriers — the turning point that shifted the Pacific to the Allies.</a:t>
            </a:r>
            <a:endParaRPr b="0" i="0" sz="2300" u="none" cap="none" strike="noStrike">
              <a:solidFill>
                <a:schemeClr val="dk1"/>
              </a:solidFill>
              <a:latin typeface="Calibri"/>
              <a:ea typeface="Calibri"/>
              <a:cs typeface="Calibri"/>
              <a:sym typeface="Calibri"/>
            </a:endParaRPr>
          </a:p>
        </p:txBody>
      </p:sp>
      <p:sp>
        <p:nvSpPr>
          <p:cNvPr id="614" name="Google Shape;614;p32"/>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32"/>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32"/>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617" name="Google Shape;617;p32"/>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At Midway (June 1942), U.S. codebreakers set an ambush that sank four Japanese carriers — the turning point that shifted the Pacific to the Allies.</a:t>
            </a:r>
            <a:endParaRPr b="0" i="0" sz="2200" u="none" cap="none" strike="noStrike">
              <a:solidFill>
                <a:schemeClr val="dk1"/>
              </a:solidFill>
              <a:latin typeface="Calibri"/>
              <a:ea typeface="Calibri"/>
              <a:cs typeface="Calibri"/>
              <a:sym typeface="Calibri"/>
            </a:endParaRPr>
          </a:p>
        </p:txBody>
      </p:sp>
      <p:sp>
        <p:nvSpPr>
          <p:cNvPr id="618" name="Google Shape;618;p32"/>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US.50 · DI 1 of 4 · Battle of Midway (June 1942)</a:t>
            </a:r>
            <a:endParaRPr b="0" i="0" sz="1000" u="none" cap="none" strike="noStrike">
              <a:solidFill>
                <a:schemeClr val="dk1"/>
              </a:solidFill>
              <a:latin typeface="Calibri"/>
              <a:ea typeface="Calibri"/>
              <a:cs typeface="Calibri"/>
              <a:sym typeface="Calibri"/>
            </a:endParaRPr>
          </a:p>
        </p:txBody>
      </p:sp>
      <p:sp>
        <p:nvSpPr>
          <p:cNvPr id="619" name="Google Shape;619;p3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620" name="Google Shape;620;p3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48</a:t>
            </a:r>
            <a:endParaRPr b="0" i="0" sz="900" u="none" cap="none" strike="noStrike">
              <a:solidFill>
                <a:schemeClr val="dk1"/>
              </a:solidFill>
              <a:latin typeface="Calibri"/>
              <a:ea typeface="Calibri"/>
              <a:cs typeface="Calibri"/>
              <a:sym typeface="Calibri"/>
            </a:endParaRPr>
          </a:p>
        </p:txBody>
      </p:sp>
      <p:sp>
        <p:nvSpPr>
          <p:cNvPr id="621" name="TextBox 620"/>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625" name="Shape 625"/>
        <p:cNvGrpSpPr/>
        <p:nvPr/>
      </p:nvGrpSpPr>
      <p:grpSpPr>
        <a:xfrm>
          <a:off x="0" y="0"/>
          <a:ext cx="0" cy="0"/>
          <a:chOff x="0" y="0"/>
          <a:chExt cx="0" cy="0"/>
        </a:xfrm>
      </p:grpSpPr>
      <p:sp>
        <p:nvSpPr>
          <p:cNvPr id="626" name="Google Shape;626;p33"/>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33"/>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33"/>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629" name="Google Shape;629;p33"/>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US.50</a:t>
            </a:r>
            <a:endParaRPr b="0" i="0" sz="1200" u="none" cap="none" strike="noStrike">
              <a:solidFill>
                <a:schemeClr val="dk1"/>
              </a:solidFill>
              <a:latin typeface="Calibri"/>
              <a:ea typeface="Calibri"/>
              <a:cs typeface="Calibri"/>
              <a:sym typeface="Calibri"/>
            </a:endParaRPr>
          </a:p>
        </p:txBody>
      </p:sp>
      <p:sp>
        <p:nvSpPr>
          <p:cNvPr id="630" name="Google Shape;630;p33"/>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Iwo Jima (Feb–Mar 1945) was a costly fight for airfields U.S. bombers needed; its tunnels and defenders made it one of the war's bloodiest battles.</a:t>
            </a:r>
            <a:endParaRPr b="0" i="0" sz="2300" u="none" cap="none" strike="noStrike">
              <a:solidFill>
                <a:schemeClr val="dk1"/>
              </a:solidFill>
              <a:latin typeface="Calibri"/>
              <a:ea typeface="Calibri"/>
              <a:cs typeface="Calibri"/>
              <a:sym typeface="Calibri"/>
            </a:endParaRPr>
          </a:p>
        </p:txBody>
      </p:sp>
      <p:pic>
        <p:nvPicPr>
          <p:cNvPr descr="hh-web/public/images/textbook/unit-6/iwo-jima-flag-raising-1945.jpg" id="631" name="Google Shape;631;p33"/>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632" name="Google Shape;632;p33"/>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900"/>
              <a:buFont typeface="Trebuchet MS"/>
              <a:buNone/>
            </a:pPr>
            <a:r>
              <a:rPr b="1" i="0" lang="en-US" sz="900" u="none" cap="none" strike="noStrike">
                <a:solidFill>
                  <a:srgbClr val="1B2A4A"/>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633" name="Google Shape;633;p33"/>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US.50 · DI 2 of 4 · Battle of Iwo Jima (Feb–Mar 1945)</a:t>
            </a:r>
            <a:endParaRPr b="0" i="0" sz="1000" u="none" cap="none" strike="noStrike">
              <a:solidFill>
                <a:schemeClr val="dk1"/>
              </a:solidFill>
              <a:latin typeface="Calibri"/>
              <a:ea typeface="Calibri"/>
              <a:cs typeface="Calibri"/>
              <a:sym typeface="Calibri"/>
            </a:endParaRPr>
          </a:p>
        </p:txBody>
      </p:sp>
      <p:sp>
        <p:nvSpPr>
          <p:cNvPr id="634" name="Google Shape;634;p3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635" name="Google Shape;635;p3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49</a:t>
            </a:r>
            <a:endParaRPr b="0" i="0" sz="900" u="none" cap="none" strike="noStrike">
              <a:solidFill>
                <a:schemeClr val="dk1"/>
              </a:solidFill>
              <a:latin typeface="Calibri"/>
              <a:ea typeface="Calibri"/>
              <a:cs typeface="Calibri"/>
              <a:sym typeface="Calibri"/>
            </a:endParaRPr>
          </a:p>
        </p:txBody>
      </p:sp>
      <p:sp>
        <p:nvSpPr>
          <p:cNvPr id="636" name="TextBox 635"/>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640" name="Shape 640"/>
        <p:cNvGrpSpPr/>
        <p:nvPr/>
      </p:nvGrpSpPr>
      <p:grpSpPr>
        <a:xfrm>
          <a:off x="0" y="0"/>
          <a:ext cx="0" cy="0"/>
          <a:chOff x="0" y="0"/>
          <a:chExt cx="0" cy="0"/>
        </a:xfrm>
      </p:grpSpPr>
      <p:sp>
        <p:nvSpPr>
          <p:cNvPr id="641" name="Google Shape;641;p34"/>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34"/>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34"/>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644" name="Google Shape;644;p34"/>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US.50</a:t>
            </a:r>
            <a:endParaRPr b="0" i="0" sz="1200" u="none" cap="none" strike="noStrike">
              <a:solidFill>
                <a:schemeClr val="dk1"/>
              </a:solidFill>
              <a:latin typeface="Calibri"/>
              <a:ea typeface="Calibri"/>
              <a:cs typeface="Calibri"/>
              <a:sym typeface="Calibri"/>
            </a:endParaRPr>
          </a:p>
        </p:txBody>
      </p:sp>
      <p:sp>
        <p:nvSpPr>
          <p:cNvPr id="645" name="Google Shape;645;p34"/>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On D-Day (June 6, 1944) Allied forces landed at Normandy, opening the Western Front in Europe and beginning the drive toward Germany.</a:t>
            </a:r>
            <a:endParaRPr b="0" i="0" sz="2300" u="none" cap="none" strike="noStrike">
              <a:solidFill>
                <a:schemeClr val="dk1"/>
              </a:solidFill>
              <a:latin typeface="Calibri"/>
              <a:ea typeface="Calibri"/>
              <a:cs typeface="Calibri"/>
              <a:sym typeface="Calibri"/>
            </a:endParaRPr>
          </a:p>
        </p:txBody>
      </p:sp>
      <p:pic>
        <p:nvPicPr>
          <p:cNvPr descr="hh-web/public/images/textbook/unit-6/dday-omaha-beach-1944.jpg" id="646" name="Google Shape;646;p34"/>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647" name="Google Shape;647;p34"/>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900"/>
              <a:buFont typeface="Trebuchet MS"/>
              <a:buNone/>
            </a:pPr>
            <a:r>
              <a:rPr b="1" i="0" lang="en-US" sz="900" u="none" cap="none" strike="noStrike">
                <a:solidFill>
                  <a:srgbClr val="1B2A4A"/>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648" name="Google Shape;648;p34"/>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US.50 · DI 4 of 4 · D-Day: Normandy Invasion (June 6, 1944)</a:t>
            </a:r>
            <a:endParaRPr b="0" i="0" sz="1000" u="none" cap="none" strike="noStrike">
              <a:solidFill>
                <a:schemeClr val="dk1"/>
              </a:solidFill>
              <a:latin typeface="Calibri"/>
              <a:ea typeface="Calibri"/>
              <a:cs typeface="Calibri"/>
              <a:sym typeface="Calibri"/>
            </a:endParaRPr>
          </a:p>
        </p:txBody>
      </p:sp>
      <p:sp>
        <p:nvSpPr>
          <p:cNvPr id="649" name="Google Shape;649;p3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650" name="Google Shape;650;p3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51</a:t>
            </a:r>
            <a:endParaRPr b="0" i="0" sz="900" u="none" cap="none" strike="noStrike">
              <a:solidFill>
                <a:schemeClr val="dk1"/>
              </a:solidFill>
              <a:latin typeface="Calibri"/>
              <a:ea typeface="Calibri"/>
              <a:cs typeface="Calibri"/>
              <a:sym typeface="Calibri"/>
            </a:endParaRPr>
          </a:p>
        </p:txBody>
      </p:sp>
      <p:sp>
        <p:nvSpPr>
          <p:cNvPr id="651" name="TextBox 650"/>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655" name="Shape 655"/>
        <p:cNvGrpSpPr/>
        <p:nvPr/>
      </p:nvGrpSpPr>
      <p:grpSpPr>
        <a:xfrm>
          <a:off x="0" y="0"/>
          <a:ext cx="0" cy="0"/>
          <a:chOff x="0" y="0"/>
          <a:chExt cx="0" cy="0"/>
        </a:xfrm>
      </p:grpSpPr>
      <p:sp>
        <p:nvSpPr>
          <p:cNvPr id="656" name="Google Shape;656;p35"/>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35"/>
          <p:cNvSpPr/>
          <p:nvPr/>
        </p:nvSpPr>
        <p:spPr>
          <a:xfrm>
            <a:off x="0" y="155448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35"/>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659" name="Google Shape;659;p35"/>
          <p:cNvSpPr/>
          <p:nvPr/>
        </p:nvSpPr>
        <p:spPr>
          <a:xfrm>
            <a:off x="3886200" y="27432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US.50</a:t>
            </a:r>
            <a:endParaRPr b="0" i="0" sz="1200" u="none" cap="none" strike="noStrike">
              <a:solidFill>
                <a:schemeClr val="dk1"/>
              </a:solidFill>
              <a:latin typeface="Calibri"/>
              <a:ea typeface="Calibri"/>
              <a:cs typeface="Calibri"/>
              <a:sym typeface="Calibri"/>
            </a:endParaRPr>
          </a:p>
        </p:txBody>
      </p:sp>
      <p:sp>
        <p:nvSpPr>
          <p:cNvPr id="660" name="Google Shape;660;p35"/>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Read Eisenhower’s D-Day Order of the Day — identify the author, date, and purpose before you analyze the source.</a:t>
            </a:r>
            <a:endParaRPr b="0" i="0" sz="2000" u="none" cap="none" strike="noStrike">
              <a:solidFill>
                <a:schemeClr val="dk1"/>
              </a:solidFill>
              <a:latin typeface="Calibri"/>
              <a:ea typeface="Calibri"/>
              <a:cs typeface="Calibri"/>
              <a:sym typeface="Calibri"/>
            </a:endParaRPr>
          </a:p>
        </p:txBody>
      </p:sp>
      <p:sp>
        <p:nvSpPr>
          <p:cNvPr id="661" name="Google Shape;661;p35"/>
          <p:cNvSpPr/>
          <p:nvPr/>
        </p:nvSpPr>
        <p:spPr>
          <a:xfrm>
            <a:off x="45720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662" name="Google Shape;662;p35"/>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General Dwight D. Eisenhower</a:t>
            </a:r>
            <a:endParaRPr b="0" i="0" sz="1200" u="none" cap="none" strike="noStrike">
              <a:solidFill>
                <a:schemeClr val="dk1"/>
              </a:solidFill>
              <a:latin typeface="Calibri"/>
              <a:ea typeface="Calibri"/>
              <a:cs typeface="Calibri"/>
              <a:sym typeface="Calibri"/>
            </a:endParaRPr>
          </a:p>
        </p:txBody>
      </p:sp>
      <p:sp>
        <p:nvSpPr>
          <p:cNvPr id="663" name="Google Shape;663;p35"/>
          <p:cNvSpPr/>
          <p:nvPr/>
        </p:nvSpPr>
        <p:spPr>
          <a:xfrm>
            <a:off x="425196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664" name="Google Shape;664;p35"/>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June 6, 1944</a:t>
            </a:r>
            <a:endParaRPr b="0" i="0" sz="1200" u="none" cap="none" strike="noStrike">
              <a:solidFill>
                <a:schemeClr val="dk1"/>
              </a:solidFill>
              <a:latin typeface="Calibri"/>
              <a:ea typeface="Calibri"/>
              <a:cs typeface="Calibri"/>
              <a:sym typeface="Calibri"/>
            </a:endParaRPr>
          </a:p>
        </p:txBody>
      </p:sp>
      <p:sp>
        <p:nvSpPr>
          <p:cNvPr id="665" name="Google Shape;665;p35"/>
          <p:cNvSpPr/>
          <p:nvPr/>
        </p:nvSpPr>
        <p:spPr>
          <a:xfrm>
            <a:off x="804672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666" name="Google Shape;666;p35"/>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Consider the author's purpose and audience before reading the words.</a:t>
            </a:r>
            <a:endParaRPr b="0" i="0" sz="1200" u="none" cap="none" strike="noStrike">
              <a:solidFill>
                <a:schemeClr val="dk1"/>
              </a:solidFill>
              <a:latin typeface="Calibri"/>
              <a:ea typeface="Calibri"/>
              <a:cs typeface="Calibri"/>
              <a:sym typeface="Calibri"/>
            </a:endParaRPr>
          </a:p>
        </p:txBody>
      </p:sp>
      <p:sp>
        <p:nvSpPr>
          <p:cNvPr id="667" name="Google Shape;667;p35"/>
          <p:cNvSpPr/>
          <p:nvPr/>
        </p:nvSpPr>
        <p:spPr>
          <a:xfrm>
            <a:off x="457200" y="3200400"/>
            <a:ext cx="5532120" cy="2651760"/>
          </a:xfrm>
          <a:prstGeom prst="rect">
            <a:avLst/>
          </a:prstGeom>
          <a:solidFill>
            <a:srgbClr val="FFFFFF"/>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35"/>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Order of the Day - D-Day</a:t>
            </a:r>
            <a:endParaRPr b="0" i="0" sz="1400" u="none" cap="none" strike="noStrike">
              <a:solidFill>
                <a:schemeClr val="dk1"/>
              </a:solidFill>
              <a:latin typeface="Calibri"/>
              <a:ea typeface="Calibri"/>
              <a:cs typeface="Calibri"/>
              <a:sym typeface="Calibri"/>
            </a:endParaRPr>
          </a:p>
        </p:txBody>
      </p:sp>
      <p:sp>
        <p:nvSpPr>
          <p:cNvPr id="669" name="Google Shape;669;p35"/>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General Dwight D. Eisenhower · June 6, 1944</a:t>
            </a:r>
            <a:endParaRPr b="0" i="0" sz="900" u="none" cap="none" strike="noStrike">
              <a:solidFill>
                <a:schemeClr val="dk1"/>
              </a:solidFill>
              <a:latin typeface="Calibri"/>
              <a:ea typeface="Calibri"/>
              <a:cs typeface="Calibri"/>
              <a:sym typeface="Calibri"/>
            </a:endParaRPr>
          </a:p>
        </p:txBody>
      </p:sp>
      <p:sp>
        <p:nvSpPr>
          <p:cNvPr id="670" name="Google Shape;670;p35"/>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"Soldiers, Sailors, and Airmen of the Allied Expeditionary Force! You are about to embark upon the Great Crusade, toward which we have striven these many months. The eyes of the world are upon you. The hope and prayers of liberty-loving people everywhere march with you... The tide has turned! The free men of the world are marching together to Victory!"</a:t>
            </a:r>
            <a:endParaRPr b="0" i="0" sz="1100" u="none" cap="none" strike="noStrike">
              <a:solidFill>
                <a:schemeClr val="dk1"/>
              </a:solidFill>
              <a:latin typeface="Calibri"/>
              <a:ea typeface="Calibri"/>
              <a:cs typeface="Calibri"/>
              <a:sym typeface="Calibri"/>
            </a:endParaRPr>
          </a:p>
        </p:txBody>
      </p:sp>
      <p:sp>
        <p:nvSpPr>
          <p:cNvPr id="671" name="Google Shape;671;p35">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National Archives</a:t>
            </a:r>
            <a:endParaRPr b="0" i="0" sz="900" u="none" cap="none" strike="noStrike">
              <a:solidFill>
                <a:schemeClr val="dk1"/>
              </a:solidFill>
              <a:latin typeface="Calibri"/>
              <a:ea typeface="Calibri"/>
              <a:cs typeface="Calibri"/>
              <a:sym typeface="Calibri"/>
            </a:endParaRPr>
          </a:p>
        </p:txBody>
      </p:sp>
      <p:sp>
        <p:nvSpPr>
          <p:cNvPr id="672" name="Google Shape;672;p3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673" name="Google Shape;673;p3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52</a:t>
            </a:r>
            <a:endParaRPr b="0" i="0" sz="900" u="none" cap="none" strike="noStrike">
              <a:solidFill>
                <a:schemeClr val="dk1"/>
              </a:solidFill>
              <a:latin typeface="Calibri"/>
              <a:ea typeface="Calibri"/>
              <a:cs typeface="Calibri"/>
              <a:sym typeface="Calibri"/>
            </a:endParaRPr>
          </a:p>
        </p:txBody>
      </p:sp>
      <p:sp>
        <p:nvSpPr>
          <p:cNvPr id="674" name="TextBox 673"/>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Primary Source &amp; HIPPO (Act 5)</a:t>
            </a: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678" name="Shape 678"/>
        <p:cNvGrpSpPr/>
        <p:nvPr/>
      </p:nvGrpSpPr>
      <p:grpSpPr>
        <a:xfrm>
          <a:off x="0" y="0"/>
          <a:ext cx="0" cy="0"/>
          <a:chOff x="0" y="0"/>
          <a:chExt cx="0" cy="0"/>
        </a:xfrm>
      </p:grpSpPr>
      <p:sp>
        <p:nvSpPr>
          <p:cNvPr id="679" name="Google Shape;679;p36"/>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680" name="Google Shape;680;p36"/>
          <p:cNvSpPr/>
          <p:nvPr/>
        </p:nvSpPr>
        <p:spPr>
          <a:xfrm>
            <a:off x="3886200" y="27432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US.50</a:t>
            </a:r>
            <a:endParaRPr b="0" i="0" sz="1200" u="none" cap="none" strike="noStrike">
              <a:solidFill>
                <a:schemeClr val="dk1"/>
              </a:solidFill>
              <a:latin typeface="Calibri"/>
              <a:ea typeface="Calibri"/>
              <a:cs typeface="Calibri"/>
              <a:sym typeface="Calibri"/>
            </a:endParaRPr>
          </a:p>
        </p:txBody>
      </p:sp>
      <p:sp>
        <p:nvSpPr>
          <p:cNvPr id="681" name="Google Shape;681;p36"/>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C7D4E0"/>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682" name="Google Shape;682;p36"/>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36"/>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36"/>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685" name="Google Shape;685;p36"/>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686" name="Google Shape;686;p36"/>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US.50:</a:t>
            </a:r>
            <a:endParaRPr b="0" i="0" sz="1000" u="none" cap="none" strike="noStrike">
              <a:solidFill>
                <a:schemeClr val="dk1"/>
              </a:solidFill>
              <a:latin typeface="Calibri"/>
              <a:ea typeface="Calibri"/>
              <a:cs typeface="Calibri"/>
              <a:sym typeface="Calibri"/>
            </a:endParaRPr>
          </a:p>
        </p:txBody>
      </p:sp>
      <p:sp>
        <p:nvSpPr>
          <p:cNvPr id="687" name="Google Shape;687;p36"/>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Allied cause and liberated peoples of Europe and the Pacific, as each victory brought the defeat of the Axis closer.</a:t>
            </a:r>
            <a:endParaRPr b="0" i="0" sz="1200" u="none" cap="none" strike="noStrike">
              <a:solidFill>
                <a:schemeClr val="dk1"/>
              </a:solidFill>
              <a:latin typeface="Calibri"/>
              <a:ea typeface="Calibri"/>
              <a:cs typeface="Calibri"/>
              <a:sym typeface="Calibri"/>
            </a:endParaRPr>
          </a:p>
        </p:txBody>
      </p:sp>
      <p:sp>
        <p:nvSpPr>
          <p:cNvPr id="688" name="Google Shape;688;p36"/>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36"/>
          <p:cNvSpPr/>
          <p:nvPr/>
        </p:nvSpPr>
        <p:spPr>
          <a:xfrm>
            <a:off x="4251960" y="1783080"/>
            <a:ext cx="3566160" cy="54864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36"/>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691" name="Google Shape;691;p36"/>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692" name="Google Shape;692;p36"/>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US.50:</a:t>
            </a:r>
            <a:endParaRPr b="0" i="0" sz="1000" u="none" cap="none" strike="noStrike">
              <a:solidFill>
                <a:schemeClr val="dk1"/>
              </a:solidFill>
              <a:latin typeface="Calibri"/>
              <a:ea typeface="Calibri"/>
              <a:cs typeface="Calibri"/>
              <a:sym typeface="Calibri"/>
            </a:endParaRPr>
          </a:p>
        </p:txBody>
      </p:sp>
      <p:sp>
        <p:nvSpPr>
          <p:cNvPr id="693" name="Google Shape;693;p36"/>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soldiers killed and wounded storming beaches and islands, and civilians caught in some of the deadliest battles of the war.</a:t>
            </a:r>
            <a:endParaRPr b="0" i="0" sz="1200" u="none" cap="none" strike="noStrike">
              <a:solidFill>
                <a:schemeClr val="dk1"/>
              </a:solidFill>
              <a:latin typeface="Calibri"/>
              <a:ea typeface="Calibri"/>
              <a:cs typeface="Calibri"/>
              <a:sym typeface="Calibri"/>
            </a:endParaRPr>
          </a:p>
        </p:txBody>
      </p:sp>
      <p:sp>
        <p:nvSpPr>
          <p:cNvPr id="694" name="Google Shape;694;p36"/>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36"/>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36"/>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697" name="Google Shape;697;p36"/>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698" name="Google Shape;698;p36"/>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US.50:</a:t>
            </a:r>
            <a:endParaRPr b="0" i="0" sz="1000" u="none" cap="none" strike="noStrike">
              <a:solidFill>
                <a:schemeClr val="dk1"/>
              </a:solidFill>
              <a:latin typeface="Calibri"/>
              <a:ea typeface="Calibri"/>
              <a:cs typeface="Calibri"/>
              <a:sym typeface="Calibri"/>
            </a:endParaRPr>
          </a:p>
        </p:txBody>
      </p:sp>
      <p:sp>
        <p:nvSpPr>
          <p:cNvPr id="699" name="Google Shape;699;p36"/>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Allied commanders like Eisenhower and Nimitz, who chose where and when to strike based on geographic and strategic advantage.</a:t>
            </a:r>
            <a:endParaRPr b="0" i="0" sz="1200" u="none" cap="none" strike="noStrike">
              <a:solidFill>
                <a:schemeClr val="dk1"/>
              </a:solidFill>
              <a:latin typeface="Calibri"/>
              <a:ea typeface="Calibri"/>
              <a:cs typeface="Calibri"/>
              <a:sym typeface="Calibri"/>
            </a:endParaRPr>
          </a:p>
        </p:txBody>
      </p:sp>
      <p:sp>
        <p:nvSpPr>
          <p:cNvPr id="700" name="Google Shape;700;p36"/>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C7D4E0"/>
                </a:solidFill>
                <a:latin typeface="Trebuchet MS"/>
                <a:ea typeface="Trebuchet MS"/>
                <a:cs typeface="Trebuchet MS"/>
                <a:sym typeface="Trebuchet MS"/>
              </a:rPr>
              <a:t>Anchor: Order of the Day - D-Day, General Dwight D. Eisenhower, June 6, 1944 (National Archives)</a:t>
            </a:r>
            <a:endParaRPr b="0" i="0" sz="1000" u="none" cap="none" strike="noStrike">
              <a:solidFill>
                <a:schemeClr val="dk1"/>
              </a:solidFill>
              <a:latin typeface="Calibri"/>
              <a:ea typeface="Calibri"/>
              <a:cs typeface="Calibri"/>
              <a:sym typeface="Calibri"/>
            </a:endParaRPr>
          </a:p>
        </p:txBody>
      </p:sp>
      <p:sp>
        <p:nvSpPr>
          <p:cNvPr id="701" name="Google Shape;701;p3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02" name="Google Shape;702;p3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53</a:t>
            </a:r>
            <a:endParaRPr b="0" i="0" sz="900" u="none" cap="none" strike="noStrike">
              <a:solidFill>
                <a:schemeClr val="dk1"/>
              </a:solidFill>
              <a:latin typeface="Calibri"/>
              <a:ea typeface="Calibri"/>
              <a:cs typeface="Calibri"/>
              <a:sym typeface="Calibri"/>
            </a:endParaRPr>
          </a:p>
        </p:txBody>
      </p:sp>
      <p:sp>
        <p:nvSpPr>
          <p:cNvPr id="703" name="TextBox 702"/>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Constructed Response (Act 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US.50</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47</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938528"/>
            <a:ext cx="137160" cy="292608"/>
          </a:xfrm>
          <a:prstGeom prst="rect">
            <a:avLst/>
          </a:prstGeom>
          <a:solidFill>
            <a:srgbClr val="B22234"/>
          </a:solidFill>
          <a:ln/>
        </p:spPr>
        <p:txBody>
          <a:bodyPr/>
          <a:p/>
        </p:txBody>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D-Day (Normandy Invasion)</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Día D (Invasión de Normandía)</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June 6, 1944 Allied invasion of Nazi-occupied France across the beaches of Normandy, the largest amphibious assault in history, turning point of the war in Europe.</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938528"/>
            <a:ext cx="137160" cy="292608"/>
          </a:xfrm>
          <a:prstGeom prst="rect">
            <a:avLst/>
          </a:prstGeom>
          <a:solidFill>
            <a:srgbClr val="B22234"/>
          </a:solidFill>
          <a:ln/>
        </p:spPr>
        <p:txBody>
          <a:bodyPr/>
          <a:p/>
        </p:txBody>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Battle of Midway</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Batalla de Midway</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June 1942 decisive U.S. naval victory that stopped Japanese expansion in the Pacific and marked the turning point of the Pacific War.</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938528"/>
            <a:ext cx="137160" cy="292608"/>
          </a:xfrm>
          <a:prstGeom prst="rect">
            <a:avLst/>
          </a:prstGeom>
          <a:solidFill>
            <a:srgbClr val="B22234"/>
          </a:solidFill>
          <a:ln/>
        </p:spPr>
        <p:txBody>
          <a:bodyPr/>
          <a:p/>
        </p:txBody>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Battle of Iwo Jima</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Batalla de Iwo Jima</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February-March 1945 brutal battle for a strategic Pacific island, famous for the iconic flag-raising photograph on Mount Suribachi.</a:t>
            </a:r>
            <a:endParaRPr lang="en-US" sz="1300" dirty="0"/>
          </a:p>
        </p:txBody>
      </p:sp>
      <p:sp>
        <p:nvSpPr>
          <p:cNvPr id="25" name="TextBox 24"/>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Vocabulary (Act 1–2)</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US.50</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54</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How did geographic features of the Pacific islands affect American military strategy in battles like Midway and Iwo Jima?</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Geography had no effect on Pacific strategy, though this interpretation lacks supporting historical evidence, although historical sources do not support this conclusion</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txBody>
          <a:bodyPr/>
          <a:p/>
        </p:txBody>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Midway's central location made it strategically vital, while Iwo Jima's volcanic terrain created natural fortifications requiring costly direct assault to secure airfields needed for bombing Japan</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txBody>
          <a:bodyPr/>
          <a:p/>
        </p:txBody>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All Pacific islands were geographically identical, which does not reflect the consensus among historians, but the historical evidence paints a more nuanced picture and does not reflect the scholarly consensus on this topic</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txBody>
          <a:bodyPr/>
          <a:p/>
        </p:txBody>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American forces avoided geographic challenges entirely, which does not align with the documented historical record, and this view has been largely revised by modern historical research</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
        <p:nvSpPr>
          <p:cNvPr id="22" name="TextBox 21"/>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Practice Quiz (Act 6)</a:t>
            </a: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707" name="Shape 707"/>
        <p:cNvGrpSpPr/>
        <p:nvPr/>
      </p:nvGrpSpPr>
      <p:grpSpPr>
        <a:xfrm>
          <a:off x="0" y="0"/>
          <a:ext cx="0" cy="0"/>
          <a:chOff x="0" y="0"/>
          <a:chExt cx="0" cy="0"/>
        </a:xfrm>
      </p:grpSpPr>
      <p:sp>
        <p:nvSpPr>
          <p:cNvPr id="708" name="Google Shape;708;p37"/>
          <p:cNvSpPr/>
          <p:nvPr/>
        </p:nvSpPr>
        <p:spPr>
          <a:xfrm>
            <a:off x="0" y="2331720"/>
            <a:ext cx="12191695" cy="73152"/>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37"/>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6000"/>
              <a:buFont typeface="Georgia"/>
              <a:buNone/>
            </a:pPr>
            <a:r>
              <a:rPr b="1" i="0" lang="en-US" sz="6000" u="none" cap="none" strike="noStrike">
                <a:solidFill>
                  <a:srgbClr val="C89B3C"/>
                </a:solidFill>
                <a:latin typeface="Georgia"/>
                <a:ea typeface="Georgia"/>
                <a:cs typeface="Georgia"/>
                <a:sym typeface="Georgia"/>
              </a:rPr>
              <a:t>US.51</a:t>
            </a:r>
            <a:endParaRPr b="0" i="0" sz="6000" u="none" cap="none" strike="noStrike">
              <a:solidFill>
                <a:schemeClr val="dk1"/>
              </a:solidFill>
              <a:latin typeface="Calibri"/>
              <a:ea typeface="Calibri"/>
              <a:cs typeface="Calibri"/>
              <a:sym typeface="Calibri"/>
            </a:endParaRPr>
          </a:p>
        </p:txBody>
      </p:sp>
      <p:sp>
        <p:nvSpPr>
          <p:cNvPr id="710" name="Google Shape;710;p37"/>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Special Fighting Forces in WWII</a:t>
            </a:r>
            <a:endParaRPr b="0" i="0" sz="2600" u="none" cap="none" strike="noStrike">
              <a:solidFill>
                <a:schemeClr val="dk1"/>
              </a:solidFill>
              <a:latin typeface="Calibri"/>
              <a:ea typeface="Calibri"/>
              <a:cs typeface="Calibri"/>
              <a:sym typeface="Calibri"/>
            </a:endParaRPr>
          </a:p>
        </p:txBody>
      </p:sp>
      <p:sp>
        <p:nvSpPr>
          <p:cNvPr id="711" name="Google Shape;711;p37"/>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712" name="Google Shape;712;p37"/>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C7D4E0"/>
                </a:solidFill>
                <a:latin typeface="Calibri"/>
                <a:ea typeface="Calibri"/>
                <a:cs typeface="Calibri"/>
                <a:sym typeface="Calibri"/>
              </a:rPr>
              <a:t>US.51 – Identify the roles and sacrifices of individual American soldiers, as well as the unique contributions of special fighting forces such as the Tuskegee Airmen, the 442nd Regimental Combat team, the 101st Airborne, and the Navajo Code Talkers.</a:t>
            </a:r>
            <a:endParaRPr b="0" i="0" sz="1600" u="none" cap="none" strike="noStrike">
              <a:solidFill>
                <a:schemeClr val="dk1"/>
              </a:solidFill>
              <a:latin typeface="Calibri"/>
              <a:ea typeface="Calibri"/>
              <a:cs typeface="Calibri"/>
              <a:sym typeface="Calibri"/>
            </a:endParaRPr>
          </a:p>
        </p:txBody>
      </p:sp>
      <p:sp>
        <p:nvSpPr>
          <p:cNvPr id="713" name="Google Shape;713;p37"/>
          <p:cNvSpPr/>
          <p:nvPr/>
        </p:nvSpPr>
        <p:spPr>
          <a:xfrm>
            <a:off x="457200" y="4892040"/>
            <a:ext cx="11247120" cy="123444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37"/>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715" name="Google Shape;715;p37"/>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1400"/>
              <a:buFont typeface="Calibri"/>
              <a:buNone/>
            </a:pPr>
            <a:r>
              <a:rPr b="1" i="0" lang="en-US" sz="1400" u="none" cap="none" strike="noStrike">
                <a:solidFill>
                  <a:srgbClr val="1B2A4A"/>
                </a:solidFill>
                <a:latin typeface="Calibri"/>
                <a:ea typeface="Calibri"/>
                <a:cs typeface="Calibri"/>
                <a:sym typeface="Calibri"/>
              </a:rPr>
              <a:t>I can identify the roles and sacrifices of individual American soldiers and the unique contributions of special fighting forces such as the Tuskegee Airmen, the 442nd Regimental Combat Team, the 101st Airborne, and the Navajo Code Talkers.</a:t>
            </a:r>
            <a:endParaRPr b="0" i="0" sz="1400" u="none" cap="none" strike="noStrike">
              <a:solidFill>
                <a:schemeClr val="dk1"/>
              </a:solidFill>
              <a:latin typeface="Calibri"/>
              <a:ea typeface="Calibri"/>
              <a:cs typeface="Calibri"/>
              <a:sym typeface="Calibri"/>
            </a:endParaRPr>
          </a:p>
        </p:txBody>
      </p:sp>
      <p:sp>
        <p:nvSpPr>
          <p:cNvPr id="716" name="Google Shape;716;p3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17" name="Google Shape;717;p3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55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722" name="Shape 722"/>
        <p:cNvGrpSpPr/>
        <p:nvPr/>
      </p:nvGrpSpPr>
      <p:grpSpPr>
        <a:xfrm>
          <a:off x="0" y="0"/>
          <a:ext cx="0" cy="0"/>
          <a:chOff x="0" y="0"/>
          <a:chExt cx="0" cy="0"/>
        </a:xfrm>
      </p:grpSpPr>
      <p:sp>
        <p:nvSpPr>
          <p:cNvPr id="723" name="Google Shape;723;p38"/>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38"/>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38"/>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726" name="Google Shape;726;p38"/>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US.51</a:t>
            </a:r>
            <a:endParaRPr b="0" i="0" sz="1200" u="none" cap="none" strike="noStrike">
              <a:solidFill>
                <a:schemeClr val="dk1"/>
              </a:solidFill>
              <a:latin typeface="Calibri"/>
              <a:ea typeface="Calibri"/>
              <a:cs typeface="Calibri"/>
              <a:sym typeface="Calibri"/>
            </a:endParaRPr>
          </a:p>
        </p:txBody>
      </p:sp>
      <p:sp>
        <p:nvSpPr>
          <p:cNvPr id="727" name="Google Shape;727;p38"/>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The Tuskegee Airmen were the first African American military aviators, trained in Alabama; their bomber-escort record proved Black pilots' skill and courage.</a:t>
            </a:r>
            <a:endParaRPr b="0" i="0" sz="2300" u="none" cap="none" strike="noStrike">
              <a:solidFill>
                <a:schemeClr val="dk1"/>
              </a:solidFill>
              <a:latin typeface="Calibri"/>
              <a:ea typeface="Calibri"/>
              <a:cs typeface="Calibri"/>
              <a:sym typeface="Calibri"/>
            </a:endParaRPr>
          </a:p>
        </p:txBody>
      </p:sp>
      <p:pic>
        <p:nvPicPr>
          <p:cNvPr descr="hh-web/public/images/textbook/unit-6/tuskegee-airmen-1945.jpg" id="728" name="Google Shape;728;p38"/>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729" name="Google Shape;729;p38"/>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900"/>
              <a:buFont typeface="Trebuchet MS"/>
              <a:buNone/>
            </a:pPr>
            <a:r>
              <a:rPr b="1" i="0" lang="en-US" sz="900" u="none" cap="none" strike="noStrike">
                <a:solidFill>
                  <a:srgbClr val="1B2A4A"/>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730" name="Google Shape;730;p38"/>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US.51 · DI 1 of 5 · Tuskegee Airmen</a:t>
            </a:r>
            <a:endParaRPr b="0" i="0" sz="1000" u="none" cap="none" strike="noStrike">
              <a:solidFill>
                <a:schemeClr val="dk1"/>
              </a:solidFill>
              <a:latin typeface="Calibri"/>
              <a:ea typeface="Calibri"/>
              <a:cs typeface="Calibri"/>
              <a:sym typeface="Calibri"/>
            </a:endParaRPr>
          </a:p>
        </p:txBody>
      </p:sp>
      <p:sp>
        <p:nvSpPr>
          <p:cNvPr id="731" name="Google Shape;731;p3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32" name="Google Shape;732;p3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57</a:t>
            </a:r>
            <a:endParaRPr b="0" i="0" sz="900" u="none" cap="none" strike="noStrike">
              <a:solidFill>
                <a:schemeClr val="dk1"/>
              </a:solidFill>
              <a:latin typeface="Calibri"/>
              <a:ea typeface="Calibri"/>
              <a:cs typeface="Calibri"/>
              <a:sym typeface="Calibri"/>
            </a:endParaRPr>
          </a:p>
        </p:txBody>
      </p:sp>
      <p:sp>
        <p:nvSpPr>
          <p:cNvPr id="733" name="TextBox 732"/>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737" name="Shape 737"/>
        <p:cNvGrpSpPr/>
        <p:nvPr/>
      </p:nvGrpSpPr>
      <p:grpSpPr>
        <a:xfrm>
          <a:off x="0" y="0"/>
          <a:ext cx="0" cy="0"/>
          <a:chOff x="0" y="0"/>
          <a:chExt cx="0" cy="0"/>
        </a:xfrm>
      </p:grpSpPr>
      <p:sp>
        <p:nvSpPr>
          <p:cNvPr id="738" name="Google Shape;738;p39"/>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39"/>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39"/>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741" name="Google Shape;741;p39"/>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US.51</a:t>
            </a:r>
            <a:endParaRPr b="0" i="0" sz="1200" u="none" cap="none" strike="noStrike">
              <a:solidFill>
                <a:schemeClr val="dk1"/>
              </a:solidFill>
              <a:latin typeface="Calibri"/>
              <a:ea typeface="Calibri"/>
              <a:cs typeface="Calibri"/>
              <a:sym typeface="Calibri"/>
            </a:endParaRPr>
          </a:p>
        </p:txBody>
      </p:sp>
      <p:sp>
        <p:nvSpPr>
          <p:cNvPr id="742" name="Google Shape;742;p39"/>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The “Screaming Eagles” of the 101st Airborne parachuted into Normandy on D-Day, securing bridges and crossroads behind enemy lines.</a:t>
            </a:r>
            <a:endParaRPr b="0" i="0" sz="2300" u="none" cap="none" strike="noStrike">
              <a:solidFill>
                <a:schemeClr val="dk1"/>
              </a:solidFill>
              <a:latin typeface="Calibri"/>
              <a:ea typeface="Calibri"/>
              <a:cs typeface="Calibri"/>
              <a:sym typeface="Calibri"/>
            </a:endParaRPr>
          </a:p>
        </p:txBody>
      </p:sp>
      <p:sp>
        <p:nvSpPr>
          <p:cNvPr id="743" name="Google Shape;743;p39"/>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39"/>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39"/>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746" name="Google Shape;746;p39"/>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The “Screaming Eagles” of the 101st Airborne parachuted into Normandy on D-Day, securing bridges and crossroads behind enemy lines.</a:t>
            </a:r>
            <a:endParaRPr b="0" i="0" sz="2200" u="none" cap="none" strike="noStrike">
              <a:solidFill>
                <a:schemeClr val="dk1"/>
              </a:solidFill>
              <a:latin typeface="Calibri"/>
              <a:ea typeface="Calibri"/>
              <a:cs typeface="Calibri"/>
              <a:sym typeface="Calibri"/>
            </a:endParaRPr>
          </a:p>
        </p:txBody>
      </p:sp>
      <p:sp>
        <p:nvSpPr>
          <p:cNvPr id="747" name="Google Shape;747;p39"/>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US.51 · DI 3 of 5 · 101st Airborne Division</a:t>
            </a:r>
            <a:endParaRPr b="0" i="0" sz="1000" u="none" cap="none" strike="noStrike">
              <a:solidFill>
                <a:schemeClr val="dk1"/>
              </a:solidFill>
              <a:latin typeface="Calibri"/>
              <a:ea typeface="Calibri"/>
              <a:cs typeface="Calibri"/>
              <a:sym typeface="Calibri"/>
            </a:endParaRPr>
          </a:p>
        </p:txBody>
      </p:sp>
      <p:sp>
        <p:nvSpPr>
          <p:cNvPr id="748" name="Google Shape;748;p3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49" name="Google Shape;749;p3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59</a:t>
            </a:r>
            <a:endParaRPr b="0" i="0" sz="900" u="none" cap="none" strike="noStrike">
              <a:solidFill>
                <a:schemeClr val="dk1"/>
              </a:solidFill>
              <a:latin typeface="Calibri"/>
              <a:ea typeface="Calibri"/>
              <a:cs typeface="Calibri"/>
              <a:sym typeface="Calibri"/>
            </a:endParaRPr>
          </a:p>
        </p:txBody>
      </p:sp>
      <p:sp>
        <p:nvSpPr>
          <p:cNvPr id="750" name="TextBox 749"/>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754" name="Shape 754"/>
        <p:cNvGrpSpPr/>
        <p:nvPr/>
      </p:nvGrpSpPr>
      <p:grpSpPr>
        <a:xfrm>
          <a:off x="0" y="0"/>
          <a:ext cx="0" cy="0"/>
          <a:chOff x="0" y="0"/>
          <a:chExt cx="0" cy="0"/>
        </a:xfrm>
      </p:grpSpPr>
      <p:sp>
        <p:nvSpPr>
          <p:cNvPr id="755" name="Google Shape;755;p40"/>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40"/>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40"/>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758" name="Google Shape;758;p40"/>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US.51</a:t>
            </a:r>
            <a:endParaRPr b="0" i="0" sz="1200" u="none" cap="none" strike="noStrike">
              <a:solidFill>
                <a:schemeClr val="dk1"/>
              </a:solidFill>
              <a:latin typeface="Calibri"/>
              <a:ea typeface="Calibri"/>
              <a:cs typeface="Calibri"/>
              <a:sym typeface="Calibri"/>
            </a:endParaRPr>
          </a:p>
        </p:txBody>
      </p:sp>
      <p:sp>
        <p:nvSpPr>
          <p:cNvPr id="759" name="Google Shape;759;p40"/>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Navajo Code Talkers built an unbreakable code from their native language — unknown outside their nation — that protected U.S. communications in the Pacific.</a:t>
            </a:r>
            <a:endParaRPr b="0" i="0" sz="2300" u="none" cap="none" strike="noStrike">
              <a:solidFill>
                <a:schemeClr val="dk1"/>
              </a:solidFill>
              <a:latin typeface="Calibri"/>
              <a:ea typeface="Calibri"/>
              <a:cs typeface="Calibri"/>
              <a:sym typeface="Calibri"/>
            </a:endParaRPr>
          </a:p>
        </p:txBody>
      </p:sp>
      <p:sp>
        <p:nvSpPr>
          <p:cNvPr id="760" name="Google Shape;760;p40"/>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40"/>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40"/>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763" name="Google Shape;763;p40"/>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Navajo Code Talkers built an unbreakable code from their native language — unknown outside their nation — that protected U.S. communications in the Pacific.</a:t>
            </a:r>
            <a:endParaRPr b="0" i="0" sz="2200" u="none" cap="none" strike="noStrike">
              <a:solidFill>
                <a:schemeClr val="dk1"/>
              </a:solidFill>
              <a:latin typeface="Calibri"/>
              <a:ea typeface="Calibri"/>
              <a:cs typeface="Calibri"/>
              <a:sym typeface="Calibri"/>
            </a:endParaRPr>
          </a:p>
        </p:txBody>
      </p:sp>
      <p:sp>
        <p:nvSpPr>
          <p:cNvPr id="764" name="Google Shape;764;p40"/>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US.51 · DI 4 of 5 · Navajo Code Talkers</a:t>
            </a:r>
            <a:endParaRPr b="0" i="0" sz="1000" u="none" cap="none" strike="noStrike">
              <a:solidFill>
                <a:schemeClr val="dk1"/>
              </a:solidFill>
              <a:latin typeface="Calibri"/>
              <a:ea typeface="Calibri"/>
              <a:cs typeface="Calibri"/>
              <a:sym typeface="Calibri"/>
            </a:endParaRPr>
          </a:p>
        </p:txBody>
      </p:sp>
      <p:sp>
        <p:nvSpPr>
          <p:cNvPr id="765" name="Google Shape;765;p4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66" name="Google Shape;766;p4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60</a:t>
            </a:r>
            <a:endParaRPr b="0" i="0" sz="900" u="none" cap="none" strike="noStrike">
              <a:solidFill>
                <a:schemeClr val="dk1"/>
              </a:solidFill>
              <a:latin typeface="Calibri"/>
              <a:ea typeface="Calibri"/>
              <a:cs typeface="Calibri"/>
              <a:sym typeface="Calibri"/>
            </a:endParaRPr>
          </a:p>
        </p:txBody>
      </p:sp>
      <p:sp>
        <p:nvSpPr>
          <p:cNvPr id="767" name="TextBox 766"/>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771" name="Shape 771"/>
        <p:cNvGrpSpPr/>
        <p:nvPr/>
      </p:nvGrpSpPr>
      <p:grpSpPr>
        <a:xfrm>
          <a:off x="0" y="0"/>
          <a:ext cx="0" cy="0"/>
          <a:chOff x="0" y="0"/>
          <a:chExt cx="0" cy="0"/>
        </a:xfrm>
      </p:grpSpPr>
      <p:sp>
        <p:nvSpPr>
          <p:cNvPr id="772" name="Google Shape;772;p41"/>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41"/>
          <p:cNvSpPr/>
          <p:nvPr/>
        </p:nvSpPr>
        <p:spPr>
          <a:xfrm>
            <a:off x="0" y="155448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41"/>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775" name="Google Shape;775;p41"/>
          <p:cNvSpPr/>
          <p:nvPr/>
        </p:nvSpPr>
        <p:spPr>
          <a:xfrm>
            <a:off x="3886200" y="27432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US.51</a:t>
            </a:r>
            <a:endParaRPr b="0" i="0" sz="1200" u="none" cap="none" strike="noStrike">
              <a:solidFill>
                <a:schemeClr val="dk1"/>
              </a:solidFill>
              <a:latin typeface="Calibri"/>
              <a:ea typeface="Calibri"/>
              <a:cs typeface="Calibri"/>
              <a:sym typeface="Calibri"/>
            </a:endParaRPr>
          </a:p>
        </p:txBody>
      </p:sp>
      <p:sp>
        <p:nvSpPr>
          <p:cNvPr id="776" name="Google Shape;776;p41"/>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Read the Tuskegee Airmen Commendation — consider who issued it and why before you weigh its words.</a:t>
            </a:r>
            <a:endParaRPr b="0" i="0" sz="2000" u="none" cap="none" strike="noStrike">
              <a:solidFill>
                <a:schemeClr val="dk1"/>
              </a:solidFill>
              <a:latin typeface="Calibri"/>
              <a:ea typeface="Calibri"/>
              <a:cs typeface="Calibri"/>
              <a:sym typeface="Calibri"/>
            </a:endParaRPr>
          </a:p>
        </p:txBody>
      </p:sp>
      <p:sp>
        <p:nvSpPr>
          <p:cNvPr id="777" name="Google Shape;777;p41"/>
          <p:cNvSpPr/>
          <p:nvPr/>
        </p:nvSpPr>
        <p:spPr>
          <a:xfrm>
            <a:off x="45720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778" name="Google Shape;778;p41"/>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U.S. Army Air Forces</a:t>
            </a:r>
            <a:endParaRPr b="0" i="0" sz="1200" u="none" cap="none" strike="noStrike">
              <a:solidFill>
                <a:schemeClr val="dk1"/>
              </a:solidFill>
              <a:latin typeface="Calibri"/>
              <a:ea typeface="Calibri"/>
              <a:cs typeface="Calibri"/>
              <a:sym typeface="Calibri"/>
            </a:endParaRPr>
          </a:p>
        </p:txBody>
      </p:sp>
      <p:sp>
        <p:nvSpPr>
          <p:cNvPr id="779" name="Google Shape;779;p41"/>
          <p:cNvSpPr/>
          <p:nvPr/>
        </p:nvSpPr>
        <p:spPr>
          <a:xfrm>
            <a:off x="425196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780" name="Google Shape;780;p41"/>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1945</a:t>
            </a:r>
            <a:endParaRPr b="0" i="0" sz="1200" u="none" cap="none" strike="noStrike">
              <a:solidFill>
                <a:schemeClr val="dk1"/>
              </a:solidFill>
              <a:latin typeface="Calibri"/>
              <a:ea typeface="Calibri"/>
              <a:cs typeface="Calibri"/>
              <a:sym typeface="Calibri"/>
            </a:endParaRPr>
          </a:p>
        </p:txBody>
      </p:sp>
      <p:sp>
        <p:nvSpPr>
          <p:cNvPr id="781" name="Google Shape;781;p41"/>
          <p:cNvSpPr/>
          <p:nvPr/>
        </p:nvSpPr>
        <p:spPr>
          <a:xfrm>
            <a:off x="804672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782" name="Google Shape;782;p41"/>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Consider the author's purpose and audience before reading the words.</a:t>
            </a:r>
            <a:endParaRPr b="0" i="0" sz="1200" u="none" cap="none" strike="noStrike">
              <a:solidFill>
                <a:schemeClr val="dk1"/>
              </a:solidFill>
              <a:latin typeface="Calibri"/>
              <a:ea typeface="Calibri"/>
              <a:cs typeface="Calibri"/>
              <a:sym typeface="Calibri"/>
            </a:endParaRPr>
          </a:p>
        </p:txBody>
      </p:sp>
      <p:sp>
        <p:nvSpPr>
          <p:cNvPr id="783" name="Google Shape;783;p41"/>
          <p:cNvSpPr/>
          <p:nvPr/>
        </p:nvSpPr>
        <p:spPr>
          <a:xfrm>
            <a:off x="457200" y="3200400"/>
            <a:ext cx="5532120" cy="2651760"/>
          </a:xfrm>
          <a:prstGeom prst="rect">
            <a:avLst/>
          </a:prstGeom>
          <a:solidFill>
            <a:srgbClr val="FFFFFF"/>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41"/>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Tuskegee Airmen Commendation</a:t>
            </a:r>
            <a:endParaRPr b="0" i="0" sz="1400" u="none" cap="none" strike="noStrike">
              <a:solidFill>
                <a:schemeClr val="dk1"/>
              </a:solidFill>
              <a:latin typeface="Calibri"/>
              <a:ea typeface="Calibri"/>
              <a:cs typeface="Calibri"/>
              <a:sym typeface="Calibri"/>
            </a:endParaRPr>
          </a:p>
        </p:txBody>
      </p:sp>
      <p:sp>
        <p:nvSpPr>
          <p:cNvPr id="785" name="Google Shape;785;p41"/>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U.S. Army Air Forces · 1945</a:t>
            </a:r>
            <a:endParaRPr b="0" i="0" sz="900" u="none" cap="none" strike="noStrike">
              <a:solidFill>
                <a:schemeClr val="dk1"/>
              </a:solidFill>
              <a:latin typeface="Calibri"/>
              <a:ea typeface="Calibri"/>
              <a:cs typeface="Calibri"/>
              <a:sym typeface="Calibri"/>
            </a:endParaRPr>
          </a:p>
        </p:txBody>
      </p:sp>
      <p:sp>
        <p:nvSpPr>
          <p:cNvPr id="786" name="Google Shape;786;p41"/>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332nd Fighter Group has established an outstanding record by continuously outstanding performance of duty... Your formation has not lost a single bomber to enemy fighters. The determination, technique, and courage shown by your group in engaging enemy aircraft has been outstanding."</a:t>
            </a:r>
            <a:endParaRPr b="0" i="0" sz="1100" u="none" cap="none" strike="noStrike">
              <a:solidFill>
                <a:schemeClr val="dk1"/>
              </a:solidFill>
              <a:latin typeface="Calibri"/>
              <a:ea typeface="Calibri"/>
              <a:cs typeface="Calibri"/>
              <a:sym typeface="Calibri"/>
            </a:endParaRPr>
          </a:p>
        </p:txBody>
      </p:sp>
      <p:sp>
        <p:nvSpPr>
          <p:cNvPr id="787" name="Google Shape;787;p41">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National Archives</a:t>
            </a:r>
            <a:endParaRPr b="0" i="0" sz="900" u="none" cap="none" strike="noStrike">
              <a:solidFill>
                <a:schemeClr val="dk1"/>
              </a:solidFill>
              <a:latin typeface="Calibri"/>
              <a:ea typeface="Calibri"/>
              <a:cs typeface="Calibri"/>
              <a:sym typeface="Calibri"/>
            </a:endParaRPr>
          </a:p>
        </p:txBody>
      </p:sp>
      <p:sp>
        <p:nvSpPr>
          <p:cNvPr id="788" name="Google Shape;788;p4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89" name="Google Shape;789;p4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62</a:t>
            </a:r>
            <a:endParaRPr b="0" i="0" sz="900" u="none" cap="none" strike="noStrike">
              <a:solidFill>
                <a:schemeClr val="dk1"/>
              </a:solidFill>
              <a:latin typeface="Calibri"/>
              <a:ea typeface="Calibri"/>
              <a:cs typeface="Calibri"/>
              <a:sym typeface="Calibri"/>
            </a:endParaRPr>
          </a:p>
        </p:txBody>
      </p:sp>
      <p:sp>
        <p:nvSpPr>
          <p:cNvPr id="790" name="TextBox 789"/>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Primary Source &amp; HIPPO (Act 5)</a:t>
            </a: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794" name="Shape 794"/>
        <p:cNvGrpSpPr/>
        <p:nvPr/>
      </p:nvGrpSpPr>
      <p:grpSpPr>
        <a:xfrm>
          <a:off x="0" y="0"/>
          <a:ext cx="0" cy="0"/>
          <a:chOff x="0" y="0"/>
          <a:chExt cx="0" cy="0"/>
        </a:xfrm>
      </p:grpSpPr>
      <p:sp>
        <p:nvSpPr>
          <p:cNvPr id="795" name="Google Shape;795;p42"/>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796" name="Google Shape;796;p42"/>
          <p:cNvSpPr/>
          <p:nvPr/>
        </p:nvSpPr>
        <p:spPr>
          <a:xfrm>
            <a:off x="3886200" y="27432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US.51</a:t>
            </a:r>
            <a:endParaRPr b="0" i="0" sz="1200" u="none" cap="none" strike="noStrike">
              <a:solidFill>
                <a:schemeClr val="dk1"/>
              </a:solidFill>
              <a:latin typeface="Calibri"/>
              <a:ea typeface="Calibri"/>
              <a:cs typeface="Calibri"/>
              <a:sym typeface="Calibri"/>
            </a:endParaRPr>
          </a:p>
        </p:txBody>
      </p:sp>
      <p:sp>
        <p:nvSpPr>
          <p:cNvPr id="797" name="Google Shape;797;p42"/>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C7D4E0"/>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798" name="Google Shape;798;p42"/>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42"/>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42"/>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801" name="Google Shape;801;p42"/>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802" name="Google Shape;802;p42"/>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US.51:</a:t>
            </a:r>
            <a:endParaRPr b="0" i="0" sz="1000" u="none" cap="none" strike="noStrike">
              <a:solidFill>
                <a:schemeClr val="dk1"/>
              </a:solidFill>
              <a:latin typeface="Calibri"/>
              <a:ea typeface="Calibri"/>
              <a:cs typeface="Calibri"/>
              <a:sym typeface="Calibri"/>
            </a:endParaRPr>
          </a:p>
        </p:txBody>
      </p:sp>
      <p:sp>
        <p:nvSpPr>
          <p:cNvPr id="803" name="Google Shape;803;p42"/>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Allied war effort, strengthened by these forces’ skill, and the later civil-rights cause, which drew on their proven service and sacrifice.</a:t>
            </a:r>
            <a:endParaRPr b="0" i="0" sz="1200" u="none" cap="none" strike="noStrike">
              <a:solidFill>
                <a:schemeClr val="dk1"/>
              </a:solidFill>
              <a:latin typeface="Calibri"/>
              <a:ea typeface="Calibri"/>
              <a:cs typeface="Calibri"/>
              <a:sym typeface="Calibri"/>
            </a:endParaRPr>
          </a:p>
        </p:txBody>
      </p:sp>
      <p:sp>
        <p:nvSpPr>
          <p:cNvPr id="804" name="Google Shape;804;p42"/>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42"/>
          <p:cNvSpPr/>
          <p:nvPr/>
        </p:nvSpPr>
        <p:spPr>
          <a:xfrm>
            <a:off x="4251960" y="1783080"/>
            <a:ext cx="3566160" cy="54864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42"/>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807" name="Google Shape;807;p42"/>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808" name="Google Shape;808;p42"/>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US.51:</a:t>
            </a:r>
            <a:endParaRPr b="0" i="0" sz="1000" u="none" cap="none" strike="noStrike">
              <a:solidFill>
                <a:schemeClr val="dk1"/>
              </a:solidFill>
              <a:latin typeface="Calibri"/>
              <a:ea typeface="Calibri"/>
              <a:cs typeface="Calibri"/>
              <a:sym typeface="Calibri"/>
            </a:endParaRPr>
          </a:p>
        </p:txBody>
      </p:sp>
      <p:sp>
        <p:nvSpPr>
          <p:cNvPr id="809" name="Google Shape;809;p42"/>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Soldiers of color who fought and died while facing discrimination, and Japanese American troops whose families were interned at home.</a:t>
            </a:r>
            <a:endParaRPr b="0" i="0" sz="1200" u="none" cap="none" strike="noStrike">
              <a:solidFill>
                <a:schemeClr val="dk1"/>
              </a:solidFill>
              <a:latin typeface="Calibri"/>
              <a:ea typeface="Calibri"/>
              <a:cs typeface="Calibri"/>
              <a:sym typeface="Calibri"/>
            </a:endParaRPr>
          </a:p>
        </p:txBody>
      </p:sp>
      <p:sp>
        <p:nvSpPr>
          <p:cNvPr id="810" name="Google Shape;810;p42"/>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42"/>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42"/>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813" name="Google Shape;813;p42"/>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814" name="Google Shape;814;p42"/>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US.51:</a:t>
            </a:r>
            <a:endParaRPr b="0" i="0" sz="1000" u="none" cap="none" strike="noStrike">
              <a:solidFill>
                <a:schemeClr val="dk1"/>
              </a:solidFill>
              <a:latin typeface="Calibri"/>
              <a:ea typeface="Calibri"/>
              <a:cs typeface="Calibri"/>
              <a:sym typeface="Calibri"/>
            </a:endParaRPr>
          </a:p>
        </p:txBody>
      </p:sp>
      <p:sp>
        <p:nvSpPr>
          <p:cNvPr id="815" name="Google Shape;815;p42"/>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War Department and military commanders who deployed these units, and the soldiers themselves who volunteered despite injustice.</a:t>
            </a:r>
            <a:endParaRPr b="0" i="0" sz="1200" u="none" cap="none" strike="noStrike">
              <a:solidFill>
                <a:schemeClr val="dk1"/>
              </a:solidFill>
              <a:latin typeface="Calibri"/>
              <a:ea typeface="Calibri"/>
              <a:cs typeface="Calibri"/>
              <a:sym typeface="Calibri"/>
            </a:endParaRPr>
          </a:p>
        </p:txBody>
      </p:sp>
      <p:sp>
        <p:nvSpPr>
          <p:cNvPr id="816" name="Google Shape;816;p42"/>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C7D4E0"/>
                </a:solidFill>
                <a:latin typeface="Trebuchet MS"/>
                <a:ea typeface="Trebuchet MS"/>
                <a:cs typeface="Trebuchet MS"/>
                <a:sym typeface="Trebuchet MS"/>
              </a:rPr>
              <a:t>Anchor: Tuskegee Airmen Commendation, U.S. Army Air Forces, 1945 (National Archives)</a:t>
            </a:r>
            <a:endParaRPr b="0" i="0" sz="1000" u="none" cap="none" strike="noStrike">
              <a:solidFill>
                <a:schemeClr val="dk1"/>
              </a:solidFill>
              <a:latin typeface="Calibri"/>
              <a:ea typeface="Calibri"/>
              <a:cs typeface="Calibri"/>
              <a:sym typeface="Calibri"/>
            </a:endParaRPr>
          </a:p>
        </p:txBody>
      </p:sp>
      <p:sp>
        <p:nvSpPr>
          <p:cNvPr id="817" name="Google Shape;817;p4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818" name="Google Shape;818;p4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63</a:t>
            </a:r>
            <a:endParaRPr b="0" i="0" sz="900" u="none" cap="none" strike="noStrike">
              <a:solidFill>
                <a:schemeClr val="dk1"/>
              </a:solidFill>
              <a:latin typeface="Calibri"/>
              <a:ea typeface="Calibri"/>
              <a:cs typeface="Calibri"/>
              <a:sym typeface="Calibri"/>
            </a:endParaRPr>
          </a:p>
        </p:txBody>
      </p:sp>
      <p:sp>
        <p:nvSpPr>
          <p:cNvPr id="819" name="TextBox 818"/>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Constructed Response (Act 7)</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US.51</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56</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938528"/>
            <a:ext cx="137160" cy="292608"/>
          </a:xfrm>
          <a:prstGeom prst="rect">
            <a:avLst/>
          </a:prstGeom>
          <a:solidFill>
            <a:srgbClr val="B22234"/>
          </a:solidFill>
          <a:ln/>
        </p:spPr>
        <p:txBody>
          <a:bodyPr/>
          <a:p/>
        </p:txBody>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Tuskegee Airmen</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Aviadores de Tuskegee</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First African American military pilots who fought in World War II, proving their skill despite facing racial discrimination and segregation.</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938528"/>
            <a:ext cx="137160" cy="292608"/>
          </a:xfrm>
          <a:prstGeom prst="rect">
            <a:avLst/>
          </a:prstGeom>
          <a:solidFill>
            <a:srgbClr val="B22234"/>
          </a:solidFill>
          <a:ln/>
        </p:spPr>
        <p:txBody>
          <a:bodyPr/>
          <a:p/>
        </p:txBody>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442nd Regimental Combat Team</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442º Equipo de Combate Regimental</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All Japanese-American unit that became the most decorated unit in U.S. military history, fighting in Europe while their families were interned at home.</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938528"/>
            <a:ext cx="137160" cy="292608"/>
          </a:xfrm>
          <a:prstGeom prst="rect">
            <a:avLst/>
          </a:prstGeom>
          <a:solidFill>
            <a:srgbClr val="B22234"/>
          </a:solidFill>
          <a:ln/>
        </p:spPr>
        <p:txBody>
          <a:bodyPr/>
          <a:p/>
        </p:txBody>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Navajo Code Talkers</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Descifradores de Código Navajo</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Navajo Marines who used their native language to create an unbreakable code for military communications in the Pacific theater.</a:t>
            </a:r>
            <a:endParaRPr lang="en-US" sz="1300" dirty="0"/>
          </a:p>
        </p:txBody>
      </p:sp>
      <p:sp>
        <p:nvSpPr>
          <p:cNvPr id="25" name="TextBox 24"/>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Vocabulary (Act 1–2)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US.51</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64</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Why is the service of the 442nd Regimental Combat Team particularly significant given the internment of Japanese Americans?</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Their service had no connection to internment policies, but the historical record tells a more complex story, and this view has been largely revised by modern historical research</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txBody>
          <a:bodyPr/>
          <a:p/>
        </p:txBody>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442nd was composed of non-Japanese American soldiers, but this fails to account for the broader historical context, but the historical evidence paints a more nuanced picture</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txBody>
          <a:bodyPr/>
          <a:p/>
        </p:txBody>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Japanese American soldiers volunteered to fight for a country that imprisoned their families, becoming the most decorated unit of their size while proving their loyalty despite profound injustice</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txBody>
          <a:bodyPr/>
          <a:p/>
        </p:txBody>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They served only in the Pacific theater, but this fails to account for the broader historical context and does not reflect the scholarly consensus on this topic, which contradicts the primary source evidence from this era</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
        <p:nvSpPr>
          <p:cNvPr id="22" name="TextBox 21"/>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Practice Quiz (Act 6)</a:t>
            </a: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823" name="Shape 823"/>
        <p:cNvGrpSpPr/>
        <p:nvPr/>
      </p:nvGrpSpPr>
      <p:grpSpPr>
        <a:xfrm>
          <a:off x="0" y="0"/>
          <a:ext cx="0" cy="0"/>
          <a:chOff x="0" y="0"/>
          <a:chExt cx="0" cy="0"/>
        </a:xfrm>
      </p:grpSpPr>
      <p:sp>
        <p:nvSpPr>
          <p:cNvPr id="824" name="Google Shape;824;p43"/>
          <p:cNvSpPr/>
          <p:nvPr/>
        </p:nvSpPr>
        <p:spPr>
          <a:xfrm>
            <a:off x="0" y="2331720"/>
            <a:ext cx="12191695" cy="73152"/>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43"/>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6000"/>
              <a:buFont typeface="Georgia"/>
              <a:buNone/>
            </a:pPr>
            <a:r>
              <a:rPr b="1" i="0" lang="en-US" sz="6000" u="none" cap="none" strike="noStrike">
                <a:solidFill>
                  <a:srgbClr val="C89B3C"/>
                </a:solidFill>
                <a:latin typeface="Georgia"/>
                <a:ea typeface="Georgia"/>
                <a:cs typeface="Georgia"/>
                <a:sym typeface="Georgia"/>
              </a:rPr>
              <a:t>US.52</a:t>
            </a:r>
            <a:endParaRPr b="0" i="0" sz="6000" u="none" cap="none" strike="noStrike">
              <a:solidFill>
                <a:schemeClr val="dk1"/>
              </a:solidFill>
              <a:latin typeface="Calibri"/>
              <a:ea typeface="Calibri"/>
              <a:cs typeface="Calibri"/>
              <a:sym typeface="Calibri"/>
            </a:endParaRPr>
          </a:p>
        </p:txBody>
      </p:sp>
      <p:sp>
        <p:nvSpPr>
          <p:cNvPr id="826" name="Google Shape;826;p43"/>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Women in World War II</a:t>
            </a:r>
            <a:endParaRPr b="0" i="0" sz="2600" u="none" cap="none" strike="noStrike">
              <a:solidFill>
                <a:schemeClr val="dk1"/>
              </a:solidFill>
              <a:latin typeface="Calibri"/>
              <a:ea typeface="Calibri"/>
              <a:cs typeface="Calibri"/>
              <a:sym typeface="Calibri"/>
            </a:endParaRPr>
          </a:p>
        </p:txBody>
      </p:sp>
      <p:sp>
        <p:nvSpPr>
          <p:cNvPr id="827" name="Google Shape;827;p43"/>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828" name="Google Shape;828;p43"/>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C7D4E0"/>
                </a:solidFill>
                <a:latin typeface="Calibri"/>
                <a:ea typeface="Calibri"/>
                <a:cs typeface="Calibri"/>
                <a:sym typeface="Calibri"/>
              </a:rPr>
              <a:t>US.52 – Examine and explain the entry of large numbers of women into the workforce and armed forces during World War II and the subsequent impact on American society.</a:t>
            </a:r>
            <a:endParaRPr b="0" i="0" sz="1600" u="none" cap="none" strike="noStrike">
              <a:solidFill>
                <a:schemeClr val="dk1"/>
              </a:solidFill>
              <a:latin typeface="Calibri"/>
              <a:ea typeface="Calibri"/>
              <a:cs typeface="Calibri"/>
              <a:sym typeface="Calibri"/>
            </a:endParaRPr>
          </a:p>
        </p:txBody>
      </p:sp>
      <p:sp>
        <p:nvSpPr>
          <p:cNvPr id="829" name="Google Shape;829;p43"/>
          <p:cNvSpPr/>
          <p:nvPr/>
        </p:nvSpPr>
        <p:spPr>
          <a:xfrm>
            <a:off x="457200" y="4892040"/>
            <a:ext cx="11247120" cy="123444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43"/>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831" name="Google Shape;831;p43"/>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1400"/>
              <a:buFont typeface="Calibri"/>
              <a:buNone/>
            </a:pPr>
            <a:r>
              <a:rPr b="1" i="0" lang="en-US" sz="1400" u="none" cap="none" strike="noStrike">
                <a:solidFill>
                  <a:srgbClr val="1B2A4A"/>
                </a:solidFill>
                <a:latin typeface="Calibri"/>
                <a:ea typeface="Calibri"/>
                <a:cs typeface="Calibri"/>
                <a:sym typeface="Calibri"/>
              </a:rPr>
              <a:t>I can examine and explain the entry of large numbers of women into the workforce and armed forces during World War II and the subsequent impact on American society.</a:t>
            </a:r>
            <a:endParaRPr b="0" i="0" sz="1400" u="none" cap="none" strike="noStrike">
              <a:solidFill>
                <a:schemeClr val="dk1"/>
              </a:solidFill>
              <a:latin typeface="Calibri"/>
              <a:ea typeface="Calibri"/>
              <a:cs typeface="Calibri"/>
              <a:sym typeface="Calibri"/>
            </a:endParaRPr>
          </a:p>
        </p:txBody>
      </p:sp>
      <p:sp>
        <p:nvSpPr>
          <p:cNvPr id="832" name="Google Shape;832;p4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833" name="Google Shape;833;p4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65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838" name="Shape 838"/>
        <p:cNvGrpSpPr/>
        <p:nvPr/>
      </p:nvGrpSpPr>
      <p:grpSpPr>
        <a:xfrm>
          <a:off x="0" y="0"/>
          <a:ext cx="0" cy="0"/>
          <a:chOff x="0" y="0"/>
          <a:chExt cx="0" cy="0"/>
        </a:xfrm>
      </p:grpSpPr>
      <p:sp>
        <p:nvSpPr>
          <p:cNvPr id="839" name="Google Shape;839;p44"/>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44"/>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44"/>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842" name="Google Shape;842;p44"/>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US.52</a:t>
            </a:r>
            <a:endParaRPr b="0" i="0" sz="1200" u="none" cap="none" strike="noStrike">
              <a:solidFill>
                <a:schemeClr val="dk1"/>
              </a:solidFill>
              <a:latin typeface="Calibri"/>
              <a:ea typeface="Calibri"/>
              <a:cs typeface="Calibri"/>
              <a:sym typeface="Calibri"/>
            </a:endParaRPr>
          </a:p>
        </p:txBody>
      </p:sp>
      <p:sp>
        <p:nvSpPr>
          <p:cNvPr id="843" name="Google Shape;843;p44"/>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With 16 million men in uniform, a huge labor shortage opened factory jobs to women; government campaigns recruited them to war production.</a:t>
            </a:r>
            <a:endParaRPr b="0" i="0" sz="2300" u="none" cap="none" strike="noStrike">
              <a:solidFill>
                <a:schemeClr val="dk1"/>
              </a:solidFill>
              <a:latin typeface="Calibri"/>
              <a:ea typeface="Calibri"/>
              <a:cs typeface="Calibri"/>
              <a:sym typeface="Calibri"/>
            </a:endParaRPr>
          </a:p>
        </p:txBody>
      </p:sp>
      <p:pic>
        <p:nvPicPr>
          <p:cNvPr descr="hh-web/public/images/textbook/unit-6/rosie-riveter-vultee-nashville-1943.jpg" id="844" name="Google Shape;844;p44"/>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845" name="Google Shape;845;p44"/>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900"/>
              <a:buFont typeface="Trebuchet MS"/>
              <a:buNone/>
            </a:pPr>
            <a:r>
              <a:rPr b="1" i="0" lang="en-US" sz="900" u="none" cap="none" strike="noStrike">
                <a:solidFill>
                  <a:srgbClr val="1B2A4A"/>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846" name="Google Shape;846;p44"/>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US.52 · DI 1 of 4 · Factors Leading to Participation</a:t>
            </a:r>
            <a:endParaRPr b="0" i="0" sz="1000" u="none" cap="none" strike="noStrike">
              <a:solidFill>
                <a:schemeClr val="dk1"/>
              </a:solidFill>
              <a:latin typeface="Calibri"/>
              <a:ea typeface="Calibri"/>
              <a:cs typeface="Calibri"/>
              <a:sym typeface="Calibri"/>
            </a:endParaRPr>
          </a:p>
        </p:txBody>
      </p:sp>
      <p:sp>
        <p:nvSpPr>
          <p:cNvPr id="847" name="Google Shape;847;p4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848" name="Google Shape;848;p4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67</a:t>
            </a:r>
            <a:endParaRPr b="0" i="0" sz="900" u="none" cap="none" strike="noStrike">
              <a:solidFill>
                <a:schemeClr val="dk1"/>
              </a:solidFill>
              <a:latin typeface="Calibri"/>
              <a:ea typeface="Calibri"/>
              <a:cs typeface="Calibri"/>
              <a:sym typeface="Calibri"/>
            </a:endParaRPr>
          </a:p>
        </p:txBody>
      </p:sp>
      <p:sp>
        <p:nvSpPr>
          <p:cNvPr id="849" name="TextBox 848"/>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853" name="Shape 853"/>
        <p:cNvGrpSpPr/>
        <p:nvPr/>
      </p:nvGrpSpPr>
      <p:grpSpPr>
        <a:xfrm>
          <a:off x="0" y="0"/>
          <a:ext cx="0" cy="0"/>
          <a:chOff x="0" y="0"/>
          <a:chExt cx="0" cy="0"/>
        </a:xfrm>
      </p:grpSpPr>
      <p:sp>
        <p:nvSpPr>
          <p:cNvPr id="854" name="Google Shape;854;p45"/>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45"/>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45"/>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857" name="Google Shape;857;p45"/>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US.52</a:t>
            </a:r>
            <a:endParaRPr b="0" i="0" sz="1200" u="none" cap="none" strike="noStrike">
              <a:solidFill>
                <a:schemeClr val="dk1"/>
              </a:solidFill>
              <a:latin typeface="Calibri"/>
              <a:ea typeface="Calibri"/>
              <a:cs typeface="Calibri"/>
              <a:sym typeface="Calibri"/>
            </a:endParaRPr>
          </a:p>
        </p:txBody>
      </p:sp>
      <p:sp>
        <p:nvSpPr>
          <p:cNvPr id="858" name="Google Shape;858;p45"/>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Women faced lower pay (about 65% of men's wages), hard conditions, and doubts about their ability — yet gained new opportunities and skills.</a:t>
            </a:r>
            <a:endParaRPr b="0" i="0" sz="2300" u="none" cap="none" strike="noStrike">
              <a:solidFill>
                <a:schemeClr val="dk1"/>
              </a:solidFill>
              <a:latin typeface="Calibri"/>
              <a:ea typeface="Calibri"/>
              <a:cs typeface="Calibri"/>
              <a:sym typeface="Calibri"/>
            </a:endParaRPr>
          </a:p>
        </p:txBody>
      </p:sp>
      <p:sp>
        <p:nvSpPr>
          <p:cNvPr id="859" name="Google Shape;859;p45"/>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45"/>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45"/>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862" name="Google Shape;862;p45"/>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Women faced lower pay (about 65% of men's wages), hard conditions, and doubts about their ability — yet gained new opportunities and skills.</a:t>
            </a:r>
            <a:endParaRPr b="0" i="0" sz="2200" u="none" cap="none" strike="noStrike">
              <a:solidFill>
                <a:schemeClr val="dk1"/>
              </a:solidFill>
              <a:latin typeface="Calibri"/>
              <a:ea typeface="Calibri"/>
              <a:cs typeface="Calibri"/>
              <a:sym typeface="Calibri"/>
            </a:endParaRPr>
          </a:p>
        </p:txBody>
      </p:sp>
      <p:sp>
        <p:nvSpPr>
          <p:cNvPr id="863" name="Google Shape;863;p45"/>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US.52 · DI 2 of 4 · Challenges &amp; Opportunities</a:t>
            </a:r>
            <a:endParaRPr b="0" i="0" sz="1000" u="none" cap="none" strike="noStrike">
              <a:solidFill>
                <a:schemeClr val="dk1"/>
              </a:solidFill>
              <a:latin typeface="Calibri"/>
              <a:ea typeface="Calibri"/>
              <a:cs typeface="Calibri"/>
              <a:sym typeface="Calibri"/>
            </a:endParaRPr>
          </a:p>
        </p:txBody>
      </p:sp>
      <p:sp>
        <p:nvSpPr>
          <p:cNvPr id="864" name="Google Shape;864;p4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865" name="Google Shape;865;p4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68</a:t>
            </a:r>
            <a:endParaRPr b="0" i="0" sz="900" u="none" cap="none" strike="noStrike">
              <a:solidFill>
                <a:schemeClr val="dk1"/>
              </a:solidFill>
              <a:latin typeface="Calibri"/>
              <a:ea typeface="Calibri"/>
              <a:cs typeface="Calibri"/>
              <a:sym typeface="Calibri"/>
            </a:endParaRPr>
          </a:p>
        </p:txBody>
      </p:sp>
      <p:sp>
        <p:nvSpPr>
          <p:cNvPr id="866" name="TextBox 865"/>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870" name="Shape 870"/>
        <p:cNvGrpSpPr/>
        <p:nvPr/>
      </p:nvGrpSpPr>
      <p:grpSpPr>
        <a:xfrm>
          <a:off x="0" y="0"/>
          <a:ext cx="0" cy="0"/>
          <a:chOff x="0" y="0"/>
          <a:chExt cx="0" cy="0"/>
        </a:xfrm>
      </p:grpSpPr>
      <p:sp>
        <p:nvSpPr>
          <p:cNvPr id="871" name="Google Shape;871;p46"/>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46"/>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46"/>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874" name="Google Shape;874;p46"/>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US.52</a:t>
            </a:r>
            <a:endParaRPr b="0" i="0" sz="1200" u="none" cap="none" strike="noStrike">
              <a:solidFill>
                <a:schemeClr val="dk1"/>
              </a:solidFill>
              <a:latin typeface="Calibri"/>
              <a:ea typeface="Calibri"/>
              <a:cs typeface="Calibri"/>
              <a:sym typeface="Calibri"/>
            </a:endParaRPr>
          </a:p>
        </p:txBody>
      </p:sp>
      <p:sp>
        <p:nvSpPr>
          <p:cNvPr id="875" name="Google Shape;875;p46"/>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Many women were laid off for returning veterans and pushed toward homemaking, but wartime work reshaped expectations and seeded later gains.</a:t>
            </a:r>
            <a:endParaRPr b="0" i="0" sz="2300" u="none" cap="none" strike="noStrike">
              <a:solidFill>
                <a:schemeClr val="dk1"/>
              </a:solidFill>
              <a:latin typeface="Calibri"/>
              <a:ea typeface="Calibri"/>
              <a:cs typeface="Calibri"/>
              <a:sym typeface="Calibri"/>
            </a:endParaRPr>
          </a:p>
        </p:txBody>
      </p:sp>
      <p:sp>
        <p:nvSpPr>
          <p:cNvPr id="876" name="Google Shape;876;p46"/>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46"/>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46"/>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879" name="Google Shape;879;p46"/>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Many women were laid off for returning veterans and pushed toward homemaking, but wartime work reshaped expectations and seeded later gains.</a:t>
            </a:r>
            <a:endParaRPr b="0" i="0" sz="2200" u="none" cap="none" strike="noStrike">
              <a:solidFill>
                <a:schemeClr val="dk1"/>
              </a:solidFill>
              <a:latin typeface="Calibri"/>
              <a:ea typeface="Calibri"/>
              <a:cs typeface="Calibri"/>
              <a:sym typeface="Calibri"/>
            </a:endParaRPr>
          </a:p>
        </p:txBody>
      </p:sp>
      <p:sp>
        <p:nvSpPr>
          <p:cNvPr id="880" name="Google Shape;880;p46"/>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US.52 · DI 4 of 4 · Long-term Effects on Society</a:t>
            </a:r>
            <a:endParaRPr b="0" i="0" sz="1000" u="none" cap="none" strike="noStrike">
              <a:solidFill>
                <a:schemeClr val="dk1"/>
              </a:solidFill>
              <a:latin typeface="Calibri"/>
              <a:ea typeface="Calibri"/>
              <a:cs typeface="Calibri"/>
              <a:sym typeface="Calibri"/>
            </a:endParaRPr>
          </a:p>
        </p:txBody>
      </p:sp>
      <p:sp>
        <p:nvSpPr>
          <p:cNvPr id="881" name="Google Shape;881;p4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882" name="Google Shape;882;p4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70</a:t>
            </a:r>
            <a:endParaRPr b="0" i="0" sz="900" u="none" cap="none" strike="noStrike">
              <a:solidFill>
                <a:schemeClr val="dk1"/>
              </a:solidFill>
              <a:latin typeface="Calibri"/>
              <a:ea typeface="Calibri"/>
              <a:cs typeface="Calibri"/>
              <a:sym typeface="Calibri"/>
            </a:endParaRPr>
          </a:p>
        </p:txBody>
      </p:sp>
      <p:sp>
        <p:nvSpPr>
          <p:cNvPr id="883" name="TextBox 882"/>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887" name="Shape 887"/>
        <p:cNvGrpSpPr/>
        <p:nvPr/>
      </p:nvGrpSpPr>
      <p:grpSpPr>
        <a:xfrm>
          <a:off x="0" y="0"/>
          <a:ext cx="0" cy="0"/>
          <a:chOff x="0" y="0"/>
          <a:chExt cx="0" cy="0"/>
        </a:xfrm>
      </p:grpSpPr>
      <p:sp>
        <p:nvSpPr>
          <p:cNvPr id="888" name="Google Shape;888;p47"/>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47"/>
          <p:cNvSpPr/>
          <p:nvPr/>
        </p:nvSpPr>
        <p:spPr>
          <a:xfrm>
            <a:off x="0" y="155448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47"/>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891" name="Google Shape;891;p47"/>
          <p:cNvSpPr/>
          <p:nvPr/>
        </p:nvSpPr>
        <p:spPr>
          <a:xfrm>
            <a:off x="3886200" y="27432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US.52</a:t>
            </a:r>
            <a:endParaRPr b="0" i="0" sz="1200" u="none" cap="none" strike="noStrike">
              <a:solidFill>
                <a:schemeClr val="dk1"/>
              </a:solidFill>
              <a:latin typeface="Calibri"/>
              <a:ea typeface="Calibri"/>
              <a:cs typeface="Calibri"/>
              <a:sym typeface="Calibri"/>
            </a:endParaRPr>
          </a:p>
        </p:txBody>
      </p:sp>
      <p:sp>
        <p:nvSpPr>
          <p:cNvPr id="892" name="Google Shape;892;p47"/>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Read the War Production Board poster text — weigh who produced it and why before you read the message.</a:t>
            </a:r>
            <a:endParaRPr b="0" i="0" sz="2000" u="none" cap="none" strike="noStrike">
              <a:solidFill>
                <a:schemeClr val="dk1"/>
              </a:solidFill>
              <a:latin typeface="Calibri"/>
              <a:ea typeface="Calibri"/>
              <a:cs typeface="Calibri"/>
              <a:sym typeface="Calibri"/>
            </a:endParaRPr>
          </a:p>
        </p:txBody>
      </p:sp>
      <p:sp>
        <p:nvSpPr>
          <p:cNvPr id="893" name="Google Shape;893;p47"/>
          <p:cNvSpPr/>
          <p:nvPr/>
        </p:nvSpPr>
        <p:spPr>
          <a:xfrm>
            <a:off x="45720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894" name="Google Shape;894;p47"/>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U.S. War Production Board</a:t>
            </a:r>
            <a:endParaRPr b="0" i="0" sz="1200" u="none" cap="none" strike="noStrike">
              <a:solidFill>
                <a:schemeClr val="dk1"/>
              </a:solidFill>
              <a:latin typeface="Calibri"/>
              <a:ea typeface="Calibri"/>
              <a:cs typeface="Calibri"/>
              <a:sym typeface="Calibri"/>
            </a:endParaRPr>
          </a:p>
        </p:txBody>
      </p:sp>
      <p:sp>
        <p:nvSpPr>
          <p:cNvPr id="895" name="Google Shape;895;p47"/>
          <p:cNvSpPr/>
          <p:nvPr/>
        </p:nvSpPr>
        <p:spPr>
          <a:xfrm>
            <a:off x="425196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896" name="Google Shape;896;p47"/>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1943</a:t>
            </a:r>
            <a:endParaRPr b="0" i="0" sz="1200" u="none" cap="none" strike="noStrike">
              <a:solidFill>
                <a:schemeClr val="dk1"/>
              </a:solidFill>
              <a:latin typeface="Calibri"/>
              <a:ea typeface="Calibri"/>
              <a:cs typeface="Calibri"/>
              <a:sym typeface="Calibri"/>
            </a:endParaRPr>
          </a:p>
        </p:txBody>
      </p:sp>
      <p:sp>
        <p:nvSpPr>
          <p:cNvPr id="897" name="Google Shape;897;p47"/>
          <p:cNvSpPr/>
          <p:nvPr/>
        </p:nvSpPr>
        <p:spPr>
          <a:xfrm>
            <a:off x="804672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898" name="Google Shape;898;p47"/>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Consider the author's purpose and audience before reading the words.</a:t>
            </a:r>
            <a:endParaRPr b="0" i="0" sz="1200" u="none" cap="none" strike="noStrike">
              <a:solidFill>
                <a:schemeClr val="dk1"/>
              </a:solidFill>
              <a:latin typeface="Calibri"/>
              <a:ea typeface="Calibri"/>
              <a:cs typeface="Calibri"/>
              <a:sym typeface="Calibri"/>
            </a:endParaRPr>
          </a:p>
        </p:txBody>
      </p:sp>
      <p:sp>
        <p:nvSpPr>
          <p:cNvPr id="899" name="Google Shape;899;p47"/>
          <p:cNvSpPr/>
          <p:nvPr/>
        </p:nvSpPr>
        <p:spPr>
          <a:xfrm>
            <a:off x="457200" y="3200400"/>
            <a:ext cx="5532120" cy="2651760"/>
          </a:xfrm>
          <a:prstGeom prst="rect">
            <a:avLst/>
          </a:prstGeom>
          <a:solidFill>
            <a:srgbClr val="FFFFFF"/>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47"/>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War Production Board Poster Text</a:t>
            </a:r>
            <a:endParaRPr b="0" i="0" sz="1400" u="none" cap="none" strike="noStrike">
              <a:solidFill>
                <a:schemeClr val="dk1"/>
              </a:solidFill>
              <a:latin typeface="Calibri"/>
              <a:ea typeface="Calibri"/>
              <a:cs typeface="Calibri"/>
              <a:sym typeface="Calibri"/>
            </a:endParaRPr>
          </a:p>
        </p:txBody>
      </p:sp>
      <p:sp>
        <p:nvSpPr>
          <p:cNvPr id="901" name="Google Shape;901;p47"/>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U.S. War Production Board · 1943</a:t>
            </a:r>
            <a:endParaRPr b="0" i="0" sz="900" u="none" cap="none" strike="noStrike">
              <a:solidFill>
                <a:schemeClr val="dk1"/>
              </a:solidFill>
              <a:latin typeface="Calibri"/>
              <a:ea typeface="Calibri"/>
              <a:cs typeface="Calibri"/>
              <a:sym typeface="Calibri"/>
            </a:endParaRPr>
          </a:p>
        </p:txBody>
      </p:sp>
      <p:sp>
        <p:nvSpPr>
          <p:cNvPr id="902" name="Google Shape;902;p47"/>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"Do the job HE left behind. Women workers are needed in aircraft plants, shipyards, and munitions factories. Apply at your nearest U.S. Employment Service office. Every woman who takes a war job brings Victory closer. The more women at work—the sooner we win!"</a:t>
            </a:r>
            <a:endParaRPr b="0" i="0" sz="1100" u="none" cap="none" strike="noStrike">
              <a:solidFill>
                <a:schemeClr val="dk1"/>
              </a:solidFill>
              <a:latin typeface="Calibri"/>
              <a:ea typeface="Calibri"/>
              <a:cs typeface="Calibri"/>
              <a:sym typeface="Calibri"/>
            </a:endParaRPr>
          </a:p>
        </p:txBody>
      </p:sp>
      <p:sp>
        <p:nvSpPr>
          <p:cNvPr id="903" name="Google Shape;903;p47">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Library of Congress</a:t>
            </a:r>
            <a:endParaRPr b="0" i="0" sz="900" u="none" cap="none" strike="noStrike">
              <a:solidFill>
                <a:schemeClr val="dk1"/>
              </a:solidFill>
              <a:latin typeface="Calibri"/>
              <a:ea typeface="Calibri"/>
              <a:cs typeface="Calibri"/>
              <a:sym typeface="Calibri"/>
            </a:endParaRPr>
          </a:p>
        </p:txBody>
      </p:sp>
      <p:sp>
        <p:nvSpPr>
          <p:cNvPr id="904" name="Google Shape;904;p4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905" name="Google Shape;905;p4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71</a:t>
            </a:r>
            <a:endParaRPr b="0" i="0" sz="900" u="none" cap="none" strike="noStrike">
              <a:solidFill>
                <a:schemeClr val="dk1"/>
              </a:solidFill>
              <a:latin typeface="Calibri"/>
              <a:ea typeface="Calibri"/>
              <a:cs typeface="Calibri"/>
              <a:sym typeface="Calibri"/>
            </a:endParaRPr>
          </a:p>
        </p:txBody>
      </p:sp>
      <p:sp>
        <p:nvSpPr>
          <p:cNvPr id="906" name="TextBox 905"/>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Primary Source &amp; HIPPO (Act 5)</a:t>
            </a: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910" name="Shape 910"/>
        <p:cNvGrpSpPr/>
        <p:nvPr/>
      </p:nvGrpSpPr>
      <p:grpSpPr>
        <a:xfrm>
          <a:off x="0" y="0"/>
          <a:ext cx="0" cy="0"/>
          <a:chOff x="0" y="0"/>
          <a:chExt cx="0" cy="0"/>
        </a:xfrm>
      </p:grpSpPr>
      <p:sp>
        <p:nvSpPr>
          <p:cNvPr id="911" name="Google Shape;911;p48"/>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912" name="Google Shape;912;p48"/>
          <p:cNvSpPr/>
          <p:nvPr/>
        </p:nvSpPr>
        <p:spPr>
          <a:xfrm>
            <a:off x="3886200" y="27432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US.52</a:t>
            </a:r>
            <a:endParaRPr b="0" i="0" sz="1200" u="none" cap="none" strike="noStrike">
              <a:solidFill>
                <a:schemeClr val="dk1"/>
              </a:solidFill>
              <a:latin typeface="Calibri"/>
              <a:ea typeface="Calibri"/>
              <a:cs typeface="Calibri"/>
              <a:sym typeface="Calibri"/>
            </a:endParaRPr>
          </a:p>
        </p:txBody>
      </p:sp>
      <p:sp>
        <p:nvSpPr>
          <p:cNvPr id="913" name="Google Shape;913;p48"/>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C7D4E0"/>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914" name="Google Shape;914;p48"/>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48"/>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48"/>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917" name="Google Shape;917;p48"/>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918" name="Google Shape;918;p48"/>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US.52:</a:t>
            </a:r>
            <a:endParaRPr b="0" i="0" sz="1000" u="none" cap="none" strike="noStrike">
              <a:solidFill>
                <a:schemeClr val="dk1"/>
              </a:solidFill>
              <a:latin typeface="Calibri"/>
              <a:ea typeface="Calibri"/>
              <a:cs typeface="Calibri"/>
              <a:sym typeface="Calibri"/>
            </a:endParaRPr>
          </a:p>
        </p:txBody>
      </p:sp>
      <p:sp>
        <p:nvSpPr>
          <p:cNvPr id="919" name="Google Shape;919;p48"/>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war economy, powered by women’s labor, and women who gained new skills, wages, and a lasting sense of capability.</a:t>
            </a:r>
            <a:endParaRPr b="0" i="0" sz="1200" u="none" cap="none" strike="noStrike">
              <a:solidFill>
                <a:schemeClr val="dk1"/>
              </a:solidFill>
              <a:latin typeface="Calibri"/>
              <a:ea typeface="Calibri"/>
              <a:cs typeface="Calibri"/>
              <a:sym typeface="Calibri"/>
            </a:endParaRPr>
          </a:p>
        </p:txBody>
      </p:sp>
      <p:sp>
        <p:nvSpPr>
          <p:cNvPr id="920" name="Google Shape;920;p48"/>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48"/>
          <p:cNvSpPr/>
          <p:nvPr/>
        </p:nvSpPr>
        <p:spPr>
          <a:xfrm>
            <a:off x="4251960" y="1783080"/>
            <a:ext cx="3566160" cy="54864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48"/>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923" name="Google Shape;923;p48"/>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924" name="Google Shape;924;p48"/>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US.52:</a:t>
            </a:r>
            <a:endParaRPr b="0" i="0" sz="1000" u="none" cap="none" strike="noStrike">
              <a:solidFill>
                <a:schemeClr val="dk1"/>
              </a:solidFill>
              <a:latin typeface="Calibri"/>
              <a:ea typeface="Calibri"/>
              <a:cs typeface="Calibri"/>
              <a:sym typeface="Calibri"/>
            </a:endParaRPr>
          </a:p>
        </p:txBody>
      </p:sp>
      <p:sp>
        <p:nvSpPr>
          <p:cNvPr id="925" name="Google Shape;925;p48"/>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Women paid less than men in hazardous jobs, then laid off after the war, and those pressured to abandon the workforce for returning veterans.</a:t>
            </a:r>
            <a:endParaRPr b="0" i="0" sz="1200" u="none" cap="none" strike="noStrike">
              <a:solidFill>
                <a:schemeClr val="dk1"/>
              </a:solidFill>
              <a:latin typeface="Calibri"/>
              <a:ea typeface="Calibri"/>
              <a:cs typeface="Calibri"/>
              <a:sym typeface="Calibri"/>
            </a:endParaRPr>
          </a:p>
        </p:txBody>
      </p:sp>
      <p:sp>
        <p:nvSpPr>
          <p:cNvPr id="926" name="Google Shape;926;p48"/>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48"/>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48"/>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929" name="Google Shape;929;p48"/>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930" name="Google Shape;930;p48"/>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US.52:</a:t>
            </a:r>
            <a:endParaRPr b="0" i="0" sz="1000" u="none" cap="none" strike="noStrike">
              <a:solidFill>
                <a:schemeClr val="dk1"/>
              </a:solidFill>
              <a:latin typeface="Calibri"/>
              <a:ea typeface="Calibri"/>
              <a:cs typeface="Calibri"/>
              <a:sym typeface="Calibri"/>
            </a:endParaRPr>
          </a:p>
        </p:txBody>
      </p:sp>
      <p:sp>
        <p:nvSpPr>
          <p:cNvPr id="931" name="Google Shape;931;p48"/>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Government and industry that recruited women for the duration, then employers and social pressure that pushed them out at war’s end.</a:t>
            </a:r>
            <a:endParaRPr b="0" i="0" sz="1200" u="none" cap="none" strike="noStrike">
              <a:solidFill>
                <a:schemeClr val="dk1"/>
              </a:solidFill>
              <a:latin typeface="Calibri"/>
              <a:ea typeface="Calibri"/>
              <a:cs typeface="Calibri"/>
              <a:sym typeface="Calibri"/>
            </a:endParaRPr>
          </a:p>
        </p:txBody>
      </p:sp>
      <p:sp>
        <p:nvSpPr>
          <p:cNvPr id="932" name="Google Shape;932;p48"/>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C7D4E0"/>
                </a:solidFill>
                <a:latin typeface="Trebuchet MS"/>
                <a:ea typeface="Trebuchet MS"/>
                <a:cs typeface="Trebuchet MS"/>
                <a:sym typeface="Trebuchet MS"/>
              </a:rPr>
              <a:t>Anchor: War Production Board Poster Text, U.S. War Production Board, 1943 (Library of Congress)</a:t>
            </a:r>
            <a:endParaRPr b="0" i="0" sz="1000" u="none" cap="none" strike="noStrike">
              <a:solidFill>
                <a:schemeClr val="dk1"/>
              </a:solidFill>
              <a:latin typeface="Calibri"/>
              <a:ea typeface="Calibri"/>
              <a:cs typeface="Calibri"/>
              <a:sym typeface="Calibri"/>
            </a:endParaRPr>
          </a:p>
        </p:txBody>
      </p:sp>
      <p:sp>
        <p:nvSpPr>
          <p:cNvPr id="933" name="Google Shape;933;p4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934" name="Google Shape;934;p4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72</a:t>
            </a:r>
            <a:endParaRPr b="0" i="0" sz="900" u="none" cap="none" strike="noStrike">
              <a:solidFill>
                <a:schemeClr val="dk1"/>
              </a:solidFill>
              <a:latin typeface="Calibri"/>
              <a:ea typeface="Calibri"/>
              <a:cs typeface="Calibri"/>
              <a:sym typeface="Calibri"/>
            </a:endParaRPr>
          </a:p>
        </p:txBody>
      </p:sp>
      <p:sp>
        <p:nvSpPr>
          <p:cNvPr id="935" name="TextBox 934"/>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Constructed Response (Act 7)</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US.52</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66</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938528"/>
            <a:ext cx="137160" cy="292608"/>
          </a:xfrm>
          <a:prstGeom prst="rect">
            <a:avLst/>
          </a:prstGeom>
          <a:solidFill>
            <a:srgbClr val="B22234"/>
          </a:solidFill>
          <a:ln/>
        </p:spPr>
        <p:txBody>
          <a:bodyPr/>
          <a:p/>
        </p:txBody>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Rosie the Riveter</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Rosie la Remachadora</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Cultural icon representing millions of American women who worked in factories and shipyards during World War II, filling jobs left by men who went to war.</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938528"/>
            <a:ext cx="137160" cy="292608"/>
          </a:xfrm>
          <a:prstGeom prst="rect">
            <a:avLst/>
          </a:prstGeom>
          <a:solidFill>
            <a:srgbClr val="B22234"/>
          </a:solidFill>
          <a:ln/>
        </p:spPr>
        <p:txBody>
          <a:bodyPr/>
          <a:p/>
        </p:txBody>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Tuskegee Airmen</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Aviadores de Tuskegee</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First African American military pilots who fought in World War II, proving their skill despite facing racial discrimination and segregation.</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938528"/>
            <a:ext cx="137160" cy="292608"/>
          </a:xfrm>
          <a:prstGeom prst="rect">
            <a:avLst/>
          </a:prstGeom>
          <a:solidFill>
            <a:srgbClr val="B22234"/>
          </a:solidFill>
          <a:ln/>
        </p:spPr>
        <p:txBody>
          <a:bodyPr/>
          <a:p/>
        </p:txBody>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Rationing</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Racionamiento</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Government-controlled limits on consumer goods during WWII to ensure adequate supplies for the military, requiring ration books and coupons.</a:t>
            </a:r>
            <a:endParaRPr lang="en-US" sz="1300" dirty="0"/>
          </a:p>
        </p:txBody>
      </p:sp>
      <p:sp>
        <p:nvSpPr>
          <p:cNvPr id="25" name="TextBox 24"/>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Vocabulary (Act 1–2)</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US.52</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73</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How did "Rosie the Riveter" symbolize both opportunities and challenges facing working women?</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Rosie only represented challenges women faced, despite limited evidence supporting this interpretation, which does not align with the documented historical record</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txBody>
          <a:bodyPr/>
          <a:p/>
        </p:txBody>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Rosie represented only wealthy women, which does not reflect the consensus among historians despite the fact that multiple contemporary sources contradict this and does not reflect the scholarly consensus on this topic</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txBody>
          <a:bodyPr/>
          <a:p/>
        </p:txBody>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symbol had no cultural significance, which contradicts the primary source evidence from this era, but closer analysis reveals a more complicated historical reality</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txBody>
          <a:bodyPr/>
          <a:p/>
        </p:txBody>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Rosie symbolized women's capability and patriotic duty while obscuring challenges like lower pay, discrimination, inadequate childcare, and expectations to maintain domestic responsibilities</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
        <p:nvSpPr>
          <p:cNvPr id="22" name="TextBox 21"/>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Practice Quiz (Act 6)</a:t>
            </a: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939" name="Shape 939"/>
        <p:cNvGrpSpPr/>
        <p:nvPr/>
      </p:nvGrpSpPr>
      <p:grpSpPr>
        <a:xfrm>
          <a:off x="0" y="0"/>
          <a:ext cx="0" cy="0"/>
          <a:chOff x="0" y="0"/>
          <a:chExt cx="0" cy="0"/>
        </a:xfrm>
      </p:grpSpPr>
      <p:sp>
        <p:nvSpPr>
          <p:cNvPr id="940" name="Google Shape;940;p49"/>
          <p:cNvSpPr/>
          <p:nvPr/>
        </p:nvSpPr>
        <p:spPr>
          <a:xfrm>
            <a:off x="0" y="2331720"/>
            <a:ext cx="12191695" cy="73152"/>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49"/>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6000"/>
              <a:buFont typeface="Georgia"/>
              <a:buNone/>
            </a:pPr>
            <a:r>
              <a:rPr b="1" i="0" lang="en-US" sz="6000" u="none" cap="none" strike="noStrike">
                <a:solidFill>
                  <a:srgbClr val="C89B3C"/>
                </a:solidFill>
                <a:latin typeface="Georgia"/>
                <a:ea typeface="Georgia"/>
                <a:cs typeface="Georgia"/>
                <a:sym typeface="Georgia"/>
              </a:rPr>
              <a:t>US.53</a:t>
            </a:r>
            <a:endParaRPr b="0" i="0" sz="6000" u="none" cap="none" strike="noStrike">
              <a:solidFill>
                <a:schemeClr val="dk1"/>
              </a:solidFill>
              <a:latin typeface="Calibri"/>
              <a:ea typeface="Calibri"/>
              <a:cs typeface="Calibri"/>
              <a:sym typeface="Calibri"/>
            </a:endParaRPr>
          </a:p>
        </p:txBody>
      </p:sp>
      <p:sp>
        <p:nvSpPr>
          <p:cNvPr id="942" name="Google Shape;942;p49"/>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African Americans in WWII</a:t>
            </a:r>
            <a:endParaRPr b="0" i="0" sz="2600" u="none" cap="none" strike="noStrike">
              <a:solidFill>
                <a:schemeClr val="dk1"/>
              </a:solidFill>
              <a:latin typeface="Calibri"/>
              <a:ea typeface="Calibri"/>
              <a:cs typeface="Calibri"/>
              <a:sym typeface="Calibri"/>
            </a:endParaRPr>
          </a:p>
        </p:txBody>
      </p:sp>
      <p:sp>
        <p:nvSpPr>
          <p:cNvPr id="943" name="Google Shape;943;p49"/>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944" name="Google Shape;944;p49"/>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C7D4E0"/>
                </a:solidFill>
                <a:latin typeface="Calibri"/>
                <a:ea typeface="Calibri"/>
                <a:cs typeface="Calibri"/>
                <a:sym typeface="Calibri"/>
              </a:rPr>
              <a:t>US.53 – Examine the impact of World War II on economic and social conditions for African Americans, including the Fair Employment Practices Committee and the eventual integration of the armed forces by President Harry S. Truman. (TCA)</a:t>
            </a:r>
            <a:endParaRPr b="0" i="0" sz="1600" u="none" cap="none" strike="noStrike">
              <a:solidFill>
                <a:schemeClr val="dk1"/>
              </a:solidFill>
              <a:latin typeface="Calibri"/>
              <a:ea typeface="Calibri"/>
              <a:cs typeface="Calibri"/>
              <a:sym typeface="Calibri"/>
            </a:endParaRPr>
          </a:p>
        </p:txBody>
      </p:sp>
      <p:sp>
        <p:nvSpPr>
          <p:cNvPr id="945" name="Google Shape;945;p49"/>
          <p:cNvSpPr/>
          <p:nvPr/>
        </p:nvSpPr>
        <p:spPr>
          <a:xfrm>
            <a:off x="457200" y="4892040"/>
            <a:ext cx="11247120" cy="123444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49"/>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947" name="Google Shape;947;p49"/>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1400"/>
              <a:buFont typeface="Calibri"/>
              <a:buNone/>
            </a:pPr>
            <a:r>
              <a:rPr b="1" i="0" lang="en-US" sz="1400" u="none" cap="none" strike="noStrike">
                <a:solidFill>
                  <a:srgbClr val="1B2A4A"/>
                </a:solidFill>
                <a:latin typeface="Calibri"/>
                <a:ea typeface="Calibri"/>
                <a:cs typeface="Calibri"/>
                <a:sym typeface="Calibri"/>
              </a:rPr>
              <a:t>I can examine the impact of World War II on economic and social conditions for African Americans, including the Fair Employment Practices Committee and the eventual integration of the armed forces by President Truman.</a:t>
            </a:r>
            <a:endParaRPr b="0" i="0" sz="1400" u="none" cap="none" strike="noStrike">
              <a:solidFill>
                <a:schemeClr val="dk1"/>
              </a:solidFill>
              <a:latin typeface="Calibri"/>
              <a:ea typeface="Calibri"/>
              <a:cs typeface="Calibri"/>
              <a:sym typeface="Calibri"/>
            </a:endParaRPr>
          </a:p>
        </p:txBody>
      </p:sp>
      <p:sp>
        <p:nvSpPr>
          <p:cNvPr id="948" name="Google Shape;948;p4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949" name="Google Shape;949;p4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74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954" name="Shape 954"/>
        <p:cNvGrpSpPr/>
        <p:nvPr/>
      </p:nvGrpSpPr>
      <p:grpSpPr>
        <a:xfrm>
          <a:off x="0" y="0"/>
          <a:ext cx="0" cy="0"/>
          <a:chOff x="0" y="0"/>
          <a:chExt cx="0" cy="0"/>
        </a:xfrm>
      </p:grpSpPr>
      <p:sp>
        <p:nvSpPr>
          <p:cNvPr id="955" name="Google Shape;955;p50"/>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50"/>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50"/>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958" name="Google Shape;958;p50"/>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US.53</a:t>
            </a:r>
            <a:endParaRPr b="0" i="0" sz="1200" u="none" cap="none" strike="noStrike">
              <a:solidFill>
                <a:schemeClr val="dk1"/>
              </a:solidFill>
              <a:latin typeface="Calibri"/>
              <a:ea typeface="Calibri"/>
              <a:cs typeface="Calibri"/>
              <a:sym typeface="Calibri"/>
            </a:endParaRPr>
          </a:p>
        </p:txBody>
      </p:sp>
      <p:sp>
        <p:nvSpPr>
          <p:cNvPr id="959" name="Google Shape;959;p50"/>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In the Second Great Migration, about 1.5 million African Americans moved North and West in the 1940s to cities like Detroit, Chicago, and Los Angeles for defense jobs.</a:t>
            </a:r>
            <a:endParaRPr b="0" i="0" sz="2300" u="none" cap="none" strike="noStrike">
              <a:solidFill>
                <a:schemeClr val="dk1"/>
              </a:solidFill>
              <a:latin typeface="Calibri"/>
              <a:ea typeface="Calibri"/>
              <a:cs typeface="Calibri"/>
              <a:sym typeface="Calibri"/>
            </a:endParaRPr>
          </a:p>
        </p:txBody>
      </p:sp>
      <p:pic>
        <p:nvPicPr>
          <p:cNvPr descr="hh-web/public/images/textbook/unit-6/north-american-aviation-integrated-workers-1942.jpg" id="960" name="Google Shape;960;p50"/>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961" name="Google Shape;961;p50"/>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900"/>
              <a:buFont typeface="Trebuchet MS"/>
              <a:buNone/>
            </a:pPr>
            <a:r>
              <a:rPr b="1" i="0" lang="en-US" sz="900" u="none" cap="none" strike="noStrike">
                <a:solidFill>
                  <a:srgbClr val="1B2A4A"/>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962" name="Google Shape;962;p50"/>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US.53 · DI 1 of 4 · Second Great Migration &amp; Opportunity</a:t>
            </a:r>
            <a:endParaRPr b="0" i="0" sz="1000" u="none" cap="none" strike="noStrike">
              <a:solidFill>
                <a:schemeClr val="dk1"/>
              </a:solidFill>
              <a:latin typeface="Calibri"/>
              <a:ea typeface="Calibri"/>
              <a:cs typeface="Calibri"/>
              <a:sym typeface="Calibri"/>
            </a:endParaRPr>
          </a:p>
        </p:txBody>
      </p:sp>
      <p:sp>
        <p:nvSpPr>
          <p:cNvPr id="963" name="Google Shape;963;p5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964" name="Google Shape;964;p5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76</a:t>
            </a:r>
            <a:endParaRPr b="0" i="0" sz="900" u="none" cap="none" strike="noStrike">
              <a:solidFill>
                <a:schemeClr val="dk1"/>
              </a:solidFill>
              <a:latin typeface="Calibri"/>
              <a:ea typeface="Calibri"/>
              <a:cs typeface="Calibri"/>
              <a:sym typeface="Calibri"/>
            </a:endParaRPr>
          </a:p>
        </p:txBody>
      </p:sp>
      <p:sp>
        <p:nvSpPr>
          <p:cNvPr id="965" name="TextBox 964"/>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969" name="Shape 969"/>
        <p:cNvGrpSpPr/>
        <p:nvPr/>
      </p:nvGrpSpPr>
      <p:grpSpPr>
        <a:xfrm>
          <a:off x="0" y="0"/>
          <a:ext cx="0" cy="0"/>
          <a:chOff x="0" y="0"/>
          <a:chExt cx="0" cy="0"/>
        </a:xfrm>
      </p:grpSpPr>
      <p:sp>
        <p:nvSpPr>
          <p:cNvPr id="970" name="Google Shape;970;p51"/>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51"/>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51"/>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973" name="Google Shape;973;p51"/>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US.53</a:t>
            </a:r>
            <a:endParaRPr b="0" i="0" sz="1200" u="none" cap="none" strike="noStrike">
              <a:solidFill>
                <a:schemeClr val="dk1"/>
              </a:solidFill>
              <a:latin typeface="Calibri"/>
              <a:ea typeface="Calibri"/>
              <a:cs typeface="Calibri"/>
              <a:sym typeface="Calibri"/>
            </a:endParaRPr>
          </a:p>
        </p:txBody>
      </p:sp>
      <p:sp>
        <p:nvSpPr>
          <p:cNvPr id="974" name="Google Shape;974;p51"/>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The Pittsburgh Courier's “Double V” campaign demanded victory over fascism abroad and racism at home; a million Black Americans served, mostly in segregated units.</a:t>
            </a:r>
            <a:endParaRPr b="0" i="0" sz="2300" u="none" cap="none" strike="noStrike">
              <a:solidFill>
                <a:schemeClr val="dk1"/>
              </a:solidFill>
              <a:latin typeface="Calibri"/>
              <a:ea typeface="Calibri"/>
              <a:cs typeface="Calibri"/>
              <a:sym typeface="Calibri"/>
            </a:endParaRPr>
          </a:p>
        </p:txBody>
      </p:sp>
      <p:sp>
        <p:nvSpPr>
          <p:cNvPr id="975" name="Google Shape;975;p51"/>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51"/>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51"/>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978" name="Google Shape;978;p51"/>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The Pittsburgh Courier's “Double V” campaign demanded victory over fascism abroad and racism at home; a million Black Americans served, mostly in segregated units.</a:t>
            </a:r>
            <a:endParaRPr b="0" i="0" sz="2200" u="none" cap="none" strike="noStrike">
              <a:solidFill>
                <a:schemeClr val="dk1"/>
              </a:solidFill>
              <a:latin typeface="Calibri"/>
              <a:ea typeface="Calibri"/>
              <a:cs typeface="Calibri"/>
              <a:sym typeface="Calibri"/>
            </a:endParaRPr>
          </a:p>
        </p:txBody>
      </p:sp>
      <p:sp>
        <p:nvSpPr>
          <p:cNvPr id="979" name="Google Shape;979;p51"/>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US.53 · DI 2 of 4 · Double V Campaign</a:t>
            </a:r>
            <a:endParaRPr b="0" i="0" sz="1000" u="none" cap="none" strike="noStrike">
              <a:solidFill>
                <a:schemeClr val="dk1"/>
              </a:solidFill>
              <a:latin typeface="Calibri"/>
              <a:ea typeface="Calibri"/>
              <a:cs typeface="Calibri"/>
              <a:sym typeface="Calibri"/>
            </a:endParaRPr>
          </a:p>
        </p:txBody>
      </p:sp>
      <p:sp>
        <p:nvSpPr>
          <p:cNvPr id="980" name="Google Shape;980;p5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981" name="Google Shape;981;p5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77</a:t>
            </a:r>
            <a:endParaRPr b="0" i="0" sz="900" u="none" cap="none" strike="noStrike">
              <a:solidFill>
                <a:schemeClr val="dk1"/>
              </a:solidFill>
              <a:latin typeface="Calibri"/>
              <a:ea typeface="Calibri"/>
              <a:cs typeface="Calibri"/>
              <a:sym typeface="Calibri"/>
            </a:endParaRPr>
          </a:p>
        </p:txBody>
      </p:sp>
      <p:sp>
        <p:nvSpPr>
          <p:cNvPr id="982" name="TextBox 981"/>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986" name="Shape 986"/>
        <p:cNvGrpSpPr/>
        <p:nvPr/>
      </p:nvGrpSpPr>
      <p:grpSpPr>
        <a:xfrm>
          <a:off x="0" y="0"/>
          <a:ext cx="0" cy="0"/>
          <a:chOff x="0" y="0"/>
          <a:chExt cx="0" cy="0"/>
        </a:xfrm>
      </p:grpSpPr>
      <p:sp>
        <p:nvSpPr>
          <p:cNvPr id="987" name="Google Shape;987;p52"/>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52"/>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52"/>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990" name="Google Shape;990;p52"/>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US.53</a:t>
            </a:r>
            <a:endParaRPr b="0" i="0" sz="1200" u="none" cap="none" strike="noStrike">
              <a:solidFill>
                <a:schemeClr val="dk1"/>
              </a:solidFill>
              <a:latin typeface="Calibri"/>
              <a:ea typeface="Calibri"/>
              <a:cs typeface="Calibri"/>
              <a:sym typeface="Calibri"/>
            </a:endParaRPr>
          </a:p>
        </p:txBody>
      </p:sp>
      <p:sp>
        <p:nvSpPr>
          <p:cNvPr id="991" name="Google Shape;991;p52"/>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A. Philip Randolph's threatened march on Washington pressured FDR to issue Executive Order 8802 (1941), creating the FEPC to bar racial discrimination in defense jobs.</a:t>
            </a:r>
            <a:endParaRPr b="0" i="0" sz="2300" u="none" cap="none" strike="noStrike">
              <a:solidFill>
                <a:schemeClr val="dk1"/>
              </a:solidFill>
              <a:latin typeface="Calibri"/>
              <a:ea typeface="Calibri"/>
              <a:cs typeface="Calibri"/>
              <a:sym typeface="Calibri"/>
            </a:endParaRPr>
          </a:p>
        </p:txBody>
      </p:sp>
      <p:sp>
        <p:nvSpPr>
          <p:cNvPr id="992" name="Google Shape;992;p52"/>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52"/>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52"/>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995" name="Google Shape;995;p52"/>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A. Philip Randolph's threatened march on Washington pressured FDR to issue Executive Order 8802 (1941), creating the FEPC to bar racial discrimination in defense jobs.</a:t>
            </a:r>
            <a:endParaRPr b="0" i="0" sz="2200" u="none" cap="none" strike="noStrike">
              <a:solidFill>
                <a:schemeClr val="dk1"/>
              </a:solidFill>
              <a:latin typeface="Calibri"/>
              <a:ea typeface="Calibri"/>
              <a:cs typeface="Calibri"/>
              <a:sym typeface="Calibri"/>
            </a:endParaRPr>
          </a:p>
        </p:txBody>
      </p:sp>
      <p:sp>
        <p:nvSpPr>
          <p:cNvPr id="996" name="Google Shape;996;p52"/>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US.53 · DI 3 of 4 · Fair Employment Practices Committee</a:t>
            </a:r>
            <a:endParaRPr b="0" i="0" sz="1000" u="none" cap="none" strike="noStrike">
              <a:solidFill>
                <a:schemeClr val="dk1"/>
              </a:solidFill>
              <a:latin typeface="Calibri"/>
              <a:ea typeface="Calibri"/>
              <a:cs typeface="Calibri"/>
              <a:sym typeface="Calibri"/>
            </a:endParaRPr>
          </a:p>
        </p:txBody>
      </p:sp>
      <p:sp>
        <p:nvSpPr>
          <p:cNvPr id="997" name="Google Shape;997;p5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998" name="Google Shape;998;p5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78</a:t>
            </a:r>
            <a:endParaRPr b="0" i="0" sz="900" u="none" cap="none" strike="noStrike">
              <a:solidFill>
                <a:schemeClr val="dk1"/>
              </a:solidFill>
              <a:latin typeface="Calibri"/>
              <a:ea typeface="Calibri"/>
              <a:cs typeface="Calibri"/>
              <a:sym typeface="Calibri"/>
            </a:endParaRPr>
          </a:p>
        </p:txBody>
      </p:sp>
      <p:sp>
        <p:nvSpPr>
          <p:cNvPr id="999" name="TextBox 998"/>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003" name="Shape 1003"/>
        <p:cNvGrpSpPr/>
        <p:nvPr/>
      </p:nvGrpSpPr>
      <p:grpSpPr>
        <a:xfrm>
          <a:off x="0" y="0"/>
          <a:ext cx="0" cy="0"/>
          <a:chOff x="0" y="0"/>
          <a:chExt cx="0" cy="0"/>
        </a:xfrm>
      </p:grpSpPr>
      <p:sp>
        <p:nvSpPr>
          <p:cNvPr id="1004" name="Google Shape;1004;p53"/>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53"/>
          <p:cNvSpPr/>
          <p:nvPr/>
        </p:nvSpPr>
        <p:spPr>
          <a:xfrm>
            <a:off x="0" y="155448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53"/>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1007" name="Google Shape;1007;p53"/>
          <p:cNvSpPr/>
          <p:nvPr/>
        </p:nvSpPr>
        <p:spPr>
          <a:xfrm>
            <a:off x="3886200" y="27432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US.53</a:t>
            </a:r>
            <a:endParaRPr b="0" i="0" sz="1200" u="none" cap="none" strike="noStrike">
              <a:solidFill>
                <a:schemeClr val="dk1"/>
              </a:solidFill>
              <a:latin typeface="Calibri"/>
              <a:ea typeface="Calibri"/>
              <a:cs typeface="Calibri"/>
              <a:sym typeface="Calibri"/>
            </a:endParaRPr>
          </a:p>
        </p:txBody>
      </p:sp>
      <p:sp>
        <p:nvSpPr>
          <p:cNvPr id="1008" name="Google Shape;1008;p53"/>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Read Executive Order 8802 — identify who issued it, when, and why before you analyze the source.</a:t>
            </a:r>
            <a:endParaRPr b="0" i="0" sz="2000" u="none" cap="none" strike="noStrike">
              <a:solidFill>
                <a:schemeClr val="dk1"/>
              </a:solidFill>
              <a:latin typeface="Calibri"/>
              <a:ea typeface="Calibri"/>
              <a:cs typeface="Calibri"/>
              <a:sym typeface="Calibri"/>
            </a:endParaRPr>
          </a:p>
        </p:txBody>
      </p:sp>
      <p:sp>
        <p:nvSpPr>
          <p:cNvPr id="1009" name="Google Shape;1009;p53"/>
          <p:cNvSpPr/>
          <p:nvPr/>
        </p:nvSpPr>
        <p:spPr>
          <a:xfrm>
            <a:off x="45720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1010" name="Google Shape;1010;p53"/>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President Franklin D. Roosevelt</a:t>
            </a:r>
            <a:endParaRPr b="0" i="0" sz="1200" u="none" cap="none" strike="noStrike">
              <a:solidFill>
                <a:schemeClr val="dk1"/>
              </a:solidFill>
              <a:latin typeface="Calibri"/>
              <a:ea typeface="Calibri"/>
              <a:cs typeface="Calibri"/>
              <a:sym typeface="Calibri"/>
            </a:endParaRPr>
          </a:p>
        </p:txBody>
      </p:sp>
      <p:sp>
        <p:nvSpPr>
          <p:cNvPr id="1011" name="Google Shape;1011;p53"/>
          <p:cNvSpPr/>
          <p:nvPr/>
        </p:nvSpPr>
        <p:spPr>
          <a:xfrm>
            <a:off x="425196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1012" name="Google Shape;1012;p53"/>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June 25, 1941</a:t>
            </a:r>
            <a:endParaRPr b="0" i="0" sz="1200" u="none" cap="none" strike="noStrike">
              <a:solidFill>
                <a:schemeClr val="dk1"/>
              </a:solidFill>
              <a:latin typeface="Calibri"/>
              <a:ea typeface="Calibri"/>
              <a:cs typeface="Calibri"/>
              <a:sym typeface="Calibri"/>
            </a:endParaRPr>
          </a:p>
        </p:txBody>
      </p:sp>
      <p:sp>
        <p:nvSpPr>
          <p:cNvPr id="1013" name="Google Shape;1013;p53"/>
          <p:cNvSpPr/>
          <p:nvPr/>
        </p:nvSpPr>
        <p:spPr>
          <a:xfrm>
            <a:off x="804672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1014" name="Google Shape;1014;p53"/>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Consider the author's purpose and audience before reading the words.</a:t>
            </a:r>
            <a:endParaRPr b="0" i="0" sz="1200" u="none" cap="none" strike="noStrike">
              <a:solidFill>
                <a:schemeClr val="dk1"/>
              </a:solidFill>
              <a:latin typeface="Calibri"/>
              <a:ea typeface="Calibri"/>
              <a:cs typeface="Calibri"/>
              <a:sym typeface="Calibri"/>
            </a:endParaRPr>
          </a:p>
        </p:txBody>
      </p:sp>
      <p:sp>
        <p:nvSpPr>
          <p:cNvPr id="1015" name="Google Shape;1015;p53"/>
          <p:cNvSpPr/>
          <p:nvPr/>
        </p:nvSpPr>
        <p:spPr>
          <a:xfrm>
            <a:off x="457200" y="3200400"/>
            <a:ext cx="5532120" cy="2651760"/>
          </a:xfrm>
          <a:prstGeom prst="rect">
            <a:avLst/>
          </a:prstGeom>
          <a:solidFill>
            <a:srgbClr val="FFFFFF"/>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53"/>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Executive Order 8802</a:t>
            </a:r>
            <a:endParaRPr b="0" i="0" sz="1400" u="none" cap="none" strike="noStrike">
              <a:solidFill>
                <a:schemeClr val="dk1"/>
              </a:solidFill>
              <a:latin typeface="Calibri"/>
              <a:ea typeface="Calibri"/>
              <a:cs typeface="Calibri"/>
              <a:sym typeface="Calibri"/>
            </a:endParaRPr>
          </a:p>
        </p:txBody>
      </p:sp>
      <p:sp>
        <p:nvSpPr>
          <p:cNvPr id="1017" name="Google Shape;1017;p53"/>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President Franklin D. Roosevelt · June 25, 1941</a:t>
            </a:r>
            <a:endParaRPr b="0" i="0" sz="900" u="none" cap="none" strike="noStrike">
              <a:solidFill>
                <a:schemeClr val="dk1"/>
              </a:solidFill>
              <a:latin typeface="Calibri"/>
              <a:ea typeface="Calibri"/>
              <a:cs typeface="Calibri"/>
              <a:sym typeface="Calibri"/>
            </a:endParaRPr>
          </a:p>
        </p:txBody>
      </p:sp>
      <p:sp>
        <p:nvSpPr>
          <p:cNvPr id="1018" name="Google Shape;1018;p53"/>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"There shall be no discrimination in the employment of workers in defense industries or Government because of race, creed, color, or national origin... It is the duty of employers and of labor organizations... to provide for the full and equitable participation of all workers in defense industries."</a:t>
            </a:r>
            <a:endParaRPr b="0" i="0" sz="1100" u="none" cap="none" strike="noStrike">
              <a:solidFill>
                <a:schemeClr val="dk1"/>
              </a:solidFill>
              <a:latin typeface="Calibri"/>
              <a:ea typeface="Calibri"/>
              <a:cs typeface="Calibri"/>
              <a:sym typeface="Calibri"/>
            </a:endParaRPr>
          </a:p>
        </p:txBody>
      </p:sp>
      <p:sp>
        <p:nvSpPr>
          <p:cNvPr id="1019" name="Google Shape;1019;p53">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National Archives</a:t>
            </a:r>
            <a:endParaRPr b="0" i="0" sz="900" u="none" cap="none" strike="noStrike">
              <a:solidFill>
                <a:schemeClr val="dk1"/>
              </a:solidFill>
              <a:latin typeface="Calibri"/>
              <a:ea typeface="Calibri"/>
              <a:cs typeface="Calibri"/>
              <a:sym typeface="Calibri"/>
            </a:endParaRPr>
          </a:p>
        </p:txBody>
      </p:sp>
      <p:sp>
        <p:nvSpPr>
          <p:cNvPr id="1020" name="Google Shape;1020;p5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021" name="Google Shape;1021;p5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80</a:t>
            </a:r>
            <a:endParaRPr b="0" i="0" sz="900" u="none" cap="none" strike="noStrike">
              <a:solidFill>
                <a:schemeClr val="dk1"/>
              </a:solidFill>
              <a:latin typeface="Calibri"/>
              <a:ea typeface="Calibri"/>
              <a:cs typeface="Calibri"/>
              <a:sym typeface="Calibri"/>
            </a:endParaRPr>
          </a:p>
        </p:txBody>
      </p:sp>
      <p:sp>
        <p:nvSpPr>
          <p:cNvPr id="1022" name="TextBox 1021"/>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Primary Source &amp; HIPPO (Act 5)</a:t>
            </a: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1026" name="Shape 1026"/>
        <p:cNvGrpSpPr/>
        <p:nvPr/>
      </p:nvGrpSpPr>
      <p:grpSpPr>
        <a:xfrm>
          <a:off x="0" y="0"/>
          <a:ext cx="0" cy="0"/>
          <a:chOff x="0" y="0"/>
          <a:chExt cx="0" cy="0"/>
        </a:xfrm>
      </p:grpSpPr>
      <p:sp>
        <p:nvSpPr>
          <p:cNvPr id="1027" name="Google Shape;1027;p54"/>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1028" name="Google Shape;1028;p54"/>
          <p:cNvSpPr/>
          <p:nvPr/>
        </p:nvSpPr>
        <p:spPr>
          <a:xfrm>
            <a:off x="3886200" y="27432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US.53</a:t>
            </a:r>
            <a:endParaRPr b="0" i="0" sz="1200" u="none" cap="none" strike="noStrike">
              <a:solidFill>
                <a:schemeClr val="dk1"/>
              </a:solidFill>
              <a:latin typeface="Calibri"/>
              <a:ea typeface="Calibri"/>
              <a:cs typeface="Calibri"/>
              <a:sym typeface="Calibri"/>
            </a:endParaRPr>
          </a:p>
        </p:txBody>
      </p:sp>
      <p:sp>
        <p:nvSpPr>
          <p:cNvPr id="1029" name="Google Shape;1029;p54"/>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C7D4E0"/>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1030" name="Google Shape;1030;p54"/>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54"/>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54"/>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1033" name="Google Shape;1033;p54"/>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1034" name="Google Shape;1034;p54"/>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US.53:</a:t>
            </a:r>
            <a:endParaRPr b="0" i="0" sz="1000" u="none" cap="none" strike="noStrike">
              <a:solidFill>
                <a:schemeClr val="dk1"/>
              </a:solidFill>
              <a:latin typeface="Calibri"/>
              <a:ea typeface="Calibri"/>
              <a:cs typeface="Calibri"/>
              <a:sym typeface="Calibri"/>
            </a:endParaRPr>
          </a:p>
        </p:txBody>
      </p:sp>
      <p:sp>
        <p:nvSpPr>
          <p:cNvPr id="1035" name="Google Shape;1035;p54"/>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African American workers who gained defense jobs, and the emerging civil-rights movement, energized by wartime demands for equality.</a:t>
            </a:r>
            <a:endParaRPr b="0" i="0" sz="1200" u="none" cap="none" strike="noStrike">
              <a:solidFill>
                <a:schemeClr val="dk1"/>
              </a:solidFill>
              <a:latin typeface="Calibri"/>
              <a:ea typeface="Calibri"/>
              <a:cs typeface="Calibri"/>
              <a:sym typeface="Calibri"/>
            </a:endParaRPr>
          </a:p>
        </p:txBody>
      </p:sp>
      <p:sp>
        <p:nvSpPr>
          <p:cNvPr id="1036" name="Google Shape;1036;p54"/>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54"/>
          <p:cNvSpPr/>
          <p:nvPr/>
        </p:nvSpPr>
        <p:spPr>
          <a:xfrm>
            <a:off x="4251960" y="1783080"/>
            <a:ext cx="3566160" cy="54864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54"/>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1039" name="Google Shape;1039;p54"/>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1040" name="Google Shape;1040;p54"/>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US.53:</a:t>
            </a:r>
            <a:endParaRPr b="0" i="0" sz="1000" u="none" cap="none" strike="noStrike">
              <a:solidFill>
                <a:schemeClr val="dk1"/>
              </a:solidFill>
              <a:latin typeface="Calibri"/>
              <a:ea typeface="Calibri"/>
              <a:cs typeface="Calibri"/>
              <a:sym typeface="Calibri"/>
            </a:endParaRPr>
          </a:p>
        </p:txBody>
      </p:sp>
      <p:sp>
        <p:nvSpPr>
          <p:cNvPr id="1041" name="Google Shape;1041;p54"/>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Black Americans who still faced segregation, violence, and discrimination even in war industries and a still-segregated military.</a:t>
            </a:r>
            <a:endParaRPr b="0" i="0" sz="1200" u="none" cap="none" strike="noStrike">
              <a:solidFill>
                <a:schemeClr val="dk1"/>
              </a:solidFill>
              <a:latin typeface="Calibri"/>
              <a:ea typeface="Calibri"/>
              <a:cs typeface="Calibri"/>
              <a:sym typeface="Calibri"/>
            </a:endParaRPr>
          </a:p>
        </p:txBody>
      </p:sp>
      <p:sp>
        <p:nvSpPr>
          <p:cNvPr id="1042" name="Google Shape;1042;p54"/>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54"/>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54"/>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1045" name="Google Shape;1045;p54"/>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1046" name="Google Shape;1046;p54"/>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US.53:</a:t>
            </a:r>
            <a:endParaRPr b="0" i="0" sz="1000" u="none" cap="none" strike="noStrike">
              <a:solidFill>
                <a:schemeClr val="dk1"/>
              </a:solidFill>
              <a:latin typeface="Calibri"/>
              <a:ea typeface="Calibri"/>
              <a:cs typeface="Calibri"/>
              <a:sym typeface="Calibri"/>
            </a:endParaRPr>
          </a:p>
        </p:txBody>
      </p:sp>
      <p:sp>
        <p:nvSpPr>
          <p:cNvPr id="1047" name="Google Shape;1047;p54"/>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President Roosevelt, pressured by A. Philip Randolph, who issued EO 8802; and President Truman, who ordered military desegregation.</a:t>
            </a:r>
            <a:endParaRPr b="0" i="0" sz="1200" u="none" cap="none" strike="noStrike">
              <a:solidFill>
                <a:schemeClr val="dk1"/>
              </a:solidFill>
              <a:latin typeface="Calibri"/>
              <a:ea typeface="Calibri"/>
              <a:cs typeface="Calibri"/>
              <a:sym typeface="Calibri"/>
            </a:endParaRPr>
          </a:p>
        </p:txBody>
      </p:sp>
      <p:sp>
        <p:nvSpPr>
          <p:cNvPr id="1048" name="Google Shape;1048;p54"/>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C7D4E0"/>
                </a:solidFill>
                <a:latin typeface="Trebuchet MS"/>
                <a:ea typeface="Trebuchet MS"/>
                <a:cs typeface="Trebuchet MS"/>
                <a:sym typeface="Trebuchet MS"/>
              </a:rPr>
              <a:t>Anchor: Executive Order 8802, President Franklin D. Roosevelt, June 25, 1941 (National Archives)</a:t>
            </a:r>
            <a:endParaRPr b="0" i="0" sz="1000" u="none" cap="none" strike="noStrike">
              <a:solidFill>
                <a:schemeClr val="dk1"/>
              </a:solidFill>
              <a:latin typeface="Calibri"/>
              <a:ea typeface="Calibri"/>
              <a:cs typeface="Calibri"/>
              <a:sym typeface="Calibri"/>
            </a:endParaRPr>
          </a:p>
        </p:txBody>
      </p:sp>
      <p:sp>
        <p:nvSpPr>
          <p:cNvPr id="1049" name="Google Shape;1049;p5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050" name="Google Shape;1050;p5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81</a:t>
            </a:r>
            <a:endParaRPr b="0" i="0" sz="900" u="none" cap="none" strike="noStrike">
              <a:solidFill>
                <a:schemeClr val="dk1"/>
              </a:solidFill>
              <a:latin typeface="Calibri"/>
              <a:ea typeface="Calibri"/>
              <a:cs typeface="Calibri"/>
              <a:sym typeface="Calibri"/>
            </a:endParaRPr>
          </a:p>
        </p:txBody>
      </p:sp>
      <p:sp>
        <p:nvSpPr>
          <p:cNvPr id="1051" name="TextBox 1050"/>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Constructed Response (Act 7)</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US.53</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75</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938528"/>
            <a:ext cx="137160" cy="292608"/>
          </a:xfrm>
          <a:prstGeom prst="rect">
            <a:avLst/>
          </a:prstGeom>
          <a:solidFill>
            <a:srgbClr val="B22234"/>
          </a:solidFill>
          <a:ln/>
        </p:spPr>
        <p:txBody>
          <a:bodyPr/>
          <a:p/>
        </p:txBody>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Executive Order 8802</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Orden Ejecutiva 8802</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June 1941 order signed by President Roosevelt banning racial discrimination in the defense industry and creating the Fair Employment Practices Committee.</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938528"/>
            <a:ext cx="137160" cy="292608"/>
          </a:xfrm>
          <a:prstGeom prst="rect">
            <a:avLst/>
          </a:prstGeom>
          <a:solidFill>
            <a:srgbClr val="B22234"/>
          </a:solidFill>
          <a:ln/>
        </p:spPr>
        <p:txBody>
          <a:bodyPr/>
          <a:p/>
        </p:txBody>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Double V Campaign</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Campaña de la Doble V</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World War II campaign led by the Black press calling for a 'Double Victory' - over fascism abroad and racial discrimination at home.</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938528"/>
            <a:ext cx="137160" cy="292608"/>
          </a:xfrm>
          <a:prstGeom prst="rect">
            <a:avLst/>
          </a:prstGeom>
          <a:solidFill>
            <a:srgbClr val="B22234"/>
          </a:solidFill>
          <a:ln/>
        </p:spPr>
        <p:txBody>
          <a:bodyPr/>
          <a:p/>
        </p:txBody>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Tuskegee Airmen</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Aviadores de Tuskegee</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First African American military pilots who fought in World War II, proving their skill despite facing racial discrimination and segregation.</a:t>
            </a:r>
            <a:endParaRPr lang="en-US" sz="1300" dirty="0"/>
          </a:p>
        </p:txBody>
      </p:sp>
      <p:sp>
        <p:nvSpPr>
          <p:cNvPr id="25" name="TextBox 24"/>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Vocabulary (Act 1–2)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US.53</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82</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What was the "Double V" campaign, and how did it connect the fight against fascism abroad with civil rights at home?</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Pittsburgh Courier's campaign demanded victory over fascism abroad and over racism at home, arguing that fighting for democracy overseas exposed the contradiction of denying democracy to Black Americans</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txBody>
          <a:bodyPr/>
          <a:p/>
        </p:txBody>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It focused only on military victory, although this view has been largely discredited by scholars, which does not align with the documented historical record, which represents a common misconception about this historical period</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txBody>
          <a:bodyPr/>
          <a:p/>
        </p:txBody>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It supported segregation, though this interpretation lacks supporting historical evidence, though this interpretation lacks supporting historical evidence, but closer analysis reveals a more complicated historical reality</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txBody>
          <a:bodyPr/>
          <a:p/>
        </p:txBody>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It had no connection to civil rights, which ignores key developments that shaped the outcome, which represents a common misconception about this historical period, although historical sources do not support this conclusion</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
        <p:nvSpPr>
          <p:cNvPr id="22" name="TextBox 21"/>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Practice Quiz (Act 6)</a:t>
            </a: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1055" name="Shape 1055"/>
        <p:cNvGrpSpPr/>
        <p:nvPr/>
      </p:nvGrpSpPr>
      <p:grpSpPr>
        <a:xfrm>
          <a:off x="0" y="0"/>
          <a:ext cx="0" cy="0"/>
          <a:chOff x="0" y="0"/>
          <a:chExt cx="0" cy="0"/>
        </a:xfrm>
      </p:grpSpPr>
      <p:sp>
        <p:nvSpPr>
          <p:cNvPr id="1056" name="Google Shape;1056;p55"/>
          <p:cNvSpPr/>
          <p:nvPr/>
        </p:nvSpPr>
        <p:spPr>
          <a:xfrm>
            <a:off x="0" y="2331720"/>
            <a:ext cx="12191695" cy="73152"/>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55"/>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6000"/>
              <a:buFont typeface="Georgia"/>
              <a:buNone/>
            </a:pPr>
            <a:r>
              <a:rPr b="1" i="0" lang="en-US" sz="6000" u="none" cap="none" strike="noStrike">
                <a:solidFill>
                  <a:srgbClr val="C89B3C"/>
                </a:solidFill>
                <a:latin typeface="Georgia"/>
                <a:ea typeface="Georgia"/>
                <a:cs typeface="Georgia"/>
                <a:sym typeface="Georgia"/>
              </a:rPr>
              <a:t>US.54</a:t>
            </a:r>
            <a:endParaRPr b="0" i="0" sz="6000" u="none" cap="none" strike="noStrike">
              <a:solidFill>
                <a:schemeClr val="dk1"/>
              </a:solidFill>
              <a:latin typeface="Calibri"/>
              <a:ea typeface="Calibri"/>
              <a:cs typeface="Calibri"/>
              <a:sym typeface="Calibri"/>
            </a:endParaRPr>
          </a:p>
        </p:txBody>
      </p:sp>
      <p:sp>
        <p:nvSpPr>
          <p:cNvPr id="1058" name="Google Shape;1058;p55"/>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Japanese American Internment &amp; Korematsu</a:t>
            </a:r>
            <a:endParaRPr b="0" i="0" sz="2600" u="none" cap="none" strike="noStrike">
              <a:solidFill>
                <a:schemeClr val="dk1"/>
              </a:solidFill>
              <a:latin typeface="Calibri"/>
              <a:ea typeface="Calibri"/>
              <a:cs typeface="Calibri"/>
              <a:sym typeface="Calibri"/>
            </a:endParaRPr>
          </a:p>
        </p:txBody>
      </p:sp>
      <p:sp>
        <p:nvSpPr>
          <p:cNvPr id="1059" name="Google Shape;1059;p55"/>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1060" name="Google Shape;1060;p55"/>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C7D4E0"/>
                </a:solidFill>
                <a:latin typeface="Calibri"/>
                <a:ea typeface="Calibri"/>
                <a:cs typeface="Calibri"/>
                <a:sym typeface="Calibri"/>
              </a:rPr>
              <a:t>US.54 – Describe the constitutional issues and impact of the internment of Japanese Americans on the U.S., including the Fred Korematsu v. United States of America decision.</a:t>
            </a:r>
            <a:endParaRPr b="0" i="0" sz="1600" u="none" cap="none" strike="noStrike">
              <a:solidFill>
                <a:schemeClr val="dk1"/>
              </a:solidFill>
              <a:latin typeface="Calibri"/>
              <a:ea typeface="Calibri"/>
              <a:cs typeface="Calibri"/>
              <a:sym typeface="Calibri"/>
            </a:endParaRPr>
          </a:p>
        </p:txBody>
      </p:sp>
      <p:sp>
        <p:nvSpPr>
          <p:cNvPr id="1061" name="Google Shape;1061;p55"/>
          <p:cNvSpPr/>
          <p:nvPr/>
        </p:nvSpPr>
        <p:spPr>
          <a:xfrm>
            <a:off x="457200" y="4892040"/>
            <a:ext cx="11247120" cy="123444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55"/>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1063" name="Google Shape;1063;p55"/>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1400"/>
              <a:buFont typeface="Calibri"/>
              <a:buNone/>
            </a:pPr>
            <a:r>
              <a:rPr b="1" i="0" lang="en-US" sz="1400" u="none" cap="none" strike="noStrike">
                <a:solidFill>
                  <a:srgbClr val="1B2A4A"/>
                </a:solidFill>
                <a:latin typeface="Calibri"/>
                <a:ea typeface="Calibri"/>
                <a:cs typeface="Calibri"/>
                <a:sym typeface="Calibri"/>
              </a:rPr>
              <a:t>I can describe the constitutional issues and impact of the internment of Japanese Americans on the U.S., including the Fred Korematsu v. United States of America decision.</a:t>
            </a:r>
            <a:endParaRPr b="0" i="0" sz="1400" u="none" cap="none" strike="noStrike">
              <a:solidFill>
                <a:schemeClr val="dk1"/>
              </a:solidFill>
              <a:latin typeface="Calibri"/>
              <a:ea typeface="Calibri"/>
              <a:cs typeface="Calibri"/>
              <a:sym typeface="Calibri"/>
            </a:endParaRPr>
          </a:p>
        </p:txBody>
      </p:sp>
      <p:sp>
        <p:nvSpPr>
          <p:cNvPr id="1064" name="Google Shape;1064;p5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065" name="Google Shape;1065;p5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83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070" name="Shape 1070"/>
        <p:cNvGrpSpPr/>
        <p:nvPr/>
      </p:nvGrpSpPr>
      <p:grpSpPr>
        <a:xfrm>
          <a:off x="0" y="0"/>
          <a:ext cx="0" cy="0"/>
          <a:chOff x="0" y="0"/>
          <a:chExt cx="0" cy="0"/>
        </a:xfrm>
      </p:grpSpPr>
      <p:sp>
        <p:nvSpPr>
          <p:cNvPr id="1071" name="Google Shape;1071;p56"/>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56"/>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56"/>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074" name="Google Shape;1074;p56"/>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US.54</a:t>
            </a:r>
            <a:endParaRPr b="0" i="0" sz="1200" u="none" cap="none" strike="noStrike">
              <a:solidFill>
                <a:schemeClr val="dk1"/>
              </a:solidFill>
              <a:latin typeface="Calibri"/>
              <a:ea typeface="Calibri"/>
              <a:cs typeface="Calibri"/>
              <a:sym typeface="Calibri"/>
            </a:endParaRPr>
          </a:p>
        </p:txBody>
      </p:sp>
      <p:sp>
        <p:nvSpPr>
          <p:cNvPr id="1075" name="Google Shape;1075;p56"/>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After Pearl Harbor, Executive Order 9066 (Feb 1942) authorized removal from military areas, leading to the incarceration of about 120,000 Japanese Americans in camps.</a:t>
            </a:r>
            <a:endParaRPr b="0" i="0" sz="2300" u="none" cap="none" strike="noStrike">
              <a:solidFill>
                <a:schemeClr val="dk1"/>
              </a:solidFill>
              <a:latin typeface="Calibri"/>
              <a:ea typeface="Calibri"/>
              <a:cs typeface="Calibri"/>
              <a:sym typeface="Calibri"/>
            </a:endParaRPr>
          </a:p>
        </p:txBody>
      </p:sp>
      <p:pic>
        <p:nvPicPr>
          <p:cNvPr descr="hh-web/public/images/textbook/unit-6/japanese-internment-mochida-family-1942.jpg" id="1076" name="Google Shape;1076;p56"/>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1077" name="Google Shape;1077;p56"/>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900"/>
              <a:buFont typeface="Trebuchet MS"/>
              <a:buNone/>
            </a:pPr>
            <a:r>
              <a:rPr b="1" i="0" lang="en-US" sz="900" u="none" cap="none" strike="noStrike">
                <a:solidFill>
                  <a:srgbClr val="1B2A4A"/>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1078" name="Google Shape;1078;p56"/>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US.54 · DI 1 of 4 · Executive Order 9066 &amp; Internment</a:t>
            </a:r>
            <a:endParaRPr b="0" i="0" sz="1000" u="none" cap="none" strike="noStrike">
              <a:solidFill>
                <a:schemeClr val="dk1"/>
              </a:solidFill>
              <a:latin typeface="Calibri"/>
              <a:ea typeface="Calibri"/>
              <a:cs typeface="Calibri"/>
              <a:sym typeface="Calibri"/>
            </a:endParaRPr>
          </a:p>
        </p:txBody>
      </p:sp>
      <p:sp>
        <p:nvSpPr>
          <p:cNvPr id="1079" name="Google Shape;1079;p5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080" name="Google Shape;1080;p5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85</a:t>
            </a:r>
            <a:endParaRPr b="0" i="0" sz="900" u="none" cap="none" strike="noStrike">
              <a:solidFill>
                <a:schemeClr val="dk1"/>
              </a:solidFill>
              <a:latin typeface="Calibri"/>
              <a:ea typeface="Calibri"/>
              <a:cs typeface="Calibri"/>
              <a:sym typeface="Calibri"/>
            </a:endParaRPr>
          </a:p>
        </p:txBody>
      </p:sp>
      <p:sp>
        <p:nvSpPr>
          <p:cNvPr id="1081" name="TextBox 1080"/>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085" name="Shape 1085"/>
        <p:cNvGrpSpPr/>
        <p:nvPr/>
      </p:nvGrpSpPr>
      <p:grpSpPr>
        <a:xfrm>
          <a:off x="0" y="0"/>
          <a:ext cx="0" cy="0"/>
          <a:chOff x="0" y="0"/>
          <a:chExt cx="0" cy="0"/>
        </a:xfrm>
      </p:grpSpPr>
      <p:sp>
        <p:nvSpPr>
          <p:cNvPr id="1086" name="Google Shape;1086;p57"/>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57"/>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57"/>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089" name="Google Shape;1089;p57"/>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US.54</a:t>
            </a:r>
            <a:endParaRPr b="0" i="0" sz="1200" u="none" cap="none" strike="noStrike">
              <a:solidFill>
                <a:schemeClr val="dk1"/>
              </a:solidFill>
              <a:latin typeface="Calibri"/>
              <a:ea typeface="Calibri"/>
              <a:cs typeface="Calibri"/>
              <a:sym typeface="Calibri"/>
            </a:endParaRPr>
          </a:p>
        </p:txBody>
      </p:sp>
      <p:sp>
        <p:nvSpPr>
          <p:cNvPr id="1090" name="Google Shape;1090;p57"/>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Internment violated due process (no hearings or evidence of disloyalty) and equal protection — punishing people for ancestry, not acts.</a:t>
            </a:r>
            <a:endParaRPr b="0" i="0" sz="2300" u="none" cap="none" strike="noStrike">
              <a:solidFill>
                <a:schemeClr val="dk1"/>
              </a:solidFill>
              <a:latin typeface="Calibri"/>
              <a:ea typeface="Calibri"/>
              <a:cs typeface="Calibri"/>
              <a:sym typeface="Calibri"/>
            </a:endParaRPr>
          </a:p>
        </p:txBody>
      </p:sp>
      <p:sp>
        <p:nvSpPr>
          <p:cNvPr id="1091" name="Google Shape;1091;p57"/>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57"/>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57"/>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1094" name="Google Shape;1094;p57"/>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Internment violated due process (no hearings or evidence of disloyalty) and equal protection — punishing people for ancestry, not acts.</a:t>
            </a:r>
            <a:endParaRPr b="0" i="0" sz="2200" u="none" cap="none" strike="noStrike">
              <a:solidFill>
                <a:schemeClr val="dk1"/>
              </a:solidFill>
              <a:latin typeface="Calibri"/>
              <a:ea typeface="Calibri"/>
              <a:cs typeface="Calibri"/>
              <a:sym typeface="Calibri"/>
            </a:endParaRPr>
          </a:p>
        </p:txBody>
      </p:sp>
      <p:sp>
        <p:nvSpPr>
          <p:cNvPr id="1095" name="Google Shape;1095;p57"/>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US.54 · DI 2 of 4 · Constitutional Issues</a:t>
            </a:r>
            <a:endParaRPr b="0" i="0" sz="1000" u="none" cap="none" strike="noStrike">
              <a:solidFill>
                <a:schemeClr val="dk1"/>
              </a:solidFill>
              <a:latin typeface="Calibri"/>
              <a:ea typeface="Calibri"/>
              <a:cs typeface="Calibri"/>
              <a:sym typeface="Calibri"/>
            </a:endParaRPr>
          </a:p>
        </p:txBody>
      </p:sp>
      <p:sp>
        <p:nvSpPr>
          <p:cNvPr id="1096" name="Google Shape;1096;p5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097" name="Google Shape;1097;p5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86</a:t>
            </a:r>
            <a:endParaRPr b="0" i="0" sz="900" u="none" cap="none" strike="noStrike">
              <a:solidFill>
                <a:schemeClr val="dk1"/>
              </a:solidFill>
              <a:latin typeface="Calibri"/>
              <a:ea typeface="Calibri"/>
              <a:cs typeface="Calibri"/>
              <a:sym typeface="Calibri"/>
            </a:endParaRPr>
          </a:p>
        </p:txBody>
      </p:sp>
      <p:sp>
        <p:nvSpPr>
          <p:cNvPr id="1098" name="TextBox 1097"/>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102" name="Shape 1102"/>
        <p:cNvGrpSpPr/>
        <p:nvPr/>
      </p:nvGrpSpPr>
      <p:grpSpPr>
        <a:xfrm>
          <a:off x="0" y="0"/>
          <a:ext cx="0" cy="0"/>
          <a:chOff x="0" y="0"/>
          <a:chExt cx="0" cy="0"/>
        </a:xfrm>
      </p:grpSpPr>
      <p:sp>
        <p:nvSpPr>
          <p:cNvPr id="1103" name="Google Shape;1103;p58"/>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58"/>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58"/>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106" name="Google Shape;1106;p58"/>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US.54</a:t>
            </a:r>
            <a:endParaRPr b="0" i="0" sz="1200" u="none" cap="none" strike="noStrike">
              <a:solidFill>
                <a:schemeClr val="dk1"/>
              </a:solidFill>
              <a:latin typeface="Calibri"/>
              <a:ea typeface="Calibri"/>
              <a:cs typeface="Calibri"/>
              <a:sym typeface="Calibri"/>
            </a:endParaRPr>
          </a:p>
        </p:txBody>
      </p:sp>
      <p:sp>
        <p:nvSpPr>
          <p:cNvPr id="1107" name="Google Shape;1107;p58"/>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Fred Korematsu refused internment; in Korematsu v. United States (1944) the Supreme Court upheld the exclusion 6–3 on “wartime necessity” — a ruling later condemned.</a:t>
            </a:r>
            <a:endParaRPr b="0" i="0" sz="2300" u="none" cap="none" strike="noStrike">
              <a:solidFill>
                <a:schemeClr val="dk1"/>
              </a:solidFill>
              <a:latin typeface="Calibri"/>
              <a:ea typeface="Calibri"/>
              <a:cs typeface="Calibri"/>
              <a:sym typeface="Calibri"/>
            </a:endParaRPr>
          </a:p>
        </p:txBody>
      </p:sp>
      <p:sp>
        <p:nvSpPr>
          <p:cNvPr id="1108" name="Google Shape;1108;p58"/>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58"/>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58"/>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1111" name="Google Shape;1111;p58"/>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Fred Korematsu refused internment; in Korematsu v. United States (1944) the Supreme Court upheld the exclusion 6–3 on “wartime necessity” — a ruling later condemned.</a:t>
            </a:r>
            <a:endParaRPr b="0" i="0" sz="2200" u="none" cap="none" strike="noStrike">
              <a:solidFill>
                <a:schemeClr val="dk1"/>
              </a:solidFill>
              <a:latin typeface="Calibri"/>
              <a:ea typeface="Calibri"/>
              <a:cs typeface="Calibri"/>
              <a:sym typeface="Calibri"/>
            </a:endParaRPr>
          </a:p>
        </p:txBody>
      </p:sp>
      <p:sp>
        <p:nvSpPr>
          <p:cNvPr id="1112" name="Google Shape;1112;p58"/>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US.54 · DI 3 of 4 · Korematsu v. United States (1944)</a:t>
            </a:r>
            <a:endParaRPr b="0" i="0" sz="1000" u="none" cap="none" strike="noStrike">
              <a:solidFill>
                <a:schemeClr val="dk1"/>
              </a:solidFill>
              <a:latin typeface="Calibri"/>
              <a:ea typeface="Calibri"/>
              <a:cs typeface="Calibri"/>
              <a:sym typeface="Calibri"/>
            </a:endParaRPr>
          </a:p>
        </p:txBody>
      </p:sp>
      <p:sp>
        <p:nvSpPr>
          <p:cNvPr id="1113" name="Google Shape;1113;p5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114" name="Google Shape;1114;p5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87</a:t>
            </a:r>
            <a:endParaRPr b="0" i="0" sz="900" u="none" cap="none" strike="noStrike">
              <a:solidFill>
                <a:schemeClr val="dk1"/>
              </a:solidFill>
              <a:latin typeface="Calibri"/>
              <a:ea typeface="Calibri"/>
              <a:cs typeface="Calibri"/>
              <a:sym typeface="Calibri"/>
            </a:endParaRPr>
          </a:p>
        </p:txBody>
      </p:sp>
      <p:sp>
        <p:nvSpPr>
          <p:cNvPr id="1115" name="TextBox 1114"/>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119" name="Shape 1119"/>
        <p:cNvGrpSpPr/>
        <p:nvPr/>
      </p:nvGrpSpPr>
      <p:grpSpPr>
        <a:xfrm>
          <a:off x="0" y="0"/>
          <a:ext cx="0" cy="0"/>
          <a:chOff x="0" y="0"/>
          <a:chExt cx="0" cy="0"/>
        </a:xfrm>
      </p:grpSpPr>
      <p:sp>
        <p:nvSpPr>
          <p:cNvPr id="1120" name="Google Shape;1120;p59"/>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59"/>
          <p:cNvSpPr/>
          <p:nvPr/>
        </p:nvSpPr>
        <p:spPr>
          <a:xfrm>
            <a:off x="0" y="155448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59"/>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1123" name="Google Shape;1123;p59"/>
          <p:cNvSpPr/>
          <p:nvPr/>
        </p:nvSpPr>
        <p:spPr>
          <a:xfrm>
            <a:off x="3886200" y="27432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US.54</a:t>
            </a:r>
            <a:endParaRPr b="0" i="0" sz="1200" u="none" cap="none" strike="noStrike">
              <a:solidFill>
                <a:schemeClr val="dk1"/>
              </a:solidFill>
              <a:latin typeface="Calibri"/>
              <a:ea typeface="Calibri"/>
              <a:cs typeface="Calibri"/>
              <a:sym typeface="Calibri"/>
            </a:endParaRPr>
          </a:p>
        </p:txBody>
      </p:sp>
      <p:sp>
        <p:nvSpPr>
          <p:cNvPr id="1124" name="Google Shape;1124;p59"/>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Read Executive Order 9066 — note who issued it, when, and why before you weigh its words.</a:t>
            </a:r>
            <a:endParaRPr b="0" i="0" sz="2000" u="none" cap="none" strike="noStrike">
              <a:solidFill>
                <a:schemeClr val="dk1"/>
              </a:solidFill>
              <a:latin typeface="Calibri"/>
              <a:ea typeface="Calibri"/>
              <a:cs typeface="Calibri"/>
              <a:sym typeface="Calibri"/>
            </a:endParaRPr>
          </a:p>
        </p:txBody>
      </p:sp>
      <p:sp>
        <p:nvSpPr>
          <p:cNvPr id="1125" name="Google Shape;1125;p59"/>
          <p:cNvSpPr/>
          <p:nvPr/>
        </p:nvSpPr>
        <p:spPr>
          <a:xfrm>
            <a:off x="45720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1126" name="Google Shape;1126;p59"/>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President Franklin D. Roosevelt</a:t>
            </a:r>
            <a:endParaRPr b="0" i="0" sz="1200" u="none" cap="none" strike="noStrike">
              <a:solidFill>
                <a:schemeClr val="dk1"/>
              </a:solidFill>
              <a:latin typeface="Calibri"/>
              <a:ea typeface="Calibri"/>
              <a:cs typeface="Calibri"/>
              <a:sym typeface="Calibri"/>
            </a:endParaRPr>
          </a:p>
        </p:txBody>
      </p:sp>
      <p:sp>
        <p:nvSpPr>
          <p:cNvPr id="1127" name="Google Shape;1127;p59"/>
          <p:cNvSpPr/>
          <p:nvPr/>
        </p:nvSpPr>
        <p:spPr>
          <a:xfrm>
            <a:off x="425196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1128" name="Google Shape;1128;p59"/>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February 19, 1942</a:t>
            </a:r>
            <a:endParaRPr b="0" i="0" sz="1200" u="none" cap="none" strike="noStrike">
              <a:solidFill>
                <a:schemeClr val="dk1"/>
              </a:solidFill>
              <a:latin typeface="Calibri"/>
              <a:ea typeface="Calibri"/>
              <a:cs typeface="Calibri"/>
              <a:sym typeface="Calibri"/>
            </a:endParaRPr>
          </a:p>
        </p:txBody>
      </p:sp>
      <p:sp>
        <p:nvSpPr>
          <p:cNvPr id="1129" name="Google Shape;1129;p59"/>
          <p:cNvSpPr/>
          <p:nvPr/>
        </p:nvSpPr>
        <p:spPr>
          <a:xfrm>
            <a:off x="804672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1130" name="Google Shape;1130;p59"/>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Consider the author's purpose and audience before reading the words.</a:t>
            </a:r>
            <a:endParaRPr b="0" i="0" sz="1200" u="none" cap="none" strike="noStrike">
              <a:solidFill>
                <a:schemeClr val="dk1"/>
              </a:solidFill>
              <a:latin typeface="Calibri"/>
              <a:ea typeface="Calibri"/>
              <a:cs typeface="Calibri"/>
              <a:sym typeface="Calibri"/>
            </a:endParaRPr>
          </a:p>
        </p:txBody>
      </p:sp>
      <p:sp>
        <p:nvSpPr>
          <p:cNvPr id="1131" name="Google Shape;1131;p59"/>
          <p:cNvSpPr/>
          <p:nvPr/>
        </p:nvSpPr>
        <p:spPr>
          <a:xfrm>
            <a:off x="457200" y="3200400"/>
            <a:ext cx="5532120" cy="2651760"/>
          </a:xfrm>
          <a:prstGeom prst="rect">
            <a:avLst/>
          </a:prstGeom>
          <a:solidFill>
            <a:srgbClr val="FFFFFF"/>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59"/>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Executive Order 9066</a:t>
            </a:r>
            <a:endParaRPr b="0" i="0" sz="1400" u="none" cap="none" strike="noStrike">
              <a:solidFill>
                <a:schemeClr val="dk1"/>
              </a:solidFill>
              <a:latin typeface="Calibri"/>
              <a:ea typeface="Calibri"/>
              <a:cs typeface="Calibri"/>
              <a:sym typeface="Calibri"/>
            </a:endParaRPr>
          </a:p>
        </p:txBody>
      </p:sp>
      <p:sp>
        <p:nvSpPr>
          <p:cNvPr id="1133" name="Google Shape;1133;p59"/>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President Franklin D. Roosevelt · February 19, 1942</a:t>
            </a:r>
            <a:endParaRPr b="0" i="0" sz="900" u="none" cap="none" strike="noStrike">
              <a:solidFill>
                <a:schemeClr val="dk1"/>
              </a:solidFill>
              <a:latin typeface="Calibri"/>
              <a:ea typeface="Calibri"/>
              <a:cs typeface="Calibri"/>
              <a:sym typeface="Calibri"/>
            </a:endParaRPr>
          </a:p>
        </p:txBody>
      </p:sp>
      <p:sp>
        <p:nvSpPr>
          <p:cNvPr id="1134" name="Google Shape;1134;p59"/>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"I hereby authorize and direct the Secretary of War, and the Military Commanders whom he may from time to time designate... to prescribe military areas in such places and of such extent as he or the appropriate Military Commander may determine, from which any or all persons may be excluded."</a:t>
            </a:r>
            <a:endParaRPr b="0" i="0" sz="1100" u="none" cap="none" strike="noStrike">
              <a:solidFill>
                <a:schemeClr val="dk1"/>
              </a:solidFill>
              <a:latin typeface="Calibri"/>
              <a:ea typeface="Calibri"/>
              <a:cs typeface="Calibri"/>
              <a:sym typeface="Calibri"/>
            </a:endParaRPr>
          </a:p>
        </p:txBody>
      </p:sp>
      <p:sp>
        <p:nvSpPr>
          <p:cNvPr id="1135" name="Google Shape;1135;p59">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National Archives</a:t>
            </a:r>
            <a:endParaRPr b="0" i="0" sz="900" u="none" cap="none" strike="noStrike">
              <a:solidFill>
                <a:schemeClr val="dk1"/>
              </a:solidFill>
              <a:latin typeface="Calibri"/>
              <a:ea typeface="Calibri"/>
              <a:cs typeface="Calibri"/>
              <a:sym typeface="Calibri"/>
            </a:endParaRPr>
          </a:p>
        </p:txBody>
      </p:sp>
      <p:sp>
        <p:nvSpPr>
          <p:cNvPr id="1136" name="Google Shape;1136;p5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137" name="Google Shape;1137;p5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89</a:t>
            </a:r>
            <a:endParaRPr b="0" i="0" sz="900" u="none" cap="none" strike="noStrike">
              <a:solidFill>
                <a:schemeClr val="dk1"/>
              </a:solidFill>
              <a:latin typeface="Calibri"/>
              <a:ea typeface="Calibri"/>
              <a:cs typeface="Calibri"/>
              <a:sym typeface="Calibri"/>
            </a:endParaRPr>
          </a:p>
        </p:txBody>
      </p:sp>
      <p:sp>
        <p:nvSpPr>
          <p:cNvPr id="1138" name="TextBox 1137"/>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Primary Source &amp; HIPPO (Act 5)</a:t>
            </a: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1142" name="Shape 1142"/>
        <p:cNvGrpSpPr/>
        <p:nvPr/>
      </p:nvGrpSpPr>
      <p:grpSpPr>
        <a:xfrm>
          <a:off x="0" y="0"/>
          <a:ext cx="0" cy="0"/>
          <a:chOff x="0" y="0"/>
          <a:chExt cx="0" cy="0"/>
        </a:xfrm>
      </p:grpSpPr>
      <p:sp>
        <p:nvSpPr>
          <p:cNvPr id="1143" name="Google Shape;1143;p60"/>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1144" name="Google Shape;1144;p60"/>
          <p:cNvSpPr/>
          <p:nvPr/>
        </p:nvSpPr>
        <p:spPr>
          <a:xfrm>
            <a:off x="3886200" y="27432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US.54</a:t>
            </a:r>
            <a:endParaRPr b="0" i="0" sz="1200" u="none" cap="none" strike="noStrike">
              <a:solidFill>
                <a:schemeClr val="dk1"/>
              </a:solidFill>
              <a:latin typeface="Calibri"/>
              <a:ea typeface="Calibri"/>
              <a:cs typeface="Calibri"/>
              <a:sym typeface="Calibri"/>
            </a:endParaRPr>
          </a:p>
        </p:txBody>
      </p:sp>
      <p:sp>
        <p:nvSpPr>
          <p:cNvPr id="1145" name="Google Shape;1145;p60"/>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C7D4E0"/>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1146" name="Google Shape;1146;p60"/>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60"/>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60"/>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1149" name="Google Shape;1149;p60"/>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1150" name="Google Shape;1150;p60"/>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US.54:</a:t>
            </a:r>
            <a:endParaRPr b="0" i="0" sz="1000" u="none" cap="none" strike="noStrike">
              <a:solidFill>
                <a:schemeClr val="dk1"/>
              </a:solidFill>
              <a:latin typeface="Calibri"/>
              <a:ea typeface="Calibri"/>
              <a:cs typeface="Calibri"/>
              <a:sym typeface="Calibri"/>
            </a:endParaRPr>
          </a:p>
        </p:txBody>
      </p:sp>
      <p:sp>
        <p:nvSpPr>
          <p:cNvPr id="1151" name="Google Shape;1151;p60"/>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Wartime officials who claimed security justification, and some who acquired the property Japanese Americans were forced to abandon.</a:t>
            </a:r>
            <a:endParaRPr b="0" i="0" sz="1200" u="none" cap="none" strike="noStrike">
              <a:solidFill>
                <a:schemeClr val="dk1"/>
              </a:solidFill>
              <a:latin typeface="Calibri"/>
              <a:ea typeface="Calibri"/>
              <a:cs typeface="Calibri"/>
              <a:sym typeface="Calibri"/>
            </a:endParaRPr>
          </a:p>
        </p:txBody>
      </p:sp>
      <p:sp>
        <p:nvSpPr>
          <p:cNvPr id="1152" name="Google Shape;1152;p60"/>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60"/>
          <p:cNvSpPr/>
          <p:nvPr/>
        </p:nvSpPr>
        <p:spPr>
          <a:xfrm>
            <a:off x="4251960" y="1783080"/>
            <a:ext cx="3566160" cy="54864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60"/>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1155" name="Google Shape;1155;p60"/>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1156" name="Google Shape;1156;p60"/>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US.54:</a:t>
            </a:r>
            <a:endParaRPr b="0" i="0" sz="1000" u="none" cap="none" strike="noStrike">
              <a:solidFill>
                <a:schemeClr val="dk1"/>
              </a:solidFill>
              <a:latin typeface="Calibri"/>
              <a:ea typeface="Calibri"/>
              <a:cs typeface="Calibri"/>
              <a:sym typeface="Calibri"/>
            </a:endParaRPr>
          </a:p>
        </p:txBody>
      </p:sp>
      <p:sp>
        <p:nvSpPr>
          <p:cNvPr id="1157" name="Google Shape;1157;p60"/>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120,000 interned Japanese Americans who lost homes, businesses, and freedom — an estimated $400 million in property and lasting trauma.</a:t>
            </a:r>
            <a:endParaRPr b="0" i="0" sz="1200" u="none" cap="none" strike="noStrike">
              <a:solidFill>
                <a:schemeClr val="dk1"/>
              </a:solidFill>
              <a:latin typeface="Calibri"/>
              <a:ea typeface="Calibri"/>
              <a:cs typeface="Calibri"/>
              <a:sym typeface="Calibri"/>
            </a:endParaRPr>
          </a:p>
        </p:txBody>
      </p:sp>
      <p:sp>
        <p:nvSpPr>
          <p:cNvPr id="1158" name="Google Shape;1158;p60"/>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60"/>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60"/>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1161" name="Google Shape;1161;p60"/>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1162" name="Google Shape;1162;p60"/>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US.54:</a:t>
            </a:r>
            <a:endParaRPr b="0" i="0" sz="1000" u="none" cap="none" strike="noStrike">
              <a:solidFill>
                <a:schemeClr val="dk1"/>
              </a:solidFill>
              <a:latin typeface="Calibri"/>
              <a:ea typeface="Calibri"/>
              <a:cs typeface="Calibri"/>
              <a:sym typeface="Calibri"/>
            </a:endParaRPr>
          </a:p>
        </p:txBody>
      </p:sp>
      <p:sp>
        <p:nvSpPr>
          <p:cNvPr id="1163" name="Google Shape;1163;p60"/>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President Roosevelt, who signed EO 9066; the military, which carried out removal; and the Supreme Court, which upheld it in Korematsu.</a:t>
            </a:r>
            <a:endParaRPr b="0" i="0" sz="1200" u="none" cap="none" strike="noStrike">
              <a:solidFill>
                <a:schemeClr val="dk1"/>
              </a:solidFill>
              <a:latin typeface="Calibri"/>
              <a:ea typeface="Calibri"/>
              <a:cs typeface="Calibri"/>
              <a:sym typeface="Calibri"/>
            </a:endParaRPr>
          </a:p>
        </p:txBody>
      </p:sp>
      <p:sp>
        <p:nvSpPr>
          <p:cNvPr id="1164" name="Google Shape;1164;p60"/>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C7D4E0"/>
                </a:solidFill>
                <a:latin typeface="Trebuchet MS"/>
                <a:ea typeface="Trebuchet MS"/>
                <a:cs typeface="Trebuchet MS"/>
                <a:sym typeface="Trebuchet MS"/>
              </a:rPr>
              <a:t>Anchor: Executive Order 9066, President Franklin D. Roosevelt, February 19, 1942 (National Archives)</a:t>
            </a:r>
            <a:endParaRPr b="0" i="0" sz="1000" u="none" cap="none" strike="noStrike">
              <a:solidFill>
                <a:schemeClr val="dk1"/>
              </a:solidFill>
              <a:latin typeface="Calibri"/>
              <a:ea typeface="Calibri"/>
              <a:cs typeface="Calibri"/>
              <a:sym typeface="Calibri"/>
            </a:endParaRPr>
          </a:p>
        </p:txBody>
      </p:sp>
      <p:sp>
        <p:nvSpPr>
          <p:cNvPr id="1165" name="Google Shape;1165;p6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166" name="Google Shape;1166;p6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90</a:t>
            </a:r>
            <a:endParaRPr b="0" i="0" sz="900" u="none" cap="none" strike="noStrike">
              <a:solidFill>
                <a:schemeClr val="dk1"/>
              </a:solidFill>
              <a:latin typeface="Calibri"/>
              <a:ea typeface="Calibri"/>
              <a:cs typeface="Calibri"/>
              <a:sym typeface="Calibri"/>
            </a:endParaRPr>
          </a:p>
        </p:txBody>
      </p:sp>
      <p:sp>
        <p:nvSpPr>
          <p:cNvPr id="1167" name="TextBox 1166"/>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Constructed Response (Act 7)</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US.54</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84</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938528"/>
            <a:ext cx="137160" cy="292608"/>
          </a:xfrm>
          <a:prstGeom prst="rect">
            <a:avLst/>
          </a:prstGeom>
          <a:solidFill>
            <a:srgbClr val="B22234"/>
          </a:solidFill>
          <a:ln/>
        </p:spPr>
        <p:txBody>
          <a:bodyPr/>
          <a:p/>
        </p:txBody>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Japanese Internment</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Internamiento Japonés</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forced relocation and incarceration of 120,000 Japanese Americans (two-thirds U.S. citizens) in concentration camps during WWII, based on racial prejudice, not evidence of disloyalty.</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938528"/>
            <a:ext cx="137160" cy="292608"/>
          </a:xfrm>
          <a:prstGeom prst="rect">
            <a:avLst/>
          </a:prstGeom>
          <a:solidFill>
            <a:srgbClr val="B22234"/>
          </a:solidFill>
          <a:ln/>
        </p:spPr>
        <p:txBody>
          <a:bodyPr/>
          <a:p/>
        </p:txBody>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Korematsu v. United States</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Korematsu contra Estados Unidos</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1944 Supreme Court decision upholding Japanese internment as a wartime necessity, later widely condemned as one of the Court's worst decisions.</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938528"/>
            <a:ext cx="137160" cy="292608"/>
          </a:xfrm>
          <a:prstGeom prst="rect">
            <a:avLst/>
          </a:prstGeom>
          <a:solidFill>
            <a:srgbClr val="B22234"/>
          </a:solidFill>
          <a:ln/>
        </p:spPr>
        <p:txBody>
          <a:bodyPr/>
          <a:p/>
        </p:txBody>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Executive Order 9066</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Orden Ejecutiva 9066</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February 1942 order signed by President Roosevelt authorizing the military to exclude and relocate Japanese Americans from the West Coast.</a:t>
            </a:r>
            <a:endParaRPr lang="en-US" sz="1300" dirty="0"/>
          </a:p>
        </p:txBody>
      </p:sp>
      <p:sp>
        <p:nvSpPr>
          <p:cNvPr id="25" name="TextBox 24"/>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Vocabulary (Act 1–2)</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US.54</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91</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How did Executive Order 9066 violate constitutional principles of due process and equal protection?</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It followed all constitutional procedures, although historical sources do not support this conclusion, though this interpretation lacks supporting historical evidence, but the historical evidence paints a more nuanced picture</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txBody>
          <a:bodyPr/>
          <a:p/>
        </p:txBody>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It denied due process by detaining people without individual hearings or evidence, and violated equal protection by targeting Japanese Americans while not similarly treating German or Italian Americans</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txBody>
          <a:bodyPr/>
          <a:p/>
        </p:txBody>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It only affected non-citizens, but the historical record tells a more complex story, but closer analysis reveals a more complicated historical reality, although historical sources do not support this conclusion</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txBody>
          <a:bodyPr/>
          <a:p/>
        </p:txBody>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Constitution does not protect against internment, which does not align with the documented historical record, which ignores significant political and cultural developments of the era</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
        <p:nvSpPr>
          <p:cNvPr id="22" name="TextBox 21"/>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Practice Quiz (Act 6)</a:t>
            </a: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1171" name="Shape 1171"/>
        <p:cNvGrpSpPr/>
        <p:nvPr/>
      </p:nvGrpSpPr>
      <p:grpSpPr>
        <a:xfrm>
          <a:off x="0" y="0"/>
          <a:ext cx="0" cy="0"/>
          <a:chOff x="0" y="0"/>
          <a:chExt cx="0" cy="0"/>
        </a:xfrm>
      </p:grpSpPr>
      <p:sp>
        <p:nvSpPr>
          <p:cNvPr id="1172" name="Google Shape;1172;p61"/>
          <p:cNvSpPr/>
          <p:nvPr/>
        </p:nvSpPr>
        <p:spPr>
          <a:xfrm>
            <a:off x="0" y="2331720"/>
            <a:ext cx="12191695" cy="73152"/>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61"/>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6000"/>
              <a:buFont typeface="Georgia"/>
              <a:buNone/>
            </a:pPr>
            <a:r>
              <a:rPr b="1" i="0" lang="en-US" sz="6000" u="none" cap="none" strike="noStrike">
                <a:solidFill>
                  <a:srgbClr val="C89B3C"/>
                </a:solidFill>
                <a:latin typeface="Georgia"/>
                <a:ea typeface="Georgia"/>
                <a:cs typeface="Georgia"/>
                <a:sym typeface="Georgia"/>
              </a:rPr>
              <a:t>US.55</a:t>
            </a:r>
            <a:endParaRPr b="0" i="0" sz="6000" u="none" cap="none" strike="noStrike">
              <a:solidFill>
                <a:schemeClr val="dk1"/>
              </a:solidFill>
              <a:latin typeface="Calibri"/>
              <a:ea typeface="Calibri"/>
              <a:cs typeface="Calibri"/>
              <a:sym typeface="Calibri"/>
            </a:endParaRPr>
          </a:p>
        </p:txBody>
      </p:sp>
      <p:sp>
        <p:nvSpPr>
          <p:cNvPr id="1174" name="Google Shape;1174;p61"/>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Home Front Mobilization</a:t>
            </a:r>
            <a:endParaRPr b="0" i="0" sz="2600" u="none" cap="none" strike="noStrike">
              <a:solidFill>
                <a:schemeClr val="dk1"/>
              </a:solidFill>
              <a:latin typeface="Calibri"/>
              <a:ea typeface="Calibri"/>
              <a:cs typeface="Calibri"/>
              <a:sym typeface="Calibri"/>
            </a:endParaRPr>
          </a:p>
        </p:txBody>
      </p:sp>
      <p:sp>
        <p:nvSpPr>
          <p:cNvPr id="1175" name="Google Shape;1175;p61"/>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1176" name="Google Shape;1176;p61"/>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C7D4E0"/>
                </a:solidFill>
                <a:latin typeface="Calibri"/>
                <a:ea typeface="Calibri"/>
                <a:cs typeface="Calibri"/>
                <a:sym typeface="Calibri"/>
              </a:rPr>
              <a:t>US.55 – Describe the war's impact on the home front, including: rationing, bond drives, propaganda, movement to cities and industrial centers, Bracero program, conversion of factories for wartime production, location of prisoner of war camps in Tennessee.</a:t>
            </a:r>
            <a:endParaRPr b="0" i="0" sz="1600" u="none" cap="none" strike="noStrike">
              <a:solidFill>
                <a:schemeClr val="dk1"/>
              </a:solidFill>
              <a:latin typeface="Calibri"/>
              <a:ea typeface="Calibri"/>
              <a:cs typeface="Calibri"/>
              <a:sym typeface="Calibri"/>
            </a:endParaRPr>
          </a:p>
        </p:txBody>
      </p:sp>
      <p:sp>
        <p:nvSpPr>
          <p:cNvPr id="1177" name="Google Shape;1177;p61"/>
          <p:cNvSpPr/>
          <p:nvPr/>
        </p:nvSpPr>
        <p:spPr>
          <a:xfrm>
            <a:off x="457200" y="4892040"/>
            <a:ext cx="11247120" cy="123444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61"/>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1179" name="Google Shape;1179;p61"/>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1400"/>
              <a:buFont typeface="Calibri"/>
              <a:buNone/>
            </a:pPr>
            <a:r>
              <a:rPr b="1" i="0" lang="en-US" sz="1400" u="none" cap="none" strike="noStrike">
                <a:solidFill>
                  <a:srgbClr val="1B2A4A"/>
                </a:solidFill>
                <a:latin typeface="Calibri"/>
                <a:ea typeface="Calibri"/>
                <a:cs typeface="Calibri"/>
                <a:sym typeface="Calibri"/>
              </a:rPr>
              <a:t>I can describe the war's impact on the home front, including rationing, bond drives, propaganda, movement to cities, the Bracero program, conversion of factories, and prisoner of war camps in Tennessee.</a:t>
            </a:r>
            <a:endParaRPr b="0" i="0" sz="1400" u="none" cap="none" strike="noStrike">
              <a:solidFill>
                <a:schemeClr val="dk1"/>
              </a:solidFill>
              <a:latin typeface="Calibri"/>
              <a:ea typeface="Calibri"/>
              <a:cs typeface="Calibri"/>
              <a:sym typeface="Calibri"/>
            </a:endParaRPr>
          </a:p>
        </p:txBody>
      </p:sp>
      <p:sp>
        <p:nvSpPr>
          <p:cNvPr id="1180" name="Google Shape;1180;p6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181" name="Google Shape;1181;p6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92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186" name="Shape 1186"/>
        <p:cNvGrpSpPr/>
        <p:nvPr/>
      </p:nvGrpSpPr>
      <p:grpSpPr>
        <a:xfrm>
          <a:off x="0" y="0"/>
          <a:ext cx="0" cy="0"/>
          <a:chOff x="0" y="0"/>
          <a:chExt cx="0" cy="0"/>
        </a:xfrm>
      </p:grpSpPr>
      <p:sp>
        <p:nvSpPr>
          <p:cNvPr id="1187" name="Google Shape;1187;p62"/>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62"/>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62"/>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190" name="Google Shape;1190;p62"/>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US.55</a:t>
            </a:r>
            <a:endParaRPr b="0" i="0" sz="1200" u="none" cap="none" strike="noStrike">
              <a:solidFill>
                <a:schemeClr val="dk1"/>
              </a:solidFill>
              <a:latin typeface="Calibri"/>
              <a:ea typeface="Calibri"/>
              <a:cs typeface="Calibri"/>
              <a:sym typeface="Calibri"/>
            </a:endParaRPr>
          </a:p>
        </p:txBody>
      </p:sp>
      <p:sp>
        <p:nvSpPr>
          <p:cNvPr id="1191" name="Google Shape;1191;p62"/>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Ration books with coupons controlled gasoline, tires, sugar, meat, and coffee so the military had enough — reshaping everyday civilian life.</a:t>
            </a:r>
            <a:endParaRPr b="0" i="0" sz="2300" u="none" cap="none" strike="noStrike">
              <a:solidFill>
                <a:schemeClr val="dk1"/>
              </a:solidFill>
              <a:latin typeface="Calibri"/>
              <a:ea typeface="Calibri"/>
              <a:cs typeface="Calibri"/>
              <a:sym typeface="Calibri"/>
            </a:endParaRPr>
          </a:p>
        </p:txBody>
      </p:sp>
      <p:pic>
        <p:nvPicPr>
          <p:cNvPr descr="hh-web/public/images/textbook/unit-6/victory-garden-home-front-1943.jpg" id="1192" name="Google Shape;1192;p62"/>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1193" name="Google Shape;1193;p62"/>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900"/>
              <a:buFont typeface="Trebuchet MS"/>
              <a:buNone/>
            </a:pPr>
            <a:r>
              <a:rPr b="1" i="0" lang="en-US" sz="900" u="none" cap="none" strike="noStrike">
                <a:solidFill>
                  <a:srgbClr val="1B2A4A"/>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1194" name="Google Shape;1194;p62"/>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US.55 · DI 1 of 4 · Rationing &amp; Conservation</a:t>
            </a:r>
            <a:endParaRPr b="0" i="0" sz="1000" u="none" cap="none" strike="noStrike">
              <a:solidFill>
                <a:schemeClr val="dk1"/>
              </a:solidFill>
              <a:latin typeface="Calibri"/>
              <a:ea typeface="Calibri"/>
              <a:cs typeface="Calibri"/>
              <a:sym typeface="Calibri"/>
            </a:endParaRPr>
          </a:p>
        </p:txBody>
      </p:sp>
      <p:sp>
        <p:nvSpPr>
          <p:cNvPr id="1195" name="Google Shape;1195;p6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196" name="Google Shape;1196;p6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94</a:t>
            </a:r>
            <a:endParaRPr b="0" i="0" sz="900" u="none" cap="none" strike="noStrike">
              <a:solidFill>
                <a:schemeClr val="dk1"/>
              </a:solidFill>
              <a:latin typeface="Calibri"/>
              <a:ea typeface="Calibri"/>
              <a:cs typeface="Calibri"/>
              <a:sym typeface="Calibri"/>
            </a:endParaRPr>
          </a:p>
        </p:txBody>
      </p:sp>
      <p:sp>
        <p:nvSpPr>
          <p:cNvPr id="1197" name="TextBox 1196"/>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201" name="Shape 1201"/>
        <p:cNvGrpSpPr/>
        <p:nvPr/>
      </p:nvGrpSpPr>
      <p:grpSpPr>
        <a:xfrm>
          <a:off x="0" y="0"/>
          <a:ext cx="0" cy="0"/>
          <a:chOff x="0" y="0"/>
          <a:chExt cx="0" cy="0"/>
        </a:xfrm>
      </p:grpSpPr>
      <p:sp>
        <p:nvSpPr>
          <p:cNvPr id="1202" name="Google Shape;1202;p63"/>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63"/>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63"/>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205" name="Google Shape;1205;p63"/>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US.55</a:t>
            </a:r>
            <a:endParaRPr b="0" i="0" sz="1200" u="none" cap="none" strike="noStrike">
              <a:solidFill>
                <a:schemeClr val="dk1"/>
              </a:solidFill>
              <a:latin typeface="Calibri"/>
              <a:ea typeface="Calibri"/>
              <a:cs typeface="Calibri"/>
              <a:sym typeface="Calibri"/>
            </a:endParaRPr>
          </a:p>
        </p:txBody>
      </p:sp>
      <p:sp>
        <p:nvSpPr>
          <p:cNvPr id="1206" name="Google Shape;1206;p63"/>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Liberty and Victory bonds financed the war and gave civilians a stake in victory; bond drives used celebrities, posters, and patriotic appeals.</a:t>
            </a:r>
            <a:endParaRPr b="0" i="0" sz="2300" u="none" cap="none" strike="noStrike">
              <a:solidFill>
                <a:schemeClr val="dk1"/>
              </a:solidFill>
              <a:latin typeface="Calibri"/>
              <a:ea typeface="Calibri"/>
              <a:cs typeface="Calibri"/>
              <a:sym typeface="Calibri"/>
            </a:endParaRPr>
          </a:p>
        </p:txBody>
      </p:sp>
      <p:sp>
        <p:nvSpPr>
          <p:cNvPr id="1207" name="Google Shape;1207;p63"/>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63"/>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63"/>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1210" name="Google Shape;1210;p63"/>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Liberty and Victory bonds financed the war and gave civilians a stake in victory; bond drives used celebrities, posters, and patriotic appeals.</a:t>
            </a:r>
            <a:endParaRPr b="0" i="0" sz="2200" u="none" cap="none" strike="noStrike">
              <a:solidFill>
                <a:schemeClr val="dk1"/>
              </a:solidFill>
              <a:latin typeface="Calibri"/>
              <a:ea typeface="Calibri"/>
              <a:cs typeface="Calibri"/>
              <a:sym typeface="Calibri"/>
            </a:endParaRPr>
          </a:p>
        </p:txBody>
      </p:sp>
      <p:sp>
        <p:nvSpPr>
          <p:cNvPr id="1211" name="Google Shape;1211;p63"/>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US.55 · DI 2 of 4 · War Bonds &amp; Propaganda</a:t>
            </a:r>
            <a:endParaRPr b="0" i="0" sz="1000" u="none" cap="none" strike="noStrike">
              <a:solidFill>
                <a:schemeClr val="dk1"/>
              </a:solidFill>
              <a:latin typeface="Calibri"/>
              <a:ea typeface="Calibri"/>
              <a:cs typeface="Calibri"/>
              <a:sym typeface="Calibri"/>
            </a:endParaRPr>
          </a:p>
        </p:txBody>
      </p:sp>
      <p:sp>
        <p:nvSpPr>
          <p:cNvPr id="1212" name="Google Shape;1212;p6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213" name="Google Shape;1213;p6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95</a:t>
            </a:r>
            <a:endParaRPr b="0" i="0" sz="900" u="none" cap="none" strike="noStrike">
              <a:solidFill>
                <a:schemeClr val="dk1"/>
              </a:solidFill>
              <a:latin typeface="Calibri"/>
              <a:ea typeface="Calibri"/>
              <a:cs typeface="Calibri"/>
              <a:sym typeface="Calibri"/>
            </a:endParaRPr>
          </a:p>
        </p:txBody>
      </p:sp>
      <p:sp>
        <p:nvSpPr>
          <p:cNvPr id="1214" name="TextBox 1213"/>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218" name="Shape 1218"/>
        <p:cNvGrpSpPr/>
        <p:nvPr/>
      </p:nvGrpSpPr>
      <p:grpSpPr>
        <a:xfrm>
          <a:off x="0" y="0"/>
          <a:ext cx="0" cy="0"/>
          <a:chOff x="0" y="0"/>
          <a:chExt cx="0" cy="0"/>
        </a:xfrm>
      </p:grpSpPr>
      <p:sp>
        <p:nvSpPr>
          <p:cNvPr id="1219" name="Google Shape;1219;p64"/>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64"/>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64"/>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222" name="Google Shape;1222;p64"/>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US.55</a:t>
            </a:r>
            <a:endParaRPr b="0" i="0" sz="1200" u="none" cap="none" strike="noStrike">
              <a:solidFill>
                <a:schemeClr val="dk1"/>
              </a:solidFill>
              <a:latin typeface="Calibri"/>
              <a:ea typeface="Calibri"/>
              <a:cs typeface="Calibri"/>
              <a:sym typeface="Calibri"/>
            </a:endParaRPr>
          </a:p>
        </p:txBody>
      </p:sp>
      <p:sp>
        <p:nvSpPr>
          <p:cNvPr id="1223" name="Google Shape;1223;p64"/>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Millions moved to defense centers as auto plants converted to war production; the Bracero Program brought Mexican laborers to fill farm labor shortages.</a:t>
            </a:r>
            <a:endParaRPr b="0" i="0" sz="2300" u="none" cap="none" strike="noStrike">
              <a:solidFill>
                <a:schemeClr val="dk1"/>
              </a:solidFill>
              <a:latin typeface="Calibri"/>
              <a:ea typeface="Calibri"/>
              <a:cs typeface="Calibri"/>
              <a:sym typeface="Calibri"/>
            </a:endParaRPr>
          </a:p>
        </p:txBody>
      </p:sp>
      <p:sp>
        <p:nvSpPr>
          <p:cNvPr id="1224" name="Google Shape;1224;p64"/>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64"/>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64"/>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1227" name="Google Shape;1227;p64"/>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Millions moved to defense centers as auto plants converted to war production; the Bracero Program brought Mexican laborers to fill farm labor shortages.</a:t>
            </a:r>
            <a:endParaRPr b="0" i="0" sz="2200" u="none" cap="none" strike="noStrike">
              <a:solidFill>
                <a:schemeClr val="dk1"/>
              </a:solidFill>
              <a:latin typeface="Calibri"/>
              <a:ea typeface="Calibri"/>
              <a:cs typeface="Calibri"/>
              <a:sym typeface="Calibri"/>
            </a:endParaRPr>
          </a:p>
        </p:txBody>
      </p:sp>
      <p:sp>
        <p:nvSpPr>
          <p:cNvPr id="1228" name="Google Shape;1228;p64"/>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US.55 · DI 3 of 4 · Migration, Factory Conversion &amp; Bracero</a:t>
            </a:r>
            <a:endParaRPr b="0" i="0" sz="1000" u="none" cap="none" strike="noStrike">
              <a:solidFill>
                <a:schemeClr val="dk1"/>
              </a:solidFill>
              <a:latin typeface="Calibri"/>
              <a:ea typeface="Calibri"/>
              <a:cs typeface="Calibri"/>
              <a:sym typeface="Calibri"/>
            </a:endParaRPr>
          </a:p>
        </p:txBody>
      </p:sp>
      <p:sp>
        <p:nvSpPr>
          <p:cNvPr id="1229" name="Google Shape;1229;p6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230" name="Google Shape;1230;p6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96</a:t>
            </a:r>
            <a:endParaRPr b="0" i="0" sz="900" u="none" cap="none" strike="noStrike">
              <a:solidFill>
                <a:schemeClr val="dk1"/>
              </a:solidFill>
              <a:latin typeface="Calibri"/>
              <a:ea typeface="Calibri"/>
              <a:cs typeface="Calibri"/>
              <a:sym typeface="Calibri"/>
            </a:endParaRPr>
          </a:p>
        </p:txBody>
      </p:sp>
      <p:sp>
        <p:nvSpPr>
          <p:cNvPr id="1231" name="TextBox 1230"/>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235" name="Shape 1235"/>
        <p:cNvGrpSpPr/>
        <p:nvPr/>
      </p:nvGrpSpPr>
      <p:grpSpPr>
        <a:xfrm>
          <a:off x="0" y="0"/>
          <a:ext cx="0" cy="0"/>
          <a:chOff x="0" y="0"/>
          <a:chExt cx="0" cy="0"/>
        </a:xfrm>
      </p:grpSpPr>
      <p:sp>
        <p:nvSpPr>
          <p:cNvPr id="1236" name="Google Shape;1236;p65"/>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65"/>
          <p:cNvSpPr/>
          <p:nvPr/>
        </p:nvSpPr>
        <p:spPr>
          <a:xfrm>
            <a:off x="0" y="155448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65"/>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1239" name="Google Shape;1239;p65"/>
          <p:cNvSpPr/>
          <p:nvPr/>
        </p:nvSpPr>
        <p:spPr>
          <a:xfrm>
            <a:off x="3886200" y="27432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US.55</a:t>
            </a:r>
            <a:endParaRPr b="0" i="0" sz="1200" u="none" cap="none" strike="noStrike">
              <a:solidFill>
                <a:schemeClr val="dk1"/>
              </a:solidFill>
              <a:latin typeface="Calibri"/>
              <a:ea typeface="Calibri"/>
              <a:cs typeface="Calibri"/>
              <a:sym typeface="Calibri"/>
            </a:endParaRPr>
          </a:p>
        </p:txBody>
      </p:sp>
      <p:sp>
        <p:nvSpPr>
          <p:cNvPr id="1240" name="Google Shape;1240;p65"/>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Read the War Ration Book instructions — identify the issuing office and its purpose before you read the text.</a:t>
            </a:r>
            <a:endParaRPr b="0" i="0" sz="2000" u="none" cap="none" strike="noStrike">
              <a:solidFill>
                <a:schemeClr val="dk1"/>
              </a:solidFill>
              <a:latin typeface="Calibri"/>
              <a:ea typeface="Calibri"/>
              <a:cs typeface="Calibri"/>
              <a:sym typeface="Calibri"/>
            </a:endParaRPr>
          </a:p>
        </p:txBody>
      </p:sp>
      <p:sp>
        <p:nvSpPr>
          <p:cNvPr id="1241" name="Google Shape;1241;p65"/>
          <p:cNvSpPr/>
          <p:nvPr/>
        </p:nvSpPr>
        <p:spPr>
          <a:xfrm>
            <a:off x="45720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1242" name="Google Shape;1242;p65"/>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Office of Price Administration</a:t>
            </a:r>
            <a:endParaRPr b="0" i="0" sz="1200" u="none" cap="none" strike="noStrike">
              <a:solidFill>
                <a:schemeClr val="dk1"/>
              </a:solidFill>
              <a:latin typeface="Calibri"/>
              <a:ea typeface="Calibri"/>
              <a:cs typeface="Calibri"/>
              <a:sym typeface="Calibri"/>
            </a:endParaRPr>
          </a:p>
        </p:txBody>
      </p:sp>
      <p:sp>
        <p:nvSpPr>
          <p:cNvPr id="1243" name="Google Shape;1243;p65"/>
          <p:cNvSpPr/>
          <p:nvPr/>
        </p:nvSpPr>
        <p:spPr>
          <a:xfrm>
            <a:off x="425196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1244" name="Google Shape;1244;p65"/>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1943</a:t>
            </a:r>
            <a:endParaRPr b="0" i="0" sz="1200" u="none" cap="none" strike="noStrike">
              <a:solidFill>
                <a:schemeClr val="dk1"/>
              </a:solidFill>
              <a:latin typeface="Calibri"/>
              <a:ea typeface="Calibri"/>
              <a:cs typeface="Calibri"/>
              <a:sym typeface="Calibri"/>
            </a:endParaRPr>
          </a:p>
        </p:txBody>
      </p:sp>
      <p:sp>
        <p:nvSpPr>
          <p:cNvPr id="1245" name="Google Shape;1245;p65"/>
          <p:cNvSpPr/>
          <p:nvPr/>
        </p:nvSpPr>
        <p:spPr>
          <a:xfrm>
            <a:off x="804672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1246" name="Google Shape;1246;p65"/>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Consider the author's purpose and audience before reading the words.</a:t>
            </a:r>
            <a:endParaRPr b="0" i="0" sz="1200" u="none" cap="none" strike="noStrike">
              <a:solidFill>
                <a:schemeClr val="dk1"/>
              </a:solidFill>
              <a:latin typeface="Calibri"/>
              <a:ea typeface="Calibri"/>
              <a:cs typeface="Calibri"/>
              <a:sym typeface="Calibri"/>
            </a:endParaRPr>
          </a:p>
        </p:txBody>
      </p:sp>
      <p:sp>
        <p:nvSpPr>
          <p:cNvPr id="1247" name="Google Shape;1247;p65"/>
          <p:cNvSpPr/>
          <p:nvPr/>
        </p:nvSpPr>
        <p:spPr>
          <a:xfrm>
            <a:off x="457200" y="3200400"/>
            <a:ext cx="5532120" cy="2651760"/>
          </a:xfrm>
          <a:prstGeom prst="rect">
            <a:avLst/>
          </a:prstGeom>
          <a:solidFill>
            <a:srgbClr val="FFFFFF"/>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65"/>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War Ration Book Instructions</a:t>
            </a:r>
            <a:endParaRPr b="0" i="0" sz="1400" u="none" cap="none" strike="noStrike">
              <a:solidFill>
                <a:schemeClr val="dk1"/>
              </a:solidFill>
              <a:latin typeface="Calibri"/>
              <a:ea typeface="Calibri"/>
              <a:cs typeface="Calibri"/>
              <a:sym typeface="Calibri"/>
            </a:endParaRPr>
          </a:p>
        </p:txBody>
      </p:sp>
      <p:sp>
        <p:nvSpPr>
          <p:cNvPr id="1249" name="Google Shape;1249;p65"/>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Office of Price Administration · 1943</a:t>
            </a:r>
            <a:endParaRPr b="0" i="0" sz="900" u="none" cap="none" strike="noStrike">
              <a:solidFill>
                <a:schemeClr val="dk1"/>
              </a:solidFill>
              <a:latin typeface="Calibri"/>
              <a:ea typeface="Calibri"/>
              <a:cs typeface="Calibri"/>
              <a:sym typeface="Calibri"/>
            </a:endParaRPr>
          </a:p>
        </p:txBody>
      </p:sp>
      <p:sp>
        <p:nvSpPr>
          <p:cNvPr id="1250" name="Google Shape;1250;p65"/>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"This book is your Government's guarantee of your fair share of goods made scarce by war. Price ceilings and rationing are the most fair way to distribute scarce goods. Misuse of rationing stamps is a crime punishable by fine or imprisonment. Your Government needs your compliance."</a:t>
            </a:r>
            <a:endParaRPr b="0" i="0" sz="1100" u="none" cap="none" strike="noStrike">
              <a:solidFill>
                <a:schemeClr val="dk1"/>
              </a:solidFill>
              <a:latin typeface="Calibri"/>
              <a:ea typeface="Calibri"/>
              <a:cs typeface="Calibri"/>
              <a:sym typeface="Calibri"/>
            </a:endParaRPr>
          </a:p>
        </p:txBody>
      </p:sp>
      <p:sp>
        <p:nvSpPr>
          <p:cNvPr id="1251" name="Google Shape;1251;p65">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National Archives</a:t>
            </a:r>
            <a:endParaRPr b="0" i="0" sz="900" u="none" cap="none" strike="noStrike">
              <a:solidFill>
                <a:schemeClr val="dk1"/>
              </a:solidFill>
              <a:latin typeface="Calibri"/>
              <a:ea typeface="Calibri"/>
              <a:cs typeface="Calibri"/>
              <a:sym typeface="Calibri"/>
            </a:endParaRPr>
          </a:p>
        </p:txBody>
      </p:sp>
      <p:sp>
        <p:nvSpPr>
          <p:cNvPr id="1252" name="Google Shape;1252;p6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253" name="Google Shape;1253;p6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98</a:t>
            </a:r>
            <a:endParaRPr b="0" i="0" sz="900" u="none" cap="none" strike="noStrike">
              <a:solidFill>
                <a:schemeClr val="dk1"/>
              </a:solidFill>
              <a:latin typeface="Calibri"/>
              <a:ea typeface="Calibri"/>
              <a:cs typeface="Calibri"/>
              <a:sym typeface="Calibri"/>
            </a:endParaRPr>
          </a:p>
        </p:txBody>
      </p:sp>
      <p:sp>
        <p:nvSpPr>
          <p:cNvPr id="1254" name="TextBox 1253"/>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Primary Source &amp; HIPPO (Act 5)</a:t>
            </a: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1258" name="Shape 1258"/>
        <p:cNvGrpSpPr/>
        <p:nvPr/>
      </p:nvGrpSpPr>
      <p:grpSpPr>
        <a:xfrm>
          <a:off x="0" y="0"/>
          <a:ext cx="0" cy="0"/>
          <a:chOff x="0" y="0"/>
          <a:chExt cx="0" cy="0"/>
        </a:xfrm>
      </p:grpSpPr>
      <p:sp>
        <p:nvSpPr>
          <p:cNvPr id="1259" name="Google Shape;1259;p66"/>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1260" name="Google Shape;1260;p66"/>
          <p:cNvSpPr/>
          <p:nvPr/>
        </p:nvSpPr>
        <p:spPr>
          <a:xfrm>
            <a:off x="3886200" y="27432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US.55</a:t>
            </a:r>
            <a:endParaRPr b="0" i="0" sz="1200" u="none" cap="none" strike="noStrike">
              <a:solidFill>
                <a:schemeClr val="dk1"/>
              </a:solidFill>
              <a:latin typeface="Calibri"/>
              <a:ea typeface="Calibri"/>
              <a:cs typeface="Calibri"/>
              <a:sym typeface="Calibri"/>
            </a:endParaRPr>
          </a:p>
        </p:txBody>
      </p:sp>
      <p:sp>
        <p:nvSpPr>
          <p:cNvPr id="1261" name="Google Shape;1261;p66"/>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C7D4E0"/>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1262" name="Google Shape;1262;p66"/>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66"/>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66"/>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1265" name="Google Shape;1265;p66"/>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1266" name="Google Shape;1266;p66"/>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US.55:</a:t>
            </a:r>
            <a:endParaRPr b="0" i="0" sz="1000" u="none" cap="none" strike="noStrike">
              <a:solidFill>
                <a:schemeClr val="dk1"/>
              </a:solidFill>
              <a:latin typeface="Calibri"/>
              <a:ea typeface="Calibri"/>
              <a:cs typeface="Calibri"/>
              <a:sym typeface="Calibri"/>
            </a:endParaRPr>
          </a:p>
        </p:txBody>
      </p:sp>
      <p:sp>
        <p:nvSpPr>
          <p:cNvPr id="1267" name="Google Shape;1267;p66"/>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war effort, financed and supplied by home-front sacrifice, and regions like Tennessee that gained industry, bases, and jobs.</a:t>
            </a:r>
            <a:endParaRPr b="0" i="0" sz="1200" u="none" cap="none" strike="noStrike">
              <a:solidFill>
                <a:schemeClr val="dk1"/>
              </a:solidFill>
              <a:latin typeface="Calibri"/>
              <a:ea typeface="Calibri"/>
              <a:cs typeface="Calibri"/>
              <a:sym typeface="Calibri"/>
            </a:endParaRPr>
          </a:p>
        </p:txBody>
      </p:sp>
      <p:sp>
        <p:nvSpPr>
          <p:cNvPr id="1268" name="Google Shape;1268;p66"/>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66"/>
          <p:cNvSpPr/>
          <p:nvPr/>
        </p:nvSpPr>
        <p:spPr>
          <a:xfrm>
            <a:off x="4251960" y="1783080"/>
            <a:ext cx="3566160" cy="54864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66"/>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1271" name="Google Shape;1271;p66"/>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1272" name="Google Shape;1272;p66"/>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US.55:</a:t>
            </a:r>
            <a:endParaRPr b="0" i="0" sz="1000" u="none" cap="none" strike="noStrike">
              <a:solidFill>
                <a:schemeClr val="dk1"/>
              </a:solidFill>
              <a:latin typeface="Calibri"/>
              <a:ea typeface="Calibri"/>
              <a:cs typeface="Calibri"/>
              <a:sym typeface="Calibri"/>
            </a:endParaRPr>
          </a:p>
        </p:txBody>
      </p:sp>
      <p:sp>
        <p:nvSpPr>
          <p:cNvPr id="1273" name="Google Shape;1273;p66"/>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Civilians who gave up goods to rationing, families separated by wartime migration, and communities strained by rapid, crowded growth.</a:t>
            </a:r>
            <a:endParaRPr b="0" i="0" sz="1200" u="none" cap="none" strike="noStrike">
              <a:solidFill>
                <a:schemeClr val="dk1"/>
              </a:solidFill>
              <a:latin typeface="Calibri"/>
              <a:ea typeface="Calibri"/>
              <a:cs typeface="Calibri"/>
              <a:sym typeface="Calibri"/>
            </a:endParaRPr>
          </a:p>
        </p:txBody>
      </p:sp>
      <p:sp>
        <p:nvSpPr>
          <p:cNvPr id="1274" name="Google Shape;1274;p66"/>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66"/>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66"/>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1277" name="Google Shape;1277;p66"/>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1278" name="Google Shape;1278;p66"/>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US.55:</a:t>
            </a:r>
            <a:endParaRPr b="0" i="0" sz="1000" u="none" cap="none" strike="noStrike">
              <a:solidFill>
                <a:schemeClr val="dk1"/>
              </a:solidFill>
              <a:latin typeface="Calibri"/>
              <a:ea typeface="Calibri"/>
              <a:cs typeface="Calibri"/>
              <a:sym typeface="Calibri"/>
            </a:endParaRPr>
          </a:p>
        </p:txBody>
      </p:sp>
      <p:sp>
        <p:nvSpPr>
          <p:cNvPr id="1279" name="Google Shape;1279;p66"/>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Federal agencies like the Office of Price Administration and War Production Board that set rationing, bond, and production policy.</a:t>
            </a:r>
            <a:endParaRPr b="0" i="0" sz="1200" u="none" cap="none" strike="noStrike">
              <a:solidFill>
                <a:schemeClr val="dk1"/>
              </a:solidFill>
              <a:latin typeface="Calibri"/>
              <a:ea typeface="Calibri"/>
              <a:cs typeface="Calibri"/>
              <a:sym typeface="Calibri"/>
            </a:endParaRPr>
          </a:p>
        </p:txBody>
      </p:sp>
      <p:sp>
        <p:nvSpPr>
          <p:cNvPr id="1280" name="Google Shape;1280;p66"/>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C7D4E0"/>
                </a:solidFill>
                <a:latin typeface="Trebuchet MS"/>
                <a:ea typeface="Trebuchet MS"/>
                <a:cs typeface="Trebuchet MS"/>
                <a:sym typeface="Trebuchet MS"/>
              </a:rPr>
              <a:t>Anchor: War Ration Book Instructions, Office of Price Administration, 1943 (National Archives)</a:t>
            </a:r>
            <a:endParaRPr b="0" i="0" sz="1000" u="none" cap="none" strike="noStrike">
              <a:solidFill>
                <a:schemeClr val="dk1"/>
              </a:solidFill>
              <a:latin typeface="Calibri"/>
              <a:ea typeface="Calibri"/>
              <a:cs typeface="Calibri"/>
              <a:sym typeface="Calibri"/>
            </a:endParaRPr>
          </a:p>
        </p:txBody>
      </p:sp>
      <p:sp>
        <p:nvSpPr>
          <p:cNvPr id="1281" name="Google Shape;1281;p6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282" name="Google Shape;1282;p6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99</a:t>
            </a:r>
            <a:endParaRPr b="0" i="0" sz="900" u="none" cap="none" strike="noStrike">
              <a:solidFill>
                <a:schemeClr val="dk1"/>
              </a:solidFill>
              <a:latin typeface="Calibri"/>
              <a:ea typeface="Calibri"/>
              <a:cs typeface="Calibri"/>
              <a:sym typeface="Calibri"/>
            </a:endParaRPr>
          </a:p>
        </p:txBody>
      </p:sp>
      <p:sp>
        <p:nvSpPr>
          <p:cNvPr id="1283" name="TextBox 1282"/>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Constructed Response (Act 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93</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938528"/>
            <a:ext cx="137160" cy="292608"/>
          </a:xfrm>
          <a:prstGeom prst="rect">
            <a:avLst/>
          </a:prstGeom>
          <a:solidFill>
            <a:srgbClr val="B22234"/>
          </a:solidFill>
          <a:ln/>
        </p:spPr>
        <p:txBody>
          <a:bodyPr/>
          <a:p/>
        </p:txBody>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Rationing</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Racionamiento</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Government-controlled limits on consumer goods during WWII to ensure adequate supplies for the military, requiring ration books and coupons.</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938528"/>
            <a:ext cx="137160" cy="292608"/>
          </a:xfrm>
          <a:prstGeom prst="rect">
            <a:avLst/>
          </a:prstGeom>
          <a:solidFill>
            <a:srgbClr val="B22234"/>
          </a:solidFill>
          <a:ln/>
        </p:spPr>
        <p:txBody>
          <a:bodyPr/>
          <a:p/>
        </p:txBody>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War Bonds</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Bonos de Guerra</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Government bonds sold to citizens to finance the war effort, promoted through massive publicity campaigns featuring celebrities and patriotic appeals.</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938528"/>
            <a:ext cx="137160" cy="292608"/>
          </a:xfrm>
          <a:prstGeom prst="rect">
            <a:avLst/>
          </a:prstGeom>
          <a:solidFill>
            <a:srgbClr val="B22234"/>
          </a:solidFill>
          <a:ln/>
        </p:spPr>
        <p:txBody>
          <a:bodyPr/>
          <a:p/>
        </p:txBody>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Rosie the Riveter</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Rosie la Remachadora</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Cultural icon representing millions of American women who worked in factories and shipyards during World War II, filling jobs left by men who went to war.</a:t>
            </a:r>
            <a:endParaRPr lang="en-US" sz="1300" dirty="0"/>
          </a:p>
        </p:txBody>
      </p:sp>
      <p:sp>
        <p:nvSpPr>
          <p:cNvPr id="25" name="TextBox 24"/>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Vocabulary (Act 1–2)</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100</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What role did propaganda play in maintaining civilian morale and support for the war effort?</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Propaganda was not used during WWII, but this fails to account for the broader historical context, but contemporary accounts and primary sources suggest otherwise</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txBody>
          <a:bodyPr/>
          <a:p/>
        </p:txBody>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Propaganda only targeted military personnel, yet the available evidence points to a different conclusion, but the historical evidence paints a more nuanced picture</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txBody>
          <a:bodyPr/>
          <a:p/>
        </p:txBody>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Office of War Information used films, posters, and radio to demonize enemies, celebrate American values, recruit workers, and build national unity through shared purpose and sacrifice</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txBody>
          <a:bodyPr/>
          <a:p/>
        </p:txBody>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Propaganda undermined the war effort, but this fails to account for the broader historical context, but contemporary accounts and primary sources suggest otherwise</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
        <p:nvSpPr>
          <p:cNvPr id="22" name="TextBox 21"/>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Practice Quiz (Act 6)</a:t>
            </a: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1287" name="Shape 1287"/>
        <p:cNvGrpSpPr/>
        <p:nvPr/>
      </p:nvGrpSpPr>
      <p:grpSpPr>
        <a:xfrm>
          <a:off x="0" y="0"/>
          <a:ext cx="0" cy="0"/>
          <a:chOff x="0" y="0"/>
          <a:chExt cx="0" cy="0"/>
        </a:xfrm>
      </p:grpSpPr>
      <p:sp>
        <p:nvSpPr>
          <p:cNvPr id="1288" name="Google Shape;1288;p67"/>
          <p:cNvSpPr/>
          <p:nvPr/>
        </p:nvSpPr>
        <p:spPr>
          <a:xfrm>
            <a:off x="0" y="2331720"/>
            <a:ext cx="12191695" cy="73152"/>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67"/>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6000"/>
              <a:buFont typeface="Georgia"/>
              <a:buNone/>
            </a:pPr>
            <a:r>
              <a:rPr b="1" i="0" lang="en-US" sz="6000" u="none" cap="none" strike="noStrike">
                <a:solidFill>
                  <a:srgbClr val="C89B3C"/>
                </a:solidFill>
                <a:latin typeface="Georgia"/>
                <a:ea typeface="Georgia"/>
                <a:cs typeface="Georgia"/>
                <a:sym typeface="Georgia"/>
              </a:rPr>
              <a:t>US.56</a:t>
            </a:r>
            <a:endParaRPr b="0" i="0" sz="6000" u="none" cap="none" strike="noStrike">
              <a:solidFill>
                <a:schemeClr val="dk1"/>
              </a:solidFill>
              <a:latin typeface="Calibri"/>
              <a:ea typeface="Calibri"/>
              <a:cs typeface="Calibri"/>
              <a:sym typeface="Calibri"/>
            </a:endParaRPr>
          </a:p>
        </p:txBody>
      </p:sp>
      <p:sp>
        <p:nvSpPr>
          <p:cNvPr id="1290" name="Google Shape;1290;p67"/>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Manhattan Project &amp; Atomic Bomb</a:t>
            </a:r>
            <a:endParaRPr b="0" i="0" sz="2600" u="none" cap="none" strike="noStrike">
              <a:solidFill>
                <a:schemeClr val="dk1"/>
              </a:solidFill>
              <a:latin typeface="Calibri"/>
              <a:ea typeface="Calibri"/>
              <a:cs typeface="Calibri"/>
              <a:sym typeface="Calibri"/>
            </a:endParaRPr>
          </a:p>
        </p:txBody>
      </p:sp>
      <p:sp>
        <p:nvSpPr>
          <p:cNvPr id="1291" name="Google Shape;1291;p67"/>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1292" name="Google Shape;1292;p67"/>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C7D4E0"/>
                </a:solidFill>
                <a:latin typeface="Calibri"/>
                <a:ea typeface="Calibri"/>
                <a:cs typeface="Calibri"/>
                <a:sym typeface="Calibri"/>
              </a:rPr>
              <a:t>US.56 – Describe the Manhattan Project and explain the rationale for using the atomic bomb to end the war.</a:t>
            </a:r>
            <a:endParaRPr b="0" i="0" sz="1600" u="none" cap="none" strike="noStrike">
              <a:solidFill>
                <a:schemeClr val="dk1"/>
              </a:solidFill>
              <a:latin typeface="Calibri"/>
              <a:ea typeface="Calibri"/>
              <a:cs typeface="Calibri"/>
              <a:sym typeface="Calibri"/>
            </a:endParaRPr>
          </a:p>
        </p:txBody>
      </p:sp>
      <p:sp>
        <p:nvSpPr>
          <p:cNvPr id="1293" name="Google Shape;1293;p67"/>
          <p:cNvSpPr/>
          <p:nvPr/>
        </p:nvSpPr>
        <p:spPr>
          <a:xfrm>
            <a:off x="457200" y="4892040"/>
            <a:ext cx="11247120" cy="123444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67"/>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1295" name="Google Shape;1295;p67"/>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1400"/>
              <a:buFont typeface="Calibri"/>
              <a:buNone/>
            </a:pPr>
            <a:r>
              <a:rPr b="1" i="0" lang="en-US" sz="1400" u="none" cap="none" strike="noStrike">
                <a:solidFill>
                  <a:srgbClr val="1B2A4A"/>
                </a:solidFill>
                <a:latin typeface="Calibri"/>
                <a:ea typeface="Calibri"/>
                <a:cs typeface="Calibri"/>
                <a:sym typeface="Calibri"/>
              </a:rPr>
              <a:t>I can describe the Manhattan Project and explain the rationale for using the atomic bomb to end the war.</a:t>
            </a:r>
            <a:endParaRPr b="0" i="0" sz="1400" u="none" cap="none" strike="noStrike">
              <a:solidFill>
                <a:schemeClr val="dk1"/>
              </a:solidFill>
              <a:latin typeface="Calibri"/>
              <a:ea typeface="Calibri"/>
              <a:cs typeface="Calibri"/>
              <a:sym typeface="Calibri"/>
            </a:endParaRPr>
          </a:p>
        </p:txBody>
      </p:sp>
      <p:sp>
        <p:nvSpPr>
          <p:cNvPr id="1296" name="Google Shape;1296;p6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297" name="Google Shape;1297;p6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101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302" name="Shape 1302"/>
        <p:cNvGrpSpPr/>
        <p:nvPr/>
      </p:nvGrpSpPr>
      <p:grpSpPr>
        <a:xfrm>
          <a:off x="0" y="0"/>
          <a:ext cx="0" cy="0"/>
          <a:chOff x="0" y="0"/>
          <a:chExt cx="0" cy="0"/>
        </a:xfrm>
      </p:grpSpPr>
      <p:sp>
        <p:nvSpPr>
          <p:cNvPr id="1303" name="Google Shape;1303;p68"/>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68"/>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68"/>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306" name="Google Shape;1306;p68"/>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US.56</a:t>
            </a:r>
            <a:endParaRPr b="0" i="0" sz="1200" u="none" cap="none" strike="noStrike">
              <a:solidFill>
                <a:schemeClr val="dk1"/>
              </a:solidFill>
              <a:latin typeface="Calibri"/>
              <a:ea typeface="Calibri"/>
              <a:cs typeface="Calibri"/>
              <a:sym typeface="Calibri"/>
            </a:endParaRPr>
          </a:p>
        </p:txBody>
      </p:sp>
      <p:sp>
        <p:nvSpPr>
          <p:cNvPr id="1307" name="Google Shape;1307;p68"/>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Oak Ridge, TN was chosen to enrich uranium for its remote security, abundant TVA electric power, and good transportation — a secret city built almost overnight.</a:t>
            </a:r>
            <a:endParaRPr b="0" i="0" sz="2300" u="none" cap="none" strike="noStrike">
              <a:solidFill>
                <a:schemeClr val="dk1"/>
              </a:solidFill>
              <a:latin typeface="Calibri"/>
              <a:ea typeface="Calibri"/>
              <a:cs typeface="Calibri"/>
              <a:sym typeface="Calibri"/>
            </a:endParaRPr>
          </a:p>
        </p:txBody>
      </p:sp>
      <p:sp>
        <p:nvSpPr>
          <p:cNvPr id="1308" name="Google Shape;1308;p68"/>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68"/>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68"/>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1311" name="Google Shape;1311;p68"/>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Oak Ridge, TN was chosen to enrich uranium for its remote security, abundant TVA electric power, and good transportation — a secret city built almost overnight.</a:t>
            </a:r>
            <a:endParaRPr b="0" i="0" sz="2200" u="none" cap="none" strike="noStrike">
              <a:solidFill>
                <a:schemeClr val="dk1"/>
              </a:solidFill>
              <a:latin typeface="Calibri"/>
              <a:ea typeface="Calibri"/>
              <a:cs typeface="Calibri"/>
              <a:sym typeface="Calibri"/>
            </a:endParaRPr>
          </a:p>
        </p:txBody>
      </p:sp>
      <p:sp>
        <p:nvSpPr>
          <p:cNvPr id="1312" name="Google Shape;1312;p68"/>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US.56 · DI 1 of 4 · Oak Ridge, Tennessee Selection</a:t>
            </a:r>
            <a:endParaRPr b="0" i="0" sz="1000" u="none" cap="none" strike="noStrike">
              <a:solidFill>
                <a:schemeClr val="dk1"/>
              </a:solidFill>
              <a:latin typeface="Calibri"/>
              <a:ea typeface="Calibri"/>
              <a:cs typeface="Calibri"/>
              <a:sym typeface="Calibri"/>
            </a:endParaRPr>
          </a:p>
        </p:txBody>
      </p:sp>
      <p:sp>
        <p:nvSpPr>
          <p:cNvPr id="1313" name="Google Shape;1313;p6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314" name="Google Shape;1314;p6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103</a:t>
            </a:r>
            <a:endParaRPr b="0" i="0" sz="900" u="none" cap="none" strike="noStrike">
              <a:solidFill>
                <a:schemeClr val="dk1"/>
              </a:solidFill>
              <a:latin typeface="Calibri"/>
              <a:ea typeface="Calibri"/>
              <a:cs typeface="Calibri"/>
              <a:sym typeface="Calibri"/>
            </a:endParaRPr>
          </a:p>
        </p:txBody>
      </p:sp>
      <p:sp>
        <p:nvSpPr>
          <p:cNvPr id="1315" name="TextBox 1314"/>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319" name="Shape 1319"/>
        <p:cNvGrpSpPr/>
        <p:nvPr/>
      </p:nvGrpSpPr>
      <p:grpSpPr>
        <a:xfrm>
          <a:off x="0" y="0"/>
          <a:ext cx="0" cy="0"/>
          <a:chOff x="0" y="0"/>
          <a:chExt cx="0" cy="0"/>
        </a:xfrm>
      </p:grpSpPr>
      <p:sp>
        <p:nvSpPr>
          <p:cNvPr id="1320" name="Google Shape;1320;p69"/>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69"/>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69"/>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323" name="Google Shape;1323;p69"/>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US.56</a:t>
            </a:r>
            <a:endParaRPr b="0" i="0" sz="1200" u="none" cap="none" strike="noStrike">
              <a:solidFill>
                <a:schemeClr val="dk1"/>
              </a:solidFill>
              <a:latin typeface="Calibri"/>
              <a:ea typeface="Calibri"/>
              <a:cs typeface="Calibri"/>
              <a:sym typeface="Calibri"/>
            </a:endParaRPr>
          </a:p>
        </p:txBody>
      </p:sp>
      <p:sp>
        <p:nvSpPr>
          <p:cNvPr id="1324" name="Google Shape;1324;p69"/>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The Manhattan Project was a secret, multi-site program — Los Alamos (design), Oak Ridge (uranium), Hanford (plutonium) — led by Gen. Groves and physicist Oppenheimer.</a:t>
            </a:r>
            <a:endParaRPr b="0" i="0" sz="2300" u="none" cap="none" strike="noStrike">
              <a:solidFill>
                <a:schemeClr val="dk1"/>
              </a:solidFill>
              <a:latin typeface="Calibri"/>
              <a:ea typeface="Calibri"/>
              <a:cs typeface="Calibri"/>
              <a:sym typeface="Calibri"/>
            </a:endParaRPr>
          </a:p>
        </p:txBody>
      </p:sp>
      <p:sp>
        <p:nvSpPr>
          <p:cNvPr id="1325" name="Google Shape;1325;p69"/>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69"/>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69"/>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1328" name="Google Shape;1328;p69"/>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The Manhattan Project was a secret, multi-site program — Los Alamos (design), Oak Ridge (uranium), Hanford (plutonium) — led by Gen. Groves and physicist Oppenheimer.</a:t>
            </a:r>
            <a:endParaRPr b="0" i="0" sz="2200" u="none" cap="none" strike="noStrike">
              <a:solidFill>
                <a:schemeClr val="dk1"/>
              </a:solidFill>
              <a:latin typeface="Calibri"/>
              <a:ea typeface="Calibri"/>
              <a:cs typeface="Calibri"/>
              <a:sym typeface="Calibri"/>
            </a:endParaRPr>
          </a:p>
        </p:txBody>
      </p:sp>
      <p:sp>
        <p:nvSpPr>
          <p:cNvPr id="1329" name="Google Shape;1329;p69"/>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US.56 · DI 2 of 4 · Manhattan Project Overview</a:t>
            </a:r>
            <a:endParaRPr b="0" i="0" sz="1000" u="none" cap="none" strike="noStrike">
              <a:solidFill>
                <a:schemeClr val="dk1"/>
              </a:solidFill>
              <a:latin typeface="Calibri"/>
              <a:ea typeface="Calibri"/>
              <a:cs typeface="Calibri"/>
              <a:sym typeface="Calibri"/>
            </a:endParaRPr>
          </a:p>
        </p:txBody>
      </p:sp>
      <p:sp>
        <p:nvSpPr>
          <p:cNvPr id="1330" name="Google Shape;1330;p6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331" name="Google Shape;1331;p6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104</a:t>
            </a:r>
            <a:endParaRPr b="0" i="0" sz="900" u="none" cap="none" strike="noStrike">
              <a:solidFill>
                <a:schemeClr val="dk1"/>
              </a:solidFill>
              <a:latin typeface="Calibri"/>
              <a:ea typeface="Calibri"/>
              <a:cs typeface="Calibri"/>
              <a:sym typeface="Calibri"/>
            </a:endParaRPr>
          </a:p>
        </p:txBody>
      </p:sp>
      <p:sp>
        <p:nvSpPr>
          <p:cNvPr id="1332" name="TextBox 1331"/>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336" name="Shape 1336"/>
        <p:cNvGrpSpPr/>
        <p:nvPr/>
      </p:nvGrpSpPr>
      <p:grpSpPr>
        <a:xfrm>
          <a:off x="0" y="0"/>
          <a:ext cx="0" cy="0"/>
          <a:chOff x="0" y="0"/>
          <a:chExt cx="0" cy="0"/>
        </a:xfrm>
      </p:grpSpPr>
      <p:sp>
        <p:nvSpPr>
          <p:cNvPr id="1337" name="Google Shape;1337;p70"/>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70"/>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70"/>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340" name="Google Shape;1340;p70"/>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US.56</a:t>
            </a:r>
            <a:endParaRPr b="0" i="0" sz="1200" u="none" cap="none" strike="noStrike">
              <a:solidFill>
                <a:schemeClr val="dk1"/>
              </a:solidFill>
              <a:latin typeface="Calibri"/>
              <a:ea typeface="Calibri"/>
              <a:cs typeface="Calibri"/>
              <a:sym typeface="Calibri"/>
            </a:endParaRPr>
          </a:p>
        </p:txBody>
      </p:sp>
      <p:sp>
        <p:nvSpPr>
          <p:cNvPr id="1341" name="Google Shape;1341;p70"/>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President Truman authorized the atomic bombs to end the war quickly and avoid a costly invasion of Japan projected to cost hundreds of thousands of lives.</a:t>
            </a:r>
            <a:endParaRPr b="0" i="0" sz="2300" u="none" cap="none" strike="noStrike">
              <a:solidFill>
                <a:schemeClr val="dk1"/>
              </a:solidFill>
              <a:latin typeface="Calibri"/>
              <a:ea typeface="Calibri"/>
              <a:cs typeface="Calibri"/>
              <a:sym typeface="Calibri"/>
            </a:endParaRPr>
          </a:p>
        </p:txBody>
      </p:sp>
      <p:pic>
        <p:nvPicPr>
          <p:cNvPr descr="hh-web/public/images/textbook/unit-6/nagasaki-atomic-bomb-1945.jpg" id="1342" name="Google Shape;1342;p70"/>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1343" name="Google Shape;1343;p70"/>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900"/>
              <a:buFont typeface="Trebuchet MS"/>
              <a:buNone/>
            </a:pPr>
            <a:r>
              <a:rPr b="1" i="0" lang="en-US" sz="900" u="none" cap="none" strike="noStrike">
                <a:solidFill>
                  <a:srgbClr val="1B2A4A"/>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1344" name="Google Shape;1344;p70"/>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US.56 · DI 3 of 4 · Rationale for Using Atomic Weapons</a:t>
            </a:r>
            <a:endParaRPr b="0" i="0" sz="1000" u="none" cap="none" strike="noStrike">
              <a:solidFill>
                <a:schemeClr val="dk1"/>
              </a:solidFill>
              <a:latin typeface="Calibri"/>
              <a:ea typeface="Calibri"/>
              <a:cs typeface="Calibri"/>
              <a:sym typeface="Calibri"/>
            </a:endParaRPr>
          </a:p>
        </p:txBody>
      </p:sp>
      <p:sp>
        <p:nvSpPr>
          <p:cNvPr id="1345" name="Google Shape;1345;p7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346" name="Google Shape;1346;p7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105</a:t>
            </a:r>
            <a:endParaRPr b="0" i="0" sz="900" u="none" cap="none" strike="noStrike">
              <a:solidFill>
                <a:schemeClr val="dk1"/>
              </a:solidFill>
              <a:latin typeface="Calibri"/>
              <a:ea typeface="Calibri"/>
              <a:cs typeface="Calibri"/>
              <a:sym typeface="Calibri"/>
            </a:endParaRPr>
          </a:p>
        </p:txBody>
      </p:sp>
      <p:sp>
        <p:nvSpPr>
          <p:cNvPr id="1347" name="TextBox 1346"/>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351" name="Shape 1351"/>
        <p:cNvGrpSpPr/>
        <p:nvPr/>
      </p:nvGrpSpPr>
      <p:grpSpPr>
        <a:xfrm>
          <a:off x="0" y="0"/>
          <a:ext cx="0" cy="0"/>
          <a:chOff x="0" y="0"/>
          <a:chExt cx="0" cy="0"/>
        </a:xfrm>
      </p:grpSpPr>
      <p:sp>
        <p:nvSpPr>
          <p:cNvPr id="1352" name="Google Shape;1352;p71"/>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71"/>
          <p:cNvSpPr/>
          <p:nvPr/>
        </p:nvSpPr>
        <p:spPr>
          <a:xfrm>
            <a:off x="0" y="155448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71"/>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1355" name="Google Shape;1355;p71"/>
          <p:cNvSpPr/>
          <p:nvPr/>
        </p:nvSpPr>
        <p:spPr>
          <a:xfrm>
            <a:off x="3886200" y="27432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US.56</a:t>
            </a:r>
            <a:endParaRPr b="0" i="0" sz="1200" u="none" cap="none" strike="noStrike">
              <a:solidFill>
                <a:schemeClr val="dk1"/>
              </a:solidFill>
              <a:latin typeface="Calibri"/>
              <a:ea typeface="Calibri"/>
              <a:cs typeface="Calibri"/>
              <a:sym typeface="Calibri"/>
            </a:endParaRPr>
          </a:p>
        </p:txBody>
      </p:sp>
      <p:sp>
        <p:nvSpPr>
          <p:cNvPr id="1356" name="Google Shape;1356;p71"/>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Read Truman’s Statement on the Atomic Bomb — note the speaker, date, and purpose before you read his words.</a:t>
            </a:r>
            <a:endParaRPr b="0" i="0" sz="2000" u="none" cap="none" strike="noStrike">
              <a:solidFill>
                <a:schemeClr val="dk1"/>
              </a:solidFill>
              <a:latin typeface="Calibri"/>
              <a:ea typeface="Calibri"/>
              <a:cs typeface="Calibri"/>
              <a:sym typeface="Calibri"/>
            </a:endParaRPr>
          </a:p>
        </p:txBody>
      </p:sp>
      <p:sp>
        <p:nvSpPr>
          <p:cNvPr id="1357" name="Google Shape;1357;p71"/>
          <p:cNvSpPr/>
          <p:nvPr/>
        </p:nvSpPr>
        <p:spPr>
          <a:xfrm>
            <a:off x="45720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1358" name="Google Shape;1358;p71"/>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President Harry S. Truman</a:t>
            </a:r>
            <a:endParaRPr b="0" i="0" sz="1200" u="none" cap="none" strike="noStrike">
              <a:solidFill>
                <a:schemeClr val="dk1"/>
              </a:solidFill>
              <a:latin typeface="Calibri"/>
              <a:ea typeface="Calibri"/>
              <a:cs typeface="Calibri"/>
              <a:sym typeface="Calibri"/>
            </a:endParaRPr>
          </a:p>
        </p:txBody>
      </p:sp>
      <p:sp>
        <p:nvSpPr>
          <p:cNvPr id="1359" name="Google Shape;1359;p71"/>
          <p:cNvSpPr/>
          <p:nvPr/>
        </p:nvSpPr>
        <p:spPr>
          <a:xfrm>
            <a:off x="425196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1360" name="Google Shape;1360;p71"/>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August 6, 1945</a:t>
            </a:r>
            <a:endParaRPr b="0" i="0" sz="1200" u="none" cap="none" strike="noStrike">
              <a:solidFill>
                <a:schemeClr val="dk1"/>
              </a:solidFill>
              <a:latin typeface="Calibri"/>
              <a:ea typeface="Calibri"/>
              <a:cs typeface="Calibri"/>
              <a:sym typeface="Calibri"/>
            </a:endParaRPr>
          </a:p>
        </p:txBody>
      </p:sp>
      <p:sp>
        <p:nvSpPr>
          <p:cNvPr id="1361" name="Google Shape;1361;p71"/>
          <p:cNvSpPr/>
          <p:nvPr/>
        </p:nvSpPr>
        <p:spPr>
          <a:xfrm>
            <a:off x="804672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1362" name="Google Shape;1362;p71"/>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Consider the author's purpose and audience before reading the words.</a:t>
            </a:r>
            <a:endParaRPr b="0" i="0" sz="1200" u="none" cap="none" strike="noStrike">
              <a:solidFill>
                <a:schemeClr val="dk1"/>
              </a:solidFill>
              <a:latin typeface="Calibri"/>
              <a:ea typeface="Calibri"/>
              <a:cs typeface="Calibri"/>
              <a:sym typeface="Calibri"/>
            </a:endParaRPr>
          </a:p>
        </p:txBody>
      </p:sp>
      <p:sp>
        <p:nvSpPr>
          <p:cNvPr id="1363" name="Google Shape;1363;p71"/>
          <p:cNvSpPr/>
          <p:nvPr/>
        </p:nvSpPr>
        <p:spPr>
          <a:xfrm>
            <a:off x="457200" y="3200400"/>
            <a:ext cx="5532120" cy="2651760"/>
          </a:xfrm>
          <a:prstGeom prst="rect">
            <a:avLst/>
          </a:prstGeom>
          <a:solidFill>
            <a:srgbClr val="FFFFFF"/>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71"/>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Statement on the Atomic Bomb</a:t>
            </a:r>
            <a:endParaRPr b="0" i="0" sz="1400" u="none" cap="none" strike="noStrike">
              <a:solidFill>
                <a:schemeClr val="dk1"/>
              </a:solidFill>
              <a:latin typeface="Calibri"/>
              <a:ea typeface="Calibri"/>
              <a:cs typeface="Calibri"/>
              <a:sym typeface="Calibri"/>
            </a:endParaRPr>
          </a:p>
        </p:txBody>
      </p:sp>
      <p:sp>
        <p:nvSpPr>
          <p:cNvPr id="1365" name="Google Shape;1365;p71"/>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President Harry S. Truman · August 6, 1945</a:t>
            </a:r>
            <a:endParaRPr b="0" i="0" sz="900" u="none" cap="none" strike="noStrike">
              <a:solidFill>
                <a:schemeClr val="dk1"/>
              </a:solidFill>
              <a:latin typeface="Calibri"/>
              <a:ea typeface="Calibri"/>
              <a:cs typeface="Calibri"/>
              <a:sym typeface="Calibri"/>
            </a:endParaRPr>
          </a:p>
        </p:txBody>
      </p:sp>
      <p:sp>
        <p:nvSpPr>
          <p:cNvPr id="1366" name="Google Shape;1366;p71"/>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"Sixteen hours ago an American airplane dropped one bomb on Hiroshima, an important Japanese Army base. That bomb had more power than 20,000 tons of T.N.T... We are now prepared to obliterate more rapidly and completely every productive enterprise the Japanese have above ground in any city... If they do not now accept our terms they may expect a rain of ruin from the air."</a:t>
            </a:r>
            <a:endParaRPr b="0" i="0" sz="1100" u="none" cap="none" strike="noStrike">
              <a:solidFill>
                <a:schemeClr val="dk1"/>
              </a:solidFill>
              <a:latin typeface="Calibri"/>
              <a:ea typeface="Calibri"/>
              <a:cs typeface="Calibri"/>
              <a:sym typeface="Calibri"/>
            </a:endParaRPr>
          </a:p>
        </p:txBody>
      </p:sp>
      <p:sp>
        <p:nvSpPr>
          <p:cNvPr id="1367" name="Google Shape;1367;p71">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Harry S. Truman Presidential Library</a:t>
            </a:r>
            <a:endParaRPr b="0" i="0" sz="900" u="none" cap="none" strike="noStrike">
              <a:solidFill>
                <a:schemeClr val="dk1"/>
              </a:solidFill>
              <a:latin typeface="Calibri"/>
              <a:ea typeface="Calibri"/>
              <a:cs typeface="Calibri"/>
              <a:sym typeface="Calibri"/>
            </a:endParaRPr>
          </a:p>
        </p:txBody>
      </p:sp>
      <p:sp>
        <p:nvSpPr>
          <p:cNvPr id="1368" name="Google Shape;1368;p7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369" name="Google Shape;1369;p7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107</a:t>
            </a:r>
            <a:endParaRPr b="0" i="0" sz="900" u="none" cap="none" strike="noStrike">
              <a:solidFill>
                <a:schemeClr val="dk1"/>
              </a:solidFill>
              <a:latin typeface="Calibri"/>
              <a:ea typeface="Calibri"/>
              <a:cs typeface="Calibri"/>
              <a:sym typeface="Calibri"/>
            </a:endParaRPr>
          </a:p>
        </p:txBody>
      </p:sp>
      <p:sp>
        <p:nvSpPr>
          <p:cNvPr id="1370" name="TextBox 1369"/>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Primary Source &amp; HIPPO (Act 5)</a:t>
            </a: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1374" name="Shape 1374"/>
        <p:cNvGrpSpPr/>
        <p:nvPr/>
      </p:nvGrpSpPr>
      <p:grpSpPr>
        <a:xfrm>
          <a:off x="0" y="0"/>
          <a:ext cx="0" cy="0"/>
          <a:chOff x="0" y="0"/>
          <a:chExt cx="0" cy="0"/>
        </a:xfrm>
      </p:grpSpPr>
      <p:sp>
        <p:nvSpPr>
          <p:cNvPr id="1375" name="Google Shape;1375;p72"/>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1376" name="Google Shape;1376;p72"/>
          <p:cNvSpPr/>
          <p:nvPr/>
        </p:nvSpPr>
        <p:spPr>
          <a:xfrm>
            <a:off x="3886200" y="27432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US.56</a:t>
            </a:r>
            <a:endParaRPr b="0" i="0" sz="1200" u="none" cap="none" strike="noStrike">
              <a:solidFill>
                <a:schemeClr val="dk1"/>
              </a:solidFill>
              <a:latin typeface="Calibri"/>
              <a:ea typeface="Calibri"/>
              <a:cs typeface="Calibri"/>
              <a:sym typeface="Calibri"/>
            </a:endParaRPr>
          </a:p>
        </p:txBody>
      </p:sp>
      <p:sp>
        <p:nvSpPr>
          <p:cNvPr id="1377" name="Google Shape;1377;p72"/>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C7D4E0"/>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1378" name="Google Shape;1378;p72"/>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72"/>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72"/>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1381" name="Google Shape;1381;p72"/>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1382" name="Google Shape;1382;p72"/>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US.56:</a:t>
            </a:r>
            <a:endParaRPr b="0" i="0" sz="1000" u="none" cap="none" strike="noStrike">
              <a:solidFill>
                <a:schemeClr val="dk1"/>
              </a:solidFill>
              <a:latin typeface="Calibri"/>
              <a:ea typeface="Calibri"/>
              <a:cs typeface="Calibri"/>
              <a:sym typeface="Calibri"/>
            </a:endParaRPr>
          </a:p>
        </p:txBody>
      </p:sp>
      <p:sp>
        <p:nvSpPr>
          <p:cNvPr id="1383" name="Google Shape;1383;p72"/>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United States, which ended the war and emerged as a nuclear superpower, and Oak Ridge, Tennessee, transformed by the project.</a:t>
            </a:r>
            <a:endParaRPr b="0" i="0" sz="1200" u="none" cap="none" strike="noStrike">
              <a:solidFill>
                <a:schemeClr val="dk1"/>
              </a:solidFill>
              <a:latin typeface="Calibri"/>
              <a:ea typeface="Calibri"/>
              <a:cs typeface="Calibri"/>
              <a:sym typeface="Calibri"/>
            </a:endParaRPr>
          </a:p>
        </p:txBody>
      </p:sp>
      <p:sp>
        <p:nvSpPr>
          <p:cNvPr id="1384" name="Google Shape;1384;p72"/>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72"/>
          <p:cNvSpPr/>
          <p:nvPr/>
        </p:nvSpPr>
        <p:spPr>
          <a:xfrm>
            <a:off x="4251960" y="1783080"/>
            <a:ext cx="3566160" cy="54864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72"/>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1387" name="Google Shape;1387;p72"/>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1388" name="Google Shape;1388;p72"/>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US.56:</a:t>
            </a:r>
            <a:endParaRPr b="0" i="0" sz="1000" u="none" cap="none" strike="noStrike">
              <a:solidFill>
                <a:schemeClr val="dk1"/>
              </a:solidFill>
              <a:latin typeface="Calibri"/>
              <a:ea typeface="Calibri"/>
              <a:cs typeface="Calibri"/>
              <a:sym typeface="Calibri"/>
            </a:endParaRPr>
          </a:p>
        </p:txBody>
      </p:sp>
      <p:sp>
        <p:nvSpPr>
          <p:cNvPr id="1389" name="Google Shape;1389;p72"/>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tens of thousands of Japanese civilians killed and injured at Hiroshima and Nagasaki, and survivors who suffered lasting effects.</a:t>
            </a:r>
            <a:endParaRPr b="0" i="0" sz="1200" u="none" cap="none" strike="noStrike">
              <a:solidFill>
                <a:schemeClr val="dk1"/>
              </a:solidFill>
              <a:latin typeface="Calibri"/>
              <a:ea typeface="Calibri"/>
              <a:cs typeface="Calibri"/>
              <a:sym typeface="Calibri"/>
            </a:endParaRPr>
          </a:p>
        </p:txBody>
      </p:sp>
      <p:sp>
        <p:nvSpPr>
          <p:cNvPr id="1390" name="Google Shape;1390;p72"/>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72"/>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72"/>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1393" name="Google Shape;1393;p72"/>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1394" name="Google Shape;1394;p72"/>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US.56:</a:t>
            </a:r>
            <a:endParaRPr b="0" i="0" sz="1000" u="none" cap="none" strike="noStrike">
              <a:solidFill>
                <a:schemeClr val="dk1"/>
              </a:solidFill>
              <a:latin typeface="Calibri"/>
              <a:ea typeface="Calibri"/>
              <a:cs typeface="Calibri"/>
              <a:sym typeface="Calibri"/>
            </a:endParaRPr>
          </a:p>
        </p:txBody>
      </p:sp>
      <p:sp>
        <p:nvSpPr>
          <p:cNvPr id="1395" name="Google Shape;1395;p72"/>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President Truman, who authorized the bombings, and the scientists and military leaders of the Manhattan Project who built the weapon.</a:t>
            </a:r>
            <a:endParaRPr b="0" i="0" sz="1200" u="none" cap="none" strike="noStrike">
              <a:solidFill>
                <a:schemeClr val="dk1"/>
              </a:solidFill>
              <a:latin typeface="Calibri"/>
              <a:ea typeface="Calibri"/>
              <a:cs typeface="Calibri"/>
              <a:sym typeface="Calibri"/>
            </a:endParaRPr>
          </a:p>
        </p:txBody>
      </p:sp>
      <p:sp>
        <p:nvSpPr>
          <p:cNvPr id="1396" name="Google Shape;1396;p72"/>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C7D4E0"/>
                </a:solidFill>
                <a:latin typeface="Trebuchet MS"/>
                <a:ea typeface="Trebuchet MS"/>
                <a:cs typeface="Trebuchet MS"/>
                <a:sym typeface="Trebuchet MS"/>
              </a:rPr>
              <a:t>Anchor: Statement on the Atomic Bomb, President Harry S. Truman, August 6, 1945 (Harry S. Truman Presidential Library)</a:t>
            </a:r>
            <a:endParaRPr b="0" i="0" sz="1000" u="none" cap="none" strike="noStrike">
              <a:solidFill>
                <a:schemeClr val="dk1"/>
              </a:solidFill>
              <a:latin typeface="Calibri"/>
              <a:ea typeface="Calibri"/>
              <a:cs typeface="Calibri"/>
              <a:sym typeface="Calibri"/>
            </a:endParaRPr>
          </a:p>
        </p:txBody>
      </p:sp>
      <p:sp>
        <p:nvSpPr>
          <p:cNvPr id="1397" name="Google Shape;1397;p7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398" name="Google Shape;1398;p7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108</a:t>
            </a:r>
            <a:endParaRPr b="0" i="0" sz="900" u="none" cap="none" strike="noStrike">
              <a:solidFill>
                <a:schemeClr val="dk1"/>
              </a:solidFill>
              <a:latin typeface="Calibri"/>
              <a:ea typeface="Calibri"/>
              <a:cs typeface="Calibri"/>
              <a:sym typeface="Calibri"/>
            </a:endParaRPr>
          </a:p>
        </p:txBody>
      </p:sp>
      <p:sp>
        <p:nvSpPr>
          <p:cNvPr id="1399" name="TextBox 1398"/>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Constructed Response (Act 7)</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102</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938528"/>
            <a:ext cx="137160" cy="292608"/>
          </a:xfrm>
          <a:prstGeom prst="rect">
            <a:avLst/>
          </a:prstGeom>
          <a:solidFill>
            <a:srgbClr val="B22234"/>
          </a:solidFill>
          <a:ln/>
        </p:spPr>
        <p:txBody>
          <a:bodyPr/>
          <a:p/>
        </p:txBody>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Manhattan Project</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Proyecto Manhattan</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Top-secret U.S. program to develop the atomic bomb, involving sites at Oak Ridge (Tennessee), Los Alamos (New Mexico), and Hanford (Washington).</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938528"/>
            <a:ext cx="137160" cy="292608"/>
          </a:xfrm>
          <a:prstGeom prst="rect">
            <a:avLst/>
          </a:prstGeom>
          <a:solidFill>
            <a:srgbClr val="B22234"/>
          </a:solidFill>
          <a:ln/>
        </p:spPr>
        <p:txBody>
          <a:bodyPr/>
          <a:p/>
        </p:txBody>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Atomic Bomb</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Bomba Atómica</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Nuclear weapons dropped on Hiroshima (August 6) and Nagasaki (August 9, 1945), killing over 200,000 people and forcing Japan's surrender, ending World War II.</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938528"/>
            <a:ext cx="137160" cy="292608"/>
          </a:xfrm>
          <a:prstGeom prst="rect">
            <a:avLst/>
          </a:prstGeom>
          <a:solidFill>
            <a:srgbClr val="B22234"/>
          </a:solidFill>
          <a:ln/>
        </p:spPr>
        <p:txBody>
          <a:bodyPr/>
          <a:p/>
        </p:txBody>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Battle of Iwo Jima</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Batalla de Iwo Jima</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February-March 1945 brutal battle for a strategic Pacific island, famous for the iconic flag-raising photograph on Mount Suribachi.</a:t>
            </a:r>
            <a:endParaRPr lang="en-US" sz="1300" dirty="0"/>
          </a:p>
        </p:txBody>
      </p:sp>
      <p:sp>
        <p:nvSpPr>
          <p:cNvPr id="25" name="TextBox 24"/>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Vocabulary (Act 1–2)</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109</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What factors influenced President Truman's decision to use atomic weapons against Japan?</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Truman made the decision without considering alternatives, which does not align with the documented historical record, although historical sources do not support this conclusion</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txBody>
          <a:bodyPr/>
          <a:p/>
        </p:txBody>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Only military factors were considered, but this fails to account for the broader historical context, which represents a common misconception about this historical period</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txBody>
          <a:bodyPr/>
          <a:p/>
        </p:txBody>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Truman opposed using the bombs, but this fails to account for the broader historical context, which does not align with the documented historical record</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txBody>
          <a:bodyPr/>
          <a:p/>
        </p:txBody>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Projected invasion casualties based on Okinawa, desire to end the war quickly, demonstrating power to the Soviet Union, and Japanese refusal to surrender all influenced the decision</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
        <p:nvSpPr>
          <p:cNvPr id="22" name="TextBox 21"/>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Practice Quiz (Act 6)</a:t>
            </a: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1403" name="Shape 1403"/>
        <p:cNvGrpSpPr/>
        <p:nvPr/>
      </p:nvGrpSpPr>
      <p:grpSpPr>
        <a:xfrm>
          <a:off x="0" y="0"/>
          <a:ext cx="0" cy="0"/>
          <a:chOff x="0" y="0"/>
          <a:chExt cx="0" cy="0"/>
        </a:xfrm>
      </p:grpSpPr>
      <p:sp>
        <p:nvSpPr>
          <p:cNvPr id="1404" name="Google Shape;1404;p73"/>
          <p:cNvSpPr/>
          <p:nvPr/>
        </p:nvSpPr>
        <p:spPr>
          <a:xfrm>
            <a:off x="0" y="2331720"/>
            <a:ext cx="12191695" cy="73152"/>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73"/>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6000"/>
              <a:buFont typeface="Georgia"/>
              <a:buNone/>
            </a:pPr>
            <a:r>
              <a:rPr b="1" i="0" lang="en-US" sz="6000" u="none" cap="none" strike="noStrike">
                <a:solidFill>
                  <a:srgbClr val="C89B3C"/>
                </a:solidFill>
                <a:latin typeface="Georgia"/>
                <a:ea typeface="Georgia"/>
                <a:cs typeface="Georgia"/>
                <a:sym typeface="Georgia"/>
              </a:rPr>
              <a:t>US.57</a:t>
            </a:r>
            <a:endParaRPr b="0" i="0" sz="6000" u="none" cap="none" strike="noStrike">
              <a:solidFill>
                <a:schemeClr val="dk1"/>
              </a:solidFill>
              <a:latin typeface="Calibri"/>
              <a:ea typeface="Calibri"/>
              <a:cs typeface="Calibri"/>
              <a:sym typeface="Calibri"/>
            </a:endParaRPr>
          </a:p>
        </p:txBody>
      </p:sp>
      <p:sp>
        <p:nvSpPr>
          <p:cNvPr id="1406" name="Google Shape;1406;p73"/>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Yalta and Potsdam Conferences</a:t>
            </a:r>
            <a:endParaRPr b="0" i="0" sz="2600" u="none" cap="none" strike="noStrike">
              <a:solidFill>
                <a:schemeClr val="dk1"/>
              </a:solidFill>
              <a:latin typeface="Calibri"/>
              <a:ea typeface="Calibri"/>
              <a:cs typeface="Calibri"/>
              <a:sym typeface="Calibri"/>
            </a:endParaRPr>
          </a:p>
        </p:txBody>
      </p:sp>
      <p:sp>
        <p:nvSpPr>
          <p:cNvPr id="1407" name="Google Shape;1407;p73"/>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1408" name="Google Shape;1408;p73"/>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C7D4E0"/>
                </a:solidFill>
                <a:latin typeface="Calibri"/>
                <a:ea typeface="Calibri"/>
                <a:cs typeface="Calibri"/>
                <a:sym typeface="Calibri"/>
              </a:rPr>
              <a:t>US.57 – Explain the major outcomes of the Yalta and Potsdam Conferences.</a:t>
            </a:r>
            <a:endParaRPr b="0" i="0" sz="1600" u="none" cap="none" strike="noStrike">
              <a:solidFill>
                <a:schemeClr val="dk1"/>
              </a:solidFill>
              <a:latin typeface="Calibri"/>
              <a:ea typeface="Calibri"/>
              <a:cs typeface="Calibri"/>
              <a:sym typeface="Calibri"/>
            </a:endParaRPr>
          </a:p>
        </p:txBody>
      </p:sp>
      <p:sp>
        <p:nvSpPr>
          <p:cNvPr id="1409" name="Google Shape;1409;p73"/>
          <p:cNvSpPr/>
          <p:nvPr/>
        </p:nvSpPr>
        <p:spPr>
          <a:xfrm>
            <a:off x="457200" y="4892040"/>
            <a:ext cx="11247120" cy="123444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73"/>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1411" name="Google Shape;1411;p73"/>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1400"/>
              <a:buFont typeface="Calibri"/>
              <a:buNone/>
            </a:pPr>
            <a:r>
              <a:rPr b="1" i="0" lang="en-US" sz="1400" u="none" cap="none" strike="noStrike">
                <a:solidFill>
                  <a:srgbClr val="1B2A4A"/>
                </a:solidFill>
                <a:latin typeface="Calibri"/>
                <a:ea typeface="Calibri"/>
                <a:cs typeface="Calibri"/>
                <a:sym typeface="Calibri"/>
              </a:rPr>
              <a:t>I can explain the major outcomes of the Yalta and Potsdam Conferences.</a:t>
            </a:r>
            <a:endParaRPr b="0" i="0" sz="1400" u="none" cap="none" strike="noStrike">
              <a:solidFill>
                <a:schemeClr val="dk1"/>
              </a:solidFill>
              <a:latin typeface="Calibri"/>
              <a:ea typeface="Calibri"/>
              <a:cs typeface="Calibri"/>
              <a:sym typeface="Calibri"/>
            </a:endParaRPr>
          </a:p>
        </p:txBody>
      </p:sp>
      <p:sp>
        <p:nvSpPr>
          <p:cNvPr id="1412" name="Google Shape;1412;p7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413" name="Google Shape;1413;p7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418" name="Shape 1418"/>
        <p:cNvGrpSpPr/>
        <p:nvPr/>
      </p:nvGrpSpPr>
      <p:grpSpPr>
        <a:xfrm>
          <a:off x="0" y="0"/>
          <a:ext cx="0" cy="0"/>
          <a:chOff x="0" y="0"/>
          <a:chExt cx="0" cy="0"/>
        </a:xfrm>
      </p:grpSpPr>
      <p:sp>
        <p:nvSpPr>
          <p:cNvPr id="1419" name="Google Shape;1419;p74"/>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74"/>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74"/>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422" name="Google Shape;1422;p74"/>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US.57</a:t>
            </a:r>
            <a:endParaRPr b="0" i="0" sz="1200" u="none" cap="none" strike="noStrike">
              <a:solidFill>
                <a:schemeClr val="dk1"/>
              </a:solidFill>
              <a:latin typeface="Calibri"/>
              <a:ea typeface="Calibri"/>
              <a:cs typeface="Calibri"/>
              <a:sym typeface="Calibri"/>
            </a:endParaRPr>
          </a:p>
        </p:txBody>
      </p:sp>
      <p:sp>
        <p:nvSpPr>
          <p:cNvPr id="1423" name="Google Shape;1423;p74"/>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At Yalta (Feb 1945), FDR, Churchill, and Stalin planned the UN, the division of Germany into occupation zones, and “free elections” in Eastern Europe — a promise Stalin broke.</a:t>
            </a:r>
            <a:endParaRPr b="0" i="0" sz="2300" u="none" cap="none" strike="noStrike">
              <a:solidFill>
                <a:schemeClr val="dk1"/>
              </a:solidFill>
              <a:latin typeface="Calibri"/>
              <a:ea typeface="Calibri"/>
              <a:cs typeface="Calibri"/>
              <a:sym typeface="Calibri"/>
            </a:endParaRPr>
          </a:p>
        </p:txBody>
      </p:sp>
      <p:pic>
        <p:nvPicPr>
          <p:cNvPr descr="hh-web/public/images/textbook/unit-6/yalta-conference-big-three-1945.jpg" id="1424" name="Google Shape;1424;p74"/>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1425" name="Google Shape;1425;p74"/>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900"/>
              <a:buFont typeface="Trebuchet MS"/>
              <a:buNone/>
            </a:pPr>
            <a:r>
              <a:rPr b="1" i="0" lang="en-US" sz="900" u="none" cap="none" strike="noStrike">
                <a:solidFill>
                  <a:srgbClr val="1B2A4A"/>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1426" name="Google Shape;1426;p74"/>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US.57 · DI 1 of 4 · Yalta Conference (Feb 1945)</a:t>
            </a:r>
            <a:endParaRPr b="0" i="0" sz="1000" u="none" cap="none" strike="noStrike">
              <a:solidFill>
                <a:schemeClr val="dk1"/>
              </a:solidFill>
              <a:latin typeface="Calibri"/>
              <a:ea typeface="Calibri"/>
              <a:cs typeface="Calibri"/>
              <a:sym typeface="Calibri"/>
            </a:endParaRPr>
          </a:p>
        </p:txBody>
      </p:sp>
      <p:sp>
        <p:nvSpPr>
          <p:cNvPr id="1427" name="Google Shape;1427;p7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428" name="Google Shape;1428;p7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112</a:t>
            </a:r>
            <a:endParaRPr b="0" i="0" sz="900" u="none" cap="none" strike="noStrike">
              <a:solidFill>
                <a:schemeClr val="dk1"/>
              </a:solidFill>
              <a:latin typeface="Calibri"/>
              <a:ea typeface="Calibri"/>
              <a:cs typeface="Calibri"/>
              <a:sym typeface="Calibri"/>
            </a:endParaRPr>
          </a:p>
        </p:txBody>
      </p:sp>
      <p:sp>
        <p:nvSpPr>
          <p:cNvPr id="1429" name="TextBox 1428"/>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433" name="Shape 1433"/>
        <p:cNvGrpSpPr/>
        <p:nvPr/>
      </p:nvGrpSpPr>
      <p:grpSpPr>
        <a:xfrm>
          <a:off x="0" y="0"/>
          <a:ext cx="0" cy="0"/>
          <a:chOff x="0" y="0"/>
          <a:chExt cx="0" cy="0"/>
        </a:xfrm>
      </p:grpSpPr>
      <p:sp>
        <p:nvSpPr>
          <p:cNvPr id="1434" name="Google Shape;1434;p75"/>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75"/>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75"/>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437" name="Google Shape;1437;p75"/>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US.57</a:t>
            </a:r>
            <a:endParaRPr b="0" i="0" sz="1200" u="none" cap="none" strike="noStrike">
              <a:solidFill>
                <a:schemeClr val="dk1"/>
              </a:solidFill>
              <a:latin typeface="Calibri"/>
              <a:ea typeface="Calibri"/>
              <a:cs typeface="Calibri"/>
              <a:sym typeface="Calibri"/>
            </a:endParaRPr>
          </a:p>
        </p:txBody>
      </p:sp>
      <p:sp>
        <p:nvSpPr>
          <p:cNvPr id="1438" name="Google Shape;1438;p75"/>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At Potsdam (Jul–Aug 1945), Truman, Stalin, and Churchill (then Attlee) met as Germany surrendered; disputes over Eastern Europe deepened distrust.</a:t>
            </a:r>
            <a:endParaRPr b="0" i="0" sz="2300" u="none" cap="none" strike="noStrike">
              <a:solidFill>
                <a:schemeClr val="dk1"/>
              </a:solidFill>
              <a:latin typeface="Calibri"/>
              <a:ea typeface="Calibri"/>
              <a:cs typeface="Calibri"/>
              <a:sym typeface="Calibri"/>
            </a:endParaRPr>
          </a:p>
        </p:txBody>
      </p:sp>
      <p:sp>
        <p:nvSpPr>
          <p:cNvPr id="1439" name="Google Shape;1439;p75"/>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75"/>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75"/>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1442" name="Google Shape;1442;p75"/>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At Potsdam (Jul–Aug 1945), Truman, Stalin, and Churchill (then Attlee) met as Germany surrendered; disputes over Eastern Europe deepened distrust.</a:t>
            </a:r>
            <a:endParaRPr b="0" i="0" sz="2200" u="none" cap="none" strike="noStrike">
              <a:solidFill>
                <a:schemeClr val="dk1"/>
              </a:solidFill>
              <a:latin typeface="Calibri"/>
              <a:ea typeface="Calibri"/>
              <a:cs typeface="Calibri"/>
              <a:sym typeface="Calibri"/>
            </a:endParaRPr>
          </a:p>
        </p:txBody>
      </p:sp>
      <p:sp>
        <p:nvSpPr>
          <p:cNvPr id="1443" name="Google Shape;1443;p75"/>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US.57 · DI 2 of 4 · Potsdam Conference (Jul–Aug 1945)</a:t>
            </a:r>
            <a:endParaRPr b="0" i="0" sz="1000" u="none" cap="none" strike="noStrike">
              <a:solidFill>
                <a:schemeClr val="dk1"/>
              </a:solidFill>
              <a:latin typeface="Calibri"/>
              <a:ea typeface="Calibri"/>
              <a:cs typeface="Calibri"/>
              <a:sym typeface="Calibri"/>
            </a:endParaRPr>
          </a:p>
        </p:txBody>
      </p:sp>
      <p:sp>
        <p:nvSpPr>
          <p:cNvPr id="1444" name="Google Shape;1444;p7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445" name="Google Shape;1445;p7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113</a:t>
            </a:r>
            <a:endParaRPr b="0" i="0" sz="900" u="none" cap="none" strike="noStrike">
              <a:solidFill>
                <a:schemeClr val="dk1"/>
              </a:solidFill>
              <a:latin typeface="Calibri"/>
              <a:ea typeface="Calibri"/>
              <a:cs typeface="Calibri"/>
              <a:sym typeface="Calibri"/>
            </a:endParaRPr>
          </a:p>
        </p:txBody>
      </p:sp>
      <p:sp>
        <p:nvSpPr>
          <p:cNvPr id="1446" name="TextBox 1445"/>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450" name="Shape 1450"/>
        <p:cNvGrpSpPr/>
        <p:nvPr/>
      </p:nvGrpSpPr>
      <p:grpSpPr>
        <a:xfrm>
          <a:off x="0" y="0"/>
          <a:ext cx="0" cy="0"/>
          <a:chOff x="0" y="0"/>
          <a:chExt cx="0" cy="0"/>
        </a:xfrm>
      </p:grpSpPr>
      <p:sp>
        <p:nvSpPr>
          <p:cNvPr id="1451" name="Google Shape;1451;p76"/>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76"/>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76"/>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454" name="Google Shape;1454;p76"/>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US.57</a:t>
            </a:r>
            <a:endParaRPr b="0" i="0" sz="1200" u="none" cap="none" strike="noStrike">
              <a:solidFill>
                <a:schemeClr val="dk1"/>
              </a:solidFill>
              <a:latin typeface="Calibri"/>
              <a:ea typeface="Calibri"/>
              <a:cs typeface="Calibri"/>
              <a:sym typeface="Calibri"/>
            </a:endParaRPr>
          </a:p>
        </p:txBody>
      </p:sp>
      <p:sp>
        <p:nvSpPr>
          <p:cNvPr id="1455" name="Google Shape;1455;p76"/>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Disagreement over Eastern Europe proved irreconcilable — Stalin's “free elections” meant communist governments — seeding the U.S.–Soviet Cold War.</a:t>
            </a:r>
            <a:endParaRPr b="0" i="0" sz="2300" u="none" cap="none" strike="noStrike">
              <a:solidFill>
                <a:schemeClr val="dk1"/>
              </a:solidFill>
              <a:latin typeface="Calibri"/>
              <a:ea typeface="Calibri"/>
              <a:cs typeface="Calibri"/>
              <a:sym typeface="Calibri"/>
            </a:endParaRPr>
          </a:p>
        </p:txBody>
      </p:sp>
      <p:sp>
        <p:nvSpPr>
          <p:cNvPr id="1456" name="Google Shape;1456;p76"/>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76"/>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76"/>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1459" name="Google Shape;1459;p76"/>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Disagreement over Eastern Europe proved irreconcilable — Stalin's “free elections” meant communist governments — seeding the U.S.–Soviet Cold War.</a:t>
            </a:r>
            <a:endParaRPr b="0" i="0" sz="2200" u="none" cap="none" strike="noStrike">
              <a:solidFill>
                <a:schemeClr val="dk1"/>
              </a:solidFill>
              <a:latin typeface="Calibri"/>
              <a:ea typeface="Calibri"/>
              <a:cs typeface="Calibri"/>
              <a:sym typeface="Calibri"/>
            </a:endParaRPr>
          </a:p>
        </p:txBody>
      </p:sp>
      <p:sp>
        <p:nvSpPr>
          <p:cNvPr id="1460" name="Google Shape;1460;p76"/>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US.57 · DI 3 of 4 · Cold War Origins</a:t>
            </a:r>
            <a:endParaRPr b="0" i="0" sz="1000" u="none" cap="none" strike="noStrike">
              <a:solidFill>
                <a:schemeClr val="dk1"/>
              </a:solidFill>
              <a:latin typeface="Calibri"/>
              <a:ea typeface="Calibri"/>
              <a:cs typeface="Calibri"/>
              <a:sym typeface="Calibri"/>
            </a:endParaRPr>
          </a:p>
        </p:txBody>
      </p:sp>
      <p:sp>
        <p:nvSpPr>
          <p:cNvPr id="1461" name="Google Shape;1461;p7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462" name="Google Shape;1462;p7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114</a:t>
            </a:r>
            <a:endParaRPr b="0" i="0" sz="900" u="none" cap="none" strike="noStrike">
              <a:solidFill>
                <a:schemeClr val="dk1"/>
              </a:solidFill>
              <a:latin typeface="Calibri"/>
              <a:ea typeface="Calibri"/>
              <a:cs typeface="Calibri"/>
              <a:sym typeface="Calibri"/>
            </a:endParaRPr>
          </a:p>
        </p:txBody>
      </p:sp>
      <p:sp>
        <p:nvSpPr>
          <p:cNvPr id="1463" name="TextBox 1462"/>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467" name="Shape 1467"/>
        <p:cNvGrpSpPr/>
        <p:nvPr/>
      </p:nvGrpSpPr>
      <p:grpSpPr>
        <a:xfrm>
          <a:off x="0" y="0"/>
          <a:ext cx="0" cy="0"/>
          <a:chOff x="0" y="0"/>
          <a:chExt cx="0" cy="0"/>
        </a:xfrm>
      </p:grpSpPr>
      <p:sp>
        <p:nvSpPr>
          <p:cNvPr id="1468" name="Google Shape;1468;p77"/>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77"/>
          <p:cNvSpPr/>
          <p:nvPr/>
        </p:nvSpPr>
        <p:spPr>
          <a:xfrm>
            <a:off x="0" y="155448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77"/>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1471" name="Google Shape;1471;p77"/>
          <p:cNvSpPr/>
          <p:nvPr/>
        </p:nvSpPr>
        <p:spPr>
          <a:xfrm>
            <a:off x="3886200" y="27432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US.57</a:t>
            </a:r>
            <a:endParaRPr b="0" i="0" sz="1200" u="none" cap="none" strike="noStrike">
              <a:solidFill>
                <a:schemeClr val="dk1"/>
              </a:solidFill>
              <a:latin typeface="Calibri"/>
              <a:ea typeface="Calibri"/>
              <a:cs typeface="Calibri"/>
              <a:sym typeface="Calibri"/>
            </a:endParaRPr>
          </a:p>
        </p:txBody>
      </p:sp>
      <p:sp>
        <p:nvSpPr>
          <p:cNvPr id="1472" name="Google Shape;1472;p77"/>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Read the Yalta Conference Communiqué — weigh who issued it and why before you read the agreements.</a:t>
            </a:r>
            <a:endParaRPr b="0" i="0" sz="2000" u="none" cap="none" strike="noStrike">
              <a:solidFill>
                <a:schemeClr val="dk1"/>
              </a:solidFill>
              <a:latin typeface="Calibri"/>
              <a:ea typeface="Calibri"/>
              <a:cs typeface="Calibri"/>
              <a:sym typeface="Calibri"/>
            </a:endParaRPr>
          </a:p>
        </p:txBody>
      </p:sp>
      <p:sp>
        <p:nvSpPr>
          <p:cNvPr id="1473" name="Google Shape;1473;p77"/>
          <p:cNvSpPr/>
          <p:nvPr/>
        </p:nvSpPr>
        <p:spPr>
          <a:xfrm>
            <a:off x="45720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1474" name="Google Shape;1474;p77"/>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Roosevelt, Churchill, and Stalin</a:t>
            </a:r>
            <a:endParaRPr b="0" i="0" sz="1200" u="none" cap="none" strike="noStrike">
              <a:solidFill>
                <a:schemeClr val="dk1"/>
              </a:solidFill>
              <a:latin typeface="Calibri"/>
              <a:ea typeface="Calibri"/>
              <a:cs typeface="Calibri"/>
              <a:sym typeface="Calibri"/>
            </a:endParaRPr>
          </a:p>
        </p:txBody>
      </p:sp>
      <p:sp>
        <p:nvSpPr>
          <p:cNvPr id="1475" name="Google Shape;1475;p77"/>
          <p:cNvSpPr/>
          <p:nvPr/>
        </p:nvSpPr>
        <p:spPr>
          <a:xfrm>
            <a:off x="425196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1476" name="Google Shape;1476;p77"/>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February 1945</a:t>
            </a:r>
            <a:endParaRPr b="0" i="0" sz="1200" u="none" cap="none" strike="noStrike">
              <a:solidFill>
                <a:schemeClr val="dk1"/>
              </a:solidFill>
              <a:latin typeface="Calibri"/>
              <a:ea typeface="Calibri"/>
              <a:cs typeface="Calibri"/>
              <a:sym typeface="Calibri"/>
            </a:endParaRPr>
          </a:p>
        </p:txBody>
      </p:sp>
      <p:sp>
        <p:nvSpPr>
          <p:cNvPr id="1477" name="Google Shape;1477;p77"/>
          <p:cNvSpPr/>
          <p:nvPr/>
        </p:nvSpPr>
        <p:spPr>
          <a:xfrm>
            <a:off x="804672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1478" name="Google Shape;1478;p77"/>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Consider the author's purpose and audience before reading the words.</a:t>
            </a:r>
            <a:endParaRPr b="0" i="0" sz="1200" u="none" cap="none" strike="noStrike">
              <a:solidFill>
                <a:schemeClr val="dk1"/>
              </a:solidFill>
              <a:latin typeface="Calibri"/>
              <a:ea typeface="Calibri"/>
              <a:cs typeface="Calibri"/>
              <a:sym typeface="Calibri"/>
            </a:endParaRPr>
          </a:p>
        </p:txBody>
      </p:sp>
      <p:sp>
        <p:nvSpPr>
          <p:cNvPr id="1479" name="Google Shape;1479;p77"/>
          <p:cNvSpPr/>
          <p:nvPr/>
        </p:nvSpPr>
        <p:spPr>
          <a:xfrm>
            <a:off x="457200" y="3200400"/>
            <a:ext cx="5532120" cy="2651760"/>
          </a:xfrm>
          <a:prstGeom prst="rect">
            <a:avLst/>
          </a:prstGeom>
          <a:solidFill>
            <a:srgbClr val="FFFFFF"/>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77"/>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Yalta Conference Communiqué</a:t>
            </a:r>
            <a:endParaRPr b="0" i="0" sz="1400" u="none" cap="none" strike="noStrike">
              <a:solidFill>
                <a:schemeClr val="dk1"/>
              </a:solidFill>
              <a:latin typeface="Calibri"/>
              <a:ea typeface="Calibri"/>
              <a:cs typeface="Calibri"/>
              <a:sym typeface="Calibri"/>
            </a:endParaRPr>
          </a:p>
        </p:txBody>
      </p:sp>
      <p:sp>
        <p:nvSpPr>
          <p:cNvPr id="1481" name="Google Shape;1481;p77"/>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Roosevelt, Churchill, and Stalin · February 1945</a:t>
            </a:r>
            <a:endParaRPr b="0" i="0" sz="900" u="none" cap="none" strike="noStrike">
              <a:solidFill>
                <a:schemeClr val="dk1"/>
              </a:solidFill>
              <a:latin typeface="Calibri"/>
              <a:ea typeface="Calibri"/>
              <a:cs typeface="Calibri"/>
              <a:sym typeface="Calibri"/>
            </a:endParaRPr>
          </a:p>
        </p:txBody>
      </p:sp>
      <p:sp>
        <p:nvSpPr>
          <p:cNvPr id="1482" name="Google Shape;1482;p77"/>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"We have agreed on common policies and plans for enforcing the unconditional surrender terms which we shall impose together on Nazi Germany... It is our inflexible purpose to destroy German militarism and Nazism and to ensure that Germany will never again be able to disturb the peace of the world."</a:t>
            </a:r>
            <a:endParaRPr b="0" i="0" sz="1100" u="none" cap="none" strike="noStrike">
              <a:solidFill>
                <a:schemeClr val="dk1"/>
              </a:solidFill>
              <a:latin typeface="Calibri"/>
              <a:ea typeface="Calibri"/>
              <a:cs typeface="Calibri"/>
              <a:sym typeface="Calibri"/>
            </a:endParaRPr>
          </a:p>
        </p:txBody>
      </p:sp>
      <p:sp>
        <p:nvSpPr>
          <p:cNvPr id="1483" name="Google Shape;1483;p77">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Avalon Project, Yale Law School</a:t>
            </a:r>
            <a:endParaRPr b="0" i="0" sz="900" u="none" cap="none" strike="noStrike">
              <a:solidFill>
                <a:schemeClr val="dk1"/>
              </a:solidFill>
              <a:latin typeface="Calibri"/>
              <a:ea typeface="Calibri"/>
              <a:cs typeface="Calibri"/>
              <a:sym typeface="Calibri"/>
            </a:endParaRPr>
          </a:p>
        </p:txBody>
      </p:sp>
      <p:sp>
        <p:nvSpPr>
          <p:cNvPr id="1484" name="Google Shape;1484;p7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485" name="Google Shape;1485;p7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116</a:t>
            </a:r>
            <a:endParaRPr b="0" i="0" sz="900" u="none" cap="none" strike="noStrike">
              <a:solidFill>
                <a:schemeClr val="dk1"/>
              </a:solidFill>
              <a:latin typeface="Calibri"/>
              <a:ea typeface="Calibri"/>
              <a:cs typeface="Calibri"/>
              <a:sym typeface="Calibri"/>
            </a:endParaRPr>
          </a:p>
        </p:txBody>
      </p:sp>
      <p:sp>
        <p:nvSpPr>
          <p:cNvPr id="1486" name="TextBox 1485"/>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Primary Source &amp; HIPPO (Act 5)</a:t>
            </a: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1490" name="Shape 1490"/>
        <p:cNvGrpSpPr/>
        <p:nvPr/>
      </p:nvGrpSpPr>
      <p:grpSpPr>
        <a:xfrm>
          <a:off x="0" y="0"/>
          <a:ext cx="0" cy="0"/>
          <a:chOff x="0" y="0"/>
          <a:chExt cx="0" cy="0"/>
        </a:xfrm>
      </p:grpSpPr>
      <p:sp>
        <p:nvSpPr>
          <p:cNvPr id="1491" name="Google Shape;1491;p78"/>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1492" name="Google Shape;1492;p78"/>
          <p:cNvSpPr/>
          <p:nvPr/>
        </p:nvSpPr>
        <p:spPr>
          <a:xfrm>
            <a:off x="3886200" y="27432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US.57</a:t>
            </a:r>
            <a:endParaRPr b="0" i="0" sz="1200" u="none" cap="none" strike="noStrike">
              <a:solidFill>
                <a:schemeClr val="dk1"/>
              </a:solidFill>
              <a:latin typeface="Calibri"/>
              <a:ea typeface="Calibri"/>
              <a:cs typeface="Calibri"/>
              <a:sym typeface="Calibri"/>
            </a:endParaRPr>
          </a:p>
        </p:txBody>
      </p:sp>
      <p:sp>
        <p:nvSpPr>
          <p:cNvPr id="1493" name="Google Shape;1493;p78"/>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C7D4E0"/>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1494" name="Google Shape;1494;p78"/>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78"/>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78"/>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1497" name="Google Shape;1497;p78"/>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1498" name="Google Shape;1498;p78"/>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US.57:</a:t>
            </a:r>
            <a:endParaRPr b="0" i="0" sz="1000" u="none" cap="none" strike="noStrike">
              <a:solidFill>
                <a:schemeClr val="dk1"/>
              </a:solidFill>
              <a:latin typeface="Calibri"/>
              <a:ea typeface="Calibri"/>
              <a:cs typeface="Calibri"/>
              <a:sym typeface="Calibri"/>
            </a:endParaRPr>
          </a:p>
        </p:txBody>
      </p:sp>
      <p:sp>
        <p:nvSpPr>
          <p:cNvPr id="1499" name="Google Shape;1499;p78"/>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Soviet Union, which secured influence over Eastern Europe, and the Allies who set up the UN and postwar occupation zones.</a:t>
            </a:r>
            <a:endParaRPr b="0" i="0" sz="1200" u="none" cap="none" strike="noStrike">
              <a:solidFill>
                <a:schemeClr val="dk1"/>
              </a:solidFill>
              <a:latin typeface="Calibri"/>
              <a:ea typeface="Calibri"/>
              <a:cs typeface="Calibri"/>
              <a:sym typeface="Calibri"/>
            </a:endParaRPr>
          </a:p>
        </p:txBody>
      </p:sp>
      <p:sp>
        <p:nvSpPr>
          <p:cNvPr id="1500" name="Google Shape;1500;p78"/>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78"/>
          <p:cNvSpPr/>
          <p:nvPr/>
        </p:nvSpPr>
        <p:spPr>
          <a:xfrm>
            <a:off x="4251960" y="1783080"/>
            <a:ext cx="3566160" cy="54864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78"/>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1503" name="Google Shape;1503;p78"/>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1504" name="Google Shape;1504;p78"/>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US.57:</a:t>
            </a:r>
            <a:endParaRPr b="0" i="0" sz="1000" u="none" cap="none" strike="noStrike">
              <a:solidFill>
                <a:schemeClr val="dk1"/>
              </a:solidFill>
              <a:latin typeface="Calibri"/>
              <a:ea typeface="Calibri"/>
              <a:cs typeface="Calibri"/>
              <a:sym typeface="Calibri"/>
            </a:endParaRPr>
          </a:p>
        </p:txBody>
      </p:sp>
      <p:sp>
        <p:nvSpPr>
          <p:cNvPr id="1505" name="Google Shape;1505;p78"/>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nations of Eastern Europe subjected to Soviet-backed communist governments despite promises of free elections.</a:t>
            </a:r>
            <a:endParaRPr b="0" i="0" sz="1200" u="none" cap="none" strike="noStrike">
              <a:solidFill>
                <a:schemeClr val="dk1"/>
              </a:solidFill>
              <a:latin typeface="Calibri"/>
              <a:ea typeface="Calibri"/>
              <a:cs typeface="Calibri"/>
              <a:sym typeface="Calibri"/>
            </a:endParaRPr>
          </a:p>
        </p:txBody>
      </p:sp>
      <p:sp>
        <p:nvSpPr>
          <p:cNvPr id="1506" name="Google Shape;1506;p78"/>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78"/>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78"/>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1509" name="Google Shape;1509;p78"/>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1510" name="Google Shape;1510;p78"/>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US.57:</a:t>
            </a:r>
            <a:endParaRPr b="0" i="0" sz="1000" u="none" cap="none" strike="noStrike">
              <a:solidFill>
                <a:schemeClr val="dk1"/>
              </a:solidFill>
              <a:latin typeface="Calibri"/>
              <a:ea typeface="Calibri"/>
              <a:cs typeface="Calibri"/>
              <a:sym typeface="Calibri"/>
            </a:endParaRPr>
          </a:p>
        </p:txBody>
      </p:sp>
      <p:sp>
        <p:nvSpPr>
          <p:cNvPr id="1511" name="Google Shape;1511;p78"/>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“Big Three” — Roosevelt (later Truman), Churchill (later Attlee), and Stalin — who negotiated the postwar settlement.</a:t>
            </a:r>
            <a:endParaRPr b="0" i="0" sz="1200" u="none" cap="none" strike="noStrike">
              <a:solidFill>
                <a:schemeClr val="dk1"/>
              </a:solidFill>
              <a:latin typeface="Calibri"/>
              <a:ea typeface="Calibri"/>
              <a:cs typeface="Calibri"/>
              <a:sym typeface="Calibri"/>
            </a:endParaRPr>
          </a:p>
        </p:txBody>
      </p:sp>
      <p:sp>
        <p:nvSpPr>
          <p:cNvPr id="1512" name="Google Shape;1512;p78"/>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C7D4E0"/>
                </a:solidFill>
                <a:latin typeface="Trebuchet MS"/>
                <a:ea typeface="Trebuchet MS"/>
                <a:cs typeface="Trebuchet MS"/>
                <a:sym typeface="Trebuchet MS"/>
              </a:rPr>
              <a:t>Anchor: Yalta Conference Communiqué, Roosevelt, Churchill, and Stalin, February 1945 (Avalon Project, Yale Law School)</a:t>
            </a:r>
            <a:endParaRPr b="0" i="0" sz="1000" u="none" cap="none" strike="noStrike">
              <a:solidFill>
                <a:schemeClr val="dk1"/>
              </a:solidFill>
              <a:latin typeface="Calibri"/>
              <a:ea typeface="Calibri"/>
              <a:cs typeface="Calibri"/>
              <a:sym typeface="Calibri"/>
            </a:endParaRPr>
          </a:p>
        </p:txBody>
      </p:sp>
      <p:sp>
        <p:nvSpPr>
          <p:cNvPr id="1513" name="Google Shape;1513;p7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514" name="Google Shape;1514;p7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117</a:t>
            </a:r>
            <a:endParaRPr b="0" i="0" sz="900" u="none" cap="none" strike="noStrike">
              <a:solidFill>
                <a:schemeClr val="dk1"/>
              </a:solidFill>
              <a:latin typeface="Calibri"/>
              <a:ea typeface="Calibri"/>
              <a:cs typeface="Calibri"/>
              <a:sym typeface="Calibri"/>
            </a:endParaRPr>
          </a:p>
        </p:txBody>
      </p:sp>
      <p:sp>
        <p:nvSpPr>
          <p:cNvPr id="1515" name="TextBox 1514"/>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Constructed Response (Act 7)</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111</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938528"/>
            <a:ext cx="137160" cy="292608"/>
          </a:xfrm>
          <a:prstGeom prst="rect">
            <a:avLst/>
          </a:prstGeom>
          <a:solidFill>
            <a:srgbClr val="B22234"/>
          </a:solidFill>
          <a:ln/>
        </p:spPr>
        <p:txBody>
          <a:bodyPr/>
          <a:p/>
        </p:txBody>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Yalta Conference</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Conferencia de Yalta</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February 1945 meeting of Roosevelt, Churchill, and Stalin to plan post-war Europe, dividing Germany and establishing spheres of influence.</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938528"/>
            <a:ext cx="137160" cy="292608"/>
          </a:xfrm>
          <a:prstGeom prst="rect">
            <a:avLst/>
          </a:prstGeom>
          <a:solidFill>
            <a:srgbClr val="B22234"/>
          </a:solidFill>
          <a:ln/>
        </p:spPr>
        <p:txBody>
          <a:bodyPr/>
          <a:p/>
        </p:txBody>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Potsdam Conference</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Conferencia de Potsdam</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July-August 1945 meeting of Truman, Churchill/Attlee, and Stalin finalizing plans for occupied Germany and issuing surrender terms to Japan.</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938528"/>
            <a:ext cx="137160" cy="292608"/>
          </a:xfrm>
          <a:prstGeom prst="rect">
            <a:avLst/>
          </a:prstGeom>
          <a:solidFill>
            <a:srgbClr val="B22234"/>
          </a:solidFill>
          <a:ln/>
        </p:spPr>
        <p:txBody>
          <a:bodyPr/>
          <a:p/>
        </p:txBody>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Joseph Stalin</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Joseph Stalin</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Communist dictator of the Soviet Union (1924-1953) who ruled through terror, forced collectivization, and purges, resulting in millions of deaths.</a:t>
            </a:r>
            <a:endParaRPr lang="en-US" sz="1300" dirty="0"/>
          </a:p>
        </p:txBody>
      </p:sp>
      <p:sp>
        <p:nvSpPr>
          <p:cNvPr id="25" name="TextBox 24"/>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Vocabulary (Act 1–2)</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118</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How did the Potsdam Conference reveal growing tensions between the United States and Soviet Union?</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Disputes over Eastern European governments, German reparations, and differing visions for post-war Europe revealed fundamental disagreements that would define the Cold War</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txBody>
          <a:bodyPr/>
          <a:p/>
        </p:txBody>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Potsdam showed complete Allied unity, though this interpretation lacks supporting historical evidence, which ignores significant political and cultural developments of the era</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txBody>
          <a:bodyPr/>
          <a:p/>
        </p:txBody>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Only minor disagreements emerged, despite the fact that multiple sources contradict this view, which represents a common misconception about this historical period</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txBody>
          <a:bodyPr/>
          <a:p/>
        </p:txBody>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Soviet Union was excluded from Potsdam, though this interpretation lacks supporting historical evidence, though this interpretation lacks supporting historical evidence</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
        <p:nvSpPr>
          <p:cNvPr id="22" name="TextBox 21"/>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Practice Quiz (Act 6)</a:t>
            </a: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1519" name="Shape 1519"/>
        <p:cNvGrpSpPr/>
        <p:nvPr/>
      </p:nvGrpSpPr>
      <p:grpSpPr>
        <a:xfrm>
          <a:off x="0" y="0"/>
          <a:ext cx="0" cy="0"/>
          <a:chOff x="0" y="0"/>
          <a:chExt cx="0" cy="0"/>
        </a:xfrm>
      </p:grpSpPr>
      <p:sp>
        <p:nvSpPr>
          <p:cNvPr id="1520" name="Google Shape;1520;p79"/>
          <p:cNvSpPr/>
          <p:nvPr/>
        </p:nvSpPr>
        <p:spPr>
          <a:xfrm>
            <a:off x="0" y="2331720"/>
            <a:ext cx="12191695" cy="73152"/>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79"/>
          <p:cNvSpPr/>
          <p:nvPr/>
        </p:nvSpPr>
        <p:spPr>
          <a:xfrm>
            <a:off x="457200" y="548640"/>
            <a:ext cx="29260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6000"/>
              <a:buFont typeface="Georgia"/>
              <a:buNone/>
            </a:pPr>
            <a:r>
              <a:rPr b="1" i="0" lang="en-US" sz="6000" u="none" cap="none" strike="noStrike">
                <a:solidFill>
                  <a:srgbClr val="C89B3C"/>
                </a:solidFill>
                <a:latin typeface="Georgia"/>
                <a:ea typeface="Georgia"/>
                <a:cs typeface="Georgia"/>
                <a:sym typeface="Georgia"/>
              </a:rPr>
              <a:t>US.58</a:t>
            </a:r>
            <a:endParaRPr b="0" i="0" sz="6000" u="none" cap="none" strike="noStrike">
              <a:solidFill>
                <a:schemeClr val="dk1"/>
              </a:solidFill>
              <a:latin typeface="Calibri"/>
              <a:ea typeface="Calibri"/>
              <a:cs typeface="Calibri"/>
              <a:sym typeface="Calibri"/>
            </a:endParaRPr>
          </a:p>
        </p:txBody>
      </p:sp>
      <p:sp>
        <p:nvSpPr>
          <p:cNvPr id="1522" name="Google Shape;1522;p79"/>
          <p:cNvSpPr/>
          <p:nvPr/>
        </p:nvSpPr>
        <p:spPr>
          <a:xfrm>
            <a:off x="3474720" y="548640"/>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Founding of the United Nations &amp; Cordell Hull</a:t>
            </a:r>
            <a:endParaRPr b="0" i="0" sz="2600" u="none" cap="none" strike="noStrike">
              <a:solidFill>
                <a:schemeClr val="dk1"/>
              </a:solidFill>
              <a:latin typeface="Calibri"/>
              <a:ea typeface="Calibri"/>
              <a:cs typeface="Calibri"/>
              <a:sym typeface="Calibri"/>
            </a:endParaRPr>
          </a:p>
        </p:txBody>
      </p:sp>
      <p:sp>
        <p:nvSpPr>
          <p:cNvPr id="1523" name="Google Shape;1523;p79"/>
          <p:cNvSpPr/>
          <p:nvPr/>
        </p:nvSpPr>
        <p:spPr>
          <a:xfrm>
            <a:off x="457200" y="2651760"/>
            <a:ext cx="11247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TN STANDARD</a:t>
            </a:r>
            <a:endParaRPr b="0" i="0" sz="1200" u="none" cap="none" strike="noStrike">
              <a:solidFill>
                <a:schemeClr val="dk1"/>
              </a:solidFill>
              <a:latin typeface="Calibri"/>
              <a:ea typeface="Calibri"/>
              <a:cs typeface="Calibri"/>
              <a:sym typeface="Calibri"/>
            </a:endParaRPr>
          </a:p>
        </p:txBody>
      </p:sp>
      <p:sp>
        <p:nvSpPr>
          <p:cNvPr id="1524" name="Google Shape;1524;p79"/>
          <p:cNvSpPr/>
          <p:nvPr/>
        </p:nvSpPr>
        <p:spPr>
          <a:xfrm>
            <a:off x="457200" y="2999232"/>
            <a:ext cx="1124712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C7D4E0"/>
              </a:buClr>
              <a:buSzPts val="1600"/>
              <a:buFont typeface="Calibri"/>
              <a:buNone/>
            </a:pPr>
            <a:r>
              <a:rPr b="0" i="0" lang="en-US" sz="1600" u="none" cap="none" strike="noStrike">
                <a:solidFill>
                  <a:srgbClr val="C7D4E0"/>
                </a:solidFill>
                <a:latin typeface="Calibri"/>
                <a:ea typeface="Calibri"/>
                <a:cs typeface="Calibri"/>
                <a:sym typeface="Calibri"/>
              </a:rPr>
              <a:t>US.58 – Identify and explain the reasons for the founding of the United Nations, including the role of Cordell Hull.</a:t>
            </a:r>
            <a:endParaRPr b="0" i="0" sz="1600" u="none" cap="none" strike="noStrike">
              <a:solidFill>
                <a:schemeClr val="dk1"/>
              </a:solidFill>
              <a:latin typeface="Calibri"/>
              <a:ea typeface="Calibri"/>
              <a:cs typeface="Calibri"/>
              <a:sym typeface="Calibri"/>
            </a:endParaRPr>
          </a:p>
        </p:txBody>
      </p:sp>
      <p:sp>
        <p:nvSpPr>
          <p:cNvPr id="1525" name="Google Shape;1525;p79"/>
          <p:cNvSpPr/>
          <p:nvPr/>
        </p:nvSpPr>
        <p:spPr>
          <a:xfrm>
            <a:off x="457200" y="4892040"/>
            <a:ext cx="11247120" cy="123444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79"/>
          <p:cNvSpPr/>
          <p:nvPr/>
        </p:nvSpPr>
        <p:spPr>
          <a:xfrm>
            <a:off x="640080" y="502920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I CAN</a:t>
            </a:r>
            <a:endParaRPr b="0" i="0" sz="1200" u="none" cap="none" strike="noStrike">
              <a:solidFill>
                <a:schemeClr val="dk1"/>
              </a:solidFill>
              <a:latin typeface="Calibri"/>
              <a:ea typeface="Calibri"/>
              <a:cs typeface="Calibri"/>
              <a:sym typeface="Calibri"/>
            </a:endParaRPr>
          </a:p>
        </p:txBody>
      </p:sp>
      <p:sp>
        <p:nvSpPr>
          <p:cNvPr id="1527" name="Google Shape;1527;p79"/>
          <p:cNvSpPr/>
          <p:nvPr/>
        </p:nvSpPr>
        <p:spPr>
          <a:xfrm>
            <a:off x="640080" y="5303520"/>
            <a:ext cx="10881360" cy="7498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1400"/>
              <a:buFont typeface="Calibri"/>
              <a:buNone/>
            </a:pPr>
            <a:r>
              <a:rPr b="1" i="0" lang="en-US" sz="1400" u="none" cap="none" strike="noStrike">
                <a:solidFill>
                  <a:srgbClr val="1B2A4A"/>
                </a:solidFill>
                <a:latin typeface="Calibri"/>
                <a:ea typeface="Calibri"/>
                <a:cs typeface="Calibri"/>
                <a:sym typeface="Calibri"/>
              </a:rPr>
              <a:t>I can identify and explain the reasons for the founding of the United Nations, including the role of Cordell Hull.</a:t>
            </a:r>
            <a:endParaRPr b="0" i="0" sz="1400" u="none" cap="none" strike="noStrike">
              <a:solidFill>
                <a:schemeClr val="dk1"/>
              </a:solidFill>
              <a:latin typeface="Calibri"/>
              <a:ea typeface="Calibri"/>
              <a:cs typeface="Calibri"/>
              <a:sym typeface="Calibri"/>
            </a:endParaRPr>
          </a:p>
        </p:txBody>
      </p:sp>
      <p:sp>
        <p:nvSpPr>
          <p:cNvPr id="1528" name="Google Shape;1528;p7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529" name="Google Shape;1529;p7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119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534" name="Shape 1534"/>
        <p:cNvGrpSpPr/>
        <p:nvPr/>
      </p:nvGrpSpPr>
      <p:grpSpPr>
        <a:xfrm>
          <a:off x="0" y="0"/>
          <a:ext cx="0" cy="0"/>
          <a:chOff x="0" y="0"/>
          <a:chExt cx="0" cy="0"/>
        </a:xfrm>
      </p:grpSpPr>
      <p:sp>
        <p:nvSpPr>
          <p:cNvPr id="1535" name="Google Shape;1535;p80"/>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80"/>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80"/>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538" name="Google Shape;1538;p80"/>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US.58</a:t>
            </a:r>
            <a:endParaRPr b="0" i="0" sz="1200" u="none" cap="none" strike="noStrike">
              <a:solidFill>
                <a:schemeClr val="dk1"/>
              </a:solidFill>
              <a:latin typeface="Calibri"/>
              <a:ea typeface="Calibri"/>
              <a:cs typeface="Calibri"/>
              <a:sym typeface="Calibri"/>
            </a:endParaRPr>
          </a:p>
        </p:txBody>
      </p:sp>
      <p:sp>
        <p:nvSpPr>
          <p:cNvPr id="1539" name="Google Shape;1539;p80"/>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The League of Nations failed because the U.S. never joined, it lacked enforcement, and major powers could ignore it — lessons the UN's designers aimed to fix.</a:t>
            </a:r>
            <a:endParaRPr b="0" i="0" sz="2300" u="none" cap="none" strike="noStrike">
              <a:solidFill>
                <a:schemeClr val="dk1"/>
              </a:solidFill>
              <a:latin typeface="Calibri"/>
              <a:ea typeface="Calibri"/>
              <a:cs typeface="Calibri"/>
              <a:sym typeface="Calibri"/>
            </a:endParaRPr>
          </a:p>
        </p:txBody>
      </p:sp>
      <p:sp>
        <p:nvSpPr>
          <p:cNvPr id="1540" name="Google Shape;1540;p80"/>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80"/>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80"/>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1543" name="Google Shape;1543;p80"/>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The League of Nations failed because the U.S. never joined, it lacked enforcement, and major powers could ignore it — lessons the UN's designers aimed to fix.</a:t>
            </a:r>
            <a:endParaRPr b="0" i="0" sz="2200" u="none" cap="none" strike="noStrike">
              <a:solidFill>
                <a:schemeClr val="dk1"/>
              </a:solidFill>
              <a:latin typeface="Calibri"/>
              <a:ea typeface="Calibri"/>
              <a:cs typeface="Calibri"/>
              <a:sym typeface="Calibri"/>
            </a:endParaRPr>
          </a:p>
        </p:txBody>
      </p:sp>
      <p:sp>
        <p:nvSpPr>
          <p:cNvPr id="1544" name="Google Shape;1544;p80"/>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US.58 · DI 1 of 4 · Lessons from the League's Failure</a:t>
            </a:r>
            <a:endParaRPr b="0" i="0" sz="1000" u="none" cap="none" strike="noStrike">
              <a:solidFill>
                <a:schemeClr val="dk1"/>
              </a:solidFill>
              <a:latin typeface="Calibri"/>
              <a:ea typeface="Calibri"/>
              <a:cs typeface="Calibri"/>
              <a:sym typeface="Calibri"/>
            </a:endParaRPr>
          </a:p>
        </p:txBody>
      </p:sp>
      <p:sp>
        <p:nvSpPr>
          <p:cNvPr id="1545" name="Google Shape;1545;p8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546" name="Google Shape;1546;p8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121</a:t>
            </a:r>
            <a:endParaRPr b="0" i="0" sz="900" u="none" cap="none" strike="noStrike">
              <a:solidFill>
                <a:schemeClr val="dk1"/>
              </a:solidFill>
              <a:latin typeface="Calibri"/>
              <a:ea typeface="Calibri"/>
              <a:cs typeface="Calibri"/>
              <a:sym typeface="Calibri"/>
            </a:endParaRPr>
          </a:p>
        </p:txBody>
      </p:sp>
      <p:sp>
        <p:nvSpPr>
          <p:cNvPr id="1547" name="TextBox 1546"/>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551" name="Shape 1551"/>
        <p:cNvGrpSpPr/>
        <p:nvPr/>
      </p:nvGrpSpPr>
      <p:grpSpPr>
        <a:xfrm>
          <a:off x="0" y="0"/>
          <a:ext cx="0" cy="0"/>
          <a:chOff x="0" y="0"/>
          <a:chExt cx="0" cy="0"/>
        </a:xfrm>
      </p:grpSpPr>
      <p:sp>
        <p:nvSpPr>
          <p:cNvPr id="1552" name="Google Shape;1552;p81"/>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81"/>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81"/>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555" name="Google Shape;1555;p81"/>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US.58</a:t>
            </a:r>
            <a:endParaRPr b="0" i="0" sz="1200" u="none" cap="none" strike="noStrike">
              <a:solidFill>
                <a:schemeClr val="dk1"/>
              </a:solidFill>
              <a:latin typeface="Calibri"/>
              <a:ea typeface="Calibri"/>
              <a:cs typeface="Calibri"/>
              <a:sym typeface="Calibri"/>
            </a:endParaRPr>
          </a:p>
        </p:txBody>
      </p:sp>
      <p:sp>
        <p:nvSpPr>
          <p:cNvPr id="1556" name="Google Shape;1556;p81"/>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Cordell Hull, FDR's Secretary of State and a Tennessean, was key to planning the UN and is called its “Father”; he won the 1945 Nobel Peace Prize.</a:t>
            </a:r>
            <a:endParaRPr b="0" i="0" sz="2300" u="none" cap="none" strike="noStrike">
              <a:solidFill>
                <a:schemeClr val="dk1"/>
              </a:solidFill>
              <a:latin typeface="Calibri"/>
              <a:ea typeface="Calibri"/>
              <a:cs typeface="Calibri"/>
              <a:sym typeface="Calibri"/>
            </a:endParaRPr>
          </a:p>
        </p:txBody>
      </p:sp>
      <p:sp>
        <p:nvSpPr>
          <p:cNvPr id="1557" name="Google Shape;1557;p81"/>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81"/>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81"/>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1560" name="Google Shape;1560;p81"/>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Cordell Hull, FDR's Secretary of State and a Tennessean, was key to planning the UN and is called its “Father”; he won the 1945 Nobel Peace Prize.</a:t>
            </a:r>
            <a:endParaRPr b="0" i="0" sz="2200" u="none" cap="none" strike="noStrike">
              <a:solidFill>
                <a:schemeClr val="dk1"/>
              </a:solidFill>
              <a:latin typeface="Calibri"/>
              <a:ea typeface="Calibri"/>
              <a:cs typeface="Calibri"/>
              <a:sym typeface="Calibri"/>
            </a:endParaRPr>
          </a:p>
        </p:txBody>
      </p:sp>
      <p:sp>
        <p:nvSpPr>
          <p:cNvPr id="1561" name="Google Shape;1561;p81"/>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US.58 · DI 2 of 4 · Cordell Hull's Role</a:t>
            </a:r>
            <a:endParaRPr b="0" i="0" sz="1000" u="none" cap="none" strike="noStrike">
              <a:solidFill>
                <a:schemeClr val="dk1"/>
              </a:solidFill>
              <a:latin typeface="Calibri"/>
              <a:ea typeface="Calibri"/>
              <a:cs typeface="Calibri"/>
              <a:sym typeface="Calibri"/>
            </a:endParaRPr>
          </a:p>
        </p:txBody>
      </p:sp>
      <p:sp>
        <p:nvSpPr>
          <p:cNvPr id="1562" name="Google Shape;1562;p8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563" name="Google Shape;1563;p8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122</a:t>
            </a:r>
            <a:endParaRPr b="0" i="0" sz="900" u="none" cap="none" strike="noStrike">
              <a:solidFill>
                <a:schemeClr val="dk1"/>
              </a:solidFill>
              <a:latin typeface="Calibri"/>
              <a:ea typeface="Calibri"/>
              <a:cs typeface="Calibri"/>
              <a:sym typeface="Calibri"/>
            </a:endParaRPr>
          </a:p>
        </p:txBody>
      </p:sp>
      <p:sp>
        <p:nvSpPr>
          <p:cNvPr id="1564" name="TextBox 1563"/>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568" name="Shape 1568"/>
        <p:cNvGrpSpPr/>
        <p:nvPr/>
      </p:nvGrpSpPr>
      <p:grpSpPr>
        <a:xfrm>
          <a:off x="0" y="0"/>
          <a:ext cx="0" cy="0"/>
          <a:chOff x="0" y="0"/>
          <a:chExt cx="0" cy="0"/>
        </a:xfrm>
      </p:grpSpPr>
      <p:sp>
        <p:nvSpPr>
          <p:cNvPr id="1569" name="Google Shape;1569;p82"/>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82"/>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82"/>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572" name="Google Shape;1572;p82"/>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US.58</a:t>
            </a:r>
            <a:endParaRPr b="0" i="0" sz="1200" u="none" cap="none" strike="noStrike">
              <a:solidFill>
                <a:schemeClr val="dk1"/>
              </a:solidFill>
              <a:latin typeface="Calibri"/>
              <a:ea typeface="Calibri"/>
              <a:cs typeface="Calibri"/>
              <a:sym typeface="Calibri"/>
            </a:endParaRPr>
          </a:p>
        </p:txBody>
      </p:sp>
      <p:sp>
        <p:nvSpPr>
          <p:cNvPr id="1573" name="Google Shape;1573;p82"/>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The UN was built to keep international peace through collective action, using a General Assembly and a Security Council, and to promote cooperation among nations.</a:t>
            </a:r>
            <a:endParaRPr b="0" i="0" sz="2300" u="none" cap="none" strike="noStrike">
              <a:solidFill>
                <a:schemeClr val="dk1"/>
              </a:solidFill>
              <a:latin typeface="Calibri"/>
              <a:ea typeface="Calibri"/>
              <a:cs typeface="Calibri"/>
              <a:sym typeface="Calibri"/>
            </a:endParaRPr>
          </a:p>
        </p:txBody>
      </p:sp>
      <p:pic>
        <p:nvPicPr>
          <p:cNvPr descr="hh-web/public/images/textbook/unit-6/declaration-by-united-nations-1942.jpg" id="1574" name="Google Shape;1574;p82"/>
          <p:cNvPicPr preferRelativeResize="0"/>
          <p:nvPr/>
        </p:nvPicPr>
        <p:blipFill rotWithShape="1">
          <a:blip r:embed="rId3">
            <a:alphaModFix/>
          </a:blip>
          <a:srcRect b="0" l="0" r="0" t="0"/>
          <a:stretch/>
        </p:blipFill>
        <p:spPr>
          <a:xfrm>
            <a:off x="2743200" y="2057400"/>
            <a:ext cx="6702552" cy="4160520"/>
          </a:xfrm>
          <a:prstGeom prst="rect">
            <a:avLst/>
          </a:prstGeom>
          <a:noFill/>
          <a:ln>
            <a:noFill/>
          </a:ln>
        </p:spPr>
      </p:pic>
      <p:sp>
        <p:nvSpPr>
          <p:cNvPr id="1575" name="Google Shape;1575;p82"/>
          <p:cNvSpPr/>
          <p:nvPr/>
        </p:nvSpPr>
        <p:spPr>
          <a:xfrm>
            <a:off x="2743200" y="2103120"/>
            <a:ext cx="1188720" cy="292608"/>
          </a:xfrm>
          <a:prstGeom prst="rect">
            <a:avLst/>
          </a:prstGeom>
          <a:solidFill>
            <a:srgbClr val="F9A82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900"/>
              <a:buFont typeface="Trebuchet MS"/>
              <a:buNone/>
            </a:pPr>
            <a:r>
              <a:rPr b="1" i="0" lang="en-US" sz="900" u="none" cap="none" strike="noStrike">
                <a:solidFill>
                  <a:srgbClr val="1B2A4A"/>
                </a:solidFill>
                <a:latin typeface="Trebuchet MS"/>
                <a:ea typeface="Trebuchet MS"/>
                <a:cs typeface="Trebuchet MS"/>
                <a:sym typeface="Trebuchet MS"/>
              </a:rPr>
              <a:t>ZOOM IN</a:t>
            </a:r>
            <a:endParaRPr b="0" i="0" sz="900" u="none" cap="none" strike="noStrike">
              <a:solidFill>
                <a:schemeClr val="dk1"/>
              </a:solidFill>
              <a:latin typeface="Calibri"/>
              <a:ea typeface="Calibri"/>
              <a:cs typeface="Calibri"/>
              <a:sym typeface="Calibri"/>
            </a:endParaRPr>
          </a:p>
        </p:txBody>
      </p:sp>
      <p:sp>
        <p:nvSpPr>
          <p:cNvPr id="1576" name="Google Shape;1576;p82"/>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US.58 · DI 3 of 4 · UN Goals &amp; Structure</a:t>
            </a:r>
            <a:endParaRPr b="0" i="0" sz="1000" u="none" cap="none" strike="noStrike">
              <a:solidFill>
                <a:schemeClr val="dk1"/>
              </a:solidFill>
              <a:latin typeface="Calibri"/>
              <a:ea typeface="Calibri"/>
              <a:cs typeface="Calibri"/>
              <a:sym typeface="Calibri"/>
            </a:endParaRPr>
          </a:p>
        </p:txBody>
      </p:sp>
      <p:sp>
        <p:nvSpPr>
          <p:cNvPr id="1577" name="Google Shape;1577;p8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578" name="Google Shape;1578;p8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123</a:t>
            </a:r>
            <a:endParaRPr b="0" i="0" sz="900" u="none" cap="none" strike="noStrike">
              <a:solidFill>
                <a:schemeClr val="dk1"/>
              </a:solidFill>
              <a:latin typeface="Calibri"/>
              <a:ea typeface="Calibri"/>
              <a:cs typeface="Calibri"/>
              <a:sym typeface="Calibri"/>
            </a:endParaRPr>
          </a:p>
        </p:txBody>
      </p:sp>
      <p:sp>
        <p:nvSpPr>
          <p:cNvPr id="1579" name="TextBox 1578"/>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583" name="Shape 1583"/>
        <p:cNvGrpSpPr/>
        <p:nvPr/>
      </p:nvGrpSpPr>
      <p:grpSpPr>
        <a:xfrm>
          <a:off x="0" y="0"/>
          <a:ext cx="0" cy="0"/>
          <a:chOff x="0" y="0"/>
          <a:chExt cx="0" cy="0"/>
        </a:xfrm>
      </p:grpSpPr>
      <p:sp>
        <p:nvSpPr>
          <p:cNvPr id="1584" name="Google Shape;1584;p83"/>
          <p:cNvSpPr/>
          <p:nvPr/>
        </p:nvSpPr>
        <p:spPr>
          <a:xfrm>
            <a:off x="0" y="0"/>
            <a:ext cx="12191695" cy="155448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83"/>
          <p:cNvSpPr/>
          <p:nvPr/>
        </p:nvSpPr>
        <p:spPr>
          <a:xfrm>
            <a:off x="0" y="155448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83"/>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SOURCE IT FIRST</a:t>
            </a:r>
            <a:endParaRPr b="0" i="0" sz="1100" u="none" cap="none" strike="noStrike">
              <a:solidFill>
                <a:schemeClr val="dk1"/>
              </a:solidFill>
              <a:latin typeface="Calibri"/>
              <a:ea typeface="Calibri"/>
              <a:cs typeface="Calibri"/>
              <a:sym typeface="Calibri"/>
            </a:endParaRPr>
          </a:p>
        </p:txBody>
      </p:sp>
      <p:sp>
        <p:nvSpPr>
          <p:cNvPr id="1587" name="Google Shape;1587;p83"/>
          <p:cNvSpPr/>
          <p:nvPr/>
        </p:nvSpPr>
        <p:spPr>
          <a:xfrm>
            <a:off x="3886200" y="27432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US.58</a:t>
            </a:r>
            <a:endParaRPr b="0" i="0" sz="1200" u="none" cap="none" strike="noStrike">
              <a:solidFill>
                <a:schemeClr val="dk1"/>
              </a:solidFill>
              <a:latin typeface="Calibri"/>
              <a:ea typeface="Calibri"/>
              <a:cs typeface="Calibri"/>
              <a:sym typeface="Calibri"/>
            </a:endParaRPr>
          </a:p>
        </p:txBody>
      </p:sp>
      <p:sp>
        <p:nvSpPr>
          <p:cNvPr id="1588" name="Google Shape;1588;p83"/>
          <p:cNvSpPr/>
          <p:nvPr/>
        </p:nvSpPr>
        <p:spPr>
          <a:xfrm>
            <a:off x="457200" y="713232"/>
            <a:ext cx="112471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Read the United Nations Charter Preamble — identify who wrote it and why before you analyze its aims.</a:t>
            </a:r>
            <a:endParaRPr b="0" i="0" sz="2000" u="none" cap="none" strike="noStrike">
              <a:solidFill>
                <a:schemeClr val="dk1"/>
              </a:solidFill>
              <a:latin typeface="Calibri"/>
              <a:ea typeface="Calibri"/>
              <a:cs typeface="Calibri"/>
              <a:sym typeface="Calibri"/>
            </a:endParaRPr>
          </a:p>
        </p:txBody>
      </p:sp>
      <p:sp>
        <p:nvSpPr>
          <p:cNvPr id="1589" name="Google Shape;1589;p83"/>
          <p:cNvSpPr/>
          <p:nvPr/>
        </p:nvSpPr>
        <p:spPr>
          <a:xfrm>
            <a:off x="45720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WHO</a:t>
            </a:r>
            <a:endParaRPr b="0" i="0" sz="1200" u="none" cap="none" strike="noStrike">
              <a:solidFill>
                <a:schemeClr val="dk1"/>
              </a:solidFill>
              <a:latin typeface="Calibri"/>
              <a:ea typeface="Calibri"/>
              <a:cs typeface="Calibri"/>
              <a:sym typeface="Calibri"/>
            </a:endParaRPr>
          </a:p>
        </p:txBody>
      </p:sp>
      <p:sp>
        <p:nvSpPr>
          <p:cNvPr id="1590" name="Google Shape;1590;p83"/>
          <p:cNvSpPr/>
          <p:nvPr/>
        </p:nvSpPr>
        <p:spPr>
          <a:xfrm>
            <a:off x="45720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United Nations</a:t>
            </a:r>
            <a:endParaRPr b="0" i="0" sz="1200" u="none" cap="none" strike="noStrike">
              <a:solidFill>
                <a:schemeClr val="dk1"/>
              </a:solidFill>
              <a:latin typeface="Calibri"/>
              <a:ea typeface="Calibri"/>
              <a:cs typeface="Calibri"/>
              <a:sym typeface="Calibri"/>
            </a:endParaRPr>
          </a:p>
        </p:txBody>
      </p:sp>
      <p:sp>
        <p:nvSpPr>
          <p:cNvPr id="1591" name="Google Shape;1591;p83"/>
          <p:cNvSpPr/>
          <p:nvPr/>
        </p:nvSpPr>
        <p:spPr>
          <a:xfrm>
            <a:off x="425196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WHEN</a:t>
            </a:r>
            <a:endParaRPr b="0" i="0" sz="1200" u="none" cap="none" strike="noStrike">
              <a:solidFill>
                <a:schemeClr val="dk1"/>
              </a:solidFill>
              <a:latin typeface="Calibri"/>
              <a:ea typeface="Calibri"/>
              <a:cs typeface="Calibri"/>
              <a:sym typeface="Calibri"/>
            </a:endParaRPr>
          </a:p>
        </p:txBody>
      </p:sp>
      <p:sp>
        <p:nvSpPr>
          <p:cNvPr id="1592" name="Google Shape;1592;p83"/>
          <p:cNvSpPr/>
          <p:nvPr/>
        </p:nvSpPr>
        <p:spPr>
          <a:xfrm>
            <a:off x="425196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June 26, 1945</a:t>
            </a:r>
            <a:endParaRPr b="0" i="0" sz="1200" u="none" cap="none" strike="noStrike">
              <a:solidFill>
                <a:schemeClr val="dk1"/>
              </a:solidFill>
              <a:latin typeface="Calibri"/>
              <a:ea typeface="Calibri"/>
              <a:cs typeface="Calibri"/>
              <a:sym typeface="Calibri"/>
            </a:endParaRPr>
          </a:p>
        </p:txBody>
      </p:sp>
      <p:sp>
        <p:nvSpPr>
          <p:cNvPr id="1593" name="Google Shape;1593;p83"/>
          <p:cNvSpPr/>
          <p:nvPr/>
        </p:nvSpPr>
        <p:spPr>
          <a:xfrm>
            <a:off x="8046720" y="1783080"/>
            <a:ext cx="3566160" cy="320040"/>
          </a:xfrm>
          <a:prstGeom prst="rect">
            <a:avLst/>
          </a:prstGeom>
          <a:solidFill>
            <a:srgbClr val="1B2A4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WHY</a:t>
            </a:r>
            <a:endParaRPr b="0" i="0" sz="1200" u="none" cap="none" strike="noStrike">
              <a:solidFill>
                <a:schemeClr val="dk1"/>
              </a:solidFill>
              <a:latin typeface="Calibri"/>
              <a:ea typeface="Calibri"/>
              <a:cs typeface="Calibri"/>
              <a:sym typeface="Calibri"/>
            </a:endParaRPr>
          </a:p>
        </p:txBody>
      </p:sp>
      <p:sp>
        <p:nvSpPr>
          <p:cNvPr id="1594" name="Google Shape;1594;p83"/>
          <p:cNvSpPr/>
          <p:nvPr/>
        </p:nvSpPr>
        <p:spPr>
          <a:xfrm>
            <a:off x="8046720" y="2103120"/>
            <a:ext cx="3566160" cy="914400"/>
          </a:xfrm>
          <a:prstGeom prst="rect">
            <a:avLst/>
          </a:prstGeom>
          <a:solidFill>
            <a:srgbClr val="FFFFFF"/>
          </a:solidFill>
          <a:ln cap="flat" cmpd="sng" w="12700">
            <a:solidFill>
              <a:srgbClr val="DAD3C2"/>
            </a:solidFill>
            <a:prstDash val="solid"/>
            <a:round/>
            <a:headEnd len="sm" w="sm" type="none"/>
            <a:tailEnd len="sm" w="sm" type="none"/>
          </a:ln>
        </p:spPr>
        <p:txBody>
          <a:bodyPr anchorCtr="0" anchor="t" bIns="76200" lIns="76200" spcFirstLastPara="1" rIns="76200" wrap="square" tIns="762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Consider the author's purpose and audience before reading the words.</a:t>
            </a:r>
            <a:endParaRPr b="0" i="0" sz="1200" u="none" cap="none" strike="noStrike">
              <a:solidFill>
                <a:schemeClr val="dk1"/>
              </a:solidFill>
              <a:latin typeface="Calibri"/>
              <a:ea typeface="Calibri"/>
              <a:cs typeface="Calibri"/>
              <a:sym typeface="Calibri"/>
            </a:endParaRPr>
          </a:p>
        </p:txBody>
      </p:sp>
      <p:sp>
        <p:nvSpPr>
          <p:cNvPr id="1595" name="Google Shape;1595;p83"/>
          <p:cNvSpPr/>
          <p:nvPr/>
        </p:nvSpPr>
        <p:spPr>
          <a:xfrm>
            <a:off x="457200" y="3200400"/>
            <a:ext cx="5532120" cy="2651760"/>
          </a:xfrm>
          <a:prstGeom prst="rect">
            <a:avLst/>
          </a:prstGeom>
          <a:solidFill>
            <a:srgbClr val="FFFFFF"/>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83"/>
          <p:cNvSpPr/>
          <p:nvPr/>
        </p:nvSpPr>
        <p:spPr>
          <a:xfrm>
            <a:off x="594360" y="3291840"/>
            <a:ext cx="5257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400"/>
              <a:buFont typeface="Georgia"/>
              <a:buNone/>
            </a:pPr>
            <a:r>
              <a:rPr b="1" i="0" lang="en-US" sz="1400" u="none" cap="none" strike="noStrike">
                <a:solidFill>
                  <a:srgbClr val="002858"/>
                </a:solidFill>
                <a:latin typeface="Georgia"/>
                <a:ea typeface="Georgia"/>
                <a:cs typeface="Georgia"/>
                <a:sym typeface="Georgia"/>
              </a:rPr>
              <a:t>United Nations Charter Preamble</a:t>
            </a:r>
            <a:endParaRPr b="0" i="0" sz="1400" u="none" cap="none" strike="noStrike">
              <a:solidFill>
                <a:schemeClr val="dk1"/>
              </a:solidFill>
              <a:latin typeface="Calibri"/>
              <a:ea typeface="Calibri"/>
              <a:cs typeface="Calibri"/>
              <a:sym typeface="Calibri"/>
            </a:endParaRPr>
          </a:p>
        </p:txBody>
      </p:sp>
      <p:sp>
        <p:nvSpPr>
          <p:cNvPr id="1597" name="Google Shape;1597;p83"/>
          <p:cNvSpPr/>
          <p:nvPr/>
        </p:nvSpPr>
        <p:spPr>
          <a:xfrm>
            <a:off x="594360" y="3611880"/>
            <a:ext cx="5257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Trebuchet MS"/>
              <a:buNone/>
            </a:pPr>
            <a:r>
              <a:rPr b="0" i="1" lang="en-US" sz="900" u="none" cap="none" strike="noStrike">
                <a:solidFill>
                  <a:srgbClr val="5C6470"/>
                </a:solidFill>
                <a:latin typeface="Trebuchet MS"/>
                <a:ea typeface="Trebuchet MS"/>
                <a:cs typeface="Trebuchet MS"/>
                <a:sym typeface="Trebuchet MS"/>
              </a:rPr>
              <a:t>United Nations · June 26, 1945</a:t>
            </a:r>
            <a:endParaRPr b="0" i="0" sz="900" u="none" cap="none" strike="noStrike">
              <a:solidFill>
                <a:schemeClr val="dk1"/>
              </a:solidFill>
              <a:latin typeface="Calibri"/>
              <a:ea typeface="Calibri"/>
              <a:cs typeface="Calibri"/>
              <a:sym typeface="Calibri"/>
            </a:endParaRPr>
          </a:p>
        </p:txBody>
      </p:sp>
      <p:sp>
        <p:nvSpPr>
          <p:cNvPr id="1598" name="Google Shape;1598;p83"/>
          <p:cNvSpPr/>
          <p:nvPr/>
        </p:nvSpPr>
        <p:spPr>
          <a:xfrm>
            <a:off x="594360" y="3931920"/>
            <a:ext cx="5257800" cy="16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"We the peoples of the United Nations determined to save succeeding generations from the scourge of war, which twice in our lifetime has brought untold sorrow to mankind, and to reaffirm faith in fundamental human rights, in the dignity and worth of the human person, in the equal rights of men and women and of nations large and small."</a:t>
            </a:r>
            <a:endParaRPr b="0" i="0" sz="1100" u="none" cap="none" strike="noStrike">
              <a:solidFill>
                <a:schemeClr val="dk1"/>
              </a:solidFill>
              <a:latin typeface="Calibri"/>
              <a:ea typeface="Calibri"/>
              <a:cs typeface="Calibri"/>
              <a:sym typeface="Calibri"/>
            </a:endParaRPr>
          </a:p>
        </p:txBody>
      </p:sp>
      <p:sp>
        <p:nvSpPr>
          <p:cNvPr id="1599" name="Google Shape;1599;p83">
            <a:hlinkClick r:id="rId3"/>
          </p:cNvPr>
          <p:cNvSpPr/>
          <p:nvPr/>
        </p:nvSpPr>
        <p:spPr>
          <a:xfrm>
            <a:off x="594360" y="5532120"/>
            <a:ext cx="5257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0" i="0" lang="en-US" sz="900" u="sng" cap="none" strike="noStrike">
                <a:solidFill>
                  <a:srgbClr val="002858"/>
                </a:solidFill>
                <a:latin typeface="Trebuchet MS"/>
                <a:ea typeface="Trebuchet MS"/>
                <a:cs typeface="Trebuchet MS"/>
                <a:sym typeface="Trebuchet MS"/>
                <a:hlinkClick r:id="rId4">
                  <a:extLst>
                    <a:ext uri="{A12FA001-AC4F-418D-AE19-62706E023703}">
                      <ahyp:hlinkClr val="tx"/>
                    </a:ext>
                  </a:extLst>
                </a:hlinkClick>
              </a:rPr>
              <a:t>United Nations</a:t>
            </a:r>
            <a:endParaRPr b="0" i="0" sz="900" u="none" cap="none" strike="noStrike">
              <a:solidFill>
                <a:schemeClr val="dk1"/>
              </a:solidFill>
              <a:latin typeface="Calibri"/>
              <a:ea typeface="Calibri"/>
              <a:cs typeface="Calibri"/>
              <a:sym typeface="Calibri"/>
            </a:endParaRPr>
          </a:p>
        </p:txBody>
      </p:sp>
      <p:sp>
        <p:nvSpPr>
          <p:cNvPr id="1600" name="Google Shape;1600;p8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601" name="Google Shape;1601;p8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125</a:t>
            </a:r>
            <a:endParaRPr b="0" i="0" sz="900" u="none" cap="none" strike="noStrike">
              <a:solidFill>
                <a:schemeClr val="dk1"/>
              </a:solidFill>
              <a:latin typeface="Calibri"/>
              <a:ea typeface="Calibri"/>
              <a:cs typeface="Calibri"/>
              <a:sym typeface="Calibri"/>
            </a:endParaRPr>
          </a:p>
        </p:txBody>
      </p:sp>
      <p:sp>
        <p:nvSpPr>
          <p:cNvPr id="1602" name="TextBox 1601"/>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Primary Source &amp; HIPPO (Act 5)</a:t>
            </a: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1606" name="Shape 1606"/>
        <p:cNvGrpSpPr/>
        <p:nvPr/>
      </p:nvGrpSpPr>
      <p:grpSpPr>
        <a:xfrm>
          <a:off x="0" y="0"/>
          <a:ext cx="0" cy="0"/>
          <a:chOff x="0" y="0"/>
          <a:chExt cx="0" cy="0"/>
        </a:xfrm>
      </p:grpSpPr>
      <p:sp>
        <p:nvSpPr>
          <p:cNvPr id="1607" name="Google Shape;1607;p84"/>
          <p:cNvSpPr/>
          <p:nvPr/>
        </p:nvSpPr>
        <p:spPr>
          <a:xfrm>
            <a:off x="457200" y="274320"/>
            <a:ext cx="3291840" cy="365760"/>
          </a:xfrm>
          <a:prstGeom prst="rect">
            <a:avLst/>
          </a:prstGeom>
          <a:solidFill>
            <a:srgbClr val="C6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THREE PERSPECTIVES</a:t>
            </a:r>
            <a:endParaRPr b="0" i="0" sz="1100" u="none" cap="none" strike="noStrike">
              <a:solidFill>
                <a:schemeClr val="dk1"/>
              </a:solidFill>
              <a:latin typeface="Calibri"/>
              <a:ea typeface="Calibri"/>
              <a:cs typeface="Calibri"/>
              <a:sym typeface="Calibri"/>
            </a:endParaRPr>
          </a:p>
        </p:txBody>
      </p:sp>
      <p:sp>
        <p:nvSpPr>
          <p:cNvPr id="1608" name="Google Shape;1608;p84"/>
          <p:cNvSpPr/>
          <p:nvPr/>
        </p:nvSpPr>
        <p:spPr>
          <a:xfrm>
            <a:off x="3886200" y="27432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US.58</a:t>
            </a:r>
            <a:endParaRPr b="0" i="0" sz="1200" u="none" cap="none" strike="noStrike">
              <a:solidFill>
                <a:schemeClr val="dk1"/>
              </a:solidFill>
              <a:latin typeface="Calibri"/>
              <a:ea typeface="Calibri"/>
              <a:cs typeface="Calibri"/>
              <a:sym typeface="Calibri"/>
            </a:endParaRPr>
          </a:p>
        </p:txBody>
      </p:sp>
      <p:sp>
        <p:nvSpPr>
          <p:cNvPr id="1609" name="Google Shape;1609;p84"/>
          <p:cNvSpPr/>
          <p:nvPr/>
        </p:nvSpPr>
        <p:spPr>
          <a:xfrm>
            <a:off x="457200" y="777240"/>
            <a:ext cx="112471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700"/>
              <a:buFont typeface="Georgia"/>
              <a:buNone/>
            </a:pPr>
            <a:r>
              <a:rPr b="0" i="1" lang="en-US" sz="1700" u="none" cap="none" strike="noStrike">
                <a:solidFill>
                  <a:srgbClr val="C7D4E0"/>
                </a:solidFill>
                <a:latin typeface="Georgia"/>
                <a:ea typeface="Georgia"/>
                <a:cs typeface="Georgia"/>
                <a:sym typeface="Georgia"/>
              </a:rPr>
              <a:t>A historian returns to three questions at the end of every reading. Use them to analyze this standard.</a:t>
            </a:r>
            <a:endParaRPr b="0" i="0" sz="1700" u="none" cap="none" strike="noStrike">
              <a:solidFill>
                <a:schemeClr val="dk1"/>
              </a:solidFill>
              <a:latin typeface="Calibri"/>
              <a:ea typeface="Calibri"/>
              <a:cs typeface="Calibri"/>
              <a:sym typeface="Calibri"/>
            </a:endParaRPr>
          </a:p>
        </p:txBody>
      </p:sp>
      <p:sp>
        <p:nvSpPr>
          <p:cNvPr id="1610" name="Google Shape;1610;p84"/>
          <p:cNvSpPr/>
          <p:nvPr/>
        </p:nvSpPr>
        <p:spPr>
          <a:xfrm>
            <a:off x="45720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84"/>
          <p:cNvSpPr/>
          <p:nvPr/>
        </p:nvSpPr>
        <p:spPr>
          <a:xfrm>
            <a:off x="457200" y="1783080"/>
            <a:ext cx="3566160" cy="548640"/>
          </a:xfrm>
          <a:prstGeom prst="rect">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84"/>
          <p:cNvSpPr/>
          <p:nvPr/>
        </p:nvSpPr>
        <p:spPr>
          <a:xfrm>
            <a:off x="45720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benefited?</a:t>
            </a:r>
            <a:endParaRPr b="0" i="0" sz="1600" u="none" cap="none" strike="noStrike">
              <a:solidFill>
                <a:schemeClr val="dk1"/>
              </a:solidFill>
              <a:latin typeface="Calibri"/>
              <a:ea typeface="Calibri"/>
              <a:cs typeface="Calibri"/>
              <a:sym typeface="Calibri"/>
            </a:endParaRPr>
          </a:p>
        </p:txBody>
      </p:sp>
      <p:sp>
        <p:nvSpPr>
          <p:cNvPr id="1613" name="Google Shape;1613;p84"/>
          <p:cNvSpPr/>
          <p:nvPr/>
        </p:nvSpPr>
        <p:spPr>
          <a:xfrm>
            <a:off x="59436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gained land, wealth, power, or protection?</a:t>
            </a:r>
            <a:endParaRPr b="0" i="0" sz="1100" u="none" cap="none" strike="noStrike">
              <a:solidFill>
                <a:schemeClr val="dk1"/>
              </a:solidFill>
              <a:latin typeface="Calibri"/>
              <a:ea typeface="Calibri"/>
              <a:cs typeface="Calibri"/>
              <a:sym typeface="Calibri"/>
            </a:endParaRPr>
          </a:p>
        </p:txBody>
      </p:sp>
      <p:sp>
        <p:nvSpPr>
          <p:cNvPr id="1614" name="Google Shape;1614;p84"/>
          <p:cNvSpPr/>
          <p:nvPr/>
        </p:nvSpPr>
        <p:spPr>
          <a:xfrm>
            <a:off x="59436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US.58:</a:t>
            </a:r>
            <a:endParaRPr b="0" i="0" sz="1000" u="none" cap="none" strike="noStrike">
              <a:solidFill>
                <a:schemeClr val="dk1"/>
              </a:solidFill>
              <a:latin typeface="Calibri"/>
              <a:ea typeface="Calibri"/>
              <a:cs typeface="Calibri"/>
              <a:sym typeface="Calibri"/>
            </a:endParaRPr>
          </a:p>
        </p:txBody>
      </p:sp>
      <p:sp>
        <p:nvSpPr>
          <p:cNvPr id="1615" name="Google Shape;1615;p84"/>
          <p:cNvSpPr/>
          <p:nvPr/>
        </p:nvSpPr>
        <p:spPr>
          <a:xfrm>
            <a:off x="59436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postwar world order and the U.S., now a leading member of a permanent peace organization, and Cordell Hull, honored with the Nobel Peace Prize.</a:t>
            </a:r>
            <a:endParaRPr b="0" i="0" sz="1200" u="none" cap="none" strike="noStrike">
              <a:solidFill>
                <a:schemeClr val="dk1"/>
              </a:solidFill>
              <a:latin typeface="Calibri"/>
              <a:ea typeface="Calibri"/>
              <a:cs typeface="Calibri"/>
              <a:sym typeface="Calibri"/>
            </a:endParaRPr>
          </a:p>
        </p:txBody>
      </p:sp>
      <p:sp>
        <p:nvSpPr>
          <p:cNvPr id="1616" name="Google Shape;1616;p84"/>
          <p:cNvSpPr/>
          <p:nvPr/>
        </p:nvSpPr>
        <p:spPr>
          <a:xfrm>
            <a:off x="425196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84"/>
          <p:cNvSpPr/>
          <p:nvPr/>
        </p:nvSpPr>
        <p:spPr>
          <a:xfrm>
            <a:off x="4251960" y="1783080"/>
            <a:ext cx="3566160" cy="548640"/>
          </a:xfrm>
          <a:prstGeom prst="rect">
            <a:avLst/>
          </a:pr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84"/>
          <p:cNvSpPr/>
          <p:nvPr/>
        </p:nvSpPr>
        <p:spPr>
          <a:xfrm>
            <a:off x="425196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bore the costs?</a:t>
            </a:r>
            <a:endParaRPr b="0" i="0" sz="1600" u="none" cap="none" strike="noStrike">
              <a:solidFill>
                <a:schemeClr val="dk1"/>
              </a:solidFill>
              <a:latin typeface="Calibri"/>
              <a:ea typeface="Calibri"/>
              <a:cs typeface="Calibri"/>
              <a:sym typeface="Calibri"/>
            </a:endParaRPr>
          </a:p>
        </p:txBody>
      </p:sp>
      <p:sp>
        <p:nvSpPr>
          <p:cNvPr id="1619" name="Google Shape;1619;p84"/>
          <p:cNvSpPr/>
          <p:nvPr/>
        </p:nvSpPr>
        <p:spPr>
          <a:xfrm>
            <a:off x="438912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Who lost land, labor, freedom, or life — and who was silenced?</a:t>
            </a:r>
            <a:endParaRPr b="0" i="0" sz="1100" u="none" cap="none" strike="noStrike">
              <a:solidFill>
                <a:schemeClr val="dk1"/>
              </a:solidFill>
              <a:latin typeface="Calibri"/>
              <a:ea typeface="Calibri"/>
              <a:cs typeface="Calibri"/>
              <a:sym typeface="Calibri"/>
            </a:endParaRPr>
          </a:p>
        </p:txBody>
      </p:sp>
      <p:sp>
        <p:nvSpPr>
          <p:cNvPr id="1620" name="Google Shape;1620;p84"/>
          <p:cNvSpPr/>
          <p:nvPr/>
        </p:nvSpPr>
        <p:spPr>
          <a:xfrm>
            <a:off x="43891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US.58:</a:t>
            </a:r>
            <a:endParaRPr b="0" i="0" sz="1000" u="none" cap="none" strike="noStrike">
              <a:solidFill>
                <a:schemeClr val="dk1"/>
              </a:solidFill>
              <a:latin typeface="Calibri"/>
              <a:ea typeface="Calibri"/>
              <a:cs typeface="Calibri"/>
              <a:sym typeface="Calibri"/>
            </a:endParaRPr>
          </a:p>
        </p:txBody>
      </p:sp>
      <p:sp>
        <p:nvSpPr>
          <p:cNvPr id="1621" name="Google Shape;1621;p84"/>
          <p:cNvSpPr/>
          <p:nvPr/>
        </p:nvSpPr>
        <p:spPr>
          <a:xfrm>
            <a:off x="438912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Smaller nations whose interests could be overridden by great-power vetoes in the Security Council.</a:t>
            </a:r>
            <a:endParaRPr b="0" i="0" sz="1200" u="none" cap="none" strike="noStrike">
              <a:solidFill>
                <a:schemeClr val="dk1"/>
              </a:solidFill>
              <a:latin typeface="Calibri"/>
              <a:ea typeface="Calibri"/>
              <a:cs typeface="Calibri"/>
              <a:sym typeface="Calibri"/>
            </a:endParaRPr>
          </a:p>
        </p:txBody>
      </p:sp>
      <p:sp>
        <p:nvSpPr>
          <p:cNvPr id="1622" name="Google Shape;1622;p84"/>
          <p:cNvSpPr/>
          <p:nvPr/>
        </p:nvSpPr>
        <p:spPr>
          <a:xfrm>
            <a:off x="8046720" y="1783080"/>
            <a:ext cx="3566160" cy="4206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84"/>
          <p:cNvSpPr/>
          <p:nvPr/>
        </p:nvSpPr>
        <p:spPr>
          <a:xfrm>
            <a:off x="8046720" y="1783080"/>
            <a:ext cx="3566160" cy="54864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84"/>
          <p:cNvSpPr/>
          <p:nvPr/>
        </p:nvSpPr>
        <p:spPr>
          <a:xfrm>
            <a:off x="8046720" y="1783080"/>
            <a:ext cx="3566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Who decided?</a:t>
            </a:r>
            <a:endParaRPr b="0" i="0" sz="1600" u="none" cap="none" strike="noStrike">
              <a:solidFill>
                <a:schemeClr val="dk1"/>
              </a:solidFill>
              <a:latin typeface="Calibri"/>
              <a:ea typeface="Calibri"/>
              <a:cs typeface="Calibri"/>
              <a:sym typeface="Calibri"/>
            </a:endParaRPr>
          </a:p>
        </p:txBody>
      </p:sp>
      <p:sp>
        <p:nvSpPr>
          <p:cNvPr id="1625" name="Google Shape;1625;p84"/>
          <p:cNvSpPr/>
          <p:nvPr/>
        </p:nvSpPr>
        <p:spPr>
          <a:xfrm>
            <a:off x="8183880" y="2423160"/>
            <a:ext cx="32918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6470"/>
              </a:buClr>
              <a:buSzPts val="1100"/>
              <a:buFont typeface="Calibri"/>
              <a:buNone/>
            </a:pPr>
            <a:r>
              <a:rPr b="0" i="1" lang="en-US" sz="1100" u="none" cap="none" strike="noStrike">
                <a:solidFill>
                  <a:srgbClr val="5C6470"/>
                </a:solidFill>
                <a:latin typeface="Calibri"/>
                <a:ea typeface="Calibri"/>
                <a:cs typeface="Calibri"/>
                <a:sym typeface="Calibri"/>
              </a:rPr>
              <a:t>Which people, offices, or courts held the authority?</a:t>
            </a:r>
            <a:endParaRPr b="0" i="0" sz="1100" u="none" cap="none" strike="noStrike">
              <a:solidFill>
                <a:schemeClr val="dk1"/>
              </a:solidFill>
              <a:latin typeface="Calibri"/>
              <a:ea typeface="Calibri"/>
              <a:cs typeface="Calibri"/>
              <a:sym typeface="Calibri"/>
            </a:endParaRPr>
          </a:p>
        </p:txBody>
      </p:sp>
      <p:sp>
        <p:nvSpPr>
          <p:cNvPr id="1626" name="Google Shape;1626;p84"/>
          <p:cNvSpPr/>
          <p:nvPr/>
        </p:nvSpPr>
        <p:spPr>
          <a:xfrm>
            <a:off x="818388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6D1A"/>
              </a:buClr>
              <a:buSzPts val="1000"/>
              <a:buFont typeface="Trebuchet MS"/>
              <a:buNone/>
            </a:pPr>
            <a:r>
              <a:rPr b="1" i="0" lang="en-US" sz="1000" u="none" cap="none" strike="noStrike">
                <a:solidFill>
                  <a:srgbClr val="8A6D1A"/>
                </a:solidFill>
                <a:latin typeface="Trebuchet MS"/>
                <a:ea typeface="Trebuchet MS"/>
                <a:cs typeface="Trebuchet MS"/>
                <a:sym typeface="Trebuchet MS"/>
              </a:rPr>
              <a:t>US.58:</a:t>
            </a:r>
            <a:endParaRPr b="0" i="0" sz="1000" u="none" cap="none" strike="noStrike">
              <a:solidFill>
                <a:schemeClr val="dk1"/>
              </a:solidFill>
              <a:latin typeface="Calibri"/>
              <a:ea typeface="Calibri"/>
              <a:cs typeface="Calibri"/>
              <a:sym typeface="Calibri"/>
            </a:endParaRPr>
          </a:p>
        </p:txBody>
      </p:sp>
      <p:sp>
        <p:nvSpPr>
          <p:cNvPr id="1627" name="Google Shape;1627;p84"/>
          <p:cNvSpPr/>
          <p:nvPr/>
        </p:nvSpPr>
        <p:spPr>
          <a:xfrm>
            <a:off x="8183880" y="3566160"/>
            <a:ext cx="329184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430"/>
              </a:buClr>
              <a:buSzPts val="1200"/>
              <a:buFont typeface="Calibri"/>
              <a:buNone/>
            </a:pPr>
            <a:r>
              <a:rPr b="0" i="0" lang="en-US" sz="1200" u="none" cap="none" strike="noStrike">
                <a:solidFill>
                  <a:srgbClr val="1F2430"/>
                </a:solidFill>
                <a:latin typeface="Calibri"/>
                <a:ea typeface="Calibri"/>
                <a:cs typeface="Calibri"/>
                <a:sym typeface="Calibri"/>
              </a:rPr>
              <a:t>The founding Allied powers and diplomats like Cordell Hull who designed the UN, and the U.S. Senate, which this time approved membership.</a:t>
            </a:r>
            <a:endParaRPr b="0" i="0" sz="1200" u="none" cap="none" strike="noStrike">
              <a:solidFill>
                <a:schemeClr val="dk1"/>
              </a:solidFill>
              <a:latin typeface="Calibri"/>
              <a:ea typeface="Calibri"/>
              <a:cs typeface="Calibri"/>
              <a:sym typeface="Calibri"/>
            </a:endParaRPr>
          </a:p>
        </p:txBody>
      </p:sp>
      <p:sp>
        <p:nvSpPr>
          <p:cNvPr id="1628" name="Google Shape;1628;p84"/>
          <p:cNvSpPr/>
          <p:nvPr/>
        </p:nvSpPr>
        <p:spPr>
          <a:xfrm>
            <a:off x="457200" y="6126480"/>
            <a:ext cx="10972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000"/>
              <a:buFont typeface="Trebuchet MS"/>
              <a:buNone/>
            </a:pPr>
            <a:r>
              <a:rPr b="0" i="1" lang="en-US" sz="1000" u="none" cap="none" strike="noStrike">
                <a:solidFill>
                  <a:srgbClr val="C7D4E0"/>
                </a:solidFill>
                <a:latin typeface="Trebuchet MS"/>
                <a:ea typeface="Trebuchet MS"/>
                <a:cs typeface="Trebuchet MS"/>
                <a:sym typeface="Trebuchet MS"/>
              </a:rPr>
              <a:t>Anchor: United Nations Charter Preamble, United Nations, June 26, 1945 (United Nations)</a:t>
            </a:r>
            <a:endParaRPr b="0" i="0" sz="1000" u="none" cap="none" strike="noStrike">
              <a:solidFill>
                <a:schemeClr val="dk1"/>
              </a:solidFill>
              <a:latin typeface="Calibri"/>
              <a:ea typeface="Calibri"/>
              <a:cs typeface="Calibri"/>
              <a:sym typeface="Calibri"/>
            </a:endParaRPr>
          </a:p>
        </p:txBody>
      </p:sp>
      <p:sp>
        <p:nvSpPr>
          <p:cNvPr id="1629" name="Google Shape;1629;p8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630" name="Google Shape;1630;p8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126</a:t>
            </a:r>
            <a:endParaRPr b="0" i="0" sz="900" u="none" cap="none" strike="noStrike">
              <a:solidFill>
                <a:schemeClr val="dk1"/>
              </a:solidFill>
              <a:latin typeface="Calibri"/>
              <a:ea typeface="Calibri"/>
              <a:cs typeface="Calibri"/>
              <a:sym typeface="Calibri"/>
            </a:endParaRPr>
          </a:p>
        </p:txBody>
      </p:sp>
      <p:sp>
        <p:nvSpPr>
          <p:cNvPr id="1631" name="TextBox 1630"/>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Constructed Response (Act 7)</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120</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938528"/>
            <a:ext cx="137160" cy="292608"/>
          </a:xfrm>
          <a:prstGeom prst="rect">
            <a:avLst/>
          </a:prstGeom>
          <a:solidFill>
            <a:srgbClr val="B22234"/>
          </a:solidFill>
          <a:ln/>
        </p:spPr>
        <p:txBody>
          <a:bodyPr/>
          <a:p/>
        </p:txBody>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United Nations</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United Nations</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An international organization founded in 1945 by 50 nations to maintain global peace, security, and cooperation and to prevent another world war through collective diplomacy.</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938528"/>
            <a:ext cx="137160" cy="292608"/>
          </a:xfrm>
          <a:prstGeom prst="rect">
            <a:avLst/>
          </a:prstGeom>
          <a:solidFill>
            <a:srgbClr val="B22234"/>
          </a:solidFill>
          <a:ln/>
        </p:spPr>
        <p:txBody>
          <a:bodyPr/>
          <a:p/>
        </p:txBody>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Cordell Hull</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Cordell Hull</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U.S. Secretary of State under Franklin D. Roosevelt (1933-1944), awarded the 1945 Nobel Peace Prize for his role in creating the United Nations.</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938528"/>
            <a:ext cx="137160" cy="292608"/>
          </a:xfrm>
          <a:prstGeom prst="rect">
            <a:avLst/>
          </a:prstGeom>
          <a:solidFill>
            <a:srgbClr val="B22234"/>
          </a:solidFill>
          <a:ln/>
        </p:spPr>
        <p:txBody>
          <a:bodyPr/>
          <a:p/>
        </p:txBody>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Yalta Conference</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Conferencia de Yalta</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February 1945 meeting of Roosevelt, Churchill, and Stalin to plan post-war Europe, dividing Germany and establishing spheres of influence.</a:t>
            </a:r>
            <a:endParaRPr lang="en-US" sz="1300" dirty="0"/>
          </a:p>
        </p:txBody>
      </p:sp>
      <p:sp>
        <p:nvSpPr>
          <p:cNvPr id="25" name="TextBox 24"/>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Vocabulary (Act 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127</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What were the main goals of the United Nations, and how did they reflect wartime experiences?</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UN had no connection to WWII experiences, although this view has been largely discredited by scholars, but closer analysis reveals a more complicated historical reality, but the historical evidence paints a more nuanced picture</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txBody>
          <a:bodyPr/>
          <a:p/>
        </p:txBody>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Goals of maintaining peace, promoting human rights, enabling self-determination, and fostering cooperation directly addressed the failures that led to WWII—aggression, human rights violations, and economic nationalism</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txBody>
          <a:bodyPr/>
          <a:p/>
        </p:txBody>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UN focused only on trade issues, although this view has been largely discredited by scholars and does not reflect the scholarly consensus on this topic, which ignores significant political and cultural developments of the era</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txBody>
          <a:bodyPr/>
          <a:p/>
        </p:txBody>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Wartime experiences were irrelevant to UN design, but this fails to account for the broader historical context, which represents a common misconception about this historical period, which contradicts the primary source evidence from this era</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
        <p:nvSpPr>
          <p:cNvPr id="22" name="TextBox 21"/>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Practice Quiz (Act 6)</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1" name="Google Shape;61;p4"/>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64" name="Google Shape;64;p4"/>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US.45</a:t>
            </a:r>
            <a:endParaRPr b="0" i="0" sz="1200" u="none" cap="none" strike="noStrike">
              <a:solidFill>
                <a:schemeClr val="dk1"/>
              </a:solidFill>
              <a:latin typeface="Calibri"/>
              <a:ea typeface="Calibri"/>
              <a:cs typeface="Calibri"/>
              <a:sym typeface="Calibri"/>
            </a:endParaRPr>
          </a:p>
        </p:txBody>
      </p:sp>
      <p:sp>
        <p:nvSpPr>
          <p:cNvPr id="65" name="Google Shape;65;p4"/>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Fascism preached ultranationalism, a single all-powerful dictator (Mussolini's “Il Duce,” Hitler's “Führer”), militarism, and one-party rule — glorifying the nation and blaming scapegoats over individual rights.</a:t>
            </a:r>
            <a:endParaRPr b="0" i="0" sz="2300" u="none" cap="none" strike="noStrike">
              <a:solidFill>
                <a:schemeClr val="dk1"/>
              </a:solidFill>
              <a:latin typeface="Calibri"/>
              <a:ea typeface="Calibri"/>
              <a:cs typeface="Calibri"/>
              <a:sym typeface="Calibri"/>
            </a:endParaRPr>
          </a:p>
        </p:txBody>
      </p:sp>
      <p:sp>
        <p:nvSpPr>
          <p:cNvPr id="66" name="Google Shape;66;p4"/>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4"/>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69" name="Google Shape;69;p4"/>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Fascism preached ultranationalism, a single all-powerful dictator (Mussolini's “Il Duce,” Hitler's “Führer”), militarism, and one-party rule — glorifying the nation and blaming scapegoats over individual rights.</a:t>
            </a:r>
            <a:endParaRPr b="0" i="0" sz="2200" u="none" cap="none" strike="noStrike">
              <a:solidFill>
                <a:schemeClr val="dk1"/>
              </a:solidFill>
              <a:latin typeface="Calibri"/>
              <a:ea typeface="Calibri"/>
              <a:cs typeface="Calibri"/>
              <a:sym typeface="Calibri"/>
            </a:endParaRPr>
          </a:p>
        </p:txBody>
      </p:sp>
      <p:sp>
        <p:nvSpPr>
          <p:cNvPr id="70" name="Google Shape;70;p4"/>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US.45 · DI 1 of 4 · Key Characteristics of Fascism</a:t>
            </a:r>
            <a:endParaRPr b="0" i="0" sz="1000" u="none" cap="none" strike="noStrike">
              <a:solidFill>
                <a:schemeClr val="dk1"/>
              </a:solidFill>
              <a:latin typeface="Calibri"/>
              <a:ea typeface="Calibri"/>
              <a:cs typeface="Calibri"/>
              <a:sym typeface="Calibri"/>
            </a:endParaRPr>
          </a:p>
        </p:txBody>
      </p:sp>
      <p:sp>
        <p:nvSpPr>
          <p:cNvPr id="71" name="Google Shape;71;p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2" name="Google Shape;72;p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a:t>
            </a:r>
            <a:endParaRPr b="0" i="0" sz="900" u="none" cap="none" strike="noStrike">
              <a:solidFill>
                <a:schemeClr val="dk1"/>
              </a:solidFill>
              <a:latin typeface="Calibri"/>
              <a:ea typeface="Calibri"/>
              <a:cs typeface="Calibri"/>
              <a:sym typeface="Calibri"/>
            </a:endParaRPr>
          </a:p>
        </p:txBody>
      </p:sp>
      <p:sp>
        <p:nvSpPr>
          <p:cNvPr id="73" name="TextBox 72"/>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1" name="Google Shape;61;p4"/>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64" name="Google Shape;64;p4"/>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US.45</a:t>
            </a:r>
            <a:endParaRPr b="0" i="0" sz="1200" u="none" cap="none" strike="noStrike">
              <a:solidFill>
                <a:schemeClr val="dk1"/>
              </a:solidFill>
              <a:latin typeface="Calibri"/>
              <a:ea typeface="Calibri"/>
              <a:cs typeface="Calibri"/>
              <a:sym typeface="Calibri"/>
            </a:endParaRPr>
          </a:p>
        </p:txBody>
      </p:sp>
      <p:sp>
        <p:nvSpPr>
          <p:cNvPr id="65" name="Google Shape;65;p4"/>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Communism saw history as class struggle: a workers' revolution overthrows capitalism, property becomes collectively owned under state control, aiming for a classless society (Marx; Lenin and Stalin's USSR).</a:t>
            </a:r>
            <a:endParaRPr b="0" i="0" sz="2300" u="none" cap="none" strike="noStrike">
              <a:solidFill>
                <a:schemeClr val="dk1"/>
              </a:solidFill>
              <a:latin typeface="Calibri"/>
              <a:ea typeface="Calibri"/>
              <a:cs typeface="Calibri"/>
              <a:sym typeface="Calibri"/>
            </a:endParaRPr>
          </a:p>
        </p:txBody>
      </p:sp>
      <p:sp>
        <p:nvSpPr>
          <p:cNvPr id="66" name="Google Shape;66;p4"/>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4"/>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69" name="Google Shape;69;p4"/>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Communism saw history as class struggle: a workers' revolution overthrows capitalism, property becomes collectively owned under state control, aiming for a classless society (Marx; Lenin and Stalin's USSR).</a:t>
            </a:r>
            <a:endParaRPr b="0" i="0" sz="2200" u="none" cap="none" strike="noStrike">
              <a:solidFill>
                <a:schemeClr val="dk1"/>
              </a:solidFill>
              <a:latin typeface="Calibri"/>
              <a:ea typeface="Calibri"/>
              <a:cs typeface="Calibri"/>
              <a:sym typeface="Calibri"/>
            </a:endParaRPr>
          </a:p>
        </p:txBody>
      </p:sp>
      <p:sp>
        <p:nvSpPr>
          <p:cNvPr id="70" name="Google Shape;70;p4"/>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US.45 · DI 2 of 4 · Fundamental Tenets of Communism</a:t>
            </a:r>
            <a:endParaRPr b="0" i="0" sz="1000" u="none" cap="none" strike="noStrike">
              <a:solidFill>
                <a:schemeClr val="dk1"/>
              </a:solidFill>
              <a:latin typeface="Calibri"/>
              <a:ea typeface="Calibri"/>
              <a:cs typeface="Calibri"/>
              <a:sym typeface="Calibri"/>
            </a:endParaRPr>
          </a:p>
        </p:txBody>
      </p:sp>
      <p:sp>
        <p:nvSpPr>
          <p:cNvPr id="71" name="Google Shape;71;p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2" name="Google Shape;72;p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a:t>
            </a:r>
            <a:endParaRPr b="0" i="0" sz="900" u="none" cap="none" strike="noStrike">
              <a:solidFill>
                <a:schemeClr val="dk1"/>
              </a:solidFill>
              <a:latin typeface="Calibri"/>
              <a:ea typeface="Calibri"/>
              <a:cs typeface="Calibri"/>
              <a:sym typeface="Calibri"/>
            </a:endParaRPr>
          </a:p>
        </p:txBody>
      </p:sp>
      <p:sp>
        <p:nvSpPr>
          <p:cNvPr id="73" name="TextBox 72"/>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0" name="Google Shape;160;p9"/>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9"/>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9"/>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63" name="Google Shape;163;p9"/>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US.46</a:t>
            </a:r>
            <a:endParaRPr b="0" i="0" sz="1200" u="none" cap="none" strike="noStrike">
              <a:solidFill>
                <a:schemeClr val="dk1"/>
              </a:solidFill>
              <a:latin typeface="Calibri"/>
              <a:ea typeface="Calibri"/>
              <a:cs typeface="Calibri"/>
              <a:sym typeface="Calibri"/>
            </a:endParaRPr>
          </a:p>
        </p:txBody>
      </p:sp>
      <p:sp>
        <p:nvSpPr>
          <p:cNvPr id="164" name="Google Shape;164;p9"/>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In January 1941 FDR named four freedoms worth defending everywhere: freedom of speech, freedom of worship, freedom from want, and freedom from fear.</a:t>
            </a:r>
            <a:endParaRPr b="0" i="0" sz="2300" u="none" cap="none" strike="noStrike">
              <a:solidFill>
                <a:schemeClr val="dk1"/>
              </a:solidFill>
              <a:latin typeface="Calibri"/>
              <a:ea typeface="Calibri"/>
              <a:cs typeface="Calibri"/>
              <a:sym typeface="Calibri"/>
            </a:endParaRPr>
          </a:p>
        </p:txBody>
      </p:sp>
      <p:sp>
        <p:nvSpPr>
          <p:cNvPr id="165" name="Google Shape;165;p9"/>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9"/>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9"/>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168" name="Google Shape;168;p9"/>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In January 1941 FDR named four freedoms worth defending everywhere: freedom of speech, freedom of worship, freedom from want, and freedom from fear.</a:t>
            </a:r>
            <a:endParaRPr b="0" i="0" sz="2200" u="none" cap="none" strike="noStrike">
              <a:solidFill>
                <a:schemeClr val="dk1"/>
              </a:solidFill>
              <a:latin typeface="Calibri"/>
              <a:ea typeface="Calibri"/>
              <a:cs typeface="Calibri"/>
              <a:sym typeface="Calibri"/>
            </a:endParaRPr>
          </a:p>
        </p:txBody>
      </p:sp>
      <p:sp>
        <p:nvSpPr>
          <p:cNvPr id="169" name="Google Shape;169;p9"/>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US.46 · DI 2 of 4 · Four Freedoms Speech (Jan 6, 1941)</a:t>
            </a:r>
            <a:endParaRPr b="0" i="0" sz="1000" u="none" cap="none" strike="noStrike">
              <a:solidFill>
                <a:schemeClr val="dk1"/>
              </a:solidFill>
              <a:latin typeface="Calibri"/>
              <a:ea typeface="Calibri"/>
              <a:cs typeface="Calibri"/>
              <a:sym typeface="Calibri"/>
            </a:endParaRPr>
          </a:p>
        </p:txBody>
      </p:sp>
      <p:sp>
        <p:nvSpPr>
          <p:cNvPr id="170" name="Google Shape;170;p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71" name="Google Shape;171;p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13</a:t>
            </a:r>
            <a:endParaRPr b="0" i="0" sz="900" u="none" cap="none" strike="noStrike">
              <a:solidFill>
                <a:schemeClr val="dk1"/>
              </a:solidFill>
              <a:latin typeface="Calibri"/>
              <a:ea typeface="Calibri"/>
              <a:cs typeface="Calibri"/>
              <a:sym typeface="Calibri"/>
            </a:endParaRPr>
          </a:p>
        </p:txBody>
      </p:sp>
      <p:sp>
        <p:nvSpPr>
          <p:cNvPr id="172" name="TextBox 171"/>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3" name="Google Shape;293;p16"/>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6"/>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6"/>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296" name="Google Shape;296;p16"/>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US.47</a:t>
            </a:r>
            <a:endParaRPr b="0" i="0" sz="1200" u="none" cap="none" strike="noStrike">
              <a:solidFill>
                <a:schemeClr val="dk1"/>
              </a:solidFill>
              <a:latin typeface="Calibri"/>
              <a:ea typeface="Calibri"/>
              <a:cs typeface="Calibri"/>
              <a:sym typeface="Calibri"/>
            </a:endParaRPr>
          </a:p>
        </p:txBody>
      </p:sp>
      <p:sp>
        <p:nvSpPr>
          <p:cNvPr id="297" name="Google Shape;297;p16"/>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From Kristallnacht (1938) onward, the Holocaust raises lasting questions about the cost of indifference and the responsibility of nations and individuals to intervene.</a:t>
            </a:r>
            <a:endParaRPr b="0" i="0" sz="2300" u="none" cap="none" strike="noStrike">
              <a:solidFill>
                <a:schemeClr val="dk1"/>
              </a:solidFill>
              <a:latin typeface="Calibri"/>
              <a:ea typeface="Calibri"/>
              <a:cs typeface="Calibri"/>
              <a:sym typeface="Calibri"/>
            </a:endParaRPr>
          </a:p>
        </p:txBody>
      </p:sp>
      <p:sp>
        <p:nvSpPr>
          <p:cNvPr id="298" name="Google Shape;298;p16"/>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6"/>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6"/>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301" name="Google Shape;301;p16"/>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From Kristallnacht (1938) onward, the Holocaust raises lasting questions about the cost of indifference and the responsibility of nations and individuals to intervene.</a:t>
            </a:r>
            <a:endParaRPr b="0" i="0" sz="2200" u="none" cap="none" strike="noStrike">
              <a:solidFill>
                <a:schemeClr val="dk1"/>
              </a:solidFill>
              <a:latin typeface="Calibri"/>
              <a:ea typeface="Calibri"/>
              <a:cs typeface="Calibri"/>
              <a:sym typeface="Calibri"/>
            </a:endParaRPr>
          </a:p>
        </p:txBody>
      </p:sp>
      <p:sp>
        <p:nvSpPr>
          <p:cNvPr id="302" name="Google Shape;302;p16"/>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US.47 · DI 4 of 4 · Moral &amp; Ethical Implications</a:t>
            </a:r>
            <a:endParaRPr b="0" i="0" sz="1000" u="none" cap="none" strike="noStrike">
              <a:solidFill>
                <a:schemeClr val="dk1"/>
              </a:solidFill>
              <a:latin typeface="Calibri"/>
              <a:ea typeface="Calibri"/>
              <a:cs typeface="Calibri"/>
              <a:sym typeface="Calibri"/>
            </a:endParaRPr>
          </a:p>
        </p:txBody>
      </p:sp>
      <p:sp>
        <p:nvSpPr>
          <p:cNvPr id="303" name="Google Shape;303;p1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04" name="Google Shape;304;p1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24</a:t>
            </a:r>
            <a:endParaRPr b="0" i="0" sz="900" u="none" cap="none" strike="noStrike">
              <a:solidFill>
                <a:schemeClr val="dk1"/>
              </a:solidFill>
              <a:latin typeface="Calibri"/>
              <a:ea typeface="Calibri"/>
              <a:cs typeface="Calibri"/>
              <a:sym typeface="Calibri"/>
            </a:endParaRPr>
          </a:p>
        </p:txBody>
      </p:sp>
      <p:sp>
        <p:nvSpPr>
          <p:cNvPr id="305" name="TextBox 304"/>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4" name="Google Shape;394;p21"/>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1"/>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1"/>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397" name="Google Shape;397;p21"/>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US.48</a:t>
            </a:r>
            <a:endParaRPr b="0" i="0" sz="1200" u="none" cap="none" strike="noStrike">
              <a:solidFill>
                <a:schemeClr val="dk1"/>
              </a:solidFill>
              <a:latin typeface="Calibri"/>
              <a:ea typeface="Calibri"/>
              <a:cs typeface="Calibri"/>
              <a:sym typeface="Calibri"/>
            </a:endParaRPr>
          </a:p>
        </p:txBody>
      </p:sp>
      <p:sp>
        <p:nvSpPr>
          <p:cNvPr id="398" name="Google Shape;398;p21"/>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Pearl Harbor ended isolationism and unified the nation; Germany and Italy declared war on Dec 11, making it a true world war and bringing U.S. industry to the Allies.</a:t>
            </a:r>
            <a:endParaRPr b="0" i="0" sz="2300" u="none" cap="none" strike="noStrike">
              <a:solidFill>
                <a:schemeClr val="dk1"/>
              </a:solidFill>
              <a:latin typeface="Calibri"/>
              <a:ea typeface="Calibri"/>
              <a:cs typeface="Calibri"/>
              <a:sym typeface="Calibri"/>
            </a:endParaRPr>
          </a:p>
        </p:txBody>
      </p:sp>
      <p:sp>
        <p:nvSpPr>
          <p:cNvPr id="399" name="Google Shape;399;p21"/>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1"/>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1"/>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402" name="Google Shape;402;p21"/>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Pearl Harbor ended isolationism and unified the nation; Germany and Italy declared war on Dec 11, making it a true world war and bringing U.S. industry to the Allies.</a:t>
            </a:r>
            <a:endParaRPr b="0" i="0" sz="2200" u="none" cap="none" strike="noStrike">
              <a:solidFill>
                <a:schemeClr val="dk1"/>
              </a:solidFill>
              <a:latin typeface="Calibri"/>
              <a:ea typeface="Calibri"/>
              <a:cs typeface="Calibri"/>
              <a:sym typeface="Calibri"/>
            </a:endParaRPr>
          </a:p>
        </p:txBody>
      </p:sp>
      <p:sp>
        <p:nvSpPr>
          <p:cNvPr id="403" name="Google Shape;403;p21"/>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US.48 · DI 4 of 4 · Consequences of American Entry</a:t>
            </a:r>
            <a:endParaRPr b="0" i="0" sz="1000" u="none" cap="none" strike="noStrike">
              <a:solidFill>
                <a:schemeClr val="dk1"/>
              </a:solidFill>
              <a:latin typeface="Calibri"/>
              <a:ea typeface="Calibri"/>
              <a:cs typeface="Calibri"/>
              <a:sym typeface="Calibri"/>
            </a:endParaRPr>
          </a:p>
        </p:txBody>
      </p:sp>
      <p:sp>
        <p:nvSpPr>
          <p:cNvPr id="404" name="Google Shape;404;p2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05" name="Google Shape;405;p2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33</a:t>
            </a:r>
            <a:endParaRPr b="0" i="0" sz="900" u="none" cap="none" strike="noStrike">
              <a:solidFill>
                <a:schemeClr val="dk1"/>
              </a:solidFill>
              <a:latin typeface="Calibri"/>
              <a:ea typeface="Calibri"/>
              <a:cs typeface="Calibri"/>
              <a:sym typeface="Calibri"/>
            </a:endParaRPr>
          </a:p>
        </p:txBody>
      </p:sp>
      <p:sp>
        <p:nvSpPr>
          <p:cNvPr id="406" name="TextBox 405"/>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25" name="Google Shape;525;p28"/>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8"/>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8"/>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528" name="Google Shape;528;p28"/>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US.49</a:t>
            </a:r>
            <a:endParaRPr b="0" i="0" sz="1200" u="none" cap="none" strike="noStrike">
              <a:solidFill>
                <a:schemeClr val="dk1"/>
              </a:solidFill>
              <a:latin typeface="Calibri"/>
              <a:ea typeface="Calibri"/>
              <a:cs typeface="Calibri"/>
              <a:sym typeface="Calibri"/>
            </a:endParaRPr>
          </a:p>
        </p:txBody>
      </p:sp>
      <p:sp>
        <p:nvSpPr>
          <p:cNvPr id="529" name="Google Shape;529;p28"/>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Allied leaders mostly headed democracies and managed coalitions; Axis leaders ruled as totalitarian dictators — a contrast in how power was held and used.</a:t>
            </a:r>
            <a:endParaRPr b="0" i="0" sz="2300" u="none" cap="none" strike="noStrike">
              <a:solidFill>
                <a:schemeClr val="dk1"/>
              </a:solidFill>
              <a:latin typeface="Calibri"/>
              <a:ea typeface="Calibri"/>
              <a:cs typeface="Calibri"/>
              <a:sym typeface="Calibri"/>
            </a:endParaRPr>
          </a:p>
        </p:txBody>
      </p:sp>
      <p:sp>
        <p:nvSpPr>
          <p:cNvPr id="530" name="Google Shape;530;p28"/>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8"/>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8"/>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533" name="Google Shape;533;p28"/>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Allied leaders mostly headed democracies and managed coalitions; Axis leaders ruled as totalitarian dictators — a contrast in how power was held and used.</a:t>
            </a:r>
            <a:endParaRPr b="0" i="0" sz="2200" u="none" cap="none" strike="noStrike">
              <a:solidFill>
                <a:schemeClr val="dk1"/>
              </a:solidFill>
              <a:latin typeface="Calibri"/>
              <a:ea typeface="Calibri"/>
              <a:cs typeface="Calibri"/>
              <a:sym typeface="Calibri"/>
            </a:endParaRPr>
          </a:p>
        </p:txBody>
      </p:sp>
      <p:sp>
        <p:nvSpPr>
          <p:cNvPr id="534" name="Google Shape;534;p28"/>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US.49 · DI 4 of 4 · Comparing Leadership Approaches</a:t>
            </a:r>
            <a:endParaRPr b="0" i="0" sz="1000" u="none" cap="none" strike="noStrike">
              <a:solidFill>
                <a:schemeClr val="dk1"/>
              </a:solidFill>
              <a:latin typeface="Calibri"/>
              <a:ea typeface="Calibri"/>
              <a:cs typeface="Calibri"/>
              <a:sym typeface="Calibri"/>
            </a:endParaRPr>
          </a:p>
        </p:txBody>
      </p:sp>
      <p:sp>
        <p:nvSpPr>
          <p:cNvPr id="535" name="Google Shape;535;p2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36" name="Google Shape;536;p2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42</a:t>
            </a:r>
            <a:endParaRPr b="0" i="0" sz="900" u="none" cap="none" strike="noStrike">
              <a:solidFill>
                <a:schemeClr val="dk1"/>
              </a:solidFill>
              <a:latin typeface="Calibri"/>
              <a:ea typeface="Calibri"/>
              <a:cs typeface="Calibri"/>
              <a:sym typeface="Calibri"/>
            </a:endParaRPr>
          </a:p>
        </p:txBody>
      </p:sp>
      <p:sp>
        <p:nvSpPr>
          <p:cNvPr id="537" name="TextBox 536"/>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09" name="Google Shape;609;p32"/>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32"/>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32"/>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612" name="Google Shape;612;p32"/>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US.50</a:t>
            </a:r>
            <a:endParaRPr b="0" i="0" sz="1200" u="none" cap="none" strike="noStrike">
              <a:solidFill>
                <a:schemeClr val="dk1"/>
              </a:solidFill>
              <a:latin typeface="Calibri"/>
              <a:ea typeface="Calibri"/>
              <a:cs typeface="Calibri"/>
              <a:sym typeface="Calibri"/>
            </a:endParaRPr>
          </a:p>
        </p:txBody>
      </p:sp>
      <p:sp>
        <p:nvSpPr>
          <p:cNvPr id="613" name="Google Shape;613;p32"/>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Okinawa (Apr–Jun 1945), just 340 miles from Japan, was the bloodiest Pacific campaign — its scale foreshadowed how deadly invading the home islands would be.</a:t>
            </a:r>
            <a:endParaRPr b="0" i="0" sz="2300" u="none" cap="none" strike="noStrike">
              <a:solidFill>
                <a:schemeClr val="dk1"/>
              </a:solidFill>
              <a:latin typeface="Calibri"/>
              <a:ea typeface="Calibri"/>
              <a:cs typeface="Calibri"/>
              <a:sym typeface="Calibri"/>
            </a:endParaRPr>
          </a:p>
        </p:txBody>
      </p:sp>
      <p:sp>
        <p:nvSpPr>
          <p:cNvPr id="614" name="Google Shape;614;p32"/>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32"/>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32"/>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617" name="Google Shape;617;p32"/>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Okinawa (Apr–Jun 1945), just 340 miles from Japan, was the bloodiest Pacific campaign — its scale foreshadowed how deadly invading the home islands would be.</a:t>
            </a:r>
            <a:endParaRPr b="0" i="0" sz="2200" u="none" cap="none" strike="noStrike">
              <a:solidFill>
                <a:schemeClr val="dk1"/>
              </a:solidFill>
              <a:latin typeface="Calibri"/>
              <a:ea typeface="Calibri"/>
              <a:cs typeface="Calibri"/>
              <a:sym typeface="Calibri"/>
            </a:endParaRPr>
          </a:p>
        </p:txBody>
      </p:sp>
      <p:sp>
        <p:nvSpPr>
          <p:cNvPr id="618" name="Google Shape;618;p32"/>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US.50 · DI 3 of 4 · Battle of Okinawa (Apr–Jun 1945)</a:t>
            </a:r>
            <a:endParaRPr b="0" i="0" sz="1000" u="none" cap="none" strike="noStrike">
              <a:solidFill>
                <a:schemeClr val="dk1"/>
              </a:solidFill>
              <a:latin typeface="Calibri"/>
              <a:ea typeface="Calibri"/>
              <a:cs typeface="Calibri"/>
              <a:sym typeface="Calibri"/>
            </a:endParaRPr>
          </a:p>
        </p:txBody>
      </p:sp>
      <p:sp>
        <p:nvSpPr>
          <p:cNvPr id="619" name="Google Shape;619;p3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620" name="Google Shape;620;p3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50</a:t>
            </a:r>
            <a:endParaRPr b="0" i="0" sz="900" u="none" cap="none" strike="noStrike">
              <a:solidFill>
                <a:schemeClr val="dk1"/>
              </a:solidFill>
              <a:latin typeface="Calibri"/>
              <a:ea typeface="Calibri"/>
              <a:cs typeface="Calibri"/>
              <a:sym typeface="Calibri"/>
            </a:endParaRPr>
          </a:p>
        </p:txBody>
      </p:sp>
      <p:sp>
        <p:nvSpPr>
          <p:cNvPr id="621" name="TextBox 620"/>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38" name="Google Shape;738;p39"/>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39"/>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39"/>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741" name="Google Shape;741;p39"/>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US.51</a:t>
            </a:r>
            <a:endParaRPr b="0" i="0" sz="1200" u="none" cap="none" strike="noStrike">
              <a:solidFill>
                <a:schemeClr val="dk1"/>
              </a:solidFill>
              <a:latin typeface="Calibri"/>
              <a:ea typeface="Calibri"/>
              <a:cs typeface="Calibri"/>
              <a:sym typeface="Calibri"/>
            </a:endParaRPr>
          </a:p>
        </p:txBody>
      </p:sp>
      <p:sp>
        <p:nvSpPr>
          <p:cNvPr id="742" name="Google Shape;742;p39"/>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The 442nd Regimental Combat Team, mostly Japanese American volunteers (many with families in internment camps), became the most decorated unit of its size in U.S. history.</a:t>
            </a:r>
            <a:endParaRPr b="0" i="0" sz="2300" u="none" cap="none" strike="noStrike">
              <a:solidFill>
                <a:schemeClr val="dk1"/>
              </a:solidFill>
              <a:latin typeface="Calibri"/>
              <a:ea typeface="Calibri"/>
              <a:cs typeface="Calibri"/>
              <a:sym typeface="Calibri"/>
            </a:endParaRPr>
          </a:p>
        </p:txBody>
      </p:sp>
      <p:sp>
        <p:nvSpPr>
          <p:cNvPr id="743" name="Google Shape;743;p39"/>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39"/>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39"/>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746" name="Google Shape;746;p39"/>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The 442nd Regimental Combat Team, mostly Japanese American volunteers (many with families in internment camps), became the most decorated unit of its size in U.S. history.</a:t>
            </a:r>
            <a:endParaRPr b="0" i="0" sz="2200" u="none" cap="none" strike="noStrike">
              <a:solidFill>
                <a:schemeClr val="dk1"/>
              </a:solidFill>
              <a:latin typeface="Calibri"/>
              <a:ea typeface="Calibri"/>
              <a:cs typeface="Calibri"/>
              <a:sym typeface="Calibri"/>
            </a:endParaRPr>
          </a:p>
        </p:txBody>
      </p:sp>
      <p:sp>
        <p:nvSpPr>
          <p:cNvPr id="747" name="Google Shape;747;p39"/>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US.51 · DI 2 of 5 · 442nd Regimental Combat Team</a:t>
            </a:r>
            <a:endParaRPr b="0" i="0" sz="1000" u="none" cap="none" strike="noStrike">
              <a:solidFill>
                <a:schemeClr val="dk1"/>
              </a:solidFill>
              <a:latin typeface="Calibri"/>
              <a:ea typeface="Calibri"/>
              <a:cs typeface="Calibri"/>
              <a:sym typeface="Calibri"/>
            </a:endParaRPr>
          </a:p>
        </p:txBody>
      </p:sp>
      <p:sp>
        <p:nvSpPr>
          <p:cNvPr id="748" name="Google Shape;748;p3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49" name="Google Shape;749;p3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58</a:t>
            </a:r>
            <a:endParaRPr b="0" i="0" sz="900" u="none" cap="none" strike="noStrike">
              <a:solidFill>
                <a:schemeClr val="dk1"/>
              </a:solidFill>
              <a:latin typeface="Calibri"/>
              <a:ea typeface="Calibri"/>
              <a:cs typeface="Calibri"/>
              <a:sym typeface="Calibri"/>
            </a:endParaRPr>
          </a:p>
        </p:txBody>
      </p:sp>
      <p:sp>
        <p:nvSpPr>
          <p:cNvPr id="750" name="TextBox 749"/>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55" name="Google Shape;755;p40"/>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40"/>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40"/>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758" name="Google Shape;758;p40"/>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US.51</a:t>
            </a:r>
            <a:endParaRPr b="0" i="0" sz="1200" u="none" cap="none" strike="noStrike">
              <a:solidFill>
                <a:schemeClr val="dk1"/>
              </a:solidFill>
              <a:latin typeface="Calibri"/>
              <a:ea typeface="Calibri"/>
              <a:cs typeface="Calibri"/>
              <a:sym typeface="Calibri"/>
            </a:endParaRPr>
          </a:p>
        </p:txBody>
      </p:sp>
      <p:sp>
        <p:nvSpPr>
          <p:cNvPr id="759" name="Google Shape;759;p40"/>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These units showed extraordinary courage while often fighting two wars — against foreign enemies and against discrimination at home — advancing the push for civil rights.</a:t>
            </a:r>
            <a:endParaRPr b="0" i="0" sz="2300" u="none" cap="none" strike="noStrike">
              <a:solidFill>
                <a:schemeClr val="dk1"/>
              </a:solidFill>
              <a:latin typeface="Calibri"/>
              <a:ea typeface="Calibri"/>
              <a:cs typeface="Calibri"/>
              <a:sym typeface="Calibri"/>
            </a:endParaRPr>
          </a:p>
        </p:txBody>
      </p:sp>
      <p:sp>
        <p:nvSpPr>
          <p:cNvPr id="760" name="Google Shape;760;p40"/>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40"/>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40"/>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763" name="Google Shape;763;p40"/>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These units showed extraordinary courage while often fighting two wars — against foreign enemies and against discrimination at home — advancing the push for civil rights.</a:t>
            </a:r>
            <a:endParaRPr b="0" i="0" sz="2200" u="none" cap="none" strike="noStrike">
              <a:solidFill>
                <a:schemeClr val="dk1"/>
              </a:solidFill>
              <a:latin typeface="Calibri"/>
              <a:ea typeface="Calibri"/>
              <a:cs typeface="Calibri"/>
              <a:sym typeface="Calibri"/>
            </a:endParaRPr>
          </a:p>
        </p:txBody>
      </p:sp>
      <p:sp>
        <p:nvSpPr>
          <p:cNvPr id="764" name="Google Shape;764;p40"/>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US.51 · DI 5 of 5 · Individual Sacrifice &amp; Legacy</a:t>
            </a:r>
            <a:endParaRPr b="0" i="0" sz="1000" u="none" cap="none" strike="noStrike">
              <a:solidFill>
                <a:schemeClr val="dk1"/>
              </a:solidFill>
              <a:latin typeface="Calibri"/>
              <a:ea typeface="Calibri"/>
              <a:cs typeface="Calibri"/>
              <a:sym typeface="Calibri"/>
            </a:endParaRPr>
          </a:p>
        </p:txBody>
      </p:sp>
      <p:sp>
        <p:nvSpPr>
          <p:cNvPr id="765" name="Google Shape;765;p4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66" name="Google Shape;766;p4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61</a:t>
            </a:r>
            <a:endParaRPr b="0" i="0" sz="900" u="none" cap="none" strike="noStrike">
              <a:solidFill>
                <a:schemeClr val="dk1"/>
              </a:solidFill>
              <a:latin typeface="Calibri"/>
              <a:ea typeface="Calibri"/>
              <a:cs typeface="Calibri"/>
              <a:sym typeface="Calibri"/>
            </a:endParaRPr>
          </a:p>
        </p:txBody>
      </p:sp>
      <p:sp>
        <p:nvSpPr>
          <p:cNvPr id="767" name="TextBox 766"/>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54" name="Google Shape;854;p45"/>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45"/>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45"/>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857" name="Google Shape;857;p45"/>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US.52</a:t>
            </a:r>
            <a:endParaRPr b="0" i="0" sz="1200" u="none" cap="none" strike="noStrike">
              <a:solidFill>
                <a:schemeClr val="dk1"/>
              </a:solidFill>
              <a:latin typeface="Calibri"/>
              <a:ea typeface="Calibri"/>
              <a:cs typeface="Calibri"/>
              <a:sym typeface="Calibri"/>
            </a:endParaRPr>
          </a:p>
        </p:txBody>
      </p:sp>
      <p:sp>
        <p:nvSpPr>
          <p:cNvPr id="858" name="Google Shape;858;p45"/>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Women built bombers, fighters, and Liberty ships and made ammunition, radar, and radios — “Rosie the Riveter” symbolized their vital output.</a:t>
            </a:r>
            <a:endParaRPr b="0" i="0" sz="2300" u="none" cap="none" strike="noStrike">
              <a:solidFill>
                <a:schemeClr val="dk1"/>
              </a:solidFill>
              <a:latin typeface="Calibri"/>
              <a:ea typeface="Calibri"/>
              <a:cs typeface="Calibri"/>
              <a:sym typeface="Calibri"/>
            </a:endParaRPr>
          </a:p>
        </p:txBody>
      </p:sp>
      <p:sp>
        <p:nvSpPr>
          <p:cNvPr id="859" name="Google Shape;859;p45"/>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45"/>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45"/>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862" name="Google Shape;862;p45"/>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Women built bombers, fighters, and Liberty ships and made ammunition, radar, and radios — “Rosie the Riveter” symbolized their vital output.</a:t>
            </a:r>
            <a:endParaRPr b="0" i="0" sz="2200" u="none" cap="none" strike="noStrike">
              <a:solidFill>
                <a:schemeClr val="dk1"/>
              </a:solidFill>
              <a:latin typeface="Calibri"/>
              <a:ea typeface="Calibri"/>
              <a:cs typeface="Calibri"/>
              <a:sym typeface="Calibri"/>
            </a:endParaRPr>
          </a:p>
        </p:txBody>
      </p:sp>
      <p:sp>
        <p:nvSpPr>
          <p:cNvPr id="863" name="Google Shape;863;p45"/>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US.52 · DI 3 of 4 · Impact on Production &amp; Economy</a:t>
            </a:r>
            <a:endParaRPr b="0" i="0" sz="1000" u="none" cap="none" strike="noStrike">
              <a:solidFill>
                <a:schemeClr val="dk1"/>
              </a:solidFill>
              <a:latin typeface="Calibri"/>
              <a:ea typeface="Calibri"/>
              <a:cs typeface="Calibri"/>
              <a:sym typeface="Calibri"/>
            </a:endParaRPr>
          </a:p>
        </p:txBody>
      </p:sp>
      <p:sp>
        <p:nvSpPr>
          <p:cNvPr id="864" name="Google Shape;864;p4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865" name="Google Shape;865;p4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69</a:t>
            </a:r>
            <a:endParaRPr b="0" i="0" sz="900" u="none" cap="none" strike="noStrike">
              <a:solidFill>
                <a:schemeClr val="dk1"/>
              </a:solidFill>
              <a:latin typeface="Calibri"/>
              <a:ea typeface="Calibri"/>
              <a:cs typeface="Calibri"/>
              <a:sym typeface="Calibri"/>
            </a:endParaRPr>
          </a:p>
        </p:txBody>
      </p:sp>
      <p:sp>
        <p:nvSpPr>
          <p:cNvPr id="866" name="TextBox 865"/>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87" name="Google Shape;987;p52"/>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52"/>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52"/>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990" name="Google Shape;990;p52"/>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US.53</a:t>
            </a:r>
            <a:endParaRPr b="0" i="0" sz="1200" u="none" cap="none" strike="noStrike">
              <a:solidFill>
                <a:schemeClr val="dk1"/>
              </a:solidFill>
              <a:latin typeface="Calibri"/>
              <a:ea typeface="Calibri"/>
              <a:cs typeface="Calibri"/>
              <a:sym typeface="Calibri"/>
            </a:endParaRPr>
          </a:p>
        </p:txBody>
      </p:sp>
      <p:sp>
        <p:nvSpPr>
          <p:cNvPr id="991" name="Google Shape;991;p52"/>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Executive Order 9981 (1948) ordered desegregation of the armed forces — gradual to implement, but a landmark toward integration.</a:t>
            </a:r>
            <a:endParaRPr b="0" i="0" sz="2300" u="none" cap="none" strike="noStrike">
              <a:solidFill>
                <a:schemeClr val="dk1"/>
              </a:solidFill>
              <a:latin typeface="Calibri"/>
              <a:ea typeface="Calibri"/>
              <a:cs typeface="Calibri"/>
              <a:sym typeface="Calibri"/>
            </a:endParaRPr>
          </a:p>
        </p:txBody>
      </p:sp>
      <p:sp>
        <p:nvSpPr>
          <p:cNvPr id="992" name="Google Shape;992;p52"/>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52"/>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52"/>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995" name="Google Shape;995;p52"/>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Executive Order 9981 (1948) ordered desegregation of the armed forces — gradual to implement, but a landmark toward integration.</a:t>
            </a:r>
            <a:endParaRPr b="0" i="0" sz="2200" u="none" cap="none" strike="noStrike">
              <a:solidFill>
                <a:schemeClr val="dk1"/>
              </a:solidFill>
              <a:latin typeface="Calibri"/>
              <a:ea typeface="Calibri"/>
              <a:cs typeface="Calibri"/>
              <a:sym typeface="Calibri"/>
            </a:endParaRPr>
          </a:p>
        </p:txBody>
      </p:sp>
      <p:sp>
        <p:nvSpPr>
          <p:cNvPr id="996" name="Google Shape;996;p52"/>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US.53 · DI 4 of 4 · Integration of the Armed Forces</a:t>
            </a:r>
            <a:endParaRPr b="0" i="0" sz="1000" u="none" cap="none" strike="noStrike">
              <a:solidFill>
                <a:schemeClr val="dk1"/>
              </a:solidFill>
              <a:latin typeface="Calibri"/>
              <a:ea typeface="Calibri"/>
              <a:cs typeface="Calibri"/>
              <a:sym typeface="Calibri"/>
            </a:endParaRPr>
          </a:p>
        </p:txBody>
      </p:sp>
      <p:sp>
        <p:nvSpPr>
          <p:cNvPr id="997" name="Google Shape;997;p5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998" name="Google Shape;998;p5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79</a:t>
            </a:r>
            <a:endParaRPr b="0" i="0" sz="900" u="none" cap="none" strike="noStrike">
              <a:solidFill>
                <a:schemeClr val="dk1"/>
              </a:solidFill>
              <a:latin typeface="Calibri"/>
              <a:ea typeface="Calibri"/>
              <a:cs typeface="Calibri"/>
              <a:sym typeface="Calibri"/>
            </a:endParaRPr>
          </a:p>
        </p:txBody>
      </p:sp>
      <p:sp>
        <p:nvSpPr>
          <p:cNvPr id="999" name="TextBox 998"/>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03" name="Google Shape;1103;p58"/>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58"/>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58"/>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106" name="Google Shape;1106;p58"/>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US.54</a:t>
            </a:r>
            <a:endParaRPr b="0" i="0" sz="1200" u="none" cap="none" strike="noStrike">
              <a:solidFill>
                <a:schemeClr val="dk1"/>
              </a:solidFill>
              <a:latin typeface="Calibri"/>
              <a:ea typeface="Calibri"/>
              <a:cs typeface="Calibri"/>
              <a:sym typeface="Calibri"/>
            </a:endParaRPr>
          </a:p>
        </p:txBody>
      </p:sp>
      <p:sp>
        <p:nvSpPr>
          <p:cNvPr id="1107" name="Google Shape;1107;p58"/>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Internees lost an estimated $400 million and suffered lasting trauma; the Civil Liberties Act of 1988 formally apologized and paid redress.</a:t>
            </a:r>
            <a:endParaRPr b="0" i="0" sz="2300" u="none" cap="none" strike="noStrike">
              <a:solidFill>
                <a:schemeClr val="dk1"/>
              </a:solidFill>
              <a:latin typeface="Calibri"/>
              <a:ea typeface="Calibri"/>
              <a:cs typeface="Calibri"/>
              <a:sym typeface="Calibri"/>
            </a:endParaRPr>
          </a:p>
        </p:txBody>
      </p:sp>
      <p:sp>
        <p:nvSpPr>
          <p:cNvPr id="1108" name="Google Shape;1108;p58"/>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58"/>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58"/>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1111" name="Google Shape;1111;p58"/>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Internees lost an estimated $400 million and suffered lasting trauma; the Civil Liberties Act of 1988 formally apologized and paid redress.</a:t>
            </a:r>
            <a:endParaRPr b="0" i="0" sz="2200" u="none" cap="none" strike="noStrike">
              <a:solidFill>
                <a:schemeClr val="dk1"/>
              </a:solidFill>
              <a:latin typeface="Calibri"/>
              <a:ea typeface="Calibri"/>
              <a:cs typeface="Calibri"/>
              <a:sym typeface="Calibri"/>
            </a:endParaRPr>
          </a:p>
        </p:txBody>
      </p:sp>
      <p:sp>
        <p:nvSpPr>
          <p:cNvPr id="1112" name="Google Shape;1112;p58"/>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US.54 · DI 4 of 4 · Impact &amp; Historical Lessons</a:t>
            </a:r>
            <a:endParaRPr b="0" i="0" sz="1000" u="none" cap="none" strike="noStrike">
              <a:solidFill>
                <a:schemeClr val="dk1"/>
              </a:solidFill>
              <a:latin typeface="Calibri"/>
              <a:ea typeface="Calibri"/>
              <a:cs typeface="Calibri"/>
              <a:sym typeface="Calibri"/>
            </a:endParaRPr>
          </a:p>
        </p:txBody>
      </p:sp>
      <p:sp>
        <p:nvSpPr>
          <p:cNvPr id="1113" name="Google Shape;1113;p5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114" name="Google Shape;1114;p5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88</a:t>
            </a:r>
            <a:endParaRPr b="0" i="0" sz="900" u="none" cap="none" strike="noStrike">
              <a:solidFill>
                <a:schemeClr val="dk1"/>
              </a:solidFill>
              <a:latin typeface="Calibri"/>
              <a:ea typeface="Calibri"/>
              <a:cs typeface="Calibri"/>
              <a:sym typeface="Calibri"/>
            </a:endParaRPr>
          </a:p>
        </p:txBody>
      </p:sp>
      <p:sp>
        <p:nvSpPr>
          <p:cNvPr id="1115" name="TextBox 1114"/>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19" name="Google Shape;1219;p64"/>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64"/>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64"/>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222" name="Google Shape;1222;p64"/>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US.55</a:t>
            </a:r>
            <a:endParaRPr b="0" i="0" sz="1200" u="none" cap="none" strike="noStrike">
              <a:solidFill>
                <a:schemeClr val="dk1"/>
              </a:solidFill>
              <a:latin typeface="Calibri"/>
              <a:ea typeface="Calibri"/>
              <a:cs typeface="Calibri"/>
              <a:sym typeface="Calibri"/>
            </a:endParaRPr>
          </a:p>
        </p:txBody>
      </p:sp>
      <p:sp>
        <p:nvSpPr>
          <p:cNvPr id="1223" name="Google Shape;1223;p64"/>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Tennessee hosted war plants, POW camps, and — powered by TVA electricity — major facilities like Oak Ridge, making the state central to the war effort.</a:t>
            </a:r>
            <a:endParaRPr b="0" i="0" sz="2300" u="none" cap="none" strike="noStrike">
              <a:solidFill>
                <a:schemeClr val="dk1"/>
              </a:solidFill>
              <a:latin typeface="Calibri"/>
              <a:ea typeface="Calibri"/>
              <a:cs typeface="Calibri"/>
              <a:sym typeface="Calibri"/>
            </a:endParaRPr>
          </a:p>
        </p:txBody>
      </p:sp>
      <p:sp>
        <p:nvSpPr>
          <p:cNvPr id="1224" name="Google Shape;1224;p64"/>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64"/>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64"/>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1227" name="Google Shape;1227;p64"/>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Tennessee hosted war plants, POW camps, and — powered by TVA electricity — major facilities like Oak Ridge, making the state central to the war effort.</a:t>
            </a:r>
            <a:endParaRPr b="0" i="0" sz="2200" u="none" cap="none" strike="noStrike">
              <a:solidFill>
                <a:schemeClr val="dk1"/>
              </a:solidFill>
              <a:latin typeface="Calibri"/>
              <a:ea typeface="Calibri"/>
              <a:cs typeface="Calibri"/>
              <a:sym typeface="Calibri"/>
            </a:endParaRPr>
          </a:p>
        </p:txBody>
      </p:sp>
      <p:sp>
        <p:nvSpPr>
          <p:cNvPr id="1228" name="Google Shape;1228;p64"/>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US.55 · DI 4 of 4 · Tennessee's Wartime Role</a:t>
            </a:r>
            <a:endParaRPr b="0" i="0" sz="1000" u="none" cap="none" strike="noStrike">
              <a:solidFill>
                <a:schemeClr val="dk1"/>
              </a:solidFill>
              <a:latin typeface="Calibri"/>
              <a:ea typeface="Calibri"/>
              <a:cs typeface="Calibri"/>
              <a:sym typeface="Calibri"/>
            </a:endParaRPr>
          </a:p>
        </p:txBody>
      </p:sp>
      <p:sp>
        <p:nvSpPr>
          <p:cNvPr id="1229" name="Google Shape;1229;p6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230" name="Google Shape;1230;p6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97</a:t>
            </a:r>
            <a:endParaRPr b="0" i="0" sz="900" u="none" cap="none" strike="noStrike">
              <a:solidFill>
                <a:schemeClr val="dk1"/>
              </a:solidFill>
              <a:latin typeface="Calibri"/>
              <a:ea typeface="Calibri"/>
              <a:cs typeface="Calibri"/>
              <a:sym typeface="Calibri"/>
            </a:endParaRPr>
          </a:p>
        </p:txBody>
      </p:sp>
      <p:sp>
        <p:nvSpPr>
          <p:cNvPr id="1231" name="TextBox 1230"/>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20" name="Google Shape;1320;p69"/>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69"/>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69"/>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323" name="Google Shape;1323;p69"/>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US.56</a:t>
            </a:r>
            <a:endParaRPr b="0" i="0" sz="1200" u="none" cap="none" strike="noStrike">
              <a:solidFill>
                <a:schemeClr val="dk1"/>
              </a:solidFill>
              <a:latin typeface="Calibri"/>
              <a:ea typeface="Calibri"/>
              <a:cs typeface="Calibri"/>
              <a:sym typeface="Calibri"/>
            </a:endParaRPr>
          </a:p>
        </p:txBody>
      </p:sp>
      <p:sp>
        <p:nvSpPr>
          <p:cNvPr id="1324" name="Google Shape;1324;p69"/>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The debate weighs ending the war fast and saving invasion casualties against the mass civilian deaths at Hiroshima and Nagasaki — a lasting ethical question.</a:t>
            </a:r>
            <a:endParaRPr b="0" i="0" sz="2300" u="none" cap="none" strike="noStrike">
              <a:solidFill>
                <a:schemeClr val="dk1"/>
              </a:solidFill>
              <a:latin typeface="Calibri"/>
              <a:ea typeface="Calibri"/>
              <a:cs typeface="Calibri"/>
              <a:sym typeface="Calibri"/>
            </a:endParaRPr>
          </a:p>
        </p:txBody>
      </p:sp>
      <p:sp>
        <p:nvSpPr>
          <p:cNvPr id="1325" name="Google Shape;1325;p69"/>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69"/>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69"/>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1328" name="Google Shape;1328;p69"/>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The debate weighs ending the war fast and saving invasion casualties against the mass civilian deaths at Hiroshima and Nagasaki — a lasting ethical question.</a:t>
            </a:r>
            <a:endParaRPr b="0" i="0" sz="2200" u="none" cap="none" strike="noStrike">
              <a:solidFill>
                <a:schemeClr val="dk1"/>
              </a:solidFill>
              <a:latin typeface="Calibri"/>
              <a:ea typeface="Calibri"/>
              <a:cs typeface="Calibri"/>
              <a:sym typeface="Calibri"/>
            </a:endParaRPr>
          </a:p>
        </p:txBody>
      </p:sp>
      <p:sp>
        <p:nvSpPr>
          <p:cNvPr id="1329" name="Google Shape;1329;p69"/>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US.56 · DI 4 of 4 · The Ethical Debate</a:t>
            </a:r>
            <a:endParaRPr b="0" i="0" sz="1000" u="none" cap="none" strike="noStrike">
              <a:solidFill>
                <a:schemeClr val="dk1"/>
              </a:solidFill>
              <a:latin typeface="Calibri"/>
              <a:ea typeface="Calibri"/>
              <a:cs typeface="Calibri"/>
              <a:sym typeface="Calibri"/>
            </a:endParaRPr>
          </a:p>
        </p:txBody>
      </p:sp>
      <p:sp>
        <p:nvSpPr>
          <p:cNvPr id="1330" name="Google Shape;1330;p6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331" name="Google Shape;1331;p6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106</a:t>
            </a:r>
            <a:endParaRPr b="0" i="0" sz="900" u="none" cap="none" strike="noStrike">
              <a:solidFill>
                <a:schemeClr val="dk1"/>
              </a:solidFill>
              <a:latin typeface="Calibri"/>
              <a:ea typeface="Calibri"/>
              <a:cs typeface="Calibri"/>
              <a:sym typeface="Calibri"/>
            </a:endParaRPr>
          </a:p>
        </p:txBody>
      </p:sp>
      <p:sp>
        <p:nvSpPr>
          <p:cNvPr id="1332" name="TextBox 1331"/>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51" name="Google Shape;1451;p76"/>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76"/>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76"/>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454" name="Google Shape;1454;p76"/>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US.57</a:t>
            </a:r>
            <a:endParaRPr b="0" i="0" sz="1200" u="none" cap="none" strike="noStrike">
              <a:solidFill>
                <a:schemeClr val="dk1"/>
              </a:solidFill>
              <a:latin typeface="Calibri"/>
              <a:ea typeface="Calibri"/>
              <a:cs typeface="Calibri"/>
              <a:sym typeface="Calibri"/>
            </a:endParaRPr>
          </a:p>
        </p:txBody>
      </p:sp>
      <p:sp>
        <p:nvSpPr>
          <p:cNvPr id="1455" name="Google Shape;1455;p76"/>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Critics say FDR conceded too much to Stalin at Yalta; defenders note Soviet armies already held Eastern Europe — Allied diplomacy won the war but left Europe divided.</a:t>
            </a:r>
            <a:endParaRPr b="0" i="0" sz="2300" u="none" cap="none" strike="noStrike">
              <a:solidFill>
                <a:schemeClr val="dk1"/>
              </a:solidFill>
              <a:latin typeface="Calibri"/>
              <a:ea typeface="Calibri"/>
              <a:cs typeface="Calibri"/>
              <a:sym typeface="Calibri"/>
            </a:endParaRPr>
          </a:p>
        </p:txBody>
      </p:sp>
      <p:sp>
        <p:nvSpPr>
          <p:cNvPr id="1456" name="Google Shape;1456;p76"/>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76"/>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76"/>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1459" name="Google Shape;1459;p76"/>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Critics say FDR conceded too much to Stalin at Yalta; defenders note Soviet armies already held Eastern Europe — Allied diplomacy won the war but left Europe divided.</a:t>
            </a:r>
            <a:endParaRPr b="0" i="0" sz="2200" u="none" cap="none" strike="noStrike">
              <a:solidFill>
                <a:schemeClr val="dk1"/>
              </a:solidFill>
              <a:latin typeface="Calibri"/>
              <a:ea typeface="Calibri"/>
              <a:cs typeface="Calibri"/>
              <a:sym typeface="Calibri"/>
            </a:endParaRPr>
          </a:p>
        </p:txBody>
      </p:sp>
      <p:sp>
        <p:nvSpPr>
          <p:cNvPr id="1460" name="Google Shape;1460;p76"/>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US.57 · DI 4 of 4 · Assessing Allied Diplomacy</a:t>
            </a:r>
            <a:endParaRPr b="0" i="0" sz="1000" u="none" cap="none" strike="noStrike">
              <a:solidFill>
                <a:schemeClr val="dk1"/>
              </a:solidFill>
              <a:latin typeface="Calibri"/>
              <a:ea typeface="Calibri"/>
              <a:cs typeface="Calibri"/>
              <a:sym typeface="Calibri"/>
            </a:endParaRPr>
          </a:p>
        </p:txBody>
      </p:sp>
      <p:sp>
        <p:nvSpPr>
          <p:cNvPr id="1461" name="Google Shape;1461;p7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462" name="Google Shape;1462;p7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115</a:t>
            </a:r>
            <a:endParaRPr b="0" i="0" sz="900" u="none" cap="none" strike="noStrike">
              <a:solidFill>
                <a:schemeClr val="dk1"/>
              </a:solidFill>
              <a:latin typeface="Calibri"/>
              <a:ea typeface="Calibri"/>
              <a:cs typeface="Calibri"/>
              <a:sym typeface="Calibri"/>
            </a:endParaRPr>
          </a:p>
        </p:txBody>
      </p:sp>
      <p:sp>
        <p:nvSpPr>
          <p:cNvPr id="1463" name="TextBox 1462"/>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552" name="Google Shape;1552;p81"/>
          <p:cNvSpPr/>
          <p:nvPr/>
        </p:nvSpPr>
        <p:spPr>
          <a:xfrm>
            <a:off x="0" y="0"/>
            <a:ext cx="12191695" cy="17373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81"/>
          <p:cNvSpPr/>
          <p:nvPr/>
        </p:nvSpPr>
        <p:spPr>
          <a:xfrm>
            <a:off x="0" y="1737360"/>
            <a:ext cx="12191695" cy="5486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81"/>
          <p:cNvSpPr/>
          <p:nvPr/>
        </p:nvSpPr>
        <p:spPr>
          <a:xfrm>
            <a:off x="457200" y="320040"/>
            <a:ext cx="3291840" cy="365760"/>
          </a:xfrm>
          <a:prstGeom prst="rect">
            <a:avLst/>
          </a:prstGeom>
          <a:solidFill>
            <a:srgbClr val="00285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DIRECT INSTRUCTION</a:t>
            </a:r>
            <a:endParaRPr b="0" i="0" sz="1100" u="none" cap="none" strike="noStrike">
              <a:solidFill>
                <a:schemeClr val="dk1"/>
              </a:solidFill>
              <a:latin typeface="Calibri"/>
              <a:ea typeface="Calibri"/>
              <a:cs typeface="Calibri"/>
              <a:sym typeface="Calibri"/>
            </a:endParaRPr>
          </a:p>
        </p:txBody>
      </p:sp>
      <p:sp>
        <p:nvSpPr>
          <p:cNvPr id="1555" name="Google Shape;1555;p81"/>
          <p:cNvSpPr/>
          <p:nvPr/>
        </p:nvSpPr>
        <p:spPr>
          <a:xfrm>
            <a:off x="3886200" y="320040"/>
            <a:ext cx="1005840" cy="36576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200"/>
              <a:buFont typeface="Trebuchet MS"/>
              <a:buNone/>
            </a:pPr>
            <a:r>
              <a:rPr b="1" i="0" lang="en-US" sz="1200" u="none" cap="none" strike="noStrike">
                <a:solidFill>
                  <a:srgbClr val="1B2A4A"/>
                </a:solidFill>
                <a:latin typeface="Trebuchet MS"/>
                <a:ea typeface="Trebuchet MS"/>
                <a:cs typeface="Trebuchet MS"/>
                <a:sym typeface="Trebuchet MS"/>
              </a:rPr>
              <a:t>US.58</a:t>
            </a:r>
            <a:endParaRPr b="0" i="0" sz="1200" u="none" cap="none" strike="noStrike">
              <a:solidFill>
                <a:schemeClr val="dk1"/>
              </a:solidFill>
              <a:latin typeface="Calibri"/>
              <a:ea typeface="Calibri"/>
              <a:cs typeface="Calibri"/>
              <a:sym typeface="Calibri"/>
            </a:endParaRPr>
          </a:p>
        </p:txBody>
      </p:sp>
      <p:sp>
        <p:nvSpPr>
          <p:cNvPr id="1556" name="Google Shape;1556;p81"/>
          <p:cNvSpPr/>
          <p:nvPr/>
        </p:nvSpPr>
        <p:spPr>
          <a:xfrm>
            <a:off x="457200" y="749808"/>
            <a:ext cx="11247120" cy="932688"/>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300"/>
              <a:buFont typeface="Georgia"/>
              <a:buNone/>
            </a:pPr>
            <a:r>
              <a:rPr b="1" i="0" lang="en-US" sz="1900" u="none" cap="none" strike="noStrike">
                <a:solidFill>
                  <a:srgbClr val="FFFFFF"/>
                </a:solidFill>
                <a:latin typeface="Georgia"/>
                <a:ea typeface="Georgia"/>
                <a:cs typeface="Georgia"/>
                <a:sym typeface="Georgia"/>
              </a:rPr>
              <a:t>Unlike the League, the UN secured U.S. membership and endured — though Cold War rivalry and the Security Council veto often limited its action.</a:t>
            </a:r>
            <a:endParaRPr b="0" i="0" sz="2300" u="none" cap="none" strike="noStrike">
              <a:solidFill>
                <a:schemeClr val="dk1"/>
              </a:solidFill>
              <a:latin typeface="Calibri"/>
              <a:ea typeface="Calibri"/>
              <a:cs typeface="Calibri"/>
              <a:sym typeface="Calibri"/>
            </a:endParaRPr>
          </a:p>
        </p:txBody>
      </p:sp>
      <p:sp>
        <p:nvSpPr>
          <p:cNvPr id="1557" name="Google Shape;1557;p81"/>
          <p:cNvSpPr/>
          <p:nvPr/>
        </p:nvSpPr>
        <p:spPr>
          <a:xfrm>
            <a:off x="1463040" y="2377440"/>
            <a:ext cx="9262872" cy="3383280"/>
          </a:xfrm>
          <a:prstGeom prst="rect">
            <a:avLst/>
          </a:prstGeom>
          <a:solidFill>
            <a:srgbClr val="FFFFFF"/>
          </a:solidFill>
          <a:ln cap="flat" cmpd="sng" w="34925">
            <a:solidFill>
              <a:srgbClr val="F9A8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81"/>
          <p:cNvSpPr/>
          <p:nvPr/>
        </p:nvSpPr>
        <p:spPr>
          <a:xfrm>
            <a:off x="1463040" y="2377440"/>
            <a:ext cx="9262872" cy="502920"/>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81"/>
          <p:cNvSpPr/>
          <p:nvPr/>
        </p:nvSpPr>
        <p:spPr>
          <a:xfrm>
            <a:off x="1463040" y="2377440"/>
            <a:ext cx="9262872"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KEY POINT</a:t>
            </a:r>
            <a:endParaRPr b="0" i="0" sz="1200" u="none" cap="none" strike="noStrike">
              <a:solidFill>
                <a:schemeClr val="dk1"/>
              </a:solidFill>
              <a:latin typeface="Calibri"/>
              <a:ea typeface="Calibri"/>
              <a:cs typeface="Calibri"/>
              <a:sym typeface="Calibri"/>
            </a:endParaRPr>
          </a:p>
        </p:txBody>
      </p:sp>
      <p:sp>
        <p:nvSpPr>
          <p:cNvPr id="1560" name="Google Shape;1560;p81"/>
          <p:cNvSpPr/>
          <p:nvPr/>
        </p:nvSpPr>
        <p:spPr>
          <a:xfrm>
            <a:off x="1920240" y="2880360"/>
            <a:ext cx="8348472" cy="288036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1F2430"/>
              </a:buClr>
              <a:buSzPts val="2200"/>
              <a:buFont typeface="Calibri"/>
              <a:buNone/>
            </a:pPr>
            <a:r>
              <a:rPr b="0" i="0" lang="en-US" sz="2200" u="none" cap="none" strike="noStrike">
                <a:solidFill>
                  <a:srgbClr val="1F2430"/>
                </a:solidFill>
                <a:latin typeface="Calibri"/>
                <a:ea typeface="Calibri"/>
                <a:cs typeface="Calibri"/>
                <a:sym typeface="Calibri"/>
              </a:rPr>
              <a:t>Unlike the League, the UN secured U.S. membership and endured — though Cold War rivalry and the Security Council veto often limited its action.</a:t>
            </a:r>
            <a:endParaRPr b="0" i="0" sz="2200" u="none" cap="none" strike="noStrike">
              <a:solidFill>
                <a:schemeClr val="dk1"/>
              </a:solidFill>
              <a:latin typeface="Calibri"/>
              <a:ea typeface="Calibri"/>
              <a:cs typeface="Calibri"/>
              <a:sym typeface="Calibri"/>
            </a:endParaRPr>
          </a:p>
        </p:txBody>
      </p:sp>
      <p:sp>
        <p:nvSpPr>
          <p:cNvPr id="1561" name="Google Shape;1561;p81"/>
          <p:cNvSpPr/>
          <p:nvPr/>
        </p:nvSpPr>
        <p:spPr>
          <a:xfrm>
            <a:off x="457200" y="62636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Trebuchet MS"/>
              <a:buNone/>
            </a:pPr>
            <a:r>
              <a:rPr b="0" i="1" lang="en-US" sz="1000" u="none" cap="none" strike="noStrike">
                <a:solidFill>
                  <a:srgbClr val="5C6470"/>
                </a:solidFill>
                <a:latin typeface="Trebuchet MS"/>
                <a:ea typeface="Trebuchet MS"/>
                <a:cs typeface="Trebuchet MS"/>
                <a:sym typeface="Trebuchet MS"/>
              </a:rPr>
              <a:t>US.58 · DI 4 of 4 · UN Legacy &amp; Limitations</a:t>
            </a:r>
            <a:endParaRPr b="0" i="0" sz="1000" u="none" cap="none" strike="noStrike">
              <a:solidFill>
                <a:schemeClr val="dk1"/>
              </a:solidFill>
              <a:latin typeface="Calibri"/>
              <a:ea typeface="Calibri"/>
              <a:cs typeface="Calibri"/>
              <a:sym typeface="Calibri"/>
            </a:endParaRPr>
          </a:p>
        </p:txBody>
      </p:sp>
      <p:sp>
        <p:nvSpPr>
          <p:cNvPr id="1562" name="Google Shape;1562;p8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563" name="Google Shape;1563;p8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124</a:t>
            </a:r>
            <a:endParaRPr b="0" i="0" sz="900" u="none" cap="none" strike="noStrike">
              <a:solidFill>
                <a:schemeClr val="dk1"/>
              </a:solidFill>
              <a:latin typeface="Calibri"/>
              <a:ea typeface="Calibri"/>
              <a:cs typeface="Calibri"/>
              <a:sym typeface="Calibri"/>
            </a:endParaRPr>
          </a:p>
        </p:txBody>
      </p:sp>
      <p:sp>
        <p:nvSpPr>
          <p:cNvPr id="1564" name="TextBox 1563"/>
          <p:cNvSpPr txBox="1"/>
          <p:nvPr/>
        </p:nvSpPr>
        <p:spPr>
          <a:xfrm>
            <a:off x="5669280" y="274320"/>
            <a:ext cx="4480560" cy="347472"/>
          </a:xfrm>
          <a:prstGeom prst="rect">
            <a:avLst/>
          </a:prstGeom>
          <a:noFill/>
        </p:spPr>
        <p:txBody>
          <a:bodyPr wrap="square" tIns="0" bIns="0" lIns="0" rIns="0">
            <a:spAutoFit/>
          </a:bodyPr>
          <a:lstStyle/>
          <a:p>
            <a:pPr algn="r"/>
            <a:r>
              <a:rPr sz="1050" b="1">
                <a:solidFill>
                  <a:srgbClr val="C89B3C"/>
                </a:solidFill>
                <a:latin typeface="Calibri"/>
              </a:rPr>
              <a:t>✍ In your workbook · Cornell Notes &amp; Close Read (Act 3–4)</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2026-07-02T17:08:33Z</dcterms:created>
  <dc:creator>TroopToTeacher Technologies LLC</dc:creator>
</cp:coreProperties>
</file>